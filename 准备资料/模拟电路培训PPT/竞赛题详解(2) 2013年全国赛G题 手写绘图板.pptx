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64"/>
  </p:notesMasterIdLst>
  <p:handoutMasterIdLst>
    <p:handoutMasterId r:id="rId65"/>
  </p:handoutMasterIdLst>
  <p:sldIdLst>
    <p:sldId id="398" r:id="rId2"/>
    <p:sldId id="677" r:id="rId3"/>
    <p:sldId id="678" r:id="rId4"/>
    <p:sldId id="679" r:id="rId5"/>
    <p:sldId id="680" r:id="rId6"/>
    <p:sldId id="681" r:id="rId7"/>
    <p:sldId id="690" r:id="rId8"/>
    <p:sldId id="682" r:id="rId9"/>
    <p:sldId id="701" r:id="rId10"/>
    <p:sldId id="702" r:id="rId11"/>
    <p:sldId id="703" r:id="rId12"/>
    <p:sldId id="694" r:id="rId13"/>
    <p:sldId id="726" r:id="rId14"/>
    <p:sldId id="728" r:id="rId15"/>
    <p:sldId id="692" r:id="rId16"/>
    <p:sldId id="695" r:id="rId17"/>
    <p:sldId id="696" r:id="rId18"/>
    <p:sldId id="727" r:id="rId19"/>
    <p:sldId id="705" r:id="rId20"/>
    <p:sldId id="706" r:id="rId21"/>
    <p:sldId id="723" r:id="rId22"/>
    <p:sldId id="724" r:id="rId23"/>
    <p:sldId id="725" r:id="rId24"/>
    <p:sldId id="697" r:id="rId25"/>
    <p:sldId id="698" r:id="rId26"/>
    <p:sldId id="699" r:id="rId27"/>
    <p:sldId id="731" r:id="rId28"/>
    <p:sldId id="729" r:id="rId29"/>
    <p:sldId id="730" r:id="rId30"/>
    <p:sldId id="744" r:id="rId31"/>
    <p:sldId id="745" r:id="rId32"/>
    <p:sldId id="746" r:id="rId33"/>
    <p:sldId id="700" r:id="rId34"/>
    <p:sldId id="684" r:id="rId35"/>
    <p:sldId id="685" r:id="rId36"/>
    <p:sldId id="704" r:id="rId37"/>
    <p:sldId id="686" r:id="rId38"/>
    <p:sldId id="689" r:id="rId39"/>
    <p:sldId id="707" r:id="rId40"/>
    <p:sldId id="712" r:id="rId41"/>
    <p:sldId id="713" r:id="rId42"/>
    <p:sldId id="708" r:id="rId43"/>
    <p:sldId id="709" r:id="rId44"/>
    <p:sldId id="732" r:id="rId45"/>
    <p:sldId id="733" r:id="rId46"/>
    <p:sldId id="749" r:id="rId47"/>
    <p:sldId id="734" r:id="rId48"/>
    <p:sldId id="747" r:id="rId49"/>
    <p:sldId id="735" r:id="rId50"/>
    <p:sldId id="740" r:id="rId51"/>
    <p:sldId id="743" r:id="rId52"/>
    <p:sldId id="736" r:id="rId53"/>
    <p:sldId id="739" r:id="rId54"/>
    <p:sldId id="741" r:id="rId55"/>
    <p:sldId id="710" r:id="rId56"/>
    <p:sldId id="714" r:id="rId57"/>
    <p:sldId id="711" r:id="rId58"/>
    <p:sldId id="715" r:id="rId59"/>
    <p:sldId id="748" r:id="rId60"/>
    <p:sldId id="716" r:id="rId61"/>
    <p:sldId id="750" r:id="rId62"/>
    <p:sldId id="720" r:id="rId63"/>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EDFFFF"/>
    <a:srgbClr val="CCECFF"/>
    <a:srgbClr val="99FF99"/>
    <a:srgbClr val="FFFF66"/>
    <a:srgbClr val="66FFFF"/>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6078" autoAdjust="0"/>
  </p:normalViewPr>
  <p:slideViewPr>
    <p:cSldViewPr snapToGrid="0">
      <p:cViewPr varScale="1">
        <p:scale>
          <a:sx n="88" d="100"/>
          <a:sy n="88" d="100"/>
        </p:scale>
        <p:origin x="80" y="26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38.wmf"/><Relationship Id="rId1" Type="http://schemas.openxmlformats.org/officeDocument/2006/relationships/image" Target="../media/image4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28</a:t>
            </a:fld>
            <a:endParaRPr lang="en-US" altLang="zh-CN"/>
          </a:p>
        </p:txBody>
      </p:sp>
    </p:spTree>
    <p:extLst>
      <p:ext uri="{BB962C8B-B14F-4D97-AF65-F5344CB8AC3E}">
        <p14:creationId xmlns:p14="http://schemas.microsoft.com/office/powerpoint/2010/main" val="4227377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58</a:t>
            </a:fld>
            <a:endParaRPr lang="en-US" altLang="zh-CN"/>
          </a:p>
        </p:txBody>
      </p:sp>
    </p:spTree>
    <p:extLst>
      <p:ext uri="{BB962C8B-B14F-4D97-AF65-F5344CB8AC3E}">
        <p14:creationId xmlns:p14="http://schemas.microsoft.com/office/powerpoint/2010/main" val="204875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3"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6"/>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7"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3"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2023/3/31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5"/>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2023/3/31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7"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2023/3/31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70"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2023/3/31</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2023/3/31</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2023/3/31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2023/3/31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2023/3/31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6"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4"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2023/3/31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80"/>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3"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3"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30"/>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2023/3/31</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8" y="6524630"/>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70" y="6524630"/>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3"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4973"/>
            <a:ext cx="4800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189" algn="l" rtl="0" fontAlgn="base">
        <a:spcBef>
          <a:spcPct val="0"/>
        </a:spcBef>
        <a:spcAft>
          <a:spcPct val="0"/>
        </a:spcAft>
        <a:defRPr sz="3600">
          <a:solidFill>
            <a:schemeClr val="accent2"/>
          </a:solidFill>
          <a:latin typeface="Arial" charset="0"/>
          <a:ea typeface="黑体" pitchFamily="2" charset="-122"/>
        </a:defRPr>
      </a:lvl6pPr>
      <a:lvl7pPr marL="914377" algn="l" rtl="0" fontAlgn="base">
        <a:spcBef>
          <a:spcPct val="0"/>
        </a:spcBef>
        <a:spcAft>
          <a:spcPct val="0"/>
        </a:spcAft>
        <a:defRPr sz="3600">
          <a:solidFill>
            <a:schemeClr val="accent2"/>
          </a:solidFill>
          <a:latin typeface="Arial" charset="0"/>
          <a:ea typeface="黑体" pitchFamily="2" charset="-122"/>
        </a:defRPr>
      </a:lvl7pPr>
      <a:lvl8pPr marL="1371566" algn="l" rtl="0" fontAlgn="base">
        <a:spcBef>
          <a:spcPct val="0"/>
        </a:spcBef>
        <a:spcAft>
          <a:spcPct val="0"/>
        </a:spcAft>
        <a:defRPr sz="3600">
          <a:solidFill>
            <a:schemeClr val="accent2"/>
          </a:solidFill>
          <a:latin typeface="Arial" charset="0"/>
          <a:ea typeface="黑体" pitchFamily="2" charset="-122"/>
        </a:defRPr>
      </a:lvl8pPr>
      <a:lvl9pPr marL="1828754" algn="l" rtl="0" fontAlgn="base">
        <a:spcBef>
          <a:spcPct val="0"/>
        </a:spcBef>
        <a:spcAft>
          <a:spcPct val="0"/>
        </a:spcAft>
        <a:defRPr sz="3600">
          <a:solidFill>
            <a:schemeClr val="accent2"/>
          </a:solidFill>
          <a:latin typeface="Arial" charset="0"/>
          <a:ea typeface="黑体" pitchFamily="2" charset="-122"/>
        </a:defRPr>
      </a:lvl9pPr>
    </p:titleStyle>
    <p:bodyStyle>
      <a:lvl1pPr marL="342891" indent="-342891"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33" indent="-347654"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01" indent="-293681"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081" indent="-292093"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573" indent="-315905"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762" indent="-315905"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2951" indent="-315905"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139" indent="-315905"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328" indent="-315905"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7.wmf"/><Relationship Id="rId11" Type="http://schemas.openxmlformats.org/officeDocument/2006/relationships/image" Target="../media/image30.emf"/><Relationship Id="rId5" Type="http://schemas.openxmlformats.org/officeDocument/2006/relationships/oleObject" Target="../embeddings/oleObject2.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1.wmf"/><Relationship Id="rId4"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3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42.emf"/><Relationship Id="rId7"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8.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40.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8.wmf"/><Relationship Id="rId5" Type="http://schemas.openxmlformats.org/officeDocument/2006/relationships/oleObject" Target="../embeddings/oleObject12.bin"/><Relationship Id="rId4" Type="http://schemas.openxmlformats.org/officeDocument/2006/relationships/image" Target="../media/image43.emf"/></Relationships>
</file>

<file path=ppt/slides/_rels/slide37.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46.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49.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50.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oleObject" Target="../embeddings/oleObject18.bin"/><Relationship Id="rId7" Type="http://schemas.openxmlformats.org/officeDocument/2006/relationships/image" Target="../media/image55.e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19.bin"/><Relationship Id="rId5" Type="http://schemas.openxmlformats.org/officeDocument/2006/relationships/image" Target="../media/image57.emf"/><Relationship Id="rId4" Type="http://schemas.openxmlformats.org/officeDocument/2006/relationships/image" Target="../media/image54.wmf"/><Relationship Id="rId9" Type="http://schemas.openxmlformats.org/officeDocument/2006/relationships/image" Target="../media/image56.emf"/></Relationships>
</file>

<file path=ppt/slides/_rels/slide47.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60.emf"/><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1.emf"/><Relationship Id="rId5" Type="http://schemas.openxmlformats.org/officeDocument/2006/relationships/image" Target="../media/image58.wmf"/><Relationship Id="rId10" Type="http://schemas.openxmlformats.org/officeDocument/2006/relationships/image" Target="../media/image63.emf"/><Relationship Id="rId4" Type="http://schemas.openxmlformats.org/officeDocument/2006/relationships/oleObject" Target="../embeddings/oleObject21.bin"/><Relationship Id="rId9" Type="http://schemas.openxmlformats.org/officeDocument/2006/relationships/image" Target="../media/image62.emf"/></Relationships>
</file>

<file path=ppt/slides/_rels/slide48.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image" Target="../media/image66.emf"/><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7.emf"/><Relationship Id="rId5" Type="http://schemas.openxmlformats.org/officeDocument/2006/relationships/image" Target="../media/image64.wmf"/><Relationship Id="rId10" Type="http://schemas.openxmlformats.org/officeDocument/2006/relationships/image" Target="../media/image69.emf"/><Relationship Id="rId4" Type="http://schemas.openxmlformats.org/officeDocument/2006/relationships/oleObject" Target="../embeddings/oleObject23.bin"/><Relationship Id="rId9" Type="http://schemas.openxmlformats.org/officeDocument/2006/relationships/image" Target="../media/image68.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70.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72.emf"/><Relationship Id="rId4" Type="http://schemas.openxmlformats.org/officeDocument/2006/relationships/image" Target="../media/image71.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4.wmf"/><Relationship Id="rId5" Type="http://schemas.openxmlformats.org/officeDocument/2006/relationships/oleObject" Target="../embeddings/oleObject28.bin"/><Relationship Id="rId4" Type="http://schemas.openxmlformats.org/officeDocument/2006/relationships/image" Target="../media/image73.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77.e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76.wmf"/><Relationship Id="rId5" Type="http://schemas.openxmlformats.org/officeDocument/2006/relationships/oleObject" Target="../embeddings/oleObject30.bin"/><Relationship Id="rId4" Type="http://schemas.openxmlformats.org/officeDocument/2006/relationships/image" Target="../media/image75.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7.vml"/><Relationship Id="rId5" Type="http://schemas.openxmlformats.org/officeDocument/2006/relationships/image" Target="../media/image80.emf"/><Relationship Id="rId4" Type="http://schemas.openxmlformats.org/officeDocument/2006/relationships/image" Target="../media/image79.wm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81.wmf"/><Relationship Id="rId4" Type="http://schemas.openxmlformats.org/officeDocument/2006/relationships/oleObject" Target="../embeddings/oleObject32.bin"/></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83.wmf"/><Relationship Id="rId5" Type="http://schemas.openxmlformats.org/officeDocument/2006/relationships/oleObject" Target="../embeddings/oleObject34.bin"/><Relationship Id="rId4" Type="http://schemas.openxmlformats.org/officeDocument/2006/relationships/image" Target="../media/image82.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84.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86.emf"/><Relationship Id="rId4" Type="http://schemas.openxmlformats.org/officeDocument/2006/relationships/image" Target="../media/image85.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16969"/>
            <a:ext cx="8596312" cy="3249739"/>
          </a:xfrm>
        </p:spPr>
        <p:txBody>
          <a:bodyPr/>
          <a:lstStyle/>
          <a:p>
            <a:pPr>
              <a:spcBef>
                <a:spcPts val="0"/>
              </a:spcBef>
            </a:pPr>
            <a:r>
              <a:rPr lang="en-US" altLang="zh-CN" sz="3600" dirty="0">
                <a:solidFill>
                  <a:schemeClr val="tx1"/>
                </a:solidFill>
                <a:latin typeface="Times New Roman" panose="02020603050405020304" pitchFamily="18" charset="0"/>
                <a:ea typeface="宋体" panose="02010600030101010101" pitchFamily="2" charset="-122"/>
              </a:rPr>
              <a:t>2013</a:t>
            </a:r>
            <a:r>
              <a:rPr lang="zh-CN" altLang="zh-CN" sz="3600" dirty="0">
                <a:solidFill>
                  <a:schemeClr val="tx1"/>
                </a:solidFill>
                <a:latin typeface="Times New Roman" panose="02020603050405020304" pitchFamily="18" charset="0"/>
                <a:ea typeface="宋体" panose="02010600030101010101" pitchFamily="2" charset="-122"/>
              </a:rPr>
              <a:t>年全国赛</a:t>
            </a:r>
            <a:r>
              <a:rPr lang="en-US" altLang="zh-CN" sz="3600" dirty="0">
                <a:solidFill>
                  <a:schemeClr val="tx1"/>
                </a:solidFill>
                <a:latin typeface="Times New Roman" panose="02020603050405020304" pitchFamily="18" charset="0"/>
                <a:ea typeface="宋体" panose="02010600030101010101" pitchFamily="2" charset="-122"/>
              </a:rPr>
              <a:t>G</a:t>
            </a:r>
            <a:r>
              <a:rPr lang="zh-CN" altLang="zh-CN" sz="3600" dirty="0">
                <a:solidFill>
                  <a:schemeClr val="tx1"/>
                </a:solidFill>
                <a:latin typeface="Times New Roman" panose="02020603050405020304" pitchFamily="18" charset="0"/>
                <a:ea typeface="宋体" panose="02010600030101010101" pitchFamily="2" charset="-122"/>
              </a:rPr>
              <a:t>题</a:t>
            </a:r>
            <a:r>
              <a:rPr lang="en-US" altLang="zh-CN" sz="3600" dirty="0">
                <a:solidFill>
                  <a:schemeClr val="tx1"/>
                </a:solidFill>
                <a:latin typeface="Times New Roman" panose="02020603050405020304" pitchFamily="18" charset="0"/>
                <a:ea typeface="宋体" panose="02010600030101010101" pitchFamily="2" charset="-122"/>
              </a:rPr>
              <a:t/>
            </a:r>
            <a:br>
              <a:rPr lang="en-US" altLang="zh-CN" sz="3600" dirty="0">
                <a:solidFill>
                  <a:schemeClr val="tx1"/>
                </a:solidFill>
                <a:latin typeface="Times New Roman" panose="02020603050405020304" pitchFamily="18" charset="0"/>
                <a:ea typeface="宋体" panose="02010600030101010101" pitchFamily="2" charset="-122"/>
              </a:rPr>
            </a:br>
            <a:r>
              <a:rPr lang="en-US" altLang="zh-CN" sz="2000" dirty="0">
                <a:solidFill>
                  <a:schemeClr val="tx1"/>
                </a:solidFill>
                <a:latin typeface="Times New Roman" panose="02020603050405020304" pitchFamily="18" charset="0"/>
                <a:ea typeface="宋体" panose="02010600030101010101" pitchFamily="2" charset="-122"/>
              </a:rPr>
              <a:t/>
            </a:r>
            <a:br>
              <a:rPr lang="en-US" altLang="zh-CN" sz="2000" dirty="0">
                <a:solidFill>
                  <a:schemeClr val="tx1"/>
                </a:solidFill>
                <a:latin typeface="Times New Roman" panose="02020603050405020304" pitchFamily="18" charset="0"/>
                <a:ea typeface="宋体" panose="02010600030101010101" pitchFamily="2" charset="-122"/>
              </a:rPr>
            </a:br>
            <a:r>
              <a:rPr lang="zh-CN" altLang="en-US" sz="4400" dirty="0">
                <a:solidFill>
                  <a:srgbClr val="FF0000"/>
                </a:solidFill>
              </a:rPr>
              <a:t>手写绘图板</a:t>
            </a:r>
            <a:r>
              <a:rPr lang="en-US" altLang="zh-CN" sz="4400" dirty="0">
                <a:solidFill>
                  <a:srgbClr val="FF0000"/>
                </a:solidFill>
              </a:rPr>
              <a:t/>
            </a:r>
            <a:br>
              <a:rPr lang="en-US" altLang="zh-CN" sz="4400" dirty="0">
                <a:solidFill>
                  <a:srgbClr val="FF0000"/>
                </a:solidFill>
              </a:rPr>
            </a:b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2023/3/31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32" indent="-285744" eaLnBrk="0" hangingPunct="0">
              <a:defRPr sz="2000">
                <a:solidFill>
                  <a:schemeClr val="tx1"/>
                </a:solidFill>
                <a:latin typeface="Arial" charset="0"/>
                <a:ea typeface="华文细黑" pitchFamily="2" charset="-122"/>
              </a:defRPr>
            </a:lvl2pPr>
            <a:lvl3pPr marL="1142971" indent="-228594" eaLnBrk="0" hangingPunct="0">
              <a:defRPr sz="2000">
                <a:solidFill>
                  <a:schemeClr val="tx1"/>
                </a:solidFill>
                <a:latin typeface="Arial" charset="0"/>
                <a:ea typeface="华文细黑" pitchFamily="2" charset="-122"/>
              </a:defRPr>
            </a:lvl3pPr>
            <a:lvl4pPr marL="1600160" indent="-228594" eaLnBrk="0" hangingPunct="0">
              <a:defRPr sz="2000">
                <a:solidFill>
                  <a:schemeClr val="tx1"/>
                </a:solidFill>
                <a:latin typeface="Arial" charset="0"/>
                <a:ea typeface="华文细黑" pitchFamily="2" charset="-122"/>
              </a:defRPr>
            </a:lvl4pPr>
            <a:lvl5pPr marL="2057349" indent="-228594" eaLnBrk="0" hangingPunct="0">
              <a:defRPr sz="2000">
                <a:solidFill>
                  <a:schemeClr val="tx1"/>
                </a:solidFill>
                <a:latin typeface="Arial" charset="0"/>
                <a:ea typeface="华文细黑" pitchFamily="2" charset="-122"/>
              </a:defRPr>
            </a:lvl5pPr>
            <a:lvl6pPr marL="2514537" indent="-228594" eaLnBrk="0" fontAlgn="base" hangingPunct="0">
              <a:spcBef>
                <a:spcPct val="0"/>
              </a:spcBef>
              <a:spcAft>
                <a:spcPct val="0"/>
              </a:spcAft>
              <a:defRPr sz="2000">
                <a:solidFill>
                  <a:schemeClr val="tx1"/>
                </a:solidFill>
                <a:latin typeface="Arial" charset="0"/>
                <a:ea typeface="华文细黑" pitchFamily="2" charset="-122"/>
              </a:defRPr>
            </a:lvl6pPr>
            <a:lvl7pPr marL="2971726" indent="-228594" eaLnBrk="0" fontAlgn="base" hangingPunct="0">
              <a:spcBef>
                <a:spcPct val="0"/>
              </a:spcBef>
              <a:spcAft>
                <a:spcPct val="0"/>
              </a:spcAft>
              <a:defRPr sz="2000">
                <a:solidFill>
                  <a:schemeClr val="tx1"/>
                </a:solidFill>
                <a:latin typeface="Arial" charset="0"/>
                <a:ea typeface="华文细黑" pitchFamily="2" charset="-122"/>
              </a:defRPr>
            </a:lvl7pPr>
            <a:lvl8pPr marL="3428914" indent="-228594" eaLnBrk="0" fontAlgn="base" hangingPunct="0">
              <a:spcBef>
                <a:spcPct val="0"/>
              </a:spcBef>
              <a:spcAft>
                <a:spcPct val="0"/>
              </a:spcAft>
              <a:defRPr sz="2000">
                <a:solidFill>
                  <a:schemeClr val="tx1"/>
                </a:solidFill>
                <a:latin typeface="Arial" charset="0"/>
                <a:ea typeface="华文细黑" pitchFamily="2" charset="-122"/>
              </a:defRPr>
            </a:lvl8pPr>
            <a:lvl9pPr marL="3886103" indent="-228594"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6" name="文本框 5"/>
          <p:cNvSpPr txBox="1"/>
          <p:nvPr/>
        </p:nvSpPr>
        <p:spPr>
          <a:xfrm>
            <a:off x="420914" y="376493"/>
            <a:ext cx="11313586" cy="2708434"/>
          </a:xfrm>
          <a:prstGeom prst="rect">
            <a:avLst/>
          </a:prstGeom>
          <a:noFill/>
        </p:spPr>
        <p:txBody>
          <a:bodyPr wrap="square" rtlCol="0">
            <a:spAutoFit/>
          </a:bodyPr>
          <a:lstStyle/>
          <a:p>
            <a:pPr algn="ct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indent="431989">
              <a:lnSpc>
                <a:spcPct val="150000"/>
              </a:lnSpc>
            </a:pPr>
            <a:r>
              <a:rPr lang="zh-CN" altLang="zh-CN" sz="1800" dirty="0"/>
              <a:t>利用普通</a:t>
            </a:r>
            <a:r>
              <a:rPr lang="en-US" altLang="zh-CN" sz="1800" dirty="0"/>
              <a:t> PCB </a:t>
            </a:r>
            <a:r>
              <a:rPr lang="zh-CN" altLang="zh-CN" sz="1800" dirty="0"/>
              <a:t>覆铜板设计和制作手写绘图输入设备。系统构成框图如下图所示。普通覆铜板尺寸为</a:t>
            </a:r>
            <a:r>
              <a:rPr lang="en-US" altLang="zh-CN" sz="1800" dirty="0"/>
              <a:t> 15cm</a:t>
            </a:r>
            <a:r>
              <a:rPr lang="zh-CN" altLang="zh-CN" sz="1800" dirty="0"/>
              <a:t>×</a:t>
            </a:r>
            <a:r>
              <a:rPr lang="en-US" altLang="zh-CN" sz="1800" dirty="0"/>
              <a:t>10cm</a:t>
            </a:r>
            <a:r>
              <a:rPr lang="zh-CN" altLang="zh-CN" sz="1800" dirty="0"/>
              <a:t>，其四角用导线连接到电路，同时，一根带导线的普通表笔连接到电路。表笔可与覆铜板表面任意位置接触，电路应能检测表笔与铜箔的接触，并测量触点位置，进而实现手写绘图功能。覆铜板表面由参赛者自行绘制纵横坐标以及</a:t>
            </a:r>
            <a:r>
              <a:rPr lang="en-US" altLang="zh-CN" sz="1800" dirty="0"/>
              <a:t> 6cm x 4cm</a:t>
            </a:r>
            <a:r>
              <a:rPr lang="zh-CN" altLang="zh-CN" sz="1800" dirty="0"/>
              <a:t>（高精度区</a:t>
            </a:r>
            <a:r>
              <a:rPr lang="en-US" altLang="zh-CN" sz="1800" dirty="0"/>
              <a:t>A</a:t>
            </a:r>
            <a:r>
              <a:rPr lang="zh-CN" altLang="zh-CN" sz="1800" dirty="0"/>
              <a:t>）和</a:t>
            </a:r>
            <a:r>
              <a:rPr lang="en-US" altLang="zh-CN" sz="1800" dirty="0"/>
              <a:t>12 cm x8cm</a:t>
            </a:r>
            <a:r>
              <a:rPr lang="zh-CN" altLang="zh-CN" sz="1800" dirty="0"/>
              <a:t>（一般精度区</a:t>
            </a:r>
            <a:r>
              <a:rPr lang="en-US" altLang="zh-CN" sz="1800" dirty="0"/>
              <a:t>B</a:t>
            </a:r>
            <a:r>
              <a:rPr lang="zh-CN" altLang="zh-CN" sz="1800" dirty="0"/>
              <a:t>）如图中两个虚线框所示。</a:t>
            </a:r>
            <a:endParaRPr lang="zh-CN" altLang="zh-CN" sz="1600" dirty="0"/>
          </a:p>
        </p:txBody>
      </p:sp>
      <p:pic>
        <p:nvPicPr>
          <p:cNvPr id="7" name="图片 6"/>
          <p:cNvPicPr/>
          <p:nvPr/>
        </p:nvPicPr>
        <p:blipFill>
          <a:blip r:embed="rId2"/>
          <a:stretch>
            <a:fillRect/>
          </a:stretch>
        </p:blipFill>
        <p:spPr>
          <a:xfrm>
            <a:off x="2903724" y="3084927"/>
            <a:ext cx="5870162" cy="3133985"/>
          </a:xfrm>
          <a:prstGeom prst="rect">
            <a:avLst/>
          </a:prstGeom>
        </p:spPr>
      </p:pic>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2023/3/31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32" indent="-285744" eaLnBrk="0" hangingPunct="0">
              <a:defRPr sz="2000">
                <a:solidFill>
                  <a:schemeClr val="tx1"/>
                </a:solidFill>
                <a:latin typeface="Arial" charset="0"/>
                <a:ea typeface="华文细黑" pitchFamily="2" charset="-122"/>
              </a:defRPr>
            </a:lvl2pPr>
            <a:lvl3pPr marL="1142971" indent="-228594" eaLnBrk="0" hangingPunct="0">
              <a:defRPr sz="2000">
                <a:solidFill>
                  <a:schemeClr val="tx1"/>
                </a:solidFill>
                <a:latin typeface="Arial" charset="0"/>
                <a:ea typeface="华文细黑" pitchFamily="2" charset="-122"/>
              </a:defRPr>
            </a:lvl3pPr>
            <a:lvl4pPr marL="1600160" indent="-228594" eaLnBrk="0" hangingPunct="0">
              <a:defRPr sz="2000">
                <a:solidFill>
                  <a:schemeClr val="tx1"/>
                </a:solidFill>
                <a:latin typeface="Arial" charset="0"/>
                <a:ea typeface="华文细黑" pitchFamily="2" charset="-122"/>
              </a:defRPr>
            </a:lvl4pPr>
            <a:lvl5pPr marL="2057349" indent="-228594" eaLnBrk="0" hangingPunct="0">
              <a:defRPr sz="2000">
                <a:solidFill>
                  <a:schemeClr val="tx1"/>
                </a:solidFill>
                <a:latin typeface="Arial" charset="0"/>
                <a:ea typeface="华文细黑" pitchFamily="2" charset="-122"/>
              </a:defRPr>
            </a:lvl5pPr>
            <a:lvl6pPr marL="2514537" indent="-228594" eaLnBrk="0" fontAlgn="base" hangingPunct="0">
              <a:spcBef>
                <a:spcPct val="0"/>
              </a:spcBef>
              <a:spcAft>
                <a:spcPct val="0"/>
              </a:spcAft>
              <a:defRPr sz="2000">
                <a:solidFill>
                  <a:schemeClr val="tx1"/>
                </a:solidFill>
                <a:latin typeface="Arial" charset="0"/>
                <a:ea typeface="华文细黑" pitchFamily="2" charset="-122"/>
              </a:defRPr>
            </a:lvl6pPr>
            <a:lvl7pPr marL="2971726" indent="-228594" eaLnBrk="0" fontAlgn="base" hangingPunct="0">
              <a:spcBef>
                <a:spcPct val="0"/>
              </a:spcBef>
              <a:spcAft>
                <a:spcPct val="0"/>
              </a:spcAft>
              <a:defRPr sz="2000">
                <a:solidFill>
                  <a:schemeClr val="tx1"/>
                </a:solidFill>
                <a:latin typeface="Arial" charset="0"/>
                <a:ea typeface="华文细黑" pitchFamily="2" charset="-122"/>
              </a:defRPr>
            </a:lvl7pPr>
            <a:lvl8pPr marL="3428914" indent="-228594" eaLnBrk="0" fontAlgn="base" hangingPunct="0">
              <a:spcBef>
                <a:spcPct val="0"/>
              </a:spcBef>
              <a:spcAft>
                <a:spcPct val="0"/>
              </a:spcAft>
              <a:defRPr sz="2000">
                <a:solidFill>
                  <a:schemeClr val="tx1"/>
                </a:solidFill>
                <a:latin typeface="Arial" charset="0"/>
                <a:ea typeface="华文细黑" pitchFamily="2" charset="-122"/>
              </a:defRPr>
            </a:lvl8pPr>
            <a:lvl9pPr marL="3886103" indent="-228594"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矩形 1"/>
          <p:cNvSpPr/>
          <p:nvPr/>
        </p:nvSpPr>
        <p:spPr>
          <a:xfrm>
            <a:off x="515255" y="342430"/>
            <a:ext cx="11103429" cy="5904886"/>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二、要求 </a:t>
            </a:r>
            <a:endParaRPr lang="zh-CN" altLang="zh-CN" kern="100" dirty="0">
              <a:latin typeface="Times New Roman" panose="02020603050405020304" pitchFamily="18" charset="0"/>
              <a:ea typeface="宋体" panose="02010600030101010101" pitchFamily="2" charset="-122"/>
            </a:endParaRPr>
          </a:p>
          <a:p>
            <a:pPr indent="431989">
              <a:lnSpc>
                <a:spcPct val="150000"/>
              </a:lnSpc>
            </a:pPr>
            <a:r>
              <a:rPr lang="en-US" altLang="zh-CN" sz="1800" dirty="0"/>
              <a:t>1. </a:t>
            </a:r>
            <a:r>
              <a:rPr lang="zh-CN" altLang="zh-CN" sz="1800" dirty="0"/>
              <a:t>基本要求：</a:t>
            </a:r>
          </a:p>
          <a:p>
            <a:pPr indent="431989">
              <a:lnSpc>
                <a:spcPct val="150000"/>
              </a:lnSpc>
            </a:pPr>
            <a:r>
              <a:rPr lang="zh-CN" altLang="zh-CN" sz="1800" dirty="0"/>
              <a:t>（</a:t>
            </a:r>
            <a:r>
              <a:rPr lang="en-US" altLang="zh-CN" sz="1800" dirty="0"/>
              <a:t>1</a:t>
            </a:r>
            <a:r>
              <a:rPr lang="zh-CN" altLang="zh-CN" sz="1800" dirty="0"/>
              <a:t>）指示功能：表笔接触铜箔表面时，能给出明确显示。</a:t>
            </a:r>
          </a:p>
          <a:p>
            <a:pPr indent="431989">
              <a:lnSpc>
                <a:spcPct val="150000"/>
              </a:lnSpc>
            </a:pPr>
            <a:r>
              <a:rPr lang="zh-CN" altLang="zh-CN" sz="1800" dirty="0"/>
              <a:t>（</a:t>
            </a:r>
            <a:r>
              <a:rPr lang="en-US" altLang="zh-CN" sz="1800" dirty="0"/>
              <a:t>2</a:t>
            </a:r>
            <a:r>
              <a:rPr lang="zh-CN" altLang="zh-CN" sz="1800" dirty="0"/>
              <a:t>）能正确显示触点位于纵坐标左右位置。 </a:t>
            </a:r>
          </a:p>
          <a:p>
            <a:pPr indent="431989">
              <a:lnSpc>
                <a:spcPct val="150000"/>
              </a:lnSpc>
            </a:pPr>
            <a:r>
              <a:rPr lang="zh-CN" altLang="zh-CN" sz="1800" dirty="0"/>
              <a:t>（</a:t>
            </a:r>
            <a:r>
              <a:rPr lang="en-US" altLang="zh-CN" sz="1800" dirty="0"/>
              <a:t>3</a:t>
            </a:r>
            <a:r>
              <a:rPr lang="zh-CN" altLang="zh-CN" sz="1800" dirty="0"/>
              <a:t>）能正确显示触点四象限位置。 </a:t>
            </a:r>
          </a:p>
          <a:p>
            <a:pPr indent="431989">
              <a:lnSpc>
                <a:spcPct val="150000"/>
              </a:lnSpc>
            </a:pPr>
            <a:r>
              <a:rPr lang="zh-CN" altLang="zh-CN" sz="1800" dirty="0"/>
              <a:t>（</a:t>
            </a:r>
            <a:r>
              <a:rPr lang="en-US" altLang="zh-CN" sz="1800" dirty="0"/>
              <a:t>4</a:t>
            </a:r>
            <a:r>
              <a:rPr lang="zh-CN" altLang="zh-CN" sz="1800" dirty="0"/>
              <a:t>）能正确显示坐标值。 </a:t>
            </a:r>
          </a:p>
          <a:p>
            <a:pPr indent="431989">
              <a:lnSpc>
                <a:spcPct val="150000"/>
              </a:lnSpc>
            </a:pPr>
            <a:r>
              <a:rPr lang="zh-CN" altLang="zh-CN" sz="1800" dirty="0"/>
              <a:t>（</a:t>
            </a:r>
            <a:r>
              <a:rPr lang="en-US" altLang="zh-CN" sz="1800" dirty="0"/>
              <a:t>5</a:t>
            </a:r>
            <a:r>
              <a:rPr lang="zh-CN" altLang="zh-CN" sz="1800" dirty="0"/>
              <a:t>）显示坐标值的分辨率为</a:t>
            </a:r>
            <a:r>
              <a:rPr lang="en-US" altLang="zh-CN" sz="1800" dirty="0"/>
              <a:t>10mm</a:t>
            </a:r>
            <a:r>
              <a:rPr lang="zh-CN" altLang="zh-CN" sz="1800" dirty="0"/>
              <a:t>， 绝对误差不大于</a:t>
            </a:r>
            <a:r>
              <a:rPr lang="en-US" altLang="zh-CN" sz="1800" dirty="0"/>
              <a:t>5mm</a:t>
            </a:r>
            <a:r>
              <a:rPr lang="zh-CN" altLang="zh-CN" sz="1800" dirty="0"/>
              <a:t>。 </a:t>
            </a:r>
          </a:p>
          <a:p>
            <a:pPr indent="431989">
              <a:lnSpc>
                <a:spcPct val="150000"/>
              </a:lnSpc>
            </a:pPr>
            <a:r>
              <a:rPr lang="en-US" altLang="zh-CN" sz="1800" dirty="0"/>
              <a:t>2</a:t>
            </a:r>
            <a:r>
              <a:rPr lang="zh-CN" altLang="zh-CN" sz="1800" dirty="0"/>
              <a:t>．发挥部分： </a:t>
            </a:r>
          </a:p>
          <a:p>
            <a:pPr indent="431989">
              <a:lnSpc>
                <a:spcPct val="150000"/>
              </a:lnSpc>
            </a:pPr>
            <a:r>
              <a:rPr lang="zh-CN" altLang="zh-CN" sz="1800" dirty="0"/>
              <a:t>（</a:t>
            </a:r>
            <a:r>
              <a:rPr lang="en-US" altLang="zh-CN" sz="1800" dirty="0"/>
              <a:t>1</a:t>
            </a:r>
            <a:r>
              <a:rPr lang="zh-CN" altLang="zh-CN" sz="1800" dirty="0"/>
              <a:t>）进一步提高坐标分辨率至</a:t>
            </a:r>
            <a:r>
              <a:rPr lang="en-US" altLang="zh-CN" sz="1800" dirty="0"/>
              <a:t>8mm</a:t>
            </a:r>
            <a:r>
              <a:rPr lang="zh-CN" altLang="zh-CN" sz="1800" dirty="0"/>
              <a:t>和</a:t>
            </a:r>
            <a:r>
              <a:rPr lang="en-US" altLang="zh-CN" sz="1800" dirty="0"/>
              <a:t>6mm</a:t>
            </a:r>
            <a:r>
              <a:rPr lang="zh-CN" altLang="zh-CN" sz="1800" dirty="0"/>
              <a:t>；要求分辨率为</a:t>
            </a:r>
            <a:r>
              <a:rPr lang="en-US" altLang="zh-CN" sz="1800" dirty="0"/>
              <a:t>8mm </a:t>
            </a:r>
            <a:r>
              <a:rPr lang="zh-CN" altLang="zh-CN" sz="1800" dirty="0"/>
              <a:t>时，绝对误差不大于</a:t>
            </a:r>
            <a:r>
              <a:rPr lang="en-US" altLang="zh-CN" sz="1800" dirty="0"/>
              <a:t>4mm</a:t>
            </a:r>
            <a:r>
              <a:rPr lang="zh-CN" altLang="zh-CN" sz="1800" dirty="0"/>
              <a:t>；分辨率为</a:t>
            </a:r>
            <a:r>
              <a:rPr lang="en-US" altLang="zh-CN" sz="1800" dirty="0"/>
              <a:t> 6mm </a:t>
            </a:r>
            <a:r>
              <a:rPr lang="zh-CN" altLang="zh-CN" sz="1800" dirty="0"/>
              <a:t>时，绝对误差不大于</a:t>
            </a:r>
            <a:r>
              <a:rPr lang="en-US" altLang="zh-CN" sz="1800" dirty="0"/>
              <a:t> 3mm</a:t>
            </a:r>
            <a:r>
              <a:rPr lang="zh-CN" altLang="zh-CN" sz="1800" dirty="0"/>
              <a:t>。 </a:t>
            </a:r>
          </a:p>
          <a:p>
            <a:pPr indent="431989">
              <a:lnSpc>
                <a:spcPct val="150000"/>
              </a:lnSpc>
            </a:pPr>
            <a:r>
              <a:rPr lang="zh-CN" altLang="zh-CN" sz="1800" dirty="0"/>
              <a:t>（</a:t>
            </a:r>
            <a:r>
              <a:rPr lang="en-US" altLang="zh-CN" sz="1800" dirty="0"/>
              <a:t>2</a:t>
            </a:r>
            <a:r>
              <a:rPr lang="zh-CN" altLang="zh-CN" sz="1800" dirty="0"/>
              <a:t>）绘图功能。能跟踪表笔动作，并显示绘图轨迹。在</a:t>
            </a:r>
            <a:r>
              <a:rPr lang="en-US" altLang="zh-CN" sz="1800" dirty="0"/>
              <a:t>A</a:t>
            </a:r>
            <a:r>
              <a:rPr lang="zh-CN" altLang="zh-CN" sz="1800" dirty="0"/>
              <a:t>区内画三个直径分别为</a:t>
            </a:r>
            <a:r>
              <a:rPr lang="en-US" altLang="zh-CN" sz="1800" dirty="0"/>
              <a:t> 20mm</a:t>
            </a:r>
            <a:r>
              <a:rPr lang="zh-CN" altLang="zh-CN" sz="1800" dirty="0"/>
              <a:t>，</a:t>
            </a:r>
            <a:r>
              <a:rPr lang="en-US" altLang="zh-CN" sz="1800" dirty="0"/>
              <a:t>12mm </a:t>
            </a:r>
            <a:r>
              <a:rPr lang="zh-CN" altLang="zh-CN" sz="1800" dirty="0"/>
              <a:t>和</a:t>
            </a:r>
            <a:r>
              <a:rPr lang="en-US" altLang="zh-CN" sz="1800" dirty="0"/>
              <a:t>8mm</a:t>
            </a:r>
            <a:r>
              <a:rPr lang="zh-CN" altLang="zh-CN" sz="1800" dirty="0"/>
              <a:t>不同直径的圆，并显示该圆；</a:t>
            </a:r>
            <a:r>
              <a:rPr lang="en-US" altLang="zh-CN" sz="1800" dirty="0"/>
              <a:t>20mm</a:t>
            </a:r>
            <a:r>
              <a:rPr lang="zh-CN" altLang="zh-CN" sz="1800" dirty="0"/>
              <a:t>的圆要求能在</a:t>
            </a:r>
            <a:r>
              <a:rPr lang="en-US" altLang="zh-CN" sz="1800" dirty="0"/>
              <a:t>10s </a:t>
            </a:r>
            <a:r>
              <a:rPr lang="zh-CN" altLang="zh-CN" sz="1800" dirty="0"/>
              <a:t>内完成，其它圆不要求完成时间。</a:t>
            </a:r>
          </a:p>
          <a:p>
            <a:pPr indent="431989">
              <a:lnSpc>
                <a:spcPct val="150000"/>
              </a:lnSpc>
            </a:pPr>
            <a:r>
              <a:rPr lang="zh-CN" altLang="zh-CN" sz="1800" dirty="0"/>
              <a:t>（</a:t>
            </a:r>
            <a:r>
              <a:rPr lang="en-US" altLang="zh-CN" sz="1800" dirty="0"/>
              <a:t>3</a:t>
            </a:r>
            <a:r>
              <a:rPr lang="zh-CN" altLang="zh-CN" sz="1800" dirty="0"/>
              <a:t>）低功耗设计。功耗为总电流乘</a:t>
            </a:r>
            <a:r>
              <a:rPr lang="en-US" altLang="zh-CN" sz="1800" dirty="0"/>
              <a:t>12V</a:t>
            </a:r>
            <a:r>
              <a:rPr lang="zh-CN" altLang="zh-CN" sz="1800" dirty="0"/>
              <a:t>；功耗越低得分越高。要求功耗等于或小于</a:t>
            </a:r>
            <a:r>
              <a:rPr lang="en-US" altLang="zh-CN" sz="1800" dirty="0"/>
              <a:t>1.5W</a:t>
            </a:r>
            <a:r>
              <a:rPr lang="zh-CN" altLang="zh-CN" sz="1800" dirty="0"/>
              <a:t>。 </a:t>
            </a:r>
          </a:p>
          <a:p>
            <a:pPr indent="431989">
              <a:lnSpc>
                <a:spcPct val="150000"/>
              </a:lnSpc>
            </a:pPr>
            <a:r>
              <a:rPr lang="zh-CN" altLang="zh-CN" sz="1800" dirty="0"/>
              <a:t>（</a:t>
            </a:r>
            <a:r>
              <a:rPr lang="en-US" altLang="zh-CN" sz="1800" dirty="0"/>
              <a:t>4</a:t>
            </a:r>
            <a:r>
              <a:rPr lang="zh-CN" altLang="zh-CN" sz="1800" dirty="0"/>
              <a:t>）其他。如显示文字，提高坐标分辨率等。</a:t>
            </a:r>
            <a:endParaRPr lang="zh-CN" altLang="en-US" sz="1800" dirty="0"/>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a:t>
            </a:fld>
            <a:endParaRPr lang="en-US" altLang="zh-CN">
              <a:solidFill>
                <a:srgbClr val="FFFFFF"/>
              </a:solidFill>
            </a:endParaRPr>
          </a:p>
        </p:txBody>
      </p:sp>
      <p:sp>
        <p:nvSpPr>
          <p:cNvPr id="5" name="矩形 4"/>
          <p:cNvSpPr/>
          <p:nvPr/>
        </p:nvSpPr>
        <p:spPr>
          <a:xfrm>
            <a:off x="457201" y="561099"/>
            <a:ext cx="11255828" cy="5073889"/>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 </a:t>
            </a:r>
            <a:endParaRPr lang="zh-CN" altLang="zh-CN" kern="100" dirty="0">
              <a:latin typeface="Times New Roman" panose="02020603050405020304" pitchFamily="18" charset="0"/>
              <a:ea typeface="宋体" panose="02010600030101010101" pitchFamily="2" charset="-122"/>
            </a:endParaRPr>
          </a:p>
          <a:p>
            <a:pPr indent="431989">
              <a:lnSpc>
                <a:spcPct val="150000"/>
              </a:lnSpc>
            </a:pPr>
            <a:r>
              <a:rPr lang="en-US" altLang="zh-CN" sz="1800" dirty="0"/>
              <a:t>1</a:t>
            </a:r>
            <a:r>
              <a:rPr lang="zh-CN" altLang="zh-CN" sz="1800" dirty="0"/>
              <a:t>．必须使用普通的覆铜板 </a:t>
            </a:r>
          </a:p>
          <a:p>
            <a:pPr indent="431989">
              <a:lnSpc>
                <a:spcPct val="150000"/>
              </a:lnSpc>
            </a:pPr>
            <a:r>
              <a:rPr lang="zh-CN" altLang="zh-CN" sz="1800" dirty="0"/>
              <a:t>（</a:t>
            </a:r>
            <a:r>
              <a:rPr lang="en-US" altLang="zh-CN" sz="1800" dirty="0"/>
              <a:t>1</a:t>
            </a:r>
            <a:r>
              <a:rPr lang="zh-CN" altLang="zh-CN" sz="1800" dirty="0"/>
              <a:t>）不得更换其它高电阻率的材料。 </a:t>
            </a:r>
          </a:p>
          <a:p>
            <a:pPr indent="431989">
              <a:lnSpc>
                <a:spcPct val="150000"/>
              </a:lnSpc>
            </a:pPr>
            <a:r>
              <a:rPr lang="zh-CN" altLang="zh-CN" sz="1800" dirty="0"/>
              <a:t>（</a:t>
            </a:r>
            <a:r>
              <a:rPr lang="en-US" altLang="zh-CN" sz="1800" dirty="0"/>
              <a:t>2</a:t>
            </a:r>
            <a:r>
              <a:rPr lang="zh-CN" altLang="zh-CN" sz="1800" dirty="0"/>
              <a:t>）不得对铜箔表面进行改变电阻率的特殊镀层处理。 </a:t>
            </a:r>
          </a:p>
          <a:p>
            <a:pPr indent="431989">
              <a:lnSpc>
                <a:spcPct val="150000"/>
              </a:lnSpc>
            </a:pPr>
            <a:r>
              <a:rPr lang="zh-CN" altLang="zh-CN" sz="1800" dirty="0"/>
              <a:t>（</a:t>
            </a:r>
            <a:r>
              <a:rPr lang="en-US" altLang="zh-CN" sz="1800" dirty="0"/>
              <a:t>3</a:t>
            </a:r>
            <a:r>
              <a:rPr lang="zh-CN" altLang="zh-CN" sz="1800" dirty="0"/>
              <a:t>）覆铜板表面的刻度自行绘制，测试时以该刻度为准。 </a:t>
            </a:r>
          </a:p>
          <a:p>
            <a:pPr indent="431989">
              <a:lnSpc>
                <a:spcPct val="150000"/>
              </a:lnSpc>
            </a:pPr>
            <a:r>
              <a:rPr lang="zh-CN" altLang="zh-CN" sz="1800" dirty="0"/>
              <a:t>（</a:t>
            </a:r>
            <a:r>
              <a:rPr lang="en-US" altLang="zh-CN" sz="1800" dirty="0"/>
              <a:t>4</a:t>
            </a:r>
            <a:r>
              <a:rPr lang="zh-CN" altLang="zh-CN" sz="1800" dirty="0"/>
              <a:t>）考虑到绘制刻度影响测量，不要求表笔接触刻度线条时也具有正确检测能力。 </a:t>
            </a:r>
          </a:p>
          <a:p>
            <a:pPr indent="431989">
              <a:lnSpc>
                <a:spcPct val="150000"/>
              </a:lnSpc>
            </a:pPr>
            <a:r>
              <a:rPr lang="en-US" altLang="zh-CN" sz="1800" dirty="0"/>
              <a:t>2</a:t>
            </a:r>
            <a:r>
              <a:rPr lang="zh-CN" altLang="zh-CN" sz="1800" dirty="0"/>
              <a:t>．覆铜板到电路的连接应满足以下条件 </a:t>
            </a:r>
          </a:p>
          <a:p>
            <a:pPr indent="431989">
              <a:lnSpc>
                <a:spcPct val="150000"/>
              </a:lnSpc>
            </a:pPr>
            <a:r>
              <a:rPr lang="zh-CN" altLang="zh-CN" sz="1800" dirty="0"/>
              <a:t>（</a:t>
            </a:r>
            <a:r>
              <a:rPr lang="en-US" altLang="zh-CN" sz="1800" dirty="0"/>
              <a:t>1</a:t>
            </a:r>
            <a:r>
              <a:rPr lang="zh-CN" altLang="zh-CN" sz="1800" dirty="0"/>
              <a:t>）只有铜箔四角可连接到电路，除此之外不应有其它连接点（表笔触点除外）。 </a:t>
            </a:r>
          </a:p>
          <a:p>
            <a:pPr indent="431989">
              <a:lnSpc>
                <a:spcPct val="150000"/>
              </a:lnSpc>
            </a:pPr>
            <a:r>
              <a:rPr lang="zh-CN" altLang="zh-CN" sz="1800" dirty="0"/>
              <a:t>（</a:t>
            </a:r>
            <a:r>
              <a:rPr lang="en-US" altLang="zh-CN" sz="1800" dirty="0"/>
              <a:t>2</a:t>
            </a:r>
            <a:r>
              <a:rPr lang="zh-CN" altLang="zh-CN" sz="1800" dirty="0"/>
              <a:t>）不得使用任何额外传感装置。 </a:t>
            </a:r>
          </a:p>
          <a:p>
            <a:pPr indent="431989">
              <a:lnSpc>
                <a:spcPct val="150000"/>
              </a:lnSpc>
            </a:pPr>
            <a:r>
              <a:rPr lang="en-US" altLang="zh-CN" sz="1800" dirty="0"/>
              <a:t>3</a:t>
            </a:r>
            <a:r>
              <a:rPr lang="zh-CN" altLang="zh-CN" sz="1800" dirty="0"/>
              <a:t>．表笔可选用一般的万用表表笔。 </a:t>
            </a:r>
          </a:p>
          <a:p>
            <a:pPr indent="431989">
              <a:lnSpc>
                <a:spcPct val="150000"/>
              </a:lnSpc>
            </a:pPr>
            <a:r>
              <a:rPr lang="en-US" altLang="zh-CN" sz="1800" dirty="0"/>
              <a:t>4</a:t>
            </a:r>
            <a:r>
              <a:rPr lang="zh-CN" altLang="zh-CN" sz="1800" dirty="0"/>
              <a:t>．电源供电必须为单</a:t>
            </a:r>
            <a:r>
              <a:rPr lang="en-US" altLang="zh-CN" sz="1800" dirty="0"/>
              <a:t> 12V </a:t>
            </a:r>
            <a:r>
              <a:rPr lang="zh-CN" altLang="zh-CN" sz="1800" dirty="0"/>
              <a:t>供电。</a:t>
            </a:r>
            <a:r>
              <a:rPr lang="en-US" altLang="zh-CN" sz="1800" dirty="0"/>
              <a:t>   </a:t>
            </a:r>
            <a:endParaRPr lang="zh-CN" altLang="zh-CN" sz="1800" dirty="0"/>
          </a:p>
          <a:p>
            <a:pPr indent="431989">
              <a:lnSpc>
                <a:spcPct val="150000"/>
              </a:lnSpc>
            </a:pPr>
            <a:r>
              <a:rPr lang="en-US" altLang="zh-CN" sz="1800" dirty="0"/>
              <a:t>5</a:t>
            </a:r>
            <a:r>
              <a:rPr lang="zh-CN" altLang="zh-CN" sz="1800" dirty="0"/>
              <a:t>．基本要求除（</a:t>
            </a:r>
            <a:r>
              <a:rPr lang="en-US" altLang="zh-CN" sz="1800" dirty="0"/>
              <a:t>5</a:t>
            </a:r>
            <a:r>
              <a:rPr lang="zh-CN" altLang="zh-CN" sz="1800" dirty="0"/>
              <a:t>）外均在</a:t>
            </a:r>
            <a:r>
              <a:rPr lang="en-US" altLang="zh-CN" sz="1800" dirty="0"/>
              <a:t> B </a:t>
            </a:r>
            <a:r>
              <a:rPr lang="zh-CN" altLang="zh-CN" sz="1800" dirty="0"/>
              <a:t>区测，测分辨率和圆均在</a:t>
            </a:r>
            <a:r>
              <a:rPr lang="en-US" altLang="zh-CN" sz="1800" dirty="0"/>
              <a:t> A </a:t>
            </a:r>
            <a:r>
              <a:rPr lang="zh-CN" altLang="zh-CN" sz="1800" dirty="0"/>
              <a:t>区测。</a:t>
            </a:r>
          </a:p>
        </p:txBody>
      </p:sp>
    </p:spTree>
    <p:extLst>
      <p:ext uri="{BB962C8B-B14F-4D97-AF65-F5344CB8AC3E}">
        <p14:creationId xmlns:p14="http://schemas.microsoft.com/office/powerpoint/2010/main" val="1151797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42686" y="456318"/>
            <a:ext cx="11277599" cy="5766387"/>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p>
          <a:p>
            <a:pPr indent="431989">
              <a:lnSpc>
                <a:spcPct val="150000"/>
              </a:lnSpc>
            </a:pPr>
            <a:r>
              <a:rPr lang="zh-CN" altLang="zh-CN" sz="1800" dirty="0"/>
              <a:t>本题的</a:t>
            </a:r>
            <a:r>
              <a:rPr lang="zh-CN" altLang="en-US" sz="1800" dirty="0"/>
              <a:t>工作原理</a:t>
            </a:r>
            <a:r>
              <a:rPr lang="zh-CN" altLang="zh-CN" sz="1800" dirty="0"/>
              <a:t>很简单</a:t>
            </a:r>
            <a:r>
              <a:rPr lang="zh-CN" altLang="en-US" sz="1800" dirty="0"/>
              <a:t>：</a:t>
            </a:r>
            <a:r>
              <a:rPr lang="zh-CN" altLang="zh-CN" sz="1800" dirty="0"/>
              <a:t>在覆铜板的一对对角线上输入电流后，板上各点电位是不同的，具有相同电位的位置形成一簇“等电位线”。在另一对对角线上输入电流后可以形成另一簇等电位线。分两次测量被测点的电位，探针的位置就是这两簇等电位线的交点。</a:t>
            </a:r>
          </a:p>
          <a:p>
            <a:pPr indent="431989">
              <a:lnSpc>
                <a:spcPct val="150000"/>
              </a:lnSpc>
            </a:pPr>
            <a:r>
              <a:rPr lang="zh-CN" altLang="en-US" sz="1800" dirty="0"/>
              <a:t>题目规定了电源消耗功率，也就是限制了加载于覆铜板的电流大小。而</a:t>
            </a:r>
            <a:r>
              <a:rPr lang="zh-CN" altLang="zh-CN" sz="1800" dirty="0"/>
              <a:t>由于覆铜板具有很低的电阻，在对角输入安培数量级的电流后，在中央（</a:t>
            </a:r>
            <a:r>
              <a:rPr lang="en-US" altLang="zh-CN" sz="1800" dirty="0"/>
              <a:t>A</a:t>
            </a:r>
            <a:r>
              <a:rPr lang="zh-CN" altLang="zh-CN" sz="1800" dirty="0"/>
              <a:t>区）相距</a:t>
            </a:r>
            <a:r>
              <a:rPr lang="en-US" altLang="zh-CN" sz="1800" dirty="0"/>
              <a:t>3mm</a:t>
            </a:r>
            <a:r>
              <a:rPr lang="zh-CN" altLang="zh-CN" sz="1800" dirty="0"/>
              <a:t>（题目要求的分辨率误差）位置的电位差大致为</a:t>
            </a:r>
            <a:r>
              <a:rPr lang="zh-CN" altLang="en-US" sz="1800" dirty="0"/>
              <a:t>亚</a:t>
            </a:r>
            <a:r>
              <a:rPr lang="zh-CN" altLang="zh-CN" sz="1800" dirty="0"/>
              <a:t>毫伏数量级。</a:t>
            </a:r>
            <a:r>
              <a:rPr lang="zh-CN" altLang="en-US" sz="1800" dirty="0"/>
              <a:t>然而</a:t>
            </a:r>
            <a:r>
              <a:rPr lang="zh-CN" altLang="zh-CN" sz="1800" dirty="0"/>
              <a:t>经过笔者实测，在覆铜板上可以有几百毫伏到伏数量级的工频干扰与噪声，所以本题的主要技术难点是在高噪声环境下的微弱信号检测。</a:t>
            </a:r>
            <a:endParaRPr lang="en-US" altLang="zh-CN" sz="1800" dirty="0"/>
          </a:p>
          <a:p>
            <a:pPr indent="431989">
              <a:lnSpc>
                <a:spcPct val="150000"/>
              </a:lnSpc>
            </a:pPr>
            <a:r>
              <a:rPr lang="zh-CN" altLang="en-US" sz="1800" dirty="0"/>
              <a:t>由于本题中覆铜板本身无源，所以</a:t>
            </a:r>
            <a:r>
              <a:rPr lang="zh-CN" altLang="zh-CN" sz="1800" dirty="0"/>
              <a:t>具体设计方案</a:t>
            </a:r>
            <a:r>
              <a:rPr lang="zh-CN" altLang="en-US" sz="1800" dirty="0"/>
              <a:t>中还应包含给覆铜板提供电流的驱动模块。大致上可以有以下几种可能的结构：</a:t>
            </a:r>
            <a:endParaRPr lang="en-US" altLang="zh-CN" sz="1800" dirty="0"/>
          </a:p>
          <a:p>
            <a:pPr indent="431989">
              <a:lnSpc>
                <a:spcPct val="150000"/>
              </a:lnSpc>
            </a:pPr>
            <a:r>
              <a:rPr lang="en-US" altLang="zh-CN" sz="1800" dirty="0"/>
              <a:t>1</a:t>
            </a:r>
            <a:r>
              <a:rPr lang="zh-CN" altLang="en-US" sz="1800" dirty="0"/>
              <a:t>、直流驱动，直流检测（低通滤波、放大）；</a:t>
            </a:r>
            <a:endParaRPr lang="en-US" altLang="zh-CN" sz="1800" dirty="0"/>
          </a:p>
          <a:p>
            <a:pPr indent="431989">
              <a:lnSpc>
                <a:spcPct val="150000"/>
              </a:lnSpc>
            </a:pPr>
            <a:r>
              <a:rPr lang="en-US" altLang="zh-CN" sz="1800" dirty="0"/>
              <a:t>2</a:t>
            </a:r>
            <a:r>
              <a:rPr lang="zh-CN" altLang="en-US" sz="1800" dirty="0"/>
              <a:t>、交流驱动，交流检测（带通滤波、放大）；</a:t>
            </a:r>
            <a:endParaRPr lang="en-US" altLang="zh-CN" sz="1800" dirty="0"/>
          </a:p>
          <a:p>
            <a:pPr indent="431989">
              <a:lnSpc>
                <a:spcPct val="150000"/>
              </a:lnSpc>
            </a:pPr>
            <a:r>
              <a:rPr lang="en-US" altLang="zh-CN" sz="1800" dirty="0"/>
              <a:t>3</a:t>
            </a:r>
            <a:r>
              <a:rPr lang="zh-CN" altLang="en-US" sz="1800" dirty="0"/>
              <a:t>、交流驱动，交流检测（锁定放大器放大）。</a:t>
            </a:r>
            <a:endParaRPr lang="zh-CN" altLang="zh-CN" sz="1800" dirty="0"/>
          </a:p>
        </p:txBody>
      </p:sp>
    </p:spTree>
    <p:extLst>
      <p:ext uri="{BB962C8B-B14F-4D97-AF65-F5344CB8AC3E}">
        <p14:creationId xmlns:p14="http://schemas.microsoft.com/office/powerpoint/2010/main" val="12688576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86228" y="358510"/>
            <a:ext cx="11219543" cy="5816977"/>
          </a:xfrm>
          <a:prstGeom prst="rect">
            <a:avLst/>
          </a:prstGeom>
        </p:spPr>
        <p:txBody>
          <a:bodyPr wrap="square">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解决</a:t>
            </a:r>
            <a:r>
              <a:rPr lang="zh-CN" altLang="zh-CN" sz="3200" dirty="0">
                <a:solidFill>
                  <a:srgbClr val="FF0000"/>
                </a:solidFill>
                <a:latin typeface="隶书" panose="02010509060101010101" pitchFamily="49" charset="-122"/>
                <a:ea typeface="隶书" panose="02010509060101010101" pitchFamily="49" charset="-122"/>
              </a:rPr>
              <a:t>方案</a:t>
            </a:r>
            <a:endParaRPr lang="en-US" altLang="zh-CN" sz="32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zh-CN" sz="1800" dirty="0">
                <a:solidFill>
                  <a:srgbClr val="FF0000"/>
                </a:solidFill>
                <a:latin typeface="+mj-ea"/>
                <a:ea typeface="+mj-ea"/>
              </a:rPr>
              <a:t>一、</a:t>
            </a:r>
            <a:r>
              <a:rPr lang="zh-CN" altLang="en-US" sz="1800" dirty="0">
                <a:solidFill>
                  <a:srgbClr val="FF0000"/>
                </a:solidFill>
                <a:latin typeface="+mj-ea"/>
                <a:ea typeface="+mj-ea"/>
              </a:rPr>
              <a:t>直流驱动，直流检测（低通滤波放大）</a:t>
            </a:r>
            <a:endParaRPr lang="en-US" altLang="zh-CN" sz="1800" dirty="0">
              <a:solidFill>
                <a:srgbClr val="FF0000"/>
              </a:solidFill>
              <a:latin typeface="+mj-ea"/>
              <a:ea typeface="+mj-ea"/>
            </a:endParaRPr>
          </a:p>
          <a:p>
            <a:pPr indent="457189">
              <a:lnSpc>
                <a:spcPct val="150000"/>
              </a:lnSpc>
            </a:pPr>
            <a:r>
              <a:rPr lang="zh-CN" altLang="en-US" sz="1800" dirty="0">
                <a:latin typeface="Arial" panose="020B0604020202020204" pitchFamily="34" charset="0"/>
              </a:rPr>
              <a:t>这是一种很经典的检测方案，在很多场合有它的影子。例如直流电桥、基于应变片电桥的电子秤等，下图就是一个电子秤的电路结构。</a:t>
            </a:r>
            <a:endParaRPr lang="en-US" altLang="zh-CN" sz="1800" dirty="0">
              <a:latin typeface="Arial" panose="020B0604020202020204" pitchFamily="34" charset="0"/>
            </a:endParaRPr>
          </a:p>
          <a:p>
            <a:pPr indent="457189">
              <a:lnSpc>
                <a:spcPct val="150000"/>
              </a:lnSpc>
            </a:pPr>
            <a:endParaRPr lang="en-US" altLang="zh-CN" sz="1800" dirty="0">
              <a:latin typeface="Arial" panose="020B0604020202020204" pitchFamily="34" charset="0"/>
            </a:endParaRPr>
          </a:p>
          <a:p>
            <a:pPr indent="457189">
              <a:lnSpc>
                <a:spcPct val="150000"/>
              </a:lnSpc>
            </a:pPr>
            <a:endParaRPr lang="en-US" altLang="zh-CN" sz="1800" dirty="0">
              <a:latin typeface="Arial" panose="020B0604020202020204" pitchFamily="34" charset="0"/>
            </a:endParaRPr>
          </a:p>
          <a:p>
            <a:pPr indent="457189">
              <a:lnSpc>
                <a:spcPct val="150000"/>
              </a:lnSpc>
            </a:pPr>
            <a:endParaRPr lang="en-US" altLang="zh-CN" sz="1800" dirty="0">
              <a:latin typeface="Arial" panose="020B0604020202020204" pitchFamily="34" charset="0"/>
            </a:endParaRPr>
          </a:p>
          <a:p>
            <a:pPr indent="457189">
              <a:lnSpc>
                <a:spcPct val="150000"/>
              </a:lnSpc>
            </a:pPr>
            <a:endParaRPr lang="en-US" altLang="zh-CN" sz="1800" dirty="0">
              <a:latin typeface="Arial" panose="020B0604020202020204" pitchFamily="34" charset="0"/>
            </a:endParaRPr>
          </a:p>
          <a:p>
            <a:pPr indent="457189">
              <a:lnSpc>
                <a:spcPct val="150000"/>
              </a:lnSpc>
            </a:pPr>
            <a:endParaRPr lang="en-US" altLang="zh-CN" sz="1800" dirty="0">
              <a:latin typeface="Arial" panose="020B0604020202020204" pitchFamily="34" charset="0"/>
            </a:endParaRPr>
          </a:p>
          <a:p>
            <a:pPr indent="457189">
              <a:lnSpc>
                <a:spcPct val="150000"/>
              </a:lnSpc>
            </a:pPr>
            <a:r>
              <a:rPr lang="zh-CN" altLang="en-US" sz="1800" dirty="0">
                <a:latin typeface="Arial" panose="020B0604020202020204" pitchFamily="34" charset="0"/>
              </a:rPr>
              <a:t>这种方案的最大好处是可以利用低通滤波器消除绝大部分噪声与干扰。</a:t>
            </a:r>
            <a:r>
              <a:rPr lang="zh-CN" altLang="en-US" sz="1800" dirty="0" smtClean="0">
                <a:latin typeface="Arial" panose="020B0604020202020204" pitchFamily="34" charset="0"/>
              </a:rPr>
              <a:t>其不利因素常常是</a:t>
            </a:r>
            <a:r>
              <a:rPr lang="zh-CN" altLang="en-US" sz="1800" dirty="0">
                <a:latin typeface="Arial" panose="020B0604020202020204" pitchFamily="34" charset="0"/>
              </a:rPr>
              <a:t>放大器的直流飘移，例如运放的输入失调以及输入失调漂移。但随着集成电路工艺的发展，目前很多精密运放的失调已经很低。例如</a:t>
            </a:r>
            <a:r>
              <a:rPr lang="en-US" altLang="zh-CN" sz="1800" dirty="0">
                <a:latin typeface="Arial" panose="020B0604020202020204" pitchFamily="34" charset="0"/>
              </a:rPr>
              <a:t>OP27</a:t>
            </a:r>
            <a:r>
              <a:rPr lang="zh-CN" altLang="en-US" sz="1800" dirty="0">
                <a:latin typeface="Arial" panose="020B0604020202020204" pitchFamily="34" charset="0"/>
              </a:rPr>
              <a:t>的失调电压只有</a:t>
            </a:r>
            <a:r>
              <a:rPr lang="en-US" altLang="zh-CN" sz="1800" dirty="0">
                <a:latin typeface="Arial" panose="020B0604020202020204" pitchFamily="34" charset="0"/>
              </a:rPr>
              <a:t>10</a:t>
            </a:r>
            <a:r>
              <a:rPr lang="el-GR" altLang="zh-CN" sz="1800" dirty="0">
                <a:latin typeface="Arial" panose="020B0604020202020204" pitchFamily="34" charset="0"/>
              </a:rPr>
              <a:t>μ</a:t>
            </a:r>
            <a:r>
              <a:rPr lang="en-US" altLang="zh-CN" sz="1800" dirty="0">
                <a:latin typeface="Arial" panose="020B0604020202020204" pitchFamily="34" charset="0"/>
              </a:rPr>
              <a:t>V</a:t>
            </a:r>
            <a:r>
              <a:rPr lang="zh-CN" altLang="en-US" sz="1800" dirty="0">
                <a:latin typeface="Arial" panose="020B0604020202020204" pitchFamily="34" charset="0"/>
              </a:rPr>
              <a:t>。而一款号称零漂移运放的</a:t>
            </a:r>
            <a:r>
              <a:rPr lang="en-US" altLang="zh-CN" sz="1800" dirty="0">
                <a:latin typeface="Arial" panose="020B0604020202020204" pitchFamily="34" charset="0"/>
              </a:rPr>
              <a:t>OPA388</a:t>
            </a:r>
            <a:r>
              <a:rPr lang="zh-CN" altLang="en-US" sz="1800" dirty="0">
                <a:latin typeface="Arial" panose="020B0604020202020204" pitchFamily="34" charset="0"/>
              </a:rPr>
              <a:t>的失调电压更是低到只有</a:t>
            </a:r>
            <a:r>
              <a:rPr lang="en-US" altLang="zh-CN" sz="1800" dirty="0">
                <a:latin typeface="Arial" panose="020B0604020202020204" pitchFamily="34" charset="0"/>
              </a:rPr>
              <a:t>0.25</a:t>
            </a:r>
            <a:r>
              <a:rPr lang="el-GR" altLang="zh-CN" sz="1800" dirty="0">
                <a:latin typeface="Arial" panose="020B0604020202020204" pitchFamily="34" charset="0"/>
              </a:rPr>
              <a:t>μ</a:t>
            </a:r>
            <a:r>
              <a:rPr lang="en-US" altLang="zh-CN" sz="1800" dirty="0">
                <a:latin typeface="Arial" panose="020B0604020202020204" pitchFamily="34" charset="0"/>
              </a:rPr>
              <a:t>V</a:t>
            </a:r>
            <a:r>
              <a:rPr lang="zh-CN" altLang="en-US" sz="1800" dirty="0">
                <a:latin typeface="Arial" panose="020B0604020202020204" pitchFamily="34" charset="0"/>
              </a:rPr>
              <a:t>，失调温漂只有</a:t>
            </a:r>
            <a:r>
              <a:rPr lang="en-US" altLang="zh-CN" sz="1800" dirty="0">
                <a:latin typeface="Arial" panose="020B0604020202020204" pitchFamily="34" charset="0"/>
              </a:rPr>
              <a:t>5nV/˚C</a:t>
            </a:r>
            <a:r>
              <a:rPr lang="zh-CN" altLang="en-US" sz="1800" dirty="0" smtClean="0">
                <a:latin typeface="Arial" panose="020B0604020202020204" pitchFamily="34" charset="0"/>
              </a:rPr>
              <a:t>。所以在普通的应用场合这个不利因素已经影响很小了。</a:t>
            </a:r>
            <a:endParaRPr lang="en-US" altLang="zh-CN" sz="1800" dirty="0">
              <a:solidFill>
                <a:srgbClr val="FF0000"/>
              </a:solidFill>
              <a:latin typeface="Arial" panose="020B0604020202020204" pitchFamily="34" charset="0"/>
            </a:endParaRPr>
          </a:p>
        </p:txBody>
      </p:sp>
      <p:pic>
        <p:nvPicPr>
          <p:cNvPr id="6" name="图片 5"/>
          <p:cNvPicPr>
            <a:picLocks noChangeAspect="1"/>
          </p:cNvPicPr>
          <p:nvPr/>
        </p:nvPicPr>
        <p:blipFill>
          <a:blip r:embed="rId2"/>
          <a:stretch>
            <a:fillRect/>
          </a:stretch>
        </p:blipFill>
        <p:spPr>
          <a:xfrm>
            <a:off x="4081846" y="2225222"/>
            <a:ext cx="4151611" cy="2083551"/>
          </a:xfrm>
          <a:prstGeom prst="rect">
            <a:avLst/>
          </a:prstGeom>
        </p:spPr>
      </p:pic>
    </p:spTree>
    <p:extLst>
      <p:ext uri="{BB962C8B-B14F-4D97-AF65-F5344CB8AC3E}">
        <p14:creationId xmlns:p14="http://schemas.microsoft.com/office/powerpoint/2010/main" val="35011426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93486" y="412554"/>
            <a:ext cx="11234057" cy="2534733"/>
          </a:xfrm>
          <a:prstGeom prst="rect">
            <a:avLst/>
          </a:prstGeom>
        </p:spPr>
        <p:txBody>
          <a:bodyPr wrap="square">
            <a:spAutoFit/>
          </a:bodyPr>
          <a:lstStyle/>
          <a:p>
            <a:pPr indent="457200">
              <a:lnSpc>
                <a:spcPct val="150000"/>
              </a:lnSpc>
            </a:pPr>
            <a:r>
              <a:rPr lang="zh-CN" altLang="en-US" sz="1800" dirty="0"/>
              <a:t>但是在本题目中，直流方案是不合适的，原因如下：</a:t>
            </a:r>
            <a:endParaRPr lang="en-US" altLang="zh-CN" sz="1800" dirty="0"/>
          </a:p>
          <a:p>
            <a:pPr indent="457200">
              <a:lnSpc>
                <a:spcPct val="150000"/>
              </a:lnSpc>
            </a:pPr>
            <a:r>
              <a:rPr lang="zh-CN" altLang="en-US" sz="1800" dirty="0"/>
              <a:t>为了提高信号幅度，</a:t>
            </a:r>
            <a:r>
              <a:rPr lang="zh-CN" altLang="zh-CN" sz="1800" dirty="0"/>
              <a:t>流过覆铜板的电流越大</a:t>
            </a:r>
            <a:r>
              <a:rPr lang="zh-CN" altLang="en-US" sz="1800" dirty="0"/>
              <a:t>越好</a:t>
            </a:r>
            <a:r>
              <a:rPr lang="zh-CN" altLang="zh-CN" sz="1800" dirty="0"/>
              <a:t>，然而由于覆铜板的电阻</a:t>
            </a:r>
            <a:r>
              <a:rPr lang="zh-CN" altLang="en-US" sz="1800" dirty="0"/>
              <a:t>极</a:t>
            </a:r>
            <a:r>
              <a:rPr lang="zh-CN" altLang="zh-CN" sz="1800" dirty="0"/>
              <a:t>小（实测如题目要求的覆铜板两对角线之间的直流电阻约为</a:t>
            </a:r>
            <a:r>
              <a:rPr lang="en-US" altLang="zh-CN" sz="1800" dirty="0"/>
              <a:t>2mΩ</a:t>
            </a:r>
            <a:r>
              <a:rPr lang="zh-CN" altLang="zh-CN" sz="1800" dirty="0"/>
              <a:t>），</a:t>
            </a:r>
            <a:r>
              <a:rPr lang="zh-CN" altLang="en-US" sz="1800" dirty="0"/>
              <a:t>所以这个电流大小</a:t>
            </a:r>
            <a:r>
              <a:rPr lang="zh-CN" altLang="zh-CN" sz="1800" dirty="0"/>
              <a:t>受到电源</a:t>
            </a:r>
            <a:r>
              <a:rPr lang="zh-CN" altLang="en-US" sz="1800" dirty="0"/>
              <a:t>功率</a:t>
            </a:r>
            <a:r>
              <a:rPr lang="zh-CN" altLang="zh-CN" sz="1800" dirty="0"/>
              <a:t>的限制。</a:t>
            </a:r>
            <a:endParaRPr lang="en-US" altLang="zh-CN" sz="1800" dirty="0"/>
          </a:p>
          <a:p>
            <a:pPr indent="457200">
              <a:lnSpc>
                <a:spcPct val="150000"/>
              </a:lnSpc>
            </a:pPr>
            <a:r>
              <a:rPr lang="zh-CN" altLang="zh-CN" sz="1800" dirty="0"/>
              <a:t>题目规定了电源电压为单一的</a:t>
            </a:r>
            <a:r>
              <a:rPr lang="en-US" altLang="zh-CN" sz="1800" dirty="0"/>
              <a:t>12V</a:t>
            </a:r>
            <a:r>
              <a:rPr lang="zh-CN" altLang="zh-CN" sz="1800" dirty="0"/>
              <a:t>，总功耗不得高于</a:t>
            </a:r>
            <a:r>
              <a:rPr lang="en-US" altLang="zh-CN" sz="1800" dirty="0"/>
              <a:t>1.5W</a:t>
            </a:r>
            <a:r>
              <a:rPr lang="zh-CN" altLang="zh-CN" sz="1800" dirty="0"/>
              <a:t>，若直接用</a:t>
            </a:r>
            <a:r>
              <a:rPr lang="en-US" altLang="zh-CN" sz="1800" dirty="0"/>
              <a:t>12V</a:t>
            </a:r>
            <a:r>
              <a:rPr lang="zh-CN" altLang="zh-CN" sz="1800" dirty="0"/>
              <a:t>供电则流过覆铜板的电流不可能大于</a:t>
            </a:r>
            <a:r>
              <a:rPr lang="en-US" altLang="zh-CN" sz="1800" dirty="0"/>
              <a:t>1.5/12=0.125A</a:t>
            </a:r>
            <a:r>
              <a:rPr lang="zh-CN" altLang="zh-CN" sz="1800" dirty="0"/>
              <a:t>。这种情况下大量功耗将消耗在限流电阻上。因此，必须制作一个电压变换电路</a:t>
            </a:r>
            <a:r>
              <a:rPr lang="zh-CN" altLang="en-US" sz="1800" dirty="0"/>
              <a:t>，将</a:t>
            </a:r>
            <a:r>
              <a:rPr lang="en-US" altLang="zh-CN" sz="1800" dirty="0"/>
              <a:t>12V</a:t>
            </a:r>
            <a:r>
              <a:rPr lang="zh-CN" altLang="en-US" sz="1800" dirty="0"/>
              <a:t>电源变换为</a:t>
            </a:r>
            <a:r>
              <a:rPr lang="zh-CN" altLang="zh-CN" sz="1800" dirty="0"/>
              <a:t>一个低压电源加到覆铜板上，才能在功耗限制下获得足够大的电流。</a:t>
            </a:r>
          </a:p>
        </p:txBody>
      </p:sp>
      <p:sp>
        <p:nvSpPr>
          <p:cNvPr id="6" name="矩形 5"/>
          <p:cNvSpPr/>
          <p:nvPr/>
        </p:nvSpPr>
        <p:spPr>
          <a:xfrm>
            <a:off x="493486" y="2947287"/>
            <a:ext cx="5871027" cy="2169825"/>
          </a:xfrm>
          <a:prstGeom prst="rect">
            <a:avLst/>
          </a:prstGeom>
        </p:spPr>
        <p:txBody>
          <a:bodyPr wrap="square">
            <a:spAutoFit/>
          </a:bodyPr>
          <a:lstStyle/>
          <a:p>
            <a:pPr indent="457200">
              <a:lnSpc>
                <a:spcPct val="150000"/>
              </a:lnSpc>
            </a:pPr>
            <a:r>
              <a:rPr lang="zh-CN" altLang="en-US" sz="1800" dirty="0"/>
              <a:t>通常</a:t>
            </a:r>
            <a:r>
              <a:rPr lang="zh-CN" altLang="zh-CN" sz="1800" dirty="0"/>
              <a:t>获得低压</a:t>
            </a:r>
            <a:r>
              <a:rPr lang="zh-CN" altLang="en-US" sz="1800" dirty="0"/>
              <a:t>直流</a:t>
            </a:r>
            <a:r>
              <a:rPr lang="zh-CN" altLang="zh-CN" sz="1800" dirty="0"/>
              <a:t>电源的方法是用降压型开关电源，但是无论何种降压型直流开关电源，它在低压侧</a:t>
            </a:r>
            <a:r>
              <a:rPr lang="zh-CN" altLang="en-US" sz="1800" dirty="0"/>
              <a:t>至少有</a:t>
            </a:r>
            <a:r>
              <a:rPr lang="zh-CN" altLang="zh-CN" sz="1800" dirty="0"/>
              <a:t>一个二极管。在大电流情况下，这个二极管的管压降一定远高于加在覆铜板上的电压。所以，这种电源的效率肯定极低。</a:t>
            </a:r>
          </a:p>
        </p:txBody>
      </p:sp>
      <p:pic>
        <p:nvPicPr>
          <p:cNvPr id="7" name="图片 6"/>
          <p:cNvPicPr>
            <a:picLocks noChangeAspect="1"/>
          </p:cNvPicPr>
          <p:nvPr/>
        </p:nvPicPr>
        <p:blipFill>
          <a:blip r:embed="rId2"/>
          <a:stretch>
            <a:fillRect/>
          </a:stretch>
        </p:blipFill>
        <p:spPr>
          <a:xfrm>
            <a:off x="6770340" y="3010190"/>
            <a:ext cx="4387804" cy="3084543"/>
          </a:xfrm>
          <a:prstGeom prst="rect">
            <a:avLst/>
          </a:prstGeom>
        </p:spPr>
      </p:pic>
      <p:sp>
        <p:nvSpPr>
          <p:cNvPr id="8" name="文本框 7"/>
          <p:cNvSpPr txBox="1"/>
          <p:nvPr/>
        </p:nvSpPr>
        <p:spPr>
          <a:xfrm>
            <a:off x="8031285" y="6057467"/>
            <a:ext cx="2056840" cy="307777"/>
          </a:xfrm>
          <a:prstGeom prst="rect">
            <a:avLst/>
          </a:prstGeom>
          <a:noFill/>
        </p:spPr>
        <p:txBody>
          <a:bodyPr wrap="square" rtlCol="0">
            <a:spAutoFit/>
          </a:bodyPr>
          <a:lstStyle/>
          <a:p>
            <a:r>
              <a:rPr lang="zh-CN" altLang="en-US" sz="1400" dirty="0"/>
              <a:t>降压型开关电源的例子</a:t>
            </a:r>
          </a:p>
        </p:txBody>
      </p:sp>
      <p:sp>
        <p:nvSpPr>
          <p:cNvPr id="10" name="矩形 9"/>
          <p:cNvSpPr/>
          <p:nvPr/>
        </p:nvSpPr>
        <p:spPr>
          <a:xfrm>
            <a:off x="7540018" y="3434053"/>
            <a:ext cx="1947211" cy="2427436"/>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248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522513" y="628939"/>
            <a:ext cx="11154229" cy="5443221"/>
          </a:xfrm>
          <a:prstGeom prst="rect">
            <a:avLst/>
          </a:prstGeom>
        </p:spPr>
        <p:txBody>
          <a:bodyPr wrap="square">
            <a:spAutoFit/>
          </a:bodyPr>
          <a:lstStyle/>
          <a:p>
            <a:pPr>
              <a:lnSpc>
                <a:spcPct val="150000"/>
              </a:lnSpc>
            </a:pPr>
            <a:r>
              <a:rPr lang="zh-CN" altLang="en-US" sz="1800" dirty="0">
                <a:solidFill>
                  <a:srgbClr val="FF0000"/>
                </a:solidFill>
                <a:latin typeface="+mj-ea"/>
                <a:ea typeface="+mj-ea"/>
              </a:rPr>
              <a:t>二</a:t>
            </a:r>
            <a:r>
              <a:rPr lang="zh-CN" altLang="zh-CN" sz="1800" dirty="0">
                <a:solidFill>
                  <a:srgbClr val="FF0000"/>
                </a:solidFill>
                <a:latin typeface="+mj-ea"/>
                <a:ea typeface="+mj-ea"/>
              </a:rPr>
              <a:t>、</a:t>
            </a:r>
            <a:r>
              <a:rPr lang="zh-CN" altLang="en-US" sz="1800" dirty="0">
                <a:solidFill>
                  <a:srgbClr val="FF0000"/>
                </a:solidFill>
                <a:latin typeface="+mj-ea"/>
                <a:ea typeface="+mj-ea"/>
              </a:rPr>
              <a:t>交流驱动方案</a:t>
            </a:r>
            <a:endParaRPr lang="en-US" altLang="zh-CN" sz="1800" dirty="0">
              <a:solidFill>
                <a:srgbClr val="FF0000"/>
              </a:solidFill>
              <a:latin typeface="+mj-ea"/>
              <a:ea typeface="+mj-ea"/>
            </a:endParaRPr>
          </a:p>
          <a:p>
            <a:pPr indent="431989">
              <a:lnSpc>
                <a:spcPct val="150000"/>
              </a:lnSpc>
            </a:pPr>
            <a:r>
              <a:rPr lang="zh-CN" altLang="en-US" sz="1800" dirty="0"/>
              <a:t>这种方案</a:t>
            </a:r>
            <a:r>
              <a:rPr lang="zh-CN" altLang="zh-CN" sz="1800" dirty="0"/>
              <a:t>是做一个交流功率信号源，然后通过</a:t>
            </a:r>
            <a:r>
              <a:rPr lang="zh-CN" altLang="zh-CN" sz="1800" dirty="0">
                <a:solidFill>
                  <a:srgbClr val="FF0000"/>
                </a:solidFill>
              </a:rPr>
              <a:t>降压变压器</a:t>
            </a:r>
            <a:r>
              <a:rPr lang="zh-CN" altLang="zh-CN" sz="1800" dirty="0"/>
              <a:t>将电压降低到与覆铜板需要的测量电压匹配。变压器的次级输出不经整流而直接作为流过覆铜板电流的电源，那样可以有最高的电源效率。</a:t>
            </a:r>
            <a:endParaRPr lang="en-US" altLang="zh-CN" sz="1800" dirty="0"/>
          </a:p>
          <a:p>
            <a:pPr indent="431989">
              <a:lnSpc>
                <a:spcPct val="150000"/>
              </a:lnSpc>
            </a:pPr>
            <a:r>
              <a:rPr lang="zh-CN" altLang="en-US" sz="1800" dirty="0"/>
              <a:t>在这种方案中，根据后继的放大器的类型，还可以有两种不同的子结构：</a:t>
            </a:r>
            <a:endParaRPr lang="en-US" altLang="zh-CN" sz="1800" dirty="0"/>
          </a:p>
          <a:p>
            <a:pPr indent="431989">
              <a:lnSpc>
                <a:spcPct val="150000"/>
              </a:lnSpc>
            </a:pPr>
            <a:r>
              <a:rPr lang="zh-CN" altLang="en-US" sz="1800" dirty="0"/>
              <a:t>第一种是</a:t>
            </a:r>
            <a:r>
              <a:rPr lang="zh-CN" altLang="en-US" sz="1800" dirty="0">
                <a:solidFill>
                  <a:srgbClr val="FF0000"/>
                </a:solidFill>
              </a:rPr>
              <a:t>交流放大</a:t>
            </a:r>
            <a:r>
              <a:rPr lang="en-US" altLang="zh-CN" sz="1800" dirty="0">
                <a:solidFill>
                  <a:srgbClr val="FF0000"/>
                </a:solidFill>
              </a:rPr>
              <a:t>+</a:t>
            </a:r>
            <a:r>
              <a:rPr lang="zh-CN" altLang="en-US" sz="1800" dirty="0">
                <a:solidFill>
                  <a:srgbClr val="FF0000"/>
                </a:solidFill>
              </a:rPr>
              <a:t>带通滤波</a:t>
            </a:r>
            <a:r>
              <a:rPr lang="zh-CN" altLang="en-US" sz="1800" dirty="0"/>
              <a:t>：该方案用一个通用交流放大器将检测到的信号进行放大，在放大器中加入带通滤波器，只放大与信号源频率相同的信号，而将其中的噪声与干扰信号滤除。</a:t>
            </a:r>
            <a:endParaRPr lang="en-US" altLang="zh-CN" sz="1800" dirty="0"/>
          </a:p>
          <a:p>
            <a:pPr indent="431989">
              <a:lnSpc>
                <a:spcPct val="150000"/>
              </a:lnSpc>
            </a:pPr>
            <a:r>
              <a:rPr lang="zh-CN" altLang="en-US" sz="1800" dirty="0"/>
              <a:t>第二种是用</a:t>
            </a:r>
            <a:r>
              <a:rPr lang="zh-CN" altLang="en-US" sz="1800" dirty="0">
                <a:solidFill>
                  <a:srgbClr val="FF0000"/>
                </a:solidFill>
              </a:rPr>
              <a:t>锁定放大器</a:t>
            </a:r>
            <a:r>
              <a:rPr lang="zh-CN" altLang="en-US" sz="1800" dirty="0"/>
              <a:t>放大信号。由于锁定放大器具有在强噪声条件下提取有用信息的能力，所以这个方案可以消除各种噪声与干扰的影响。</a:t>
            </a:r>
            <a:endParaRPr lang="en-US" altLang="zh-CN" sz="1800" dirty="0"/>
          </a:p>
          <a:p>
            <a:pPr indent="431989">
              <a:lnSpc>
                <a:spcPct val="150000"/>
              </a:lnSpc>
            </a:pPr>
            <a:r>
              <a:rPr lang="zh-CN" altLang="en-US" sz="1800" dirty="0"/>
              <a:t>第一种结构的电路比较简单，但是受到带通滤波器</a:t>
            </a:r>
            <a:r>
              <a:rPr lang="en-US" altLang="zh-CN" sz="1800" dirty="0"/>
              <a:t>Q</a:t>
            </a:r>
            <a:r>
              <a:rPr lang="zh-CN" altLang="en-US" sz="1800" dirty="0"/>
              <a:t>值的限制，其带宽不可能做到很小，所以其滤除噪声与抗干扰能力不如第二种。</a:t>
            </a:r>
            <a:endParaRPr lang="en-US" altLang="zh-CN" sz="1800" dirty="0"/>
          </a:p>
          <a:p>
            <a:pPr indent="431989">
              <a:lnSpc>
                <a:spcPct val="150000"/>
              </a:lnSpc>
            </a:pPr>
            <a:r>
              <a:rPr lang="zh-CN" altLang="en-US" sz="1800" dirty="0"/>
              <a:t>第二种结构中的锁定放大器采用同步检波技术，将有用信号的频谱移动到零频，然后用低通滤波器取出有用信号，其电路相对比较复杂。由于很容易将低通滤波器的截止频率设置得很低，其等效带宽可达</a:t>
            </a:r>
            <a:r>
              <a:rPr lang="en-US" altLang="zh-CN" sz="1800" dirty="0"/>
              <a:t>Hz</a:t>
            </a:r>
            <a:r>
              <a:rPr lang="zh-CN" altLang="en-US" sz="1800" dirty="0"/>
              <a:t>数量级甚至更低。</a:t>
            </a:r>
            <a:endParaRPr lang="zh-CN" altLang="zh-CN" sz="1800" dirty="0"/>
          </a:p>
        </p:txBody>
      </p:sp>
    </p:spTree>
    <p:extLst>
      <p:ext uri="{BB962C8B-B14F-4D97-AF65-F5344CB8AC3E}">
        <p14:creationId xmlns:p14="http://schemas.microsoft.com/office/powerpoint/2010/main" val="42217371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矩形 4"/>
          <p:cNvSpPr/>
          <p:nvPr/>
        </p:nvSpPr>
        <p:spPr>
          <a:xfrm>
            <a:off x="507999" y="628943"/>
            <a:ext cx="11154229" cy="4662815"/>
          </a:xfrm>
          <a:prstGeom prst="rect">
            <a:avLst/>
          </a:prstGeom>
        </p:spPr>
        <p:txBody>
          <a:bodyPr wrap="square">
            <a:spAutoFit/>
          </a:bodyPr>
          <a:lstStyle/>
          <a:p>
            <a:pPr marL="285744" indent="-285744">
              <a:lnSpc>
                <a:spcPct val="150000"/>
              </a:lnSpc>
              <a:buFont typeface="Arial" panose="020B0604020202020204" pitchFamily="34" charset="0"/>
              <a:buChar char="•"/>
            </a:pPr>
            <a:r>
              <a:rPr lang="zh-CN" altLang="en-US" sz="1800" dirty="0">
                <a:latin typeface="+mj-ea"/>
                <a:ea typeface="+mj-ea"/>
              </a:rPr>
              <a:t>交流驱动电源</a:t>
            </a:r>
            <a:endParaRPr lang="en-US" altLang="zh-CN" sz="1800" dirty="0">
              <a:latin typeface="+mj-ea"/>
              <a:ea typeface="+mj-ea"/>
            </a:endParaRPr>
          </a:p>
          <a:p>
            <a:pPr indent="431989">
              <a:lnSpc>
                <a:spcPct val="150000"/>
              </a:lnSpc>
            </a:pPr>
            <a:r>
              <a:rPr lang="zh-CN" altLang="en-US" sz="1800" dirty="0"/>
              <a:t>两种方案中的交流驱动电源是相同的</a:t>
            </a:r>
            <a:r>
              <a:rPr lang="zh-CN" altLang="zh-CN" sz="1800" dirty="0"/>
              <a:t>。</a:t>
            </a:r>
          </a:p>
          <a:p>
            <a:pPr indent="431989">
              <a:lnSpc>
                <a:spcPct val="150000"/>
              </a:lnSpc>
            </a:pPr>
            <a:r>
              <a:rPr lang="zh-CN" altLang="zh-CN" sz="1800" dirty="0"/>
              <a:t>交流</a:t>
            </a:r>
            <a:r>
              <a:rPr lang="zh-CN" altLang="en-US" sz="1800" dirty="0"/>
              <a:t>驱动</a:t>
            </a:r>
            <a:r>
              <a:rPr lang="zh-CN" altLang="zh-CN" sz="1800" dirty="0"/>
              <a:t>源可以用一个振荡电路</a:t>
            </a:r>
            <a:r>
              <a:rPr lang="zh-CN" altLang="en-US" sz="1800" dirty="0"/>
              <a:t>或者由单片机</a:t>
            </a:r>
            <a:r>
              <a:rPr lang="zh-CN" altLang="zh-CN" sz="1800" dirty="0"/>
              <a:t>（单片机</a:t>
            </a:r>
            <a:r>
              <a:rPr lang="zh-CN" altLang="en-US" sz="1800" dirty="0"/>
              <a:t>更方便且频率更稳定</a:t>
            </a:r>
            <a:r>
              <a:rPr lang="zh-CN" altLang="zh-CN" sz="1800" dirty="0"/>
              <a:t>）产生交流方波（可以是正弦波，但方波更简单方便）</a:t>
            </a:r>
            <a:r>
              <a:rPr lang="zh-CN" altLang="en-US" sz="1800" dirty="0"/>
              <a:t>，</a:t>
            </a:r>
            <a:r>
              <a:rPr lang="zh-CN" altLang="zh-CN" sz="1800" dirty="0"/>
              <a:t>再用一个功率驱动器实现。</a:t>
            </a:r>
            <a:endParaRPr lang="en-US" altLang="zh-CN" sz="1800" dirty="0"/>
          </a:p>
          <a:p>
            <a:pPr indent="431989">
              <a:lnSpc>
                <a:spcPct val="150000"/>
              </a:lnSpc>
            </a:pPr>
            <a:endParaRPr lang="en-US" altLang="zh-CN" sz="1800" dirty="0" smtClean="0"/>
          </a:p>
          <a:p>
            <a:pPr indent="431989">
              <a:lnSpc>
                <a:spcPct val="150000"/>
              </a:lnSpc>
            </a:pPr>
            <a:r>
              <a:rPr lang="zh-CN" altLang="en-US" sz="1800" dirty="0" smtClean="0"/>
              <a:t>下面</a:t>
            </a:r>
            <a:r>
              <a:rPr lang="zh-CN" altLang="en-US" sz="1800" dirty="0"/>
              <a:t>先估计这个交流信号源的设计指标。</a:t>
            </a:r>
            <a:endParaRPr lang="en-US" altLang="zh-CN" sz="1800" dirty="0"/>
          </a:p>
          <a:p>
            <a:pPr indent="431989">
              <a:lnSpc>
                <a:spcPct val="150000"/>
              </a:lnSpc>
            </a:pPr>
            <a:r>
              <a:rPr lang="zh-CN" altLang="en-US" sz="1800" dirty="0"/>
              <a:t>题目</a:t>
            </a:r>
            <a:r>
              <a:rPr lang="zh-CN" altLang="zh-CN" sz="1800" dirty="0"/>
              <a:t>要求系统总功耗小于</a:t>
            </a:r>
            <a:r>
              <a:rPr lang="en-US" altLang="zh-CN" sz="1800" dirty="0"/>
              <a:t>1.5W</a:t>
            </a:r>
            <a:r>
              <a:rPr lang="zh-CN" altLang="en-US" sz="1800" dirty="0"/>
              <a:t>。假设单片机、显示器与</a:t>
            </a:r>
            <a:r>
              <a:rPr lang="zh-CN" altLang="zh-CN" sz="1800" dirty="0"/>
              <a:t>测量放大部分</a:t>
            </a:r>
            <a:r>
              <a:rPr lang="zh-CN" altLang="en-US" sz="1800" dirty="0"/>
              <a:t>的总功耗为</a:t>
            </a:r>
            <a:r>
              <a:rPr lang="en-US" altLang="zh-CN" sz="1800" dirty="0"/>
              <a:t>200mW</a:t>
            </a:r>
            <a:r>
              <a:rPr lang="zh-CN" altLang="zh-CN" sz="1800" dirty="0"/>
              <a:t>，</a:t>
            </a:r>
            <a:r>
              <a:rPr lang="zh-CN" altLang="en-US" sz="1800" dirty="0"/>
              <a:t>则</a:t>
            </a:r>
            <a:r>
              <a:rPr lang="zh-CN" altLang="zh-CN" sz="1800" dirty="0"/>
              <a:t>这个信号源的</a:t>
            </a:r>
            <a:r>
              <a:rPr lang="zh-CN" altLang="en-US" sz="1800" dirty="0"/>
              <a:t>总消耗</a:t>
            </a:r>
            <a:r>
              <a:rPr lang="zh-CN" altLang="zh-CN" sz="1800" dirty="0"/>
              <a:t>功率</a:t>
            </a:r>
            <a:r>
              <a:rPr lang="zh-CN" altLang="en-US" sz="1800" dirty="0"/>
              <a:t>不能超过</a:t>
            </a:r>
            <a:r>
              <a:rPr lang="en-US" altLang="zh-CN" sz="1800" dirty="0"/>
              <a:t>1.3W</a:t>
            </a:r>
            <a:r>
              <a:rPr lang="zh-CN" altLang="en-US" sz="1800" dirty="0"/>
              <a:t>。再假设这个信号源的效率为</a:t>
            </a:r>
            <a:r>
              <a:rPr lang="en-US" altLang="zh-CN" sz="1800" dirty="0"/>
              <a:t>80%</a:t>
            </a:r>
            <a:r>
              <a:rPr lang="zh-CN" altLang="en-US" sz="1800" dirty="0"/>
              <a:t>，则其输出功率应该</a:t>
            </a:r>
            <a:r>
              <a:rPr lang="zh-CN" altLang="zh-CN" sz="1800" dirty="0"/>
              <a:t>在</a:t>
            </a:r>
            <a:r>
              <a:rPr lang="en-US" altLang="zh-CN" sz="1800" dirty="0"/>
              <a:t>1W</a:t>
            </a:r>
            <a:r>
              <a:rPr lang="zh-CN" altLang="en-US" sz="1800" dirty="0"/>
              <a:t>左右</a:t>
            </a:r>
            <a:r>
              <a:rPr lang="zh-CN" altLang="zh-CN" sz="1800" dirty="0"/>
              <a:t>。</a:t>
            </a:r>
            <a:endParaRPr lang="en-US" altLang="zh-CN" sz="1800" dirty="0"/>
          </a:p>
          <a:p>
            <a:pPr indent="431989">
              <a:lnSpc>
                <a:spcPct val="150000"/>
              </a:lnSpc>
            </a:pPr>
            <a:r>
              <a:rPr lang="zh-CN" altLang="zh-CN" sz="1800" dirty="0"/>
              <a:t>为了减小工频干扰，</a:t>
            </a:r>
            <a:r>
              <a:rPr lang="zh-CN" altLang="en-US" sz="1800" dirty="0"/>
              <a:t>此信号源的</a:t>
            </a:r>
            <a:r>
              <a:rPr lang="zh-CN" altLang="zh-CN" sz="1800" dirty="0"/>
              <a:t>频率应该避免与工频（</a:t>
            </a:r>
            <a:r>
              <a:rPr lang="en-US" altLang="zh-CN" sz="1800" dirty="0"/>
              <a:t>50Hz</a:t>
            </a:r>
            <a:r>
              <a:rPr lang="zh-CN" altLang="zh-CN" sz="1800" dirty="0"/>
              <a:t>）以及工频的高次谐波接近</a:t>
            </a:r>
            <a:r>
              <a:rPr lang="zh-CN" altLang="en-US" sz="1800" dirty="0"/>
              <a:t>。但也不宜选得太高，否则由于分布参数等原因，整个电源的设计制作都会增加难度。因此可在几百</a:t>
            </a:r>
            <a:r>
              <a:rPr lang="en-US" altLang="zh-CN" sz="1800" dirty="0"/>
              <a:t>Hz</a:t>
            </a:r>
            <a:r>
              <a:rPr lang="zh-CN" altLang="en-US" sz="1800" dirty="0"/>
              <a:t>到几千</a:t>
            </a:r>
            <a:r>
              <a:rPr lang="en-US" altLang="zh-CN" sz="1800" dirty="0"/>
              <a:t>Hz</a:t>
            </a:r>
            <a:r>
              <a:rPr lang="zh-CN" altLang="en-US" sz="1800" dirty="0"/>
              <a:t>之间选择，例如选</a:t>
            </a:r>
            <a:r>
              <a:rPr lang="en-US" altLang="zh-CN" sz="1800" dirty="0"/>
              <a:t>1kHz</a:t>
            </a:r>
            <a:r>
              <a:rPr lang="zh-CN" altLang="en-US" sz="1800" dirty="0"/>
              <a:t>附近。</a:t>
            </a:r>
            <a:endParaRPr lang="zh-CN" altLang="zh-CN" sz="1800" dirty="0"/>
          </a:p>
        </p:txBody>
      </p:sp>
    </p:spTree>
    <p:extLst>
      <p:ext uri="{BB962C8B-B14F-4D97-AF65-F5344CB8AC3E}">
        <p14:creationId xmlns:p14="http://schemas.microsoft.com/office/powerpoint/2010/main" val="13237206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508001" y="565860"/>
            <a:ext cx="11197770" cy="5443221"/>
          </a:xfrm>
          <a:prstGeom prst="rect">
            <a:avLst/>
          </a:prstGeom>
        </p:spPr>
        <p:txBody>
          <a:bodyPr wrap="square">
            <a:spAutoFit/>
          </a:bodyPr>
          <a:lstStyle/>
          <a:p>
            <a:pPr indent="457200">
              <a:lnSpc>
                <a:spcPct val="150000"/>
              </a:lnSpc>
            </a:pPr>
            <a:r>
              <a:rPr lang="zh-CN" altLang="zh-CN" sz="1800" dirty="0"/>
              <a:t>该功率驱动器</a:t>
            </a:r>
            <a:r>
              <a:rPr lang="zh-CN" altLang="en-US" sz="1800" dirty="0"/>
              <a:t>可以</a:t>
            </a:r>
            <a:r>
              <a:rPr lang="zh-CN" altLang="zh-CN" sz="1800" dirty="0"/>
              <a:t>采用集成</a:t>
            </a:r>
            <a:r>
              <a:rPr lang="en-US" altLang="zh-CN" sz="1800" dirty="0"/>
              <a:t>H</a:t>
            </a:r>
            <a:r>
              <a:rPr lang="zh-CN" altLang="zh-CN" sz="1800" dirty="0"/>
              <a:t>桥驱动器（例如</a:t>
            </a:r>
            <a:r>
              <a:rPr lang="en-US" altLang="zh-CN" sz="1800" dirty="0"/>
              <a:t>IR2103</a:t>
            </a:r>
            <a:r>
              <a:rPr lang="zh-CN" altLang="zh-CN" sz="1800" dirty="0"/>
              <a:t>或</a:t>
            </a:r>
            <a:r>
              <a:rPr lang="en-US" altLang="zh-CN" sz="1800" dirty="0"/>
              <a:t>IR2104</a:t>
            </a:r>
            <a:r>
              <a:rPr lang="zh-CN" altLang="zh-CN" sz="1800" dirty="0"/>
              <a:t>）与大功率场效应管构建</a:t>
            </a:r>
            <a:r>
              <a:rPr lang="zh-CN" altLang="en-US" sz="1800" dirty="0"/>
              <a:t>的</a:t>
            </a:r>
            <a:r>
              <a:rPr lang="en-US" altLang="zh-CN" sz="1800" dirty="0"/>
              <a:t>H</a:t>
            </a:r>
            <a:r>
              <a:rPr lang="zh-CN" altLang="zh-CN" sz="1800" dirty="0"/>
              <a:t>桥电路</a:t>
            </a:r>
            <a:r>
              <a:rPr lang="zh-CN" altLang="en-US" sz="1800" dirty="0"/>
              <a:t>，</a:t>
            </a:r>
            <a:r>
              <a:rPr lang="zh-CN" altLang="zh-CN" sz="1800" dirty="0"/>
              <a:t>由</a:t>
            </a:r>
            <a:r>
              <a:rPr lang="en-US" altLang="zh-CN" sz="1800" dirty="0"/>
              <a:t>MPU</a:t>
            </a:r>
            <a:r>
              <a:rPr lang="zh-CN" altLang="zh-CN" sz="1800" dirty="0"/>
              <a:t>提供驱动信号方波以及使能信号。下图是采用</a:t>
            </a:r>
            <a:r>
              <a:rPr lang="en-US" altLang="zh-CN" sz="1800" dirty="0"/>
              <a:t>IR2104</a:t>
            </a:r>
            <a:r>
              <a:rPr lang="zh-CN" altLang="zh-CN" sz="1800" dirty="0"/>
              <a:t>驱动器与</a:t>
            </a:r>
            <a:r>
              <a:rPr lang="en-US" altLang="zh-CN" sz="1800" dirty="0" err="1"/>
              <a:t>nMOS</a:t>
            </a:r>
            <a:r>
              <a:rPr lang="zh-CN" altLang="zh-CN" sz="1800" dirty="0"/>
              <a:t>场效应管构建的一个</a:t>
            </a:r>
            <a:r>
              <a:rPr lang="en-US" altLang="zh-CN" sz="1800" dirty="0"/>
              <a:t>H</a:t>
            </a:r>
            <a:r>
              <a:rPr lang="zh-CN" altLang="zh-CN" sz="1800" dirty="0"/>
              <a:t>桥电路。</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由于要提供覆铜板两个对角线的供电，所以本题要</a:t>
            </a:r>
            <a:r>
              <a:rPr lang="zh-CN" altLang="zh-CN" sz="1800" dirty="0"/>
              <a:t>用两个相同的</a:t>
            </a:r>
            <a:r>
              <a:rPr lang="en-US" altLang="zh-CN" sz="1800" dirty="0"/>
              <a:t>H</a:t>
            </a:r>
            <a:r>
              <a:rPr lang="zh-CN" altLang="en-US" sz="1800" dirty="0"/>
              <a:t>桥驱动器</a:t>
            </a:r>
            <a:r>
              <a:rPr lang="zh-CN" altLang="zh-CN" sz="1800" dirty="0"/>
              <a:t>。</a:t>
            </a:r>
            <a:r>
              <a:rPr lang="zh-CN" altLang="en-US" sz="1800" dirty="0"/>
              <a:t>两个驱动器不会同时打开，每个驱动器的输出功率都按</a:t>
            </a:r>
            <a:r>
              <a:rPr lang="en-US" altLang="zh-CN" sz="1800" dirty="0"/>
              <a:t>1W</a:t>
            </a:r>
            <a:r>
              <a:rPr lang="zh-CN" altLang="en-US" sz="1800" dirty="0"/>
              <a:t>计算，每个场效应管的平均电流不会大于</a:t>
            </a:r>
            <a:r>
              <a:rPr lang="en-US" altLang="zh-CN" sz="1800" dirty="0"/>
              <a:t>100mA</a:t>
            </a:r>
            <a:r>
              <a:rPr lang="zh-CN" altLang="en-US" sz="1800" dirty="0"/>
              <a:t>，可按此选择晶体管（例如</a:t>
            </a:r>
            <a:r>
              <a:rPr lang="en-US" altLang="zh-CN" sz="1800" dirty="0"/>
              <a:t>BS170</a:t>
            </a:r>
            <a:r>
              <a:rPr lang="zh-CN" altLang="en-US" sz="1800" dirty="0"/>
              <a:t>），或者选择实验室已有的大功率</a:t>
            </a:r>
            <a:r>
              <a:rPr lang="en-US" altLang="zh-CN" sz="1800" dirty="0"/>
              <a:t>MOSFET</a:t>
            </a:r>
            <a:r>
              <a:rPr lang="zh-CN" altLang="en-US" sz="1800" dirty="0"/>
              <a:t>，例如</a:t>
            </a:r>
            <a:r>
              <a:rPr lang="en-US" altLang="zh-CN" sz="1800" dirty="0"/>
              <a:t>BUK573</a:t>
            </a:r>
            <a:r>
              <a:rPr lang="zh-CN" altLang="en-US" sz="1800" dirty="0"/>
              <a:t>（大马拉小车）。</a:t>
            </a:r>
            <a:endParaRPr lang="zh-CN" altLang="zh-CN" sz="1800" dirty="0"/>
          </a:p>
        </p:txBody>
      </p:sp>
      <p:pic>
        <p:nvPicPr>
          <p:cNvPr id="7" name="图片 6"/>
          <p:cNvPicPr>
            <a:picLocks noChangeAspect="1"/>
          </p:cNvPicPr>
          <p:nvPr/>
        </p:nvPicPr>
        <p:blipFill>
          <a:blip r:embed="rId2"/>
          <a:stretch>
            <a:fillRect/>
          </a:stretch>
        </p:blipFill>
        <p:spPr>
          <a:xfrm>
            <a:off x="1664790" y="1669143"/>
            <a:ext cx="8573186" cy="2772228"/>
          </a:xfrm>
          <a:prstGeom prst="rect">
            <a:avLst/>
          </a:prstGeom>
        </p:spPr>
      </p:pic>
    </p:spTree>
    <p:extLst>
      <p:ext uri="{BB962C8B-B14F-4D97-AF65-F5344CB8AC3E}">
        <p14:creationId xmlns:p14="http://schemas.microsoft.com/office/powerpoint/2010/main" val="11449140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624417" y="585483"/>
            <a:ext cx="11052326" cy="1288238"/>
          </a:xfrm>
          <a:prstGeom prst="rect">
            <a:avLst/>
          </a:prstGeom>
          <a:noFill/>
        </p:spPr>
        <p:txBody>
          <a:bodyPr wrap="square" rtlCol="0">
            <a:spAutoFit/>
          </a:bodyPr>
          <a:lstStyle/>
          <a:p>
            <a:pPr indent="457189">
              <a:lnSpc>
                <a:spcPct val="150000"/>
              </a:lnSpc>
            </a:pPr>
            <a:r>
              <a:rPr lang="zh-CN" altLang="en-US" sz="1800" dirty="0"/>
              <a:t>也可以用</a:t>
            </a:r>
            <a:r>
              <a:rPr lang="en-US" altLang="zh-CN" sz="1800" dirty="0"/>
              <a:t>D</a:t>
            </a:r>
            <a:r>
              <a:rPr lang="zh-CN" altLang="en-US" sz="1800" dirty="0"/>
              <a:t>类功放进行驱动。此时可以用正弦波驱动，或将方波通过</a:t>
            </a:r>
            <a:r>
              <a:rPr lang="en-US" altLang="zh-CN" sz="1800" dirty="0"/>
              <a:t>RC</a:t>
            </a:r>
            <a:r>
              <a:rPr lang="zh-CN" altLang="en-US" sz="1800" dirty="0"/>
              <a:t>滤波成近似正弦波驱动。</a:t>
            </a:r>
            <a:endParaRPr lang="en-US" altLang="zh-CN" sz="1800" dirty="0"/>
          </a:p>
          <a:p>
            <a:pPr indent="457189">
              <a:lnSpc>
                <a:spcPct val="150000"/>
              </a:lnSpc>
            </a:pPr>
            <a:r>
              <a:rPr lang="zh-CN" altLang="en-US" sz="1800" dirty="0"/>
              <a:t>下图是采用集成</a:t>
            </a:r>
            <a:r>
              <a:rPr lang="en-US" altLang="zh-CN" sz="1800" dirty="0"/>
              <a:t>D</a:t>
            </a:r>
            <a:r>
              <a:rPr lang="zh-CN" altLang="en-US" sz="1800" dirty="0"/>
              <a:t>类功放芯片</a:t>
            </a:r>
            <a:r>
              <a:rPr lang="en-US" altLang="zh-CN" sz="1800" dirty="0"/>
              <a:t>TPA3112D1</a:t>
            </a:r>
            <a:r>
              <a:rPr lang="zh-CN" altLang="en-US" sz="1800" dirty="0"/>
              <a:t>构成的驱动电路，由于该集成功放芯片内部包含</a:t>
            </a:r>
            <a:r>
              <a:rPr lang="en-US" altLang="zh-CN" sz="1800" dirty="0"/>
              <a:t>2</a:t>
            </a:r>
            <a:r>
              <a:rPr lang="zh-CN" altLang="en-US" sz="1800" dirty="0"/>
              <a:t>个功放单元，所以一片芯片就可以构成一个桥式驱动电路。</a:t>
            </a:r>
          </a:p>
        </p:txBody>
      </p:sp>
      <p:sp>
        <p:nvSpPr>
          <p:cNvPr id="8" name="文本框 7"/>
          <p:cNvSpPr txBox="1"/>
          <p:nvPr/>
        </p:nvSpPr>
        <p:spPr>
          <a:xfrm>
            <a:off x="6988931" y="2292381"/>
            <a:ext cx="4637012" cy="3000821"/>
          </a:xfrm>
          <a:prstGeom prst="rect">
            <a:avLst/>
          </a:prstGeom>
          <a:noFill/>
        </p:spPr>
        <p:txBody>
          <a:bodyPr wrap="square" rtlCol="0">
            <a:spAutoFit/>
          </a:bodyPr>
          <a:lstStyle/>
          <a:p>
            <a:pPr indent="457189">
              <a:lnSpc>
                <a:spcPct val="150000"/>
              </a:lnSpc>
            </a:pPr>
            <a:r>
              <a:rPr lang="en-US" altLang="zh-CN" sz="1800" dirty="0"/>
              <a:t>TPA3112D1</a:t>
            </a:r>
            <a:r>
              <a:rPr lang="zh-CN" altLang="en-US" sz="1800" dirty="0"/>
              <a:t>的增益通过</a:t>
            </a:r>
            <a:r>
              <a:rPr lang="en-US" altLang="zh-CN" sz="1800" dirty="0"/>
              <a:t>Gain1</a:t>
            </a:r>
            <a:r>
              <a:rPr lang="zh-CN" altLang="en-US" sz="1800" dirty="0"/>
              <a:t>、</a:t>
            </a:r>
            <a:r>
              <a:rPr lang="en-US" altLang="zh-CN" sz="1800" dirty="0"/>
              <a:t>Gain0</a:t>
            </a:r>
            <a:r>
              <a:rPr lang="zh-CN" altLang="en-US" sz="1800" dirty="0"/>
              <a:t>两个引脚设置，图中接法是最低增益</a:t>
            </a:r>
            <a:r>
              <a:rPr lang="en-US" altLang="zh-CN" sz="1800" dirty="0"/>
              <a:t>20dB</a:t>
            </a:r>
            <a:r>
              <a:rPr lang="zh-CN" altLang="en-US" sz="1800" dirty="0"/>
              <a:t>。</a:t>
            </a:r>
            <a:endParaRPr lang="en-US" altLang="zh-CN" sz="1800" dirty="0"/>
          </a:p>
          <a:p>
            <a:pPr indent="457189">
              <a:lnSpc>
                <a:spcPct val="150000"/>
              </a:lnSpc>
            </a:pPr>
            <a:r>
              <a:rPr lang="zh-CN" altLang="en-US" sz="1800" dirty="0"/>
              <a:t>若输入信号幅度较大，可通过两个电阻分压。</a:t>
            </a:r>
            <a:endParaRPr lang="en-US" altLang="zh-CN" sz="1800" dirty="0"/>
          </a:p>
          <a:p>
            <a:pPr indent="457189">
              <a:lnSpc>
                <a:spcPct val="150000"/>
              </a:lnSpc>
            </a:pPr>
            <a:r>
              <a:rPr lang="zh-CN" altLang="en-US" sz="1800" dirty="0"/>
              <a:t>由于</a:t>
            </a:r>
            <a:r>
              <a:rPr lang="en-US" altLang="zh-CN" sz="1800" dirty="0"/>
              <a:t>D</a:t>
            </a:r>
            <a:r>
              <a:rPr lang="zh-CN" altLang="en-US" sz="1800" dirty="0"/>
              <a:t>类功放内部有较高频率的开关信号，所以在输出变压器初级用</a:t>
            </a:r>
            <a:r>
              <a:rPr lang="en-US" altLang="zh-CN" sz="1800" dirty="0"/>
              <a:t>LC</a:t>
            </a:r>
            <a:r>
              <a:rPr lang="zh-CN" altLang="en-US" sz="1800" dirty="0"/>
              <a:t>滤波器滤除此开关信号。</a:t>
            </a:r>
          </a:p>
        </p:txBody>
      </p:sp>
      <p:pic>
        <p:nvPicPr>
          <p:cNvPr id="9" name="图片 8"/>
          <p:cNvPicPr>
            <a:picLocks noChangeAspect="1"/>
          </p:cNvPicPr>
          <p:nvPr/>
        </p:nvPicPr>
        <p:blipFill>
          <a:blip r:embed="rId2"/>
          <a:stretch>
            <a:fillRect/>
          </a:stretch>
        </p:blipFill>
        <p:spPr>
          <a:xfrm>
            <a:off x="529963" y="2045638"/>
            <a:ext cx="5997841" cy="4173534"/>
          </a:xfrm>
          <a:prstGeom prst="rect">
            <a:avLst/>
          </a:prstGeom>
        </p:spPr>
      </p:pic>
      <p:sp>
        <p:nvSpPr>
          <p:cNvPr id="6" name="椭圆 5"/>
          <p:cNvSpPr/>
          <p:nvPr/>
        </p:nvSpPr>
        <p:spPr>
          <a:xfrm>
            <a:off x="5377543" y="3585029"/>
            <a:ext cx="558800" cy="1233714"/>
          </a:xfrm>
          <a:prstGeom prst="ellipse">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H="1" flipV="1">
            <a:off x="5936343" y="4630057"/>
            <a:ext cx="1052588" cy="14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3421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mc:AlternateContent xmlns:mc="http://schemas.openxmlformats.org/markup-compatibility/2006" xmlns:a14="http://schemas.microsoft.com/office/drawing/2010/main">
        <mc:Choice Requires="a14">
          <p:sp>
            <p:nvSpPr>
              <p:cNvPr id="5" name="文本框 4"/>
              <p:cNvSpPr txBox="1"/>
              <p:nvPr/>
            </p:nvSpPr>
            <p:spPr>
              <a:xfrm>
                <a:off x="449943" y="453911"/>
                <a:ext cx="11371644" cy="4721229"/>
              </a:xfrm>
              <a:prstGeom prst="rect">
                <a:avLst/>
              </a:prstGeom>
              <a:noFill/>
            </p:spPr>
            <p:txBody>
              <a:bodyPr wrap="square" rtlCol="0">
                <a:spAutoFit/>
              </a:bodyPr>
              <a:lstStyle/>
              <a:p>
                <a:pPr indent="457189">
                  <a:lnSpc>
                    <a:spcPct val="150000"/>
                  </a:lnSpc>
                </a:pPr>
                <a:r>
                  <a:rPr lang="zh-CN" altLang="en-US" sz="1800" dirty="0" smtClean="0"/>
                  <a:t>驱动电源中的变压器设计：</a:t>
                </a:r>
                <a:endParaRPr lang="en-US" altLang="zh-CN" sz="1800" dirty="0"/>
              </a:p>
              <a:p>
                <a:pPr indent="457189">
                  <a:lnSpc>
                    <a:spcPct val="150000"/>
                  </a:lnSpc>
                </a:pPr>
                <a:r>
                  <a:rPr lang="en-US" altLang="zh-CN" sz="1800" dirty="0" smtClean="0"/>
                  <a:t>1</a:t>
                </a:r>
                <a:r>
                  <a:rPr lang="zh-CN" altLang="en-US" sz="1800" dirty="0" smtClean="0"/>
                  <a:t>、确定变压器的电压比</a:t>
                </a:r>
                <a:endParaRPr lang="en-US" altLang="zh-CN" sz="1800" dirty="0" smtClean="0"/>
              </a:p>
              <a:p>
                <a:pPr indent="457189">
                  <a:lnSpc>
                    <a:spcPct val="150000"/>
                  </a:lnSpc>
                </a:pPr>
                <a:r>
                  <a:rPr lang="zh-CN" altLang="en-US" sz="1800" dirty="0" smtClean="0"/>
                  <a:t>由于题目对于功耗的限制，经过变压器的输出</a:t>
                </a:r>
                <a:r>
                  <a:rPr lang="zh-CN" altLang="en-US" sz="1800" dirty="0"/>
                  <a:t>功率不大于</a:t>
                </a:r>
                <a:r>
                  <a:rPr lang="en-US" altLang="zh-CN" sz="1800" dirty="0" smtClean="0"/>
                  <a:t>1W</a:t>
                </a:r>
                <a:r>
                  <a:rPr lang="zh-CN" altLang="en-US" sz="1800" dirty="0" smtClean="0"/>
                  <a:t>。已知</a:t>
                </a:r>
                <a:r>
                  <a:rPr lang="zh-CN" altLang="zh-CN" sz="1800" dirty="0" smtClean="0"/>
                  <a:t>覆铜板两</a:t>
                </a:r>
                <a:r>
                  <a:rPr lang="zh-CN" altLang="zh-CN" sz="1800" dirty="0"/>
                  <a:t>对角线之间的直流电阻约为</a:t>
                </a:r>
                <a:r>
                  <a:rPr lang="en-US" altLang="zh-CN" sz="1800" dirty="0" smtClean="0"/>
                  <a:t>2mΩ</a:t>
                </a:r>
                <a:r>
                  <a:rPr lang="zh-CN" altLang="en-US" sz="1800" dirty="0" smtClean="0"/>
                  <a:t>，后面将会讨论到：为了保证测量的稳定性，实际上需要在覆铜板上串联一个限流电阻，且此电阻比覆铜板电阻大许多。假定取这个限流电阻为</a:t>
                </a:r>
                <a:r>
                  <a:rPr lang="en-US" altLang="zh-CN" sz="1800" dirty="0" smtClean="0"/>
                  <a:t>38mΩ</a:t>
                </a:r>
                <a:r>
                  <a:rPr lang="zh-CN" altLang="en-US" sz="1800" dirty="0" smtClean="0"/>
                  <a:t>，即变压器次级的负载电阻为</a:t>
                </a:r>
                <a:r>
                  <a:rPr lang="en-US" altLang="zh-CN" sz="1800" dirty="0" smtClean="0"/>
                  <a:t>40mΩ</a:t>
                </a:r>
                <a:r>
                  <a:rPr lang="zh-CN" altLang="en-US" sz="1800" dirty="0" smtClean="0"/>
                  <a:t>，那么流过覆铜板的电流有效值为 </a:t>
                </a:r>
                <a14:m>
                  <m:oMath xmlns:m="http://schemas.openxmlformats.org/officeDocument/2006/math">
                    <m:rad>
                      <m:radPr>
                        <m:degHide m:val="on"/>
                        <m:ctrlPr>
                          <a:rPr lang="zh-CN" altLang="en-US" sz="1800" i="1" smtClean="0">
                            <a:latin typeface="Cambria Math" panose="02040503050406030204" pitchFamily="18" charset="0"/>
                          </a:rPr>
                        </m:ctrlPr>
                      </m:radPr>
                      <m:deg/>
                      <m:e>
                        <m:f>
                          <m:fPr>
                            <m:type m:val="lin"/>
                            <m:ctrlPr>
                              <a:rPr lang="zh-CN" altLang="en-US" sz="180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0.04</m:t>
                            </m:r>
                          </m:den>
                        </m:f>
                      </m:e>
                    </m:rad>
                  </m:oMath>
                </a14:m>
                <a:r>
                  <a:rPr lang="en-US" altLang="zh-CN" sz="1800" dirty="0" smtClean="0"/>
                  <a:t>=</a:t>
                </a:r>
                <a:r>
                  <a:rPr lang="en-US" altLang="zh-CN" sz="1800" dirty="0" smtClean="0">
                    <a:latin typeface="+mn-lt"/>
                  </a:rPr>
                  <a:t>5A</a:t>
                </a:r>
                <a:r>
                  <a:rPr lang="zh-CN" altLang="en-US" sz="1800" dirty="0" smtClean="0"/>
                  <a:t>，变压器次级电压有效值为</a:t>
                </a:r>
                <a:r>
                  <a:rPr lang="en-US" altLang="zh-CN" sz="1800" dirty="0" smtClean="0"/>
                  <a:t>0.2V</a:t>
                </a:r>
                <a:r>
                  <a:rPr lang="zh-CN" altLang="en-US" sz="1800" dirty="0" smtClean="0"/>
                  <a:t>。</a:t>
                </a:r>
                <a:endParaRPr lang="en-US" altLang="zh-CN" sz="1800" dirty="0" smtClean="0"/>
              </a:p>
              <a:p>
                <a:pPr indent="457189">
                  <a:lnSpc>
                    <a:spcPct val="150000"/>
                  </a:lnSpc>
                </a:pPr>
                <a:r>
                  <a:rPr lang="zh-CN" altLang="en-US" sz="1800" dirty="0"/>
                  <a:t>次级电压</a:t>
                </a:r>
                <a:r>
                  <a:rPr lang="zh-CN" altLang="en-US" sz="1800" dirty="0" smtClean="0"/>
                  <a:t>的峰值</a:t>
                </a:r>
                <a:r>
                  <a:rPr lang="zh-CN" altLang="en-US" sz="1800" dirty="0"/>
                  <a:t>随波形不同而不同。若为方波，</a:t>
                </a:r>
                <a:r>
                  <a:rPr lang="zh-CN" altLang="en-US" sz="1800" dirty="0" smtClean="0"/>
                  <a:t>则峰值等于有效值</a:t>
                </a:r>
                <a:r>
                  <a:rPr lang="en-US" altLang="zh-CN" sz="1800" dirty="0" smtClean="0"/>
                  <a:t>0.2V</a:t>
                </a:r>
                <a:r>
                  <a:rPr lang="zh-CN" altLang="en-US" sz="1800" dirty="0" smtClean="0"/>
                  <a:t>。</a:t>
                </a:r>
                <a:r>
                  <a:rPr lang="zh-CN" altLang="en-US" sz="1800" dirty="0"/>
                  <a:t>若为正弦波，</a:t>
                </a:r>
                <a:r>
                  <a:rPr lang="zh-CN" altLang="en-US" sz="1800" dirty="0" smtClean="0"/>
                  <a:t>则峰值为有效值的</a:t>
                </a:r>
                <a:r>
                  <a:rPr lang="en-US" altLang="zh-CN" sz="1800" dirty="0" smtClean="0"/>
                  <a:t>1.4</a:t>
                </a:r>
                <a:r>
                  <a:rPr lang="zh-CN" altLang="en-US" sz="1800" dirty="0" smtClean="0"/>
                  <a:t>倍即</a:t>
                </a:r>
                <a:r>
                  <a:rPr lang="en-US" altLang="zh-CN" sz="1800" dirty="0" smtClean="0"/>
                  <a:t>0.28V</a:t>
                </a:r>
                <a:r>
                  <a:rPr lang="zh-CN" altLang="en-US" sz="1800" dirty="0" smtClean="0"/>
                  <a:t>。</a:t>
                </a:r>
                <a:endParaRPr lang="en-US" altLang="zh-CN" sz="1800" dirty="0"/>
              </a:p>
              <a:p>
                <a:pPr indent="457189">
                  <a:lnSpc>
                    <a:spcPct val="150000"/>
                  </a:lnSpc>
                </a:pPr>
                <a:r>
                  <a:rPr lang="zh-CN" altLang="en-US" sz="1800" dirty="0" smtClean="0"/>
                  <a:t>在</a:t>
                </a:r>
                <a:r>
                  <a:rPr lang="zh-CN" altLang="en-US" sz="1800" dirty="0"/>
                  <a:t>本题目中，电源电压是</a:t>
                </a:r>
                <a:r>
                  <a:rPr lang="en-US" altLang="zh-CN" sz="1800" dirty="0"/>
                  <a:t>12V</a:t>
                </a:r>
                <a:r>
                  <a:rPr lang="zh-CN" altLang="en-US" sz="1800" dirty="0"/>
                  <a:t>。无论采取</a:t>
                </a:r>
                <a:r>
                  <a:rPr lang="en-US" altLang="zh-CN" sz="1800" dirty="0"/>
                  <a:t>H</a:t>
                </a:r>
                <a:r>
                  <a:rPr lang="zh-CN" altLang="en-US" sz="1800" dirty="0"/>
                  <a:t>桥驱动还是</a:t>
                </a:r>
                <a:r>
                  <a:rPr lang="en-US" altLang="zh-CN" sz="1800" dirty="0"/>
                  <a:t>D</a:t>
                </a:r>
                <a:r>
                  <a:rPr lang="zh-CN" altLang="en-US" sz="1800" dirty="0"/>
                  <a:t>类功放，变压器初级电压的峰值都近似等于</a:t>
                </a:r>
                <a:r>
                  <a:rPr lang="en-US" altLang="zh-CN" sz="1800" dirty="0"/>
                  <a:t>12V</a:t>
                </a:r>
                <a:r>
                  <a:rPr lang="zh-CN" altLang="en-US" sz="1800" dirty="0" smtClean="0"/>
                  <a:t>。所以采用方波驱动时，变压器的初次级匝数比</a:t>
                </a:r>
                <a:r>
                  <a:rPr lang="zh-CN" altLang="en-US" sz="1800" dirty="0"/>
                  <a:t>为</a:t>
                </a:r>
                <a:r>
                  <a:rPr lang="en-US" altLang="zh-CN" sz="1800" dirty="0" smtClean="0"/>
                  <a:t>n=12/0.2=60</a:t>
                </a:r>
                <a:r>
                  <a:rPr lang="zh-CN" altLang="en-US" sz="1800" dirty="0" smtClean="0"/>
                  <a:t>；而采用正弦波驱动时，变压器的初次级匝数比为</a:t>
                </a:r>
                <a:r>
                  <a:rPr lang="en-US" altLang="zh-CN" sz="1800" dirty="0" smtClean="0"/>
                  <a:t>n=12/0.28≈43</a:t>
                </a:r>
                <a:r>
                  <a:rPr lang="zh-CN" altLang="en-US" sz="1800" dirty="0" smtClean="0"/>
                  <a:t>。</a:t>
                </a:r>
                <a:endParaRPr lang="en-US" altLang="zh-CN" sz="1800" dirty="0"/>
              </a:p>
            </p:txBody>
          </p:sp>
        </mc:Choice>
        <mc:Fallback xmlns="">
          <p:sp>
            <p:nvSpPr>
              <p:cNvPr id="5" name="文本框 4"/>
              <p:cNvSpPr txBox="1">
                <a:spLocks noRot="1" noChangeAspect="1" noMove="1" noResize="1" noEditPoints="1" noAdjustHandles="1" noChangeArrowheads="1" noChangeShapeType="1" noTextEdit="1"/>
              </p:cNvSpPr>
              <p:nvPr/>
            </p:nvSpPr>
            <p:spPr>
              <a:xfrm>
                <a:off x="449943" y="453911"/>
                <a:ext cx="11371644" cy="4721229"/>
              </a:xfrm>
              <a:prstGeom prst="rect">
                <a:avLst/>
              </a:prstGeom>
              <a:blipFill>
                <a:blip r:embed="rId2"/>
                <a:stretch>
                  <a:fillRect l="-483" b="-6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91386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mc:AlternateContent xmlns:mc="http://schemas.openxmlformats.org/markup-compatibility/2006" xmlns:a14="http://schemas.microsoft.com/office/drawing/2010/main">
        <mc:Choice Requires="a14">
          <p:sp>
            <p:nvSpPr>
              <p:cNvPr id="5" name="文本框 4"/>
              <p:cNvSpPr txBox="1"/>
              <p:nvPr/>
            </p:nvSpPr>
            <p:spPr>
              <a:xfrm>
                <a:off x="449943" y="453911"/>
                <a:ext cx="11197771" cy="3831818"/>
              </a:xfrm>
              <a:prstGeom prst="rect">
                <a:avLst/>
              </a:prstGeom>
              <a:noFill/>
            </p:spPr>
            <p:txBody>
              <a:bodyPr wrap="square" rtlCol="0">
                <a:spAutoFit/>
              </a:bodyPr>
              <a:lstStyle/>
              <a:p>
                <a:pPr indent="457189">
                  <a:lnSpc>
                    <a:spcPct val="150000"/>
                  </a:lnSpc>
                </a:pPr>
                <a:r>
                  <a:rPr lang="en-US" altLang="zh-CN" sz="1800" dirty="0" smtClean="0"/>
                  <a:t>2</a:t>
                </a:r>
                <a:r>
                  <a:rPr lang="zh-CN" altLang="en-US" sz="1800" dirty="0" smtClean="0"/>
                  <a:t>、确定变压器的初级电感</a:t>
                </a:r>
                <a:endParaRPr lang="en-US" altLang="zh-CN" sz="1800" dirty="0" smtClean="0"/>
              </a:p>
              <a:p>
                <a:pPr indent="457189">
                  <a:lnSpc>
                    <a:spcPct val="150000"/>
                  </a:lnSpc>
                </a:pPr>
                <a:r>
                  <a:rPr lang="zh-CN" altLang="en-US" sz="1800" dirty="0" smtClean="0"/>
                  <a:t>在忽略变压器的线圈电阻与漏感等因素后，变压器</a:t>
                </a:r>
                <a:r>
                  <a:rPr lang="zh-CN" altLang="en-US" sz="1800" dirty="0"/>
                  <a:t>的等效电路简化为</a:t>
                </a:r>
                <a:r>
                  <a:rPr lang="zh-CN" altLang="en-US" sz="1800" dirty="0" smtClean="0"/>
                  <a:t>初级电感</a:t>
                </a:r>
                <a:r>
                  <a:rPr lang="en-US" altLang="zh-CN" sz="1800" i="1" dirty="0"/>
                  <a:t>L</a:t>
                </a:r>
                <a:r>
                  <a:rPr lang="en-US" altLang="zh-CN" sz="1800" baseline="-25000" dirty="0"/>
                  <a:t>1</a:t>
                </a:r>
                <a:r>
                  <a:rPr lang="zh-CN" altLang="en-US" sz="1800" dirty="0" smtClean="0"/>
                  <a:t>与次级负载电阻</a:t>
                </a:r>
                <a:r>
                  <a:rPr lang="en-US" altLang="zh-CN" sz="1800" i="1" dirty="0" smtClean="0"/>
                  <a:t>R</a:t>
                </a:r>
                <a:r>
                  <a:rPr lang="en-US" altLang="zh-CN" sz="1800" baseline="-25000" dirty="0" smtClean="0"/>
                  <a:t>L</a:t>
                </a:r>
                <a:r>
                  <a:rPr lang="zh-CN" altLang="en-US" sz="1800" dirty="0" smtClean="0"/>
                  <a:t>反射到初级的电阻</a:t>
                </a:r>
                <a:r>
                  <a:rPr lang="en-US" altLang="zh-CN" sz="1800" i="1" dirty="0"/>
                  <a:t>n</a:t>
                </a:r>
                <a:r>
                  <a:rPr lang="en-US" altLang="zh-CN" sz="1800" baseline="30000" dirty="0"/>
                  <a:t>2</a:t>
                </a:r>
                <a:r>
                  <a:rPr lang="en-US" altLang="zh-CN" sz="1800" i="1" dirty="0"/>
                  <a:t>R</a:t>
                </a:r>
                <a:r>
                  <a:rPr lang="en-US" altLang="zh-CN" sz="1800" baseline="-25000" dirty="0"/>
                  <a:t>L</a:t>
                </a:r>
                <a:r>
                  <a:rPr lang="zh-CN" altLang="en-US" sz="1800" dirty="0" smtClean="0"/>
                  <a:t>并联，即</a:t>
                </a:r>
                <a:r>
                  <a:rPr lang="en-US" altLang="zh-CN" sz="1800" i="1" dirty="0" smtClean="0">
                    <a:latin typeface="+mn-lt"/>
                  </a:rPr>
                  <a:t>L</a:t>
                </a:r>
                <a:r>
                  <a:rPr lang="en-US" altLang="zh-CN" sz="1800" baseline="-25000" dirty="0" smtClean="0">
                    <a:latin typeface="+mn-lt"/>
                  </a:rPr>
                  <a:t>1</a:t>
                </a:r>
                <a:r>
                  <a:rPr lang="en-US" altLang="zh-CN" sz="1800" dirty="0" smtClean="0">
                    <a:latin typeface="+mn-lt"/>
                  </a:rPr>
                  <a:t>||(</a:t>
                </a:r>
                <a:r>
                  <a:rPr lang="en-US" altLang="zh-CN" sz="1800" i="1" dirty="0" smtClean="0">
                    <a:latin typeface="+mn-lt"/>
                  </a:rPr>
                  <a:t>n</a:t>
                </a:r>
                <a:r>
                  <a:rPr lang="en-US" altLang="zh-CN" sz="1800" baseline="30000" dirty="0" smtClean="0">
                    <a:latin typeface="+mn-lt"/>
                  </a:rPr>
                  <a:t>2</a:t>
                </a:r>
                <a:r>
                  <a:rPr lang="en-US" altLang="zh-CN" sz="1800" i="1" dirty="0" smtClean="0">
                    <a:latin typeface="+mn-lt"/>
                  </a:rPr>
                  <a:t>R</a:t>
                </a:r>
                <a:r>
                  <a:rPr lang="en-US" altLang="zh-CN" sz="1800" baseline="-25000" dirty="0" smtClean="0">
                    <a:latin typeface="+mn-lt"/>
                  </a:rPr>
                  <a:t>L</a:t>
                </a:r>
                <a:r>
                  <a:rPr lang="en-US" altLang="zh-CN" sz="1800" dirty="0" smtClean="0">
                    <a:latin typeface="+mn-lt"/>
                  </a:rPr>
                  <a:t>)</a:t>
                </a:r>
                <a:r>
                  <a:rPr lang="zh-CN" altLang="en-US" sz="1800" dirty="0" smtClean="0"/>
                  <a:t>。</a:t>
                </a:r>
                <a:endParaRPr lang="en-US" altLang="zh-CN" sz="1800" dirty="0" smtClean="0"/>
              </a:p>
              <a:p>
                <a:pPr indent="457189">
                  <a:lnSpc>
                    <a:spcPct val="150000"/>
                  </a:lnSpc>
                </a:pPr>
                <a:r>
                  <a:rPr lang="zh-CN" altLang="en-US" sz="1800" dirty="0" smtClean="0"/>
                  <a:t>显然，为了避免信号被变压器</a:t>
                </a:r>
                <a:r>
                  <a:rPr lang="zh-CN" altLang="en-US" sz="1800" dirty="0"/>
                  <a:t>的初级线圈</a:t>
                </a:r>
                <a:r>
                  <a:rPr lang="zh-CN" altLang="en-US" sz="1800" dirty="0" smtClean="0"/>
                  <a:t>电感大量分流，</a:t>
                </a:r>
                <a:r>
                  <a:rPr lang="en-US" altLang="zh-CN" sz="1800" dirty="0" smtClean="0"/>
                  <a:t>L</a:t>
                </a:r>
                <a:r>
                  <a:rPr lang="en-US" altLang="zh-CN" sz="1800" baseline="-25000" dirty="0" smtClean="0"/>
                  <a:t>1</a:t>
                </a:r>
                <a:r>
                  <a:rPr lang="zh-CN" altLang="en-US" sz="1800" dirty="0"/>
                  <a:t>应该满足以下关系</a:t>
                </a:r>
                <a:endParaRPr lang="en-US" altLang="zh-CN" sz="1800" dirty="0"/>
              </a:p>
              <a:p>
                <a:pPr indent="457189">
                  <a:lnSpc>
                    <a:spcPct val="150000"/>
                  </a:lnSpc>
                </a:pPr>
                <a:r>
                  <a:rPr lang="en-US" altLang="zh-CN" sz="1800" dirty="0"/>
                  <a:t>			</a:t>
                </a:r>
                <a:r>
                  <a:rPr lang="en-US" altLang="zh-CN" sz="1800" i="1" dirty="0" smtClean="0"/>
                  <a:t> </a:t>
                </a:r>
                <a:r>
                  <a:rPr lang="en-US" altLang="zh-CN" sz="1800" dirty="0" smtClean="0"/>
                  <a:t> </a:t>
                </a:r>
                <a14:m>
                  <m:oMath xmlns:m="http://schemas.openxmlformats.org/officeDocument/2006/math">
                    <m:r>
                      <a:rPr lang="en-US" altLang="zh-CN" sz="1800" i="1" dirty="0">
                        <a:latin typeface="Cambria Math" panose="02040503050406030204" pitchFamily="18" charset="0"/>
                      </a:rPr>
                      <m:t>2</m:t>
                    </m:r>
                    <m:r>
                      <m:rPr>
                        <m:sty m:val="p"/>
                      </m:rPr>
                      <a:rPr lang="el-GR" altLang="zh-CN" sz="1800" i="1" dirty="0" smtClean="0">
                        <a:latin typeface="Cambria Math" panose="02040503050406030204" pitchFamily="18" charset="0"/>
                      </a:rPr>
                      <m:t>π</m:t>
                    </m:r>
                    <m:r>
                      <a:rPr lang="en-US" altLang="zh-CN" sz="1800" b="0" i="1" dirty="0" smtClean="0">
                        <a:latin typeface="Cambria Math" panose="02040503050406030204" pitchFamily="18" charset="0"/>
                      </a:rPr>
                      <m:t>𝑓𝐿</m:t>
                    </m:r>
                    <m:r>
                      <a:rPr lang="en-US" altLang="zh-CN" sz="1800" b="0" i="1" baseline="-25000" dirty="0" smtClean="0">
                        <a:latin typeface="Cambria Math" panose="02040503050406030204" pitchFamily="18" charset="0"/>
                      </a:rPr>
                      <m:t>1</m:t>
                    </m:r>
                    <m:r>
                      <a:rPr lang="en-US" altLang="zh-CN" sz="1800" b="0" i="1" dirty="0" smtClean="0">
                        <a:latin typeface="Cambria Math" panose="02040503050406030204" pitchFamily="18" charset="0"/>
                      </a:rPr>
                      <m:t>≥</m:t>
                    </m:r>
                    <m:r>
                      <a:rPr lang="en-US" altLang="zh-CN" sz="1800" b="0" i="1" dirty="0" smtClean="0">
                        <a:latin typeface="Cambria Math" panose="02040503050406030204" pitchFamily="18" charset="0"/>
                      </a:rPr>
                      <m:t>𝑛</m:t>
                    </m:r>
                    <m:r>
                      <a:rPr lang="en-US" altLang="zh-CN" sz="1800" b="0" i="1" baseline="30000" dirty="0" smtClean="0">
                        <a:latin typeface="Cambria Math" panose="02040503050406030204" pitchFamily="18" charset="0"/>
                      </a:rPr>
                      <m:t>2</m:t>
                    </m:r>
                    <m:r>
                      <a:rPr lang="en-US" altLang="zh-CN" sz="1800" b="0" i="1" dirty="0" smtClean="0">
                        <a:latin typeface="Cambria Math" panose="02040503050406030204" pitchFamily="18" charset="0"/>
                      </a:rPr>
                      <m:t>𝑅</m:t>
                    </m:r>
                    <m:r>
                      <a:rPr lang="en-US" altLang="zh-CN" sz="1800" b="0" i="1" baseline="-25000" dirty="0" smtClean="0">
                        <a:latin typeface="Cambria Math" panose="02040503050406030204" pitchFamily="18" charset="0"/>
                      </a:rPr>
                      <m:t>𝐿</m:t>
                    </m:r>
                  </m:oMath>
                </a14:m>
                <a:endParaRPr lang="en-US" altLang="zh-CN" sz="1800" baseline="-25000" dirty="0" smtClean="0"/>
              </a:p>
              <a:p>
                <a:pPr>
                  <a:lnSpc>
                    <a:spcPct val="150000"/>
                  </a:lnSpc>
                </a:pPr>
                <a:r>
                  <a:rPr lang="zh-CN" altLang="en-US" sz="1800" dirty="0" smtClean="0"/>
                  <a:t>其中</a:t>
                </a:r>
                <a:r>
                  <a:rPr lang="en-US" altLang="zh-CN" sz="1800" i="1" dirty="0" smtClean="0">
                    <a:latin typeface="+mn-lt"/>
                  </a:rPr>
                  <a:t>n</a:t>
                </a:r>
                <a:r>
                  <a:rPr lang="zh-CN" altLang="en-US" sz="1800" dirty="0" smtClean="0"/>
                  <a:t>是</a:t>
                </a:r>
                <a:r>
                  <a:rPr lang="zh-CN" altLang="en-US" sz="1800" dirty="0"/>
                  <a:t>初次级匝数比，</a:t>
                </a:r>
                <a:r>
                  <a:rPr lang="en-US" altLang="zh-CN" sz="1800" i="1" dirty="0">
                    <a:latin typeface="+mn-lt"/>
                  </a:rPr>
                  <a:t>R</a:t>
                </a:r>
                <a:r>
                  <a:rPr lang="en-US" altLang="zh-CN" sz="1800" i="1" baseline="-25000" dirty="0">
                    <a:latin typeface="+mn-lt"/>
                  </a:rPr>
                  <a:t>L</a:t>
                </a:r>
                <a:r>
                  <a:rPr lang="zh-CN" altLang="en-US" sz="1800" dirty="0"/>
                  <a:t>是次级负载电阻</a:t>
                </a:r>
                <a:r>
                  <a:rPr lang="zh-CN" altLang="en-US" sz="1800" dirty="0" smtClean="0"/>
                  <a:t>，</a:t>
                </a:r>
                <a:r>
                  <a:rPr lang="en-US" altLang="zh-CN" sz="1800" i="1" dirty="0">
                    <a:latin typeface="+mn-lt"/>
                  </a:rPr>
                  <a:t>f</a:t>
                </a:r>
                <a:r>
                  <a:rPr lang="zh-CN" altLang="en-US" sz="1800" dirty="0"/>
                  <a:t>是最低信号</a:t>
                </a:r>
                <a:r>
                  <a:rPr lang="zh-CN" altLang="en-US" sz="1800" dirty="0" smtClean="0"/>
                  <a:t>频率。</a:t>
                </a:r>
                <a:endParaRPr lang="en-US" altLang="zh-CN" sz="1800" dirty="0" smtClean="0"/>
              </a:p>
              <a:p>
                <a:pPr indent="457189">
                  <a:lnSpc>
                    <a:spcPct val="150000"/>
                  </a:lnSpc>
                </a:pPr>
                <a:r>
                  <a:rPr lang="zh-CN" altLang="en-US" sz="1800" dirty="0" smtClean="0"/>
                  <a:t>初级电感越</a:t>
                </a:r>
                <a:r>
                  <a:rPr lang="zh-CN" altLang="en-US" sz="1800" dirty="0"/>
                  <a:t>大则变压器的低频响应越好，</a:t>
                </a:r>
                <a:r>
                  <a:rPr lang="zh-CN" altLang="en-US" sz="1800" dirty="0" smtClean="0"/>
                  <a:t>通常令初级电感等于上式计算值的（</a:t>
                </a:r>
                <a:r>
                  <a:rPr lang="en-US" altLang="zh-CN" sz="1800" dirty="0" smtClean="0"/>
                  <a:t>1~2</a:t>
                </a:r>
                <a:r>
                  <a:rPr lang="zh-CN" altLang="en-US" sz="1800" dirty="0" smtClean="0"/>
                  <a:t>）倍。</a:t>
                </a:r>
                <a:endParaRPr lang="en-US" altLang="zh-CN" sz="1800" dirty="0"/>
              </a:p>
              <a:p>
                <a:pPr indent="457189">
                  <a:lnSpc>
                    <a:spcPct val="150000"/>
                  </a:lnSpc>
                </a:pPr>
                <a:r>
                  <a:rPr lang="zh-CN" altLang="en-US" sz="1800" dirty="0" smtClean="0"/>
                  <a:t>例如，</a:t>
                </a:r>
                <a:r>
                  <a:rPr lang="zh-CN" altLang="en-US" sz="1800" dirty="0"/>
                  <a:t>本题</a:t>
                </a:r>
                <a:r>
                  <a:rPr lang="zh-CN" altLang="en-US" sz="1800" dirty="0" smtClean="0"/>
                  <a:t>次级</a:t>
                </a:r>
                <a:r>
                  <a:rPr lang="zh-CN" altLang="en-US" sz="1800" dirty="0"/>
                  <a:t>的电阻为</a:t>
                </a:r>
                <a:r>
                  <a:rPr lang="en-US" altLang="zh-CN" sz="1800" dirty="0"/>
                  <a:t>0.04</a:t>
                </a:r>
                <a:r>
                  <a:rPr lang="el-GR" altLang="zh-CN" sz="1800" dirty="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，假定采用方波驱动则</a:t>
                </a:r>
                <a:r>
                  <a:rPr lang="zh-CN" altLang="en-US" sz="1800" dirty="0" smtClean="0"/>
                  <a:t>初次</a:t>
                </a:r>
                <a:r>
                  <a:rPr lang="zh-CN" altLang="en-US" sz="1800" dirty="0"/>
                  <a:t>级的匝数比</a:t>
                </a:r>
                <a:r>
                  <a:rPr lang="zh-CN" altLang="en-US" sz="1800" dirty="0" smtClean="0"/>
                  <a:t>为</a:t>
                </a:r>
                <a:r>
                  <a:rPr lang="en-US" altLang="zh-CN" sz="1800" dirty="0" smtClean="0"/>
                  <a:t>60:1</a:t>
                </a:r>
                <a:r>
                  <a:rPr lang="zh-CN" altLang="en-US" sz="1800" dirty="0" smtClean="0"/>
                  <a:t>，信号频率为</a:t>
                </a:r>
                <a:r>
                  <a:rPr lang="en-US" altLang="zh-CN" sz="1800" dirty="0" smtClean="0"/>
                  <a:t>1000Hz</a:t>
                </a:r>
                <a:r>
                  <a:rPr lang="zh-CN" altLang="en-US" sz="1800" dirty="0" smtClean="0"/>
                  <a:t>，由此可得初级</a:t>
                </a:r>
                <a:r>
                  <a:rPr lang="zh-CN" altLang="en-US" sz="1800" dirty="0"/>
                  <a:t>电感</a:t>
                </a:r>
                <a:r>
                  <a:rPr lang="en-US" altLang="zh-CN" sz="1800" dirty="0"/>
                  <a:t>L1</a:t>
                </a:r>
                <a:r>
                  <a:rPr lang="en-US" altLang="zh-CN" sz="1800" dirty="0" smtClean="0"/>
                  <a:t>≥(60</a:t>
                </a:r>
                <a:r>
                  <a:rPr lang="en-US" altLang="zh-CN" sz="1800" baseline="30000" dirty="0" smtClean="0"/>
                  <a:t>2</a:t>
                </a:r>
                <a:r>
                  <a:rPr lang="en-US" altLang="zh-CN" sz="1800" dirty="0" smtClean="0"/>
                  <a:t>×0.04)/(</a:t>
                </a:r>
                <a:r>
                  <a:rPr lang="en-US" altLang="zh-CN" sz="1800" dirty="0"/>
                  <a:t>2</a:t>
                </a:r>
                <a:r>
                  <a:rPr lang="el-GR" altLang="zh-CN" sz="1800" dirty="0"/>
                  <a:t>π</a:t>
                </a:r>
                <a:r>
                  <a:rPr lang="en-US" altLang="zh-CN" sz="1800" dirty="0"/>
                  <a:t>×1000</a:t>
                </a:r>
                <a:r>
                  <a:rPr lang="en-US" altLang="zh-CN" sz="1800" dirty="0" smtClean="0"/>
                  <a:t>)=23mH</a:t>
                </a:r>
                <a:r>
                  <a:rPr lang="zh-CN" altLang="en-US" sz="1800" dirty="0" smtClean="0"/>
                  <a:t>，实际可取</a:t>
                </a:r>
                <a:r>
                  <a:rPr lang="en-US" altLang="zh-CN" sz="1800" dirty="0" smtClean="0"/>
                  <a:t>30~60mH</a:t>
                </a:r>
                <a:r>
                  <a:rPr lang="zh-CN" altLang="en-US" sz="1800" dirty="0" smtClean="0"/>
                  <a:t>。</a:t>
                </a:r>
                <a:endParaRPr lang="zh-CN" altLang="en-US" sz="1800" dirty="0"/>
              </a:p>
            </p:txBody>
          </p:sp>
        </mc:Choice>
        <mc:Fallback xmlns="">
          <p:sp>
            <p:nvSpPr>
              <p:cNvPr id="5" name="文本框 4"/>
              <p:cNvSpPr txBox="1">
                <a:spLocks noRot="1" noChangeAspect="1" noMove="1" noResize="1" noEditPoints="1" noAdjustHandles="1" noChangeArrowheads="1" noChangeShapeType="1" noTextEdit="1"/>
              </p:cNvSpPr>
              <p:nvPr/>
            </p:nvSpPr>
            <p:spPr>
              <a:xfrm>
                <a:off x="449943" y="453911"/>
                <a:ext cx="11197771" cy="3831818"/>
              </a:xfrm>
              <a:prstGeom prst="rect">
                <a:avLst/>
              </a:prstGeom>
              <a:blipFill>
                <a:blip r:embed="rId2"/>
                <a:stretch>
                  <a:fillRect l="-490" r="-381" b="-3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15811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文本框 4"/>
          <p:cNvSpPr txBox="1"/>
          <p:nvPr/>
        </p:nvSpPr>
        <p:spPr>
          <a:xfrm>
            <a:off x="449943" y="453911"/>
            <a:ext cx="11197771" cy="2169825"/>
          </a:xfrm>
          <a:prstGeom prst="rect">
            <a:avLst/>
          </a:prstGeom>
          <a:noFill/>
        </p:spPr>
        <p:txBody>
          <a:bodyPr wrap="square" rtlCol="0">
            <a:spAutoFit/>
          </a:bodyPr>
          <a:lstStyle/>
          <a:p>
            <a:pPr indent="457189">
              <a:lnSpc>
                <a:spcPct val="150000"/>
              </a:lnSpc>
            </a:pPr>
            <a:r>
              <a:rPr lang="en-US" altLang="zh-CN" sz="1800" dirty="0" smtClean="0"/>
              <a:t>3</a:t>
            </a:r>
            <a:r>
              <a:rPr lang="zh-CN" altLang="en-US" sz="1800" dirty="0" smtClean="0"/>
              <a:t>、选择</a:t>
            </a:r>
            <a:r>
              <a:rPr lang="zh-CN" altLang="en-US" sz="1800" dirty="0"/>
              <a:t>合适的铁</a:t>
            </a:r>
            <a:r>
              <a:rPr lang="zh-CN" altLang="en-US" sz="1800" dirty="0" smtClean="0"/>
              <a:t>芯</a:t>
            </a:r>
            <a:endParaRPr lang="en-US" altLang="zh-CN" sz="1800" dirty="0" smtClean="0"/>
          </a:p>
          <a:p>
            <a:pPr indent="457189">
              <a:lnSpc>
                <a:spcPct val="150000"/>
              </a:lnSpc>
            </a:pPr>
            <a:r>
              <a:rPr lang="zh-CN" altLang="en-US" sz="1800" dirty="0" smtClean="0"/>
              <a:t>音频变压器多采用</a:t>
            </a:r>
            <a:r>
              <a:rPr lang="en-US" altLang="zh-CN" sz="1800" dirty="0" smtClean="0"/>
              <a:t>E</a:t>
            </a:r>
            <a:r>
              <a:rPr lang="zh-CN" altLang="en-US" sz="1800" dirty="0" smtClean="0"/>
              <a:t>形铁芯，其材料可以是硅钢片，也可以是磁性材料。选择铁芯需要考虑的是在最大输出电流情况下铁芯不能磁饱和，另外就是铁芯的窗口能够容纳得下线圈。</a:t>
            </a:r>
            <a:endParaRPr lang="en-US" altLang="zh-CN" sz="1800" dirty="0" smtClean="0"/>
          </a:p>
          <a:p>
            <a:pPr indent="457189">
              <a:lnSpc>
                <a:spcPct val="150000"/>
              </a:lnSpc>
            </a:pPr>
            <a:r>
              <a:rPr lang="zh-CN" altLang="en-US" sz="1800" dirty="0" smtClean="0"/>
              <a:t>与上述条件有关的参数有铁芯的</a:t>
            </a:r>
            <a:r>
              <a:rPr lang="zh-CN" altLang="en-US" sz="1800" dirty="0"/>
              <a:t>截面积、铁芯材料</a:t>
            </a:r>
            <a:r>
              <a:rPr lang="zh-CN" altLang="en-US" sz="1800" dirty="0" smtClean="0"/>
              <a:t>的最大</a:t>
            </a:r>
            <a:r>
              <a:rPr lang="zh-CN" altLang="en-US" sz="1800" dirty="0"/>
              <a:t>允许</a:t>
            </a:r>
            <a:r>
              <a:rPr lang="zh-CN" altLang="en-US" sz="1800" dirty="0" smtClean="0"/>
              <a:t>磁通</a:t>
            </a:r>
            <a:r>
              <a:rPr lang="zh-CN" altLang="en-US" sz="1800" dirty="0"/>
              <a:t>密度</a:t>
            </a:r>
            <a:r>
              <a:rPr lang="en-US" altLang="zh-CN" sz="1800" dirty="0" err="1" smtClean="0"/>
              <a:t>Bm</a:t>
            </a:r>
            <a:r>
              <a:rPr lang="zh-CN" altLang="en-US" sz="1800" dirty="0" smtClean="0"/>
              <a:t>等。其中铁芯的截面积与</a:t>
            </a:r>
            <a:r>
              <a:rPr lang="zh-CN" altLang="en-US" sz="1800" dirty="0"/>
              <a:t>输出功率的平方根成正比、与信号频率成反比、</a:t>
            </a:r>
            <a:r>
              <a:rPr lang="zh-CN" altLang="en-US" sz="1800" dirty="0" smtClean="0"/>
              <a:t>与</a:t>
            </a:r>
            <a:r>
              <a:rPr lang="en-US" altLang="zh-CN" sz="1800" dirty="0" err="1"/>
              <a:t>Bm</a:t>
            </a:r>
            <a:r>
              <a:rPr lang="zh-CN" altLang="en-US" sz="1800" dirty="0" smtClean="0"/>
              <a:t>成</a:t>
            </a:r>
            <a:r>
              <a:rPr lang="zh-CN" altLang="en-US" sz="1800" dirty="0"/>
              <a:t>反比</a:t>
            </a:r>
            <a:r>
              <a:rPr lang="zh-CN" altLang="en-US" sz="1800" dirty="0" smtClean="0"/>
              <a:t>。</a:t>
            </a:r>
            <a:endParaRPr lang="en-US" altLang="zh-CN" sz="1800" dirty="0">
              <a:solidFill>
                <a:srgbClr val="FF0000"/>
              </a:solidFill>
            </a:endParaRPr>
          </a:p>
        </p:txBody>
      </p:sp>
      <p:pic>
        <p:nvPicPr>
          <p:cNvPr id="6" name="图片 5"/>
          <p:cNvPicPr>
            <a:picLocks noChangeAspect="1"/>
          </p:cNvPicPr>
          <p:nvPr/>
        </p:nvPicPr>
        <p:blipFill>
          <a:blip r:embed="rId2"/>
          <a:stretch>
            <a:fillRect/>
          </a:stretch>
        </p:blipFill>
        <p:spPr>
          <a:xfrm>
            <a:off x="8248291" y="2651907"/>
            <a:ext cx="3058338" cy="3335854"/>
          </a:xfrm>
          <a:prstGeom prst="rect">
            <a:avLst/>
          </a:prstGeom>
        </p:spPr>
      </p:pic>
      <p:sp>
        <p:nvSpPr>
          <p:cNvPr id="7" name="文本框 6"/>
          <p:cNvSpPr txBox="1"/>
          <p:nvPr/>
        </p:nvSpPr>
        <p:spPr>
          <a:xfrm>
            <a:off x="449943" y="2557564"/>
            <a:ext cx="7304863" cy="3416320"/>
          </a:xfrm>
          <a:prstGeom prst="rect">
            <a:avLst/>
          </a:prstGeom>
          <a:noFill/>
        </p:spPr>
        <p:txBody>
          <a:bodyPr wrap="square" rtlCol="0">
            <a:spAutoFit/>
          </a:bodyPr>
          <a:lstStyle/>
          <a:p>
            <a:pPr indent="457189">
              <a:lnSpc>
                <a:spcPct val="150000"/>
              </a:lnSpc>
            </a:pPr>
            <a:r>
              <a:rPr lang="zh-CN" altLang="en-US" sz="1800" dirty="0" smtClean="0"/>
              <a:t>现在的设计中多采用</a:t>
            </a:r>
            <a:r>
              <a:rPr lang="en-US" altLang="zh-CN" sz="1800" dirty="0" smtClean="0"/>
              <a:t>E</a:t>
            </a:r>
            <a:r>
              <a:rPr lang="zh-CN" altLang="en-US" sz="1800" dirty="0" smtClean="0"/>
              <a:t>形磁性材料制作变压器，严格的计算需要测量</a:t>
            </a:r>
            <a:r>
              <a:rPr lang="en-US" altLang="zh-CN" sz="1800" dirty="0" err="1" smtClean="0"/>
              <a:t>Bm</a:t>
            </a:r>
            <a:r>
              <a:rPr lang="zh-CN" altLang="en-US" sz="1800" dirty="0" smtClean="0"/>
              <a:t>，但是由于本题目的输出功率很小（</a:t>
            </a:r>
            <a:r>
              <a:rPr lang="en-US" altLang="zh-CN" sz="1800" dirty="0" smtClean="0"/>
              <a:t>1W</a:t>
            </a:r>
            <a:r>
              <a:rPr lang="zh-CN" altLang="en-US" sz="1800" dirty="0" smtClean="0"/>
              <a:t>），信号频率也不低（</a:t>
            </a:r>
            <a:r>
              <a:rPr lang="en-US" altLang="zh-CN" sz="1800" dirty="0" smtClean="0"/>
              <a:t>1kHz</a:t>
            </a:r>
            <a:r>
              <a:rPr lang="zh-CN" altLang="en-US" sz="1800" dirty="0" smtClean="0"/>
              <a:t>左右），实验室内大部分磁性材料都满足实验需求。</a:t>
            </a:r>
            <a:endParaRPr lang="en-US" altLang="zh-CN" sz="1800" dirty="0" smtClean="0"/>
          </a:p>
          <a:p>
            <a:pPr indent="457189">
              <a:lnSpc>
                <a:spcPct val="150000"/>
              </a:lnSpc>
            </a:pPr>
            <a:r>
              <a:rPr lang="zh-CN" altLang="en-US" sz="1800" dirty="0" smtClean="0"/>
              <a:t>选定铁芯后</a:t>
            </a:r>
            <a:r>
              <a:rPr lang="zh-CN" altLang="en-US" sz="1800" dirty="0"/>
              <a:t>，可通过试绕测量的方法，获得满足电感量需求的初级匝数。同时也就得到了次级匝</a:t>
            </a:r>
            <a:r>
              <a:rPr lang="zh-CN" altLang="en-US" sz="1800" dirty="0" smtClean="0"/>
              <a:t>数。</a:t>
            </a:r>
            <a:endParaRPr lang="en-US" altLang="zh-CN" sz="1800" dirty="0" smtClean="0"/>
          </a:p>
          <a:p>
            <a:pPr indent="457189">
              <a:lnSpc>
                <a:spcPct val="150000"/>
              </a:lnSpc>
            </a:pPr>
            <a:r>
              <a:rPr lang="zh-CN" altLang="en-US" sz="1800" dirty="0" smtClean="0"/>
              <a:t>例如笔者选用</a:t>
            </a:r>
            <a:r>
              <a:rPr lang="zh-CN" altLang="en-US" sz="1800" dirty="0"/>
              <a:t>截面</a:t>
            </a:r>
            <a:r>
              <a:rPr lang="en-US" altLang="zh-CN" sz="1800" dirty="0"/>
              <a:t>6.5mm×6.5mm</a:t>
            </a:r>
            <a:r>
              <a:rPr lang="zh-CN" altLang="en-US" sz="1800" dirty="0"/>
              <a:t>的</a:t>
            </a:r>
            <a:r>
              <a:rPr lang="en-US" altLang="zh-CN" sz="1800" dirty="0"/>
              <a:t>E</a:t>
            </a:r>
            <a:r>
              <a:rPr lang="zh-CN" altLang="en-US" sz="1800" dirty="0"/>
              <a:t>形磁芯，初级用直径</a:t>
            </a:r>
            <a:r>
              <a:rPr lang="en-US" altLang="zh-CN" sz="1800" dirty="0"/>
              <a:t>0.25mm</a:t>
            </a:r>
            <a:r>
              <a:rPr lang="zh-CN" altLang="en-US" sz="1800" dirty="0"/>
              <a:t>漆包线</a:t>
            </a:r>
            <a:r>
              <a:rPr lang="zh-CN" altLang="en-US" sz="1800" dirty="0" smtClean="0"/>
              <a:t>绕</a:t>
            </a:r>
            <a:r>
              <a:rPr lang="en-US" altLang="zh-CN" sz="1800" dirty="0" smtClean="0"/>
              <a:t>180</a:t>
            </a:r>
            <a:r>
              <a:rPr lang="zh-CN" altLang="en-US" sz="1800" dirty="0"/>
              <a:t>匝</a:t>
            </a:r>
            <a:r>
              <a:rPr lang="zh-CN" altLang="en-US" sz="1800" dirty="0" smtClean="0"/>
              <a:t>，次级</a:t>
            </a:r>
            <a:r>
              <a:rPr lang="zh-CN" altLang="en-US" sz="1800" dirty="0"/>
              <a:t>用直径</a:t>
            </a:r>
            <a:r>
              <a:rPr lang="en-US" altLang="zh-CN" sz="1800" dirty="0"/>
              <a:t>0.62mm</a:t>
            </a:r>
            <a:r>
              <a:rPr lang="zh-CN" altLang="en-US" sz="1800" dirty="0"/>
              <a:t>漆包线</a:t>
            </a:r>
            <a:r>
              <a:rPr lang="zh-CN" altLang="en-US" sz="1800" dirty="0" smtClean="0"/>
              <a:t>绕</a:t>
            </a:r>
            <a:r>
              <a:rPr lang="en-US" altLang="zh-CN" sz="1800" dirty="0" smtClean="0"/>
              <a:t>3</a:t>
            </a:r>
            <a:r>
              <a:rPr lang="zh-CN" altLang="en-US" sz="1800" dirty="0" smtClean="0"/>
              <a:t>匝。实测初级电感</a:t>
            </a:r>
            <a:r>
              <a:rPr lang="zh-CN" altLang="en-US" sz="1800" dirty="0"/>
              <a:t>量约为</a:t>
            </a:r>
            <a:r>
              <a:rPr lang="en-US" altLang="zh-CN" sz="1800" dirty="0" smtClean="0"/>
              <a:t>60mH</a:t>
            </a:r>
            <a:r>
              <a:rPr lang="zh-CN" altLang="en-US" sz="1800" dirty="0" smtClean="0"/>
              <a:t>，完全满足实验需求。</a:t>
            </a:r>
            <a:endParaRPr lang="en-US" altLang="zh-CN" sz="1800" dirty="0"/>
          </a:p>
        </p:txBody>
      </p:sp>
    </p:spTree>
    <p:extLst>
      <p:ext uri="{BB962C8B-B14F-4D97-AF65-F5344CB8AC3E}">
        <p14:creationId xmlns:p14="http://schemas.microsoft.com/office/powerpoint/2010/main" val="23798036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5" name="矩形 4"/>
          <p:cNvSpPr/>
          <p:nvPr/>
        </p:nvSpPr>
        <p:spPr>
          <a:xfrm>
            <a:off x="471714" y="396704"/>
            <a:ext cx="11263085" cy="1754326"/>
          </a:xfrm>
          <a:prstGeom prst="rect">
            <a:avLst/>
          </a:prstGeom>
        </p:spPr>
        <p:txBody>
          <a:bodyPr wrap="square">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解决</a:t>
            </a:r>
            <a:r>
              <a:rPr lang="zh-CN" altLang="zh-CN" sz="3200" dirty="0" smtClean="0">
                <a:solidFill>
                  <a:srgbClr val="FF0000"/>
                </a:solidFill>
                <a:latin typeface="隶书" panose="02010509060101010101" pitchFamily="49" charset="-122"/>
                <a:ea typeface="隶书" panose="02010509060101010101" pitchFamily="49" charset="-122"/>
              </a:rPr>
              <a:t>方案</a:t>
            </a:r>
            <a:r>
              <a:rPr lang="zh-CN" altLang="en-US" sz="3200" dirty="0" smtClean="0">
                <a:solidFill>
                  <a:srgbClr val="FF0000"/>
                </a:solidFill>
                <a:latin typeface="隶书" panose="02010509060101010101" pitchFamily="49" charset="-122"/>
                <a:ea typeface="隶书" panose="02010509060101010101" pitchFamily="49" charset="-122"/>
              </a:rPr>
              <a:t>一</a:t>
            </a:r>
            <a:endParaRPr lang="en-US" altLang="zh-CN" sz="3200" dirty="0">
              <a:solidFill>
                <a:srgbClr val="FF0000"/>
              </a:solidFill>
              <a:latin typeface="隶书" panose="02010509060101010101" pitchFamily="49" charset="-122"/>
              <a:ea typeface="隶书" panose="02010509060101010101" pitchFamily="49" charset="-122"/>
            </a:endParaRPr>
          </a:p>
          <a:p>
            <a:pPr marL="342891" indent="-342891">
              <a:lnSpc>
                <a:spcPct val="150000"/>
              </a:lnSpc>
              <a:buFont typeface="Wingdings" panose="05000000000000000000" pitchFamily="2" charset="2"/>
              <a:buChar char="l"/>
            </a:pPr>
            <a:r>
              <a:rPr lang="zh-CN" altLang="en-US" dirty="0">
                <a:solidFill>
                  <a:srgbClr val="FF0000"/>
                </a:solidFill>
                <a:latin typeface="+mj-ea"/>
              </a:rPr>
              <a:t>交流驱动、低通滤波放大</a:t>
            </a:r>
            <a:endParaRPr lang="en-US" altLang="zh-CN" dirty="0">
              <a:solidFill>
                <a:srgbClr val="FF0000"/>
              </a:solidFill>
              <a:latin typeface="+mj-ea"/>
            </a:endParaRPr>
          </a:p>
          <a:p>
            <a:pPr indent="457189">
              <a:lnSpc>
                <a:spcPct val="150000"/>
              </a:lnSpc>
            </a:pPr>
            <a:r>
              <a:rPr lang="zh-CN" altLang="en-US" dirty="0">
                <a:latin typeface="+mj-ea"/>
              </a:rPr>
              <a:t>该方案的结构框图如下：</a:t>
            </a:r>
            <a:endParaRPr lang="en-US" altLang="zh-CN" dirty="0">
              <a:latin typeface="+mj-ea"/>
            </a:endParaRPr>
          </a:p>
        </p:txBody>
      </p:sp>
      <p:pic>
        <p:nvPicPr>
          <p:cNvPr id="6" name="图片 5"/>
          <p:cNvPicPr>
            <a:picLocks noChangeAspect="1"/>
          </p:cNvPicPr>
          <p:nvPr/>
        </p:nvPicPr>
        <p:blipFill>
          <a:blip r:embed="rId2"/>
          <a:stretch>
            <a:fillRect/>
          </a:stretch>
        </p:blipFill>
        <p:spPr>
          <a:xfrm>
            <a:off x="1518027" y="2467835"/>
            <a:ext cx="8787116" cy="910378"/>
          </a:xfrm>
          <a:prstGeom prst="rect">
            <a:avLst/>
          </a:prstGeom>
        </p:spPr>
      </p:pic>
    </p:spTree>
    <p:extLst>
      <p:ext uri="{BB962C8B-B14F-4D97-AF65-F5344CB8AC3E}">
        <p14:creationId xmlns:p14="http://schemas.microsoft.com/office/powerpoint/2010/main" val="17079537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文本框 4"/>
          <p:cNvSpPr txBox="1"/>
          <p:nvPr/>
        </p:nvSpPr>
        <p:spPr>
          <a:xfrm>
            <a:off x="420914" y="506538"/>
            <a:ext cx="11335657" cy="5493812"/>
          </a:xfrm>
          <a:prstGeom prst="rect">
            <a:avLst/>
          </a:prstGeom>
          <a:noFill/>
        </p:spPr>
        <p:txBody>
          <a:bodyPr wrap="square" rtlCol="0">
            <a:spAutoFit/>
          </a:bodyPr>
          <a:lstStyle/>
          <a:p>
            <a:pPr marL="285744" indent="-285744">
              <a:lnSpc>
                <a:spcPct val="150000"/>
              </a:lnSpc>
              <a:buFont typeface="Arial" panose="020B0604020202020204" pitchFamily="34" charset="0"/>
              <a:buChar char="•"/>
            </a:pPr>
            <a:r>
              <a:rPr lang="zh-CN" altLang="en-US" sz="1800" dirty="0">
                <a:latin typeface="+mj-ea"/>
                <a:ea typeface="+mj-ea"/>
              </a:rPr>
              <a:t>覆铜板接线</a:t>
            </a:r>
            <a:endParaRPr lang="en-US" altLang="zh-CN" sz="1800" dirty="0">
              <a:latin typeface="+mj-ea"/>
              <a:ea typeface="+mj-ea"/>
            </a:endParaRPr>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smtClean="0"/>
          </a:p>
          <a:p>
            <a:pPr indent="457189">
              <a:lnSpc>
                <a:spcPct val="150000"/>
              </a:lnSpc>
            </a:pPr>
            <a:r>
              <a:rPr lang="zh-CN" altLang="zh-CN" sz="1800" dirty="0" smtClean="0"/>
              <a:t>采用</a:t>
            </a:r>
            <a:r>
              <a:rPr lang="zh-CN" altLang="zh-CN" sz="1800" dirty="0">
                <a:solidFill>
                  <a:srgbClr val="FF0000"/>
                </a:solidFill>
              </a:rPr>
              <a:t>四端测量法</a:t>
            </a:r>
            <a:r>
              <a:rPr lang="zh-CN" altLang="zh-CN" sz="1800" dirty="0"/>
              <a:t>测量探针到覆铜板某个对角线之间的压降，并利用仪表放大器的高输入阻抗避免各种连线和接触电阻的</a:t>
            </a:r>
            <a:r>
              <a:rPr lang="zh-CN" altLang="zh-CN" sz="1800" dirty="0" smtClean="0"/>
              <a:t>影响</a:t>
            </a:r>
            <a:r>
              <a:rPr lang="zh-CN" altLang="en-US" sz="1800" dirty="0" smtClean="0"/>
              <a:t>。所谓四端测量法就是被测元件的驱动电流端与电压测量端分开，那样可以避免由于接触电阻引起的测量误差。在精密测量中，这是一个常规的做法。</a:t>
            </a:r>
            <a:endParaRPr lang="en-US" altLang="zh-CN" sz="1800" dirty="0"/>
          </a:p>
          <a:p>
            <a:pPr indent="457189">
              <a:lnSpc>
                <a:spcPct val="150000"/>
              </a:lnSpc>
            </a:pPr>
            <a:r>
              <a:rPr lang="zh-CN" altLang="zh-CN" sz="1800" dirty="0"/>
              <a:t>为了避免覆铜板的</a:t>
            </a:r>
            <a:r>
              <a:rPr lang="en-US" altLang="zh-CN" sz="1800" dirty="0"/>
              <a:t>A'B' </a:t>
            </a:r>
            <a:r>
              <a:rPr lang="zh-CN" altLang="zh-CN" sz="1800" dirty="0"/>
              <a:t>两点被短路，这两点通过一个模拟开关接到仪表放大器的输入端。由于仪表放大器的高输入电阻特性，模拟开关的内阻不会影响测量结果的精度。</a:t>
            </a:r>
          </a:p>
          <a:p>
            <a:pPr indent="457189">
              <a:lnSpc>
                <a:spcPct val="150000"/>
              </a:lnSpc>
            </a:pPr>
            <a:r>
              <a:rPr lang="zh-CN" altLang="zh-CN" sz="1800" dirty="0"/>
              <a:t>变压器次级浮空</a:t>
            </a:r>
            <a:r>
              <a:rPr lang="zh-CN" altLang="en-US" sz="1800" dirty="0"/>
              <a:t>，最大限度地避免引入差模干扰。而共模干扰可以通过仪表放大器的高</a:t>
            </a:r>
            <a:r>
              <a:rPr lang="en-US" altLang="zh-CN" sz="1800" dirty="0"/>
              <a:t>CMRR</a:t>
            </a:r>
            <a:r>
              <a:rPr lang="zh-CN" altLang="en-US" sz="1800" dirty="0"/>
              <a:t>减轻其影响。</a:t>
            </a:r>
            <a:endParaRPr lang="en-US" altLang="zh-CN" sz="1800" dirty="0"/>
          </a:p>
        </p:txBody>
      </p:sp>
      <p:pic>
        <p:nvPicPr>
          <p:cNvPr id="6" name="图片 5"/>
          <p:cNvPicPr>
            <a:picLocks noChangeAspect="1"/>
          </p:cNvPicPr>
          <p:nvPr/>
        </p:nvPicPr>
        <p:blipFill>
          <a:blip r:embed="rId2"/>
          <a:stretch>
            <a:fillRect/>
          </a:stretch>
        </p:blipFill>
        <p:spPr>
          <a:xfrm>
            <a:off x="1920989" y="1080860"/>
            <a:ext cx="7726781" cy="2279196"/>
          </a:xfrm>
          <a:prstGeom prst="rect">
            <a:avLst/>
          </a:prstGeom>
        </p:spPr>
      </p:pic>
    </p:spTree>
    <p:extLst>
      <p:ext uri="{BB962C8B-B14F-4D97-AF65-F5344CB8AC3E}">
        <p14:creationId xmlns:p14="http://schemas.microsoft.com/office/powerpoint/2010/main" val="1921794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文本框 4"/>
          <p:cNvSpPr txBox="1"/>
          <p:nvPr/>
        </p:nvSpPr>
        <p:spPr>
          <a:xfrm>
            <a:off x="478971" y="2958283"/>
            <a:ext cx="7743373" cy="3000821"/>
          </a:xfrm>
          <a:prstGeom prst="rect">
            <a:avLst/>
          </a:prstGeom>
          <a:noFill/>
        </p:spPr>
        <p:txBody>
          <a:bodyPr wrap="square" rtlCol="0">
            <a:spAutoFit/>
          </a:bodyPr>
          <a:lstStyle/>
          <a:p>
            <a:pPr indent="457189">
              <a:lnSpc>
                <a:spcPct val="150000"/>
              </a:lnSpc>
            </a:pPr>
            <a:r>
              <a:rPr lang="zh-CN" altLang="zh-CN" sz="1800" dirty="0"/>
              <a:t>电阻</a:t>
            </a:r>
            <a:r>
              <a:rPr lang="en-US" altLang="zh-CN" sz="1800" dirty="0"/>
              <a:t>R</a:t>
            </a:r>
            <a:r>
              <a:rPr lang="zh-CN" altLang="en-US" sz="1800" dirty="0"/>
              <a:t>的第二个作用是</a:t>
            </a:r>
            <a:r>
              <a:rPr lang="zh-CN" altLang="zh-CN" sz="1800" dirty="0"/>
              <a:t>避免两个变压器次级相互干扰。</a:t>
            </a:r>
            <a:endParaRPr lang="en-US" altLang="zh-CN" sz="1800" dirty="0"/>
          </a:p>
          <a:p>
            <a:pPr indent="457189">
              <a:lnSpc>
                <a:spcPct val="150000"/>
              </a:lnSpc>
            </a:pPr>
            <a:r>
              <a:rPr lang="zh-CN" altLang="en-US" sz="1800" dirty="0"/>
              <a:t>变压器次级不宜设置任何开关器件（避免功率损耗以及开关内阻的影响），所以次级输出直接接到覆铜板的两组对角线上。实际工作时，通过使能控制使得两个驱动电路中只有一个有输出，另一个处于关闭状态。</a:t>
            </a:r>
            <a:endParaRPr lang="en-US" altLang="zh-CN" sz="1800" dirty="0"/>
          </a:p>
          <a:p>
            <a:pPr indent="457189">
              <a:lnSpc>
                <a:spcPct val="150000"/>
              </a:lnSpc>
            </a:pPr>
            <a:r>
              <a:rPr lang="zh-CN" altLang="zh-CN" sz="1800" dirty="0"/>
              <a:t>若没有这个电阻，</a:t>
            </a:r>
            <a:r>
              <a:rPr lang="zh-CN" altLang="en-US" sz="1800" dirty="0"/>
              <a:t>关闭的</a:t>
            </a:r>
            <a:r>
              <a:rPr lang="zh-CN" altLang="zh-CN" sz="1800" dirty="0"/>
              <a:t>变压器次级</a:t>
            </a:r>
            <a:r>
              <a:rPr lang="zh-CN" altLang="en-US" sz="1800" dirty="0"/>
              <a:t>电阻很低，</a:t>
            </a:r>
            <a:r>
              <a:rPr lang="zh-CN" altLang="zh-CN" sz="1800" dirty="0"/>
              <a:t>覆铜板上</a:t>
            </a:r>
            <a:r>
              <a:rPr lang="zh-CN" altLang="en-US" sz="1800" dirty="0"/>
              <a:t>未通电的两个对角线短路，造成</a:t>
            </a:r>
            <a:r>
              <a:rPr lang="zh-CN" altLang="zh-CN" sz="1800" dirty="0"/>
              <a:t>等电位线变形。加入这个电阻后，由于此电阻阻值比覆铜板电阻大许多，所以</a:t>
            </a:r>
            <a:r>
              <a:rPr lang="zh-CN" altLang="en-US" sz="1800" dirty="0"/>
              <a:t>未工作的</a:t>
            </a:r>
            <a:r>
              <a:rPr lang="zh-CN" altLang="zh-CN" sz="1800" dirty="0" smtClean="0"/>
              <a:t>变压器的</a:t>
            </a:r>
            <a:r>
              <a:rPr lang="zh-CN" altLang="zh-CN" sz="1800" dirty="0"/>
              <a:t>影响被大幅度削弱而可以忽略。</a:t>
            </a:r>
            <a:endParaRPr lang="zh-CN" altLang="en-US" sz="1600" dirty="0"/>
          </a:p>
        </p:txBody>
      </p:sp>
      <p:sp>
        <p:nvSpPr>
          <p:cNvPr id="7" name="矩形 6"/>
          <p:cNvSpPr/>
          <p:nvPr/>
        </p:nvSpPr>
        <p:spPr>
          <a:xfrm>
            <a:off x="478971" y="429073"/>
            <a:ext cx="11161486" cy="2585323"/>
          </a:xfrm>
          <a:prstGeom prst="rect">
            <a:avLst/>
          </a:prstGeom>
        </p:spPr>
        <p:txBody>
          <a:bodyPr wrap="square">
            <a:spAutoFit/>
          </a:bodyPr>
          <a:lstStyle/>
          <a:p>
            <a:pPr indent="457189">
              <a:lnSpc>
                <a:spcPct val="150000"/>
              </a:lnSpc>
            </a:pPr>
            <a:r>
              <a:rPr lang="zh-CN" altLang="zh-CN" sz="1800" dirty="0"/>
              <a:t>电阻</a:t>
            </a:r>
            <a:r>
              <a:rPr lang="en-US" altLang="zh-CN" sz="1800" dirty="0"/>
              <a:t>R</a:t>
            </a:r>
            <a:r>
              <a:rPr lang="zh-CN" altLang="zh-CN" sz="1800" dirty="0"/>
              <a:t>是限流电阻。实测覆铜板对角线的电阻</a:t>
            </a:r>
            <a:r>
              <a:rPr lang="zh-CN" altLang="en-US" sz="1800" dirty="0"/>
              <a:t>≈</a:t>
            </a:r>
            <a:r>
              <a:rPr lang="en-US" altLang="zh-CN" sz="1800" dirty="0"/>
              <a:t>2mΩ</a:t>
            </a:r>
            <a:r>
              <a:rPr lang="zh-CN" altLang="zh-CN" sz="1800" dirty="0"/>
              <a:t>。假定测量电流为</a:t>
            </a:r>
            <a:r>
              <a:rPr lang="en-US" altLang="zh-CN" sz="1800" dirty="0"/>
              <a:t>5A</a:t>
            </a:r>
            <a:r>
              <a:rPr lang="zh-CN" altLang="zh-CN" sz="1800" dirty="0"/>
              <a:t>、变压器的次级输出电压为</a:t>
            </a:r>
            <a:r>
              <a:rPr lang="en-US" altLang="zh-CN" sz="1800" dirty="0" smtClean="0"/>
              <a:t>0.2V</a:t>
            </a:r>
            <a:r>
              <a:rPr lang="zh-CN" altLang="zh-CN" sz="1800" dirty="0"/>
              <a:t>，</a:t>
            </a:r>
            <a:r>
              <a:rPr lang="zh-CN" altLang="en-US" sz="1800" dirty="0"/>
              <a:t>则</a:t>
            </a:r>
            <a:r>
              <a:rPr lang="zh-CN" altLang="zh-CN" sz="1800" dirty="0"/>
              <a:t>此电阻的阻值约</a:t>
            </a:r>
            <a:r>
              <a:rPr lang="zh-CN" altLang="zh-CN" sz="1800" dirty="0" smtClean="0"/>
              <a:t>等于</a:t>
            </a:r>
            <a:r>
              <a:rPr lang="en-US" altLang="zh-CN" sz="1800" dirty="0" smtClean="0"/>
              <a:t>38mΩ</a:t>
            </a:r>
            <a:r>
              <a:rPr lang="zh-CN" altLang="zh-CN" sz="1800" dirty="0"/>
              <a:t>。实际制作时可用康铜丝或锰铜丝制作，保证它有足够的功率裕量而不会发热</a:t>
            </a:r>
            <a:r>
              <a:rPr lang="zh-CN" altLang="en-US" sz="1800" dirty="0" smtClean="0"/>
              <a:t>。</a:t>
            </a:r>
            <a:endParaRPr lang="en-US" altLang="zh-CN" sz="1800" dirty="0" smtClean="0"/>
          </a:p>
          <a:p>
            <a:pPr indent="457189">
              <a:lnSpc>
                <a:spcPct val="150000"/>
              </a:lnSpc>
            </a:pPr>
            <a:r>
              <a:rPr lang="zh-CN" altLang="zh-CN" sz="1800" dirty="0"/>
              <a:t>电阻</a:t>
            </a:r>
            <a:r>
              <a:rPr lang="en-US" altLang="zh-CN" sz="1800" dirty="0"/>
              <a:t>R</a:t>
            </a:r>
            <a:r>
              <a:rPr lang="zh-CN" altLang="en-US" sz="1800" dirty="0"/>
              <a:t>的</a:t>
            </a:r>
            <a:r>
              <a:rPr lang="zh-CN" altLang="en-US" sz="1800" dirty="0" smtClean="0"/>
              <a:t>第一个作用是提高电路的稳定性。</a:t>
            </a:r>
            <a:endParaRPr lang="en-US" altLang="zh-CN" sz="1800" dirty="0" smtClean="0"/>
          </a:p>
          <a:p>
            <a:pPr indent="457189">
              <a:lnSpc>
                <a:spcPct val="150000"/>
              </a:lnSpc>
            </a:pPr>
            <a:r>
              <a:rPr lang="zh-CN" altLang="en-US" sz="1800" dirty="0" smtClean="0"/>
              <a:t>如果没有这个电阻，那么由于铜箔板的铜箔厚度变化、或者焊接点的质量问题、或者连接线的长度变化、甚至温度变化等，都可能造成变压器次级负载电阻的较大幅度变化，那样就会造成测量的不稳定。串入限流电阻后，负载电阻主要由</a:t>
            </a:r>
            <a:r>
              <a:rPr lang="en-US" altLang="zh-CN" sz="1800" dirty="0" smtClean="0"/>
              <a:t>R</a:t>
            </a:r>
            <a:r>
              <a:rPr lang="zh-CN" altLang="en-US" sz="1800" dirty="0" smtClean="0"/>
              <a:t>决定，而康铜或锰铜电阻具有很高的稳定性。</a:t>
            </a:r>
            <a:endParaRPr lang="zh-CN" altLang="en-US" sz="1600" dirty="0"/>
          </a:p>
        </p:txBody>
      </p:sp>
      <p:pic>
        <p:nvPicPr>
          <p:cNvPr id="9" name="图片 8"/>
          <p:cNvPicPr>
            <a:picLocks noChangeAspect="1"/>
          </p:cNvPicPr>
          <p:nvPr/>
        </p:nvPicPr>
        <p:blipFill>
          <a:blip r:embed="rId2"/>
          <a:stretch>
            <a:fillRect/>
          </a:stretch>
        </p:blipFill>
        <p:spPr>
          <a:xfrm>
            <a:off x="8484054" y="3325132"/>
            <a:ext cx="3026946" cy="2720067"/>
          </a:xfrm>
          <a:prstGeom prst="rect">
            <a:avLst/>
          </a:prstGeom>
        </p:spPr>
      </p:pic>
    </p:spTree>
    <p:extLst>
      <p:ext uri="{BB962C8B-B14F-4D97-AF65-F5344CB8AC3E}">
        <p14:creationId xmlns:p14="http://schemas.microsoft.com/office/powerpoint/2010/main" val="164504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文本框 4"/>
          <p:cNvSpPr txBox="1"/>
          <p:nvPr/>
        </p:nvSpPr>
        <p:spPr>
          <a:xfrm>
            <a:off x="442686" y="478972"/>
            <a:ext cx="11313886" cy="2585323"/>
          </a:xfrm>
          <a:prstGeom prst="rect">
            <a:avLst/>
          </a:prstGeom>
          <a:noFill/>
        </p:spPr>
        <p:txBody>
          <a:bodyPr wrap="square" rtlCol="0">
            <a:spAutoFit/>
          </a:bodyPr>
          <a:lstStyle/>
          <a:p>
            <a:pPr indent="457200">
              <a:lnSpc>
                <a:spcPct val="150000"/>
              </a:lnSpc>
            </a:pPr>
            <a:r>
              <a:rPr lang="zh-CN" altLang="en-US" sz="1800" dirty="0" smtClean="0"/>
              <a:t>电阻</a:t>
            </a:r>
            <a:r>
              <a:rPr lang="en-US" altLang="zh-CN" sz="1800" dirty="0" smtClean="0"/>
              <a:t>R</a:t>
            </a:r>
            <a:r>
              <a:rPr lang="zh-CN" altLang="en-US" sz="1800" dirty="0" smtClean="0"/>
              <a:t>的第三个作用是可以充当电流采样电阻。</a:t>
            </a:r>
            <a:endParaRPr lang="en-US" altLang="zh-CN" sz="1800" dirty="0" smtClean="0"/>
          </a:p>
          <a:p>
            <a:pPr indent="457200">
              <a:lnSpc>
                <a:spcPct val="150000"/>
              </a:lnSpc>
            </a:pPr>
            <a:r>
              <a:rPr lang="zh-CN" altLang="en-US" sz="1800" dirty="0" smtClean="0"/>
              <a:t>前面讨论的电路有一个假设，就是默认驱动信号源的输出电流是恒定的，那样根据表笔接触点的电位可以推断出表笔的实际位置。但是如果某种原因导致驱动电路的输出不够稳定，那么为了得到表笔的实际位置，需要在测试表笔电位的同时测量流过覆铜板的电流。此时电阻</a:t>
            </a:r>
            <a:r>
              <a:rPr lang="en-US" altLang="zh-CN" sz="1800" dirty="0" smtClean="0"/>
              <a:t>R</a:t>
            </a:r>
            <a:r>
              <a:rPr lang="zh-CN" altLang="en-US" sz="1800" dirty="0" smtClean="0"/>
              <a:t>就可以成为电流采样电阻。</a:t>
            </a:r>
            <a:endParaRPr lang="en-US" altLang="zh-CN" sz="1800" dirty="0" smtClean="0"/>
          </a:p>
          <a:p>
            <a:pPr indent="457200">
              <a:lnSpc>
                <a:spcPct val="150000"/>
              </a:lnSpc>
            </a:pPr>
            <a:r>
              <a:rPr lang="zh-CN" altLang="en-US" sz="1800" dirty="0"/>
              <a:t>电流采样电阻仍然要采用四端测量法。其中滤波</a:t>
            </a:r>
            <a:r>
              <a:rPr lang="zh-CN" altLang="en-US" sz="1800" dirty="0" smtClean="0"/>
              <a:t>放大电路以及</a:t>
            </a:r>
            <a:r>
              <a:rPr lang="zh-CN" altLang="en-US" sz="1800" dirty="0"/>
              <a:t>精密整流电路可以与表笔测量部分的共用，用一个模拟开关切换，轮流测量即可</a:t>
            </a:r>
            <a:r>
              <a:rPr lang="zh-CN" altLang="en-US" sz="1800" dirty="0" smtClean="0"/>
              <a:t>。</a:t>
            </a:r>
            <a:endParaRPr lang="zh-CN" altLang="en-US" sz="1800" dirty="0"/>
          </a:p>
        </p:txBody>
      </p:sp>
      <p:pic>
        <p:nvPicPr>
          <p:cNvPr id="8" name="图片 7"/>
          <p:cNvPicPr>
            <a:picLocks noChangeAspect="1"/>
          </p:cNvPicPr>
          <p:nvPr/>
        </p:nvPicPr>
        <p:blipFill>
          <a:blip r:embed="rId2"/>
          <a:stretch>
            <a:fillRect/>
          </a:stretch>
        </p:blipFill>
        <p:spPr>
          <a:xfrm>
            <a:off x="2591103" y="3064295"/>
            <a:ext cx="5896540" cy="3017191"/>
          </a:xfrm>
          <a:prstGeom prst="rect">
            <a:avLst/>
          </a:prstGeom>
        </p:spPr>
      </p:pic>
      <p:sp>
        <p:nvSpPr>
          <p:cNvPr id="9" name="文本框 8"/>
          <p:cNvSpPr txBox="1"/>
          <p:nvPr/>
        </p:nvSpPr>
        <p:spPr>
          <a:xfrm>
            <a:off x="7107483" y="4245429"/>
            <a:ext cx="2220685" cy="830997"/>
          </a:xfrm>
          <a:prstGeom prst="rect">
            <a:avLst/>
          </a:prstGeom>
          <a:noFill/>
        </p:spPr>
        <p:txBody>
          <a:bodyPr wrap="square" rtlCol="0">
            <a:spAutoFit/>
          </a:bodyPr>
          <a:lstStyle/>
          <a:p>
            <a:pPr>
              <a:lnSpc>
                <a:spcPct val="150000"/>
              </a:lnSpc>
            </a:pPr>
            <a:r>
              <a:rPr lang="zh-CN" altLang="en-US" sz="1600" dirty="0" smtClean="0"/>
              <a:t>注：这部分电路视实际情况决定是否采用</a:t>
            </a:r>
            <a:endParaRPr lang="zh-CN" altLang="en-US" sz="1600" dirty="0"/>
          </a:p>
        </p:txBody>
      </p:sp>
    </p:spTree>
    <p:extLst>
      <p:ext uri="{BB962C8B-B14F-4D97-AF65-F5344CB8AC3E}">
        <p14:creationId xmlns:p14="http://schemas.microsoft.com/office/powerpoint/2010/main" val="1990551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文本框 4"/>
          <p:cNvSpPr txBox="1"/>
          <p:nvPr/>
        </p:nvSpPr>
        <p:spPr>
          <a:xfrm>
            <a:off x="406401" y="462995"/>
            <a:ext cx="11335656" cy="5909310"/>
          </a:xfrm>
          <a:prstGeom prst="rect">
            <a:avLst/>
          </a:prstGeom>
          <a:noFill/>
        </p:spPr>
        <p:txBody>
          <a:bodyPr wrap="square" rtlCol="0">
            <a:spAutoFit/>
          </a:bodyPr>
          <a:lstStyle/>
          <a:p>
            <a:pPr marL="285744" indent="-285744">
              <a:lnSpc>
                <a:spcPct val="150000"/>
              </a:lnSpc>
              <a:buFont typeface="Arial" panose="020B0604020202020204" pitchFamily="34" charset="0"/>
              <a:buChar char="•"/>
            </a:pPr>
            <a:r>
              <a:rPr lang="zh-CN" altLang="en-US" sz="1800" dirty="0" smtClean="0">
                <a:latin typeface="+mj-ea"/>
                <a:ea typeface="+mj-ea"/>
              </a:rPr>
              <a:t>仪表放大器</a:t>
            </a:r>
            <a:endParaRPr lang="en-US" altLang="zh-CN" sz="1800" dirty="0"/>
          </a:p>
          <a:p>
            <a:pPr indent="457189">
              <a:lnSpc>
                <a:spcPct val="150000"/>
              </a:lnSpc>
            </a:pPr>
            <a:r>
              <a:rPr lang="zh-CN" altLang="en-US" sz="1800" dirty="0" smtClean="0"/>
              <a:t>仪表放大器的主要要</a:t>
            </a:r>
            <a:r>
              <a:rPr lang="zh-CN" altLang="en-US" sz="1800" dirty="0"/>
              <a:t>求是：</a:t>
            </a:r>
            <a:endParaRPr lang="en-US" altLang="zh-CN" sz="1800" dirty="0"/>
          </a:p>
          <a:p>
            <a:pPr indent="457189">
              <a:lnSpc>
                <a:spcPct val="150000"/>
              </a:lnSpc>
            </a:pPr>
            <a:r>
              <a:rPr lang="en-US" altLang="zh-CN" sz="1800" dirty="0"/>
              <a:t>1</a:t>
            </a:r>
            <a:r>
              <a:rPr lang="zh-CN" altLang="en-US" sz="1800" dirty="0"/>
              <a:t>、尽可能低的输入噪声、输入失调与失调漂移。</a:t>
            </a:r>
            <a:endParaRPr lang="en-US" altLang="zh-CN" sz="1800" dirty="0"/>
          </a:p>
          <a:p>
            <a:pPr indent="457189">
              <a:lnSpc>
                <a:spcPct val="150000"/>
              </a:lnSpc>
            </a:pPr>
            <a:r>
              <a:rPr lang="en-US" altLang="zh-CN" sz="1800" dirty="0"/>
              <a:t>2</a:t>
            </a:r>
            <a:r>
              <a:rPr lang="zh-CN" altLang="en-US" sz="1800" dirty="0"/>
              <a:t>、尽可能高的共模抑制比（</a:t>
            </a:r>
            <a:r>
              <a:rPr lang="en-US" altLang="zh-CN" sz="1800" dirty="0"/>
              <a:t>CMRR</a:t>
            </a:r>
            <a:r>
              <a:rPr lang="zh-CN" altLang="en-US" sz="1800" dirty="0"/>
              <a:t>）。</a:t>
            </a:r>
            <a:endParaRPr lang="en-US" altLang="zh-CN" sz="1800" dirty="0"/>
          </a:p>
          <a:p>
            <a:pPr indent="457189">
              <a:lnSpc>
                <a:spcPct val="150000"/>
              </a:lnSpc>
            </a:pPr>
            <a:r>
              <a:rPr lang="en-US" altLang="zh-CN" sz="1800" dirty="0"/>
              <a:t>3</a:t>
            </a:r>
            <a:r>
              <a:rPr lang="zh-CN" altLang="en-US" sz="1800" dirty="0"/>
              <a:t>、电源电压以及输出动态范围能够满足系统的要求。</a:t>
            </a:r>
            <a:endParaRPr lang="en-US" altLang="zh-CN" sz="1800" dirty="0"/>
          </a:p>
          <a:p>
            <a:pPr indent="457189">
              <a:lnSpc>
                <a:spcPct val="150000"/>
              </a:lnSpc>
            </a:pPr>
            <a:r>
              <a:rPr lang="zh-CN" altLang="en-US" sz="1800" dirty="0"/>
              <a:t>在满足上述要求的前提下，可以选用集成仪表放大器，也可以选用通用运放自行构建三运放结构的仪表放大器如下图</a:t>
            </a: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r>
              <a:rPr lang="zh-CN" altLang="en-US" sz="1800" dirty="0"/>
              <a:t>本题解决方案中的</a:t>
            </a:r>
            <a:r>
              <a:rPr lang="en-US" altLang="zh-CN" sz="1800" dirty="0"/>
              <a:t>IA</a:t>
            </a:r>
            <a:r>
              <a:rPr lang="zh-CN" altLang="en-US" sz="1800" dirty="0"/>
              <a:t>由单电源供电，其中的信号地（</a:t>
            </a:r>
            <a:r>
              <a:rPr lang="en-US" altLang="zh-CN" sz="1800" dirty="0"/>
              <a:t>V</a:t>
            </a:r>
            <a:r>
              <a:rPr lang="en-US" altLang="zh-CN" sz="1800" baseline="-25000" dirty="0"/>
              <a:t>REF</a:t>
            </a:r>
            <a:r>
              <a:rPr lang="zh-CN" altLang="en-US" sz="1800" dirty="0"/>
              <a:t>）应该是电源电压的一半，所以在整个电路中应该另外设置信号地发生器。</a:t>
            </a:r>
            <a:endParaRPr lang="en-US" altLang="zh-CN" sz="1800" dirty="0"/>
          </a:p>
        </p:txBody>
      </p:sp>
      <p:pic>
        <p:nvPicPr>
          <p:cNvPr id="7" name="图片 6"/>
          <p:cNvPicPr>
            <a:picLocks noChangeAspect="1"/>
          </p:cNvPicPr>
          <p:nvPr/>
        </p:nvPicPr>
        <p:blipFill>
          <a:blip r:embed="rId2"/>
          <a:stretch>
            <a:fillRect/>
          </a:stretch>
        </p:blipFill>
        <p:spPr>
          <a:xfrm>
            <a:off x="3761258" y="3173378"/>
            <a:ext cx="4599899" cy="2063045"/>
          </a:xfrm>
          <a:prstGeom prst="rect">
            <a:avLst/>
          </a:prstGeom>
        </p:spPr>
      </p:pic>
    </p:spTree>
    <p:extLst>
      <p:ext uri="{BB962C8B-B14F-4D97-AF65-F5344CB8AC3E}">
        <p14:creationId xmlns:p14="http://schemas.microsoft.com/office/powerpoint/2010/main" val="24152782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6" name="文本框 5"/>
          <p:cNvSpPr txBox="1"/>
          <p:nvPr/>
        </p:nvSpPr>
        <p:spPr>
          <a:xfrm>
            <a:off x="471714" y="506539"/>
            <a:ext cx="11248571" cy="1338828"/>
          </a:xfrm>
          <a:prstGeom prst="rect">
            <a:avLst/>
          </a:prstGeom>
          <a:noFill/>
        </p:spPr>
        <p:txBody>
          <a:bodyPr wrap="square" rtlCol="0">
            <a:spAutoFit/>
          </a:bodyPr>
          <a:lstStyle/>
          <a:p>
            <a:pPr indent="457189">
              <a:lnSpc>
                <a:spcPct val="150000"/>
              </a:lnSpc>
            </a:pPr>
            <a:r>
              <a:rPr lang="zh-CN" altLang="en-US" sz="1800" dirty="0"/>
              <a:t>实验室已有的集成仪表放大器芯片有</a:t>
            </a:r>
            <a:r>
              <a:rPr lang="en-US" altLang="zh-CN" sz="1800" dirty="0"/>
              <a:t>AD620</a:t>
            </a:r>
            <a:r>
              <a:rPr lang="zh-CN" altLang="en-US" sz="1800" dirty="0"/>
              <a:t>、</a:t>
            </a:r>
            <a:r>
              <a:rPr lang="en-US" altLang="zh-CN" sz="1800" dirty="0"/>
              <a:t>INA188</a:t>
            </a:r>
            <a:r>
              <a:rPr lang="zh-CN" altLang="en-US" sz="1800" dirty="0"/>
              <a:t>等。</a:t>
            </a:r>
            <a:endParaRPr lang="en-US" altLang="zh-CN" sz="1800" dirty="0"/>
          </a:p>
          <a:p>
            <a:pPr indent="457189">
              <a:lnSpc>
                <a:spcPct val="150000"/>
              </a:lnSpc>
            </a:pPr>
            <a:r>
              <a:rPr lang="en-US" altLang="zh-CN" sz="1800" dirty="0"/>
              <a:t>AD620</a:t>
            </a:r>
            <a:r>
              <a:rPr lang="zh-CN" altLang="en-US" sz="1800" dirty="0"/>
              <a:t>，输入噪声</a:t>
            </a:r>
            <a:r>
              <a:rPr lang="en-US" altLang="zh-CN" sz="1800" dirty="0"/>
              <a:t>9nV/√Hz</a:t>
            </a:r>
            <a:r>
              <a:rPr lang="zh-CN" altLang="en-US" sz="1800" dirty="0"/>
              <a:t>，输入失调电压</a:t>
            </a:r>
            <a:r>
              <a:rPr lang="en-US" altLang="zh-CN" sz="1800" dirty="0"/>
              <a:t>50</a:t>
            </a:r>
            <a:r>
              <a:rPr lang="el-GR" altLang="zh-CN" sz="1800" dirty="0"/>
              <a:t>μ</a:t>
            </a:r>
            <a:r>
              <a:rPr lang="en-US" altLang="zh-CN" sz="1800" dirty="0"/>
              <a:t>V</a:t>
            </a:r>
            <a:r>
              <a:rPr lang="zh-CN" altLang="en-US" sz="1800" dirty="0"/>
              <a:t>，失调温漂</a:t>
            </a:r>
            <a:r>
              <a:rPr lang="en-US" altLang="zh-CN" sz="1800" dirty="0"/>
              <a:t>0.6</a:t>
            </a:r>
            <a:r>
              <a:rPr lang="el-GR" altLang="zh-CN" sz="1800" dirty="0"/>
              <a:t> μ</a:t>
            </a:r>
            <a:r>
              <a:rPr lang="en-US" altLang="zh-CN" sz="1800" dirty="0"/>
              <a:t>V/˚C</a:t>
            </a:r>
            <a:r>
              <a:rPr lang="zh-CN" altLang="en-US" sz="1800" dirty="0"/>
              <a:t>，共模抑制比大于</a:t>
            </a:r>
            <a:r>
              <a:rPr lang="en-US" altLang="zh-CN" sz="1800" dirty="0"/>
              <a:t>100dB</a:t>
            </a:r>
            <a:r>
              <a:rPr lang="zh-CN" altLang="en-US" sz="1800" dirty="0"/>
              <a:t>，增益</a:t>
            </a:r>
            <a:r>
              <a:rPr lang="en-US" altLang="zh-CN" sz="1800" dirty="0"/>
              <a:t>1~1000</a:t>
            </a:r>
            <a:r>
              <a:rPr lang="zh-CN" altLang="en-US" sz="1800" dirty="0"/>
              <a:t>可通过外部电阻设置，电源电压</a:t>
            </a:r>
            <a:r>
              <a:rPr lang="en-US" altLang="zh-CN" sz="1800" dirty="0">
                <a:latin typeface="+mj-lt"/>
                <a:cs typeface="Times New Roman" panose="02020603050405020304" pitchFamily="18" charset="0"/>
              </a:rPr>
              <a:t>±2.3V~±18V</a:t>
            </a:r>
            <a:r>
              <a:rPr lang="zh-CN" altLang="en-US" sz="1800" dirty="0" smtClean="0">
                <a:latin typeface="+mj-lt"/>
                <a:cs typeface="Times New Roman" panose="02020603050405020304" pitchFamily="18" charset="0"/>
              </a:rPr>
              <a:t>。</a:t>
            </a:r>
            <a:endParaRPr lang="en-US" altLang="zh-CN" sz="1800" dirty="0"/>
          </a:p>
        </p:txBody>
      </p:sp>
      <p:pic>
        <p:nvPicPr>
          <p:cNvPr id="5" name="图片 4"/>
          <p:cNvPicPr>
            <a:picLocks noChangeAspect="1"/>
          </p:cNvPicPr>
          <p:nvPr/>
        </p:nvPicPr>
        <p:blipFill>
          <a:blip r:embed="rId2"/>
          <a:stretch>
            <a:fillRect/>
          </a:stretch>
        </p:blipFill>
        <p:spPr>
          <a:xfrm>
            <a:off x="471714" y="2016096"/>
            <a:ext cx="4989883" cy="4095831"/>
          </a:xfrm>
          <a:prstGeom prst="rect">
            <a:avLst/>
          </a:prstGeom>
        </p:spPr>
      </p:pic>
      <p:pic>
        <p:nvPicPr>
          <p:cNvPr id="7" name="图片 6"/>
          <p:cNvPicPr>
            <a:picLocks noChangeAspect="1"/>
          </p:cNvPicPr>
          <p:nvPr/>
        </p:nvPicPr>
        <p:blipFill>
          <a:blip r:embed="rId3"/>
          <a:stretch>
            <a:fillRect/>
          </a:stretch>
        </p:blipFill>
        <p:spPr>
          <a:xfrm>
            <a:off x="5350285" y="2022766"/>
            <a:ext cx="5278724" cy="3414789"/>
          </a:xfrm>
          <a:prstGeom prst="rect">
            <a:avLst/>
          </a:prstGeom>
        </p:spPr>
      </p:pic>
      <p:pic>
        <p:nvPicPr>
          <p:cNvPr id="8" name="图片 7"/>
          <p:cNvPicPr>
            <a:picLocks noChangeAspect="1"/>
          </p:cNvPicPr>
          <p:nvPr/>
        </p:nvPicPr>
        <p:blipFill>
          <a:blip r:embed="rId4"/>
          <a:stretch>
            <a:fillRect/>
          </a:stretch>
        </p:blipFill>
        <p:spPr>
          <a:xfrm>
            <a:off x="6876770" y="5437555"/>
            <a:ext cx="1795516" cy="674372"/>
          </a:xfrm>
          <a:prstGeom prst="rect">
            <a:avLst/>
          </a:prstGeom>
        </p:spPr>
      </p:pic>
      <p:pic>
        <p:nvPicPr>
          <p:cNvPr id="9" name="图片 8"/>
          <p:cNvPicPr>
            <a:picLocks noChangeAspect="1"/>
          </p:cNvPicPr>
          <p:nvPr/>
        </p:nvPicPr>
        <p:blipFill>
          <a:blip r:embed="rId5"/>
          <a:stretch>
            <a:fillRect/>
          </a:stretch>
        </p:blipFill>
        <p:spPr>
          <a:xfrm>
            <a:off x="9405257" y="4700485"/>
            <a:ext cx="2315028" cy="1411442"/>
          </a:xfrm>
          <a:prstGeom prst="rect">
            <a:avLst/>
          </a:prstGeom>
        </p:spPr>
      </p:pic>
    </p:spTree>
    <p:extLst>
      <p:ext uri="{BB962C8B-B14F-4D97-AF65-F5344CB8AC3E}">
        <p14:creationId xmlns:p14="http://schemas.microsoft.com/office/powerpoint/2010/main" val="27829369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6" name="文本框 5"/>
          <p:cNvSpPr txBox="1"/>
          <p:nvPr/>
        </p:nvSpPr>
        <p:spPr>
          <a:xfrm>
            <a:off x="464457" y="506538"/>
            <a:ext cx="11277600" cy="872739"/>
          </a:xfrm>
          <a:prstGeom prst="rect">
            <a:avLst/>
          </a:prstGeom>
          <a:noFill/>
        </p:spPr>
        <p:txBody>
          <a:bodyPr wrap="square" rtlCol="0">
            <a:spAutoFit/>
          </a:bodyPr>
          <a:lstStyle/>
          <a:p>
            <a:pPr indent="457189">
              <a:lnSpc>
                <a:spcPct val="150000"/>
              </a:lnSpc>
            </a:pPr>
            <a:r>
              <a:rPr lang="en-US" altLang="zh-CN" sz="1800" dirty="0" smtClean="0"/>
              <a:t>INA188</a:t>
            </a:r>
            <a:r>
              <a:rPr lang="zh-CN" altLang="en-US" sz="1800" dirty="0"/>
              <a:t>，输入噪声</a:t>
            </a:r>
            <a:r>
              <a:rPr lang="en-US" altLang="zh-CN" sz="1800" dirty="0"/>
              <a:t>12nV/√Hz</a:t>
            </a:r>
            <a:r>
              <a:rPr lang="zh-CN" altLang="en-US" sz="1800" dirty="0"/>
              <a:t>，输入失调电压</a:t>
            </a:r>
            <a:r>
              <a:rPr lang="en-US" altLang="zh-CN" sz="1800" dirty="0"/>
              <a:t>55</a:t>
            </a:r>
            <a:r>
              <a:rPr lang="el-GR" altLang="zh-CN" sz="1800" dirty="0"/>
              <a:t>μ</a:t>
            </a:r>
            <a:r>
              <a:rPr lang="en-US" altLang="zh-CN" sz="1800" dirty="0"/>
              <a:t>V</a:t>
            </a:r>
            <a:r>
              <a:rPr lang="zh-CN" altLang="en-US" sz="1800" dirty="0"/>
              <a:t>，失调温漂</a:t>
            </a:r>
            <a:r>
              <a:rPr lang="en-US" altLang="zh-CN" sz="1800" dirty="0"/>
              <a:t>0.2</a:t>
            </a:r>
            <a:r>
              <a:rPr lang="el-GR" altLang="zh-CN" sz="1800" dirty="0"/>
              <a:t> μ</a:t>
            </a:r>
            <a:r>
              <a:rPr lang="en-US" altLang="zh-CN" sz="1800" dirty="0"/>
              <a:t>V/˚C</a:t>
            </a:r>
            <a:r>
              <a:rPr lang="zh-CN" altLang="en-US" sz="1800" dirty="0"/>
              <a:t>，共模抑制比大于</a:t>
            </a:r>
            <a:r>
              <a:rPr lang="en-US" altLang="zh-CN" sz="1800" dirty="0"/>
              <a:t>104dB</a:t>
            </a:r>
            <a:r>
              <a:rPr lang="zh-CN" altLang="en-US" sz="1800" dirty="0"/>
              <a:t>，增益</a:t>
            </a:r>
            <a:r>
              <a:rPr lang="en-US" altLang="zh-CN" sz="1800" dirty="0"/>
              <a:t>1~1000</a:t>
            </a:r>
            <a:r>
              <a:rPr lang="zh-CN" altLang="en-US" sz="1800" dirty="0"/>
              <a:t>可通过外部电阻设置，电源电压</a:t>
            </a:r>
            <a:r>
              <a:rPr lang="en-US" altLang="zh-CN" sz="1800" dirty="0">
                <a:cs typeface="Times New Roman" panose="02020603050405020304" pitchFamily="18" charset="0"/>
              </a:rPr>
              <a:t>±2V~±18V</a:t>
            </a:r>
            <a:r>
              <a:rPr lang="zh-CN" altLang="en-US" sz="1800" dirty="0" smtClean="0">
                <a:cs typeface="Times New Roman" panose="02020603050405020304" pitchFamily="18" charset="0"/>
              </a:rPr>
              <a:t>。</a:t>
            </a:r>
            <a:endParaRPr lang="en-US" altLang="zh-CN" sz="1800" dirty="0"/>
          </a:p>
        </p:txBody>
      </p:sp>
      <p:pic>
        <p:nvPicPr>
          <p:cNvPr id="5" name="图片 4"/>
          <p:cNvPicPr>
            <a:picLocks noChangeAspect="1"/>
          </p:cNvPicPr>
          <p:nvPr/>
        </p:nvPicPr>
        <p:blipFill>
          <a:blip r:embed="rId2"/>
          <a:stretch>
            <a:fillRect/>
          </a:stretch>
        </p:blipFill>
        <p:spPr>
          <a:xfrm>
            <a:off x="464457" y="1447799"/>
            <a:ext cx="4098133" cy="4817104"/>
          </a:xfrm>
          <a:prstGeom prst="rect">
            <a:avLst/>
          </a:prstGeom>
        </p:spPr>
      </p:pic>
      <p:pic>
        <p:nvPicPr>
          <p:cNvPr id="7" name="图片 6"/>
          <p:cNvPicPr>
            <a:picLocks noChangeAspect="1"/>
          </p:cNvPicPr>
          <p:nvPr/>
        </p:nvPicPr>
        <p:blipFill>
          <a:blip r:embed="rId3"/>
          <a:stretch>
            <a:fillRect/>
          </a:stretch>
        </p:blipFill>
        <p:spPr>
          <a:xfrm>
            <a:off x="4453255" y="1428836"/>
            <a:ext cx="5699488" cy="4258958"/>
          </a:xfrm>
          <a:prstGeom prst="rect">
            <a:avLst/>
          </a:prstGeom>
        </p:spPr>
      </p:pic>
      <p:pic>
        <p:nvPicPr>
          <p:cNvPr id="8" name="图片 7"/>
          <p:cNvPicPr>
            <a:picLocks noChangeAspect="1"/>
          </p:cNvPicPr>
          <p:nvPr/>
        </p:nvPicPr>
        <p:blipFill>
          <a:blip r:embed="rId4"/>
          <a:stretch>
            <a:fillRect/>
          </a:stretch>
        </p:blipFill>
        <p:spPr>
          <a:xfrm>
            <a:off x="9463314" y="5071259"/>
            <a:ext cx="2278743" cy="1213609"/>
          </a:xfrm>
          <a:prstGeom prst="rect">
            <a:avLst/>
          </a:prstGeom>
        </p:spPr>
      </p:pic>
    </p:spTree>
    <p:extLst>
      <p:ext uri="{BB962C8B-B14F-4D97-AF65-F5344CB8AC3E}">
        <p14:creationId xmlns:p14="http://schemas.microsoft.com/office/powerpoint/2010/main" val="24133983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6" name="文本框 5"/>
          <p:cNvSpPr txBox="1"/>
          <p:nvPr/>
        </p:nvSpPr>
        <p:spPr>
          <a:xfrm>
            <a:off x="449943" y="568143"/>
            <a:ext cx="3918857" cy="5078313"/>
          </a:xfrm>
          <a:prstGeom prst="rect">
            <a:avLst/>
          </a:prstGeom>
          <a:noFill/>
        </p:spPr>
        <p:txBody>
          <a:bodyPr wrap="square" rtlCol="0">
            <a:spAutoFit/>
          </a:bodyPr>
          <a:lstStyle/>
          <a:p>
            <a:pPr indent="457189">
              <a:lnSpc>
                <a:spcPct val="150000"/>
              </a:lnSpc>
            </a:pPr>
            <a:r>
              <a:rPr lang="zh-CN" altLang="en-US" sz="1800" dirty="0" smtClean="0"/>
              <a:t>选用</a:t>
            </a:r>
            <a:r>
              <a:rPr lang="zh-CN" altLang="en-US" sz="1800" dirty="0"/>
              <a:t>三运放结构时，运放的选择</a:t>
            </a:r>
            <a:r>
              <a:rPr lang="zh-CN" altLang="en-US" sz="1800" dirty="0" smtClean="0"/>
              <a:t>原则亦应从低输入</a:t>
            </a:r>
            <a:r>
              <a:rPr lang="zh-CN" altLang="en-US" sz="1800" dirty="0"/>
              <a:t>噪声</a:t>
            </a:r>
            <a:r>
              <a:rPr lang="zh-CN" altLang="en-US" sz="1800" dirty="0" smtClean="0"/>
              <a:t>、低输入</a:t>
            </a:r>
            <a:r>
              <a:rPr lang="zh-CN" altLang="en-US" sz="1800" dirty="0"/>
              <a:t>失调与失调</a:t>
            </a:r>
            <a:r>
              <a:rPr lang="zh-CN" altLang="en-US" sz="1800" dirty="0" smtClean="0"/>
              <a:t>漂移、高共模抑制比、电源电压能够满足输出动态范围要求等方面进行考虑。</a:t>
            </a:r>
            <a:r>
              <a:rPr lang="zh-CN" altLang="en-US" sz="1800" dirty="0"/>
              <a:t>由于本题的信号频率为</a:t>
            </a:r>
            <a:r>
              <a:rPr lang="en-US" altLang="zh-CN" sz="1800" dirty="0"/>
              <a:t>1kHz</a:t>
            </a:r>
            <a:r>
              <a:rPr lang="zh-CN" altLang="en-US" sz="1800" dirty="0"/>
              <a:t>左右，相对来说很低，所以放大器的频响、压摆率等参数可以忽略。</a:t>
            </a:r>
            <a:endParaRPr lang="en-US" altLang="zh-CN" sz="1800" dirty="0"/>
          </a:p>
          <a:p>
            <a:pPr indent="457189">
              <a:lnSpc>
                <a:spcPct val="150000"/>
              </a:lnSpc>
            </a:pPr>
            <a:r>
              <a:rPr lang="zh-CN" altLang="en-US" sz="1800" dirty="0" smtClean="0"/>
              <a:t>例如</a:t>
            </a:r>
            <a:r>
              <a:rPr lang="zh-CN" altLang="en-US" sz="1800" dirty="0"/>
              <a:t>可选精密运放</a:t>
            </a:r>
            <a:r>
              <a:rPr lang="en-US" altLang="zh-CN" sz="1800" dirty="0"/>
              <a:t>OP27</a:t>
            </a:r>
            <a:r>
              <a:rPr lang="zh-CN" altLang="en-US" sz="1800" dirty="0"/>
              <a:t>，其参数为：输入噪声</a:t>
            </a:r>
            <a:r>
              <a:rPr lang="en-US" altLang="zh-CN" sz="1800" dirty="0"/>
              <a:t>3nV/√Hz</a:t>
            </a:r>
            <a:r>
              <a:rPr lang="zh-CN" altLang="en-US" sz="1800" dirty="0"/>
              <a:t>，输入失调电压</a:t>
            </a:r>
            <a:r>
              <a:rPr lang="en-US" altLang="zh-CN" sz="1800" dirty="0"/>
              <a:t>10</a:t>
            </a:r>
            <a:r>
              <a:rPr lang="el-GR" altLang="zh-CN" sz="1800" dirty="0"/>
              <a:t>μ</a:t>
            </a:r>
            <a:r>
              <a:rPr lang="en-US" altLang="zh-CN" sz="1800" dirty="0"/>
              <a:t>V</a:t>
            </a:r>
            <a:r>
              <a:rPr lang="zh-CN" altLang="en-US" sz="1800" dirty="0"/>
              <a:t>，失调温漂</a:t>
            </a:r>
            <a:r>
              <a:rPr lang="en-US" altLang="zh-CN" sz="1800" dirty="0"/>
              <a:t>0.2</a:t>
            </a:r>
            <a:r>
              <a:rPr lang="el-GR" altLang="zh-CN" sz="1800" dirty="0"/>
              <a:t> μ</a:t>
            </a:r>
            <a:r>
              <a:rPr lang="en-US" altLang="zh-CN" sz="1800" dirty="0"/>
              <a:t>V/˚C</a:t>
            </a:r>
            <a:r>
              <a:rPr lang="zh-CN" altLang="en-US" sz="1800" dirty="0"/>
              <a:t>，共模抑制比大于</a:t>
            </a:r>
            <a:r>
              <a:rPr lang="en-US" altLang="zh-CN" sz="1800" dirty="0"/>
              <a:t>126dB</a:t>
            </a:r>
            <a:r>
              <a:rPr lang="zh-CN" altLang="en-US" sz="1800" dirty="0"/>
              <a:t>，最高电源电压</a:t>
            </a:r>
            <a:r>
              <a:rPr lang="en-US" altLang="zh-CN" sz="1800" dirty="0">
                <a:cs typeface="Times New Roman" panose="02020603050405020304" pitchFamily="18" charset="0"/>
              </a:rPr>
              <a:t>±22V</a:t>
            </a:r>
            <a:r>
              <a:rPr lang="zh-CN" altLang="en-US" sz="1800" dirty="0" smtClean="0">
                <a:cs typeface="Times New Roman" panose="02020603050405020304" pitchFamily="18" charset="0"/>
              </a:rPr>
              <a:t>。</a:t>
            </a:r>
            <a:endParaRPr lang="en-US" altLang="zh-CN" sz="1100" dirty="0"/>
          </a:p>
        </p:txBody>
      </p:sp>
      <p:pic>
        <p:nvPicPr>
          <p:cNvPr id="7" name="图片 6"/>
          <p:cNvPicPr>
            <a:picLocks noChangeAspect="1"/>
          </p:cNvPicPr>
          <p:nvPr/>
        </p:nvPicPr>
        <p:blipFill>
          <a:blip r:embed="rId2"/>
          <a:stretch>
            <a:fillRect/>
          </a:stretch>
        </p:blipFill>
        <p:spPr>
          <a:xfrm>
            <a:off x="4593771" y="568143"/>
            <a:ext cx="7075643" cy="5839914"/>
          </a:xfrm>
          <a:prstGeom prst="rect">
            <a:avLst/>
          </a:prstGeom>
        </p:spPr>
      </p:pic>
    </p:spTree>
    <p:extLst>
      <p:ext uri="{BB962C8B-B14F-4D97-AF65-F5344CB8AC3E}">
        <p14:creationId xmlns:p14="http://schemas.microsoft.com/office/powerpoint/2010/main" val="3358124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500743" y="506539"/>
            <a:ext cx="11176000" cy="1703030"/>
          </a:xfrm>
          <a:prstGeom prst="rect">
            <a:avLst/>
          </a:prstGeom>
          <a:noFill/>
        </p:spPr>
        <p:txBody>
          <a:bodyPr wrap="square" rtlCol="0">
            <a:spAutoFit/>
          </a:bodyPr>
          <a:lstStyle/>
          <a:p>
            <a:pPr indent="457189">
              <a:lnSpc>
                <a:spcPct val="150000"/>
              </a:lnSpc>
            </a:pPr>
            <a:r>
              <a:rPr lang="zh-CN" altLang="en-US" sz="1800" dirty="0" smtClean="0"/>
              <a:t>但是</a:t>
            </a:r>
            <a:r>
              <a:rPr lang="zh-CN" altLang="en-US" sz="1800" dirty="0"/>
              <a:t>，三运放结构电路的</a:t>
            </a:r>
            <a:r>
              <a:rPr lang="en-US" altLang="zh-CN" sz="1800" dirty="0"/>
              <a:t>CMRR</a:t>
            </a:r>
            <a:r>
              <a:rPr lang="zh-CN" altLang="en-US" sz="1800" dirty="0"/>
              <a:t>不仅与运放的</a:t>
            </a:r>
            <a:r>
              <a:rPr lang="en-US" altLang="zh-CN" sz="1800" dirty="0"/>
              <a:t>CMRR</a:t>
            </a:r>
            <a:r>
              <a:rPr lang="zh-CN" altLang="en-US" sz="1800" dirty="0"/>
              <a:t>有关，还与其中电阻的匹配程度关系极大，所以在这种电路中要选用高精度电阻，还要仔细调整。而集成仪表放大器芯片内部的电阻经过激光修正，其</a:t>
            </a:r>
            <a:r>
              <a:rPr lang="en-US" altLang="zh-CN" sz="1800" dirty="0"/>
              <a:t>CMRR</a:t>
            </a:r>
            <a:r>
              <a:rPr lang="zh-CN" altLang="en-US" sz="1800" dirty="0"/>
              <a:t>有较好的保证</a:t>
            </a:r>
            <a:r>
              <a:rPr lang="zh-CN" altLang="en-US" sz="1800" dirty="0" smtClean="0"/>
              <a:t>。所以通常以使用集成仪表放大器为主。</a:t>
            </a:r>
            <a:endParaRPr lang="en-US" altLang="zh-CN" sz="1800" dirty="0" smtClean="0"/>
          </a:p>
          <a:p>
            <a:pPr indent="457189">
              <a:lnSpc>
                <a:spcPct val="150000"/>
              </a:lnSpc>
            </a:pPr>
            <a:r>
              <a:rPr lang="zh-CN" altLang="en-US" sz="1800" dirty="0"/>
              <a:t>三运</a:t>
            </a:r>
            <a:r>
              <a:rPr lang="zh-CN" altLang="en-US" sz="1800" dirty="0" smtClean="0"/>
              <a:t>放电路的优点是容易构成增益可变的仪表放大器。</a:t>
            </a:r>
            <a:endParaRPr lang="en-US" altLang="zh-CN" sz="1800" dirty="0"/>
          </a:p>
        </p:txBody>
      </p:sp>
      <p:pic>
        <p:nvPicPr>
          <p:cNvPr id="6" name="图片 5"/>
          <p:cNvPicPr>
            <a:picLocks noChangeAspect="1"/>
          </p:cNvPicPr>
          <p:nvPr/>
        </p:nvPicPr>
        <p:blipFill>
          <a:blip r:embed="rId2"/>
          <a:stretch>
            <a:fillRect/>
          </a:stretch>
        </p:blipFill>
        <p:spPr>
          <a:xfrm>
            <a:off x="1687288" y="2412092"/>
            <a:ext cx="4977800" cy="3691165"/>
          </a:xfrm>
          <a:prstGeom prst="rect">
            <a:avLst/>
          </a:prstGeom>
        </p:spPr>
      </p:pic>
      <p:sp>
        <p:nvSpPr>
          <p:cNvPr id="8" name="文本框 7"/>
          <p:cNvSpPr txBox="1"/>
          <p:nvPr/>
        </p:nvSpPr>
        <p:spPr>
          <a:xfrm>
            <a:off x="7039430" y="3062514"/>
            <a:ext cx="4521200" cy="1754326"/>
          </a:xfrm>
          <a:prstGeom prst="rect">
            <a:avLst/>
          </a:prstGeom>
          <a:noFill/>
        </p:spPr>
        <p:txBody>
          <a:bodyPr wrap="square" rtlCol="0">
            <a:spAutoFit/>
          </a:bodyPr>
          <a:lstStyle/>
          <a:p>
            <a:pPr>
              <a:lnSpc>
                <a:spcPct val="150000"/>
              </a:lnSpc>
            </a:pPr>
            <a:r>
              <a:rPr lang="zh-CN" altLang="en-US" sz="1800" dirty="0" smtClean="0">
                <a:latin typeface="楷体" panose="02010609060101010101" pitchFamily="49" charset="-122"/>
                <a:ea typeface="楷体" panose="02010609060101010101" pitchFamily="49" charset="-122"/>
              </a:rPr>
              <a:t>注意模拟开关的接法</a:t>
            </a:r>
            <a:endParaRPr lang="en-US" altLang="zh-CN" sz="1800" dirty="0" smtClean="0">
              <a:latin typeface="楷体" panose="02010609060101010101" pitchFamily="49" charset="-122"/>
              <a:ea typeface="楷体" panose="02010609060101010101" pitchFamily="49" charset="-122"/>
            </a:endParaRPr>
          </a:p>
          <a:p>
            <a:pPr>
              <a:lnSpc>
                <a:spcPct val="150000"/>
              </a:lnSpc>
            </a:pPr>
            <a:r>
              <a:rPr lang="zh-CN" altLang="en-US" sz="1800" dirty="0" smtClean="0">
                <a:latin typeface="楷体" panose="02010609060101010101" pitchFamily="49" charset="-122"/>
                <a:ea typeface="楷体" panose="02010609060101010101" pitchFamily="49" charset="-122"/>
              </a:rPr>
              <a:t>这种接法中，由于运放的高输入阻抗特性，在模拟开关中的电流几乎为</a:t>
            </a:r>
            <a:r>
              <a:rPr lang="en-US" altLang="zh-CN" sz="1800" dirty="0" smtClean="0">
                <a:latin typeface="楷体" panose="02010609060101010101" pitchFamily="49" charset="-122"/>
                <a:ea typeface="楷体" panose="02010609060101010101" pitchFamily="49" charset="-122"/>
              </a:rPr>
              <a:t>0</a:t>
            </a:r>
            <a:r>
              <a:rPr lang="zh-CN" altLang="en-US" sz="1800" dirty="0" smtClean="0">
                <a:latin typeface="楷体" panose="02010609060101010101" pitchFamily="49" charset="-122"/>
                <a:ea typeface="楷体" panose="02010609060101010101" pitchFamily="49" charset="-122"/>
              </a:rPr>
              <a:t>，所以模拟开关的内阻不会对测量结果造成影响</a:t>
            </a:r>
            <a:endParaRPr lang="zh-CN" altLang="en-US"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779056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57200" y="453531"/>
            <a:ext cx="11277599" cy="872739"/>
          </a:xfrm>
          <a:prstGeom prst="rect">
            <a:avLst/>
          </a:prstGeom>
          <a:noFill/>
        </p:spPr>
        <p:txBody>
          <a:bodyPr wrap="square" rtlCol="0">
            <a:spAutoFit/>
          </a:bodyPr>
          <a:lstStyle/>
          <a:p>
            <a:pPr marL="285744" indent="-285744">
              <a:lnSpc>
                <a:spcPct val="150000"/>
              </a:lnSpc>
              <a:buFont typeface="Arial" panose="020B0604020202020204" pitchFamily="34" charset="0"/>
              <a:buChar char="•"/>
            </a:pPr>
            <a:r>
              <a:rPr lang="zh-CN" altLang="en-US" sz="1800" dirty="0">
                <a:latin typeface="+mj-ea"/>
                <a:ea typeface="+mj-ea"/>
              </a:rPr>
              <a:t>带通滤波器</a:t>
            </a:r>
            <a:endParaRPr lang="en-US" altLang="zh-CN" sz="1800" dirty="0">
              <a:latin typeface="+mj-ea"/>
              <a:ea typeface="+mj-ea"/>
            </a:endParaRPr>
          </a:p>
          <a:p>
            <a:pPr indent="457189">
              <a:lnSpc>
                <a:spcPct val="150000"/>
              </a:lnSpc>
            </a:pPr>
            <a:r>
              <a:rPr lang="zh-CN" altLang="en-US" sz="1800" dirty="0"/>
              <a:t>此题要求的</a:t>
            </a:r>
            <a:r>
              <a:rPr lang="zh-CN" altLang="zh-CN" sz="1800" dirty="0"/>
              <a:t>带通滤波器</a:t>
            </a:r>
            <a:r>
              <a:rPr lang="zh-CN" altLang="en-US" sz="1800" dirty="0"/>
              <a:t>是一个点通滤波器，</a:t>
            </a:r>
            <a:r>
              <a:rPr lang="zh-CN" altLang="zh-CN" sz="1800" dirty="0"/>
              <a:t>可以采用任意一种有源</a:t>
            </a:r>
            <a:r>
              <a:rPr lang="zh-CN" altLang="en-US" sz="1800" dirty="0"/>
              <a:t>带通</a:t>
            </a:r>
            <a:r>
              <a:rPr lang="zh-CN" altLang="zh-CN" sz="1800" dirty="0"/>
              <a:t>滤波器</a:t>
            </a:r>
            <a:r>
              <a:rPr lang="zh-CN" altLang="en-US" sz="1800" dirty="0"/>
              <a:t>。一种实用的电路如下：</a:t>
            </a:r>
            <a:endParaRPr lang="en-US" altLang="zh-CN" sz="1800" dirty="0"/>
          </a:p>
        </p:txBody>
      </p:sp>
      <p:graphicFrame>
        <p:nvGraphicFramePr>
          <p:cNvPr id="9" name="对象 8"/>
          <p:cNvGraphicFramePr>
            <a:graphicFrameLocks noChangeAspect="1"/>
          </p:cNvGraphicFramePr>
          <p:nvPr>
            <p:extLst>
              <p:ext uri="{D42A27DB-BD31-4B8C-83A1-F6EECF244321}">
                <p14:modId xmlns:p14="http://schemas.microsoft.com/office/powerpoint/2010/main" val="520461978"/>
              </p:ext>
            </p:extLst>
          </p:nvPr>
        </p:nvGraphicFramePr>
        <p:xfrm>
          <a:off x="2345027" y="1494802"/>
          <a:ext cx="2063992" cy="2301729"/>
        </p:xfrm>
        <a:graphic>
          <a:graphicData uri="http://schemas.openxmlformats.org/presentationml/2006/ole">
            <mc:AlternateContent xmlns:mc="http://schemas.openxmlformats.org/markup-compatibility/2006">
              <mc:Choice xmlns:v="urn:schemas-microsoft-com:vml" Requires="v">
                <p:oleObj spid="_x0000_s2387" name="Equation" r:id="rId3" imgW="1231560" imgH="1333440" progId="Equation.DSMT4">
                  <p:embed/>
                </p:oleObj>
              </mc:Choice>
              <mc:Fallback>
                <p:oleObj name="Equation" r:id="rId3" imgW="1231560" imgH="1333440" progId="Equation.DSMT4">
                  <p:embed/>
                  <p:pic>
                    <p:nvPicPr>
                      <p:cNvPr id="0" name="Object 3"/>
                      <p:cNvPicPr>
                        <a:picLocks noChangeAspect="1" noChangeArrowheads="1"/>
                      </p:cNvPicPr>
                      <p:nvPr/>
                    </p:nvPicPr>
                    <p:blipFill>
                      <a:blip r:embed="rId4"/>
                      <a:srcRect/>
                      <a:stretch>
                        <a:fillRect/>
                      </a:stretch>
                    </p:blipFill>
                    <p:spPr bwMode="auto">
                      <a:xfrm>
                        <a:off x="2345027" y="1494802"/>
                        <a:ext cx="2063992" cy="2301729"/>
                      </a:xfrm>
                      <a:prstGeom prst="rect">
                        <a:avLst/>
                      </a:prstGeom>
                      <a:noFill/>
                    </p:spPr>
                  </p:pic>
                </p:oleObj>
              </mc:Fallback>
            </mc:AlternateContent>
          </a:graphicData>
        </a:graphic>
      </p:graphicFrame>
      <p:sp>
        <p:nvSpPr>
          <p:cNvPr id="10" name="文本框 9"/>
          <p:cNvSpPr txBox="1"/>
          <p:nvPr/>
        </p:nvSpPr>
        <p:spPr>
          <a:xfrm>
            <a:off x="457200" y="3796531"/>
            <a:ext cx="9868734" cy="1754326"/>
          </a:xfrm>
          <a:prstGeom prst="rect">
            <a:avLst/>
          </a:prstGeom>
          <a:noFill/>
        </p:spPr>
        <p:txBody>
          <a:bodyPr wrap="square" rtlCol="0">
            <a:spAutoFit/>
          </a:bodyPr>
          <a:lstStyle/>
          <a:p>
            <a:pPr>
              <a:lnSpc>
                <a:spcPct val="150000"/>
              </a:lnSpc>
            </a:pPr>
            <a:r>
              <a:rPr lang="zh-CN" altLang="zh-CN" sz="1800" dirty="0"/>
              <a:t>通常在这个电路中令</a:t>
            </a:r>
            <a:r>
              <a:rPr lang="en-US" altLang="zh-CN" sz="1800" i="1" dirty="0"/>
              <a:t>R</a:t>
            </a:r>
            <a:r>
              <a:rPr lang="en-US" altLang="zh-CN" sz="1800" baseline="-25000" dirty="0"/>
              <a:t>2</a:t>
            </a:r>
            <a:r>
              <a:rPr lang="en-US" altLang="zh-CN" sz="1800" dirty="0"/>
              <a:t>=</a:t>
            </a:r>
            <a:r>
              <a:rPr lang="en-US" altLang="zh-CN" sz="1800" i="1" dirty="0"/>
              <a:t>R</a:t>
            </a:r>
            <a:r>
              <a:rPr lang="en-US" altLang="zh-CN" sz="1800" baseline="-25000" dirty="0"/>
              <a:t>3</a:t>
            </a:r>
            <a:r>
              <a:rPr lang="en-US" altLang="zh-CN" sz="1800" dirty="0"/>
              <a:t>=</a:t>
            </a:r>
            <a:r>
              <a:rPr lang="en-US" altLang="zh-CN" sz="1800" i="1" dirty="0"/>
              <a:t>R</a:t>
            </a:r>
            <a:r>
              <a:rPr lang="zh-CN" altLang="zh-CN" sz="1800" dirty="0"/>
              <a:t>、</a:t>
            </a:r>
            <a:r>
              <a:rPr lang="en-US" altLang="zh-CN" sz="1800" i="1" dirty="0"/>
              <a:t>C</a:t>
            </a:r>
            <a:r>
              <a:rPr lang="en-US" altLang="zh-CN" sz="1800" baseline="-25000" dirty="0"/>
              <a:t>1</a:t>
            </a:r>
            <a:r>
              <a:rPr lang="en-US" altLang="zh-CN" sz="1800" dirty="0"/>
              <a:t>=</a:t>
            </a:r>
            <a:r>
              <a:rPr lang="en-US" altLang="zh-CN" sz="1800" i="1" dirty="0"/>
              <a:t>C</a:t>
            </a:r>
            <a:r>
              <a:rPr lang="en-US" altLang="zh-CN" sz="1800" baseline="-25000" dirty="0"/>
              <a:t>2</a:t>
            </a:r>
            <a:r>
              <a:rPr lang="en-US" altLang="zh-CN" sz="1800" dirty="0"/>
              <a:t>=</a:t>
            </a:r>
            <a:r>
              <a:rPr lang="en-US" altLang="zh-CN" sz="1800" i="1" dirty="0"/>
              <a:t>C</a:t>
            </a:r>
            <a:r>
              <a:rPr lang="zh-CN" altLang="en-US" sz="1800" dirty="0"/>
              <a:t>、</a:t>
            </a:r>
            <a:r>
              <a:rPr lang="en-US" altLang="zh-CN" sz="1800" i="1" dirty="0"/>
              <a:t>R</a:t>
            </a:r>
            <a:r>
              <a:rPr lang="en-US" altLang="zh-CN" sz="1800" baseline="-25000" dirty="0"/>
              <a:t>4</a:t>
            </a:r>
            <a:r>
              <a:rPr lang="en-US" altLang="zh-CN" sz="1800" dirty="0"/>
              <a:t>=</a:t>
            </a:r>
            <a:r>
              <a:rPr lang="en-US" altLang="zh-CN" sz="1800" i="1" dirty="0"/>
              <a:t>R</a:t>
            </a:r>
            <a:r>
              <a:rPr lang="en-US" altLang="zh-CN" sz="1800" baseline="-25000" dirty="0"/>
              <a:t>5</a:t>
            </a:r>
            <a:r>
              <a:rPr lang="zh-CN" altLang="en-US" sz="1800" dirty="0"/>
              <a:t>，此时</a:t>
            </a:r>
            <a:r>
              <a:rPr lang="zh-CN" altLang="en-US" sz="1800" dirty="0" smtClean="0"/>
              <a:t>有</a:t>
            </a: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r>
              <a:rPr lang="zh-CN" altLang="en-US" sz="1800" dirty="0" smtClean="0"/>
              <a:t>例如对于本题，取</a:t>
            </a:r>
            <a:r>
              <a:rPr lang="en-US" altLang="zh-CN" sz="1800" dirty="0" smtClean="0"/>
              <a:t>C=1</a:t>
            </a:r>
            <a:r>
              <a:rPr lang="el-GR" altLang="zh-CN" sz="1800" dirty="0" smtClean="0"/>
              <a:t>μ</a:t>
            </a:r>
            <a:r>
              <a:rPr lang="en-US" altLang="zh-CN" sz="1800" dirty="0" smtClean="0"/>
              <a:t>F</a:t>
            </a:r>
            <a:r>
              <a:rPr lang="zh-CN" altLang="en-US" sz="1800" dirty="0" smtClean="0"/>
              <a:t>，</a:t>
            </a:r>
            <a:r>
              <a:rPr lang="en-US" altLang="zh-CN" sz="1800" dirty="0" smtClean="0"/>
              <a:t>R=160</a:t>
            </a:r>
            <a:r>
              <a:rPr lang="zh-CN" altLang="en-US" sz="1800" dirty="0" smtClean="0"/>
              <a:t>，</a:t>
            </a:r>
            <a:r>
              <a:rPr lang="en-US" altLang="zh-CN" sz="1800" dirty="0" smtClean="0"/>
              <a:t>R1=10k</a:t>
            </a:r>
            <a:r>
              <a:rPr lang="zh-CN" altLang="en-US" sz="1800" dirty="0" smtClean="0"/>
              <a:t>，则中心频率约为</a:t>
            </a:r>
            <a:r>
              <a:rPr lang="en-US" altLang="zh-CN" sz="1800" dirty="0" smtClean="0"/>
              <a:t>1kHz</a:t>
            </a:r>
            <a:r>
              <a:rPr lang="zh-CN" altLang="en-US" sz="1800" dirty="0" smtClean="0"/>
              <a:t>，</a:t>
            </a:r>
            <a:r>
              <a:rPr lang="en-US" altLang="zh-CN" sz="1800" dirty="0" smtClean="0"/>
              <a:t>Q</a:t>
            </a:r>
            <a:r>
              <a:rPr lang="en-US" altLang="zh-CN" sz="1800" dirty="0" smtClean="0">
                <a:latin typeface="宋体" panose="02010600030101010101" pitchFamily="2" charset="-122"/>
                <a:ea typeface="宋体" panose="02010600030101010101" pitchFamily="2" charset="-122"/>
              </a:rPr>
              <a:t>≈</a:t>
            </a:r>
            <a:r>
              <a:rPr lang="en-US" altLang="zh-CN" sz="1800" dirty="0" smtClean="0"/>
              <a:t>60</a:t>
            </a:r>
          </a:p>
        </p:txBody>
      </p:sp>
      <p:graphicFrame>
        <p:nvGraphicFramePr>
          <p:cNvPr id="11" name="对象 10"/>
          <p:cNvGraphicFramePr>
            <a:graphicFrameLocks noChangeAspect="1"/>
          </p:cNvGraphicFramePr>
          <p:nvPr>
            <p:extLst>
              <p:ext uri="{D42A27DB-BD31-4B8C-83A1-F6EECF244321}">
                <p14:modId xmlns:p14="http://schemas.microsoft.com/office/powerpoint/2010/main" val="3239620027"/>
              </p:ext>
            </p:extLst>
          </p:nvPr>
        </p:nvGraphicFramePr>
        <p:xfrm>
          <a:off x="2206685" y="4422077"/>
          <a:ext cx="894664" cy="621003"/>
        </p:xfrm>
        <a:graphic>
          <a:graphicData uri="http://schemas.openxmlformats.org/presentationml/2006/ole">
            <mc:AlternateContent xmlns:mc="http://schemas.openxmlformats.org/markup-compatibility/2006">
              <mc:Choice xmlns:v="urn:schemas-microsoft-com:vml" Requires="v">
                <p:oleObj spid="_x0000_s2388" name="Equation" r:id="rId5" imgW="545863" imgH="368140" progId="Equation.DSMT4">
                  <p:embed/>
                </p:oleObj>
              </mc:Choice>
              <mc:Fallback>
                <p:oleObj name="Equation" r:id="rId5" imgW="545863" imgH="36814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6685" y="4422077"/>
                        <a:ext cx="894664" cy="62100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608017847"/>
              </p:ext>
            </p:extLst>
          </p:nvPr>
        </p:nvGraphicFramePr>
        <p:xfrm>
          <a:off x="3537186" y="4439146"/>
          <a:ext cx="666437" cy="586863"/>
        </p:xfrm>
        <a:graphic>
          <a:graphicData uri="http://schemas.openxmlformats.org/presentationml/2006/ole">
            <mc:AlternateContent xmlns:mc="http://schemas.openxmlformats.org/markup-compatibility/2006">
              <mc:Choice xmlns:v="urn:schemas-microsoft-com:vml" Requires="v">
                <p:oleObj spid="_x0000_s2389" name="Equation" r:id="rId7" imgW="431613" imgH="368140" progId="Equation.DSMT4">
                  <p:embed/>
                </p:oleObj>
              </mc:Choice>
              <mc:Fallback>
                <p:oleObj name="Equation" r:id="rId7" imgW="431613" imgH="36814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7186" y="4439146"/>
                        <a:ext cx="666437" cy="586863"/>
                      </a:xfrm>
                      <a:prstGeom prst="rect">
                        <a:avLst/>
                      </a:prstGeom>
                      <a:noFill/>
                    </p:spPr>
                  </p:pic>
                </p:oleObj>
              </mc:Fallback>
            </mc:AlternateContent>
          </a:graphicData>
        </a:graphic>
      </p:graphicFrame>
      <p:sp>
        <p:nvSpPr>
          <p:cNvPr id="13" name="Rectangle 9"/>
          <p:cNvSpPr>
            <a:spLocks noChangeArrowheads="1"/>
          </p:cNvSpPr>
          <p:nvPr/>
        </p:nvSpPr>
        <p:spPr bwMode="auto">
          <a:xfrm>
            <a:off x="4639460" y="4533955"/>
            <a:ext cx="697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1800" baseline="-30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endParaRPr lang="zh-CN" altLang="en-US" sz="1800" dirty="0">
              <a:latin typeface="Arial" panose="020B0604020202020204" pitchFamily="34" charset="0"/>
            </a:endParaRPr>
          </a:p>
        </p:txBody>
      </p:sp>
      <p:sp>
        <p:nvSpPr>
          <p:cNvPr id="16" name="椭圆 15"/>
          <p:cNvSpPr/>
          <p:nvPr/>
        </p:nvSpPr>
        <p:spPr>
          <a:xfrm>
            <a:off x="7223009" y="1758379"/>
            <a:ext cx="2611631" cy="3256317"/>
          </a:xfrm>
          <a:prstGeom prst="ellipse">
            <a:avLst/>
          </a:prstGeom>
          <a:no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9155294" y="4074613"/>
            <a:ext cx="2565583" cy="369332"/>
          </a:xfrm>
          <a:prstGeom prst="rect">
            <a:avLst/>
          </a:prstGeom>
          <a:noFill/>
        </p:spPr>
        <p:txBody>
          <a:bodyPr wrap="square" rtlCol="0">
            <a:spAutoFit/>
          </a:bodyPr>
          <a:lstStyle/>
          <a:p>
            <a:r>
              <a:rPr lang="zh-CN" altLang="en-US" sz="1800" dirty="0"/>
              <a:t>等效电感</a:t>
            </a:r>
            <a:endParaRPr lang="en-US" altLang="zh-CN" sz="1800" dirty="0"/>
          </a:p>
        </p:txBody>
      </p:sp>
      <p:graphicFrame>
        <p:nvGraphicFramePr>
          <p:cNvPr id="18" name="对象 17"/>
          <p:cNvGraphicFramePr>
            <a:graphicFrameLocks noChangeAspect="1"/>
          </p:cNvGraphicFramePr>
          <p:nvPr>
            <p:extLst>
              <p:ext uri="{D42A27DB-BD31-4B8C-83A1-F6EECF244321}">
                <p14:modId xmlns:p14="http://schemas.microsoft.com/office/powerpoint/2010/main" val="3481823342"/>
              </p:ext>
            </p:extLst>
          </p:nvPr>
        </p:nvGraphicFramePr>
        <p:xfrm>
          <a:off x="10325934" y="3965063"/>
          <a:ext cx="1374775" cy="685800"/>
        </p:xfrm>
        <a:graphic>
          <a:graphicData uri="http://schemas.openxmlformats.org/presentationml/2006/ole">
            <mc:AlternateContent xmlns:mc="http://schemas.openxmlformats.org/markup-compatibility/2006">
              <mc:Choice xmlns:v="urn:schemas-microsoft-com:vml" Requires="v">
                <p:oleObj spid="_x0000_s2390" name="Equation" r:id="rId9" imgW="838080" imgH="406080" progId="Equation.DSMT4">
                  <p:embed/>
                </p:oleObj>
              </mc:Choice>
              <mc:Fallback>
                <p:oleObj name="Equation" r:id="rId9" imgW="838080" imgH="406080" progId="Equation.DSMT4">
                  <p:embed/>
                  <p:pic>
                    <p:nvPicPr>
                      <p:cNvPr id="11" name="对象 10"/>
                      <p:cNvPicPr>
                        <a:picLocks noChangeAspect="1" noChangeArrowheads="1"/>
                      </p:cNvPicPr>
                      <p:nvPr/>
                    </p:nvPicPr>
                    <p:blipFill>
                      <a:blip r:embed="rId10"/>
                      <a:srcRect/>
                      <a:stretch>
                        <a:fillRect/>
                      </a:stretch>
                    </p:blipFill>
                    <p:spPr bwMode="auto">
                      <a:xfrm>
                        <a:off x="10325934" y="3965063"/>
                        <a:ext cx="1374775" cy="685800"/>
                      </a:xfrm>
                      <a:prstGeom prst="rect">
                        <a:avLst/>
                      </a:prstGeom>
                      <a:noFill/>
                    </p:spPr>
                  </p:pic>
                </p:oleObj>
              </mc:Fallback>
            </mc:AlternateContent>
          </a:graphicData>
        </a:graphic>
      </p:graphicFrame>
      <p:pic>
        <p:nvPicPr>
          <p:cNvPr id="6" name="图片 5"/>
          <p:cNvPicPr>
            <a:picLocks noChangeAspect="1"/>
          </p:cNvPicPr>
          <p:nvPr/>
        </p:nvPicPr>
        <p:blipFill>
          <a:blip r:embed="rId11"/>
          <a:stretch>
            <a:fillRect/>
          </a:stretch>
        </p:blipFill>
        <p:spPr>
          <a:xfrm>
            <a:off x="5930540" y="1762991"/>
            <a:ext cx="4280508" cy="3146859"/>
          </a:xfrm>
          <a:prstGeom prst="rect">
            <a:avLst/>
          </a:prstGeom>
        </p:spPr>
      </p:pic>
    </p:spTree>
    <p:extLst>
      <p:ext uri="{BB962C8B-B14F-4D97-AF65-F5344CB8AC3E}">
        <p14:creationId xmlns:p14="http://schemas.microsoft.com/office/powerpoint/2010/main" val="343133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矩形 4"/>
          <p:cNvSpPr/>
          <p:nvPr/>
        </p:nvSpPr>
        <p:spPr>
          <a:xfrm>
            <a:off x="486229" y="513471"/>
            <a:ext cx="11110685" cy="1288238"/>
          </a:xfrm>
          <a:prstGeom prst="rect">
            <a:avLst/>
          </a:prstGeom>
        </p:spPr>
        <p:txBody>
          <a:bodyPr wrap="square">
            <a:spAutoFit/>
          </a:bodyPr>
          <a:lstStyle/>
          <a:p>
            <a:pPr indent="457189">
              <a:lnSpc>
                <a:spcPct val="150000"/>
              </a:lnSpc>
            </a:pPr>
            <a:r>
              <a:rPr lang="zh-CN" altLang="en-US" sz="1800" dirty="0"/>
              <a:t>为了得到较窄的带宽，带通滤波器应该具有较高的</a:t>
            </a:r>
            <a:r>
              <a:rPr lang="en-US" altLang="zh-CN" sz="1800" dirty="0"/>
              <a:t>Q</a:t>
            </a:r>
            <a:r>
              <a:rPr lang="zh-CN" altLang="en-US" sz="1800" dirty="0"/>
              <a:t>值。上述电路在选用合适的器件后，可达到的最大</a:t>
            </a:r>
            <a:r>
              <a:rPr lang="en-US" altLang="zh-CN" sz="1800" dirty="0"/>
              <a:t>Q</a:t>
            </a:r>
            <a:r>
              <a:rPr lang="zh-CN" altLang="en-US" sz="1800" dirty="0"/>
              <a:t>值大约在几十到一百左右。但是实际上要考虑器件参数的变化等因素，不宜将</a:t>
            </a:r>
            <a:r>
              <a:rPr lang="en-US" altLang="zh-CN" sz="1800" dirty="0"/>
              <a:t>Q</a:t>
            </a:r>
            <a:r>
              <a:rPr lang="zh-CN" altLang="en-US" sz="1800" dirty="0"/>
              <a:t>值取得太高，否则频带太窄，一旦发生频率漂移后将导致输出信号大幅度下降。</a:t>
            </a:r>
          </a:p>
        </p:txBody>
      </p:sp>
      <p:pic>
        <p:nvPicPr>
          <p:cNvPr id="6" name="图片 5"/>
          <p:cNvPicPr/>
          <p:nvPr/>
        </p:nvPicPr>
        <p:blipFill>
          <a:blip r:embed="rId3"/>
          <a:stretch>
            <a:fillRect/>
          </a:stretch>
        </p:blipFill>
        <p:spPr>
          <a:xfrm>
            <a:off x="6368519" y="1614769"/>
            <a:ext cx="4647824" cy="2681460"/>
          </a:xfrm>
          <a:prstGeom prst="rect">
            <a:avLst/>
          </a:prstGeom>
        </p:spPr>
      </p:pic>
      <p:sp>
        <p:nvSpPr>
          <p:cNvPr id="7" name="矩形 6"/>
          <p:cNvSpPr/>
          <p:nvPr/>
        </p:nvSpPr>
        <p:spPr>
          <a:xfrm>
            <a:off x="486229" y="1753024"/>
            <a:ext cx="5441489" cy="3000821"/>
          </a:xfrm>
          <a:prstGeom prst="rect">
            <a:avLst/>
          </a:prstGeom>
        </p:spPr>
        <p:txBody>
          <a:bodyPr wrap="square">
            <a:spAutoFit/>
          </a:bodyPr>
          <a:lstStyle/>
          <a:p>
            <a:pPr indent="457189">
              <a:lnSpc>
                <a:spcPct val="150000"/>
              </a:lnSpc>
            </a:pPr>
            <a:r>
              <a:rPr lang="zh-CN" altLang="en-US" sz="1800" dirty="0"/>
              <a:t>为了提高带通滤波器的矩形系数（提高阻带衰减率），</a:t>
            </a:r>
            <a:r>
              <a:rPr lang="zh-CN" altLang="zh-CN" sz="1800" dirty="0"/>
              <a:t>可以将相同</a:t>
            </a:r>
            <a:r>
              <a:rPr lang="zh-CN" altLang="zh-CN" sz="1800" dirty="0" smtClean="0"/>
              <a:t>的带通滤波器</a:t>
            </a:r>
            <a:r>
              <a:rPr lang="zh-CN" altLang="zh-CN" sz="1800" dirty="0"/>
              <a:t>串联以提高滤波器的矩形系数</a:t>
            </a:r>
            <a:r>
              <a:rPr lang="zh-CN" altLang="en-US" sz="1800" dirty="0"/>
              <a:t>。</a:t>
            </a:r>
            <a:r>
              <a:rPr lang="zh-CN" altLang="zh-CN" sz="1800" dirty="0"/>
              <a:t>以</a:t>
            </a:r>
            <a:r>
              <a:rPr lang="en-US" altLang="zh-CN" sz="1800" dirty="0"/>
              <a:t>2~3</a:t>
            </a:r>
            <a:r>
              <a:rPr lang="zh-CN" altLang="zh-CN" sz="1800" dirty="0"/>
              <a:t>级为佳，过多的级数并非有效</a:t>
            </a:r>
            <a:r>
              <a:rPr lang="zh-CN" altLang="en-US" sz="1800" dirty="0"/>
              <a:t>。图中蓝色是</a:t>
            </a:r>
            <a:r>
              <a:rPr lang="en-US" altLang="zh-CN" sz="1800" dirty="0"/>
              <a:t>1</a:t>
            </a:r>
            <a:r>
              <a:rPr lang="zh-CN" altLang="en-US" sz="1800" dirty="0"/>
              <a:t>级带通滤波器的幅频特性，红色是</a:t>
            </a:r>
            <a:r>
              <a:rPr lang="en-US" altLang="zh-CN" sz="1800" dirty="0"/>
              <a:t>3</a:t>
            </a:r>
            <a:r>
              <a:rPr lang="zh-CN" altLang="en-US" sz="1800" dirty="0"/>
              <a:t>级串联后的幅频特性</a:t>
            </a:r>
            <a:r>
              <a:rPr lang="zh-CN" altLang="en-US" sz="1800" dirty="0" smtClean="0"/>
              <a:t>。若</a:t>
            </a:r>
            <a:r>
              <a:rPr lang="en-US" altLang="zh-CN" sz="1800" dirty="0" smtClean="0"/>
              <a:t>n</a:t>
            </a:r>
            <a:r>
              <a:rPr lang="zh-CN" altLang="en-US" sz="1800" dirty="0" smtClean="0"/>
              <a:t>级带通滤波器具有相同的带宽，则串联后的总带宽为单个滤波器的           ，</a:t>
            </a:r>
            <a:r>
              <a:rPr lang="en-US" altLang="zh-CN" sz="1800" dirty="0" smtClean="0"/>
              <a:t>3</a:t>
            </a:r>
            <a:r>
              <a:rPr lang="zh-CN" altLang="en-US" sz="1800" dirty="0" smtClean="0"/>
              <a:t>级滤波器串联后，总带宽约为单个的一半。</a:t>
            </a:r>
            <a:endParaRPr lang="zh-CN" altLang="en-US" sz="1800" dirty="0"/>
          </a:p>
        </p:txBody>
      </p:sp>
      <p:sp>
        <p:nvSpPr>
          <p:cNvPr id="8" name="矩形 7"/>
          <p:cNvSpPr/>
          <p:nvPr/>
        </p:nvSpPr>
        <p:spPr>
          <a:xfrm>
            <a:off x="486229" y="4669694"/>
            <a:ext cx="11205027" cy="1703736"/>
          </a:xfrm>
          <a:prstGeom prst="rect">
            <a:avLst/>
          </a:prstGeom>
        </p:spPr>
        <p:txBody>
          <a:bodyPr wrap="square">
            <a:spAutoFit/>
          </a:bodyPr>
          <a:lstStyle/>
          <a:p>
            <a:pPr indent="457189">
              <a:lnSpc>
                <a:spcPct val="150000"/>
              </a:lnSpc>
            </a:pPr>
            <a:r>
              <a:rPr lang="zh-CN" altLang="en-US" sz="1800" dirty="0"/>
              <a:t>为了提高稳定性，此滤波器中应该选择具有低温度系数的电阻与电容。电阻可选用</a:t>
            </a:r>
            <a:r>
              <a:rPr lang="en-US" altLang="zh-CN" sz="1800" dirty="0"/>
              <a:t>RJ14</a:t>
            </a:r>
            <a:r>
              <a:rPr lang="zh-CN" altLang="en-US" sz="1800" dirty="0"/>
              <a:t>型，此电阻的温度系数为</a:t>
            </a:r>
            <a:r>
              <a:rPr lang="en-US" altLang="zh-CN" sz="1800" dirty="0"/>
              <a:t>1ppm/˚C</a:t>
            </a:r>
            <a:r>
              <a:rPr lang="zh-CN" altLang="en-US" sz="1800" dirty="0"/>
              <a:t>。电容的种类很多，通常在滤波器中采用薄膜电容器或陶瓷（独石）电容器，但是这两类电容器中不同的介质材料导致其温度稳定性与</a:t>
            </a:r>
            <a:r>
              <a:rPr lang="en-US" altLang="zh-CN" sz="1800" dirty="0"/>
              <a:t>Q</a:t>
            </a:r>
            <a:r>
              <a:rPr lang="zh-CN" altLang="en-US" sz="1800" dirty="0"/>
              <a:t>值有很大的不同，其中薄膜电容器中的</a:t>
            </a:r>
            <a:r>
              <a:rPr lang="en-US" altLang="zh-CN" sz="1800" dirty="0"/>
              <a:t>CBB</a:t>
            </a:r>
            <a:r>
              <a:rPr lang="zh-CN" altLang="en-US" sz="1800" dirty="0"/>
              <a:t>型与独石电容器中的</a:t>
            </a:r>
            <a:r>
              <a:rPr lang="en-US" altLang="zh-CN" sz="1800" dirty="0"/>
              <a:t>C0G</a:t>
            </a:r>
            <a:r>
              <a:rPr lang="zh-CN" altLang="en-US" sz="1800" dirty="0"/>
              <a:t>型具有较好的特性。</a:t>
            </a:r>
          </a:p>
        </p:txBody>
      </p:sp>
      <p:graphicFrame>
        <p:nvGraphicFramePr>
          <p:cNvPr id="10" name="对象 9"/>
          <p:cNvGraphicFramePr>
            <a:graphicFrameLocks noChangeAspect="1"/>
          </p:cNvGraphicFramePr>
          <p:nvPr>
            <p:extLst>
              <p:ext uri="{D42A27DB-BD31-4B8C-83A1-F6EECF244321}">
                <p14:modId xmlns:p14="http://schemas.microsoft.com/office/powerpoint/2010/main" val="942392402"/>
              </p:ext>
            </p:extLst>
          </p:nvPr>
        </p:nvGraphicFramePr>
        <p:xfrm>
          <a:off x="3974247" y="3949608"/>
          <a:ext cx="693242" cy="346621"/>
        </p:xfrm>
        <a:graphic>
          <a:graphicData uri="http://schemas.openxmlformats.org/presentationml/2006/ole">
            <mc:AlternateContent xmlns:mc="http://schemas.openxmlformats.org/markup-compatibility/2006">
              <mc:Choice xmlns:v="urn:schemas-microsoft-com:vml" Requires="v">
                <p:oleObj spid="_x0000_s22547" name="Equation" r:id="rId4" imgW="482391" imgH="241195" progId="Equation.DSMT4">
                  <p:embed/>
                </p:oleObj>
              </mc:Choice>
              <mc:Fallback>
                <p:oleObj name="Equation" r:id="rId4" imgW="482391" imgH="241195"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4247" y="3949608"/>
                        <a:ext cx="693242" cy="346621"/>
                      </a:xfrm>
                      <a:prstGeom prst="rect">
                        <a:avLst/>
                      </a:prstGeom>
                      <a:noFill/>
                    </p:spPr>
                  </p:pic>
                </p:oleObj>
              </mc:Fallback>
            </mc:AlternateContent>
          </a:graphicData>
        </a:graphic>
      </p:graphicFrame>
    </p:spTree>
    <p:extLst>
      <p:ext uri="{BB962C8B-B14F-4D97-AF65-F5344CB8AC3E}">
        <p14:creationId xmlns:p14="http://schemas.microsoft.com/office/powerpoint/2010/main" val="438613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文本框 4"/>
          <p:cNvSpPr txBox="1"/>
          <p:nvPr/>
        </p:nvSpPr>
        <p:spPr>
          <a:xfrm>
            <a:off x="471714" y="453913"/>
            <a:ext cx="11234057" cy="5736186"/>
          </a:xfrm>
          <a:prstGeom prst="rect">
            <a:avLst/>
          </a:prstGeom>
          <a:noFill/>
        </p:spPr>
        <p:txBody>
          <a:bodyPr wrap="square" rtlCol="0">
            <a:spAutoFit/>
          </a:bodyPr>
          <a:lstStyle/>
          <a:p>
            <a:pPr marL="285744" indent="-285744">
              <a:lnSpc>
                <a:spcPct val="150000"/>
              </a:lnSpc>
              <a:buFont typeface="Arial" panose="020B0604020202020204" pitchFamily="34" charset="0"/>
              <a:buChar char="•"/>
            </a:pPr>
            <a:r>
              <a:rPr lang="zh-CN" altLang="en-US" sz="1800" dirty="0">
                <a:latin typeface="+mj-ea"/>
                <a:ea typeface="+mj-ea"/>
              </a:rPr>
              <a:t>精密整流电路</a:t>
            </a:r>
            <a:endParaRPr lang="en-US" altLang="zh-CN" sz="1800" dirty="0">
              <a:latin typeface="+mj-ea"/>
              <a:ea typeface="+mj-ea"/>
            </a:endParaRPr>
          </a:p>
          <a:p>
            <a:pPr indent="457189">
              <a:lnSpc>
                <a:spcPct val="150000"/>
              </a:lnSpc>
            </a:pPr>
            <a:r>
              <a:rPr lang="zh-CN" altLang="en-US" sz="1800" dirty="0"/>
              <a:t>有多种精密整流电路。下图是一个典型的全波整流电路，其中</a:t>
            </a:r>
            <a:r>
              <a:rPr lang="en-US" altLang="zh-CN" sz="1800" dirty="0"/>
              <a:t>U1</a:t>
            </a:r>
            <a:r>
              <a:rPr lang="zh-CN" altLang="en-US" sz="1800" dirty="0"/>
              <a:t>、</a:t>
            </a:r>
            <a:r>
              <a:rPr lang="en-US" altLang="zh-CN" sz="1800" dirty="0"/>
              <a:t>U2</a:t>
            </a:r>
            <a:r>
              <a:rPr lang="zh-CN" altLang="en-US" sz="1800" dirty="0"/>
              <a:t>构成整流电路，输出的是全波整流</a:t>
            </a:r>
            <a:r>
              <a:rPr lang="zh-CN" altLang="en-US" sz="1800" dirty="0" smtClean="0"/>
              <a:t>波形。通常令</a:t>
            </a:r>
            <a:r>
              <a:rPr lang="en-US" altLang="zh-CN" sz="1800" dirty="0" smtClean="0"/>
              <a:t>R1=R2</a:t>
            </a:r>
            <a:r>
              <a:rPr lang="zh-CN" altLang="en-US" sz="1800" dirty="0"/>
              <a:t>，</a:t>
            </a:r>
            <a:r>
              <a:rPr lang="en-US" altLang="zh-CN" sz="1800" dirty="0"/>
              <a:t>R4=2</a:t>
            </a:r>
            <a:r>
              <a:rPr lang="zh-CN" altLang="en-US" sz="1800" dirty="0"/>
              <a:t>*</a:t>
            </a:r>
            <a:r>
              <a:rPr lang="en-US" altLang="zh-CN" sz="1800" dirty="0"/>
              <a:t>R3</a:t>
            </a:r>
            <a:r>
              <a:rPr lang="zh-CN" altLang="en-US" sz="1800" dirty="0"/>
              <a:t>，</a:t>
            </a:r>
            <a:r>
              <a:rPr lang="en-US" altLang="zh-CN" sz="1800" dirty="0"/>
              <a:t>R5=R4</a:t>
            </a:r>
            <a:r>
              <a:rPr lang="zh-CN" altLang="en-US" sz="1800" dirty="0" smtClean="0"/>
              <a:t>，此时</a:t>
            </a:r>
            <a:r>
              <a:rPr lang="en-US" altLang="zh-CN" sz="1800" dirty="0" smtClean="0"/>
              <a:t>U2</a:t>
            </a:r>
            <a:r>
              <a:rPr lang="zh-CN" altLang="en-US" sz="1800" dirty="0" smtClean="0"/>
              <a:t>的输出峰值与输入峰值相等。</a:t>
            </a:r>
            <a:endParaRPr lang="en-US" altLang="zh-CN" sz="1800" dirty="0"/>
          </a:p>
          <a:p>
            <a:pPr indent="457189">
              <a:lnSpc>
                <a:spcPct val="150000"/>
              </a:lnSpc>
            </a:pPr>
            <a:r>
              <a:rPr lang="en-US" altLang="zh-CN" sz="1800" dirty="0"/>
              <a:t>U3</a:t>
            </a:r>
            <a:r>
              <a:rPr lang="zh-CN" altLang="en-US" sz="1800" dirty="0"/>
              <a:t>是一个截止频率远低于输入信号频率的有源</a:t>
            </a:r>
            <a:r>
              <a:rPr lang="en-US" altLang="zh-CN" sz="1800" dirty="0"/>
              <a:t>2</a:t>
            </a:r>
            <a:r>
              <a:rPr lang="zh-CN" altLang="en-US" sz="1800" dirty="0"/>
              <a:t>阶低通滤波器（建议设计为巴特沃斯型），用于将全波整流波形变换为直流</a:t>
            </a:r>
            <a:r>
              <a:rPr lang="zh-CN" altLang="en-US" sz="1800" dirty="0" smtClean="0"/>
              <a:t>信号。输出信号</a:t>
            </a:r>
            <a:r>
              <a:rPr lang="zh-CN" altLang="en-US" sz="1800" dirty="0"/>
              <a:t>幅度等于输入信号的</a:t>
            </a:r>
            <a:r>
              <a:rPr lang="zh-CN" altLang="en-US" sz="1800" dirty="0" smtClean="0"/>
              <a:t>平均值：方波为输入信号的峰值，正弦波为输入信号峰值的</a:t>
            </a:r>
            <a:r>
              <a:rPr lang="en-US" altLang="zh-CN" sz="1800" dirty="0" smtClean="0"/>
              <a:t>0.63</a:t>
            </a:r>
            <a:r>
              <a:rPr lang="zh-CN" altLang="en-US" sz="1800" dirty="0" smtClean="0"/>
              <a:t>倍。</a:t>
            </a: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050" dirty="0"/>
          </a:p>
          <a:p>
            <a:pPr indent="457189">
              <a:lnSpc>
                <a:spcPct val="150000"/>
              </a:lnSpc>
            </a:pPr>
            <a:r>
              <a:rPr lang="zh-CN" altLang="en-US" sz="1800" dirty="0" smtClean="0"/>
              <a:t>此</a:t>
            </a:r>
            <a:r>
              <a:rPr lang="zh-CN" altLang="en-US" sz="1800" dirty="0"/>
              <a:t>电路的有效频响取决于</a:t>
            </a:r>
            <a:r>
              <a:rPr lang="en-US" altLang="zh-CN" sz="1800" dirty="0"/>
              <a:t>U1</a:t>
            </a:r>
            <a:r>
              <a:rPr lang="zh-CN" altLang="en-US" sz="1800" dirty="0"/>
              <a:t>的带宽与压摆率，但是远低于常规放大器的频响。</a:t>
            </a:r>
            <a:r>
              <a:rPr lang="zh-CN" altLang="en-US" sz="1800" dirty="0" smtClean="0"/>
              <a:t>若定义下降</a:t>
            </a:r>
            <a:r>
              <a:rPr lang="en-US" altLang="zh-CN" sz="1800" dirty="0"/>
              <a:t>3dB</a:t>
            </a:r>
            <a:r>
              <a:rPr lang="zh-CN" altLang="en-US" sz="1800" dirty="0" smtClean="0"/>
              <a:t>为其截止频率</a:t>
            </a:r>
            <a:r>
              <a:rPr lang="zh-CN" altLang="en-US" sz="1800" dirty="0"/>
              <a:t>，一些实验表明其截止频率低于常规放大器截止频率的三分之一。由于本实验的信号频率很低（</a:t>
            </a:r>
            <a:r>
              <a:rPr lang="en-US" altLang="zh-CN" sz="1800" dirty="0"/>
              <a:t>1kHz</a:t>
            </a:r>
            <a:r>
              <a:rPr lang="zh-CN" altLang="en-US" sz="1800" dirty="0"/>
              <a:t>），所以基本可以不考虑频响问题。</a:t>
            </a:r>
          </a:p>
        </p:txBody>
      </p:sp>
      <p:pic>
        <p:nvPicPr>
          <p:cNvPr id="9" name="图片 8"/>
          <p:cNvPicPr>
            <a:picLocks noChangeAspect="1"/>
          </p:cNvPicPr>
          <p:nvPr/>
        </p:nvPicPr>
        <p:blipFill>
          <a:blip r:embed="rId2"/>
          <a:stretch>
            <a:fillRect/>
          </a:stretch>
        </p:blipFill>
        <p:spPr>
          <a:xfrm>
            <a:off x="2393235" y="2701309"/>
            <a:ext cx="7391013" cy="1950159"/>
          </a:xfrm>
          <a:prstGeom prst="rect">
            <a:avLst/>
          </a:prstGeom>
        </p:spPr>
      </p:pic>
    </p:spTree>
    <p:extLst>
      <p:ext uri="{BB962C8B-B14F-4D97-AF65-F5344CB8AC3E}">
        <p14:creationId xmlns:p14="http://schemas.microsoft.com/office/powerpoint/2010/main" val="353264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文本框 4"/>
          <p:cNvSpPr txBox="1"/>
          <p:nvPr/>
        </p:nvSpPr>
        <p:spPr>
          <a:xfrm>
            <a:off x="406400" y="442685"/>
            <a:ext cx="11415187"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latin typeface="+mj-ea"/>
                <a:ea typeface="+mj-ea"/>
              </a:rPr>
              <a:t>信号通道的增益</a:t>
            </a:r>
            <a:endParaRPr lang="en-US" altLang="zh-CN" sz="1800" dirty="0" smtClean="0">
              <a:latin typeface="+mj-ea"/>
              <a:ea typeface="+mj-ea"/>
            </a:endParaRPr>
          </a:p>
          <a:p>
            <a:pPr indent="457200">
              <a:lnSpc>
                <a:spcPct val="150000"/>
              </a:lnSpc>
            </a:pPr>
            <a:r>
              <a:rPr lang="zh-CN" altLang="en-US" sz="1800" dirty="0" smtClean="0">
                <a:latin typeface="Arial" panose="020B0604020202020204" pitchFamily="34" charset="0"/>
                <a:ea typeface="+mn-ea"/>
              </a:rPr>
              <a:t>整个信号通道包含仪表放大器、带通滤波器、精密整流电路。为了获得最大的分辨率，总是希望输入信号的最大值经过此通道后刚好与</a:t>
            </a:r>
            <a:r>
              <a:rPr lang="en-US" altLang="zh-CN" sz="1800" dirty="0" smtClean="0">
                <a:latin typeface="Arial" panose="020B0604020202020204" pitchFamily="34" charset="0"/>
                <a:ea typeface="+mn-ea"/>
              </a:rPr>
              <a:t>ADC</a:t>
            </a:r>
            <a:r>
              <a:rPr lang="zh-CN" altLang="en-US" sz="1800" dirty="0" smtClean="0">
                <a:latin typeface="Arial" panose="020B0604020202020204" pitchFamily="34" charset="0"/>
                <a:ea typeface="+mn-ea"/>
              </a:rPr>
              <a:t>的满量程电压匹配。</a:t>
            </a:r>
            <a:endParaRPr lang="en-US" altLang="zh-CN" sz="1800" dirty="0" smtClean="0">
              <a:latin typeface="Arial" panose="020B0604020202020204" pitchFamily="34" charset="0"/>
              <a:ea typeface="+mn-ea"/>
            </a:endParaRPr>
          </a:p>
          <a:p>
            <a:pPr indent="457200">
              <a:lnSpc>
                <a:spcPct val="150000"/>
              </a:lnSpc>
            </a:pPr>
            <a:r>
              <a:rPr lang="zh-CN" altLang="en-US" sz="1800" dirty="0" smtClean="0">
                <a:latin typeface="Arial" panose="020B0604020202020204" pitchFamily="34" charset="0"/>
                <a:ea typeface="+mn-ea"/>
              </a:rPr>
              <a:t>若采用方波驱动，驱动电流峰值为</a:t>
            </a:r>
            <a:r>
              <a:rPr lang="en-US" altLang="zh-CN" sz="1800" dirty="0" smtClean="0">
                <a:latin typeface="Arial" panose="020B0604020202020204" pitchFamily="34" charset="0"/>
                <a:ea typeface="+mn-ea"/>
              </a:rPr>
              <a:t>5A</a:t>
            </a:r>
            <a:r>
              <a:rPr lang="zh-CN" altLang="en-US" sz="1800" dirty="0" smtClean="0">
                <a:latin typeface="Arial" panose="020B0604020202020204" pitchFamily="34" charset="0"/>
                <a:ea typeface="+mn-ea"/>
              </a:rPr>
              <a:t>，则在覆铜板上得到的最大信号电压为</a:t>
            </a:r>
            <a:r>
              <a:rPr lang="en-US" altLang="zh-CN" sz="1800" dirty="0" smtClean="0">
                <a:latin typeface="Arial" panose="020B0604020202020204" pitchFamily="34" charset="0"/>
                <a:ea typeface="+mn-ea"/>
              </a:rPr>
              <a:t>5A×2m</a:t>
            </a:r>
            <a:r>
              <a:rPr lang="el-GR" altLang="zh-CN" sz="1800" dirty="0" smtClean="0">
                <a:latin typeface="Arial" panose="020B0604020202020204" pitchFamily="34" charset="0"/>
                <a:ea typeface="+mn-ea"/>
                <a:cs typeface="Times New Roman" panose="02020603050405020304" pitchFamily="18" charset="0"/>
              </a:rPr>
              <a:t>Ω</a:t>
            </a:r>
            <a:r>
              <a:rPr lang="en-US" altLang="zh-CN" sz="1800" dirty="0" smtClean="0">
                <a:latin typeface="Arial" panose="020B0604020202020204" pitchFamily="34" charset="0"/>
                <a:ea typeface="+mn-ea"/>
                <a:cs typeface="Times New Roman" panose="02020603050405020304" pitchFamily="18" charset="0"/>
              </a:rPr>
              <a:t>=10mV</a:t>
            </a:r>
            <a:r>
              <a:rPr lang="zh-CN" altLang="en-US" sz="1800" dirty="0" smtClean="0">
                <a:latin typeface="Arial" panose="020B0604020202020204" pitchFamily="34" charset="0"/>
                <a:ea typeface="+mn-ea"/>
                <a:cs typeface="Times New Roman" panose="02020603050405020304" pitchFamily="18" charset="0"/>
              </a:rPr>
              <a:t>，其平均电压也是</a:t>
            </a:r>
            <a:r>
              <a:rPr lang="en-US" altLang="zh-CN" sz="1800" dirty="0" smtClean="0">
                <a:latin typeface="Arial" panose="020B0604020202020204" pitchFamily="34" charset="0"/>
                <a:ea typeface="+mn-ea"/>
                <a:cs typeface="Times New Roman" panose="02020603050405020304" pitchFamily="18" charset="0"/>
              </a:rPr>
              <a:t>10mV</a:t>
            </a:r>
            <a:r>
              <a:rPr lang="zh-CN" altLang="en-US" sz="1800" dirty="0" smtClean="0">
                <a:latin typeface="Arial" panose="020B0604020202020204" pitchFamily="34" charset="0"/>
                <a:ea typeface="+mn-ea"/>
                <a:cs typeface="Times New Roman" panose="02020603050405020304" pitchFamily="18" charset="0"/>
              </a:rPr>
              <a:t>。再假定采用的</a:t>
            </a:r>
            <a:r>
              <a:rPr lang="en-US" altLang="zh-CN" sz="1800" dirty="0" smtClean="0">
                <a:latin typeface="Arial" panose="020B0604020202020204" pitchFamily="34" charset="0"/>
                <a:ea typeface="+mn-ea"/>
                <a:cs typeface="Times New Roman" panose="02020603050405020304" pitchFamily="18" charset="0"/>
              </a:rPr>
              <a:t>MCU</a:t>
            </a:r>
            <a:r>
              <a:rPr lang="zh-CN" altLang="en-US" sz="1800" dirty="0" smtClean="0">
                <a:latin typeface="Arial" panose="020B0604020202020204" pitchFamily="34" charset="0"/>
                <a:ea typeface="+mn-ea"/>
                <a:cs typeface="Times New Roman" panose="02020603050405020304" pitchFamily="18" charset="0"/>
              </a:rPr>
              <a:t>电源电压为</a:t>
            </a:r>
            <a:r>
              <a:rPr lang="en-US" altLang="zh-CN" sz="1800" dirty="0" smtClean="0">
                <a:latin typeface="Arial" panose="020B0604020202020204" pitchFamily="34" charset="0"/>
                <a:ea typeface="+mn-ea"/>
                <a:cs typeface="Times New Roman" panose="02020603050405020304" pitchFamily="18" charset="0"/>
              </a:rPr>
              <a:t>3.3V</a:t>
            </a:r>
            <a:r>
              <a:rPr lang="zh-CN" altLang="en-US" sz="1800" dirty="0" smtClean="0">
                <a:latin typeface="Arial" panose="020B0604020202020204" pitchFamily="34" charset="0"/>
                <a:ea typeface="+mn-ea"/>
                <a:cs typeface="Times New Roman" panose="02020603050405020304" pitchFamily="18" charset="0"/>
              </a:rPr>
              <a:t>，其</a:t>
            </a:r>
            <a:r>
              <a:rPr lang="en-US" altLang="zh-CN" sz="1800" dirty="0" smtClean="0">
                <a:latin typeface="Arial" panose="020B0604020202020204" pitchFamily="34" charset="0"/>
                <a:ea typeface="+mn-ea"/>
                <a:cs typeface="Times New Roman" panose="02020603050405020304" pitchFamily="18" charset="0"/>
              </a:rPr>
              <a:t>ADC</a:t>
            </a:r>
            <a:r>
              <a:rPr lang="zh-CN" altLang="en-US" sz="1800" dirty="0" smtClean="0">
                <a:latin typeface="Arial" panose="020B0604020202020204" pitchFamily="34" charset="0"/>
                <a:ea typeface="+mn-ea"/>
                <a:cs typeface="Times New Roman" panose="02020603050405020304" pitchFamily="18" charset="0"/>
              </a:rPr>
              <a:t>的满量程电压也是</a:t>
            </a:r>
            <a:r>
              <a:rPr lang="en-US" altLang="zh-CN" sz="1800" dirty="0" smtClean="0">
                <a:latin typeface="Arial" panose="020B0604020202020204" pitchFamily="34" charset="0"/>
                <a:ea typeface="+mn-ea"/>
                <a:cs typeface="Times New Roman" panose="02020603050405020304" pitchFamily="18" charset="0"/>
              </a:rPr>
              <a:t>3.3V</a:t>
            </a:r>
            <a:r>
              <a:rPr lang="zh-CN" altLang="en-US" sz="1800" dirty="0" smtClean="0">
                <a:latin typeface="Arial" panose="020B0604020202020204" pitchFamily="34" charset="0"/>
                <a:ea typeface="+mn-ea"/>
                <a:cs typeface="Times New Roman" panose="02020603050405020304" pitchFamily="18" charset="0"/>
              </a:rPr>
              <a:t>。则整个信号通道的增益应该是</a:t>
            </a:r>
            <a:r>
              <a:rPr lang="en-US" altLang="zh-CN" sz="1800" dirty="0" smtClean="0">
                <a:latin typeface="Arial" panose="020B0604020202020204" pitchFamily="34" charset="0"/>
                <a:ea typeface="+mn-ea"/>
                <a:cs typeface="Times New Roman" panose="02020603050405020304" pitchFamily="18" charset="0"/>
              </a:rPr>
              <a:t>330</a:t>
            </a:r>
            <a:r>
              <a:rPr lang="zh-CN" altLang="en-US" sz="1800" dirty="0" smtClean="0">
                <a:latin typeface="Arial" panose="020B0604020202020204" pitchFamily="34" charset="0"/>
                <a:ea typeface="+mn-ea"/>
                <a:cs typeface="Times New Roman" panose="02020603050405020304" pitchFamily="18" charset="0"/>
              </a:rPr>
              <a:t>。由于前面给出的精密整流电路的增益</a:t>
            </a:r>
            <a:r>
              <a:rPr lang="en-US" altLang="zh-CN" sz="1800" dirty="0" smtClean="0">
                <a:latin typeface="Arial" panose="020B0604020202020204" pitchFamily="34" charset="0"/>
                <a:ea typeface="+mn-ea"/>
                <a:cs typeface="Times New Roman" panose="02020603050405020304" pitchFamily="18" charset="0"/>
              </a:rPr>
              <a:t>=1</a:t>
            </a:r>
            <a:r>
              <a:rPr lang="zh-CN" altLang="en-US" sz="1800" dirty="0" smtClean="0">
                <a:latin typeface="Arial" panose="020B0604020202020204" pitchFamily="34" charset="0"/>
                <a:ea typeface="+mn-ea"/>
                <a:cs typeface="Times New Roman" panose="02020603050405020304" pitchFamily="18" charset="0"/>
              </a:rPr>
              <a:t>，所以这</a:t>
            </a:r>
            <a:r>
              <a:rPr lang="en-US" altLang="zh-CN" sz="1800" dirty="0" smtClean="0">
                <a:latin typeface="Arial" panose="020B0604020202020204" pitchFamily="34" charset="0"/>
                <a:ea typeface="+mn-ea"/>
                <a:cs typeface="Times New Roman" panose="02020603050405020304" pitchFamily="18" charset="0"/>
              </a:rPr>
              <a:t>330</a:t>
            </a:r>
            <a:r>
              <a:rPr lang="zh-CN" altLang="en-US" sz="1800" dirty="0" smtClean="0">
                <a:latin typeface="Arial" panose="020B0604020202020204" pitchFamily="34" charset="0"/>
                <a:ea typeface="+mn-ea"/>
                <a:cs typeface="Times New Roman" panose="02020603050405020304" pitchFamily="18" charset="0"/>
              </a:rPr>
              <a:t>应该被仪表放大器与带通滤波器承担。如果带通滤波器采用前面的电路，由三级串联，每级的增益为</a:t>
            </a:r>
            <a:r>
              <a:rPr lang="en-US" altLang="zh-CN" sz="1800" dirty="0" smtClean="0">
                <a:latin typeface="Arial" panose="020B0604020202020204" pitchFamily="34" charset="0"/>
                <a:ea typeface="+mn-ea"/>
                <a:cs typeface="Times New Roman" panose="02020603050405020304" pitchFamily="18" charset="0"/>
              </a:rPr>
              <a:t>2</a:t>
            </a:r>
            <a:r>
              <a:rPr lang="zh-CN" altLang="en-US" sz="1800" dirty="0" smtClean="0">
                <a:latin typeface="Arial" panose="020B0604020202020204" pitchFamily="34" charset="0"/>
                <a:ea typeface="+mn-ea"/>
                <a:cs typeface="Times New Roman" panose="02020603050405020304" pitchFamily="18" charset="0"/>
              </a:rPr>
              <a:t>，则总增益为</a:t>
            </a:r>
            <a:r>
              <a:rPr lang="en-US" altLang="zh-CN" sz="1800" dirty="0" smtClean="0">
                <a:latin typeface="Arial" panose="020B0604020202020204" pitchFamily="34" charset="0"/>
                <a:ea typeface="+mn-ea"/>
                <a:cs typeface="Times New Roman" panose="02020603050405020304" pitchFamily="18" charset="0"/>
              </a:rPr>
              <a:t>8</a:t>
            </a:r>
            <a:r>
              <a:rPr lang="zh-CN" altLang="en-US" sz="1800" dirty="0" smtClean="0">
                <a:latin typeface="Arial" panose="020B0604020202020204" pitchFamily="34" charset="0"/>
                <a:ea typeface="+mn-ea"/>
                <a:cs typeface="Times New Roman" panose="02020603050405020304" pitchFamily="18" charset="0"/>
              </a:rPr>
              <a:t>。仪表放大器的增益取</a:t>
            </a:r>
            <a:r>
              <a:rPr lang="en-US" altLang="zh-CN" sz="1800" dirty="0" smtClean="0">
                <a:latin typeface="Arial" panose="020B0604020202020204" pitchFamily="34" charset="0"/>
                <a:ea typeface="+mn-ea"/>
                <a:cs typeface="Times New Roman" panose="02020603050405020304" pitchFamily="18" charset="0"/>
              </a:rPr>
              <a:t>40</a:t>
            </a:r>
            <a:r>
              <a:rPr lang="zh-CN" altLang="en-US" sz="1800" dirty="0" smtClean="0">
                <a:latin typeface="Arial" panose="020B0604020202020204" pitchFamily="34" charset="0"/>
                <a:ea typeface="+mn-ea"/>
                <a:cs typeface="Times New Roman" panose="02020603050405020304" pitchFamily="18" charset="0"/>
              </a:rPr>
              <a:t>，则总增益为</a:t>
            </a:r>
            <a:r>
              <a:rPr lang="en-US" altLang="zh-CN" sz="1800" dirty="0" smtClean="0">
                <a:latin typeface="Arial" panose="020B0604020202020204" pitchFamily="34" charset="0"/>
                <a:ea typeface="+mn-ea"/>
                <a:cs typeface="Times New Roman" panose="02020603050405020304" pitchFamily="18" charset="0"/>
              </a:rPr>
              <a:t>320</a:t>
            </a:r>
            <a:r>
              <a:rPr lang="zh-CN" altLang="en-US" sz="1800" dirty="0" smtClean="0">
                <a:latin typeface="Arial" panose="020B0604020202020204" pitchFamily="34" charset="0"/>
                <a:ea typeface="+mn-ea"/>
                <a:cs typeface="Times New Roman" panose="02020603050405020304" pitchFamily="18" charset="0"/>
              </a:rPr>
              <a:t>，略微留了一些裕量，可以满足系统的需求。</a:t>
            </a:r>
            <a:endParaRPr lang="en-US" altLang="zh-CN" sz="1800" dirty="0" smtClean="0">
              <a:latin typeface="Arial" panose="020B0604020202020204" pitchFamily="34" charset="0"/>
              <a:ea typeface="+mn-ea"/>
              <a:cs typeface="Times New Roman" panose="02020603050405020304" pitchFamily="18" charset="0"/>
            </a:endParaRPr>
          </a:p>
          <a:p>
            <a:pPr indent="457200">
              <a:lnSpc>
                <a:spcPct val="150000"/>
              </a:lnSpc>
            </a:pPr>
            <a:r>
              <a:rPr lang="zh-CN" altLang="en-US" sz="1800" dirty="0" smtClean="0">
                <a:latin typeface="Arial" panose="020B0604020202020204" pitchFamily="34" charset="0"/>
                <a:ea typeface="+mn-ea"/>
                <a:cs typeface="Times New Roman" panose="02020603050405020304" pitchFamily="18" charset="0"/>
              </a:rPr>
              <a:t>如果</a:t>
            </a:r>
            <a:r>
              <a:rPr lang="en-US" altLang="zh-CN" sz="1800" dirty="0" smtClean="0">
                <a:latin typeface="Arial" panose="020B0604020202020204" pitchFamily="34" charset="0"/>
                <a:ea typeface="+mn-ea"/>
                <a:cs typeface="Times New Roman" panose="02020603050405020304" pitchFamily="18" charset="0"/>
              </a:rPr>
              <a:t>ADC</a:t>
            </a:r>
            <a:r>
              <a:rPr lang="zh-CN" altLang="en-US" sz="1800" dirty="0" smtClean="0">
                <a:latin typeface="Arial" panose="020B0604020202020204" pitchFamily="34" charset="0"/>
                <a:ea typeface="+mn-ea"/>
                <a:cs typeface="Times New Roman" panose="02020603050405020304" pitchFamily="18" charset="0"/>
              </a:rPr>
              <a:t>的满量程电压为</a:t>
            </a:r>
            <a:r>
              <a:rPr lang="en-US" altLang="zh-CN" sz="1800" dirty="0" smtClean="0">
                <a:latin typeface="Arial" panose="020B0604020202020204" pitchFamily="34" charset="0"/>
                <a:ea typeface="+mn-ea"/>
                <a:cs typeface="Times New Roman" panose="02020603050405020304" pitchFamily="18" charset="0"/>
              </a:rPr>
              <a:t>5V</a:t>
            </a:r>
            <a:r>
              <a:rPr lang="zh-CN" altLang="en-US" sz="1800" dirty="0" smtClean="0">
                <a:latin typeface="Arial" panose="020B0604020202020204" pitchFamily="34" charset="0"/>
                <a:ea typeface="+mn-ea"/>
                <a:cs typeface="Times New Roman" panose="02020603050405020304" pitchFamily="18" charset="0"/>
              </a:rPr>
              <a:t>，则应该将仪表放大器的增益提高到</a:t>
            </a:r>
            <a:r>
              <a:rPr lang="en-US" altLang="zh-CN" sz="1800" dirty="0" smtClean="0">
                <a:latin typeface="Arial" panose="020B0604020202020204" pitchFamily="34" charset="0"/>
                <a:ea typeface="+mn-ea"/>
                <a:cs typeface="Times New Roman" panose="02020603050405020304" pitchFamily="18" charset="0"/>
              </a:rPr>
              <a:t>60</a:t>
            </a:r>
            <a:r>
              <a:rPr lang="zh-CN" altLang="en-US" sz="1800" dirty="0" smtClean="0">
                <a:latin typeface="Arial" panose="020B0604020202020204" pitchFamily="34" charset="0"/>
                <a:ea typeface="+mn-ea"/>
                <a:cs typeface="Times New Roman" panose="02020603050405020304" pitchFamily="18" charset="0"/>
              </a:rPr>
              <a:t>。但是在这种情况下，由于前面的设计中所有运放的电源（相对于信号地）为</a:t>
            </a:r>
            <a:r>
              <a:rPr lang="en-US" altLang="zh-CN" sz="1800" dirty="0" smtClean="0">
                <a:latin typeface="Times New Roman" panose="02020603050405020304" pitchFamily="18" charset="0"/>
                <a:ea typeface="+mn-ea"/>
                <a:cs typeface="Times New Roman" panose="02020603050405020304" pitchFamily="18" charset="0"/>
              </a:rPr>
              <a:t>±</a:t>
            </a:r>
            <a:r>
              <a:rPr lang="en-US" altLang="zh-CN" sz="1800" dirty="0" smtClean="0">
                <a:latin typeface="Arial" panose="020B0604020202020204" pitchFamily="34" charset="0"/>
                <a:ea typeface="+mn-ea"/>
                <a:cs typeface="Times New Roman" panose="02020603050405020304" pitchFamily="18" charset="0"/>
              </a:rPr>
              <a:t>6V</a:t>
            </a:r>
            <a:r>
              <a:rPr lang="zh-CN" altLang="en-US" sz="1800" dirty="0" smtClean="0">
                <a:latin typeface="Arial" panose="020B0604020202020204" pitchFamily="34" charset="0"/>
                <a:ea typeface="+mn-ea"/>
                <a:cs typeface="Times New Roman" panose="02020603050405020304" pitchFamily="18" charset="0"/>
              </a:rPr>
              <a:t>，而最后一级滤波器以及精密整流电路中运放的最大输出摆幅接近</a:t>
            </a:r>
            <a:r>
              <a:rPr lang="en-US" altLang="zh-CN" sz="1800" dirty="0" smtClean="0">
                <a:latin typeface="Arial" panose="020B0604020202020204" pitchFamily="34" charset="0"/>
                <a:ea typeface="+mn-ea"/>
                <a:cs typeface="Times New Roman" panose="02020603050405020304" pitchFamily="18" charset="0"/>
              </a:rPr>
              <a:t>5V</a:t>
            </a:r>
            <a:r>
              <a:rPr lang="zh-CN" altLang="en-US" sz="1800" dirty="0" smtClean="0">
                <a:latin typeface="Arial" panose="020B0604020202020204" pitchFamily="34" charset="0"/>
                <a:ea typeface="+mn-ea"/>
                <a:cs typeface="Times New Roman" panose="02020603050405020304" pitchFamily="18" charset="0"/>
              </a:rPr>
              <a:t>，所以</a:t>
            </a:r>
            <a:r>
              <a:rPr lang="zh-CN" altLang="en-US" sz="1800" dirty="0" smtClean="0">
                <a:latin typeface="Arial" panose="020B0604020202020204" pitchFamily="34" charset="0"/>
                <a:cs typeface="Times New Roman" panose="02020603050405020304" pitchFamily="18" charset="0"/>
              </a:rPr>
              <a:t>要注意选用的运放的</a:t>
            </a:r>
            <a:r>
              <a:rPr lang="zh-CN" altLang="en-US" sz="1800" dirty="0">
                <a:latin typeface="Arial" panose="020B0604020202020204" pitchFamily="34" charset="0"/>
                <a:cs typeface="Times New Roman" panose="02020603050405020304" pitchFamily="18" charset="0"/>
              </a:rPr>
              <a:t>输出摆</a:t>
            </a:r>
            <a:r>
              <a:rPr lang="zh-CN" altLang="en-US" sz="1800" dirty="0" smtClean="0">
                <a:latin typeface="Arial" panose="020B0604020202020204" pitchFamily="34" charset="0"/>
                <a:cs typeface="Times New Roman" panose="02020603050405020304" pitchFamily="18" charset="0"/>
              </a:rPr>
              <a:t>幅是否能够达到此值，必要时可能要采用满摆幅（</a:t>
            </a:r>
            <a:r>
              <a:rPr lang="en-US" altLang="zh-CN" sz="1800" dirty="0" smtClean="0">
                <a:latin typeface="Arial" panose="020B0604020202020204" pitchFamily="34" charset="0"/>
                <a:cs typeface="Times New Roman" panose="02020603050405020304" pitchFamily="18" charset="0"/>
              </a:rPr>
              <a:t>rail to rail</a:t>
            </a:r>
            <a:r>
              <a:rPr lang="zh-CN" altLang="en-US" sz="1800" dirty="0" smtClean="0">
                <a:latin typeface="Arial" panose="020B0604020202020204" pitchFamily="34" charset="0"/>
                <a:cs typeface="Times New Roman" panose="02020603050405020304" pitchFamily="18" charset="0"/>
              </a:rPr>
              <a:t>）输出的运放。</a:t>
            </a:r>
            <a:endParaRPr lang="zh-CN" altLang="en-US" sz="1800" dirty="0">
              <a:latin typeface="Arial" panose="020B0604020202020204" pitchFamily="34" charset="0"/>
              <a:ea typeface="+mn-ea"/>
            </a:endParaRPr>
          </a:p>
        </p:txBody>
      </p:sp>
    </p:spTree>
    <p:extLst>
      <p:ext uri="{BB962C8B-B14F-4D97-AF65-F5344CB8AC3E}">
        <p14:creationId xmlns:p14="http://schemas.microsoft.com/office/powerpoint/2010/main" val="1375241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442262" y="391371"/>
            <a:ext cx="11327816" cy="1754326"/>
          </a:xfrm>
          <a:prstGeom prst="rect">
            <a:avLst/>
          </a:prstGeom>
          <a:noFill/>
        </p:spPr>
        <p:txBody>
          <a:bodyPr wrap="square" rtlCol="0">
            <a:spAutoFit/>
          </a:bodyPr>
          <a:lstStyle/>
          <a:p>
            <a:pPr marL="285744" indent="-285744">
              <a:lnSpc>
                <a:spcPct val="150000"/>
              </a:lnSpc>
              <a:buFont typeface="Arial" panose="020B0604020202020204" pitchFamily="34" charset="0"/>
              <a:buChar char="•"/>
            </a:pPr>
            <a:r>
              <a:rPr lang="zh-CN" altLang="en-US" sz="1800" dirty="0">
                <a:latin typeface="+mj-ea"/>
                <a:ea typeface="+mj-ea"/>
              </a:rPr>
              <a:t>电源设计</a:t>
            </a:r>
            <a:endParaRPr lang="en-US" altLang="zh-CN" sz="1800" dirty="0">
              <a:latin typeface="+mj-ea"/>
              <a:ea typeface="+mj-ea"/>
            </a:endParaRPr>
          </a:p>
          <a:p>
            <a:pPr indent="457189">
              <a:lnSpc>
                <a:spcPct val="150000"/>
              </a:lnSpc>
            </a:pPr>
            <a:r>
              <a:rPr lang="zh-CN" altLang="en-US" sz="1800" dirty="0"/>
              <a:t>本题目要求只用一个</a:t>
            </a:r>
            <a:r>
              <a:rPr lang="en-US" altLang="zh-CN" sz="1800" dirty="0"/>
              <a:t>+12V</a:t>
            </a:r>
            <a:r>
              <a:rPr lang="zh-CN" altLang="en-US" sz="1800" dirty="0"/>
              <a:t>电源，但是实际设计中，大部分运放采用双电源设计比较方便，而逻辑器件（例如锁相环与分频器）只能用</a:t>
            </a:r>
            <a:r>
              <a:rPr lang="en-US" altLang="zh-CN" sz="1800" dirty="0"/>
              <a:t>5V~6V</a:t>
            </a:r>
            <a:r>
              <a:rPr lang="zh-CN" altLang="en-US" sz="1800" dirty="0"/>
              <a:t>电源，所以</a:t>
            </a:r>
            <a:r>
              <a:rPr lang="zh-CN" altLang="en-US" sz="1800" dirty="0" smtClean="0"/>
              <a:t>在设计方案</a:t>
            </a:r>
            <a:r>
              <a:rPr lang="zh-CN" altLang="en-US" sz="1800" dirty="0"/>
              <a:t>中</a:t>
            </a:r>
            <a:r>
              <a:rPr lang="zh-CN" altLang="en-US" sz="1800" dirty="0" smtClean="0"/>
              <a:t>设置一</a:t>
            </a:r>
            <a:r>
              <a:rPr lang="zh-CN" altLang="en-US" sz="1800" dirty="0"/>
              <a:t>个信号地，将</a:t>
            </a:r>
            <a:r>
              <a:rPr lang="en-US" altLang="zh-CN" sz="1800" dirty="0"/>
              <a:t>+12V</a:t>
            </a:r>
            <a:r>
              <a:rPr lang="zh-CN" altLang="en-US" sz="1800" dirty="0"/>
              <a:t>电源分成</a:t>
            </a:r>
            <a:r>
              <a:rPr lang="en-US" altLang="zh-CN" sz="1800" dirty="0">
                <a:latin typeface="Times New Roman" panose="02020603050405020304" pitchFamily="18" charset="0"/>
                <a:cs typeface="Times New Roman" panose="02020603050405020304" pitchFamily="18" charset="0"/>
              </a:rPr>
              <a:t>±</a:t>
            </a:r>
            <a:r>
              <a:rPr lang="en-US" altLang="zh-CN" sz="1800" dirty="0">
                <a:latin typeface="+mj-lt"/>
                <a:cs typeface="Times New Roman" panose="02020603050405020304" pitchFamily="18" charset="0"/>
              </a:rPr>
              <a:t>6V</a:t>
            </a:r>
            <a:r>
              <a:rPr lang="zh-CN" altLang="en-US" sz="1800" dirty="0">
                <a:latin typeface="Times New Roman" panose="02020603050405020304" pitchFamily="18" charset="0"/>
                <a:cs typeface="Times New Roman" panose="02020603050405020304" pitchFamily="18" charset="0"/>
              </a:rPr>
              <a:t>两</a:t>
            </a:r>
            <a:r>
              <a:rPr lang="zh-CN" altLang="en-US" sz="1800" dirty="0" smtClean="0">
                <a:latin typeface="Times New Roman" panose="02020603050405020304" pitchFamily="18" charset="0"/>
                <a:cs typeface="Times New Roman" panose="02020603050405020304" pitchFamily="18" charset="0"/>
              </a:rPr>
              <a:t>部分。所有运放等需要正负电源的器件，其正电源接</a:t>
            </a:r>
            <a:r>
              <a:rPr lang="en-US" altLang="zh-CN" sz="1800" dirty="0" smtClean="0">
                <a:latin typeface="Times New Roman" panose="02020603050405020304" pitchFamily="18" charset="0"/>
                <a:cs typeface="Times New Roman" panose="02020603050405020304" pitchFamily="18" charset="0"/>
              </a:rPr>
              <a:t>+12V</a:t>
            </a:r>
            <a:r>
              <a:rPr lang="zh-CN" altLang="en-US" sz="1800" dirty="0" smtClean="0">
                <a:latin typeface="Times New Roman" panose="02020603050405020304" pitchFamily="18" charset="0"/>
                <a:cs typeface="Times New Roman" panose="02020603050405020304" pitchFamily="18" charset="0"/>
              </a:rPr>
              <a:t>，负电源接电源地。</a:t>
            </a:r>
            <a:endParaRPr lang="en-US" altLang="zh-CN" sz="180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940438" y="2585665"/>
            <a:ext cx="2429444" cy="2728807"/>
          </a:xfrm>
          <a:prstGeom prst="rect">
            <a:avLst/>
          </a:prstGeom>
        </p:spPr>
      </p:pic>
      <p:sp>
        <p:nvSpPr>
          <p:cNvPr id="7" name="矩形 6"/>
          <p:cNvSpPr/>
          <p:nvPr/>
        </p:nvSpPr>
        <p:spPr>
          <a:xfrm>
            <a:off x="3773005" y="2034159"/>
            <a:ext cx="7997073" cy="3831818"/>
          </a:xfrm>
          <a:prstGeom prst="rect">
            <a:avLst/>
          </a:prstGeom>
        </p:spPr>
        <p:txBody>
          <a:bodyPr wrap="square">
            <a:spAutoFit/>
          </a:bodyPr>
          <a:lstStyle/>
          <a:p>
            <a:pPr indent="457189">
              <a:lnSpc>
                <a:spcPct val="150000"/>
              </a:lnSpc>
            </a:pPr>
            <a:r>
              <a:rPr lang="zh-CN" altLang="en-US" sz="1800" dirty="0">
                <a:latin typeface="Times New Roman" panose="02020603050405020304" pitchFamily="18" charset="0"/>
                <a:cs typeface="Times New Roman" panose="02020603050405020304" pitchFamily="18" charset="0"/>
              </a:rPr>
              <a:t>要注意的是：在这种将单一电源分裂为两个单元的过程中，其信号地必须由运放产生，而不能用电源芯片（例如</a:t>
            </a:r>
            <a:r>
              <a:rPr lang="en-US" altLang="zh-CN" sz="1800" dirty="0">
                <a:latin typeface="Times New Roman" panose="02020603050405020304" pitchFamily="18" charset="0"/>
                <a:cs typeface="Times New Roman" panose="02020603050405020304" pitchFamily="18" charset="0"/>
              </a:rPr>
              <a:t>7806</a:t>
            </a:r>
            <a:r>
              <a:rPr lang="zh-CN" altLang="en-US" sz="1800" dirty="0">
                <a:latin typeface="Times New Roman" panose="02020603050405020304" pitchFamily="18" charset="0"/>
                <a:cs typeface="Times New Roman" panose="02020603050405020304" pitchFamily="18" charset="0"/>
              </a:rPr>
              <a:t>）实现。其原因是</a:t>
            </a:r>
            <a:r>
              <a:rPr lang="zh-CN" altLang="en-US" sz="1800" dirty="0" smtClean="0">
                <a:latin typeface="Times New Roman" panose="02020603050405020304" pitchFamily="18" charset="0"/>
                <a:cs typeface="Times New Roman" panose="02020603050405020304" pitchFamily="18" charset="0"/>
              </a:rPr>
              <a:t>：电源电流</a:t>
            </a:r>
            <a:r>
              <a:rPr lang="zh-CN" altLang="en-US" sz="1800" dirty="0">
                <a:latin typeface="Times New Roman" panose="02020603050405020304" pitchFamily="18" charset="0"/>
                <a:cs typeface="Times New Roman" panose="02020603050405020304" pitchFamily="18" charset="0"/>
              </a:rPr>
              <a:t>方向可能是从芯片流向信号地，也可能从信号地流向芯片，所以此发生器必须是双向的，而电源芯片不能提供双向的电源电流。</a:t>
            </a:r>
            <a:endParaRPr lang="en-US" altLang="zh-CN" sz="1800" dirty="0">
              <a:latin typeface="Times New Roman" panose="02020603050405020304" pitchFamily="18" charset="0"/>
              <a:cs typeface="Times New Roman" panose="02020603050405020304" pitchFamily="18" charset="0"/>
            </a:endParaRPr>
          </a:p>
          <a:p>
            <a:pPr indent="457189">
              <a:lnSpc>
                <a:spcPct val="150000"/>
              </a:lnSpc>
            </a:pPr>
            <a:r>
              <a:rPr lang="zh-CN" altLang="en-US" sz="1800" dirty="0">
                <a:latin typeface="Times New Roman" panose="02020603050405020304" pitchFamily="18" charset="0"/>
                <a:cs typeface="Times New Roman" panose="02020603050405020304" pitchFamily="18" charset="0"/>
              </a:rPr>
              <a:t>由于同样的原因，若信号地发生器的运放输出电流不能满足负载需求而需采用晶体管扩流时，也必须采用推挽式电路以满足双向电流需求</a:t>
            </a:r>
            <a:r>
              <a:rPr lang="zh-CN" altLang="en-US" sz="1800" dirty="0" smtClean="0">
                <a:latin typeface="Times New Roman" panose="02020603050405020304" pitchFamily="18" charset="0"/>
                <a:cs typeface="Times New Roman" panose="02020603050405020304" pitchFamily="18" charset="0"/>
              </a:rPr>
              <a:t>。</a:t>
            </a:r>
            <a:endParaRPr lang="en-US" altLang="zh-CN" sz="1800" dirty="0" smtClean="0">
              <a:latin typeface="Times New Roman" panose="02020603050405020304" pitchFamily="18" charset="0"/>
              <a:cs typeface="Times New Roman" panose="02020603050405020304" pitchFamily="18" charset="0"/>
            </a:endParaRPr>
          </a:p>
          <a:p>
            <a:pPr indent="457189">
              <a:lnSpc>
                <a:spcPct val="150000"/>
              </a:lnSpc>
            </a:pPr>
            <a:r>
              <a:rPr lang="zh-CN" altLang="en-US" sz="1800" dirty="0"/>
              <a:t>另外</a:t>
            </a:r>
            <a:r>
              <a:rPr lang="zh-CN" altLang="en-US" sz="1800" dirty="0" smtClean="0"/>
              <a:t>，很多运</a:t>
            </a:r>
            <a:r>
              <a:rPr lang="zh-CN" altLang="en-US" sz="1800" dirty="0"/>
              <a:t>放不能带电容负载（会自激振荡），而作为信号地发生器，其</a:t>
            </a:r>
            <a:r>
              <a:rPr lang="zh-CN" altLang="en-US" sz="1800" dirty="0" smtClean="0"/>
              <a:t>负载肯定</a:t>
            </a:r>
            <a:r>
              <a:rPr lang="zh-CN" altLang="en-US" sz="1800" dirty="0"/>
              <a:t>有电源退耦电容，所以要选择能够带电容负载的运放，例如</a:t>
            </a:r>
            <a:r>
              <a:rPr lang="en-US" altLang="zh-CN" sz="1800" dirty="0" smtClean="0"/>
              <a:t>AD817</a:t>
            </a:r>
            <a:r>
              <a:rPr lang="zh-CN" altLang="en-US" sz="1800" dirty="0" smtClean="0"/>
              <a:t>（该运放的最大输出电流为</a:t>
            </a:r>
            <a:r>
              <a:rPr lang="en-US" altLang="zh-CN" sz="1800" dirty="0" smtClean="0"/>
              <a:t>50mA</a:t>
            </a:r>
            <a:r>
              <a:rPr lang="zh-CN" altLang="en-US" sz="1800" dirty="0" smtClean="0"/>
              <a:t>）。</a:t>
            </a:r>
            <a:endParaRPr lang="zh-CN" altLang="en-US" sz="1800" dirty="0"/>
          </a:p>
        </p:txBody>
      </p:sp>
    </p:spTree>
    <p:extLst>
      <p:ext uri="{BB962C8B-B14F-4D97-AF65-F5344CB8AC3E}">
        <p14:creationId xmlns:p14="http://schemas.microsoft.com/office/powerpoint/2010/main" val="4031294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文本框 4"/>
          <p:cNvSpPr txBox="1"/>
          <p:nvPr/>
        </p:nvSpPr>
        <p:spPr>
          <a:xfrm>
            <a:off x="435429" y="442685"/>
            <a:ext cx="11386158" cy="2585323"/>
          </a:xfrm>
          <a:prstGeom prst="rect">
            <a:avLst/>
          </a:prstGeom>
          <a:noFill/>
        </p:spPr>
        <p:txBody>
          <a:bodyPr wrap="square" rtlCol="0">
            <a:spAutoFit/>
          </a:bodyPr>
          <a:lstStyle/>
          <a:p>
            <a:pPr indent="457200">
              <a:lnSpc>
                <a:spcPct val="150000"/>
              </a:lnSpc>
            </a:pPr>
            <a:r>
              <a:rPr lang="zh-CN" altLang="en-US" sz="1800" dirty="0" smtClean="0"/>
              <a:t>另外，单片机系统的电源通常为</a:t>
            </a:r>
            <a:r>
              <a:rPr lang="en-US" altLang="zh-CN" sz="1800" dirty="0" smtClean="0"/>
              <a:t>+3.3V</a:t>
            </a:r>
            <a:r>
              <a:rPr lang="zh-CN" altLang="en-US" sz="1800" dirty="0" smtClean="0"/>
              <a:t>或</a:t>
            </a:r>
            <a:r>
              <a:rPr lang="en-US" altLang="zh-CN" sz="1800" dirty="0" smtClean="0"/>
              <a:t>+5V</a:t>
            </a:r>
            <a:r>
              <a:rPr lang="zh-CN" altLang="en-US" sz="1800" dirty="0" smtClean="0"/>
              <a:t>，且其“地”（数字地）应该与模拟部分的信号地同电位，所以整机的电源中还要提供一个单独的数字系统电源。</a:t>
            </a:r>
            <a:endParaRPr lang="en-US" altLang="zh-CN" sz="1800" dirty="0" smtClean="0"/>
          </a:p>
          <a:p>
            <a:pPr indent="457200">
              <a:lnSpc>
                <a:spcPct val="150000"/>
              </a:lnSpc>
            </a:pPr>
            <a:r>
              <a:rPr lang="zh-CN" altLang="en-US" sz="1800" dirty="0" smtClean="0"/>
              <a:t>可以用低压降稳压电源（</a:t>
            </a:r>
            <a:r>
              <a:rPr lang="en-US" altLang="zh-CN" sz="1800" dirty="0" smtClean="0"/>
              <a:t>LDO</a:t>
            </a:r>
            <a:r>
              <a:rPr lang="zh-CN" altLang="en-US" sz="1800" dirty="0" smtClean="0"/>
              <a:t>）芯片来实现数字电源。例如</a:t>
            </a:r>
            <a:r>
              <a:rPr lang="en-US" altLang="zh-CN" sz="1800" dirty="0" smtClean="0"/>
              <a:t>LP2950-5</a:t>
            </a:r>
            <a:r>
              <a:rPr lang="zh-CN" altLang="en-US" sz="1800" dirty="0" smtClean="0"/>
              <a:t>（</a:t>
            </a:r>
            <a:r>
              <a:rPr lang="en-US" altLang="zh-CN" sz="1800" dirty="0" smtClean="0"/>
              <a:t>5V</a:t>
            </a:r>
            <a:r>
              <a:rPr lang="zh-CN" altLang="en-US" sz="1800" dirty="0" smtClean="0"/>
              <a:t>）或</a:t>
            </a:r>
            <a:r>
              <a:rPr lang="en-US" altLang="zh-CN" sz="1800" dirty="0" smtClean="0"/>
              <a:t>LP2950-3.3</a:t>
            </a:r>
            <a:r>
              <a:rPr lang="zh-CN" altLang="en-US" sz="1800" dirty="0" smtClean="0"/>
              <a:t>（</a:t>
            </a:r>
            <a:r>
              <a:rPr lang="en-US" altLang="zh-CN" sz="1800" dirty="0" smtClean="0"/>
              <a:t>3.3V)</a:t>
            </a:r>
            <a:r>
              <a:rPr lang="zh-CN" altLang="en-US" sz="1800" dirty="0" smtClean="0"/>
              <a:t>，其输入电压与输出电压之间的最小压差只</a:t>
            </a:r>
            <a:r>
              <a:rPr lang="zh-CN" altLang="en-US" sz="1800" dirty="0"/>
              <a:t>需要</a:t>
            </a:r>
            <a:r>
              <a:rPr lang="en-US" altLang="zh-CN" sz="1800" dirty="0" smtClean="0"/>
              <a:t>0.6V</a:t>
            </a:r>
            <a:r>
              <a:rPr lang="zh-CN" altLang="en-US" sz="1800" dirty="0" smtClean="0"/>
              <a:t>，所以可以从</a:t>
            </a:r>
            <a:r>
              <a:rPr lang="en-US" altLang="zh-CN" sz="1800" dirty="0" smtClean="0"/>
              <a:t>6V</a:t>
            </a:r>
            <a:r>
              <a:rPr lang="zh-CN" altLang="en-US" sz="1800" dirty="0" smtClean="0"/>
              <a:t>（相对于模拟地）的模拟电源中得到</a:t>
            </a:r>
            <a:r>
              <a:rPr lang="en-US" altLang="zh-CN" sz="1800" dirty="0" smtClean="0"/>
              <a:t>5V</a:t>
            </a:r>
            <a:r>
              <a:rPr lang="zh-CN" altLang="en-US" sz="1800" dirty="0" smtClean="0"/>
              <a:t>或</a:t>
            </a:r>
            <a:r>
              <a:rPr lang="en-US" altLang="zh-CN" sz="1800" dirty="0" smtClean="0"/>
              <a:t>3.3V</a:t>
            </a:r>
            <a:r>
              <a:rPr lang="zh-CN" altLang="en-US" sz="1800" dirty="0" smtClean="0"/>
              <a:t>的数字电源。</a:t>
            </a:r>
            <a:endParaRPr lang="en-US" altLang="zh-CN" sz="1800" dirty="0" smtClean="0"/>
          </a:p>
          <a:p>
            <a:pPr indent="457200">
              <a:lnSpc>
                <a:spcPct val="150000"/>
              </a:lnSpc>
            </a:pPr>
            <a:r>
              <a:rPr lang="zh-CN" altLang="en-US" sz="1800" dirty="0" smtClean="0"/>
              <a:t>总的电源结构如下：</a:t>
            </a:r>
            <a:endParaRPr lang="zh-CN" altLang="en-US" sz="1800" dirty="0"/>
          </a:p>
        </p:txBody>
      </p:sp>
      <p:pic>
        <p:nvPicPr>
          <p:cNvPr id="7" name="图片 6"/>
          <p:cNvPicPr>
            <a:picLocks noChangeAspect="1"/>
          </p:cNvPicPr>
          <p:nvPr/>
        </p:nvPicPr>
        <p:blipFill>
          <a:blip r:embed="rId2"/>
          <a:stretch>
            <a:fillRect/>
          </a:stretch>
        </p:blipFill>
        <p:spPr>
          <a:xfrm>
            <a:off x="2189095" y="2768030"/>
            <a:ext cx="8119055" cy="3552087"/>
          </a:xfrm>
          <a:prstGeom prst="rect">
            <a:avLst/>
          </a:prstGeom>
        </p:spPr>
      </p:pic>
    </p:spTree>
    <p:extLst>
      <p:ext uri="{BB962C8B-B14F-4D97-AF65-F5344CB8AC3E}">
        <p14:creationId xmlns:p14="http://schemas.microsoft.com/office/powerpoint/2010/main" val="3691856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矩形 4"/>
          <p:cNvSpPr/>
          <p:nvPr/>
        </p:nvSpPr>
        <p:spPr>
          <a:xfrm>
            <a:off x="486229" y="554184"/>
            <a:ext cx="11212285" cy="300082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a:solidFill>
                  <a:srgbClr val="FF0000"/>
                </a:solidFill>
                <a:latin typeface="+mj-ea"/>
                <a:ea typeface="+mj-ea"/>
              </a:rPr>
              <a:t>设计中需要注意的一些其他问题</a:t>
            </a:r>
            <a:endParaRPr lang="en-US" altLang="zh-CN" sz="1800" dirty="0">
              <a:solidFill>
                <a:srgbClr val="FF0000"/>
              </a:solidFill>
              <a:latin typeface="+mj-ea"/>
              <a:ea typeface="+mj-ea"/>
            </a:endParaRPr>
          </a:p>
          <a:p>
            <a:pPr marL="285750" indent="-285750">
              <a:lnSpc>
                <a:spcPct val="150000"/>
              </a:lnSpc>
              <a:buFont typeface="Arial" panose="020B0604020202020204" pitchFamily="34" charset="0"/>
              <a:buChar char="•"/>
            </a:pPr>
            <a:r>
              <a:rPr lang="zh-CN" altLang="zh-CN" sz="1800" dirty="0" smtClean="0"/>
              <a:t>如何</a:t>
            </a:r>
            <a:r>
              <a:rPr lang="zh-CN" altLang="zh-CN" sz="1800" dirty="0"/>
              <a:t>将检测得到的电压与覆铜板上的位置（等电位线）进行</a:t>
            </a:r>
            <a:r>
              <a:rPr lang="zh-CN" altLang="zh-CN" sz="1800" dirty="0" smtClean="0"/>
              <a:t>对应</a:t>
            </a:r>
            <a:endParaRPr lang="en-US" altLang="zh-CN" sz="1800" dirty="0"/>
          </a:p>
          <a:p>
            <a:pPr indent="457189">
              <a:lnSpc>
                <a:spcPct val="150000"/>
              </a:lnSpc>
            </a:pPr>
            <a:r>
              <a:rPr lang="zh-CN" altLang="zh-CN" sz="1800" dirty="0"/>
              <a:t>尽管可以通过计算（带边界条件的二维电场分布）确定覆铜板上的等电位线，但那个计算比较复杂，且在手工制作过程中覆铜板的形状可能发生变化、焊点位置也可能发生变化，所以理论计算并不实用。</a:t>
            </a:r>
            <a:endParaRPr lang="en-US" altLang="zh-CN" sz="1800" dirty="0"/>
          </a:p>
          <a:p>
            <a:pPr indent="457189">
              <a:lnSpc>
                <a:spcPct val="150000"/>
              </a:lnSpc>
            </a:pPr>
            <a:r>
              <a:rPr lang="zh-CN" altLang="zh-CN" sz="1800" dirty="0"/>
              <a:t>一个实际可行的方法是预先实测若干坐标位置的电位，然后在单片机内建立一个数据库，实际测试时通过内插、拟合等计算方法将实测的电位换算为探针的坐标。</a:t>
            </a:r>
            <a:endParaRPr lang="en-US" altLang="zh-CN" sz="1800" dirty="0"/>
          </a:p>
          <a:p>
            <a:pPr indent="457189">
              <a:lnSpc>
                <a:spcPct val="150000"/>
              </a:lnSpc>
            </a:pPr>
            <a:r>
              <a:rPr lang="zh-CN" altLang="en-US" sz="1800" dirty="0"/>
              <a:t>当然这种方法只适合于竞赛或实验，不适合在产品中应用。</a:t>
            </a:r>
            <a:endParaRPr lang="zh-CN" altLang="zh-CN" sz="1800" dirty="0"/>
          </a:p>
        </p:txBody>
      </p:sp>
    </p:spTree>
    <p:extLst>
      <p:ext uri="{BB962C8B-B14F-4D97-AF65-F5344CB8AC3E}">
        <p14:creationId xmlns:p14="http://schemas.microsoft.com/office/powerpoint/2010/main" val="2547870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457200" y="509553"/>
            <a:ext cx="11212285" cy="30008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如何</a:t>
            </a:r>
            <a:r>
              <a:rPr lang="zh-CN" altLang="en-US" sz="1800" dirty="0"/>
              <a:t>实现题目要求的</a:t>
            </a:r>
            <a:r>
              <a:rPr lang="zh-CN" altLang="zh-CN" sz="1800" dirty="0"/>
              <a:t>指示功能</a:t>
            </a:r>
            <a:r>
              <a:rPr lang="zh-CN" altLang="en-US" sz="1800" dirty="0"/>
              <a:t>。</a:t>
            </a:r>
            <a:endParaRPr lang="en-US" altLang="zh-CN" sz="1800" dirty="0"/>
          </a:p>
          <a:p>
            <a:pPr indent="457189">
              <a:lnSpc>
                <a:spcPct val="150000"/>
              </a:lnSpc>
            </a:pPr>
            <a:r>
              <a:rPr lang="zh-CN" altLang="en-US" sz="1800" dirty="0"/>
              <a:t>题目要求</a:t>
            </a:r>
            <a:r>
              <a:rPr lang="zh-CN" altLang="zh-CN" sz="1800" dirty="0"/>
              <a:t>表笔接触铜箔表面时，能给出明确显示</a:t>
            </a:r>
            <a:r>
              <a:rPr lang="zh-CN" altLang="en-US" sz="1800" dirty="0"/>
              <a:t>。</a:t>
            </a:r>
            <a:endParaRPr lang="en-US" altLang="zh-CN" sz="1800" dirty="0"/>
          </a:p>
          <a:p>
            <a:pPr indent="457189">
              <a:lnSpc>
                <a:spcPct val="150000"/>
              </a:lnSpc>
            </a:pPr>
            <a:r>
              <a:rPr lang="zh-CN" altLang="zh-CN" sz="1800" dirty="0"/>
              <a:t>方法</a:t>
            </a:r>
            <a:r>
              <a:rPr lang="zh-CN" altLang="en-US" sz="1800" dirty="0"/>
              <a:t>一、</a:t>
            </a:r>
            <a:r>
              <a:rPr lang="zh-CN" altLang="zh-CN" sz="1800" dirty="0"/>
              <a:t>直接根据</a:t>
            </a:r>
            <a:r>
              <a:rPr lang="en-US" altLang="zh-CN" sz="1800" dirty="0"/>
              <a:t>ADC</a:t>
            </a:r>
            <a:r>
              <a:rPr lang="zh-CN" altLang="zh-CN" sz="1800" dirty="0"/>
              <a:t>的结果进行判断：表笔没有接触铜箔板时输出信号接近为零。但是这个方法在表笔移到铜箔板右侧上下两个角落的时候，由于输入信号很小而可能引起误判。</a:t>
            </a:r>
            <a:endParaRPr lang="en-US" altLang="zh-CN" sz="1800" dirty="0"/>
          </a:p>
          <a:p>
            <a:pPr indent="457189">
              <a:lnSpc>
                <a:spcPct val="150000"/>
              </a:lnSpc>
            </a:pPr>
            <a:r>
              <a:rPr lang="zh-CN" altLang="zh-CN" sz="1800" dirty="0"/>
              <a:t>方法</a:t>
            </a:r>
            <a:r>
              <a:rPr lang="zh-CN" altLang="en-US" sz="1800" dirty="0"/>
              <a:t>二、</a:t>
            </a:r>
            <a:r>
              <a:rPr lang="zh-CN" altLang="zh-CN" sz="1800" dirty="0"/>
              <a:t>在仪表放大器上加一个很小的直流偏置。当表笔没有接触铜箔板时，此直流偏置</a:t>
            </a:r>
            <a:r>
              <a:rPr lang="zh-CN" altLang="en-US" sz="1800" dirty="0"/>
              <a:t>（</a:t>
            </a:r>
            <a:r>
              <a:rPr lang="zh-CN" altLang="zh-CN" sz="1800" dirty="0"/>
              <a:t>数十毫伏</a:t>
            </a:r>
            <a:r>
              <a:rPr lang="zh-CN" altLang="en-US" sz="1800" dirty="0"/>
              <a:t>）被</a:t>
            </a:r>
            <a:r>
              <a:rPr lang="en-US" altLang="zh-CN" sz="1800" dirty="0"/>
              <a:t>IA</a:t>
            </a:r>
            <a:r>
              <a:rPr lang="zh-CN" altLang="zh-CN" sz="1800" dirty="0"/>
              <a:t>放大</a:t>
            </a:r>
            <a:r>
              <a:rPr lang="zh-CN" altLang="en-US" sz="1800" dirty="0"/>
              <a:t>后</a:t>
            </a:r>
            <a:r>
              <a:rPr lang="zh-CN" altLang="zh-CN" sz="1800" dirty="0"/>
              <a:t>输出一个很高的直流电压。当表笔接触铜箔板后，由于铜箔板电阻极低，所以</a:t>
            </a:r>
            <a:r>
              <a:rPr lang="en-US" altLang="zh-CN" sz="1800" dirty="0"/>
              <a:t>IA</a:t>
            </a:r>
            <a:r>
              <a:rPr lang="zh-CN" altLang="zh-CN" sz="1800" dirty="0"/>
              <a:t>的直流差分输入电压基本为零</a:t>
            </a:r>
            <a:r>
              <a:rPr lang="zh-CN" altLang="en-US" sz="1800" dirty="0"/>
              <a:t>，输出也接近零</a:t>
            </a:r>
            <a:r>
              <a:rPr lang="zh-CN" altLang="zh-CN" sz="1800" dirty="0"/>
              <a:t>。将直流输出用比较器与一个参考电压比较，就可以准确判断表笔是否接触铜箔板。</a:t>
            </a:r>
            <a:endParaRPr lang="zh-CN" altLang="en-US" sz="1800" dirty="0"/>
          </a:p>
        </p:txBody>
      </p:sp>
      <p:graphicFrame>
        <p:nvGraphicFramePr>
          <p:cNvPr id="7" name="对象 6"/>
          <p:cNvGraphicFramePr>
            <a:graphicFrameLocks noChangeAspect="1"/>
          </p:cNvGraphicFramePr>
          <p:nvPr>
            <p:extLst/>
          </p:nvPr>
        </p:nvGraphicFramePr>
        <p:xfrm>
          <a:off x="3489603" y="3842775"/>
          <a:ext cx="5143001" cy="2247609"/>
        </p:xfrm>
        <a:graphic>
          <a:graphicData uri="http://schemas.openxmlformats.org/presentationml/2006/ole">
            <mc:AlternateContent xmlns:mc="http://schemas.openxmlformats.org/markup-compatibility/2006">
              <mc:Choice xmlns:v="urn:schemas-microsoft-com:vml" Requires="v">
                <p:oleObj spid="_x0000_s29710" name="Visio" r:id="rId3" imgW="3327057" imgH="1454221" progId="Visio.Drawing.15">
                  <p:embed/>
                </p:oleObj>
              </mc:Choice>
              <mc:Fallback>
                <p:oleObj name="Visio" r:id="rId3" imgW="3327057" imgH="1454221" progId="Visio.Drawing.15">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9603" y="3842775"/>
                        <a:ext cx="5143001" cy="2247609"/>
                      </a:xfrm>
                      <a:prstGeom prst="rect">
                        <a:avLst/>
                      </a:prstGeom>
                      <a:noFill/>
                    </p:spPr>
                  </p:pic>
                </p:oleObj>
              </mc:Fallback>
            </mc:AlternateContent>
          </a:graphicData>
        </a:graphic>
      </p:graphicFrame>
    </p:spTree>
    <p:extLst>
      <p:ext uri="{BB962C8B-B14F-4D97-AF65-F5344CB8AC3E}">
        <p14:creationId xmlns:p14="http://schemas.microsoft.com/office/powerpoint/2010/main" val="2748033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文本框 4"/>
          <p:cNvSpPr txBox="1"/>
          <p:nvPr/>
        </p:nvSpPr>
        <p:spPr>
          <a:xfrm>
            <a:off x="522515" y="399311"/>
            <a:ext cx="11190513" cy="58587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如何</a:t>
            </a:r>
            <a:r>
              <a:rPr lang="zh-CN" altLang="en-US" sz="1800" dirty="0"/>
              <a:t>降低噪声与干扰</a:t>
            </a:r>
            <a:endParaRPr lang="en-US" altLang="zh-CN" sz="1800" dirty="0"/>
          </a:p>
          <a:p>
            <a:pPr indent="457189">
              <a:lnSpc>
                <a:spcPct val="150000"/>
              </a:lnSpc>
            </a:pPr>
            <a:r>
              <a:rPr lang="zh-CN" altLang="en-US" sz="1800" dirty="0"/>
              <a:t>这个题目是一个微弱信号检测电路，所以如何抗干扰与降低噪声就是一个非常重要的问题。在实验室条件下，主要的干扰源有以下几个：</a:t>
            </a:r>
            <a:endParaRPr lang="en-US" altLang="zh-CN" sz="1800" dirty="0"/>
          </a:p>
          <a:p>
            <a:pPr indent="457189">
              <a:lnSpc>
                <a:spcPct val="150000"/>
              </a:lnSpc>
            </a:pPr>
            <a:r>
              <a:rPr lang="en-US" altLang="zh-CN" sz="1800" dirty="0"/>
              <a:t>1</a:t>
            </a:r>
            <a:r>
              <a:rPr lang="zh-CN" altLang="en-US" sz="1800" dirty="0"/>
              <a:t>、来自电网的干扰，有</a:t>
            </a:r>
            <a:r>
              <a:rPr lang="en-US" altLang="zh-CN" sz="1800" dirty="0"/>
              <a:t>50Hz</a:t>
            </a:r>
            <a:r>
              <a:rPr lang="zh-CN" altLang="en-US" sz="1800" dirty="0"/>
              <a:t>与</a:t>
            </a:r>
            <a:r>
              <a:rPr lang="en-US" altLang="zh-CN" sz="1800" dirty="0"/>
              <a:t>100Hz</a:t>
            </a:r>
            <a:r>
              <a:rPr lang="zh-CN" altLang="en-US" sz="1800" dirty="0"/>
              <a:t>的工频干扰，还有工频的高次谐波的干扰。另外由于现在采用开关电源的电器日益增多，所以开关信号及其谐波的干扰也相当厉害。其传输途径大部分通过电源进入，也有从空间通过电场和磁场进入的。</a:t>
            </a:r>
            <a:endParaRPr lang="en-US" altLang="zh-CN" sz="1800" dirty="0"/>
          </a:p>
          <a:p>
            <a:pPr indent="457189">
              <a:lnSpc>
                <a:spcPct val="150000"/>
              </a:lnSpc>
            </a:pPr>
            <a:r>
              <a:rPr lang="zh-CN" altLang="en-US" sz="1800" dirty="0"/>
              <a:t>应对电源线引入的干扰，通常在电源线输入端插入抗干扰的滤波器。但是对于我们的题目来说，采用的是稳压电源提供的低压电源，所以只能加强电源滤波。</a:t>
            </a:r>
            <a:endParaRPr lang="en-US" altLang="zh-CN" sz="1800" dirty="0"/>
          </a:p>
          <a:p>
            <a:pPr indent="457189">
              <a:lnSpc>
                <a:spcPct val="150000"/>
              </a:lnSpc>
            </a:pPr>
            <a:r>
              <a:rPr lang="zh-CN" altLang="en-US" sz="1800" dirty="0"/>
              <a:t>应对空间进入的干扰，可以采用屏蔽措施，但是更重要的是要尽量减小电路的面积和连线的长度，尤其要避免连线形成一个大圈的情况。</a:t>
            </a:r>
            <a:endParaRPr lang="en-US" altLang="zh-CN" sz="1800" dirty="0"/>
          </a:p>
          <a:p>
            <a:pPr indent="457189">
              <a:lnSpc>
                <a:spcPct val="150000"/>
              </a:lnSpc>
            </a:pPr>
            <a:r>
              <a:rPr lang="en-US" altLang="zh-CN" sz="1800" dirty="0"/>
              <a:t>2</a:t>
            </a:r>
            <a:r>
              <a:rPr lang="zh-CN" altLang="en-US" sz="1800" dirty="0"/>
              <a:t>、空间的高频电磁信号干扰。但是由于我们这个题目的信号频率较低，这种干扰基本可以忽略。</a:t>
            </a:r>
            <a:endParaRPr lang="en-US" altLang="zh-CN" sz="1800" dirty="0"/>
          </a:p>
          <a:p>
            <a:pPr indent="457189">
              <a:lnSpc>
                <a:spcPct val="150000"/>
              </a:lnSpc>
            </a:pPr>
            <a:r>
              <a:rPr lang="en-US" altLang="zh-CN" sz="1800" dirty="0"/>
              <a:t>3</a:t>
            </a:r>
            <a:r>
              <a:rPr lang="zh-CN" altLang="en-US" sz="1800" dirty="0"/>
              <a:t>、系统自身的相互影响。在本题目中那个产生覆铜板电流的驱动模块本身就是一个很强的干扰源，所以在整机安排时可以将覆铜板、放大器等检测电路与电流驱动模块拉开一些距离，尤其它们的电源与地线必须单独从稳压电源处拉出去，不能混连。</a:t>
            </a:r>
          </a:p>
        </p:txBody>
      </p:sp>
    </p:spTree>
    <p:extLst>
      <p:ext uri="{BB962C8B-B14F-4D97-AF65-F5344CB8AC3E}">
        <p14:creationId xmlns:p14="http://schemas.microsoft.com/office/powerpoint/2010/main" val="945639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矩形 4"/>
          <p:cNvSpPr/>
          <p:nvPr/>
        </p:nvSpPr>
        <p:spPr>
          <a:xfrm>
            <a:off x="442687" y="247099"/>
            <a:ext cx="11378900" cy="2077492"/>
          </a:xfrm>
          <a:prstGeom prst="rect">
            <a:avLst/>
          </a:prstGeom>
        </p:spPr>
        <p:txBody>
          <a:bodyPr wrap="square">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解决</a:t>
            </a:r>
            <a:r>
              <a:rPr lang="zh-CN" altLang="zh-CN" sz="3200" dirty="0" smtClean="0">
                <a:solidFill>
                  <a:srgbClr val="FF0000"/>
                </a:solidFill>
                <a:latin typeface="隶书" panose="02010509060101010101" pitchFamily="49" charset="-122"/>
                <a:ea typeface="隶书" panose="02010509060101010101" pitchFamily="49" charset="-122"/>
              </a:rPr>
              <a:t>方案</a:t>
            </a:r>
            <a:r>
              <a:rPr lang="zh-CN" altLang="en-US" sz="3200" dirty="0" smtClean="0">
                <a:solidFill>
                  <a:srgbClr val="FF0000"/>
                </a:solidFill>
                <a:latin typeface="隶书" panose="02010509060101010101" pitchFamily="49" charset="-122"/>
                <a:ea typeface="隶书" panose="02010509060101010101" pitchFamily="49" charset="-122"/>
              </a:rPr>
              <a:t>二（备选）</a:t>
            </a:r>
            <a:endParaRPr lang="en-US" altLang="zh-CN" sz="3200" dirty="0">
              <a:solidFill>
                <a:srgbClr val="FF0000"/>
              </a:solidFill>
              <a:latin typeface="隶书" panose="02010509060101010101" pitchFamily="49" charset="-122"/>
              <a:ea typeface="隶书" panose="02010509060101010101" pitchFamily="49" charset="-122"/>
            </a:endParaRPr>
          </a:p>
          <a:p>
            <a:pPr marL="342891" indent="-342891">
              <a:lnSpc>
                <a:spcPct val="150000"/>
              </a:lnSpc>
              <a:buFont typeface="Wingdings" panose="05000000000000000000" pitchFamily="2" charset="2"/>
              <a:buChar char="l"/>
            </a:pPr>
            <a:r>
              <a:rPr lang="zh-CN" altLang="en-US" sz="1800" dirty="0">
                <a:solidFill>
                  <a:srgbClr val="FF0000"/>
                </a:solidFill>
                <a:latin typeface="+mj-ea"/>
              </a:rPr>
              <a:t>交流驱动、锁定放大器放大</a:t>
            </a:r>
            <a:endParaRPr lang="en-US" altLang="zh-CN" sz="1800" dirty="0">
              <a:solidFill>
                <a:srgbClr val="FF0000"/>
              </a:solidFill>
              <a:latin typeface="+mj-ea"/>
            </a:endParaRPr>
          </a:p>
          <a:p>
            <a:pPr indent="457189">
              <a:lnSpc>
                <a:spcPct val="150000"/>
              </a:lnSpc>
            </a:pPr>
            <a:r>
              <a:rPr lang="zh-CN" altLang="en-US" sz="1800" dirty="0" smtClean="0">
                <a:latin typeface="+mj-ea"/>
              </a:rPr>
              <a:t>若输入端的信噪比很差，则</a:t>
            </a:r>
            <a:r>
              <a:rPr lang="zh-CN" altLang="en-US" sz="1800" dirty="0">
                <a:latin typeface="+mj-ea"/>
              </a:rPr>
              <a:t>前</a:t>
            </a:r>
            <a:r>
              <a:rPr lang="zh-CN" altLang="en-US" sz="1800" dirty="0" smtClean="0">
                <a:latin typeface="+mj-ea"/>
              </a:rPr>
              <a:t>述方案可能无法得到满意的检测结果，此时就必须使用锁定放大器方案。该</a:t>
            </a:r>
            <a:r>
              <a:rPr lang="zh-CN" altLang="en-US" sz="1800" dirty="0">
                <a:latin typeface="+mj-ea"/>
              </a:rPr>
              <a:t>方案的结构框图如下，其中驱动信号源以及仪表放大器部分与前面带通滤波器方案中的结构是相同的。</a:t>
            </a:r>
            <a:endParaRPr lang="en-US" altLang="zh-CN" sz="1800" dirty="0">
              <a:latin typeface="+mj-ea"/>
            </a:endParaRPr>
          </a:p>
        </p:txBody>
      </p:sp>
      <p:pic>
        <p:nvPicPr>
          <p:cNvPr id="8" name="图片 7"/>
          <p:cNvPicPr>
            <a:picLocks noChangeAspect="1"/>
          </p:cNvPicPr>
          <p:nvPr/>
        </p:nvPicPr>
        <p:blipFill>
          <a:blip r:embed="rId2"/>
          <a:stretch>
            <a:fillRect/>
          </a:stretch>
        </p:blipFill>
        <p:spPr>
          <a:xfrm>
            <a:off x="1680480" y="2916698"/>
            <a:ext cx="9203397" cy="2600325"/>
          </a:xfrm>
          <a:prstGeom prst="rect">
            <a:avLst/>
          </a:prstGeom>
        </p:spPr>
      </p:pic>
    </p:spTree>
    <p:extLst>
      <p:ext uri="{BB962C8B-B14F-4D97-AF65-F5344CB8AC3E}">
        <p14:creationId xmlns:p14="http://schemas.microsoft.com/office/powerpoint/2010/main" val="3359829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文本框 4"/>
          <p:cNvSpPr txBox="1"/>
          <p:nvPr/>
        </p:nvSpPr>
        <p:spPr>
          <a:xfrm>
            <a:off x="449943" y="532852"/>
            <a:ext cx="9882559" cy="812530"/>
          </a:xfrm>
          <a:prstGeom prst="rect">
            <a:avLst/>
          </a:prstGeom>
          <a:noFill/>
        </p:spPr>
        <p:txBody>
          <a:bodyPr wrap="square" rtlCol="0">
            <a:spAutoFit/>
          </a:bodyPr>
          <a:lstStyle/>
          <a:p>
            <a:pPr marL="285744" indent="-285744">
              <a:lnSpc>
                <a:spcPct val="130000"/>
              </a:lnSpc>
              <a:buFont typeface="Arial" panose="020B0604020202020204" pitchFamily="34" charset="0"/>
              <a:buChar char="•"/>
            </a:pPr>
            <a:r>
              <a:rPr lang="zh-CN" altLang="en-US" sz="1800" dirty="0"/>
              <a:t>锁定放大器的工作原理</a:t>
            </a:r>
            <a:endParaRPr lang="en-US" altLang="zh-CN" sz="1800" dirty="0"/>
          </a:p>
          <a:p>
            <a:pPr indent="457189">
              <a:lnSpc>
                <a:spcPct val="130000"/>
              </a:lnSpc>
            </a:pPr>
            <a:endParaRPr lang="zh-CN" altLang="en-US" sz="1800" dirty="0"/>
          </a:p>
        </p:txBody>
      </p:sp>
      <p:pic>
        <p:nvPicPr>
          <p:cNvPr id="7" name="图片 6"/>
          <p:cNvPicPr>
            <a:picLocks noChangeAspect="1"/>
          </p:cNvPicPr>
          <p:nvPr/>
        </p:nvPicPr>
        <p:blipFill>
          <a:blip r:embed="rId3"/>
          <a:stretch>
            <a:fillRect/>
          </a:stretch>
        </p:blipFill>
        <p:spPr>
          <a:xfrm>
            <a:off x="2343183" y="1055008"/>
            <a:ext cx="7989319" cy="1975450"/>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2082160913"/>
              </p:ext>
            </p:extLst>
          </p:nvPr>
        </p:nvGraphicFramePr>
        <p:xfrm>
          <a:off x="5896429" y="3319198"/>
          <a:ext cx="1191176" cy="304941"/>
        </p:xfrm>
        <a:graphic>
          <a:graphicData uri="http://schemas.openxmlformats.org/presentationml/2006/ole">
            <mc:AlternateContent xmlns:mc="http://schemas.openxmlformats.org/markup-compatibility/2006">
              <mc:Choice xmlns:v="urn:schemas-microsoft-com:vml" Requires="v">
                <p:oleObj spid="_x0000_s4392" name="Equation" r:id="rId4" imgW="812447" imgH="203112" progId="Equation.DSMT4">
                  <p:embed/>
                </p:oleObj>
              </mc:Choice>
              <mc:Fallback>
                <p:oleObj name="Equation" r:id="rId4" imgW="812447" imgH="203112"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6429" y="3319198"/>
                        <a:ext cx="1191176" cy="30494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832321278"/>
              </p:ext>
            </p:extLst>
          </p:nvPr>
        </p:nvGraphicFramePr>
        <p:xfrm>
          <a:off x="8987517" y="3319197"/>
          <a:ext cx="895763" cy="304941"/>
        </p:xfrm>
        <a:graphic>
          <a:graphicData uri="http://schemas.openxmlformats.org/presentationml/2006/ole">
            <mc:AlternateContent xmlns:mc="http://schemas.openxmlformats.org/markup-compatibility/2006">
              <mc:Choice xmlns:v="urn:schemas-microsoft-com:vml" Requires="v">
                <p:oleObj spid="_x0000_s4393" name="Equation" r:id="rId6" imgW="622030" imgH="203112" progId="Equation.DSMT4">
                  <p:embed/>
                </p:oleObj>
              </mc:Choice>
              <mc:Fallback>
                <p:oleObj name="Equation" r:id="rId6" imgW="622030" imgH="203112"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87517" y="3319197"/>
                        <a:ext cx="895763" cy="304941"/>
                      </a:xfrm>
                      <a:prstGeom prst="rect">
                        <a:avLst/>
                      </a:prstGeom>
                      <a:noFill/>
                    </p:spPr>
                  </p:pic>
                </p:oleObj>
              </mc:Fallback>
            </mc:AlternateContent>
          </a:graphicData>
        </a:graphic>
      </p:graphicFrame>
      <p:sp>
        <p:nvSpPr>
          <p:cNvPr id="11" name="Rectangle 4"/>
          <p:cNvSpPr>
            <a:spLocks noChangeArrowheads="1"/>
          </p:cNvSpPr>
          <p:nvPr/>
        </p:nvSpPr>
        <p:spPr bwMode="auto">
          <a:xfrm>
            <a:off x="449943" y="3177346"/>
            <a:ext cx="11190514" cy="20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457189" eaLnBrk="0" hangingPunct="0">
              <a:lnSpc>
                <a:spcPct val="150000"/>
              </a:lnSpc>
            </a:pPr>
            <a:r>
              <a:rPr lang="en-US" altLang="zh-CN" sz="1800" dirty="0" smtClean="0"/>
              <a:t>PSD</a:t>
            </a:r>
            <a:r>
              <a:rPr lang="zh-CN" altLang="en-US" sz="1800" dirty="0" smtClean="0"/>
              <a:t>（相敏检波器）</a:t>
            </a:r>
            <a:r>
              <a:rPr lang="zh-CN" altLang="zh-CN" sz="1800" dirty="0" smtClean="0"/>
              <a:t>是</a:t>
            </a:r>
            <a:r>
              <a:rPr lang="zh-CN" altLang="zh-CN" sz="1800" dirty="0"/>
              <a:t>乘法器。假定输入信号是</a:t>
            </a:r>
            <a:r>
              <a:rPr lang="en-US" altLang="zh-CN" sz="1800" dirty="0"/>
              <a:t>                    </a:t>
            </a:r>
            <a:r>
              <a:rPr lang="zh-CN" altLang="en-US" sz="1800" dirty="0"/>
              <a:t>，同步参考信号是                 </a:t>
            </a:r>
            <a:r>
              <a:rPr lang="zh-CN" altLang="zh-CN" sz="1800" dirty="0"/>
              <a:t>，两个信号相乘后将产生和频与差频成分</a:t>
            </a:r>
            <a:r>
              <a:rPr lang="zh-CN" altLang="en-US" sz="1800" dirty="0"/>
              <a:t>。</a:t>
            </a:r>
            <a:r>
              <a:rPr lang="zh-CN" altLang="zh-CN" sz="1800" dirty="0"/>
              <a:t>由于锁定放大器后续有低通滤波器，能够输出的仅仅是其中的差频部分</a:t>
            </a:r>
            <a:endParaRPr lang="en-US" altLang="zh-CN" sz="1800" dirty="0"/>
          </a:p>
          <a:p>
            <a:pPr indent="457189" eaLnBrk="0" hangingPunct="0">
              <a:lnSpc>
                <a:spcPct val="130000"/>
              </a:lnSpc>
            </a:pPr>
            <a:endParaRPr lang="en-US" altLang="zh-CN" sz="1800" dirty="0"/>
          </a:p>
          <a:p>
            <a:pPr indent="457189" eaLnBrk="0" hangingPunct="0">
              <a:lnSpc>
                <a:spcPct val="130000"/>
              </a:lnSpc>
            </a:pPr>
            <a:endParaRPr lang="en-US" altLang="zh-CN" sz="1800" dirty="0"/>
          </a:p>
          <a:p>
            <a:pPr indent="457189" eaLnBrk="0" hangingPunct="0">
              <a:lnSpc>
                <a:spcPct val="130000"/>
              </a:lnSpc>
            </a:pPr>
            <a:r>
              <a:rPr lang="zh-CN" altLang="zh-CN" sz="1800" dirty="0"/>
              <a:t>当被测信号与参考信号同频同相即</a:t>
            </a:r>
            <a:r>
              <a:rPr lang="en-US" altLang="zh-CN" sz="1800" i="1" dirty="0" err="1"/>
              <a:t>ω</a:t>
            </a:r>
            <a:r>
              <a:rPr lang="en-US" altLang="zh-CN" sz="1800" i="1" baseline="-25000" dirty="0" err="1"/>
              <a:t>i</a:t>
            </a:r>
            <a:r>
              <a:rPr lang="en-US" altLang="zh-CN" sz="1800" dirty="0"/>
              <a:t>=</a:t>
            </a:r>
            <a:r>
              <a:rPr lang="en-US" altLang="zh-CN" sz="1800" i="1" dirty="0" err="1"/>
              <a:t>ω</a:t>
            </a:r>
            <a:r>
              <a:rPr lang="en-US" altLang="zh-CN" sz="1800" i="1" baseline="-25000" dirty="0" err="1"/>
              <a:t>r</a:t>
            </a:r>
            <a:r>
              <a:rPr lang="zh-CN" altLang="zh-CN" sz="1800" dirty="0"/>
              <a:t>且</a:t>
            </a:r>
            <a:r>
              <a:rPr lang="en-US" altLang="zh-CN" sz="1800" i="1" dirty="0"/>
              <a:t>φ</a:t>
            </a:r>
            <a:r>
              <a:rPr lang="en-US" altLang="zh-CN" sz="1800" dirty="0"/>
              <a:t>=0</a:t>
            </a:r>
            <a:r>
              <a:rPr lang="zh-CN" altLang="zh-CN" sz="1800" dirty="0"/>
              <a:t>时有最大输出</a:t>
            </a:r>
            <a:endParaRPr lang="zh-CN" altLang="en-US" sz="1600" dirty="0"/>
          </a:p>
        </p:txBody>
      </p:sp>
      <p:graphicFrame>
        <p:nvGraphicFramePr>
          <p:cNvPr id="14" name="对象 13"/>
          <p:cNvGraphicFramePr>
            <a:graphicFrameLocks noChangeAspect="1"/>
          </p:cNvGraphicFramePr>
          <p:nvPr>
            <p:extLst>
              <p:ext uri="{D42A27DB-BD31-4B8C-83A1-F6EECF244321}">
                <p14:modId xmlns:p14="http://schemas.microsoft.com/office/powerpoint/2010/main" val="4118203856"/>
              </p:ext>
            </p:extLst>
          </p:nvPr>
        </p:nvGraphicFramePr>
        <p:xfrm>
          <a:off x="4438436" y="4007068"/>
          <a:ext cx="2741367" cy="630199"/>
        </p:xfrm>
        <a:graphic>
          <a:graphicData uri="http://schemas.openxmlformats.org/presentationml/2006/ole">
            <mc:AlternateContent xmlns:mc="http://schemas.openxmlformats.org/markup-compatibility/2006">
              <mc:Choice xmlns:v="urn:schemas-microsoft-com:vml" Requires="v">
                <p:oleObj spid="_x0000_s4394" name="Equation" r:id="rId8" imgW="1676400" imgH="368300" progId="Equation.DSMT4">
                  <p:embed/>
                </p:oleObj>
              </mc:Choice>
              <mc:Fallback>
                <p:oleObj name="Equation" r:id="rId8" imgW="1676400" imgH="3683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38436" y="4007068"/>
                        <a:ext cx="2741367" cy="630199"/>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242042642"/>
              </p:ext>
            </p:extLst>
          </p:nvPr>
        </p:nvGraphicFramePr>
        <p:xfrm>
          <a:off x="4951307" y="5172666"/>
          <a:ext cx="1198880" cy="644649"/>
        </p:xfrm>
        <a:graphic>
          <a:graphicData uri="http://schemas.openxmlformats.org/presentationml/2006/ole">
            <mc:AlternateContent xmlns:mc="http://schemas.openxmlformats.org/markup-compatibility/2006">
              <mc:Choice xmlns:v="urn:schemas-microsoft-com:vml" Requires="v">
                <p:oleObj spid="_x0000_s4395" name="Equation" r:id="rId10" imgW="622030" imgH="368140" progId="Equation.DSMT4">
                  <p:embed/>
                </p:oleObj>
              </mc:Choice>
              <mc:Fallback>
                <p:oleObj name="Equation" r:id="rId10" imgW="622030" imgH="36814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51307" y="5172666"/>
                        <a:ext cx="1198880" cy="644649"/>
                      </a:xfrm>
                      <a:prstGeom prst="rect">
                        <a:avLst/>
                      </a:prstGeom>
                      <a:noFill/>
                    </p:spPr>
                  </p:pic>
                </p:oleObj>
              </mc:Fallback>
            </mc:AlternateContent>
          </a:graphicData>
        </a:graphic>
      </p:graphicFrame>
    </p:spTree>
    <p:extLst>
      <p:ext uri="{BB962C8B-B14F-4D97-AF65-F5344CB8AC3E}">
        <p14:creationId xmlns:p14="http://schemas.microsoft.com/office/powerpoint/2010/main" val="3393490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矩形 4"/>
          <p:cNvSpPr/>
          <p:nvPr/>
        </p:nvSpPr>
        <p:spPr>
          <a:xfrm>
            <a:off x="486229" y="592052"/>
            <a:ext cx="11176000" cy="5027723"/>
          </a:xfrm>
          <a:prstGeom prst="rect">
            <a:avLst/>
          </a:prstGeom>
        </p:spPr>
        <p:txBody>
          <a:bodyPr wrap="square">
            <a:spAutoFit/>
          </a:bodyPr>
          <a:lstStyle/>
          <a:p>
            <a:pPr indent="457189">
              <a:lnSpc>
                <a:spcPct val="150000"/>
              </a:lnSpc>
            </a:pPr>
            <a:r>
              <a:rPr lang="zh-CN" altLang="zh-CN" sz="1800" dirty="0"/>
              <a:t>混杂在输入信号中的噪声与参考信号的频率和相位都相同的概率极低，所以噪声信号经过</a:t>
            </a:r>
            <a:r>
              <a:rPr lang="en-US" altLang="zh-CN" sz="1800" dirty="0"/>
              <a:t>PSD</a:t>
            </a:r>
            <a:r>
              <a:rPr lang="zh-CN" altLang="zh-CN" sz="1800" dirty="0"/>
              <a:t>以后绝大部分被变换为频率大于零的成分，即使有一小部分频率相同的分量也因为相位不同而幅度很小。所以只要在</a:t>
            </a:r>
            <a:r>
              <a:rPr lang="en-US" altLang="zh-CN" sz="1800" dirty="0"/>
              <a:t>PSD</a:t>
            </a:r>
            <a:r>
              <a:rPr lang="zh-CN" altLang="zh-CN" sz="1800" dirty="0"/>
              <a:t>之后设置通带足够窄的低通滤波器就能过滤掉绝大部分噪声。</a:t>
            </a:r>
            <a:endParaRPr lang="en-US" altLang="zh-CN" sz="1800" dirty="0"/>
          </a:p>
          <a:p>
            <a:pPr indent="457189">
              <a:lnSpc>
                <a:spcPct val="150000"/>
              </a:lnSpc>
            </a:pPr>
            <a:r>
              <a:rPr lang="zh-CN" altLang="zh-CN" sz="1800" dirty="0"/>
              <a:t>从频谱的角度看，在</a:t>
            </a:r>
            <a:r>
              <a:rPr lang="en-US" altLang="zh-CN" sz="1800" dirty="0"/>
              <a:t>PSD</a:t>
            </a:r>
            <a:r>
              <a:rPr lang="zh-CN" altLang="zh-CN" sz="1800" dirty="0"/>
              <a:t>后面连接一个带宽为</a:t>
            </a:r>
            <a:r>
              <a:rPr lang="en-US" altLang="zh-CN" sz="1800" dirty="0"/>
              <a:t>ω</a:t>
            </a:r>
            <a:r>
              <a:rPr lang="en-US" altLang="zh-CN" sz="1800" baseline="-25000" dirty="0"/>
              <a:t>0</a:t>
            </a:r>
            <a:r>
              <a:rPr lang="zh-CN" altLang="zh-CN" sz="1800" dirty="0"/>
              <a:t>的低通滤波器相当于原信号通过一个带宽为</a:t>
            </a:r>
            <a:r>
              <a:rPr lang="en-US" altLang="zh-CN" sz="1800" dirty="0"/>
              <a:t>2ω</a:t>
            </a:r>
            <a:r>
              <a:rPr lang="en-US" altLang="zh-CN" sz="1800" baseline="-25000" dirty="0"/>
              <a:t>0</a:t>
            </a:r>
            <a:r>
              <a:rPr lang="zh-CN" altLang="zh-CN" sz="1800" dirty="0"/>
              <a:t>的带通滤波器。</a:t>
            </a:r>
            <a:endParaRPr lang="en-US" altLang="zh-CN" sz="1800" dirty="0"/>
          </a:p>
          <a:p>
            <a:pPr indent="457189">
              <a:lnSpc>
                <a:spcPct val="150000"/>
              </a:lnSpc>
            </a:pPr>
            <a:r>
              <a:rPr lang="zh-CN" altLang="zh-CN" sz="1800" dirty="0"/>
              <a:t>尽管从理论上说这两种方法都具有提高信噪比的功能，但是在实际电路中，实现一个带宽极窄的低通滤波器很方便，但是要实现一个带宽极窄（</a:t>
            </a:r>
            <a:r>
              <a:rPr lang="en-US" altLang="zh-CN" sz="1800" dirty="0"/>
              <a:t>Q</a:t>
            </a:r>
            <a:r>
              <a:rPr lang="zh-CN" altLang="zh-CN" sz="1800" dirty="0"/>
              <a:t>值极高）的带通滤波器是一个很困难的事，即使能够实现其稳定性也比低通滤波器差得多。</a:t>
            </a:r>
          </a:p>
          <a:p>
            <a:pPr indent="457189">
              <a:lnSpc>
                <a:spcPct val="150000"/>
              </a:lnSpc>
            </a:pPr>
            <a:r>
              <a:rPr lang="zh-CN" altLang="zh-CN" sz="1800" dirty="0"/>
              <a:t>由此可见锁定放大器是一种用于检测被淹没在噪声中的微弱信号的实用电路。其基本工作原理就是首先将待测信号搬移到参考频率，从而解决放大器低频端的噪声与漂移问题；然后在解调时又将信号频谱搬移回零频，利用同步检波方式对频率和相位都敏感的特点以及稳定的窄带低通滤波器滤除绝大部分噪声，最后得到信噪比极高的输出。</a:t>
            </a:r>
          </a:p>
        </p:txBody>
      </p:sp>
    </p:spTree>
    <p:extLst>
      <p:ext uri="{BB962C8B-B14F-4D97-AF65-F5344CB8AC3E}">
        <p14:creationId xmlns:p14="http://schemas.microsoft.com/office/powerpoint/2010/main" val="182283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614875949"/>
              </p:ext>
            </p:extLst>
          </p:nvPr>
        </p:nvGraphicFramePr>
        <p:xfrm>
          <a:off x="4053706" y="1588880"/>
          <a:ext cx="3776751" cy="1632277"/>
        </p:xfrm>
        <a:graphic>
          <a:graphicData uri="http://schemas.openxmlformats.org/presentationml/2006/ole">
            <mc:AlternateContent xmlns:mc="http://schemas.openxmlformats.org/markup-compatibility/2006">
              <mc:Choice xmlns:v="urn:schemas-microsoft-com:vml" Requires="v">
                <p:oleObj spid="_x0000_s6350" name="Visio" r:id="rId3" imgW="1918891" imgH="815502" progId="Visio.Drawing.11">
                  <p:embed/>
                </p:oleObj>
              </mc:Choice>
              <mc:Fallback>
                <p:oleObj name="Visio" r:id="rId3" imgW="1918891" imgH="815502"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3706" y="1588880"/>
                        <a:ext cx="3776751" cy="1632277"/>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94132354"/>
              </p:ext>
            </p:extLst>
          </p:nvPr>
        </p:nvGraphicFramePr>
        <p:xfrm>
          <a:off x="5369711" y="3411987"/>
          <a:ext cx="1034075" cy="309149"/>
        </p:xfrm>
        <a:graphic>
          <a:graphicData uri="http://schemas.openxmlformats.org/presentationml/2006/ole">
            <mc:AlternateContent xmlns:mc="http://schemas.openxmlformats.org/markup-compatibility/2006">
              <mc:Choice xmlns:v="urn:schemas-microsoft-com:vml" Requires="v">
                <p:oleObj spid="_x0000_s6351" name="Equation" r:id="rId5" imgW="812447" imgH="203112" progId="Equation.DSMT4">
                  <p:embed/>
                </p:oleObj>
              </mc:Choice>
              <mc:Fallback>
                <p:oleObj name="Equation" r:id="rId5" imgW="812447" imgH="203112" progId="Equation.DSMT4">
                  <p:embed/>
                  <p:pic>
                    <p:nvPicPr>
                      <p:cNvPr id="6"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9711" y="3411987"/>
                        <a:ext cx="1034075" cy="309149"/>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009611212"/>
              </p:ext>
            </p:extLst>
          </p:nvPr>
        </p:nvGraphicFramePr>
        <p:xfrm>
          <a:off x="4534304" y="4214447"/>
          <a:ext cx="2395519" cy="633404"/>
        </p:xfrm>
        <a:graphic>
          <a:graphicData uri="http://schemas.openxmlformats.org/presentationml/2006/ole">
            <mc:AlternateContent xmlns:mc="http://schemas.openxmlformats.org/markup-compatibility/2006">
              <mc:Choice xmlns:v="urn:schemas-microsoft-com:vml" Requires="v">
                <p:oleObj spid="_x0000_s6352" name="Equation" r:id="rId7" imgW="1701800" imgH="368300" progId="Equation.DSMT4">
                  <p:embed/>
                </p:oleObj>
              </mc:Choice>
              <mc:Fallback>
                <p:oleObj name="Equation" r:id="rId7" imgW="1701800" imgH="368300" progId="Equation.DSMT4">
                  <p:embed/>
                  <p:pic>
                    <p:nvPicPr>
                      <p:cNvPr id="8"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4304" y="4214447"/>
                        <a:ext cx="2395519" cy="633404"/>
                      </a:xfrm>
                      <a:prstGeom prst="rect">
                        <a:avLst/>
                      </a:prstGeom>
                      <a:noFill/>
                    </p:spPr>
                  </p:pic>
                </p:oleObj>
              </mc:Fallback>
            </mc:AlternateContent>
          </a:graphicData>
        </a:graphic>
      </p:graphicFrame>
      <p:sp>
        <p:nvSpPr>
          <p:cNvPr id="10" name="Rectangle 6"/>
          <p:cNvSpPr>
            <a:spLocks noChangeArrowheads="1"/>
          </p:cNvSpPr>
          <p:nvPr/>
        </p:nvSpPr>
        <p:spPr bwMode="auto">
          <a:xfrm>
            <a:off x="464457" y="414086"/>
            <a:ext cx="11357129" cy="1288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44" indent="-285744">
              <a:lnSpc>
                <a:spcPct val="150000"/>
              </a:lnSpc>
              <a:buFont typeface="Arial" panose="020B0604020202020204" pitchFamily="34" charset="0"/>
              <a:buChar char="•"/>
            </a:pPr>
            <a:r>
              <a:rPr lang="en-US" altLang="zh-CN" sz="1800" dirty="0">
                <a:latin typeface="Arial" charset="0"/>
              </a:rPr>
              <a:t>PSD</a:t>
            </a:r>
            <a:r>
              <a:rPr lang="zh-CN" altLang="en-US" sz="1800" dirty="0">
                <a:latin typeface="Arial" charset="0"/>
              </a:rPr>
              <a:t>电路</a:t>
            </a:r>
          </a:p>
          <a:p>
            <a:pPr indent="457189">
              <a:lnSpc>
                <a:spcPct val="150000"/>
              </a:lnSpc>
            </a:pPr>
            <a:r>
              <a:rPr lang="zh-CN" altLang="en-US" sz="1800" dirty="0">
                <a:latin typeface="Arial" charset="0"/>
              </a:rPr>
              <a:t>理论上说</a:t>
            </a:r>
            <a:r>
              <a:rPr lang="en-US" altLang="zh-CN" sz="1800" dirty="0">
                <a:latin typeface="Arial" charset="0"/>
              </a:rPr>
              <a:t>PSD</a:t>
            </a:r>
            <a:r>
              <a:rPr lang="zh-CN" altLang="en-US" sz="1800" dirty="0">
                <a:latin typeface="Arial" charset="0"/>
              </a:rPr>
              <a:t>电路可以是任何一种乘法电路，但是实际的锁定放大器几乎都采用工作在开关模式的平衡解调电路作为</a:t>
            </a:r>
            <a:r>
              <a:rPr lang="en-US" altLang="zh-CN" sz="1800" dirty="0">
                <a:latin typeface="Arial" charset="0"/>
              </a:rPr>
              <a:t>PSD</a:t>
            </a:r>
            <a:r>
              <a:rPr lang="zh-CN" altLang="en-US" sz="1800" dirty="0">
                <a:latin typeface="Arial" charset="0"/>
              </a:rPr>
              <a:t>电路，如下图所示</a:t>
            </a:r>
            <a:endParaRPr lang="zh-CN" altLang="en-US" sz="1800" dirty="0"/>
          </a:p>
        </p:txBody>
      </p:sp>
      <p:sp>
        <p:nvSpPr>
          <p:cNvPr id="11" name="Rectangle 7"/>
          <p:cNvSpPr>
            <a:spLocks noChangeArrowheads="1"/>
          </p:cNvSpPr>
          <p:nvPr/>
        </p:nvSpPr>
        <p:spPr bwMode="auto">
          <a:xfrm>
            <a:off x="464458" y="3284767"/>
            <a:ext cx="11270342" cy="872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189">
              <a:lnSpc>
                <a:spcPct val="150000"/>
              </a:lnSpc>
            </a:pPr>
            <a:r>
              <a:rPr lang="zh-CN" altLang="en-US" sz="1800" dirty="0">
                <a:latin typeface="Arial" charset="0"/>
              </a:rPr>
              <a:t>图中放大器的电压增益为</a:t>
            </a:r>
            <a:r>
              <a:rPr lang="en-US" altLang="zh-CN" sz="1800" dirty="0">
                <a:latin typeface="+mn-lt"/>
              </a:rPr>
              <a:t>±</a:t>
            </a:r>
            <a:r>
              <a:rPr lang="en-US" altLang="zh-CN" sz="1800" i="1" dirty="0">
                <a:latin typeface="+mn-lt"/>
              </a:rPr>
              <a:t>A</a:t>
            </a:r>
            <a:r>
              <a:rPr lang="zh-CN" altLang="en-US" sz="1800" dirty="0">
                <a:latin typeface="Arial" charset="0"/>
              </a:rPr>
              <a:t>，输入信号是                 ，</a:t>
            </a:r>
            <a:r>
              <a:rPr lang="zh-CN" altLang="zh-CN" sz="1800" dirty="0">
                <a:latin typeface="Arial" charset="0"/>
              </a:rPr>
              <a:t>参考信号角频率是</a:t>
            </a:r>
            <a:r>
              <a:rPr lang="el-GR" altLang="zh-CN" sz="1800" i="1" dirty="0">
                <a:latin typeface="+mn-lt"/>
              </a:rPr>
              <a:t>ω</a:t>
            </a:r>
            <a:r>
              <a:rPr lang="en-US" altLang="zh-CN" sz="1800" i="1" baseline="-25000" dirty="0">
                <a:latin typeface="+mn-lt"/>
              </a:rPr>
              <a:t>r</a:t>
            </a:r>
            <a:r>
              <a:rPr lang="zh-CN" altLang="en-US" sz="1800" dirty="0">
                <a:latin typeface="Arial" charset="0"/>
              </a:rPr>
              <a:t>，</a:t>
            </a:r>
            <a:r>
              <a:rPr lang="zh-CN" altLang="zh-CN" sz="1800" dirty="0">
                <a:latin typeface="Arial" charset="0"/>
              </a:rPr>
              <a:t>参考信号仅仅作为开关驱动信号，其幅度与解调结果无关。经过低通滤波器后的输出电压</a:t>
            </a:r>
            <a:endParaRPr lang="zh-CN" altLang="en-US" sz="1800" dirty="0">
              <a:latin typeface="Arial" charset="0"/>
            </a:endParaRPr>
          </a:p>
        </p:txBody>
      </p:sp>
      <p:sp>
        <p:nvSpPr>
          <p:cNvPr id="14" name="Rectangle 10"/>
          <p:cNvSpPr>
            <a:spLocks noChangeArrowheads="1"/>
          </p:cNvSpPr>
          <p:nvPr/>
        </p:nvSpPr>
        <p:spPr bwMode="auto">
          <a:xfrm>
            <a:off x="464458" y="4879497"/>
            <a:ext cx="11270342"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189">
              <a:lnSpc>
                <a:spcPct val="150000"/>
              </a:lnSpc>
            </a:pPr>
            <a:r>
              <a:rPr lang="zh-CN" altLang="en-US" sz="1800" dirty="0" smtClean="0">
                <a:latin typeface="Arial" charset="0"/>
              </a:rPr>
              <a:t>这种方式中，两个放大器的</a:t>
            </a:r>
            <a:r>
              <a:rPr lang="zh-CN" altLang="en-US" sz="1800" dirty="0">
                <a:latin typeface="Arial" charset="0"/>
              </a:rPr>
              <a:t>增益主要依赖外部电阻确定，</a:t>
            </a:r>
            <a:r>
              <a:rPr lang="zh-CN" altLang="en-US" sz="1800" dirty="0" smtClean="0">
                <a:latin typeface="Arial" charset="0"/>
              </a:rPr>
              <a:t>所以其测量</a:t>
            </a:r>
            <a:r>
              <a:rPr lang="zh-CN" altLang="en-US" sz="1800" dirty="0">
                <a:latin typeface="Arial" charset="0"/>
              </a:rPr>
              <a:t>准确性容易得到保证。另外它还有动态范围大、漂移小等优点。可以避免乘法器电路中动态范围小、误差与直流漂移大、参考信号的幅度和谐波失真会引起结果误差等一系列造成测量误差的因素</a:t>
            </a:r>
          </a:p>
        </p:txBody>
      </p:sp>
    </p:spTree>
    <p:extLst>
      <p:ext uri="{BB962C8B-B14F-4D97-AF65-F5344CB8AC3E}">
        <p14:creationId xmlns:p14="http://schemas.microsoft.com/office/powerpoint/2010/main" val="2856628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10" name="Rectangle 6"/>
          <p:cNvSpPr>
            <a:spLocks noChangeArrowheads="1"/>
          </p:cNvSpPr>
          <p:nvPr/>
        </p:nvSpPr>
        <p:spPr bwMode="auto">
          <a:xfrm>
            <a:off x="395217" y="498108"/>
            <a:ext cx="11313886" cy="1288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189">
              <a:lnSpc>
                <a:spcPct val="150000"/>
              </a:lnSpc>
            </a:pPr>
            <a:r>
              <a:rPr lang="zh-CN" altLang="zh-CN" sz="1800" dirty="0">
                <a:latin typeface="Arial" charset="0"/>
              </a:rPr>
              <a:t>除了用低噪声运放与模拟开关自行组装这种</a:t>
            </a:r>
            <a:r>
              <a:rPr lang="en-US" altLang="zh-CN" sz="1800" dirty="0">
                <a:latin typeface="Arial" charset="0"/>
              </a:rPr>
              <a:t>PSD</a:t>
            </a:r>
            <a:r>
              <a:rPr lang="zh-CN" altLang="zh-CN" sz="1800" dirty="0">
                <a:latin typeface="Arial" charset="0"/>
              </a:rPr>
              <a:t>电路外，还有一系列商品集成电路可以选用。例如</a:t>
            </a:r>
            <a:r>
              <a:rPr lang="en-US" altLang="zh-CN" sz="1800" dirty="0">
                <a:latin typeface="Arial" charset="0"/>
              </a:rPr>
              <a:t>AD630</a:t>
            </a:r>
            <a:r>
              <a:rPr lang="zh-CN" altLang="zh-CN" sz="1800" dirty="0">
                <a:latin typeface="Arial" charset="0"/>
              </a:rPr>
              <a:t>采用了集成电阻，又将模拟开关置于整个反馈回路之中以消除其导通电阻的影响，从而获得极为稳定准确的电压增益，</a:t>
            </a:r>
            <a:r>
              <a:rPr lang="zh-CN" altLang="en-US" sz="1800" dirty="0">
                <a:latin typeface="Arial" charset="0"/>
              </a:rPr>
              <a:t>特别</a:t>
            </a:r>
            <a:r>
              <a:rPr lang="zh-CN" altLang="zh-CN" sz="1800" dirty="0">
                <a:latin typeface="Arial" charset="0"/>
              </a:rPr>
              <a:t>适合作为锁定放大器的</a:t>
            </a:r>
            <a:r>
              <a:rPr lang="en-US" altLang="zh-CN" sz="1800" dirty="0">
                <a:latin typeface="Arial" charset="0"/>
              </a:rPr>
              <a:t>PSD</a:t>
            </a:r>
            <a:r>
              <a:rPr lang="zh-CN" altLang="zh-CN" sz="1800" dirty="0">
                <a:latin typeface="Arial" charset="0"/>
              </a:rPr>
              <a:t>使用</a:t>
            </a:r>
            <a:endParaRPr lang="zh-CN" altLang="en-US" sz="1800" dirty="0">
              <a:latin typeface="Arial" charset="0"/>
            </a:endParaRPr>
          </a:p>
        </p:txBody>
      </p:sp>
      <p:sp>
        <p:nvSpPr>
          <p:cNvPr id="17" name="Rectangle 6"/>
          <p:cNvSpPr>
            <a:spLocks noChangeArrowheads="1"/>
          </p:cNvSpPr>
          <p:nvPr/>
        </p:nvSpPr>
        <p:spPr bwMode="auto">
          <a:xfrm>
            <a:off x="8012680" y="2445159"/>
            <a:ext cx="39108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0"/>
            <a:r>
              <a:rPr lang="en-US" altLang="zh-CN" sz="1800" dirty="0">
                <a:latin typeface="Arial" charset="0"/>
              </a:rPr>
              <a:t>AD630</a:t>
            </a:r>
            <a:r>
              <a:rPr lang="zh-CN" altLang="en-US" sz="1800" dirty="0">
                <a:latin typeface="Arial" charset="0"/>
              </a:rPr>
              <a:t>的增益可以在</a:t>
            </a:r>
            <a:r>
              <a:rPr lang="en-US" altLang="zh-CN" sz="1800" dirty="0">
                <a:latin typeface="Arial" charset="0"/>
              </a:rPr>
              <a:t>1</a:t>
            </a:r>
            <a:r>
              <a:rPr lang="zh-CN" altLang="en-US" sz="1800" dirty="0">
                <a:latin typeface="Arial" charset="0"/>
              </a:rPr>
              <a:t>与</a:t>
            </a:r>
            <a:r>
              <a:rPr lang="en-US" altLang="zh-CN" sz="1800" dirty="0">
                <a:latin typeface="Arial" charset="0"/>
              </a:rPr>
              <a:t>2</a:t>
            </a:r>
            <a:r>
              <a:rPr lang="zh-CN" altLang="en-US" sz="1800" dirty="0">
                <a:latin typeface="Arial" charset="0"/>
              </a:rPr>
              <a:t>之间</a:t>
            </a:r>
            <a:r>
              <a:rPr lang="zh-CN" altLang="en-US" sz="1800" dirty="0" smtClean="0">
                <a:latin typeface="Arial" charset="0"/>
              </a:rPr>
              <a:t>选择</a:t>
            </a:r>
            <a:endParaRPr lang="en-US" altLang="zh-CN" sz="1800" dirty="0" smtClean="0">
              <a:latin typeface="Arial" charset="0"/>
            </a:endParaRPr>
          </a:p>
          <a:p>
            <a:pPr indent="0"/>
            <a:r>
              <a:rPr lang="zh-CN" altLang="en-US" sz="1800" dirty="0" smtClean="0">
                <a:latin typeface="Arial" charset="0"/>
              </a:rPr>
              <a:t>图</a:t>
            </a:r>
            <a:r>
              <a:rPr lang="zh-CN" altLang="en-US" sz="1800" dirty="0">
                <a:latin typeface="Arial" charset="0"/>
              </a:rPr>
              <a:t>中接法为</a:t>
            </a:r>
            <a:r>
              <a:rPr lang="en-US" altLang="zh-CN" sz="1800" dirty="0" smtClean="0">
                <a:latin typeface="Arial" charset="0"/>
              </a:rPr>
              <a:t>G=1</a:t>
            </a:r>
          </a:p>
          <a:p>
            <a:pPr indent="0"/>
            <a:r>
              <a:rPr lang="zh-CN" altLang="en-US" sz="1800" dirty="0" smtClean="0">
                <a:latin typeface="Arial" charset="0"/>
              </a:rPr>
              <a:t>将此线断开并将</a:t>
            </a:r>
            <a:r>
              <a:rPr lang="en-US" altLang="zh-CN" sz="1800" dirty="0" smtClean="0">
                <a:latin typeface="Arial" charset="0"/>
              </a:rPr>
              <a:t>14</a:t>
            </a:r>
            <a:r>
              <a:rPr lang="zh-CN" altLang="en-US" sz="1800" dirty="0" smtClean="0">
                <a:latin typeface="Arial" charset="0"/>
              </a:rPr>
              <a:t>脚接地（信号地）为</a:t>
            </a:r>
            <a:r>
              <a:rPr lang="en-US" altLang="zh-CN" sz="1800" dirty="0" smtClean="0">
                <a:latin typeface="Arial" charset="0"/>
              </a:rPr>
              <a:t>G=2</a:t>
            </a:r>
            <a:endParaRPr lang="zh-CN" altLang="en-US" sz="1800" dirty="0">
              <a:latin typeface="Arial" charset="0"/>
            </a:endParaRPr>
          </a:p>
        </p:txBody>
      </p:sp>
      <p:sp>
        <p:nvSpPr>
          <p:cNvPr id="5" name="椭圆 4"/>
          <p:cNvSpPr/>
          <p:nvPr/>
        </p:nvSpPr>
        <p:spPr>
          <a:xfrm>
            <a:off x="3867463" y="5239440"/>
            <a:ext cx="1828800" cy="820057"/>
          </a:xfrm>
          <a:prstGeom prst="ellipse">
            <a:avLst/>
          </a:pr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H="1">
            <a:off x="5696263" y="5584370"/>
            <a:ext cx="1829394" cy="65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717371" y="5326304"/>
            <a:ext cx="2489199" cy="646331"/>
          </a:xfrm>
          <a:prstGeom prst="rect">
            <a:avLst/>
          </a:prstGeom>
          <a:noFill/>
        </p:spPr>
        <p:txBody>
          <a:bodyPr wrap="square" rtlCol="0">
            <a:spAutoFit/>
          </a:bodyPr>
          <a:lstStyle/>
          <a:p>
            <a:r>
              <a:rPr lang="zh-CN" altLang="en-US" sz="1800" dirty="0" smtClean="0"/>
              <a:t>调零电路，消除放大器输入失调的影响</a:t>
            </a:r>
            <a:endParaRPr lang="zh-CN" altLang="en-US" sz="1800" dirty="0"/>
          </a:p>
        </p:txBody>
      </p:sp>
      <p:cxnSp>
        <p:nvCxnSpPr>
          <p:cNvPr id="13" name="直接箭头连接符 12"/>
          <p:cNvCxnSpPr/>
          <p:nvPr/>
        </p:nvCxnSpPr>
        <p:spPr>
          <a:xfrm flipH="1" flipV="1">
            <a:off x="6023429" y="3131778"/>
            <a:ext cx="1930400" cy="199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465696" y="2862826"/>
            <a:ext cx="1334982" cy="2585323"/>
          </a:xfrm>
          <a:prstGeom prst="rect">
            <a:avLst/>
          </a:prstGeom>
          <a:noFill/>
        </p:spPr>
        <p:txBody>
          <a:bodyPr wrap="square" rtlCol="0">
            <a:spAutoFit/>
          </a:bodyPr>
          <a:lstStyle/>
          <a:p>
            <a:r>
              <a:rPr lang="zh-CN" altLang="en-US" sz="1800" dirty="0" smtClean="0"/>
              <a:t>注意电源为单电源接法，信号地的实际电位为电源的一半，所以对于信号地，此电路的电源为正负</a:t>
            </a:r>
            <a:r>
              <a:rPr lang="en-US" altLang="zh-CN" sz="1800" dirty="0" smtClean="0"/>
              <a:t>6V</a:t>
            </a:r>
            <a:endParaRPr lang="zh-CN" altLang="en-US" sz="1800" dirty="0"/>
          </a:p>
        </p:txBody>
      </p:sp>
      <p:pic>
        <p:nvPicPr>
          <p:cNvPr id="6" name="图片 5"/>
          <p:cNvPicPr>
            <a:picLocks noChangeAspect="1"/>
          </p:cNvPicPr>
          <p:nvPr/>
        </p:nvPicPr>
        <p:blipFill>
          <a:blip r:embed="rId2"/>
          <a:stretch>
            <a:fillRect/>
          </a:stretch>
        </p:blipFill>
        <p:spPr>
          <a:xfrm>
            <a:off x="1889858" y="2402042"/>
            <a:ext cx="5904313" cy="3570592"/>
          </a:xfrm>
          <a:prstGeom prst="rect">
            <a:avLst/>
          </a:prstGeom>
        </p:spPr>
      </p:pic>
    </p:spTree>
    <p:extLst>
      <p:ext uri="{BB962C8B-B14F-4D97-AF65-F5344CB8AC3E}">
        <p14:creationId xmlns:p14="http://schemas.microsoft.com/office/powerpoint/2010/main" val="1479184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6" name="Rectangle 6"/>
          <p:cNvSpPr>
            <a:spLocks noChangeArrowheads="1"/>
          </p:cNvSpPr>
          <p:nvPr/>
        </p:nvSpPr>
        <p:spPr bwMode="auto">
          <a:xfrm>
            <a:off x="500744" y="456981"/>
            <a:ext cx="1115422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44" indent="-285744">
              <a:lnSpc>
                <a:spcPct val="150000"/>
              </a:lnSpc>
              <a:buFont typeface="Arial" panose="020B0604020202020204" pitchFamily="34" charset="0"/>
              <a:buChar char="•"/>
            </a:pPr>
            <a:r>
              <a:rPr lang="zh-CN" altLang="en-US" sz="1800" dirty="0">
                <a:latin typeface="黑体" panose="02010609060101010101" pitchFamily="49" charset="-122"/>
                <a:ea typeface="黑体" panose="02010609060101010101" pitchFamily="49" charset="-122"/>
              </a:rPr>
              <a:t>锁定放大器的增益</a:t>
            </a:r>
          </a:p>
          <a:p>
            <a:pPr indent="457189">
              <a:lnSpc>
                <a:spcPct val="150000"/>
              </a:lnSpc>
            </a:pPr>
            <a:r>
              <a:rPr lang="zh-CN" altLang="en-US" sz="1800" dirty="0">
                <a:cs typeface="Times New Roman" panose="02020603050405020304" pitchFamily="18" charset="0"/>
              </a:rPr>
              <a:t>若交流放大器的增益为</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AC</a:t>
            </a:r>
            <a:r>
              <a:rPr lang="zh-CN" altLang="en-US" sz="1800" dirty="0">
                <a:cs typeface="Times New Roman" panose="02020603050405020304" pitchFamily="18" charset="0"/>
              </a:rPr>
              <a:t>，</a:t>
            </a:r>
            <a:r>
              <a:rPr lang="en-US" altLang="zh-CN" sz="1800" dirty="0">
                <a:cs typeface="Times New Roman" panose="02020603050405020304" pitchFamily="18" charset="0"/>
              </a:rPr>
              <a:t>PSD</a:t>
            </a:r>
            <a:r>
              <a:rPr lang="zh-CN" altLang="en-US" sz="1800" dirty="0">
                <a:cs typeface="Times New Roman" panose="02020603050405020304" pitchFamily="18" charset="0"/>
              </a:rPr>
              <a:t>的增益为</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D</a:t>
            </a:r>
            <a:r>
              <a:rPr lang="zh-CN" altLang="en-US" sz="1800" dirty="0">
                <a:cs typeface="Times New Roman" panose="02020603050405020304" pitchFamily="18" charset="0"/>
              </a:rPr>
              <a:t>，直流放大器的增益为</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DC</a:t>
            </a:r>
            <a:r>
              <a:rPr lang="zh-CN" altLang="en-US" sz="1800" dirty="0">
                <a:cs typeface="Times New Roman" panose="02020603050405020304" pitchFamily="18" charset="0"/>
              </a:rPr>
              <a:t>，低通滤波器的增益为</a:t>
            </a:r>
            <a:r>
              <a:rPr lang="en-US" altLang="zh-CN" sz="1800" dirty="0">
                <a:cs typeface="Times New Roman" panose="02020603050405020304" pitchFamily="18" charset="0"/>
              </a:rPr>
              <a:t>1</a:t>
            </a:r>
            <a:r>
              <a:rPr lang="zh-CN" altLang="en-US" sz="1800" dirty="0">
                <a:cs typeface="Times New Roman" panose="02020603050405020304" pitchFamily="18" charset="0"/>
              </a:rPr>
              <a:t>，则最后的输出幅度为</a:t>
            </a:r>
            <a:endParaRPr lang="en-US" altLang="zh-CN" sz="1800" dirty="0">
              <a:cs typeface="Times New Roman" panose="02020603050405020304" pitchFamily="18" charset="0"/>
            </a:endParaRPr>
          </a:p>
          <a:p>
            <a:pPr indent="457189">
              <a:lnSpc>
                <a:spcPct val="150000"/>
              </a:lnSpc>
            </a:pPr>
            <a:r>
              <a:rPr lang="en-US" altLang="zh-CN" sz="1800" dirty="0">
                <a:cs typeface="Times New Roman" panose="02020603050405020304" pitchFamily="18" charset="0"/>
              </a:rPr>
              <a:t>		V</a:t>
            </a:r>
            <a:r>
              <a:rPr lang="en-US" altLang="zh-CN" sz="1800" baseline="-25000" dirty="0">
                <a:cs typeface="Times New Roman" panose="02020603050405020304" pitchFamily="18" charset="0"/>
              </a:rPr>
              <a:t>O</a:t>
            </a:r>
            <a:r>
              <a:rPr lang="en-US" altLang="zh-CN" sz="1800" dirty="0">
                <a:cs typeface="Times New Roman" panose="02020603050405020304" pitchFamily="18" charset="0"/>
              </a:rPr>
              <a:t>=k*A</a:t>
            </a:r>
            <a:r>
              <a:rPr lang="en-US" altLang="zh-CN" sz="1800" baseline="-25000" dirty="0">
                <a:cs typeface="Times New Roman" panose="02020603050405020304" pitchFamily="18" charset="0"/>
              </a:rPr>
              <a:t>AC</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D</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DC</a:t>
            </a:r>
            <a:r>
              <a:rPr lang="en-US" altLang="zh-CN" sz="1800" dirty="0">
                <a:cs typeface="Times New Roman" panose="02020603050405020304" pitchFamily="18" charset="0"/>
              </a:rPr>
              <a:t>*V</a:t>
            </a:r>
            <a:r>
              <a:rPr lang="en-US" altLang="zh-CN" sz="1800" baseline="-25000" dirty="0">
                <a:cs typeface="Times New Roman" panose="02020603050405020304" pitchFamily="18" charset="0"/>
              </a:rPr>
              <a:t>I</a:t>
            </a:r>
          </a:p>
          <a:p>
            <a:pPr indent="0">
              <a:lnSpc>
                <a:spcPct val="150000"/>
              </a:lnSpc>
            </a:pPr>
            <a:r>
              <a:rPr lang="zh-CN" altLang="en-US" sz="1800" dirty="0">
                <a:cs typeface="Times New Roman" panose="02020603050405020304" pitchFamily="18" charset="0"/>
              </a:rPr>
              <a:t>其中</a:t>
            </a:r>
            <a:r>
              <a:rPr lang="en-US" altLang="zh-CN" sz="1800" dirty="0">
                <a:cs typeface="Times New Roman" panose="02020603050405020304" pitchFamily="18" charset="0"/>
              </a:rPr>
              <a:t>k</a:t>
            </a:r>
            <a:r>
              <a:rPr lang="zh-CN" altLang="en-US" sz="1800" dirty="0">
                <a:cs typeface="Times New Roman" panose="02020603050405020304" pitchFamily="18" charset="0"/>
              </a:rPr>
              <a:t>是波形系数，信号为正弦波</a:t>
            </a:r>
            <a:r>
              <a:rPr lang="en-US" altLang="zh-CN" sz="1800" dirty="0" smtClean="0">
                <a:cs typeface="Times New Roman" panose="02020603050405020304" pitchFamily="18" charset="0"/>
              </a:rPr>
              <a:t>k=0.63</a:t>
            </a:r>
            <a:r>
              <a:rPr lang="zh-CN" altLang="en-US" sz="1800" dirty="0" smtClean="0">
                <a:cs typeface="Times New Roman" panose="02020603050405020304" pitchFamily="18" charset="0"/>
              </a:rPr>
              <a:t>，</a:t>
            </a:r>
            <a:r>
              <a:rPr lang="zh-CN" altLang="en-US" sz="1800" dirty="0">
                <a:cs typeface="Times New Roman" panose="02020603050405020304" pitchFamily="18" charset="0"/>
              </a:rPr>
              <a:t>方波</a:t>
            </a:r>
            <a:r>
              <a:rPr lang="en-US" altLang="zh-CN" sz="1800" dirty="0">
                <a:cs typeface="Times New Roman" panose="02020603050405020304" pitchFamily="18" charset="0"/>
              </a:rPr>
              <a:t>k=1</a:t>
            </a:r>
            <a:r>
              <a:rPr lang="zh-CN" altLang="en-US" sz="1800" dirty="0">
                <a:cs typeface="Times New Roman" panose="02020603050405020304" pitchFamily="18" charset="0"/>
              </a:rPr>
              <a:t>，实际值介于这两者之间。</a:t>
            </a:r>
            <a:endParaRPr lang="en-US" altLang="zh-CN" sz="1800" dirty="0">
              <a:cs typeface="Times New Roman" panose="02020603050405020304" pitchFamily="18" charset="0"/>
            </a:endParaRPr>
          </a:p>
          <a:p>
            <a:pPr indent="457189">
              <a:lnSpc>
                <a:spcPct val="150000"/>
              </a:lnSpc>
            </a:pPr>
            <a:r>
              <a:rPr lang="zh-CN" altLang="en-US" sz="1800" dirty="0"/>
              <a:t>锁定放大器的总增益应该由输入交流信号的幅度与最后送往</a:t>
            </a:r>
            <a:r>
              <a:rPr lang="en-US" altLang="zh-CN" sz="1800" dirty="0"/>
              <a:t>ADC</a:t>
            </a:r>
            <a:r>
              <a:rPr lang="zh-CN" altLang="en-US" sz="1800" dirty="0"/>
              <a:t>的直流信号幅度确定。假定本题目驱动器的电流幅度为</a:t>
            </a:r>
            <a:r>
              <a:rPr lang="en-US" altLang="zh-CN" sz="1800" dirty="0"/>
              <a:t>5A</a:t>
            </a:r>
            <a:r>
              <a:rPr lang="zh-CN" altLang="en-US" sz="1800" dirty="0"/>
              <a:t>，覆铜板的最大电阻为</a:t>
            </a:r>
            <a:r>
              <a:rPr lang="en-US" altLang="zh-CN" sz="1800" dirty="0"/>
              <a:t>2m</a:t>
            </a:r>
            <a:r>
              <a:rPr lang="el-GR" altLang="zh-CN" sz="1800" dirty="0">
                <a:cs typeface="Times New Roman" panose="02020603050405020304" pitchFamily="18" charset="0"/>
              </a:rPr>
              <a:t>Ω</a:t>
            </a:r>
            <a:r>
              <a:rPr lang="zh-CN" altLang="en-US" sz="1800" dirty="0">
                <a:cs typeface="Times New Roman" panose="02020603050405020304" pitchFamily="18" charset="0"/>
              </a:rPr>
              <a:t>，则输入的交流信号幅度最大值为</a:t>
            </a:r>
            <a:r>
              <a:rPr lang="en-US" altLang="zh-CN" sz="1800" dirty="0">
                <a:cs typeface="Times New Roman" panose="02020603050405020304" pitchFamily="18" charset="0"/>
              </a:rPr>
              <a:t>10mV</a:t>
            </a:r>
            <a:r>
              <a:rPr lang="zh-CN" altLang="en-US" sz="1800" dirty="0">
                <a:cs typeface="Times New Roman" panose="02020603050405020304" pitchFamily="18" charset="0"/>
              </a:rPr>
              <a:t>。再假设</a:t>
            </a:r>
            <a:r>
              <a:rPr lang="en-US" altLang="zh-CN" sz="1800" dirty="0">
                <a:cs typeface="Times New Roman" panose="02020603050405020304" pitchFamily="18" charset="0"/>
              </a:rPr>
              <a:t>ADC</a:t>
            </a:r>
            <a:r>
              <a:rPr lang="zh-CN" altLang="en-US" sz="1800" dirty="0">
                <a:cs typeface="Times New Roman" panose="02020603050405020304" pitchFamily="18" charset="0"/>
              </a:rPr>
              <a:t>的满量程输入幅度为</a:t>
            </a:r>
            <a:r>
              <a:rPr lang="en-US" altLang="zh-CN" sz="1800" dirty="0">
                <a:cs typeface="Times New Roman" panose="02020603050405020304" pitchFamily="18" charset="0"/>
              </a:rPr>
              <a:t>3.3V</a:t>
            </a:r>
            <a:r>
              <a:rPr lang="zh-CN" altLang="en-US" sz="1800" dirty="0">
                <a:cs typeface="Times New Roman" panose="02020603050405020304" pitchFamily="18" charset="0"/>
              </a:rPr>
              <a:t>，则放大器的总增益为</a:t>
            </a:r>
            <a:r>
              <a:rPr lang="en-US" altLang="zh-CN" sz="1800" dirty="0">
                <a:cs typeface="Times New Roman" panose="02020603050405020304" pitchFamily="18" charset="0"/>
              </a:rPr>
              <a:t>330</a:t>
            </a:r>
            <a:r>
              <a:rPr lang="zh-CN" altLang="en-US" sz="1800" dirty="0">
                <a:cs typeface="Times New Roman" panose="02020603050405020304" pitchFamily="18" charset="0"/>
              </a:rPr>
              <a:t>。若输入的波形介于方波与正弦之间，波形系数取</a:t>
            </a:r>
            <a:r>
              <a:rPr lang="en-US" altLang="zh-CN" sz="1800" dirty="0" smtClean="0">
                <a:cs typeface="Times New Roman" panose="02020603050405020304" pitchFamily="18" charset="0"/>
              </a:rPr>
              <a:t>0.9</a:t>
            </a:r>
            <a:r>
              <a:rPr lang="zh-CN" altLang="en-US" sz="1800" dirty="0" smtClean="0">
                <a:cs typeface="Times New Roman" panose="02020603050405020304" pitchFamily="18" charset="0"/>
              </a:rPr>
              <a:t>，</a:t>
            </a:r>
            <a:r>
              <a:rPr lang="zh-CN" altLang="en-US" sz="1800" dirty="0">
                <a:cs typeface="Times New Roman" panose="02020603050405020304" pitchFamily="18" charset="0"/>
              </a:rPr>
              <a:t>则</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AC</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D</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DC</a:t>
            </a:r>
            <a:r>
              <a:rPr lang="zh-CN" altLang="en-US" sz="1800" dirty="0">
                <a:cs typeface="Times New Roman" panose="02020603050405020304" pitchFamily="18" charset="0"/>
              </a:rPr>
              <a:t>约</a:t>
            </a:r>
            <a:r>
              <a:rPr lang="zh-CN" altLang="en-US" sz="1800" dirty="0" smtClean="0">
                <a:cs typeface="Times New Roman" panose="02020603050405020304" pitchFamily="18" charset="0"/>
              </a:rPr>
              <a:t>为</a:t>
            </a:r>
            <a:r>
              <a:rPr lang="en-US" altLang="zh-CN" sz="1800" dirty="0" smtClean="0">
                <a:cs typeface="Times New Roman" panose="02020603050405020304" pitchFamily="18" charset="0"/>
              </a:rPr>
              <a:t>367</a:t>
            </a:r>
            <a:r>
              <a:rPr lang="zh-CN" altLang="en-US" sz="1800" dirty="0" smtClean="0">
                <a:cs typeface="Times New Roman" panose="02020603050405020304" pitchFamily="18" charset="0"/>
              </a:rPr>
              <a:t>。</a:t>
            </a:r>
            <a:endParaRPr lang="en-US" altLang="zh-CN" sz="1800" dirty="0">
              <a:cs typeface="Times New Roman" panose="02020603050405020304" pitchFamily="18" charset="0"/>
            </a:endParaRPr>
          </a:p>
          <a:p>
            <a:pPr indent="457189">
              <a:lnSpc>
                <a:spcPct val="150000"/>
              </a:lnSpc>
            </a:pPr>
            <a:r>
              <a:rPr lang="zh-CN" altLang="en-US" sz="1800" dirty="0">
                <a:cs typeface="Times New Roman" panose="02020603050405020304" pitchFamily="18" charset="0"/>
              </a:rPr>
              <a:t>下一个问题是，</a:t>
            </a:r>
            <a:r>
              <a:rPr lang="zh-CN" altLang="en-US" sz="1800" dirty="0" smtClean="0">
                <a:cs typeface="Times New Roman" panose="02020603050405020304" pitchFamily="18" charset="0"/>
              </a:rPr>
              <a:t>这</a:t>
            </a:r>
            <a:r>
              <a:rPr lang="en-US" altLang="zh-CN" sz="1800" dirty="0" smtClean="0">
                <a:cs typeface="Times New Roman" panose="02020603050405020304" pitchFamily="18" charset="0"/>
              </a:rPr>
              <a:t>367</a:t>
            </a:r>
            <a:r>
              <a:rPr lang="zh-CN" altLang="en-US" sz="1800" dirty="0" smtClean="0">
                <a:cs typeface="Times New Roman" panose="02020603050405020304" pitchFamily="18" charset="0"/>
              </a:rPr>
              <a:t>倍</a:t>
            </a:r>
            <a:r>
              <a:rPr lang="zh-CN" altLang="en-US" sz="1800" dirty="0">
                <a:cs typeface="Times New Roman" panose="02020603050405020304" pitchFamily="18" charset="0"/>
              </a:rPr>
              <a:t>的增益该如何分配？</a:t>
            </a:r>
            <a:endParaRPr lang="en-US" altLang="zh-CN" sz="1800" dirty="0">
              <a:cs typeface="Times New Roman" panose="02020603050405020304" pitchFamily="18" charset="0"/>
            </a:endParaRPr>
          </a:p>
          <a:p>
            <a:pPr indent="457189">
              <a:lnSpc>
                <a:spcPct val="150000"/>
              </a:lnSpc>
            </a:pPr>
            <a:r>
              <a:rPr lang="zh-CN" altLang="en-US" sz="1800" dirty="0"/>
              <a:t>如果是普通放大器，三个增益可以任意分配。但在锁定放大器中面对的是含有极大噪声的输入信号，而前面的讨论未涉及噪声。</a:t>
            </a:r>
          </a:p>
        </p:txBody>
      </p:sp>
    </p:spTree>
    <p:extLst>
      <p:ext uri="{BB962C8B-B14F-4D97-AF65-F5344CB8AC3E}">
        <p14:creationId xmlns:p14="http://schemas.microsoft.com/office/powerpoint/2010/main" val="13606641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矩形 4"/>
          <p:cNvSpPr/>
          <p:nvPr/>
        </p:nvSpPr>
        <p:spPr>
          <a:xfrm>
            <a:off x="478972" y="498821"/>
            <a:ext cx="11190514" cy="5443221"/>
          </a:xfrm>
          <a:prstGeom prst="rect">
            <a:avLst/>
          </a:prstGeom>
        </p:spPr>
        <p:txBody>
          <a:bodyPr wrap="square">
            <a:spAutoFit/>
          </a:bodyPr>
          <a:lstStyle/>
          <a:p>
            <a:pPr indent="457189" eaLnBrk="0" hangingPunct="0">
              <a:lnSpc>
                <a:spcPct val="150000"/>
              </a:lnSpc>
            </a:pPr>
            <a:r>
              <a:rPr lang="zh-CN" altLang="en-US" sz="1800" dirty="0">
                <a:latin typeface="Arial" panose="020B0604020202020204" pitchFamily="34" charset="0"/>
              </a:rPr>
              <a:t>在刚才的例子中，放大器的总增益</a:t>
            </a:r>
            <a:r>
              <a:rPr lang="zh-CN" altLang="en-US" sz="1800" dirty="0" smtClean="0">
                <a:latin typeface="Arial" panose="020B0604020202020204" pitchFamily="34" charset="0"/>
              </a:rPr>
              <a:t>为</a:t>
            </a:r>
            <a:r>
              <a:rPr lang="en-US" altLang="zh-CN" sz="1800" dirty="0" smtClean="0">
                <a:latin typeface="Arial" panose="020B0604020202020204" pitchFamily="34" charset="0"/>
              </a:rPr>
              <a:t>367</a:t>
            </a:r>
            <a:r>
              <a:rPr lang="zh-CN" altLang="en-US" sz="1800" dirty="0" smtClean="0">
                <a:latin typeface="Arial" panose="020B0604020202020204" pitchFamily="34" charset="0"/>
              </a:rPr>
              <a:t>，</a:t>
            </a:r>
            <a:r>
              <a:rPr lang="zh-CN" altLang="zh-CN" sz="1800" dirty="0">
                <a:latin typeface="Arial" panose="020B0604020202020204" pitchFamily="34" charset="0"/>
              </a:rPr>
              <a:t>输入</a:t>
            </a:r>
            <a:r>
              <a:rPr lang="zh-CN" altLang="en-US" sz="1800" dirty="0">
                <a:latin typeface="Arial" panose="020B0604020202020204" pitchFamily="34" charset="0"/>
              </a:rPr>
              <a:t>信号</a:t>
            </a:r>
            <a:r>
              <a:rPr lang="zh-CN" altLang="zh-CN" sz="1800" dirty="0">
                <a:latin typeface="Arial" panose="020B0604020202020204" pitchFamily="34" charset="0"/>
              </a:rPr>
              <a:t>幅度</a:t>
            </a:r>
            <a:r>
              <a:rPr lang="zh-CN" altLang="en-US" sz="1800" dirty="0">
                <a:latin typeface="Arial" panose="020B0604020202020204" pitchFamily="34" charset="0"/>
              </a:rPr>
              <a:t>为</a:t>
            </a:r>
            <a:r>
              <a:rPr lang="en-US" altLang="zh-CN" sz="1800" dirty="0">
                <a:latin typeface="Arial" panose="020B0604020202020204" pitchFamily="34" charset="0"/>
              </a:rPr>
              <a:t>10mV</a:t>
            </a:r>
            <a:r>
              <a:rPr lang="zh-CN" altLang="zh-CN" sz="1800" dirty="0">
                <a:latin typeface="Arial" panose="020B0604020202020204" pitchFamily="34" charset="0"/>
              </a:rPr>
              <a:t>，</a:t>
            </a:r>
            <a:r>
              <a:rPr lang="zh-CN" altLang="en-US" sz="1800" dirty="0">
                <a:latin typeface="Arial" panose="020B0604020202020204" pitchFamily="34" charset="0"/>
              </a:rPr>
              <a:t>假设</a:t>
            </a:r>
            <a:r>
              <a:rPr lang="zh-CN" altLang="zh-CN" sz="1800" dirty="0">
                <a:latin typeface="Arial" panose="020B0604020202020204" pitchFamily="34" charset="0"/>
              </a:rPr>
              <a:t>噪声的峰值有</a:t>
            </a:r>
            <a:r>
              <a:rPr lang="en-US" altLang="zh-CN" sz="1800" dirty="0">
                <a:latin typeface="Arial" panose="020B0604020202020204" pitchFamily="34" charset="0"/>
              </a:rPr>
              <a:t>200mV</a:t>
            </a:r>
            <a:r>
              <a:rPr lang="zh-CN" altLang="zh-CN" sz="1800" dirty="0">
                <a:latin typeface="Arial" panose="020B0604020202020204" pitchFamily="34" charset="0"/>
              </a:rPr>
              <a:t>，</a:t>
            </a:r>
            <a:r>
              <a:rPr lang="zh-CN" altLang="en-US" sz="1800" dirty="0">
                <a:latin typeface="Arial" panose="020B0604020202020204" pitchFamily="34" charset="0"/>
              </a:rPr>
              <a:t>则</a:t>
            </a:r>
            <a:r>
              <a:rPr lang="zh-CN" altLang="zh-CN" sz="1800" dirty="0">
                <a:latin typeface="Arial" panose="020B0604020202020204" pitchFamily="34" charset="0"/>
              </a:rPr>
              <a:t>这种信号在常规的</a:t>
            </a:r>
            <a:r>
              <a:rPr lang="zh-CN" altLang="en-US" sz="1800" dirty="0">
                <a:latin typeface="Arial" panose="020B0604020202020204" pitchFamily="34" charset="0"/>
              </a:rPr>
              <a:t>放大器中</a:t>
            </a:r>
            <a:r>
              <a:rPr lang="zh-CN" altLang="zh-CN" sz="1800" dirty="0">
                <a:latin typeface="Arial" panose="020B0604020202020204" pitchFamily="34" charset="0"/>
              </a:rPr>
              <a:t>没法进行</a:t>
            </a:r>
            <a:r>
              <a:rPr lang="zh-CN" altLang="en-US" sz="1800" dirty="0">
                <a:latin typeface="Arial" panose="020B0604020202020204" pitchFamily="34" charset="0"/>
              </a:rPr>
              <a:t>放大</a:t>
            </a:r>
            <a:r>
              <a:rPr lang="zh-CN" altLang="zh-CN" sz="1800" dirty="0">
                <a:latin typeface="Arial" panose="020B0604020202020204" pitchFamily="34" charset="0"/>
              </a:rPr>
              <a:t>，因为放大器会由于</a:t>
            </a:r>
            <a:r>
              <a:rPr lang="zh-CN" altLang="en-US" sz="1800" dirty="0">
                <a:latin typeface="Arial" panose="020B0604020202020204" pitchFamily="34" charset="0"/>
              </a:rPr>
              <a:t>输入</a:t>
            </a:r>
            <a:r>
              <a:rPr lang="zh-CN" altLang="zh-CN" sz="1800" dirty="0">
                <a:latin typeface="Arial" panose="020B0604020202020204" pitchFamily="34" charset="0"/>
              </a:rPr>
              <a:t>很大的噪声信号而饱和。</a:t>
            </a:r>
            <a:endParaRPr lang="en-US" altLang="zh-CN" sz="1800" dirty="0">
              <a:latin typeface="Arial" panose="020B0604020202020204" pitchFamily="34" charset="0"/>
            </a:endParaRPr>
          </a:p>
          <a:p>
            <a:pPr indent="457189" eaLnBrk="0" hangingPunct="0">
              <a:lnSpc>
                <a:spcPct val="150000"/>
              </a:lnSpc>
            </a:pPr>
            <a:r>
              <a:rPr lang="zh-CN" altLang="zh-CN" sz="1800" dirty="0">
                <a:latin typeface="Arial" panose="020B0604020202020204" pitchFamily="34" charset="0"/>
              </a:rPr>
              <a:t>但是对于锁定放大器来说，它是一种“挖出淹没在噪声中的信号”的技术，噪声大于信号属于很正常的情况，所以</a:t>
            </a:r>
            <a:r>
              <a:rPr lang="zh-CN" altLang="en-US" sz="1800" dirty="0">
                <a:latin typeface="Arial" panose="020B0604020202020204" pitchFamily="34" charset="0"/>
              </a:rPr>
              <a:t>它应该在这种情况下还能正常工作。</a:t>
            </a:r>
            <a:endParaRPr lang="en-US" altLang="zh-CN" sz="1800" dirty="0">
              <a:latin typeface="Arial" panose="020B0604020202020204" pitchFamily="34" charset="0"/>
            </a:endParaRPr>
          </a:p>
          <a:p>
            <a:pPr indent="457189" eaLnBrk="0" hangingPunct="0">
              <a:lnSpc>
                <a:spcPct val="150000"/>
              </a:lnSpc>
            </a:pPr>
            <a:r>
              <a:rPr lang="zh-CN" altLang="zh-CN" sz="1800" dirty="0">
                <a:latin typeface="Arial" panose="020B0604020202020204" pitchFamily="34" charset="0"/>
              </a:rPr>
              <a:t>有一个指标描述它的这个能力，</a:t>
            </a:r>
            <a:r>
              <a:rPr lang="zh-CN" altLang="en-US" sz="1800" dirty="0">
                <a:latin typeface="Arial" panose="020B0604020202020204" pitchFamily="34" charset="0"/>
              </a:rPr>
              <a:t>称为</a:t>
            </a:r>
            <a:r>
              <a:rPr lang="zh-CN" altLang="zh-CN" sz="1800" dirty="0">
                <a:latin typeface="Arial" panose="020B0604020202020204" pitchFamily="34" charset="0"/>
              </a:rPr>
              <a:t>动态裕量（也称增益裕量），其定义为</a:t>
            </a:r>
            <a:endParaRPr lang="en-US" altLang="zh-CN" sz="1800" dirty="0">
              <a:latin typeface="Arial" panose="020B0604020202020204" pitchFamily="34" charset="0"/>
            </a:endParaRPr>
          </a:p>
          <a:p>
            <a:pPr indent="457189" eaLnBrk="0" hangingPunct="0">
              <a:lnSpc>
                <a:spcPct val="150000"/>
              </a:lnSpc>
            </a:pPr>
            <a:endParaRPr lang="en-US" altLang="zh-CN" sz="1800" dirty="0">
              <a:latin typeface="Arial" panose="020B0604020202020204" pitchFamily="34" charset="0"/>
            </a:endParaRPr>
          </a:p>
          <a:p>
            <a:pPr indent="457189" eaLnBrk="0" hangingPunct="0">
              <a:lnSpc>
                <a:spcPct val="150000"/>
              </a:lnSpc>
            </a:pPr>
            <a:endParaRPr lang="en-US" altLang="zh-CN" sz="1800" dirty="0">
              <a:latin typeface="Arial" panose="020B0604020202020204" pitchFamily="34" charset="0"/>
            </a:endParaRPr>
          </a:p>
          <a:p>
            <a:pPr indent="457189" eaLnBrk="0" hangingPunct="0">
              <a:lnSpc>
                <a:spcPct val="150000"/>
              </a:lnSpc>
            </a:pPr>
            <a:r>
              <a:rPr lang="zh-CN" altLang="en-US" sz="1800" dirty="0">
                <a:latin typeface="Arial" panose="020B0604020202020204" pitchFamily="34" charset="0"/>
              </a:rPr>
              <a:t>显然，</a:t>
            </a:r>
            <a:r>
              <a:rPr lang="zh-CN" altLang="zh-CN" sz="1800" dirty="0">
                <a:latin typeface="Arial" panose="020B0604020202020204" pitchFamily="34" charset="0"/>
              </a:rPr>
              <a:t>动态裕量反映的是</a:t>
            </a:r>
            <a:r>
              <a:rPr lang="zh-CN" altLang="en-US" sz="1800" dirty="0">
                <a:latin typeface="Arial" panose="020B0604020202020204" pitchFamily="34" charset="0"/>
              </a:rPr>
              <a:t>，</a:t>
            </a:r>
            <a:r>
              <a:rPr lang="zh-CN" altLang="zh-CN" sz="1800" dirty="0">
                <a:latin typeface="Arial" panose="020B0604020202020204" pitchFamily="34" charset="0"/>
              </a:rPr>
              <a:t>锁定放大器内部</a:t>
            </a:r>
            <a:r>
              <a:rPr lang="zh-CN" altLang="en-US" sz="1800" dirty="0">
                <a:latin typeface="Arial" panose="020B0604020202020204" pitchFamily="34" charset="0"/>
              </a:rPr>
              <a:t>的所有</a:t>
            </a:r>
            <a:r>
              <a:rPr lang="zh-CN" altLang="zh-CN" sz="1800" dirty="0">
                <a:latin typeface="Arial" panose="020B0604020202020204" pitchFamily="34" charset="0"/>
              </a:rPr>
              <a:t>放大器（包括</a:t>
            </a:r>
            <a:r>
              <a:rPr lang="en-US" altLang="zh-CN" sz="1800" dirty="0">
                <a:latin typeface="Arial" panose="020B0604020202020204" pitchFamily="34" charset="0"/>
              </a:rPr>
              <a:t>PSD</a:t>
            </a:r>
            <a:r>
              <a:rPr lang="zh-CN" altLang="zh-CN" sz="1800" dirty="0">
                <a:latin typeface="Arial" panose="020B0604020202020204" pitchFamily="34" charset="0"/>
              </a:rPr>
              <a:t>）</a:t>
            </a:r>
            <a:r>
              <a:rPr lang="zh-CN" altLang="en-US" sz="1800" dirty="0">
                <a:latin typeface="Arial" panose="020B0604020202020204" pitchFamily="34" charset="0"/>
              </a:rPr>
              <a:t>均未进入</a:t>
            </a:r>
            <a:r>
              <a:rPr lang="zh-CN" altLang="zh-CN" sz="1800" dirty="0">
                <a:latin typeface="Arial" panose="020B0604020202020204" pitchFamily="34" charset="0"/>
              </a:rPr>
              <a:t>饱和状态</a:t>
            </a:r>
            <a:r>
              <a:rPr lang="zh-CN" altLang="en-US" sz="1800" dirty="0">
                <a:latin typeface="Arial" panose="020B0604020202020204" pitchFamily="34" charset="0"/>
              </a:rPr>
              <a:t>条件下输入的噪声信号与满量程信号比值的极限。</a:t>
            </a:r>
            <a:endParaRPr lang="en-US" altLang="zh-CN" sz="1800" dirty="0">
              <a:latin typeface="Arial" panose="020B0604020202020204" pitchFamily="34" charset="0"/>
            </a:endParaRPr>
          </a:p>
          <a:p>
            <a:pPr indent="457189" eaLnBrk="0" hangingPunct="0">
              <a:lnSpc>
                <a:spcPct val="150000"/>
              </a:lnSpc>
            </a:pPr>
            <a:r>
              <a:rPr lang="zh-CN" altLang="zh-CN" sz="1800" dirty="0">
                <a:latin typeface="Arial" panose="020B0604020202020204" pitchFamily="34" charset="0"/>
              </a:rPr>
              <a:t>显然，由于同步检波后噪声被低通滤波器滤除，输入噪声引起的放大器饱和主要存在于交流放大器和</a:t>
            </a:r>
            <a:r>
              <a:rPr lang="en-US" altLang="zh-CN" sz="1800" dirty="0">
                <a:latin typeface="Arial" panose="020B0604020202020204" pitchFamily="34" charset="0"/>
              </a:rPr>
              <a:t>PSD</a:t>
            </a:r>
            <a:r>
              <a:rPr lang="zh-CN" altLang="zh-CN" sz="1800" dirty="0">
                <a:latin typeface="Arial" panose="020B0604020202020204" pitchFamily="34" charset="0"/>
              </a:rPr>
              <a:t>部分，所以对于某个确定的量程来说，尽管放大器的总增益是确定的，但是交流放大器与直流放大器的增益分配不是随便的，其中交流放大器以及</a:t>
            </a:r>
            <a:r>
              <a:rPr lang="en-US" altLang="zh-CN" sz="1800" dirty="0">
                <a:latin typeface="Arial" panose="020B0604020202020204" pitchFamily="34" charset="0"/>
              </a:rPr>
              <a:t>PSD</a:t>
            </a:r>
            <a:r>
              <a:rPr lang="zh-CN" altLang="zh-CN" sz="1800" dirty="0">
                <a:latin typeface="Arial" panose="020B0604020202020204" pitchFamily="34" charset="0"/>
              </a:rPr>
              <a:t>的增益要根据动态裕量或输入的噪声电压确定，而剩下的增益则是直流放大器的增益。</a:t>
            </a:r>
          </a:p>
        </p:txBody>
      </p:sp>
      <p:graphicFrame>
        <p:nvGraphicFramePr>
          <p:cNvPr id="6" name="对象 5"/>
          <p:cNvGraphicFramePr>
            <a:graphicFrameLocks noChangeAspect="1"/>
          </p:cNvGraphicFramePr>
          <p:nvPr>
            <p:extLst>
              <p:ext uri="{D42A27DB-BD31-4B8C-83A1-F6EECF244321}">
                <p14:modId xmlns:p14="http://schemas.microsoft.com/office/powerpoint/2010/main" val="3336277268"/>
              </p:ext>
            </p:extLst>
          </p:nvPr>
        </p:nvGraphicFramePr>
        <p:xfrm>
          <a:off x="3771612" y="2729525"/>
          <a:ext cx="3737335" cy="628213"/>
        </p:xfrm>
        <a:graphic>
          <a:graphicData uri="http://schemas.openxmlformats.org/presentationml/2006/ole">
            <mc:AlternateContent xmlns:mc="http://schemas.openxmlformats.org/markup-compatibility/2006">
              <mc:Choice xmlns:v="urn:schemas-microsoft-com:vml" Requires="v">
                <p:oleObj spid="_x0000_s11327" name="Equation" r:id="rId3" imgW="2273300" imgH="355600" progId="Equation.DSMT4">
                  <p:embed/>
                </p:oleObj>
              </mc:Choice>
              <mc:Fallback>
                <p:oleObj name="Equation" r:id="rId3" imgW="2273300" imgH="355600"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1612" y="2729525"/>
                        <a:ext cx="3737335" cy="628213"/>
                      </a:xfrm>
                      <a:prstGeom prst="rect">
                        <a:avLst/>
                      </a:prstGeom>
                      <a:noFill/>
                    </p:spPr>
                  </p:pic>
                </p:oleObj>
              </mc:Fallback>
            </mc:AlternateContent>
          </a:graphicData>
        </a:graphic>
      </p:graphicFrame>
    </p:spTree>
    <p:extLst>
      <p:ext uri="{BB962C8B-B14F-4D97-AF65-F5344CB8AC3E}">
        <p14:creationId xmlns:p14="http://schemas.microsoft.com/office/powerpoint/2010/main" val="3503282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6" name="Rectangle 6"/>
          <p:cNvSpPr>
            <a:spLocks noChangeArrowheads="1"/>
          </p:cNvSpPr>
          <p:nvPr/>
        </p:nvSpPr>
        <p:spPr bwMode="auto">
          <a:xfrm>
            <a:off x="478972" y="581863"/>
            <a:ext cx="1121954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189">
              <a:lnSpc>
                <a:spcPct val="150000"/>
              </a:lnSpc>
            </a:pPr>
            <a:r>
              <a:rPr lang="zh-CN" altLang="en-US" sz="1800" dirty="0">
                <a:cs typeface="Times New Roman" panose="02020603050405020304" pitchFamily="18" charset="0"/>
              </a:rPr>
              <a:t>在输入噪声电压峰值为</a:t>
            </a:r>
            <a:r>
              <a:rPr lang="en-US" altLang="zh-CN" sz="1800" dirty="0" err="1">
                <a:cs typeface="Times New Roman" panose="02020603050405020304" pitchFamily="18" charset="0"/>
              </a:rPr>
              <a:t>V</a:t>
            </a:r>
            <a:r>
              <a:rPr lang="en-US" altLang="zh-CN" sz="1800" baseline="-25000" dirty="0" err="1">
                <a:cs typeface="Times New Roman" panose="02020603050405020304" pitchFamily="18" charset="0"/>
              </a:rPr>
              <a:t>n</a:t>
            </a:r>
            <a:r>
              <a:rPr lang="zh-CN" altLang="en-US" sz="1800" dirty="0">
                <a:cs typeface="Times New Roman" panose="02020603050405020304" pitchFamily="18" charset="0"/>
              </a:rPr>
              <a:t>时，交流放大器的最大输出是</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AC</a:t>
            </a:r>
            <a:r>
              <a:rPr lang="en-US" altLang="zh-CN" sz="1800" dirty="0">
                <a:cs typeface="Times New Roman" panose="02020603050405020304" pitchFamily="18" charset="0"/>
              </a:rPr>
              <a:t>*</a:t>
            </a:r>
            <a:r>
              <a:rPr lang="en-US" altLang="zh-CN" sz="1800" dirty="0" err="1">
                <a:cs typeface="Times New Roman" panose="02020603050405020304" pitchFamily="18" charset="0"/>
              </a:rPr>
              <a:t>V</a:t>
            </a:r>
            <a:r>
              <a:rPr lang="en-US" altLang="zh-CN" sz="1800" baseline="-25000" dirty="0" err="1">
                <a:cs typeface="Times New Roman" panose="02020603050405020304" pitchFamily="18" charset="0"/>
              </a:rPr>
              <a:t>n</a:t>
            </a:r>
            <a:r>
              <a:rPr lang="zh-CN" altLang="en-US" sz="1800" dirty="0">
                <a:cs typeface="Times New Roman" panose="02020603050405020304" pitchFamily="18" charset="0"/>
              </a:rPr>
              <a:t>，</a:t>
            </a:r>
            <a:r>
              <a:rPr lang="en-US" altLang="zh-CN" sz="1800" dirty="0">
                <a:cs typeface="Times New Roman" panose="02020603050405020304" pitchFamily="18" charset="0"/>
              </a:rPr>
              <a:t>PSD</a:t>
            </a:r>
            <a:r>
              <a:rPr lang="zh-CN" altLang="en-US" sz="1800" dirty="0">
                <a:cs typeface="Times New Roman" panose="02020603050405020304" pitchFamily="18" charset="0"/>
              </a:rPr>
              <a:t>的最大输出是</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AC</a:t>
            </a:r>
            <a:r>
              <a:rPr lang="en-US" altLang="zh-CN" sz="1800" dirty="0">
                <a:cs typeface="Times New Roman" panose="02020603050405020304" pitchFamily="18" charset="0"/>
              </a:rPr>
              <a:t>*A</a:t>
            </a:r>
            <a:r>
              <a:rPr lang="en-US" altLang="zh-CN" sz="1800" baseline="-25000" dirty="0">
                <a:cs typeface="Times New Roman" panose="02020603050405020304" pitchFamily="18" charset="0"/>
              </a:rPr>
              <a:t>D</a:t>
            </a:r>
            <a:r>
              <a:rPr lang="en-US" altLang="zh-CN" sz="1800" dirty="0">
                <a:cs typeface="Times New Roman" panose="02020603050405020304" pitchFamily="18" charset="0"/>
              </a:rPr>
              <a:t>*</a:t>
            </a:r>
            <a:r>
              <a:rPr lang="en-US" altLang="zh-CN" sz="1800" dirty="0" err="1">
                <a:cs typeface="Times New Roman" panose="02020603050405020304" pitchFamily="18" charset="0"/>
              </a:rPr>
              <a:t>V</a:t>
            </a:r>
            <a:r>
              <a:rPr lang="en-US" altLang="zh-CN" sz="1800" baseline="-25000" dirty="0" err="1">
                <a:cs typeface="Times New Roman" panose="02020603050405020304" pitchFamily="18" charset="0"/>
              </a:rPr>
              <a:t>n</a:t>
            </a:r>
            <a:r>
              <a:rPr lang="zh-CN" altLang="en-US" sz="1800" dirty="0">
                <a:cs typeface="Times New Roman" panose="02020603050405020304" pitchFamily="18" charset="0"/>
              </a:rPr>
              <a:t>，只要这两个输出均不超出它们的输出动态范围，那么整个锁定放大器的工作是正常的。</a:t>
            </a:r>
            <a:r>
              <a:rPr lang="en-US" altLang="zh-CN" sz="1800" dirty="0">
                <a:cs typeface="Times New Roman" panose="02020603050405020304" pitchFamily="18" charset="0"/>
              </a:rPr>
              <a:t> </a:t>
            </a:r>
          </a:p>
          <a:p>
            <a:pPr indent="457189">
              <a:lnSpc>
                <a:spcPct val="150000"/>
              </a:lnSpc>
            </a:pPr>
            <a:r>
              <a:rPr lang="zh-CN" altLang="en-US" sz="1800" dirty="0">
                <a:cs typeface="Times New Roman" panose="02020603050405020304" pitchFamily="18" charset="0"/>
              </a:rPr>
              <a:t>这样就知道了，要确定锁定放大器的增益分配，除了要明确输入信号与输出信号的幅度外，还要明确可能的输入噪声幅度（或者明确需要的动态裕量），以及交流放大器与</a:t>
            </a:r>
            <a:r>
              <a:rPr lang="en-US" altLang="zh-CN" sz="1800" dirty="0">
                <a:cs typeface="Times New Roman" panose="02020603050405020304" pitchFamily="18" charset="0"/>
              </a:rPr>
              <a:t>PSD</a:t>
            </a:r>
            <a:r>
              <a:rPr lang="zh-CN" altLang="en-US" sz="1800" dirty="0">
                <a:cs typeface="Times New Roman" panose="02020603050405020304" pitchFamily="18" charset="0"/>
              </a:rPr>
              <a:t>允许的输出动态范围。据此可以确定这两个模块的增益，最后将剩余的增益交付给直流放大器完成。</a:t>
            </a:r>
            <a:endParaRPr lang="en-US" altLang="zh-CN" sz="1800" dirty="0">
              <a:cs typeface="Times New Roman" panose="02020603050405020304" pitchFamily="18" charset="0"/>
            </a:endParaRPr>
          </a:p>
          <a:p>
            <a:pPr indent="457189">
              <a:lnSpc>
                <a:spcPct val="150000"/>
              </a:lnSpc>
            </a:pPr>
            <a:r>
              <a:rPr lang="zh-CN" altLang="en-US" sz="1800" dirty="0">
                <a:cs typeface="Times New Roman" panose="02020603050405020304" pitchFamily="18" charset="0"/>
              </a:rPr>
              <a:t>回到本题，假设实测输入端的最大噪声峰值为</a:t>
            </a:r>
            <a:r>
              <a:rPr lang="en-US" altLang="zh-CN" sz="1800" dirty="0">
                <a:cs typeface="Times New Roman" panose="02020603050405020304" pitchFamily="18" charset="0"/>
              </a:rPr>
              <a:t>200mV</a:t>
            </a:r>
            <a:r>
              <a:rPr lang="zh-CN" altLang="en-US" sz="1800" dirty="0">
                <a:cs typeface="Times New Roman" panose="02020603050405020304" pitchFamily="18" charset="0"/>
              </a:rPr>
              <a:t>，交流放大器采用集成</a:t>
            </a:r>
            <a:r>
              <a:rPr lang="en-US" altLang="zh-CN" sz="1800" dirty="0">
                <a:cs typeface="Times New Roman" panose="02020603050405020304" pitchFamily="18" charset="0"/>
              </a:rPr>
              <a:t>IA</a:t>
            </a:r>
            <a:r>
              <a:rPr lang="zh-CN" altLang="en-US" sz="1800" dirty="0">
                <a:cs typeface="Times New Roman" panose="02020603050405020304" pitchFamily="18" charset="0"/>
              </a:rPr>
              <a:t>电路</a:t>
            </a:r>
            <a:r>
              <a:rPr lang="en-US" altLang="zh-CN" sz="1800" dirty="0"/>
              <a:t>AD620</a:t>
            </a:r>
            <a:r>
              <a:rPr lang="zh-CN" altLang="en-US" sz="1800" dirty="0"/>
              <a:t>，电源电压是单电源</a:t>
            </a:r>
            <a:r>
              <a:rPr lang="en-US" altLang="zh-CN" sz="1800" dirty="0"/>
              <a:t>12V</a:t>
            </a:r>
            <a:r>
              <a:rPr lang="zh-CN" altLang="en-US" sz="1800" dirty="0"/>
              <a:t>供电（即</a:t>
            </a:r>
            <a:r>
              <a:rPr lang="en-US" altLang="zh-CN" sz="1800" dirty="0">
                <a:cs typeface="Times New Roman" panose="02020603050405020304" pitchFamily="18" charset="0"/>
              </a:rPr>
              <a:t>±6V</a:t>
            </a:r>
            <a:r>
              <a:rPr lang="zh-CN" altLang="en-US" sz="1800" dirty="0">
                <a:cs typeface="Times New Roman" panose="02020603050405020304" pitchFamily="18" charset="0"/>
              </a:rPr>
              <a:t>），</a:t>
            </a:r>
            <a:r>
              <a:rPr lang="en-US" altLang="zh-CN" sz="1800" dirty="0">
                <a:cs typeface="Times New Roman" panose="02020603050405020304" pitchFamily="18" charset="0"/>
              </a:rPr>
              <a:t>AD620</a:t>
            </a:r>
            <a:r>
              <a:rPr lang="zh-CN" altLang="en-US" sz="1800" dirty="0">
                <a:cs typeface="Times New Roman" panose="02020603050405020304" pitchFamily="18" charset="0"/>
              </a:rPr>
              <a:t>在此条件下的最大输出幅度（查手册）为电源电压减去</a:t>
            </a:r>
            <a:r>
              <a:rPr lang="en-US" altLang="zh-CN" sz="1800" dirty="0">
                <a:cs typeface="Times New Roman" panose="02020603050405020304" pitchFamily="18" charset="0"/>
              </a:rPr>
              <a:t>1.2V</a:t>
            </a:r>
            <a:r>
              <a:rPr lang="zh-CN" altLang="en-US" sz="1800" dirty="0">
                <a:cs typeface="Times New Roman" panose="02020603050405020304" pitchFamily="18" charset="0"/>
              </a:rPr>
              <a:t>即</a:t>
            </a:r>
            <a:r>
              <a:rPr lang="en-US" altLang="zh-CN" sz="1800" dirty="0">
                <a:cs typeface="Times New Roman" panose="02020603050405020304" pitchFamily="18" charset="0"/>
              </a:rPr>
              <a:t>4.8V</a:t>
            </a:r>
            <a:r>
              <a:rPr lang="zh-CN" altLang="en-US" sz="1800" dirty="0">
                <a:cs typeface="Times New Roman" panose="02020603050405020304" pitchFamily="18" charset="0"/>
              </a:rPr>
              <a:t>，则其增益不应高于</a:t>
            </a:r>
            <a:r>
              <a:rPr lang="en-US" altLang="zh-CN" sz="1800" dirty="0">
                <a:cs typeface="Times New Roman" panose="02020603050405020304" pitchFamily="18" charset="0"/>
              </a:rPr>
              <a:t>4.8÷0.2=24</a:t>
            </a:r>
            <a:r>
              <a:rPr lang="zh-CN" altLang="en-US" sz="1800" dirty="0">
                <a:cs typeface="Times New Roman" panose="02020603050405020304" pitchFamily="18" charset="0"/>
              </a:rPr>
              <a:t>。</a:t>
            </a:r>
            <a:endParaRPr lang="en-US" altLang="zh-CN" sz="1800" dirty="0">
              <a:cs typeface="Times New Roman" panose="02020603050405020304" pitchFamily="18" charset="0"/>
            </a:endParaRPr>
          </a:p>
          <a:p>
            <a:pPr indent="457189">
              <a:lnSpc>
                <a:spcPct val="150000"/>
              </a:lnSpc>
            </a:pPr>
            <a:r>
              <a:rPr lang="zh-CN" altLang="en-US" sz="1800" dirty="0">
                <a:cs typeface="Times New Roman" panose="02020603050405020304" pitchFamily="18" charset="0"/>
              </a:rPr>
              <a:t>以同样的计算，可得到</a:t>
            </a:r>
            <a:r>
              <a:rPr lang="en-US" altLang="zh-CN" sz="1800" dirty="0">
                <a:cs typeface="Times New Roman" panose="02020603050405020304" pitchFamily="18" charset="0"/>
              </a:rPr>
              <a:t>PSD</a:t>
            </a:r>
            <a:r>
              <a:rPr lang="zh-CN" altLang="en-US" sz="1800" dirty="0">
                <a:cs typeface="Times New Roman" panose="02020603050405020304" pitchFamily="18" charset="0"/>
              </a:rPr>
              <a:t>的最大增益。</a:t>
            </a:r>
            <a:endParaRPr lang="en-US" altLang="zh-CN" sz="1800" dirty="0">
              <a:cs typeface="Times New Roman" panose="02020603050405020304" pitchFamily="18" charset="0"/>
            </a:endParaRPr>
          </a:p>
          <a:p>
            <a:pPr indent="457189">
              <a:lnSpc>
                <a:spcPct val="150000"/>
              </a:lnSpc>
            </a:pPr>
            <a:r>
              <a:rPr lang="zh-CN" altLang="en-US" sz="1800" dirty="0">
                <a:cs typeface="Times New Roman" panose="02020603050405020304" pitchFamily="18" charset="0"/>
              </a:rPr>
              <a:t>若</a:t>
            </a:r>
            <a:r>
              <a:rPr lang="en-US" altLang="zh-CN" sz="1800" dirty="0">
                <a:cs typeface="Times New Roman" panose="02020603050405020304" pitchFamily="18" charset="0"/>
              </a:rPr>
              <a:t>PSD</a:t>
            </a:r>
            <a:r>
              <a:rPr lang="zh-CN" altLang="en-US" sz="1800" dirty="0">
                <a:cs typeface="Times New Roman" panose="02020603050405020304" pitchFamily="18" charset="0"/>
              </a:rPr>
              <a:t>的增益为</a:t>
            </a:r>
            <a:r>
              <a:rPr lang="en-US" altLang="zh-CN" sz="1800" dirty="0">
                <a:cs typeface="Times New Roman" panose="02020603050405020304" pitchFamily="18" charset="0"/>
              </a:rPr>
              <a:t>1</a:t>
            </a:r>
            <a:r>
              <a:rPr lang="zh-CN" altLang="en-US" sz="1800" dirty="0">
                <a:cs typeface="Times New Roman" panose="02020603050405020304" pitchFamily="18" charset="0"/>
              </a:rPr>
              <a:t>，则直流放大器的增益需</a:t>
            </a:r>
            <a:r>
              <a:rPr lang="zh-CN" altLang="en-US" sz="1800" dirty="0" smtClean="0">
                <a:cs typeface="Times New Roman" panose="02020603050405020304" pitchFamily="18" charset="0"/>
              </a:rPr>
              <a:t>大于</a:t>
            </a:r>
            <a:r>
              <a:rPr lang="en-US" altLang="zh-CN" sz="1800" dirty="0" smtClean="0">
                <a:cs typeface="Times New Roman" panose="02020603050405020304" pitchFamily="18" charset="0"/>
              </a:rPr>
              <a:t>367÷24=15.3</a:t>
            </a:r>
            <a:endParaRPr lang="en-US" altLang="zh-CN" sz="1800" dirty="0">
              <a:cs typeface="Times New Roman" panose="02020603050405020304" pitchFamily="18" charset="0"/>
            </a:endParaRPr>
          </a:p>
        </p:txBody>
      </p:sp>
    </p:spTree>
    <p:extLst>
      <p:ext uri="{BB962C8B-B14F-4D97-AF65-F5344CB8AC3E}">
        <p14:creationId xmlns:p14="http://schemas.microsoft.com/office/powerpoint/2010/main" val="2901329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sp>
        <p:nvSpPr>
          <p:cNvPr id="6" name="Rectangle 6"/>
          <p:cNvSpPr>
            <a:spLocks noChangeArrowheads="1"/>
          </p:cNvSpPr>
          <p:nvPr/>
        </p:nvSpPr>
        <p:spPr bwMode="auto">
          <a:xfrm>
            <a:off x="508000" y="596865"/>
            <a:ext cx="11176000" cy="3365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44" indent="-285744">
              <a:lnSpc>
                <a:spcPct val="150000"/>
              </a:lnSpc>
              <a:buFont typeface="Arial" panose="020B0604020202020204" pitchFamily="34" charset="0"/>
              <a:buChar char="•"/>
            </a:pPr>
            <a:r>
              <a:rPr lang="zh-CN" altLang="en-US" sz="1800" dirty="0">
                <a:latin typeface="黑体" panose="02010609060101010101" pitchFamily="49" charset="-122"/>
                <a:ea typeface="黑体" panose="02010609060101010101" pitchFamily="49" charset="-122"/>
              </a:rPr>
              <a:t>低通滤波器</a:t>
            </a:r>
            <a:endParaRPr lang="en-US" altLang="zh-CN" sz="1800" dirty="0">
              <a:cs typeface="Times New Roman" panose="02020603050405020304" pitchFamily="18" charset="0"/>
            </a:endParaRPr>
          </a:p>
          <a:p>
            <a:pPr indent="457189">
              <a:lnSpc>
                <a:spcPct val="150000"/>
              </a:lnSpc>
            </a:pPr>
            <a:r>
              <a:rPr lang="zh-CN" altLang="zh-CN" sz="1800" dirty="0"/>
              <a:t>锁定放大器中低通滤波器的主要功能是滤除噪声。为了得到稳定的幅频特性，通常采用无源</a:t>
            </a:r>
            <a:r>
              <a:rPr lang="en-US" altLang="zh-CN" sz="1800" dirty="0"/>
              <a:t>RC</a:t>
            </a:r>
            <a:r>
              <a:rPr lang="zh-CN" altLang="zh-CN" sz="1800" dirty="0"/>
              <a:t>滤波器。</a:t>
            </a:r>
            <a:endParaRPr lang="en-US" altLang="zh-CN" sz="1800" dirty="0"/>
          </a:p>
          <a:p>
            <a:pPr indent="457189">
              <a:lnSpc>
                <a:spcPct val="150000"/>
              </a:lnSpc>
            </a:pPr>
            <a:r>
              <a:rPr lang="zh-CN" altLang="en-US" sz="1800" dirty="0"/>
              <a:t>锁定放大器中，</a:t>
            </a:r>
            <a:r>
              <a:rPr lang="zh-CN" altLang="zh-CN" sz="1800" dirty="0"/>
              <a:t>低通滤波器的主要参数是噪声带宽</a:t>
            </a:r>
            <a:r>
              <a:rPr lang="zh-CN" altLang="en-US" sz="1800" dirty="0"/>
              <a:t>（将滤波曲线等效为矩形的宽度）。一阶无源滤波器的噪声带宽（以</a:t>
            </a:r>
            <a:r>
              <a:rPr lang="en-US" altLang="zh-CN" sz="1800" dirty="0"/>
              <a:t>Hz</a:t>
            </a:r>
            <a:r>
              <a:rPr lang="zh-CN" altLang="en-US" sz="1800" dirty="0"/>
              <a:t>为单位）为</a:t>
            </a:r>
            <a:r>
              <a:rPr lang="en-US" altLang="zh-CN" sz="1800" dirty="0"/>
              <a:t>1/(2RC)</a:t>
            </a:r>
            <a:r>
              <a:rPr lang="zh-CN" altLang="en-US" sz="1800" dirty="0"/>
              <a:t>，两个相同的一阶滤波器串联（中间用缓冲放大器隔离）的噪声带宽为</a:t>
            </a:r>
            <a:r>
              <a:rPr lang="en-US" altLang="zh-CN" sz="1800" dirty="0"/>
              <a:t>1/(4RC)</a:t>
            </a:r>
            <a:r>
              <a:rPr lang="zh-CN" altLang="en-US" sz="1800" dirty="0"/>
              <a:t>。</a:t>
            </a:r>
            <a:endParaRPr lang="en-US" altLang="zh-CN" sz="1800" dirty="0"/>
          </a:p>
          <a:p>
            <a:pPr indent="457189">
              <a:lnSpc>
                <a:spcPct val="150000"/>
              </a:lnSpc>
            </a:pPr>
            <a:r>
              <a:rPr lang="zh-CN" altLang="zh-CN" sz="1800" dirty="0"/>
              <a:t>低通滤波器的噪声带宽仅由</a:t>
            </a:r>
            <a:r>
              <a:rPr lang="en-US" altLang="zh-CN" sz="1800" dirty="0"/>
              <a:t>RC</a:t>
            </a:r>
            <a:r>
              <a:rPr lang="zh-CN" altLang="zh-CN" sz="1800" dirty="0"/>
              <a:t>时间常数确定，高阶滤波器只是改善了滤波器的矩形系数。所以锁定放大器中的低通滤波器一般都采用一阶</a:t>
            </a:r>
            <a:r>
              <a:rPr lang="en-US" altLang="zh-CN" sz="1800" dirty="0"/>
              <a:t>RC</a:t>
            </a:r>
            <a:r>
              <a:rPr lang="zh-CN" altLang="zh-CN" sz="1800" dirty="0"/>
              <a:t>低通网络或两个相同且相互独立的一阶</a:t>
            </a:r>
            <a:r>
              <a:rPr lang="en-US" altLang="zh-CN" sz="1800" dirty="0"/>
              <a:t>RC</a:t>
            </a:r>
            <a:r>
              <a:rPr lang="zh-CN" altLang="zh-CN" sz="1800" dirty="0"/>
              <a:t>低通网络串联，很少采用更高阶数的滤波网络。</a:t>
            </a:r>
          </a:p>
        </p:txBody>
      </p:sp>
      <p:pic>
        <p:nvPicPr>
          <p:cNvPr id="15" name="图片 14"/>
          <p:cNvPicPr>
            <a:picLocks noChangeAspect="1"/>
          </p:cNvPicPr>
          <p:nvPr/>
        </p:nvPicPr>
        <p:blipFill>
          <a:blip r:embed="rId2"/>
          <a:stretch>
            <a:fillRect/>
          </a:stretch>
        </p:blipFill>
        <p:spPr>
          <a:xfrm>
            <a:off x="3579147" y="4129295"/>
            <a:ext cx="4002280" cy="1259384"/>
          </a:xfrm>
          <a:prstGeom prst="rect">
            <a:avLst/>
          </a:prstGeom>
        </p:spPr>
      </p:pic>
    </p:spTree>
    <p:extLst>
      <p:ext uri="{BB962C8B-B14F-4D97-AF65-F5344CB8AC3E}">
        <p14:creationId xmlns:p14="http://schemas.microsoft.com/office/powerpoint/2010/main" val="873435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6" name="Rectangle 6"/>
          <p:cNvSpPr>
            <a:spLocks noChangeArrowheads="1"/>
          </p:cNvSpPr>
          <p:nvPr/>
        </p:nvSpPr>
        <p:spPr bwMode="auto">
          <a:xfrm>
            <a:off x="515257" y="403554"/>
            <a:ext cx="1120502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44" indent="-285744">
              <a:lnSpc>
                <a:spcPct val="150000"/>
              </a:lnSpc>
              <a:buFont typeface="Arial" panose="020B0604020202020204" pitchFamily="34" charset="0"/>
              <a:buChar char="•"/>
            </a:pPr>
            <a:r>
              <a:rPr lang="zh-CN" altLang="en-US" sz="1800" dirty="0">
                <a:latin typeface="黑体" panose="02010609060101010101" pitchFamily="49" charset="-122"/>
                <a:ea typeface="黑体" panose="02010609060101010101" pitchFamily="49" charset="-122"/>
              </a:rPr>
              <a:t>参考信号形成电路</a:t>
            </a:r>
            <a:endParaRPr lang="en-US" altLang="zh-CN" sz="1800" dirty="0">
              <a:cs typeface="Times New Roman" panose="02020603050405020304" pitchFamily="18" charset="0"/>
            </a:endParaRPr>
          </a:p>
          <a:p>
            <a:pPr indent="457189">
              <a:lnSpc>
                <a:spcPct val="150000"/>
              </a:lnSpc>
            </a:pPr>
            <a:r>
              <a:rPr lang="zh-CN" altLang="en-US" sz="1800" dirty="0"/>
              <a:t>参考信号形成电路是锁定放大器中重要的一环，它要从输入信号中获得稳定可靠的</a:t>
            </a:r>
            <a:r>
              <a:rPr lang="en-US" altLang="zh-CN" sz="1800" dirty="0"/>
              <a:t>PSD</a:t>
            </a:r>
            <a:r>
              <a:rPr lang="zh-CN" altLang="en-US" sz="1800" dirty="0"/>
              <a:t>同步参考信号</a:t>
            </a:r>
            <a:r>
              <a:rPr lang="zh-CN" altLang="zh-CN" sz="1800" dirty="0"/>
              <a:t>。为了获得最大的输出，</a:t>
            </a:r>
            <a:r>
              <a:rPr lang="zh-CN" altLang="en-US" sz="1800" dirty="0"/>
              <a:t>输入</a:t>
            </a:r>
            <a:r>
              <a:rPr lang="en-US" altLang="zh-CN" sz="1800" dirty="0"/>
              <a:t>PSD</a:t>
            </a:r>
            <a:r>
              <a:rPr lang="zh-CN" altLang="en-US" sz="1800" dirty="0"/>
              <a:t>的</a:t>
            </a:r>
            <a:r>
              <a:rPr lang="zh-CN" altLang="zh-CN" sz="1800" dirty="0"/>
              <a:t>参考信号</a:t>
            </a:r>
            <a:r>
              <a:rPr lang="zh-CN" altLang="en-US" sz="1800" dirty="0"/>
              <a:t>与输入</a:t>
            </a:r>
            <a:r>
              <a:rPr lang="en-US" altLang="zh-CN" sz="1800" dirty="0"/>
              <a:t>PSD</a:t>
            </a:r>
            <a:r>
              <a:rPr lang="zh-CN" altLang="zh-CN" sz="1800" dirty="0"/>
              <a:t>的输入信号</a:t>
            </a:r>
            <a:r>
              <a:rPr lang="zh-CN" altLang="en-US" sz="1800" dirty="0"/>
              <a:t>应该同频同相</a:t>
            </a:r>
            <a:r>
              <a:rPr lang="zh-CN" altLang="zh-CN" sz="1800" dirty="0"/>
              <a:t>。</a:t>
            </a:r>
            <a:endParaRPr lang="en-US" altLang="zh-CN" sz="1800" dirty="0"/>
          </a:p>
          <a:p>
            <a:pPr indent="457189">
              <a:lnSpc>
                <a:spcPct val="150000"/>
              </a:lnSpc>
            </a:pPr>
            <a:r>
              <a:rPr lang="zh-CN" altLang="en-US" sz="1800" dirty="0"/>
              <a:t>当外部输入的参考信号很稳定时，可以直接用它作为同步信号。</a:t>
            </a:r>
            <a:r>
              <a:rPr lang="zh-CN" altLang="zh-CN" sz="1800" dirty="0"/>
              <a:t>但由于信号通道与参考通道可能有不同的延时（相位差），</a:t>
            </a:r>
            <a:r>
              <a:rPr lang="zh-CN" altLang="en-US" sz="1800" dirty="0"/>
              <a:t>通常还需要对输入的同步信号移相。所以在这种参考信号形成电路中，通常包含移相网络与整形电路（用于获得边缘整齐的方波）。下图是一个以</a:t>
            </a:r>
            <a:r>
              <a:rPr lang="zh-CN" altLang="zh-CN" sz="1800" dirty="0"/>
              <a:t>全通滤波器</a:t>
            </a:r>
            <a:r>
              <a:rPr lang="zh-CN" altLang="en-US" sz="1800" dirty="0"/>
              <a:t>实现</a:t>
            </a:r>
            <a:r>
              <a:rPr lang="zh-CN" altLang="zh-CN" sz="1800" dirty="0"/>
              <a:t>的移相</a:t>
            </a:r>
            <a:r>
              <a:rPr lang="zh-CN" altLang="zh-CN" sz="1800" dirty="0" smtClean="0"/>
              <a:t>环节</a:t>
            </a:r>
            <a:r>
              <a:rPr lang="zh-CN" altLang="en-US" sz="1800" dirty="0" smtClean="0"/>
              <a:t>（没有包含整形电路）</a:t>
            </a:r>
            <a:r>
              <a:rPr lang="zh-CN" altLang="zh-CN" sz="1800" dirty="0" smtClean="0"/>
              <a:t>，</a:t>
            </a:r>
            <a:r>
              <a:rPr lang="zh-CN" altLang="zh-CN" sz="1800" dirty="0"/>
              <a:t>第一个全通滤波器让信号相位滞后，第二个全通滤波器让相位超前，调节可变电阻</a:t>
            </a:r>
            <a:r>
              <a:rPr lang="zh-CN" altLang="en-US" sz="1800" dirty="0"/>
              <a:t>就</a:t>
            </a:r>
            <a:r>
              <a:rPr lang="zh-CN" altLang="zh-CN" sz="1800" dirty="0"/>
              <a:t>可以改变相位移动的角度</a:t>
            </a:r>
            <a:r>
              <a:rPr lang="zh-CN" altLang="zh-CN" sz="1800" dirty="0" smtClean="0"/>
              <a:t>。</a:t>
            </a:r>
            <a:r>
              <a:rPr lang="zh-CN" altLang="en-US" sz="1800" dirty="0" smtClean="0"/>
              <a:t>关于全通滤波器的详细讨论可以参阅培训材料</a:t>
            </a:r>
            <a:r>
              <a:rPr lang="en-US" altLang="zh-CN" sz="1800" dirty="0" smtClean="0"/>
              <a:t>《</a:t>
            </a:r>
            <a:r>
              <a:rPr lang="zh-CN" altLang="en-US" sz="1800" dirty="0" smtClean="0"/>
              <a:t>有源滤波器</a:t>
            </a:r>
            <a:r>
              <a:rPr lang="en-US" altLang="zh-CN" sz="1800" dirty="0" smtClean="0"/>
              <a:t>》</a:t>
            </a:r>
            <a:r>
              <a:rPr lang="zh-CN" altLang="en-US" sz="1800" dirty="0" smtClean="0"/>
              <a:t>。</a:t>
            </a:r>
            <a:endParaRPr lang="en-US" altLang="zh-CN" sz="1800" dirty="0"/>
          </a:p>
        </p:txBody>
      </p:sp>
      <p:sp>
        <p:nvSpPr>
          <p:cNvPr id="5" name="文本框 4"/>
          <p:cNvSpPr txBox="1"/>
          <p:nvPr/>
        </p:nvSpPr>
        <p:spPr>
          <a:xfrm>
            <a:off x="5725886" y="3700171"/>
            <a:ext cx="5994400" cy="1338828"/>
          </a:xfrm>
          <a:prstGeom prst="rect">
            <a:avLst/>
          </a:prstGeom>
          <a:noFill/>
        </p:spPr>
        <p:txBody>
          <a:bodyPr wrap="square" rtlCol="0">
            <a:spAutoFit/>
          </a:bodyPr>
          <a:lstStyle/>
          <a:p>
            <a:pPr indent="457200">
              <a:lnSpc>
                <a:spcPct val="150000"/>
              </a:lnSpc>
            </a:pPr>
            <a:r>
              <a:rPr lang="zh-CN" altLang="en-US" sz="1800" dirty="0" smtClean="0"/>
              <a:t>这个电路的最大困难在于如何保证输出方波的占空比为准确的</a:t>
            </a:r>
            <a:r>
              <a:rPr lang="en-US" altLang="zh-CN" sz="1800" dirty="0" smtClean="0"/>
              <a:t>1:2</a:t>
            </a:r>
            <a:r>
              <a:rPr lang="zh-CN" altLang="en-US" sz="1800" dirty="0" smtClean="0"/>
              <a:t>，需要在调试电路时仔细调整后续的整形电路（滞回比较器）的翻转阈值。</a:t>
            </a:r>
            <a:endParaRPr lang="zh-CN" altLang="en-US" sz="1800" dirty="0"/>
          </a:p>
        </p:txBody>
      </p:sp>
      <p:pic>
        <p:nvPicPr>
          <p:cNvPr id="7" name="图片 6"/>
          <p:cNvPicPr>
            <a:picLocks noChangeAspect="1"/>
          </p:cNvPicPr>
          <p:nvPr/>
        </p:nvPicPr>
        <p:blipFill>
          <a:blip r:embed="rId2"/>
          <a:stretch>
            <a:fillRect/>
          </a:stretch>
        </p:blipFill>
        <p:spPr>
          <a:xfrm>
            <a:off x="845137" y="3933645"/>
            <a:ext cx="4550870" cy="2210707"/>
          </a:xfrm>
          <a:prstGeom prst="rect">
            <a:avLst/>
          </a:prstGeom>
        </p:spPr>
      </p:pic>
    </p:spTree>
    <p:extLst>
      <p:ext uri="{BB962C8B-B14F-4D97-AF65-F5344CB8AC3E}">
        <p14:creationId xmlns:p14="http://schemas.microsoft.com/office/powerpoint/2010/main" val="1238456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矩形 4"/>
          <p:cNvSpPr/>
          <p:nvPr/>
        </p:nvSpPr>
        <p:spPr>
          <a:xfrm>
            <a:off x="486229" y="535193"/>
            <a:ext cx="11205027" cy="5078313"/>
          </a:xfrm>
          <a:prstGeom prst="rect">
            <a:avLst/>
          </a:prstGeom>
        </p:spPr>
        <p:txBody>
          <a:bodyPr wrap="square">
            <a:spAutoFit/>
          </a:bodyPr>
          <a:lstStyle/>
          <a:p>
            <a:pPr indent="457189">
              <a:lnSpc>
                <a:spcPct val="150000"/>
              </a:lnSpc>
            </a:pPr>
            <a:r>
              <a:rPr lang="zh-CN" altLang="en-US" sz="1800" dirty="0"/>
              <a:t>当外部输入的参考信号不稳定或</a:t>
            </a:r>
            <a:r>
              <a:rPr lang="zh-CN" altLang="en-US" sz="1800" dirty="0" smtClean="0"/>
              <a:t>混杂很大</a:t>
            </a:r>
            <a:r>
              <a:rPr lang="zh-CN" altLang="en-US" sz="1800" dirty="0"/>
              <a:t>的噪声时，不可能直接用它作为同步信号，此时通常需要用一个锁相环锁定参考信号</a:t>
            </a:r>
            <a:r>
              <a:rPr lang="zh-CN" altLang="zh-CN" sz="1800" dirty="0"/>
              <a:t>。</a:t>
            </a:r>
            <a:r>
              <a:rPr lang="zh-CN" altLang="en-US" sz="1800" dirty="0"/>
              <a:t>由于这种方式是最为常见的，所以锁定放大器也被称为锁相放大器。</a:t>
            </a:r>
            <a:endParaRPr lang="en-US" altLang="zh-CN" sz="1800" dirty="0"/>
          </a:p>
          <a:p>
            <a:pPr indent="457189">
              <a:lnSpc>
                <a:spcPct val="150000"/>
              </a:lnSpc>
            </a:pPr>
            <a:r>
              <a:rPr lang="zh-CN" altLang="zh-CN" sz="1800" dirty="0"/>
              <a:t>采用锁相环的参考通道的电路结构见</a:t>
            </a:r>
            <a:r>
              <a:rPr lang="zh-CN" altLang="en-US" sz="1800" dirty="0"/>
              <a:t>下</a:t>
            </a:r>
            <a:r>
              <a:rPr lang="zh-CN" altLang="zh-CN" sz="1800" dirty="0"/>
              <a:t>图：过零比较器将参考信号整形为矩形波，然后送入锁相环，锁定在参考信号的</a:t>
            </a:r>
            <a:r>
              <a:rPr lang="en-US" altLang="zh-CN" sz="1800" dirty="0"/>
              <a:t>4</a:t>
            </a:r>
            <a:r>
              <a:rPr lang="zh-CN" altLang="zh-CN" sz="1800" dirty="0"/>
              <a:t>倍频后再分频（采用分频的一个目的是</a:t>
            </a:r>
            <a:r>
              <a:rPr lang="zh-CN" altLang="zh-CN" sz="1800" dirty="0" smtClean="0"/>
              <a:t>得到</a:t>
            </a:r>
            <a:r>
              <a:rPr lang="zh-CN" altLang="en-US" sz="1800" dirty="0" smtClean="0"/>
              <a:t>的</a:t>
            </a:r>
            <a:r>
              <a:rPr lang="zh-CN" altLang="zh-CN" sz="1800" dirty="0" smtClean="0"/>
              <a:t>信号占空比</a:t>
            </a:r>
            <a:r>
              <a:rPr lang="zh-CN" altLang="en-US" sz="1800" dirty="0" smtClean="0"/>
              <a:t>为</a:t>
            </a:r>
            <a:r>
              <a:rPr lang="zh-CN" altLang="zh-CN" sz="1800" dirty="0" smtClean="0"/>
              <a:t>准确</a:t>
            </a:r>
            <a:r>
              <a:rPr lang="zh-CN" altLang="zh-CN" sz="1800" dirty="0"/>
              <a:t>的</a:t>
            </a:r>
            <a:r>
              <a:rPr lang="en-US" altLang="zh-CN" sz="1800" dirty="0" smtClean="0"/>
              <a:t>1:2</a:t>
            </a:r>
            <a:r>
              <a:rPr lang="zh-CN" altLang="zh-CN" sz="1800" dirty="0" smtClean="0"/>
              <a:t>）</a:t>
            </a:r>
            <a:r>
              <a:rPr lang="zh-CN" altLang="en-US" sz="1800" dirty="0" smtClean="0"/>
              <a:t>，</a:t>
            </a:r>
            <a:r>
              <a:rPr lang="zh-CN" altLang="zh-CN" sz="1800" dirty="0"/>
              <a:t>在环路滤波器上叠加直流偏移电平实现相位调整。</a:t>
            </a: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endParaRPr lang="en-US" altLang="zh-CN" sz="1800" dirty="0"/>
          </a:p>
          <a:p>
            <a:pPr indent="457189">
              <a:lnSpc>
                <a:spcPct val="150000"/>
              </a:lnSpc>
            </a:pPr>
            <a:r>
              <a:rPr lang="zh-CN" altLang="en-US" sz="1800" dirty="0"/>
              <a:t>该电路中的鉴相器与压控振荡器通常采用集成锁相环电路（例如</a:t>
            </a:r>
            <a:r>
              <a:rPr lang="en-US" altLang="zh-CN" sz="1800" dirty="0"/>
              <a:t>74HC4046</a:t>
            </a:r>
            <a:r>
              <a:rPr lang="zh-CN" altLang="en-US" sz="1800" dirty="0"/>
              <a:t>），</a:t>
            </a:r>
            <a:r>
              <a:rPr lang="en-US" altLang="zh-CN" sz="1800" dirty="0"/>
              <a:t>4</a:t>
            </a:r>
            <a:r>
              <a:rPr lang="zh-CN" altLang="en-US" sz="1800" dirty="0"/>
              <a:t>分频器用常规的数字电路触发器（例如</a:t>
            </a:r>
            <a:r>
              <a:rPr lang="en-US" altLang="zh-CN" sz="1800" dirty="0"/>
              <a:t>74HC74</a:t>
            </a:r>
            <a:r>
              <a:rPr lang="zh-CN" altLang="en-US" sz="1800" dirty="0"/>
              <a:t>），环路滤波器与移相的加法器用通用运放实现。</a:t>
            </a:r>
            <a:endParaRPr lang="zh-CN" altLang="zh-CN" sz="1600" dirty="0"/>
          </a:p>
        </p:txBody>
      </p:sp>
      <p:graphicFrame>
        <p:nvGraphicFramePr>
          <p:cNvPr id="7" name="对象 6"/>
          <p:cNvGraphicFramePr>
            <a:graphicFrameLocks noChangeAspect="1"/>
          </p:cNvGraphicFramePr>
          <p:nvPr>
            <p:extLst>
              <p:ext uri="{D42A27DB-BD31-4B8C-83A1-F6EECF244321}">
                <p14:modId xmlns:p14="http://schemas.microsoft.com/office/powerpoint/2010/main" val="1851216427"/>
              </p:ext>
            </p:extLst>
          </p:nvPr>
        </p:nvGraphicFramePr>
        <p:xfrm>
          <a:off x="1276778" y="2693013"/>
          <a:ext cx="9573346" cy="1864473"/>
        </p:xfrm>
        <a:graphic>
          <a:graphicData uri="http://schemas.openxmlformats.org/presentationml/2006/ole">
            <mc:AlternateContent xmlns:mc="http://schemas.openxmlformats.org/markup-compatibility/2006">
              <mc:Choice xmlns:v="urn:schemas-microsoft-com:vml" Requires="v">
                <p:oleObj spid="_x0000_s16447" name="Visio" r:id="rId3" imgW="5079568" imgH="997527" progId="Visio.Drawing.11">
                  <p:embed/>
                </p:oleObj>
              </mc:Choice>
              <mc:Fallback>
                <p:oleObj name="Visio" r:id="rId3" imgW="5079568" imgH="99752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6778" y="2693013"/>
                        <a:ext cx="9573346" cy="1864473"/>
                      </a:xfrm>
                      <a:prstGeom prst="rect">
                        <a:avLst/>
                      </a:prstGeom>
                      <a:noFill/>
                    </p:spPr>
                  </p:pic>
                </p:oleObj>
              </mc:Fallback>
            </mc:AlternateContent>
          </a:graphicData>
        </a:graphic>
      </p:graphicFrame>
    </p:spTree>
    <p:extLst>
      <p:ext uri="{BB962C8B-B14F-4D97-AF65-F5344CB8AC3E}">
        <p14:creationId xmlns:p14="http://schemas.microsoft.com/office/powerpoint/2010/main" val="4250257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graphicFrame>
        <p:nvGraphicFramePr>
          <p:cNvPr id="5" name="对象 4"/>
          <p:cNvGraphicFramePr>
            <a:graphicFrameLocks/>
          </p:cNvGraphicFramePr>
          <p:nvPr>
            <p:extLst>
              <p:ext uri="{D42A27DB-BD31-4B8C-83A1-F6EECF244321}">
                <p14:modId xmlns:p14="http://schemas.microsoft.com/office/powerpoint/2010/main" val="548602749"/>
              </p:ext>
            </p:extLst>
          </p:nvPr>
        </p:nvGraphicFramePr>
        <p:xfrm>
          <a:off x="1437448" y="1401895"/>
          <a:ext cx="7441973" cy="1582057"/>
        </p:xfrm>
        <a:graphic>
          <a:graphicData uri="http://schemas.openxmlformats.org/presentationml/2006/ole">
            <mc:AlternateContent xmlns:mc="http://schemas.openxmlformats.org/markup-compatibility/2006">
              <mc:Choice xmlns:v="urn:schemas-microsoft-com:vml" Requires="v">
                <p:oleObj spid="_x0000_s21529" name="Visio" r:id="rId3" imgW="4667147" imgH="1016052" progId="Visio.Drawing.11">
                  <p:embed/>
                </p:oleObj>
              </mc:Choice>
              <mc:Fallback>
                <p:oleObj name="Visio" r:id="rId3" imgW="4667147" imgH="1016052" progId="Visio.Drawing.11">
                  <p:embed/>
                  <p:pic>
                    <p:nvPicPr>
                      <p:cNvPr id="6" name="对象 5"/>
                      <p:cNvPicPr>
                        <a:picLocks noChangeArrowheads="1"/>
                      </p:cNvPicPr>
                      <p:nvPr/>
                    </p:nvPicPr>
                    <p:blipFill>
                      <a:blip r:embed="rId4"/>
                      <a:srcRect/>
                      <a:stretch>
                        <a:fillRect/>
                      </a:stretch>
                    </p:blipFill>
                    <p:spPr bwMode="auto">
                      <a:xfrm>
                        <a:off x="1437448" y="1401895"/>
                        <a:ext cx="7441973" cy="1582057"/>
                      </a:xfrm>
                      <a:prstGeom prst="rect">
                        <a:avLst/>
                      </a:prstGeom>
                      <a:noFill/>
                    </p:spPr>
                  </p:pic>
                </p:oleObj>
              </mc:Fallback>
            </mc:AlternateContent>
          </a:graphicData>
        </a:graphic>
      </p:graphicFrame>
      <p:sp>
        <p:nvSpPr>
          <p:cNvPr id="6" name="文本框 5"/>
          <p:cNvSpPr txBox="1"/>
          <p:nvPr/>
        </p:nvSpPr>
        <p:spPr>
          <a:xfrm>
            <a:off x="562357" y="457199"/>
            <a:ext cx="11259230" cy="784830"/>
          </a:xfrm>
          <a:prstGeom prst="rect">
            <a:avLst/>
          </a:prstGeom>
          <a:noFill/>
        </p:spPr>
        <p:txBody>
          <a:bodyPr wrap="square" rtlCol="0">
            <a:spAutoFit/>
          </a:bodyPr>
          <a:lstStyle/>
          <a:p>
            <a:r>
              <a:rPr lang="zh-CN" altLang="en-US" sz="1800" dirty="0" smtClean="0">
                <a:solidFill>
                  <a:srgbClr val="FF0000"/>
                </a:solidFill>
              </a:rPr>
              <a:t>关于锁相环的基本知识</a:t>
            </a:r>
            <a:endParaRPr lang="en-US" altLang="zh-CN" sz="1800" dirty="0" smtClean="0">
              <a:solidFill>
                <a:srgbClr val="FF0000"/>
              </a:solidFill>
            </a:endParaRPr>
          </a:p>
          <a:p>
            <a:pPr indent="457200">
              <a:lnSpc>
                <a:spcPct val="150000"/>
              </a:lnSpc>
            </a:pPr>
            <a:r>
              <a:rPr lang="zh-CN" altLang="en-US" sz="1800" dirty="0"/>
              <a:t>锁相环是一个关于相位的负反馈</a:t>
            </a:r>
            <a:r>
              <a:rPr lang="zh-CN" altLang="en-US" sz="1800" dirty="0" smtClean="0"/>
              <a:t>系统，基本结构如下图：</a:t>
            </a:r>
            <a:endParaRPr lang="zh-CN" altLang="en-US" sz="1800" dirty="0"/>
          </a:p>
        </p:txBody>
      </p:sp>
      <p:sp>
        <p:nvSpPr>
          <p:cNvPr id="7" name="文本框 6"/>
          <p:cNvSpPr txBox="1"/>
          <p:nvPr/>
        </p:nvSpPr>
        <p:spPr>
          <a:xfrm>
            <a:off x="562357" y="2975429"/>
            <a:ext cx="11259230" cy="3416320"/>
          </a:xfrm>
          <a:prstGeom prst="rect">
            <a:avLst/>
          </a:prstGeom>
          <a:noFill/>
        </p:spPr>
        <p:txBody>
          <a:bodyPr wrap="square" rtlCol="0">
            <a:spAutoFit/>
          </a:bodyPr>
          <a:lstStyle/>
          <a:p>
            <a:pPr indent="457200">
              <a:lnSpc>
                <a:spcPct val="150000"/>
              </a:lnSpc>
            </a:pPr>
            <a:r>
              <a:rPr lang="zh-CN" altLang="en-US" sz="1800" dirty="0" smtClean="0"/>
              <a:t>其中鉴相器进行相位比较，并将比较结果以电压形式输出。鉴相增益 </a:t>
            </a:r>
            <a:r>
              <a:rPr lang="en-US" altLang="zh-CN" sz="1800" i="1" dirty="0" err="1" smtClean="0">
                <a:latin typeface="+mn-lt"/>
              </a:rPr>
              <a:t>K</a:t>
            </a:r>
            <a:r>
              <a:rPr lang="en-US" altLang="zh-CN" sz="1800" i="1" baseline="-25000" dirty="0" err="1" smtClean="0">
                <a:latin typeface="+mn-lt"/>
              </a:rPr>
              <a:t>d</a:t>
            </a:r>
            <a:r>
              <a:rPr lang="en-US" altLang="zh-CN" sz="1800" i="1" dirty="0" smtClean="0">
                <a:latin typeface="+mn-lt"/>
              </a:rPr>
              <a:t>=</a:t>
            </a:r>
            <a:r>
              <a:rPr lang="el-GR" altLang="zh-CN" sz="1800" dirty="0" smtClean="0">
                <a:latin typeface="+mn-lt"/>
                <a:cs typeface="Times New Roman" panose="02020603050405020304" pitchFamily="18" charset="0"/>
              </a:rPr>
              <a:t>Δ</a:t>
            </a:r>
            <a:r>
              <a:rPr lang="en-US" altLang="zh-CN" sz="1800" i="1" dirty="0" err="1" smtClean="0">
                <a:latin typeface="+mn-lt"/>
                <a:cs typeface="Times New Roman" panose="02020603050405020304" pitchFamily="18" charset="0"/>
              </a:rPr>
              <a:t>v</a:t>
            </a:r>
            <a:r>
              <a:rPr lang="en-US" altLang="zh-CN" sz="1800" i="1" baseline="-25000" dirty="0" err="1" smtClean="0">
                <a:latin typeface="+mn-lt"/>
              </a:rPr>
              <a:t>d</a:t>
            </a:r>
            <a:r>
              <a:rPr lang="en-US" altLang="zh-CN" sz="1800" i="1" baseline="-25000" dirty="0" smtClean="0">
                <a:latin typeface="+mn-lt"/>
              </a:rPr>
              <a:t> </a:t>
            </a:r>
            <a:r>
              <a:rPr lang="en-US" altLang="zh-CN" sz="1800" dirty="0" smtClean="0">
                <a:latin typeface="+mn-lt"/>
                <a:cs typeface="Times New Roman" panose="02020603050405020304" pitchFamily="18" charset="0"/>
              </a:rPr>
              <a:t>/</a:t>
            </a:r>
            <a:r>
              <a:rPr lang="el-GR" altLang="zh-CN" sz="1800" dirty="0" smtClean="0">
                <a:latin typeface="+mn-lt"/>
              </a:rPr>
              <a:t>Δ</a:t>
            </a:r>
            <a:r>
              <a:rPr lang="el-GR" altLang="zh-CN" sz="1800" i="1" dirty="0" smtClean="0">
                <a:latin typeface="+mn-lt"/>
                <a:cs typeface="Times New Roman" panose="02020603050405020304" pitchFamily="18" charset="0"/>
              </a:rPr>
              <a:t>θ</a:t>
            </a:r>
            <a:r>
              <a:rPr lang="en-US" altLang="zh-CN" sz="1800" i="1" dirty="0" smtClean="0">
                <a:latin typeface="+mn-lt"/>
                <a:cs typeface="Times New Roman" panose="02020603050405020304" pitchFamily="18" charset="0"/>
              </a:rPr>
              <a:t> </a:t>
            </a:r>
            <a:r>
              <a:rPr lang="zh-CN" altLang="en-US" sz="1800" dirty="0" smtClean="0">
                <a:latin typeface="+mn-lt"/>
                <a:cs typeface="Times New Roman" panose="02020603050405020304" pitchFamily="18" charset="0"/>
              </a:rPr>
              <a:t>。</a:t>
            </a:r>
            <a:endParaRPr lang="en-US" altLang="zh-CN" sz="1800" dirty="0" smtClean="0">
              <a:latin typeface="+mn-lt"/>
              <a:cs typeface="Times New Roman" panose="02020603050405020304" pitchFamily="18" charset="0"/>
            </a:endParaRPr>
          </a:p>
          <a:p>
            <a:pPr indent="457200">
              <a:lnSpc>
                <a:spcPct val="150000"/>
              </a:lnSpc>
            </a:pPr>
            <a:r>
              <a:rPr lang="zh-CN" altLang="en-US" sz="1800" dirty="0" smtClean="0">
                <a:latin typeface="+mn-lt"/>
                <a:cs typeface="Times New Roman" panose="02020603050405020304" pitchFamily="18" charset="0"/>
              </a:rPr>
              <a:t>环路滤波器通常是一个低通滤波器，将鉴相器输出电压中的波动成分滤除，保留其准直流分量。</a:t>
            </a:r>
            <a:endParaRPr lang="en-US" altLang="zh-CN" sz="1800" dirty="0" smtClean="0">
              <a:latin typeface="+mn-lt"/>
              <a:cs typeface="Times New Roman" panose="02020603050405020304" pitchFamily="18" charset="0"/>
            </a:endParaRPr>
          </a:p>
          <a:p>
            <a:pPr indent="457200">
              <a:lnSpc>
                <a:spcPct val="150000"/>
              </a:lnSpc>
            </a:pPr>
            <a:r>
              <a:rPr lang="zh-CN" altLang="en-US" sz="1800" dirty="0" smtClean="0">
                <a:latin typeface="+mn-lt"/>
                <a:cs typeface="Times New Roman" panose="02020603050405020304" pitchFamily="18" charset="0"/>
              </a:rPr>
              <a:t>压控振荡器根据输入的控制电压改变其振荡频率。压控增益 </a:t>
            </a:r>
            <a:r>
              <a:rPr lang="en-US" altLang="zh-CN" sz="1800" i="1" dirty="0" err="1" smtClean="0">
                <a:latin typeface="+mn-lt"/>
                <a:cs typeface="Times New Roman" panose="02020603050405020304" pitchFamily="18" charset="0"/>
              </a:rPr>
              <a:t>K</a:t>
            </a:r>
            <a:r>
              <a:rPr lang="en-US" altLang="zh-CN" sz="1800" i="1" baseline="-25000" dirty="0" err="1" smtClean="0">
                <a:latin typeface="+mn-lt"/>
                <a:cs typeface="Times New Roman" panose="02020603050405020304" pitchFamily="18" charset="0"/>
              </a:rPr>
              <a:t>o</a:t>
            </a:r>
            <a:r>
              <a:rPr lang="en-US" altLang="zh-CN" sz="1800" dirty="0" smtClean="0">
                <a:latin typeface="+mn-lt"/>
                <a:cs typeface="Times New Roman" panose="02020603050405020304" pitchFamily="18" charset="0"/>
              </a:rPr>
              <a:t>=2</a:t>
            </a:r>
            <a:r>
              <a:rPr lang="el-GR" altLang="zh-CN" sz="1800" dirty="0" smtClean="0">
                <a:latin typeface="+mn-lt"/>
                <a:cs typeface="Times New Roman" panose="02020603050405020304" pitchFamily="18" charset="0"/>
              </a:rPr>
              <a:t>πΔ</a:t>
            </a:r>
            <a:r>
              <a:rPr lang="en-US" altLang="zh-CN" sz="1800" i="1" dirty="0" err="1" smtClean="0">
                <a:latin typeface="+mn-lt"/>
                <a:cs typeface="Times New Roman" panose="02020603050405020304" pitchFamily="18" charset="0"/>
              </a:rPr>
              <a:t>f</a:t>
            </a:r>
            <a:r>
              <a:rPr lang="en-US" altLang="zh-CN" sz="1800" baseline="-25000" dirty="0" err="1" smtClean="0">
                <a:latin typeface="+mn-lt"/>
                <a:cs typeface="Times New Roman" panose="02020603050405020304" pitchFamily="18" charset="0"/>
              </a:rPr>
              <a:t>o</a:t>
            </a:r>
            <a:r>
              <a:rPr lang="en-US" altLang="zh-CN" sz="1800" baseline="-25000" dirty="0" smtClean="0">
                <a:latin typeface="+mn-lt"/>
                <a:cs typeface="Times New Roman" panose="02020603050405020304" pitchFamily="18" charset="0"/>
              </a:rPr>
              <a:t> </a:t>
            </a:r>
            <a:r>
              <a:rPr lang="en-US" altLang="zh-CN" sz="1800" dirty="0" smtClean="0">
                <a:latin typeface="+mn-lt"/>
                <a:cs typeface="Times New Roman" panose="02020603050405020304" pitchFamily="18" charset="0"/>
              </a:rPr>
              <a:t>/</a:t>
            </a:r>
            <a:r>
              <a:rPr lang="el-GR" altLang="zh-CN" sz="1800" dirty="0" smtClean="0">
                <a:latin typeface="+mn-lt"/>
                <a:cs typeface="Times New Roman" panose="02020603050405020304" pitchFamily="18" charset="0"/>
              </a:rPr>
              <a:t>Δ</a:t>
            </a:r>
            <a:r>
              <a:rPr lang="en-US" altLang="zh-CN" sz="1800" i="1" dirty="0" err="1" smtClean="0">
                <a:latin typeface="+mn-lt"/>
                <a:cs typeface="Times New Roman" panose="02020603050405020304" pitchFamily="18" charset="0"/>
              </a:rPr>
              <a:t>v</a:t>
            </a:r>
            <a:r>
              <a:rPr lang="en-US" altLang="zh-CN" sz="1800" baseline="-25000" dirty="0" err="1" smtClean="0">
                <a:latin typeface="+mn-lt"/>
                <a:cs typeface="Times New Roman" panose="02020603050405020304" pitchFamily="18" charset="0"/>
              </a:rPr>
              <a:t>c</a:t>
            </a:r>
            <a:r>
              <a:rPr lang="en-US" altLang="zh-CN" sz="1800" baseline="-25000" dirty="0" smtClean="0">
                <a:latin typeface="+mn-lt"/>
                <a:cs typeface="Times New Roman" panose="02020603050405020304" pitchFamily="18" charset="0"/>
              </a:rPr>
              <a:t> </a:t>
            </a:r>
            <a:r>
              <a:rPr lang="zh-CN" altLang="en-US" sz="1800" dirty="0" smtClean="0">
                <a:latin typeface="+mn-lt"/>
                <a:cs typeface="Times New Roman" panose="02020603050405020304" pitchFamily="18" charset="0"/>
              </a:rPr>
              <a:t>。</a:t>
            </a:r>
            <a:endParaRPr lang="en-US" altLang="zh-CN" sz="1800" dirty="0" smtClean="0">
              <a:latin typeface="+mn-lt"/>
              <a:cs typeface="Times New Roman" panose="02020603050405020304" pitchFamily="18" charset="0"/>
            </a:endParaRPr>
          </a:p>
          <a:p>
            <a:pPr indent="457200">
              <a:lnSpc>
                <a:spcPct val="150000"/>
              </a:lnSpc>
            </a:pPr>
            <a:r>
              <a:rPr lang="zh-CN" altLang="en-US" sz="1800" dirty="0" smtClean="0">
                <a:latin typeface="+mn-lt"/>
                <a:cs typeface="Times New Roman" panose="02020603050405020304" pitchFamily="18" charset="0"/>
              </a:rPr>
              <a:t>锁相环的工作过程简单描述如下：</a:t>
            </a:r>
            <a:endParaRPr lang="en-US" altLang="zh-CN" sz="1800" dirty="0" smtClean="0">
              <a:latin typeface="+mn-lt"/>
              <a:cs typeface="Times New Roman" panose="02020603050405020304" pitchFamily="18" charset="0"/>
            </a:endParaRPr>
          </a:p>
          <a:p>
            <a:pPr indent="457200">
              <a:lnSpc>
                <a:spcPct val="150000"/>
              </a:lnSpc>
            </a:pPr>
            <a:r>
              <a:rPr lang="zh-CN" altLang="en-US" sz="1800" dirty="0" smtClean="0">
                <a:latin typeface="+mn-lt"/>
                <a:cs typeface="Times New Roman" panose="02020603050405020304" pitchFamily="18" charset="0"/>
              </a:rPr>
              <a:t>在某种平衡状态下，若输入信号频率升高，则其相位开始超前，此时鉴相器的输出电压开始升高。若环路滤波器的响应足够迅速，则压控振荡器的控制电压也开始升高，反馈信号的频率也随之升高，直到输入鉴相器的两个信号频率相等，才达到一个新的平衡状态（称为锁定状态）。所以，在锁定状态下的锁相环，其鉴相器的两个输入信号频率一定相等（即</a:t>
            </a:r>
            <a:r>
              <a:rPr lang="en-US" altLang="zh-CN" sz="1800" i="1" dirty="0" smtClean="0">
                <a:latin typeface="+mn-lt"/>
                <a:cs typeface="Times New Roman" panose="02020603050405020304" pitchFamily="18" charset="0"/>
              </a:rPr>
              <a:t>f</a:t>
            </a:r>
            <a:r>
              <a:rPr lang="en-US" altLang="zh-CN" sz="1800" i="1" baseline="-25000" dirty="0">
                <a:latin typeface="+mn-lt"/>
                <a:cs typeface="Times New Roman" panose="02020603050405020304" pitchFamily="18" charset="0"/>
              </a:rPr>
              <a:t>i</a:t>
            </a:r>
            <a:r>
              <a:rPr lang="en-US" altLang="zh-CN" sz="1800" dirty="0" smtClean="0">
                <a:latin typeface="+mn-lt"/>
                <a:cs typeface="Times New Roman" panose="02020603050405020304" pitchFamily="18" charset="0"/>
              </a:rPr>
              <a:t>=</a:t>
            </a:r>
            <a:r>
              <a:rPr lang="en-US" altLang="zh-CN" sz="1800" i="1" dirty="0" err="1" smtClean="0">
                <a:latin typeface="+mn-lt"/>
                <a:cs typeface="Times New Roman" panose="02020603050405020304" pitchFamily="18" charset="0"/>
              </a:rPr>
              <a:t>f</a:t>
            </a:r>
            <a:r>
              <a:rPr lang="en-US" altLang="zh-CN" sz="1800" i="1" baseline="-25000" dirty="0" err="1" smtClean="0">
                <a:latin typeface="+mn-lt"/>
                <a:cs typeface="Times New Roman" panose="02020603050405020304" pitchFamily="18" charset="0"/>
              </a:rPr>
              <a:t>f</a:t>
            </a:r>
            <a:r>
              <a:rPr lang="zh-CN" altLang="en-US" sz="1800" dirty="0" smtClean="0">
                <a:latin typeface="+mn-lt"/>
                <a:cs typeface="Times New Roman" panose="02020603050405020304" pitchFamily="18" charset="0"/>
              </a:rPr>
              <a:t>）。</a:t>
            </a:r>
            <a:endParaRPr lang="zh-CN" altLang="en-US" sz="1800" dirty="0">
              <a:latin typeface="+mn-lt"/>
              <a:cs typeface="Times New Roman" panose="02020603050405020304" pitchFamily="18" charset="0"/>
            </a:endParaRPr>
          </a:p>
        </p:txBody>
      </p:sp>
    </p:spTree>
    <p:extLst>
      <p:ext uri="{BB962C8B-B14F-4D97-AF65-F5344CB8AC3E}">
        <p14:creationId xmlns:p14="http://schemas.microsoft.com/office/powerpoint/2010/main" val="4258542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45</a:t>
            </a:fld>
            <a:endParaRPr lang="en-US" altLang="zh-CN">
              <a:solidFill>
                <a:srgbClr val="FFFFFF"/>
              </a:solidFill>
            </a:endParaRPr>
          </a:p>
        </p:txBody>
      </p:sp>
      <p:sp>
        <p:nvSpPr>
          <p:cNvPr id="5" name="文本框 4"/>
          <p:cNvSpPr txBox="1"/>
          <p:nvPr/>
        </p:nvSpPr>
        <p:spPr>
          <a:xfrm>
            <a:off x="445549" y="375663"/>
            <a:ext cx="3202535" cy="222310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zh-CN" altLang="en-US" sz="1800" dirty="0" smtClean="0"/>
              <a:t>常用的鉴</a:t>
            </a:r>
            <a:r>
              <a:rPr lang="zh-CN" altLang="en-US" sz="1800" dirty="0"/>
              <a:t>相</a:t>
            </a:r>
            <a:r>
              <a:rPr lang="zh-CN" altLang="en-US" sz="1800" dirty="0" smtClean="0"/>
              <a:t>器</a:t>
            </a:r>
            <a:endParaRPr lang="en-US" altLang="zh-CN" sz="1800" dirty="0" smtClean="0"/>
          </a:p>
          <a:p>
            <a:pPr indent="457200">
              <a:lnSpc>
                <a:spcPct val="200000"/>
              </a:lnSpc>
            </a:pPr>
            <a:r>
              <a:rPr lang="zh-CN" altLang="en-US" sz="1800" dirty="0" smtClean="0"/>
              <a:t>异或门鉴相器（</a:t>
            </a:r>
            <a:r>
              <a:rPr lang="en-US" altLang="zh-CN" sz="1800" dirty="0" smtClean="0"/>
              <a:t>XOR</a:t>
            </a:r>
            <a:r>
              <a:rPr lang="zh-CN" altLang="en-US" sz="1800" dirty="0" smtClean="0"/>
              <a:t>）</a:t>
            </a:r>
            <a:endParaRPr lang="en-US" altLang="zh-CN" sz="1800" dirty="0" smtClean="0"/>
          </a:p>
          <a:p>
            <a:pPr indent="457200">
              <a:lnSpc>
                <a:spcPct val="200000"/>
              </a:lnSpc>
            </a:pPr>
            <a:r>
              <a:rPr lang="zh-CN" altLang="zh-CN" sz="1800" dirty="0">
                <a:latin typeface="+mn-ea"/>
                <a:cs typeface="Times New Roman" panose="02020603050405020304" pitchFamily="18" charset="0"/>
              </a:rPr>
              <a:t>鉴相范围为</a:t>
            </a:r>
            <a:r>
              <a:rPr lang="en-US" altLang="zh-CN" sz="1800" dirty="0">
                <a:latin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0~</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a:t>
            </a:r>
            <a:endParaRPr lang="en-US" altLang="zh-CN" sz="1800" dirty="0" smtClean="0"/>
          </a:p>
          <a:p>
            <a:pPr indent="457200">
              <a:lnSpc>
                <a:spcPct val="200000"/>
              </a:lnSpc>
            </a:pPr>
            <a:r>
              <a:rPr lang="zh-CN" altLang="en-US" sz="1800" dirty="0" smtClean="0"/>
              <a:t>鉴</a:t>
            </a:r>
            <a:r>
              <a:rPr lang="zh-CN" altLang="en-US" sz="1800" dirty="0"/>
              <a:t>相</a:t>
            </a:r>
            <a:r>
              <a:rPr lang="zh-CN" altLang="en-US" sz="1800" dirty="0" smtClean="0"/>
              <a:t>增益</a:t>
            </a:r>
            <a:endParaRPr lang="en-US" altLang="zh-CN" sz="1800" dirty="0" smtClean="0"/>
          </a:p>
        </p:txBody>
      </p:sp>
      <p:graphicFrame>
        <p:nvGraphicFramePr>
          <p:cNvPr id="6" name="对象 5"/>
          <p:cNvGraphicFramePr>
            <a:graphicFrameLocks noChangeAspect="1"/>
          </p:cNvGraphicFramePr>
          <p:nvPr>
            <p:extLst>
              <p:ext uri="{D42A27DB-BD31-4B8C-83A1-F6EECF244321}">
                <p14:modId xmlns:p14="http://schemas.microsoft.com/office/powerpoint/2010/main" val="239982278"/>
              </p:ext>
            </p:extLst>
          </p:nvPr>
        </p:nvGraphicFramePr>
        <p:xfrm>
          <a:off x="2046816" y="2083988"/>
          <a:ext cx="1016000" cy="661987"/>
        </p:xfrm>
        <a:graphic>
          <a:graphicData uri="http://schemas.openxmlformats.org/presentationml/2006/ole">
            <mc:AlternateContent xmlns:mc="http://schemas.openxmlformats.org/markup-compatibility/2006">
              <mc:Choice xmlns:v="urn:schemas-microsoft-com:vml" Requires="v">
                <p:oleObj spid="_x0000_s23588" name="Equation" r:id="rId3" imgW="583920" imgH="368280" progId="Equation.DSMT4">
                  <p:embed/>
                </p:oleObj>
              </mc:Choice>
              <mc:Fallback>
                <p:oleObj name="Equation" r:id="rId3" imgW="583920" imgH="368280" progId="Equation.DSMT4">
                  <p:embed/>
                  <p:pic>
                    <p:nvPicPr>
                      <p:cNvPr id="9" name="对象 8"/>
                      <p:cNvPicPr>
                        <a:picLocks noChangeAspect="1" noChangeArrowheads="1"/>
                      </p:cNvPicPr>
                      <p:nvPr/>
                    </p:nvPicPr>
                    <p:blipFill>
                      <a:blip r:embed="rId4"/>
                      <a:srcRect/>
                      <a:stretch>
                        <a:fillRect/>
                      </a:stretch>
                    </p:blipFill>
                    <p:spPr bwMode="auto">
                      <a:xfrm>
                        <a:off x="2046816" y="2083988"/>
                        <a:ext cx="1016000" cy="661987"/>
                      </a:xfrm>
                      <a:prstGeom prst="rect">
                        <a:avLst/>
                      </a:prstGeom>
                      <a:noFill/>
                    </p:spPr>
                  </p:pic>
                </p:oleObj>
              </mc:Fallback>
            </mc:AlternateContent>
          </a:graphicData>
        </a:graphic>
      </p:graphicFrame>
      <p:pic>
        <p:nvPicPr>
          <p:cNvPr id="12" name="图片 11"/>
          <p:cNvPicPr>
            <a:picLocks noChangeAspect="1"/>
          </p:cNvPicPr>
          <p:nvPr/>
        </p:nvPicPr>
        <p:blipFill>
          <a:blip r:embed="rId5"/>
          <a:stretch>
            <a:fillRect/>
          </a:stretch>
        </p:blipFill>
        <p:spPr>
          <a:xfrm>
            <a:off x="6304186" y="3722915"/>
            <a:ext cx="3738415" cy="1937657"/>
          </a:xfrm>
          <a:prstGeom prst="rect">
            <a:avLst/>
          </a:prstGeom>
        </p:spPr>
      </p:pic>
      <p:sp>
        <p:nvSpPr>
          <p:cNvPr id="8" name="矩形 7"/>
          <p:cNvSpPr/>
          <p:nvPr/>
        </p:nvSpPr>
        <p:spPr>
          <a:xfrm>
            <a:off x="6164196" y="5723269"/>
            <a:ext cx="4570482" cy="369332"/>
          </a:xfrm>
          <a:prstGeom prst="rect">
            <a:avLst/>
          </a:prstGeom>
        </p:spPr>
        <p:txBody>
          <a:bodyPr wrap="none">
            <a:spAutoFit/>
          </a:bodyPr>
          <a:lstStyle/>
          <a:p>
            <a:r>
              <a:rPr lang="zh-CN" altLang="en-US" sz="1800" dirty="0"/>
              <a:t>鉴相器的平均输出电压与输入相位差的关系</a:t>
            </a:r>
          </a:p>
        </p:txBody>
      </p:sp>
      <p:pic>
        <p:nvPicPr>
          <p:cNvPr id="9" name="图片 8"/>
          <p:cNvPicPr>
            <a:picLocks noChangeAspect="1"/>
          </p:cNvPicPr>
          <p:nvPr/>
        </p:nvPicPr>
        <p:blipFill>
          <a:blip r:embed="rId6"/>
          <a:stretch>
            <a:fillRect/>
          </a:stretch>
        </p:blipFill>
        <p:spPr>
          <a:xfrm>
            <a:off x="4306817" y="1560286"/>
            <a:ext cx="7109980" cy="1511300"/>
          </a:xfrm>
          <a:prstGeom prst="rect">
            <a:avLst/>
          </a:prstGeom>
        </p:spPr>
      </p:pic>
      <p:sp>
        <p:nvSpPr>
          <p:cNvPr id="10" name="矩形 9"/>
          <p:cNvSpPr/>
          <p:nvPr/>
        </p:nvSpPr>
        <p:spPr>
          <a:xfrm>
            <a:off x="6654145" y="984708"/>
            <a:ext cx="2031325" cy="369332"/>
          </a:xfrm>
          <a:prstGeom prst="rect">
            <a:avLst/>
          </a:prstGeom>
        </p:spPr>
        <p:txBody>
          <a:bodyPr wrap="none">
            <a:spAutoFit/>
          </a:bodyPr>
          <a:lstStyle/>
          <a:p>
            <a:r>
              <a:rPr lang="zh-CN" altLang="en-US" sz="1800" dirty="0"/>
              <a:t>鉴相器</a:t>
            </a:r>
            <a:r>
              <a:rPr lang="zh-CN" altLang="en-US" sz="1800" dirty="0" smtClean="0"/>
              <a:t>的输出波形</a:t>
            </a:r>
            <a:endParaRPr lang="zh-CN" altLang="en-US" sz="1800" dirty="0"/>
          </a:p>
        </p:txBody>
      </p:sp>
    </p:spTree>
    <p:extLst>
      <p:ext uri="{BB962C8B-B14F-4D97-AF65-F5344CB8AC3E}">
        <p14:creationId xmlns:p14="http://schemas.microsoft.com/office/powerpoint/2010/main" val="9942672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sp>
        <p:nvSpPr>
          <p:cNvPr id="5" name="文本框 4"/>
          <p:cNvSpPr txBox="1"/>
          <p:nvPr/>
        </p:nvSpPr>
        <p:spPr>
          <a:xfrm>
            <a:off x="142257" y="441856"/>
            <a:ext cx="5356389" cy="1669111"/>
          </a:xfrm>
          <a:prstGeom prst="rect">
            <a:avLst/>
          </a:prstGeom>
          <a:noFill/>
        </p:spPr>
        <p:txBody>
          <a:bodyPr wrap="square" rtlCol="0">
            <a:spAutoFit/>
          </a:bodyPr>
          <a:lstStyle/>
          <a:p>
            <a:pPr indent="457200">
              <a:lnSpc>
                <a:spcPct val="200000"/>
              </a:lnSpc>
            </a:pPr>
            <a:r>
              <a:rPr lang="zh-CN" altLang="en-US" sz="1800" dirty="0" smtClean="0"/>
              <a:t>鉴相</a:t>
            </a:r>
            <a:r>
              <a:rPr lang="en-US" altLang="zh-CN" sz="1800" dirty="0" smtClean="0"/>
              <a:t>-</a:t>
            </a:r>
            <a:r>
              <a:rPr lang="zh-CN" altLang="en-US" sz="1800" dirty="0" smtClean="0"/>
              <a:t>鉴频器（</a:t>
            </a:r>
            <a:r>
              <a:rPr lang="en-US" altLang="zh-CN" sz="1800" dirty="0" smtClean="0"/>
              <a:t>PFD</a:t>
            </a:r>
            <a:r>
              <a:rPr lang="zh-CN" altLang="en-US" sz="1800" dirty="0" smtClean="0"/>
              <a:t>）</a:t>
            </a:r>
            <a:endParaRPr lang="en-US" altLang="zh-CN" sz="1800" dirty="0" smtClean="0"/>
          </a:p>
          <a:p>
            <a:pPr indent="457200">
              <a:lnSpc>
                <a:spcPct val="200000"/>
              </a:lnSpc>
            </a:pPr>
            <a:r>
              <a:rPr lang="zh-CN" altLang="zh-CN" sz="1800" dirty="0" smtClean="0">
                <a:latin typeface="+mn-ea"/>
                <a:cs typeface="Times New Roman" panose="02020603050405020304" pitchFamily="18" charset="0"/>
              </a:rPr>
              <a:t>鉴</a:t>
            </a:r>
            <a:r>
              <a:rPr lang="zh-CN" altLang="zh-CN" sz="1800" dirty="0">
                <a:latin typeface="+mn-ea"/>
                <a:cs typeface="Times New Roman" panose="02020603050405020304" pitchFamily="18" charset="0"/>
              </a:rPr>
              <a:t>相范围为</a:t>
            </a:r>
            <a:r>
              <a:rPr lang="en-US" altLang="zh-CN" sz="1800" dirty="0">
                <a:latin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a:t>
            </a:r>
            <a:endParaRPr lang="en-US" altLang="zh-CN" sz="1800" dirty="0" smtClean="0"/>
          </a:p>
          <a:p>
            <a:pPr indent="457200">
              <a:lnSpc>
                <a:spcPct val="200000"/>
              </a:lnSpc>
            </a:pPr>
            <a:r>
              <a:rPr lang="zh-CN" altLang="en-US" sz="1800" dirty="0" smtClean="0"/>
              <a:t>鉴</a:t>
            </a:r>
            <a:r>
              <a:rPr lang="zh-CN" altLang="en-US" sz="1800" dirty="0"/>
              <a:t>相</a:t>
            </a:r>
            <a:r>
              <a:rPr lang="zh-CN" altLang="en-US" sz="1800" dirty="0" smtClean="0"/>
              <a:t>增益</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291280565"/>
              </p:ext>
            </p:extLst>
          </p:nvPr>
        </p:nvGraphicFramePr>
        <p:xfrm>
          <a:off x="1719288" y="1596589"/>
          <a:ext cx="1016000" cy="661988"/>
        </p:xfrm>
        <a:graphic>
          <a:graphicData uri="http://schemas.openxmlformats.org/presentationml/2006/ole">
            <mc:AlternateContent xmlns:mc="http://schemas.openxmlformats.org/markup-compatibility/2006">
              <mc:Choice xmlns:v="urn:schemas-microsoft-com:vml" Requires="v">
                <p:oleObj spid="_x0000_s32793" name="Equation" r:id="rId3" imgW="583920" imgH="368280" progId="Equation.DSMT4">
                  <p:embed/>
                </p:oleObj>
              </mc:Choice>
              <mc:Fallback>
                <p:oleObj name="Equation" r:id="rId3" imgW="583920" imgH="368280" progId="Equation.DSMT4">
                  <p:embed/>
                  <p:pic>
                    <p:nvPicPr>
                      <p:cNvPr id="7" name="对象 6"/>
                      <p:cNvPicPr>
                        <a:picLocks noChangeAspect="1" noChangeArrowheads="1"/>
                      </p:cNvPicPr>
                      <p:nvPr/>
                    </p:nvPicPr>
                    <p:blipFill>
                      <a:blip r:embed="rId4"/>
                      <a:srcRect/>
                      <a:stretch>
                        <a:fillRect/>
                      </a:stretch>
                    </p:blipFill>
                    <p:spPr bwMode="auto">
                      <a:xfrm>
                        <a:off x="1719288" y="1596589"/>
                        <a:ext cx="1016000" cy="661988"/>
                      </a:xfrm>
                      <a:prstGeom prst="rect">
                        <a:avLst/>
                      </a:prstGeom>
                      <a:noFill/>
                    </p:spPr>
                  </p:pic>
                </p:oleObj>
              </mc:Fallback>
            </mc:AlternateContent>
          </a:graphicData>
        </a:graphic>
      </p:graphicFrame>
      <p:pic>
        <p:nvPicPr>
          <p:cNvPr id="11" name="图片 10"/>
          <p:cNvPicPr>
            <a:picLocks noChangeAspect="1"/>
          </p:cNvPicPr>
          <p:nvPr/>
        </p:nvPicPr>
        <p:blipFill>
          <a:blip r:embed="rId5"/>
          <a:stretch>
            <a:fillRect/>
          </a:stretch>
        </p:blipFill>
        <p:spPr>
          <a:xfrm>
            <a:off x="6284078" y="4239701"/>
            <a:ext cx="4404150" cy="1723796"/>
          </a:xfrm>
          <a:prstGeom prst="rect">
            <a:avLst/>
          </a:prstGeom>
        </p:spPr>
      </p:pic>
      <p:graphicFrame>
        <p:nvGraphicFramePr>
          <p:cNvPr id="13" name="对象 12"/>
          <p:cNvGraphicFramePr>
            <a:graphicFrameLocks noChangeAspect="1"/>
          </p:cNvGraphicFramePr>
          <p:nvPr>
            <p:extLst>
              <p:ext uri="{D42A27DB-BD31-4B8C-83A1-F6EECF244321}">
                <p14:modId xmlns:p14="http://schemas.microsoft.com/office/powerpoint/2010/main" val="4007445036"/>
              </p:ext>
            </p:extLst>
          </p:nvPr>
        </p:nvGraphicFramePr>
        <p:xfrm>
          <a:off x="4657004" y="1045029"/>
          <a:ext cx="6802145" cy="2307256"/>
        </p:xfrm>
        <a:graphic>
          <a:graphicData uri="http://schemas.openxmlformats.org/presentationml/2006/ole">
            <mc:AlternateContent xmlns:mc="http://schemas.openxmlformats.org/markup-compatibility/2006">
              <mc:Choice xmlns:v="urn:schemas-microsoft-com:vml" Requires="v">
                <p:oleObj spid="_x0000_s32794" name="Visio" r:id="rId6" imgW="3844796" imgH="1486981" progId="Visio.Drawing.11">
                  <p:embed/>
                </p:oleObj>
              </mc:Choice>
              <mc:Fallback>
                <p:oleObj name="Visio" r:id="rId6" imgW="3844796" imgH="1486981"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7004" y="1045029"/>
                        <a:ext cx="6802145" cy="2307256"/>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907927354"/>
              </p:ext>
            </p:extLst>
          </p:nvPr>
        </p:nvGraphicFramePr>
        <p:xfrm>
          <a:off x="515720" y="3445195"/>
          <a:ext cx="4295927" cy="2518302"/>
        </p:xfrm>
        <a:graphic>
          <a:graphicData uri="http://schemas.openxmlformats.org/presentationml/2006/ole">
            <mc:AlternateContent xmlns:mc="http://schemas.openxmlformats.org/markup-compatibility/2006">
              <mc:Choice xmlns:v="urn:schemas-microsoft-com:vml" Requires="v">
                <p:oleObj spid="_x0000_s32795" name="Visio" r:id="rId8" imgW="2396591" imgH="1405647" progId="Visio.Drawing.11">
                  <p:embed/>
                </p:oleObj>
              </mc:Choice>
              <mc:Fallback>
                <p:oleObj name="Visio" r:id="rId8" imgW="2396591" imgH="1405647" progId="Visio.Drawing.11">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5720" y="3445195"/>
                        <a:ext cx="4295927" cy="2518302"/>
                      </a:xfrm>
                      <a:prstGeom prst="rect">
                        <a:avLst/>
                      </a:prstGeom>
                      <a:noFill/>
                    </p:spPr>
                  </p:pic>
                </p:oleObj>
              </mc:Fallback>
            </mc:AlternateContent>
          </a:graphicData>
        </a:graphic>
      </p:graphicFrame>
      <p:sp>
        <p:nvSpPr>
          <p:cNvPr id="16" name="矩形 15"/>
          <p:cNvSpPr/>
          <p:nvPr/>
        </p:nvSpPr>
        <p:spPr>
          <a:xfrm>
            <a:off x="6444569" y="6037690"/>
            <a:ext cx="4570482" cy="369332"/>
          </a:xfrm>
          <a:prstGeom prst="rect">
            <a:avLst/>
          </a:prstGeom>
        </p:spPr>
        <p:txBody>
          <a:bodyPr wrap="none">
            <a:spAutoFit/>
          </a:bodyPr>
          <a:lstStyle/>
          <a:p>
            <a:r>
              <a:rPr lang="zh-CN" altLang="en-US" sz="1800" dirty="0"/>
              <a:t>鉴相器的平均输出电压与输入相位差的关系</a:t>
            </a:r>
          </a:p>
        </p:txBody>
      </p:sp>
      <p:sp>
        <p:nvSpPr>
          <p:cNvPr id="17" name="矩形 16"/>
          <p:cNvSpPr/>
          <p:nvPr/>
        </p:nvSpPr>
        <p:spPr>
          <a:xfrm>
            <a:off x="7272593" y="558089"/>
            <a:ext cx="2031325" cy="369332"/>
          </a:xfrm>
          <a:prstGeom prst="rect">
            <a:avLst/>
          </a:prstGeom>
        </p:spPr>
        <p:txBody>
          <a:bodyPr wrap="none">
            <a:spAutoFit/>
          </a:bodyPr>
          <a:lstStyle/>
          <a:p>
            <a:r>
              <a:rPr lang="zh-CN" altLang="en-US" sz="1800" dirty="0"/>
              <a:t>鉴相器</a:t>
            </a:r>
            <a:r>
              <a:rPr lang="zh-CN" altLang="en-US" sz="1800" dirty="0" smtClean="0"/>
              <a:t>的输出波形</a:t>
            </a:r>
            <a:endParaRPr lang="zh-CN" altLang="en-US" sz="1800" dirty="0"/>
          </a:p>
        </p:txBody>
      </p:sp>
      <p:sp>
        <p:nvSpPr>
          <p:cNvPr id="18" name="矩形 17"/>
          <p:cNvSpPr/>
          <p:nvPr/>
        </p:nvSpPr>
        <p:spPr>
          <a:xfrm>
            <a:off x="5616336" y="3427777"/>
            <a:ext cx="1906291" cy="338554"/>
          </a:xfrm>
          <a:prstGeom prst="rect">
            <a:avLst/>
          </a:prstGeom>
        </p:spPr>
        <p:txBody>
          <a:bodyPr wrap="none">
            <a:spAutoFit/>
          </a:bodyPr>
          <a:lstStyle/>
          <a:p>
            <a:r>
              <a:rPr lang="zh-CN" altLang="zh-CN" sz="1600" kern="100" dirty="0">
                <a:ea typeface="Times New Roman" panose="02020603050405020304" pitchFamily="18" charset="0"/>
              </a:rPr>
              <a:t> </a:t>
            </a:r>
            <a:r>
              <a:rPr lang="en-US" altLang="zh-CN" sz="1600" i="1" kern="100" dirty="0">
                <a:latin typeface="Symbol" panose="05050102010706020507" pitchFamily="18" charset="2"/>
                <a:ea typeface="宋体" panose="02010600030101010101" pitchFamily="2" charset="-122"/>
                <a:cs typeface="Times New Roman" panose="02020603050405020304" pitchFamily="18" charset="0"/>
              </a:rPr>
              <a:t>q</a:t>
            </a:r>
            <a:r>
              <a:rPr lang="en-US" altLang="zh-CN" sz="1600" i="1" kern="100" baseline="-25000" dirty="0">
                <a:latin typeface="Times New Roman" panose="02020603050405020304" pitchFamily="18" charset="0"/>
                <a:ea typeface="宋体" panose="02010600030101010101" pitchFamily="2" charset="-122"/>
              </a:rPr>
              <a:t>i  </a:t>
            </a:r>
            <a:r>
              <a:rPr lang="en-US" altLang="zh-CN" sz="1600" kern="100" dirty="0">
                <a:latin typeface="Times New Roman" panose="02020603050405020304" pitchFamily="18" charset="0"/>
                <a:ea typeface="宋体" panose="02010600030101010101" pitchFamily="2" charset="-122"/>
              </a:rPr>
              <a:t>&gt; </a:t>
            </a:r>
            <a:r>
              <a:rPr lang="en-US" altLang="zh-CN" sz="1600" i="1" kern="100" dirty="0" err="1" smtClean="0">
                <a:latin typeface="Symbol" panose="05050102010706020507" pitchFamily="18" charset="2"/>
                <a:ea typeface="宋体" panose="02010600030101010101" pitchFamily="2" charset="-122"/>
                <a:cs typeface="Times New Roman" panose="02020603050405020304" pitchFamily="18" charset="0"/>
              </a:rPr>
              <a:t>q</a:t>
            </a:r>
            <a:r>
              <a:rPr lang="en-US" altLang="zh-CN" sz="1600" i="1" kern="100" baseline="-25000" dirty="0" err="1" smtClean="0">
                <a:latin typeface="Times New Roman" panose="02020603050405020304" pitchFamily="18" charset="0"/>
                <a:ea typeface="宋体" panose="02010600030101010101" pitchFamily="2" charset="-122"/>
              </a:rPr>
              <a:t>f</a:t>
            </a:r>
            <a:r>
              <a:rPr lang="en-US" altLang="zh-CN" sz="1600" i="1" kern="100" baseline="-25000" dirty="0" smtClean="0">
                <a:latin typeface="Times New Roman" panose="02020603050405020304" pitchFamily="18" charset="0"/>
                <a:ea typeface="宋体" panose="02010600030101010101" pitchFamily="2" charset="-122"/>
              </a:rPr>
              <a:t>    </a:t>
            </a:r>
            <a:r>
              <a:rPr lang="zh-CN" altLang="zh-CN" sz="1600" kern="100" dirty="0" smtClean="0">
                <a:latin typeface="Times New Roman" panose="02020603050405020304" pitchFamily="18" charset="0"/>
                <a:ea typeface="宋体" panose="02010600030101010101" pitchFamily="2" charset="-122"/>
                <a:cs typeface="Times New Roman" panose="02020603050405020304" pitchFamily="18" charset="0"/>
              </a:rPr>
              <a:t>只有</a:t>
            </a:r>
            <a:r>
              <a:rPr lang="en-US" altLang="zh-CN" sz="1600" i="1" kern="100" dirty="0">
                <a:latin typeface="Times New Roman" panose="02020603050405020304" pitchFamily="18" charset="0"/>
                <a:ea typeface="宋体" panose="02010600030101010101" pitchFamily="2" charset="-122"/>
              </a:rPr>
              <a:t>T</a:t>
            </a:r>
            <a:r>
              <a:rPr lang="en-US" altLang="zh-CN" sz="1600" kern="100" baseline="-25000" dirty="0">
                <a:latin typeface="Times New Roman" panose="02020603050405020304" pitchFamily="18" charset="0"/>
                <a:ea typeface="宋体" panose="02010600030101010101" pitchFamily="2" charset="-122"/>
              </a:rPr>
              <a:t>1</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导通</a:t>
            </a:r>
            <a:endParaRPr lang="zh-CN" altLang="en-US" sz="1600" dirty="0"/>
          </a:p>
        </p:txBody>
      </p:sp>
      <p:sp>
        <p:nvSpPr>
          <p:cNvPr id="19" name="矩形 18"/>
          <p:cNvSpPr/>
          <p:nvPr/>
        </p:nvSpPr>
        <p:spPr>
          <a:xfrm>
            <a:off x="9014315" y="3427777"/>
            <a:ext cx="1848583" cy="338554"/>
          </a:xfrm>
          <a:prstGeom prst="rect">
            <a:avLst/>
          </a:prstGeom>
        </p:spPr>
        <p:txBody>
          <a:bodyPr wrap="none">
            <a:spAutoFit/>
          </a:bodyPr>
          <a:lstStyle/>
          <a:p>
            <a:r>
              <a:rPr lang="en-US" altLang="zh-CN" sz="1600" i="1" kern="100" dirty="0">
                <a:latin typeface="Symbol" panose="05050102010706020507" pitchFamily="18" charset="2"/>
                <a:ea typeface="宋体" panose="02010600030101010101" pitchFamily="2" charset="-122"/>
                <a:cs typeface="Times New Roman" panose="02020603050405020304" pitchFamily="18" charset="0"/>
              </a:rPr>
              <a:t>q</a:t>
            </a:r>
            <a:r>
              <a:rPr lang="en-US" altLang="zh-CN" sz="1600" i="1" kern="100" baseline="-25000" dirty="0">
                <a:latin typeface="Times New Roman" panose="02020603050405020304" pitchFamily="18" charset="0"/>
                <a:ea typeface="宋体" panose="02010600030101010101" pitchFamily="2" charset="-122"/>
              </a:rPr>
              <a:t>i  </a:t>
            </a:r>
            <a:r>
              <a:rPr lang="en-US" altLang="zh-CN" sz="1600" kern="100" dirty="0">
                <a:latin typeface="Times New Roman" panose="02020603050405020304" pitchFamily="18" charset="0"/>
                <a:ea typeface="宋体" panose="02010600030101010101" pitchFamily="2" charset="-122"/>
              </a:rPr>
              <a:t>&lt; </a:t>
            </a:r>
            <a:r>
              <a:rPr lang="en-US" altLang="zh-CN" sz="1600" i="1" kern="100" dirty="0" err="1" smtClean="0">
                <a:latin typeface="Symbol" panose="05050102010706020507" pitchFamily="18" charset="2"/>
                <a:ea typeface="宋体" panose="02010600030101010101" pitchFamily="2" charset="-122"/>
                <a:cs typeface="Times New Roman" panose="02020603050405020304" pitchFamily="18" charset="0"/>
              </a:rPr>
              <a:t>q</a:t>
            </a:r>
            <a:r>
              <a:rPr lang="en-US" altLang="zh-CN" sz="1600" i="1" kern="100" baseline="-25000" dirty="0" err="1" smtClean="0">
                <a:latin typeface="Times New Roman" panose="02020603050405020304" pitchFamily="18" charset="0"/>
                <a:ea typeface="宋体" panose="02010600030101010101" pitchFamily="2" charset="-122"/>
              </a:rPr>
              <a:t>f</a:t>
            </a:r>
            <a:r>
              <a:rPr lang="en-US" altLang="zh-CN" sz="1600" i="1" kern="100" baseline="-25000" dirty="0" smtClean="0">
                <a:latin typeface="Times New Roman" panose="02020603050405020304" pitchFamily="18" charset="0"/>
                <a:ea typeface="宋体" panose="02010600030101010101" pitchFamily="2" charset="-122"/>
              </a:rPr>
              <a:t>    </a:t>
            </a:r>
            <a:r>
              <a:rPr lang="zh-CN" altLang="zh-CN" sz="1600" kern="100" dirty="0" smtClean="0">
                <a:latin typeface="Times New Roman" panose="02020603050405020304" pitchFamily="18" charset="0"/>
                <a:ea typeface="宋体" panose="02010600030101010101" pitchFamily="2" charset="-122"/>
                <a:cs typeface="Times New Roman" panose="02020603050405020304" pitchFamily="18" charset="0"/>
              </a:rPr>
              <a:t>只有</a:t>
            </a:r>
            <a:r>
              <a:rPr lang="en-US" altLang="zh-CN" sz="1600" i="1" kern="100" dirty="0">
                <a:latin typeface="Times New Roman" panose="02020603050405020304" pitchFamily="18" charset="0"/>
                <a:ea typeface="宋体" panose="02010600030101010101" pitchFamily="2" charset="-122"/>
              </a:rPr>
              <a:t>T</a:t>
            </a:r>
            <a:r>
              <a:rPr lang="en-US" altLang="zh-CN" sz="1600" kern="100" baseline="-25000" dirty="0">
                <a:latin typeface="Times New Roman" panose="02020603050405020304" pitchFamily="18" charset="0"/>
                <a:ea typeface="宋体" panose="02010600030101010101" pitchFamily="2" charset="-122"/>
              </a:rPr>
              <a:t>2</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导通</a:t>
            </a:r>
            <a:endParaRPr lang="zh-CN" altLang="en-US" sz="1600" dirty="0"/>
          </a:p>
        </p:txBody>
      </p:sp>
      <p:sp>
        <p:nvSpPr>
          <p:cNvPr id="20" name="椭圆 19"/>
          <p:cNvSpPr/>
          <p:nvPr/>
        </p:nvSpPr>
        <p:spPr>
          <a:xfrm>
            <a:off x="5283200" y="2924629"/>
            <a:ext cx="399143" cy="2104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4811647" y="3297585"/>
            <a:ext cx="629103" cy="584775"/>
          </a:xfrm>
          <a:prstGeom prst="rect">
            <a:avLst/>
          </a:prstGeom>
          <a:noFill/>
        </p:spPr>
        <p:txBody>
          <a:bodyPr wrap="square" rtlCol="0">
            <a:spAutoFit/>
          </a:bodyPr>
          <a:lstStyle/>
          <a:p>
            <a:r>
              <a:rPr lang="zh-CN" altLang="en-US" sz="1600" dirty="0" smtClean="0"/>
              <a:t>高阻状态</a:t>
            </a:r>
            <a:endParaRPr lang="zh-CN" altLang="en-US" sz="1600" dirty="0"/>
          </a:p>
        </p:txBody>
      </p:sp>
      <p:cxnSp>
        <p:nvCxnSpPr>
          <p:cNvPr id="23" name="直接箭头连接符 22"/>
          <p:cNvCxnSpPr>
            <a:endCxn id="20" idx="4"/>
          </p:cNvCxnSpPr>
          <p:nvPr/>
        </p:nvCxnSpPr>
        <p:spPr>
          <a:xfrm flipV="1">
            <a:off x="5283200" y="3135086"/>
            <a:ext cx="199572" cy="217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28321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文本框 4"/>
          <p:cNvSpPr txBox="1"/>
          <p:nvPr/>
        </p:nvSpPr>
        <p:spPr>
          <a:xfrm>
            <a:off x="448663" y="497024"/>
            <a:ext cx="11270343" cy="3277820"/>
          </a:xfrm>
          <a:prstGeom prst="rect">
            <a:avLst/>
          </a:prstGeom>
          <a:noFill/>
        </p:spPr>
        <p:txBody>
          <a:bodyPr wrap="square" rtlCol="0">
            <a:spAutoFit/>
          </a:bodyPr>
          <a:lstStyle/>
          <a:p>
            <a:pPr marL="285750" indent="-285750">
              <a:buFont typeface="Arial" panose="020B0604020202020204" pitchFamily="34" charset="0"/>
              <a:buChar char="•"/>
            </a:pPr>
            <a:r>
              <a:rPr lang="zh-CN" altLang="en-US" sz="1800" dirty="0" smtClean="0"/>
              <a:t>常用的环路滤波器</a:t>
            </a:r>
            <a:endParaRPr lang="en-US" altLang="zh-CN" sz="1800" dirty="0" smtClean="0"/>
          </a:p>
          <a:p>
            <a:pPr indent="457200">
              <a:lnSpc>
                <a:spcPct val="150000"/>
              </a:lnSpc>
            </a:pPr>
            <a:r>
              <a:rPr lang="zh-CN" altLang="en-US" sz="1800" dirty="0" smtClean="0"/>
              <a:t>二阶锁相环中常用的超前</a:t>
            </a:r>
            <a:r>
              <a:rPr lang="en-US" altLang="zh-CN" sz="1800" dirty="0" smtClean="0"/>
              <a:t>-</a:t>
            </a:r>
            <a:r>
              <a:rPr lang="zh-CN" altLang="en-US" sz="1800" dirty="0" smtClean="0"/>
              <a:t>滞后滤波器</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二阶锁相环中常用的比例积分滤波器</a:t>
            </a:r>
            <a:endParaRPr lang="zh-CN" altLang="en-US" sz="1800" dirty="0"/>
          </a:p>
        </p:txBody>
      </p:sp>
      <p:pic>
        <p:nvPicPr>
          <p:cNvPr id="6" name="图片 5"/>
          <p:cNvPicPr>
            <a:picLocks noChangeAspect="1"/>
          </p:cNvPicPr>
          <p:nvPr/>
        </p:nvPicPr>
        <p:blipFill>
          <a:blip r:embed="rId3"/>
          <a:stretch>
            <a:fillRect/>
          </a:stretch>
        </p:blipFill>
        <p:spPr>
          <a:xfrm>
            <a:off x="1590755" y="1246637"/>
            <a:ext cx="1747460" cy="1747460"/>
          </a:xfrm>
          <a:prstGeom prst="rect">
            <a:avLst/>
          </a:prstGeom>
        </p:spPr>
      </p:pic>
      <p:graphicFrame>
        <p:nvGraphicFramePr>
          <p:cNvPr id="7" name="对象 6"/>
          <p:cNvGraphicFramePr>
            <a:graphicFrameLocks noChangeAspect="1"/>
          </p:cNvGraphicFramePr>
          <p:nvPr>
            <p:extLst>
              <p:ext uri="{D42A27DB-BD31-4B8C-83A1-F6EECF244321}">
                <p14:modId xmlns:p14="http://schemas.microsoft.com/office/powerpoint/2010/main" val="887220382"/>
              </p:ext>
            </p:extLst>
          </p:nvPr>
        </p:nvGraphicFramePr>
        <p:xfrm>
          <a:off x="4344523" y="1499639"/>
          <a:ext cx="2496871" cy="1272590"/>
        </p:xfrm>
        <a:graphic>
          <a:graphicData uri="http://schemas.openxmlformats.org/presentationml/2006/ole">
            <mc:AlternateContent xmlns:mc="http://schemas.openxmlformats.org/markup-compatibility/2006">
              <mc:Choice xmlns:v="urn:schemas-microsoft-com:vml" Requires="v">
                <p:oleObj spid="_x0000_s24624" name="Equation" r:id="rId4" imgW="1650960" imgH="812520" progId="Equation.DSMT4">
                  <p:embed/>
                </p:oleObj>
              </mc:Choice>
              <mc:Fallback>
                <p:oleObj name="Equation" r:id="rId4" imgW="1650960" imgH="812520" progId="Equation.DSMT4">
                  <p:embed/>
                  <p:pic>
                    <p:nvPicPr>
                      <p:cNvPr id="8" name="对象 7"/>
                      <p:cNvPicPr>
                        <a:picLocks noChangeAspect="1" noChangeArrowheads="1"/>
                      </p:cNvPicPr>
                      <p:nvPr/>
                    </p:nvPicPr>
                    <p:blipFill>
                      <a:blip r:embed="rId5"/>
                      <a:srcRect/>
                      <a:stretch>
                        <a:fillRect/>
                      </a:stretch>
                    </p:blipFill>
                    <p:spPr bwMode="auto">
                      <a:xfrm>
                        <a:off x="4344523" y="1499639"/>
                        <a:ext cx="2496871" cy="1272590"/>
                      </a:xfrm>
                      <a:prstGeom prst="rect">
                        <a:avLst/>
                      </a:prstGeom>
                      <a:noFill/>
                    </p:spPr>
                  </p:pic>
                </p:oleObj>
              </mc:Fallback>
            </mc:AlternateContent>
          </a:graphicData>
        </a:graphic>
      </p:graphicFrame>
      <p:pic>
        <p:nvPicPr>
          <p:cNvPr id="8" name="图片 7"/>
          <p:cNvPicPr>
            <a:picLocks noChangeAspect="1"/>
          </p:cNvPicPr>
          <p:nvPr/>
        </p:nvPicPr>
        <p:blipFill>
          <a:blip r:embed="rId6"/>
          <a:stretch>
            <a:fillRect/>
          </a:stretch>
        </p:blipFill>
        <p:spPr>
          <a:xfrm>
            <a:off x="7847703" y="1631791"/>
            <a:ext cx="2209719" cy="1222190"/>
          </a:xfrm>
          <a:prstGeom prst="rect">
            <a:avLst/>
          </a:prstGeom>
        </p:spPr>
      </p:pic>
      <p:graphicFrame>
        <p:nvGraphicFramePr>
          <p:cNvPr id="13" name="对象 12"/>
          <p:cNvGraphicFramePr>
            <a:graphicFrameLocks noChangeAspect="1"/>
          </p:cNvGraphicFramePr>
          <p:nvPr>
            <p:extLst>
              <p:ext uri="{D42A27DB-BD31-4B8C-83A1-F6EECF244321}">
                <p14:modId xmlns:p14="http://schemas.microsoft.com/office/powerpoint/2010/main" val="1107644564"/>
              </p:ext>
            </p:extLst>
          </p:nvPr>
        </p:nvGraphicFramePr>
        <p:xfrm>
          <a:off x="4675094" y="4260383"/>
          <a:ext cx="2052638" cy="1360488"/>
        </p:xfrm>
        <a:graphic>
          <a:graphicData uri="http://schemas.openxmlformats.org/presentationml/2006/ole">
            <mc:AlternateContent xmlns:mc="http://schemas.openxmlformats.org/markup-compatibility/2006">
              <mc:Choice xmlns:v="urn:schemas-microsoft-com:vml" Requires="v">
                <p:oleObj spid="_x0000_s24625" name="Equation" r:id="rId7" imgW="1269720" imgH="812520" progId="Equation.DSMT4">
                  <p:embed/>
                </p:oleObj>
              </mc:Choice>
              <mc:Fallback>
                <p:oleObj name="Equation" r:id="rId7" imgW="1269720" imgH="812520" progId="Equation.DSMT4">
                  <p:embed/>
                  <p:pic>
                    <p:nvPicPr>
                      <p:cNvPr id="9" name="对象 8"/>
                      <p:cNvPicPr>
                        <a:picLocks noChangeAspect="1" noChangeArrowheads="1"/>
                      </p:cNvPicPr>
                      <p:nvPr/>
                    </p:nvPicPr>
                    <p:blipFill>
                      <a:blip r:embed="rId8"/>
                      <a:srcRect/>
                      <a:stretch>
                        <a:fillRect/>
                      </a:stretch>
                    </p:blipFill>
                    <p:spPr bwMode="auto">
                      <a:xfrm>
                        <a:off x="4675094" y="4260383"/>
                        <a:ext cx="2052638" cy="1360488"/>
                      </a:xfrm>
                      <a:prstGeom prst="rect">
                        <a:avLst/>
                      </a:prstGeom>
                      <a:noFill/>
                    </p:spPr>
                  </p:pic>
                </p:oleObj>
              </mc:Fallback>
            </mc:AlternateContent>
          </a:graphicData>
        </a:graphic>
      </p:graphicFrame>
      <p:pic>
        <p:nvPicPr>
          <p:cNvPr id="14" name="图片 13"/>
          <p:cNvPicPr>
            <a:picLocks noChangeAspect="1"/>
          </p:cNvPicPr>
          <p:nvPr/>
        </p:nvPicPr>
        <p:blipFill>
          <a:blip r:embed="rId9"/>
          <a:stretch>
            <a:fillRect/>
          </a:stretch>
        </p:blipFill>
        <p:spPr>
          <a:xfrm>
            <a:off x="7710510" y="4228874"/>
            <a:ext cx="2484107" cy="1600123"/>
          </a:xfrm>
          <a:prstGeom prst="rect">
            <a:avLst/>
          </a:prstGeom>
        </p:spPr>
      </p:pic>
      <p:pic>
        <p:nvPicPr>
          <p:cNvPr id="9" name="图片 8"/>
          <p:cNvPicPr>
            <a:picLocks noChangeAspect="1"/>
          </p:cNvPicPr>
          <p:nvPr/>
        </p:nvPicPr>
        <p:blipFill>
          <a:blip r:embed="rId10"/>
          <a:stretch>
            <a:fillRect/>
          </a:stretch>
        </p:blipFill>
        <p:spPr>
          <a:xfrm>
            <a:off x="1170620" y="3919584"/>
            <a:ext cx="3080360" cy="1701287"/>
          </a:xfrm>
          <a:prstGeom prst="rect">
            <a:avLst/>
          </a:prstGeom>
        </p:spPr>
      </p:pic>
      <p:sp>
        <p:nvSpPr>
          <p:cNvPr id="10" name="文本框 9"/>
          <p:cNvSpPr txBox="1"/>
          <p:nvPr/>
        </p:nvSpPr>
        <p:spPr>
          <a:xfrm>
            <a:off x="1170620" y="5812373"/>
            <a:ext cx="4661647" cy="338554"/>
          </a:xfrm>
          <a:prstGeom prst="rect">
            <a:avLst/>
          </a:prstGeom>
          <a:noFill/>
        </p:spPr>
        <p:txBody>
          <a:bodyPr wrap="square" rtlCol="0">
            <a:spAutoFit/>
          </a:bodyPr>
          <a:lstStyle/>
          <a:p>
            <a:r>
              <a:rPr lang="zh-CN" altLang="en-US" sz="1600" dirty="0" smtClean="0"/>
              <a:t>注意反相极性，要在电路中另外校正</a:t>
            </a:r>
            <a:endParaRPr lang="zh-CN" altLang="en-US" sz="1600" dirty="0"/>
          </a:p>
        </p:txBody>
      </p:sp>
    </p:spTree>
    <p:extLst>
      <p:ext uri="{BB962C8B-B14F-4D97-AF65-F5344CB8AC3E}">
        <p14:creationId xmlns:p14="http://schemas.microsoft.com/office/powerpoint/2010/main" val="33620463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5" name="文本框 4"/>
          <p:cNvSpPr txBox="1"/>
          <p:nvPr/>
        </p:nvSpPr>
        <p:spPr>
          <a:xfrm>
            <a:off x="477446" y="385939"/>
            <a:ext cx="11270343" cy="3504229"/>
          </a:xfrm>
          <a:prstGeom prst="rect">
            <a:avLst/>
          </a:prstGeom>
          <a:noFill/>
        </p:spPr>
        <p:txBody>
          <a:bodyPr wrap="square" rtlCol="0">
            <a:spAutoFit/>
          </a:bodyPr>
          <a:lstStyle/>
          <a:p>
            <a:pPr>
              <a:lnSpc>
                <a:spcPct val="150000"/>
              </a:lnSpc>
            </a:pPr>
            <a:r>
              <a:rPr lang="zh-CN" altLang="en-US" sz="1800" dirty="0" smtClean="0"/>
              <a:t>三阶锁相环中常用的超前</a:t>
            </a:r>
            <a:r>
              <a:rPr lang="en-US" altLang="zh-CN" sz="1800" dirty="0" smtClean="0"/>
              <a:t>-</a:t>
            </a:r>
            <a:r>
              <a:rPr lang="zh-CN" altLang="en-US" sz="1800" dirty="0" smtClean="0"/>
              <a:t>滞后滤波器</a:t>
            </a: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en-US" altLang="zh-CN" sz="1200" dirty="0" smtClean="0"/>
          </a:p>
          <a:p>
            <a:pPr>
              <a:lnSpc>
                <a:spcPct val="150000"/>
              </a:lnSpc>
            </a:pPr>
            <a:endParaRPr lang="en-US" altLang="zh-CN" sz="1800" dirty="0" smtClean="0"/>
          </a:p>
          <a:p>
            <a:pPr>
              <a:lnSpc>
                <a:spcPct val="150000"/>
              </a:lnSpc>
            </a:pPr>
            <a:endParaRPr lang="en-US" altLang="zh-CN" sz="1200" dirty="0"/>
          </a:p>
          <a:p>
            <a:pPr>
              <a:lnSpc>
                <a:spcPct val="150000"/>
              </a:lnSpc>
            </a:pPr>
            <a:r>
              <a:rPr lang="zh-CN" altLang="en-US" sz="1800" dirty="0" smtClean="0"/>
              <a:t>三阶锁相环中常用的比例积分滤波器</a:t>
            </a:r>
            <a:endParaRPr lang="zh-CN" altLang="en-US" sz="1800" dirty="0"/>
          </a:p>
        </p:txBody>
      </p:sp>
      <p:pic>
        <p:nvPicPr>
          <p:cNvPr id="9" name="图片 8"/>
          <p:cNvPicPr>
            <a:picLocks noChangeAspect="1"/>
          </p:cNvPicPr>
          <p:nvPr/>
        </p:nvPicPr>
        <p:blipFill>
          <a:blip r:embed="rId3"/>
          <a:stretch>
            <a:fillRect/>
          </a:stretch>
        </p:blipFill>
        <p:spPr>
          <a:xfrm>
            <a:off x="736492" y="986664"/>
            <a:ext cx="2273266" cy="1773385"/>
          </a:xfrm>
          <a:prstGeom prst="rect">
            <a:avLst/>
          </a:prstGeom>
        </p:spPr>
      </p:pic>
      <p:graphicFrame>
        <p:nvGraphicFramePr>
          <p:cNvPr id="10" name="对象 9"/>
          <p:cNvGraphicFramePr>
            <a:graphicFrameLocks noChangeAspect="1"/>
          </p:cNvGraphicFramePr>
          <p:nvPr>
            <p:extLst>
              <p:ext uri="{D42A27DB-BD31-4B8C-83A1-F6EECF244321}">
                <p14:modId xmlns:p14="http://schemas.microsoft.com/office/powerpoint/2010/main" val="2436016769"/>
              </p:ext>
            </p:extLst>
          </p:nvPr>
        </p:nvGraphicFramePr>
        <p:xfrm>
          <a:off x="4176188" y="986664"/>
          <a:ext cx="2540267" cy="2437039"/>
        </p:xfrm>
        <a:graphic>
          <a:graphicData uri="http://schemas.openxmlformats.org/presentationml/2006/ole">
            <mc:AlternateContent xmlns:mc="http://schemas.openxmlformats.org/markup-compatibility/2006">
              <mc:Choice xmlns:v="urn:schemas-microsoft-com:vml" Requires="v">
                <p:oleObj spid="_x0000_s30740" name="Equation" r:id="rId4" imgW="1663560" imgH="1562040" progId="Equation.DSMT4">
                  <p:embed/>
                </p:oleObj>
              </mc:Choice>
              <mc:Fallback>
                <p:oleObj name="Equation" r:id="rId4" imgW="1663560" imgH="1562040" progId="Equation.DSMT4">
                  <p:embed/>
                  <p:pic>
                    <p:nvPicPr>
                      <p:cNvPr id="10" name="对象 9"/>
                      <p:cNvPicPr>
                        <a:picLocks noChangeAspect="1" noChangeArrowheads="1"/>
                      </p:cNvPicPr>
                      <p:nvPr/>
                    </p:nvPicPr>
                    <p:blipFill>
                      <a:blip r:embed="rId5"/>
                      <a:srcRect/>
                      <a:stretch>
                        <a:fillRect/>
                      </a:stretch>
                    </p:blipFill>
                    <p:spPr bwMode="auto">
                      <a:xfrm>
                        <a:off x="4176188" y="986664"/>
                        <a:ext cx="2540267" cy="2437039"/>
                      </a:xfrm>
                      <a:prstGeom prst="rect">
                        <a:avLst/>
                      </a:prstGeom>
                      <a:noFill/>
                    </p:spPr>
                  </p:pic>
                </p:oleObj>
              </mc:Fallback>
            </mc:AlternateContent>
          </a:graphicData>
        </a:graphic>
      </p:graphicFrame>
      <p:pic>
        <p:nvPicPr>
          <p:cNvPr id="11" name="图片 10"/>
          <p:cNvPicPr>
            <a:picLocks noChangeAspect="1"/>
          </p:cNvPicPr>
          <p:nvPr/>
        </p:nvPicPr>
        <p:blipFill>
          <a:blip r:embed="rId6"/>
          <a:stretch>
            <a:fillRect/>
          </a:stretch>
        </p:blipFill>
        <p:spPr>
          <a:xfrm>
            <a:off x="7310843" y="1490423"/>
            <a:ext cx="4213226" cy="1531122"/>
          </a:xfrm>
          <a:prstGeom prst="rect">
            <a:avLst/>
          </a:prstGeom>
        </p:spPr>
      </p:pic>
      <p:graphicFrame>
        <p:nvGraphicFramePr>
          <p:cNvPr id="12" name="对象 11"/>
          <p:cNvGraphicFramePr>
            <a:graphicFrameLocks noChangeAspect="1"/>
          </p:cNvGraphicFramePr>
          <p:nvPr>
            <p:extLst>
              <p:ext uri="{D42A27DB-BD31-4B8C-83A1-F6EECF244321}">
                <p14:modId xmlns:p14="http://schemas.microsoft.com/office/powerpoint/2010/main" val="3158197199"/>
              </p:ext>
            </p:extLst>
          </p:nvPr>
        </p:nvGraphicFramePr>
        <p:xfrm>
          <a:off x="3907937" y="4024428"/>
          <a:ext cx="3929063" cy="1704975"/>
        </p:xfrm>
        <a:graphic>
          <a:graphicData uri="http://schemas.openxmlformats.org/presentationml/2006/ole">
            <mc:AlternateContent xmlns:mc="http://schemas.openxmlformats.org/markup-compatibility/2006">
              <mc:Choice xmlns:v="urn:schemas-microsoft-com:vml" Requires="v">
                <p:oleObj spid="_x0000_s30741" name="Equation" r:id="rId7" imgW="2323800" imgH="990360" progId="Equation.DSMT4">
                  <p:embed/>
                </p:oleObj>
              </mc:Choice>
              <mc:Fallback>
                <p:oleObj name="Equation" r:id="rId7" imgW="2323800" imgH="990360" progId="Equation.DSMT4">
                  <p:embed/>
                  <p:pic>
                    <p:nvPicPr>
                      <p:cNvPr id="14" name="对象 13"/>
                      <p:cNvPicPr>
                        <a:picLocks noChangeAspect="1" noChangeArrowheads="1"/>
                      </p:cNvPicPr>
                      <p:nvPr/>
                    </p:nvPicPr>
                    <p:blipFill>
                      <a:blip r:embed="rId8"/>
                      <a:srcRect/>
                      <a:stretch>
                        <a:fillRect/>
                      </a:stretch>
                    </p:blipFill>
                    <p:spPr bwMode="auto">
                      <a:xfrm>
                        <a:off x="3907937" y="4024428"/>
                        <a:ext cx="3929063" cy="1704975"/>
                      </a:xfrm>
                      <a:prstGeom prst="rect">
                        <a:avLst/>
                      </a:prstGeom>
                      <a:noFill/>
                    </p:spPr>
                  </p:pic>
                </p:oleObj>
              </mc:Fallback>
            </mc:AlternateContent>
          </a:graphicData>
        </a:graphic>
      </p:graphicFrame>
      <p:pic>
        <p:nvPicPr>
          <p:cNvPr id="14" name="图片 13"/>
          <p:cNvPicPr>
            <a:picLocks noChangeAspect="1"/>
          </p:cNvPicPr>
          <p:nvPr/>
        </p:nvPicPr>
        <p:blipFill>
          <a:blip r:embed="rId9"/>
          <a:stretch>
            <a:fillRect/>
          </a:stretch>
        </p:blipFill>
        <p:spPr>
          <a:xfrm>
            <a:off x="7437088" y="4190286"/>
            <a:ext cx="4310701" cy="1801652"/>
          </a:xfrm>
          <a:prstGeom prst="rect">
            <a:avLst/>
          </a:prstGeom>
        </p:spPr>
      </p:pic>
      <p:pic>
        <p:nvPicPr>
          <p:cNvPr id="6" name="图片 5"/>
          <p:cNvPicPr>
            <a:picLocks noChangeAspect="1"/>
          </p:cNvPicPr>
          <p:nvPr/>
        </p:nvPicPr>
        <p:blipFill>
          <a:blip r:embed="rId10"/>
          <a:stretch>
            <a:fillRect/>
          </a:stretch>
        </p:blipFill>
        <p:spPr>
          <a:xfrm>
            <a:off x="477445" y="3890167"/>
            <a:ext cx="3062939" cy="2217107"/>
          </a:xfrm>
          <a:prstGeom prst="rect">
            <a:avLst/>
          </a:prstGeom>
        </p:spPr>
      </p:pic>
      <p:sp>
        <p:nvSpPr>
          <p:cNvPr id="15" name="文本框 14"/>
          <p:cNvSpPr txBox="1"/>
          <p:nvPr/>
        </p:nvSpPr>
        <p:spPr>
          <a:xfrm>
            <a:off x="1209560" y="5997056"/>
            <a:ext cx="4661647" cy="338554"/>
          </a:xfrm>
          <a:prstGeom prst="rect">
            <a:avLst/>
          </a:prstGeom>
          <a:noFill/>
        </p:spPr>
        <p:txBody>
          <a:bodyPr wrap="square" rtlCol="0">
            <a:spAutoFit/>
          </a:bodyPr>
          <a:lstStyle/>
          <a:p>
            <a:r>
              <a:rPr lang="zh-CN" altLang="en-US" sz="1600" dirty="0" smtClean="0"/>
              <a:t>注意反相极性，要在电路中另外校正</a:t>
            </a:r>
            <a:endParaRPr lang="zh-CN" altLang="en-US" sz="1600" dirty="0"/>
          </a:p>
        </p:txBody>
      </p:sp>
    </p:spTree>
    <p:extLst>
      <p:ext uri="{BB962C8B-B14F-4D97-AF65-F5344CB8AC3E}">
        <p14:creationId xmlns:p14="http://schemas.microsoft.com/office/powerpoint/2010/main" val="1089180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矩形 4"/>
          <p:cNvSpPr/>
          <p:nvPr/>
        </p:nvSpPr>
        <p:spPr>
          <a:xfrm>
            <a:off x="502024" y="520259"/>
            <a:ext cx="11071412" cy="4755148"/>
          </a:xfrm>
          <a:prstGeom prst="rect">
            <a:avLst/>
          </a:prstGeom>
        </p:spPr>
        <p:txBody>
          <a:bodyPr wrap="square">
            <a:spAutoFit/>
          </a:bodyPr>
          <a:lstStyle/>
          <a:p>
            <a:pPr marL="342900" lvl="2" indent="-342900">
              <a:lnSpc>
                <a:spcPct val="150000"/>
              </a:lnSpc>
              <a:buFont typeface="Arial" panose="020B0604020202020204" pitchFamily="34" charset="0"/>
              <a:buChar char="•"/>
            </a:pPr>
            <a:r>
              <a:rPr lang="zh-CN" altLang="en-US" sz="1800" dirty="0"/>
              <a:t>常用的</a:t>
            </a:r>
            <a:r>
              <a:rPr lang="zh-CN" altLang="zh-CN" sz="1800" dirty="0"/>
              <a:t>压控振荡器</a:t>
            </a:r>
          </a:p>
          <a:p>
            <a:pPr indent="457200">
              <a:lnSpc>
                <a:spcPct val="150000"/>
              </a:lnSpc>
            </a:pPr>
            <a:r>
              <a:rPr lang="en-US" altLang="zh-CN" sz="1800" dirty="0" smtClean="0"/>
              <a:t>RC</a:t>
            </a:r>
            <a:r>
              <a:rPr lang="zh-CN" altLang="zh-CN" sz="1800" dirty="0" smtClean="0"/>
              <a:t>张弛振荡器</a:t>
            </a:r>
            <a:endParaRPr lang="en-US" altLang="zh-CN" sz="1800" dirty="0" smtClean="0"/>
          </a:p>
          <a:p>
            <a:pPr indent="457200">
              <a:lnSpc>
                <a:spcPct val="150000"/>
              </a:lnSpc>
            </a:pPr>
            <a:r>
              <a:rPr lang="zh-CN" altLang="en-US" sz="1800" dirty="0" smtClean="0"/>
              <a:t>电压</a:t>
            </a:r>
            <a:r>
              <a:rPr lang="zh-CN" altLang="en-US" sz="1800" dirty="0"/>
              <a:t>或者电流控制，线性较好，频率上限一般不会很高（几十</a:t>
            </a:r>
            <a:r>
              <a:rPr lang="en-US" altLang="zh-CN" sz="1800" dirty="0"/>
              <a:t>MHz</a:t>
            </a:r>
            <a:r>
              <a:rPr lang="zh-CN" altLang="en-US" sz="1800" dirty="0"/>
              <a:t>），通常以方波形式输出。大部分集成</a:t>
            </a:r>
            <a:r>
              <a:rPr lang="en-US" altLang="zh-CN" sz="1800" dirty="0"/>
              <a:t>PLL</a:t>
            </a:r>
            <a:r>
              <a:rPr lang="zh-CN" altLang="en-US" sz="1800" dirty="0"/>
              <a:t>芯片采用这种</a:t>
            </a:r>
            <a:r>
              <a:rPr lang="en-US" altLang="zh-CN" sz="1800" dirty="0"/>
              <a:t>VCO</a:t>
            </a:r>
          </a:p>
          <a:p>
            <a:pPr indent="457200">
              <a:lnSpc>
                <a:spcPct val="150000"/>
              </a:lnSpc>
            </a:pPr>
            <a:r>
              <a:rPr lang="en-US" altLang="zh-CN" sz="1800" dirty="0"/>
              <a:t>LC</a:t>
            </a:r>
            <a:r>
              <a:rPr lang="zh-CN" altLang="zh-CN" sz="1800" dirty="0" smtClean="0"/>
              <a:t>振荡器</a:t>
            </a:r>
            <a:endParaRPr lang="en-US" altLang="zh-CN" sz="1800" dirty="0" smtClean="0"/>
          </a:p>
          <a:p>
            <a:pPr indent="457200">
              <a:lnSpc>
                <a:spcPct val="150000"/>
              </a:lnSpc>
            </a:pPr>
            <a:r>
              <a:rPr lang="zh-CN" altLang="en-US" sz="1800" dirty="0" smtClean="0"/>
              <a:t>以</a:t>
            </a:r>
            <a:r>
              <a:rPr lang="zh-CN" altLang="en-US" sz="1800" dirty="0"/>
              <a:t>变容二极管作为调谐器件，线性一般，可以有很高的频率上限，通常以简谐波</a:t>
            </a:r>
            <a:r>
              <a:rPr lang="zh-CN" altLang="en-US" sz="1800" dirty="0" smtClean="0"/>
              <a:t>输出</a:t>
            </a:r>
            <a:endParaRPr lang="en-US" altLang="zh-CN" sz="1800" dirty="0"/>
          </a:p>
          <a:p>
            <a:pPr indent="457200">
              <a:lnSpc>
                <a:spcPct val="150000"/>
              </a:lnSpc>
            </a:pPr>
            <a:endParaRPr lang="en-US" altLang="zh-CN" sz="1100" dirty="0" smtClean="0"/>
          </a:p>
          <a:p>
            <a:pPr indent="457200">
              <a:lnSpc>
                <a:spcPct val="150000"/>
              </a:lnSpc>
            </a:pPr>
            <a:r>
              <a:rPr lang="zh-CN" altLang="en-US" sz="1800" dirty="0" smtClean="0"/>
              <a:t>主要参数</a:t>
            </a:r>
            <a:endParaRPr lang="en-US" altLang="zh-CN" sz="1800" dirty="0" smtClean="0"/>
          </a:p>
          <a:p>
            <a:pPr indent="457200">
              <a:lnSpc>
                <a:spcPct val="150000"/>
              </a:lnSpc>
            </a:pPr>
            <a:r>
              <a:rPr lang="zh-CN" altLang="en-US" sz="1800" dirty="0" smtClean="0"/>
              <a:t>可</a:t>
            </a:r>
            <a:r>
              <a:rPr lang="zh-CN" altLang="en-US" sz="1800" dirty="0"/>
              <a:t>控频率</a:t>
            </a:r>
            <a:r>
              <a:rPr lang="zh-CN" altLang="en-US" sz="1800" dirty="0" smtClean="0"/>
              <a:t>范围</a:t>
            </a:r>
            <a:endParaRPr lang="en-US" altLang="zh-CN" sz="1800" dirty="0" smtClean="0"/>
          </a:p>
          <a:p>
            <a:pPr indent="457200">
              <a:lnSpc>
                <a:spcPct val="150000"/>
              </a:lnSpc>
            </a:pPr>
            <a:r>
              <a:rPr lang="zh-CN" altLang="en-US" sz="1800" dirty="0" smtClean="0"/>
              <a:t>压</a:t>
            </a:r>
            <a:r>
              <a:rPr lang="zh-CN" altLang="en-US" sz="1800" dirty="0"/>
              <a:t>控增益 </a:t>
            </a:r>
            <a:r>
              <a:rPr lang="en-US" altLang="zh-CN" sz="1800" i="1" dirty="0" err="1" smtClean="0">
                <a:latin typeface="+mn-lt"/>
              </a:rPr>
              <a:t>K</a:t>
            </a:r>
            <a:r>
              <a:rPr lang="en-US" altLang="zh-CN" sz="1800" i="1" baseline="-25000" dirty="0" err="1" smtClean="0">
                <a:latin typeface="+mn-lt"/>
              </a:rPr>
              <a:t>o</a:t>
            </a:r>
            <a:r>
              <a:rPr lang="en-US" altLang="zh-CN" sz="1800" dirty="0" smtClean="0">
                <a:latin typeface="+mn-lt"/>
              </a:rPr>
              <a:t> </a:t>
            </a:r>
            <a:r>
              <a:rPr lang="en-US" altLang="zh-CN" sz="1800" dirty="0">
                <a:latin typeface="+mn-lt"/>
              </a:rPr>
              <a:t>= </a:t>
            </a:r>
            <a:r>
              <a:rPr lang="en-US" altLang="zh-CN" sz="1800" i="1" dirty="0" smtClean="0">
                <a:latin typeface="+mn-lt"/>
              </a:rPr>
              <a:t> </a:t>
            </a:r>
            <a:r>
              <a:rPr lang="en-US" altLang="zh-CN" sz="1800" dirty="0" smtClean="0">
                <a:latin typeface="+mn-lt"/>
                <a:cs typeface="Times New Roman" panose="02020603050405020304" pitchFamily="18" charset="0"/>
              </a:rPr>
              <a:t>2</a:t>
            </a:r>
            <a:r>
              <a:rPr lang="el-GR" altLang="zh-CN" sz="1800" dirty="0">
                <a:latin typeface="+mn-lt"/>
                <a:cs typeface="Times New Roman" panose="02020603050405020304" pitchFamily="18" charset="0"/>
              </a:rPr>
              <a:t>πΔ</a:t>
            </a:r>
            <a:r>
              <a:rPr lang="en-US" altLang="zh-CN" sz="1800" i="1" dirty="0" err="1">
                <a:latin typeface="+mn-lt"/>
                <a:cs typeface="Times New Roman" panose="02020603050405020304" pitchFamily="18" charset="0"/>
              </a:rPr>
              <a:t>f</a:t>
            </a:r>
            <a:r>
              <a:rPr lang="en-US" altLang="zh-CN" sz="1800" baseline="-25000" dirty="0" err="1">
                <a:latin typeface="+mn-lt"/>
                <a:cs typeface="Times New Roman" panose="02020603050405020304" pitchFamily="18" charset="0"/>
              </a:rPr>
              <a:t>o</a:t>
            </a:r>
            <a:r>
              <a:rPr lang="en-US" altLang="zh-CN" sz="1800" baseline="-25000" dirty="0">
                <a:latin typeface="+mn-lt"/>
                <a:cs typeface="Times New Roman" panose="02020603050405020304" pitchFamily="18" charset="0"/>
              </a:rPr>
              <a:t> </a:t>
            </a:r>
            <a:r>
              <a:rPr lang="en-US" altLang="zh-CN" sz="1800" dirty="0">
                <a:latin typeface="+mn-lt"/>
                <a:cs typeface="Times New Roman" panose="02020603050405020304" pitchFamily="18" charset="0"/>
              </a:rPr>
              <a:t>/</a:t>
            </a:r>
            <a:r>
              <a:rPr lang="el-GR" altLang="zh-CN" sz="1800" dirty="0" smtClean="0">
                <a:latin typeface="+mn-lt"/>
                <a:cs typeface="Times New Roman" panose="02020603050405020304" pitchFamily="18" charset="0"/>
              </a:rPr>
              <a:t>Δ</a:t>
            </a:r>
            <a:r>
              <a:rPr lang="en-US" altLang="zh-CN" sz="1800" i="1" dirty="0" err="1" smtClean="0">
                <a:latin typeface="+mn-lt"/>
                <a:cs typeface="Times New Roman" panose="02020603050405020304" pitchFamily="18" charset="0"/>
              </a:rPr>
              <a:t>V</a:t>
            </a:r>
            <a:r>
              <a:rPr lang="en-US" altLang="zh-CN" sz="1800" baseline="-25000" dirty="0" err="1" smtClean="0">
                <a:latin typeface="+mn-lt"/>
                <a:cs typeface="Times New Roman" panose="02020603050405020304" pitchFamily="18" charset="0"/>
              </a:rPr>
              <a:t>c</a:t>
            </a:r>
            <a:r>
              <a:rPr lang="en-US" altLang="zh-CN" sz="1800" baseline="-25000" dirty="0" smtClean="0">
                <a:latin typeface="+mn-lt"/>
                <a:cs typeface="Times New Roman" panose="02020603050405020304" pitchFamily="18" charset="0"/>
              </a:rPr>
              <a:t> </a:t>
            </a:r>
            <a:endParaRPr lang="en-US" altLang="zh-CN" sz="1800" i="1" dirty="0" smtClean="0">
              <a:latin typeface="+mn-lt"/>
            </a:endParaRPr>
          </a:p>
          <a:p>
            <a:pPr indent="457200">
              <a:lnSpc>
                <a:spcPct val="150000"/>
              </a:lnSpc>
            </a:pPr>
            <a:endParaRPr lang="en-US" altLang="zh-CN" sz="1100" dirty="0" smtClean="0"/>
          </a:p>
          <a:p>
            <a:pPr indent="457200">
              <a:lnSpc>
                <a:spcPct val="150000"/>
              </a:lnSpc>
            </a:pPr>
            <a:r>
              <a:rPr lang="zh-CN" altLang="en-US" sz="1800" dirty="0" smtClean="0"/>
              <a:t>传递函数</a:t>
            </a:r>
            <a:endParaRPr lang="en-US"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2565380605"/>
              </p:ext>
            </p:extLst>
          </p:nvPr>
        </p:nvGraphicFramePr>
        <p:xfrm>
          <a:off x="2046817" y="4751948"/>
          <a:ext cx="979487" cy="577850"/>
        </p:xfrm>
        <a:graphic>
          <a:graphicData uri="http://schemas.openxmlformats.org/presentationml/2006/ole">
            <mc:AlternateContent xmlns:mc="http://schemas.openxmlformats.org/markup-compatibility/2006">
              <mc:Choice xmlns:v="urn:schemas-microsoft-com:vml" Requires="v">
                <p:oleObj spid="_x0000_s25619" name="Equation" r:id="rId3" imgW="647640" imgH="368280" progId="Equation.DSMT4">
                  <p:embed/>
                </p:oleObj>
              </mc:Choice>
              <mc:Fallback>
                <p:oleObj name="Equation" r:id="rId3" imgW="647640" imgH="368280" progId="Equation.DSMT4">
                  <p:embed/>
                  <p:pic>
                    <p:nvPicPr>
                      <p:cNvPr id="7" name="对象 6"/>
                      <p:cNvPicPr>
                        <a:picLocks noChangeAspect="1" noChangeArrowheads="1"/>
                      </p:cNvPicPr>
                      <p:nvPr/>
                    </p:nvPicPr>
                    <p:blipFill>
                      <a:blip r:embed="rId4"/>
                      <a:srcRect/>
                      <a:stretch>
                        <a:fillRect/>
                      </a:stretch>
                    </p:blipFill>
                    <p:spPr bwMode="auto">
                      <a:xfrm>
                        <a:off x="2046817" y="4751948"/>
                        <a:ext cx="979487" cy="577850"/>
                      </a:xfrm>
                      <a:prstGeom prst="rect">
                        <a:avLst/>
                      </a:prstGeom>
                      <a:noFill/>
                    </p:spPr>
                  </p:pic>
                </p:oleObj>
              </mc:Fallback>
            </mc:AlternateContent>
          </a:graphicData>
        </a:graphic>
      </p:graphicFrame>
    </p:spTree>
    <p:extLst>
      <p:ext uri="{BB962C8B-B14F-4D97-AF65-F5344CB8AC3E}">
        <p14:creationId xmlns:p14="http://schemas.microsoft.com/office/powerpoint/2010/main" val="245884331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421341" y="421341"/>
            <a:ext cx="11400246" cy="45724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锁相环的闭环传递函数（</a:t>
            </a:r>
            <a:r>
              <a:rPr lang="zh-CN" altLang="en-US" sz="1800" dirty="0"/>
              <a:t>二</a:t>
            </a:r>
            <a:r>
              <a:rPr lang="zh-CN" altLang="en-US" sz="1800" dirty="0" smtClean="0"/>
              <a:t>阶锁相环）</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467187768"/>
              </p:ext>
            </p:extLst>
          </p:nvPr>
        </p:nvGraphicFramePr>
        <p:xfrm>
          <a:off x="1534377" y="1026446"/>
          <a:ext cx="2535328" cy="1055018"/>
        </p:xfrm>
        <a:graphic>
          <a:graphicData uri="http://schemas.openxmlformats.org/presentationml/2006/ole">
            <mc:AlternateContent xmlns:mc="http://schemas.openxmlformats.org/markup-compatibility/2006">
              <mc:Choice xmlns:v="urn:schemas-microsoft-com:vml" Requires="v">
                <p:oleObj spid="_x0000_s27669" name="Equation" r:id="rId3" imgW="1460160" imgH="583920" progId="Equation.DSMT4">
                  <p:embed/>
                </p:oleObj>
              </mc:Choice>
              <mc:Fallback>
                <p:oleObj name="Equation" r:id="rId3" imgW="1460160" imgH="583920" progId="Equation.DSMT4">
                  <p:embed/>
                  <p:pic>
                    <p:nvPicPr>
                      <p:cNvPr id="6" name="对象 5"/>
                      <p:cNvPicPr>
                        <a:picLocks noChangeAspect="1" noChangeArrowheads="1"/>
                      </p:cNvPicPr>
                      <p:nvPr/>
                    </p:nvPicPr>
                    <p:blipFill>
                      <a:blip r:embed="rId4"/>
                      <a:srcRect/>
                      <a:stretch>
                        <a:fillRect/>
                      </a:stretch>
                    </p:blipFill>
                    <p:spPr bwMode="auto">
                      <a:xfrm>
                        <a:off x="1534377" y="1026446"/>
                        <a:ext cx="2535328" cy="1055018"/>
                      </a:xfrm>
                      <a:prstGeom prst="rect">
                        <a:avLst/>
                      </a:prstGeom>
                      <a:noFill/>
                    </p:spPr>
                  </p:pic>
                </p:oleObj>
              </mc:Fallback>
            </mc:AlternateContent>
          </a:graphicData>
        </a:graphic>
      </p:graphicFrame>
      <p:sp>
        <p:nvSpPr>
          <p:cNvPr id="8" name="矩形 7"/>
          <p:cNvSpPr/>
          <p:nvPr/>
        </p:nvSpPr>
        <p:spPr>
          <a:xfrm>
            <a:off x="421341" y="2229784"/>
            <a:ext cx="4195483" cy="3831818"/>
          </a:xfrm>
          <a:prstGeom prst="rect">
            <a:avLst/>
          </a:prstGeom>
        </p:spPr>
        <p:txBody>
          <a:bodyPr wrap="square">
            <a:spAutoFit/>
          </a:bodyPr>
          <a:lstStyle/>
          <a:p>
            <a:pPr indent="457200">
              <a:lnSpc>
                <a:spcPct val="150000"/>
              </a:lnSpc>
            </a:pPr>
            <a:r>
              <a:rPr lang="zh-CN" altLang="en-US" sz="1800" dirty="0" smtClean="0">
                <a:solidFill>
                  <a:schemeClr val="tx1">
                    <a:lumMod val="95000"/>
                    <a:lumOff val="5000"/>
                  </a:schemeClr>
                </a:solidFill>
                <a:latin typeface="Times New Roman" panose="02020603050405020304" pitchFamily="18" charset="0"/>
                <a:cs typeface="Times New Roman" panose="02020603050405020304" pitchFamily="18" charset="0"/>
              </a:rPr>
              <a:t>自然频率</a:t>
            </a:r>
            <a:r>
              <a:rPr lang="el-GR" altLang="zh-CN" sz="1800" i="1" dirty="0" smtClean="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i="1" baseline="-25000" dirty="0">
                <a:solidFill>
                  <a:schemeClr val="tx1">
                    <a:lumMod val="95000"/>
                    <a:lumOff val="5000"/>
                  </a:schemeClr>
                </a:solidFill>
                <a:latin typeface="Times New Roman" panose="02020603050405020304" pitchFamily="18" charset="0"/>
                <a:cs typeface="Times New Roman" panose="02020603050405020304" pitchFamily="18" charset="0"/>
              </a:rPr>
              <a:t>n</a:t>
            </a:r>
            <a:r>
              <a:rPr lang="zh-CN" altLang="en-US" sz="1800" dirty="0" smtClean="0">
                <a:solidFill>
                  <a:schemeClr val="tx1">
                    <a:lumMod val="95000"/>
                    <a:lumOff val="5000"/>
                  </a:schemeClr>
                </a:solidFill>
                <a:latin typeface="华文细黑" panose="02010600040101010101" pitchFamily="2" charset="-122"/>
              </a:rPr>
              <a:t>反映锁相环对于</a:t>
            </a:r>
            <a:r>
              <a:rPr lang="zh-CN" altLang="en-US" sz="1800" dirty="0">
                <a:solidFill>
                  <a:schemeClr val="tx1">
                    <a:lumMod val="95000"/>
                    <a:lumOff val="5000"/>
                  </a:schemeClr>
                </a:solidFill>
                <a:latin typeface="华文细黑" panose="02010600040101010101" pitchFamily="2" charset="-122"/>
              </a:rPr>
              <a:t>输入信号</a:t>
            </a:r>
            <a:r>
              <a:rPr lang="zh-CN" altLang="en-US" sz="1800" dirty="0">
                <a:latin typeface="华文细黑" panose="02010600040101010101" pitchFamily="2" charset="-122"/>
              </a:rPr>
              <a:t>相位变化</a:t>
            </a:r>
            <a:r>
              <a:rPr lang="zh-CN" altLang="en-US" sz="1800" dirty="0">
                <a:solidFill>
                  <a:schemeClr val="tx1">
                    <a:lumMod val="95000"/>
                    <a:lumOff val="5000"/>
                  </a:schemeClr>
                </a:solidFill>
                <a:latin typeface="华文细黑" panose="02010600040101010101" pitchFamily="2" charset="-122"/>
              </a:rPr>
              <a:t>的跟踪</a:t>
            </a:r>
            <a:r>
              <a:rPr lang="zh-CN" altLang="en-US" sz="1800" dirty="0" smtClean="0">
                <a:solidFill>
                  <a:schemeClr val="tx1">
                    <a:lumMod val="95000"/>
                    <a:lumOff val="5000"/>
                  </a:schemeClr>
                </a:solidFill>
                <a:latin typeface="华文细黑" panose="02010600040101010101" pitchFamily="2" charset="-122"/>
              </a:rPr>
              <a:t>范围。锁相环可以跟踪低于自然频率的输入相位变化，但对于变化频率远高于自然频率的信号，锁相环的输出无法跟踪</a:t>
            </a:r>
            <a:endParaRPr lang="en-US" altLang="zh-CN" sz="1800" dirty="0">
              <a:solidFill>
                <a:schemeClr val="tx1">
                  <a:lumMod val="95000"/>
                  <a:lumOff val="5000"/>
                </a:schemeClr>
              </a:solidFill>
              <a:latin typeface="华文细黑" panose="02010600040101010101" pitchFamily="2" charset="-122"/>
            </a:endParaRPr>
          </a:p>
          <a:p>
            <a:pPr indent="457200">
              <a:lnSpc>
                <a:spcPct val="150000"/>
              </a:lnSpc>
            </a:pPr>
            <a:r>
              <a:rPr lang="zh-CN" altLang="en-US" sz="1800" dirty="0" smtClean="0"/>
              <a:t>阻尼</a:t>
            </a:r>
            <a:r>
              <a:rPr lang="zh-CN" altLang="en-US" sz="1800" dirty="0"/>
              <a:t>因子 </a:t>
            </a:r>
            <a:r>
              <a:rPr lang="el-GR" altLang="zh-CN" sz="1800" i="1" dirty="0" smtClean="0">
                <a:latin typeface="Times New Roman" panose="02020603050405020304" pitchFamily="18" charset="0"/>
                <a:cs typeface="Times New Roman" panose="02020603050405020304" pitchFamily="18" charset="0"/>
              </a:rPr>
              <a:t>ζ</a:t>
            </a:r>
            <a:r>
              <a:rPr lang="en-US" altLang="zh-CN" sz="1800" i="1" dirty="0" smtClean="0">
                <a:latin typeface="Times New Roman" panose="02020603050405020304" pitchFamily="18" charset="0"/>
                <a:cs typeface="Times New Roman" panose="02020603050405020304" pitchFamily="18" charset="0"/>
              </a:rPr>
              <a:t> </a:t>
            </a:r>
            <a:r>
              <a:rPr lang="zh-CN" altLang="en-US" sz="1800" dirty="0" smtClean="0"/>
              <a:t>反映锁相环对于</a:t>
            </a:r>
            <a:r>
              <a:rPr lang="zh-CN" altLang="en-US" sz="1800" dirty="0"/>
              <a:t>自由振荡（自激）的阻尼程度，即系统的稳定</a:t>
            </a:r>
            <a:r>
              <a:rPr lang="zh-CN" altLang="en-US" sz="1800" dirty="0" smtClean="0"/>
              <a:t>程度。通常</a:t>
            </a:r>
            <a:r>
              <a:rPr lang="zh-CN" altLang="en-US" sz="1800" dirty="0"/>
              <a:t>令</a:t>
            </a: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zh-CN" altLang="en-US" sz="1800" dirty="0"/>
              <a:t>等于</a:t>
            </a:r>
            <a:r>
              <a:rPr lang="en-US" altLang="zh-CN" sz="1800" dirty="0"/>
              <a:t>0.7</a:t>
            </a:r>
            <a:r>
              <a:rPr lang="zh-CN" altLang="en-US" sz="1800" dirty="0"/>
              <a:t>左右以获得稳定性与快速性的平衡</a:t>
            </a:r>
            <a:endParaRPr lang="en-US" altLang="zh-CN" sz="1800" dirty="0"/>
          </a:p>
        </p:txBody>
      </p:sp>
      <p:pic>
        <p:nvPicPr>
          <p:cNvPr id="10" name="图片 9"/>
          <p:cNvPicPr>
            <a:picLocks noChangeAspect="1"/>
          </p:cNvPicPr>
          <p:nvPr/>
        </p:nvPicPr>
        <p:blipFill>
          <a:blip r:embed="rId5"/>
          <a:stretch>
            <a:fillRect/>
          </a:stretch>
        </p:blipFill>
        <p:spPr>
          <a:xfrm>
            <a:off x="5016954" y="1725864"/>
            <a:ext cx="6717630" cy="3825850"/>
          </a:xfrm>
          <a:prstGeom prst="rect">
            <a:avLst/>
          </a:prstGeom>
        </p:spPr>
      </p:pic>
    </p:spTree>
    <p:extLst>
      <p:ext uri="{BB962C8B-B14F-4D97-AF65-F5344CB8AC3E}">
        <p14:creationId xmlns:p14="http://schemas.microsoft.com/office/powerpoint/2010/main" val="67799311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sp>
        <p:nvSpPr>
          <p:cNvPr id="5" name="文本框 4"/>
          <p:cNvSpPr txBox="1"/>
          <p:nvPr/>
        </p:nvSpPr>
        <p:spPr>
          <a:xfrm>
            <a:off x="624417" y="591671"/>
            <a:ext cx="11110383" cy="35548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二阶锁相环的闭环参数与鉴相器、环路滤波器、压控振荡器参数的关系</a:t>
            </a:r>
            <a:endParaRPr lang="en-US" altLang="zh-CN" sz="1800" dirty="0" smtClean="0"/>
          </a:p>
          <a:p>
            <a:pPr indent="457200">
              <a:lnSpc>
                <a:spcPct val="150000"/>
              </a:lnSpc>
            </a:pPr>
            <a:r>
              <a:rPr lang="zh-CN" altLang="en-US" sz="1800" dirty="0" smtClean="0"/>
              <a:t>采用超前</a:t>
            </a:r>
            <a:r>
              <a:rPr lang="en-US" altLang="zh-CN" sz="1800" dirty="0" smtClean="0"/>
              <a:t>-</a:t>
            </a:r>
            <a:r>
              <a:rPr lang="zh-CN" altLang="en-US" sz="1800" dirty="0" smtClean="0"/>
              <a:t>滞后环路滤波器，上述关系为</a:t>
            </a:r>
            <a:endParaRPr lang="en-US" altLang="zh-CN" sz="1800" dirty="0" smtClean="0"/>
          </a:p>
          <a:p>
            <a:pPr indent="457200">
              <a:lnSpc>
                <a:spcPct val="150000"/>
              </a:lnSpc>
            </a:pPr>
            <a:endParaRPr lang="en-US" altLang="zh-CN" sz="1800" dirty="0"/>
          </a:p>
          <a:p>
            <a:pPr indent="457200">
              <a:lnSpc>
                <a:spcPct val="150000"/>
              </a:lnSpc>
            </a:pPr>
            <a:endParaRPr lang="en-US" altLang="zh-CN" sz="1200" dirty="0" smtClean="0"/>
          </a:p>
          <a:p>
            <a:pPr indent="457200">
              <a:lnSpc>
                <a:spcPct val="150000"/>
              </a:lnSpc>
            </a:pPr>
            <a:endParaRPr lang="en-US" altLang="zh-CN" sz="1800" dirty="0"/>
          </a:p>
          <a:p>
            <a:pPr indent="457200">
              <a:lnSpc>
                <a:spcPct val="150000"/>
              </a:lnSpc>
            </a:pPr>
            <a:r>
              <a:rPr lang="zh-CN" altLang="en-US" sz="1800" dirty="0" smtClean="0"/>
              <a:t>采用比例积分型滤波器，上述关系为</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200" dirty="0"/>
          </a:p>
        </p:txBody>
      </p:sp>
      <p:graphicFrame>
        <p:nvGraphicFramePr>
          <p:cNvPr id="6" name="对象 5"/>
          <p:cNvGraphicFramePr>
            <a:graphicFrameLocks noChangeAspect="1"/>
          </p:cNvGraphicFramePr>
          <p:nvPr>
            <p:extLst>
              <p:ext uri="{D42A27DB-BD31-4B8C-83A1-F6EECF244321}">
                <p14:modId xmlns:p14="http://schemas.microsoft.com/office/powerpoint/2010/main" val="3730774602"/>
              </p:ext>
            </p:extLst>
          </p:nvPr>
        </p:nvGraphicFramePr>
        <p:xfrm>
          <a:off x="2843214" y="1721279"/>
          <a:ext cx="4570598" cy="787771"/>
        </p:xfrm>
        <a:graphic>
          <a:graphicData uri="http://schemas.openxmlformats.org/presentationml/2006/ole">
            <mc:AlternateContent xmlns:mc="http://schemas.openxmlformats.org/markup-compatibility/2006">
              <mc:Choice xmlns:v="urn:schemas-microsoft-com:vml" Requires="v">
                <p:oleObj spid="_x0000_s28711" name="Equation" r:id="rId3" imgW="2577960" imgH="444240" progId="Equation.DSMT4">
                  <p:embed/>
                </p:oleObj>
              </mc:Choice>
              <mc:Fallback>
                <p:oleObj name="Equation" r:id="rId3" imgW="2577960" imgH="444240" progId="Equation.DSMT4">
                  <p:embed/>
                  <p:pic>
                    <p:nvPicPr>
                      <p:cNvPr id="8" name="对象 7"/>
                      <p:cNvPicPr>
                        <a:picLocks noChangeAspect="1" noChangeArrowheads="1"/>
                      </p:cNvPicPr>
                      <p:nvPr/>
                    </p:nvPicPr>
                    <p:blipFill>
                      <a:blip r:embed="rId4"/>
                      <a:srcRect/>
                      <a:stretch>
                        <a:fillRect/>
                      </a:stretch>
                    </p:blipFill>
                    <p:spPr bwMode="auto">
                      <a:xfrm>
                        <a:off x="2843214" y="1721279"/>
                        <a:ext cx="4570598" cy="787771"/>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852939298"/>
              </p:ext>
            </p:extLst>
          </p:nvPr>
        </p:nvGraphicFramePr>
        <p:xfrm>
          <a:off x="2863057" y="3102326"/>
          <a:ext cx="3527425" cy="817563"/>
        </p:xfrm>
        <a:graphic>
          <a:graphicData uri="http://schemas.openxmlformats.org/presentationml/2006/ole">
            <mc:AlternateContent xmlns:mc="http://schemas.openxmlformats.org/markup-compatibility/2006">
              <mc:Choice xmlns:v="urn:schemas-microsoft-com:vml" Requires="v">
                <p:oleObj spid="_x0000_s28712" name="Equation" r:id="rId5" imgW="1917360" imgH="444240" progId="Equation.DSMT4">
                  <p:embed/>
                </p:oleObj>
              </mc:Choice>
              <mc:Fallback>
                <p:oleObj name="Equation" r:id="rId5" imgW="1917360" imgH="444240" progId="Equation.DSMT4">
                  <p:embed/>
                  <p:pic>
                    <p:nvPicPr>
                      <p:cNvPr id="9" name="对象 8"/>
                      <p:cNvPicPr>
                        <a:picLocks noChangeAspect="1" noChangeArrowheads="1"/>
                      </p:cNvPicPr>
                      <p:nvPr/>
                    </p:nvPicPr>
                    <p:blipFill>
                      <a:blip r:embed="rId6"/>
                      <a:srcRect/>
                      <a:stretch>
                        <a:fillRect/>
                      </a:stretch>
                    </p:blipFill>
                    <p:spPr bwMode="auto">
                      <a:xfrm>
                        <a:off x="2863057" y="3102326"/>
                        <a:ext cx="3527425" cy="817563"/>
                      </a:xfrm>
                      <a:prstGeom prst="rect">
                        <a:avLst/>
                      </a:prstGeom>
                      <a:noFill/>
                    </p:spPr>
                  </p:pic>
                </p:oleObj>
              </mc:Fallback>
            </mc:AlternateContent>
          </a:graphicData>
        </a:graphic>
      </p:graphicFrame>
    </p:spTree>
    <p:extLst>
      <p:ext uri="{BB962C8B-B14F-4D97-AF65-F5344CB8AC3E}">
        <p14:creationId xmlns:p14="http://schemas.microsoft.com/office/powerpoint/2010/main" val="1394539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5" name="文本框 4"/>
          <p:cNvSpPr txBox="1"/>
          <p:nvPr/>
        </p:nvSpPr>
        <p:spPr>
          <a:xfrm>
            <a:off x="421341" y="421341"/>
            <a:ext cx="11400246" cy="26776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锁相环的开环传递函数（采用超前</a:t>
            </a:r>
            <a:r>
              <a:rPr lang="en-US" altLang="zh-CN" sz="1800" dirty="0" smtClean="0"/>
              <a:t>-</a:t>
            </a:r>
            <a:r>
              <a:rPr lang="zh-CN" altLang="en-US" sz="1800" dirty="0" smtClean="0"/>
              <a:t>滞后环路滤波器）</a:t>
            </a:r>
            <a:endParaRPr lang="en-US" altLang="zh-CN" sz="1800" dirty="0" smtClean="0"/>
          </a:p>
          <a:p>
            <a:pPr indent="457200">
              <a:lnSpc>
                <a:spcPct val="150000"/>
              </a:lnSpc>
            </a:pPr>
            <a:endParaRPr lang="en-US" altLang="zh-CN" sz="800" dirty="0" smtClean="0"/>
          </a:p>
          <a:p>
            <a:pPr indent="457200">
              <a:lnSpc>
                <a:spcPct val="150000"/>
              </a:lnSpc>
            </a:pPr>
            <a:r>
              <a:rPr lang="zh-CN" altLang="en-US" sz="1800" dirty="0" smtClean="0"/>
              <a:t>二阶锁相环</a:t>
            </a:r>
            <a:endParaRPr lang="en-US" altLang="zh-CN" sz="1800" dirty="0" smtClean="0"/>
          </a:p>
          <a:p>
            <a:pPr indent="457200">
              <a:lnSpc>
                <a:spcPct val="150000"/>
              </a:lnSpc>
            </a:pPr>
            <a:endParaRPr lang="en-US" altLang="zh-CN" sz="1400" dirty="0"/>
          </a:p>
          <a:p>
            <a:pPr indent="457200">
              <a:lnSpc>
                <a:spcPct val="150000"/>
              </a:lnSpc>
            </a:pPr>
            <a:r>
              <a:rPr lang="zh-CN" altLang="en-US" sz="1800" dirty="0" smtClean="0"/>
              <a:t>三阶锁相环</a:t>
            </a: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幅频特性图</a:t>
            </a: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4172179658"/>
              </p:ext>
            </p:extLst>
          </p:nvPr>
        </p:nvGraphicFramePr>
        <p:xfrm>
          <a:off x="2335399" y="993483"/>
          <a:ext cx="2282825" cy="638175"/>
        </p:xfrm>
        <a:graphic>
          <a:graphicData uri="http://schemas.openxmlformats.org/presentationml/2006/ole">
            <mc:AlternateContent xmlns:mc="http://schemas.openxmlformats.org/markup-compatibility/2006">
              <mc:Choice xmlns:v="urn:schemas-microsoft-com:vml" Requires="v">
                <p:oleObj spid="_x0000_s26666" name="Equation" r:id="rId3" imgW="1511280" imgH="406080" progId="Equation.DSMT4">
                  <p:embed/>
                </p:oleObj>
              </mc:Choice>
              <mc:Fallback>
                <p:oleObj name="Equation" r:id="rId3" imgW="1511280" imgH="406080" progId="Equation.DSMT4">
                  <p:embed/>
                  <p:pic>
                    <p:nvPicPr>
                      <p:cNvPr id="6" name="对象 5"/>
                      <p:cNvPicPr>
                        <a:picLocks noChangeAspect="1" noChangeArrowheads="1"/>
                      </p:cNvPicPr>
                      <p:nvPr/>
                    </p:nvPicPr>
                    <p:blipFill>
                      <a:blip r:embed="rId4"/>
                      <a:srcRect/>
                      <a:stretch>
                        <a:fillRect/>
                      </a:stretch>
                    </p:blipFill>
                    <p:spPr bwMode="auto">
                      <a:xfrm>
                        <a:off x="2335399" y="993483"/>
                        <a:ext cx="2282825" cy="638175"/>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25625103"/>
              </p:ext>
            </p:extLst>
          </p:nvPr>
        </p:nvGraphicFramePr>
        <p:xfrm>
          <a:off x="2335399" y="1746158"/>
          <a:ext cx="3127375" cy="638175"/>
        </p:xfrm>
        <a:graphic>
          <a:graphicData uri="http://schemas.openxmlformats.org/presentationml/2006/ole">
            <mc:AlternateContent xmlns:mc="http://schemas.openxmlformats.org/markup-compatibility/2006">
              <mc:Choice xmlns:v="urn:schemas-microsoft-com:vml" Requires="v">
                <p:oleObj spid="_x0000_s26667" name="Equation" r:id="rId5" imgW="2070000" imgH="406080" progId="Equation.DSMT4">
                  <p:embed/>
                </p:oleObj>
              </mc:Choice>
              <mc:Fallback>
                <p:oleObj name="Equation" r:id="rId5" imgW="2070000" imgH="406080" progId="Equation.DSMT4">
                  <p:embed/>
                  <p:pic>
                    <p:nvPicPr>
                      <p:cNvPr id="6" name="对象 5"/>
                      <p:cNvPicPr>
                        <a:picLocks noChangeAspect="1" noChangeArrowheads="1"/>
                      </p:cNvPicPr>
                      <p:nvPr/>
                    </p:nvPicPr>
                    <p:blipFill>
                      <a:blip r:embed="rId6"/>
                      <a:srcRect/>
                      <a:stretch>
                        <a:fillRect/>
                      </a:stretch>
                    </p:blipFill>
                    <p:spPr bwMode="auto">
                      <a:xfrm>
                        <a:off x="2335399" y="1746158"/>
                        <a:ext cx="3127375" cy="638175"/>
                      </a:xfrm>
                      <a:prstGeom prst="rect">
                        <a:avLst/>
                      </a:prstGeom>
                      <a:noFill/>
                    </p:spPr>
                  </p:pic>
                </p:oleObj>
              </mc:Fallback>
            </mc:AlternateContent>
          </a:graphicData>
        </a:graphic>
      </p:graphicFrame>
      <p:pic>
        <p:nvPicPr>
          <p:cNvPr id="11" name="图片 10"/>
          <p:cNvPicPr>
            <a:picLocks noChangeAspect="1"/>
          </p:cNvPicPr>
          <p:nvPr/>
        </p:nvPicPr>
        <p:blipFill>
          <a:blip r:embed="rId7"/>
          <a:stretch>
            <a:fillRect/>
          </a:stretch>
        </p:blipFill>
        <p:spPr>
          <a:xfrm>
            <a:off x="2328741" y="2600515"/>
            <a:ext cx="7319029" cy="3856734"/>
          </a:xfrm>
          <a:prstGeom prst="rect">
            <a:avLst/>
          </a:prstGeom>
        </p:spPr>
      </p:pic>
    </p:spTree>
    <p:extLst>
      <p:ext uri="{BB962C8B-B14F-4D97-AF65-F5344CB8AC3E}">
        <p14:creationId xmlns:p14="http://schemas.microsoft.com/office/powerpoint/2010/main" val="321502705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5" name="文本框 4"/>
          <p:cNvSpPr txBox="1"/>
          <p:nvPr/>
        </p:nvSpPr>
        <p:spPr>
          <a:xfrm>
            <a:off x="510988" y="412376"/>
            <a:ext cx="11241741"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锁相环设计的基本要求</a:t>
            </a:r>
            <a:endParaRPr lang="en-US" altLang="zh-CN" sz="1800" dirty="0" smtClean="0"/>
          </a:p>
          <a:p>
            <a:pPr indent="457200">
              <a:lnSpc>
                <a:spcPct val="150000"/>
              </a:lnSpc>
            </a:pPr>
            <a:r>
              <a:rPr lang="en-US" altLang="zh-CN" sz="1800" dirty="0" smtClean="0"/>
              <a:t>1</a:t>
            </a:r>
            <a:r>
              <a:rPr lang="zh-CN" altLang="en-US" sz="1800" dirty="0" smtClean="0"/>
              <a:t>、确定锁相环对于输入信号中，需要跟踪的相位变化（频率变化）成分的频率、需要消除（衰减）的成分的频率，据此确定锁相环闭环特性。</a:t>
            </a:r>
            <a:endParaRPr lang="en-US" altLang="zh-CN" sz="1800" dirty="0" smtClean="0"/>
          </a:p>
          <a:p>
            <a:pPr indent="457200">
              <a:lnSpc>
                <a:spcPct val="150000"/>
              </a:lnSpc>
            </a:pPr>
            <a:r>
              <a:rPr lang="zh-CN" altLang="en-US" sz="1800" dirty="0" smtClean="0"/>
              <a:t>例如输入一个调频信号，其中包含</a:t>
            </a:r>
            <a:r>
              <a:rPr lang="zh-CN" altLang="en-US" sz="1800" dirty="0"/>
              <a:t>频率变化为</a:t>
            </a:r>
            <a:r>
              <a:rPr lang="en-US" altLang="zh-CN" sz="1800" dirty="0" smtClean="0"/>
              <a:t>0</a:t>
            </a:r>
            <a:r>
              <a:rPr lang="zh-CN" altLang="en-US" sz="1800" dirty="0" smtClean="0"/>
              <a:t>的载波频率，还包含频率变化等于调制频率的边频分量。</a:t>
            </a:r>
            <a:endParaRPr lang="en-US" altLang="zh-CN" sz="1800" dirty="0" smtClean="0"/>
          </a:p>
          <a:p>
            <a:pPr indent="457200">
              <a:lnSpc>
                <a:spcPct val="150000"/>
              </a:lnSpc>
            </a:pPr>
            <a:r>
              <a:rPr lang="zh-CN" altLang="en-US" sz="1800" dirty="0" smtClean="0"/>
              <a:t>若要求锁相环的输出只包含其中的载频分量（载波跟踪），则应该将锁相环的闭环带宽（近似为自然频率）设计得远低于最低的调制频率，以便将调制频率衰减。</a:t>
            </a:r>
            <a:endParaRPr lang="en-US" altLang="zh-CN" sz="1800" dirty="0" smtClean="0"/>
          </a:p>
          <a:p>
            <a:pPr indent="457200">
              <a:lnSpc>
                <a:spcPct val="150000"/>
              </a:lnSpc>
            </a:pPr>
            <a:r>
              <a:rPr lang="zh-CN" altLang="en-US" sz="1800" dirty="0" smtClean="0"/>
              <a:t>若要求锁相环的输出跟随输入信号的频率变化（调制跟踪），则应该将锁相环的闭环带宽设计得远高于最高的调制频率。</a:t>
            </a:r>
            <a:endParaRPr lang="en-US" altLang="zh-CN" sz="1800" dirty="0" smtClean="0"/>
          </a:p>
          <a:p>
            <a:pPr indent="457200">
              <a:lnSpc>
                <a:spcPct val="150000"/>
              </a:lnSpc>
            </a:pPr>
            <a:r>
              <a:rPr lang="en-US" altLang="zh-CN" sz="1800" dirty="0" smtClean="0"/>
              <a:t>2</a:t>
            </a:r>
            <a:r>
              <a:rPr lang="zh-CN" altLang="en-US" sz="1800" dirty="0" smtClean="0"/>
              <a:t>、必须保证锁相环的稳定。</a:t>
            </a:r>
            <a:endParaRPr lang="en-US" altLang="zh-CN" sz="1800" dirty="0" smtClean="0"/>
          </a:p>
          <a:p>
            <a:pPr indent="457200">
              <a:lnSpc>
                <a:spcPct val="150000"/>
              </a:lnSpc>
            </a:pPr>
            <a:r>
              <a:rPr lang="zh-CN" altLang="en-US" sz="1800" dirty="0" smtClean="0"/>
              <a:t>由于锁相环是一个负反馈系统，存在自激的可能，所以要在设计中保证其稳定，就是要求其阻尼因子不能太小。</a:t>
            </a:r>
            <a:endParaRPr lang="zh-CN" altLang="en-US" sz="1800" dirty="0"/>
          </a:p>
        </p:txBody>
      </p:sp>
    </p:spTree>
    <p:extLst>
      <p:ext uri="{BB962C8B-B14F-4D97-AF65-F5344CB8AC3E}">
        <p14:creationId xmlns:p14="http://schemas.microsoft.com/office/powerpoint/2010/main" val="25923497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5" name="文本框 4"/>
          <p:cNvSpPr txBox="1"/>
          <p:nvPr/>
        </p:nvSpPr>
        <p:spPr>
          <a:xfrm>
            <a:off x="466165" y="448235"/>
            <a:ext cx="11355422" cy="54938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锁相环设计的简要过程</a:t>
            </a:r>
            <a:endParaRPr lang="en-US" altLang="zh-CN" sz="1800" dirty="0" smtClean="0"/>
          </a:p>
          <a:p>
            <a:pPr indent="457200">
              <a:lnSpc>
                <a:spcPct val="150000"/>
              </a:lnSpc>
            </a:pPr>
            <a:r>
              <a:rPr lang="zh-CN" altLang="en-US" sz="1800" dirty="0" smtClean="0"/>
              <a:t>对于二阶锁相环，可以基于其闭环传递函数进行设计。</a:t>
            </a:r>
            <a:endParaRPr lang="en-US" altLang="zh-CN" sz="1800" dirty="0" smtClean="0"/>
          </a:p>
          <a:p>
            <a:pPr indent="457200">
              <a:lnSpc>
                <a:spcPct val="150000"/>
              </a:lnSpc>
            </a:pPr>
            <a:r>
              <a:rPr lang="zh-CN" altLang="en-US" sz="1800" dirty="0" smtClean="0"/>
              <a:t>首先根据</a:t>
            </a:r>
            <a:r>
              <a:rPr lang="zh-CN" altLang="en-US" sz="1800" dirty="0"/>
              <a:t>需要</a:t>
            </a:r>
            <a:r>
              <a:rPr lang="zh-CN" altLang="en-US" sz="1800" dirty="0" smtClean="0"/>
              <a:t>指定闭环带宽（大部分情况下可以用自然频率代替）与阻尼因子的值。</a:t>
            </a:r>
            <a:endParaRPr lang="en-US" altLang="zh-CN" sz="1800" dirty="0" smtClean="0"/>
          </a:p>
          <a:p>
            <a:pPr indent="457200">
              <a:lnSpc>
                <a:spcPct val="150000"/>
              </a:lnSpc>
            </a:pPr>
            <a:r>
              <a:rPr lang="zh-CN" altLang="en-US" sz="1800" dirty="0" smtClean="0"/>
              <a:t>确定锁相环的鉴相器、压控振荡器，此时</a:t>
            </a:r>
            <a:r>
              <a:rPr lang="en-US" altLang="zh-CN" sz="1800" i="1" dirty="0" err="1" smtClean="0">
                <a:latin typeface="+mn-lt"/>
              </a:rPr>
              <a:t>K</a:t>
            </a:r>
            <a:r>
              <a:rPr lang="en-US" altLang="zh-CN" sz="1800" baseline="-25000" dirty="0" err="1" smtClean="0">
                <a:latin typeface="+mn-lt"/>
              </a:rPr>
              <a:t>d</a:t>
            </a:r>
            <a:r>
              <a:rPr lang="en-US" altLang="zh-CN" sz="1800" i="1" dirty="0" err="1" smtClean="0">
                <a:latin typeface="+mn-lt"/>
              </a:rPr>
              <a:t>K</a:t>
            </a:r>
            <a:r>
              <a:rPr lang="en-US" altLang="zh-CN" sz="1800" baseline="-25000" dirty="0" err="1" smtClean="0">
                <a:latin typeface="+mn-lt"/>
              </a:rPr>
              <a:t>o</a:t>
            </a:r>
            <a:r>
              <a:rPr lang="en-US" altLang="zh-CN" sz="1800" dirty="0" smtClean="0">
                <a:latin typeface="+mn-lt"/>
              </a:rPr>
              <a:t>/</a:t>
            </a:r>
            <a:r>
              <a:rPr lang="en-US" altLang="zh-CN" sz="1800" i="1" dirty="0" smtClean="0">
                <a:latin typeface="+mn-lt"/>
              </a:rPr>
              <a:t>N </a:t>
            </a:r>
            <a:r>
              <a:rPr lang="zh-CN" altLang="en-US" sz="1800" dirty="0" smtClean="0"/>
              <a:t>已知。指定环路滤波器的电路形式后，其传递函数形式也是已知的，据此可得到锁相环的自然频率、阻尼因子与环路滤波器中电阻电容值的关系。依此计算环路滤波器的元件参数，就可以完成锁相环的设计。</a:t>
            </a:r>
            <a:endParaRPr lang="en-US" altLang="zh-CN" sz="1800" dirty="0" smtClean="0"/>
          </a:p>
          <a:p>
            <a:pPr indent="457200">
              <a:lnSpc>
                <a:spcPct val="150000"/>
              </a:lnSpc>
            </a:pPr>
            <a:r>
              <a:rPr lang="zh-CN" altLang="en-US" sz="1800" dirty="0" smtClean="0"/>
              <a:t>对于三阶锁相环，通常基于其开环传递函数进行设计。</a:t>
            </a:r>
            <a:endParaRPr lang="en-US" altLang="zh-CN" sz="1800" dirty="0" smtClean="0"/>
          </a:p>
          <a:p>
            <a:pPr indent="457200">
              <a:lnSpc>
                <a:spcPct val="150000"/>
              </a:lnSpc>
            </a:pPr>
            <a:r>
              <a:rPr lang="zh-CN" altLang="en-US" sz="1800" dirty="0"/>
              <a:t>首先根据需要指定闭环</a:t>
            </a:r>
            <a:r>
              <a:rPr lang="zh-CN" altLang="en-US" sz="1800" dirty="0" smtClean="0"/>
              <a:t>带宽。三阶锁相环闭环后，其幅频特性类似二阶锁相环。在大部分情况下，其闭环带宽很接近开环幅频特性中的穿越频率</a:t>
            </a:r>
            <a:r>
              <a:rPr lang="el-GR" altLang="zh-CN" sz="1800" i="1" dirty="0" smtClean="0">
                <a:latin typeface="+mn-lt"/>
              </a:rPr>
              <a:t>ω</a:t>
            </a:r>
            <a:r>
              <a:rPr lang="en-US" altLang="zh-CN" sz="1800" i="1" baseline="-25000" dirty="0" smtClean="0">
                <a:latin typeface="+mn-lt"/>
              </a:rPr>
              <a:t>T</a:t>
            </a:r>
            <a:r>
              <a:rPr lang="zh-CN" altLang="en-US" sz="1800" dirty="0" smtClean="0"/>
              <a:t>，所以常常用穿越频率代替闭环带宽。</a:t>
            </a:r>
            <a:endParaRPr lang="en-US" altLang="zh-CN" sz="1800" dirty="0" smtClean="0"/>
          </a:p>
          <a:p>
            <a:pPr indent="457200">
              <a:lnSpc>
                <a:spcPct val="150000"/>
              </a:lnSpc>
            </a:pPr>
            <a:r>
              <a:rPr lang="zh-CN" altLang="en-US" sz="1800" dirty="0" smtClean="0"/>
              <a:t>三阶锁相环的稳定性常常用其相位裕量描述，通常要求相位裕量有</a:t>
            </a:r>
            <a:r>
              <a:rPr lang="en-US" altLang="zh-CN" sz="1800" dirty="0" smtClean="0"/>
              <a:t>45°</a:t>
            </a:r>
            <a:r>
              <a:rPr lang="zh-CN" altLang="en-US" sz="1800" dirty="0" smtClean="0"/>
              <a:t>以上。当开环幅频特性在穿越频率前后的斜率都是</a:t>
            </a:r>
            <a:r>
              <a:rPr lang="en-US" altLang="zh-CN" sz="1800" dirty="0" smtClean="0"/>
              <a:t>-20dB/</a:t>
            </a:r>
            <a:r>
              <a:rPr lang="en-US" altLang="zh-CN" sz="1800" dirty="0" err="1" smtClean="0"/>
              <a:t>dec</a:t>
            </a:r>
            <a:r>
              <a:rPr lang="zh-CN" altLang="en-US" sz="1800" dirty="0" smtClean="0"/>
              <a:t>，且保持其宽度（两个端点频率之比）在</a:t>
            </a:r>
            <a:r>
              <a:rPr lang="en-US" altLang="zh-CN" sz="1800" dirty="0" smtClean="0"/>
              <a:t>4~10</a:t>
            </a:r>
            <a:r>
              <a:rPr lang="zh-CN" altLang="en-US" sz="1800" dirty="0" smtClean="0"/>
              <a:t>，可以保证系统的稳定度。</a:t>
            </a:r>
            <a:endParaRPr lang="en-US" altLang="zh-CN" sz="1800" dirty="0" smtClean="0"/>
          </a:p>
          <a:p>
            <a:pPr indent="457200">
              <a:lnSpc>
                <a:spcPct val="150000"/>
              </a:lnSpc>
            </a:pPr>
            <a:r>
              <a:rPr lang="zh-CN" altLang="en-US" sz="1800" dirty="0" smtClean="0"/>
              <a:t>然后就可以用类似二阶锁相环的设计那样，先确定鉴相器、压控振荡器等部件的参数，最后计算环路滤波器的元件参数。</a:t>
            </a:r>
            <a:endParaRPr lang="zh-CN" altLang="en-US" sz="1800" dirty="0"/>
          </a:p>
        </p:txBody>
      </p:sp>
    </p:spTree>
    <p:extLst>
      <p:ext uri="{BB962C8B-B14F-4D97-AF65-F5344CB8AC3E}">
        <p14:creationId xmlns:p14="http://schemas.microsoft.com/office/powerpoint/2010/main" val="34689844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sp>
        <p:nvSpPr>
          <p:cNvPr id="6" name="矩形 5"/>
          <p:cNvSpPr/>
          <p:nvPr/>
        </p:nvSpPr>
        <p:spPr>
          <a:xfrm>
            <a:off x="435429" y="428926"/>
            <a:ext cx="11154227" cy="50783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本例题</a:t>
            </a:r>
            <a:r>
              <a:rPr lang="zh-CN" altLang="en-US" sz="1800" dirty="0"/>
              <a:t>中一个</a:t>
            </a:r>
            <a:r>
              <a:rPr lang="zh-CN" altLang="zh-CN" sz="1800" dirty="0" smtClean="0"/>
              <a:t>参考</a:t>
            </a:r>
            <a:r>
              <a:rPr lang="zh-CN" altLang="zh-CN" sz="1800" dirty="0"/>
              <a:t>信号</a:t>
            </a:r>
            <a:r>
              <a:rPr lang="zh-CN" altLang="en-US" sz="1800" dirty="0"/>
              <a:t>形成</a:t>
            </a:r>
            <a:r>
              <a:rPr lang="zh-CN" altLang="en-US" sz="1800" dirty="0" smtClean="0"/>
              <a:t>电路的设计方案</a:t>
            </a:r>
            <a:endParaRPr lang="zh-CN" altLang="zh-CN" sz="1800" dirty="0"/>
          </a:p>
        </p:txBody>
      </p:sp>
      <p:sp>
        <p:nvSpPr>
          <p:cNvPr id="5" name="椭圆 4"/>
          <p:cNvSpPr/>
          <p:nvPr/>
        </p:nvSpPr>
        <p:spPr>
          <a:xfrm>
            <a:off x="9456058" y="3691584"/>
            <a:ext cx="783772" cy="1135080"/>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322314" y="4587593"/>
            <a:ext cx="1657929" cy="1323439"/>
          </a:xfrm>
          <a:prstGeom prst="rect">
            <a:avLst/>
          </a:prstGeom>
          <a:noFill/>
        </p:spPr>
        <p:txBody>
          <a:bodyPr wrap="square" rtlCol="0">
            <a:spAutoFit/>
          </a:bodyPr>
          <a:lstStyle/>
          <a:p>
            <a:r>
              <a:rPr lang="zh-CN" altLang="zh-CN" sz="1600" dirty="0"/>
              <a:t>四个各相差</a:t>
            </a:r>
            <a:r>
              <a:rPr lang="en-US" altLang="zh-CN" sz="1600" dirty="0"/>
              <a:t>90</a:t>
            </a:r>
            <a:r>
              <a:rPr lang="zh-CN" altLang="zh-CN" sz="1600" dirty="0"/>
              <a:t>度的参考</a:t>
            </a:r>
            <a:r>
              <a:rPr lang="zh-CN" altLang="zh-CN" sz="1600" dirty="0" smtClean="0"/>
              <a:t>信号</a:t>
            </a:r>
            <a:endParaRPr lang="en-US" altLang="zh-CN" sz="1600" dirty="0" smtClean="0"/>
          </a:p>
          <a:p>
            <a:r>
              <a:rPr lang="zh-CN" altLang="en-US" sz="1600" dirty="0" smtClean="0"/>
              <a:t>根据实际的相位情况，选择其中某一路输出</a:t>
            </a:r>
            <a:endParaRPr lang="zh-CN" altLang="en-US" sz="1600" dirty="0"/>
          </a:p>
        </p:txBody>
      </p:sp>
      <p:sp>
        <p:nvSpPr>
          <p:cNvPr id="12" name="矩形 11"/>
          <p:cNvSpPr/>
          <p:nvPr/>
        </p:nvSpPr>
        <p:spPr>
          <a:xfrm>
            <a:off x="5781661" y="1466630"/>
            <a:ext cx="1620957" cy="338554"/>
          </a:xfrm>
          <a:prstGeom prst="rect">
            <a:avLst/>
          </a:prstGeom>
        </p:spPr>
        <p:txBody>
          <a:bodyPr wrap="none">
            <a:spAutoFit/>
          </a:bodyPr>
          <a:lstStyle/>
          <a:p>
            <a:r>
              <a:rPr lang="zh-CN" altLang="en-US" sz="1600" dirty="0"/>
              <a:t>集成锁相环电路</a:t>
            </a:r>
          </a:p>
        </p:txBody>
      </p:sp>
      <p:sp>
        <p:nvSpPr>
          <p:cNvPr id="13" name="矩形 12"/>
          <p:cNvSpPr/>
          <p:nvPr/>
        </p:nvSpPr>
        <p:spPr>
          <a:xfrm>
            <a:off x="2820321" y="1143381"/>
            <a:ext cx="2239610" cy="584775"/>
          </a:xfrm>
          <a:prstGeom prst="rect">
            <a:avLst/>
          </a:prstGeom>
        </p:spPr>
        <p:txBody>
          <a:bodyPr wrap="square">
            <a:spAutoFit/>
          </a:bodyPr>
          <a:lstStyle/>
          <a:p>
            <a:r>
              <a:rPr lang="zh-CN" altLang="zh-CN" sz="1600" dirty="0"/>
              <a:t>参考信号放大</a:t>
            </a:r>
            <a:r>
              <a:rPr lang="zh-CN" altLang="zh-CN" sz="1600" dirty="0" smtClean="0"/>
              <a:t>整形电路</a:t>
            </a:r>
            <a:endParaRPr lang="en-US" altLang="zh-CN" sz="1600" dirty="0" smtClean="0"/>
          </a:p>
          <a:p>
            <a:r>
              <a:rPr lang="zh-CN" altLang="en-US" sz="1600" dirty="0" smtClean="0"/>
              <a:t>（</a:t>
            </a:r>
            <a:r>
              <a:rPr lang="zh-CN" altLang="en-US" sz="1600" dirty="0"/>
              <a:t>滞回比较器）</a:t>
            </a:r>
          </a:p>
        </p:txBody>
      </p:sp>
      <p:sp>
        <p:nvSpPr>
          <p:cNvPr id="14" name="椭圆 13"/>
          <p:cNvSpPr/>
          <p:nvPr/>
        </p:nvSpPr>
        <p:spPr>
          <a:xfrm>
            <a:off x="2447365" y="1835628"/>
            <a:ext cx="2788833" cy="1478428"/>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29240" y="3066174"/>
            <a:ext cx="1396297" cy="338554"/>
          </a:xfrm>
          <a:prstGeom prst="rect">
            <a:avLst/>
          </a:prstGeom>
        </p:spPr>
        <p:txBody>
          <a:bodyPr wrap="square">
            <a:spAutoFit/>
          </a:bodyPr>
          <a:lstStyle/>
          <a:p>
            <a:r>
              <a:rPr lang="zh-CN" altLang="zh-CN" sz="1600" dirty="0"/>
              <a:t>环路滤波器</a:t>
            </a:r>
            <a:endParaRPr lang="zh-CN" altLang="en-US" sz="1600" dirty="0"/>
          </a:p>
        </p:txBody>
      </p:sp>
      <p:sp>
        <p:nvSpPr>
          <p:cNvPr id="16" name="椭圆 15"/>
          <p:cNvSpPr/>
          <p:nvPr/>
        </p:nvSpPr>
        <p:spPr>
          <a:xfrm>
            <a:off x="1013012" y="3066174"/>
            <a:ext cx="2435163" cy="2196108"/>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3132825" y="5720682"/>
            <a:ext cx="2236510" cy="338554"/>
          </a:xfrm>
          <a:prstGeom prst="rect">
            <a:avLst/>
          </a:prstGeom>
        </p:spPr>
        <p:txBody>
          <a:bodyPr wrap="none">
            <a:spAutoFit/>
          </a:bodyPr>
          <a:lstStyle/>
          <a:p>
            <a:r>
              <a:rPr lang="zh-CN" altLang="en-US" sz="1600" dirty="0"/>
              <a:t>带有放大作用的加法器</a:t>
            </a:r>
          </a:p>
        </p:txBody>
      </p:sp>
      <p:sp>
        <p:nvSpPr>
          <p:cNvPr id="18" name="椭圆 17"/>
          <p:cNvSpPr/>
          <p:nvPr/>
        </p:nvSpPr>
        <p:spPr>
          <a:xfrm>
            <a:off x="2883198" y="3454504"/>
            <a:ext cx="2595945" cy="2266178"/>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149998" y="2031353"/>
            <a:ext cx="1210588" cy="338554"/>
          </a:xfrm>
          <a:prstGeom prst="rect">
            <a:avLst/>
          </a:prstGeom>
        </p:spPr>
        <p:txBody>
          <a:bodyPr wrap="none">
            <a:spAutoFit/>
          </a:bodyPr>
          <a:lstStyle/>
          <a:p>
            <a:r>
              <a:rPr lang="zh-CN" altLang="zh-CN" sz="1600" dirty="0"/>
              <a:t>四分频电路</a:t>
            </a:r>
            <a:endParaRPr lang="zh-CN" altLang="en-US" sz="1600" dirty="0"/>
          </a:p>
        </p:txBody>
      </p:sp>
      <p:sp>
        <p:nvSpPr>
          <p:cNvPr id="26" name="椭圆 25"/>
          <p:cNvSpPr/>
          <p:nvPr/>
        </p:nvSpPr>
        <p:spPr>
          <a:xfrm>
            <a:off x="8166462" y="2466289"/>
            <a:ext cx="1289596" cy="2686281"/>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p:cNvPicPr>
            <a:picLocks noChangeAspect="1"/>
          </p:cNvPicPr>
          <p:nvPr/>
        </p:nvPicPr>
        <p:blipFill>
          <a:blip r:embed="rId2"/>
          <a:stretch>
            <a:fillRect/>
          </a:stretch>
        </p:blipFill>
        <p:spPr>
          <a:xfrm>
            <a:off x="624417" y="1740705"/>
            <a:ext cx="10172361" cy="3928047"/>
          </a:xfrm>
          <a:prstGeom prst="rect">
            <a:avLst/>
          </a:prstGeom>
        </p:spPr>
      </p:pic>
    </p:spTree>
    <p:extLst>
      <p:ext uri="{BB962C8B-B14F-4D97-AF65-F5344CB8AC3E}">
        <p14:creationId xmlns:p14="http://schemas.microsoft.com/office/powerpoint/2010/main" val="18882647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56</a:t>
            </a:fld>
            <a:endParaRPr lang="en-US" altLang="zh-CN">
              <a:solidFill>
                <a:srgbClr val="FFFFFF"/>
              </a:solidFill>
            </a:endParaRPr>
          </a:p>
        </p:txBody>
      </p:sp>
      <p:sp>
        <p:nvSpPr>
          <p:cNvPr id="6" name="矩形 5"/>
          <p:cNvSpPr/>
          <p:nvPr/>
        </p:nvSpPr>
        <p:spPr>
          <a:xfrm>
            <a:off x="442685" y="484572"/>
            <a:ext cx="11110686" cy="4824398"/>
          </a:xfrm>
          <a:prstGeom prst="rect">
            <a:avLst/>
          </a:prstGeom>
        </p:spPr>
        <p:txBody>
          <a:bodyPr wrap="square">
            <a:spAutoFit/>
          </a:bodyPr>
          <a:lstStyle/>
          <a:p>
            <a:pPr indent="457189">
              <a:lnSpc>
                <a:spcPct val="150000"/>
              </a:lnSpc>
            </a:pPr>
            <a:r>
              <a:rPr lang="zh-CN" altLang="en-US" sz="1800" dirty="0"/>
              <a:t>这个</a:t>
            </a:r>
            <a:r>
              <a:rPr lang="zh-CN" altLang="zh-CN" sz="1800" dirty="0"/>
              <a:t>参考信号恢复电路</a:t>
            </a:r>
            <a:r>
              <a:rPr lang="zh-CN" altLang="en-US" sz="1800" dirty="0"/>
              <a:t>的设计过程如下：</a:t>
            </a:r>
            <a:endParaRPr lang="en-US" altLang="zh-CN" sz="1800" dirty="0"/>
          </a:p>
          <a:p>
            <a:pPr indent="457189">
              <a:lnSpc>
                <a:spcPct val="150000"/>
              </a:lnSpc>
            </a:pPr>
            <a:endParaRPr lang="en-US" altLang="zh-CN" sz="700" dirty="0" smtClean="0"/>
          </a:p>
          <a:p>
            <a:pPr indent="457189">
              <a:lnSpc>
                <a:spcPct val="150000"/>
              </a:lnSpc>
            </a:pPr>
            <a:r>
              <a:rPr lang="zh-CN" altLang="en-US" sz="1800" dirty="0" smtClean="0"/>
              <a:t>一、采用锁相环</a:t>
            </a:r>
            <a:r>
              <a:rPr lang="en-US" altLang="zh-CN" sz="1800" dirty="0"/>
              <a:t>HC4046</a:t>
            </a:r>
            <a:r>
              <a:rPr lang="zh-CN" altLang="en-US" sz="1800" dirty="0"/>
              <a:t>中</a:t>
            </a:r>
            <a:r>
              <a:rPr lang="zh-CN" altLang="en-US" sz="1800" dirty="0" smtClean="0"/>
              <a:t>的鉴频</a:t>
            </a:r>
            <a:r>
              <a:rPr lang="en-US" altLang="zh-CN" sz="1800" dirty="0"/>
              <a:t>-</a:t>
            </a:r>
            <a:r>
              <a:rPr lang="zh-CN" altLang="en-US" sz="1800" dirty="0"/>
              <a:t>鉴相器（</a:t>
            </a:r>
            <a:r>
              <a:rPr lang="en-US" altLang="zh-CN" sz="1800" dirty="0"/>
              <a:t>PFD</a:t>
            </a:r>
            <a:r>
              <a:rPr lang="zh-CN" altLang="en-US" sz="1800" dirty="0"/>
              <a:t>），其鉴频增益</a:t>
            </a:r>
            <a:r>
              <a:rPr lang="en-US" altLang="zh-CN" sz="1800" dirty="0" err="1" smtClean="0"/>
              <a:t>K</a:t>
            </a:r>
            <a:r>
              <a:rPr lang="en-US" altLang="zh-CN" sz="1800" baseline="-25000" dirty="0" err="1" smtClean="0"/>
              <a:t>d</a:t>
            </a:r>
            <a:r>
              <a:rPr lang="en-US" altLang="zh-CN" sz="1800" dirty="0" smtClean="0"/>
              <a:t>=V</a:t>
            </a:r>
            <a:r>
              <a:rPr lang="en-US" altLang="zh-CN" sz="1800" baseline="-25000" dirty="0" smtClean="0"/>
              <a:t>DD</a:t>
            </a:r>
            <a:r>
              <a:rPr lang="en-US" altLang="zh-CN" sz="1800" dirty="0" smtClean="0"/>
              <a:t>/4</a:t>
            </a:r>
            <a:r>
              <a:rPr lang="el-GR" altLang="zh-CN" sz="1800" dirty="0" smtClean="0"/>
              <a:t>π</a:t>
            </a:r>
            <a:r>
              <a:rPr lang="en-US" altLang="zh-CN" sz="1800" dirty="0" smtClean="0"/>
              <a:t>=6/4</a:t>
            </a:r>
            <a:r>
              <a:rPr lang="el-GR" altLang="zh-CN" sz="1800" dirty="0" smtClean="0"/>
              <a:t>π</a:t>
            </a:r>
            <a:r>
              <a:rPr lang="en-US" altLang="zh-CN" sz="1800" dirty="0" smtClean="0"/>
              <a:t>=0.477</a:t>
            </a:r>
            <a:r>
              <a:rPr lang="el-GR" altLang="zh-CN" sz="1800" dirty="0" smtClean="0"/>
              <a:t> </a:t>
            </a:r>
            <a:r>
              <a:rPr lang="zh-CN" altLang="en-US" sz="1800" dirty="0" smtClean="0"/>
              <a:t>。</a:t>
            </a:r>
            <a:endParaRPr lang="en-US" altLang="zh-CN" sz="1800" dirty="0"/>
          </a:p>
          <a:p>
            <a:pPr indent="457189">
              <a:lnSpc>
                <a:spcPct val="150000"/>
              </a:lnSpc>
            </a:pPr>
            <a:r>
              <a:rPr lang="zh-CN" altLang="en-US" sz="1800" dirty="0" smtClean="0"/>
              <a:t>二、采用锁相环</a:t>
            </a:r>
            <a:r>
              <a:rPr lang="en-US" altLang="zh-CN" sz="1800" dirty="0"/>
              <a:t>HC4046</a:t>
            </a:r>
            <a:r>
              <a:rPr lang="zh-CN" altLang="en-US" sz="1800" dirty="0"/>
              <a:t>中的</a:t>
            </a:r>
            <a:r>
              <a:rPr lang="zh-CN" altLang="en-US" sz="1800" dirty="0" smtClean="0"/>
              <a:t>压控振荡器</a:t>
            </a:r>
            <a:r>
              <a:rPr lang="zh-CN" altLang="en-US" sz="1800" dirty="0"/>
              <a:t>（</a:t>
            </a:r>
            <a:r>
              <a:rPr lang="en-US" altLang="zh-CN" sz="1800" dirty="0"/>
              <a:t>VCO</a:t>
            </a:r>
            <a:r>
              <a:rPr lang="zh-CN" altLang="en-US" sz="1800" dirty="0" smtClean="0"/>
              <a:t>）。</a:t>
            </a:r>
            <a:endParaRPr lang="en-US" altLang="zh-CN" sz="1800" dirty="0" smtClean="0"/>
          </a:p>
          <a:p>
            <a:pPr indent="457189">
              <a:lnSpc>
                <a:spcPct val="150000"/>
              </a:lnSpc>
            </a:pPr>
            <a:r>
              <a:rPr lang="zh-CN" altLang="en-US" sz="1800" dirty="0" smtClean="0"/>
              <a:t>压控振荡器有</a:t>
            </a:r>
            <a:r>
              <a:rPr lang="zh-CN" altLang="en-US" sz="1800" dirty="0"/>
              <a:t>两个关键指标：</a:t>
            </a:r>
            <a:endParaRPr lang="en-US" altLang="zh-CN" sz="1800" dirty="0"/>
          </a:p>
          <a:p>
            <a:pPr indent="457189">
              <a:lnSpc>
                <a:spcPct val="150000"/>
              </a:lnSpc>
            </a:pPr>
            <a:r>
              <a:rPr lang="zh-CN" altLang="en-US" sz="1800" dirty="0"/>
              <a:t>一个是中心频率</a:t>
            </a:r>
            <a:r>
              <a:rPr lang="en-US" altLang="zh-CN" sz="1800" i="1" dirty="0"/>
              <a:t>f</a:t>
            </a:r>
            <a:r>
              <a:rPr lang="en-US" altLang="zh-CN" sz="1800" baseline="-25000" dirty="0"/>
              <a:t>0</a:t>
            </a:r>
            <a:r>
              <a:rPr lang="zh-CN" altLang="en-US" sz="1800" dirty="0"/>
              <a:t>，它是压控电压</a:t>
            </a:r>
            <a:r>
              <a:rPr lang="en-US" altLang="zh-CN" sz="1800" dirty="0" smtClean="0"/>
              <a:t>V</a:t>
            </a:r>
            <a:r>
              <a:rPr lang="en-US" altLang="zh-CN" sz="1800" baseline="-25000" dirty="0" smtClean="0"/>
              <a:t>C</a:t>
            </a:r>
            <a:r>
              <a:rPr lang="en-US" altLang="zh-CN" sz="1800" dirty="0" smtClean="0"/>
              <a:t>=0.5V</a:t>
            </a:r>
            <a:r>
              <a:rPr lang="en-US" altLang="zh-CN" sz="1800" baseline="-25000" dirty="0" smtClean="0"/>
              <a:t>DD</a:t>
            </a:r>
            <a:r>
              <a:rPr lang="zh-CN" altLang="en-US" sz="1800" dirty="0" smtClean="0"/>
              <a:t>（</a:t>
            </a:r>
            <a:r>
              <a:rPr lang="zh-CN" altLang="en-US" sz="1800" dirty="0"/>
              <a:t>本例中为</a:t>
            </a:r>
            <a:r>
              <a:rPr lang="en-US" altLang="zh-CN" sz="1800" dirty="0"/>
              <a:t>3V</a:t>
            </a:r>
            <a:r>
              <a:rPr lang="zh-CN" altLang="en-US" sz="1800" dirty="0"/>
              <a:t>）时的振荡频率，应该是参考频率的</a:t>
            </a:r>
            <a:r>
              <a:rPr lang="en-US" altLang="zh-CN" sz="1800" dirty="0"/>
              <a:t>4</a:t>
            </a:r>
            <a:r>
              <a:rPr lang="zh-CN" altLang="en-US" sz="1800" dirty="0"/>
              <a:t>倍（因为</a:t>
            </a:r>
            <a:r>
              <a:rPr lang="en-US" altLang="zh-CN" sz="1800" dirty="0"/>
              <a:t>VCO</a:t>
            </a:r>
            <a:r>
              <a:rPr lang="zh-CN" altLang="en-US" sz="1800" dirty="0"/>
              <a:t>的输出要</a:t>
            </a:r>
            <a:r>
              <a:rPr lang="en-US" altLang="zh-CN" sz="1800" dirty="0"/>
              <a:t>4</a:t>
            </a:r>
            <a:r>
              <a:rPr lang="zh-CN" altLang="en-US" sz="1800" dirty="0"/>
              <a:t>分频），本例中为</a:t>
            </a:r>
            <a:r>
              <a:rPr lang="en-US" altLang="zh-CN" sz="1800" dirty="0"/>
              <a:t>4kHz</a:t>
            </a:r>
            <a:r>
              <a:rPr lang="zh-CN" altLang="en-US" sz="1800" dirty="0" smtClean="0"/>
              <a:t>左右。</a:t>
            </a:r>
            <a:endParaRPr lang="en-US" altLang="zh-CN" sz="1800" dirty="0"/>
          </a:p>
          <a:p>
            <a:pPr indent="457189">
              <a:lnSpc>
                <a:spcPct val="150000"/>
              </a:lnSpc>
            </a:pPr>
            <a:r>
              <a:rPr lang="zh-CN" altLang="en-US" sz="1800" dirty="0"/>
              <a:t>另一个是压控增益</a:t>
            </a:r>
            <a:r>
              <a:rPr lang="en-US" altLang="zh-CN" sz="1800" dirty="0" err="1"/>
              <a:t>K</a:t>
            </a:r>
            <a:r>
              <a:rPr lang="en-US" altLang="zh-CN" sz="1800" baseline="-25000" dirty="0" err="1"/>
              <a:t>o</a:t>
            </a:r>
            <a:r>
              <a:rPr lang="en-US" altLang="zh-CN" sz="1800" dirty="0"/>
              <a:t>=2</a:t>
            </a:r>
            <a:r>
              <a:rPr lang="el-GR" altLang="zh-CN" sz="1800" dirty="0"/>
              <a:t>π</a:t>
            </a:r>
            <a:r>
              <a:rPr lang="zh-CN" altLang="en-US" sz="1800" dirty="0"/>
              <a:t>*</a:t>
            </a:r>
            <a:r>
              <a:rPr lang="el-GR" altLang="zh-CN" sz="1800" dirty="0"/>
              <a:t>Δ</a:t>
            </a:r>
            <a:r>
              <a:rPr lang="en-US" altLang="zh-CN" sz="1800" dirty="0"/>
              <a:t>f/</a:t>
            </a:r>
            <a:r>
              <a:rPr lang="el-GR" altLang="zh-CN" sz="1800" dirty="0"/>
              <a:t> Δ</a:t>
            </a:r>
            <a:r>
              <a:rPr lang="en-US" altLang="zh-CN" sz="1800" dirty="0"/>
              <a:t>V</a:t>
            </a:r>
            <a:r>
              <a:rPr lang="en-US" altLang="zh-CN" sz="1800" baseline="-25000" dirty="0"/>
              <a:t>C</a:t>
            </a:r>
            <a:r>
              <a:rPr lang="el-GR" altLang="zh-CN" sz="1800" dirty="0"/>
              <a:t> </a:t>
            </a:r>
            <a:r>
              <a:rPr lang="zh-CN" altLang="en-US" sz="1800" dirty="0"/>
              <a:t>。其中</a:t>
            </a:r>
            <a:r>
              <a:rPr lang="el-GR" altLang="zh-CN" sz="1800" dirty="0"/>
              <a:t>Δ</a:t>
            </a:r>
            <a:r>
              <a:rPr lang="en-US" altLang="zh-CN" sz="1800" dirty="0"/>
              <a:t>V</a:t>
            </a:r>
            <a:r>
              <a:rPr lang="en-US" altLang="zh-CN" sz="1800" baseline="-25000" dirty="0"/>
              <a:t>C</a:t>
            </a:r>
            <a:r>
              <a:rPr lang="el-GR" altLang="zh-CN" sz="1800" dirty="0"/>
              <a:t> </a:t>
            </a:r>
            <a:r>
              <a:rPr lang="zh-CN" altLang="en-US" sz="1800" dirty="0"/>
              <a:t>是控制电压的变化</a:t>
            </a:r>
            <a:r>
              <a:rPr lang="zh-CN" altLang="en-US" sz="1800" dirty="0" smtClean="0"/>
              <a:t>，</a:t>
            </a:r>
            <a:r>
              <a:rPr lang="el-GR" altLang="zh-CN" sz="1800" dirty="0" smtClean="0"/>
              <a:t>Δ</a:t>
            </a:r>
            <a:r>
              <a:rPr lang="en-US" altLang="zh-CN" sz="1800" dirty="0"/>
              <a:t>f </a:t>
            </a:r>
            <a:r>
              <a:rPr lang="zh-CN" altLang="en-US" sz="1800" dirty="0"/>
              <a:t>是在</a:t>
            </a:r>
            <a:r>
              <a:rPr lang="el-GR" altLang="zh-CN" sz="1800" dirty="0"/>
              <a:t>Δ</a:t>
            </a:r>
            <a:r>
              <a:rPr lang="en-US" altLang="zh-CN" sz="1800" dirty="0"/>
              <a:t>V</a:t>
            </a:r>
            <a:r>
              <a:rPr lang="en-US" altLang="zh-CN" sz="1800" baseline="-25000" dirty="0"/>
              <a:t>C</a:t>
            </a:r>
            <a:r>
              <a:rPr lang="el-GR" altLang="zh-CN" sz="1800" dirty="0"/>
              <a:t> </a:t>
            </a:r>
            <a:r>
              <a:rPr lang="zh-CN" altLang="en-US" sz="1800" dirty="0"/>
              <a:t>范围内</a:t>
            </a:r>
            <a:r>
              <a:rPr lang="en-US" altLang="zh-CN" sz="1800" dirty="0"/>
              <a:t>VCO</a:t>
            </a:r>
            <a:r>
              <a:rPr lang="zh-CN" altLang="en-US" sz="1800" dirty="0"/>
              <a:t>的频率变化，此值可由设计者自行确定一个合适的值，例如本例中可以设</a:t>
            </a:r>
            <a:r>
              <a:rPr lang="zh-CN" altLang="en-US" sz="1800" dirty="0" smtClean="0"/>
              <a:t>为控制电压每变化</a:t>
            </a:r>
            <a:r>
              <a:rPr lang="en-US" altLang="zh-CN" sz="1800" dirty="0" smtClean="0"/>
              <a:t>1V</a:t>
            </a:r>
            <a:r>
              <a:rPr lang="zh-CN" altLang="en-US" sz="1800" dirty="0" smtClean="0"/>
              <a:t>振荡频率变化</a:t>
            </a:r>
            <a:r>
              <a:rPr lang="en-US" altLang="zh-CN" sz="1800" dirty="0" smtClean="0"/>
              <a:t>1kHz</a:t>
            </a:r>
            <a:r>
              <a:rPr lang="zh-CN" altLang="en-US" sz="1800" dirty="0" smtClean="0"/>
              <a:t>。</a:t>
            </a:r>
            <a:endParaRPr lang="en-US" altLang="zh-CN" sz="1800" dirty="0"/>
          </a:p>
          <a:p>
            <a:pPr indent="457189">
              <a:lnSpc>
                <a:spcPct val="150000"/>
              </a:lnSpc>
            </a:pPr>
            <a:r>
              <a:rPr lang="zh-CN" altLang="en-US" sz="1800" dirty="0"/>
              <a:t>根据上述指标（</a:t>
            </a:r>
            <a:r>
              <a:rPr lang="en-US" altLang="zh-CN" sz="1800" dirty="0"/>
              <a:t>V</a:t>
            </a:r>
            <a:r>
              <a:rPr lang="en-US" altLang="zh-CN" sz="1800" baseline="-25000" dirty="0"/>
              <a:t>C</a:t>
            </a:r>
            <a:r>
              <a:rPr lang="en-US" altLang="zh-CN" sz="1800" dirty="0"/>
              <a:t>=3V</a:t>
            </a:r>
            <a:r>
              <a:rPr lang="zh-CN" altLang="en-US" sz="1800" dirty="0"/>
              <a:t>时</a:t>
            </a:r>
            <a:r>
              <a:rPr lang="en-US" altLang="zh-CN" sz="1800" dirty="0"/>
              <a:t>f=4000Hz</a:t>
            </a:r>
            <a:r>
              <a:rPr lang="zh-CN" altLang="en-US" sz="1800" dirty="0"/>
              <a:t>、</a:t>
            </a:r>
            <a:r>
              <a:rPr lang="en-US" altLang="zh-CN" sz="1800" dirty="0"/>
              <a:t> V</a:t>
            </a:r>
            <a:r>
              <a:rPr lang="en-US" altLang="zh-CN" sz="1800" baseline="-25000" dirty="0"/>
              <a:t>C</a:t>
            </a:r>
            <a:r>
              <a:rPr lang="zh-CN" altLang="en-US" sz="1800" dirty="0"/>
              <a:t>变化</a:t>
            </a:r>
            <a:r>
              <a:rPr lang="en-US" altLang="zh-CN" sz="1800" dirty="0"/>
              <a:t>1V</a:t>
            </a:r>
            <a:r>
              <a:rPr lang="zh-CN" altLang="en-US" sz="1800" dirty="0"/>
              <a:t>时</a:t>
            </a:r>
            <a:r>
              <a:rPr lang="en-US" altLang="zh-CN" sz="1800" dirty="0"/>
              <a:t>f</a:t>
            </a:r>
            <a:r>
              <a:rPr lang="zh-CN" altLang="en-US" sz="1800" dirty="0"/>
              <a:t>变化</a:t>
            </a:r>
            <a:r>
              <a:rPr lang="en-US" altLang="zh-CN" sz="1800" dirty="0"/>
              <a:t>1</a:t>
            </a:r>
            <a:r>
              <a:rPr lang="en-US" altLang="zh-CN" sz="1800" dirty="0">
                <a:cs typeface="Times New Roman" panose="02020603050405020304" pitchFamily="18" charset="0"/>
              </a:rPr>
              <a:t>000Hz</a:t>
            </a:r>
            <a:r>
              <a:rPr lang="zh-CN" altLang="en-US" sz="1800" dirty="0" smtClean="0">
                <a:cs typeface="Times New Roman" panose="02020603050405020304" pitchFamily="18" charset="0"/>
              </a:rPr>
              <a:t>）可以确定</a:t>
            </a:r>
            <a:r>
              <a:rPr lang="zh-CN" altLang="en-US" sz="1800" dirty="0" smtClean="0"/>
              <a:t>与</a:t>
            </a:r>
            <a:r>
              <a:rPr lang="en-US" altLang="zh-CN" sz="1800" dirty="0"/>
              <a:t>HC4046</a:t>
            </a:r>
            <a:r>
              <a:rPr lang="zh-CN" altLang="en-US" sz="1800" dirty="0"/>
              <a:t>中的压控振荡器有关的</a:t>
            </a:r>
            <a:r>
              <a:rPr lang="en-US" altLang="zh-CN" sz="1800" dirty="0"/>
              <a:t>3</a:t>
            </a:r>
            <a:r>
              <a:rPr lang="zh-CN" altLang="en-US" sz="1800" dirty="0"/>
              <a:t>个元件：</a:t>
            </a:r>
            <a:r>
              <a:rPr lang="en-US" altLang="zh-CN" sz="1800" dirty="0"/>
              <a:t>RT1</a:t>
            </a:r>
            <a:r>
              <a:rPr lang="zh-CN" altLang="en-US" sz="1800" dirty="0"/>
              <a:t>、</a:t>
            </a:r>
            <a:r>
              <a:rPr lang="en-US" altLang="zh-CN" sz="1800" dirty="0"/>
              <a:t>RT2</a:t>
            </a:r>
            <a:r>
              <a:rPr lang="zh-CN" altLang="en-US" sz="1800" dirty="0"/>
              <a:t>和</a:t>
            </a:r>
            <a:r>
              <a:rPr lang="en-US" altLang="zh-CN" sz="1800" dirty="0" smtClean="0"/>
              <a:t>CT</a:t>
            </a:r>
            <a:r>
              <a:rPr lang="zh-CN" altLang="en-US" sz="1800" dirty="0"/>
              <a:t>。可以参照</a:t>
            </a:r>
            <a:r>
              <a:rPr lang="en-US" altLang="zh-CN" sz="1800" dirty="0" smtClean="0"/>
              <a:t>HC4046</a:t>
            </a:r>
            <a:r>
              <a:rPr lang="zh-CN" altLang="en-US" sz="1800" dirty="0"/>
              <a:t>的数据</a:t>
            </a:r>
            <a:r>
              <a:rPr lang="zh-CN" altLang="en-US" sz="1800" dirty="0" smtClean="0"/>
              <a:t>手册上相关的图表进行设计，但是由于生产厂商的不同以及生产批次的不同，最后的元件数值可能</a:t>
            </a:r>
            <a:r>
              <a:rPr lang="zh-CN" altLang="en-US" sz="1800" dirty="0"/>
              <a:t>要通过实验予以</a:t>
            </a:r>
            <a:r>
              <a:rPr lang="zh-CN" altLang="en-US" sz="1800" dirty="0" smtClean="0"/>
              <a:t>确认或微调。</a:t>
            </a:r>
            <a:endParaRPr lang="en-US" altLang="zh-CN" sz="1800" dirty="0" smtClean="0"/>
          </a:p>
        </p:txBody>
      </p:sp>
    </p:spTree>
    <p:extLst>
      <p:ext uri="{BB962C8B-B14F-4D97-AF65-F5344CB8AC3E}">
        <p14:creationId xmlns:p14="http://schemas.microsoft.com/office/powerpoint/2010/main" val="38757109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57</a:t>
            </a:fld>
            <a:endParaRPr lang="en-US" altLang="zh-CN">
              <a:solidFill>
                <a:srgbClr val="FFFFFF"/>
              </a:solidFill>
            </a:endParaRPr>
          </a:p>
        </p:txBody>
      </p:sp>
      <p:sp>
        <p:nvSpPr>
          <p:cNvPr id="5" name="矩形 4"/>
          <p:cNvSpPr/>
          <p:nvPr/>
        </p:nvSpPr>
        <p:spPr>
          <a:xfrm>
            <a:off x="493486" y="484575"/>
            <a:ext cx="11212285" cy="1338828"/>
          </a:xfrm>
          <a:prstGeom prst="rect">
            <a:avLst/>
          </a:prstGeom>
        </p:spPr>
        <p:txBody>
          <a:bodyPr wrap="square">
            <a:spAutoFit/>
          </a:bodyPr>
          <a:lstStyle/>
          <a:p>
            <a:pPr indent="457189">
              <a:lnSpc>
                <a:spcPct val="150000"/>
              </a:lnSpc>
            </a:pPr>
            <a:r>
              <a:rPr lang="zh-CN" altLang="en-US" sz="1800" dirty="0" smtClean="0"/>
              <a:t>三、设计环路滤波器。</a:t>
            </a:r>
            <a:endParaRPr lang="en-US" altLang="zh-CN" sz="1800" dirty="0" smtClean="0"/>
          </a:p>
          <a:p>
            <a:pPr indent="457189">
              <a:lnSpc>
                <a:spcPct val="150000"/>
              </a:lnSpc>
            </a:pPr>
            <a:r>
              <a:rPr lang="en-US" altLang="zh-CN" sz="1800" dirty="0" smtClean="0"/>
              <a:t>U2</a:t>
            </a:r>
            <a:r>
              <a:rPr lang="zh-CN" altLang="en-US" sz="1800" dirty="0"/>
              <a:t>构成</a:t>
            </a:r>
            <a:r>
              <a:rPr lang="zh-CN" altLang="zh-CN" sz="1800" dirty="0"/>
              <a:t>的环路滤波器</a:t>
            </a:r>
            <a:r>
              <a:rPr lang="zh-CN" altLang="en-US" sz="1800" dirty="0"/>
              <a:t>是这个</a:t>
            </a:r>
            <a:r>
              <a:rPr lang="zh-CN" altLang="zh-CN" sz="1800" dirty="0"/>
              <a:t>参考信号恢复电路</a:t>
            </a:r>
            <a:r>
              <a:rPr lang="zh-CN" altLang="en-US" sz="1800" dirty="0"/>
              <a:t>的重点设计对象</a:t>
            </a:r>
            <a:r>
              <a:rPr lang="zh-CN" altLang="en-US" sz="1800" dirty="0" smtClean="0"/>
              <a:t>。前面图中的</a:t>
            </a:r>
            <a:r>
              <a:rPr lang="zh-CN" altLang="en-US" sz="1800" dirty="0"/>
              <a:t>环路滤波器是一个比例积分型滤波器</a:t>
            </a:r>
            <a:r>
              <a:rPr lang="zh-CN" altLang="en-US" sz="1800" dirty="0" smtClean="0"/>
              <a:t>，其传递函数及其零极点与元件参数的关系如下：</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337655242"/>
              </p:ext>
            </p:extLst>
          </p:nvPr>
        </p:nvGraphicFramePr>
        <p:xfrm>
          <a:off x="2515508" y="1823403"/>
          <a:ext cx="6577013" cy="1363663"/>
        </p:xfrm>
        <a:graphic>
          <a:graphicData uri="http://schemas.openxmlformats.org/presentationml/2006/ole">
            <mc:AlternateContent xmlns:mc="http://schemas.openxmlformats.org/markup-compatibility/2006">
              <mc:Choice xmlns:v="urn:schemas-microsoft-com:vml" Requires="v">
                <p:oleObj spid="_x0000_s17524" name="Equation" r:id="rId3" imgW="3657600" imgH="749160" progId="Equation.DSMT4">
                  <p:embed/>
                </p:oleObj>
              </mc:Choice>
              <mc:Fallback>
                <p:oleObj name="Equation" r:id="rId3" imgW="3657600" imgH="749160" progId="Equation.DSMT4">
                  <p:embed/>
                  <p:pic>
                    <p:nvPicPr>
                      <p:cNvPr id="0" name="Object 1"/>
                      <p:cNvPicPr>
                        <a:picLocks noChangeAspect="1" noChangeArrowheads="1"/>
                      </p:cNvPicPr>
                      <p:nvPr/>
                    </p:nvPicPr>
                    <p:blipFill>
                      <a:blip r:embed="rId4"/>
                      <a:srcRect/>
                      <a:stretch>
                        <a:fillRect/>
                      </a:stretch>
                    </p:blipFill>
                    <p:spPr bwMode="auto">
                      <a:xfrm>
                        <a:off x="2515508" y="1823403"/>
                        <a:ext cx="6577013" cy="1363663"/>
                      </a:xfrm>
                      <a:prstGeom prst="rect">
                        <a:avLst/>
                      </a:prstGeom>
                      <a:noFill/>
                    </p:spPr>
                  </p:pic>
                </p:oleObj>
              </mc:Fallback>
            </mc:AlternateContent>
          </a:graphicData>
        </a:graphic>
      </p:graphicFrame>
      <p:sp>
        <p:nvSpPr>
          <p:cNvPr id="12" name="矩形 11"/>
          <p:cNvSpPr/>
          <p:nvPr/>
        </p:nvSpPr>
        <p:spPr>
          <a:xfrm>
            <a:off x="493486" y="3328006"/>
            <a:ext cx="4615543" cy="2585323"/>
          </a:xfrm>
          <a:prstGeom prst="rect">
            <a:avLst/>
          </a:prstGeom>
        </p:spPr>
        <p:txBody>
          <a:bodyPr wrap="square">
            <a:spAutoFit/>
          </a:bodyPr>
          <a:lstStyle/>
          <a:p>
            <a:pPr indent="457189">
              <a:lnSpc>
                <a:spcPct val="150000"/>
              </a:lnSpc>
            </a:pPr>
            <a:r>
              <a:rPr lang="zh-CN" altLang="en-US" sz="1800" dirty="0"/>
              <a:t>这个</a:t>
            </a:r>
            <a:r>
              <a:rPr lang="zh-CN" altLang="zh-CN" sz="1800" dirty="0"/>
              <a:t>锁相环</a:t>
            </a:r>
            <a:r>
              <a:rPr lang="zh-CN" altLang="en-US" sz="1800" dirty="0"/>
              <a:t>是一个三阶</a:t>
            </a:r>
            <a:r>
              <a:rPr lang="zh-CN" altLang="en-US" sz="1800" dirty="0" smtClean="0"/>
              <a:t>锁相环，环路滤波器中有</a:t>
            </a:r>
            <a:r>
              <a:rPr lang="en-US" altLang="zh-CN" sz="1800" dirty="0" smtClean="0"/>
              <a:t>2</a:t>
            </a:r>
            <a:r>
              <a:rPr lang="zh-CN" altLang="en-US" sz="1800" dirty="0" smtClean="0"/>
              <a:t>个极点。我们用开环</a:t>
            </a:r>
            <a:r>
              <a:rPr lang="zh-CN" altLang="zh-CN" sz="1800" dirty="0" smtClean="0"/>
              <a:t>传递函数</a:t>
            </a:r>
            <a:r>
              <a:rPr lang="zh-CN" altLang="en-US" sz="1800" dirty="0" smtClean="0"/>
              <a:t>进行设计，</a:t>
            </a:r>
            <a:r>
              <a:rPr lang="zh-CN" altLang="zh-CN" sz="1800" dirty="0" smtClean="0"/>
              <a:t>波德图</a:t>
            </a:r>
            <a:r>
              <a:rPr lang="zh-CN" altLang="en-US" sz="1800" dirty="0" smtClean="0"/>
              <a:t>如右，</a:t>
            </a:r>
            <a:r>
              <a:rPr lang="zh-CN" altLang="zh-CN" sz="1800" dirty="0" smtClean="0"/>
              <a:t>其中</a:t>
            </a:r>
            <a:r>
              <a:rPr lang="zh-CN" altLang="zh-CN" sz="1800" dirty="0"/>
              <a:t>绿线是环路滤波器的传递函数</a:t>
            </a:r>
            <a:r>
              <a:rPr lang="zh-CN" altLang="en-US" sz="1800" dirty="0"/>
              <a:t>，</a:t>
            </a:r>
            <a:r>
              <a:rPr lang="zh-CN" altLang="zh-CN" sz="1800" dirty="0"/>
              <a:t>黄线是</a:t>
            </a:r>
            <a:r>
              <a:rPr lang="zh-CN" altLang="en-US" sz="1800" dirty="0"/>
              <a:t>鉴相</a:t>
            </a:r>
            <a:r>
              <a:rPr lang="zh-CN" altLang="en-US" sz="1800" dirty="0" smtClean="0"/>
              <a:t>器与</a:t>
            </a:r>
            <a:r>
              <a:rPr lang="en-US" altLang="zh-CN" sz="1800" dirty="0" smtClean="0"/>
              <a:t>VCO</a:t>
            </a:r>
            <a:r>
              <a:rPr lang="zh-CN" altLang="zh-CN" sz="1800" dirty="0"/>
              <a:t>的传递函数，红线是</a:t>
            </a:r>
            <a:r>
              <a:rPr lang="zh-CN" altLang="en-US" sz="1800" dirty="0"/>
              <a:t>上述两者连起来以后</a:t>
            </a:r>
            <a:r>
              <a:rPr lang="zh-CN" altLang="zh-CN" sz="1800" dirty="0"/>
              <a:t>整个锁相环的开环传递函数</a:t>
            </a:r>
            <a:r>
              <a:rPr lang="zh-CN" altLang="en-US" sz="1800" dirty="0"/>
              <a:t>。</a:t>
            </a:r>
            <a:endParaRPr lang="zh-CN" altLang="zh-CN" sz="1800" dirty="0"/>
          </a:p>
        </p:txBody>
      </p:sp>
      <p:pic>
        <p:nvPicPr>
          <p:cNvPr id="6" name="图片 5"/>
          <p:cNvPicPr>
            <a:picLocks noChangeAspect="1"/>
          </p:cNvPicPr>
          <p:nvPr/>
        </p:nvPicPr>
        <p:blipFill>
          <a:blip r:embed="rId5"/>
          <a:stretch>
            <a:fillRect/>
          </a:stretch>
        </p:blipFill>
        <p:spPr>
          <a:xfrm>
            <a:off x="5584598" y="3120256"/>
            <a:ext cx="5617608" cy="3000821"/>
          </a:xfrm>
          <a:prstGeom prst="rect">
            <a:avLst/>
          </a:prstGeom>
        </p:spPr>
      </p:pic>
    </p:spTree>
    <p:extLst>
      <p:ext uri="{BB962C8B-B14F-4D97-AF65-F5344CB8AC3E}">
        <p14:creationId xmlns:p14="http://schemas.microsoft.com/office/powerpoint/2010/main" val="19961879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58</a:t>
            </a:fld>
            <a:endParaRPr lang="en-US" altLang="zh-CN">
              <a:solidFill>
                <a:srgbClr val="FFFFFF"/>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9254232"/>
              </p:ext>
            </p:extLst>
          </p:nvPr>
        </p:nvGraphicFramePr>
        <p:xfrm>
          <a:off x="8335856" y="4708771"/>
          <a:ext cx="1311914" cy="422481"/>
        </p:xfrm>
        <a:graphic>
          <a:graphicData uri="http://schemas.openxmlformats.org/presentationml/2006/ole">
            <mc:AlternateContent xmlns:mc="http://schemas.openxmlformats.org/markup-compatibility/2006">
              <mc:Choice xmlns:v="urn:schemas-microsoft-com:vml" Requires="v">
                <p:oleObj spid="_x0000_s18568" name="Equation" r:id="rId4" imgW="748975" imgH="241195" progId="Equation.DSMT4">
                  <p:embed/>
                </p:oleObj>
              </mc:Choice>
              <mc:Fallback>
                <p:oleObj name="Equation" r:id="rId4" imgW="748975" imgH="24119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5856" y="4708771"/>
                        <a:ext cx="1311914" cy="422481"/>
                      </a:xfrm>
                      <a:prstGeom prst="rect">
                        <a:avLst/>
                      </a:prstGeom>
                      <a:noFill/>
                    </p:spPr>
                  </p:pic>
                </p:oleObj>
              </mc:Fallback>
            </mc:AlternateContent>
          </a:graphicData>
        </a:graphic>
      </p:graphicFrame>
      <p:sp>
        <p:nvSpPr>
          <p:cNvPr id="8" name="Rectangle 4"/>
          <p:cNvSpPr>
            <a:spLocks noChangeArrowheads="1"/>
          </p:cNvSpPr>
          <p:nvPr/>
        </p:nvSpPr>
        <p:spPr bwMode="auto">
          <a:xfrm>
            <a:off x="399141" y="515953"/>
            <a:ext cx="11263086"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189">
              <a:lnSpc>
                <a:spcPct val="150000"/>
              </a:lnSpc>
            </a:pPr>
            <a:r>
              <a:rPr lang="zh-CN" altLang="en-US" sz="1800" dirty="0" smtClean="0">
                <a:latin typeface="Arial" charset="0"/>
              </a:rPr>
              <a:t>具体设计过程如下：</a:t>
            </a:r>
            <a:endParaRPr lang="en-US" altLang="zh-CN" sz="1800" dirty="0" smtClean="0">
              <a:latin typeface="Arial" charset="0"/>
            </a:endParaRPr>
          </a:p>
          <a:p>
            <a:pPr indent="457189">
              <a:lnSpc>
                <a:spcPct val="150000"/>
              </a:lnSpc>
            </a:pPr>
            <a:r>
              <a:rPr lang="en-US" altLang="zh-CN" sz="1800" dirty="0" smtClean="0">
                <a:latin typeface="Arial" charset="0"/>
              </a:rPr>
              <a:t>1</a:t>
            </a:r>
            <a:r>
              <a:rPr lang="zh-CN" altLang="en-US" sz="1800" dirty="0" smtClean="0">
                <a:latin typeface="Arial" charset="0"/>
              </a:rPr>
              <a:t>、锁相环的带宽（在开环频率特性中指定穿越频率</a:t>
            </a:r>
            <a:r>
              <a:rPr lang="en-US" altLang="zh-CN" sz="1800" i="1" dirty="0" err="1"/>
              <a:t>ω</a:t>
            </a:r>
            <a:r>
              <a:rPr lang="en-US" altLang="zh-CN" sz="1800" baseline="-25000" dirty="0" err="1"/>
              <a:t>T</a:t>
            </a:r>
            <a:r>
              <a:rPr lang="en-US" altLang="zh-CN" sz="1800" baseline="-25000" dirty="0"/>
              <a:t> </a:t>
            </a:r>
            <a:r>
              <a:rPr lang="zh-CN" altLang="en-US" sz="1800" dirty="0" smtClean="0">
                <a:latin typeface="Arial" charset="0"/>
              </a:rPr>
              <a:t>）</a:t>
            </a:r>
            <a:endParaRPr lang="en-US" altLang="zh-CN" sz="1800" dirty="0" smtClean="0">
              <a:latin typeface="Arial" charset="0"/>
            </a:endParaRPr>
          </a:p>
          <a:p>
            <a:pPr indent="457189">
              <a:lnSpc>
                <a:spcPct val="150000"/>
              </a:lnSpc>
            </a:pPr>
            <a:r>
              <a:rPr lang="zh-CN" altLang="zh-CN" sz="1800" dirty="0" smtClean="0">
                <a:latin typeface="Arial" charset="0"/>
              </a:rPr>
              <a:t>参考</a:t>
            </a:r>
            <a:r>
              <a:rPr lang="zh-CN" altLang="zh-CN" sz="1800" dirty="0">
                <a:latin typeface="Arial" charset="0"/>
              </a:rPr>
              <a:t>通道中的锁相环是一种载波跟踪环。降低载波跟踪环的闭环带宽可以有效降低输出相位抖动，但是闭环带宽太小会影响锁相环的锁定时间，所以实际的闭环带宽必须在相位抖动与锁定时间之间作折衷。</a:t>
            </a:r>
            <a:endParaRPr lang="en-US" altLang="zh-CN" sz="1800" dirty="0">
              <a:latin typeface="Arial" charset="0"/>
            </a:endParaRPr>
          </a:p>
          <a:p>
            <a:pPr indent="457189">
              <a:lnSpc>
                <a:spcPct val="150000"/>
              </a:lnSpc>
            </a:pPr>
            <a:r>
              <a:rPr lang="zh-CN" altLang="zh-CN" sz="1800" dirty="0">
                <a:latin typeface="Arial" charset="0"/>
              </a:rPr>
              <a:t>在大部分锁相环中锁相环的闭环带宽</a:t>
            </a:r>
            <a:r>
              <a:rPr lang="zh-CN" altLang="zh-CN" sz="1800" dirty="0" smtClean="0">
                <a:latin typeface="Arial" charset="0"/>
              </a:rPr>
              <a:t>与</a:t>
            </a:r>
            <a:r>
              <a:rPr lang="zh-CN" altLang="en-US" sz="1800" dirty="0" smtClean="0">
                <a:latin typeface="Arial" charset="0"/>
              </a:rPr>
              <a:t>其开环频率特性中</a:t>
            </a:r>
            <a:r>
              <a:rPr lang="zh-CN" altLang="zh-CN" sz="1800" dirty="0" smtClean="0">
                <a:latin typeface="Arial" charset="0"/>
              </a:rPr>
              <a:t>的</a:t>
            </a:r>
            <a:r>
              <a:rPr lang="zh-CN" altLang="zh-CN" sz="1800" dirty="0">
                <a:latin typeface="Arial" charset="0"/>
              </a:rPr>
              <a:t>穿越频率接近</a:t>
            </a:r>
            <a:r>
              <a:rPr lang="zh-CN" altLang="zh-CN" sz="1800" dirty="0" smtClean="0">
                <a:latin typeface="Arial" charset="0"/>
              </a:rPr>
              <a:t>，在</a:t>
            </a:r>
            <a:r>
              <a:rPr lang="zh-CN" altLang="zh-CN" sz="1800" dirty="0">
                <a:latin typeface="Arial" charset="0"/>
              </a:rPr>
              <a:t>按照</a:t>
            </a:r>
            <a:r>
              <a:rPr lang="zh-CN" altLang="en-US" sz="1800" dirty="0">
                <a:latin typeface="Arial" charset="0"/>
              </a:rPr>
              <a:t>开环特性设计环路滤波器时，可以取一个</a:t>
            </a:r>
            <a:r>
              <a:rPr lang="zh-CN" altLang="en-US" sz="1800" dirty="0" smtClean="0">
                <a:latin typeface="Arial" charset="0"/>
              </a:rPr>
              <a:t>比参考信号频率低</a:t>
            </a:r>
            <a:r>
              <a:rPr lang="zh-CN" altLang="en-US" sz="1800" dirty="0">
                <a:latin typeface="Arial" charset="0"/>
              </a:rPr>
              <a:t>若干倍的频率作为开环传递函数的穿越频率</a:t>
            </a:r>
            <a:r>
              <a:rPr lang="en-US" altLang="zh-CN" sz="1800" dirty="0" err="1" smtClean="0">
                <a:latin typeface="Arial" charset="0"/>
              </a:rPr>
              <a:t>ω</a:t>
            </a:r>
            <a:r>
              <a:rPr lang="en-US" altLang="zh-CN" sz="1800" baseline="-25000" dirty="0" err="1" smtClean="0">
                <a:latin typeface="Arial" charset="0"/>
              </a:rPr>
              <a:t>T</a:t>
            </a:r>
            <a:r>
              <a:rPr lang="zh-CN" altLang="en-US" sz="1800" dirty="0" smtClean="0">
                <a:latin typeface="Arial" charset="0"/>
              </a:rPr>
              <a:t>。例如在本设计</a:t>
            </a:r>
            <a:r>
              <a:rPr lang="zh-CN" altLang="en-US" sz="1800" dirty="0" smtClean="0">
                <a:latin typeface="Arial" charset="0"/>
              </a:rPr>
              <a:t>中令</a:t>
            </a:r>
            <a:r>
              <a:rPr lang="zh-CN" altLang="en-US" sz="1800" dirty="0">
                <a:latin typeface="Arial" charset="0"/>
              </a:rPr>
              <a:t>开环传递函数的</a:t>
            </a:r>
            <a:r>
              <a:rPr lang="zh-CN" altLang="en-US" sz="1800" dirty="0" smtClean="0">
                <a:latin typeface="Arial" charset="0"/>
              </a:rPr>
              <a:t>穿越频率等于</a:t>
            </a:r>
            <a:r>
              <a:rPr lang="zh-CN" altLang="en-US" sz="1800" dirty="0">
                <a:latin typeface="Arial" charset="0"/>
              </a:rPr>
              <a:t>参考</a:t>
            </a:r>
            <a:r>
              <a:rPr lang="zh-CN" altLang="en-US" sz="1800" dirty="0" smtClean="0">
                <a:latin typeface="Arial" charset="0"/>
              </a:rPr>
              <a:t>频率的</a:t>
            </a:r>
            <a:r>
              <a:rPr lang="en-US" altLang="zh-CN" sz="1800" dirty="0" smtClean="0">
                <a:latin typeface="Arial" charset="0"/>
              </a:rPr>
              <a:t>1/20</a:t>
            </a:r>
            <a:r>
              <a:rPr lang="zh-CN" altLang="en-US" sz="1800" dirty="0" smtClean="0">
                <a:latin typeface="Arial" charset="0"/>
              </a:rPr>
              <a:t>，则穿越角频率 </a:t>
            </a:r>
            <a:r>
              <a:rPr lang="en-US" altLang="zh-CN" sz="1800" i="1" dirty="0" err="1" smtClean="0">
                <a:latin typeface="+mn-lt"/>
              </a:rPr>
              <a:t>ω</a:t>
            </a:r>
            <a:r>
              <a:rPr lang="en-US" altLang="zh-CN" sz="1800" baseline="-25000" dirty="0" err="1" smtClean="0">
                <a:latin typeface="+mn-lt"/>
              </a:rPr>
              <a:t>T</a:t>
            </a:r>
            <a:r>
              <a:rPr lang="en-US" altLang="zh-CN" sz="1800" baseline="-25000" dirty="0" smtClean="0">
                <a:latin typeface="+mn-lt"/>
              </a:rPr>
              <a:t> </a:t>
            </a:r>
            <a:r>
              <a:rPr lang="en-US" altLang="zh-CN" sz="1800" dirty="0">
                <a:latin typeface="+mn-lt"/>
              </a:rPr>
              <a:t>= 0.05×2</a:t>
            </a:r>
            <a:r>
              <a:rPr lang="el-GR" altLang="zh-CN" sz="1800" dirty="0" smtClean="0">
                <a:latin typeface="+mn-lt"/>
              </a:rPr>
              <a:t>π</a:t>
            </a:r>
            <a:r>
              <a:rPr lang="en-US" altLang="zh-CN" sz="1800" dirty="0" smtClean="0">
                <a:latin typeface="+mn-lt"/>
              </a:rPr>
              <a:t>×4000=1256</a:t>
            </a:r>
            <a:r>
              <a:rPr lang="zh-CN" altLang="en-US" sz="1800" dirty="0" smtClean="0">
                <a:latin typeface="Arial" charset="0"/>
              </a:rPr>
              <a:t>。</a:t>
            </a:r>
            <a:endParaRPr lang="zh-CN" altLang="en-US" sz="1800" dirty="0">
              <a:latin typeface="Arial" charset="0"/>
            </a:endParaRPr>
          </a:p>
          <a:p>
            <a:pPr indent="457189">
              <a:lnSpc>
                <a:spcPct val="150000"/>
              </a:lnSpc>
            </a:pPr>
            <a:endParaRPr lang="en-US" altLang="zh-CN" sz="1800" dirty="0" smtClean="0">
              <a:latin typeface="Arial" charset="0"/>
            </a:endParaRPr>
          </a:p>
          <a:p>
            <a:pPr indent="457189">
              <a:lnSpc>
                <a:spcPct val="150000"/>
              </a:lnSpc>
            </a:pPr>
            <a:r>
              <a:rPr lang="en-US" altLang="zh-CN" sz="1800" dirty="0" smtClean="0">
                <a:latin typeface="Arial" charset="0"/>
              </a:rPr>
              <a:t>2</a:t>
            </a:r>
            <a:r>
              <a:rPr lang="zh-CN" altLang="en-US" sz="1800" dirty="0" smtClean="0">
                <a:latin typeface="Arial" charset="0"/>
              </a:rPr>
              <a:t>、锁相环的稳定性（在开环频率特性中指定穿越频率附近</a:t>
            </a:r>
            <a:r>
              <a:rPr lang="en-US" altLang="zh-CN" sz="1800" dirty="0" smtClean="0">
                <a:latin typeface="Arial" charset="0"/>
              </a:rPr>
              <a:t>-20dB/</a:t>
            </a:r>
            <a:r>
              <a:rPr lang="en-US" altLang="zh-CN" sz="1800" dirty="0" err="1" smtClean="0">
                <a:latin typeface="Arial" charset="0"/>
              </a:rPr>
              <a:t>dec</a:t>
            </a:r>
            <a:r>
              <a:rPr lang="zh-CN" altLang="en-US" sz="1800" dirty="0" smtClean="0">
                <a:latin typeface="Arial" charset="0"/>
              </a:rPr>
              <a:t>斜率的宽度，</a:t>
            </a:r>
            <a:r>
              <a:rPr lang="en-US" altLang="zh-CN" sz="1800" dirty="0">
                <a:latin typeface="Arial" charset="0"/>
              </a:rPr>
              <a:t> </a:t>
            </a:r>
            <a:r>
              <a:rPr lang="zh-CN" altLang="en-US" sz="1800" dirty="0" smtClean="0">
                <a:latin typeface="Arial" charset="0"/>
              </a:rPr>
              <a:t>即</a:t>
            </a:r>
            <a:r>
              <a:rPr lang="en-US" altLang="zh-CN" sz="1800" dirty="0" smtClean="0">
                <a:latin typeface="Arial" charset="0"/>
              </a:rPr>
              <a:t>ω</a:t>
            </a:r>
            <a:r>
              <a:rPr lang="en-US" altLang="zh-CN" sz="1800" baseline="-25000" dirty="0" smtClean="0">
                <a:latin typeface="Arial" charset="0"/>
              </a:rPr>
              <a:t>2</a:t>
            </a:r>
            <a:r>
              <a:rPr lang="zh-CN" altLang="en-US" sz="1800" dirty="0">
                <a:latin typeface="Arial" charset="0"/>
              </a:rPr>
              <a:t>与</a:t>
            </a:r>
            <a:r>
              <a:rPr lang="en-US" altLang="zh-CN" sz="1800" dirty="0" smtClean="0">
                <a:latin typeface="Arial" charset="0"/>
              </a:rPr>
              <a:t>ω</a:t>
            </a:r>
            <a:r>
              <a:rPr lang="en-US" altLang="zh-CN" sz="1800" baseline="-25000" dirty="0" smtClean="0">
                <a:latin typeface="Arial" charset="0"/>
              </a:rPr>
              <a:t>3 </a:t>
            </a:r>
            <a:r>
              <a:rPr lang="zh-CN" altLang="en-US" sz="1800" dirty="0" smtClean="0">
                <a:latin typeface="Arial" charset="0"/>
              </a:rPr>
              <a:t>）</a:t>
            </a:r>
            <a:endParaRPr lang="en-US" altLang="zh-CN" sz="1800" dirty="0" smtClean="0">
              <a:latin typeface="Arial" charset="0"/>
            </a:endParaRPr>
          </a:p>
          <a:p>
            <a:pPr indent="457189">
              <a:lnSpc>
                <a:spcPct val="150000"/>
              </a:lnSpc>
            </a:pPr>
            <a:r>
              <a:rPr lang="zh-CN" altLang="en-US" sz="1800" dirty="0" smtClean="0">
                <a:latin typeface="Arial" charset="0"/>
              </a:rPr>
              <a:t>根据</a:t>
            </a:r>
            <a:r>
              <a:rPr lang="zh-CN" altLang="en-US" sz="1800" dirty="0">
                <a:latin typeface="Arial" charset="0"/>
              </a:rPr>
              <a:t>自控理论，为了获得足够的稳定性，开环传递函数中</a:t>
            </a:r>
            <a:r>
              <a:rPr lang="en-US" altLang="zh-CN" sz="1800" dirty="0">
                <a:latin typeface="Arial" charset="0"/>
              </a:rPr>
              <a:t>ω</a:t>
            </a:r>
            <a:r>
              <a:rPr lang="en-US" altLang="zh-CN" sz="1800" baseline="-25000" dirty="0">
                <a:latin typeface="Arial" charset="0"/>
              </a:rPr>
              <a:t>3</a:t>
            </a:r>
            <a:r>
              <a:rPr lang="en-US" altLang="zh-CN" sz="1800" dirty="0">
                <a:latin typeface="Arial" charset="0"/>
              </a:rPr>
              <a:t>/ω</a:t>
            </a:r>
            <a:r>
              <a:rPr lang="en-US" altLang="zh-CN" sz="1800" baseline="-25000" dirty="0">
                <a:latin typeface="Arial" charset="0"/>
              </a:rPr>
              <a:t>2</a:t>
            </a:r>
            <a:r>
              <a:rPr lang="zh-CN" altLang="en-US" sz="1800" dirty="0">
                <a:latin typeface="Arial" charset="0"/>
              </a:rPr>
              <a:t>应该在</a:t>
            </a:r>
            <a:r>
              <a:rPr lang="en-US" altLang="zh-CN" sz="1800" dirty="0">
                <a:latin typeface="Arial" charset="0"/>
              </a:rPr>
              <a:t>4~10</a:t>
            </a:r>
            <a:r>
              <a:rPr lang="zh-CN" altLang="en-US" sz="1800" dirty="0">
                <a:latin typeface="Arial" charset="0"/>
              </a:rPr>
              <a:t>之间，此值越大锁相环的稳定性越好但响应越</a:t>
            </a:r>
            <a:r>
              <a:rPr lang="zh-CN" altLang="en-US" sz="1800" dirty="0" smtClean="0">
                <a:latin typeface="Arial" charset="0"/>
              </a:rPr>
              <a:t>慢。且应该将这两个零极点几何对称分布在穿越频率两侧，即                     。</a:t>
            </a:r>
            <a:endParaRPr lang="en-US" altLang="zh-CN" sz="1800" dirty="0" smtClean="0">
              <a:latin typeface="Arial" charset="0"/>
            </a:endParaRPr>
          </a:p>
          <a:p>
            <a:pPr indent="457189">
              <a:lnSpc>
                <a:spcPct val="150000"/>
              </a:lnSpc>
            </a:pPr>
            <a:r>
              <a:rPr lang="zh-CN" altLang="en-US" sz="1800" dirty="0" smtClean="0">
                <a:latin typeface="Arial" charset="0"/>
              </a:rPr>
              <a:t>设计者</a:t>
            </a:r>
            <a:r>
              <a:rPr lang="zh-CN" altLang="en-US" sz="1800" dirty="0">
                <a:latin typeface="Arial" charset="0"/>
              </a:rPr>
              <a:t>可以</a:t>
            </a:r>
            <a:r>
              <a:rPr lang="zh-CN" altLang="en-US" sz="1800" dirty="0" smtClean="0">
                <a:latin typeface="Arial" charset="0"/>
              </a:rPr>
              <a:t>根据这些关系指定</a:t>
            </a:r>
            <a:r>
              <a:rPr lang="en-US" altLang="zh-CN" sz="1800" dirty="0">
                <a:latin typeface="Arial" charset="0"/>
              </a:rPr>
              <a:t>ω</a:t>
            </a:r>
            <a:r>
              <a:rPr lang="en-US" altLang="zh-CN" sz="1800" baseline="-25000" dirty="0">
                <a:latin typeface="Arial" charset="0"/>
              </a:rPr>
              <a:t>3</a:t>
            </a:r>
            <a:r>
              <a:rPr lang="en-US" altLang="zh-CN" sz="1800" dirty="0">
                <a:latin typeface="Arial" charset="0"/>
              </a:rPr>
              <a:t>/ω</a:t>
            </a:r>
            <a:r>
              <a:rPr lang="en-US" altLang="zh-CN" sz="1800" baseline="-25000" dirty="0">
                <a:latin typeface="Arial" charset="0"/>
              </a:rPr>
              <a:t>2 </a:t>
            </a:r>
            <a:r>
              <a:rPr lang="zh-CN" altLang="en-US" sz="1800" dirty="0" smtClean="0">
                <a:latin typeface="Arial" charset="0"/>
              </a:rPr>
              <a:t>，并计算这两个频率。例如在这里指定</a:t>
            </a:r>
            <a:r>
              <a:rPr lang="en-US" altLang="zh-CN" sz="1800" dirty="0" smtClean="0">
                <a:latin typeface="Arial" charset="0"/>
              </a:rPr>
              <a:t>ω</a:t>
            </a:r>
            <a:r>
              <a:rPr lang="en-US" altLang="zh-CN" sz="1800" baseline="-25000" dirty="0" smtClean="0">
                <a:latin typeface="Arial" charset="0"/>
              </a:rPr>
              <a:t>3</a:t>
            </a:r>
            <a:r>
              <a:rPr lang="en-US" altLang="zh-CN" sz="1800" dirty="0" smtClean="0">
                <a:latin typeface="Arial" charset="0"/>
              </a:rPr>
              <a:t>/ω</a:t>
            </a:r>
            <a:r>
              <a:rPr lang="en-US" altLang="zh-CN" sz="1800" baseline="-25000" dirty="0" smtClean="0">
                <a:latin typeface="Arial" charset="0"/>
              </a:rPr>
              <a:t>2 </a:t>
            </a:r>
            <a:r>
              <a:rPr lang="en-US" altLang="zh-CN" sz="1800" dirty="0">
                <a:latin typeface="Arial" charset="0"/>
              </a:rPr>
              <a:t>=</a:t>
            </a:r>
            <a:r>
              <a:rPr lang="en-US" altLang="zh-CN" sz="1800" dirty="0" smtClean="0">
                <a:latin typeface="Arial" charset="0"/>
              </a:rPr>
              <a:t>4</a:t>
            </a:r>
            <a:r>
              <a:rPr lang="zh-CN" altLang="en-US" sz="1800" dirty="0" smtClean="0">
                <a:latin typeface="Arial" charset="0"/>
              </a:rPr>
              <a:t>，则可得</a:t>
            </a:r>
            <a:r>
              <a:rPr lang="en-US" altLang="zh-CN" sz="1800" dirty="0" smtClean="0">
                <a:latin typeface="Arial" charset="0"/>
              </a:rPr>
              <a:t>ω</a:t>
            </a:r>
            <a:r>
              <a:rPr lang="en-US" altLang="zh-CN" sz="1800" baseline="-25000" dirty="0" smtClean="0">
                <a:latin typeface="Arial" charset="0"/>
              </a:rPr>
              <a:t>2</a:t>
            </a:r>
            <a:r>
              <a:rPr lang="en-US" altLang="zh-CN" sz="1800" dirty="0" smtClean="0">
                <a:latin typeface="Arial" charset="0"/>
              </a:rPr>
              <a:t>=628</a:t>
            </a:r>
            <a:r>
              <a:rPr lang="zh-CN" altLang="en-US" sz="1800" dirty="0" smtClean="0">
                <a:latin typeface="Arial" charset="0"/>
              </a:rPr>
              <a:t>，</a:t>
            </a:r>
            <a:r>
              <a:rPr lang="en-US" altLang="zh-CN" sz="1800" dirty="0" smtClean="0">
                <a:latin typeface="Arial" charset="0"/>
              </a:rPr>
              <a:t>ω</a:t>
            </a:r>
            <a:r>
              <a:rPr lang="en-US" altLang="zh-CN" sz="1800" baseline="-25000" dirty="0" smtClean="0">
                <a:latin typeface="Arial" charset="0"/>
              </a:rPr>
              <a:t>3</a:t>
            </a:r>
            <a:r>
              <a:rPr lang="en-US" altLang="zh-CN" sz="1800" dirty="0" smtClean="0">
                <a:latin typeface="Arial" charset="0"/>
              </a:rPr>
              <a:t>=2512</a:t>
            </a:r>
            <a:r>
              <a:rPr lang="zh-CN" altLang="en-US" sz="1800" dirty="0" smtClean="0">
                <a:latin typeface="Arial" charset="0"/>
              </a:rPr>
              <a:t>。</a:t>
            </a:r>
            <a:endParaRPr lang="zh-CN" altLang="en-US" sz="1800" dirty="0">
              <a:latin typeface="Arial" charset="0"/>
            </a:endParaRPr>
          </a:p>
        </p:txBody>
      </p:sp>
    </p:spTree>
    <p:extLst>
      <p:ext uri="{BB962C8B-B14F-4D97-AF65-F5344CB8AC3E}">
        <p14:creationId xmlns:p14="http://schemas.microsoft.com/office/powerpoint/2010/main" val="41062389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sp>
        <p:nvSpPr>
          <p:cNvPr id="5" name="矩形 4"/>
          <p:cNvSpPr/>
          <p:nvPr/>
        </p:nvSpPr>
        <p:spPr>
          <a:xfrm>
            <a:off x="624417" y="581304"/>
            <a:ext cx="11023297" cy="5186035"/>
          </a:xfrm>
          <a:prstGeom prst="rect">
            <a:avLst/>
          </a:prstGeom>
        </p:spPr>
        <p:txBody>
          <a:bodyPr wrap="square">
            <a:spAutoFit/>
          </a:bodyPr>
          <a:lstStyle/>
          <a:p>
            <a:pPr indent="457189">
              <a:lnSpc>
                <a:spcPct val="150000"/>
              </a:lnSpc>
            </a:pPr>
            <a:r>
              <a:rPr lang="en-US" altLang="zh-CN" sz="1800" dirty="0"/>
              <a:t>3</a:t>
            </a:r>
            <a:r>
              <a:rPr lang="zh-CN" altLang="en-US" sz="1800" dirty="0" smtClean="0"/>
              <a:t>、计算</a:t>
            </a:r>
            <a:r>
              <a:rPr lang="en-US" altLang="zh-CN" sz="1800" dirty="0" smtClean="0"/>
              <a:t>ω</a:t>
            </a:r>
            <a:r>
              <a:rPr lang="en-US" altLang="zh-CN" sz="1800" baseline="-25000" dirty="0" smtClean="0"/>
              <a:t>1</a:t>
            </a:r>
            <a:endParaRPr lang="en-US" altLang="zh-CN" sz="1800" dirty="0" smtClean="0"/>
          </a:p>
          <a:p>
            <a:pPr indent="457189">
              <a:lnSpc>
                <a:spcPct val="150000"/>
              </a:lnSpc>
            </a:pPr>
            <a:r>
              <a:rPr lang="zh-CN" altLang="en-US" sz="1800" dirty="0"/>
              <a:t>根据上述波德</a:t>
            </a:r>
            <a:r>
              <a:rPr lang="zh-CN" altLang="en-US" sz="1800" dirty="0" smtClean="0"/>
              <a:t>图，开环增益</a:t>
            </a:r>
            <a:r>
              <a:rPr lang="en-US" altLang="zh-CN" sz="1800" i="1" dirty="0" err="1"/>
              <a:t>K</a:t>
            </a:r>
            <a:r>
              <a:rPr lang="en-US" altLang="zh-CN" sz="1800" i="1" baseline="-25000" dirty="0" err="1"/>
              <a:t>d</a:t>
            </a:r>
            <a:r>
              <a:rPr lang="en-US" altLang="zh-CN" sz="1800" i="1" dirty="0" err="1"/>
              <a:t>K</a:t>
            </a:r>
            <a:r>
              <a:rPr lang="en-US" altLang="zh-CN" sz="1800" i="1" baseline="-25000" dirty="0" err="1"/>
              <a:t>o</a:t>
            </a:r>
            <a:r>
              <a:rPr lang="en-US" altLang="zh-CN" sz="1800" i="1" dirty="0"/>
              <a:t>/N</a:t>
            </a:r>
            <a:r>
              <a:rPr lang="zh-CN" altLang="en-US" sz="1800" dirty="0"/>
              <a:t>应该远大</a:t>
            </a:r>
            <a:r>
              <a:rPr lang="zh-CN" altLang="en-US" sz="1800" dirty="0" smtClean="0"/>
              <a:t>于穿越频率。但在本题中</a:t>
            </a:r>
            <a:r>
              <a:rPr lang="zh-CN" altLang="en-US" sz="1800" dirty="0"/>
              <a:t>穿越角频率为</a:t>
            </a:r>
            <a:r>
              <a:rPr lang="en-US" altLang="zh-CN" sz="1800" dirty="0"/>
              <a:t>1256</a:t>
            </a:r>
            <a:r>
              <a:rPr lang="zh-CN" altLang="en-US" sz="1800" dirty="0" smtClean="0"/>
              <a:t>，而由于参考频率很低（</a:t>
            </a:r>
            <a:r>
              <a:rPr lang="en-US" altLang="zh-CN" sz="1800" dirty="0" smtClean="0"/>
              <a:t>1000Hz</a:t>
            </a:r>
            <a:r>
              <a:rPr lang="zh-CN" altLang="en-US" sz="1800" dirty="0" smtClean="0"/>
              <a:t>）导致</a:t>
            </a:r>
            <a:r>
              <a:rPr lang="en-US" altLang="zh-CN" sz="1800" dirty="0" smtClean="0"/>
              <a:t>VCO</a:t>
            </a:r>
            <a:r>
              <a:rPr lang="zh-CN" altLang="en-US" sz="1800" dirty="0" smtClean="0"/>
              <a:t>压控增益不高（</a:t>
            </a:r>
            <a:r>
              <a:rPr lang="en-US" altLang="zh-CN" sz="1800" dirty="0"/>
              <a:t> </a:t>
            </a:r>
            <a:r>
              <a:rPr lang="en-US" altLang="zh-CN" sz="1800" dirty="0" err="1"/>
              <a:t>K</a:t>
            </a:r>
            <a:r>
              <a:rPr lang="en-US" altLang="zh-CN" sz="1800" baseline="-25000" dirty="0" err="1"/>
              <a:t>o</a:t>
            </a:r>
            <a:r>
              <a:rPr lang="en-US" altLang="zh-CN" sz="1800" dirty="0"/>
              <a:t>=2</a:t>
            </a:r>
            <a:r>
              <a:rPr lang="el-GR" altLang="zh-CN" sz="1800" dirty="0"/>
              <a:t>π</a:t>
            </a:r>
            <a:r>
              <a:rPr lang="zh-CN" altLang="en-US" sz="1800" dirty="0"/>
              <a:t>*</a:t>
            </a:r>
            <a:r>
              <a:rPr lang="el-GR" altLang="zh-CN" sz="1800" dirty="0"/>
              <a:t>Δ</a:t>
            </a:r>
            <a:r>
              <a:rPr lang="en-US" altLang="zh-CN" sz="1800" dirty="0"/>
              <a:t>f/</a:t>
            </a:r>
            <a:r>
              <a:rPr lang="el-GR" altLang="zh-CN" sz="1800" dirty="0"/>
              <a:t> Δ</a:t>
            </a:r>
            <a:r>
              <a:rPr lang="en-US" altLang="zh-CN" sz="1800" dirty="0"/>
              <a:t>V</a:t>
            </a:r>
            <a:r>
              <a:rPr lang="en-US" altLang="zh-CN" sz="1800" baseline="-25000" dirty="0"/>
              <a:t>C</a:t>
            </a:r>
            <a:r>
              <a:rPr lang="el-GR" altLang="zh-CN" sz="1800" dirty="0"/>
              <a:t> </a:t>
            </a:r>
            <a:r>
              <a:rPr lang="en-US" altLang="zh-CN" sz="1800" dirty="0" smtClean="0"/>
              <a:t>=6280 </a:t>
            </a:r>
            <a:r>
              <a:rPr lang="zh-CN" altLang="en-US" sz="1800" dirty="0" smtClean="0"/>
              <a:t>），所以开环增益</a:t>
            </a:r>
            <a:r>
              <a:rPr lang="en-US" altLang="zh-CN" sz="1800" i="1" dirty="0" err="1" smtClean="0"/>
              <a:t>K</a:t>
            </a:r>
            <a:r>
              <a:rPr lang="en-US" altLang="zh-CN" sz="1800" i="1" baseline="-25000" dirty="0" err="1" smtClean="0"/>
              <a:t>d</a:t>
            </a:r>
            <a:r>
              <a:rPr lang="en-US" altLang="zh-CN" sz="1800" i="1" dirty="0" err="1" smtClean="0"/>
              <a:t>K</a:t>
            </a:r>
            <a:r>
              <a:rPr lang="en-US" altLang="zh-CN" sz="1800" i="1" baseline="-25000" dirty="0" err="1" smtClean="0"/>
              <a:t>o</a:t>
            </a:r>
            <a:r>
              <a:rPr lang="en-US" altLang="zh-CN" sz="1800" i="1" dirty="0" smtClean="0"/>
              <a:t>/N</a:t>
            </a:r>
            <a:r>
              <a:rPr lang="en-US" altLang="zh-CN" sz="1800" dirty="0" smtClean="0"/>
              <a:t>=749</a:t>
            </a:r>
            <a:r>
              <a:rPr lang="zh-CN" altLang="en-US" sz="1800" dirty="0" smtClean="0"/>
              <a:t>。该值非但没有远大于穿越频率反而小于穿越频率，这将导致设计无法继续。</a:t>
            </a:r>
            <a:endParaRPr lang="en-US" altLang="zh-CN" sz="1800" dirty="0" smtClean="0"/>
          </a:p>
          <a:p>
            <a:pPr indent="457189">
              <a:lnSpc>
                <a:spcPct val="150000"/>
              </a:lnSpc>
            </a:pPr>
            <a:r>
              <a:rPr lang="zh-CN" altLang="en-US" sz="1800" dirty="0" smtClean="0"/>
              <a:t>为此在</a:t>
            </a:r>
            <a:r>
              <a:rPr lang="zh-CN" altLang="en-US" sz="1800" dirty="0"/>
              <a:t>电路中设置了放大器</a:t>
            </a:r>
            <a:r>
              <a:rPr lang="en-US" altLang="zh-CN" sz="1800" dirty="0"/>
              <a:t>U3</a:t>
            </a:r>
            <a:r>
              <a:rPr lang="zh-CN" altLang="en-US" sz="1800" dirty="0"/>
              <a:t>，其放大倍数为</a:t>
            </a:r>
            <a:r>
              <a:rPr lang="en-US" altLang="zh-CN" sz="1800" dirty="0"/>
              <a:t>R4/R3</a:t>
            </a:r>
            <a:r>
              <a:rPr lang="zh-CN" altLang="en-US" sz="1800" dirty="0"/>
              <a:t>，此时的</a:t>
            </a:r>
            <a:r>
              <a:rPr lang="en-US" altLang="zh-CN" sz="1800" dirty="0" err="1"/>
              <a:t>K</a:t>
            </a:r>
            <a:r>
              <a:rPr lang="en-US" altLang="zh-CN" sz="1800" baseline="-25000" dirty="0" err="1"/>
              <a:t>o</a:t>
            </a:r>
            <a:r>
              <a:rPr lang="en-US" altLang="zh-CN" sz="1800" dirty="0"/>
              <a:t>=6280×(R4/R3)</a:t>
            </a:r>
            <a:r>
              <a:rPr lang="zh-CN" altLang="en-US" sz="1800" dirty="0"/>
              <a:t> </a:t>
            </a:r>
            <a:r>
              <a:rPr lang="zh-CN" altLang="en-US" sz="1800" dirty="0" smtClean="0"/>
              <a:t>。取</a:t>
            </a:r>
            <a:r>
              <a:rPr lang="en-US" altLang="zh-CN" sz="1800" dirty="0" smtClean="0"/>
              <a:t>R4/R3=20</a:t>
            </a:r>
            <a:r>
              <a:rPr lang="zh-CN" altLang="en-US" sz="1800" dirty="0" smtClean="0"/>
              <a:t>，则此时</a:t>
            </a:r>
            <a:r>
              <a:rPr lang="zh-CN" altLang="en-US" sz="1800" dirty="0"/>
              <a:t>的压控</a:t>
            </a:r>
            <a:r>
              <a:rPr lang="zh-CN" altLang="en-US" sz="1800" dirty="0" smtClean="0"/>
              <a:t>增益</a:t>
            </a:r>
            <a:r>
              <a:rPr lang="en-US" altLang="zh-CN" sz="1800" dirty="0" err="1" smtClean="0"/>
              <a:t>K</a:t>
            </a:r>
            <a:r>
              <a:rPr lang="en-US" altLang="zh-CN" sz="1800" baseline="-25000" dirty="0" err="1" smtClean="0"/>
              <a:t>o</a:t>
            </a:r>
            <a:r>
              <a:rPr lang="en-US" altLang="zh-CN" sz="1800" dirty="0" smtClean="0"/>
              <a:t>=125600</a:t>
            </a:r>
            <a:r>
              <a:rPr lang="zh-CN" altLang="en-US" sz="1800" dirty="0" smtClean="0"/>
              <a:t>，</a:t>
            </a:r>
            <a:r>
              <a:rPr lang="en-US" altLang="zh-CN" sz="1800" i="1" dirty="0"/>
              <a:t> </a:t>
            </a:r>
            <a:r>
              <a:rPr lang="en-US" altLang="zh-CN" sz="1800" i="1" dirty="0" err="1" smtClean="0"/>
              <a:t>K</a:t>
            </a:r>
            <a:r>
              <a:rPr lang="en-US" altLang="zh-CN" sz="1800" i="1" baseline="-25000" dirty="0" err="1" smtClean="0"/>
              <a:t>d</a:t>
            </a:r>
            <a:r>
              <a:rPr lang="en-US" altLang="zh-CN" sz="1800" i="1" dirty="0" err="1" smtClean="0"/>
              <a:t>K</a:t>
            </a:r>
            <a:r>
              <a:rPr lang="en-US" altLang="zh-CN" sz="1800" i="1" baseline="-25000" dirty="0" err="1" smtClean="0"/>
              <a:t>o</a:t>
            </a:r>
            <a:r>
              <a:rPr lang="en-US" altLang="zh-CN" sz="1800" i="1" dirty="0" smtClean="0"/>
              <a:t>/N</a:t>
            </a:r>
            <a:r>
              <a:rPr lang="en-US" altLang="zh-CN" sz="1800" dirty="0" smtClean="0"/>
              <a:t>=0.477×125600/4=14978&gt;&gt;1256</a:t>
            </a:r>
            <a:r>
              <a:rPr lang="zh-CN" altLang="en-US" sz="1800" dirty="0" smtClean="0"/>
              <a:t>。</a:t>
            </a:r>
            <a:endParaRPr lang="en-US" altLang="zh-CN" sz="1800" dirty="0" smtClean="0"/>
          </a:p>
          <a:p>
            <a:pPr indent="457189">
              <a:lnSpc>
                <a:spcPct val="150000"/>
              </a:lnSpc>
              <a:spcBef>
                <a:spcPts val="1800"/>
              </a:spcBef>
              <a:spcAft>
                <a:spcPts val="1800"/>
              </a:spcAft>
            </a:pPr>
            <a:r>
              <a:rPr lang="zh-CN" altLang="en-US" sz="1800" dirty="0" smtClean="0"/>
              <a:t>在满足开环增益</a:t>
            </a:r>
            <a:r>
              <a:rPr lang="en-US" altLang="zh-CN" sz="1800" i="1" dirty="0" err="1" smtClean="0"/>
              <a:t>K</a:t>
            </a:r>
            <a:r>
              <a:rPr lang="en-US" altLang="zh-CN" sz="1800" i="1" baseline="-25000" dirty="0" err="1" smtClean="0"/>
              <a:t>d</a:t>
            </a:r>
            <a:r>
              <a:rPr lang="en-US" altLang="zh-CN" sz="1800" i="1" dirty="0" err="1" smtClean="0"/>
              <a:t>K</a:t>
            </a:r>
            <a:r>
              <a:rPr lang="en-US" altLang="zh-CN" sz="1800" i="1" baseline="-25000" dirty="0" err="1" smtClean="0"/>
              <a:t>o</a:t>
            </a:r>
            <a:r>
              <a:rPr lang="en-US" altLang="zh-CN" sz="1800" i="1" dirty="0" smtClean="0"/>
              <a:t>/N</a:t>
            </a:r>
            <a:r>
              <a:rPr lang="zh-CN" altLang="en-US" sz="1800" dirty="0" smtClean="0"/>
              <a:t>远大</a:t>
            </a:r>
            <a:r>
              <a:rPr lang="zh-CN" altLang="en-US" sz="1800" dirty="0"/>
              <a:t>于</a:t>
            </a:r>
            <a:r>
              <a:rPr lang="zh-CN" altLang="en-US" sz="1800" dirty="0" smtClean="0"/>
              <a:t>穿越频率的条件下，有</a:t>
            </a:r>
            <a:r>
              <a:rPr lang="zh-CN" altLang="en-US" sz="1800" dirty="0"/>
              <a:t>以下关系：                       </a:t>
            </a:r>
            <a:endParaRPr lang="en-US" altLang="zh-CN" sz="1800" dirty="0" smtClean="0"/>
          </a:p>
          <a:p>
            <a:pPr indent="457189">
              <a:lnSpc>
                <a:spcPct val="150000"/>
              </a:lnSpc>
            </a:pPr>
            <a:r>
              <a:rPr lang="zh-CN" altLang="en-US" sz="1800" dirty="0" smtClean="0"/>
              <a:t>将前面的全部已知值代入，可</a:t>
            </a:r>
            <a:r>
              <a:rPr lang="zh-CN" altLang="en-US" sz="1800" dirty="0"/>
              <a:t>得</a:t>
            </a:r>
            <a:r>
              <a:rPr lang="en-US" altLang="zh-CN" sz="1800" dirty="0" smtClean="0"/>
              <a:t>ω</a:t>
            </a:r>
            <a:r>
              <a:rPr lang="en-US" altLang="zh-CN" sz="1800" baseline="-25000" dirty="0" smtClean="0"/>
              <a:t>1</a:t>
            </a:r>
            <a:r>
              <a:rPr lang="en-US" altLang="zh-CN" sz="1800" dirty="0" smtClean="0"/>
              <a:t>=53</a:t>
            </a:r>
            <a:r>
              <a:rPr lang="zh-CN" altLang="en-US" sz="1800" dirty="0"/>
              <a:t>。</a:t>
            </a:r>
            <a:endParaRPr lang="en-US" altLang="zh-CN" sz="1800" dirty="0"/>
          </a:p>
          <a:p>
            <a:pPr indent="457189">
              <a:lnSpc>
                <a:spcPct val="200000"/>
              </a:lnSpc>
            </a:pPr>
            <a:endParaRPr lang="en-US" altLang="zh-CN" sz="1100" dirty="0" smtClean="0"/>
          </a:p>
          <a:p>
            <a:pPr indent="457189">
              <a:lnSpc>
                <a:spcPct val="200000"/>
              </a:lnSpc>
            </a:pPr>
            <a:r>
              <a:rPr lang="en-US" altLang="zh-CN" sz="1800" dirty="0" smtClean="0"/>
              <a:t>4</a:t>
            </a:r>
            <a:r>
              <a:rPr lang="zh-CN" altLang="en-US" sz="1800" dirty="0" smtClean="0"/>
              <a:t>、确定</a:t>
            </a:r>
            <a:r>
              <a:rPr lang="zh-CN" altLang="en-US" sz="1800" dirty="0"/>
              <a:t>了环路滤波器的三个零极点频率，就可以</a:t>
            </a:r>
            <a:r>
              <a:rPr lang="zh-CN" altLang="en-US" sz="1800" dirty="0" smtClean="0"/>
              <a:t>根据前面提供的公式</a:t>
            </a:r>
            <a:r>
              <a:rPr lang="zh-CN" altLang="en-US" sz="1800" dirty="0"/>
              <a:t>计算环路滤波器电路的元件参数。</a:t>
            </a:r>
            <a:endParaRPr lang="en-US" altLang="zh-CN" sz="1800" dirty="0"/>
          </a:p>
          <a:p>
            <a:pPr indent="457189">
              <a:lnSpc>
                <a:spcPct val="150000"/>
              </a:lnSpc>
            </a:pPr>
            <a:endParaRPr lang="zh-CN"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2219157478"/>
              </p:ext>
            </p:extLst>
          </p:nvPr>
        </p:nvGraphicFramePr>
        <p:xfrm>
          <a:off x="7536245" y="3174322"/>
          <a:ext cx="1524000" cy="715962"/>
        </p:xfrm>
        <a:graphic>
          <a:graphicData uri="http://schemas.openxmlformats.org/presentationml/2006/ole">
            <mc:AlternateContent xmlns:mc="http://schemas.openxmlformats.org/markup-compatibility/2006">
              <mc:Choice xmlns:v="urn:schemas-microsoft-com:vml" Requires="v">
                <p:oleObj spid="_x0000_s31766" name="Equation" r:id="rId3" imgW="850680" imgH="406080" progId="Equation.DSMT4">
                  <p:embed/>
                </p:oleObj>
              </mc:Choice>
              <mc:Fallback>
                <p:oleObj name="Equation" r:id="rId3" imgW="850680" imgH="406080" progId="Equation.DSMT4">
                  <p:embed/>
                  <p:pic>
                    <p:nvPicPr>
                      <p:cNvPr id="6" name="对象 5"/>
                      <p:cNvPicPr>
                        <a:picLocks noChangeAspect="1" noChangeArrowheads="1"/>
                      </p:cNvPicPr>
                      <p:nvPr/>
                    </p:nvPicPr>
                    <p:blipFill>
                      <a:blip r:embed="rId4"/>
                      <a:srcRect/>
                      <a:stretch>
                        <a:fillRect/>
                      </a:stretch>
                    </p:blipFill>
                    <p:spPr bwMode="auto">
                      <a:xfrm>
                        <a:off x="7536245" y="3174322"/>
                        <a:ext cx="1524000" cy="715962"/>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387244053"/>
              </p:ext>
            </p:extLst>
          </p:nvPr>
        </p:nvGraphicFramePr>
        <p:xfrm>
          <a:off x="3863068" y="5331732"/>
          <a:ext cx="4225925" cy="693738"/>
        </p:xfrm>
        <a:graphic>
          <a:graphicData uri="http://schemas.openxmlformats.org/presentationml/2006/ole">
            <mc:AlternateContent xmlns:mc="http://schemas.openxmlformats.org/markup-compatibility/2006">
              <mc:Choice xmlns:v="urn:schemas-microsoft-com:vml" Requires="v">
                <p:oleObj spid="_x0000_s31767" name="Equation" r:id="rId5" imgW="2349360" imgH="380880" progId="Equation.DSMT4">
                  <p:embed/>
                </p:oleObj>
              </mc:Choice>
              <mc:Fallback>
                <p:oleObj name="Equation" r:id="rId5" imgW="2349360" imgH="380880" progId="Equation.DSMT4">
                  <p:embed/>
                  <p:pic>
                    <p:nvPicPr>
                      <p:cNvPr id="7" name="对象 6"/>
                      <p:cNvPicPr>
                        <a:picLocks noChangeAspect="1" noChangeArrowheads="1"/>
                      </p:cNvPicPr>
                      <p:nvPr/>
                    </p:nvPicPr>
                    <p:blipFill>
                      <a:blip r:embed="rId6"/>
                      <a:srcRect/>
                      <a:stretch>
                        <a:fillRect/>
                      </a:stretch>
                    </p:blipFill>
                    <p:spPr bwMode="auto">
                      <a:xfrm>
                        <a:off x="3863068" y="5331732"/>
                        <a:ext cx="4225925" cy="693738"/>
                      </a:xfrm>
                      <a:prstGeom prst="rect">
                        <a:avLst/>
                      </a:prstGeom>
                      <a:noFill/>
                    </p:spPr>
                  </p:pic>
                </p:oleObj>
              </mc:Fallback>
            </mc:AlternateContent>
          </a:graphicData>
        </a:graphic>
      </p:graphicFrame>
    </p:spTree>
    <p:extLst>
      <p:ext uri="{BB962C8B-B14F-4D97-AF65-F5344CB8AC3E}">
        <p14:creationId xmlns:p14="http://schemas.microsoft.com/office/powerpoint/2010/main" val="28223508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60</a:t>
            </a:fld>
            <a:endParaRPr lang="en-US" altLang="zh-CN">
              <a:solidFill>
                <a:srgbClr val="FFFFFF"/>
              </a:solidFill>
            </a:endParaRPr>
          </a:p>
        </p:txBody>
      </p:sp>
      <p:sp>
        <p:nvSpPr>
          <p:cNvPr id="5" name="文本框 4"/>
          <p:cNvSpPr txBox="1"/>
          <p:nvPr/>
        </p:nvSpPr>
        <p:spPr>
          <a:xfrm>
            <a:off x="537029" y="544452"/>
            <a:ext cx="11175999" cy="5355312"/>
          </a:xfrm>
          <a:prstGeom prst="rect">
            <a:avLst/>
          </a:prstGeom>
          <a:noFill/>
        </p:spPr>
        <p:txBody>
          <a:bodyPr wrap="square" rtlCol="0">
            <a:spAutoFit/>
          </a:bodyPr>
          <a:lstStyle/>
          <a:p>
            <a:pPr indent="457189">
              <a:lnSpc>
                <a:spcPct val="150000"/>
              </a:lnSpc>
            </a:pPr>
            <a:r>
              <a:rPr lang="zh-CN" altLang="en-US" sz="1800" dirty="0" smtClean="0"/>
              <a:t>四、移相电路</a:t>
            </a:r>
            <a:endParaRPr lang="en-US" altLang="zh-CN" sz="1800" dirty="0" smtClean="0"/>
          </a:p>
          <a:p>
            <a:pPr indent="457189">
              <a:lnSpc>
                <a:spcPct val="150000"/>
              </a:lnSpc>
            </a:pPr>
            <a:r>
              <a:rPr lang="en-US" altLang="zh-CN" sz="1800" dirty="0" smtClean="0"/>
              <a:t>U3</a:t>
            </a:r>
            <a:r>
              <a:rPr lang="zh-CN" altLang="en-US" sz="1800" dirty="0"/>
              <a:t>构成一个加法器。它将</a:t>
            </a:r>
            <a:r>
              <a:rPr lang="en-US" altLang="zh-CN" sz="1800" dirty="0"/>
              <a:t>U2</a:t>
            </a:r>
            <a:r>
              <a:rPr lang="zh-CN" altLang="en-US" sz="1800" dirty="0"/>
              <a:t>的输出电压</a:t>
            </a:r>
            <a:r>
              <a:rPr lang="en-US" altLang="zh-CN" sz="1800" dirty="0" smtClean="0"/>
              <a:t>V</a:t>
            </a:r>
            <a:r>
              <a:rPr lang="en-US" altLang="zh-CN" sz="1800" baseline="-25000" dirty="0" smtClean="0"/>
              <a:t>2</a:t>
            </a:r>
            <a:r>
              <a:rPr lang="zh-CN" altLang="en-US" sz="1800" dirty="0" smtClean="0"/>
              <a:t>，与</a:t>
            </a:r>
            <a:r>
              <a:rPr lang="zh-CN" altLang="en-US" sz="1800" dirty="0"/>
              <a:t>一个由移相</a:t>
            </a:r>
            <a:r>
              <a:rPr lang="zh-CN" altLang="en-US" sz="1800" dirty="0" smtClean="0"/>
              <a:t>电位器确定的直流偏移电压</a:t>
            </a:r>
            <a:r>
              <a:rPr lang="en-US" altLang="zh-CN" sz="1800" dirty="0" err="1" smtClean="0"/>
              <a:t>V</a:t>
            </a:r>
            <a:r>
              <a:rPr lang="en-US" altLang="zh-CN" sz="1800" baseline="-25000" dirty="0" err="1" smtClean="0"/>
              <a:t>shift</a:t>
            </a:r>
            <a:r>
              <a:rPr lang="zh-CN" altLang="en-US" sz="1800" dirty="0" smtClean="0"/>
              <a:t>叠加</a:t>
            </a:r>
            <a:r>
              <a:rPr lang="zh-CN" altLang="en-US" sz="1800" dirty="0" smtClean="0"/>
              <a:t>。根据叠加定理，</a:t>
            </a:r>
            <a:r>
              <a:rPr lang="zh-CN" altLang="en-US" sz="1800" dirty="0" smtClean="0"/>
              <a:t>此时</a:t>
            </a:r>
            <a:r>
              <a:rPr lang="en-US" altLang="zh-CN" sz="1800" dirty="0" smtClean="0"/>
              <a:t>U3</a:t>
            </a:r>
            <a:r>
              <a:rPr lang="zh-CN" altLang="en-US" sz="1800" dirty="0" smtClean="0"/>
              <a:t>的输出</a:t>
            </a:r>
            <a:r>
              <a:rPr lang="zh-CN" altLang="en-US" sz="1800" dirty="0"/>
              <a:t>电压为</a:t>
            </a:r>
            <a:endParaRPr lang="en-US" altLang="zh-CN" sz="1800" dirty="0"/>
          </a:p>
          <a:p>
            <a:pPr indent="457189">
              <a:lnSpc>
                <a:spcPct val="150000"/>
              </a:lnSpc>
            </a:pPr>
            <a:endParaRPr lang="en-US" altLang="zh-CN" sz="1400" i="1" dirty="0" smtClean="0"/>
          </a:p>
          <a:p>
            <a:pPr indent="457189">
              <a:lnSpc>
                <a:spcPct val="150000"/>
              </a:lnSpc>
            </a:pPr>
            <a:endParaRPr lang="en-US" altLang="zh-CN" sz="1600" i="1" dirty="0"/>
          </a:p>
          <a:p>
            <a:pPr indent="457189">
              <a:lnSpc>
                <a:spcPct val="150000"/>
              </a:lnSpc>
            </a:pPr>
            <a:r>
              <a:rPr lang="en-US" altLang="zh-CN" sz="1800" dirty="0" smtClean="0"/>
              <a:t>V2</a:t>
            </a:r>
            <a:r>
              <a:rPr lang="zh-CN" altLang="en-US" sz="1800" dirty="0" smtClean="0"/>
              <a:t>是</a:t>
            </a:r>
            <a:r>
              <a:rPr lang="zh-CN" altLang="en-US" sz="1800" dirty="0"/>
              <a:t>原来的环路滤波器的</a:t>
            </a:r>
            <a:r>
              <a:rPr lang="zh-CN" altLang="en-US" sz="1800" dirty="0" smtClean="0"/>
              <a:t>输出</a:t>
            </a:r>
            <a:r>
              <a:rPr lang="zh-CN" altLang="en-US" sz="1800" dirty="0"/>
              <a:t>。</a:t>
            </a:r>
            <a:r>
              <a:rPr lang="zh-CN" altLang="en-US" sz="1800" dirty="0" smtClean="0"/>
              <a:t>前面采用的比例积分型滤波器是反相的，这里再经过一个反相放大正好将其极性校正回来。</a:t>
            </a:r>
            <a:endParaRPr lang="en-US" altLang="zh-CN" sz="1800" dirty="0" smtClean="0"/>
          </a:p>
          <a:p>
            <a:pPr indent="457189">
              <a:lnSpc>
                <a:spcPct val="150000"/>
              </a:lnSpc>
            </a:pPr>
            <a:r>
              <a:rPr lang="zh-CN" altLang="en-US" sz="1800" dirty="0" smtClean="0"/>
              <a:t>叠加的偏移</a:t>
            </a:r>
            <a:r>
              <a:rPr lang="zh-CN" altLang="en-US" sz="1800" dirty="0" smtClean="0"/>
              <a:t>电压</a:t>
            </a:r>
            <a:r>
              <a:rPr lang="zh-CN" altLang="en-US" sz="1800" dirty="0"/>
              <a:t>可</a:t>
            </a:r>
            <a:r>
              <a:rPr lang="zh-CN" altLang="zh-CN" sz="1800" dirty="0"/>
              <a:t>以改变锁相环输出的相位。原理如下</a:t>
            </a:r>
            <a:r>
              <a:rPr lang="zh-CN" altLang="zh-CN" sz="1800" dirty="0" smtClean="0"/>
              <a:t>：改变</a:t>
            </a:r>
            <a:r>
              <a:rPr lang="en-US" altLang="zh-CN" sz="1800" dirty="0" err="1" smtClean="0"/>
              <a:t>V</a:t>
            </a:r>
            <a:r>
              <a:rPr lang="en-US" altLang="zh-CN" sz="1800" baseline="-25000" dirty="0" err="1"/>
              <a:t>shift</a:t>
            </a:r>
            <a:r>
              <a:rPr lang="zh-CN" altLang="en-US" sz="1800" dirty="0" smtClean="0"/>
              <a:t>后</a:t>
            </a:r>
            <a:r>
              <a:rPr lang="en-US" altLang="zh-CN" sz="1800" dirty="0"/>
              <a:t>U3</a:t>
            </a:r>
            <a:r>
              <a:rPr lang="zh-CN" altLang="zh-CN" sz="1800" dirty="0"/>
              <a:t>的输出电压发生改变，此电压</a:t>
            </a:r>
            <a:r>
              <a:rPr lang="zh-CN" altLang="zh-CN" sz="1800" dirty="0" smtClean="0"/>
              <a:t>改变使</a:t>
            </a:r>
            <a:r>
              <a:rPr lang="zh-CN" altLang="en-US" sz="1800" dirty="0"/>
              <a:t>得</a:t>
            </a:r>
            <a:r>
              <a:rPr lang="en-US" altLang="zh-CN" sz="1800" dirty="0" smtClean="0"/>
              <a:t>VCO</a:t>
            </a:r>
            <a:r>
              <a:rPr lang="zh-CN" altLang="zh-CN" sz="1800" dirty="0"/>
              <a:t>的输出相位改变，反馈到鉴相器</a:t>
            </a:r>
            <a:r>
              <a:rPr lang="zh-CN" altLang="zh-CN" sz="1800" dirty="0" smtClean="0"/>
              <a:t>后</a:t>
            </a:r>
            <a:r>
              <a:rPr lang="zh-CN" altLang="en-US" sz="1800" dirty="0" smtClean="0"/>
              <a:t>，迫使</a:t>
            </a:r>
            <a:r>
              <a:rPr lang="zh-CN" altLang="zh-CN" sz="1800" dirty="0" smtClean="0"/>
              <a:t>鉴</a:t>
            </a:r>
            <a:r>
              <a:rPr lang="zh-CN" altLang="zh-CN" sz="1800" dirty="0"/>
              <a:t>相器的输出</a:t>
            </a:r>
            <a:r>
              <a:rPr lang="zh-CN" altLang="zh-CN" sz="1800" dirty="0" smtClean="0"/>
              <a:t>电压</a:t>
            </a:r>
            <a:r>
              <a:rPr lang="zh-CN" altLang="en-US" sz="1800" dirty="0" smtClean="0"/>
              <a:t>向相反方向</a:t>
            </a:r>
            <a:r>
              <a:rPr lang="zh-CN" altLang="zh-CN" sz="1800" dirty="0" smtClean="0"/>
              <a:t>改变</a:t>
            </a:r>
            <a:r>
              <a:rPr lang="zh-CN" altLang="en-US" sz="1800" dirty="0" smtClean="0"/>
              <a:t>以达到新的平衡。由于鉴相器的输出电压与它的两个输入端的相位差成正比</a:t>
            </a:r>
            <a:r>
              <a:rPr lang="zh-CN" altLang="zh-CN" sz="1800" dirty="0" smtClean="0"/>
              <a:t>，</a:t>
            </a:r>
            <a:r>
              <a:rPr lang="zh-CN" altLang="en-US" sz="1800" dirty="0" smtClean="0"/>
              <a:t>所以鉴相器的输出电压变化就是其输入端的相位差有变化，也就是输出信号的相位相对于输入参考信号的相位有变化。</a:t>
            </a:r>
            <a:endParaRPr lang="en-US" altLang="zh-CN" sz="1800" dirty="0"/>
          </a:p>
          <a:p>
            <a:pPr indent="457189">
              <a:lnSpc>
                <a:spcPct val="150000"/>
              </a:lnSpc>
            </a:pPr>
            <a:r>
              <a:rPr lang="zh-CN" altLang="en-US" sz="1800" dirty="0"/>
              <a:t>由于</a:t>
            </a:r>
            <a:r>
              <a:rPr lang="en-US" altLang="zh-CN" sz="1800" dirty="0"/>
              <a:t>VCO</a:t>
            </a:r>
            <a:r>
              <a:rPr lang="zh-CN" altLang="en-US" sz="1800" dirty="0"/>
              <a:t>有较高的增益，只要很小的</a:t>
            </a:r>
            <a:r>
              <a:rPr lang="en-US" altLang="zh-CN" sz="1800" dirty="0" err="1" smtClean="0"/>
              <a:t>V</a:t>
            </a:r>
            <a:r>
              <a:rPr lang="en-US" altLang="zh-CN" sz="1800" baseline="-25000" dirty="0" err="1"/>
              <a:t>shift</a:t>
            </a:r>
            <a:r>
              <a:rPr lang="zh-CN" altLang="en-US" sz="1800" dirty="0" smtClean="0"/>
              <a:t>就</a:t>
            </a:r>
            <a:r>
              <a:rPr lang="zh-CN" altLang="en-US" sz="1800" dirty="0"/>
              <a:t>可以获得较大的相位</a:t>
            </a:r>
            <a:r>
              <a:rPr lang="zh-CN" altLang="en-US" sz="1800" dirty="0" smtClean="0"/>
              <a:t>变化，所以</a:t>
            </a:r>
            <a:r>
              <a:rPr lang="zh-CN" altLang="en-US" sz="1800" dirty="0" smtClean="0"/>
              <a:t>在移相电位器两端串联了</a:t>
            </a:r>
            <a:r>
              <a:rPr lang="en-US" altLang="zh-CN" sz="1800" dirty="0" smtClean="0"/>
              <a:t>R5</a:t>
            </a:r>
            <a:r>
              <a:rPr lang="zh-CN" altLang="en-US" sz="1800" dirty="0" smtClean="0"/>
              <a:t>与</a:t>
            </a:r>
            <a:r>
              <a:rPr lang="en-US" altLang="zh-CN" sz="1800" dirty="0" smtClean="0"/>
              <a:t>R6</a:t>
            </a:r>
            <a:r>
              <a:rPr lang="zh-CN" altLang="en-US" sz="1800" dirty="0" smtClean="0"/>
              <a:t>（缩小了电位器的电压调节范围）以利于调节。</a:t>
            </a: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464746294"/>
              </p:ext>
            </p:extLst>
          </p:nvPr>
        </p:nvGraphicFramePr>
        <p:xfrm>
          <a:off x="4422775" y="1714500"/>
          <a:ext cx="2036763" cy="696913"/>
        </p:xfrm>
        <a:graphic>
          <a:graphicData uri="http://schemas.openxmlformats.org/presentationml/2006/ole">
            <mc:AlternateContent xmlns:mc="http://schemas.openxmlformats.org/markup-compatibility/2006">
              <mc:Choice xmlns:v="urn:schemas-microsoft-com:vml" Requires="v">
                <p:oleObj spid="_x0000_s19520" name="Equation" r:id="rId3" imgW="1130040" imgH="380880" progId="Equation.DSMT4">
                  <p:embed/>
                </p:oleObj>
              </mc:Choice>
              <mc:Fallback>
                <p:oleObj name="Equation" r:id="rId3" imgW="1130040" imgH="380880" progId="Equation.DSMT4">
                  <p:embed/>
                  <p:pic>
                    <p:nvPicPr>
                      <p:cNvPr id="7" name="对象 6"/>
                      <p:cNvPicPr>
                        <a:picLocks noChangeAspect="1" noChangeArrowheads="1"/>
                      </p:cNvPicPr>
                      <p:nvPr/>
                    </p:nvPicPr>
                    <p:blipFill>
                      <a:blip r:embed="rId4"/>
                      <a:srcRect/>
                      <a:stretch>
                        <a:fillRect/>
                      </a:stretch>
                    </p:blipFill>
                    <p:spPr bwMode="auto">
                      <a:xfrm>
                        <a:off x="4422775" y="1714500"/>
                        <a:ext cx="2036763" cy="696913"/>
                      </a:xfrm>
                      <a:prstGeom prst="rect">
                        <a:avLst/>
                      </a:prstGeom>
                      <a:noFill/>
                    </p:spPr>
                  </p:pic>
                </p:oleObj>
              </mc:Fallback>
            </mc:AlternateContent>
          </a:graphicData>
        </a:graphic>
      </p:graphicFrame>
    </p:spTree>
    <p:extLst>
      <p:ext uri="{BB962C8B-B14F-4D97-AF65-F5344CB8AC3E}">
        <p14:creationId xmlns:p14="http://schemas.microsoft.com/office/powerpoint/2010/main" val="2751241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61</a:t>
            </a:fld>
            <a:endParaRPr lang="en-US" altLang="zh-CN">
              <a:solidFill>
                <a:srgbClr val="FFFFFF"/>
              </a:solidFill>
            </a:endParaRPr>
          </a:p>
        </p:txBody>
      </p:sp>
      <p:sp>
        <p:nvSpPr>
          <p:cNvPr id="5" name="文本框 4"/>
          <p:cNvSpPr txBox="1"/>
          <p:nvPr/>
        </p:nvSpPr>
        <p:spPr>
          <a:xfrm>
            <a:off x="423753" y="3630056"/>
            <a:ext cx="11313886" cy="2585323"/>
          </a:xfrm>
          <a:prstGeom prst="rect">
            <a:avLst/>
          </a:prstGeom>
          <a:noFill/>
        </p:spPr>
        <p:txBody>
          <a:bodyPr wrap="square" rtlCol="0">
            <a:spAutoFit/>
          </a:bodyPr>
          <a:lstStyle/>
          <a:p>
            <a:pPr indent="457200">
              <a:lnSpc>
                <a:spcPct val="150000"/>
              </a:lnSpc>
            </a:pPr>
            <a:r>
              <a:rPr lang="zh-CN" altLang="en-US" sz="1800" dirty="0" smtClean="0"/>
              <a:t>在</a:t>
            </a:r>
            <a:r>
              <a:rPr lang="zh-CN" altLang="en-US" sz="1800" dirty="0"/>
              <a:t>前面给出的电路图</a:t>
            </a:r>
            <a:r>
              <a:rPr lang="zh-CN" altLang="en-US" sz="1800" dirty="0" smtClean="0"/>
              <a:t>中，此比较器采用运放构成。按照锁相环</a:t>
            </a:r>
            <a:r>
              <a:rPr lang="en-US" altLang="zh-CN" sz="1800" dirty="0" smtClean="0"/>
              <a:t>HC4046</a:t>
            </a:r>
            <a:r>
              <a:rPr lang="zh-CN" altLang="en-US" sz="1800" dirty="0" smtClean="0"/>
              <a:t>的数据手册，在电源电压为</a:t>
            </a:r>
            <a:r>
              <a:rPr lang="en-US" altLang="zh-CN" sz="1800" dirty="0" smtClean="0"/>
              <a:t>+6V</a:t>
            </a:r>
            <a:r>
              <a:rPr lang="zh-CN" altLang="en-US" sz="1800" dirty="0" smtClean="0"/>
              <a:t>条件下，信号输入端的要求是：输入低电平≤</a:t>
            </a:r>
            <a:r>
              <a:rPr lang="en-US" altLang="zh-CN" sz="1800" dirty="0" smtClean="0"/>
              <a:t>1.8V</a:t>
            </a:r>
            <a:r>
              <a:rPr lang="zh-CN" altLang="en-US" sz="1800" dirty="0" smtClean="0"/>
              <a:t>，输入高电平≥</a:t>
            </a:r>
            <a:r>
              <a:rPr lang="en-US" altLang="zh-CN" sz="1800" dirty="0" smtClean="0"/>
              <a:t>4.2V</a:t>
            </a:r>
            <a:r>
              <a:rPr lang="zh-CN" altLang="en-US" sz="1800" dirty="0"/>
              <a:t>，</a:t>
            </a:r>
            <a:r>
              <a:rPr lang="zh-CN" altLang="en-US" sz="1800" dirty="0" smtClean="0"/>
              <a:t>比较器的输出电压必须满足此电平要求。</a:t>
            </a:r>
            <a:endParaRPr lang="en-US" altLang="zh-CN" sz="1800" dirty="0" smtClean="0"/>
          </a:p>
          <a:p>
            <a:pPr indent="457200">
              <a:lnSpc>
                <a:spcPct val="150000"/>
              </a:lnSpc>
            </a:pPr>
            <a:r>
              <a:rPr lang="zh-CN" altLang="en-US" sz="1800" dirty="0" smtClean="0"/>
              <a:t>本题目对电源的要求很苛刻，这个比较器的电源电压只能是</a:t>
            </a:r>
            <a:r>
              <a:rPr lang="en-US" altLang="zh-CN" sz="1800" dirty="0" smtClean="0"/>
              <a:t>+6V</a:t>
            </a:r>
            <a:r>
              <a:rPr lang="zh-CN" altLang="en-US" sz="1800" dirty="0" smtClean="0"/>
              <a:t>。在这个电源条件下，不是所有比较器或运放都能够满足此要求的，例如实验室最常见的</a:t>
            </a:r>
            <a:r>
              <a:rPr lang="en-US" altLang="zh-CN" sz="1800" dirty="0" smtClean="0"/>
              <a:t>LF356</a:t>
            </a:r>
            <a:r>
              <a:rPr lang="zh-CN" altLang="en-US" sz="1800" dirty="0" smtClean="0"/>
              <a:t>就不能满足上述要求。因此这个比较器或者采用满摆幅运放来构成，或者直接采用比较器电路（例如</a:t>
            </a:r>
            <a:r>
              <a:rPr lang="en-US" altLang="zh-CN" sz="1800" dirty="0" smtClean="0"/>
              <a:t>LM311</a:t>
            </a:r>
            <a:r>
              <a:rPr lang="zh-CN" altLang="en-US" sz="1800" dirty="0" smtClean="0"/>
              <a:t>）。由于</a:t>
            </a:r>
            <a:r>
              <a:rPr lang="en-US" altLang="zh-CN" sz="1800" dirty="0" smtClean="0"/>
              <a:t>LM311</a:t>
            </a:r>
            <a:r>
              <a:rPr lang="zh-CN" altLang="en-US" sz="1800" dirty="0" smtClean="0"/>
              <a:t>的输出为集电极开路（</a:t>
            </a:r>
            <a:r>
              <a:rPr lang="en-US" altLang="zh-CN" sz="1800" dirty="0" smtClean="0"/>
              <a:t>OC</a:t>
            </a:r>
            <a:r>
              <a:rPr lang="zh-CN" altLang="en-US" sz="1800" dirty="0" smtClean="0"/>
              <a:t>）结构，所以还需要在输出端接一个上拉电阻到</a:t>
            </a:r>
            <a:r>
              <a:rPr lang="en-US" altLang="zh-CN" sz="1800" dirty="0" smtClean="0"/>
              <a:t>+6V</a:t>
            </a:r>
            <a:r>
              <a:rPr lang="zh-CN" altLang="en-US" sz="1800" dirty="0" smtClean="0"/>
              <a:t>。</a:t>
            </a:r>
            <a:endParaRPr lang="zh-CN" altLang="en-US" sz="1800" dirty="0"/>
          </a:p>
        </p:txBody>
      </p:sp>
      <p:sp>
        <p:nvSpPr>
          <p:cNvPr id="8" name="文本框 7"/>
          <p:cNvSpPr txBox="1"/>
          <p:nvPr/>
        </p:nvSpPr>
        <p:spPr>
          <a:xfrm>
            <a:off x="508004" y="412316"/>
            <a:ext cx="6785425" cy="3323987"/>
          </a:xfrm>
          <a:prstGeom prst="rect">
            <a:avLst/>
          </a:prstGeom>
          <a:noFill/>
        </p:spPr>
        <p:txBody>
          <a:bodyPr wrap="square" rtlCol="0">
            <a:spAutoFit/>
          </a:bodyPr>
          <a:lstStyle/>
          <a:p>
            <a:pPr indent="457200">
              <a:lnSpc>
                <a:spcPct val="150000"/>
              </a:lnSpc>
            </a:pPr>
            <a:r>
              <a:rPr lang="zh-CN" altLang="en-US" sz="1800" dirty="0" smtClean="0"/>
              <a:t>五、参考信号放大整形电路</a:t>
            </a:r>
            <a:endParaRPr lang="en-US" altLang="zh-CN" sz="1800" dirty="0" smtClean="0"/>
          </a:p>
          <a:p>
            <a:pPr indent="457200">
              <a:lnSpc>
                <a:spcPct val="150000"/>
              </a:lnSpc>
            </a:pPr>
            <a:r>
              <a:rPr lang="zh-CN" altLang="en-US" sz="1800" dirty="0" smtClean="0"/>
              <a:t>这是一个滞回比较器，两个输入阈值电压分布在参考电压两侧，</a:t>
            </a:r>
            <a:r>
              <a:rPr lang="zh-CN" altLang="en-US" sz="1800" dirty="0"/>
              <a:t>滞</a:t>
            </a:r>
            <a:r>
              <a:rPr lang="zh-CN" altLang="en-US" sz="1800" dirty="0" smtClean="0"/>
              <a:t>回特性与两个电阻的比值有关：</a:t>
            </a:r>
            <a:endParaRPr lang="en-US" altLang="zh-CN" sz="1800" dirty="0" smtClean="0"/>
          </a:p>
          <a:p>
            <a:pPr indent="457200">
              <a:lnSpc>
                <a:spcPct val="150000"/>
              </a:lnSpc>
            </a:pPr>
            <a:endParaRPr lang="en-US" altLang="zh-CN" sz="3200" dirty="0" smtClean="0"/>
          </a:p>
          <a:p>
            <a:pPr indent="457200">
              <a:lnSpc>
                <a:spcPct val="150000"/>
              </a:lnSpc>
            </a:pPr>
            <a:r>
              <a:rPr lang="en-US" altLang="zh-CN" sz="1800" dirty="0" smtClean="0"/>
              <a:t>V</a:t>
            </a:r>
            <a:r>
              <a:rPr lang="en-US" altLang="zh-CN" sz="1800" baseline="-25000" dirty="0" smtClean="0"/>
              <a:t>THH</a:t>
            </a:r>
            <a:r>
              <a:rPr lang="en-US" altLang="zh-CN" sz="1800" dirty="0" smtClean="0"/>
              <a:t>-V</a:t>
            </a:r>
            <a:r>
              <a:rPr lang="en-US" altLang="zh-CN" sz="1800" baseline="-25000" dirty="0" smtClean="0"/>
              <a:t>THL</a:t>
            </a:r>
            <a:r>
              <a:rPr lang="zh-CN" altLang="en-US" sz="1800" dirty="0" smtClean="0"/>
              <a:t>大些对于抑制噪声干扰有利。但是由于输入的参考</a:t>
            </a:r>
            <a:r>
              <a:rPr lang="zh-CN" altLang="en-US" sz="1800" dirty="0"/>
              <a:t>信号来自驱动电路中变压器的次级电压，其峰值为</a:t>
            </a:r>
            <a:r>
              <a:rPr lang="en-US" altLang="zh-CN" sz="1800" dirty="0"/>
              <a:t>0.2V</a:t>
            </a:r>
            <a:r>
              <a:rPr lang="zh-CN" altLang="en-US" sz="1800" dirty="0"/>
              <a:t>（峰峰值为</a:t>
            </a:r>
            <a:r>
              <a:rPr lang="en-US" altLang="zh-CN" sz="1800" dirty="0"/>
              <a:t>0.4V</a:t>
            </a:r>
            <a:r>
              <a:rPr lang="zh-CN" altLang="en-US" sz="1800" dirty="0" smtClean="0"/>
              <a:t>），所以</a:t>
            </a:r>
            <a:r>
              <a:rPr lang="en-US" altLang="zh-CN" sz="1800" dirty="0" smtClean="0"/>
              <a:t>V</a:t>
            </a:r>
            <a:r>
              <a:rPr lang="en-US" altLang="zh-CN" sz="1800" baseline="-25000" dirty="0" smtClean="0"/>
              <a:t>THH</a:t>
            </a:r>
            <a:r>
              <a:rPr lang="en-US" altLang="zh-CN" sz="1800" dirty="0" smtClean="0"/>
              <a:t>-V</a:t>
            </a:r>
            <a:r>
              <a:rPr lang="en-US" altLang="zh-CN" sz="1800" baseline="-25000" dirty="0" smtClean="0"/>
              <a:t>THL</a:t>
            </a:r>
            <a:r>
              <a:rPr lang="zh-CN" altLang="en-US" sz="1800" dirty="0" smtClean="0"/>
              <a:t>必须小于</a:t>
            </a:r>
            <a:r>
              <a:rPr lang="en-US" altLang="zh-CN" sz="1800" dirty="0" smtClean="0"/>
              <a:t>0.4V</a:t>
            </a:r>
            <a:r>
              <a:rPr lang="zh-CN" altLang="en-US" sz="1800" dirty="0" smtClean="0"/>
              <a:t>。</a:t>
            </a:r>
            <a:endParaRPr lang="en-US" altLang="zh-CN" sz="1800" dirty="0"/>
          </a:p>
        </p:txBody>
      </p:sp>
      <p:graphicFrame>
        <p:nvGraphicFramePr>
          <p:cNvPr id="9" name="对象 8"/>
          <p:cNvGraphicFramePr>
            <a:graphicFrameLocks noChangeAspect="1"/>
          </p:cNvGraphicFramePr>
          <p:nvPr>
            <p:extLst>
              <p:ext uri="{D42A27DB-BD31-4B8C-83A1-F6EECF244321}">
                <p14:modId xmlns:p14="http://schemas.microsoft.com/office/powerpoint/2010/main" val="4115123516"/>
              </p:ext>
            </p:extLst>
          </p:nvPr>
        </p:nvGraphicFramePr>
        <p:xfrm>
          <a:off x="2702606" y="1735365"/>
          <a:ext cx="2773362" cy="696913"/>
        </p:xfrm>
        <a:graphic>
          <a:graphicData uri="http://schemas.openxmlformats.org/presentationml/2006/ole">
            <mc:AlternateContent xmlns:mc="http://schemas.openxmlformats.org/markup-compatibility/2006">
              <mc:Choice xmlns:v="urn:schemas-microsoft-com:vml" Requires="v">
                <p:oleObj spid="_x0000_s33798" name="Equation" r:id="rId3" imgW="1536480" imgH="380880" progId="Equation.DSMT4">
                  <p:embed/>
                </p:oleObj>
              </mc:Choice>
              <mc:Fallback>
                <p:oleObj name="Equation" r:id="rId3" imgW="1536480" imgH="380880" progId="Equation.DSMT4">
                  <p:embed/>
                  <p:pic>
                    <p:nvPicPr>
                      <p:cNvPr id="6" name="对象 5"/>
                      <p:cNvPicPr>
                        <a:picLocks noChangeAspect="1" noChangeArrowheads="1"/>
                      </p:cNvPicPr>
                      <p:nvPr/>
                    </p:nvPicPr>
                    <p:blipFill>
                      <a:blip r:embed="rId4"/>
                      <a:srcRect/>
                      <a:stretch>
                        <a:fillRect/>
                      </a:stretch>
                    </p:blipFill>
                    <p:spPr bwMode="auto">
                      <a:xfrm>
                        <a:off x="2702606" y="1735365"/>
                        <a:ext cx="2773362" cy="696913"/>
                      </a:xfrm>
                      <a:prstGeom prst="rect">
                        <a:avLst/>
                      </a:prstGeom>
                      <a:noFill/>
                    </p:spPr>
                  </p:pic>
                </p:oleObj>
              </mc:Fallback>
            </mc:AlternateContent>
          </a:graphicData>
        </a:graphic>
      </p:graphicFrame>
      <p:pic>
        <p:nvPicPr>
          <p:cNvPr id="11" name="图片 10"/>
          <p:cNvPicPr>
            <a:picLocks noChangeAspect="1"/>
          </p:cNvPicPr>
          <p:nvPr/>
        </p:nvPicPr>
        <p:blipFill>
          <a:blip r:embed="rId5"/>
          <a:stretch>
            <a:fillRect/>
          </a:stretch>
        </p:blipFill>
        <p:spPr>
          <a:xfrm>
            <a:off x="7557900" y="892849"/>
            <a:ext cx="4179739" cy="2175329"/>
          </a:xfrm>
          <a:prstGeom prst="rect">
            <a:avLst/>
          </a:prstGeom>
        </p:spPr>
      </p:pic>
    </p:spTree>
    <p:extLst>
      <p:ext uri="{BB962C8B-B14F-4D97-AF65-F5344CB8AC3E}">
        <p14:creationId xmlns:p14="http://schemas.microsoft.com/office/powerpoint/2010/main" val="39517750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62</a:t>
            </a:fld>
            <a:endParaRPr lang="en-US" altLang="zh-CN">
              <a:solidFill>
                <a:srgbClr val="FFFFFF"/>
              </a:solidFill>
            </a:endParaRPr>
          </a:p>
        </p:txBody>
      </p:sp>
      <p:sp>
        <p:nvSpPr>
          <p:cNvPr id="5" name="文本框 4"/>
          <p:cNvSpPr txBox="1"/>
          <p:nvPr/>
        </p:nvSpPr>
        <p:spPr>
          <a:xfrm>
            <a:off x="522514" y="600296"/>
            <a:ext cx="11103429" cy="4612225"/>
          </a:xfrm>
          <a:prstGeom prst="rect">
            <a:avLst/>
          </a:prstGeom>
          <a:noFill/>
        </p:spPr>
        <p:txBody>
          <a:bodyPr wrap="square" rtlCol="0">
            <a:spAutoFit/>
          </a:bodyPr>
          <a:lstStyle/>
          <a:p>
            <a:pPr marL="342891" indent="-342891">
              <a:lnSpc>
                <a:spcPct val="150000"/>
              </a:lnSpc>
              <a:buFont typeface="Wingdings" panose="05000000000000000000" pitchFamily="2" charset="2"/>
              <a:buChar char="l"/>
            </a:pPr>
            <a:r>
              <a:rPr lang="zh-CN" altLang="en-US" sz="1800" dirty="0">
                <a:solidFill>
                  <a:srgbClr val="FF0000"/>
                </a:solidFill>
                <a:latin typeface="+mj-ea"/>
              </a:rPr>
              <a:t>两种方案的比较</a:t>
            </a:r>
            <a:endParaRPr lang="en-US" altLang="zh-CN" sz="1800" dirty="0">
              <a:solidFill>
                <a:srgbClr val="FF0000"/>
              </a:solidFill>
              <a:latin typeface="+mj-ea"/>
            </a:endParaRPr>
          </a:p>
          <a:p>
            <a:pPr indent="457189">
              <a:lnSpc>
                <a:spcPct val="150000"/>
              </a:lnSpc>
            </a:pPr>
            <a:r>
              <a:rPr lang="zh-CN" altLang="en-US" sz="1800" dirty="0"/>
              <a:t>前面讨论了滤波器方案与锁定放大器方案，两个方案的差别如下：</a:t>
            </a:r>
            <a:endParaRPr lang="en-US" altLang="zh-CN" sz="1800" dirty="0"/>
          </a:p>
          <a:p>
            <a:pPr indent="457189">
              <a:lnSpc>
                <a:spcPct val="150000"/>
              </a:lnSpc>
            </a:pPr>
            <a:r>
              <a:rPr lang="zh-CN" altLang="en-US" sz="1800" dirty="0"/>
              <a:t>电路的复杂程度：滤波器方案简单，锁定放大器方案复杂</a:t>
            </a:r>
            <a:endParaRPr lang="en-US" altLang="zh-CN" sz="1800" dirty="0"/>
          </a:p>
          <a:p>
            <a:pPr indent="457189">
              <a:lnSpc>
                <a:spcPct val="150000"/>
              </a:lnSpc>
            </a:pPr>
            <a:r>
              <a:rPr lang="zh-CN" altLang="en-US" sz="1800" dirty="0"/>
              <a:t>电路的性能：可以从抑制噪声的性能方面进行比较，两种方案均可等效为一个带通滤波器。</a:t>
            </a:r>
            <a:endParaRPr lang="en-US" altLang="zh-CN" sz="1800" dirty="0"/>
          </a:p>
          <a:p>
            <a:pPr indent="457189">
              <a:lnSpc>
                <a:spcPct val="150000"/>
              </a:lnSpc>
            </a:pPr>
            <a:r>
              <a:rPr lang="zh-CN" altLang="en-US" sz="1800" dirty="0"/>
              <a:t>滤波器方案中直接就是有源带通滤波器，其</a:t>
            </a:r>
            <a:r>
              <a:rPr lang="en-US" altLang="zh-CN" sz="1800" dirty="0"/>
              <a:t>Q</a:t>
            </a:r>
            <a:r>
              <a:rPr lang="zh-CN" altLang="en-US" sz="1800" dirty="0"/>
              <a:t>值大致上可达</a:t>
            </a:r>
            <a:r>
              <a:rPr lang="en-US" altLang="zh-CN" sz="1800" dirty="0"/>
              <a:t>100</a:t>
            </a:r>
            <a:r>
              <a:rPr lang="zh-CN" altLang="en-US" sz="1800" dirty="0"/>
              <a:t>附近，若按照频率</a:t>
            </a:r>
            <a:r>
              <a:rPr lang="en-US" altLang="zh-CN" sz="1800" dirty="0"/>
              <a:t>1kHz</a:t>
            </a:r>
            <a:r>
              <a:rPr lang="zh-CN" altLang="en-US" sz="1800" dirty="0"/>
              <a:t>、</a:t>
            </a:r>
            <a:r>
              <a:rPr lang="en-US" altLang="zh-CN" sz="1800" dirty="0"/>
              <a:t>Q=100</a:t>
            </a:r>
            <a:r>
              <a:rPr lang="zh-CN" altLang="en-US" sz="1800" dirty="0"/>
              <a:t>计算，则信号带宽为</a:t>
            </a:r>
            <a:r>
              <a:rPr lang="en-US" altLang="zh-CN" sz="1800" dirty="0"/>
              <a:t>10Hz</a:t>
            </a:r>
            <a:r>
              <a:rPr lang="zh-CN" altLang="en-US" sz="1800" dirty="0"/>
              <a:t>，噪声带宽大于</a:t>
            </a:r>
            <a:r>
              <a:rPr lang="en-US" altLang="zh-CN" sz="1800" dirty="0"/>
              <a:t>10Hz</a:t>
            </a:r>
            <a:r>
              <a:rPr lang="zh-CN" altLang="en-US" sz="1800" dirty="0"/>
              <a:t>但不会大许多。</a:t>
            </a:r>
            <a:endParaRPr lang="en-US" altLang="zh-CN" sz="1800" dirty="0"/>
          </a:p>
          <a:p>
            <a:pPr indent="457189">
              <a:lnSpc>
                <a:spcPct val="150000"/>
              </a:lnSpc>
            </a:pPr>
            <a:r>
              <a:rPr lang="zh-CN" altLang="en-US" sz="1800" dirty="0"/>
              <a:t>锁定放大器方案中，噪声带宽由最后的低通滤波器确定，通常可达</a:t>
            </a:r>
            <a:r>
              <a:rPr lang="en-US" altLang="zh-CN" sz="1800" dirty="0"/>
              <a:t>Hz</a:t>
            </a:r>
            <a:r>
              <a:rPr lang="zh-CN" altLang="en-US" sz="1800" dirty="0"/>
              <a:t>数量级或更低。</a:t>
            </a:r>
            <a:endParaRPr lang="en-US" altLang="zh-CN" sz="1800" dirty="0"/>
          </a:p>
          <a:p>
            <a:pPr indent="457189">
              <a:lnSpc>
                <a:spcPct val="150000"/>
              </a:lnSpc>
            </a:pPr>
            <a:r>
              <a:rPr lang="zh-CN" altLang="en-US" sz="1800" dirty="0"/>
              <a:t>所以若仅仅从噪声抑制方面看，锁定放大器优于滤波器方案。但是综合考虑性能与复杂程度后，两者可能不分伯仲。这里的关键在于输入信号的信噪比。若信噪比极差，则提高放大器的抗噪声能力是首位的，必须采用锁定放大器。若输入信号的信噪比不是很差，则采用滤波器方案已足够，没有必要采用更复杂的锁定放大器电路。</a:t>
            </a:r>
          </a:p>
        </p:txBody>
      </p:sp>
    </p:spTree>
    <p:extLst>
      <p:ext uri="{BB962C8B-B14F-4D97-AF65-F5344CB8AC3E}">
        <p14:creationId xmlns:p14="http://schemas.microsoft.com/office/powerpoint/2010/main" val="1240957853"/>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19136</TotalTime>
  <Words>9835</Words>
  <Application>Microsoft Office PowerPoint</Application>
  <PresentationFormat>宽屏</PresentationFormat>
  <Paragraphs>568</Paragraphs>
  <Slides>62</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62</vt:i4>
      </vt:variant>
    </vt:vector>
  </HeadingPairs>
  <TitlesOfParts>
    <vt:vector size="77" baseType="lpstr">
      <vt:lpstr>黑体</vt:lpstr>
      <vt:lpstr>华文细黑</vt:lpstr>
      <vt:lpstr>楷体</vt:lpstr>
      <vt:lpstr>楷体_GB2312</vt:lpstr>
      <vt:lpstr>隶书</vt:lpstr>
      <vt:lpstr>宋体</vt:lpstr>
      <vt:lpstr>Arial</vt:lpstr>
      <vt:lpstr>Cambria Math</vt:lpstr>
      <vt:lpstr>Symbol</vt:lpstr>
      <vt:lpstr>Times New Roman</vt:lpstr>
      <vt:lpstr>Wingdings</vt:lpstr>
      <vt:lpstr>1_Network</vt:lpstr>
      <vt:lpstr>Equation</vt:lpstr>
      <vt:lpstr>Visio</vt:lpstr>
      <vt:lpstr>MathType 4.0 Equation</vt:lpstr>
      <vt:lpstr>2013年全国赛G题  手写绘图板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479</cp:revision>
  <dcterms:created xsi:type="dcterms:W3CDTF">1601-01-01T00:00:00Z</dcterms:created>
  <dcterms:modified xsi:type="dcterms:W3CDTF">2023-03-31T03:00:30Z</dcterms:modified>
</cp:coreProperties>
</file>