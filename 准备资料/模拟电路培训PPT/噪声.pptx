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3" r:id="rId1"/>
  </p:sldMasterIdLst>
  <p:notesMasterIdLst>
    <p:notesMasterId r:id="rId21"/>
  </p:notesMasterIdLst>
  <p:handoutMasterIdLst>
    <p:handoutMasterId r:id="rId22"/>
  </p:handoutMasterIdLst>
  <p:sldIdLst>
    <p:sldId id="398" r:id="rId2"/>
    <p:sldId id="660" r:id="rId3"/>
    <p:sldId id="678" r:id="rId4"/>
    <p:sldId id="694" r:id="rId5"/>
    <p:sldId id="680" r:id="rId6"/>
    <p:sldId id="677" r:id="rId7"/>
    <p:sldId id="690" r:id="rId8"/>
    <p:sldId id="691" r:id="rId9"/>
    <p:sldId id="692" r:id="rId10"/>
    <p:sldId id="693" r:id="rId11"/>
    <p:sldId id="699" r:id="rId12"/>
    <p:sldId id="695" r:id="rId13"/>
    <p:sldId id="697" r:id="rId14"/>
    <p:sldId id="698" r:id="rId15"/>
    <p:sldId id="700" r:id="rId16"/>
    <p:sldId id="702" r:id="rId17"/>
    <p:sldId id="703" r:id="rId18"/>
    <p:sldId id="682" r:id="rId19"/>
    <p:sldId id="705" r:id="rId20"/>
  </p:sldIdLst>
  <p:sldSz cx="9144000" cy="6858000" type="screen4x3"/>
  <p:notesSz cx="6735763" cy="98694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EDFFFF"/>
    <a:srgbClr val="CCECFF"/>
    <a:srgbClr val="99FF99"/>
    <a:srgbClr val="FFFF66"/>
    <a:srgbClr val="66FFFF"/>
    <a:srgbClr val="FFCC00"/>
    <a:srgbClr val="CCFF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9" autoAdjust="0"/>
    <p:restoredTop sz="96078" autoAdjust="0"/>
  </p:normalViewPr>
  <p:slideViewPr>
    <p:cSldViewPr snapToGrid="0">
      <p:cViewPr varScale="1">
        <p:scale>
          <a:sx n="97" d="100"/>
          <a:sy n="97" d="100"/>
        </p:scale>
        <p:origin x="66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768" y="56"/>
      </p:cViewPr>
      <p:guideLst>
        <p:guide orient="horz" pos="3109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e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E6372099-F593-43F9-841D-2A8A1DB37A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00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0113" y="739775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7888"/>
            <a:ext cx="5389563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C6010409-D5FA-46F9-8871-2961FD40B87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2795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418" name="Picture 42" descr="crop_of_DM04_12_2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White">
          <a:xfrm>
            <a:off x="0" y="5154613"/>
            <a:ext cx="91408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537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50825" y="1700213"/>
            <a:ext cx="5473700" cy="3457575"/>
          </a:xfrm>
        </p:spPr>
        <p:txBody>
          <a:bodyPr/>
          <a:lstStyle>
            <a:lvl1pPr algn="ctr" fontAlgn="ctr">
              <a:defRPr sz="6000">
                <a:solidFill>
                  <a:srgbClr val="FFFF66"/>
                </a:solidFill>
              </a:defRPr>
            </a:lvl1pPr>
          </a:lstStyle>
          <a:p>
            <a:pPr lvl="0"/>
            <a:r>
              <a:rPr lang="en-US" altLang="zh-CN" noProof="0" smtClean="0"/>
              <a:t>单击此处编辑母版标题样式</a:t>
            </a:r>
          </a:p>
        </p:txBody>
      </p:sp>
      <p:pic>
        <p:nvPicPr>
          <p:cNvPr id="485417" name="Picture 41" descr="crop_of_DM04_12_2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White">
          <a:xfrm>
            <a:off x="3175" y="0"/>
            <a:ext cx="91408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5419" name="Picture 43" descr="fudan霓虹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28600"/>
            <a:ext cx="1262063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05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C533E4-840F-457A-BDC6-00E847894365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6952B-77A4-4ED1-9C66-997228AEE54F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44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3CDC7C-FE39-44BC-8776-62C7CBA3FD29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BB1522-67C6-4B5B-9E93-199C4BD5AAAF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66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68413"/>
            <a:ext cx="4141788" cy="4862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1388" y="1268413"/>
            <a:ext cx="4141787" cy="4862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E9AC11-FFD8-425F-85DD-52C90D8403ED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BF1C3F-A99D-4E0C-9142-4E955F3C5B69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266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4FE2D1-6C68-423F-A557-EEF096E28FFE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23302-31F7-4957-AA9A-06F65D93711D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798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CBE490-D6F5-4CE8-B6AB-4A7BEA66CF6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52ED8-7AEC-4CBB-934D-9F20D9788428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99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1EA6D7-BBFA-44A4-BBD4-7DDF74B48E18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30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8E4429-EF20-4367-A18B-946A02232E72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85F4E-703D-4DDA-A04C-5275EF0B4349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6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C09A3A-CC11-4C77-93F0-0867CCE43CB2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7C10B-5957-44A4-AE21-D398C1EA64F2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512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DEDBB5-E1BC-4480-B5BD-C5E9E70D6D95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6BF2F-8EAE-4947-A6AE-705CB6B016DB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3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4975" y="549275"/>
            <a:ext cx="2108200" cy="55816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175375" cy="55816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82F663-C0B2-4D7A-9086-04AE7939ADA5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44636-8C9F-4429-B41D-0C113918A764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51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FF"/>
            </a:gs>
            <a:gs pos="10000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392" name="Picture 40" descr="crop_of_DM04_12_2_blu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1" b="23820"/>
          <a:stretch>
            <a:fillRect/>
          </a:stretch>
        </p:blipFill>
        <p:spPr bwMode="blackWhite">
          <a:xfrm>
            <a:off x="0" y="6480175"/>
            <a:ext cx="9144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435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49275"/>
            <a:ext cx="84359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单击此处编辑母版标题样式</a:t>
            </a:r>
          </a:p>
        </p:txBody>
      </p:sp>
      <p:sp>
        <p:nvSpPr>
          <p:cNvPr id="48435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435975" cy="486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单击此处编辑母版文本样式</a:t>
            </a:r>
          </a:p>
          <a:p>
            <a:pPr lvl="1"/>
            <a:r>
              <a:rPr lang="en-US" altLang="zh-CN" smtClean="0"/>
              <a:t>第二级</a:t>
            </a:r>
          </a:p>
          <a:p>
            <a:pPr lvl="2"/>
            <a:r>
              <a:rPr lang="en-US" altLang="zh-CN" smtClean="0"/>
              <a:t>第三级</a:t>
            </a:r>
          </a:p>
          <a:p>
            <a:pPr lvl="3"/>
            <a:r>
              <a:rPr lang="en-US" altLang="zh-CN" smtClean="0"/>
              <a:t>第四级</a:t>
            </a:r>
          </a:p>
          <a:p>
            <a:pPr lvl="4"/>
            <a:r>
              <a:rPr lang="en-US" altLang="zh-CN" smtClean="0"/>
              <a:t>第五级</a:t>
            </a:r>
          </a:p>
        </p:txBody>
      </p:sp>
      <p:sp>
        <p:nvSpPr>
          <p:cNvPr id="48435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524625"/>
            <a:ext cx="2133600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  <a:ea typeface="宋体" charset="-122"/>
              </a:defRPr>
            </a:lvl1pPr>
          </a:lstStyle>
          <a:p>
            <a:fld id="{8F7001E2-937F-4764-916A-4BB9B06FB241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48435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524625"/>
            <a:ext cx="3527425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  <a:ea typeface="楷体_GB2312" pitchFamily="49" charset="-122"/>
              </a:defRPr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48435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524625"/>
            <a:ext cx="1630363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+mn-lt"/>
                <a:ea typeface="宋体" charset="-122"/>
              </a:defRPr>
            </a:lvl1pPr>
          </a:lstStyle>
          <a:p>
            <a:fld id="{7854125E-C87B-484A-8700-536C00B7949E}" type="slidenum">
              <a:rPr lang="en-US" altLang="zh-CN" smtClean="0">
                <a:solidFill>
                  <a:srgbClr val="FFFFFF"/>
                </a:solidFill>
              </a:rPr>
              <a:pPr/>
              <a:t>‹#›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pic>
        <p:nvPicPr>
          <p:cNvPr id="484393" name="Picture 41" descr="crop_of_DM04_12_2_blu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10" b="52319"/>
          <a:stretch>
            <a:fillRect/>
          </a:stretch>
        </p:blipFill>
        <p:spPr bwMode="blackWhite">
          <a:xfrm>
            <a:off x="0" y="0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4394" name="Picture 42" descr="fudan霓虹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0"/>
            <a:ext cx="371475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4395" name="Text Box 43"/>
          <p:cNvSpPr txBox="1">
            <a:spLocks noChangeArrowheads="1"/>
          </p:cNvSpPr>
          <p:nvPr/>
        </p:nvSpPr>
        <p:spPr bwMode="auto">
          <a:xfrm>
            <a:off x="647700" y="107950"/>
            <a:ext cx="3600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smtClean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复旦大学电子工程系   陈光梦</a:t>
            </a:r>
          </a:p>
        </p:txBody>
      </p:sp>
    </p:spTree>
    <p:extLst>
      <p:ext uri="{BB962C8B-B14F-4D97-AF65-F5344CB8AC3E}">
        <p14:creationId xmlns:p14="http://schemas.microsoft.com/office/powerpoint/2010/main" val="375476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j-lt"/>
          <a:ea typeface="+mn-ea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j-lt"/>
          <a:ea typeface="+mn-ea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3.w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9863" y="1752600"/>
            <a:ext cx="8596312" cy="2906713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sz="5400" dirty="0" smtClean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噪    声</a:t>
            </a: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/>
            </a:r>
            <a:b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en-US" altLang="zh-CN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/>
            </a:r>
            <a:br>
              <a:rPr lang="en-US" altLang="zh-CN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2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复旦大学电子工程系  陈光梦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2021/5/24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033673"/>
              </p:ext>
            </p:extLst>
          </p:nvPr>
        </p:nvGraphicFramePr>
        <p:xfrm>
          <a:off x="1469546" y="2438727"/>
          <a:ext cx="5899751" cy="84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Equation" r:id="rId3" imgW="3301920" imgH="457200" progId="Equation.DSMT4">
                  <p:embed/>
                </p:oleObj>
              </mc:Choice>
              <mc:Fallback>
                <p:oleObj name="Equation" r:id="rId3" imgW="330192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546" y="2438727"/>
                        <a:ext cx="5899751" cy="8490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88127" y="291074"/>
            <a:ext cx="84780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zh-CN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噪声</a:t>
            </a:r>
            <a:r>
              <a:rPr lang="zh-CN" altLang="zh-CN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时域特性</a:t>
            </a:r>
            <a:endParaRPr lang="zh-CN" altLang="zh-CN" sz="28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 smtClean="0"/>
              <a:t>噪声的</a:t>
            </a:r>
            <a:r>
              <a:rPr lang="zh-CN" altLang="en-US" dirty="0" smtClean="0"/>
              <a:t>幅度、相位都是</a:t>
            </a:r>
            <a:r>
              <a:rPr lang="zh-CN" altLang="zh-CN" dirty="0" smtClean="0"/>
              <a:t>随机</a:t>
            </a:r>
            <a:r>
              <a:rPr lang="zh-CN" altLang="en-US" dirty="0" smtClean="0"/>
              <a:t>的</a:t>
            </a:r>
            <a:r>
              <a:rPr lang="zh-CN" altLang="zh-CN" dirty="0" smtClean="0"/>
              <a:t>，不能用</a:t>
            </a:r>
            <a:r>
              <a:rPr lang="zh-CN" altLang="zh-CN" dirty="0"/>
              <a:t>电压或电流的</a:t>
            </a:r>
            <a:r>
              <a:rPr lang="zh-CN" altLang="zh-CN" dirty="0" smtClean="0"/>
              <a:t>瞬时值</a:t>
            </a:r>
            <a:r>
              <a:rPr lang="zh-CN" altLang="en-US" dirty="0" smtClean="0"/>
              <a:t>、</a:t>
            </a:r>
            <a:r>
              <a:rPr lang="zh-CN" altLang="zh-CN" dirty="0" smtClean="0"/>
              <a:t>平均值</a:t>
            </a:r>
            <a:r>
              <a:rPr lang="zh-CN" altLang="en-US" dirty="0" smtClean="0"/>
              <a:t>、最大值</a:t>
            </a:r>
            <a:r>
              <a:rPr lang="zh-CN" altLang="zh-CN" dirty="0" smtClean="0"/>
              <a:t>描述</a:t>
            </a:r>
            <a:r>
              <a:rPr lang="zh-CN" altLang="en-US" dirty="0" smtClean="0"/>
              <a:t>，但可以用</a:t>
            </a:r>
            <a:r>
              <a:rPr lang="zh-CN" altLang="zh-CN" dirty="0" smtClean="0"/>
              <a:t>平均功率</a:t>
            </a:r>
            <a:r>
              <a:rPr lang="zh-CN" altLang="en-US" dirty="0" smtClean="0"/>
              <a:t>描述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运放的噪声常用</a:t>
            </a:r>
            <a:r>
              <a:rPr lang="zh-CN" altLang="zh-CN" dirty="0"/>
              <a:t>电压</a:t>
            </a:r>
            <a:r>
              <a:rPr lang="zh-CN" altLang="en-US" dirty="0"/>
              <a:t>或</a:t>
            </a:r>
            <a:r>
              <a:rPr lang="zh-CN" altLang="zh-CN" dirty="0"/>
              <a:t>电流的有效值（均方根值，</a:t>
            </a:r>
            <a:r>
              <a:rPr lang="en-US" altLang="zh-CN" dirty="0" err="1"/>
              <a:t>rms</a:t>
            </a:r>
            <a:r>
              <a:rPr lang="zh-CN" altLang="zh-CN" dirty="0"/>
              <a:t>值</a:t>
            </a:r>
            <a:r>
              <a:rPr lang="zh-CN" altLang="zh-CN" dirty="0" smtClean="0"/>
              <a:t>）</a:t>
            </a:r>
            <a:r>
              <a:rPr lang="zh-CN" altLang="en-US" dirty="0" smtClean="0"/>
              <a:t>描述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60000" lvl="1">
              <a:lnSpc>
                <a:spcPct val="150000"/>
              </a:lnSpc>
            </a:pPr>
            <a:r>
              <a:rPr lang="zh-CN" altLang="en-US" dirty="0" smtClean="0"/>
              <a:t>其中</a:t>
            </a:r>
            <a:r>
              <a:rPr lang="en-US" altLang="zh-CN" i="1" dirty="0" smtClean="0">
                <a:latin typeface="+mn-lt"/>
              </a:rPr>
              <a:t>T</a:t>
            </a:r>
            <a:r>
              <a:rPr lang="zh-CN" altLang="en-US" dirty="0" smtClean="0"/>
              <a:t>是一个合适的平均时间。</a:t>
            </a:r>
            <a:endParaRPr lang="en-US" altLang="zh-CN" dirty="0" smtClean="0"/>
          </a:p>
          <a:p>
            <a:pPr marL="360000" lvl="1">
              <a:lnSpc>
                <a:spcPct val="150000"/>
              </a:lnSpc>
            </a:pPr>
            <a:r>
              <a:rPr lang="zh-CN" altLang="en-US" dirty="0" smtClean="0"/>
              <a:t>由于          除以一个合适的电阻就是功率，所以在运放噪声的计算中，常常用         和       （或     和     ）表示噪声功率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多个非相关噪声叠加应该按照功率叠加的原则</a:t>
            </a:r>
            <a:r>
              <a:rPr lang="zh-CN" altLang="zh-CN" dirty="0" smtClean="0"/>
              <a:t>进行</a:t>
            </a:r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353246"/>
              </p:ext>
            </p:extLst>
          </p:nvPr>
        </p:nvGraphicFramePr>
        <p:xfrm>
          <a:off x="1401369" y="3777795"/>
          <a:ext cx="6048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Equation" r:id="rId5" imgW="342720" imgH="228600" progId="Equation.DSMT4">
                  <p:embed/>
                </p:oleObj>
              </mc:Choice>
              <mc:Fallback>
                <p:oleObj name="Equation" r:id="rId5" imgW="342720" imgH="228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369" y="3777795"/>
                        <a:ext cx="604837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916997"/>
              </p:ext>
            </p:extLst>
          </p:nvPr>
        </p:nvGraphicFramePr>
        <p:xfrm>
          <a:off x="4144347" y="4205771"/>
          <a:ext cx="2476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Equation" r:id="rId7" imgW="139680" imgH="241200" progId="Equation.DSMT4">
                  <p:embed/>
                </p:oleObj>
              </mc:Choice>
              <mc:Fallback>
                <p:oleObj name="Equation" r:id="rId7" imgW="139680" imgH="2412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347" y="4205771"/>
                        <a:ext cx="247650" cy="446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259589"/>
              </p:ext>
            </p:extLst>
          </p:nvPr>
        </p:nvGraphicFramePr>
        <p:xfrm>
          <a:off x="3516660" y="4205771"/>
          <a:ext cx="2921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Equation" r:id="rId9" imgW="164880" imgH="241200" progId="Equation.DSMT4">
                  <p:embed/>
                </p:oleObj>
              </mc:Choice>
              <mc:Fallback>
                <p:oleObj name="Equation" r:id="rId9" imgW="164880" imgH="2412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660" y="4205771"/>
                        <a:ext cx="292100" cy="446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16312"/>
              </p:ext>
            </p:extLst>
          </p:nvPr>
        </p:nvGraphicFramePr>
        <p:xfrm>
          <a:off x="2506362" y="4238518"/>
          <a:ext cx="5826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Equation" r:id="rId11" imgW="330120" imgH="228600" progId="Equation.DSMT4">
                  <p:embed/>
                </p:oleObj>
              </mc:Choice>
              <mc:Fallback>
                <p:oleObj name="Equation" r:id="rId11" imgW="33012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362" y="4238518"/>
                        <a:ext cx="582613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690511"/>
              </p:ext>
            </p:extLst>
          </p:nvPr>
        </p:nvGraphicFramePr>
        <p:xfrm>
          <a:off x="1626951" y="4250425"/>
          <a:ext cx="6048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Equation" r:id="rId13" imgW="342720" imgH="228600" progId="Equation.DSMT4">
                  <p:embed/>
                </p:oleObj>
              </mc:Choice>
              <mc:Fallback>
                <p:oleObj name="Equation" r:id="rId13" imgW="34272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951" y="4250425"/>
                        <a:ext cx="604837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628463"/>
              </p:ext>
            </p:extLst>
          </p:nvPr>
        </p:nvGraphicFramePr>
        <p:xfrm>
          <a:off x="1469546" y="5611462"/>
          <a:ext cx="64833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Equation" r:id="rId15" imgW="3517560" imgH="266400" progId="Equation.DSMT4">
                  <p:embed/>
                </p:oleObj>
              </mc:Choice>
              <mc:Fallback>
                <p:oleObj name="Equation" r:id="rId15" imgW="3517560" imgH="2664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546" y="5611462"/>
                        <a:ext cx="6483350" cy="509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725082"/>
              </p:ext>
            </p:extLst>
          </p:nvPr>
        </p:nvGraphicFramePr>
        <p:xfrm>
          <a:off x="1469546" y="5184721"/>
          <a:ext cx="177006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Equation" r:id="rId17" imgW="952200" imgH="203040" progId="Equation.DSMT4">
                  <p:embed/>
                </p:oleObj>
              </mc:Choice>
              <mc:Fallback>
                <p:oleObj name="Equation" r:id="rId17" imgW="95220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546" y="5184721"/>
                        <a:ext cx="1770062" cy="382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2021/5/24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61811" y="546009"/>
            <a:ext cx="82361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噪声电压或电流的峰峰值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噪声的瞬时电压或瞬时</a:t>
            </a:r>
            <a:r>
              <a:rPr lang="zh-CN" altLang="zh-CN" dirty="0" smtClean="0"/>
              <a:t>电流不确定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在</a:t>
            </a:r>
            <a:r>
              <a:rPr lang="zh-CN" altLang="zh-CN" dirty="0"/>
              <a:t>某个范围内的瞬时电压或瞬时电流出现的几率可以用统计方法</a:t>
            </a:r>
            <a:r>
              <a:rPr lang="zh-CN" altLang="zh-CN" dirty="0" smtClean="0"/>
              <a:t>估计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许多噪声</a:t>
            </a:r>
            <a:r>
              <a:rPr lang="zh-CN" altLang="en-US" dirty="0" smtClean="0"/>
              <a:t>的</a:t>
            </a:r>
            <a:r>
              <a:rPr lang="zh-CN" altLang="zh-CN" dirty="0" smtClean="0"/>
              <a:t>瞬时幅度服从正态分布</a:t>
            </a:r>
            <a:r>
              <a:rPr lang="zh-CN" altLang="en-US" dirty="0" smtClean="0"/>
              <a:t>。</a:t>
            </a:r>
            <a:r>
              <a:rPr lang="zh-CN" altLang="zh-CN" dirty="0" smtClean="0"/>
              <a:t>这种</a:t>
            </a:r>
            <a:r>
              <a:rPr lang="zh-CN" altLang="zh-CN" dirty="0"/>
              <a:t>噪声的瞬时峰值小于</a:t>
            </a:r>
            <a:r>
              <a:rPr lang="en-US" altLang="zh-CN" dirty="0"/>
              <a:t>3</a:t>
            </a:r>
            <a:r>
              <a:rPr lang="zh-CN" altLang="zh-CN" dirty="0"/>
              <a:t>倍有效值的出现几率达</a:t>
            </a:r>
            <a:r>
              <a:rPr lang="en-US" altLang="zh-CN" dirty="0"/>
              <a:t>99.7%</a:t>
            </a:r>
            <a:r>
              <a:rPr lang="zh-CN" altLang="zh-CN" dirty="0"/>
              <a:t>，小于</a:t>
            </a:r>
            <a:r>
              <a:rPr lang="en-US" altLang="zh-CN" dirty="0"/>
              <a:t>3.3</a:t>
            </a:r>
            <a:r>
              <a:rPr lang="zh-CN" altLang="zh-CN" dirty="0"/>
              <a:t>倍有效值的出现几率达</a:t>
            </a:r>
            <a:r>
              <a:rPr lang="en-US" altLang="zh-CN" dirty="0"/>
              <a:t>99.9</a:t>
            </a:r>
            <a:r>
              <a:rPr lang="en-US" altLang="zh-CN" dirty="0" smtClean="0"/>
              <a:t>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实际</a:t>
            </a:r>
            <a:r>
              <a:rPr lang="zh-CN" altLang="zh-CN" dirty="0"/>
              <a:t>测量中常常将可能出现的最大噪声峰峰值与噪声有效值之比规定为</a:t>
            </a:r>
            <a:r>
              <a:rPr lang="en-US" altLang="zh-CN" dirty="0"/>
              <a:t>6</a:t>
            </a:r>
            <a:r>
              <a:rPr lang="zh-CN" altLang="zh-CN" dirty="0"/>
              <a:t>或</a:t>
            </a:r>
            <a:r>
              <a:rPr lang="en-US" altLang="zh-CN" dirty="0" smtClean="0"/>
              <a:t>6.6</a:t>
            </a:r>
            <a:endParaRPr lang="zh-CN" altLang="zh-C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观察</a:t>
            </a:r>
            <a:r>
              <a:rPr lang="zh-CN" altLang="zh-CN" dirty="0"/>
              <a:t>噪声时</a:t>
            </a:r>
            <a:r>
              <a:rPr lang="zh-CN" altLang="zh-CN" dirty="0" smtClean="0"/>
              <a:t>，出现</a:t>
            </a:r>
            <a:r>
              <a:rPr lang="en-US" altLang="zh-CN" dirty="0"/>
              <a:t>3</a:t>
            </a:r>
            <a:r>
              <a:rPr lang="zh-CN" altLang="zh-CN" dirty="0"/>
              <a:t>或</a:t>
            </a:r>
            <a:r>
              <a:rPr lang="en-US" altLang="zh-CN" dirty="0"/>
              <a:t>3.3</a:t>
            </a:r>
            <a:r>
              <a:rPr lang="zh-CN" altLang="zh-CN" dirty="0"/>
              <a:t>倍有效值的噪声峰值的几率很低</a:t>
            </a:r>
            <a:r>
              <a:rPr lang="zh-CN" altLang="zh-CN" dirty="0" smtClean="0"/>
              <a:t>，必须</a:t>
            </a:r>
            <a:r>
              <a:rPr lang="zh-CN" altLang="zh-CN" dirty="0"/>
              <a:t>经过长时间多次采样才可能观察到这些瞬时</a:t>
            </a:r>
            <a:r>
              <a:rPr lang="zh-CN" altLang="zh-CN" dirty="0" smtClean="0"/>
              <a:t>峰值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653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2021/5/24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17228" y="415229"/>
            <a:ext cx="847806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zh-CN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噪声</a:t>
            </a:r>
            <a:r>
              <a:rPr lang="zh-CN" altLang="zh-CN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频域特性</a:t>
            </a:r>
            <a:endParaRPr lang="zh-CN" altLang="zh-CN" sz="28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噪声</a:t>
            </a:r>
            <a:r>
              <a:rPr lang="zh-CN" altLang="zh-CN" dirty="0"/>
              <a:t>是广谱的</a:t>
            </a:r>
            <a:r>
              <a:rPr lang="zh-CN" altLang="zh-CN" dirty="0" smtClean="0"/>
              <a:t>，</a:t>
            </a:r>
            <a:r>
              <a:rPr lang="zh-CN" altLang="en-US" dirty="0" smtClean="0"/>
              <a:t>平均</a:t>
            </a:r>
            <a:r>
              <a:rPr lang="zh-CN" altLang="zh-CN" dirty="0" smtClean="0"/>
              <a:t>功率与</a:t>
            </a:r>
            <a:r>
              <a:rPr lang="zh-CN" altLang="en-US" dirty="0" smtClean="0"/>
              <a:t>频率和</a:t>
            </a:r>
            <a:r>
              <a:rPr lang="zh-CN" altLang="zh-CN" dirty="0" smtClean="0"/>
              <a:t>带宽</a:t>
            </a:r>
            <a:r>
              <a:rPr lang="zh-CN" altLang="zh-CN" dirty="0"/>
              <a:t>有关，计算</a:t>
            </a:r>
            <a:r>
              <a:rPr lang="zh-CN" altLang="zh-CN" dirty="0" smtClean="0"/>
              <a:t>噪声功率</a:t>
            </a:r>
            <a:r>
              <a:rPr lang="zh-CN" altLang="en-US" dirty="0" smtClean="0"/>
              <a:t>须</a:t>
            </a:r>
            <a:r>
              <a:rPr lang="zh-CN" altLang="zh-CN" dirty="0" smtClean="0"/>
              <a:t>给定频率范围</a:t>
            </a:r>
            <a:r>
              <a:rPr lang="zh-CN" altLang="en-US" dirty="0" smtClean="0"/>
              <a:t>。令</a:t>
            </a:r>
            <a:r>
              <a:rPr lang="zh-CN" altLang="zh-CN" dirty="0" smtClean="0"/>
              <a:t>频率</a:t>
            </a:r>
            <a:r>
              <a:rPr lang="zh-CN" altLang="zh-CN" dirty="0"/>
              <a:t>范围</a:t>
            </a:r>
            <a:r>
              <a:rPr lang="zh-CN" altLang="zh-CN" dirty="0" smtClean="0"/>
              <a:t>趋于</a:t>
            </a:r>
            <a:r>
              <a:rPr lang="zh-CN" altLang="en-US" dirty="0" smtClean="0"/>
              <a:t>零可</a:t>
            </a:r>
            <a:r>
              <a:rPr lang="zh-CN" altLang="zh-CN" dirty="0" smtClean="0"/>
              <a:t>得到</a:t>
            </a:r>
            <a:r>
              <a:rPr lang="zh-CN" altLang="zh-CN" dirty="0" smtClean="0">
                <a:solidFill>
                  <a:srgbClr val="FF0000"/>
                </a:solidFill>
              </a:rPr>
              <a:t>噪声功率</a:t>
            </a:r>
            <a:r>
              <a:rPr lang="zh-CN" altLang="en-US" dirty="0" smtClean="0">
                <a:solidFill>
                  <a:srgbClr val="FF0000"/>
                </a:solidFill>
              </a:rPr>
              <a:t>谱密度              </a:t>
            </a:r>
            <a:r>
              <a:rPr lang="zh-CN" altLang="en-US" dirty="0" smtClean="0"/>
              <a:t>，它是频率的函数</a:t>
            </a:r>
            <a:r>
              <a:rPr lang="zh-CN" altLang="en-US" dirty="0"/>
              <a:t>，单位是</a:t>
            </a:r>
            <a:r>
              <a:rPr lang="en-US" altLang="zh-CN" dirty="0" smtClean="0">
                <a:latin typeface="+mn-lt"/>
              </a:rPr>
              <a:t>W/Hz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噪声电压或电流有效值随频率和带宽变化，令带宽为零就是</a:t>
            </a:r>
            <a:r>
              <a:rPr lang="zh-CN" altLang="en-US" dirty="0" smtClean="0">
                <a:solidFill>
                  <a:srgbClr val="FF0000"/>
                </a:solidFill>
              </a:rPr>
              <a:t>噪声电压谱密度           </a:t>
            </a:r>
            <a:r>
              <a:rPr lang="zh-CN" altLang="en-US" dirty="0" smtClean="0"/>
              <a:t>（单位是            ）与</a:t>
            </a:r>
            <a:r>
              <a:rPr lang="zh-CN" altLang="en-US" dirty="0" smtClean="0">
                <a:solidFill>
                  <a:srgbClr val="FF0000"/>
                </a:solidFill>
              </a:rPr>
              <a:t>噪声电流谱密度         </a:t>
            </a:r>
            <a:r>
              <a:rPr lang="zh-CN" altLang="en-US" dirty="0" smtClean="0"/>
              <a:t>（</a:t>
            </a:r>
            <a:r>
              <a:rPr lang="zh-CN" altLang="en-US" dirty="0"/>
              <a:t>单位是            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当噪声的频率范围为 </a:t>
            </a:r>
            <a:r>
              <a:rPr lang="en-US" altLang="zh-CN" i="1" dirty="0" err="1">
                <a:latin typeface="+mn-lt"/>
              </a:rPr>
              <a:t>f</a:t>
            </a:r>
            <a:r>
              <a:rPr lang="en-US" altLang="zh-CN" baseline="-25000" dirty="0" err="1">
                <a:latin typeface="+mn-lt"/>
              </a:rPr>
              <a:t>min</a:t>
            </a:r>
            <a:r>
              <a:rPr lang="en-US" altLang="zh-CN" baseline="-25000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~ </a:t>
            </a:r>
            <a:r>
              <a:rPr lang="en-US" altLang="zh-CN" i="1" dirty="0" err="1">
                <a:latin typeface="+mn-lt"/>
              </a:rPr>
              <a:t>f</a:t>
            </a:r>
            <a:r>
              <a:rPr lang="en-US" altLang="zh-CN" baseline="-25000" dirty="0" err="1">
                <a:latin typeface="+mn-lt"/>
              </a:rPr>
              <a:t>max</a:t>
            </a:r>
            <a:r>
              <a:rPr lang="zh-CN" altLang="en-US" dirty="0">
                <a:latin typeface="+mn-lt"/>
              </a:rPr>
              <a:t> </a:t>
            </a:r>
            <a:r>
              <a:rPr lang="zh-CN" altLang="en-US" dirty="0"/>
              <a:t>时</a:t>
            </a:r>
            <a:endParaRPr lang="en-US" altLang="zh-CN" dirty="0" smtClean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19323"/>
              </p:ext>
            </p:extLst>
          </p:nvPr>
        </p:nvGraphicFramePr>
        <p:xfrm>
          <a:off x="3132138" y="3004699"/>
          <a:ext cx="851186" cy="37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2" name="Equation" r:id="rId3" imgW="482400" imgH="203040" progId="Equation.DSMT4">
                  <p:embed/>
                </p:oleObj>
              </mc:Choice>
              <mc:Fallback>
                <p:oleObj name="Equation" r:id="rId3" imgW="48240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004699"/>
                        <a:ext cx="851186" cy="3761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798282"/>
              </p:ext>
            </p:extLst>
          </p:nvPr>
        </p:nvGraphicFramePr>
        <p:xfrm>
          <a:off x="7879940" y="3004699"/>
          <a:ext cx="851186" cy="37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3" name="Equation" r:id="rId5" imgW="482400" imgH="203040" progId="Equation.DSMT4">
                  <p:embed/>
                </p:oleObj>
              </mc:Choice>
              <mc:Fallback>
                <p:oleObj name="Equation" r:id="rId5" imgW="48240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9940" y="3004699"/>
                        <a:ext cx="851186" cy="3761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027213"/>
              </p:ext>
            </p:extLst>
          </p:nvPr>
        </p:nvGraphicFramePr>
        <p:xfrm>
          <a:off x="2383078" y="3911309"/>
          <a:ext cx="2004868" cy="59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4" name="Equation" r:id="rId7" imgW="1079280" imgH="317160" progId="Equation.DSMT4">
                  <p:embed/>
                </p:oleObj>
              </mc:Choice>
              <mc:Fallback>
                <p:oleObj name="Equation" r:id="rId7" imgW="1079280" imgH="3171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078" y="3911309"/>
                        <a:ext cx="2004868" cy="598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233510"/>
              </p:ext>
            </p:extLst>
          </p:nvPr>
        </p:nvGraphicFramePr>
        <p:xfrm>
          <a:off x="2383078" y="4642419"/>
          <a:ext cx="23542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5" name="Equation" r:id="rId9" imgW="1384200" imgH="342720" progId="Equation.DSMT4">
                  <p:embed/>
                </p:oleObj>
              </mc:Choice>
              <mc:Fallback>
                <p:oleObj name="Equation" r:id="rId9" imgW="1384200" imgH="34272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078" y="4642419"/>
                        <a:ext cx="2354263" cy="606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234709"/>
              </p:ext>
            </p:extLst>
          </p:nvPr>
        </p:nvGraphicFramePr>
        <p:xfrm>
          <a:off x="2383078" y="5396187"/>
          <a:ext cx="23114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6" name="Equation" r:id="rId11" imgW="1358640" imgH="342720" progId="Equation.DSMT4">
                  <p:embed/>
                </p:oleObj>
              </mc:Choice>
              <mc:Fallback>
                <p:oleObj name="Equation" r:id="rId11" imgW="1358640" imgH="34272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078" y="5396187"/>
                        <a:ext cx="2311400" cy="606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704992"/>
              </p:ext>
            </p:extLst>
          </p:nvPr>
        </p:nvGraphicFramePr>
        <p:xfrm>
          <a:off x="6246813" y="1632704"/>
          <a:ext cx="8255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7" name="Equation" r:id="rId13" imgW="444240" imgH="215640" progId="Equation.DSMT4">
                  <p:embed/>
                </p:oleObj>
              </mc:Choice>
              <mc:Fallback>
                <p:oleObj name="Equation" r:id="rId13" imgW="444240" imgH="215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1632704"/>
                        <a:ext cx="825500" cy="404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378504"/>
              </p:ext>
            </p:extLst>
          </p:nvPr>
        </p:nvGraphicFramePr>
        <p:xfrm>
          <a:off x="6246813" y="3004939"/>
          <a:ext cx="80168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8" name="Equation" r:id="rId15" imgW="431640" imgH="215640" progId="Equation.DSMT4">
                  <p:embed/>
                </p:oleObj>
              </mc:Choice>
              <mc:Fallback>
                <p:oleObj name="Equation" r:id="rId15" imgW="431640" imgH="2156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3004939"/>
                        <a:ext cx="801688" cy="404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400138"/>
              </p:ext>
            </p:extLst>
          </p:nvPr>
        </p:nvGraphicFramePr>
        <p:xfrm>
          <a:off x="1418080" y="3004938"/>
          <a:ext cx="8255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9" name="Equation" r:id="rId17" imgW="444240" imgH="215640" progId="Equation.DSMT4">
                  <p:embed/>
                </p:oleObj>
              </mc:Choice>
              <mc:Fallback>
                <p:oleObj name="Equation" r:id="rId17" imgW="444240" imgH="2156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8080" y="3004938"/>
                        <a:ext cx="825500" cy="404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696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2021/5/24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8313" y="374970"/>
            <a:ext cx="823617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噪声的等效带宽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理想</a:t>
            </a:r>
            <a:r>
              <a:rPr lang="zh-CN" altLang="zh-CN" dirty="0"/>
              <a:t>功率增益响应的面积与原电路的功率增益响应的面积相同时，理想功率增益响应的频率</a:t>
            </a:r>
            <a:r>
              <a:rPr lang="zh-CN" altLang="zh-CN" dirty="0" smtClean="0"/>
              <a:t>范围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+mn-ea"/>
                <a:ea typeface="+mn-ea"/>
                <a:cs typeface="Times New Roman" panose="02020603050405020304" pitchFamily="18" charset="0"/>
              </a:rPr>
              <a:t>对于</a:t>
            </a:r>
            <a:r>
              <a:rPr lang="zh-CN" altLang="zh-CN" dirty="0" smtClean="0">
                <a:latin typeface="+mn-ea"/>
                <a:ea typeface="+mn-ea"/>
                <a:cs typeface="Times New Roman" panose="02020603050405020304" pitchFamily="18" charset="0"/>
              </a:rPr>
              <a:t>一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阶特性</a:t>
            </a:r>
            <a:endParaRPr lang="zh-CN" altLang="zh-CN" sz="44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对于高阶特性，与</a:t>
            </a:r>
            <a:r>
              <a:rPr lang="en-US" altLang="zh-CN" dirty="0" smtClean="0"/>
              <a:t>Q</a:t>
            </a:r>
            <a:r>
              <a:rPr lang="zh-CN" altLang="en-US" dirty="0" smtClean="0"/>
              <a:t>值有关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对于巴特沃斯型特性，</a:t>
            </a:r>
            <a:r>
              <a:rPr lang="en-US" altLang="zh-CN" i="1" dirty="0" err="1" smtClean="0"/>
              <a:t>f</a:t>
            </a:r>
            <a:r>
              <a:rPr lang="en-US" altLang="zh-CN" i="1" baseline="-25000" dirty="0" err="1" smtClean="0"/>
              <a:t>n</a:t>
            </a:r>
            <a:r>
              <a:rPr lang="en-US" altLang="zh-CN" dirty="0" smtClean="0"/>
              <a:t>/</a:t>
            </a:r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c</a:t>
            </a:r>
            <a:r>
              <a:rPr lang="zh-CN" altLang="en-US" dirty="0" smtClean="0"/>
              <a:t>与阶数关系为：</a:t>
            </a:r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7882" y="-13814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549345"/>
              </p:ext>
            </p:extLst>
          </p:nvPr>
        </p:nvGraphicFramePr>
        <p:xfrm>
          <a:off x="1535114" y="1764192"/>
          <a:ext cx="3472554" cy="1953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" name="Visio" r:id="rId3" imgW="2381301" imgH="1339573" progId="Visio.Drawing.15">
                  <p:embed/>
                </p:oleObj>
              </mc:Choice>
              <mc:Fallback>
                <p:oleObj name="Visio" r:id="rId3" imgW="2381301" imgH="1339573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4" y="1764192"/>
                        <a:ext cx="3472554" cy="19538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193301"/>
              </p:ext>
            </p:extLst>
          </p:nvPr>
        </p:nvGraphicFramePr>
        <p:xfrm>
          <a:off x="4980993" y="2385624"/>
          <a:ext cx="1873677" cy="64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name="Equation" r:id="rId5" imgW="901309" imgH="291973" progId="Equation.DSMT4">
                  <p:embed/>
                </p:oleObj>
              </mc:Choice>
              <mc:Fallback>
                <p:oleObj name="Equation" r:id="rId5" imgW="901309" imgH="29197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993" y="2385624"/>
                        <a:ext cx="1873677" cy="647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866075"/>
              </p:ext>
            </p:extLst>
          </p:nvPr>
        </p:nvGraphicFramePr>
        <p:xfrm>
          <a:off x="1620164" y="5351928"/>
          <a:ext cx="5392478" cy="841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2605">
                  <a:extLst>
                    <a:ext uri="{9D8B030D-6E8A-4147-A177-3AD203B41FA5}">
                      <a16:colId xmlns:a16="http://schemas.microsoft.com/office/drawing/2014/main" val="2298510754"/>
                    </a:ext>
                  </a:extLst>
                </a:gridCol>
                <a:gridCol w="1001577">
                  <a:extLst>
                    <a:ext uri="{9D8B030D-6E8A-4147-A177-3AD203B41FA5}">
                      <a16:colId xmlns:a16="http://schemas.microsoft.com/office/drawing/2014/main" val="3134225029"/>
                    </a:ext>
                  </a:extLst>
                </a:gridCol>
                <a:gridCol w="1001577">
                  <a:extLst>
                    <a:ext uri="{9D8B030D-6E8A-4147-A177-3AD203B41FA5}">
                      <a16:colId xmlns:a16="http://schemas.microsoft.com/office/drawing/2014/main" val="3390902261"/>
                    </a:ext>
                  </a:extLst>
                </a:gridCol>
                <a:gridCol w="1001577">
                  <a:extLst>
                    <a:ext uri="{9D8B030D-6E8A-4147-A177-3AD203B41FA5}">
                      <a16:colId xmlns:a16="http://schemas.microsoft.com/office/drawing/2014/main" val="684687764"/>
                    </a:ext>
                  </a:extLst>
                </a:gridCol>
                <a:gridCol w="1155142">
                  <a:extLst>
                    <a:ext uri="{9D8B030D-6E8A-4147-A177-3AD203B41FA5}">
                      <a16:colId xmlns:a16="http://schemas.microsoft.com/office/drawing/2014/main" val="435486924"/>
                    </a:ext>
                  </a:extLst>
                </a:gridCol>
              </a:tblGrid>
              <a:tr h="3843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阶数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086678"/>
                  </a:ext>
                </a:extLst>
              </a:tr>
              <a:tr h="3843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1.57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1.11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1.05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1.025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9688608"/>
                  </a:ext>
                </a:extLst>
              </a:tr>
            </a:tbl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416295"/>
              </p:ext>
            </p:extLst>
          </p:nvPr>
        </p:nvGraphicFramePr>
        <p:xfrm>
          <a:off x="2489996" y="3832170"/>
          <a:ext cx="1945684" cy="38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name="Equation" r:id="rId7" imgW="1091726" imgH="203112" progId="Equation.DSMT4">
                  <p:embed/>
                </p:oleObj>
              </mc:Choice>
              <mc:Fallback>
                <p:oleObj name="Equation" r:id="rId7" imgW="1091726" imgH="20311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996" y="3832170"/>
                        <a:ext cx="1945684" cy="382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479602"/>
              </p:ext>
            </p:extLst>
          </p:nvPr>
        </p:nvGraphicFramePr>
        <p:xfrm>
          <a:off x="1915366" y="4552276"/>
          <a:ext cx="3048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Equation" r:id="rId9" imgW="355292" imgH="203024" progId="Equation.DSMT4">
                  <p:embed/>
                </p:oleObj>
              </mc:Choice>
              <mc:Fallback>
                <p:oleObj name="Equation" r:id="rId9" imgW="355292" imgH="20302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366" y="4552276"/>
                        <a:ext cx="30480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796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2021/5/24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68391" y="374970"/>
            <a:ext cx="8497797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电阻的噪声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热</a:t>
            </a:r>
            <a:r>
              <a:rPr lang="zh-CN" altLang="zh-CN" dirty="0" smtClean="0"/>
              <a:t>噪声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噪声电压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rms</a:t>
            </a:r>
            <a:r>
              <a:rPr lang="en-US" altLang="zh-CN" dirty="0">
                <a:latin typeface="+mn-lt"/>
              </a:rPr>
              <a:t>) </a:t>
            </a:r>
            <a:r>
              <a:rPr lang="zh-CN" altLang="en-US" dirty="0" smtClean="0"/>
              <a:t>、噪声电流</a:t>
            </a:r>
            <a:r>
              <a:rPr lang="en-US" altLang="zh-CN" dirty="0" smtClean="0">
                <a:latin typeface="+mn-lt"/>
              </a:rPr>
              <a:t>(</a:t>
            </a:r>
            <a:r>
              <a:rPr lang="en-US" altLang="zh-CN" dirty="0" err="1" smtClean="0">
                <a:latin typeface="+mn-lt"/>
              </a:rPr>
              <a:t>rms</a:t>
            </a:r>
            <a:r>
              <a:rPr lang="en-US" altLang="zh-CN" dirty="0" smtClean="0">
                <a:latin typeface="+mn-lt"/>
              </a:rPr>
              <a:t>)</a:t>
            </a:r>
            <a:r>
              <a:rPr lang="zh-CN" altLang="en-US" dirty="0" smtClean="0"/>
              <a:t>、噪声功率</a:t>
            </a:r>
            <a:endParaRPr lang="en-US" altLang="zh-CN" dirty="0" smtClean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+mn-lt"/>
              </a:rPr>
              <a:t>其中玻尔兹曼常数 </a:t>
            </a:r>
            <a:r>
              <a:rPr lang="en-US" altLang="zh-CN" i="1" dirty="0" smtClean="0">
                <a:latin typeface="+mn-lt"/>
              </a:rPr>
              <a:t>k</a:t>
            </a:r>
            <a:r>
              <a:rPr lang="en-US" altLang="zh-CN" dirty="0" smtClean="0">
                <a:latin typeface="+mn-lt"/>
              </a:rPr>
              <a:t>=1.38×10</a:t>
            </a:r>
            <a:r>
              <a:rPr lang="en-US" altLang="zh-CN" baseline="30000" dirty="0" smtClean="0">
                <a:latin typeface="+mn-lt"/>
              </a:rPr>
              <a:t>-23</a:t>
            </a:r>
            <a:r>
              <a:rPr lang="en-US" altLang="zh-CN" dirty="0" smtClean="0">
                <a:latin typeface="+mn-lt"/>
              </a:rPr>
              <a:t>J/K</a:t>
            </a:r>
            <a:r>
              <a:rPr lang="zh-CN" altLang="en-US" dirty="0" smtClean="0"/>
              <a:t>，室温 </a:t>
            </a:r>
            <a:r>
              <a:rPr lang="en-US" altLang="zh-CN" i="1" dirty="0" smtClean="0">
                <a:latin typeface="+mn-lt"/>
              </a:rPr>
              <a:t>T</a:t>
            </a:r>
            <a:r>
              <a:rPr lang="en-US" altLang="zh-CN" baseline="-25000" dirty="0" smtClean="0">
                <a:latin typeface="+mn-lt"/>
              </a:rPr>
              <a:t>0</a:t>
            </a:r>
            <a:r>
              <a:rPr lang="en-US" altLang="zh-CN" dirty="0" smtClean="0">
                <a:latin typeface="+mn-lt"/>
              </a:rPr>
              <a:t>=290K</a:t>
            </a:r>
            <a:r>
              <a:rPr lang="zh-CN" altLang="en-US" dirty="0" smtClean="0">
                <a:latin typeface="+mn-lt"/>
              </a:rPr>
              <a:t>，</a:t>
            </a:r>
            <a:r>
              <a:rPr lang="en-US" altLang="zh-CN" i="1" dirty="0" smtClean="0">
                <a:latin typeface="+mn-lt"/>
              </a:rPr>
              <a:t>kT</a:t>
            </a:r>
            <a:r>
              <a:rPr lang="en-US" altLang="zh-CN" baseline="-25000" dirty="0" smtClean="0">
                <a:latin typeface="+mn-lt"/>
              </a:rPr>
              <a:t>0</a:t>
            </a:r>
            <a:r>
              <a:rPr lang="en-US" altLang="zh-CN" dirty="0" smtClean="0">
                <a:latin typeface="+mn-lt"/>
              </a:rPr>
              <a:t>=4×10</a:t>
            </a:r>
            <a:r>
              <a:rPr lang="en-US" altLang="zh-CN" baseline="30000" dirty="0" smtClean="0">
                <a:latin typeface="+mn-lt"/>
              </a:rPr>
              <a:t>-21</a:t>
            </a:r>
            <a:r>
              <a:rPr lang="en-US" altLang="zh-CN" dirty="0" smtClean="0">
                <a:latin typeface="+mn-lt"/>
              </a:rPr>
              <a:t>J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噪声电压谱密度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噪声电流谱密度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噪声功率谱密度</a:t>
            </a:r>
            <a:endParaRPr lang="en-US" altLang="zh-CN" dirty="0" smtClean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991332"/>
              </p:ext>
            </p:extLst>
          </p:nvPr>
        </p:nvGraphicFramePr>
        <p:xfrm>
          <a:off x="1082675" y="2056544"/>
          <a:ext cx="67849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" name="Equation" r:id="rId3" imgW="3936960" imgH="279360" progId="Equation.DSMT4">
                  <p:embed/>
                </p:oleObj>
              </mc:Choice>
              <mc:Fallback>
                <p:oleObj name="Equation" r:id="rId3" imgW="3936960" imgH="2793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675" y="2056544"/>
                        <a:ext cx="6784975" cy="487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297016"/>
              </p:ext>
            </p:extLst>
          </p:nvPr>
        </p:nvGraphicFramePr>
        <p:xfrm>
          <a:off x="2570163" y="3537681"/>
          <a:ext cx="40941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" name="Equation" r:id="rId5" imgW="2374560" imgH="241200" progId="Equation.DSMT4">
                  <p:embed/>
                </p:oleObj>
              </mc:Choice>
              <mc:Fallback>
                <p:oleObj name="Equation" r:id="rId5" imgW="2374560" imgH="2412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3537681"/>
                        <a:ext cx="4094162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98524"/>
              </p:ext>
            </p:extLst>
          </p:nvPr>
        </p:nvGraphicFramePr>
        <p:xfrm>
          <a:off x="2547938" y="4490181"/>
          <a:ext cx="41386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" name="Equation" r:id="rId7" imgW="2400120" imgH="241200" progId="Equation.DSMT4">
                  <p:embed/>
                </p:oleObj>
              </mc:Choice>
              <mc:Fallback>
                <p:oleObj name="Equation" r:id="rId7" imgW="2400120" imgH="2412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4490181"/>
                        <a:ext cx="4138612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895480"/>
              </p:ext>
            </p:extLst>
          </p:nvPr>
        </p:nvGraphicFramePr>
        <p:xfrm>
          <a:off x="2076450" y="5373490"/>
          <a:ext cx="50815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" name="Equation" r:id="rId9" imgW="2946240" imgH="228600" progId="Equation.DSMT4">
                  <p:embed/>
                </p:oleObj>
              </mc:Choice>
              <mc:Fallback>
                <p:oleObj name="Equation" r:id="rId9" imgW="2946240" imgH="2286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5373490"/>
                        <a:ext cx="5081588" cy="400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621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7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8313" y="296028"/>
            <a:ext cx="83874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半导体器件的主要噪声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白噪声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zh-CN" dirty="0"/>
              <a:t>有效频带范围内具有恒定的谱</a:t>
            </a:r>
            <a:r>
              <a:rPr lang="zh-CN" altLang="zh-CN" dirty="0" smtClean="0"/>
              <a:t>密度，</a:t>
            </a:r>
            <a:r>
              <a:rPr lang="zh-CN" altLang="zh-CN" dirty="0"/>
              <a:t>噪声功率与带宽</a:t>
            </a:r>
            <a:r>
              <a:rPr lang="zh-CN" altLang="zh-CN" dirty="0" smtClean="0"/>
              <a:t>成正比</a:t>
            </a:r>
            <a:r>
              <a:rPr lang="zh-CN" altLang="en-US" dirty="0" smtClean="0"/>
              <a:t>，</a:t>
            </a:r>
            <a:r>
              <a:rPr lang="zh-CN" altLang="zh-CN" dirty="0" smtClean="0"/>
              <a:t>在</a:t>
            </a:r>
            <a:r>
              <a:rPr lang="zh-CN" altLang="zh-CN" dirty="0"/>
              <a:t>频率</a:t>
            </a:r>
            <a:r>
              <a:rPr lang="en-US" altLang="zh-CN" i="1" dirty="0" err="1">
                <a:latin typeface="+mn-lt"/>
              </a:rPr>
              <a:t>f</a:t>
            </a:r>
            <a:r>
              <a:rPr lang="en-US" altLang="zh-CN" baseline="-25000" dirty="0" err="1">
                <a:latin typeface="+mn-lt"/>
              </a:rPr>
              <a:t>min</a:t>
            </a:r>
            <a:r>
              <a:rPr lang="en-US" altLang="zh-CN" baseline="-25000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~ </a:t>
            </a:r>
            <a:r>
              <a:rPr lang="en-US" altLang="zh-CN" i="1" dirty="0" err="1">
                <a:latin typeface="+mn-lt"/>
              </a:rPr>
              <a:t>f</a:t>
            </a:r>
            <a:r>
              <a:rPr lang="en-US" altLang="zh-CN" baseline="-25000" dirty="0" err="1">
                <a:latin typeface="+mn-lt"/>
              </a:rPr>
              <a:t>max</a:t>
            </a:r>
            <a:r>
              <a:rPr lang="zh-CN" altLang="zh-CN" dirty="0"/>
              <a:t>范围内白噪声</a:t>
            </a:r>
            <a:r>
              <a:rPr lang="zh-CN" altLang="zh-CN" dirty="0" smtClean="0"/>
              <a:t>的</a:t>
            </a:r>
            <a:r>
              <a:rPr lang="zh-CN" altLang="en-US" dirty="0" smtClean="0"/>
              <a:t>电压或电流有效值</a:t>
            </a:r>
            <a:r>
              <a:rPr lang="zh-CN" altLang="zh-CN" dirty="0" smtClean="0"/>
              <a:t>为</a:t>
            </a:r>
            <a:endParaRPr lang="zh-CN" altLang="zh-CN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闪烁噪声（</a:t>
            </a:r>
            <a:r>
              <a:rPr lang="en-US" altLang="zh-CN" dirty="0" smtClean="0">
                <a:latin typeface="+mn-lt"/>
              </a:rPr>
              <a:t>1/</a:t>
            </a:r>
            <a:r>
              <a:rPr lang="en-US" altLang="zh-CN" i="1" dirty="0" smtClean="0">
                <a:latin typeface="+mn-lt"/>
              </a:rPr>
              <a:t>f</a:t>
            </a:r>
            <a:r>
              <a:rPr lang="en-US" altLang="zh-CN" dirty="0" smtClean="0"/>
              <a:t> </a:t>
            </a:r>
            <a:r>
              <a:rPr lang="zh-CN" altLang="en-US" dirty="0" smtClean="0"/>
              <a:t>噪声）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功率谱密度与频率成</a:t>
            </a:r>
            <a:r>
              <a:rPr lang="zh-CN" altLang="zh-CN" dirty="0" smtClean="0"/>
              <a:t>反比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>
              <a:lnSpc>
                <a:spcPct val="200000"/>
              </a:lnSpc>
            </a:pPr>
            <a:r>
              <a:rPr lang="zh-CN" altLang="zh-CN" dirty="0"/>
              <a:t>其中</a:t>
            </a:r>
            <a:r>
              <a:rPr lang="en-US" altLang="zh-CN" i="1" dirty="0" err="1">
                <a:latin typeface="+mn-lt"/>
              </a:rPr>
              <a:t>V</a:t>
            </a:r>
            <a:r>
              <a:rPr lang="en-US" altLang="zh-CN" i="1" baseline="-25000" dirty="0" err="1">
                <a:latin typeface="+mn-lt"/>
              </a:rPr>
              <a:t>nF</a:t>
            </a:r>
            <a:r>
              <a:rPr lang="en-US" altLang="zh-CN" i="1" dirty="0"/>
              <a:t> </a:t>
            </a:r>
            <a:r>
              <a:rPr lang="en-US" altLang="zh-CN" dirty="0">
                <a:latin typeface="+mn-lt"/>
              </a:rPr>
              <a:t>(1)</a:t>
            </a:r>
            <a:r>
              <a:rPr lang="zh-CN" altLang="en-US" dirty="0"/>
              <a:t>和</a:t>
            </a:r>
            <a:r>
              <a:rPr lang="en-US" altLang="zh-CN" i="1" dirty="0">
                <a:latin typeface="+mn-lt"/>
              </a:rPr>
              <a:t> </a:t>
            </a:r>
            <a:r>
              <a:rPr lang="en-US" altLang="zh-CN" i="1" dirty="0" err="1">
                <a:latin typeface="+mn-lt"/>
              </a:rPr>
              <a:t>I</a:t>
            </a:r>
            <a:r>
              <a:rPr lang="en-US" altLang="zh-CN" i="1" baseline="-25000" dirty="0" err="1">
                <a:latin typeface="+mn-lt"/>
              </a:rPr>
              <a:t>nF</a:t>
            </a:r>
            <a:r>
              <a:rPr lang="en-US" altLang="zh-CN" dirty="0"/>
              <a:t> </a:t>
            </a:r>
            <a:r>
              <a:rPr lang="en-US" altLang="zh-CN" dirty="0">
                <a:latin typeface="+mn-lt"/>
              </a:rPr>
              <a:t>(1)</a:t>
            </a:r>
            <a:r>
              <a:rPr lang="en-US" altLang="zh-CN" i="1" baseline="-25000" dirty="0">
                <a:latin typeface="+mn-lt"/>
              </a:rPr>
              <a:t> </a:t>
            </a:r>
            <a:r>
              <a:rPr lang="zh-CN" altLang="zh-CN" dirty="0"/>
              <a:t>是</a:t>
            </a:r>
            <a:r>
              <a:rPr lang="en-US" altLang="zh-CN" dirty="0">
                <a:latin typeface="+mn-lt"/>
              </a:rPr>
              <a:t>1Hz</a:t>
            </a:r>
            <a:r>
              <a:rPr lang="zh-CN" altLang="zh-CN" dirty="0"/>
              <a:t>时的</a:t>
            </a:r>
            <a:r>
              <a:rPr lang="en-US" altLang="zh-CN" dirty="0">
                <a:latin typeface="+mn-lt"/>
              </a:rPr>
              <a:t>1/</a:t>
            </a:r>
            <a:r>
              <a:rPr lang="en-US" altLang="zh-CN" i="1" dirty="0">
                <a:latin typeface="+mn-lt"/>
              </a:rPr>
              <a:t>f </a:t>
            </a:r>
            <a:r>
              <a:rPr lang="zh-CN" altLang="zh-CN" dirty="0"/>
              <a:t>噪声</a:t>
            </a:r>
            <a:r>
              <a:rPr lang="zh-CN" altLang="en-US" dirty="0"/>
              <a:t>电压有效值或噪声电流有效值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zh-CN" dirty="0" smtClean="0"/>
              <a:t>每</a:t>
            </a:r>
            <a:r>
              <a:rPr lang="zh-CN" altLang="zh-CN" dirty="0"/>
              <a:t>倍频程（或十倍频程）的带宽内包含相同的</a:t>
            </a:r>
            <a:r>
              <a:rPr lang="zh-CN" altLang="zh-CN" dirty="0" smtClean="0"/>
              <a:t>噪声功率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zh-CN" dirty="0"/>
              <a:t>在频率</a:t>
            </a:r>
            <a:r>
              <a:rPr lang="en-US" altLang="zh-CN" i="1" dirty="0" err="1">
                <a:latin typeface="+mn-lt"/>
              </a:rPr>
              <a:t>f</a:t>
            </a:r>
            <a:r>
              <a:rPr lang="en-US" altLang="zh-CN" baseline="-25000" dirty="0" err="1">
                <a:latin typeface="+mn-lt"/>
              </a:rPr>
              <a:t>min</a:t>
            </a:r>
            <a:r>
              <a:rPr lang="en-US" altLang="zh-CN" baseline="-25000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~ </a:t>
            </a:r>
            <a:r>
              <a:rPr lang="en-US" altLang="zh-CN" i="1" dirty="0" err="1">
                <a:latin typeface="+mn-lt"/>
              </a:rPr>
              <a:t>f</a:t>
            </a:r>
            <a:r>
              <a:rPr lang="en-US" altLang="zh-CN" baseline="-25000" dirty="0" err="1">
                <a:latin typeface="+mn-lt"/>
              </a:rPr>
              <a:t>max</a:t>
            </a:r>
            <a:r>
              <a:rPr lang="zh-CN" altLang="zh-CN" dirty="0"/>
              <a:t>范围内白噪声的</a:t>
            </a:r>
            <a:r>
              <a:rPr lang="zh-CN" altLang="en-US" dirty="0"/>
              <a:t>电压或电流有效值</a:t>
            </a:r>
            <a:r>
              <a:rPr lang="zh-CN" altLang="zh-CN" dirty="0" smtClean="0"/>
              <a:t>为</a:t>
            </a:r>
            <a:endParaRPr lang="en-US" altLang="zh-CN" dirty="0" smtClean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606468"/>
              </p:ext>
            </p:extLst>
          </p:nvPr>
        </p:nvGraphicFramePr>
        <p:xfrm>
          <a:off x="1313491" y="2415473"/>
          <a:ext cx="6916109" cy="50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9" name="Equation" r:id="rId3" imgW="3504960" imgH="241200" progId="Equation.DSMT4">
                  <p:embed/>
                </p:oleObj>
              </mc:Choice>
              <mc:Fallback>
                <p:oleObj name="Equation" r:id="rId3" imgW="3504960" imgH="24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3491" y="2415473"/>
                        <a:ext cx="6916109" cy="500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017118"/>
              </p:ext>
            </p:extLst>
          </p:nvPr>
        </p:nvGraphicFramePr>
        <p:xfrm>
          <a:off x="3905250" y="3284538"/>
          <a:ext cx="42275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Equation" r:id="rId5" imgW="2273040" imgH="406080" progId="Equation.DSMT4">
                  <p:embed/>
                </p:oleObj>
              </mc:Choice>
              <mc:Fallback>
                <p:oleObj name="Equation" r:id="rId5" imgW="2273040" imgH="4060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3284538"/>
                        <a:ext cx="4227513" cy="781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412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0" y="825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5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519778"/>
              </p:ext>
            </p:extLst>
          </p:nvPr>
        </p:nvGraphicFramePr>
        <p:xfrm>
          <a:off x="1603375" y="5478463"/>
          <a:ext cx="5422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name="Equation" r:id="rId7" imgW="3085920" imgH="431640" progId="Equation.DSMT4">
                  <p:embed/>
                </p:oleObj>
              </mc:Choice>
              <mc:Fallback>
                <p:oleObj name="Equation" r:id="rId7" imgW="3085920" imgH="431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5478463"/>
                        <a:ext cx="542290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3602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8127" y="263136"/>
            <a:ext cx="84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运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放的噪声及计算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运放的噪声模型</a:t>
            </a:r>
            <a:endParaRPr lang="en-US" altLang="zh-CN" dirty="0" smtClean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225739"/>
              </p:ext>
            </p:extLst>
          </p:nvPr>
        </p:nvGraphicFramePr>
        <p:xfrm>
          <a:off x="2756357" y="1273870"/>
          <a:ext cx="3331000" cy="1769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Visio" r:id="rId3" imgW="1752497" imgH="933431" progId="Visio.Drawing.11">
                  <p:embed/>
                </p:oleObj>
              </mc:Choice>
              <mc:Fallback>
                <p:oleObj name="Visio" r:id="rId3" imgW="1752497" imgH="93343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6357" y="1273870"/>
                        <a:ext cx="3331000" cy="17695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68314" y="3109248"/>
            <a:ext cx="82809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包含一个电压噪声源与两个电流噪声源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每个噪声源都含有白噪声与闪烁噪声，且相互独立。但通常运放数据手册仅给出电压噪声源的闪烁噪声参数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若放大器的频响仅在高频区，可忽略闪烁噪声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若放大器的频响从</a:t>
            </a:r>
            <a:r>
              <a:rPr lang="en-US" altLang="zh-CN" dirty="0" smtClean="0"/>
              <a:t>DC</a:t>
            </a:r>
            <a:r>
              <a:rPr lang="zh-CN" altLang="en-US" dirty="0" smtClean="0"/>
              <a:t>开始，必须考虑两种噪声的叠加，此时计算闪烁噪声的下限频率不能为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，可取某个较低的值，例如</a:t>
            </a:r>
            <a:r>
              <a:rPr lang="en-US" altLang="zh-CN" dirty="0" smtClean="0"/>
              <a:t>1Hz</a:t>
            </a:r>
            <a:r>
              <a:rPr lang="zh-CN" altLang="en-US" dirty="0" smtClean="0"/>
              <a:t>或</a:t>
            </a:r>
            <a:r>
              <a:rPr lang="en-US" altLang="zh-CN" dirty="0" smtClean="0"/>
              <a:t>0.1Hz</a:t>
            </a:r>
          </a:p>
        </p:txBody>
      </p:sp>
    </p:spTree>
    <p:extLst>
      <p:ext uri="{BB962C8B-B14F-4D97-AF65-F5344CB8AC3E}">
        <p14:creationId xmlns:p14="http://schemas.microsoft.com/office/powerpoint/2010/main" val="2062352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9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58590" y="1517757"/>
            <a:ext cx="2981905" cy="24499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8313" y="460489"/>
            <a:ext cx="8274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运</a:t>
            </a:r>
            <a:r>
              <a:rPr lang="zh-CN" altLang="en-US" dirty="0" smtClean="0"/>
              <a:t>放噪声参数示例</a:t>
            </a:r>
            <a:endParaRPr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756518" y="4670677"/>
            <a:ext cx="7883872" cy="46263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736783" y="5133306"/>
            <a:ext cx="7910511" cy="100254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88086" y="1059125"/>
            <a:ext cx="5183793" cy="39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以噪声谱图表示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88086" y="4107967"/>
            <a:ext cx="5183793" cy="39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以噪声参数表示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949173" y="1901658"/>
            <a:ext cx="2063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闪烁噪声为主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116922" y="3720040"/>
            <a:ext cx="1727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白噪声为主</a:t>
            </a:r>
            <a:endParaRPr lang="zh-CN" altLang="en-US" dirty="0"/>
          </a:p>
        </p:txBody>
      </p:sp>
      <p:sp>
        <p:nvSpPr>
          <p:cNvPr id="13" name="椭圆 12"/>
          <p:cNvSpPr/>
          <p:nvPr/>
        </p:nvSpPr>
        <p:spPr>
          <a:xfrm>
            <a:off x="1795908" y="2532691"/>
            <a:ext cx="1006498" cy="977486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601913" y="3021434"/>
            <a:ext cx="1738582" cy="55064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802405" y="5521234"/>
            <a:ext cx="1495181" cy="638521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681801" y="5133304"/>
            <a:ext cx="1615786" cy="247666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>
            <a:stCxn id="11" idx="1"/>
          </p:cNvCxnSpPr>
          <p:nvPr/>
        </p:nvCxnSpPr>
        <p:spPr>
          <a:xfrm flipH="1">
            <a:off x="2730043" y="2101713"/>
            <a:ext cx="2219130" cy="6410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3736541" y="2254113"/>
            <a:ext cx="1365032" cy="28552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4249658" y="3403846"/>
            <a:ext cx="867265" cy="3490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6" idx="7"/>
          </p:cNvCxnSpPr>
          <p:nvPr/>
        </p:nvCxnSpPr>
        <p:spPr>
          <a:xfrm flipH="1">
            <a:off x="4078622" y="4117716"/>
            <a:ext cx="1038299" cy="149702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318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10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9187" y="394705"/>
            <a:ext cx="84927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白噪声的功率</a:t>
            </a:r>
            <a:r>
              <a:rPr lang="zh-CN" altLang="en-US" dirty="0"/>
              <a:t>计算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                                 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     其中谱密度函数可以直接在谱图或参数表中得到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974730"/>
              </p:ext>
            </p:extLst>
          </p:nvPr>
        </p:nvGraphicFramePr>
        <p:xfrm>
          <a:off x="1468358" y="956414"/>
          <a:ext cx="60309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0" name="Equation" r:id="rId3" imgW="3568680" imgH="241200" progId="Equation.DSMT4">
                  <p:embed/>
                </p:oleObj>
              </mc:Choice>
              <mc:Fallback>
                <p:oleObj name="Equation" r:id="rId3" imgW="3568680" imgH="2412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358" y="956414"/>
                        <a:ext cx="6030913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605214" y="2433742"/>
            <a:ext cx="8019090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zh-CN" sz="1800" kern="100" dirty="0" smtClean="0">
                <a:latin typeface="Cambria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zh-CN" kern="1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用运放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AD797A</a:t>
            </a:r>
            <a:r>
              <a:rPr lang="zh-CN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设计</a:t>
            </a:r>
            <a:r>
              <a:rPr lang="zh-CN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放</a:t>
            </a:r>
            <a:r>
              <a:rPr lang="zh-CN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大器。该放大器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噪声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带宽为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DC~2kHz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，在输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入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</a:t>
            </a:r>
            <a:r>
              <a:rPr lang="zh-CN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看到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噪声</a:t>
            </a:r>
            <a:r>
              <a:rPr lang="zh-CN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电压计算如下：</a:t>
            </a:r>
            <a:endParaRPr lang="en-US" altLang="zh-CN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7051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AD797A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的数据表中，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1kHz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的等效输入噪声电压密度是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0.9nV/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√Hz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，可认为这就是其白噪声的电压谱密度，所以在此运放输入端的等效白噪声电压有效值为</a:t>
            </a:r>
            <a:endParaRPr lang="zh-CN" altLang="zh-CN" kern="100" dirty="0">
              <a:latin typeface="Cambria" panose="020405030504060302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162074"/>
              </p:ext>
            </p:extLst>
          </p:nvPr>
        </p:nvGraphicFramePr>
        <p:xfrm>
          <a:off x="1624686" y="4889132"/>
          <a:ext cx="5557838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1" name="Equation" r:id="rId5" imgW="3288960" imgH="266400" progId="Equation.DSMT4">
                  <p:embed/>
                </p:oleObj>
              </mc:Choice>
              <mc:Fallback>
                <p:oleObj name="Equation" r:id="rId5" imgW="3288960" imgH="2664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686" y="4889132"/>
                        <a:ext cx="5557838" cy="474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9035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8922" y="524632"/>
            <a:ext cx="8349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/>
              <a:t>闪烁噪声的功率计算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747710"/>
              </p:ext>
            </p:extLst>
          </p:nvPr>
        </p:nvGraphicFramePr>
        <p:xfrm>
          <a:off x="1436688" y="909638"/>
          <a:ext cx="27749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3" imgW="1523880" imgH="380880" progId="Equation.DSMT4">
                  <p:embed/>
                </p:oleObj>
              </mc:Choice>
              <mc:Fallback>
                <p:oleObj name="Equation" r:id="rId3" imgW="1523880" imgH="3808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909638"/>
                        <a:ext cx="2774950" cy="720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54701" y="1583100"/>
            <a:ext cx="81659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其中</a:t>
            </a:r>
            <a:r>
              <a:rPr lang="en-US" altLang="zh-CN" dirty="0">
                <a:latin typeface="+mn-lt"/>
              </a:rPr>
              <a:t>1Hz</a:t>
            </a:r>
            <a:r>
              <a:rPr lang="zh-CN" altLang="zh-CN" dirty="0"/>
              <a:t>时</a:t>
            </a:r>
            <a:r>
              <a:rPr lang="zh-CN" altLang="zh-CN" dirty="0" smtClean="0"/>
              <a:t>的</a:t>
            </a:r>
            <a:r>
              <a:rPr lang="zh-CN" altLang="en-US" dirty="0" smtClean="0"/>
              <a:t>闪烁</a:t>
            </a:r>
            <a:r>
              <a:rPr lang="zh-CN" altLang="zh-CN" dirty="0" smtClean="0"/>
              <a:t>噪声</a:t>
            </a:r>
            <a:r>
              <a:rPr lang="zh-CN" altLang="en-US" dirty="0"/>
              <a:t>电压</a:t>
            </a:r>
            <a:r>
              <a:rPr lang="zh-CN" altLang="en-US" dirty="0" smtClean="0"/>
              <a:t>有效值</a:t>
            </a:r>
            <a:r>
              <a:rPr lang="en-US" altLang="zh-CN" i="1" dirty="0" err="1" smtClean="0">
                <a:latin typeface="+mn-lt"/>
              </a:rPr>
              <a:t>V</a:t>
            </a:r>
            <a:r>
              <a:rPr lang="en-US" altLang="zh-CN" i="1" baseline="-25000" dirty="0" err="1" smtClean="0">
                <a:latin typeface="+mn-lt"/>
              </a:rPr>
              <a:t>n</a:t>
            </a:r>
            <a:r>
              <a:rPr lang="en-US" altLang="zh-CN" baseline="-25000" dirty="0" smtClean="0">
                <a:latin typeface="+mn-lt"/>
              </a:rPr>
              <a:t>(flicker)</a:t>
            </a:r>
            <a:r>
              <a:rPr lang="en-US" altLang="zh-CN" dirty="0" smtClean="0">
                <a:latin typeface="+mn-lt"/>
              </a:rPr>
              <a:t>(1)</a:t>
            </a:r>
            <a:r>
              <a:rPr lang="zh-CN" altLang="en-US" dirty="0" smtClean="0"/>
              <a:t>可按下列方法获得：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在噪声</a:t>
            </a:r>
            <a:r>
              <a:rPr lang="zh-CN" altLang="zh-CN" dirty="0" smtClean="0">
                <a:latin typeface="+mn-ea"/>
                <a:ea typeface="+mn-ea"/>
                <a:cs typeface="Times New Roman" panose="02020603050405020304" pitchFamily="18" charset="0"/>
              </a:rPr>
              <a:t>谱密度曲线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或表格中找一个</a:t>
            </a:r>
            <a:r>
              <a:rPr lang="zh-CN" altLang="zh-CN" dirty="0" smtClean="0">
                <a:latin typeface="+mn-ea"/>
                <a:ea typeface="+mn-ea"/>
                <a:cs typeface="Times New Roman" panose="02020603050405020304" pitchFamily="18" charset="0"/>
              </a:rPr>
              <a:t>频率</a:t>
            </a:r>
            <a:r>
              <a:rPr lang="en-US" altLang="zh-CN" dirty="0" smtClean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+mn-lt"/>
                <a:ea typeface="+mn-ea"/>
                <a:cs typeface="Times New Roman" panose="02020603050405020304" pitchFamily="18" charset="0"/>
              </a:rPr>
              <a:t>f </a:t>
            </a:r>
            <a:r>
              <a:rPr lang="en-US" altLang="zh-CN" dirty="0">
                <a:latin typeface="+mn-lt"/>
                <a:ea typeface="+mn-ea"/>
                <a:cs typeface="Times New Roman" panose="02020603050405020304" pitchFamily="18" charset="0"/>
              </a:rPr>
              <a:t>(Hz)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处的噪声电压谱</a:t>
            </a:r>
            <a:r>
              <a:rPr lang="zh-CN" altLang="en-US" dirty="0" smtClean="0">
                <a:latin typeface="+mn-ea"/>
                <a:ea typeface="+mn-ea"/>
                <a:cs typeface="Times New Roman" panose="02020603050405020304" pitchFamily="18" charset="0"/>
              </a:rPr>
              <a:t>密度</a:t>
            </a:r>
            <a:r>
              <a:rPr lang="en-US" altLang="zh-CN" i="1" dirty="0" err="1" smtClean="0">
                <a:latin typeface="+mn-lt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i="1" baseline="-30000" dirty="0" err="1" smtClean="0">
                <a:latin typeface="+mn-lt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latin typeface="+mn-lt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+mn-lt"/>
                <a:ea typeface="+mn-ea"/>
                <a:cs typeface="Times New Roman" panose="02020603050405020304" pitchFamily="18" charset="0"/>
              </a:rPr>
              <a:t>f </a:t>
            </a:r>
            <a:r>
              <a:rPr lang="en-US" altLang="zh-CN" dirty="0" smtClean="0">
                <a:latin typeface="+mn-lt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，该谱密度</a:t>
            </a:r>
            <a:r>
              <a:rPr lang="zh-CN" altLang="en-US" dirty="0" smtClean="0">
                <a:latin typeface="+mn-ea"/>
                <a:ea typeface="+mn-ea"/>
                <a:cs typeface="Times New Roman" panose="02020603050405020304" pitchFamily="18" charset="0"/>
              </a:rPr>
              <a:t>由</a:t>
            </a:r>
            <a:r>
              <a:rPr lang="zh-CN" altLang="en-US" dirty="0" smtClean="0">
                <a:latin typeface="+mn-lt"/>
                <a:ea typeface="+mn-ea"/>
                <a:cs typeface="Times New Roman" panose="02020603050405020304" pitchFamily="18" charset="0"/>
              </a:rPr>
              <a:t>闪烁</a:t>
            </a:r>
            <a:r>
              <a:rPr lang="zh-CN" altLang="en-US" dirty="0" smtClean="0">
                <a:latin typeface="+mn-ea"/>
                <a:ea typeface="+mn-ea"/>
                <a:cs typeface="Times New Roman" panose="02020603050405020304" pitchFamily="18" charset="0"/>
              </a:rPr>
              <a:t>噪声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与白噪声混合而</a:t>
            </a:r>
            <a:r>
              <a:rPr lang="zh-CN" altLang="en-US" dirty="0" smtClean="0">
                <a:latin typeface="+mn-ea"/>
                <a:ea typeface="+mn-ea"/>
                <a:cs typeface="Times New Roman" panose="02020603050405020304" pitchFamily="18" charset="0"/>
              </a:rPr>
              <a:t>成，减去白噪声功率就是闪烁噪声功率，再根据闪烁噪声密度与频率的反比关系，就有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419578"/>
              </p:ext>
            </p:extLst>
          </p:nvPr>
        </p:nvGraphicFramePr>
        <p:xfrm>
          <a:off x="1347788" y="3516313"/>
          <a:ext cx="32258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5" imgW="1854000" imgH="228600" progId="Equation.DSMT4">
                  <p:embed/>
                </p:oleObj>
              </mc:Choice>
              <mc:Fallback>
                <p:oleObj name="Equation" r:id="rId5" imgW="1854000" imgH="228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3516313"/>
                        <a:ext cx="3225800" cy="415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654701" y="3980395"/>
            <a:ext cx="60917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频率 </a:t>
            </a:r>
            <a:r>
              <a:rPr kumimoji="0" lang="en-US" altLang="zh-CN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f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应该尽可能取得低一些，最方便的是取 </a:t>
            </a:r>
            <a:r>
              <a:rPr kumimoji="0" lang="en-US" altLang="zh-CN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f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=1Hz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0489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9186" y="446869"/>
            <a:ext cx="8557002" cy="204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zh-CN" sz="1800" kern="100" dirty="0" smtClean="0">
                <a:latin typeface="Cambria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zh-CN" kern="1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用运放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AD797A</a:t>
            </a:r>
            <a:r>
              <a:rPr lang="zh-CN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设计</a:t>
            </a:r>
            <a:r>
              <a:rPr lang="zh-CN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放</a:t>
            </a:r>
            <a:r>
              <a:rPr lang="zh-CN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大器。该放大器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噪声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带宽为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DC~2kHz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，在输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入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</a:t>
            </a:r>
            <a:r>
              <a:rPr lang="zh-CN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看到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闪烁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噪声</a:t>
            </a:r>
            <a:r>
              <a:rPr lang="zh-CN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电压计算如下：</a:t>
            </a:r>
            <a:endParaRPr lang="en-US" altLang="zh-CN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7051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AD797A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的数据表中，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10Hz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的输入噪声电压谱密度是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1.7nV/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√Hz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，这是闪烁噪声与白噪声电压谱密度的合成，而其白噪声电压谱密度为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0.9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nV</a:t>
            </a:r>
            <a:r>
              <a:rPr lang="en-US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/</a:t>
            </a:r>
            <a:r>
              <a:rPr lang="en-US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√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由此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的闪烁噪声功率谱密度为</a:t>
            </a:r>
            <a:endParaRPr lang="zh-CN" altLang="zh-CN" kern="100" dirty="0">
              <a:latin typeface="Cambria" panose="020405030504060302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860953"/>
              </p:ext>
            </p:extLst>
          </p:nvPr>
        </p:nvGraphicFramePr>
        <p:xfrm>
          <a:off x="1073150" y="2551113"/>
          <a:ext cx="68262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name="Equation" r:id="rId3" imgW="3924000" imgH="266400" progId="Equation.DSMT4">
                  <p:embed/>
                </p:oleObj>
              </mc:Choice>
              <mc:Fallback>
                <p:oleObj name="Equation" r:id="rId3" imgW="3924000" imgH="2664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2551113"/>
                        <a:ext cx="6826250" cy="484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309186" y="3088868"/>
            <a:ext cx="8557002" cy="848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由于闪烁噪声不能由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开始计算，故设定最低频率为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0.1Hz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，则可计算等效到运放输入端的闪烁噪声电压有效值为</a:t>
            </a:r>
            <a:endParaRPr lang="zh-CN" altLang="zh-CN" kern="100" dirty="0">
              <a:latin typeface="Cambria" panose="020405030504060302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311366"/>
              </p:ext>
            </p:extLst>
          </p:nvPr>
        </p:nvGraphicFramePr>
        <p:xfrm>
          <a:off x="1054100" y="3960813"/>
          <a:ext cx="57531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Equation" r:id="rId5" imgW="3162240" imgH="431640" progId="Equation.DSMT4">
                  <p:embed/>
                </p:oleObj>
              </mc:Choice>
              <mc:Fallback>
                <p:oleObj name="Equation" r:id="rId5" imgW="3162240" imgH="431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3960813"/>
                        <a:ext cx="5753100" cy="815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309186" y="4777349"/>
            <a:ext cx="855700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将此结果与前面白噪声的结果合并，便可以得到这个运放放大器等效到输入端的总电压噪声为</a:t>
            </a:r>
            <a:endParaRPr lang="en-US" altLang="zh-CN" kern="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959667"/>
              </p:ext>
            </p:extLst>
          </p:nvPr>
        </p:nvGraphicFramePr>
        <p:xfrm>
          <a:off x="1301750" y="5722938"/>
          <a:ext cx="49577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Equation" r:id="rId7" imgW="2933640" imgH="266400" progId="Equation.DSMT4">
                  <p:embed/>
                </p:oleObj>
              </mc:Choice>
              <mc:Fallback>
                <p:oleObj name="Equation" r:id="rId7" imgW="2933640" imgH="2664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5722938"/>
                        <a:ext cx="4957763" cy="474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5134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4705" y="414440"/>
            <a:ext cx="83743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基于运放的放大器噪声计算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基本的噪声等效电路：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952457"/>
              </p:ext>
            </p:extLst>
          </p:nvPr>
        </p:nvGraphicFramePr>
        <p:xfrm>
          <a:off x="2178699" y="1157801"/>
          <a:ext cx="3870303" cy="232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Visio" r:id="rId3" imgW="2349328" imgH="1409661" progId="Visio.Drawing.15">
                  <p:embed/>
                </p:oleObj>
              </mc:Choice>
              <mc:Fallback>
                <p:oleObj name="Visio" r:id="rId3" imgW="2349328" imgH="1409661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699" y="1157801"/>
                        <a:ext cx="3870303" cy="23221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03890" y="3515458"/>
            <a:ext cx="822960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i="1" dirty="0" err="1" smtClean="0">
                <a:latin typeface="+mn-lt"/>
              </a:rPr>
              <a:t>V</a:t>
            </a:r>
            <a:r>
              <a:rPr lang="en-US" altLang="zh-CN" i="1" baseline="-25000" dirty="0" err="1" smtClean="0">
                <a:latin typeface="+mn-lt"/>
              </a:rPr>
              <a:t>nA</a:t>
            </a:r>
            <a:r>
              <a:rPr lang="zh-CN" altLang="en-US" dirty="0" smtClean="0"/>
              <a:t>：等效到输入端的运放</a:t>
            </a:r>
            <a:r>
              <a:rPr lang="zh-CN" altLang="en-US" dirty="0" smtClean="0"/>
              <a:t>内部总噪声电压</a:t>
            </a:r>
            <a:endParaRPr lang="en-US" altLang="zh-CN" dirty="0" smtClean="0"/>
          </a:p>
          <a:p>
            <a:pPr>
              <a:lnSpc>
                <a:spcPct val="140000"/>
              </a:lnSpc>
            </a:pPr>
            <a:r>
              <a:rPr lang="en-US" altLang="zh-CN" i="1" dirty="0" smtClean="0">
                <a:latin typeface="+mn-lt"/>
              </a:rPr>
              <a:t>I</a:t>
            </a:r>
            <a:r>
              <a:rPr lang="en-US" altLang="zh-CN" i="1" baseline="-25000" dirty="0" smtClean="0">
                <a:latin typeface="+mn-lt"/>
              </a:rPr>
              <a:t>n+</a:t>
            </a:r>
            <a:r>
              <a:rPr lang="zh-CN" altLang="en-US" dirty="0" smtClean="0"/>
              <a:t>与</a:t>
            </a:r>
            <a:r>
              <a:rPr lang="en-US" altLang="zh-CN" i="1" dirty="0" smtClean="0">
                <a:latin typeface="+mn-lt"/>
              </a:rPr>
              <a:t>I</a:t>
            </a:r>
            <a:r>
              <a:rPr lang="en-US" altLang="zh-CN" i="1" baseline="-25000" dirty="0" smtClean="0">
                <a:latin typeface="+mn-lt"/>
              </a:rPr>
              <a:t>n</a:t>
            </a:r>
            <a:r>
              <a:rPr lang="en-US" altLang="zh-CN" baseline="-25000" dirty="0" smtClean="0">
                <a:latin typeface="+mn-lt"/>
              </a:rPr>
              <a:t>-</a:t>
            </a:r>
            <a:r>
              <a:rPr lang="zh-CN" altLang="en-US" dirty="0" smtClean="0"/>
              <a:t>：等效</a:t>
            </a:r>
            <a:r>
              <a:rPr lang="zh-CN" altLang="en-US" dirty="0"/>
              <a:t>到输入端的运放</a:t>
            </a:r>
            <a:r>
              <a:rPr lang="zh-CN" altLang="en-US" dirty="0" smtClean="0"/>
              <a:t>内部总噪声电流，两个输入端可能不一致</a:t>
            </a:r>
            <a:endParaRPr lang="en-US" altLang="zh-CN" dirty="0" smtClean="0"/>
          </a:p>
          <a:p>
            <a:pPr>
              <a:lnSpc>
                <a:spcPct val="170000"/>
              </a:lnSpc>
            </a:pPr>
            <a:r>
              <a:rPr lang="en-US" altLang="zh-CN" i="1" dirty="0" err="1" smtClean="0">
                <a:latin typeface="+mn-lt"/>
              </a:rPr>
              <a:t>V</a:t>
            </a:r>
            <a:r>
              <a:rPr lang="en-US" altLang="zh-CN" i="1" baseline="-25000" dirty="0" err="1" smtClean="0">
                <a:latin typeface="+mn-lt"/>
              </a:rPr>
              <a:t>nx</a:t>
            </a:r>
            <a:r>
              <a:rPr lang="zh-CN" altLang="en-US" dirty="0" smtClean="0"/>
              <a:t>：电阻</a:t>
            </a:r>
            <a:r>
              <a:rPr lang="en-US" altLang="zh-CN" i="1" dirty="0" smtClean="0">
                <a:latin typeface="+mn-lt"/>
              </a:rPr>
              <a:t>R</a:t>
            </a:r>
            <a:r>
              <a:rPr lang="en-US" altLang="zh-CN" i="1" baseline="-25000" dirty="0" smtClean="0">
                <a:latin typeface="+mn-lt"/>
              </a:rPr>
              <a:t>x</a:t>
            </a:r>
            <a:r>
              <a:rPr lang="zh-CN" altLang="en-US" dirty="0" smtClean="0"/>
              <a:t>的噪声电压</a:t>
            </a:r>
            <a:r>
              <a:rPr lang="zh-CN" altLang="en-US" dirty="0" smtClean="0"/>
              <a:t>，                        </a:t>
            </a:r>
            <a:endParaRPr lang="en-US" altLang="zh-CN" dirty="0" smtClean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935392"/>
              </p:ext>
            </p:extLst>
          </p:nvPr>
        </p:nvGraphicFramePr>
        <p:xfrm>
          <a:off x="3543962" y="4508053"/>
          <a:ext cx="17287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name="Equation" r:id="rId5" imgW="863280" imgH="241200" progId="Equation.DSMT4">
                  <p:embed/>
                </p:oleObj>
              </mc:Choice>
              <mc:Fallback>
                <p:oleObj name="Equation" r:id="rId5" imgW="8632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43962" y="4508053"/>
                        <a:ext cx="1728787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94704" y="4990653"/>
            <a:ext cx="85387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计算放大器的总噪声时，应单独计算各噪声源的等效输入噪声功率（令其他所有噪声电压源短路、噪声电流源开路），然后将全部等效输入功率叠加得到总输入噪声功率，再开方得到输入噪声有效值</a:t>
            </a:r>
            <a:r>
              <a:rPr lang="zh-CN" altLang="en-US" dirty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2972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1813" y="407862"/>
            <a:ext cx="841379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放大器内部噪声电压源</a:t>
            </a:r>
            <a:r>
              <a:rPr lang="en-US" altLang="zh-CN" i="1" dirty="0" err="1" smtClean="0">
                <a:latin typeface="+mn-lt"/>
              </a:rPr>
              <a:t>V</a:t>
            </a:r>
            <a:r>
              <a:rPr lang="en-US" altLang="zh-CN" i="1" baseline="-25000" dirty="0" err="1" smtClean="0">
                <a:latin typeface="+mn-lt"/>
              </a:rPr>
              <a:t>nA</a:t>
            </a:r>
            <a:r>
              <a:rPr lang="zh-CN" altLang="en-US" dirty="0" smtClean="0"/>
              <a:t>的计算可参见前面两个例子，</a:t>
            </a:r>
            <a:r>
              <a:rPr lang="zh-CN" altLang="zh-CN" dirty="0"/>
              <a:t>其等效输入噪声功率</a:t>
            </a:r>
            <a:r>
              <a:rPr lang="zh-CN" altLang="zh-CN" dirty="0" smtClean="0"/>
              <a:t>为</a:t>
            </a:r>
            <a:endParaRPr lang="en-US" altLang="zh-CN" dirty="0" smtClean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噪声电流 </a:t>
            </a:r>
            <a:r>
              <a:rPr lang="en-US" altLang="zh-CN" i="1" dirty="0" smtClean="0">
                <a:latin typeface="+mn-lt"/>
              </a:rPr>
              <a:t>I</a:t>
            </a:r>
            <a:r>
              <a:rPr lang="en-US" altLang="zh-CN" i="1" baseline="-25000" dirty="0" smtClean="0">
                <a:latin typeface="+mn-lt"/>
              </a:rPr>
              <a:t>n</a:t>
            </a:r>
            <a:r>
              <a:rPr lang="en-US" altLang="zh-CN" baseline="-25000" dirty="0" smtClean="0">
                <a:latin typeface="+mn-lt"/>
              </a:rPr>
              <a:t>+ </a:t>
            </a:r>
            <a:r>
              <a:rPr lang="zh-CN" altLang="zh-CN" dirty="0" smtClean="0"/>
              <a:t>在</a:t>
            </a:r>
            <a:r>
              <a:rPr lang="zh-CN" altLang="zh-CN" dirty="0"/>
              <a:t>电阻</a:t>
            </a:r>
            <a:r>
              <a:rPr lang="en-US" altLang="zh-CN" i="1" dirty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3</a:t>
            </a:r>
            <a:r>
              <a:rPr lang="zh-CN" altLang="zh-CN" dirty="0"/>
              <a:t>上的压降等效为噪声电压，直接作用在放大器输入端，所以其等效输入噪声功率</a:t>
            </a:r>
            <a:r>
              <a:rPr lang="zh-CN" altLang="zh-CN" dirty="0" smtClean="0"/>
              <a:t>为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噪声电流</a:t>
            </a:r>
            <a:r>
              <a:rPr lang="en-US" altLang="zh-CN" dirty="0" smtClean="0"/>
              <a:t> </a:t>
            </a:r>
            <a:r>
              <a:rPr lang="en-US" altLang="zh-CN" i="1" dirty="0" smtClean="0">
                <a:latin typeface="+mn-lt"/>
              </a:rPr>
              <a:t>I</a:t>
            </a:r>
            <a:r>
              <a:rPr lang="en-US" altLang="zh-CN" i="1" baseline="-25000" dirty="0" smtClean="0">
                <a:latin typeface="+mn-lt"/>
              </a:rPr>
              <a:t>n</a:t>
            </a:r>
            <a:r>
              <a:rPr lang="en-US" altLang="zh-CN" baseline="-25000" dirty="0" smtClean="0">
                <a:latin typeface="+mn-lt"/>
              </a:rPr>
              <a:t>- </a:t>
            </a:r>
            <a:r>
              <a:rPr lang="zh-CN" altLang="zh-CN" dirty="0" smtClean="0"/>
              <a:t>在</a:t>
            </a:r>
            <a:r>
              <a:rPr lang="zh-CN" altLang="zh-CN" dirty="0"/>
              <a:t>电阻</a:t>
            </a:r>
            <a:r>
              <a:rPr lang="en-US" altLang="zh-CN" i="1" dirty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1</a:t>
            </a:r>
            <a:r>
              <a:rPr lang="en-US" altLang="zh-CN" dirty="0">
                <a:latin typeface="+mn-lt"/>
              </a:rPr>
              <a:t>||</a:t>
            </a:r>
            <a:r>
              <a:rPr lang="en-US" altLang="zh-CN" i="1" dirty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2</a:t>
            </a:r>
            <a:r>
              <a:rPr lang="zh-CN" altLang="zh-CN" dirty="0"/>
              <a:t>上的压降等效为噪声</a:t>
            </a:r>
            <a:r>
              <a:rPr lang="zh-CN" altLang="zh-CN" dirty="0" smtClean="0"/>
              <a:t>电压</a:t>
            </a:r>
            <a:r>
              <a:rPr lang="zh-CN" altLang="en-US" dirty="0"/>
              <a:t>，</a:t>
            </a:r>
            <a:r>
              <a:rPr lang="zh-CN" altLang="zh-CN" dirty="0" smtClean="0"/>
              <a:t>作用</a:t>
            </a:r>
            <a:r>
              <a:rPr lang="zh-CN" altLang="zh-CN" dirty="0"/>
              <a:t>在放大器</a:t>
            </a:r>
            <a:r>
              <a:rPr lang="zh-CN" altLang="zh-CN" dirty="0" smtClean="0"/>
              <a:t>输入端</a:t>
            </a:r>
            <a:r>
              <a:rPr lang="zh-CN" altLang="zh-CN" dirty="0"/>
              <a:t>，所以其等效输入噪声功率</a:t>
            </a:r>
            <a:r>
              <a:rPr lang="zh-CN" altLang="zh-CN" dirty="0" smtClean="0"/>
              <a:t>为</a:t>
            </a:r>
            <a:endParaRPr lang="en-US" altLang="zh-CN" dirty="0" smtClean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416620"/>
              </p:ext>
            </p:extLst>
          </p:nvPr>
        </p:nvGraphicFramePr>
        <p:xfrm>
          <a:off x="2169164" y="1346767"/>
          <a:ext cx="4772025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2" name="Equation" r:id="rId3" imgW="2514600" imgH="622080" progId="Equation.DSMT4">
                  <p:embed/>
                </p:oleObj>
              </mc:Choice>
              <mc:Fallback>
                <p:oleObj name="Equation" r:id="rId3" imgW="2514600" imgH="62208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9164" y="1346767"/>
                        <a:ext cx="4772025" cy="1239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149851"/>
              </p:ext>
            </p:extLst>
          </p:nvPr>
        </p:nvGraphicFramePr>
        <p:xfrm>
          <a:off x="3044031" y="3543798"/>
          <a:ext cx="30210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Equation" r:id="rId5" imgW="1663560" imgH="241200" progId="Equation.DSMT4">
                  <p:embed/>
                </p:oleObj>
              </mc:Choice>
              <mc:Fallback>
                <p:oleObj name="Equation" r:id="rId5" imgW="166356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031" y="3543798"/>
                        <a:ext cx="3021012" cy="461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540642"/>
              </p:ext>
            </p:extLst>
          </p:nvPr>
        </p:nvGraphicFramePr>
        <p:xfrm>
          <a:off x="2460624" y="5004989"/>
          <a:ext cx="41878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Equation" r:id="rId7" imgW="2311200" imgH="228600" progId="Equation.DSMT4">
                  <p:embed/>
                </p:oleObj>
              </mc:Choice>
              <mc:Fallback>
                <p:oleObj name="Equation" r:id="rId7" imgW="23112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4" y="5004989"/>
                        <a:ext cx="4187825" cy="436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61813" y="5701805"/>
            <a:ext cx="8301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噪声电流也包含白噪声与闪烁噪声，应根据实际情况计算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479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1813" y="451872"/>
            <a:ext cx="8413796" cy="498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电阻</a:t>
            </a:r>
            <a:r>
              <a:rPr lang="en-US" altLang="zh-CN" i="1" dirty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3</a:t>
            </a:r>
            <a:r>
              <a:rPr lang="zh-CN" altLang="zh-CN" dirty="0" smtClean="0"/>
              <a:t>的噪声直接作用</a:t>
            </a:r>
            <a:r>
              <a:rPr lang="zh-CN" altLang="zh-CN" dirty="0"/>
              <a:t>在放大器输入端，其等效输入噪声功率</a:t>
            </a:r>
            <a:r>
              <a:rPr lang="zh-CN" altLang="zh-CN" dirty="0" smtClean="0"/>
              <a:t>是</a:t>
            </a:r>
            <a:endParaRPr lang="zh-CN" altLang="zh-CN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847149"/>
              </p:ext>
            </p:extLst>
          </p:nvPr>
        </p:nvGraphicFramePr>
        <p:xfrm>
          <a:off x="3328079" y="981121"/>
          <a:ext cx="2481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9" name="Equation" r:id="rId3" imgW="1358640" imgH="228600" progId="Equation.DSMT4">
                  <p:embed/>
                </p:oleObj>
              </mc:Choice>
              <mc:Fallback>
                <p:oleObj name="Equation" r:id="rId3" imgW="1358640" imgH="228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079" y="981121"/>
                        <a:ext cx="2481263" cy="439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61813" y="1377789"/>
            <a:ext cx="84137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电阻</a:t>
            </a:r>
            <a:r>
              <a:rPr lang="en-US" altLang="zh-CN" i="1" dirty="0" smtClean="0">
                <a:latin typeface="+mn-lt"/>
              </a:rPr>
              <a:t>R</a:t>
            </a:r>
            <a:r>
              <a:rPr lang="en-US" altLang="zh-CN" baseline="-25000" dirty="0" smtClean="0">
                <a:latin typeface="+mn-lt"/>
              </a:rPr>
              <a:t>1</a:t>
            </a:r>
            <a:r>
              <a:rPr lang="zh-CN" altLang="en-US" dirty="0" smtClean="0"/>
              <a:t>噪声电压</a:t>
            </a:r>
            <a:r>
              <a:rPr lang="zh-CN" altLang="en-US" dirty="0"/>
              <a:t>的</a:t>
            </a:r>
            <a:r>
              <a:rPr lang="zh-CN" altLang="en-US" dirty="0" smtClean="0"/>
              <a:t>增益为</a:t>
            </a:r>
            <a:r>
              <a:rPr lang="en-US" altLang="zh-CN" i="1" dirty="0" smtClean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2</a:t>
            </a:r>
            <a:r>
              <a:rPr lang="en-US" altLang="zh-CN" dirty="0" smtClean="0">
                <a:latin typeface="+mn-lt"/>
              </a:rPr>
              <a:t>/</a:t>
            </a:r>
            <a:r>
              <a:rPr lang="en-US" altLang="zh-CN" i="1" dirty="0" smtClean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1</a:t>
            </a:r>
            <a:r>
              <a:rPr lang="zh-CN" altLang="en-US" dirty="0" smtClean="0"/>
              <a:t>，但放大器的噪声增益为</a:t>
            </a:r>
            <a:r>
              <a:rPr lang="en-US" altLang="zh-CN" dirty="0" smtClean="0">
                <a:latin typeface="+mn-lt"/>
              </a:rPr>
              <a:t>(1+</a:t>
            </a:r>
            <a:r>
              <a:rPr lang="en-US" altLang="zh-CN" i="1" dirty="0" smtClean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2</a:t>
            </a:r>
            <a:r>
              <a:rPr lang="en-US" altLang="zh-CN" dirty="0" smtClean="0">
                <a:latin typeface="+mn-lt"/>
              </a:rPr>
              <a:t>/</a:t>
            </a:r>
            <a:r>
              <a:rPr lang="en-US" altLang="zh-CN" i="1" dirty="0" smtClean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1</a:t>
            </a:r>
            <a:r>
              <a:rPr lang="en-US" altLang="zh-CN" dirty="0" smtClean="0">
                <a:latin typeface="+mn-lt"/>
              </a:rPr>
              <a:t>)</a:t>
            </a:r>
            <a:r>
              <a:rPr lang="zh-CN" altLang="en-US" dirty="0" smtClean="0">
                <a:latin typeface="+mn-lt"/>
              </a:rPr>
              <a:t>，将噪声等效到放大器输入端要考虑此因素，得到等效输入噪声功率为</a:t>
            </a:r>
            <a:endParaRPr lang="zh-CN" altLang="en-US" dirty="0">
              <a:latin typeface="+mn-lt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158421"/>
              </p:ext>
            </p:extLst>
          </p:nvPr>
        </p:nvGraphicFramePr>
        <p:xfrm>
          <a:off x="2368247" y="2368788"/>
          <a:ext cx="4400924" cy="690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0" name="Equation" r:id="rId5" imgW="2514600" imgH="380880" progId="Equation.DSMT4">
                  <p:embed/>
                </p:oleObj>
              </mc:Choice>
              <mc:Fallback>
                <p:oleObj name="Equation" r:id="rId5" imgW="2514600" imgH="3808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247" y="2368788"/>
                        <a:ext cx="4400924" cy="6908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61813" y="3000800"/>
            <a:ext cx="84137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电阻</a:t>
            </a:r>
            <a:r>
              <a:rPr lang="en-US" altLang="zh-CN" i="1" dirty="0">
                <a:latin typeface="+mn-lt"/>
              </a:rPr>
              <a:t>R</a:t>
            </a:r>
            <a:r>
              <a:rPr lang="en-US" altLang="zh-CN" baseline="-25000" dirty="0">
                <a:latin typeface="+mn-lt"/>
              </a:rPr>
              <a:t>2</a:t>
            </a:r>
            <a:r>
              <a:rPr lang="zh-CN" altLang="zh-CN" dirty="0"/>
              <a:t>的</a:t>
            </a:r>
            <a:r>
              <a:rPr lang="zh-CN" altLang="zh-CN" dirty="0" smtClean="0"/>
              <a:t>噪声直接作用</a:t>
            </a:r>
            <a:r>
              <a:rPr lang="zh-CN" altLang="zh-CN" dirty="0"/>
              <a:t>在放大器的输出端，将它等效到放大器输入端要除以放大器的噪声增益，所以其等效输入噪声功率是</a:t>
            </a:r>
            <a:endParaRPr lang="zh-CN" altLang="en-US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743003"/>
              </p:ext>
            </p:extLst>
          </p:nvPr>
        </p:nvGraphicFramePr>
        <p:xfrm>
          <a:off x="2824163" y="3937000"/>
          <a:ext cx="3847223" cy="829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1" name="Equation" r:id="rId7" imgW="2019240" imgH="419040" progId="Equation.DSMT4">
                  <p:embed/>
                </p:oleObj>
              </mc:Choice>
              <mc:Fallback>
                <p:oleObj name="Equation" r:id="rId7" imgW="2019240" imgH="4190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163" y="3937000"/>
                        <a:ext cx="3847223" cy="8296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361813" y="4848849"/>
            <a:ext cx="8413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综合上述</a:t>
            </a:r>
            <a:r>
              <a:rPr lang="en-US" altLang="zh-CN" dirty="0" smtClean="0"/>
              <a:t>6</a:t>
            </a:r>
            <a:r>
              <a:rPr lang="zh-CN" altLang="en-US" dirty="0" smtClean="0"/>
              <a:t>个噪声，等效到放大器输入端的总噪声电压有效值为</a:t>
            </a:r>
            <a:endParaRPr lang="zh-CN" altLang="en-US" dirty="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014274"/>
              </p:ext>
            </p:extLst>
          </p:nvPr>
        </p:nvGraphicFramePr>
        <p:xfrm>
          <a:off x="1090613" y="5330825"/>
          <a:ext cx="69564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2" name="Equation" r:id="rId9" imgW="3720960" imgH="469800" progId="Equation.DSMT4">
                  <p:embed/>
                </p:oleObj>
              </mc:Choice>
              <mc:Fallback>
                <p:oleObj name="Equation" r:id="rId9" imgW="3720960" imgH="4698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5330825"/>
                        <a:ext cx="6956425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9311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16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9186" y="446869"/>
            <a:ext cx="85570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zh-CN" sz="180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用运放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AD797A</a:t>
            </a:r>
            <a:r>
              <a:rPr lang="zh-CN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设计</a:t>
            </a:r>
            <a:r>
              <a:rPr lang="zh-CN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放</a:t>
            </a:r>
            <a:r>
              <a:rPr lang="zh-CN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大器。该放大器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噪声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带宽为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DC~2kHz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外围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个电阻阻值为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=1k</a:t>
            </a:r>
            <a:r>
              <a:rPr lang="el-GR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=10k</a:t>
            </a:r>
            <a:r>
              <a:rPr lang="el-GR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=910</a:t>
            </a:r>
            <a:r>
              <a:rPr lang="el-GR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，计算等效到放大器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入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的总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噪声电压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有效值</a:t>
            </a:r>
            <a:endParaRPr lang="en-US" altLang="zh-CN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7051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前面例子已得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这个放大器</a:t>
            </a:r>
            <a:r>
              <a:rPr lang="zh-CN" altLang="en-US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等效到输入端的总电压噪声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                       ，功率为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(42.5×10</a:t>
            </a:r>
            <a:r>
              <a:rPr lang="en-US" altLang="zh-CN" kern="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-9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kern="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=1.8×10</a:t>
            </a:r>
            <a:r>
              <a:rPr lang="en-US" altLang="zh-CN" kern="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-15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(V</a:t>
            </a:r>
            <a:r>
              <a:rPr lang="en-US" altLang="zh-CN" kern="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indent="27051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查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AD797A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数据表，其电流噪声密度为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2pA/</a:t>
            </a:r>
            <a:r>
              <a:rPr lang="en-US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√Hz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，因此</a:t>
            </a:r>
            <a:endParaRPr lang="en-US" altLang="zh-CN" kern="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47661"/>
              </p:ext>
            </p:extLst>
          </p:nvPr>
        </p:nvGraphicFramePr>
        <p:xfrm>
          <a:off x="6777237" y="1672574"/>
          <a:ext cx="14160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Equation" r:id="rId3" imgW="838080" imgH="215640" progId="Equation.DSMT4">
                  <p:embed/>
                </p:oleObj>
              </mc:Choice>
              <mc:Fallback>
                <p:oleObj name="Equation" r:id="rId3" imgW="83808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237" y="1672574"/>
                        <a:ext cx="1416050" cy="384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532482"/>
              </p:ext>
            </p:extLst>
          </p:nvPr>
        </p:nvGraphicFramePr>
        <p:xfrm>
          <a:off x="656243" y="2979052"/>
          <a:ext cx="78628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Equation" r:id="rId5" imgW="4330440" imgH="241200" progId="Equation.DSMT4">
                  <p:embed/>
                </p:oleObj>
              </mc:Choice>
              <mc:Fallback>
                <p:oleObj name="Equation" r:id="rId5" imgW="4330440" imgH="2412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43" y="2979052"/>
                        <a:ext cx="7862888" cy="461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309186" y="3571921"/>
            <a:ext cx="85570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||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，所以</a:t>
            </a:r>
            <a:endParaRPr lang="en-US" altLang="zh-CN" kern="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351465"/>
              </p:ext>
            </p:extLst>
          </p:nvPr>
        </p:nvGraphicFramePr>
        <p:xfrm>
          <a:off x="2991284" y="3618580"/>
          <a:ext cx="29670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Equation" r:id="rId7" imgW="1638000" imgH="215640" progId="Equation.DSMT4">
                  <p:embed/>
                </p:oleObj>
              </mc:Choice>
              <mc:Fallback>
                <p:oleObj name="Equation" r:id="rId7" imgW="163800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1284" y="3618580"/>
                        <a:ext cx="2967038" cy="412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309186" y="4195270"/>
            <a:ext cx="85570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电阻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的等效输入噪声功率是</a:t>
            </a:r>
            <a:endParaRPr lang="en-US" altLang="zh-CN" kern="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385857"/>
              </p:ext>
            </p:extLst>
          </p:nvPr>
        </p:nvGraphicFramePr>
        <p:xfrm>
          <a:off x="4027271" y="4144433"/>
          <a:ext cx="46005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Equation" r:id="rId9" imgW="2628720" imgH="380880" progId="Equation.DSMT4">
                  <p:embed/>
                </p:oleObj>
              </mc:Choice>
              <mc:Fallback>
                <p:oleObj name="Equation" r:id="rId9" imgW="2628720" imgH="38088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271" y="4144433"/>
                        <a:ext cx="4600575" cy="69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309186" y="4949524"/>
            <a:ext cx="85570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电阻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的等效输入噪声功率是</a:t>
            </a:r>
            <a:endParaRPr lang="en-US" altLang="zh-CN" kern="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427669"/>
              </p:ext>
            </p:extLst>
          </p:nvPr>
        </p:nvGraphicFramePr>
        <p:xfrm>
          <a:off x="4027271" y="4874692"/>
          <a:ext cx="469423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Equation" r:id="rId11" imgW="2641320" imgH="380880" progId="Equation.DSMT4">
                  <p:embed/>
                </p:oleObj>
              </mc:Choice>
              <mc:Fallback>
                <p:oleObj name="Equation" r:id="rId11" imgW="2641320" imgH="38088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271" y="4874692"/>
                        <a:ext cx="4694238" cy="703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309186" y="5667849"/>
            <a:ext cx="85570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电阻</a:t>
            </a:r>
            <a:r>
              <a:rPr lang="en-US" altLang="zh-CN" i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kern="1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的等效输入噪声功率是</a:t>
            </a:r>
            <a:endParaRPr lang="en-US" altLang="zh-CN" kern="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499551"/>
              </p:ext>
            </p:extLst>
          </p:nvPr>
        </p:nvGraphicFramePr>
        <p:xfrm>
          <a:off x="4027271" y="5714300"/>
          <a:ext cx="36639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name="Equation" r:id="rId13" imgW="2006280" imgH="215640" progId="Equation.DSMT4">
                  <p:embed/>
                </p:oleObj>
              </mc:Choice>
              <mc:Fallback>
                <p:oleObj name="Equation" r:id="rId13" imgW="2006280" imgH="215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271" y="5714300"/>
                        <a:ext cx="3663950" cy="415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193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17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9186" y="446869"/>
            <a:ext cx="85570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由此得到该</a:t>
            </a:r>
            <a:r>
              <a:rPr lang="zh-CN" altLang="zh-CN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放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大器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等效到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入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的总</a:t>
            </a:r>
            <a:r>
              <a:rPr lang="zh-CN" altLang="zh-CN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噪声电压</a:t>
            </a:r>
            <a:r>
              <a:rPr lang="zh-CN" altLang="en-US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有效值</a:t>
            </a: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kern="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675410"/>
              </p:ext>
            </p:extLst>
          </p:nvPr>
        </p:nvGraphicFramePr>
        <p:xfrm>
          <a:off x="309186" y="939312"/>
          <a:ext cx="854710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3" imgW="4572000" imgH="914400" progId="Equation.DSMT4">
                  <p:embed/>
                </p:oleObj>
              </mc:Choice>
              <mc:Fallback>
                <p:oleObj name="Equation" r:id="rId3" imgW="4572000" imgH="9144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186" y="939312"/>
                        <a:ext cx="8547100" cy="1771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99284" y="2796460"/>
            <a:ext cx="855700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51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kern="0" dirty="0" smtClean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由此例可见各部分噪声的贡献比重之不同。当外部电阻较小时，运放内部噪声电压源的贡献是主要的；当外部电阻增加时，电阻的噪声将逐渐增大；进一步加大电阻，则电流噪声的比重将占主导地位</a:t>
            </a:r>
            <a:endParaRPr lang="en-US" altLang="zh-CN" kern="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743629"/>
              </p:ext>
            </p:extLst>
          </p:nvPr>
        </p:nvGraphicFramePr>
        <p:xfrm>
          <a:off x="2545847" y="4013284"/>
          <a:ext cx="4486481" cy="2391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Visio" r:id="rId5" imgW="2393813" imgH="1275983" progId="Visio.Drawing.15">
                  <p:embed/>
                </p:oleObj>
              </mc:Choice>
              <mc:Fallback>
                <p:oleObj name="Visio" r:id="rId5" imgW="2393813" imgH="1275983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847" y="4013284"/>
                        <a:ext cx="4486481" cy="2391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1634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6608" y="314647"/>
            <a:ext cx="836116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射频放大器的噪声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+mn-ea"/>
                <a:ea typeface="+mn-ea"/>
              </a:rPr>
              <a:t>噪声</a:t>
            </a:r>
            <a:r>
              <a:rPr lang="zh-CN" altLang="en-US" dirty="0" smtClean="0">
                <a:latin typeface="+mn-ea"/>
                <a:ea typeface="+mn-ea"/>
              </a:rPr>
              <a:t>指数</a:t>
            </a:r>
            <a:endParaRPr lang="en-US" altLang="zh-CN" dirty="0" smtClean="0">
              <a:latin typeface="+mn-ea"/>
              <a:ea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两种表示方法：噪声</a:t>
            </a:r>
            <a:r>
              <a:rPr lang="zh-CN" altLang="en-US" dirty="0" smtClean="0"/>
              <a:t>指数 </a:t>
            </a:r>
            <a:r>
              <a:rPr lang="en-US" altLang="zh-CN" i="1" dirty="0" smtClean="0">
                <a:latin typeface="+mn-lt"/>
              </a:rPr>
              <a:t>NF </a:t>
            </a:r>
            <a:r>
              <a:rPr lang="zh-CN" altLang="en-US" dirty="0" smtClean="0"/>
              <a:t>与噪声系数 </a:t>
            </a:r>
            <a:r>
              <a:rPr lang="en-US" altLang="zh-CN" i="1" dirty="0" smtClean="0">
                <a:latin typeface="+mn-lt"/>
              </a:rPr>
              <a:t>F</a:t>
            </a:r>
            <a:endParaRPr lang="en-US" altLang="zh-CN" dirty="0" smtClean="0">
              <a:latin typeface="+mn-lt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噪声系数 </a:t>
            </a:r>
            <a:r>
              <a:rPr lang="en-US" altLang="zh-CN" i="1" dirty="0" smtClean="0">
                <a:latin typeface="+mn-lt"/>
              </a:rPr>
              <a:t>F </a:t>
            </a:r>
            <a:r>
              <a:rPr lang="zh-CN" altLang="en-US" dirty="0" smtClean="0"/>
              <a:t>的</a:t>
            </a:r>
            <a:r>
              <a:rPr lang="zh-CN" altLang="en-US" dirty="0" smtClean="0"/>
              <a:t>定义：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765005"/>
              </p:ext>
            </p:extLst>
          </p:nvPr>
        </p:nvGraphicFramePr>
        <p:xfrm>
          <a:off x="3422838" y="1860131"/>
          <a:ext cx="2137986" cy="419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" name="Equation" r:id="rId3" imgW="1091880" imgH="203040" progId="Equation.DSMT4">
                  <p:embed/>
                </p:oleObj>
              </mc:Choice>
              <mc:Fallback>
                <p:oleObj name="Equation" r:id="rId3" imgW="1091880" imgH="203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838" y="1860131"/>
                        <a:ext cx="2137986" cy="4199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086231"/>
              </p:ext>
            </p:extLst>
          </p:nvPr>
        </p:nvGraphicFramePr>
        <p:xfrm>
          <a:off x="3302747" y="2719863"/>
          <a:ext cx="252888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" name="Equation" r:id="rId5" imgW="1396800" imgH="380880" progId="Equation.DSMT4">
                  <p:embed/>
                </p:oleObj>
              </mc:Choice>
              <mc:Fallback>
                <p:oleObj name="Equation" r:id="rId5" imgW="1396800" imgH="3808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747" y="2719863"/>
                        <a:ext cx="2528887" cy="725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10468" y="3469535"/>
            <a:ext cx="8096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4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由此可得到噪声系数的其他表示式，例如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402801"/>
              </p:ext>
            </p:extLst>
          </p:nvPr>
        </p:nvGraphicFramePr>
        <p:xfrm>
          <a:off x="2946352" y="4083690"/>
          <a:ext cx="324167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8" name="Equation" r:id="rId7" imgW="1790640" imgH="380880" progId="Equation.DSMT4">
                  <p:embed/>
                </p:oleObj>
              </mc:Choice>
              <mc:Fallback>
                <p:oleObj name="Equation" r:id="rId7" imgW="1790640" imgH="3808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352" y="4083690"/>
                        <a:ext cx="3241675" cy="7254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10467" y="4816999"/>
            <a:ext cx="809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4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其中 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ni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latin typeface="Times New Roman" panose="02020603050405020304" pitchFamily="18" charset="0"/>
              </a:rPr>
              <a:t>输入</a:t>
            </a:r>
            <a:r>
              <a:rPr lang="zh-CN" altLang="en-US" dirty="0" smtClean="0">
                <a:latin typeface="Times New Roman" panose="02020603050405020304" pitchFamily="18" charset="0"/>
              </a:rPr>
              <a:t>放大器的外部噪声功率，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nA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是等效到</a:t>
            </a:r>
            <a:r>
              <a:rPr lang="zh-CN" altLang="en-US" dirty="0">
                <a:latin typeface="Times New Roman" panose="02020603050405020304" pitchFamily="18" charset="0"/>
              </a:rPr>
              <a:t>放大器</a:t>
            </a:r>
            <a:r>
              <a:rPr lang="zh-CN" altLang="en-US" dirty="0" smtClean="0">
                <a:latin typeface="Times New Roman" panose="02020603050405020304" pitchFamily="18" charset="0"/>
              </a:rPr>
              <a:t>输入端的内部噪声功率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636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2021/5/24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6608" y="2886412"/>
            <a:ext cx="8077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例：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某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MMIC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NF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=2dB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，则内部噪声功率等效到输入端的密度为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 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放大器输入端的总噪声密度为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725209"/>
              </p:ext>
            </p:extLst>
          </p:nvPr>
        </p:nvGraphicFramePr>
        <p:xfrm>
          <a:off x="2243138" y="3340100"/>
          <a:ext cx="43386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0" name="Equation" r:id="rId3" imgW="2374560" imgH="215640" progId="Equation.DSMT4">
                  <p:embed/>
                </p:oleObj>
              </mc:Choice>
              <mc:Fallback>
                <p:oleObj name="Equation" r:id="rId3" imgW="237456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3340100"/>
                        <a:ext cx="4338637" cy="400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386608" y="514968"/>
            <a:ext cx="84795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</a:rPr>
              <a:t>在</a:t>
            </a:r>
            <a:r>
              <a:rPr lang="zh-CN" altLang="en-US" dirty="0">
                <a:latin typeface="Times New Roman" panose="02020603050405020304" pitchFamily="18" charset="0"/>
              </a:rPr>
              <a:t>阻抗匹配的条件下，</a:t>
            </a:r>
            <a:r>
              <a:rPr lang="zh-CN" altLang="en-US" dirty="0" smtClean="0">
                <a:latin typeface="Times New Roman" panose="02020603050405020304" pitchFamily="18" charset="0"/>
              </a:rPr>
              <a:t>外部噪声由电阻产生，功率谱密度为</a:t>
            </a:r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en-US" altLang="zh-CN" i="1" dirty="0" smtClean="0">
                <a:latin typeface="Times New Roman" panose="02020603050405020304" pitchFamily="18" charset="0"/>
              </a:rPr>
              <a:t>kT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0 </a:t>
            </a:r>
            <a:r>
              <a:rPr lang="zh-CN" altLang="en-US" dirty="0" smtClean="0">
                <a:latin typeface="Times New Roman" panose="02020603050405020304" pitchFamily="18" charset="0"/>
              </a:rPr>
              <a:t>。输入放大器的功率是它的</a:t>
            </a:r>
            <a:r>
              <a:rPr lang="en-US" altLang="zh-CN" dirty="0" smtClean="0">
                <a:latin typeface="Times New Roman" panose="02020603050405020304" pitchFamily="18" charset="0"/>
              </a:rPr>
              <a:t>1/4</a:t>
            </a:r>
            <a:r>
              <a:rPr lang="zh-CN" altLang="en-US" dirty="0" smtClean="0">
                <a:latin typeface="Times New Roman" panose="02020603050405020304" pitchFamily="18" charset="0"/>
              </a:rPr>
              <a:t>，即输入放大器的噪声功率谱密度为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 smtClean="0">
              <a:latin typeface="Times New Roman" panose="02020603050405020304" pitchFamily="18" charset="0"/>
            </a:endParaRPr>
          </a:p>
          <a:p>
            <a:pPr marL="2097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</a:rPr>
              <a:t>根据噪声系数的定义，等效</a:t>
            </a:r>
            <a:r>
              <a:rPr lang="zh-CN" altLang="en-US" dirty="0">
                <a:latin typeface="Times New Roman" panose="02020603050405020304" pitchFamily="18" charset="0"/>
              </a:rPr>
              <a:t>到输入端的放大器内部噪声</a:t>
            </a:r>
            <a:r>
              <a:rPr lang="zh-CN" altLang="en-US" dirty="0" smtClean="0">
                <a:latin typeface="Times New Roman" panose="02020603050405020304" pitchFamily="18" charset="0"/>
              </a:rPr>
              <a:t>功率谱密度为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056720"/>
              </p:ext>
            </p:extLst>
          </p:nvPr>
        </p:nvGraphicFramePr>
        <p:xfrm>
          <a:off x="2144713" y="1439863"/>
          <a:ext cx="46640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1" name="Equation" r:id="rId5" imgW="2552400" imgH="215640" progId="Equation.DSMT4">
                  <p:embed/>
                </p:oleObj>
              </mc:Choice>
              <mc:Fallback>
                <p:oleObj name="Equation" r:id="rId5" imgW="2552400" imgH="2156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713" y="1439863"/>
                        <a:ext cx="4664075" cy="400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345268"/>
              </p:ext>
            </p:extLst>
          </p:nvPr>
        </p:nvGraphicFramePr>
        <p:xfrm>
          <a:off x="2609056" y="2372781"/>
          <a:ext cx="37353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name="Equation" r:id="rId7" imgW="2044440" imgH="215640" progId="Equation.DSMT4">
                  <p:embed/>
                </p:oleObj>
              </mc:Choice>
              <mc:Fallback>
                <p:oleObj name="Equation" r:id="rId7" imgW="2044440" imgH="2156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056" y="2372781"/>
                        <a:ext cx="3735388" cy="400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386608" y="4257726"/>
            <a:ext cx="84795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40000"/>
              </a:lnSpc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实际上，只有在输入阻抗不匹配时才需要计算此内部噪声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lvl="1">
              <a:lnSpc>
                <a:spcPct val="140000"/>
              </a:lnSpc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当阻抗匹配时，外部输入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放大器的噪声功率谱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密度一定是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kT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，内部噪声功率谱密度是它的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-1)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倍，所以总输入噪声功率谱密度就是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∙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kT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，即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937705"/>
              </p:ext>
            </p:extLst>
          </p:nvPr>
        </p:nvGraphicFramePr>
        <p:xfrm>
          <a:off x="1535113" y="5723542"/>
          <a:ext cx="20415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3" name="Equation" r:id="rId9" imgW="1117440" imgH="190440" progId="Equation.DSMT4">
                  <p:embed/>
                </p:oleObj>
              </mc:Choice>
              <mc:Fallback>
                <p:oleObj name="Equation" r:id="rId9" imgW="1117440" imgH="1904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5723542"/>
                        <a:ext cx="2041525" cy="352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776023" y="5699700"/>
            <a:ext cx="559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313001"/>
              </p:ext>
            </p:extLst>
          </p:nvPr>
        </p:nvGraphicFramePr>
        <p:xfrm>
          <a:off x="4592906" y="5753525"/>
          <a:ext cx="23193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4" name="Equation" r:id="rId11" imgW="1269720" imgH="190440" progId="Equation.DSMT4">
                  <p:embed/>
                </p:oleObj>
              </mc:Choice>
              <mc:Fallback>
                <p:oleObj name="Equation" r:id="rId11" imgW="1269720" imgH="1904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906" y="5753525"/>
                        <a:ext cx="2319337" cy="352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821537"/>
              </p:ext>
            </p:extLst>
          </p:nvPr>
        </p:nvGraphicFramePr>
        <p:xfrm>
          <a:off x="4328599" y="3803276"/>
          <a:ext cx="36655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5" name="Equation" r:id="rId13" imgW="2006280" imgH="215640" progId="Equation.DSMT4">
                  <p:embed/>
                </p:oleObj>
              </mc:Choice>
              <mc:Fallback>
                <p:oleObj name="Equation" r:id="rId13" imgW="2006280" imgH="2156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599" y="3803276"/>
                        <a:ext cx="3665537" cy="400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8803530"/>
      </p:ext>
    </p:extLst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Network">
      <a:majorFont>
        <a:latin typeface="Arial"/>
        <a:ea typeface="黑体"/>
        <a:cs typeface=""/>
      </a:majorFont>
      <a:minorFont>
        <a:latin typeface="Times New Roman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13140</TotalTime>
  <Words>1686</Words>
  <Application>Microsoft Office PowerPoint</Application>
  <PresentationFormat>全屏显示(4:3)</PresentationFormat>
  <Paragraphs>179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黑体</vt:lpstr>
      <vt:lpstr>华文细黑</vt:lpstr>
      <vt:lpstr>楷体</vt:lpstr>
      <vt:lpstr>楷体_GB2312</vt:lpstr>
      <vt:lpstr>隶书</vt:lpstr>
      <vt:lpstr>宋体</vt:lpstr>
      <vt:lpstr>Arial</vt:lpstr>
      <vt:lpstr>Cambria</vt:lpstr>
      <vt:lpstr>Times New Roman</vt:lpstr>
      <vt:lpstr>Wingdings</vt:lpstr>
      <vt:lpstr>1_Network</vt:lpstr>
      <vt:lpstr>Equation</vt:lpstr>
      <vt:lpstr>Visio</vt:lpstr>
      <vt:lpstr>MathType 4.0 Equation</vt:lpstr>
      <vt:lpstr>Microsoft Visio 绘图</vt:lpstr>
      <vt:lpstr>噪    声  复旦大学电子工程系  陈光梦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陈光梦</dc:creator>
  <cp:lastModifiedBy>gmchen</cp:lastModifiedBy>
  <cp:revision>305</cp:revision>
  <dcterms:created xsi:type="dcterms:W3CDTF">1601-01-01T00:00:00Z</dcterms:created>
  <dcterms:modified xsi:type="dcterms:W3CDTF">2021-05-24T07:12:02Z</dcterms:modified>
</cp:coreProperties>
</file>