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883" r:id="rId1"/>
  </p:sldMasterIdLst>
  <p:notesMasterIdLst>
    <p:notesMasterId r:id="rId46"/>
  </p:notesMasterIdLst>
  <p:handoutMasterIdLst>
    <p:handoutMasterId r:id="rId47"/>
  </p:handoutMasterIdLst>
  <p:sldIdLst>
    <p:sldId id="398" r:id="rId2"/>
    <p:sldId id="660" r:id="rId3"/>
    <p:sldId id="679" r:id="rId4"/>
    <p:sldId id="719" r:id="rId5"/>
    <p:sldId id="681" r:id="rId6"/>
    <p:sldId id="682" r:id="rId7"/>
    <p:sldId id="713" r:id="rId8"/>
    <p:sldId id="677" r:id="rId9"/>
    <p:sldId id="680" r:id="rId10"/>
    <p:sldId id="683" r:id="rId11"/>
    <p:sldId id="684" r:id="rId12"/>
    <p:sldId id="678" r:id="rId13"/>
    <p:sldId id="710" r:id="rId14"/>
    <p:sldId id="720" r:id="rId15"/>
    <p:sldId id="723" r:id="rId16"/>
    <p:sldId id="698" r:id="rId17"/>
    <p:sldId id="688" r:id="rId18"/>
    <p:sldId id="728" r:id="rId19"/>
    <p:sldId id="695" r:id="rId20"/>
    <p:sldId id="714" r:id="rId21"/>
    <p:sldId id="696" r:id="rId22"/>
    <p:sldId id="703" r:id="rId23"/>
    <p:sldId id="693" r:id="rId24"/>
    <p:sldId id="699" r:id="rId25"/>
    <p:sldId id="700" r:id="rId26"/>
    <p:sldId id="701" r:id="rId27"/>
    <p:sldId id="702" r:id="rId28"/>
    <p:sldId id="712" r:id="rId29"/>
    <p:sldId id="737" r:id="rId30"/>
    <p:sldId id="704" r:id="rId31"/>
    <p:sldId id="706" r:id="rId32"/>
    <p:sldId id="705" r:id="rId33"/>
    <p:sldId id="707" r:id="rId34"/>
    <p:sldId id="708" r:id="rId35"/>
    <p:sldId id="709" r:id="rId36"/>
    <p:sldId id="724" r:id="rId37"/>
    <p:sldId id="725" r:id="rId38"/>
    <p:sldId id="729" r:id="rId39"/>
    <p:sldId id="726" r:id="rId40"/>
    <p:sldId id="735" r:id="rId41"/>
    <p:sldId id="727" r:id="rId42"/>
    <p:sldId id="733" r:id="rId43"/>
    <p:sldId id="734" r:id="rId44"/>
    <p:sldId id="730" r:id="rId45"/>
  </p:sldIdLst>
  <p:sldSz cx="12192000" cy="6858000"/>
  <p:notesSz cx="6735763" cy="9869488"/>
  <p:defaultTextStyle>
    <a:defPPr>
      <a:defRPr lang="en-US"/>
    </a:defPPr>
    <a:lvl1pPr algn="l" rtl="0" fontAlgn="base">
      <a:spcBef>
        <a:spcPct val="0"/>
      </a:spcBef>
      <a:spcAft>
        <a:spcPct val="0"/>
      </a:spcAft>
      <a:defRPr sz="2000" kern="1200">
        <a:solidFill>
          <a:schemeClr val="tx1"/>
        </a:solidFill>
        <a:latin typeface="Arial" charset="0"/>
        <a:ea typeface="华文细黑" pitchFamily="2" charset="-122"/>
        <a:cs typeface="+mn-cs"/>
      </a:defRPr>
    </a:lvl1pPr>
    <a:lvl2pPr marL="457200" algn="l" rtl="0" fontAlgn="base">
      <a:spcBef>
        <a:spcPct val="0"/>
      </a:spcBef>
      <a:spcAft>
        <a:spcPct val="0"/>
      </a:spcAft>
      <a:defRPr sz="2000" kern="1200">
        <a:solidFill>
          <a:schemeClr val="tx1"/>
        </a:solidFill>
        <a:latin typeface="Arial" charset="0"/>
        <a:ea typeface="华文细黑" pitchFamily="2" charset="-122"/>
        <a:cs typeface="+mn-cs"/>
      </a:defRPr>
    </a:lvl2pPr>
    <a:lvl3pPr marL="914400" algn="l" rtl="0" fontAlgn="base">
      <a:spcBef>
        <a:spcPct val="0"/>
      </a:spcBef>
      <a:spcAft>
        <a:spcPct val="0"/>
      </a:spcAft>
      <a:defRPr sz="2000" kern="1200">
        <a:solidFill>
          <a:schemeClr val="tx1"/>
        </a:solidFill>
        <a:latin typeface="Arial" charset="0"/>
        <a:ea typeface="华文细黑" pitchFamily="2" charset="-122"/>
        <a:cs typeface="+mn-cs"/>
      </a:defRPr>
    </a:lvl3pPr>
    <a:lvl4pPr marL="1371600" algn="l" rtl="0" fontAlgn="base">
      <a:spcBef>
        <a:spcPct val="0"/>
      </a:spcBef>
      <a:spcAft>
        <a:spcPct val="0"/>
      </a:spcAft>
      <a:defRPr sz="2000" kern="1200">
        <a:solidFill>
          <a:schemeClr val="tx1"/>
        </a:solidFill>
        <a:latin typeface="Arial" charset="0"/>
        <a:ea typeface="华文细黑" pitchFamily="2" charset="-122"/>
        <a:cs typeface="+mn-cs"/>
      </a:defRPr>
    </a:lvl4pPr>
    <a:lvl5pPr marL="1828800" algn="l" rtl="0" fontAlgn="base">
      <a:spcBef>
        <a:spcPct val="0"/>
      </a:spcBef>
      <a:spcAft>
        <a:spcPct val="0"/>
      </a:spcAft>
      <a:defRPr sz="2000" kern="1200">
        <a:solidFill>
          <a:schemeClr val="tx1"/>
        </a:solidFill>
        <a:latin typeface="Arial" charset="0"/>
        <a:ea typeface="华文细黑" pitchFamily="2" charset="-122"/>
        <a:cs typeface="+mn-cs"/>
      </a:defRPr>
    </a:lvl5pPr>
    <a:lvl6pPr marL="2286000" algn="l" defTabSz="914400" rtl="0" eaLnBrk="1" latinLnBrk="0" hangingPunct="1">
      <a:defRPr sz="2000" kern="1200">
        <a:solidFill>
          <a:schemeClr val="tx1"/>
        </a:solidFill>
        <a:latin typeface="Arial" charset="0"/>
        <a:ea typeface="华文细黑" pitchFamily="2" charset="-122"/>
        <a:cs typeface="+mn-cs"/>
      </a:defRPr>
    </a:lvl6pPr>
    <a:lvl7pPr marL="2743200" algn="l" defTabSz="914400" rtl="0" eaLnBrk="1" latinLnBrk="0" hangingPunct="1">
      <a:defRPr sz="2000" kern="1200">
        <a:solidFill>
          <a:schemeClr val="tx1"/>
        </a:solidFill>
        <a:latin typeface="Arial" charset="0"/>
        <a:ea typeface="华文细黑" pitchFamily="2" charset="-122"/>
        <a:cs typeface="+mn-cs"/>
      </a:defRPr>
    </a:lvl7pPr>
    <a:lvl8pPr marL="3200400" algn="l" defTabSz="914400" rtl="0" eaLnBrk="1" latinLnBrk="0" hangingPunct="1">
      <a:defRPr sz="2000" kern="1200">
        <a:solidFill>
          <a:schemeClr val="tx1"/>
        </a:solidFill>
        <a:latin typeface="Arial" charset="0"/>
        <a:ea typeface="华文细黑" pitchFamily="2" charset="-122"/>
        <a:cs typeface="+mn-cs"/>
      </a:defRPr>
    </a:lvl8pPr>
    <a:lvl9pPr marL="3657600" algn="l" defTabSz="914400" rtl="0" eaLnBrk="1" latinLnBrk="0" hangingPunct="1">
      <a:defRPr sz="2000" kern="1200">
        <a:solidFill>
          <a:schemeClr val="tx1"/>
        </a:solidFill>
        <a:latin typeface="Arial" charset="0"/>
        <a:ea typeface="华文细黑"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09">
          <p15:clr>
            <a:srgbClr val="A4A3A4"/>
          </p15:clr>
        </p15:guide>
        <p15:guide id="2" pos="21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EDFFFF"/>
    <a:srgbClr val="CCECFF"/>
    <a:srgbClr val="99FF99"/>
    <a:srgbClr val="FFFF66"/>
    <a:srgbClr val="66FFFF"/>
    <a:srgbClr val="FFCC00"/>
    <a:srgbClr val="CCFFFF"/>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59" autoAdjust="0"/>
    <p:restoredTop sz="96078" autoAdjust="0"/>
  </p:normalViewPr>
  <p:slideViewPr>
    <p:cSldViewPr snapToGrid="0">
      <p:cViewPr varScale="1">
        <p:scale>
          <a:sx n="88" d="100"/>
          <a:sy n="88" d="100"/>
        </p:scale>
        <p:origin x="80" y="26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71" d="100"/>
          <a:sy n="71" d="100"/>
        </p:scale>
        <p:origin x="2768" y="56"/>
      </p:cViewPr>
      <p:guideLst>
        <p:guide orient="horz" pos="3109"/>
        <p:guide pos="212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emf"/><Relationship Id="rId4"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 Id="rId6" Type="http://schemas.openxmlformats.org/officeDocument/2006/relationships/image" Target="../media/image28.wmf"/><Relationship Id="rId5" Type="http://schemas.openxmlformats.org/officeDocument/2006/relationships/image" Target="../media/image27.wmf"/><Relationship Id="rId4" Type="http://schemas.openxmlformats.org/officeDocument/2006/relationships/image" Target="../media/image26.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image" Target="../media/image31.wmf"/><Relationship Id="rId7" Type="http://schemas.openxmlformats.org/officeDocument/2006/relationships/image" Target="../media/image35.wmf"/><Relationship Id="rId2" Type="http://schemas.openxmlformats.org/officeDocument/2006/relationships/image" Target="../media/image30.wmf"/><Relationship Id="rId1" Type="http://schemas.openxmlformats.org/officeDocument/2006/relationships/image" Target="../media/image29.wmf"/><Relationship Id="rId6" Type="http://schemas.openxmlformats.org/officeDocument/2006/relationships/image" Target="../media/image34.wmf"/><Relationship Id="rId5" Type="http://schemas.openxmlformats.org/officeDocument/2006/relationships/image" Target="../media/image33.wmf"/><Relationship Id="rId10" Type="http://schemas.openxmlformats.org/officeDocument/2006/relationships/image" Target="../media/image28.wmf"/><Relationship Id="rId4" Type="http://schemas.openxmlformats.org/officeDocument/2006/relationships/image" Target="../media/image32.wmf"/><Relationship Id="rId9" Type="http://schemas.openxmlformats.org/officeDocument/2006/relationships/image" Target="../media/image37.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image" Target="../media/image45.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 Id="rId4" Type="http://schemas.openxmlformats.org/officeDocument/2006/relationships/image" Target="../media/image52.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53.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image" Target="../media/image3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97283" name="Rectangle 3"/>
          <p:cNvSpPr>
            <a:spLocks noGrp="1" noChangeArrowheads="1"/>
          </p:cNvSpPr>
          <p:nvPr>
            <p:ph type="dt" sz="quarter"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97284" name="Rectangle 4"/>
          <p:cNvSpPr>
            <a:spLocks noGrp="1" noChangeArrowheads="1"/>
          </p:cNvSpPr>
          <p:nvPr>
            <p:ph type="ftr" sz="quarter" idx="2"/>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97285" name="Rectangle 5"/>
          <p:cNvSpPr>
            <a:spLocks noGrp="1" noChangeArrowheads="1"/>
          </p:cNvSpPr>
          <p:nvPr>
            <p:ph type="sldNum" sz="quarter" idx="3"/>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E6372099-F593-43F9-841D-2A8A1DB37ACA}" type="slidenum">
              <a:rPr lang="zh-CN" altLang="en-US"/>
              <a:pPr>
                <a:defRPr/>
              </a:pPr>
              <a:t>‹#›</a:t>
            </a:fld>
            <a:endParaRPr lang="en-US" altLang="zh-CN"/>
          </a:p>
        </p:txBody>
      </p:sp>
    </p:spTree>
    <p:extLst>
      <p:ext uri="{BB962C8B-B14F-4D97-AF65-F5344CB8AC3E}">
        <p14:creationId xmlns:p14="http://schemas.microsoft.com/office/powerpoint/2010/main" val="33520013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47107" name="Rectangle 3"/>
          <p:cNvSpPr>
            <a:spLocks noGrp="1" noChangeArrowheads="1"/>
          </p:cNvSpPr>
          <p:nvPr>
            <p:ph type="dt"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33796" name="Rectangle 4"/>
          <p:cNvSpPr>
            <a:spLocks noGrp="1" noRot="1" noChangeAspect="1" noChangeArrowheads="1" noTextEdit="1"/>
          </p:cNvSpPr>
          <p:nvPr>
            <p:ph type="sldImg" idx="2"/>
          </p:nvPr>
        </p:nvSpPr>
        <p:spPr bwMode="auto">
          <a:xfrm>
            <a:off x="77788" y="739775"/>
            <a:ext cx="6580187"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p:cNvSpPr>
            <a:spLocks noGrp="1" noChangeArrowheads="1"/>
          </p:cNvSpPr>
          <p:nvPr>
            <p:ph type="body" sz="quarter" idx="3"/>
          </p:nvPr>
        </p:nvSpPr>
        <p:spPr bwMode="auto">
          <a:xfrm>
            <a:off x="673100" y="4687888"/>
            <a:ext cx="5389563" cy="4441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7110" name="Rectangle 6"/>
          <p:cNvSpPr>
            <a:spLocks noGrp="1" noChangeArrowheads="1"/>
          </p:cNvSpPr>
          <p:nvPr>
            <p:ph type="ftr" sz="quarter" idx="4"/>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47111" name="Rectangle 7"/>
          <p:cNvSpPr>
            <a:spLocks noGrp="1" noChangeArrowheads="1"/>
          </p:cNvSpPr>
          <p:nvPr>
            <p:ph type="sldNum" sz="quarter" idx="5"/>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C6010409-D5FA-46F9-8871-2961FD40B879}" type="slidenum">
              <a:rPr lang="zh-CN" altLang="en-US"/>
              <a:pPr>
                <a:defRPr/>
              </a:pPr>
              <a:t>‹#›</a:t>
            </a:fld>
            <a:endParaRPr lang="en-US" altLang="zh-CN"/>
          </a:p>
        </p:txBody>
      </p:sp>
    </p:spTree>
    <p:extLst>
      <p:ext uri="{BB962C8B-B14F-4D97-AF65-F5344CB8AC3E}">
        <p14:creationId xmlns:p14="http://schemas.microsoft.com/office/powerpoint/2010/main" val="31127954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85418" name="Picture 42"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1" y="5154613"/>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5379" name="Rectangle 3"/>
          <p:cNvSpPr>
            <a:spLocks noGrp="1" noChangeArrowheads="1"/>
          </p:cNvSpPr>
          <p:nvPr>
            <p:ph type="ctrTitle"/>
          </p:nvPr>
        </p:nvSpPr>
        <p:spPr>
          <a:xfrm>
            <a:off x="334433" y="1700214"/>
            <a:ext cx="7298267" cy="3457575"/>
          </a:xfrm>
        </p:spPr>
        <p:txBody>
          <a:bodyPr/>
          <a:lstStyle>
            <a:lvl1pPr algn="ctr" fontAlgn="ctr">
              <a:defRPr sz="6000">
                <a:solidFill>
                  <a:srgbClr val="FFFF66"/>
                </a:solidFill>
              </a:defRPr>
            </a:lvl1pPr>
          </a:lstStyle>
          <a:p>
            <a:pPr lvl="0"/>
            <a:r>
              <a:rPr lang="en-US" altLang="zh-CN" noProof="0" smtClean="0"/>
              <a:t>单击此处编辑母版标题样式</a:t>
            </a:r>
          </a:p>
        </p:txBody>
      </p:sp>
      <p:pic>
        <p:nvPicPr>
          <p:cNvPr id="485417" name="Picture 41"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4234" y="0"/>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5419" name="Picture 43" descr="fudan霓虹"/>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53601" y="228600"/>
            <a:ext cx="1682751"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70524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34C533E4-840F-457A-BDC6-00E847894365}" type="datetime1">
              <a:rPr lang="zh-CN" altLang="en-US" smtClean="0">
                <a:solidFill>
                  <a:srgbClr val="FFFFFF"/>
                </a:solidFill>
              </a:rPr>
              <a:t>2023/4/12</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7546952B-77A4-4ED1-9C66-997228AEE54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735448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8B3CDC7C-FE39-44BC-8776-62C7CBA3FD29}" type="datetime1">
              <a:rPr lang="zh-CN" altLang="en-US" smtClean="0">
                <a:solidFill>
                  <a:srgbClr val="FFFFFF"/>
                </a:solidFill>
              </a:rPr>
              <a:t>2023/4/12</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3BBB1522-67C6-4B5B-9E93-199C4BD5AAA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64665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268413"/>
            <a:ext cx="5522384"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335185" y="1268413"/>
            <a:ext cx="5522383"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1EE9AC11-FFD8-425F-85DD-52C90D8403ED}" type="datetime1">
              <a:rPr lang="zh-CN" altLang="en-US" smtClean="0">
                <a:solidFill>
                  <a:srgbClr val="FFFFFF"/>
                </a:solidFill>
              </a:rPr>
              <a:t>2023/4/12</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5BF1C3F-A99D-4E0C-9142-4E955F3C5B6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03266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934FE2D1-6C68-423F-A557-EEF096E28FFE}" type="datetime1">
              <a:rPr lang="zh-CN" altLang="en-US" smtClean="0">
                <a:solidFill>
                  <a:srgbClr val="FFFFFF"/>
                </a:solidFill>
              </a:rPr>
              <a:t>2023/4/12</a:t>
            </a:fld>
            <a:endParaRPr lang="en-US" altLang="zh-CN">
              <a:solidFill>
                <a:srgbClr val="FFFFFF"/>
              </a:solidFill>
            </a:endParaRPr>
          </a:p>
        </p:txBody>
      </p:sp>
      <p:sp>
        <p:nvSpPr>
          <p:cNvPr id="8" name="页脚占位符 7"/>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9" name="灯片编号占位符 8"/>
          <p:cNvSpPr>
            <a:spLocks noGrp="1"/>
          </p:cNvSpPr>
          <p:nvPr>
            <p:ph type="sldNum" sz="quarter" idx="12"/>
          </p:nvPr>
        </p:nvSpPr>
        <p:spPr/>
        <p:txBody>
          <a:bodyPr/>
          <a:lstStyle>
            <a:lvl1pPr>
              <a:defRPr/>
            </a:lvl1pPr>
          </a:lstStyle>
          <a:p>
            <a:fld id="{9F023302-31F7-4957-AA9A-06F65D93711D}"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426798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89CBE490-D6F5-4CE8-B6AB-4A7BEA66CF67}" type="datetime1">
              <a:rPr lang="zh-CN" altLang="en-US" smtClean="0">
                <a:solidFill>
                  <a:srgbClr val="FFFFFF"/>
                </a:solidFill>
              </a:rPr>
              <a:t>2023/4/12</a:t>
            </a:fld>
            <a:endParaRPr lang="en-US" altLang="zh-CN">
              <a:solidFill>
                <a:srgbClr val="FFFFFF"/>
              </a:solidFill>
            </a:endParaRPr>
          </a:p>
        </p:txBody>
      </p:sp>
      <p:sp>
        <p:nvSpPr>
          <p:cNvPr id="4" name="页脚占位符 3"/>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5" name="灯片编号占位符 4"/>
          <p:cNvSpPr>
            <a:spLocks noGrp="1"/>
          </p:cNvSpPr>
          <p:nvPr>
            <p:ph type="sldNum" sz="quarter" idx="12"/>
          </p:nvPr>
        </p:nvSpPr>
        <p:spPr/>
        <p:txBody>
          <a:bodyPr/>
          <a:lstStyle>
            <a:lvl1pPr>
              <a:defRPr/>
            </a:lvl1pPr>
          </a:lstStyle>
          <a:p>
            <a:fld id="{F9C52ED8-7AEC-4CBB-934D-9F20D978842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269992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lvl1pPr>
              <a:defRPr/>
            </a:lvl1pPr>
          </a:lstStyle>
          <a:p>
            <a:fld id="{EE1EA6D7-BBFA-44A4-BBD4-7DDF74B48E1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30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AE8E4429-EF20-4367-A18B-946A02232E72}" type="datetime1">
              <a:rPr lang="zh-CN" altLang="en-US" smtClean="0">
                <a:solidFill>
                  <a:srgbClr val="FFFFFF"/>
                </a:solidFill>
              </a:rPr>
              <a:t>2023/4/12</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16585F4E-703D-4DDA-A04C-5275EF0B434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00960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22C09A3A-CC11-4C77-93F0-0867CCE43CB2}" type="datetime1">
              <a:rPr lang="zh-CN" altLang="en-US" smtClean="0">
                <a:solidFill>
                  <a:srgbClr val="FFFFFF"/>
                </a:solidFill>
              </a:rPr>
              <a:t>2023/4/12</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F07C10B-5957-44A4-AE21-D398C1EA64F2}"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946512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72DEDBB5-E1BC-4480-B5BD-C5E9E70D6D95}" type="datetime1">
              <a:rPr lang="zh-CN" altLang="en-US" smtClean="0">
                <a:solidFill>
                  <a:srgbClr val="FFFFFF"/>
                </a:solidFill>
              </a:rPr>
              <a:t>2023/4/12</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CB66BF2F-8EAE-4947-A6AE-705CB6B016DB}"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246930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46634" y="549275"/>
            <a:ext cx="2810933" cy="55816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1" y="549275"/>
            <a:ext cx="8233833" cy="55816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A882F663-C0B2-4D7A-9086-04AE7939ADA5}" type="datetime1">
              <a:rPr lang="zh-CN" altLang="en-US" smtClean="0">
                <a:solidFill>
                  <a:srgbClr val="FFFFFF"/>
                </a:solidFill>
              </a:rPr>
              <a:t>2023/4/12</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6F944636-8C9F-4429-B41D-0C113918A764}"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51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CCFFFF"/>
            </a:gs>
            <a:gs pos="100000">
              <a:srgbClr val="CCFFFF">
                <a:gamma/>
                <a:tint val="41569"/>
                <a:invGamma/>
              </a:srgbClr>
            </a:gs>
          </a:gsLst>
          <a:lin ang="5400000" scaled="1"/>
        </a:gradFill>
        <a:effectLst/>
      </p:bgPr>
    </p:bg>
    <p:spTree>
      <p:nvGrpSpPr>
        <p:cNvPr id="1" name=""/>
        <p:cNvGrpSpPr/>
        <p:nvPr/>
      </p:nvGrpSpPr>
      <p:grpSpPr>
        <a:xfrm>
          <a:off x="0" y="0"/>
          <a:ext cx="0" cy="0"/>
          <a:chOff x="0" y="0"/>
          <a:chExt cx="0" cy="0"/>
        </a:xfrm>
      </p:grpSpPr>
      <p:pic>
        <p:nvPicPr>
          <p:cNvPr id="484392" name="Picture 40"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54021" b="23820"/>
          <a:stretch>
            <a:fillRect/>
          </a:stretch>
        </p:blipFill>
        <p:spPr bwMode="blackWhite">
          <a:xfrm>
            <a:off x="0" y="6480176"/>
            <a:ext cx="121920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4355" name="Rectangle 3"/>
          <p:cNvSpPr>
            <a:spLocks noGrp="1" noChangeArrowheads="1"/>
          </p:cNvSpPr>
          <p:nvPr>
            <p:ph type="title"/>
          </p:nvPr>
        </p:nvSpPr>
        <p:spPr bwMode="auto">
          <a:xfrm>
            <a:off x="609600" y="549275"/>
            <a:ext cx="1124796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smtClean="0"/>
              <a:t>单击此处编辑母版标题样式</a:t>
            </a:r>
          </a:p>
        </p:txBody>
      </p:sp>
      <p:sp>
        <p:nvSpPr>
          <p:cNvPr id="484356" name="Rectangle 4"/>
          <p:cNvSpPr>
            <a:spLocks noGrp="1" noChangeArrowheads="1"/>
          </p:cNvSpPr>
          <p:nvPr>
            <p:ph type="body" idx="1"/>
          </p:nvPr>
        </p:nvSpPr>
        <p:spPr bwMode="auto">
          <a:xfrm>
            <a:off x="609600" y="1268413"/>
            <a:ext cx="11247967" cy="4862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单击此处编辑母版文本样式</a:t>
            </a:r>
          </a:p>
          <a:p>
            <a:pPr lvl="1"/>
            <a:r>
              <a:rPr lang="en-US" altLang="zh-CN" smtClean="0"/>
              <a:t>第二级</a:t>
            </a:r>
          </a:p>
          <a:p>
            <a:pPr lvl="2"/>
            <a:r>
              <a:rPr lang="en-US" altLang="zh-CN" smtClean="0"/>
              <a:t>第三级</a:t>
            </a:r>
          </a:p>
          <a:p>
            <a:pPr lvl="3"/>
            <a:r>
              <a:rPr lang="en-US" altLang="zh-CN" smtClean="0"/>
              <a:t>第四级</a:t>
            </a:r>
          </a:p>
          <a:p>
            <a:pPr lvl="4"/>
            <a:r>
              <a:rPr lang="en-US" altLang="zh-CN" smtClean="0"/>
              <a:t>第五级</a:t>
            </a:r>
          </a:p>
        </p:txBody>
      </p:sp>
      <p:sp>
        <p:nvSpPr>
          <p:cNvPr id="484357" name="Rectangle 5"/>
          <p:cNvSpPr>
            <a:spLocks noGrp="1" noChangeArrowheads="1"/>
          </p:cNvSpPr>
          <p:nvPr>
            <p:ph type="dt" sz="half" idx="2"/>
          </p:nvPr>
        </p:nvSpPr>
        <p:spPr bwMode="auto">
          <a:xfrm>
            <a:off x="624417" y="6524626"/>
            <a:ext cx="2844800"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chemeClr val="bg1"/>
                </a:solidFill>
                <a:latin typeface="+mn-lt"/>
                <a:ea typeface="宋体" charset="-122"/>
              </a:defRPr>
            </a:lvl1pPr>
          </a:lstStyle>
          <a:p>
            <a:fld id="{8F7001E2-937F-4764-916A-4BB9B06FB241}" type="datetime1">
              <a:rPr lang="zh-CN" altLang="en-US" smtClean="0">
                <a:solidFill>
                  <a:srgbClr val="FFFFFF"/>
                </a:solidFill>
              </a:rPr>
              <a:t>2023/4/12</a:t>
            </a:fld>
            <a:endParaRPr lang="en-US" altLang="zh-CN" smtClean="0">
              <a:solidFill>
                <a:srgbClr val="FFFFFF"/>
              </a:solidFill>
            </a:endParaRPr>
          </a:p>
        </p:txBody>
      </p:sp>
      <p:sp>
        <p:nvSpPr>
          <p:cNvPr id="484358" name="Rectangle 6"/>
          <p:cNvSpPr>
            <a:spLocks noGrp="1" noChangeArrowheads="1"/>
          </p:cNvSpPr>
          <p:nvPr>
            <p:ph type="ftr" sz="quarter" idx="3"/>
          </p:nvPr>
        </p:nvSpPr>
        <p:spPr bwMode="auto">
          <a:xfrm>
            <a:off x="4176185" y="6524626"/>
            <a:ext cx="4703233"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solidFill>
                  <a:schemeClr val="bg1"/>
                </a:solidFill>
                <a:ea typeface="楷体_GB2312" pitchFamily="49" charset="-122"/>
              </a:defRPr>
            </a:lvl1pPr>
          </a:lstStyle>
          <a:p>
            <a:r>
              <a:rPr lang="zh-CN" altLang="en-US" smtClean="0">
                <a:solidFill>
                  <a:srgbClr val="FFFFFF"/>
                </a:solidFill>
              </a:rPr>
              <a:t>大学生电子竞赛培训</a:t>
            </a:r>
            <a:endParaRPr lang="en-US" altLang="zh-CN" smtClean="0">
              <a:solidFill>
                <a:srgbClr val="FFFFFF"/>
              </a:solidFill>
            </a:endParaRPr>
          </a:p>
        </p:txBody>
      </p:sp>
      <p:sp>
        <p:nvSpPr>
          <p:cNvPr id="484359" name="Rectangle 7"/>
          <p:cNvSpPr>
            <a:spLocks noGrp="1" noChangeArrowheads="1"/>
          </p:cNvSpPr>
          <p:nvPr>
            <p:ph type="sldNum" sz="quarter" idx="4"/>
          </p:nvPr>
        </p:nvSpPr>
        <p:spPr bwMode="auto">
          <a:xfrm>
            <a:off x="9647768" y="6524626"/>
            <a:ext cx="2173817"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chemeClr val="bg1"/>
                </a:solidFill>
                <a:latin typeface="+mn-lt"/>
                <a:ea typeface="宋体" charset="-122"/>
              </a:defRPr>
            </a:lvl1pPr>
          </a:lstStyle>
          <a:p>
            <a:fld id="{7854125E-C87B-484A-8700-536C00B7949E}" type="slidenum">
              <a:rPr lang="en-US" altLang="zh-CN" smtClean="0">
                <a:solidFill>
                  <a:srgbClr val="FFFFFF"/>
                </a:solidFill>
              </a:rPr>
              <a:pPr/>
              <a:t>‹#›</a:t>
            </a:fld>
            <a:endParaRPr lang="en-US" altLang="zh-CN" smtClean="0">
              <a:solidFill>
                <a:srgbClr val="FFFFFF"/>
              </a:solidFill>
            </a:endParaRPr>
          </a:p>
        </p:txBody>
      </p:sp>
      <p:pic>
        <p:nvPicPr>
          <p:cNvPr id="484393" name="Picture 41"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27010" b="52319"/>
          <a:stretch>
            <a:fillRect/>
          </a:stretch>
        </p:blipFill>
        <p:spPr bwMode="blackWhite">
          <a:xfrm>
            <a:off x="0" y="0"/>
            <a:ext cx="1219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4394" name="Picture 42" descr="fudan霓虹"/>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1379201" y="0"/>
            <a:ext cx="495300" cy="381000"/>
          </a:xfrm>
          <a:prstGeom prst="rect">
            <a:avLst/>
          </a:prstGeom>
          <a:noFill/>
          <a:extLst>
            <a:ext uri="{909E8E84-426E-40DD-AFC4-6F175D3DCCD1}">
              <a14:hiddenFill xmlns:a14="http://schemas.microsoft.com/office/drawing/2010/main">
                <a:solidFill>
                  <a:srgbClr val="FFFFFF"/>
                </a:solidFill>
              </a14:hiddenFill>
            </a:ext>
          </a:extLst>
        </p:spPr>
      </p:pic>
      <p:sp>
        <p:nvSpPr>
          <p:cNvPr id="484395" name="Text Box 43"/>
          <p:cNvSpPr txBox="1">
            <a:spLocks noChangeArrowheads="1"/>
          </p:cNvSpPr>
          <p:nvPr/>
        </p:nvSpPr>
        <p:spPr bwMode="auto">
          <a:xfrm>
            <a:off x="863600" y="107950"/>
            <a:ext cx="4800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spcBef>
                <a:spcPct val="50000"/>
              </a:spcBef>
            </a:pPr>
            <a:r>
              <a:rPr lang="zh-CN" altLang="en-US" sz="1400" smtClean="0">
                <a:solidFill>
                  <a:srgbClr val="FFFFFF"/>
                </a:solidFill>
                <a:latin typeface="楷体_GB2312" pitchFamily="49" charset="-122"/>
                <a:ea typeface="楷体_GB2312" pitchFamily="49" charset="-122"/>
              </a:rPr>
              <a:t>复旦大学电子工程系   陈光梦</a:t>
            </a:r>
          </a:p>
        </p:txBody>
      </p:sp>
    </p:spTree>
    <p:extLst>
      <p:ext uri="{BB962C8B-B14F-4D97-AF65-F5344CB8AC3E}">
        <p14:creationId xmlns:p14="http://schemas.microsoft.com/office/powerpoint/2010/main" val="375476001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Lst>
  <p:timing>
    <p:tnLst>
      <p:par>
        <p:cTn id="1" dur="indefinite" restart="never" nodeType="tmRoot"/>
      </p:par>
    </p:tnLst>
  </p:timing>
  <p:hf hdr="0"/>
  <p:txStyles>
    <p:titleStyle>
      <a:lvl1pPr algn="l" rtl="0" fontAlgn="base">
        <a:spcBef>
          <a:spcPct val="0"/>
        </a:spcBef>
        <a:spcAft>
          <a:spcPct val="0"/>
        </a:spcAft>
        <a:defRPr sz="3600">
          <a:solidFill>
            <a:schemeClr val="accent2"/>
          </a:solidFill>
          <a:latin typeface="+mj-lt"/>
          <a:ea typeface="+mj-ea"/>
          <a:cs typeface="+mj-cs"/>
        </a:defRPr>
      </a:lvl1pPr>
      <a:lvl2pPr algn="l" rtl="0" fontAlgn="base">
        <a:spcBef>
          <a:spcPct val="0"/>
        </a:spcBef>
        <a:spcAft>
          <a:spcPct val="0"/>
        </a:spcAft>
        <a:defRPr sz="3600">
          <a:solidFill>
            <a:schemeClr val="accent2"/>
          </a:solidFill>
          <a:latin typeface="Arial" charset="0"/>
          <a:ea typeface="黑体" pitchFamily="2" charset="-122"/>
        </a:defRPr>
      </a:lvl2pPr>
      <a:lvl3pPr algn="l" rtl="0" fontAlgn="base">
        <a:spcBef>
          <a:spcPct val="0"/>
        </a:spcBef>
        <a:spcAft>
          <a:spcPct val="0"/>
        </a:spcAft>
        <a:defRPr sz="3600">
          <a:solidFill>
            <a:schemeClr val="accent2"/>
          </a:solidFill>
          <a:latin typeface="Arial" charset="0"/>
          <a:ea typeface="黑体" pitchFamily="2" charset="-122"/>
        </a:defRPr>
      </a:lvl3pPr>
      <a:lvl4pPr algn="l" rtl="0" fontAlgn="base">
        <a:spcBef>
          <a:spcPct val="0"/>
        </a:spcBef>
        <a:spcAft>
          <a:spcPct val="0"/>
        </a:spcAft>
        <a:defRPr sz="3600">
          <a:solidFill>
            <a:schemeClr val="accent2"/>
          </a:solidFill>
          <a:latin typeface="Arial" charset="0"/>
          <a:ea typeface="黑体" pitchFamily="2" charset="-122"/>
        </a:defRPr>
      </a:lvl4pPr>
      <a:lvl5pPr algn="l" rtl="0" fontAlgn="base">
        <a:spcBef>
          <a:spcPct val="0"/>
        </a:spcBef>
        <a:spcAft>
          <a:spcPct val="0"/>
        </a:spcAft>
        <a:defRPr sz="3600">
          <a:solidFill>
            <a:schemeClr val="accent2"/>
          </a:solidFill>
          <a:latin typeface="Arial" charset="0"/>
          <a:ea typeface="黑体" pitchFamily="2" charset="-122"/>
        </a:defRPr>
      </a:lvl5pPr>
      <a:lvl6pPr marL="457200" algn="l" rtl="0" fontAlgn="base">
        <a:spcBef>
          <a:spcPct val="0"/>
        </a:spcBef>
        <a:spcAft>
          <a:spcPct val="0"/>
        </a:spcAft>
        <a:defRPr sz="3600">
          <a:solidFill>
            <a:schemeClr val="accent2"/>
          </a:solidFill>
          <a:latin typeface="Arial" charset="0"/>
          <a:ea typeface="黑体" pitchFamily="2" charset="-122"/>
        </a:defRPr>
      </a:lvl6pPr>
      <a:lvl7pPr marL="914400" algn="l" rtl="0" fontAlgn="base">
        <a:spcBef>
          <a:spcPct val="0"/>
        </a:spcBef>
        <a:spcAft>
          <a:spcPct val="0"/>
        </a:spcAft>
        <a:defRPr sz="3600">
          <a:solidFill>
            <a:schemeClr val="accent2"/>
          </a:solidFill>
          <a:latin typeface="Arial" charset="0"/>
          <a:ea typeface="黑体" pitchFamily="2" charset="-122"/>
        </a:defRPr>
      </a:lvl7pPr>
      <a:lvl8pPr marL="1371600" algn="l" rtl="0" fontAlgn="base">
        <a:spcBef>
          <a:spcPct val="0"/>
        </a:spcBef>
        <a:spcAft>
          <a:spcPct val="0"/>
        </a:spcAft>
        <a:defRPr sz="3600">
          <a:solidFill>
            <a:schemeClr val="accent2"/>
          </a:solidFill>
          <a:latin typeface="Arial" charset="0"/>
          <a:ea typeface="黑体" pitchFamily="2" charset="-122"/>
        </a:defRPr>
      </a:lvl8pPr>
      <a:lvl9pPr marL="1828800" algn="l" rtl="0" fontAlgn="base">
        <a:spcBef>
          <a:spcPct val="0"/>
        </a:spcBef>
        <a:spcAft>
          <a:spcPct val="0"/>
        </a:spcAft>
        <a:defRPr sz="3600">
          <a:solidFill>
            <a:schemeClr val="accent2"/>
          </a:solidFill>
          <a:latin typeface="Arial" charset="0"/>
          <a:ea typeface="黑体" pitchFamily="2" charset="-122"/>
        </a:defRPr>
      </a:lvl9pPr>
    </p:titleStyle>
    <p:bodyStyle>
      <a:lvl1pPr marL="342900" indent="-342900" algn="l" rtl="0" fontAlgn="base">
        <a:spcBef>
          <a:spcPct val="20000"/>
        </a:spcBef>
        <a:spcAft>
          <a:spcPct val="0"/>
        </a:spcAft>
        <a:buClr>
          <a:schemeClr val="tx2"/>
        </a:buClr>
        <a:buSzPct val="70000"/>
        <a:buFont typeface="Wingdings" pitchFamily="2" charset="2"/>
        <a:buChar char="l"/>
        <a:defRPr sz="2800">
          <a:solidFill>
            <a:schemeClr val="tx1"/>
          </a:solidFill>
          <a:latin typeface="+mn-lt"/>
          <a:ea typeface="+mn-ea"/>
          <a:cs typeface="+mn-cs"/>
        </a:defRPr>
      </a:lvl1pPr>
      <a:lvl2pPr marL="692150" indent="-347663" algn="l" rtl="0" fontAlgn="base">
        <a:spcBef>
          <a:spcPct val="20000"/>
        </a:spcBef>
        <a:spcAft>
          <a:spcPct val="0"/>
        </a:spcAft>
        <a:buClr>
          <a:schemeClr val="accent2"/>
        </a:buClr>
        <a:buSzPct val="70000"/>
        <a:buFont typeface="Wingdings" pitchFamily="2" charset="2"/>
        <a:buChar char="l"/>
        <a:defRPr sz="2600">
          <a:solidFill>
            <a:schemeClr val="tx1"/>
          </a:solidFill>
          <a:latin typeface="+mj-lt"/>
          <a:ea typeface="+mn-ea"/>
        </a:defRPr>
      </a:lvl2pPr>
      <a:lvl3pPr marL="987425" indent="-293688" algn="l" rtl="0" fontAlgn="base">
        <a:spcBef>
          <a:spcPct val="20000"/>
        </a:spcBef>
        <a:spcAft>
          <a:spcPct val="0"/>
        </a:spcAft>
        <a:buClr>
          <a:schemeClr val="accent1"/>
        </a:buClr>
        <a:buSzPct val="70000"/>
        <a:buFont typeface="Wingdings" pitchFamily="2" charset="2"/>
        <a:buChar char="l"/>
        <a:defRPr sz="2300">
          <a:solidFill>
            <a:schemeClr val="tx1"/>
          </a:solidFill>
          <a:latin typeface="+mj-lt"/>
          <a:ea typeface="+mn-ea"/>
        </a:defRPr>
      </a:lvl3pPr>
      <a:lvl4pPr marL="1281113" indent="-292100" algn="l" rtl="0" fontAlgn="base">
        <a:spcBef>
          <a:spcPct val="20000"/>
        </a:spcBef>
        <a:spcAft>
          <a:spcPct val="0"/>
        </a:spcAft>
        <a:buClr>
          <a:schemeClr val="tx2"/>
        </a:buClr>
        <a:buSzPct val="75000"/>
        <a:buFont typeface="Wingdings" pitchFamily="2" charset="2"/>
        <a:buChar char="§"/>
        <a:defRPr sz="2000">
          <a:solidFill>
            <a:schemeClr val="tx1"/>
          </a:solidFill>
          <a:latin typeface="+mj-lt"/>
          <a:ea typeface="宋体" charset="-122"/>
        </a:defRPr>
      </a:lvl4pPr>
      <a:lvl5pPr marL="15986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5.wmf"/><Relationship Id="rId5" Type="http://schemas.openxmlformats.org/officeDocument/2006/relationships/oleObject" Target="../embeddings/oleObject2.bin"/><Relationship Id="rId10" Type="http://schemas.openxmlformats.org/officeDocument/2006/relationships/image" Target="../media/image7.wmf"/><Relationship Id="rId4" Type="http://schemas.openxmlformats.org/officeDocument/2006/relationships/image" Target="../media/image4.emf"/><Relationship Id="rId9" Type="http://schemas.openxmlformats.org/officeDocument/2006/relationships/oleObject" Target="../embeddings/oleObject4.bin"/></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8.w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9.wmf"/></Relationships>
</file>

<file path=ppt/slides/_rels/slide5.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1.wmf"/><Relationship Id="rId5" Type="http://schemas.openxmlformats.org/officeDocument/2006/relationships/oleObject" Target="../embeddings/oleObject8.bin"/><Relationship Id="rId10" Type="http://schemas.openxmlformats.org/officeDocument/2006/relationships/image" Target="../media/image14.emf"/><Relationship Id="rId4" Type="http://schemas.openxmlformats.org/officeDocument/2006/relationships/image" Target="../media/image10.emf"/><Relationship Id="rId9" Type="http://schemas.openxmlformats.org/officeDocument/2006/relationships/image" Target="../media/image13.emf"/></Relationships>
</file>

<file path=ppt/slides/_rels/slide6.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6.wmf"/><Relationship Id="rId5" Type="http://schemas.openxmlformats.org/officeDocument/2006/relationships/oleObject" Target="../embeddings/oleObject11.bin"/><Relationship Id="rId4" Type="http://schemas.openxmlformats.org/officeDocument/2006/relationships/image" Target="../media/image15.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18.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19.emf"/></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25.wmf"/><Relationship Id="rId13" Type="http://schemas.openxmlformats.org/officeDocument/2006/relationships/oleObject" Target="../embeddings/oleObject20.bin"/><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image" Target="../media/image27.w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24.wmf"/><Relationship Id="rId11" Type="http://schemas.openxmlformats.org/officeDocument/2006/relationships/oleObject" Target="../embeddings/oleObject19.bin"/><Relationship Id="rId5" Type="http://schemas.openxmlformats.org/officeDocument/2006/relationships/oleObject" Target="../embeddings/oleObject16.bin"/><Relationship Id="rId10" Type="http://schemas.openxmlformats.org/officeDocument/2006/relationships/image" Target="../media/image26.wmf"/><Relationship Id="rId4" Type="http://schemas.openxmlformats.org/officeDocument/2006/relationships/image" Target="../media/image23.wmf"/><Relationship Id="rId9" Type="http://schemas.openxmlformats.org/officeDocument/2006/relationships/oleObject" Target="../embeddings/oleObject18.bin"/><Relationship Id="rId14" Type="http://schemas.openxmlformats.org/officeDocument/2006/relationships/image" Target="../media/image28.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31.wmf"/><Relationship Id="rId13" Type="http://schemas.openxmlformats.org/officeDocument/2006/relationships/oleObject" Target="../embeddings/oleObject26.bin"/><Relationship Id="rId18" Type="http://schemas.openxmlformats.org/officeDocument/2006/relationships/image" Target="../media/image36.wmf"/><Relationship Id="rId3" Type="http://schemas.openxmlformats.org/officeDocument/2006/relationships/oleObject" Target="../embeddings/oleObject21.bin"/><Relationship Id="rId21" Type="http://schemas.openxmlformats.org/officeDocument/2006/relationships/oleObject" Target="../embeddings/oleObject30.bin"/><Relationship Id="rId7" Type="http://schemas.openxmlformats.org/officeDocument/2006/relationships/oleObject" Target="../embeddings/oleObject23.bin"/><Relationship Id="rId12" Type="http://schemas.openxmlformats.org/officeDocument/2006/relationships/image" Target="../media/image33.wmf"/><Relationship Id="rId17" Type="http://schemas.openxmlformats.org/officeDocument/2006/relationships/oleObject" Target="../embeddings/oleObject28.bin"/><Relationship Id="rId2" Type="http://schemas.openxmlformats.org/officeDocument/2006/relationships/slideLayout" Target="../slideLayouts/slideLayout7.xml"/><Relationship Id="rId16" Type="http://schemas.openxmlformats.org/officeDocument/2006/relationships/image" Target="../media/image35.wmf"/><Relationship Id="rId20" Type="http://schemas.openxmlformats.org/officeDocument/2006/relationships/image" Target="../media/image37.wmf"/><Relationship Id="rId1" Type="http://schemas.openxmlformats.org/officeDocument/2006/relationships/vmlDrawing" Target="../drawings/vmlDrawing9.vml"/><Relationship Id="rId6" Type="http://schemas.openxmlformats.org/officeDocument/2006/relationships/image" Target="../media/image30.wmf"/><Relationship Id="rId11" Type="http://schemas.openxmlformats.org/officeDocument/2006/relationships/oleObject" Target="../embeddings/oleObject25.bin"/><Relationship Id="rId5" Type="http://schemas.openxmlformats.org/officeDocument/2006/relationships/oleObject" Target="../embeddings/oleObject22.bin"/><Relationship Id="rId15" Type="http://schemas.openxmlformats.org/officeDocument/2006/relationships/oleObject" Target="../embeddings/oleObject27.bin"/><Relationship Id="rId10" Type="http://schemas.openxmlformats.org/officeDocument/2006/relationships/image" Target="../media/image32.wmf"/><Relationship Id="rId19" Type="http://schemas.openxmlformats.org/officeDocument/2006/relationships/oleObject" Target="../embeddings/oleObject29.bin"/><Relationship Id="rId4" Type="http://schemas.openxmlformats.org/officeDocument/2006/relationships/image" Target="../media/image29.wmf"/><Relationship Id="rId9" Type="http://schemas.openxmlformats.org/officeDocument/2006/relationships/oleObject" Target="../embeddings/oleObject24.bin"/><Relationship Id="rId14" Type="http://schemas.openxmlformats.org/officeDocument/2006/relationships/image" Target="../media/image34.wmf"/><Relationship Id="rId22" Type="http://schemas.openxmlformats.org/officeDocument/2006/relationships/image" Target="../media/image28.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39.wmf"/><Relationship Id="rId5" Type="http://schemas.openxmlformats.org/officeDocument/2006/relationships/oleObject" Target="../embeddings/oleObject32.bin"/><Relationship Id="rId4" Type="http://schemas.openxmlformats.org/officeDocument/2006/relationships/image" Target="../media/image38.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42.wmf"/><Relationship Id="rId5" Type="http://schemas.openxmlformats.org/officeDocument/2006/relationships/oleObject" Target="../embeddings/oleObject35.bin"/><Relationship Id="rId4" Type="http://schemas.openxmlformats.org/officeDocument/2006/relationships/image" Target="../media/image41.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44.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46.wmf"/><Relationship Id="rId5" Type="http://schemas.openxmlformats.org/officeDocument/2006/relationships/oleObject" Target="../embeddings/oleObject38.bin"/><Relationship Id="rId4" Type="http://schemas.openxmlformats.org/officeDocument/2006/relationships/image" Target="../media/image45.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oleObject" Target="../embeddings/oleObject39.bin"/><Relationship Id="rId7" Type="http://schemas.openxmlformats.org/officeDocument/2006/relationships/oleObject" Target="../embeddings/oleObject41.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50.wmf"/><Relationship Id="rId5" Type="http://schemas.openxmlformats.org/officeDocument/2006/relationships/oleObject" Target="../embeddings/oleObject40.bin"/><Relationship Id="rId10" Type="http://schemas.openxmlformats.org/officeDocument/2006/relationships/image" Target="../media/image52.wmf"/><Relationship Id="rId4" Type="http://schemas.openxmlformats.org/officeDocument/2006/relationships/image" Target="../media/image49.wmf"/><Relationship Id="rId9" Type="http://schemas.openxmlformats.org/officeDocument/2006/relationships/oleObject" Target="../embeddings/oleObject42.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35.wmf"/><Relationship Id="rId5" Type="http://schemas.openxmlformats.org/officeDocument/2006/relationships/oleObject" Target="../embeddings/oleObject44.bin"/><Relationship Id="rId4" Type="http://schemas.openxmlformats.org/officeDocument/2006/relationships/image" Target="../media/image53.w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54.wmf"/><Relationship Id="rId5" Type="http://schemas.openxmlformats.org/officeDocument/2006/relationships/oleObject" Target="../embeddings/oleObject45.bin"/><Relationship Id="rId4" Type="http://schemas.openxmlformats.org/officeDocument/2006/relationships/image" Target="../media/image39.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693863" y="1752601"/>
            <a:ext cx="8596312" cy="2906713"/>
          </a:xfrm>
        </p:spPr>
        <p:txBody>
          <a:bodyPr/>
          <a:lstStyle/>
          <a:p>
            <a:pPr eaLnBrk="1" hangingPunct="1">
              <a:lnSpc>
                <a:spcPct val="160000"/>
              </a:lnSpc>
            </a:pPr>
            <a:r>
              <a:rPr lang="zh-CN" altLang="en-US" sz="5400" dirty="0" smtClean="0">
                <a:solidFill>
                  <a:srgbClr val="FF3300"/>
                </a:solidFill>
                <a:latin typeface="隶书" panose="02010509060101010101" pitchFamily="49" charset="-122"/>
                <a:ea typeface="隶书" panose="02010509060101010101" pitchFamily="49" charset="-122"/>
              </a:rPr>
              <a:t>锁相环电路设计</a:t>
            </a:r>
            <a:r>
              <a:rPr lang="en-US" altLang="zh-CN" sz="5400" dirty="0">
                <a:solidFill>
                  <a:srgbClr val="FF3300"/>
                </a:solidFill>
                <a:latin typeface="隶书" panose="02010509060101010101" pitchFamily="49" charset="-122"/>
                <a:ea typeface="隶书" panose="02010509060101010101" pitchFamily="49" charset="-122"/>
              </a:rPr>
              <a:t/>
            </a:r>
            <a:br>
              <a:rPr lang="en-US" altLang="zh-CN" sz="5400" dirty="0">
                <a:solidFill>
                  <a:srgbClr val="FF3300"/>
                </a:solidFill>
                <a:latin typeface="隶书" panose="02010509060101010101" pitchFamily="49" charset="-122"/>
                <a:ea typeface="隶书" panose="02010509060101010101" pitchFamily="49" charset="-122"/>
              </a:rPr>
            </a:br>
            <a:r>
              <a:rPr lang="en-US" altLang="zh-CN" sz="3600" dirty="0">
                <a:latin typeface="隶书" panose="02010509060101010101" pitchFamily="49" charset="-122"/>
                <a:ea typeface="隶书" panose="02010509060101010101" pitchFamily="49" charset="-122"/>
              </a:rPr>
              <a:t/>
            </a:r>
            <a:br>
              <a:rPr lang="en-US" altLang="zh-CN" sz="3600" dirty="0">
                <a:latin typeface="隶书" panose="02010509060101010101" pitchFamily="49" charset="-122"/>
                <a:ea typeface="隶书" panose="02010509060101010101" pitchFamily="49" charset="-122"/>
              </a:rPr>
            </a:br>
            <a:r>
              <a:rPr lang="zh-CN" altLang="en-US" sz="2400" dirty="0">
                <a:solidFill>
                  <a:schemeClr val="tx1"/>
                </a:solidFill>
                <a:latin typeface="楷体" panose="02010609060101010101" pitchFamily="49" charset="-122"/>
                <a:ea typeface="楷体" panose="02010609060101010101" pitchFamily="49" charset="-122"/>
              </a:rPr>
              <a:t>复旦大学电子工程系  陈光梦</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2023/4/12</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a:t>
            </a:fld>
            <a:endParaRPr lang="en-US" altLang="zh-CN"/>
          </a:p>
        </p:txBody>
      </p:sp>
      <p:sp>
        <p:nvSpPr>
          <p:cNvPr id="2" name="文本框 1"/>
          <p:cNvSpPr txBox="1"/>
          <p:nvPr/>
        </p:nvSpPr>
        <p:spPr>
          <a:xfrm>
            <a:off x="435429" y="355236"/>
            <a:ext cx="11386156" cy="1200329"/>
          </a:xfrm>
          <a:prstGeom prst="rect">
            <a:avLst/>
          </a:prstGeom>
          <a:noFill/>
        </p:spPr>
        <p:txBody>
          <a:bodyPr wrap="square" rtlCol="0">
            <a:spAutoFit/>
          </a:bodyPr>
          <a:lstStyle/>
          <a:p>
            <a:pPr>
              <a:lnSpc>
                <a:spcPct val="150000"/>
              </a:lnSpc>
            </a:pPr>
            <a:r>
              <a:rPr lang="zh-CN" altLang="en-US" sz="2800" dirty="0">
                <a:solidFill>
                  <a:srgbClr val="FF0000"/>
                </a:solidFill>
                <a:latin typeface="隶书" panose="02010509060101010101" pitchFamily="49" charset="-122"/>
                <a:ea typeface="隶书" panose="02010509060101010101" pitchFamily="49" charset="-122"/>
              </a:rPr>
              <a:t>锁相环的工作原理</a:t>
            </a:r>
            <a:endParaRPr lang="en-US" altLang="zh-CN" sz="2800" dirty="0">
              <a:solidFill>
                <a:srgbClr val="FF0000"/>
              </a:solidFill>
              <a:latin typeface="隶书" panose="02010509060101010101" pitchFamily="49" charset="-122"/>
              <a:ea typeface="隶书" panose="02010509060101010101" pitchFamily="49" charset="-122"/>
            </a:endParaRPr>
          </a:p>
          <a:p>
            <a:pPr marL="342900" indent="-342900">
              <a:lnSpc>
                <a:spcPct val="150000"/>
              </a:lnSpc>
              <a:buFont typeface="Wingdings" panose="05000000000000000000" pitchFamily="2" charset="2"/>
              <a:buChar char="Ø"/>
            </a:pPr>
            <a:r>
              <a:rPr lang="zh-CN" altLang="en-US" dirty="0"/>
              <a:t>锁相环的基本结构</a:t>
            </a:r>
          </a:p>
        </p:txBody>
      </p:sp>
      <p:graphicFrame>
        <p:nvGraphicFramePr>
          <p:cNvPr id="6" name="对象 5"/>
          <p:cNvGraphicFramePr>
            <a:graphicFrameLocks/>
          </p:cNvGraphicFramePr>
          <p:nvPr>
            <p:extLst>
              <p:ext uri="{D42A27DB-BD31-4B8C-83A1-F6EECF244321}">
                <p14:modId xmlns:p14="http://schemas.microsoft.com/office/powerpoint/2010/main" val="4251542040"/>
              </p:ext>
            </p:extLst>
          </p:nvPr>
        </p:nvGraphicFramePr>
        <p:xfrm>
          <a:off x="1992314" y="1802486"/>
          <a:ext cx="8058561" cy="1848536"/>
        </p:xfrm>
        <a:graphic>
          <a:graphicData uri="http://schemas.openxmlformats.org/presentationml/2006/ole">
            <mc:AlternateContent xmlns:mc="http://schemas.openxmlformats.org/markup-compatibility/2006">
              <mc:Choice xmlns:v="urn:schemas-microsoft-com:vml" Requires="v">
                <p:oleObj spid="_x0000_s1392" name="Visio" r:id="rId3" imgW="4667147" imgH="1016052" progId="Visio.Drawing.11">
                  <p:embed/>
                </p:oleObj>
              </mc:Choice>
              <mc:Fallback>
                <p:oleObj name="Visio" r:id="rId3" imgW="4667147" imgH="1016052" progId="Visio.Drawing.11">
                  <p:embed/>
                  <p:pic>
                    <p:nvPicPr>
                      <p:cNvPr id="0" name="Object 1"/>
                      <p:cNvPicPr>
                        <a:picLocks noChangeArrowheads="1"/>
                      </p:cNvPicPr>
                      <p:nvPr/>
                    </p:nvPicPr>
                    <p:blipFill>
                      <a:blip r:embed="rId4"/>
                      <a:srcRect/>
                      <a:stretch>
                        <a:fillRect/>
                      </a:stretch>
                    </p:blipFill>
                    <p:spPr bwMode="auto">
                      <a:xfrm>
                        <a:off x="1992314" y="1802486"/>
                        <a:ext cx="8058561" cy="1848536"/>
                      </a:xfrm>
                      <a:prstGeom prst="rect">
                        <a:avLst/>
                      </a:prstGeom>
                      <a:noFill/>
                    </p:spPr>
                  </p:pic>
                </p:oleObj>
              </mc:Fallback>
            </mc:AlternateContent>
          </a:graphicData>
        </a:graphic>
      </p:graphicFrame>
      <p:sp>
        <p:nvSpPr>
          <p:cNvPr id="7" name="文本框 6"/>
          <p:cNvSpPr txBox="1"/>
          <p:nvPr/>
        </p:nvSpPr>
        <p:spPr>
          <a:xfrm>
            <a:off x="2372617" y="3999678"/>
            <a:ext cx="2381387" cy="369332"/>
          </a:xfrm>
          <a:prstGeom prst="rect">
            <a:avLst/>
          </a:prstGeom>
          <a:noFill/>
        </p:spPr>
        <p:txBody>
          <a:bodyPr wrap="square" rtlCol="0">
            <a:spAutoFit/>
          </a:bodyPr>
          <a:lstStyle/>
          <a:p>
            <a:pPr marL="342900" indent="-342900">
              <a:buFont typeface="Arial" panose="020B0604020202020204" pitchFamily="34" charset="0"/>
              <a:buChar char="•"/>
            </a:pPr>
            <a:r>
              <a:rPr lang="zh-CN" altLang="en-US" sz="1800" dirty="0"/>
              <a:t>鉴相器</a:t>
            </a:r>
          </a:p>
        </p:txBody>
      </p:sp>
      <p:sp>
        <p:nvSpPr>
          <p:cNvPr id="11" name="文本框 10"/>
          <p:cNvSpPr txBox="1"/>
          <p:nvPr/>
        </p:nvSpPr>
        <p:spPr>
          <a:xfrm>
            <a:off x="2372616" y="4687713"/>
            <a:ext cx="2381387" cy="369332"/>
          </a:xfrm>
          <a:prstGeom prst="rect">
            <a:avLst/>
          </a:prstGeom>
          <a:noFill/>
        </p:spPr>
        <p:txBody>
          <a:bodyPr wrap="square" rtlCol="0">
            <a:spAutoFit/>
          </a:bodyPr>
          <a:lstStyle/>
          <a:p>
            <a:pPr marL="342900" indent="-342900">
              <a:buFont typeface="Arial" panose="020B0604020202020204" pitchFamily="34" charset="0"/>
              <a:buChar char="•"/>
            </a:pPr>
            <a:r>
              <a:rPr lang="zh-CN" altLang="en-US" sz="1800" dirty="0"/>
              <a:t>压控振荡器</a:t>
            </a:r>
          </a:p>
        </p:txBody>
      </p:sp>
      <p:graphicFrame>
        <p:nvGraphicFramePr>
          <p:cNvPr id="12" name="Object 4"/>
          <p:cNvGraphicFramePr>
            <a:graphicFrameLocks noChangeAspect="1"/>
          </p:cNvGraphicFramePr>
          <p:nvPr>
            <p:extLst>
              <p:ext uri="{D42A27DB-BD31-4B8C-83A1-F6EECF244321}">
                <p14:modId xmlns:p14="http://schemas.microsoft.com/office/powerpoint/2010/main" val="2415293558"/>
              </p:ext>
            </p:extLst>
          </p:nvPr>
        </p:nvGraphicFramePr>
        <p:xfrm>
          <a:off x="3911601" y="3992563"/>
          <a:ext cx="2554513" cy="397561"/>
        </p:xfrm>
        <a:graphic>
          <a:graphicData uri="http://schemas.openxmlformats.org/presentationml/2006/ole">
            <mc:AlternateContent xmlns:mc="http://schemas.openxmlformats.org/markup-compatibility/2006">
              <mc:Choice xmlns:v="urn:schemas-microsoft-com:vml" Requires="v">
                <p:oleObj spid="_x0000_s1393" name="Equation" r:id="rId5" imgW="1549080" imgH="241200" progId="Equation.DSMT4">
                  <p:embed/>
                </p:oleObj>
              </mc:Choice>
              <mc:Fallback>
                <p:oleObj name="Equation" r:id="rId5" imgW="1549080" imgH="241200" progId="Equation.DSMT4">
                  <p:embed/>
                  <p:pic>
                    <p:nvPicPr>
                      <p:cNvPr id="1097732" name="Object 4"/>
                      <p:cNvPicPr>
                        <a:picLocks noChangeAspect="1" noChangeArrowheads="1"/>
                      </p:cNvPicPr>
                      <p:nvPr/>
                    </p:nvPicPr>
                    <p:blipFill>
                      <a:blip r:embed="rId6"/>
                      <a:srcRect/>
                      <a:stretch>
                        <a:fillRect/>
                      </a:stretch>
                    </p:blipFill>
                    <p:spPr bwMode="auto">
                      <a:xfrm>
                        <a:off x="3911601" y="3992563"/>
                        <a:ext cx="2554513" cy="397561"/>
                      </a:xfrm>
                      <a:prstGeom prst="rect">
                        <a:avLst/>
                      </a:prstGeom>
                      <a:noFill/>
                      <a:ln>
                        <a:noFill/>
                      </a:ln>
                      <a:effectLst/>
                    </p:spPr>
                  </p:pic>
                </p:oleObj>
              </mc:Fallback>
            </mc:AlternateContent>
          </a:graphicData>
        </a:graphic>
      </p:graphicFrame>
      <p:graphicFrame>
        <p:nvGraphicFramePr>
          <p:cNvPr id="13" name="Object 6"/>
          <p:cNvGraphicFramePr>
            <a:graphicFrameLocks noChangeAspect="1"/>
          </p:cNvGraphicFramePr>
          <p:nvPr>
            <p:extLst>
              <p:ext uri="{D42A27DB-BD31-4B8C-83A1-F6EECF244321}">
                <p14:modId xmlns:p14="http://schemas.microsoft.com/office/powerpoint/2010/main" val="1681683105"/>
              </p:ext>
            </p:extLst>
          </p:nvPr>
        </p:nvGraphicFramePr>
        <p:xfrm>
          <a:off x="4191274" y="4567351"/>
          <a:ext cx="2675920" cy="663579"/>
        </p:xfrm>
        <a:graphic>
          <a:graphicData uri="http://schemas.openxmlformats.org/presentationml/2006/ole">
            <mc:AlternateContent xmlns:mc="http://schemas.openxmlformats.org/markup-compatibility/2006">
              <mc:Choice xmlns:v="urn:schemas-microsoft-com:vml" Requires="v">
                <p:oleObj spid="_x0000_s1394" name="Equation" r:id="rId7" imgW="1587240" imgH="393480" progId="Equation.DSMT4">
                  <p:embed/>
                </p:oleObj>
              </mc:Choice>
              <mc:Fallback>
                <p:oleObj name="Equation" r:id="rId7" imgW="1587240" imgH="393480" progId="Equation.DSMT4">
                  <p:embed/>
                  <p:pic>
                    <p:nvPicPr>
                      <p:cNvPr id="970758" name="Object 6"/>
                      <p:cNvPicPr>
                        <a:picLocks noChangeAspect="1" noChangeArrowheads="1"/>
                      </p:cNvPicPr>
                      <p:nvPr/>
                    </p:nvPicPr>
                    <p:blipFill>
                      <a:blip r:embed="rId8"/>
                      <a:srcRect/>
                      <a:stretch>
                        <a:fillRect/>
                      </a:stretch>
                    </p:blipFill>
                    <p:spPr bwMode="auto">
                      <a:xfrm>
                        <a:off x="4191274" y="4567351"/>
                        <a:ext cx="2675920" cy="663579"/>
                      </a:xfrm>
                      <a:prstGeom prst="rect">
                        <a:avLst/>
                      </a:prstGeom>
                      <a:noFill/>
                      <a:ln>
                        <a:noFill/>
                      </a:ln>
                      <a:effectLst/>
                    </p:spPr>
                  </p:pic>
                </p:oleObj>
              </mc:Fallback>
            </mc:AlternateContent>
          </a:graphicData>
        </a:graphic>
      </p:graphicFrame>
      <p:sp>
        <p:nvSpPr>
          <p:cNvPr id="14" name="文本框 13"/>
          <p:cNvSpPr txBox="1"/>
          <p:nvPr/>
        </p:nvSpPr>
        <p:spPr>
          <a:xfrm>
            <a:off x="2372616" y="5406114"/>
            <a:ext cx="7762533" cy="369332"/>
          </a:xfrm>
          <a:prstGeom prst="rect">
            <a:avLst/>
          </a:prstGeom>
          <a:noFill/>
        </p:spPr>
        <p:txBody>
          <a:bodyPr wrap="square" rtlCol="0">
            <a:spAutoFit/>
          </a:bodyPr>
          <a:lstStyle/>
          <a:p>
            <a:pPr marL="342900" indent="-342900">
              <a:buFont typeface="Arial" panose="020B0604020202020204" pitchFamily="34" charset="0"/>
              <a:buChar char="•"/>
            </a:pPr>
            <a:r>
              <a:rPr lang="zh-CN" altLang="en-US" sz="1800" dirty="0"/>
              <a:t>环路滤波器                        ，</a:t>
            </a:r>
            <a:r>
              <a:rPr lang="en-US" altLang="zh-CN" sz="1800" i="1" dirty="0" err="1">
                <a:latin typeface="+mn-lt"/>
              </a:rPr>
              <a:t>K</a:t>
            </a:r>
            <a:r>
              <a:rPr lang="en-US" altLang="zh-CN" sz="1800" i="1" baseline="-25000" dirty="0" err="1">
                <a:latin typeface="+mn-lt"/>
              </a:rPr>
              <a:t>f</a:t>
            </a:r>
            <a:r>
              <a:rPr lang="en-US" altLang="zh-CN" sz="1800" i="1" dirty="0">
                <a:latin typeface="+mn-lt"/>
              </a:rPr>
              <a:t>  </a:t>
            </a:r>
            <a:r>
              <a:rPr lang="zh-CN" altLang="en-US" sz="1800" dirty="0"/>
              <a:t>通常是一阶或二阶低通函数</a:t>
            </a:r>
          </a:p>
        </p:txBody>
      </p:sp>
      <p:graphicFrame>
        <p:nvGraphicFramePr>
          <p:cNvPr id="15" name="Object 6"/>
          <p:cNvGraphicFramePr>
            <a:graphicFrameLocks noChangeAspect="1"/>
          </p:cNvGraphicFramePr>
          <p:nvPr>
            <p:extLst>
              <p:ext uri="{D42A27DB-BD31-4B8C-83A1-F6EECF244321}">
                <p14:modId xmlns:p14="http://schemas.microsoft.com/office/powerpoint/2010/main" val="4234071901"/>
              </p:ext>
            </p:extLst>
          </p:nvPr>
        </p:nvGraphicFramePr>
        <p:xfrm>
          <a:off x="4176185" y="5405701"/>
          <a:ext cx="1077912" cy="419100"/>
        </p:xfrm>
        <a:graphic>
          <a:graphicData uri="http://schemas.openxmlformats.org/presentationml/2006/ole">
            <mc:AlternateContent xmlns:mc="http://schemas.openxmlformats.org/markup-compatibility/2006">
              <mc:Choice xmlns:v="urn:schemas-microsoft-com:vml" Requires="v">
                <p:oleObj spid="_x0000_s1395" name="Equation" r:id="rId9" imgW="622080" imgH="241200" progId="Equation.DSMT4">
                  <p:embed/>
                </p:oleObj>
              </mc:Choice>
              <mc:Fallback>
                <p:oleObj name="Equation" r:id="rId9" imgW="622080" imgH="241200" progId="Equation.DSMT4">
                  <p:embed/>
                  <p:pic>
                    <p:nvPicPr>
                      <p:cNvPr id="13" name="Object 6"/>
                      <p:cNvPicPr>
                        <a:picLocks noChangeAspect="1" noChangeArrowheads="1"/>
                      </p:cNvPicPr>
                      <p:nvPr/>
                    </p:nvPicPr>
                    <p:blipFill>
                      <a:blip r:embed="rId10"/>
                      <a:srcRect/>
                      <a:stretch>
                        <a:fillRect/>
                      </a:stretch>
                    </p:blipFill>
                    <p:spPr bwMode="auto">
                      <a:xfrm>
                        <a:off x="4176185" y="5405701"/>
                        <a:ext cx="1077912" cy="419100"/>
                      </a:xfrm>
                      <a:prstGeom prst="rect">
                        <a:avLst/>
                      </a:prstGeom>
                      <a:noFill/>
                      <a:ln>
                        <a:noFill/>
                      </a:ln>
                      <a:effectLst/>
                    </p:spPr>
                  </p:pic>
                </p:oleObj>
              </mc:Fallback>
            </mc:AlternateContent>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a:t>
            </a:fld>
            <a:endParaRPr lang="en-US" altLang="zh-CN">
              <a:solidFill>
                <a:srgbClr val="FFFFFF"/>
              </a:solidFill>
            </a:endParaRPr>
          </a:p>
        </p:txBody>
      </p:sp>
      <p:sp>
        <p:nvSpPr>
          <p:cNvPr id="5" name="文本框 4"/>
          <p:cNvSpPr txBox="1"/>
          <p:nvPr/>
        </p:nvSpPr>
        <p:spPr>
          <a:xfrm>
            <a:off x="464458" y="521733"/>
            <a:ext cx="11357127" cy="5770811"/>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dirty="0"/>
              <a:t>常用的鉴相器</a:t>
            </a:r>
            <a:endParaRPr lang="en-US" altLang="zh-CN" dirty="0"/>
          </a:p>
          <a:p>
            <a:pPr marL="342900" indent="-342900">
              <a:lnSpc>
                <a:spcPct val="150000"/>
              </a:lnSpc>
              <a:buFont typeface="Arial" panose="020B0604020202020204" pitchFamily="34" charset="0"/>
              <a:buChar char="•"/>
            </a:pPr>
            <a:r>
              <a:rPr lang="zh-CN" altLang="en-US" sz="1800" dirty="0"/>
              <a:t>鉴相器的主要参数是鉴相范围与鉴相增益 </a:t>
            </a:r>
            <a:r>
              <a:rPr lang="en-US" altLang="zh-CN" sz="1800" i="1" dirty="0" err="1">
                <a:latin typeface="+mn-lt"/>
              </a:rPr>
              <a:t>K</a:t>
            </a:r>
            <a:r>
              <a:rPr lang="en-US" altLang="zh-CN" sz="1800" i="1" baseline="-25000" dirty="0" err="1">
                <a:latin typeface="+mn-lt"/>
              </a:rPr>
              <a:t>d</a:t>
            </a:r>
            <a:r>
              <a:rPr lang="en-US" altLang="zh-CN" sz="1800" i="1" baseline="-25000" dirty="0">
                <a:latin typeface="+mn-lt"/>
              </a:rPr>
              <a:t> </a:t>
            </a:r>
            <a:r>
              <a:rPr lang="en-US" altLang="zh-CN" sz="1800" dirty="0">
                <a:latin typeface="+mn-lt"/>
              </a:rPr>
              <a:t>= </a:t>
            </a:r>
            <a:r>
              <a:rPr lang="en-US" altLang="zh-CN" sz="1800" i="1" dirty="0" err="1">
                <a:latin typeface="+mn-lt"/>
              </a:rPr>
              <a:t>dV</a:t>
            </a:r>
            <a:r>
              <a:rPr lang="en-US" altLang="zh-CN" sz="1800" i="1" baseline="-25000" dirty="0" err="1">
                <a:latin typeface="+mn-lt"/>
              </a:rPr>
              <a:t>d</a:t>
            </a:r>
            <a:r>
              <a:rPr lang="en-US" altLang="zh-CN" sz="1800" i="1" baseline="-25000" dirty="0">
                <a:latin typeface="+mn-lt"/>
              </a:rPr>
              <a:t> </a:t>
            </a:r>
            <a:r>
              <a:rPr lang="en-US" altLang="zh-CN" sz="1800" dirty="0">
                <a:latin typeface="+mn-lt"/>
              </a:rPr>
              <a:t>/</a:t>
            </a:r>
            <a:r>
              <a:rPr lang="en-US" altLang="zh-CN" sz="1800" i="1" dirty="0">
                <a:latin typeface="+mn-lt"/>
              </a:rPr>
              <a:t>d</a:t>
            </a:r>
            <a:r>
              <a:rPr lang="el-GR" altLang="zh-CN" sz="1800" i="1" dirty="0">
                <a:latin typeface="+mn-lt"/>
              </a:rPr>
              <a:t>θ</a:t>
            </a:r>
            <a:endParaRPr lang="en-US" altLang="zh-CN" sz="1800" dirty="0"/>
          </a:p>
          <a:p>
            <a:pPr marL="342900" indent="-342900">
              <a:lnSpc>
                <a:spcPct val="150000"/>
              </a:lnSpc>
              <a:buFont typeface="Arial" panose="020B0604020202020204" pitchFamily="34" charset="0"/>
              <a:buChar char="•"/>
            </a:pPr>
            <a:r>
              <a:rPr lang="zh-CN" altLang="en-US" sz="1800" dirty="0"/>
              <a:t>乘法器</a:t>
            </a:r>
            <a:endParaRPr lang="en-US" altLang="zh-CN" sz="1800" dirty="0"/>
          </a:p>
          <a:p>
            <a:pPr lvl="1">
              <a:lnSpc>
                <a:spcPct val="150000"/>
              </a:lnSpc>
            </a:pPr>
            <a:r>
              <a:rPr lang="zh-CN" altLang="zh-CN" sz="1800" dirty="0">
                <a:latin typeface="+mn-ea"/>
                <a:cs typeface="Times New Roman" panose="02020603050405020304" pitchFamily="18" charset="0"/>
              </a:rPr>
              <a:t>鉴相范围为</a:t>
            </a:r>
            <a:r>
              <a:rPr lang="en-US" altLang="zh-CN" sz="1800" dirty="0">
                <a:latin typeface="+mn-ea"/>
                <a:cs typeface="Times New Roman" panose="02020603050405020304" pitchFamily="18" charset="0"/>
              </a:rPr>
              <a:t>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0~</a:t>
            </a:r>
            <a:r>
              <a:rPr lang="el-GR" altLang="zh-CN" sz="1800" dirty="0">
                <a:latin typeface="Times New Roman" panose="02020603050405020304" pitchFamily="18" charset="0"/>
                <a:ea typeface="宋体" panose="02010600030101010101" pitchFamily="2" charset="-122"/>
                <a:cs typeface="Times New Roman" panose="02020603050405020304" pitchFamily="18" charset="0"/>
              </a:rPr>
              <a:t>π</a:t>
            </a:r>
            <a:r>
              <a:rPr lang="zh-CN" altLang="en-US" sz="1800" dirty="0"/>
              <a:t> ，鉴相增益 </a:t>
            </a:r>
            <a:r>
              <a:rPr lang="en-US" altLang="zh-CN" sz="1800" i="1" dirty="0" err="1">
                <a:latin typeface="+mn-lt"/>
              </a:rPr>
              <a:t>K</a:t>
            </a:r>
            <a:r>
              <a:rPr lang="en-US" altLang="zh-CN" sz="1800" i="1" baseline="-25000" dirty="0" err="1">
                <a:latin typeface="+mn-lt"/>
              </a:rPr>
              <a:t>d</a:t>
            </a:r>
            <a:r>
              <a:rPr lang="en-US" altLang="zh-CN" sz="1800" i="1" baseline="-25000" dirty="0">
                <a:latin typeface="+mn-lt"/>
              </a:rPr>
              <a:t> </a:t>
            </a:r>
            <a:r>
              <a:rPr lang="zh-CN" altLang="en-US" sz="1800" dirty="0"/>
              <a:t>与乘法器的增益有关，允许小信号输入，适用于输入为模拟信号的场合</a:t>
            </a:r>
            <a:endParaRPr lang="en-US" altLang="zh-CN" sz="1800" dirty="0"/>
          </a:p>
          <a:p>
            <a:pPr lvl="1">
              <a:lnSpc>
                <a:spcPct val="150000"/>
              </a:lnSpc>
            </a:pPr>
            <a:r>
              <a:rPr lang="zh-CN" altLang="en-US" sz="1800" dirty="0">
                <a:latin typeface="Times New Roman" panose="02020603050405020304" pitchFamily="18" charset="0"/>
                <a:ea typeface="楷体" panose="02010609060101010101" pitchFamily="49" charset="-122"/>
              </a:rPr>
              <a:t>实例：集成</a:t>
            </a:r>
            <a:r>
              <a:rPr lang="en-US" altLang="zh-CN" sz="1800" dirty="0">
                <a:latin typeface="Times New Roman" panose="02020603050405020304" pitchFamily="18" charset="0"/>
                <a:ea typeface="楷体" panose="02010609060101010101" pitchFamily="49" charset="-122"/>
              </a:rPr>
              <a:t>PLL</a:t>
            </a:r>
            <a:r>
              <a:rPr lang="zh-CN" altLang="en-US" sz="1800" dirty="0">
                <a:latin typeface="Times New Roman" panose="02020603050405020304" pitchFamily="18" charset="0"/>
                <a:ea typeface="楷体" panose="02010609060101010101" pitchFamily="49" charset="-122"/>
              </a:rPr>
              <a:t>芯片</a:t>
            </a:r>
            <a:r>
              <a:rPr lang="en-US" altLang="zh-CN" sz="1800" dirty="0">
                <a:latin typeface="Times New Roman" panose="02020603050405020304" pitchFamily="18" charset="0"/>
                <a:ea typeface="楷体" panose="02010609060101010101" pitchFamily="49" charset="-122"/>
              </a:rPr>
              <a:t>NE564</a:t>
            </a:r>
            <a:r>
              <a:rPr lang="zh-CN" altLang="en-US" sz="1800" dirty="0">
                <a:latin typeface="Times New Roman" panose="02020603050405020304" pitchFamily="18" charset="0"/>
                <a:ea typeface="楷体" panose="02010609060101010101" pitchFamily="49" charset="-122"/>
              </a:rPr>
              <a:t>中的鉴相器</a:t>
            </a:r>
            <a:endParaRPr lang="en-US" altLang="zh-CN" sz="1800" dirty="0">
              <a:latin typeface="Times New Roman" panose="02020603050405020304" pitchFamily="18" charset="0"/>
              <a:ea typeface="楷体" panose="02010609060101010101" pitchFamily="49" charset="-122"/>
            </a:endParaRPr>
          </a:p>
          <a:p>
            <a:pPr marL="1080000" lvl="1">
              <a:lnSpc>
                <a:spcPct val="150000"/>
              </a:lnSpc>
            </a:pPr>
            <a:r>
              <a:rPr lang="zh-CN" altLang="en-US" sz="1800" dirty="0" smtClean="0">
                <a:latin typeface="Times New Roman" panose="02020603050405020304" pitchFamily="18" charset="0"/>
                <a:ea typeface="楷体" panose="02010609060101010101" pitchFamily="49" charset="-122"/>
              </a:rPr>
              <a:t>乘法器</a:t>
            </a:r>
            <a:r>
              <a:rPr lang="zh-CN" altLang="en-US" sz="1800" dirty="0">
                <a:latin typeface="Times New Roman" panose="02020603050405020304" pitchFamily="18" charset="0"/>
                <a:ea typeface="楷体" panose="02010609060101010101" pitchFamily="49" charset="-122"/>
              </a:rPr>
              <a:t>芯片</a:t>
            </a:r>
            <a:r>
              <a:rPr lang="en-US" altLang="zh-CN" sz="1800" dirty="0">
                <a:latin typeface="Times New Roman" panose="02020603050405020304" pitchFamily="18" charset="0"/>
                <a:ea typeface="楷体" panose="02010609060101010101" pitchFamily="49" charset="-122"/>
              </a:rPr>
              <a:t>AD835</a:t>
            </a:r>
            <a:r>
              <a:rPr lang="zh-CN" altLang="en-US" sz="1800" dirty="0">
                <a:latin typeface="Times New Roman" panose="02020603050405020304" pitchFamily="18" charset="0"/>
                <a:ea typeface="楷体" panose="02010609060101010101" pitchFamily="49" charset="-122"/>
              </a:rPr>
              <a:t>（</a:t>
            </a:r>
            <a:r>
              <a:rPr lang="en-US" altLang="zh-CN" sz="1800" dirty="0">
                <a:latin typeface="Times New Roman" panose="02020603050405020304" pitchFamily="18" charset="0"/>
                <a:ea typeface="楷体" panose="02010609060101010101" pitchFamily="49" charset="-122"/>
              </a:rPr>
              <a:t>-3dB</a:t>
            </a:r>
            <a:r>
              <a:rPr lang="zh-CN" altLang="en-US" sz="1800" dirty="0">
                <a:latin typeface="Times New Roman" panose="02020603050405020304" pitchFamily="18" charset="0"/>
                <a:ea typeface="楷体" panose="02010609060101010101" pitchFamily="49" charset="-122"/>
              </a:rPr>
              <a:t>带宽</a:t>
            </a:r>
            <a:r>
              <a:rPr lang="en-US" altLang="zh-CN" sz="1800" dirty="0">
                <a:latin typeface="Times New Roman" panose="02020603050405020304" pitchFamily="18" charset="0"/>
                <a:ea typeface="楷体" panose="02010609060101010101" pitchFamily="49" charset="-122"/>
              </a:rPr>
              <a:t>250MHz</a:t>
            </a:r>
            <a:r>
              <a:rPr lang="zh-CN" altLang="en-US" sz="1800" dirty="0">
                <a:latin typeface="Times New Roman" panose="02020603050405020304" pitchFamily="18" charset="0"/>
                <a:ea typeface="楷体" panose="02010609060101010101" pitchFamily="49" charset="-122"/>
              </a:rPr>
              <a:t>，使用方便）</a:t>
            </a:r>
            <a:endParaRPr lang="en-US" altLang="zh-CN" sz="1800" dirty="0">
              <a:latin typeface="Times New Roman" panose="02020603050405020304" pitchFamily="18" charset="0"/>
              <a:ea typeface="楷体" panose="02010609060101010101" pitchFamily="49" charset="-122"/>
            </a:endParaRPr>
          </a:p>
          <a:p>
            <a:pPr marL="1080000" lvl="1">
              <a:lnSpc>
                <a:spcPct val="150000"/>
              </a:lnSpc>
            </a:pPr>
            <a:r>
              <a:rPr lang="zh-CN" altLang="en-US" sz="1800" dirty="0" smtClean="0">
                <a:latin typeface="Times New Roman" panose="02020603050405020304" pitchFamily="18" charset="0"/>
                <a:ea typeface="楷体" panose="02010609060101010101" pitchFamily="49" charset="-122"/>
              </a:rPr>
              <a:t>用</a:t>
            </a:r>
            <a:r>
              <a:rPr lang="zh-CN" altLang="en-US" sz="1800" dirty="0">
                <a:latin typeface="Times New Roman" panose="02020603050405020304" pitchFamily="18" charset="0"/>
                <a:ea typeface="楷体" panose="02010609060101010101" pitchFamily="49" charset="-122"/>
              </a:rPr>
              <a:t>二极管构成的双平衡电路（极低噪声，适用于微弱信号。实际电路</a:t>
            </a:r>
            <a:r>
              <a:rPr lang="zh-CN" altLang="en-US" sz="1800" dirty="0" smtClean="0">
                <a:latin typeface="Times New Roman" panose="02020603050405020304" pitchFamily="18" charset="0"/>
                <a:ea typeface="楷体" panose="02010609060101010101" pitchFamily="49" charset="-122"/>
              </a:rPr>
              <a:t>可参见</a:t>
            </a:r>
            <a:r>
              <a:rPr lang="zh-CN" altLang="en-US" sz="1800" dirty="0">
                <a:latin typeface="Times New Roman" panose="02020603050405020304" pitchFamily="18" charset="0"/>
                <a:ea typeface="楷体" panose="02010609060101010101" pitchFamily="49" charset="-122"/>
              </a:rPr>
              <a:t>教科书</a:t>
            </a:r>
            <a:r>
              <a:rPr lang="en-US" altLang="zh-CN" sz="1800" dirty="0">
                <a:latin typeface="Times New Roman" panose="02020603050405020304" pitchFamily="18" charset="0"/>
                <a:ea typeface="楷体" panose="02010609060101010101" pitchFamily="49" charset="-122"/>
              </a:rPr>
              <a:t>《</a:t>
            </a:r>
            <a:r>
              <a:rPr lang="zh-CN" altLang="en-US" sz="1800" dirty="0">
                <a:latin typeface="Times New Roman" panose="02020603050405020304" pitchFamily="18" charset="0"/>
                <a:ea typeface="楷体" panose="02010609060101010101" pitchFamily="49" charset="-122"/>
              </a:rPr>
              <a:t>高频电路基础</a:t>
            </a:r>
            <a:r>
              <a:rPr lang="en-US" altLang="zh-CN" sz="1800" dirty="0">
                <a:latin typeface="Times New Roman" panose="02020603050405020304" pitchFamily="18" charset="0"/>
                <a:ea typeface="楷体" panose="02010609060101010101" pitchFamily="49" charset="-122"/>
              </a:rPr>
              <a:t>》</a:t>
            </a:r>
            <a:r>
              <a:rPr lang="zh-CN" altLang="en-US" sz="1800" dirty="0">
                <a:latin typeface="Times New Roman" panose="02020603050405020304" pitchFamily="18" charset="0"/>
                <a:ea typeface="楷体" panose="02010609060101010101" pitchFamily="49" charset="-122"/>
              </a:rPr>
              <a:t>图</a:t>
            </a:r>
            <a:r>
              <a:rPr lang="en-US" altLang="zh-CN" sz="1800" dirty="0">
                <a:latin typeface="Times New Roman" panose="02020603050405020304" pitchFamily="18" charset="0"/>
                <a:ea typeface="楷体" panose="02010609060101010101" pitchFamily="49" charset="-122"/>
              </a:rPr>
              <a:t>6-11</a:t>
            </a:r>
            <a:r>
              <a:rPr lang="zh-CN" altLang="en-US" sz="1800" dirty="0">
                <a:latin typeface="Times New Roman" panose="02020603050405020304" pitchFamily="18" charset="0"/>
                <a:ea typeface="楷体" panose="02010609060101010101" pitchFamily="49" charset="-122"/>
              </a:rPr>
              <a:t>，其中高频变压器通常</a:t>
            </a:r>
            <a:r>
              <a:rPr lang="zh-CN" altLang="en-US" sz="1800" dirty="0" smtClean="0">
                <a:latin typeface="Times New Roman" panose="02020603050405020304" pitchFamily="18" charset="0"/>
                <a:ea typeface="楷体" panose="02010609060101010101" pitchFamily="49" charset="-122"/>
              </a:rPr>
              <a:t>采用传输线</a:t>
            </a:r>
            <a:r>
              <a:rPr lang="zh-CN" altLang="en-US" sz="1800" dirty="0">
                <a:latin typeface="Times New Roman" panose="02020603050405020304" pitchFamily="18" charset="0"/>
                <a:ea typeface="楷体" panose="02010609060101010101" pitchFamily="49" charset="-122"/>
              </a:rPr>
              <a:t>变压器结构）</a:t>
            </a:r>
            <a:endParaRPr lang="en-US" altLang="zh-CN" sz="1800" dirty="0">
              <a:latin typeface="Times New Roman" panose="02020603050405020304" pitchFamily="18" charset="0"/>
              <a:ea typeface="楷体" panose="02010609060101010101" pitchFamily="49" charset="-122"/>
            </a:endParaRPr>
          </a:p>
          <a:p>
            <a:pPr marL="342900" indent="-342900">
              <a:lnSpc>
                <a:spcPct val="150000"/>
              </a:lnSpc>
              <a:buFont typeface="Arial" panose="020B0604020202020204" pitchFamily="34" charset="0"/>
              <a:buChar char="•"/>
            </a:pPr>
            <a:endParaRPr lang="en-US" altLang="zh-CN" sz="1200" dirty="0" smtClean="0"/>
          </a:p>
          <a:p>
            <a:pPr marL="342900" indent="-342900">
              <a:lnSpc>
                <a:spcPct val="150000"/>
              </a:lnSpc>
              <a:buFont typeface="Arial" panose="020B0604020202020204" pitchFamily="34" charset="0"/>
              <a:buChar char="•"/>
            </a:pPr>
            <a:r>
              <a:rPr lang="zh-CN" altLang="en-US" sz="1800" dirty="0" smtClean="0"/>
              <a:t>异或门</a:t>
            </a:r>
            <a:endParaRPr lang="en-US" altLang="zh-CN" sz="1800" dirty="0"/>
          </a:p>
          <a:p>
            <a:pPr lvl="1">
              <a:lnSpc>
                <a:spcPct val="200000"/>
              </a:lnSpc>
            </a:pPr>
            <a:r>
              <a:rPr lang="zh-CN" altLang="zh-CN" sz="1800" dirty="0">
                <a:latin typeface="+mn-ea"/>
                <a:ea typeface="+mn-ea"/>
                <a:cs typeface="Times New Roman" panose="02020603050405020304" pitchFamily="18" charset="0"/>
              </a:rPr>
              <a:t>鉴相范围为</a:t>
            </a:r>
            <a:r>
              <a:rPr lang="en-US" altLang="zh-CN" sz="1800" dirty="0">
                <a:latin typeface="+mn-ea"/>
                <a:ea typeface="+mn-ea"/>
                <a:cs typeface="Times New Roman" panose="02020603050405020304" pitchFamily="18" charset="0"/>
              </a:rPr>
              <a:t>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0~</a:t>
            </a:r>
            <a:r>
              <a:rPr lang="el-GR" altLang="zh-CN" sz="1800" dirty="0">
                <a:latin typeface="Times New Roman" panose="02020603050405020304" pitchFamily="18" charset="0"/>
                <a:ea typeface="宋体" panose="02010600030101010101" pitchFamily="2" charset="-122"/>
                <a:cs typeface="Times New Roman" panose="02020603050405020304" pitchFamily="18" charset="0"/>
              </a:rPr>
              <a:t>π</a:t>
            </a:r>
            <a:r>
              <a:rPr lang="zh-CN" altLang="en-US" sz="1800" dirty="0"/>
              <a:t> ，鉴相增益              ，适用于数字电平输入的信号。对信号噪声不敏感，</a:t>
            </a:r>
            <a:r>
              <a:rPr lang="zh-CN" altLang="en-US" sz="1800" dirty="0">
                <a:latin typeface="+mn-ea"/>
                <a:ea typeface="+mn-ea"/>
                <a:cs typeface="Times New Roman" panose="02020603050405020304" pitchFamily="18" charset="0"/>
              </a:rPr>
              <a:t>有可能锁定在输入信号的高次谐波</a:t>
            </a:r>
            <a:r>
              <a:rPr lang="zh-CN" altLang="en-US" sz="1800" dirty="0" smtClean="0">
                <a:latin typeface="+mn-ea"/>
                <a:ea typeface="+mn-ea"/>
                <a:cs typeface="Times New Roman" panose="02020603050405020304" pitchFamily="18" charset="0"/>
              </a:rPr>
              <a:t>上</a:t>
            </a:r>
            <a:r>
              <a:rPr lang="zh-CN" altLang="en-US" sz="1800" dirty="0" smtClean="0">
                <a:latin typeface="+mn-ea"/>
                <a:cs typeface="Times New Roman" panose="02020603050405020304" pitchFamily="18" charset="0"/>
              </a:rPr>
              <a:t>（</a:t>
            </a:r>
            <a:r>
              <a:rPr lang="zh-CN" altLang="en-US" sz="1800" dirty="0">
                <a:latin typeface="+mn-ea"/>
                <a:cs typeface="Times New Roman" panose="02020603050405020304" pitchFamily="18" charset="0"/>
              </a:rPr>
              <a:t>其中</a:t>
            </a:r>
            <a:r>
              <a:rPr lang="en-US" altLang="zh-CN" sz="1800" i="1" dirty="0" smtClean="0">
                <a:latin typeface="+mn-lt"/>
                <a:cs typeface="Times New Roman" panose="02020603050405020304" pitchFamily="18" charset="0"/>
              </a:rPr>
              <a:t>V</a:t>
            </a:r>
            <a:r>
              <a:rPr lang="en-US" altLang="zh-CN" sz="1800" i="1" baseline="-25000" dirty="0" smtClean="0">
                <a:latin typeface="+mn-lt"/>
                <a:cs typeface="Times New Roman" panose="02020603050405020304" pitchFamily="18" charset="0"/>
              </a:rPr>
              <a:t>H </a:t>
            </a:r>
            <a:r>
              <a:rPr lang="zh-CN" altLang="en-US" sz="1800" dirty="0" smtClean="0">
                <a:latin typeface="+mn-ea"/>
                <a:cs typeface="Times New Roman" panose="02020603050405020304" pitchFamily="18" charset="0"/>
              </a:rPr>
              <a:t>是</a:t>
            </a:r>
            <a:r>
              <a:rPr lang="zh-CN" altLang="en-US" sz="1800" dirty="0">
                <a:latin typeface="+mn-ea"/>
                <a:cs typeface="Times New Roman" panose="02020603050405020304" pitchFamily="18" charset="0"/>
              </a:rPr>
              <a:t>鉴相器的输出高电平，默认其输出低电平为</a:t>
            </a:r>
            <a:r>
              <a:rPr lang="en-US" altLang="zh-CN" sz="1800" dirty="0">
                <a:latin typeface="+mn-lt"/>
                <a:cs typeface="Times New Roman" panose="02020603050405020304" pitchFamily="18" charset="0"/>
              </a:rPr>
              <a:t>0</a:t>
            </a:r>
            <a:r>
              <a:rPr lang="zh-CN" altLang="en-US" sz="1800" dirty="0">
                <a:latin typeface="+mn-ea"/>
                <a:cs typeface="Times New Roman" panose="02020603050405020304" pitchFamily="18" charset="0"/>
              </a:rPr>
              <a:t>）</a:t>
            </a:r>
            <a:endParaRPr lang="en-US" altLang="zh-CN" sz="1800" dirty="0">
              <a:latin typeface="+mn-ea"/>
              <a:cs typeface="Times New Roman" panose="02020603050405020304" pitchFamily="18" charset="0"/>
            </a:endParaRPr>
          </a:p>
          <a:p>
            <a:pPr lvl="1">
              <a:lnSpc>
                <a:spcPct val="150000"/>
              </a:lnSpc>
            </a:pPr>
            <a:r>
              <a:rPr lang="zh-CN" altLang="en-US" sz="1800" dirty="0">
                <a:latin typeface="Times New Roman" panose="02020603050405020304" pitchFamily="18" charset="0"/>
                <a:ea typeface="楷体" panose="02010609060101010101" pitchFamily="49" charset="-122"/>
                <a:cs typeface="Times New Roman" panose="02020603050405020304" pitchFamily="18" charset="0"/>
              </a:rPr>
              <a:t>实例：集成</a:t>
            </a:r>
            <a:r>
              <a:rPr lang="en-US" altLang="zh-CN" sz="1800" dirty="0">
                <a:latin typeface="Times New Roman" panose="02020603050405020304" pitchFamily="18" charset="0"/>
                <a:ea typeface="楷体" panose="02010609060101010101" pitchFamily="49" charset="-122"/>
                <a:cs typeface="Times New Roman" panose="02020603050405020304" pitchFamily="18" charset="0"/>
              </a:rPr>
              <a:t>PLL</a:t>
            </a:r>
            <a:r>
              <a:rPr lang="zh-CN" altLang="en-US" sz="1800" dirty="0">
                <a:latin typeface="Times New Roman" panose="02020603050405020304" pitchFamily="18" charset="0"/>
                <a:ea typeface="楷体" panose="02010609060101010101" pitchFamily="49" charset="-122"/>
                <a:cs typeface="Times New Roman" panose="02020603050405020304" pitchFamily="18" charset="0"/>
              </a:rPr>
              <a:t>芯片</a:t>
            </a:r>
            <a:r>
              <a:rPr lang="en-US" altLang="zh-CN" sz="1800" dirty="0">
                <a:latin typeface="Times New Roman" panose="02020603050405020304" pitchFamily="18" charset="0"/>
                <a:ea typeface="楷体" panose="02010609060101010101" pitchFamily="49" charset="-122"/>
                <a:cs typeface="Times New Roman" panose="02020603050405020304" pitchFamily="18" charset="0"/>
              </a:rPr>
              <a:t>HC4046</a:t>
            </a:r>
            <a:r>
              <a:rPr lang="zh-CN" altLang="en-US" sz="1800" dirty="0">
                <a:latin typeface="Times New Roman" panose="02020603050405020304" pitchFamily="18" charset="0"/>
                <a:ea typeface="楷体" panose="02010609060101010101" pitchFamily="49" charset="-122"/>
                <a:cs typeface="Times New Roman" panose="02020603050405020304" pitchFamily="18" charset="0"/>
              </a:rPr>
              <a:t>中的鉴相器</a:t>
            </a:r>
            <a:r>
              <a:rPr lang="en-US" altLang="zh-CN" sz="1800" dirty="0">
                <a:latin typeface="Times New Roman" panose="02020603050405020304" pitchFamily="18" charset="0"/>
                <a:ea typeface="楷体" panose="02010609060101010101" pitchFamily="49" charset="-122"/>
                <a:cs typeface="Times New Roman" panose="02020603050405020304" pitchFamily="18" charset="0"/>
              </a:rPr>
              <a:t>1</a:t>
            </a:r>
          </a:p>
        </p:txBody>
      </p:sp>
      <p:graphicFrame>
        <p:nvGraphicFramePr>
          <p:cNvPr id="9" name="对象 8"/>
          <p:cNvGraphicFramePr>
            <a:graphicFrameLocks noChangeAspect="1"/>
          </p:cNvGraphicFramePr>
          <p:nvPr>
            <p:extLst>
              <p:ext uri="{D42A27DB-BD31-4B8C-83A1-F6EECF244321}">
                <p14:modId xmlns:p14="http://schemas.microsoft.com/office/powerpoint/2010/main" val="225470101"/>
              </p:ext>
            </p:extLst>
          </p:nvPr>
        </p:nvGraphicFramePr>
        <p:xfrm>
          <a:off x="3815042" y="4568009"/>
          <a:ext cx="844043" cy="602887"/>
        </p:xfrm>
        <a:graphic>
          <a:graphicData uri="http://schemas.openxmlformats.org/presentationml/2006/ole">
            <mc:AlternateContent xmlns:mc="http://schemas.openxmlformats.org/markup-compatibility/2006">
              <mc:Choice xmlns:v="urn:schemas-microsoft-com:vml" Requires="v">
                <p:oleObj spid="_x0000_s2201" name="Equation" r:id="rId3" imgW="533160" imgH="368280" progId="Equation.DSMT4">
                  <p:embed/>
                </p:oleObj>
              </mc:Choice>
              <mc:Fallback>
                <p:oleObj name="Equation" r:id="rId3" imgW="533160" imgH="368280" progId="Equation.DSMT4">
                  <p:embed/>
                  <p:pic>
                    <p:nvPicPr>
                      <p:cNvPr id="0" name="Object 1"/>
                      <p:cNvPicPr>
                        <a:picLocks noChangeAspect="1" noChangeArrowheads="1"/>
                      </p:cNvPicPr>
                      <p:nvPr/>
                    </p:nvPicPr>
                    <p:blipFill>
                      <a:blip r:embed="rId4"/>
                      <a:srcRect/>
                      <a:stretch>
                        <a:fillRect/>
                      </a:stretch>
                    </p:blipFill>
                    <p:spPr bwMode="auto">
                      <a:xfrm>
                        <a:off x="3815042" y="4568009"/>
                        <a:ext cx="844043" cy="602887"/>
                      </a:xfrm>
                      <a:prstGeom prst="rect">
                        <a:avLst/>
                      </a:prstGeom>
                      <a:noFill/>
                    </p:spPr>
                  </p:pic>
                </p:oleObj>
              </mc:Fallback>
            </mc:AlternateContent>
          </a:graphicData>
        </a:graphic>
      </p:graphicFrame>
    </p:spTree>
    <p:extLst>
      <p:ext uri="{BB962C8B-B14F-4D97-AF65-F5344CB8AC3E}">
        <p14:creationId xmlns:p14="http://schemas.microsoft.com/office/powerpoint/2010/main" val="1495193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a:t>
            </a:fld>
            <a:endParaRPr lang="en-US" altLang="zh-CN">
              <a:solidFill>
                <a:srgbClr val="FFFFFF"/>
              </a:solidFill>
            </a:endParaRPr>
          </a:p>
        </p:txBody>
      </p:sp>
      <p:sp>
        <p:nvSpPr>
          <p:cNvPr id="5" name="文本框 4"/>
          <p:cNvSpPr txBox="1"/>
          <p:nvPr/>
        </p:nvSpPr>
        <p:spPr>
          <a:xfrm>
            <a:off x="413657" y="499961"/>
            <a:ext cx="11292113" cy="452431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1800" dirty="0"/>
              <a:t>鉴相</a:t>
            </a:r>
            <a:r>
              <a:rPr lang="en-US" altLang="zh-CN" sz="1800" dirty="0"/>
              <a:t>-</a:t>
            </a:r>
            <a:r>
              <a:rPr lang="zh-CN" altLang="en-US" sz="1800" dirty="0"/>
              <a:t>鉴频电路（</a:t>
            </a:r>
            <a:r>
              <a:rPr lang="en-US" altLang="zh-CN" sz="1800" dirty="0"/>
              <a:t>PFD</a:t>
            </a:r>
            <a:r>
              <a:rPr lang="zh-CN" altLang="en-US" sz="1800" dirty="0"/>
              <a:t>）</a:t>
            </a:r>
            <a:endParaRPr lang="en-US" altLang="zh-CN" sz="1800" dirty="0"/>
          </a:p>
          <a:p>
            <a:pPr lvl="1">
              <a:lnSpc>
                <a:spcPct val="200000"/>
              </a:lnSpc>
            </a:pPr>
            <a:r>
              <a:rPr lang="zh-CN" altLang="zh-CN" sz="1800" dirty="0">
                <a:latin typeface="+mn-ea"/>
                <a:cs typeface="Times New Roman" panose="02020603050405020304" pitchFamily="18" charset="0"/>
              </a:rPr>
              <a:t>鉴相范围为</a:t>
            </a:r>
            <a:r>
              <a:rPr lang="en-US" altLang="zh-CN" sz="1800" dirty="0">
                <a:latin typeface="+mn-ea"/>
                <a:cs typeface="Times New Roman" panose="02020603050405020304" pitchFamily="18" charset="0"/>
              </a:rPr>
              <a:t>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-2</a:t>
            </a:r>
            <a:r>
              <a:rPr lang="el-GR" altLang="zh-CN" sz="1800" dirty="0">
                <a:latin typeface="Times New Roman" panose="02020603050405020304" pitchFamily="18" charset="0"/>
                <a:ea typeface="宋体" panose="02010600030101010101" pitchFamily="2" charset="-122"/>
                <a:cs typeface="Times New Roman" panose="02020603050405020304" pitchFamily="18" charset="0"/>
              </a:rPr>
              <a:t>π</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~+2</a:t>
            </a:r>
            <a:r>
              <a:rPr lang="el-GR" altLang="zh-CN" sz="1800" dirty="0">
                <a:latin typeface="Times New Roman" panose="02020603050405020304" pitchFamily="18" charset="0"/>
                <a:ea typeface="宋体" panose="02010600030101010101" pitchFamily="2" charset="-122"/>
                <a:cs typeface="Times New Roman" panose="02020603050405020304" pitchFamily="18" charset="0"/>
              </a:rPr>
              <a:t>π</a:t>
            </a:r>
            <a:r>
              <a:rPr lang="zh-CN" altLang="en-US" sz="1800" dirty="0"/>
              <a:t> ，鉴相增益              </a:t>
            </a:r>
            <a:r>
              <a:rPr lang="zh-CN" altLang="en-US" sz="1800" dirty="0">
                <a:latin typeface="+mn-ea"/>
                <a:cs typeface="Times New Roman" panose="02020603050405020304" pitchFamily="18" charset="0"/>
              </a:rPr>
              <a:t>（其中</a:t>
            </a:r>
            <a:r>
              <a:rPr lang="en-US" altLang="zh-CN" sz="1800" i="1" dirty="0">
                <a:latin typeface="+mn-lt"/>
                <a:cs typeface="Times New Roman" panose="02020603050405020304" pitchFamily="18" charset="0"/>
              </a:rPr>
              <a:t>V</a:t>
            </a:r>
            <a:r>
              <a:rPr lang="en-US" altLang="zh-CN" sz="1800" i="1" baseline="-25000" dirty="0">
                <a:latin typeface="+mn-lt"/>
                <a:cs typeface="Times New Roman" panose="02020603050405020304" pitchFamily="18" charset="0"/>
              </a:rPr>
              <a:t>H</a:t>
            </a:r>
            <a:r>
              <a:rPr lang="zh-CN" altLang="en-US" sz="1800" dirty="0">
                <a:latin typeface="+mn-ea"/>
                <a:cs typeface="Times New Roman" panose="02020603050405020304" pitchFamily="18" charset="0"/>
              </a:rPr>
              <a:t>是鉴相器的输出高电平，默认其输出低电平为</a:t>
            </a:r>
            <a:r>
              <a:rPr lang="en-US" altLang="zh-CN" sz="1800" dirty="0">
                <a:latin typeface="+mn-lt"/>
                <a:cs typeface="Times New Roman" panose="02020603050405020304" pitchFamily="18" charset="0"/>
              </a:rPr>
              <a:t>0</a:t>
            </a:r>
            <a:r>
              <a:rPr lang="zh-CN" altLang="en-US" sz="1800" dirty="0" smtClean="0">
                <a:latin typeface="+mn-ea"/>
                <a:cs typeface="Times New Roman" panose="02020603050405020304" pitchFamily="18" charset="0"/>
              </a:rPr>
              <a:t>）</a:t>
            </a:r>
            <a:r>
              <a:rPr lang="zh-CN" altLang="en-US" sz="1800" dirty="0" smtClean="0"/>
              <a:t>，</a:t>
            </a:r>
            <a:r>
              <a:rPr lang="zh-CN" altLang="en-US" sz="1800" dirty="0"/>
              <a:t>数字电平输入。以两个输入信号的上升沿触发，</a:t>
            </a:r>
            <a:r>
              <a:rPr lang="zh-CN" altLang="zh-CN" sz="1800" dirty="0"/>
              <a:t>输出大部分时间处于高阻态，只有两个输入信号产生相位差（上升沿错开）后才输出</a:t>
            </a:r>
            <a:r>
              <a:rPr lang="zh-CN" altLang="en-US" sz="1800" dirty="0"/>
              <a:t>高电平</a:t>
            </a:r>
            <a:r>
              <a:rPr lang="zh-CN" altLang="zh-CN" sz="1800" dirty="0"/>
              <a:t>或</a:t>
            </a:r>
            <a:r>
              <a:rPr lang="zh-CN" altLang="en-US" sz="1800" dirty="0"/>
              <a:t>低电平</a:t>
            </a:r>
            <a:r>
              <a:rPr lang="zh-CN" altLang="zh-CN" sz="1800" dirty="0"/>
              <a:t>脉冲；当相位差超出其鉴相范围之后，其输出变化会维持在</a:t>
            </a:r>
            <a:r>
              <a:rPr lang="zh-CN" altLang="en-US" sz="1800" dirty="0"/>
              <a:t>高电平</a:t>
            </a:r>
            <a:r>
              <a:rPr lang="zh-CN" altLang="zh-CN" sz="1800" dirty="0"/>
              <a:t>或</a:t>
            </a:r>
            <a:r>
              <a:rPr lang="zh-CN" altLang="en-US" sz="1800" dirty="0"/>
              <a:t>低电平</a:t>
            </a:r>
            <a:r>
              <a:rPr lang="zh-CN" altLang="zh-CN" sz="1800" dirty="0"/>
              <a:t>状态，所以它具有鉴频功能</a:t>
            </a:r>
            <a:r>
              <a:rPr lang="zh-CN" altLang="en-US" sz="1800" dirty="0"/>
              <a:t>。</a:t>
            </a:r>
            <a:r>
              <a:rPr lang="zh-CN" altLang="zh-CN" sz="1800" dirty="0"/>
              <a:t>由于边沿触发，对输入信号中的噪声</a:t>
            </a:r>
            <a:r>
              <a:rPr lang="zh-CN" altLang="zh-CN" sz="1800" dirty="0" smtClean="0"/>
              <a:t>敏感</a:t>
            </a:r>
            <a:r>
              <a:rPr lang="zh-CN" altLang="en-US" sz="1800" dirty="0" smtClean="0"/>
              <a:t>。</a:t>
            </a:r>
            <a:endParaRPr lang="en-US" altLang="zh-CN" sz="1800" dirty="0" smtClean="0"/>
          </a:p>
          <a:p>
            <a:pPr lvl="1">
              <a:lnSpc>
                <a:spcPct val="200000"/>
              </a:lnSpc>
            </a:pPr>
            <a:endParaRPr lang="en-US" altLang="zh-CN" sz="1600" dirty="0">
              <a:latin typeface="+mn-ea"/>
              <a:cs typeface="Times New Roman" panose="02020603050405020304" pitchFamily="18" charset="0"/>
            </a:endParaRPr>
          </a:p>
          <a:p>
            <a:pPr marL="468000" lvl="1">
              <a:lnSpc>
                <a:spcPct val="150000"/>
              </a:lnSpc>
            </a:pPr>
            <a:r>
              <a:rPr lang="zh-CN" altLang="en-US" sz="1800" dirty="0">
                <a:latin typeface="Times New Roman" panose="02020603050405020304" pitchFamily="18" charset="0"/>
                <a:ea typeface="楷体" panose="02010609060101010101" pitchFamily="49" charset="-122"/>
              </a:rPr>
              <a:t>实例：集成</a:t>
            </a:r>
            <a:r>
              <a:rPr lang="en-US" altLang="zh-CN" sz="1800" dirty="0">
                <a:latin typeface="Times New Roman" panose="02020603050405020304" pitchFamily="18" charset="0"/>
                <a:ea typeface="楷体" panose="02010609060101010101" pitchFamily="49" charset="-122"/>
              </a:rPr>
              <a:t>PLL</a:t>
            </a:r>
            <a:r>
              <a:rPr lang="zh-CN" altLang="en-US" sz="1800" dirty="0">
                <a:latin typeface="Times New Roman" panose="02020603050405020304" pitchFamily="18" charset="0"/>
                <a:ea typeface="楷体" panose="02010609060101010101" pitchFamily="49" charset="-122"/>
              </a:rPr>
              <a:t>芯片</a:t>
            </a:r>
            <a:r>
              <a:rPr lang="en-US" altLang="zh-CN" sz="1800" dirty="0">
                <a:latin typeface="Times New Roman" panose="02020603050405020304" pitchFamily="18" charset="0"/>
                <a:ea typeface="楷体" panose="02010609060101010101" pitchFamily="49" charset="-122"/>
              </a:rPr>
              <a:t>HC4046</a:t>
            </a:r>
            <a:r>
              <a:rPr lang="zh-CN" altLang="en-US" sz="1800" dirty="0">
                <a:latin typeface="Times New Roman" panose="02020603050405020304" pitchFamily="18" charset="0"/>
                <a:ea typeface="楷体" panose="02010609060101010101" pitchFamily="49" charset="-122"/>
              </a:rPr>
              <a:t>中的鉴相器</a:t>
            </a:r>
            <a:r>
              <a:rPr lang="en-US" altLang="zh-CN" sz="1800" dirty="0">
                <a:latin typeface="Times New Roman" panose="02020603050405020304" pitchFamily="18" charset="0"/>
                <a:ea typeface="楷体" panose="02010609060101010101" pitchFamily="49" charset="-122"/>
              </a:rPr>
              <a:t>2</a:t>
            </a:r>
          </a:p>
          <a:p>
            <a:pPr marL="1080000" lvl="1">
              <a:lnSpc>
                <a:spcPct val="150000"/>
              </a:lnSpc>
            </a:pPr>
            <a:r>
              <a:rPr lang="zh-CN" altLang="en-US" sz="1800" dirty="0" smtClean="0">
                <a:latin typeface="Times New Roman" panose="02020603050405020304" pitchFamily="18" charset="0"/>
                <a:ea typeface="楷体" panose="02010609060101010101" pitchFamily="49" charset="-122"/>
              </a:rPr>
              <a:t>集成</a:t>
            </a:r>
            <a:r>
              <a:rPr lang="en-US" altLang="zh-CN" sz="1800" dirty="0">
                <a:latin typeface="Times New Roman" panose="02020603050405020304" pitchFamily="18" charset="0"/>
                <a:ea typeface="楷体" panose="02010609060101010101" pitchFamily="49" charset="-122"/>
              </a:rPr>
              <a:t>PLL</a:t>
            </a:r>
            <a:r>
              <a:rPr lang="zh-CN" altLang="en-US" sz="1800" dirty="0">
                <a:latin typeface="Times New Roman" panose="02020603050405020304" pitchFamily="18" charset="0"/>
                <a:ea typeface="楷体" panose="02010609060101010101" pitchFamily="49" charset="-122"/>
              </a:rPr>
              <a:t>频率合成器芯片</a:t>
            </a:r>
            <a:r>
              <a:rPr lang="en-US" altLang="zh-CN" sz="1800" dirty="0">
                <a:latin typeface="Times New Roman" panose="02020603050405020304" pitchFamily="18" charset="0"/>
                <a:ea typeface="楷体" panose="02010609060101010101" pitchFamily="49" charset="-122"/>
              </a:rPr>
              <a:t>MC14515x</a:t>
            </a:r>
            <a:r>
              <a:rPr lang="zh-CN" altLang="en-US" sz="1800" dirty="0">
                <a:latin typeface="Times New Roman" panose="02020603050405020304" pitchFamily="18" charset="0"/>
                <a:ea typeface="楷体" panose="02010609060101010101" pitchFamily="49" charset="-122"/>
              </a:rPr>
              <a:t>系列中的鉴相器</a:t>
            </a:r>
            <a:endParaRPr lang="en-US" altLang="zh-CN" sz="1800" dirty="0">
              <a:latin typeface="Times New Roman" panose="02020603050405020304" pitchFamily="18" charset="0"/>
              <a:ea typeface="楷体" panose="02010609060101010101" pitchFamily="49" charset="-122"/>
            </a:endParaRPr>
          </a:p>
          <a:p>
            <a:pPr marL="1080000" lvl="1">
              <a:lnSpc>
                <a:spcPct val="150000"/>
              </a:lnSpc>
            </a:pPr>
            <a:r>
              <a:rPr lang="zh-CN" altLang="en-US" sz="1800" dirty="0" smtClean="0">
                <a:latin typeface="Times New Roman" panose="02020603050405020304" pitchFamily="18" charset="0"/>
                <a:ea typeface="楷体" panose="02010609060101010101" pitchFamily="49" charset="-122"/>
              </a:rPr>
              <a:t>（</a:t>
            </a:r>
            <a:r>
              <a:rPr lang="zh-CN" altLang="en-US" sz="1800" dirty="0">
                <a:latin typeface="Times New Roman" panose="02020603050405020304" pitchFamily="18" charset="0"/>
                <a:ea typeface="楷体" panose="02010609060101010101" pitchFamily="49" charset="-122"/>
              </a:rPr>
              <a:t>绝大部分频率合成器芯片中都采用这种鉴相</a:t>
            </a:r>
            <a:r>
              <a:rPr lang="en-US" altLang="zh-CN" sz="1800" dirty="0">
                <a:latin typeface="Times New Roman" panose="02020603050405020304" pitchFamily="18" charset="0"/>
                <a:ea typeface="楷体" panose="02010609060101010101" pitchFamily="49" charset="-122"/>
              </a:rPr>
              <a:t>-</a:t>
            </a:r>
            <a:r>
              <a:rPr lang="zh-CN" altLang="en-US" sz="1800" dirty="0">
                <a:latin typeface="Times New Roman" panose="02020603050405020304" pitchFamily="18" charset="0"/>
                <a:ea typeface="楷体" panose="02010609060101010101" pitchFamily="49" charset="-122"/>
              </a:rPr>
              <a:t>鉴频器）</a:t>
            </a:r>
          </a:p>
        </p:txBody>
      </p:sp>
      <p:graphicFrame>
        <p:nvGraphicFramePr>
          <p:cNvPr id="14" name="对象 13"/>
          <p:cNvGraphicFramePr>
            <a:graphicFrameLocks noChangeAspect="1"/>
          </p:cNvGraphicFramePr>
          <p:nvPr>
            <p:extLst>
              <p:ext uri="{D42A27DB-BD31-4B8C-83A1-F6EECF244321}">
                <p14:modId xmlns:p14="http://schemas.microsoft.com/office/powerpoint/2010/main" val="422884984"/>
              </p:ext>
            </p:extLst>
          </p:nvPr>
        </p:nvGraphicFramePr>
        <p:xfrm>
          <a:off x="4176185" y="988218"/>
          <a:ext cx="860272" cy="598887"/>
        </p:xfrm>
        <a:graphic>
          <a:graphicData uri="http://schemas.openxmlformats.org/presentationml/2006/ole">
            <mc:AlternateContent xmlns:mc="http://schemas.openxmlformats.org/markup-compatibility/2006">
              <mc:Choice xmlns:v="urn:schemas-microsoft-com:vml" Requires="v">
                <p:oleObj spid="_x0000_s28721" name="Equation" r:id="rId3" imgW="545760" imgH="368280" progId="Equation.DSMT4">
                  <p:embed/>
                </p:oleObj>
              </mc:Choice>
              <mc:Fallback>
                <p:oleObj name="Equation" r:id="rId3" imgW="545760" imgH="368280" progId="Equation.DSMT4">
                  <p:embed/>
                  <p:pic>
                    <p:nvPicPr>
                      <p:cNvPr id="14" name="对象 13"/>
                      <p:cNvPicPr>
                        <a:picLocks noChangeAspect="1" noChangeArrowheads="1"/>
                      </p:cNvPicPr>
                      <p:nvPr/>
                    </p:nvPicPr>
                    <p:blipFill>
                      <a:blip r:embed="rId4"/>
                      <a:srcRect/>
                      <a:stretch>
                        <a:fillRect/>
                      </a:stretch>
                    </p:blipFill>
                    <p:spPr bwMode="auto">
                      <a:xfrm>
                        <a:off x="4176185" y="988218"/>
                        <a:ext cx="860272" cy="598887"/>
                      </a:xfrm>
                      <a:prstGeom prst="rect">
                        <a:avLst/>
                      </a:prstGeom>
                      <a:noFill/>
                    </p:spPr>
                  </p:pic>
                </p:oleObj>
              </mc:Fallback>
            </mc:AlternateContent>
          </a:graphicData>
        </a:graphic>
      </p:graphicFrame>
    </p:spTree>
    <p:extLst>
      <p:ext uri="{BB962C8B-B14F-4D97-AF65-F5344CB8AC3E}">
        <p14:creationId xmlns:p14="http://schemas.microsoft.com/office/powerpoint/2010/main" val="809055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a:t>
            </a:fld>
            <a:endParaRPr lang="en-US" altLang="zh-CN">
              <a:solidFill>
                <a:srgbClr val="FFFFFF"/>
              </a:solidFill>
            </a:endParaRPr>
          </a:p>
        </p:txBody>
      </p:sp>
      <p:sp>
        <p:nvSpPr>
          <p:cNvPr id="5" name="文本框 4"/>
          <p:cNvSpPr txBox="1"/>
          <p:nvPr/>
        </p:nvSpPr>
        <p:spPr>
          <a:xfrm>
            <a:off x="486229" y="355235"/>
            <a:ext cx="9708125" cy="969496"/>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dirty="0"/>
              <a:t>常用的环路滤波器</a:t>
            </a:r>
            <a:endParaRPr lang="en-US" altLang="zh-CN" dirty="0"/>
          </a:p>
          <a:p>
            <a:pPr marL="342900" indent="-342900">
              <a:lnSpc>
                <a:spcPct val="150000"/>
              </a:lnSpc>
              <a:buFont typeface="Arial" panose="020B0604020202020204" pitchFamily="34" charset="0"/>
              <a:buChar char="•"/>
            </a:pPr>
            <a:r>
              <a:rPr lang="zh-CN" altLang="en-US" sz="1800" dirty="0"/>
              <a:t>二阶锁相环中的环路滤波器</a:t>
            </a:r>
          </a:p>
        </p:txBody>
      </p:sp>
      <p:graphicFrame>
        <p:nvGraphicFramePr>
          <p:cNvPr id="7" name="对象 6"/>
          <p:cNvGraphicFramePr>
            <a:graphicFrameLocks noChangeAspect="1"/>
          </p:cNvGraphicFramePr>
          <p:nvPr>
            <p:extLst>
              <p:ext uri="{D42A27DB-BD31-4B8C-83A1-F6EECF244321}">
                <p14:modId xmlns:p14="http://schemas.microsoft.com/office/powerpoint/2010/main" val="2906017460"/>
              </p:ext>
            </p:extLst>
          </p:nvPr>
        </p:nvGraphicFramePr>
        <p:xfrm>
          <a:off x="3456616" y="1433729"/>
          <a:ext cx="5632450" cy="1855788"/>
        </p:xfrm>
        <a:graphic>
          <a:graphicData uri="http://schemas.openxmlformats.org/presentationml/2006/ole">
            <mc:AlternateContent xmlns:mc="http://schemas.openxmlformats.org/markup-compatibility/2006">
              <mc:Choice xmlns:v="urn:schemas-microsoft-com:vml" Requires="v">
                <p:oleObj spid="_x0000_s3353" name="Visio" r:id="rId3" imgW="3365517" imgH="1104707" progId="Visio.Drawing.11">
                  <p:embed/>
                </p:oleObj>
              </mc:Choice>
              <mc:Fallback>
                <p:oleObj name="Visio" r:id="rId3" imgW="3365517" imgH="1104707" progId="Visio.Drawing.11">
                  <p:embed/>
                  <p:pic>
                    <p:nvPicPr>
                      <p:cNvPr id="0" name="Object 1"/>
                      <p:cNvPicPr>
                        <a:picLocks noChangeAspect="1" noChangeArrowheads="1"/>
                      </p:cNvPicPr>
                      <p:nvPr/>
                    </p:nvPicPr>
                    <p:blipFill>
                      <a:blip r:embed="rId4"/>
                      <a:srcRect/>
                      <a:stretch>
                        <a:fillRect/>
                      </a:stretch>
                    </p:blipFill>
                    <p:spPr bwMode="auto">
                      <a:xfrm>
                        <a:off x="3456616" y="1433729"/>
                        <a:ext cx="5632450" cy="1855788"/>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901660347"/>
              </p:ext>
            </p:extLst>
          </p:nvPr>
        </p:nvGraphicFramePr>
        <p:xfrm>
          <a:off x="3092577" y="3499148"/>
          <a:ext cx="2667925" cy="1359772"/>
        </p:xfrm>
        <a:graphic>
          <a:graphicData uri="http://schemas.openxmlformats.org/presentationml/2006/ole">
            <mc:AlternateContent xmlns:mc="http://schemas.openxmlformats.org/markup-compatibility/2006">
              <mc:Choice xmlns:v="urn:schemas-microsoft-com:vml" Requires="v">
                <p:oleObj spid="_x0000_s3354" name="Equation" r:id="rId5" imgW="1650960" imgH="812520" progId="Equation.DSMT4">
                  <p:embed/>
                </p:oleObj>
              </mc:Choice>
              <mc:Fallback>
                <p:oleObj name="Equation" r:id="rId5" imgW="1650960" imgH="812520" progId="Equation.DSMT4">
                  <p:embed/>
                  <p:pic>
                    <p:nvPicPr>
                      <p:cNvPr id="9" name="对象 8"/>
                      <p:cNvPicPr>
                        <a:picLocks noChangeAspect="1" noChangeArrowheads="1"/>
                      </p:cNvPicPr>
                      <p:nvPr/>
                    </p:nvPicPr>
                    <p:blipFill>
                      <a:blip r:embed="rId6"/>
                      <a:srcRect/>
                      <a:stretch>
                        <a:fillRect/>
                      </a:stretch>
                    </p:blipFill>
                    <p:spPr bwMode="auto">
                      <a:xfrm>
                        <a:off x="3092577" y="3499148"/>
                        <a:ext cx="2667925" cy="1359772"/>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865798837"/>
              </p:ext>
            </p:extLst>
          </p:nvPr>
        </p:nvGraphicFramePr>
        <p:xfrm>
          <a:off x="6934200" y="3498850"/>
          <a:ext cx="2052638" cy="1360488"/>
        </p:xfrm>
        <a:graphic>
          <a:graphicData uri="http://schemas.openxmlformats.org/presentationml/2006/ole">
            <mc:AlternateContent xmlns:mc="http://schemas.openxmlformats.org/markup-compatibility/2006">
              <mc:Choice xmlns:v="urn:schemas-microsoft-com:vml" Requires="v">
                <p:oleObj spid="_x0000_s3355" name="Equation" r:id="rId7" imgW="1269720" imgH="812520" progId="Equation.DSMT4">
                  <p:embed/>
                </p:oleObj>
              </mc:Choice>
              <mc:Fallback>
                <p:oleObj name="Equation" r:id="rId7" imgW="1269720" imgH="812520" progId="Equation.DSMT4">
                  <p:embed/>
                  <p:pic>
                    <p:nvPicPr>
                      <p:cNvPr id="8" name="对象 7"/>
                      <p:cNvPicPr>
                        <a:picLocks noChangeAspect="1" noChangeArrowheads="1"/>
                      </p:cNvPicPr>
                      <p:nvPr/>
                    </p:nvPicPr>
                    <p:blipFill>
                      <a:blip r:embed="rId8"/>
                      <a:srcRect/>
                      <a:stretch>
                        <a:fillRect/>
                      </a:stretch>
                    </p:blipFill>
                    <p:spPr bwMode="auto">
                      <a:xfrm>
                        <a:off x="6934200" y="3498850"/>
                        <a:ext cx="2052638" cy="1360488"/>
                      </a:xfrm>
                      <a:prstGeom prst="rect">
                        <a:avLst/>
                      </a:prstGeom>
                      <a:noFill/>
                    </p:spPr>
                  </p:pic>
                </p:oleObj>
              </mc:Fallback>
            </mc:AlternateContent>
          </a:graphicData>
        </a:graphic>
      </p:graphicFrame>
      <p:pic>
        <p:nvPicPr>
          <p:cNvPr id="17" name="图片 16"/>
          <p:cNvPicPr>
            <a:picLocks noChangeAspect="1"/>
          </p:cNvPicPr>
          <p:nvPr/>
        </p:nvPicPr>
        <p:blipFill>
          <a:blip r:embed="rId9"/>
          <a:stretch>
            <a:fillRect/>
          </a:stretch>
        </p:blipFill>
        <p:spPr>
          <a:xfrm>
            <a:off x="3250641" y="5068551"/>
            <a:ext cx="2555909" cy="1413667"/>
          </a:xfrm>
          <a:prstGeom prst="rect">
            <a:avLst/>
          </a:prstGeom>
        </p:spPr>
      </p:pic>
      <p:pic>
        <p:nvPicPr>
          <p:cNvPr id="18" name="图片 17"/>
          <p:cNvPicPr>
            <a:picLocks noChangeAspect="1"/>
          </p:cNvPicPr>
          <p:nvPr/>
        </p:nvPicPr>
        <p:blipFill>
          <a:blip r:embed="rId10"/>
          <a:stretch>
            <a:fillRect/>
          </a:stretch>
        </p:blipFill>
        <p:spPr>
          <a:xfrm>
            <a:off x="6604959" y="4901746"/>
            <a:ext cx="2484107" cy="1600123"/>
          </a:xfrm>
          <a:prstGeom prst="rect">
            <a:avLst/>
          </a:prstGeom>
        </p:spPr>
      </p:pic>
    </p:spTree>
    <p:extLst>
      <p:ext uri="{BB962C8B-B14F-4D97-AF65-F5344CB8AC3E}">
        <p14:creationId xmlns:p14="http://schemas.microsoft.com/office/powerpoint/2010/main" val="770260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a:t>
            </a:fld>
            <a:endParaRPr lang="en-US" altLang="zh-CN">
              <a:solidFill>
                <a:srgbClr val="FFFFFF"/>
              </a:solidFill>
            </a:endParaRPr>
          </a:p>
        </p:txBody>
      </p:sp>
      <p:sp>
        <p:nvSpPr>
          <p:cNvPr id="5" name="文本框 4"/>
          <p:cNvSpPr txBox="1"/>
          <p:nvPr/>
        </p:nvSpPr>
        <p:spPr>
          <a:xfrm>
            <a:off x="420914" y="355234"/>
            <a:ext cx="9773440" cy="55399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dirty="0"/>
              <a:t>三阶锁相环中的环路滤波器</a:t>
            </a:r>
          </a:p>
        </p:txBody>
      </p:sp>
      <p:sp>
        <p:nvSpPr>
          <p:cNvPr id="8" name="矩形 7"/>
          <p:cNvSpPr/>
          <p:nvPr/>
        </p:nvSpPr>
        <p:spPr>
          <a:xfrm>
            <a:off x="420914" y="921253"/>
            <a:ext cx="9978617" cy="457754"/>
          </a:xfrm>
          <a:prstGeom prst="rect">
            <a:avLst/>
          </a:prstGeom>
        </p:spPr>
        <p:txBody>
          <a:bodyPr wrap="square">
            <a:spAutoFit/>
          </a:bodyPr>
          <a:lstStyle/>
          <a:p>
            <a:pPr>
              <a:lnSpc>
                <a:spcPct val="150000"/>
              </a:lnSpc>
            </a:pPr>
            <a:r>
              <a:rPr lang="zh-CN" altLang="zh-CN" sz="1800" dirty="0">
                <a:latin typeface="Times New Roman" panose="02020603050405020304" pitchFamily="18" charset="0"/>
                <a:cs typeface="Times New Roman" panose="02020603050405020304" pitchFamily="18" charset="0"/>
              </a:rPr>
              <a:t>滤波器存在两个极点和一个零点。</a:t>
            </a:r>
            <a:r>
              <a:rPr lang="en-US" altLang="zh-CN" sz="1800" i="1" dirty="0">
                <a:latin typeface="Times New Roman" panose="02020603050405020304" pitchFamily="18" charset="0"/>
              </a:rPr>
              <a:t>ω</a:t>
            </a:r>
            <a:r>
              <a:rPr lang="en-US" altLang="zh-CN" sz="1800" baseline="-25000" dirty="0">
                <a:latin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与</a:t>
            </a:r>
            <a:r>
              <a:rPr lang="en-US" altLang="zh-CN" sz="1800" i="1" dirty="0">
                <a:latin typeface="Times New Roman" panose="02020603050405020304" pitchFamily="18" charset="0"/>
              </a:rPr>
              <a:t>ω</a:t>
            </a:r>
            <a:r>
              <a:rPr lang="en-US" altLang="zh-CN" sz="1800" baseline="-25000" dirty="0">
                <a:latin typeface="Times New Roman" panose="02020603050405020304" pitchFamily="18" charset="0"/>
              </a:rPr>
              <a:t>3</a:t>
            </a:r>
            <a:r>
              <a:rPr lang="zh-CN" altLang="zh-CN" sz="1800" dirty="0">
                <a:latin typeface="Times New Roman" panose="02020603050405020304" pitchFamily="18" charset="0"/>
                <a:cs typeface="Times New Roman" panose="02020603050405020304" pitchFamily="18" charset="0"/>
              </a:rPr>
              <a:t>为极点，</a:t>
            </a:r>
            <a:r>
              <a:rPr lang="en-US" altLang="zh-CN" sz="1800" i="1" dirty="0">
                <a:latin typeface="Times New Roman" panose="02020603050405020304" pitchFamily="18" charset="0"/>
              </a:rPr>
              <a:t>ω</a:t>
            </a:r>
            <a:r>
              <a:rPr lang="en-US" altLang="zh-CN" sz="1800" baseline="-25000" dirty="0">
                <a:latin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为零点，</a:t>
            </a:r>
            <a:r>
              <a:rPr lang="en-US" altLang="zh-CN" sz="1800" i="1" dirty="0">
                <a:latin typeface="Times New Roman" panose="02020603050405020304" pitchFamily="18" charset="0"/>
              </a:rPr>
              <a:t>ω</a:t>
            </a:r>
            <a:r>
              <a:rPr lang="en-US" altLang="zh-CN" sz="1800" baseline="-25000" dirty="0">
                <a:latin typeface="Times New Roman" panose="02020603050405020304" pitchFamily="18" charset="0"/>
              </a:rPr>
              <a:t>1</a:t>
            </a:r>
            <a:r>
              <a:rPr lang="en-US" altLang="zh-CN" sz="1800" dirty="0">
                <a:latin typeface="Times New Roman" panose="02020603050405020304" pitchFamily="18" charset="0"/>
              </a:rPr>
              <a:t>&lt;</a:t>
            </a:r>
            <a:r>
              <a:rPr lang="en-US" altLang="zh-CN" sz="1800" i="1" dirty="0">
                <a:latin typeface="Times New Roman" panose="02020603050405020304" pitchFamily="18" charset="0"/>
              </a:rPr>
              <a:t>ω</a:t>
            </a:r>
            <a:r>
              <a:rPr lang="en-US" altLang="zh-CN" sz="1800" baseline="-25000" dirty="0">
                <a:latin typeface="Times New Roman" panose="02020603050405020304" pitchFamily="18" charset="0"/>
              </a:rPr>
              <a:t>2</a:t>
            </a:r>
            <a:r>
              <a:rPr lang="en-US" altLang="zh-CN" sz="1800" dirty="0">
                <a:latin typeface="Times New Roman" panose="02020603050405020304" pitchFamily="18" charset="0"/>
              </a:rPr>
              <a:t>&lt;</a:t>
            </a:r>
            <a:r>
              <a:rPr lang="en-US" altLang="zh-CN" sz="1800" i="1" dirty="0">
                <a:latin typeface="Times New Roman" panose="02020603050405020304" pitchFamily="18" charset="0"/>
              </a:rPr>
              <a:t>ω</a:t>
            </a:r>
            <a:r>
              <a:rPr lang="en-US" altLang="zh-CN" sz="1800" baseline="-25000" dirty="0">
                <a:latin typeface="Times New Roman" panose="02020603050405020304" pitchFamily="18" charset="0"/>
              </a:rPr>
              <a:t>3</a:t>
            </a:r>
            <a:endParaRPr lang="zh-CN" altLang="en-US" sz="1800" dirty="0"/>
          </a:p>
        </p:txBody>
      </p:sp>
      <p:graphicFrame>
        <p:nvGraphicFramePr>
          <p:cNvPr id="10" name="对象 9"/>
          <p:cNvGraphicFramePr>
            <a:graphicFrameLocks noChangeAspect="1"/>
          </p:cNvGraphicFramePr>
          <p:nvPr>
            <p:extLst>
              <p:ext uri="{D42A27DB-BD31-4B8C-83A1-F6EECF244321}">
                <p14:modId xmlns:p14="http://schemas.microsoft.com/office/powerpoint/2010/main" val="2967477455"/>
              </p:ext>
            </p:extLst>
          </p:nvPr>
        </p:nvGraphicFramePr>
        <p:xfrm>
          <a:off x="3075308" y="1539596"/>
          <a:ext cx="5876925" cy="1974850"/>
        </p:xfrm>
        <a:graphic>
          <a:graphicData uri="http://schemas.openxmlformats.org/presentationml/2006/ole">
            <mc:AlternateContent xmlns:mc="http://schemas.openxmlformats.org/markup-compatibility/2006">
              <mc:Choice xmlns:v="urn:schemas-microsoft-com:vml" Requires="v">
                <p:oleObj spid="_x0000_s4382" name="Visio" r:id="rId3" imgW="3752901" imgH="1263450" progId="Visio.Drawing.11">
                  <p:embed/>
                </p:oleObj>
              </mc:Choice>
              <mc:Fallback>
                <p:oleObj name="Visio" r:id="rId3" imgW="3752901" imgH="1263450" progId="Visio.Drawing.11">
                  <p:embed/>
                  <p:pic>
                    <p:nvPicPr>
                      <p:cNvPr id="0" name="Object 4"/>
                      <p:cNvPicPr>
                        <a:picLocks noChangeAspect="1" noChangeArrowheads="1"/>
                      </p:cNvPicPr>
                      <p:nvPr/>
                    </p:nvPicPr>
                    <p:blipFill>
                      <a:blip r:embed="rId4"/>
                      <a:srcRect/>
                      <a:stretch>
                        <a:fillRect/>
                      </a:stretch>
                    </p:blipFill>
                    <p:spPr bwMode="auto">
                      <a:xfrm>
                        <a:off x="3075308" y="1539596"/>
                        <a:ext cx="5876925" cy="1974850"/>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803488116"/>
              </p:ext>
            </p:extLst>
          </p:nvPr>
        </p:nvGraphicFramePr>
        <p:xfrm>
          <a:off x="2870880" y="3605577"/>
          <a:ext cx="2761343" cy="1979499"/>
        </p:xfrm>
        <a:graphic>
          <a:graphicData uri="http://schemas.openxmlformats.org/presentationml/2006/ole">
            <mc:AlternateContent xmlns:mc="http://schemas.openxmlformats.org/markup-compatibility/2006">
              <mc:Choice xmlns:v="urn:schemas-microsoft-com:vml" Requires="v">
                <p:oleObj spid="_x0000_s4383" name="Equation" r:id="rId5" imgW="1663560" imgH="1168200" progId="Equation.DSMT4">
                  <p:embed/>
                </p:oleObj>
              </mc:Choice>
              <mc:Fallback>
                <p:oleObj name="Equation" r:id="rId5" imgW="1663560" imgH="1168200" progId="Equation.DSMT4">
                  <p:embed/>
                  <p:pic>
                    <p:nvPicPr>
                      <p:cNvPr id="0" name="Object 6"/>
                      <p:cNvPicPr>
                        <a:picLocks noChangeAspect="1" noChangeArrowheads="1"/>
                      </p:cNvPicPr>
                      <p:nvPr/>
                    </p:nvPicPr>
                    <p:blipFill>
                      <a:blip r:embed="rId6"/>
                      <a:srcRect/>
                      <a:stretch>
                        <a:fillRect/>
                      </a:stretch>
                    </p:blipFill>
                    <p:spPr bwMode="auto">
                      <a:xfrm>
                        <a:off x="2870880" y="3605577"/>
                        <a:ext cx="2761343" cy="1979499"/>
                      </a:xfrm>
                      <a:prstGeom prst="rect">
                        <a:avLst/>
                      </a:prstGeom>
                      <a:noFill/>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2193548659"/>
              </p:ext>
            </p:extLst>
          </p:nvPr>
        </p:nvGraphicFramePr>
        <p:xfrm>
          <a:off x="7201858" y="3669978"/>
          <a:ext cx="1632968" cy="2011665"/>
        </p:xfrm>
        <a:graphic>
          <a:graphicData uri="http://schemas.openxmlformats.org/presentationml/2006/ole">
            <mc:AlternateContent xmlns:mc="http://schemas.openxmlformats.org/markup-compatibility/2006">
              <mc:Choice xmlns:v="urn:schemas-microsoft-com:vml" Requires="v">
                <p:oleObj spid="_x0000_s4384" name="Equation" r:id="rId7" imgW="965160" imgH="1168200" progId="Equation.DSMT4">
                  <p:embed/>
                </p:oleObj>
              </mc:Choice>
              <mc:Fallback>
                <p:oleObj name="Equation" r:id="rId7" imgW="965160" imgH="1168200" progId="Equation.DSMT4">
                  <p:embed/>
                  <p:pic>
                    <p:nvPicPr>
                      <p:cNvPr id="0" name="Object 8"/>
                      <p:cNvPicPr>
                        <a:picLocks noChangeAspect="1" noChangeArrowheads="1"/>
                      </p:cNvPicPr>
                      <p:nvPr/>
                    </p:nvPicPr>
                    <p:blipFill>
                      <a:blip r:embed="rId8"/>
                      <a:srcRect/>
                      <a:stretch>
                        <a:fillRect/>
                      </a:stretch>
                    </p:blipFill>
                    <p:spPr bwMode="auto">
                      <a:xfrm>
                        <a:off x="7201858" y="3669978"/>
                        <a:ext cx="1632968" cy="2011665"/>
                      </a:xfrm>
                      <a:prstGeom prst="rect">
                        <a:avLst/>
                      </a:prstGeom>
                      <a:noFill/>
                    </p:spPr>
                  </p:pic>
                </p:oleObj>
              </mc:Fallback>
            </mc:AlternateContent>
          </a:graphicData>
        </a:graphic>
      </p:graphicFrame>
    </p:spTree>
    <p:extLst>
      <p:ext uri="{BB962C8B-B14F-4D97-AF65-F5344CB8AC3E}">
        <p14:creationId xmlns:p14="http://schemas.microsoft.com/office/powerpoint/2010/main" val="2434553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7</a:t>
            </a:fld>
            <a:endParaRPr lang="en-US" altLang="zh-CN">
              <a:solidFill>
                <a:srgbClr val="FFFFFF"/>
              </a:solidFill>
            </a:endParaRPr>
          </a:p>
        </p:txBody>
      </p:sp>
      <p:sp>
        <p:nvSpPr>
          <p:cNvPr id="5" name="矩形 4"/>
          <p:cNvSpPr/>
          <p:nvPr/>
        </p:nvSpPr>
        <p:spPr>
          <a:xfrm>
            <a:off x="457201" y="511547"/>
            <a:ext cx="11364384" cy="5032147"/>
          </a:xfrm>
          <a:prstGeom prst="rect">
            <a:avLst/>
          </a:prstGeom>
        </p:spPr>
        <p:txBody>
          <a:bodyPr wrap="square">
            <a:spAutoFit/>
          </a:bodyPr>
          <a:lstStyle/>
          <a:p>
            <a:pPr marL="342900" lvl="2" indent="-342900">
              <a:lnSpc>
                <a:spcPct val="150000"/>
              </a:lnSpc>
              <a:buFont typeface="Wingdings" panose="05000000000000000000" pitchFamily="2" charset="2"/>
              <a:buChar char="Ø"/>
            </a:pPr>
            <a:r>
              <a:rPr lang="zh-CN" altLang="en-US" dirty="0"/>
              <a:t>常用的</a:t>
            </a:r>
            <a:r>
              <a:rPr lang="zh-CN" altLang="zh-CN" dirty="0"/>
              <a:t>压控振荡器</a:t>
            </a:r>
          </a:p>
          <a:p>
            <a:pPr marL="342900" indent="-342900">
              <a:lnSpc>
                <a:spcPct val="150000"/>
              </a:lnSpc>
              <a:buFont typeface="Arial" panose="020B0604020202020204" pitchFamily="34" charset="0"/>
              <a:buChar char="•"/>
            </a:pPr>
            <a:r>
              <a:rPr lang="zh-CN" altLang="en-US" sz="1800" dirty="0">
                <a:latin typeface="+mn-lt"/>
              </a:rPr>
              <a:t>压控振荡器的主要参数是可控频率范围与压控增益 </a:t>
            </a:r>
            <a:r>
              <a:rPr lang="en-US" altLang="zh-CN" sz="1800" i="1" dirty="0" err="1">
                <a:latin typeface="+mn-lt"/>
              </a:rPr>
              <a:t>K</a:t>
            </a:r>
            <a:r>
              <a:rPr lang="en-US" altLang="zh-CN" sz="1800" i="1" baseline="-25000" dirty="0" err="1">
                <a:latin typeface="+mn-lt"/>
              </a:rPr>
              <a:t>o</a:t>
            </a:r>
            <a:r>
              <a:rPr lang="en-US" altLang="zh-CN" sz="1800" dirty="0">
                <a:latin typeface="+mn-lt"/>
              </a:rPr>
              <a:t> = </a:t>
            </a:r>
            <a:r>
              <a:rPr lang="en-US" altLang="zh-CN" sz="1800" i="1" dirty="0">
                <a:latin typeface="+mn-lt"/>
              </a:rPr>
              <a:t>d</a:t>
            </a:r>
            <a:r>
              <a:rPr lang="el-GR" altLang="zh-CN" sz="1800" i="1" dirty="0">
                <a:latin typeface="+mn-lt"/>
              </a:rPr>
              <a:t>ω</a:t>
            </a:r>
            <a:r>
              <a:rPr lang="en-US" altLang="zh-CN" sz="1800" i="1" baseline="-25000" dirty="0">
                <a:latin typeface="+mn-lt"/>
              </a:rPr>
              <a:t>o </a:t>
            </a:r>
            <a:r>
              <a:rPr lang="en-US" altLang="zh-CN" sz="1800" dirty="0">
                <a:latin typeface="+mn-lt"/>
              </a:rPr>
              <a:t>/</a:t>
            </a:r>
            <a:r>
              <a:rPr lang="en-US" altLang="zh-CN" sz="1800" i="1" dirty="0" err="1">
                <a:latin typeface="+mn-lt"/>
              </a:rPr>
              <a:t>dV</a:t>
            </a:r>
            <a:endParaRPr lang="en-US" altLang="zh-CN" sz="1800" i="1" dirty="0">
              <a:latin typeface="+mn-lt"/>
            </a:endParaRPr>
          </a:p>
          <a:p>
            <a:pPr marL="342900" indent="-342900">
              <a:lnSpc>
                <a:spcPct val="150000"/>
              </a:lnSpc>
              <a:buFont typeface="Arial" panose="020B0604020202020204" pitchFamily="34" charset="0"/>
              <a:buChar char="•"/>
            </a:pPr>
            <a:r>
              <a:rPr lang="en-US" altLang="zh-CN" sz="1800" dirty="0">
                <a:latin typeface="+mn-lt"/>
              </a:rPr>
              <a:t>RC</a:t>
            </a:r>
            <a:r>
              <a:rPr lang="zh-CN" altLang="zh-CN" sz="1800" dirty="0"/>
              <a:t>张弛振荡器</a:t>
            </a:r>
            <a:endParaRPr lang="en-US" altLang="zh-CN" sz="1800" dirty="0"/>
          </a:p>
          <a:p>
            <a:pPr lvl="1">
              <a:lnSpc>
                <a:spcPct val="150000"/>
              </a:lnSpc>
            </a:pPr>
            <a:r>
              <a:rPr lang="zh-CN" altLang="en-US" sz="1800" dirty="0"/>
              <a:t>电压或者电流控制，线性较好，频率上限一般不会很高（几十</a:t>
            </a:r>
            <a:r>
              <a:rPr lang="en-US" altLang="zh-CN" sz="1800" dirty="0"/>
              <a:t>MHz</a:t>
            </a:r>
            <a:r>
              <a:rPr lang="zh-CN" altLang="en-US" sz="1800" dirty="0"/>
              <a:t>），通常以方波形式输出。大部分集成</a:t>
            </a:r>
            <a:r>
              <a:rPr lang="en-US" altLang="zh-CN" sz="1800" dirty="0"/>
              <a:t>PLL</a:t>
            </a:r>
            <a:r>
              <a:rPr lang="zh-CN" altLang="en-US" sz="1800" dirty="0"/>
              <a:t>芯片采用这种</a:t>
            </a:r>
            <a:r>
              <a:rPr lang="en-US" altLang="zh-CN" sz="1800" dirty="0"/>
              <a:t>VCO</a:t>
            </a:r>
          </a:p>
          <a:p>
            <a:pPr marL="342900" indent="-342900">
              <a:lnSpc>
                <a:spcPct val="150000"/>
              </a:lnSpc>
              <a:buFont typeface="Arial" panose="020B0604020202020204" pitchFamily="34" charset="0"/>
              <a:buChar char="•"/>
            </a:pPr>
            <a:r>
              <a:rPr lang="en-US" altLang="zh-CN" sz="1800" dirty="0">
                <a:latin typeface="+mn-lt"/>
              </a:rPr>
              <a:t>LC</a:t>
            </a:r>
            <a:r>
              <a:rPr lang="zh-CN" altLang="zh-CN" sz="1800" dirty="0"/>
              <a:t>振荡器</a:t>
            </a:r>
            <a:endParaRPr lang="en-US" altLang="zh-CN" sz="1800" dirty="0"/>
          </a:p>
          <a:p>
            <a:pPr lvl="1">
              <a:lnSpc>
                <a:spcPct val="150000"/>
              </a:lnSpc>
            </a:pPr>
            <a:r>
              <a:rPr lang="zh-CN" altLang="en-US" sz="1800" dirty="0"/>
              <a:t>以变容二极管作为调谐器件，线性一般，可以有很高的频率上限，通常以简谐波输出</a:t>
            </a:r>
            <a:endParaRPr lang="en-US" altLang="zh-CN" sz="1800" dirty="0"/>
          </a:p>
          <a:p>
            <a:pPr lvl="1">
              <a:lnSpc>
                <a:spcPct val="150000"/>
              </a:lnSpc>
            </a:pPr>
            <a:r>
              <a:rPr lang="zh-CN" altLang="en-US" sz="1600" dirty="0"/>
              <a:t>实例：</a:t>
            </a:r>
            <a:r>
              <a:rPr lang="en-US" altLang="zh-CN" sz="1600" dirty="0"/>
              <a:t>MC1648</a:t>
            </a:r>
            <a:r>
              <a:rPr lang="zh-CN" altLang="en-US" sz="1600" dirty="0"/>
              <a:t>（最高振荡频率</a:t>
            </a:r>
            <a:r>
              <a:rPr lang="en-US" altLang="zh-CN" sz="1600" dirty="0"/>
              <a:t>200MHz</a:t>
            </a:r>
            <a:r>
              <a:rPr lang="zh-CN" altLang="en-US" sz="1600" dirty="0"/>
              <a:t>）</a:t>
            </a:r>
            <a:endParaRPr lang="en-US" altLang="zh-CN" sz="1600" dirty="0"/>
          </a:p>
          <a:p>
            <a:pPr lvl="1">
              <a:lnSpc>
                <a:spcPct val="150000"/>
              </a:lnSpc>
            </a:pPr>
            <a:r>
              <a:rPr lang="en-US" altLang="zh-CN" sz="1600" dirty="0"/>
              <a:t>           MC12148</a:t>
            </a:r>
            <a:r>
              <a:rPr lang="zh-CN" altLang="en-US" sz="1600" dirty="0"/>
              <a:t>（最高振荡频率</a:t>
            </a:r>
            <a:r>
              <a:rPr lang="en-US" altLang="zh-CN" sz="1600" dirty="0"/>
              <a:t>1100MHz</a:t>
            </a:r>
            <a:r>
              <a:rPr lang="zh-CN" altLang="en-US" sz="1600" dirty="0"/>
              <a:t>）</a:t>
            </a:r>
            <a:endParaRPr lang="en-US" altLang="zh-CN" sz="1600" dirty="0"/>
          </a:p>
          <a:p>
            <a:pPr marL="342900" indent="-342900">
              <a:lnSpc>
                <a:spcPct val="150000"/>
              </a:lnSpc>
              <a:buFont typeface="Arial" panose="020B0604020202020204" pitchFamily="34" charset="0"/>
              <a:buChar char="•"/>
            </a:pPr>
            <a:r>
              <a:rPr lang="zh-CN" altLang="zh-CN" sz="1800" dirty="0"/>
              <a:t>石英晶体振荡器</a:t>
            </a:r>
            <a:endParaRPr lang="en-US" altLang="zh-CN" sz="1800" dirty="0"/>
          </a:p>
          <a:p>
            <a:pPr lvl="1">
              <a:lnSpc>
                <a:spcPct val="150000"/>
              </a:lnSpc>
            </a:pPr>
            <a:r>
              <a:rPr lang="zh-CN" altLang="en-US" sz="1800" dirty="0"/>
              <a:t>以变容二极管作为频率微调器件，线性一般，极高的频率稳定性，但是频率可调范围很小。除了需要极高稳定性的特殊场合外很少使用</a:t>
            </a:r>
            <a:endParaRPr lang="zh-CN" altLang="zh-CN" sz="1800" dirty="0"/>
          </a:p>
        </p:txBody>
      </p:sp>
    </p:spTree>
    <p:extLst>
      <p:ext uri="{BB962C8B-B14F-4D97-AF65-F5344CB8AC3E}">
        <p14:creationId xmlns:p14="http://schemas.microsoft.com/office/powerpoint/2010/main" val="18939740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2023/4/12</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8</a:t>
            </a:fld>
            <a:endParaRPr lang="en-US" altLang="zh-CN"/>
          </a:p>
        </p:txBody>
      </p:sp>
      <p:sp>
        <p:nvSpPr>
          <p:cNvPr id="6" name="文本框 5"/>
          <p:cNvSpPr txBox="1"/>
          <p:nvPr/>
        </p:nvSpPr>
        <p:spPr>
          <a:xfrm>
            <a:off x="500743" y="365774"/>
            <a:ext cx="5628149" cy="5720925"/>
          </a:xfrm>
          <a:prstGeom prst="rect">
            <a:avLst/>
          </a:prstGeom>
          <a:noFill/>
        </p:spPr>
        <p:txBody>
          <a:bodyPr wrap="square" rtlCol="0">
            <a:spAutoFit/>
          </a:bodyPr>
          <a:lstStyle/>
          <a:p>
            <a:pPr>
              <a:lnSpc>
                <a:spcPct val="150000"/>
              </a:lnSpc>
            </a:pPr>
            <a:r>
              <a:rPr lang="zh-CN" altLang="en-US" sz="2800" dirty="0">
                <a:solidFill>
                  <a:srgbClr val="FF0000"/>
                </a:solidFill>
                <a:latin typeface="隶书" panose="02010509060101010101" pitchFamily="49" charset="-122"/>
                <a:ea typeface="隶书" panose="02010509060101010101" pitchFamily="49" charset="-122"/>
              </a:rPr>
              <a:t>常用的锁相环电路</a:t>
            </a:r>
            <a:endParaRPr lang="en-US" altLang="zh-CN" sz="2800" dirty="0">
              <a:solidFill>
                <a:srgbClr val="FF0000"/>
              </a:solidFill>
              <a:latin typeface="隶书" panose="02010509060101010101" pitchFamily="49" charset="-122"/>
              <a:ea typeface="隶书" panose="02010509060101010101" pitchFamily="49" charset="-122"/>
            </a:endParaRPr>
          </a:p>
          <a:p>
            <a:pPr marL="342900" indent="-342900">
              <a:lnSpc>
                <a:spcPct val="150000"/>
              </a:lnSpc>
              <a:buFont typeface="Wingdings" panose="05000000000000000000" pitchFamily="2" charset="2"/>
              <a:buChar char="Ø"/>
            </a:pPr>
            <a:r>
              <a:rPr lang="en-US" altLang="zh-CN" dirty="0"/>
              <a:t>74HC4046</a:t>
            </a:r>
            <a:endParaRPr lang="zh-CN" altLang="en-US" sz="2200" dirty="0"/>
          </a:p>
          <a:p>
            <a:pPr marL="800100" lvl="1" indent="-342900">
              <a:lnSpc>
                <a:spcPct val="150000"/>
              </a:lnSpc>
              <a:buFont typeface="Arial" panose="020B0604020202020204" pitchFamily="34" charset="0"/>
              <a:buChar char="•"/>
            </a:pPr>
            <a:r>
              <a:rPr lang="zh-CN" altLang="en-US" sz="1800" dirty="0"/>
              <a:t>鉴相器</a:t>
            </a:r>
            <a:r>
              <a:rPr lang="en-US" altLang="zh-CN" sz="1800" dirty="0"/>
              <a:t>1</a:t>
            </a:r>
            <a:r>
              <a:rPr lang="zh-CN" altLang="en-US" sz="1800" dirty="0"/>
              <a:t>为异或门鉴相器</a:t>
            </a:r>
            <a:endParaRPr lang="en-US" altLang="zh-CN" sz="1800" dirty="0"/>
          </a:p>
          <a:p>
            <a:pPr marL="800100" lvl="1" indent="-342900">
              <a:lnSpc>
                <a:spcPct val="150000"/>
              </a:lnSpc>
              <a:buFont typeface="Arial" panose="020B0604020202020204" pitchFamily="34" charset="0"/>
              <a:buChar char="•"/>
            </a:pPr>
            <a:r>
              <a:rPr lang="zh-CN" altLang="en-US" sz="1800" dirty="0"/>
              <a:t>鉴相器</a:t>
            </a:r>
            <a:r>
              <a:rPr lang="en-US" altLang="zh-CN" sz="1800" dirty="0"/>
              <a:t>2</a:t>
            </a:r>
            <a:r>
              <a:rPr lang="zh-CN" altLang="en-US" sz="1800" dirty="0"/>
              <a:t>为边沿触发的鉴相</a:t>
            </a:r>
            <a:r>
              <a:rPr lang="en-US" altLang="zh-CN" sz="1800" dirty="0"/>
              <a:t>-</a:t>
            </a:r>
            <a:r>
              <a:rPr lang="zh-CN" altLang="en-US" sz="1800" dirty="0"/>
              <a:t>鉴频器（</a:t>
            </a:r>
            <a:r>
              <a:rPr lang="en-US" altLang="zh-CN" sz="1800" dirty="0"/>
              <a:t>PFD</a:t>
            </a:r>
            <a:r>
              <a:rPr lang="zh-CN" altLang="en-US" sz="1800" dirty="0"/>
              <a:t>）</a:t>
            </a:r>
            <a:endParaRPr lang="en-US" altLang="zh-CN" sz="1800" dirty="0"/>
          </a:p>
          <a:p>
            <a:pPr marL="800100" lvl="1" indent="-342900">
              <a:lnSpc>
                <a:spcPct val="150000"/>
              </a:lnSpc>
              <a:buFont typeface="Arial" panose="020B0604020202020204" pitchFamily="34" charset="0"/>
              <a:buChar char="•"/>
            </a:pPr>
            <a:r>
              <a:rPr lang="zh-CN" altLang="en-US" sz="1800" dirty="0"/>
              <a:t>鉴相器</a:t>
            </a:r>
            <a:r>
              <a:rPr lang="en-US" altLang="zh-CN" sz="1800" dirty="0"/>
              <a:t>3</a:t>
            </a:r>
            <a:r>
              <a:rPr lang="zh-CN" altLang="en-US" sz="1800" dirty="0"/>
              <a:t>为</a:t>
            </a:r>
            <a:r>
              <a:rPr lang="en-US" altLang="zh-CN" sz="1800" dirty="0"/>
              <a:t>JK</a:t>
            </a:r>
            <a:r>
              <a:rPr lang="zh-CN" altLang="en-US" sz="1800" dirty="0"/>
              <a:t>触发器形式的鉴相器</a:t>
            </a:r>
            <a:endParaRPr lang="en-US" altLang="zh-CN" sz="1800" dirty="0"/>
          </a:p>
          <a:p>
            <a:pPr marL="800100" lvl="1" indent="-342900">
              <a:lnSpc>
                <a:spcPct val="150000"/>
              </a:lnSpc>
              <a:buFont typeface="Arial" panose="020B0604020202020204" pitchFamily="34" charset="0"/>
              <a:buChar char="•"/>
            </a:pPr>
            <a:r>
              <a:rPr lang="en-US" altLang="zh-CN" sz="1800" dirty="0"/>
              <a:t>VCO</a:t>
            </a:r>
            <a:r>
              <a:rPr lang="zh-CN" altLang="en-US" sz="1800" dirty="0"/>
              <a:t>为</a:t>
            </a:r>
            <a:r>
              <a:rPr lang="zh-CN" altLang="zh-CN" sz="1800" dirty="0"/>
              <a:t>张驰振荡器，</a:t>
            </a:r>
            <a:r>
              <a:rPr lang="en-US" altLang="zh-CN" sz="1800" dirty="0"/>
              <a:t>CAP</a:t>
            </a:r>
            <a:r>
              <a:rPr lang="zh-CN" altLang="en-US" sz="1800" dirty="0"/>
              <a:t>接</a:t>
            </a:r>
            <a:r>
              <a:rPr lang="zh-CN" altLang="zh-CN" sz="1800" dirty="0"/>
              <a:t>定时电容</a:t>
            </a:r>
            <a:r>
              <a:rPr lang="zh-CN" altLang="en-US" sz="1800" dirty="0"/>
              <a:t>，</a:t>
            </a:r>
            <a:r>
              <a:rPr lang="en-US" altLang="zh-CN" sz="1800" dirty="0"/>
              <a:t>R</a:t>
            </a:r>
            <a:r>
              <a:rPr lang="en-US" altLang="zh-CN" sz="1800" baseline="-25000" dirty="0"/>
              <a:t>1</a:t>
            </a:r>
            <a:r>
              <a:rPr lang="zh-CN" altLang="zh-CN" sz="1800" dirty="0"/>
              <a:t>确定压控灵敏度，</a:t>
            </a:r>
            <a:r>
              <a:rPr lang="en-US" altLang="zh-CN" sz="1800" dirty="0"/>
              <a:t>R</a:t>
            </a:r>
            <a:r>
              <a:rPr lang="en-US" altLang="zh-CN" sz="1800" baseline="-25000" dirty="0"/>
              <a:t>2</a:t>
            </a:r>
            <a:r>
              <a:rPr lang="zh-CN" altLang="zh-CN" sz="1800" dirty="0"/>
              <a:t>确定起始</a:t>
            </a:r>
            <a:r>
              <a:rPr lang="zh-CN" altLang="zh-CN" sz="1800" dirty="0" smtClean="0"/>
              <a:t>频率</a:t>
            </a:r>
            <a:endParaRPr lang="en-US" altLang="zh-CN" sz="1800" dirty="0" smtClean="0"/>
          </a:p>
          <a:p>
            <a:pPr marL="800100" lvl="1" indent="-342900">
              <a:lnSpc>
                <a:spcPct val="150000"/>
              </a:lnSpc>
              <a:buFont typeface="Arial" panose="020B0604020202020204" pitchFamily="34" charset="0"/>
              <a:buChar char="•"/>
            </a:pPr>
            <a:r>
              <a:rPr lang="zh-CN" altLang="en-US" sz="1800" dirty="0">
                <a:latin typeface="Arial" panose="020B0604020202020204" pitchFamily="34" charset="0"/>
              </a:rPr>
              <a:t>最高工作频率约十几</a:t>
            </a:r>
            <a:r>
              <a:rPr lang="en-US" altLang="zh-CN" sz="1800" dirty="0">
                <a:latin typeface="Arial" panose="020B0604020202020204" pitchFamily="34" charset="0"/>
              </a:rPr>
              <a:t>MHz</a:t>
            </a:r>
          </a:p>
          <a:p>
            <a:pPr lvl="1">
              <a:lnSpc>
                <a:spcPct val="150000"/>
              </a:lnSpc>
            </a:pPr>
            <a:r>
              <a:rPr lang="en-US" altLang="zh-CN" sz="1800" dirty="0">
                <a:latin typeface="Arial" panose="020B0604020202020204" pitchFamily="34" charset="0"/>
              </a:rPr>
              <a:t>     </a:t>
            </a:r>
            <a:r>
              <a:rPr lang="zh-CN" altLang="en-US" sz="1800" dirty="0">
                <a:latin typeface="Arial" panose="020B0604020202020204" pitchFamily="34" charset="0"/>
              </a:rPr>
              <a:t>（不同的生产商可能有不同的参数）</a:t>
            </a:r>
            <a:endParaRPr lang="en-US" altLang="zh-CN" sz="1800" dirty="0">
              <a:latin typeface="Arial" panose="020B0604020202020204" pitchFamily="34" charset="0"/>
            </a:endParaRPr>
          </a:p>
          <a:p>
            <a:pPr marL="800100" lvl="1" indent="-342900">
              <a:lnSpc>
                <a:spcPct val="150000"/>
              </a:lnSpc>
              <a:buFont typeface="Arial" panose="020B0604020202020204" pitchFamily="34" charset="0"/>
              <a:buChar char="•"/>
            </a:pPr>
            <a:r>
              <a:rPr lang="zh-CN" altLang="en-US" sz="1800" dirty="0">
                <a:latin typeface="Arial" panose="020B0604020202020204" pitchFamily="34" charset="0"/>
              </a:rPr>
              <a:t>输入输出均为数字电平信号，最高工作电压</a:t>
            </a:r>
            <a:r>
              <a:rPr lang="en-US" altLang="zh-CN" sz="1800" dirty="0">
                <a:latin typeface="Arial" panose="020B0604020202020204" pitchFamily="34" charset="0"/>
              </a:rPr>
              <a:t>+6V</a:t>
            </a:r>
          </a:p>
          <a:p>
            <a:pPr marL="800100" lvl="1" indent="-342900">
              <a:lnSpc>
                <a:spcPct val="150000"/>
              </a:lnSpc>
              <a:buFont typeface="Arial" panose="020B0604020202020204" pitchFamily="34" charset="0"/>
              <a:buChar char="•"/>
            </a:pPr>
            <a:r>
              <a:rPr lang="zh-CN" altLang="en-US" sz="1800" dirty="0">
                <a:latin typeface="Arial" panose="020B0604020202020204" pitchFamily="34" charset="0"/>
              </a:rPr>
              <a:t>使用较简单，外接环路滤波器后可以直接构成锁相环</a:t>
            </a:r>
            <a:r>
              <a:rPr lang="zh-CN" altLang="en-US" sz="1800" dirty="0" smtClean="0">
                <a:latin typeface="Arial" panose="020B0604020202020204" pitchFamily="34" charset="0"/>
              </a:rPr>
              <a:t>系统</a:t>
            </a:r>
            <a:endParaRPr lang="en-US" altLang="zh-CN" dirty="0">
              <a:latin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615004157"/>
              </p:ext>
            </p:extLst>
          </p:nvPr>
        </p:nvGraphicFramePr>
        <p:xfrm>
          <a:off x="6751232" y="1844392"/>
          <a:ext cx="3749699" cy="3615093"/>
        </p:xfrm>
        <a:graphic>
          <a:graphicData uri="http://schemas.openxmlformats.org/presentationml/2006/ole">
            <mc:AlternateContent xmlns:mc="http://schemas.openxmlformats.org/markup-compatibility/2006">
              <mc:Choice xmlns:v="urn:schemas-microsoft-com:vml" Requires="v">
                <p:oleObj spid="_x0000_s5212" name="Visio" r:id="rId3" imgW="2476294" imgH="2381153" progId="Visio.Drawing.11">
                  <p:embed/>
                </p:oleObj>
              </mc:Choice>
              <mc:Fallback>
                <p:oleObj name="Visio" r:id="rId3" imgW="2476294" imgH="2381153" progId="Visio.Drawing.11">
                  <p:embed/>
                  <p:pic>
                    <p:nvPicPr>
                      <p:cNvPr id="0" name="Object 1"/>
                      <p:cNvPicPr>
                        <a:picLocks noChangeAspect="1" noChangeArrowheads="1"/>
                      </p:cNvPicPr>
                      <p:nvPr/>
                    </p:nvPicPr>
                    <p:blipFill>
                      <a:blip r:embed="rId4"/>
                      <a:srcRect/>
                      <a:stretch>
                        <a:fillRect/>
                      </a:stretch>
                    </p:blipFill>
                    <p:spPr bwMode="auto">
                      <a:xfrm>
                        <a:off x="6751232" y="1844392"/>
                        <a:ext cx="3749699" cy="3615093"/>
                      </a:xfrm>
                      <a:prstGeom prst="rect">
                        <a:avLst/>
                      </a:prstGeom>
                      <a:noFill/>
                    </p:spPr>
                  </p:pic>
                </p:oleObj>
              </mc:Fallback>
            </mc:AlternateContent>
          </a:graphicData>
        </a:graphic>
      </p:graphicFrame>
    </p:spTree>
    <p:extLst>
      <p:ext uri="{BB962C8B-B14F-4D97-AF65-F5344CB8AC3E}">
        <p14:creationId xmlns:p14="http://schemas.microsoft.com/office/powerpoint/2010/main" val="33862117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9</a:t>
            </a:fld>
            <a:endParaRPr lang="en-US" altLang="zh-CN">
              <a:solidFill>
                <a:srgbClr val="FFFFFF"/>
              </a:solidFill>
            </a:endParaRPr>
          </a:p>
        </p:txBody>
      </p:sp>
      <p:sp>
        <p:nvSpPr>
          <p:cNvPr id="5" name="矩形 4"/>
          <p:cNvSpPr/>
          <p:nvPr/>
        </p:nvSpPr>
        <p:spPr>
          <a:xfrm>
            <a:off x="508001" y="383950"/>
            <a:ext cx="9882188" cy="2215991"/>
          </a:xfrm>
          <a:prstGeom prst="rect">
            <a:avLst/>
          </a:prstGeom>
        </p:spPr>
        <p:txBody>
          <a:bodyPr wrap="square">
            <a:spAutoFit/>
          </a:bodyPr>
          <a:lstStyle/>
          <a:p>
            <a:pPr marL="342900" indent="-342900">
              <a:lnSpc>
                <a:spcPct val="150000"/>
              </a:lnSpc>
              <a:buFont typeface="Wingdings" panose="05000000000000000000" pitchFamily="2" charset="2"/>
              <a:buChar char="Ø"/>
            </a:pPr>
            <a:r>
              <a:rPr lang="en-US" altLang="zh-CN" dirty="0"/>
              <a:t>NE564</a:t>
            </a:r>
          </a:p>
          <a:p>
            <a:pPr marL="342900" indent="-342900">
              <a:lnSpc>
                <a:spcPct val="150000"/>
              </a:lnSpc>
              <a:buFont typeface="Arial" panose="020B0604020202020204" pitchFamily="34" charset="0"/>
              <a:buChar char="•"/>
            </a:pPr>
            <a:r>
              <a:rPr lang="zh-CN" altLang="zh-CN" sz="1800" dirty="0"/>
              <a:t>乘法器鉴相</a:t>
            </a:r>
            <a:r>
              <a:rPr lang="zh-CN" altLang="en-US" sz="1800" dirty="0"/>
              <a:t>，带有</a:t>
            </a:r>
            <a:r>
              <a:rPr lang="zh-CN" altLang="zh-CN" sz="1800" dirty="0"/>
              <a:t>输入信号限幅放大电路</a:t>
            </a:r>
            <a:r>
              <a:rPr lang="zh-CN" altLang="en-US" sz="1800" dirty="0"/>
              <a:t>，最小输入幅度</a:t>
            </a:r>
            <a:r>
              <a:rPr lang="en-US" altLang="zh-CN" sz="1800" dirty="0"/>
              <a:t>10mV</a:t>
            </a:r>
          </a:p>
          <a:p>
            <a:pPr marL="342900" indent="-342900">
              <a:lnSpc>
                <a:spcPct val="150000"/>
              </a:lnSpc>
              <a:buFont typeface="Arial" panose="020B0604020202020204" pitchFamily="34" charset="0"/>
              <a:buChar char="•"/>
            </a:pPr>
            <a:r>
              <a:rPr lang="zh-CN" altLang="zh-CN" sz="1800" dirty="0"/>
              <a:t>射耦多谐振荡器结构的压控振荡器</a:t>
            </a:r>
            <a:r>
              <a:rPr lang="zh-CN" altLang="en-US" sz="1800" dirty="0"/>
              <a:t>，外接电容</a:t>
            </a:r>
            <a:r>
              <a:rPr lang="en-US" altLang="zh-CN" sz="1800" dirty="0"/>
              <a:t>CAP</a:t>
            </a:r>
            <a:r>
              <a:rPr lang="zh-CN" altLang="en-US" sz="1800" dirty="0"/>
              <a:t>与内部电阻确定振荡频率</a:t>
            </a:r>
            <a:endParaRPr lang="en-US" altLang="zh-CN" sz="1800" dirty="0"/>
          </a:p>
          <a:p>
            <a:pPr marL="342900" indent="-342900">
              <a:lnSpc>
                <a:spcPct val="150000"/>
              </a:lnSpc>
              <a:buFont typeface="Arial" panose="020B0604020202020204" pitchFamily="34" charset="0"/>
              <a:buChar char="•"/>
            </a:pPr>
            <a:r>
              <a:rPr lang="zh-CN" altLang="zh-CN" sz="1800" dirty="0"/>
              <a:t>压控振荡器控制信号通过缓冲放大器输出</a:t>
            </a:r>
            <a:r>
              <a:rPr lang="zh-CN" altLang="en-US" sz="1800" dirty="0"/>
              <a:t>，适用于频率或相位解调</a:t>
            </a:r>
            <a:endParaRPr lang="en-US" altLang="zh-CN" sz="1800" dirty="0"/>
          </a:p>
          <a:p>
            <a:pPr marL="342900" indent="-342900">
              <a:lnSpc>
                <a:spcPct val="150000"/>
              </a:lnSpc>
              <a:buFont typeface="Arial" panose="020B0604020202020204" pitchFamily="34" charset="0"/>
              <a:buChar char="•"/>
            </a:pPr>
            <a:r>
              <a:rPr lang="zh-CN" altLang="en-US" sz="1800" dirty="0"/>
              <a:t>工作电压上限</a:t>
            </a:r>
            <a:r>
              <a:rPr lang="en-US" altLang="zh-CN" sz="1800" dirty="0"/>
              <a:t>12V</a:t>
            </a:r>
            <a:r>
              <a:rPr lang="zh-CN" altLang="en-US" sz="1800" dirty="0"/>
              <a:t>，</a:t>
            </a:r>
            <a:r>
              <a:rPr lang="zh-CN" altLang="zh-CN" sz="1800" dirty="0"/>
              <a:t>使用频率上限</a:t>
            </a:r>
            <a:r>
              <a:rPr lang="zh-CN" altLang="en-US" sz="1800" dirty="0"/>
              <a:t>约</a:t>
            </a:r>
            <a:r>
              <a:rPr lang="en-US" altLang="zh-CN" sz="1800" dirty="0"/>
              <a:t>50MHz</a:t>
            </a:r>
            <a:endParaRPr lang="zh-CN" altLang="en-US" dirty="0"/>
          </a:p>
        </p:txBody>
      </p:sp>
      <p:graphicFrame>
        <p:nvGraphicFramePr>
          <p:cNvPr id="7" name="对象 6"/>
          <p:cNvGraphicFramePr>
            <a:graphicFrameLocks noChangeAspect="1"/>
          </p:cNvGraphicFramePr>
          <p:nvPr>
            <p:extLst>
              <p:ext uri="{D42A27DB-BD31-4B8C-83A1-F6EECF244321}">
                <p14:modId xmlns:p14="http://schemas.microsoft.com/office/powerpoint/2010/main" val="503207573"/>
              </p:ext>
            </p:extLst>
          </p:nvPr>
        </p:nvGraphicFramePr>
        <p:xfrm>
          <a:off x="2230503" y="2844591"/>
          <a:ext cx="7692768" cy="3152109"/>
        </p:xfrm>
        <a:graphic>
          <a:graphicData uri="http://schemas.openxmlformats.org/presentationml/2006/ole">
            <mc:AlternateContent xmlns:mc="http://schemas.openxmlformats.org/markup-compatibility/2006">
              <mc:Choice xmlns:v="urn:schemas-microsoft-com:vml" Requires="v">
                <p:oleObj spid="_x0000_s6237" name="Visio" r:id="rId3" imgW="4813111" imgH="1974547" progId="Visio.Drawing.11">
                  <p:embed/>
                </p:oleObj>
              </mc:Choice>
              <mc:Fallback>
                <p:oleObj name="Visio" r:id="rId3" imgW="4813111" imgH="1974547" progId="Visio.Drawing.11">
                  <p:embed/>
                  <p:pic>
                    <p:nvPicPr>
                      <p:cNvPr id="0" name="Object 1"/>
                      <p:cNvPicPr>
                        <a:picLocks noChangeAspect="1" noChangeArrowheads="1"/>
                      </p:cNvPicPr>
                      <p:nvPr/>
                    </p:nvPicPr>
                    <p:blipFill>
                      <a:blip r:embed="rId4"/>
                      <a:srcRect/>
                      <a:stretch>
                        <a:fillRect/>
                      </a:stretch>
                    </p:blipFill>
                    <p:spPr bwMode="auto">
                      <a:xfrm>
                        <a:off x="2230503" y="2844591"/>
                        <a:ext cx="7692768" cy="3152109"/>
                      </a:xfrm>
                      <a:prstGeom prst="rect">
                        <a:avLst/>
                      </a:prstGeom>
                      <a:noFill/>
                    </p:spPr>
                  </p:pic>
                </p:oleObj>
              </mc:Fallback>
            </mc:AlternateContent>
          </a:graphicData>
        </a:graphic>
      </p:graphicFrame>
    </p:spTree>
    <p:extLst>
      <p:ext uri="{BB962C8B-B14F-4D97-AF65-F5344CB8AC3E}">
        <p14:creationId xmlns:p14="http://schemas.microsoft.com/office/powerpoint/2010/main" val="4233940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10</a:t>
            </a:fld>
            <a:endParaRPr lang="en-US" altLang="zh-CN">
              <a:solidFill>
                <a:srgbClr val="FFFFFF"/>
              </a:solidFill>
            </a:endParaRPr>
          </a:p>
        </p:txBody>
      </p:sp>
      <p:sp>
        <p:nvSpPr>
          <p:cNvPr id="5" name="矩形 4"/>
          <p:cNvSpPr/>
          <p:nvPr/>
        </p:nvSpPr>
        <p:spPr>
          <a:xfrm>
            <a:off x="435429" y="384485"/>
            <a:ext cx="6865257" cy="2723823"/>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zh-CN" dirty="0">
                <a:ea typeface="黑体" panose="02010609060101010101" pitchFamily="49" charset="-122"/>
                <a:cs typeface="Times New Roman" panose="02020603050405020304" pitchFamily="18" charset="0"/>
              </a:rPr>
              <a:t>频率合成器芯片</a:t>
            </a:r>
            <a:r>
              <a:rPr lang="en-US" altLang="zh-CN" dirty="0" smtClean="0">
                <a:latin typeface="Arial" panose="020B0604020202020204" pitchFamily="34" charset="0"/>
                <a:ea typeface="黑体" panose="02010609060101010101" pitchFamily="49" charset="-122"/>
              </a:rPr>
              <a:t>MC145151-2</a:t>
            </a:r>
            <a:endParaRPr lang="en-US" altLang="zh-CN" dirty="0">
              <a:latin typeface="Arial" panose="020B0604020202020204" pitchFamily="34" charset="0"/>
              <a:ea typeface="黑体" panose="02010609060101010101" pitchFamily="49" charset="-122"/>
            </a:endParaRPr>
          </a:p>
          <a:p>
            <a:pPr marL="342900" indent="-342900">
              <a:lnSpc>
                <a:spcPct val="150000"/>
              </a:lnSpc>
              <a:buFont typeface="Arial" panose="020B0604020202020204" pitchFamily="34" charset="0"/>
              <a:buChar char="•"/>
            </a:pPr>
            <a:r>
              <a:rPr lang="zh-CN" altLang="zh-CN" sz="1800" dirty="0"/>
              <a:t>内部集成鉴相</a:t>
            </a:r>
            <a:r>
              <a:rPr lang="en-US" altLang="zh-CN" sz="1800" dirty="0"/>
              <a:t>-</a:t>
            </a:r>
            <a:r>
              <a:rPr lang="zh-CN" altLang="zh-CN" sz="1800" dirty="0"/>
              <a:t>鉴频器</a:t>
            </a:r>
            <a:r>
              <a:rPr lang="zh-CN" altLang="en-US" sz="1800" dirty="0"/>
              <a:t>（</a:t>
            </a:r>
            <a:r>
              <a:rPr lang="en-US" altLang="zh-CN" sz="1800" dirty="0"/>
              <a:t>PFD</a:t>
            </a:r>
            <a:r>
              <a:rPr lang="zh-CN" altLang="en-US" sz="1800" dirty="0"/>
              <a:t>）</a:t>
            </a:r>
            <a:endParaRPr lang="en-US" altLang="zh-CN" sz="1800" dirty="0"/>
          </a:p>
          <a:p>
            <a:pPr marL="342900" indent="-342900">
              <a:lnSpc>
                <a:spcPct val="150000"/>
              </a:lnSpc>
              <a:buFont typeface="Arial" panose="020B0604020202020204" pitchFamily="34" charset="0"/>
              <a:buChar char="•"/>
            </a:pPr>
            <a:r>
              <a:rPr lang="zh-CN" altLang="zh-CN" sz="1800" dirty="0"/>
              <a:t>内部集成参考信号（石英晶体）振荡器的驱动电路</a:t>
            </a:r>
            <a:endParaRPr lang="en-US" altLang="zh-CN" sz="1800" dirty="0"/>
          </a:p>
          <a:p>
            <a:pPr marL="342900" indent="-342900">
              <a:lnSpc>
                <a:spcPct val="150000"/>
              </a:lnSpc>
              <a:buFont typeface="Arial" panose="020B0604020202020204" pitchFamily="34" charset="0"/>
              <a:buChar char="•"/>
            </a:pPr>
            <a:r>
              <a:rPr lang="zh-CN" altLang="zh-CN" sz="1800" dirty="0"/>
              <a:t>两个可控分频器（参考信号预分频</a:t>
            </a:r>
            <a:r>
              <a:rPr lang="zh-CN" altLang="en-US" sz="1800" dirty="0"/>
              <a:t>、</a:t>
            </a:r>
            <a:r>
              <a:rPr lang="zh-CN" altLang="zh-CN" sz="1800" dirty="0"/>
              <a:t>反馈信号分频）</a:t>
            </a:r>
            <a:endParaRPr lang="en-US" altLang="zh-CN" sz="1800" dirty="0"/>
          </a:p>
          <a:p>
            <a:pPr marL="342900" indent="-342900">
              <a:lnSpc>
                <a:spcPct val="150000"/>
              </a:lnSpc>
              <a:buFont typeface="Arial" panose="020B0604020202020204" pitchFamily="34" charset="0"/>
              <a:buChar char="•"/>
            </a:pPr>
            <a:r>
              <a:rPr lang="zh-CN" altLang="en-US" sz="1800" dirty="0"/>
              <a:t>电源</a:t>
            </a:r>
            <a:r>
              <a:rPr lang="en-US" altLang="zh-CN" sz="1800" dirty="0"/>
              <a:t>3~9V</a:t>
            </a:r>
          </a:p>
          <a:p>
            <a:pPr marL="342900" indent="-342900">
              <a:lnSpc>
                <a:spcPct val="150000"/>
              </a:lnSpc>
              <a:buFont typeface="Arial" panose="020B0604020202020204" pitchFamily="34" charset="0"/>
              <a:buChar char="•"/>
            </a:pPr>
            <a:r>
              <a:rPr lang="zh-CN" altLang="en-US" sz="1800" dirty="0"/>
              <a:t>最高工作频率与工作条件有关，最大值为</a:t>
            </a:r>
            <a:r>
              <a:rPr lang="en-US" altLang="zh-CN" sz="1800" dirty="0"/>
              <a:t>22MHz</a:t>
            </a:r>
            <a:endParaRPr lang="zh-CN" altLang="en-US" sz="1800" dirty="0"/>
          </a:p>
        </p:txBody>
      </p:sp>
      <p:pic>
        <p:nvPicPr>
          <p:cNvPr id="8" name="图片 7"/>
          <p:cNvPicPr>
            <a:picLocks noChangeAspect="1"/>
          </p:cNvPicPr>
          <p:nvPr/>
        </p:nvPicPr>
        <p:blipFill>
          <a:blip r:embed="rId2"/>
          <a:stretch>
            <a:fillRect/>
          </a:stretch>
        </p:blipFill>
        <p:spPr>
          <a:xfrm>
            <a:off x="1495264" y="3035737"/>
            <a:ext cx="7309479" cy="3181561"/>
          </a:xfrm>
          <a:prstGeom prst="rect">
            <a:avLst/>
          </a:prstGeom>
        </p:spPr>
      </p:pic>
      <p:sp>
        <p:nvSpPr>
          <p:cNvPr id="6" name="文本框 5"/>
          <p:cNvSpPr txBox="1"/>
          <p:nvPr/>
        </p:nvSpPr>
        <p:spPr>
          <a:xfrm>
            <a:off x="9129486" y="3465095"/>
            <a:ext cx="2351314" cy="2169825"/>
          </a:xfrm>
          <a:prstGeom prst="rect">
            <a:avLst/>
          </a:prstGeom>
          <a:noFill/>
        </p:spPr>
        <p:txBody>
          <a:bodyPr wrap="square" rtlCol="0">
            <a:spAutoFit/>
          </a:bodyPr>
          <a:lstStyle/>
          <a:p>
            <a:pPr>
              <a:lnSpc>
                <a:spcPct val="150000"/>
              </a:lnSpc>
            </a:pPr>
            <a:r>
              <a:rPr lang="zh-CN" altLang="en-US" sz="1800" dirty="0"/>
              <a:t>注：其实</a:t>
            </a:r>
            <a:r>
              <a:rPr lang="en-US" altLang="zh-CN" sz="1800" dirty="0"/>
              <a:t>MC14515x</a:t>
            </a:r>
            <a:r>
              <a:rPr lang="zh-CN" altLang="en-US" sz="1800" dirty="0"/>
              <a:t>是一个频率合成器芯片系列，其中</a:t>
            </a:r>
            <a:r>
              <a:rPr lang="en-US" altLang="zh-CN" sz="1800" dirty="0"/>
              <a:t>145151</a:t>
            </a:r>
            <a:r>
              <a:rPr lang="zh-CN" altLang="en-US" sz="1800" dirty="0"/>
              <a:t>的分频系数为并行输入，最为简单</a:t>
            </a:r>
          </a:p>
        </p:txBody>
      </p:sp>
    </p:spTree>
    <p:extLst>
      <p:ext uri="{BB962C8B-B14F-4D97-AF65-F5344CB8AC3E}">
        <p14:creationId xmlns:p14="http://schemas.microsoft.com/office/powerpoint/2010/main" val="3237656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11</a:t>
            </a:fld>
            <a:endParaRPr lang="en-US" altLang="zh-CN">
              <a:solidFill>
                <a:srgbClr val="FFFFFF"/>
              </a:solidFill>
            </a:endParaRPr>
          </a:p>
        </p:txBody>
      </p:sp>
      <p:sp>
        <p:nvSpPr>
          <p:cNvPr id="7" name="矩形 6"/>
          <p:cNvSpPr/>
          <p:nvPr/>
        </p:nvSpPr>
        <p:spPr>
          <a:xfrm>
            <a:off x="493486" y="384485"/>
            <a:ext cx="11212285" cy="1384995"/>
          </a:xfrm>
          <a:prstGeom prst="rect">
            <a:avLst/>
          </a:prstGeom>
        </p:spPr>
        <p:txBody>
          <a:bodyPr wrap="square">
            <a:spAutoFit/>
          </a:bodyPr>
          <a:lstStyle/>
          <a:p>
            <a:pPr marL="342900" indent="-342900">
              <a:lnSpc>
                <a:spcPct val="150000"/>
              </a:lnSpc>
              <a:buFont typeface="Wingdings" panose="05000000000000000000" pitchFamily="2" charset="2"/>
              <a:buChar char="Ø"/>
            </a:pPr>
            <a:r>
              <a:rPr lang="en-US" altLang="zh-CN" dirty="0">
                <a:latin typeface="Arial" panose="020B0604020202020204" pitchFamily="34" charset="0"/>
                <a:ea typeface="黑体" panose="02010609060101010101" pitchFamily="49" charset="-122"/>
              </a:rPr>
              <a:t>MC145151</a:t>
            </a:r>
            <a:r>
              <a:rPr lang="zh-CN" altLang="en-US" dirty="0">
                <a:latin typeface="Arial" panose="020B0604020202020204" pitchFamily="34" charset="0"/>
                <a:ea typeface="黑体" panose="02010609060101010101" pitchFamily="49" charset="-122"/>
              </a:rPr>
              <a:t>与其他芯片构成频率合成器</a:t>
            </a:r>
            <a:endParaRPr lang="en-US" altLang="zh-CN" dirty="0">
              <a:latin typeface="Arial" panose="020B0604020202020204" pitchFamily="34" charset="0"/>
              <a:ea typeface="黑体" panose="02010609060101010101" pitchFamily="49" charset="-122"/>
            </a:endParaRPr>
          </a:p>
          <a:p>
            <a:pPr marL="342900" indent="-342900">
              <a:lnSpc>
                <a:spcPct val="150000"/>
              </a:lnSpc>
              <a:buFont typeface="Arial" panose="020B0604020202020204" pitchFamily="34" charset="0"/>
              <a:buChar char="•"/>
            </a:pPr>
            <a:r>
              <a:rPr lang="en-US" altLang="zh-CN" sz="1800" dirty="0"/>
              <a:t>MC12080</a:t>
            </a:r>
            <a:r>
              <a:rPr lang="zh-CN" altLang="en-US" sz="1800" dirty="0"/>
              <a:t>，预</a:t>
            </a:r>
            <a:r>
              <a:rPr lang="zh-CN" altLang="zh-CN" sz="1800" dirty="0"/>
              <a:t>分频器，分频系数为</a:t>
            </a:r>
            <a:r>
              <a:rPr lang="en-US" altLang="zh-CN" sz="1800" dirty="0"/>
              <a:t>10~80</a:t>
            </a:r>
            <a:r>
              <a:rPr lang="zh-CN" altLang="zh-CN" sz="1800" dirty="0"/>
              <a:t>，最高允许输入频率为</a:t>
            </a:r>
            <a:r>
              <a:rPr lang="en-US" altLang="zh-CN" sz="1800" dirty="0"/>
              <a:t>1.1GHz</a:t>
            </a:r>
          </a:p>
          <a:p>
            <a:pPr marL="342900" indent="-342900">
              <a:lnSpc>
                <a:spcPct val="150000"/>
              </a:lnSpc>
              <a:buFont typeface="Arial" panose="020B0604020202020204" pitchFamily="34" charset="0"/>
              <a:buChar char="•"/>
            </a:pPr>
            <a:r>
              <a:rPr lang="en-US" altLang="zh-CN" sz="1800" dirty="0"/>
              <a:t>MC1648</a:t>
            </a:r>
            <a:r>
              <a:rPr lang="zh-CN" altLang="en-US" sz="1800" dirty="0"/>
              <a:t>，</a:t>
            </a:r>
            <a:r>
              <a:rPr lang="en-US" altLang="zh-CN" sz="1800" dirty="0"/>
              <a:t>LC</a:t>
            </a:r>
            <a:r>
              <a:rPr lang="zh-CN" altLang="en-US" sz="1800" dirty="0"/>
              <a:t>压控振荡器，配置合适的</a:t>
            </a:r>
            <a:r>
              <a:rPr lang="zh-CN" altLang="zh-CN" sz="1800" dirty="0"/>
              <a:t>变容二极管后，最高振荡频率</a:t>
            </a:r>
            <a:r>
              <a:rPr lang="en-US" altLang="zh-CN" sz="1800" dirty="0"/>
              <a:t>225MHz</a:t>
            </a:r>
            <a:endParaRPr lang="zh-CN" altLang="en-US" sz="1800" dirty="0"/>
          </a:p>
        </p:txBody>
      </p:sp>
      <p:pic>
        <p:nvPicPr>
          <p:cNvPr id="11" name="图片 10"/>
          <p:cNvPicPr>
            <a:picLocks noChangeAspect="1"/>
          </p:cNvPicPr>
          <p:nvPr/>
        </p:nvPicPr>
        <p:blipFill>
          <a:blip r:embed="rId2"/>
          <a:stretch>
            <a:fillRect/>
          </a:stretch>
        </p:blipFill>
        <p:spPr>
          <a:xfrm>
            <a:off x="2379612" y="1967837"/>
            <a:ext cx="7579503" cy="4358431"/>
          </a:xfrm>
          <a:prstGeom prst="rect">
            <a:avLst/>
          </a:prstGeom>
        </p:spPr>
      </p:pic>
    </p:spTree>
    <p:extLst>
      <p:ext uri="{BB962C8B-B14F-4D97-AF65-F5344CB8AC3E}">
        <p14:creationId xmlns:p14="http://schemas.microsoft.com/office/powerpoint/2010/main" val="2602443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2023/4/12</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12</a:t>
            </a:fld>
            <a:endParaRPr lang="en-US" altLang="zh-CN"/>
          </a:p>
        </p:txBody>
      </p:sp>
      <p:sp>
        <p:nvSpPr>
          <p:cNvPr id="6" name="文本框 5"/>
          <p:cNvSpPr txBox="1"/>
          <p:nvPr/>
        </p:nvSpPr>
        <p:spPr>
          <a:xfrm>
            <a:off x="624417" y="322927"/>
            <a:ext cx="11197167" cy="4955203"/>
          </a:xfrm>
          <a:prstGeom prst="rect">
            <a:avLst/>
          </a:prstGeom>
          <a:noFill/>
        </p:spPr>
        <p:txBody>
          <a:bodyPr wrap="square" rtlCol="0">
            <a:spAutoFit/>
          </a:bodyPr>
          <a:lstStyle/>
          <a:p>
            <a:pPr>
              <a:lnSpc>
                <a:spcPct val="150000"/>
              </a:lnSpc>
            </a:pPr>
            <a:r>
              <a:rPr lang="zh-CN" altLang="en-US" sz="2800" dirty="0">
                <a:solidFill>
                  <a:srgbClr val="FF0000"/>
                </a:solidFill>
                <a:latin typeface="隶书" panose="02010509060101010101" pitchFamily="49" charset="-122"/>
                <a:ea typeface="隶书" panose="02010509060101010101" pitchFamily="49" charset="-122"/>
              </a:rPr>
              <a:t>锁相环电路的主要性能参数</a:t>
            </a:r>
            <a:endParaRPr lang="en-US" altLang="zh-CN" sz="2800" dirty="0">
              <a:solidFill>
                <a:srgbClr val="FF0000"/>
              </a:solidFill>
              <a:latin typeface="隶书" panose="02010509060101010101" pitchFamily="49" charset="-122"/>
              <a:ea typeface="隶书" panose="02010509060101010101" pitchFamily="49" charset="-122"/>
            </a:endParaRPr>
          </a:p>
          <a:p>
            <a:pPr>
              <a:lnSpc>
                <a:spcPct val="150000"/>
              </a:lnSpc>
            </a:pPr>
            <a:r>
              <a:rPr lang="zh-CN" altLang="en-US" sz="1800" dirty="0">
                <a:latin typeface="等线" panose="02010600030101010101" pitchFamily="2" charset="-122"/>
                <a:ea typeface="等线" panose="02010600030101010101" pitchFamily="2" charset="-122"/>
              </a:rPr>
              <a:t>（仅介绍与大部分竞赛题相关的锁相环主要参数）</a:t>
            </a:r>
          </a:p>
          <a:p>
            <a:pPr marL="342900" indent="-342900">
              <a:lnSpc>
                <a:spcPct val="150000"/>
              </a:lnSpc>
              <a:buFont typeface="Wingdings" panose="05000000000000000000" pitchFamily="2" charset="2"/>
              <a:buChar char="u"/>
            </a:pPr>
            <a:r>
              <a:rPr lang="zh-CN" altLang="en-US" dirty="0">
                <a:solidFill>
                  <a:srgbClr val="FF0000"/>
                </a:solidFill>
                <a:latin typeface="华文细黑" panose="02010600040101010101" pitchFamily="2" charset="-122"/>
              </a:rPr>
              <a:t>闭环相位传递函数（稳态过程）</a:t>
            </a:r>
            <a:endParaRPr lang="en-US" altLang="zh-CN" dirty="0">
              <a:solidFill>
                <a:srgbClr val="FF0000"/>
              </a:solidFill>
              <a:latin typeface="华文细黑" panose="02010600040101010101" pitchFamily="2" charset="-122"/>
            </a:endParaRPr>
          </a:p>
          <a:p>
            <a:pPr>
              <a:lnSpc>
                <a:spcPct val="150000"/>
              </a:lnSpc>
            </a:pPr>
            <a:r>
              <a:rPr lang="zh-CN" altLang="en-US" sz="1800" dirty="0">
                <a:solidFill>
                  <a:schemeClr val="tx1">
                    <a:lumMod val="95000"/>
                    <a:lumOff val="5000"/>
                  </a:schemeClr>
                </a:solidFill>
                <a:latin typeface="华文细黑" panose="02010600040101010101" pitchFamily="2" charset="-122"/>
              </a:rPr>
              <a:t>锁相环处于</a:t>
            </a:r>
            <a:r>
              <a:rPr lang="zh-CN" altLang="en-US" sz="1800" dirty="0">
                <a:solidFill>
                  <a:srgbClr val="FF0000"/>
                </a:solidFill>
                <a:latin typeface="华文细黑" panose="02010600040101010101" pitchFamily="2" charset="-122"/>
              </a:rPr>
              <a:t>锁定状态</a:t>
            </a:r>
            <a:r>
              <a:rPr lang="zh-CN" altLang="en-US" sz="1800" dirty="0">
                <a:solidFill>
                  <a:schemeClr val="tx1">
                    <a:lumMod val="95000"/>
                    <a:lumOff val="5000"/>
                  </a:schemeClr>
                </a:solidFill>
                <a:latin typeface="华文细黑" panose="02010600040101010101" pitchFamily="2" charset="-122"/>
              </a:rPr>
              <a:t>时，锁相环的输出与输入信号之间的相位差处于一个动态稳定状态</a:t>
            </a:r>
            <a:r>
              <a:rPr lang="en-US" altLang="zh-CN" sz="1800" dirty="0">
                <a:solidFill>
                  <a:schemeClr val="tx1">
                    <a:lumMod val="95000"/>
                    <a:lumOff val="5000"/>
                  </a:schemeClr>
                </a:solidFill>
                <a:latin typeface="华文细黑" panose="02010600040101010101" pitchFamily="2" charset="-122"/>
              </a:rPr>
              <a:t>——</a:t>
            </a:r>
            <a:r>
              <a:rPr lang="zh-CN" altLang="en-US" sz="1800" dirty="0">
                <a:solidFill>
                  <a:schemeClr val="tx1">
                    <a:lumMod val="95000"/>
                    <a:lumOff val="5000"/>
                  </a:schemeClr>
                </a:solidFill>
                <a:latin typeface="华文细黑" panose="02010600040101010101" pitchFamily="2" charset="-122"/>
              </a:rPr>
              <a:t>若输入信号的相位发生变化，则输出信号的相位也随之变化，力图使相位差保持不变，即相位具有跟踪特性。</a:t>
            </a:r>
            <a:endParaRPr lang="en-US" altLang="zh-CN" sz="1800" dirty="0">
              <a:solidFill>
                <a:schemeClr val="tx1">
                  <a:lumMod val="95000"/>
                  <a:lumOff val="5000"/>
                </a:schemeClr>
              </a:solidFill>
              <a:latin typeface="华文细黑" panose="02010600040101010101" pitchFamily="2" charset="-122"/>
            </a:endParaRPr>
          </a:p>
          <a:p>
            <a:pPr>
              <a:lnSpc>
                <a:spcPct val="150000"/>
              </a:lnSpc>
            </a:pPr>
            <a:r>
              <a:rPr lang="zh-CN" altLang="en-US" sz="1800" dirty="0">
                <a:solidFill>
                  <a:schemeClr val="tx1">
                    <a:lumMod val="95000"/>
                    <a:lumOff val="5000"/>
                  </a:schemeClr>
                </a:solidFill>
                <a:latin typeface="华文细黑" panose="02010600040101010101" pitchFamily="2" charset="-122"/>
              </a:rPr>
              <a:t>然而此相位跟踪是通过反馈产生的，与任何实际的反馈控制系统一样，若输入变量（相位）的变化速率变得很高后，反馈系统的控制作用将减弱，导致输出相位的变化速率下降。</a:t>
            </a:r>
            <a:endParaRPr lang="en-US" altLang="zh-CN" sz="1800" dirty="0">
              <a:solidFill>
                <a:schemeClr val="tx1">
                  <a:lumMod val="95000"/>
                  <a:lumOff val="5000"/>
                </a:schemeClr>
              </a:solidFill>
              <a:latin typeface="华文细黑" panose="02010600040101010101" pitchFamily="2" charset="-122"/>
            </a:endParaRPr>
          </a:p>
          <a:p>
            <a:pPr>
              <a:lnSpc>
                <a:spcPct val="150000"/>
              </a:lnSpc>
            </a:pPr>
            <a:r>
              <a:rPr lang="zh-CN" altLang="en-US" sz="1800" dirty="0">
                <a:solidFill>
                  <a:schemeClr val="tx1">
                    <a:lumMod val="95000"/>
                    <a:lumOff val="5000"/>
                  </a:schemeClr>
                </a:solidFill>
                <a:latin typeface="华文细黑" panose="02010600040101010101" pitchFamily="2" charset="-122"/>
              </a:rPr>
              <a:t>所以，锁相环的输出信号相位与输入信号相位之比值是输入信号相位变化速率的函数，这就是锁相环的闭环相位传递函数</a:t>
            </a:r>
            <a:endParaRPr lang="en-US" altLang="zh-CN" sz="1800" dirty="0">
              <a:solidFill>
                <a:schemeClr val="tx1">
                  <a:lumMod val="95000"/>
                  <a:lumOff val="5000"/>
                </a:schemeClr>
              </a:solidFill>
              <a:latin typeface="华文细黑" panose="02010600040101010101" pitchFamily="2" charset="-122"/>
            </a:endParaRPr>
          </a:p>
          <a:p>
            <a:pPr>
              <a:lnSpc>
                <a:spcPct val="150000"/>
              </a:lnSpc>
            </a:pPr>
            <a:r>
              <a:rPr lang="zh-CN" altLang="en-US" sz="1800" dirty="0">
                <a:solidFill>
                  <a:srgbClr val="FF0000"/>
                </a:solidFill>
                <a:latin typeface="华文细黑" panose="02010600040101010101" pitchFamily="2" charset="-122"/>
              </a:rPr>
              <a:t>注意</a:t>
            </a:r>
            <a:r>
              <a:rPr lang="zh-CN" altLang="en-US" sz="1800" dirty="0">
                <a:solidFill>
                  <a:schemeClr val="tx1">
                    <a:lumMod val="95000"/>
                    <a:lumOff val="5000"/>
                  </a:schemeClr>
                </a:solidFill>
                <a:latin typeface="华文细黑" panose="02010600040101010101" pitchFamily="2" charset="-122"/>
              </a:rPr>
              <a:t>：上述传递函数中的自变量（频率）并非输入信号的频率，而是输入信号相位变化的频率。例如在调相（</a:t>
            </a:r>
            <a:r>
              <a:rPr lang="en-US" altLang="zh-CN" sz="1800" dirty="0">
                <a:solidFill>
                  <a:schemeClr val="tx1">
                    <a:lumMod val="95000"/>
                    <a:lumOff val="5000"/>
                  </a:schemeClr>
                </a:solidFill>
                <a:latin typeface="华文细黑" panose="02010600040101010101" pitchFamily="2" charset="-122"/>
              </a:rPr>
              <a:t>PM</a:t>
            </a:r>
            <a:r>
              <a:rPr lang="zh-CN" altLang="en-US" sz="1800" dirty="0">
                <a:solidFill>
                  <a:schemeClr val="tx1">
                    <a:lumMod val="95000"/>
                    <a:lumOff val="5000"/>
                  </a:schemeClr>
                </a:solidFill>
                <a:latin typeface="华文细黑" panose="02010600040101010101" pitchFamily="2" charset="-122"/>
              </a:rPr>
              <a:t>）信号中，上述自变量对应调制信号的频率，而不是载波的频率</a:t>
            </a:r>
          </a:p>
        </p:txBody>
      </p:sp>
    </p:spTree>
    <p:extLst>
      <p:ext uri="{BB962C8B-B14F-4D97-AF65-F5344CB8AC3E}">
        <p14:creationId xmlns:p14="http://schemas.microsoft.com/office/powerpoint/2010/main" val="167653471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13</a:t>
            </a:fld>
            <a:endParaRPr lang="en-US" altLang="zh-CN">
              <a:solidFill>
                <a:srgbClr val="FFFFFF"/>
              </a:solidFill>
            </a:endParaRPr>
          </a:p>
        </p:txBody>
      </p:sp>
      <p:pic>
        <p:nvPicPr>
          <p:cNvPr id="5" name="图片 4"/>
          <p:cNvPicPr>
            <a:picLocks noChangeAspect="1"/>
          </p:cNvPicPr>
          <p:nvPr/>
        </p:nvPicPr>
        <p:blipFill>
          <a:blip r:embed="rId2"/>
          <a:stretch>
            <a:fillRect/>
          </a:stretch>
        </p:blipFill>
        <p:spPr>
          <a:xfrm>
            <a:off x="2166065" y="1190836"/>
            <a:ext cx="6895827" cy="4729741"/>
          </a:xfrm>
          <a:prstGeom prst="rect">
            <a:avLst/>
          </a:prstGeom>
        </p:spPr>
      </p:pic>
      <p:sp>
        <p:nvSpPr>
          <p:cNvPr id="6" name="文本框 5"/>
          <p:cNvSpPr txBox="1"/>
          <p:nvPr/>
        </p:nvSpPr>
        <p:spPr>
          <a:xfrm>
            <a:off x="624417" y="586787"/>
            <a:ext cx="4982483" cy="400110"/>
          </a:xfrm>
          <a:prstGeom prst="rect">
            <a:avLst/>
          </a:prstGeom>
          <a:noFill/>
        </p:spPr>
        <p:txBody>
          <a:bodyPr wrap="square" rtlCol="0">
            <a:spAutoFit/>
          </a:bodyPr>
          <a:lstStyle/>
          <a:p>
            <a:r>
              <a:rPr lang="zh-CN" altLang="en-US" dirty="0"/>
              <a:t>二阶锁相环闭环相位传递函数的波德图</a:t>
            </a:r>
          </a:p>
        </p:txBody>
      </p:sp>
      <p:cxnSp>
        <p:nvCxnSpPr>
          <p:cNvPr id="8" name="直接连接符 7"/>
          <p:cNvCxnSpPr/>
          <p:nvPr/>
        </p:nvCxnSpPr>
        <p:spPr>
          <a:xfrm flipV="1">
            <a:off x="4490867" y="3131326"/>
            <a:ext cx="3473405" cy="26314"/>
          </a:xfrm>
          <a:prstGeom prst="line">
            <a:avLst/>
          </a:prstGeom>
          <a:ln w="19050">
            <a:solidFill>
              <a:srgbClr val="FF3300"/>
            </a:solidFill>
            <a:prstDash val="dash"/>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H="1">
            <a:off x="5924962" y="2014092"/>
            <a:ext cx="2244688" cy="111723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H="1">
            <a:off x="6148655" y="2014092"/>
            <a:ext cx="2063552" cy="114354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H="1">
            <a:off x="6382161" y="2072202"/>
            <a:ext cx="1784618" cy="108543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6872253" y="2072202"/>
            <a:ext cx="1362118" cy="108543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5411964" y="1519614"/>
            <a:ext cx="6700" cy="4400962"/>
          </a:xfrm>
          <a:prstGeom prst="straightConnector1">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8183563" y="1591659"/>
            <a:ext cx="1817066" cy="646331"/>
          </a:xfrm>
          <a:prstGeom prst="rect">
            <a:avLst/>
          </a:prstGeom>
          <a:noFill/>
        </p:spPr>
        <p:txBody>
          <a:bodyPr wrap="square" rtlCol="0">
            <a:spAutoFit/>
          </a:bodyPr>
          <a:lstStyle/>
          <a:p>
            <a:r>
              <a:rPr lang="zh-CN" altLang="en-US" sz="1800" dirty="0"/>
              <a:t>不同阻尼因子条件下的闭环带宽</a:t>
            </a:r>
          </a:p>
        </p:txBody>
      </p:sp>
      <p:sp>
        <p:nvSpPr>
          <p:cNvPr id="26" name="文本框 25"/>
          <p:cNvSpPr txBox="1"/>
          <p:nvPr/>
        </p:nvSpPr>
        <p:spPr>
          <a:xfrm>
            <a:off x="4849511" y="5911905"/>
            <a:ext cx="1124909" cy="369332"/>
          </a:xfrm>
          <a:prstGeom prst="rect">
            <a:avLst/>
          </a:prstGeom>
          <a:noFill/>
        </p:spPr>
        <p:txBody>
          <a:bodyPr wrap="square" rtlCol="0">
            <a:spAutoFit/>
          </a:bodyPr>
          <a:lstStyle/>
          <a:p>
            <a:r>
              <a:rPr lang="zh-CN" altLang="en-US" sz="1800" dirty="0"/>
              <a:t>自然频率</a:t>
            </a:r>
          </a:p>
        </p:txBody>
      </p:sp>
      <p:cxnSp>
        <p:nvCxnSpPr>
          <p:cNvPr id="27" name="直接箭头连接符 26"/>
          <p:cNvCxnSpPr/>
          <p:nvPr/>
        </p:nvCxnSpPr>
        <p:spPr>
          <a:xfrm flipH="1">
            <a:off x="6044733" y="2072202"/>
            <a:ext cx="2138830" cy="107049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7750623" y="3427203"/>
            <a:ext cx="1420939" cy="369332"/>
          </a:xfrm>
          <a:prstGeom prst="rect">
            <a:avLst/>
          </a:prstGeom>
          <a:noFill/>
        </p:spPr>
        <p:txBody>
          <a:bodyPr wrap="square" rtlCol="0">
            <a:spAutoFit/>
          </a:bodyPr>
          <a:lstStyle/>
          <a:p>
            <a:r>
              <a:rPr lang="zh-CN" altLang="en-US" sz="1800" dirty="0"/>
              <a:t>阻尼因子</a:t>
            </a:r>
          </a:p>
        </p:txBody>
      </p:sp>
      <p:sp>
        <p:nvSpPr>
          <p:cNvPr id="31" name="文本框 30"/>
          <p:cNvSpPr txBox="1"/>
          <p:nvPr/>
        </p:nvSpPr>
        <p:spPr>
          <a:xfrm rot="16200000">
            <a:off x="871163" y="3193351"/>
            <a:ext cx="2611634" cy="369332"/>
          </a:xfrm>
          <a:prstGeom prst="rect">
            <a:avLst/>
          </a:prstGeom>
          <a:noFill/>
        </p:spPr>
        <p:txBody>
          <a:bodyPr wrap="square" rtlCol="0">
            <a:spAutoFit/>
          </a:bodyPr>
          <a:lstStyle/>
          <a:p>
            <a:r>
              <a:rPr lang="zh-CN" altLang="en-US" sz="1800" dirty="0"/>
              <a:t>闭环相位传递函数的模</a:t>
            </a:r>
          </a:p>
        </p:txBody>
      </p:sp>
    </p:spTree>
    <p:extLst>
      <p:ext uri="{BB962C8B-B14F-4D97-AF65-F5344CB8AC3E}">
        <p14:creationId xmlns:p14="http://schemas.microsoft.com/office/powerpoint/2010/main" val="1197906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2023/4/12</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14</a:t>
            </a:fld>
            <a:endParaRPr lang="en-US" altLang="zh-CN"/>
          </a:p>
        </p:txBody>
      </p:sp>
      <p:sp>
        <p:nvSpPr>
          <p:cNvPr id="6" name="文本框 5"/>
          <p:cNvSpPr txBox="1"/>
          <p:nvPr/>
        </p:nvSpPr>
        <p:spPr>
          <a:xfrm>
            <a:off x="457201" y="413292"/>
            <a:ext cx="11306628" cy="5570756"/>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dirty="0">
                <a:solidFill>
                  <a:srgbClr val="FF0000"/>
                </a:solidFill>
                <a:latin typeface="华文细黑" panose="02010600040101010101" pitchFamily="2" charset="-122"/>
              </a:rPr>
              <a:t>闭环带宽 </a:t>
            </a:r>
            <a:r>
              <a:rPr lang="el-GR" altLang="zh-CN" i="1" dirty="0">
                <a:solidFill>
                  <a:srgbClr val="FF0000"/>
                </a:solidFill>
                <a:latin typeface="Times New Roman" panose="02020603050405020304" pitchFamily="18" charset="0"/>
                <a:cs typeface="Times New Roman" panose="02020603050405020304" pitchFamily="18" charset="0"/>
              </a:rPr>
              <a:t>ω</a:t>
            </a:r>
            <a:r>
              <a:rPr lang="en-US" altLang="zh-CN" baseline="-25000" dirty="0">
                <a:solidFill>
                  <a:srgbClr val="FF0000"/>
                </a:solidFill>
                <a:latin typeface="Times New Roman" panose="02020603050405020304" pitchFamily="18" charset="0"/>
                <a:cs typeface="Times New Roman" panose="02020603050405020304" pitchFamily="18" charset="0"/>
              </a:rPr>
              <a:t>-3dB  </a:t>
            </a:r>
            <a:r>
              <a:rPr lang="zh-CN" altLang="en-US" dirty="0">
                <a:solidFill>
                  <a:srgbClr val="FF0000"/>
                </a:solidFill>
                <a:latin typeface="Times New Roman" panose="02020603050405020304" pitchFamily="18" charset="0"/>
                <a:cs typeface="Times New Roman" panose="02020603050405020304" pitchFamily="18" charset="0"/>
              </a:rPr>
              <a:t>与二阶锁相环的自然频率 </a:t>
            </a:r>
            <a:r>
              <a:rPr lang="el-GR" altLang="zh-CN" i="1" dirty="0">
                <a:solidFill>
                  <a:srgbClr val="FF0000"/>
                </a:solidFill>
                <a:latin typeface="Times New Roman" panose="02020603050405020304" pitchFamily="18" charset="0"/>
                <a:cs typeface="Times New Roman" panose="02020603050405020304" pitchFamily="18" charset="0"/>
              </a:rPr>
              <a:t>ω</a:t>
            </a:r>
            <a:r>
              <a:rPr lang="en-US" altLang="zh-CN" i="1" baseline="-25000" dirty="0">
                <a:solidFill>
                  <a:srgbClr val="FF0000"/>
                </a:solidFill>
                <a:latin typeface="Times New Roman" panose="02020603050405020304" pitchFamily="18" charset="0"/>
                <a:cs typeface="Times New Roman" panose="02020603050405020304" pitchFamily="18" charset="0"/>
              </a:rPr>
              <a:t>n</a:t>
            </a:r>
            <a:endParaRPr lang="en-US" altLang="zh-CN" dirty="0">
              <a:solidFill>
                <a:srgbClr val="FF0000"/>
              </a:solidFill>
              <a:latin typeface="华文细黑" panose="02010600040101010101" pitchFamily="2" charset="-122"/>
            </a:endParaRPr>
          </a:p>
          <a:p>
            <a:pPr marL="342900" indent="-342900">
              <a:lnSpc>
                <a:spcPct val="150000"/>
              </a:lnSpc>
              <a:buFont typeface="Arial" panose="020B0604020202020204" pitchFamily="34" charset="0"/>
              <a:buChar char="•"/>
            </a:pPr>
            <a:r>
              <a:rPr lang="zh-CN" altLang="en-US" sz="1800" dirty="0">
                <a:solidFill>
                  <a:schemeClr val="tx1">
                    <a:lumMod val="95000"/>
                    <a:lumOff val="5000"/>
                  </a:schemeClr>
                </a:solidFill>
                <a:latin typeface="华文细黑" panose="02010600040101010101" pitchFamily="2" charset="-122"/>
              </a:rPr>
              <a:t>反映锁相环输出对于输入信号</a:t>
            </a:r>
            <a:r>
              <a:rPr lang="zh-CN" altLang="en-US" sz="1800" dirty="0">
                <a:latin typeface="华文细黑" panose="02010600040101010101" pitchFamily="2" charset="-122"/>
              </a:rPr>
              <a:t>相位变化</a:t>
            </a:r>
            <a:r>
              <a:rPr lang="zh-CN" altLang="en-US" sz="1800" dirty="0">
                <a:solidFill>
                  <a:schemeClr val="tx1">
                    <a:lumMod val="95000"/>
                    <a:lumOff val="5000"/>
                  </a:schemeClr>
                </a:solidFill>
                <a:latin typeface="华文细黑" panose="02010600040101010101" pitchFamily="2" charset="-122"/>
              </a:rPr>
              <a:t>的跟踪范围</a:t>
            </a:r>
            <a:endParaRPr lang="en-US" altLang="zh-CN" sz="1800" dirty="0">
              <a:solidFill>
                <a:schemeClr val="tx1">
                  <a:lumMod val="95000"/>
                  <a:lumOff val="5000"/>
                </a:schemeClr>
              </a:solidFill>
              <a:latin typeface="华文细黑" panose="02010600040101010101" pitchFamily="2" charset="-122"/>
            </a:endParaRPr>
          </a:p>
          <a:p>
            <a:pPr marL="342900" indent="-342900">
              <a:lnSpc>
                <a:spcPct val="150000"/>
              </a:lnSpc>
              <a:buFont typeface="Arial" panose="020B0604020202020204" pitchFamily="34" charset="0"/>
              <a:buChar char="•"/>
            </a:pPr>
            <a:r>
              <a:rPr lang="zh-CN" altLang="en-US" sz="1800" dirty="0">
                <a:latin typeface="华文细黑" panose="02010600040101010101" pitchFamily="2" charset="-122"/>
              </a:rPr>
              <a:t>相位变化频率</a:t>
            </a:r>
            <a:r>
              <a:rPr lang="zh-CN" altLang="en-US" sz="1800" dirty="0">
                <a:solidFill>
                  <a:schemeClr val="tx1">
                    <a:lumMod val="95000"/>
                    <a:lumOff val="5000"/>
                  </a:schemeClr>
                </a:solidFill>
                <a:latin typeface="华文细黑" panose="02010600040101010101" pitchFamily="2" charset="-122"/>
              </a:rPr>
              <a:t>远低于闭环带宽时，输出信号的相位变化量（角度）跟随输入信号的相位变化量；</a:t>
            </a:r>
            <a:r>
              <a:rPr lang="zh-CN" altLang="en-US" sz="1800" dirty="0">
                <a:latin typeface="华文细黑" panose="02010600040101010101" pitchFamily="2" charset="-122"/>
              </a:rPr>
              <a:t>相位变化频率</a:t>
            </a:r>
            <a:r>
              <a:rPr lang="zh-CN" altLang="en-US" sz="1800" dirty="0">
                <a:solidFill>
                  <a:schemeClr val="tx1">
                    <a:lumMod val="95000"/>
                    <a:lumOff val="5000"/>
                  </a:schemeClr>
                </a:solidFill>
                <a:latin typeface="华文细黑" panose="02010600040101010101" pitchFamily="2" charset="-122"/>
              </a:rPr>
              <a:t>远高于闭环带宽后，输出信号的相位变化量将按照</a:t>
            </a:r>
            <a:r>
              <a:rPr lang="en-US" altLang="zh-CN" sz="1800" dirty="0">
                <a:solidFill>
                  <a:schemeClr val="tx1">
                    <a:lumMod val="95000"/>
                    <a:lumOff val="5000"/>
                  </a:schemeClr>
                </a:solidFill>
                <a:latin typeface="华文细黑" panose="02010600040101010101" pitchFamily="2" charset="-122"/>
              </a:rPr>
              <a:t>20dB/</a:t>
            </a:r>
            <a:r>
              <a:rPr lang="zh-CN" altLang="en-US" sz="1800" dirty="0">
                <a:solidFill>
                  <a:schemeClr val="tx1">
                    <a:lumMod val="95000"/>
                    <a:lumOff val="5000"/>
                  </a:schemeClr>
                </a:solidFill>
                <a:latin typeface="华文细黑" panose="02010600040101010101" pitchFamily="2" charset="-122"/>
              </a:rPr>
              <a:t>十倍频程（二阶锁相环）或</a:t>
            </a:r>
            <a:r>
              <a:rPr lang="en-US" altLang="zh-CN" sz="1800" dirty="0">
                <a:solidFill>
                  <a:schemeClr val="tx1">
                    <a:lumMod val="95000"/>
                    <a:lumOff val="5000"/>
                  </a:schemeClr>
                </a:solidFill>
                <a:latin typeface="华文细黑" panose="02010600040101010101" pitchFamily="2" charset="-122"/>
              </a:rPr>
              <a:t>40dB/</a:t>
            </a:r>
            <a:r>
              <a:rPr lang="zh-CN" altLang="en-US" sz="1800" dirty="0">
                <a:solidFill>
                  <a:schemeClr val="tx1">
                    <a:lumMod val="95000"/>
                    <a:lumOff val="5000"/>
                  </a:schemeClr>
                </a:solidFill>
                <a:latin typeface="华文细黑" panose="02010600040101010101" pitchFamily="2" charset="-122"/>
              </a:rPr>
              <a:t>十倍频程（三阶锁相环）下降</a:t>
            </a:r>
            <a:endParaRPr lang="en-US" altLang="zh-CN" sz="1800" dirty="0">
              <a:solidFill>
                <a:schemeClr val="tx1">
                  <a:lumMod val="95000"/>
                  <a:lumOff val="5000"/>
                </a:schemeClr>
              </a:solidFill>
              <a:latin typeface="华文细黑" panose="02010600040101010101" pitchFamily="2" charset="-122"/>
            </a:endParaRPr>
          </a:p>
          <a:p>
            <a:pPr marL="285750" indent="-285750">
              <a:lnSpc>
                <a:spcPct val="150000"/>
              </a:lnSpc>
              <a:buFont typeface="Arial" panose="020B0604020202020204" pitchFamily="34" charset="0"/>
              <a:buChar char="•"/>
            </a:pPr>
            <a:r>
              <a:rPr lang="zh-CN" altLang="en-US" sz="1800" dirty="0">
                <a:solidFill>
                  <a:schemeClr val="tx1">
                    <a:lumMod val="95000"/>
                    <a:lumOff val="5000"/>
                  </a:schemeClr>
                </a:solidFill>
                <a:latin typeface="Times New Roman" panose="02020603050405020304" pitchFamily="18" charset="0"/>
                <a:cs typeface="Times New Roman" panose="02020603050405020304" pitchFamily="18" charset="0"/>
              </a:rPr>
              <a:t>在二阶锁相环中，当 </a:t>
            </a:r>
            <a:r>
              <a:rPr lang="el-GR" altLang="zh-CN" sz="1800" i="1" dirty="0">
                <a:latin typeface="Times New Roman" panose="02020603050405020304" pitchFamily="18" charset="0"/>
                <a:cs typeface="Times New Roman" panose="02020603050405020304" pitchFamily="18" charset="0"/>
              </a:rPr>
              <a:t>ζ</a:t>
            </a:r>
            <a:r>
              <a:rPr lang="en-US" altLang="zh-CN" sz="1800" i="1" dirty="0">
                <a:latin typeface="Times New Roman" panose="02020603050405020304" pitchFamily="18" charset="0"/>
                <a:cs typeface="Times New Roman" panose="02020603050405020304" pitchFamily="18" charset="0"/>
              </a:rPr>
              <a:t> </a:t>
            </a:r>
            <a:r>
              <a:rPr lang="en-US" altLang="zh-CN" sz="1800" dirty="0">
                <a:latin typeface="+mn-lt"/>
              </a:rPr>
              <a:t>=0.7 </a:t>
            </a:r>
            <a:r>
              <a:rPr lang="zh-CN" altLang="en-US" sz="1800" dirty="0"/>
              <a:t>时 </a:t>
            </a:r>
            <a:r>
              <a:rPr lang="el-GR" altLang="zh-CN" sz="1800" i="1" dirty="0">
                <a:solidFill>
                  <a:schemeClr val="tx1">
                    <a:lumMod val="95000"/>
                    <a:lumOff val="5000"/>
                  </a:schemeClr>
                </a:solidFill>
                <a:latin typeface="Times New Roman" panose="02020603050405020304" pitchFamily="18" charset="0"/>
                <a:cs typeface="Times New Roman" panose="02020603050405020304" pitchFamily="18" charset="0"/>
              </a:rPr>
              <a:t>ω</a:t>
            </a:r>
            <a:r>
              <a:rPr lang="en-US" altLang="zh-CN" sz="1800" baseline="-25000" dirty="0">
                <a:solidFill>
                  <a:schemeClr val="tx1">
                    <a:lumMod val="95000"/>
                    <a:lumOff val="5000"/>
                  </a:schemeClr>
                </a:solidFill>
                <a:latin typeface="Times New Roman" panose="02020603050405020304" pitchFamily="18" charset="0"/>
                <a:cs typeface="Times New Roman" panose="02020603050405020304" pitchFamily="18" charset="0"/>
              </a:rPr>
              <a:t>-3dB</a:t>
            </a:r>
            <a:r>
              <a:rPr lang="zh-CN" altLang="en-US" sz="18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zh-CN" sz="1800" dirty="0">
                <a:solidFill>
                  <a:schemeClr val="tx1">
                    <a:lumMod val="95000"/>
                    <a:lumOff val="5000"/>
                  </a:schemeClr>
                </a:solidFill>
                <a:latin typeface="Times New Roman" panose="02020603050405020304" pitchFamily="18" charset="0"/>
                <a:cs typeface="Times New Roman" panose="02020603050405020304" pitchFamily="18" charset="0"/>
              </a:rPr>
              <a:t>2</a:t>
            </a:r>
            <a:r>
              <a:rPr lang="el-GR" altLang="zh-CN" sz="1800" i="1" dirty="0">
                <a:solidFill>
                  <a:schemeClr val="tx1">
                    <a:lumMod val="95000"/>
                    <a:lumOff val="5000"/>
                  </a:schemeClr>
                </a:solidFill>
                <a:latin typeface="Times New Roman" panose="02020603050405020304" pitchFamily="18" charset="0"/>
                <a:cs typeface="Times New Roman" panose="02020603050405020304" pitchFamily="18" charset="0"/>
              </a:rPr>
              <a:t>ω</a:t>
            </a:r>
            <a:r>
              <a:rPr lang="en-US" altLang="zh-CN" sz="1800" i="1" baseline="-25000" dirty="0">
                <a:solidFill>
                  <a:schemeClr val="tx1">
                    <a:lumMod val="95000"/>
                    <a:lumOff val="5000"/>
                  </a:schemeClr>
                </a:solidFill>
                <a:latin typeface="Times New Roman" panose="02020603050405020304" pitchFamily="18" charset="0"/>
                <a:cs typeface="Times New Roman" panose="02020603050405020304" pitchFamily="18" charset="0"/>
              </a:rPr>
              <a:t>n</a:t>
            </a:r>
          </a:p>
          <a:p>
            <a:pPr marL="342900" indent="-342900">
              <a:lnSpc>
                <a:spcPct val="150000"/>
              </a:lnSpc>
              <a:buFont typeface="Wingdings" panose="05000000000000000000" pitchFamily="2" charset="2"/>
              <a:buChar char="Ø"/>
            </a:pPr>
            <a:r>
              <a:rPr lang="zh-CN" altLang="en-US" dirty="0">
                <a:solidFill>
                  <a:srgbClr val="FF0000"/>
                </a:solidFill>
              </a:rPr>
              <a:t>阻尼因子 </a:t>
            </a:r>
            <a:r>
              <a:rPr lang="el-GR" altLang="zh-CN" i="1" dirty="0">
                <a:solidFill>
                  <a:srgbClr val="FF0000"/>
                </a:solidFill>
                <a:latin typeface="Times New Roman" panose="02020603050405020304" pitchFamily="18" charset="0"/>
                <a:cs typeface="Times New Roman" panose="02020603050405020304" pitchFamily="18" charset="0"/>
              </a:rPr>
              <a:t>ζ</a:t>
            </a:r>
            <a:endParaRPr lang="en-US" altLang="zh-CN" i="1" dirty="0">
              <a:solidFill>
                <a:srgbClr val="FF0000"/>
              </a:solidFill>
            </a:endParaRPr>
          </a:p>
          <a:p>
            <a:pPr marL="342900" indent="-342900">
              <a:lnSpc>
                <a:spcPct val="150000"/>
              </a:lnSpc>
              <a:buFont typeface="Arial" panose="020B0604020202020204" pitchFamily="34" charset="0"/>
              <a:buChar char="•"/>
            </a:pPr>
            <a:r>
              <a:rPr lang="zh-CN" altLang="en-US" sz="1800" dirty="0"/>
              <a:t>反映二阶锁相环中系统对于自由振荡（自激）的阻尼程度，即系统的稳定程度</a:t>
            </a:r>
            <a:endParaRPr lang="en-US" altLang="zh-CN" sz="1800" dirty="0"/>
          </a:p>
          <a:p>
            <a:pPr marL="342900" indent="-342900">
              <a:lnSpc>
                <a:spcPct val="150000"/>
              </a:lnSpc>
              <a:buFont typeface="Arial" panose="020B0604020202020204" pitchFamily="34" charset="0"/>
              <a:buChar char="•"/>
            </a:pPr>
            <a:r>
              <a:rPr lang="el-GR" altLang="zh-CN" sz="1800" i="1" dirty="0">
                <a:latin typeface="Times New Roman" panose="02020603050405020304" pitchFamily="18" charset="0"/>
                <a:cs typeface="Times New Roman" panose="02020603050405020304" pitchFamily="18" charset="0"/>
              </a:rPr>
              <a:t>ζ</a:t>
            </a:r>
            <a:r>
              <a:rPr lang="en-US" altLang="zh-CN" sz="1800" i="1" dirty="0">
                <a:latin typeface="Times New Roman" panose="02020603050405020304" pitchFamily="18" charset="0"/>
                <a:cs typeface="Times New Roman" panose="02020603050405020304" pitchFamily="18" charset="0"/>
              </a:rPr>
              <a:t> </a:t>
            </a:r>
            <a:r>
              <a:rPr lang="zh-CN" altLang="en-US" sz="1800" dirty="0"/>
              <a:t>等于</a:t>
            </a:r>
            <a:r>
              <a:rPr lang="en-US" altLang="zh-CN" sz="1800" dirty="0"/>
              <a:t>1</a:t>
            </a:r>
            <a:r>
              <a:rPr lang="zh-CN" altLang="en-US" sz="1800" dirty="0"/>
              <a:t>时称为临界阻尼，</a:t>
            </a:r>
            <a:r>
              <a:rPr lang="el-GR" altLang="zh-CN" sz="1800" i="1" dirty="0">
                <a:latin typeface="Times New Roman" panose="02020603050405020304" pitchFamily="18" charset="0"/>
                <a:cs typeface="Times New Roman" panose="02020603050405020304" pitchFamily="18" charset="0"/>
              </a:rPr>
              <a:t> ζ</a:t>
            </a:r>
            <a:r>
              <a:rPr lang="en-US" altLang="zh-CN" sz="1800" i="1" dirty="0">
                <a:latin typeface="Times New Roman" panose="02020603050405020304" pitchFamily="18" charset="0"/>
                <a:cs typeface="Times New Roman" panose="02020603050405020304" pitchFamily="18" charset="0"/>
              </a:rPr>
              <a:t> </a:t>
            </a:r>
            <a:r>
              <a:rPr lang="zh-CN" altLang="en-US" sz="1800" dirty="0"/>
              <a:t>大于</a:t>
            </a:r>
            <a:r>
              <a:rPr lang="en-US" altLang="zh-CN" sz="1800" dirty="0"/>
              <a:t>1</a:t>
            </a:r>
            <a:r>
              <a:rPr lang="zh-CN" altLang="en-US" sz="1800" dirty="0"/>
              <a:t>时称为过阻尼，</a:t>
            </a:r>
            <a:r>
              <a:rPr lang="el-GR" altLang="zh-CN" sz="1800" i="1" dirty="0">
                <a:latin typeface="Times New Roman" panose="02020603050405020304" pitchFamily="18" charset="0"/>
                <a:cs typeface="Times New Roman" panose="02020603050405020304" pitchFamily="18" charset="0"/>
              </a:rPr>
              <a:t>ζ</a:t>
            </a:r>
            <a:r>
              <a:rPr lang="en-US" altLang="zh-CN" sz="1800" i="1" dirty="0">
                <a:latin typeface="Times New Roman" panose="02020603050405020304" pitchFamily="18" charset="0"/>
                <a:cs typeface="Times New Roman" panose="02020603050405020304" pitchFamily="18" charset="0"/>
              </a:rPr>
              <a:t> </a:t>
            </a:r>
            <a:r>
              <a:rPr lang="zh-CN" altLang="en-US" sz="1800" dirty="0"/>
              <a:t>等于</a:t>
            </a:r>
            <a:r>
              <a:rPr lang="en-US" altLang="zh-CN" sz="1800" dirty="0"/>
              <a:t>0~1</a:t>
            </a:r>
            <a:r>
              <a:rPr lang="zh-CN" altLang="en-US" sz="1800" dirty="0"/>
              <a:t>之间时称为欠阻尼</a:t>
            </a:r>
            <a:endParaRPr lang="en-US" altLang="zh-CN" sz="1800" dirty="0"/>
          </a:p>
          <a:p>
            <a:pPr marL="342900" indent="-342900">
              <a:lnSpc>
                <a:spcPct val="150000"/>
              </a:lnSpc>
              <a:buFont typeface="Arial" panose="020B0604020202020204" pitchFamily="34" charset="0"/>
              <a:buChar char="•"/>
            </a:pPr>
            <a:r>
              <a:rPr lang="el-GR" altLang="zh-CN" sz="1800" i="1" dirty="0">
                <a:latin typeface="Times New Roman" panose="02020603050405020304" pitchFamily="18" charset="0"/>
                <a:cs typeface="Times New Roman" panose="02020603050405020304" pitchFamily="18" charset="0"/>
              </a:rPr>
              <a:t> ζ</a:t>
            </a:r>
            <a:r>
              <a:rPr lang="en-US" altLang="zh-CN" sz="1800" i="1" dirty="0">
                <a:latin typeface="Times New Roman" panose="02020603050405020304" pitchFamily="18" charset="0"/>
                <a:cs typeface="Times New Roman" panose="02020603050405020304" pitchFamily="18" charset="0"/>
              </a:rPr>
              <a:t> </a:t>
            </a:r>
            <a:r>
              <a:rPr lang="zh-CN" altLang="en-US" sz="1800" dirty="0"/>
              <a:t>等于</a:t>
            </a:r>
            <a:r>
              <a:rPr lang="en-US" altLang="zh-CN" sz="1800" dirty="0"/>
              <a:t>0</a:t>
            </a:r>
            <a:r>
              <a:rPr lang="zh-CN" altLang="en-US" sz="1800" dirty="0"/>
              <a:t>时系统自激振荡（输出信号的相位振荡），在过阻尼状态下系统的反应迟钝</a:t>
            </a:r>
            <a:endParaRPr lang="en-US" altLang="zh-CN" sz="1800" dirty="0"/>
          </a:p>
          <a:p>
            <a:pPr marL="342900" indent="-342900">
              <a:lnSpc>
                <a:spcPct val="150000"/>
              </a:lnSpc>
              <a:buFont typeface="Arial" panose="020B0604020202020204" pitchFamily="34" charset="0"/>
              <a:buChar char="•"/>
            </a:pPr>
            <a:r>
              <a:rPr lang="zh-CN" altLang="en-US" sz="1800" dirty="0"/>
              <a:t>通常令</a:t>
            </a:r>
            <a:r>
              <a:rPr lang="el-GR" altLang="zh-CN" sz="1800" i="1" dirty="0">
                <a:latin typeface="Times New Roman" panose="02020603050405020304" pitchFamily="18" charset="0"/>
                <a:cs typeface="Times New Roman" panose="02020603050405020304" pitchFamily="18" charset="0"/>
              </a:rPr>
              <a:t>ζ</a:t>
            </a:r>
            <a:r>
              <a:rPr lang="en-US" altLang="zh-CN" sz="1800" i="1" dirty="0">
                <a:latin typeface="Times New Roman" panose="02020603050405020304" pitchFamily="18" charset="0"/>
                <a:cs typeface="Times New Roman" panose="02020603050405020304" pitchFamily="18" charset="0"/>
              </a:rPr>
              <a:t> </a:t>
            </a:r>
            <a:r>
              <a:rPr lang="zh-CN" altLang="en-US" sz="1800" dirty="0"/>
              <a:t>等于</a:t>
            </a:r>
            <a:r>
              <a:rPr lang="en-US" altLang="zh-CN" sz="1800" dirty="0"/>
              <a:t>0.7</a:t>
            </a:r>
            <a:r>
              <a:rPr lang="zh-CN" altLang="en-US" sz="1800" dirty="0"/>
              <a:t>左右以获得稳定性与快速性的平衡</a:t>
            </a:r>
            <a:endParaRPr lang="en-US" altLang="zh-CN" sz="1800" dirty="0"/>
          </a:p>
          <a:p>
            <a:pPr>
              <a:lnSpc>
                <a:spcPct val="150000"/>
              </a:lnSpc>
              <a:spcBef>
                <a:spcPts val="600"/>
              </a:spcBef>
            </a:pPr>
            <a:r>
              <a:rPr lang="zh-CN" altLang="en-US" sz="1600" dirty="0">
                <a:solidFill>
                  <a:schemeClr val="tx1">
                    <a:lumMod val="95000"/>
                    <a:lumOff val="5000"/>
                  </a:schemeClr>
                </a:solidFill>
                <a:latin typeface="华文细黑" panose="02010600040101010101" pitchFamily="2" charset="-122"/>
              </a:rPr>
              <a:t>注：理论上自然频率与阻尼因子只能针对二阶系统，但由于二阶锁相环是研究最透彻的锁相环，所以常常借用这两个参数来分析高阶锁相环。</a:t>
            </a:r>
          </a:p>
        </p:txBody>
      </p:sp>
    </p:spTree>
    <p:extLst>
      <p:ext uri="{BB962C8B-B14F-4D97-AF65-F5344CB8AC3E}">
        <p14:creationId xmlns:p14="http://schemas.microsoft.com/office/powerpoint/2010/main" val="16483003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15</a:t>
            </a:fld>
            <a:endParaRPr lang="en-US" altLang="zh-CN">
              <a:solidFill>
                <a:srgbClr val="FFFFFF"/>
              </a:solidFill>
            </a:endParaRPr>
          </a:p>
        </p:txBody>
      </p:sp>
      <p:sp>
        <p:nvSpPr>
          <p:cNvPr id="5" name="文本框 4"/>
          <p:cNvSpPr txBox="1"/>
          <p:nvPr/>
        </p:nvSpPr>
        <p:spPr>
          <a:xfrm>
            <a:off x="512599" y="368792"/>
            <a:ext cx="11393714" cy="3462486"/>
          </a:xfrm>
          <a:prstGeom prst="rect">
            <a:avLst/>
          </a:prstGeom>
          <a:noFill/>
        </p:spPr>
        <p:txBody>
          <a:bodyPr wrap="square" rtlCol="0">
            <a:spAutoFit/>
          </a:bodyPr>
          <a:lstStyle/>
          <a:p>
            <a:pPr marL="342900" indent="-342900">
              <a:lnSpc>
                <a:spcPct val="150000"/>
              </a:lnSpc>
              <a:buFont typeface="Wingdings" panose="05000000000000000000" pitchFamily="2" charset="2"/>
              <a:buChar char="u"/>
            </a:pPr>
            <a:r>
              <a:rPr lang="zh-CN" altLang="en-US" dirty="0">
                <a:solidFill>
                  <a:srgbClr val="FF0000"/>
                </a:solidFill>
              </a:rPr>
              <a:t>锁相环由锁定状态进入失锁的瞬态过程</a:t>
            </a:r>
            <a:endParaRPr lang="en-US" altLang="zh-CN" dirty="0">
              <a:solidFill>
                <a:srgbClr val="FF0000"/>
              </a:solidFill>
            </a:endParaRPr>
          </a:p>
          <a:p>
            <a:pPr marL="342900" indent="-342900">
              <a:lnSpc>
                <a:spcPct val="150000"/>
              </a:lnSpc>
              <a:buFont typeface="Arial" panose="020B0604020202020204" pitchFamily="34" charset="0"/>
              <a:buChar char="•"/>
            </a:pPr>
            <a:r>
              <a:rPr lang="zh-CN" altLang="en-US" sz="1800" dirty="0"/>
              <a:t>处于正常锁定状态的锁相环，输入信号的频率变化后，输出信号的频率将保持与输入相同（相位可能发生变化）。然而，当输入信号的频率变化过大或相位变化的速率过高，锁相环也可能从锁定状态进入失锁状态</a:t>
            </a:r>
            <a:endParaRPr lang="en-US" altLang="zh-CN" sz="1800" dirty="0"/>
          </a:p>
          <a:p>
            <a:pPr marL="342900" indent="-342900">
              <a:lnSpc>
                <a:spcPct val="150000"/>
              </a:lnSpc>
              <a:buFont typeface="Arial" panose="020B0604020202020204" pitchFamily="34" charset="0"/>
              <a:buChar char="•"/>
            </a:pPr>
            <a:r>
              <a:rPr lang="zh-CN" altLang="en-US" sz="1800" dirty="0"/>
              <a:t>当输入信号频率以缓慢的速率变化时，输出信号能够跟踪输入信号频率变化的频率范围，称为锁相环的</a:t>
            </a:r>
            <a:r>
              <a:rPr lang="zh-CN" altLang="en-US" sz="1800" dirty="0">
                <a:solidFill>
                  <a:srgbClr val="FF0000"/>
                </a:solidFill>
              </a:rPr>
              <a:t>同步范围</a:t>
            </a:r>
            <a:r>
              <a:rPr lang="zh-CN" altLang="en-US" sz="1800" dirty="0"/>
              <a:t>（或称为保持范围）</a:t>
            </a:r>
            <a:endParaRPr lang="en-US" altLang="zh-CN" sz="1800" dirty="0"/>
          </a:p>
          <a:p>
            <a:pPr marL="342900" indent="-342900">
              <a:lnSpc>
                <a:spcPct val="150000"/>
              </a:lnSpc>
              <a:buFont typeface="Arial" panose="020B0604020202020204" pitchFamily="34" charset="0"/>
              <a:buChar char="•"/>
            </a:pPr>
            <a:r>
              <a:rPr lang="zh-CN" altLang="en-US" sz="1800" dirty="0"/>
              <a:t>当输入信号频率快速变化时，输出信号还能继续与输入保持频率同步的范围，称为锁相环的</a:t>
            </a:r>
            <a:r>
              <a:rPr lang="zh-CN" altLang="en-US" sz="1800" dirty="0">
                <a:solidFill>
                  <a:srgbClr val="FF0000"/>
                </a:solidFill>
              </a:rPr>
              <a:t>失锁范围</a:t>
            </a:r>
            <a:r>
              <a:rPr lang="zh-CN" altLang="en-US" sz="1800" dirty="0"/>
              <a:t>（或称为拉出范围），它小于同步范围</a:t>
            </a:r>
            <a:endParaRPr lang="en-US" altLang="zh-CN" sz="1800" dirty="0"/>
          </a:p>
          <a:p>
            <a:pPr marL="342900" indent="-342900">
              <a:lnSpc>
                <a:spcPct val="150000"/>
              </a:lnSpc>
              <a:buFont typeface="Arial" panose="020B0604020202020204" pitchFamily="34" charset="0"/>
              <a:buChar char="•"/>
            </a:pPr>
            <a:r>
              <a:rPr lang="zh-CN" altLang="en-US" sz="1800" dirty="0"/>
              <a:t>上述两个范围的大小与采用何种鉴相器有关，也与锁相环的闭环参数有关</a:t>
            </a:r>
          </a:p>
        </p:txBody>
      </p:sp>
      <p:graphicFrame>
        <p:nvGraphicFramePr>
          <p:cNvPr id="6" name="表格 5"/>
          <p:cNvGraphicFramePr>
            <a:graphicFrameLocks noGrp="1"/>
          </p:cNvGraphicFramePr>
          <p:nvPr>
            <p:extLst>
              <p:ext uri="{D42A27DB-BD31-4B8C-83A1-F6EECF244321}">
                <p14:modId xmlns:p14="http://schemas.microsoft.com/office/powerpoint/2010/main" val="4180184806"/>
              </p:ext>
            </p:extLst>
          </p:nvPr>
        </p:nvGraphicFramePr>
        <p:xfrm>
          <a:off x="1976702" y="3985728"/>
          <a:ext cx="7919170" cy="1934506"/>
        </p:xfrm>
        <a:graphic>
          <a:graphicData uri="http://schemas.openxmlformats.org/drawingml/2006/table">
            <a:tbl>
              <a:tblPr firstRow="1" firstCol="1" lastCol="1" bandRow="1" bandCol="1">
                <a:tableStyleId>{69012ECD-51FC-41F1-AA8D-1B2483CD663E}</a:tableStyleId>
              </a:tblPr>
              <a:tblGrid>
                <a:gridCol w="986805">
                  <a:extLst>
                    <a:ext uri="{9D8B030D-6E8A-4147-A177-3AD203B41FA5}">
                      <a16:colId xmlns:a16="http://schemas.microsoft.com/office/drawing/2014/main" val="3244702175"/>
                    </a:ext>
                  </a:extLst>
                </a:gridCol>
                <a:gridCol w="2307737">
                  <a:extLst>
                    <a:ext uri="{9D8B030D-6E8A-4147-A177-3AD203B41FA5}">
                      <a16:colId xmlns:a16="http://schemas.microsoft.com/office/drawing/2014/main" val="3344873776"/>
                    </a:ext>
                  </a:extLst>
                </a:gridCol>
                <a:gridCol w="1420938">
                  <a:extLst>
                    <a:ext uri="{9D8B030D-6E8A-4147-A177-3AD203B41FA5}">
                      <a16:colId xmlns:a16="http://schemas.microsoft.com/office/drawing/2014/main" val="2526096691"/>
                    </a:ext>
                  </a:extLst>
                </a:gridCol>
                <a:gridCol w="1822222">
                  <a:extLst>
                    <a:ext uri="{9D8B030D-6E8A-4147-A177-3AD203B41FA5}">
                      <a16:colId xmlns:a16="http://schemas.microsoft.com/office/drawing/2014/main" val="3851541045"/>
                    </a:ext>
                  </a:extLst>
                </a:gridCol>
                <a:gridCol w="1381468">
                  <a:extLst>
                    <a:ext uri="{9D8B030D-6E8A-4147-A177-3AD203B41FA5}">
                      <a16:colId xmlns:a16="http://schemas.microsoft.com/office/drawing/2014/main" val="2429176149"/>
                    </a:ext>
                  </a:extLst>
                </a:gridCol>
              </a:tblGrid>
              <a:tr h="377850">
                <a:tc>
                  <a:txBody>
                    <a:bodyPr/>
                    <a:lstStyle/>
                    <a:p>
                      <a:pPr marL="63500" indent="-127000" algn="ctr">
                        <a:lnSpc>
                          <a:spcPct val="115000"/>
                        </a:lnSpc>
                        <a:spcAft>
                          <a:spcPts val="0"/>
                        </a:spcAft>
                      </a:pPr>
                      <a:r>
                        <a:rPr lang="en-US" sz="1600" kern="100" dirty="0">
                          <a:effectLst/>
                        </a:rPr>
                        <a:t> </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zh-CN" sz="1600" kern="100" dirty="0" smtClean="0">
                          <a:effectLst/>
                        </a:rPr>
                        <a:t>乘法器</a:t>
                      </a:r>
                      <a:endParaRPr lang="zh-CN" altLang="zh-CN" sz="20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zh-CN" sz="1600" kern="100" dirty="0" smtClean="0">
                          <a:effectLst/>
                        </a:rPr>
                        <a:t>异或门</a:t>
                      </a:r>
                      <a:endParaRPr lang="zh-CN" altLang="zh-CN" sz="20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zh-CN" sz="1600" kern="100" dirty="0">
                          <a:effectLst/>
                        </a:rPr>
                        <a:t>鉴相</a:t>
                      </a:r>
                      <a:r>
                        <a:rPr lang="en-US" sz="1600" kern="100" dirty="0">
                          <a:effectLst/>
                        </a:rPr>
                        <a:t>-</a:t>
                      </a:r>
                      <a:r>
                        <a:rPr lang="zh-CN" sz="1600" kern="100" dirty="0">
                          <a:effectLst/>
                        </a:rPr>
                        <a:t>鉴频器</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466711961"/>
                  </a:ext>
                </a:extLst>
              </a:tr>
              <a:tr h="484374">
                <a:tc rowSpan="2">
                  <a:txBody>
                    <a:bodyPr/>
                    <a:lstStyle/>
                    <a:p>
                      <a:pPr marL="63500" indent="-127000" algn="ctr">
                        <a:lnSpc>
                          <a:spcPct val="115000"/>
                        </a:lnSpc>
                        <a:spcAft>
                          <a:spcPts val="0"/>
                        </a:spcAft>
                      </a:pPr>
                      <a:r>
                        <a:rPr lang="zh-CN" altLang="en-US" sz="1600" kern="100" dirty="0" smtClean="0">
                          <a:effectLst/>
                        </a:rPr>
                        <a:t>同步</a:t>
                      </a:r>
                      <a:r>
                        <a:rPr lang="zh-CN" sz="1600" kern="100" dirty="0" smtClean="0">
                          <a:effectLst/>
                        </a:rPr>
                        <a:t>范围</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zh-CN" sz="1600" kern="100" dirty="0" smtClean="0">
                          <a:effectLst/>
                          <a:latin typeface="宋体" panose="02010600030101010101" pitchFamily="2" charset="-122"/>
                          <a:ea typeface="宋体" panose="02010600030101010101" pitchFamily="2" charset="-122"/>
                        </a:rPr>
                        <a:t>超前</a:t>
                      </a:r>
                      <a:r>
                        <a:rPr lang="en-US" altLang="zh-CN" sz="1600" kern="100" dirty="0" smtClean="0">
                          <a:effectLst/>
                          <a:latin typeface="宋体" panose="02010600030101010101" pitchFamily="2" charset="-122"/>
                          <a:ea typeface="宋体" panose="02010600030101010101" pitchFamily="2" charset="-122"/>
                        </a:rPr>
                        <a:t>-</a:t>
                      </a:r>
                      <a:r>
                        <a:rPr lang="zh-CN" altLang="zh-CN" sz="1600" kern="100" dirty="0" smtClean="0">
                          <a:effectLst/>
                          <a:latin typeface="宋体" panose="02010600030101010101" pitchFamily="2" charset="-122"/>
                          <a:ea typeface="宋体" panose="02010600030101010101" pitchFamily="2" charset="-122"/>
                        </a:rPr>
                        <a:t>滞后</a:t>
                      </a:r>
                      <a:r>
                        <a:rPr lang="zh-CN" altLang="en-US" sz="1600" kern="100" dirty="0" smtClean="0">
                          <a:effectLst/>
                          <a:latin typeface="宋体" panose="02010600030101010101" pitchFamily="2" charset="-122"/>
                          <a:ea typeface="宋体" panose="02010600030101010101" pitchFamily="2" charset="-122"/>
                        </a:rPr>
                        <a:t>型环路滤波器</a:t>
                      </a:r>
                      <a:endParaRPr lang="en-US" sz="16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endParaRPr lang="zh-CN" altLang="en-US" dirty="0"/>
                    </a:p>
                  </a:txBody>
                  <a:tcPr marL="68580" marR="68580" marT="0" marB="0" anchor="ctr"/>
                </a:tc>
                <a:tc>
                  <a:txBody>
                    <a:bodyPr/>
                    <a:lstStyle/>
                    <a:p>
                      <a:endParaRPr lang="zh-CN" altLang="en-US"/>
                    </a:p>
                  </a:txBody>
                  <a:tcPr marL="68580" marR="68580" marT="0" marB="0" anchor="ctr"/>
                </a:tc>
                <a:tc>
                  <a:txBody>
                    <a:bodyPr/>
                    <a:lstStyle/>
                    <a:p>
                      <a:endParaRPr lang="zh-CN" altLang="en-US"/>
                    </a:p>
                  </a:txBody>
                  <a:tcPr marL="68580" marR="68580" marT="0" marB="0" anchor="ctr"/>
                </a:tc>
                <a:extLst>
                  <a:ext uri="{0D108BD9-81ED-4DB2-BD59-A6C34878D82A}">
                    <a16:rowId xmlns:a16="http://schemas.microsoft.com/office/drawing/2014/main" val="1344693505"/>
                  </a:ext>
                </a:extLst>
              </a:tr>
              <a:tr h="394705">
                <a:tc vMerge="1">
                  <a:txBody>
                    <a:bodyPr/>
                    <a:lstStyle/>
                    <a:p>
                      <a:pPr marL="63500" indent="-127000" algn="ctr">
                        <a:lnSpc>
                          <a:spcPct val="115000"/>
                        </a:lnSpc>
                        <a:spcAft>
                          <a:spcPts val="0"/>
                        </a:spcAft>
                      </a:pP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zh-CN" altLang="en-US" sz="1600" kern="100" dirty="0" smtClean="0">
                          <a:effectLst/>
                          <a:latin typeface="Times New Roman" panose="02020603050405020304" pitchFamily="18" charset="0"/>
                          <a:ea typeface="宋体" panose="02010600030101010101" pitchFamily="2" charset="-122"/>
                          <a:cs typeface="Times New Roman" panose="02020603050405020304" pitchFamily="18" charset="0"/>
                        </a:rPr>
                        <a:t>比例积分型环路滤波器</a:t>
                      </a:r>
                      <a:endParaRPr lang="en-US"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1600" b="0" kern="100" dirty="0" smtClean="0">
                          <a:effectLst/>
                        </a:rPr>
                        <a:t>取决于</a:t>
                      </a:r>
                      <a:r>
                        <a:rPr lang="en-US" altLang="zh-CN" sz="1600" b="0" kern="100" dirty="0" smtClean="0">
                          <a:effectLst/>
                        </a:rPr>
                        <a:t>VCO</a:t>
                      </a:r>
                      <a:r>
                        <a:rPr lang="zh-CN" altLang="zh-CN" sz="1600" b="0" kern="100" dirty="0" smtClean="0">
                          <a:effectLst/>
                        </a:rPr>
                        <a:t>的</a:t>
                      </a:r>
                      <a:r>
                        <a:rPr lang="zh-CN" altLang="en-US" sz="1600" b="0" kern="100" dirty="0" smtClean="0">
                          <a:effectLst/>
                        </a:rPr>
                        <a:t>可控</a:t>
                      </a:r>
                      <a:r>
                        <a:rPr lang="zh-CN" altLang="zh-CN" sz="1600" b="0" kern="100" dirty="0" smtClean="0">
                          <a:effectLst/>
                        </a:rPr>
                        <a:t>频率范围</a:t>
                      </a:r>
                      <a:endParaRPr lang="zh-CN" altLang="zh-CN" sz="2000" b="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2898874"/>
                  </a:ext>
                </a:extLst>
              </a:tr>
              <a:tr h="677577">
                <a:tc>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en-US" sz="1600" kern="100" dirty="0" smtClean="0">
                          <a:effectLst/>
                        </a:rPr>
                        <a:t>失锁</a:t>
                      </a:r>
                      <a:r>
                        <a:rPr lang="zh-CN" altLang="zh-CN" sz="1600" kern="100" dirty="0" smtClean="0">
                          <a:effectLst/>
                        </a:rPr>
                        <a:t>范围</a:t>
                      </a:r>
                      <a:endParaRPr lang="zh-CN" altLang="zh-CN" sz="20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accent5">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zh-CN" altLang="en-US" sz="1600" kern="100" dirty="0" smtClean="0">
                          <a:effectLst/>
                          <a:latin typeface="Times New Roman" panose="02020603050405020304" pitchFamily="18" charset="0"/>
                          <a:ea typeface="宋体" panose="02010600030101010101" pitchFamily="2" charset="-122"/>
                          <a:cs typeface="Times New Roman" panose="02020603050405020304" pitchFamily="18" charset="0"/>
                        </a:rPr>
                        <a:t>与环路滤波器类型无关</a:t>
                      </a:r>
                      <a:endParaRPr lang="en-US"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5">
                          <a:lumMod val="75000"/>
                        </a:schemeClr>
                      </a:solidFill>
                      <a:prstDash val="solid"/>
                      <a:round/>
                      <a:headEnd type="none" w="med" len="med"/>
                      <a:tailEnd type="none" w="med" len="med"/>
                    </a:lnL>
                  </a:tcPr>
                </a:tc>
                <a:tc>
                  <a:txBody>
                    <a:bodyPr/>
                    <a:lstStyle/>
                    <a:p>
                      <a:endParaRPr lang="zh-CN" altLang="en-US" dirty="0"/>
                    </a:p>
                  </a:txBody>
                  <a:tcPr marL="68580" marR="68580" marT="0" marB="0" anchor="ctr"/>
                </a:tc>
                <a:tc>
                  <a:txBody>
                    <a:bodyPr/>
                    <a:lstStyle/>
                    <a:p>
                      <a:endParaRPr lang="zh-CN" altLang="en-US" dirty="0"/>
                    </a:p>
                  </a:txBody>
                  <a:tcPr marL="68580" marR="68580" marT="0" marB="0" anchor="ctr"/>
                </a:tc>
                <a:tc>
                  <a:txBody>
                    <a:bodyPr/>
                    <a:lstStyle/>
                    <a:p>
                      <a:endParaRPr lang="zh-CN" altLang="en-US" dirty="0"/>
                    </a:p>
                  </a:txBody>
                  <a:tcPr marL="68580" marR="68580" marT="0" marB="0" anchor="ctr"/>
                </a:tc>
                <a:extLst>
                  <a:ext uri="{0D108BD9-81ED-4DB2-BD59-A6C34878D82A}">
                    <a16:rowId xmlns:a16="http://schemas.microsoft.com/office/drawing/2014/main" val="2937190528"/>
                  </a:ext>
                </a:extLst>
              </a:tr>
            </a:tbl>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803565511"/>
              </p:ext>
            </p:extLst>
          </p:nvPr>
        </p:nvGraphicFramePr>
        <p:xfrm>
          <a:off x="5734842" y="4436417"/>
          <a:ext cx="615400" cy="346162"/>
        </p:xfrm>
        <a:graphic>
          <a:graphicData uri="http://schemas.openxmlformats.org/presentationml/2006/ole">
            <mc:AlternateContent xmlns:mc="http://schemas.openxmlformats.org/markup-compatibility/2006">
              <mc:Choice xmlns:v="urn:schemas-microsoft-com:vml" Requires="v">
                <p:oleObj spid="_x0000_s30950" name="Equation" r:id="rId3" imgW="304404" imgH="177569" progId="Equation.DSMT4">
                  <p:embed/>
                </p:oleObj>
              </mc:Choice>
              <mc:Fallback>
                <p:oleObj name="Equation" r:id="rId3" imgW="304404" imgH="177569" progId="Equation.DSMT4">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34842" y="4436417"/>
                        <a:ext cx="615400" cy="346162"/>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612702034"/>
              </p:ext>
            </p:extLst>
          </p:nvPr>
        </p:nvGraphicFramePr>
        <p:xfrm>
          <a:off x="7137710" y="4318419"/>
          <a:ext cx="745166" cy="582161"/>
        </p:xfrm>
        <a:graphic>
          <a:graphicData uri="http://schemas.openxmlformats.org/presentationml/2006/ole">
            <mc:AlternateContent xmlns:mc="http://schemas.openxmlformats.org/markup-compatibility/2006">
              <mc:Choice xmlns:v="urn:schemas-microsoft-com:vml" Requires="v">
                <p:oleObj spid="_x0000_s30951" name="Equation" r:id="rId5" imgW="406048" imgH="317225" progId="Equation.DSMT4">
                  <p:embed/>
                </p:oleObj>
              </mc:Choice>
              <mc:Fallback>
                <p:oleObj name="Equation" r:id="rId5" imgW="406048" imgH="317225" progId="Equation.DSMT4">
                  <p:embed/>
                  <p:pic>
                    <p:nvPicPr>
                      <p:cNvPr id="8"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37710" y="4318419"/>
                        <a:ext cx="745166" cy="582161"/>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618669429"/>
              </p:ext>
            </p:extLst>
          </p:nvPr>
        </p:nvGraphicFramePr>
        <p:xfrm>
          <a:off x="8658696" y="4495474"/>
          <a:ext cx="875363" cy="347570"/>
        </p:xfrm>
        <a:graphic>
          <a:graphicData uri="http://schemas.openxmlformats.org/presentationml/2006/ole">
            <mc:AlternateContent xmlns:mc="http://schemas.openxmlformats.org/markup-compatibility/2006">
              <mc:Choice xmlns:v="urn:schemas-microsoft-com:vml" Requires="v">
                <p:oleObj spid="_x0000_s30952" name="Equation" r:id="rId7" imgW="431425" imgH="177646" progId="Equation.DSMT4">
                  <p:embed/>
                </p:oleObj>
              </mc:Choice>
              <mc:Fallback>
                <p:oleObj name="Equation" r:id="rId7" imgW="431425" imgH="177646" progId="Equation.DSMT4">
                  <p:embed/>
                  <p:pic>
                    <p:nvPicPr>
                      <p:cNvPr id="10" name="对象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58696" y="4495474"/>
                        <a:ext cx="875363" cy="347570"/>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867787030"/>
              </p:ext>
            </p:extLst>
          </p:nvPr>
        </p:nvGraphicFramePr>
        <p:xfrm>
          <a:off x="5288335" y="5443673"/>
          <a:ext cx="1361210" cy="359565"/>
        </p:xfrm>
        <a:graphic>
          <a:graphicData uri="http://schemas.openxmlformats.org/presentationml/2006/ole">
            <mc:AlternateContent xmlns:mc="http://schemas.openxmlformats.org/markup-compatibility/2006">
              <mc:Choice xmlns:v="urn:schemas-microsoft-com:vml" Requires="v">
                <p:oleObj spid="_x0000_s30953" name="Equation" r:id="rId9" imgW="685502" imgH="177723" progId="Equation.DSMT4">
                  <p:embed/>
                </p:oleObj>
              </mc:Choice>
              <mc:Fallback>
                <p:oleObj name="Equation" r:id="rId9" imgW="685502" imgH="177723" progId="Equation.DSMT4">
                  <p:embed/>
                  <p:pic>
                    <p:nvPicPr>
                      <p:cNvPr id="18" name="对象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88335" y="5443673"/>
                        <a:ext cx="1361210" cy="359565"/>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6378699"/>
              </p:ext>
            </p:extLst>
          </p:nvPr>
        </p:nvGraphicFramePr>
        <p:xfrm>
          <a:off x="6718496" y="5443673"/>
          <a:ext cx="1736266" cy="359565"/>
        </p:xfrm>
        <a:graphic>
          <a:graphicData uri="http://schemas.openxmlformats.org/presentationml/2006/ole">
            <mc:AlternateContent xmlns:mc="http://schemas.openxmlformats.org/markup-compatibility/2006">
              <mc:Choice xmlns:v="urn:schemas-microsoft-com:vml" Requires="v">
                <p:oleObj spid="_x0000_s30954" name="Equation" r:id="rId11" imgW="863280" imgH="177480" progId="Equation.DSMT4">
                  <p:embed/>
                </p:oleObj>
              </mc:Choice>
              <mc:Fallback>
                <p:oleObj name="Equation" r:id="rId11" imgW="863280" imgH="177480" progId="Equation.DSMT4">
                  <p:embed/>
                  <p:pic>
                    <p:nvPicPr>
                      <p:cNvPr id="19" name="对象 18"/>
                      <p:cNvPicPr>
                        <a:picLocks noChangeAspect="1" noChangeArrowheads="1"/>
                      </p:cNvPicPr>
                      <p:nvPr/>
                    </p:nvPicPr>
                    <p:blipFill>
                      <a:blip r:embed="rId12"/>
                      <a:srcRect/>
                      <a:stretch>
                        <a:fillRect/>
                      </a:stretch>
                    </p:blipFill>
                    <p:spPr bwMode="auto">
                      <a:xfrm>
                        <a:off x="6718496" y="5443673"/>
                        <a:ext cx="1736266" cy="359565"/>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674796777"/>
              </p:ext>
            </p:extLst>
          </p:nvPr>
        </p:nvGraphicFramePr>
        <p:xfrm>
          <a:off x="8592665" y="5250944"/>
          <a:ext cx="1007422" cy="669290"/>
        </p:xfrm>
        <a:graphic>
          <a:graphicData uri="http://schemas.openxmlformats.org/presentationml/2006/ole">
            <mc:AlternateContent xmlns:mc="http://schemas.openxmlformats.org/markup-compatibility/2006">
              <mc:Choice xmlns:v="urn:schemas-microsoft-com:vml" Requires="v">
                <p:oleObj spid="_x0000_s30955" name="Equation" r:id="rId13" imgW="469696" imgH="342751" progId="Equation.DSMT4">
                  <p:embed/>
                </p:oleObj>
              </mc:Choice>
              <mc:Fallback>
                <p:oleObj name="Equation" r:id="rId13" imgW="469696" imgH="342751" progId="Equation.DSMT4">
                  <p:embed/>
                  <p:pic>
                    <p:nvPicPr>
                      <p:cNvPr id="21" name="对象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592665" y="5250944"/>
                        <a:ext cx="1007422" cy="669290"/>
                      </a:xfrm>
                      <a:prstGeom prst="rect">
                        <a:avLst/>
                      </a:prstGeom>
                      <a:noFill/>
                    </p:spPr>
                  </p:pic>
                </p:oleObj>
              </mc:Fallback>
            </mc:AlternateContent>
          </a:graphicData>
        </a:graphic>
      </p:graphicFrame>
      <p:sp>
        <p:nvSpPr>
          <p:cNvPr id="13" name="文本框 12"/>
          <p:cNvSpPr txBox="1"/>
          <p:nvPr/>
        </p:nvSpPr>
        <p:spPr>
          <a:xfrm>
            <a:off x="2047820" y="5989580"/>
            <a:ext cx="7552267" cy="338554"/>
          </a:xfrm>
          <a:prstGeom prst="rect">
            <a:avLst/>
          </a:prstGeom>
          <a:noFill/>
        </p:spPr>
        <p:txBody>
          <a:bodyPr wrap="square" rtlCol="0">
            <a:spAutoFit/>
          </a:bodyPr>
          <a:lstStyle/>
          <a:p>
            <a:r>
              <a:rPr lang="zh-CN" altLang="en-US" sz="1600" dirty="0"/>
              <a:t>表中所有频率范围公式均假定</a:t>
            </a:r>
            <a:r>
              <a:rPr lang="en-US" altLang="zh-CN" sz="1600" dirty="0"/>
              <a:t>VCO</a:t>
            </a:r>
            <a:r>
              <a:rPr lang="zh-CN" altLang="en-US" sz="1600" dirty="0"/>
              <a:t>的可控频率范围大于该公式得到的结果</a:t>
            </a:r>
          </a:p>
        </p:txBody>
      </p:sp>
    </p:spTree>
    <p:extLst>
      <p:ext uri="{BB962C8B-B14F-4D97-AF65-F5344CB8AC3E}">
        <p14:creationId xmlns:p14="http://schemas.microsoft.com/office/powerpoint/2010/main" val="3208685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16</a:t>
            </a:fld>
            <a:endParaRPr lang="en-US" altLang="zh-CN">
              <a:solidFill>
                <a:srgbClr val="FFFFFF"/>
              </a:solidFill>
            </a:endParaRPr>
          </a:p>
        </p:txBody>
      </p:sp>
      <p:sp>
        <p:nvSpPr>
          <p:cNvPr id="5" name="文本框 4"/>
          <p:cNvSpPr txBox="1"/>
          <p:nvPr/>
        </p:nvSpPr>
        <p:spPr>
          <a:xfrm>
            <a:off x="428170" y="430427"/>
            <a:ext cx="11444515" cy="3877985"/>
          </a:xfrm>
          <a:prstGeom prst="rect">
            <a:avLst/>
          </a:prstGeom>
          <a:noFill/>
        </p:spPr>
        <p:txBody>
          <a:bodyPr wrap="square" rtlCol="0">
            <a:spAutoFit/>
          </a:bodyPr>
          <a:lstStyle/>
          <a:p>
            <a:pPr marL="342900" indent="-342900">
              <a:lnSpc>
                <a:spcPct val="150000"/>
              </a:lnSpc>
              <a:buFont typeface="Wingdings" panose="05000000000000000000" pitchFamily="2" charset="2"/>
              <a:buChar char="u"/>
            </a:pPr>
            <a:r>
              <a:rPr lang="zh-CN" altLang="en-US" dirty="0">
                <a:solidFill>
                  <a:srgbClr val="FF0000"/>
                </a:solidFill>
              </a:rPr>
              <a:t>锁相环由失锁进入锁定的瞬态过程</a:t>
            </a:r>
            <a:endParaRPr lang="en-US" altLang="zh-CN" dirty="0">
              <a:solidFill>
                <a:srgbClr val="FF0000"/>
              </a:solidFill>
            </a:endParaRPr>
          </a:p>
          <a:p>
            <a:pPr marL="285750" indent="-285750">
              <a:lnSpc>
                <a:spcPct val="150000"/>
              </a:lnSpc>
              <a:buFont typeface="Arial" panose="020B0604020202020204" pitchFamily="34" charset="0"/>
              <a:buChar char="•"/>
            </a:pPr>
            <a:r>
              <a:rPr lang="zh-CN" altLang="en-US" sz="1800" dirty="0"/>
              <a:t>处于失锁状态的锁相环，由于锁相环的频率牵引作用，逐步缩小频差，最终进入锁定。这个过程为锁相环的捕捉过程。捕捉过程中锁相环的输出频率可能产生周期性的来回振荡，一个来回称为捕捉周期。</a:t>
            </a:r>
            <a:endParaRPr lang="en-US" altLang="zh-CN" sz="1800" dirty="0"/>
          </a:p>
          <a:p>
            <a:pPr marL="285750" indent="-285750">
              <a:lnSpc>
                <a:spcPct val="150000"/>
              </a:lnSpc>
              <a:buFont typeface="Arial" panose="020B0604020202020204" pitchFamily="34" charset="0"/>
              <a:buChar char="•"/>
            </a:pPr>
            <a:r>
              <a:rPr lang="zh-CN" altLang="en-US" sz="1800" dirty="0"/>
              <a:t>捕捉过程与鉴相器输入端的两个信号的初始频差有关，也与锁相环采用的鉴相器类型、环路滤波器类型有关</a:t>
            </a:r>
            <a:endParaRPr lang="en-US" altLang="zh-CN" sz="1800" dirty="0"/>
          </a:p>
          <a:p>
            <a:pPr marL="285750" indent="-285750">
              <a:lnSpc>
                <a:spcPct val="150000"/>
              </a:lnSpc>
              <a:buFont typeface="Arial" panose="020B0604020202020204" pitchFamily="34" charset="0"/>
              <a:buChar char="•"/>
            </a:pPr>
            <a:r>
              <a:rPr lang="zh-CN" altLang="en-US" sz="1800" dirty="0"/>
              <a:t>当初始频差较大时，锁相环要经过多个捕捉周期才能完成锁定，捕捉时间较长，对应的参数称为</a:t>
            </a:r>
            <a:r>
              <a:rPr lang="zh-CN" altLang="en-US" sz="1800" dirty="0">
                <a:solidFill>
                  <a:srgbClr val="FF0000"/>
                </a:solidFill>
              </a:rPr>
              <a:t>捕捉范围</a:t>
            </a:r>
            <a:r>
              <a:rPr lang="zh-CN" altLang="en-US" sz="1800" dirty="0"/>
              <a:t>（或称为引入范围）与</a:t>
            </a:r>
            <a:r>
              <a:rPr lang="zh-CN" altLang="en-US" sz="1800" dirty="0">
                <a:solidFill>
                  <a:srgbClr val="FF0000"/>
                </a:solidFill>
              </a:rPr>
              <a:t>捕捉时间</a:t>
            </a:r>
            <a:r>
              <a:rPr lang="zh-CN" altLang="en-US" sz="1800" dirty="0"/>
              <a:t>。若初始频差大于捕捉范围，锁相环将无法进入锁定状态</a:t>
            </a:r>
            <a:endParaRPr lang="en-US" altLang="zh-CN" sz="1800" dirty="0"/>
          </a:p>
          <a:p>
            <a:pPr marL="285750" indent="-285750">
              <a:lnSpc>
                <a:spcPct val="150000"/>
              </a:lnSpc>
              <a:buFont typeface="Arial" panose="020B0604020202020204" pitchFamily="34" charset="0"/>
              <a:buChar char="•"/>
            </a:pPr>
            <a:r>
              <a:rPr lang="zh-CN" altLang="en-US" sz="1800" dirty="0"/>
              <a:t>当初始频差较小时，锁相环的捕捉时间很短，捕捉过程控制在一个捕捉周期之内，也就是锁相环的输出频率不会发生来回振荡（锁相环并未进入实际意义上的失锁状态，是锁相环稳定工作时常见的情况）。满足这个捕捉过程的最大初始频差称为</a:t>
            </a:r>
            <a:r>
              <a:rPr lang="zh-CN" altLang="en-US" sz="1800" dirty="0">
                <a:solidFill>
                  <a:srgbClr val="FF0000"/>
                </a:solidFill>
              </a:rPr>
              <a:t>锁定范围</a:t>
            </a:r>
            <a:r>
              <a:rPr lang="zh-CN" altLang="en-US" sz="1800" dirty="0"/>
              <a:t>，对应的捕捉时间称为</a:t>
            </a:r>
            <a:r>
              <a:rPr lang="zh-CN" altLang="en-US" sz="1800" dirty="0">
                <a:solidFill>
                  <a:srgbClr val="FF0000"/>
                </a:solidFill>
              </a:rPr>
              <a:t>锁定时间</a:t>
            </a:r>
            <a:endParaRPr lang="en-US" altLang="zh-CN" sz="1800" dirty="0"/>
          </a:p>
        </p:txBody>
      </p:sp>
    </p:spTree>
    <p:extLst>
      <p:ext uri="{BB962C8B-B14F-4D97-AF65-F5344CB8AC3E}">
        <p14:creationId xmlns:p14="http://schemas.microsoft.com/office/powerpoint/2010/main" val="24193872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17</a:t>
            </a:fld>
            <a:endParaRPr lang="en-US" altLang="zh-CN">
              <a:solidFill>
                <a:srgbClr val="FFFFFF"/>
              </a:solidFill>
            </a:endParaRPr>
          </a:p>
        </p:txBody>
      </p:sp>
      <p:graphicFrame>
        <p:nvGraphicFramePr>
          <p:cNvPr id="6" name="表格 5"/>
          <p:cNvGraphicFramePr>
            <a:graphicFrameLocks noGrp="1"/>
          </p:cNvGraphicFramePr>
          <p:nvPr>
            <p:extLst>
              <p:ext uri="{D42A27DB-BD31-4B8C-83A1-F6EECF244321}">
                <p14:modId xmlns:p14="http://schemas.microsoft.com/office/powerpoint/2010/main" val="3255882417"/>
              </p:ext>
            </p:extLst>
          </p:nvPr>
        </p:nvGraphicFramePr>
        <p:xfrm>
          <a:off x="1884952" y="632409"/>
          <a:ext cx="8401500" cy="4582605"/>
        </p:xfrm>
        <a:graphic>
          <a:graphicData uri="http://schemas.openxmlformats.org/drawingml/2006/table">
            <a:tbl>
              <a:tblPr firstRow="1" firstCol="1" lastCol="1" bandRow="1" bandCol="1">
                <a:tableStyleId>{69012ECD-51FC-41F1-AA8D-1B2483CD663E}</a:tableStyleId>
              </a:tblPr>
              <a:tblGrid>
                <a:gridCol w="989847">
                  <a:extLst>
                    <a:ext uri="{9D8B030D-6E8A-4147-A177-3AD203B41FA5}">
                      <a16:colId xmlns:a16="http://schemas.microsoft.com/office/drawing/2014/main" val="3244702175"/>
                    </a:ext>
                  </a:extLst>
                </a:gridCol>
                <a:gridCol w="1361733">
                  <a:extLst>
                    <a:ext uri="{9D8B030D-6E8A-4147-A177-3AD203B41FA5}">
                      <a16:colId xmlns:a16="http://schemas.microsoft.com/office/drawing/2014/main" val="2529821160"/>
                    </a:ext>
                  </a:extLst>
                </a:gridCol>
                <a:gridCol w="1918674">
                  <a:extLst>
                    <a:ext uri="{9D8B030D-6E8A-4147-A177-3AD203B41FA5}">
                      <a16:colId xmlns:a16="http://schemas.microsoft.com/office/drawing/2014/main" val="2902434667"/>
                    </a:ext>
                  </a:extLst>
                </a:gridCol>
                <a:gridCol w="1690653">
                  <a:extLst>
                    <a:ext uri="{9D8B030D-6E8A-4147-A177-3AD203B41FA5}">
                      <a16:colId xmlns:a16="http://schemas.microsoft.com/office/drawing/2014/main" val="1422124563"/>
                    </a:ext>
                  </a:extLst>
                </a:gridCol>
                <a:gridCol w="2440593">
                  <a:extLst>
                    <a:ext uri="{9D8B030D-6E8A-4147-A177-3AD203B41FA5}">
                      <a16:colId xmlns:a16="http://schemas.microsoft.com/office/drawing/2014/main" val="407878406"/>
                    </a:ext>
                  </a:extLst>
                </a:gridCol>
              </a:tblGrid>
              <a:tr h="377850">
                <a:tc>
                  <a:txBody>
                    <a:bodyPr/>
                    <a:lstStyle/>
                    <a:p>
                      <a:pPr marL="63500" indent="-127000" algn="ctr">
                        <a:lnSpc>
                          <a:spcPct val="115000"/>
                        </a:lnSpc>
                        <a:spcAft>
                          <a:spcPts val="0"/>
                        </a:spcAft>
                      </a:pPr>
                      <a:r>
                        <a:rPr lang="en-US" sz="1600" kern="100" dirty="0">
                          <a:effectLst/>
                        </a:rPr>
                        <a:t> </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zh-CN" sz="1600" kern="100" dirty="0">
                          <a:effectLst/>
                        </a:rPr>
                        <a:t>乘法器</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zh-CN" sz="1600" kern="100" dirty="0">
                          <a:effectLst/>
                        </a:rPr>
                        <a:t>异或门</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zh-CN" sz="1600" kern="100" dirty="0">
                          <a:effectLst/>
                        </a:rPr>
                        <a:t>鉴相</a:t>
                      </a:r>
                      <a:r>
                        <a:rPr lang="en-US" sz="1600" kern="100" dirty="0">
                          <a:effectLst/>
                        </a:rPr>
                        <a:t>-</a:t>
                      </a:r>
                      <a:r>
                        <a:rPr lang="zh-CN" sz="1600" kern="100" dirty="0">
                          <a:effectLst/>
                        </a:rPr>
                        <a:t>鉴频器</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6711961"/>
                  </a:ext>
                </a:extLst>
              </a:tr>
              <a:tr h="529917">
                <a:tc>
                  <a:txBody>
                    <a:bodyPr/>
                    <a:lstStyle/>
                    <a:p>
                      <a:pPr marL="63500" indent="-127000" algn="ctr">
                        <a:lnSpc>
                          <a:spcPct val="115000"/>
                        </a:lnSpc>
                        <a:spcAft>
                          <a:spcPts val="0"/>
                        </a:spcAft>
                      </a:pPr>
                      <a:r>
                        <a:rPr lang="zh-CN" altLang="en-US" sz="1600" kern="100" dirty="0" smtClean="0">
                          <a:effectLst/>
                        </a:rPr>
                        <a:t>锁定</a:t>
                      </a:r>
                      <a:r>
                        <a:rPr lang="zh-CN" sz="1600" kern="100" dirty="0" smtClean="0">
                          <a:effectLst/>
                        </a:rPr>
                        <a:t>范围</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63500" indent="-127000" algn="ctr">
                        <a:lnSpc>
                          <a:spcPct val="115000"/>
                        </a:lnSpc>
                        <a:spcAft>
                          <a:spcPts val="0"/>
                        </a:spcAft>
                      </a:pPr>
                      <a:r>
                        <a:rPr lang="zh-CN" altLang="en-US" sz="1600" kern="100" dirty="0" smtClean="0">
                          <a:effectLst/>
                          <a:latin typeface="Times New Roman" panose="02020603050405020304" pitchFamily="18" charset="0"/>
                          <a:ea typeface="宋体" panose="02010600030101010101" pitchFamily="2" charset="-122"/>
                          <a:cs typeface="Times New Roman" panose="02020603050405020304" pitchFamily="18" charset="0"/>
                        </a:rPr>
                        <a:t>与环路滤波器类型无关</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4693505"/>
                  </a:ext>
                </a:extLst>
              </a:tr>
              <a:tr h="500477">
                <a:tc>
                  <a:txBody>
                    <a:bodyPr/>
                    <a:lstStyle/>
                    <a:p>
                      <a:pPr marL="63500" indent="-127000" algn="ctr">
                        <a:lnSpc>
                          <a:spcPct val="115000"/>
                        </a:lnSpc>
                        <a:spcAft>
                          <a:spcPts val="0"/>
                        </a:spcAft>
                      </a:pPr>
                      <a:r>
                        <a:rPr lang="zh-CN" altLang="en-US" sz="1600" kern="100" dirty="0" smtClean="0">
                          <a:effectLst/>
                        </a:rPr>
                        <a:t>锁定</a:t>
                      </a:r>
                      <a:r>
                        <a:rPr lang="zh-CN" sz="1600" kern="100" dirty="0" smtClean="0">
                          <a:effectLst/>
                        </a:rPr>
                        <a:t>时间</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63500" indent="-127000" algn="ctr">
                        <a:lnSpc>
                          <a:spcPct val="115000"/>
                        </a:lnSpc>
                        <a:spcAft>
                          <a:spcPts val="0"/>
                        </a:spcAft>
                      </a:pP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endParaRPr lang="zh-CN" altLang="en-US"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283162973"/>
                  </a:ext>
                </a:extLst>
              </a:tr>
              <a:tr h="107954">
                <a:tc gridSpan="5">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endParaRPr lang="zh-CN" altLang="zh-CN" sz="105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endParaRPr lang="zh-CN" altLang="zh-CN" sz="20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5">
                          <a:lumMod val="75000"/>
                        </a:schemeClr>
                      </a:solidFill>
                      <a:prstDash val="solid"/>
                      <a:round/>
                      <a:headEnd type="none" w="med" len="med"/>
                      <a:tailEnd type="none" w="med" len="med"/>
                    </a:lnL>
                    <a:lnR w="12700" cap="flat" cmpd="sng" algn="ctr">
                      <a:solidFill>
                        <a:schemeClr val="accent5">
                          <a:lumMod val="75000"/>
                        </a:schemeClr>
                      </a:solidFill>
                      <a:prstDash val="solid"/>
                      <a:round/>
                      <a:headEnd type="none" w="med" len="med"/>
                      <a:tailEnd type="none" w="med" len="med"/>
                    </a:lnR>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785857923"/>
                  </a:ext>
                </a:extLst>
              </a:tr>
              <a:tr h="643515">
                <a:tc rowSpan="2">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en-US" sz="1600" kern="100" dirty="0" smtClean="0">
                          <a:effectLst/>
                        </a:rPr>
                        <a:t>捕捉</a:t>
                      </a:r>
                      <a:r>
                        <a:rPr lang="zh-CN" altLang="zh-CN" sz="1600" kern="100" dirty="0" smtClean="0">
                          <a:effectLst/>
                        </a:rPr>
                        <a:t>范围</a:t>
                      </a:r>
                      <a:endParaRPr lang="zh-CN" altLang="zh-CN" sz="20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en-US" sz="1600" kern="100" dirty="0" smtClean="0">
                          <a:effectLst/>
                          <a:latin typeface="Times New Roman" panose="02020603050405020304" pitchFamily="18" charset="0"/>
                          <a:ea typeface="宋体" panose="02010600030101010101" pitchFamily="2" charset="-122"/>
                          <a:cs typeface="Times New Roman" panose="02020603050405020304" pitchFamily="18" charset="0"/>
                        </a:rPr>
                        <a:t>超前滞后型</a:t>
                      </a:r>
                      <a:endParaRPr lang="en-US" altLang="zh-CN" sz="16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en-US" sz="1600" kern="100" dirty="0" smtClean="0">
                          <a:effectLst/>
                          <a:latin typeface="Times New Roman" panose="02020603050405020304" pitchFamily="18" charset="0"/>
                          <a:ea typeface="宋体" panose="02010600030101010101" pitchFamily="2" charset="-122"/>
                          <a:cs typeface="Times New Roman" panose="02020603050405020304" pitchFamily="18" charset="0"/>
                        </a:rPr>
                        <a:t>环路滤波器</a:t>
                      </a:r>
                      <a:endParaRPr lang="zh-CN" altLang="zh-CN" sz="16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zh-CN" altLang="en-US" sz="1600" b="0" kern="100" dirty="0" smtClean="0">
                          <a:effectLst/>
                        </a:rPr>
                        <a:t>取</a:t>
                      </a:r>
                      <a:r>
                        <a:rPr lang="zh-CN" altLang="zh-CN" sz="1600" b="0" kern="100" dirty="0" smtClean="0">
                          <a:effectLst/>
                        </a:rPr>
                        <a:t>决于</a:t>
                      </a:r>
                      <a:r>
                        <a:rPr lang="en-US" altLang="zh-CN" sz="1600" b="0" kern="100" dirty="0" smtClean="0">
                          <a:effectLst/>
                        </a:rPr>
                        <a:t>VCO</a:t>
                      </a:r>
                      <a:r>
                        <a:rPr lang="zh-CN" altLang="en-US" sz="1600" b="0" kern="100" dirty="0" smtClean="0">
                          <a:effectLst/>
                        </a:rPr>
                        <a:t>的</a:t>
                      </a:r>
                      <a:endParaRPr lang="en-US" altLang="zh-CN" sz="1600" b="0" kern="100" dirty="0" smtClean="0">
                        <a:effectLst/>
                      </a:endParaRPr>
                    </a:p>
                    <a:p>
                      <a:pPr marL="63500" indent="-127000" algn="ctr">
                        <a:lnSpc>
                          <a:spcPct val="115000"/>
                        </a:lnSpc>
                        <a:spcAft>
                          <a:spcPts val="0"/>
                        </a:spcAft>
                      </a:pPr>
                      <a:r>
                        <a:rPr lang="zh-CN" altLang="en-US" sz="1600" b="0" kern="100" dirty="0" smtClean="0">
                          <a:effectLst/>
                        </a:rPr>
                        <a:t>可控</a:t>
                      </a:r>
                      <a:r>
                        <a:rPr lang="zh-CN" altLang="zh-CN" sz="1600" b="0" kern="100" dirty="0" smtClean="0">
                          <a:effectLst/>
                        </a:rPr>
                        <a:t>频率范围</a:t>
                      </a:r>
                      <a:endParaRPr lang="zh-CN" altLang="en-US" sz="2000"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7190528"/>
                  </a:ext>
                </a:extLst>
              </a:tr>
              <a:tr h="634065">
                <a:tc vMerge="1">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endParaRPr lang="zh-CN" altLang="zh-CN" sz="20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accent5">
                          <a:lumMod val="75000"/>
                        </a:schemeClr>
                      </a:solidFill>
                      <a:prstDash val="solid"/>
                      <a:round/>
                      <a:headEnd type="none" w="med" len="med"/>
                      <a:tailEnd type="none" w="med" len="med"/>
                    </a:lnR>
                  </a:tcPr>
                </a:tc>
                <a:tc>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en-US" sz="1600" kern="100" dirty="0" smtClean="0">
                          <a:effectLst/>
                          <a:latin typeface="Times New Roman" panose="02020603050405020304" pitchFamily="18" charset="0"/>
                          <a:ea typeface="宋体" panose="02010600030101010101" pitchFamily="2" charset="-122"/>
                          <a:cs typeface="Times New Roman" panose="02020603050405020304" pitchFamily="18" charset="0"/>
                        </a:rPr>
                        <a:t>比例积分型</a:t>
                      </a:r>
                      <a:endParaRPr lang="en-US" altLang="zh-CN" sz="16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en-US" sz="1600" kern="100" dirty="0" smtClean="0">
                          <a:effectLst/>
                          <a:latin typeface="Times New Roman" panose="02020603050405020304" pitchFamily="18" charset="0"/>
                          <a:ea typeface="宋体" panose="02010600030101010101" pitchFamily="2" charset="-122"/>
                          <a:cs typeface="Times New Roman" panose="02020603050405020304" pitchFamily="18" charset="0"/>
                        </a:rPr>
                        <a:t>环路滤波器</a:t>
                      </a:r>
                      <a:endParaRPr lang="zh-CN" altLang="zh-CN" sz="20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b="0" kern="100" dirty="0" smtClean="0">
                          <a:effectLst/>
                        </a:rPr>
                        <a:t>取</a:t>
                      </a:r>
                      <a:r>
                        <a:rPr lang="zh-CN" altLang="zh-CN" sz="1600" b="0" kern="100" dirty="0" smtClean="0">
                          <a:effectLst/>
                        </a:rPr>
                        <a:t>决于</a:t>
                      </a:r>
                      <a:r>
                        <a:rPr lang="en-US" altLang="zh-CN" sz="1600" b="0" kern="100" dirty="0" smtClean="0">
                          <a:effectLst/>
                        </a:rPr>
                        <a:t>VCO</a:t>
                      </a:r>
                      <a:r>
                        <a:rPr lang="zh-CN" altLang="en-US" sz="1600" b="0" kern="100" dirty="0" smtClean="0">
                          <a:effectLst/>
                        </a:rPr>
                        <a:t>的可控</a:t>
                      </a:r>
                      <a:r>
                        <a:rPr lang="zh-CN" altLang="zh-CN" sz="1600" b="0" kern="100" dirty="0" smtClean="0">
                          <a:effectLst/>
                        </a:rPr>
                        <a:t>频率范围</a:t>
                      </a:r>
                      <a:endParaRPr lang="zh-CN" altLang="en-US" sz="1600" dirty="0" smtClean="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0739215"/>
                  </a:ext>
                </a:extLst>
              </a:tr>
              <a:tr h="938177">
                <a:tc rowSpan="2">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en-US" sz="1600" kern="100" dirty="0" smtClean="0">
                          <a:effectLst/>
                          <a:latin typeface="Times New Roman" panose="02020603050405020304" pitchFamily="18" charset="0"/>
                          <a:ea typeface="宋体" panose="02010600030101010101" pitchFamily="2" charset="-122"/>
                          <a:cs typeface="Times New Roman" panose="02020603050405020304" pitchFamily="18" charset="0"/>
                        </a:rPr>
                        <a:t>捕捉时间</a:t>
                      </a:r>
                      <a:endParaRPr lang="zh-CN" altLang="zh-CN" sz="16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en-US" sz="1600" kern="100" dirty="0" smtClean="0">
                          <a:effectLst/>
                          <a:latin typeface="Times New Roman" panose="02020603050405020304" pitchFamily="18" charset="0"/>
                          <a:ea typeface="宋体" panose="02010600030101010101" pitchFamily="2" charset="-122"/>
                          <a:cs typeface="Times New Roman" panose="02020603050405020304" pitchFamily="18" charset="0"/>
                        </a:rPr>
                        <a:t>超前滞后型</a:t>
                      </a:r>
                      <a:endParaRPr lang="en-US" altLang="zh-CN" sz="16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en-US" sz="1600" kern="100" dirty="0" smtClean="0">
                          <a:effectLst/>
                          <a:latin typeface="Times New Roman" panose="02020603050405020304" pitchFamily="18" charset="0"/>
                          <a:ea typeface="宋体" panose="02010600030101010101" pitchFamily="2" charset="-122"/>
                          <a:cs typeface="Times New Roman" panose="02020603050405020304" pitchFamily="18" charset="0"/>
                        </a:rPr>
                        <a:t>环路滤波器</a:t>
                      </a:r>
                      <a:endParaRPr lang="zh-CN" altLang="zh-CN" sz="16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endParaRPr lang="zh-CN" altLang="en-US"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endParaRPr lang="zh-CN" altLang="en-US"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4466652"/>
                  </a:ext>
                </a:extLst>
              </a:tr>
              <a:tr h="774581">
                <a:tc vMerge="1">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endParaRPr lang="zh-CN" altLang="zh-CN" sz="20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accent5">
                          <a:lumMod val="75000"/>
                        </a:schemeClr>
                      </a:solidFill>
                      <a:prstDash val="solid"/>
                      <a:round/>
                      <a:headEnd type="none" w="med" len="med"/>
                      <a:tailEnd type="none" w="med" len="med"/>
                    </a:lnR>
                  </a:tcPr>
                </a:tc>
                <a:tc>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en-US" sz="1600" kern="100" dirty="0" smtClean="0">
                          <a:effectLst/>
                          <a:latin typeface="Times New Roman" panose="02020603050405020304" pitchFamily="18" charset="0"/>
                          <a:ea typeface="宋体" panose="02010600030101010101" pitchFamily="2" charset="-122"/>
                          <a:cs typeface="Times New Roman" panose="02020603050405020304" pitchFamily="18" charset="0"/>
                        </a:rPr>
                        <a:t>比例积分型</a:t>
                      </a:r>
                      <a:endParaRPr lang="en-US" altLang="zh-CN" sz="16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en-US" sz="1600" kern="100" dirty="0" smtClean="0">
                          <a:effectLst/>
                          <a:latin typeface="Times New Roman" panose="02020603050405020304" pitchFamily="18" charset="0"/>
                          <a:ea typeface="宋体" panose="02010600030101010101" pitchFamily="2" charset="-122"/>
                          <a:cs typeface="Times New Roman" panose="02020603050405020304" pitchFamily="18" charset="0"/>
                        </a:rPr>
                        <a:t>环路滤波器</a:t>
                      </a:r>
                      <a:endParaRPr lang="zh-CN" altLang="zh-CN" sz="20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5134574"/>
                  </a:ext>
                </a:extLst>
              </a:tr>
            </a:tbl>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27226096"/>
              </p:ext>
            </p:extLst>
          </p:nvPr>
        </p:nvGraphicFramePr>
        <p:xfrm>
          <a:off x="4900850" y="1084999"/>
          <a:ext cx="609596" cy="398482"/>
        </p:xfrm>
        <a:graphic>
          <a:graphicData uri="http://schemas.openxmlformats.org/presentationml/2006/ole">
            <mc:AlternateContent xmlns:mc="http://schemas.openxmlformats.org/markup-compatibility/2006">
              <mc:Choice xmlns:v="urn:schemas-microsoft-com:vml" Requires="v">
                <p:oleObj spid="_x0000_s12214" name="Equation" r:id="rId3" imgW="279158" imgH="177646" progId="Equation.DSMT4">
                  <p:embed/>
                </p:oleObj>
              </mc:Choice>
              <mc:Fallback>
                <p:oleObj name="Equation" r:id="rId3" imgW="279158" imgH="177646"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0850" y="1084999"/>
                        <a:ext cx="609596" cy="398482"/>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642636759"/>
              </p:ext>
            </p:extLst>
          </p:nvPr>
        </p:nvGraphicFramePr>
        <p:xfrm>
          <a:off x="6623602" y="1084999"/>
          <a:ext cx="609596" cy="398482"/>
        </p:xfrm>
        <a:graphic>
          <a:graphicData uri="http://schemas.openxmlformats.org/presentationml/2006/ole">
            <mc:AlternateContent xmlns:mc="http://schemas.openxmlformats.org/markup-compatibility/2006">
              <mc:Choice xmlns:v="urn:schemas-microsoft-com:vml" Requires="v">
                <p:oleObj spid="_x0000_s12215" name="Equation" r:id="rId5" imgW="279158" imgH="177646" progId="Equation.DSMT4">
                  <p:embed/>
                </p:oleObj>
              </mc:Choice>
              <mc:Fallback>
                <p:oleObj name="Equation" r:id="rId5" imgW="279158" imgH="177646"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23602" y="1084999"/>
                        <a:ext cx="609596" cy="398482"/>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951929959"/>
              </p:ext>
            </p:extLst>
          </p:nvPr>
        </p:nvGraphicFramePr>
        <p:xfrm>
          <a:off x="8385756" y="1067927"/>
          <a:ext cx="748138" cy="398481"/>
        </p:xfrm>
        <a:graphic>
          <a:graphicData uri="http://schemas.openxmlformats.org/presentationml/2006/ole">
            <mc:AlternateContent xmlns:mc="http://schemas.openxmlformats.org/markup-compatibility/2006">
              <mc:Choice xmlns:v="urn:schemas-microsoft-com:vml" Requires="v">
                <p:oleObj spid="_x0000_s12216" name="Equation" r:id="rId7" imgW="342603" imgH="177646" progId="Equation.DSMT4">
                  <p:embed/>
                </p:oleObj>
              </mc:Choice>
              <mc:Fallback>
                <p:oleObj name="Equation" r:id="rId7" imgW="342603" imgH="177646" progId="Equation.DSMT4">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5756" y="1067927"/>
                        <a:ext cx="748138" cy="398481"/>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621315740"/>
              </p:ext>
            </p:extLst>
          </p:nvPr>
        </p:nvGraphicFramePr>
        <p:xfrm>
          <a:off x="6337301" y="1582739"/>
          <a:ext cx="911225" cy="395287"/>
        </p:xfrm>
        <a:graphic>
          <a:graphicData uri="http://schemas.openxmlformats.org/presentationml/2006/ole">
            <mc:AlternateContent xmlns:mc="http://schemas.openxmlformats.org/markup-compatibility/2006">
              <mc:Choice xmlns:v="urn:schemas-microsoft-com:vml" Requires="v">
                <p:oleObj spid="_x0000_s12217" name="Equation" r:id="rId9" imgW="507960" imgH="203040" progId="Equation.DSMT4">
                  <p:embed/>
                </p:oleObj>
              </mc:Choice>
              <mc:Fallback>
                <p:oleObj name="Equation" r:id="rId9" imgW="507960" imgH="203040" progId="Equation.DSMT4">
                  <p:embed/>
                  <p:pic>
                    <p:nvPicPr>
                      <p:cNvPr id="0" name="Object 1"/>
                      <p:cNvPicPr>
                        <a:picLocks noChangeAspect="1" noChangeArrowheads="1"/>
                      </p:cNvPicPr>
                      <p:nvPr/>
                    </p:nvPicPr>
                    <p:blipFill>
                      <a:blip r:embed="rId10"/>
                      <a:srcRect/>
                      <a:stretch>
                        <a:fillRect/>
                      </a:stretch>
                    </p:blipFill>
                    <p:spPr bwMode="auto">
                      <a:xfrm>
                        <a:off x="6337301" y="1582739"/>
                        <a:ext cx="911225" cy="395287"/>
                      </a:xfrm>
                      <a:prstGeom prst="rect">
                        <a:avLst/>
                      </a:prstGeom>
                      <a:noFill/>
                    </p:spPr>
                  </p:pic>
                </p:oleObj>
              </mc:Fallback>
            </mc:AlternateContent>
          </a:graphicData>
        </a:graphic>
      </p:graphicFrame>
      <p:sp>
        <p:nvSpPr>
          <p:cNvPr id="16" name="文本框 15"/>
          <p:cNvSpPr txBox="1"/>
          <p:nvPr/>
        </p:nvSpPr>
        <p:spPr>
          <a:xfrm>
            <a:off x="1797976" y="5233986"/>
            <a:ext cx="8429270" cy="830997"/>
          </a:xfrm>
          <a:prstGeom prst="rect">
            <a:avLst/>
          </a:prstGeom>
          <a:noFill/>
        </p:spPr>
        <p:txBody>
          <a:bodyPr wrap="square" rtlCol="0">
            <a:spAutoFit/>
          </a:bodyPr>
          <a:lstStyle/>
          <a:p>
            <a:pPr>
              <a:lnSpc>
                <a:spcPct val="150000"/>
              </a:lnSpc>
            </a:pPr>
            <a:r>
              <a:rPr lang="zh-CN" altLang="en-US" sz="1600" dirty="0"/>
              <a:t>其中</a:t>
            </a:r>
            <a:r>
              <a:rPr lang="el-GR" altLang="zh-CN" sz="1600" i="1" dirty="0">
                <a:latin typeface="+mn-lt"/>
              </a:rPr>
              <a:t>Δ</a:t>
            </a:r>
            <a:r>
              <a:rPr lang="el-GR" altLang="zh-CN" sz="1600" i="1" dirty="0">
                <a:latin typeface="Times New Roman" panose="02020603050405020304" pitchFamily="18" charset="0"/>
                <a:cs typeface="Times New Roman" panose="02020603050405020304" pitchFamily="18" charset="0"/>
              </a:rPr>
              <a:t>ω</a:t>
            </a:r>
            <a:r>
              <a:rPr lang="en-US" altLang="zh-CN" sz="1600" baseline="-25000" dirty="0">
                <a:latin typeface="Times New Roman" panose="02020603050405020304" pitchFamily="18" charset="0"/>
                <a:cs typeface="Times New Roman" panose="02020603050405020304" pitchFamily="18" charset="0"/>
              </a:rPr>
              <a:t>0</a:t>
            </a:r>
            <a:r>
              <a:rPr lang="zh-CN" altLang="en-US" sz="1600" dirty="0">
                <a:latin typeface="Times New Roman" panose="02020603050405020304" pitchFamily="18" charset="0"/>
                <a:cs typeface="Times New Roman" panose="02020603050405020304" pitchFamily="18" charset="0"/>
              </a:rPr>
              <a:t>为初始频率偏差，即输入的参考频率与反馈到鉴相器的</a:t>
            </a:r>
            <a:r>
              <a:rPr lang="en-US" altLang="zh-CN" sz="1600" dirty="0">
                <a:latin typeface="Times New Roman" panose="02020603050405020304" pitchFamily="18" charset="0"/>
                <a:cs typeface="Times New Roman" panose="02020603050405020304" pitchFamily="18" charset="0"/>
              </a:rPr>
              <a:t>VCO</a:t>
            </a:r>
            <a:r>
              <a:rPr lang="zh-CN" altLang="en-US" sz="1600" dirty="0">
                <a:latin typeface="Times New Roman" panose="02020603050405020304" pitchFamily="18" charset="0"/>
                <a:cs typeface="Times New Roman" panose="02020603050405020304" pitchFamily="18" charset="0"/>
              </a:rPr>
              <a:t>初始频率的偏差，</a:t>
            </a:r>
            <a:r>
              <a:rPr lang="en-US" altLang="zh-CN" sz="1600" i="1" dirty="0">
                <a:latin typeface="Times New Roman" panose="02020603050405020304" pitchFamily="18" charset="0"/>
                <a:cs typeface="Times New Roman" panose="02020603050405020304" pitchFamily="18" charset="0"/>
              </a:rPr>
              <a:t>V</a:t>
            </a:r>
            <a:r>
              <a:rPr lang="en-US" altLang="zh-CN" sz="1600" i="1" baseline="-25000" dirty="0">
                <a:latin typeface="Times New Roman" panose="02020603050405020304" pitchFamily="18" charset="0"/>
                <a:cs typeface="Times New Roman" panose="02020603050405020304" pitchFamily="18" charset="0"/>
              </a:rPr>
              <a:t>H</a:t>
            </a:r>
            <a:r>
              <a:rPr lang="zh-CN" altLang="en-US" sz="1600" dirty="0">
                <a:latin typeface="Times New Roman" panose="02020603050405020304" pitchFamily="18" charset="0"/>
                <a:cs typeface="Times New Roman" panose="02020603050405020304" pitchFamily="18" charset="0"/>
              </a:rPr>
              <a:t>为鉴相器的输出高电平。</a:t>
            </a:r>
            <a:r>
              <a:rPr lang="el-GR" altLang="zh-CN" sz="1600" dirty="0">
                <a:latin typeface="Times New Roman" panose="02020603050405020304" pitchFamily="18" charset="0"/>
                <a:cs typeface="Times New Roman" panose="02020603050405020304" pitchFamily="18" charset="0"/>
              </a:rPr>
              <a:t>τ</a:t>
            </a:r>
            <a:r>
              <a:rPr lang="en-US" altLang="zh-CN" sz="1600" baseline="-25000" dirty="0">
                <a:latin typeface="Times New Roman" panose="02020603050405020304" pitchFamily="18" charset="0"/>
                <a:cs typeface="Times New Roman" panose="02020603050405020304" pitchFamily="18" charset="0"/>
              </a:rPr>
              <a:t>1</a:t>
            </a:r>
            <a:r>
              <a:rPr lang="zh-CN" altLang="en-US" sz="1600" dirty="0">
                <a:latin typeface="Times New Roman" panose="02020603050405020304" pitchFamily="18" charset="0"/>
                <a:cs typeface="Times New Roman" panose="02020603050405020304" pitchFamily="18" charset="0"/>
              </a:rPr>
              <a:t>与</a:t>
            </a:r>
            <a:r>
              <a:rPr lang="el-GR" altLang="zh-CN" sz="1600" dirty="0">
                <a:latin typeface="Times New Roman" panose="02020603050405020304" pitchFamily="18" charset="0"/>
                <a:cs typeface="Times New Roman" panose="02020603050405020304" pitchFamily="18" charset="0"/>
              </a:rPr>
              <a:t>τ</a:t>
            </a:r>
            <a:r>
              <a:rPr lang="en-US" altLang="zh-CN" sz="1600" baseline="-25000" dirty="0">
                <a:latin typeface="Times New Roman" panose="02020603050405020304" pitchFamily="18" charset="0"/>
                <a:cs typeface="Times New Roman" panose="02020603050405020304" pitchFamily="18" charset="0"/>
              </a:rPr>
              <a:t>2</a:t>
            </a:r>
            <a:r>
              <a:rPr lang="zh-CN" altLang="en-US" sz="1600" dirty="0">
                <a:latin typeface="Times New Roman" panose="02020603050405020304" pitchFamily="18" charset="0"/>
                <a:cs typeface="Times New Roman" panose="02020603050405020304" pitchFamily="18" charset="0"/>
              </a:rPr>
              <a:t>分别等于环路滤波器中的</a:t>
            </a:r>
            <a:r>
              <a:rPr lang="en-US" altLang="zh-CN" sz="1600" dirty="0">
                <a:latin typeface="Times New Roman" panose="02020603050405020304" pitchFamily="18" charset="0"/>
                <a:cs typeface="Times New Roman" panose="02020603050405020304" pitchFamily="18" charset="0"/>
              </a:rPr>
              <a:t>1/</a:t>
            </a:r>
            <a:r>
              <a:rPr lang="el-GR" altLang="zh-CN" sz="1600" dirty="0">
                <a:latin typeface="Times New Roman" panose="02020603050405020304" pitchFamily="18" charset="0"/>
                <a:cs typeface="Times New Roman" panose="02020603050405020304" pitchFamily="18" charset="0"/>
              </a:rPr>
              <a:t>ω</a:t>
            </a:r>
            <a:r>
              <a:rPr lang="en-US" altLang="zh-CN" sz="1600" baseline="-25000" dirty="0">
                <a:latin typeface="Times New Roman" panose="02020603050405020304" pitchFamily="18" charset="0"/>
                <a:cs typeface="Times New Roman" panose="02020603050405020304" pitchFamily="18" charset="0"/>
              </a:rPr>
              <a:t>1</a:t>
            </a:r>
            <a:r>
              <a:rPr lang="zh-CN" altLang="en-US" sz="1600" dirty="0">
                <a:latin typeface="Times New Roman" panose="02020603050405020304" pitchFamily="18" charset="0"/>
                <a:cs typeface="Times New Roman" panose="02020603050405020304" pitchFamily="18" charset="0"/>
              </a:rPr>
              <a:t>与</a:t>
            </a:r>
            <a:r>
              <a:rPr lang="en-US" altLang="zh-CN" sz="1600" dirty="0">
                <a:latin typeface="Times New Roman" panose="02020603050405020304" pitchFamily="18" charset="0"/>
                <a:cs typeface="Times New Roman" panose="02020603050405020304" pitchFamily="18" charset="0"/>
              </a:rPr>
              <a:t>1/</a:t>
            </a:r>
            <a:r>
              <a:rPr lang="el-GR" altLang="zh-CN" sz="1600" dirty="0">
                <a:latin typeface="Times New Roman" panose="02020603050405020304" pitchFamily="18" charset="0"/>
                <a:cs typeface="Times New Roman" panose="02020603050405020304" pitchFamily="18" charset="0"/>
              </a:rPr>
              <a:t>ω</a:t>
            </a:r>
            <a:r>
              <a:rPr lang="en-US" altLang="zh-CN" sz="1600" baseline="-25000" dirty="0">
                <a:latin typeface="Times New Roman" panose="02020603050405020304" pitchFamily="18" charset="0"/>
                <a:cs typeface="Times New Roman" panose="02020603050405020304" pitchFamily="18" charset="0"/>
              </a:rPr>
              <a:t>2</a:t>
            </a:r>
            <a:r>
              <a:rPr lang="zh-CN" altLang="en-US" sz="1600" dirty="0">
                <a:latin typeface="Times New Roman" panose="02020603050405020304" pitchFamily="18" charset="0"/>
                <a:cs typeface="Times New Roman" panose="02020603050405020304" pitchFamily="18" charset="0"/>
              </a:rPr>
              <a:t>（见前面第</a:t>
            </a:r>
            <a:r>
              <a:rPr lang="en-US" altLang="zh-CN" sz="1600" dirty="0">
                <a:latin typeface="Times New Roman" panose="02020603050405020304" pitchFamily="18" charset="0"/>
                <a:cs typeface="Times New Roman" panose="02020603050405020304" pitchFamily="18" charset="0"/>
              </a:rPr>
              <a:t>5</a:t>
            </a:r>
            <a:r>
              <a:rPr lang="zh-CN" altLang="en-US" sz="1600" dirty="0">
                <a:latin typeface="Times New Roman" panose="02020603050405020304" pitchFamily="18" charset="0"/>
                <a:cs typeface="Times New Roman" panose="02020603050405020304" pitchFamily="18" charset="0"/>
              </a:rPr>
              <a:t>页）</a:t>
            </a:r>
            <a:endParaRPr lang="zh-CN" altLang="en-US" sz="1600" dirty="0"/>
          </a:p>
        </p:txBody>
      </p:sp>
      <p:graphicFrame>
        <p:nvGraphicFramePr>
          <p:cNvPr id="22" name="对象 21"/>
          <p:cNvGraphicFramePr>
            <a:graphicFrameLocks noChangeAspect="1"/>
          </p:cNvGraphicFramePr>
          <p:nvPr>
            <p:extLst>
              <p:ext uri="{D42A27DB-BD31-4B8C-83A1-F6EECF244321}">
                <p14:modId xmlns:p14="http://schemas.microsoft.com/office/powerpoint/2010/main" val="1954861865"/>
              </p:ext>
            </p:extLst>
          </p:nvPr>
        </p:nvGraphicFramePr>
        <p:xfrm>
          <a:off x="4368771" y="2263942"/>
          <a:ext cx="1567115" cy="614791"/>
        </p:xfrm>
        <a:graphic>
          <a:graphicData uri="http://schemas.openxmlformats.org/presentationml/2006/ole">
            <mc:AlternateContent xmlns:mc="http://schemas.openxmlformats.org/markup-compatibility/2006">
              <mc:Choice xmlns:v="urn:schemas-microsoft-com:vml" Requires="v">
                <p:oleObj spid="_x0000_s12218" name="Equation" r:id="rId11" imgW="825142" imgH="317362" progId="Equation.DSMT4">
                  <p:embed/>
                </p:oleObj>
              </mc:Choice>
              <mc:Fallback>
                <p:oleObj name="Equation" r:id="rId11" imgW="825142" imgH="317362" progId="Equation.DSMT4">
                  <p:embed/>
                  <p:pic>
                    <p:nvPicPr>
                      <p:cNvPr id="7" name="对象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68771" y="2263942"/>
                        <a:ext cx="1567115" cy="614791"/>
                      </a:xfrm>
                      <a:prstGeom prst="rect">
                        <a:avLst/>
                      </a:prstGeom>
                      <a:noFill/>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411394960"/>
              </p:ext>
            </p:extLst>
          </p:nvPr>
        </p:nvGraphicFramePr>
        <p:xfrm>
          <a:off x="6216102" y="2235121"/>
          <a:ext cx="1607973" cy="630820"/>
        </p:xfrm>
        <a:graphic>
          <a:graphicData uri="http://schemas.openxmlformats.org/presentationml/2006/ole">
            <mc:AlternateContent xmlns:mc="http://schemas.openxmlformats.org/markup-compatibility/2006">
              <mc:Choice xmlns:v="urn:schemas-microsoft-com:vml" Requires="v">
                <p:oleObj spid="_x0000_s12219" name="Equation" r:id="rId13" imgW="825142" imgH="317362" progId="Equation.DSMT4">
                  <p:embed/>
                </p:oleObj>
              </mc:Choice>
              <mc:Fallback>
                <p:oleObj name="Equation" r:id="rId13" imgW="825142" imgH="317362" progId="Equation.DSMT4">
                  <p:embed/>
                  <p:pic>
                    <p:nvPicPr>
                      <p:cNvPr id="8" name="对象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216102" y="2235121"/>
                        <a:ext cx="1607973" cy="630820"/>
                      </a:xfrm>
                      <a:prstGeom prst="rect">
                        <a:avLst/>
                      </a:prstGeom>
                      <a:noFill/>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1347150403"/>
              </p:ext>
            </p:extLst>
          </p:nvPr>
        </p:nvGraphicFramePr>
        <p:xfrm>
          <a:off x="8183563" y="3500439"/>
          <a:ext cx="1839912" cy="890587"/>
        </p:xfrm>
        <a:graphic>
          <a:graphicData uri="http://schemas.openxmlformats.org/presentationml/2006/ole">
            <mc:AlternateContent xmlns:mc="http://schemas.openxmlformats.org/markup-compatibility/2006">
              <mc:Choice xmlns:v="urn:schemas-microsoft-com:vml" Requires="v">
                <p:oleObj spid="_x0000_s12220" name="Equation" r:id="rId15" imgW="990360" imgH="482400" progId="Equation.DSMT4">
                  <p:embed/>
                </p:oleObj>
              </mc:Choice>
              <mc:Fallback>
                <p:oleObj name="Equation" r:id="rId15" imgW="990360" imgH="482400" progId="Equation.DSMT4">
                  <p:embed/>
                  <p:pic>
                    <p:nvPicPr>
                      <p:cNvPr id="13" name="对象 12"/>
                      <p:cNvPicPr>
                        <a:picLocks noChangeAspect="1" noChangeArrowheads="1"/>
                      </p:cNvPicPr>
                      <p:nvPr/>
                    </p:nvPicPr>
                    <p:blipFill>
                      <a:blip r:embed="rId16"/>
                      <a:srcRect/>
                      <a:stretch>
                        <a:fillRect/>
                      </a:stretch>
                    </p:blipFill>
                    <p:spPr bwMode="auto">
                      <a:xfrm>
                        <a:off x="8183563" y="3500439"/>
                        <a:ext cx="1839912" cy="890587"/>
                      </a:xfrm>
                      <a:prstGeom prst="rect">
                        <a:avLst/>
                      </a:prstGeom>
                      <a:noFill/>
                    </p:spPr>
                  </p:pic>
                </p:oleObj>
              </mc:Fallback>
            </mc:AlternateContent>
          </a:graphicData>
        </a:graphic>
      </p:graphicFrame>
      <p:graphicFrame>
        <p:nvGraphicFramePr>
          <p:cNvPr id="26" name="对象 25"/>
          <p:cNvGraphicFramePr>
            <a:graphicFrameLocks noChangeAspect="1"/>
          </p:cNvGraphicFramePr>
          <p:nvPr>
            <p:extLst>
              <p:ext uri="{D42A27DB-BD31-4B8C-83A1-F6EECF244321}">
                <p14:modId xmlns:p14="http://schemas.microsoft.com/office/powerpoint/2010/main" val="1852673376"/>
              </p:ext>
            </p:extLst>
          </p:nvPr>
        </p:nvGraphicFramePr>
        <p:xfrm>
          <a:off x="4478678" y="3938558"/>
          <a:ext cx="1453940" cy="760317"/>
        </p:xfrm>
        <a:graphic>
          <a:graphicData uri="http://schemas.openxmlformats.org/presentationml/2006/ole">
            <mc:AlternateContent xmlns:mc="http://schemas.openxmlformats.org/markup-compatibility/2006">
              <mc:Choice xmlns:v="urn:schemas-microsoft-com:vml" Requires="v">
                <p:oleObj spid="_x0000_s12221" name="Equation" r:id="rId17" imgW="698197" imgH="355446" progId="Equation.DSMT4">
                  <p:embed/>
                </p:oleObj>
              </mc:Choice>
              <mc:Fallback>
                <p:oleObj name="Equation" r:id="rId17" imgW="698197" imgH="355446" progId="Equation.DSMT4">
                  <p:embed/>
                  <p:pic>
                    <p:nvPicPr>
                      <p:cNvPr id="14" name="对象 1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478678" y="3938558"/>
                        <a:ext cx="1453940" cy="760317"/>
                      </a:xfrm>
                      <a:prstGeom prst="rect">
                        <a:avLst/>
                      </a:prstGeom>
                      <a:noFill/>
                    </p:spPr>
                  </p:pic>
                </p:oleObj>
              </mc:Fallback>
            </mc:AlternateContent>
          </a:graphicData>
        </a:graphic>
      </p:graphicFrame>
      <p:graphicFrame>
        <p:nvGraphicFramePr>
          <p:cNvPr id="27" name="对象 26"/>
          <p:cNvGraphicFramePr>
            <a:graphicFrameLocks noChangeAspect="1"/>
          </p:cNvGraphicFramePr>
          <p:nvPr>
            <p:extLst>
              <p:ext uri="{D42A27DB-BD31-4B8C-83A1-F6EECF244321}">
                <p14:modId xmlns:p14="http://schemas.microsoft.com/office/powerpoint/2010/main" val="3185039711"/>
              </p:ext>
            </p:extLst>
          </p:nvPr>
        </p:nvGraphicFramePr>
        <p:xfrm>
          <a:off x="6299476" y="3997740"/>
          <a:ext cx="1441222" cy="701135"/>
        </p:xfrm>
        <a:graphic>
          <a:graphicData uri="http://schemas.openxmlformats.org/presentationml/2006/ole">
            <mc:AlternateContent xmlns:mc="http://schemas.openxmlformats.org/markup-compatibility/2006">
              <mc:Choice xmlns:v="urn:schemas-microsoft-com:vml" Requires="v">
                <p:oleObj spid="_x0000_s12222" name="Equation" r:id="rId19" imgW="710891" imgH="342751" progId="Equation.DSMT4">
                  <p:embed/>
                </p:oleObj>
              </mc:Choice>
              <mc:Fallback>
                <p:oleObj name="Equation" r:id="rId19" imgW="710891" imgH="342751" progId="Equation.DSMT4">
                  <p:embed/>
                  <p:pic>
                    <p:nvPicPr>
                      <p:cNvPr id="15" name="对象 1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299476" y="3997740"/>
                        <a:ext cx="1441222" cy="701135"/>
                      </a:xfrm>
                      <a:prstGeom prst="rect">
                        <a:avLst/>
                      </a:prstGeom>
                      <a:noFill/>
                    </p:spPr>
                  </p:pic>
                </p:oleObj>
              </mc:Fallback>
            </mc:AlternateContent>
          </a:graphicData>
        </a:graphic>
      </p:graphicFrame>
      <p:graphicFrame>
        <p:nvGraphicFramePr>
          <p:cNvPr id="29" name="对象 28"/>
          <p:cNvGraphicFramePr>
            <a:graphicFrameLocks noChangeAspect="1"/>
          </p:cNvGraphicFramePr>
          <p:nvPr>
            <p:extLst>
              <p:ext uri="{D42A27DB-BD31-4B8C-83A1-F6EECF244321}">
                <p14:modId xmlns:p14="http://schemas.microsoft.com/office/powerpoint/2010/main" val="2343860914"/>
              </p:ext>
            </p:extLst>
          </p:nvPr>
        </p:nvGraphicFramePr>
        <p:xfrm>
          <a:off x="8623694" y="4460577"/>
          <a:ext cx="951312" cy="684945"/>
        </p:xfrm>
        <a:graphic>
          <a:graphicData uri="http://schemas.openxmlformats.org/presentationml/2006/ole">
            <mc:AlternateContent xmlns:mc="http://schemas.openxmlformats.org/markup-compatibility/2006">
              <mc:Choice xmlns:v="urn:schemas-microsoft-com:vml" Requires="v">
                <p:oleObj spid="_x0000_s12223" name="Equation" r:id="rId21" imgW="469696" imgH="342751" progId="Equation.DSMT4">
                  <p:embed/>
                </p:oleObj>
              </mc:Choice>
              <mc:Fallback>
                <p:oleObj name="Equation" r:id="rId21" imgW="469696" imgH="342751" progId="Equation.DSMT4">
                  <p:embed/>
                  <p:pic>
                    <p:nvPicPr>
                      <p:cNvPr id="17" name="对象 1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623694" y="4460577"/>
                        <a:ext cx="951312" cy="684945"/>
                      </a:xfrm>
                      <a:prstGeom prst="rect">
                        <a:avLst/>
                      </a:prstGeom>
                      <a:noFill/>
                    </p:spPr>
                  </p:pic>
                </p:oleObj>
              </mc:Fallback>
            </mc:AlternateContent>
          </a:graphicData>
        </a:graphic>
      </p:graphicFrame>
      <p:sp>
        <p:nvSpPr>
          <p:cNvPr id="30" name="文本框 29"/>
          <p:cNvSpPr txBox="1"/>
          <p:nvPr/>
        </p:nvSpPr>
        <p:spPr>
          <a:xfrm>
            <a:off x="1797977" y="6062751"/>
            <a:ext cx="7552267" cy="338554"/>
          </a:xfrm>
          <a:prstGeom prst="rect">
            <a:avLst/>
          </a:prstGeom>
          <a:noFill/>
        </p:spPr>
        <p:txBody>
          <a:bodyPr wrap="square" rtlCol="0">
            <a:spAutoFit/>
          </a:bodyPr>
          <a:lstStyle/>
          <a:p>
            <a:r>
              <a:rPr lang="zh-CN" altLang="en-US" sz="1600" dirty="0"/>
              <a:t>表中所有频率范围公式均假定</a:t>
            </a:r>
            <a:r>
              <a:rPr lang="en-US" altLang="zh-CN" sz="1600" dirty="0"/>
              <a:t>VCO</a:t>
            </a:r>
            <a:r>
              <a:rPr lang="zh-CN" altLang="en-US" sz="1600" dirty="0"/>
              <a:t>的可控频率范围大于该公式得到的结果</a:t>
            </a:r>
          </a:p>
        </p:txBody>
      </p:sp>
    </p:spTree>
    <p:extLst>
      <p:ext uri="{BB962C8B-B14F-4D97-AF65-F5344CB8AC3E}">
        <p14:creationId xmlns:p14="http://schemas.microsoft.com/office/powerpoint/2010/main" val="3721930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18</a:t>
            </a:fld>
            <a:endParaRPr lang="en-US" altLang="zh-CN">
              <a:solidFill>
                <a:srgbClr val="FFFFFF"/>
              </a:solidFill>
            </a:endParaRPr>
          </a:p>
        </p:txBody>
      </p:sp>
      <p:sp>
        <p:nvSpPr>
          <p:cNvPr id="5" name="文本框 4"/>
          <p:cNvSpPr txBox="1"/>
          <p:nvPr/>
        </p:nvSpPr>
        <p:spPr>
          <a:xfrm>
            <a:off x="442686" y="532853"/>
            <a:ext cx="11378899" cy="3831818"/>
          </a:xfrm>
          <a:prstGeom prst="rect">
            <a:avLst/>
          </a:prstGeom>
          <a:noFill/>
        </p:spPr>
        <p:txBody>
          <a:bodyPr wrap="square" rtlCol="0">
            <a:spAutoFit/>
          </a:bodyPr>
          <a:lstStyle/>
          <a:p>
            <a:pPr>
              <a:lnSpc>
                <a:spcPct val="150000"/>
              </a:lnSpc>
            </a:pPr>
            <a:r>
              <a:rPr lang="zh-CN" altLang="en-US" sz="1800" dirty="0"/>
              <a:t>四个频率范围的总结</a:t>
            </a:r>
            <a:endParaRPr lang="en-US" altLang="zh-CN" sz="1800" dirty="0"/>
          </a:p>
          <a:p>
            <a:pPr>
              <a:lnSpc>
                <a:spcPct val="150000"/>
              </a:lnSpc>
            </a:pPr>
            <a:endParaRPr lang="en-US" altLang="zh-CN" sz="800" dirty="0"/>
          </a:p>
          <a:p>
            <a:pPr>
              <a:lnSpc>
                <a:spcPct val="150000"/>
              </a:lnSpc>
            </a:pPr>
            <a:r>
              <a:rPr lang="zh-CN" altLang="en-US" sz="1800" dirty="0"/>
              <a:t>同步范围：准静态条件下锁相环能够跟踪输入信号的最大频率范围</a:t>
            </a:r>
            <a:endParaRPr lang="en-US" altLang="zh-CN" sz="1800" dirty="0"/>
          </a:p>
          <a:p>
            <a:pPr>
              <a:lnSpc>
                <a:spcPct val="150000"/>
              </a:lnSpc>
            </a:pPr>
            <a:r>
              <a:rPr lang="zh-CN" altLang="en-US" sz="1800" dirty="0"/>
              <a:t>失锁范围：动态条件下锁相环能够跟踪输入信号的最大频率范围</a:t>
            </a:r>
            <a:endParaRPr lang="en-US" altLang="zh-CN" sz="1800" dirty="0"/>
          </a:p>
          <a:p>
            <a:pPr>
              <a:lnSpc>
                <a:spcPct val="150000"/>
              </a:lnSpc>
            </a:pPr>
            <a:r>
              <a:rPr lang="zh-CN" altLang="en-US" sz="1800" dirty="0"/>
              <a:t>捕捉范围：锁相环能够捕捉输入信号的最大频率范围，可能有较大的捕捉时间</a:t>
            </a:r>
            <a:endParaRPr lang="en-US" altLang="zh-CN" sz="1800" dirty="0"/>
          </a:p>
          <a:p>
            <a:pPr>
              <a:lnSpc>
                <a:spcPct val="150000"/>
              </a:lnSpc>
            </a:pPr>
            <a:r>
              <a:rPr lang="zh-CN" altLang="en-US" sz="1800" dirty="0"/>
              <a:t>锁定范围：在动态条件下锁相环能够正常工作的最大频率范围</a:t>
            </a:r>
            <a:endParaRPr lang="en-US" altLang="zh-CN" sz="1800" dirty="0"/>
          </a:p>
          <a:p>
            <a:pPr>
              <a:lnSpc>
                <a:spcPct val="150000"/>
              </a:lnSpc>
            </a:pPr>
            <a:endParaRPr lang="en-US" altLang="zh-CN" sz="1000" dirty="0"/>
          </a:p>
          <a:p>
            <a:pPr>
              <a:lnSpc>
                <a:spcPct val="150000"/>
              </a:lnSpc>
            </a:pPr>
            <a:r>
              <a:rPr lang="zh-CN" altLang="en-US" sz="1800" dirty="0"/>
              <a:t>每个频率范围都是指在锁相环中心频率两侧的频率差，例如实际锁相环的正常工作频率范围为 </a:t>
            </a:r>
            <a:r>
              <a:rPr lang="en-US" altLang="zh-CN" sz="1800" i="1" dirty="0">
                <a:latin typeface="+mn-lt"/>
              </a:rPr>
              <a:t>f</a:t>
            </a:r>
            <a:r>
              <a:rPr lang="en-US" altLang="zh-CN" sz="1800" baseline="-25000" dirty="0">
                <a:latin typeface="+mn-lt"/>
              </a:rPr>
              <a:t>0</a:t>
            </a:r>
            <a:r>
              <a:rPr lang="en-US" altLang="zh-CN" sz="1800" dirty="0">
                <a:latin typeface="+mn-lt"/>
                <a:cs typeface="Times New Roman" panose="02020603050405020304" pitchFamily="18" charset="0"/>
              </a:rPr>
              <a:t>±</a:t>
            </a:r>
            <a:r>
              <a:rPr lang="zh-CN" altLang="en-US" sz="1800" dirty="0">
                <a:latin typeface="+mn-lt"/>
                <a:cs typeface="Times New Roman" panose="02020603050405020304" pitchFamily="18" charset="0"/>
              </a:rPr>
              <a:t>锁定范围</a:t>
            </a:r>
            <a:endParaRPr lang="en-US" altLang="zh-CN" sz="1800" dirty="0">
              <a:latin typeface="+mn-lt"/>
            </a:endParaRPr>
          </a:p>
          <a:p>
            <a:pPr>
              <a:lnSpc>
                <a:spcPct val="150000"/>
              </a:lnSpc>
            </a:pPr>
            <a:r>
              <a:rPr lang="zh-CN" altLang="en-US" sz="1800" dirty="0"/>
              <a:t>大小比较：同步范围</a:t>
            </a:r>
            <a:r>
              <a:rPr lang="en-US" altLang="zh-CN" sz="1800" dirty="0"/>
              <a:t>&gt;</a:t>
            </a:r>
            <a:r>
              <a:rPr lang="zh-CN" altLang="en-US" sz="1800" dirty="0"/>
              <a:t>捕捉范围</a:t>
            </a:r>
            <a:r>
              <a:rPr lang="en-US" altLang="zh-CN" sz="1800" dirty="0"/>
              <a:t>&gt;</a:t>
            </a:r>
            <a:r>
              <a:rPr lang="zh-CN" altLang="en-US" sz="1800" dirty="0"/>
              <a:t>失锁范围</a:t>
            </a:r>
            <a:r>
              <a:rPr lang="en-US" altLang="zh-CN" sz="1800" dirty="0"/>
              <a:t>&gt;</a:t>
            </a:r>
            <a:r>
              <a:rPr lang="zh-CN" altLang="en-US" sz="1800" dirty="0"/>
              <a:t>锁定范围</a:t>
            </a:r>
            <a:endParaRPr lang="en-US" altLang="zh-CN" sz="1800" dirty="0"/>
          </a:p>
          <a:p>
            <a:pPr>
              <a:lnSpc>
                <a:spcPct val="150000"/>
              </a:lnSpc>
            </a:pPr>
            <a:endParaRPr lang="en-US" altLang="zh-CN" sz="1800" dirty="0"/>
          </a:p>
        </p:txBody>
      </p:sp>
    </p:spTree>
    <p:extLst>
      <p:ext uri="{BB962C8B-B14F-4D97-AF65-F5344CB8AC3E}">
        <p14:creationId xmlns:p14="http://schemas.microsoft.com/office/powerpoint/2010/main" val="39615577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19</a:t>
            </a:fld>
            <a:endParaRPr lang="en-US" altLang="zh-CN">
              <a:solidFill>
                <a:srgbClr val="FFFFFF"/>
              </a:solidFill>
            </a:endParaRPr>
          </a:p>
        </p:txBody>
      </p:sp>
      <p:sp>
        <p:nvSpPr>
          <p:cNvPr id="5" name="文本框 4"/>
          <p:cNvSpPr txBox="1"/>
          <p:nvPr/>
        </p:nvSpPr>
        <p:spPr>
          <a:xfrm>
            <a:off x="493486" y="378466"/>
            <a:ext cx="11270343" cy="5355312"/>
          </a:xfrm>
          <a:prstGeom prst="rect">
            <a:avLst/>
          </a:prstGeom>
          <a:noFill/>
        </p:spPr>
        <p:txBody>
          <a:bodyPr wrap="square" rtlCol="0">
            <a:spAutoFit/>
          </a:bodyPr>
          <a:lstStyle/>
          <a:p>
            <a:pPr>
              <a:lnSpc>
                <a:spcPct val="150000"/>
              </a:lnSpc>
            </a:pPr>
            <a:r>
              <a:rPr lang="zh-CN" altLang="en-US" sz="2800" dirty="0">
                <a:solidFill>
                  <a:srgbClr val="FF0000"/>
                </a:solidFill>
                <a:latin typeface="隶书" panose="02010509060101010101" pitchFamily="49" charset="-122"/>
                <a:ea typeface="隶书" panose="02010509060101010101" pitchFamily="49" charset="-122"/>
              </a:rPr>
              <a:t>锁相环性能参数的简要总结</a:t>
            </a:r>
            <a:endParaRPr lang="en-US" altLang="zh-CN" sz="2800" dirty="0">
              <a:solidFill>
                <a:srgbClr val="FF0000"/>
              </a:solidFill>
              <a:latin typeface="隶书" panose="02010509060101010101" pitchFamily="49" charset="-122"/>
              <a:ea typeface="隶书" panose="02010509060101010101" pitchFamily="49" charset="-122"/>
            </a:endParaRPr>
          </a:p>
          <a:p>
            <a:pPr marL="342900" indent="-342900">
              <a:lnSpc>
                <a:spcPct val="150000"/>
              </a:lnSpc>
              <a:buFont typeface="Wingdings" panose="05000000000000000000" pitchFamily="2" charset="2"/>
              <a:buChar char="Ø"/>
            </a:pPr>
            <a:r>
              <a:rPr lang="zh-CN" altLang="en-US" sz="1800" dirty="0"/>
              <a:t>锁相环的闭环带宽</a:t>
            </a:r>
            <a:r>
              <a:rPr lang="el-GR" altLang="zh-CN" sz="1800" i="1" dirty="0">
                <a:solidFill>
                  <a:schemeClr val="tx1">
                    <a:lumMod val="95000"/>
                    <a:lumOff val="5000"/>
                  </a:schemeClr>
                </a:solidFill>
                <a:latin typeface="Times New Roman" panose="02020603050405020304" pitchFamily="18" charset="0"/>
                <a:cs typeface="Times New Roman" panose="02020603050405020304" pitchFamily="18" charset="0"/>
              </a:rPr>
              <a:t>ω</a:t>
            </a:r>
            <a:r>
              <a:rPr lang="en-US" altLang="zh-CN" sz="1800" baseline="-25000" dirty="0">
                <a:solidFill>
                  <a:schemeClr val="tx1">
                    <a:lumMod val="95000"/>
                    <a:lumOff val="5000"/>
                  </a:schemeClr>
                </a:solidFill>
                <a:latin typeface="Times New Roman" panose="02020603050405020304" pitchFamily="18" charset="0"/>
                <a:cs typeface="Times New Roman" panose="02020603050405020304" pitchFamily="18" charset="0"/>
              </a:rPr>
              <a:t>-3dB</a:t>
            </a:r>
            <a:r>
              <a:rPr lang="zh-CN" altLang="en-US" sz="1800" dirty="0">
                <a:solidFill>
                  <a:schemeClr val="tx1">
                    <a:lumMod val="95000"/>
                    <a:lumOff val="5000"/>
                  </a:schemeClr>
                </a:solidFill>
                <a:latin typeface="Times New Roman" panose="02020603050405020304" pitchFamily="18" charset="0"/>
                <a:cs typeface="Times New Roman" panose="02020603050405020304" pitchFamily="18" charset="0"/>
              </a:rPr>
              <a:t>或自然频率</a:t>
            </a:r>
            <a:r>
              <a:rPr lang="el-GR" altLang="zh-CN" sz="1800" i="1" dirty="0">
                <a:solidFill>
                  <a:schemeClr val="tx1">
                    <a:lumMod val="95000"/>
                    <a:lumOff val="5000"/>
                  </a:schemeClr>
                </a:solidFill>
                <a:latin typeface="Times New Roman" panose="02020603050405020304" pitchFamily="18" charset="0"/>
                <a:cs typeface="Times New Roman" panose="02020603050405020304" pitchFamily="18" charset="0"/>
              </a:rPr>
              <a:t>ω</a:t>
            </a:r>
            <a:r>
              <a:rPr lang="en-US" altLang="zh-CN" sz="1800" i="1" baseline="-25000" dirty="0">
                <a:solidFill>
                  <a:schemeClr val="tx1">
                    <a:lumMod val="95000"/>
                    <a:lumOff val="5000"/>
                  </a:schemeClr>
                </a:solidFill>
                <a:latin typeface="Times New Roman" panose="02020603050405020304" pitchFamily="18" charset="0"/>
                <a:cs typeface="Times New Roman" panose="02020603050405020304" pitchFamily="18" charset="0"/>
              </a:rPr>
              <a:t>n</a:t>
            </a:r>
            <a:endParaRPr lang="en-US" altLang="zh-CN" sz="1800" i="1" dirty="0"/>
          </a:p>
          <a:p>
            <a:pPr marL="800100" lvl="1" indent="-342900">
              <a:lnSpc>
                <a:spcPct val="150000"/>
              </a:lnSpc>
              <a:buFont typeface="Arial" panose="020B0604020202020204" pitchFamily="34" charset="0"/>
              <a:buChar char="•"/>
            </a:pPr>
            <a:r>
              <a:rPr lang="zh-CN" altLang="en-US" sz="1800" dirty="0"/>
              <a:t>闭环带宽越大，锁相环的锁定范围越大、锁定时间越短，捕捉范围（采用</a:t>
            </a:r>
            <a:r>
              <a:rPr lang="en-US" altLang="zh-CN" sz="1800" dirty="0"/>
              <a:t>PFD</a:t>
            </a:r>
            <a:r>
              <a:rPr lang="zh-CN" altLang="en-US" sz="1800" dirty="0"/>
              <a:t>者除外）也增大，动态响应趋好</a:t>
            </a:r>
            <a:endParaRPr lang="en-US" altLang="zh-CN" sz="1800" dirty="0"/>
          </a:p>
          <a:p>
            <a:pPr marL="800100" lvl="1" indent="-342900">
              <a:lnSpc>
                <a:spcPct val="150000"/>
              </a:lnSpc>
              <a:buFont typeface="Arial" panose="020B0604020202020204" pitchFamily="34" charset="0"/>
              <a:buChar char="•"/>
            </a:pPr>
            <a:r>
              <a:rPr lang="zh-CN" altLang="en-US" sz="1800" dirty="0">
                <a:solidFill>
                  <a:schemeClr val="tx1">
                    <a:lumMod val="95000"/>
                    <a:lumOff val="5000"/>
                  </a:schemeClr>
                </a:solidFill>
                <a:latin typeface="华文细黑" panose="02010600040101010101" pitchFamily="2" charset="-122"/>
              </a:rPr>
              <a:t>闭环带宽反映了对于输入信号</a:t>
            </a:r>
            <a:r>
              <a:rPr lang="zh-CN" altLang="en-US" sz="1800" dirty="0">
                <a:latin typeface="华文细黑" panose="02010600040101010101" pitchFamily="2" charset="-122"/>
              </a:rPr>
              <a:t>相位（频率）变化</a:t>
            </a:r>
            <a:r>
              <a:rPr lang="zh-CN" altLang="en-US" sz="1800" dirty="0">
                <a:solidFill>
                  <a:schemeClr val="tx1">
                    <a:lumMod val="95000"/>
                    <a:lumOff val="5000"/>
                  </a:schemeClr>
                </a:solidFill>
                <a:latin typeface="华文细黑" panose="02010600040101010101" pitchFamily="2" charset="-122"/>
              </a:rPr>
              <a:t>的跟踪范围，</a:t>
            </a:r>
            <a:r>
              <a:rPr lang="zh-CN" altLang="en-US" sz="1800" dirty="0"/>
              <a:t>在需要将输入信号中的频率变化滤除的应用中，其闭环带宽有限制</a:t>
            </a:r>
            <a:endParaRPr lang="en-US" altLang="zh-CN" sz="1800" dirty="0"/>
          </a:p>
          <a:p>
            <a:pPr marL="342900" indent="-342900">
              <a:lnSpc>
                <a:spcPct val="150000"/>
              </a:lnSpc>
              <a:buFont typeface="Wingdings" panose="05000000000000000000" pitchFamily="2" charset="2"/>
              <a:buChar char="Ø"/>
            </a:pPr>
            <a:r>
              <a:rPr lang="zh-CN" altLang="en-US" sz="1800" dirty="0"/>
              <a:t>锁相环的阻尼因子</a:t>
            </a:r>
            <a:r>
              <a:rPr lang="en-US" altLang="zh-CN" sz="1800" i="1" dirty="0">
                <a:latin typeface="Symbol" panose="05050102010706020507" pitchFamily="18" charset="2"/>
              </a:rPr>
              <a:t>z</a:t>
            </a:r>
          </a:p>
          <a:p>
            <a:pPr marL="800100" lvl="1" indent="-342900">
              <a:lnSpc>
                <a:spcPct val="150000"/>
              </a:lnSpc>
              <a:buFont typeface="Arial" panose="020B0604020202020204" pitchFamily="34" charset="0"/>
              <a:buChar char="•"/>
            </a:pPr>
            <a:r>
              <a:rPr lang="zh-CN" altLang="en-US" sz="1800" dirty="0"/>
              <a:t>阻尼因子越大，稳定性越好</a:t>
            </a:r>
            <a:endParaRPr lang="en-US" altLang="zh-CN" sz="1800" dirty="0"/>
          </a:p>
          <a:p>
            <a:pPr marL="800100" lvl="1" indent="-342900">
              <a:lnSpc>
                <a:spcPct val="150000"/>
              </a:lnSpc>
              <a:buFont typeface="Arial" panose="020B0604020202020204" pitchFamily="34" charset="0"/>
              <a:buChar char="•"/>
            </a:pPr>
            <a:r>
              <a:rPr lang="zh-CN" altLang="en-US" sz="1800" dirty="0"/>
              <a:t>阻尼因子增大后，锁定范围与捕捉范围（采用</a:t>
            </a:r>
            <a:r>
              <a:rPr lang="en-US" altLang="zh-CN" sz="1800" dirty="0"/>
              <a:t>PFD</a:t>
            </a:r>
            <a:r>
              <a:rPr lang="zh-CN" altLang="en-US" sz="1800" dirty="0"/>
              <a:t>者除外）均变大，但是上升时间与调整时间均变长即快速性变差，需要折衷</a:t>
            </a:r>
            <a:endParaRPr lang="en-US" altLang="zh-CN" sz="1800" dirty="0"/>
          </a:p>
          <a:p>
            <a:pPr marL="342900" indent="-342900">
              <a:lnSpc>
                <a:spcPct val="150000"/>
              </a:lnSpc>
              <a:buFont typeface="Wingdings" panose="05000000000000000000" pitchFamily="2" charset="2"/>
              <a:buChar char="Ø"/>
            </a:pPr>
            <a:r>
              <a:rPr lang="zh-CN" altLang="en-US" sz="1800" dirty="0"/>
              <a:t>增益</a:t>
            </a:r>
            <a:r>
              <a:rPr lang="en-US" altLang="zh-CN" sz="1800" i="1" dirty="0" err="1">
                <a:latin typeface="+mn-lt"/>
              </a:rPr>
              <a:t>K</a:t>
            </a:r>
            <a:r>
              <a:rPr lang="en-US" altLang="zh-CN" sz="1800" i="1" baseline="-25000" dirty="0" err="1">
                <a:latin typeface="+mn-lt"/>
              </a:rPr>
              <a:t>d</a:t>
            </a:r>
            <a:r>
              <a:rPr lang="en-US" altLang="zh-CN" sz="1800" i="1" dirty="0" err="1">
                <a:latin typeface="+mn-lt"/>
              </a:rPr>
              <a:t>K</a:t>
            </a:r>
            <a:r>
              <a:rPr lang="en-US" altLang="zh-CN" sz="1800" i="1" baseline="-25000" dirty="0" err="1">
                <a:latin typeface="+mn-lt"/>
              </a:rPr>
              <a:t>o</a:t>
            </a:r>
            <a:endParaRPr lang="en-US" altLang="zh-CN" sz="1800" i="1" baseline="-25000" dirty="0">
              <a:latin typeface="+mn-lt"/>
            </a:endParaRPr>
          </a:p>
          <a:p>
            <a:pPr marL="800100" lvl="1" indent="-342900">
              <a:lnSpc>
                <a:spcPct val="150000"/>
              </a:lnSpc>
              <a:buFont typeface="Arial" panose="020B0604020202020204" pitchFamily="34" charset="0"/>
              <a:buChar char="•"/>
            </a:pPr>
            <a:r>
              <a:rPr lang="zh-CN" altLang="en-US" sz="1800" dirty="0"/>
              <a:t>增益增加，捕捉范围与同步范围均增大</a:t>
            </a:r>
            <a:endParaRPr lang="en-US" altLang="zh-CN" sz="1800" dirty="0"/>
          </a:p>
        </p:txBody>
      </p:sp>
    </p:spTree>
    <p:extLst>
      <p:ext uri="{BB962C8B-B14F-4D97-AF65-F5344CB8AC3E}">
        <p14:creationId xmlns:p14="http://schemas.microsoft.com/office/powerpoint/2010/main" val="15611932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20</a:t>
            </a:fld>
            <a:endParaRPr lang="en-US" altLang="zh-CN">
              <a:solidFill>
                <a:srgbClr val="FFFFFF"/>
              </a:solidFill>
            </a:endParaRPr>
          </a:p>
        </p:txBody>
      </p:sp>
      <p:sp>
        <p:nvSpPr>
          <p:cNvPr id="5" name="文本框 4"/>
          <p:cNvSpPr txBox="1"/>
          <p:nvPr/>
        </p:nvSpPr>
        <p:spPr>
          <a:xfrm>
            <a:off x="428172" y="383207"/>
            <a:ext cx="11321142" cy="4478149"/>
          </a:xfrm>
          <a:prstGeom prst="rect">
            <a:avLst/>
          </a:prstGeom>
          <a:noFill/>
        </p:spPr>
        <p:txBody>
          <a:bodyPr wrap="square" rtlCol="0">
            <a:spAutoFit/>
          </a:bodyPr>
          <a:lstStyle/>
          <a:p>
            <a:pPr>
              <a:lnSpc>
                <a:spcPct val="150000"/>
              </a:lnSpc>
            </a:pPr>
            <a:r>
              <a:rPr lang="zh-CN" altLang="en-US" sz="2800" dirty="0">
                <a:solidFill>
                  <a:srgbClr val="FF0000"/>
                </a:solidFill>
                <a:latin typeface="隶书" panose="02010509060101010101" pitchFamily="49" charset="-122"/>
                <a:ea typeface="隶书" panose="02010509060101010101" pitchFamily="49" charset="-122"/>
              </a:rPr>
              <a:t>锁相环的参数与环路滤波器参数的关系</a:t>
            </a:r>
            <a:endParaRPr lang="en-US" altLang="zh-CN" sz="2800" dirty="0">
              <a:solidFill>
                <a:srgbClr val="FF0000"/>
              </a:solidFill>
              <a:latin typeface="隶书" panose="02010509060101010101" pitchFamily="49" charset="-122"/>
              <a:ea typeface="隶书" panose="02010509060101010101" pitchFamily="49" charset="-122"/>
            </a:endParaRPr>
          </a:p>
          <a:p>
            <a:pPr marL="342900" indent="-342900">
              <a:lnSpc>
                <a:spcPct val="150000"/>
              </a:lnSpc>
              <a:buFont typeface="Wingdings" panose="05000000000000000000" pitchFamily="2" charset="2"/>
              <a:buChar char="Ø"/>
            </a:pPr>
            <a:r>
              <a:rPr lang="zh-CN" altLang="en-US" sz="1800" dirty="0"/>
              <a:t>二阶锁相环的闭环稳态参数（环路滤波器电路见第</a:t>
            </a:r>
            <a:r>
              <a:rPr lang="en-US" altLang="zh-CN" sz="1800" dirty="0"/>
              <a:t>5</a:t>
            </a:r>
            <a:r>
              <a:rPr lang="zh-CN" altLang="en-US" sz="1800" dirty="0"/>
              <a:t>页）</a:t>
            </a:r>
            <a:endParaRPr lang="en-US" altLang="zh-CN" sz="1800" dirty="0"/>
          </a:p>
          <a:p>
            <a:pPr lvl="1">
              <a:lnSpc>
                <a:spcPct val="150000"/>
              </a:lnSpc>
            </a:pPr>
            <a:r>
              <a:rPr lang="zh-CN" altLang="en-US" sz="1800" dirty="0"/>
              <a:t>采用超前</a:t>
            </a:r>
            <a:r>
              <a:rPr lang="en-US" altLang="zh-CN" sz="1800" dirty="0"/>
              <a:t>-</a:t>
            </a:r>
            <a:r>
              <a:rPr lang="zh-CN" altLang="en-US" sz="1800" dirty="0"/>
              <a:t>滞后滤波器：</a:t>
            </a:r>
            <a:endParaRPr lang="en-US" altLang="zh-CN" sz="1800" dirty="0"/>
          </a:p>
          <a:p>
            <a:pPr lvl="1">
              <a:lnSpc>
                <a:spcPct val="150000"/>
              </a:lnSpc>
            </a:pPr>
            <a:endParaRPr lang="en-US" altLang="zh-CN" sz="1800" dirty="0"/>
          </a:p>
          <a:p>
            <a:pPr lvl="1">
              <a:lnSpc>
                <a:spcPct val="150000"/>
              </a:lnSpc>
            </a:pPr>
            <a:endParaRPr lang="en-US" altLang="zh-CN" sz="1800" dirty="0"/>
          </a:p>
          <a:p>
            <a:pPr lvl="1">
              <a:lnSpc>
                <a:spcPct val="150000"/>
              </a:lnSpc>
            </a:pPr>
            <a:r>
              <a:rPr lang="zh-CN" altLang="en-US" sz="1800" dirty="0"/>
              <a:t>采用比例积分滤波器：</a:t>
            </a:r>
            <a:endParaRPr lang="en-US" altLang="zh-CN" sz="1800" dirty="0"/>
          </a:p>
          <a:p>
            <a:pPr lvl="1">
              <a:lnSpc>
                <a:spcPct val="150000"/>
              </a:lnSpc>
            </a:pPr>
            <a:endParaRPr lang="en-US" altLang="zh-CN" sz="1800" dirty="0"/>
          </a:p>
          <a:p>
            <a:pPr lvl="1">
              <a:lnSpc>
                <a:spcPct val="150000"/>
              </a:lnSpc>
            </a:pPr>
            <a:endParaRPr lang="en-US" altLang="zh-CN" sz="1800" dirty="0"/>
          </a:p>
          <a:p>
            <a:pPr lvl="1">
              <a:lnSpc>
                <a:spcPct val="150000"/>
              </a:lnSpc>
            </a:pPr>
            <a:r>
              <a:rPr lang="zh-CN" altLang="en-US" sz="1800" dirty="0"/>
              <a:t>其中</a:t>
            </a:r>
            <a:r>
              <a:rPr lang="en-US" altLang="zh-CN" sz="1800" i="1" dirty="0">
                <a:latin typeface="+mn-lt"/>
              </a:rPr>
              <a:t>K</a:t>
            </a:r>
            <a:r>
              <a:rPr lang="en-US" altLang="zh-CN" sz="1800" dirty="0">
                <a:latin typeface="+mn-lt"/>
              </a:rPr>
              <a:t>=</a:t>
            </a:r>
            <a:r>
              <a:rPr lang="en-US" altLang="zh-CN" sz="1800" i="1" dirty="0" err="1">
                <a:latin typeface="+mn-lt"/>
              </a:rPr>
              <a:t>K</a:t>
            </a:r>
            <a:r>
              <a:rPr lang="en-US" altLang="zh-CN" sz="1800" i="1" baseline="-25000" dirty="0" err="1">
                <a:latin typeface="+mn-lt"/>
              </a:rPr>
              <a:t>d</a:t>
            </a:r>
            <a:r>
              <a:rPr lang="en-US" altLang="zh-CN" sz="1800" i="1" dirty="0" err="1">
                <a:latin typeface="+mn-lt"/>
              </a:rPr>
              <a:t>K</a:t>
            </a:r>
            <a:r>
              <a:rPr lang="en-US" altLang="zh-CN" sz="1800" i="1" baseline="-25000" dirty="0" err="1">
                <a:latin typeface="+mn-lt"/>
              </a:rPr>
              <a:t>o</a:t>
            </a:r>
            <a:r>
              <a:rPr lang="en-US" altLang="zh-CN" sz="1800" dirty="0">
                <a:latin typeface="+mn-lt"/>
              </a:rPr>
              <a:t>/</a:t>
            </a:r>
            <a:r>
              <a:rPr lang="en-US" altLang="zh-CN" sz="1800" i="1" dirty="0">
                <a:latin typeface="+mn-lt"/>
              </a:rPr>
              <a:t>N</a:t>
            </a:r>
            <a:r>
              <a:rPr lang="zh-CN" altLang="en-US" sz="1800" dirty="0"/>
              <a:t>，</a:t>
            </a:r>
            <a:r>
              <a:rPr lang="en-US" altLang="zh-CN" sz="1800" i="1" dirty="0">
                <a:latin typeface="+mn-lt"/>
              </a:rPr>
              <a:t>N</a:t>
            </a:r>
            <a:r>
              <a:rPr lang="zh-CN" altLang="en-US" sz="1800" dirty="0"/>
              <a:t>为反馈回路中的分频系数（没有分频器则</a:t>
            </a:r>
            <a:r>
              <a:rPr lang="en-US" altLang="zh-CN" sz="1800" i="1" dirty="0">
                <a:latin typeface="+mn-lt"/>
              </a:rPr>
              <a:t>N</a:t>
            </a:r>
            <a:r>
              <a:rPr lang="en-US" altLang="zh-CN" sz="1800" dirty="0">
                <a:latin typeface="+mn-lt"/>
              </a:rPr>
              <a:t>=1</a:t>
            </a:r>
            <a:r>
              <a:rPr lang="zh-CN" altLang="en-US" sz="1800" dirty="0"/>
              <a:t>）</a:t>
            </a:r>
            <a:endParaRPr lang="en-US" altLang="zh-CN" sz="1800" dirty="0"/>
          </a:p>
          <a:p>
            <a:pPr lvl="1">
              <a:lnSpc>
                <a:spcPct val="150000"/>
              </a:lnSpc>
            </a:pPr>
            <a:r>
              <a:rPr lang="zh-CN" altLang="en-US" sz="1800" dirty="0"/>
              <a:t>在</a:t>
            </a:r>
            <a:r>
              <a:rPr lang="en-US" altLang="zh-CN" sz="1800" i="1" dirty="0">
                <a:latin typeface="+mn-lt"/>
              </a:rPr>
              <a:t>R</a:t>
            </a:r>
            <a:r>
              <a:rPr lang="en-US" altLang="zh-CN" sz="1800" baseline="-25000" dirty="0">
                <a:latin typeface="+mn-lt"/>
              </a:rPr>
              <a:t>2</a:t>
            </a:r>
            <a:r>
              <a:rPr lang="en-US" altLang="zh-CN" sz="1800" dirty="0">
                <a:latin typeface="+mn-lt"/>
              </a:rPr>
              <a:t>&lt;&lt;</a:t>
            </a:r>
            <a:r>
              <a:rPr lang="en-US" altLang="zh-CN" sz="1800" i="1" dirty="0">
                <a:latin typeface="+mn-lt"/>
              </a:rPr>
              <a:t>R</a:t>
            </a:r>
            <a:r>
              <a:rPr lang="en-US" altLang="zh-CN" sz="1800" baseline="-25000" dirty="0">
                <a:latin typeface="+mn-lt"/>
              </a:rPr>
              <a:t>1</a:t>
            </a:r>
            <a:r>
              <a:rPr lang="zh-CN" altLang="zh-CN" sz="1800" dirty="0">
                <a:latin typeface="+mn-lt"/>
              </a:rPr>
              <a:t>，</a:t>
            </a:r>
            <a:r>
              <a:rPr lang="en-US" altLang="zh-CN" sz="1800" i="1" dirty="0">
                <a:latin typeface="+mn-lt"/>
              </a:rPr>
              <a:t>K</a:t>
            </a:r>
            <a:r>
              <a:rPr lang="en-US" altLang="zh-CN" sz="1800" dirty="0">
                <a:latin typeface="+mn-lt"/>
              </a:rPr>
              <a:t>&gt;&gt;</a:t>
            </a:r>
            <a:r>
              <a:rPr lang="en-US" altLang="zh-CN" sz="1800" i="1" dirty="0" err="1">
                <a:latin typeface="+mn-lt"/>
              </a:rPr>
              <a:t>ω</a:t>
            </a:r>
            <a:r>
              <a:rPr lang="en-US" altLang="zh-CN" sz="1800" i="1" baseline="-25000" dirty="0" err="1">
                <a:latin typeface="+mn-lt"/>
              </a:rPr>
              <a:t>n</a:t>
            </a:r>
            <a:r>
              <a:rPr lang="zh-CN" altLang="zh-CN" sz="1800" dirty="0"/>
              <a:t>条件下</a:t>
            </a:r>
            <a:r>
              <a:rPr lang="zh-CN" altLang="en-US" sz="1800" dirty="0"/>
              <a:t>（大部分集成锁相环满足此条件）</a:t>
            </a:r>
            <a:endParaRPr lang="en-US" altLang="zh-CN"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2457548937"/>
              </p:ext>
            </p:extLst>
          </p:nvPr>
        </p:nvGraphicFramePr>
        <p:xfrm>
          <a:off x="3346450" y="4932182"/>
          <a:ext cx="2762250" cy="815975"/>
        </p:xfrm>
        <a:graphic>
          <a:graphicData uri="http://schemas.openxmlformats.org/presentationml/2006/ole">
            <mc:AlternateContent xmlns:mc="http://schemas.openxmlformats.org/markup-compatibility/2006">
              <mc:Choice xmlns:v="urn:schemas-microsoft-com:vml" Requires="v">
                <p:oleObj spid="_x0000_s24738" name="Equation" r:id="rId3" imgW="1523880" imgH="444240" progId="Equation.DSMT4">
                  <p:embed/>
                </p:oleObj>
              </mc:Choice>
              <mc:Fallback>
                <p:oleObj name="Equation" r:id="rId3" imgW="1523880" imgH="444240" progId="Equation.DSMT4">
                  <p:embed/>
                  <p:pic>
                    <p:nvPicPr>
                      <p:cNvPr id="7" name="对象 6"/>
                      <p:cNvPicPr>
                        <a:picLocks noChangeAspect="1" noChangeArrowheads="1"/>
                      </p:cNvPicPr>
                      <p:nvPr/>
                    </p:nvPicPr>
                    <p:blipFill>
                      <a:blip r:embed="rId4"/>
                      <a:srcRect/>
                      <a:stretch>
                        <a:fillRect/>
                      </a:stretch>
                    </p:blipFill>
                    <p:spPr bwMode="auto">
                      <a:xfrm>
                        <a:off x="3346450" y="4932182"/>
                        <a:ext cx="2762250" cy="815975"/>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016191785"/>
              </p:ext>
            </p:extLst>
          </p:nvPr>
        </p:nvGraphicFramePr>
        <p:xfrm>
          <a:off x="3346450" y="1892595"/>
          <a:ext cx="4346144" cy="817367"/>
        </p:xfrm>
        <a:graphic>
          <a:graphicData uri="http://schemas.openxmlformats.org/presentationml/2006/ole">
            <mc:AlternateContent xmlns:mc="http://schemas.openxmlformats.org/markup-compatibility/2006">
              <mc:Choice xmlns:v="urn:schemas-microsoft-com:vml" Requires="v">
                <p:oleObj spid="_x0000_s24739" name="Equation" r:id="rId5" imgW="2361960" imgH="444240" progId="Equation.DSMT4">
                  <p:embed/>
                </p:oleObj>
              </mc:Choice>
              <mc:Fallback>
                <p:oleObj name="Equation" r:id="rId5" imgW="2361960" imgH="444240" progId="Equation.DSMT4">
                  <p:embed/>
                  <p:pic>
                    <p:nvPicPr>
                      <p:cNvPr id="0" name="Object 3"/>
                      <p:cNvPicPr>
                        <a:picLocks noChangeAspect="1" noChangeArrowheads="1"/>
                      </p:cNvPicPr>
                      <p:nvPr/>
                    </p:nvPicPr>
                    <p:blipFill>
                      <a:blip r:embed="rId6"/>
                      <a:srcRect/>
                      <a:stretch>
                        <a:fillRect/>
                      </a:stretch>
                    </p:blipFill>
                    <p:spPr bwMode="auto">
                      <a:xfrm>
                        <a:off x="3346450" y="1892595"/>
                        <a:ext cx="4346144" cy="817367"/>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850252173"/>
              </p:ext>
            </p:extLst>
          </p:nvPr>
        </p:nvGraphicFramePr>
        <p:xfrm>
          <a:off x="3346450" y="3069895"/>
          <a:ext cx="2990850" cy="817563"/>
        </p:xfrm>
        <a:graphic>
          <a:graphicData uri="http://schemas.openxmlformats.org/presentationml/2006/ole">
            <mc:AlternateContent xmlns:mc="http://schemas.openxmlformats.org/markup-compatibility/2006">
              <mc:Choice xmlns:v="urn:schemas-microsoft-com:vml" Requires="v">
                <p:oleObj spid="_x0000_s24740" name="Equation" r:id="rId7" imgW="1625400" imgH="444240" progId="Equation.DSMT4">
                  <p:embed/>
                </p:oleObj>
              </mc:Choice>
              <mc:Fallback>
                <p:oleObj name="Equation" r:id="rId7" imgW="1625400" imgH="444240" progId="Equation.DSMT4">
                  <p:embed/>
                  <p:pic>
                    <p:nvPicPr>
                      <p:cNvPr id="8" name="对象 7"/>
                      <p:cNvPicPr>
                        <a:picLocks noChangeAspect="1" noChangeArrowheads="1"/>
                      </p:cNvPicPr>
                      <p:nvPr/>
                    </p:nvPicPr>
                    <p:blipFill>
                      <a:blip r:embed="rId8"/>
                      <a:srcRect/>
                      <a:stretch>
                        <a:fillRect/>
                      </a:stretch>
                    </p:blipFill>
                    <p:spPr bwMode="auto">
                      <a:xfrm>
                        <a:off x="3346450" y="3069895"/>
                        <a:ext cx="2990850" cy="817563"/>
                      </a:xfrm>
                      <a:prstGeom prst="rect">
                        <a:avLst/>
                      </a:prstGeom>
                      <a:noFill/>
                    </p:spPr>
                  </p:pic>
                </p:oleObj>
              </mc:Fallback>
            </mc:AlternateContent>
          </a:graphicData>
        </a:graphic>
      </p:graphicFrame>
    </p:spTree>
    <p:extLst>
      <p:ext uri="{BB962C8B-B14F-4D97-AF65-F5344CB8AC3E}">
        <p14:creationId xmlns:p14="http://schemas.microsoft.com/office/powerpoint/2010/main" val="3600926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21</a:t>
            </a:fld>
            <a:endParaRPr lang="en-US" altLang="zh-CN">
              <a:solidFill>
                <a:srgbClr val="FFFFFF"/>
              </a:solidFill>
            </a:endParaRPr>
          </a:p>
        </p:txBody>
      </p:sp>
      <p:sp>
        <p:nvSpPr>
          <p:cNvPr id="5" name="矩形 4"/>
          <p:cNvSpPr/>
          <p:nvPr/>
        </p:nvSpPr>
        <p:spPr>
          <a:xfrm>
            <a:off x="344792" y="447774"/>
            <a:ext cx="8282228" cy="553998"/>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dirty="0"/>
              <a:t>三阶锁相环的开环</a:t>
            </a:r>
            <a:r>
              <a:rPr lang="zh-CN" altLang="en-US" dirty="0" smtClean="0"/>
              <a:t>频率特性</a:t>
            </a:r>
            <a:endParaRPr lang="en-US" altLang="zh-CN" dirty="0"/>
          </a:p>
        </p:txBody>
      </p:sp>
      <p:graphicFrame>
        <p:nvGraphicFramePr>
          <p:cNvPr id="7" name="对象 6"/>
          <p:cNvGraphicFramePr>
            <a:graphicFrameLocks noChangeAspect="1"/>
          </p:cNvGraphicFramePr>
          <p:nvPr>
            <p:extLst>
              <p:ext uri="{D42A27DB-BD31-4B8C-83A1-F6EECF244321}">
                <p14:modId xmlns:p14="http://schemas.microsoft.com/office/powerpoint/2010/main" val="3150820878"/>
              </p:ext>
            </p:extLst>
          </p:nvPr>
        </p:nvGraphicFramePr>
        <p:xfrm>
          <a:off x="2098766" y="1198564"/>
          <a:ext cx="6410689" cy="3148383"/>
        </p:xfrm>
        <a:graphic>
          <a:graphicData uri="http://schemas.openxmlformats.org/presentationml/2006/ole">
            <mc:AlternateContent xmlns:mc="http://schemas.openxmlformats.org/markup-compatibility/2006">
              <mc:Choice xmlns:v="urn:schemas-microsoft-com:vml" Requires="v">
                <p:oleObj spid="_x0000_s18592" name="Visio" r:id="rId3" imgW="3924351" imgH="1930452" progId="Visio.Drawing.15">
                  <p:embed/>
                </p:oleObj>
              </mc:Choice>
              <mc:Fallback>
                <p:oleObj name="Visio" r:id="rId3" imgW="3924351" imgH="1930452" progId="Visio.Drawing.15">
                  <p:embed/>
                  <p:pic>
                    <p:nvPicPr>
                      <p:cNvPr id="0" name="Object 1"/>
                      <p:cNvPicPr>
                        <a:picLocks noChangeAspect="1" noChangeArrowheads="1"/>
                      </p:cNvPicPr>
                      <p:nvPr/>
                    </p:nvPicPr>
                    <p:blipFill>
                      <a:blip r:embed="rId4"/>
                      <a:srcRect/>
                      <a:stretch>
                        <a:fillRect/>
                      </a:stretch>
                    </p:blipFill>
                    <p:spPr bwMode="auto">
                      <a:xfrm>
                        <a:off x="2098766" y="1198564"/>
                        <a:ext cx="6410689" cy="3148383"/>
                      </a:xfrm>
                      <a:prstGeom prst="rect">
                        <a:avLst/>
                      </a:prstGeom>
                      <a:noFill/>
                    </p:spPr>
                  </p:pic>
                </p:oleObj>
              </mc:Fallback>
            </mc:AlternateContent>
          </a:graphicData>
        </a:graphic>
      </p:graphicFrame>
      <p:sp>
        <p:nvSpPr>
          <p:cNvPr id="8" name="矩形 7"/>
          <p:cNvSpPr/>
          <p:nvPr/>
        </p:nvSpPr>
        <p:spPr>
          <a:xfrm>
            <a:off x="417363" y="4636199"/>
            <a:ext cx="11339207" cy="1338828"/>
          </a:xfrm>
          <a:prstGeom prst="rect">
            <a:avLst/>
          </a:prstGeom>
        </p:spPr>
        <p:txBody>
          <a:bodyPr wrap="square">
            <a:spAutoFit/>
          </a:bodyPr>
          <a:lstStyle/>
          <a:p>
            <a:pPr marL="342900" indent="-342900">
              <a:lnSpc>
                <a:spcPct val="150000"/>
              </a:lnSpc>
              <a:buFont typeface="Arial" panose="020B0604020202020204" pitchFamily="34" charset="0"/>
              <a:buChar char="•"/>
            </a:pPr>
            <a:r>
              <a:rPr lang="zh-CN" altLang="zh-CN" sz="1800" dirty="0"/>
              <a:t>稳定条件是穿越频率</a:t>
            </a:r>
            <a:r>
              <a:rPr lang="en-US" altLang="zh-CN" sz="1800" i="1" dirty="0" err="1">
                <a:latin typeface="Symbol" panose="05050102010706020507" pitchFamily="18" charset="2"/>
              </a:rPr>
              <a:t>w</a:t>
            </a:r>
            <a:r>
              <a:rPr lang="en-US" altLang="zh-CN" sz="1800" i="1" baseline="-25000" dirty="0" err="1">
                <a:latin typeface="+mn-lt"/>
              </a:rPr>
              <a:t>T</a:t>
            </a:r>
            <a:r>
              <a:rPr lang="zh-CN" altLang="zh-CN" sz="1800" dirty="0"/>
              <a:t>位于</a:t>
            </a:r>
            <a:r>
              <a:rPr lang="en-US" altLang="zh-CN" sz="1800" i="1" dirty="0">
                <a:latin typeface="Symbol" panose="05050102010706020507" pitchFamily="18" charset="2"/>
              </a:rPr>
              <a:t>w</a:t>
            </a:r>
            <a:r>
              <a:rPr lang="en-US" altLang="zh-CN" sz="1800" baseline="-25000" dirty="0">
                <a:latin typeface="+mn-lt"/>
              </a:rPr>
              <a:t>2</a:t>
            </a:r>
            <a:r>
              <a:rPr lang="zh-CN" altLang="zh-CN" sz="1800" dirty="0"/>
              <a:t>和</a:t>
            </a:r>
            <a:r>
              <a:rPr lang="en-US" altLang="zh-CN" sz="1800" i="1" dirty="0">
                <a:latin typeface="Symbol" panose="05050102010706020507" pitchFamily="18" charset="2"/>
              </a:rPr>
              <a:t>w</a:t>
            </a:r>
            <a:r>
              <a:rPr lang="en-US" altLang="zh-CN" sz="1800" baseline="-25000" dirty="0">
                <a:latin typeface="+mn-lt"/>
              </a:rPr>
              <a:t>3</a:t>
            </a:r>
            <a:r>
              <a:rPr lang="zh-CN" altLang="zh-CN" sz="1800" dirty="0"/>
              <a:t>之间</a:t>
            </a:r>
            <a:r>
              <a:rPr lang="zh-CN" altLang="en-US" sz="1800" dirty="0"/>
              <a:t>（</a:t>
            </a:r>
            <a:r>
              <a:rPr lang="zh-CN" altLang="zh-CN" sz="1800" dirty="0"/>
              <a:t>最好是这两个频率的几何平均值</a:t>
            </a:r>
            <a:r>
              <a:rPr lang="zh-CN" altLang="en-US" sz="1800" dirty="0"/>
              <a:t>），穿越点斜率为</a:t>
            </a:r>
            <a:r>
              <a:rPr lang="en-US" altLang="zh-CN" sz="1800" dirty="0">
                <a:latin typeface="+mn-lt"/>
              </a:rPr>
              <a:t>-20dB/</a:t>
            </a:r>
            <a:r>
              <a:rPr lang="en-US" altLang="zh-CN" sz="1800" dirty="0" err="1">
                <a:latin typeface="+mn-lt"/>
              </a:rPr>
              <a:t>dec</a:t>
            </a:r>
            <a:endParaRPr lang="en-US" altLang="zh-CN" sz="1800" dirty="0">
              <a:latin typeface="+mn-lt"/>
            </a:endParaRPr>
          </a:p>
          <a:p>
            <a:pPr marL="342900" indent="-342900">
              <a:lnSpc>
                <a:spcPct val="150000"/>
              </a:lnSpc>
              <a:buFont typeface="Arial" panose="020B0604020202020204" pitchFamily="34" charset="0"/>
              <a:buChar char="•"/>
            </a:pPr>
            <a:r>
              <a:rPr lang="en-US" altLang="zh-CN" sz="1800" i="1" dirty="0">
                <a:latin typeface="Symbol" panose="05050102010706020507" pitchFamily="18" charset="2"/>
              </a:rPr>
              <a:t>w</a:t>
            </a:r>
            <a:r>
              <a:rPr lang="en-US" altLang="zh-CN" sz="1800" baseline="-25000" dirty="0">
                <a:latin typeface="+mn-lt"/>
              </a:rPr>
              <a:t>3</a:t>
            </a:r>
            <a:r>
              <a:rPr lang="en-US" altLang="zh-CN" sz="1800" dirty="0"/>
              <a:t>/</a:t>
            </a:r>
            <a:r>
              <a:rPr lang="en-US" altLang="zh-CN" sz="1800" i="1" dirty="0">
                <a:latin typeface="Symbol" panose="05050102010706020507" pitchFamily="18" charset="2"/>
              </a:rPr>
              <a:t>w</a:t>
            </a:r>
            <a:r>
              <a:rPr lang="en-US" altLang="zh-CN" sz="1800" baseline="-25000" dirty="0">
                <a:latin typeface="+mn-lt"/>
              </a:rPr>
              <a:t>2</a:t>
            </a:r>
            <a:r>
              <a:rPr lang="zh-CN" altLang="zh-CN" sz="1800" dirty="0"/>
              <a:t>影响锁相环的稳定性。取</a:t>
            </a:r>
            <a:r>
              <a:rPr lang="en-US" altLang="zh-CN" sz="1800" i="1" dirty="0">
                <a:latin typeface="Symbol" panose="05050102010706020507" pitchFamily="18" charset="2"/>
              </a:rPr>
              <a:t>w</a:t>
            </a:r>
            <a:r>
              <a:rPr lang="en-US" altLang="zh-CN" sz="1800" baseline="-25000" dirty="0">
                <a:latin typeface="+mn-lt"/>
              </a:rPr>
              <a:t>3</a:t>
            </a:r>
            <a:r>
              <a:rPr lang="en-US" altLang="zh-CN" sz="1800" dirty="0"/>
              <a:t>/</a:t>
            </a:r>
            <a:r>
              <a:rPr lang="en-US" altLang="zh-CN" sz="1800" i="1" dirty="0">
                <a:latin typeface="Symbol" panose="05050102010706020507" pitchFamily="18" charset="2"/>
              </a:rPr>
              <a:t>w</a:t>
            </a:r>
            <a:r>
              <a:rPr lang="en-US" altLang="zh-CN" sz="1800" baseline="-25000" dirty="0">
                <a:latin typeface="+mn-lt"/>
              </a:rPr>
              <a:t>2</a:t>
            </a:r>
            <a:r>
              <a:rPr lang="zh-CN" altLang="zh-CN" sz="1800" dirty="0"/>
              <a:t>等于</a:t>
            </a:r>
            <a:r>
              <a:rPr lang="en-US" altLang="zh-CN" sz="1800" dirty="0">
                <a:latin typeface="+mn-lt"/>
              </a:rPr>
              <a:t>4~10</a:t>
            </a:r>
            <a:r>
              <a:rPr lang="zh-CN" altLang="zh-CN" sz="1800" dirty="0"/>
              <a:t>时系统的稳定性大致与二阶锁相环的阻尼因子</a:t>
            </a:r>
            <a:r>
              <a:rPr lang="en-US" altLang="zh-CN" sz="1800" dirty="0">
                <a:latin typeface="+mn-lt"/>
              </a:rPr>
              <a:t>0.7</a:t>
            </a:r>
            <a:r>
              <a:rPr lang="zh-CN" altLang="zh-CN" sz="1800" dirty="0"/>
              <a:t>左右的稳定性相当。大的</a:t>
            </a:r>
            <a:r>
              <a:rPr lang="en-US" altLang="zh-CN" sz="1800" i="1" dirty="0">
                <a:latin typeface="Symbol" panose="05050102010706020507" pitchFamily="18" charset="2"/>
              </a:rPr>
              <a:t>w</a:t>
            </a:r>
            <a:r>
              <a:rPr lang="en-US" altLang="zh-CN" sz="1800" baseline="-25000" dirty="0">
                <a:latin typeface="+mn-lt"/>
              </a:rPr>
              <a:t>3</a:t>
            </a:r>
            <a:r>
              <a:rPr lang="en-US" altLang="zh-CN" sz="1800" dirty="0"/>
              <a:t>/</a:t>
            </a:r>
            <a:r>
              <a:rPr lang="en-US" altLang="zh-CN" sz="1800" i="1" dirty="0">
                <a:latin typeface="Symbol" panose="05050102010706020507" pitchFamily="18" charset="2"/>
              </a:rPr>
              <a:t>w</a:t>
            </a:r>
            <a:r>
              <a:rPr lang="en-US" altLang="zh-CN" sz="1800" baseline="-25000" dirty="0">
                <a:latin typeface="+mn-lt"/>
              </a:rPr>
              <a:t>2</a:t>
            </a:r>
            <a:r>
              <a:rPr lang="zh-CN" altLang="en-US" sz="1800" dirty="0"/>
              <a:t>相当</a:t>
            </a:r>
            <a:r>
              <a:rPr lang="zh-CN" altLang="zh-CN" sz="1800" dirty="0"/>
              <a:t>于大的阻尼因子，锁相环的稳定度增高但瞬态特性变差；小的</a:t>
            </a:r>
            <a:r>
              <a:rPr lang="en-US" altLang="zh-CN" sz="1800" i="1" dirty="0">
                <a:latin typeface="Symbol" panose="05050102010706020507" pitchFamily="18" charset="2"/>
              </a:rPr>
              <a:t>w</a:t>
            </a:r>
            <a:r>
              <a:rPr lang="en-US" altLang="zh-CN" sz="1800" baseline="-25000" dirty="0">
                <a:latin typeface="+mn-lt"/>
              </a:rPr>
              <a:t>3</a:t>
            </a:r>
            <a:r>
              <a:rPr lang="en-US" altLang="zh-CN" sz="1800" dirty="0"/>
              <a:t>/</a:t>
            </a:r>
            <a:r>
              <a:rPr lang="en-US" altLang="zh-CN" sz="1800" i="1" dirty="0">
                <a:latin typeface="Symbol" panose="05050102010706020507" pitchFamily="18" charset="2"/>
              </a:rPr>
              <a:t>w</a:t>
            </a:r>
            <a:r>
              <a:rPr lang="en-US" altLang="zh-CN" sz="1800" baseline="-25000" dirty="0">
                <a:latin typeface="+mn-lt"/>
              </a:rPr>
              <a:t>2</a:t>
            </a:r>
            <a:r>
              <a:rPr lang="zh-CN" altLang="zh-CN" sz="1800" dirty="0"/>
              <a:t>则相反</a:t>
            </a:r>
            <a:endParaRPr lang="en-US" altLang="zh-CN" sz="1800" dirty="0"/>
          </a:p>
        </p:txBody>
      </p:sp>
      <p:graphicFrame>
        <p:nvGraphicFramePr>
          <p:cNvPr id="10" name="对象 9"/>
          <p:cNvGraphicFramePr>
            <a:graphicFrameLocks noChangeAspect="1"/>
          </p:cNvGraphicFramePr>
          <p:nvPr>
            <p:extLst>
              <p:ext uri="{D42A27DB-BD31-4B8C-83A1-F6EECF244321}">
                <p14:modId xmlns:p14="http://schemas.microsoft.com/office/powerpoint/2010/main" val="1846740247"/>
              </p:ext>
            </p:extLst>
          </p:nvPr>
        </p:nvGraphicFramePr>
        <p:xfrm>
          <a:off x="8879418" y="1596874"/>
          <a:ext cx="1478114" cy="1886637"/>
        </p:xfrm>
        <a:graphic>
          <a:graphicData uri="http://schemas.openxmlformats.org/presentationml/2006/ole">
            <mc:AlternateContent xmlns:mc="http://schemas.openxmlformats.org/markup-compatibility/2006">
              <mc:Choice xmlns:v="urn:schemas-microsoft-com:vml" Requires="v">
                <p:oleObj spid="_x0000_s18593" name="Equation" r:id="rId5" imgW="787320" imgH="1028520" progId="Equation.DSMT4">
                  <p:embed/>
                </p:oleObj>
              </mc:Choice>
              <mc:Fallback>
                <p:oleObj name="Equation" r:id="rId5" imgW="787320" imgH="1028520" progId="Equation.DSMT4">
                  <p:embed/>
                  <p:pic>
                    <p:nvPicPr>
                      <p:cNvPr id="0" name="Object 4"/>
                      <p:cNvPicPr>
                        <a:picLocks noChangeAspect="1" noChangeArrowheads="1"/>
                      </p:cNvPicPr>
                      <p:nvPr/>
                    </p:nvPicPr>
                    <p:blipFill>
                      <a:blip r:embed="rId6"/>
                      <a:srcRect/>
                      <a:stretch>
                        <a:fillRect/>
                      </a:stretch>
                    </p:blipFill>
                    <p:spPr bwMode="auto">
                      <a:xfrm>
                        <a:off x="8879418" y="1596874"/>
                        <a:ext cx="1478114" cy="1886637"/>
                      </a:xfrm>
                      <a:prstGeom prst="rect">
                        <a:avLst/>
                      </a:prstGeom>
                      <a:noFill/>
                    </p:spPr>
                  </p:pic>
                </p:oleObj>
              </mc:Fallback>
            </mc:AlternateContent>
          </a:graphicData>
        </a:graphic>
      </p:graphicFrame>
    </p:spTree>
    <p:extLst>
      <p:ext uri="{BB962C8B-B14F-4D97-AF65-F5344CB8AC3E}">
        <p14:creationId xmlns:p14="http://schemas.microsoft.com/office/powerpoint/2010/main" val="995481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22</a:t>
            </a:fld>
            <a:endParaRPr lang="en-US" altLang="zh-CN">
              <a:solidFill>
                <a:srgbClr val="FFFFFF"/>
              </a:solidFill>
            </a:endParaRPr>
          </a:p>
        </p:txBody>
      </p:sp>
      <p:sp>
        <p:nvSpPr>
          <p:cNvPr id="5" name="文本框 4"/>
          <p:cNvSpPr txBox="1"/>
          <p:nvPr/>
        </p:nvSpPr>
        <p:spPr>
          <a:xfrm>
            <a:off x="508000" y="569239"/>
            <a:ext cx="11255829" cy="1800493"/>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dirty="0"/>
              <a:t>用二阶锁相环的理论估算三阶锁相环性能的方法</a:t>
            </a:r>
            <a:endParaRPr lang="en-US" altLang="zh-CN" dirty="0"/>
          </a:p>
          <a:p>
            <a:pPr lvl="1">
              <a:lnSpc>
                <a:spcPct val="150000"/>
              </a:lnSpc>
            </a:pPr>
            <a:r>
              <a:rPr lang="zh-CN" altLang="en-US" sz="1800" dirty="0"/>
              <a:t>理论上，三阶锁相环没有自然频率、阻尼因子等概念。但是通常在三阶锁相环的环路滤波器中 </a:t>
            </a:r>
            <a:r>
              <a:rPr lang="en-US" altLang="zh-CN" sz="1800" i="1" dirty="0">
                <a:latin typeface="+mn-lt"/>
              </a:rPr>
              <a:t>C</a:t>
            </a:r>
            <a:r>
              <a:rPr lang="en-US" altLang="zh-CN" sz="1800" baseline="-25000" dirty="0">
                <a:latin typeface="+mn-lt"/>
              </a:rPr>
              <a:t>2</a:t>
            </a:r>
            <a:r>
              <a:rPr lang="en-US" altLang="zh-CN" sz="1800" baseline="-25000" dirty="0"/>
              <a:t> </a:t>
            </a:r>
            <a:r>
              <a:rPr lang="zh-CN" altLang="en-US" sz="1800" dirty="0"/>
              <a:t>的容量远小于 </a:t>
            </a:r>
            <a:r>
              <a:rPr lang="en-US" altLang="zh-CN" sz="1800" i="1" dirty="0">
                <a:latin typeface="+mn-lt"/>
              </a:rPr>
              <a:t>C</a:t>
            </a:r>
            <a:r>
              <a:rPr lang="en-US" altLang="zh-CN" sz="1800" baseline="-25000" dirty="0">
                <a:latin typeface="+mn-lt"/>
              </a:rPr>
              <a:t>1</a:t>
            </a:r>
            <a:r>
              <a:rPr lang="en-US" altLang="zh-CN" sz="1800" baseline="-25000" dirty="0"/>
              <a:t> </a:t>
            </a:r>
            <a:r>
              <a:rPr lang="zh-CN" altLang="en-US" sz="1800" dirty="0"/>
              <a:t>的容量，因此由它形成的极点影响较小，这种情况下可以忽略 </a:t>
            </a:r>
            <a:r>
              <a:rPr lang="en-US" altLang="zh-CN" sz="1800" i="1" dirty="0">
                <a:latin typeface="+mn-lt"/>
              </a:rPr>
              <a:t>C</a:t>
            </a:r>
            <a:r>
              <a:rPr lang="en-US" altLang="zh-CN" sz="1800" baseline="-25000" dirty="0">
                <a:latin typeface="+mn-lt"/>
              </a:rPr>
              <a:t>2 </a:t>
            </a:r>
            <a:r>
              <a:rPr lang="zh-CN" altLang="en-US" sz="1800" dirty="0"/>
              <a:t>求得类似二阶环的“自然频率”与“阻尼因子”，然后以此为根据，估计锁相环的瞬态性能以及失锁状态下的捕捉、同步等性能</a:t>
            </a:r>
            <a:endParaRPr lang="en-US" altLang="zh-CN" sz="1800" dirty="0"/>
          </a:p>
        </p:txBody>
      </p:sp>
    </p:spTree>
    <p:extLst>
      <p:ext uri="{BB962C8B-B14F-4D97-AF65-F5344CB8AC3E}">
        <p14:creationId xmlns:p14="http://schemas.microsoft.com/office/powerpoint/2010/main" val="3075300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23</a:t>
            </a:fld>
            <a:endParaRPr lang="en-US" altLang="zh-CN">
              <a:solidFill>
                <a:srgbClr val="FFFFFF"/>
              </a:solidFill>
            </a:endParaRPr>
          </a:p>
        </p:txBody>
      </p:sp>
      <p:sp>
        <p:nvSpPr>
          <p:cNvPr id="5" name="文本框 4"/>
          <p:cNvSpPr txBox="1"/>
          <p:nvPr/>
        </p:nvSpPr>
        <p:spPr>
          <a:xfrm>
            <a:off x="442686" y="401284"/>
            <a:ext cx="11378899" cy="4478149"/>
          </a:xfrm>
          <a:prstGeom prst="rect">
            <a:avLst/>
          </a:prstGeom>
          <a:noFill/>
        </p:spPr>
        <p:txBody>
          <a:bodyPr wrap="square" rtlCol="0">
            <a:spAutoFit/>
          </a:bodyPr>
          <a:lstStyle/>
          <a:p>
            <a:pPr>
              <a:lnSpc>
                <a:spcPct val="150000"/>
              </a:lnSpc>
            </a:pPr>
            <a:r>
              <a:rPr lang="zh-CN" altLang="en-US" sz="2800" dirty="0">
                <a:solidFill>
                  <a:srgbClr val="FF0000"/>
                </a:solidFill>
                <a:latin typeface="隶书" panose="02010509060101010101" pitchFamily="49" charset="-122"/>
                <a:ea typeface="隶书" panose="02010509060101010101" pitchFamily="49" charset="-122"/>
              </a:rPr>
              <a:t>锁相环电路的一般设计过程</a:t>
            </a:r>
            <a:endParaRPr lang="en-US" altLang="zh-CN" sz="2800" dirty="0">
              <a:solidFill>
                <a:srgbClr val="FF0000"/>
              </a:solidFill>
              <a:latin typeface="隶书" panose="02010509060101010101" pitchFamily="49" charset="-122"/>
              <a:ea typeface="隶书" panose="02010509060101010101" pitchFamily="49" charset="-122"/>
            </a:endParaRPr>
          </a:p>
          <a:p>
            <a:pPr marL="342900" indent="-342900">
              <a:lnSpc>
                <a:spcPct val="150000"/>
              </a:lnSpc>
              <a:buFont typeface="Wingdings" panose="05000000000000000000" pitchFamily="2" charset="2"/>
              <a:buChar char="Ø"/>
            </a:pPr>
            <a:r>
              <a:rPr lang="zh-CN" altLang="en-US" sz="1800" dirty="0">
                <a:solidFill>
                  <a:srgbClr val="FF0000"/>
                </a:solidFill>
              </a:rPr>
              <a:t>设计锁相环电路的前提</a:t>
            </a:r>
            <a:endParaRPr lang="en-US" altLang="zh-CN" sz="1800" dirty="0">
              <a:solidFill>
                <a:srgbClr val="FF0000"/>
              </a:solidFill>
            </a:endParaRPr>
          </a:p>
          <a:p>
            <a:pPr marL="342900" indent="-342900">
              <a:lnSpc>
                <a:spcPct val="150000"/>
              </a:lnSpc>
              <a:buFont typeface="Arial" panose="020B0604020202020204" pitchFamily="34" charset="0"/>
              <a:buChar char="•"/>
            </a:pPr>
            <a:r>
              <a:rPr lang="zh-CN" altLang="en-US" sz="1800" dirty="0"/>
              <a:t>输入信号（参考信号）的性质</a:t>
            </a:r>
            <a:endParaRPr lang="en-US" altLang="zh-CN" sz="1800" dirty="0"/>
          </a:p>
          <a:p>
            <a:pPr marL="800100" lvl="1" indent="-342900">
              <a:lnSpc>
                <a:spcPct val="150000"/>
              </a:lnSpc>
              <a:buFont typeface="Arial" panose="020B0604020202020204" pitchFamily="34" charset="0"/>
              <a:buChar char="•"/>
            </a:pPr>
            <a:r>
              <a:rPr lang="zh-CN" altLang="en-US" sz="1800" dirty="0"/>
              <a:t>频率（或频率范围）</a:t>
            </a:r>
            <a:endParaRPr lang="en-US" altLang="zh-CN" sz="1800" dirty="0"/>
          </a:p>
          <a:p>
            <a:pPr marL="800100" lvl="1" indent="-342900">
              <a:lnSpc>
                <a:spcPct val="150000"/>
              </a:lnSpc>
              <a:buFont typeface="Arial" panose="020B0604020202020204" pitchFamily="34" charset="0"/>
              <a:buChar char="•"/>
            </a:pPr>
            <a:r>
              <a:rPr lang="zh-CN" altLang="en-US" sz="1800" dirty="0"/>
              <a:t>频率变化（或相位变化）的速率</a:t>
            </a:r>
            <a:endParaRPr lang="en-US" altLang="zh-CN" sz="1800" dirty="0"/>
          </a:p>
          <a:p>
            <a:pPr marL="800100" lvl="1" indent="-342900">
              <a:lnSpc>
                <a:spcPct val="150000"/>
              </a:lnSpc>
              <a:buFont typeface="Arial" panose="020B0604020202020204" pitchFamily="34" charset="0"/>
              <a:buChar char="•"/>
            </a:pPr>
            <a:r>
              <a:rPr lang="zh-CN" altLang="en-US" sz="1800" dirty="0"/>
              <a:t>幅度与波形（此项或</a:t>
            </a:r>
            <a:r>
              <a:rPr lang="zh-CN" altLang="en-US" sz="1800" dirty="0" smtClean="0"/>
              <a:t>可通过</a:t>
            </a:r>
            <a:r>
              <a:rPr lang="zh-CN" altLang="en-US" sz="1800" dirty="0"/>
              <a:t>外部电路加以改变）</a:t>
            </a:r>
            <a:endParaRPr lang="en-US" altLang="zh-CN" sz="1800" dirty="0"/>
          </a:p>
          <a:p>
            <a:pPr marL="800100" lvl="1" indent="-342900">
              <a:lnSpc>
                <a:spcPct val="150000"/>
              </a:lnSpc>
              <a:buFont typeface="Arial" panose="020B0604020202020204" pitchFamily="34" charset="0"/>
              <a:buChar char="•"/>
            </a:pPr>
            <a:r>
              <a:rPr lang="zh-CN" altLang="en-US" sz="1800" dirty="0"/>
              <a:t>噪声（信噪比）</a:t>
            </a:r>
            <a:endParaRPr lang="en-US" altLang="zh-CN" sz="1800" dirty="0"/>
          </a:p>
          <a:p>
            <a:pPr marL="342900" indent="-342900">
              <a:lnSpc>
                <a:spcPct val="150000"/>
              </a:lnSpc>
              <a:buFont typeface="Arial" panose="020B0604020202020204" pitchFamily="34" charset="0"/>
              <a:buChar char="•"/>
            </a:pPr>
            <a:r>
              <a:rPr lang="zh-CN" altLang="en-US" sz="1800" dirty="0"/>
              <a:t>对于输出信号的要求</a:t>
            </a:r>
            <a:endParaRPr lang="en-US" altLang="zh-CN" sz="1800" dirty="0"/>
          </a:p>
          <a:p>
            <a:pPr marL="800100" lvl="1" indent="-342900">
              <a:lnSpc>
                <a:spcPct val="150000"/>
              </a:lnSpc>
              <a:buFont typeface="Arial" panose="020B0604020202020204" pitchFamily="34" charset="0"/>
              <a:buChar char="•"/>
            </a:pPr>
            <a:r>
              <a:rPr lang="zh-CN" altLang="en-US" sz="1800" dirty="0"/>
              <a:t>输出频率恒定（载波跟踪型），还是随输入变化（调制跟踪型）</a:t>
            </a:r>
            <a:endParaRPr lang="en-US" altLang="zh-CN" sz="1800" dirty="0"/>
          </a:p>
          <a:p>
            <a:pPr marL="800100" lvl="1" indent="-342900">
              <a:lnSpc>
                <a:spcPct val="150000"/>
              </a:lnSpc>
              <a:buFont typeface="Arial" panose="020B0604020202020204" pitchFamily="34" charset="0"/>
              <a:buChar char="•"/>
            </a:pPr>
            <a:r>
              <a:rPr lang="zh-CN" altLang="en-US" sz="1800" dirty="0"/>
              <a:t>输出频率的稳定性（信噪比、相位抖动等）</a:t>
            </a:r>
          </a:p>
        </p:txBody>
      </p:sp>
    </p:spTree>
    <p:extLst>
      <p:ext uri="{BB962C8B-B14F-4D97-AF65-F5344CB8AC3E}">
        <p14:creationId xmlns:p14="http://schemas.microsoft.com/office/powerpoint/2010/main" val="27982230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24</a:t>
            </a:fld>
            <a:endParaRPr lang="en-US" altLang="zh-CN">
              <a:solidFill>
                <a:srgbClr val="FFFFFF"/>
              </a:solidFill>
            </a:endParaRPr>
          </a:p>
        </p:txBody>
      </p:sp>
      <p:sp>
        <p:nvSpPr>
          <p:cNvPr id="5" name="矩形 4"/>
          <p:cNvSpPr/>
          <p:nvPr/>
        </p:nvSpPr>
        <p:spPr>
          <a:xfrm>
            <a:off x="478971" y="492705"/>
            <a:ext cx="11342614" cy="3554819"/>
          </a:xfrm>
          <a:prstGeom prst="rect">
            <a:avLst/>
          </a:prstGeom>
        </p:spPr>
        <p:txBody>
          <a:bodyPr wrap="square">
            <a:spAutoFit/>
          </a:bodyPr>
          <a:lstStyle/>
          <a:p>
            <a:pPr marL="342900" lvl="2" indent="-342900">
              <a:lnSpc>
                <a:spcPct val="150000"/>
              </a:lnSpc>
              <a:buFont typeface="Wingdings" panose="05000000000000000000" pitchFamily="2" charset="2"/>
              <a:buChar char="Ø"/>
            </a:pPr>
            <a:r>
              <a:rPr lang="zh-CN" altLang="zh-CN" dirty="0">
                <a:solidFill>
                  <a:srgbClr val="FF0000"/>
                </a:solidFill>
              </a:rPr>
              <a:t>选择鉴相器</a:t>
            </a:r>
          </a:p>
          <a:p>
            <a:pPr>
              <a:lnSpc>
                <a:spcPct val="150000"/>
              </a:lnSpc>
            </a:pPr>
            <a:r>
              <a:rPr lang="zh-CN" altLang="zh-CN" sz="1800" dirty="0"/>
              <a:t>取决于输入信号与反馈信号的性质</a:t>
            </a:r>
          </a:p>
          <a:p>
            <a:pPr marL="342900" indent="-342900">
              <a:lnSpc>
                <a:spcPct val="150000"/>
              </a:lnSpc>
              <a:buFont typeface="Arial" panose="020B0604020202020204" pitchFamily="34" charset="0"/>
              <a:buChar char="•"/>
            </a:pPr>
            <a:r>
              <a:rPr lang="zh-CN" altLang="zh-CN" sz="1800" dirty="0"/>
              <a:t>信号含有明确的边沿信息，或者可以通过转换手段获得</a:t>
            </a:r>
            <a:r>
              <a:rPr lang="zh-CN" altLang="en-US" sz="1800" dirty="0"/>
              <a:t>明确的</a:t>
            </a:r>
            <a:r>
              <a:rPr lang="zh-CN" altLang="zh-CN" sz="1800" dirty="0"/>
              <a:t>边沿信息，那么采用</a:t>
            </a:r>
            <a:r>
              <a:rPr lang="en-US" altLang="zh-CN" sz="1800" dirty="0"/>
              <a:t>PFD</a:t>
            </a:r>
            <a:r>
              <a:rPr lang="zh-CN" altLang="zh-CN" sz="1800" dirty="0"/>
              <a:t>是最佳的选择</a:t>
            </a:r>
            <a:r>
              <a:rPr lang="zh-CN" altLang="en-US" sz="1800" dirty="0"/>
              <a:t>（例如频率合成器的信号通常总是符合上述要求的，所以总是采用</a:t>
            </a:r>
            <a:r>
              <a:rPr lang="en-US" altLang="zh-CN" sz="1800" dirty="0"/>
              <a:t>PFD</a:t>
            </a:r>
            <a:r>
              <a:rPr lang="zh-CN" altLang="en-US" sz="1800" dirty="0"/>
              <a:t>）</a:t>
            </a:r>
            <a:endParaRPr lang="zh-CN" altLang="zh-CN" sz="1800" dirty="0"/>
          </a:p>
          <a:p>
            <a:pPr marL="342900" indent="-342900">
              <a:lnSpc>
                <a:spcPct val="150000"/>
              </a:lnSpc>
              <a:buFont typeface="Arial" panose="020B0604020202020204" pitchFamily="34" charset="0"/>
              <a:buChar char="•"/>
            </a:pPr>
            <a:r>
              <a:rPr lang="zh-CN" altLang="zh-CN" sz="1800" dirty="0"/>
              <a:t>信号边沿信息不很明确，例如带有噪声</a:t>
            </a:r>
            <a:r>
              <a:rPr lang="zh-CN" altLang="en-US" sz="1800" dirty="0"/>
              <a:t>或</a:t>
            </a:r>
            <a:r>
              <a:rPr lang="zh-CN" altLang="zh-CN" sz="1800" dirty="0"/>
              <a:t>毛刺</a:t>
            </a:r>
            <a:r>
              <a:rPr lang="zh-CN" altLang="en-US" sz="1800" dirty="0"/>
              <a:t>，</a:t>
            </a:r>
            <a:r>
              <a:rPr lang="zh-CN" altLang="zh-CN" sz="1800" dirty="0"/>
              <a:t>不能用</a:t>
            </a:r>
            <a:r>
              <a:rPr lang="en-US" altLang="zh-CN" sz="1800" dirty="0"/>
              <a:t>PFD</a:t>
            </a:r>
            <a:r>
              <a:rPr lang="zh-CN" altLang="en-US" sz="1800" dirty="0"/>
              <a:t>（</a:t>
            </a:r>
            <a:r>
              <a:rPr lang="zh-CN" altLang="zh-CN" sz="1800" dirty="0"/>
              <a:t>因为毛刺信号会引起</a:t>
            </a:r>
            <a:r>
              <a:rPr lang="en-US" altLang="zh-CN" sz="1800" dirty="0"/>
              <a:t>PFD</a:t>
            </a:r>
            <a:r>
              <a:rPr lang="zh-CN" altLang="zh-CN" sz="1800" dirty="0"/>
              <a:t>的误动作</a:t>
            </a:r>
            <a:r>
              <a:rPr lang="zh-CN" altLang="en-US" sz="1800" dirty="0"/>
              <a:t>）</a:t>
            </a:r>
            <a:r>
              <a:rPr lang="zh-CN" altLang="zh-CN" sz="1800" dirty="0"/>
              <a:t>，但可以选用异或门鉴相器</a:t>
            </a:r>
            <a:r>
              <a:rPr lang="zh-CN" altLang="en-US" sz="1800" dirty="0"/>
              <a:t>，</a:t>
            </a:r>
            <a:r>
              <a:rPr lang="zh-CN" altLang="zh-CN" sz="1800" dirty="0"/>
              <a:t>异或门对于噪声不敏感</a:t>
            </a:r>
          </a:p>
          <a:p>
            <a:pPr marL="342900" indent="-342900">
              <a:lnSpc>
                <a:spcPct val="150000"/>
              </a:lnSpc>
              <a:buFont typeface="Arial" panose="020B0604020202020204" pitchFamily="34" charset="0"/>
              <a:buChar char="•"/>
            </a:pPr>
            <a:r>
              <a:rPr lang="zh-CN" altLang="zh-CN" sz="1800" dirty="0"/>
              <a:t>信号带有强噪声</a:t>
            </a:r>
            <a:r>
              <a:rPr lang="zh-CN" altLang="en-US" sz="1800" dirty="0"/>
              <a:t>，</a:t>
            </a:r>
            <a:r>
              <a:rPr lang="zh-CN" altLang="zh-CN" sz="1800" dirty="0"/>
              <a:t>几乎无法通过整形手段</a:t>
            </a:r>
            <a:r>
              <a:rPr lang="zh-CN" altLang="en-US" sz="1800" dirty="0"/>
              <a:t>得到其边沿信息</a:t>
            </a:r>
            <a:r>
              <a:rPr lang="zh-CN" altLang="zh-CN" sz="1800" dirty="0"/>
              <a:t>，通常只能选择模拟乘法器作为鉴相器</a:t>
            </a:r>
          </a:p>
          <a:p>
            <a:pPr marL="342900" indent="-342900">
              <a:lnSpc>
                <a:spcPct val="150000"/>
              </a:lnSpc>
              <a:buFont typeface="Arial" panose="020B0604020202020204" pitchFamily="34" charset="0"/>
              <a:buChar char="•"/>
            </a:pPr>
            <a:r>
              <a:rPr lang="zh-CN" altLang="zh-CN" sz="1800" dirty="0"/>
              <a:t>在信号频率</a:t>
            </a:r>
            <a:r>
              <a:rPr lang="zh-CN" altLang="en-US" sz="1800" dirty="0"/>
              <a:t>极</a:t>
            </a:r>
            <a:r>
              <a:rPr lang="zh-CN" altLang="zh-CN" sz="1800" dirty="0"/>
              <a:t>高的情况下，只能以正弦波形式出现，此时的鉴相器只能采用乘法器</a:t>
            </a:r>
          </a:p>
        </p:txBody>
      </p:sp>
    </p:spTree>
    <p:extLst>
      <p:ext uri="{BB962C8B-B14F-4D97-AF65-F5344CB8AC3E}">
        <p14:creationId xmlns:p14="http://schemas.microsoft.com/office/powerpoint/2010/main" val="9057968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25</a:t>
            </a:fld>
            <a:endParaRPr lang="en-US" altLang="zh-CN">
              <a:solidFill>
                <a:srgbClr val="FFFFFF"/>
              </a:solidFill>
            </a:endParaRPr>
          </a:p>
        </p:txBody>
      </p:sp>
      <p:sp>
        <p:nvSpPr>
          <p:cNvPr id="5" name="矩形 4"/>
          <p:cNvSpPr/>
          <p:nvPr/>
        </p:nvSpPr>
        <p:spPr>
          <a:xfrm>
            <a:off x="464457" y="511547"/>
            <a:ext cx="11357128" cy="3554819"/>
          </a:xfrm>
          <a:prstGeom prst="rect">
            <a:avLst/>
          </a:prstGeom>
        </p:spPr>
        <p:txBody>
          <a:bodyPr wrap="square">
            <a:spAutoFit/>
          </a:bodyPr>
          <a:lstStyle/>
          <a:p>
            <a:pPr marL="342900" lvl="2" indent="-342900">
              <a:lnSpc>
                <a:spcPct val="150000"/>
              </a:lnSpc>
              <a:buFont typeface="Wingdings" panose="05000000000000000000" pitchFamily="2" charset="2"/>
              <a:buChar char="Ø"/>
            </a:pPr>
            <a:r>
              <a:rPr lang="zh-CN" altLang="en-US" dirty="0">
                <a:solidFill>
                  <a:srgbClr val="FF0000"/>
                </a:solidFill>
              </a:rPr>
              <a:t>选择与设计</a:t>
            </a:r>
            <a:r>
              <a:rPr lang="zh-CN" altLang="zh-CN" dirty="0">
                <a:solidFill>
                  <a:srgbClr val="FF0000"/>
                </a:solidFill>
              </a:rPr>
              <a:t>压控振荡器</a:t>
            </a:r>
          </a:p>
          <a:p>
            <a:pPr marL="342900" indent="-342900">
              <a:lnSpc>
                <a:spcPct val="150000"/>
              </a:lnSpc>
              <a:buFont typeface="Arial" panose="020B0604020202020204" pitchFamily="34" charset="0"/>
              <a:buChar char="•"/>
            </a:pPr>
            <a:r>
              <a:rPr lang="zh-CN" altLang="zh-CN" sz="1800" dirty="0"/>
              <a:t>压控振荡器的参数</a:t>
            </a:r>
            <a:r>
              <a:rPr lang="zh-CN" altLang="en-US" sz="1800" dirty="0"/>
              <a:t>：</a:t>
            </a:r>
            <a:r>
              <a:rPr lang="zh-CN" altLang="zh-CN" sz="1800" dirty="0"/>
              <a:t>中心频率、可控频率范围</a:t>
            </a:r>
            <a:r>
              <a:rPr lang="zh-CN" altLang="en-US" sz="1800" dirty="0"/>
              <a:t>、</a:t>
            </a:r>
            <a:r>
              <a:rPr lang="zh-CN" altLang="zh-CN" sz="1800" dirty="0"/>
              <a:t>增益</a:t>
            </a:r>
            <a:r>
              <a:rPr lang="en-US" altLang="zh-CN" sz="1800" i="1" dirty="0" err="1">
                <a:latin typeface="+mn-lt"/>
              </a:rPr>
              <a:t>K</a:t>
            </a:r>
            <a:r>
              <a:rPr lang="en-US" altLang="zh-CN" sz="1800" i="1" baseline="-25000" dirty="0" err="1">
                <a:latin typeface="+mn-lt"/>
              </a:rPr>
              <a:t>o</a:t>
            </a:r>
            <a:endParaRPr lang="en-US" altLang="zh-CN" sz="1800" i="1" baseline="-25000" dirty="0">
              <a:latin typeface="+mn-lt"/>
            </a:endParaRPr>
          </a:p>
          <a:p>
            <a:pPr marL="342900" indent="-342900">
              <a:lnSpc>
                <a:spcPct val="150000"/>
              </a:lnSpc>
              <a:buFont typeface="Arial" panose="020B0604020202020204" pitchFamily="34" charset="0"/>
              <a:buChar char="•"/>
            </a:pPr>
            <a:r>
              <a:rPr lang="zh-CN" altLang="en-US" sz="1800" dirty="0"/>
              <a:t>大部分</a:t>
            </a:r>
            <a:r>
              <a:rPr lang="zh-CN" altLang="zh-CN" sz="1800" dirty="0"/>
              <a:t>应用中，总是要求</a:t>
            </a:r>
            <a:r>
              <a:rPr lang="zh-CN" altLang="en-US" sz="1800" dirty="0"/>
              <a:t>压控</a:t>
            </a:r>
            <a:r>
              <a:rPr lang="zh-CN" altLang="zh-CN" sz="1800" dirty="0"/>
              <a:t>振荡器的中心频率尽可能接近载频或同步信号频率，这时有最大的同步范围以及最短的捕捉时间，振荡器的可控频率范围则根据信号可能的变化范围确定</a:t>
            </a:r>
            <a:endParaRPr lang="en-US" altLang="zh-CN" sz="1800" dirty="0"/>
          </a:p>
          <a:p>
            <a:pPr marL="342900" indent="-342900">
              <a:lnSpc>
                <a:spcPct val="150000"/>
              </a:lnSpc>
              <a:buFont typeface="Arial" panose="020B0604020202020204" pitchFamily="34" charset="0"/>
              <a:buChar char="•"/>
            </a:pPr>
            <a:r>
              <a:rPr lang="zh-CN" altLang="zh-CN" sz="1800" dirty="0"/>
              <a:t>在频率合成等应用中，输出信号的频率范围可能很宽，此时振荡器的的中心频率不是重点，设计时只要满足可控频率范围能够覆盖需要的输出频率范围即可</a:t>
            </a:r>
          </a:p>
          <a:p>
            <a:pPr marL="342900" indent="-342900">
              <a:lnSpc>
                <a:spcPct val="150000"/>
              </a:lnSpc>
              <a:buFont typeface="Arial" panose="020B0604020202020204" pitchFamily="34" charset="0"/>
              <a:buChar char="•"/>
            </a:pPr>
            <a:r>
              <a:rPr lang="zh-CN" altLang="en-US" sz="1800" dirty="0"/>
              <a:t>如果要求输出信号有很高的频率准确度，可以考虑采用石英晶体振荡器，但此类振荡器的频率变化范围很小，只适合窄频应用</a:t>
            </a:r>
            <a:endParaRPr lang="en-US" altLang="zh-CN" sz="1800" dirty="0"/>
          </a:p>
        </p:txBody>
      </p:sp>
      <p:sp>
        <p:nvSpPr>
          <p:cNvPr id="6" name="文本框 5"/>
          <p:cNvSpPr txBox="1"/>
          <p:nvPr/>
        </p:nvSpPr>
        <p:spPr>
          <a:xfrm>
            <a:off x="464456" y="4141980"/>
            <a:ext cx="11255829" cy="872739"/>
          </a:xfrm>
          <a:prstGeom prst="rect">
            <a:avLst/>
          </a:prstGeom>
          <a:noFill/>
        </p:spPr>
        <p:txBody>
          <a:bodyPr wrap="square" rtlCol="0">
            <a:spAutoFit/>
          </a:bodyPr>
          <a:lstStyle/>
          <a:p>
            <a:pPr>
              <a:lnSpc>
                <a:spcPct val="150000"/>
              </a:lnSpc>
            </a:pPr>
            <a:r>
              <a:rPr lang="zh-CN" altLang="en-US" sz="1800" dirty="0"/>
              <a:t>注：由于</a:t>
            </a:r>
            <a:r>
              <a:rPr lang="en-US" altLang="zh-CN" sz="1800" dirty="0"/>
              <a:t>VCO</a:t>
            </a:r>
            <a:r>
              <a:rPr lang="zh-CN" altLang="en-US" sz="1800" dirty="0"/>
              <a:t>的</a:t>
            </a:r>
            <a:r>
              <a:rPr lang="en-US" altLang="zh-CN" sz="1800" dirty="0"/>
              <a:t>f-V</a:t>
            </a:r>
            <a:r>
              <a:rPr lang="zh-CN" altLang="en-US" sz="1800" dirty="0"/>
              <a:t>特性不一定是线性的，所以其中心频率</a:t>
            </a:r>
            <a:r>
              <a:rPr lang="en-US" altLang="zh-CN" sz="1800" i="1" dirty="0"/>
              <a:t>f</a:t>
            </a:r>
            <a:r>
              <a:rPr lang="en-US" altLang="zh-CN" sz="1800" baseline="-25000" dirty="0"/>
              <a:t>0</a:t>
            </a:r>
            <a:r>
              <a:rPr lang="zh-CN" altLang="en-US" sz="1800" dirty="0"/>
              <a:t>未必就在其可控频率范围的中点，通常</a:t>
            </a:r>
            <a:r>
              <a:rPr lang="en-US" altLang="zh-CN" sz="1800" i="1" dirty="0"/>
              <a:t>f</a:t>
            </a:r>
            <a:r>
              <a:rPr lang="en-US" altLang="zh-CN" sz="1800" baseline="-25000" dirty="0"/>
              <a:t>0</a:t>
            </a:r>
            <a:r>
              <a:rPr lang="zh-CN" altLang="en-US" sz="1800" dirty="0"/>
              <a:t>指</a:t>
            </a:r>
            <a:r>
              <a:rPr lang="en-US" altLang="zh-CN" sz="1800" dirty="0"/>
              <a:t>VCO</a:t>
            </a:r>
            <a:r>
              <a:rPr lang="zh-CN" altLang="en-US" sz="1800" dirty="0"/>
              <a:t>控制电压等于鉴相器输出电压的中心值时的振荡频率。</a:t>
            </a:r>
            <a:endParaRPr lang="zh-CN" altLang="en-US" dirty="0"/>
          </a:p>
        </p:txBody>
      </p:sp>
    </p:spTree>
    <p:extLst>
      <p:ext uri="{BB962C8B-B14F-4D97-AF65-F5344CB8AC3E}">
        <p14:creationId xmlns:p14="http://schemas.microsoft.com/office/powerpoint/2010/main" val="26415916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26</a:t>
            </a:fld>
            <a:endParaRPr lang="en-US" altLang="zh-CN">
              <a:solidFill>
                <a:srgbClr val="FFFFFF"/>
              </a:solidFill>
            </a:endParaRPr>
          </a:p>
        </p:txBody>
      </p:sp>
      <p:sp>
        <p:nvSpPr>
          <p:cNvPr id="7" name="Rectangle 3"/>
          <p:cNvSpPr>
            <a:spLocks noChangeArrowheads="1"/>
          </p:cNvSpPr>
          <p:nvPr/>
        </p:nvSpPr>
        <p:spPr bwMode="auto">
          <a:xfrm>
            <a:off x="420915" y="456503"/>
            <a:ext cx="11400670" cy="5490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9875"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342900" lvl="2" indent="-342900">
              <a:lnSpc>
                <a:spcPct val="150000"/>
              </a:lnSpc>
              <a:buFont typeface="Wingdings" panose="05000000000000000000" pitchFamily="2" charset="2"/>
              <a:buChar char="Ø"/>
            </a:pPr>
            <a:r>
              <a:rPr lang="zh-CN" altLang="zh-CN" dirty="0">
                <a:solidFill>
                  <a:srgbClr val="FF0000"/>
                </a:solidFill>
                <a:latin typeface="Arial" charset="0"/>
              </a:rPr>
              <a:t>指定锁相环的关键参数</a:t>
            </a:r>
          </a:p>
          <a:p>
            <a:pPr indent="0">
              <a:lnSpc>
                <a:spcPct val="150000"/>
              </a:lnSpc>
            </a:pPr>
            <a:r>
              <a:rPr lang="zh-CN" altLang="en-US" sz="1800" dirty="0">
                <a:latin typeface="+mn-lt"/>
              </a:rPr>
              <a:t>一、</a:t>
            </a:r>
            <a:r>
              <a:rPr lang="zh-CN" altLang="zh-CN" sz="1800" dirty="0">
                <a:latin typeface="+mn-lt"/>
              </a:rPr>
              <a:t>稳定性</a:t>
            </a:r>
            <a:endParaRPr lang="en-US" altLang="zh-CN" sz="1800" dirty="0">
              <a:latin typeface="+mn-lt"/>
            </a:endParaRPr>
          </a:p>
          <a:p>
            <a:pPr marL="342900" indent="-342900">
              <a:lnSpc>
                <a:spcPct val="150000"/>
              </a:lnSpc>
              <a:buFont typeface="Arial" panose="020B0604020202020204" pitchFamily="34" charset="0"/>
              <a:buChar char="•"/>
            </a:pPr>
            <a:r>
              <a:rPr lang="zh-CN" altLang="zh-CN" sz="1800" dirty="0">
                <a:latin typeface="+mn-lt"/>
              </a:rPr>
              <a:t>阻尼因子取</a:t>
            </a:r>
            <a:r>
              <a:rPr lang="en-US" altLang="zh-CN" sz="1800" dirty="0">
                <a:latin typeface="+mn-lt"/>
              </a:rPr>
              <a:t>0.7</a:t>
            </a:r>
            <a:r>
              <a:rPr lang="zh-CN" altLang="en-US" sz="1800" dirty="0">
                <a:latin typeface="+mn-lt"/>
              </a:rPr>
              <a:t>左右（</a:t>
            </a:r>
            <a:r>
              <a:rPr lang="en-US" altLang="zh-CN" sz="1800" dirty="0"/>
              <a:t>0.5~1</a:t>
            </a:r>
            <a:r>
              <a:rPr lang="zh-CN" altLang="en-US" sz="1800" dirty="0"/>
              <a:t>，或可略超此范围</a:t>
            </a:r>
            <a:r>
              <a:rPr lang="zh-CN" altLang="en-US" sz="1800" dirty="0">
                <a:latin typeface="+mn-lt"/>
              </a:rPr>
              <a:t>）</a:t>
            </a:r>
            <a:endParaRPr lang="en-US" altLang="zh-CN" sz="1800" dirty="0">
              <a:latin typeface="+mn-lt"/>
            </a:endParaRPr>
          </a:p>
          <a:p>
            <a:pPr marL="342900" indent="-342900">
              <a:lnSpc>
                <a:spcPct val="150000"/>
              </a:lnSpc>
              <a:buFont typeface="Arial" panose="020B0604020202020204" pitchFamily="34" charset="0"/>
              <a:buChar char="•"/>
            </a:pPr>
            <a:r>
              <a:rPr lang="zh-CN" altLang="en-US" sz="1800" dirty="0">
                <a:latin typeface="+mn-lt"/>
              </a:rPr>
              <a:t>用开环频率特性设计时，需保证穿越点前后</a:t>
            </a:r>
            <a:r>
              <a:rPr lang="en-US" altLang="zh-CN" sz="1800" dirty="0">
                <a:latin typeface="+mn-lt"/>
              </a:rPr>
              <a:t>-20dB/</a:t>
            </a:r>
            <a:r>
              <a:rPr lang="en-US" altLang="zh-CN" sz="1800" dirty="0" err="1">
                <a:latin typeface="+mn-lt"/>
              </a:rPr>
              <a:t>dec</a:t>
            </a:r>
            <a:r>
              <a:rPr lang="zh-CN" altLang="en-US" sz="1800" dirty="0">
                <a:latin typeface="+mn-lt"/>
              </a:rPr>
              <a:t>的宽度保持在</a:t>
            </a:r>
            <a:r>
              <a:rPr lang="en-US" altLang="zh-CN" sz="1800" dirty="0">
                <a:latin typeface="+mn-lt"/>
              </a:rPr>
              <a:t>4~10</a:t>
            </a:r>
            <a:r>
              <a:rPr lang="zh-CN" altLang="en-US" sz="1800" dirty="0">
                <a:latin typeface="+mn-lt"/>
              </a:rPr>
              <a:t>倍频率范围</a:t>
            </a:r>
            <a:endParaRPr lang="en-US" altLang="zh-CN" sz="1800" dirty="0">
              <a:latin typeface="+mn-lt"/>
            </a:endParaRPr>
          </a:p>
          <a:p>
            <a:pPr indent="0">
              <a:lnSpc>
                <a:spcPct val="150000"/>
              </a:lnSpc>
            </a:pPr>
            <a:r>
              <a:rPr lang="zh-CN" altLang="en-US" sz="1800" dirty="0">
                <a:latin typeface="+mn-lt"/>
              </a:rPr>
              <a:t>二、闭环带宽</a:t>
            </a:r>
            <a:endParaRPr lang="en-US" altLang="zh-CN" sz="1800" dirty="0">
              <a:latin typeface="+mn-lt"/>
            </a:endParaRPr>
          </a:p>
          <a:p>
            <a:pPr marL="342900" indent="-342900">
              <a:lnSpc>
                <a:spcPct val="150000"/>
              </a:lnSpc>
              <a:buFont typeface="Arial" panose="020B0604020202020204" pitchFamily="34" charset="0"/>
              <a:buChar char="•"/>
            </a:pPr>
            <a:r>
              <a:rPr lang="zh-CN" altLang="zh-CN" sz="1800" dirty="0">
                <a:latin typeface="+mn-lt"/>
              </a:rPr>
              <a:t>载波跟踪型锁相环要求</a:t>
            </a:r>
            <a:r>
              <a:rPr lang="zh-CN" altLang="en-US" sz="1800" dirty="0">
                <a:latin typeface="+mn-lt"/>
              </a:rPr>
              <a:t>其</a:t>
            </a:r>
            <a:r>
              <a:rPr lang="zh-CN" altLang="zh-CN" sz="1800" dirty="0">
                <a:latin typeface="+mn-lt"/>
              </a:rPr>
              <a:t>闭环带宽远小于调制频率</a:t>
            </a:r>
            <a:r>
              <a:rPr lang="zh-CN" altLang="en-US" sz="1800" dirty="0">
                <a:latin typeface="+mn-lt"/>
              </a:rPr>
              <a:t>，</a:t>
            </a:r>
            <a:r>
              <a:rPr lang="zh-CN" altLang="zh-CN" sz="1800" dirty="0">
                <a:latin typeface="+mn-lt"/>
              </a:rPr>
              <a:t>调制跟踪型锁相环</a:t>
            </a:r>
            <a:r>
              <a:rPr lang="zh-CN" altLang="en-US" sz="1800" dirty="0">
                <a:latin typeface="+mn-lt"/>
              </a:rPr>
              <a:t>要求其</a:t>
            </a:r>
            <a:r>
              <a:rPr lang="zh-CN" altLang="zh-CN" sz="1800" dirty="0">
                <a:latin typeface="+mn-lt"/>
              </a:rPr>
              <a:t>闭环带宽远大于调制频率</a:t>
            </a:r>
            <a:endParaRPr lang="en-US" altLang="zh-CN" sz="1800" dirty="0">
              <a:latin typeface="+mn-lt"/>
            </a:endParaRPr>
          </a:p>
          <a:p>
            <a:pPr marL="342900" indent="-342900">
              <a:lnSpc>
                <a:spcPct val="150000"/>
              </a:lnSpc>
              <a:buFont typeface="Arial" panose="020B0604020202020204" pitchFamily="34" charset="0"/>
              <a:buChar char="•"/>
            </a:pPr>
            <a:r>
              <a:rPr lang="zh-CN" altLang="en-US" sz="1800" dirty="0">
                <a:latin typeface="+mn-lt"/>
              </a:rPr>
              <a:t>若输入信号中混有强噪声，要求有窄的噪声带宽，大部分情况下噪声带宽与闭环带宽同数量级，具体数值根据输出信噪比的要求确定</a:t>
            </a:r>
          </a:p>
          <a:p>
            <a:pPr indent="0">
              <a:lnSpc>
                <a:spcPct val="150000"/>
              </a:lnSpc>
            </a:pPr>
            <a:r>
              <a:rPr lang="zh-CN" altLang="en-US" sz="1800" dirty="0"/>
              <a:t>三、兼顾失锁状态响应要求</a:t>
            </a:r>
            <a:endParaRPr lang="en-US" altLang="zh-CN" sz="1800" dirty="0"/>
          </a:p>
          <a:p>
            <a:pPr marL="342900" indent="-342900">
              <a:lnSpc>
                <a:spcPct val="150000"/>
              </a:lnSpc>
              <a:buFont typeface="Arial" panose="020B0604020202020204" pitchFamily="34" charset="0"/>
              <a:buChar char="•"/>
            </a:pPr>
            <a:r>
              <a:rPr lang="zh-CN" altLang="en-US" sz="1800" dirty="0">
                <a:latin typeface="+mn-lt"/>
              </a:rPr>
              <a:t>具体问题具体分析，常见的是对于响应时间的要求</a:t>
            </a:r>
            <a:endParaRPr lang="en-US" altLang="zh-CN" sz="1800" dirty="0">
              <a:latin typeface="+mn-lt"/>
            </a:endParaRPr>
          </a:p>
          <a:p>
            <a:pPr marL="342900" indent="-342900">
              <a:lnSpc>
                <a:spcPct val="150000"/>
              </a:lnSpc>
              <a:buFont typeface="Arial" panose="020B0604020202020204" pitchFamily="34" charset="0"/>
              <a:buChar char="•"/>
            </a:pPr>
            <a:r>
              <a:rPr lang="zh-CN" altLang="zh-CN" sz="1800" dirty="0">
                <a:latin typeface="+mn-lt"/>
              </a:rPr>
              <a:t>闭环带宽变窄后</a:t>
            </a:r>
            <a:r>
              <a:rPr lang="zh-CN" altLang="en-US" sz="1800" dirty="0">
                <a:latin typeface="+mn-lt"/>
              </a:rPr>
              <a:t>，</a:t>
            </a:r>
            <a:r>
              <a:rPr lang="zh-CN" altLang="zh-CN" sz="1800" dirty="0">
                <a:latin typeface="+mn-lt"/>
              </a:rPr>
              <a:t>通常其捕捉带变窄、捕捉时间变长，如果对捕捉过程有要求</a:t>
            </a:r>
            <a:r>
              <a:rPr lang="zh-CN" altLang="en-US" sz="1800" dirty="0">
                <a:latin typeface="+mn-lt"/>
              </a:rPr>
              <a:t>就</a:t>
            </a:r>
            <a:r>
              <a:rPr lang="zh-CN" altLang="zh-CN" sz="1800" dirty="0">
                <a:latin typeface="+mn-lt"/>
              </a:rPr>
              <a:t>要修改锁相环其他方面的参数或结构</a:t>
            </a:r>
            <a:endParaRPr lang="en-US" altLang="zh-CN" sz="1800" dirty="0">
              <a:latin typeface="+mn-lt"/>
            </a:endParaRPr>
          </a:p>
          <a:p>
            <a:pPr marL="342900" indent="-342900">
              <a:lnSpc>
                <a:spcPct val="150000"/>
              </a:lnSpc>
              <a:buFont typeface="Arial" panose="020B0604020202020204" pitchFamily="34" charset="0"/>
              <a:buChar char="•"/>
            </a:pPr>
            <a:r>
              <a:rPr lang="zh-CN" altLang="zh-CN" sz="1800" dirty="0">
                <a:latin typeface="+mn-lt"/>
              </a:rPr>
              <a:t>某些频率合成器中要求输出频率频繁地变化（跳频），这时</a:t>
            </a:r>
            <a:r>
              <a:rPr lang="zh-CN" altLang="en-US" sz="1800" dirty="0">
                <a:latin typeface="+mn-lt"/>
              </a:rPr>
              <a:t>可能对于快捕时间有要求，应根据要求修改参数</a:t>
            </a:r>
            <a:endParaRPr lang="en-US" altLang="zh-CN" sz="1800" dirty="0">
              <a:latin typeface="+mn-lt"/>
            </a:endParaRPr>
          </a:p>
        </p:txBody>
      </p:sp>
    </p:spTree>
    <p:extLst>
      <p:ext uri="{BB962C8B-B14F-4D97-AF65-F5344CB8AC3E}">
        <p14:creationId xmlns:p14="http://schemas.microsoft.com/office/powerpoint/2010/main" val="38746479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27</a:t>
            </a:fld>
            <a:endParaRPr lang="en-US" altLang="zh-CN">
              <a:solidFill>
                <a:srgbClr val="FFFFFF"/>
              </a:solidFill>
            </a:endParaRPr>
          </a:p>
        </p:txBody>
      </p:sp>
      <p:sp>
        <p:nvSpPr>
          <p:cNvPr id="5" name="矩形 4"/>
          <p:cNvSpPr/>
          <p:nvPr/>
        </p:nvSpPr>
        <p:spPr>
          <a:xfrm>
            <a:off x="442686" y="403313"/>
            <a:ext cx="11378899" cy="2631490"/>
          </a:xfrm>
          <a:prstGeom prst="rect">
            <a:avLst/>
          </a:prstGeom>
        </p:spPr>
        <p:txBody>
          <a:bodyPr wrap="square">
            <a:spAutoFit/>
          </a:bodyPr>
          <a:lstStyle/>
          <a:p>
            <a:pPr marL="342900" lvl="2" indent="-342900" eaLnBrk="0" hangingPunct="0">
              <a:lnSpc>
                <a:spcPct val="150000"/>
              </a:lnSpc>
              <a:buFont typeface="Wingdings" panose="05000000000000000000" pitchFamily="2" charset="2"/>
              <a:buChar char="Ø"/>
            </a:pPr>
            <a:r>
              <a:rPr lang="zh-CN" altLang="zh-CN" dirty="0">
                <a:solidFill>
                  <a:srgbClr val="FF0000"/>
                </a:solidFill>
              </a:rPr>
              <a:t>确定锁相环的阶数</a:t>
            </a:r>
          </a:p>
          <a:p>
            <a:pPr marL="342900" indent="-342900" eaLnBrk="0" hangingPunct="0">
              <a:lnSpc>
                <a:spcPct val="150000"/>
              </a:lnSpc>
              <a:buFont typeface="Arial" panose="020B0604020202020204" pitchFamily="34" charset="0"/>
              <a:buChar char="•"/>
            </a:pPr>
            <a:r>
              <a:rPr lang="zh-CN" altLang="zh-CN" sz="1800" dirty="0">
                <a:latin typeface="+mn-lt"/>
              </a:rPr>
              <a:t>在选定锁相环电路后，环路滤波器是最后需要计算的部件，也是决定锁相环电路性能的主要部件</a:t>
            </a:r>
          </a:p>
          <a:p>
            <a:pPr marL="342900" indent="-342900" eaLnBrk="0" hangingPunct="0">
              <a:lnSpc>
                <a:spcPct val="150000"/>
              </a:lnSpc>
              <a:buFont typeface="Arial" panose="020B0604020202020204" pitchFamily="34" charset="0"/>
              <a:buChar char="•"/>
            </a:pPr>
            <a:r>
              <a:rPr lang="zh-CN" altLang="en-US" sz="1800" dirty="0">
                <a:latin typeface="+mn-lt"/>
              </a:rPr>
              <a:t>首先要指定锁相环的阶数。</a:t>
            </a:r>
            <a:r>
              <a:rPr lang="zh-CN" altLang="zh-CN" sz="1800" dirty="0">
                <a:latin typeface="+mn-lt"/>
              </a:rPr>
              <a:t>通常锁相环是二阶或三阶的，其主要区别在于锁相环的闭环频率特性在高频端的</a:t>
            </a:r>
            <a:r>
              <a:rPr lang="zh-CN" altLang="en-US" sz="1800" dirty="0">
                <a:latin typeface="+mn-lt"/>
              </a:rPr>
              <a:t>下</a:t>
            </a:r>
            <a:r>
              <a:rPr lang="zh-CN" altLang="zh-CN" sz="1800" dirty="0">
                <a:latin typeface="+mn-lt"/>
              </a:rPr>
              <a:t>降速率不同，二阶锁相环以</a:t>
            </a:r>
            <a:r>
              <a:rPr lang="en-US" altLang="zh-CN" sz="1800" dirty="0">
                <a:latin typeface="+mn-lt"/>
              </a:rPr>
              <a:t>-20dB/</a:t>
            </a:r>
            <a:r>
              <a:rPr lang="en-US" altLang="zh-CN" sz="1800" dirty="0" err="1">
                <a:latin typeface="+mn-lt"/>
              </a:rPr>
              <a:t>dec</a:t>
            </a:r>
            <a:r>
              <a:rPr lang="zh-CN" altLang="zh-CN" sz="1800" dirty="0">
                <a:latin typeface="+mn-lt"/>
              </a:rPr>
              <a:t>速率下降，三阶锁相环以</a:t>
            </a:r>
            <a:r>
              <a:rPr lang="en-US" altLang="zh-CN" sz="1800" dirty="0">
                <a:latin typeface="+mn-lt"/>
              </a:rPr>
              <a:t>-40dB/</a:t>
            </a:r>
            <a:r>
              <a:rPr lang="en-US" altLang="zh-CN" sz="1800" dirty="0" err="1">
                <a:latin typeface="+mn-lt"/>
              </a:rPr>
              <a:t>dec</a:t>
            </a:r>
            <a:r>
              <a:rPr lang="zh-CN" altLang="zh-CN" sz="1800" dirty="0">
                <a:latin typeface="+mn-lt"/>
              </a:rPr>
              <a:t>速率下降。显然由于三阶锁相环的</a:t>
            </a:r>
            <a:r>
              <a:rPr lang="zh-CN" altLang="en-US" sz="1800" dirty="0">
                <a:latin typeface="+mn-lt"/>
              </a:rPr>
              <a:t>下</a:t>
            </a:r>
            <a:r>
              <a:rPr lang="zh-CN" altLang="zh-CN" sz="1800" dirty="0">
                <a:latin typeface="+mn-lt"/>
              </a:rPr>
              <a:t>降速率较高，可以更好地过滤输入信号中的噪声与波动，使得输出信号的相位抖动减小。更高阶数的锁相环虽然能够获得更好的效果，但是考虑系统复杂度与获得的性能改善之间的平衡后较少采用</a:t>
            </a:r>
            <a:endParaRPr lang="en-US" altLang="zh-CN" sz="1800" dirty="0">
              <a:latin typeface="+mn-lt"/>
            </a:endParaRPr>
          </a:p>
        </p:txBody>
      </p:sp>
    </p:spTree>
    <p:extLst>
      <p:ext uri="{BB962C8B-B14F-4D97-AF65-F5344CB8AC3E}">
        <p14:creationId xmlns:p14="http://schemas.microsoft.com/office/powerpoint/2010/main" val="231785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28</a:t>
            </a:fld>
            <a:endParaRPr lang="en-US" altLang="zh-CN">
              <a:solidFill>
                <a:srgbClr val="FFFFFF"/>
              </a:solidFill>
            </a:endParaRPr>
          </a:p>
        </p:txBody>
      </p:sp>
      <p:sp>
        <p:nvSpPr>
          <p:cNvPr id="5" name="矩形 4"/>
          <p:cNvSpPr/>
          <p:nvPr/>
        </p:nvSpPr>
        <p:spPr>
          <a:xfrm>
            <a:off x="449943" y="403313"/>
            <a:ext cx="11313886" cy="2631490"/>
          </a:xfrm>
          <a:prstGeom prst="rect">
            <a:avLst/>
          </a:prstGeom>
        </p:spPr>
        <p:txBody>
          <a:bodyPr wrap="square">
            <a:spAutoFit/>
          </a:bodyPr>
          <a:lstStyle/>
          <a:p>
            <a:pPr marL="342900" indent="-342900" eaLnBrk="0" hangingPunct="0">
              <a:lnSpc>
                <a:spcPct val="150000"/>
              </a:lnSpc>
              <a:buFont typeface="Wingdings" panose="05000000000000000000" pitchFamily="2" charset="2"/>
              <a:buChar char="Ø"/>
            </a:pPr>
            <a:r>
              <a:rPr lang="zh-CN" altLang="en-US" dirty="0">
                <a:solidFill>
                  <a:srgbClr val="FF0000"/>
                </a:solidFill>
              </a:rPr>
              <a:t>计算</a:t>
            </a:r>
            <a:r>
              <a:rPr lang="zh-CN" altLang="zh-CN" dirty="0">
                <a:solidFill>
                  <a:srgbClr val="FF0000"/>
                </a:solidFill>
              </a:rPr>
              <a:t>环路滤波器</a:t>
            </a:r>
            <a:r>
              <a:rPr lang="zh-CN" altLang="en-US" dirty="0">
                <a:solidFill>
                  <a:srgbClr val="FF0000"/>
                </a:solidFill>
              </a:rPr>
              <a:t>的元件</a:t>
            </a:r>
            <a:r>
              <a:rPr lang="zh-CN" altLang="zh-CN" dirty="0">
                <a:solidFill>
                  <a:srgbClr val="FF0000"/>
                </a:solidFill>
              </a:rPr>
              <a:t>参数</a:t>
            </a:r>
          </a:p>
          <a:p>
            <a:pPr marL="342900" indent="-342900" eaLnBrk="0" hangingPunct="0">
              <a:lnSpc>
                <a:spcPct val="150000"/>
              </a:lnSpc>
              <a:buFont typeface="Arial" panose="020B0604020202020204" pitchFamily="34" charset="0"/>
              <a:buChar char="•"/>
            </a:pPr>
            <a:r>
              <a:rPr lang="zh-CN" altLang="en-US" sz="1800" dirty="0">
                <a:latin typeface="+mn-lt"/>
              </a:rPr>
              <a:t>二阶锁相环的环路滤波器电路可参见</a:t>
            </a:r>
            <a:r>
              <a:rPr lang="zh-CN" altLang="en-US" sz="1800" dirty="0" smtClean="0">
                <a:latin typeface="+mn-lt"/>
              </a:rPr>
              <a:t>前面的介绍。</a:t>
            </a:r>
            <a:r>
              <a:rPr lang="zh-CN" altLang="en-US" sz="1800" dirty="0">
                <a:latin typeface="+mn-lt"/>
              </a:rPr>
              <a:t>注意其中的比例积分电路采用的是反相积分器形式，具体电路中要修正反馈信号的相位关系。环路滤波器的元件</a:t>
            </a:r>
            <a:r>
              <a:rPr lang="zh-CN" altLang="en-US" sz="1800" dirty="0" smtClean="0">
                <a:latin typeface="+mn-lt"/>
              </a:rPr>
              <a:t>参数按照</a:t>
            </a:r>
            <a:r>
              <a:rPr lang="zh-CN" altLang="en-US" sz="1800" dirty="0">
                <a:latin typeface="+mn-lt"/>
              </a:rPr>
              <a:t>指定的自然频率与阻尼因子进行设计</a:t>
            </a:r>
            <a:endParaRPr lang="en-US" altLang="zh-CN" sz="1800" dirty="0">
              <a:latin typeface="+mn-lt"/>
            </a:endParaRPr>
          </a:p>
          <a:p>
            <a:pPr marL="342900" indent="-342900" eaLnBrk="0" hangingPunct="0">
              <a:lnSpc>
                <a:spcPct val="150000"/>
              </a:lnSpc>
              <a:buFont typeface="Arial" panose="020B0604020202020204" pitchFamily="34" charset="0"/>
              <a:buChar char="•"/>
            </a:pPr>
            <a:r>
              <a:rPr lang="zh-CN" altLang="en-US" sz="1800" dirty="0">
                <a:latin typeface="+mn-lt"/>
              </a:rPr>
              <a:t>三阶锁相环</a:t>
            </a:r>
            <a:r>
              <a:rPr lang="zh-CN" altLang="en-US" sz="1800" dirty="0"/>
              <a:t>的环路滤波器电路可参见</a:t>
            </a:r>
            <a:r>
              <a:rPr lang="zh-CN" altLang="en-US" sz="1800" dirty="0" smtClean="0"/>
              <a:t>前面的介绍，同样</a:t>
            </a:r>
            <a:r>
              <a:rPr lang="zh-CN" altLang="en-US" sz="1800" dirty="0"/>
              <a:t>要注意其中的比例积分电路采用的是反相积分器。环路滤波器的元件</a:t>
            </a:r>
            <a:r>
              <a:rPr lang="zh-CN" altLang="en-US" sz="1800" dirty="0" smtClean="0"/>
              <a:t>参数通常用</a:t>
            </a:r>
            <a:r>
              <a:rPr lang="zh-CN" altLang="en-US" sz="1800" dirty="0"/>
              <a:t>锁相环的开环频率特性进行设计</a:t>
            </a:r>
            <a:r>
              <a:rPr lang="zh-CN" altLang="en-US" sz="1800" dirty="0" smtClean="0"/>
              <a:t>，</a:t>
            </a:r>
            <a:r>
              <a:rPr lang="zh-CN" altLang="en-US" sz="1800" dirty="0"/>
              <a:t>也</a:t>
            </a:r>
            <a:r>
              <a:rPr lang="zh-CN" altLang="en-US" sz="1800" dirty="0" smtClean="0"/>
              <a:t>可以用近似二阶的方法（忽略</a:t>
            </a:r>
            <a:r>
              <a:rPr lang="en-US" altLang="zh-CN" sz="1800" dirty="0" smtClean="0"/>
              <a:t>C2</a:t>
            </a:r>
            <a:r>
              <a:rPr lang="zh-CN" altLang="en-US" sz="1800" dirty="0" smtClean="0"/>
              <a:t>）估计</a:t>
            </a:r>
            <a:r>
              <a:rPr lang="zh-CN" altLang="en-US" sz="1800" dirty="0"/>
              <a:t>锁相环的性能</a:t>
            </a:r>
            <a:endParaRPr lang="zh-CN" altLang="en-US" sz="1800" dirty="0">
              <a:latin typeface="+mn-lt"/>
            </a:endParaRPr>
          </a:p>
        </p:txBody>
      </p:sp>
    </p:spTree>
    <p:extLst>
      <p:ext uri="{BB962C8B-B14F-4D97-AF65-F5344CB8AC3E}">
        <p14:creationId xmlns:p14="http://schemas.microsoft.com/office/powerpoint/2010/main" val="8997718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29</a:t>
            </a:fld>
            <a:endParaRPr lang="en-US" altLang="zh-CN">
              <a:solidFill>
                <a:srgbClr val="FFFFFF"/>
              </a:solidFill>
            </a:endParaRPr>
          </a:p>
        </p:txBody>
      </p:sp>
      <p:sp>
        <p:nvSpPr>
          <p:cNvPr id="5" name="矩形 4"/>
          <p:cNvSpPr/>
          <p:nvPr/>
        </p:nvSpPr>
        <p:spPr>
          <a:xfrm>
            <a:off x="478971" y="321872"/>
            <a:ext cx="11277600" cy="4961358"/>
          </a:xfrm>
          <a:prstGeom prst="rect">
            <a:avLst/>
          </a:prstGeom>
        </p:spPr>
        <p:txBody>
          <a:bodyPr wrap="square">
            <a:spAutoFit/>
          </a:bodyPr>
          <a:lstStyle/>
          <a:p>
            <a:pPr>
              <a:lnSpc>
                <a:spcPct val="140000"/>
              </a:lnSpc>
            </a:pPr>
            <a:r>
              <a:rPr lang="zh-CN" altLang="en-US" sz="2800" dirty="0">
                <a:solidFill>
                  <a:srgbClr val="FF0000"/>
                </a:solidFill>
                <a:latin typeface="隶书" panose="02010509060101010101" pitchFamily="49" charset="-122"/>
                <a:ea typeface="隶书" panose="02010509060101010101" pitchFamily="49" charset="-122"/>
              </a:rPr>
              <a:t>锁相环的调试</a:t>
            </a:r>
            <a:endParaRPr lang="en-US" altLang="zh-CN" sz="2800" dirty="0">
              <a:solidFill>
                <a:srgbClr val="FF0000"/>
              </a:solidFill>
              <a:latin typeface="隶书" panose="02010509060101010101" pitchFamily="49" charset="-122"/>
              <a:ea typeface="隶书" panose="02010509060101010101" pitchFamily="49" charset="-122"/>
            </a:endParaRPr>
          </a:p>
          <a:p>
            <a:pPr marL="457200" indent="-457200">
              <a:lnSpc>
                <a:spcPct val="140000"/>
              </a:lnSpc>
              <a:buFont typeface="+mj-lt"/>
              <a:buAutoNum type="arabicPeriod"/>
            </a:pPr>
            <a:r>
              <a:rPr lang="zh-CN" altLang="en-US" sz="1800" dirty="0"/>
              <a:t>确定电源全部正常</a:t>
            </a:r>
            <a:endParaRPr lang="en-US" altLang="zh-CN" sz="1800" dirty="0"/>
          </a:p>
          <a:p>
            <a:pPr marL="457200" indent="-457200">
              <a:lnSpc>
                <a:spcPct val="140000"/>
              </a:lnSpc>
              <a:buFont typeface="+mj-lt"/>
              <a:buAutoNum type="arabicPeriod"/>
            </a:pPr>
            <a:r>
              <a:rPr lang="zh-CN" altLang="en-US" sz="1800" dirty="0"/>
              <a:t>开环调试</a:t>
            </a:r>
            <a:r>
              <a:rPr lang="en-US" altLang="zh-CN" sz="1800" dirty="0"/>
              <a:t>VCO</a:t>
            </a:r>
            <a:r>
              <a:rPr lang="zh-CN" altLang="en-US" sz="1800" dirty="0"/>
              <a:t>：将环路滤波器断开，外加</a:t>
            </a:r>
            <a:r>
              <a:rPr lang="en-US" altLang="zh-CN" sz="1800" dirty="0"/>
              <a:t>VCO</a:t>
            </a:r>
            <a:r>
              <a:rPr lang="zh-CN" altLang="en-US" sz="1800" dirty="0"/>
              <a:t>的控制电压，监视</a:t>
            </a:r>
            <a:r>
              <a:rPr lang="en-US" altLang="zh-CN" sz="1800" dirty="0"/>
              <a:t>VCO</a:t>
            </a:r>
            <a:r>
              <a:rPr lang="zh-CN" altLang="en-US" sz="1800" dirty="0"/>
              <a:t>的输出是否符合设计要求，包括频率范围、中心频率、输出幅度。若反馈回路有分频器，可一起检查</a:t>
            </a:r>
            <a:endParaRPr lang="en-US" altLang="zh-CN" sz="1800" dirty="0"/>
          </a:p>
          <a:p>
            <a:pPr marL="457200" indent="-457200">
              <a:lnSpc>
                <a:spcPct val="140000"/>
              </a:lnSpc>
              <a:buFont typeface="+mj-lt"/>
              <a:buAutoNum type="arabicPeriod"/>
            </a:pPr>
            <a:r>
              <a:rPr lang="zh-CN" altLang="en-US" sz="1800" dirty="0"/>
              <a:t>检查鉴相器：断开反馈，外加两个信号，改变其中一个频率（从略小于另一个 </a:t>
            </a:r>
            <a:r>
              <a:rPr lang="zh-CN" altLang="en-US" sz="1800" dirty="0">
                <a:latin typeface="Times New Roman" panose="02020603050405020304" pitchFamily="18" charset="0"/>
                <a:cs typeface="Times New Roman" panose="02020603050405020304" pitchFamily="18" charset="0"/>
              </a:rPr>
              <a:t>变到略大于另一个</a:t>
            </a:r>
            <a:r>
              <a:rPr lang="zh-CN" altLang="en-US" sz="1800" dirty="0"/>
              <a:t>），应该看到环路滤波器的输出有变化（采用集成锁相环芯片时，大部分情况下可忽略此步骤，除非怀疑鉴相器故障）</a:t>
            </a:r>
            <a:endParaRPr lang="en-US" altLang="zh-CN" sz="1800" dirty="0"/>
          </a:p>
          <a:p>
            <a:pPr marL="457200" indent="-457200">
              <a:lnSpc>
                <a:spcPct val="140000"/>
              </a:lnSpc>
              <a:buFont typeface="+mj-lt"/>
              <a:buAutoNum type="arabicPeriod"/>
            </a:pPr>
            <a:r>
              <a:rPr lang="zh-CN" altLang="en-US" sz="1800" dirty="0"/>
              <a:t>闭环锁相环，检查锁定情况。芯片有锁定输出端的可直接检查其电平。也可直接改变输入信号频率，观察输出频率是否随之改变，用这个方法还能测量锁相环的同步范围</a:t>
            </a:r>
            <a:endParaRPr lang="en-US" altLang="zh-CN" sz="1800" dirty="0"/>
          </a:p>
          <a:p>
            <a:pPr marL="457200" indent="-457200">
              <a:lnSpc>
                <a:spcPct val="140000"/>
              </a:lnSpc>
              <a:buFont typeface="+mj-lt"/>
              <a:buAutoNum type="arabicPeriod"/>
            </a:pPr>
            <a:r>
              <a:rPr lang="zh-CN" altLang="en-US" sz="1800" dirty="0"/>
              <a:t>如有必要，可测量锁相环的锁定过程。具体做法是：突然改变输入信号频率，然后用示波器观察</a:t>
            </a:r>
            <a:r>
              <a:rPr lang="en-US" altLang="zh-CN" sz="1800" dirty="0"/>
              <a:t>VCO</a:t>
            </a:r>
            <a:r>
              <a:rPr lang="zh-CN" altLang="en-US" sz="1800" dirty="0"/>
              <a:t>的输入电压变化情况（单次触发模式可保持观察结果），这个电压变化过程就是输出频率的变化过程，也就是锁相环的锁定过程</a:t>
            </a:r>
            <a:endParaRPr lang="en-US" altLang="zh-CN" sz="1800" dirty="0"/>
          </a:p>
        </p:txBody>
      </p:sp>
    </p:spTree>
    <p:extLst>
      <p:ext uri="{BB962C8B-B14F-4D97-AF65-F5344CB8AC3E}">
        <p14:creationId xmlns:p14="http://schemas.microsoft.com/office/powerpoint/2010/main" val="25385766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30</a:t>
            </a:fld>
            <a:endParaRPr lang="en-US" altLang="zh-CN">
              <a:solidFill>
                <a:srgbClr val="FFFFFF"/>
              </a:solidFill>
            </a:endParaRPr>
          </a:p>
        </p:txBody>
      </p:sp>
      <p:sp>
        <p:nvSpPr>
          <p:cNvPr id="6" name="文本框 5"/>
          <p:cNvSpPr txBox="1"/>
          <p:nvPr/>
        </p:nvSpPr>
        <p:spPr>
          <a:xfrm>
            <a:off x="428171" y="286836"/>
            <a:ext cx="11306629" cy="1569660"/>
          </a:xfrm>
          <a:prstGeom prst="rect">
            <a:avLst/>
          </a:prstGeom>
          <a:noFill/>
        </p:spPr>
        <p:txBody>
          <a:bodyPr wrap="square" rtlCol="0">
            <a:spAutoFit/>
          </a:bodyPr>
          <a:lstStyle/>
          <a:p>
            <a:pPr>
              <a:lnSpc>
                <a:spcPct val="150000"/>
              </a:lnSpc>
            </a:pPr>
            <a:r>
              <a:rPr lang="zh-CN" altLang="en-US" sz="2800" dirty="0">
                <a:solidFill>
                  <a:srgbClr val="FF0000"/>
                </a:solidFill>
                <a:latin typeface="隶书" panose="02010509060101010101" pitchFamily="49" charset="-122"/>
                <a:ea typeface="隶书" panose="02010509060101010101" pitchFamily="49" charset="-122"/>
              </a:rPr>
              <a:t>设计例一</a:t>
            </a:r>
            <a:endParaRPr lang="en-US" altLang="zh-CN" sz="2800" dirty="0">
              <a:solidFill>
                <a:srgbClr val="FF0000"/>
              </a:solidFill>
              <a:latin typeface="隶书" panose="02010509060101010101" pitchFamily="49" charset="-122"/>
              <a:ea typeface="隶书" panose="02010509060101010101" pitchFamily="49" charset="-122"/>
            </a:endParaRPr>
          </a:p>
          <a:p>
            <a:pPr marL="342900" indent="-342900">
              <a:lnSpc>
                <a:spcPct val="150000"/>
              </a:lnSpc>
              <a:buFont typeface="Wingdings" panose="05000000000000000000" pitchFamily="2" charset="2"/>
              <a:buChar char="Ø"/>
            </a:pPr>
            <a:r>
              <a:rPr lang="zh-CN" altLang="en-US" sz="1800" dirty="0"/>
              <a:t>用</a:t>
            </a:r>
            <a:r>
              <a:rPr lang="en-US" altLang="zh-CN" sz="1800" dirty="0">
                <a:latin typeface="+mn-lt"/>
              </a:rPr>
              <a:t>NE564</a:t>
            </a:r>
            <a:r>
              <a:rPr lang="zh-CN" altLang="zh-CN" sz="1800" dirty="0"/>
              <a:t>设计一个</a:t>
            </a:r>
            <a:r>
              <a:rPr lang="en-US" altLang="zh-CN" sz="1800" dirty="0">
                <a:latin typeface="+mn-lt"/>
              </a:rPr>
              <a:t>FM</a:t>
            </a:r>
            <a:r>
              <a:rPr lang="zh-CN" altLang="zh-CN" sz="1800" dirty="0"/>
              <a:t>信号解调电路。输入信号幅度</a:t>
            </a:r>
            <a:r>
              <a:rPr lang="en-US" altLang="zh-CN" sz="1800" dirty="0">
                <a:latin typeface="+mn-lt"/>
              </a:rPr>
              <a:t>200mV</a:t>
            </a:r>
            <a:r>
              <a:rPr lang="zh-CN" altLang="zh-CN" sz="1800" dirty="0"/>
              <a:t>，载频</a:t>
            </a:r>
            <a:r>
              <a:rPr lang="en-US" altLang="zh-CN" sz="1800" dirty="0"/>
              <a:t> </a:t>
            </a:r>
            <a:r>
              <a:rPr lang="en-US" altLang="zh-CN" sz="1800" i="1" dirty="0">
                <a:latin typeface="+mn-lt"/>
              </a:rPr>
              <a:t>f</a:t>
            </a:r>
            <a:r>
              <a:rPr lang="en-US" altLang="zh-CN" sz="1800" baseline="-25000" dirty="0">
                <a:latin typeface="+mn-lt"/>
              </a:rPr>
              <a:t>0 </a:t>
            </a:r>
            <a:r>
              <a:rPr lang="en-US" altLang="zh-CN" sz="1800" dirty="0">
                <a:latin typeface="+mn-lt"/>
              </a:rPr>
              <a:t>= 1.20MHz</a:t>
            </a:r>
            <a:r>
              <a:rPr lang="zh-CN" altLang="zh-CN" sz="1800" dirty="0"/>
              <a:t>，最大频偏</a:t>
            </a:r>
            <a:r>
              <a:rPr lang="en-US" altLang="zh-CN" sz="1800" i="1" dirty="0" err="1">
                <a:latin typeface="Symbol" panose="05050102010706020507" pitchFamily="18" charset="2"/>
              </a:rPr>
              <a:t>D</a:t>
            </a:r>
            <a:r>
              <a:rPr lang="en-US" altLang="zh-CN" sz="1800" i="1" dirty="0" err="1">
                <a:latin typeface="+mn-lt"/>
              </a:rPr>
              <a:t>f</a:t>
            </a:r>
            <a:r>
              <a:rPr lang="en-US" altLang="zh-CN" sz="1800" i="1" baseline="-25000" dirty="0" err="1">
                <a:latin typeface="+mn-lt"/>
              </a:rPr>
              <a:t>m</a:t>
            </a:r>
            <a:r>
              <a:rPr lang="en-US" altLang="zh-CN" sz="1800" dirty="0">
                <a:latin typeface="+mn-lt"/>
              </a:rPr>
              <a:t> = 100kHz</a:t>
            </a:r>
            <a:r>
              <a:rPr lang="zh-CN" altLang="zh-CN" sz="1800" dirty="0"/>
              <a:t>，调制频率</a:t>
            </a:r>
            <a:r>
              <a:rPr lang="en-US" altLang="zh-CN" sz="1800" dirty="0">
                <a:latin typeface="+mn-lt"/>
              </a:rPr>
              <a:t>20Hz~20kHz</a:t>
            </a:r>
            <a:r>
              <a:rPr lang="zh-CN" altLang="zh-CN" sz="1800" dirty="0"/>
              <a:t>。</a:t>
            </a:r>
            <a:endParaRPr lang="en-US" altLang="zh-CN" sz="1800" dirty="0"/>
          </a:p>
        </p:txBody>
      </p:sp>
      <p:pic>
        <p:nvPicPr>
          <p:cNvPr id="8" name="图片 7"/>
          <p:cNvPicPr>
            <a:picLocks noChangeAspect="1"/>
          </p:cNvPicPr>
          <p:nvPr/>
        </p:nvPicPr>
        <p:blipFill>
          <a:blip r:embed="rId2"/>
          <a:stretch>
            <a:fillRect/>
          </a:stretch>
        </p:blipFill>
        <p:spPr>
          <a:xfrm>
            <a:off x="1940859" y="1578873"/>
            <a:ext cx="8281252" cy="4556190"/>
          </a:xfrm>
          <a:prstGeom prst="rect">
            <a:avLst/>
          </a:prstGeom>
        </p:spPr>
      </p:pic>
    </p:spTree>
    <p:extLst>
      <p:ext uri="{BB962C8B-B14F-4D97-AF65-F5344CB8AC3E}">
        <p14:creationId xmlns:p14="http://schemas.microsoft.com/office/powerpoint/2010/main" val="26810786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31</a:t>
            </a:fld>
            <a:endParaRPr lang="en-US" altLang="zh-CN">
              <a:solidFill>
                <a:srgbClr val="FFFFFF"/>
              </a:solidFill>
            </a:endParaRPr>
          </a:p>
        </p:txBody>
      </p:sp>
      <p:sp>
        <p:nvSpPr>
          <p:cNvPr id="5" name="Rectangle 3"/>
          <p:cNvSpPr>
            <a:spLocks noChangeArrowheads="1"/>
          </p:cNvSpPr>
          <p:nvPr/>
        </p:nvSpPr>
        <p:spPr bwMode="auto">
          <a:xfrm>
            <a:off x="486229" y="602123"/>
            <a:ext cx="11335356" cy="3831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indent="-285750">
              <a:lnSpc>
                <a:spcPct val="150000"/>
              </a:lnSpc>
              <a:buFont typeface="Wingdings" panose="05000000000000000000" pitchFamily="2" charset="2"/>
              <a:buChar char="Ø"/>
            </a:pPr>
            <a:r>
              <a:rPr lang="zh-CN" altLang="en-US" sz="1800" dirty="0">
                <a:latin typeface="Times New Roman" panose="02020603050405020304" pitchFamily="18" charset="0"/>
                <a:cs typeface="Times New Roman" panose="02020603050405020304" pitchFamily="18" charset="0"/>
              </a:rPr>
              <a:t>一些常规参数的选取</a:t>
            </a:r>
            <a:endParaRPr lang="en-US" altLang="zh-CN" sz="18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zh-CN" altLang="zh-CN" sz="1800" dirty="0">
                <a:latin typeface="Times New Roman" panose="02020603050405020304" pitchFamily="18" charset="0"/>
                <a:cs typeface="Times New Roman" panose="02020603050405020304" pitchFamily="18" charset="0"/>
              </a:rPr>
              <a:t>电源电压取</a:t>
            </a:r>
            <a:r>
              <a:rPr lang="en-US" altLang="zh-CN" sz="1800" dirty="0">
                <a:latin typeface="Times New Roman" panose="02020603050405020304" pitchFamily="18" charset="0"/>
                <a:cs typeface="Times New Roman" panose="02020603050405020304" pitchFamily="18" charset="0"/>
              </a:rPr>
              <a:t>5V</a:t>
            </a:r>
            <a:r>
              <a:rPr lang="zh-CN" altLang="en-US" sz="1800" dirty="0">
                <a:latin typeface="Times New Roman" panose="02020603050405020304" pitchFamily="18" charset="0"/>
                <a:cs typeface="Times New Roman" panose="02020603050405020304" pitchFamily="18" charset="0"/>
              </a:rPr>
              <a:t>，电源退耦电容按照常规取</a:t>
            </a:r>
            <a:r>
              <a:rPr lang="en-US" altLang="zh-CN" sz="1800" dirty="0">
                <a:latin typeface="Times New Roman" panose="02020603050405020304" pitchFamily="18" charset="0"/>
                <a:cs typeface="Times New Roman" panose="02020603050405020304" pitchFamily="18" charset="0"/>
              </a:rPr>
              <a:t>10</a:t>
            </a:r>
            <a:r>
              <a:rPr lang="en-US" altLang="zh-CN" sz="1800" dirty="0">
                <a:latin typeface="Symbol" panose="05050102010706020507" pitchFamily="18" charset="2"/>
                <a:cs typeface="Times New Roman" panose="02020603050405020304" pitchFamily="18" charset="0"/>
              </a:rPr>
              <a:t>m</a:t>
            </a:r>
            <a:r>
              <a:rPr lang="en-US" altLang="zh-CN" sz="1800" dirty="0">
                <a:latin typeface="Times New Roman" panose="02020603050405020304" pitchFamily="18" charset="0"/>
                <a:cs typeface="Times New Roman" panose="02020603050405020304" pitchFamily="18" charset="0"/>
              </a:rPr>
              <a:t>F+0.1</a:t>
            </a:r>
            <a:r>
              <a:rPr lang="en-US" altLang="zh-CN" sz="1800" dirty="0">
                <a:latin typeface="Symbol" panose="05050102010706020507" pitchFamily="18" charset="2"/>
                <a:cs typeface="Times New Roman" panose="02020603050405020304" pitchFamily="18" charset="0"/>
              </a:rPr>
              <a:t>m</a:t>
            </a:r>
            <a:r>
              <a:rPr lang="en-US" altLang="zh-CN" sz="1800" dirty="0">
                <a:latin typeface="Times New Roman" panose="02020603050405020304" pitchFamily="18" charset="0"/>
                <a:cs typeface="Times New Roman" panose="02020603050405020304" pitchFamily="18" charset="0"/>
              </a:rPr>
              <a:t>F</a:t>
            </a:r>
            <a:endParaRPr lang="zh-CN" altLang="en-US" sz="1800" dirty="0">
              <a:latin typeface="Times New Roman" panose="02020603050405020304" pitchFamily="18" charset="0"/>
            </a:endParaRPr>
          </a:p>
          <a:p>
            <a:pPr marL="285750" indent="-285750">
              <a:lnSpc>
                <a:spcPct val="150000"/>
              </a:lnSpc>
              <a:buFont typeface="Arial" panose="020B0604020202020204" pitchFamily="34" charset="0"/>
              <a:buChar char="•"/>
            </a:pPr>
            <a:r>
              <a:rPr lang="en-US" altLang="zh-CN" sz="1800" i="1" dirty="0">
                <a:latin typeface="Times New Roman" panose="02020603050405020304" pitchFamily="18" charset="0"/>
                <a:cs typeface="Times New Roman" panose="02020603050405020304" pitchFamily="18" charset="0"/>
              </a:rPr>
              <a:t>C</a:t>
            </a:r>
            <a:r>
              <a:rPr lang="en-US" altLang="zh-CN" sz="1800" baseline="-30000" dirty="0">
                <a:latin typeface="Times New Roman" panose="02020603050405020304" pitchFamily="18" charset="0"/>
                <a:cs typeface="Times New Roman" panose="02020603050405020304" pitchFamily="18" charset="0"/>
              </a:rPr>
              <a:t>6</a:t>
            </a:r>
            <a:r>
              <a:rPr lang="zh-CN" altLang="en-US" sz="1800" dirty="0">
                <a:latin typeface="Times New Roman" panose="02020603050405020304" pitchFamily="18" charset="0"/>
                <a:cs typeface="Times New Roman" panose="02020603050405020304" pitchFamily="18" charset="0"/>
              </a:rPr>
              <a:t>与</a:t>
            </a:r>
            <a:r>
              <a:rPr lang="en-US" altLang="zh-CN" sz="1800" i="1" dirty="0">
                <a:latin typeface="Times New Roman" panose="02020603050405020304" pitchFamily="18" charset="0"/>
                <a:cs typeface="Times New Roman" panose="02020603050405020304" pitchFamily="18" charset="0"/>
              </a:rPr>
              <a:t>C</a:t>
            </a:r>
            <a:r>
              <a:rPr lang="en-US" altLang="zh-CN" sz="1800" baseline="-30000" dirty="0">
                <a:latin typeface="Times New Roman" panose="02020603050405020304" pitchFamily="18" charset="0"/>
                <a:cs typeface="Times New Roman" panose="02020603050405020304" pitchFamily="18" charset="0"/>
              </a:rPr>
              <a:t>7</a:t>
            </a:r>
            <a:r>
              <a:rPr lang="zh-CN" altLang="en-US" sz="1800" dirty="0">
                <a:latin typeface="Times New Roman" panose="02020603050405020304" pitchFamily="18" charset="0"/>
                <a:cs typeface="Times New Roman" panose="02020603050405020304" pitchFamily="18" charset="0"/>
              </a:rPr>
              <a:t>是耦合电容，实际取</a:t>
            </a:r>
            <a:r>
              <a:rPr lang="en-US" altLang="zh-CN" sz="1800" dirty="0">
                <a:latin typeface="Times New Roman" panose="02020603050405020304" pitchFamily="18" charset="0"/>
                <a:cs typeface="Times New Roman" panose="02020603050405020304" pitchFamily="18" charset="0"/>
              </a:rPr>
              <a:t>0.1</a:t>
            </a:r>
            <a:r>
              <a:rPr lang="en-US" altLang="zh-CN" sz="1800" dirty="0">
                <a:latin typeface="Symbol" panose="05050102010706020507" pitchFamily="18" charset="2"/>
                <a:cs typeface="Times New Roman" panose="02020603050405020304" pitchFamily="18" charset="0"/>
              </a:rPr>
              <a:t>m</a:t>
            </a:r>
            <a:r>
              <a:rPr lang="en-US" altLang="zh-CN" sz="1800" dirty="0">
                <a:latin typeface="Times New Roman" panose="02020603050405020304" pitchFamily="18" charset="0"/>
                <a:cs typeface="Times New Roman" panose="02020603050405020304" pitchFamily="18" charset="0"/>
              </a:rPr>
              <a:t>F</a:t>
            </a:r>
          </a:p>
          <a:p>
            <a:pPr marL="285750" indent="-285750">
              <a:lnSpc>
                <a:spcPct val="150000"/>
              </a:lnSpc>
              <a:buFont typeface="Arial" panose="020B0604020202020204" pitchFamily="34" charset="0"/>
              <a:buChar char="•"/>
            </a:pPr>
            <a:r>
              <a:rPr lang="en-US" altLang="zh-CN" sz="1800" i="1" dirty="0">
                <a:latin typeface="Times New Roman" panose="02020603050405020304" pitchFamily="18" charset="0"/>
                <a:cs typeface="Times New Roman" panose="02020603050405020304" pitchFamily="18" charset="0"/>
              </a:rPr>
              <a:t>R</a:t>
            </a:r>
            <a:r>
              <a:rPr lang="en-US" altLang="zh-CN" sz="1800" baseline="-30000" dirty="0">
                <a:latin typeface="Times New Roman" panose="02020603050405020304" pitchFamily="18" charset="0"/>
                <a:cs typeface="Times New Roman" panose="02020603050405020304" pitchFamily="18" charset="0"/>
              </a:rPr>
              <a:t>67</a:t>
            </a:r>
            <a:r>
              <a:rPr lang="zh-CN" altLang="en-US" sz="1800" dirty="0">
                <a:latin typeface="Times New Roman" panose="02020603050405020304" pitchFamily="18" charset="0"/>
                <a:cs typeface="Times New Roman" panose="02020603050405020304" pitchFamily="18" charset="0"/>
              </a:rPr>
              <a:t>为输入电阻，实际取</a:t>
            </a:r>
            <a:r>
              <a:rPr lang="en-US" altLang="zh-CN" sz="1800" dirty="0">
                <a:latin typeface="Times New Roman" panose="02020603050405020304" pitchFamily="18" charset="0"/>
                <a:cs typeface="Times New Roman" panose="02020603050405020304" pitchFamily="18" charset="0"/>
              </a:rPr>
              <a:t>1k</a:t>
            </a:r>
            <a:r>
              <a:rPr lang="en-US" altLang="zh-CN" sz="1800" dirty="0">
                <a:latin typeface="Symbol" panose="05050102010706020507" pitchFamily="18" charset="2"/>
                <a:cs typeface="Times New Roman" panose="02020603050405020304" pitchFamily="18" charset="0"/>
              </a:rPr>
              <a:t>W</a:t>
            </a:r>
            <a:r>
              <a:rPr lang="zh-CN" altLang="en-US" sz="1800" dirty="0">
                <a:latin typeface="Symbol" panose="05050102010706020507" pitchFamily="18" charset="2"/>
                <a:cs typeface="Times New Roman" panose="02020603050405020304" pitchFamily="18" charset="0"/>
              </a:rPr>
              <a:t>（如果前面有前置放大器，也可取射频电路中最常见的</a:t>
            </a:r>
            <a:r>
              <a:rPr lang="en-US" altLang="zh-CN" sz="1800" dirty="0">
                <a:latin typeface="Symbol" panose="05050102010706020507" pitchFamily="18" charset="2"/>
                <a:cs typeface="Times New Roman" panose="02020603050405020304" pitchFamily="18" charset="0"/>
              </a:rPr>
              <a:t>50</a:t>
            </a:r>
            <a:r>
              <a:rPr lang="el-GR" altLang="zh-CN" sz="1800" dirty="0">
                <a:latin typeface="Times New Roman" panose="02020603050405020304" pitchFamily="18" charset="0"/>
                <a:cs typeface="Times New Roman" panose="02020603050405020304" pitchFamily="18" charset="0"/>
              </a:rPr>
              <a:t>Ω</a:t>
            </a:r>
            <a:r>
              <a:rPr lang="zh-CN" altLang="en-US" sz="1800" dirty="0">
                <a:latin typeface="Symbol" panose="05050102010706020507" pitchFamily="18" charset="2"/>
                <a:cs typeface="Times New Roman" panose="02020603050405020304" pitchFamily="18" charset="0"/>
              </a:rPr>
              <a:t>）</a:t>
            </a:r>
            <a:endParaRPr lang="zh-CN" altLang="en-US" sz="1800" dirty="0">
              <a:latin typeface="Times New Roman" panose="02020603050405020304" pitchFamily="18" charset="0"/>
            </a:endParaRPr>
          </a:p>
          <a:p>
            <a:pPr marL="285750" indent="-285750">
              <a:lnSpc>
                <a:spcPct val="150000"/>
              </a:lnSpc>
              <a:buFont typeface="Arial" panose="020B0604020202020204" pitchFamily="34" charset="0"/>
              <a:buChar char="•"/>
            </a:pPr>
            <a:r>
              <a:rPr lang="en-US" altLang="zh-CN" sz="1800" dirty="0">
                <a:latin typeface="Times New Roman" panose="02020603050405020304" pitchFamily="18" charset="0"/>
                <a:cs typeface="Times New Roman" panose="02020603050405020304" pitchFamily="18" charset="0"/>
              </a:rPr>
              <a:t>2</a:t>
            </a:r>
            <a:r>
              <a:rPr lang="zh-CN" altLang="en-US" sz="1800" dirty="0">
                <a:latin typeface="Times New Roman" panose="02020603050405020304" pitchFamily="18" charset="0"/>
                <a:cs typeface="Times New Roman" panose="02020603050405020304" pitchFamily="18" charset="0"/>
              </a:rPr>
              <a:t>号引脚可接偏置电阻，确定鉴相器的偏置电流与鉴相增益，实验中开路即偏置电流为</a:t>
            </a:r>
            <a:r>
              <a:rPr lang="en-US" altLang="zh-CN" sz="1800" dirty="0">
                <a:latin typeface="Times New Roman" panose="02020603050405020304" pitchFamily="18" charset="0"/>
                <a:cs typeface="Times New Roman" panose="02020603050405020304" pitchFamily="18" charset="0"/>
              </a:rPr>
              <a:t>0</a:t>
            </a:r>
            <a:r>
              <a:rPr lang="zh-CN" altLang="en-US" sz="1800" dirty="0">
                <a:latin typeface="Times New Roman" panose="02020603050405020304" pitchFamily="18" charset="0"/>
                <a:cs typeface="Times New Roman" panose="02020603050405020304" pitchFamily="18" charset="0"/>
              </a:rPr>
              <a:t>。查</a:t>
            </a:r>
            <a:r>
              <a:rPr lang="en-US" altLang="zh-CN" sz="1800" dirty="0">
                <a:latin typeface="Times New Roman" panose="02020603050405020304" pitchFamily="18" charset="0"/>
                <a:cs typeface="Times New Roman" panose="02020603050405020304" pitchFamily="18" charset="0"/>
              </a:rPr>
              <a:t>NE564</a:t>
            </a:r>
            <a:r>
              <a:rPr lang="zh-CN" altLang="en-US" sz="1800" dirty="0">
                <a:latin typeface="Times New Roman" panose="02020603050405020304" pitchFamily="18" charset="0"/>
                <a:cs typeface="Times New Roman" panose="02020603050405020304" pitchFamily="18" charset="0"/>
              </a:rPr>
              <a:t>的数据手册可知，此时鉴相增益 </a:t>
            </a:r>
            <a:r>
              <a:rPr lang="en-US" altLang="zh-CN" sz="1800" i="1" dirty="0">
                <a:latin typeface="Times New Roman" panose="02020603050405020304" pitchFamily="18" charset="0"/>
                <a:cs typeface="Times New Roman" panose="02020603050405020304" pitchFamily="18" charset="0"/>
              </a:rPr>
              <a:t>K</a:t>
            </a:r>
            <a:r>
              <a:rPr lang="en-US" altLang="zh-CN" sz="1800" i="1" baseline="-25000" dirty="0">
                <a:latin typeface="Times New Roman" panose="02020603050405020304" pitchFamily="18" charset="0"/>
                <a:cs typeface="Times New Roman" panose="02020603050405020304" pitchFamily="18" charset="0"/>
              </a:rPr>
              <a:t>d</a:t>
            </a:r>
            <a:r>
              <a:rPr lang="en-US" altLang="zh-CN" sz="1800" dirty="0">
                <a:latin typeface="Times New Roman" panose="02020603050405020304" pitchFamily="18" charset="0"/>
                <a:cs typeface="Times New Roman" panose="02020603050405020304" pitchFamily="18" charset="0"/>
              </a:rPr>
              <a:t>≈0.46</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VCO</a:t>
            </a:r>
            <a:r>
              <a:rPr lang="zh-CN" altLang="en-US" sz="1800" dirty="0">
                <a:latin typeface="Times New Roman" panose="02020603050405020304" pitchFamily="18" charset="0"/>
                <a:cs typeface="Times New Roman" panose="02020603050405020304" pitchFamily="18" charset="0"/>
              </a:rPr>
              <a:t>的压控增益</a:t>
            </a:r>
            <a:r>
              <a:rPr lang="en-US" altLang="zh-CN" sz="1800" i="1" dirty="0">
                <a:latin typeface="Times New Roman" panose="02020603050405020304" pitchFamily="18" charset="0"/>
                <a:cs typeface="Times New Roman" panose="02020603050405020304" pitchFamily="18" charset="0"/>
              </a:rPr>
              <a:t> K</a:t>
            </a:r>
            <a:r>
              <a:rPr lang="en-US" altLang="zh-CN" sz="1800" i="1" baseline="-25000" dirty="0">
                <a:latin typeface="Times New Roman" panose="02020603050405020304" pitchFamily="18" charset="0"/>
                <a:cs typeface="Times New Roman" panose="02020603050405020304" pitchFamily="18" charset="0"/>
              </a:rPr>
              <a:t>o</a:t>
            </a:r>
            <a:r>
              <a:rPr lang="en-US" altLang="zh-CN" sz="1800" dirty="0">
                <a:latin typeface="Times New Roman" panose="02020603050405020304" pitchFamily="18" charset="0"/>
                <a:cs typeface="Times New Roman" panose="02020603050405020304" pitchFamily="18" charset="0"/>
              </a:rPr>
              <a:t>≈5.9</a:t>
            </a:r>
            <a:r>
              <a:rPr lang="en-US" altLang="zh-CN" sz="1800" i="1" dirty="0">
                <a:latin typeface="Times New Roman" panose="02020603050405020304" pitchFamily="18" charset="0"/>
                <a:cs typeface="Times New Roman" panose="02020603050405020304" pitchFamily="18" charset="0"/>
              </a:rPr>
              <a:t>f</a:t>
            </a:r>
            <a:r>
              <a:rPr lang="en-US" altLang="zh-CN" sz="1800" baseline="-25000" dirty="0">
                <a:latin typeface="Times New Roman" panose="02020603050405020304" pitchFamily="18" charset="0"/>
                <a:cs typeface="Times New Roman" panose="02020603050405020304" pitchFamily="18" charset="0"/>
              </a:rPr>
              <a:t>0</a:t>
            </a:r>
            <a:r>
              <a:rPr lang="zh-CN" altLang="en-US" sz="1800" dirty="0">
                <a:latin typeface="Times New Roman" panose="02020603050405020304" pitchFamily="18" charset="0"/>
                <a:cs typeface="Times New Roman" panose="02020603050405020304" pitchFamily="18" charset="0"/>
              </a:rPr>
              <a:t>，其中</a:t>
            </a:r>
            <a:r>
              <a:rPr lang="en-US" altLang="zh-CN" sz="1800" i="1" dirty="0">
                <a:latin typeface="Times New Roman" panose="02020603050405020304" pitchFamily="18" charset="0"/>
                <a:cs typeface="Times New Roman" panose="02020603050405020304" pitchFamily="18" charset="0"/>
              </a:rPr>
              <a:t>f</a:t>
            </a:r>
            <a:r>
              <a:rPr lang="en-US" altLang="zh-CN" sz="1800" baseline="-25000" dirty="0">
                <a:latin typeface="Times New Roman" panose="02020603050405020304" pitchFamily="18" charset="0"/>
                <a:cs typeface="Times New Roman" panose="02020603050405020304" pitchFamily="18" charset="0"/>
              </a:rPr>
              <a:t>0</a:t>
            </a:r>
            <a:r>
              <a:rPr lang="zh-CN" altLang="en-US" sz="1800" dirty="0">
                <a:latin typeface="Times New Roman" panose="02020603050405020304" pitchFamily="18" charset="0"/>
                <a:cs typeface="Times New Roman" panose="02020603050405020304" pitchFamily="18" charset="0"/>
              </a:rPr>
              <a:t>是</a:t>
            </a:r>
            <a:r>
              <a:rPr lang="en-US" altLang="zh-CN" sz="1800" dirty="0">
                <a:latin typeface="Times New Roman" panose="02020603050405020304" pitchFamily="18" charset="0"/>
                <a:cs typeface="Times New Roman" panose="02020603050405020304" pitchFamily="18" charset="0"/>
              </a:rPr>
              <a:t>VCO</a:t>
            </a:r>
            <a:r>
              <a:rPr lang="zh-CN" altLang="en-US" sz="1800" dirty="0">
                <a:latin typeface="Times New Roman" panose="02020603050405020304" pitchFamily="18" charset="0"/>
                <a:cs typeface="Times New Roman" panose="02020603050405020304" pitchFamily="18" charset="0"/>
              </a:rPr>
              <a:t>的中心频率</a:t>
            </a:r>
            <a:endParaRPr lang="en-US" altLang="zh-CN" sz="18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altLang="zh-CN" sz="1800" i="1" dirty="0">
                <a:latin typeface="Times New Roman" panose="02020603050405020304" pitchFamily="18" charset="0"/>
                <a:cs typeface="Times New Roman" panose="02020603050405020304" pitchFamily="18" charset="0"/>
              </a:rPr>
              <a:t>R</a:t>
            </a:r>
            <a:r>
              <a:rPr lang="en-US" altLang="zh-CN" sz="1800" baseline="-30000" dirty="0">
                <a:latin typeface="Times New Roman" panose="02020603050405020304" pitchFamily="18" charset="0"/>
                <a:cs typeface="Times New Roman" panose="02020603050405020304" pitchFamily="18" charset="0"/>
              </a:rPr>
              <a:t>9</a:t>
            </a:r>
            <a:r>
              <a:rPr lang="zh-CN" altLang="en-US" sz="1800" dirty="0">
                <a:latin typeface="Times New Roman" panose="02020603050405020304" pitchFamily="18" charset="0"/>
                <a:cs typeface="Times New Roman" panose="02020603050405020304" pitchFamily="18" charset="0"/>
              </a:rPr>
              <a:t>是</a:t>
            </a:r>
            <a:r>
              <a:rPr lang="en-US" altLang="zh-CN" sz="1800" dirty="0">
                <a:latin typeface="Times New Roman" panose="02020603050405020304" pitchFamily="18" charset="0"/>
                <a:cs typeface="Times New Roman" panose="02020603050405020304" pitchFamily="18" charset="0"/>
              </a:rPr>
              <a:t>VCO</a:t>
            </a:r>
            <a:r>
              <a:rPr lang="zh-CN" altLang="en-US" sz="1800" dirty="0">
                <a:latin typeface="Times New Roman" panose="02020603050405020304" pitchFamily="18" charset="0"/>
                <a:cs typeface="Times New Roman" panose="02020603050405020304" pitchFamily="18" charset="0"/>
              </a:rPr>
              <a:t>输出的集电极上拉电阻，此电阻小些则</a:t>
            </a:r>
            <a:r>
              <a:rPr lang="en-US" altLang="zh-CN" sz="1800" dirty="0">
                <a:latin typeface="Times New Roman" panose="02020603050405020304" pitchFamily="18" charset="0"/>
                <a:cs typeface="Times New Roman" panose="02020603050405020304" pitchFamily="18" charset="0"/>
              </a:rPr>
              <a:t>VCO</a:t>
            </a:r>
            <a:r>
              <a:rPr lang="zh-CN" altLang="en-US" sz="1800" dirty="0">
                <a:latin typeface="Times New Roman" panose="02020603050405020304" pitchFamily="18" charset="0"/>
                <a:cs typeface="Times New Roman" panose="02020603050405020304" pitchFamily="18" charset="0"/>
              </a:rPr>
              <a:t>输出波形陡峭些，但是受到晶体管集电极电流的制约而不能过小，本实验中取</a:t>
            </a:r>
            <a:r>
              <a:rPr lang="en-US" altLang="zh-CN" sz="1800" dirty="0">
                <a:latin typeface="Times New Roman" panose="02020603050405020304" pitchFamily="18" charset="0"/>
                <a:cs typeface="Times New Roman" panose="02020603050405020304" pitchFamily="18" charset="0"/>
              </a:rPr>
              <a:t>1k</a:t>
            </a:r>
            <a:r>
              <a:rPr lang="en-US" altLang="zh-CN" sz="1800" dirty="0">
                <a:latin typeface="Symbol" panose="05050102010706020507" pitchFamily="18" charset="2"/>
                <a:cs typeface="Times New Roman" panose="02020603050405020304" pitchFamily="18" charset="0"/>
              </a:rPr>
              <a:t>W</a:t>
            </a:r>
            <a:endParaRPr lang="zh-CN" altLang="en-US" sz="800" dirty="0">
              <a:latin typeface="Times New Roman" panose="02020603050405020304" pitchFamily="18" charset="0"/>
            </a:endParaRPr>
          </a:p>
          <a:p>
            <a:pPr marL="285750" indent="-285750">
              <a:lnSpc>
                <a:spcPct val="150000"/>
              </a:lnSpc>
              <a:buFont typeface="Arial" panose="020B0604020202020204" pitchFamily="34" charset="0"/>
              <a:buChar char="•"/>
            </a:pPr>
            <a:r>
              <a:rPr lang="en-US" altLang="zh-CN" sz="1800" i="1" dirty="0">
                <a:latin typeface="Times New Roman" panose="02020603050405020304" pitchFamily="18" charset="0"/>
                <a:cs typeface="Times New Roman" panose="02020603050405020304" pitchFamily="18" charset="0"/>
              </a:rPr>
              <a:t>C</a:t>
            </a:r>
            <a:r>
              <a:rPr lang="en-US" altLang="zh-CN" sz="1800" baseline="-30000" dirty="0">
                <a:latin typeface="Times New Roman" panose="02020603050405020304" pitchFamily="18" charset="0"/>
                <a:cs typeface="Times New Roman" panose="02020603050405020304" pitchFamily="18" charset="0"/>
              </a:rPr>
              <a:t>14</a:t>
            </a:r>
            <a:r>
              <a:rPr lang="zh-CN" altLang="en-US" sz="1800" dirty="0">
                <a:latin typeface="Times New Roman" panose="02020603050405020304" pitchFamily="18" charset="0"/>
                <a:cs typeface="Times New Roman" panose="02020603050405020304" pitchFamily="18" charset="0"/>
              </a:rPr>
              <a:t>是输出滤波电容，根据解调后信号的频率确定其容量。本实验中取</a:t>
            </a:r>
            <a:r>
              <a:rPr lang="en-US" altLang="zh-CN" sz="1800" dirty="0">
                <a:latin typeface="Times New Roman" panose="02020603050405020304" pitchFamily="18" charset="0"/>
                <a:cs typeface="Times New Roman" panose="02020603050405020304" pitchFamily="18" charset="0"/>
              </a:rPr>
              <a:t>4700pF</a:t>
            </a:r>
            <a:r>
              <a:rPr lang="zh-CN" altLang="en-US" sz="1800" dirty="0">
                <a:latin typeface="Times New Roman" panose="02020603050405020304" pitchFamily="18" charset="0"/>
                <a:cs typeface="Times New Roman" panose="02020603050405020304" pitchFamily="18" charset="0"/>
              </a:rPr>
              <a:t>（也可以外接其它滤波电路）</a:t>
            </a:r>
          </a:p>
        </p:txBody>
      </p:sp>
    </p:spTree>
    <p:extLst>
      <p:ext uri="{BB962C8B-B14F-4D97-AF65-F5344CB8AC3E}">
        <p14:creationId xmlns:p14="http://schemas.microsoft.com/office/powerpoint/2010/main" val="4199904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32</a:t>
            </a:fld>
            <a:endParaRPr lang="en-US" altLang="zh-CN">
              <a:solidFill>
                <a:srgbClr val="FFFFFF"/>
              </a:solidFill>
            </a:endParaRPr>
          </a:p>
        </p:txBody>
      </p:sp>
      <p:sp>
        <p:nvSpPr>
          <p:cNvPr id="7" name="Rectangle 3"/>
          <p:cNvSpPr>
            <a:spLocks noChangeArrowheads="1"/>
          </p:cNvSpPr>
          <p:nvPr/>
        </p:nvSpPr>
        <p:spPr bwMode="auto">
          <a:xfrm>
            <a:off x="471714" y="544909"/>
            <a:ext cx="11263086"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indent="-285750">
              <a:lnSpc>
                <a:spcPct val="150000"/>
              </a:lnSpc>
              <a:buFont typeface="Wingdings" panose="05000000000000000000" pitchFamily="2" charset="2"/>
              <a:buChar char="Ø"/>
            </a:pPr>
            <a:r>
              <a:rPr lang="zh-CN" altLang="en-US" dirty="0">
                <a:latin typeface="Times New Roman" panose="02020603050405020304" pitchFamily="18" charset="0"/>
                <a:cs typeface="Times New Roman" panose="02020603050405020304" pitchFamily="18" charset="0"/>
              </a:rPr>
              <a:t>关键参数的计算</a:t>
            </a:r>
            <a:endParaRPr lang="en-US" altLang="zh-CN"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l"/>
            </a:pPr>
            <a:r>
              <a:rPr lang="zh-CN" altLang="en-US" sz="1800" dirty="0">
                <a:latin typeface="Times New Roman" panose="02020603050405020304" pitchFamily="18" charset="0"/>
                <a:cs typeface="Times New Roman" panose="02020603050405020304" pitchFamily="18" charset="0"/>
              </a:rPr>
              <a:t>与</a:t>
            </a:r>
            <a:r>
              <a:rPr lang="en-US" altLang="zh-CN" sz="1800" dirty="0">
                <a:latin typeface="Times New Roman" panose="02020603050405020304" pitchFamily="18" charset="0"/>
                <a:cs typeface="Times New Roman" panose="02020603050405020304" pitchFamily="18" charset="0"/>
              </a:rPr>
              <a:t>VCO</a:t>
            </a:r>
            <a:r>
              <a:rPr lang="zh-CN" altLang="en-US" sz="1800" dirty="0">
                <a:latin typeface="Times New Roman" panose="02020603050405020304" pitchFamily="18" charset="0"/>
                <a:cs typeface="Times New Roman" panose="02020603050405020304" pitchFamily="18" charset="0"/>
              </a:rPr>
              <a:t>有关的元件计算：</a:t>
            </a:r>
            <a:endParaRPr lang="en-US" altLang="zh-CN" sz="18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altLang="zh-CN" sz="1800" dirty="0">
                <a:latin typeface="Times New Roman" panose="02020603050405020304" pitchFamily="18" charset="0"/>
                <a:cs typeface="Times New Roman" panose="02020603050405020304" pitchFamily="18" charset="0"/>
              </a:rPr>
              <a:t>VCO</a:t>
            </a:r>
            <a:r>
              <a:rPr lang="zh-CN" altLang="en-US" sz="1800" dirty="0">
                <a:latin typeface="Times New Roman" panose="02020603050405020304" pitchFamily="18" charset="0"/>
                <a:cs typeface="Times New Roman" panose="02020603050405020304" pitchFamily="18" charset="0"/>
              </a:rPr>
              <a:t>的中心频率应该接近输入信号的载频，据</a:t>
            </a:r>
            <a:r>
              <a:rPr lang="en-US" altLang="zh-CN" sz="1800" dirty="0">
                <a:latin typeface="Times New Roman" panose="02020603050405020304" pitchFamily="18" charset="0"/>
                <a:cs typeface="Times New Roman" panose="02020603050405020304" pitchFamily="18" charset="0"/>
              </a:rPr>
              <a:t>NE564</a:t>
            </a:r>
            <a:r>
              <a:rPr lang="zh-CN" altLang="en-US" sz="1800" dirty="0">
                <a:latin typeface="Times New Roman" panose="02020603050405020304" pitchFamily="18" charset="0"/>
                <a:cs typeface="Times New Roman" panose="02020603050405020304" pitchFamily="18" charset="0"/>
              </a:rPr>
              <a:t>的数据手册给出的公式计算振荡电容</a:t>
            </a:r>
            <a:r>
              <a:rPr lang="en-US" altLang="zh-CN" sz="1800" i="1" dirty="0">
                <a:latin typeface="Times New Roman" panose="02020603050405020304" pitchFamily="18" charset="0"/>
                <a:cs typeface="Times New Roman" panose="02020603050405020304" pitchFamily="18" charset="0"/>
              </a:rPr>
              <a:t>C</a:t>
            </a:r>
            <a:r>
              <a:rPr lang="en-US" altLang="zh-CN" sz="1800" baseline="-25000" dirty="0">
                <a:latin typeface="Times New Roman" panose="02020603050405020304" pitchFamily="18" charset="0"/>
                <a:cs typeface="Times New Roman" panose="02020603050405020304" pitchFamily="18" charset="0"/>
              </a:rPr>
              <a:t>0</a:t>
            </a:r>
          </a:p>
          <a:p>
            <a:pPr marL="285750" indent="-285750">
              <a:lnSpc>
                <a:spcPct val="150000"/>
              </a:lnSpc>
              <a:buFont typeface="Arial" panose="020B0604020202020204" pitchFamily="34" charset="0"/>
              <a:buChar char="•"/>
            </a:pPr>
            <a:endParaRPr lang="en-US" altLang="zh-CN" sz="1800" dirty="0">
              <a:latin typeface="Times New Roman" panose="02020603050405020304" pitchFamily="18" charset="0"/>
              <a:cs typeface="Times New Roman" panose="02020603050405020304" pitchFamily="18" charset="0"/>
            </a:endParaRPr>
          </a:p>
          <a:p>
            <a:pPr lvl="1">
              <a:lnSpc>
                <a:spcPct val="150000"/>
              </a:lnSpc>
            </a:pPr>
            <a:endParaRPr lang="en-US" altLang="zh-CN" sz="1800" dirty="0">
              <a:latin typeface="Times New Roman" panose="02020603050405020304" pitchFamily="18" charset="0"/>
              <a:cs typeface="Times New Roman" panose="02020603050405020304" pitchFamily="18" charset="0"/>
            </a:endParaRPr>
          </a:p>
          <a:p>
            <a:pPr>
              <a:lnSpc>
                <a:spcPct val="150000"/>
              </a:lnSpc>
            </a:pPr>
            <a:r>
              <a:rPr lang="zh-CN" altLang="en-US" sz="1800" dirty="0">
                <a:latin typeface="Times New Roman" panose="02020603050405020304" pitchFamily="18" charset="0"/>
                <a:cs typeface="Times New Roman" panose="02020603050405020304" pitchFamily="18" charset="0"/>
              </a:rPr>
              <a:t>实际取</a:t>
            </a:r>
            <a:r>
              <a:rPr lang="en-US" altLang="zh-CN" sz="1800" dirty="0">
                <a:latin typeface="Times New Roman" panose="02020603050405020304" pitchFamily="18" charset="0"/>
                <a:cs typeface="Times New Roman" panose="02020603050405020304" pitchFamily="18" charset="0"/>
              </a:rPr>
              <a:t>390pF</a:t>
            </a:r>
            <a:r>
              <a:rPr lang="zh-CN" altLang="en-US" sz="1800" dirty="0">
                <a:latin typeface="Times New Roman" panose="02020603050405020304" pitchFamily="18" charset="0"/>
                <a:cs typeface="Times New Roman" panose="02020603050405020304" pitchFamily="18" charset="0"/>
              </a:rPr>
              <a:t>。式中</a:t>
            </a:r>
            <a:r>
              <a:rPr lang="en-US" altLang="zh-CN" sz="1800" i="1" dirty="0">
                <a:latin typeface="Times New Roman" panose="02020603050405020304" pitchFamily="18" charset="0"/>
                <a:cs typeface="Times New Roman" panose="02020603050405020304" pitchFamily="18" charset="0"/>
              </a:rPr>
              <a:t>R</a:t>
            </a:r>
            <a:r>
              <a:rPr lang="en-US" altLang="zh-CN" sz="1800" i="1" baseline="-25000" dirty="0">
                <a:latin typeface="Times New Roman" panose="02020603050405020304" pitchFamily="18" charset="0"/>
                <a:cs typeface="Times New Roman" panose="02020603050405020304" pitchFamily="18" charset="0"/>
              </a:rPr>
              <a:t>VCO</a:t>
            </a:r>
            <a:r>
              <a:rPr lang="en-US" altLang="zh-CN" sz="1800" dirty="0">
                <a:latin typeface="Times New Roman" panose="02020603050405020304" pitchFamily="18" charset="0"/>
                <a:cs typeface="Times New Roman" panose="02020603050405020304" pitchFamily="18" charset="0"/>
              </a:rPr>
              <a:t>=100</a:t>
            </a:r>
            <a:r>
              <a:rPr lang="el-GR" altLang="zh-CN" sz="1800" dirty="0">
                <a:latin typeface="Times New Roman" panose="02020603050405020304" pitchFamily="18" charset="0"/>
                <a:cs typeface="Times New Roman" panose="02020603050405020304" pitchFamily="18" charset="0"/>
              </a:rPr>
              <a:t>Ω</a:t>
            </a:r>
            <a:r>
              <a:rPr lang="zh-CN" altLang="en-US" sz="1800" dirty="0">
                <a:latin typeface="Times New Roman" panose="02020603050405020304" pitchFamily="18" charset="0"/>
                <a:cs typeface="Times New Roman" panose="02020603050405020304" pitchFamily="18" charset="0"/>
              </a:rPr>
              <a:t>是芯片内部电阻</a:t>
            </a:r>
            <a:endParaRPr lang="en-US" altLang="zh-CN" sz="18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altLang="zh-CN" sz="1800" dirty="0">
                <a:latin typeface="Times New Roman" panose="02020603050405020304" pitchFamily="18" charset="0"/>
                <a:cs typeface="Times New Roman" panose="02020603050405020304" pitchFamily="18" charset="0"/>
              </a:rPr>
              <a:t>VCO</a:t>
            </a:r>
            <a:r>
              <a:rPr lang="zh-CN" altLang="en-US" sz="1800" dirty="0">
                <a:latin typeface="Times New Roman" panose="02020603050405020304" pitchFamily="18" charset="0"/>
                <a:cs typeface="Times New Roman" panose="02020603050405020304" pitchFamily="18" charset="0"/>
              </a:rPr>
              <a:t>的输出</a:t>
            </a:r>
            <a:r>
              <a:rPr lang="zh-CN" altLang="zh-CN" sz="1800" dirty="0"/>
              <a:t>频率范围应该大于±</a:t>
            </a:r>
            <a:r>
              <a:rPr lang="en-US" altLang="zh-CN" sz="1800" dirty="0">
                <a:latin typeface="+mn-lt"/>
              </a:rPr>
              <a:t>100kHz</a:t>
            </a:r>
            <a:r>
              <a:rPr lang="zh-CN" altLang="zh-CN" sz="1800" dirty="0"/>
              <a:t>。考虑到芯片内部的集成电阻阻值可能有较大的偏差，实测了压控振荡器的输出频率范围</a:t>
            </a:r>
            <a:r>
              <a:rPr lang="zh-CN" altLang="en-US" sz="1800" dirty="0"/>
              <a:t>，结果是：</a:t>
            </a:r>
            <a:r>
              <a:rPr lang="zh-CN" altLang="zh-CN" sz="1800" dirty="0"/>
              <a:t>在</a:t>
            </a:r>
            <a:r>
              <a:rPr lang="en-US" altLang="zh-CN" sz="1800" dirty="0"/>
              <a:t> </a:t>
            </a:r>
            <a:r>
              <a:rPr lang="en-US" altLang="zh-CN" sz="1800" i="1" dirty="0">
                <a:latin typeface="+mn-lt"/>
              </a:rPr>
              <a:t>f</a:t>
            </a:r>
            <a:r>
              <a:rPr lang="en-US" altLang="zh-CN" sz="1800" baseline="-25000" dirty="0">
                <a:latin typeface="+mn-lt"/>
              </a:rPr>
              <a:t>0 </a:t>
            </a:r>
            <a:r>
              <a:rPr lang="en-US" altLang="zh-CN" sz="1800" dirty="0">
                <a:latin typeface="+mn-lt"/>
              </a:rPr>
              <a:t>= 1.20MHz</a:t>
            </a:r>
            <a:r>
              <a:rPr lang="zh-CN" altLang="zh-CN" sz="1800" dirty="0"/>
              <a:t>时压控振荡器的输出频率可控范围为±</a:t>
            </a:r>
            <a:r>
              <a:rPr lang="en-US" altLang="zh-CN" sz="1800" dirty="0">
                <a:latin typeface="+mn-lt"/>
              </a:rPr>
              <a:t>400kHz</a:t>
            </a:r>
            <a:r>
              <a:rPr lang="zh-CN" altLang="zh-CN" sz="1800" dirty="0"/>
              <a:t>，远大于输入的最大频偏</a:t>
            </a:r>
            <a:r>
              <a:rPr lang="zh-CN" altLang="en-US" sz="1800" dirty="0"/>
              <a:t>。</a:t>
            </a:r>
            <a:endParaRPr lang="en-US" altLang="zh-CN" sz="1800" dirty="0"/>
          </a:p>
          <a:p>
            <a:pPr marL="288000" lvl="2">
              <a:lnSpc>
                <a:spcPct val="150000"/>
              </a:lnSpc>
            </a:pPr>
            <a:r>
              <a:rPr lang="zh-CN" altLang="en-US" sz="1800" dirty="0">
                <a:latin typeface="Times New Roman" panose="02020603050405020304" pitchFamily="18" charset="0"/>
                <a:cs typeface="Times New Roman" panose="02020603050405020304" pitchFamily="18" charset="0"/>
              </a:rPr>
              <a:t>实测</a:t>
            </a:r>
            <a:r>
              <a:rPr lang="zh-CN" altLang="zh-CN" sz="1800" dirty="0"/>
              <a:t>压控振荡器输出频率范围</a:t>
            </a:r>
            <a:r>
              <a:rPr lang="zh-CN" altLang="en-US" sz="1800" dirty="0">
                <a:latin typeface="Times New Roman" panose="02020603050405020304" pitchFamily="18" charset="0"/>
                <a:cs typeface="Times New Roman" panose="02020603050405020304" pitchFamily="18" charset="0"/>
              </a:rPr>
              <a:t>的方法：锁相环开环，直接在</a:t>
            </a:r>
            <a:r>
              <a:rPr lang="en-US" altLang="zh-CN" sz="1800" dirty="0">
                <a:latin typeface="Times New Roman" panose="02020603050405020304" pitchFamily="18" charset="0"/>
                <a:cs typeface="Times New Roman" panose="02020603050405020304" pitchFamily="18" charset="0"/>
              </a:rPr>
              <a:t>VCO</a:t>
            </a:r>
            <a:r>
              <a:rPr lang="zh-CN" altLang="en-US" sz="1800" dirty="0">
                <a:latin typeface="Times New Roman" panose="02020603050405020304" pitchFamily="18" charset="0"/>
                <a:cs typeface="Times New Roman" panose="02020603050405020304" pitchFamily="18" charset="0"/>
              </a:rPr>
              <a:t>输出端加直流电压测试。由于</a:t>
            </a:r>
            <a:r>
              <a:rPr lang="en-US" altLang="zh-CN" sz="1800" dirty="0">
                <a:latin typeface="Times New Roman" panose="02020603050405020304" pitchFamily="18" charset="0"/>
                <a:cs typeface="Times New Roman" panose="02020603050405020304" pitchFamily="18" charset="0"/>
              </a:rPr>
              <a:t>NE564</a:t>
            </a:r>
            <a:r>
              <a:rPr lang="zh-CN" altLang="en-US" sz="1800" dirty="0">
                <a:latin typeface="Times New Roman" panose="02020603050405020304" pitchFamily="18" charset="0"/>
                <a:cs typeface="Times New Roman" panose="02020603050405020304" pitchFamily="18" charset="0"/>
              </a:rPr>
              <a:t>的鉴相器输出差分信号，所以注意所加的直流电压必须满足差分要求</a:t>
            </a:r>
            <a:endParaRPr lang="en-US" altLang="zh-CN" sz="1800" dirty="0">
              <a:latin typeface="Times New Roman" panose="02020603050405020304" pitchFamily="18" charset="0"/>
              <a:cs typeface="Times New Roman" panose="02020603050405020304" pitchFamily="18" charset="0"/>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1377043174"/>
              </p:ext>
            </p:extLst>
          </p:nvPr>
        </p:nvGraphicFramePr>
        <p:xfrm>
          <a:off x="3761977" y="1978578"/>
          <a:ext cx="4392559" cy="695851"/>
        </p:xfrm>
        <a:graphic>
          <a:graphicData uri="http://schemas.openxmlformats.org/presentationml/2006/ole">
            <mc:AlternateContent xmlns:mc="http://schemas.openxmlformats.org/markup-compatibility/2006">
              <mc:Choice xmlns:v="urn:schemas-microsoft-com:vml" Requires="v">
                <p:oleObj spid="_x0000_s21585" name="Equation" r:id="rId3" imgW="2540000" imgH="406400" progId="Equation.DSMT4">
                  <p:embed/>
                </p:oleObj>
              </mc:Choice>
              <mc:Fallback>
                <p:oleObj name="Equation" r:id="rId3" imgW="2540000" imgH="406400"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1977" y="1978578"/>
                        <a:ext cx="4392559" cy="695851"/>
                      </a:xfrm>
                      <a:prstGeom prst="rect">
                        <a:avLst/>
                      </a:prstGeom>
                      <a:noFill/>
                    </p:spPr>
                  </p:pic>
                </p:oleObj>
              </mc:Fallback>
            </mc:AlternateContent>
          </a:graphicData>
        </a:graphic>
      </p:graphicFrame>
    </p:spTree>
    <p:extLst>
      <p:ext uri="{BB962C8B-B14F-4D97-AF65-F5344CB8AC3E}">
        <p14:creationId xmlns:p14="http://schemas.microsoft.com/office/powerpoint/2010/main" val="28585028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33</a:t>
            </a:fld>
            <a:endParaRPr lang="en-US" altLang="zh-CN">
              <a:solidFill>
                <a:srgbClr val="FFFFFF"/>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538440648"/>
              </p:ext>
            </p:extLst>
          </p:nvPr>
        </p:nvGraphicFramePr>
        <p:xfrm>
          <a:off x="2580142" y="4351941"/>
          <a:ext cx="1265238" cy="676275"/>
        </p:xfrm>
        <a:graphic>
          <a:graphicData uri="http://schemas.openxmlformats.org/presentationml/2006/ole">
            <mc:AlternateContent xmlns:mc="http://schemas.openxmlformats.org/markup-compatibility/2006">
              <mc:Choice xmlns:v="urn:schemas-microsoft-com:vml" Requires="v">
                <p:oleObj spid="_x0000_s23685" name="Equation" r:id="rId3" imgW="698400" imgH="368280" progId="Equation.DSMT4">
                  <p:embed/>
                </p:oleObj>
              </mc:Choice>
              <mc:Fallback>
                <p:oleObj name="Equation" r:id="rId3" imgW="698400" imgH="368280" progId="Equation.DSMT4">
                  <p:embed/>
                  <p:pic>
                    <p:nvPicPr>
                      <p:cNvPr id="7" name="对象 6"/>
                      <p:cNvPicPr>
                        <a:picLocks noChangeAspect="1" noChangeArrowheads="1"/>
                      </p:cNvPicPr>
                      <p:nvPr/>
                    </p:nvPicPr>
                    <p:blipFill>
                      <a:blip r:embed="rId4"/>
                      <a:srcRect/>
                      <a:stretch>
                        <a:fillRect/>
                      </a:stretch>
                    </p:blipFill>
                    <p:spPr bwMode="auto">
                      <a:xfrm>
                        <a:off x="2580142" y="4351941"/>
                        <a:ext cx="1265238" cy="676275"/>
                      </a:xfrm>
                      <a:prstGeom prst="rect">
                        <a:avLst/>
                      </a:prstGeom>
                      <a:noFill/>
                    </p:spPr>
                  </p:pic>
                </p:oleObj>
              </mc:Fallback>
            </mc:AlternateContent>
          </a:graphicData>
        </a:graphic>
      </p:graphicFrame>
      <p:sp>
        <p:nvSpPr>
          <p:cNvPr id="7" name="Rectangle 3"/>
          <p:cNvSpPr>
            <a:spLocks noChangeArrowheads="1"/>
          </p:cNvSpPr>
          <p:nvPr/>
        </p:nvSpPr>
        <p:spPr bwMode="auto">
          <a:xfrm>
            <a:off x="500744" y="496575"/>
            <a:ext cx="11320841" cy="4462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indent="-285750">
              <a:lnSpc>
                <a:spcPct val="150000"/>
              </a:lnSpc>
              <a:buFont typeface="Wingdings" panose="05000000000000000000" pitchFamily="2" charset="2"/>
              <a:buChar char="l"/>
            </a:pPr>
            <a:r>
              <a:rPr lang="zh-CN" altLang="en-US" sz="1800" dirty="0">
                <a:latin typeface="Times New Roman" panose="02020603050405020304" pitchFamily="18" charset="0"/>
                <a:cs typeface="Times New Roman" panose="02020603050405020304" pitchFamily="18" charset="0"/>
              </a:rPr>
              <a:t>与环路滤波器有关的元件计算</a:t>
            </a:r>
            <a:endParaRPr lang="en-US" altLang="zh-CN" sz="18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altLang="zh-CN" sz="1800" dirty="0">
                <a:latin typeface="Times New Roman" panose="02020603050405020304" pitchFamily="18" charset="0"/>
                <a:cs typeface="Times New Roman" panose="02020603050405020304" pitchFamily="18" charset="0"/>
              </a:rPr>
              <a:t>NE564</a:t>
            </a:r>
            <a:r>
              <a:rPr lang="zh-CN" altLang="en-US" sz="1800" dirty="0">
                <a:latin typeface="Times New Roman" panose="02020603050405020304" pitchFamily="18" charset="0"/>
                <a:cs typeface="Times New Roman" panose="02020603050405020304" pitchFamily="18" charset="0"/>
              </a:rPr>
              <a:t>的鉴相器是集电极输出，其</a:t>
            </a:r>
            <a:r>
              <a:rPr lang="en-US" altLang="zh-CN" sz="1800" dirty="0">
                <a:latin typeface="Times New Roman" panose="02020603050405020304" pitchFamily="18" charset="0"/>
                <a:cs typeface="Times New Roman" panose="02020603050405020304" pitchFamily="18" charset="0"/>
              </a:rPr>
              <a:t>R</a:t>
            </a:r>
            <a:r>
              <a:rPr lang="en-US" altLang="zh-CN" sz="1800" baseline="-25000" dirty="0">
                <a:latin typeface="Times New Roman" panose="02020603050405020304" pitchFamily="18" charset="0"/>
                <a:cs typeface="Times New Roman" panose="02020603050405020304" pitchFamily="18" charset="0"/>
              </a:rPr>
              <a:t>LF</a:t>
            </a:r>
            <a:r>
              <a:rPr lang="zh-CN" altLang="en-US" sz="1800" dirty="0">
                <a:latin typeface="Times New Roman" panose="02020603050405020304" pitchFamily="18" charset="0"/>
                <a:cs typeface="Times New Roman" panose="02020603050405020304" pitchFamily="18" charset="0"/>
              </a:rPr>
              <a:t>为集电极负载电阻，同时也是超前滞后型环路滤波器（见第</a:t>
            </a:r>
            <a:r>
              <a:rPr lang="en-US" altLang="zh-CN" sz="1800" dirty="0">
                <a:latin typeface="Times New Roman" panose="02020603050405020304" pitchFamily="18" charset="0"/>
                <a:cs typeface="Times New Roman" panose="02020603050405020304" pitchFamily="18" charset="0"/>
              </a:rPr>
              <a:t>5</a:t>
            </a:r>
            <a:r>
              <a:rPr lang="zh-CN" altLang="en-US" sz="1800" dirty="0">
                <a:latin typeface="Times New Roman" panose="02020603050405020304" pitchFamily="18" charset="0"/>
                <a:cs typeface="Times New Roman" panose="02020603050405020304" pitchFamily="18" charset="0"/>
              </a:rPr>
              <a:t>页）中的</a:t>
            </a:r>
            <a:r>
              <a:rPr lang="en-US" altLang="zh-CN" sz="1800" dirty="0">
                <a:latin typeface="Times New Roman" panose="02020603050405020304" pitchFamily="18" charset="0"/>
                <a:cs typeface="Times New Roman" panose="02020603050405020304" pitchFamily="18" charset="0"/>
              </a:rPr>
              <a:t>R1</a:t>
            </a:r>
            <a:r>
              <a:rPr lang="zh-CN" altLang="en-US" sz="1800" dirty="0">
                <a:latin typeface="Times New Roman" panose="02020603050405020304" pitchFamily="18" charset="0"/>
                <a:cs typeface="Times New Roman" panose="02020603050405020304" pitchFamily="18" charset="0"/>
              </a:rPr>
              <a:t>，所以这里要计算的是</a:t>
            </a:r>
            <a:r>
              <a:rPr lang="en-US" altLang="zh-CN" sz="1800" dirty="0">
                <a:latin typeface="Times New Roman" panose="02020603050405020304" pitchFamily="18" charset="0"/>
                <a:cs typeface="Times New Roman" panose="02020603050405020304" pitchFamily="18" charset="0"/>
              </a:rPr>
              <a:t>R2</a:t>
            </a:r>
            <a:r>
              <a:rPr lang="zh-CN" altLang="en-US" sz="1800" dirty="0">
                <a:latin typeface="Times New Roman" panose="02020603050405020304" pitchFamily="18" charset="0"/>
                <a:cs typeface="Times New Roman" panose="02020603050405020304" pitchFamily="18" charset="0"/>
              </a:rPr>
              <a:t>与</a:t>
            </a:r>
            <a:r>
              <a:rPr lang="en-US" altLang="zh-CN" sz="1800" dirty="0">
                <a:latin typeface="Times New Roman" panose="02020603050405020304" pitchFamily="18" charset="0"/>
                <a:cs typeface="Times New Roman" panose="02020603050405020304" pitchFamily="18" charset="0"/>
              </a:rPr>
              <a:t>C</a:t>
            </a:r>
          </a:p>
          <a:p>
            <a:pPr marL="285750" indent="-285750">
              <a:lnSpc>
                <a:spcPct val="150000"/>
              </a:lnSpc>
              <a:buFont typeface="Arial" panose="020B0604020202020204" pitchFamily="34" charset="0"/>
              <a:buChar char="•"/>
            </a:pPr>
            <a:r>
              <a:rPr lang="zh-CN" altLang="en-US" sz="1800" dirty="0">
                <a:latin typeface="Times New Roman" panose="02020603050405020304" pitchFamily="18" charset="0"/>
                <a:cs typeface="Times New Roman" panose="02020603050405020304" pitchFamily="18" charset="0"/>
              </a:rPr>
              <a:t>在</a:t>
            </a:r>
            <a:r>
              <a:rPr lang="en-US" altLang="zh-CN" sz="1800" dirty="0">
                <a:latin typeface="Times New Roman" panose="02020603050405020304" pitchFamily="18" charset="0"/>
                <a:cs typeface="Times New Roman" panose="02020603050405020304" pitchFamily="18" charset="0"/>
              </a:rPr>
              <a:t>FM</a:t>
            </a:r>
            <a:r>
              <a:rPr lang="zh-CN" altLang="en-US" sz="1800" dirty="0">
                <a:latin typeface="Times New Roman" panose="02020603050405020304" pitchFamily="18" charset="0"/>
                <a:cs typeface="Times New Roman" panose="02020603050405020304" pitchFamily="18" charset="0"/>
              </a:rPr>
              <a:t>解调电路中，</a:t>
            </a:r>
            <a:r>
              <a:rPr lang="en-US" altLang="zh-CN" sz="1800" dirty="0">
                <a:latin typeface="Times New Roman" panose="02020603050405020304" pitchFamily="18" charset="0"/>
                <a:cs typeface="Times New Roman" panose="02020603050405020304" pitchFamily="18" charset="0"/>
              </a:rPr>
              <a:t>VCO</a:t>
            </a:r>
            <a:r>
              <a:rPr lang="zh-CN" altLang="en-US" sz="1800" dirty="0">
                <a:latin typeface="Times New Roman" panose="02020603050405020304" pitchFamily="18" charset="0"/>
                <a:cs typeface="Times New Roman" panose="02020603050405020304" pitchFamily="18" charset="0"/>
              </a:rPr>
              <a:t>的输出始终跟踪输入信号的频率，是一个调制跟踪型锁相环，锁相环的闭环带宽应该远大于最大调制频率</a:t>
            </a:r>
            <a:r>
              <a:rPr lang="en-US" altLang="zh-CN" sz="1800" i="1" dirty="0" err="1">
                <a:latin typeface="Times New Roman" panose="02020603050405020304" pitchFamily="18" charset="0"/>
                <a:cs typeface="Times New Roman" panose="02020603050405020304" pitchFamily="18" charset="0"/>
              </a:rPr>
              <a:t>F</a:t>
            </a:r>
            <a:r>
              <a:rPr lang="en-US" altLang="zh-CN" sz="1800" baseline="-25000" dirty="0" err="1">
                <a:latin typeface="Times New Roman" panose="02020603050405020304" pitchFamily="18" charset="0"/>
                <a:cs typeface="Times New Roman" panose="02020603050405020304" pitchFamily="18" charset="0"/>
              </a:rPr>
              <a:t>max</a:t>
            </a:r>
            <a:r>
              <a:rPr lang="zh-CN" altLang="en-US" sz="1800" dirty="0">
                <a:latin typeface="Times New Roman" panose="02020603050405020304" pitchFamily="18" charset="0"/>
                <a:cs typeface="Times New Roman" panose="02020603050405020304" pitchFamily="18" charset="0"/>
              </a:rPr>
              <a:t>，即</a:t>
            </a:r>
            <a:endParaRPr lang="en-US" altLang="zh-CN" sz="18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US" altLang="zh-CN" sz="18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US" altLang="zh-CN" sz="18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zh-CN" altLang="en-US" sz="1800" dirty="0">
                <a:latin typeface="Times New Roman" panose="02020603050405020304" pitchFamily="18" charset="0"/>
                <a:cs typeface="Times New Roman" panose="02020603050405020304" pitchFamily="18" charset="0"/>
              </a:rPr>
              <a:t>将</a:t>
            </a:r>
            <a:r>
              <a:rPr lang="en-US" altLang="zh-CN" sz="1800" i="1" dirty="0" err="1">
                <a:latin typeface="Times New Roman" panose="02020603050405020304" pitchFamily="18" charset="0"/>
                <a:cs typeface="Times New Roman" panose="02020603050405020304" pitchFamily="18" charset="0"/>
              </a:rPr>
              <a:t>F</a:t>
            </a:r>
            <a:r>
              <a:rPr lang="en-US" altLang="zh-CN" sz="1800" baseline="-25000" dirty="0" err="1">
                <a:latin typeface="Times New Roman" panose="02020603050405020304" pitchFamily="18" charset="0"/>
                <a:cs typeface="Times New Roman" panose="02020603050405020304" pitchFamily="18" charset="0"/>
              </a:rPr>
              <a:t>max</a:t>
            </a:r>
            <a:r>
              <a:rPr lang="en-US" altLang="zh-CN" sz="1800" dirty="0">
                <a:latin typeface="Times New Roman" panose="02020603050405020304" pitchFamily="18" charset="0"/>
                <a:cs typeface="Times New Roman" panose="02020603050405020304" pitchFamily="18" charset="0"/>
              </a:rPr>
              <a:t>=20kHz</a:t>
            </a:r>
            <a:r>
              <a:rPr lang="zh-CN" altLang="en-US" sz="1800" dirty="0">
                <a:latin typeface="Times New Roman" panose="02020603050405020304" pitchFamily="18" charset="0"/>
                <a:cs typeface="Times New Roman" panose="02020603050405020304" pitchFamily="18" charset="0"/>
              </a:rPr>
              <a:t>、</a:t>
            </a:r>
            <a:r>
              <a:rPr lang="en-US" altLang="zh-CN" sz="1800" i="1" dirty="0">
                <a:latin typeface="Times New Roman" panose="02020603050405020304" pitchFamily="18" charset="0"/>
                <a:cs typeface="Times New Roman" panose="02020603050405020304" pitchFamily="18" charset="0"/>
              </a:rPr>
              <a:t>K</a:t>
            </a:r>
            <a:r>
              <a:rPr lang="en-US" altLang="zh-CN" sz="1800" i="1" baseline="-25000" dirty="0">
                <a:latin typeface="Times New Roman" panose="02020603050405020304" pitchFamily="18" charset="0"/>
                <a:cs typeface="Times New Roman" panose="02020603050405020304" pitchFamily="18" charset="0"/>
              </a:rPr>
              <a:t>d</a:t>
            </a:r>
            <a:r>
              <a:rPr lang="en-US" altLang="zh-CN" sz="1800" dirty="0">
                <a:latin typeface="Times New Roman" panose="02020603050405020304" pitchFamily="18" charset="0"/>
                <a:cs typeface="Times New Roman" panose="02020603050405020304" pitchFamily="18" charset="0"/>
              </a:rPr>
              <a:t>≈0.46</a:t>
            </a:r>
            <a:r>
              <a:rPr lang="zh-CN" altLang="en-US" sz="1800" dirty="0">
                <a:latin typeface="Times New Roman" panose="02020603050405020304" pitchFamily="18" charset="0"/>
                <a:cs typeface="Times New Roman" panose="02020603050405020304" pitchFamily="18" charset="0"/>
              </a:rPr>
              <a:t>，</a:t>
            </a:r>
            <a:r>
              <a:rPr lang="en-US" altLang="zh-CN" sz="1800" i="1" dirty="0">
                <a:latin typeface="Times New Roman" panose="02020603050405020304" pitchFamily="18" charset="0"/>
                <a:cs typeface="Times New Roman" panose="02020603050405020304" pitchFamily="18" charset="0"/>
              </a:rPr>
              <a:t>K</a:t>
            </a:r>
            <a:r>
              <a:rPr lang="en-US" altLang="zh-CN" sz="1800" i="1" baseline="-25000" dirty="0">
                <a:latin typeface="Times New Roman" panose="02020603050405020304" pitchFamily="18" charset="0"/>
                <a:cs typeface="Times New Roman" panose="02020603050405020304" pitchFamily="18" charset="0"/>
              </a:rPr>
              <a:t>o</a:t>
            </a:r>
            <a:r>
              <a:rPr lang="en-US" altLang="zh-CN" sz="1800" dirty="0">
                <a:latin typeface="Times New Roman" panose="02020603050405020304" pitchFamily="18" charset="0"/>
                <a:cs typeface="Times New Roman" panose="02020603050405020304" pitchFamily="18" charset="0"/>
              </a:rPr>
              <a:t>≈5.9</a:t>
            </a:r>
            <a:r>
              <a:rPr lang="en-US" altLang="zh-CN" sz="1800" i="1" dirty="0">
                <a:latin typeface="Times New Roman" panose="02020603050405020304" pitchFamily="18" charset="0"/>
                <a:cs typeface="Times New Roman" panose="02020603050405020304" pitchFamily="18" charset="0"/>
              </a:rPr>
              <a:t>f</a:t>
            </a:r>
            <a:r>
              <a:rPr lang="en-US" altLang="zh-CN" sz="1800" baseline="-25000" dirty="0">
                <a:latin typeface="Times New Roman" panose="02020603050405020304" pitchFamily="18" charset="0"/>
                <a:cs typeface="Times New Roman" panose="02020603050405020304" pitchFamily="18" charset="0"/>
              </a:rPr>
              <a:t>0</a:t>
            </a:r>
            <a:r>
              <a:rPr lang="zh-CN" altLang="en-US" sz="1800" dirty="0">
                <a:latin typeface="Times New Roman" panose="02020603050405020304" pitchFamily="18" charset="0"/>
                <a:cs typeface="Times New Roman" panose="02020603050405020304" pitchFamily="18" charset="0"/>
              </a:rPr>
              <a:t>，</a:t>
            </a:r>
            <a:r>
              <a:rPr lang="en-US" altLang="zh-CN" sz="1800" i="1" dirty="0">
                <a:latin typeface="Times New Roman" panose="02020603050405020304" pitchFamily="18" charset="0"/>
                <a:cs typeface="Times New Roman" panose="02020603050405020304" pitchFamily="18" charset="0"/>
              </a:rPr>
              <a:t>R</a:t>
            </a:r>
            <a:r>
              <a:rPr lang="en-US" altLang="zh-CN" sz="1800" i="1" baseline="-25000" dirty="0">
                <a:latin typeface="Times New Roman" panose="02020603050405020304" pitchFamily="18" charset="0"/>
                <a:cs typeface="Times New Roman" panose="02020603050405020304" pitchFamily="18" charset="0"/>
              </a:rPr>
              <a:t>LF</a:t>
            </a:r>
            <a:r>
              <a:rPr lang="en-US" altLang="zh-CN" sz="1800" dirty="0">
                <a:latin typeface="Times New Roman" panose="02020603050405020304" pitchFamily="18" charset="0"/>
                <a:cs typeface="Times New Roman" panose="02020603050405020304" pitchFamily="18" charset="0"/>
              </a:rPr>
              <a:t>=1300</a:t>
            </a:r>
            <a:r>
              <a:rPr lang="zh-CN" altLang="en-US" sz="1800" dirty="0">
                <a:latin typeface="Times New Roman" panose="02020603050405020304" pitchFamily="18" charset="0"/>
                <a:cs typeface="Times New Roman" panose="02020603050405020304" pitchFamily="18" charset="0"/>
              </a:rPr>
              <a:t>（芯片内部电阻）等代入上式，计算得到环路滤波器的电容</a:t>
            </a:r>
            <a:r>
              <a:rPr lang="en-US" altLang="zh-CN" sz="1800" i="1" dirty="0">
                <a:latin typeface="Times New Roman" panose="02020603050405020304" pitchFamily="18" charset="0"/>
                <a:cs typeface="Times New Roman" panose="02020603050405020304" pitchFamily="18" charset="0"/>
              </a:rPr>
              <a:t>C</a:t>
            </a:r>
            <a:r>
              <a:rPr lang="en-US" altLang="zh-CN" sz="1800" baseline="-25000" dirty="0">
                <a:latin typeface="Times New Roman" panose="02020603050405020304" pitchFamily="18" charset="0"/>
                <a:cs typeface="Times New Roman" panose="02020603050405020304" pitchFamily="18" charset="0"/>
              </a:rPr>
              <a:t>4</a:t>
            </a:r>
            <a:r>
              <a:rPr lang="zh-CN" altLang="en-US" sz="1800" dirty="0">
                <a:latin typeface="Times New Roman" panose="02020603050405020304" pitchFamily="18" charset="0"/>
                <a:cs typeface="Times New Roman" panose="02020603050405020304" pitchFamily="18" charset="0"/>
              </a:rPr>
              <a:t>、</a:t>
            </a:r>
            <a:r>
              <a:rPr lang="en-US" altLang="zh-CN" sz="1800" i="1" dirty="0">
                <a:latin typeface="Times New Roman" panose="02020603050405020304" pitchFamily="18" charset="0"/>
                <a:cs typeface="Times New Roman" panose="02020603050405020304" pitchFamily="18" charset="0"/>
              </a:rPr>
              <a:t>C</a:t>
            </a:r>
            <a:r>
              <a:rPr lang="en-US" altLang="zh-CN" sz="1800" baseline="-25000" dirty="0">
                <a:latin typeface="Times New Roman" panose="02020603050405020304" pitchFamily="18" charset="0"/>
                <a:cs typeface="Times New Roman" panose="02020603050405020304" pitchFamily="18" charset="0"/>
              </a:rPr>
              <a:t>5 </a:t>
            </a:r>
            <a:r>
              <a:rPr lang="zh-CN" altLang="en-US" sz="1800" dirty="0">
                <a:latin typeface="Times New Roman" panose="02020603050405020304" pitchFamily="18" charset="0"/>
                <a:cs typeface="Times New Roman" panose="02020603050405020304" pitchFamily="18" charset="0"/>
              </a:rPr>
              <a:t>应该小于</a:t>
            </a:r>
            <a:r>
              <a:rPr lang="en-US" altLang="zh-CN" sz="1800" dirty="0">
                <a:latin typeface="Times New Roman" panose="02020603050405020304" pitchFamily="18" charset="0"/>
                <a:cs typeface="Times New Roman" panose="02020603050405020304" pitchFamily="18" charset="0"/>
              </a:rPr>
              <a:t>1.6×10</a:t>
            </a:r>
            <a:r>
              <a:rPr lang="en-US" altLang="zh-CN" sz="1800" baseline="30000" dirty="0">
                <a:latin typeface="Times New Roman" panose="02020603050405020304" pitchFamily="18" charset="0"/>
                <a:cs typeface="Times New Roman" panose="02020603050405020304" pitchFamily="18" charset="0"/>
              </a:rPr>
              <a:t>-7</a:t>
            </a:r>
            <a:r>
              <a:rPr lang="zh-CN" altLang="en-US" sz="1800" dirty="0">
                <a:latin typeface="Times New Roman" panose="02020603050405020304" pitchFamily="18" charset="0"/>
                <a:cs typeface="Times New Roman" panose="02020603050405020304" pitchFamily="18" charset="0"/>
              </a:rPr>
              <a:t>，实际取值比这个计算值小得多，取</a:t>
            </a:r>
            <a:r>
              <a:rPr lang="en-US" altLang="zh-CN" sz="1800" i="1" dirty="0">
                <a:latin typeface="+mn-lt"/>
              </a:rPr>
              <a:t>C</a:t>
            </a:r>
            <a:r>
              <a:rPr lang="en-US" altLang="zh-CN" sz="1800" baseline="-25000" dirty="0">
                <a:latin typeface="+mn-lt"/>
              </a:rPr>
              <a:t>4 </a:t>
            </a:r>
            <a:r>
              <a:rPr lang="en-US" altLang="zh-CN" sz="1800" dirty="0">
                <a:latin typeface="+mn-lt"/>
              </a:rPr>
              <a:t>= </a:t>
            </a:r>
            <a:r>
              <a:rPr lang="en-US" altLang="zh-CN" sz="1800" i="1" dirty="0">
                <a:latin typeface="+mn-lt"/>
              </a:rPr>
              <a:t>C</a:t>
            </a:r>
            <a:r>
              <a:rPr lang="en-US" altLang="zh-CN" sz="1800" baseline="-25000" dirty="0">
                <a:latin typeface="+mn-lt"/>
              </a:rPr>
              <a:t>5 </a:t>
            </a:r>
            <a:r>
              <a:rPr lang="en-US" altLang="zh-CN" sz="1800" dirty="0">
                <a:latin typeface="+mn-lt"/>
              </a:rPr>
              <a:t>= </a:t>
            </a:r>
            <a:r>
              <a:rPr lang="en-US" altLang="zh-CN" sz="1800" dirty="0">
                <a:latin typeface="Symbol" panose="05050102010706020507" pitchFamily="18" charset="2"/>
              </a:rPr>
              <a:t>0.01m</a:t>
            </a:r>
            <a:r>
              <a:rPr lang="en-US" altLang="zh-CN" sz="1800" dirty="0">
                <a:latin typeface="+mn-lt"/>
              </a:rPr>
              <a:t>F</a:t>
            </a:r>
            <a:r>
              <a:rPr lang="zh-CN" altLang="en-US" sz="1800" dirty="0">
                <a:latin typeface="+mn-lt"/>
              </a:rPr>
              <a:t>，此时</a:t>
            </a:r>
            <a:r>
              <a:rPr lang="en-US" altLang="zh-CN" sz="1800" i="1" dirty="0">
                <a:latin typeface="Symbol" panose="05050102010706020507" pitchFamily="18" charset="2"/>
              </a:rPr>
              <a:t>w</a:t>
            </a:r>
            <a:r>
              <a:rPr lang="en-US" altLang="zh-CN" sz="1800" i="1" baseline="-25000" dirty="0">
                <a:latin typeface="+mn-lt"/>
              </a:rPr>
              <a:t>n</a:t>
            </a:r>
            <a:r>
              <a:rPr lang="en-US" altLang="zh-CN" sz="1800" dirty="0">
                <a:latin typeface="+mn-lt"/>
              </a:rPr>
              <a:t>≈5×10</a:t>
            </a:r>
            <a:r>
              <a:rPr lang="en-US" altLang="zh-CN" sz="1800" baseline="30000" dirty="0">
                <a:latin typeface="+mn-lt"/>
              </a:rPr>
              <a:t>5</a:t>
            </a:r>
            <a:r>
              <a:rPr lang="zh-CN" altLang="en-US" sz="1800" dirty="0">
                <a:latin typeface="+mn-lt"/>
              </a:rPr>
              <a:t>（≈</a:t>
            </a:r>
            <a:r>
              <a:rPr lang="en-US" altLang="zh-CN" sz="1800" dirty="0">
                <a:latin typeface="+mn-lt"/>
              </a:rPr>
              <a:t>80kHz</a:t>
            </a:r>
            <a:r>
              <a:rPr lang="zh-CN" altLang="en-US" sz="1800" dirty="0">
                <a:latin typeface="+mn-lt"/>
              </a:rPr>
              <a:t>）</a:t>
            </a:r>
            <a:endParaRPr lang="en-US" altLang="zh-CN" sz="1800" dirty="0">
              <a:latin typeface="+mn-lt"/>
            </a:endParaRPr>
          </a:p>
          <a:p>
            <a:pPr marL="285750" indent="-285750">
              <a:lnSpc>
                <a:spcPct val="200000"/>
              </a:lnSpc>
              <a:spcBef>
                <a:spcPts val="600"/>
              </a:spcBef>
              <a:buFont typeface="Arial" panose="020B0604020202020204" pitchFamily="34" charset="0"/>
              <a:buChar char="•"/>
            </a:pPr>
            <a:r>
              <a:rPr lang="zh-CN" altLang="en-US" sz="1800" dirty="0"/>
              <a:t>取</a:t>
            </a:r>
            <a:r>
              <a:rPr lang="en-US" altLang="zh-CN" sz="1800" i="1" dirty="0">
                <a:latin typeface="Symbol" panose="05050102010706020507" pitchFamily="18" charset="2"/>
              </a:rPr>
              <a:t>z</a:t>
            </a:r>
            <a:r>
              <a:rPr lang="en-US" altLang="zh-CN" sz="1800" dirty="0">
                <a:latin typeface="+mn-lt"/>
              </a:rPr>
              <a:t>=0.707</a:t>
            </a:r>
            <a:r>
              <a:rPr lang="zh-CN" altLang="en-US" sz="1800" dirty="0"/>
              <a:t>，根据                     计算</a:t>
            </a:r>
            <a:r>
              <a:rPr lang="en-US" altLang="zh-CN" sz="1800" i="1" dirty="0">
                <a:latin typeface="+mn-lt"/>
              </a:rPr>
              <a:t>R</a:t>
            </a:r>
            <a:r>
              <a:rPr lang="en-US" altLang="zh-CN" sz="1800" baseline="-25000" dirty="0"/>
              <a:t>2</a:t>
            </a:r>
            <a:r>
              <a:rPr lang="zh-CN" altLang="en-US" sz="1800" dirty="0"/>
              <a:t>（即电路中的</a:t>
            </a:r>
            <a:r>
              <a:rPr lang="en-US" altLang="zh-CN" sz="1800" i="1" dirty="0">
                <a:latin typeface="+mn-lt"/>
              </a:rPr>
              <a:t>R</a:t>
            </a:r>
            <a:r>
              <a:rPr lang="en-US" altLang="zh-CN" sz="1800" baseline="-25000" dirty="0"/>
              <a:t>4</a:t>
            </a:r>
            <a:r>
              <a:rPr lang="zh-CN" altLang="en-US" sz="1800" dirty="0"/>
              <a:t>、</a:t>
            </a:r>
            <a:r>
              <a:rPr lang="en-US" altLang="zh-CN" sz="1800" i="1" dirty="0">
                <a:latin typeface="+mn-lt"/>
              </a:rPr>
              <a:t>R</a:t>
            </a:r>
            <a:r>
              <a:rPr lang="en-US" altLang="zh-CN" sz="1800" baseline="-25000" dirty="0"/>
              <a:t>5</a:t>
            </a:r>
            <a:r>
              <a:rPr lang="zh-CN" altLang="en-US" sz="1800" dirty="0"/>
              <a:t>）等于</a:t>
            </a:r>
            <a:r>
              <a:rPr lang="en-US" altLang="zh-CN" sz="1800" dirty="0">
                <a:latin typeface="+mn-lt"/>
              </a:rPr>
              <a:t>284</a:t>
            </a:r>
            <a:r>
              <a:rPr lang="zh-CN" altLang="en-US" sz="1800" dirty="0"/>
              <a:t>，实际取</a:t>
            </a:r>
            <a:r>
              <a:rPr lang="en-US" altLang="zh-CN" sz="1800" dirty="0">
                <a:latin typeface="+mn-lt"/>
              </a:rPr>
              <a:t>270</a:t>
            </a:r>
            <a:r>
              <a:rPr lang="el-GR" altLang="zh-CN" sz="1800" dirty="0">
                <a:latin typeface="Times New Roman" panose="02020603050405020304" pitchFamily="18" charset="0"/>
                <a:cs typeface="Times New Roman" panose="02020603050405020304" pitchFamily="18" charset="0"/>
              </a:rPr>
              <a:t>Ω</a:t>
            </a:r>
            <a:endParaRPr lang="zh-CN" altLang="en-US" sz="1800" baseline="30000" dirty="0">
              <a:latin typeface="+mn-lt"/>
              <a:cs typeface="Times New Roman" panose="02020603050405020304" pitchFamily="18"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3626795117"/>
              </p:ext>
            </p:extLst>
          </p:nvPr>
        </p:nvGraphicFramePr>
        <p:xfrm>
          <a:off x="4402207" y="2642267"/>
          <a:ext cx="2341245" cy="751776"/>
        </p:xfrm>
        <a:graphic>
          <a:graphicData uri="http://schemas.openxmlformats.org/presentationml/2006/ole">
            <mc:AlternateContent xmlns:mc="http://schemas.openxmlformats.org/markup-compatibility/2006">
              <mc:Choice xmlns:v="urn:schemas-microsoft-com:vml" Requires="v">
                <p:oleObj spid="_x0000_s23686" name="Equation" r:id="rId5" imgW="1384300" imgH="444500" progId="Equation.DSMT4">
                  <p:embed/>
                </p:oleObj>
              </mc:Choice>
              <mc:Fallback>
                <p:oleObj name="Equation" r:id="rId5" imgW="1384300" imgH="4445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02207" y="2642267"/>
                        <a:ext cx="2341245" cy="751776"/>
                      </a:xfrm>
                      <a:prstGeom prst="rect">
                        <a:avLst/>
                      </a:prstGeom>
                      <a:noFill/>
                    </p:spPr>
                  </p:pic>
                </p:oleObj>
              </mc:Fallback>
            </mc:AlternateContent>
          </a:graphicData>
        </a:graphic>
      </p:graphicFrame>
    </p:spTree>
    <p:extLst>
      <p:ext uri="{BB962C8B-B14F-4D97-AF65-F5344CB8AC3E}">
        <p14:creationId xmlns:p14="http://schemas.microsoft.com/office/powerpoint/2010/main" val="5459153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34</a:t>
            </a:fld>
            <a:endParaRPr lang="en-US" altLang="zh-CN">
              <a:solidFill>
                <a:srgbClr val="FFFFFF"/>
              </a:solidFill>
            </a:endParaRPr>
          </a:p>
        </p:txBody>
      </p:sp>
      <p:sp>
        <p:nvSpPr>
          <p:cNvPr id="5" name="文本框 4"/>
          <p:cNvSpPr txBox="1"/>
          <p:nvPr/>
        </p:nvSpPr>
        <p:spPr>
          <a:xfrm>
            <a:off x="493486" y="605214"/>
            <a:ext cx="11328099" cy="4662815"/>
          </a:xfrm>
          <a:prstGeom prst="rect">
            <a:avLst/>
          </a:prstGeom>
          <a:noFill/>
        </p:spPr>
        <p:txBody>
          <a:bodyPr wrap="square" rtlCol="0">
            <a:spAutoFit/>
          </a:bodyPr>
          <a:lstStyle/>
          <a:p>
            <a:pPr marL="342900" indent="-342900">
              <a:lnSpc>
                <a:spcPct val="150000"/>
              </a:lnSpc>
              <a:buFont typeface="Wingdings" panose="05000000000000000000" pitchFamily="2" charset="2"/>
              <a:buChar char="l"/>
            </a:pPr>
            <a:r>
              <a:rPr lang="zh-CN" altLang="en-US" sz="1800" dirty="0"/>
              <a:t>验算锁相环的锁定范围</a:t>
            </a:r>
            <a:endParaRPr lang="en-US" altLang="zh-CN" sz="1800" dirty="0"/>
          </a:p>
          <a:p>
            <a:pPr lvl="1">
              <a:lnSpc>
                <a:spcPct val="150000"/>
              </a:lnSpc>
            </a:pPr>
            <a:r>
              <a:rPr lang="zh-CN" altLang="en-US" sz="1800" dirty="0"/>
              <a:t>用锁相环作</a:t>
            </a:r>
            <a:r>
              <a:rPr lang="en-US" altLang="zh-CN" sz="1800" dirty="0"/>
              <a:t>FM</a:t>
            </a:r>
            <a:r>
              <a:rPr lang="zh-CN" altLang="en-US" sz="1800" dirty="0"/>
              <a:t>解调，必须保证锁相环时时都处于锁定工作状态（除了开始时有一段捕捉过程外），所以要验算其锁定范围</a:t>
            </a:r>
            <a:endParaRPr lang="en-US" altLang="zh-CN" sz="1800" dirty="0"/>
          </a:p>
          <a:p>
            <a:pPr lvl="1">
              <a:lnSpc>
                <a:spcPct val="150000"/>
              </a:lnSpc>
            </a:pPr>
            <a:r>
              <a:rPr lang="zh-CN" altLang="en-US" sz="1800" dirty="0"/>
              <a:t>采用乘法器的锁相环锁定范围</a:t>
            </a:r>
            <a:r>
              <a:rPr lang="en-US" altLang="zh-CN" sz="1800" dirty="0"/>
              <a:t>=2</a:t>
            </a:r>
            <a:r>
              <a:rPr lang="en-US" altLang="zh-CN" sz="1800" i="1" dirty="0">
                <a:latin typeface="Symbol" panose="05050102010706020507" pitchFamily="18" charset="2"/>
              </a:rPr>
              <a:t>zw</a:t>
            </a:r>
            <a:r>
              <a:rPr lang="en-US" altLang="zh-CN" sz="1800" i="1" baseline="-25000" dirty="0"/>
              <a:t>n</a:t>
            </a:r>
            <a:r>
              <a:rPr lang="zh-CN" altLang="en-US" sz="1800" dirty="0"/>
              <a:t>，将</a:t>
            </a:r>
            <a:r>
              <a:rPr lang="en-US" altLang="zh-CN" sz="1800" i="1" dirty="0">
                <a:latin typeface="Symbol" panose="05050102010706020507" pitchFamily="18" charset="2"/>
              </a:rPr>
              <a:t>w</a:t>
            </a:r>
            <a:r>
              <a:rPr lang="en-US" altLang="zh-CN" sz="1800" i="1" baseline="-25000" dirty="0"/>
              <a:t>n</a:t>
            </a:r>
            <a:r>
              <a:rPr lang="en-US" altLang="zh-CN" sz="1800" dirty="0"/>
              <a:t>≈5×10</a:t>
            </a:r>
            <a:r>
              <a:rPr lang="en-US" altLang="zh-CN" sz="1800" baseline="30000" dirty="0"/>
              <a:t>5 </a:t>
            </a:r>
            <a:r>
              <a:rPr lang="zh-CN" altLang="en-US" sz="1800" dirty="0"/>
              <a:t>、</a:t>
            </a:r>
            <a:r>
              <a:rPr lang="en-US" altLang="zh-CN" sz="1800" i="1" dirty="0">
                <a:latin typeface="Symbol" panose="05050102010706020507" pitchFamily="18" charset="2"/>
              </a:rPr>
              <a:t> z</a:t>
            </a:r>
            <a:r>
              <a:rPr lang="en-US" altLang="zh-CN" sz="1800" dirty="0"/>
              <a:t>=0.707 </a:t>
            </a:r>
            <a:r>
              <a:rPr lang="zh-CN" altLang="en-US" sz="1800" dirty="0"/>
              <a:t>代入，得到锁定范围为</a:t>
            </a:r>
            <a:r>
              <a:rPr lang="en-US" altLang="zh-CN" sz="1800" dirty="0"/>
              <a:t>7×10</a:t>
            </a:r>
            <a:r>
              <a:rPr lang="en-US" altLang="zh-CN" sz="1800" baseline="30000" dirty="0"/>
              <a:t>5</a:t>
            </a:r>
            <a:r>
              <a:rPr lang="zh-CN" altLang="en-US" sz="1800" dirty="0"/>
              <a:t>，即</a:t>
            </a:r>
            <a:r>
              <a:rPr lang="en-US" altLang="zh-CN" sz="1800" dirty="0"/>
              <a:t>112kHz</a:t>
            </a:r>
            <a:r>
              <a:rPr lang="zh-CN" altLang="en-US" sz="1800" dirty="0"/>
              <a:t>，大于输入信号的最大频偏，可以保证锁相环正常锁定工作</a:t>
            </a:r>
            <a:endParaRPr lang="en-US" altLang="zh-CN" sz="1800" dirty="0"/>
          </a:p>
          <a:p>
            <a:pPr lvl="1">
              <a:lnSpc>
                <a:spcPct val="150000"/>
              </a:lnSpc>
            </a:pPr>
            <a:r>
              <a:rPr lang="zh-CN" altLang="en-US" sz="1800" dirty="0"/>
              <a:t>（由此也可看出，前面计算环路滤波器电容时，为何自然频率取值要比计算值大许多。实际上这个例子中还是取小了，再大一些更好）</a:t>
            </a:r>
            <a:endParaRPr lang="en-US" altLang="zh-CN" sz="1800" dirty="0"/>
          </a:p>
          <a:p>
            <a:pPr lvl="1">
              <a:lnSpc>
                <a:spcPct val="150000"/>
              </a:lnSpc>
            </a:pPr>
            <a:endParaRPr lang="en-US" altLang="zh-CN" sz="1800" dirty="0"/>
          </a:p>
          <a:p>
            <a:pPr marL="342900" indent="-342900">
              <a:lnSpc>
                <a:spcPct val="150000"/>
              </a:lnSpc>
              <a:buFont typeface="Wingdings" panose="05000000000000000000" pitchFamily="2" charset="2"/>
              <a:buChar char="Ø"/>
            </a:pPr>
            <a:r>
              <a:rPr lang="zh-CN" altLang="en-US" sz="1800" dirty="0"/>
              <a:t>实际测试结果</a:t>
            </a:r>
            <a:endParaRPr lang="en-US" altLang="zh-CN" sz="1800" dirty="0"/>
          </a:p>
          <a:p>
            <a:pPr lvl="1">
              <a:lnSpc>
                <a:spcPct val="150000"/>
              </a:lnSpc>
            </a:pPr>
            <a:r>
              <a:rPr lang="zh-CN" altLang="zh-CN" sz="1800" dirty="0"/>
              <a:t>在输出脚（</a:t>
            </a:r>
            <a:r>
              <a:rPr lang="en-US" altLang="zh-CN" sz="1800" dirty="0"/>
              <a:t>pin 14</a:t>
            </a:r>
            <a:r>
              <a:rPr lang="zh-CN" altLang="zh-CN" sz="1800" dirty="0"/>
              <a:t>）可观察到很好的解调波形。输出频率与调制频率相同，输出幅度</a:t>
            </a:r>
            <a:r>
              <a:rPr lang="zh-CN" altLang="en-US" sz="1800" dirty="0"/>
              <a:t>约</a:t>
            </a:r>
            <a:r>
              <a:rPr lang="zh-CN" altLang="zh-CN" sz="1800" dirty="0"/>
              <a:t>为</a:t>
            </a:r>
            <a:r>
              <a:rPr lang="en-US" altLang="zh-CN" sz="1800" dirty="0"/>
              <a:t>400mV</a:t>
            </a:r>
            <a:r>
              <a:rPr lang="en-US" altLang="zh-CN" sz="1800" baseline="-25000" dirty="0"/>
              <a:t>p-p</a:t>
            </a:r>
            <a:r>
              <a:rPr lang="zh-CN" altLang="zh-CN" sz="1800" dirty="0"/>
              <a:t>，大约有</a:t>
            </a:r>
            <a:r>
              <a:rPr lang="en-US" altLang="zh-CN" sz="1800" dirty="0"/>
              <a:t>2.5V</a:t>
            </a:r>
            <a:r>
              <a:rPr lang="zh-CN" altLang="zh-CN" sz="1800" dirty="0"/>
              <a:t>的直流偏移（该偏移就是鉴相器的输出</a:t>
            </a:r>
            <a:r>
              <a:rPr lang="zh-CN" altLang="en-US" sz="1800" dirty="0"/>
              <a:t>中心</a:t>
            </a:r>
            <a:r>
              <a:rPr lang="zh-CN" altLang="zh-CN" sz="1800" dirty="0"/>
              <a:t>电位）</a:t>
            </a:r>
            <a:endParaRPr lang="en-US" altLang="zh-CN" sz="1800" dirty="0"/>
          </a:p>
        </p:txBody>
      </p:sp>
    </p:spTree>
    <p:extLst>
      <p:ext uri="{BB962C8B-B14F-4D97-AF65-F5344CB8AC3E}">
        <p14:creationId xmlns:p14="http://schemas.microsoft.com/office/powerpoint/2010/main" val="30690836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35</a:t>
            </a:fld>
            <a:endParaRPr lang="en-US" altLang="zh-CN">
              <a:solidFill>
                <a:srgbClr val="FFFFFF"/>
              </a:solidFill>
            </a:endParaRPr>
          </a:p>
        </p:txBody>
      </p:sp>
      <p:sp>
        <p:nvSpPr>
          <p:cNvPr id="5" name="文本框 4"/>
          <p:cNvSpPr txBox="1"/>
          <p:nvPr/>
        </p:nvSpPr>
        <p:spPr>
          <a:xfrm>
            <a:off x="493487" y="473645"/>
            <a:ext cx="11328098" cy="5124480"/>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dirty="0"/>
              <a:t>讨论</a:t>
            </a:r>
            <a:endParaRPr lang="en-US" altLang="zh-CN" dirty="0"/>
          </a:p>
          <a:p>
            <a:pPr indent="457200">
              <a:lnSpc>
                <a:spcPct val="150000"/>
              </a:lnSpc>
            </a:pPr>
            <a:r>
              <a:rPr lang="zh-CN" altLang="en-US" sz="1800" dirty="0"/>
              <a:t>由于</a:t>
            </a:r>
            <a:r>
              <a:rPr lang="en-US" altLang="zh-CN" sz="1800" dirty="0"/>
              <a:t>VCO</a:t>
            </a:r>
            <a:r>
              <a:rPr lang="zh-CN" altLang="en-US" sz="1800" dirty="0"/>
              <a:t>的可控振荡频率范围约为</a:t>
            </a:r>
            <a:r>
              <a:rPr lang="zh-CN" altLang="zh-CN" sz="1800" dirty="0"/>
              <a:t>±</a:t>
            </a:r>
            <a:r>
              <a:rPr lang="en-US" altLang="zh-CN" sz="1800" dirty="0"/>
              <a:t>400kHz</a:t>
            </a:r>
            <a:r>
              <a:rPr lang="zh-CN" altLang="en-US" sz="1800" dirty="0"/>
              <a:t>，而输入信号的最大频偏是</a:t>
            </a:r>
            <a:r>
              <a:rPr lang="zh-CN" altLang="zh-CN" sz="1800" dirty="0"/>
              <a:t>±</a:t>
            </a:r>
            <a:r>
              <a:rPr lang="en-US" altLang="zh-CN" sz="1800" dirty="0"/>
              <a:t>100kHz</a:t>
            </a:r>
            <a:r>
              <a:rPr lang="zh-CN" altLang="en-US" sz="1800" dirty="0"/>
              <a:t>，如果锁相环完全是线性的，则此电路的解调输出幅度就是</a:t>
            </a:r>
            <a:r>
              <a:rPr lang="en-US" altLang="zh-CN" sz="1800" dirty="0"/>
              <a:t>VCO</a:t>
            </a:r>
            <a:r>
              <a:rPr lang="zh-CN" altLang="en-US" sz="1800" dirty="0"/>
              <a:t>最大控制电压的</a:t>
            </a:r>
            <a:r>
              <a:rPr lang="en-US" altLang="zh-CN" sz="1800" dirty="0"/>
              <a:t>1/4</a:t>
            </a:r>
            <a:r>
              <a:rPr lang="zh-CN" altLang="en-US" sz="1800" dirty="0"/>
              <a:t>（即鉴相器最大输出电压的</a:t>
            </a:r>
            <a:r>
              <a:rPr lang="en-US" altLang="zh-CN" sz="1800" dirty="0"/>
              <a:t>1/4</a:t>
            </a:r>
            <a:r>
              <a:rPr lang="zh-CN" altLang="en-US" sz="1800" dirty="0"/>
              <a:t>）。从这一点看，在锁相环</a:t>
            </a:r>
            <a:r>
              <a:rPr lang="en-US" altLang="zh-CN" sz="1800" dirty="0"/>
              <a:t>FM</a:t>
            </a:r>
            <a:r>
              <a:rPr lang="zh-CN" altLang="en-US" sz="1800" dirty="0"/>
              <a:t>解调电路中，似乎</a:t>
            </a:r>
            <a:r>
              <a:rPr lang="en-US" altLang="zh-CN" sz="1800" dirty="0"/>
              <a:t>VCO</a:t>
            </a:r>
            <a:r>
              <a:rPr lang="zh-CN" altLang="en-US" sz="1800" dirty="0"/>
              <a:t>的可控振荡频率范围小一点对于提高解调输出电压有利。</a:t>
            </a:r>
            <a:endParaRPr lang="en-US" altLang="zh-CN" sz="1800" dirty="0"/>
          </a:p>
          <a:p>
            <a:pPr indent="457200">
              <a:lnSpc>
                <a:spcPct val="150000"/>
              </a:lnSpc>
            </a:pPr>
            <a:r>
              <a:rPr lang="zh-CN" altLang="en-US" sz="1800" dirty="0"/>
              <a:t>但是，锁相环</a:t>
            </a:r>
            <a:r>
              <a:rPr lang="en-US" altLang="zh-CN" sz="1800" dirty="0"/>
              <a:t>NE564</a:t>
            </a:r>
            <a:r>
              <a:rPr lang="zh-CN" altLang="en-US" sz="1800" dirty="0"/>
              <a:t>中的鉴相器为乘法器，是非线性的，另外</a:t>
            </a:r>
            <a:r>
              <a:rPr lang="en-US" altLang="zh-CN" sz="1800" dirty="0"/>
              <a:t>VCO</a:t>
            </a:r>
            <a:r>
              <a:rPr lang="zh-CN" altLang="en-US" sz="1800" dirty="0"/>
              <a:t>也带有一定的非线性。减小</a:t>
            </a:r>
            <a:r>
              <a:rPr lang="en-US" altLang="zh-CN" sz="1800" dirty="0"/>
              <a:t>VCO</a:t>
            </a:r>
            <a:r>
              <a:rPr lang="zh-CN" altLang="en-US" sz="1800" dirty="0"/>
              <a:t>的可控频率范围意味着鉴相器的输出范围加大，也就导致输出的非线性失真加大，所以并不能任意减小</a:t>
            </a:r>
            <a:r>
              <a:rPr lang="en-US" altLang="zh-CN" sz="1800" dirty="0"/>
              <a:t>VCO</a:t>
            </a:r>
            <a:r>
              <a:rPr lang="zh-CN" altLang="en-US" sz="1800" dirty="0"/>
              <a:t>的可控振荡频率范围。</a:t>
            </a:r>
            <a:endParaRPr lang="en-US" altLang="zh-CN" sz="1800" dirty="0"/>
          </a:p>
          <a:p>
            <a:pPr indent="457200">
              <a:lnSpc>
                <a:spcPct val="150000"/>
              </a:lnSpc>
            </a:pPr>
            <a:r>
              <a:rPr lang="zh-CN" altLang="en-US" sz="1800" dirty="0"/>
              <a:t>另外，这种应用中的锁相环必须时时维持锁定，所以输入信号与反馈信号之间的相位差不能大于鉴相器的鉴相范围。乘法器的鉴相范围理论上是</a:t>
            </a:r>
            <a:r>
              <a:rPr lang="en-US" altLang="zh-CN" sz="1800" dirty="0">
                <a:latin typeface="Times New Roman" panose="02020603050405020304" pitchFamily="18" charset="0"/>
                <a:cs typeface="Times New Roman" panose="02020603050405020304" pitchFamily="18" charset="0"/>
              </a:rPr>
              <a:t>±</a:t>
            </a:r>
            <a:r>
              <a:rPr lang="el-GR" altLang="zh-CN" sz="1800" dirty="0">
                <a:latin typeface="Times New Roman" panose="02020603050405020304" pitchFamily="18" charset="0"/>
                <a:cs typeface="Times New Roman" panose="02020603050405020304" pitchFamily="18" charset="0"/>
              </a:rPr>
              <a:t>π</a:t>
            </a:r>
            <a:r>
              <a:rPr lang="en-US" altLang="zh-CN" sz="1800" dirty="0">
                <a:latin typeface="Times New Roman" panose="02020603050405020304" pitchFamily="18" charset="0"/>
                <a:cs typeface="Times New Roman" panose="02020603050405020304" pitchFamily="18" charset="0"/>
              </a:rPr>
              <a:t>/2</a:t>
            </a:r>
            <a:r>
              <a:rPr lang="zh-CN" altLang="en-US" sz="1800" dirty="0">
                <a:latin typeface="Times New Roman" panose="02020603050405020304" pitchFamily="18" charset="0"/>
                <a:cs typeface="Times New Roman" panose="02020603050405020304" pitchFamily="18" charset="0"/>
              </a:rPr>
              <a:t>，实际上考虑噪声、非线性等因素后大约只能有</a:t>
            </a:r>
            <a:r>
              <a:rPr lang="en-US" altLang="zh-CN" sz="1800" dirty="0">
                <a:latin typeface="Times New Roman" panose="02020603050405020304" pitchFamily="18" charset="0"/>
                <a:cs typeface="Times New Roman" panose="02020603050405020304" pitchFamily="18" charset="0"/>
              </a:rPr>
              <a:t>±</a:t>
            </a:r>
            <a:r>
              <a:rPr lang="el-GR" altLang="zh-CN" sz="1800" dirty="0">
                <a:latin typeface="Times New Roman" panose="02020603050405020304" pitchFamily="18" charset="0"/>
                <a:cs typeface="Times New Roman" panose="02020603050405020304" pitchFamily="18" charset="0"/>
              </a:rPr>
              <a:t>π</a:t>
            </a:r>
            <a:r>
              <a:rPr lang="en-US" altLang="zh-CN" sz="1800" dirty="0">
                <a:latin typeface="Times New Roman" panose="02020603050405020304" pitchFamily="18" charset="0"/>
                <a:cs typeface="Times New Roman" panose="02020603050405020304" pitchFamily="18" charset="0"/>
              </a:rPr>
              <a:t>/4</a:t>
            </a:r>
            <a:r>
              <a:rPr lang="zh-CN" altLang="en-US" sz="1800" dirty="0">
                <a:latin typeface="Times New Roman" panose="02020603050405020304" pitchFamily="18" charset="0"/>
                <a:cs typeface="Times New Roman" panose="02020603050405020304" pitchFamily="18" charset="0"/>
              </a:rPr>
              <a:t>。在这个约束条件下，锁相环的闭环带宽、</a:t>
            </a:r>
            <a:r>
              <a:rPr lang="en-US" altLang="zh-CN" sz="1800" dirty="0">
                <a:latin typeface="Times New Roman" panose="02020603050405020304" pitchFamily="18" charset="0"/>
                <a:cs typeface="Times New Roman" panose="02020603050405020304" pitchFamily="18" charset="0"/>
              </a:rPr>
              <a:t>VCO</a:t>
            </a:r>
            <a:r>
              <a:rPr lang="zh-CN" altLang="en-US" sz="1800" dirty="0">
                <a:latin typeface="Times New Roman" panose="02020603050405020304" pitchFamily="18" charset="0"/>
                <a:cs typeface="Times New Roman" panose="02020603050405020304" pitchFamily="18" charset="0"/>
              </a:rPr>
              <a:t>的可控振荡频率范围均不能太小。</a:t>
            </a:r>
            <a:endParaRPr lang="en-US" altLang="zh-CN" sz="1800" dirty="0">
              <a:latin typeface="Times New Roman" panose="02020603050405020304" pitchFamily="18" charset="0"/>
              <a:cs typeface="Times New Roman" panose="02020603050405020304" pitchFamily="18" charset="0"/>
            </a:endParaRPr>
          </a:p>
          <a:p>
            <a:pPr indent="457200">
              <a:lnSpc>
                <a:spcPct val="150000"/>
              </a:lnSpc>
            </a:pPr>
            <a:r>
              <a:rPr lang="zh-CN" altLang="en-US" sz="1800" dirty="0"/>
              <a:t>实际上此实验电路是笔者用以说明锁相环设计过程的一个示例，真正的</a:t>
            </a:r>
            <a:r>
              <a:rPr lang="en-US" altLang="zh-CN" sz="1800" dirty="0"/>
              <a:t>FM</a:t>
            </a:r>
            <a:r>
              <a:rPr lang="zh-CN" altLang="en-US" sz="1800" dirty="0"/>
              <a:t>解调很少使用这个基于锁相环的解调电路。</a:t>
            </a:r>
            <a:endParaRPr lang="en-US" altLang="zh-CN" sz="1800" dirty="0"/>
          </a:p>
        </p:txBody>
      </p:sp>
    </p:spTree>
    <p:extLst>
      <p:ext uri="{BB962C8B-B14F-4D97-AF65-F5344CB8AC3E}">
        <p14:creationId xmlns:p14="http://schemas.microsoft.com/office/powerpoint/2010/main" val="14516281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36</a:t>
            </a:fld>
            <a:endParaRPr lang="en-US" altLang="zh-CN">
              <a:solidFill>
                <a:srgbClr val="FFFFFF"/>
              </a:solidFill>
            </a:endParaRPr>
          </a:p>
        </p:txBody>
      </p:sp>
      <p:sp>
        <p:nvSpPr>
          <p:cNvPr id="6" name="文本框 5"/>
          <p:cNvSpPr txBox="1"/>
          <p:nvPr/>
        </p:nvSpPr>
        <p:spPr>
          <a:xfrm>
            <a:off x="435430" y="302607"/>
            <a:ext cx="11284856" cy="1431161"/>
          </a:xfrm>
          <a:prstGeom prst="rect">
            <a:avLst/>
          </a:prstGeom>
          <a:noFill/>
        </p:spPr>
        <p:txBody>
          <a:bodyPr wrap="square" rtlCol="0">
            <a:spAutoFit/>
          </a:bodyPr>
          <a:lstStyle/>
          <a:p>
            <a:pPr>
              <a:lnSpc>
                <a:spcPct val="150000"/>
              </a:lnSpc>
            </a:pPr>
            <a:r>
              <a:rPr lang="zh-CN" altLang="en-US" sz="2800" dirty="0">
                <a:solidFill>
                  <a:srgbClr val="FF0000"/>
                </a:solidFill>
                <a:latin typeface="隶书" panose="02010509060101010101" pitchFamily="49" charset="-122"/>
                <a:ea typeface="隶书" panose="02010509060101010101" pitchFamily="49" charset="-122"/>
              </a:rPr>
              <a:t>设计例二</a:t>
            </a:r>
            <a:endParaRPr lang="en-US" altLang="zh-CN" sz="2800" dirty="0">
              <a:solidFill>
                <a:srgbClr val="FF0000"/>
              </a:solidFill>
              <a:latin typeface="隶书" panose="02010509060101010101" pitchFamily="49" charset="-122"/>
              <a:ea typeface="隶书" panose="02010509060101010101" pitchFamily="49" charset="-122"/>
            </a:endParaRPr>
          </a:p>
          <a:p>
            <a:pPr>
              <a:lnSpc>
                <a:spcPct val="125000"/>
              </a:lnSpc>
            </a:pPr>
            <a:r>
              <a:rPr lang="zh-CN" altLang="zh-CN" sz="1800" dirty="0"/>
              <a:t>设计一个</a:t>
            </a:r>
            <a:r>
              <a:rPr lang="zh-CN" altLang="en-US" sz="1800" dirty="0"/>
              <a:t>基于</a:t>
            </a:r>
            <a:r>
              <a:rPr lang="en-US" altLang="zh-CN" sz="1800" dirty="0"/>
              <a:t>PLL</a:t>
            </a:r>
            <a:r>
              <a:rPr lang="zh-CN" altLang="en-US" sz="1800" dirty="0"/>
              <a:t>的</a:t>
            </a:r>
            <a:r>
              <a:rPr lang="zh-CN" altLang="zh-CN" sz="1800" dirty="0"/>
              <a:t>频率合成器，</a:t>
            </a:r>
            <a:r>
              <a:rPr lang="zh-CN" altLang="en-US" sz="1800" dirty="0"/>
              <a:t>要求输出频率</a:t>
            </a:r>
            <a:r>
              <a:rPr lang="zh-CN" altLang="zh-CN" sz="1800" dirty="0"/>
              <a:t>范围</a:t>
            </a:r>
            <a:r>
              <a:rPr lang="zh-CN" altLang="en-US" sz="1800" dirty="0"/>
              <a:t>为</a:t>
            </a:r>
            <a:r>
              <a:rPr lang="en-US" altLang="zh-CN" sz="1800" dirty="0"/>
              <a:t>90MHz~110MHz</a:t>
            </a:r>
            <a:r>
              <a:rPr lang="zh-CN" altLang="en-US" sz="1800" dirty="0"/>
              <a:t>，</a:t>
            </a:r>
            <a:r>
              <a:rPr lang="zh-CN" altLang="zh-CN" sz="1800" dirty="0"/>
              <a:t>频率步进</a:t>
            </a:r>
            <a:r>
              <a:rPr lang="zh-CN" altLang="en-US" sz="1800" dirty="0"/>
              <a:t>值为</a:t>
            </a:r>
            <a:r>
              <a:rPr lang="en-US" altLang="zh-CN" sz="1800" dirty="0"/>
              <a:t>100kHz</a:t>
            </a:r>
            <a:r>
              <a:rPr lang="zh-CN" altLang="en-US" sz="1800" dirty="0"/>
              <a:t>，锁定时间不大于</a:t>
            </a:r>
            <a:r>
              <a:rPr lang="en-US" altLang="zh-CN" sz="1800" dirty="0"/>
              <a:t>1ms</a:t>
            </a:r>
            <a:endParaRPr lang="zh-CN" altLang="zh-CN" sz="1800" dirty="0"/>
          </a:p>
        </p:txBody>
      </p:sp>
      <p:sp>
        <p:nvSpPr>
          <p:cNvPr id="5" name="文本框 4"/>
          <p:cNvSpPr txBox="1"/>
          <p:nvPr/>
        </p:nvSpPr>
        <p:spPr>
          <a:xfrm>
            <a:off x="435430" y="1733767"/>
            <a:ext cx="11284855" cy="3365730"/>
          </a:xfrm>
          <a:prstGeom prst="rect">
            <a:avLst/>
          </a:prstGeom>
          <a:noFill/>
        </p:spPr>
        <p:txBody>
          <a:bodyPr wrap="square" rtlCol="0">
            <a:spAutoFit/>
          </a:bodyPr>
          <a:lstStyle/>
          <a:p>
            <a:pPr>
              <a:lnSpc>
                <a:spcPct val="150000"/>
              </a:lnSpc>
            </a:pPr>
            <a:r>
              <a:rPr lang="zh-CN" altLang="en-US" sz="1800" dirty="0"/>
              <a:t>方案选择：</a:t>
            </a:r>
            <a:endParaRPr lang="en-US" altLang="zh-CN" sz="1800" dirty="0"/>
          </a:p>
          <a:p>
            <a:pPr>
              <a:lnSpc>
                <a:spcPct val="150000"/>
              </a:lnSpc>
            </a:pPr>
            <a:r>
              <a:rPr lang="zh-CN" altLang="zh-CN" sz="1800" dirty="0"/>
              <a:t>满足本题要求的锁相环电路较多，如</a:t>
            </a:r>
            <a:r>
              <a:rPr lang="en-US" altLang="zh-CN" sz="1800" dirty="0"/>
              <a:t>MC145151-2</a:t>
            </a:r>
            <a:r>
              <a:rPr lang="zh-CN" altLang="zh-CN" sz="1800" dirty="0"/>
              <a:t>、</a:t>
            </a:r>
            <a:r>
              <a:rPr lang="en-US" altLang="zh-CN" sz="1800" dirty="0"/>
              <a:t>MC145152-2</a:t>
            </a:r>
            <a:r>
              <a:rPr lang="zh-CN" altLang="zh-CN" sz="1800" dirty="0"/>
              <a:t>、</a:t>
            </a:r>
            <a:r>
              <a:rPr lang="en-US" altLang="zh-CN" sz="1800" dirty="0"/>
              <a:t>ADF4001</a:t>
            </a:r>
            <a:r>
              <a:rPr lang="zh-CN" altLang="zh-CN" sz="1800" dirty="0"/>
              <a:t>、</a:t>
            </a:r>
            <a:r>
              <a:rPr lang="en-US" altLang="zh-CN" sz="1800" dirty="0"/>
              <a:t>ADF4002</a:t>
            </a:r>
            <a:r>
              <a:rPr lang="zh-CN" altLang="zh-CN" sz="1800" dirty="0"/>
              <a:t>等</a:t>
            </a:r>
            <a:r>
              <a:rPr lang="zh-CN" altLang="en-US" sz="1800" dirty="0"/>
              <a:t>。</a:t>
            </a:r>
            <a:endParaRPr lang="en-US" altLang="zh-CN" sz="1800" dirty="0"/>
          </a:p>
          <a:p>
            <a:pPr>
              <a:lnSpc>
                <a:spcPct val="150000"/>
              </a:lnSpc>
            </a:pPr>
            <a:r>
              <a:rPr lang="en-US" altLang="zh-CN" sz="1800" dirty="0"/>
              <a:t>MC145151-2</a:t>
            </a:r>
            <a:r>
              <a:rPr lang="zh-CN" altLang="en-US" sz="1800" dirty="0"/>
              <a:t>与</a:t>
            </a:r>
            <a:r>
              <a:rPr lang="en-US" altLang="zh-CN" sz="1800" dirty="0"/>
              <a:t>MC145152-2</a:t>
            </a:r>
            <a:r>
              <a:rPr lang="zh-CN" altLang="zh-CN" sz="1800" dirty="0"/>
              <a:t>包含一个鉴频</a:t>
            </a:r>
            <a:r>
              <a:rPr lang="en-US" altLang="zh-CN" sz="1800" dirty="0"/>
              <a:t>-</a:t>
            </a:r>
            <a:r>
              <a:rPr lang="zh-CN" altLang="zh-CN" sz="1800" dirty="0"/>
              <a:t>鉴相器、一个</a:t>
            </a:r>
            <a:r>
              <a:rPr lang="en-US" altLang="zh-CN" sz="1800" dirty="0"/>
              <a:t>RF</a:t>
            </a:r>
            <a:r>
              <a:rPr lang="zh-CN" altLang="zh-CN" sz="1800" dirty="0"/>
              <a:t>信号分频器</a:t>
            </a:r>
            <a:r>
              <a:rPr lang="en-US" altLang="zh-CN" sz="1800" dirty="0"/>
              <a:t>N</a:t>
            </a:r>
            <a:r>
              <a:rPr lang="zh-CN" altLang="zh-CN" sz="1800" dirty="0"/>
              <a:t>与一个参考信号分频器</a:t>
            </a:r>
            <a:r>
              <a:rPr lang="en-US" altLang="zh-CN" sz="1800" dirty="0"/>
              <a:t>R</a:t>
            </a:r>
            <a:r>
              <a:rPr lang="zh-CN" altLang="zh-CN" sz="1800" dirty="0"/>
              <a:t>。两个芯片均需外接</a:t>
            </a:r>
            <a:r>
              <a:rPr lang="en-US" altLang="zh-CN" sz="1800" dirty="0"/>
              <a:t>VCO</a:t>
            </a:r>
            <a:r>
              <a:rPr lang="zh-CN" altLang="zh-CN" sz="1800" dirty="0"/>
              <a:t>。内部分频器的分频系数通过并行输入方式进行预置</a:t>
            </a:r>
            <a:r>
              <a:rPr lang="zh-CN" altLang="en-US" sz="1800" dirty="0"/>
              <a:t>。</a:t>
            </a:r>
            <a:r>
              <a:rPr lang="zh-CN" altLang="zh-CN" sz="1800" dirty="0"/>
              <a:t>芯片的最高工作频率在</a:t>
            </a:r>
            <a:r>
              <a:rPr lang="en-US" altLang="zh-CN" sz="1800" dirty="0"/>
              <a:t>5V</a:t>
            </a:r>
            <a:r>
              <a:rPr lang="zh-CN" altLang="zh-CN" sz="1800" dirty="0"/>
              <a:t>供电条件下大约为</a:t>
            </a:r>
            <a:r>
              <a:rPr lang="en-US" altLang="zh-CN" sz="1800" dirty="0"/>
              <a:t>15MHz</a:t>
            </a:r>
            <a:r>
              <a:rPr lang="zh-CN" altLang="zh-CN" sz="1800" dirty="0"/>
              <a:t>。由于此频率不高，所以在较高频率工作时需要外接高速预分频电路。</a:t>
            </a:r>
            <a:endParaRPr lang="en-US" altLang="zh-CN" sz="1800" dirty="0"/>
          </a:p>
          <a:p>
            <a:pPr>
              <a:lnSpc>
                <a:spcPct val="150000"/>
              </a:lnSpc>
            </a:pPr>
            <a:r>
              <a:rPr lang="en-US" altLang="zh-CN" sz="1800" dirty="0"/>
              <a:t>ADF4001</a:t>
            </a:r>
            <a:r>
              <a:rPr lang="zh-CN" altLang="zh-CN" sz="1800" dirty="0"/>
              <a:t>与</a:t>
            </a:r>
            <a:r>
              <a:rPr lang="en-US" altLang="zh-CN" sz="1800" dirty="0"/>
              <a:t>ADF4002</a:t>
            </a:r>
            <a:r>
              <a:rPr lang="zh-CN" altLang="zh-CN" sz="1800" dirty="0"/>
              <a:t>的内部结构与</a:t>
            </a:r>
            <a:r>
              <a:rPr lang="en-US" altLang="zh-CN" sz="1800" dirty="0"/>
              <a:t>MC145151-2</a:t>
            </a:r>
            <a:r>
              <a:rPr lang="zh-CN" altLang="zh-CN" sz="1800" dirty="0"/>
              <a:t>大致相同，但性能要好很多</a:t>
            </a:r>
            <a:r>
              <a:rPr lang="zh-CN" altLang="en-US" sz="1800" dirty="0"/>
              <a:t>。其工作频率达</a:t>
            </a:r>
            <a:r>
              <a:rPr lang="en-US" altLang="zh-CN" sz="1800" dirty="0"/>
              <a:t>100MHz</a:t>
            </a:r>
            <a:r>
              <a:rPr lang="zh-CN" altLang="en-US" sz="1800" dirty="0"/>
              <a:t>以上，无需高速预分频电路，但分频系数的设置方式为</a:t>
            </a:r>
            <a:r>
              <a:rPr lang="en-US" altLang="zh-CN" sz="1800" dirty="0"/>
              <a:t>3</a:t>
            </a:r>
            <a:r>
              <a:rPr lang="zh-CN" altLang="en-US" sz="1800" dirty="0"/>
              <a:t>线串行方式，所以必须以微处理器处理。</a:t>
            </a:r>
            <a:endParaRPr lang="en-US" altLang="zh-CN" sz="1800" dirty="0"/>
          </a:p>
          <a:p>
            <a:pPr>
              <a:lnSpc>
                <a:spcPct val="150000"/>
              </a:lnSpc>
            </a:pPr>
            <a:r>
              <a:rPr lang="zh-CN" altLang="en-US" sz="1800" dirty="0"/>
              <a:t>本例采用</a:t>
            </a:r>
            <a:r>
              <a:rPr lang="en-US" altLang="zh-CN" sz="1800" dirty="0"/>
              <a:t>MC145151-2</a:t>
            </a:r>
            <a:r>
              <a:rPr lang="zh-CN" altLang="en-US" sz="1800" dirty="0"/>
              <a:t>进行设计。</a:t>
            </a:r>
            <a:endParaRPr lang="en-US" altLang="zh-CN" sz="1200" dirty="0"/>
          </a:p>
        </p:txBody>
      </p:sp>
    </p:spTree>
    <p:extLst>
      <p:ext uri="{BB962C8B-B14F-4D97-AF65-F5344CB8AC3E}">
        <p14:creationId xmlns:p14="http://schemas.microsoft.com/office/powerpoint/2010/main" val="6854712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37</a:t>
            </a:fld>
            <a:endParaRPr lang="en-US" altLang="zh-CN">
              <a:solidFill>
                <a:srgbClr val="FFFFFF"/>
              </a:solidFill>
            </a:endParaRPr>
          </a:p>
        </p:txBody>
      </p:sp>
      <p:sp>
        <p:nvSpPr>
          <p:cNvPr id="6" name="文本框 5"/>
          <p:cNvSpPr txBox="1"/>
          <p:nvPr/>
        </p:nvSpPr>
        <p:spPr>
          <a:xfrm>
            <a:off x="522514" y="546009"/>
            <a:ext cx="9481067" cy="507831"/>
          </a:xfrm>
          <a:prstGeom prst="rect">
            <a:avLst/>
          </a:prstGeom>
          <a:noFill/>
        </p:spPr>
        <p:txBody>
          <a:bodyPr wrap="square" rtlCol="0">
            <a:spAutoFit/>
          </a:bodyPr>
          <a:lstStyle/>
          <a:p>
            <a:pPr>
              <a:lnSpc>
                <a:spcPct val="150000"/>
              </a:lnSpc>
            </a:pPr>
            <a:r>
              <a:rPr lang="zh-CN" altLang="en-US" sz="1800" dirty="0"/>
              <a:t>设计的电路如下，其中所有分频系数均可通过拨码开关设置（当然也可以用微处理器设置）</a:t>
            </a:r>
          </a:p>
        </p:txBody>
      </p:sp>
      <p:pic>
        <p:nvPicPr>
          <p:cNvPr id="8" name="图片 7"/>
          <p:cNvPicPr>
            <a:picLocks noChangeAspect="1"/>
          </p:cNvPicPr>
          <p:nvPr/>
        </p:nvPicPr>
        <p:blipFill>
          <a:blip r:embed="rId2"/>
          <a:stretch>
            <a:fillRect/>
          </a:stretch>
        </p:blipFill>
        <p:spPr>
          <a:xfrm>
            <a:off x="2125362" y="1351446"/>
            <a:ext cx="7428091" cy="4750193"/>
          </a:xfrm>
          <a:prstGeom prst="rect">
            <a:avLst/>
          </a:prstGeom>
        </p:spPr>
      </p:pic>
    </p:spTree>
    <p:extLst>
      <p:ext uri="{BB962C8B-B14F-4D97-AF65-F5344CB8AC3E}">
        <p14:creationId xmlns:p14="http://schemas.microsoft.com/office/powerpoint/2010/main" val="40968364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38</a:t>
            </a:fld>
            <a:endParaRPr lang="en-US" altLang="zh-CN">
              <a:solidFill>
                <a:srgbClr val="FFFFFF"/>
              </a:solidFill>
            </a:endParaRPr>
          </a:p>
        </p:txBody>
      </p:sp>
      <p:sp>
        <p:nvSpPr>
          <p:cNvPr id="5" name="文本框 4"/>
          <p:cNvSpPr txBox="1"/>
          <p:nvPr/>
        </p:nvSpPr>
        <p:spPr>
          <a:xfrm>
            <a:off x="515256" y="526273"/>
            <a:ext cx="11219543" cy="5078313"/>
          </a:xfrm>
          <a:prstGeom prst="rect">
            <a:avLst/>
          </a:prstGeom>
          <a:noFill/>
        </p:spPr>
        <p:txBody>
          <a:bodyPr wrap="square" rtlCol="0">
            <a:spAutoFit/>
          </a:bodyPr>
          <a:lstStyle/>
          <a:p>
            <a:pPr>
              <a:lnSpc>
                <a:spcPct val="150000"/>
              </a:lnSpc>
            </a:pPr>
            <a:r>
              <a:rPr lang="zh-CN" altLang="en-US" sz="1800" dirty="0"/>
              <a:t>设计过程</a:t>
            </a:r>
            <a:r>
              <a:rPr lang="en-US" altLang="zh-CN" sz="1800" dirty="0"/>
              <a:t>1</a:t>
            </a:r>
            <a:r>
              <a:rPr lang="zh-CN" altLang="en-US" sz="1800" dirty="0"/>
              <a:t>，常规参数</a:t>
            </a:r>
            <a:endParaRPr lang="en-US" altLang="zh-CN" sz="1800" dirty="0"/>
          </a:p>
          <a:p>
            <a:pPr indent="457200">
              <a:lnSpc>
                <a:spcPct val="150000"/>
              </a:lnSpc>
            </a:pPr>
            <a:r>
              <a:rPr lang="en-US" altLang="zh-CN" sz="1800" dirty="0"/>
              <a:t>1</a:t>
            </a:r>
            <a:r>
              <a:rPr lang="zh-CN" altLang="en-US" sz="1800" dirty="0"/>
              <a:t>、选取电源电压为</a:t>
            </a:r>
            <a:r>
              <a:rPr lang="en-US" altLang="zh-CN" sz="1800" dirty="0"/>
              <a:t>+5V</a:t>
            </a:r>
            <a:r>
              <a:rPr lang="zh-CN" altLang="en-US" sz="1800" dirty="0"/>
              <a:t>，该电压可以满足</a:t>
            </a:r>
            <a:r>
              <a:rPr lang="en-US" altLang="zh-CN" sz="1800" dirty="0"/>
              <a:t>MC145151</a:t>
            </a:r>
            <a:r>
              <a:rPr lang="zh-CN" altLang="en-US" sz="1800" dirty="0"/>
              <a:t>、</a:t>
            </a:r>
            <a:r>
              <a:rPr lang="en-US" altLang="zh-CN" sz="1800" dirty="0"/>
              <a:t>MC12080</a:t>
            </a:r>
            <a:r>
              <a:rPr lang="zh-CN" altLang="en-US" sz="1800" dirty="0"/>
              <a:t>与</a:t>
            </a:r>
            <a:r>
              <a:rPr lang="en-US" altLang="zh-CN" sz="1800" dirty="0"/>
              <a:t>MC1648</a:t>
            </a:r>
            <a:r>
              <a:rPr lang="zh-CN" altLang="en-US" sz="1800" dirty="0"/>
              <a:t>三个芯片的电源要求。每个芯片都配有电源退耦电容</a:t>
            </a:r>
            <a:r>
              <a:rPr lang="en-US" altLang="zh-CN" sz="1800" dirty="0"/>
              <a:t>0.1</a:t>
            </a:r>
            <a:r>
              <a:rPr lang="el-GR" altLang="zh-CN" sz="1800" dirty="0">
                <a:latin typeface="Times New Roman" panose="02020603050405020304" pitchFamily="18" charset="0"/>
                <a:cs typeface="Times New Roman" panose="02020603050405020304" pitchFamily="18" charset="0"/>
              </a:rPr>
              <a:t>μ</a:t>
            </a:r>
            <a:r>
              <a:rPr lang="en-US" altLang="zh-CN" sz="1800" dirty="0">
                <a:latin typeface="Times New Roman" panose="02020603050405020304" pitchFamily="18" charset="0"/>
                <a:cs typeface="Times New Roman" panose="02020603050405020304" pitchFamily="18" charset="0"/>
              </a:rPr>
              <a:t>F</a:t>
            </a:r>
            <a:r>
              <a:rPr lang="zh-CN" altLang="en-US" sz="1800" dirty="0"/>
              <a:t>（图中未画出）</a:t>
            </a:r>
            <a:endParaRPr lang="en-US" altLang="zh-CN" sz="1800" dirty="0"/>
          </a:p>
          <a:p>
            <a:pPr indent="457200">
              <a:lnSpc>
                <a:spcPct val="150000"/>
              </a:lnSpc>
            </a:pPr>
            <a:r>
              <a:rPr lang="en-US" altLang="zh-CN" sz="1800" dirty="0"/>
              <a:t>2</a:t>
            </a:r>
            <a:r>
              <a:rPr lang="zh-CN" altLang="en-US" sz="1800" dirty="0"/>
              <a:t>、除了</a:t>
            </a:r>
            <a:r>
              <a:rPr lang="en-US" altLang="zh-CN" sz="1800" dirty="0"/>
              <a:t>LF</a:t>
            </a:r>
            <a:r>
              <a:rPr lang="zh-CN" altLang="en-US" sz="1800" dirty="0"/>
              <a:t>中标为</a:t>
            </a:r>
            <a:r>
              <a:rPr lang="en-US" altLang="zh-CN" sz="1800" dirty="0"/>
              <a:t>C</a:t>
            </a:r>
            <a:r>
              <a:rPr lang="zh-CN" altLang="en-US" sz="1800" dirty="0"/>
              <a:t>的电容、</a:t>
            </a:r>
            <a:r>
              <a:rPr lang="en-US" altLang="zh-CN" sz="1800" dirty="0"/>
              <a:t>MC145151</a:t>
            </a:r>
            <a:r>
              <a:rPr lang="zh-CN" altLang="en-US" sz="1800" dirty="0"/>
              <a:t>的</a:t>
            </a:r>
            <a:r>
              <a:rPr lang="en-US" altLang="zh-CN" sz="1800" dirty="0"/>
              <a:t>pin26</a:t>
            </a:r>
            <a:r>
              <a:rPr lang="zh-CN" altLang="en-US" sz="1800" dirty="0"/>
              <a:t>与</a:t>
            </a:r>
            <a:r>
              <a:rPr lang="en-US" altLang="zh-CN" sz="1800" dirty="0"/>
              <a:t>pin27</a:t>
            </a:r>
            <a:r>
              <a:rPr lang="zh-CN" altLang="en-US" sz="1800" dirty="0"/>
              <a:t>的对地电容（石英晶体两端的电容）外，其余电容均为耦合电容或旁路电容，全部取</a:t>
            </a:r>
            <a:r>
              <a:rPr lang="en-US" altLang="zh-CN" sz="1800" dirty="0"/>
              <a:t>10nF</a:t>
            </a:r>
          </a:p>
          <a:p>
            <a:pPr indent="457200">
              <a:lnSpc>
                <a:spcPct val="150000"/>
              </a:lnSpc>
            </a:pPr>
            <a:r>
              <a:rPr lang="en-US" altLang="zh-CN" sz="1800" dirty="0"/>
              <a:t>3</a:t>
            </a:r>
            <a:r>
              <a:rPr lang="zh-CN" altLang="en-US" sz="1800" dirty="0"/>
              <a:t>、石英晶体两端的电容是振荡电容，取常规值</a:t>
            </a:r>
            <a:r>
              <a:rPr lang="en-US" altLang="zh-CN" sz="1800" dirty="0"/>
              <a:t>20pF</a:t>
            </a:r>
          </a:p>
          <a:p>
            <a:pPr indent="457200">
              <a:lnSpc>
                <a:spcPct val="150000"/>
              </a:lnSpc>
            </a:pPr>
            <a:r>
              <a:rPr lang="en-US" altLang="zh-CN" sz="1800" dirty="0"/>
              <a:t>4</a:t>
            </a:r>
            <a:r>
              <a:rPr lang="zh-CN" altLang="en-US" sz="1800" dirty="0"/>
              <a:t>、</a:t>
            </a:r>
            <a:r>
              <a:rPr lang="en-US" altLang="zh-CN" sz="1800" dirty="0"/>
              <a:t>R3</a:t>
            </a:r>
            <a:r>
              <a:rPr lang="zh-CN" altLang="en-US" sz="1800" dirty="0"/>
              <a:t>是隔离环路滤波器与</a:t>
            </a:r>
            <a:r>
              <a:rPr lang="en-US" altLang="zh-CN" sz="1800" dirty="0"/>
              <a:t>VCO</a:t>
            </a:r>
            <a:r>
              <a:rPr lang="zh-CN" altLang="en-US" sz="1800" dirty="0"/>
              <a:t>的隔离电阻，取值大一点好（只要保证它与变容二极管电容构成的</a:t>
            </a:r>
            <a:r>
              <a:rPr lang="en-US" altLang="zh-CN" sz="1800" dirty="0"/>
              <a:t>RC</a:t>
            </a:r>
            <a:r>
              <a:rPr lang="zh-CN" altLang="en-US" sz="1800" dirty="0"/>
              <a:t>时间常数不太大即可），实际取值</a:t>
            </a:r>
            <a:r>
              <a:rPr lang="en-US" altLang="zh-CN" sz="1800" dirty="0"/>
              <a:t>10k</a:t>
            </a:r>
            <a:r>
              <a:rPr lang="el-GR" altLang="zh-CN" sz="1800" dirty="0">
                <a:latin typeface="Times New Roman" panose="02020603050405020304" pitchFamily="18" charset="0"/>
                <a:cs typeface="Times New Roman" panose="02020603050405020304" pitchFamily="18" charset="0"/>
              </a:rPr>
              <a:t>Ω</a:t>
            </a:r>
            <a:endParaRPr lang="zh-CN" altLang="en-US" sz="1800" dirty="0"/>
          </a:p>
          <a:p>
            <a:pPr indent="457200">
              <a:lnSpc>
                <a:spcPct val="150000"/>
              </a:lnSpc>
            </a:pPr>
            <a:r>
              <a:rPr lang="en-US" altLang="zh-CN" sz="1800" dirty="0"/>
              <a:t>4</a:t>
            </a:r>
            <a:r>
              <a:rPr lang="zh-CN" altLang="en-US" sz="1800" dirty="0"/>
              <a:t>、考虑工作频率较高，全部元件采用贴片封装，且制作印制板</a:t>
            </a:r>
            <a:endParaRPr lang="en-US" altLang="zh-CN" sz="1800" dirty="0"/>
          </a:p>
          <a:p>
            <a:pPr indent="457200">
              <a:lnSpc>
                <a:spcPct val="150000"/>
              </a:lnSpc>
            </a:pPr>
            <a:r>
              <a:rPr lang="en-US" altLang="zh-CN" sz="1800" dirty="0"/>
              <a:t>5</a:t>
            </a:r>
            <a:r>
              <a:rPr lang="zh-CN" altLang="en-US" sz="1800" dirty="0"/>
              <a:t>、由于</a:t>
            </a:r>
            <a:r>
              <a:rPr lang="en-US" altLang="zh-CN" sz="1800" dirty="0"/>
              <a:t>VCO</a:t>
            </a:r>
            <a:r>
              <a:rPr lang="zh-CN" altLang="en-US" sz="1800" dirty="0"/>
              <a:t>（</a:t>
            </a:r>
            <a:r>
              <a:rPr lang="en-US" altLang="zh-CN" sz="1800" dirty="0"/>
              <a:t>MC1648</a:t>
            </a:r>
            <a:r>
              <a:rPr lang="zh-CN" altLang="en-US" sz="1800" dirty="0"/>
              <a:t>）为</a:t>
            </a:r>
            <a:r>
              <a:rPr lang="en-US" altLang="zh-CN" sz="1800" dirty="0"/>
              <a:t>PECL</a:t>
            </a:r>
            <a:r>
              <a:rPr lang="zh-CN" altLang="en-US" sz="1800" dirty="0"/>
              <a:t>器件，其输出电压幅度较小（峰峰值小于</a:t>
            </a:r>
            <a:r>
              <a:rPr lang="en-US" altLang="zh-CN" sz="1800" dirty="0"/>
              <a:t>1V</a:t>
            </a:r>
            <a:r>
              <a:rPr lang="zh-CN" altLang="en-US" sz="1800" dirty="0"/>
              <a:t>），可以考虑在其输出增加一级放大器（图中未画），采用高速运放或者</a:t>
            </a:r>
            <a:r>
              <a:rPr lang="en-US" altLang="zh-CN" sz="1800" dirty="0"/>
              <a:t>MMIC</a:t>
            </a:r>
            <a:r>
              <a:rPr lang="zh-CN" altLang="en-US" sz="1800" dirty="0"/>
              <a:t>均可。采用运放时要考虑其电源电压与其余三个芯片的兼容；采用</a:t>
            </a:r>
            <a:r>
              <a:rPr lang="en-US" altLang="zh-CN" sz="1800" dirty="0"/>
              <a:t>MMIC</a:t>
            </a:r>
            <a:r>
              <a:rPr lang="zh-CN" altLang="en-US" sz="1800" dirty="0"/>
              <a:t>时要考虑其输出是否会饱和，必要时应降低其增益</a:t>
            </a:r>
          </a:p>
        </p:txBody>
      </p:sp>
    </p:spTree>
    <p:extLst>
      <p:ext uri="{BB962C8B-B14F-4D97-AF65-F5344CB8AC3E}">
        <p14:creationId xmlns:p14="http://schemas.microsoft.com/office/powerpoint/2010/main" val="17867574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39</a:t>
            </a:fld>
            <a:endParaRPr lang="en-US" altLang="zh-CN">
              <a:solidFill>
                <a:srgbClr val="FFFFFF"/>
              </a:solidFill>
            </a:endParaRPr>
          </a:p>
        </p:txBody>
      </p:sp>
      <p:sp>
        <p:nvSpPr>
          <p:cNvPr id="5" name="文本框 4"/>
          <p:cNvSpPr txBox="1"/>
          <p:nvPr/>
        </p:nvSpPr>
        <p:spPr>
          <a:xfrm>
            <a:off x="493486" y="526273"/>
            <a:ext cx="11248571" cy="4739759"/>
          </a:xfrm>
          <a:prstGeom prst="rect">
            <a:avLst/>
          </a:prstGeom>
          <a:noFill/>
        </p:spPr>
        <p:txBody>
          <a:bodyPr wrap="square" rtlCol="0">
            <a:spAutoFit/>
          </a:bodyPr>
          <a:lstStyle/>
          <a:p>
            <a:pPr>
              <a:lnSpc>
                <a:spcPct val="150000"/>
              </a:lnSpc>
            </a:pPr>
            <a:r>
              <a:rPr lang="zh-CN" altLang="en-US" sz="1800" dirty="0"/>
              <a:t>设计过程</a:t>
            </a:r>
            <a:r>
              <a:rPr lang="en-US" altLang="zh-CN" sz="1800" dirty="0"/>
              <a:t>2</a:t>
            </a:r>
            <a:r>
              <a:rPr lang="zh-CN" altLang="en-US" sz="1800" dirty="0"/>
              <a:t>，参考频率</a:t>
            </a:r>
            <a:endParaRPr lang="en-US" altLang="zh-CN" sz="1800" dirty="0"/>
          </a:p>
          <a:p>
            <a:pPr indent="457200">
              <a:lnSpc>
                <a:spcPct val="150000"/>
              </a:lnSpc>
            </a:pPr>
            <a:r>
              <a:rPr lang="zh-CN" altLang="en-US" sz="1800" dirty="0"/>
              <a:t>基于锁相环的频率合成器，其输出频率为</a:t>
            </a:r>
            <a:r>
              <a:rPr lang="en-US" altLang="zh-CN" sz="1800" i="1" dirty="0" err="1">
                <a:latin typeface="+mn-lt"/>
              </a:rPr>
              <a:t>f</a:t>
            </a:r>
            <a:r>
              <a:rPr lang="en-US" altLang="zh-CN" sz="1800" i="1" baseline="-25000" dirty="0" err="1">
                <a:latin typeface="+mn-lt"/>
              </a:rPr>
              <a:t>o</a:t>
            </a:r>
            <a:r>
              <a:rPr lang="en-US" altLang="zh-CN" sz="1800" dirty="0">
                <a:latin typeface="+mn-lt"/>
              </a:rPr>
              <a:t>=</a:t>
            </a:r>
            <a:r>
              <a:rPr lang="en-US" altLang="zh-CN" sz="1800" i="1" dirty="0" err="1">
                <a:latin typeface="+mn-lt"/>
              </a:rPr>
              <a:t>N</a:t>
            </a:r>
            <a:r>
              <a:rPr lang="en-US" altLang="zh-CN" sz="1800" dirty="0" err="1">
                <a:latin typeface="+mn-lt"/>
              </a:rPr>
              <a:t>×</a:t>
            </a:r>
            <a:r>
              <a:rPr lang="en-US" altLang="zh-CN" sz="1800" i="1" dirty="0" err="1">
                <a:latin typeface="+mn-lt"/>
              </a:rPr>
              <a:t>f</a:t>
            </a:r>
            <a:r>
              <a:rPr lang="en-US" altLang="zh-CN" sz="1800" i="1" baseline="-25000" dirty="0" err="1">
                <a:latin typeface="+mn-lt"/>
              </a:rPr>
              <a:t>r</a:t>
            </a:r>
            <a:r>
              <a:rPr lang="zh-CN" altLang="en-US" sz="1800" dirty="0"/>
              <a:t>，其中 </a:t>
            </a:r>
            <a:r>
              <a:rPr lang="en-US" altLang="zh-CN" sz="1800" i="1" dirty="0">
                <a:latin typeface="+mn-lt"/>
              </a:rPr>
              <a:t>N </a:t>
            </a:r>
            <a:r>
              <a:rPr lang="zh-CN" altLang="en-US" sz="1800" dirty="0"/>
              <a:t>为反馈通道的分频系数（对于前面的电路来说就是</a:t>
            </a:r>
            <a:r>
              <a:rPr lang="en-US" altLang="zh-CN" sz="1800" dirty="0"/>
              <a:t>MC145151</a:t>
            </a:r>
            <a:r>
              <a:rPr lang="zh-CN" altLang="en-US" sz="1800" dirty="0"/>
              <a:t>的</a:t>
            </a:r>
            <a:r>
              <a:rPr lang="en-US" altLang="zh-CN" sz="1800" dirty="0"/>
              <a:t>N</a:t>
            </a:r>
            <a:r>
              <a:rPr lang="zh-CN" altLang="en-US" sz="1800" dirty="0"/>
              <a:t>分频数</a:t>
            </a:r>
            <a:r>
              <a:rPr lang="en-US" altLang="zh-CN" sz="1800" dirty="0"/>
              <a:t>×MC12080</a:t>
            </a:r>
            <a:r>
              <a:rPr lang="zh-CN" altLang="en-US" sz="1800" dirty="0"/>
              <a:t>的预分频数），</a:t>
            </a:r>
            <a:r>
              <a:rPr lang="en-US" altLang="zh-CN" sz="1800" i="1" dirty="0" err="1">
                <a:latin typeface="+mn-lt"/>
              </a:rPr>
              <a:t>f</a:t>
            </a:r>
            <a:r>
              <a:rPr lang="en-US" altLang="zh-CN" sz="1800" i="1" baseline="-25000" dirty="0" err="1">
                <a:latin typeface="+mn-lt"/>
              </a:rPr>
              <a:t>r</a:t>
            </a:r>
            <a:r>
              <a:rPr lang="en-US" altLang="zh-CN" sz="1800" i="1" baseline="-25000" dirty="0">
                <a:latin typeface="+mn-lt"/>
              </a:rPr>
              <a:t> </a:t>
            </a:r>
            <a:r>
              <a:rPr lang="zh-CN" altLang="en-US" sz="1800" dirty="0"/>
              <a:t>是输入鉴相器的参考频率。通常通过改变 </a:t>
            </a:r>
            <a:r>
              <a:rPr lang="en-US" altLang="zh-CN" sz="1800" i="1" dirty="0">
                <a:latin typeface="+mn-lt"/>
              </a:rPr>
              <a:t>N </a:t>
            </a:r>
            <a:r>
              <a:rPr lang="zh-CN" altLang="en-US" sz="1800" dirty="0"/>
              <a:t>来改变输出频率，而 </a:t>
            </a:r>
            <a:r>
              <a:rPr lang="en-US" altLang="zh-CN" sz="1800" i="1" dirty="0">
                <a:latin typeface="+mn-lt"/>
              </a:rPr>
              <a:t>N </a:t>
            </a:r>
            <a:r>
              <a:rPr lang="zh-CN" altLang="en-US" sz="1800" dirty="0"/>
              <a:t>最小为</a:t>
            </a:r>
            <a:r>
              <a:rPr lang="en-US" altLang="zh-CN" sz="1800" dirty="0"/>
              <a:t>1</a:t>
            </a:r>
            <a:r>
              <a:rPr lang="zh-CN" altLang="en-US" sz="1800" dirty="0"/>
              <a:t>，所以输入鉴相器的参考频率 </a:t>
            </a:r>
            <a:r>
              <a:rPr lang="en-US" altLang="zh-CN" sz="1800" i="1" dirty="0" err="1">
                <a:latin typeface="+mn-lt"/>
              </a:rPr>
              <a:t>f</a:t>
            </a:r>
            <a:r>
              <a:rPr lang="en-US" altLang="zh-CN" sz="1800" i="1" baseline="-25000" dirty="0" err="1">
                <a:latin typeface="+mn-lt"/>
              </a:rPr>
              <a:t>r</a:t>
            </a:r>
            <a:r>
              <a:rPr lang="en-US" altLang="zh-CN" sz="1800" i="1" baseline="-25000" dirty="0">
                <a:latin typeface="+mn-lt"/>
              </a:rPr>
              <a:t> </a:t>
            </a:r>
            <a:r>
              <a:rPr lang="zh-CN" altLang="en-US" sz="1800" dirty="0"/>
              <a:t>应该等于步进频率或者步进频率</a:t>
            </a:r>
            <a:r>
              <a:rPr lang="en-US" altLang="zh-CN" sz="1800" dirty="0"/>
              <a:t>/</a:t>
            </a:r>
            <a:r>
              <a:rPr lang="zh-CN" altLang="en-US" sz="1800" dirty="0"/>
              <a:t>整数</a:t>
            </a:r>
            <a:endParaRPr lang="en-US" altLang="zh-CN" sz="1800" dirty="0"/>
          </a:p>
          <a:p>
            <a:pPr indent="457200">
              <a:lnSpc>
                <a:spcPct val="150000"/>
              </a:lnSpc>
            </a:pPr>
            <a:r>
              <a:rPr lang="en-US" altLang="zh-CN" sz="1800" dirty="0"/>
              <a:t>MC145151</a:t>
            </a:r>
            <a:r>
              <a:rPr lang="zh-CN" altLang="en-US" sz="1800" dirty="0"/>
              <a:t>的参考频率由石英晶体提供。考虑到题目要求频率步进为</a:t>
            </a:r>
            <a:r>
              <a:rPr lang="en-US" altLang="zh-CN" sz="1800" dirty="0"/>
              <a:t>100kHz</a:t>
            </a:r>
            <a:r>
              <a:rPr lang="zh-CN" altLang="en-US" sz="1800" dirty="0"/>
              <a:t>，所以石英晶体的谐振频率应该是</a:t>
            </a:r>
            <a:r>
              <a:rPr lang="en-US" altLang="zh-CN" sz="1800" dirty="0"/>
              <a:t>R×100kHz</a:t>
            </a:r>
            <a:r>
              <a:rPr lang="zh-CN" altLang="en-US" sz="1800" dirty="0"/>
              <a:t>或</a:t>
            </a:r>
            <a:r>
              <a:rPr lang="en-US" altLang="zh-CN" sz="1800" dirty="0"/>
              <a:t>R×100kHz/</a:t>
            </a:r>
            <a:r>
              <a:rPr lang="zh-CN" altLang="en-US" sz="1800" dirty="0"/>
              <a:t>某整数</a:t>
            </a:r>
            <a:endParaRPr lang="en-US" altLang="zh-CN" sz="1800" dirty="0"/>
          </a:p>
          <a:p>
            <a:pPr indent="457200">
              <a:lnSpc>
                <a:spcPct val="150000"/>
              </a:lnSpc>
            </a:pPr>
            <a:r>
              <a:rPr lang="zh-CN" altLang="en-US" sz="1800" dirty="0"/>
              <a:t>由于</a:t>
            </a:r>
            <a:r>
              <a:rPr lang="en-US" altLang="zh-CN" sz="1800" dirty="0"/>
              <a:t>R</a:t>
            </a:r>
            <a:r>
              <a:rPr lang="zh-CN" altLang="en-US" sz="1800" dirty="0"/>
              <a:t>是</a:t>
            </a:r>
            <a:r>
              <a:rPr lang="en-US" altLang="zh-CN" sz="1800" dirty="0"/>
              <a:t>MC145151</a:t>
            </a:r>
            <a:r>
              <a:rPr lang="zh-CN" altLang="en-US" sz="1800" dirty="0"/>
              <a:t>的参考分频数，它只有</a:t>
            </a:r>
            <a:r>
              <a:rPr lang="en-US" altLang="zh-CN" sz="1800" dirty="0"/>
              <a:t>8</a:t>
            </a:r>
            <a:r>
              <a:rPr lang="zh-CN" altLang="en-US" sz="1800" dirty="0"/>
              <a:t>、</a:t>
            </a:r>
            <a:r>
              <a:rPr lang="en-US" altLang="zh-CN" sz="1800" dirty="0"/>
              <a:t>128</a:t>
            </a:r>
            <a:r>
              <a:rPr lang="zh-CN" altLang="en-US" sz="1800" dirty="0"/>
              <a:t>、</a:t>
            </a:r>
            <a:r>
              <a:rPr lang="en-US" altLang="zh-CN" sz="1800" dirty="0"/>
              <a:t>256</a:t>
            </a:r>
            <a:r>
              <a:rPr lang="zh-CN" altLang="en-US" sz="1800" dirty="0"/>
              <a:t>、</a:t>
            </a:r>
            <a:r>
              <a:rPr lang="en-US" altLang="zh-CN" sz="1800" dirty="0"/>
              <a:t>512</a:t>
            </a:r>
            <a:r>
              <a:rPr lang="zh-CN" altLang="en-US" sz="1800" dirty="0"/>
              <a:t>、</a:t>
            </a:r>
            <a:r>
              <a:rPr lang="en-US" altLang="zh-CN" sz="1800" dirty="0"/>
              <a:t>1024</a:t>
            </a:r>
            <a:r>
              <a:rPr lang="zh-CN" altLang="en-US" sz="1800" dirty="0"/>
              <a:t>、</a:t>
            </a:r>
            <a:r>
              <a:rPr lang="en-US" altLang="zh-CN" sz="1800" dirty="0"/>
              <a:t>2048</a:t>
            </a:r>
            <a:r>
              <a:rPr lang="zh-CN" altLang="en-US" sz="1800" dirty="0"/>
              <a:t>、</a:t>
            </a:r>
            <a:r>
              <a:rPr lang="en-US" altLang="zh-CN" sz="1800" dirty="0"/>
              <a:t>2410</a:t>
            </a:r>
            <a:r>
              <a:rPr lang="zh-CN" altLang="en-US" sz="1800" dirty="0"/>
              <a:t>以及</a:t>
            </a:r>
            <a:r>
              <a:rPr lang="en-US" altLang="zh-CN" sz="1800" dirty="0"/>
              <a:t>8192</a:t>
            </a:r>
            <a:r>
              <a:rPr lang="zh-CN" altLang="en-US" sz="1800" dirty="0"/>
              <a:t>等几种，而</a:t>
            </a:r>
            <a:r>
              <a:rPr lang="en-US" altLang="zh-CN" sz="1800" dirty="0"/>
              <a:t>MC145151</a:t>
            </a:r>
            <a:r>
              <a:rPr lang="zh-CN" altLang="en-US" sz="1800" dirty="0"/>
              <a:t>的最高工作频率为</a:t>
            </a:r>
            <a:r>
              <a:rPr lang="en-US" altLang="zh-CN" sz="1800" dirty="0"/>
              <a:t>15MHz</a:t>
            </a:r>
            <a:r>
              <a:rPr lang="zh-CN" altLang="en-US" sz="1800" dirty="0"/>
              <a:t>，所以选择</a:t>
            </a:r>
            <a:r>
              <a:rPr lang="zh-CN" altLang="en-US" sz="1800" dirty="0">
                <a:solidFill>
                  <a:srgbClr val="FF0000"/>
                </a:solidFill>
              </a:rPr>
              <a:t>石英晶体的频率为</a:t>
            </a:r>
            <a:r>
              <a:rPr lang="en-US" altLang="zh-CN" sz="1800" dirty="0">
                <a:solidFill>
                  <a:srgbClr val="FF0000"/>
                </a:solidFill>
              </a:rPr>
              <a:t>12.80MHz</a:t>
            </a:r>
            <a:r>
              <a:rPr lang="zh-CN" altLang="en-US" sz="1800" dirty="0">
                <a:solidFill>
                  <a:srgbClr val="FF0000"/>
                </a:solidFill>
              </a:rPr>
              <a:t>，参考分频系数</a:t>
            </a:r>
            <a:r>
              <a:rPr lang="en-US" altLang="zh-CN" sz="1800" dirty="0">
                <a:solidFill>
                  <a:srgbClr val="FF0000"/>
                </a:solidFill>
              </a:rPr>
              <a:t>R=128</a:t>
            </a:r>
            <a:r>
              <a:rPr lang="zh-CN" altLang="en-US" sz="1800" dirty="0">
                <a:solidFill>
                  <a:srgbClr val="FF0000"/>
                </a:solidFill>
              </a:rPr>
              <a:t>，此时的</a:t>
            </a:r>
            <a:r>
              <a:rPr lang="en-US" altLang="zh-CN" sz="1800" dirty="0" err="1">
                <a:solidFill>
                  <a:srgbClr val="FF0000"/>
                </a:solidFill>
              </a:rPr>
              <a:t>fr</a:t>
            </a:r>
            <a:r>
              <a:rPr lang="en-US" altLang="zh-CN" sz="1800" dirty="0">
                <a:solidFill>
                  <a:srgbClr val="FF0000"/>
                </a:solidFill>
              </a:rPr>
              <a:t>=100kHz</a:t>
            </a:r>
          </a:p>
          <a:p>
            <a:pPr indent="457200">
              <a:lnSpc>
                <a:spcPct val="150000"/>
              </a:lnSpc>
              <a:spcBef>
                <a:spcPts val="600"/>
              </a:spcBef>
            </a:pPr>
            <a:r>
              <a:rPr lang="zh-CN" altLang="en-US" sz="1800" dirty="0">
                <a:latin typeface="楷体" panose="02010609060101010101" pitchFamily="49" charset="-122"/>
                <a:ea typeface="楷体" panose="02010609060101010101" pitchFamily="49" charset="-122"/>
              </a:rPr>
              <a:t>备注：由于</a:t>
            </a:r>
            <a:r>
              <a:rPr lang="en-US" altLang="zh-CN" sz="1800" dirty="0">
                <a:latin typeface="楷体" panose="02010609060101010101" pitchFamily="49" charset="-122"/>
                <a:ea typeface="楷体" panose="02010609060101010101" pitchFamily="49" charset="-122"/>
              </a:rPr>
              <a:t>MC145151</a:t>
            </a:r>
            <a:r>
              <a:rPr lang="zh-CN" altLang="en-US" sz="1800" dirty="0">
                <a:latin typeface="楷体" panose="02010609060101010101" pitchFamily="49" charset="-122"/>
                <a:ea typeface="楷体" panose="02010609060101010101" pitchFamily="49" charset="-122"/>
              </a:rPr>
              <a:t>的参考分频数较少，石英谐振器的频率选择受到很大的限制，许多频率未必市场上有现货。从这个角度看，</a:t>
            </a:r>
            <a:r>
              <a:rPr lang="en-US" altLang="zh-CN" sz="1800" dirty="0">
                <a:latin typeface="楷体" panose="02010609060101010101" pitchFamily="49" charset="-122"/>
                <a:ea typeface="楷体" panose="02010609060101010101" pitchFamily="49" charset="-122"/>
              </a:rPr>
              <a:t>ADF4001</a:t>
            </a:r>
            <a:r>
              <a:rPr lang="zh-CN" altLang="zh-CN" sz="1800" dirty="0">
                <a:latin typeface="楷体" panose="02010609060101010101" pitchFamily="49" charset="-122"/>
                <a:ea typeface="楷体" panose="02010609060101010101" pitchFamily="49" charset="-122"/>
              </a:rPr>
              <a:t>与</a:t>
            </a:r>
            <a:r>
              <a:rPr lang="en-US" altLang="zh-CN" sz="1800" dirty="0">
                <a:latin typeface="楷体" panose="02010609060101010101" pitchFamily="49" charset="-122"/>
                <a:ea typeface="楷体" panose="02010609060101010101" pitchFamily="49" charset="-122"/>
              </a:rPr>
              <a:t>ADF4002</a:t>
            </a:r>
            <a:r>
              <a:rPr lang="zh-CN" altLang="en-US" sz="1800" dirty="0">
                <a:latin typeface="楷体" panose="02010609060101010101" pitchFamily="49" charset="-122"/>
                <a:ea typeface="楷体" panose="02010609060101010101" pitchFamily="49" charset="-122"/>
              </a:rPr>
              <a:t>可能是一个更好的选择</a:t>
            </a:r>
            <a:endParaRPr lang="en-US" altLang="zh-CN" sz="1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7879103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40</a:t>
            </a:fld>
            <a:endParaRPr lang="en-US" altLang="zh-CN">
              <a:solidFill>
                <a:srgbClr val="FFFFFF"/>
              </a:solidFill>
            </a:endParaRPr>
          </a:p>
        </p:txBody>
      </p:sp>
      <p:sp>
        <p:nvSpPr>
          <p:cNvPr id="6" name="文本框 5"/>
          <p:cNvSpPr txBox="1"/>
          <p:nvPr/>
        </p:nvSpPr>
        <p:spPr>
          <a:xfrm>
            <a:off x="442686" y="452230"/>
            <a:ext cx="7024914" cy="4662815"/>
          </a:xfrm>
          <a:prstGeom prst="rect">
            <a:avLst/>
          </a:prstGeom>
          <a:noFill/>
        </p:spPr>
        <p:txBody>
          <a:bodyPr wrap="square" rtlCol="0">
            <a:spAutoFit/>
          </a:bodyPr>
          <a:lstStyle/>
          <a:p>
            <a:pPr>
              <a:lnSpc>
                <a:spcPct val="150000"/>
              </a:lnSpc>
            </a:pPr>
            <a:r>
              <a:rPr lang="zh-CN" altLang="en-US" sz="1800" dirty="0"/>
              <a:t>设计过程</a:t>
            </a:r>
            <a:r>
              <a:rPr lang="en-US" altLang="zh-CN" sz="1800" dirty="0"/>
              <a:t>3</a:t>
            </a:r>
            <a:r>
              <a:rPr lang="zh-CN" altLang="en-US" sz="1800" dirty="0"/>
              <a:t>，</a:t>
            </a:r>
            <a:r>
              <a:rPr lang="en-US" altLang="zh-CN" sz="1800" dirty="0"/>
              <a:t>VCO</a:t>
            </a:r>
          </a:p>
          <a:p>
            <a:pPr indent="457200">
              <a:lnSpc>
                <a:spcPct val="150000"/>
              </a:lnSpc>
            </a:pPr>
            <a:r>
              <a:rPr lang="en-US" altLang="zh-CN" sz="1800" dirty="0"/>
              <a:t>VCO</a:t>
            </a:r>
            <a:r>
              <a:rPr lang="zh-CN" altLang="en-US" sz="1800" dirty="0"/>
              <a:t>芯片</a:t>
            </a:r>
            <a:r>
              <a:rPr lang="en-US" altLang="zh-CN" sz="1800" dirty="0"/>
              <a:t>MC1648</a:t>
            </a:r>
            <a:r>
              <a:rPr lang="zh-CN" altLang="en-US" sz="1800" dirty="0"/>
              <a:t>需外接变容二极管构成谐振回路。变容二极管的控制电压是前面鉴相器的平均输出电压，最大电压范围为</a:t>
            </a:r>
            <a:r>
              <a:rPr lang="en-US" altLang="zh-CN" sz="1800" dirty="0"/>
              <a:t>0~5V</a:t>
            </a:r>
            <a:r>
              <a:rPr lang="zh-CN" altLang="en-US" sz="1800" dirty="0"/>
              <a:t>。</a:t>
            </a:r>
            <a:r>
              <a:rPr lang="en-US" altLang="zh-CN" sz="1800" dirty="0"/>
              <a:t>VCO</a:t>
            </a:r>
            <a:r>
              <a:rPr lang="zh-CN" altLang="en-US" sz="1800" dirty="0"/>
              <a:t>的输出频率范围必须大于</a:t>
            </a:r>
            <a:r>
              <a:rPr lang="en-US" altLang="zh-CN" sz="1800" dirty="0"/>
              <a:t>90MHz~110MHz</a:t>
            </a:r>
          </a:p>
          <a:p>
            <a:pPr indent="457200">
              <a:lnSpc>
                <a:spcPct val="150000"/>
              </a:lnSpc>
            </a:pPr>
            <a:r>
              <a:rPr lang="zh-CN" altLang="en-US" sz="1800" dirty="0"/>
              <a:t>选取变容二极管</a:t>
            </a:r>
            <a:r>
              <a:rPr lang="en-US" altLang="zh-CN" sz="1800" dirty="0"/>
              <a:t>BB729</a:t>
            </a:r>
            <a:r>
              <a:rPr lang="zh-CN" altLang="en-US" sz="1800" dirty="0"/>
              <a:t>，它可以工作在</a:t>
            </a:r>
            <a:r>
              <a:rPr lang="en-US" altLang="zh-CN" sz="1800" dirty="0"/>
              <a:t>VHF</a:t>
            </a:r>
            <a:r>
              <a:rPr lang="zh-CN" altLang="en-US" sz="1800" dirty="0"/>
              <a:t>频段（</a:t>
            </a:r>
            <a:r>
              <a:rPr lang="en-US" altLang="zh-CN" sz="1800" dirty="0"/>
              <a:t>30MHz~300MHz</a:t>
            </a:r>
            <a:r>
              <a:rPr lang="zh-CN" altLang="en-US" sz="1800" dirty="0"/>
              <a:t>），数据手册提供的容量</a:t>
            </a:r>
            <a:r>
              <a:rPr lang="en-US" altLang="zh-CN" sz="1800" dirty="0"/>
              <a:t>-</a:t>
            </a:r>
            <a:r>
              <a:rPr lang="zh-CN" altLang="en-US" sz="1800" dirty="0"/>
              <a:t>反偏电压特性如右图</a:t>
            </a:r>
            <a:endParaRPr lang="en-US" altLang="zh-CN" sz="1800" dirty="0"/>
          </a:p>
          <a:p>
            <a:pPr indent="457200">
              <a:lnSpc>
                <a:spcPct val="150000"/>
              </a:lnSpc>
            </a:pPr>
            <a:r>
              <a:rPr lang="zh-CN" altLang="en-US" sz="1800" dirty="0"/>
              <a:t>根据此图，当反偏电压为</a:t>
            </a:r>
            <a:r>
              <a:rPr lang="en-US" altLang="zh-CN" sz="1800" dirty="0"/>
              <a:t>1V~4V</a:t>
            </a:r>
            <a:r>
              <a:rPr lang="zh-CN" altLang="en-US" sz="1800" dirty="0"/>
              <a:t>时，容量变化为</a:t>
            </a:r>
            <a:r>
              <a:rPr lang="en-US" altLang="zh-CN" sz="1800" dirty="0"/>
              <a:t>40pF~20pF</a:t>
            </a:r>
            <a:r>
              <a:rPr lang="zh-CN" altLang="en-US" sz="1800" dirty="0"/>
              <a:t>，按照电路中两个二极管头对头串联的接法，谐振电容的容量是</a:t>
            </a:r>
            <a:r>
              <a:rPr lang="en-US" altLang="zh-CN" sz="1800" dirty="0"/>
              <a:t>20pF~10pF</a:t>
            </a:r>
            <a:r>
              <a:rPr lang="zh-CN" altLang="en-US" sz="1800" dirty="0"/>
              <a:t>，变化倍率</a:t>
            </a:r>
            <a:r>
              <a:rPr lang="en-US" altLang="zh-CN" sz="1800" dirty="0"/>
              <a:t>=2</a:t>
            </a:r>
            <a:r>
              <a:rPr lang="zh-CN" altLang="en-US" sz="1800" dirty="0"/>
              <a:t>。构成谐振回路后谐振频率的变化倍率为</a:t>
            </a:r>
            <a:r>
              <a:rPr lang="en-US" altLang="zh-CN" sz="1800" dirty="0"/>
              <a:t>1.4</a:t>
            </a:r>
            <a:r>
              <a:rPr lang="zh-CN" altLang="en-US" sz="1800" dirty="0"/>
              <a:t>，大于题目要求的</a:t>
            </a:r>
            <a:r>
              <a:rPr lang="en-US" altLang="zh-CN" sz="1800" dirty="0"/>
              <a:t>110/90=1.22</a:t>
            </a:r>
            <a:r>
              <a:rPr lang="zh-CN" altLang="en-US" sz="1800" dirty="0"/>
              <a:t>，所以此设计满足题目要求</a:t>
            </a:r>
          </a:p>
          <a:p>
            <a:pPr indent="457200">
              <a:lnSpc>
                <a:spcPct val="150000"/>
              </a:lnSpc>
            </a:pPr>
            <a:endParaRPr lang="en-US" altLang="zh-CN" sz="1800" dirty="0"/>
          </a:p>
        </p:txBody>
      </p:sp>
      <p:pic>
        <p:nvPicPr>
          <p:cNvPr id="5" name="图片 4"/>
          <p:cNvPicPr>
            <a:picLocks noChangeAspect="1"/>
          </p:cNvPicPr>
          <p:nvPr/>
        </p:nvPicPr>
        <p:blipFill>
          <a:blip r:embed="rId2"/>
          <a:stretch>
            <a:fillRect/>
          </a:stretch>
        </p:blipFill>
        <p:spPr>
          <a:xfrm>
            <a:off x="7995196" y="794123"/>
            <a:ext cx="3305144" cy="4401638"/>
          </a:xfrm>
          <a:prstGeom prst="rect">
            <a:avLst/>
          </a:prstGeom>
        </p:spPr>
      </p:pic>
    </p:spTree>
    <p:extLst>
      <p:ext uri="{BB962C8B-B14F-4D97-AF65-F5344CB8AC3E}">
        <p14:creationId xmlns:p14="http://schemas.microsoft.com/office/powerpoint/2010/main" val="11618128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41</a:t>
            </a:fld>
            <a:endParaRPr lang="en-US" altLang="zh-CN">
              <a:solidFill>
                <a:srgbClr val="FFFFFF"/>
              </a:solidFill>
            </a:endParaRPr>
          </a:p>
        </p:txBody>
      </p:sp>
      <p:sp>
        <p:nvSpPr>
          <p:cNvPr id="6" name="文本框 5"/>
          <p:cNvSpPr txBox="1"/>
          <p:nvPr/>
        </p:nvSpPr>
        <p:spPr>
          <a:xfrm>
            <a:off x="529770" y="407863"/>
            <a:ext cx="11205029" cy="5424562"/>
          </a:xfrm>
          <a:prstGeom prst="rect">
            <a:avLst/>
          </a:prstGeom>
          <a:noFill/>
        </p:spPr>
        <p:txBody>
          <a:bodyPr wrap="square" rtlCol="0">
            <a:spAutoFit/>
          </a:bodyPr>
          <a:lstStyle/>
          <a:p>
            <a:pPr indent="457200">
              <a:lnSpc>
                <a:spcPct val="150000"/>
              </a:lnSpc>
            </a:pPr>
            <a:r>
              <a:rPr lang="zh-CN" altLang="en-US" sz="1800" dirty="0"/>
              <a:t>按谐振回路的平均电容为</a:t>
            </a:r>
            <a:r>
              <a:rPr lang="en-US" altLang="zh-CN" sz="1800" dirty="0"/>
              <a:t>15pF</a:t>
            </a:r>
            <a:r>
              <a:rPr lang="zh-CN" altLang="en-US" sz="1800" dirty="0"/>
              <a:t>、频率</a:t>
            </a:r>
            <a:r>
              <a:rPr lang="en-US" altLang="zh-CN" sz="1800" dirty="0"/>
              <a:t>=100MHz</a:t>
            </a:r>
            <a:r>
              <a:rPr lang="zh-CN" altLang="en-US" sz="1800" dirty="0"/>
              <a:t>计算，振荡回路的电感量</a:t>
            </a:r>
            <a:endParaRPr lang="en-US" altLang="zh-CN" sz="1800" dirty="0"/>
          </a:p>
          <a:p>
            <a:pPr indent="457200">
              <a:lnSpc>
                <a:spcPct val="150000"/>
              </a:lnSpc>
            </a:pPr>
            <a:r>
              <a:rPr lang="en-US" altLang="zh-CN" sz="1800" i="1" dirty="0">
                <a:latin typeface="+mn-lt"/>
              </a:rPr>
              <a:t>                                                 </a:t>
            </a:r>
            <a:r>
              <a:rPr lang="en-US" altLang="zh-CN" sz="1800" i="1" dirty="0">
                <a:solidFill>
                  <a:srgbClr val="FF0000"/>
                </a:solidFill>
                <a:latin typeface="+mn-lt"/>
              </a:rPr>
              <a:t>L</a:t>
            </a:r>
            <a:r>
              <a:rPr lang="en-US" altLang="zh-CN" sz="1800" dirty="0">
                <a:solidFill>
                  <a:srgbClr val="FF0000"/>
                </a:solidFill>
                <a:latin typeface="+mn-lt"/>
              </a:rPr>
              <a:t>≈170nH</a:t>
            </a:r>
          </a:p>
          <a:p>
            <a:pPr indent="457200">
              <a:lnSpc>
                <a:spcPct val="150000"/>
              </a:lnSpc>
            </a:pPr>
            <a:r>
              <a:rPr lang="zh-CN" altLang="en-US" sz="1800" dirty="0"/>
              <a:t>实际上由于分布参数的存在，这个数值只能提供大致的参考，具体电感需要在调试中修正。为了调试方便，电感可以采用可调磁芯的结构或者干脆用漆包线绕成空心线圈（例如用直径</a:t>
            </a:r>
            <a:r>
              <a:rPr lang="en-US" altLang="zh-CN" sz="1800" dirty="0"/>
              <a:t>0.62mm</a:t>
            </a:r>
            <a:r>
              <a:rPr lang="zh-CN" altLang="en-US" sz="1800" dirty="0"/>
              <a:t>的漆包线，在直径</a:t>
            </a:r>
            <a:r>
              <a:rPr lang="en-US" altLang="zh-CN" sz="1800" dirty="0"/>
              <a:t>5.2mm</a:t>
            </a:r>
            <a:r>
              <a:rPr lang="zh-CN" altLang="en-US" sz="1800" dirty="0"/>
              <a:t>的某种圆珠笔芯上密绕</a:t>
            </a:r>
            <a:r>
              <a:rPr lang="en-US" altLang="zh-CN" sz="1800" dirty="0"/>
              <a:t>6</a:t>
            </a:r>
            <a:r>
              <a:rPr lang="zh-CN" altLang="en-US" sz="1800" dirty="0"/>
              <a:t>匝后抽出笔芯，其电感量大约是</a:t>
            </a:r>
            <a:r>
              <a:rPr lang="en-US" altLang="zh-CN" sz="1800" dirty="0"/>
              <a:t>180nH</a:t>
            </a:r>
            <a:r>
              <a:rPr lang="zh-CN" altLang="en-US" sz="1800" dirty="0"/>
              <a:t>。拉松些可以减少其电感量，压紧些则可以增加其电感量）</a:t>
            </a:r>
            <a:endParaRPr lang="en-US" altLang="zh-CN" sz="1800" dirty="0"/>
          </a:p>
          <a:p>
            <a:pPr indent="457200">
              <a:lnSpc>
                <a:spcPct val="150000"/>
              </a:lnSpc>
            </a:pPr>
            <a:endParaRPr lang="en-US" altLang="zh-CN" sz="600" dirty="0"/>
          </a:p>
          <a:p>
            <a:pPr indent="457200">
              <a:lnSpc>
                <a:spcPct val="150000"/>
              </a:lnSpc>
            </a:pPr>
            <a:r>
              <a:rPr lang="zh-CN" altLang="en-US" sz="1800" dirty="0"/>
              <a:t>计算</a:t>
            </a:r>
            <a:r>
              <a:rPr lang="en-US" altLang="zh-CN" sz="1800" dirty="0"/>
              <a:t>VCO</a:t>
            </a:r>
            <a:r>
              <a:rPr lang="zh-CN" altLang="en-US" sz="1800" dirty="0"/>
              <a:t>的平均增益：</a:t>
            </a:r>
            <a:endParaRPr lang="en-US" altLang="zh-CN" sz="1800" dirty="0"/>
          </a:p>
          <a:p>
            <a:pPr indent="457200">
              <a:lnSpc>
                <a:spcPct val="150000"/>
              </a:lnSpc>
            </a:pPr>
            <a:endParaRPr lang="en-US" altLang="zh-CN" sz="700" dirty="0">
              <a:latin typeface="+mn-lt"/>
            </a:endParaRPr>
          </a:p>
          <a:p>
            <a:pPr indent="457200">
              <a:lnSpc>
                <a:spcPct val="150000"/>
              </a:lnSpc>
            </a:pPr>
            <a:r>
              <a:rPr lang="zh-CN" altLang="en-US" sz="1800" dirty="0"/>
              <a:t>由                   得</a:t>
            </a:r>
            <a:endParaRPr lang="en-US" altLang="zh-CN" sz="1800" dirty="0"/>
          </a:p>
          <a:p>
            <a:pPr indent="457200">
              <a:lnSpc>
                <a:spcPct val="150000"/>
              </a:lnSpc>
            </a:pPr>
            <a:endParaRPr lang="en-US" altLang="zh-CN" dirty="0"/>
          </a:p>
          <a:p>
            <a:pPr indent="457200">
              <a:lnSpc>
                <a:spcPct val="150000"/>
              </a:lnSpc>
            </a:pPr>
            <a:r>
              <a:rPr lang="zh-CN" altLang="en-US" sz="1800" dirty="0"/>
              <a:t>电压</a:t>
            </a:r>
            <a:r>
              <a:rPr lang="en-US" altLang="zh-CN" sz="1800" dirty="0"/>
              <a:t>1V~4V</a:t>
            </a:r>
            <a:r>
              <a:rPr lang="zh-CN" altLang="en-US" sz="1800" dirty="0"/>
              <a:t>谐振电容</a:t>
            </a:r>
            <a:r>
              <a:rPr lang="en-US" altLang="zh-CN" sz="1800" dirty="0"/>
              <a:t>20pF~10pF</a:t>
            </a:r>
            <a:r>
              <a:rPr lang="zh-CN" altLang="en-US" sz="1800" dirty="0"/>
              <a:t>，所以</a:t>
            </a:r>
            <a:endParaRPr lang="en-US" altLang="zh-CN" sz="1800" dirty="0"/>
          </a:p>
          <a:p>
            <a:pPr indent="457200">
              <a:lnSpc>
                <a:spcPct val="150000"/>
              </a:lnSpc>
            </a:pPr>
            <a:endParaRPr lang="en-US" altLang="zh-CN" sz="1800" dirty="0"/>
          </a:p>
          <a:p>
            <a:pPr indent="457200">
              <a:lnSpc>
                <a:spcPct val="150000"/>
              </a:lnSpc>
            </a:pPr>
            <a:r>
              <a:rPr lang="zh-CN" altLang="en-US" sz="1800" dirty="0"/>
              <a:t>所以</a:t>
            </a:r>
            <a:endParaRPr lang="en-US" altLang="zh-CN" sz="1800" dirty="0"/>
          </a:p>
        </p:txBody>
      </p:sp>
      <p:graphicFrame>
        <p:nvGraphicFramePr>
          <p:cNvPr id="8" name="对象 7"/>
          <p:cNvGraphicFramePr>
            <a:graphicFrameLocks noChangeAspect="1"/>
          </p:cNvGraphicFramePr>
          <p:nvPr>
            <p:extLst>
              <p:ext uri="{D42A27DB-BD31-4B8C-83A1-F6EECF244321}">
                <p14:modId xmlns:p14="http://schemas.microsoft.com/office/powerpoint/2010/main" val="3108801907"/>
              </p:ext>
            </p:extLst>
          </p:nvPr>
        </p:nvGraphicFramePr>
        <p:xfrm>
          <a:off x="1453226" y="3495221"/>
          <a:ext cx="1011237" cy="665162"/>
        </p:xfrm>
        <a:graphic>
          <a:graphicData uri="http://schemas.openxmlformats.org/presentationml/2006/ole">
            <mc:AlternateContent xmlns:mc="http://schemas.openxmlformats.org/markup-compatibility/2006">
              <mc:Choice xmlns:v="urn:schemas-microsoft-com:vml" Requires="v">
                <p:oleObj spid="_x0000_s35986" name="Equation" r:id="rId3" imgW="596880" imgH="393480" progId="Equation.DSMT4">
                  <p:embed/>
                </p:oleObj>
              </mc:Choice>
              <mc:Fallback>
                <p:oleObj name="Equation" r:id="rId3" imgW="596880" imgH="393480" progId="Equation.DSMT4">
                  <p:embed/>
                  <p:pic>
                    <p:nvPicPr>
                      <p:cNvPr id="9" name="对象 8"/>
                      <p:cNvPicPr>
                        <a:picLocks noChangeAspect="1" noChangeArrowheads="1"/>
                      </p:cNvPicPr>
                      <p:nvPr/>
                    </p:nvPicPr>
                    <p:blipFill>
                      <a:blip r:embed="rId4"/>
                      <a:srcRect/>
                      <a:stretch>
                        <a:fillRect/>
                      </a:stretch>
                    </p:blipFill>
                    <p:spPr bwMode="auto">
                      <a:xfrm>
                        <a:off x="1453226" y="3495221"/>
                        <a:ext cx="1011237" cy="665162"/>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955032049"/>
              </p:ext>
            </p:extLst>
          </p:nvPr>
        </p:nvGraphicFramePr>
        <p:xfrm>
          <a:off x="2963171" y="3548302"/>
          <a:ext cx="4343400" cy="644525"/>
        </p:xfrm>
        <a:graphic>
          <a:graphicData uri="http://schemas.openxmlformats.org/presentationml/2006/ole">
            <mc:AlternateContent xmlns:mc="http://schemas.openxmlformats.org/markup-compatibility/2006">
              <mc:Choice xmlns:v="urn:schemas-microsoft-com:vml" Requires="v">
                <p:oleObj spid="_x0000_s35987" name="Equation" r:id="rId5" imgW="2565360" imgH="380880" progId="Equation.DSMT4">
                  <p:embed/>
                </p:oleObj>
              </mc:Choice>
              <mc:Fallback>
                <p:oleObj name="Equation" r:id="rId5" imgW="2565360" imgH="380880" progId="Equation.DSMT4">
                  <p:embed/>
                  <p:pic>
                    <p:nvPicPr>
                      <p:cNvPr id="8" name="对象 7"/>
                      <p:cNvPicPr>
                        <a:picLocks noChangeAspect="1" noChangeArrowheads="1"/>
                      </p:cNvPicPr>
                      <p:nvPr/>
                    </p:nvPicPr>
                    <p:blipFill>
                      <a:blip r:embed="rId6"/>
                      <a:srcRect/>
                      <a:stretch>
                        <a:fillRect/>
                      </a:stretch>
                    </p:blipFill>
                    <p:spPr bwMode="auto">
                      <a:xfrm>
                        <a:off x="2963171" y="3548302"/>
                        <a:ext cx="4343400" cy="644525"/>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732515532"/>
              </p:ext>
            </p:extLst>
          </p:nvPr>
        </p:nvGraphicFramePr>
        <p:xfrm>
          <a:off x="1730112" y="5255159"/>
          <a:ext cx="7031038" cy="687387"/>
        </p:xfrm>
        <a:graphic>
          <a:graphicData uri="http://schemas.openxmlformats.org/presentationml/2006/ole">
            <mc:AlternateContent xmlns:mc="http://schemas.openxmlformats.org/markup-compatibility/2006">
              <mc:Choice xmlns:v="urn:schemas-microsoft-com:vml" Requires="v">
                <p:oleObj spid="_x0000_s35988" name="Equation" r:id="rId7" imgW="4152600" imgH="406080" progId="Equation.DSMT4">
                  <p:embed/>
                </p:oleObj>
              </mc:Choice>
              <mc:Fallback>
                <p:oleObj name="Equation" r:id="rId7" imgW="4152600" imgH="406080" progId="Equation.DSMT4">
                  <p:embed/>
                  <p:pic>
                    <p:nvPicPr>
                      <p:cNvPr id="9" name="对象 8"/>
                      <p:cNvPicPr>
                        <a:picLocks noChangeAspect="1" noChangeArrowheads="1"/>
                      </p:cNvPicPr>
                      <p:nvPr/>
                    </p:nvPicPr>
                    <p:blipFill>
                      <a:blip r:embed="rId8"/>
                      <a:srcRect/>
                      <a:stretch>
                        <a:fillRect/>
                      </a:stretch>
                    </p:blipFill>
                    <p:spPr bwMode="auto">
                      <a:xfrm>
                        <a:off x="1730112" y="5255159"/>
                        <a:ext cx="7031038" cy="687387"/>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697786055"/>
              </p:ext>
            </p:extLst>
          </p:nvPr>
        </p:nvGraphicFramePr>
        <p:xfrm>
          <a:off x="5245631" y="4413069"/>
          <a:ext cx="3633787" cy="708025"/>
        </p:xfrm>
        <a:graphic>
          <a:graphicData uri="http://schemas.openxmlformats.org/presentationml/2006/ole">
            <mc:AlternateContent xmlns:mc="http://schemas.openxmlformats.org/markup-compatibility/2006">
              <mc:Choice xmlns:v="urn:schemas-microsoft-com:vml" Requires="v">
                <p:oleObj spid="_x0000_s35989" name="Equation" r:id="rId9" imgW="2145960" imgH="419040" progId="Equation.DSMT4">
                  <p:embed/>
                </p:oleObj>
              </mc:Choice>
              <mc:Fallback>
                <p:oleObj name="Equation" r:id="rId9" imgW="2145960" imgH="419040" progId="Equation.DSMT4">
                  <p:embed/>
                  <p:pic>
                    <p:nvPicPr>
                      <p:cNvPr id="10" name="对象 9"/>
                      <p:cNvPicPr>
                        <a:picLocks noChangeAspect="1" noChangeArrowheads="1"/>
                      </p:cNvPicPr>
                      <p:nvPr/>
                    </p:nvPicPr>
                    <p:blipFill>
                      <a:blip r:embed="rId10"/>
                      <a:srcRect/>
                      <a:stretch>
                        <a:fillRect/>
                      </a:stretch>
                    </p:blipFill>
                    <p:spPr bwMode="auto">
                      <a:xfrm>
                        <a:off x="5245631" y="4413069"/>
                        <a:ext cx="3633787" cy="708025"/>
                      </a:xfrm>
                      <a:prstGeom prst="rect">
                        <a:avLst/>
                      </a:prstGeom>
                      <a:noFill/>
                    </p:spPr>
                  </p:pic>
                </p:oleObj>
              </mc:Fallback>
            </mc:AlternateContent>
          </a:graphicData>
        </a:graphic>
      </p:graphicFrame>
    </p:spTree>
    <p:extLst>
      <p:ext uri="{BB962C8B-B14F-4D97-AF65-F5344CB8AC3E}">
        <p14:creationId xmlns:p14="http://schemas.microsoft.com/office/powerpoint/2010/main" val="12342825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42</a:t>
            </a:fld>
            <a:endParaRPr lang="en-US" altLang="zh-CN">
              <a:solidFill>
                <a:srgbClr val="FFFFFF"/>
              </a:solidFill>
            </a:endParaRPr>
          </a:p>
        </p:txBody>
      </p:sp>
      <p:sp>
        <p:nvSpPr>
          <p:cNvPr id="6" name="文本框 5"/>
          <p:cNvSpPr txBox="1"/>
          <p:nvPr/>
        </p:nvSpPr>
        <p:spPr>
          <a:xfrm>
            <a:off x="522514" y="467067"/>
            <a:ext cx="11299071" cy="5493812"/>
          </a:xfrm>
          <a:prstGeom prst="rect">
            <a:avLst/>
          </a:prstGeom>
          <a:noFill/>
        </p:spPr>
        <p:txBody>
          <a:bodyPr wrap="square" rtlCol="0">
            <a:spAutoFit/>
          </a:bodyPr>
          <a:lstStyle/>
          <a:p>
            <a:pPr>
              <a:lnSpc>
                <a:spcPct val="150000"/>
              </a:lnSpc>
            </a:pPr>
            <a:r>
              <a:rPr lang="zh-CN" altLang="en-US" sz="1800" dirty="0"/>
              <a:t>设计过程</a:t>
            </a:r>
            <a:r>
              <a:rPr lang="en-US" altLang="zh-CN" sz="1800" dirty="0"/>
              <a:t>4</a:t>
            </a:r>
            <a:r>
              <a:rPr lang="zh-CN" altLang="en-US" sz="1800" dirty="0"/>
              <a:t>，环路滤波器</a:t>
            </a:r>
            <a:endParaRPr lang="en-US" altLang="zh-CN" sz="1800" dirty="0"/>
          </a:p>
          <a:p>
            <a:pPr indent="457200">
              <a:lnSpc>
                <a:spcPct val="150000"/>
              </a:lnSpc>
            </a:pPr>
            <a:r>
              <a:rPr lang="zh-CN" altLang="en-US" sz="1800" dirty="0"/>
              <a:t>环路滤波器的参数确定了锁相环的闭环带宽与阻尼因子，即确定了锁相环的工作状态，包括稳定性、响应速度等。对于频率合成器来说有以下几项</a:t>
            </a:r>
            <a:endParaRPr lang="en-US" altLang="zh-CN" sz="1800" dirty="0"/>
          </a:p>
          <a:p>
            <a:pPr indent="457200">
              <a:lnSpc>
                <a:spcPct val="150000"/>
              </a:lnSpc>
            </a:pPr>
            <a:r>
              <a:rPr lang="zh-CN" altLang="en-US" sz="1800" dirty="0"/>
              <a:t>一、</a:t>
            </a:r>
            <a:r>
              <a:rPr lang="zh-CN" altLang="zh-CN" sz="1800" dirty="0"/>
              <a:t>为了降低锁相环输出的相位抖动，要求锁相环的自然频率远低于输入鉴相器的参考信号频率，大致关系是</a:t>
            </a:r>
            <a:r>
              <a:rPr lang="zh-CN" altLang="en-US" sz="1800" dirty="0"/>
              <a:t>自然频率比参考频率低一个数量级或更多</a:t>
            </a:r>
            <a:endParaRPr lang="en-US" altLang="zh-CN" sz="1800" dirty="0"/>
          </a:p>
          <a:p>
            <a:pPr indent="457200">
              <a:lnSpc>
                <a:spcPct val="150000"/>
              </a:lnSpc>
            </a:pPr>
            <a:r>
              <a:rPr lang="zh-CN" altLang="en-US" sz="1800" dirty="0"/>
              <a:t>二、随着自然频率（闭环带宽）的下降，锁相环的捕捉范围下降，捕捉时间加长。题目要求锁定时间（实际上是捕捉时间）不大于</a:t>
            </a:r>
            <a:r>
              <a:rPr lang="en-US" altLang="zh-CN" sz="1800" dirty="0"/>
              <a:t>1ms</a:t>
            </a:r>
            <a:r>
              <a:rPr lang="zh-CN" altLang="en-US" sz="1800" dirty="0"/>
              <a:t>，设计时需考虑此因素</a:t>
            </a:r>
            <a:endParaRPr lang="en-US" altLang="zh-CN" sz="1800" dirty="0"/>
          </a:p>
          <a:p>
            <a:pPr indent="457200">
              <a:lnSpc>
                <a:spcPct val="150000"/>
              </a:lnSpc>
            </a:pPr>
            <a:r>
              <a:rPr lang="zh-CN" altLang="en-US" sz="1800" dirty="0"/>
              <a:t>设计过程如下：首先根据上述第一条，暂定</a:t>
            </a:r>
            <a:r>
              <a:rPr lang="el-GR" altLang="zh-CN" sz="1800" i="1" dirty="0">
                <a:latin typeface="+mn-lt"/>
              </a:rPr>
              <a:t>ω</a:t>
            </a:r>
            <a:r>
              <a:rPr lang="en-US" altLang="zh-CN" sz="1800" i="1" baseline="-25000" dirty="0">
                <a:latin typeface="+mn-lt"/>
              </a:rPr>
              <a:t>n</a:t>
            </a:r>
            <a:r>
              <a:rPr lang="en-US" altLang="zh-CN" sz="1800" dirty="0">
                <a:latin typeface="+mn-lt"/>
              </a:rPr>
              <a:t>=2</a:t>
            </a:r>
            <a:r>
              <a:rPr lang="el-GR" altLang="zh-CN" sz="1800" dirty="0">
                <a:latin typeface="+mn-lt"/>
                <a:cs typeface="Times New Roman" panose="02020603050405020304" pitchFamily="18" charset="0"/>
              </a:rPr>
              <a:t>π</a:t>
            </a:r>
            <a:r>
              <a:rPr lang="en-US" altLang="zh-CN" sz="1800" dirty="0">
                <a:latin typeface="+mn-lt"/>
                <a:cs typeface="Times New Roman" panose="02020603050405020304" pitchFamily="18" charset="0"/>
              </a:rPr>
              <a:t>×10kHz</a:t>
            </a:r>
            <a:r>
              <a:rPr lang="en-US" altLang="zh-CN" sz="1800" dirty="0">
                <a:latin typeface="Times New Roman" panose="02020603050405020304" pitchFamily="18" charset="0"/>
                <a:cs typeface="Times New Roman" panose="02020603050405020304" pitchFamily="18" charset="0"/>
              </a:rPr>
              <a:t>=6.28×10</a:t>
            </a:r>
            <a:r>
              <a:rPr lang="en-US" altLang="zh-CN" sz="1800" baseline="30000" dirty="0">
                <a:latin typeface="Times New Roman" panose="02020603050405020304" pitchFamily="18" charset="0"/>
                <a:cs typeface="Times New Roman" panose="02020603050405020304" pitchFamily="18" charset="0"/>
              </a:rPr>
              <a:t>4</a:t>
            </a:r>
            <a:r>
              <a:rPr lang="zh-CN" altLang="en-US" sz="1800" dirty="0">
                <a:latin typeface="Times New Roman" panose="02020603050405020304" pitchFamily="18" charset="0"/>
                <a:cs typeface="Times New Roman" panose="02020603050405020304" pitchFamily="18" charset="0"/>
              </a:rPr>
              <a:t>（参考频率为</a:t>
            </a:r>
            <a:r>
              <a:rPr lang="en-US" altLang="zh-CN" sz="1800" dirty="0">
                <a:latin typeface="Times New Roman" panose="02020603050405020304" pitchFamily="18" charset="0"/>
                <a:cs typeface="Times New Roman" panose="02020603050405020304" pitchFamily="18" charset="0"/>
              </a:rPr>
              <a:t>100kHz</a:t>
            </a:r>
            <a:r>
              <a:rPr lang="zh-CN" altLang="en-US" sz="1800" dirty="0">
                <a:latin typeface="Times New Roman" panose="02020603050405020304" pitchFamily="18" charset="0"/>
                <a:cs typeface="Times New Roman" panose="02020603050405020304" pitchFamily="18" charset="0"/>
              </a:rPr>
              <a:t>，取其十分之一），阻尼因子按常规取</a:t>
            </a:r>
            <a:r>
              <a:rPr lang="en-US" altLang="zh-CN" sz="1800" dirty="0">
                <a:latin typeface="Times New Roman" panose="02020603050405020304" pitchFamily="18" charset="0"/>
                <a:cs typeface="Times New Roman" panose="02020603050405020304" pitchFamily="18" charset="0"/>
              </a:rPr>
              <a:t>0.7</a:t>
            </a:r>
          </a:p>
          <a:p>
            <a:pPr indent="457200">
              <a:lnSpc>
                <a:spcPct val="150000"/>
              </a:lnSpc>
            </a:pPr>
            <a:r>
              <a:rPr lang="zh-CN" altLang="en-US" sz="1800" dirty="0">
                <a:latin typeface="Times New Roman" panose="02020603050405020304" pitchFamily="18" charset="0"/>
                <a:cs typeface="Times New Roman" panose="02020603050405020304" pitchFamily="18" charset="0"/>
              </a:rPr>
              <a:t>然后考虑锁相环的暂态过程</a:t>
            </a:r>
            <a:endParaRPr lang="en-US" altLang="zh-CN" sz="1800" dirty="0">
              <a:latin typeface="Times New Roman" panose="02020603050405020304" pitchFamily="18" charset="0"/>
              <a:cs typeface="Times New Roman" panose="02020603050405020304" pitchFamily="18" charset="0"/>
            </a:endParaRPr>
          </a:p>
          <a:p>
            <a:pPr indent="457200">
              <a:lnSpc>
                <a:spcPct val="150000"/>
              </a:lnSpc>
            </a:pPr>
            <a:r>
              <a:rPr lang="zh-CN" altLang="en-US" sz="1800" dirty="0">
                <a:latin typeface="Times New Roman" panose="02020603050405020304" pitchFamily="18" charset="0"/>
                <a:cs typeface="Times New Roman" panose="02020603050405020304" pitchFamily="18" charset="0"/>
              </a:rPr>
              <a:t>锁相环频率合成器通过改变反馈系数换频，在频率改变过程中反馈到鉴相器的信号频率有一个突变，所以在换频的瞬间一定处于失锁状态，要考虑的是失锁后是否能够恢复锁定以及需要的时间，即捕捉范围与捕捉时间</a:t>
            </a:r>
            <a:endParaRPr lang="en-US" altLang="zh-CN" sz="1800" dirty="0"/>
          </a:p>
        </p:txBody>
      </p:sp>
    </p:spTree>
    <p:extLst>
      <p:ext uri="{BB962C8B-B14F-4D97-AF65-F5344CB8AC3E}">
        <p14:creationId xmlns:p14="http://schemas.microsoft.com/office/powerpoint/2010/main" val="12859734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43</a:t>
            </a:fld>
            <a:endParaRPr lang="en-US" altLang="zh-CN">
              <a:solidFill>
                <a:srgbClr val="FFFFFF"/>
              </a:solidFill>
            </a:endParaRPr>
          </a:p>
        </p:txBody>
      </p:sp>
      <p:sp>
        <p:nvSpPr>
          <p:cNvPr id="6" name="文本框 5"/>
          <p:cNvSpPr txBox="1"/>
          <p:nvPr/>
        </p:nvSpPr>
        <p:spPr>
          <a:xfrm>
            <a:off x="457200" y="526274"/>
            <a:ext cx="11306629" cy="1427250"/>
          </a:xfrm>
          <a:prstGeom prst="rect">
            <a:avLst/>
          </a:prstGeom>
          <a:noFill/>
        </p:spPr>
        <p:txBody>
          <a:bodyPr wrap="square" rtlCol="0">
            <a:spAutoFit/>
          </a:bodyPr>
          <a:lstStyle/>
          <a:p>
            <a:pPr indent="457200">
              <a:lnSpc>
                <a:spcPct val="150000"/>
              </a:lnSpc>
            </a:pPr>
            <a:r>
              <a:rPr lang="zh-CN" altLang="en-US" sz="1800" dirty="0">
                <a:latin typeface="Times New Roman" panose="02020603050405020304" pitchFamily="18" charset="0"/>
                <a:cs typeface="Times New Roman" panose="02020603050405020304" pitchFamily="18" charset="0"/>
              </a:rPr>
              <a:t>本设计中采用了</a:t>
            </a:r>
            <a:r>
              <a:rPr lang="en-US" altLang="zh-CN" sz="1800" dirty="0">
                <a:latin typeface="Times New Roman" panose="02020603050405020304" pitchFamily="18" charset="0"/>
                <a:cs typeface="Times New Roman" panose="02020603050405020304" pitchFamily="18" charset="0"/>
              </a:rPr>
              <a:t>PFD</a:t>
            </a:r>
            <a:r>
              <a:rPr lang="zh-CN" altLang="en-US" sz="1800" dirty="0">
                <a:latin typeface="Times New Roman" panose="02020603050405020304" pitchFamily="18" charset="0"/>
                <a:cs typeface="Times New Roman" panose="02020603050405020304" pitchFamily="18" charset="0"/>
              </a:rPr>
              <a:t>以及超前滞后环路滤波器，因此捕捉范围仅受限于</a:t>
            </a:r>
            <a:r>
              <a:rPr lang="en-US" altLang="zh-CN" sz="1800" dirty="0">
                <a:latin typeface="Times New Roman" panose="02020603050405020304" pitchFamily="18" charset="0"/>
                <a:cs typeface="Times New Roman" panose="02020603050405020304" pitchFamily="18" charset="0"/>
              </a:rPr>
              <a:t>VCO</a:t>
            </a:r>
            <a:r>
              <a:rPr lang="zh-CN" altLang="en-US" sz="1800" dirty="0">
                <a:latin typeface="Times New Roman" panose="02020603050405020304" pitchFamily="18" charset="0"/>
                <a:cs typeface="Times New Roman" panose="02020603050405020304" pitchFamily="18" charset="0"/>
              </a:rPr>
              <a:t>的可控振荡频率范围（见</a:t>
            </a:r>
            <a:r>
              <a:rPr lang="en-US" altLang="zh-CN" sz="1800" dirty="0">
                <a:latin typeface="Times New Roman" panose="02020603050405020304" pitchFamily="18" charset="0"/>
                <a:cs typeface="Times New Roman" panose="02020603050405020304" pitchFamily="18" charset="0"/>
              </a:rPr>
              <a:t>17</a:t>
            </a:r>
            <a:r>
              <a:rPr lang="zh-CN" altLang="en-US" sz="1800" dirty="0">
                <a:latin typeface="Times New Roman" panose="02020603050405020304" pitchFamily="18" charset="0"/>
                <a:cs typeface="Times New Roman" panose="02020603050405020304" pitchFamily="18" charset="0"/>
              </a:rPr>
              <a:t>页的表），前面</a:t>
            </a:r>
            <a:r>
              <a:rPr lang="en-US" altLang="zh-CN" sz="1800" dirty="0">
                <a:latin typeface="Times New Roman" panose="02020603050405020304" pitchFamily="18" charset="0"/>
                <a:cs typeface="Times New Roman" panose="02020603050405020304" pitchFamily="18" charset="0"/>
              </a:rPr>
              <a:t>VCO</a:t>
            </a:r>
            <a:r>
              <a:rPr lang="zh-CN" altLang="en-US" sz="1800" dirty="0">
                <a:latin typeface="Times New Roman" panose="02020603050405020304" pitchFamily="18" charset="0"/>
                <a:cs typeface="Times New Roman" panose="02020603050405020304" pitchFamily="18" charset="0"/>
              </a:rPr>
              <a:t>的设计中已经保证了其频率范围大于整个频率合成器的输出频率范围，因此捕捉范围没问题</a:t>
            </a:r>
            <a:endParaRPr lang="en-US" altLang="zh-CN" sz="1800" dirty="0">
              <a:latin typeface="Times New Roman" panose="02020603050405020304" pitchFamily="18" charset="0"/>
              <a:cs typeface="Times New Roman" panose="02020603050405020304" pitchFamily="18" charset="0"/>
            </a:endParaRPr>
          </a:p>
          <a:p>
            <a:pPr indent="457200">
              <a:lnSpc>
                <a:spcPct val="150000"/>
              </a:lnSpc>
            </a:pPr>
            <a:endParaRPr lang="en-US" altLang="zh-CN" sz="600" dirty="0">
              <a:latin typeface="Times New Roman" panose="02020603050405020304" pitchFamily="18" charset="0"/>
              <a:cs typeface="Times New Roman" panose="02020603050405020304" pitchFamily="18" charset="0"/>
            </a:endParaRPr>
          </a:p>
          <a:p>
            <a:pPr indent="457200">
              <a:lnSpc>
                <a:spcPct val="150000"/>
              </a:lnSpc>
            </a:pPr>
            <a:r>
              <a:rPr lang="zh-CN" altLang="en-US" sz="1800" dirty="0">
                <a:latin typeface="Times New Roman" panose="02020603050405020304" pitchFamily="18" charset="0"/>
                <a:cs typeface="Times New Roman" panose="02020603050405020304" pitchFamily="18" charset="0"/>
              </a:rPr>
              <a:t>捕捉时间为                                      ，下面计算其中各参数</a:t>
            </a:r>
            <a:endParaRPr lang="en-US" altLang="zh-CN"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1734849604"/>
              </p:ext>
            </p:extLst>
          </p:nvPr>
        </p:nvGraphicFramePr>
        <p:xfrm>
          <a:off x="2376489" y="2679910"/>
          <a:ext cx="5538787" cy="817562"/>
        </p:xfrm>
        <a:graphic>
          <a:graphicData uri="http://schemas.openxmlformats.org/presentationml/2006/ole">
            <mc:AlternateContent xmlns:mc="http://schemas.openxmlformats.org/markup-compatibility/2006">
              <mc:Choice xmlns:v="urn:schemas-microsoft-com:vml" Requires="v">
                <p:oleObj spid="_x0000_s36943" name="Equation" r:id="rId3" imgW="3009600" imgH="444240" progId="Equation.DSMT4">
                  <p:embed/>
                </p:oleObj>
              </mc:Choice>
              <mc:Fallback>
                <p:oleObj name="Equation" r:id="rId3" imgW="3009600" imgH="444240" progId="Equation.DSMT4">
                  <p:embed/>
                  <p:pic>
                    <p:nvPicPr>
                      <p:cNvPr id="7" name="对象 6"/>
                      <p:cNvPicPr>
                        <a:picLocks noChangeAspect="1" noChangeArrowheads="1"/>
                      </p:cNvPicPr>
                      <p:nvPr/>
                    </p:nvPicPr>
                    <p:blipFill>
                      <a:blip r:embed="rId4"/>
                      <a:srcRect/>
                      <a:stretch>
                        <a:fillRect/>
                      </a:stretch>
                    </p:blipFill>
                    <p:spPr bwMode="auto">
                      <a:xfrm>
                        <a:off x="2376489" y="2679910"/>
                        <a:ext cx="5538787" cy="817562"/>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711617457"/>
              </p:ext>
            </p:extLst>
          </p:nvPr>
        </p:nvGraphicFramePr>
        <p:xfrm>
          <a:off x="2230521" y="1432802"/>
          <a:ext cx="2151576" cy="1041444"/>
        </p:xfrm>
        <a:graphic>
          <a:graphicData uri="http://schemas.openxmlformats.org/presentationml/2006/ole">
            <mc:AlternateContent xmlns:mc="http://schemas.openxmlformats.org/markup-compatibility/2006">
              <mc:Choice xmlns:v="urn:schemas-microsoft-com:vml" Requires="v">
                <p:oleObj spid="_x0000_s36944" name="Equation" r:id="rId5" imgW="990360" imgH="482400" progId="Equation.DSMT4">
                  <p:embed/>
                </p:oleObj>
              </mc:Choice>
              <mc:Fallback>
                <p:oleObj name="Equation" r:id="rId5" imgW="990360" imgH="482400" progId="Equation.DSMT4">
                  <p:embed/>
                  <p:pic>
                    <p:nvPicPr>
                      <p:cNvPr id="9" name="对象 8"/>
                      <p:cNvPicPr>
                        <a:picLocks noChangeAspect="1" noChangeArrowheads="1"/>
                      </p:cNvPicPr>
                      <p:nvPr/>
                    </p:nvPicPr>
                    <p:blipFill>
                      <a:blip r:embed="rId6"/>
                      <a:srcRect/>
                      <a:stretch>
                        <a:fillRect/>
                      </a:stretch>
                    </p:blipFill>
                    <p:spPr bwMode="auto">
                      <a:xfrm>
                        <a:off x="2230521" y="1432802"/>
                        <a:ext cx="2151576" cy="1041444"/>
                      </a:xfrm>
                      <a:prstGeom prst="rect">
                        <a:avLst/>
                      </a:prstGeom>
                      <a:noFill/>
                    </p:spPr>
                  </p:pic>
                </p:oleObj>
              </mc:Fallback>
            </mc:AlternateContent>
          </a:graphicData>
        </a:graphic>
      </p:graphicFrame>
      <p:sp>
        <p:nvSpPr>
          <p:cNvPr id="5" name="文本框 4"/>
          <p:cNvSpPr txBox="1"/>
          <p:nvPr/>
        </p:nvSpPr>
        <p:spPr>
          <a:xfrm>
            <a:off x="457200" y="3649873"/>
            <a:ext cx="11364385" cy="2169825"/>
          </a:xfrm>
          <a:prstGeom prst="rect">
            <a:avLst/>
          </a:prstGeom>
          <a:noFill/>
        </p:spPr>
        <p:txBody>
          <a:bodyPr wrap="square" rtlCol="0">
            <a:spAutoFit/>
          </a:bodyPr>
          <a:lstStyle/>
          <a:p>
            <a:pPr marL="0" lvl="1" indent="457200">
              <a:lnSpc>
                <a:spcPct val="150000"/>
              </a:lnSpc>
            </a:pPr>
            <a:r>
              <a:rPr lang="zh-CN" altLang="en-US" sz="1800" dirty="0"/>
              <a:t>已知</a:t>
            </a:r>
            <a:r>
              <a:rPr lang="en-US" altLang="zh-CN" sz="1800" dirty="0">
                <a:latin typeface="+mn-lt"/>
              </a:rPr>
              <a:t>PFD</a:t>
            </a:r>
            <a:r>
              <a:rPr lang="zh-CN" altLang="en-US" sz="1800" dirty="0"/>
              <a:t>增益</a:t>
            </a:r>
            <a:r>
              <a:rPr lang="en-US" altLang="zh-CN" sz="1800" i="1" dirty="0" err="1">
                <a:latin typeface="+mn-lt"/>
              </a:rPr>
              <a:t>K</a:t>
            </a:r>
            <a:r>
              <a:rPr lang="en-US" altLang="zh-CN" sz="1800" i="1" baseline="-25000" dirty="0" err="1">
                <a:latin typeface="+mn-lt"/>
              </a:rPr>
              <a:t>d</a:t>
            </a:r>
            <a:r>
              <a:rPr lang="en-US" altLang="zh-CN" sz="1800" dirty="0">
                <a:latin typeface="+mn-lt"/>
              </a:rPr>
              <a:t>=V</a:t>
            </a:r>
            <a:r>
              <a:rPr lang="en-US" altLang="zh-CN" sz="1800" baseline="-25000" dirty="0">
                <a:latin typeface="+mn-lt"/>
              </a:rPr>
              <a:t>H</a:t>
            </a:r>
            <a:r>
              <a:rPr lang="en-US" altLang="zh-CN" sz="1800" dirty="0">
                <a:latin typeface="+mn-lt"/>
              </a:rPr>
              <a:t>/4</a:t>
            </a:r>
            <a:r>
              <a:rPr lang="el-GR" altLang="zh-CN" sz="1800" dirty="0">
                <a:latin typeface="+mn-lt"/>
                <a:cs typeface="Times New Roman" panose="02020603050405020304" pitchFamily="18" charset="0"/>
              </a:rPr>
              <a:t>π</a:t>
            </a:r>
            <a:r>
              <a:rPr lang="en-US" altLang="zh-CN" sz="1800" dirty="0">
                <a:latin typeface="Times New Roman" panose="02020603050405020304" pitchFamily="18" charset="0"/>
                <a:cs typeface="Times New Roman" panose="02020603050405020304" pitchFamily="18" charset="0"/>
              </a:rPr>
              <a:t> =5/4</a:t>
            </a:r>
            <a:r>
              <a:rPr lang="el-GR" altLang="zh-CN" sz="1800" dirty="0">
                <a:latin typeface="Times New Roman" panose="02020603050405020304" pitchFamily="18" charset="0"/>
                <a:cs typeface="Times New Roman" panose="02020603050405020304" pitchFamily="18" charset="0"/>
              </a:rPr>
              <a:t>π</a:t>
            </a:r>
            <a:r>
              <a:rPr lang="en-US" altLang="zh-CN" sz="1800" dirty="0">
                <a:latin typeface="Times New Roman" panose="02020603050405020304" pitchFamily="18" charset="0"/>
                <a:cs typeface="Times New Roman" panose="02020603050405020304" pitchFamily="18" charset="0"/>
              </a:rPr>
              <a:t> =0.4 (V/rad)</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VCO</a:t>
            </a:r>
            <a:r>
              <a:rPr lang="zh-CN" altLang="en-US" sz="1800" dirty="0">
                <a:latin typeface="Times New Roman" panose="02020603050405020304" pitchFamily="18" charset="0"/>
                <a:cs typeface="Times New Roman" panose="02020603050405020304" pitchFamily="18" charset="0"/>
              </a:rPr>
              <a:t>增益</a:t>
            </a:r>
            <a:r>
              <a:rPr lang="en-US" altLang="zh-CN" sz="1800" i="1" dirty="0" err="1">
                <a:latin typeface="Times New Roman" panose="02020603050405020304" pitchFamily="18" charset="0"/>
                <a:cs typeface="Times New Roman" panose="02020603050405020304" pitchFamily="18" charset="0"/>
              </a:rPr>
              <a:t>K</a:t>
            </a:r>
            <a:r>
              <a:rPr lang="en-US" altLang="zh-CN" sz="1800" i="1" baseline="-25000" dirty="0" err="1">
                <a:latin typeface="Times New Roman" panose="02020603050405020304" pitchFamily="18" charset="0"/>
                <a:cs typeface="Times New Roman" panose="02020603050405020304" pitchFamily="18" charset="0"/>
              </a:rPr>
              <a:t>o</a:t>
            </a:r>
            <a:r>
              <a:rPr lang="en-US" altLang="zh-CN" sz="1800" dirty="0">
                <a:latin typeface="Times New Roman" panose="02020603050405020304" pitchFamily="18" charset="0"/>
                <a:cs typeface="Times New Roman" panose="02020603050405020304" pitchFamily="18" charset="0"/>
              </a:rPr>
              <a:t>=6.7×10</a:t>
            </a:r>
            <a:r>
              <a:rPr lang="en-US" altLang="zh-CN" sz="1800" baseline="30000" dirty="0">
                <a:latin typeface="Times New Roman" panose="02020603050405020304" pitchFamily="18" charset="0"/>
                <a:cs typeface="Times New Roman" panose="02020603050405020304" pitchFamily="18" charset="0"/>
              </a:rPr>
              <a:t>7</a:t>
            </a:r>
            <a:r>
              <a:rPr lang="en-US" altLang="zh-CN" sz="1800" dirty="0">
                <a:latin typeface="Times New Roman" panose="02020603050405020304" pitchFamily="18" charset="0"/>
                <a:cs typeface="Times New Roman" panose="02020603050405020304" pitchFamily="18" charset="0"/>
              </a:rPr>
              <a:t> (rad/</a:t>
            </a:r>
            <a:r>
              <a:rPr lang="en-US" altLang="zh-CN" sz="1800" dirty="0" err="1">
                <a:latin typeface="Times New Roman" panose="02020603050405020304" pitchFamily="18" charset="0"/>
                <a:cs typeface="Times New Roman" panose="02020603050405020304" pitchFamily="18" charset="0"/>
              </a:rPr>
              <a:t>secV</a:t>
            </a:r>
            <a:r>
              <a:rPr lang="en-US" altLang="zh-CN" sz="1800" dirty="0">
                <a:latin typeface="Times New Roman" panose="02020603050405020304" pitchFamily="18" charset="0"/>
                <a:cs typeface="Times New Roman" panose="02020603050405020304" pitchFamily="18" charset="0"/>
              </a:rPr>
              <a:t>)</a:t>
            </a:r>
            <a:r>
              <a:rPr lang="zh-CN" altLang="en-US" sz="1800" dirty="0">
                <a:latin typeface="Times New Roman" panose="02020603050405020304" pitchFamily="18" charset="0"/>
                <a:cs typeface="Times New Roman" panose="02020603050405020304" pitchFamily="18" charset="0"/>
              </a:rPr>
              <a:t>，分频</a:t>
            </a:r>
            <a:r>
              <a:rPr lang="zh-CN" altLang="en-US" sz="1800" dirty="0" smtClean="0">
                <a:latin typeface="Times New Roman" panose="02020603050405020304" pitchFamily="18" charset="0"/>
                <a:cs typeface="Times New Roman" panose="02020603050405020304" pitchFamily="18" charset="0"/>
              </a:rPr>
              <a:t>系数               </a:t>
            </a:r>
            <a:r>
              <a:rPr lang="en-US" altLang="zh-CN" sz="1800" i="1" dirty="0" smtClean="0">
                <a:latin typeface="Times New Roman" panose="02020603050405020304" pitchFamily="18" charset="0"/>
                <a:cs typeface="Times New Roman" panose="02020603050405020304" pitchFamily="18" charset="0"/>
              </a:rPr>
              <a:t>N</a:t>
            </a:r>
            <a:r>
              <a:rPr lang="en-US" altLang="zh-CN" sz="1800" dirty="0" smtClean="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90~110)MHz/100kHz = 900~1100</a:t>
            </a:r>
            <a:r>
              <a:rPr lang="zh-CN" altLang="en-US" sz="1800" dirty="0">
                <a:latin typeface="Times New Roman" panose="02020603050405020304" pitchFamily="18" charset="0"/>
                <a:cs typeface="Times New Roman" panose="02020603050405020304" pitchFamily="18" charset="0"/>
              </a:rPr>
              <a:t>，取中间值</a:t>
            </a:r>
            <a:r>
              <a:rPr lang="en-US" altLang="zh-CN" sz="1800" dirty="0">
                <a:latin typeface="Times New Roman" panose="02020603050405020304" pitchFamily="18" charset="0"/>
                <a:cs typeface="Times New Roman" panose="02020603050405020304" pitchFamily="18" charset="0"/>
              </a:rPr>
              <a:t>1000</a:t>
            </a:r>
            <a:r>
              <a:rPr lang="zh-CN" altLang="en-US" sz="1800" dirty="0">
                <a:latin typeface="Times New Roman" panose="02020603050405020304" pitchFamily="18" charset="0"/>
                <a:cs typeface="Times New Roman" panose="02020603050405020304" pitchFamily="18" charset="0"/>
              </a:rPr>
              <a:t>后 </a:t>
            </a:r>
            <a:r>
              <a:rPr lang="en-US" altLang="zh-CN" sz="1800" i="1" dirty="0">
                <a:latin typeface="Times New Roman" panose="02020603050405020304" pitchFamily="18" charset="0"/>
                <a:cs typeface="Times New Roman" panose="02020603050405020304" pitchFamily="18" charset="0"/>
              </a:rPr>
              <a:t>K</a:t>
            </a:r>
            <a:r>
              <a:rPr lang="en-US" altLang="zh-CN" sz="1800" dirty="0">
                <a:latin typeface="Times New Roman" panose="02020603050405020304" pitchFamily="18" charset="0"/>
                <a:cs typeface="Times New Roman" panose="02020603050405020304" pitchFamily="18" charset="0"/>
              </a:rPr>
              <a:t>=2.65×10</a:t>
            </a:r>
            <a:r>
              <a:rPr lang="en-US" altLang="zh-CN" sz="1800" baseline="30000" dirty="0">
                <a:latin typeface="Times New Roman" panose="02020603050405020304" pitchFamily="18" charset="0"/>
                <a:cs typeface="Times New Roman" panose="02020603050405020304" pitchFamily="18" charset="0"/>
              </a:rPr>
              <a:t>4</a:t>
            </a:r>
            <a:r>
              <a:rPr lang="zh-CN" altLang="en-US" sz="1800" dirty="0">
                <a:latin typeface="Times New Roman" panose="02020603050405020304" pitchFamily="18" charset="0"/>
                <a:cs typeface="Times New Roman" panose="02020603050405020304" pitchFamily="18" charset="0"/>
              </a:rPr>
              <a:t>。再将</a:t>
            </a:r>
            <a:r>
              <a:rPr lang="el-GR" altLang="zh-CN" sz="1800" i="1" dirty="0"/>
              <a:t>ω</a:t>
            </a:r>
            <a:r>
              <a:rPr lang="en-US" altLang="zh-CN" sz="1800" i="1" baseline="-25000" dirty="0"/>
              <a:t>n</a:t>
            </a:r>
            <a:r>
              <a:rPr lang="en-US" altLang="zh-CN" sz="1800" dirty="0">
                <a:latin typeface="Times New Roman" panose="02020603050405020304" pitchFamily="18" charset="0"/>
                <a:cs typeface="Times New Roman" panose="02020603050405020304" pitchFamily="18" charset="0"/>
              </a:rPr>
              <a:t>=6.28×10</a:t>
            </a:r>
            <a:r>
              <a:rPr lang="en-US" altLang="zh-CN" sz="1800" baseline="30000" dirty="0">
                <a:latin typeface="Times New Roman" panose="02020603050405020304" pitchFamily="18" charset="0"/>
                <a:cs typeface="Times New Roman" panose="02020603050405020304" pitchFamily="18" charset="0"/>
              </a:rPr>
              <a:t>4</a:t>
            </a:r>
            <a:r>
              <a:rPr lang="zh-CN" altLang="en-US" sz="1800" dirty="0">
                <a:latin typeface="Times New Roman" panose="02020603050405020304" pitchFamily="18" charset="0"/>
                <a:cs typeface="Times New Roman" panose="02020603050405020304" pitchFamily="18" charset="0"/>
              </a:rPr>
              <a:t>代入，得</a:t>
            </a:r>
            <a:r>
              <a:rPr lang="en-US" altLang="zh-CN" sz="1800" dirty="0">
                <a:latin typeface="Times New Roman" panose="02020603050405020304" pitchFamily="18" charset="0"/>
                <a:cs typeface="Times New Roman" panose="02020603050405020304" pitchFamily="18" charset="0"/>
              </a:rPr>
              <a:t>(</a:t>
            </a:r>
            <a:r>
              <a:rPr lang="el-GR" altLang="zh-CN" sz="1800" dirty="0">
                <a:latin typeface="Times New Roman" panose="02020603050405020304" pitchFamily="18" charset="0"/>
                <a:cs typeface="Times New Roman" panose="02020603050405020304" pitchFamily="18" charset="0"/>
              </a:rPr>
              <a:t>τ</a:t>
            </a:r>
            <a:r>
              <a:rPr lang="en-US" altLang="zh-CN" sz="1800" dirty="0">
                <a:latin typeface="Times New Roman" panose="02020603050405020304" pitchFamily="18" charset="0"/>
                <a:cs typeface="Times New Roman" panose="02020603050405020304" pitchFamily="18" charset="0"/>
              </a:rPr>
              <a:t>1+</a:t>
            </a:r>
            <a:r>
              <a:rPr lang="el-GR" altLang="zh-CN" sz="1800" dirty="0">
                <a:latin typeface="Times New Roman" panose="02020603050405020304" pitchFamily="18" charset="0"/>
                <a:cs typeface="Times New Roman" panose="02020603050405020304" pitchFamily="18" charset="0"/>
              </a:rPr>
              <a:t>τ</a:t>
            </a:r>
            <a:r>
              <a:rPr lang="en-US" altLang="zh-CN" sz="1800" dirty="0">
                <a:latin typeface="Times New Roman" panose="02020603050405020304" pitchFamily="18" charset="0"/>
                <a:cs typeface="Times New Roman" panose="02020603050405020304" pitchFamily="18" charset="0"/>
              </a:rPr>
              <a:t>2)=6.7</a:t>
            </a:r>
            <a:r>
              <a:rPr lang="el-GR" altLang="zh-CN" sz="1800" dirty="0">
                <a:latin typeface="Times New Roman" panose="02020603050405020304" pitchFamily="18" charset="0"/>
                <a:cs typeface="Times New Roman" panose="02020603050405020304" pitchFamily="18" charset="0"/>
              </a:rPr>
              <a:t>μ</a:t>
            </a:r>
            <a:r>
              <a:rPr lang="en-US" altLang="zh-CN" sz="1800" dirty="0">
                <a:latin typeface="Times New Roman" panose="02020603050405020304" pitchFamily="18" charset="0"/>
                <a:cs typeface="Times New Roman" panose="02020603050405020304" pitchFamily="18" charset="0"/>
              </a:rPr>
              <a:t>s</a:t>
            </a:r>
          </a:p>
          <a:p>
            <a:pPr marL="0" lvl="1" indent="457200">
              <a:lnSpc>
                <a:spcPct val="150000"/>
              </a:lnSpc>
            </a:pPr>
            <a:r>
              <a:rPr lang="zh-CN" altLang="en-US" sz="1800" dirty="0"/>
              <a:t>由于此时间常数极小，所以即使输入鉴相器的初始频差</a:t>
            </a:r>
            <a:r>
              <a:rPr lang="el-GR" altLang="zh-CN" sz="1800" i="1" dirty="0">
                <a:latin typeface="+mn-lt"/>
              </a:rPr>
              <a:t>Δω</a:t>
            </a:r>
            <a:r>
              <a:rPr lang="en-US" altLang="zh-CN" sz="1800" baseline="-25000" dirty="0">
                <a:latin typeface="+mn-lt"/>
              </a:rPr>
              <a:t>0</a:t>
            </a:r>
            <a:r>
              <a:rPr lang="en-US" altLang="zh-CN" sz="1800" dirty="0">
                <a:latin typeface="+mn-lt"/>
              </a:rPr>
              <a:t>=2</a:t>
            </a:r>
            <a:r>
              <a:rPr lang="el-GR" altLang="zh-CN" sz="1800" dirty="0">
                <a:latin typeface="+mn-lt"/>
                <a:cs typeface="Times New Roman" panose="02020603050405020304" pitchFamily="18" charset="0"/>
              </a:rPr>
              <a:t>π</a:t>
            </a:r>
            <a:r>
              <a:rPr lang="en-US" altLang="zh-CN" sz="1800" dirty="0">
                <a:latin typeface="+mn-lt"/>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20MHz</a:t>
            </a:r>
            <a:r>
              <a:rPr lang="zh-CN" altLang="en-US" sz="1800" dirty="0">
                <a:latin typeface="Times New Roman" panose="02020603050405020304" pitchFamily="18" charset="0"/>
                <a:cs typeface="Times New Roman" panose="02020603050405020304" pitchFamily="18" charset="0"/>
              </a:rPr>
              <a:t>（相当于频率从</a:t>
            </a:r>
            <a:r>
              <a:rPr lang="en-US" altLang="zh-CN" sz="1800" dirty="0">
                <a:latin typeface="Times New Roman" panose="02020603050405020304" pitchFamily="18" charset="0"/>
                <a:cs typeface="Times New Roman" panose="02020603050405020304" pitchFamily="18" charset="0"/>
              </a:rPr>
              <a:t>90MHz</a:t>
            </a:r>
            <a:r>
              <a:rPr lang="zh-CN" altLang="en-US" sz="1800" dirty="0">
                <a:latin typeface="Times New Roman" panose="02020603050405020304" pitchFamily="18" charset="0"/>
                <a:cs typeface="Times New Roman" panose="02020603050405020304" pitchFamily="18" charset="0"/>
              </a:rPr>
              <a:t>直接跳到</a:t>
            </a:r>
            <a:r>
              <a:rPr lang="en-US" altLang="zh-CN" sz="1800" dirty="0">
                <a:latin typeface="Times New Roman" panose="02020603050405020304" pitchFamily="18" charset="0"/>
                <a:cs typeface="Times New Roman" panose="02020603050405020304" pitchFamily="18" charset="0"/>
              </a:rPr>
              <a:t>110MHz</a:t>
            </a:r>
            <a:r>
              <a:rPr lang="zh-CN" altLang="en-US" sz="1800" dirty="0">
                <a:latin typeface="Times New Roman" panose="02020603050405020304" pitchFamily="18" charset="0"/>
                <a:cs typeface="Times New Roman" panose="02020603050405020304" pitchFamily="18" charset="0"/>
              </a:rPr>
              <a:t>），捕捉时间也不到</a:t>
            </a:r>
            <a:r>
              <a:rPr lang="en-US" altLang="zh-CN" sz="1800" dirty="0">
                <a:latin typeface="Times New Roman" panose="02020603050405020304" pitchFamily="18" charset="0"/>
                <a:cs typeface="Times New Roman" panose="02020603050405020304" pitchFamily="18" charset="0"/>
              </a:rPr>
              <a:t>20</a:t>
            </a:r>
            <a:r>
              <a:rPr lang="el-GR" altLang="zh-CN" sz="1800" dirty="0">
                <a:latin typeface="Times New Roman" panose="02020603050405020304" pitchFamily="18" charset="0"/>
                <a:cs typeface="Times New Roman" panose="02020603050405020304" pitchFamily="18" charset="0"/>
              </a:rPr>
              <a:t> μ</a:t>
            </a:r>
            <a:r>
              <a:rPr lang="en-US" altLang="zh-CN" sz="1800" dirty="0">
                <a:latin typeface="Times New Roman" panose="02020603050405020304" pitchFamily="18" charset="0"/>
                <a:cs typeface="Times New Roman" panose="02020603050405020304" pitchFamily="18" charset="0"/>
              </a:rPr>
              <a:t>s</a:t>
            </a:r>
            <a:r>
              <a:rPr lang="zh-CN" altLang="en-US" sz="1800" dirty="0">
                <a:latin typeface="Times New Roman" panose="02020603050405020304" pitchFamily="18" charset="0"/>
                <a:cs typeface="Times New Roman" panose="02020603050405020304" pitchFamily="18" charset="0"/>
              </a:rPr>
              <a:t>。鉴于此情况，决定大幅度减小自然频率（可以极大改善输出的相位抖动），取</a:t>
            </a:r>
            <a:r>
              <a:rPr lang="el-GR" altLang="zh-CN" sz="1800" i="1" dirty="0">
                <a:solidFill>
                  <a:srgbClr val="FF0000"/>
                </a:solidFill>
                <a:latin typeface="+mn-lt"/>
              </a:rPr>
              <a:t>ω</a:t>
            </a:r>
            <a:r>
              <a:rPr lang="en-US" altLang="zh-CN" sz="1800" i="1" baseline="-25000" dirty="0">
                <a:solidFill>
                  <a:srgbClr val="FF0000"/>
                </a:solidFill>
                <a:latin typeface="+mn-lt"/>
              </a:rPr>
              <a:t>n</a:t>
            </a:r>
            <a:r>
              <a:rPr lang="en-US" altLang="zh-CN" sz="1800" dirty="0">
                <a:solidFill>
                  <a:srgbClr val="FF0000"/>
                </a:solidFill>
                <a:latin typeface="Times New Roman" panose="02020603050405020304" pitchFamily="18" charset="0"/>
                <a:cs typeface="Times New Roman" panose="02020603050405020304" pitchFamily="18" charset="0"/>
              </a:rPr>
              <a:t>=6.28×10</a:t>
            </a:r>
            <a:r>
              <a:rPr lang="en-US" altLang="zh-CN" sz="1800" baseline="30000" dirty="0">
                <a:solidFill>
                  <a:srgbClr val="FF0000"/>
                </a:solidFill>
                <a:latin typeface="Times New Roman" panose="02020603050405020304" pitchFamily="18" charset="0"/>
                <a:cs typeface="Times New Roman" panose="02020603050405020304" pitchFamily="18" charset="0"/>
              </a:rPr>
              <a:t>3</a:t>
            </a:r>
            <a:r>
              <a:rPr lang="zh-CN" altLang="en-US" sz="1800" dirty="0">
                <a:latin typeface="Times New Roman" panose="02020603050405020304" pitchFamily="18" charset="0"/>
                <a:cs typeface="Times New Roman" panose="02020603050405020304" pitchFamily="18" charset="0"/>
              </a:rPr>
              <a:t>。此时</a:t>
            </a:r>
            <a:r>
              <a:rPr lang="zh-CN" altLang="en-US" sz="1800" dirty="0"/>
              <a:t>鉴相器的初始频差</a:t>
            </a:r>
            <a:r>
              <a:rPr lang="en-US" altLang="zh-CN" sz="1800" dirty="0">
                <a:latin typeface="Times New Roman" panose="02020603050405020304" pitchFamily="18" charset="0"/>
                <a:cs typeface="Times New Roman" panose="02020603050405020304" pitchFamily="18" charset="0"/>
              </a:rPr>
              <a:t>20MHz</a:t>
            </a:r>
            <a:r>
              <a:rPr lang="zh-CN" altLang="en-US" sz="1800" dirty="0">
                <a:latin typeface="Times New Roman" panose="02020603050405020304" pitchFamily="18" charset="0"/>
                <a:cs typeface="Times New Roman" panose="02020603050405020304" pitchFamily="18" charset="0"/>
              </a:rPr>
              <a:t>时捕捉时间接近</a:t>
            </a:r>
            <a:r>
              <a:rPr lang="en-US" altLang="zh-CN" sz="1800" dirty="0">
                <a:latin typeface="Times New Roman" panose="02020603050405020304" pitchFamily="18" charset="0"/>
                <a:cs typeface="Times New Roman" panose="02020603050405020304" pitchFamily="18" charset="0"/>
              </a:rPr>
              <a:t>1ms</a:t>
            </a:r>
            <a:r>
              <a:rPr lang="zh-CN" altLang="en-US" sz="1800" dirty="0">
                <a:latin typeface="Times New Roman" panose="02020603050405020304" pitchFamily="18" charset="0"/>
                <a:cs typeface="Times New Roman" panose="02020603050405020304" pitchFamily="18" charset="0"/>
              </a:rPr>
              <a:t>，符合题目要求</a:t>
            </a:r>
            <a:endParaRPr lang="zh-CN" altLang="en-US" sz="1800" dirty="0"/>
          </a:p>
        </p:txBody>
      </p:sp>
      <p:sp>
        <p:nvSpPr>
          <p:cNvPr id="10" name="文本框 9"/>
          <p:cNvSpPr txBox="1"/>
          <p:nvPr/>
        </p:nvSpPr>
        <p:spPr>
          <a:xfrm>
            <a:off x="8004837" y="2834776"/>
            <a:ext cx="1952694" cy="507831"/>
          </a:xfrm>
          <a:prstGeom prst="rect">
            <a:avLst/>
          </a:prstGeom>
          <a:noFill/>
        </p:spPr>
        <p:txBody>
          <a:bodyPr wrap="square" rtlCol="0">
            <a:spAutoFit/>
          </a:bodyPr>
          <a:lstStyle/>
          <a:p>
            <a:pPr>
              <a:lnSpc>
                <a:spcPct val="150000"/>
              </a:lnSpc>
            </a:pPr>
            <a:r>
              <a:rPr lang="zh-CN" altLang="en-US" sz="1800" dirty="0"/>
              <a:t>（其中</a:t>
            </a:r>
            <a:r>
              <a:rPr lang="en-US" altLang="zh-CN" sz="1800" i="1" dirty="0">
                <a:latin typeface="+mn-lt"/>
              </a:rPr>
              <a:t>K</a:t>
            </a:r>
            <a:r>
              <a:rPr lang="en-US" altLang="zh-CN" sz="1800" dirty="0">
                <a:latin typeface="+mn-lt"/>
              </a:rPr>
              <a:t>=</a:t>
            </a:r>
            <a:r>
              <a:rPr lang="en-US" altLang="zh-CN" sz="1800" i="1" dirty="0" err="1">
                <a:latin typeface="+mn-lt"/>
              </a:rPr>
              <a:t>K</a:t>
            </a:r>
            <a:r>
              <a:rPr lang="en-US" altLang="zh-CN" sz="1800" i="1" baseline="-25000" dirty="0" err="1">
                <a:latin typeface="+mn-lt"/>
              </a:rPr>
              <a:t>d</a:t>
            </a:r>
            <a:r>
              <a:rPr lang="en-US" altLang="zh-CN" sz="1800" i="1" dirty="0" err="1">
                <a:latin typeface="+mn-lt"/>
              </a:rPr>
              <a:t>K</a:t>
            </a:r>
            <a:r>
              <a:rPr lang="en-US" altLang="zh-CN" sz="1800" i="1" baseline="-25000" dirty="0" err="1">
                <a:latin typeface="+mn-lt"/>
              </a:rPr>
              <a:t>o</a:t>
            </a:r>
            <a:r>
              <a:rPr lang="en-US" altLang="zh-CN" sz="1800" dirty="0">
                <a:latin typeface="+mn-lt"/>
              </a:rPr>
              <a:t>/</a:t>
            </a:r>
            <a:r>
              <a:rPr lang="en-US" altLang="zh-CN" sz="1800" i="1" dirty="0">
                <a:latin typeface="+mn-lt"/>
              </a:rPr>
              <a:t>N</a:t>
            </a:r>
            <a:r>
              <a:rPr lang="zh-CN" altLang="en-US" sz="1800" dirty="0">
                <a:latin typeface="+mn-lt"/>
              </a:rPr>
              <a:t>）</a:t>
            </a:r>
            <a:endParaRPr lang="zh-CN" altLang="en-US" sz="1800" dirty="0"/>
          </a:p>
        </p:txBody>
      </p:sp>
    </p:spTree>
    <p:extLst>
      <p:ext uri="{BB962C8B-B14F-4D97-AF65-F5344CB8AC3E}">
        <p14:creationId xmlns:p14="http://schemas.microsoft.com/office/powerpoint/2010/main" val="28760321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2023/4/12</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44</a:t>
            </a:fld>
            <a:endParaRPr lang="en-US" altLang="zh-CN">
              <a:solidFill>
                <a:srgbClr val="FFFFFF"/>
              </a:solidFill>
            </a:endParaRPr>
          </a:p>
        </p:txBody>
      </p:sp>
      <p:sp>
        <p:nvSpPr>
          <p:cNvPr id="5" name="文本框 4"/>
          <p:cNvSpPr txBox="1"/>
          <p:nvPr/>
        </p:nvSpPr>
        <p:spPr>
          <a:xfrm>
            <a:off x="370115" y="473646"/>
            <a:ext cx="11451470" cy="5078313"/>
          </a:xfrm>
          <a:prstGeom prst="rect">
            <a:avLst/>
          </a:prstGeom>
          <a:noFill/>
        </p:spPr>
        <p:txBody>
          <a:bodyPr wrap="square" rtlCol="0">
            <a:spAutoFit/>
          </a:bodyPr>
          <a:lstStyle/>
          <a:p>
            <a:pPr indent="457200">
              <a:lnSpc>
                <a:spcPct val="150000"/>
              </a:lnSpc>
            </a:pPr>
            <a:r>
              <a:rPr lang="zh-CN" altLang="en-US" sz="1800" dirty="0"/>
              <a:t>接下来计算环路滤波器的元件参数</a:t>
            </a:r>
            <a:endParaRPr lang="en-US" altLang="zh-CN" sz="1800" dirty="0"/>
          </a:p>
          <a:p>
            <a:pPr indent="457200">
              <a:lnSpc>
                <a:spcPct val="150000"/>
              </a:lnSpc>
            </a:pPr>
            <a:r>
              <a:rPr lang="zh-CN" altLang="en-US" sz="1800" dirty="0"/>
              <a:t>据</a:t>
            </a:r>
            <a:r>
              <a:rPr lang="en-US" altLang="zh-CN" sz="1800" dirty="0"/>
              <a:t>20</a:t>
            </a:r>
            <a:r>
              <a:rPr lang="zh-CN" altLang="en-US" sz="1800" dirty="0"/>
              <a:t>页的公式，超前滞后型环路滤波器的元件参数为</a:t>
            </a:r>
            <a:endParaRPr lang="en-US" altLang="zh-CN" sz="1800" dirty="0"/>
          </a:p>
          <a:p>
            <a:pPr indent="457200">
              <a:lnSpc>
                <a:spcPct val="150000"/>
              </a:lnSpc>
            </a:pPr>
            <a:endParaRPr lang="en-US" altLang="zh-CN" sz="1800" dirty="0"/>
          </a:p>
          <a:p>
            <a:pPr indent="457200">
              <a:lnSpc>
                <a:spcPct val="150000"/>
              </a:lnSpc>
            </a:pPr>
            <a:endParaRPr lang="en-US" altLang="zh-CN" sz="1800" dirty="0"/>
          </a:p>
          <a:p>
            <a:pPr indent="457200">
              <a:lnSpc>
                <a:spcPct val="150000"/>
              </a:lnSpc>
            </a:pPr>
            <a:r>
              <a:rPr lang="zh-CN" altLang="en-US" sz="1800" dirty="0"/>
              <a:t>将</a:t>
            </a:r>
            <a:r>
              <a:rPr lang="el-GR" altLang="zh-CN" sz="1800" i="1" dirty="0">
                <a:latin typeface="+mn-lt"/>
              </a:rPr>
              <a:t>ω</a:t>
            </a:r>
            <a:r>
              <a:rPr lang="en-US" altLang="zh-CN" sz="1800" i="1" baseline="-25000" dirty="0">
                <a:latin typeface="+mn-lt"/>
              </a:rPr>
              <a:t>n</a:t>
            </a:r>
            <a:r>
              <a:rPr lang="en-US" altLang="zh-CN" sz="1800" dirty="0">
                <a:latin typeface="+mn-lt"/>
                <a:cs typeface="Times New Roman" panose="02020603050405020304" pitchFamily="18" charset="0"/>
              </a:rPr>
              <a:t>=6.28×10</a:t>
            </a:r>
            <a:r>
              <a:rPr lang="en-US" altLang="zh-CN" sz="1800" baseline="30000" dirty="0">
                <a:latin typeface="+mn-lt"/>
                <a:cs typeface="Times New Roman" panose="02020603050405020304" pitchFamily="18" charset="0"/>
              </a:rPr>
              <a:t>3</a:t>
            </a:r>
            <a:r>
              <a:rPr lang="zh-CN" altLang="en-US" sz="1800" dirty="0">
                <a:latin typeface="Times New Roman" panose="02020603050405020304" pitchFamily="18" charset="0"/>
                <a:cs typeface="Times New Roman" panose="02020603050405020304" pitchFamily="18" charset="0"/>
              </a:rPr>
              <a:t>、</a:t>
            </a:r>
            <a:r>
              <a:rPr lang="el-GR" altLang="zh-CN" sz="1800" i="1" dirty="0">
                <a:latin typeface="Times New Roman" panose="02020603050405020304" pitchFamily="18" charset="0"/>
                <a:cs typeface="Times New Roman" panose="02020603050405020304" pitchFamily="18" charset="0"/>
              </a:rPr>
              <a:t>ζ</a:t>
            </a:r>
            <a:r>
              <a:rPr lang="en-US" altLang="zh-CN" sz="1800" dirty="0">
                <a:latin typeface="Times New Roman" panose="02020603050405020304" pitchFamily="18" charset="0"/>
                <a:cs typeface="Times New Roman" panose="02020603050405020304" pitchFamily="18" charset="0"/>
              </a:rPr>
              <a:t>=0.7</a:t>
            </a:r>
            <a:r>
              <a:rPr lang="zh-CN" altLang="en-US" sz="1800" dirty="0">
                <a:latin typeface="Times New Roman" panose="02020603050405020304" pitchFamily="18" charset="0"/>
                <a:cs typeface="Times New Roman" panose="02020603050405020304" pitchFamily="18" charset="0"/>
              </a:rPr>
              <a:t>、</a:t>
            </a:r>
            <a:r>
              <a:rPr lang="en-US" altLang="zh-CN" sz="1800" i="1" dirty="0"/>
              <a:t> </a:t>
            </a:r>
            <a:r>
              <a:rPr lang="en-US" altLang="zh-CN" sz="1800" i="1" dirty="0">
                <a:latin typeface="+mn-lt"/>
              </a:rPr>
              <a:t>K</a:t>
            </a:r>
            <a:r>
              <a:rPr lang="en-US" altLang="zh-CN" sz="1800" dirty="0">
                <a:latin typeface="+mn-lt"/>
              </a:rPr>
              <a:t>=</a:t>
            </a:r>
            <a:r>
              <a:rPr lang="en-US" altLang="zh-CN" sz="1800" i="1" dirty="0" err="1">
                <a:latin typeface="+mn-lt"/>
              </a:rPr>
              <a:t>K</a:t>
            </a:r>
            <a:r>
              <a:rPr lang="en-US" altLang="zh-CN" sz="1800" i="1" baseline="-25000" dirty="0" err="1">
                <a:latin typeface="+mn-lt"/>
              </a:rPr>
              <a:t>d</a:t>
            </a:r>
            <a:r>
              <a:rPr lang="en-US" altLang="zh-CN" sz="1800" i="1" dirty="0" err="1">
                <a:latin typeface="+mn-lt"/>
              </a:rPr>
              <a:t>K</a:t>
            </a:r>
            <a:r>
              <a:rPr lang="en-US" altLang="zh-CN" sz="1800" i="1" baseline="-25000" dirty="0" err="1">
                <a:latin typeface="+mn-lt"/>
              </a:rPr>
              <a:t>o</a:t>
            </a:r>
            <a:r>
              <a:rPr lang="en-US" altLang="zh-CN" sz="1800" dirty="0">
                <a:latin typeface="+mn-lt"/>
              </a:rPr>
              <a:t>/</a:t>
            </a:r>
            <a:r>
              <a:rPr lang="en-US" altLang="zh-CN" sz="1800" i="1" dirty="0">
                <a:latin typeface="+mn-lt"/>
              </a:rPr>
              <a:t>N</a:t>
            </a:r>
            <a:r>
              <a:rPr lang="en-US" altLang="zh-CN" sz="1800" dirty="0">
                <a:latin typeface="+mn-lt"/>
              </a:rPr>
              <a:t>=0.4×6.7×10</a:t>
            </a:r>
            <a:r>
              <a:rPr lang="en-US" altLang="zh-CN" sz="1800" baseline="30000" dirty="0">
                <a:latin typeface="+mn-lt"/>
              </a:rPr>
              <a:t>7</a:t>
            </a:r>
            <a:r>
              <a:rPr lang="en-US" altLang="zh-CN" sz="1800" dirty="0">
                <a:latin typeface="+mn-lt"/>
              </a:rPr>
              <a:t>/1000=2.68×10</a:t>
            </a:r>
            <a:r>
              <a:rPr lang="en-US" altLang="zh-CN" sz="1800" baseline="30000" dirty="0">
                <a:latin typeface="+mn-lt"/>
              </a:rPr>
              <a:t>4</a:t>
            </a:r>
            <a:r>
              <a:rPr lang="zh-CN" altLang="en-US" sz="1800" dirty="0">
                <a:latin typeface="+mn-lt"/>
              </a:rPr>
              <a:t>等参数代入上述方程，得到</a:t>
            </a:r>
            <a:endParaRPr lang="en-US" altLang="zh-CN" sz="1800" dirty="0">
              <a:latin typeface="+mn-lt"/>
            </a:endParaRPr>
          </a:p>
          <a:p>
            <a:pPr indent="457200">
              <a:lnSpc>
                <a:spcPct val="150000"/>
              </a:lnSpc>
            </a:pPr>
            <a:endParaRPr lang="en-US" altLang="zh-CN" sz="1800" dirty="0">
              <a:latin typeface="+mn-lt"/>
            </a:endParaRPr>
          </a:p>
          <a:p>
            <a:pPr indent="457200">
              <a:lnSpc>
                <a:spcPct val="150000"/>
              </a:lnSpc>
            </a:pPr>
            <a:r>
              <a:rPr lang="zh-CN" altLang="en-US" sz="1800" dirty="0">
                <a:latin typeface="+mn-lt"/>
              </a:rPr>
              <a:t>取</a:t>
            </a:r>
            <a:r>
              <a:rPr lang="en-US" altLang="zh-CN" sz="1800" dirty="0">
                <a:latin typeface="+mn-lt"/>
              </a:rPr>
              <a:t>C=1</a:t>
            </a:r>
            <a:r>
              <a:rPr lang="el-GR" altLang="zh-CN" sz="1800" dirty="0">
                <a:latin typeface="Times New Roman" panose="02020603050405020304" pitchFamily="18" charset="0"/>
                <a:cs typeface="Times New Roman" panose="02020603050405020304" pitchFamily="18" charset="0"/>
              </a:rPr>
              <a:t>μ</a:t>
            </a:r>
            <a:r>
              <a:rPr lang="en-US" altLang="zh-CN" sz="1800" dirty="0">
                <a:latin typeface="Times New Roman" panose="02020603050405020304" pitchFamily="18" charset="0"/>
                <a:cs typeface="Times New Roman" panose="02020603050405020304" pitchFamily="18" charset="0"/>
              </a:rPr>
              <a:t>F</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R1=490</a:t>
            </a:r>
            <a:r>
              <a:rPr lang="el-GR" altLang="zh-CN" sz="1800" dirty="0">
                <a:latin typeface="Times New Roman" panose="02020603050405020304" pitchFamily="18" charset="0"/>
                <a:cs typeface="Times New Roman" panose="02020603050405020304" pitchFamily="18" charset="0"/>
              </a:rPr>
              <a:t>Ω</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R2=190</a:t>
            </a:r>
            <a:r>
              <a:rPr lang="el-GR" altLang="zh-CN" sz="1800" dirty="0">
                <a:latin typeface="Times New Roman" panose="02020603050405020304" pitchFamily="18" charset="0"/>
                <a:cs typeface="Times New Roman" panose="02020603050405020304" pitchFamily="18" charset="0"/>
              </a:rPr>
              <a:t>Ω</a:t>
            </a:r>
            <a:r>
              <a:rPr lang="zh-CN" altLang="en-US" sz="1800" dirty="0">
                <a:latin typeface="Times New Roman" panose="02020603050405020304" pitchFamily="18" charset="0"/>
                <a:cs typeface="Times New Roman" panose="02020603050405020304" pitchFamily="18" charset="0"/>
              </a:rPr>
              <a:t>（实际取</a:t>
            </a:r>
            <a:r>
              <a:rPr lang="en-US" altLang="zh-CN" sz="1800" dirty="0">
                <a:latin typeface="Times New Roman" panose="02020603050405020304" pitchFamily="18" charset="0"/>
                <a:cs typeface="Times New Roman" panose="02020603050405020304" pitchFamily="18" charset="0"/>
              </a:rPr>
              <a:t>510</a:t>
            </a:r>
            <a:r>
              <a:rPr lang="el-GR" altLang="zh-CN" sz="1800" dirty="0">
                <a:latin typeface="Times New Roman" panose="02020603050405020304" pitchFamily="18" charset="0"/>
                <a:cs typeface="Times New Roman" panose="02020603050405020304" pitchFamily="18" charset="0"/>
              </a:rPr>
              <a:t>Ω</a:t>
            </a:r>
            <a:r>
              <a:rPr lang="zh-CN" altLang="en-US" sz="1800" dirty="0">
                <a:latin typeface="Times New Roman" panose="02020603050405020304" pitchFamily="18" charset="0"/>
                <a:cs typeface="Times New Roman" panose="02020603050405020304" pitchFamily="18" charset="0"/>
              </a:rPr>
              <a:t>与</a:t>
            </a:r>
            <a:r>
              <a:rPr lang="en-US" altLang="zh-CN" sz="1800" dirty="0">
                <a:latin typeface="Times New Roman" panose="02020603050405020304" pitchFamily="18" charset="0"/>
                <a:cs typeface="Times New Roman" panose="02020603050405020304" pitchFamily="18" charset="0"/>
              </a:rPr>
              <a:t>200</a:t>
            </a:r>
            <a:r>
              <a:rPr lang="el-GR" altLang="zh-CN" sz="1800" dirty="0">
                <a:latin typeface="Times New Roman" panose="02020603050405020304" pitchFamily="18" charset="0"/>
                <a:cs typeface="Times New Roman" panose="02020603050405020304" pitchFamily="18" charset="0"/>
              </a:rPr>
              <a:t>Ω</a:t>
            </a:r>
            <a:r>
              <a:rPr lang="zh-CN" altLang="en-US" sz="18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a:p>
            <a:pPr indent="457200">
              <a:lnSpc>
                <a:spcPct val="150000"/>
              </a:lnSpc>
            </a:pPr>
            <a:r>
              <a:rPr lang="zh-CN" altLang="en-US" sz="1800" dirty="0">
                <a:latin typeface="Times New Roman" panose="02020603050405020304" pitchFamily="18" charset="0"/>
                <a:cs typeface="Times New Roman" panose="02020603050405020304" pitchFamily="18" charset="0"/>
              </a:rPr>
              <a:t>至此全部设计完成</a:t>
            </a:r>
            <a:endParaRPr lang="en-US" altLang="zh-CN" sz="1800" dirty="0">
              <a:latin typeface="Times New Roman" panose="02020603050405020304" pitchFamily="18" charset="0"/>
              <a:cs typeface="Times New Roman" panose="02020603050405020304" pitchFamily="18" charset="0"/>
            </a:endParaRPr>
          </a:p>
          <a:p>
            <a:pPr indent="457200">
              <a:lnSpc>
                <a:spcPct val="150000"/>
              </a:lnSpc>
            </a:pPr>
            <a:endParaRPr lang="en-US" altLang="zh-CN" sz="1200" dirty="0">
              <a:latin typeface="Times New Roman" panose="02020603050405020304" pitchFamily="18" charset="0"/>
              <a:cs typeface="Times New Roman" panose="02020603050405020304" pitchFamily="18" charset="0"/>
            </a:endParaRPr>
          </a:p>
          <a:p>
            <a:pPr>
              <a:lnSpc>
                <a:spcPct val="125000"/>
              </a:lnSpc>
            </a:pPr>
            <a:r>
              <a:rPr lang="zh-CN" altLang="en-US" sz="1800" dirty="0">
                <a:latin typeface="楷体" panose="02010609060101010101" pitchFamily="49" charset="-122"/>
                <a:ea typeface="楷体" panose="02010609060101010101" pitchFamily="49" charset="-122"/>
                <a:cs typeface="Times New Roman" panose="02020603050405020304" pitchFamily="18" charset="0"/>
              </a:rPr>
              <a:t>关于减小自然频率可改善输出相位抖动的说明：</a:t>
            </a:r>
            <a:endParaRPr lang="en-US" altLang="zh-CN" sz="1800" dirty="0">
              <a:latin typeface="楷体" panose="02010609060101010101" pitchFamily="49" charset="-122"/>
              <a:ea typeface="楷体" panose="02010609060101010101" pitchFamily="49" charset="-122"/>
              <a:cs typeface="Times New Roman" panose="02020603050405020304" pitchFamily="18" charset="0"/>
            </a:endParaRPr>
          </a:p>
          <a:p>
            <a:pPr indent="457200">
              <a:lnSpc>
                <a:spcPct val="125000"/>
              </a:lnSpc>
            </a:pPr>
            <a:r>
              <a:rPr lang="zh-CN" altLang="en-US" sz="1800" dirty="0">
                <a:latin typeface="楷体" panose="02010609060101010101" pitchFamily="49" charset="-122"/>
                <a:ea typeface="楷体" panose="02010609060101010101" pitchFamily="49" charset="-122"/>
                <a:cs typeface="Times New Roman" panose="02020603050405020304" pitchFamily="18" charset="0"/>
              </a:rPr>
              <a:t>在锁定状态下，</a:t>
            </a:r>
            <a:r>
              <a:rPr lang="en-US" altLang="zh-CN" sz="1800" dirty="0">
                <a:latin typeface="楷体" panose="02010609060101010101" pitchFamily="49" charset="-122"/>
                <a:ea typeface="楷体" panose="02010609060101010101" pitchFamily="49" charset="-122"/>
                <a:cs typeface="Times New Roman" panose="02020603050405020304" pitchFamily="18" charset="0"/>
              </a:rPr>
              <a:t>PFD</a:t>
            </a:r>
            <a:r>
              <a:rPr lang="zh-CN" altLang="en-US" sz="1800" dirty="0">
                <a:latin typeface="楷体" panose="02010609060101010101" pitchFamily="49" charset="-122"/>
                <a:ea typeface="楷体" panose="02010609060101010101" pitchFamily="49" charset="-122"/>
                <a:cs typeface="Times New Roman" panose="02020603050405020304" pitchFamily="18" charset="0"/>
              </a:rPr>
              <a:t>鉴相器的输出是不连续的，通常会有包含频率等于参考频率的波动及其高次谐波，还会有低于参考频率的成分出现。这些电压波动应该被环路滤波器滤除干净后加到</a:t>
            </a:r>
            <a:r>
              <a:rPr lang="en-US" altLang="zh-CN" sz="1800" dirty="0">
                <a:latin typeface="楷体" panose="02010609060101010101" pitchFamily="49" charset="-122"/>
                <a:ea typeface="楷体" panose="02010609060101010101" pitchFamily="49" charset="-122"/>
                <a:cs typeface="Times New Roman" panose="02020603050405020304" pitchFamily="18" charset="0"/>
              </a:rPr>
              <a:t>VCO</a:t>
            </a:r>
            <a:r>
              <a:rPr lang="zh-CN" altLang="en-US" sz="1800" dirty="0">
                <a:latin typeface="楷体" panose="02010609060101010101" pitchFamily="49" charset="-122"/>
                <a:ea typeface="楷体" panose="02010609060101010101" pitchFamily="49" charset="-122"/>
                <a:cs typeface="Times New Roman" panose="02020603050405020304" pitchFamily="18" charset="0"/>
              </a:rPr>
              <a:t>，没有滤干净的部分就引起输出的相位抖动。显然，自然频率越低即滤波器的</a:t>
            </a:r>
            <a:r>
              <a:rPr lang="en-US" altLang="zh-CN" sz="1800" dirty="0">
                <a:latin typeface="楷体" panose="02010609060101010101" pitchFamily="49" charset="-122"/>
                <a:ea typeface="楷体" panose="02010609060101010101" pitchFamily="49" charset="-122"/>
                <a:cs typeface="Times New Roman" panose="02020603050405020304" pitchFamily="18" charset="0"/>
              </a:rPr>
              <a:t>RC</a:t>
            </a:r>
            <a:r>
              <a:rPr lang="zh-CN" altLang="en-US" sz="1800" dirty="0">
                <a:latin typeface="楷体" panose="02010609060101010101" pitchFamily="49" charset="-122"/>
                <a:ea typeface="楷体" panose="02010609060101010101" pitchFamily="49" charset="-122"/>
                <a:cs typeface="Times New Roman" panose="02020603050405020304" pitchFamily="18" charset="0"/>
              </a:rPr>
              <a:t>时间常数越大，</a:t>
            </a:r>
            <a:r>
              <a:rPr lang="en-US" altLang="zh-CN" sz="1800" dirty="0">
                <a:latin typeface="楷体" panose="02010609060101010101" pitchFamily="49" charset="-122"/>
                <a:ea typeface="楷体" panose="02010609060101010101" pitchFamily="49" charset="-122"/>
                <a:cs typeface="Times New Roman" panose="02020603050405020304" pitchFamily="18" charset="0"/>
              </a:rPr>
              <a:t>PFD</a:t>
            </a:r>
            <a:r>
              <a:rPr lang="zh-CN" altLang="en-US" sz="1800" dirty="0">
                <a:latin typeface="楷体" panose="02010609060101010101" pitchFamily="49" charset="-122"/>
                <a:ea typeface="楷体" panose="02010609060101010101" pitchFamily="49" charset="-122"/>
                <a:cs typeface="Times New Roman" panose="02020603050405020304" pitchFamily="18" charset="0"/>
              </a:rPr>
              <a:t>输出的波动成分就滤除得越干净。</a:t>
            </a:r>
            <a:endParaRPr lang="zh-CN" altLang="en-US" sz="1800" dirty="0">
              <a:latin typeface="楷体" panose="02010609060101010101" pitchFamily="49" charset="-122"/>
              <a:ea typeface="楷体" panose="02010609060101010101" pitchFamily="49" charset="-122"/>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1332896420"/>
              </p:ext>
            </p:extLst>
          </p:nvPr>
        </p:nvGraphicFramePr>
        <p:xfrm>
          <a:off x="3255449" y="1432451"/>
          <a:ext cx="3965461" cy="745773"/>
        </p:xfrm>
        <a:graphic>
          <a:graphicData uri="http://schemas.openxmlformats.org/presentationml/2006/ole">
            <mc:AlternateContent xmlns:mc="http://schemas.openxmlformats.org/markup-compatibility/2006">
              <mc:Choice xmlns:v="urn:schemas-microsoft-com:vml" Requires="v">
                <p:oleObj spid="_x0000_s37940" name="Equation" r:id="rId3" imgW="2361960" imgH="444240" progId="Equation.DSMT4">
                  <p:embed/>
                </p:oleObj>
              </mc:Choice>
              <mc:Fallback>
                <p:oleObj name="Equation" r:id="rId3" imgW="2361960" imgH="444240" progId="Equation.DSMT4">
                  <p:embed/>
                  <p:pic>
                    <p:nvPicPr>
                      <p:cNvPr id="8" name="对象 7"/>
                      <p:cNvPicPr>
                        <a:picLocks noChangeAspect="1" noChangeArrowheads="1"/>
                      </p:cNvPicPr>
                      <p:nvPr/>
                    </p:nvPicPr>
                    <p:blipFill>
                      <a:blip r:embed="rId4"/>
                      <a:srcRect/>
                      <a:stretch>
                        <a:fillRect/>
                      </a:stretch>
                    </p:blipFill>
                    <p:spPr bwMode="auto">
                      <a:xfrm>
                        <a:off x="3255449" y="1432451"/>
                        <a:ext cx="3965461" cy="745773"/>
                      </a:xfrm>
                      <a:prstGeom prst="rect">
                        <a:avLst/>
                      </a:prstGeom>
                      <a:no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4055760297"/>
              </p:ext>
            </p:extLst>
          </p:nvPr>
        </p:nvGraphicFramePr>
        <p:xfrm>
          <a:off x="3255449" y="2640774"/>
          <a:ext cx="3495675" cy="361950"/>
        </p:xfrm>
        <a:graphic>
          <a:graphicData uri="http://schemas.openxmlformats.org/presentationml/2006/ole">
            <mc:AlternateContent xmlns:mc="http://schemas.openxmlformats.org/markup-compatibility/2006">
              <mc:Choice xmlns:v="urn:schemas-microsoft-com:vml" Requires="v">
                <p:oleObj spid="_x0000_s37941" name="Equation" r:id="rId5" imgW="2082600" imgH="215640" progId="Equation.DSMT4">
                  <p:embed/>
                </p:oleObj>
              </mc:Choice>
              <mc:Fallback>
                <p:oleObj name="Equation" r:id="rId5" imgW="2082600" imgH="215640" progId="Equation.DSMT4">
                  <p:embed/>
                  <p:pic>
                    <p:nvPicPr>
                      <p:cNvPr id="6" name="对象 5"/>
                      <p:cNvPicPr>
                        <a:picLocks noChangeAspect="1" noChangeArrowheads="1"/>
                      </p:cNvPicPr>
                      <p:nvPr/>
                    </p:nvPicPr>
                    <p:blipFill>
                      <a:blip r:embed="rId6"/>
                      <a:srcRect/>
                      <a:stretch>
                        <a:fillRect/>
                      </a:stretch>
                    </p:blipFill>
                    <p:spPr bwMode="auto">
                      <a:xfrm>
                        <a:off x="3255449" y="2640774"/>
                        <a:ext cx="3495675" cy="361950"/>
                      </a:xfrm>
                      <a:prstGeom prst="rect">
                        <a:avLst/>
                      </a:prstGeom>
                      <a:noFill/>
                    </p:spPr>
                  </p:pic>
                </p:oleObj>
              </mc:Fallback>
            </mc:AlternateContent>
          </a:graphicData>
        </a:graphic>
      </p:graphicFrame>
    </p:spTree>
    <p:extLst>
      <p:ext uri="{BB962C8B-B14F-4D97-AF65-F5344CB8AC3E}">
        <p14:creationId xmlns:p14="http://schemas.microsoft.com/office/powerpoint/2010/main" val="1296662287"/>
      </p:ext>
    </p:extLst>
  </p:cSld>
  <p:clrMapOvr>
    <a:masterClrMapping/>
  </p:clrMapOvr>
</p:sld>
</file>

<file path=ppt/theme/theme1.xml><?xml version="1.0" encoding="utf-8"?>
<a:theme xmlns:a="http://schemas.openxmlformats.org/drawingml/2006/main" name="1_Network">
  <a:themeElements>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Network">
      <a:majorFont>
        <a:latin typeface="Arial"/>
        <a:ea typeface="黑体"/>
        <a:cs typeface=""/>
      </a:majorFont>
      <a:minorFont>
        <a:latin typeface="Times New Roman"/>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18876</TotalTime>
  <Words>5992</Words>
  <Application>Microsoft Office PowerPoint</Application>
  <PresentationFormat>宽屏</PresentationFormat>
  <Paragraphs>429</Paragraphs>
  <Slides>44</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44</vt:i4>
      </vt:variant>
    </vt:vector>
  </HeadingPairs>
  <TitlesOfParts>
    <vt:vector size="58" baseType="lpstr">
      <vt:lpstr>等线</vt:lpstr>
      <vt:lpstr>黑体</vt:lpstr>
      <vt:lpstr>华文细黑</vt:lpstr>
      <vt:lpstr>楷体</vt:lpstr>
      <vt:lpstr>楷体_GB2312</vt:lpstr>
      <vt:lpstr>隶书</vt:lpstr>
      <vt:lpstr>宋体</vt:lpstr>
      <vt:lpstr>Arial</vt:lpstr>
      <vt:lpstr>Symbol</vt:lpstr>
      <vt:lpstr>Times New Roman</vt:lpstr>
      <vt:lpstr>Wingdings</vt:lpstr>
      <vt:lpstr>1_Network</vt:lpstr>
      <vt:lpstr>Visio</vt:lpstr>
      <vt:lpstr>Equation</vt:lpstr>
      <vt:lpstr>锁相环电路设计  复旦大学电子工程系  陈光梦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陈光梦</dc:creator>
  <cp:lastModifiedBy>gmchen</cp:lastModifiedBy>
  <cp:revision>500</cp:revision>
  <dcterms:created xsi:type="dcterms:W3CDTF">1601-01-01T00:00:00Z</dcterms:created>
  <dcterms:modified xsi:type="dcterms:W3CDTF">2023-04-12T01:48:54Z</dcterms:modified>
</cp:coreProperties>
</file>