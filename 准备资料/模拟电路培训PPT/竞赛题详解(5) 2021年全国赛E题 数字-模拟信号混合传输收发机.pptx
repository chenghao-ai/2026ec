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38"/>
  </p:notesMasterIdLst>
  <p:handoutMasterIdLst>
    <p:handoutMasterId r:id="rId39"/>
  </p:handoutMasterIdLst>
  <p:sldIdLst>
    <p:sldId id="398" r:id="rId2"/>
    <p:sldId id="678" r:id="rId3"/>
    <p:sldId id="679" r:id="rId4"/>
    <p:sldId id="680" r:id="rId5"/>
    <p:sldId id="681" r:id="rId6"/>
    <p:sldId id="682" r:id="rId7"/>
    <p:sldId id="683" r:id="rId8"/>
    <p:sldId id="760" r:id="rId9"/>
    <p:sldId id="756" r:id="rId10"/>
    <p:sldId id="759" r:id="rId11"/>
    <p:sldId id="761" r:id="rId12"/>
    <p:sldId id="764" r:id="rId13"/>
    <p:sldId id="757" r:id="rId14"/>
    <p:sldId id="765" r:id="rId15"/>
    <p:sldId id="766" r:id="rId16"/>
    <p:sldId id="758" r:id="rId17"/>
    <p:sldId id="767" r:id="rId18"/>
    <p:sldId id="774" r:id="rId19"/>
    <p:sldId id="769" r:id="rId20"/>
    <p:sldId id="770" r:id="rId21"/>
    <p:sldId id="744" r:id="rId22"/>
    <p:sldId id="768" r:id="rId23"/>
    <p:sldId id="746" r:id="rId24"/>
    <p:sldId id="773" r:id="rId25"/>
    <p:sldId id="748" r:id="rId26"/>
    <p:sldId id="749" r:id="rId27"/>
    <p:sldId id="751" r:id="rId28"/>
    <p:sldId id="686" r:id="rId29"/>
    <p:sldId id="687" r:id="rId30"/>
    <p:sldId id="688" r:id="rId31"/>
    <p:sldId id="736" r:id="rId32"/>
    <p:sldId id="738" r:id="rId33"/>
    <p:sldId id="742" r:id="rId34"/>
    <p:sldId id="743" r:id="rId35"/>
    <p:sldId id="762" r:id="rId36"/>
    <p:sldId id="763" r:id="rId37"/>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EDFFFF"/>
    <a:srgbClr val="CCECFF"/>
    <a:srgbClr val="99FF99"/>
    <a:srgbClr val="FFFF66"/>
    <a:srgbClr val="66FFFF"/>
    <a:srgbClr val="FFCC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6078" autoAdjust="0"/>
  </p:normalViewPr>
  <p:slideViewPr>
    <p:cSldViewPr snapToGrid="0">
      <p:cViewPr varScale="1">
        <p:scale>
          <a:sx n="88" d="100"/>
          <a:sy n="88" d="100"/>
        </p:scale>
        <p:origin x="80" y="26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wmf"/><Relationship Id="rId1" Type="http://schemas.openxmlformats.org/officeDocument/2006/relationships/image" Target="../media/image20.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31.wmf"/><Relationship Id="rId2" Type="http://schemas.openxmlformats.org/officeDocument/2006/relationships/image" Target="../media/image26.wmf"/><Relationship Id="rId1" Type="http://schemas.openxmlformats.org/officeDocument/2006/relationships/image" Target="../media/image25.e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emf"/><Relationship Id="rId5" Type="http://schemas.openxmlformats.org/officeDocument/2006/relationships/image" Target="../media/image42.wmf"/><Relationship Id="rId4" Type="http://schemas.openxmlformats.org/officeDocument/2006/relationships/image" Target="../media/image4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28</a:t>
            </a:fld>
            <a:endParaRPr lang="en-US" altLang="zh-CN"/>
          </a:p>
        </p:txBody>
      </p:sp>
    </p:spTree>
    <p:extLst>
      <p:ext uri="{BB962C8B-B14F-4D97-AF65-F5344CB8AC3E}">
        <p14:creationId xmlns:p14="http://schemas.microsoft.com/office/powerpoint/2010/main" val="27171351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2023/5/11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2023/5/11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2023/5/11</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2023/5/11</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2023/5/11</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2023/5/11</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2023/5/11</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2023/5/11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2023/5/11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2023/5/11</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2.e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1.wmf"/><Relationship Id="rId5" Type="http://schemas.openxmlformats.org/officeDocument/2006/relationships/oleObject" Target="../embeddings/oleObject4.bin"/><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emf"/><Relationship Id="rId5" Type="http://schemas.openxmlformats.org/officeDocument/2006/relationships/oleObject" Target="../embeddings/oleObject6.bin"/><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6.wmf"/><Relationship Id="rId5" Type="http://schemas.openxmlformats.org/officeDocument/2006/relationships/oleObject" Target="../embeddings/oleObject8.bin"/><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8.emf"/><Relationship Id="rId5" Type="http://schemas.openxmlformats.org/officeDocument/2006/relationships/oleObject" Target="../embeddings/oleObject10.bin"/><Relationship Id="rId4" Type="http://schemas.openxmlformats.org/officeDocument/2006/relationships/image" Target="../media/image17.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9.wmf"/></Relationships>
</file>

<file path=ppt/slides/_rels/slide16.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1.wmf"/><Relationship Id="rId5" Type="http://schemas.openxmlformats.org/officeDocument/2006/relationships/oleObject" Target="../embeddings/oleObject13.bin"/><Relationship Id="rId4" Type="http://schemas.openxmlformats.org/officeDocument/2006/relationships/image" Target="../media/image20.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4.wmf"/><Relationship Id="rId5" Type="http://schemas.openxmlformats.org/officeDocument/2006/relationships/oleObject" Target="../embeddings/oleObject16.bin"/><Relationship Id="rId4" Type="http://schemas.openxmlformats.org/officeDocument/2006/relationships/image" Target="../media/image23.emf"/></Relationships>
</file>

<file path=ppt/slides/_rels/slide18.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22.bin"/><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29.wmf"/><Relationship Id="rId2" Type="http://schemas.openxmlformats.org/officeDocument/2006/relationships/slideLayout" Target="../slideLayouts/slideLayout7.xml"/><Relationship Id="rId16" Type="http://schemas.openxmlformats.org/officeDocument/2006/relationships/image" Target="../media/image31.wmf"/><Relationship Id="rId1" Type="http://schemas.openxmlformats.org/officeDocument/2006/relationships/vmlDrawing" Target="../drawings/vmlDrawing10.vml"/><Relationship Id="rId6" Type="http://schemas.openxmlformats.org/officeDocument/2006/relationships/image" Target="../media/image26.wmf"/><Relationship Id="rId11" Type="http://schemas.openxmlformats.org/officeDocument/2006/relationships/oleObject" Target="../embeddings/oleObject21.bin"/><Relationship Id="rId5" Type="http://schemas.openxmlformats.org/officeDocument/2006/relationships/oleObject" Target="../embeddings/oleObject18.bin"/><Relationship Id="rId15" Type="http://schemas.openxmlformats.org/officeDocument/2006/relationships/oleObject" Target="../embeddings/oleObject23.bin"/><Relationship Id="rId10" Type="http://schemas.openxmlformats.org/officeDocument/2006/relationships/image" Target="../media/image28.wmf"/><Relationship Id="rId4" Type="http://schemas.openxmlformats.org/officeDocument/2006/relationships/image" Target="../media/image25.emf"/><Relationship Id="rId9" Type="http://schemas.openxmlformats.org/officeDocument/2006/relationships/oleObject" Target="../embeddings/oleObject20.bin"/><Relationship Id="rId14" Type="http://schemas.openxmlformats.org/officeDocument/2006/relationships/image" Target="../media/image30.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32.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33.emf"/></Relationships>
</file>

<file path=ppt/slides/_rels/slide2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36.wmf"/><Relationship Id="rId5" Type="http://schemas.openxmlformats.org/officeDocument/2006/relationships/oleObject" Target="../embeddings/oleObject27.bin"/><Relationship Id="rId4" Type="http://schemas.openxmlformats.org/officeDocument/2006/relationships/image" Target="../media/image35.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42.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39.wmf"/><Relationship Id="rId11" Type="http://schemas.openxmlformats.org/officeDocument/2006/relationships/oleObject" Target="../embeddings/oleObject33.bin"/><Relationship Id="rId5" Type="http://schemas.openxmlformats.org/officeDocument/2006/relationships/oleObject" Target="../embeddings/oleObject30.bin"/><Relationship Id="rId10" Type="http://schemas.openxmlformats.org/officeDocument/2006/relationships/image" Target="../media/image41.wmf"/><Relationship Id="rId4" Type="http://schemas.openxmlformats.org/officeDocument/2006/relationships/image" Target="../media/image38.emf"/><Relationship Id="rId9" Type="http://schemas.openxmlformats.org/officeDocument/2006/relationships/oleObject" Target="../embeddings/oleObject32.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43.wmf"/></Relationships>
</file>

<file path=ppt/slides/_rels/slide28.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3863" y="1716967"/>
            <a:ext cx="8596312" cy="3249738"/>
          </a:xfrm>
        </p:spPr>
        <p:txBody>
          <a:bodyPr/>
          <a:lstStyle/>
          <a:p>
            <a:pPr>
              <a:spcBef>
                <a:spcPts val="0"/>
              </a:spcBef>
            </a:pPr>
            <a:r>
              <a:rPr lang="en-US" altLang="zh-CN" sz="3600" dirty="0">
                <a:solidFill>
                  <a:schemeClr val="tx1"/>
                </a:solidFill>
                <a:latin typeface="Times New Roman" panose="02020603050405020304" pitchFamily="18" charset="0"/>
                <a:ea typeface="宋体" panose="02010600030101010101" pitchFamily="2" charset="-122"/>
              </a:rPr>
              <a:t>2021</a:t>
            </a:r>
            <a:r>
              <a:rPr lang="zh-CN" altLang="zh-CN" sz="3600" dirty="0">
                <a:solidFill>
                  <a:schemeClr val="tx1"/>
                </a:solidFill>
                <a:latin typeface="Times New Roman" panose="02020603050405020304" pitchFamily="18" charset="0"/>
                <a:ea typeface="宋体" panose="02010600030101010101" pitchFamily="2" charset="-122"/>
              </a:rPr>
              <a:t>年</a:t>
            </a:r>
            <a:r>
              <a:rPr lang="zh-CN" altLang="en-US" sz="3600" dirty="0">
                <a:solidFill>
                  <a:schemeClr val="tx1"/>
                </a:solidFill>
                <a:latin typeface="Times New Roman" panose="02020603050405020304" pitchFamily="18" charset="0"/>
                <a:ea typeface="宋体" panose="02010600030101010101" pitchFamily="2" charset="-122"/>
              </a:rPr>
              <a:t>全国赛</a:t>
            </a:r>
            <a:r>
              <a:rPr lang="en-US" altLang="zh-CN" sz="3600" dirty="0">
                <a:solidFill>
                  <a:schemeClr val="tx1"/>
                </a:solidFill>
                <a:latin typeface="Times New Roman" panose="02020603050405020304" pitchFamily="18" charset="0"/>
                <a:ea typeface="宋体" panose="02010600030101010101" pitchFamily="2" charset="-122"/>
              </a:rPr>
              <a:t>E</a:t>
            </a:r>
            <a:r>
              <a:rPr lang="zh-CN" altLang="zh-CN" sz="3600" dirty="0">
                <a:solidFill>
                  <a:schemeClr val="tx1"/>
                </a:solidFill>
                <a:latin typeface="Times New Roman" panose="02020603050405020304" pitchFamily="18" charset="0"/>
                <a:ea typeface="宋体" panose="02010600030101010101" pitchFamily="2" charset="-122"/>
              </a:rPr>
              <a:t>题</a:t>
            </a:r>
            <a:r>
              <a:rPr lang="en-US" altLang="zh-CN" sz="3600" dirty="0">
                <a:solidFill>
                  <a:schemeClr val="tx1"/>
                </a:solidFill>
                <a:latin typeface="Times New Roman" panose="02020603050405020304" pitchFamily="18" charset="0"/>
                <a:ea typeface="宋体" panose="02010600030101010101" pitchFamily="2" charset="-122"/>
              </a:rPr>
              <a:t/>
            </a:r>
            <a:br>
              <a:rPr lang="en-US" altLang="zh-CN" sz="3600" dirty="0">
                <a:solidFill>
                  <a:schemeClr val="tx1"/>
                </a:solidFill>
                <a:latin typeface="Times New Roman" panose="02020603050405020304" pitchFamily="18" charset="0"/>
                <a:ea typeface="宋体" panose="02010600030101010101" pitchFamily="2" charset="-122"/>
              </a:rPr>
            </a:br>
            <a:r>
              <a:rPr lang="en-US" altLang="zh-CN" sz="2000" dirty="0">
                <a:solidFill>
                  <a:schemeClr val="tx1"/>
                </a:solidFill>
                <a:latin typeface="Times New Roman" panose="02020603050405020304" pitchFamily="18" charset="0"/>
                <a:ea typeface="宋体" panose="02010600030101010101" pitchFamily="2" charset="-122"/>
              </a:rPr>
              <a:t/>
            </a:r>
            <a:br>
              <a:rPr lang="en-US" altLang="zh-CN" sz="2000" dirty="0">
                <a:solidFill>
                  <a:schemeClr val="tx1"/>
                </a:solidFill>
                <a:latin typeface="Times New Roman" panose="02020603050405020304" pitchFamily="18" charset="0"/>
                <a:ea typeface="宋体" panose="02010600030101010101" pitchFamily="2" charset="-122"/>
              </a:rPr>
            </a:br>
            <a:r>
              <a:rPr lang="zh-CN" altLang="en-US" sz="4400" dirty="0">
                <a:solidFill>
                  <a:srgbClr val="FF0000"/>
                </a:solidFill>
              </a:rPr>
              <a:t>数字</a:t>
            </a:r>
            <a:r>
              <a:rPr lang="en-US" altLang="zh-CN" sz="4400" dirty="0">
                <a:solidFill>
                  <a:srgbClr val="FF0000"/>
                </a:solidFill>
              </a:rPr>
              <a:t>-</a:t>
            </a:r>
            <a:r>
              <a:rPr lang="zh-CN" altLang="en-US" sz="4400" dirty="0">
                <a:solidFill>
                  <a:srgbClr val="FF0000"/>
                </a:solidFill>
              </a:rPr>
              <a:t>模拟信号混合传输收发机</a:t>
            </a:r>
            <a:r>
              <a:rPr lang="en-US" altLang="zh-CN" sz="4400" dirty="0">
                <a:solidFill>
                  <a:srgbClr val="FF0000"/>
                </a:solidFill>
              </a:rPr>
              <a:t/>
            </a:r>
            <a:br>
              <a:rPr lang="en-US" altLang="zh-CN" sz="4400" dirty="0">
                <a:solidFill>
                  <a:srgbClr val="FF0000"/>
                </a:solidFill>
              </a:rPr>
            </a:br>
            <a:r>
              <a:rPr lang="zh-CN" altLang="en-US" sz="3600" dirty="0">
                <a:latin typeface="隶书" panose="02010509060101010101" pitchFamily="49" charset="-122"/>
                <a:ea typeface="隶书" panose="02010509060101010101" pitchFamily="49" charset="-122"/>
              </a:rPr>
              <a:t/>
            </a:r>
            <a:br>
              <a:rPr lang="zh-CN" altLang="en-US" sz="3600" dirty="0">
                <a:latin typeface="隶书" panose="02010509060101010101" pitchFamily="49" charset="-122"/>
                <a:ea typeface="隶书" panose="02010509060101010101" pitchFamily="49" charset="-122"/>
              </a:rPr>
            </a:br>
            <a:r>
              <a:rPr lang="zh-CN" altLang="en-US" sz="2400" dirty="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453384" y="464013"/>
            <a:ext cx="11313886" cy="3493264"/>
          </a:xfrm>
          <a:prstGeom prst="rect">
            <a:avLst/>
          </a:prstGeom>
          <a:noFill/>
        </p:spPr>
        <p:txBody>
          <a:bodyPr wrap="square" rtlCol="0">
            <a:spAutoFit/>
          </a:bodyPr>
          <a:lstStyle/>
          <a:p>
            <a:pPr indent="457200" algn="ctr"/>
            <a:r>
              <a:rPr lang="zh-CN" altLang="en-US" sz="3200" dirty="0">
                <a:solidFill>
                  <a:srgbClr val="FF0000"/>
                </a:solidFill>
                <a:latin typeface="隶书" panose="02010509060101010101" pitchFamily="49" charset="-122"/>
                <a:ea typeface="隶书" panose="02010509060101010101" pitchFamily="49" charset="-122"/>
              </a:rPr>
              <a:t>题目</a:t>
            </a:r>
            <a:endParaRPr lang="en-US" altLang="zh-CN" sz="3200" dirty="0">
              <a:solidFill>
                <a:srgbClr val="FF0000"/>
              </a:solidFill>
              <a:latin typeface="隶书" panose="02010509060101010101" pitchFamily="49" charset="-122"/>
              <a:ea typeface="隶书" panose="02010509060101010101" pitchFamily="49" charset="-122"/>
            </a:endParaRPr>
          </a:p>
          <a:p>
            <a:pPr indent="457200">
              <a:lnSpc>
                <a:spcPct val="150000"/>
              </a:lnSpc>
            </a:pPr>
            <a:r>
              <a:rPr lang="zh-CN" altLang="zh-CN" sz="1800" dirty="0"/>
              <a:t>一、任务 </a:t>
            </a:r>
          </a:p>
          <a:p>
            <a:pPr indent="457200">
              <a:lnSpc>
                <a:spcPct val="150000"/>
              </a:lnSpc>
            </a:pPr>
            <a:r>
              <a:rPr lang="zh-CN" altLang="zh-CN" sz="1800" dirty="0"/>
              <a:t>设计并制作在同一信道进行数字</a:t>
            </a:r>
            <a:r>
              <a:rPr lang="en-US" altLang="zh-CN" sz="1800" dirty="0"/>
              <a:t>-</a:t>
            </a:r>
            <a:r>
              <a:rPr lang="zh-CN" altLang="zh-CN" sz="1800" dirty="0"/>
              <a:t>模拟信号混合传输的无线收发机。其中，数字信号由</a:t>
            </a:r>
            <a:r>
              <a:rPr lang="en-US" altLang="zh-CN" sz="1800" dirty="0"/>
              <a:t>4 </a:t>
            </a:r>
            <a:r>
              <a:rPr lang="zh-CN" altLang="zh-CN" sz="1800" dirty="0"/>
              <a:t>个</a:t>
            </a:r>
            <a:r>
              <a:rPr lang="en-US" altLang="zh-CN" sz="1800" dirty="0"/>
              <a:t>0~9 </a:t>
            </a:r>
            <a:r>
              <a:rPr lang="zh-CN" altLang="zh-CN" sz="1800" dirty="0"/>
              <a:t>的一组数字构成；模拟信号为语音信号，频率范围为</a:t>
            </a:r>
            <a:r>
              <a:rPr lang="en-US" altLang="zh-CN" sz="1800" dirty="0"/>
              <a:t>100Hz~5kHz</a:t>
            </a:r>
            <a:r>
              <a:rPr lang="zh-CN" altLang="zh-CN" sz="1800" dirty="0"/>
              <a:t>。采用无线传输，载波频率范围为</a:t>
            </a:r>
            <a:r>
              <a:rPr lang="en-US" altLang="zh-CN" sz="1800" dirty="0"/>
              <a:t>20~30MHz</a:t>
            </a:r>
            <a:r>
              <a:rPr lang="zh-CN" altLang="zh-CN" sz="1800" dirty="0"/>
              <a:t>，信道带宽不大于</a:t>
            </a:r>
            <a:r>
              <a:rPr lang="en-US" altLang="zh-CN" sz="1800" dirty="0"/>
              <a:t>25kHz</a:t>
            </a:r>
            <a:r>
              <a:rPr lang="zh-CN" altLang="zh-CN" sz="1800" dirty="0"/>
              <a:t>，收发设备间最短的传输距离不小于</a:t>
            </a:r>
            <a:r>
              <a:rPr lang="en-US" altLang="zh-CN" sz="1800" dirty="0"/>
              <a:t>100cm</a:t>
            </a:r>
            <a:r>
              <a:rPr lang="zh-CN" altLang="zh-CN" sz="1800" dirty="0"/>
              <a:t>。</a:t>
            </a:r>
          </a:p>
          <a:p>
            <a:pPr indent="457200">
              <a:lnSpc>
                <a:spcPct val="150000"/>
              </a:lnSpc>
            </a:pPr>
            <a:r>
              <a:rPr lang="zh-CN" altLang="zh-CN" sz="1800" dirty="0"/>
              <a:t>收发机的发送端完成数字信号和模拟信号合路处理，在同一信道调制发送。</a:t>
            </a:r>
          </a:p>
          <a:p>
            <a:pPr indent="457200">
              <a:lnSpc>
                <a:spcPct val="150000"/>
              </a:lnSpc>
            </a:pPr>
            <a:r>
              <a:rPr lang="zh-CN" altLang="zh-CN" sz="1800" dirty="0"/>
              <a:t>收发机的接收端完成接收解调，分离出数字信号和模拟信号，数字信号用数码管显示，模拟信号用示波器观测。</a:t>
            </a:r>
          </a:p>
        </p:txBody>
      </p:sp>
      <p:pic>
        <p:nvPicPr>
          <p:cNvPr id="6" name="图片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3189" y="3772689"/>
            <a:ext cx="5974277" cy="2523408"/>
          </a:xfrm>
          <a:prstGeom prst="rect">
            <a:avLst/>
          </a:prstGeom>
          <a:noFill/>
          <a:ln>
            <a:noFill/>
          </a:ln>
        </p:spPr>
      </p:pic>
    </p:spTree>
    <p:extLst>
      <p:ext uri="{BB962C8B-B14F-4D97-AF65-F5344CB8AC3E}">
        <p14:creationId xmlns:p14="http://schemas.microsoft.com/office/powerpoint/2010/main" val="41554196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文本框 1"/>
          <p:cNvSpPr txBox="1"/>
          <p:nvPr/>
        </p:nvSpPr>
        <p:spPr>
          <a:xfrm>
            <a:off x="478971" y="404824"/>
            <a:ext cx="11226800" cy="5027723"/>
          </a:xfrm>
          <a:prstGeom prst="rect">
            <a:avLst/>
          </a:prstGeom>
          <a:noFill/>
        </p:spPr>
        <p:txBody>
          <a:bodyPr wrap="square" rtlCol="0">
            <a:spAutoFit/>
          </a:bodyPr>
          <a:lstStyle/>
          <a:p>
            <a:pPr indent="457200">
              <a:lnSpc>
                <a:spcPct val="150000"/>
              </a:lnSpc>
            </a:pPr>
            <a:r>
              <a:rPr lang="zh-CN" altLang="zh-CN" sz="1800" dirty="0"/>
              <a:t>二、要求</a:t>
            </a:r>
          </a:p>
          <a:p>
            <a:pPr indent="457200">
              <a:lnSpc>
                <a:spcPct val="150000"/>
              </a:lnSpc>
            </a:pPr>
            <a:r>
              <a:rPr lang="en-US" altLang="zh-CN" sz="1800" dirty="0"/>
              <a:t>1. </a:t>
            </a:r>
            <a:r>
              <a:rPr lang="zh-CN" altLang="zh-CN" sz="1800" dirty="0"/>
              <a:t>基本要求</a:t>
            </a:r>
          </a:p>
          <a:p>
            <a:pPr indent="457200">
              <a:lnSpc>
                <a:spcPct val="150000"/>
              </a:lnSpc>
            </a:pPr>
            <a:r>
              <a:rPr lang="zh-CN" altLang="zh-CN" sz="1800" dirty="0"/>
              <a:t>（</a:t>
            </a:r>
            <a:r>
              <a:rPr lang="en-US" altLang="zh-CN" sz="1800" dirty="0"/>
              <a:t>1</a:t>
            </a:r>
            <a:r>
              <a:rPr lang="zh-CN" altLang="zh-CN" sz="1800" dirty="0"/>
              <a:t>） 实现模拟信号传输。模拟信号为</a:t>
            </a:r>
            <a:r>
              <a:rPr lang="en-US" altLang="zh-CN" sz="1800" dirty="0"/>
              <a:t>100Hz~5kHz</a:t>
            </a:r>
            <a:r>
              <a:rPr lang="zh-CN" altLang="zh-CN" sz="1800" dirty="0"/>
              <a:t>的语音信号，要求接收端解调后的模拟信号波形无明显失真。在只有模拟信号传输时，接收端的数码显示处于熄灭状态。</a:t>
            </a:r>
          </a:p>
          <a:p>
            <a:pPr indent="457200">
              <a:lnSpc>
                <a:spcPct val="150000"/>
              </a:lnSpc>
            </a:pPr>
            <a:r>
              <a:rPr lang="zh-CN" altLang="zh-CN" sz="1800" dirty="0"/>
              <a:t>（</a:t>
            </a:r>
            <a:r>
              <a:rPr lang="en-US" altLang="zh-CN" sz="1800" dirty="0"/>
              <a:t>2</a:t>
            </a:r>
            <a:r>
              <a:rPr lang="zh-CN" altLang="zh-CN" sz="1800" dirty="0"/>
              <a:t>） 实现数字信号传输。首先键入</a:t>
            </a:r>
            <a:r>
              <a:rPr lang="en-US" altLang="zh-CN" sz="1800" dirty="0"/>
              <a:t>4</a:t>
            </a:r>
            <a:r>
              <a:rPr lang="zh-CN" altLang="zh-CN" sz="1800" dirty="0"/>
              <a:t>个</a:t>
            </a:r>
            <a:r>
              <a:rPr lang="en-US" altLang="zh-CN" sz="1800" dirty="0"/>
              <a:t>0~9</a:t>
            </a:r>
            <a:r>
              <a:rPr lang="zh-CN" altLang="zh-CN" sz="1800" dirty="0"/>
              <a:t>的一组数字，在发送端进行存储并显示，然后按下发送键对数字信号连续循环传输。在接收端解调出数字信号，并通过</a:t>
            </a:r>
            <a:r>
              <a:rPr lang="en-US" altLang="zh-CN" sz="1800" dirty="0"/>
              <a:t>4</a:t>
            </a:r>
            <a:r>
              <a:rPr lang="zh-CN" altLang="zh-CN" sz="1800" dirty="0"/>
              <a:t>个数码管显示。要求开始发送到数码管显示的响应时间不大于</a:t>
            </a:r>
            <a:r>
              <a:rPr lang="en-US" altLang="zh-CN" sz="1800" dirty="0"/>
              <a:t>2</a:t>
            </a:r>
            <a:r>
              <a:rPr lang="zh-CN" altLang="zh-CN" sz="1800" dirty="0"/>
              <a:t>秒。当发送端按下停止键，结束数字信号传输，同时在发送端清除已传数字的显示，等待键入新的数字。</a:t>
            </a:r>
          </a:p>
          <a:p>
            <a:pPr indent="457200">
              <a:lnSpc>
                <a:spcPct val="150000"/>
              </a:lnSpc>
            </a:pPr>
            <a:r>
              <a:rPr lang="zh-CN" altLang="zh-CN" sz="1800" dirty="0"/>
              <a:t>（</a:t>
            </a:r>
            <a:r>
              <a:rPr lang="en-US" altLang="zh-CN" sz="1800" dirty="0"/>
              <a:t>3</a:t>
            </a:r>
            <a:r>
              <a:rPr lang="zh-CN" altLang="zh-CN" sz="1800" dirty="0"/>
              <a:t>）实现数字</a:t>
            </a:r>
            <a:r>
              <a:rPr lang="en-US" altLang="zh-CN" sz="1800" dirty="0"/>
              <a:t>-</a:t>
            </a:r>
            <a:r>
              <a:rPr lang="zh-CN" altLang="zh-CN" sz="1800" dirty="0"/>
              <a:t>模拟信号的混合传输。任意键入一组数字，与模拟信号混合调制后进行传输。要求接收端能正确解调数字信号和模拟信号，数字显示正确，模拟信号波形无明显失真。</a:t>
            </a:r>
          </a:p>
          <a:p>
            <a:pPr indent="457200">
              <a:lnSpc>
                <a:spcPct val="150000"/>
              </a:lnSpc>
            </a:pPr>
            <a:r>
              <a:rPr lang="zh-CN" altLang="zh-CN" sz="1800" dirty="0"/>
              <a:t>（</a:t>
            </a:r>
            <a:r>
              <a:rPr lang="en-US" altLang="zh-CN" sz="1800" dirty="0"/>
              <a:t>4</a:t>
            </a:r>
            <a:r>
              <a:rPr lang="zh-CN" altLang="zh-CN" sz="1800" dirty="0"/>
              <a:t>） 收发机的信道带宽不大于</a:t>
            </a:r>
            <a:r>
              <a:rPr lang="en-US" altLang="zh-CN" sz="1800" dirty="0"/>
              <a:t>25kHz</a:t>
            </a:r>
            <a:r>
              <a:rPr lang="zh-CN" altLang="zh-CN" sz="1800" dirty="0"/>
              <a:t>，载波频率范围为</a:t>
            </a:r>
            <a:r>
              <a:rPr lang="en-US" altLang="zh-CN" sz="1800" dirty="0"/>
              <a:t>20~30MHz</a:t>
            </a:r>
            <a:r>
              <a:rPr lang="zh-CN" altLang="zh-CN" sz="1800" dirty="0"/>
              <a:t>。要求收发机可在不少于</a:t>
            </a:r>
            <a:r>
              <a:rPr lang="en-US" altLang="zh-CN" sz="1800" dirty="0"/>
              <a:t>3 </a:t>
            </a:r>
            <a:r>
              <a:rPr lang="zh-CN" altLang="zh-CN" sz="1800" dirty="0"/>
              <a:t>个载波频率中选择设置，具体的载波频率自行确定。</a:t>
            </a:r>
          </a:p>
        </p:txBody>
      </p:sp>
    </p:spTree>
    <p:extLst>
      <p:ext uri="{BB962C8B-B14F-4D97-AF65-F5344CB8AC3E}">
        <p14:creationId xmlns:p14="http://schemas.microsoft.com/office/powerpoint/2010/main" val="1447300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sp>
        <p:nvSpPr>
          <p:cNvPr id="2" name="文本框 1"/>
          <p:cNvSpPr txBox="1"/>
          <p:nvPr/>
        </p:nvSpPr>
        <p:spPr>
          <a:xfrm>
            <a:off x="471714" y="607273"/>
            <a:ext cx="11219543" cy="2119234"/>
          </a:xfrm>
          <a:prstGeom prst="rect">
            <a:avLst/>
          </a:prstGeom>
          <a:noFill/>
        </p:spPr>
        <p:txBody>
          <a:bodyPr wrap="square" rtlCol="0">
            <a:spAutoFit/>
          </a:bodyPr>
          <a:lstStyle/>
          <a:p>
            <a:pPr indent="457200">
              <a:lnSpc>
                <a:spcPct val="150000"/>
              </a:lnSpc>
            </a:pPr>
            <a:r>
              <a:rPr lang="en-US" altLang="zh-CN" sz="1800" dirty="0"/>
              <a:t>2. </a:t>
            </a:r>
            <a:r>
              <a:rPr lang="zh-CN" altLang="zh-CN" sz="1800" dirty="0"/>
              <a:t>发挥部分</a:t>
            </a:r>
          </a:p>
          <a:p>
            <a:pPr indent="457200">
              <a:lnSpc>
                <a:spcPct val="150000"/>
              </a:lnSpc>
            </a:pPr>
            <a:r>
              <a:rPr lang="zh-CN" altLang="zh-CN" sz="1800" dirty="0"/>
              <a:t>（</a:t>
            </a:r>
            <a:r>
              <a:rPr lang="en-US" altLang="zh-CN" sz="1800" dirty="0"/>
              <a:t>1</a:t>
            </a:r>
            <a:r>
              <a:rPr lang="zh-CN" altLang="zh-CN" sz="1800" dirty="0"/>
              <a:t>）在发送端停止数字信号传输后，接收端数码显示延迟</a:t>
            </a:r>
            <a:r>
              <a:rPr lang="en-US" altLang="zh-CN" sz="1800" dirty="0"/>
              <a:t>5</a:t>
            </a:r>
            <a:r>
              <a:rPr lang="zh-CN" altLang="zh-CN" sz="1800" dirty="0"/>
              <a:t>秒自动熄灭。</a:t>
            </a:r>
          </a:p>
          <a:p>
            <a:pPr indent="457200">
              <a:lnSpc>
                <a:spcPct val="150000"/>
              </a:lnSpc>
            </a:pPr>
            <a:r>
              <a:rPr lang="zh-CN" altLang="zh-CN" sz="1800" dirty="0"/>
              <a:t>（</a:t>
            </a:r>
            <a:r>
              <a:rPr lang="en-US" altLang="zh-CN" sz="1800" dirty="0"/>
              <a:t>2</a:t>
            </a:r>
            <a:r>
              <a:rPr lang="zh-CN" altLang="zh-CN" sz="1800" dirty="0"/>
              <a:t>）在满足基本要求的前提下，收发机发送端的功耗越低越好。</a:t>
            </a:r>
          </a:p>
          <a:p>
            <a:pPr indent="457200">
              <a:lnSpc>
                <a:spcPct val="150000"/>
              </a:lnSpc>
            </a:pPr>
            <a:r>
              <a:rPr lang="zh-CN" altLang="zh-CN" sz="1800" dirty="0"/>
              <a:t>（</a:t>
            </a:r>
            <a:r>
              <a:rPr lang="en-US" altLang="zh-CN" sz="1800" dirty="0"/>
              <a:t>3</a:t>
            </a:r>
            <a:r>
              <a:rPr lang="zh-CN" altLang="zh-CN" sz="1800" dirty="0"/>
              <a:t>）在满足基本要求的前提下，收发机所传输的模拟信号频率范围扩展到</a:t>
            </a:r>
            <a:r>
              <a:rPr lang="en-US" altLang="zh-CN" sz="1800" dirty="0"/>
              <a:t>50Hz~10kHz</a:t>
            </a:r>
            <a:r>
              <a:rPr lang="zh-CN" altLang="zh-CN" sz="1800" dirty="0"/>
              <a:t>。</a:t>
            </a:r>
          </a:p>
          <a:p>
            <a:pPr indent="457200">
              <a:lnSpc>
                <a:spcPct val="150000"/>
              </a:lnSpc>
            </a:pPr>
            <a:r>
              <a:rPr lang="zh-CN" altLang="zh-CN" sz="1800" dirty="0"/>
              <a:t>（</a:t>
            </a:r>
            <a:r>
              <a:rPr lang="en-US" altLang="zh-CN" sz="1800" dirty="0"/>
              <a:t>4</a:t>
            </a:r>
            <a:r>
              <a:rPr lang="zh-CN" altLang="zh-CN" sz="1800" dirty="0"/>
              <a:t>）其他。</a:t>
            </a:r>
          </a:p>
        </p:txBody>
      </p:sp>
    </p:spTree>
    <p:extLst>
      <p:ext uri="{BB962C8B-B14F-4D97-AF65-F5344CB8AC3E}">
        <p14:creationId xmlns:p14="http://schemas.microsoft.com/office/powerpoint/2010/main" val="9274411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a:t>
            </a:fld>
            <a:endParaRPr lang="en-US" altLang="zh-CN"/>
          </a:p>
        </p:txBody>
      </p:sp>
      <p:sp>
        <p:nvSpPr>
          <p:cNvPr id="2" name="文本框 1"/>
          <p:cNvSpPr txBox="1"/>
          <p:nvPr/>
        </p:nvSpPr>
        <p:spPr>
          <a:xfrm>
            <a:off x="449942" y="439749"/>
            <a:ext cx="11299371" cy="3416320"/>
          </a:xfrm>
          <a:prstGeom prst="rect">
            <a:avLst/>
          </a:prstGeom>
          <a:noFill/>
        </p:spPr>
        <p:txBody>
          <a:bodyPr wrap="square" rtlCol="0">
            <a:spAutoFit/>
          </a:bodyPr>
          <a:lstStyle/>
          <a:p>
            <a:pPr indent="457200">
              <a:lnSpc>
                <a:spcPct val="150000"/>
              </a:lnSpc>
            </a:pPr>
            <a:r>
              <a:rPr lang="zh-CN" altLang="zh-CN" sz="1800" dirty="0"/>
              <a:t>三、说明</a:t>
            </a:r>
          </a:p>
          <a:p>
            <a:pPr indent="457200">
              <a:lnSpc>
                <a:spcPct val="150000"/>
              </a:lnSpc>
            </a:pPr>
            <a:r>
              <a:rPr lang="zh-CN" altLang="zh-CN" sz="1800" dirty="0"/>
              <a:t>（</a:t>
            </a:r>
            <a:r>
              <a:rPr lang="en-US" altLang="zh-CN" sz="1800" dirty="0"/>
              <a:t>1</a:t>
            </a:r>
            <a:r>
              <a:rPr lang="zh-CN" altLang="zh-CN" sz="1800" dirty="0"/>
              <a:t>）数字和模拟信号必须先经过合路电路处理，然后在同一信道上调制传输，其调制方式和调制度自行确定。在合路电路的输出端应留有观测端口，用于示波器观测合路信号的波形变化。</a:t>
            </a:r>
          </a:p>
          <a:p>
            <a:pPr indent="457200">
              <a:lnSpc>
                <a:spcPct val="150000"/>
              </a:lnSpc>
            </a:pPr>
            <a:r>
              <a:rPr lang="zh-CN" altLang="zh-CN" sz="1800" dirty="0"/>
              <a:t>（</a:t>
            </a:r>
            <a:r>
              <a:rPr lang="en-US" altLang="zh-CN" sz="1800" dirty="0"/>
              <a:t>2</a:t>
            </a:r>
            <a:r>
              <a:rPr lang="zh-CN" altLang="zh-CN" sz="1800" dirty="0"/>
              <a:t>）收发机的发送端和接收端之间不得有任何连线。</a:t>
            </a:r>
          </a:p>
          <a:p>
            <a:pPr indent="457200">
              <a:lnSpc>
                <a:spcPct val="150000"/>
              </a:lnSpc>
            </a:pPr>
            <a:r>
              <a:rPr lang="zh-CN" altLang="zh-CN" sz="1800" dirty="0"/>
              <a:t>（</a:t>
            </a:r>
            <a:r>
              <a:rPr lang="en-US" altLang="zh-CN" sz="1800" dirty="0"/>
              <a:t>3</a:t>
            </a:r>
            <a:r>
              <a:rPr lang="zh-CN" altLang="zh-CN" sz="1800" dirty="0"/>
              <a:t>）收发机的发送端与天线的连接采用</a:t>
            </a:r>
            <a:r>
              <a:rPr lang="en-US" altLang="zh-CN" sz="1800" dirty="0"/>
              <a:t>SMA</a:t>
            </a:r>
            <a:r>
              <a:rPr lang="zh-CN" altLang="zh-CN" sz="1800" dirty="0"/>
              <a:t>接插头，发送端为</a:t>
            </a:r>
            <a:r>
              <a:rPr lang="en-US" altLang="zh-CN" sz="1800" dirty="0"/>
              <a:t>F</a:t>
            </a:r>
            <a:r>
              <a:rPr lang="zh-CN" altLang="zh-CN" sz="1800" dirty="0"/>
              <a:t>（母）头，天线端为</a:t>
            </a:r>
            <a:r>
              <a:rPr lang="en-US" altLang="zh-CN" sz="1800" dirty="0"/>
              <a:t>M</a:t>
            </a:r>
            <a:r>
              <a:rPr lang="zh-CN" altLang="zh-CN" sz="1800" dirty="0"/>
              <a:t>（公）头。天线的长度不超过</a:t>
            </a:r>
            <a:r>
              <a:rPr lang="en-US" altLang="zh-CN" sz="1800" dirty="0"/>
              <a:t>1</a:t>
            </a:r>
            <a:r>
              <a:rPr lang="zh-CN" altLang="zh-CN" sz="1800" dirty="0"/>
              <a:t>米。</a:t>
            </a:r>
          </a:p>
          <a:p>
            <a:pPr indent="457200">
              <a:lnSpc>
                <a:spcPct val="150000"/>
              </a:lnSpc>
            </a:pPr>
            <a:r>
              <a:rPr lang="zh-CN" altLang="zh-CN" sz="1800" dirty="0"/>
              <a:t>（</a:t>
            </a:r>
            <a:r>
              <a:rPr lang="en-US" altLang="zh-CN" sz="1800" dirty="0"/>
              <a:t>4</a:t>
            </a:r>
            <a:r>
              <a:rPr lang="zh-CN" altLang="zh-CN" sz="1800" dirty="0"/>
              <a:t>）收发机的发送端和接收端均采用电池单电源供电，发送端的供电电路应留有供电电压和电流的测试端口。</a:t>
            </a:r>
          </a:p>
        </p:txBody>
      </p:sp>
      <p:sp>
        <p:nvSpPr>
          <p:cNvPr id="6" name="文本框 5"/>
          <p:cNvSpPr txBox="1"/>
          <p:nvPr/>
        </p:nvSpPr>
        <p:spPr>
          <a:xfrm>
            <a:off x="449943" y="3698316"/>
            <a:ext cx="5255170" cy="1703736"/>
          </a:xfrm>
          <a:prstGeom prst="rect">
            <a:avLst/>
          </a:prstGeom>
          <a:noFill/>
        </p:spPr>
        <p:txBody>
          <a:bodyPr wrap="square" rtlCol="0">
            <a:spAutoFit/>
          </a:bodyPr>
          <a:lstStyle/>
          <a:p>
            <a:pPr indent="457200">
              <a:lnSpc>
                <a:spcPct val="150000"/>
              </a:lnSpc>
            </a:pPr>
            <a:r>
              <a:rPr lang="zh-CN" altLang="zh-CN" sz="1800" dirty="0"/>
              <a:t>（</a:t>
            </a:r>
            <a:r>
              <a:rPr lang="en-US" altLang="zh-CN" sz="1800" dirty="0"/>
              <a:t>5</a:t>
            </a:r>
            <a:r>
              <a:rPr lang="zh-CN" altLang="zh-CN" sz="1800" dirty="0"/>
              <a:t>）收发机的载波频率选取应尽量避开环境电波干扰。</a:t>
            </a:r>
          </a:p>
          <a:p>
            <a:pPr indent="457200">
              <a:lnSpc>
                <a:spcPct val="150000"/>
              </a:lnSpc>
            </a:pPr>
            <a:r>
              <a:rPr lang="zh-CN" altLang="zh-CN" sz="1800" dirty="0"/>
              <a:t>（</a:t>
            </a:r>
            <a:r>
              <a:rPr lang="en-US" altLang="zh-CN" sz="1800" dirty="0"/>
              <a:t>6</a:t>
            </a:r>
            <a:r>
              <a:rPr lang="zh-CN" altLang="zh-CN" sz="1800" dirty="0"/>
              <a:t>）本题目中信道带宽约定为已调信号的</a:t>
            </a:r>
            <a:r>
              <a:rPr lang="en-US" altLang="zh-CN" sz="1800" dirty="0"/>
              <a:t> -40dB </a:t>
            </a:r>
            <a:r>
              <a:rPr lang="zh-CN" altLang="zh-CN" sz="1800" dirty="0"/>
              <a:t>带宽，通过频谱仪进行测量。具体如图所示。</a:t>
            </a:r>
            <a:endParaRPr lang="zh-CN" altLang="en-US" sz="1600" dirty="0"/>
          </a:p>
        </p:txBody>
      </p:sp>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6527801" y="3630797"/>
            <a:ext cx="4123964" cy="2594511"/>
          </a:xfrm>
          <a:prstGeom prst="rect">
            <a:avLst/>
          </a:prstGeom>
          <a:noFill/>
          <a:ln>
            <a:noFill/>
          </a:ln>
        </p:spPr>
      </p:pic>
    </p:spTree>
    <p:extLst>
      <p:ext uri="{BB962C8B-B14F-4D97-AF65-F5344CB8AC3E}">
        <p14:creationId xmlns:p14="http://schemas.microsoft.com/office/powerpoint/2010/main" val="17546355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6</a:t>
            </a:fld>
            <a:endParaRPr lang="en-US" altLang="zh-CN"/>
          </a:p>
        </p:txBody>
      </p:sp>
      <p:sp>
        <p:nvSpPr>
          <p:cNvPr id="6" name="矩形 5"/>
          <p:cNvSpPr/>
          <p:nvPr/>
        </p:nvSpPr>
        <p:spPr>
          <a:xfrm>
            <a:off x="500743" y="282145"/>
            <a:ext cx="11197772" cy="5401479"/>
          </a:xfrm>
          <a:prstGeom prst="rect">
            <a:avLst/>
          </a:prstGeom>
        </p:spPr>
        <p:txBody>
          <a:bodyPr wrap="square">
            <a:spAutoFit/>
          </a:bodyPr>
          <a:lstStyle/>
          <a:p>
            <a:pPr algn="ctr">
              <a:lnSpc>
                <a:spcPct val="150000"/>
              </a:lnSpc>
            </a:pPr>
            <a:r>
              <a:rPr lang="zh-CN" altLang="zh-CN" sz="3200" dirty="0">
                <a:solidFill>
                  <a:srgbClr val="FF0000"/>
                </a:solidFill>
                <a:latin typeface="隶书" panose="02010509060101010101" pitchFamily="49" charset="-122"/>
                <a:ea typeface="隶书" panose="02010509060101010101" pitchFamily="49" charset="-122"/>
              </a:rPr>
              <a:t>题目分析</a:t>
            </a:r>
          </a:p>
          <a:p>
            <a:pPr indent="432000">
              <a:lnSpc>
                <a:spcPct val="150000"/>
              </a:lnSpc>
            </a:pPr>
            <a:r>
              <a:rPr lang="zh-CN" altLang="zh-CN" sz="1800" dirty="0"/>
              <a:t>本题目是一个比较完整的无线收发系统，要求模拟信号与数字信号同传。根据题目中关于模拟信号传输的要求描述，模拟信号采用模拟传输方式</a:t>
            </a:r>
            <a:r>
              <a:rPr lang="zh-CN" altLang="en-US" sz="1800" dirty="0" smtClean="0"/>
              <a:t>，且</a:t>
            </a:r>
            <a:r>
              <a:rPr lang="zh-CN" altLang="zh-CN" sz="1800" dirty="0" smtClean="0"/>
              <a:t>规定</a:t>
            </a:r>
            <a:r>
              <a:rPr lang="zh-CN" altLang="zh-CN" sz="1800" dirty="0"/>
              <a:t>信道带宽为</a:t>
            </a:r>
            <a:r>
              <a:rPr lang="en-US" altLang="zh-CN" sz="1800" dirty="0"/>
              <a:t>25kHz</a:t>
            </a:r>
            <a:r>
              <a:rPr lang="zh-CN" altLang="zh-CN" sz="1800" dirty="0"/>
              <a:t> 。</a:t>
            </a:r>
            <a:endParaRPr lang="en-US" altLang="zh-CN" sz="1800" dirty="0"/>
          </a:p>
          <a:p>
            <a:pPr indent="432000">
              <a:lnSpc>
                <a:spcPct val="150000"/>
              </a:lnSpc>
            </a:pPr>
            <a:r>
              <a:rPr lang="zh-CN" altLang="en-US" sz="1800" dirty="0" smtClean="0"/>
              <a:t>首先分析两个信号同传的调制方式问题，包括混合信号的调制方式与数字信号的调制方式。</a:t>
            </a:r>
            <a:endParaRPr lang="zh-CN" altLang="zh-CN" sz="1800" dirty="0"/>
          </a:p>
          <a:p>
            <a:pPr indent="432000">
              <a:lnSpc>
                <a:spcPct val="150000"/>
              </a:lnSpc>
            </a:pPr>
            <a:endParaRPr lang="en-US" altLang="zh-CN" sz="1800" dirty="0" smtClean="0"/>
          </a:p>
          <a:p>
            <a:pPr marL="285750" indent="-285750">
              <a:lnSpc>
                <a:spcPct val="150000"/>
              </a:lnSpc>
              <a:buFont typeface="Wingdings" panose="05000000000000000000" pitchFamily="2" charset="2"/>
              <a:buChar char="l"/>
            </a:pPr>
            <a:r>
              <a:rPr lang="zh-CN" altLang="en-US" sz="1800" dirty="0" smtClean="0"/>
              <a:t>混合信号的调制方式</a:t>
            </a:r>
            <a:endParaRPr lang="en-US" altLang="zh-CN" sz="1800" dirty="0"/>
          </a:p>
          <a:p>
            <a:pPr indent="432000">
              <a:lnSpc>
                <a:spcPct val="150000"/>
              </a:lnSpc>
            </a:pPr>
            <a:r>
              <a:rPr lang="zh-CN" altLang="zh-CN" sz="1800" dirty="0" smtClean="0"/>
              <a:t>需要</a:t>
            </a:r>
            <a:r>
              <a:rPr lang="zh-CN" altLang="zh-CN" sz="1800" dirty="0"/>
              <a:t>传输的模拟信号频率范围是</a:t>
            </a:r>
            <a:r>
              <a:rPr lang="en-US" altLang="zh-CN" sz="1800" dirty="0"/>
              <a:t>50Hz~10kHz</a:t>
            </a:r>
            <a:r>
              <a:rPr lang="zh-CN" altLang="zh-CN" sz="1800" dirty="0"/>
              <a:t>（按照提高要求设计</a:t>
            </a:r>
            <a:r>
              <a:rPr lang="zh-CN" altLang="zh-CN" sz="1800" dirty="0" smtClean="0"/>
              <a:t>）</a:t>
            </a:r>
            <a:r>
              <a:rPr lang="zh-CN" altLang="en-US" sz="1800" dirty="0" smtClean="0"/>
              <a:t>。</a:t>
            </a:r>
            <a:r>
              <a:rPr lang="zh-CN" altLang="zh-CN" sz="1800" dirty="0"/>
              <a:t>若采用</a:t>
            </a:r>
            <a:r>
              <a:rPr lang="en-US" altLang="zh-CN" sz="1800" dirty="0"/>
              <a:t>AM</a:t>
            </a:r>
            <a:r>
              <a:rPr lang="zh-CN" altLang="zh-CN" sz="1800" dirty="0"/>
              <a:t>调制</a:t>
            </a:r>
            <a:r>
              <a:rPr lang="zh-CN" altLang="zh-CN" sz="1800" dirty="0" smtClean="0"/>
              <a:t>，需要</a:t>
            </a:r>
            <a:r>
              <a:rPr lang="zh-CN" altLang="zh-CN" sz="1800" dirty="0"/>
              <a:t>的信道带宽为</a:t>
            </a:r>
            <a:r>
              <a:rPr lang="en-US" altLang="zh-CN" sz="1800" dirty="0" smtClean="0"/>
              <a:t>20kHz</a:t>
            </a:r>
            <a:r>
              <a:rPr lang="zh-CN" altLang="en-US" sz="1800" dirty="0" smtClean="0"/>
              <a:t>；若采用</a:t>
            </a:r>
            <a:r>
              <a:rPr lang="en-US" altLang="zh-CN" sz="1800" dirty="0" smtClean="0"/>
              <a:t>SSBAM</a:t>
            </a:r>
            <a:r>
              <a:rPr lang="zh-CN" altLang="en-US" sz="1800" dirty="0" smtClean="0"/>
              <a:t>（单边带）调制，需要的信道带宽为</a:t>
            </a:r>
            <a:r>
              <a:rPr lang="en-US" altLang="zh-CN" sz="1800" dirty="0" smtClean="0"/>
              <a:t>10kHz</a:t>
            </a:r>
            <a:r>
              <a:rPr lang="zh-CN" altLang="en-US" sz="1800" dirty="0" smtClean="0"/>
              <a:t>；若采用</a:t>
            </a:r>
            <a:r>
              <a:rPr lang="en-US" altLang="zh-CN" sz="1800" dirty="0" smtClean="0"/>
              <a:t>FM</a:t>
            </a:r>
            <a:r>
              <a:rPr lang="zh-CN" altLang="en-US" sz="1800" dirty="0"/>
              <a:t>调制</a:t>
            </a:r>
            <a:r>
              <a:rPr lang="zh-CN" altLang="en-US" sz="1800" dirty="0" smtClean="0"/>
              <a:t>，需要的信道带宽约为</a:t>
            </a:r>
            <a:r>
              <a:rPr lang="en-US" altLang="zh-CN" sz="1800" dirty="0" smtClean="0"/>
              <a:t>20kHz+2</a:t>
            </a:r>
            <a:r>
              <a:rPr lang="el-GR" altLang="zh-CN" sz="1800" dirty="0" smtClean="0"/>
              <a:t>Δ</a:t>
            </a:r>
            <a:r>
              <a:rPr lang="en-US" altLang="zh-CN" sz="1800" dirty="0" err="1" smtClean="0"/>
              <a:t>f</a:t>
            </a:r>
            <a:r>
              <a:rPr lang="en-US" altLang="zh-CN" sz="1800" baseline="-25000" dirty="0" err="1" smtClean="0"/>
              <a:t>m</a:t>
            </a:r>
            <a:r>
              <a:rPr lang="zh-CN" altLang="en-US" sz="1800" dirty="0" smtClean="0"/>
              <a:t>（</a:t>
            </a:r>
            <a:r>
              <a:rPr lang="el-GR" altLang="zh-CN" sz="1800" dirty="0" smtClean="0"/>
              <a:t>Δ</a:t>
            </a:r>
            <a:r>
              <a:rPr lang="en-US" altLang="zh-CN" sz="1800" dirty="0" err="1" smtClean="0"/>
              <a:t>f</a:t>
            </a:r>
            <a:r>
              <a:rPr lang="en-US" altLang="zh-CN" sz="1800" baseline="-25000" dirty="0" err="1"/>
              <a:t>m</a:t>
            </a:r>
            <a:r>
              <a:rPr lang="zh-CN" altLang="en-US" sz="1800" dirty="0" smtClean="0"/>
              <a:t>为最大频偏）。</a:t>
            </a:r>
            <a:endParaRPr lang="en-US" altLang="zh-CN" sz="1800" dirty="0" smtClean="0"/>
          </a:p>
          <a:p>
            <a:pPr indent="432000">
              <a:lnSpc>
                <a:spcPct val="150000"/>
              </a:lnSpc>
            </a:pPr>
            <a:r>
              <a:rPr lang="zh-CN" altLang="en-US" sz="1800" dirty="0" smtClean="0"/>
              <a:t>由于</a:t>
            </a:r>
            <a:r>
              <a:rPr lang="zh-CN" altLang="zh-CN" sz="1800" dirty="0" smtClean="0"/>
              <a:t>需要</a:t>
            </a:r>
            <a:r>
              <a:rPr lang="zh-CN" altLang="zh-CN" sz="1800" dirty="0"/>
              <a:t>传输的数字信号为</a:t>
            </a:r>
            <a:r>
              <a:rPr lang="en-US" altLang="zh-CN" sz="1800" dirty="0"/>
              <a:t>4</a:t>
            </a:r>
            <a:r>
              <a:rPr lang="zh-CN" altLang="zh-CN" sz="1800" dirty="0"/>
              <a:t>位十进制数</a:t>
            </a:r>
            <a:r>
              <a:rPr lang="zh-CN" altLang="zh-CN" sz="1800" dirty="0" smtClean="0"/>
              <a:t>，</a:t>
            </a:r>
            <a:r>
              <a:rPr lang="zh-CN" altLang="en-US" sz="1800" dirty="0" smtClean="0"/>
              <a:t>信息量极低，它</a:t>
            </a:r>
            <a:r>
              <a:rPr lang="zh-CN" altLang="en-US" sz="1800" dirty="0"/>
              <a:t>的带宽</a:t>
            </a:r>
            <a:r>
              <a:rPr lang="zh-CN" altLang="zh-CN" sz="1800" dirty="0"/>
              <a:t>与模拟信号相比几乎可以忽略不计</a:t>
            </a:r>
            <a:r>
              <a:rPr lang="zh-CN" altLang="en-US" sz="1800" dirty="0" smtClean="0"/>
              <a:t>。</a:t>
            </a:r>
            <a:endParaRPr lang="en-US" altLang="zh-CN" sz="1800" dirty="0"/>
          </a:p>
          <a:p>
            <a:pPr indent="432000">
              <a:lnSpc>
                <a:spcPct val="150000"/>
              </a:lnSpc>
            </a:pPr>
            <a:r>
              <a:rPr lang="zh-CN" altLang="en-US" sz="1800" dirty="0" smtClean="0"/>
              <a:t>所以理论上说，前面三种调制方式都可以做到两路信号同传，但是考虑到无论发送还是接收，普通</a:t>
            </a:r>
            <a:r>
              <a:rPr lang="en-US" altLang="zh-CN" sz="1800" dirty="0" smtClean="0"/>
              <a:t>AM</a:t>
            </a:r>
            <a:r>
              <a:rPr lang="zh-CN" altLang="en-US" sz="1800" dirty="0" smtClean="0"/>
              <a:t>是三种调制方式中最简单的，所以下面讨论采用普通</a:t>
            </a:r>
            <a:r>
              <a:rPr lang="en-US" altLang="zh-CN" sz="1800" dirty="0" smtClean="0"/>
              <a:t>AM</a:t>
            </a:r>
            <a:r>
              <a:rPr lang="zh-CN" altLang="en-US" sz="1800" dirty="0" smtClean="0"/>
              <a:t>调制的方案。</a:t>
            </a:r>
            <a:endParaRPr lang="zh-CN" altLang="zh-CN" sz="1600" dirty="0"/>
          </a:p>
        </p:txBody>
      </p:sp>
    </p:spTree>
    <p:extLst>
      <p:ext uri="{BB962C8B-B14F-4D97-AF65-F5344CB8AC3E}">
        <p14:creationId xmlns:p14="http://schemas.microsoft.com/office/powerpoint/2010/main" val="16787424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7</a:t>
            </a:fld>
            <a:endParaRPr lang="en-US" altLang="zh-CN"/>
          </a:p>
        </p:txBody>
      </p:sp>
      <p:sp>
        <p:nvSpPr>
          <p:cNvPr id="2" name="文本框 1"/>
          <p:cNvSpPr txBox="1"/>
          <p:nvPr/>
        </p:nvSpPr>
        <p:spPr>
          <a:xfrm>
            <a:off x="471714" y="607273"/>
            <a:ext cx="11270343" cy="2169825"/>
          </a:xfrm>
          <a:prstGeom prst="rect">
            <a:avLst/>
          </a:prstGeom>
          <a:noFill/>
        </p:spPr>
        <p:txBody>
          <a:bodyPr wrap="square" rtlCol="0">
            <a:spAutoFit/>
          </a:bodyPr>
          <a:lstStyle/>
          <a:p>
            <a:pPr indent="457200">
              <a:lnSpc>
                <a:spcPct val="150000"/>
              </a:lnSpc>
            </a:pPr>
            <a:r>
              <a:rPr lang="zh-CN" altLang="zh-CN" sz="1800" dirty="0"/>
              <a:t>题目规定的信道带宽为</a:t>
            </a:r>
            <a:r>
              <a:rPr lang="en-US" altLang="zh-CN" sz="1800" dirty="0"/>
              <a:t>25kHz</a:t>
            </a:r>
            <a:r>
              <a:rPr lang="zh-CN" altLang="zh-CN" sz="1800" dirty="0"/>
              <a:t>，模拟信号占用了中间的</a:t>
            </a:r>
            <a:r>
              <a:rPr lang="en-US" altLang="zh-CN" sz="1800" dirty="0"/>
              <a:t>20kHz</a:t>
            </a:r>
            <a:r>
              <a:rPr lang="zh-CN" altLang="zh-CN" sz="1800" dirty="0"/>
              <a:t>，两侧各剩下</a:t>
            </a:r>
            <a:r>
              <a:rPr lang="en-US" altLang="zh-CN" sz="1800" dirty="0"/>
              <a:t>2.5kHz</a:t>
            </a:r>
            <a:r>
              <a:rPr lang="zh-CN" altLang="zh-CN" sz="1800" dirty="0"/>
              <a:t>的带宽</a:t>
            </a:r>
            <a:r>
              <a:rPr lang="zh-CN" altLang="zh-CN" sz="1800" dirty="0" smtClean="0"/>
              <a:t>，</a:t>
            </a:r>
            <a:r>
              <a:rPr lang="zh-CN" altLang="en-US" sz="1800" dirty="0" smtClean="0"/>
              <a:t>用于</a:t>
            </a:r>
            <a:r>
              <a:rPr lang="zh-CN" altLang="zh-CN" sz="1800" dirty="0" smtClean="0"/>
              <a:t>安插</a:t>
            </a:r>
            <a:r>
              <a:rPr lang="zh-CN" altLang="zh-CN" sz="1800" dirty="0"/>
              <a:t>上述数字</a:t>
            </a:r>
            <a:r>
              <a:rPr lang="zh-CN" altLang="zh-CN" sz="1800" dirty="0" smtClean="0"/>
              <a:t>信道。</a:t>
            </a:r>
            <a:r>
              <a:rPr lang="zh-CN" altLang="zh-CN" sz="1800" dirty="0"/>
              <a:t>因此，可以在</a:t>
            </a:r>
            <a:r>
              <a:rPr lang="en-US" altLang="zh-CN" sz="1800" dirty="0"/>
              <a:t>10kHz~12.5kHz</a:t>
            </a:r>
            <a:r>
              <a:rPr lang="zh-CN" altLang="zh-CN" sz="1800" dirty="0"/>
              <a:t>之间选择一个副</a:t>
            </a:r>
            <a:r>
              <a:rPr lang="zh-CN" altLang="zh-CN" sz="1800" dirty="0" smtClean="0"/>
              <a:t>载频</a:t>
            </a:r>
            <a:r>
              <a:rPr lang="en-US" altLang="zh-CN" sz="1800" dirty="0" smtClean="0"/>
              <a:t> </a:t>
            </a:r>
            <a:r>
              <a:rPr lang="en-US" altLang="zh-CN" sz="1800" i="1" dirty="0" err="1" smtClean="0"/>
              <a:t>f</a:t>
            </a:r>
            <a:r>
              <a:rPr lang="en-US" altLang="zh-CN" sz="1800" i="1" baseline="-25000" dirty="0" err="1" smtClean="0"/>
              <a:t>sc</a:t>
            </a:r>
            <a:r>
              <a:rPr lang="zh-CN" altLang="zh-CN" sz="1800" dirty="0" smtClean="0"/>
              <a:t>，</a:t>
            </a:r>
            <a:r>
              <a:rPr lang="zh-CN" altLang="zh-CN" sz="1800" dirty="0"/>
              <a:t>用数字信号调制这个副载波得到数字已调信号。</a:t>
            </a:r>
            <a:endParaRPr lang="zh-CN" altLang="zh-CN" sz="1600" dirty="0"/>
          </a:p>
          <a:p>
            <a:pPr indent="457200">
              <a:lnSpc>
                <a:spcPct val="150000"/>
              </a:lnSpc>
            </a:pPr>
            <a:r>
              <a:rPr lang="zh-CN" altLang="zh-CN" sz="1800" dirty="0" smtClean="0"/>
              <a:t>将</a:t>
            </a:r>
            <a:r>
              <a:rPr lang="zh-CN" altLang="zh-CN" sz="1800" dirty="0"/>
              <a:t>数字已调信号与模拟信号叠加，叠加后的混合信号用</a:t>
            </a:r>
            <a:r>
              <a:rPr lang="en-US" altLang="zh-CN" sz="1800" dirty="0"/>
              <a:t>AM</a:t>
            </a:r>
            <a:r>
              <a:rPr lang="zh-CN" altLang="zh-CN" sz="1800" dirty="0"/>
              <a:t>调制方式对载波进行调制，放大后送天线发射。总的频谱结构如下图所示</a:t>
            </a:r>
            <a:endParaRPr lang="zh-CN" altLang="en-US" sz="1600" dirty="0"/>
          </a:p>
        </p:txBody>
      </p:sp>
      <p:graphicFrame>
        <p:nvGraphicFramePr>
          <p:cNvPr id="6" name="对象 5"/>
          <p:cNvGraphicFramePr>
            <a:graphicFrameLocks noChangeAspect="1"/>
          </p:cNvGraphicFramePr>
          <p:nvPr>
            <p:extLst>
              <p:ext uri="{D42A27DB-BD31-4B8C-83A1-F6EECF244321}">
                <p14:modId xmlns:p14="http://schemas.microsoft.com/office/powerpoint/2010/main" val="2275112466"/>
              </p:ext>
            </p:extLst>
          </p:nvPr>
        </p:nvGraphicFramePr>
        <p:xfrm>
          <a:off x="1719263" y="3375025"/>
          <a:ext cx="8477250" cy="1733550"/>
        </p:xfrm>
        <a:graphic>
          <a:graphicData uri="http://schemas.openxmlformats.org/presentationml/2006/ole">
            <mc:AlternateContent xmlns:mc="http://schemas.openxmlformats.org/markup-compatibility/2006">
              <mc:Choice xmlns:v="urn:schemas-microsoft-com:vml" Requires="v">
                <p:oleObj spid="_x0000_s1107" name="Visio" r:id="rId3" imgW="5029046" imgH="1028584" progId="Visio.Drawing.15">
                  <p:embed/>
                </p:oleObj>
              </mc:Choice>
              <mc:Fallback>
                <p:oleObj name="Visio" r:id="rId3" imgW="5029046" imgH="1028584" progId="Visio.Drawing.15">
                  <p:embed/>
                  <p:pic>
                    <p:nvPicPr>
                      <p:cNvPr id="0" name="Object 1"/>
                      <p:cNvPicPr>
                        <a:picLocks noChangeAspect="1" noChangeArrowheads="1"/>
                      </p:cNvPicPr>
                      <p:nvPr/>
                    </p:nvPicPr>
                    <p:blipFill>
                      <a:blip r:embed="rId4"/>
                      <a:srcRect/>
                      <a:stretch>
                        <a:fillRect/>
                      </a:stretch>
                    </p:blipFill>
                    <p:spPr bwMode="auto">
                      <a:xfrm>
                        <a:off x="1719263" y="3375025"/>
                        <a:ext cx="8477250" cy="1733550"/>
                      </a:xfrm>
                      <a:prstGeom prst="rect">
                        <a:avLst/>
                      </a:prstGeom>
                      <a:noFill/>
                    </p:spPr>
                  </p:pic>
                </p:oleObj>
              </mc:Fallback>
            </mc:AlternateContent>
          </a:graphicData>
        </a:graphic>
      </p:graphicFrame>
    </p:spTree>
    <p:extLst>
      <p:ext uri="{BB962C8B-B14F-4D97-AF65-F5344CB8AC3E}">
        <p14:creationId xmlns:p14="http://schemas.microsoft.com/office/powerpoint/2010/main" val="40901185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8</a:t>
            </a:fld>
            <a:endParaRPr lang="en-US" altLang="zh-CN"/>
          </a:p>
        </p:txBody>
      </p:sp>
      <p:sp>
        <p:nvSpPr>
          <p:cNvPr id="2" name="文本框 1"/>
          <p:cNvSpPr txBox="1"/>
          <p:nvPr/>
        </p:nvSpPr>
        <p:spPr>
          <a:xfrm>
            <a:off x="495504" y="658073"/>
            <a:ext cx="11190514" cy="457241"/>
          </a:xfrm>
          <a:prstGeom prst="rect">
            <a:avLst/>
          </a:prstGeom>
          <a:noFill/>
        </p:spPr>
        <p:txBody>
          <a:bodyPr wrap="square" rtlCol="0">
            <a:spAutoFit/>
          </a:bodyPr>
          <a:lstStyle/>
          <a:p>
            <a:pPr>
              <a:lnSpc>
                <a:spcPct val="150000"/>
              </a:lnSpc>
            </a:pPr>
            <a:r>
              <a:rPr lang="zh-CN" altLang="en-US" sz="1800" dirty="0" smtClean="0"/>
              <a:t>总体结构如下</a:t>
            </a:r>
            <a:endParaRPr lang="zh-CN" altLang="en-US" sz="1800" dirty="0"/>
          </a:p>
        </p:txBody>
      </p:sp>
      <p:pic>
        <p:nvPicPr>
          <p:cNvPr id="9" name="图片 8"/>
          <p:cNvPicPr>
            <a:picLocks noChangeAspect="1"/>
          </p:cNvPicPr>
          <p:nvPr/>
        </p:nvPicPr>
        <p:blipFill>
          <a:blip r:embed="rId2"/>
          <a:stretch>
            <a:fillRect/>
          </a:stretch>
        </p:blipFill>
        <p:spPr>
          <a:xfrm>
            <a:off x="2797524" y="3749336"/>
            <a:ext cx="9004990" cy="1550988"/>
          </a:xfrm>
          <a:prstGeom prst="rect">
            <a:avLst/>
          </a:prstGeom>
        </p:spPr>
      </p:pic>
      <p:pic>
        <p:nvPicPr>
          <p:cNvPr id="4" name="图片 3"/>
          <p:cNvPicPr>
            <a:picLocks noChangeAspect="1"/>
          </p:cNvPicPr>
          <p:nvPr/>
        </p:nvPicPr>
        <p:blipFill>
          <a:blip r:embed="rId3"/>
          <a:stretch>
            <a:fillRect/>
          </a:stretch>
        </p:blipFill>
        <p:spPr>
          <a:xfrm>
            <a:off x="1207608" y="1442398"/>
            <a:ext cx="8170689" cy="2017032"/>
          </a:xfrm>
          <a:prstGeom prst="rect">
            <a:avLst/>
          </a:prstGeom>
        </p:spPr>
      </p:pic>
      <p:sp>
        <p:nvSpPr>
          <p:cNvPr id="6" name="椭圆 5"/>
          <p:cNvSpPr/>
          <p:nvPr/>
        </p:nvSpPr>
        <p:spPr>
          <a:xfrm>
            <a:off x="2357159" y="2207780"/>
            <a:ext cx="1915583" cy="812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8576530" y="4524830"/>
            <a:ext cx="1915583" cy="812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811311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文本框 4"/>
          <p:cNvSpPr txBox="1"/>
          <p:nvPr/>
        </p:nvSpPr>
        <p:spPr>
          <a:xfrm>
            <a:off x="471714" y="505673"/>
            <a:ext cx="11255829" cy="5493812"/>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数字通信系统的基带信号</a:t>
            </a:r>
            <a:endParaRPr lang="en-US" altLang="zh-CN" sz="1800" dirty="0" smtClean="0"/>
          </a:p>
          <a:p>
            <a:pPr indent="457200">
              <a:lnSpc>
                <a:spcPct val="150000"/>
              </a:lnSpc>
            </a:pPr>
            <a:r>
              <a:rPr lang="en-US" altLang="zh-CN" sz="1800" dirty="0" smtClean="0"/>
              <a:t>1</a:t>
            </a:r>
            <a:r>
              <a:rPr lang="zh-CN" altLang="en-US" sz="1800" dirty="0" smtClean="0"/>
              <a:t>、原始的数字信号经过格式化，成为适合于数字处理的二进制信号。</a:t>
            </a:r>
            <a:endParaRPr lang="en-US" altLang="zh-CN" sz="1800" dirty="0" smtClean="0"/>
          </a:p>
          <a:p>
            <a:pPr indent="457200">
              <a:lnSpc>
                <a:spcPct val="150000"/>
              </a:lnSpc>
            </a:pPr>
            <a:r>
              <a:rPr lang="zh-CN" altLang="en-US" sz="1800" dirty="0" smtClean="0"/>
              <a:t>对于模拟信号，这个过程包含采样与量化。</a:t>
            </a:r>
            <a:endParaRPr lang="en-US" altLang="zh-CN" sz="1800" dirty="0" smtClean="0"/>
          </a:p>
          <a:p>
            <a:pPr indent="457200">
              <a:lnSpc>
                <a:spcPct val="150000"/>
              </a:lnSpc>
            </a:pPr>
            <a:r>
              <a:rPr lang="zh-CN" altLang="en-US" sz="1800" dirty="0" smtClean="0"/>
              <a:t>对于数字信号，这个过程是字符编码，例如常见的</a:t>
            </a:r>
            <a:r>
              <a:rPr lang="en-US" altLang="zh-CN" sz="1800" dirty="0" smtClean="0"/>
              <a:t>ASCII</a:t>
            </a:r>
            <a:r>
              <a:rPr lang="zh-CN" altLang="en-US" sz="1800" dirty="0" smtClean="0"/>
              <a:t>码、</a:t>
            </a:r>
            <a:r>
              <a:rPr lang="en-US" altLang="zh-CN" sz="1800" dirty="0" smtClean="0"/>
              <a:t>BCD</a:t>
            </a:r>
            <a:r>
              <a:rPr lang="zh-CN" altLang="en-US" sz="1800" dirty="0" smtClean="0"/>
              <a:t>码等。本题目要求传送四个十进制数字，所以可以采用</a:t>
            </a:r>
            <a:r>
              <a:rPr lang="en-US" altLang="zh-CN" sz="1800" dirty="0" smtClean="0"/>
              <a:t>BCD</a:t>
            </a:r>
            <a:r>
              <a:rPr lang="zh-CN" altLang="en-US" sz="1800" dirty="0" smtClean="0"/>
              <a:t>码，由四位二进制数</a:t>
            </a:r>
            <a:r>
              <a:rPr lang="en-US" altLang="zh-CN" sz="1800" dirty="0" smtClean="0"/>
              <a:t>0000~1001</a:t>
            </a:r>
            <a:r>
              <a:rPr lang="zh-CN" altLang="en-US" sz="1800" dirty="0" smtClean="0"/>
              <a:t>表示十进制数</a:t>
            </a:r>
            <a:r>
              <a:rPr lang="en-US" altLang="zh-CN" sz="1800" dirty="0" smtClean="0"/>
              <a:t>0~9</a:t>
            </a:r>
            <a:r>
              <a:rPr lang="zh-CN" altLang="en-US" sz="1800" dirty="0" smtClean="0"/>
              <a:t>。</a:t>
            </a:r>
            <a:endParaRPr lang="en-US" altLang="zh-CN" sz="1800" dirty="0" smtClean="0"/>
          </a:p>
          <a:p>
            <a:pPr indent="457200">
              <a:lnSpc>
                <a:spcPct val="150000"/>
              </a:lnSpc>
            </a:pPr>
            <a:r>
              <a:rPr lang="en-US" altLang="zh-CN" sz="1800" dirty="0" smtClean="0"/>
              <a:t>2</a:t>
            </a:r>
            <a:r>
              <a:rPr lang="zh-CN" altLang="en-US" sz="1800" dirty="0" smtClean="0"/>
              <a:t>、对格式化以后的二进制序列加入引导部分、同步信号、校验或纠错信号等冗余信息。</a:t>
            </a:r>
            <a:endParaRPr lang="en-US" altLang="zh-CN" sz="1800" dirty="0" smtClean="0"/>
          </a:p>
          <a:p>
            <a:pPr indent="457200">
              <a:lnSpc>
                <a:spcPct val="150000"/>
              </a:lnSpc>
            </a:pPr>
            <a:r>
              <a:rPr lang="zh-CN" altLang="en-US" sz="1800" dirty="0" smtClean="0"/>
              <a:t>例如对于本题，有效的信息只有</a:t>
            </a:r>
            <a:r>
              <a:rPr lang="en-US" altLang="zh-CN" sz="1800" dirty="0" smtClean="0"/>
              <a:t>16</a:t>
            </a:r>
            <a:r>
              <a:rPr lang="zh-CN" altLang="en-US" sz="1800" dirty="0" smtClean="0"/>
              <a:t>比特，假如后面采用曼彻斯特编码，为了避免在解码时发生错位，需要在前面插入二进制数</a:t>
            </a:r>
            <a:r>
              <a:rPr lang="en-US" altLang="zh-CN" sz="1800" dirty="0" smtClean="0"/>
              <a:t>1010</a:t>
            </a:r>
            <a:r>
              <a:rPr lang="zh-CN" altLang="en-US" sz="1800" dirty="0" smtClean="0"/>
              <a:t>。另外，为了使得接收端的锁相环能够由足够的捕捉时间，前面还要插入足够长的“</a:t>
            </a:r>
            <a:r>
              <a:rPr lang="en-US" altLang="zh-CN" sz="1800" dirty="0" smtClean="0"/>
              <a:t>1</a:t>
            </a:r>
            <a:r>
              <a:rPr lang="zh-CN" altLang="en-US" sz="1800" dirty="0" smtClean="0"/>
              <a:t>”序列。如果希望能够自动纠错，还要再数字序列后面插入纠错码。所以整个序列（数据帧）可能要达到</a:t>
            </a:r>
            <a:r>
              <a:rPr lang="en-US" altLang="zh-CN" sz="1800" dirty="0" smtClean="0"/>
              <a:t>24~32</a:t>
            </a:r>
            <a:r>
              <a:rPr lang="zh-CN" altLang="en-US" sz="1800" dirty="0" smtClean="0"/>
              <a:t>比特。</a:t>
            </a:r>
            <a:endParaRPr lang="en-US" altLang="zh-CN" sz="1800" dirty="0" smtClean="0"/>
          </a:p>
          <a:p>
            <a:pPr indent="457200">
              <a:lnSpc>
                <a:spcPct val="150000"/>
              </a:lnSpc>
            </a:pPr>
            <a:r>
              <a:rPr lang="en-US" altLang="zh-CN" sz="1800" dirty="0" smtClean="0"/>
              <a:t>3</a:t>
            </a:r>
            <a:r>
              <a:rPr lang="zh-CN" altLang="en-US" sz="1800" dirty="0"/>
              <a:t>、对数据帧进行脉冲编码调制</a:t>
            </a:r>
            <a:r>
              <a:rPr lang="zh-CN" altLang="en-US" sz="1800" dirty="0" smtClean="0"/>
              <a:t>（</a:t>
            </a:r>
            <a:r>
              <a:rPr lang="en-US" altLang="zh-CN" sz="1800" dirty="0" smtClean="0"/>
              <a:t>PCM</a:t>
            </a:r>
            <a:r>
              <a:rPr lang="zh-CN" altLang="en-US" sz="1800" dirty="0" smtClean="0"/>
              <a:t>），例如曼彻斯特码，避免出现长</a:t>
            </a:r>
            <a:r>
              <a:rPr lang="en-US" altLang="zh-CN" sz="1800" dirty="0" smtClean="0"/>
              <a:t>1</a:t>
            </a:r>
            <a:r>
              <a:rPr lang="zh-CN" altLang="en-US" sz="1800" dirty="0" smtClean="0"/>
              <a:t>或长</a:t>
            </a:r>
            <a:r>
              <a:rPr lang="en-US" altLang="zh-CN" sz="1800" dirty="0" smtClean="0"/>
              <a:t>0</a:t>
            </a:r>
            <a:r>
              <a:rPr lang="zh-CN" altLang="en-US" sz="1800" dirty="0" smtClean="0"/>
              <a:t>（长游程）等弊病。</a:t>
            </a:r>
            <a:endParaRPr lang="en-US" altLang="zh-CN" sz="1800" dirty="0" smtClean="0"/>
          </a:p>
          <a:p>
            <a:pPr indent="457200">
              <a:lnSpc>
                <a:spcPct val="150000"/>
              </a:lnSpc>
            </a:pPr>
            <a:r>
              <a:rPr lang="zh-CN" altLang="en-US" sz="1800" dirty="0" smtClean="0"/>
              <a:t>经过上述处理后的信号成为基带信号。</a:t>
            </a:r>
            <a:endParaRPr lang="en-US" altLang="zh-CN" sz="1800" dirty="0" smtClean="0"/>
          </a:p>
          <a:p>
            <a:pPr indent="457200">
              <a:lnSpc>
                <a:spcPct val="150000"/>
              </a:lnSpc>
            </a:pPr>
            <a:r>
              <a:rPr lang="zh-CN" altLang="en-US" sz="1800" dirty="0" smtClean="0"/>
              <a:t>接收端将上面的过程反过来，就可以得到原始的信息。</a:t>
            </a:r>
            <a:endParaRPr lang="en-US" altLang="zh-CN" sz="1800" dirty="0" smtClean="0"/>
          </a:p>
        </p:txBody>
      </p:sp>
    </p:spTree>
    <p:extLst>
      <p:ext uri="{BB962C8B-B14F-4D97-AF65-F5344CB8AC3E}">
        <p14:creationId xmlns:p14="http://schemas.microsoft.com/office/powerpoint/2010/main" val="711331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10</a:t>
            </a:fld>
            <a:endParaRPr lang="en-US" altLang="zh-CN"/>
          </a:p>
        </p:txBody>
      </p:sp>
      <p:sp>
        <p:nvSpPr>
          <p:cNvPr id="2" name="文本框 1"/>
          <p:cNvSpPr txBox="1"/>
          <p:nvPr/>
        </p:nvSpPr>
        <p:spPr>
          <a:xfrm>
            <a:off x="399142" y="478739"/>
            <a:ext cx="11255829" cy="436273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数字信号的带通调制</a:t>
            </a:r>
            <a:endParaRPr lang="en-US" altLang="zh-CN" sz="1800" dirty="0" smtClean="0"/>
          </a:p>
          <a:p>
            <a:pPr indent="457200">
              <a:lnSpc>
                <a:spcPct val="150000"/>
              </a:lnSpc>
            </a:pPr>
            <a:r>
              <a:rPr lang="zh-CN" altLang="en-US" sz="1800" dirty="0"/>
              <a:t>用</a:t>
            </a:r>
            <a:r>
              <a:rPr lang="zh-CN" altLang="en-US" sz="1800" dirty="0" smtClean="0"/>
              <a:t>基带信号去调制载波，称为数字信号的带通调制。常见的带通调制方式有</a:t>
            </a:r>
            <a:r>
              <a:rPr lang="en-US" altLang="zh-CN" sz="1800" dirty="0" smtClean="0"/>
              <a:t>ASK</a:t>
            </a:r>
            <a:r>
              <a:rPr lang="zh-CN" altLang="en-US" sz="1800" dirty="0" smtClean="0"/>
              <a:t>、</a:t>
            </a:r>
            <a:r>
              <a:rPr lang="en-US" altLang="zh-CN" sz="1800" dirty="0" smtClean="0"/>
              <a:t>FSK</a:t>
            </a:r>
            <a:r>
              <a:rPr lang="zh-CN" altLang="en-US" sz="1800" dirty="0" smtClean="0"/>
              <a:t>、</a:t>
            </a:r>
            <a:r>
              <a:rPr lang="en-US" altLang="zh-CN" sz="1800" dirty="0" smtClean="0"/>
              <a:t>PSK</a:t>
            </a:r>
            <a:r>
              <a:rPr lang="zh-CN" altLang="en-US" sz="1800" dirty="0" smtClean="0"/>
              <a:t>，或者是它们的某种混合方式，例如</a:t>
            </a:r>
            <a:r>
              <a:rPr lang="en-US" altLang="zh-CN" sz="1800" dirty="0" smtClean="0"/>
              <a:t>APK</a:t>
            </a:r>
            <a:r>
              <a:rPr lang="zh-CN" altLang="en-US" sz="1800" dirty="0" smtClean="0"/>
              <a:t>（幅频键控）。</a:t>
            </a:r>
            <a:endParaRPr lang="en-US" altLang="zh-CN" sz="1800" dirty="0" smtClean="0"/>
          </a:p>
          <a:p>
            <a:pPr indent="457200">
              <a:lnSpc>
                <a:spcPct val="150000"/>
              </a:lnSpc>
            </a:pPr>
            <a:r>
              <a:rPr lang="zh-CN" altLang="en-US" sz="1800" dirty="0" smtClean="0">
                <a:solidFill>
                  <a:srgbClr val="FF0000"/>
                </a:solidFill>
              </a:rPr>
              <a:t>幅度键控（</a:t>
            </a:r>
            <a:r>
              <a:rPr lang="en-US" altLang="zh-CN" sz="1800" dirty="0" smtClean="0">
                <a:solidFill>
                  <a:srgbClr val="FF0000"/>
                </a:solidFill>
              </a:rPr>
              <a:t>ASK</a:t>
            </a:r>
            <a:r>
              <a:rPr lang="zh-CN" altLang="en-US" sz="1800" dirty="0" smtClean="0">
                <a:solidFill>
                  <a:srgbClr val="FF0000"/>
                </a:solidFill>
              </a:rPr>
              <a:t>）</a:t>
            </a:r>
            <a:endParaRPr lang="en-US" altLang="zh-CN" sz="1800" dirty="0" smtClean="0"/>
          </a:p>
          <a:p>
            <a:pPr indent="457200">
              <a:lnSpc>
                <a:spcPct val="150000"/>
              </a:lnSpc>
            </a:pPr>
            <a:r>
              <a:rPr lang="zh-CN" altLang="en-US" sz="1800" dirty="0" smtClean="0"/>
              <a:t>当基带信号为二进制符号时，调制后的信号就是载波信号的有与无，称为</a:t>
            </a:r>
            <a:r>
              <a:rPr lang="en-US" altLang="zh-CN" sz="1800" dirty="0" smtClean="0"/>
              <a:t>OOK</a:t>
            </a:r>
            <a:r>
              <a:rPr lang="zh-CN" altLang="en-US" sz="1800" dirty="0" smtClean="0"/>
              <a:t>。</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500" dirty="0"/>
          </a:p>
          <a:p>
            <a:pPr indent="457200">
              <a:lnSpc>
                <a:spcPct val="150000"/>
              </a:lnSpc>
            </a:pPr>
            <a:endParaRPr lang="en-US" altLang="zh-CN" sz="1800" dirty="0" smtClean="0"/>
          </a:p>
        </p:txBody>
      </p:sp>
      <p:graphicFrame>
        <p:nvGraphicFramePr>
          <p:cNvPr id="6" name="对象 5"/>
          <p:cNvGraphicFramePr>
            <a:graphicFrameLocks noChangeAspect="1"/>
          </p:cNvGraphicFramePr>
          <p:nvPr>
            <p:extLst>
              <p:ext uri="{D42A27DB-BD31-4B8C-83A1-F6EECF244321}">
                <p14:modId xmlns:p14="http://schemas.microsoft.com/office/powerpoint/2010/main" val="2622499075"/>
              </p:ext>
            </p:extLst>
          </p:nvPr>
        </p:nvGraphicFramePr>
        <p:xfrm>
          <a:off x="1516655" y="2899016"/>
          <a:ext cx="7489069" cy="2576284"/>
        </p:xfrm>
        <a:graphic>
          <a:graphicData uri="http://schemas.openxmlformats.org/presentationml/2006/ole">
            <mc:AlternateContent xmlns:mc="http://schemas.openxmlformats.org/markup-compatibility/2006">
              <mc:Choice xmlns:v="urn:schemas-microsoft-com:vml" Requires="v">
                <p:oleObj spid="_x0000_s10292" name="Visio" r:id="rId3" imgW="3289060" imgH="1123737" progId="Visio.Drawing.11">
                  <p:embed/>
                </p:oleObj>
              </mc:Choice>
              <mc:Fallback>
                <p:oleObj name="Visio" r:id="rId3" imgW="3289060" imgH="1123737" progId="Visio.Drawing.11">
                  <p:embed/>
                  <p:pic>
                    <p:nvPicPr>
                      <p:cNvPr id="0" name="Object 1"/>
                      <p:cNvPicPr>
                        <a:picLocks noChangeAspect="1" noChangeArrowheads="1"/>
                      </p:cNvPicPr>
                      <p:nvPr/>
                    </p:nvPicPr>
                    <p:blipFill>
                      <a:blip r:embed="rId4"/>
                      <a:srcRect/>
                      <a:stretch>
                        <a:fillRect/>
                      </a:stretch>
                    </p:blipFill>
                    <p:spPr bwMode="auto">
                      <a:xfrm>
                        <a:off x="1516655" y="2899016"/>
                        <a:ext cx="7489069" cy="2576284"/>
                      </a:xfrm>
                      <a:prstGeom prst="rect">
                        <a:avLst/>
                      </a:prstGeom>
                      <a:noFill/>
                    </p:spPr>
                  </p:pic>
                </p:oleObj>
              </mc:Fallback>
            </mc:AlternateContent>
          </a:graphicData>
        </a:graphic>
      </p:graphicFrame>
      <p:cxnSp>
        <p:nvCxnSpPr>
          <p:cNvPr id="10" name="直接连接符 9"/>
          <p:cNvCxnSpPr/>
          <p:nvPr/>
        </p:nvCxnSpPr>
        <p:spPr>
          <a:xfrm flipV="1">
            <a:off x="3400243" y="3642051"/>
            <a:ext cx="433503" cy="3175"/>
          </a:xfrm>
          <a:prstGeom prst="line">
            <a:avLst/>
          </a:prstGeom>
          <a:ln w="19050">
            <a:solidFill>
              <a:srgbClr val="FF0000"/>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3443786" y="3289163"/>
            <a:ext cx="389960" cy="338554"/>
          </a:xfrm>
          <a:prstGeom prst="rect">
            <a:avLst/>
          </a:prstGeom>
          <a:noFill/>
        </p:spPr>
        <p:txBody>
          <a:bodyPr wrap="square" rtlCol="0">
            <a:spAutoFit/>
          </a:bodyPr>
          <a:lstStyle/>
          <a:p>
            <a:r>
              <a:rPr lang="en-US" altLang="zh-CN" sz="1600" i="1" dirty="0" smtClean="0">
                <a:solidFill>
                  <a:srgbClr val="FF0000"/>
                </a:solidFill>
                <a:latin typeface="+mn-lt"/>
              </a:rPr>
              <a:t>T</a:t>
            </a:r>
            <a:r>
              <a:rPr lang="en-US" altLang="zh-CN" sz="1600" i="1" baseline="-25000" dirty="0" smtClean="0">
                <a:solidFill>
                  <a:srgbClr val="FF0000"/>
                </a:solidFill>
                <a:latin typeface="+mn-lt"/>
              </a:rPr>
              <a:t>s</a:t>
            </a:r>
            <a:endParaRPr lang="zh-CN" altLang="en-US" sz="1600" i="1" baseline="-25000" dirty="0">
              <a:solidFill>
                <a:srgbClr val="FF0000"/>
              </a:solidFill>
              <a:latin typeface="+mn-lt"/>
            </a:endParaRPr>
          </a:p>
        </p:txBody>
      </p:sp>
    </p:spTree>
    <p:extLst>
      <p:ext uri="{BB962C8B-B14F-4D97-AF65-F5344CB8AC3E}">
        <p14:creationId xmlns:p14="http://schemas.microsoft.com/office/powerpoint/2010/main" val="37643160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11</a:t>
            </a:fld>
            <a:endParaRPr lang="en-US" altLang="zh-CN"/>
          </a:p>
        </p:txBody>
      </p:sp>
      <p:graphicFrame>
        <p:nvGraphicFramePr>
          <p:cNvPr id="8" name="对象 7"/>
          <p:cNvGraphicFramePr>
            <a:graphicFrameLocks noChangeAspect="1"/>
          </p:cNvGraphicFramePr>
          <p:nvPr>
            <p:extLst>
              <p:ext uri="{D42A27DB-BD31-4B8C-83A1-F6EECF244321}">
                <p14:modId xmlns:p14="http://schemas.microsoft.com/office/powerpoint/2010/main" val="2639740777"/>
              </p:ext>
            </p:extLst>
          </p:nvPr>
        </p:nvGraphicFramePr>
        <p:xfrm>
          <a:off x="10174514" y="4521621"/>
          <a:ext cx="1364868" cy="798319"/>
        </p:xfrm>
        <a:graphic>
          <a:graphicData uri="http://schemas.openxmlformats.org/presentationml/2006/ole">
            <mc:AlternateContent xmlns:mc="http://schemas.openxmlformats.org/markup-compatibility/2006">
              <mc:Choice xmlns:v="urn:schemas-microsoft-com:vml" Requires="v">
                <p:oleObj spid="_x0000_s13355" name="Equation" r:id="rId3" imgW="672808" imgH="393529" progId="Equation.DSMT4">
                  <p:embed/>
                </p:oleObj>
              </mc:Choice>
              <mc:Fallback>
                <p:oleObj name="Equation" r:id="rId3" imgW="672808" imgH="393529" progId="Equation.DSMT4">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74514" y="4521621"/>
                        <a:ext cx="1364868" cy="798319"/>
                      </a:xfrm>
                      <a:prstGeom prst="rect">
                        <a:avLst/>
                      </a:prstGeom>
                      <a:noFill/>
                    </p:spPr>
                  </p:pic>
                </p:oleObj>
              </mc:Fallback>
            </mc:AlternateContent>
          </a:graphicData>
        </a:graphic>
      </p:graphicFrame>
      <p:sp>
        <p:nvSpPr>
          <p:cNvPr id="23" name="文本框 22"/>
          <p:cNvSpPr txBox="1"/>
          <p:nvPr/>
        </p:nvSpPr>
        <p:spPr>
          <a:xfrm>
            <a:off x="471413" y="492766"/>
            <a:ext cx="11350172" cy="4970591"/>
          </a:xfrm>
          <a:prstGeom prst="rect">
            <a:avLst/>
          </a:prstGeom>
          <a:noFill/>
        </p:spPr>
        <p:txBody>
          <a:bodyPr wrap="square" rtlCol="0">
            <a:spAutoFit/>
          </a:bodyPr>
          <a:lstStyle/>
          <a:p>
            <a:pPr indent="457200">
              <a:lnSpc>
                <a:spcPct val="150000"/>
              </a:lnSpc>
            </a:pPr>
            <a:r>
              <a:rPr lang="zh-CN" altLang="zh-CN" sz="1800" dirty="0">
                <a:latin typeface="+mn-ea"/>
                <a:ea typeface="+mn-ea"/>
              </a:rPr>
              <a:t>受矩形基带波形调制的已调信号</a:t>
            </a:r>
            <a:r>
              <a:rPr lang="zh-CN" altLang="zh-CN" sz="1800" dirty="0" smtClean="0">
                <a:latin typeface="+mn-ea"/>
                <a:ea typeface="+mn-ea"/>
              </a:rPr>
              <a:t>频谱</a:t>
            </a:r>
            <a:endParaRPr lang="en-US" altLang="zh-CN" sz="1800" dirty="0" smtClean="0">
              <a:latin typeface="+mn-ea"/>
              <a:ea typeface="+mn-ea"/>
            </a:endParaRPr>
          </a:p>
          <a:p>
            <a:pPr indent="457200">
              <a:lnSpc>
                <a:spcPct val="150000"/>
              </a:lnSpc>
            </a:pPr>
            <a:endParaRPr lang="en-US" altLang="zh-CN" sz="1800" dirty="0">
              <a:latin typeface="+mn-ea"/>
              <a:ea typeface="+mn-ea"/>
            </a:endParaRPr>
          </a:p>
          <a:p>
            <a:pPr indent="457200">
              <a:lnSpc>
                <a:spcPct val="150000"/>
              </a:lnSpc>
            </a:pPr>
            <a:endParaRPr lang="en-US" altLang="zh-CN" sz="1800" dirty="0" smtClean="0">
              <a:latin typeface="+mn-ea"/>
              <a:ea typeface="+mn-ea"/>
            </a:endParaRPr>
          </a:p>
          <a:p>
            <a:pPr indent="457200">
              <a:lnSpc>
                <a:spcPct val="200000"/>
              </a:lnSpc>
            </a:pPr>
            <a:endParaRPr lang="en-US" altLang="zh-CN" sz="1800" dirty="0" smtClean="0"/>
          </a:p>
          <a:p>
            <a:pPr indent="457200">
              <a:lnSpc>
                <a:spcPct val="200000"/>
              </a:lnSpc>
            </a:pPr>
            <a:endParaRPr lang="en-US" altLang="zh-CN" sz="1800" dirty="0"/>
          </a:p>
          <a:p>
            <a:pPr indent="457200">
              <a:lnSpc>
                <a:spcPct val="200000"/>
              </a:lnSpc>
            </a:pPr>
            <a:endParaRPr lang="en-US" altLang="zh-CN" sz="1800" dirty="0" smtClean="0"/>
          </a:p>
          <a:p>
            <a:pPr indent="457200">
              <a:lnSpc>
                <a:spcPct val="200000"/>
              </a:lnSpc>
            </a:pPr>
            <a:endParaRPr lang="en-US" altLang="zh-CN" sz="1800" dirty="0" smtClean="0"/>
          </a:p>
          <a:p>
            <a:pPr indent="457200">
              <a:lnSpc>
                <a:spcPct val="200000"/>
              </a:lnSpc>
            </a:pPr>
            <a:endParaRPr lang="en-US" altLang="zh-CN" sz="1800" dirty="0"/>
          </a:p>
          <a:p>
            <a:pPr indent="457200">
              <a:lnSpc>
                <a:spcPct val="200000"/>
              </a:lnSpc>
            </a:pPr>
            <a:r>
              <a:rPr lang="zh-CN" altLang="en-US" sz="1800" dirty="0" smtClean="0"/>
              <a:t>由于大部分能量集中在载频附近，所以</a:t>
            </a:r>
            <a:r>
              <a:rPr lang="en-US" altLang="zh-CN" sz="1800" dirty="0" smtClean="0"/>
              <a:t>ASK</a:t>
            </a:r>
            <a:r>
              <a:rPr lang="zh-CN" altLang="en-US" sz="1800" dirty="0"/>
              <a:t>的已调波信号带宽近似为基带信号符号率的</a:t>
            </a:r>
            <a:r>
              <a:rPr lang="en-US" altLang="zh-CN" sz="1800" dirty="0"/>
              <a:t>2</a:t>
            </a:r>
            <a:r>
              <a:rPr lang="zh-CN" altLang="en-US" sz="1800" dirty="0"/>
              <a:t>倍</a:t>
            </a:r>
            <a:r>
              <a:rPr lang="zh-CN" altLang="en-US" sz="1800" dirty="0" smtClean="0"/>
              <a:t>：                     。</a:t>
            </a:r>
            <a:endParaRPr lang="en-US" altLang="zh-CN" sz="1800" dirty="0"/>
          </a:p>
          <a:p>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3156780787"/>
              </p:ext>
            </p:extLst>
          </p:nvPr>
        </p:nvGraphicFramePr>
        <p:xfrm>
          <a:off x="3657598" y="1023258"/>
          <a:ext cx="3165697" cy="718456"/>
        </p:xfrm>
        <a:graphic>
          <a:graphicData uri="http://schemas.openxmlformats.org/presentationml/2006/ole">
            <mc:AlternateContent xmlns:mc="http://schemas.openxmlformats.org/markup-compatibility/2006">
              <mc:Choice xmlns:v="urn:schemas-microsoft-com:vml" Requires="v">
                <p:oleObj spid="_x0000_s13356" name="Equation" r:id="rId5" imgW="1790700" imgH="406400" progId="Equation.DSMT4">
                  <p:embed/>
                </p:oleObj>
              </mc:Choice>
              <mc:Fallback>
                <p:oleObj name="Equation" r:id="rId5" imgW="1790700" imgH="4064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598" y="1023258"/>
                        <a:ext cx="3165697" cy="718456"/>
                      </a:xfrm>
                      <a:prstGeom prst="rect">
                        <a:avLst/>
                      </a:prstGeom>
                      <a:noFill/>
                    </p:spPr>
                  </p:pic>
                </p:oleObj>
              </mc:Fallback>
            </mc:AlternateContent>
          </a:graphicData>
        </a:graphic>
      </p:graphicFrame>
      <p:pic>
        <p:nvPicPr>
          <p:cNvPr id="4" name="图片 3"/>
          <p:cNvPicPr>
            <a:picLocks noChangeAspect="1"/>
          </p:cNvPicPr>
          <p:nvPr/>
        </p:nvPicPr>
        <p:blipFill>
          <a:blip r:embed="rId7"/>
          <a:stretch>
            <a:fillRect/>
          </a:stretch>
        </p:blipFill>
        <p:spPr>
          <a:xfrm>
            <a:off x="2817013" y="2010229"/>
            <a:ext cx="6510917" cy="2351735"/>
          </a:xfrm>
          <a:prstGeom prst="rect">
            <a:avLst/>
          </a:prstGeom>
        </p:spPr>
      </p:pic>
    </p:spTree>
    <p:extLst>
      <p:ext uri="{BB962C8B-B14F-4D97-AF65-F5344CB8AC3E}">
        <p14:creationId xmlns:p14="http://schemas.microsoft.com/office/powerpoint/2010/main" val="9531039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文本框 4"/>
          <p:cNvSpPr txBox="1"/>
          <p:nvPr/>
        </p:nvSpPr>
        <p:spPr>
          <a:xfrm>
            <a:off x="420914" y="486229"/>
            <a:ext cx="11321143" cy="5493812"/>
          </a:xfrm>
          <a:prstGeom prst="rect">
            <a:avLst/>
          </a:prstGeom>
          <a:noFill/>
        </p:spPr>
        <p:txBody>
          <a:bodyPr wrap="square" rtlCol="0">
            <a:spAutoFit/>
          </a:bodyPr>
          <a:lstStyle/>
          <a:p>
            <a:pPr indent="457200">
              <a:lnSpc>
                <a:spcPct val="150000"/>
              </a:lnSpc>
            </a:pPr>
            <a:r>
              <a:rPr lang="en-US" altLang="zh-CN" sz="1800" dirty="0" smtClean="0"/>
              <a:t>ASK</a:t>
            </a:r>
            <a:r>
              <a:rPr lang="zh-CN" altLang="zh-CN" sz="1800" dirty="0"/>
              <a:t>调制的基本</a:t>
            </a:r>
            <a:r>
              <a:rPr lang="zh-CN" altLang="zh-CN" sz="1800" dirty="0" smtClean="0"/>
              <a:t>方法</a:t>
            </a:r>
            <a:r>
              <a:rPr lang="zh-CN" altLang="en-US" sz="1800" dirty="0" smtClean="0"/>
              <a:t>是</a:t>
            </a:r>
            <a:r>
              <a:rPr lang="zh-CN" altLang="zh-CN" sz="1800" dirty="0" smtClean="0"/>
              <a:t>将</a:t>
            </a:r>
            <a:r>
              <a:rPr lang="zh-CN" altLang="zh-CN" sz="1800" dirty="0"/>
              <a:t>基带信号与载波信号</a:t>
            </a:r>
            <a:r>
              <a:rPr lang="zh-CN" altLang="zh-CN" sz="1800" dirty="0" smtClean="0"/>
              <a:t>相乘。</a:t>
            </a:r>
            <a:endParaRPr lang="en-US" altLang="zh-CN" sz="1800" dirty="0" smtClean="0"/>
          </a:p>
          <a:p>
            <a:pPr indent="457200">
              <a:lnSpc>
                <a:spcPct val="150000"/>
              </a:lnSpc>
            </a:pPr>
            <a:r>
              <a:rPr lang="zh-CN" altLang="zh-CN" sz="1800" dirty="0" smtClean="0"/>
              <a:t>对于</a:t>
            </a:r>
            <a:r>
              <a:rPr lang="en-US" altLang="zh-CN" sz="1800" dirty="0"/>
              <a:t>OOK</a:t>
            </a:r>
            <a:r>
              <a:rPr lang="zh-CN" altLang="zh-CN" sz="1800" dirty="0"/>
              <a:t>信号来说，其基带信号为二进制矩形脉冲，只有</a:t>
            </a:r>
            <a:r>
              <a:rPr lang="en-US" altLang="zh-CN" sz="1800" dirty="0"/>
              <a:t>0</a:t>
            </a:r>
            <a:r>
              <a:rPr lang="zh-CN" altLang="zh-CN" sz="1800" dirty="0"/>
              <a:t>与</a:t>
            </a:r>
            <a:r>
              <a:rPr lang="en-US" altLang="zh-CN" sz="1800" dirty="0"/>
              <a:t>1</a:t>
            </a:r>
            <a:r>
              <a:rPr lang="zh-CN" altLang="zh-CN" sz="1800" dirty="0"/>
              <a:t>两个值，若不考虑整形滤波，则电路中的乘法器可以简化为用</a:t>
            </a:r>
            <a:r>
              <a:rPr lang="zh-CN" altLang="zh-CN" sz="1800" dirty="0" smtClean="0"/>
              <a:t>开关</a:t>
            </a:r>
            <a:r>
              <a:rPr lang="zh-CN" altLang="en-US" sz="1800" dirty="0" smtClean="0"/>
              <a:t>（例如模拟开关或带有关断功能的放大器）</a:t>
            </a:r>
            <a:r>
              <a:rPr lang="zh-CN" altLang="zh-CN" sz="1800" dirty="0" smtClean="0"/>
              <a:t>实现</a:t>
            </a:r>
            <a:r>
              <a:rPr lang="zh-CN" altLang="en-US" sz="1800" dirty="0" smtClean="0"/>
              <a:t>。</a:t>
            </a:r>
            <a:endParaRPr lang="en-US" altLang="zh-CN" sz="1800" dirty="0" smtClean="0"/>
          </a:p>
          <a:p>
            <a:pPr indent="457200">
              <a:lnSpc>
                <a:spcPct val="150000"/>
              </a:lnSpc>
            </a:pPr>
            <a:endParaRPr lang="en-US" altLang="zh-CN" sz="1800" dirty="0" smtClean="0"/>
          </a:p>
          <a:p>
            <a:pPr indent="457200">
              <a:lnSpc>
                <a:spcPct val="150000"/>
              </a:lnSpc>
            </a:pPr>
            <a:r>
              <a:rPr lang="en-US" altLang="zh-CN" sz="1800" dirty="0" smtClean="0"/>
              <a:t>ASK</a:t>
            </a:r>
            <a:r>
              <a:rPr lang="zh-CN" altLang="en-US" sz="1800" dirty="0" smtClean="0"/>
              <a:t>信号的解调有相干解调与非相干解调两种。</a:t>
            </a:r>
            <a:endParaRPr lang="en-US" altLang="zh-CN" sz="1800" dirty="0" smtClean="0"/>
          </a:p>
          <a:p>
            <a:pPr indent="457200">
              <a:lnSpc>
                <a:spcPct val="150000"/>
              </a:lnSpc>
            </a:pPr>
            <a:r>
              <a:rPr lang="zh-CN" altLang="en-US" sz="1800" dirty="0" smtClean="0"/>
              <a:t>相干解调：</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r>
              <a:rPr lang="zh-CN" altLang="en-US" sz="1800" dirty="0" smtClean="0"/>
              <a:t>非相干解调：</a:t>
            </a:r>
            <a:endParaRPr lang="en-US" altLang="zh-CN" sz="1800" dirty="0" smtClean="0"/>
          </a:p>
          <a:p>
            <a:pPr indent="457200">
              <a:lnSpc>
                <a:spcPct val="150000"/>
              </a:lnSpc>
            </a:pP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1944848980"/>
              </p:ext>
            </p:extLst>
          </p:nvPr>
        </p:nvGraphicFramePr>
        <p:xfrm>
          <a:off x="2170188" y="2902857"/>
          <a:ext cx="7050025" cy="1865086"/>
        </p:xfrm>
        <a:graphic>
          <a:graphicData uri="http://schemas.openxmlformats.org/presentationml/2006/ole">
            <mc:AlternateContent xmlns:mc="http://schemas.openxmlformats.org/markup-compatibility/2006">
              <mc:Choice xmlns:v="urn:schemas-microsoft-com:vml" Requires="v">
                <p:oleObj spid="_x0000_s14377" name="Visio" r:id="rId3" imgW="4798847" imgH="1270811" progId="Visio.Drawing.11">
                  <p:embed/>
                </p:oleObj>
              </mc:Choice>
              <mc:Fallback>
                <p:oleObj name="Visio" r:id="rId3" imgW="4798847" imgH="127081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0188" y="2902857"/>
                        <a:ext cx="7050025" cy="1865086"/>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383859417"/>
              </p:ext>
            </p:extLst>
          </p:nvPr>
        </p:nvGraphicFramePr>
        <p:xfrm>
          <a:off x="2046817" y="5466864"/>
          <a:ext cx="6517259" cy="702163"/>
        </p:xfrm>
        <a:graphic>
          <a:graphicData uri="http://schemas.openxmlformats.org/presentationml/2006/ole">
            <mc:AlternateContent xmlns:mc="http://schemas.openxmlformats.org/markup-compatibility/2006">
              <mc:Choice xmlns:v="urn:schemas-microsoft-com:vml" Requires="v">
                <p:oleObj spid="_x0000_s14378" name="Visio" r:id="rId5" imgW="4186819" imgH="448283" progId="Visio.Drawing.11">
                  <p:embed/>
                </p:oleObj>
              </mc:Choice>
              <mc:Fallback>
                <p:oleObj name="Visio" r:id="rId5" imgW="4186819" imgH="448283" progId="Visio.Drawing.11">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6817" y="5466864"/>
                        <a:ext cx="6517259" cy="702163"/>
                      </a:xfrm>
                      <a:prstGeom prst="rect">
                        <a:avLst/>
                      </a:prstGeom>
                      <a:noFill/>
                    </p:spPr>
                  </p:pic>
                </p:oleObj>
              </mc:Fallback>
            </mc:AlternateContent>
          </a:graphicData>
        </a:graphic>
      </p:graphicFrame>
    </p:spTree>
    <p:extLst>
      <p:ext uri="{BB962C8B-B14F-4D97-AF65-F5344CB8AC3E}">
        <p14:creationId xmlns:p14="http://schemas.microsoft.com/office/powerpoint/2010/main" val="2844559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13</a:t>
            </a:fld>
            <a:endParaRPr lang="en-US" altLang="zh-CN"/>
          </a:p>
        </p:txBody>
      </p:sp>
      <p:sp>
        <p:nvSpPr>
          <p:cNvPr id="2" name="文本框 1"/>
          <p:cNvSpPr txBox="1"/>
          <p:nvPr/>
        </p:nvSpPr>
        <p:spPr>
          <a:xfrm>
            <a:off x="471714" y="505673"/>
            <a:ext cx="11255829" cy="4632037"/>
          </a:xfrm>
          <a:prstGeom prst="rect">
            <a:avLst/>
          </a:prstGeom>
          <a:noFill/>
        </p:spPr>
        <p:txBody>
          <a:bodyPr wrap="square" rtlCol="0">
            <a:spAutoFit/>
          </a:bodyPr>
          <a:lstStyle/>
          <a:p>
            <a:pPr indent="457200">
              <a:lnSpc>
                <a:spcPct val="150000"/>
              </a:lnSpc>
            </a:pPr>
            <a:r>
              <a:rPr lang="zh-CN" altLang="en-US" sz="1800" dirty="0" smtClean="0">
                <a:solidFill>
                  <a:srgbClr val="FF0000"/>
                </a:solidFill>
              </a:rPr>
              <a:t>频移键控（</a:t>
            </a:r>
            <a:r>
              <a:rPr lang="en-US" altLang="zh-CN" sz="1800" dirty="0" smtClean="0">
                <a:solidFill>
                  <a:srgbClr val="FF0000"/>
                </a:solidFill>
              </a:rPr>
              <a:t>FSK</a:t>
            </a:r>
            <a:r>
              <a:rPr lang="zh-CN" altLang="en-US" sz="1800" dirty="0" smtClean="0">
                <a:solidFill>
                  <a:srgbClr val="FF0000"/>
                </a:solidFill>
              </a:rPr>
              <a:t>）</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400" dirty="0" smtClean="0"/>
          </a:p>
          <a:p>
            <a:pPr indent="457200">
              <a:lnSpc>
                <a:spcPct val="150000"/>
              </a:lnSpc>
            </a:pPr>
            <a:endParaRPr lang="en-US" altLang="zh-CN" sz="1400" dirty="0"/>
          </a:p>
          <a:p>
            <a:pPr indent="457200">
              <a:lnSpc>
                <a:spcPct val="150000"/>
              </a:lnSpc>
              <a:spcAft>
                <a:spcPts val="1200"/>
              </a:spcAft>
            </a:pPr>
            <a:r>
              <a:rPr lang="zh-CN" altLang="en-US" sz="1800" dirty="0" smtClean="0"/>
              <a:t>上图是相位连续的</a:t>
            </a:r>
            <a:r>
              <a:rPr lang="en-US" altLang="zh-CN" sz="1800" dirty="0" smtClean="0"/>
              <a:t>FSK</a:t>
            </a:r>
            <a:r>
              <a:rPr lang="zh-CN" altLang="en-US" sz="1800" dirty="0" smtClean="0"/>
              <a:t>的已调波波形，其带宽约为                    ，其中</a:t>
            </a:r>
            <a:r>
              <a:rPr lang="en-US" altLang="zh-CN" sz="1800" i="1" dirty="0" smtClean="0"/>
              <a:t>f</a:t>
            </a:r>
            <a:r>
              <a:rPr lang="en-US" altLang="zh-CN" sz="1800" baseline="-25000" dirty="0" smtClean="0"/>
              <a:t>1</a:t>
            </a:r>
            <a:r>
              <a:rPr lang="zh-CN" altLang="en-US" sz="1800" dirty="0" smtClean="0"/>
              <a:t>、</a:t>
            </a:r>
            <a:r>
              <a:rPr lang="en-US" altLang="zh-CN" sz="1800" i="1" dirty="0" smtClean="0"/>
              <a:t>f</a:t>
            </a:r>
            <a:r>
              <a:rPr lang="en-US" altLang="zh-CN" sz="1800" baseline="-25000" dirty="0" smtClean="0"/>
              <a:t>2</a:t>
            </a:r>
            <a:r>
              <a:rPr lang="zh-CN" altLang="en-US" sz="1800" dirty="0" smtClean="0"/>
              <a:t>分别为两个载频频率。</a:t>
            </a:r>
            <a:endParaRPr lang="en-US" altLang="zh-CN" sz="1800" dirty="0" smtClean="0"/>
          </a:p>
          <a:p>
            <a:pPr indent="457200">
              <a:lnSpc>
                <a:spcPct val="150000"/>
              </a:lnSpc>
            </a:pPr>
            <a:r>
              <a:rPr lang="en-US" altLang="zh-CN" sz="1800" dirty="0" smtClean="0">
                <a:latin typeface="Arial" panose="020B0604020202020204" pitchFamily="34" charset="0"/>
                <a:ea typeface="+mn-ea"/>
              </a:rPr>
              <a:t>FSK</a:t>
            </a:r>
            <a:r>
              <a:rPr lang="zh-CN" altLang="en-US" sz="1800" dirty="0" smtClean="0">
                <a:latin typeface="Arial" panose="020B0604020202020204" pitchFamily="34" charset="0"/>
                <a:ea typeface="+mn-ea"/>
              </a:rPr>
              <a:t>调制</a:t>
            </a:r>
            <a:r>
              <a:rPr lang="zh-CN" altLang="zh-CN" sz="1800" dirty="0" smtClean="0">
                <a:latin typeface="Arial" panose="020B0604020202020204" pitchFamily="34" charset="0"/>
                <a:ea typeface="+mn-ea"/>
              </a:rPr>
              <a:t>的</a:t>
            </a:r>
            <a:r>
              <a:rPr lang="zh-CN" altLang="en-US" sz="1800" dirty="0" smtClean="0">
                <a:latin typeface="Arial" panose="020B0604020202020204" pitchFamily="34" charset="0"/>
                <a:ea typeface="+mn-ea"/>
              </a:rPr>
              <a:t>方法有几种。</a:t>
            </a:r>
            <a:endParaRPr lang="en-US" altLang="zh-CN" sz="1800" dirty="0" smtClean="0">
              <a:latin typeface="Arial" panose="020B0604020202020204" pitchFamily="34" charset="0"/>
              <a:ea typeface="+mn-ea"/>
            </a:endParaRPr>
          </a:p>
          <a:p>
            <a:pPr indent="457200">
              <a:lnSpc>
                <a:spcPct val="150000"/>
              </a:lnSpc>
            </a:pPr>
            <a:r>
              <a:rPr lang="zh-CN" altLang="en-US" sz="1800" dirty="0" smtClean="0"/>
              <a:t>一种方法是将</a:t>
            </a:r>
            <a:r>
              <a:rPr lang="en-US" altLang="zh-CN" sz="1800" dirty="0" smtClean="0"/>
              <a:t>FSK</a:t>
            </a:r>
            <a:r>
              <a:rPr lang="zh-CN" altLang="zh-CN" sz="1800" dirty="0"/>
              <a:t>信号看作两</a:t>
            </a:r>
            <a:r>
              <a:rPr lang="zh-CN" altLang="zh-CN" sz="1800" dirty="0" smtClean="0"/>
              <a:t>个</a:t>
            </a:r>
            <a:r>
              <a:rPr lang="zh-CN" altLang="en-US" sz="1800" dirty="0" smtClean="0"/>
              <a:t>具有</a:t>
            </a:r>
            <a:r>
              <a:rPr lang="zh-CN" altLang="zh-CN" sz="1800" dirty="0"/>
              <a:t>不同</a:t>
            </a:r>
            <a:r>
              <a:rPr lang="zh-CN" altLang="en-US" sz="1800" dirty="0" smtClean="0"/>
              <a:t>载波</a:t>
            </a:r>
            <a:r>
              <a:rPr lang="zh-CN" altLang="zh-CN" sz="1800" dirty="0" smtClean="0"/>
              <a:t>频率</a:t>
            </a:r>
            <a:r>
              <a:rPr lang="zh-CN" altLang="zh-CN" sz="1800" dirty="0"/>
              <a:t>的</a:t>
            </a:r>
            <a:r>
              <a:rPr lang="en-US" altLang="zh-CN" sz="1800" dirty="0"/>
              <a:t>OOK</a:t>
            </a:r>
            <a:r>
              <a:rPr lang="zh-CN" altLang="zh-CN" sz="1800" dirty="0"/>
              <a:t>信号的合成</a:t>
            </a:r>
            <a:r>
              <a:rPr lang="zh-CN" altLang="zh-CN" sz="1800" dirty="0" smtClean="0"/>
              <a:t>，</a:t>
            </a:r>
            <a:r>
              <a:rPr lang="zh-CN" altLang="en-US" sz="1800" dirty="0" smtClean="0"/>
              <a:t>用调制信号选择两个</a:t>
            </a:r>
            <a:r>
              <a:rPr lang="en-US" altLang="zh-CN" sz="1800" dirty="0" smtClean="0"/>
              <a:t>OOK</a:t>
            </a:r>
            <a:r>
              <a:rPr lang="zh-CN" altLang="zh-CN" sz="1800" dirty="0" smtClean="0"/>
              <a:t>信号</a:t>
            </a:r>
            <a:r>
              <a:rPr lang="zh-CN" altLang="en-US" sz="1800" dirty="0" smtClean="0"/>
              <a:t>即可完成调制。</a:t>
            </a:r>
            <a:endParaRPr lang="en-US" altLang="zh-CN" sz="1800" dirty="0" smtClean="0"/>
          </a:p>
          <a:p>
            <a:pPr indent="457200">
              <a:lnSpc>
                <a:spcPct val="150000"/>
              </a:lnSpc>
            </a:pPr>
            <a:r>
              <a:rPr lang="zh-CN" altLang="en-US" sz="1800" dirty="0">
                <a:latin typeface="Arial" panose="020B0604020202020204" pitchFamily="34" charset="0"/>
                <a:ea typeface="+mn-ea"/>
              </a:rPr>
              <a:t>另一</a:t>
            </a:r>
            <a:r>
              <a:rPr lang="zh-CN" altLang="en-US" sz="1800" dirty="0" smtClean="0">
                <a:latin typeface="Arial" panose="020B0604020202020204" pitchFamily="34" charset="0"/>
                <a:ea typeface="+mn-ea"/>
              </a:rPr>
              <a:t>种方法是用频率合成器产生载波信号，用调制信号改变频率合成器的输出频率（改变锁相环的反馈系数）可完成调制。</a:t>
            </a:r>
            <a:endParaRPr lang="en-US" altLang="zh-CN" sz="1600" dirty="0" smtClean="0">
              <a:latin typeface="Arial" panose="020B0604020202020204" pitchFamily="34" charset="0"/>
              <a:ea typeface="+mn-ea"/>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498883207"/>
              </p:ext>
            </p:extLst>
          </p:nvPr>
        </p:nvGraphicFramePr>
        <p:xfrm>
          <a:off x="2656115" y="996363"/>
          <a:ext cx="5021178" cy="1202551"/>
        </p:xfrm>
        <a:graphic>
          <a:graphicData uri="http://schemas.openxmlformats.org/presentationml/2006/ole">
            <mc:AlternateContent xmlns:mc="http://schemas.openxmlformats.org/markup-compatibility/2006">
              <mc:Choice xmlns:v="urn:schemas-microsoft-com:vml" Requires="v">
                <p:oleObj spid="_x0000_s11329" name="Visio" r:id="rId3" imgW="3023640" imgH="723600" progId="Visio.Drawing.11">
                  <p:embed/>
                </p:oleObj>
              </mc:Choice>
              <mc:Fallback>
                <p:oleObj name="Visio" r:id="rId3" imgW="3023640" imgH="72360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6115" y="996363"/>
                        <a:ext cx="5021178" cy="1202551"/>
                      </a:xfrm>
                      <a:prstGeom prst="rect">
                        <a:avLst/>
                      </a:prstGeom>
                      <a:noFill/>
                    </p:spPr>
                  </p:pic>
                </p:oleObj>
              </mc:Fallback>
            </mc:AlternateContent>
          </a:graphicData>
        </a:graphic>
      </p:graphicFrame>
      <p:cxnSp>
        <p:nvCxnSpPr>
          <p:cNvPr id="8" name="直接连接符 7"/>
          <p:cNvCxnSpPr/>
          <p:nvPr/>
        </p:nvCxnSpPr>
        <p:spPr>
          <a:xfrm>
            <a:off x="3984575" y="1545883"/>
            <a:ext cx="669600" cy="2382"/>
          </a:xfrm>
          <a:prstGeom prst="line">
            <a:avLst/>
          </a:prstGeom>
          <a:ln w="19050">
            <a:solidFill>
              <a:srgbClr val="FF0000"/>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151086" y="1196965"/>
            <a:ext cx="486229" cy="338554"/>
          </a:xfrm>
          <a:prstGeom prst="rect">
            <a:avLst/>
          </a:prstGeom>
          <a:noFill/>
        </p:spPr>
        <p:txBody>
          <a:bodyPr wrap="square" rtlCol="0">
            <a:spAutoFit/>
          </a:bodyPr>
          <a:lstStyle/>
          <a:p>
            <a:r>
              <a:rPr lang="en-US" altLang="zh-CN" sz="1600" i="1" dirty="0" smtClean="0">
                <a:solidFill>
                  <a:srgbClr val="FF0000"/>
                </a:solidFill>
                <a:latin typeface="+mn-lt"/>
              </a:rPr>
              <a:t>T</a:t>
            </a:r>
            <a:r>
              <a:rPr lang="en-US" altLang="zh-CN" sz="1600" i="1" baseline="-25000" dirty="0" smtClean="0">
                <a:solidFill>
                  <a:srgbClr val="FF0000"/>
                </a:solidFill>
                <a:latin typeface="+mn-lt"/>
              </a:rPr>
              <a:t>s</a:t>
            </a:r>
            <a:endParaRPr lang="zh-CN" altLang="en-US" sz="1600" i="1" baseline="-25000" dirty="0">
              <a:solidFill>
                <a:srgbClr val="FF0000"/>
              </a:solidFill>
              <a:latin typeface="+mn-lt"/>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787131636"/>
              </p:ext>
            </p:extLst>
          </p:nvPr>
        </p:nvGraphicFramePr>
        <p:xfrm>
          <a:off x="6099628" y="2366285"/>
          <a:ext cx="1172029" cy="646637"/>
        </p:xfrm>
        <a:graphic>
          <a:graphicData uri="http://schemas.openxmlformats.org/presentationml/2006/ole">
            <mc:AlternateContent xmlns:mc="http://schemas.openxmlformats.org/markup-compatibility/2006">
              <mc:Choice xmlns:v="urn:schemas-microsoft-com:vml" Requires="v">
                <p:oleObj spid="_x0000_s11330" name="Equation" r:id="rId5" imgW="736280" imgH="406224" progId="Equation.DSMT4">
                  <p:embed/>
                </p:oleObj>
              </mc:Choice>
              <mc:Fallback>
                <p:oleObj name="Equation" r:id="rId5" imgW="736280" imgH="406224"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9628" y="2366285"/>
                        <a:ext cx="1172029" cy="646637"/>
                      </a:xfrm>
                      <a:prstGeom prst="rect">
                        <a:avLst/>
                      </a:prstGeom>
                      <a:noFill/>
                    </p:spPr>
                  </p:pic>
                </p:oleObj>
              </mc:Fallback>
            </mc:AlternateContent>
          </a:graphicData>
        </a:graphic>
      </p:graphicFrame>
    </p:spTree>
    <p:extLst>
      <p:ext uri="{BB962C8B-B14F-4D97-AF65-F5344CB8AC3E}">
        <p14:creationId xmlns:p14="http://schemas.microsoft.com/office/powerpoint/2010/main" val="32519805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14</a:t>
            </a:fld>
            <a:endParaRPr lang="en-US" altLang="zh-CN"/>
          </a:p>
        </p:txBody>
      </p:sp>
      <p:sp>
        <p:nvSpPr>
          <p:cNvPr id="2" name="文本框 1"/>
          <p:cNvSpPr txBox="1"/>
          <p:nvPr/>
        </p:nvSpPr>
        <p:spPr>
          <a:xfrm>
            <a:off x="471714" y="505673"/>
            <a:ext cx="11277600" cy="4247317"/>
          </a:xfrm>
          <a:prstGeom prst="rect">
            <a:avLst/>
          </a:prstGeom>
          <a:noFill/>
        </p:spPr>
        <p:txBody>
          <a:bodyPr wrap="square" rtlCol="0">
            <a:spAutoFit/>
          </a:bodyPr>
          <a:lstStyle/>
          <a:p>
            <a:pPr indent="457200">
              <a:lnSpc>
                <a:spcPct val="150000"/>
              </a:lnSpc>
            </a:pPr>
            <a:r>
              <a:rPr lang="en-US" altLang="zh-CN" sz="1800" dirty="0" smtClean="0">
                <a:latin typeface="Arial" panose="020B0604020202020204" pitchFamily="34" charset="0"/>
                <a:ea typeface="+mn-ea"/>
              </a:rPr>
              <a:t>FSK</a:t>
            </a:r>
            <a:r>
              <a:rPr lang="zh-CN" altLang="en-US" sz="1800" dirty="0" smtClean="0">
                <a:latin typeface="Arial" panose="020B0604020202020204" pitchFamily="34" charset="0"/>
                <a:ea typeface="+mn-ea"/>
              </a:rPr>
              <a:t>信号的解调</a:t>
            </a:r>
            <a:endParaRPr lang="en-US" altLang="zh-CN" sz="1800" dirty="0" smtClean="0">
              <a:latin typeface="Arial" panose="020B0604020202020204" pitchFamily="34" charset="0"/>
              <a:ea typeface="+mn-ea"/>
            </a:endParaRPr>
          </a:p>
          <a:p>
            <a:pPr indent="457200">
              <a:lnSpc>
                <a:spcPct val="150000"/>
              </a:lnSpc>
            </a:pPr>
            <a:r>
              <a:rPr lang="zh-CN" altLang="en-US" sz="1800" dirty="0" smtClean="0">
                <a:latin typeface="Arial" panose="020B0604020202020204" pitchFamily="34" charset="0"/>
                <a:ea typeface="+mn-ea"/>
              </a:rPr>
              <a:t>最简单的相干解调电路结构如下图。其中</a:t>
            </a:r>
            <a:r>
              <a:rPr lang="zh-CN" altLang="zh-CN" sz="1800" dirty="0"/>
              <a:t>两个载波</a:t>
            </a:r>
            <a:r>
              <a:rPr lang="zh-CN" altLang="zh-CN" sz="1800" dirty="0" smtClean="0"/>
              <a:t>同步信号由锁相环提取</a:t>
            </a:r>
            <a:r>
              <a:rPr lang="zh-CN" altLang="en-US" sz="1800" dirty="0" smtClean="0"/>
              <a:t>。两个积分器的积分周期都是一个符号周期，</a:t>
            </a:r>
            <a:r>
              <a:rPr lang="zh-CN" altLang="zh-CN" sz="1800" dirty="0"/>
              <a:t>每个符号周期结束的时候要将积分器清</a:t>
            </a:r>
            <a:r>
              <a:rPr lang="zh-CN" altLang="zh-CN" sz="1800" dirty="0" smtClean="0"/>
              <a:t>零</a:t>
            </a:r>
            <a:r>
              <a:rPr lang="zh-CN" altLang="en-US" sz="1800" dirty="0" smtClean="0"/>
              <a:t>。</a:t>
            </a:r>
            <a:endParaRPr lang="en-US" altLang="zh-CN" sz="1800" dirty="0" smtClean="0">
              <a:latin typeface="Arial" panose="020B0604020202020204" pitchFamily="34" charset="0"/>
              <a:ea typeface="+mn-ea"/>
            </a:endParaRPr>
          </a:p>
          <a:p>
            <a:pPr indent="457200">
              <a:lnSpc>
                <a:spcPct val="150000"/>
              </a:lnSpc>
            </a:pPr>
            <a:endParaRPr lang="en-US" altLang="zh-CN" sz="1800" dirty="0">
              <a:latin typeface="Arial" panose="020B0604020202020204" pitchFamily="34" charset="0"/>
              <a:ea typeface="+mn-ea"/>
            </a:endParaRPr>
          </a:p>
          <a:p>
            <a:pPr indent="457200">
              <a:lnSpc>
                <a:spcPct val="150000"/>
              </a:lnSpc>
            </a:pPr>
            <a:endParaRPr lang="en-US" altLang="zh-CN" sz="1800" dirty="0" smtClean="0">
              <a:latin typeface="Arial" panose="020B0604020202020204" pitchFamily="34" charset="0"/>
              <a:ea typeface="+mn-ea"/>
            </a:endParaRPr>
          </a:p>
          <a:p>
            <a:pPr indent="457200">
              <a:lnSpc>
                <a:spcPct val="150000"/>
              </a:lnSpc>
            </a:pPr>
            <a:endParaRPr lang="en-US" altLang="zh-CN" sz="1800" dirty="0" smtClean="0">
              <a:latin typeface="Arial" panose="020B0604020202020204" pitchFamily="34" charset="0"/>
              <a:ea typeface="+mn-ea"/>
            </a:endParaRPr>
          </a:p>
          <a:p>
            <a:pPr indent="457200">
              <a:lnSpc>
                <a:spcPct val="150000"/>
              </a:lnSpc>
            </a:pPr>
            <a:endParaRPr lang="en-US" altLang="zh-CN" sz="1800" dirty="0">
              <a:latin typeface="Arial" panose="020B0604020202020204" pitchFamily="34" charset="0"/>
              <a:ea typeface="+mn-ea"/>
            </a:endParaRPr>
          </a:p>
          <a:p>
            <a:pPr indent="457200">
              <a:lnSpc>
                <a:spcPct val="150000"/>
              </a:lnSpc>
            </a:pPr>
            <a:endParaRPr lang="en-US" altLang="zh-CN" sz="1800" dirty="0" smtClean="0">
              <a:latin typeface="Arial" panose="020B0604020202020204" pitchFamily="34" charset="0"/>
              <a:ea typeface="+mn-ea"/>
            </a:endParaRPr>
          </a:p>
          <a:p>
            <a:pPr indent="457200">
              <a:lnSpc>
                <a:spcPct val="150000"/>
              </a:lnSpc>
            </a:pPr>
            <a:endParaRPr lang="en-US" altLang="zh-CN" sz="1800" dirty="0" smtClean="0">
              <a:latin typeface="Arial" panose="020B0604020202020204" pitchFamily="34" charset="0"/>
              <a:ea typeface="+mn-ea"/>
            </a:endParaRPr>
          </a:p>
          <a:p>
            <a:pPr indent="457200">
              <a:lnSpc>
                <a:spcPct val="150000"/>
              </a:lnSpc>
            </a:pPr>
            <a:r>
              <a:rPr lang="zh-CN" altLang="en-US" sz="1800" dirty="0" smtClean="0">
                <a:latin typeface="Arial" panose="020B0604020202020204" pitchFamily="34" charset="0"/>
                <a:ea typeface="+mn-ea"/>
              </a:rPr>
              <a:t>最简单的</a:t>
            </a:r>
            <a:r>
              <a:rPr lang="en-US" altLang="zh-CN" sz="1800" dirty="0" smtClean="0">
                <a:latin typeface="Arial" panose="020B0604020202020204" pitchFamily="34" charset="0"/>
                <a:ea typeface="+mn-ea"/>
              </a:rPr>
              <a:t>FSK</a:t>
            </a:r>
            <a:r>
              <a:rPr lang="zh-CN" altLang="en-US" sz="1800" dirty="0" smtClean="0">
                <a:latin typeface="Arial" panose="020B0604020202020204" pitchFamily="34" charset="0"/>
                <a:ea typeface="+mn-ea"/>
              </a:rPr>
              <a:t>非相干解调电路结构如下图。</a:t>
            </a:r>
            <a:endParaRPr lang="en-US" altLang="zh-CN" sz="1800" dirty="0">
              <a:latin typeface="Arial" panose="020B0604020202020204" pitchFamily="34" charset="0"/>
              <a:ea typeface="+mn-ea"/>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4082310474"/>
              </p:ext>
            </p:extLst>
          </p:nvPr>
        </p:nvGraphicFramePr>
        <p:xfrm>
          <a:off x="2947620" y="4833257"/>
          <a:ext cx="6923965" cy="1388521"/>
        </p:xfrm>
        <a:graphic>
          <a:graphicData uri="http://schemas.openxmlformats.org/presentationml/2006/ole">
            <mc:AlternateContent xmlns:mc="http://schemas.openxmlformats.org/markup-compatibility/2006">
              <mc:Choice xmlns:v="urn:schemas-microsoft-com:vml" Requires="v">
                <p:oleObj spid="_x0000_s15405" name="Visio" r:id="rId3" imgW="4717657" imgH="946826" progId="Visio.Drawing.11">
                  <p:embed/>
                </p:oleObj>
              </mc:Choice>
              <mc:Fallback>
                <p:oleObj name="Visio" r:id="rId3" imgW="4717657" imgH="946826"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7620" y="4833257"/>
                        <a:ext cx="6923965" cy="1388521"/>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554392437"/>
              </p:ext>
            </p:extLst>
          </p:nvPr>
        </p:nvGraphicFramePr>
        <p:xfrm>
          <a:off x="2873828" y="1954530"/>
          <a:ext cx="5577739" cy="2109469"/>
        </p:xfrm>
        <a:graphic>
          <a:graphicData uri="http://schemas.openxmlformats.org/presentationml/2006/ole">
            <mc:AlternateContent xmlns:mc="http://schemas.openxmlformats.org/markup-compatibility/2006">
              <mc:Choice xmlns:v="urn:schemas-microsoft-com:vml" Requires="v">
                <p:oleObj spid="_x0000_s15406" name="Visio" r:id="rId5" imgW="3727731" imgH="1410781" progId="Visio.Drawing.11">
                  <p:embed/>
                </p:oleObj>
              </mc:Choice>
              <mc:Fallback>
                <p:oleObj name="Visio" r:id="rId5" imgW="3727731" imgH="1410781" progId="Visio.Drawing.11">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828" y="1954530"/>
                        <a:ext cx="5577739" cy="2109469"/>
                      </a:xfrm>
                      <a:prstGeom prst="rect">
                        <a:avLst/>
                      </a:prstGeom>
                      <a:noFill/>
                    </p:spPr>
                  </p:pic>
                </p:oleObj>
              </mc:Fallback>
            </mc:AlternateContent>
          </a:graphicData>
        </a:graphic>
      </p:graphicFrame>
    </p:spTree>
    <p:extLst>
      <p:ext uri="{BB962C8B-B14F-4D97-AF65-F5344CB8AC3E}">
        <p14:creationId xmlns:p14="http://schemas.microsoft.com/office/powerpoint/2010/main" val="34003064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15</a:t>
            </a:fld>
            <a:endParaRPr lang="en-US" altLang="zh-CN"/>
          </a:p>
        </p:txBody>
      </p:sp>
      <p:sp>
        <p:nvSpPr>
          <p:cNvPr id="2" name="文本框 1"/>
          <p:cNvSpPr txBox="1"/>
          <p:nvPr/>
        </p:nvSpPr>
        <p:spPr>
          <a:xfrm>
            <a:off x="471714" y="505673"/>
            <a:ext cx="11255829" cy="5370701"/>
          </a:xfrm>
          <a:prstGeom prst="rect">
            <a:avLst/>
          </a:prstGeom>
          <a:noFill/>
        </p:spPr>
        <p:txBody>
          <a:bodyPr wrap="square" rtlCol="0">
            <a:spAutoFit/>
          </a:bodyPr>
          <a:lstStyle/>
          <a:p>
            <a:pPr indent="457200">
              <a:lnSpc>
                <a:spcPct val="150000"/>
              </a:lnSpc>
            </a:pPr>
            <a:r>
              <a:rPr lang="en-US" altLang="zh-CN" sz="1800" dirty="0" smtClean="0">
                <a:latin typeface="Arial" panose="020B0604020202020204" pitchFamily="34" charset="0"/>
                <a:ea typeface="+mn-ea"/>
              </a:rPr>
              <a:t>FSK</a:t>
            </a:r>
            <a:r>
              <a:rPr lang="zh-CN" altLang="en-US" sz="1800" dirty="0" smtClean="0">
                <a:latin typeface="Arial" panose="020B0604020202020204" pitchFamily="34" charset="0"/>
                <a:ea typeface="+mn-ea"/>
              </a:rPr>
              <a:t>信号的两个调制频率</a:t>
            </a:r>
            <a:endParaRPr lang="en-US" altLang="zh-CN" sz="1800" dirty="0">
              <a:latin typeface="Arial" panose="020B0604020202020204" pitchFamily="34" charset="0"/>
              <a:ea typeface="+mn-ea"/>
            </a:endParaRPr>
          </a:p>
          <a:p>
            <a:pPr indent="457200">
              <a:lnSpc>
                <a:spcPct val="150000"/>
              </a:lnSpc>
            </a:pPr>
            <a:r>
              <a:rPr lang="zh-CN" altLang="zh-CN" sz="1800" dirty="0"/>
              <a:t>对于非相干解调电路，由于两个载波频率之间没有关联，所以频率相隔越远解调越容易。但是载波信号频率相隔越远就意味着已调信号占用的频带越宽，所以一般情况下不希望它们隔得太远。</a:t>
            </a:r>
          </a:p>
          <a:p>
            <a:pPr indent="457200">
              <a:lnSpc>
                <a:spcPct val="150000"/>
              </a:lnSpc>
            </a:pPr>
            <a:r>
              <a:rPr lang="zh-CN" altLang="en-US" sz="1800" dirty="0" smtClean="0">
                <a:latin typeface="Arial" panose="020B0604020202020204" pitchFamily="34" charset="0"/>
                <a:ea typeface="+mn-ea"/>
              </a:rPr>
              <a:t>一</a:t>
            </a:r>
            <a:r>
              <a:rPr lang="zh-CN" altLang="zh-CN" sz="1800" dirty="0" smtClean="0">
                <a:latin typeface="Arial" panose="020B0604020202020204" pitchFamily="34" charset="0"/>
                <a:ea typeface="+mn-ea"/>
              </a:rPr>
              <a:t>个</a:t>
            </a:r>
            <a:r>
              <a:rPr lang="zh-CN" altLang="zh-CN" sz="1800" dirty="0">
                <a:latin typeface="Arial" panose="020B0604020202020204" pitchFamily="34" charset="0"/>
                <a:ea typeface="+mn-ea"/>
              </a:rPr>
              <a:t>受矩形脉冲调制的已调信号的频谱在载波频率</a:t>
            </a:r>
            <a:r>
              <a:rPr lang="en-US" altLang="zh-CN" sz="1800" i="1" dirty="0">
                <a:latin typeface="Arial" panose="020B0604020202020204" pitchFamily="34" charset="0"/>
                <a:ea typeface="+mn-ea"/>
              </a:rPr>
              <a:t>f</a:t>
            </a:r>
            <a:r>
              <a:rPr lang="en-US" altLang="zh-CN" sz="1800" i="1" baseline="-25000" dirty="0">
                <a:latin typeface="Arial" panose="020B0604020202020204" pitchFamily="34" charset="0"/>
                <a:ea typeface="+mn-ea"/>
              </a:rPr>
              <a:t>c</a:t>
            </a:r>
            <a:r>
              <a:rPr lang="zh-CN" altLang="zh-CN" sz="1800" dirty="0">
                <a:latin typeface="Arial" panose="020B0604020202020204" pitchFamily="34" charset="0"/>
                <a:ea typeface="+mn-ea"/>
              </a:rPr>
              <a:t>上有最大值，而在偏离载波频率</a:t>
            </a:r>
            <a:r>
              <a:rPr lang="en-US" altLang="zh-CN" sz="1800" i="1" dirty="0">
                <a:latin typeface="Arial" panose="020B0604020202020204" pitchFamily="34" charset="0"/>
                <a:ea typeface="+mn-ea"/>
              </a:rPr>
              <a:t>n</a:t>
            </a:r>
            <a:r>
              <a:rPr lang="en-US" altLang="zh-CN" sz="1800" dirty="0">
                <a:latin typeface="Arial" panose="020B0604020202020204" pitchFamily="34" charset="0"/>
                <a:ea typeface="+mn-ea"/>
              </a:rPr>
              <a:t>/</a:t>
            </a:r>
            <a:r>
              <a:rPr lang="en-US" altLang="zh-CN" sz="1800" i="1" dirty="0">
                <a:latin typeface="Arial" panose="020B0604020202020204" pitchFamily="34" charset="0"/>
                <a:ea typeface="+mn-ea"/>
              </a:rPr>
              <a:t>T</a:t>
            </a:r>
            <a:r>
              <a:rPr lang="en-US" altLang="zh-CN" sz="1800" i="1" baseline="-25000" dirty="0">
                <a:latin typeface="Arial" panose="020B0604020202020204" pitchFamily="34" charset="0"/>
                <a:ea typeface="+mn-ea"/>
              </a:rPr>
              <a:t>s</a:t>
            </a:r>
            <a:r>
              <a:rPr lang="zh-CN" altLang="zh-CN" sz="1800" dirty="0">
                <a:latin typeface="Arial" panose="020B0604020202020204" pitchFamily="34" charset="0"/>
                <a:ea typeface="+mn-ea"/>
              </a:rPr>
              <a:t>的位置上有零点。</a:t>
            </a:r>
            <a:r>
              <a:rPr lang="zh-CN" altLang="zh-CN" sz="1800" dirty="0" smtClean="0">
                <a:latin typeface="Arial" panose="020B0604020202020204" pitchFamily="34" charset="0"/>
                <a:ea typeface="+mn-ea"/>
              </a:rPr>
              <a:t>若两</a:t>
            </a:r>
            <a:r>
              <a:rPr lang="zh-CN" altLang="zh-CN" sz="1800" dirty="0">
                <a:latin typeface="Arial" panose="020B0604020202020204" pitchFamily="34" charset="0"/>
                <a:ea typeface="+mn-ea"/>
              </a:rPr>
              <a:t>个载波频率相差</a:t>
            </a:r>
            <a:r>
              <a:rPr lang="en-US" altLang="zh-CN" sz="1800" i="1" dirty="0">
                <a:latin typeface="Arial" panose="020B0604020202020204" pitchFamily="34" charset="0"/>
                <a:ea typeface="+mn-ea"/>
              </a:rPr>
              <a:t>n</a:t>
            </a:r>
            <a:r>
              <a:rPr lang="en-US" altLang="zh-CN" sz="1800" dirty="0">
                <a:latin typeface="Arial" panose="020B0604020202020204" pitchFamily="34" charset="0"/>
                <a:ea typeface="+mn-ea"/>
              </a:rPr>
              <a:t>/</a:t>
            </a:r>
            <a:r>
              <a:rPr lang="en-US" altLang="zh-CN" sz="1800" i="1" dirty="0">
                <a:latin typeface="Arial" panose="020B0604020202020204" pitchFamily="34" charset="0"/>
                <a:ea typeface="+mn-ea"/>
              </a:rPr>
              <a:t>T</a:t>
            </a:r>
            <a:r>
              <a:rPr lang="en-US" altLang="zh-CN" sz="1800" i="1" baseline="-25000" dirty="0">
                <a:latin typeface="Arial" panose="020B0604020202020204" pitchFamily="34" charset="0"/>
                <a:ea typeface="+mn-ea"/>
              </a:rPr>
              <a:t>s</a:t>
            </a:r>
            <a:r>
              <a:rPr lang="zh-CN" altLang="zh-CN" sz="1800" dirty="0">
                <a:latin typeface="Arial" panose="020B0604020202020204" pitchFamily="34" charset="0"/>
                <a:ea typeface="+mn-ea"/>
              </a:rPr>
              <a:t>，其中一个的频谱峰值将落在另一个的零点位置，它们之间的干扰将最小。所以采用非相干解调电路接收的</a:t>
            </a:r>
            <a:r>
              <a:rPr lang="en-US" altLang="zh-CN" sz="1800" dirty="0">
                <a:latin typeface="Arial" panose="020B0604020202020204" pitchFamily="34" charset="0"/>
                <a:ea typeface="+mn-ea"/>
              </a:rPr>
              <a:t>FSK</a:t>
            </a:r>
            <a:r>
              <a:rPr lang="zh-CN" altLang="zh-CN" sz="1800" dirty="0">
                <a:latin typeface="Arial" panose="020B0604020202020204" pitchFamily="34" charset="0"/>
                <a:ea typeface="+mn-ea"/>
              </a:rPr>
              <a:t>信号中两个载波频率的最小频率差应该是</a:t>
            </a:r>
            <a:r>
              <a:rPr lang="en-US" altLang="zh-CN" sz="1800" dirty="0" smtClean="0">
                <a:latin typeface="Arial" panose="020B0604020202020204" pitchFamily="34" charset="0"/>
                <a:ea typeface="+mn-ea"/>
              </a:rPr>
              <a:t>1/</a:t>
            </a:r>
            <a:r>
              <a:rPr lang="en-US" altLang="zh-CN" sz="1800" i="1" dirty="0" smtClean="0">
                <a:latin typeface="Arial" panose="020B0604020202020204" pitchFamily="34" charset="0"/>
                <a:ea typeface="+mn-ea"/>
              </a:rPr>
              <a:t>T</a:t>
            </a:r>
            <a:r>
              <a:rPr lang="en-US" altLang="zh-CN" sz="1800" i="1" baseline="-25000" dirty="0" smtClean="0">
                <a:latin typeface="Arial" panose="020B0604020202020204" pitchFamily="34" charset="0"/>
                <a:ea typeface="+mn-ea"/>
              </a:rPr>
              <a:t>s</a:t>
            </a:r>
            <a:r>
              <a:rPr lang="zh-CN" altLang="en-US" sz="1800" dirty="0" smtClean="0">
                <a:latin typeface="Arial" panose="020B0604020202020204" pitchFamily="34" charset="0"/>
                <a:ea typeface="+mn-ea"/>
              </a:rPr>
              <a:t>，最小带宽约为</a:t>
            </a:r>
            <a:r>
              <a:rPr lang="en-US" altLang="zh-CN" sz="1800" dirty="0" smtClean="0">
                <a:latin typeface="Arial" panose="020B0604020202020204" pitchFamily="34" charset="0"/>
              </a:rPr>
              <a:t>3/</a:t>
            </a:r>
            <a:r>
              <a:rPr lang="en-US" altLang="zh-CN" sz="1800" i="1" dirty="0" smtClean="0">
                <a:latin typeface="Arial" panose="020B0604020202020204" pitchFamily="34" charset="0"/>
              </a:rPr>
              <a:t>T</a:t>
            </a:r>
            <a:r>
              <a:rPr lang="en-US" altLang="zh-CN" sz="1800" i="1" baseline="-25000" dirty="0" smtClean="0">
                <a:latin typeface="Arial" panose="020B0604020202020204" pitchFamily="34" charset="0"/>
              </a:rPr>
              <a:t>s</a:t>
            </a:r>
            <a:r>
              <a:rPr lang="zh-CN" altLang="en-US" sz="1800" dirty="0" smtClean="0">
                <a:latin typeface="Arial" panose="020B0604020202020204" pitchFamily="34" charset="0"/>
              </a:rPr>
              <a:t>。</a:t>
            </a:r>
            <a:endParaRPr lang="zh-CN" altLang="zh-CN" sz="1800" dirty="0">
              <a:latin typeface="Arial" panose="020B0604020202020204" pitchFamily="34" charset="0"/>
              <a:ea typeface="+mn-ea"/>
            </a:endParaRPr>
          </a:p>
          <a:p>
            <a:pPr indent="457200">
              <a:lnSpc>
                <a:spcPct val="150000"/>
              </a:lnSpc>
            </a:pPr>
            <a:r>
              <a:rPr lang="zh-CN" altLang="zh-CN" sz="1800" dirty="0">
                <a:latin typeface="Arial" panose="020B0604020202020204" pitchFamily="34" charset="0"/>
                <a:ea typeface="+mn-ea"/>
              </a:rPr>
              <a:t>当接收端采用相干解调电路时，</a:t>
            </a:r>
            <a:r>
              <a:rPr lang="en-US" altLang="zh-CN" sz="1800" dirty="0">
                <a:latin typeface="Arial" panose="020B0604020202020204" pitchFamily="34" charset="0"/>
                <a:ea typeface="+mn-ea"/>
              </a:rPr>
              <a:t>FSK</a:t>
            </a:r>
            <a:r>
              <a:rPr lang="zh-CN" altLang="zh-CN" sz="1800" dirty="0">
                <a:latin typeface="Arial" panose="020B0604020202020204" pitchFamily="34" charset="0"/>
                <a:ea typeface="+mn-ea"/>
              </a:rPr>
              <a:t>信号的解调是用两个相关接收器将接收信号与恢复的载波</a:t>
            </a:r>
            <a:r>
              <a:rPr lang="zh-CN" altLang="zh-CN" sz="1800" dirty="0" smtClean="0">
                <a:latin typeface="Arial" panose="020B0604020202020204" pitchFamily="34" charset="0"/>
                <a:ea typeface="+mn-ea"/>
              </a:rPr>
              <a:t>信号作</a:t>
            </a:r>
            <a:r>
              <a:rPr lang="zh-CN" altLang="zh-CN" sz="1800" dirty="0">
                <a:latin typeface="Arial" panose="020B0604020202020204" pitchFamily="34" charset="0"/>
                <a:ea typeface="+mn-ea"/>
              </a:rPr>
              <a:t>相关</a:t>
            </a:r>
            <a:r>
              <a:rPr lang="zh-CN" altLang="zh-CN" sz="1800" dirty="0" smtClean="0">
                <a:latin typeface="Arial" panose="020B0604020202020204" pitchFamily="34" charset="0"/>
                <a:ea typeface="+mn-ea"/>
              </a:rPr>
              <a:t>运算</a:t>
            </a:r>
            <a:r>
              <a:rPr lang="zh-CN" altLang="en-US" sz="1800" dirty="0" smtClean="0">
                <a:latin typeface="Arial" panose="020B0604020202020204" pitchFamily="34" charset="0"/>
                <a:ea typeface="+mn-ea"/>
              </a:rPr>
              <a:t>，如果</a:t>
            </a:r>
            <a:r>
              <a:rPr lang="zh-CN" altLang="zh-CN" sz="1800" dirty="0" smtClean="0">
                <a:latin typeface="Arial" panose="020B0604020202020204" pitchFamily="34" charset="0"/>
                <a:ea typeface="+mn-ea"/>
              </a:rPr>
              <a:t>输入</a:t>
            </a:r>
            <a:r>
              <a:rPr lang="zh-CN" altLang="zh-CN" sz="1800" dirty="0">
                <a:latin typeface="Arial" panose="020B0604020202020204" pitchFamily="34" charset="0"/>
                <a:ea typeface="+mn-ea"/>
              </a:rPr>
              <a:t>的两个</a:t>
            </a:r>
            <a:r>
              <a:rPr lang="zh-CN" altLang="zh-CN" sz="1800" dirty="0" smtClean="0">
                <a:latin typeface="Arial" panose="020B0604020202020204" pitchFamily="34" charset="0"/>
                <a:ea typeface="+mn-ea"/>
              </a:rPr>
              <a:t>信号</a:t>
            </a:r>
            <a:r>
              <a:rPr lang="zh-CN" altLang="en-US" sz="1800" dirty="0" smtClean="0">
                <a:latin typeface="Arial" panose="020B0604020202020204" pitchFamily="34" charset="0"/>
                <a:ea typeface="+mn-ea"/>
              </a:rPr>
              <a:t>相互正交，则</a:t>
            </a:r>
            <a:r>
              <a:rPr lang="zh-CN" altLang="zh-CN" sz="1800" dirty="0" smtClean="0">
                <a:latin typeface="Arial" panose="020B0604020202020204" pitchFamily="34" charset="0"/>
                <a:ea typeface="+mn-ea"/>
              </a:rPr>
              <a:t>在</a:t>
            </a:r>
            <a:r>
              <a:rPr lang="zh-CN" altLang="zh-CN" sz="1800" dirty="0">
                <a:latin typeface="Arial" panose="020B0604020202020204" pitchFamily="34" charset="0"/>
                <a:ea typeface="+mn-ea"/>
              </a:rPr>
              <a:t>最后判决时可以有最大的分辨度</a:t>
            </a:r>
            <a:r>
              <a:rPr lang="zh-CN" altLang="zh-CN" sz="1800" dirty="0" smtClean="0">
                <a:latin typeface="Arial" panose="020B0604020202020204" pitchFamily="34" charset="0"/>
                <a:ea typeface="+mn-ea"/>
              </a:rPr>
              <a:t>。</a:t>
            </a:r>
            <a:r>
              <a:rPr lang="zh-CN" altLang="en-US" sz="1800" dirty="0" smtClean="0">
                <a:latin typeface="Arial" panose="020B0604020202020204" pitchFamily="34" charset="0"/>
                <a:ea typeface="+mn-ea"/>
              </a:rPr>
              <a:t>而</a:t>
            </a:r>
            <a:r>
              <a:rPr lang="zh-CN" altLang="zh-CN" sz="1800" dirty="0" smtClean="0"/>
              <a:t>满足正交关系</a:t>
            </a:r>
            <a:r>
              <a:rPr lang="zh-CN" altLang="zh-CN" sz="1800" dirty="0"/>
              <a:t>的两个</a:t>
            </a:r>
            <a:r>
              <a:rPr lang="zh-CN" altLang="zh-CN" sz="1800" dirty="0" smtClean="0"/>
              <a:t>载波频率</a:t>
            </a:r>
            <a:endParaRPr lang="en-US" altLang="zh-CN" sz="1800" dirty="0" smtClean="0"/>
          </a:p>
          <a:p>
            <a:pPr>
              <a:lnSpc>
                <a:spcPct val="200000"/>
              </a:lnSpc>
              <a:spcBef>
                <a:spcPts val="600"/>
              </a:spcBef>
              <a:spcAft>
                <a:spcPts val="600"/>
              </a:spcAft>
            </a:pPr>
            <a:r>
              <a:rPr lang="zh-CN" altLang="zh-CN" sz="1800" dirty="0" smtClean="0"/>
              <a:t>分别为</a:t>
            </a:r>
            <a:r>
              <a:rPr lang="en-US" altLang="zh-CN" sz="1800" dirty="0" smtClean="0"/>
              <a:t>                                 </a:t>
            </a:r>
            <a:r>
              <a:rPr lang="zh-CN" altLang="en-US" sz="1800" dirty="0" smtClean="0"/>
              <a:t>，其中</a:t>
            </a:r>
            <a:r>
              <a:rPr lang="en-US" altLang="zh-CN" sz="1800" i="1" dirty="0" smtClean="0"/>
              <a:t>m</a:t>
            </a:r>
            <a:r>
              <a:rPr lang="zh-CN" altLang="en-US" sz="1800" dirty="0" smtClean="0"/>
              <a:t>与</a:t>
            </a:r>
            <a:r>
              <a:rPr lang="en-US" altLang="zh-CN" sz="1800" i="1" dirty="0" smtClean="0"/>
              <a:t>n</a:t>
            </a:r>
            <a:r>
              <a:rPr lang="zh-CN" altLang="en-US" sz="1800" dirty="0" smtClean="0"/>
              <a:t>都是正整数，且必须满足</a:t>
            </a:r>
            <a:r>
              <a:rPr lang="en-US" altLang="zh-CN" sz="1800" i="1" dirty="0" smtClean="0"/>
              <a:t>m</a:t>
            </a:r>
            <a:r>
              <a:rPr lang="en-US" altLang="zh-CN" sz="1800" dirty="0" smtClean="0"/>
              <a:t>&gt;</a:t>
            </a:r>
            <a:r>
              <a:rPr lang="en-US" altLang="zh-CN" sz="1800" i="1" dirty="0" smtClean="0"/>
              <a:t>n</a:t>
            </a:r>
            <a:r>
              <a:rPr lang="zh-CN" altLang="en-US" sz="1800" dirty="0" smtClean="0"/>
              <a:t>。</a:t>
            </a:r>
            <a:endParaRPr lang="en-US" altLang="zh-CN" sz="1800" dirty="0" smtClean="0"/>
          </a:p>
          <a:p>
            <a:pPr indent="457200">
              <a:lnSpc>
                <a:spcPct val="150000"/>
              </a:lnSpc>
            </a:pPr>
            <a:r>
              <a:rPr lang="zh-CN" altLang="en-US" sz="1800" dirty="0" smtClean="0">
                <a:latin typeface="Arial" panose="020B0604020202020204" pitchFamily="34" charset="0"/>
                <a:ea typeface="+mn-ea"/>
              </a:rPr>
              <a:t>显然，当</a:t>
            </a:r>
            <a:r>
              <a:rPr lang="en-US" altLang="zh-CN" sz="1800" i="1" dirty="0" smtClean="0">
                <a:latin typeface="Arial" panose="020B0604020202020204" pitchFamily="34" charset="0"/>
                <a:ea typeface="+mn-ea"/>
              </a:rPr>
              <a:t>m</a:t>
            </a:r>
            <a:r>
              <a:rPr lang="en-US" altLang="zh-CN" sz="1800" dirty="0" smtClean="0">
                <a:latin typeface="Arial" panose="020B0604020202020204" pitchFamily="34" charset="0"/>
                <a:ea typeface="+mn-ea"/>
              </a:rPr>
              <a:t>-</a:t>
            </a:r>
            <a:r>
              <a:rPr lang="en-US" altLang="zh-CN" sz="1800" i="1" dirty="0" smtClean="0">
                <a:latin typeface="Arial" panose="020B0604020202020204" pitchFamily="34" charset="0"/>
                <a:ea typeface="+mn-ea"/>
              </a:rPr>
              <a:t>n</a:t>
            </a:r>
            <a:r>
              <a:rPr lang="en-US" altLang="zh-CN" sz="1800" dirty="0" smtClean="0">
                <a:latin typeface="Arial" panose="020B0604020202020204" pitchFamily="34" charset="0"/>
                <a:ea typeface="+mn-ea"/>
              </a:rPr>
              <a:t>=1</a:t>
            </a:r>
            <a:r>
              <a:rPr lang="zh-CN" altLang="en-US" sz="1800" dirty="0" smtClean="0">
                <a:latin typeface="Arial" panose="020B0604020202020204" pitchFamily="34" charset="0"/>
                <a:ea typeface="+mn-ea"/>
              </a:rPr>
              <a:t>时有最小的频率</a:t>
            </a:r>
            <a:r>
              <a:rPr lang="zh-CN" altLang="en-US" sz="1800" dirty="0">
                <a:latin typeface="Arial" panose="020B0604020202020204" pitchFamily="34" charset="0"/>
                <a:ea typeface="+mn-ea"/>
              </a:rPr>
              <a:t>差，所以采用</a:t>
            </a:r>
            <a:r>
              <a:rPr lang="zh-CN" altLang="zh-CN" sz="1800" dirty="0">
                <a:latin typeface="Arial" panose="020B0604020202020204" pitchFamily="34" charset="0"/>
              </a:rPr>
              <a:t>相干解调电路接收的</a:t>
            </a:r>
            <a:r>
              <a:rPr lang="en-US" altLang="zh-CN" sz="1800" dirty="0"/>
              <a:t>FSK</a:t>
            </a:r>
            <a:r>
              <a:rPr lang="zh-CN" altLang="en-US" sz="1800" dirty="0" smtClean="0"/>
              <a:t>信号</a:t>
            </a:r>
            <a:r>
              <a:rPr lang="zh-CN" altLang="en-US" sz="1800" dirty="0" smtClean="0">
                <a:latin typeface="Arial" panose="020B0604020202020204" pitchFamily="34" charset="0"/>
                <a:ea typeface="+mn-ea"/>
              </a:rPr>
              <a:t>两个信号的频率差为</a:t>
            </a:r>
            <a:r>
              <a:rPr lang="en-US" altLang="zh-CN" sz="1800" dirty="0" smtClean="0">
                <a:latin typeface="Arial" panose="020B0604020202020204" pitchFamily="34" charset="0"/>
                <a:ea typeface="+mn-ea"/>
              </a:rPr>
              <a:t>1/(2</a:t>
            </a:r>
            <a:r>
              <a:rPr lang="en-US" altLang="zh-CN" sz="1800" i="1" dirty="0">
                <a:latin typeface="Arial" panose="020B0604020202020204" pitchFamily="34" charset="0"/>
              </a:rPr>
              <a:t>T</a:t>
            </a:r>
            <a:r>
              <a:rPr lang="en-US" altLang="zh-CN" sz="1800" i="1" baseline="-25000" dirty="0">
                <a:latin typeface="Arial" panose="020B0604020202020204" pitchFamily="34" charset="0"/>
              </a:rPr>
              <a:t>s</a:t>
            </a:r>
            <a:r>
              <a:rPr lang="en-US" altLang="zh-CN" sz="1800" dirty="0" smtClean="0">
                <a:latin typeface="Arial" panose="020B0604020202020204" pitchFamily="34" charset="0"/>
                <a:ea typeface="+mn-ea"/>
              </a:rPr>
              <a:t>)</a:t>
            </a:r>
            <a:r>
              <a:rPr lang="zh-CN" altLang="en-US" sz="1800" dirty="0" smtClean="0">
                <a:latin typeface="Arial" panose="020B0604020202020204" pitchFamily="34" charset="0"/>
                <a:ea typeface="+mn-ea"/>
              </a:rPr>
              <a:t>，</a:t>
            </a:r>
            <a:r>
              <a:rPr lang="zh-CN" altLang="en-US" sz="1800" dirty="0" smtClean="0"/>
              <a:t>最小</a:t>
            </a:r>
            <a:r>
              <a:rPr lang="zh-CN" altLang="zh-CN" sz="1800" dirty="0" smtClean="0"/>
              <a:t>带宽</a:t>
            </a:r>
            <a:r>
              <a:rPr lang="zh-CN" altLang="zh-CN" sz="1800" dirty="0"/>
              <a:t>大约</a:t>
            </a:r>
            <a:r>
              <a:rPr lang="zh-CN" altLang="zh-CN" sz="1800" dirty="0" smtClean="0"/>
              <a:t>为</a:t>
            </a:r>
            <a:r>
              <a:rPr lang="en-US" altLang="zh-CN" sz="1800" dirty="0" smtClean="0">
                <a:latin typeface="Arial" panose="020B0604020202020204" pitchFamily="34" charset="0"/>
              </a:rPr>
              <a:t>2.5/</a:t>
            </a:r>
            <a:r>
              <a:rPr lang="en-US" altLang="zh-CN" sz="1800" i="1" dirty="0" err="1" smtClean="0">
                <a:latin typeface="Arial" panose="020B0604020202020204" pitchFamily="34" charset="0"/>
              </a:rPr>
              <a:t>T</a:t>
            </a:r>
            <a:r>
              <a:rPr lang="en-US" altLang="zh-CN" sz="1800" i="1" baseline="-25000" dirty="0" err="1" smtClean="0">
                <a:latin typeface="Arial" panose="020B0604020202020204" pitchFamily="34" charset="0"/>
              </a:rPr>
              <a:t>s</a:t>
            </a:r>
            <a:r>
              <a:rPr lang="zh-CN" altLang="en-US" sz="1800" dirty="0" smtClean="0">
                <a:latin typeface="Arial" panose="020B0604020202020204" pitchFamily="34" charset="0"/>
              </a:rPr>
              <a:t>。</a:t>
            </a:r>
            <a:endParaRPr lang="en-US" altLang="zh-CN" sz="1800" dirty="0" smtClean="0">
              <a:latin typeface="Arial" panose="020B0604020202020204" pitchFamily="34" charset="0"/>
            </a:endParaRPr>
          </a:p>
          <a:p>
            <a:pPr indent="457200">
              <a:lnSpc>
                <a:spcPct val="150000"/>
              </a:lnSpc>
            </a:pPr>
            <a:endParaRPr lang="en-US" altLang="zh-CN" sz="1800" dirty="0" smtClean="0">
              <a:latin typeface="Arial" panose="020B0604020202020204" pitchFamily="34" charset="0"/>
              <a:ea typeface="+mn-ea"/>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3149385602"/>
              </p:ext>
            </p:extLst>
          </p:nvPr>
        </p:nvGraphicFramePr>
        <p:xfrm>
          <a:off x="1287083" y="3904341"/>
          <a:ext cx="2022477" cy="711201"/>
        </p:xfrm>
        <a:graphic>
          <a:graphicData uri="http://schemas.openxmlformats.org/presentationml/2006/ole">
            <mc:AlternateContent xmlns:mc="http://schemas.openxmlformats.org/markup-compatibility/2006">
              <mc:Choice xmlns:v="urn:schemas-microsoft-com:vml" Requires="v">
                <p:oleObj spid="_x0000_s16413" name="Equation" r:id="rId3" imgW="1155199" imgH="406224" progId="Equation.DSMT4">
                  <p:embed/>
                </p:oleObj>
              </mc:Choice>
              <mc:Fallback>
                <p:oleObj name="Equation" r:id="rId3" imgW="1155199" imgH="406224"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7083" y="3904341"/>
                        <a:ext cx="2022477" cy="711201"/>
                      </a:xfrm>
                      <a:prstGeom prst="rect">
                        <a:avLst/>
                      </a:prstGeom>
                      <a:noFill/>
                    </p:spPr>
                  </p:pic>
                </p:oleObj>
              </mc:Fallback>
            </mc:AlternateContent>
          </a:graphicData>
        </a:graphic>
      </p:graphicFrame>
    </p:spTree>
    <p:extLst>
      <p:ext uri="{BB962C8B-B14F-4D97-AF65-F5344CB8AC3E}">
        <p14:creationId xmlns:p14="http://schemas.microsoft.com/office/powerpoint/2010/main" val="699906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16</a:t>
            </a:fld>
            <a:endParaRPr lang="en-US" altLang="zh-CN"/>
          </a:p>
        </p:txBody>
      </p:sp>
      <p:sp>
        <p:nvSpPr>
          <p:cNvPr id="2" name="文本框 1"/>
          <p:cNvSpPr txBox="1"/>
          <p:nvPr/>
        </p:nvSpPr>
        <p:spPr>
          <a:xfrm>
            <a:off x="471713" y="505673"/>
            <a:ext cx="11255829" cy="6217087"/>
          </a:xfrm>
          <a:prstGeom prst="rect">
            <a:avLst/>
          </a:prstGeom>
          <a:noFill/>
        </p:spPr>
        <p:txBody>
          <a:bodyPr wrap="square" rtlCol="0">
            <a:spAutoFit/>
          </a:bodyPr>
          <a:lstStyle/>
          <a:p>
            <a:pPr indent="457200">
              <a:lnSpc>
                <a:spcPct val="150000"/>
              </a:lnSpc>
            </a:pPr>
            <a:r>
              <a:rPr lang="zh-CN" altLang="en-US" sz="1800" dirty="0" smtClean="0">
                <a:solidFill>
                  <a:srgbClr val="FF0000"/>
                </a:solidFill>
              </a:rPr>
              <a:t>相移键控（</a:t>
            </a:r>
            <a:r>
              <a:rPr lang="en-US" altLang="zh-CN" sz="1800" dirty="0" smtClean="0">
                <a:solidFill>
                  <a:srgbClr val="FF0000"/>
                </a:solidFill>
              </a:rPr>
              <a:t>PSK</a:t>
            </a:r>
            <a:r>
              <a:rPr lang="zh-CN" altLang="en-US" sz="1800" dirty="0" smtClean="0">
                <a:solidFill>
                  <a:srgbClr val="FF0000"/>
                </a:solidFill>
              </a:rPr>
              <a:t>）</a:t>
            </a:r>
            <a:endParaRPr lang="en-US" altLang="zh-CN" sz="1800" dirty="0" smtClean="0"/>
          </a:p>
          <a:p>
            <a:pPr indent="457200">
              <a:lnSpc>
                <a:spcPct val="150000"/>
              </a:lnSpc>
            </a:pPr>
            <a:r>
              <a:rPr lang="zh-CN" altLang="en-US" sz="1800" dirty="0" smtClean="0"/>
              <a:t>通常将基带为二进制的</a:t>
            </a:r>
            <a:r>
              <a:rPr lang="en-US" altLang="zh-CN" sz="1800" dirty="0" smtClean="0"/>
              <a:t>PSK</a:t>
            </a:r>
            <a:r>
              <a:rPr lang="zh-CN" altLang="en-US" sz="1800" dirty="0" smtClean="0"/>
              <a:t>称为</a:t>
            </a:r>
            <a:r>
              <a:rPr lang="en-US" altLang="zh-CN" sz="1800" dirty="0" smtClean="0"/>
              <a:t>2PSK</a:t>
            </a:r>
            <a:r>
              <a:rPr lang="zh-CN" altLang="en-US" sz="1800" dirty="0" smtClean="0"/>
              <a:t>或</a:t>
            </a:r>
            <a:r>
              <a:rPr lang="en-US" altLang="zh-CN" sz="1800" dirty="0" smtClean="0"/>
              <a:t>BPSK</a:t>
            </a:r>
            <a:r>
              <a:rPr lang="zh-CN" altLang="en-US" sz="1800" dirty="0" smtClean="0"/>
              <a:t>，其波形如下。</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spcBef>
                <a:spcPts val="600"/>
              </a:spcBef>
              <a:spcAft>
                <a:spcPts val="600"/>
              </a:spcAft>
            </a:pPr>
            <a:r>
              <a:rPr lang="en-US" altLang="zh-CN" sz="1800" dirty="0" smtClean="0"/>
              <a:t>2PSK</a:t>
            </a:r>
            <a:r>
              <a:rPr lang="zh-CN" altLang="en-US" sz="1800" dirty="0" smtClean="0"/>
              <a:t>调制电路结构如下（其中整形滤波为可选项）：</a:t>
            </a:r>
            <a:endParaRPr lang="en-US" altLang="zh-CN" sz="1800" dirty="0" smtClean="0"/>
          </a:p>
          <a:p>
            <a:pPr indent="457200">
              <a:lnSpc>
                <a:spcPct val="150000"/>
              </a:lnSpc>
              <a:spcBef>
                <a:spcPts val="600"/>
              </a:spcBef>
              <a:spcAft>
                <a:spcPts val="600"/>
              </a:spcAft>
            </a:pPr>
            <a:endParaRPr lang="en-US" altLang="zh-CN" sz="1800" dirty="0" smtClean="0"/>
          </a:p>
          <a:p>
            <a:pPr indent="457200">
              <a:lnSpc>
                <a:spcPct val="150000"/>
              </a:lnSpc>
              <a:spcBef>
                <a:spcPts val="600"/>
              </a:spcBef>
              <a:spcAft>
                <a:spcPts val="600"/>
              </a:spcAft>
            </a:pPr>
            <a:endParaRPr lang="en-US" altLang="zh-CN" sz="1800" dirty="0"/>
          </a:p>
          <a:p>
            <a:pPr indent="457200">
              <a:lnSpc>
                <a:spcPct val="150000"/>
              </a:lnSpc>
              <a:spcBef>
                <a:spcPts val="600"/>
              </a:spcBef>
              <a:spcAft>
                <a:spcPts val="600"/>
              </a:spcAft>
            </a:pPr>
            <a:endParaRPr lang="en-US" altLang="zh-CN" sz="1800" dirty="0"/>
          </a:p>
          <a:p>
            <a:pPr indent="457200">
              <a:lnSpc>
                <a:spcPct val="150000"/>
              </a:lnSpc>
              <a:spcBef>
                <a:spcPts val="600"/>
              </a:spcBef>
              <a:spcAft>
                <a:spcPts val="600"/>
              </a:spcAft>
            </a:pPr>
            <a:r>
              <a:rPr lang="en-US" altLang="zh-CN" sz="1800" dirty="0" smtClean="0"/>
              <a:t>2PSK</a:t>
            </a:r>
            <a:r>
              <a:rPr lang="zh-CN" altLang="zh-CN" sz="1800" dirty="0" smtClean="0"/>
              <a:t>的</a:t>
            </a:r>
            <a:r>
              <a:rPr lang="zh-CN" altLang="zh-CN" sz="1800" dirty="0"/>
              <a:t>有效</a:t>
            </a:r>
            <a:r>
              <a:rPr lang="zh-CN" altLang="zh-CN" sz="1800" dirty="0" smtClean="0"/>
              <a:t>带宽近似</a:t>
            </a:r>
            <a:r>
              <a:rPr lang="zh-CN" altLang="zh-CN" sz="1800" dirty="0"/>
              <a:t>为基带信号符号率的</a:t>
            </a:r>
            <a:r>
              <a:rPr lang="en-US" altLang="zh-CN" sz="1800" dirty="0"/>
              <a:t>2</a:t>
            </a:r>
            <a:r>
              <a:rPr lang="zh-CN" altLang="zh-CN" sz="1800" dirty="0" smtClean="0"/>
              <a:t>倍</a:t>
            </a:r>
            <a:r>
              <a:rPr lang="zh-CN" altLang="en-US" sz="1800" dirty="0" smtClean="0"/>
              <a:t>，               。</a:t>
            </a:r>
            <a:endParaRPr lang="en-US" altLang="zh-CN" sz="1800" dirty="0" smtClean="0"/>
          </a:p>
          <a:p>
            <a:pPr indent="457200">
              <a:lnSpc>
                <a:spcPct val="150000"/>
              </a:lnSpc>
              <a:spcBef>
                <a:spcPts val="0"/>
              </a:spcBef>
              <a:spcAft>
                <a:spcPts val="0"/>
              </a:spcAft>
            </a:pPr>
            <a:endParaRPr lang="en-US" altLang="zh-CN" sz="1600" dirty="0" smtClean="0"/>
          </a:p>
        </p:txBody>
      </p:sp>
      <p:graphicFrame>
        <p:nvGraphicFramePr>
          <p:cNvPr id="6" name="对象 5"/>
          <p:cNvGraphicFramePr>
            <a:graphicFrameLocks noChangeAspect="1"/>
          </p:cNvGraphicFramePr>
          <p:nvPr>
            <p:extLst>
              <p:ext uri="{D42A27DB-BD31-4B8C-83A1-F6EECF244321}">
                <p14:modId xmlns:p14="http://schemas.microsoft.com/office/powerpoint/2010/main" val="3296419575"/>
              </p:ext>
            </p:extLst>
          </p:nvPr>
        </p:nvGraphicFramePr>
        <p:xfrm>
          <a:off x="2830287" y="1502230"/>
          <a:ext cx="5167084" cy="1857092"/>
        </p:xfrm>
        <a:graphic>
          <a:graphicData uri="http://schemas.openxmlformats.org/presentationml/2006/ole">
            <mc:AlternateContent xmlns:mc="http://schemas.openxmlformats.org/markup-compatibility/2006">
              <mc:Choice xmlns:v="urn:schemas-microsoft-com:vml" Requires="v">
                <p:oleObj spid="_x0000_s12369" name="Visio" r:id="rId3" imgW="3028641" imgH="1104707" progId="Visio.Drawing.11">
                  <p:embed/>
                </p:oleObj>
              </mc:Choice>
              <mc:Fallback>
                <p:oleObj name="Visio" r:id="rId3" imgW="3028641" imgH="1104707" progId="Visio.Drawing.11">
                  <p:embed/>
                  <p:pic>
                    <p:nvPicPr>
                      <p:cNvPr id="0" name="Object 1"/>
                      <p:cNvPicPr>
                        <a:picLocks noChangeAspect="1" noChangeArrowheads="1"/>
                      </p:cNvPicPr>
                      <p:nvPr/>
                    </p:nvPicPr>
                    <p:blipFill>
                      <a:blip r:embed="rId4"/>
                      <a:srcRect/>
                      <a:stretch>
                        <a:fillRect/>
                      </a:stretch>
                    </p:blipFill>
                    <p:spPr bwMode="auto">
                      <a:xfrm>
                        <a:off x="2830287" y="1502230"/>
                        <a:ext cx="5167084" cy="1857092"/>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907322258"/>
              </p:ext>
            </p:extLst>
          </p:nvPr>
        </p:nvGraphicFramePr>
        <p:xfrm>
          <a:off x="5802085" y="5727485"/>
          <a:ext cx="923473" cy="681610"/>
        </p:xfrm>
        <a:graphic>
          <a:graphicData uri="http://schemas.openxmlformats.org/presentationml/2006/ole">
            <mc:AlternateContent xmlns:mc="http://schemas.openxmlformats.org/markup-compatibility/2006">
              <mc:Choice xmlns:v="urn:schemas-microsoft-com:vml" Requires="v">
                <p:oleObj spid="_x0000_s12370" name="Equation" r:id="rId5" imgW="533169" imgH="393529" progId="Equation.DSMT4">
                  <p:embed/>
                </p:oleObj>
              </mc:Choice>
              <mc:Fallback>
                <p:oleObj name="Equation" r:id="rId5" imgW="533169" imgH="393529"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2085" y="5727485"/>
                        <a:ext cx="923473" cy="681610"/>
                      </a:xfrm>
                      <a:prstGeom prst="rect">
                        <a:avLst/>
                      </a:prstGeom>
                      <a:noFill/>
                    </p:spPr>
                  </p:pic>
                </p:oleObj>
              </mc:Fallback>
            </mc:AlternateContent>
          </a:graphicData>
        </a:graphic>
      </p:graphicFrame>
      <p:cxnSp>
        <p:nvCxnSpPr>
          <p:cNvPr id="10" name="直接连接符 9"/>
          <p:cNvCxnSpPr/>
          <p:nvPr/>
        </p:nvCxnSpPr>
        <p:spPr>
          <a:xfrm>
            <a:off x="4224060" y="2104683"/>
            <a:ext cx="669600" cy="2382"/>
          </a:xfrm>
          <a:prstGeom prst="line">
            <a:avLst/>
          </a:prstGeom>
          <a:ln w="19050">
            <a:solidFill>
              <a:srgbClr val="FF0000"/>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390571" y="1755765"/>
            <a:ext cx="486229" cy="338554"/>
          </a:xfrm>
          <a:prstGeom prst="rect">
            <a:avLst/>
          </a:prstGeom>
          <a:noFill/>
        </p:spPr>
        <p:txBody>
          <a:bodyPr wrap="square" rtlCol="0">
            <a:spAutoFit/>
          </a:bodyPr>
          <a:lstStyle/>
          <a:p>
            <a:r>
              <a:rPr lang="en-US" altLang="zh-CN" sz="1600" i="1" dirty="0" smtClean="0">
                <a:solidFill>
                  <a:srgbClr val="FF0000"/>
                </a:solidFill>
                <a:latin typeface="+mn-lt"/>
              </a:rPr>
              <a:t>T</a:t>
            </a:r>
            <a:r>
              <a:rPr lang="en-US" altLang="zh-CN" sz="1600" i="1" baseline="-25000" dirty="0" smtClean="0">
                <a:solidFill>
                  <a:srgbClr val="FF0000"/>
                </a:solidFill>
                <a:latin typeface="+mn-lt"/>
              </a:rPr>
              <a:t>s</a:t>
            </a:r>
            <a:endParaRPr lang="zh-CN" altLang="en-US" sz="1600" i="1" baseline="-25000" dirty="0">
              <a:solidFill>
                <a:srgbClr val="FF0000"/>
              </a:solidFill>
              <a:latin typeface="+mn-lt"/>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850254891"/>
              </p:ext>
            </p:extLst>
          </p:nvPr>
        </p:nvGraphicFramePr>
        <p:xfrm>
          <a:off x="2560250" y="4140927"/>
          <a:ext cx="6139602" cy="1313544"/>
        </p:xfrm>
        <a:graphic>
          <a:graphicData uri="http://schemas.openxmlformats.org/presentationml/2006/ole">
            <mc:AlternateContent xmlns:mc="http://schemas.openxmlformats.org/markup-compatibility/2006">
              <mc:Choice xmlns:v="urn:schemas-microsoft-com:vml" Requires="v">
                <p:oleObj spid="_x0000_s12371" name="Visio" r:id="rId7" imgW="4006906" imgH="856845" progId="Visio.Drawing.11">
                  <p:embed/>
                </p:oleObj>
              </mc:Choice>
              <mc:Fallback>
                <p:oleObj name="Visio" r:id="rId7" imgW="4006906" imgH="856845" progId="Visio.Drawing.11">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60250" y="4140927"/>
                        <a:ext cx="6139602" cy="1313544"/>
                      </a:xfrm>
                      <a:prstGeom prst="rect">
                        <a:avLst/>
                      </a:prstGeom>
                      <a:noFill/>
                    </p:spPr>
                  </p:pic>
                </p:oleObj>
              </mc:Fallback>
            </mc:AlternateContent>
          </a:graphicData>
        </a:graphic>
      </p:graphicFrame>
    </p:spTree>
    <p:extLst>
      <p:ext uri="{BB962C8B-B14F-4D97-AF65-F5344CB8AC3E}">
        <p14:creationId xmlns:p14="http://schemas.microsoft.com/office/powerpoint/2010/main" val="11940250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矩形 4"/>
          <p:cNvSpPr/>
          <p:nvPr/>
        </p:nvSpPr>
        <p:spPr>
          <a:xfrm>
            <a:off x="457200" y="492817"/>
            <a:ext cx="11364385" cy="4601260"/>
          </a:xfrm>
          <a:prstGeom prst="rect">
            <a:avLst/>
          </a:prstGeom>
        </p:spPr>
        <p:txBody>
          <a:bodyPr wrap="square">
            <a:spAutoFit/>
          </a:bodyPr>
          <a:lstStyle/>
          <a:p>
            <a:pPr indent="457200">
              <a:lnSpc>
                <a:spcPct val="150000"/>
              </a:lnSpc>
              <a:spcBef>
                <a:spcPts val="600"/>
              </a:spcBef>
              <a:spcAft>
                <a:spcPts val="600"/>
              </a:spcAft>
            </a:pPr>
            <a:r>
              <a:rPr lang="en-US" altLang="zh-CN" sz="1800" dirty="0"/>
              <a:t>2PSK</a:t>
            </a:r>
            <a:r>
              <a:rPr lang="zh-CN" altLang="en-US" sz="1800" dirty="0"/>
              <a:t>的特点是当基带信号中的</a:t>
            </a:r>
            <a:r>
              <a:rPr lang="en-US" altLang="zh-CN" sz="1800" dirty="0"/>
              <a:t>1</a:t>
            </a:r>
            <a:r>
              <a:rPr lang="zh-CN" altLang="en-US" sz="1800" dirty="0"/>
              <a:t>与</a:t>
            </a:r>
            <a:r>
              <a:rPr lang="en-US" altLang="zh-CN" sz="1800" dirty="0"/>
              <a:t>0</a:t>
            </a:r>
            <a:r>
              <a:rPr lang="zh-CN" altLang="en-US" sz="1800" dirty="0"/>
              <a:t>出现几率相同的话，其输出信号中没有载频分量，所以无法直接用锁相环恢复载频。解决的方法是将锁相环电路变形为平方环或</a:t>
            </a:r>
            <a:r>
              <a:rPr lang="en-US" altLang="zh-CN" sz="1800" dirty="0"/>
              <a:t>Costas</a:t>
            </a:r>
            <a:r>
              <a:rPr lang="zh-CN" altLang="en-US" sz="1800" dirty="0"/>
              <a:t>环进行解调</a:t>
            </a:r>
            <a:r>
              <a:rPr lang="zh-CN" altLang="en-US" sz="1800" dirty="0" smtClean="0"/>
              <a:t>。</a:t>
            </a:r>
            <a:endParaRPr lang="en-US" altLang="zh-CN" sz="1800" dirty="0" smtClean="0"/>
          </a:p>
          <a:p>
            <a:pPr indent="457200">
              <a:lnSpc>
                <a:spcPct val="150000"/>
              </a:lnSpc>
              <a:spcBef>
                <a:spcPts val="600"/>
              </a:spcBef>
              <a:spcAft>
                <a:spcPts val="600"/>
              </a:spcAft>
            </a:pPr>
            <a:r>
              <a:rPr lang="zh-CN" altLang="en-US" sz="1800" dirty="0"/>
              <a:t>平方</a:t>
            </a:r>
            <a:r>
              <a:rPr lang="zh-CN" altLang="en-US" sz="1800" dirty="0" smtClean="0"/>
              <a:t>环：</a:t>
            </a:r>
            <a:endParaRPr lang="en-US" altLang="zh-CN" sz="1800" dirty="0" smtClean="0"/>
          </a:p>
          <a:p>
            <a:pPr indent="457200">
              <a:lnSpc>
                <a:spcPct val="150000"/>
              </a:lnSpc>
              <a:spcBef>
                <a:spcPts val="600"/>
              </a:spcBef>
              <a:spcAft>
                <a:spcPts val="600"/>
              </a:spcAft>
            </a:pPr>
            <a:endParaRPr lang="en-US" altLang="zh-CN" sz="1800" dirty="0"/>
          </a:p>
          <a:p>
            <a:pPr indent="457200">
              <a:lnSpc>
                <a:spcPct val="150000"/>
              </a:lnSpc>
              <a:spcBef>
                <a:spcPts val="600"/>
              </a:spcBef>
              <a:spcAft>
                <a:spcPts val="600"/>
              </a:spcAft>
            </a:pPr>
            <a:endParaRPr lang="en-US" altLang="zh-CN" sz="1800" dirty="0" smtClean="0"/>
          </a:p>
          <a:p>
            <a:pPr indent="457200">
              <a:lnSpc>
                <a:spcPct val="150000"/>
              </a:lnSpc>
              <a:spcBef>
                <a:spcPts val="600"/>
              </a:spcBef>
              <a:spcAft>
                <a:spcPts val="600"/>
              </a:spcAft>
            </a:pPr>
            <a:endParaRPr lang="en-US" altLang="zh-CN" sz="1800" dirty="0"/>
          </a:p>
          <a:p>
            <a:pPr lvl="0" indent="457200" eaLnBrk="0" hangingPunct="0">
              <a:lnSpc>
                <a:spcPct val="150000"/>
              </a:lnSpc>
            </a:pPr>
            <a:r>
              <a:rPr lang="zh-CN" altLang="en-US" sz="1800" dirty="0" smtClean="0">
                <a:latin typeface="+mn-ea"/>
                <a:ea typeface="+mn-ea"/>
                <a:cs typeface="Times New Roman" panose="02020603050405020304" pitchFamily="18" charset="0"/>
              </a:rPr>
              <a:t>用乘法器自乘，</a:t>
            </a:r>
            <a:r>
              <a:rPr lang="zh-CN" altLang="zh-CN" sz="1800" dirty="0" smtClean="0">
                <a:latin typeface="+mn-ea"/>
                <a:ea typeface="+mn-ea"/>
                <a:cs typeface="Times New Roman" panose="02020603050405020304" pitchFamily="18" charset="0"/>
              </a:rPr>
              <a:t>平方</a:t>
            </a:r>
            <a:r>
              <a:rPr lang="zh-CN" altLang="zh-CN" sz="1800" dirty="0">
                <a:latin typeface="+mn-ea"/>
                <a:ea typeface="+mn-ea"/>
                <a:cs typeface="Times New Roman" panose="02020603050405020304" pitchFamily="18" charset="0"/>
              </a:rPr>
              <a:t>后的信号中包含载频信号的</a:t>
            </a:r>
            <a:r>
              <a:rPr lang="en-US" altLang="zh-CN" sz="1800" dirty="0">
                <a:latin typeface="+mn-ea"/>
                <a:ea typeface="+mn-ea"/>
                <a:cs typeface="Times New Roman" panose="02020603050405020304" pitchFamily="18" charset="0"/>
              </a:rPr>
              <a:t>2</a:t>
            </a:r>
            <a:r>
              <a:rPr lang="zh-CN" altLang="en-US" sz="1800" dirty="0">
                <a:latin typeface="+mn-ea"/>
                <a:ea typeface="+mn-ea"/>
                <a:cs typeface="Times New Roman" panose="02020603050405020304" pitchFamily="18" charset="0"/>
              </a:rPr>
              <a:t>倍频信号</a:t>
            </a:r>
            <a:r>
              <a:rPr lang="zh-CN" altLang="en-US" sz="1800" dirty="0" smtClean="0">
                <a:latin typeface="+mn-ea"/>
                <a:ea typeface="+mn-ea"/>
                <a:cs typeface="Times New Roman" panose="02020603050405020304" pitchFamily="18" charset="0"/>
              </a:rPr>
              <a:t>。用</a:t>
            </a:r>
            <a:r>
              <a:rPr lang="zh-CN" altLang="en-US" sz="1800" dirty="0">
                <a:latin typeface="+mn-ea"/>
                <a:ea typeface="+mn-ea"/>
                <a:cs typeface="Times New Roman" panose="02020603050405020304" pitchFamily="18" charset="0"/>
              </a:rPr>
              <a:t>锁相环锁定此</a:t>
            </a:r>
            <a:r>
              <a:rPr lang="en-US" altLang="zh-CN" sz="1800" dirty="0">
                <a:latin typeface="+mn-ea"/>
                <a:ea typeface="+mn-ea"/>
                <a:cs typeface="Times New Roman" panose="02020603050405020304" pitchFamily="18" charset="0"/>
              </a:rPr>
              <a:t>2</a:t>
            </a:r>
            <a:r>
              <a:rPr lang="zh-CN" altLang="en-US" sz="1800" dirty="0">
                <a:latin typeface="+mn-ea"/>
                <a:ea typeface="+mn-ea"/>
                <a:cs typeface="Times New Roman" panose="02020603050405020304" pitchFamily="18" charset="0"/>
              </a:rPr>
              <a:t>倍频信号</a:t>
            </a:r>
            <a:r>
              <a:rPr lang="zh-CN" altLang="en-US" sz="1800" dirty="0" smtClean="0">
                <a:latin typeface="+mn-ea"/>
                <a:ea typeface="+mn-ea"/>
                <a:cs typeface="Times New Roman" panose="02020603050405020304" pitchFamily="18" charset="0"/>
              </a:rPr>
              <a:t>，再分频得到</a:t>
            </a:r>
            <a:r>
              <a:rPr lang="zh-CN" altLang="en-US" sz="1800" dirty="0">
                <a:latin typeface="+mn-ea"/>
                <a:ea typeface="+mn-ea"/>
                <a:cs typeface="Times New Roman" panose="02020603050405020304" pitchFamily="18" charset="0"/>
              </a:rPr>
              <a:t>载频同步信号</a:t>
            </a:r>
            <a:r>
              <a:rPr lang="zh-CN" altLang="en-US" sz="1800" dirty="0">
                <a:latin typeface="+mn-ea"/>
                <a:ea typeface="+mn-ea"/>
              </a:rPr>
              <a:t> </a:t>
            </a:r>
            <a:r>
              <a:rPr lang="zh-CN" altLang="en-US" sz="1800" dirty="0" smtClean="0">
                <a:latin typeface="+mn-ea"/>
                <a:ea typeface="+mn-ea"/>
              </a:rPr>
              <a:t>。再用乘法器做同步解调。</a:t>
            </a:r>
            <a:endParaRPr lang="zh-CN" altLang="en-US" sz="1800" dirty="0">
              <a:latin typeface="+mn-ea"/>
              <a:ea typeface="+mn-ea"/>
            </a:endParaRPr>
          </a:p>
          <a:p>
            <a:pPr indent="457200">
              <a:lnSpc>
                <a:spcPct val="150000"/>
              </a:lnSpc>
              <a:spcBef>
                <a:spcPts val="600"/>
              </a:spcBef>
              <a:spcAft>
                <a:spcPts val="600"/>
              </a:spcAft>
            </a:pPr>
            <a:endParaRPr lang="en-US" altLang="zh-CN" sz="1800" dirty="0" smtClean="0"/>
          </a:p>
        </p:txBody>
      </p:sp>
      <p:graphicFrame>
        <p:nvGraphicFramePr>
          <p:cNvPr id="7" name="对象 6"/>
          <p:cNvGraphicFramePr>
            <a:graphicFrameLocks noChangeAspect="1"/>
          </p:cNvGraphicFramePr>
          <p:nvPr>
            <p:extLst>
              <p:ext uri="{D42A27DB-BD31-4B8C-83A1-F6EECF244321}">
                <p14:modId xmlns:p14="http://schemas.microsoft.com/office/powerpoint/2010/main" val="2776523069"/>
              </p:ext>
            </p:extLst>
          </p:nvPr>
        </p:nvGraphicFramePr>
        <p:xfrm>
          <a:off x="1698170" y="2220687"/>
          <a:ext cx="8256095" cy="1291770"/>
        </p:xfrm>
        <a:graphic>
          <a:graphicData uri="http://schemas.openxmlformats.org/presentationml/2006/ole">
            <mc:AlternateContent xmlns:mc="http://schemas.openxmlformats.org/markup-compatibility/2006">
              <mc:Choice xmlns:v="urn:schemas-microsoft-com:vml" Requires="v">
                <p:oleObj spid="_x0000_s17454" name="Visio" r:id="rId3" imgW="4663710" imgH="730926" progId="Visio.Drawing.11">
                  <p:embed/>
                </p:oleObj>
              </mc:Choice>
              <mc:Fallback>
                <p:oleObj name="Visio" r:id="rId3" imgW="4663710" imgH="73092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8170" y="2220687"/>
                        <a:ext cx="8256095" cy="1291770"/>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222985766"/>
              </p:ext>
            </p:extLst>
          </p:nvPr>
        </p:nvGraphicFramePr>
        <p:xfrm>
          <a:off x="2148418" y="1413049"/>
          <a:ext cx="5239354" cy="646264"/>
        </p:xfrm>
        <a:graphic>
          <a:graphicData uri="http://schemas.openxmlformats.org/presentationml/2006/ole">
            <mc:AlternateContent xmlns:mc="http://schemas.openxmlformats.org/markup-compatibility/2006">
              <mc:Choice xmlns:v="urn:schemas-microsoft-com:vml" Requires="v">
                <p:oleObj spid="_x0000_s17455" name="Equation" r:id="rId5" imgW="2882900" imgH="355600" progId="Equation.DSMT4">
                  <p:embed/>
                </p:oleObj>
              </mc:Choice>
              <mc:Fallback>
                <p:oleObj name="Equation" r:id="rId5" imgW="2882900" imgH="355600" progId="Equation.DSMT4">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8418" y="1413049"/>
                        <a:ext cx="5239354" cy="646264"/>
                      </a:xfrm>
                      <a:prstGeom prst="rect">
                        <a:avLst/>
                      </a:prstGeom>
                      <a:noFill/>
                    </p:spPr>
                  </p:pic>
                </p:oleObj>
              </mc:Fallback>
            </mc:AlternateContent>
          </a:graphicData>
        </a:graphic>
      </p:graphicFrame>
    </p:spTree>
    <p:extLst>
      <p:ext uri="{BB962C8B-B14F-4D97-AF65-F5344CB8AC3E}">
        <p14:creationId xmlns:p14="http://schemas.microsoft.com/office/powerpoint/2010/main" val="3835941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298261974"/>
              </p:ext>
            </p:extLst>
          </p:nvPr>
        </p:nvGraphicFramePr>
        <p:xfrm>
          <a:off x="2553710" y="2033170"/>
          <a:ext cx="7509138" cy="2506760"/>
        </p:xfrm>
        <a:graphic>
          <a:graphicData uri="http://schemas.openxmlformats.org/presentationml/2006/ole">
            <mc:AlternateContent xmlns:mc="http://schemas.openxmlformats.org/markup-compatibility/2006">
              <mc:Choice xmlns:v="urn:schemas-microsoft-com:vml" Requires="v">
                <p:oleObj spid="_x0000_s21546" name="Visio" r:id="rId3" imgW="4276910" imgH="1427804" progId="Visio.Drawing.11">
                  <p:embed/>
                </p:oleObj>
              </mc:Choice>
              <mc:Fallback>
                <p:oleObj name="Visio" r:id="rId3" imgW="4276910" imgH="1427804" progId="Visio.Drawing.11">
                  <p:embed/>
                  <p:pic>
                    <p:nvPicPr>
                      <p:cNvPr id="9"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3710" y="2033170"/>
                        <a:ext cx="7509138" cy="2506760"/>
                      </a:xfrm>
                      <a:prstGeom prst="rect">
                        <a:avLst/>
                      </a:prstGeom>
                      <a:noFill/>
                    </p:spPr>
                  </p:pic>
                </p:oleObj>
              </mc:Fallback>
            </mc:AlternateContent>
          </a:graphicData>
        </a:graphic>
      </p:graphicFrame>
      <p:sp>
        <p:nvSpPr>
          <p:cNvPr id="6" name="文本框 5"/>
          <p:cNvSpPr txBox="1"/>
          <p:nvPr/>
        </p:nvSpPr>
        <p:spPr>
          <a:xfrm>
            <a:off x="624417" y="593906"/>
            <a:ext cx="1961545" cy="677108"/>
          </a:xfrm>
          <a:prstGeom prst="rect">
            <a:avLst/>
          </a:prstGeom>
          <a:noFill/>
        </p:spPr>
        <p:txBody>
          <a:bodyPr wrap="square" rtlCol="0">
            <a:spAutoFit/>
          </a:bodyPr>
          <a:lstStyle/>
          <a:p>
            <a:r>
              <a:rPr lang="en-US" altLang="zh-CN" sz="1800" dirty="0"/>
              <a:t>Costas</a:t>
            </a:r>
            <a:r>
              <a:rPr lang="zh-CN" altLang="en-US" sz="1800" dirty="0"/>
              <a:t>环：</a:t>
            </a:r>
            <a:endParaRPr lang="en-US" altLang="zh-CN" sz="1800" dirty="0"/>
          </a:p>
          <a:p>
            <a:endParaRPr lang="zh-CN" altLang="en-US" dirty="0"/>
          </a:p>
        </p:txBody>
      </p:sp>
      <p:graphicFrame>
        <p:nvGraphicFramePr>
          <p:cNvPr id="8" name="对象 7"/>
          <p:cNvGraphicFramePr>
            <a:graphicFrameLocks noChangeAspect="1"/>
          </p:cNvGraphicFramePr>
          <p:nvPr>
            <p:extLst>
              <p:ext uri="{D42A27DB-BD31-4B8C-83A1-F6EECF244321}">
                <p14:modId xmlns:p14="http://schemas.microsoft.com/office/powerpoint/2010/main" val="3853093851"/>
              </p:ext>
            </p:extLst>
          </p:nvPr>
        </p:nvGraphicFramePr>
        <p:xfrm>
          <a:off x="5748813" y="4597494"/>
          <a:ext cx="2732064" cy="603476"/>
        </p:xfrm>
        <a:graphic>
          <a:graphicData uri="http://schemas.openxmlformats.org/presentationml/2006/ole">
            <mc:AlternateContent xmlns:mc="http://schemas.openxmlformats.org/markup-compatibility/2006">
              <mc:Choice xmlns:v="urn:schemas-microsoft-com:vml" Requires="v">
                <p:oleObj spid="_x0000_s21547" name="Equation" r:id="rId5" imgW="1612800" imgH="355320" progId="Equation.DSMT4">
                  <p:embed/>
                </p:oleObj>
              </mc:Choice>
              <mc:Fallback>
                <p:oleObj name="Equation" r:id="rId5" imgW="1612800" imgH="355320" progId="Equation.DSMT4">
                  <p:embed/>
                  <p:pic>
                    <p:nvPicPr>
                      <p:cNvPr id="0" name="Object 1"/>
                      <p:cNvPicPr>
                        <a:picLocks noChangeAspect="1" noChangeArrowheads="1"/>
                      </p:cNvPicPr>
                      <p:nvPr/>
                    </p:nvPicPr>
                    <p:blipFill>
                      <a:blip r:embed="rId6"/>
                      <a:srcRect/>
                      <a:stretch>
                        <a:fillRect/>
                      </a:stretch>
                    </p:blipFill>
                    <p:spPr bwMode="auto">
                      <a:xfrm>
                        <a:off x="5748813" y="4597494"/>
                        <a:ext cx="2732064" cy="603476"/>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483829411"/>
              </p:ext>
            </p:extLst>
          </p:nvPr>
        </p:nvGraphicFramePr>
        <p:xfrm>
          <a:off x="8485056" y="4100728"/>
          <a:ext cx="2637066" cy="620486"/>
        </p:xfrm>
        <a:graphic>
          <a:graphicData uri="http://schemas.openxmlformats.org/presentationml/2006/ole">
            <mc:AlternateContent xmlns:mc="http://schemas.openxmlformats.org/markup-compatibility/2006">
              <mc:Choice xmlns:v="urn:schemas-microsoft-com:vml" Requires="v">
                <p:oleObj spid="_x0000_s21548" name="Equation" r:id="rId7" imgW="1511300" imgH="355600" progId="Equation.DSMT4">
                  <p:embed/>
                </p:oleObj>
              </mc:Choice>
              <mc:Fallback>
                <p:oleObj name="Equation" r:id="rId7" imgW="1511300" imgH="3556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85056" y="4100728"/>
                        <a:ext cx="2637066" cy="620486"/>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731606699"/>
              </p:ext>
            </p:extLst>
          </p:nvPr>
        </p:nvGraphicFramePr>
        <p:xfrm>
          <a:off x="763078" y="2614354"/>
          <a:ext cx="2546481" cy="354293"/>
        </p:xfrm>
        <a:graphic>
          <a:graphicData uri="http://schemas.openxmlformats.org/presentationml/2006/ole">
            <mc:AlternateContent xmlns:mc="http://schemas.openxmlformats.org/markup-compatibility/2006">
              <mc:Choice xmlns:v="urn:schemas-microsoft-com:vml" Requires="v">
                <p:oleObj spid="_x0000_s21549" name="Equation" r:id="rId9" imgW="1459866" imgH="203112" progId="Equation.DSMT4">
                  <p:embed/>
                </p:oleObj>
              </mc:Choice>
              <mc:Fallback>
                <p:oleObj name="Equation" r:id="rId9" imgW="1459866" imgH="203112"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3078" y="2614354"/>
                        <a:ext cx="2546481" cy="354293"/>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711833297"/>
              </p:ext>
            </p:extLst>
          </p:nvPr>
        </p:nvGraphicFramePr>
        <p:xfrm>
          <a:off x="2360688" y="1305106"/>
          <a:ext cx="2277572" cy="375682"/>
        </p:xfrm>
        <a:graphic>
          <a:graphicData uri="http://schemas.openxmlformats.org/presentationml/2006/ole">
            <mc:AlternateContent xmlns:mc="http://schemas.openxmlformats.org/markup-compatibility/2006">
              <mc:Choice xmlns:v="urn:schemas-microsoft-com:vml" Requires="v">
                <p:oleObj spid="_x0000_s21550" name="Equation" r:id="rId11" imgW="1231366" imgH="203112" progId="Equation.DSMT4">
                  <p:embed/>
                </p:oleObj>
              </mc:Choice>
              <mc:Fallback>
                <p:oleObj name="Equation" r:id="rId11" imgW="1231366" imgH="203112"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60688" y="1305106"/>
                        <a:ext cx="2277572" cy="375682"/>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685946703"/>
              </p:ext>
            </p:extLst>
          </p:nvPr>
        </p:nvGraphicFramePr>
        <p:xfrm>
          <a:off x="2193018" y="4687705"/>
          <a:ext cx="2233083" cy="360902"/>
        </p:xfrm>
        <a:graphic>
          <a:graphicData uri="http://schemas.openxmlformats.org/presentationml/2006/ole">
            <mc:AlternateContent xmlns:mc="http://schemas.openxmlformats.org/markup-compatibility/2006">
              <mc:Choice xmlns:v="urn:schemas-microsoft-com:vml" Requires="v">
                <p:oleObj spid="_x0000_s21551" name="Equation" r:id="rId13" imgW="1256755" imgH="203112" progId="Equation.DSMT4">
                  <p:embed/>
                </p:oleObj>
              </mc:Choice>
              <mc:Fallback>
                <p:oleObj name="Equation" r:id="rId13" imgW="1256755" imgH="203112" progId="Equation.DSMT4">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3018" y="4687705"/>
                        <a:ext cx="2233083" cy="360902"/>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916313237"/>
              </p:ext>
            </p:extLst>
          </p:nvPr>
        </p:nvGraphicFramePr>
        <p:xfrm>
          <a:off x="6501039" y="1148822"/>
          <a:ext cx="2803435" cy="606651"/>
        </p:xfrm>
        <a:graphic>
          <a:graphicData uri="http://schemas.openxmlformats.org/presentationml/2006/ole">
            <mc:AlternateContent xmlns:mc="http://schemas.openxmlformats.org/markup-compatibility/2006">
              <mc:Choice xmlns:v="urn:schemas-microsoft-com:vml" Requires="v">
                <p:oleObj spid="_x0000_s21552" name="Equation" r:id="rId15" imgW="1638000" imgH="355320" progId="Equation.DSMT4">
                  <p:embed/>
                </p:oleObj>
              </mc:Choice>
              <mc:Fallback>
                <p:oleObj name="Equation" r:id="rId15" imgW="1638000" imgH="355320" progId="Equation.DSMT4">
                  <p:embed/>
                  <p:pic>
                    <p:nvPicPr>
                      <p:cNvPr id="8" name="对象 7"/>
                      <p:cNvPicPr>
                        <a:picLocks noChangeAspect="1" noChangeArrowheads="1"/>
                      </p:cNvPicPr>
                      <p:nvPr/>
                    </p:nvPicPr>
                    <p:blipFill>
                      <a:blip r:embed="rId16"/>
                      <a:srcRect/>
                      <a:stretch>
                        <a:fillRect/>
                      </a:stretch>
                    </p:blipFill>
                    <p:spPr bwMode="auto">
                      <a:xfrm>
                        <a:off x="6501039" y="1148822"/>
                        <a:ext cx="2803435" cy="606651"/>
                      </a:xfrm>
                      <a:prstGeom prst="rect">
                        <a:avLst/>
                      </a:prstGeom>
                      <a:noFill/>
                    </p:spPr>
                  </p:pic>
                </p:oleObj>
              </mc:Fallback>
            </mc:AlternateContent>
          </a:graphicData>
        </a:graphic>
      </p:graphicFrame>
      <p:cxnSp>
        <p:nvCxnSpPr>
          <p:cNvPr id="19" name="直接箭头连接符 18"/>
          <p:cNvCxnSpPr/>
          <p:nvPr/>
        </p:nvCxnSpPr>
        <p:spPr>
          <a:xfrm>
            <a:off x="3349974" y="1811627"/>
            <a:ext cx="914400" cy="914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2917406" y="2991646"/>
            <a:ext cx="521569" cy="2916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flipV="1">
            <a:off x="7649029" y="3402872"/>
            <a:ext cx="1262743" cy="6978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7411400" y="1680788"/>
            <a:ext cx="172314" cy="6928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7213600" y="4244978"/>
            <a:ext cx="268514" cy="4427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3193143" y="3816326"/>
            <a:ext cx="1146629" cy="8573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10147612" y="4100727"/>
            <a:ext cx="905017" cy="6955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9557657" y="4971393"/>
            <a:ext cx="2263928" cy="369332"/>
          </a:xfrm>
          <a:prstGeom prst="rect">
            <a:avLst/>
          </a:prstGeom>
          <a:noFill/>
        </p:spPr>
        <p:txBody>
          <a:bodyPr wrap="square" rtlCol="0">
            <a:spAutoFit/>
          </a:bodyPr>
          <a:lstStyle/>
          <a:p>
            <a:r>
              <a:rPr lang="zh-CN" altLang="en-US" sz="1800" dirty="0" smtClean="0"/>
              <a:t>锁相环锁定后</a:t>
            </a:r>
            <a:r>
              <a:rPr lang="el-GR" altLang="zh-CN" sz="1800" dirty="0" smtClean="0"/>
              <a:t>Δ</a:t>
            </a:r>
            <a:r>
              <a:rPr lang="el-GR" altLang="zh-CN" sz="1800" dirty="0" smtClean="0">
                <a:latin typeface="Times New Roman" panose="02020603050405020304" pitchFamily="18" charset="0"/>
                <a:cs typeface="Times New Roman" panose="02020603050405020304" pitchFamily="18" charset="0"/>
              </a:rPr>
              <a:t>φ</a:t>
            </a:r>
            <a:r>
              <a:rPr lang="en-US" altLang="zh-CN" sz="1800" dirty="0" smtClean="0">
                <a:latin typeface="Times New Roman" panose="02020603050405020304" pitchFamily="18" charset="0"/>
                <a:cs typeface="Times New Roman" panose="02020603050405020304" pitchFamily="18" charset="0"/>
              </a:rPr>
              <a:t>=0</a:t>
            </a:r>
            <a:endParaRPr lang="zh-CN" altLang="en-US" sz="1800" dirty="0"/>
          </a:p>
        </p:txBody>
      </p:sp>
      <p:sp>
        <p:nvSpPr>
          <p:cNvPr id="39" name="文本框 38"/>
          <p:cNvSpPr txBox="1"/>
          <p:nvPr/>
        </p:nvSpPr>
        <p:spPr>
          <a:xfrm>
            <a:off x="896860" y="5659903"/>
            <a:ext cx="8660797" cy="369332"/>
          </a:xfrm>
          <a:prstGeom prst="rect">
            <a:avLst/>
          </a:prstGeom>
          <a:noFill/>
        </p:spPr>
        <p:txBody>
          <a:bodyPr wrap="square" rtlCol="0">
            <a:spAutoFit/>
          </a:bodyPr>
          <a:lstStyle/>
          <a:p>
            <a:r>
              <a:rPr lang="en-US" altLang="zh-CN" sz="1800" dirty="0" smtClean="0"/>
              <a:t>VCO</a:t>
            </a:r>
            <a:r>
              <a:rPr lang="zh-CN" altLang="en-US" sz="1800" dirty="0" smtClean="0"/>
              <a:t>的振荡频率为</a:t>
            </a:r>
            <a:r>
              <a:rPr lang="el-GR" altLang="zh-CN" sz="1800" i="1" dirty="0" smtClean="0"/>
              <a:t>ω</a:t>
            </a:r>
            <a:r>
              <a:rPr lang="en-US" altLang="zh-CN" sz="1800" i="1" baseline="-25000" dirty="0" smtClean="0"/>
              <a:t>c</a:t>
            </a:r>
            <a:r>
              <a:rPr lang="zh-CN" altLang="en-US" sz="1800" dirty="0" smtClean="0"/>
              <a:t>的</a:t>
            </a:r>
            <a:r>
              <a:rPr lang="en-US" altLang="zh-CN" sz="1800" dirty="0" smtClean="0"/>
              <a:t>4</a:t>
            </a:r>
            <a:r>
              <a:rPr lang="zh-CN" altLang="en-US" sz="1800" dirty="0" smtClean="0"/>
              <a:t>倍频，然后通过</a:t>
            </a:r>
            <a:r>
              <a:rPr lang="en-US" altLang="zh-CN" sz="1800" dirty="0" smtClean="0"/>
              <a:t>4</a:t>
            </a:r>
            <a:r>
              <a:rPr lang="zh-CN" altLang="en-US" sz="1800" dirty="0" smtClean="0"/>
              <a:t>分频得到正交的两路信号。</a:t>
            </a:r>
            <a:endParaRPr lang="zh-CN" altLang="en-US" sz="1800" dirty="0"/>
          </a:p>
        </p:txBody>
      </p:sp>
      <p:cxnSp>
        <p:nvCxnSpPr>
          <p:cNvPr id="40" name="直接箭头连接符 39"/>
          <p:cNvCxnSpPr/>
          <p:nvPr/>
        </p:nvCxnSpPr>
        <p:spPr>
          <a:xfrm flipH="1" flipV="1">
            <a:off x="5065035" y="3525516"/>
            <a:ext cx="437847" cy="20248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6342743" y="1073743"/>
            <a:ext cx="2989183" cy="6955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6705369" y="653431"/>
            <a:ext cx="4601259" cy="369332"/>
          </a:xfrm>
          <a:prstGeom prst="rect">
            <a:avLst/>
          </a:prstGeom>
          <a:noFill/>
        </p:spPr>
        <p:txBody>
          <a:bodyPr wrap="square" rtlCol="0">
            <a:spAutoFit/>
          </a:bodyPr>
          <a:lstStyle/>
          <a:p>
            <a:r>
              <a:rPr lang="el-GR" altLang="zh-CN" sz="1800" dirty="0" smtClean="0"/>
              <a:t>Δ</a:t>
            </a:r>
            <a:r>
              <a:rPr lang="el-GR" altLang="zh-CN" sz="1800" dirty="0" smtClean="0">
                <a:latin typeface="Times New Roman" panose="02020603050405020304" pitchFamily="18" charset="0"/>
                <a:cs typeface="Times New Roman" panose="02020603050405020304" pitchFamily="18" charset="0"/>
              </a:rPr>
              <a:t>φ</a:t>
            </a:r>
            <a:r>
              <a:rPr lang="en-US" altLang="zh-CN" sz="1800" dirty="0" smtClean="0">
                <a:latin typeface="Times New Roman" panose="02020603050405020304" pitchFamily="18" charset="0"/>
                <a:cs typeface="Times New Roman" panose="02020603050405020304" pitchFamily="18" charset="0"/>
              </a:rPr>
              <a:t>=0</a:t>
            </a:r>
            <a:r>
              <a:rPr lang="zh-CN" altLang="en-US"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v4</a:t>
            </a:r>
            <a:r>
              <a:rPr lang="zh-CN" altLang="en-US" sz="1800" dirty="0" smtClean="0">
                <a:latin typeface="Times New Roman" panose="02020603050405020304" pitchFamily="18" charset="0"/>
                <a:cs typeface="Times New Roman" panose="02020603050405020304" pitchFamily="18" charset="0"/>
              </a:rPr>
              <a:t>就是调制信号</a:t>
            </a:r>
            <a:r>
              <a:rPr lang="en-US" altLang="zh-CN" sz="1800" i="1" dirty="0" smtClean="0">
                <a:latin typeface="Times New Roman" panose="02020603050405020304" pitchFamily="18" charset="0"/>
                <a:cs typeface="Times New Roman" panose="02020603050405020304" pitchFamily="18" charset="0"/>
              </a:rPr>
              <a:t>a</a:t>
            </a:r>
            <a:r>
              <a:rPr lang="en-US" altLang="zh-CN" sz="1800" dirty="0" smtClean="0">
                <a:latin typeface="Times New Roman" panose="02020603050405020304" pitchFamily="18" charset="0"/>
                <a:cs typeface="Times New Roman" panose="02020603050405020304" pitchFamily="18" charset="0"/>
              </a:rPr>
              <a:t>(</a:t>
            </a:r>
            <a:r>
              <a:rPr lang="en-US" altLang="zh-CN" sz="1800" i="1" dirty="0" smtClean="0">
                <a:latin typeface="Times New Roman" panose="02020603050405020304" pitchFamily="18" charset="0"/>
                <a:cs typeface="Times New Roman" panose="02020603050405020304" pitchFamily="18" charset="0"/>
              </a:rPr>
              <a:t>t</a:t>
            </a:r>
            <a:r>
              <a:rPr lang="en-US" altLang="zh-CN" sz="1800" dirty="0" smtClean="0">
                <a:latin typeface="Times New Roman" panose="02020603050405020304" pitchFamily="18" charset="0"/>
                <a:cs typeface="Times New Roman" panose="02020603050405020304" pitchFamily="18" charset="0"/>
              </a:rPr>
              <a:t>)</a:t>
            </a:r>
            <a:endParaRPr lang="zh-CN" altLang="en-US" sz="1800" dirty="0"/>
          </a:p>
        </p:txBody>
      </p:sp>
      <p:sp>
        <p:nvSpPr>
          <p:cNvPr id="47" name="椭圆 46"/>
          <p:cNvSpPr/>
          <p:nvPr/>
        </p:nvSpPr>
        <p:spPr>
          <a:xfrm>
            <a:off x="1494436" y="2441940"/>
            <a:ext cx="399679" cy="6955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24417" y="1961206"/>
            <a:ext cx="2390653" cy="369332"/>
          </a:xfrm>
          <a:prstGeom prst="rect">
            <a:avLst/>
          </a:prstGeom>
          <a:noFill/>
        </p:spPr>
        <p:txBody>
          <a:bodyPr wrap="square" rtlCol="0">
            <a:spAutoFit/>
          </a:bodyPr>
          <a:lstStyle/>
          <a:p>
            <a:r>
              <a:rPr lang="zh-CN" altLang="en-US" sz="1800" dirty="0" smtClean="0">
                <a:latin typeface="Times New Roman" panose="02020603050405020304" pitchFamily="18" charset="0"/>
                <a:cs typeface="Times New Roman" panose="02020603050405020304" pitchFamily="18" charset="0"/>
              </a:rPr>
              <a:t>调制信号</a:t>
            </a:r>
            <a:r>
              <a:rPr lang="en-US" altLang="zh-CN" sz="1800" i="1" dirty="0" smtClean="0">
                <a:latin typeface="Times New Roman" panose="02020603050405020304" pitchFamily="18" charset="0"/>
                <a:cs typeface="Times New Roman" panose="02020603050405020304" pitchFamily="18" charset="0"/>
              </a:rPr>
              <a:t>a</a:t>
            </a:r>
            <a:r>
              <a:rPr lang="en-US" altLang="zh-CN" sz="1800" dirty="0" smtClean="0">
                <a:latin typeface="Times New Roman" panose="02020603050405020304" pitchFamily="18" charset="0"/>
                <a:cs typeface="Times New Roman" panose="02020603050405020304" pitchFamily="18" charset="0"/>
              </a:rPr>
              <a:t>(</a:t>
            </a:r>
            <a:r>
              <a:rPr lang="en-US" altLang="zh-CN" sz="1800" i="1" dirty="0" smtClean="0">
                <a:latin typeface="Times New Roman" panose="02020603050405020304" pitchFamily="18" charset="0"/>
                <a:cs typeface="Times New Roman" panose="02020603050405020304" pitchFamily="18" charset="0"/>
              </a:rPr>
              <a:t>t</a:t>
            </a:r>
            <a:r>
              <a:rPr lang="en-US" altLang="zh-CN" sz="1800" dirty="0" smtClean="0">
                <a:latin typeface="Times New Roman" panose="02020603050405020304" pitchFamily="18" charset="0"/>
                <a:cs typeface="Times New Roman" panose="02020603050405020304" pitchFamily="18" charset="0"/>
              </a:rPr>
              <a:t>)=±1</a:t>
            </a:r>
            <a:endParaRPr lang="zh-CN" altLang="en-US" sz="1800" dirty="0"/>
          </a:p>
        </p:txBody>
      </p:sp>
    </p:spTree>
    <p:extLst>
      <p:ext uri="{BB962C8B-B14F-4D97-AF65-F5344CB8AC3E}">
        <p14:creationId xmlns:p14="http://schemas.microsoft.com/office/powerpoint/2010/main" val="3864697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文本框 4"/>
          <p:cNvSpPr txBox="1"/>
          <p:nvPr/>
        </p:nvSpPr>
        <p:spPr>
          <a:xfrm>
            <a:off x="409728" y="486229"/>
            <a:ext cx="11400671" cy="1754326"/>
          </a:xfrm>
          <a:prstGeom prst="rect">
            <a:avLst/>
          </a:prstGeom>
          <a:noFill/>
        </p:spPr>
        <p:txBody>
          <a:bodyPr wrap="square" rtlCol="0">
            <a:spAutoFit/>
          </a:bodyPr>
          <a:lstStyle/>
          <a:p>
            <a:pPr indent="457200">
              <a:lnSpc>
                <a:spcPct val="150000"/>
              </a:lnSpc>
            </a:pPr>
            <a:r>
              <a:rPr lang="en-US" altLang="zh-CN" sz="1800" dirty="0" smtClean="0"/>
              <a:t>PSK</a:t>
            </a:r>
            <a:r>
              <a:rPr lang="zh-CN" altLang="en-US" sz="1800" dirty="0" smtClean="0"/>
              <a:t>也可以有非相干解调。此时采</a:t>
            </a:r>
            <a:r>
              <a:rPr lang="zh-CN" altLang="zh-CN" sz="1800" dirty="0" smtClean="0"/>
              <a:t>用</a:t>
            </a:r>
            <a:r>
              <a:rPr lang="zh-CN" altLang="zh-CN" sz="1800" dirty="0"/>
              <a:t>另一种形式的相移键控调制形式，称为差分相移键控</a:t>
            </a:r>
            <a:r>
              <a:rPr lang="zh-CN" altLang="zh-CN" sz="1800" dirty="0" smtClean="0"/>
              <a:t>（</a:t>
            </a:r>
            <a:r>
              <a:rPr lang="en-US" altLang="zh-CN" sz="1800" dirty="0" smtClean="0"/>
              <a:t>DPSK</a:t>
            </a:r>
            <a:r>
              <a:rPr lang="zh-CN" altLang="zh-CN" sz="1800" dirty="0" smtClean="0"/>
              <a:t>）</a:t>
            </a:r>
            <a:r>
              <a:rPr lang="zh-CN" altLang="en-US" sz="1800" dirty="0" smtClean="0"/>
              <a:t>。</a:t>
            </a:r>
            <a:endParaRPr lang="en-US" altLang="zh-CN" sz="1800" dirty="0" smtClean="0"/>
          </a:p>
          <a:p>
            <a:pPr indent="457200">
              <a:lnSpc>
                <a:spcPct val="150000"/>
              </a:lnSpc>
            </a:pPr>
            <a:r>
              <a:rPr lang="en-US" altLang="zh-CN" sz="1800" dirty="0" smtClean="0"/>
              <a:t>DPSK</a:t>
            </a:r>
            <a:r>
              <a:rPr lang="zh-CN" altLang="zh-CN" sz="1800" dirty="0" smtClean="0"/>
              <a:t>将</a:t>
            </a:r>
            <a:r>
              <a:rPr lang="zh-CN" altLang="zh-CN" sz="1800" dirty="0"/>
              <a:t>基带信号作一个变换：原始数据流中出现数字</a:t>
            </a:r>
            <a:r>
              <a:rPr lang="en-US" altLang="zh-CN" sz="1800" dirty="0"/>
              <a:t>1</a:t>
            </a:r>
            <a:r>
              <a:rPr lang="zh-CN" altLang="zh-CN" sz="1800" dirty="0"/>
              <a:t>，则变换后的数据流发生变化（</a:t>
            </a:r>
            <a:r>
              <a:rPr lang="en-US" altLang="zh-CN" sz="1800" dirty="0"/>
              <a:t>0</a:t>
            </a:r>
            <a:r>
              <a:rPr lang="zh-CN" altLang="zh-CN" sz="1800" dirty="0"/>
              <a:t>变</a:t>
            </a:r>
            <a:r>
              <a:rPr lang="en-US" altLang="zh-CN" sz="1800" dirty="0"/>
              <a:t>1</a:t>
            </a:r>
            <a:r>
              <a:rPr lang="zh-CN" altLang="zh-CN" sz="1800" dirty="0"/>
              <a:t>，或</a:t>
            </a:r>
            <a:r>
              <a:rPr lang="en-US" altLang="zh-CN" sz="1800" dirty="0"/>
              <a:t>1</a:t>
            </a:r>
            <a:r>
              <a:rPr lang="zh-CN" altLang="zh-CN" sz="1800" dirty="0"/>
              <a:t>变</a:t>
            </a:r>
            <a:r>
              <a:rPr lang="en-US" altLang="zh-CN" sz="1800" dirty="0"/>
              <a:t>0</a:t>
            </a:r>
            <a:r>
              <a:rPr lang="zh-CN" altLang="zh-CN" sz="1800" dirty="0"/>
              <a:t>）；原始数据流中出现数字</a:t>
            </a:r>
            <a:r>
              <a:rPr lang="en-US" altLang="zh-CN" sz="1800" dirty="0"/>
              <a:t>0</a:t>
            </a:r>
            <a:r>
              <a:rPr lang="zh-CN" altLang="zh-CN" sz="1800" dirty="0"/>
              <a:t>，则变换后的数据流不变。这样变换后的基带码流称为相对码，而将变换前的基带码流称为绝对</a:t>
            </a:r>
            <a:r>
              <a:rPr lang="zh-CN" altLang="zh-CN" sz="1800" dirty="0" smtClean="0"/>
              <a:t>码</a:t>
            </a:r>
            <a:r>
              <a:rPr lang="zh-CN" altLang="en-US" sz="1800" dirty="0" smtClean="0"/>
              <a:t>。此时的波形如下：</a:t>
            </a:r>
            <a:endParaRPr lang="zh-CN" altLang="en-US" sz="1600" dirty="0"/>
          </a:p>
        </p:txBody>
      </p:sp>
      <p:graphicFrame>
        <p:nvGraphicFramePr>
          <p:cNvPr id="7" name="对象 6"/>
          <p:cNvGraphicFramePr>
            <a:graphicFrameLocks noChangeAspect="1"/>
          </p:cNvGraphicFramePr>
          <p:nvPr>
            <p:extLst>
              <p:ext uri="{D42A27DB-BD31-4B8C-83A1-F6EECF244321}">
                <p14:modId xmlns:p14="http://schemas.microsoft.com/office/powerpoint/2010/main" val="357072706"/>
              </p:ext>
            </p:extLst>
          </p:nvPr>
        </p:nvGraphicFramePr>
        <p:xfrm>
          <a:off x="2866573" y="2348970"/>
          <a:ext cx="5838556" cy="2302857"/>
        </p:xfrm>
        <a:graphic>
          <a:graphicData uri="http://schemas.openxmlformats.org/presentationml/2006/ole">
            <mc:AlternateContent xmlns:mc="http://schemas.openxmlformats.org/markup-compatibility/2006">
              <mc:Choice xmlns:v="urn:schemas-microsoft-com:vml" Requires="v">
                <p:oleObj spid="_x0000_s18449" name="Visio" r:id="rId3" imgW="3186360" imgH="1256760" progId="Visio.Drawing.11">
                  <p:embed/>
                </p:oleObj>
              </mc:Choice>
              <mc:Fallback>
                <p:oleObj name="Visio" r:id="rId3" imgW="3186360" imgH="125676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6573" y="2348970"/>
                        <a:ext cx="5838556" cy="2302857"/>
                      </a:xfrm>
                      <a:prstGeom prst="rect">
                        <a:avLst/>
                      </a:prstGeom>
                      <a:noFill/>
                    </p:spPr>
                  </p:pic>
                </p:oleObj>
              </mc:Fallback>
            </mc:AlternateContent>
          </a:graphicData>
        </a:graphic>
      </p:graphicFrame>
    </p:spTree>
    <p:extLst>
      <p:ext uri="{BB962C8B-B14F-4D97-AF65-F5344CB8AC3E}">
        <p14:creationId xmlns:p14="http://schemas.microsoft.com/office/powerpoint/2010/main" val="293621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6" name="文本框 5"/>
          <p:cNvSpPr txBox="1"/>
          <p:nvPr/>
        </p:nvSpPr>
        <p:spPr>
          <a:xfrm>
            <a:off x="362857" y="522514"/>
            <a:ext cx="11458728" cy="1338828"/>
          </a:xfrm>
          <a:prstGeom prst="rect">
            <a:avLst/>
          </a:prstGeom>
          <a:noFill/>
        </p:spPr>
        <p:txBody>
          <a:bodyPr wrap="square" rtlCol="0">
            <a:spAutoFit/>
          </a:bodyPr>
          <a:lstStyle/>
          <a:p>
            <a:pPr indent="457200">
              <a:lnSpc>
                <a:spcPct val="150000"/>
              </a:lnSpc>
            </a:pPr>
            <a:r>
              <a:rPr lang="en-US" altLang="zh-CN" sz="1800" dirty="0"/>
              <a:t>DPSK</a:t>
            </a:r>
            <a:r>
              <a:rPr lang="zh-CN" altLang="zh-CN" sz="1800" dirty="0"/>
              <a:t>信号可以用非相干方式解调，称为相位比较法或差分检测法。此办法利用了</a:t>
            </a:r>
            <a:r>
              <a:rPr lang="en-US" altLang="zh-CN" sz="1800" dirty="0"/>
              <a:t>DPSK</a:t>
            </a:r>
            <a:r>
              <a:rPr lang="zh-CN" altLang="zh-CN" sz="1800" dirty="0"/>
              <a:t>以前后两个符号的相位关系确定基带符号的极性的特点，将前一符号的载波作为后一符号的参考相位，从而不需要知道发送端的载波相位</a:t>
            </a:r>
            <a:r>
              <a:rPr lang="zh-CN" altLang="zh-CN" sz="1800" dirty="0" smtClean="0"/>
              <a:t>信息</a:t>
            </a:r>
            <a:r>
              <a:rPr lang="zh-CN" altLang="en-US" sz="1800" dirty="0" smtClean="0"/>
              <a:t>。</a:t>
            </a:r>
            <a:endParaRPr lang="zh-CN" altLang="en-US" sz="1800" dirty="0"/>
          </a:p>
        </p:txBody>
      </p:sp>
      <p:graphicFrame>
        <p:nvGraphicFramePr>
          <p:cNvPr id="8" name="对象 7"/>
          <p:cNvGraphicFramePr>
            <a:graphicFrameLocks noChangeAspect="1"/>
          </p:cNvGraphicFramePr>
          <p:nvPr>
            <p:extLst>
              <p:ext uri="{D42A27DB-BD31-4B8C-83A1-F6EECF244321}">
                <p14:modId xmlns:p14="http://schemas.microsoft.com/office/powerpoint/2010/main" val="3922360933"/>
              </p:ext>
            </p:extLst>
          </p:nvPr>
        </p:nvGraphicFramePr>
        <p:xfrm>
          <a:off x="2303084" y="1694427"/>
          <a:ext cx="6732059" cy="4481187"/>
        </p:xfrm>
        <a:graphic>
          <a:graphicData uri="http://schemas.openxmlformats.org/presentationml/2006/ole">
            <mc:AlternateContent xmlns:mc="http://schemas.openxmlformats.org/markup-compatibility/2006">
              <mc:Choice xmlns:v="urn:schemas-microsoft-com:vml" Requires="v">
                <p:oleObj spid="_x0000_s19473" name="Visio" r:id="rId3" imgW="4159846" imgH="2770221" progId="Visio.Drawing.11">
                  <p:embed/>
                </p:oleObj>
              </mc:Choice>
              <mc:Fallback>
                <p:oleObj name="Visio" r:id="rId3" imgW="4159846" imgH="277022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3084" y="1694427"/>
                        <a:ext cx="6732059" cy="4481187"/>
                      </a:xfrm>
                      <a:prstGeom prst="rect">
                        <a:avLst/>
                      </a:prstGeom>
                      <a:noFill/>
                    </p:spPr>
                  </p:pic>
                </p:oleObj>
              </mc:Fallback>
            </mc:AlternateContent>
          </a:graphicData>
        </a:graphic>
      </p:graphicFrame>
    </p:spTree>
    <p:extLst>
      <p:ext uri="{BB962C8B-B14F-4D97-AF65-F5344CB8AC3E}">
        <p14:creationId xmlns:p14="http://schemas.microsoft.com/office/powerpoint/2010/main" val="514632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21</a:t>
            </a:fld>
            <a:endParaRPr lang="en-US" altLang="zh-CN"/>
          </a:p>
        </p:txBody>
      </p:sp>
      <p:sp>
        <p:nvSpPr>
          <p:cNvPr id="2" name="文本框 1"/>
          <p:cNvSpPr txBox="1"/>
          <p:nvPr/>
        </p:nvSpPr>
        <p:spPr>
          <a:xfrm>
            <a:off x="478971" y="505673"/>
            <a:ext cx="11255829" cy="3831818"/>
          </a:xfrm>
          <a:prstGeom prst="rect">
            <a:avLst/>
          </a:prstGeom>
          <a:noFill/>
        </p:spPr>
        <p:txBody>
          <a:bodyPr wrap="square" rtlCol="0">
            <a:spAutoFit/>
          </a:bodyPr>
          <a:lstStyle/>
          <a:p>
            <a:pPr indent="457200">
              <a:lnSpc>
                <a:spcPct val="150000"/>
              </a:lnSpc>
            </a:pPr>
            <a:r>
              <a:rPr lang="zh-CN" altLang="en-US" sz="1800" dirty="0" smtClean="0"/>
              <a:t>在</a:t>
            </a:r>
            <a:r>
              <a:rPr lang="zh-CN" altLang="en-US" sz="1800" dirty="0"/>
              <a:t>上述各种调制方式中，若已调信号中出现相位不连续点，则</a:t>
            </a:r>
            <a:r>
              <a:rPr lang="zh-CN" altLang="zh-CN" sz="1800" dirty="0"/>
              <a:t>其实际占用的信号带宽将大于相位连续的已调信号的带宽。</a:t>
            </a:r>
            <a:r>
              <a:rPr lang="zh-CN" altLang="en-US" sz="1800" dirty="0"/>
              <a:t>其中，</a:t>
            </a:r>
            <a:r>
              <a:rPr lang="en-US" altLang="zh-CN" sz="1800" dirty="0"/>
              <a:t>ASK</a:t>
            </a:r>
            <a:r>
              <a:rPr lang="zh-CN" altLang="en-US" sz="1800" dirty="0"/>
              <a:t>与</a:t>
            </a:r>
            <a:r>
              <a:rPr lang="en-US" altLang="zh-CN" sz="1800" dirty="0"/>
              <a:t>FSK</a:t>
            </a:r>
            <a:r>
              <a:rPr lang="zh-CN" altLang="en-US" sz="1800" dirty="0"/>
              <a:t>可以通过特殊的安排做到基带信号在</a:t>
            </a:r>
            <a:r>
              <a:rPr lang="en-US" altLang="zh-CN" sz="1800" dirty="0"/>
              <a:t>1</a:t>
            </a:r>
            <a:r>
              <a:rPr lang="zh-CN" altLang="en-US" sz="1800" dirty="0"/>
              <a:t>、</a:t>
            </a:r>
            <a:r>
              <a:rPr lang="en-US" altLang="zh-CN" sz="1800" dirty="0"/>
              <a:t>0</a:t>
            </a:r>
            <a:r>
              <a:rPr lang="zh-CN" altLang="en-US" sz="1800" dirty="0"/>
              <a:t>改变时已调波的相位连续，但是</a:t>
            </a:r>
            <a:r>
              <a:rPr lang="en-US" altLang="zh-CN" sz="1800" dirty="0"/>
              <a:t>OOK</a:t>
            </a:r>
            <a:r>
              <a:rPr lang="zh-CN" altLang="en-US" sz="1800" dirty="0"/>
              <a:t>与</a:t>
            </a:r>
            <a:r>
              <a:rPr lang="en-US" altLang="zh-CN" sz="1800" dirty="0"/>
              <a:t>2PSK</a:t>
            </a:r>
            <a:r>
              <a:rPr lang="zh-CN" altLang="en-US" sz="1800" dirty="0"/>
              <a:t>不可能做到这</a:t>
            </a:r>
            <a:r>
              <a:rPr lang="zh-CN" altLang="en-US" sz="1800" dirty="0" smtClean="0"/>
              <a:t>一点，所以</a:t>
            </a:r>
            <a:r>
              <a:rPr lang="zh-CN" altLang="en-US" sz="1800" dirty="0"/>
              <a:t>通常要在基带调制后面用带通滤波器将扩展的频谱滤除</a:t>
            </a:r>
            <a:r>
              <a:rPr lang="zh-CN" altLang="en-US" sz="1800" dirty="0" smtClean="0"/>
              <a:t>。即使是相位连续的已调信号，带通滤波器也可以降低频谱中的旁瓣分量。</a:t>
            </a:r>
            <a:endParaRPr lang="en-US" altLang="zh-CN" sz="1800" dirty="0" smtClean="0"/>
          </a:p>
          <a:p>
            <a:pPr indent="457200">
              <a:lnSpc>
                <a:spcPct val="150000"/>
              </a:lnSpc>
            </a:pPr>
            <a:r>
              <a:rPr lang="zh-CN" altLang="en-US" sz="1800" dirty="0" smtClean="0"/>
              <a:t>另外，前面</a:t>
            </a:r>
            <a:r>
              <a:rPr lang="zh-CN" altLang="en-US" sz="1800" dirty="0"/>
              <a:t>讨论的各种调制方法都是用硬件实现的。但是对于本题来说，副</a:t>
            </a:r>
            <a:r>
              <a:rPr lang="zh-CN" altLang="en-US" sz="1800" dirty="0" smtClean="0"/>
              <a:t>载波频率在</a:t>
            </a:r>
            <a:r>
              <a:rPr lang="en-US" altLang="zh-CN" sz="1800" dirty="0"/>
              <a:t>10kHz~12.5kHz</a:t>
            </a:r>
            <a:r>
              <a:rPr lang="zh-CN" altLang="en-US" sz="1800" dirty="0" smtClean="0"/>
              <a:t>之间，这个频率并不</a:t>
            </a:r>
            <a:r>
              <a:rPr lang="zh-CN" altLang="en-US" sz="1800" dirty="0"/>
              <a:t>高</a:t>
            </a:r>
            <a:r>
              <a:rPr lang="zh-CN" altLang="en-US" sz="1800" dirty="0" smtClean="0"/>
              <a:t>，</a:t>
            </a:r>
            <a:r>
              <a:rPr lang="zh-CN" altLang="en-US" sz="1800" dirty="0"/>
              <a:t>所以这些调制也可以用软件</a:t>
            </a:r>
            <a:r>
              <a:rPr lang="zh-CN" altLang="en-US" sz="1800" dirty="0" smtClean="0"/>
              <a:t>实现，即用单片机同时实现基带信号成型与副载波调制（前面结构框图中红色圈内部分）。</a:t>
            </a:r>
            <a:endParaRPr lang="en-US" altLang="zh-CN" sz="1800" dirty="0" smtClean="0"/>
          </a:p>
          <a:p>
            <a:pPr indent="457200">
              <a:lnSpc>
                <a:spcPct val="150000"/>
              </a:lnSpc>
            </a:pPr>
            <a:r>
              <a:rPr lang="zh-CN" altLang="en-US" sz="1800" dirty="0" smtClean="0"/>
              <a:t>但是单片机输出的已调波是一个矩形波，这相当于带通调制的载波是一个方波，而方波可以分解成基波与奇次谐波，所以已调波的频谱如下图，此时带通滤波器</a:t>
            </a:r>
            <a:r>
              <a:rPr lang="zh-CN" altLang="en-US" sz="1800" dirty="0"/>
              <a:t>还可以滤</a:t>
            </a:r>
            <a:r>
              <a:rPr lang="zh-CN" altLang="en-US" sz="1800" dirty="0" smtClean="0"/>
              <a:t>除频谱</a:t>
            </a:r>
            <a:r>
              <a:rPr lang="zh-CN" altLang="en-US" sz="1800" dirty="0"/>
              <a:t>中的高次谐波成分</a:t>
            </a:r>
            <a:r>
              <a:rPr lang="zh-CN" altLang="en-US" sz="1800" dirty="0" smtClean="0"/>
              <a:t>。</a:t>
            </a:r>
            <a:endParaRPr lang="zh-CN" altLang="en-US" sz="1800" dirty="0"/>
          </a:p>
        </p:txBody>
      </p:sp>
      <p:pic>
        <p:nvPicPr>
          <p:cNvPr id="6" name="图片 5"/>
          <p:cNvPicPr>
            <a:picLocks noChangeAspect="1"/>
          </p:cNvPicPr>
          <p:nvPr/>
        </p:nvPicPr>
        <p:blipFill>
          <a:blip r:embed="rId2"/>
          <a:stretch>
            <a:fillRect/>
          </a:stretch>
        </p:blipFill>
        <p:spPr>
          <a:xfrm>
            <a:off x="1724478" y="4431831"/>
            <a:ext cx="8642533" cy="1998455"/>
          </a:xfrm>
          <a:prstGeom prst="rect">
            <a:avLst/>
          </a:prstGeom>
        </p:spPr>
      </p:pic>
    </p:spTree>
    <p:extLst>
      <p:ext uri="{BB962C8B-B14F-4D97-AF65-F5344CB8AC3E}">
        <p14:creationId xmlns:p14="http://schemas.microsoft.com/office/powerpoint/2010/main" val="8168438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22</a:t>
            </a:fld>
            <a:endParaRPr lang="en-US" altLang="zh-CN"/>
          </a:p>
        </p:txBody>
      </p:sp>
      <p:sp>
        <p:nvSpPr>
          <p:cNvPr id="2" name="文本框 1"/>
          <p:cNvSpPr txBox="1"/>
          <p:nvPr/>
        </p:nvSpPr>
        <p:spPr>
          <a:xfrm>
            <a:off x="478971" y="505673"/>
            <a:ext cx="11255829" cy="5078313"/>
          </a:xfrm>
          <a:prstGeom prst="rect">
            <a:avLst/>
          </a:prstGeom>
          <a:noFill/>
        </p:spPr>
        <p:txBody>
          <a:bodyPr wrap="square" rtlCol="0">
            <a:spAutoFit/>
          </a:bodyPr>
          <a:lstStyle/>
          <a:p>
            <a:pPr indent="457200">
              <a:lnSpc>
                <a:spcPct val="150000"/>
              </a:lnSpc>
            </a:pPr>
            <a:r>
              <a:rPr lang="zh-CN" altLang="en-US" sz="1800" dirty="0" smtClean="0"/>
              <a:t>下面分析各种调制方式的优劣。</a:t>
            </a:r>
            <a:endParaRPr lang="en-US" altLang="zh-CN" sz="1800" dirty="0" smtClean="0"/>
          </a:p>
          <a:p>
            <a:pPr indent="457200">
              <a:lnSpc>
                <a:spcPct val="150000"/>
              </a:lnSpc>
            </a:pPr>
            <a:r>
              <a:rPr lang="zh-CN" altLang="en-US" sz="1800" dirty="0" smtClean="0"/>
              <a:t>从电路结构方面来说，所有带通调制的相干解调都需要锁相环以获得与发送端载波同频同相的同步信号，而非相干解调则不需要上述同步信号。所以非相干解调电路结构要比相干解调电路简单。</a:t>
            </a:r>
            <a:endParaRPr lang="en-US" altLang="zh-CN" sz="1800" dirty="0" smtClean="0"/>
          </a:p>
          <a:p>
            <a:pPr indent="457200">
              <a:lnSpc>
                <a:spcPct val="150000"/>
              </a:lnSpc>
            </a:pPr>
            <a:r>
              <a:rPr lang="zh-CN" altLang="en-US" sz="1800" dirty="0" smtClean="0"/>
              <a:t>但是相干解调的误码率大大低于非相干解调</a:t>
            </a:r>
            <a:r>
              <a:rPr lang="zh-CN" altLang="en-US" sz="1800" dirty="0"/>
              <a:t>，因此</a:t>
            </a:r>
            <a:r>
              <a:rPr lang="zh-CN" altLang="en-US" sz="1800" dirty="0" smtClean="0"/>
              <a:t>从降低误码率角度来说应当采取相干解调电路。</a:t>
            </a:r>
            <a:endParaRPr lang="en-US" altLang="zh-CN" sz="1800" dirty="0" smtClean="0"/>
          </a:p>
          <a:p>
            <a:pPr indent="457200">
              <a:lnSpc>
                <a:spcPct val="150000"/>
              </a:lnSpc>
            </a:pPr>
            <a:r>
              <a:rPr lang="zh-CN" altLang="en-US" sz="1800" dirty="0" smtClean="0"/>
              <a:t>从三种不同的调制方式来分析，显然</a:t>
            </a:r>
            <a:r>
              <a:rPr lang="en-US" altLang="zh-CN" sz="1800" dirty="0" smtClean="0"/>
              <a:t>OOK</a:t>
            </a:r>
            <a:r>
              <a:rPr lang="zh-CN" altLang="en-US" sz="1800" dirty="0" smtClean="0"/>
              <a:t>的解调电路是最简单的，而</a:t>
            </a:r>
            <a:r>
              <a:rPr lang="en-US" altLang="zh-CN" sz="1800" dirty="0" smtClean="0"/>
              <a:t>FSK</a:t>
            </a:r>
            <a:r>
              <a:rPr lang="zh-CN" altLang="en-US" sz="1800" dirty="0" smtClean="0"/>
              <a:t>与</a:t>
            </a:r>
            <a:r>
              <a:rPr lang="en-US" altLang="zh-CN" sz="1800" dirty="0" smtClean="0"/>
              <a:t>PSK</a:t>
            </a:r>
            <a:r>
              <a:rPr lang="zh-CN" altLang="en-US" sz="1800" dirty="0" smtClean="0"/>
              <a:t>的解调电路均较为复杂。尽管</a:t>
            </a:r>
            <a:r>
              <a:rPr lang="en-US" altLang="zh-CN" sz="1800" dirty="0" smtClean="0"/>
              <a:t>OOK</a:t>
            </a:r>
            <a:r>
              <a:rPr lang="zh-CN" altLang="en-US" sz="1800" dirty="0" smtClean="0"/>
              <a:t>有很多不尽如人意的地方，但是对于本题这样数据量很低、传输距离很近的情况下，不失为一个最好的选择。</a:t>
            </a:r>
            <a:endParaRPr lang="en-US" altLang="zh-CN" sz="1800" dirty="0" smtClean="0"/>
          </a:p>
          <a:p>
            <a:pPr indent="457200">
              <a:lnSpc>
                <a:spcPct val="150000"/>
              </a:lnSpc>
            </a:pPr>
            <a:r>
              <a:rPr lang="zh-CN" altLang="en-US" sz="1800" dirty="0"/>
              <a:t>综</a:t>
            </a:r>
            <a:r>
              <a:rPr lang="zh-CN" altLang="en-US" sz="1800" dirty="0" smtClean="0"/>
              <a:t>上，本题可以选择</a:t>
            </a:r>
            <a:r>
              <a:rPr lang="en-US" altLang="zh-CN" sz="1800" dirty="0" smtClean="0"/>
              <a:t>OOK</a:t>
            </a:r>
            <a:r>
              <a:rPr lang="zh-CN" altLang="en-US" sz="1800" dirty="0" smtClean="0"/>
              <a:t>调制，非相干解调的方式。</a:t>
            </a:r>
            <a:endParaRPr lang="en-US" altLang="zh-CN" sz="1800" dirty="0" smtClean="0"/>
          </a:p>
          <a:p>
            <a:pPr indent="457200">
              <a:lnSpc>
                <a:spcPct val="150000"/>
              </a:lnSpc>
            </a:pPr>
            <a:r>
              <a:rPr lang="zh-CN" altLang="en-US" sz="1800" dirty="0" smtClean="0"/>
              <a:t>前面</a:t>
            </a:r>
            <a:r>
              <a:rPr lang="zh-CN" altLang="en-US" sz="1800" dirty="0"/>
              <a:t>已经分析了</a:t>
            </a:r>
            <a:r>
              <a:rPr lang="en-US" altLang="zh-CN" sz="1800" dirty="0"/>
              <a:t>1</a:t>
            </a:r>
            <a:r>
              <a:rPr lang="zh-CN" altLang="en-US" sz="1800" dirty="0"/>
              <a:t>帧数据大概有</a:t>
            </a:r>
            <a:r>
              <a:rPr lang="en-US" altLang="zh-CN" sz="1800" dirty="0"/>
              <a:t>24~32</a:t>
            </a:r>
            <a:r>
              <a:rPr lang="zh-CN" altLang="en-US" sz="1800" dirty="0"/>
              <a:t>比特，采用曼切斯特编码后共有</a:t>
            </a:r>
            <a:r>
              <a:rPr lang="en-US" altLang="zh-CN" sz="1800" dirty="0"/>
              <a:t>48~64bit</a:t>
            </a:r>
            <a:r>
              <a:rPr lang="zh-CN" altLang="en-US" sz="1800" dirty="0" smtClean="0"/>
              <a:t>。题目</a:t>
            </a:r>
            <a:r>
              <a:rPr lang="zh-CN" altLang="en-US" sz="1800" dirty="0"/>
              <a:t>要求在</a:t>
            </a:r>
            <a:r>
              <a:rPr lang="en-US" altLang="zh-CN" sz="1800" dirty="0"/>
              <a:t>2</a:t>
            </a:r>
            <a:r>
              <a:rPr lang="zh-CN" altLang="en-US" sz="1800" dirty="0"/>
              <a:t>秒内完成传输。假定采用</a:t>
            </a:r>
            <a:r>
              <a:rPr lang="en-US" altLang="zh-CN" sz="1800" dirty="0"/>
              <a:t>80bit/s</a:t>
            </a:r>
            <a:r>
              <a:rPr lang="zh-CN" altLang="en-US" sz="1800" dirty="0"/>
              <a:t>的码率传输，则传输</a:t>
            </a:r>
            <a:r>
              <a:rPr lang="en-US" altLang="zh-CN" sz="1800" dirty="0"/>
              <a:t>1</a:t>
            </a:r>
            <a:r>
              <a:rPr lang="zh-CN" altLang="en-US" sz="1800" dirty="0"/>
              <a:t>帧数据的时间为</a:t>
            </a:r>
            <a:r>
              <a:rPr lang="en-US" altLang="zh-CN" sz="1800" dirty="0"/>
              <a:t>0.6~0.8</a:t>
            </a:r>
            <a:r>
              <a:rPr lang="zh-CN" altLang="en-US" sz="1800" dirty="0"/>
              <a:t>秒，可以满足题目的要求。此时</a:t>
            </a:r>
            <a:r>
              <a:rPr lang="en-US" altLang="zh-CN" sz="1800" dirty="0"/>
              <a:t>T</a:t>
            </a:r>
            <a:r>
              <a:rPr lang="en-US" altLang="zh-CN" sz="1800" baseline="-25000" dirty="0"/>
              <a:t>S</a:t>
            </a:r>
            <a:r>
              <a:rPr lang="en-US" altLang="zh-CN" sz="1800" dirty="0"/>
              <a:t>=12.5ms</a:t>
            </a:r>
            <a:r>
              <a:rPr lang="zh-CN" altLang="en-US" sz="1800" dirty="0"/>
              <a:t>，</a:t>
            </a:r>
            <a:r>
              <a:rPr lang="zh-CN" altLang="en-US" sz="1800" dirty="0" smtClean="0"/>
              <a:t>采用</a:t>
            </a:r>
            <a:r>
              <a:rPr lang="en-US" altLang="zh-CN" sz="1800" dirty="0" smtClean="0"/>
              <a:t>OOK</a:t>
            </a:r>
            <a:r>
              <a:rPr lang="zh-CN" altLang="en-US" sz="1800" dirty="0" smtClean="0"/>
              <a:t>的</a:t>
            </a:r>
            <a:r>
              <a:rPr lang="zh-CN" altLang="en-US" sz="1800" dirty="0"/>
              <a:t>带宽是</a:t>
            </a:r>
            <a:r>
              <a:rPr lang="en-US" altLang="zh-CN" sz="1800" dirty="0" smtClean="0"/>
              <a:t>40Hz</a:t>
            </a:r>
            <a:r>
              <a:rPr lang="zh-CN" altLang="en-US" sz="1800" dirty="0" smtClean="0"/>
              <a:t>。</a:t>
            </a:r>
            <a:endParaRPr lang="en-US" altLang="zh-CN" sz="1800" dirty="0" smtClean="0"/>
          </a:p>
          <a:p>
            <a:pPr indent="457200">
              <a:lnSpc>
                <a:spcPct val="150000"/>
              </a:lnSpc>
            </a:pPr>
            <a:r>
              <a:rPr lang="zh-CN" altLang="en-US" sz="1800" dirty="0" smtClean="0"/>
              <a:t>数字信号</a:t>
            </a:r>
            <a:r>
              <a:rPr lang="zh-CN" altLang="en-US" sz="1800" dirty="0"/>
              <a:t>副载波应该在</a:t>
            </a:r>
            <a:r>
              <a:rPr lang="en-US" altLang="zh-CN" sz="1800" dirty="0"/>
              <a:t>10kHz~12.5kHz</a:t>
            </a:r>
            <a:r>
              <a:rPr lang="zh-CN" altLang="en-US" sz="1800" dirty="0"/>
              <a:t>之间选取。例如可以</a:t>
            </a:r>
            <a:r>
              <a:rPr lang="zh-CN" altLang="en-US" sz="1800" dirty="0" smtClean="0"/>
              <a:t>选取它们的几何平均值</a:t>
            </a:r>
            <a:r>
              <a:rPr lang="en-US" altLang="zh-CN" sz="1800" dirty="0" smtClean="0"/>
              <a:t>11.2kHz</a:t>
            </a:r>
            <a:r>
              <a:rPr lang="zh-CN" altLang="en-US" sz="1800" dirty="0" smtClean="0"/>
              <a:t>。</a:t>
            </a:r>
            <a:endParaRPr lang="en-US" altLang="zh-CN" sz="1800" dirty="0" smtClean="0"/>
          </a:p>
        </p:txBody>
      </p:sp>
    </p:spTree>
    <p:extLst>
      <p:ext uri="{BB962C8B-B14F-4D97-AF65-F5344CB8AC3E}">
        <p14:creationId xmlns:p14="http://schemas.microsoft.com/office/powerpoint/2010/main" val="16251002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5" name="文本框 4"/>
          <p:cNvSpPr txBox="1"/>
          <p:nvPr/>
        </p:nvSpPr>
        <p:spPr>
          <a:xfrm>
            <a:off x="442686" y="390400"/>
            <a:ext cx="11219542" cy="4478149"/>
          </a:xfrm>
          <a:prstGeom prst="rect">
            <a:avLst/>
          </a:prstGeom>
          <a:noFill/>
        </p:spPr>
        <p:txBody>
          <a:bodyPr wrap="square" rtlCol="0">
            <a:spAutoFit/>
          </a:bodyPr>
          <a:lstStyle/>
          <a:p>
            <a:pPr algn="ctr">
              <a:lnSpc>
                <a:spcPct val="150000"/>
              </a:lnSpc>
            </a:pPr>
            <a:r>
              <a:rPr lang="zh-CN" altLang="en-US" sz="2800" dirty="0">
                <a:solidFill>
                  <a:srgbClr val="FF0000"/>
                </a:solidFill>
                <a:latin typeface="隶书" panose="02010509060101010101" pitchFamily="49" charset="-122"/>
                <a:ea typeface="隶书" panose="02010509060101010101" pitchFamily="49" charset="-122"/>
              </a:rPr>
              <a:t>硬件电路设计</a:t>
            </a:r>
            <a:endParaRPr lang="zh-CN" altLang="zh-CN" sz="2800" dirty="0">
              <a:solidFill>
                <a:srgbClr val="FF0000"/>
              </a:solidFill>
              <a:latin typeface="隶书" panose="02010509060101010101" pitchFamily="49" charset="-122"/>
              <a:ea typeface="隶书" panose="02010509060101010101" pitchFamily="49" charset="-122"/>
            </a:endParaRPr>
          </a:p>
          <a:p>
            <a:pPr marL="285750" indent="-285750">
              <a:lnSpc>
                <a:spcPct val="150000"/>
              </a:lnSpc>
              <a:buFont typeface="Wingdings" panose="05000000000000000000" pitchFamily="2" charset="2"/>
              <a:buChar char="l"/>
            </a:pPr>
            <a:r>
              <a:rPr lang="zh-CN" altLang="en-US" sz="1800" dirty="0" smtClean="0"/>
              <a:t>分离</a:t>
            </a:r>
            <a:r>
              <a:rPr lang="zh-CN" altLang="en-US" sz="1800" dirty="0"/>
              <a:t>数字信号的</a:t>
            </a:r>
            <a:r>
              <a:rPr lang="zh-CN" altLang="en-US" sz="1800" dirty="0" smtClean="0"/>
              <a:t>带通滤波器</a:t>
            </a:r>
            <a:endParaRPr lang="zh-CN" altLang="en-US" sz="1800" dirty="0"/>
          </a:p>
          <a:p>
            <a:pPr indent="457200">
              <a:lnSpc>
                <a:spcPct val="150000"/>
              </a:lnSpc>
            </a:pPr>
            <a:r>
              <a:rPr lang="zh-CN" altLang="en-US" sz="1800" dirty="0" smtClean="0"/>
              <a:t>这个</a:t>
            </a:r>
            <a:r>
              <a:rPr lang="zh-CN" altLang="en-US" sz="1800" dirty="0"/>
              <a:t>滤波器出现在两个地方。在发送端，其主要目的是抑制带通调制信号频谱的旁瓣与高次</a:t>
            </a:r>
            <a:r>
              <a:rPr lang="zh-CN" altLang="en-US" sz="1800" dirty="0" smtClean="0"/>
              <a:t>谐波，按照题目要求必须在</a:t>
            </a:r>
            <a:r>
              <a:rPr lang="en-US" altLang="zh-CN" sz="1800" dirty="0" smtClean="0"/>
              <a:t>12.5kHz</a:t>
            </a:r>
            <a:r>
              <a:rPr lang="zh-CN" altLang="en-US" sz="1800" dirty="0" smtClean="0"/>
              <a:t>处有大于</a:t>
            </a:r>
            <a:r>
              <a:rPr lang="en-US" altLang="zh-CN" sz="1800" dirty="0" smtClean="0"/>
              <a:t>40dB</a:t>
            </a:r>
            <a:r>
              <a:rPr lang="zh-CN" altLang="en-US" sz="1800" dirty="0" smtClean="0"/>
              <a:t>的衰减。在接收端，其主要</a:t>
            </a:r>
            <a:r>
              <a:rPr lang="zh-CN" altLang="en-US" sz="1800" dirty="0"/>
              <a:t>作用是抑制模拟信号对数字信号的干扰</a:t>
            </a:r>
            <a:r>
              <a:rPr lang="zh-CN" altLang="en-US" sz="1800" dirty="0" smtClean="0"/>
              <a:t>。模拟信号</a:t>
            </a:r>
            <a:r>
              <a:rPr lang="zh-CN" altLang="en-US" sz="1800" dirty="0"/>
              <a:t>的频率上限为</a:t>
            </a:r>
            <a:r>
              <a:rPr lang="en-US" altLang="zh-CN" sz="1800" dirty="0"/>
              <a:t>10kHz</a:t>
            </a:r>
            <a:r>
              <a:rPr lang="zh-CN" altLang="en-US" sz="1800" dirty="0"/>
              <a:t>，</a:t>
            </a:r>
            <a:r>
              <a:rPr lang="zh-CN" altLang="en-US" sz="1800" dirty="0" smtClean="0"/>
              <a:t>所以应该</a:t>
            </a:r>
            <a:r>
              <a:rPr lang="zh-CN" altLang="en-US" sz="1800" dirty="0"/>
              <a:t>对</a:t>
            </a:r>
            <a:r>
              <a:rPr lang="en-US" altLang="zh-CN" sz="1800" dirty="0"/>
              <a:t>10kHz</a:t>
            </a:r>
            <a:r>
              <a:rPr lang="zh-CN" altLang="en-US" sz="1800" dirty="0"/>
              <a:t>信号有足够大的衰减</a:t>
            </a:r>
            <a:r>
              <a:rPr lang="zh-CN" altLang="en-US" sz="1800" dirty="0" smtClean="0"/>
              <a:t>。</a:t>
            </a:r>
            <a:endParaRPr lang="en-US" altLang="zh-CN" sz="1800" dirty="0" smtClean="0"/>
          </a:p>
          <a:p>
            <a:pPr indent="457200">
              <a:lnSpc>
                <a:spcPct val="150000"/>
              </a:lnSpc>
            </a:pPr>
            <a:r>
              <a:rPr lang="zh-CN" altLang="en-US" sz="1800" dirty="0" smtClean="0"/>
              <a:t>这个滤波器应该有较平坦的群延迟特性，所以应选用贝塞尔滤波器或巴特沃斯滤波器。</a:t>
            </a:r>
            <a:endParaRPr lang="en-US" altLang="zh-CN" sz="1800" dirty="0" smtClean="0"/>
          </a:p>
          <a:p>
            <a:pPr indent="457200">
              <a:lnSpc>
                <a:spcPct val="150000"/>
              </a:lnSpc>
            </a:pPr>
            <a:r>
              <a:rPr lang="zh-CN" altLang="en-US" sz="1800" dirty="0" smtClean="0"/>
              <a:t>数字信号</a:t>
            </a:r>
            <a:r>
              <a:rPr lang="zh-CN" altLang="en-US" sz="1800" dirty="0"/>
              <a:t>的副载频为</a:t>
            </a:r>
            <a:r>
              <a:rPr lang="en-US" altLang="zh-CN" sz="1800" dirty="0" smtClean="0"/>
              <a:t>11.2kHz</a:t>
            </a:r>
            <a:r>
              <a:rPr lang="zh-CN" altLang="en-US" sz="1800" dirty="0"/>
              <a:t>，带宽是</a:t>
            </a:r>
            <a:r>
              <a:rPr lang="en-US" altLang="zh-CN" sz="1800" dirty="0" smtClean="0"/>
              <a:t>40Hz</a:t>
            </a:r>
            <a:r>
              <a:rPr lang="zh-CN" altLang="en-US" sz="1800" dirty="0" smtClean="0"/>
              <a:t>。实际设计时</a:t>
            </a:r>
            <a:r>
              <a:rPr lang="zh-CN" altLang="en-US" sz="1800" dirty="0"/>
              <a:t>按照通带为</a:t>
            </a:r>
            <a:r>
              <a:rPr lang="en-US" altLang="zh-CN" sz="1800" dirty="0" smtClean="0"/>
              <a:t>11100Hz~11300Hz</a:t>
            </a:r>
            <a:r>
              <a:rPr lang="zh-CN" altLang="en-US" sz="1800" dirty="0" smtClean="0"/>
              <a:t>（就是将带宽</a:t>
            </a:r>
            <a:r>
              <a:rPr lang="zh-CN" altLang="en-US" sz="1800" dirty="0"/>
              <a:t>放宽</a:t>
            </a:r>
            <a:r>
              <a:rPr lang="zh-CN" altLang="en-US" sz="1800" dirty="0" smtClean="0"/>
              <a:t>到</a:t>
            </a:r>
            <a:r>
              <a:rPr lang="en-US" altLang="zh-CN" sz="1800" dirty="0" smtClean="0"/>
              <a:t>200Hz</a:t>
            </a:r>
            <a:r>
              <a:rPr lang="zh-CN" altLang="en-US" sz="1800" dirty="0" smtClean="0"/>
              <a:t>），两侧阻带起始点分别为</a:t>
            </a:r>
            <a:r>
              <a:rPr lang="en-US" altLang="zh-CN" sz="1800" dirty="0" smtClean="0"/>
              <a:t>10kHz</a:t>
            </a:r>
            <a:r>
              <a:rPr lang="zh-CN" altLang="en-US" sz="1800" dirty="0" smtClean="0"/>
              <a:t>、</a:t>
            </a:r>
            <a:r>
              <a:rPr lang="en-US" altLang="zh-CN" sz="1800" dirty="0" smtClean="0"/>
              <a:t>12.5kHz</a:t>
            </a:r>
            <a:r>
              <a:rPr lang="zh-CN" altLang="en-US" sz="1800" dirty="0" smtClean="0"/>
              <a:t>，阻带衰减为</a:t>
            </a:r>
            <a:r>
              <a:rPr lang="en-US" altLang="zh-CN" sz="1800" dirty="0" smtClean="0"/>
              <a:t>40dB</a:t>
            </a:r>
            <a:r>
              <a:rPr lang="zh-CN" altLang="en-US" sz="1800" dirty="0" smtClean="0"/>
              <a:t>计算，采用巴特沃斯型滤波器的最低阶数为</a:t>
            </a:r>
            <a:r>
              <a:rPr lang="en-US" altLang="zh-CN" sz="1800" dirty="0" smtClean="0"/>
              <a:t>2</a:t>
            </a:r>
            <a:r>
              <a:rPr lang="zh-CN" altLang="en-US" sz="1800" dirty="0" smtClean="0"/>
              <a:t>。两个带通滤波节的中心频率分别为</a:t>
            </a:r>
            <a:r>
              <a:rPr lang="en-US" altLang="zh-CN" sz="1800" dirty="0" smtClean="0"/>
              <a:t>11129Hz</a:t>
            </a:r>
            <a:r>
              <a:rPr lang="zh-CN" altLang="en-US" sz="1800" dirty="0" smtClean="0"/>
              <a:t>与</a:t>
            </a:r>
            <a:r>
              <a:rPr lang="en-US" altLang="zh-CN" sz="1800" dirty="0" smtClean="0"/>
              <a:t>11270Hz</a:t>
            </a:r>
            <a:r>
              <a:rPr lang="zh-CN" altLang="en-US" sz="1800" dirty="0" smtClean="0"/>
              <a:t>，</a:t>
            </a:r>
            <a:r>
              <a:rPr lang="en-US" altLang="zh-CN" sz="1800" dirty="0" smtClean="0"/>
              <a:t>Q</a:t>
            </a:r>
            <a:r>
              <a:rPr lang="zh-CN" altLang="en-US" sz="1800" dirty="0" smtClean="0"/>
              <a:t>值均为</a:t>
            </a:r>
            <a:r>
              <a:rPr lang="en-US" altLang="zh-CN" sz="1800" dirty="0" smtClean="0"/>
              <a:t>79</a:t>
            </a:r>
            <a:r>
              <a:rPr lang="zh-CN" altLang="en-US" sz="1800" dirty="0" smtClean="0"/>
              <a:t>。</a:t>
            </a:r>
            <a:endParaRPr lang="en-US" altLang="zh-CN" sz="1800" dirty="0" smtClean="0"/>
          </a:p>
          <a:p>
            <a:pPr indent="457200">
              <a:lnSpc>
                <a:spcPct val="150000"/>
              </a:lnSpc>
            </a:pPr>
            <a:r>
              <a:rPr lang="zh-CN" altLang="en-US" sz="1800" dirty="0" smtClean="0"/>
              <a:t>由于</a:t>
            </a:r>
            <a:r>
              <a:rPr lang="en-US" altLang="zh-CN" sz="1800" dirty="0" smtClean="0"/>
              <a:t>Q</a:t>
            </a:r>
            <a:r>
              <a:rPr lang="zh-CN" altLang="en-US" sz="1800" dirty="0" smtClean="0"/>
              <a:t>值较高，可以采用模拟电感</a:t>
            </a:r>
            <a:r>
              <a:rPr lang="en-US" altLang="zh-CN" sz="1800" dirty="0" smtClean="0"/>
              <a:t>LC</a:t>
            </a:r>
            <a:r>
              <a:rPr lang="zh-CN" altLang="en-US" sz="1800" dirty="0" smtClean="0"/>
              <a:t>型带通电路。</a:t>
            </a:r>
            <a:endParaRPr lang="en-US" altLang="zh-CN" sz="1800" dirty="0" smtClean="0"/>
          </a:p>
        </p:txBody>
      </p:sp>
    </p:spTree>
    <p:extLst>
      <p:ext uri="{BB962C8B-B14F-4D97-AF65-F5344CB8AC3E}">
        <p14:creationId xmlns:p14="http://schemas.microsoft.com/office/powerpoint/2010/main" val="3705526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文本框 4"/>
          <p:cNvSpPr txBox="1"/>
          <p:nvPr/>
        </p:nvSpPr>
        <p:spPr>
          <a:xfrm>
            <a:off x="449943" y="462664"/>
            <a:ext cx="11255828" cy="923330"/>
          </a:xfrm>
          <a:prstGeom prst="rect">
            <a:avLst/>
          </a:prstGeom>
          <a:noFill/>
        </p:spPr>
        <p:txBody>
          <a:bodyPr wrap="square" rtlCol="0">
            <a:spAutoFit/>
          </a:bodyPr>
          <a:lstStyle/>
          <a:p>
            <a:pPr indent="457200">
              <a:lnSpc>
                <a:spcPct val="150000"/>
              </a:lnSpc>
            </a:pPr>
            <a:r>
              <a:rPr lang="zh-CN" altLang="en-US" sz="1800" dirty="0"/>
              <a:t>下</a:t>
            </a:r>
            <a:r>
              <a:rPr lang="zh-CN" altLang="en-US" sz="1800" dirty="0" smtClean="0"/>
              <a:t>图是一个</a:t>
            </a:r>
            <a:r>
              <a:rPr lang="zh-CN" altLang="en-US" sz="1800" dirty="0"/>
              <a:t>模拟电感</a:t>
            </a:r>
            <a:r>
              <a:rPr lang="en-US" altLang="zh-CN" sz="1800" dirty="0"/>
              <a:t>LC</a:t>
            </a:r>
            <a:r>
              <a:rPr lang="zh-CN" altLang="en-US" sz="1800" dirty="0"/>
              <a:t>型带通电</a:t>
            </a:r>
            <a:r>
              <a:rPr lang="zh-CN" altLang="en-US" sz="1800" dirty="0" smtClean="0"/>
              <a:t>路。</a:t>
            </a:r>
            <a:r>
              <a:rPr lang="zh-CN" altLang="zh-CN" sz="1800" dirty="0" smtClean="0"/>
              <a:t>通常</a:t>
            </a:r>
            <a:r>
              <a:rPr lang="zh-CN" altLang="zh-CN" sz="1800" dirty="0"/>
              <a:t>在这个电路中令</a:t>
            </a:r>
            <a:r>
              <a:rPr lang="en-US" altLang="zh-CN" sz="1800" i="1" dirty="0"/>
              <a:t>R</a:t>
            </a:r>
            <a:r>
              <a:rPr lang="en-US" altLang="zh-CN" sz="1800" baseline="-25000" dirty="0"/>
              <a:t>2</a:t>
            </a:r>
            <a:r>
              <a:rPr lang="en-US" altLang="zh-CN" sz="1800" dirty="0"/>
              <a:t>=</a:t>
            </a:r>
            <a:r>
              <a:rPr lang="en-US" altLang="zh-CN" sz="1800" i="1" dirty="0"/>
              <a:t>R</a:t>
            </a:r>
            <a:r>
              <a:rPr lang="en-US" altLang="zh-CN" sz="1800" baseline="-25000" dirty="0"/>
              <a:t>3</a:t>
            </a:r>
            <a:r>
              <a:rPr lang="en-US" altLang="zh-CN" sz="1800" dirty="0"/>
              <a:t>=</a:t>
            </a:r>
            <a:r>
              <a:rPr lang="en-US" altLang="zh-CN" sz="1800" i="1" dirty="0"/>
              <a:t>R</a:t>
            </a:r>
            <a:r>
              <a:rPr lang="zh-CN" altLang="zh-CN" sz="1800" dirty="0"/>
              <a:t>、</a:t>
            </a:r>
            <a:r>
              <a:rPr lang="en-US" altLang="zh-CN" sz="1800" i="1" dirty="0"/>
              <a:t>C</a:t>
            </a:r>
            <a:r>
              <a:rPr lang="en-US" altLang="zh-CN" sz="1800" baseline="-25000" dirty="0"/>
              <a:t>1</a:t>
            </a:r>
            <a:r>
              <a:rPr lang="en-US" altLang="zh-CN" sz="1800" dirty="0"/>
              <a:t>=</a:t>
            </a:r>
            <a:r>
              <a:rPr lang="en-US" altLang="zh-CN" sz="1800" i="1" dirty="0"/>
              <a:t>C</a:t>
            </a:r>
            <a:r>
              <a:rPr lang="en-US" altLang="zh-CN" sz="1800" baseline="-25000" dirty="0"/>
              <a:t>2</a:t>
            </a:r>
            <a:r>
              <a:rPr lang="en-US" altLang="zh-CN" sz="1800" dirty="0"/>
              <a:t>=</a:t>
            </a:r>
            <a:r>
              <a:rPr lang="en-US" altLang="zh-CN" sz="1800" i="1" dirty="0"/>
              <a:t>C</a:t>
            </a:r>
            <a:r>
              <a:rPr lang="zh-CN" altLang="zh-CN" sz="1800" dirty="0" smtClean="0"/>
              <a:t>，</a:t>
            </a:r>
            <a:r>
              <a:rPr lang="zh-CN" altLang="en-US" sz="1800" dirty="0" smtClean="0"/>
              <a:t>此时其</a:t>
            </a:r>
            <a:r>
              <a:rPr lang="zh-CN" altLang="zh-CN" sz="1800" dirty="0" smtClean="0"/>
              <a:t>中心频率</a:t>
            </a:r>
            <a:r>
              <a:rPr lang="en-US" altLang="zh-CN" sz="1800" i="1" dirty="0" smtClean="0"/>
              <a:t>f</a:t>
            </a:r>
            <a:r>
              <a:rPr lang="en-US" altLang="zh-CN" sz="1800" baseline="-25000" dirty="0" smtClean="0"/>
              <a:t>0</a:t>
            </a:r>
            <a:r>
              <a:rPr lang="zh-CN" altLang="zh-CN" sz="1800" dirty="0"/>
              <a:t>、品质因数</a:t>
            </a:r>
            <a:r>
              <a:rPr lang="en-US" altLang="zh-CN" sz="1800" i="1" dirty="0"/>
              <a:t>Q</a:t>
            </a:r>
            <a:r>
              <a:rPr lang="zh-CN" altLang="zh-CN" sz="1800" dirty="0" smtClean="0"/>
              <a:t>和</a:t>
            </a:r>
            <a:r>
              <a:rPr lang="zh-CN" altLang="en-US" sz="1800" dirty="0" smtClean="0"/>
              <a:t>节</a:t>
            </a:r>
            <a:r>
              <a:rPr lang="zh-CN" altLang="zh-CN" sz="1800" dirty="0" smtClean="0"/>
              <a:t>增益</a:t>
            </a:r>
            <a:r>
              <a:rPr lang="en-US" altLang="zh-CN" sz="1800" i="1" dirty="0" smtClean="0"/>
              <a:t>K</a:t>
            </a:r>
            <a:r>
              <a:rPr lang="en-US" altLang="zh-CN" sz="1800" baseline="-25000" dirty="0" smtClean="0"/>
              <a:t>0</a:t>
            </a:r>
            <a:r>
              <a:rPr lang="zh-CN" altLang="zh-CN" sz="1800" dirty="0" smtClean="0"/>
              <a:t>分别</a:t>
            </a:r>
            <a:r>
              <a:rPr lang="zh-CN" altLang="zh-CN" sz="1800" dirty="0"/>
              <a:t>为</a:t>
            </a:r>
            <a:r>
              <a:rPr lang="zh-CN" altLang="zh-CN" sz="1800" dirty="0" smtClean="0"/>
              <a:t>：</a:t>
            </a:r>
            <a:endParaRPr lang="zh-CN" altLang="zh-CN" sz="1800" dirty="0"/>
          </a:p>
        </p:txBody>
      </p:sp>
      <p:graphicFrame>
        <p:nvGraphicFramePr>
          <p:cNvPr id="8" name="对象 7"/>
          <p:cNvGraphicFramePr>
            <a:graphicFrameLocks noChangeAspect="1"/>
          </p:cNvGraphicFramePr>
          <p:nvPr>
            <p:extLst>
              <p:ext uri="{D42A27DB-BD31-4B8C-83A1-F6EECF244321}">
                <p14:modId xmlns:p14="http://schemas.microsoft.com/office/powerpoint/2010/main" val="3567734459"/>
              </p:ext>
            </p:extLst>
          </p:nvPr>
        </p:nvGraphicFramePr>
        <p:xfrm>
          <a:off x="6641734" y="1122591"/>
          <a:ext cx="4967496" cy="3850114"/>
        </p:xfrm>
        <a:graphic>
          <a:graphicData uri="http://schemas.openxmlformats.org/presentationml/2006/ole">
            <mc:AlternateContent xmlns:mc="http://schemas.openxmlformats.org/markup-compatibility/2006">
              <mc:Choice xmlns:v="urn:schemas-microsoft-com:vml" Requires="v">
                <p:oleObj spid="_x0000_s20519" name="Visio" r:id="rId3" imgW="2820243" imgH="2207029" progId="Visio.Drawing.11">
                  <p:embed/>
                </p:oleObj>
              </mc:Choice>
              <mc:Fallback>
                <p:oleObj name="Visio" r:id="rId3" imgW="2820243" imgH="2207029"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1734" y="1122591"/>
                        <a:ext cx="4967496" cy="3850114"/>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944561553"/>
              </p:ext>
            </p:extLst>
          </p:nvPr>
        </p:nvGraphicFramePr>
        <p:xfrm>
          <a:off x="1309540" y="1354502"/>
          <a:ext cx="4676775" cy="788988"/>
        </p:xfrm>
        <a:graphic>
          <a:graphicData uri="http://schemas.openxmlformats.org/presentationml/2006/ole">
            <mc:AlternateContent xmlns:mc="http://schemas.openxmlformats.org/markup-compatibility/2006">
              <mc:Choice xmlns:v="urn:schemas-microsoft-com:vml" Requires="v">
                <p:oleObj spid="_x0000_s20520" name="Equation" r:id="rId5" imgW="2666880" imgH="444240" progId="Equation.DSMT4">
                  <p:embed/>
                </p:oleObj>
              </mc:Choice>
              <mc:Fallback>
                <p:oleObj name="Equation" r:id="rId5" imgW="2666880" imgH="444240" progId="Equation.DSMT4">
                  <p:embed/>
                  <p:pic>
                    <p:nvPicPr>
                      <p:cNvPr id="0" name="Object 3"/>
                      <p:cNvPicPr>
                        <a:picLocks noChangeAspect="1" noChangeArrowheads="1"/>
                      </p:cNvPicPr>
                      <p:nvPr/>
                    </p:nvPicPr>
                    <p:blipFill>
                      <a:blip r:embed="rId6"/>
                      <a:srcRect/>
                      <a:stretch>
                        <a:fillRect/>
                      </a:stretch>
                    </p:blipFill>
                    <p:spPr bwMode="auto">
                      <a:xfrm>
                        <a:off x="1309540" y="1354502"/>
                        <a:ext cx="4676775" cy="788988"/>
                      </a:xfrm>
                      <a:prstGeom prst="rect">
                        <a:avLst/>
                      </a:prstGeom>
                      <a:noFill/>
                    </p:spPr>
                  </p:pic>
                </p:oleObj>
              </mc:Fallback>
            </mc:AlternateContent>
          </a:graphicData>
        </a:graphic>
      </p:graphicFrame>
      <p:sp>
        <p:nvSpPr>
          <p:cNvPr id="11" name="文本框 10"/>
          <p:cNvSpPr txBox="1"/>
          <p:nvPr/>
        </p:nvSpPr>
        <p:spPr>
          <a:xfrm>
            <a:off x="449942" y="2111997"/>
            <a:ext cx="7815943" cy="3139321"/>
          </a:xfrm>
          <a:prstGeom prst="rect">
            <a:avLst/>
          </a:prstGeom>
          <a:noFill/>
        </p:spPr>
        <p:txBody>
          <a:bodyPr wrap="square" rtlCol="0">
            <a:spAutoFit/>
          </a:bodyPr>
          <a:lstStyle/>
          <a:p>
            <a:pPr indent="457200">
              <a:lnSpc>
                <a:spcPct val="150000"/>
              </a:lnSpc>
            </a:pPr>
            <a:r>
              <a:rPr lang="zh-CN" altLang="en-US" sz="1800" dirty="0" smtClean="0"/>
              <a:t>两个滤波节级联后的带通滤波器的通带增益是：</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2400" dirty="0"/>
          </a:p>
          <a:p>
            <a:pPr indent="457200">
              <a:lnSpc>
                <a:spcPct val="150000"/>
              </a:lnSpc>
            </a:pPr>
            <a:r>
              <a:rPr lang="zh-CN" altLang="en-US" sz="1800" dirty="0" smtClean="0"/>
              <a:t>将前面的结果代入，得到</a:t>
            </a:r>
            <a:r>
              <a:rPr lang="en-US" altLang="zh-CN" sz="1800" dirty="0" smtClean="0"/>
              <a:t>K≈0.5*K</a:t>
            </a:r>
            <a:r>
              <a:rPr lang="en-US" altLang="zh-CN" sz="1800" baseline="-25000" dirty="0" smtClean="0"/>
              <a:t>01</a:t>
            </a:r>
            <a:r>
              <a:rPr lang="en-US" altLang="zh-CN" sz="1800" dirty="0" smtClean="0"/>
              <a:t>*K</a:t>
            </a:r>
            <a:r>
              <a:rPr lang="en-US" altLang="zh-CN" sz="1800" baseline="-25000" dirty="0" smtClean="0"/>
              <a:t>02</a:t>
            </a:r>
            <a:r>
              <a:rPr lang="zh-CN" altLang="en-US" sz="1800" dirty="0" smtClean="0"/>
              <a:t>，因此若希望最后的通带增益等于</a:t>
            </a:r>
            <a:r>
              <a:rPr lang="en-US" altLang="zh-CN" sz="1800" dirty="0" smtClean="0"/>
              <a:t>1</a:t>
            </a:r>
            <a:r>
              <a:rPr lang="zh-CN" altLang="en-US" sz="1800" dirty="0" smtClean="0"/>
              <a:t>，这两个带通节的节增益的乘积应该等于</a:t>
            </a:r>
            <a:r>
              <a:rPr lang="en-US" altLang="zh-CN" sz="1800" dirty="0" smtClean="0"/>
              <a:t>2</a:t>
            </a:r>
            <a:r>
              <a:rPr lang="zh-CN" altLang="en-US" sz="1800" dirty="0" smtClean="0"/>
              <a:t>。如果两个滤波节的节增益相同，则它们应该等于</a:t>
            </a:r>
            <a:r>
              <a:rPr lang="en-US" altLang="zh-CN" sz="1800" dirty="0" smtClean="0"/>
              <a:t>1.41</a:t>
            </a:r>
            <a:r>
              <a:rPr lang="zh-CN" altLang="en-US" sz="1800" dirty="0" smtClean="0"/>
              <a:t>。据此可计算元件值。</a:t>
            </a:r>
            <a:endParaRPr lang="en-US" altLang="zh-CN" sz="1800" dirty="0" smtClean="0"/>
          </a:p>
        </p:txBody>
      </p:sp>
      <p:graphicFrame>
        <p:nvGraphicFramePr>
          <p:cNvPr id="13" name="对象 12"/>
          <p:cNvGraphicFramePr>
            <a:graphicFrameLocks noChangeAspect="1"/>
          </p:cNvGraphicFramePr>
          <p:nvPr>
            <p:extLst>
              <p:ext uri="{D42A27DB-BD31-4B8C-83A1-F6EECF244321}">
                <p14:modId xmlns:p14="http://schemas.microsoft.com/office/powerpoint/2010/main" val="1467993257"/>
              </p:ext>
            </p:extLst>
          </p:nvPr>
        </p:nvGraphicFramePr>
        <p:xfrm>
          <a:off x="2100792" y="2709177"/>
          <a:ext cx="2736850" cy="1184275"/>
        </p:xfrm>
        <a:graphic>
          <a:graphicData uri="http://schemas.openxmlformats.org/presentationml/2006/ole">
            <mc:AlternateContent xmlns:mc="http://schemas.openxmlformats.org/markup-compatibility/2006">
              <mc:Choice xmlns:v="urn:schemas-microsoft-com:vml" Requires="v">
                <p:oleObj spid="_x0000_s20521" name="Equation" r:id="rId7" imgW="1523880" imgH="647640" progId="Equation.DSMT4">
                  <p:embed/>
                </p:oleObj>
              </mc:Choice>
              <mc:Fallback>
                <p:oleObj name="Equation" r:id="rId7" imgW="1523880" imgH="647640" progId="Equation.DSMT4">
                  <p:embed/>
                  <p:pic>
                    <p:nvPicPr>
                      <p:cNvPr id="0" name="Object 7"/>
                      <p:cNvPicPr>
                        <a:picLocks noChangeAspect="1" noChangeArrowheads="1"/>
                      </p:cNvPicPr>
                      <p:nvPr/>
                    </p:nvPicPr>
                    <p:blipFill>
                      <a:blip r:embed="rId8"/>
                      <a:srcRect/>
                      <a:stretch>
                        <a:fillRect/>
                      </a:stretch>
                    </p:blipFill>
                    <p:spPr bwMode="auto">
                      <a:xfrm>
                        <a:off x="2100792" y="2709177"/>
                        <a:ext cx="2736850" cy="1184275"/>
                      </a:xfrm>
                      <a:prstGeom prst="rect">
                        <a:avLst/>
                      </a:prstGeom>
                      <a:noFill/>
                    </p:spPr>
                  </p:pic>
                </p:oleObj>
              </mc:Fallback>
            </mc:AlternateContent>
          </a:graphicData>
        </a:graphic>
      </p:graphicFrame>
      <p:sp>
        <p:nvSpPr>
          <p:cNvPr id="12" name="文本框 11"/>
          <p:cNvSpPr txBox="1"/>
          <p:nvPr/>
        </p:nvSpPr>
        <p:spPr>
          <a:xfrm>
            <a:off x="449943" y="5182235"/>
            <a:ext cx="7815942" cy="923330"/>
          </a:xfrm>
          <a:prstGeom prst="rect">
            <a:avLst/>
          </a:prstGeom>
          <a:noFill/>
        </p:spPr>
        <p:txBody>
          <a:bodyPr wrap="square" rtlCol="0">
            <a:spAutoFit/>
          </a:bodyPr>
          <a:lstStyle/>
          <a:p>
            <a:pPr indent="457200">
              <a:lnSpc>
                <a:spcPct val="150000"/>
              </a:lnSpc>
            </a:pPr>
            <a:r>
              <a:rPr lang="zh-CN" altLang="en-US" sz="1800" dirty="0" smtClean="0"/>
              <a:t>以</a:t>
            </a:r>
            <a:r>
              <a:rPr lang="en-US" altLang="zh-CN" sz="1800" dirty="0" smtClean="0"/>
              <a:t>f</a:t>
            </a:r>
            <a:r>
              <a:rPr lang="en-US" altLang="zh-CN" sz="1800" baseline="-25000" dirty="0" smtClean="0"/>
              <a:t>0</a:t>
            </a:r>
            <a:r>
              <a:rPr lang="en-US" altLang="zh-CN" sz="1800" dirty="0" smtClean="0"/>
              <a:t>=11129Hz</a:t>
            </a:r>
            <a:r>
              <a:rPr lang="zh-CN" altLang="en-US" sz="1800" dirty="0" smtClean="0"/>
              <a:t>、</a:t>
            </a:r>
            <a:r>
              <a:rPr lang="en-US" altLang="zh-CN" sz="1800" dirty="0" smtClean="0"/>
              <a:t>Q=79</a:t>
            </a:r>
            <a:r>
              <a:rPr lang="zh-CN" altLang="en-US" sz="1800" dirty="0" smtClean="0"/>
              <a:t>的滤波节为例，令</a:t>
            </a:r>
            <a:r>
              <a:rPr lang="en-US" altLang="zh-CN" sz="1800" dirty="0" smtClean="0"/>
              <a:t>K</a:t>
            </a:r>
            <a:r>
              <a:rPr lang="en-US" altLang="zh-CN" sz="1800" baseline="-25000" dirty="0" smtClean="0"/>
              <a:t>0</a:t>
            </a:r>
            <a:r>
              <a:rPr lang="en-US" altLang="zh-CN" sz="1800" dirty="0" smtClean="0"/>
              <a:t>=1.41</a:t>
            </a:r>
            <a:r>
              <a:rPr lang="zh-CN" altLang="en-US" sz="1800" dirty="0" smtClean="0"/>
              <a:t>，取</a:t>
            </a:r>
            <a:r>
              <a:rPr lang="en-US" altLang="zh-CN" sz="1800" i="1" dirty="0" smtClean="0"/>
              <a:t>C</a:t>
            </a:r>
            <a:r>
              <a:rPr lang="en-US" altLang="zh-CN" sz="1800" baseline="-25000" dirty="0" smtClean="0"/>
              <a:t>1</a:t>
            </a:r>
            <a:r>
              <a:rPr lang="en-US" altLang="zh-CN" sz="1800" dirty="0" smtClean="0"/>
              <a:t>=</a:t>
            </a:r>
            <a:r>
              <a:rPr lang="en-US" altLang="zh-CN" sz="1800" i="1" dirty="0" smtClean="0"/>
              <a:t>C</a:t>
            </a:r>
            <a:r>
              <a:rPr lang="en-US" altLang="zh-CN" sz="1800" baseline="-25000" dirty="0"/>
              <a:t>2</a:t>
            </a:r>
            <a:r>
              <a:rPr lang="en-US" altLang="zh-CN" sz="1800" dirty="0" smtClean="0"/>
              <a:t>=10nF</a:t>
            </a:r>
            <a:r>
              <a:rPr lang="zh-CN" altLang="en-US" sz="1800" dirty="0" smtClean="0"/>
              <a:t>，可以计算得到</a:t>
            </a:r>
            <a:r>
              <a:rPr lang="en-US" altLang="zh-CN" sz="1800" i="1" dirty="0" smtClean="0"/>
              <a:t>R</a:t>
            </a:r>
            <a:r>
              <a:rPr lang="en-US" altLang="zh-CN" sz="1800" baseline="-25000" dirty="0"/>
              <a:t>2</a:t>
            </a:r>
            <a:r>
              <a:rPr lang="en-US" altLang="zh-CN" sz="1800" dirty="0" smtClean="0"/>
              <a:t>=</a:t>
            </a:r>
            <a:r>
              <a:rPr lang="en-US" altLang="zh-CN" sz="1800" i="1" dirty="0" smtClean="0"/>
              <a:t>R</a:t>
            </a:r>
            <a:r>
              <a:rPr lang="en-US" altLang="zh-CN" sz="1800" baseline="-25000" dirty="0"/>
              <a:t>3</a:t>
            </a:r>
            <a:r>
              <a:rPr lang="en-US" altLang="zh-CN" sz="1800" dirty="0" smtClean="0"/>
              <a:t>=920</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a:t>
            </a:r>
            <a:r>
              <a:rPr lang="en-US" altLang="zh-CN" sz="1800" i="1" dirty="0" smtClean="0">
                <a:latin typeface="Arial" panose="020B0604020202020204" pitchFamily="34" charset="0"/>
                <a:cs typeface="Arial" panose="020B0604020202020204" pitchFamily="34" charset="0"/>
              </a:rPr>
              <a:t>R</a:t>
            </a:r>
            <a:r>
              <a:rPr lang="en-US" altLang="zh-CN" sz="1800" baseline="-25000" dirty="0" smtClean="0">
                <a:latin typeface="Arial" panose="020B0604020202020204" pitchFamily="34" charset="0"/>
                <a:cs typeface="Arial" panose="020B0604020202020204" pitchFamily="34" charset="0"/>
              </a:rPr>
              <a:t>1</a:t>
            </a:r>
            <a:r>
              <a:rPr lang="en-US" altLang="zh-CN" sz="1800" dirty="0" smtClean="0">
                <a:latin typeface="Arial" panose="020B0604020202020204" pitchFamily="34" charset="0"/>
                <a:cs typeface="Arial" panose="020B0604020202020204" pitchFamily="34" charset="0"/>
              </a:rPr>
              <a:t>=113k</a:t>
            </a:r>
            <a:r>
              <a:rPr lang="el-GR" altLang="zh-CN" sz="1800" dirty="0" smtClean="0">
                <a:latin typeface="Arial" panose="020B0604020202020204" pitchFamily="34" charset="0"/>
                <a:cs typeface="Arial" panose="020B0604020202020204" pitchFamily="34" charset="0"/>
              </a:rPr>
              <a:t>Ω</a:t>
            </a:r>
            <a:r>
              <a:rPr lang="zh-CN" altLang="en-US" sz="1800" dirty="0" smtClean="0">
                <a:latin typeface="Times New Roman" panose="02020603050405020304" pitchFamily="18" charset="0"/>
                <a:cs typeface="Times New Roman" panose="02020603050405020304" pitchFamily="18" charset="0"/>
              </a:rPr>
              <a:t>，</a:t>
            </a:r>
            <a:r>
              <a:rPr lang="en-US" altLang="zh-CN" sz="1800" i="1" dirty="0">
                <a:latin typeface="Arial" panose="020B0604020202020204" pitchFamily="34" charset="0"/>
                <a:cs typeface="Arial" panose="020B0604020202020204" pitchFamily="34" charset="0"/>
              </a:rPr>
              <a:t> </a:t>
            </a:r>
            <a:r>
              <a:rPr lang="en-US" altLang="zh-CN" sz="1800" i="1" dirty="0" smtClean="0">
                <a:latin typeface="Arial" panose="020B0604020202020204" pitchFamily="34" charset="0"/>
                <a:cs typeface="Arial" panose="020B0604020202020204" pitchFamily="34" charset="0"/>
              </a:rPr>
              <a:t>R</a:t>
            </a:r>
            <a:r>
              <a:rPr lang="en-US" altLang="zh-CN" sz="1800" baseline="-25000" dirty="0" smtClean="0">
                <a:latin typeface="Arial" panose="020B0604020202020204" pitchFamily="34" charset="0"/>
                <a:cs typeface="Arial" panose="020B0604020202020204" pitchFamily="34" charset="0"/>
              </a:rPr>
              <a:t>3</a:t>
            </a:r>
            <a:r>
              <a:rPr lang="en-US" altLang="zh-CN" sz="1800" dirty="0" smtClean="0">
                <a:latin typeface="Arial" panose="020B0604020202020204" pitchFamily="34" charset="0"/>
                <a:cs typeface="Arial" panose="020B0604020202020204" pitchFamily="34" charset="0"/>
              </a:rPr>
              <a:t>=15k</a:t>
            </a:r>
            <a:r>
              <a:rPr lang="el-GR" altLang="zh-CN" sz="1800" dirty="0">
                <a:latin typeface="Arial" panose="020B0604020202020204" pitchFamily="34" charset="0"/>
                <a:cs typeface="Arial" panose="020B0604020202020204" pitchFamily="34" charset="0"/>
              </a:rPr>
              <a:t>Ω</a:t>
            </a:r>
            <a:r>
              <a:rPr lang="zh-CN" altLang="en-US" sz="1800" dirty="0" smtClean="0">
                <a:latin typeface="Times New Roman" panose="02020603050405020304" pitchFamily="18" charset="0"/>
                <a:cs typeface="Times New Roman" panose="02020603050405020304" pitchFamily="18" charset="0"/>
              </a:rPr>
              <a:t>，</a:t>
            </a:r>
            <a:r>
              <a:rPr lang="en-US" altLang="zh-CN" sz="1800" i="1" dirty="0">
                <a:latin typeface="Arial" panose="020B0604020202020204" pitchFamily="34" charset="0"/>
                <a:cs typeface="Arial" panose="020B0604020202020204" pitchFamily="34" charset="0"/>
              </a:rPr>
              <a:t> </a:t>
            </a:r>
            <a:r>
              <a:rPr lang="en-US" altLang="zh-CN" sz="1800" i="1" dirty="0" smtClean="0">
                <a:latin typeface="Arial" panose="020B0604020202020204" pitchFamily="34" charset="0"/>
                <a:cs typeface="Arial" panose="020B0604020202020204" pitchFamily="34" charset="0"/>
              </a:rPr>
              <a:t>R</a:t>
            </a:r>
            <a:r>
              <a:rPr lang="en-US" altLang="zh-CN" sz="1800" baseline="-25000" dirty="0" smtClean="0">
                <a:latin typeface="Arial" panose="020B0604020202020204" pitchFamily="34" charset="0"/>
                <a:cs typeface="Arial" panose="020B0604020202020204" pitchFamily="34" charset="0"/>
              </a:rPr>
              <a:t>4</a:t>
            </a:r>
            <a:r>
              <a:rPr lang="en-US" altLang="zh-CN" sz="1800" dirty="0" smtClean="0">
                <a:latin typeface="Arial" panose="020B0604020202020204" pitchFamily="34" charset="0"/>
                <a:cs typeface="Arial" panose="020B0604020202020204" pitchFamily="34" charset="0"/>
              </a:rPr>
              <a:t>=6.2k</a:t>
            </a:r>
            <a:r>
              <a:rPr lang="el-GR" altLang="zh-CN" sz="1800" dirty="0" smtClean="0">
                <a:latin typeface="Arial" panose="020B0604020202020204" pitchFamily="34" charset="0"/>
                <a:cs typeface="Arial" panose="020B0604020202020204" pitchFamily="34" charset="0"/>
              </a:rPr>
              <a:t>Ω</a:t>
            </a:r>
            <a:endParaRPr lang="zh-CN" altLang="zh-CN" sz="1800" dirty="0"/>
          </a:p>
        </p:txBody>
      </p:sp>
    </p:spTree>
    <p:extLst>
      <p:ext uri="{BB962C8B-B14F-4D97-AF65-F5344CB8AC3E}">
        <p14:creationId xmlns:p14="http://schemas.microsoft.com/office/powerpoint/2010/main" val="864883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5" name="文本框 4"/>
          <p:cNvSpPr txBox="1"/>
          <p:nvPr/>
        </p:nvSpPr>
        <p:spPr>
          <a:xfrm>
            <a:off x="478972" y="505673"/>
            <a:ext cx="11212920" cy="507831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分离模拟信号的低通滤波器</a:t>
            </a:r>
            <a:endParaRPr lang="zh-CN" altLang="en-US" sz="1800" dirty="0"/>
          </a:p>
          <a:p>
            <a:pPr indent="457200">
              <a:lnSpc>
                <a:spcPct val="150000"/>
              </a:lnSpc>
            </a:pPr>
            <a:r>
              <a:rPr lang="zh-CN" altLang="en-US" sz="1800" dirty="0" smtClean="0"/>
              <a:t>模拟信号的频率范围为</a:t>
            </a:r>
            <a:r>
              <a:rPr lang="en-US" altLang="zh-CN" sz="1800" dirty="0" smtClean="0"/>
              <a:t>100Hz~10kHz</a:t>
            </a:r>
            <a:r>
              <a:rPr lang="zh-CN" altLang="en-US" sz="1800" dirty="0" smtClean="0"/>
              <a:t>。无论在发射端还是接收端，都应该有一个低通滤波器来限制其频带。发射端的目的是避免杂散频率对数字信号的干扰，接收端是分离模拟信号与数字信号。</a:t>
            </a:r>
            <a:endParaRPr lang="en-US" altLang="zh-CN" sz="1800" dirty="0" smtClean="0"/>
          </a:p>
          <a:p>
            <a:pPr indent="457200">
              <a:lnSpc>
                <a:spcPct val="150000"/>
              </a:lnSpc>
            </a:pPr>
            <a:r>
              <a:rPr lang="zh-CN" altLang="en-US" sz="1800" dirty="0" smtClean="0"/>
              <a:t>按照前面关于数字信号的讨论结果，这个低通滤波器的通带截止频率是</a:t>
            </a:r>
            <a:r>
              <a:rPr lang="en-US" altLang="zh-CN" sz="1800" dirty="0" smtClean="0"/>
              <a:t>10kHz</a:t>
            </a:r>
            <a:r>
              <a:rPr lang="zh-CN" altLang="en-US" sz="1800" dirty="0" smtClean="0"/>
              <a:t>，阻带起始频率应该是数字信号通带的下边缘，约</a:t>
            </a:r>
            <a:r>
              <a:rPr lang="en-US" altLang="zh-CN" sz="1800" dirty="0" smtClean="0"/>
              <a:t>11kHz</a:t>
            </a:r>
            <a:r>
              <a:rPr lang="zh-CN" altLang="en-US" sz="1800" dirty="0" smtClean="0"/>
              <a:t>。这是一个非常陡峭的低通滤波器。若将阻带的衰减定为</a:t>
            </a:r>
            <a:r>
              <a:rPr lang="en-US" altLang="zh-CN" sz="1800" dirty="0" smtClean="0"/>
              <a:t>40dB</a:t>
            </a:r>
            <a:r>
              <a:rPr lang="zh-CN" altLang="en-US" sz="1800" dirty="0" smtClean="0"/>
              <a:t>，通过计算可知，它将是一个</a:t>
            </a:r>
            <a:r>
              <a:rPr lang="en-US" altLang="zh-CN" sz="1800" dirty="0" smtClean="0"/>
              <a:t>49</a:t>
            </a:r>
            <a:r>
              <a:rPr lang="zh-CN" altLang="en-US" sz="1800" dirty="0" smtClean="0"/>
              <a:t>阶的巴特沃斯滤波器，或者是一个</a:t>
            </a:r>
            <a:r>
              <a:rPr lang="en-US" altLang="zh-CN" sz="1800" dirty="0" smtClean="0"/>
              <a:t>12</a:t>
            </a:r>
            <a:r>
              <a:rPr lang="zh-CN" altLang="en-US" sz="1800" dirty="0" smtClean="0"/>
              <a:t>阶的切比雪夫滤波器（带内波动</a:t>
            </a:r>
            <a:r>
              <a:rPr lang="en-US" altLang="zh-CN" sz="1800" dirty="0" smtClean="0"/>
              <a:t>0.1dB</a:t>
            </a:r>
            <a:r>
              <a:rPr lang="zh-CN" altLang="en-US" sz="1800" dirty="0" smtClean="0"/>
              <a:t>）。这显然是难以实现的，所以</a:t>
            </a:r>
            <a:r>
              <a:rPr lang="zh-CN" altLang="en-US" sz="1800" dirty="0"/>
              <a:t>这个滤波器必须采用更加陡峭的椭圆</a:t>
            </a:r>
            <a:r>
              <a:rPr lang="zh-CN" altLang="en-US" sz="1800" dirty="0" smtClean="0"/>
              <a:t>滤波器。</a:t>
            </a:r>
            <a:endParaRPr lang="en-US" altLang="zh-CN" sz="1800" dirty="0" smtClean="0"/>
          </a:p>
          <a:p>
            <a:pPr indent="457200">
              <a:lnSpc>
                <a:spcPct val="150000"/>
              </a:lnSpc>
            </a:pPr>
            <a:r>
              <a:rPr lang="zh-CN" altLang="en-US" sz="1800" dirty="0" smtClean="0"/>
              <a:t>用计算机辅助设计软件计算后，采用通带截止频率</a:t>
            </a:r>
            <a:r>
              <a:rPr lang="en-US" altLang="zh-CN" sz="1800" dirty="0" smtClean="0"/>
              <a:t>10kHz</a:t>
            </a:r>
            <a:r>
              <a:rPr lang="zh-CN" altLang="en-US" sz="1800" dirty="0" smtClean="0"/>
              <a:t>、通带纹波</a:t>
            </a:r>
            <a:r>
              <a:rPr lang="en-US" altLang="zh-CN" sz="1800" dirty="0" smtClean="0"/>
              <a:t>1dB</a:t>
            </a:r>
            <a:r>
              <a:rPr lang="zh-CN" altLang="en-US" sz="1800" dirty="0" smtClean="0"/>
              <a:t>、阻带起始频率</a:t>
            </a:r>
            <a:r>
              <a:rPr lang="en-US" altLang="zh-CN" sz="1800" dirty="0" smtClean="0"/>
              <a:t>11.1kHz</a:t>
            </a:r>
            <a:r>
              <a:rPr lang="zh-CN" altLang="en-US" sz="1800" dirty="0" smtClean="0"/>
              <a:t>、阻带衰减</a:t>
            </a:r>
            <a:r>
              <a:rPr lang="en-US" altLang="zh-CN" sz="1800" dirty="0" smtClean="0"/>
              <a:t>40dB</a:t>
            </a:r>
            <a:r>
              <a:rPr lang="zh-CN" altLang="en-US" sz="1800" dirty="0" smtClean="0"/>
              <a:t>的</a:t>
            </a:r>
            <a:r>
              <a:rPr lang="en-US" altLang="zh-CN" sz="1800" dirty="0" smtClean="0"/>
              <a:t>6</a:t>
            </a:r>
            <a:r>
              <a:rPr lang="zh-CN" altLang="en-US" sz="1800" dirty="0" smtClean="0"/>
              <a:t>阶椭圆滤波器，</a:t>
            </a:r>
            <a:r>
              <a:rPr lang="en-US" altLang="zh-CN" sz="1800" dirty="0" smtClean="0"/>
              <a:t>3</a:t>
            </a:r>
            <a:r>
              <a:rPr lang="zh-CN" altLang="en-US" sz="1800" dirty="0" smtClean="0"/>
              <a:t>个滤波节的极点频率、零点频率以及</a:t>
            </a:r>
            <a:r>
              <a:rPr lang="en-US" altLang="zh-CN" sz="1800" dirty="0" smtClean="0"/>
              <a:t>Q</a:t>
            </a:r>
            <a:r>
              <a:rPr lang="zh-CN" altLang="en-US" sz="1800" dirty="0" smtClean="0"/>
              <a:t>值分别为：</a:t>
            </a:r>
            <a:endParaRPr lang="en-US" altLang="zh-CN" sz="1800" dirty="0" smtClean="0"/>
          </a:p>
          <a:p>
            <a:pPr indent="457200">
              <a:lnSpc>
                <a:spcPct val="150000"/>
              </a:lnSpc>
            </a:pPr>
            <a:r>
              <a:rPr lang="en-US" altLang="zh-CN" sz="1800" dirty="0" smtClean="0"/>
              <a:t>f</a:t>
            </a:r>
            <a:r>
              <a:rPr lang="en-US" altLang="zh-CN" sz="1800" baseline="-25000" dirty="0" smtClean="0"/>
              <a:t>p1</a:t>
            </a:r>
            <a:r>
              <a:rPr lang="en-US" altLang="zh-CN" sz="1800" dirty="0" smtClean="0"/>
              <a:t>=9996Hz</a:t>
            </a:r>
            <a:r>
              <a:rPr lang="zh-CN" altLang="en-US" sz="1800" dirty="0" smtClean="0"/>
              <a:t>，</a:t>
            </a:r>
            <a:r>
              <a:rPr lang="en-US" altLang="zh-CN" sz="1800" dirty="0" smtClean="0"/>
              <a:t>f</a:t>
            </a:r>
            <a:r>
              <a:rPr lang="en-US" altLang="zh-CN" sz="1800" baseline="-25000" dirty="0" smtClean="0"/>
              <a:t>n1</a:t>
            </a:r>
            <a:r>
              <a:rPr lang="en-US" altLang="zh-CN" sz="1800" dirty="0" smtClean="0"/>
              <a:t>=11204Hz</a:t>
            </a:r>
            <a:r>
              <a:rPr lang="zh-CN" altLang="en-US" sz="1800" dirty="0" smtClean="0"/>
              <a:t>，</a:t>
            </a:r>
            <a:r>
              <a:rPr lang="en-US" altLang="zh-CN" sz="1800" dirty="0" smtClean="0"/>
              <a:t>Q</a:t>
            </a:r>
            <a:r>
              <a:rPr lang="en-US" altLang="zh-CN" sz="1800" baseline="-25000" dirty="0" smtClean="0"/>
              <a:t>1</a:t>
            </a:r>
            <a:r>
              <a:rPr lang="en-US" altLang="zh-CN" sz="1800" dirty="0" smtClean="0"/>
              <a:t>=20.37</a:t>
            </a:r>
            <a:r>
              <a:rPr lang="zh-CN" altLang="en-US" sz="1800" dirty="0" smtClean="0"/>
              <a:t>；</a:t>
            </a:r>
            <a:r>
              <a:rPr lang="en-US" altLang="zh-CN" sz="1800" dirty="0" smtClean="0"/>
              <a:t>f</a:t>
            </a:r>
            <a:r>
              <a:rPr lang="en-US" altLang="zh-CN" sz="1800" baseline="-25000" dirty="0" smtClean="0"/>
              <a:t>p2</a:t>
            </a:r>
            <a:r>
              <a:rPr lang="en-US" altLang="zh-CN" sz="1800" dirty="0" smtClean="0"/>
              <a:t>=8800Hz</a:t>
            </a:r>
            <a:r>
              <a:rPr lang="zh-CN" altLang="en-US" sz="1800" dirty="0" smtClean="0"/>
              <a:t>，</a:t>
            </a:r>
            <a:r>
              <a:rPr lang="en-US" altLang="zh-CN" sz="1800" dirty="0" smtClean="0"/>
              <a:t>f</a:t>
            </a:r>
            <a:r>
              <a:rPr lang="en-US" altLang="zh-CN" sz="1800" baseline="-25000" dirty="0" smtClean="0"/>
              <a:t>n2</a:t>
            </a:r>
            <a:r>
              <a:rPr lang="en-US" altLang="zh-CN" sz="1800" dirty="0" smtClean="0"/>
              <a:t>=13192Hz</a:t>
            </a:r>
            <a:r>
              <a:rPr lang="zh-CN" altLang="en-US" sz="1800" dirty="0" smtClean="0"/>
              <a:t>，</a:t>
            </a:r>
            <a:r>
              <a:rPr lang="en-US" altLang="zh-CN" sz="1800" dirty="0" smtClean="0"/>
              <a:t>Q</a:t>
            </a:r>
            <a:r>
              <a:rPr lang="en-US" altLang="zh-CN" sz="1800" baseline="-25000" dirty="0" smtClean="0"/>
              <a:t>2</a:t>
            </a:r>
            <a:r>
              <a:rPr lang="en-US" altLang="zh-CN" sz="1800" dirty="0" smtClean="0"/>
              <a:t>=3.66</a:t>
            </a:r>
            <a:r>
              <a:rPr lang="zh-CN" altLang="en-US" sz="1800" dirty="0" smtClean="0"/>
              <a:t>；</a:t>
            </a:r>
            <a:r>
              <a:rPr lang="en-US" altLang="zh-CN" sz="1800" dirty="0" smtClean="0"/>
              <a:t>f</a:t>
            </a:r>
            <a:r>
              <a:rPr lang="en-US" altLang="zh-CN" sz="1800" baseline="-25000" dirty="0" smtClean="0"/>
              <a:t>p3</a:t>
            </a:r>
            <a:r>
              <a:rPr lang="en-US" altLang="zh-CN" sz="1800" dirty="0" smtClean="0"/>
              <a:t>=5123Hz</a:t>
            </a:r>
            <a:r>
              <a:rPr lang="zh-CN" altLang="en-US" sz="1800" dirty="0" smtClean="0"/>
              <a:t>，</a:t>
            </a:r>
            <a:r>
              <a:rPr lang="en-US" altLang="zh-CN" sz="1800" dirty="0" smtClean="0"/>
              <a:t>f</a:t>
            </a:r>
            <a:r>
              <a:rPr lang="en-US" altLang="zh-CN" sz="1800" baseline="-25000" dirty="0" smtClean="0"/>
              <a:t>n3</a:t>
            </a:r>
            <a:r>
              <a:rPr lang="en-US" altLang="zh-CN" sz="1800" dirty="0" smtClean="0"/>
              <a:t>=30064Hz</a:t>
            </a:r>
            <a:r>
              <a:rPr lang="zh-CN" altLang="en-US" sz="1800" dirty="0" smtClean="0"/>
              <a:t>，</a:t>
            </a:r>
            <a:r>
              <a:rPr lang="en-US" altLang="zh-CN" sz="1800" dirty="0" smtClean="0"/>
              <a:t>Q</a:t>
            </a:r>
            <a:r>
              <a:rPr lang="en-US" altLang="zh-CN" sz="1800" baseline="-25000" dirty="0" smtClean="0"/>
              <a:t>3</a:t>
            </a:r>
            <a:r>
              <a:rPr lang="en-US" altLang="zh-CN" sz="1800" dirty="0" smtClean="0"/>
              <a:t>=0.8178</a:t>
            </a:r>
            <a:r>
              <a:rPr lang="zh-CN" altLang="en-US" sz="1800" dirty="0" smtClean="0"/>
              <a:t>。</a:t>
            </a:r>
            <a:endParaRPr lang="en-US" altLang="zh-CN" sz="1800" dirty="0" smtClean="0"/>
          </a:p>
          <a:p>
            <a:pPr indent="457200">
              <a:lnSpc>
                <a:spcPct val="150000"/>
              </a:lnSpc>
            </a:pPr>
            <a:r>
              <a:rPr lang="zh-CN" altLang="en-US" sz="1800" dirty="0" smtClean="0"/>
              <a:t>这个</a:t>
            </a:r>
            <a:r>
              <a:rPr lang="zh-CN" altLang="en-US" sz="1800" dirty="0"/>
              <a:t>滤波器的一个零</a:t>
            </a:r>
            <a:r>
              <a:rPr lang="zh-CN" altLang="en-US" sz="1800" dirty="0" smtClean="0"/>
              <a:t>点</a:t>
            </a:r>
            <a:r>
              <a:rPr lang="zh-CN" altLang="en-US" sz="1800" dirty="0"/>
              <a:t>正好是</a:t>
            </a:r>
            <a:r>
              <a:rPr lang="zh-CN" altLang="en-US" sz="1800" dirty="0" smtClean="0"/>
              <a:t>数字副载频（</a:t>
            </a:r>
            <a:r>
              <a:rPr lang="en-US" altLang="zh-CN" sz="1800" dirty="0" smtClean="0"/>
              <a:t>11200Hz</a:t>
            </a:r>
            <a:r>
              <a:rPr lang="zh-CN" altLang="en-US" sz="1800" dirty="0" smtClean="0"/>
              <a:t>），可以将两者的相互影响降到最低。</a:t>
            </a:r>
            <a:endParaRPr lang="en-US" altLang="zh-CN" sz="1800" dirty="0" smtClean="0"/>
          </a:p>
        </p:txBody>
      </p:sp>
    </p:spTree>
    <p:extLst>
      <p:ext uri="{BB962C8B-B14F-4D97-AF65-F5344CB8AC3E}">
        <p14:creationId xmlns:p14="http://schemas.microsoft.com/office/powerpoint/2010/main" val="1725215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9" name="文本框 8"/>
          <p:cNvSpPr txBox="1"/>
          <p:nvPr/>
        </p:nvSpPr>
        <p:spPr>
          <a:xfrm>
            <a:off x="309996" y="463491"/>
            <a:ext cx="6305860" cy="2816156"/>
          </a:xfrm>
          <a:prstGeom prst="rect">
            <a:avLst/>
          </a:prstGeom>
          <a:noFill/>
        </p:spPr>
        <p:txBody>
          <a:bodyPr wrap="square" rtlCol="0">
            <a:spAutoFit/>
          </a:bodyPr>
          <a:lstStyle/>
          <a:p>
            <a:pPr indent="457200">
              <a:lnSpc>
                <a:spcPct val="150000"/>
              </a:lnSpc>
            </a:pPr>
            <a:r>
              <a:rPr lang="zh-CN" altLang="en-US" sz="1800" dirty="0"/>
              <a:t>右</a:t>
            </a:r>
            <a:r>
              <a:rPr lang="zh-CN" altLang="en-US" sz="1800" dirty="0" smtClean="0"/>
              <a:t>图为二阶椭圆滤波节的电路。该电路的参数如下：</a:t>
            </a:r>
            <a:endParaRPr lang="en-US" altLang="zh-CN" sz="1800" dirty="0" smtClean="0"/>
          </a:p>
          <a:p>
            <a:pPr indent="457200">
              <a:lnSpc>
                <a:spcPct val="150000"/>
              </a:lnSpc>
            </a:pPr>
            <a:endParaRPr lang="en-US" altLang="zh-CN" sz="800" dirty="0" smtClean="0"/>
          </a:p>
          <a:p>
            <a:pPr indent="457200">
              <a:lnSpc>
                <a:spcPct val="150000"/>
              </a:lnSpc>
            </a:pPr>
            <a:r>
              <a:rPr lang="zh-CN" altLang="en-US" sz="1800" dirty="0" smtClean="0"/>
              <a:t>零点频率</a:t>
            </a:r>
            <a:endParaRPr lang="en-US" altLang="zh-CN" sz="1800" dirty="0" smtClean="0"/>
          </a:p>
          <a:p>
            <a:pPr indent="457200">
              <a:lnSpc>
                <a:spcPct val="150000"/>
              </a:lnSpc>
            </a:pPr>
            <a:endParaRPr lang="en-US" altLang="zh-CN" sz="1600" dirty="0" smtClean="0"/>
          </a:p>
          <a:p>
            <a:pPr indent="457200">
              <a:lnSpc>
                <a:spcPct val="150000"/>
              </a:lnSpc>
            </a:pPr>
            <a:r>
              <a:rPr lang="zh-CN" altLang="en-US" sz="1800" dirty="0" smtClean="0"/>
              <a:t>极点频率</a:t>
            </a:r>
            <a:endParaRPr lang="en-US" altLang="zh-CN" sz="1800" dirty="0" smtClean="0"/>
          </a:p>
          <a:p>
            <a:pPr indent="457200">
              <a:lnSpc>
                <a:spcPct val="150000"/>
              </a:lnSpc>
            </a:pPr>
            <a:endParaRPr lang="en-US" altLang="zh-CN" sz="1800" dirty="0"/>
          </a:p>
          <a:p>
            <a:pPr indent="457200">
              <a:lnSpc>
                <a:spcPct val="150000"/>
              </a:lnSpc>
            </a:pPr>
            <a:r>
              <a:rPr lang="en-US" altLang="zh-CN" sz="1800" dirty="0" smtClean="0"/>
              <a:t>Q</a:t>
            </a:r>
            <a:r>
              <a:rPr lang="zh-CN" altLang="en-US" sz="1800" dirty="0" smtClean="0"/>
              <a:t>值：</a:t>
            </a:r>
            <a:endParaRPr lang="zh-CN" altLang="en-US"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3325494538"/>
              </p:ext>
            </p:extLst>
          </p:nvPr>
        </p:nvGraphicFramePr>
        <p:xfrm>
          <a:off x="5912087" y="703360"/>
          <a:ext cx="5934661" cy="2576287"/>
        </p:xfrm>
        <a:graphic>
          <a:graphicData uri="http://schemas.openxmlformats.org/presentationml/2006/ole">
            <mc:AlternateContent xmlns:mc="http://schemas.openxmlformats.org/markup-compatibility/2006">
              <mc:Choice xmlns:v="urn:schemas-microsoft-com:vml" Requires="v">
                <p:oleObj spid="_x0000_s5333" name="Visio" r:id="rId3" imgW="3286652" imgH="1403022" progId="Visio.Drawing.11">
                  <p:embed/>
                </p:oleObj>
              </mc:Choice>
              <mc:Fallback>
                <p:oleObj name="Visio" r:id="rId3" imgW="3286652" imgH="1403022" progId="Visio.Drawing.11">
                  <p:embed/>
                  <p:pic>
                    <p:nvPicPr>
                      <p:cNvPr id="1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2087" y="703360"/>
                        <a:ext cx="5934661" cy="2576287"/>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903275422"/>
              </p:ext>
            </p:extLst>
          </p:nvPr>
        </p:nvGraphicFramePr>
        <p:xfrm>
          <a:off x="1824851" y="977639"/>
          <a:ext cx="965200" cy="650949"/>
        </p:xfrm>
        <a:graphic>
          <a:graphicData uri="http://schemas.openxmlformats.org/presentationml/2006/ole">
            <mc:AlternateContent xmlns:mc="http://schemas.openxmlformats.org/markup-compatibility/2006">
              <mc:Choice xmlns:v="urn:schemas-microsoft-com:vml" Requires="v">
                <p:oleObj spid="_x0000_s5334" name="Equation" r:id="rId5" imgW="545863" imgH="368140" progId="Equation.DSMT4">
                  <p:embed/>
                </p:oleObj>
              </mc:Choice>
              <mc:Fallback>
                <p:oleObj name="Equation" r:id="rId5" imgW="545863" imgH="368140" progId="Equation.DSMT4">
                  <p:embed/>
                  <p:pic>
                    <p:nvPicPr>
                      <p:cNvPr id="11"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4851" y="977639"/>
                        <a:ext cx="965200" cy="650949"/>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348891828"/>
              </p:ext>
            </p:extLst>
          </p:nvPr>
        </p:nvGraphicFramePr>
        <p:xfrm>
          <a:off x="1789133" y="1708728"/>
          <a:ext cx="2070985" cy="777989"/>
        </p:xfrm>
        <a:graphic>
          <a:graphicData uri="http://schemas.openxmlformats.org/presentationml/2006/ole">
            <mc:AlternateContent xmlns:mc="http://schemas.openxmlformats.org/markup-compatibility/2006">
              <mc:Choice xmlns:v="urn:schemas-microsoft-com:vml" Requires="v">
                <p:oleObj spid="_x0000_s5335" name="Equation" r:id="rId7" imgW="1193800" imgH="444500" progId="Equation.DSMT4">
                  <p:embed/>
                </p:oleObj>
              </mc:Choice>
              <mc:Fallback>
                <p:oleObj name="Equation" r:id="rId7" imgW="1193800" imgH="444500" progId="Equation.DSMT4">
                  <p:embed/>
                  <p:pic>
                    <p:nvPicPr>
                      <p:cNvPr id="12" name="对象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9133" y="1708728"/>
                        <a:ext cx="2070985" cy="777989"/>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689637335"/>
              </p:ext>
            </p:extLst>
          </p:nvPr>
        </p:nvGraphicFramePr>
        <p:xfrm>
          <a:off x="1824851" y="2511560"/>
          <a:ext cx="3926980" cy="768087"/>
        </p:xfrm>
        <a:graphic>
          <a:graphicData uri="http://schemas.openxmlformats.org/presentationml/2006/ole">
            <mc:AlternateContent xmlns:mc="http://schemas.openxmlformats.org/markup-compatibility/2006">
              <mc:Choice xmlns:v="urn:schemas-microsoft-com:vml" Requires="v">
                <p:oleObj spid="_x0000_s5336" name="Equation" r:id="rId9" imgW="2298700" imgH="444500" progId="Equation.DSMT4">
                  <p:embed/>
                </p:oleObj>
              </mc:Choice>
              <mc:Fallback>
                <p:oleObj name="Equation" r:id="rId9" imgW="2298700" imgH="444500" progId="Equation.DSMT4">
                  <p:embed/>
                  <p:pic>
                    <p:nvPicPr>
                      <p:cNvPr id="13"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4851" y="2511560"/>
                        <a:ext cx="3926980" cy="768087"/>
                      </a:xfrm>
                      <a:prstGeom prst="rect">
                        <a:avLst/>
                      </a:prstGeom>
                      <a:noFill/>
                    </p:spPr>
                  </p:pic>
                </p:oleObj>
              </mc:Fallback>
            </mc:AlternateContent>
          </a:graphicData>
        </a:graphic>
      </p:graphicFrame>
      <p:sp>
        <p:nvSpPr>
          <p:cNvPr id="6" name="文本框 5"/>
          <p:cNvSpPr txBox="1"/>
          <p:nvPr/>
        </p:nvSpPr>
        <p:spPr>
          <a:xfrm>
            <a:off x="309996" y="3232222"/>
            <a:ext cx="11345663" cy="3154710"/>
          </a:xfrm>
          <a:prstGeom prst="rect">
            <a:avLst/>
          </a:prstGeom>
          <a:noFill/>
        </p:spPr>
        <p:txBody>
          <a:bodyPr wrap="square" rtlCol="0">
            <a:spAutoFit/>
          </a:bodyPr>
          <a:lstStyle/>
          <a:p>
            <a:pPr indent="457200">
              <a:lnSpc>
                <a:spcPct val="150000"/>
              </a:lnSpc>
            </a:pPr>
            <a:r>
              <a:rPr lang="zh-CN" altLang="en-US" sz="1800" dirty="0"/>
              <a:t>具体的设计过程大致是（已知该滤波节的零点频率</a:t>
            </a:r>
            <a:r>
              <a:rPr lang="el-GR" altLang="zh-CN" sz="1800" dirty="0"/>
              <a:t>ω</a:t>
            </a:r>
            <a:r>
              <a:rPr lang="en-US" altLang="zh-CN" sz="1800" baseline="-25000" dirty="0"/>
              <a:t>n </a:t>
            </a:r>
            <a:r>
              <a:rPr lang="zh-CN" altLang="en-US" sz="1800" dirty="0"/>
              <a:t>、极点频率</a:t>
            </a:r>
            <a:r>
              <a:rPr lang="el-GR" altLang="zh-CN" sz="1800" dirty="0"/>
              <a:t>ω</a:t>
            </a:r>
            <a:r>
              <a:rPr lang="en-US" altLang="zh-CN" sz="1800" baseline="-25000" dirty="0"/>
              <a:t>p</a:t>
            </a:r>
            <a:r>
              <a:rPr lang="zh-CN" altLang="en-US" sz="1800" dirty="0"/>
              <a:t>、</a:t>
            </a:r>
            <a:r>
              <a:rPr lang="en-US" altLang="zh-CN" sz="1800" dirty="0"/>
              <a:t>Q</a:t>
            </a:r>
            <a:r>
              <a:rPr lang="zh-CN" altLang="en-US" sz="1800" dirty="0"/>
              <a:t>值）：</a:t>
            </a:r>
            <a:endParaRPr lang="en-US" altLang="zh-CN" sz="1800" dirty="0"/>
          </a:p>
          <a:p>
            <a:pPr indent="457200">
              <a:lnSpc>
                <a:spcPct val="150000"/>
              </a:lnSpc>
            </a:pPr>
            <a:r>
              <a:rPr lang="en-US" altLang="zh-CN" sz="1800" dirty="0"/>
              <a:t>1</a:t>
            </a:r>
            <a:r>
              <a:rPr lang="zh-CN" altLang="en-US" sz="1800" dirty="0"/>
              <a:t>、根据零点频率</a:t>
            </a:r>
            <a:r>
              <a:rPr lang="el-GR" altLang="zh-CN" sz="1800" dirty="0"/>
              <a:t>ω</a:t>
            </a:r>
            <a:r>
              <a:rPr lang="en-US" altLang="zh-CN" sz="1800" baseline="-25000" dirty="0"/>
              <a:t>n </a:t>
            </a:r>
            <a:r>
              <a:rPr lang="zh-CN" altLang="en-US" sz="1800" dirty="0"/>
              <a:t>确定</a:t>
            </a:r>
            <a:r>
              <a:rPr lang="en-US" altLang="zh-CN" sz="1800" dirty="0"/>
              <a:t>R</a:t>
            </a:r>
            <a:r>
              <a:rPr lang="zh-CN" altLang="en-US" sz="1800" dirty="0"/>
              <a:t>与</a:t>
            </a:r>
            <a:r>
              <a:rPr lang="en-US" altLang="zh-CN" sz="1800" dirty="0"/>
              <a:t>C</a:t>
            </a:r>
            <a:r>
              <a:rPr lang="zh-CN" altLang="en-US" sz="1800" dirty="0"/>
              <a:t>的值（需要指定其中某一个）。</a:t>
            </a:r>
            <a:endParaRPr lang="en-US" altLang="zh-CN" sz="1800" dirty="0"/>
          </a:p>
          <a:p>
            <a:pPr indent="457200">
              <a:lnSpc>
                <a:spcPct val="150000"/>
              </a:lnSpc>
            </a:pPr>
            <a:r>
              <a:rPr lang="en-US" altLang="zh-CN" sz="1800" dirty="0"/>
              <a:t>2</a:t>
            </a:r>
            <a:r>
              <a:rPr lang="zh-CN" altLang="en-US" sz="1800" dirty="0"/>
              <a:t>、根据极点频率</a:t>
            </a:r>
            <a:r>
              <a:rPr lang="el-GR" altLang="zh-CN" sz="1800" dirty="0"/>
              <a:t>ω</a:t>
            </a:r>
            <a:r>
              <a:rPr lang="en-US" altLang="zh-CN" sz="1800" baseline="-25000" dirty="0"/>
              <a:t>p </a:t>
            </a:r>
            <a:r>
              <a:rPr lang="zh-CN" altLang="en-US" sz="1800" dirty="0"/>
              <a:t>确定</a:t>
            </a:r>
            <a:r>
              <a:rPr lang="en-US" altLang="zh-CN" sz="1800" dirty="0"/>
              <a:t>R2</a:t>
            </a:r>
            <a:r>
              <a:rPr lang="zh-CN" altLang="en-US" sz="1800" dirty="0"/>
              <a:t>与</a:t>
            </a:r>
            <a:r>
              <a:rPr lang="en-US" altLang="zh-CN" sz="1800" dirty="0"/>
              <a:t>C2</a:t>
            </a:r>
            <a:r>
              <a:rPr lang="zh-CN" altLang="en-US" sz="1800" dirty="0"/>
              <a:t>的值（需要指定其中某一个）。</a:t>
            </a:r>
            <a:endParaRPr lang="en-US" altLang="zh-CN" sz="1800" dirty="0"/>
          </a:p>
          <a:p>
            <a:pPr indent="457200">
              <a:lnSpc>
                <a:spcPct val="150000"/>
              </a:lnSpc>
            </a:pPr>
            <a:r>
              <a:rPr lang="en-US" altLang="zh-CN" sz="1800" dirty="0"/>
              <a:t>3</a:t>
            </a:r>
            <a:r>
              <a:rPr lang="zh-CN" altLang="en-US" sz="1800" dirty="0"/>
              <a:t>、代入</a:t>
            </a:r>
            <a:r>
              <a:rPr lang="en-US" altLang="zh-CN" sz="1800" dirty="0"/>
              <a:t>Q</a:t>
            </a:r>
            <a:r>
              <a:rPr lang="zh-CN" altLang="en-US" sz="1800" dirty="0"/>
              <a:t>值表达式，根据已知的</a:t>
            </a:r>
            <a:r>
              <a:rPr lang="en-US" altLang="zh-CN" sz="1800" dirty="0"/>
              <a:t>Q</a:t>
            </a:r>
            <a:r>
              <a:rPr lang="zh-CN" altLang="en-US" sz="1800" dirty="0"/>
              <a:t>值反推</a:t>
            </a:r>
            <a:r>
              <a:rPr lang="en-US" altLang="zh-CN" sz="1800" i="1" dirty="0"/>
              <a:t>k</a:t>
            </a:r>
            <a:r>
              <a:rPr lang="zh-CN" altLang="en-US" sz="1800" dirty="0"/>
              <a:t>。</a:t>
            </a:r>
            <a:endParaRPr lang="en-US" altLang="zh-CN" sz="1800" dirty="0"/>
          </a:p>
          <a:p>
            <a:pPr indent="457200">
              <a:lnSpc>
                <a:spcPct val="150000"/>
              </a:lnSpc>
            </a:pPr>
            <a:r>
              <a:rPr lang="zh-CN" altLang="en-US" sz="1800" dirty="0"/>
              <a:t>若 </a:t>
            </a:r>
            <a:r>
              <a:rPr lang="en-US" altLang="zh-CN" sz="1800" dirty="0"/>
              <a:t>k&gt;1</a:t>
            </a:r>
            <a:r>
              <a:rPr lang="zh-CN" altLang="en-US" sz="1800" dirty="0"/>
              <a:t>，则根据 </a:t>
            </a:r>
            <a:r>
              <a:rPr lang="en-US" altLang="zh-CN" sz="1800" dirty="0"/>
              <a:t>k=1+R4/R3 </a:t>
            </a:r>
            <a:r>
              <a:rPr lang="zh-CN" altLang="en-US" sz="1800" dirty="0"/>
              <a:t>确定</a:t>
            </a:r>
            <a:r>
              <a:rPr lang="en-US" altLang="zh-CN" sz="1800" dirty="0"/>
              <a:t>R3</a:t>
            </a:r>
            <a:r>
              <a:rPr lang="zh-CN" altLang="en-US" sz="1800" dirty="0"/>
              <a:t>与</a:t>
            </a:r>
            <a:r>
              <a:rPr lang="en-US" altLang="zh-CN" sz="1800" dirty="0"/>
              <a:t>R4</a:t>
            </a:r>
            <a:r>
              <a:rPr lang="zh-CN" altLang="en-US" sz="1800" dirty="0" smtClean="0"/>
              <a:t>；若 </a:t>
            </a:r>
            <a:r>
              <a:rPr lang="en-US" altLang="zh-CN" sz="1800" dirty="0"/>
              <a:t>k&lt;1</a:t>
            </a:r>
            <a:r>
              <a:rPr lang="zh-CN" altLang="en-US" sz="1800" dirty="0"/>
              <a:t>，</a:t>
            </a:r>
            <a:r>
              <a:rPr lang="zh-CN" altLang="zh-CN" sz="1800" dirty="0"/>
              <a:t>则将上述电路</a:t>
            </a:r>
            <a:r>
              <a:rPr lang="zh-CN" altLang="en-US" sz="1800" dirty="0"/>
              <a:t>中的</a:t>
            </a:r>
            <a:r>
              <a:rPr lang="en-US" altLang="zh-CN" sz="1800" i="1" dirty="0"/>
              <a:t>R</a:t>
            </a:r>
            <a:r>
              <a:rPr lang="en-US" altLang="zh-CN" sz="1800" baseline="-25000" dirty="0"/>
              <a:t>2</a:t>
            </a:r>
            <a:r>
              <a:rPr lang="zh-CN" altLang="zh-CN" sz="1800" dirty="0"/>
              <a:t>拆分成两个电阻串联分压，令其分压系数等于</a:t>
            </a:r>
            <a:r>
              <a:rPr lang="en-US" altLang="zh-CN" sz="1800" i="1" dirty="0"/>
              <a:t>k</a:t>
            </a:r>
            <a:r>
              <a:rPr lang="zh-CN" altLang="zh-CN" sz="1800" dirty="0"/>
              <a:t>，将分压后的信号接到运放输入端，同时将运放接成跟随器</a:t>
            </a:r>
            <a:r>
              <a:rPr lang="zh-CN" altLang="en-US" sz="1800" dirty="0" smtClean="0"/>
              <a:t>。</a:t>
            </a:r>
            <a:endParaRPr lang="en-US" altLang="zh-CN" sz="1800" dirty="0" smtClean="0"/>
          </a:p>
          <a:p>
            <a:pPr indent="457200">
              <a:lnSpc>
                <a:spcPct val="150000"/>
              </a:lnSpc>
              <a:spcBef>
                <a:spcPts val="600"/>
              </a:spcBef>
            </a:pPr>
            <a:r>
              <a:rPr lang="en-US" altLang="zh-CN" sz="1800" dirty="0"/>
              <a:t>4</a:t>
            </a:r>
            <a:r>
              <a:rPr lang="zh-CN" altLang="en-US" sz="1800" dirty="0"/>
              <a:t>、令电路中所有电容开路，可计算此滤波节</a:t>
            </a:r>
            <a:r>
              <a:rPr lang="zh-CN" altLang="en-US" sz="1800" dirty="0" smtClean="0"/>
              <a:t>的节增益</a:t>
            </a:r>
            <a:endParaRPr lang="zh-CN" altLang="en-US" sz="1800" dirty="0"/>
          </a:p>
        </p:txBody>
      </p:sp>
      <p:graphicFrame>
        <p:nvGraphicFramePr>
          <p:cNvPr id="14" name="对象 13"/>
          <p:cNvGraphicFramePr>
            <a:graphicFrameLocks noChangeAspect="1"/>
          </p:cNvGraphicFramePr>
          <p:nvPr>
            <p:extLst>
              <p:ext uri="{D42A27DB-BD31-4B8C-83A1-F6EECF244321}">
                <p14:modId xmlns:p14="http://schemas.microsoft.com/office/powerpoint/2010/main" val="168513043"/>
              </p:ext>
            </p:extLst>
          </p:nvPr>
        </p:nvGraphicFramePr>
        <p:xfrm>
          <a:off x="6335788" y="5744579"/>
          <a:ext cx="2209800" cy="711200"/>
        </p:xfrm>
        <a:graphic>
          <a:graphicData uri="http://schemas.openxmlformats.org/presentationml/2006/ole">
            <mc:AlternateContent xmlns:mc="http://schemas.openxmlformats.org/markup-compatibility/2006">
              <mc:Choice xmlns:v="urn:schemas-microsoft-com:vml" Requires="v">
                <p:oleObj spid="_x0000_s5337" name="Equation" r:id="rId11" imgW="1257120" imgH="406080" progId="Equation.DSMT4">
                  <p:embed/>
                </p:oleObj>
              </mc:Choice>
              <mc:Fallback>
                <p:oleObj name="Equation" r:id="rId11" imgW="1257120" imgH="406080" progId="Equation.DSMT4">
                  <p:embed/>
                  <p:pic>
                    <p:nvPicPr>
                      <p:cNvPr id="6" name="对象 5"/>
                      <p:cNvPicPr>
                        <a:picLocks noChangeAspect="1" noChangeArrowheads="1"/>
                      </p:cNvPicPr>
                      <p:nvPr/>
                    </p:nvPicPr>
                    <p:blipFill>
                      <a:blip r:embed="rId12"/>
                      <a:srcRect/>
                      <a:stretch>
                        <a:fillRect/>
                      </a:stretch>
                    </p:blipFill>
                    <p:spPr bwMode="auto">
                      <a:xfrm>
                        <a:off x="6335788" y="5744579"/>
                        <a:ext cx="2209800" cy="711200"/>
                      </a:xfrm>
                      <a:prstGeom prst="rect">
                        <a:avLst/>
                      </a:prstGeom>
                      <a:noFill/>
                    </p:spPr>
                  </p:pic>
                </p:oleObj>
              </mc:Fallback>
            </mc:AlternateContent>
          </a:graphicData>
        </a:graphic>
      </p:graphicFrame>
    </p:spTree>
    <p:extLst>
      <p:ext uri="{BB962C8B-B14F-4D97-AF65-F5344CB8AC3E}">
        <p14:creationId xmlns:p14="http://schemas.microsoft.com/office/powerpoint/2010/main" val="1364627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27</a:t>
            </a:fld>
            <a:endParaRPr lang="en-US" altLang="zh-CN"/>
          </a:p>
        </p:txBody>
      </p:sp>
      <p:sp>
        <p:nvSpPr>
          <p:cNvPr id="2" name="文本框 1"/>
          <p:cNvSpPr txBox="1"/>
          <p:nvPr/>
        </p:nvSpPr>
        <p:spPr>
          <a:xfrm>
            <a:off x="537029" y="607273"/>
            <a:ext cx="11190514" cy="4051109"/>
          </a:xfrm>
          <a:prstGeom prst="rect">
            <a:avLst/>
          </a:prstGeom>
          <a:noFill/>
        </p:spPr>
        <p:txBody>
          <a:bodyPr wrap="square" rtlCol="0">
            <a:spAutoFit/>
          </a:bodyPr>
          <a:lstStyle/>
          <a:p>
            <a:pPr indent="457200">
              <a:lnSpc>
                <a:spcPct val="150000"/>
              </a:lnSpc>
            </a:pPr>
            <a:r>
              <a:rPr lang="zh-CN" altLang="en-US" sz="1800" dirty="0"/>
              <a:t>例如</a:t>
            </a:r>
            <a:r>
              <a:rPr lang="zh-CN" altLang="zh-CN" sz="1800" dirty="0" smtClean="0"/>
              <a:t>本题的滤波</a:t>
            </a:r>
            <a:r>
              <a:rPr lang="zh-CN" altLang="zh-CN" sz="1800" dirty="0"/>
              <a:t>节</a:t>
            </a:r>
            <a:r>
              <a:rPr lang="en-US" altLang="zh-CN" sz="1800" dirty="0"/>
              <a:t>1</a:t>
            </a:r>
            <a:r>
              <a:rPr lang="zh-CN" altLang="zh-CN" sz="1800" dirty="0" smtClean="0"/>
              <a:t>，</a:t>
            </a:r>
            <a:r>
              <a:rPr lang="el-GR" altLang="zh-CN" sz="1800" dirty="0"/>
              <a:t> </a:t>
            </a:r>
            <a:r>
              <a:rPr lang="en-US" altLang="zh-CN" sz="1800" dirty="0" err="1" smtClean="0"/>
              <a:t>f</a:t>
            </a:r>
            <a:r>
              <a:rPr lang="en-US" altLang="zh-CN" sz="1800" baseline="-25000" dirty="0" err="1" smtClean="0"/>
              <a:t>p</a:t>
            </a:r>
            <a:r>
              <a:rPr lang="en-US" altLang="zh-CN" sz="1800" dirty="0" smtClean="0"/>
              <a:t>=9996Hz</a:t>
            </a:r>
            <a:r>
              <a:rPr lang="zh-CN" altLang="en-US" sz="1800" dirty="0"/>
              <a:t>（</a:t>
            </a:r>
            <a:r>
              <a:rPr lang="el-GR" altLang="zh-CN" sz="1800" dirty="0"/>
              <a:t>ω</a:t>
            </a:r>
            <a:r>
              <a:rPr lang="en-US" altLang="zh-CN" sz="1800" baseline="-25000" dirty="0" smtClean="0"/>
              <a:t>p</a:t>
            </a:r>
            <a:r>
              <a:rPr lang="en-US" altLang="zh-CN" sz="1800" dirty="0" smtClean="0"/>
              <a:t>=62807</a:t>
            </a:r>
            <a:r>
              <a:rPr lang="zh-CN" altLang="en-US" sz="1800" dirty="0" smtClean="0"/>
              <a:t>），</a:t>
            </a:r>
            <a:r>
              <a:rPr lang="en-US" altLang="zh-CN" sz="1800" dirty="0" err="1" smtClean="0"/>
              <a:t>f</a:t>
            </a:r>
            <a:r>
              <a:rPr lang="en-US" altLang="zh-CN" sz="1800" baseline="-25000" dirty="0" err="1" smtClean="0"/>
              <a:t>n</a:t>
            </a:r>
            <a:r>
              <a:rPr lang="en-US" altLang="zh-CN" sz="1800" dirty="0" smtClean="0"/>
              <a:t>=11204Hz</a:t>
            </a:r>
            <a:r>
              <a:rPr lang="zh-CN" altLang="en-US" sz="1800" dirty="0"/>
              <a:t>（</a:t>
            </a:r>
            <a:r>
              <a:rPr lang="el-GR" altLang="zh-CN" sz="1800" dirty="0"/>
              <a:t>ω</a:t>
            </a:r>
            <a:r>
              <a:rPr lang="en-US" altLang="zh-CN" sz="1800" baseline="-25000" dirty="0" smtClean="0"/>
              <a:t>n</a:t>
            </a:r>
            <a:r>
              <a:rPr lang="en-US" altLang="zh-CN" sz="1800" dirty="0" smtClean="0"/>
              <a:t>=70397</a:t>
            </a:r>
            <a:r>
              <a:rPr lang="zh-CN" altLang="en-US" sz="1800" dirty="0" smtClean="0"/>
              <a:t>），</a:t>
            </a:r>
            <a:r>
              <a:rPr lang="en-US" altLang="zh-CN" sz="1800" dirty="0" smtClean="0"/>
              <a:t>Q=20.37 </a:t>
            </a:r>
            <a:r>
              <a:rPr lang="zh-CN" altLang="en-US" sz="1800" dirty="0" smtClean="0"/>
              <a:t>。</a:t>
            </a:r>
            <a:endParaRPr lang="en-US" altLang="zh-CN" sz="1800" dirty="0" smtClean="0"/>
          </a:p>
          <a:p>
            <a:pPr indent="457200">
              <a:lnSpc>
                <a:spcPct val="150000"/>
              </a:lnSpc>
            </a:pPr>
            <a:r>
              <a:rPr lang="zh-CN" altLang="zh-CN" sz="1800" dirty="0" smtClean="0"/>
              <a:t>按</a:t>
            </a:r>
            <a:r>
              <a:rPr lang="zh-CN" altLang="zh-CN" sz="1800" dirty="0"/>
              <a:t>上述设计步骤</a:t>
            </a:r>
            <a:r>
              <a:rPr lang="zh-CN" altLang="zh-CN" sz="1800" dirty="0" smtClean="0"/>
              <a:t>，</a:t>
            </a:r>
            <a:r>
              <a:rPr lang="zh-CN" altLang="en-US" sz="1800" dirty="0" smtClean="0"/>
              <a:t>指定</a:t>
            </a:r>
            <a:r>
              <a:rPr lang="en-US" altLang="zh-CN" sz="1800" i="1" dirty="0" smtClean="0"/>
              <a:t>C</a:t>
            </a:r>
            <a:r>
              <a:rPr lang="en-US" altLang="zh-CN" sz="1800" dirty="0" smtClean="0"/>
              <a:t>=10nF</a:t>
            </a:r>
            <a:r>
              <a:rPr lang="zh-CN" altLang="zh-CN" sz="1800" dirty="0" smtClean="0"/>
              <a:t>，</a:t>
            </a:r>
            <a:r>
              <a:rPr lang="zh-CN" altLang="en-US" sz="1800" dirty="0" smtClean="0"/>
              <a:t>根据</a:t>
            </a:r>
            <a:r>
              <a:rPr lang="el-GR" altLang="zh-CN" sz="1800" dirty="0"/>
              <a:t>ω</a:t>
            </a:r>
            <a:r>
              <a:rPr lang="en-US" altLang="zh-CN" sz="1800" baseline="-25000" dirty="0" smtClean="0"/>
              <a:t>n</a:t>
            </a:r>
            <a:r>
              <a:rPr lang="en-US" altLang="zh-CN" sz="1800" dirty="0" smtClean="0"/>
              <a:t>=70397</a:t>
            </a:r>
            <a:r>
              <a:rPr lang="zh-CN" altLang="en-US" sz="1800" dirty="0" smtClean="0"/>
              <a:t>，计算得到</a:t>
            </a:r>
            <a:r>
              <a:rPr lang="en-US" altLang="zh-CN" sz="1800" i="1" dirty="0" smtClean="0"/>
              <a:t>R</a:t>
            </a:r>
            <a:r>
              <a:rPr lang="en-US" altLang="zh-CN" sz="1800" dirty="0" smtClean="0"/>
              <a:t>=1.42kΩ</a:t>
            </a:r>
            <a:r>
              <a:rPr lang="zh-CN" altLang="en-US" sz="1800" dirty="0" smtClean="0"/>
              <a:t>；</a:t>
            </a:r>
            <a:endParaRPr lang="en-US" altLang="zh-CN" sz="1800" dirty="0" smtClean="0"/>
          </a:p>
          <a:p>
            <a:pPr indent="457200">
              <a:lnSpc>
                <a:spcPct val="150000"/>
              </a:lnSpc>
            </a:pPr>
            <a:r>
              <a:rPr lang="zh-CN" altLang="en-US" sz="1800" dirty="0" smtClean="0"/>
              <a:t>指定</a:t>
            </a:r>
            <a:r>
              <a:rPr lang="en-US" altLang="zh-CN" sz="1800" i="1" dirty="0" smtClean="0"/>
              <a:t>C</a:t>
            </a:r>
            <a:r>
              <a:rPr lang="en-US" altLang="zh-CN" sz="1800" baseline="-25000" dirty="0" smtClean="0"/>
              <a:t>2</a:t>
            </a:r>
            <a:r>
              <a:rPr lang="en-US" altLang="zh-CN" sz="1800" dirty="0" smtClean="0"/>
              <a:t>=10nF</a:t>
            </a:r>
            <a:r>
              <a:rPr lang="zh-CN" altLang="zh-CN" sz="1800" dirty="0" smtClean="0"/>
              <a:t>，</a:t>
            </a:r>
            <a:r>
              <a:rPr lang="zh-CN" altLang="en-US" sz="1800" dirty="0" smtClean="0"/>
              <a:t>根据</a:t>
            </a:r>
            <a:r>
              <a:rPr lang="el-GR" altLang="zh-CN" sz="1800" dirty="0" smtClean="0"/>
              <a:t>ω</a:t>
            </a:r>
            <a:r>
              <a:rPr lang="en-US" altLang="zh-CN" sz="1800" baseline="-25000" dirty="0" smtClean="0"/>
              <a:t>p</a:t>
            </a:r>
            <a:r>
              <a:rPr lang="en-US" altLang="zh-CN" sz="1800" dirty="0"/>
              <a:t>/</a:t>
            </a:r>
            <a:r>
              <a:rPr lang="el-GR" altLang="zh-CN" sz="1800" dirty="0"/>
              <a:t>ω</a:t>
            </a:r>
            <a:r>
              <a:rPr lang="en-US" altLang="zh-CN" sz="1800" baseline="-25000" dirty="0" smtClean="0"/>
              <a:t>n</a:t>
            </a:r>
            <a:r>
              <a:rPr lang="en-US" altLang="zh-CN" sz="1800" dirty="0" smtClean="0"/>
              <a:t>=0892</a:t>
            </a:r>
            <a:r>
              <a:rPr lang="zh-CN" altLang="en-US" sz="1800" dirty="0" smtClean="0"/>
              <a:t>，计算</a:t>
            </a:r>
            <a:r>
              <a:rPr lang="zh-CN" altLang="en-US" sz="1800" dirty="0"/>
              <a:t>得到</a:t>
            </a:r>
            <a:r>
              <a:rPr lang="en-US" altLang="zh-CN" sz="1800" i="1" dirty="0" smtClean="0"/>
              <a:t>R</a:t>
            </a:r>
            <a:r>
              <a:rPr lang="en-US" altLang="zh-CN" sz="1800" baseline="-25000" dirty="0" smtClean="0"/>
              <a:t>2</a:t>
            </a:r>
            <a:r>
              <a:rPr lang="en-US" altLang="zh-CN" sz="1800" dirty="0" smtClean="0"/>
              <a:t>=2.05kΩ</a:t>
            </a:r>
            <a:r>
              <a:rPr lang="zh-CN" altLang="en-US" sz="1800" dirty="0" smtClean="0"/>
              <a:t>；</a:t>
            </a:r>
            <a:endParaRPr lang="en-US" altLang="zh-CN" sz="1800" dirty="0" smtClean="0"/>
          </a:p>
          <a:p>
            <a:pPr indent="457200">
              <a:lnSpc>
                <a:spcPct val="150000"/>
              </a:lnSpc>
            </a:pPr>
            <a:r>
              <a:rPr lang="zh-CN" altLang="en-US" sz="1800" dirty="0" smtClean="0"/>
              <a:t>代入</a:t>
            </a:r>
            <a:r>
              <a:rPr lang="en-US" altLang="zh-CN" sz="1800" dirty="0" smtClean="0"/>
              <a:t>Q</a:t>
            </a:r>
            <a:r>
              <a:rPr lang="zh-CN" altLang="en-US" sz="1800" dirty="0" smtClean="0"/>
              <a:t>值表达式，反推得到</a:t>
            </a:r>
            <a:r>
              <a:rPr lang="en-US" altLang="zh-CN" sz="1800" dirty="0" smtClean="0"/>
              <a:t>k=3.63</a:t>
            </a:r>
            <a:r>
              <a:rPr lang="zh-CN" altLang="en-US" sz="1800" dirty="0" smtClean="0"/>
              <a:t>，指定</a:t>
            </a:r>
            <a:r>
              <a:rPr lang="en-US" altLang="zh-CN" sz="1800" i="1" dirty="0" smtClean="0"/>
              <a:t>R</a:t>
            </a:r>
            <a:r>
              <a:rPr lang="en-US" altLang="zh-CN" sz="1800" baseline="-25000" dirty="0" smtClean="0"/>
              <a:t>3</a:t>
            </a:r>
            <a:r>
              <a:rPr lang="en-US" altLang="zh-CN" sz="1800" dirty="0" smtClean="0"/>
              <a:t>=1kΩ</a:t>
            </a:r>
            <a:r>
              <a:rPr lang="zh-CN" altLang="en-US" sz="1800" dirty="0" smtClean="0"/>
              <a:t>，算得</a:t>
            </a:r>
            <a:r>
              <a:rPr lang="en-US" altLang="zh-CN" sz="1800" i="1" dirty="0" smtClean="0"/>
              <a:t>R</a:t>
            </a:r>
            <a:r>
              <a:rPr lang="en-US" altLang="zh-CN" sz="1800" baseline="-25000" dirty="0" smtClean="0"/>
              <a:t>4</a:t>
            </a:r>
            <a:r>
              <a:rPr lang="en-US" altLang="zh-CN" sz="1800" dirty="0" smtClean="0"/>
              <a:t>=2.63kΩ</a:t>
            </a:r>
            <a:r>
              <a:rPr lang="zh-CN" altLang="zh-CN" sz="1800" dirty="0" smtClean="0"/>
              <a:t>。</a:t>
            </a:r>
            <a:endParaRPr lang="en-US" altLang="zh-CN" sz="1800" dirty="0" smtClean="0"/>
          </a:p>
          <a:p>
            <a:pPr indent="457200">
              <a:lnSpc>
                <a:spcPct val="150000"/>
              </a:lnSpc>
              <a:spcBef>
                <a:spcPts val="1200"/>
              </a:spcBef>
              <a:spcAft>
                <a:spcPts val="600"/>
              </a:spcAft>
            </a:pPr>
            <a:r>
              <a:rPr lang="zh-CN" altLang="zh-CN" sz="1800" dirty="0" smtClean="0"/>
              <a:t>这个</a:t>
            </a:r>
            <a:r>
              <a:rPr lang="zh-CN" altLang="zh-CN" sz="1800" dirty="0"/>
              <a:t>低通滤波节</a:t>
            </a:r>
            <a:r>
              <a:rPr lang="zh-CN" altLang="zh-CN" sz="1800" dirty="0" smtClean="0"/>
              <a:t>的</a:t>
            </a:r>
            <a:r>
              <a:rPr lang="zh-CN" altLang="en-US" sz="1800" dirty="0" smtClean="0"/>
              <a:t>节</a:t>
            </a:r>
            <a:r>
              <a:rPr lang="zh-CN" altLang="zh-CN" sz="1800" dirty="0" smtClean="0"/>
              <a:t>增益是</a:t>
            </a:r>
            <a:r>
              <a:rPr lang="en-US" altLang="zh-CN" sz="1800" dirty="0" smtClean="0"/>
              <a:t>                                             </a:t>
            </a:r>
          </a:p>
          <a:p>
            <a:pPr indent="457200">
              <a:lnSpc>
                <a:spcPct val="150000"/>
              </a:lnSpc>
            </a:pPr>
            <a:endParaRPr lang="en-US" altLang="zh-CN" sz="1050" dirty="0"/>
          </a:p>
          <a:p>
            <a:pPr indent="457200">
              <a:lnSpc>
                <a:spcPct val="150000"/>
              </a:lnSpc>
            </a:pPr>
            <a:endParaRPr lang="en-US" altLang="zh-CN" sz="700" dirty="0"/>
          </a:p>
          <a:p>
            <a:pPr indent="457200">
              <a:lnSpc>
                <a:spcPct val="150000"/>
              </a:lnSpc>
            </a:pPr>
            <a:r>
              <a:rPr lang="zh-CN" altLang="en-US" sz="1800" dirty="0" smtClean="0"/>
              <a:t>这个滤波器的三个滤波节都有大于</a:t>
            </a:r>
            <a:r>
              <a:rPr lang="en-US" altLang="zh-CN" sz="1800" dirty="0" smtClean="0"/>
              <a:t>1</a:t>
            </a:r>
            <a:r>
              <a:rPr lang="zh-CN" altLang="en-US" sz="1800" dirty="0" smtClean="0"/>
              <a:t>的节增益，所以其总增益可能很大，要注意控制输入的模拟信号（语音）的幅度，不能让滤波器中的运放饱和。必要时可以在输入端接入一个由分压电阻与运放跟随器构成的衰减器。</a:t>
            </a:r>
            <a:endParaRPr lang="en-US" altLang="zh-CN" sz="1800" dirty="0" smtClean="0"/>
          </a:p>
        </p:txBody>
      </p:sp>
      <p:graphicFrame>
        <p:nvGraphicFramePr>
          <p:cNvPr id="6" name="对象 5"/>
          <p:cNvGraphicFramePr>
            <a:graphicFrameLocks noChangeAspect="1"/>
          </p:cNvGraphicFramePr>
          <p:nvPr>
            <p:extLst>
              <p:ext uri="{D42A27DB-BD31-4B8C-83A1-F6EECF244321}">
                <p14:modId xmlns:p14="http://schemas.microsoft.com/office/powerpoint/2010/main" val="3594269524"/>
              </p:ext>
            </p:extLst>
          </p:nvPr>
        </p:nvGraphicFramePr>
        <p:xfrm>
          <a:off x="3944258" y="2351316"/>
          <a:ext cx="2855908" cy="711199"/>
        </p:xfrm>
        <a:graphic>
          <a:graphicData uri="http://schemas.openxmlformats.org/presentationml/2006/ole">
            <mc:AlternateContent xmlns:mc="http://schemas.openxmlformats.org/markup-compatibility/2006">
              <mc:Choice xmlns:v="urn:schemas-microsoft-com:vml" Requires="v">
                <p:oleObj spid="_x0000_s6202" name="Equation" r:id="rId3" imgW="1625400" imgH="406080" progId="Equation.DSMT4">
                  <p:embed/>
                </p:oleObj>
              </mc:Choice>
              <mc:Fallback>
                <p:oleObj name="Equation" r:id="rId3" imgW="1625400" imgH="406080" progId="Equation.DSMT4">
                  <p:embed/>
                  <p:pic>
                    <p:nvPicPr>
                      <p:cNvPr id="6" name="对象 5"/>
                      <p:cNvPicPr>
                        <a:picLocks noChangeAspect="1" noChangeArrowheads="1"/>
                      </p:cNvPicPr>
                      <p:nvPr/>
                    </p:nvPicPr>
                    <p:blipFill>
                      <a:blip r:embed="rId4"/>
                      <a:srcRect/>
                      <a:stretch>
                        <a:fillRect/>
                      </a:stretch>
                    </p:blipFill>
                    <p:spPr bwMode="auto">
                      <a:xfrm>
                        <a:off x="3944258" y="2351316"/>
                        <a:ext cx="2855908" cy="711199"/>
                      </a:xfrm>
                      <a:prstGeom prst="rect">
                        <a:avLst/>
                      </a:prstGeom>
                      <a:noFill/>
                    </p:spPr>
                  </p:pic>
                </p:oleObj>
              </mc:Fallback>
            </mc:AlternateContent>
          </a:graphicData>
        </a:graphic>
      </p:graphicFrame>
    </p:spTree>
    <p:extLst>
      <p:ext uri="{BB962C8B-B14F-4D97-AF65-F5344CB8AC3E}">
        <p14:creationId xmlns:p14="http://schemas.microsoft.com/office/powerpoint/2010/main" val="35445804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28</a:t>
            </a:fld>
            <a:endParaRPr lang="en-US" altLang="zh-CN"/>
          </a:p>
        </p:txBody>
      </p:sp>
      <p:sp>
        <p:nvSpPr>
          <p:cNvPr id="2" name="文本框 1"/>
          <p:cNvSpPr txBox="1"/>
          <p:nvPr/>
        </p:nvSpPr>
        <p:spPr>
          <a:xfrm>
            <a:off x="493486" y="491159"/>
            <a:ext cx="11190514" cy="383181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发送端的载波发生器与接收端的本振电路</a:t>
            </a:r>
            <a:endParaRPr lang="en-US" altLang="zh-CN" sz="1800" dirty="0" smtClean="0"/>
          </a:p>
          <a:p>
            <a:pPr indent="457200">
              <a:lnSpc>
                <a:spcPct val="150000"/>
              </a:lnSpc>
            </a:pPr>
            <a:r>
              <a:rPr lang="zh-CN" altLang="en-US" sz="1800" dirty="0" smtClean="0"/>
              <a:t>这两个都是高频信号源，只是频率不同。</a:t>
            </a:r>
            <a:endParaRPr lang="en-US" altLang="zh-CN" sz="1800" dirty="0" smtClean="0"/>
          </a:p>
          <a:p>
            <a:pPr indent="457200">
              <a:lnSpc>
                <a:spcPct val="150000"/>
              </a:lnSpc>
            </a:pPr>
            <a:r>
              <a:rPr lang="zh-CN" altLang="en-US" sz="1800" dirty="0" smtClean="0"/>
              <a:t>题目要求“</a:t>
            </a:r>
            <a:r>
              <a:rPr lang="zh-CN" altLang="zh-CN" sz="1800" dirty="0"/>
              <a:t>载波频率范围为</a:t>
            </a:r>
            <a:r>
              <a:rPr lang="en-US" altLang="zh-CN" sz="1800" dirty="0" smtClean="0"/>
              <a:t>20~30MHz</a:t>
            </a:r>
            <a:r>
              <a:rPr lang="zh-CN" altLang="en-US" sz="1800" dirty="0" smtClean="0"/>
              <a:t>，</a:t>
            </a:r>
            <a:r>
              <a:rPr lang="zh-CN" altLang="zh-CN" sz="1800" dirty="0" smtClean="0"/>
              <a:t>要求</a:t>
            </a:r>
            <a:r>
              <a:rPr lang="zh-CN" altLang="zh-CN" sz="1800" dirty="0"/>
              <a:t>收发机可在不少于</a:t>
            </a:r>
            <a:r>
              <a:rPr lang="en-US" altLang="zh-CN" sz="1800" dirty="0"/>
              <a:t>3 </a:t>
            </a:r>
            <a:r>
              <a:rPr lang="zh-CN" altLang="zh-CN" sz="1800" dirty="0"/>
              <a:t>个载波频率中选择设置，具体的载波频率自行</a:t>
            </a:r>
            <a:r>
              <a:rPr lang="zh-CN" altLang="zh-CN" sz="1800" dirty="0" smtClean="0"/>
              <a:t>确定</a:t>
            </a:r>
            <a:r>
              <a:rPr lang="zh-CN" altLang="en-US" sz="1800" dirty="0" smtClean="0"/>
              <a:t>”。所以，发送端的载波发生器要求在</a:t>
            </a:r>
            <a:r>
              <a:rPr lang="en-US" altLang="zh-CN" sz="1800" dirty="0" smtClean="0"/>
              <a:t>20~30MHz</a:t>
            </a:r>
            <a:r>
              <a:rPr lang="zh-CN" altLang="en-US" sz="1800" dirty="0" smtClean="0"/>
              <a:t>之间产生不少于</a:t>
            </a:r>
            <a:r>
              <a:rPr lang="en-US" altLang="zh-CN" sz="1800" dirty="0" smtClean="0"/>
              <a:t>3</a:t>
            </a:r>
            <a:r>
              <a:rPr lang="zh-CN" altLang="en-US" sz="1800" dirty="0" smtClean="0"/>
              <a:t>个载波频率信号，接收端的本振要求产生这三个频率加上中频后的三个频率的信号。</a:t>
            </a:r>
            <a:endParaRPr lang="en-US" altLang="zh-CN" sz="1800" dirty="0" smtClean="0"/>
          </a:p>
          <a:p>
            <a:pPr indent="457200">
              <a:lnSpc>
                <a:spcPct val="150000"/>
              </a:lnSpc>
            </a:pPr>
            <a:r>
              <a:rPr lang="zh-CN" altLang="en-US" sz="1800" dirty="0" smtClean="0"/>
              <a:t>满足要求的常见电路是采用锁相环构成的频率合成器。</a:t>
            </a:r>
            <a:endParaRPr lang="en-US" altLang="zh-CN" sz="1800" dirty="0" smtClean="0"/>
          </a:p>
          <a:p>
            <a:pPr indent="457200">
              <a:lnSpc>
                <a:spcPct val="150000"/>
              </a:lnSpc>
            </a:pPr>
            <a:r>
              <a:rPr lang="zh-CN" altLang="en-US" sz="1800" dirty="0" smtClean="0"/>
              <a:t>下图是频率合成器的结构框图。其中参考信号由石英晶体产生，具有极高的稳定度。锁相环锁定后其鉴相器的两个输入端频率相等，所以输出频率</a:t>
            </a:r>
            <a:r>
              <a:rPr lang="en-US" altLang="zh-CN" sz="1800" dirty="0" smtClean="0"/>
              <a:t>=</a:t>
            </a:r>
            <a:r>
              <a:rPr lang="zh-CN" altLang="en-US" sz="1800" dirty="0" smtClean="0"/>
              <a:t>参考频率</a:t>
            </a:r>
            <a:r>
              <a:rPr lang="en-US" altLang="zh-CN" sz="1800" dirty="0" smtClean="0"/>
              <a:t>×N÷R</a:t>
            </a:r>
            <a:r>
              <a:rPr lang="zh-CN" altLang="en-US" sz="1800" dirty="0" smtClean="0"/>
              <a:t>，通常通过改变</a:t>
            </a:r>
            <a:r>
              <a:rPr lang="en-US" altLang="zh-CN" sz="1800" dirty="0" smtClean="0"/>
              <a:t>N</a:t>
            </a:r>
            <a:r>
              <a:rPr lang="zh-CN" altLang="en-US" sz="1800" dirty="0" smtClean="0"/>
              <a:t>获得输出频率的改变。</a:t>
            </a:r>
            <a:endParaRPr lang="en-US" altLang="zh-CN" sz="1800" dirty="0" smtClean="0"/>
          </a:p>
          <a:p>
            <a:pPr indent="457200">
              <a:lnSpc>
                <a:spcPct val="150000"/>
              </a:lnSpc>
            </a:pPr>
            <a:r>
              <a:rPr lang="zh-CN" altLang="en-US" sz="1800" dirty="0" smtClean="0"/>
              <a:t>为了减少杂散频率，用于载波发生的</a:t>
            </a:r>
            <a:r>
              <a:rPr lang="en-US" altLang="zh-CN" sz="1800" dirty="0" smtClean="0"/>
              <a:t>VCO</a:t>
            </a:r>
            <a:r>
              <a:rPr lang="zh-CN" altLang="en-US" sz="1800" dirty="0" smtClean="0"/>
              <a:t>最好是正弦波输出的</a:t>
            </a:r>
            <a:r>
              <a:rPr lang="en-US" altLang="zh-CN" sz="1800" dirty="0" smtClean="0"/>
              <a:t>LC</a:t>
            </a:r>
            <a:r>
              <a:rPr lang="zh-CN" altLang="en-US" sz="1800" dirty="0" smtClean="0"/>
              <a:t>压控振荡器。</a:t>
            </a:r>
            <a:endParaRPr lang="zh-CN" altLang="en-US" sz="1800" dirty="0"/>
          </a:p>
        </p:txBody>
      </p:sp>
      <p:pic>
        <p:nvPicPr>
          <p:cNvPr id="4" name="图片 3"/>
          <p:cNvPicPr>
            <a:picLocks noChangeAspect="1"/>
          </p:cNvPicPr>
          <p:nvPr/>
        </p:nvPicPr>
        <p:blipFill>
          <a:blip r:embed="rId3"/>
          <a:stretch>
            <a:fillRect/>
          </a:stretch>
        </p:blipFill>
        <p:spPr>
          <a:xfrm>
            <a:off x="2466066" y="4594226"/>
            <a:ext cx="6485923" cy="1227654"/>
          </a:xfrm>
          <a:prstGeom prst="rect">
            <a:avLst/>
          </a:prstGeom>
        </p:spPr>
      </p:pic>
    </p:spTree>
    <p:extLst>
      <p:ext uri="{BB962C8B-B14F-4D97-AF65-F5344CB8AC3E}">
        <p14:creationId xmlns:p14="http://schemas.microsoft.com/office/powerpoint/2010/main" val="306954585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29</a:t>
            </a:fld>
            <a:endParaRPr lang="en-US" altLang="zh-CN"/>
          </a:p>
        </p:txBody>
      </p:sp>
      <p:sp>
        <p:nvSpPr>
          <p:cNvPr id="2" name="文本框 1"/>
          <p:cNvSpPr txBox="1"/>
          <p:nvPr/>
        </p:nvSpPr>
        <p:spPr>
          <a:xfrm>
            <a:off x="449943" y="585501"/>
            <a:ext cx="11190514" cy="507831"/>
          </a:xfrm>
          <a:prstGeom prst="rect">
            <a:avLst/>
          </a:prstGeom>
          <a:noFill/>
        </p:spPr>
        <p:txBody>
          <a:bodyPr wrap="square" rtlCol="0">
            <a:spAutoFit/>
          </a:bodyPr>
          <a:lstStyle/>
          <a:p>
            <a:pPr indent="457200">
              <a:lnSpc>
                <a:spcPct val="150000"/>
              </a:lnSpc>
            </a:pPr>
            <a:r>
              <a:rPr lang="zh-CN" altLang="en-US" sz="1800" dirty="0" smtClean="0"/>
              <a:t>下面是一个适合本题要求的频率合成器的例子，输出</a:t>
            </a:r>
            <a:r>
              <a:rPr lang="zh-CN" altLang="en-US" sz="1800" dirty="0"/>
              <a:t>频率</a:t>
            </a:r>
            <a:r>
              <a:rPr lang="en-US" altLang="zh-CN" sz="1800" dirty="0"/>
              <a:t>=</a:t>
            </a:r>
            <a:r>
              <a:rPr lang="zh-CN" altLang="en-US" sz="1800" dirty="0"/>
              <a:t>晶体频率</a:t>
            </a:r>
            <a:r>
              <a:rPr lang="en-US" altLang="zh-CN" sz="1800" dirty="0"/>
              <a:t>÷</a:t>
            </a:r>
            <a:r>
              <a:rPr lang="en-US" altLang="zh-CN" sz="1800" dirty="0" smtClean="0"/>
              <a:t>R×P×N</a:t>
            </a:r>
            <a:endParaRPr lang="zh-CN" altLang="en-US" sz="1800" dirty="0"/>
          </a:p>
        </p:txBody>
      </p:sp>
      <p:sp>
        <p:nvSpPr>
          <p:cNvPr id="6" name="文本框 5"/>
          <p:cNvSpPr txBox="1"/>
          <p:nvPr/>
        </p:nvSpPr>
        <p:spPr>
          <a:xfrm>
            <a:off x="449943" y="1406977"/>
            <a:ext cx="3164114" cy="3000821"/>
          </a:xfrm>
          <a:prstGeom prst="rect">
            <a:avLst/>
          </a:prstGeom>
          <a:noFill/>
        </p:spPr>
        <p:txBody>
          <a:bodyPr wrap="square" rtlCol="0">
            <a:spAutoFit/>
          </a:bodyPr>
          <a:lstStyle/>
          <a:p>
            <a:pPr indent="457200">
              <a:lnSpc>
                <a:spcPct val="150000"/>
              </a:lnSpc>
            </a:pPr>
            <a:r>
              <a:rPr lang="zh-CN" altLang="en-US" sz="1800" dirty="0" smtClean="0"/>
              <a:t>通常</a:t>
            </a:r>
            <a:r>
              <a:rPr lang="en-US" altLang="zh-CN" sz="1800" dirty="0" smtClean="0"/>
              <a:t>MC145151</a:t>
            </a:r>
            <a:r>
              <a:rPr lang="zh-CN" altLang="en-US" sz="1800" dirty="0" smtClean="0"/>
              <a:t>中的参考分频系数</a:t>
            </a:r>
            <a:r>
              <a:rPr lang="en-US" altLang="zh-CN" sz="1800" dirty="0" smtClean="0"/>
              <a:t>R </a:t>
            </a:r>
            <a:r>
              <a:rPr lang="zh-CN" altLang="en-US" sz="1800" dirty="0" smtClean="0"/>
              <a:t>与 </a:t>
            </a:r>
            <a:r>
              <a:rPr lang="en-US" altLang="zh-CN" sz="1800" dirty="0" smtClean="0"/>
              <a:t>MC12026</a:t>
            </a:r>
            <a:r>
              <a:rPr lang="zh-CN" altLang="en-US" sz="1800" dirty="0" smtClean="0"/>
              <a:t>的预分频系数</a:t>
            </a:r>
            <a:r>
              <a:rPr lang="en-US" altLang="zh-CN" sz="1800" dirty="0" smtClean="0"/>
              <a:t>P </a:t>
            </a:r>
            <a:r>
              <a:rPr lang="zh-CN" altLang="en-US" sz="1800" dirty="0" smtClean="0"/>
              <a:t>是</a:t>
            </a:r>
            <a:r>
              <a:rPr lang="zh-CN" altLang="en-US" sz="1800" dirty="0"/>
              <a:t>固定的</a:t>
            </a:r>
            <a:r>
              <a:rPr lang="zh-CN" altLang="en-US" sz="1800" dirty="0" smtClean="0"/>
              <a:t>（设置端固定为逻辑</a:t>
            </a:r>
            <a:r>
              <a:rPr lang="en-US" altLang="zh-CN" sz="1800" dirty="0" smtClean="0"/>
              <a:t>1</a:t>
            </a:r>
            <a:r>
              <a:rPr lang="zh-CN" altLang="en-US" sz="1800" dirty="0" smtClean="0"/>
              <a:t>或逻辑</a:t>
            </a:r>
            <a:r>
              <a:rPr lang="en-US" altLang="zh-CN" sz="1800" dirty="0" smtClean="0"/>
              <a:t>0</a:t>
            </a:r>
            <a:r>
              <a:rPr lang="zh-CN" altLang="en-US" sz="1800" dirty="0" smtClean="0"/>
              <a:t>），而分频系数</a:t>
            </a:r>
            <a:r>
              <a:rPr lang="en-US" altLang="zh-CN" sz="1800" dirty="0" smtClean="0"/>
              <a:t>N</a:t>
            </a:r>
            <a:r>
              <a:rPr lang="zh-CN" altLang="en-US" sz="1800" dirty="0" smtClean="0"/>
              <a:t>是可变的（设置端接单片机），这样就可以通过单片机选择输出频率。</a:t>
            </a:r>
            <a:endParaRPr lang="en-US" altLang="zh-CN" sz="1800" dirty="0" smtClean="0"/>
          </a:p>
        </p:txBody>
      </p:sp>
      <p:pic>
        <p:nvPicPr>
          <p:cNvPr id="8" name="图片 7"/>
          <p:cNvPicPr>
            <a:picLocks noChangeAspect="1"/>
          </p:cNvPicPr>
          <p:nvPr/>
        </p:nvPicPr>
        <p:blipFill>
          <a:blip r:embed="rId2"/>
          <a:stretch>
            <a:fillRect/>
          </a:stretch>
        </p:blipFill>
        <p:spPr>
          <a:xfrm>
            <a:off x="4124864" y="1312635"/>
            <a:ext cx="7696721" cy="4689022"/>
          </a:xfrm>
          <a:prstGeom prst="rect">
            <a:avLst/>
          </a:prstGeom>
        </p:spPr>
      </p:pic>
    </p:spTree>
    <p:extLst>
      <p:ext uri="{BB962C8B-B14F-4D97-AF65-F5344CB8AC3E}">
        <p14:creationId xmlns:p14="http://schemas.microsoft.com/office/powerpoint/2010/main" val="186311803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30</a:t>
            </a:fld>
            <a:endParaRPr lang="en-US" altLang="zh-CN"/>
          </a:p>
        </p:txBody>
      </p:sp>
      <p:sp>
        <p:nvSpPr>
          <p:cNvPr id="2" name="文本框 1"/>
          <p:cNvSpPr txBox="1"/>
          <p:nvPr/>
        </p:nvSpPr>
        <p:spPr>
          <a:xfrm>
            <a:off x="399143" y="462130"/>
            <a:ext cx="11422442" cy="4247317"/>
          </a:xfrm>
          <a:prstGeom prst="rect">
            <a:avLst/>
          </a:prstGeom>
          <a:noFill/>
        </p:spPr>
        <p:txBody>
          <a:bodyPr wrap="square" rtlCol="0">
            <a:spAutoFit/>
          </a:bodyPr>
          <a:lstStyle/>
          <a:p>
            <a:pPr indent="457200">
              <a:lnSpc>
                <a:spcPct val="150000"/>
              </a:lnSpc>
            </a:pPr>
            <a:r>
              <a:rPr lang="zh-CN" altLang="en-US" sz="1800" dirty="0" smtClean="0"/>
              <a:t>频率合成器设计的要点：</a:t>
            </a:r>
            <a:endParaRPr lang="en-US" altLang="zh-CN" sz="1800" dirty="0" smtClean="0"/>
          </a:p>
          <a:p>
            <a:pPr marL="285750" indent="-285750">
              <a:lnSpc>
                <a:spcPct val="150000"/>
              </a:lnSpc>
              <a:buFont typeface="Arial" panose="020B0604020202020204" pitchFamily="34" charset="0"/>
              <a:buChar char="•"/>
            </a:pPr>
            <a:r>
              <a:rPr lang="en-US" altLang="zh-CN" sz="1800" dirty="0" smtClean="0"/>
              <a:t>VCO</a:t>
            </a:r>
            <a:r>
              <a:rPr lang="zh-CN" altLang="en-US" sz="1800" dirty="0" smtClean="0"/>
              <a:t>的可控振荡频率范围必须满足需求。</a:t>
            </a:r>
            <a:endParaRPr lang="en-US" altLang="zh-CN" sz="1800" dirty="0" smtClean="0"/>
          </a:p>
          <a:p>
            <a:pPr indent="457200">
              <a:lnSpc>
                <a:spcPct val="150000"/>
              </a:lnSpc>
            </a:pPr>
            <a:r>
              <a:rPr lang="zh-CN" altLang="en-US" sz="1800" dirty="0" smtClean="0"/>
              <a:t>以本题为例，题目要求载波频率在</a:t>
            </a:r>
            <a:r>
              <a:rPr lang="en-US" altLang="zh-CN" sz="1800" dirty="0" smtClean="0"/>
              <a:t>20~30MHz</a:t>
            </a:r>
            <a:r>
              <a:rPr lang="zh-CN" altLang="en-US" sz="1800" dirty="0" smtClean="0"/>
              <a:t>范围内任选</a:t>
            </a:r>
            <a:r>
              <a:rPr lang="en-US" altLang="zh-CN" sz="1800" dirty="0" smtClean="0"/>
              <a:t>3</a:t>
            </a:r>
            <a:r>
              <a:rPr lang="zh-CN" altLang="en-US" sz="1800" dirty="0" smtClean="0"/>
              <a:t>个，假定选择</a:t>
            </a:r>
            <a:r>
              <a:rPr lang="en-US" altLang="zh-CN" sz="1800" dirty="0" smtClean="0"/>
              <a:t>23MHz</a:t>
            </a:r>
            <a:r>
              <a:rPr lang="zh-CN" altLang="en-US" sz="1800" dirty="0" smtClean="0"/>
              <a:t>、</a:t>
            </a:r>
            <a:r>
              <a:rPr lang="en-US" altLang="zh-CN" sz="1800" dirty="0" smtClean="0"/>
              <a:t>25MHz</a:t>
            </a:r>
            <a:r>
              <a:rPr lang="zh-CN" altLang="en-US" sz="1800" dirty="0" smtClean="0"/>
              <a:t>、</a:t>
            </a:r>
            <a:r>
              <a:rPr lang="en-US" altLang="zh-CN" sz="1800" dirty="0" smtClean="0"/>
              <a:t>27MHz</a:t>
            </a:r>
            <a:r>
              <a:rPr lang="zh-CN" altLang="en-US" sz="1800" dirty="0" smtClean="0"/>
              <a:t>，那么发送端的载频发生器的可控频率范围必须大于</a:t>
            </a:r>
            <a:r>
              <a:rPr lang="en-US" altLang="zh-CN" sz="1800" dirty="0" smtClean="0"/>
              <a:t>23MHz~27MHz</a:t>
            </a:r>
            <a:r>
              <a:rPr lang="zh-CN" altLang="en-US" sz="1800" dirty="0" smtClean="0"/>
              <a:t>；接收端的本振信号源在此基础上加一个中频频率，例如选中频为</a:t>
            </a:r>
            <a:r>
              <a:rPr lang="en-US" altLang="zh-CN" sz="1800" dirty="0" smtClean="0"/>
              <a:t>460kHz</a:t>
            </a:r>
            <a:r>
              <a:rPr lang="zh-CN" altLang="en-US" sz="1800" dirty="0" smtClean="0"/>
              <a:t>，那么接收端的可控频率必须大于</a:t>
            </a:r>
            <a:r>
              <a:rPr lang="en-US" altLang="zh-CN" sz="1800" dirty="0" smtClean="0"/>
              <a:t>23.46MHz~27.46MHz</a:t>
            </a:r>
            <a:r>
              <a:rPr lang="zh-CN" altLang="en-US" sz="1800" dirty="0" smtClean="0"/>
              <a:t>。</a:t>
            </a:r>
            <a:endParaRPr lang="en-US" altLang="zh-CN" sz="1800" dirty="0" smtClean="0"/>
          </a:p>
          <a:p>
            <a:pPr indent="457200">
              <a:lnSpc>
                <a:spcPct val="150000"/>
              </a:lnSpc>
            </a:pPr>
            <a:r>
              <a:rPr lang="zh-CN" altLang="en-US" sz="1800" dirty="0" smtClean="0"/>
              <a:t>据此可选择变容二极管，计算</a:t>
            </a:r>
            <a:r>
              <a:rPr lang="en-US" altLang="zh-CN" sz="1800" dirty="0" smtClean="0"/>
              <a:t>LC</a:t>
            </a:r>
            <a:r>
              <a:rPr lang="zh-CN" altLang="en-US" sz="1800" dirty="0" smtClean="0"/>
              <a:t>参数。其中</a:t>
            </a:r>
            <a:r>
              <a:rPr lang="en-US" altLang="zh-CN" sz="1800" dirty="0" smtClean="0"/>
              <a:t>C2</a:t>
            </a:r>
            <a:r>
              <a:rPr lang="zh-CN" altLang="en-US" sz="1800" dirty="0" smtClean="0"/>
              <a:t>可以调整谐振电容的容量变化。例如选用变容二极管</a:t>
            </a:r>
            <a:r>
              <a:rPr lang="en-US" altLang="zh-CN" sz="1800" dirty="0" smtClean="0"/>
              <a:t>BB729</a:t>
            </a:r>
            <a:r>
              <a:rPr lang="zh-CN" altLang="en-US" sz="1800" dirty="0" smtClean="0"/>
              <a:t>，在反向偏压为</a:t>
            </a:r>
            <a:r>
              <a:rPr lang="en-US" altLang="zh-CN" sz="1800" dirty="0" smtClean="0"/>
              <a:t>1V~4V</a:t>
            </a:r>
            <a:r>
              <a:rPr lang="zh-CN" altLang="en-US" sz="1800" dirty="0" smtClean="0"/>
              <a:t>条件下其电容约为</a:t>
            </a:r>
            <a:r>
              <a:rPr lang="en-US" altLang="zh-CN" sz="1800" dirty="0" smtClean="0"/>
              <a:t>40pF~20pF</a:t>
            </a:r>
            <a:r>
              <a:rPr lang="zh-CN" altLang="en-US" sz="1800" dirty="0" smtClean="0"/>
              <a:t>，即电容变化约</a:t>
            </a:r>
            <a:r>
              <a:rPr lang="en-US" altLang="zh-CN" sz="1800" dirty="0" smtClean="0"/>
              <a:t>2</a:t>
            </a:r>
            <a:r>
              <a:rPr lang="zh-CN" altLang="en-US" sz="1800" dirty="0" smtClean="0"/>
              <a:t>倍。若</a:t>
            </a:r>
            <a:r>
              <a:rPr lang="en-US" altLang="zh-CN" sz="1800" dirty="0" smtClean="0"/>
              <a:t>C2</a:t>
            </a:r>
            <a:r>
              <a:rPr lang="zh-CN" altLang="en-US" sz="1800" dirty="0" smtClean="0"/>
              <a:t>远大于变容二极管的电容，则谐振频率的变化约为</a:t>
            </a:r>
            <a:r>
              <a:rPr lang="en-US" altLang="zh-CN" sz="1800" dirty="0" smtClean="0"/>
              <a:t>1.41</a:t>
            </a:r>
            <a:r>
              <a:rPr lang="zh-CN" altLang="en-US" sz="1800" dirty="0" smtClean="0"/>
              <a:t>倍。例如取</a:t>
            </a:r>
            <a:r>
              <a:rPr lang="en-US" altLang="zh-CN" sz="1800" dirty="0" smtClean="0"/>
              <a:t>L=1.5uH</a:t>
            </a:r>
            <a:r>
              <a:rPr lang="zh-CN" altLang="en-US" sz="1800" dirty="0" smtClean="0"/>
              <a:t>，振荡频率范围约为</a:t>
            </a:r>
            <a:r>
              <a:rPr lang="en-US" altLang="zh-CN" sz="1800" dirty="0" smtClean="0"/>
              <a:t>20.5MHz~29.1MHz</a:t>
            </a:r>
            <a:r>
              <a:rPr lang="zh-CN" altLang="en-US" sz="1800" dirty="0" smtClean="0"/>
              <a:t>。</a:t>
            </a:r>
            <a:endParaRPr lang="en-US" altLang="zh-CN" sz="1800" dirty="0" smtClean="0"/>
          </a:p>
          <a:p>
            <a:pPr indent="457200">
              <a:lnSpc>
                <a:spcPct val="150000"/>
              </a:lnSpc>
            </a:pPr>
            <a:r>
              <a:rPr lang="zh-CN" altLang="en-US" sz="1800" dirty="0" smtClean="0"/>
              <a:t>若希望减小频率变化范围，只需将</a:t>
            </a:r>
            <a:r>
              <a:rPr lang="en-US" altLang="zh-CN" sz="1800" dirty="0" smtClean="0"/>
              <a:t>C2</a:t>
            </a:r>
            <a:r>
              <a:rPr lang="zh-CN" altLang="en-US" sz="1800" dirty="0" smtClean="0"/>
              <a:t>取得与变容二极管的电容同数量级即可，此时必须重新计算电感值。</a:t>
            </a:r>
            <a:endParaRPr lang="en-US" altLang="zh-CN" sz="1800" dirty="0" smtClean="0"/>
          </a:p>
          <a:p>
            <a:pPr indent="457200">
              <a:lnSpc>
                <a:spcPct val="150000"/>
              </a:lnSpc>
            </a:pPr>
            <a:endParaRPr lang="en-US" altLang="zh-CN" sz="1800" dirty="0" smtClean="0"/>
          </a:p>
        </p:txBody>
      </p:sp>
    </p:spTree>
    <p:extLst>
      <p:ext uri="{BB962C8B-B14F-4D97-AF65-F5344CB8AC3E}">
        <p14:creationId xmlns:p14="http://schemas.microsoft.com/office/powerpoint/2010/main" val="185630040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文本框 4"/>
          <p:cNvSpPr txBox="1"/>
          <p:nvPr/>
        </p:nvSpPr>
        <p:spPr>
          <a:xfrm>
            <a:off x="326571" y="457200"/>
            <a:ext cx="11415486" cy="34163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t>石英晶体的频率选择</a:t>
            </a:r>
            <a:endParaRPr lang="en-US" altLang="zh-CN" sz="1800" dirty="0"/>
          </a:p>
          <a:p>
            <a:pPr indent="457200">
              <a:lnSpc>
                <a:spcPct val="150000"/>
              </a:lnSpc>
            </a:pPr>
            <a:r>
              <a:rPr lang="zh-CN" altLang="en-US" sz="1800" dirty="0"/>
              <a:t>由于不是所有的频率都可以找到商品石英晶体谐振器的，而频率合成器的输出频率也不是连续可变的，所以必须仔细计算频率合成器中的石英晶体的频率。</a:t>
            </a:r>
          </a:p>
          <a:p>
            <a:pPr indent="457200">
              <a:lnSpc>
                <a:spcPct val="150000"/>
              </a:lnSpc>
            </a:pPr>
            <a:r>
              <a:rPr lang="zh-CN" altLang="en-US" sz="1800" dirty="0" smtClean="0"/>
              <a:t>由于</a:t>
            </a:r>
            <a:r>
              <a:rPr lang="zh-CN" altLang="en-US" sz="1800" dirty="0"/>
              <a:t>输出频率</a:t>
            </a:r>
            <a:r>
              <a:rPr lang="en-US" altLang="zh-CN" sz="1800" dirty="0"/>
              <a:t>=</a:t>
            </a:r>
            <a:r>
              <a:rPr lang="zh-CN" altLang="en-US" sz="1800" dirty="0"/>
              <a:t>晶体频率</a:t>
            </a:r>
            <a:r>
              <a:rPr lang="en-US" altLang="zh-CN" sz="1800" dirty="0"/>
              <a:t>÷</a:t>
            </a:r>
            <a:r>
              <a:rPr lang="en-US" altLang="zh-CN" sz="1800" dirty="0" smtClean="0"/>
              <a:t>R×P×N</a:t>
            </a:r>
            <a:r>
              <a:rPr lang="zh-CN" altLang="en-US" sz="1800" dirty="0" smtClean="0"/>
              <a:t>，</a:t>
            </a:r>
            <a:r>
              <a:rPr lang="en-US" altLang="zh-CN" sz="1800" dirty="0" smtClean="0"/>
              <a:t>R</a:t>
            </a:r>
            <a:r>
              <a:rPr lang="zh-CN" altLang="en-US" sz="1800" dirty="0" smtClean="0"/>
              <a:t>与</a:t>
            </a:r>
            <a:r>
              <a:rPr lang="en-US" altLang="zh-CN" sz="1800" dirty="0" smtClean="0"/>
              <a:t>P</a:t>
            </a:r>
            <a:r>
              <a:rPr lang="zh-CN" altLang="en-US" sz="1800" dirty="0" smtClean="0"/>
              <a:t>通常固定后不再改变，</a:t>
            </a:r>
            <a:r>
              <a:rPr lang="en-US" altLang="zh-CN" sz="1800" dirty="0" smtClean="0"/>
              <a:t>N</a:t>
            </a:r>
            <a:r>
              <a:rPr lang="zh-CN" altLang="en-US" sz="1800" dirty="0" smtClean="0"/>
              <a:t>只能以整数变化，所以就要求（晶体</a:t>
            </a:r>
            <a:r>
              <a:rPr lang="zh-CN" altLang="en-US" sz="1800" dirty="0"/>
              <a:t>频率</a:t>
            </a:r>
            <a:r>
              <a:rPr lang="en-US" altLang="zh-CN" sz="1800" dirty="0"/>
              <a:t>÷</a:t>
            </a:r>
            <a:r>
              <a:rPr lang="en-US" altLang="zh-CN" sz="1800" dirty="0" smtClean="0"/>
              <a:t>R×P</a:t>
            </a:r>
            <a:r>
              <a:rPr lang="zh-CN" altLang="en-US" sz="1800" dirty="0" smtClean="0"/>
              <a:t>）与中频频率满足整数比的关系。</a:t>
            </a:r>
            <a:endParaRPr lang="en-US" altLang="zh-CN" sz="1800" dirty="0" smtClean="0"/>
          </a:p>
          <a:p>
            <a:pPr indent="457200">
              <a:lnSpc>
                <a:spcPct val="150000"/>
              </a:lnSpc>
            </a:pPr>
            <a:r>
              <a:rPr lang="zh-CN" altLang="en-US" sz="1800" dirty="0"/>
              <a:t>例如在本题中，接收机本振频率比发射机载波高一个中频频率，假定中频频率为</a:t>
            </a:r>
            <a:r>
              <a:rPr lang="en-US" altLang="zh-CN" sz="1800" dirty="0"/>
              <a:t>460kHz</a:t>
            </a:r>
            <a:r>
              <a:rPr lang="zh-CN" altLang="en-US" sz="1800" dirty="0" smtClean="0"/>
              <a:t>，则可以取（</a:t>
            </a:r>
            <a:r>
              <a:rPr lang="zh-CN" altLang="en-US" sz="1800" dirty="0"/>
              <a:t>晶体频率</a:t>
            </a:r>
            <a:r>
              <a:rPr lang="en-US" altLang="zh-CN" sz="1800" dirty="0"/>
              <a:t>÷R×P</a:t>
            </a:r>
            <a:r>
              <a:rPr lang="zh-CN" altLang="en-US" sz="1800" dirty="0" smtClean="0"/>
              <a:t>）</a:t>
            </a:r>
            <a:r>
              <a:rPr lang="en-US" altLang="zh-CN" sz="1800" dirty="0" smtClean="0"/>
              <a:t>=10kHz</a:t>
            </a:r>
            <a:r>
              <a:rPr lang="zh-CN" altLang="en-US" sz="1800" dirty="0" smtClean="0"/>
              <a:t>。此时本振锁相环中的</a:t>
            </a:r>
            <a:r>
              <a:rPr lang="en-US" altLang="zh-CN" sz="1800" dirty="0" smtClean="0"/>
              <a:t>N</a:t>
            </a:r>
            <a:r>
              <a:rPr lang="zh-CN" altLang="en-US" sz="1800" dirty="0" smtClean="0"/>
              <a:t>比发射机锁相环中的</a:t>
            </a:r>
            <a:r>
              <a:rPr lang="en-US" altLang="zh-CN" sz="1800" dirty="0" smtClean="0"/>
              <a:t>N</a:t>
            </a:r>
            <a:r>
              <a:rPr lang="zh-CN" altLang="en-US" sz="1800" dirty="0" smtClean="0"/>
              <a:t>大</a:t>
            </a:r>
            <a:r>
              <a:rPr lang="en-US" altLang="zh-CN" sz="1800" dirty="0" smtClean="0"/>
              <a:t>23</a:t>
            </a:r>
            <a:r>
              <a:rPr lang="zh-CN" altLang="en-US" sz="1800" dirty="0" smtClean="0"/>
              <a:t>。</a:t>
            </a:r>
            <a:endParaRPr lang="en-US" altLang="zh-CN" sz="1800" dirty="0"/>
          </a:p>
          <a:p>
            <a:pPr indent="457200">
              <a:lnSpc>
                <a:spcPct val="150000"/>
              </a:lnSpc>
            </a:pPr>
            <a:endParaRPr lang="zh-CN" altLang="en-US" sz="1800" dirty="0"/>
          </a:p>
        </p:txBody>
      </p:sp>
    </p:spTree>
    <p:extLst>
      <p:ext uri="{BB962C8B-B14F-4D97-AF65-F5344CB8AC3E}">
        <p14:creationId xmlns:p14="http://schemas.microsoft.com/office/powerpoint/2010/main" val="32077028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32</a:t>
            </a:fld>
            <a:endParaRPr lang="en-US" altLang="zh-CN"/>
          </a:p>
        </p:txBody>
      </p:sp>
      <p:sp>
        <p:nvSpPr>
          <p:cNvPr id="6" name="文本框 5"/>
          <p:cNvSpPr txBox="1"/>
          <p:nvPr/>
        </p:nvSpPr>
        <p:spPr>
          <a:xfrm>
            <a:off x="449943" y="428171"/>
            <a:ext cx="11371642" cy="2169825"/>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发送端的载频调制电路与接收端的混频电路</a:t>
            </a:r>
            <a:endParaRPr lang="zh-CN" altLang="zh-CN" sz="1800" dirty="0"/>
          </a:p>
          <a:p>
            <a:pPr indent="457200">
              <a:lnSpc>
                <a:spcPct val="150000"/>
              </a:lnSpc>
            </a:pPr>
            <a:r>
              <a:rPr lang="zh-CN" altLang="en-US" sz="1800" dirty="0" smtClean="0"/>
              <a:t>这两个电路都采用乘法器。区别在于，发射端的调制电路输出不仅包含信号与载波的乘积（两个边带），还应该包含载波成分。而接收端的混频电路完全不希望本振频率输出。所以，假如采用</a:t>
            </a:r>
            <a:r>
              <a:rPr lang="en-US" altLang="zh-CN" sz="1800" dirty="0" smtClean="0"/>
              <a:t>AD835</a:t>
            </a:r>
            <a:r>
              <a:rPr lang="zh-CN" altLang="en-US" sz="1800" dirty="0" smtClean="0"/>
              <a:t>一类的乘法器作为混频器时，发送端的电路应该是乘法器叠加载频，而接收端的电路仅仅是乘法器。假如采用</a:t>
            </a:r>
            <a:r>
              <a:rPr lang="en-US" altLang="zh-CN" sz="1800" dirty="0" smtClean="0"/>
              <a:t>MC1496</a:t>
            </a:r>
            <a:r>
              <a:rPr lang="zh-CN" altLang="en-US" sz="1800" dirty="0" smtClean="0"/>
              <a:t>一类的调制解调电路时，应该通过调零电位器，在发送端加入载频，在接收端抑制本振。</a:t>
            </a:r>
            <a:endParaRPr lang="zh-CN" altLang="en-US" sz="1600" dirty="0"/>
          </a:p>
        </p:txBody>
      </p:sp>
    </p:spTree>
    <p:extLst>
      <p:ext uri="{BB962C8B-B14F-4D97-AF65-F5344CB8AC3E}">
        <p14:creationId xmlns:p14="http://schemas.microsoft.com/office/powerpoint/2010/main" val="11419102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33</a:t>
            </a:fld>
            <a:endParaRPr lang="en-US" altLang="zh-CN"/>
          </a:p>
        </p:txBody>
      </p:sp>
      <p:sp>
        <p:nvSpPr>
          <p:cNvPr id="6" name="文本框 5"/>
          <p:cNvSpPr txBox="1"/>
          <p:nvPr/>
        </p:nvSpPr>
        <p:spPr>
          <a:xfrm>
            <a:off x="449943" y="428171"/>
            <a:ext cx="11371642" cy="258532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接收端的</a:t>
            </a:r>
            <a:r>
              <a:rPr lang="zh-CN" altLang="en-US" sz="1800" dirty="0"/>
              <a:t>设计</a:t>
            </a:r>
            <a:endParaRPr lang="zh-CN" altLang="zh-CN" sz="1800" dirty="0"/>
          </a:p>
          <a:p>
            <a:pPr indent="457200">
              <a:lnSpc>
                <a:spcPct val="150000"/>
              </a:lnSpc>
            </a:pPr>
            <a:r>
              <a:rPr lang="zh-CN" altLang="en-US" sz="1800" dirty="0" smtClean="0"/>
              <a:t>接收端就是一个超外差式的</a:t>
            </a:r>
            <a:r>
              <a:rPr lang="en-US" altLang="zh-CN" sz="1800" dirty="0" smtClean="0"/>
              <a:t>AM</a:t>
            </a:r>
            <a:r>
              <a:rPr lang="zh-CN" altLang="en-US" sz="1800" dirty="0" smtClean="0"/>
              <a:t>接收机。下变频与模拟</a:t>
            </a:r>
            <a:r>
              <a:rPr lang="en-US" altLang="zh-CN" sz="1800" dirty="0" smtClean="0"/>
              <a:t>-</a:t>
            </a:r>
            <a:r>
              <a:rPr lang="zh-CN" altLang="en-US" sz="1800" dirty="0" smtClean="0"/>
              <a:t>数字分离滤波器已经在前面讨论过了。</a:t>
            </a:r>
            <a:endParaRPr lang="en-US" altLang="zh-CN" sz="1800" dirty="0" smtClean="0"/>
          </a:p>
          <a:p>
            <a:pPr indent="457200">
              <a:lnSpc>
                <a:spcPct val="150000"/>
              </a:lnSpc>
            </a:pPr>
            <a:r>
              <a:rPr lang="zh-CN" altLang="en-US" sz="1800" dirty="0" smtClean="0"/>
              <a:t>此接收器中很重要的是</a:t>
            </a:r>
            <a:r>
              <a:rPr lang="en-US" altLang="zh-CN" sz="1800" dirty="0" smtClean="0"/>
              <a:t>AGC</a:t>
            </a:r>
            <a:r>
              <a:rPr lang="zh-CN" altLang="en-US" sz="1800" dirty="0" smtClean="0"/>
              <a:t>功能。由于</a:t>
            </a:r>
            <a:r>
              <a:rPr lang="en-US" altLang="zh-CN" sz="1800" dirty="0" smtClean="0"/>
              <a:t>OOK</a:t>
            </a:r>
            <a:r>
              <a:rPr lang="zh-CN" altLang="en-US" sz="1800" dirty="0" smtClean="0"/>
              <a:t>数字信号的解码（取样判决）依赖于信号幅度，所以一个具有足够大的</a:t>
            </a:r>
            <a:r>
              <a:rPr lang="en-US" altLang="zh-CN" sz="1800" dirty="0" smtClean="0"/>
              <a:t>AGC</a:t>
            </a:r>
            <a:r>
              <a:rPr lang="zh-CN" altLang="en-US" sz="1800" dirty="0" smtClean="0"/>
              <a:t>范围的中放电路就很关键。无线信号的强度随距离平方反比</a:t>
            </a:r>
            <a:r>
              <a:rPr lang="zh-CN" altLang="en-US" sz="1800" dirty="0"/>
              <a:t>，若允许发射</a:t>
            </a:r>
            <a:r>
              <a:rPr lang="zh-CN" altLang="en-US" sz="1800" dirty="0" smtClean="0"/>
              <a:t>端与接收端的距离变化</a:t>
            </a:r>
            <a:r>
              <a:rPr lang="en-US" altLang="zh-CN" sz="1800" dirty="0" smtClean="0"/>
              <a:t>3</a:t>
            </a:r>
            <a:r>
              <a:rPr lang="zh-CN" altLang="en-US" sz="1800" dirty="0" smtClean="0"/>
              <a:t>倍，则接收信号强度将变化</a:t>
            </a:r>
            <a:r>
              <a:rPr lang="en-US" altLang="zh-CN" sz="1800" dirty="0" smtClean="0"/>
              <a:t>9</a:t>
            </a:r>
            <a:r>
              <a:rPr lang="zh-CN" altLang="en-US" sz="1800" dirty="0" smtClean="0"/>
              <a:t>倍。再加上发射端的电压变化、环境的影响等等因素，估计有</a:t>
            </a:r>
            <a:r>
              <a:rPr lang="en-US" altLang="zh-CN" sz="1800" dirty="0" smtClean="0"/>
              <a:t>40dB</a:t>
            </a:r>
            <a:r>
              <a:rPr lang="zh-CN" altLang="en-US" sz="1800" dirty="0" smtClean="0"/>
              <a:t>的</a:t>
            </a:r>
            <a:r>
              <a:rPr lang="en-US" altLang="zh-CN" sz="1800" dirty="0" smtClean="0"/>
              <a:t>AGC</a:t>
            </a:r>
            <a:r>
              <a:rPr lang="zh-CN" altLang="en-US" sz="1800" dirty="0" smtClean="0"/>
              <a:t>范围才能大致满足本题目的需求。而整机的接收灵敏度等指标，可以根据实际情况测试确定。</a:t>
            </a:r>
            <a:endParaRPr lang="zh-CN" altLang="en-US" sz="1600" dirty="0"/>
          </a:p>
        </p:txBody>
      </p:sp>
      <p:pic>
        <p:nvPicPr>
          <p:cNvPr id="7" name="图片 6"/>
          <p:cNvPicPr>
            <a:picLocks noChangeAspect="1"/>
          </p:cNvPicPr>
          <p:nvPr/>
        </p:nvPicPr>
        <p:blipFill>
          <a:blip r:embed="rId2"/>
          <a:stretch>
            <a:fillRect/>
          </a:stretch>
        </p:blipFill>
        <p:spPr>
          <a:xfrm>
            <a:off x="1729686" y="3318652"/>
            <a:ext cx="9004990" cy="1550988"/>
          </a:xfrm>
          <a:prstGeom prst="rect">
            <a:avLst/>
          </a:prstGeom>
        </p:spPr>
      </p:pic>
    </p:spTree>
    <p:extLst>
      <p:ext uri="{BB962C8B-B14F-4D97-AF65-F5344CB8AC3E}">
        <p14:creationId xmlns:p14="http://schemas.microsoft.com/office/powerpoint/2010/main" val="355104160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34</a:t>
            </a:fld>
            <a:endParaRPr lang="en-US" altLang="zh-CN"/>
          </a:p>
        </p:txBody>
      </p:sp>
      <p:sp>
        <p:nvSpPr>
          <p:cNvPr id="2" name="文本框 1"/>
          <p:cNvSpPr txBox="1"/>
          <p:nvPr/>
        </p:nvSpPr>
        <p:spPr>
          <a:xfrm>
            <a:off x="500742" y="535791"/>
            <a:ext cx="11190514" cy="4562788"/>
          </a:xfrm>
          <a:prstGeom prst="rect">
            <a:avLst/>
          </a:prstGeom>
          <a:noFill/>
        </p:spPr>
        <p:txBody>
          <a:bodyPr wrap="square" rtlCol="0">
            <a:spAutoFit/>
          </a:bodyPr>
          <a:lstStyle/>
          <a:p>
            <a:pPr>
              <a:lnSpc>
                <a:spcPct val="150000"/>
              </a:lnSpc>
              <a:spcAft>
                <a:spcPts val="1200"/>
              </a:spcAft>
            </a:pPr>
            <a:r>
              <a:rPr lang="zh-CN" altLang="en-US" sz="2400" dirty="0">
                <a:solidFill>
                  <a:srgbClr val="FF0000"/>
                </a:solidFill>
                <a:latin typeface="隶书" panose="02010509060101010101" pitchFamily="49" charset="-122"/>
                <a:ea typeface="隶书" panose="02010509060101010101" pitchFamily="49" charset="-122"/>
              </a:rPr>
              <a:t>训练</a:t>
            </a:r>
            <a:r>
              <a:rPr lang="zh-CN" altLang="en-US" sz="2400" dirty="0" smtClean="0">
                <a:solidFill>
                  <a:srgbClr val="FF0000"/>
                </a:solidFill>
                <a:latin typeface="隶书" panose="02010509060101010101" pitchFamily="49" charset="-122"/>
                <a:ea typeface="隶书" panose="02010509060101010101" pitchFamily="49" charset="-122"/>
              </a:rPr>
              <a:t>题目  </a:t>
            </a:r>
            <a:r>
              <a:rPr lang="en-US" altLang="zh-CN" sz="1800" dirty="0" smtClean="0"/>
              <a:t>2016</a:t>
            </a:r>
            <a:r>
              <a:rPr lang="zh-CN" altLang="zh-CN" sz="1800" dirty="0"/>
              <a:t>年上海市</a:t>
            </a:r>
            <a:r>
              <a:rPr lang="en-US" altLang="zh-CN" sz="1800" dirty="0"/>
              <a:t>TI</a:t>
            </a:r>
            <a:r>
              <a:rPr lang="zh-CN" altLang="zh-CN" sz="1800" dirty="0"/>
              <a:t>杯</a:t>
            </a:r>
            <a:r>
              <a:rPr lang="en-US" altLang="zh-CN" sz="1800" dirty="0"/>
              <a:t>B</a:t>
            </a:r>
            <a:r>
              <a:rPr lang="zh-CN" altLang="zh-CN" sz="1800" dirty="0" smtClean="0"/>
              <a:t>题</a:t>
            </a:r>
            <a:r>
              <a:rPr lang="en-US" altLang="zh-CN" sz="1800" dirty="0" smtClean="0"/>
              <a:t>《</a:t>
            </a:r>
            <a:r>
              <a:rPr lang="zh-CN" altLang="zh-CN" sz="1800" dirty="0" smtClean="0"/>
              <a:t>短波</a:t>
            </a:r>
            <a:r>
              <a:rPr lang="zh-CN" altLang="zh-CN" sz="1800" dirty="0"/>
              <a:t>频段数字通信系统</a:t>
            </a:r>
            <a:r>
              <a:rPr lang="zh-CN" altLang="zh-CN" sz="1800" dirty="0" smtClean="0"/>
              <a:t>设计</a:t>
            </a:r>
            <a:r>
              <a:rPr lang="en-US" altLang="zh-CN" sz="1800" dirty="0" smtClean="0"/>
              <a:t>》</a:t>
            </a:r>
            <a:endParaRPr lang="zh-CN" altLang="zh-CN" dirty="0"/>
          </a:p>
          <a:p>
            <a:pPr>
              <a:lnSpc>
                <a:spcPct val="150000"/>
              </a:lnSpc>
            </a:pPr>
            <a:r>
              <a:rPr lang="zh-CN" altLang="zh-CN" sz="1800" dirty="0">
                <a:latin typeface="黑体" panose="02010609060101010101" pitchFamily="49" charset="-122"/>
                <a:ea typeface="黑体" panose="02010609060101010101" pitchFamily="49" charset="-122"/>
              </a:rPr>
              <a:t>一、任务</a:t>
            </a:r>
          </a:p>
          <a:p>
            <a:pPr indent="457200">
              <a:lnSpc>
                <a:spcPct val="150000"/>
              </a:lnSpc>
            </a:pPr>
            <a:r>
              <a:rPr lang="zh-CN" altLang="zh-CN" sz="1800" dirty="0"/>
              <a:t>设计一个短波频段全数字收发通信演示系统，要求通信调制模式采用</a:t>
            </a:r>
            <a:r>
              <a:rPr lang="en-US" altLang="zh-CN" sz="1800" dirty="0"/>
              <a:t>BPSK</a:t>
            </a:r>
            <a:r>
              <a:rPr lang="zh-CN" altLang="zh-CN" sz="1800" dirty="0"/>
              <a:t>调制方式，调制符号率固定，调制载波通过程序设置，范围</a:t>
            </a:r>
            <a:r>
              <a:rPr lang="en-US" altLang="zh-CN" sz="1800" dirty="0"/>
              <a:t>1MHz</a:t>
            </a:r>
            <a:r>
              <a:rPr lang="zh-CN" altLang="zh-CN" sz="1800" dirty="0"/>
              <a:t>～</a:t>
            </a:r>
            <a:r>
              <a:rPr lang="en-US" altLang="zh-CN" sz="1800" dirty="0"/>
              <a:t>5MHz</a:t>
            </a:r>
            <a:r>
              <a:rPr lang="zh-CN" altLang="zh-CN" sz="1800" dirty="0"/>
              <a:t>，在接收方要求去除调制载波，并用示波器观察基带波形。下图给出演示系统设计</a:t>
            </a:r>
            <a:r>
              <a:rPr lang="zh-CN" altLang="zh-CN" sz="1800" dirty="0" smtClean="0"/>
              <a:t>框图</a:t>
            </a:r>
            <a:r>
              <a:rPr lang="zh-CN" altLang="en-US" sz="1800" dirty="0" smtClean="0"/>
              <a:t>。</a:t>
            </a:r>
            <a:endParaRPr lang="en-US" altLang="zh-CN" sz="1800" dirty="0" smtClean="0"/>
          </a:p>
          <a:p>
            <a:pPr indent="457200">
              <a:lnSpc>
                <a:spcPct val="150000"/>
              </a:lnSpc>
            </a:pPr>
            <a:r>
              <a:rPr lang="zh-CN" altLang="en-US" sz="1800" dirty="0" smtClean="0"/>
              <a:t>发送系统：</a:t>
            </a:r>
            <a:endParaRPr lang="zh-CN" altLang="zh-CN" sz="1800" dirty="0"/>
          </a:p>
          <a:p>
            <a:pPr indent="457200">
              <a:lnSpc>
                <a:spcPct val="150000"/>
              </a:lnSpc>
            </a:pPr>
            <a:endParaRPr lang="en-US" altLang="zh-CN" sz="1600" dirty="0" smtClean="0"/>
          </a:p>
          <a:p>
            <a:pPr indent="457200">
              <a:lnSpc>
                <a:spcPct val="150000"/>
              </a:lnSpc>
            </a:pPr>
            <a:endParaRPr lang="en-US" altLang="zh-CN" sz="1600" dirty="0"/>
          </a:p>
          <a:p>
            <a:pPr indent="457200">
              <a:lnSpc>
                <a:spcPct val="150000"/>
              </a:lnSpc>
            </a:pPr>
            <a:endParaRPr lang="en-US" altLang="zh-CN" sz="1200" dirty="0" smtClean="0"/>
          </a:p>
          <a:p>
            <a:pPr indent="457200">
              <a:lnSpc>
                <a:spcPct val="150000"/>
              </a:lnSpc>
            </a:pPr>
            <a:endParaRPr lang="en-US" altLang="zh-CN" sz="1100" dirty="0"/>
          </a:p>
          <a:p>
            <a:pPr indent="457200">
              <a:lnSpc>
                <a:spcPct val="150000"/>
              </a:lnSpc>
            </a:pPr>
            <a:r>
              <a:rPr lang="zh-CN" altLang="en-US" sz="1800" dirty="0" smtClean="0"/>
              <a:t>接收系统：</a:t>
            </a:r>
            <a:endParaRPr lang="zh-CN" altLang="en-US" sz="1800" dirty="0"/>
          </a:p>
        </p:txBody>
      </p:sp>
      <p:pic>
        <p:nvPicPr>
          <p:cNvPr id="6" name="图片 5"/>
          <p:cNvPicPr/>
          <p:nvPr/>
        </p:nvPicPr>
        <p:blipFill>
          <a:blip r:embed="rId2"/>
          <a:stretch>
            <a:fillRect/>
          </a:stretch>
        </p:blipFill>
        <p:spPr>
          <a:xfrm>
            <a:off x="2500539" y="3007145"/>
            <a:ext cx="5925004" cy="1289867"/>
          </a:xfrm>
          <a:prstGeom prst="rect">
            <a:avLst/>
          </a:prstGeom>
        </p:spPr>
      </p:pic>
      <p:pic>
        <p:nvPicPr>
          <p:cNvPr id="7" name="图片 6"/>
          <p:cNvPicPr/>
          <p:nvPr/>
        </p:nvPicPr>
        <p:blipFill>
          <a:blip r:embed="rId3"/>
          <a:stretch>
            <a:fillRect/>
          </a:stretch>
        </p:blipFill>
        <p:spPr>
          <a:xfrm>
            <a:off x="2500539" y="4648165"/>
            <a:ext cx="4499231" cy="1272261"/>
          </a:xfrm>
          <a:prstGeom prst="rect">
            <a:avLst/>
          </a:prstGeom>
        </p:spPr>
      </p:pic>
    </p:spTree>
    <p:extLst>
      <p:ext uri="{BB962C8B-B14F-4D97-AF65-F5344CB8AC3E}">
        <p14:creationId xmlns:p14="http://schemas.microsoft.com/office/powerpoint/2010/main" val="25909918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矩形 4"/>
          <p:cNvSpPr/>
          <p:nvPr/>
        </p:nvSpPr>
        <p:spPr>
          <a:xfrm>
            <a:off x="464457" y="506604"/>
            <a:ext cx="11357128" cy="5025735"/>
          </a:xfrm>
          <a:prstGeom prst="rect">
            <a:avLst/>
          </a:prstGeom>
        </p:spPr>
        <p:txBody>
          <a:bodyPr wrap="square">
            <a:spAutoFit/>
          </a:bodyPr>
          <a:lstStyle/>
          <a:p>
            <a:pPr algn="just">
              <a:lnSpc>
                <a:spcPct val="150000"/>
              </a:lnSpc>
              <a:spcAft>
                <a:spcPts val="0"/>
              </a:spcAft>
            </a:pPr>
            <a:r>
              <a:rPr lang="zh-CN" altLang="zh-CN" sz="1800" kern="100" dirty="0">
                <a:latin typeface="Times New Roman" panose="02020603050405020304" pitchFamily="18" charset="0"/>
                <a:ea typeface="黑体" panose="02010609060101010101" pitchFamily="49" charset="-122"/>
              </a:rPr>
              <a:t>二、要求</a:t>
            </a:r>
            <a:endParaRPr lang="zh-CN" altLang="zh-CN" sz="1800" kern="100" dirty="0">
              <a:latin typeface="Times New Roman" panose="02020603050405020304" pitchFamily="18" charset="0"/>
              <a:ea typeface="宋体" panose="02010600030101010101" pitchFamily="2" charset="-122"/>
            </a:endParaRPr>
          </a:p>
          <a:p>
            <a:pPr indent="266700" algn="just">
              <a:lnSpc>
                <a:spcPct val="150000"/>
              </a:lnSpc>
              <a:spcAft>
                <a:spcPts val="0"/>
              </a:spcAft>
            </a:pP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．基本要求</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）产生三种数据序列：全</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序列、</a:t>
            </a:r>
            <a:r>
              <a:rPr lang="en-US" altLang="zh-CN" sz="1800" kern="100" dirty="0">
                <a:latin typeface="Times New Roman" panose="02020603050405020304" pitchFamily="18" charset="0"/>
                <a:ea typeface="宋体" panose="02010600030101010101" pitchFamily="2" charset="-122"/>
              </a:rPr>
              <a:t>01</a:t>
            </a:r>
            <a:r>
              <a:rPr lang="zh-CN" altLang="zh-CN" sz="1800" kern="100" dirty="0">
                <a:latin typeface="Times New Roman" panose="02020603050405020304" pitchFamily="18" charset="0"/>
                <a:ea typeface="宋体" panose="02010600030101010101" pitchFamily="2" charset="-122"/>
              </a:rPr>
              <a:t>交替序列、伪随机周期序列（生成式：</a:t>
            </a:r>
            <a:r>
              <a:rPr lang="en-US" altLang="zh-CN" sz="1800" i="1" kern="100" dirty="0">
                <a:latin typeface="Times New Roman" panose="02020603050405020304" pitchFamily="18" charset="0"/>
                <a:ea typeface="宋体" panose="02010600030101010101" pitchFamily="2" charset="-122"/>
              </a:rPr>
              <a:t>f</a:t>
            </a:r>
            <a:r>
              <a:rPr lang="en-US" altLang="zh-CN" sz="1800" kern="100" dirty="0">
                <a:latin typeface="Times New Roman" panose="02020603050405020304" pitchFamily="18" charset="0"/>
                <a:ea typeface="宋体" panose="02010600030101010101" pitchFamily="2" charset="-122"/>
              </a:rPr>
              <a:t>(</a:t>
            </a:r>
            <a:r>
              <a:rPr lang="en-US" altLang="zh-CN" sz="1800" i="1" kern="100" dirty="0">
                <a:latin typeface="Times New Roman" panose="02020603050405020304" pitchFamily="18" charset="0"/>
                <a:ea typeface="宋体" panose="02010600030101010101" pitchFamily="2" charset="-122"/>
              </a:rPr>
              <a:t>x</a:t>
            </a:r>
            <a:r>
              <a:rPr lang="en-US" altLang="zh-CN" sz="1800" kern="100" dirty="0">
                <a:latin typeface="Times New Roman" panose="02020603050405020304" pitchFamily="18" charset="0"/>
                <a:ea typeface="宋体" panose="02010600030101010101" pitchFamily="2" charset="-122"/>
              </a:rPr>
              <a:t>) = </a:t>
            </a:r>
            <a:r>
              <a:rPr lang="en-US" altLang="zh-CN" sz="1800" i="1" kern="100" dirty="0">
                <a:latin typeface="Times New Roman" panose="02020603050405020304" pitchFamily="18" charset="0"/>
                <a:ea typeface="宋体" panose="02010600030101010101" pitchFamily="2" charset="-122"/>
              </a:rPr>
              <a:t>x</a:t>
            </a:r>
            <a:r>
              <a:rPr lang="en-US" altLang="zh-CN" sz="1800" kern="100" baseline="30000" dirty="0">
                <a:latin typeface="Times New Roman" panose="02020603050405020304" pitchFamily="18" charset="0"/>
                <a:ea typeface="宋体" panose="02010600030101010101" pitchFamily="2" charset="-122"/>
              </a:rPr>
              <a:t>4</a:t>
            </a:r>
            <a:r>
              <a:rPr lang="en-US" altLang="zh-CN" sz="1800" kern="100" dirty="0">
                <a:latin typeface="Times New Roman" panose="02020603050405020304" pitchFamily="18" charset="0"/>
                <a:ea typeface="宋体" panose="02010600030101010101" pitchFamily="2" charset="-122"/>
              </a:rPr>
              <a:t>+</a:t>
            </a:r>
            <a:r>
              <a:rPr lang="en-US" altLang="zh-CN" sz="1800" i="1" kern="100" dirty="0">
                <a:latin typeface="Times New Roman" panose="02020603050405020304" pitchFamily="18" charset="0"/>
                <a:ea typeface="宋体" panose="02010600030101010101" pitchFamily="2" charset="-122"/>
              </a:rPr>
              <a:t>x</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2</a:t>
            </a:r>
            <a:r>
              <a:rPr lang="zh-CN" altLang="zh-CN" sz="1800" kern="100" dirty="0">
                <a:latin typeface="Times New Roman" panose="02020603050405020304" pitchFamily="18" charset="0"/>
                <a:ea typeface="宋体" panose="02010600030101010101" pitchFamily="2" charset="-122"/>
              </a:rPr>
              <a:t>）对数据序列进行</a:t>
            </a:r>
            <a:r>
              <a:rPr lang="en-US" altLang="zh-CN" sz="1800" kern="100" dirty="0">
                <a:latin typeface="Times New Roman" panose="02020603050405020304" pitchFamily="18" charset="0"/>
                <a:ea typeface="宋体" panose="02010600030101010101" pitchFamily="2" charset="-122"/>
              </a:rPr>
              <a:t>BPSK</a:t>
            </a:r>
            <a:r>
              <a:rPr lang="zh-CN" altLang="zh-CN" sz="1800" kern="100" dirty="0">
                <a:latin typeface="Times New Roman" panose="02020603050405020304" pitchFamily="18" charset="0"/>
                <a:ea typeface="宋体" panose="02010600030101010101" pitchFamily="2" charset="-122"/>
              </a:rPr>
              <a:t>调制，调制符号率设置为</a:t>
            </a:r>
            <a:r>
              <a:rPr lang="en-US" altLang="zh-CN" sz="1800" kern="100" dirty="0">
                <a:latin typeface="Times New Roman" panose="02020603050405020304" pitchFamily="18" charset="0"/>
                <a:ea typeface="宋体" panose="02010600030101010101" pitchFamily="2" charset="-122"/>
              </a:rPr>
              <a:t>25K</a:t>
            </a:r>
            <a:r>
              <a:rPr lang="zh-CN" altLang="zh-CN" sz="1800" kern="100" dirty="0">
                <a:latin typeface="Times New Roman" panose="02020603050405020304" pitchFamily="18" charset="0"/>
                <a:ea typeface="宋体" panose="02010600030101010101" pitchFamily="2" charset="-122"/>
              </a:rPr>
              <a:t>；</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3</a:t>
            </a:r>
            <a:r>
              <a:rPr lang="zh-CN" altLang="zh-CN" sz="1800" kern="100" dirty="0">
                <a:latin typeface="Times New Roman" panose="02020603050405020304" pitchFamily="18" charset="0"/>
                <a:ea typeface="宋体" panose="02010600030101010101" pitchFamily="2" charset="-122"/>
              </a:rPr>
              <a:t>）调制载波设置为</a:t>
            </a:r>
            <a:r>
              <a:rPr lang="en-US" altLang="zh-CN" sz="1800" kern="100" dirty="0">
                <a:latin typeface="Times New Roman" panose="02020603050405020304" pitchFamily="18" charset="0"/>
                <a:ea typeface="宋体" panose="02010600030101010101" pitchFamily="2" charset="-122"/>
              </a:rPr>
              <a:t> 2.5MHz</a:t>
            </a:r>
            <a:r>
              <a:rPr lang="zh-CN" altLang="zh-CN" sz="1800" kern="100" dirty="0">
                <a:latin typeface="Times New Roman" panose="02020603050405020304" pitchFamily="18" charset="0"/>
                <a:ea typeface="宋体" panose="02010600030101010101" pitchFamily="2" charset="-122"/>
              </a:rPr>
              <a:t>；</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4</a:t>
            </a:r>
            <a:r>
              <a:rPr lang="zh-CN" altLang="zh-CN" sz="1800" kern="100" dirty="0">
                <a:latin typeface="Times New Roman" panose="02020603050405020304" pitchFamily="18" charset="0"/>
                <a:ea typeface="宋体" panose="02010600030101010101" pitchFamily="2" charset="-122"/>
              </a:rPr>
              <a:t>）调制信号输出幅度为</a:t>
            </a:r>
            <a:r>
              <a:rPr lang="en-US" altLang="zh-CN" sz="1800" kern="100" dirty="0">
                <a:latin typeface="Times New Roman" panose="02020603050405020304" pitchFamily="18" charset="0"/>
                <a:ea typeface="宋体" panose="02010600030101010101" pitchFamily="2" charset="-122"/>
              </a:rPr>
              <a:t> 5Vpp</a:t>
            </a:r>
            <a:r>
              <a:rPr lang="zh-CN" altLang="zh-CN" sz="1800" kern="100" dirty="0">
                <a:latin typeface="Times New Roman" panose="02020603050405020304" pitchFamily="18" charset="0"/>
                <a:ea typeface="宋体" panose="02010600030101010101" pitchFamily="2" charset="-122"/>
              </a:rPr>
              <a:t>；</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5</a:t>
            </a:r>
            <a:r>
              <a:rPr lang="zh-CN" altLang="zh-CN" sz="1800" kern="100" dirty="0">
                <a:latin typeface="Times New Roman" panose="02020603050405020304" pitchFamily="18" charset="0"/>
                <a:ea typeface="宋体" panose="02010600030101010101" pitchFamily="2" charset="-122"/>
              </a:rPr>
              <a:t>）接收模块实现载波同步，恢复基带，并用示波器观察基带波形。</a:t>
            </a:r>
          </a:p>
          <a:p>
            <a:pPr indent="266700" algn="just">
              <a:lnSpc>
                <a:spcPct val="150000"/>
              </a:lnSpc>
              <a:spcAft>
                <a:spcPts val="0"/>
              </a:spcAft>
            </a:pPr>
            <a:r>
              <a:rPr lang="en-US" altLang="zh-CN" sz="1800" kern="100" dirty="0">
                <a:latin typeface="Times New Roman" panose="02020603050405020304" pitchFamily="18" charset="0"/>
                <a:ea typeface="宋体" panose="02010600030101010101" pitchFamily="2" charset="-122"/>
              </a:rPr>
              <a:t>2</a:t>
            </a:r>
            <a:r>
              <a:rPr lang="zh-CN" altLang="zh-CN" sz="1800" kern="100" dirty="0">
                <a:latin typeface="Times New Roman" panose="02020603050405020304" pitchFamily="18" charset="0"/>
                <a:ea typeface="宋体" panose="02010600030101010101" pitchFamily="2" charset="-122"/>
              </a:rPr>
              <a:t>．发挥部分</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）发射模块调制载波在</a:t>
            </a:r>
            <a:r>
              <a:rPr lang="en-US" altLang="zh-CN" sz="1800" kern="100" dirty="0">
                <a:latin typeface="Times New Roman" panose="02020603050405020304" pitchFamily="18" charset="0"/>
                <a:ea typeface="宋体" panose="02010600030101010101" pitchFamily="2" charset="-122"/>
              </a:rPr>
              <a:t>1MHz</a:t>
            </a: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5MHz</a:t>
            </a:r>
            <a:r>
              <a:rPr lang="zh-CN" altLang="zh-CN" sz="1800" kern="100" dirty="0">
                <a:latin typeface="Times New Roman" panose="02020603050405020304" pitchFamily="18" charset="0"/>
                <a:ea typeface="宋体" panose="02010600030101010101" pitchFamily="2" charset="-122"/>
              </a:rPr>
              <a:t>范围内以</a:t>
            </a:r>
            <a:r>
              <a:rPr lang="en-US" altLang="zh-CN" sz="1800" kern="100" dirty="0">
                <a:latin typeface="Times New Roman" panose="02020603050405020304" pitchFamily="18" charset="0"/>
                <a:ea typeface="宋体" panose="02010600030101010101" pitchFamily="2" charset="-122"/>
              </a:rPr>
              <a:t>1KHz</a:t>
            </a:r>
            <a:r>
              <a:rPr lang="zh-CN" altLang="zh-CN" sz="1800" kern="100" dirty="0">
                <a:latin typeface="Times New Roman" panose="02020603050405020304" pitchFamily="18" charset="0"/>
                <a:ea typeface="宋体" panose="02010600030101010101" pitchFamily="2" charset="-122"/>
              </a:rPr>
              <a:t>步进进行设置；</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2</a:t>
            </a:r>
            <a:r>
              <a:rPr lang="zh-CN" altLang="zh-CN" sz="1800" kern="100" dirty="0">
                <a:latin typeface="Times New Roman" panose="02020603050405020304" pitchFamily="18" charset="0"/>
                <a:ea typeface="宋体" panose="02010600030101010101" pitchFamily="2" charset="-122"/>
              </a:rPr>
              <a:t>）接收模块在频率范围内自动搜索跟踪，实现载波同步，恢复基带，用示波器可观察清晰基带波形；</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3</a:t>
            </a:r>
            <a:r>
              <a:rPr lang="zh-CN" altLang="zh-CN" sz="1800" kern="100" dirty="0">
                <a:latin typeface="Times New Roman" panose="02020603050405020304" pitchFamily="18" charset="0"/>
                <a:ea typeface="宋体" panose="02010600030101010101" pitchFamily="2" charset="-122"/>
              </a:rPr>
              <a:t>）改变发射模块信号输出幅度</a:t>
            </a:r>
            <a:r>
              <a:rPr lang="en-US" altLang="zh-CN" sz="1800" kern="100" dirty="0">
                <a:latin typeface="Times New Roman" panose="02020603050405020304" pitchFamily="18" charset="0"/>
                <a:ea typeface="宋体" panose="02010600030101010101" pitchFamily="2" charset="-122"/>
              </a:rPr>
              <a:t> 0.1V~5Vpp</a:t>
            </a:r>
            <a:r>
              <a:rPr lang="zh-CN" altLang="zh-CN" sz="1800" kern="100" dirty="0">
                <a:latin typeface="Times New Roman" panose="02020603050405020304" pitchFamily="18" charset="0"/>
                <a:ea typeface="宋体" panose="02010600030101010101" pitchFamily="2" charset="-122"/>
              </a:rPr>
              <a:t>，接收模块实现正确接收；</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4</a:t>
            </a:r>
            <a:r>
              <a:rPr lang="zh-CN" altLang="zh-CN" sz="1800" kern="100" dirty="0">
                <a:latin typeface="Times New Roman" panose="02020603050405020304" pitchFamily="18" charset="0"/>
                <a:ea typeface="宋体" panose="02010600030101010101" pitchFamily="2" charset="-122"/>
              </a:rPr>
              <a:t>）人机交互友善，具备参数设置功能、载波频率等状态信息显示功能。</a:t>
            </a:r>
          </a:p>
        </p:txBody>
      </p:sp>
    </p:spTree>
    <p:extLst>
      <p:ext uri="{BB962C8B-B14F-4D97-AF65-F5344CB8AC3E}">
        <p14:creationId xmlns:p14="http://schemas.microsoft.com/office/powerpoint/2010/main" val="2528658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5" name="矩形 4"/>
          <p:cNvSpPr/>
          <p:nvPr/>
        </p:nvSpPr>
        <p:spPr>
          <a:xfrm>
            <a:off x="348343" y="488262"/>
            <a:ext cx="11335356" cy="2532745"/>
          </a:xfrm>
          <a:prstGeom prst="rect">
            <a:avLst/>
          </a:prstGeom>
        </p:spPr>
        <p:txBody>
          <a:bodyPr wrap="square">
            <a:spAutoFit/>
          </a:bodyPr>
          <a:lstStyle/>
          <a:p>
            <a:pPr algn="just">
              <a:lnSpc>
                <a:spcPct val="150000"/>
              </a:lnSpc>
              <a:spcAft>
                <a:spcPts val="0"/>
              </a:spcAft>
            </a:pPr>
            <a:r>
              <a:rPr lang="zh-CN" altLang="zh-CN" sz="1800" kern="100">
                <a:latin typeface="Times New Roman" panose="02020603050405020304" pitchFamily="18" charset="0"/>
                <a:ea typeface="黑体" panose="02010609060101010101" pitchFamily="49" charset="-122"/>
              </a:rPr>
              <a:t>三、说明</a:t>
            </a:r>
            <a:endParaRPr lang="zh-CN" altLang="zh-CN" sz="1800" kern="100">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）基本部分</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4</a:t>
            </a:r>
            <a:r>
              <a:rPr lang="zh-CN" altLang="zh-CN" sz="1800" kern="100" dirty="0">
                <a:latin typeface="Times New Roman" panose="02020603050405020304" pitchFamily="18" charset="0"/>
                <a:ea typeface="宋体" panose="02010600030101010101" pitchFamily="2" charset="-122"/>
              </a:rPr>
              <a:t>要求在发射模块实现；</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2</a:t>
            </a:r>
            <a:r>
              <a:rPr lang="zh-CN" altLang="zh-CN" sz="1800" kern="100" dirty="0">
                <a:latin typeface="Times New Roman" panose="02020603050405020304" pitchFamily="18" charset="0"/>
                <a:ea typeface="宋体" panose="02010600030101010101" pitchFamily="2" charset="-122"/>
              </a:rPr>
              <a:t>）收发模块中的载波自行产生，不可用信号源代替；</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3</a:t>
            </a:r>
            <a:r>
              <a:rPr lang="zh-CN" altLang="zh-CN" sz="1800" kern="100" dirty="0">
                <a:latin typeface="Times New Roman" panose="02020603050405020304" pitchFamily="18" charset="0"/>
                <a:ea typeface="宋体" panose="02010600030101010101" pitchFamily="2" charset="-122"/>
              </a:rPr>
              <a:t>）发射模块和接收模块独立设计，收发模块采用有线连接，不可选用相同参考时钟；</a:t>
            </a:r>
          </a:p>
          <a:p>
            <a:pPr indent="266700" algn="just">
              <a:lnSpc>
                <a:spcPct val="150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4</a:t>
            </a:r>
            <a:r>
              <a:rPr lang="zh-CN" altLang="zh-CN" sz="1800" kern="100" dirty="0">
                <a:latin typeface="Times New Roman" panose="02020603050405020304" pitchFamily="18" charset="0"/>
                <a:ea typeface="宋体" panose="02010600030101010101" pitchFamily="2" charset="-122"/>
              </a:rPr>
              <a:t>）收发各节点信号（如数据序列、基带成型、收发本地载波以及调制解调信号等）提供测试点，能用示波器或频谱仪进行观察，从而进行功能、性能测试。</a:t>
            </a:r>
          </a:p>
        </p:txBody>
      </p:sp>
    </p:spTree>
    <p:extLst>
      <p:ext uri="{BB962C8B-B14F-4D97-AF65-F5344CB8AC3E}">
        <p14:creationId xmlns:p14="http://schemas.microsoft.com/office/powerpoint/2010/main" val="79929768"/>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21419</TotalTime>
  <Words>4843</Words>
  <Application>Microsoft Office PowerPoint</Application>
  <PresentationFormat>宽屏</PresentationFormat>
  <Paragraphs>329</Paragraphs>
  <Slides>36</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36</vt:i4>
      </vt:variant>
    </vt:vector>
  </HeadingPairs>
  <TitlesOfParts>
    <vt:vector size="48" baseType="lpstr">
      <vt:lpstr>黑体</vt:lpstr>
      <vt:lpstr>华文细黑</vt:lpstr>
      <vt:lpstr>楷体</vt:lpstr>
      <vt:lpstr>楷体_GB2312</vt:lpstr>
      <vt:lpstr>隶书</vt:lpstr>
      <vt:lpstr>宋体</vt:lpstr>
      <vt:lpstr>Arial</vt:lpstr>
      <vt:lpstr>Times New Roman</vt:lpstr>
      <vt:lpstr>Wingdings</vt:lpstr>
      <vt:lpstr>1_Network</vt:lpstr>
      <vt:lpstr>Visio</vt:lpstr>
      <vt:lpstr>Equation</vt:lpstr>
      <vt:lpstr>2021年全国赛E题  数字-模拟信号混合传输收发机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445</cp:revision>
  <dcterms:created xsi:type="dcterms:W3CDTF">1601-01-01T00:00:00Z</dcterms:created>
  <dcterms:modified xsi:type="dcterms:W3CDTF">2023-05-11T02:30:24Z</dcterms:modified>
</cp:coreProperties>
</file>