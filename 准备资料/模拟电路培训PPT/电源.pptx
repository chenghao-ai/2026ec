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3" r:id="rId1"/>
  </p:sldMasterIdLst>
  <p:notesMasterIdLst>
    <p:notesMasterId r:id="rId13"/>
  </p:notesMasterIdLst>
  <p:handoutMasterIdLst>
    <p:handoutMasterId r:id="rId14"/>
  </p:handoutMasterIdLst>
  <p:sldIdLst>
    <p:sldId id="398" r:id="rId2"/>
    <p:sldId id="660" r:id="rId3"/>
    <p:sldId id="679" r:id="rId4"/>
    <p:sldId id="680" r:id="rId5"/>
    <p:sldId id="681" r:id="rId6"/>
    <p:sldId id="677" r:id="rId7"/>
    <p:sldId id="682" r:id="rId8"/>
    <p:sldId id="678" r:id="rId9"/>
    <p:sldId id="683" r:id="rId10"/>
    <p:sldId id="684" r:id="rId11"/>
    <p:sldId id="685" r:id="rId12"/>
  </p:sldIdLst>
  <p:sldSz cx="9144000" cy="6858000" type="screen4x3"/>
  <p:notesSz cx="6735763" cy="9869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FFCC"/>
    <a:srgbClr val="EDFFFF"/>
    <a:srgbClr val="CCECFF"/>
    <a:srgbClr val="99FF99"/>
    <a:srgbClr val="FFFF66"/>
    <a:srgbClr val="66FFFF"/>
    <a:srgbClr val="FFCC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6078" autoAdjust="0"/>
  </p:normalViewPr>
  <p:slideViewPr>
    <p:cSldViewPr snapToGrid="0">
      <p:cViewPr varScale="1">
        <p:scale>
          <a:sx n="88" d="100"/>
          <a:sy n="88" d="100"/>
        </p:scale>
        <p:origin x="3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768" y="56"/>
      </p:cViewPr>
      <p:guideLst>
        <p:guide orient="horz" pos="3109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6372099-F593-43F9-841D-2A8A1DB37A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00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0113" y="739775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7888"/>
            <a:ext cx="5389563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C6010409-D5FA-46F9-8871-2961FD40B8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27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418" name="Picture 42" descr="crop_of_DM04_12_2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0" y="5154613"/>
            <a:ext cx="91408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53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0825" y="1700213"/>
            <a:ext cx="5473700" cy="3457575"/>
          </a:xfrm>
        </p:spPr>
        <p:txBody>
          <a:bodyPr/>
          <a:lstStyle>
            <a:lvl1pPr algn="ctr" fontAlgn="ctr">
              <a:defRPr sz="6000">
                <a:solidFill>
                  <a:srgbClr val="FFFF66"/>
                </a:solidFill>
              </a:defRPr>
            </a:lvl1pPr>
          </a:lstStyle>
          <a:p>
            <a:pPr lvl="0"/>
            <a:r>
              <a:rPr lang="en-US" altLang="zh-CN" noProof="0" smtClean="0"/>
              <a:t>单击此处编辑母版标题样式</a:t>
            </a:r>
          </a:p>
        </p:txBody>
      </p:sp>
      <p:pic>
        <p:nvPicPr>
          <p:cNvPr id="485417" name="Picture 41" descr="crop_of_DM04_12_2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3175" y="0"/>
            <a:ext cx="91408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5419" name="Picture 43" descr="fudan霓虹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28600"/>
            <a:ext cx="1262063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05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C533E4-840F-457A-BDC6-00E847894365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6952B-77A4-4ED1-9C66-997228AEE54F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4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3CDC7C-FE39-44BC-8776-62C7CBA3FD29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BB1522-67C6-4B5B-9E93-199C4BD5AAAF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6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68413"/>
            <a:ext cx="4141788" cy="4862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1388" y="1268413"/>
            <a:ext cx="4141787" cy="4862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E9AC11-FFD8-425F-85DD-52C90D8403ED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BF1C3F-A99D-4E0C-9142-4E955F3C5B69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266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4FE2D1-6C68-423F-A557-EEF096E28FFE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23302-31F7-4957-AA9A-06F65D93711D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79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CBE490-D6F5-4CE8-B6AB-4A7BEA66CF67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52ED8-7AEC-4CBB-934D-9F20D9788428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99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1EA6D7-BBFA-44A4-BBD4-7DDF74B48E18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0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8E4429-EF20-4367-A18B-946A02232E72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85F4E-703D-4DDA-A04C-5275EF0B4349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6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C09A3A-CC11-4C77-93F0-0867CCE43CB2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C10B-5957-44A4-AE21-D398C1EA64F2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51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DEDBB5-E1BC-4480-B5BD-C5E9E70D6D95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BF2F-8EAE-4947-A6AE-705CB6B016DB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3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4975" y="549275"/>
            <a:ext cx="2108200" cy="5581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175375" cy="5581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82F663-C0B2-4D7A-9086-04AE7939ADA5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44636-8C9F-4429-B41D-0C113918A764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51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FF"/>
            </a:gs>
            <a:gs pos="10000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392" name="Picture 40" descr="crop_of_DM04_12_2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1" b="23820"/>
          <a:stretch>
            <a:fillRect/>
          </a:stretch>
        </p:blipFill>
        <p:spPr bwMode="blackWhite">
          <a:xfrm>
            <a:off x="0" y="6480175"/>
            <a:ext cx="9144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9275"/>
            <a:ext cx="84359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单击此处编辑母版标题样式</a:t>
            </a:r>
          </a:p>
        </p:txBody>
      </p:sp>
      <p:sp>
        <p:nvSpPr>
          <p:cNvPr id="4843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435975" cy="486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单击此处编辑母版文本样式</a:t>
            </a:r>
          </a:p>
          <a:p>
            <a:pPr lvl="1"/>
            <a:r>
              <a:rPr lang="en-US" altLang="zh-CN" smtClean="0"/>
              <a:t>第二级</a:t>
            </a:r>
          </a:p>
          <a:p>
            <a:pPr lvl="2"/>
            <a:r>
              <a:rPr lang="en-US" altLang="zh-CN" smtClean="0"/>
              <a:t>第三级</a:t>
            </a:r>
          </a:p>
          <a:p>
            <a:pPr lvl="3"/>
            <a:r>
              <a:rPr lang="en-US" altLang="zh-CN" smtClean="0"/>
              <a:t>第四级</a:t>
            </a:r>
          </a:p>
          <a:p>
            <a:pPr lvl="4"/>
            <a:r>
              <a:rPr lang="en-US" altLang="zh-CN" smtClean="0"/>
              <a:t>第五级</a:t>
            </a:r>
          </a:p>
        </p:txBody>
      </p:sp>
      <p:sp>
        <p:nvSpPr>
          <p:cNvPr id="48435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524625"/>
            <a:ext cx="21336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fld id="{8F7001E2-937F-4764-916A-4BB9B06FB241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4843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524625"/>
            <a:ext cx="3527425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  <a:ea typeface="楷体_GB2312" pitchFamily="49" charset="-122"/>
              </a:defRPr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48435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524625"/>
            <a:ext cx="1630363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fld id="{7854125E-C87B-484A-8700-536C00B7949E}" type="slidenum">
              <a:rPr lang="en-US" altLang="zh-CN" smtClean="0">
                <a:solidFill>
                  <a:srgbClr val="FFFFFF"/>
                </a:solidFill>
              </a:rPr>
              <a:pPr/>
              <a:t>‹#›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pic>
        <p:nvPicPr>
          <p:cNvPr id="484393" name="Picture 41" descr="crop_of_DM04_12_2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10" b="52319"/>
          <a:stretch>
            <a:fillRect/>
          </a:stretch>
        </p:blipFill>
        <p:spPr bwMode="blackWhite">
          <a:xfrm>
            <a:off x="0" y="0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4394" name="Picture 42" descr="fudan霓虹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0"/>
            <a:ext cx="37147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4395" name="Text Box 43"/>
          <p:cNvSpPr txBox="1">
            <a:spLocks noChangeArrowheads="1"/>
          </p:cNvSpPr>
          <p:nvPr/>
        </p:nvSpPr>
        <p:spPr bwMode="auto">
          <a:xfrm>
            <a:off x="647700" y="107950"/>
            <a:ext cx="3600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smtClean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复旦大学电子工程系   陈光梦</a:t>
            </a:r>
          </a:p>
        </p:txBody>
      </p:sp>
    </p:spTree>
    <p:extLst>
      <p:ext uri="{BB962C8B-B14F-4D97-AF65-F5344CB8AC3E}">
        <p14:creationId xmlns:p14="http://schemas.microsoft.com/office/powerpoint/2010/main" val="375476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j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j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0.png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microsoft.com/office/2007/relationships/hdphoto" Target="../media/hdphoto1.wdp"/><Relationship Id="rId9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9.wmf"/><Relationship Id="rId3" Type="http://schemas.openxmlformats.org/officeDocument/2006/relationships/oleObject" Target="../embeddings/oleObject7.bin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863" y="1752600"/>
            <a:ext cx="8596312" cy="2906713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sz="5400" dirty="0" smtClean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 源 设 计</a:t>
            </a: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/>
            </a:r>
            <a:b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en-US" altLang="zh-CN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/>
            </a:r>
            <a:br>
              <a:rPr lang="en-US" altLang="zh-CN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2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复旦大学电子工程系  陈光梦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2021/6/3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14440" y="229401"/>
            <a:ext cx="836116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线性电源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常用的固定电压</a:t>
            </a:r>
            <a:r>
              <a:rPr lang="zh-CN" altLang="en-US" dirty="0"/>
              <a:t>输出集</a:t>
            </a:r>
            <a:r>
              <a:rPr lang="zh-CN" altLang="en-US" dirty="0" smtClean="0"/>
              <a:t>成稳压电源</a:t>
            </a:r>
            <a:endParaRPr lang="en-US" altLang="zh-CN" dirty="0" smtClean="0"/>
          </a:p>
          <a:p>
            <a:pPr marL="1885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78xx</a:t>
            </a:r>
            <a:r>
              <a:rPr lang="zh-CN" altLang="en-US" dirty="0" smtClean="0"/>
              <a:t>系列（输出正电压）和</a:t>
            </a:r>
            <a:r>
              <a:rPr lang="en-US" altLang="zh-CN" dirty="0" smtClean="0"/>
              <a:t>79xx</a:t>
            </a:r>
            <a:r>
              <a:rPr lang="zh-CN" altLang="en-US" dirty="0" smtClean="0"/>
              <a:t>系列（输出负电压）</a:t>
            </a:r>
            <a:endParaRPr lang="en-US" altLang="zh-CN" dirty="0" smtClean="0"/>
          </a:p>
          <a:p>
            <a:pPr marL="262800">
              <a:lnSpc>
                <a:spcPct val="150000"/>
              </a:lnSpc>
            </a:pPr>
            <a:r>
              <a:rPr lang="zh-CN" altLang="en-US" dirty="0" smtClean="0"/>
              <a:t>输出电压值固定，最大输出（吸入）电流</a:t>
            </a:r>
            <a:r>
              <a:rPr lang="en-US" altLang="zh-CN" dirty="0" smtClean="0"/>
              <a:t>1A</a:t>
            </a:r>
            <a:r>
              <a:rPr lang="zh-CN" altLang="en-US" dirty="0" smtClean="0"/>
              <a:t>，最大功耗约</a:t>
            </a:r>
            <a:r>
              <a:rPr lang="en-US" altLang="zh-CN" dirty="0" smtClean="0"/>
              <a:t>2W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TO220</a:t>
            </a:r>
            <a:r>
              <a:rPr lang="zh-CN" altLang="en-US" dirty="0" smtClean="0"/>
              <a:t>封装），加散热器后可增大，最大输入电压（绝对值）</a:t>
            </a:r>
            <a:r>
              <a:rPr lang="en-US" altLang="zh-CN" dirty="0" smtClean="0"/>
              <a:t>35V</a:t>
            </a:r>
            <a:r>
              <a:rPr lang="zh-CN" altLang="en-US" dirty="0" smtClean="0"/>
              <a:t>，输入输出压差</a:t>
            </a:r>
            <a:r>
              <a:rPr lang="en-US" altLang="zh-CN" dirty="0" smtClean="0"/>
              <a:t>&gt;2.5V</a:t>
            </a:r>
          </a:p>
          <a:p>
            <a:pPr marL="1885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78Lxx</a:t>
            </a:r>
            <a:r>
              <a:rPr lang="zh-CN" altLang="en-US" dirty="0" smtClean="0"/>
              <a:t>系列（输出正电压）和</a:t>
            </a:r>
            <a:r>
              <a:rPr lang="en-US" altLang="zh-CN" dirty="0" smtClean="0"/>
              <a:t>79Lxx</a:t>
            </a:r>
            <a:r>
              <a:rPr lang="zh-CN" altLang="en-US" dirty="0" smtClean="0"/>
              <a:t>系列（输出负电压）</a:t>
            </a:r>
            <a:endParaRPr lang="en-US" altLang="zh-CN" dirty="0" smtClean="0"/>
          </a:p>
          <a:p>
            <a:pPr marL="262800">
              <a:lnSpc>
                <a:spcPct val="150000"/>
              </a:lnSpc>
            </a:pPr>
            <a:r>
              <a:rPr lang="zh-CN" altLang="en-US" dirty="0" smtClean="0"/>
              <a:t>输出电压值固定，最大输出</a:t>
            </a:r>
            <a:r>
              <a:rPr lang="zh-CN" altLang="en-US" dirty="0"/>
              <a:t>（吸入）</a:t>
            </a:r>
            <a:r>
              <a:rPr lang="zh-CN" altLang="en-US" dirty="0" smtClean="0"/>
              <a:t>电流</a:t>
            </a:r>
            <a:r>
              <a:rPr lang="en-US" altLang="zh-CN" dirty="0" smtClean="0"/>
              <a:t>100mA</a:t>
            </a:r>
            <a:r>
              <a:rPr lang="zh-CN" altLang="en-US" dirty="0" smtClean="0"/>
              <a:t>，最大功耗约</a:t>
            </a:r>
            <a:r>
              <a:rPr lang="en-US" altLang="zh-CN" dirty="0" smtClean="0"/>
              <a:t>0.5W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TO-92</a:t>
            </a:r>
            <a:r>
              <a:rPr lang="zh-CN" altLang="en-US" dirty="0" smtClean="0"/>
              <a:t>封装），</a:t>
            </a:r>
            <a:r>
              <a:rPr lang="zh-CN" altLang="en-US" dirty="0"/>
              <a:t>最大输入</a:t>
            </a:r>
            <a:r>
              <a:rPr lang="zh-CN" altLang="en-US" dirty="0" smtClean="0"/>
              <a:t>电压</a:t>
            </a:r>
            <a:r>
              <a:rPr lang="zh-CN" altLang="en-US" dirty="0"/>
              <a:t>（绝对值） </a:t>
            </a:r>
            <a:r>
              <a:rPr lang="en-US" altLang="zh-CN" dirty="0" smtClean="0"/>
              <a:t>35V</a:t>
            </a:r>
            <a:r>
              <a:rPr lang="zh-CN" altLang="en-US" dirty="0"/>
              <a:t>，</a:t>
            </a:r>
            <a:r>
              <a:rPr lang="zh-CN" altLang="en-US" dirty="0" smtClean="0"/>
              <a:t>输入输出压差</a:t>
            </a:r>
            <a:r>
              <a:rPr lang="en-US" altLang="zh-CN" dirty="0" smtClean="0"/>
              <a:t>&gt;2V</a:t>
            </a:r>
          </a:p>
          <a:p>
            <a:pPr marL="1885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低压差稳压电源（</a:t>
            </a:r>
            <a:r>
              <a:rPr lang="en-US" altLang="zh-CN" dirty="0" smtClean="0"/>
              <a:t>LDO</a:t>
            </a:r>
            <a:r>
              <a:rPr lang="zh-CN" altLang="en-US" dirty="0" smtClean="0"/>
              <a:t>），常用于从</a:t>
            </a:r>
            <a:r>
              <a:rPr lang="en-US" altLang="zh-CN" dirty="0" smtClean="0"/>
              <a:t>5V</a:t>
            </a:r>
            <a:r>
              <a:rPr lang="zh-CN" altLang="en-US" dirty="0" smtClean="0"/>
              <a:t>系统中获得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电源，例如：</a:t>
            </a:r>
            <a:endParaRPr lang="en-US" altLang="zh-CN" dirty="0" smtClean="0"/>
          </a:p>
          <a:p>
            <a:pPr marL="262800" lvl="1">
              <a:lnSpc>
                <a:spcPct val="150000"/>
              </a:lnSpc>
            </a:pPr>
            <a:r>
              <a:rPr lang="en-US" altLang="zh-CN" dirty="0" smtClean="0"/>
              <a:t>LP3872</a:t>
            </a:r>
            <a:r>
              <a:rPr lang="zh-CN" altLang="en-US" dirty="0" smtClean="0"/>
              <a:t>，输出电压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，最大输出电流</a:t>
            </a:r>
            <a:r>
              <a:rPr lang="en-US" altLang="zh-CN" dirty="0" smtClean="0"/>
              <a:t>1.5A</a:t>
            </a:r>
          </a:p>
          <a:p>
            <a:pPr marL="262800" lvl="1">
              <a:lnSpc>
                <a:spcPct val="150000"/>
              </a:lnSpc>
            </a:pPr>
            <a:r>
              <a:rPr lang="en-US" altLang="zh-CN" dirty="0" smtClean="0"/>
              <a:t>SPX1117-3.3</a:t>
            </a:r>
            <a:r>
              <a:rPr lang="zh-CN" altLang="en-US" dirty="0" smtClean="0"/>
              <a:t>，输出电压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，最大输出电流</a:t>
            </a:r>
            <a:r>
              <a:rPr lang="en-US" altLang="zh-CN" dirty="0" smtClean="0"/>
              <a:t>800mA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2021/6/3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83704" y="435473"/>
            <a:ext cx="8482484" cy="2452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常用的可变输出电压集成稳压电源</a:t>
            </a:r>
            <a:endParaRPr lang="en-US" altLang="zh-CN" dirty="0" smtClean="0"/>
          </a:p>
          <a:p>
            <a:pPr marL="1885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LM317</a:t>
            </a:r>
            <a:r>
              <a:rPr lang="zh-CN" altLang="en-US" dirty="0" smtClean="0"/>
              <a:t>（正电压输出）与</a:t>
            </a:r>
            <a:r>
              <a:rPr lang="en-US" altLang="zh-CN" dirty="0" smtClean="0"/>
              <a:t>LM337</a:t>
            </a:r>
            <a:r>
              <a:rPr lang="zh-CN" altLang="en-US" dirty="0" smtClean="0"/>
              <a:t>（负电压输出）</a:t>
            </a:r>
            <a:endParaRPr lang="en-US" altLang="zh-CN" dirty="0" smtClean="0"/>
          </a:p>
          <a:p>
            <a:pPr marL="360000" lvl="1">
              <a:lnSpc>
                <a:spcPct val="130000"/>
              </a:lnSpc>
            </a:pPr>
            <a:r>
              <a:rPr lang="zh-CN" altLang="en-US" dirty="0" smtClean="0"/>
              <a:t>正输出</a:t>
            </a:r>
            <a:r>
              <a:rPr lang="zh-CN" altLang="en-US" dirty="0"/>
              <a:t>电压</a:t>
            </a:r>
            <a:r>
              <a:rPr lang="zh-CN" altLang="en-US" dirty="0" smtClean="0"/>
              <a:t>值可调，</a:t>
            </a:r>
            <a:r>
              <a:rPr lang="zh-CN" altLang="en-US" dirty="0"/>
              <a:t>最大</a:t>
            </a:r>
            <a:r>
              <a:rPr lang="zh-CN" altLang="en-US" dirty="0" smtClean="0"/>
              <a:t>输出</a:t>
            </a:r>
            <a:r>
              <a:rPr lang="zh-CN" altLang="en-US" dirty="0"/>
              <a:t>（吸入）</a:t>
            </a:r>
            <a:r>
              <a:rPr lang="zh-CN" altLang="en-US" dirty="0" smtClean="0"/>
              <a:t>电流</a:t>
            </a:r>
            <a:r>
              <a:rPr lang="en-US" altLang="zh-CN" dirty="0" smtClean="0"/>
              <a:t>1.5A</a:t>
            </a:r>
            <a:r>
              <a:rPr lang="zh-CN" altLang="en-US" dirty="0"/>
              <a:t>，最大</a:t>
            </a:r>
            <a:r>
              <a:rPr lang="zh-CN" altLang="en-US" dirty="0" smtClean="0"/>
              <a:t>功耗</a:t>
            </a:r>
            <a:r>
              <a:rPr lang="en-US" altLang="zh-CN" dirty="0" smtClean="0"/>
              <a:t>20W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TO220</a:t>
            </a:r>
            <a:r>
              <a:rPr lang="zh-CN" altLang="en-US" dirty="0" smtClean="0"/>
              <a:t>封装，带散热器），</a:t>
            </a:r>
            <a:r>
              <a:rPr lang="zh-CN" altLang="en-US" dirty="0"/>
              <a:t>最大输入</a:t>
            </a:r>
            <a:r>
              <a:rPr lang="zh-CN" altLang="en-US" dirty="0" smtClean="0"/>
              <a:t>电压（绝对值）</a:t>
            </a:r>
            <a:r>
              <a:rPr lang="en-US" altLang="zh-CN" dirty="0" smtClean="0"/>
              <a:t>40V</a:t>
            </a:r>
            <a:r>
              <a:rPr lang="zh-CN" altLang="en-US" dirty="0"/>
              <a:t>，输入输出</a:t>
            </a:r>
            <a:r>
              <a:rPr lang="zh-CN" altLang="en-US" dirty="0" smtClean="0"/>
              <a:t>压差</a:t>
            </a:r>
            <a:r>
              <a:rPr lang="en-US" altLang="zh-CN" dirty="0" smtClean="0"/>
              <a:t>2~2.5V</a:t>
            </a:r>
            <a:endParaRPr lang="en-US" altLang="zh-CN" dirty="0"/>
          </a:p>
          <a:p>
            <a:pPr marL="1885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应用电路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119" y="2927945"/>
            <a:ext cx="2753453" cy="2192069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607450"/>
              </p:ext>
            </p:extLst>
          </p:nvPr>
        </p:nvGraphicFramePr>
        <p:xfrm>
          <a:off x="1434647" y="5213794"/>
          <a:ext cx="27019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4" imgW="1485720" imgH="380880" progId="Equation.DSMT4">
                  <p:embed/>
                </p:oleObj>
              </mc:Choice>
              <mc:Fallback>
                <p:oleObj name="Equation" r:id="rId4" imgW="1485720" imgH="3808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4647" y="5213794"/>
                        <a:ext cx="2701925" cy="687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>
          <a:xfrm>
            <a:off x="3429906" y="5213794"/>
            <a:ext cx="706666" cy="6458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38134" y="5933986"/>
            <a:ext cx="146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通常可忽略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endCxn id="6" idx="5"/>
          </p:cNvCxnSpPr>
          <p:nvPr/>
        </p:nvCxnSpPr>
        <p:spPr>
          <a:xfrm flipH="1" flipV="1">
            <a:off x="4033083" y="5765092"/>
            <a:ext cx="161545" cy="3591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5305" y="2927945"/>
            <a:ext cx="2295943" cy="2391941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661851"/>
              </p:ext>
            </p:extLst>
          </p:nvPr>
        </p:nvGraphicFramePr>
        <p:xfrm>
          <a:off x="5648324" y="5310318"/>
          <a:ext cx="184785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7" imgW="1015920" imgH="380880" progId="Equation.DSMT4">
                  <p:embed/>
                </p:oleObj>
              </mc:Choice>
              <mc:Fallback>
                <p:oleObj name="Equation" r:id="rId7" imgW="1015920" imgH="3808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4" y="5310318"/>
                        <a:ext cx="1847850" cy="687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椭圆 13"/>
          <p:cNvSpPr/>
          <p:nvPr/>
        </p:nvSpPr>
        <p:spPr>
          <a:xfrm>
            <a:off x="6882492" y="5342403"/>
            <a:ext cx="706666" cy="6458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stCxn id="8" idx="3"/>
          </p:cNvCxnSpPr>
          <p:nvPr/>
        </p:nvCxnSpPr>
        <p:spPr>
          <a:xfrm flipV="1">
            <a:off x="5404078" y="5933985"/>
            <a:ext cx="1584930" cy="200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5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2021/6/3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78153" y="454372"/>
            <a:ext cx="8361169" cy="49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电流源</a:t>
            </a:r>
            <a:endParaRPr lang="en-US" altLang="zh-CN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03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84820" y="545090"/>
            <a:ext cx="4654502" cy="4372191"/>
          </a:xfrm>
          <a:prstGeom prst="rect">
            <a:avLst/>
          </a:prstGeom>
          <a:solidFill>
            <a:srgbClr val="CCFFCC"/>
          </a:solidFill>
        </p:spPr>
      </p:pic>
      <p:sp>
        <p:nvSpPr>
          <p:cNvPr id="8" name="矩形 7"/>
          <p:cNvSpPr/>
          <p:nvPr/>
        </p:nvSpPr>
        <p:spPr>
          <a:xfrm>
            <a:off x="557802" y="4149583"/>
            <a:ext cx="32492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Howland</a:t>
            </a:r>
            <a:r>
              <a:rPr lang="zh-CN" altLang="en-US" dirty="0" smtClean="0"/>
              <a:t>电流源</a:t>
            </a:r>
            <a:endParaRPr lang="en-US" altLang="zh-CN" dirty="0" smtClean="0"/>
          </a:p>
          <a:p>
            <a:pPr marL="360000" lvl="1">
              <a:lnSpc>
                <a:spcPct val="150000"/>
              </a:lnSpc>
            </a:pPr>
            <a:r>
              <a:rPr lang="zh-CN" altLang="en-US" dirty="0" smtClean="0"/>
              <a:t>当</a:t>
            </a:r>
            <a:r>
              <a:rPr lang="en-US" altLang="zh-CN" dirty="0" smtClean="0">
                <a:latin typeface="+mn-lt"/>
              </a:rPr>
              <a:t>R1=R2=R3=R4=R</a:t>
            </a:r>
            <a:r>
              <a:rPr lang="zh-CN" altLang="en-US" dirty="0" smtClean="0"/>
              <a:t>时</a:t>
            </a:r>
            <a:endParaRPr lang="en-US" altLang="zh-CN" dirty="0"/>
          </a:p>
          <a:p>
            <a:pPr marL="360000" lvl="1">
              <a:lnSpc>
                <a:spcPct val="150000"/>
              </a:lnSpc>
            </a:pPr>
            <a:endParaRPr lang="en-US" altLang="zh-CN" dirty="0" smtClean="0"/>
          </a:p>
          <a:p>
            <a:pPr marL="360000" lvl="1">
              <a:lnSpc>
                <a:spcPct val="150000"/>
              </a:lnSpc>
            </a:pPr>
            <a:r>
              <a:rPr lang="zh-CN" altLang="en-US" dirty="0" smtClean="0"/>
              <a:t>缺点：不能输出大电流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4429592" y="5007999"/>
            <a:ext cx="408482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由采样电阻反馈构成的电流源</a:t>
            </a:r>
            <a:endParaRPr lang="en-US" altLang="zh-CN" dirty="0" smtClean="0"/>
          </a:p>
          <a:p>
            <a:pPr marL="360000" lvl="1">
              <a:lnSpc>
                <a:spcPct val="125000"/>
              </a:lnSpc>
            </a:pPr>
            <a:endParaRPr lang="en-US" altLang="zh-CN" sz="2800" dirty="0" smtClean="0"/>
          </a:p>
          <a:p>
            <a:pPr marL="360000" lvl="1">
              <a:lnSpc>
                <a:spcPct val="125000"/>
              </a:lnSpc>
            </a:pPr>
            <a:r>
              <a:rPr lang="zh-CN" altLang="en-US" dirty="0" smtClean="0"/>
              <a:t>缺点：负载不能接地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255343"/>
              </p:ext>
            </p:extLst>
          </p:nvPr>
        </p:nvGraphicFramePr>
        <p:xfrm>
          <a:off x="1483314" y="5119683"/>
          <a:ext cx="94456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5" imgW="520560" imgH="203040" progId="Equation.DSMT4">
                  <p:embed/>
                </p:oleObj>
              </mc:Choice>
              <mc:Fallback>
                <p:oleObj name="Equation" r:id="rId5" imgW="520560" imgH="2030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314" y="5119683"/>
                        <a:ext cx="944563" cy="366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94" y="1454733"/>
            <a:ext cx="3053608" cy="2633595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501059"/>
              </p:ext>
            </p:extLst>
          </p:nvPr>
        </p:nvGraphicFramePr>
        <p:xfrm>
          <a:off x="5674677" y="5537596"/>
          <a:ext cx="147478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8" imgW="812520" imgH="203040" progId="Equation.DSMT4">
                  <p:embed/>
                </p:oleObj>
              </mc:Choice>
              <mc:Fallback>
                <p:oleObj name="Equation" r:id="rId8" imgW="812520" imgH="203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677" y="5537596"/>
                        <a:ext cx="1474787" cy="366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99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2021/6/3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63638" y="374544"/>
            <a:ext cx="8361169" cy="49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运放单电源使用时的电源处理</a:t>
            </a:r>
            <a:endParaRPr lang="en-US" altLang="zh-CN" dirty="0" smtClean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114191"/>
              </p:ext>
            </p:extLst>
          </p:nvPr>
        </p:nvGraphicFramePr>
        <p:xfrm>
          <a:off x="1579109" y="1535339"/>
          <a:ext cx="5177744" cy="2009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Visio" r:id="rId3" imgW="3714237" imgH="1448493" progId="Visio.Drawing.11">
                  <p:embed/>
                </p:oleObj>
              </mc:Choice>
              <mc:Fallback>
                <p:oleObj name="Visio" r:id="rId3" imgW="3714237" imgH="144849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109" y="1535339"/>
                        <a:ext cx="5177744" cy="20095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63637" y="983507"/>
            <a:ext cx="8361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用运放构成“信号地”发生器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63638" y="3514097"/>
            <a:ext cx="8361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用电阻构成运放的直流偏置（仅对放大交流信号有效）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17515"/>
              </p:ext>
            </p:extLst>
          </p:nvPr>
        </p:nvGraphicFramePr>
        <p:xfrm>
          <a:off x="1579109" y="4095401"/>
          <a:ext cx="5502581" cy="2242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Visio" r:id="rId5" imgW="3987834" imgH="1625497" progId="Visio.Drawing.15">
                  <p:embed/>
                </p:oleObj>
              </mc:Choice>
              <mc:Fallback>
                <p:oleObj name="Visio" r:id="rId5" imgW="3987834" imgH="1625497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109" y="4095401"/>
                        <a:ext cx="5502581" cy="22421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207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2021/6/3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33829" y="248717"/>
            <a:ext cx="8422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开关电源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在线式开关电源的三种基本拓扑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51162" y="1921957"/>
            <a:ext cx="1922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降压电路</a:t>
            </a:r>
            <a:endParaRPr lang="en-US" altLang="zh-CN" dirty="0" smtClean="0"/>
          </a:p>
          <a:p>
            <a:r>
              <a:rPr lang="zh-CN" altLang="en-US" dirty="0"/>
              <a:t>（</a:t>
            </a:r>
            <a:r>
              <a:rPr lang="en-US" altLang="zh-CN" dirty="0" smtClean="0"/>
              <a:t>Buck</a:t>
            </a:r>
            <a:r>
              <a:rPr lang="zh-CN" altLang="en-US" dirty="0" smtClean="0"/>
              <a:t>电路）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951162" y="4994037"/>
            <a:ext cx="2387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极性反转电路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Buck-Boost</a:t>
            </a:r>
            <a:r>
              <a:rPr lang="zh-CN" altLang="en-US" dirty="0" smtClean="0"/>
              <a:t>电路）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51162" y="3452545"/>
            <a:ext cx="1922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升压电路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Boost</a:t>
            </a:r>
            <a:r>
              <a:rPr lang="zh-CN" altLang="en-US" dirty="0" smtClean="0"/>
              <a:t>电路）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590" y="1684985"/>
            <a:ext cx="5245554" cy="42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1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0114" y="486229"/>
            <a:ext cx="8403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基本原理分析（以降压电路为例）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1293849" y="1540087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流过电感的电流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3078" y="2805222"/>
            <a:ext cx="333012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on</a:t>
            </a:r>
            <a:r>
              <a:rPr lang="zh-CN" altLang="en-US" dirty="0" smtClean="0">
                <a:latin typeface="Times New Roman" panose="02020603050405020304" pitchFamily="18" charset="0"/>
              </a:rPr>
              <a:t>：开关导通，电感储能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sz="1800" dirty="0" smtClean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电流上升斜率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最大电流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平均电流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据此，临界状态的电感量为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819105"/>
              </p:ext>
            </p:extLst>
          </p:nvPr>
        </p:nvGraphicFramePr>
        <p:xfrm>
          <a:off x="2348139" y="3243842"/>
          <a:ext cx="14049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3" imgW="774360" imgH="355320" progId="Equation.DSMT4">
                  <p:embed/>
                </p:oleObj>
              </mc:Choice>
              <mc:Fallback>
                <p:oleObj name="Equation" r:id="rId3" imgW="774360" imgH="3553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139" y="3243842"/>
                        <a:ext cx="1404937" cy="642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967556"/>
              </p:ext>
            </p:extLst>
          </p:nvPr>
        </p:nvGraphicFramePr>
        <p:xfrm>
          <a:off x="1886176" y="3891173"/>
          <a:ext cx="18669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Equation" r:id="rId5" imgW="1028520" imgH="355320" progId="Equation.DSMT4">
                  <p:embed/>
                </p:oleObj>
              </mc:Choice>
              <mc:Fallback>
                <p:oleObj name="Equation" r:id="rId5" imgW="1028520" imgH="35532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176" y="3891173"/>
                        <a:ext cx="1866900" cy="642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878" y="976745"/>
            <a:ext cx="4534808" cy="1703755"/>
          </a:xfrm>
          <a:prstGeom prst="rect">
            <a:avLst/>
          </a:prstGeom>
        </p:spPr>
      </p:pic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56083"/>
              </p:ext>
            </p:extLst>
          </p:nvPr>
        </p:nvGraphicFramePr>
        <p:xfrm>
          <a:off x="6550932" y="3864370"/>
          <a:ext cx="15684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8" imgW="863280" imgH="406080" progId="Equation.DSMT4">
                  <p:embed/>
                </p:oleObj>
              </mc:Choice>
              <mc:Fallback>
                <p:oleObj name="Equation" r:id="rId8" imgW="863280" imgH="4060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932" y="3864370"/>
                        <a:ext cx="1568450" cy="735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743224" y="2820638"/>
            <a:ext cx="3670526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 smtClean="0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off</a:t>
            </a:r>
            <a:r>
              <a:rPr lang="zh-CN" altLang="en-US" dirty="0" smtClean="0">
                <a:latin typeface="Times New Roman" panose="02020603050405020304" pitchFamily="18" charset="0"/>
              </a:rPr>
              <a:t>：开关关断，电感放能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sz="1800" dirty="0" smtClean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电流下降斜率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根据</a:t>
            </a:r>
            <a:r>
              <a:rPr lang="zh-CN" altLang="en-US" dirty="0" smtClean="0">
                <a:latin typeface="Times New Roman" panose="02020603050405020304" pitchFamily="18" charset="0"/>
              </a:rPr>
              <a:t>能量守恒，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</a:rPr>
              <a:t>或者写成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根据这些基本分析，可以计算电路中的元件参数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737124"/>
              </p:ext>
            </p:extLst>
          </p:nvPr>
        </p:nvGraphicFramePr>
        <p:xfrm>
          <a:off x="1886176" y="4499947"/>
          <a:ext cx="198278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10" imgW="1091880" imgH="355320" progId="Equation.DSMT4">
                  <p:embed/>
                </p:oleObj>
              </mc:Choice>
              <mc:Fallback>
                <p:oleObj name="Equation" r:id="rId10" imgW="1091880" imgH="35532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176" y="4499947"/>
                        <a:ext cx="1982788" cy="642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739539"/>
              </p:ext>
            </p:extLst>
          </p:nvPr>
        </p:nvGraphicFramePr>
        <p:xfrm>
          <a:off x="1535113" y="5620061"/>
          <a:ext cx="20050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Equation" r:id="rId12" imgW="1104840" imgH="393480" progId="Equation.DSMT4">
                  <p:embed/>
                </p:oleObj>
              </mc:Choice>
              <mc:Fallback>
                <p:oleObj name="Equation" r:id="rId12" imgW="1104840" imgH="39348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5620061"/>
                        <a:ext cx="2005013" cy="71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642309"/>
              </p:ext>
            </p:extLst>
          </p:nvPr>
        </p:nvGraphicFramePr>
        <p:xfrm>
          <a:off x="5933622" y="4599383"/>
          <a:ext cx="10604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Equation" r:id="rId14" imgW="583920" imgH="380880" progId="Equation.DSMT4">
                  <p:embed/>
                </p:oleObj>
              </mc:Choice>
              <mc:Fallback>
                <p:oleObj name="Equation" r:id="rId14" imgW="583920" imgH="3808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3622" y="4599383"/>
                        <a:ext cx="1060450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220543"/>
              </p:ext>
            </p:extLst>
          </p:nvPr>
        </p:nvGraphicFramePr>
        <p:xfrm>
          <a:off x="6429715" y="3266956"/>
          <a:ext cx="112871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Equation" r:id="rId16" imgW="622080" imgH="355320" progId="Equation.DSMT4">
                  <p:embed/>
                </p:oleObj>
              </mc:Choice>
              <mc:Fallback>
                <p:oleObj name="Equation" r:id="rId16" imgW="622080" imgH="35532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715" y="3266956"/>
                        <a:ext cx="1128713" cy="642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338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2021/6/3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722" y="1625601"/>
            <a:ext cx="3939130" cy="316754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3828" y="362397"/>
            <a:ext cx="8422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典型开关电源电路及其应用举例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MC34063</a:t>
            </a:r>
            <a:r>
              <a:rPr lang="zh-CN" altLang="en-US" dirty="0" smtClean="0"/>
              <a:t>内部结构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699657" y="4793148"/>
            <a:ext cx="2852057" cy="402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MC34063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3865562" y="3213197"/>
            <a:ext cx="2992438" cy="720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 rot="370314">
            <a:off x="2871426" y="1847543"/>
            <a:ext cx="1240213" cy="2475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317999" y="1886856"/>
            <a:ext cx="1444171" cy="11248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318000" y="1190171"/>
            <a:ext cx="17378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开关晶体管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963057" y="5183332"/>
            <a:ext cx="147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反馈比较与</a:t>
            </a:r>
            <a:r>
              <a:rPr lang="en-US" altLang="zh-CN" dirty="0" smtClean="0"/>
              <a:t>PWM</a:t>
            </a:r>
            <a:r>
              <a:rPr lang="zh-CN" altLang="en-US" dirty="0" smtClean="0"/>
              <a:t>控制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067183" y="4994631"/>
            <a:ext cx="1348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振荡器</a:t>
            </a:r>
            <a:endParaRPr lang="zh-CN" altLang="en-US" dirty="0"/>
          </a:p>
        </p:txBody>
      </p:sp>
      <p:cxnSp>
        <p:nvCxnSpPr>
          <p:cNvPr id="17" name="直接箭头连接符 16"/>
          <p:cNvCxnSpPr>
            <a:endCxn id="12" idx="0"/>
          </p:cNvCxnSpPr>
          <p:nvPr/>
        </p:nvCxnSpPr>
        <p:spPr>
          <a:xfrm flipH="1">
            <a:off x="5040085" y="1625601"/>
            <a:ext cx="27098" cy="261255"/>
          </a:xfrm>
          <a:prstGeom prst="straightConnector1">
            <a:avLst/>
          </a:prstGeom>
          <a:ln w="28575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5067184" y="3933371"/>
            <a:ext cx="419216" cy="1061260"/>
          </a:xfrm>
          <a:prstGeom prst="straightConnector1">
            <a:avLst/>
          </a:prstGeom>
          <a:ln w="28575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4" idx="0"/>
          </p:cNvCxnSpPr>
          <p:nvPr/>
        </p:nvCxnSpPr>
        <p:spPr>
          <a:xfrm flipV="1">
            <a:off x="2699657" y="4238171"/>
            <a:ext cx="432481" cy="945161"/>
          </a:xfrm>
          <a:prstGeom prst="straightConnector1">
            <a:avLst/>
          </a:prstGeom>
          <a:ln w="28575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091" y="3306541"/>
            <a:ext cx="1245521" cy="47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3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9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01" y="991448"/>
            <a:ext cx="5429048" cy="389986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3828" y="362397"/>
            <a:ext cx="8422465" cy="49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用</a:t>
            </a:r>
            <a:r>
              <a:rPr lang="en-US" altLang="zh-CN" dirty="0" smtClean="0"/>
              <a:t>MC34063</a:t>
            </a:r>
            <a:r>
              <a:rPr lang="zh-CN" altLang="en-US" dirty="0" smtClean="0"/>
              <a:t>构成降压式开关电源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558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10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3828" y="362397"/>
            <a:ext cx="84224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用</a:t>
            </a:r>
            <a:r>
              <a:rPr lang="en-US" altLang="zh-CN" dirty="0" smtClean="0"/>
              <a:t>MC34063</a:t>
            </a:r>
            <a:r>
              <a:rPr lang="zh-CN" altLang="en-US" dirty="0" smtClean="0"/>
              <a:t>构成升压式开关电源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19" y="989178"/>
            <a:ext cx="5782482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9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2021/6/3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828" y="362397"/>
            <a:ext cx="84224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用</a:t>
            </a:r>
            <a:r>
              <a:rPr lang="en-US" altLang="zh-CN" dirty="0" smtClean="0"/>
              <a:t>MC34063</a:t>
            </a:r>
            <a:r>
              <a:rPr lang="zh-CN" altLang="en-US" dirty="0" smtClean="0"/>
              <a:t>构成极性反转式开关电源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26" y="1011398"/>
            <a:ext cx="5713146" cy="403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23508"/>
      </p:ext>
    </p:extLst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Network">
      <a:majorFont>
        <a:latin typeface="Arial"/>
        <a:ea typeface="黑体"/>
        <a:cs typeface=""/>
      </a:majorFont>
      <a:minorFont>
        <a:latin typeface="Times New Roman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11485</TotalTime>
  <Words>473</Words>
  <Application>Microsoft Office PowerPoint</Application>
  <PresentationFormat>全屏显示(4:3)</PresentationFormat>
  <Paragraphs>93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黑体</vt:lpstr>
      <vt:lpstr>华文细黑</vt:lpstr>
      <vt:lpstr>楷体</vt:lpstr>
      <vt:lpstr>楷体_GB2312</vt:lpstr>
      <vt:lpstr>隶书</vt:lpstr>
      <vt:lpstr>宋体</vt:lpstr>
      <vt:lpstr>Arial</vt:lpstr>
      <vt:lpstr>Times New Roman</vt:lpstr>
      <vt:lpstr>Wingdings</vt:lpstr>
      <vt:lpstr>1_Network</vt:lpstr>
      <vt:lpstr>Equation</vt:lpstr>
      <vt:lpstr>Visio</vt:lpstr>
      <vt:lpstr>MathType 4.0 Equation</vt:lpstr>
      <vt:lpstr>电 源 设 计  复旦大学电子工程系  陈光梦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陈光梦</dc:creator>
  <cp:lastModifiedBy>gmchen</cp:lastModifiedBy>
  <cp:revision>244</cp:revision>
  <dcterms:created xsi:type="dcterms:W3CDTF">1601-01-01T00:00:00Z</dcterms:created>
  <dcterms:modified xsi:type="dcterms:W3CDTF">2021-06-02T23:59:19Z</dcterms:modified>
</cp:coreProperties>
</file>