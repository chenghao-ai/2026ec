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3" r:id="rId1"/>
  </p:sldMasterIdLst>
  <p:notesMasterIdLst>
    <p:notesMasterId r:id="rId41"/>
  </p:notesMasterIdLst>
  <p:handoutMasterIdLst>
    <p:handoutMasterId r:id="rId42"/>
  </p:handoutMasterIdLst>
  <p:sldIdLst>
    <p:sldId id="398" r:id="rId2"/>
    <p:sldId id="660" r:id="rId3"/>
    <p:sldId id="677" r:id="rId4"/>
    <p:sldId id="678" r:id="rId5"/>
    <p:sldId id="708" r:id="rId6"/>
    <p:sldId id="695" r:id="rId7"/>
    <p:sldId id="707" r:id="rId8"/>
    <p:sldId id="709" r:id="rId9"/>
    <p:sldId id="706" r:id="rId10"/>
    <p:sldId id="710" r:id="rId11"/>
    <p:sldId id="679" r:id="rId12"/>
    <p:sldId id="696" r:id="rId13"/>
    <p:sldId id="697" r:id="rId14"/>
    <p:sldId id="698" r:id="rId15"/>
    <p:sldId id="711" r:id="rId16"/>
    <p:sldId id="694" r:id="rId17"/>
    <p:sldId id="681" r:id="rId18"/>
    <p:sldId id="682" r:id="rId19"/>
    <p:sldId id="687" r:id="rId20"/>
    <p:sldId id="688" r:id="rId21"/>
    <p:sldId id="712" r:id="rId22"/>
    <p:sldId id="714" r:id="rId23"/>
    <p:sldId id="691" r:id="rId24"/>
    <p:sldId id="716" r:id="rId25"/>
    <p:sldId id="715" r:id="rId26"/>
    <p:sldId id="713" r:id="rId27"/>
    <p:sldId id="690" r:id="rId28"/>
    <p:sldId id="701" r:id="rId29"/>
    <p:sldId id="684" r:id="rId30"/>
    <p:sldId id="692" r:id="rId31"/>
    <p:sldId id="693" r:id="rId32"/>
    <p:sldId id="699" r:id="rId33"/>
    <p:sldId id="700" r:id="rId34"/>
    <p:sldId id="685" r:id="rId35"/>
    <p:sldId id="702" r:id="rId36"/>
    <p:sldId id="704" r:id="rId37"/>
    <p:sldId id="705" r:id="rId38"/>
    <p:sldId id="686" r:id="rId39"/>
    <p:sldId id="717" r:id="rId40"/>
  </p:sldIdLst>
  <p:sldSz cx="9144000" cy="6858000" type="screen4x3"/>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FFFF"/>
    <a:srgbClr val="EDFFFF"/>
    <a:srgbClr val="CCECFF"/>
    <a:srgbClr val="99FF99"/>
    <a:srgbClr val="FFFF66"/>
    <a:srgbClr val="66FFFF"/>
    <a:srgbClr val="FFCC00"/>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59" autoAdjust="0"/>
    <p:restoredTop sz="96078" autoAdjust="0"/>
  </p:normalViewPr>
  <p:slideViewPr>
    <p:cSldViewPr snapToGrid="0">
      <p:cViewPr varScale="1">
        <p:scale>
          <a:sx n="97" d="100"/>
          <a:sy n="97" d="100"/>
        </p:scale>
        <p:origin x="80" y="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900113" y="739775"/>
            <a:ext cx="493553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0" y="5154613"/>
            <a:ext cx="9140825"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250825" y="1700213"/>
            <a:ext cx="5473700"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3175" y="0"/>
            <a:ext cx="9140825"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15200" y="228600"/>
            <a:ext cx="1262063"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2022/3/18</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2022/3/18</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68413"/>
            <a:ext cx="4141788"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51388" y="1268413"/>
            <a:ext cx="4141787"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2022/3/18</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2022/3/18</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2022/3/18</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2022/3/18</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2022/3/18</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2022/3/18</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4975" y="549275"/>
            <a:ext cx="2108200"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549275"/>
            <a:ext cx="6175375"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2022/3/18</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75"/>
            <a:ext cx="9144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457200" y="549275"/>
            <a:ext cx="843597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457200" y="1268413"/>
            <a:ext cx="8435975"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468313" y="6524625"/>
            <a:ext cx="21336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2022/3/18</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3132138" y="6524625"/>
            <a:ext cx="3527425"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7235825" y="6524625"/>
            <a:ext cx="163036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9144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534400" y="0"/>
            <a:ext cx="371475"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647700" y="107950"/>
            <a:ext cx="36004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2.wmf"/><Relationship Id="rId5" Type="http://schemas.openxmlformats.org/officeDocument/2006/relationships/oleObject" Target="../embeddings/oleObject2.bin"/><Relationship Id="rId4" Type="http://schemas.openxmlformats.org/officeDocument/2006/relationships/image" Target="../media/image11.emf"/></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32.emf"/></Relationships>
</file>

<file path=ppt/slides/_rels/slide27.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36.emf"/><Relationship Id="rId5" Type="http://schemas.openxmlformats.org/officeDocument/2006/relationships/oleObject" Target="../embeddings/oleObject5.bin"/><Relationship Id="rId4" Type="http://schemas.openxmlformats.org/officeDocument/2006/relationships/image" Target="../media/image35.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38.emf"/></Relationships>
</file>

<file path=ppt/slides/_rels/slide33.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41.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42.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9863" y="1752600"/>
            <a:ext cx="8596312" cy="2906713"/>
          </a:xfrm>
        </p:spPr>
        <p:txBody>
          <a:bodyPr/>
          <a:lstStyle/>
          <a:p>
            <a:pPr eaLnBrk="1" hangingPunct="1"/>
            <a:r>
              <a:rPr lang="zh-CN" altLang="en-US" sz="5400" dirty="0" smtClean="0">
                <a:solidFill>
                  <a:srgbClr val="FF3300"/>
                </a:solidFill>
                <a:latin typeface="隶书" panose="02010509060101010101" pitchFamily="49" charset="-122"/>
                <a:ea typeface="隶书" panose="02010509060101010101" pitchFamily="49" charset="-122"/>
              </a:rPr>
              <a:t>高频放大器</a:t>
            </a:r>
            <a:r>
              <a:rPr lang="zh-CN" altLang="en-US" sz="3600" dirty="0" smtClean="0">
                <a:latin typeface="隶书" panose="02010509060101010101" pitchFamily="49" charset="-122"/>
                <a:ea typeface="隶书" panose="02010509060101010101" pitchFamily="49" charset="-122"/>
              </a:rPr>
              <a:t/>
            </a:r>
            <a:br>
              <a:rPr lang="zh-CN" altLang="en-US" sz="3600" dirty="0" smtClean="0">
                <a:latin typeface="隶书" panose="02010509060101010101" pitchFamily="49" charset="-122"/>
                <a:ea typeface="隶书" panose="02010509060101010101" pitchFamily="49" charset="-122"/>
              </a:rPr>
            </a:br>
            <a:r>
              <a:rPr lang="en-US" altLang="zh-CN" sz="3600" dirty="0" smtClean="0">
                <a:latin typeface="隶书" panose="02010509060101010101" pitchFamily="49" charset="-122"/>
                <a:ea typeface="隶书" panose="02010509060101010101" pitchFamily="49" charset="-122"/>
              </a:rPr>
              <a:t/>
            </a:r>
            <a:br>
              <a:rPr lang="en-US" altLang="zh-CN" sz="3600" dirty="0" smtClean="0">
                <a:latin typeface="隶书" panose="02010509060101010101" pitchFamily="49" charset="-122"/>
                <a:ea typeface="隶书" panose="02010509060101010101" pitchFamily="49" charset="-122"/>
              </a:rPr>
            </a:br>
            <a:r>
              <a:rPr lang="zh-CN" altLang="en-US" sz="2400" dirty="0" smtClean="0">
                <a:solidFill>
                  <a:schemeClr val="tx1"/>
                </a:solidFill>
                <a:latin typeface="楷体" panose="02010609060101010101" pitchFamily="49" charset="-122"/>
                <a:ea typeface="楷体" panose="02010609060101010101" pitchFamily="49" charset="-122"/>
              </a:rPr>
              <a:t>复旦大学电子工程系  陈光梦</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2022/3/21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smtClean="0">
                <a:solidFill>
                  <a:schemeClr val="bg1"/>
                </a:solidFill>
                <a:latin typeface="楷体" panose="02010609060101010101" pitchFamily="49" charset="-122"/>
                <a:ea typeface="楷体" panose="02010609060101010101" pitchFamily="49" charset="-122"/>
              </a:rPr>
              <a:t>大学生电子竞赛培训</a:t>
            </a:r>
            <a:endParaRPr lang="en-US" altLang="zh-CN" sz="1400" dirty="0" smtClean="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a:t>
            </a:fld>
            <a:endParaRPr lang="en-US" altLang="zh-CN"/>
          </a:p>
        </p:txBody>
      </p:sp>
      <p:sp>
        <p:nvSpPr>
          <p:cNvPr id="2" name="文本框 1"/>
          <p:cNvSpPr txBox="1"/>
          <p:nvPr/>
        </p:nvSpPr>
        <p:spPr>
          <a:xfrm>
            <a:off x="380389" y="292608"/>
            <a:ext cx="8485799" cy="4893647"/>
          </a:xfrm>
          <a:prstGeom prst="rect">
            <a:avLst/>
          </a:prstGeom>
          <a:noFill/>
        </p:spPr>
        <p:txBody>
          <a:bodyPr wrap="square" rtlCol="0">
            <a:spAutoFit/>
          </a:bodyPr>
          <a:lstStyle/>
          <a:p>
            <a:pP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概述</a:t>
            </a:r>
            <a:endParaRPr lang="en-US" altLang="zh-CN" sz="2800" dirty="0" smtClean="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Wingdings" panose="05000000000000000000" pitchFamily="2" charset="2"/>
              <a:buChar char="Ø"/>
            </a:pPr>
            <a:r>
              <a:rPr lang="zh-CN" altLang="zh-CN" dirty="0" smtClean="0"/>
              <a:t>频率</a:t>
            </a:r>
            <a:r>
              <a:rPr lang="zh-CN" altLang="zh-CN" dirty="0"/>
              <a:t>范围：从几百</a:t>
            </a:r>
            <a:r>
              <a:rPr lang="en-US" altLang="zh-CN" dirty="0"/>
              <a:t>kHz</a:t>
            </a:r>
            <a:r>
              <a:rPr lang="zh-CN" altLang="zh-CN" dirty="0"/>
              <a:t>的长波通信到几百</a:t>
            </a:r>
            <a:r>
              <a:rPr lang="en-US" altLang="zh-CN" dirty="0"/>
              <a:t>GHz</a:t>
            </a:r>
            <a:r>
              <a:rPr lang="zh-CN" altLang="zh-CN" dirty="0"/>
              <a:t>的</a:t>
            </a:r>
            <a:r>
              <a:rPr lang="zh-CN" altLang="zh-CN" dirty="0" smtClean="0"/>
              <a:t>微波通信</a:t>
            </a:r>
            <a:r>
              <a:rPr lang="zh-CN" altLang="en-US" dirty="0" smtClean="0"/>
              <a:t>，</a:t>
            </a:r>
            <a:r>
              <a:rPr lang="zh-CN" altLang="zh-CN" dirty="0" smtClean="0"/>
              <a:t>本文将</a:t>
            </a:r>
            <a:r>
              <a:rPr lang="zh-CN" altLang="zh-CN" dirty="0"/>
              <a:t>局限在大约</a:t>
            </a:r>
            <a:r>
              <a:rPr lang="en-US" altLang="zh-CN" dirty="0"/>
              <a:t>1MHz~100MHz</a:t>
            </a:r>
            <a:r>
              <a:rPr lang="zh-CN" altLang="zh-CN" dirty="0"/>
              <a:t>这样一个频率范围</a:t>
            </a:r>
            <a:r>
              <a:rPr lang="zh-CN" altLang="zh-CN" dirty="0" smtClean="0"/>
              <a:t>内</a:t>
            </a:r>
            <a:endParaRPr lang="en-US" altLang="zh-CN" dirty="0" smtClean="0"/>
          </a:p>
          <a:p>
            <a:pPr marL="342900" indent="-342900">
              <a:lnSpc>
                <a:spcPct val="150000"/>
              </a:lnSpc>
              <a:buFont typeface="Wingdings" panose="05000000000000000000" pitchFamily="2" charset="2"/>
              <a:buChar char="Ø"/>
            </a:pPr>
            <a:r>
              <a:rPr lang="zh-CN" altLang="zh-CN" dirty="0"/>
              <a:t>主要</a:t>
            </a:r>
            <a:r>
              <a:rPr lang="zh-CN" altLang="zh-CN" dirty="0" smtClean="0"/>
              <a:t>指标：</a:t>
            </a:r>
            <a:r>
              <a:rPr lang="zh-CN" altLang="zh-CN" dirty="0"/>
              <a:t>增益、</a:t>
            </a:r>
            <a:r>
              <a:rPr lang="zh-CN" altLang="zh-CN" dirty="0" smtClean="0"/>
              <a:t>频响</a:t>
            </a:r>
            <a:r>
              <a:rPr lang="zh-CN" altLang="en-US" dirty="0"/>
              <a:t>、</a:t>
            </a:r>
            <a:r>
              <a:rPr lang="zh-CN" altLang="zh-CN" dirty="0"/>
              <a:t>输出功率</a:t>
            </a:r>
            <a:r>
              <a:rPr lang="zh-CN" altLang="zh-CN" dirty="0" smtClean="0"/>
              <a:t>、</a:t>
            </a:r>
            <a:r>
              <a:rPr lang="zh-CN" altLang="zh-CN" dirty="0"/>
              <a:t>噪声与</a:t>
            </a:r>
            <a:r>
              <a:rPr lang="zh-CN" altLang="zh-CN" dirty="0" smtClean="0"/>
              <a:t>失真</a:t>
            </a:r>
            <a:endParaRPr lang="en-US" altLang="zh-CN" dirty="0" smtClean="0"/>
          </a:p>
          <a:p>
            <a:pPr>
              <a:lnSpc>
                <a:spcPct val="150000"/>
              </a:lnSpc>
            </a:pPr>
            <a:r>
              <a:rPr lang="zh-CN" altLang="en-US" dirty="0" smtClean="0"/>
              <a:t>     </a:t>
            </a:r>
            <a:r>
              <a:rPr lang="zh-CN" altLang="en-US" sz="1800" dirty="0" smtClean="0"/>
              <a:t>注：高频电路中常用</a:t>
            </a:r>
            <a:r>
              <a:rPr lang="en-US" altLang="zh-CN" sz="1800" dirty="0" err="1" smtClean="0"/>
              <a:t>dBm</a:t>
            </a:r>
            <a:r>
              <a:rPr lang="zh-CN" altLang="en-US" sz="1800" dirty="0" smtClean="0"/>
              <a:t>表示功率，</a:t>
            </a:r>
            <a:r>
              <a:rPr lang="en-US" altLang="zh-CN" sz="1800" dirty="0" err="1" smtClean="0"/>
              <a:t>dBm</a:t>
            </a:r>
            <a:r>
              <a:rPr lang="en-US" altLang="zh-CN" sz="1800" dirty="0" smtClean="0"/>
              <a:t>=10lg(P/1mW)</a:t>
            </a:r>
            <a:r>
              <a:rPr lang="zh-CN" altLang="en-US" sz="1800" dirty="0" smtClean="0"/>
              <a:t>，即</a:t>
            </a:r>
            <a:r>
              <a:rPr lang="en-US" altLang="zh-CN" sz="1800" dirty="0" smtClean="0"/>
              <a:t>0dBm=1mW</a:t>
            </a:r>
          </a:p>
          <a:p>
            <a:pPr marL="342900" indent="-342900">
              <a:lnSpc>
                <a:spcPct val="150000"/>
              </a:lnSpc>
              <a:buFont typeface="Wingdings" panose="05000000000000000000" pitchFamily="2" charset="2"/>
              <a:buChar char="Ø"/>
            </a:pPr>
            <a:r>
              <a:rPr lang="zh-CN" altLang="zh-CN" dirty="0" smtClean="0"/>
              <a:t>输入输出</a:t>
            </a:r>
            <a:r>
              <a:rPr lang="zh-CN" altLang="zh-CN" dirty="0"/>
              <a:t>阻抗通常都被规定为</a:t>
            </a:r>
            <a:r>
              <a:rPr lang="en-US" altLang="zh-CN" dirty="0"/>
              <a:t>50</a:t>
            </a:r>
            <a:r>
              <a:rPr lang="en-US" altLang="zh-CN" dirty="0" smtClean="0">
                <a:sym typeface="Symbol" panose="05050102010706020507" pitchFamily="18" charset="2"/>
              </a:rPr>
              <a:t></a:t>
            </a:r>
          </a:p>
          <a:p>
            <a:pPr marL="342900" indent="-342900">
              <a:lnSpc>
                <a:spcPct val="150000"/>
              </a:lnSpc>
              <a:buFont typeface="Wingdings" panose="05000000000000000000" pitchFamily="2" charset="2"/>
              <a:buChar char="Ø"/>
            </a:pPr>
            <a:r>
              <a:rPr lang="zh-CN" altLang="en-US" dirty="0" smtClean="0">
                <a:sym typeface="Symbol" panose="05050102010706020507" pitchFamily="18" charset="2"/>
              </a:rPr>
              <a:t>按带宽分为宽带放大器、窄带放大器（选频放大器）</a:t>
            </a:r>
            <a:endParaRPr lang="en-US" altLang="zh-CN" dirty="0" smtClean="0">
              <a:sym typeface="Symbol" panose="05050102010706020507" pitchFamily="18" charset="2"/>
            </a:endParaRPr>
          </a:p>
          <a:p>
            <a:pPr marL="342900" indent="-342900">
              <a:lnSpc>
                <a:spcPct val="150000"/>
              </a:lnSpc>
              <a:buFont typeface="Wingdings" panose="05000000000000000000" pitchFamily="2" charset="2"/>
              <a:buChar char="Ø"/>
            </a:pPr>
            <a:r>
              <a:rPr lang="zh-CN" altLang="en-US" dirty="0" smtClean="0"/>
              <a:t>按增益分为固定增益放大器、可变增益放大器</a:t>
            </a:r>
            <a:endParaRPr lang="en-US" altLang="zh-CN" dirty="0" smtClean="0"/>
          </a:p>
          <a:p>
            <a:pPr marL="342900" indent="-342900">
              <a:lnSpc>
                <a:spcPct val="150000"/>
              </a:lnSpc>
              <a:buFont typeface="Wingdings" panose="05000000000000000000" pitchFamily="2" charset="2"/>
              <a:buChar char="Ø"/>
            </a:pPr>
            <a:r>
              <a:rPr lang="zh-CN" altLang="en-US" dirty="0" smtClean="0"/>
              <a:t>按输出功率分为小信号放大器、功率放大器</a:t>
            </a:r>
            <a:endParaRPr lang="en-US" altLang="zh-CN" dirty="0" smtClean="0"/>
          </a:p>
          <a:p>
            <a:pPr marL="342900" indent="-342900">
              <a:lnSpc>
                <a:spcPct val="150000"/>
              </a:lnSpc>
              <a:buFont typeface="Wingdings" panose="05000000000000000000" pitchFamily="2" charset="2"/>
              <a:buChar char="Ø"/>
            </a:pPr>
            <a:r>
              <a:rPr lang="zh-CN" altLang="en-US" dirty="0"/>
              <a:t>主要</a:t>
            </a:r>
            <a:r>
              <a:rPr lang="zh-CN" altLang="en-US" dirty="0" smtClean="0"/>
              <a:t>放大</a:t>
            </a:r>
            <a:r>
              <a:rPr lang="zh-CN" altLang="en-US" dirty="0" smtClean="0"/>
              <a:t>元件有</a:t>
            </a:r>
            <a:r>
              <a:rPr lang="en-US" altLang="zh-CN" dirty="0" smtClean="0"/>
              <a:t>MMIC</a:t>
            </a:r>
            <a:r>
              <a:rPr lang="zh-CN" altLang="en-US" dirty="0" smtClean="0"/>
              <a:t>、高速运放</a:t>
            </a:r>
            <a:r>
              <a:rPr lang="zh-CN" altLang="en-US" dirty="0"/>
              <a:t>、</a:t>
            </a:r>
            <a:r>
              <a:rPr lang="zh-CN" altLang="en-US" dirty="0" smtClean="0"/>
              <a:t>晶体管</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2022/3/18</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smtClean="0">
                <a:solidFill>
                  <a:schemeClr val="bg1"/>
                </a:solidFill>
                <a:latin typeface="楷体" panose="02010609060101010101" pitchFamily="49" charset="-122"/>
                <a:ea typeface="楷体" panose="02010609060101010101" pitchFamily="49" charset="-122"/>
              </a:rPr>
              <a:t>大学生电子竞赛培训</a:t>
            </a:r>
            <a:endParaRPr lang="en-US" altLang="zh-CN" sz="1400" dirty="0" smtClean="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a:t>
            </a:fld>
            <a:endParaRPr lang="en-US" altLang="zh-CN"/>
          </a:p>
        </p:txBody>
      </p:sp>
      <p:sp>
        <p:nvSpPr>
          <p:cNvPr id="4" name="文本框 3"/>
          <p:cNvSpPr txBox="1"/>
          <p:nvPr/>
        </p:nvSpPr>
        <p:spPr>
          <a:xfrm>
            <a:off x="358445" y="321869"/>
            <a:ext cx="8375904" cy="4893647"/>
          </a:xfrm>
          <a:prstGeom prst="rect">
            <a:avLst/>
          </a:prstGeom>
          <a:noFill/>
        </p:spPr>
        <p:txBody>
          <a:bodyPr wrap="square" rtlCol="0">
            <a:spAutoFit/>
          </a:bodyPr>
          <a:lstStyle/>
          <a:p>
            <a:pP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高频放大器</a:t>
            </a:r>
            <a:endParaRPr lang="en-US" altLang="zh-CN" sz="2800" dirty="0" smtClean="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Wingdings" panose="05000000000000000000" pitchFamily="2" charset="2"/>
              <a:buChar char="Ø"/>
            </a:pPr>
            <a:r>
              <a:rPr lang="zh-CN" altLang="zh-CN" b="1" dirty="0" smtClean="0"/>
              <a:t>单</a:t>
            </a:r>
            <a:r>
              <a:rPr lang="zh-CN" altLang="zh-CN" b="1" dirty="0"/>
              <a:t>片微波集成电路（</a:t>
            </a:r>
            <a:r>
              <a:rPr lang="en-US" altLang="zh-CN" dirty="0"/>
              <a:t>MMIC</a:t>
            </a:r>
            <a:r>
              <a:rPr lang="zh-CN" altLang="zh-CN" b="1" dirty="0"/>
              <a:t>）</a:t>
            </a:r>
            <a:endParaRPr lang="zh-CN" altLang="zh-CN" dirty="0"/>
          </a:p>
          <a:p>
            <a:pPr marL="342900" indent="-342900">
              <a:lnSpc>
                <a:spcPct val="150000"/>
              </a:lnSpc>
              <a:buFont typeface="Arial" panose="020B0604020202020204" pitchFamily="34" charset="0"/>
              <a:buChar char="•"/>
            </a:pPr>
            <a:r>
              <a:rPr lang="en-US" altLang="zh-CN" dirty="0"/>
              <a:t>MMIC</a:t>
            </a:r>
            <a:r>
              <a:rPr lang="zh-CN" altLang="zh-CN" dirty="0"/>
              <a:t>的种类繁多，包括多种无线电通信功能模块电路，如低噪声放大、功率放大、混频、调制解调、压控振荡等，有些集成度高的甚至包括整个收发</a:t>
            </a:r>
            <a:r>
              <a:rPr lang="zh-CN" altLang="zh-CN" dirty="0" smtClean="0"/>
              <a:t>系统</a:t>
            </a:r>
            <a:endParaRPr lang="en-US" altLang="zh-CN" dirty="0" smtClean="0"/>
          </a:p>
          <a:p>
            <a:pPr marL="342900" indent="-342900">
              <a:lnSpc>
                <a:spcPct val="150000"/>
              </a:lnSpc>
              <a:buFont typeface="Arial" panose="020B0604020202020204" pitchFamily="34" charset="0"/>
              <a:buChar char="•"/>
            </a:pPr>
            <a:r>
              <a:rPr lang="zh-CN" altLang="zh-CN" dirty="0" smtClean="0"/>
              <a:t>由于</a:t>
            </a:r>
            <a:r>
              <a:rPr lang="en-US" altLang="zh-CN" dirty="0" smtClean="0"/>
              <a:t>MMIC</a:t>
            </a:r>
            <a:r>
              <a:rPr lang="zh-CN" altLang="zh-CN" dirty="0" smtClean="0"/>
              <a:t>电路功能</a:t>
            </a:r>
            <a:r>
              <a:rPr lang="zh-CN" altLang="en-US" dirty="0" smtClean="0"/>
              <a:t>单一、</a:t>
            </a:r>
            <a:r>
              <a:rPr lang="zh-CN" altLang="zh-CN" dirty="0" smtClean="0"/>
              <a:t>要求</a:t>
            </a:r>
            <a:r>
              <a:rPr lang="zh-CN" altLang="zh-CN" dirty="0"/>
              <a:t>明确，所以其设计针对实际需要</a:t>
            </a:r>
            <a:r>
              <a:rPr lang="zh-CN" altLang="zh-CN" dirty="0" smtClean="0"/>
              <a:t>进行</a:t>
            </a:r>
            <a:r>
              <a:rPr lang="zh-CN" altLang="en-US" dirty="0" smtClean="0"/>
              <a:t>。</a:t>
            </a:r>
            <a:r>
              <a:rPr lang="zh-CN" altLang="zh-CN" dirty="0" smtClean="0"/>
              <a:t>具有电路</a:t>
            </a:r>
            <a:r>
              <a:rPr lang="zh-CN" altLang="zh-CN" dirty="0"/>
              <a:t>损耗小、噪声低、频带宽、动态范围大等</a:t>
            </a:r>
            <a:r>
              <a:rPr lang="zh-CN" altLang="zh-CN" dirty="0" smtClean="0"/>
              <a:t>优点</a:t>
            </a:r>
            <a:endParaRPr lang="zh-CN" altLang="zh-CN" dirty="0"/>
          </a:p>
          <a:p>
            <a:pPr marL="342900" indent="-342900">
              <a:lnSpc>
                <a:spcPct val="150000"/>
              </a:lnSpc>
              <a:buFont typeface="Arial" panose="020B0604020202020204" pitchFamily="34" charset="0"/>
              <a:buChar char="•"/>
            </a:pPr>
            <a:r>
              <a:rPr lang="zh-CN" altLang="zh-CN" dirty="0" smtClean="0"/>
              <a:t>通常</a:t>
            </a:r>
            <a:r>
              <a:rPr lang="zh-CN" altLang="zh-CN" dirty="0"/>
              <a:t>用于放大的</a:t>
            </a:r>
            <a:r>
              <a:rPr lang="en-US" altLang="zh-CN" dirty="0"/>
              <a:t>MMIC</a:t>
            </a:r>
            <a:r>
              <a:rPr lang="zh-CN" altLang="zh-CN" dirty="0" smtClean="0"/>
              <a:t>具有固定</a:t>
            </a:r>
            <a:r>
              <a:rPr lang="zh-CN" altLang="zh-CN" dirty="0"/>
              <a:t>的最大增益（有些</a:t>
            </a:r>
            <a:r>
              <a:rPr lang="en-US" altLang="zh-CN" dirty="0"/>
              <a:t>MMIC</a:t>
            </a:r>
            <a:r>
              <a:rPr lang="zh-CN" altLang="zh-CN" dirty="0"/>
              <a:t>允许通过外接元件降低增益），大部分</a:t>
            </a:r>
            <a:r>
              <a:rPr lang="en-US" altLang="zh-CN" dirty="0"/>
              <a:t>MMIC</a:t>
            </a:r>
            <a:r>
              <a:rPr lang="zh-CN" altLang="zh-CN" dirty="0" smtClean="0"/>
              <a:t>放大器输入阻抗</a:t>
            </a:r>
            <a:r>
              <a:rPr lang="zh-CN" altLang="zh-CN" dirty="0"/>
              <a:t>和</a:t>
            </a:r>
            <a:r>
              <a:rPr lang="zh-CN" altLang="zh-CN" dirty="0" smtClean="0"/>
              <a:t>输出阻抗都</a:t>
            </a:r>
            <a:r>
              <a:rPr lang="zh-CN" altLang="zh-CN" dirty="0"/>
              <a:t>被设计得与</a:t>
            </a:r>
            <a:r>
              <a:rPr lang="en-US" altLang="zh-CN" dirty="0"/>
              <a:t>50</a:t>
            </a:r>
            <a:r>
              <a:rPr lang="en-US" altLang="zh-CN" dirty="0">
                <a:sym typeface="Symbol" panose="05050102010706020507" pitchFamily="18" charset="2"/>
              </a:rPr>
              <a:t></a:t>
            </a:r>
            <a:r>
              <a:rPr lang="zh-CN" altLang="zh-CN" dirty="0" smtClean="0"/>
              <a:t>匹配</a:t>
            </a:r>
            <a:endParaRPr lang="zh-CN" altLang="en-US" dirty="0"/>
          </a:p>
        </p:txBody>
      </p:sp>
    </p:spTree>
    <p:extLst>
      <p:ext uri="{BB962C8B-B14F-4D97-AF65-F5344CB8AC3E}">
        <p14:creationId xmlns:p14="http://schemas.microsoft.com/office/powerpoint/2010/main" val="33862117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2022/3/18</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smtClean="0">
                <a:solidFill>
                  <a:schemeClr val="bg1"/>
                </a:solidFill>
                <a:latin typeface="楷体" panose="02010609060101010101" pitchFamily="49" charset="-122"/>
                <a:ea typeface="楷体" panose="02010609060101010101" pitchFamily="49" charset="-122"/>
              </a:rPr>
              <a:t>大学生电子竞赛培训</a:t>
            </a:r>
            <a:endParaRPr lang="en-US" altLang="zh-CN" sz="1400" dirty="0" smtClean="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a:t>
            </a:fld>
            <a:endParaRPr lang="en-US" altLang="zh-CN"/>
          </a:p>
        </p:txBody>
      </p:sp>
      <p:sp>
        <p:nvSpPr>
          <p:cNvPr id="2" name="文本框 1"/>
          <p:cNvSpPr txBox="1"/>
          <p:nvPr/>
        </p:nvSpPr>
        <p:spPr>
          <a:xfrm>
            <a:off x="380390" y="482804"/>
            <a:ext cx="8485798" cy="2862322"/>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dirty="0" smtClean="0"/>
              <a:t>MMIC</a:t>
            </a:r>
            <a:r>
              <a:rPr lang="zh-CN" altLang="en-US" dirty="0" smtClean="0"/>
              <a:t>放大器举例</a:t>
            </a:r>
            <a:endParaRPr lang="en-US" altLang="zh-CN" dirty="0" smtClean="0"/>
          </a:p>
          <a:p>
            <a:pPr marL="800100" lvl="1" indent="-342900">
              <a:lnSpc>
                <a:spcPct val="150000"/>
              </a:lnSpc>
              <a:buFont typeface="Arial" panose="020B0604020202020204" pitchFamily="34" charset="0"/>
              <a:buChar char="•"/>
            </a:pPr>
            <a:r>
              <a:rPr lang="en-US" altLang="zh-CN" dirty="0" smtClean="0"/>
              <a:t>AD5530</a:t>
            </a:r>
            <a:r>
              <a:rPr lang="zh-CN" altLang="en-US" dirty="0" smtClean="0"/>
              <a:t>，</a:t>
            </a:r>
            <a:r>
              <a:rPr lang="en-US" altLang="zh-CN" dirty="0" smtClean="0"/>
              <a:t>DC~1GHz</a:t>
            </a:r>
            <a:r>
              <a:rPr lang="zh-CN" altLang="en-US" dirty="0" smtClean="0"/>
              <a:t>，增益</a:t>
            </a:r>
            <a:r>
              <a:rPr lang="en-US" altLang="zh-CN" dirty="0"/>
              <a:t>16.5dB</a:t>
            </a:r>
            <a:r>
              <a:rPr lang="zh-CN" altLang="en-US" dirty="0"/>
              <a:t>，</a:t>
            </a:r>
            <a:r>
              <a:rPr lang="zh-CN" altLang="en-US" dirty="0" smtClean="0"/>
              <a:t>噪声指数</a:t>
            </a:r>
            <a:r>
              <a:rPr lang="en-US" altLang="zh-CN" dirty="0" smtClean="0"/>
              <a:t>3dB</a:t>
            </a:r>
            <a:r>
              <a:rPr lang="zh-CN" altLang="en-US" dirty="0" smtClean="0"/>
              <a:t>，电源电压</a:t>
            </a:r>
            <a:r>
              <a:rPr lang="en-US" altLang="zh-CN" dirty="0" smtClean="0"/>
              <a:t>3~5V</a:t>
            </a:r>
          </a:p>
          <a:p>
            <a:pPr marL="800100" lvl="1" indent="-342900">
              <a:lnSpc>
                <a:spcPct val="150000"/>
              </a:lnSpc>
              <a:buFont typeface="Arial" panose="020B0604020202020204" pitchFamily="34" charset="0"/>
              <a:buChar char="•"/>
            </a:pPr>
            <a:r>
              <a:rPr lang="en-US" altLang="zh-CN" dirty="0" smtClean="0"/>
              <a:t>HMC480</a:t>
            </a:r>
            <a:r>
              <a:rPr lang="zh-CN" altLang="en-US" dirty="0" smtClean="0"/>
              <a:t>，</a:t>
            </a:r>
            <a:r>
              <a:rPr lang="en-US" altLang="zh-CN" dirty="0" smtClean="0"/>
              <a:t>DC~5GHz</a:t>
            </a:r>
            <a:r>
              <a:rPr lang="zh-CN" altLang="en-US" dirty="0" smtClean="0"/>
              <a:t>，增益</a:t>
            </a:r>
            <a:r>
              <a:rPr lang="en-US" altLang="zh-CN" dirty="0" smtClean="0"/>
              <a:t>19dB@1GHz</a:t>
            </a:r>
            <a:r>
              <a:rPr lang="zh-CN" altLang="en-US" dirty="0" smtClean="0"/>
              <a:t>、</a:t>
            </a:r>
            <a:r>
              <a:rPr lang="en-US" altLang="zh-CN" dirty="0" smtClean="0"/>
              <a:t>11dB@5GHz</a:t>
            </a:r>
            <a:r>
              <a:rPr lang="zh-CN" altLang="en-US" dirty="0" smtClean="0"/>
              <a:t>，噪声指数</a:t>
            </a:r>
            <a:r>
              <a:rPr lang="en-US" altLang="zh-CN" dirty="0" smtClean="0"/>
              <a:t>3.25dB@0~4GHz</a:t>
            </a:r>
            <a:r>
              <a:rPr lang="zh-CN" altLang="en-US" dirty="0" smtClean="0"/>
              <a:t>，</a:t>
            </a:r>
            <a:r>
              <a:rPr lang="en-US" altLang="zh-CN" dirty="0" smtClean="0"/>
              <a:t>1dB</a:t>
            </a:r>
            <a:r>
              <a:rPr lang="zh-CN" altLang="en-US" dirty="0" smtClean="0"/>
              <a:t>压缩点</a:t>
            </a:r>
            <a:r>
              <a:rPr lang="en-US" altLang="zh-CN" dirty="0" smtClean="0"/>
              <a:t>19dBm</a:t>
            </a:r>
            <a:r>
              <a:rPr lang="zh-CN" altLang="en-US" dirty="0" smtClean="0"/>
              <a:t>，电源电压</a:t>
            </a:r>
            <a:r>
              <a:rPr lang="en-US" altLang="zh-CN" dirty="0" smtClean="0"/>
              <a:t>6~8V</a:t>
            </a:r>
          </a:p>
          <a:p>
            <a:pPr marL="800100" lvl="1" indent="-342900">
              <a:lnSpc>
                <a:spcPct val="150000"/>
              </a:lnSpc>
              <a:buFont typeface="Arial" panose="020B0604020202020204" pitchFamily="34" charset="0"/>
              <a:buChar char="•"/>
            </a:pPr>
            <a:r>
              <a:rPr lang="en-US" altLang="zh-CN" dirty="0" smtClean="0"/>
              <a:t>HMC580</a:t>
            </a:r>
            <a:r>
              <a:rPr lang="zh-CN" altLang="en-US" dirty="0" smtClean="0"/>
              <a:t>，</a:t>
            </a:r>
            <a:r>
              <a:rPr lang="en-US" altLang="zh-CN" dirty="0" smtClean="0"/>
              <a:t>DC~1GHz</a:t>
            </a:r>
            <a:r>
              <a:rPr lang="zh-CN" altLang="en-US" dirty="0"/>
              <a:t>，</a:t>
            </a:r>
            <a:r>
              <a:rPr lang="zh-CN" altLang="en-US" dirty="0" smtClean="0"/>
              <a:t>增益</a:t>
            </a:r>
            <a:r>
              <a:rPr lang="en-US" altLang="zh-CN" dirty="0" smtClean="0"/>
              <a:t>22dB@0.25GHz</a:t>
            </a:r>
            <a:r>
              <a:rPr lang="zh-CN" altLang="en-US" dirty="0"/>
              <a:t>、</a:t>
            </a:r>
            <a:r>
              <a:rPr lang="en-US" altLang="zh-CN" dirty="0" smtClean="0"/>
              <a:t>17dB@1GHz</a:t>
            </a:r>
            <a:r>
              <a:rPr lang="zh-CN" altLang="en-US" dirty="0"/>
              <a:t>，噪声</a:t>
            </a:r>
            <a:r>
              <a:rPr lang="zh-CN" altLang="en-US" dirty="0" smtClean="0"/>
              <a:t>指数</a:t>
            </a:r>
            <a:r>
              <a:rPr lang="en-US" altLang="zh-CN" dirty="0" smtClean="0"/>
              <a:t>2.8dB@1GHz</a:t>
            </a:r>
            <a:r>
              <a:rPr lang="zh-CN" altLang="en-US" dirty="0"/>
              <a:t>，</a:t>
            </a:r>
            <a:r>
              <a:rPr lang="en-US" altLang="zh-CN" dirty="0"/>
              <a:t>1dB</a:t>
            </a:r>
            <a:r>
              <a:rPr lang="zh-CN" altLang="en-US" dirty="0"/>
              <a:t>压缩</a:t>
            </a:r>
            <a:r>
              <a:rPr lang="zh-CN" altLang="en-US" dirty="0" smtClean="0"/>
              <a:t>点</a:t>
            </a:r>
            <a:r>
              <a:rPr lang="en-US" altLang="zh-CN" dirty="0" smtClean="0"/>
              <a:t>19dBm</a:t>
            </a:r>
            <a:r>
              <a:rPr lang="zh-CN" altLang="en-US" dirty="0"/>
              <a:t>，</a:t>
            </a:r>
            <a:r>
              <a:rPr lang="zh-CN" altLang="en-US" dirty="0" smtClean="0"/>
              <a:t>电源电压</a:t>
            </a:r>
            <a:r>
              <a:rPr lang="en-US" altLang="zh-CN" dirty="0" smtClean="0"/>
              <a:t>5V</a:t>
            </a:r>
            <a:endParaRPr lang="en-US" altLang="zh-CN" dirty="0"/>
          </a:p>
        </p:txBody>
      </p:sp>
      <p:pic>
        <p:nvPicPr>
          <p:cNvPr id="6" name="图片 5"/>
          <p:cNvPicPr/>
          <p:nvPr/>
        </p:nvPicPr>
        <p:blipFill>
          <a:blip r:embed="rId2"/>
          <a:stretch>
            <a:fillRect/>
          </a:stretch>
        </p:blipFill>
        <p:spPr>
          <a:xfrm>
            <a:off x="3631107" y="3436299"/>
            <a:ext cx="5413172" cy="2667968"/>
          </a:xfrm>
          <a:prstGeom prst="rect">
            <a:avLst/>
          </a:prstGeom>
        </p:spPr>
      </p:pic>
      <p:sp>
        <p:nvSpPr>
          <p:cNvPr id="4" name="文本框 3"/>
          <p:cNvSpPr txBox="1"/>
          <p:nvPr/>
        </p:nvSpPr>
        <p:spPr>
          <a:xfrm>
            <a:off x="3460090" y="6013094"/>
            <a:ext cx="3618730" cy="369332"/>
          </a:xfrm>
          <a:prstGeom prst="rect">
            <a:avLst/>
          </a:prstGeom>
          <a:noFill/>
        </p:spPr>
        <p:txBody>
          <a:bodyPr wrap="square" rtlCol="0">
            <a:spAutoFit/>
          </a:bodyPr>
          <a:lstStyle/>
          <a:p>
            <a:r>
              <a:rPr lang="zh-CN" altLang="en-US" sz="1800" dirty="0" smtClean="0"/>
              <a:t>基本应用电路</a:t>
            </a:r>
            <a:endParaRPr lang="zh-CN" altLang="en-US" sz="1800" dirty="0"/>
          </a:p>
        </p:txBody>
      </p:sp>
      <p:pic>
        <p:nvPicPr>
          <p:cNvPr id="9" name="图片 8"/>
          <p:cNvPicPr>
            <a:picLocks noChangeAspect="1"/>
          </p:cNvPicPr>
          <p:nvPr/>
        </p:nvPicPr>
        <p:blipFill>
          <a:blip r:embed="rId3"/>
          <a:stretch>
            <a:fillRect/>
          </a:stretch>
        </p:blipFill>
        <p:spPr>
          <a:xfrm>
            <a:off x="363810" y="3988864"/>
            <a:ext cx="4015721" cy="1807383"/>
          </a:xfrm>
          <a:prstGeom prst="rect">
            <a:avLst/>
          </a:prstGeom>
        </p:spPr>
      </p:pic>
    </p:spTree>
    <p:extLst>
      <p:ext uri="{BB962C8B-B14F-4D97-AF65-F5344CB8AC3E}">
        <p14:creationId xmlns:p14="http://schemas.microsoft.com/office/powerpoint/2010/main" val="16765347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a:t>
            </a:fld>
            <a:endParaRPr lang="en-US" altLang="zh-CN">
              <a:solidFill>
                <a:srgbClr val="FFFFFF"/>
              </a:solidFill>
            </a:endParaRPr>
          </a:p>
        </p:txBody>
      </p:sp>
      <p:sp>
        <p:nvSpPr>
          <p:cNvPr id="12" name="文本框 11"/>
          <p:cNvSpPr txBox="1"/>
          <p:nvPr/>
        </p:nvSpPr>
        <p:spPr>
          <a:xfrm>
            <a:off x="286765" y="392075"/>
            <a:ext cx="8485798" cy="4708981"/>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dirty="0" smtClean="0"/>
              <a:t>MMIC</a:t>
            </a:r>
            <a:r>
              <a:rPr lang="zh-CN" altLang="en-US" dirty="0" smtClean="0"/>
              <a:t>放大器的性能参数（一）</a:t>
            </a:r>
            <a:endParaRPr lang="en-US" altLang="zh-CN" dirty="0" smtClean="0"/>
          </a:p>
          <a:p>
            <a:pPr marL="800100" lvl="1" indent="-342900">
              <a:lnSpc>
                <a:spcPct val="150000"/>
              </a:lnSpc>
              <a:buFont typeface="Arial" panose="020B0604020202020204" pitchFamily="34" charset="0"/>
              <a:buChar char="•"/>
            </a:pPr>
            <a:r>
              <a:rPr lang="zh-CN" altLang="en-US" dirty="0" smtClean="0">
                <a:solidFill>
                  <a:srgbClr val="FF0000"/>
                </a:solidFill>
              </a:rPr>
              <a:t>增益</a:t>
            </a:r>
            <a:r>
              <a:rPr lang="zh-CN" altLang="en-US" dirty="0" smtClean="0"/>
              <a:t>：输出功率与输入功率之比（在输入阻抗与负载阻抗相等的情况下，电压增益与功率增益的</a:t>
            </a:r>
            <a:r>
              <a:rPr lang="en-US" altLang="zh-CN" dirty="0" smtClean="0"/>
              <a:t>dB</a:t>
            </a:r>
            <a:r>
              <a:rPr lang="zh-CN" altLang="en-US" dirty="0" smtClean="0"/>
              <a:t>值相同）</a:t>
            </a:r>
            <a:endParaRPr lang="en-US" altLang="zh-CN" dirty="0" smtClean="0"/>
          </a:p>
          <a:p>
            <a:pPr marL="742950" lvl="1" indent="-285750">
              <a:lnSpc>
                <a:spcPct val="150000"/>
              </a:lnSpc>
              <a:buFont typeface="Arial" panose="020B0604020202020204" pitchFamily="34" charset="0"/>
              <a:buChar char="•"/>
            </a:pPr>
            <a:r>
              <a:rPr lang="en-US" altLang="zh-CN" kern="100" dirty="0">
                <a:solidFill>
                  <a:srgbClr val="FF0000"/>
                </a:solidFill>
                <a:latin typeface="Arial" panose="020B0604020202020204" pitchFamily="34" charset="0"/>
              </a:rPr>
              <a:t>1dB</a:t>
            </a:r>
            <a:r>
              <a:rPr lang="zh-CN" altLang="zh-CN" kern="100" dirty="0">
                <a:solidFill>
                  <a:srgbClr val="FF0000"/>
                </a:solidFill>
                <a:latin typeface="Arial" panose="020B0604020202020204" pitchFamily="34" charset="0"/>
                <a:cs typeface="Times New Roman" panose="02020603050405020304" pitchFamily="18" charset="0"/>
              </a:rPr>
              <a:t>压缩</a:t>
            </a:r>
            <a:r>
              <a:rPr lang="zh-CN" altLang="zh-CN" kern="100" dirty="0" smtClean="0">
                <a:solidFill>
                  <a:srgbClr val="FF0000"/>
                </a:solidFill>
                <a:latin typeface="Arial" panose="020B0604020202020204" pitchFamily="34" charset="0"/>
                <a:cs typeface="Times New Roman" panose="02020603050405020304" pitchFamily="18" charset="0"/>
              </a:rPr>
              <a:t>点</a:t>
            </a:r>
            <a:r>
              <a:rPr lang="zh-CN" altLang="en-US" kern="100" dirty="0" smtClean="0">
                <a:latin typeface="Arial" panose="020B0604020202020204" pitchFamily="34" charset="0"/>
              </a:rPr>
              <a:t>：</a:t>
            </a:r>
            <a:r>
              <a:rPr lang="zh-CN" altLang="zh-CN" kern="100" dirty="0">
                <a:latin typeface="Arial" panose="020B0604020202020204" pitchFamily="34" charset="0"/>
                <a:cs typeface="Times New Roman" panose="02020603050405020304" pitchFamily="18" charset="0"/>
              </a:rPr>
              <a:t>增益下降</a:t>
            </a:r>
            <a:r>
              <a:rPr lang="en-US" altLang="zh-CN" kern="100" dirty="0">
                <a:latin typeface="Arial" panose="020B0604020202020204" pitchFamily="34" charset="0"/>
              </a:rPr>
              <a:t>1dB</a:t>
            </a:r>
            <a:r>
              <a:rPr lang="zh-CN" altLang="en-US" kern="100" dirty="0">
                <a:latin typeface="Arial" panose="020B0604020202020204" pitchFamily="34" charset="0"/>
              </a:rPr>
              <a:t>时对应的输出</a:t>
            </a:r>
            <a:r>
              <a:rPr lang="zh-CN" altLang="en-US" kern="100" dirty="0" smtClean="0">
                <a:latin typeface="Arial" panose="020B0604020202020204" pitchFamily="34" charset="0"/>
              </a:rPr>
              <a:t>功率，此参数与放大器的最大允许输出功率相关</a:t>
            </a:r>
            <a:endParaRPr lang="en-US" altLang="zh-CN" kern="100" dirty="0">
              <a:latin typeface="Arial" panose="020B0604020202020204" pitchFamily="34" charset="0"/>
              <a:cs typeface="Times New Roman" panose="02020603050405020304" pitchFamily="18" charset="0"/>
            </a:endParaRPr>
          </a:p>
          <a:p>
            <a:pPr marL="742950" lvl="1" indent="-285750">
              <a:lnSpc>
                <a:spcPct val="150000"/>
              </a:lnSpc>
              <a:buFont typeface="Arial" panose="020B0604020202020204" pitchFamily="34" charset="0"/>
              <a:buChar char="•"/>
            </a:pPr>
            <a:r>
              <a:rPr lang="zh-CN" altLang="en-US" dirty="0">
                <a:solidFill>
                  <a:srgbClr val="FF0000"/>
                </a:solidFill>
              </a:rPr>
              <a:t>输出</a:t>
            </a:r>
            <a:r>
              <a:rPr lang="zh-CN" altLang="zh-CN" dirty="0">
                <a:solidFill>
                  <a:srgbClr val="FF0000"/>
                </a:solidFill>
              </a:rPr>
              <a:t>三阶</a:t>
            </a:r>
            <a:r>
              <a:rPr lang="zh-CN" altLang="zh-CN" dirty="0" smtClean="0">
                <a:solidFill>
                  <a:srgbClr val="FF0000"/>
                </a:solidFill>
              </a:rPr>
              <a:t>截点</a:t>
            </a:r>
            <a:r>
              <a:rPr lang="zh-CN" altLang="en-US" dirty="0" smtClean="0"/>
              <a:t>：</a:t>
            </a:r>
            <a:r>
              <a:rPr lang="zh-CN" altLang="zh-CN" dirty="0"/>
              <a:t>输出信号中三</a:t>
            </a:r>
            <a:r>
              <a:rPr lang="zh-CN" altLang="zh-CN" dirty="0" smtClean="0"/>
              <a:t>阶</a:t>
            </a:r>
            <a:r>
              <a:rPr lang="zh-CN" altLang="en-US" dirty="0" smtClean="0"/>
              <a:t>互调失真</a:t>
            </a:r>
            <a:r>
              <a:rPr lang="zh-CN" altLang="zh-CN" dirty="0" smtClean="0"/>
              <a:t>成分</a:t>
            </a:r>
            <a:r>
              <a:rPr lang="zh-CN" altLang="zh-CN" dirty="0"/>
              <a:t>与基频成分相等时对应的</a:t>
            </a:r>
            <a:r>
              <a:rPr lang="zh-CN" altLang="en-US" dirty="0"/>
              <a:t>输出</a:t>
            </a:r>
            <a:r>
              <a:rPr lang="zh-CN" altLang="zh-CN" dirty="0" smtClean="0"/>
              <a:t>功率</a:t>
            </a:r>
            <a:r>
              <a:rPr lang="zh-CN" altLang="en-US" dirty="0"/>
              <a:t>（通常以输出功率为某个参考值条件下的测量结果进行外推得到此参数</a:t>
            </a:r>
            <a:r>
              <a:rPr lang="zh-CN" altLang="en-US" dirty="0" smtClean="0"/>
              <a:t>值）</a:t>
            </a:r>
            <a:endParaRPr lang="en-US" altLang="zh-CN" dirty="0"/>
          </a:p>
          <a:p>
            <a:pPr marL="742950" lvl="1" indent="-285750">
              <a:lnSpc>
                <a:spcPct val="150000"/>
              </a:lnSpc>
              <a:buFont typeface="Arial" panose="020B0604020202020204" pitchFamily="34" charset="0"/>
              <a:buChar char="•"/>
            </a:pPr>
            <a:r>
              <a:rPr lang="zh-CN" altLang="en-US" dirty="0" smtClean="0">
                <a:solidFill>
                  <a:srgbClr val="FF0000"/>
                </a:solidFill>
              </a:rPr>
              <a:t>噪声指数</a:t>
            </a:r>
            <a:r>
              <a:rPr lang="zh-CN" altLang="en-US" dirty="0" smtClean="0"/>
              <a:t>：</a:t>
            </a:r>
            <a:r>
              <a:rPr lang="zh-CN" altLang="zh-CN" dirty="0"/>
              <a:t>输入端的信噪比</a:t>
            </a:r>
            <a:r>
              <a:rPr lang="zh-CN" altLang="en-US" dirty="0"/>
              <a:t>与</a:t>
            </a:r>
            <a:r>
              <a:rPr lang="zh-CN" altLang="zh-CN" dirty="0"/>
              <a:t>输出端信噪比</a:t>
            </a:r>
            <a:r>
              <a:rPr lang="zh-CN" altLang="en-US" dirty="0"/>
              <a:t>的</a:t>
            </a:r>
            <a:r>
              <a:rPr lang="zh-CN" altLang="en-US" dirty="0" smtClean="0"/>
              <a:t>比值</a:t>
            </a:r>
            <a:endParaRPr lang="en-US" altLang="zh-CN" dirty="0" smtClean="0"/>
          </a:p>
          <a:p>
            <a:pPr lvl="1">
              <a:lnSpc>
                <a:spcPct val="150000"/>
              </a:lnSpc>
            </a:pPr>
            <a:endParaRPr lang="en-US" altLang="zh-CN" dirty="0" smtClean="0"/>
          </a:p>
        </p:txBody>
      </p:sp>
    </p:spTree>
    <p:extLst>
      <p:ext uri="{BB962C8B-B14F-4D97-AF65-F5344CB8AC3E}">
        <p14:creationId xmlns:p14="http://schemas.microsoft.com/office/powerpoint/2010/main" val="2322306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a:t>
            </a:fld>
            <a:endParaRPr lang="en-US" altLang="zh-CN">
              <a:solidFill>
                <a:srgbClr val="FFFFFF"/>
              </a:solidFill>
            </a:endParaRPr>
          </a:p>
        </p:txBody>
      </p:sp>
      <p:pic>
        <p:nvPicPr>
          <p:cNvPr id="5" name="图片 4"/>
          <p:cNvPicPr>
            <a:picLocks noChangeAspect="1"/>
          </p:cNvPicPr>
          <p:nvPr/>
        </p:nvPicPr>
        <p:blipFill>
          <a:blip r:embed="rId2"/>
          <a:stretch>
            <a:fillRect/>
          </a:stretch>
        </p:blipFill>
        <p:spPr>
          <a:xfrm>
            <a:off x="2110281" y="1688790"/>
            <a:ext cx="4474713" cy="3522608"/>
          </a:xfrm>
          <a:prstGeom prst="rect">
            <a:avLst/>
          </a:prstGeom>
        </p:spPr>
      </p:pic>
      <p:sp>
        <p:nvSpPr>
          <p:cNvPr id="9" name="文本框 8"/>
          <p:cNvSpPr txBox="1"/>
          <p:nvPr/>
        </p:nvSpPr>
        <p:spPr>
          <a:xfrm>
            <a:off x="381548" y="599928"/>
            <a:ext cx="8484640" cy="1015663"/>
          </a:xfrm>
          <a:prstGeom prst="rect">
            <a:avLst/>
          </a:prstGeom>
          <a:noFill/>
        </p:spPr>
        <p:txBody>
          <a:bodyPr wrap="square" rtlCol="0">
            <a:spAutoFit/>
          </a:bodyPr>
          <a:lstStyle/>
          <a:p>
            <a:pPr>
              <a:lnSpc>
                <a:spcPct val="150000"/>
              </a:lnSpc>
            </a:pPr>
            <a:r>
              <a:rPr lang="zh-CN" altLang="en-US" dirty="0" smtClean="0"/>
              <a:t>例：</a:t>
            </a:r>
            <a:r>
              <a:rPr lang="en-US" altLang="zh-CN" dirty="0" smtClean="0"/>
              <a:t>ADL5530</a:t>
            </a:r>
            <a:r>
              <a:rPr lang="zh-CN" altLang="en-US" dirty="0" smtClean="0"/>
              <a:t>的增益</a:t>
            </a:r>
            <a:r>
              <a:rPr lang="en-US" altLang="zh-CN" dirty="0" smtClean="0"/>
              <a:t>(Gain)</a:t>
            </a:r>
            <a:r>
              <a:rPr lang="zh-CN" altLang="en-US" dirty="0" smtClean="0"/>
              <a:t>、</a:t>
            </a:r>
            <a:r>
              <a:rPr lang="en-US" altLang="zh-CN" dirty="0" smtClean="0"/>
              <a:t>1dB</a:t>
            </a:r>
            <a:r>
              <a:rPr lang="zh-CN" altLang="en-US" dirty="0" smtClean="0"/>
              <a:t>压缩点</a:t>
            </a:r>
            <a:r>
              <a:rPr lang="en-US" altLang="zh-CN" dirty="0" smtClean="0"/>
              <a:t>(P1dB)</a:t>
            </a:r>
            <a:r>
              <a:rPr lang="zh-CN" altLang="en-US" dirty="0" smtClean="0"/>
              <a:t>、输出三阶截点</a:t>
            </a:r>
            <a:r>
              <a:rPr lang="en-US" altLang="zh-CN" dirty="0" smtClean="0"/>
              <a:t>(OIP3)</a:t>
            </a:r>
            <a:r>
              <a:rPr lang="zh-CN" altLang="en-US" dirty="0" smtClean="0"/>
              <a:t>、噪声指数</a:t>
            </a:r>
            <a:r>
              <a:rPr lang="en-US" altLang="zh-CN" dirty="0" smtClean="0"/>
              <a:t>(NF)</a:t>
            </a:r>
            <a:r>
              <a:rPr lang="zh-CN" altLang="en-US" dirty="0" smtClean="0"/>
              <a:t>等参数对于频率的曲线图</a:t>
            </a:r>
            <a:endParaRPr lang="zh-CN" altLang="en-US" dirty="0"/>
          </a:p>
        </p:txBody>
      </p:sp>
      <p:sp>
        <p:nvSpPr>
          <p:cNvPr id="13" name="矩形 12"/>
          <p:cNvSpPr/>
          <p:nvPr/>
        </p:nvSpPr>
        <p:spPr>
          <a:xfrm>
            <a:off x="1585399" y="5211398"/>
            <a:ext cx="5558762" cy="923330"/>
          </a:xfrm>
          <a:prstGeom prst="rect">
            <a:avLst/>
          </a:prstGeom>
        </p:spPr>
        <p:txBody>
          <a:bodyPr wrap="square">
            <a:spAutoFit/>
          </a:bodyPr>
          <a:lstStyle/>
          <a:p>
            <a:pPr>
              <a:lnSpc>
                <a:spcPct val="150000"/>
              </a:lnSpc>
            </a:pPr>
            <a:r>
              <a:rPr lang="zh-CN" altLang="en-US" sz="1800" dirty="0" smtClean="0"/>
              <a:t>图中</a:t>
            </a:r>
            <a:r>
              <a:rPr lang="en-US" altLang="zh-CN" sz="1800" dirty="0" smtClean="0"/>
              <a:t>OIP3</a:t>
            </a:r>
            <a:r>
              <a:rPr lang="zh-CN" altLang="en-US" sz="1800" dirty="0" smtClean="0"/>
              <a:t>后面括号中的</a:t>
            </a:r>
            <a:r>
              <a:rPr lang="en-US" altLang="zh-CN" sz="1800" dirty="0" smtClean="0"/>
              <a:t>10dBm</a:t>
            </a:r>
            <a:r>
              <a:rPr lang="zh-CN" altLang="en-US" sz="1800" dirty="0" smtClean="0"/>
              <a:t>表示该参数以</a:t>
            </a:r>
            <a:r>
              <a:rPr lang="zh-CN" altLang="en-US" sz="1800" dirty="0"/>
              <a:t>输出功率</a:t>
            </a:r>
            <a:r>
              <a:rPr lang="zh-CN" altLang="en-US" sz="1800" dirty="0" smtClean="0"/>
              <a:t>为</a:t>
            </a:r>
            <a:r>
              <a:rPr lang="en-US" altLang="zh-CN" sz="1800" dirty="0" smtClean="0"/>
              <a:t>10dBm</a:t>
            </a:r>
            <a:r>
              <a:rPr lang="zh-CN" altLang="en-US" sz="1800" dirty="0" smtClean="0"/>
              <a:t>条件</a:t>
            </a:r>
            <a:r>
              <a:rPr lang="zh-CN" altLang="en-US" sz="1800" dirty="0"/>
              <a:t>下的测量结果进行外推</a:t>
            </a:r>
            <a:r>
              <a:rPr lang="zh-CN" altLang="en-US" sz="1800" dirty="0" smtClean="0"/>
              <a:t>得到</a:t>
            </a:r>
            <a:endParaRPr lang="zh-CN" altLang="en-US" sz="1800" dirty="0"/>
          </a:p>
        </p:txBody>
      </p:sp>
    </p:spTree>
    <p:extLst>
      <p:ext uri="{BB962C8B-B14F-4D97-AF65-F5344CB8AC3E}">
        <p14:creationId xmlns:p14="http://schemas.microsoft.com/office/powerpoint/2010/main" val="2341010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a:t>
            </a:fld>
            <a:endParaRPr lang="en-US" altLang="zh-CN">
              <a:solidFill>
                <a:srgbClr val="FFFFFF"/>
              </a:solidFill>
            </a:endParaRPr>
          </a:p>
        </p:txBody>
      </p:sp>
      <p:sp>
        <p:nvSpPr>
          <p:cNvPr id="6" name="矩形 5"/>
          <p:cNvSpPr/>
          <p:nvPr/>
        </p:nvSpPr>
        <p:spPr>
          <a:xfrm>
            <a:off x="468313" y="508096"/>
            <a:ext cx="7920413" cy="400110"/>
          </a:xfrm>
          <a:prstGeom prst="rect">
            <a:avLst/>
          </a:prstGeom>
        </p:spPr>
        <p:txBody>
          <a:bodyPr wrap="square">
            <a:spAutoFit/>
          </a:bodyPr>
          <a:lstStyle/>
          <a:p>
            <a:pPr algn="ctr"/>
            <a:r>
              <a:rPr lang="en-US" altLang="zh-CN" dirty="0"/>
              <a:t>ADL5530</a:t>
            </a:r>
            <a:r>
              <a:rPr lang="zh-CN" altLang="en-US" dirty="0" smtClean="0"/>
              <a:t>的参数表（部分）</a:t>
            </a:r>
            <a:endParaRPr lang="zh-CN" altLang="en-US" dirty="0"/>
          </a:p>
        </p:txBody>
      </p:sp>
      <p:pic>
        <p:nvPicPr>
          <p:cNvPr id="7" name="图片 6"/>
          <p:cNvPicPr>
            <a:picLocks noChangeAspect="1"/>
          </p:cNvPicPr>
          <p:nvPr/>
        </p:nvPicPr>
        <p:blipFill>
          <a:blip r:embed="rId2"/>
          <a:stretch>
            <a:fillRect/>
          </a:stretch>
        </p:blipFill>
        <p:spPr>
          <a:xfrm>
            <a:off x="285602" y="1609451"/>
            <a:ext cx="8507012" cy="1857634"/>
          </a:xfrm>
          <a:prstGeom prst="rect">
            <a:avLst/>
          </a:prstGeom>
        </p:spPr>
      </p:pic>
      <p:pic>
        <p:nvPicPr>
          <p:cNvPr id="8" name="图片 7"/>
          <p:cNvPicPr>
            <a:picLocks noChangeAspect="1"/>
          </p:cNvPicPr>
          <p:nvPr/>
        </p:nvPicPr>
        <p:blipFill>
          <a:blip r:embed="rId3"/>
          <a:stretch>
            <a:fillRect/>
          </a:stretch>
        </p:blipFill>
        <p:spPr>
          <a:xfrm>
            <a:off x="776208" y="4015116"/>
            <a:ext cx="7525800" cy="905001"/>
          </a:xfrm>
          <a:prstGeom prst="rect">
            <a:avLst/>
          </a:prstGeom>
        </p:spPr>
      </p:pic>
      <p:pic>
        <p:nvPicPr>
          <p:cNvPr id="9" name="图片 8"/>
          <p:cNvPicPr>
            <a:picLocks noChangeAspect="1"/>
          </p:cNvPicPr>
          <p:nvPr/>
        </p:nvPicPr>
        <p:blipFill>
          <a:blip r:embed="rId4"/>
          <a:stretch>
            <a:fillRect/>
          </a:stretch>
        </p:blipFill>
        <p:spPr>
          <a:xfrm>
            <a:off x="776208" y="4936093"/>
            <a:ext cx="7525800" cy="1276528"/>
          </a:xfrm>
          <a:prstGeom prst="rect">
            <a:avLst/>
          </a:prstGeom>
        </p:spPr>
      </p:pic>
      <p:sp>
        <p:nvSpPr>
          <p:cNvPr id="10" name="矩形 9"/>
          <p:cNvSpPr/>
          <p:nvPr/>
        </p:nvSpPr>
        <p:spPr>
          <a:xfrm>
            <a:off x="522036" y="3607018"/>
            <a:ext cx="7920413" cy="400110"/>
          </a:xfrm>
          <a:prstGeom prst="rect">
            <a:avLst/>
          </a:prstGeom>
        </p:spPr>
        <p:txBody>
          <a:bodyPr wrap="square">
            <a:spAutoFit/>
          </a:bodyPr>
          <a:lstStyle/>
          <a:p>
            <a:pPr algn="ctr"/>
            <a:r>
              <a:rPr lang="en-US" altLang="zh-CN" dirty="0" smtClean="0"/>
              <a:t>HMC580</a:t>
            </a:r>
            <a:r>
              <a:rPr lang="zh-CN" altLang="en-US" dirty="0" smtClean="0"/>
              <a:t>的参数表（部分）</a:t>
            </a:r>
            <a:endParaRPr lang="zh-CN" altLang="en-US" dirty="0"/>
          </a:p>
        </p:txBody>
      </p:sp>
      <p:pic>
        <p:nvPicPr>
          <p:cNvPr id="11" name="图片 10"/>
          <p:cNvPicPr>
            <a:picLocks noChangeAspect="1"/>
          </p:cNvPicPr>
          <p:nvPr/>
        </p:nvPicPr>
        <p:blipFill>
          <a:blip r:embed="rId5"/>
          <a:stretch>
            <a:fillRect/>
          </a:stretch>
        </p:blipFill>
        <p:spPr>
          <a:xfrm>
            <a:off x="285602" y="966656"/>
            <a:ext cx="8497486" cy="695422"/>
          </a:xfrm>
          <a:prstGeom prst="rect">
            <a:avLst/>
          </a:prstGeom>
        </p:spPr>
      </p:pic>
    </p:spTree>
    <p:extLst>
      <p:ext uri="{BB962C8B-B14F-4D97-AF65-F5344CB8AC3E}">
        <p14:creationId xmlns:p14="http://schemas.microsoft.com/office/powerpoint/2010/main" val="459448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8</a:t>
            </a:fld>
            <a:endParaRPr lang="en-US" altLang="zh-CN">
              <a:solidFill>
                <a:srgbClr val="FFFFFF"/>
              </a:solidFill>
            </a:endParaRPr>
          </a:p>
        </p:txBody>
      </p:sp>
      <p:sp>
        <p:nvSpPr>
          <p:cNvPr id="12" name="文本框 11"/>
          <p:cNvSpPr txBox="1"/>
          <p:nvPr/>
        </p:nvSpPr>
        <p:spPr>
          <a:xfrm>
            <a:off x="286765" y="392075"/>
            <a:ext cx="8485798" cy="5732338"/>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dirty="0" smtClean="0"/>
              <a:t>MMIC</a:t>
            </a:r>
            <a:r>
              <a:rPr lang="zh-CN" altLang="en-US" dirty="0" smtClean="0"/>
              <a:t>放大器的性能参数（二）</a:t>
            </a:r>
            <a:endParaRPr lang="en-US" altLang="zh-CN" dirty="0" smtClean="0"/>
          </a:p>
          <a:p>
            <a:pPr marL="800100" lvl="1" indent="-342900">
              <a:lnSpc>
                <a:spcPct val="150000"/>
              </a:lnSpc>
              <a:buFont typeface="Arial" panose="020B0604020202020204" pitchFamily="34" charset="0"/>
              <a:buChar char="•"/>
            </a:pPr>
            <a:r>
              <a:rPr lang="en-US" altLang="zh-CN" dirty="0" smtClean="0">
                <a:solidFill>
                  <a:srgbClr val="FF0000"/>
                </a:solidFill>
              </a:rPr>
              <a:t>S</a:t>
            </a:r>
            <a:r>
              <a:rPr lang="zh-CN" altLang="en-US" dirty="0" smtClean="0">
                <a:solidFill>
                  <a:srgbClr val="FF0000"/>
                </a:solidFill>
              </a:rPr>
              <a:t>参数</a:t>
            </a:r>
            <a:r>
              <a:rPr lang="zh-CN" altLang="en-US" dirty="0" smtClean="0"/>
              <a:t>：</a:t>
            </a:r>
            <a:r>
              <a:rPr lang="zh-CN" altLang="zh-CN" dirty="0"/>
              <a:t>散射</a:t>
            </a:r>
            <a:r>
              <a:rPr lang="zh-CN" altLang="zh-CN" dirty="0" smtClean="0"/>
              <a:t>参数，</a:t>
            </a:r>
            <a:r>
              <a:rPr lang="zh-CN" altLang="zh-CN" dirty="0"/>
              <a:t>用网络端口上的入射波和反射波表示，这里的波可以是电压波或电流</a:t>
            </a:r>
            <a:r>
              <a:rPr lang="zh-CN" altLang="zh-CN" dirty="0" smtClean="0"/>
              <a:t>波</a:t>
            </a:r>
            <a:endParaRPr lang="en-US" altLang="zh-CN" dirty="0" smtClean="0"/>
          </a:p>
          <a:p>
            <a:pPr marL="800100" lvl="1" indent="-342900">
              <a:buFont typeface="Arial" panose="020B0604020202020204" pitchFamily="34" charset="0"/>
              <a:buChar char="•"/>
            </a:pPr>
            <a:endParaRPr lang="en-US" altLang="zh-CN" dirty="0"/>
          </a:p>
          <a:p>
            <a:pPr marL="800100" lvl="1" indent="-342900">
              <a:lnSpc>
                <a:spcPct val="150000"/>
              </a:lnSpc>
              <a:buFont typeface="Arial" panose="020B0604020202020204" pitchFamily="34" charset="0"/>
              <a:buChar char="•"/>
            </a:pPr>
            <a:endParaRPr lang="en-US" altLang="zh-CN" dirty="0" smtClean="0"/>
          </a:p>
          <a:p>
            <a:pPr marL="800100" lvl="1" indent="-342900">
              <a:lnSpc>
                <a:spcPct val="150000"/>
              </a:lnSpc>
              <a:buFont typeface="Arial" panose="020B0604020202020204" pitchFamily="34" charset="0"/>
              <a:buChar char="•"/>
            </a:pPr>
            <a:endParaRPr lang="en-US" altLang="zh-CN" dirty="0"/>
          </a:p>
          <a:p>
            <a:pPr marL="800100" lvl="1" indent="-342900">
              <a:lnSpc>
                <a:spcPct val="150000"/>
              </a:lnSpc>
              <a:buFont typeface="Arial" panose="020B0604020202020204" pitchFamily="34" charset="0"/>
              <a:buChar char="•"/>
            </a:pPr>
            <a:endParaRPr lang="en-US" altLang="zh-CN" dirty="0" smtClean="0"/>
          </a:p>
          <a:p>
            <a:pPr lvl="1">
              <a:lnSpc>
                <a:spcPct val="125000"/>
              </a:lnSpc>
            </a:pPr>
            <a:r>
              <a:rPr lang="en-US" altLang="zh-CN" sz="1800" i="1" kern="100" dirty="0" smtClean="0"/>
              <a:t>S</a:t>
            </a:r>
            <a:r>
              <a:rPr lang="en-US" altLang="zh-CN" sz="1800" kern="100" baseline="-25000" dirty="0" smtClean="0"/>
              <a:t>11</a:t>
            </a:r>
            <a:r>
              <a:rPr lang="zh-CN" altLang="en-US" sz="1800" kern="100" dirty="0" smtClean="0">
                <a:latin typeface="华文细黑" panose="02010600040101010101" pitchFamily="2" charset="-122"/>
                <a:cs typeface="Times New Roman" panose="02020603050405020304" pitchFamily="18" charset="0"/>
              </a:rPr>
              <a:t>：</a:t>
            </a:r>
            <a:r>
              <a:rPr lang="zh-CN" altLang="zh-CN" sz="1800" dirty="0"/>
              <a:t>端口</a:t>
            </a:r>
            <a:r>
              <a:rPr lang="en-US" altLang="zh-CN" sz="1800" dirty="0"/>
              <a:t>2</a:t>
            </a:r>
            <a:r>
              <a:rPr lang="zh-CN" altLang="zh-CN" sz="1800" dirty="0"/>
              <a:t>与外部负载</a:t>
            </a:r>
            <a:r>
              <a:rPr lang="zh-CN" altLang="zh-CN" sz="1800" dirty="0" smtClean="0"/>
              <a:t>匹配</a:t>
            </a:r>
            <a:r>
              <a:rPr lang="zh-CN" altLang="en-US" sz="1800" dirty="0" smtClean="0"/>
              <a:t>时，</a:t>
            </a:r>
            <a:r>
              <a:rPr lang="zh-CN" altLang="zh-CN" sz="1800" dirty="0" smtClean="0"/>
              <a:t>端口</a:t>
            </a:r>
            <a:r>
              <a:rPr lang="en-US" altLang="zh-CN" sz="1800" dirty="0"/>
              <a:t>1</a:t>
            </a:r>
            <a:r>
              <a:rPr lang="zh-CN" altLang="zh-CN" sz="1800" dirty="0"/>
              <a:t>的</a:t>
            </a:r>
            <a:r>
              <a:rPr lang="zh-CN" altLang="zh-CN" sz="1800" dirty="0" smtClean="0"/>
              <a:t>反射系数</a:t>
            </a:r>
            <a:endParaRPr lang="en-US" altLang="zh-CN" sz="1800" dirty="0" smtClean="0"/>
          </a:p>
          <a:p>
            <a:pPr lvl="1">
              <a:lnSpc>
                <a:spcPct val="125000"/>
              </a:lnSpc>
            </a:pPr>
            <a:r>
              <a:rPr lang="en-US" altLang="zh-CN" sz="1800" i="1" dirty="0" smtClean="0"/>
              <a:t>S</a:t>
            </a:r>
            <a:r>
              <a:rPr lang="en-US" altLang="zh-CN" sz="1800" baseline="-25000" dirty="0" smtClean="0"/>
              <a:t>22</a:t>
            </a:r>
            <a:r>
              <a:rPr lang="zh-CN" altLang="en-US" sz="1800" dirty="0" smtClean="0"/>
              <a:t>：</a:t>
            </a:r>
            <a:r>
              <a:rPr lang="zh-CN" altLang="zh-CN" sz="1800" dirty="0"/>
              <a:t>端口</a:t>
            </a:r>
            <a:r>
              <a:rPr lang="en-US" altLang="zh-CN" sz="1800" dirty="0" smtClean="0"/>
              <a:t>1</a:t>
            </a:r>
            <a:r>
              <a:rPr lang="zh-CN" altLang="zh-CN" sz="1800" dirty="0"/>
              <a:t>与外部负载</a:t>
            </a:r>
            <a:r>
              <a:rPr lang="zh-CN" altLang="zh-CN" sz="1800" dirty="0" smtClean="0"/>
              <a:t>匹配</a:t>
            </a:r>
            <a:r>
              <a:rPr lang="zh-CN" altLang="zh-CN" sz="1800" dirty="0"/>
              <a:t>时，端口</a:t>
            </a:r>
            <a:r>
              <a:rPr lang="en-US" altLang="zh-CN" sz="1800" dirty="0" smtClean="0"/>
              <a:t>2</a:t>
            </a:r>
            <a:r>
              <a:rPr lang="zh-CN" altLang="zh-CN" sz="1800" dirty="0" smtClean="0"/>
              <a:t>的反</a:t>
            </a:r>
            <a:r>
              <a:rPr lang="zh-CN" altLang="en-US" sz="1800" dirty="0" smtClean="0"/>
              <a:t>射</a:t>
            </a:r>
            <a:r>
              <a:rPr lang="zh-CN" altLang="zh-CN" sz="1800" dirty="0" smtClean="0"/>
              <a:t>系数</a:t>
            </a:r>
            <a:endParaRPr lang="en-US" altLang="zh-CN" sz="1800" dirty="0" smtClean="0"/>
          </a:p>
          <a:p>
            <a:pPr lvl="2">
              <a:lnSpc>
                <a:spcPct val="125000"/>
              </a:lnSpc>
            </a:pPr>
            <a:r>
              <a:rPr lang="zh-CN" altLang="en-US" sz="1800" dirty="0"/>
              <a:t>在放大器</a:t>
            </a:r>
            <a:r>
              <a:rPr lang="zh-CN" altLang="en-US" sz="1800" dirty="0" smtClean="0"/>
              <a:t>中的这两个参数表示由于阻抗不匹配引起的反射损失</a:t>
            </a:r>
            <a:endParaRPr lang="en-US" altLang="zh-CN" sz="1800" dirty="0" smtClean="0"/>
          </a:p>
          <a:p>
            <a:pPr lvl="1">
              <a:lnSpc>
                <a:spcPct val="150000"/>
              </a:lnSpc>
            </a:pPr>
            <a:r>
              <a:rPr lang="en-US" altLang="zh-CN" sz="1800" i="1" kern="100" dirty="0" smtClean="0">
                <a:latin typeface="Arial" panose="020B0604020202020204" pitchFamily="34" charset="0"/>
                <a:cs typeface="Arial" panose="020B0604020202020204" pitchFamily="34" charset="0"/>
              </a:rPr>
              <a:t>S</a:t>
            </a:r>
            <a:r>
              <a:rPr lang="en-US" altLang="zh-CN" sz="1800" kern="100" baseline="-25000" dirty="0" smtClean="0">
                <a:latin typeface="华文细黑" panose="02010600040101010101" pitchFamily="2" charset="-122"/>
                <a:cs typeface="Times New Roman" panose="02020603050405020304" pitchFamily="18" charset="0"/>
              </a:rPr>
              <a:t>21</a:t>
            </a:r>
            <a:r>
              <a:rPr lang="zh-CN" altLang="en-US" sz="1800" dirty="0" smtClean="0"/>
              <a:t>：</a:t>
            </a:r>
            <a:r>
              <a:rPr lang="zh-CN" altLang="zh-CN" sz="1800" dirty="0"/>
              <a:t>端口</a:t>
            </a:r>
            <a:r>
              <a:rPr lang="en-US" altLang="zh-CN" sz="1800" dirty="0" smtClean="0"/>
              <a:t>2</a:t>
            </a:r>
            <a:r>
              <a:rPr lang="zh-CN" altLang="zh-CN" sz="1800" dirty="0"/>
              <a:t>与外部负载</a:t>
            </a:r>
            <a:r>
              <a:rPr lang="zh-CN" altLang="zh-CN" sz="1800" dirty="0" smtClean="0"/>
              <a:t>匹配</a:t>
            </a:r>
            <a:r>
              <a:rPr lang="zh-CN" altLang="zh-CN" sz="1800" dirty="0"/>
              <a:t>时，端口</a:t>
            </a:r>
            <a:r>
              <a:rPr lang="en-US" altLang="zh-CN" sz="1800" dirty="0"/>
              <a:t>1</a:t>
            </a:r>
            <a:r>
              <a:rPr lang="zh-CN" altLang="zh-CN" sz="1800" dirty="0"/>
              <a:t>向端口</a:t>
            </a:r>
            <a:r>
              <a:rPr lang="en-US" altLang="zh-CN" sz="1800" dirty="0"/>
              <a:t>2</a:t>
            </a:r>
            <a:r>
              <a:rPr lang="zh-CN" altLang="zh-CN" sz="1800" dirty="0" smtClean="0"/>
              <a:t>的传输系数</a:t>
            </a:r>
            <a:endParaRPr lang="en-US" altLang="zh-CN" sz="1800" dirty="0" smtClean="0"/>
          </a:p>
          <a:p>
            <a:pPr lvl="2">
              <a:lnSpc>
                <a:spcPct val="125000"/>
              </a:lnSpc>
            </a:pPr>
            <a:r>
              <a:rPr lang="zh-CN" altLang="en-US" sz="1800" dirty="0"/>
              <a:t>在放大器</a:t>
            </a:r>
            <a:r>
              <a:rPr lang="zh-CN" altLang="en-US" sz="1800" dirty="0" smtClean="0"/>
              <a:t>中的这个参数表示在输入输出全都阻抗匹配</a:t>
            </a:r>
            <a:r>
              <a:rPr lang="zh-CN" altLang="en-US" sz="1800" dirty="0"/>
              <a:t>条件</a:t>
            </a:r>
            <a:r>
              <a:rPr lang="zh-CN" altLang="en-US" sz="1800" dirty="0" smtClean="0"/>
              <a:t>下的正向增益</a:t>
            </a:r>
            <a:endParaRPr lang="en-US" altLang="zh-CN" sz="1800" dirty="0" smtClean="0"/>
          </a:p>
          <a:p>
            <a:pPr lvl="1">
              <a:lnSpc>
                <a:spcPct val="150000"/>
              </a:lnSpc>
            </a:pPr>
            <a:r>
              <a:rPr lang="en-US" altLang="zh-CN" sz="1800" i="1" kern="100" dirty="0" smtClean="0">
                <a:latin typeface="Arial" panose="020B0604020202020204" pitchFamily="34" charset="0"/>
                <a:cs typeface="Arial" panose="020B0604020202020204" pitchFamily="34" charset="0"/>
              </a:rPr>
              <a:t>S</a:t>
            </a:r>
            <a:r>
              <a:rPr lang="en-US" altLang="zh-CN" sz="1800" kern="100" baseline="-25000" dirty="0" smtClean="0">
                <a:latin typeface="华文细黑" panose="02010600040101010101" pitchFamily="2" charset="-122"/>
                <a:cs typeface="Times New Roman" panose="02020603050405020304" pitchFamily="18" charset="0"/>
              </a:rPr>
              <a:t>12</a:t>
            </a:r>
            <a:r>
              <a:rPr lang="zh-CN" altLang="en-US" sz="1800" dirty="0" smtClean="0"/>
              <a:t>：</a:t>
            </a:r>
            <a:r>
              <a:rPr lang="zh-CN" altLang="zh-CN" sz="1800" dirty="0" smtClean="0"/>
              <a:t>端口</a:t>
            </a:r>
            <a:r>
              <a:rPr lang="en-US" altLang="zh-CN" sz="1800" dirty="0" smtClean="0"/>
              <a:t>1</a:t>
            </a:r>
            <a:r>
              <a:rPr lang="zh-CN" altLang="zh-CN" sz="1800" dirty="0"/>
              <a:t>与外部负载</a:t>
            </a:r>
            <a:r>
              <a:rPr lang="zh-CN" altLang="zh-CN" sz="1800" dirty="0" smtClean="0"/>
              <a:t>匹配</a:t>
            </a:r>
            <a:r>
              <a:rPr lang="zh-CN" altLang="zh-CN" sz="1800" dirty="0"/>
              <a:t>时，</a:t>
            </a:r>
            <a:r>
              <a:rPr lang="zh-CN" altLang="zh-CN" sz="1800" dirty="0" smtClean="0"/>
              <a:t>端口</a:t>
            </a:r>
            <a:r>
              <a:rPr lang="en-US" altLang="zh-CN" sz="1800" dirty="0" smtClean="0"/>
              <a:t>2</a:t>
            </a:r>
            <a:r>
              <a:rPr lang="zh-CN" altLang="zh-CN" sz="1800" dirty="0" smtClean="0"/>
              <a:t>向端口</a:t>
            </a:r>
            <a:r>
              <a:rPr lang="en-US" altLang="zh-CN" sz="1800" dirty="0" smtClean="0"/>
              <a:t>1</a:t>
            </a:r>
            <a:r>
              <a:rPr lang="zh-CN" altLang="zh-CN" sz="1800" dirty="0" smtClean="0"/>
              <a:t>的传输系数</a:t>
            </a:r>
            <a:endParaRPr lang="en-US" altLang="zh-CN" sz="1800" dirty="0" smtClean="0"/>
          </a:p>
          <a:p>
            <a:pPr lvl="2">
              <a:lnSpc>
                <a:spcPct val="125000"/>
              </a:lnSpc>
            </a:pPr>
            <a:r>
              <a:rPr lang="zh-CN" altLang="en-US" sz="1800" dirty="0"/>
              <a:t>在放大器中的</a:t>
            </a:r>
            <a:r>
              <a:rPr lang="zh-CN" altLang="en-US" sz="1800" dirty="0" smtClean="0"/>
              <a:t>这个参数表示反向增益，通常极小，可以忽略</a:t>
            </a:r>
            <a:endParaRPr lang="en-US" altLang="zh-CN"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3459283926"/>
              </p:ext>
            </p:extLst>
          </p:nvPr>
        </p:nvGraphicFramePr>
        <p:xfrm>
          <a:off x="873524" y="2052237"/>
          <a:ext cx="3656140" cy="1315686"/>
        </p:xfrm>
        <a:graphic>
          <a:graphicData uri="http://schemas.openxmlformats.org/presentationml/2006/ole">
            <mc:AlternateContent xmlns:mc="http://schemas.openxmlformats.org/markup-compatibility/2006">
              <mc:Choice xmlns:v="urn:schemas-microsoft-com:vml" Requires="v">
                <p:oleObj spid="_x0000_s8235" name="Visio" r:id="rId3" imgW="1755360" imgH="576360" progId="Visio.Drawing.11">
                  <p:embed/>
                </p:oleObj>
              </mc:Choice>
              <mc:Fallback>
                <p:oleObj name="Visio" r:id="rId3" imgW="1755360" imgH="57636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3524" y="2052237"/>
                        <a:ext cx="3656140" cy="1315686"/>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320539573"/>
              </p:ext>
            </p:extLst>
          </p:nvPr>
        </p:nvGraphicFramePr>
        <p:xfrm>
          <a:off x="5194591" y="2194131"/>
          <a:ext cx="2779171" cy="970088"/>
        </p:xfrm>
        <a:graphic>
          <a:graphicData uri="http://schemas.openxmlformats.org/presentationml/2006/ole">
            <mc:AlternateContent xmlns:mc="http://schemas.openxmlformats.org/markup-compatibility/2006">
              <mc:Choice xmlns:v="urn:schemas-microsoft-com:vml" Requires="v">
                <p:oleObj spid="_x0000_s8236" name="Equation" r:id="rId5" imgW="1346040" imgH="469800" progId="Equation.DSMT4">
                  <p:embed/>
                </p:oleObj>
              </mc:Choice>
              <mc:Fallback>
                <p:oleObj name="Equation" r:id="rId5" imgW="1346040" imgH="469800" progId="Equation.DSMT4">
                  <p:embed/>
                  <p:pic>
                    <p:nvPicPr>
                      <p:cNvPr id="0" name=""/>
                      <p:cNvPicPr/>
                      <p:nvPr/>
                    </p:nvPicPr>
                    <p:blipFill>
                      <a:blip r:embed="rId6"/>
                      <a:stretch>
                        <a:fillRect/>
                      </a:stretch>
                    </p:blipFill>
                    <p:spPr>
                      <a:xfrm>
                        <a:off x="5194591" y="2194131"/>
                        <a:ext cx="2779171" cy="970088"/>
                      </a:xfrm>
                      <a:prstGeom prst="rect">
                        <a:avLst/>
                      </a:prstGeom>
                    </p:spPr>
                  </p:pic>
                </p:oleObj>
              </mc:Fallback>
            </mc:AlternateContent>
          </a:graphicData>
        </a:graphic>
      </p:graphicFrame>
    </p:spTree>
    <p:extLst>
      <p:ext uri="{BB962C8B-B14F-4D97-AF65-F5344CB8AC3E}">
        <p14:creationId xmlns:p14="http://schemas.microsoft.com/office/powerpoint/2010/main" val="1274772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2022/3/21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9</a:t>
            </a:fld>
            <a:endParaRPr lang="en-US" altLang="zh-CN">
              <a:solidFill>
                <a:srgbClr val="FFFFFF"/>
              </a:solidFill>
            </a:endParaRPr>
          </a:p>
        </p:txBody>
      </p:sp>
      <p:pic>
        <p:nvPicPr>
          <p:cNvPr id="6" name="图片 5"/>
          <p:cNvPicPr>
            <a:picLocks noChangeAspect="1"/>
          </p:cNvPicPr>
          <p:nvPr/>
        </p:nvPicPr>
        <p:blipFill>
          <a:blip r:embed="rId2"/>
          <a:stretch>
            <a:fillRect/>
          </a:stretch>
        </p:blipFill>
        <p:spPr>
          <a:xfrm>
            <a:off x="2046627" y="1037016"/>
            <a:ext cx="4262076" cy="3706021"/>
          </a:xfrm>
          <a:prstGeom prst="rect">
            <a:avLst/>
          </a:prstGeom>
        </p:spPr>
      </p:pic>
      <p:sp>
        <p:nvSpPr>
          <p:cNvPr id="8" name="文本框 7"/>
          <p:cNvSpPr txBox="1"/>
          <p:nvPr/>
        </p:nvSpPr>
        <p:spPr>
          <a:xfrm>
            <a:off x="2046626" y="542841"/>
            <a:ext cx="6265421" cy="400110"/>
          </a:xfrm>
          <a:prstGeom prst="rect">
            <a:avLst/>
          </a:prstGeom>
          <a:noFill/>
        </p:spPr>
        <p:txBody>
          <a:bodyPr wrap="square" rtlCol="0">
            <a:spAutoFit/>
          </a:bodyPr>
          <a:lstStyle/>
          <a:p>
            <a:r>
              <a:rPr lang="en-US" altLang="zh-CN" dirty="0" smtClean="0"/>
              <a:t>HMC480</a:t>
            </a:r>
            <a:r>
              <a:rPr lang="zh-CN" altLang="en-US" dirty="0" smtClean="0"/>
              <a:t>的</a:t>
            </a:r>
            <a:r>
              <a:rPr lang="en-US" altLang="zh-CN" dirty="0" smtClean="0"/>
              <a:t>S21</a:t>
            </a:r>
            <a:r>
              <a:rPr lang="zh-CN" altLang="en-US" dirty="0" smtClean="0"/>
              <a:t>、</a:t>
            </a:r>
            <a:r>
              <a:rPr lang="en-US" altLang="zh-CN" dirty="0" smtClean="0"/>
              <a:t>S11</a:t>
            </a:r>
            <a:r>
              <a:rPr lang="zh-CN" altLang="en-US" dirty="0" smtClean="0"/>
              <a:t>和</a:t>
            </a:r>
            <a:r>
              <a:rPr lang="en-US" altLang="zh-CN" dirty="0" smtClean="0"/>
              <a:t>S22</a:t>
            </a:r>
            <a:r>
              <a:rPr lang="zh-CN" altLang="en-US" dirty="0" smtClean="0"/>
              <a:t>特性曲线</a:t>
            </a:r>
            <a:endParaRPr lang="zh-CN" altLang="en-US" dirty="0"/>
          </a:p>
        </p:txBody>
      </p:sp>
      <p:sp>
        <p:nvSpPr>
          <p:cNvPr id="7" name="文本框 6"/>
          <p:cNvSpPr txBox="1"/>
          <p:nvPr/>
        </p:nvSpPr>
        <p:spPr>
          <a:xfrm>
            <a:off x="580736" y="4837102"/>
            <a:ext cx="8129088" cy="1323439"/>
          </a:xfrm>
          <a:prstGeom prst="rect">
            <a:avLst/>
          </a:prstGeom>
          <a:noFill/>
        </p:spPr>
        <p:txBody>
          <a:bodyPr wrap="square" rtlCol="0">
            <a:spAutoFit/>
          </a:bodyPr>
          <a:lstStyle/>
          <a:p>
            <a:r>
              <a:rPr lang="en-US" altLang="zh-CN" dirty="0" smtClean="0"/>
              <a:t>S21</a:t>
            </a:r>
            <a:r>
              <a:rPr lang="zh-CN" altLang="en-US" dirty="0" smtClean="0"/>
              <a:t>是正向增益，在</a:t>
            </a:r>
            <a:r>
              <a:rPr lang="en-US" altLang="zh-CN" dirty="0" smtClean="0"/>
              <a:t>1GHz</a:t>
            </a:r>
            <a:r>
              <a:rPr lang="zh-CN" altLang="en-US" dirty="0" smtClean="0"/>
              <a:t>以下</a:t>
            </a:r>
            <a:r>
              <a:rPr lang="zh-CN" altLang="en-US" dirty="0" smtClean="0"/>
              <a:t>大于</a:t>
            </a:r>
            <a:r>
              <a:rPr lang="en-US" altLang="zh-CN" dirty="0" smtClean="0"/>
              <a:t>18</a:t>
            </a:r>
            <a:r>
              <a:rPr lang="en-US" altLang="zh-CN" dirty="0" smtClean="0"/>
              <a:t>dB</a:t>
            </a:r>
          </a:p>
          <a:p>
            <a:pPr>
              <a:lnSpc>
                <a:spcPct val="150000"/>
              </a:lnSpc>
            </a:pPr>
            <a:r>
              <a:rPr lang="en-US" altLang="zh-CN" dirty="0" smtClean="0"/>
              <a:t>S11</a:t>
            </a:r>
            <a:r>
              <a:rPr lang="zh-CN" altLang="en-US" dirty="0" smtClean="0"/>
              <a:t>、</a:t>
            </a:r>
            <a:r>
              <a:rPr lang="en-US" altLang="zh-CN" dirty="0" smtClean="0"/>
              <a:t>S22</a:t>
            </a:r>
            <a:r>
              <a:rPr lang="zh-CN" altLang="en-US" dirty="0" smtClean="0"/>
              <a:t>表示输入输出阻抗与</a:t>
            </a:r>
            <a:r>
              <a:rPr lang="en-US" altLang="zh-CN" dirty="0" smtClean="0"/>
              <a:t>50</a:t>
            </a:r>
            <a:r>
              <a:rPr lang="el-GR" altLang="zh-CN" dirty="0" smtClean="0">
                <a:latin typeface="Times New Roman" panose="02020603050405020304" pitchFamily="18" charset="0"/>
                <a:cs typeface="Times New Roman" panose="02020603050405020304" pitchFamily="18" charset="0"/>
              </a:rPr>
              <a:t>Ω</a:t>
            </a:r>
            <a:r>
              <a:rPr lang="zh-CN" altLang="en-US" dirty="0" smtClean="0">
                <a:latin typeface="Times New Roman" panose="02020603050405020304" pitchFamily="18" charset="0"/>
                <a:cs typeface="Times New Roman" panose="02020603050405020304" pitchFamily="18" charset="0"/>
              </a:rPr>
              <a:t>不匹配程度，越低表示匹配越好，</a:t>
            </a:r>
            <a:r>
              <a:rPr lang="en-US" altLang="zh-CN" dirty="0" smtClean="0">
                <a:latin typeface="Times New Roman" panose="02020603050405020304" pitchFamily="18" charset="0"/>
                <a:cs typeface="Times New Roman" panose="02020603050405020304" pitchFamily="18" charset="0"/>
              </a:rPr>
              <a:t>HMC480</a:t>
            </a:r>
            <a:r>
              <a:rPr lang="zh-CN" altLang="en-US" dirty="0" smtClean="0">
                <a:latin typeface="Times New Roman" panose="02020603050405020304" pitchFamily="18" charset="0"/>
                <a:cs typeface="Times New Roman" panose="02020603050405020304" pitchFamily="18" charset="0"/>
              </a:rPr>
              <a:t>芯片在</a:t>
            </a:r>
            <a:r>
              <a:rPr lang="en-US" altLang="zh-CN" dirty="0" smtClean="0">
                <a:latin typeface="Times New Roman" panose="02020603050405020304" pitchFamily="18" charset="0"/>
                <a:cs typeface="Times New Roman" panose="02020603050405020304" pitchFamily="18" charset="0"/>
              </a:rPr>
              <a:t>1GHz</a:t>
            </a:r>
            <a:r>
              <a:rPr lang="zh-CN" altLang="en-US" dirty="0" smtClean="0">
                <a:latin typeface="Times New Roman" panose="02020603050405020304" pitchFamily="18" charset="0"/>
                <a:cs typeface="Times New Roman" panose="02020603050405020304" pitchFamily="18" charset="0"/>
              </a:rPr>
              <a:t>以下低于</a:t>
            </a:r>
            <a:r>
              <a:rPr lang="en-US" altLang="zh-CN" dirty="0" smtClean="0">
                <a:latin typeface="Times New Roman" panose="02020603050405020304" pitchFamily="18" charset="0"/>
                <a:cs typeface="Times New Roman" panose="02020603050405020304" pitchFamily="18" charset="0"/>
              </a:rPr>
              <a:t>-16dB</a:t>
            </a:r>
            <a:endParaRPr lang="zh-CN" altLang="en-US" dirty="0"/>
          </a:p>
        </p:txBody>
      </p:sp>
    </p:spTree>
    <p:extLst>
      <p:ext uri="{BB962C8B-B14F-4D97-AF65-F5344CB8AC3E}">
        <p14:creationId xmlns:p14="http://schemas.microsoft.com/office/powerpoint/2010/main" val="1461320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10</a:t>
            </a:fld>
            <a:endParaRPr lang="en-US" altLang="zh-CN">
              <a:solidFill>
                <a:srgbClr val="FFFFFF"/>
              </a:solidFill>
            </a:endParaRPr>
          </a:p>
        </p:txBody>
      </p:sp>
      <p:sp>
        <p:nvSpPr>
          <p:cNvPr id="6" name="矩形 5"/>
          <p:cNvSpPr/>
          <p:nvPr/>
        </p:nvSpPr>
        <p:spPr>
          <a:xfrm>
            <a:off x="468313" y="508096"/>
            <a:ext cx="7920413" cy="400110"/>
          </a:xfrm>
          <a:prstGeom prst="rect">
            <a:avLst/>
          </a:prstGeom>
        </p:spPr>
        <p:txBody>
          <a:bodyPr wrap="square">
            <a:spAutoFit/>
          </a:bodyPr>
          <a:lstStyle/>
          <a:p>
            <a:pPr algn="ctr"/>
            <a:r>
              <a:rPr lang="en-US" altLang="zh-CN" dirty="0"/>
              <a:t>ADL5530</a:t>
            </a:r>
            <a:r>
              <a:rPr lang="zh-CN" altLang="en-US" dirty="0" smtClean="0"/>
              <a:t>的</a:t>
            </a:r>
            <a:r>
              <a:rPr lang="en-US" altLang="zh-CN" dirty="0" smtClean="0"/>
              <a:t>S</a:t>
            </a:r>
            <a:r>
              <a:rPr lang="zh-CN" altLang="en-US" dirty="0" smtClean="0"/>
              <a:t>参数</a:t>
            </a:r>
            <a:endParaRPr lang="zh-CN" altLang="en-US" dirty="0"/>
          </a:p>
        </p:txBody>
      </p:sp>
      <p:pic>
        <p:nvPicPr>
          <p:cNvPr id="7" name="图片 6"/>
          <p:cNvPicPr>
            <a:picLocks noChangeAspect="1"/>
          </p:cNvPicPr>
          <p:nvPr/>
        </p:nvPicPr>
        <p:blipFill>
          <a:blip r:embed="rId2"/>
          <a:stretch>
            <a:fillRect/>
          </a:stretch>
        </p:blipFill>
        <p:spPr>
          <a:xfrm>
            <a:off x="588862" y="908206"/>
            <a:ext cx="7992590" cy="5325218"/>
          </a:xfrm>
          <a:prstGeom prst="rect">
            <a:avLst/>
          </a:prstGeom>
        </p:spPr>
      </p:pic>
    </p:spTree>
    <p:extLst>
      <p:ext uri="{BB962C8B-B14F-4D97-AF65-F5344CB8AC3E}">
        <p14:creationId xmlns:p14="http://schemas.microsoft.com/office/powerpoint/2010/main" val="444807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11</a:t>
            </a:fld>
            <a:endParaRPr lang="en-US" altLang="zh-CN">
              <a:solidFill>
                <a:srgbClr val="FFFFFF"/>
              </a:solidFill>
            </a:endParaRPr>
          </a:p>
        </p:txBody>
      </p:sp>
      <p:sp>
        <p:nvSpPr>
          <p:cNvPr id="5" name="文本框 4"/>
          <p:cNvSpPr txBox="1"/>
          <p:nvPr/>
        </p:nvSpPr>
        <p:spPr>
          <a:xfrm>
            <a:off x="256032" y="460858"/>
            <a:ext cx="8610155" cy="5539978"/>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b="1" dirty="0" smtClean="0"/>
              <a:t>高速运放</a:t>
            </a:r>
            <a:endParaRPr lang="en-US" altLang="zh-CN" b="1" dirty="0" smtClean="0"/>
          </a:p>
          <a:p>
            <a:pPr marL="342900" indent="-342900">
              <a:lnSpc>
                <a:spcPct val="150000"/>
              </a:lnSpc>
              <a:buFont typeface="Arial" panose="020B0604020202020204" pitchFamily="34" charset="0"/>
              <a:buChar char="•"/>
            </a:pPr>
            <a:r>
              <a:rPr lang="zh-CN" altLang="en-US" sz="1800" dirty="0" smtClean="0"/>
              <a:t>电压反馈型运放与电流反馈型运放两种，高频放大器中更多选择电流反馈型运放</a:t>
            </a:r>
            <a:endParaRPr lang="en-US" altLang="zh-CN" sz="1800" dirty="0" smtClean="0"/>
          </a:p>
          <a:p>
            <a:pPr marL="342900" indent="-342900">
              <a:lnSpc>
                <a:spcPct val="150000"/>
              </a:lnSpc>
              <a:buFont typeface="Arial" panose="020B0604020202020204" pitchFamily="34" charset="0"/>
              <a:buChar char="•"/>
            </a:pPr>
            <a:r>
              <a:rPr lang="zh-CN" altLang="en-US" sz="1800" dirty="0" smtClean="0"/>
              <a:t>实验室常用的高速运放举例</a:t>
            </a:r>
            <a:endParaRPr lang="en-US" altLang="zh-CN" sz="1800" dirty="0" smtClean="0"/>
          </a:p>
          <a:p>
            <a:pPr lvl="1">
              <a:lnSpc>
                <a:spcPct val="150000"/>
              </a:lnSpc>
            </a:pPr>
            <a:r>
              <a:rPr lang="en-US" altLang="zh-CN" sz="1800" dirty="0" smtClean="0"/>
              <a:t>OPA690</a:t>
            </a:r>
            <a:r>
              <a:rPr lang="zh-CN" altLang="en-US" sz="1800" dirty="0"/>
              <a:t>，电压反馈</a:t>
            </a:r>
            <a:r>
              <a:rPr lang="zh-CN" altLang="en-US" sz="1800" dirty="0" smtClean="0"/>
              <a:t>型，</a:t>
            </a:r>
            <a:r>
              <a:rPr lang="en-US" altLang="zh-CN" sz="1800" dirty="0" smtClean="0"/>
              <a:t>GBP=500MHz</a:t>
            </a:r>
            <a:r>
              <a:rPr lang="zh-CN" altLang="en-US" sz="1800" dirty="0"/>
              <a:t>，</a:t>
            </a:r>
            <a:r>
              <a:rPr lang="en-US" altLang="zh-CN" sz="1800" dirty="0"/>
              <a:t>SR=1800V/us</a:t>
            </a:r>
            <a:r>
              <a:rPr lang="zh-CN" altLang="en-US" sz="1800" dirty="0"/>
              <a:t>，电源</a:t>
            </a:r>
            <a:r>
              <a:rPr lang="en-US" altLang="zh-CN" sz="1800" dirty="0"/>
              <a:t>±</a:t>
            </a:r>
            <a:r>
              <a:rPr lang="en-US" altLang="zh-CN" sz="1800" dirty="0" smtClean="0"/>
              <a:t>5V</a:t>
            </a:r>
          </a:p>
          <a:p>
            <a:pPr lvl="1">
              <a:lnSpc>
                <a:spcPct val="150000"/>
              </a:lnSpc>
            </a:pPr>
            <a:r>
              <a:rPr lang="en-US" altLang="zh-CN" sz="1800" dirty="0" smtClean="0"/>
              <a:t>OPA846</a:t>
            </a:r>
            <a:r>
              <a:rPr lang="zh-CN" altLang="en-US" sz="1800" dirty="0"/>
              <a:t>，电压反馈</a:t>
            </a:r>
            <a:r>
              <a:rPr lang="zh-CN" altLang="en-US" sz="1800" dirty="0" smtClean="0"/>
              <a:t>型，</a:t>
            </a:r>
            <a:r>
              <a:rPr lang="en-US" altLang="zh-CN" sz="1800" dirty="0" smtClean="0"/>
              <a:t>GBP=1.75GHz</a:t>
            </a:r>
            <a:r>
              <a:rPr lang="zh-CN" altLang="en-US" sz="1800" dirty="0"/>
              <a:t>，</a:t>
            </a:r>
            <a:r>
              <a:rPr lang="en-US" altLang="zh-CN" sz="1800" dirty="0"/>
              <a:t>SR=625V/us</a:t>
            </a:r>
            <a:r>
              <a:rPr lang="zh-CN" altLang="en-US" sz="1800" dirty="0"/>
              <a:t>，电源</a:t>
            </a:r>
            <a:r>
              <a:rPr lang="en-US" altLang="zh-CN" sz="1800" dirty="0"/>
              <a:t>±</a:t>
            </a:r>
            <a:r>
              <a:rPr lang="en-US" altLang="zh-CN" sz="1800" dirty="0" smtClean="0"/>
              <a:t>5V</a:t>
            </a:r>
          </a:p>
          <a:p>
            <a:pPr lvl="1">
              <a:lnSpc>
                <a:spcPct val="150000"/>
              </a:lnSpc>
            </a:pPr>
            <a:r>
              <a:rPr lang="en-US" altLang="zh-CN" sz="1800" dirty="0" smtClean="0"/>
              <a:t>OPA695</a:t>
            </a:r>
            <a:r>
              <a:rPr lang="zh-CN" altLang="en-US" sz="1800" dirty="0" smtClean="0"/>
              <a:t>，电流反馈型，</a:t>
            </a:r>
            <a:r>
              <a:rPr lang="en-US" altLang="zh-CN" sz="1800" dirty="0" smtClean="0"/>
              <a:t>BW=850MHz@G=2</a:t>
            </a:r>
            <a:r>
              <a:rPr lang="zh-CN" altLang="en-US" sz="1800" dirty="0" smtClean="0"/>
              <a:t>，</a:t>
            </a:r>
            <a:r>
              <a:rPr lang="en-US" altLang="zh-CN" sz="1800" dirty="0" smtClean="0"/>
              <a:t>BW=350MHz@G=16</a:t>
            </a:r>
            <a:r>
              <a:rPr lang="zh-CN" altLang="en-US" sz="1800" dirty="0" smtClean="0"/>
              <a:t>，</a:t>
            </a:r>
            <a:endParaRPr lang="en-US" altLang="zh-CN" sz="1800" dirty="0" smtClean="0"/>
          </a:p>
          <a:p>
            <a:pPr lvl="1">
              <a:lnSpc>
                <a:spcPct val="150000"/>
              </a:lnSpc>
            </a:pPr>
            <a:r>
              <a:rPr lang="en-US" altLang="zh-CN" sz="1800" dirty="0"/>
              <a:t> </a:t>
            </a:r>
            <a:r>
              <a:rPr lang="en-US" altLang="zh-CN" sz="1800" dirty="0" smtClean="0"/>
              <a:t>                                      </a:t>
            </a:r>
            <a:r>
              <a:rPr lang="en-US" altLang="zh-CN" sz="1800" dirty="0" smtClean="0"/>
              <a:t>SR=2900V/us</a:t>
            </a:r>
            <a:r>
              <a:rPr lang="zh-CN" altLang="en-US" sz="1800" dirty="0"/>
              <a:t>，电源</a:t>
            </a:r>
            <a:r>
              <a:rPr lang="en-US" altLang="zh-CN" sz="1800" dirty="0"/>
              <a:t>±</a:t>
            </a:r>
            <a:r>
              <a:rPr lang="en-US" altLang="zh-CN" sz="1800" dirty="0" smtClean="0"/>
              <a:t>5V</a:t>
            </a:r>
          </a:p>
          <a:p>
            <a:pPr lvl="1">
              <a:lnSpc>
                <a:spcPct val="150000"/>
              </a:lnSpc>
            </a:pPr>
            <a:r>
              <a:rPr lang="en-US" altLang="zh-CN" sz="1800" dirty="0" smtClean="0"/>
              <a:t>THS3091</a:t>
            </a:r>
            <a:r>
              <a:rPr lang="zh-CN" altLang="en-US" sz="1800" dirty="0" smtClean="0"/>
              <a:t>，电流反馈型，</a:t>
            </a:r>
            <a:r>
              <a:rPr lang="en-US" altLang="zh-CN" sz="1800" dirty="0" smtClean="0"/>
              <a:t>BW=210MHz@G=2</a:t>
            </a:r>
            <a:r>
              <a:rPr lang="zh-CN" altLang="en-US" sz="1800" dirty="0" smtClean="0"/>
              <a:t>，</a:t>
            </a:r>
            <a:r>
              <a:rPr lang="en-US" altLang="zh-CN" sz="1800" dirty="0" smtClean="0"/>
              <a:t>BW=180MHz@G=10</a:t>
            </a:r>
            <a:r>
              <a:rPr lang="zh-CN" altLang="en-US" sz="1800" dirty="0" smtClean="0"/>
              <a:t>，</a:t>
            </a:r>
            <a:endParaRPr lang="en-US" altLang="zh-CN" sz="1800" dirty="0" smtClean="0"/>
          </a:p>
          <a:p>
            <a:pPr lvl="1">
              <a:lnSpc>
                <a:spcPct val="150000"/>
              </a:lnSpc>
            </a:pPr>
            <a:r>
              <a:rPr lang="en-US" altLang="zh-CN" sz="1800" dirty="0"/>
              <a:t> </a:t>
            </a:r>
            <a:r>
              <a:rPr lang="en-US" altLang="zh-CN" sz="1800" dirty="0" smtClean="0"/>
              <a:t>                                        </a:t>
            </a:r>
            <a:r>
              <a:rPr lang="en-US" altLang="zh-CN" sz="1800" dirty="0" smtClean="0"/>
              <a:t>SR=7300V/</a:t>
            </a:r>
            <a:r>
              <a:rPr lang="en-US" altLang="zh-CN" sz="1800" dirty="0" err="1" smtClean="0"/>
              <a:t>us@G</a:t>
            </a:r>
            <a:r>
              <a:rPr lang="en-US" altLang="zh-CN" sz="1800" dirty="0" smtClean="0"/>
              <a:t>=5</a:t>
            </a:r>
            <a:r>
              <a:rPr lang="zh-CN" altLang="en-US" sz="1800" dirty="0"/>
              <a:t>，电源</a:t>
            </a:r>
            <a:r>
              <a:rPr lang="en-US" altLang="zh-CN" sz="1800" dirty="0"/>
              <a:t>±5~±</a:t>
            </a:r>
            <a:r>
              <a:rPr lang="en-US" altLang="zh-CN" sz="1800" dirty="0" smtClean="0"/>
              <a:t>15V</a:t>
            </a:r>
          </a:p>
          <a:p>
            <a:pPr lvl="1">
              <a:lnSpc>
                <a:spcPct val="150000"/>
              </a:lnSpc>
            </a:pPr>
            <a:r>
              <a:rPr lang="en-US" altLang="zh-CN" sz="1800" dirty="0" smtClean="0"/>
              <a:t>THS3201</a:t>
            </a:r>
            <a:r>
              <a:rPr lang="zh-CN" altLang="en-US" sz="1800" dirty="0" smtClean="0"/>
              <a:t>，电流反馈型，</a:t>
            </a:r>
            <a:r>
              <a:rPr lang="en-US" altLang="zh-CN" sz="1800" dirty="0" smtClean="0"/>
              <a:t>BW=1.8GHz@G=1</a:t>
            </a:r>
            <a:r>
              <a:rPr lang="zh-CN" altLang="en-US" sz="1800" dirty="0" smtClean="0"/>
              <a:t>，</a:t>
            </a:r>
            <a:r>
              <a:rPr lang="en-US" altLang="zh-CN" sz="1800" dirty="0" smtClean="0"/>
              <a:t>BW=520MHz@G=10</a:t>
            </a:r>
            <a:r>
              <a:rPr lang="zh-CN" altLang="en-US" sz="1800" dirty="0" smtClean="0"/>
              <a:t>，</a:t>
            </a:r>
            <a:endParaRPr lang="en-US" altLang="zh-CN" sz="1800" dirty="0" smtClean="0"/>
          </a:p>
          <a:p>
            <a:pPr lvl="1">
              <a:lnSpc>
                <a:spcPct val="150000"/>
              </a:lnSpc>
            </a:pPr>
            <a:r>
              <a:rPr lang="en-US" altLang="zh-CN" sz="1800" dirty="0"/>
              <a:t> </a:t>
            </a:r>
            <a:r>
              <a:rPr lang="en-US" altLang="zh-CN" sz="1800" dirty="0" smtClean="0"/>
              <a:t>                                        </a:t>
            </a:r>
            <a:r>
              <a:rPr lang="en-US" altLang="zh-CN" sz="1800" dirty="0" smtClean="0"/>
              <a:t>SR=6700V/</a:t>
            </a:r>
            <a:r>
              <a:rPr lang="en-US" altLang="zh-CN" sz="1800" dirty="0" err="1" smtClean="0"/>
              <a:t>us@G</a:t>
            </a:r>
            <a:r>
              <a:rPr lang="en-US" altLang="zh-CN" sz="1800" dirty="0" smtClean="0"/>
              <a:t>=2</a:t>
            </a:r>
            <a:r>
              <a:rPr lang="zh-CN" altLang="en-US" sz="1800" dirty="0"/>
              <a:t>，电源</a:t>
            </a:r>
            <a:r>
              <a:rPr lang="en-US" altLang="zh-CN" sz="1800" dirty="0"/>
              <a:t>±3.3~±</a:t>
            </a:r>
            <a:r>
              <a:rPr lang="en-US" altLang="zh-CN" sz="1800" dirty="0" smtClean="0"/>
              <a:t>7.5V</a:t>
            </a:r>
          </a:p>
          <a:p>
            <a:pPr lvl="1">
              <a:lnSpc>
                <a:spcPct val="150000"/>
              </a:lnSpc>
            </a:pPr>
            <a:r>
              <a:rPr lang="en-US" altLang="zh-CN" sz="1800" dirty="0" smtClean="0"/>
              <a:t>ADA4870</a:t>
            </a:r>
            <a:r>
              <a:rPr lang="zh-CN" altLang="en-US" sz="1800" dirty="0" smtClean="0"/>
              <a:t>，高速高压大电流放大器，</a:t>
            </a:r>
            <a:r>
              <a:rPr lang="en-US" altLang="zh-CN" sz="1800" dirty="0" smtClean="0"/>
              <a:t>BW=52MHz</a:t>
            </a:r>
            <a:r>
              <a:rPr lang="en-US" altLang="zh-CN" sz="1800" dirty="0"/>
              <a:t>(</a:t>
            </a:r>
            <a:r>
              <a:rPr lang="zh-CN" altLang="en-US" sz="1800" dirty="0" smtClean="0"/>
              <a:t>大信号</a:t>
            </a:r>
            <a:r>
              <a:rPr lang="en-US" altLang="zh-CN" sz="1800" dirty="0" smtClean="0"/>
              <a:t>)</a:t>
            </a:r>
            <a:r>
              <a:rPr lang="zh-CN" altLang="en-US" sz="1800" dirty="0" smtClean="0"/>
              <a:t>，</a:t>
            </a:r>
            <a:r>
              <a:rPr lang="zh-CN" altLang="en-US" sz="1800" dirty="0"/>
              <a:t>最大输出电流</a:t>
            </a:r>
            <a:r>
              <a:rPr lang="en-US" altLang="zh-CN" sz="1800" dirty="0" smtClean="0"/>
              <a:t>1A</a:t>
            </a:r>
          </a:p>
          <a:p>
            <a:pPr lvl="1">
              <a:lnSpc>
                <a:spcPct val="150000"/>
              </a:lnSpc>
            </a:pPr>
            <a:r>
              <a:rPr lang="en-US" altLang="zh-CN" sz="1800" dirty="0"/>
              <a:t> </a:t>
            </a:r>
            <a:r>
              <a:rPr lang="en-US" altLang="zh-CN" sz="1800" dirty="0" smtClean="0"/>
              <a:t>                                                         </a:t>
            </a:r>
            <a:r>
              <a:rPr lang="zh-CN" altLang="en-US" sz="1800" dirty="0" smtClean="0"/>
              <a:t>最大输出摆幅</a:t>
            </a:r>
            <a:r>
              <a:rPr lang="en-US" altLang="zh-CN" sz="1800" dirty="0" smtClean="0"/>
              <a:t>37V@</a:t>
            </a:r>
            <a:r>
              <a:rPr lang="zh-CN" altLang="en-US" sz="1800" dirty="0" smtClean="0"/>
              <a:t>电源</a:t>
            </a:r>
            <a:r>
              <a:rPr lang="en-US" altLang="zh-CN" sz="1800" dirty="0" smtClean="0"/>
              <a:t>40V</a:t>
            </a:r>
            <a:r>
              <a:rPr lang="en-US" altLang="zh-CN" sz="1800" dirty="0" smtClean="0"/>
              <a:t>                    </a:t>
            </a:r>
            <a:endParaRPr lang="en-US" altLang="zh-CN" sz="1800" dirty="0" smtClean="0"/>
          </a:p>
        </p:txBody>
      </p:sp>
    </p:spTree>
    <p:extLst>
      <p:ext uri="{BB962C8B-B14F-4D97-AF65-F5344CB8AC3E}">
        <p14:creationId xmlns:p14="http://schemas.microsoft.com/office/powerpoint/2010/main" val="3888806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2022/3/21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12</a:t>
            </a:fld>
            <a:endParaRPr lang="en-US" altLang="zh-CN">
              <a:solidFill>
                <a:srgbClr val="FFFFFF"/>
              </a:solidFill>
            </a:endParaRPr>
          </a:p>
        </p:txBody>
      </p:sp>
      <p:pic>
        <p:nvPicPr>
          <p:cNvPr id="5" name="图片 4"/>
          <p:cNvPicPr>
            <a:picLocks noChangeAspect="1"/>
          </p:cNvPicPr>
          <p:nvPr/>
        </p:nvPicPr>
        <p:blipFill>
          <a:blip r:embed="rId2"/>
          <a:stretch>
            <a:fillRect/>
          </a:stretch>
        </p:blipFill>
        <p:spPr>
          <a:xfrm>
            <a:off x="1093539" y="980953"/>
            <a:ext cx="3149540" cy="2289844"/>
          </a:xfrm>
          <a:prstGeom prst="rect">
            <a:avLst/>
          </a:prstGeom>
        </p:spPr>
      </p:pic>
      <p:sp>
        <p:nvSpPr>
          <p:cNvPr id="6" name="矩形 5"/>
          <p:cNvSpPr/>
          <p:nvPr/>
        </p:nvSpPr>
        <p:spPr>
          <a:xfrm>
            <a:off x="730204" y="520822"/>
            <a:ext cx="3716806" cy="400110"/>
          </a:xfrm>
          <a:prstGeom prst="rect">
            <a:avLst/>
          </a:prstGeom>
        </p:spPr>
        <p:txBody>
          <a:bodyPr wrap="square">
            <a:spAutoFit/>
          </a:bodyPr>
          <a:lstStyle/>
          <a:p>
            <a:r>
              <a:rPr lang="en-US" altLang="zh-CN" dirty="0" smtClean="0"/>
              <a:t>OPA690(</a:t>
            </a:r>
            <a:r>
              <a:rPr lang="zh-CN" altLang="en-US" dirty="0" smtClean="0"/>
              <a:t>电压反馈型</a:t>
            </a:r>
            <a:r>
              <a:rPr lang="en-US" altLang="zh-CN" dirty="0" smtClean="0"/>
              <a:t>)</a:t>
            </a:r>
            <a:r>
              <a:rPr lang="zh-CN" altLang="en-US" dirty="0" smtClean="0"/>
              <a:t>频响曲线</a:t>
            </a:r>
            <a:endParaRPr lang="zh-CN" altLang="en-US" dirty="0"/>
          </a:p>
        </p:txBody>
      </p:sp>
      <p:pic>
        <p:nvPicPr>
          <p:cNvPr id="7" name="图片 6"/>
          <p:cNvPicPr>
            <a:picLocks noChangeAspect="1"/>
          </p:cNvPicPr>
          <p:nvPr/>
        </p:nvPicPr>
        <p:blipFill>
          <a:blip r:embed="rId3"/>
          <a:stretch>
            <a:fillRect/>
          </a:stretch>
        </p:blipFill>
        <p:spPr>
          <a:xfrm>
            <a:off x="1082724" y="3786850"/>
            <a:ext cx="3149540" cy="2474639"/>
          </a:xfrm>
          <a:prstGeom prst="rect">
            <a:avLst/>
          </a:prstGeom>
        </p:spPr>
      </p:pic>
      <p:pic>
        <p:nvPicPr>
          <p:cNvPr id="8" name="图片 7"/>
          <p:cNvPicPr>
            <a:picLocks noChangeAspect="1"/>
          </p:cNvPicPr>
          <p:nvPr/>
        </p:nvPicPr>
        <p:blipFill>
          <a:blip r:embed="rId4"/>
          <a:stretch>
            <a:fillRect/>
          </a:stretch>
        </p:blipFill>
        <p:spPr>
          <a:xfrm>
            <a:off x="4821981" y="980953"/>
            <a:ext cx="3348414" cy="2289844"/>
          </a:xfrm>
          <a:prstGeom prst="rect">
            <a:avLst/>
          </a:prstGeom>
        </p:spPr>
      </p:pic>
      <p:pic>
        <p:nvPicPr>
          <p:cNvPr id="9" name="图片 8"/>
          <p:cNvPicPr>
            <a:picLocks noChangeAspect="1"/>
          </p:cNvPicPr>
          <p:nvPr/>
        </p:nvPicPr>
        <p:blipFill>
          <a:blip r:embed="rId5"/>
          <a:stretch>
            <a:fillRect/>
          </a:stretch>
        </p:blipFill>
        <p:spPr>
          <a:xfrm>
            <a:off x="4821981" y="3786850"/>
            <a:ext cx="3348414" cy="2454327"/>
          </a:xfrm>
          <a:prstGeom prst="rect">
            <a:avLst/>
          </a:prstGeom>
        </p:spPr>
      </p:pic>
      <p:sp>
        <p:nvSpPr>
          <p:cNvPr id="10" name="矩形 9"/>
          <p:cNvSpPr/>
          <p:nvPr/>
        </p:nvSpPr>
        <p:spPr>
          <a:xfrm>
            <a:off x="4775234" y="520822"/>
            <a:ext cx="3768656" cy="400110"/>
          </a:xfrm>
          <a:prstGeom prst="rect">
            <a:avLst/>
          </a:prstGeom>
        </p:spPr>
        <p:txBody>
          <a:bodyPr wrap="square">
            <a:spAutoFit/>
          </a:bodyPr>
          <a:lstStyle/>
          <a:p>
            <a:r>
              <a:rPr lang="en-US" altLang="zh-CN" dirty="0" smtClean="0"/>
              <a:t>THS3201(</a:t>
            </a:r>
            <a:r>
              <a:rPr lang="zh-CN" altLang="en-US" dirty="0" smtClean="0"/>
              <a:t>电流反馈型</a:t>
            </a:r>
            <a:r>
              <a:rPr lang="en-US" altLang="zh-CN" dirty="0" smtClean="0"/>
              <a:t>)</a:t>
            </a:r>
            <a:r>
              <a:rPr lang="zh-CN" altLang="en-US" dirty="0" smtClean="0"/>
              <a:t>频响曲线</a:t>
            </a:r>
            <a:endParaRPr lang="zh-CN" altLang="en-US" dirty="0"/>
          </a:p>
        </p:txBody>
      </p:sp>
      <p:sp>
        <p:nvSpPr>
          <p:cNvPr id="11" name="矩形 10"/>
          <p:cNvSpPr/>
          <p:nvPr/>
        </p:nvSpPr>
        <p:spPr>
          <a:xfrm>
            <a:off x="1368311" y="3306572"/>
            <a:ext cx="7360153" cy="338554"/>
          </a:xfrm>
          <a:prstGeom prst="rect">
            <a:avLst/>
          </a:prstGeom>
        </p:spPr>
        <p:txBody>
          <a:bodyPr wrap="square">
            <a:spAutoFit/>
          </a:bodyPr>
          <a:lstStyle/>
          <a:p>
            <a:r>
              <a:rPr lang="zh-CN" altLang="en-US" sz="1600" dirty="0" smtClean="0">
                <a:solidFill>
                  <a:srgbClr val="FF0000"/>
                </a:solidFill>
              </a:rPr>
              <a:t>电压</a:t>
            </a:r>
            <a:r>
              <a:rPr lang="zh-CN" altLang="en-US" sz="1600" dirty="0" smtClean="0">
                <a:solidFill>
                  <a:srgbClr val="FF0000"/>
                </a:solidFill>
              </a:rPr>
              <a:t>反馈</a:t>
            </a:r>
            <a:r>
              <a:rPr lang="zh-CN" altLang="en-US" sz="1600" dirty="0" smtClean="0">
                <a:solidFill>
                  <a:srgbClr val="FF0000"/>
                </a:solidFill>
              </a:rPr>
              <a:t>型增益与频响基本成反比，电流反馈型增益与频响基本无关</a:t>
            </a:r>
            <a:endParaRPr lang="zh-CN" altLang="en-US" sz="1600" dirty="0">
              <a:solidFill>
                <a:srgbClr val="FF0000"/>
              </a:solidFill>
            </a:endParaRPr>
          </a:p>
        </p:txBody>
      </p:sp>
      <p:sp>
        <p:nvSpPr>
          <p:cNvPr id="12" name="矩形 11"/>
          <p:cNvSpPr/>
          <p:nvPr/>
        </p:nvSpPr>
        <p:spPr>
          <a:xfrm>
            <a:off x="618312" y="1339489"/>
            <a:ext cx="414500" cy="4247317"/>
          </a:xfrm>
          <a:prstGeom prst="rect">
            <a:avLst/>
          </a:prstGeom>
        </p:spPr>
        <p:txBody>
          <a:bodyPr wrap="square">
            <a:spAutoFit/>
          </a:bodyPr>
          <a:lstStyle/>
          <a:p>
            <a:r>
              <a:rPr lang="zh-CN" altLang="en-US" sz="1800" dirty="0" smtClean="0"/>
              <a:t>小信号特性</a:t>
            </a:r>
            <a:endParaRPr lang="en-US" altLang="zh-CN" sz="1800" dirty="0" smtClean="0"/>
          </a:p>
          <a:p>
            <a:endParaRPr lang="en-US" altLang="zh-CN" sz="1800" dirty="0"/>
          </a:p>
          <a:p>
            <a:endParaRPr lang="en-US" altLang="zh-CN" sz="1800" dirty="0" smtClean="0"/>
          </a:p>
          <a:p>
            <a:endParaRPr lang="en-US" altLang="zh-CN" sz="1800" dirty="0"/>
          </a:p>
          <a:p>
            <a:r>
              <a:rPr lang="en-US" altLang="zh-CN" sz="1800" dirty="0" smtClean="0"/>
              <a:t>  </a:t>
            </a:r>
          </a:p>
          <a:p>
            <a:endParaRPr lang="en-US" altLang="zh-CN" sz="1800" dirty="0"/>
          </a:p>
          <a:p>
            <a:r>
              <a:rPr lang="zh-CN" altLang="en-US" sz="1800" dirty="0" smtClean="0"/>
              <a:t>大信号特性</a:t>
            </a:r>
            <a:endParaRPr lang="zh-CN" altLang="en-US" sz="1800" dirty="0"/>
          </a:p>
        </p:txBody>
      </p:sp>
    </p:spTree>
    <p:extLst>
      <p:ext uri="{BB962C8B-B14F-4D97-AF65-F5344CB8AC3E}">
        <p14:creationId xmlns:p14="http://schemas.microsoft.com/office/powerpoint/2010/main" val="1358246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13</a:t>
            </a:fld>
            <a:endParaRPr lang="en-US" altLang="zh-CN">
              <a:solidFill>
                <a:srgbClr val="FFFFFF"/>
              </a:solidFill>
            </a:endParaRPr>
          </a:p>
        </p:txBody>
      </p:sp>
      <p:sp>
        <p:nvSpPr>
          <p:cNvPr id="5" name="文本框 4"/>
          <p:cNvSpPr txBox="1"/>
          <p:nvPr/>
        </p:nvSpPr>
        <p:spPr>
          <a:xfrm>
            <a:off x="314554" y="380391"/>
            <a:ext cx="8551634" cy="3785652"/>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b="1" dirty="0" smtClean="0"/>
              <a:t>高频晶体管</a:t>
            </a:r>
            <a:endParaRPr lang="en-US" altLang="zh-CN" b="1" dirty="0" smtClean="0"/>
          </a:p>
          <a:p>
            <a:pPr marL="342900" indent="-342900">
              <a:lnSpc>
                <a:spcPct val="150000"/>
              </a:lnSpc>
              <a:buFont typeface="Arial" panose="020B0604020202020204" pitchFamily="34" charset="0"/>
              <a:buChar char="•"/>
            </a:pPr>
            <a:r>
              <a:rPr lang="zh-CN" altLang="en-US" dirty="0" smtClean="0"/>
              <a:t>频率响应可以从几百</a:t>
            </a:r>
            <a:r>
              <a:rPr lang="en-US" altLang="zh-CN" dirty="0" smtClean="0"/>
              <a:t>MHz</a:t>
            </a:r>
            <a:r>
              <a:rPr lang="zh-CN" altLang="en-US" dirty="0" smtClean="0"/>
              <a:t>到几十</a:t>
            </a:r>
            <a:r>
              <a:rPr lang="en-US" altLang="zh-CN" dirty="0" smtClean="0"/>
              <a:t>GHz</a:t>
            </a:r>
          </a:p>
          <a:p>
            <a:pPr marL="342900" indent="-342900">
              <a:lnSpc>
                <a:spcPct val="150000"/>
              </a:lnSpc>
              <a:buFont typeface="Arial" panose="020B0604020202020204" pitchFamily="34" charset="0"/>
              <a:buChar char="•"/>
            </a:pPr>
            <a:r>
              <a:rPr lang="zh-CN" altLang="en-US" dirty="0" smtClean="0"/>
              <a:t>输出功率可以从几十</a:t>
            </a:r>
            <a:r>
              <a:rPr lang="en-US" altLang="zh-CN" dirty="0" err="1" smtClean="0"/>
              <a:t>mW</a:t>
            </a:r>
            <a:r>
              <a:rPr lang="zh-CN" altLang="en-US" dirty="0" smtClean="0"/>
              <a:t>到几十</a:t>
            </a:r>
            <a:r>
              <a:rPr lang="en-US" altLang="zh-CN" dirty="0" smtClean="0"/>
              <a:t>W</a:t>
            </a:r>
            <a:r>
              <a:rPr lang="zh-CN" altLang="en-US" dirty="0" smtClean="0"/>
              <a:t>甚至几百</a:t>
            </a:r>
            <a:r>
              <a:rPr lang="en-US" altLang="zh-CN" dirty="0" smtClean="0"/>
              <a:t>W</a:t>
            </a:r>
          </a:p>
          <a:p>
            <a:pPr marL="342900" indent="-342900">
              <a:lnSpc>
                <a:spcPct val="150000"/>
              </a:lnSpc>
              <a:buFont typeface="Arial" panose="020B0604020202020204" pitchFamily="34" charset="0"/>
              <a:buChar char="•"/>
            </a:pPr>
            <a:r>
              <a:rPr lang="zh-CN" altLang="en-US" dirty="0" smtClean="0"/>
              <a:t>为了获得较大的功率增益，常采用共射（共源）放大器形式</a:t>
            </a:r>
            <a:endParaRPr lang="en-US" altLang="zh-CN" dirty="0" smtClean="0"/>
          </a:p>
          <a:p>
            <a:pPr marL="342900" indent="-342900">
              <a:lnSpc>
                <a:spcPct val="150000"/>
              </a:lnSpc>
              <a:buFont typeface="Arial" panose="020B0604020202020204" pitchFamily="34" charset="0"/>
              <a:buChar char="•"/>
            </a:pPr>
            <a:r>
              <a:rPr lang="zh-CN" altLang="en-US" dirty="0" smtClean="0"/>
              <a:t>增益、输入输出电阻等参数与工作点有关，且有很大的变化范围</a:t>
            </a:r>
            <a:endParaRPr lang="en-US" altLang="zh-CN" dirty="0" smtClean="0"/>
          </a:p>
          <a:p>
            <a:pPr marL="342900" indent="-342900">
              <a:lnSpc>
                <a:spcPct val="150000"/>
              </a:lnSpc>
              <a:buFont typeface="Arial" panose="020B0604020202020204" pitchFamily="34" charset="0"/>
              <a:buChar char="•"/>
            </a:pPr>
            <a:r>
              <a:rPr lang="zh-CN" altLang="en-US" dirty="0" smtClean="0"/>
              <a:t>通常需要外接阻抗匹配网络方可稳定工作</a:t>
            </a:r>
            <a:endParaRPr lang="en-US" altLang="zh-CN" dirty="0" smtClean="0"/>
          </a:p>
          <a:p>
            <a:pPr marL="342900" indent="-342900">
              <a:lnSpc>
                <a:spcPct val="150000"/>
              </a:lnSpc>
              <a:buFont typeface="Arial" panose="020B0604020202020204" pitchFamily="34" charset="0"/>
              <a:buChar char="•"/>
            </a:pPr>
            <a:r>
              <a:rPr lang="zh-CN" altLang="en-US" dirty="0" smtClean="0"/>
              <a:t>设计与制作调整比较困难</a:t>
            </a:r>
            <a:endParaRPr lang="en-US" altLang="zh-CN" dirty="0" smtClean="0"/>
          </a:p>
          <a:p>
            <a:pPr marL="342900" indent="-342900">
              <a:lnSpc>
                <a:spcPct val="150000"/>
              </a:lnSpc>
              <a:buFont typeface="Arial" panose="020B0604020202020204" pitchFamily="34" charset="0"/>
              <a:buChar char="•"/>
            </a:pPr>
            <a:r>
              <a:rPr lang="zh-CN" altLang="en-US" dirty="0" smtClean="0"/>
              <a:t>适用于窄频带放大器以及大功率放大器</a:t>
            </a:r>
            <a:endParaRPr lang="zh-CN" altLang="en-US" dirty="0"/>
          </a:p>
        </p:txBody>
      </p:sp>
    </p:spTree>
    <p:extLst>
      <p:ext uri="{BB962C8B-B14F-4D97-AF65-F5344CB8AC3E}">
        <p14:creationId xmlns:p14="http://schemas.microsoft.com/office/powerpoint/2010/main" val="23844089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2022/3/21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14</a:t>
            </a:fld>
            <a:endParaRPr lang="en-US" altLang="zh-CN">
              <a:solidFill>
                <a:srgbClr val="FFFFFF"/>
              </a:solidFill>
            </a:endParaRPr>
          </a:p>
        </p:txBody>
      </p:sp>
      <p:sp>
        <p:nvSpPr>
          <p:cNvPr id="5" name="文本框 4"/>
          <p:cNvSpPr txBox="1"/>
          <p:nvPr/>
        </p:nvSpPr>
        <p:spPr>
          <a:xfrm>
            <a:off x="365760" y="482803"/>
            <a:ext cx="8449056" cy="400110"/>
          </a:xfrm>
          <a:prstGeom prst="rect">
            <a:avLst/>
          </a:prstGeom>
          <a:noFill/>
        </p:spPr>
        <p:txBody>
          <a:bodyPr wrap="square" rtlCol="0">
            <a:spAutoFit/>
          </a:bodyPr>
          <a:lstStyle/>
          <a:p>
            <a:pPr marL="342900" indent="-342900">
              <a:buFont typeface="Arial" panose="020B0604020202020204" pitchFamily="34" charset="0"/>
              <a:buChar char="•"/>
            </a:pPr>
            <a:r>
              <a:rPr lang="zh-CN" altLang="en-US" dirty="0"/>
              <a:t>一</a:t>
            </a:r>
            <a:r>
              <a:rPr lang="zh-CN" altLang="en-US" dirty="0" smtClean="0"/>
              <a:t>个高频小功率场效应管（</a:t>
            </a:r>
            <a:r>
              <a:rPr lang="en-US" altLang="zh-CN" dirty="0" smtClean="0"/>
              <a:t>RD01MUS1</a:t>
            </a:r>
            <a:r>
              <a:rPr lang="zh-CN" altLang="en-US" dirty="0"/>
              <a:t>）的例子</a:t>
            </a:r>
          </a:p>
        </p:txBody>
      </p:sp>
      <p:pic>
        <p:nvPicPr>
          <p:cNvPr id="7" name="图片 6"/>
          <p:cNvPicPr>
            <a:picLocks noChangeAspect="1"/>
          </p:cNvPicPr>
          <p:nvPr/>
        </p:nvPicPr>
        <p:blipFill>
          <a:blip r:embed="rId2"/>
          <a:stretch>
            <a:fillRect/>
          </a:stretch>
        </p:blipFill>
        <p:spPr>
          <a:xfrm>
            <a:off x="3277830" y="3799968"/>
            <a:ext cx="5712715" cy="2630360"/>
          </a:xfrm>
          <a:prstGeom prst="rect">
            <a:avLst/>
          </a:prstGeom>
        </p:spPr>
      </p:pic>
      <p:pic>
        <p:nvPicPr>
          <p:cNvPr id="6" name="图片 5"/>
          <p:cNvPicPr>
            <a:picLocks noChangeAspect="1"/>
          </p:cNvPicPr>
          <p:nvPr/>
        </p:nvPicPr>
        <p:blipFill>
          <a:blip r:embed="rId3"/>
          <a:stretch>
            <a:fillRect/>
          </a:stretch>
        </p:blipFill>
        <p:spPr>
          <a:xfrm>
            <a:off x="270661" y="944680"/>
            <a:ext cx="5251849" cy="3868722"/>
          </a:xfrm>
          <a:prstGeom prst="rect">
            <a:avLst/>
          </a:prstGeom>
        </p:spPr>
      </p:pic>
      <p:pic>
        <p:nvPicPr>
          <p:cNvPr id="8" name="图片 7"/>
          <p:cNvPicPr>
            <a:picLocks noChangeAspect="1"/>
          </p:cNvPicPr>
          <p:nvPr/>
        </p:nvPicPr>
        <p:blipFill>
          <a:blip r:embed="rId4"/>
          <a:stretch>
            <a:fillRect/>
          </a:stretch>
        </p:blipFill>
        <p:spPr>
          <a:xfrm>
            <a:off x="5566867" y="944680"/>
            <a:ext cx="3247949" cy="901696"/>
          </a:xfrm>
          <a:prstGeom prst="rect">
            <a:avLst/>
          </a:prstGeom>
        </p:spPr>
      </p:pic>
      <p:pic>
        <p:nvPicPr>
          <p:cNvPr id="9" name="图片 8"/>
          <p:cNvPicPr>
            <a:picLocks noChangeAspect="1"/>
          </p:cNvPicPr>
          <p:nvPr/>
        </p:nvPicPr>
        <p:blipFill>
          <a:blip r:embed="rId5"/>
          <a:stretch>
            <a:fillRect/>
          </a:stretch>
        </p:blipFill>
        <p:spPr>
          <a:xfrm>
            <a:off x="6376076" y="6096906"/>
            <a:ext cx="2438740" cy="333422"/>
          </a:xfrm>
          <a:prstGeom prst="rect">
            <a:avLst/>
          </a:prstGeom>
        </p:spPr>
      </p:pic>
      <p:sp>
        <p:nvSpPr>
          <p:cNvPr id="10" name="椭圆 9"/>
          <p:cNvSpPr/>
          <p:nvPr/>
        </p:nvSpPr>
        <p:spPr>
          <a:xfrm>
            <a:off x="3527050" y="5315361"/>
            <a:ext cx="2340190" cy="7773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6137799" y="5125649"/>
            <a:ext cx="2677017" cy="96702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270661" y="5687175"/>
            <a:ext cx="2752408" cy="369332"/>
          </a:xfrm>
          <a:prstGeom prst="rect">
            <a:avLst/>
          </a:prstGeom>
        </p:spPr>
        <p:txBody>
          <a:bodyPr wrap="square">
            <a:spAutoFit/>
          </a:bodyPr>
          <a:lstStyle/>
          <a:p>
            <a:r>
              <a:rPr lang="zh-CN" altLang="en-US" sz="1800" dirty="0"/>
              <a:t>微带</a:t>
            </a:r>
            <a:r>
              <a:rPr lang="zh-CN" altLang="en-US" sz="1800" dirty="0" smtClean="0"/>
              <a:t>选频与阻抗匹配网络</a:t>
            </a:r>
            <a:endParaRPr lang="zh-CN" altLang="en-US" sz="1800" dirty="0"/>
          </a:p>
        </p:txBody>
      </p:sp>
      <p:sp>
        <p:nvSpPr>
          <p:cNvPr id="13" name="任意多边形 12"/>
          <p:cNvSpPr/>
          <p:nvPr/>
        </p:nvSpPr>
        <p:spPr>
          <a:xfrm>
            <a:off x="2773849" y="5258550"/>
            <a:ext cx="1278456" cy="428625"/>
          </a:xfrm>
          <a:custGeom>
            <a:avLst/>
            <a:gdLst>
              <a:gd name="connsiteX0" fmla="*/ 0 w 2272252"/>
              <a:gd name="connsiteY0" fmla="*/ 365997 h 365997"/>
              <a:gd name="connsiteX1" fmla="*/ 1085439 w 2272252"/>
              <a:gd name="connsiteY1" fmla="*/ 23919 h 365997"/>
              <a:gd name="connsiteX2" fmla="*/ 2157721 w 2272252"/>
              <a:gd name="connsiteY2" fmla="*/ 30497 h 365997"/>
              <a:gd name="connsiteX3" fmla="*/ 2190613 w 2272252"/>
              <a:gd name="connsiteY3" fmla="*/ 43654 h 365997"/>
            </a:gdLst>
            <a:ahLst/>
            <a:cxnLst>
              <a:cxn ang="0">
                <a:pos x="connsiteX0" y="connsiteY0"/>
              </a:cxn>
              <a:cxn ang="0">
                <a:pos x="connsiteX1" y="connsiteY1"/>
              </a:cxn>
              <a:cxn ang="0">
                <a:pos x="connsiteX2" y="connsiteY2"/>
              </a:cxn>
              <a:cxn ang="0">
                <a:pos x="connsiteX3" y="connsiteY3"/>
              </a:cxn>
            </a:cxnLst>
            <a:rect l="l" t="t" r="r" b="b"/>
            <a:pathLst>
              <a:path w="2272252" h="365997">
                <a:moveTo>
                  <a:pt x="0" y="365997"/>
                </a:moveTo>
                <a:cubicBezTo>
                  <a:pt x="362909" y="222916"/>
                  <a:pt x="725819" y="79836"/>
                  <a:pt x="1085439" y="23919"/>
                </a:cubicBezTo>
                <a:cubicBezTo>
                  <a:pt x="1445059" y="-31998"/>
                  <a:pt x="1973525" y="27208"/>
                  <a:pt x="2157721" y="30497"/>
                </a:cubicBezTo>
                <a:cubicBezTo>
                  <a:pt x="2341917" y="33786"/>
                  <a:pt x="2266265" y="38720"/>
                  <a:pt x="2190613" y="43654"/>
                </a:cubicBezTo>
              </a:path>
            </a:pathLst>
          </a:custGeom>
          <a:ln>
            <a:solidFill>
              <a:srgbClr val="FF330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sp>
        <p:nvSpPr>
          <p:cNvPr id="14" name="任意多边形 13"/>
          <p:cNvSpPr/>
          <p:nvPr/>
        </p:nvSpPr>
        <p:spPr>
          <a:xfrm rot="20514135" flipV="1">
            <a:off x="2843210" y="5495368"/>
            <a:ext cx="3338958" cy="978330"/>
          </a:xfrm>
          <a:custGeom>
            <a:avLst/>
            <a:gdLst>
              <a:gd name="connsiteX0" fmla="*/ 0 w 2272252"/>
              <a:gd name="connsiteY0" fmla="*/ 365997 h 365997"/>
              <a:gd name="connsiteX1" fmla="*/ 1085439 w 2272252"/>
              <a:gd name="connsiteY1" fmla="*/ 23919 h 365997"/>
              <a:gd name="connsiteX2" fmla="*/ 2157721 w 2272252"/>
              <a:gd name="connsiteY2" fmla="*/ 30497 h 365997"/>
              <a:gd name="connsiteX3" fmla="*/ 2190613 w 2272252"/>
              <a:gd name="connsiteY3" fmla="*/ 43654 h 365997"/>
            </a:gdLst>
            <a:ahLst/>
            <a:cxnLst>
              <a:cxn ang="0">
                <a:pos x="connsiteX0" y="connsiteY0"/>
              </a:cxn>
              <a:cxn ang="0">
                <a:pos x="connsiteX1" y="connsiteY1"/>
              </a:cxn>
              <a:cxn ang="0">
                <a:pos x="connsiteX2" y="connsiteY2"/>
              </a:cxn>
              <a:cxn ang="0">
                <a:pos x="connsiteX3" y="connsiteY3"/>
              </a:cxn>
            </a:cxnLst>
            <a:rect l="l" t="t" r="r" b="b"/>
            <a:pathLst>
              <a:path w="2272252" h="365997">
                <a:moveTo>
                  <a:pt x="0" y="365997"/>
                </a:moveTo>
                <a:cubicBezTo>
                  <a:pt x="362909" y="222916"/>
                  <a:pt x="725819" y="79836"/>
                  <a:pt x="1085439" y="23919"/>
                </a:cubicBezTo>
                <a:cubicBezTo>
                  <a:pt x="1445059" y="-31998"/>
                  <a:pt x="1973525" y="27208"/>
                  <a:pt x="2157721" y="30497"/>
                </a:cubicBezTo>
                <a:cubicBezTo>
                  <a:pt x="2341917" y="33786"/>
                  <a:pt x="2266265" y="38720"/>
                  <a:pt x="2190613" y="43654"/>
                </a:cubicBezTo>
              </a:path>
            </a:pathLst>
          </a:custGeom>
          <a:ln>
            <a:solidFill>
              <a:srgbClr val="FF330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6276191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2"/>
          <a:stretch>
            <a:fillRect/>
          </a:stretch>
        </p:blipFill>
        <p:spPr>
          <a:xfrm>
            <a:off x="3361572" y="3476463"/>
            <a:ext cx="5392784" cy="2828016"/>
          </a:xfrm>
          <a:prstGeom prst="rect">
            <a:avLst/>
          </a:prstGeom>
        </p:spPr>
      </p:pic>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2022/3/21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15</a:t>
            </a:fld>
            <a:endParaRPr lang="en-US" altLang="zh-CN">
              <a:solidFill>
                <a:srgbClr val="FFFFFF"/>
              </a:solidFill>
            </a:endParaRPr>
          </a:p>
        </p:txBody>
      </p:sp>
      <p:sp>
        <p:nvSpPr>
          <p:cNvPr id="6" name="文本框 5"/>
          <p:cNvSpPr txBox="1"/>
          <p:nvPr/>
        </p:nvSpPr>
        <p:spPr>
          <a:xfrm>
            <a:off x="365760" y="482803"/>
            <a:ext cx="8449056" cy="400110"/>
          </a:xfrm>
          <a:prstGeom prst="rect">
            <a:avLst/>
          </a:prstGeom>
          <a:noFill/>
        </p:spPr>
        <p:txBody>
          <a:bodyPr wrap="square" rtlCol="0">
            <a:spAutoFit/>
          </a:bodyPr>
          <a:lstStyle/>
          <a:p>
            <a:pPr marL="342900" indent="-342900">
              <a:buFont typeface="Arial" panose="020B0604020202020204" pitchFamily="34" charset="0"/>
              <a:buChar char="•"/>
            </a:pPr>
            <a:r>
              <a:rPr lang="zh-CN" altLang="en-US" dirty="0"/>
              <a:t>一</a:t>
            </a:r>
            <a:r>
              <a:rPr lang="zh-CN" altLang="en-US" dirty="0" smtClean="0"/>
              <a:t>个高频大功率场效应管（</a:t>
            </a:r>
            <a:r>
              <a:rPr lang="en-US" altLang="zh-CN" dirty="0" smtClean="0"/>
              <a:t>ARF449</a:t>
            </a:r>
            <a:r>
              <a:rPr lang="zh-CN" altLang="en-US" dirty="0" smtClean="0"/>
              <a:t>）</a:t>
            </a:r>
            <a:r>
              <a:rPr lang="zh-CN" altLang="en-US" dirty="0"/>
              <a:t>的例子</a:t>
            </a:r>
          </a:p>
        </p:txBody>
      </p:sp>
      <p:pic>
        <p:nvPicPr>
          <p:cNvPr id="7" name="图片 6"/>
          <p:cNvPicPr>
            <a:picLocks noChangeAspect="1"/>
          </p:cNvPicPr>
          <p:nvPr/>
        </p:nvPicPr>
        <p:blipFill>
          <a:blip r:embed="rId3"/>
          <a:stretch>
            <a:fillRect/>
          </a:stretch>
        </p:blipFill>
        <p:spPr>
          <a:xfrm>
            <a:off x="3309757" y="999484"/>
            <a:ext cx="2404992" cy="2285490"/>
          </a:xfrm>
          <a:prstGeom prst="rect">
            <a:avLst/>
          </a:prstGeom>
        </p:spPr>
      </p:pic>
      <p:pic>
        <p:nvPicPr>
          <p:cNvPr id="8" name="图片 7"/>
          <p:cNvPicPr>
            <a:picLocks noChangeAspect="1"/>
          </p:cNvPicPr>
          <p:nvPr/>
        </p:nvPicPr>
        <p:blipFill>
          <a:blip r:embed="rId4"/>
          <a:stretch>
            <a:fillRect/>
          </a:stretch>
        </p:blipFill>
        <p:spPr>
          <a:xfrm>
            <a:off x="6001437" y="970611"/>
            <a:ext cx="2864751" cy="2285706"/>
          </a:xfrm>
          <a:prstGeom prst="rect">
            <a:avLst/>
          </a:prstGeom>
        </p:spPr>
      </p:pic>
      <p:pic>
        <p:nvPicPr>
          <p:cNvPr id="9" name="图片 8"/>
          <p:cNvPicPr>
            <a:picLocks noChangeAspect="1"/>
          </p:cNvPicPr>
          <p:nvPr/>
        </p:nvPicPr>
        <p:blipFill>
          <a:blip r:embed="rId5"/>
          <a:stretch>
            <a:fillRect/>
          </a:stretch>
        </p:blipFill>
        <p:spPr>
          <a:xfrm>
            <a:off x="540676" y="970700"/>
            <a:ext cx="2482393" cy="2285617"/>
          </a:xfrm>
          <a:prstGeom prst="rect">
            <a:avLst/>
          </a:prstGeom>
        </p:spPr>
      </p:pic>
      <p:pic>
        <p:nvPicPr>
          <p:cNvPr id="10" name="图片 9"/>
          <p:cNvPicPr>
            <a:picLocks noChangeAspect="1"/>
          </p:cNvPicPr>
          <p:nvPr/>
        </p:nvPicPr>
        <p:blipFill>
          <a:blip r:embed="rId6"/>
          <a:stretch>
            <a:fillRect/>
          </a:stretch>
        </p:blipFill>
        <p:spPr>
          <a:xfrm>
            <a:off x="688354" y="3447806"/>
            <a:ext cx="4669430" cy="1672410"/>
          </a:xfrm>
          <a:prstGeom prst="rect">
            <a:avLst/>
          </a:prstGeom>
        </p:spPr>
      </p:pic>
      <p:sp>
        <p:nvSpPr>
          <p:cNvPr id="12" name="矩形 11"/>
          <p:cNvSpPr/>
          <p:nvPr/>
        </p:nvSpPr>
        <p:spPr>
          <a:xfrm>
            <a:off x="975042" y="4749617"/>
            <a:ext cx="4064026" cy="1710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6769192" y="5918008"/>
            <a:ext cx="1985164" cy="276999"/>
          </a:xfrm>
          <a:prstGeom prst="rect">
            <a:avLst/>
          </a:prstGeom>
          <a:solidFill>
            <a:srgbClr val="FFFFFF"/>
          </a:solidFill>
        </p:spPr>
        <p:txBody>
          <a:bodyPr wrap="square">
            <a:spAutoFit/>
          </a:bodyPr>
          <a:lstStyle/>
          <a:p>
            <a:r>
              <a:rPr lang="en-US" altLang="zh-CN" sz="1200" dirty="0"/>
              <a:t>81.36 MHz Test Circuit</a:t>
            </a:r>
            <a:endParaRPr lang="zh-CN" altLang="en-US" sz="1200" dirty="0"/>
          </a:p>
        </p:txBody>
      </p:sp>
      <p:sp>
        <p:nvSpPr>
          <p:cNvPr id="5" name="椭圆 4"/>
          <p:cNvSpPr/>
          <p:nvPr/>
        </p:nvSpPr>
        <p:spPr>
          <a:xfrm>
            <a:off x="3847186" y="5148873"/>
            <a:ext cx="1704998" cy="94380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6203570" y="4519374"/>
            <a:ext cx="2021831" cy="96702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65760" y="5687175"/>
            <a:ext cx="2657309" cy="369332"/>
          </a:xfrm>
          <a:prstGeom prst="rect">
            <a:avLst/>
          </a:prstGeom>
        </p:spPr>
        <p:txBody>
          <a:bodyPr wrap="square">
            <a:spAutoFit/>
          </a:bodyPr>
          <a:lstStyle/>
          <a:p>
            <a:r>
              <a:rPr lang="en-US" altLang="zh-CN" sz="1800" dirty="0" smtClean="0"/>
              <a:t>LC</a:t>
            </a:r>
            <a:r>
              <a:rPr lang="zh-CN" altLang="en-US" sz="1800" dirty="0" smtClean="0"/>
              <a:t>选频与阻抗匹配网络</a:t>
            </a:r>
            <a:endParaRPr lang="zh-CN" altLang="en-US" sz="1800" dirty="0"/>
          </a:p>
        </p:txBody>
      </p:sp>
      <p:sp>
        <p:nvSpPr>
          <p:cNvPr id="19" name="任意多边形 18"/>
          <p:cNvSpPr/>
          <p:nvPr/>
        </p:nvSpPr>
        <p:spPr>
          <a:xfrm>
            <a:off x="2773849" y="5258550"/>
            <a:ext cx="1278456" cy="562660"/>
          </a:xfrm>
          <a:custGeom>
            <a:avLst/>
            <a:gdLst>
              <a:gd name="connsiteX0" fmla="*/ 0 w 2272252"/>
              <a:gd name="connsiteY0" fmla="*/ 365997 h 365997"/>
              <a:gd name="connsiteX1" fmla="*/ 1085439 w 2272252"/>
              <a:gd name="connsiteY1" fmla="*/ 23919 h 365997"/>
              <a:gd name="connsiteX2" fmla="*/ 2157721 w 2272252"/>
              <a:gd name="connsiteY2" fmla="*/ 30497 h 365997"/>
              <a:gd name="connsiteX3" fmla="*/ 2190613 w 2272252"/>
              <a:gd name="connsiteY3" fmla="*/ 43654 h 365997"/>
            </a:gdLst>
            <a:ahLst/>
            <a:cxnLst>
              <a:cxn ang="0">
                <a:pos x="connsiteX0" y="connsiteY0"/>
              </a:cxn>
              <a:cxn ang="0">
                <a:pos x="connsiteX1" y="connsiteY1"/>
              </a:cxn>
              <a:cxn ang="0">
                <a:pos x="connsiteX2" y="connsiteY2"/>
              </a:cxn>
              <a:cxn ang="0">
                <a:pos x="connsiteX3" y="connsiteY3"/>
              </a:cxn>
            </a:cxnLst>
            <a:rect l="l" t="t" r="r" b="b"/>
            <a:pathLst>
              <a:path w="2272252" h="365997">
                <a:moveTo>
                  <a:pt x="0" y="365997"/>
                </a:moveTo>
                <a:cubicBezTo>
                  <a:pt x="362909" y="222916"/>
                  <a:pt x="725819" y="79836"/>
                  <a:pt x="1085439" y="23919"/>
                </a:cubicBezTo>
                <a:cubicBezTo>
                  <a:pt x="1445059" y="-31998"/>
                  <a:pt x="1973525" y="27208"/>
                  <a:pt x="2157721" y="30497"/>
                </a:cubicBezTo>
                <a:cubicBezTo>
                  <a:pt x="2341917" y="33786"/>
                  <a:pt x="2266265" y="38720"/>
                  <a:pt x="2190613" y="43654"/>
                </a:cubicBezTo>
              </a:path>
            </a:pathLst>
          </a:custGeom>
          <a:ln>
            <a:solidFill>
              <a:srgbClr val="FF330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sp>
        <p:nvSpPr>
          <p:cNvPr id="20" name="任意多边形 19"/>
          <p:cNvSpPr/>
          <p:nvPr/>
        </p:nvSpPr>
        <p:spPr>
          <a:xfrm rot="20514135" flipV="1">
            <a:off x="2806611" y="5386346"/>
            <a:ext cx="4060122" cy="857543"/>
          </a:xfrm>
          <a:custGeom>
            <a:avLst/>
            <a:gdLst>
              <a:gd name="connsiteX0" fmla="*/ 0 w 2272252"/>
              <a:gd name="connsiteY0" fmla="*/ 365997 h 365997"/>
              <a:gd name="connsiteX1" fmla="*/ 1085439 w 2272252"/>
              <a:gd name="connsiteY1" fmla="*/ 23919 h 365997"/>
              <a:gd name="connsiteX2" fmla="*/ 2157721 w 2272252"/>
              <a:gd name="connsiteY2" fmla="*/ 30497 h 365997"/>
              <a:gd name="connsiteX3" fmla="*/ 2190613 w 2272252"/>
              <a:gd name="connsiteY3" fmla="*/ 43654 h 365997"/>
            </a:gdLst>
            <a:ahLst/>
            <a:cxnLst>
              <a:cxn ang="0">
                <a:pos x="connsiteX0" y="connsiteY0"/>
              </a:cxn>
              <a:cxn ang="0">
                <a:pos x="connsiteX1" y="connsiteY1"/>
              </a:cxn>
              <a:cxn ang="0">
                <a:pos x="connsiteX2" y="connsiteY2"/>
              </a:cxn>
              <a:cxn ang="0">
                <a:pos x="connsiteX3" y="connsiteY3"/>
              </a:cxn>
            </a:cxnLst>
            <a:rect l="l" t="t" r="r" b="b"/>
            <a:pathLst>
              <a:path w="2272252" h="365997">
                <a:moveTo>
                  <a:pt x="0" y="365997"/>
                </a:moveTo>
                <a:cubicBezTo>
                  <a:pt x="362909" y="222916"/>
                  <a:pt x="725819" y="79836"/>
                  <a:pt x="1085439" y="23919"/>
                </a:cubicBezTo>
                <a:cubicBezTo>
                  <a:pt x="1445059" y="-31998"/>
                  <a:pt x="1973525" y="27208"/>
                  <a:pt x="2157721" y="30497"/>
                </a:cubicBezTo>
                <a:cubicBezTo>
                  <a:pt x="2341917" y="33786"/>
                  <a:pt x="2266265" y="38720"/>
                  <a:pt x="2190613" y="43654"/>
                </a:cubicBezTo>
              </a:path>
            </a:pathLst>
          </a:custGeom>
          <a:ln>
            <a:solidFill>
              <a:srgbClr val="FF330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273521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16</a:t>
            </a:fld>
            <a:endParaRPr lang="en-US" altLang="zh-CN">
              <a:solidFill>
                <a:srgbClr val="FFFFFF"/>
              </a:solidFill>
            </a:endParaRPr>
          </a:p>
        </p:txBody>
      </p:sp>
      <p:sp>
        <p:nvSpPr>
          <p:cNvPr id="5" name="文本框 4"/>
          <p:cNvSpPr txBox="1"/>
          <p:nvPr/>
        </p:nvSpPr>
        <p:spPr>
          <a:xfrm>
            <a:off x="203932" y="460858"/>
            <a:ext cx="8755872" cy="5539978"/>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dirty="0" smtClean="0"/>
              <a:t>几种高频放大器</a:t>
            </a:r>
            <a:r>
              <a:rPr lang="zh-CN" altLang="en-US" dirty="0" smtClean="0"/>
              <a:t>的比较</a:t>
            </a:r>
            <a:endParaRPr lang="en-US" altLang="zh-CN" dirty="0" smtClean="0"/>
          </a:p>
          <a:p>
            <a:pPr marL="800100" lvl="1" indent="-342900">
              <a:lnSpc>
                <a:spcPct val="150000"/>
              </a:lnSpc>
              <a:buFont typeface="Wingdings" panose="05000000000000000000" pitchFamily="2" charset="2"/>
              <a:buChar char="n"/>
            </a:pPr>
            <a:r>
              <a:rPr lang="en-US" altLang="zh-CN" sz="1800" dirty="0" smtClean="0"/>
              <a:t>MMIC</a:t>
            </a:r>
            <a:r>
              <a:rPr lang="zh-CN" altLang="en-US" sz="1800" dirty="0" smtClean="0"/>
              <a:t>：高频响应好，增益通常基本固定，</a:t>
            </a:r>
            <a:r>
              <a:rPr lang="zh-CN" altLang="en-US" sz="1800" dirty="0"/>
              <a:t>输入输出电阻</a:t>
            </a:r>
            <a:r>
              <a:rPr lang="zh-CN" altLang="en-US" sz="1800" dirty="0" smtClean="0"/>
              <a:t>通常为</a:t>
            </a:r>
            <a:r>
              <a:rPr lang="en-US" altLang="zh-CN" sz="1800" dirty="0"/>
              <a:t>50</a:t>
            </a:r>
            <a:r>
              <a:rPr lang="zh-CN" altLang="en-US" sz="1800" dirty="0" smtClean="0"/>
              <a:t>欧（随着</a:t>
            </a:r>
            <a:r>
              <a:rPr lang="zh-CN" altLang="en-US" sz="1800" dirty="0"/>
              <a:t>频率的变化上述参数</a:t>
            </a:r>
            <a:r>
              <a:rPr lang="zh-CN" altLang="en-US" sz="1800" dirty="0" smtClean="0"/>
              <a:t>有变化），电路设计与调试最简单</a:t>
            </a:r>
            <a:endParaRPr lang="en-US" altLang="zh-CN" sz="1800" dirty="0" smtClean="0"/>
          </a:p>
          <a:p>
            <a:pPr marL="800100" lvl="1" indent="-342900">
              <a:lnSpc>
                <a:spcPct val="150000"/>
              </a:lnSpc>
              <a:buFont typeface="Arial" panose="020B0604020202020204" pitchFamily="34" charset="0"/>
              <a:buChar char="•"/>
            </a:pPr>
            <a:r>
              <a:rPr lang="zh-CN" altLang="en-US" sz="1800" dirty="0"/>
              <a:t>适用场合：频率范围较大</a:t>
            </a:r>
            <a:r>
              <a:rPr lang="zh-CN" altLang="en-US" sz="1800" dirty="0" smtClean="0"/>
              <a:t>，增益</a:t>
            </a:r>
            <a:r>
              <a:rPr lang="zh-CN" altLang="en-US" sz="1800" dirty="0"/>
              <a:t>、输入输出</a:t>
            </a:r>
            <a:r>
              <a:rPr lang="zh-CN" altLang="en-US" sz="1800" dirty="0" smtClean="0"/>
              <a:t>阻抗等参数大致稳定的放大器（例如无线通信中的射频与中频放大器）</a:t>
            </a:r>
            <a:endParaRPr lang="en-US" altLang="zh-CN" sz="1800" dirty="0"/>
          </a:p>
          <a:p>
            <a:pPr marL="800100" lvl="1" indent="-342900">
              <a:lnSpc>
                <a:spcPct val="150000"/>
              </a:lnSpc>
              <a:buFont typeface="Wingdings" panose="05000000000000000000" pitchFamily="2" charset="2"/>
              <a:buChar char="n"/>
            </a:pPr>
            <a:r>
              <a:rPr lang="zh-CN" altLang="en-US" sz="1800" dirty="0" smtClean="0"/>
              <a:t>运</a:t>
            </a:r>
            <a:r>
              <a:rPr lang="zh-CN" altLang="en-US" sz="1800" dirty="0" smtClean="0"/>
              <a:t>放：增益</a:t>
            </a:r>
            <a:r>
              <a:rPr lang="zh-CN" altLang="en-US" sz="1800" dirty="0" smtClean="0"/>
              <a:t>、输入输出电阻等参数均由外部电阻确定，自由度较大</a:t>
            </a:r>
            <a:r>
              <a:rPr lang="zh-CN" altLang="en-US" sz="1800" dirty="0"/>
              <a:t>，高频频响远不如</a:t>
            </a:r>
            <a:r>
              <a:rPr lang="en-US" altLang="zh-CN" sz="1800" dirty="0"/>
              <a:t>MMIC</a:t>
            </a:r>
            <a:r>
              <a:rPr lang="zh-CN" altLang="en-US" sz="1800" dirty="0"/>
              <a:t>，但低频可以</a:t>
            </a:r>
            <a:r>
              <a:rPr lang="zh-CN" altLang="en-US" sz="1800" dirty="0" smtClean="0"/>
              <a:t>到直流，电路设计与调试较简单</a:t>
            </a:r>
            <a:endParaRPr lang="en-US" altLang="zh-CN" sz="1800" dirty="0"/>
          </a:p>
          <a:p>
            <a:pPr marL="800100" lvl="1" indent="-342900">
              <a:lnSpc>
                <a:spcPct val="150000"/>
              </a:lnSpc>
              <a:buFont typeface="Arial" panose="020B0604020202020204" pitchFamily="34" charset="0"/>
              <a:buChar char="•"/>
            </a:pPr>
            <a:r>
              <a:rPr lang="zh-CN" altLang="en-US" sz="1800" dirty="0" smtClean="0"/>
              <a:t>适用场合：</a:t>
            </a:r>
            <a:r>
              <a:rPr lang="zh-CN" altLang="en-US" sz="1800" dirty="0" smtClean="0"/>
              <a:t>频率不</a:t>
            </a:r>
            <a:r>
              <a:rPr lang="zh-CN" altLang="en-US" sz="1800" dirty="0" smtClean="0"/>
              <a:t>很高，对于增益、输入输出阻抗等参数的</a:t>
            </a:r>
            <a:r>
              <a:rPr lang="zh-CN" altLang="en-US" sz="1800" dirty="0" smtClean="0"/>
              <a:t>稳定性要求</a:t>
            </a:r>
            <a:r>
              <a:rPr lang="zh-CN" altLang="en-US" sz="1800" dirty="0" smtClean="0"/>
              <a:t>较高</a:t>
            </a:r>
            <a:r>
              <a:rPr lang="zh-CN" altLang="en-US" sz="1800" dirty="0" smtClean="0"/>
              <a:t>的放大器（</a:t>
            </a:r>
            <a:r>
              <a:rPr lang="zh-CN" altLang="en-US" sz="1800" dirty="0" smtClean="0"/>
              <a:t>例如频率范围为</a:t>
            </a:r>
            <a:r>
              <a:rPr lang="en-US" altLang="zh-CN" sz="1800" dirty="0" smtClean="0"/>
              <a:t>DC</a:t>
            </a:r>
            <a:r>
              <a:rPr lang="zh-CN" altLang="en-US" sz="1800" dirty="0" smtClean="0"/>
              <a:t>到几百</a:t>
            </a:r>
            <a:r>
              <a:rPr lang="en-US" altLang="zh-CN" sz="1800" dirty="0" smtClean="0"/>
              <a:t>MHz</a:t>
            </a:r>
            <a:r>
              <a:rPr lang="zh-CN" altLang="en-US" sz="1800" dirty="0" smtClean="0"/>
              <a:t>的测量仪器</a:t>
            </a:r>
            <a:r>
              <a:rPr lang="zh-CN" altLang="en-US" sz="1800" dirty="0" smtClean="0"/>
              <a:t>）</a:t>
            </a:r>
            <a:endParaRPr lang="en-US" altLang="zh-CN" sz="1800" dirty="0" smtClean="0"/>
          </a:p>
          <a:p>
            <a:pPr marL="800100" lvl="1" indent="-342900">
              <a:lnSpc>
                <a:spcPct val="150000"/>
              </a:lnSpc>
              <a:buFont typeface="Wingdings" panose="05000000000000000000" pitchFamily="2" charset="2"/>
              <a:buChar char="n"/>
            </a:pPr>
            <a:r>
              <a:rPr lang="zh-CN" altLang="en-US" sz="1800" dirty="0" smtClean="0"/>
              <a:t>晶体管：增益、输入输出阻抗均由外电路确定，频响范围可以较宽，输出功率可以较大，电路设计与调试复杂</a:t>
            </a:r>
            <a:endParaRPr lang="en-US" altLang="zh-CN" sz="1800" dirty="0" smtClean="0"/>
          </a:p>
          <a:p>
            <a:pPr marL="800100" lvl="1" indent="-342900">
              <a:lnSpc>
                <a:spcPct val="150000"/>
              </a:lnSpc>
              <a:buFont typeface="Arial" panose="020B0604020202020204" pitchFamily="34" charset="0"/>
              <a:buChar char="•"/>
            </a:pPr>
            <a:r>
              <a:rPr lang="zh-CN" altLang="en-US" sz="1800" dirty="0" smtClean="0"/>
              <a:t>适用场合：小信号谐振放大器（例如中频放大器）、大功率高频放大器</a:t>
            </a:r>
            <a:endParaRPr lang="en-US" altLang="zh-CN" sz="1800" dirty="0"/>
          </a:p>
          <a:p>
            <a:pPr marL="800100" lvl="1" indent="-342900">
              <a:lnSpc>
                <a:spcPct val="150000"/>
              </a:lnSpc>
              <a:buFont typeface="Wingdings" panose="05000000000000000000" pitchFamily="2" charset="2"/>
              <a:buChar char="n"/>
            </a:pPr>
            <a:r>
              <a:rPr lang="zh-CN" altLang="en-US" sz="1800" dirty="0" smtClean="0"/>
              <a:t>对于竞赛学生的建议：尽可能采用</a:t>
            </a:r>
            <a:r>
              <a:rPr lang="en-US" altLang="zh-CN" sz="1800" dirty="0" smtClean="0"/>
              <a:t>MMIC</a:t>
            </a:r>
            <a:r>
              <a:rPr lang="zh-CN" altLang="en-US" sz="1800" dirty="0" smtClean="0"/>
              <a:t>与运放</a:t>
            </a:r>
            <a:endParaRPr lang="en-US" altLang="zh-CN" sz="1800" dirty="0" smtClean="0"/>
          </a:p>
        </p:txBody>
      </p:sp>
    </p:spTree>
    <p:extLst>
      <p:ext uri="{BB962C8B-B14F-4D97-AF65-F5344CB8AC3E}">
        <p14:creationId xmlns:p14="http://schemas.microsoft.com/office/powerpoint/2010/main" val="5409473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17</a:t>
            </a:fld>
            <a:endParaRPr lang="en-US" altLang="zh-CN">
              <a:solidFill>
                <a:srgbClr val="FFFFFF"/>
              </a:solidFill>
            </a:endParaRPr>
          </a:p>
        </p:txBody>
      </p:sp>
      <p:sp>
        <p:nvSpPr>
          <p:cNvPr id="5" name="文本框 4"/>
          <p:cNvSpPr txBox="1"/>
          <p:nvPr/>
        </p:nvSpPr>
        <p:spPr>
          <a:xfrm>
            <a:off x="299924" y="314553"/>
            <a:ext cx="8566264" cy="6030754"/>
          </a:xfrm>
          <a:prstGeom prst="rect">
            <a:avLst/>
          </a:prstGeom>
          <a:noFill/>
        </p:spPr>
        <p:txBody>
          <a:bodyPr wrap="square" rtlCol="0">
            <a:spAutoFit/>
          </a:bodyPr>
          <a:lstStyle/>
          <a:p>
            <a:pPr>
              <a:lnSpc>
                <a:spcPct val="135000"/>
              </a:lnSpc>
            </a:pPr>
            <a:r>
              <a:rPr lang="zh-CN" altLang="en-US" sz="2800" dirty="0" smtClean="0">
                <a:solidFill>
                  <a:srgbClr val="FF0000"/>
                </a:solidFill>
                <a:latin typeface="隶书" panose="02010509060101010101" pitchFamily="49" charset="-122"/>
                <a:ea typeface="隶书" panose="02010509060101010101" pitchFamily="49" charset="-122"/>
              </a:rPr>
              <a:t>高频放大器中的选频网络</a:t>
            </a:r>
            <a:endParaRPr lang="en-US" altLang="zh-CN" sz="2800" dirty="0" smtClean="0">
              <a:solidFill>
                <a:srgbClr val="FF0000"/>
              </a:solidFill>
              <a:latin typeface="隶书" panose="02010509060101010101" pitchFamily="49" charset="-122"/>
              <a:ea typeface="隶书" panose="02010509060101010101" pitchFamily="49" charset="-122"/>
            </a:endParaRPr>
          </a:p>
          <a:p>
            <a:pPr marL="342900" indent="-342900">
              <a:lnSpc>
                <a:spcPct val="135000"/>
              </a:lnSpc>
              <a:buFont typeface="Wingdings" panose="05000000000000000000" pitchFamily="2" charset="2"/>
              <a:buChar char="Ø"/>
            </a:pPr>
            <a:r>
              <a:rPr lang="zh-CN" altLang="en-US" dirty="0" smtClean="0"/>
              <a:t>固体谐振器</a:t>
            </a:r>
            <a:endParaRPr lang="en-US" altLang="zh-CN" dirty="0" smtClean="0"/>
          </a:p>
          <a:p>
            <a:pPr lvl="1">
              <a:lnSpc>
                <a:spcPct val="135000"/>
              </a:lnSpc>
            </a:pPr>
            <a:r>
              <a:rPr lang="zh-CN" altLang="en-US" dirty="0" smtClean="0"/>
              <a:t>石英谐振器、陶瓷滤波器、声表面波滤波器</a:t>
            </a:r>
            <a:endParaRPr lang="en-US" altLang="zh-CN" dirty="0" smtClean="0"/>
          </a:p>
          <a:p>
            <a:pPr lvl="1">
              <a:lnSpc>
                <a:spcPct val="135000"/>
              </a:lnSpc>
            </a:pPr>
            <a:r>
              <a:rPr lang="zh-CN" altLang="en-US" dirty="0" smtClean="0"/>
              <a:t>适用于固定频率的选频放大器，频率精度和稳定度高</a:t>
            </a:r>
            <a:endParaRPr lang="en-US" altLang="zh-CN" dirty="0" smtClean="0"/>
          </a:p>
          <a:p>
            <a:pPr lvl="1">
              <a:lnSpc>
                <a:spcPct val="135000"/>
              </a:lnSpc>
            </a:pPr>
            <a:r>
              <a:rPr lang="zh-CN" altLang="en-US" dirty="0" smtClean="0"/>
              <a:t>只能选用已有的商品滤波器，频率选择受限</a:t>
            </a:r>
            <a:endParaRPr lang="en-US" altLang="zh-CN" dirty="0" smtClean="0"/>
          </a:p>
          <a:p>
            <a:pPr marL="342900" indent="-342900">
              <a:lnSpc>
                <a:spcPct val="135000"/>
              </a:lnSpc>
              <a:buFont typeface="Wingdings" panose="05000000000000000000" pitchFamily="2" charset="2"/>
              <a:buChar char="Ø"/>
            </a:pPr>
            <a:r>
              <a:rPr lang="en-US" altLang="zh-CN" dirty="0" smtClean="0"/>
              <a:t>LC</a:t>
            </a:r>
            <a:r>
              <a:rPr lang="zh-CN" altLang="en-US" dirty="0" smtClean="0"/>
              <a:t>网络</a:t>
            </a:r>
            <a:endParaRPr lang="en-US" altLang="zh-CN" dirty="0" smtClean="0"/>
          </a:p>
          <a:p>
            <a:pPr lvl="1">
              <a:lnSpc>
                <a:spcPct val="135000"/>
              </a:lnSpc>
            </a:pPr>
            <a:r>
              <a:rPr lang="en-US" altLang="zh-CN" dirty="0" smtClean="0"/>
              <a:t>LC</a:t>
            </a:r>
            <a:r>
              <a:rPr lang="zh-CN" altLang="en-US" dirty="0" smtClean="0"/>
              <a:t>谐振回路、</a:t>
            </a:r>
            <a:r>
              <a:rPr lang="en-US" altLang="zh-CN" dirty="0" smtClean="0"/>
              <a:t>LC</a:t>
            </a:r>
            <a:r>
              <a:rPr lang="zh-CN" altLang="en-US" dirty="0" smtClean="0"/>
              <a:t>滤波器等</a:t>
            </a:r>
            <a:endParaRPr lang="zh-CN" altLang="en-US" dirty="0"/>
          </a:p>
          <a:p>
            <a:pPr lvl="1">
              <a:lnSpc>
                <a:spcPct val="135000"/>
              </a:lnSpc>
            </a:pPr>
            <a:r>
              <a:rPr lang="zh-CN" altLang="en-US" dirty="0" smtClean="0"/>
              <a:t>既可用于固定频率的选频放大器，也可</a:t>
            </a:r>
            <a:r>
              <a:rPr lang="zh-CN" altLang="en-US" dirty="0"/>
              <a:t>用于可调频</a:t>
            </a:r>
            <a:r>
              <a:rPr lang="zh-CN" altLang="en-US" dirty="0" smtClean="0"/>
              <a:t>率的选频放大器</a:t>
            </a:r>
            <a:endParaRPr lang="en-US" altLang="zh-CN" dirty="0" smtClean="0"/>
          </a:p>
          <a:p>
            <a:pPr lvl="1">
              <a:lnSpc>
                <a:spcPct val="135000"/>
              </a:lnSpc>
            </a:pPr>
            <a:r>
              <a:rPr lang="zh-CN" altLang="en-US" dirty="0" smtClean="0"/>
              <a:t>除了</a:t>
            </a:r>
            <a:r>
              <a:rPr lang="zh-CN" altLang="en-US" dirty="0"/>
              <a:t>作为选频网络，还可用于阻抗</a:t>
            </a:r>
            <a:r>
              <a:rPr lang="zh-CN" altLang="en-US" dirty="0" smtClean="0"/>
              <a:t>变换</a:t>
            </a:r>
            <a:endParaRPr lang="en-US" altLang="zh-CN" dirty="0" smtClean="0"/>
          </a:p>
          <a:p>
            <a:pPr lvl="1">
              <a:lnSpc>
                <a:spcPct val="135000"/>
              </a:lnSpc>
            </a:pPr>
            <a:r>
              <a:rPr lang="zh-CN" altLang="en-US" dirty="0" smtClean="0"/>
              <a:t>可以自由确定工作频率，但频率精度和稳定度不如固体谐振器</a:t>
            </a:r>
            <a:endParaRPr lang="en-US" altLang="zh-CN" dirty="0" smtClean="0"/>
          </a:p>
          <a:p>
            <a:pPr marL="342900" indent="-342900">
              <a:lnSpc>
                <a:spcPct val="135000"/>
              </a:lnSpc>
              <a:buFont typeface="Wingdings" panose="05000000000000000000" pitchFamily="2" charset="2"/>
              <a:buChar char="Ø"/>
            </a:pPr>
            <a:r>
              <a:rPr lang="zh-CN" altLang="en-US" dirty="0" smtClean="0"/>
              <a:t>微带</a:t>
            </a:r>
            <a:r>
              <a:rPr lang="zh-CN" altLang="en-US" dirty="0"/>
              <a:t>网络</a:t>
            </a:r>
            <a:endParaRPr lang="en-US" altLang="zh-CN" dirty="0" smtClean="0"/>
          </a:p>
          <a:p>
            <a:pPr lvl="1">
              <a:lnSpc>
                <a:spcPct val="135000"/>
              </a:lnSpc>
            </a:pPr>
            <a:r>
              <a:rPr lang="zh-CN" altLang="en-US" dirty="0" smtClean="0"/>
              <a:t>适用于频率很高（通常在</a:t>
            </a:r>
            <a:r>
              <a:rPr lang="en-US" altLang="zh-CN" dirty="0" smtClean="0"/>
              <a:t>GHz</a:t>
            </a:r>
            <a:r>
              <a:rPr lang="zh-CN" altLang="en-US" dirty="0" smtClean="0"/>
              <a:t>范围）的选频放大器</a:t>
            </a:r>
            <a:endParaRPr lang="en-US" altLang="zh-CN" dirty="0" smtClean="0"/>
          </a:p>
          <a:p>
            <a:pPr lvl="1">
              <a:lnSpc>
                <a:spcPct val="135000"/>
              </a:lnSpc>
            </a:pPr>
            <a:r>
              <a:rPr lang="zh-CN" altLang="en-US" dirty="0"/>
              <a:t>除了作为选频网络，还可用于阻抗</a:t>
            </a:r>
            <a:r>
              <a:rPr lang="zh-CN" altLang="en-US" dirty="0" smtClean="0"/>
              <a:t>变换</a:t>
            </a:r>
            <a:endParaRPr lang="en-US" altLang="zh-CN" dirty="0" smtClean="0"/>
          </a:p>
          <a:p>
            <a:pPr lvl="1">
              <a:lnSpc>
                <a:spcPct val="135000"/>
              </a:lnSpc>
            </a:pPr>
            <a:r>
              <a:rPr lang="zh-CN" altLang="en-US" dirty="0" smtClean="0"/>
              <a:t>通常需要计算机辅助设计软件的支持</a:t>
            </a:r>
            <a:endParaRPr lang="zh-CN" altLang="en-US" dirty="0"/>
          </a:p>
        </p:txBody>
      </p:sp>
    </p:spTree>
    <p:extLst>
      <p:ext uri="{BB962C8B-B14F-4D97-AF65-F5344CB8AC3E}">
        <p14:creationId xmlns:p14="http://schemas.microsoft.com/office/powerpoint/2010/main" val="35675249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18</a:t>
            </a:fld>
            <a:endParaRPr lang="en-US" altLang="zh-CN">
              <a:solidFill>
                <a:srgbClr val="FFFFFF"/>
              </a:solidFill>
            </a:endParaRPr>
          </a:p>
        </p:txBody>
      </p:sp>
      <p:sp>
        <p:nvSpPr>
          <p:cNvPr id="5" name="文本框 4"/>
          <p:cNvSpPr txBox="1"/>
          <p:nvPr/>
        </p:nvSpPr>
        <p:spPr>
          <a:xfrm>
            <a:off x="314555" y="380390"/>
            <a:ext cx="8449056" cy="609397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dirty="0" smtClean="0"/>
              <a:t>LC</a:t>
            </a:r>
            <a:r>
              <a:rPr lang="zh-CN" altLang="en-US" dirty="0" smtClean="0"/>
              <a:t>滤波器设计</a:t>
            </a:r>
            <a:endParaRPr lang="en-US" altLang="zh-CN" dirty="0" smtClean="0"/>
          </a:p>
          <a:p>
            <a:pPr marL="342900" indent="-342900">
              <a:lnSpc>
                <a:spcPct val="150000"/>
              </a:lnSpc>
              <a:buFont typeface="Arial" panose="020B0604020202020204" pitchFamily="34" charset="0"/>
              <a:buChar char="•"/>
            </a:pPr>
            <a:r>
              <a:rPr lang="en-US" altLang="zh-CN" dirty="0" smtClean="0"/>
              <a:t>LC</a:t>
            </a:r>
            <a:r>
              <a:rPr lang="zh-CN" altLang="en-US" dirty="0" smtClean="0"/>
              <a:t>滤波器的大致设计过程如下：</a:t>
            </a:r>
            <a:endParaRPr lang="en-US" altLang="zh-CN" dirty="0" smtClean="0"/>
          </a:p>
          <a:p>
            <a:pPr marL="914400" lvl="1" indent="-457200">
              <a:lnSpc>
                <a:spcPct val="150000"/>
              </a:lnSpc>
              <a:buFont typeface="+mj-lt"/>
              <a:buAutoNum type="arabicPeriod"/>
            </a:pPr>
            <a:r>
              <a:rPr lang="zh-CN" altLang="en-US" dirty="0" smtClean="0"/>
              <a:t>根据需要的频率特性，确定滤波器的类型（巴特沃斯型、切比雪夫型、椭圆型；低通、高通、带通）和阶数（可以通过公式计算，也可参考培训教材</a:t>
            </a:r>
            <a:r>
              <a:rPr lang="en-US" altLang="zh-CN" dirty="0" smtClean="0"/>
              <a:t>《</a:t>
            </a:r>
            <a:r>
              <a:rPr lang="zh-CN" altLang="en-US" dirty="0" smtClean="0"/>
              <a:t>有源滤波器</a:t>
            </a:r>
            <a:r>
              <a:rPr lang="en-US" altLang="zh-CN" dirty="0" smtClean="0"/>
              <a:t>》</a:t>
            </a:r>
            <a:r>
              <a:rPr lang="zh-CN" altLang="en-US" dirty="0" smtClean="0"/>
              <a:t>中确定阶数的图表查表得到）</a:t>
            </a:r>
            <a:endParaRPr lang="en-US" altLang="zh-CN" dirty="0" smtClean="0"/>
          </a:p>
          <a:p>
            <a:pPr marL="914400" lvl="1" indent="-457200">
              <a:lnSpc>
                <a:spcPct val="150000"/>
              </a:lnSpc>
              <a:buFont typeface="+mj-lt"/>
              <a:buAutoNum type="arabicPeriod"/>
            </a:pPr>
            <a:r>
              <a:rPr lang="zh-CN" altLang="en-US" dirty="0" smtClean="0"/>
              <a:t>根据滤波器的类型和阶数，通过查表得到滤波器电容与电感的归一化参数；再根据源阻抗和负载阻抗值以及实际的截止频率</a:t>
            </a:r>
            <a:r>
              <a:rPr lang="zh-CN" altLang="en-US" dirty="0"/>
              <a:t>，</a:t>
            </a:r>
            <a:r>
              <a:rPr lang="zh-CN" altLang="en-US" dirty="0" smtClean="0"/>
              <a:t>计算得到实际的滤波器电容与电感值</a:t>
            </a:r>
            <a:r>
              <a:rPr lang="zh-CN" altLang="en-US" dirty="0"/>
              <a:t>（反</a:t>
            </a:r>
            <a:r>
              <a:rPr lang="zh-CN" altLang="en-US" dirty="0" smtClean="0"/>
              <a:t>归一化，具体计算方法参见培训</a:t>
            </a:r>
            <a:r>
              <a:rPr lang="zh-CN" altLang="en-US" dirty="0"/>
              <a:t>教材</a:t>
            </a:r>
            <a:r>
              <a:rPr lang="en-US" altLang="zh-CN" dirty="0"/>
              <a:t>《</a:t>
            </a:r>
            <a:r>
              <a:rPr lang="en-US" altLang="zh-CN" dirty="0">
                <a:solidFill>
                  <a:srgbClr val="FF0000"/>
                </a:solidFill>
              </a:rPr>
              <a:t>LC</a:t>
            </a:r>
            <a:r>
              <a:rPr lang="zh-CN" altLang="en-US" dirty="0">
                <a:solidFill>
                  <a:srgbClr val="FF0000"/>
                </a:solidFill>
              </a:rPr>
              <a:t>滤波器快速设计</a:t>
            </a:r>
            <a:r>
              <a:rPr lang="en-US" altLang="zh-CN" dirty="0" smtClean="0"/>
              <a:t>》</a:t>
            </a:r>
            <a:r>
              <a:rPr lang="zh-CN" altLang="en-US" dirty="0" smtClean="0"/>
              <a:t>）</a:t>
            </a:r>
            <a:endParaRPr lang="en-US" altLang="zh-CN" dirty="0" smtClean="0"/>
          </a:p>
          <a:p>
            <a:pPr marL="914400" lvl="1" indent="-457200">
              <a:lnSpc>
                <a:spcPct val="150000"/>
              </a:lnSpc>
              <a:buFont typeface="+mj-lt"/>
              <a:buAutoNum type="arabicPeriod"/>
            </a:pPr>
            <a:r>
              <a:rPr lang="zh-CN" altLang="en-US" dirty="0"/>
              <a:t>也</a:t>
            </a:r>
            <a:r>
              <a:rPr lang="zh-CN" altLang="en-US" dirty="0" smtClean="0"/>
              <a:t>可通过计算机辅助设计软件得到实际的</a:t>
            </a:r>
            <a:r>
              <a:rPr lang="zh-CN" altLang="en-US" dirty="0"/>
              <a:t>滤波器电容与电感</a:t>
            </a:r>
            <a:r>
              <a:rPr lang="zh-CN" altLang="en-US" dirty="0" smtClean="0"/>
              <a:t>值</a:t>
            </a:r>
            <a:endParaRPr lang="en-US" altLang="zh-CN" dirty="0" smtClean="0"/>
          </a:p>
          <a:p>
            <a:pPr marL="342900" indent="-342900">
              <a:lnSpc>
                <a:spcPct val="150000"/>
              </a:lnSpc>
              <a:buFont typeface="Arial" panose="020B0604020202020204" pitchFamily="34" charset="0"/>
              <a:buChar char="•"/>
            </a:pPr>
            <a:r>
              <a:rPr lang="zh-CN" altLang="en-US" dirty="0"/>
              <a:t>培训教材</a:t>
            </a:r>
            <a:r>
              <a:rPr lang="en-US" altLang="zh-CN" dirty="0"/>
              <a:t>《LC</a:t>
            </a:r>
            <a:r>
              <a:rPr lang="zh-CN" altLang="en-US" dirty="0"/>
              <a:t>滤波器快速设计</a:t>
            </a:r>
            <a:r>
              <a:rPr lang="en-US" altLang="zh-CN" dirty="0" smtClean="0"/>
              <a:t>》</a:t>
            </a:r>
            <a:r>
              <a:rPr lang="zh-CN" altLang="en-US" dirty="0" smtClean="0"/>
              <a:t>中包含了</a:t>
            </a:r>
            <a:r>
              <a:rPr lang="en-US" altLang="zh-CN" dirty="0" smtClean="0"/>
              <a:t>2~7</a:t>
            </a:r>
            <a:r>
              <a:rPr lang="zh-CN" altLang="en-US" dirty="0" smtClean="0"/>
              <a:t>阶巴特沃斯型和切比雪夫型低通、高通、带通滤波器，以及</a:t>
            </a:r>
            <a:r>
              <a:rPr lang="en-US" altLang="zh-CN" dirty="0" smtClean="0"/>
              <a:t>5~9</a:t>
            </a:r>
            <a:r>
              <a:rPr lang="zh-CN" altLang="en-US" dirty="0" smtClean="0"/>
              <a:t>阶椭圆型低通滤波器的具体设计方法和例子</a:t>
            </a:r>
            <a:endParaRPr lang="zh-CN" altLang="en-US" dirty="0"/>
          </a:p>
        </p:txBody>
      </p:sp>
    </p:spTree>
    <p:extLst>
      <p:ext uri="{BB962C8B-B14F-4D97-AF65-F5344CB8AC3E}">
        <p14:creationId xmlns:p14="http://schemas.microsoft.com/office/powerpoint/2010/main" val="2454566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19</a:t>
            </a:fld>
            <a:endParaRPr lang="en-US" altLang="zh-CN">
              <a:solidFill>
                <a:srgbClr val="FFFFFF"/>
              </a:solidFill>
            </a:endParaRPr>
          </a:p>
        </p:txBody>
      </p:sp>
      <p:sp>
        <p:nvSpPr>
          <p:cNvPr id="5" name="文本框 4"/>
          <p:cNvSpPr txBox="1"/>
          <p:nvPr/>
        </p:nvSpPr>
        <p:spPr>
          <a:xfrm>
            <a:off x="358444" y="380390"/>
            <a:ext cx="8507743" cy="4772717"/>
          </a:xfrm>
          <a:prstGeom prst="rect">
            <a:avLst/>
          </a:prstGeom>
          <a:noFill/>
        </p:spPr>
        <p:txBody>
          <a:bodyPr wrap="square" rtlCol="0">
            <a:spAutoFit/>
          </a:bodyPr>
          <a:lstStyle/>
          <a:p>
            <a:pPr>
              <a:lnSpc>
                <a:spcPct val="135000"/>
              </a:lnSpc>
            </a:pPr>
            <a:r>
              <a:rPr lang="zh-CN" altLang="en-US" sz="2800" dirty="0">
                <a:solidFill>
                  <a:srgbClr val="FF0000"/>
                </a:solidFill>
                <a:latin typeface="隶书" panose="02010509060101010101" pitchFamily="49" charset="-122"/>
                <a:ea typeface="隶书" panose="02010509060101010101" pitchFamily="49" charset="-122"/>
              </a:rPr>
              <a:t>一个高频放大器的设计例子</a:t>
            </a:r>
            <a:endParaRPr lang="en-US" altLang="zh-CN" sz="2800" dirty="0">
              <a:solidFill>
                <a:srgbClr val="FF0000"/>
              </a:solidFill>
              <a:latin typeface="隶书" panose="02010509060101010101" pitchFamily="49" charset="-122"/>
              <a:ea typeface="隶书" panose="02010509060101010101" pitchFamily="49" charset="-122"/>
            </a:endParaRPr>
          </a:p>
          <a:p>
            <a:pPr>
              <a:lnSpc>
                <a:spcPct val="150000"/>
              </a:lnSpc>
            </a:pPr>
            <a:r>
              <a:rPr lang="en-US" altLang="zh-CN" dirty="0"/>
              <a:t>2015</a:t>
            </a:r>
            <a:r>
              <a:rPr lang="zh-CN" altLang="zh-CN" dirty="0"/>
              <a:t>年全国赛</a:t>
            </a:r>
            <a:r>
              <a:rPr lang="en-US" altLang="zh-CN" dirty="0"/>
              <a:t>D</a:t>
            </a:r>
            <a:r>
              <a:rPr lang="zh-CN" altLang="zh-CN" dirty="0"/>
              <a:t>题  增益可控射频放大器</a:t>
            </a:r>
            <a:endParaRPr lang="en-US" altLang="zh-CN" dirty="0"/>
          </a:p>
          <a:p>
            <a:pPr lvl="1">
              <a:lnSpc>
                <a:spcPct val="150000"/>
              </a:lnSpc>
            </a:pPr>
            <a:r>
              <a:rPr lang="zh-CN" altLang="en-US" dirty="0" smtClean="0"/>
              <a:t>主要设计指标：</a:t>
            </a:r>
            <a:endParaRPr lang="en-US" altLang="zh-CN" dirty="0" smtClean="0"/>
          </a:p>
          <a:p>
            <a:pPr marL="800100" lvl="1" indent="-342900">
              <a:lnSpc>
                <a:spcPct val="150000"/>
              </a:lnSpc>
              <a:buFont typeface="Arial" panose="020B0604020202020204" pitchFamily="34" charset="0"/>
              <a:buChar char="•"/>
            </a:pPr>
            <a:r>
              <a:rPr lang="en-US" altLang="zh-CN" dirty="0" smtClean="0"/>
              <a:t>-</a:t>
            </a:r>
            <a:r>
              <a:rPr lang="en-US" altLang="zh-CN" dirty="0" smtClean="0"/>
              <a:t>3dB</a:t>
            </a:r>
            <a:r>
              <a:rPr lang="zh-CN" altLang="zh-CN" dirty="0" smtClean="0"/>
              <a:t>通</a:t>
            </a:r>
            <a:r>
              <a:rPr lang="zh-CN" altLang="zh-CN" dirty="0"/>
              <a:t>频带不窄于</a:t>
            </a:r>
            <a:r>
              <a:rPr lang="en-US" altLang="zh-CN" dirty="0"/>
              <a:t>40MHz</a:t>
            </a:r>
            <a:r>
              <a:rPr lang="zh-CN" altLang="zh-CN" dirty="0"/>
              <a:t>～</a:t>
            </a:r>
            <a:r>
              <a:rPr lang="en-US" altLang="zh-CN" dirty="0" smtClean="0"/>
              <a:t>200MHz</a:t>
            </a:r>
            <a:r>
              <a:rPr lang="zh-CN" altLang="en-US" dirty="0" smtClean="0"/>
              <a:t>，</a:t>
            </a:r>
            <a:r>
              <a:rPr lang="zh-CN" altLang="zh-CN" dirty="0" smtClean="0"/>
              <a:t>在</a:t>
            </a:r>
            <a:r>
              <a:rPr lang="en-US" altLang="zh-CN" dirty="0"/>
              <a:t>50MHz</a:t>
            </a:r>
            <a:r>
              <a:rPr lang="zh-CN" altLang="zh-CN" dirty="0"/>
              <a:t>～</a:t>
            </a:r>
            <a:r>
              <a:rPr lang="en-US" altLang="zh-CN" dirty="0"/>
              <a:t>160MHz </a:t>
            </a:r>
            <a:r>
              <a:rPr lang="zh-CN" altLang="zh-CN" dirty="0"/>
              <a:t>频率范围内增益波动不大于</a:t>
            </a:r>
            <a:r>
              <a:rPr lang="en-US" altLang="zh-CN" dirty="0"/>
              <a:t>2dB</a:t>
            </a:r>
            <a:r>
              <a:rPr lang="zh-CN" altLang="zh-CN" dirty="0"/>
              <a:t>，在</a:t>
            </a:r>
            <a:r>
              <a:rPr lang="en-US" altLang="zh-CN" dirty="0"/>
              <a:t>20MHz</a:t>
            </a:r>
            <a:r>
              <a:rPr lang="zh-CN" altLang="zh-CN" dirty="0"/>
              <a:t>与</a:t>
            </a:r>
            <a:r>
              <a:rPr lang="en-US" altLang="zh-CN" dirty="0"/>
              <a:t>270MHz</a:t>
            </a:r>
            <a:r>
              <a:rPr lang="zh-CN" altLang="zh-CN" dirty="0"/>
              <a:t>要求衰减</a:t>
            </a:r>
            <a:r>
              <a:rPr lang="en-US" altLang="zh-CN" dirty="0"/>
              <a:t>32dB</a:t>
            </a:r>
            <a:r>
              <a:rPr lang="zh-CN" altLang="zh-CN" dirty="0"/>
              <a:t>以上</a:t>
            </a:r>
          </a:p>
          <a:p>
            <a:pPr marL="800100" lvl="1" indent="-342900">
              <a:lnSpc>
                <a:spcPct val="150000"/>
              </a:lnSpc>
              <a:buFont typeface="Arial" panose="020B0604020202020204" pitchFamily="34" charset="0"/>
              <a:buChar char="•"/>
            </a:pPr>
            <a:r>
              <a:rPr lang="zh-CN" altLang="zh-CN" dirty="0"/>
              <a:t>电压增益</a:t>
            </a:r>
            <a:r>
              <a:rPr lang="en-US" altLang="zh-CN" i="1" dirty="0"/>
              <a:t>A</a:t>
            </a:r>
            <a:r>
              <a:rPr lang="en-US" altLang="zh-CN" i="1" baseline="-25000" dirty="0"/>
              <a:t>V</a:t>
            </a:r>
            <a:r>
              <a:rPr lang="zh-CN" altLang="zh-CN" dirty="0"/>
              <a:t>≥</a:t>
            </a:r>
            <a:r>
              <a:rPr lang="en-US" altLang="zh-CN" dirty="0"/>
              <a:t>52dB</a:t>
            </a:r>
          </a:p>
          <a:p>
            <a:pPr marL="800100" lvl="1" indent="-342900">
              <a:lnSpc>
                <a:spcPct val="150000"/>
              </a:lnSpc>
              <a:buFont typeface="Arial" panose="020B0604020202020204" pitchFamily="34" charset="0"/>
              <a:buChar char="•"/>
            </a:pPr>
            <a:r>
              <a:rPr lang="zh-CN" altLang="zh-CN" dirty="0"/>
              <a:t>输入阻抗、 输出阻抗均为</a:t>
            </a:r>
            <a:r>
              <a:rPr lang="en-US" altLang="zh-CN" dirty="0"/>
              <a:t>50Ω</a:t>
            </a:r>
            <a:r>
              <a:rPr lang="zh-CN" altLang="zh-CN" dirty="0"/>
              <a:t>，负载电阻</a:t>
            </a:r>
            <a:r>
              <a:rPr lang="en-US" altLang="zh-CN" dirty="0"/>
              <a:t>50Ω</a:t>
            </a:r>
          </a:p>
          <a:p>
            <a:pPr marL="800100" lvl="1" indent="-342900">
              <a:lnSpc>
                <a:spcPct val="150000"/>
              </a:lnSpc>
              <a:buFont typeface="Arial" panose="020B0604020202020204" pitchFamily="34" charset="0"/>
              <a:buChar char="•"/>
            </a:pPr>
            <a:r>
              <a:rPr lang="zh-CN" altLang="zh-CN" dirty="0"/>
              <a:t>输入电压有效值</a:t>
            </a:r>
            <a:r>
              <a:rPr lang="en-US" altLang="zh-CN" i="1" dirty="0"/>
              <a:t>V</a:t>
            </a:r>
            <a:r>
              <a:rPr lang="en-US" altLang="zh-CN" i="1" baseline="-25000" dirty="0"/>
              <a:t>i</a:t>
            </a:r>
            <a:r>
              <a:rPr lang="zh-CN" altLang="zh-CN" dirty="0"/>
              <a:t>≤</a:t>
            </a:r>
            <a:r>
              <a:rPr lang="en-US" altLang="zh-CN" dirty="0"/>
              <a:t>5mV</a:t>
            </a:r>
            <a:r>
              <a:rPr lang="zh-CN" altLang="zh-CN" dirty="0"/>
              <a:t>，输出电压有效值 </a:t>
            </a:r>
            <a:r>
              <a:rPr lang="en-US" altLang="zh-CN" i="1" dirty="0"/>
              <a:t>V</a:t>
            </a:r>
            <a:r>
              <a:rPr lang="en-US" altLang="zh-CN" i="1" baseline="-25000" dirty="0"/>
              <a:t>o</a:t>
            </a:r>
            <a:r>
              <a:rPr lang="zh-CN" altLang="zh-CN" dirty="0"/>
              <a:t>≥</a:t>
            </a:r>
            <a:r>
              <a:rPr lang="en-US" altLang="zh-CN" dirty="0"/>
              <a:t>2V</a:t>
            </a:r>
            <a:r>
              <a:rPr lang="zh-CN" altLang="zh-CN" dirty="0"/>
              <a:t>，波形无明显失真 </a:t>
            </a:r>
          </a:p>
          <a:p>
            <a:pPr marL="800100" lvl="1" indent="-342900">
              <a:lnSpc>
                <a:spcPct val="150000"/>
              </a:lnSpc>
              <a:buFont typeface="Arial" panose="020B0604020202020204" pitchFamily="34" charset="0"/>
              <a:buChar char="•"/>
            </a:pPr>
            <a:r>
              <a:rPr lang="zh-CN" altLang="zh-CN" dirty="0" smtClean="0"/>
              <a:t>增益步进控制，范围为</a:t>
            </a:r>
            <a:r>
              <a:rPr lang="en-US" altLang="zh-CN" dirty="0" smtClean="0"/>
              <a:t> 12dB</a:t>
            </a:r>
            <a:r>
              <a:rPr lang="zh-CN" altLang="zh-CN" dirty="0" smtClean="0"/>
              <a:t>～</a:t>
            </a:r>
            <a:r>
              <a:rPr lang="en-US" altLang="zh-CN" dirty="0" smtClean="0"/>
              <a:t>52dB</a:t>
            </a:r>
            <a:r>
              <a:rPr lang="zh-CN" altLang="zh-CN" dirty="0" smtClean="0"/>
              <a:t>，步长为</a:t>
            </a:r>
            <a:r>
              <a:rPr lang="en-US" altLang="zh-CN" dirty="0" smtClean="0"/>
              <a:t> </a:t>
            </a:r>
            <a:r>
              <a:rPr lang="en-US" altLang="zh-CN" dirty="0" smtClean="0"/>
              <a:t>4dB</a:t>
            </a:r>
            <a:r>
              <a:rPr lang="zh-CN" altLang="en-US" dirty="0" smtClean="0"/>
              <a:t>，</a:t>
            </a:r>
            <a:r>
              <a:rPr lang="zh-CN" altLang="zh-CN" dirty="0" smtClean="0"/>
              <a:t>增益</a:t>
            </a:r>
            <a:r>
              <a:rPr lang="zh-CN" altLang="zh-CN" dirty="0" smtClean="0"/>
              <a:t>绝对误差不大于</a:t>
            </a:r>
            <a:r>
              <a:rPr lang="en-US" altLang="zh-CN" dirty="0" smtClean="0"/>
              <a:t>2dB</a:t>
            </a:r>
            <a:r>
              <a:rPr lang="zh-CN" altLang="zh-CN" dirty="0" smtClean="0"/>
              <a:t>，并能显示设定的</a:t>
            </a:r>
            <a:r>
              <a:rPr lang="zh-CN" altLang="zh-CN" dirty="0" smtClean="0"/>
              <a:t>增益值</a:t>
            </a:r>
            <a:endParaRPr lang="zh-CN" altLang="zh-CN" dirty="0"/>
          </a:p>
        </p:txBody>
      </p:sp>
    </p:spTree>
    <p:extLst>
      <p:ext uri="{BB962C8B-B14F-4D97-AF65-F5344CB8AC3E}">
        <p14:creationId xmlns:p14="http://schemas.microsoft.com/office/powerpoint/2010/main" val="15856437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20</a:t>
            </a:fld>
            <a:endParaRPr lang="en-US" altLang="zh-CN">
              <a:solidFill>
                <a:srgbClr val="FFFFFF"/>
              </a:solidFill>
            </a:endParaRPr>
          </a:p>
        </p:txBody>
      </p:sp>
      <p:sp>
        <p:nvSpPr>
          <p:cNvPr id="5" name="文本框 4"/>
          <p:cNvSpPr txBox="1"/>
          <p:nvPr/>
        </p:nvSpPr>
        <p:spPr>
          <a:xfrm>
            <a:off x="270662" y="358445"/>
            <a:ext cx="8529524" cy="4708981"/>
          </a:xfrm>
          <a:prstGeom prst="rect">
            <a:avLst/>
          </a:prstGeom>
          <a:noFill/>
        </p:spPr>
        <p:txBody>
          <a:bodyPr wrap="square" rtlCol="0">
            <a:spAutoFit/>
          </a:bodyPr>
          <a:lstStyle/>
          <a:p>
            <a:pPr>
              <a:lnSpc>
                <a:spcPct val="150000"/>
              </a:lnSpc>
            </a:pPr>
            <a:r>
              <a:rPr lang="zh-CN" altLang="en-US" dirty="0" smtClean="0"/>
              <a:t>题目分析：</a:t>
            </a:r>
            <a:endParaRPr lang="en-US" altLang="zh-CN" dirty="0" smtClean="0"/>
          </a:p>
          <a:p>
            <a:pPr marL="342900" indent="-342900">
              <a:lnSpc>
                <a:spcPct val="135000"/>
              </a:lnSpc>
              <a:buFont typeface="Arial" panose="020B0604020202020204" pitchFamily="34" charset="0"/>
              <a:buChar char="•"/>
            </a:pPr>
            <a:r>
              <a:rPr lang="zh-CN" altLang="en-US" dirty="0"/>
              <a:t>通常</a:t>
            </a:r>
            <a:r>
              <a:rPr lang="en-US" altLang="zh-CN" dirty="0"/>
              <a:t>MMIC</a:t>
            </a:r>
            <a:r>
              <a:rPr lang="zh-CN" altLang="en-US" dirty="0"/>
              <a:t>芯片均有</a:t>
            </a:r>
            <a:r>
              <a:rPr lang="en-US" altLang="zh-CN" dirty="0"/>
              <a:t>1GHz</a:t>
            </a:r>
            <a:r>
              <a:rPr lang="zh-CN" altLang="en-US" dirty="0"/>
              <a:t>以上</a:t>
            </a:r>
            <a:r>
              <a:rPr lang="zh-CN" altLang="zh-CN" dirty="0" smtClean="0"/>
              <a:t>带宽</a:t>
            </a:r>
            <a:r>
              <a:rPr lang="zh-CN" altLang="en-US" dirty="0" smtClean="0"/>
              <a:t>，</a:t>
            </a:r>
            <a:r>
              <a:rPr lang="zh-CN" altLang="en-US" dirty="0" smtClean="0"/>
              <a:t>根据题目的频响要求，考虑</a:t>
            </a:r>
            <a:r>
              <a:rPr lang="zh-CN" altLang="zh-CN" dirty="0" smtClean="0"/>
              <a:t>用</a:t>
            </a:r>
            <a:r>
              <a:rPr lang="en-US" altLang="zh-CN" dirty="0"/>
              <a:t>MMIC</a:t>
            </a:r>
            <a:r>
              <a:rPr lang="zh-CN" altLang="zh-CN" dirty="0" smtClean="0"/>
              <a:t>实现</a:t>
            </a:r>
            <a:r>
              <a:rPr lang="zh-CN" altLang="en-US" dirty="0" smtClean="0"/>
              <a:t>高频</a:t>
            </a:r>
            <a:r>
              <a:rPr lang="zh-CN" altLang="en-US" dirty="0" smtClean="0"/>
              <a:t>放大</a:t>
            </a:r>
            <a:endParaRPr lang="en-US" altLang="zh-CN" dirty="0" smtClean="0"/>
          </a:p>
          <a:p>
            <a:pPr marL="342900" indent="-342900">
              <a:lnSpc>
                <a:spcPct val="135000"/>
              </a:lnSpc>
              <a:buFont typeface="Arial" panose="020B0604020202020204" pitchFamily="34" charset="0"/>
              <a:buChar char="•"/>
            </a:pPr>
            <a:r>
              <a:rPr lang="zh-CN" altLang="en-US" dirty="0"/>
              <a:t>采用</a:t>
            </a:r>
            <a:r>
              <a:rPr lang="en-US" altLang="zh-CN" dirty="0"/>
              <a:t>MMIC</a:t>
            </a:r>
            <a:r>
              <a:rPr lang="zh-CN" altLang="en-US" dirty="0"/>
              <a:t>后，输入与输出阻抗自动满足题目要求</a:t>
            </a:r>
            <a:endParaRPr lang="en-US" altLang="zh-CN" dirty="0"/>
          </a:p>
          <a:p>
            <a:pPr marL="342900" indent="-342900">
              <a:lnSpc>
                <a:spcPct val="135000"/>
              </a:lnSpc>
              <a:buFont typeface="Arial" panose="020B0604020202020204" pitchFamily="34" charset="0"/>
              <a:buChar char="•"/>
            </a:pPr>
            <a:r>
              <a:rPr lang="zh-CN" altLang="en-US" dirty="0" smtClean="0"/>
              <a:t>通常</a:t>
            </a:r>
            <a:r>
              <a:rPr lang="en-US" altLang="zh-CN" dirty="0" smtClean="0"/>
              <a:t>MMIC</a:t>
            </a:r>
            <a:r>
              <a:rPr lang="zh-CN" altLang="en-US" dirty="0" smtClean="0"/>
              <a:t>芯片均有</a:t>
            </a:r>
            <a:r>
              <a:rPr lang="en-US" altLang="zh-CN" dirty="0" smtClean="0"/>
              <a:t>20dB</a:t>
            </a:r>
            <a:r>
              <a:rPr lang="zh-CN" altLang="en-US" dirty="0" smtClean="0"/>
              <a:t>左右的</a:t>
            </a:r>
            <a:r>
              <a:rPr lang="zh-CN" altLang="zh-CN" dirty="0" smtClean="0"/>
              <a:t>增益</a:t>
            </a:r>
            <a:r>
              <a:rPr lang="zh-CN" altLang="zh-CN" dirty="0" smtClean="0"/>
              <a:t>、</a:t>
            </a:r>
            <a:r>
              <a:rPr lang="en-US" altLang="zh-CN" dirty="0" smtClean="0"/>
              <a:t>20dBm</a:t>
            </a:r>
            <a:r>
              <a:rPr lang="zh-CN" altLang="en-US" dirty="0" smtClean="0"/>
              <a:t>（</a:t>
            </a:r>
            <a:r>
              <a:rPr lang="en-US" altLang="zh-CN" dirty="0" smtClean="0"/>
              <a:t>100mW</a:t>
            </a:r>
            <a:r>
              <a:rPr lang="zh-CN" altLang="en-US" dirty="0" smtClean="0"/>
              <a:t>，</a:t>
            </a:r>
            <a:r>
              <a:rPr lang="en-US" altLang="zh-CN" dirty="0" smtClean="0"/>
              <a:t>50</a:t>
            </a:r>
            <a:r>
              <a:rPr lang="el-GR" altLang="zh-CN" dirty="0" smtClean="0">
                <a:latin typeface="Times New Roman" panose="02020603050405020304" pitchFamily="18" charset="0"/>
                <a:cs typeface="Times New Roman" panose="02020603050405020304" pitchFamily="18" charset="0"/>
              </a:rPr>
              <a:t>Ω</a:t>
            </a:r>
            <a:r>
              <a:rPr lang="zh-CN" altLang="en-US" dirty="0" smtClean="0">
                <a:latin typeface="Times New Roman" panose="02020603050405020304" pitchFamily="18" charset="0"/>
                <a:cs typeface="Times New Roman" panose="02020603050405020304" pitchFamily="18" charset="0"/>
              </a:rPr>
              <a:t>负载上电压有效值</a:t>
            </a:r>
            <a:r>
              <a:rPr lang="en-US" altLang="zh-CN" dirty="0" smtClean="0">
                <a:latin typeface="Times New Roman" panose="02020603050405020304" pitchFamily="18" charset="0"/>
                <a:cs typeface="Times New Roman" panose="02020603050405020304" pitchFamily="18" charset="0"/>
              </a:rPr>
              <a:t>2.24V</a:t>
            </a:r>
            <a:r>
              <a:rPr lang="zh-CN" altLang="en-US" dirty="0" smtClean="0"/>
              <a:t>）左右</a:t>
            </a:r>
            <a:r>
              <a:rPr lang="zh-CN" altLang="en-US" dirty="0" smtClean="0"/>
              <a:t>的</a:t>
            </a:r>
            <a:r>
              <a:rPr lang="zh-CN" altLang="zh-CN" dirty="0" smtClean="0"/>
              <a:t>输出功率，</a:t>
            </a:r>
            <a:r>
              <a:rPr lang="zh-CN" altLang="zh-CN" dirty="0"/>
              <a:t>多级放大</a:t>
            </a:r>
            <a:r>
              <a:rPr lang="zh-CN" altLang="zh-CN" dirty="0" smtClean="0"/>
              <a:t>后能够满足</a:t>
            </a:r>
            <a:r>
              <a:rPr lang="zh-CN" altLang="zh-CN" dirty="0"/>
              <a:t>本题的</a:t>
            </a:r>
            <a:r>
              <a:rPr lang="zh-CN" altLang="zh-CN" dirty="0" smtClean="0"/>
              <a:t>增益</a:t>
            </a:r>
            <a:r>
              <a:rPr lang="zh-CN" altLang="en-US" dirty="0" smtClean="0"/>
              <a:t>与输出功率</a:t>
            </a:r>
            <a:r>
              <a:rPr lang="zh-CN" altLang="zh-CN" dirty="0" smtClean="0"/>
              <a:t>要求</a:t>
            </a:r>
            <a:endParaRPr lang="en-US" altLang="zh-CN" dirty="0" smtClean="0"/>
          </a:p>
          <a:p>
            <a:pPr marL="342900" indent="-342900">
              <a:lnSpc>
                <a:spcPct val="135000"/>
              </a:lnSpc>
              <a:buFont typeface="Arial" panose="020B0604020202020204" pitchFamily="34" charset="0"/>
              <a:buChar char="•"/>
            </a:pPr>
            <a:r>
              <a:rPr lang="zh-CN" altLang="en-US" dirty="0" smtClean="0"/>
              <a:t>题目要求</a:t>
            </a:r>
            <a:r>
              <a:rPr lang="zh-CN" altLang="zh-CN" dirty="0" smtClean="0"/>
              <a:t>放大器</a:t>
            </a:r>
            <a:r>
              <a:rPr lang="zh-CN" altLang="zh-CN" dirty="0"/>
              <a:t>的频率特性除了</a:t>
            </a:r>
            <a:r>
              <a:rPr lang="en-US" altLang="zh-CN" dirty="0"/>
              <a:t>3dB</a:t>
            </a:r>
            <a:r>
              <a:rPr lang="zh-CN" altLang="zh-CN" dirty="0"/>
              <a:t>带宽以外还有带内波动</a:t>
            </a:r>
            <a:r>
              <a:rPr lang="zh-CN" altLang="en-US" dirty="0"/>
              <a:t>和</a:t>
            </a:r>
            <a:r>
              <a:rPr lang="zh-CN" altLang="zh-CN" dirty="0"/>
              <a:t>带外衰减的要求，必须在放大器中插入</a:t>
            </a:r>
            <a:r>
              <a:rPr lang="en-US" altLang="zh-CN" dirty="0"/>
              <a:t>LC</a:t>
            </a:r>
            <a:r>
              <a:rPr lang="zh-CN" altLang="zh-CN" dirty="0"/>
              <a:t>滤波器才能满足此</a:t>
            </a:r>
            <a:r>
              <a:rPr lang="zh-CN" altLang="zh-CN" dirty="0" smtClean="0"/>
              <a:t>频率特性</a:t>
            </a:r>
            <a:endParaRPr lang="en-US" altLang="zh-CN" dirty="0" smtClean="0"/>
          </a:p>
          <a:p>
            <a:pPr marL="342900" indent="-342900">
              <a:lnSpc>
                <a:spcPct val="135000"/>
              </a:lnSpc>
              <a:buFont typeface="Arial" panose="020B0604020202020204" pitchFamily="34" charset="0"/>
              <a:buChar char="•"/>
            </a:pPr>
            <a:r>
              <a:rPr lang="zh-CN" altLang="en-US" dirty="0" smtClean="0"/>
              <a:t>题目要求放大器</a:t>
            </a:r>
            <a:r>
              <a:rPr lang="zh-CN" altLang="zh-CN" dirty="0" smtClean="0"/>
              <a:t>增益</a:t>
            </a:r>
            <a:r>
              <a:rPr lang="zh-CN" altLang="en-US" dirty="0" smtClean="0"/>
              <a:t>在</a:t>
            </a:r>
            <a:r>
              <a:rPr lang="en-US" altLang="zh-CN" dirty="0" smtClean="0"/>
              <a:t> </a:t>
            </a:r>
            <a:r>
              <a:rPr lang="en-US" altLang="zh-CN" dirty="0"/>
              <a:t>12dB</a:t>
            </a:r>
            <a:r>
              <a:rPr lang="zh-CN" altLang="zh-CN" dirty="0"/>
              <a:t>～</a:t>
            </a:r>
            <a:r>
              <a:rPr lang="en-US" altLang="zh-CN" dirty="0" smtClean="0"/>
              <a:t>52dB</a:t>
            </a:r>
            <a:r>
              <a:rPr lang="zh-CN" altLang="en-US" dirty="0" smtClean="0"/>
              <a:t>范围可控，由于频率较高，考虑在放大器中插入</a:t>
            </a:r>
            <a:r>
              <a:rPr lang="zh-CN" altLang="zh-CN" dirty="0" smtClean="0"/>
              <a:t>数控</a:t>
            </a:r>
            <a:r>
              <a:rPr lang="zh-CN" altLang="zh-CN" dirty="0"/>
              <a:t>高频</a:t>
            </a:r>
            <a:r>
              <a:rPr lang="zh-CN" altLang="zh-CN" dirty="0" smtClean="0"/>
              <a:t>衰减器</a:t>
            </a:r>
            <a:endParaRPr lang="en-US" altLang="zh-CN" dirty="0" smtClean="0"/>
          </a:p>
        </p:txBody>
      </p:sp>
    </p:spTree>
    <p:extLst>
      <p:ext uri="{BB962C8B-B14F-4D97-AF65-F5344CB8AC3E}">
        <p14:creationId xmlns:p14="http://schemas.microsoft.com/office/powerpoint/2010/main" val="3057369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21</a:t>
            </a:fld>
            <a:endParaRPr lang="en-US" altLang="zh-CN">
              <a:solidFill>
                <a:srgbClr val="FFFFFF"/>
              </a:solidFill>
            </a:endParaRPr>
          </a:p>
        </p:txBody>
      </p:sp>
      <p:sp>
        <p:nvSpPr>
          <p:cNvPr id="5" name="矩形 4"/>
          <p:cNvSpPr/>
          <p:nvPr/>
        </p:nvSpPr>
        <p:spPr>
          <a:xfrm>
            <a:off x="336885" y="403792"/>
            <a:ext cx="8474302" cy="4662815"/>
          </a:xfrm>
          <a:prstGeom prst="rect">
            <a:avLst/>
          </a:prstGeom>
        </p:spPr>
        <p:txBody>
          <a:bodyPr wrap="square">
            <a:spAutoFit/>
          </a:bodyPr>
          <a:lstStyle/>
          <a:p>
            <a:pPr>
              <a:lnSpc>
                <a:spcPct val="135000"/>
              </a:lnSpc>
            </a:pPr>
            <a:r>
              <a:rPr lang="zh-CN" altLang="en-US" dirty="0" smtClean="0"/>
              <a:t>设计过程：</a:t>
            </a:r>
            <a:endParaRPr lang="en-US" altLang="zh-CN" dirty="0" smtClean="0"/>
          </a:p>
          <a:p>
            <a:pPr marL="457200" indent="-457200">
              <a:lnSpc>
                <a:spcPct val="135000"/>
              </a:lnSpc>
              <a:buFont typeface="+mj-lt"/>
              <a:buAutoNum type="arabicPeriod"/>
            </a:pPr>
            <a:r>
              <a:rPr lang="zh-CN" altLang="en-US" dirty="0" smtClean="0"/>
              <a:t>选择</a:t>
            </a:r>
            <a:r>
              <a:rPr lang="en-US" altLang="zh-CN" dirty="0" smtClean="0"/>
              <a:t>MMIC</a:t>
            </a:r>
            <a:r>
              <a:rPr lang="zh-CN" altLang="en-US" dirty="0" smtClean="0"/>
              <a:t>芯片</a:t>
            </a:r>
            <a:endParaRPr lang="en-US" altLang="zh-CN" dirty="0" smtClean="0"/>
          </a:p>
          <a:p>
            <a:pPr lvl="1">
              <a:lnSpc>
                <a:spcPct val="135000"/>
              </a:lnSpc>
            </a:pPr>
            <a:r>
              <a:rPr lang="zh-CN" altLang="en-US" dirty="0" smtClean="0"/>
              <a:t>根据实验室条件，可在</a:t>
            </a:r>
            <a:r>
              <a:rPr lang="en-US" altLang="zh-CN" dirty="0" smtClean="0"/>
              <a:t>HMC580</a:t>
            </a:r>
            <a:r>
              <a:rPr lang="zh-CN" altLang="en-US" dirty="0" smtClean="0"/>
              <a:t>、</a:t>
            </a:r>
            <a:r>
              <a:rPr lang="en-US" altLang="zh-CN" dirty="0" smtClean="0"/>
              <a:t>HMC480</a:t>
            </a:r>
            <a:r>
              <a:rPr lang="zh-CN" altLang="en-US" dirty="0" smtClean="0"/>
              <a:t>、</a:t>
            </a:r>
            <a:r>
              <a:rPr lang="en-US" altLang="zh-CN" dirty="0" smtClean="0"/>
              <a:t>ADL5530</a:t>
            </a:r>
            <a:r>
              <a:rPr lang="zh-CN" altLang="en-US" dirty="0" smtClean="0"/>
              <a:t>等芯片中进行选择。</a:t>
            </a:r>
            <a:endParaRPr lang="en-US" altLang="zh-CN" dirty="0" smtClean="0"/>
          </a:p>
          <a:p>
            <a:pPr lvl="1">
              <a:lnSpc>
                <a:spcPct val="135000"/>
              </a:lnSpc>
            </a:pPr>
            <a:r>
              <a:rPr lang="zh-CN" altLang="en-US" dirty="0" smtClean="0"/>
              <a:t>根据题目要求，选择</a:t>
            </a:r>
            <a:r>
              <a:rPr lang="en-US" altLang="zh-CN" dirty="0" smtClean="0"/>
              <a:t>HMC580</a:t>
            </a:r>
            <a:r>
              <a:rPr lang="zh-CN" altLang="en-US" dirty="0" smtClean="0"/>
              <a:t>较为合适。该芯片的主要特性参数如下：</a:t>
            </a:r>
            <a:endParaRPr lang="en-US" altLang="zh-CN" dirty="0" smtClean="0"/>
          </a:p>
          <a:p>
            <a:pPr lvl="1">
              <a:lnSpc>
                <a:spcPct val="135000"/>
              </a:lnSpc>
            </a:pPr>
            <a:r>
              <a:rPr lang="zh-CN" altLang="en-US" dirty="0" smtClean="0"/>
              <a:t>频响</a:t>
            </a:r>
            <a:r>
              <a:rPr lang="en-US" altLang="zh-CN" dirty="0" smtClean="0"/>
              <a:t>DC~1GHz</a:t>
            </a:r>
          </a:p>
          <a:p>
            <a:pPr lvl="1">
              <a:lnSpc>
                <a:spcPct val="135000"/>
              </a:lnSpc>
            </a:pPr>
            <a:r>
              <a:rPr lang="zh-CN" altLang="en-US" dirty="0" smtClean="0"/>
              <a:t>增益</a:t>
            </a:r>
            <a:r>
              <a:rPr lang="en-US" altLang="zh-CN" dirty="0" smtClean="0"/>
              <a:t>22dB</a:t>
            </a:r>
          </a:p>
          <a:p>
            <a:pPr lvl="1">
              <a:lnSpc>
                <a:spcPct val="135000"/>
              </a:lnSpc>
            </a:pPr>
            <a:r>
              <a:rPr lang="zh-CN" altLang="en-US" dirty="0" smtClean="0"/>
              <a:t>输出功率（</a:t>
            </a:r>
            <a:r>
              <a:rPr lang="en-US" altLang="zh-CN" dirty="0" smtClean="0"/>
              <a:t>1dB</a:t>
            </a:r>
            <a:r>
              <a:rPr lang="zh-CN" altLang="en-US" dirty="0" smtClean="0"/>
              <a:t>压缩点）</a:t>
            </a:r>
            <a:r>
              <a:rPr lang="en-US" altLang="zh-CN" dirty="0" smtClean="0"/>
              <a:t>22dBm</a:t>
            </a:r>
          </a:p>
          <a:p>
            <a:pPr lvl="1">
              <a:lnSpc>
                <a:spcPct val="135000"/>
              </a:lnSpc>
            </a:pPr>
            <a:r>
              <a:rPr lang="zh-CN" altLang="en-US" dirty="0" smtClean="0"/>
              <a:t>输入输出阻抗</a:t>
            </a:r>
            <a:r>
              <a:rPr lang="en-US" altLang="zh-CN" dirty="0" smtClean="0"/>
              <a:t>50</a:t>
            </a:r>
            <a:r>
              <a:rPr lang="el-GR" altLang="zh-CN" dirty="0" smtClean="0">
                <a:latin typeface="Times New Roman" panose="02020603050405020304" pitchFamily="18" charset="0"/>
                <a:cs typeface="Times New Roman" panose="02020603050405020304" pitchFamily="18" charset="0"/>
              </a:rPr>
              <a:t>Ω</a:t>
            </a:r>
            <a:endParaRPr lang="en-US" altLang="zh-CN" dirty="0" smtClean="0"/>
          </a:p>
          <a:p>
            <a:pPr lvl="1">
              <a:lnSpc>
                <a:spcPct val="135000"/>
              </a:lnSpc>
            </a:pPr>
            <a:r>
              <a:rPr lang="zh-CN" altLang="en-US" dirty="0" smtClean="0"/>
              <a:t>电源电压</a:t>
            </a:r>
            <a:r>
              <a:rPr lang="en-US" altLang="zh-CN" dirty="0" smtClean="0"/>
              <a:t>+5V</a:t>
            </a:r>
          </a:p>
          <a:p>
            <a:pPr lvl="1">
              <a:lnSpc>
                <a:spcPct val="135000"/>
              </a:lnSpc>
            </a:pPr>
            <a:r>
              <a:rPr lang="zh-CN" altLang="en-US" dirty="0" smtClean="0"/>
              <a:t>噪声系数</a:t>
            </a:r>
            <a:r>
              <a:rPr lang="en-US" altLang="zh-CN" dirty="0" smtClean="0"/>
              <a:t>2.5dB</a:t>
            </a:r>
          </a:p>
        </p:txBody>
      </p:sp>
    </p:spTree>
    <p:extLst>
      <p:ext uri="{BB962C8B-B14F-4D97-AF65-F5344CB8AC3E}">
        <p14:creationId xmlns:p14="http://schemas.microsoft.com/office/powerpoint/2010/main" val="3382057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22</a:t>
            </a:fld>
            <a:endParaRPr lang="en-US" altLang="zh-CN">
              <a:solidFill>
                <a:srgbClr val="FFFFFF"/>
              </a:solidFill>
            </a:endParaRPr>
          </a:p>
        </p:txBody>
      </p:sp>
      <p:sp>
        <p:nvSpPr>
          <p:cNvPr id="5" name="矩形 4"/>
          <p:cNvSpPr/>
          <p:nvPr/>
        </p:nvSpPr>
        <p:spPr>
          <a:xfrm>
            <a:off x="323134" y="380777"/>
            <a:ext cx="8401479" cy="4662815"/>
          </a:xfrm>
          <a:prstGeom prst="rect">
            <a:avLst/>
          </a:prstGeom>
        </p:spPr>
        <p:txBody>
          <a:bodyPr wrap="square">
            <a:spAutoFit/>
          </a:bodyPr>
          <a:lstStyle/>
          <a:p>
            <a:pPr marL="457200" indent="-457200">
              <a:lnSpc>
                <a:spcPct val="135000"/>
              </a:lnSpc>
              <a:buFont typeface="+mj-lt"/>
              <a:buAutoNum type="arabicPeriod" startAt="2"/>
            </a:pPr>
            <a:r>
              <a:rPr lang="zh-CN" altLang="en-US" dirty="0" smtClean="0"/>
              <a:t>数控衰减器芯片选择</a:t>
            </a:r>
            <a:endParaRPr lang="en-US" altLang="zh-CN" dirty="0" smtClean="0"/>
          </a:p>
          <a:p>
            <a:pPr marL="342900" indent="-342900">
              <a:lnSpc>
                <a:spcPct val="135000"/>
              </a:lnSpc>
              <a:buFont typeface="Arial" panose="020B0604020202020204" pitchFamily="34" charset="0"/>
              <a:buChar char="•"/>
            </a:pPr>
            <a:r>
              <a:rPr lang="zh-CN" altLang="en-US" dirty="0" smtClean="0"/>
              <a:t>实现放大器增益可变的途径有以下几种：可变增益放大器、数控衰减器、数字电位器等。其中可变增益放大器通常是电压控制，数字电位器通常用于低频电路。根据实验室器件储备，选用数控衰减器</a:t>
            </a:r>
            <a:r>
              <a:rPr lang="en-US" altLang="zh-CN" dirty="0" smtClean="0"/>
              <a:t>HMC307</a:t>
            </a:r>
          </a:p>
          <a:p>
            <a:pPr marL="342900" indent="-342900">
              <a:lnSpc>
                <a:spcPct val="135000"/>
              </a:lnSpc>
              <a:buFont typeface="Arial" panose="020B0604020202020204" pitchFamily="34" charset="0"/>
              <a:buChar char="•"/>
            </a:pPr>
            <a:r>
              <a:rPr lang="en-US" altLang="zh-CN" dirty="0" smtClean="0"/>
              <a:t>HMC307</a:t>
            </a:r>
            <a:r>
              <a:rPr lang="zh-CN" altLang="en-US" dirty="0" smtClean="0"/>
              <a:t>由</a:t>
            </a:r>
            <a:r>
              <a:rPr lang="zh-CN" altLang="zh-CN" dirty="0" smtClean="0"/>
              <a:t>数字</a:t>
            </a:r>
            <a:r>
              <a:rPr lang="zh-CN" altLang="en-US" dirty="0" smtClean="0"/>
              <a:t>（并行输入）</a:t>
            </a:r>
            <a:r>
              <a:rPr lang="zh-CN" altLang="zh-CN" dirty="0"/>
              <a:t>控制</a:t>
            </a:r>
            <a:r>
              <a:rPr lang="zh-CN" altLang="zh-CN" dirty="0" smtClean="0"/>
              <a:t>，</a:t>
            </a:r>
            <a:r>
              <a:rPr lang="zh-CN" altLang="en-US" dirty="0" smtClean="0"/>
              <a:t>其主要指标如下：</a:t>
            </a:r>
            <a:endParaRPr lang="en-US" altLang="zh-CN" dirty="0" smtClean="0"/>
          </a:p>
          <a:p>
            <a:pPr lvl="1">
              <a:lnSpc>
                <a:spcPct val="135000"/>
              </a:lnSpc>
            </a:pPr>
            <a:r>
              <a:rPr lang="zh-CN" altLang="zh-CN" dirty="0"/>
              <a:t>频响</a:t>
            </a:r>
            <a:r>
              <a:rPr lang="en-US" altLang="zh-CN" dirty="0"/>
              <a:t>DC~4GHz</a:t>
            </a:r>
          </a:p>
          <a:p>
            <a:pPr lvl="1">
              <a:lnSpc>
                <a:spcPct val="135000"/>
              </a:lnSpc>
            </a:pPr>
            <a:r>
              <a:rPr lang="zh-CN" altLang="en-US" dirty="0" smtClean="0"/>
              <a:t>增益</a:t>
            </a:r>
            <a:r>
              <a:rPr lang="zh-CN" altLang="en-US" dirty="0"/>
              <a:t>步进控制</a:t>
            </a:r>
            <a:r>
              <a:rPr lang="zh-CN" altLang="zh-CN" dirty="0" smtClean="0"/>
              <a:t>控制范围</a:t>
            </a:r>
            <a:r>
              <a:rPr lang="en-US" altLang="zh-CN" dirty="0"/>
              <a:t>0dB~-</a:t>
            </a:r>
            <a:r>
              <a:rPr lang="en-US" altLang="zh-CN" dirty="0" smtClean="0"/>
              <a:t>31dB</a:t>
            </a:r>
            <a:r>
              <a:rPr lang="zh-CN" altLang="en-US" dirty="0" smtClean="0"/>
              <a:t>，</a:t>
            </a:r>
            <a:r>
              <a:rPr lang="en-US" altLang="zh-CN" dirty="0" smtClean="0"/>
              <a:t>1dB</a:t>
            </a:r>
            <a:r>
              <a:rPr lang="zh-CN" altLang="zh-CN" dirty="0"/>
              <a:t>步</a:t>
            </a:r>
            <a:r>
              <a:rPr lang="zh-CN" altLang="zh-CN" dirty="0" smtClean="0"/>
              <a:t>进</a:t>
            </a:r>
            <a:endParaRPr lang="en-US" altLang="zh-CN" dirty="0" smtClean="0"/>
          </a:p>
          <a:p>
            <a:pPr lvl="1">
              <a:lnSpc>
                <a:spcPct val="135000"/>
              </a:lnSpc>
            </a:pPr>
            <a:r>
              <a:rPr lang="zh-CN" altLang="en-US" dirty="0" smtClean="0"/>
              <a:t>增益误差</a:t>
            </a:r>
            <a:r>
              <a:rPr lang="en-US" altLang="zh-CN" dirty="0" smtClean="0"/>
              <a:t>0.2~0.3dB</a:t>
            </a:r>
            <a:r>
              <a:rPr lang="zh-CN" altLang="en-US" dirty="0" smtClean="0"/>
              <a:t>（</a:t>
            </a:r>
            <a:r>
              <a:rPr lang="en-US" altLang="zh-CN" dirty="0" smtClean="0"/>
              <a:t>DC~2.7GHz</a:t>
            </a:r>
            <a:r>
              <a:rPr lang="zh-CN" altLang="en-US" dirty="0"/>
              <a:t>范围</a:t>
            </a:r>
            <a:r>
              <a:rPr lang="zh-CN" altLang="en-US" dirty="0" smtClean="0"/>
              <a:t>内）</a:t>
            </a:r>
            <a:endParaRPr lang="en-US" altLang="zh-CN" dirty="0" smtClean="0"/>
          </a:p>
          <a:p>
            <a:pPr lvl="1">
              <a:lnSpc>
                <a:spcPct val="135000"/>
              </a:lnSpc>
            </a:pPr>
            <a:r>
              <a:rPr lang="zh-CN" altLang="zh-CN" dirty="0" smtClean="0"/>
              <a:t>插入损耗约</a:t>
            </a:r>
            <a:r>
              <a:rPr lang="en-US" altLang="zh-CN" dirty="0" smtClean="0"/>
              <a:t>2dB</a:t>
            </a:r>
          </a:p>
          <a:p>
            <a:pPr marL="342900" indent="-342900">
              <a:lnSpc>
                <a:spcPct val="135000"/>
              </a:lnSpc>
              <a:buFont typeface="Arial" panose="020B0604020202020204" pitchFamily="34" charset="0"/>
              <a:buChar char="•"/>
            </a:pPr>
            <a:r>
              <a:rPr lang="zh-CN" altLang="en-US" dirty="0" smtClean="0"/>
              <a:t>根据题目要求（</a:t>
            </a:r>
            <a:r>
              <a:rPr lang="en-US" altLang="zh-CN" dirty="0"/>
              <a:t> 12dB</a:t>
            </a:r>
            <a:r>
              <a:rPr lang="zh-CN" altLang="zh-CN" dirty="0"/>
              <a:t>～</a:t>
            </a:r>
            <a:r>
              <a:rPr lang="en-US" altLang="zh-CN" dirty="0" smtClean="0"/>
              <a:t>52dB</a:t>
            </a:r>
            <a:r>
              <a:rPr lang="zh-CN" altLang="en-US" dirty="0" smtClean="0"/>
              <a:t>），采用</a:t>
            </a:r>
            <a:r>
              <a:rPr lang="zh-CN" altLang="zh-CN" dirty="0" smtClean="0"/>
              <a:t>两片</a:t>
            </a:r>
            <a:r>
              <a:rPr lang="en-US" altLang="zh-CN" dirty="0" smtClean="0"/>
              <a:t>HMC307</a:t>
            </a:r>
            <a:r>
              <a:rPr lang="zh-CN" altLang="zh-CN" dirty="0" smtClean="0"/>
              <a:t>串联</a:t>
            </a:r>
            <a:r>
              <a:rPr lang="zh-CN" altLang="en-US" dirty="0" smtClean="0"/>
              <a:t>，</a:t>
            </a:r>
            <a:r>
              <a:rPr lang="zh-CN" altLang="zh-CN" dirty="0" smtClean="0"/>
              <a:t>可以</a:t>
            </a:r>
            <a:r>
              <a:rPr lang="zh-CN" altLang="zh-CN" dirty="0"/>
              <a:t>实现</a:t>
            </a:r>
            <a:r>
              <a:rPr lang="en-US" altLang="zh-CN" dirty="0"/>
              <a:t>0dB</a:t>
            </a:r>
            <a:r>
              <a:rPr lang="zh-CN" altLang="zh-CN" dirty="0"/>
              <a:t>到</a:t>
            </a:r>
            <a:r>
              <a:rPr lang="en-US" altLang="zh-CN" dirty="0"/>
              <a:t>-62dB</a:t>
            </a:r>
            <a:r>
              <a:rPr lang="zh-CN" altLang="zh-CN" dirty="0"/>
              <a:t>的可控衰减</a:t>
            </a:r>
            <a:r>
              <a:rPr lang="zh-CN" altLang="zh-CN" dirty="0" smtClean="0"/>
              <a:t>范围</a:t>
            </a:r>
            <a:r>
              <a:rPr lang="zh-CN" altLang="en-US" dirty="0" smtClean="0"/>
              <a:t>，大大超过题目要求</a:t>
            </a:r>
            <a:endParaRPr lang="en-US" altLang="zh-CN" dirty="0" smtClean="0"/>
          </a:p>
        </p:txBody>
      </p:sp>
    </p:spTree>
    <p:extLst>
      <p:ext uri="{BB962C8B-B14F-4D97-AF65-F5344CB8AC3E}">
        <p14:creationId xmlns:p14="http://schemas.microsoft.com/office/powerpoint/2010/main" val="3612579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23</a:t>
            </a:fld>
            <a:endParaRPr lang="en-US" altLang="zh-CN">
              <a:solidFill>
                <a:srgbClr val="FFFFFF"/>
              </a:solidFill>
            </a:endParaRPr>
          </a:p>
        </p:txBody>
      </p:sp>
      <p:sp>
        <p:nvSpPr>
          <p:cNvPr id="5" name="文本框 4"/>
          <p:cNvSpPr txBox="1"/>
          <p:nvPr/>
        </p:nvSpPr>
        <p:spPr>
          <a:xfrm>
            <a:off x="270662" y="358445"/>
            <a:ext cx="8529524" cy="5170646"/>
          </a:xfrm>
          <a:prstGeom prst="rect">
            <a:avLst/>
          </a:prstGeom>
          <a:noFill/>
        </p:spPr>
        <p:txBody>
          <a:bodyPr wrap="square" rtlCol="0">
            <a:spAutoFit/>
          </a:bodyPr>
          <a:lstStyle/>
          <a:p>
            <a:pPr marL="457200" indent="-457200">
              <a:lnSpc>
                <a:spcPct val="150000"/>
              </a:lnSpc>
              <a:buFont typeface="+mj-lt"/>
              <a:buAutoNum type="arabicPeriod" startAt="3"/>
            </a:pPr>
            <a:r>
              <a:rPr lang="en-US" altLang="zh-CN" dirty="0" smtClean="0"/>
              <a:t>LC</a:t>
            </a:r>
            <a:r>
              <a:rPr lang="zh-CN" altLang="zh-CN" dirty="0" smtClean="0"/>
              <a:t>滤波器</a:t>
            </a:r>
            <a:r>
              <a:rPr lang="zh-CN" altLang="en-US" dirty="0" smtClean="0"/>
              <a:t>设计</a:t>
            </a:r>
            <a:endParaRPr lang="en-US" altLang="zh-CN" dirty="0" smtClean="0"/>
          </a:p>
          <a:p>
            <a:pPr marL="245700" indent="-342900">
              <a:lnSpc>
                <a:spcPct val="150000"/>
              </a:lnSpc>
              <a:buFont typeface="Arial" panose="020B0604020202020204" pitchFamily="34" charset="0"/>
              <a:buChar char="•"/>
            </a:pPr>
            <a:r>
              <a:rPr lang="zh-CN" altLang="en-US" dirty="0" smtClean="0"/>
              <a:t>题目</a:t>
            </a:r>
            <a:r>
              <a:rPr lang="zh-CN" altLang="en-US" dirty="0" smtClean="0"/>
              <a:t>要求</a:t>
            </a:r>
            <a:endParaRPr lang="en-US" altLang="zh-CN" dirty="0" smtClean="0"/>
          </a:p>
          <a:p>
            <a:pPr marL="360000" lvl="1">
              <a:lnSpc>
                <a:spcPct val="150000"/>
              </a:lnSpc>
            </a:pPr>
            <a:r>
              <a:rPr lang="zh-CN" altLang="zh-CN" dirty="0" smtClean="0"/>
              <a:t>通</a:t>
            </a:r>
            <a:r>
              <a:rPr lang="zh-CN" altLang="zh-CN" dirty="0"/>
              <a:t>频带低</a:t>
            </a:r>
            <a:r>
              <a:rPr lang="zh-CN" altLang="zh-CN" dirty="0" smtClean="0"/>
              <a:t>侧截止频率</a:t>
            </a:r>
            <a:r>
              <a:rPr lang="en-US" altLang="zh-CN" dirty="0" smtClean="0"/>
              <a:t>40MHz</a:t>
            </a:r>
            <a:r>
              <a:rPr lang="zh-CN" altLang="zh-CN" dirty="0"/>
              <a:t>，阻带起始</a:t>
            </a:r>
            <a:r>
              <a:rPr lang="zh-CN" altLang="zh-CN" dirty="0" smtClean="0"/>
              <a:t>频率</a:t>
            </a:r>
            <a:r>
              <a:rPr lang="en-US" altLang="zh-CN" dirty="0" smtClean="0"/>
              <a:t>20MHz</a:t>
            </a:r>
          </a:p>
          <a:p>
            <a:pPr marL="360000" lvl="1">
              <a:lnSpc>
                <a:spcPct val="150000"/>
              </a:lnSpc>
            </a:pPr>
            <a:r>
              <a:rPr lang="zh-CN" altLang="zh-CN" dirty="0"/>
              <a:t>通频带高侧截止频率为</a:t>
            </a:r>
            <a:r>
              <a:rPr lang="en-US" altLang="zh-CN" dirty="0"/>
              <a:t>200MHz</a:t>
            </a:r>
            <a:r>
              <a:rPr lang="zh-CN" altLang="zh-CN" dirty="0"/>
              <a:t>，阻带起始频率</a:t>
            </a:r>
            <a:r>
              <a:rPr lang="en-US" altLang="zh-CN" dirty="0" smtClean="0"/>
              <a:t>270MHz</a:t>
            </a:r>
          </a:p>
          <a:p>
            <a:pPr marL="360000" lvl="1">
              <a:lnSpc>
                <a:spcPct val="150000"/>
              </a:lnSpc>
            </a:pPr>
            <a:r>
              <a:rPr lang="zh-CN" altLang="en-US" dirty="0" smtClean="0"/>
              <a:t>通带内波动不大于</a:t>
            </a:r>
            <a:r>
              <a:rPr lang="en-US" altLang="zh-CN" dirty="0" smtClean="0"/>
              <a:t>2dB</a:t>
            </a:r>
            <a:r>
              <a:rPr lang="zh-CN" altLang="en-US" dirty="0" smtClean="0"/>
              <a:t>，</a:t>
            </a:r>
            <a:r>
              <a:rPr lang="zh-CN" altLang="zh-CN" dirty="0" smtClean="0"/>
              <a:t>阻带</a:t>
            </a:r>
            <a:r>
              <a:rPr lang="zh-CN" altLang="zh-CN" dirty="0"/>
              <a:t>衰减大于</a:t>
            </a:r>
            <a:r>
              <a:rPr lang="en-US" altLang="zh-CN" dirty="0" smtClean="0"/>
              <a:t>32dB</a:t>
            </a:r>
          </a:p>
          <a:p>
            <a:pPr marL="245700" indent="-342900">
              <a:lnSpc>
                <a:spcPct val="150000"/>
              </a:lnSpc>
              <a:buFont typeface="Arial" panose="020B0604020202020204" pitchFamily="34" charset="0"/>
              <a:buChar char="•"/>
            </a:pPr>
            <a:r>
              <a:rPr lang="zh-CN" altLang="en-US" dirty="0" smtClean="0"/>
              <a:t>实际设计的</a:t>
            </a:r>
            <a:r>
              <a:rPr lang="zh-CN" altLang="en-US" dirty="0" smtClean="0"/>
              <a:t>考虑</a:t>
            </a:r>
            <a:endParaRPr lang="en-US" altLang="zh-CN" dirty="0" smtClean="0"/>
          </a:p>
          <a:p>
            <a:pPr marL="360000" lvl="1">
              <a:lnSpc>
                <a:spcPct val="150000"/>
              </a:lnSpc>
            </a:pPr>
            <a:r>
              <a:rPr lang="zh-CN" altLang="en-US" dirty="0" smtClean="0"/>
              <a:t>通</a:t>
            </a:r>
            <a:r>
              <a:rPr lang="zh-CN" altLang="en-US" dirty="0"/>
              <a:t>频带很宽</a:t>
            </a:r>
            <a:r>
              <a:rPr lang="zh-CN" altLang="en-US" dirty="0" smtClean="0"/>
              <a:t>，</a:t>
            </a:r>
            <a:r>
              <a:rPr lang="zh-CN" altLang="zh-CN" dirty="0" smtClean="0"/>
              <a:t>采用</a:t>
            </a:r>
            <a:r>
              <a:rPr lang="zh-CN" altLang="zh-CN" dirty="0"/>
              <a:t>一个低通滤波器和一个高通滤波器相</a:t>
            </a:r>
            <a:r>
              <a:rPr lang="zh-CN" altLang="zh-CN" dirty="0" smtClean="0"/>
              <a:t>结合</a:t>
            </a:r>
            <a:r>
              <a:rPr lang="zh-CN" altLang="en-US" dirty="0" smtClean="0"/>
              <a:t>的方案</a:t>
            </a:r>
            <a:endParaRPr lang="en-US" altLang="zh-CN" dirty="0" smtClean="0"/>
          </a:p>
          <a:p>
            <a:pPr indent="360000">
              <a:lnSpc>
                <a:spcPct val="150000"/>
              </a:lnSpc>
            </a:pPr>
            <a:r>
              <a:rPr lang="zh-CN" altLang="en-US" dirty="0" smtClean="0"/>
              <a:t>其中：</a:t>
            </a:r>
            <a:endParaRPr lang="en-US" altLang="zh-CN" dirty="0" smtClean="0"/>
          </a:p>
          <a:p>
            <a:pPr indent="360000">
              <a:lnSpc>
                <a:spcPct val="150000"/>
              </a:lnSpc>
            </a:pPr>
            <a:r>
              <a:rPr lang="zh-CN" altLang="en-US" dirty="0" smtClean="0"/>
              <a:t>截止频率</a:t>
            </a:r>
            <a:r>
              <a:rPr lang="zh-CN" altLang="en-US" dirty="0" smtClean="0"/>
              <a:t>与阻带</a:t>
            </a:r>
            <a:r>
              <a:rPr lang="zh-CN" altLang="en-US" dirty="0" smtClean="0"/>
              <a:t>频率，按照</a:t>
            </a:r>
            <a:r>
              <a:rPr lang="zh-CN" altLang="en-US" dirty="0" smtClean="0"/>
              <a:t>题目</a:t>
            </a:r>
            <a:r>
              <a:rPr lang="zh-CN" altLang="en-US" dirty="0" smtClean="0"/>
              <a:t>要求即可</a:t>
            </a:r>
            <a:endParaRPr lang="en-US" altLang="zh-CN" dirty="0" smtClean="0"/>
          </a:p>
          <a:p>
            <a:pPr indent="360000">
              <a:lnSpc>
                <a:spcPct val="150000"/>
              </a:lnSpc>
            </a:pPr>
            <a:r>
              <a:rPr lang="zh-CN" altLang="en-US" dirty="0" smtClean="0"/>
              <a:t>带</a:t>
            </a:r>
            <a:r>
              <a:rPr lang="zh-CN" altLang="en-US" dirty="0" smtClean="0"/>
              <a:t>内</a:t>
            </a:r>
            <a:r>
              <a:rPr lang="zh-CN" altLang="en-US" dirty="0" smtClean="0"/>
              <a:t>波动留裕量，可以按照</a:t>
            </a:r>
            <a:r>
              <a:rPr lang="en-US" altLang="zh-CN" dirty="0" smtClean="0"/>
              <a:t>0.5dB</a:t>
            </a:r>
            <a:r>
              <a:rPr lang="zh-CN" altLang="en-US" dirty="0" smtClean="0"/>
              <a:t>设计</a:t>
            </a:r>
            <a:endParaRPr lang="en-US" altLang="zh-CN" dirty="0" smtClean="0"/>
          </a:p>
          <a:p>
            <a:pPr indent="360000">
              <a:lnSpc>
                <a:spcPct val="150000"/>
              </a:lnSpc>
            </a:pPr>
            <a:r>
              <a:rPr lang="zh-CN" altLang="en-US" dirty="0" smtClean="0"/>
              <a:t>阻带衰减留裕量，可以</a:t>
            </a:r>
            <a:r>
              <a:rPr lang="zh-CN" altLang="en-US" dirty="0" smtClean="0"/>
              <a:t>按照</a:t>
            </a:r>
            <a:r>
              <a:rPr lang="en-US" altLang="zh-CN" dirty="0" smtClean="0"/>
              <a:t>40~50dB</a:t>
            </a:r>
            <a:r>
              <a:rPr lang="zh-CN" altLang="en-US" dirty="0" smtClean="0"/>
              <a:t>设计</a:t>
            </a:r>
            <a:endParaRPr lang="en-US" altLang="zh-CN" dirty="0" smtClean="0"/>
          </a:p>
        </p:txBody>
      </p:sp>
    </p:spTree>
    <p:extLst>
      <p:ext uri="{BB962C8B-B14F-4D97-AF65-F5344CB8AC3E}">
        <p14:creationId xmlns:p14="http://schemas.microsoft.com/office/powerpoint/2010/main" val="35014167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24</a:t>
            </a:fld>
            <a:endParaRPr lang="en-US" altLang="zh-CN">
              <a:solidFill>
                <a:srgbClr val="FFFFFF"/>
              </a:solidFill>
            </a:endParaRPr>
          </a:p>
        </p:txBody>
      </p:sp>
      <p:sp>
        <p:nvSpPr>
          <p:cNvPr id="6" name="矩形 5"/>
          <p:cNvSpPr/>
          <p:nvPr/>
        </p:nvSpPr>
        <p:spPr>
          <a:xfrm>
            <a:off x="282873" y="416668"/>
            <a:ext cx="8583316" cy="4093428"/>
          </a:xfrm>
          <a:prstGeom prst="rect">
            <a:avLst/>
          </a:prstGeom>
        </p:spPr>
        <p:txBody>
          <a:bodyPr wrap="square">
            <a:spAutoFit/>
          </a:bodyPr>
          <a:lstStyle/>
          <a:p>
            <a:pPr marL="245700" indent="-342900">
              <a:lnSpc>
                <a:spcPct val="150000"/>
              </a:lnSpc>
              <a:buFont typeface="Arial" panose="020B0604020202020204" pitchFamily="34" charset="0"/>
              <a:buChar char="•"/>
            </a:pPr>
            <a:r>
              <a:rPr lang="zh-CN" altLang="en-US" dirty="0"/>
              <a:t>高</a:t>
            </a:r>
            <a:r>
              <a:rPr lang="zh-CN" altLang="zh-CN" dirty="0" smtClean="0"/>
              <a:t>通滤波器</a:t>
            </a:r>
            <a:r>
              <a:rPr lang="zh-CN" altLang="en-US" dirty="0" smtClean="0"/>
              <a:t>设计</a:t>
            </a:r>
            <a:endParaRPr lang="en-US" altLang="zh-CN" dirty="0" smtClean="0"/>
          </a:p>
          <a:p>
            <a:pPr marL="360000" lvl="1">
              <a:lnSpc>
                <a:spcPct val="150000"/>
              </a:lnSpc>
            </a:pPr>
            <a:r>
              <a:rPr lang="en-US" altLang="zh-CN" dirty="0" smtClean="0"/>
              <a:t>-3dB</a:t>
            </a:r>
            <a:r>
              <a:rPr lang="zh-CN" altLang="en-US" dirty="0" smtClean="0"/>
              <a:t>截止频率</a:t>
            </a:r>
            <a:r>
              <a:rPr lang="en-US" altLang="zh-CN" dirty="0" smtClean="0"/>
              <a:t>40MHz</a:t>
            </a:r>
            <a:r>
              <a:rPr lang="zh-CN" altLang="zh-CN" dirty="0" smtClean="0"/>
              <a:t>，</a:t>
            </a:r>
            <a:r>
              <a:rPr lang="zh-CN" altLang="en-US" dirty="0" smtClean="0"/>
              <a:t>带内波动</a:t>
            </a:r>
            <a:r>
              <a:rPr lang="en-US" altLang="zh-CN" dirty="0" smtClean="0"/>
              <a:t>0.5dB</a:t>
            </a:r>
          </a:p>
          <a:p>
            <a:pPr marL="360000" lvl="1">
              <a:lnSpc>
                <a:spcPct val="150000"/>
              </a:lnSpc>
            </a:pPr>
            <a:r>
              <a:rPr lang="zh-CN" altLang="zh-CN" dirty="0" smtClean="0"/>
              <a:t>阻带</a:t>
            </a:r>
            <a:r>
              <a:rPr lang="zh-CN" altLang="zh-CN" dirty="0"/>
              <a:t>起始频率</a:t>
            </a:r>
            <a:r>
              <a:rPr lang="en-US" altLang="zh-CN" dirty="0" smtClean="0"/>
              <a:t>20MHz</a:t>
            </a:r>
            <a:r>
              <a:rPr lang="zh-CN" altLang="en-US" dirty="0" smtClean="0"/>
              <a:t>，阻带衰减</a:t>
            </a:r>
            <a:r>
              <a:rPr lang="en-US" altLang="zh-CN" dirty="0" smtClean="0"/>
              <a:t>&gt;40dB</a:t>
            </a:r>
          </a:p>
          <a:p>
            <a:pPr marL="360000" lvl="1">
              <a:lnSpc>
                <a:spcPct val="150000"/>
              </a:lnSpc>
            </a:pPr>
            <a:r>
              <a:rPr lang="zh-CN" altLang="en-US" dirty="0" smtClean="0"/>
              <a:t>选用切比雪夫型</a:t>
            </a:r>
            <a:r>
              <a:rPr lang="en-US" altLang="zh-CN" dirty="0"/>
              <a:t>LC</a:t>
            </a:r>
            <a:r>
              <a:rPr lang="zh-CN" altLang="en-US" dirty="0" smtClean="0"/>
              <a:t>滤波器</a:t>
            </a:r>
            <a:endParaRPr lang="en-US" altLang="zh-CN" dirty="0" smtClean="0"/>
          </a:p>
          <a:p>
            <a:pPr marL="360000" lvl="1">
              <a:lnSpc>
                <a:spcPct val="150000"/>
              </a:lnSpc>
            </a:pPr>
            <a:r>
              <a:rPr lang="zh-CN" altLang="en-US" dirty="0" smtClean="0"/>
              <a:t>由</a:t>
            </a:r>
            <a:r>
              <a:rPr lang="en-US" altLang="zh-CN" dirty="0" smtClean="0"/>
              <a:t>《LC</a:t>
            </a:r>
            <a:r>
              <a:rPr lang="zh-CN" altLang="en-US" dirty="0" smtClean="0"/>
              <a:t>滤波器快速设计</a:t>
            </a:r>
            <a:r>
              <a:rPr lang="en-US" altLang="zh-CN" dirty="0" smtClean="0"/>
              <a:t>》2.2</a:t>
            </a:r>
            <a:r>
              <a:rPr lang="zh-CN" altLang="en-US" dirty="0" smtClean="0"/>
              <a:t>式，滤波器最低阶数为</a:t>
            </a:r>
            <a:r>
              <a:rPr lang="en-US" altLang="zh-CN" dirty="0" smtClean="0"/>
              <a:t>4.8</a:t>
            </a:r>
            <a:r>
              <a:rPr lang="zh-CN" altLang="en-US" dirty="0" smtClean="0"/>
              <a:t>，实际取</a:t>
            </a:r>
            <a:r>
              <a:rPr lang="en-US" altLang="zh-CN" dirty="0" smtClean="0"/>
              <a:t>5</a:t>
            </a:r>
            <a:r>
              <a:rPr lang="zh-CN" altLang="en-US" dirty="0" smtClean="0"/>
              <a:t>阶</a:t>
            </a:r>
            <a:endParaRPr lang="en-US" altLang="zh-CN" dirty="0" smtClean="0"/>
          </a:p>
          <a:p>
            <a:pPr marL="360000" lvl="1">
              <a:lnSpc>
                <a:spcPct val="150000"/>
              </a:lnSpc>
            </a:pPr>
            <a:r>
              <a:rPr lang="zh-CN" altLang="en-US" dirty="0" smtClean="0"/>
              <a:t>查</a:t>
            </a:r>
            <a:r>
              <a:rPr lang="en-US" altLang="zh-CN" dirty="0"/>
              <a:t>《LC</a:t>
            </a:r>
            <a:r>
              <a:rPr lang="zh-CN" altLang="en-US" dirty="0"/>
              <a:t>滤波器快速设计</a:t>
            </a:r>
            <a:r>
              <a:rPr lang="en-US" altLang="zh-CN" dirty="0"/>
              <a:t>》</a:t>
            </a:r>
            <a:r>
              <a:rPr lang="zh-CN" altLang="en-US" dirty="0" smtClean="0"/>
              <a:t>表</a:t>
            </a:r>
            <a:r>
              <a:rPr lang="en-US" altLang="zh-CN" dirty="0" smtClean="0"/>
              <a:t>1.4</a:t>
            </a:r>
            <a:r>
              <a:rPr lang="zh-CN" altLang="en-US" dirty="0" smtClean="0"/>
              <a:t>，得到归一化参数</a:t>
            </a:r>
            <a:endParaRPr lang="en-US" altLang="zh-CN" dirty="0" smtClean="0"/>
          </a:p>
          <a:p>
            <a:pPr marL="360000" lvl="1">
              <a:lnSpc>
                <a:spcPct val="200000"/>
              </a:lnSpc>
            </a:pPr>
            <a:endParaRPr lang="en-US" altLang="zh-CN" dirty="0"/>
          </a:p>
          <a:p>
            <a:pPr marL="360000" lvl="1">
              <a:lnSpc>
                <a:spcPct val="200000"/>
              </a:lnSpc>
            </a:pPr>
            <a:r>
              <a:rPr lang="zh-CN" altLang="en-US" dirty="0" smtClean="0"/>
              <a:t>由</a:t>
            </a:r>
            <a:r>
              <a:rPr lang="en-US" altLang="zh-CN" dirty="0"/>
              <a:t>《LC</a:t>
            </a:r>
            <a:r>
              <a:rPr lang="zh-CN" altLang="en-US" dirty="0"/>
              <a:t>滤波器快速设计</a:t>
            </a:r>
            <a:r>
              <a:rPr lang="en-US" altLang="zh-CN" dirty="0" smtClean="0"/>
              <a:t>》2.4</a:t>
            </a:r>
            <a:r>
              <a:rPr lang="zh-CN" altLang="en-US" dirty="0" smtClean="0"/>
              <a:t>式，反归一化得到电路与参数</a:t>
            </a:r>
            <a:endParaRPr lang="en-US" altLang="zh-CN" dirty="0"/>
          </a:p>
        </p:txBody>
      </p:sp>
      <p:pic>
        <p:nvPicPr>
          <p:cNvPr id="9" name="图片 8"/>
          <p:cNvPicPr>
            <a:picLocks noChangeAspect="1"/>
          </p:cNvPicPr>
          <p:nvPr/>
        </p:nvPicPr>
        <p:blipFill>
          <a:blip r:embed="rId2"/>
          <a:stretch>
            <a:fillRect/>
          </a:stretch>
        </p:blipFill>
        <p:spPr>
          <a:xfrm>
            <a:off x="831782" y="3317197"/>
            <a:ext cx="7239935" cy="532888"/>
          </a:xfrm>
          <a:prstGeom prst="rect">
            <a:avLst/>
          </a:prstGeom>
        </p:spPr>
      </p:pic>
      <p:sp>
        <p:nvSpPr>
          <p:cNvPr id="10" name="矩形 9"/>
          <p:cNvSpPr/>
          <p:nvPr/>
        </p:nvSpPr>
        <p:spPr>
          <a:xfrm>
            <a:off x="1673259" y="3460247"/>
            <a:ext cx="6339253" cy="2549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3"/>
          <a:stretch>
            <a:fillRect/>
          </a:stretch>
        </p:blipFill>
        <p:spPr>
          <a:xfrm>
            <a:off x="2187995" y="4510096"/>
            <a:ext cx="4215255" cy="1340701"/>
          </a:xfrm>
          <a:prstGeom prst="rect">
            <a:avLst/>
          </a:prstGeom>
        </p:spPr>
      </p:pic>
    </p:spTree>
    <p:extLst>
      <p:ext uri="{BB962C8B-B14F-4D97-AF65-F5344CB8AC3E}">
        <p14:creationId xmlns:p14="http://schemas.microsoft.com/office/powerpoint/2010/main" val="851374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25</a:t>
            </a:fld>
            <a:endParaRPr lang="en-US" altLang="zh-CN">
              <a:solidFill>
                <a:srgbClr val="FFFFFF"/>
              </a:solidFill>
            </a:endParaRPr>
          </a:p>
        </p:txBody>
      </p:sp>
      <p:sp>
        <p:nvSpPr>
          <p:cNvPr id="6" name="矩形 5"/>
          <p:cNvSpPr/>
          <p:nvPr/>
        </p:nvSpPr>
        <p:spPr>
          <a:xfrm>
            <a:off x="289451" y="416668"/>
            <a:ext cx="8394060" cy="3323987"/>
          </a:xfrm>
          <a:prstGeom prst="rect">
            <a:avLst/>
          </a:prstGeom>
        </p:spPr>
        <p:txBody>
          <a:bodyPr wrap="square">
            <a:spAutoFit/>
          </a:bodyPr>
          <a:lstStyle/>
          <a:p>
            <a:pPr marL="245700" indent="-342900">
              <a:lnSpc>
                <a:spcPct val="150000"/>
              </a:lnSpc>
              <a:buFont typeface="Arial" panose="020B0604020202020204" pitchFamily="34" charset="0"/>
              <a:buChar char="•"/>
            </a:pPr>
            <a:r>
              <a:rPr lang="zh-CN" altLang="zh-CN" dirty="0" smtClean="0"/>
              <a:t>低通滤波器</a:t>
            </a:r>
            <a:r>
              <a:rPr lang="zh-CN" altLang="en-US" dirty="0" smtClean="0"/>
              <a:t>设计</a:t>
            </a:r>
            <a:endParaRPr lang="en-US" altLang="zh-CN" dirty="0" smtClean="0"/>
          </a:p>
          <a:p>
            <a:pPr marL="360000" lvl="1">
              <a:lnSpc>
                <a:spcPct val="150000"/>
              </a:lnSpc>
            </a:pPr>
            <a:r>
              <a:rPr lang="en-US" altLang="zh-CN" dirty="0" smtClean="0"/>
              <a:t>-3dB</a:t>
            </a:r>
            <a:r>
              <a:rPr lang="zh-CN" altLang="en-US" dirty="0" smtClean="0"/>
              <a:t>截止频率</a:t>
            </a:r>
            <a:r>
              <a:rPr lang="en-US" altLang="zh-CN" dirty="0"/>
              <a:t>200MHz</a:t>
            </a:r>
            <a:r>
              <a:rPr lang="zh-CN" altLang="zh-CN" dirty="0" smtClean="0"/>
              <a:t>，</a:t>
            </a:r>
            <a:r>
              <a:rPr lang="zh-CN" altLang="en-US" dirty="0" smtClean="0"/>
              <a:t>带内波动</a:t>
            </a:r>
            <a:r>
              <a:rPr lang="en-US" altLang="zh-CN" dirty="0" smtClean="0"/>
              <a:t>0.5dB</a:t>
            </a:r>
          </a:p>
          <a:p>
            <a:pPr marL="360000" lvl="1">
              <a:lnSpc>
                <a:spcPct val="150000"/>
              </a:lnSpc>
            </a:pPr>
            <a:r>
              <a:rPr lang="zh-CN" altLang="zh-CN" dirty="0" smtClean="0"/>
              <a:t>阻带</a:t>
            </a:r>
            <a:r>
              <a:rPr lang="zh-CN" altLang="zh-CN" dirty="0"/>
              <a:t>起始频率</a:t>
            </a:r>
            <a:r>
              <a:rPr lang="en-US" altLang="zh-CN" dirty="0" smtClean="0"/>
              <a:t>270MHz</a:t>
            </a:r>
            <a:r>
              <a:rPr lang="zh-CN" altLang="en-US" dirty="0" smtClean="0"/>
              <a:t>，阻带衰减</a:t>
            </a:r>
            <a:r>
              <a:rPr lang="en-US" altLang="zh-CN" dirty="0" smtClean="0"/>
              <a:t>&gt;40dB</a:t>
            </a:r>
          </a:p>
          <a:p>
            <a:pPr marL="360000" lvl="1">
              <a:lnSpc>
                <a:spcPct val="150000"/>
              </a:lnSpc>
            </a:pPr>
            <a:r>
              <a:rPr lang="zh-CN" altLang="en-US" dirty="0" smtClean="0"/>
              <a:t>由于过渡带极陡，若选用切比雪夫型滤波器，至少需要</a:t>
            </a:r>
            <a:r>
              <a:rPr lang="en-US" altLang="zh-CN" dirty="0" smtClean="0"/>
              <a:t>8</a:t>
            </a:r>
            <a:r>
              <a:rPr lang="zh-CN" altLang="en-US" dirty="0" smtClean="0"/>
              <a:t>阶</a:t>
            </a:r>
            <a:endParaRPr lang="en-US" altLang="zh-CN" dirty="0" smtClean="0"/>
          </a:p>
          <a:p>
            <a:pPr marL="360000" lvl="1">
              <a:lnSpc>
                <a:spcPct val="150000"/>
              </a:lnSpc>
            </a:pPr>
            <a:r>
              <a:rPr lang="zh-CN" altLang="en-US" dirty="0" smtClean="0"/>
              <a:t>为降低阶数，选用</a:t>
            </a:r>
            <a:r>
              <a:rPr lang="zh-CN" altLang="en-US" dirty="0"/>
              <a:t>椭圆型</a:t>
            </a:r>
            <a:r>
              <a:rPr lang="en-US" altLang="zh-CN" dirty="0"/>
              <a:t>LC</a:t>
            </a:r>
            <a:r>
              <a:rPr lang="zh-CN" altLang="en-US" dirty="0"/>
              <a:t>滤波器</a:t>
            </a:r>
            <a:endParaRPr lang="en-US" altLang="zh-CN" dirty="0"/>
          </a:p>
          <a:p>
            <a:pPr marL="360000" lvl="1">
              <a:lnSpc>
                <a:spcPct val="150000"/>
              </a:lnSpc>
            </a:pPr>
            <a:r>
              <a:rPr lang="zh-CN" altLang="en-US" dirty="0" smtClean="0"/>
              <a:t>运用滤波器辅助设计软件（或</a:t>
            </a:r>
            <a:r>
              <a:rPr lang="en-US" altLang="zh-CN" dirty="0"/>
              <a:t>《LC</a:t>
            </a:r>
            <a:r>
              <a:rPr lang="zh-CN" altLang="en-US" dirty="0"/>
              <a:t>滤波器快速设计</a:t>
            </a:r>
            <a:r>
              <a:rPr lang="en-US" altLang="zh-CN" dirty="0" smtClean="0"/>
              <a:t>》</a:t>
            </a:r>
            <a:r>
              <a:rPr lang="zh-CN" altLang="en-US" dirty="0" smtClean="0"/>
              <a:t>第五节</a:t>
            </a:r>
            <a:r>
              <a:rPr lang="en-US" altLang="zh-CN" dirty="0" smtClean="0"/>
              <a:t> </a:t>
            </a:r>
            <a:r>
              <a:rPr lang="zh-CN" altLang="en-US" dirty="0" smtClean="0"/>
              <a:t>），得到电路与参数</a:t>
            </a:r>
            <a:endParaRPr lang="en-US" altLang="zh-CN" dirty="0"/>
          </a:p>
        </p:txBody>
      </p:sp>
      <p:pic>
        <p:nvPicPr>
          <p:cNvPr id="9" name="图片 8"/>
          <p:cNvPicPr>
            <a:picLocks noChangeAspect="1"/>
          </p:cNvPicPr>
          <p:nvPr/>
        </p:nvPicPr>
        <p:blipFill>
          <a:blip r:embed="rId2"/>
          <a:stretch>
            <a:fillRect/>
          </a:stretch>
        </p:blipFill>
        <p:spPr>
          <a:xfrm>
            <a:off x="925143" y="4525180"/>
            <a:ext cx="6182464" cy="1709699"/>
          </a:xfrm>
          <a:prstGeom prst="rect">
            <a:avLst/>
          </a:prstGeom>
        </p:spPr>
      </p:pic>
      <p:pic>
        <p:nvPicPr>
          <p:cNvPr id="10" name="图片 9"/>
          <p:cNvPicPr>
            <a:picLocks noChangeAspect="1"/>
          </p:cNvPicPr>
          <p:nvPr/>
        </p:nvPicPr>
        <p:blipFill>
          <a:blip r:embed="rId3"/>
          <a:stretch>
            <a:fillRect/>
          </a:stretch>
        </p:blipFill>
        <p:spPr>
          <a:xfrm>
            <a:off x="925143" y="3740655"/>
            <a:ext cx="3721787" cy="784525"/>
          </a:xfrm>
          <a:prstGeom prst="rect">
            <a:avLst/>
          </a:prstGeom>
        </p:spPr>
      </p:pic>
    </p:spTree>
    <p:extLst>
      <p:ext uri="{BB962C8B-B14F-4D97-AF65-F5344CB8AC3E}">
        <p14:creationId xmlns:p14="http://schemas.microsoft.com/office/powerpoint/2010/main" val="509891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26</a:t>
            </a:fld>
            <a:endParaRPr lang="en-US" altLang="zh-CN">
              <a:solidFill>
                <a:srgbClr val="FFFFFF"/>
              </a:solidFill>
            </a:endParaRPr>
          </a:p>
        </p:txBody>
      </p:sp>
      <p:sp>
        <p:nvSpPr>
          <p:cNvPr id="5" name="矩形 4"/>
          <p:cNvSpPr/>
          <p:nvPr/>
        </p:nvSpPr>
        <p:spPr>
          <a:xfrm>
            <a:off x="349448" y="492611"/>
            <a:ext cx="8401479" cy="3000821"/>
          </a:xfrm>
          <a:prstGeom prst="rect">
            <a:avLst/>
          </a:prstGeom>
        </p:spPr>
        <p:txBody>
          <a:bodyPr wrap="square">
            <a:spAutoFit/>
          </a:bodyPr>
          <a:lstStyle/>
          <a:p>
            <a:pPr marL="457200" indent="-457200">
              <a:lnSpc>
                <a:spcPct val="135000"/>
              </a:lnSpc>
              <a:buFont typeface="+mj-lt"/>
              <a:buAutoNum type="arabicPeriod" startAt="4"/>
            </a:pPr>
            <a:r>
              <a:rPr lang="zh-CN" altLang="en-US" dirty="0" smtClean="0"/>
              <a:t>总体结构设计</a:t>
            </a:r>
            <a:endParaRPr lang="en-US" altLang="zh-CN" dirty="0" smtClean="0"/>
          </a:p>
          <a:p>
            <a:pPr marL="342900" indent="-342900">
              <a:lnSpc>
                <a:spcPct val="135000"/>
              </a:lnSpc>
              <a:buFont typeface="Arial" panose="020B0604020202020204" pitchFamily="34" charset="0"/>
              <a:buChar char="•"/>
            </a:pPr>
            <a:r>
              <a:rPr lang="zh-CN" altLang="en-US" dirty="0" smtClean="0"/>
              <a:t>放大器级数</a:t>
            </a:r>
            <a:endParaRPr lang="en-US" altLang="zh-CN" dirty="0" smtClean="0"/>
          </a:p>
          <a:p>
            <a:pPr lvl="1">
              <a:lnSpc>
                <a:spcPct val="135000"/>
              </a:lnSpc>
            </a:pPr>
            <a:r>
              <a:rPr lang="zh-CN" altLang="en-US" dirty="0" smtClean="0"/>
              <a:t>考虑</a:t>
            </a:r>
            <a:r>
              <a:rPr lang="en-US" altLang="zh-CN" dirty="0" smtClean="0"/>
              <a:t>2</a:t>
            </a:r>
            <a:r>
              <a:rPr lang="zh-CN" altLang="en-US" dirty="0" smtClean="0"/>
              <a:t>片</a:t>
            </a:r>
            <a:r>
              <a:rPr lang="en-US" altLang="zh-CN" dirty="0"/>
              <a:t>HMC307</a:t>
            </a:r>
            <a:r>
              <a:rPr lang="zh-CN" altLang="en-US" dirty="0"/>
              <a:t>的</a:t>
            </a:r>
            <a:r>
              <a:rPr lang="zh-CN" altLang="en-US" dirty="0" smtClean="0"/>
              <a:t>插入总损耗大约</a:t>
            </a:r>
            <a:r>
              <a:rPr lang="en-US" altLang="zh-CN" dirty="0" smtClean="0"/>
              <a:t>4dB</a:t>
            </a:r>
            <a:r>
              <a:rPr lang="zh-CN" altLang="en-US" dirty="0"/>
              <a:t>，两个</a:t>
            </a:r>
            <a:r>
              <a:rPr lang="en-US" altLang="zh-CN" dirty="0"/>
              <a:t>LC</a:t>
            </a:r>
            <a:r>
              <a:rPr lang="zh-CN" altLang="en-US" dirty="0"/>
              <a:t>滤波器的</a:t>
            </a:r>
            <a:r>
              <a:rPr lang="zh-CN" altLang="en-US" dirty="0" smtClean="0"/>
              <a:t>插入总损耗以</a:t>
            </a:r>
            <a:r>
              <a:rPr lang="en-US" altLang="zh-CN" dirty="0" smtClean="0"/>
              <a:t>4dB</a:t>
            </a:r>
            <a:r>
              <a:rPr lang="zh-CN" altLang="en-US" dirty="0"/>
              <a:t>计，总损耗约</a:t>
            </a:r>
            <a:r>
              <a:rPr lang="zh-CN" altLang="en-US" dirty="0" smtClean="0"/>
              <a:t>为</a:t>
            </a:r>
            <a:r>
              <a:rPr lang="en-US" altLang="zh-CN" dirty="0" smtClean="0"/>
              <a:t>8dB</a:t>
            </a:r>
          </a:p>
          <a:p>
            <a:pPr lvl="1">
              <a:lnSpc>
                <a:spcPct val="135000"/>
              </a:lnSpc>
            </a:pPr>
            <a:r>
              <a:rPr lang="zh-CN" altLang="en-US" dirty="0"/>
              <a:t>整机要求增益为≥</a:t>
            </a:r>
            <a:r>
              <a:rPr lang="en-US" altLang="zh-CN" dirty="0"/>
              <a:t>52dB</a:t>
            </a:r>
            <a:r>
              <a:rPr lang="zh-CN" altLang="en-US" dirty="0" smtClean="0"/>
              <a:t>，每个</a:t>
            </a:r>
            <a:r>
              <a:rPr lang="en-US" altLang="zh-CN" dirty="0"/>
              <a:t>HMC580</a:t>
            </a:r>
            <a:r>
              <a:rPr lang="zh-CN" altLang="en-US" dirty="0" smtClean="0"/>
              <a:t>具有</a:t>
            </a:r>
            <a:r>
              <a:rPr lang="en-US" altLang="zh-CN" dirty="0" smtClean="0"/>
              <a:t>22dB</a:t>
            </a:r>
            <a:r>
              <a:rPr lang="zh-CN" altLang="en-US" dirty="0" smtClean="0"/>
              <a:t>增益，</a:t>
            </a:r>
            <a:r>
              <a:rPr lang="en-US" altLang="zh-CN" dirty="0" smtClean="0"/>
              <a:t>3</a:t>
            </a:r>
            <a:r>
              <a:rPr lang="zh-CN" altLang="en-US" dirty="0"/>
              <a:t>级</a:t>
            </a:r>
            <a:r>
              <a:rPr lang="zh-CN" altLang="en-US" dirty="0" smtClean="0"/>
              <a:t>放大总增益</a:t>
            </a:r>
            <a:r>
              <a:rPr lang="en-US" altLang="zh-CN" dirty="0" smtClean="0"/>
              <a:t>66dB</a:t>
            </a:r>
            <a:r>
              <a:rPr lang="zh-CN" altLang="en-US" dirty="0" smtClean="0"/>
              <a:t>，减去损耗</a:t>
            </a:r>
            <a:r>
              <a:rPr lang="en-US" altLang="zh-CN" dirty="0" smtClean="0"/>
              <a:t>8dB</a:t>
            </a:r>
            <a:r>
              <a:rPr lang="zh-CN" altLang="en-US" dirty="0" smtClean="0"/>
              <a:t>，尚有</a:t>
            </a:r>
            <a:r>
              <a:rPr lang="en-US" altLang="zh-CN" dirty="0" smtClean="0"/>
              <a:t>58dB</a:t>
            </a:r>
            <a:r>
              <a:rPr lang="zh-CN" altLang="en-US" dirty="0" smtClean="0"/>
              <a:t>，应该可以满足要求</a:t>
            </a:r>
            <a:endParaRPr lang="en-US" altLang="zh-CN" dirty="0"/>
          </a:p>
          <a:p>
            <a:pPr marL="342900" indent="-342900">
              <a:lnSpc>
                <a:spcPct val="135000"/>
              </a:lnSpc>
              <a:buFont typeface="Arial" panose="020B0604020202020204" pitchFamily="34" charset="0"/>
              <a:buChar char="•"/>
            </a:pPr>
            <a:r>
              <a:rPr lang="zh-CN" altLang="en-US" dirty="0" smtClean="0"/>
              <a:t>电路结构</a:t>
            </a:r>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2462582918"/>
              </p:ext>
            </p:extLst>
          </p:nvPr>
        </p:nvGraphicFramePr>
        <p:xfrm>
          <a:off x="468313" y="3756490"/>
          <a:ext cx="8229600" cy="1252538"/>
        </p:xfrm>
        <a:graphic>
          <a:graphicData uri="http://schemas.openxmlformats.org/presentationml/2006/ole">
            <mc:AlternateContent xmlns:mc="http://schemas.openxmlformats.org/markup-compatibility/2006">
              <mc:Choice xmlns:v="urn:schemas-microsoft-com:vml" Requires="v">
                <p:oleObj spid="_x0000_s9223" name="Visio" r:id="rId3" imgW="4895593" imgH="755656" progId="Visio.Drawing.15">
                  <p:embed/>
                </p:oleObj>
              </mc:Choice>
              <mc:Fallback>
                <p:oleObj name="Visio" r:id="rId3" imgW="4895593" imgH="755656" progId="Visio.Drawing.15">
                  <p:embed/>
                  <p:pic>
                    <p:nvPicPr>
                      <p:cNvPr id="6" name="对象 5"/>
                      <p:cNvPicPr>
                        <a:picLocks noChangeAspect="1" noChangeArrowheads="1"/>
                      </p:cNvPicPr>
                      <p:nvPr/>
                    </p:nvPicPr>
                    <p:blipFill>
                      <a:blip r:embed="rId4"/>
                      <a:srcRect/>
                      <a:stretch>
                        <a:fillRect/>
                      </a:stretch>
                    </p:blipFill>
                    <p:spPr bwMode="auto">
                      <a:xfrm>
                        <a:off x="468313" y="3756490"/>
                        <a:ext cx="8229600" cy="1252538"/>
                      </a:xfrm>
                      <a:prstGeom prst="rect">
                        <a:avLst/>
                      </a:prstGeom>
                      <a:noFill/>
                    </p:spPr>
                  </p:pic>
                </p:oleObj>
              </mc:Fallback>
            </mc:AlternateContent>
          </a:graphicData>
        </a:graphic>
      </p:graphicFrame>
    </p:spTree>
    <p:extLst>
      <p:ext uri="{BB962C8B-B14F-4D97-AF65-F5344CB8AC3E}">
        <p14:creationId xmlns:p14="http://schemas.microsoft.com/office/powerpoint/2010/main" val="716037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27</a:t>
            </a:fld>
            <a:endParaRPr lang="en-US" altLang="zh-CN">
              <a:solidFill>
                <a:srgbClr val="FFFFFF"/>
              </a:solidFill>
            </a:endParaRPr>
          </a:p>
        </p:txBody>
      </p:sp>
      <mc:AlternateContent xmlns:mc="http://schemas.openxmlformats.org/markup-compatibility/2006">
        <mc:Choice xmlns:a14="http://schemas.microsoft.com/office/drawing/2010/main" Requires="a14">
          <p:sp>
            <p:nvSpPr>
              <p:cNvPr id="5" name="文本框 4"/>
              <p:cNvSpPr txBox="1"/>
              <p:nvPr/>
            </p:nvSpPr>
            <p:spPr>
              <a:xfrm>
                <a:off x="317711" y="394725"/>
                <a:ext cx="8529524" cy="5743111"/>
              </a:xfrm>
              <a:prstGeom prst="rect">
                <a:avLst/>
              </a:prstGeom>
              <a:noFill/>
            </p:spPr>
            <p:txBody>
              <a:bodyPr wrap="square" rtlCol="0">
                <a:spAutoFit/>
              </a:bodyPr>
              <a:lstStyle/>
              <a:p>
                <a:pPr marL="342900" indent="-342900">
                  <a:lnSpc>
                    <a:spcPct val="135000"/>
                  </a:lnSpc>
                  <a:buFont typeface="Arial" panose="020B0604020202020204" pitchFamily="34" charset="0"/>
                  <a:buChar char="•"/>
                </a:pPr>
                <a:r>
                  <a:rPr lang="zh-CN" altLang="en-US" dirty="0"/>
                  <a:t>几</a:t>
                </a:r>
                <a:r>
                  <a:rPr lang="zh-CN" altLang="en-US" dirty="0" smtClean="0"/>
                  <a:t>点说明</a:t>
                </a:r>
                <a:endParaRPr lang="en-US" altLang="zh-CN" dirty="0" smtClean="0"/>
              </a:p>
              <a:p>
                <a:pPr lvl="1">
                  <a:lnSpc>
                    <a:spcPct val="135000"/>
                  </a:lnSpc>
                </a:pPr>
                <a:r>
                  <a:rPr lang="en-US" altLang="zh-CN" dirty="0" smtClean="0"/>
                  <a:t>1</a:t>
                </a:r>
                <a:r>
                  <a:rPr lang="zh-CN" altLang="en-US" dirty="0" smtClean="0"/>
                  <a:t>、</a:t>
                </a:r>
                <a:r>
                  <a:rPr lang="zh-CN" altLang="en-US" sz="1800" dirty="0" smtClean="0"/>
                  <a:t>每个</a:t>
                </a:r>
                <a:r>
                  <a:rPr lang="zh-CN" altLang="zh-CN" sz="1800" dirty="0" smtClean="0"/>
                  <a:t>放大器</a:t>
                </a:r>
                <a:r>
                  <a:rPr lang="zh-CN" altLang="en-US" sz="1800" dirty="0" smtClean="0"/>
                  <a:t>可</a:t>
                </a:r>
                <a:r>
                  <a:rPr lang="zh-CN" altLang="zh-CN" sz="1800" dirty="0" smtClean="0"/>
                  <a:t>插入</a:t>
                </a:r>
                <a14:m>
                  <m:oMath xmlns:m="http://schemas.openxmlformats.org/officeDocument/2006/math">
                    <m:r>
                      <m:rPr>
                        <m:sty m:val="p"/>
                      </m:rPr>
                      <a:rPr lang="en-US" altLang="zh-CN" sz="1800">
                        <a:solidFill>
                          <a:srgbClr val="FF0000"/>
                        </a:solidFill>
                        <a:latin typeface="Cambria Math" panose="02040503050406030204" pitchFamily="18" charset="0"/>
                      </a:rPr>
                      <m:t>π</m:t>
                    </m:r>
                  </m:oMath>
                </a14:m>
                <a:r>
                  <a:rPr lang="zh-CN" altLang="zh-CN" sz="1800" dirty="0">
                    <a:solidFill>
                      <a:srgbClr val="FF0000"/>
                    </a:solidFill>
                  </a:rPr>
                  <a:t>形电阻阻抗匹配网络</a:t>
                </a:r>
                <a:r>
                  <a:rPr lang="zh-CN" altLang="zh-CN" sz="1800" dirty="0"/>
                  <a:t>或者加入一些</a:t>
                </a:r>
                <a:r>
                  <a:rPr lang="zh-CN" altLang="zh-CN" sz="1800" dirty="0" smtClean="0">
                    <a:solidFill>
                      <a:srgbClr val="FF0000"/>
                    </a:solidFill>
                  </a:rPr>
                  <a:t>负反馈</a:t>
                </a:r>
                <a:r>
                  <a:rPr lang="zh-CN" altLang="en-US" sz="1800" dirty="0" smtClean="0"/>
                  <a:t>（通常只要加其中一种）。</a:t>
                </a:r>
                <a:r>
                  <a:rPr lang="zh-CN" altLang="zh-CN" sz="1800" dirty="0" smtClean="0"/>
                  <a:t>那样的话</a:t>
                </a:r>
                <a:r>
                  <a:rPr lang="zh-CN" altLang="zh-CN" sz="1800" dirty="0"/>
                  <a:t>整体稳定性可以</a:t>
                </a:r>
                <a:r>
                  <a:rPr lang="zh-CN" altLang="zh-CN" sz="1800" dirty="0" smtClean="0"/>
                  <a:t>提高</a:t>
                </a:r>
                <a:r>
                  <a:rPr lang="zh-CN" altLang="en-US" sz="1800" dirty="0" smtClean="0"/>
                  <a:t>（对于宽带放大器这一点很重要），但</a:t>
                </a:r>
                <a:r>
                  <a:rPr lang="zh-CN" altLang="zh-CN" sz="1800" dirty="0" smtClean="0"/>
                  <a:t>会</a:t>
                </a:r>
                <a:r>
                  <a:rPr lang="zh-CN" altLang="zh-CN" sz="1800" dirty="0"/>
                  <a:t>引入额外的</a:t>
                </a:r>
                <a:r>
                  <a:rPr lang="zh-CN" altLang="zh-CN" sz="1800" dirty="0" smtClean="0"/>
                  <a:t>衰减</a:t>
                </a:r>
                <a:r>
                  <a:rPr lang="zh-CN" altLang="en-US" sz="1800" dirty="0" smtClean="0"/>
                  <a:t>，</a:t>
                </a:r>
                <a:r>
                  <a:rPr lang="zh-CN" altLang="zh-CN" sz="1800" dirty="0" smtClean="0"/>
                  <a:t>若</a:t>
                </a:r>
                <a:r>
                  <a:rPr lang="zh-CN" altLang="zh-CN" sz="1800" dirty="0"/>
                  <a:t>因此导致整机最大增益不足则可以再增加一级</a:t>
                </a:r>
                <a:r>
                  <a:rPr lang="zh-CN" altLang="zh-CN" sz="1800" dirty="0" smtClean="0"/>
                  <a:t>放大器</a:t>
                </a:r>
                <a:endParaRPr lang="en-US" altLang="zh-CN" sz="1800" dirty="0" smtClean="0"/>
              </a:p>
              <a:p>
                <a:pPr lvl="1">
                  <a:lnSpc>
                    <a:spcPct val="135000"/>
                  </a:lnSpc>
                </a:pPr>
                <a:endParaRPr lang="en-US" altLang="zh-CN" sz="1800" dirty="0"/>
              </a:p>
              <a:p>
                <a:pPr lvl="1">
                  <a:lnSpc>
                    <a:spcPct val="135000"/>
                  </a:lnSpc>
                </a:pPr>
                <a:endParaRPr lang="en-US" altLang="zh-CN" sz="1800" dirty="0" smtClean="0"/>
              </a:p>
              <a:p>
                <a:pPr lvl="1">
                  <a:lnSpc>
                    <a:spcPct val="135000"/>
                  </a:lnSpc>
                </a:pPr>
                <a:endParaRPr lang="en-US" altLang="zh-CN" sz="1800" dirty="0"/>
              </a:p>
              <a:p>
                <a:pPr lvl="1">
                  <a:lnSpc>
                    <a:spcPct val="135000"/>
                  </a:lnSpc>
                </a:pPr>
                <a:endParaRPr lang="en-US" altLang="zh-CN" sz="1800" dirty="0" smtClean="0"/>
              </a:p>
              <a:p>
                <a:pPr lvl="1">
                  <a:lnSpc>
                    <a:spcPct val="135000"/>
                  </a:lnSpc>
                </a:pPr>
                <a:endParaRPr lang="en-US" altLang="zh-CN" sz="1800" dirty="0" smtClean="0"/>
              </a:p>
              <a:p>
                <a:pPr lvl="1">
                  <a:lnSpc>
                    <a:spcPct val="135000"/>
                  </a:lnSpc>
                </a:pPr>
                <a:r>
                  <a:rPr lang="en-US" altLang="zh-CN" sz="1800" dirty="0" smtClean="0"/>
                  <a:t>2</a:t>
                </a:r>
                <a:r>
                  <a:rPr lang="zh-CN" altLang="en-US" sz="1800" dirty="0" smtClean="0"/>
                  <a:t>、理论上说，结构图中放大器与衰减器的前后次序可以任意交换。但实际上要考虑放大器的中途饱和，所以衰减器前面的放大器增益不宜过高（前面框图中在衰减器前只安排了一级放大</a:t>
                </a:r>
                <a:r>
                  <a:rPr lang="zh-CN" altLang="en-US" dirty="0" smtClean="0"/>
                  <a:t>）</a:t>
                </a:r>
                <a:r>
                  <a:rPr lang="zh-CN" altLang="en-US" sz="1800" dirty="0" smtClean="0"/>
                  <a:t>。但完全没有第一级放大器也不合适，因为那样可能导致信噪比变差</a:t>
                </a:r>
                <a:endParaRPr lang="en-US" altLang="zh-CN" sz="1800" dirty="0" smtClean="0"/>
              </a:p>
              <a:p>
                <a:pPr lvl="2">
                  <a:lnSpc>
                    <a:spcPct val="135000"/>
                  </a:lnSpc>
                </a:pPr>
                <a:r>
                  <a:rPr lang="zh-CN" altLang="en-US" sz="1600" dirty="0" smtClean="0"/>
                  <a:t>中途饱和：当衰减量很大时，尽管最后一级的输出仍然不变，但是实际上此时整个放大器的输入很大，所以在衰减器前面的放大器可能由于输出过大而导致饱和</a:t>
                </a:r>
                <a:endParaRPr lang="en-US" altLang="zh-CN" sz="1600" dirty="0"/>
              </a:p>
            </p:txBody>
          </p:sp>
        </mc:Choice>
        <mc:Fallback>
          <p:sp>
            <p:nvSpPr>
              <p:cNvPr id="5" name="文本框 4"/>
              <p:cNvSpPr txBox="1">
                <a:spLocks noRot="1" noChangeAspect="1" noMove="1" noResize="1" noEditPoints="1" noAdjustHandles="1" noChangeArrowheads="1" noChangeShapeType="1" noTextEdit="1"/>
              </p:cNvSpPr>
              <p:nvPr/>
            </p:nvSpPr>
            <p:spPr>
              <a:xfrm>
                <a:off x="317711" y="394725"/>
                <a:ext cx="8529524" cy="5743111"/>
              </a:xfrm>
              <a:prstGeom prst="rect">
                <a:avLst/>
              </a:prstGeom>
              <a:blipFill>
                <a:blip r:embed="rId2"/>
                <a:stretch>
                  <a:fillRect l="-643" r="-1930"/>
                </a:stretch>
              </a:blipFill>
            </p:spPr>
            <p:txBody>
              <a:bodyPr/>
              <a:lstStyle/>
              <a:p>
                <a:r>
                  <a:rPr lang="zh-CN" altLang="en-US">
                    <a:noFill/>
                  </a:rPr>
                  <a:t> </a:t>
                </a:r>
              </a:p>
            </p:txBody>
          </p:sp>
        </mc:Fallback>
      </mc:AlternateContent>
      <p:pic>
        <p:nvPicPr>
          <p:cNvPr id="7" name="图片 6"/>
          <p:cNvPicPr>
            <a:picLocks noChangeAspect="1"/>
          </p:cNvPicPr>
          <p:nvPr/>
        </p:nvPicPr>
        <p:blipFill>
          <a:blip r:embed="rId3"/>
          <a:stretch>
            <a:fillRect/>
          </a:stretch>
        </p:blipFill>
        <p:spPr>
          <a:xfrm>
            <a:off x="2601913" y="2096243"/>
            <a:ext cx="3840633" cy="1649148"/>
          </a:xfrm>
          <a:prstGeom prst="rect">
            <a:avLst/>
          </a:prstGeom>
        </p:spPr>
      </p:pic>
      <p:cxnSp>
        <p:nvCxnSpPr>
          <p:cNvPr id="9" name="直接连接符 8"/>
          <p:cNvCxnSpPr/>
          <p:nvPr/>
        </p:nvCxnSpPr>
        <p:spPr>
          <a:xfrm flipH="1">
            <a:off x="3776012" y="1243271"/>
            <a:ext cx="702803" cy="1435320"/>
          </a:xfrm>
          <a:prstGeom prst="line">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直接连接符 9"/>
          <p:cNvCxnSpPr>
            <a:endCxn id="15" idx="7"/>
          </p:cNvCxnSpPr>
          <p:nvPr/>
        </p:nvCxnSpPr>
        <p:spPr>
          <a:xfrm flipH="1">
            <a:off x="5484113" y="1289370"/>
            <a:ext cx="1877137" cy="956864"/>
          </a:xfrm>
          <a:prstGeom prst="line">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3052386" y="2678591"/>
            <a:ext cx="1203850" cy="9999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4358876" y="2172053"/>
            <a:ext cx="1318297" cy="5065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480103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28</a:t>
            </a:fld>
            <a:endParaRPr lang="en-US" altLang="zh-CN">
              <a:solidFill>
                <a:srgbClr val="FFFFFF"/>
              </a:solidFill>
            </a:endParaRPr>
          </a:p>
        </p:txBody>
      </p:sp>
      <p:sp>
        <p:nvSpPr>
          <p:cNvPr id="5" name="文本框 4"/>
          <p:cNvSpPr txBox="1"/>
          <p:nvPr/>
        </p:nvSpPr>
        <p:spPr>
          <a:xfrm>
            <a:off x="358444" y="256031"/>
            <a:ext cx="8346643" cy="6278642"/>
          </a:xfrm>
          <a:prstGeom prst="rect">
            <a:avLst/>
          </a:prstGeom>
          <a:noFill/>
        </p:spPr>
        <p:txBody>
          <a:bodyPr wrap="square" rtlCol="0">
            <a:spAutoFit/>
          </a:bodyPr>
          <a:lstStyle/>
          <a:p>
            <a:pPr>
              <a:lnSpc>
                <a:spcPct val="150000"/>
              </a:lnSpc>
            </a:pPr>
            <a:r>
              <a:rPr lang="zh-CN" altLang="en-US" sz="2800" dirty="0" smtClean="0">
                <a:solidFill>
                  <a:srgbClr val="FF0000"/>
                </a:solidFill>
                <a:latin typeface="Arial" panose="020B0604020202020204" pitchFamily="34" charset="0"/>
                <a:ea typeface="隶书" panose="02010509060101010101" pitchFamily="49" charset="-122"/>
              </a:rPr>
              <a:t>可变增益</a:t>
            </a:r>
            <a:r>
              <a:rPr lang="zh-CN" altLang="en-US" sz="2800" dirty="0" smtClean="0">
                <a:solidFill>
                  <a:srgbClr val="FF0000"/>
                </a:solidFill>
                <a:latin typeface="Arial" panose="020B0604020202020204" pitchFamily="34" charset="0"/>
                <a:ea typeface="隶书" panose="02010509060101010101" pitchFamily="49" charset="-122"/>
              </a:rPr>
              <a:t>放大器与</a:t>
            </a:r>
            <a:r>
              <a:rPr lang="en-US" altLang="zh-CN" sz="2800" dirty="0" smtClean="0">
                <a:solidFill>
                  <a:srgbClr val="FF0000"/>
                </a:solidFill>
                <a:latin typeface="Calibri" panose="020F0502020204030204" pitchFamily="34" charset="0"/>
                <a:ea typeface="隶书" panose="02010509060101010101" pitchFamily="49" charset="-122"/>
                <a:cs typeface="Calibri" panose="020F0502020204030204" pitchFamily="34" charset="0"/>
              </a:rPr>
              <a:t>AGC</a:t>
            </a:r>
            <a:r>
              <a:rPr lang="zh-CN" altLang="en-US" sz="2800" dirty="0" smtClean="0">
                <a:solidFill>
                  <a:srgbClr val="FF0000"/>
                </a:solidFill>
                <a:latin typeface="Arial" panose="020B0604020202020204" pitchFamily="34" charset="0"/>
                <a:ea typeface="隶书" panose="02010509060101010101" pitchFamily="49" charset="-122"/>
              </a:rPr>
              <a:t>放大器</a:t>
            </a:r>
            <a:endParaRPr lang="en-US" altLang="zh-CN" sz="2800" dirty="0" smtClean="0">
              <a:solidFill>
                <a:srgbClr val="FF0000"/>
              </a:solidFill>
              <a:latin typeface="Arial" panose="020B0604020202020204" pitchFamily="34" charset="0"/>
              <a:ea typeface="隶书" panose="02010509060101010101" pitchFamily="49" charset="-122"/>
            </a:endParaRPr>
          </a:p>
          <a:p>
            <a:pPr marL="342900" indent="-342900">
              <a:lnSpc>
                <a:spcPct val="150000"/>
              </a:lnSpc>
              <a:buFont typeface="Wingdings" panose="05000000000000000000" pitchFamily="2" charset="2"/>
              <a:buChar char="Ø"/>
            </a:pPr>
            <a:r>
              <a:rPr lang="zh-CN" altLang="en-US" dirty="0" smtClean="0">
                <a:latin typeface="Arial" panose="020B0604020202020204" pitchFamily="34" charset="0"/>
                <a:ea typeface="+mn-ea"/>
              </a:rPr>
              <a:t>改变增益的方式</a:t>
            </a:r>
            <a:endParaRPr lang="en-US" altLang="zh-CN" dirty="0" smtClean="0">
              <a:latin typeface="Arial" panose="020B0604020202020204" pitchFamily="34" charset="0"/>
              <a:ea typeface="+mn-ea"/>
            </a:endParaRPr>
          </a:p>
          <a:p>
            <a:pPr marL="800100" lvl="1" indent="-342900">
              <a:lnSpc>
                <a:spcPct val="150000"/>
              </a:lnSpc>
              <a:buFont typeface="Arial" panose="020B0604020202020204" pitchFamily="34" charset="0"/>
              <a:buChar char="•"/>
            </a:pPr>
            <a:r>
              <a:rPr lang="zh-CN" altLang="en-US" dirty="0" smtClean="0">
                <a:latin typeface="Arial" panose="020B0604020202020204" pitchFamily="34" charset="0"/>
                <a:ea typeface="+mn-ea"/>
              </a:rPr>
              <a:t>可变衰减器，</a:t>
            </a:r>
            <a:r>
              <a:rPr lang="zh-CN" altLang="en-US" dirty="0" smtClean="0">
                <a:latin typeface="Arial" panose="020B0604020202020204" pitchFamily="34" charset="0"/>
              </a:rPr>
              <a:t>特点：增益数控步进、负增益</a:t>
            </a:r>
            <a:endParaRPr lang="en-US" altLang="zh-CN" dirty="0" smtClean="0">
              <a:latin typeface="Arial" panose="020B0604020202020204" pitchFamily="34" charset="0"/>
              <a:ea typeface="+mn-ea"/>
            </a:endParaRPr>
          </a:p>
          <a:p>
            <a:pPr marL="800100" lvl="1" indent="-342900">
              <a:lnSpc>
                <a:spcPct val="150000"/>
              </a:lnSpc>
              <a:buFont typeface="Arial" panose="020B0604020202020204" pitchFamily="34" charset="0"/>
              <a:buChar char="•"/>
            </a:pPr>
            <a:r>
              <a:rPr lang="zh-CN" altLang="en-US" dirty="0" smtClean="0">
                <a:latin typeface="Arial" panose="020B0604020202020204" pitchFamily="34" charset="0"/>
                <a:ea typeface="+mn-ea"/>
              </a:rPr>
              <a:t>模拟乘法器，特点：电压控制、放大倍数与控制电压成正比</a:t>
            </a:r>
            <a:endParaRPr lang="en-US" altLang="zh-CN" dirty="0" smtClean="0">
              <a:latin typeface="Arial" panose="020B0604020202020204" pitchFamily="34" charset="0"/>
              <a:ea typeface="+mn-ea"/>
            </a:endParaRPr>
          </a:p>
          <a:p>
            <a:pPr marL="800100" lvl="1" indent="-342900">
              <a:lnSpc>
                <a:spcPct val="150000"/>
              </a:lnSpc>
              <a:buFont typeface="Arial" panose="020B0604020202020204" pitchFamily="34" charset="0"/>
              <a:buChar char="•"/>
            </a:pPr>
            <a:r>
              <a:rPr lang="zh-CN" altLang="en-US" dirty="0" smtClean="0">
                <a:latin typeface="Arial" panose="020B0604020202020204" pitchFamily="34" charset="0"/>
                <a:ea typeface="+mn-ea"/>
              </a:rPr>
              <a:t>集成可变增益放大器，特点：电压控制，增益（</a:t>
            </a:r>
            <a:r>
              <a:rPr lang="en-US" altLang="zh-CN" dirty="0" smtClean="0">
                <a:latin typeface="Arial" panose="020B0604020202020204" pitchFamily="34" charset="0"/>
                <a:ea typeface="+mn-ea"/>
              </a:rPr>
              <a:t>dB</a:t>
            </a:r>
            <a:r>
              <a:rPr lang="zh-CN" altLang="en-US" dirty="0" smtClean="0">
                <a:latin typeface="Arial" panose="020B0604020202020204" pitchFamily="34" charset="0"/>
                <a:ea typeface="+mn-ea"/>
              </a:rPr>
              <a:t>）与控制电压成正比</a:t>
            </a:r>
            <a:endParaRPr lang="en-US" altLang="zh-CN" dirty="0" smtClean="0">
              <a:latin typeface="Arial" panose="020B0604020202020204" pitchFamily="34" charset="0"/>
              <a:ea typeface="+mn-ea"/>
            </a:endParaRPr>
          </a:p>
          <a:p>
            <a:pPr marL="342900" indent="-342900">
              <a:lnSpc>
                <a:spcPct val="150000"/>
              </a:lnSpc>
              <a:buFont typeface="Wingdings" panose="05000000000000000000" pitchFamily="2" charset="2"/>
              <a:buChar char="Ø"/>
            </a:pPr>
            <a:r>
              <a:rPr lang="zh-CN" altLang="en-US" dirty="0" smtClean="0">
                <a:latin typeface="Arial" panose="020B0604020202020204" pitchFamily="34" charset="0"/>
                <a:ea typeface="+mn-ea"/>
              </a:rPr>
              <a:t>几个集成可变增益放大器的例子</a:t>
            </a:r>
            <a:endParaRPr lang="en-US" altLang="zh-CN" dirty="0" smtClean="0">
              <a:latin typeface="Arial" panose="020B0604020202020204" pitchFamily="34" charset="0"/>
              <a:ea typeface="+mn-ea"/>
            </a:endParaRPr>
          </a:p>
          <a:p>
            <a:pPr marL="800100" lvl="1" indent="-342900">
              <a:lnSpc>
                <a:spcPct val="150000"/>
              </a:lnSpc>
              <a:buFont typeface="Arial" panose="020B0604020202020204" pitchFamily="34" charset="0"/>
              <a:buChar char="•"/>
            </a:pPr>
            <a:r>
              <a:rPr lang="en-US" altLang="zh-CN" dirty="0" smtClean="0">
                <a:latin typeface="Arial" panose="020B0604020202020204" pitchFamily="34" charset="0"/>
                <a:ea typeface="+mn-ea"/>
              </a:rPr>
              <a:t>AD630</a:t>
            </a:r>
            <a:r>
              <a:rPr lang="zh-CN" altLang="en-US" dirty="0" smtClean="0">
                <a:latin typeface="Arial" panose="020B0604020202020204" pitchFamily="34" charset="0"/>
                <a:ea typeface="+mn-ea"/>
              </a:rPr>
              <a:t>，</a:t>
            </a:r>
            <a:r>
              <a:rPr lang="en-US" altLang="zh-CN" dirty="0" smtClean="0">
                <a:latin typeface="Arial" panose="020B0604020202020204" pitchFamily="34" charset="0"/>
                <a:ea typeface="+mn-ea"/>
              </a:rPr>
              <a:t>-3dB</a:t>
            </a:r>
            <a:r>
              <a:rPr lang="zh-CN" altLang="en-US" dirty="0" smtClean="0">
                <a:latin typeface="Arial" panose="020B0604020202020204" pitchFamily="34" charset="0"/>
                <a:ea typeface="+mn-ea"/>
              </a:rPr>
              <a:t>频响</a:t>
            </a:r>
            <a:r>
              <a:rPr lang="en-US" altLang="zh-CN" dirty="0" smtClean="0">
                <a:latin typeface="Arial" panose="020B0604020202020204" pitchFamily="34" charset="0"/>
                <a:ea typeface="+mn-ea"/>
              </a:rPr>
              <a:t>90MHz</a:t>
            </a:r>
            <a:r>
              <a:rPr lang="zh-CN" altLang="en-US" dirty="0" smtClean="0">
                <a:latin typeface="Arial" panose="020B0604020202020204" pitchFamily="34" charset="0"/>
                <a:ea typeface="+mn-ea"/>
              </a:rPr>
              <a:t>，压摆率</a:t>
            </a:r>
            <a:r>
              <a:rPr lang="en-US" altLang="zh-CN" dirty="0" smtClean="0">
                <a:latin typeface="Arial" panose="020B0604020202020204" pitchFamily="34" charset="0"/>
                <a:ea typeface="+mn-ea"/>
              </a:rPr>
              <a:t>275V/us</a:t>
            </a:r>
            <a:r>
              <a:rPr lang="zh-CN" altLang="en-US" dirty="0" smtClean="0">
                <a:latin typeface="Arial" panose="020B0604020202020204" pitchFamily="34" charset="0"/>
                <a:ea typeface="+mn-ea"/>
              </a:rPr>
              <a:t>，增益</a:t>
            </a:r>
            <a:r>
              <a:rPr lang="en-US" altLang="zh-CN" dirty="0" smtClean="0">
                <a:latin typeface="Arial" panose="020B0604020202020204" pitchFamily="34" charset="0"/>
                <a:ea typeface="+mn-ea"/>
              </a:rPr>
              <a:t>-11</a:t>
            </a:r>
            <a:r>
              <a:rPr lang="zh-CN" altLang="en-US" dirty="0" smtClean="0">
                <a:latin typeface="Arial" panose="020B0604020202020204" pitchFamily="34" charset="0"/>
                <a:ea typeface="+mn-ea"/>
              </a:rPr>
              <a:t>～</a:t>
            </a:r>
            <a:r>
              <a:rPr lang="en-US" altLang="zh-CN" dirty="0" smtClean="0">
                <a:latin typeface="Arial" panose="020B0604020202020204" pitchFamily="34" charset="0"/>
                <a:ea typeface="+mn-ea"/>
              </a:rPr>
              <a:t>+31dB</a:t>
            </a:r>
            <a:r>
              <a:rPr lang="zh-CN" altLang="en-US" dirty="0" smtClean="0">
                <a:latin typeface="Arial" panose="020B0604020202020204" pitchFamily="34" charset="0"/>
                <a:ea typeface="+mn-ea"/>
              </a:rPr>
              <a:t>，电源电压</a:t>
            </a:r>
            <a:r>
              <a:rPr lang="en-US" altLang="zh-CN" dirty="0" smtClean="0">
                <a:latin typeface="Arial" panose="020B0604020202020204" pitchFamily="34" charset="0"/>
                <a:ea typeface="+mn-ea"/>
              </a:rPr>
              <a:t>±7.5V</a:t>
            </a:r>
          </a:p>
          <a:p>
            <a:pPr marL="800100" lvl="1" indent="-342900">
              <a:lnSpc>
                <a:spcPct val="150000"/>
              </a:lnSpc>
              <a:buFont typeface="Arial" panose="020B0604020202020204" pitchFamily="34" charset="0"/>
              <a:buChar char="•"/>
            </a:pPr>
            <a:r>
              <a:rPr lang="en-US" altLang="zh-CN" dirty="0" smtClean="0">
                <a:latin typeface="Arial" panose="020B0604020202020204" pitchFamily="34" charset="0"/>
                <a:ea typeface="+mn-ea"/>
              </a:rPr>
              <a:t>LMH6502</a:t>
            </a:r>
            <a:r>
              <a:rPr lang="zh-CN" altLang="en-US" dirty="0" smtClean="0">
                <a:latin typeface="Arial" panose="020B0604020202020204" pitchFamily="34" charset="0"/>
                <a:ea typeface="+mn-ea"/>
              </a:rPr>
              <a:t>，频响</a:t>
            </a:r>
            <a:r>
              <a:rPr lang="en-US" altLang="zh-CN" dirty="0" smtClean="0">
                <a:latin typeface="Arial" panose="020B0604020202020204" pitchFamily="34" charset="0"/>
                <a:ea typeface="+mn-ea"/>
              </a:rPr>
              <a:t>130MHz</a:t>
            </a:r>
            <a:r>
              <a:rPr lang="zh-CN" altLang="en-US" dirty="0" smtClean="0">
                <a:latin typeface="Arial" panose="020B0604020202020204" pitchFamily="34" charset="0"/>
                <a:ea typeface="+mn-ea"/>
              </a:rPr>
              <a:t>，压摆率</a:t>
            </a:r>
            <a:r>
              <a:rPr lang="en-US" altLang="zh-CN" dirty="0" smtClean="0">
                <a:latin typeface="Arial" panose="020B0604020202020204" pitchFamily="34" charset="0"/>
                <a:ea typeface="+mn-ea"/>
              </a:rPr>
              <a:t>1800V/us</a:t>
            </a:r>
            <a:r>
              <a:rPr lang="zh-CN" altLang="en-US" dirty="0">
                <a:latin typeface="Arial" panose="020B0604020202020204" pitchFamily="34" charset="0"/>
                <a:ea typeface="+mn-ea"/>
              </a:rPr>
              <a:t>，增益控制范围</a:t>
            </a:r>
            <a:r>
              <a:rPr lang="en-US" altLang="zh-CN" dirty="0">
                <a:latin typeface="Arial" panose="020B0604020202020204" pitchFamily="34" charset="0"/>
                <a:ea typeface="+mn-ea"/>
              </a:rPr>
              <a:t>70dB</a:t>
            </a:r>
            <a:r>
              <a:rPr lang="zh-CN" altLang="en-US" dirty="0">
                <a:latin typeface="Arial" panose="020B0604020202020204" pitchFamily="34" charset="0"/>
                <a:ea typeface="+mn-ea"/>
              </a:rPr>
              <a:t>，</a:t>
            </a:r>
            <a:r>
              <a:rPr lang="zh-CN" altLang="en-US" dirty="0" smtClean="0">
                <a:latin typeface="Arial" panose="020B0604020202020204" pitchFamily="34" charset="0"/>
                <a:ea typeface="+mn-ea"/>
              </a:rPr>
              <a:t>电源电压</a:t>
            </a:r>
            <a:r>
              <a:rPr lang="en-US" altLang="zh-CN" dirty="0" smtClean="0">
                <a:latin typeface="Arial" panose="020B0604020202020204" pitchFamily="34" charset="0"/>
                <a:ea typeface="+mn-ea"/>
              </a:rPr>
              <a:t>±5V</a:t>
            </a:r>
          </a:p>
          <a:p>
            <a:pPr marL="800100" lvl="1" indent="-342900">
              <a:lnSpc>
                <a:spcPct val="150000"/>
              </a:lnSpc>
              <a:buFont typeface="Arial" panose="020B0604020202020204" pitchFamily="34" charset="0"/>
              <a:buChar char="•"/>
            </a:pPr>
            <a:r>
              <a:rPr lang="en-US" altLang="zh-CN" dirty="0" smtClean="0">
                <a:latin typeface="Arial" panose="020B0604020202020204" pitchFamily="34" charset="0"/>
                <a:ea typeface="+mn-ea"/>
              </a:rPr>
              <a:t>AD8367</a:t>
            </a:r>
            <a:r>
              <a:rPr lang="zh-CN" altLang="en-US" dirty="0">
                <a:latin typeface="Arial" panose="020B0604020202020204" pitchFamily="34" charset="0"/>
                <a:ea typeface="+mn-ea"/>
              </a:rPr>
              <a:t>， </a:t>
            </a:r>
            <a:r>
              <a:rPr lang="zh-CN" altLang="en-US" dirty="0" smtClean="0">
                <a:latin typeface="Arial" panose="020B0604020202020204" pitchFamily="34" charset="0"/>
                <a:ea typeface="+mn-ea"/>
              </a:rPr>
              <a:t>频响</a:t>
            </a:r>
            <a:r>
              <a:rPr lang="en-US" altLang="zh-CN" dirty="0" smtClean="0">
                <a:latin typeface="Arial" panose="020B0604020202020204" pitchFamily="34" charset="0"/>
                <a:ea typeface="+mn-ea"/>
              </a:rPr>
              <a:t>500MHz</a:t>
            </a:r>
            <a:r>
              <a:rPr lang="zh-CN" altLang="en-US" dirty="0" smtClean="0">
                <a:latin typeface="Arial" panose="020B0604020202020204" pitchFamily="34" charset="0"/>
                <a:ea typeface="+mn-ea"/>
              </a:rPr>
              <a:t>，</a:t>
            </a:r>
            <a:r>
              <a:rPr lang="zh-CN" altLang="en-US" dirty="0">
                <a:latin typeface="Arial" panose="020B0604020202020204" pitchFamily="34" charset="0"/>
                <a:ea typeface="+mn-ea"/>
              </a:rPr>
              <a:t>电压增益</a:t>
            </a:r>
            <a:r>
              <a:rPr lang="en-US" altLang="zh-CN" dirty="0">
                <a:latin typeface="Arial" panose="020B0604020202020204" pitchFamily="34" charset="0"/>
                <a:ea typeface="+mn-ea"/>
              </a:rPr>
              <a:t>-2.5</a:t>
            </a:r>
            <a:r>
              <a:rPr lang="zh-CN" altLang="en-US" dirty="0">
                <a:latin typeface="Arial" panose="020B0604020202020204" pitchFamily="34" charset="0"/>
                <a:ea typeface="+mn-ea"/>
              </a:rPr>
              <a:t>～</a:t>
            </a:r>
            <a:r>
              <a:rPr lang="en-US" altLang="zh-CN" dirty="0">
                <a:latin typeface="Arial" panose="020B0604020202020204" pitchFamily="34" charset="0"/>
                <a:ea typeface="+mn-ea"/>
              </a:rPr>
              <a:t>+42.5dB</a:t>
            </a:r>
            <a:r>
              <a:rPr lang="zh-CN" altLang="en-US" dirty="0">
                <a:latin typeface="Arial" panose="020B0604020202020204" pitchFamily="34" charset="0"/>
                <a:ea typeface="+mn-ea"/>
              </a:rPr>
              <a:t>，带</a:t>
            </a:r>
            <a:r>
              <a:rPr lang="en-US" altLang="zh-CN" dirty="0">
                <a:latin typeface="Arial" panose="020B0604020202020204" pitchFamily="34" charset="0"/>
                <a:ea typeface="+mn-ea"/>
              </a:rPr>
              <a:t>AGC</a:t>
            </a:r>
            <a:r>
              <a:rPr lang="zh-CN" altLang="en-US" dirty="0">
                <a:latin typeface="Arial" panose="020B0604020202020204" pitchFamily="34" charset="0"/>
                <a:ea typeface="+mn-ea"/>
              </a:rPr>
              <a:t>检测，</a:t>
            </a:r>
            <a:r>
              <a:rPr lang="zh-CN" altLang="en-US" dirty="0" smtClean="0">
                <a:latin typeface="Arial" panose="020B0604020202020204" pitchFamily="34" charset="0"/>
                <a:ea typeface="+mn-ea"/>
              </a:rPr>
              <a:t>电源电压</a:t>
            </a:r>
            <a:r>
              <a:rPr lang="en-US" altLang="zh-CN" dirty="0" smtClean="0">
                <a:latin typeface="Arial" panose="020B0604020202020204" pitchFamily="34" charset="0"/>
                <a:ea typeface="+mn-ea"/>
              </a:rPr>
              <a:t>2.7~5.5V</a:t>
            </a:r>
          </a:p>
        </p:txBody>
      </p:sp>
    </p:spTree>
    <p:extLst>
      <p:ext uri="{BB962C8B-B14F-4D97-AF65-F5344CB8AC3E}">
        <p14:creationId xmlns:p14="http://schemas.microsoft.com/office/powerpoint/2010/main" val="21714908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29</a:t>
            </a:fld>
            <a:endParaRPr lang="en-US" altLang="zh-CN">
              <a:solidFill>
                <a:srgbClr val="FFFFFF"/>
              </a:solidFill>
            </a:endParaRPr>
          </a:p>
        </p:txBody>
      </p:sp>
      <p:sp>
        <p:nvSpPr>
          <p:cNvPr id="5" name="文本框 4"/>
          <p:cNvSpPr txBox="1"/>
          <p:nvPr/>
        </p:nvSpPr>
        <p:spPr>
          <a:xfrm>
            <a:off x="402336" y="299923"/>
            <a:ext cx="8463852" cy="4247317"/>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dirty="0">
                <a:latin typeface="Arial" panose="020B0604020202020204" pitchFamily="34" charset="0"/>
                <a:ea typeface="+mn-ea"/>
              </a:rPr>
              <a:t>自动增益控制（</a:t>
            </a:r>
            <a:r>
              <a:rPr lang="en-US" altLang="zh-CN" dirty="0">
                <a:latin typeface="Arial" panose="020B0604020202020204" pitchFamily="34" charset="0"/>
                <a:ea typeface="+mn-ea"/>
              </a:rPr>
              <a:t>AGC</a:t>
            </a:r>
            <a:r>
              <a:rPr lang="zh-CN" altLang="en-US" dirty="0">
                <a:latin typeface="Arial" panose="020B0604020202020204" pitchFamily="34" charset="0"/>
                <a:ea typeface="+mn-ea"/>
              </a:rPr>
              <a:t>）放大器</a:t>
            </a:r>
            <a:endParaRPr lang="en-US" altLang="zh-CN" dirty="0">
              <a:latin typeface="Arial" panose="020B0604020202020204" pitchFamily="34" charset="0"/>
              <a:ea typeface="+mn-ea"/>
            </a:endParaRPr>
          </a:p>
          <a:p>
            <a:pPr marL="342900" indent="-342900">
              <a:lnSpc>
                <a:spcPct val="150000"/>
              </a:lnSpc>
              <a:buFont typeface="Arial" panose="020B0604020202020204" pitchFamily="34" charset="0"/>
              <a:buChar char="•"/>
            </a:pPr>
            <a:r>
              <a:rPr lang="zh-CN" altLang="en-US" dirty="0" smtClean="0">
                <a:latin typeface="+mn-ea"/>
                <a:ea typeface="+mn-ea"/>
              </a:rPr>
              <a:t>特性</a:t>
            </a:r>
            <a:endParaRPr lang="en-US" altLang="zh-CN" dirty="0" smtClean="0">
              <a:latin typeface="+mn-ea"/>
              <a:ea typeface="+mn-ea"/>
            </a:endParaRPr>
          </a:p>
          <a:p>
            <a:pPr marL="342900" indent="-342900">
              <a:lnSpc>
                <a:spcPct val="150000"/>
              </a:lnSpc>
              <a:buFont typeface="Wingdings" panose="05000000000000000000" pitchFamily="2" charset="2"/>
              <a:buChar char="Ø"/>
            </a:pPr>
            <a:endParaRPr lang="en-US" altLang="zh-CN" dirty="0">
              <a:latin typeface="+mn-ea"/>
              <a:ea typeface="+mn-ea"/>
            </a:endParaRPr>
          </a:p>
          <a:p>
            <a:pPr marL="342900" indent="-342900">
              <a:lnSpc>
                <a:spcPct val="150000"/>
              </a:lnSpc>
              <a:buFont typeface="Wingdings" panose="05000000000000000000" pitchFamily="2" charset="2"/>
              <a:buChar char="Ø"/>
            </a:pPr>
            <a:endParaRPr lang="en-US" altLang="zh-CN" dirty="0" smtClean="0">
              <a:latin typeface="+mn-ea"/>
              <a:ea typeface="+mn-ea"/>
            </a:endParaRPr>
          </a:p>
          <a:p>
            <a:pPr marL="342900" indent="-342900">
              <a:lnSpc>
                <a:spcPct val="150000"/>
              </a:lnSpc>
              <a:buFont typeface="Wingdings" panose="05000000000000000000" pitchFamily="2" charset="2"/>
              <a:buChar char="Ø"/>
            </a:pPr>
            <a:endParaRPr lang="en-US" altLang="zh-CN" dirty="0">
              <a:latin typeface="+mn-ea"/>
              <a:ea typeface="+mn-ea"/>
            </a:endParaRPr>
          </a:p>
          <a:p>
            <a:pPr marL="342900" indent="-342900">
              <a:lnSpc>
                <a:spcPct val="150000"/>
              </a:lnSpc>
              <a:buFont typeface="Wingdings" panose="05000000000000000000" pitchFamily="2" charset="2"/>
              <a:buChar char="Ø"/>
            </a:pPr>
            <a:endParaRPr lang="en-US" altLang="zh-CN" dirty="0" smtClean="0">
              <a:latin typeface="+mn-ea"/>
              <a:ea typeface="+mn-ea"/>
            </a:endParaRPr>
          </a:p>
          <a:p>
            <a:pPr marL="342900" indent="-342900">
              <a:lnSpc>
                <a:spcPct val="150000"/>
              </a:lnSpc>
              <a:buFont typeface="Wingdings" panose="05000000000000000000" pitchFamily="2" charset="2"/>
              <a:buChar char="Ø"/>
            </a:pPr>
            <a:endParaRPr lang="en-US" altLang="zh-CN" dirty="0">
              <a:latin typeface="+mn-ea"/>
              <a:ea typeface="+mn-ea"/>
            </a:endParaRPr>
          </a:p>
          <a:p>
            <a:pPr marL="342900" indent="-342900">
              <a:lnSpc>
                <a:spcPct val="150000"/>
              </a:lnSpc>
              <a:buFont typeface="Wingdings" panose="05000000000000000000" pitchFamily="2" charset="2"/>
              <a:buChar char="Ø"/>
            </a:pPr>
            <a:endParaRPr lang="en-US" altLang="zh-CN" dirty="0" smtClean="0">
              <a:latin typeface="+mn-ea"/>
              <a:ea typeface="+mn-ea"/>
            </a:endParaRPr>
          </a:p>
          <a:p>
            <a:pPr marL="342900" indent="-342900">
              <a:lnSpc>
                <a:spcPct val="150000"/>
              </a:lnSpc>
              <a:buFont typeface="Arial" panose="020B0604020202020204" pitchFamily="34" charset="0"/>
              <a:buChar char="•"/>
            </a:pPr>
            <a:r>
              <a:rPr lang="zh-CN" altLang="en-US" dirty="0" smtClean="0">
                <a:latin typeface="+mn-ea"/>
                <a:ea typeface="+mn-ea"/>
              </a:rPr>
              <a:t>电路结构</a:t>
            </a:r>
            <a:endParaRPr lang="zh-CN" altLang="en-US" dirty="0">
              <a:latin typeface="+mn-ea"/>
              <a:ea typeface="+mn-ea"/>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490795164"/>
              </p:ext>
            </p:extLst>
          </p:nvPr>
        </p:nvGraphicFramePr>
        <p:xfrm>
          <a:off x="1811337" y="1218324"/>
          <a:ext cx="5794113" cy="2761145"/>
        </p:xfrm>
        <a:graphic>
          <a:graphicData uri="http://schemas.openxmlformats.org/presentationml/2006/ole">
            <mc:AlternateContent xmlns:mc="http://schemas.openxmlformats.org/markup-compatibility/2006">
              <mc:Choice xmlns:v="urn:schemas-microsoft-com:vml" Requires="v">
                <p:oleObj spid="_x0000_s3162" name="Visio" r:id="rId3" imgW="3047640" imgH="1441224" progId="Visio.Drawing.11">
                  <p:embed/>
                </p:oleObj>
              </mc:Choice>
              <mc:Fallback>
                <p:oleObj name="Visio" r:id="rId3" imgW="3047640" imgH="1441224" progId="Visio.Drawing.11">
                  <p:embed/>
                  <p:pic>
                    <p:nvPicPr>
                      <p:cNvPr id="0" name="Object 1"/>
                      <p:cNvPicPr>
                        <a:picLocks noChangeAspect="1" noChangeArrowheads="1"/>
                      </p:cNvPicPr>
                      <p:nvPr/>
                    </p:nvPicPr>
                    <p:blipFill>
                      <a:blip r:embed="rId4"/>
                      <a:srcRect/>
                      <a:stretch>
                        <a:fillRect/>
                      </a:stretch>
                    </p:blipFill>
                    <p:spPr bwMode="auto">
                      <a:xfrm>
                        <a:off x="1811337" y="1218324"/>
                        <a:ext cx="5794113" cy="2761145"/>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949994813"/>
              </p:ext>
            </p:extLst>
          </p:nvPr>
        </p:nvGraphicFramePr>
        <p:xfrm>
          <a:off x="2033230" y="4630521"/>
          <a:ext cx="5572220" cy="1500213"/>
        </p:xfrm>
        <a:graphic>
          <a:graphicData uri="http://schemas.openxmlformats.org/presentationml/2006/ole">
            <mc:AlternateContent xmlns:mc="http://schemas.openxmlformats.org/markup-compatibility/2006">
              <mc:Choice xmlns:v="urn:schemas-microsoft-com:vml" Requires="v">
                <p:oleObj spid="_x0000_s3163" name="Visio" r:id="rId5" imgW="3538793" imgH="946653" progId="Visio.Drawing.11">
                  <p:embed/>
                </p:oleObj>
              </mc:Choice>
              <mc:Fallback>
                <p:oleObj name="Visio" r:id="rId5" imgW="3538793" imgH="946653" progId="Visio.Drawing.11">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3230" y="4630521"/>
                        <a:ext cx="5572220" cy="1500213"/>
                      </a:xfrm>
                      <a:prstGeom prst="rect">
                        <a:avLst/>
                      </a:prstGeom>
                      <a:noFill/>
                    </p:spPr>
                  </p:pic>
                </p:oleObj>
              </mc:Fallback>
            </mc:AlternateContent>
          </a:graphicData>
        </a:graphic>
      </p:graphicFrame>
    </p:spTree>
    <p:extLst>
      <p:ext uri="{BB962C8B-B14F-4D97-AF65-F5344CB8AC3E}">
        <p14:creationId xmlns:p14="http://schemas.microsoft.com/office/powerpoint/2010/main" val="21168120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30</a:t>
            </a:fld>
            <a:endParaRPr lang="en-US" altLang="zh-CN">
              <a:solidFill>
                <a:srgbClr val="FFFFFF"/>
              </a:solidFill>
            </a:endParaRPr>
          </a:p>
        </p:txBody>
      </p:sp>
      <p:sp>
        <p:nvSpPr>
          <p:cNvPr id="6" name="文本框 5"/>
          <p:cNvSpPr txBox="1"/>
          <p:nvPr/>
        </p:nvSpPr>
        <p:spPr>
          <a:xfrm>
            <a:off x="276294" y="421018"/>
            <a:ext cx="8492736" cy="424731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dirty="0"/>
              <a:t>AGC</a:t>
            </a:r>
            <a:r>
              <a:rPr lang="zh-CN" altLang="zh-CN" dirty="0"/>
              <a:t>时间常数</a:t>
            </a:r>
            <a:endParaRPr lang="en-US" altLang="zh-CN" dirty="0" smtClean="0"/>
          </a:p>
          <a:p>
            <a:pPr marL="324000" lvl="1">
              <a:lnSpc>
                <a:spcPct val="150000"/>
              </a:lnSpc>
            </a:pPr>
            <a:r>
              <a:rPr lang="zh-CN" altLang="en-US" dirty="0" smtClean="0"/>
              <a:t>由</a:t>
            </a:r>
            <a:r>
              <a:rPr lang="zh-CN" altLang="zh-CN" dirty="0" smtClean="0"/>
              <a:t>滤波器时间常数</a:t>
            </a:r>
            <a:r>
              <a:rPr lang="zh-CN" altLang="en-US" dirty="0" smtClean="0"/>
              <a:t>确定</a:t>
            </a:r>
            <a:r>
              <a:rPr lang="zh-CN" altLang="zh-CN" dirty="0" smtClean="0"/>
              <a:t>，决定</a:t>
            </a:r>
            <a:r>
              <a:rPr lang="zh-CN" altLang="zh-CN" dirty="0"/>
              <a:t>了</a:t>
            </a:r>
            <a:r>
              <a:rPr lang="en-US" altLang="zh-CN" dirty="0"/>
              <a:t>AGC</a:t>
            </a:r>
            <a:r>
              <a:rPr lang="zh-CN" altLang="zh-CN" dirty="0"/>
              <a:t>电路的</a:t>
            </a:r>
            <a:r>
              <a:rPr lang="zh-CN" altLang="zh-CN" dirty="0" smtClean="0"/>
              <a:t>反应时间</a:t>
            </a:r>
            <a:endParaRPr lang="en-US" altLang="zh-CN" dirty="0" smtClean="0"/>
          </a:p>
          <a:p>
            <a:pPr marL="324000" lvl="1">
              <a:lnSpc>
                <a:spcPct val="150000"/>
              </a:lnSpc>
            </a:pPr>
            <a:r>
              <a:rPr lang="zh-CN" altLang="zh-CN" dirty="0" smtClean="0"/>
              <a:t>时间常数</a:t>
            </a:r>
            <a:r>
              <a:rPr lang="zh-CN" altLang="zh-CN" dirty="0"/>
              <a:t>过大</a:t>
            </a:r>
            <a:r>
              <a:rPr lang="zh-CN" altLang="zh-CN" dirty="0" smtClean="0"/>
              <a:t>，</a:t>
            </a:r>
            <a:r>
              <a:rPr lang="en-US" altLang="zh-CN" dirty="0" smtClean="0"/>
              <a:t>AGC</a:t>
            </a:r>
            <a:r>
              <a:rPr lang="zh-CN" altLang="en-US" dirty="0" smtClean="0"/>
              <a:t>反应</a:t>
            </a:r>
            <a:r>
              <a:rPr lang="zh-CN" altLang="zh-CN" dirty="0" smtClean="0"/>
              <a:t>迟钝</a:t>
            </a:r>
            <a:r>
              <a:rPr lang="zh-CN" altLang="en-US" dirty="0" smtClean="0"/>
              <a:t>；</a:t>
            </a:r>
            <a:r>
              <a:rPr lang="zh-CN" altLang="zh-CN" dirty="0" smtClean="0"/>
              <a:t>时间常数</a:t>
            </a:r>
            <a:r>
              <a:rPr lang="zh-CN" altLang="zh-CN" dirty="0"/>
              <a:t>过小</a:t>
            </a:r>
            <a:r>
              <a:rPr lang="zh-CN" altLang="zh-CN" dirty="0" smtClean="0"/>
              <a:t>，</a:t>
            </a:r>
            <a:r>
              <a:rPr lang="zh-CN" altLang="en-US" dirty="0" smtClean="0"/>
              <a:t>引起</a:t>
            </a:r>
            <a:r>
              <a:rPr lang="zh-CN" altLang="zh-CN" dirty="0" smtClean="0"/>
              <a:t>反调制</a:t>
            </a:r>
            <a:endParaRPr lang="en-US" altLang="zh-CN" dirty="0" smtClean="0"/>
          </a:p>
          <a:p>
            <a:pPr marL="324000" lvl="1">
              <a:lnSpc>
                <a:spcPct val="150000"/>
              </a:lnSpc>
            </a:pPr>
            <a:r>
              <a:rPr lang="zh-CN" altLang="en-US" dirty="0" smtClean="0"/>
              <a:t>设计</a:t>
            </a:r>
            <a:r>
              <a:rPr lang="zh-CN" altLang="zh-CN" dirty="0" smtClean="0"/>
              <a:t>要求</a:t>
            </a:r>
            <a:r>
              <a:rPr lang="en-US" altLang="zh-CN" dirty="0" smtClean="0"/>
              <a:t>AGC</a:t>
            </a:r>
            <a:r>
              <a:rPr lang="zh-CN" altLang="zh-CN" dirty="0" smtClean="0"/>
              <a:t>时间常数</a:t>
            </a:r>
            <a:r>
              <a:rPr lang="zh-CN" altLang="zh-CN" dirty="0"/>
              <a:t>大于输入信号中最低频率分量的周期以保证没有反调制，</a:t>
            </a:r>
            <a:r>
              <a:rPr lang="zh-CN" altLang="zh-CN" dirty="0" smtClean="0"/>
              <a:t>然后考虑</a:t>
            </a:r>
            <a:r>
              <a:rPr lang="en-US" altLang="zh-CN" dirty="0"/>
              <a:t>AGC</a:t>
            </a:r>
            <a:r>
              <a:rPr lang="zh-CN" altLang="zh-CN" dirty="0"/>
              <a:t>反应速度将时间常数限制在一个合适的范围</a:t>
            </a:r>
            <a:r>
              <a:rPr lang="zh-CN" altLang="zh-CN" dirty="0" smtClean="0"/>
              <a:t>内</a:t>
            </a:r>
          </a:p>
          <a:p>
            <a:pPr marL="342900" indent="-342900">
              <a:lnSpc>
                <a:spcPct val="150000"/>
              </a:lnSpc>
              <a:buFont typeface="Arial" panose="020B0604020202020204" pitchFamily="34" charset="0"/>
              <a:buChar char="•"/>
            </a:pPr>
            <a:r>
              <a:rPr lang="zh-CN" altLang="zh-CN" dirty="0"/>
              <a:t>起控电平或起控</a:t>
            </a:r>
            <a:r>
              <a:rPr lang="zh-CN" altLang="zh-CN" dirty="0" smtClean="0"/>
              <a:t>阈值</a:t>
            </a:r>
            <a:endParaRPr lang="en-US" altLang="zh-CN" dirty="0" smtClean="0"/>
          </a:p>
          <a:p>
            <a:pPr marL="324000" lvl="2">
              <a:lnSpc>
                <a:spcPct val="150000"/>
              </a:lnSpc>
            </a:pPr>
            <a:r>
              <a:rPr lang="en-US" altLang="zh-CN" dirty="0" smtClean="0"/>
              <a:t>AGC</a:t>
            </a:r>
            <a:r>
              <a:rPr lang="zh-CN" altLang="zh-CN" dirty="0"/>
              <a:t>特性曲线中的</a:t>
            </a:r>
            <a:r>
              <a:rPr lang="en-US" altLang="zh-CN" i="1" dirty="0"/>
              <a:t>V</a:t>
            </a:r>
            <a:r>
              <a:rPr lang="en-US" altLang="zh-CN" i="1" baseline="-25000" dirty="0"/>
              <a:t>i</a:t>
            </a:r>
            <a:r>
              <a:rPr lang="en-US" altLang="zh-CN" baseline="-25000" dirty="0"/>
              <a:t>1</a:t>
            </a:r>
            <a:r>
              <a:rPr lang="zh-CN" altLang="zh-CN" dirty="0"/>
              <a:t>对应</a:t>
            </a:r>
            <a:r>
              <a:rPr lang="zh-CN" altLang="zh-CN" dirty="0" smtClean="0"/>
              <a:t>的电平</a:t>
            </a:r>
            <a:endParaRPr lang="en-US" altLang="zh-CN" dirty="0" smtClean="0"/>
          </a:p>
          <a:p>
            <a:pPr marL="324000" lvl="2">
              <a:lnSpc>
                <a:spcPct val="150000"/>
              </a:lnSpc>
            </a:pPr>
            <a:r>
              <a:rPr lang="zh-CN" altLang="en-US" dirty="0" smtClean="0"/>
              <a:t>起控</a:t>
            </a:r>
            <a:r>
              <a:rPr lang="zh-CN" altLang="zh-CN" dirty="0" smtClean="0"/>
              <a:t>阈值</a:t>
            </a:r>
            <a:r>
              <a:rPr lang="zh-CN" altLang="zh-CN" dirty="0"/>
              <a:t>决定了</a:t>
            </a:r>
            <a:r>
              <a:rPr lang="en-US" altLang="zh-CN" dirty="0"/>
              <a:t>AGC</a:t>
            </a:r>
            <a:r>
              <a:rPr lang="zh-CN" altLang="zh-CN" dirty="0"/>
              <a:t>电路起控后的输出</a:t>
            </a:r>
            <a:r>
              <a:rPr lang="zh-CN" altLang="zh-CN" dirty="0" smtClean="0"/>
              <a:t>电平</a:t>
            </a:r>
            <a:endParaRPr lang="en-US" altLang="zh-CN" dirty="0" smtClean="0"/>
          </a:p>
          <a:p>
            <a:pPr marL="324000" lvl="2">
              <a:lnSpc>
                <a:spcPct val="150000"/>
              </a:lnSpc>
            </a:pPr>
            <a:r>
              <a:rPr lang="zh-CN" altLang="zh-CN" dirty="0" smtClean="0"/>
              <a:t>通常</a:t>
            </a:r>
            <a:r>
              <a:rPr lang="zh-CN" altLang="zh-CN" dirty="0"/>
              <a:t>不是一个单独的电路而是包含在检波或者积分电路</a:t>
            </a:r>
            <a:r>
              <a:rPr lang="zh-CN" altLang="zh-CN" dirty="0" smtClean="0"/>
              <a:t>中</a:t>
            </a:r>
            <a:endParaRPr lang="zh-CN" altLang="en-US" dirty="0"/>
          </a:p>
        </p:txBody>
      </p:sp>
    </p:spTree>
    <p:extLst>
      <p:ext uri="{BB962C8B-B14F-4D97-AF65-F5344CB8AC3E}">
        <p14:creationId xmlns:p14="http://schemas.microsoft.com/office/powerpoint/2010/main" val="40376698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a:blip r:embed="rId2">
            <a:extLst>
              <a:ext uri="{28A0092B-C50C-407E-A947-70E740481C1C}">
                <a14:useLocalDpi xmlns:a14="http://schemas.microsoft.com/office/drawing/2010/main" val="0"/>
              </a:ext>
            </a:extLst>
          </a:blip>
          <a:stretch>
            <a:fillRect/>
          </a:stretch>
        </p:blipFill>
        <p:spPr>
          <a:xfrm>
            <a:off x="465900" y="932031"/>
            <a:ext cx="8036421" cy="3657676"/>
          </a:xfrm>
          <a:prstGeom prst="rect">
            <a:avLst/>
          </a:prstGeom>
        </p:spPr>
      </p:pic>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31</a:t>
            </a:fld>
            <a:endParaRPr lang="en-US" altLang="zh-CN">
              <a:solidFill>
                <a:srgbClr val="FFFFFF"/>
              </a:solidFill>
            </a:endParaRPr>
          </a:p>
        </p:txBody>
      </p:sp>
      <p:sp>
        <p:nvSpPr>
          <p:cNvPr id="5" name="文本框 4"/>
          <p:cNvSpPr txBox="1"/>
          <p:nvPr/>
        </p:nvSpPr>
        <p:spPr>
          <a:xfrm>
            <a:off x="355234" y="271207"/>
            <a:ext cx="8433531" cy="1200329"/>
          </a:xfrm>
          <a:prstGeom prst="rect">
            <a:avLst/>
          </a:prstGeom>
          <a:noFill/>
        </p:spPr>
        <p:txBody>
          <a:bodyPr wrap="square" rtlCol="0">
            <a:spAutoFit/>
          </a:bodyPr>
          <a:lstStyle/>
          <a:p>
            <a:pPr>
              <a:lnSpc>
                <a:spcPct val="150000"/>
              </a:lnSpc>
            </a:pPr>
            <a:r>
              <a:rPr lang="zh-CN" altLang="en-US" sz="2800" dirty="0">
                <a:solidFill>
                  <a:srgbClr val="FF0000"/>
                </a:solidFill>
                <a:latin typeface="Arial" panose="020B0604020202020204" pitchFamily="34" charset="0"/>
                <a:ea typeface="隶书" panose="02010509060101010101" pitchFamily="49" charset="-122"/>
              </a:rPr>
              <a:t>几个</a:t>
            </a:r>
            <a:r>
              <a:rPr lang="en-US" altLang="zh-CN" sz="2800" dirty="0">
                <a:solidFill>
                  <a:srgbClr val="FF0000"/>
                </a:solidFill>
                <a:latin typeface="Calibri" panose="020F0502020204030204" pitchFamily="34" charset="0"/>
                <a:ea typeface="隶书" panose="02010509060101010101" pitchFamily="49" charset="-122"/>
                <a:cs typeface="Calibri" panose="020F0502020204030204" pitchFamily="34" charset="0"/>
              </a:rPr>
              <a:t>AGC</a:t>
            </a:r>
            <a:r>
              <a:rPr lang="zh-CN" altLang="en-US" sz="2800" dirty="0">
                <a:solidFill>
                  <a:srgbClr val="FF0000"/>
                </a:solidFill>
                <a:latin typeface="Arial" panose="020B0604020202020204" pitchFamily="34" charset="0"/>
                <a:ea typeface="隶书" panose="02010509060101010101" pitchFamily="49" charset="-122"/>
              </a:rPr>
              <a:t>放大器</a:t>
            </a:r>
            <a:r>
              <a:rPr lang="zh-CN" altLang="en-US" sz="2800" dirty="0">
                <a:solidFill>
                  <a:srgbClr val="FF0000"/>
                </a:solidFill>
                <a:latin typeface="Arial" panose="020B0604020202020204" pitchFamily="34" charset="0"/>
                <a:ea typeface="隶书" panose="02010509060101010101" pitchFamily="49" charset="-122"/>
              </a:rPr>
              <a:t>的例子</a:t>
            </a:r>
            <a:endParaRPr lang="en-US" altLang="zh-CN" sz="2800" dirty="0">
              <a:solidFill>
                <a:srgbClr val="FF0000"/>
              </a:solidFill>
              <a:latin typeface="Arial" panose="020B0604020202020204" pitchFamily="34" charset="0"/>
              <a:ea typeface="隶书" panose="02010509060101010101" pitchFamily="49" charset="-122"/>
            </a:endParaRPr>
          </a:p>
          <a:p>
            <a:pPr>
              <a:lnSpc>
                <a:spcPct val="150000"/>
              </a:lnSpc>
            </a:pPr>
            <a:r>
              <a:rPr lang="zh-CN" altLang="en-US" dirty="0" smtClean="0"/>
              <a:t>一、基于</a:t>
            </a:r>
            <a:r>
              <a:rPr lang="en-US" altLang="zh-CN" dirty="0" smtClean="0"/>
              <a:t>AD603</a:t>
            </a:r>
            <a:r>
              <a:rPr lang="zh-CN" altLang="en-US" dirty="0" smtClean="0"/>
              <a:t>芯片的</a:t>
            </a:r>
            <a:r>
              <a:rPr lang="en-US" altLang="zh-CN" dirty="0" smtClean="0"/>
              <a:t>AGC</a:t>
            </a:r>
            <a:r>
              <a:rPr lang="zh-CN" altLang="en-US" dirty="0" smtClean="0"/>
              <a:t>放大器</a:t>
            </a:r>
            <a:endParaRPr lang="zh-CN" altLang="en-US" dirty="0"/>
          </a:p>
        </p:txBody>
      </p:sp>
      <p:sp>
        <p:nvSpPr>
          <p:cNvPr id="7" name="椭圆 6"/>
          <p:cNvSpPr/>
          <p:nvPr/>
        </p:nvSpPr>
        <p:spPr>
          <a:xfrm>
            <a:off x="489811" y="1445664"/>
            <a:ext cx="5499555" cy="3278171"/>
          </a:xfrm>
          <a:prstGeom prst="ellipse">
            <a:avLst/>
          </a:prstGeom>
          <a:no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6093726" y="589786"/>
            <a:ext cx="2318919" cy="4146360"/>
          </a:xfrm>
          <a:prstGeom prst="ellipse">
            <a:avLst/>
          </a:prstGeom>
          <a:no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6430120" y="2168849"/>
            <a:ext cx="0" cy="172354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562011" y="3892394"/>
            <a:ext cx="386810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627956" y="4723835"/>
            <a:ext cx="4726935" cy="1052596"/>
          </a:xfrm>
          <a:prstGeom prst="rect">
            <a:avLst/>
          </a:prstGeom>
          <a:noFill/>
        </p:spPr>
        <p:txBody>
          <a:bodyPr wrap="square" rtlCol="0">
            <a:spAutoFit/>
          </a:bodyPr>
          <a:lstStyle/>
          <a:p>
            <a:pPr>
              <a:lnSpc>
                <a:spcPct val="130000"/>
              </a:lnSpc>
            </a:pPr>
            <a:r>
              <a:rPr lang="zh-CN" altLang="en-US" sz="1600" dirty="0" smtClean="0"/>
              <a:t>可变增益放大器，两级</a:t>
            </a:r>
            <a:r>
              <a:rPr lang="en-US" altLang="zh-CN" sz="1600" dirty="0" smtClean="0"/>
              <a:t>AD603</a:t>
            </a:r>
            <a:r>
              <a:rPr lang="zh-CN" altLang="en-US" sz="1600" dirty="0" smtClean="0"/>
              <a:t>串联。</a:t>
            </a:r>
            <a:endParaRPr lang="en-US" altLang="zh-CN" sz="1600" dirty="0" smtClean="0"/>
          </a:p>
          <a:p>
            <a:pPr>
              <a:lnSpc>
                <a:spcPct val="130000"/>
              </a:lnSpc>
            </a:pPr>
            <a:r>
              <a:rPr lang="en-US" altLang="zh-CN" sz="1600" dirty="0" smtClean="0"/>
              <a:t>A1</a:t>
            </a:r>
            <a:r>
              <a:rPr lang="zh-CN" altLang="en-US" sz="1600" dirty="0" smtClean="0"/>
              <a:t>的控制电压为</a:t>
            </a:r>
            <a:r>
              <a:rPr lang="en-US" altLang="zh-CN" sz="1600" dirty="0"/>
              <a:t>5~6V</a:t>
            </a:r>
            <a:r>
              <a:rPr lang="zh-CN" altLang="en-US" sz="1600" dirty="0" smtClean="0"/>
              <a:t>，</a:t>
            </a:r>
            <a:r>
              <a:rPr lang="en-US" altLang="zh-CN" sz="1600" dirty="0" smtClean="0"/>
              <a:t>A2</a:t>
            </a:r>
            <a:r>
              <a:rPr lang="zh-CN" altLang="en-US" sz="1600" dirty="0" smtClean="0"/>
              <a:t>的控制电压为</a:t>
            </a:r>
            <a:r>
              <a:rPr lang="en-US" altLang="zh-CN" sz="1600" dirty="0" smtClean="0"/>
              <a:t>6~7V</a:t>
            </a:r>
            <a:r>
              <a:rPr lang="zh-CN" altLang="en-US" sz="1600" dirty="0" smtClean="0"/>
              <a:t>，联合后的控制电压</a:t>
            </a:r>
            <a:r>
              <a:rPr lang="en-US" altLang="zh-CN" sz="1600" dirty="0" smtClean="0"/>
              <a:t>V</a:t>
            </a:r>
            <a:r>
              <a:rPr lang="en-US" altLang="zh-CN" sz="1600" baseline="-25000" dirty="0" smtClean="0"/>
              <a:t>AGC</a:t>
            </a:r>
            <a:r>
              <a:rPr lang="en-US" altLang="zh-CN" sz="1600" dirty="0" smtClean="0"/>
              <a:t>=5~7V</a:t>
            </a:r>
            <a:endParaRPr lang="zh-CN" altLang="en-US" sz="1600" dirty="0"/>
          </a:p>
        </p:txBody>
      </p:sp>
      <p:sp>
        <p:nvSpPr>
          <p:cNvPr id="17" name="文本框 16"/>
          <p:cNvSpPr txBox="1"/>
          <p:nvPr/>
        </p:nvSpPr>
        <p:spPr>
          <a:xfrm>
            <a:off x="5632869" y="4721980"/>
            <a:ext cx="3233319" cy="1692771"/>
          </a:xfrm>
          <a:prstGeom prst="rect">
            <a:avLst/>
          </a:prstGeom>
          <a:noFill/>
        </p:spPr>
        <p:txBody>
          <a:bodyPr wrap="square" rtlCol="0">
            <a:spAutoFit/>
          </a:bodyPr>
          <a:lstStyle/>
          <a:p>
            <a:pPr>
              <a:lnSpc>
                <a:spcPct val="130000"/>
              </a:lnSpc>
            </a:pPr>
            <a:r>
              <a:rPr lang="en-US" altLang="zh-CN" sz="1600" dirty="0" smtClean="0"/>
              <a:t>AGC</a:t>
            </a:r>
            <a:r>
              <a:rPr lang="zh-CN" altLang="en-US" sz="1600" dirty="0" smtClean="0"/>
              <a:t>控制电压产生。</a:t>
            </a:r>
            <a:r>
              <a:rPr lang="en-US" altLang="zh-CN" sz="1600" dirty="0" smtClean="0"/>
              <a:t>Q2</a:t>
            </a:r>
            <a:r>
              <a:rPr lang="zh-CN" altLang="en-US" sz="1600" dirty="0"/>
              <a:t>为</a:t>
            </a:r>
            <a:r>
              <a:rPr lang="zh-CN" altLang="en-US" sz="1600" dirty="0" smtClean="0"/>
              <a:t>恒流源对</a:t>
            </a:r>
            <a:r>
              <a:rPr lang="en-US" altLang="zh-CN" sz="1600" dirty="0" smtClean="0"/>
              <a:t>C</a:t>
            </a:r>
            <a:r>
              <a:rPr lang="en-US" altLang="zh-CN" sz="1600" baseline="-25000" dirty="0" smtClean="0"/>
              <a:t>AV</a:t>
            </a:r>
            <a:r>
              <a:rPr lang="zh-CN" altLang="en-US" sz="1600" dirty="0" smtClean="0"/>
              <a:t>充电，</a:t>
            </a:r>
            <a:r>
              <a:rPr lang="en-US" altLang="zh-CN" sz="1600" dirty="0" smtClean="0"/>
              <a:t>Q1</a:t>
            </a:r>
            <a:r>
              <a:rPr lang="zh-CN" altLang="en-US" sz="1600" dirty="0" smtClean="0"/>
              <a:t>为</a:t>
            </a:r>
            <a:r>
              <a:rPr lang="en-US" altLang="zh-CN" sz="1600" dirty="0" smtClean="0"/>
              <a:t>AGC</a:t>
            </a:r>
            <a:r>
              <a:rPr lang="zh-CN" altLang="en-US" sz="1600" dirty="0" smtClean="0"/>
              <a:t>控制对</a:t>
            </a:r>
            <a:r>
              <a:rPr lang="en-US" altLang="zh-CN" sz="1600" dirty="0" smtClean="0"/>
              <a:t>C</a:t>
            </a:r>
            <a:r>
              <a:rPr lang="en-US" altLang="zh-CN" sz="1600" baseline="-25000" dirty="0" smtClean="0"/>
              <a:t>AV</a:t>
            </a:r>
            <a:r>
              <a:rPr lang="zh-CN" altLang="en-US" sz="1600" dirty="0" smtClean="0"/>
              <a:t>放电。充放电平衡点就是</a:t>
            </a:r>
            <a:r>
              <a:rPr lang="en-US" altLang="zh-CN" sz="1600" dirty="0" smtClean="0"/>
              <a:t>AGC</a:t>
            </a:r>
            <a:r>
              <a:rPr lang="zh-CN" altLang="en-US" sz="1600" dirty="0" smtClean="0"/>
              <a:t>起控后的输出电压，约为</a:t>
            </a:r>
            <a:r>
              <a:rPr lang="en-US" altLang="zh-CN" sz="1600" dirty="0" smtClean="0"/>
              <a:t>1.8V</a:t>
            </a:r>
            <a:r>
              <a:rPr lang="zh-CN" altLang="en-US" sz="1600" dirty="0" smtClean="0"/>
              <a:t>峰值。</a:t>
            </a:r>
            <a:r>
              <a:rPr lang="en-US" altLang="zh-CN" sz="1600" dirty="0" smtClean="0"/>
              <a:t>C</a:t>
            </a:r>
            <a:r>
              <a:rPr lang="en-US" altLang="zh-CN" sz="1600" baseline="-25000" dirty="0" smtClean="0"/>
              <a:t>AV</a:t>
            </a:r>
            <a:r>
              <a:rPr lang="zh-CN" altLang="en-US" sz="1600" dirty="0" smtClean="0"/>
              <a:t>的大小决定</a:t>
            </a:r>
            <a:r>
              <a:rPr lang="en-US" altLang="zh-CN" sz="1600" dirty="0" smtClean="0"/>
              <a:t>AGC</a:t>
            </a:r>
            <a:r>
              <a:rPr lang="zh-CN" altLang="en-US" sz="1600" dirty="0" smtClean="0"/>
              <a:t>时间常数</a:t>
            </a:r>
            <a:endParaRPr lang="zh-CN" altLang="en-US" sz="1600" dirty="0"/>
          </a:p>
        </p:txBody>
      </p:sp>
    </p:spTree>
    <p:extLst>
      <p:ext uri="{BB962C8B-B14F-4D97-AF65-F5344CB8AC3E}">
        <p14:creationId xmlns:p14="http://schemas.microsoft.com/office/powerpoint/2010/main" val="32631364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32</a:t>
            </a:fld>
            <a:endParaRPr lang="en-US" altLang="zh-CN">
              <a:solidFill>
                <a:srgbClr val="FFFFFF"/>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858078944"/>
              </p:ext>
            </p:extLst>
          </p:nvPr>
        </p:nvGraphicFramePr>
        <p:xfrm>
          <a:off x="920215" y="922389"/>
          <a:ext cx="6796203" cy="3403487"/>
        </p:xfrm>
        <a:graphic>
          <a:graphicData uri="http://schemas.openxmlformats.org/presentationml/2006/ole">
            <mc:AlternateContent xmlns:mc="http://schemas.openxmlformats.org/markup-compatibility/2006">
              <mc:Choice xmlns:v="urn:schemas-microsoft-com:vml" Requires="v">
                <p:oleObj spid="_x0000_s4126" name="Visio" r:id="rId3" imgW="5168986" imgH="2590955" progId="Visio.Drawing.15">
                  <p:embed/>
                </p:oleObj>
              </mc:Choice>
              <mc:Fallback>
                <p:oleObj name="Visio" r:id="rId3" imgW="5168986" imgH="2590955"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0215" y="922389"/>
                        <a:ext cx="6796203" cy="3403487"/>
                      </a:xfrm>
                      <a:prstGeom prst="rect">
                        <a:avLst/>
                      </a:prstGeom>
                      <a:noFill/>
                    </p:spPr>
                  </p:pic>
                </p:oleObj>
              </mc:Fallback>
            </mc:AlternateContent>
          </a:graphicData>
        </a:graphic>
      </p:graphicFrame>
      <p:sp>
        <p:nvSpPr>
          <p:cNvPr id="7" name="文本框 6"/>
          <p:cNvSpPr txBox="1"/>
          <p:nvPr/>
        </p:nvSpPr>
        <p:spPr>
          <a:xfrm>
            <a:off x="355234" y="368391"/>
            <a:ext cx="8433531" cy="553998"/>
          </a:xfrm>
          <a:prstGeom prst="rect">
            <a:avLst/>
          </a:prstGeom>
          <a:noFill/>
        </p:spPr>
        <p:txBody>
          <a:bodyPr wrap="square" rtlCol="0">
            <a:spAutoFit/>
          </a:bodyPr>
          <a:lstStyle/>
          <a:p>
            <a:pPr>
              <a:lnSpc>
                <a:spcPct val="150000"/>
              </a:lnSpc>
            </a:pPr>
            <a:r>
              <a:rPr lang="zh-CN" altLang="en-US" dirty="0" smtClean="0"/>
              <a:t>二、基于</a:t>
            </a:r>
            <a:r>
              <a:rPr lang="en-US" altLang="zh-CN" dirty="0" smtClean="0"/>
              <a:t>VCA821</a:t>
            </a:r>
            <a:r>
              <a:rPr lang="zh-CN" altLang="en-US" dirty="0" smtClean="0"/>
              <a:t>芯片的</a:t>
            </a:r>
            <a:r>
              <a:rPr lang="en-US" altLang="zh-CN" dirty="0" smtClean="0"/>
              <a:t>AGC</a:t>
            </a:r>
            <a:r>
              <a:rPr lang="zh-CN" altLang="en-US" dirty="0" smtClean="0"/>
              <a:t>放大器</a:t>
            </a:r>
            <a:endParaRPr lang="zh-CN" altLang="en-US" dirty="0"/>
          </a:p>
        </p:txBody>
      </p:sp>
      <p:sp>
        <p:nvSpPr>
          <p:cNvPr id="8" name="文本框 7"/>
          <p:cNvSpPr txBox="1"/>
          <p:nvPr/>
        </p:nvSpPr>
        <p:spPr>
          <a:xfrm>
            <a:off x="355234" y="4384398"/>
            <a:ext cx="3156062" cy="1938992"/>
          </a:xfrm>
          <a:prstGeom prst="rect">
            <a:avLst/>
          </a:prstGeom>
          <a:noFill/>
        </p:spPr>
        <p:txBody>
          <a:bodyPr wrap="square" rtlCol="0">
            <a:spAutoFit/>
          </a:bodyPr>
          <a:lstStyle/>
          <a:p>
            <a:pPr>
              <a:lnSpc>
                <a:spcPct val="125000"/>
              </a:lnSpc>
            </a:pPr>
            <a:r>
              <a:rPr lang="en-US" altLang="zh-CN" sz="1600" dirty="0" smtClean="0"/>
              <a:t>VCA821</a:t>
            </a:r>
            <a:r>
              <a:rPr lang="zh-CN" altLang="en-US" sz="1600" dirty="0" smtClean="0"/>
              <a:t>，</a:t>
            </a:r>
            <a:r>
              <a:rPr lang="zh-CN" altLang="zh-CN" sz="1600" dirty="0" smtClean="0"/>
              <a:t>电流反馈型</a:t>
            </a:r>
            <a:r>
              <a:rPr lang="en-US" altLang="zh-CN" sz="1600" dirty="0" smtClean="0"/>
              <a:t>VGA</a:t>
            </a:r>
          </a:p>
          <a:p>
            <a:pPr>
              <a:lnSpc>
                <a:spcPct val="125000"/>
              </a:lnSpc>
            </a:pPr>
            <a:r>
              <a:rPr lang="zh-CN" altLang="en-US" sz="1600" dirty="0" smtClean="0"/>
              <a:t>带宽</a:t>
            </a:r>
            <a:r>
              <a:rPr lang="en-US" altLang="zh-CN" sz="1600" dirty="0" smtClean="0"/>
              <a:t>320MHz</a:t>
            </a:r>
          </a:p>
          <a:p>
            <a:pPr>
              <a:lnSpc>
                <a:spcPct val="125000"/>
              </a:lnSpc>
            </a:pPr>
            <a:r>
              <a:rPr lang="en-US" altLang="zh-CN" sz="1600" dirty="0" smtClean="0"/>
              <a:t>0.1dB</a:t>
            </a:r>
            <a:r>
              <a:rPr lang="zh-CN" altLang="zh-CN" sz="1600" dirty="0"/>
              <a:t>增益平坦范围达</a:t>
            </a:r>
            <a:r>
              <a:rPr lang="en-US" altLang="zh-CN" sz="1600" dirty="0" smtClean="0"/>
              <a:t>135MHz</a:t>
            </a:r>
          </a:p>
          <a:p>
            <a:pPr>
              <a:lnSpc>
                <a:spcPct val="125000"/>
              </a:lnSpc>
            </a:pPr>
            <a:r>
              <a:rPr lang="zh-CN" altLang="zh-CN" sz="1600" dirty="0" smtClean="0"/>
              <a:t>增益</a:t>
            </a:r>
            <a:r>
              <a:rPr lang="zh-CN" altLang="zh-CN" sz="1600" dirty="0"/>
              <a:t>变化范围大于</a:t>
            </a:r>
            <a:r>
              <a:rPr lang="en-US" altLang="zh-CN" sz="1600" dirty="0" smtClean="0"/>
              <a:t>40dB</a:t>
            </a:r>
          </a:p>
          <a:p>
            <a:pPr>
              <a:lnSpc>
                <a:spcPct val="125000"/>
              </a:lnSpc>
            </a:pPr>
            <a:r>
              <a:rPr lang="en-US" altLang="zh-CN" sz="1600" i="1" dirty="0" smtClean="0"/>
              <a:t>V</a:t>
            </a:r>
            <a:r>
              <a:rPr lang="en-US" altLang="zh-CN" sz="1600" i="1" baseline="-25000" dirty="0" smtClean="0"/>
              <a:t>G</a:t>
            </a:r>
            <a:r>
              <a:rPr lang="zh-CN" altLang="zh-CN" sz="1600" dirty="0"/>
              <a:t>的允许输入范围是</a:t>
            </a:r>
            <a:r>
              <a:rPr lang="en-US" altLang="zh-CN" sz="1600" dirty="0"/>
              <a:t>0~2V</a:t>
            </a:r>
            <a:r>
              <a:rPr lang="zh-CN" altLang="zh-CN" sz="1600" dirty="0" smtClean="0"/>
              <a:t>，实际有效的范围约</a:t>
            </a:r>
            <a:r>
              <a:rPr lang="zh-CN" altLang="en-US" sz="1600" dirty="0" smtClean="0"/>
              <a:t>为</a:t>
            </a:r>
            <a:r>
              <a:rPr lang="en-US" altLang="zh-CN" sz="1600" dirty="0" smtClean="0"/>
              <a:t>0.2V~1.2V</a:t>
            </a:r>
            <a:endParaRPr lang="zh-CN" altLang="en-US" sz="1200" dirty="0"/>
          </a:p>
        </p:txBody>
      </p:sp>
      <p:cxnSp>
        <p:nvCxnSpPr>
          <p:cNvPr id="10" name="直接箭头连接符 9"/>
          <p:cNvCxnSpPr/>
          <p:nvPr/>
        </p:nvCxnSpPr>
        <p:spPr>
          <a:xfrm flipV="1">
            <a:off x="1535113" y="2545690"/>
            <a:ext cx="1066800" cy="178018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3942894" y="4384398"/>
            <a:ext cx="4542738" cy="1938992"/>
          </a:xfrm>
          <a:prstGeom prst="rect">
            <a:avLst/>
          </a:prstGeom>
          <a:noFill/>
        </p:spPr>
        <p:txBody>
          <a:bodyPr wrap="square" rtlCol="0">
            <a:spAutoFit/>
          </a:bodyPr>
          <a:lstStyle/>
          <a:p>
            <a:pPr>
              <a:lnSpc>
                <a:spcPct val="125000"/>
              </a:lnSpc>
            </a:pPr>
            <a:r>
              <a:rPr lang="zh-CN" altLang="en-US" sz="1600" dirty="0" smtClean="0"/>
              <a:t>二极管与反相积分器构成</a:t>
            </a:r>
            <a:r>
              <a:rPr lang="en-US" altLang="zh-CN" sz="1600" dirty="0" smtClean="0"/>
              <a:t>AGC</a:t>
            </a:r>
            <a:r>
              <a:rPr lang="zh-CN" altLang="en-US" sz="1600" dirty="0" smtClean="0"/>
              <a:t>电压发生器</a:t>
            </a:r>
            <a:endParaRPr lang="en-US" altLang="zh-CN" sz="1600" dirty="0" smtClean="0"/>
          </a:p>
          <a:p>
            <a:pPr>
              <a:lnSpc>
                <a:spcPct val="125000"/>
              </a:lnSpc>
            </a:pPr>
            <a:r>
              <a:rPr lang="zh-CN" altLang="en-US" sz="1600" dirty="0" smtClean="0"/>
              <a:t>输出电压峰值高于</a:t>
            </a:r>
            <a:r>
              <a:rPr lang="en-US" altLang="zh-CN" sz="1600" dirty="0" smtClean="0"/>
              <a:t>(V</a:t>
            </a:r>
            <a:r>
              <a:rPr lang="en-US" altLang="zh-CN" sz="1600" baseline="-25000" dirty="0" smtClean="0"/>
              <a:t>REF</a:t>
            </a:r>
            <a:r>
              <a:rPr lang="en-US" altLang="zh-CN" sz="1600" dirty="0" smtClean="0"/>
              <a:t>+V</a:t>
            </a:r>
            <a:r>
              <a:rPr lang="en-US" altLang="zh-CN" sz="1600" baseline="-25000" dirty="0" smtClean="0"/>
              <a:t>BE</a:t>
            </a:r>
            <a:r>
              <a:rPr lang="en-US" altLang="zh-CN" sz="1600" dirty="0" smtClean="0"/>
              <a:t>)</a:t>
            </a:r>
            <a:r>
              <a:rPr lang="zh-CN" altLang="en-US" sz="1600" dirty="0" smtClean="0"/>
              <a:t>后</a:t>
            </a:r>
            <a:r>
              <a:rPr lang="en-US" altLang="zh-CN" sz="1600" dirty="0" smtClean="0"/>
              <a:t>AGC</a:t>
            </a:r>
            <a:r>
              <a:rPr lang="zh-CN" altLang="en-US" sz="1600" dirty="0" smtClean="0"/>
              <a:t>起控</a:t>
            </a:r>
            <a:endParaRPr lang="en-US" altLang="zh-CN" sz="1600" dirty="0" smtClean="0"/>
          </a:p>
          <a:p>
            <a:pPr>
              <a:lnSpc>
                <a:spcPct val="125000"/>
              </a:lnSpc>
            </a:pPr>
            <a:r>
              <a:rPr lang="zh-CN" altLang="en-US" sz="1600" dirty="0" smtClean="0"/>
              <a:t>蓝色为</a:t>
            </a:r>
            <a:r>
              <a:rPr lang="en-US" altLang="zh-CN" sz="1600" dirty="0" smtClean="0"/>
              <a:t>AGC</a:t>
            </a:r>
            <a:r>
              <a:rPr lang="zh-CN" altLang="en-US" sz="1600" dirty="0" smtClean="0"/>
              <a:t>起控后的充电电流，黄色为积分电容的放电电流。两个电流平衡点确定了</a:t>
            </a:r>
            <a:r>
              <a:rPr lang="en-US" altLang="zh-CN" sz="1600" dirty="0" smtClean="0"/>
              <a:t>AGC</a:t>
            </a:r>
            <a:r>
              <a:rPr lang="zh-CN" altLang="en-US" sz="1600" dirty="0" smtClean="0"/>
              <a:t>起控后放大器的输出电压</a:t>
            </a:r>
            <a:endParaRPr lang="en-US" altLang="zh-CN" sz="1600" dirty="0" smtClean="0"/>
          </a:p>
          <a:p>
            <a:pPr>
              <a:lnSpc>
                <a:spcPct val="125000"/>
              </a:lnSpc>
            </a:pPr>
            <a:r>
              <a:rPr lang="zh-CN" altLang="en-US" sz="1600" dirty="0"/>
              <a:t>积分</a:t>
            </a:r>
            <a:r>
              <a:rPr lang="zh-CN" altLang="en-US" sz="1600" dirty="0" smtClean="0"/>
              <a:t>电容的大小确定了</a:t>
            </a:r>
            <a:r>
              <a:rPr lang="en-US" altLang="zh-CN" sz="1600" dirty="0" smtClean="0"/>
              <a:t>AGC</a:t>
            </a:r>
            <a:r>
              <a:rPr lang="zh-CN" altLang="en-US" sz="1600" dirty="0" smtClean="0"/>
              <a:t>时间常数</a:t>
            </a:r>
            <a:endParaRPr lang="zh-CN" altLang="en-US" sz="1600" dirty="0"/>
          </a:p>
        </p:txBody>
      </p:sp>
    </p:spTree>
    <p:extLst>
      <p:ext uri="{BB962C8B-B14F-4D97-AF65-F5344CB8AC3E}">
        <p14:creationId xmlns:p14="http://schemas.microsoft.com/office/powerpoint/2010/main" val="33757911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33</a:t>
            </a:fld>
            <a:endParaRPr lang="en-US" altLang="zh-CN">
              <a:solidFill>
                <a:srgbClr val="FFFFFF"/>
              </a:solidFill>
            </a:endParaRPr>
          </a:p>
        </p:txBody>
      </p:sp>
      <p:pic>
        <p:nvPicPr>
          <p:cNvPr id="5" name="图片 4"/>
          <p:cNvPicPr/>
          <p:nvPr/>
        </p:nvPicPr>
        <p:blipFill>
          <a:blip r:embed="rId2">
            <a:extLst>
              <a:ext uri="{28A0092B-C50C-407E-A947-70E740481C1C}">
                <a14:useLocalDpi xmlns:a14="http://schemas.microsoft.com/office/drawing/2010/main" val="0"/>
              </a:ext>
            </a:extLst>
          </a:blip>
          <a:stretch>
            <a:fillRect/>
          </a:stretch>
        </p:blipFill>
        <p:spPr>
          <a:xfrm>
            <a:off x="779563" y="862382"/>
            <a:ext cx="7464668" cy="3738880"/>
          </a:xfrm>
          <a:prstGeom prst="rect">
            <a:avLst/>
          </a:prstGeom>
        </p:spPr>
      </p:pic>
      <p:sp>
        <p:nvSpPr>
          <p:cNvPr id="6" name="文本框 5"/>
          <p:cNvSpPr txBox="1"/>
          <p:nvPr/>
        </p:nvSpPr>
        <p:spPr>
          <a:xfrm>
            <a:off x="355234" y="368391"/>
            <a:ext cx="8433531" cy="553998"/>
          </a:xfrm>
          <a:prstGeom prst="rect">
            <a:avLst/>
          </a:prstGeom>
          <a:noFill/>
        </p:spPr>
        <p:txBody>
          <a:bodyPr wrap="square" rtlCol="0">
            <a:spAutoFit/>
          </a:bodyPr>
          <a:lstStyle/>
          <a:p>
            <a:pPr>
              <a:lnSpc>
                <a:spcPct val="150000"/>
              </a:lnSpc>
            </a:pPr>
            <a:r>
              <a:rPr lang="zh-CN" altLang="en-US" dirty="0"/>
              <a:t>三</a:t>
            </a:r>
            <a:r>
              <a:rPr lang="zh-CN" altLang="en-US" dirty="0" smtClean="0"/>
              <a:t>、基于</a:t>
            </a:r>
            <a:r>
              <a:rPr lang="en-US" altLang="zh-CN" dirty="0" smtClean="0"/>
              <a:t>AD8367</a:t>
            </a:r>
            <a:r>
              <a:rPr lang="zh-CN" altLang="en-US" dirty="0" smtClean="0"/>
              <a:t>芯片的</a:t>
            </a:r>
            <a:r>
              <a:rPr lang="en-US" altLang="zh-CN" dirty="0" smtClean="0"/>
              <a:t>AGC</a:t>
            </a:r>
            <a:r>
              <a:rPr lang="zh-CN" altLang="en-US" dirty="0" smtClean="0"/>
              <a:t>放大器</a:t>
            </a:r>
            <a:endParaRPr lang="zh-CN" altLang="en-US" dirty="0"/>
          </a:p>
        </p:txBody>
      </p:sp>
      <p:sp>
        <p:nvSpPr>
          <p:cNvPr id="7" name="文本框 6"/>
          <p:cNvSpPr txBox="1"/>
          <p:nvPr/>
        </p:nvSpPr>
        <p:spPr>
          <a:xfrm>
            <a:off x="270663" y="4718303"/>
            <a:ext cx="3130906" cy="1323439"/>
          </a:xfrm>
          <a:prstGeom prst="rect">
            <a:avLst/>
          </a:prstGeom>
          <a:noFill/>
        </p:spPr>
        <p:txBody>
          <a:bodyPr wrap="square" rtlCol="0">
            <a:spAutoFit/>
          </a:bodyPr>
          <a:lstStyle/>
          <a:p>
            <a:pPr>
              <a:lnSpc>
                <a:spcPct val="125000"/>
              </a:lnSpc>
            </a:pPr>
            <a:r>
              <a:rPr lang="en-US" altLang="zh-CN" sz="1600" dirty="0" smtClean="0"/>
              <a:t>AD8367</a:t>
            </a:r>
            <a:r>
              <a:rPr lang="zh-CN" altLang="en-US" sz="1600" dirty="0" smtClean="0"/>
              <a:t>，</a:t>
            </a:r>
            <a:r>
              <a:rPr lang="en-US" altLang="zh-CN" sz="1600" dirty="0" smtClean="0"/>
              <a:t>VGA</a:t>
            </a:r>
            <a:r>
              <a:rPr lang="zh-CN" altLang="en-US" sz="1600" dirty="0" smtClean="0"/>
              <a:t>，</a:t>
            </a:r>
            <a:r>
              <a:rPr lang="zh-CN" altLang="zh-CN" sz="1600" dirty="0" smtClean="0"/>
              <a:t>按</a:t>
            </a:r>
            <a:r>
              <a:rPr lang="en-US" altLang="zh-CN" sz="1600" dirty="0"/>
              <a:t>dB</a:t>
            </a:r>
            <a:r>
              <a:rPr lang="zh-CN" altLang="zh-CN" sz="1600" dirty="0"/>
              <a:t>计算的增益与控制电压</a:t>
            </a:r>
            <a:r>
              <a:rPr lang="zh-CN" altLang="zh-CN" sz="1600" dirty="0" smtClean="0"/>
              <a:t>成正比</a:t>
            </a:r>
            <a:endParaRPr lang="en-US" altLang="zh-CN" sz="1600" dirty="0" smtClean="0"/>
          </a:p>
          <a:p>
            <a:pPr>
              <a:lnSpc>
                <a:spcPct val="125000"/>
              </a:lnSpc>
            </a:pPr>
            <a:r>
              <a:rPr lang="zh-CN" altLang="zh-CN" sz="1600" dirty="0" smtClean="0"/>
              <a:t>增益控制</a:t>
            </a:r>
            <a:r>
              <a:rPr lang="zh-CN" altLang="zh-CN" sz="1600" dirty="0"/>
              <a:t>范围为</a:t>
            </a:r>
            <a:r>
              <a:rPr lang="en-US" altLang="zh-CN" sz="1600" dirty="0"/>
              <a:t>-2.5dB~+</a:t>
            </a:r>
            <a:r>
              <a:rPr lang="en-US" altLang="zh-CN" sz="1600" dirty="0" smtClean="0"/>
              <a:t>42.5dB</a:t>
            </a:r>
          </a:p>
          <a:p>
            <a:pPr>
              <a:lnSpc>
                <a:spcPct val="125000"/>
              </a:lnSpc>
            </a:pPr>
            <a:r>
              <a:rPr lang="zh-CN" altLang="zh-CN" sz="1600" dirty="0" smtClean="0"/>
              <a:t>有效</a:t>
            </a:r>
            <a:r>
              <a:rPr lang="zh-CN" altLang="zh-CN" sz="1600" dirty="0"/>
              <a:t>控制电压范围大约为</a:t>
            </a:r>
            <a:r>
              <a:rPr lang="en-US" altLang="zh-CN" sz="1600" dirty="0" smtClean="0"/>
              <a:t>0~1V</a:t>
            </a:r>
            <a:endParaRPr lang="zh-CN" altLang="en-US" sz="1600" dirty="0"/>
          </a:p>
        </p:txBody>
      </p:sp>
      <p:sp>
        <p:nvSpPr>
          <p:cNvPr id="8" name="文本框 7"/>
          <p:cNvSpPr txBox="1"/>
          <p:nvPr/>
        </p:nvSpPr>
        <p:spPr>
          <a:xfrm>
            <a:off x="6283757" y="4718304"/>
            <a:ext cx="2582431" cy="1323439"/>
          </a:xfrm>
          <a:prstGeom prst="rect">
            <a:avLst/>
          </a:prstGeom>
          <a:noFill/>
        </p:spPr>
        <p:txBody>
          <a:bodyPr wrap="square" rtlCol="0">
            <a:spAutoFit/>
          </a:bodyPr>
          <a:lstStyle/>
          <a:p>
            <a:pPr>
              <a:lnSpc>
                <a:spcPct val="125000"/>
              </a:lnSpc>
            </a:pPr>
            <a:r>
              <a:rPr lang="en-US" altLang="zh-CN" sz="1600" dirty="0" smtClean="0"/>
              <a:t>AD8361</a:t>
            </a:r>
            <a:r>
              <a:rPr lang="zh-CN" altLang="en-US" sz="1600" dirty="0" smtClean="0"/>
              <a:t>，</a:t>
            </a:r>
            <a:r>
              <a:rPr lang="zh-CN" altLang="zh-CN" sz="1600" dirty="0"/>
              <a:t>有效值检波器</a:t>
            </a:r>
            <a:r>
              <a:rPr lang="zh-CN" altLang="zh-CN" sz="1600" dirty="0" smtClean="0"/>
              <a:t>，频响</a:t>
            </a:r>
            <a:r>
              <a:rPr lang="en-US" altLang="zh-CN" sz="1600" dirty="0" smtClean="0"/>
              <a:t>2.5GHz</a:t>
            </a:r>
            <a:r>
              <a:rPr lang="zh-CN" altLang="en-US" sz="1600" dirty="0" smtClean="0"/>
              <a:t>，</a:t>
            </a:r>
            <a:r>
              <a:rPr lang="zh-CN" altLang="zh-CN" sz="1600" dirty="0" smtClean="0"/>
              <a:t>输出</a:t>
            </a:r>
            <a:r>
              <a:rPr lang="en-US" altLang="zh-CN" sz="1600" i="1" dirty="0" err="1"/>
              <a:t>V</a:t>
            </a:r>
            <a:r>
              <a:rPr lang="en-US" altLang="zh-CN" sz="1600" baseline="-25000" dirty="0" err="1"/>
              <a:t>rms</a:t>
            </a:r>
            <a:r>
              <a:rPr lang="zh-CN" altLang="zh-CN" sz="1600" dirty="0"/>
              <a:t>是一</a:t>
            </a:r>
            <a:r>
              <a:rPr lang="zh-CN" altLang="zh-CN" sz="1600" dirty="0" smtClean="0"/>
              <a:t>个与</a:t>
            </a:r>
            <a:r>
              <a:rPr lang="zh-CN" altLang="zh-CN" sz="1600" dirty="0"/>
              <a:t>输入电压</a:t>
            </a:r>
            <a:r>
              <a:rPr lang="zh-CN" altLang="zh-CN" sz="1600" dirty="0" smtClean="0"/>
              <a:t>有效值</a:t>
            </a:r>
            <a:r>
              <a:rPr lang="zh-CN" altLang="en-US" sz="1600" dirty="0" smtClean="0"/>
              <a:t>为</a:t>
            </a:r>
            <a:r>
              <a:rPr lang="zh-CN" altLang="zh-CN" sz="1600" dirty="0" smtClean="0"/>
              <a:t>线性函数</a:t>
            </a:r>
            <a:r>
              <a:rPr lang="zh-CN" altLang="en-US" sz="1600" dirty="0" smtClean="0"/>
              <a:t>的</a:t>
            </a:r>
            <a:r>
              <a:rPr lang="zh-CN" altLang="zh-CN" sz="1600" dirty="0" smtClean="0"/>
              <a:t>直流电压</a:t>
            </a:r>
            <a:endParaRPr lang="zh-CN" altLang="en-US" sz="1600" dirty="0"/>
          </a:p>
        </p:txBody>
      </p:sp>
      <p:sp>
        <p:nvSpPr>
          <p:cNvPr id="10" name="文本框 9"/>
          <p:cNvSpPr txBox="1"/>
          <p:nvPr/>
        </p:nvSpPr>
        <p:spPr>
          <a:xfrm>
            <a:off x="3747363" y="4718303"/>
            <a:ext cx="2296973" cy="1323439"/>
          </a:xfrm>
          <a:prstGeom prst="rect">
            <a:avLst/>
          </a:prstGeom>
          <a:noFill/>
        </p:spPr>
        <p:txBody>
          <a:bodyPr wrap="square" rtlCol="0">
            <a:spAutoFit/>
          </a:bodyPr>
          <a:lstStyle/>
          <a:p>
            <a:pPr>
              <a:lnSpc>
                <a:spcPct val="125000"/>
              </a:lnSpc>
            </a:pPr>
            <a:r>
              <a:rPr lang="en-US" altLang="zh-CN" sz="1600" dirty="0" smtClean="0"/>
              <a:t>AD820</a:t>
            </a:r>
            <a:r>
              <a:rPr lang="zh-CN" altLang="en-US" sz="1600" dirty="0" smtClean="0"/>
              <a:t>，</a:t>
            </a:r>
            <a:r>
              <a:rPr lang="zh-CN" altLang="zh-CN" sz="1600" dirty="0" smtClean="0"/>
              <a:t>构成比较</a:t>
            </a:r>
            <a:r>
              <a:rPr lang="en-US" altLang="zh-CN" sz="1600" dirty="0"/>
              <a:t>-</a:t>
            </a:r>
            <a:r>
              <a:rPr lang="zh-CN" altLang="zh-CN" sz="1600" dirty="0" smtClean="0"/>
              <a:t>积分器</a:t>
            </a:r>
            <a:r>
              <a:rPr lang="zh-CN" altLang="en-US" sz="1600" dirty="0" smtClean="0"/>
              <a:t>，比较</a:t>
            </a:r>
            <a:r>
              <a:rPr lang="en-US" altLang="zh-CN" sz="1600" i="1" dirty="0" err="1" smtClean="0"/>
              <a:t>V</a:t>
            </a:r>
            <a:r>
              <a:rPr lang="en-US" altLang="zh-CN" sz="1600" baseline="-25000" dirty="0" err="1" smtClean="0"/>
              <a:t>rms</a:t>
            </a:r>
            <a:r>
              <a:rPr lang="zh-CN" altLang="en-US" sz="1600" dirty="0" smtClean="0"/>
              <a:t>与</a:t>
            </a:r>
            <a:r>
              <a:rPr lang="en-US" altLang="zh-CN" sz="1600" i="1" dirty="0" smtClean="0"/>
              <a:t>V</a:t>
            </a:r>
            <a:r>
              <a:rPr lang="en-US" altLang="zh-CN" sz="1600" i="1" baseline="-25000" dirty="0" smtClean="0"/>
              <a:t>SET</a:t>
            </a:r>
            <a:r>
              <a:rPr lang="zh-CN" altLang="en-US" sz="1600" dirty="0" smtClean="0"/>
              <a:t>的误差并积分，形成</a:t>
            </a:r>
            <a:r>
              <a:rPr lang="en-US" altLang="zh-CN" sz="1600" dirty="0" smtClean="0"/>
              <a:t>AGC</a:t>
            </a:r>
            <a:r>
              <a:rPr lang="zh-CN" altLang="en-US" sz="1600" dirty="0" smtClean="0"/>
              <a:t>控制电压</a:t>
            </a:r>
            <a:endParaRPr lang="zh-CN" altLang="en-US" sz="1600" dirty="0"/>
          </a:p>
        </p:txBody>
      </p:sp>
    </p:spTree>
    <p:extLst>
      <p:ext uri="{BB962C8B-B14F-4D97-AF65-F5344CB8AC3E}">
        <p14:creationId xmlns:p14="http://schemas.microsoft.com/office/powerpoint/2010/main" val="2785410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34</a:t>
            </a:fld>
            <a:endParaRPr lang="en-US" altLang="zh-CN">
              <a:solidFill>
                <a:srgbClr val="FFFFFF"/>
              </a:solidFill>
            </a:endParaRPr>
          </a:p>
        </p:txBody>
      </p:sp>
      <p:sp>
        <p:nvSpPr>
          <p:cNvPr id="5" name="文本框 4"/>
          <p:cNvSpPr txBox="1"/>
          <p:nvPr/>
        </p:nvSpPr>
        <p:spPr>
          <a:xfrm>
            <a:off x="380391" y="365761"/>
            <a:ext cx="8302752" cy="6309420"/>
          </a:xfrm>
          <a:prstGeom prst="rect">
            <a:avLst/>
          </a:prstGeom>
          <a:noFill/>
        </p:spPr>
        <p:txBody>
          <a:bodyPr wrap="square" rtlCol="0">
            <a:spAutoFit/>
          </a:bodyPr>
          <a:lstStyle/>
          <a:p>
            <a:r>
              <a:rPr lang="zh-CN" altLang="en-US" sz="2800" dirty="0" smtClean="0">
                <a:solidFill>
                  <a:srgbClr val="FF0000"/>
                </a:solidFill>
                <a:latin typeface="隶书" panose="02010509060101010101" pitchFamily="49" charset="-122"/>
                <a:ea typeface="隶书" panose="02010509060101010101" pitchFamily="49" charset="-122"/>
              </a:rPr>
              <a:t>高频功率放大器</a:t>
            </a:r>
            <a:endParaRPr lang="en-US" altLang="zh-CN" sz="2800" dirty="0" smtClean="0">
              <a:solidFill>
                <a:srgbClr val="FF0000"/>
              </a:solidFill>
              <a:latin typeface="隶书" panose="02010509060101010101" pitchFamily="49" charset="-122"/>
              <a:ea typeface="隶书" panose="02010509060101010101" pitchFamily="49" charset="-122"/>
            </a:endParaRPr>
          </a:p>
          <a:p>
            <a:pPr marL="342900" indent="-342900">
              <a:lnSpc>
                <a:spcPct val="135000"/>
              </a:lnSpc>
              <a:buFont typeface="Wingdings" panose="05000000000000000000" pitchFamily="2" charset="2"/>
              <a:buChar char="Ø"/>
            </a:pPr>
            <a:r>
              <a:rPr lang="zh-CN" altLang="en-US" dirty="0" smtClean="0">
                <a:latin typeface="Arial" panose="020B0604020202020204" pitchFamily="34" charset="0"/>
              </a:rPr>
              <a:t>用</a:t>
            </a:r>
            <a:r>
              <a:rPr lang="en-US" altLang="zh-CN" dirty="0" smtClean="0">
                <a:latin typeface="Arial" panose="020B0604020202020204" pitchFamily="34" charset="0"/>
              </a:rPr>
              <a:t>MMIC</a:t>
            </a:r>
            <a:r>
              <a:rPr lang="zh-CN" altLang="en-US" dirty="0" smtClean="0">
                <a:latin typeface="Arial" panose="020B0604020202020204" pitchFamily="34" charset="0"/>
              </a:rPr>
              <a:t>构成的高频功率放大器</a:t>
            </a:r>
            <a:endParaRPr lang="en-US" altLang="zh-CN" dirty="0" smtClean="0">
              <a:latin typeface="Arial" panose="020B0604020202020204" pitchFamily="34" charset="0"/>
            </a:endParaRPr>
          </a:p>
          <a:p>
            <a:pPr marL="800100" lvl="1" indent="-342900">
              <a:lnSpc>
                <a:spcPct val="135000"/>
              </a:lnSpc>
              <a:buFont typeface="Arial" panose="020B0604020202020204" pitchFamily="34" charset="0"/>
              <a:buChar char="•"/>
            </a:pPr>
            <a:r>
              <a:rPr lang="zh-CN" altLang="en-US" dirty="0" smtClean="0">
                <a:latin typeface="Arial" panose="020B0604020202020204" pitchFamily="34" charset="0"/>
              </a:rPr>
              <a:t>频率响应范围宽（低频到</a:t>
            </a:r>
            <a:r>
              <a:rPr lang="en-US" altLang="zh-CN" dirty="0" smtClean="0">
                <a:latin typeface="Arial" panose="020B0604020202020204" pitchFamily="34" charset="0"/>
              </a:rPr>
              <a:t>GHz</a:t>
            </a:r>
            <a:r>
              <a:rPr lang="zh-CN" altLang="en-US" dirty="0" smtClean="0">
                <a:latin typeface="Arial" panose="020B0604020202020204" pitchFamily="34" charset="0"/>
              </a:rPr>
              <a:t>）</a:t>
            </a:r>
            <a:endParaRPr lang="en-US" altLang="zh-CN" dirty="0" smtClean="0">
              <a:latin typeface="Arial" panose="020B0604020202020204" pitchFamily="34" charset="0"/>
            </a:endParaRPr>
          </a:p>
          <a:p>
            <a:pPr marL="800100" lvl="1" indent="-342900">
              <a:lnSpc>
                <a:spcPct val="135000"/>
              </a:lnSpc>
              <a:buFont typeface="Arial" panose="020B0604020202020204" pitchFamily="34" charset="0"/>
              <a:buChar char="•"/>
            </a:pPr>
            <a:r>
              <a:rPr lang="zh-CN" altLang="en-US" dirty="0" smtClean="0">
                <a:latin typeface="Arial" panose="020B0604020202020204" pitchFamily="34" charset="0"/>
              </a:rPr>
              <a:t>输出功率不大（几十毫瓦到</a:t>
            </a:r>
            <a:r>
              <a:rPr lang="en-US" altLang="zh-CN" dirty="0" smtClean="0">
                <a:latin typeface="Arial" panose="020B0604020202020204" pitchFamily="34" charset="0"/>
              </a:rPr>
              <a:t>1</a:t>
            </a:r>
            <a:r>
              <a:rPr lang="zh-CN" altLang="en-US" dirty="0" smtClean="0">
                <a:latin typeface="Arial" panose="020B0604020202020204" pitchFamily="34" charset="0"/>
              </a:rPr>
              <a:t>瓦）</a:t>
            </a:r>
            <a:endParaRPr lang="en-US" altLang="zh-CN" dirty="0" smtClean="0">
              <a:latin typeface="Arial" panose="020B0604020202020204" pitchFamily="34" charset="0"/>
            </a:endParaRPr>
          </a:p>
          <a:p>
            <a:pPr marL="800100" lvl="1" indent="-342900">
              <a:lnSpc>
                <a:spcPct val="135000"/>
              </a:lnSpc>
              <a:buFont typeface="Arial" panose="020B0604020202020204" pitchFamily="34" charset="0"/>
              <a:buChar char="•"/>
            </a:pPr>
            <a:r>
              <a:rPr lang="zh-CN" altLang="en-US" dirty="0" smtClean="0">
                <a:latin typeface="Arial" panose="020B0604020202020204" pitchFamily="34" charset="0"/>
              </a:rPr>
              <a:t>电路结构简单，调试容易</a:t>
            </a:r>
            <a:endParaRPr lang="en-US" altLang="zh-CN" dirty="0" smtClean="0">
              <a:latin typeface="Arial" panose="020B0604020202020204" pitchFamily="34" charset="0"/>
            </a:endParaRPr>
          </a:p>
          <a:p>
            <a:pPr marL="342900" indent="-342900">
              <a:lnSpc>
                <a:spcPct val="135000"/>
              </a:lnSpc>
              <a:buFont typeface="Wingdings" panose="05000000000000000000" pitchFamily="2" charset="2"/>
              <a:buChar char="Ø"/>
            </a:pPr>
            <a:r>
              <a:rPr lang="zh-CN" altLang="en-US" dirty="0" smtClean="0">
                <a:latin typeface="Arial" panose="020B0604020202020204" pitchFamily="34" charset="0"/>
              </a:rPr>
              <a:t>用高速运放构成高频功率放大器</a:t>
            </a:r>
            <a:endParaRPr lang="en-US" altLang="zh-CN" dirty="0" smtClean="0">
              <a:latin typeface="Arial" panose="020B0604020202020204" pitchFamily="34" charset="0"/>
            </a:endParaRPr>
          </a:p>
          <a:p>
            <a:pPr marL="800100" lvl="1" indent="-342900">
              <a:lnSpc>
                <a:spcPct val="135000"/>
              </a:lnSpc>
              <a:buFont typeface="Arial" panose="020B0604020202020204" pitchFamily="34" charset="0"/>
              <a:buChar char="•"/>
            </a:pPr>
            <a:r>
              <a:rPr lang="zh-CN" altLang="en-US" dirty="0" smtClean="0">
                <a:latin typeface="Arial" panose="020B0604020202020204" pitchFamily="34" charset="0"/>
              </a:rPr>
              <a:t>频率范围从</a:t>
            </a:r>
            <a:r>
              <a:rPr lang="en-US" altLang="zh-CN" dirty="0" smtClean="0">
                <a:latin typeface="Arial" panose="020B0604020202020204" pitchFamily="34" charset="0"/>
              </a:rPr>
              <a:t>DC</a:t>
            </a:r>
            <a:r>
              <a:rPr lang="zh-CN" altLang="en-US" dirty="0" smtClean="0">
                <a:latin typeface="Arial" panose="020B0604020202020204" pitchFamily="34" charset="0"/>
              </a:rPr>
              <a:t>到几百</a:t>
            </a:r>
            <a:r>
              <a:rPr lang="en-US" altLang="zh-CN" dirty="0" smtClean="0">
                <a:latin typeface="Arial" panose="020B0604020202020204" pitchFamily="34" charset="0"/>
              </a:rPr>
              <a:t>MHz</a:t>
            </a:r>
          </a:p>
          <a:p>
            <a:pPr marL="800100" lvl="1" indent="-342900">
              <a:lnSpc>
                <a:spcPct val="135000"/>
              </a:lnSpc>
              <a:buFont typeface="Arial" panose="020B0604020202020204" pitchFamily="34" charset="0"/>
              <a:buChar char="•"/>
            </a:pPr>
            <a:r>
              <a:rPr lang="zh-CN" altLang="en-US" dirty="0" smtClean="0">
                <a:latin typeface="Arial" panose="020B0604020202020204" pitchFamily="34" charset="0"/>
              </a:rPr>
              <a:t>输出功率不大（几十毫瓦到几瓦）</a:t>
            </a:r>
            <a:endParaRPr lang="en-US" altLang="zh-CN" dirty="0" smtClean="0">
              <a:latin typeface="Arial" panose="020B0604020202020204" pitchFamily="34" charset="0"/>
            </a:endParaRPr>
          </a:p>
          <a:p>
            <a:pPr marL="800100" lvl="1" indent="-342900">
              <a:lnSpc>
                <a:spcPct val="135000"/>
              </a:lnSpc>
              <a:buFont typeface="Arial" panose="020B0604020202020204" pitchFamily="34" charset="0"/>
              <a:buChar char="•"/>
            </a:pPr>
            <a:r>
              <a:rPr lang="zh-CN" altLang="en-US" dirty="0">
                <a:latin typeface="Arial" panose="020B0604020202020204" pitchFamily="34" charset="0"/>
              </a:rPr>
              <a:t>可以简单地用电阻做功率合成</a:t>
            </a:r>
            <a:endParaRPr lang="en-US" altLang="zh-CN" dirty="0">
              <a:latin typeface="Arial" panose="020B0604020202020204" pitchFamily="34" charset="0"/>
            </a:endParaRPr>
          </a:p>
          <a:p>
            <a:pPr marL="800100" lvl="1" indent="-342900">
              <a:lnSpc>
                <a:spcPct val="135000"/>
              </a:lnSpc>
              <a:buFont typeface="Arial" panose="020B0604020202020204" pitchFamily="34" charset="0"/>
              <a:buChar char="•"/>
            </a:pPr>
            <a:r>
              <a:rPr lang="zh-CN" altLang="en-US" dirty="0" smtClean="0">
                <a:latin typeface="Arial" panose="020B0604020202020204" pitchFamily="34" charset="0"/>
              </a:rPr>
              <a:t>电路</a:t>
            </a:r>
            <a:r>
              <a:rPr lang="zh-CN" altLang="en-US" dirty="0">
                <a:latin typeface="Arial" panose="020B0604020202020204" pitchFamily="34" charset="0"/>
              </a:rPr>
              <a:t>结构简单，调试容易</a:t>
            </a:r>
            <a:endParaRPr lang="en-US" altLang="zh-CN" dirty="0">
              <a:latin typeface="Arial" panose="020B0604020202020204" pitchFamily="34" charset="0"/>
            </a:endParaRPr>
          </a:p>
          <a:p>
            <a:pPr marL="342900" indent="-342900">
              <a:lnSpc>
                <a:spcPct val="135000"/>
              </a:lnSpc>
              <a:buFont typeface="Wingdings" panose="05000000000000000000" pitchFamily="2" charset="2"/>
              <a:buChar char="Ø"/>
            </a:pPr>
            <a:r>
              <a:rPr lang="zh-CN" altLang="en-US" dirty="0" smtClean="0">
                <a:latin typeface="Arial" panose="020B0604020202020204" pitchFamily="34" charset="0"/>
              </a:rPr>
              <a:t>用晶体管构成高频功率放大器</a:t>
            </a:r>
            <a:endParaRPr lang="en-US" altLang="zh-CN" dirty="0" smtClean="0">
              <a:latin typeface="Arial" panose="020B0604020202020204" pitchFamily="34" charset="0"/>
            </a:endParaRPr>
          </a:p>
          <a:p>
            <a:pPr marL="800100" lvl="1" indent="-342900">
              <a:lnSpc>
                <a:spcPct val="135000"/>
              </a:lnSpc>
              <a:buFont typeface="Arial" panose="020B0604020202020204" pitchFamily="34" charset="0"/>
              <a:buChar char="•"/>
            </a:pPr>
            <a:r>
              <a:rPr lang="zh-CN" altLang="en-US" dirty="0">
                <a:latin typeface="Arial" panose="020B0604020202020204" pitchFamily="34" charset="0"/>
              </a:rPr>
              <a:t>频率响应范围宽（低频到</a:t>
            </a:r>
            <a:r>
              <a:rPr lang="en-US" altLang="zh-CN" dirty="0">
                <a:latin typeface="Arial" panose="020B0604020202020204" pitchFamily="34" charset="0"/>
              </a:rPr>
              <a:t>GHz</a:t>
            </a:r>
            <a:r>
              <a:rPr lang="zh-CN" altLang="en-US" dirty="0" smtClean="0">
                <a:latin typeface="Arial" panose="020B0604020202020204" pitchFamily="34" charset="0"/>
              </a:rPr>
              <a:t>）</a:t>
            </a:r>
            <a:endParaRPr lang="en-US" altLang="zh-CN" dirty="0" smtClean="0">
              <a:latin typeface="Arial" panose="020B0604020202020204" pitchFamily="34" charset="0"/>
            </a:endParaRPr>
          </a:p>
          <a:p>
            <a:pPr marL="800100" lvl="1" indent="-342900">
              <a:lnSpc>
                <a:spcPct val="135000"/>
              </a:lnSpc>
              <a:buFont typeface="Arial" panose="020B0604020202020204" pitchFamily="34" charset="0"/>
              <a:buChar char="•"/>
            </a:pPr>
            <a:r>
              <a:rPr lang="zh-CN" altLang="en-US" dirty="0" smtClean="0">
                <a:latin typeface="Arial" panose="020B0604020202020204" pitchFamily="34" charset="0"/>
              </a:rPr>
              <a:t>输出功率范围宽（几十毫瓦到几十瓦甚至更大）</a:t>
            </a:r>
            <a:endParaRPr lang="en-US" altLang="zh-CN" dirty="0" smtClean="0">
              <a:latin typeface="Arial" panose="020B0604020202020204" pitchFamily="34" charset="0"/>
            </a:endParaRPr>
          </a:p>
          <a:p>
            <a:pPr marL="800100" lvl="1" indent="-342900">
              <a:lnSpc>
                <a:spcPct val="135000"/>
              </a:lnSpc>
              <a:buFont typeface="Arial" panose="020B0604020202020204" pitchFamily="34" charset="0"/>
              <a:buChar char="•"/>
            </a:pPr>
            <a:r>
              <a:rPr lang="zh-CN" altLang="en-US" dirty="0" smtClean="0">
                <a:latin typeface="Arial" panose="020B0604020202020204" pitchFamily="34" charset="0"/>
              </a:rPr>
              <a:t>电路结构复杂，调试困难</a:t>
            </a:r>
            <a:endParaRPr lang="en-US" altLang="zh-CN" dirty="0" smtClean="0">
              <a:latin typeface="Arial" panose="020B0604020202020204" pitchFamily="34" charset="0"/>
            </a:endParaRPr>
          </a:p>
          <a:p>
            <a:pPr marL="800100" lvl="1" indent="-342900">
              <a:lnSpc>
                <a:spcPct val="125000"/>
              </a:lnSpc>
              <a:buFont typeface="Arial" panose="020B0604020202020204" pitchFamily="34" charset="0"/>
              <a:buChar char="•"/>
            </a:pPr>
            <a:endParaRPr lang="zh-CN" altLang="en-US" dirty="0">
              <a:latin typeface="Arial" panose="020B0604020202020204" pitchFamily="34" charset="0"/>
            </a:endParaRPr>
          </a:p>
        </p:txBody>
      </p:sp>
    </p:spTree>
    <p:extLst>
      <p:ext uri="{BB962C8B-B14F-4D97-AF65-F5344CB8AC3E}">
        <p14:creationId xmlns:p14="http://schemas.microsoft.com/office/powerpoint/2010/main" val="6769184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35</a:t>
            </a:fld>
            <a:endParaRPr lang="en-US" altLang="zh-CN">
              <a:solidFill>
                <a:srgbClr val="FFFFFF"/>
              </a:solidFill>
            </a:endParaRPr>
          </a:p>
        </p:txBody>
      </p:sp>
      <p:sp>
        <p:nvSpPr>
          <p:cNvPr id="5" name="文本框 4"/>
          <p:cNvSpPr txBox="1"/>
          <p:nvPr/>
        </p:nvSpPr>
        <p:spPr>
          <a:xfrm>
            <a:off x="468313" y="431597"/>
            <a:ext cx="8156307" cy="861774"/>
          </a:xfrm>
          <a:prstGeom prst="rect">
            <a:avLst/>
          </a:prstGeom>
          <a:noFill/>
        </p:spPr>
        <p:txBody>
          <a:bodyPr wrap="square" rtlCol="0">
            <a:spAutoFit/>
          </a:bodyPr>
          <a:lstStyle/>
          <a:p>
            <a:pPr marL="342900" indent="-342900">
              <a:buFont typeface="Wingdings" panose="05000000000000000000" pitchFamily="2" charset="2"/>
              <a:buChar char="Ø"/>
            </a:pPr>
            <a:r>
              <a:rPr lang="zh-CN" altLang="en-US" dirty="0" smtClean="0"/>
              <a:t>功率合成与阻抗匹配</a:t>
            </a:r>
            <a:endParaRPr lang="en-US" altLang="zh-CN" dirty="0" smtClean="0"/>
          </a:p>
          <a:p>
            <a:pPr marL="342900" indent="-342900">
              <a:lnSpc>
                <a:spcPct val="150000"/>
              </a:lnSpc>
              <a:buFont typeface="Arial" panose="020B0604020202020204" pitchFamily="34" charset="0"/>
              <a:buChar char="•"/>
            </a:pPr>
            <a:r>
              <a:rPr lang="zh-CN" altLang="en-US" dirty="0" smtClean="0"/>
              <a:t>高速运放用电阻直接合成的例子</a:t>
            </a:r>
            <a:endParaRPr lang="zh-CN" altLang="en-US" dirty="0"/>
          </a:p>
        </p:txBody>
      </p:sp>
      <p:pic>
        <p:nvPicPr>
          <p:cNvPr id="6" name="图片 5"/>
          <p:cNvPicPr/>
          <p:nvPr/>
        </p:nvPicPr>
        <p:blipFill>
          <a:blip r:embed="rId2"/>
          <a:stretch>
            <a:fillRect/>
          </a:stretch>
        </p:blipFill>
        <p:spPr>
          <a:xfrm>
            <a:off x="1243585" y="1293371"/>
            <a:ext cx="6400799" cy="3059173"/>
          </a:xfrm>
          <a:prstGeom prst="rect">
            <a:avLst/>
          </a:prstGeom>
        </p:spPr>
      </p:pic>
      <p:sp>
        <p:nvSpPr>
          <p:cNvPr id="7" name="椭圆 6"/>
          <p:cNvSpPr/>
          <p:nvPr/>
        </p:nvSpPr>
        <p:spPr>
          <a:xfrm>
            <a:off x="6452006" y="1477670"/>
            <a:ext cx="585216" cy="277246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p:cNvCxnSpPr/>
          <p:nvPr/>
        </p:nvCxnSpPr>
        <p:spPr>
          <a:xfrm flipH="1" flipV="1">
            <a:off x="7235826" y="3174798"/>
            <a:ext cx="884046" cy="124358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7739481" y="4418381"/>
            <a:ext cx="1280161" cy="646331"/>
          </a:xfrm>
          <a:prstGeom prst="rect">
            <a:avLst/>
          </a:prstGeom>
          <a:noFill/>
        </p:spPr>
        <p:txBody>
          <a:bodyPr wrap="square" rtlCol="0">
            <a:spAutoFit/>
          </a:bodyPr>
          <a:lstStyle/>
          <a:p>
            <a:r>
              <a:rPr lang="en-US" altLang="zh-CN" sz="1800" dirty="0" smtClean="0"/>
              <a:t>50</a:t>
            </a:r>
            <a:r>
              <a:rPr lang="zh-CN" altLang="en-US" sz="1800" dirty="0" smtClean="0"/>
              <a:t>欧</a:t>
            </a:r>
            <a:endParaRPr lang="en-US" altLang="zh-CN" sz="1800" dirty="0" smtClean="0"/>
          </a:p>
          <a:p>
            <a:r>
              <a:rPr lang="zh-CN" altLang="en-US" sz="1800" dirty="0" smtClean="0"/>
              <a:t>负载电阻</a:t>
            </a:r>
            <a:endParaRPr lang="zh-CN" altLang="en-US" sz="1800" dirty="0"/>
          </a:p>
        </p:txBody>
      </p:sp>
      <p:cxnSp>
        <p:nvCxnSpPr>
          <p:cNvPr id="12" name="直接箭头连接符 11"/>
          <p:cNvCxnSpPr/>
          <p:nvPr/>
        </p:nvCxnSpPr>
        <p:spPr>
          <a:xfrm flipV="1">
            <a:off x="6744614" y="4227920"/>
            <a:ext cx="23586" cy="58887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6276988" y="4822480"/>
            <a:ext cx="1339901" cy="1477328"/>
          </a:xfrm>
          <a:prstGeom prst="rect">
            <a:avLst/>
          </a:prstGeom>
          <a:noFill/>
        </p:spPr>
        <p:txBody>
          <a:bodyPr wrap="square" rtlCol="0">
            <a:spAutoFit/>
          </a:bodyPr>
          <a:lstStyle/>
          <a:p>
            <a:r>
              <a:rPr lang="en-US" altLang="zh-CN" sz="1800" dirty="0" smtClean="0"/>
              <a:t>3</a:t>
            </a:r>
            <a:r>
              <a:rPr lang="zh-CN" altLang="en-US" sz="1800" dirty="0" smtClean="0"/>
              <a:t>个</a:t>
            </a:r>
            <a:r>
              <a:rPr lang="en-US" altLang="zh-CN" sz="1800" dirty="0" smtClean="0"/>
              <a:t>150</a:t>
            </a:r>
            <a:r>
              <a:rPr lang="zh-CN" altLang="en-US" sz="1800" dirty="0" smtClean="0"/>
              <a:t>欧</a:t>
            </a:r>
            <a:endParaRPr lang="en-US" altLang="zh-CN" sz="1800" dirty="0" smtClean="0"/>
          </a:p>
          <a:p>
            <a:r>
              <a:rPr lang="zh-CN" altLang="en-US" sz="1800" dirty="0" smtClean="0"/>
              <a:t>电阻，整个放大器的输出电阻为</a:t>
            </a:r>
            <a:r>
              <a:rPr lang="en-US" altLang="zh-CN" sz="1800" dirty="0" smtClean="0"/>
              <a:t>50</a:t>
            </a:r>
            <a:r>
              <a:rPr lang="zh-CN" altLang="en-US" sz="1800" dirty="0" smtClean="0"/>
              <a:t>欧</a:t>
            </a:r>
            <a:endParaRPr lang="zh-CN" altLang="en-US" sz="1800" dirty="0"/>
          </a:p>
        </p:txBody>
      </p:sp>
      <p:sp>
        <p:nvSpPr>
          <p:cNvPr id="15" name="文本框 14"/>
          <p:cNvSpPr txBox="1"/>
          <p:nvPr/>
        </p:nvSpPr>
        <p:spPr>
          <a:xfrm>
            <a:off x="263348" y="4226843"/>
            <a:ext cx="5744617" cy="2169825"/>
          </a:xfrm>
          <a:prstGeom prst="rect">
            <a:avLst/>
          </a:prstGeom>
          <a:noFill/>
        </p:spPr>
        <p:txBody>
          <a:bodyPr wrap="square" rtlCol="0">
            <a:spAutoFit/>
          </a:bodyPr>
          <a:lstStyle/>
          <a:p>
            <a:pPr>
              <a:lnSpc>
                <a:spcPct val="125000"/>
              </a:lnSpc>
            </a:pPr>
            <a:r>
              <a:rPr lang="zh-CN" altLang="en-US" sz="1800" dirty="0" smtClean="0"/>
              <a:t>单个运放</a:t>
            </a:r>
            <a:r>
              <a:rPr lang="en-US" altLang="zh-CN" sz="1800" dirty="0" smtClean="0"/>
              <a:t>THS3091</a:t>
            </a:r>
            <a:r>
              <a:rPr lang="zh-CN" altLang="zh-CN" sz="1800" dirty="0" smtClean="0"/>
              <a:t>的</a:t>
            </a:r>
            <a:r>
              <a:rPr lang="zh-CN" altLang="zh-CN" sz="1800" dirty="0"/>
              <a:t>极限</a:t>
            </a:r>
            <a:r>
              <a:rPr lang="zh-CN" altLang="zh-CN" sz="1800" dirty="0" smtClean="0"/>
              <a:t>输出功率为</a:t>
            </a:r>
            <a:r>
              <a:rPr lang="en-US" altLang="zh-CN" sz="1800" dirty="0" smtClean="0"/>
              <a:t>200~400mW</a:t>
            </a:r>
            <a:r>
              <a:rPr lang="zh-CN" altLang="en-US" sz="1800" dirty="0" smtClean="0"/>
              <a:t>，</a:t>
            </a:r>
            <a:r>
              <a:rPr lang="zh-CN" altLang="en-US" sz="1800" dirty="0" smtClean="0"/>
              <a:t>但大功率输出时</a:t>
            </a:r>
            <a:r>
              <a:rPr lang="zh-CN" altLang="zh-CN" sz="1800" dirty="0" smtClean="0"/>
              <a:t>芯片</a:t>
            </a:r>
            <a:r>
              <a:rPr lang="zh-CN" altLang="zh-CN" sz="1800" dirty="0"/>
              <a:t>发热严重，</a:t>
            </a:r>
            <a:r>
              <a:rPr lang="zh-CN" altLang="zh-CN" sz="1800" dirty="0" smtClean="0"/>
              <a:t>导致输出</a:t>
            </a:r>
            <a:r>
              <a:rPr lang="zh-CN" altLang="zh-CN" sz="1800" dirty="0"/>
              <a:t>极</a:t>
            </a:r>
            <a:r>
              <a:rPr lang="zh-CN" altLang="zh-CN" sz="1800" dirty="0" smtClean="0"/>
              <a:t>不稳定</a:t>
            </a:r>
            <a:endParaRPr lang="en-US" altLang="zh-CN" sz="1800" dirty="0" smtClean="0"/>
          </a:p>
          <a:p>
            <a:pPr>
              <a:lnSpc>
                <a:spcPct val="125000"/>
              </a:lnSpc>
            </a:pPr>
            <a:r>
              <a:rPr lang="zh-CN" altLang="en-US" sz="1800" dirty="0" smtClean="0"/>
              <a:t>图中接法，</a:t>
            </a:r>
            <a:r>
              <a:rPr lang="zh-CN" altLang="en-US" sz="1800" dirty="0" smtClean="0"/>
              <a:t>在负载</a:t>
            </a:r>
            <a:r>
              <a:rPr lang="zh-CN" altLang="en-US" sz="1800" dirty="0" smtClean="0"/>
              <a:t>上得到</a:t>
            </a:r>
            <a:r>
              <a:rPr lang="en-US" altLang="zh-CN" sz="1800" dirty="0" smtClean="0"/>
              <a:t>100mW</a:t>
            </a:r>
            <a:r>
              <a:rPr lang="zh-CN" altLang="en-US" sz="1800" dirty="0" smtClean="0"/>
              <a:t>（</a:t>
            </a:r>
            <a:r>
              <a:rPr lang="en-US" altLang="zh-CN" sz="1800" dirty="0" smtClean="0"/>
              <a:t>20dBm</a:t>
            </a:r>
            <a:r>
              <a:rPr lang="zh-CN" altLang="en-US" sz="1800" dirty="0" smtClean="0"/>
              <a:t>）</a:t>
            </a:r>
            <a:r>
              <a:rPr lang="zh-CN" altLang="en-US" sz="1800" dirty="0" smtClean="0"/>
              <a:t>时每个运放的输出只有</a:t>
            </a:r>
            <a:r>
              <a:rPr lang="en-US" altLang="zh-CN" sz="1800" dirty="0" smtClean="0"/>
              <a:t>67mW</a:t>
            </a:r>
            <a:r>
              <a:rPr lang="zh-CN" altLang="en-US" sz="1800" dirty="0" smtClean="0"/>
              <a:t>，放大器</a:t>
            </a:r>
            <a:r>
              <a:rPr lang="zh-CN" altLang="en-US" sz="1800" dirty="0" smtClean="0"/>
              <a:t>输出十分稳定</a:t>
            </a:r>
            <a:endParaRPr lang="en-US" altLang="zh-CN" sz="1800" dirty="0" smtClean="0"/>
          </a:p>
          <a:p>
            <a:pPr>
              <a:lnSpc>
                <a:spcPct val="125000"/>
              </a:lnSpc>
            </a:pPr>
            <a:r>
              <a:rPr lang="en-US" altLang="zh-CN" sz="1800" dirty="0" smtClean="0"/>
              <a:t>(</a:t>
            </a:r>
            <a:r>
              <a:rPr lang="zh-CN" altLang="en-US" sz="1800" dirty="0" smtClean="0"/>
              <a:t>此电路为国内某高频信号发生器的输出部分电路，选用高速运放可以达到极为平坦的幅频特性）</a:t>
            </a:r>
            <a:endParaRPr lang="zh-CN" altLang="en-US" sz="1600" dirty="0"/>
          </a:p>
        </p:txBody>
      </p:sp>
    </p:spTree>
    <p:extLst>
      <p:ext uri="{BB962C8B-B14F-4D97-AF65-F5344CB8AC3E}">
        <p14:creationId xmlns:p14="http://schemas.microsoft.com/office/powerpoint/2010/main" val="34056335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36</a:t>
            </a:fld>
            <a:endParaRPr lang="en-US" altLang="zh-CN">
              <a:solidFill>
                <a:srgbClr val="FFFFFF"/>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224431891"/>
              </p:ext>
            </p:extLst>
          </p:nvPr>
        </p:nvGraphicFramePr>
        <p:xfrm>
          <a:off x="1535113" y="1102167"/>
          <a:ext cx="5479085" cy="2497059"/>
        </p:xfrm>
        <a:graphic>
          <a:graphicData uri="http://schemas.openxmlformats.org/presentationml/2006/ole">
            <mc:AlternateContent xmlns:mc="http://schemas.openxmlformats.org/markup-compatibility/2006">
              <mc:Choice xmlns:v="urn:schemas-microsoft-com:vml" Requires="v">
                <p:oleObj spid="_x0000_s6171" name="Visio" r:id="rId3" imgW="3376806" imgH="1538591" progId="Visio.Drawing.11">
                  <p:embed/>
                </p:oleObj>
              </mc:Choice>
              <mc:Fallback>
                <p:oleObj name="Visio" r:id="rId3" imgW="3376806" imgH="1538591"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5113" y="1102167"/>
                        <a:ext cx="5479085" cy="2497059"/>
                      </a:xfrm>
                      <a:prstGeom prst="rect">
                        <a:avLst/>
                      </a:prstGeom>
                      <a:noFill/>
                    </p:spPr>
                  </p:pic>
                </p:oleObj>
              </mc:Fallback>
            </mc:AlternateContent>
          </a:graphicData>
        </a:graphic>
      </p:graphicFrame>
      <p:sp>
        <p:nvSpPr>
          <p:cNvPr id="7" name="文本框 6"/>
          <p:cNvSpPr txBox="1"/>
          <p:nvPr/>
        </p:nvSpPr>
        <p:spPr>
          <a:xfrm>
            <a:off x="468313" y="431597"/>
            <a:ext cx="8156307" cy="55399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dirty="0" smtClean="0"/>
              <a:t>用传输线变压器合成的例子</a:t>
            </a:r>
            <a:endParaRPr lang="zh-CN" altLang="en-US" dirty="0"/>
          </a:p>
        </p:txBody>
      </p:sp>
      <p:sp>
        <p:nvSpPr>
          <p:cNvPr id="8" name="文本框 7"/>
          <p:cNvSpPr txBox="1"/>
          <p:nvPr/>
        </p:nvSpPr>
        <p:spPr>
          <a:xfrm>
            <a:off x="658368" y="3796736"/>
            <a:ext cx="8046720" cy="1338828"/>
          </a:xfrm>
          <a:prstGeom prst="rect">
            <a:avLst/>
          </a:prstGeom>
          <a:noFill/>
        </p:spPr>
        <p:txBody>
          <a:bodyPr wrap="square" rtlCol="0">
            <a:spAutoFit/>
          </a:bodyPr>
          <a:lstStyle/>
          <a:p>
            <a:pPr>
              <a:lnSpc>
                <a:spcPct val="150000"/>
              </a:lnSpc>
            </a:pPr>
            <a:r>
              <a:rPr lang="en-US" altLang="zh-CN" sz="1800" dirty="0"/>
              <a:t>2</a:t>
            </a:r>
            <a:r>
              <a:rPr lang="zh-CN" altLang="zh-CN" sz="1800" dirty="0"/>
              <a:t>个</a:t>
            </a:r>
            <a:r>
              <a:rPr lang="en-US" altLang="zh-CN" sz="1800" dirty="0"/>
              <a:t>OPA695</a:t>
            </a:r>
            <a:r>
              <a:rPr lang="zh-CN" altLang="zh-CN" sz="1800" dirty="0"/>
              <a:t>运</a:t>
            </a:r>
            <a:r>
              <a:rPr lang="zh-CN" altLang="zh-CN" sz="1800" dirty="0" smtClean="0"/>
              <a:t>放</a:t>
            </a:r>
            <a:r>
              <a:rPr lang="zh-CN" altLang="en-US" sz="1800" dirty="0" smtClean="0"/>
              <a:t>，</a:t>
            </a:r>
            <a:r>
              <a:rPr lang="zh-CN" altLang="zh-CN" sz="1800" dirty="0" smtClean="0"/>
              <a:t>以</a:t>
            </a:r>
            <a:r>
              <a:rPr lang="zh-CN" altLang="en-US" sz="1800" dirty="0" smtClean="0"/>
              <a:t>传输线变压器进行</a:t>
            </a:r>
            <a:r>
              <a:rPr lang="zh-CN" altLang="zh-CN" sz="1800" dirty="0" smtClean="0"/>
              <a:t>功率合成</a:t>
            </a:r>
            <a:r>
              <a:rPr lang="zh-CN" altLang="en-US" sz="1800" dirty="0" smtClean="0"/>
              <a:t>，</a:t>
            </a:r>
            <a:r>
              <a:rPr lang="zh-CN" altLang="zh-CN" sz="1800" dirty="0" smtClean="0"/>
              <a:t>实测其</a:t>
            </a:r>
            <a:r>
              <a:rPr lang="en-US" altLang="zh-CN" sz="1800" dirty="0"/>
              <a:t>-3dB</a:t>
            </a:r>
            <a:r>
              <a:rPr lang="zh-CN" altLang="zh-CN" sz="1800" dirty="0"/>
              <a:t>频响大约是</a:t>
            </a:r>
            <a:r>
              <a:rPr lang="en-US" altLang="zh-CN" sz="1800" dirty="0"/>
              <a:t>100kHz~350MHz</a:t>
            </a:r>
            <a:r>
              <a:rPr lang="zh-CN" altLang="zh-CN" sz="1800" dirty="0" smtClean="0"/>
              <a:t>，输出</a:t>
            </a:r>
            <a:r>
              <a:rPr lang="zh-CN" altLang="zh-CN" sz="1800" dirty="0"/>
              <a:t>功率大约在</a:t>
            </a:r>
            <a:r>
              <a:rPr lang="en-US" altLang="zh-CN" sz="1800" dirty="0" smtClean="0"/>
              <a:t>80mW</a:t>
            </a:r>
            <a:r>
              <a:rPr lang="zh-CN" altLang="en-US" sz="1800" dirty="0" smtClean="0"/>
              <a:t>（</a:t>
            </a:r>
            <a:r>
              <a:rPr lang="en-US" altLang="zh-CN" sz="1800" dirty="0" smtClean="0"/>
              <a:t>19dBm</a:t>
            </a:r>
            <a:r>
              <a:rPr lang="zh-CN" altLang="en-US" sz="1800" dirty="0" smtClean="0"/>
              <a:t>）</a:t>
            </a:r>
            <a:r>
              <a:rPr lang="zh-CN" altLang="zh-CN" sz="1800" dirty="0" smtClean="0"/>
              <a:t>左右</a:t>
            </a:r>
            <a:endParaRPr lang="en-US" altLang="zh-CN" sz="1800" dirty="0" smtClean="0"/>
          </a:p>
          <a:p>
            <a:pPr>
              <a:lnSpc>
                <a:spcPct val="150000"/>
              </a:lnSpc>
            </a:pPr>
            <a:r>
              <a:rPr lang="zh-CN" altLang="en-US" sz="1800" dirty="0" smtClean="0"/>
              <a:t>传输线变压器合成的功放，其频响不仅受放大器限制还受变压器频响的限制</a:t>
            </a:r>
            <a:endParaRPr lang="zh-CN" altLang="en-US" sz="1600" dirty="0"/>
          </a:p>
        </p:txBody>
      </p:sp>
    </p:spTree>
    <p:extLst>
      <p:ext uri="{BB962C8B-B14F-4D97-AF65-F5344CB8AC3E}">
        <p14:creationId xmlns:p14="http://schemas.microsoft.com/office/powerpoint/2010/main" val="7176119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2022/3/18</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37</a:t>
            </a:fld>
            <a:endParaRPr lang="en-US" altLang="zh-CN">
              <a:solidFill>
                <a:srgbClr val="FFFFFF"/>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4075313288"/>
              </p:ext>
            </p:extLst>
          </p:nvPr>
        </p:nvGraphicFramePr>
        <p:xfrm>
          <a:off x="597029" y="1045236"/>
          <a:ext cx="7654518" cy="2749238"/>
        </p:xfrm>
        <a:graphic>
          <a:graphicData uri="http://schemas.openxmlformats.org/presentationml/2006/ole">
            <mc:AlternateContent xmlns:mc="http://schemas.openxmlformats.org/markup-compatibility/2006">
              <mc:Choice xmlns:v="urn:schemas-microsoft-com:vml" Requires="v">
                <p:oleObj spid="_x0000_s7193" name="Visio" r:id="rId3" imgW="4838597" imgH="1733647" progId="Visio.Drawing.11">
                  <p:embed/>
                </p:oleObj>
              </mc:Choice>
              <mc:Fallback>
                <p:oleObj name="Visio" r:id="rId3" imgW="4838597" imgH="1733647"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029" y="1045236"/>
                        <a:ext cx="7654518" cy="2749238"/>
                      </a:xfrm>
                      <a:prstGeom prst="rect">
                        <a:avLst/>
                      </a:prstGeom>
                      <a:noFill/>
                    </p:spPr>
                  </p:pic>
                </p:oleObj>
              </mc:Fallback>
            </mc:AlternateContent>
          </a:graphicData>
        </a:graphic>
      </p:graphicFrame>
      <p:sp>
        <p:nvSpPr>
          <p:cNvPr id="7" name="文本框 6"/>
          <p:cNvSpPr txBox="1"/>
          <p:nvPr/>
        </p:nvSpPr>
        <p:spPr>
          <a:xfrm>
            <a:off x="412231" y="431597"/>
            <a:ext cx="8212390" cy="55399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dirty="0" smtClean="0"/>
              <a:t>用传输线变压器阻抗变换的例子</a:t>
            </a:r>
            <a:endParaRPr lang="zh-CN" altLang="en-US" dirty="0"/>
          </a:p>
        </p:txBody>
      </p:sp>
      <p:sp>
        <p:nvSpPr>
          <p:cNvPr id="8" name="文本框 7"/>
          <p:cNvSpPr txBox="1"/>
          <p:nvPr/>
        </p:nvSpPr>
        <p:spPr>
          <a:xfrm>
            <a:off x="412231" y="3794474"/>
            <a:ext cx="8302954" cy="2419124"/>
          </a:xfrm>
          <a:prstGeom prst="rect">
            <a:avLst/>
          </a:prstGeom>
          <a:noFill/>
        </p:spPr>
        <p:txBody>
          <a:bodyPr wrap="square" rtlCol="0">
            <a:spAutoFit/>
          </a:bodyPr>
          <a:lstStyle/>
          <a:p>
            <a:pPr>
              <a:lnSpc>
                <a:spcPct val="135000"/>
              </a:lnSpc>
            </a:pPr>
            <a:r>
              <a:rPr lang="en-US" altLang="zh-CN" sz="1600" dirty="0" smtClean="0"/>
              <a:t>ADA4870</a:t>
            </a:r>
            <a:r>
              <a:rPr lang="zh-CN" altLang="en-US" sz="1600" dirty="0" smtClean="0"/>
              <a:t>，</a:t>
            </a:r>
            <a:r>
              <a:rPr lang="zh-CN" altLang="zh-CN" sz="1600" dirty="0" smtClean="0"/>
              <a:t>电流反馈</a:t>
            </a:r>
            <a:r>
              <a:rPr lang="zh-CN" altLang="zh-CN" sz="1600" dirty="0"/>
              <a:t>型运放</a:t>
            </a:r>
            <a:r>
              <a:rPr lang="zh-CN" altLang="zh-CN" sz="1600" dirty="0" smtClean="0"/>
              <a:t>，电源电压可达</a:t>
            </a:r>
            <a:r>
              <a:rPr lang="en-US" altLang="zh-CN" sz="1600" dirty="0"/>
              <a:t>40V</a:t>
            </a:r>
            <a:r>
              <a:rPr lang="zh-CN" altLang="zh-CN" sz="1600" dirty="0"/>
              <a:t>，在此电压下的输出摆</a:t>
            </a:r>
            <a:r>
              <a:rPr lang="zh-CN" altLang="zh-CN" sz="1600" dirty="0" smtClean="0"/>
              <a:t>幅为</a:t>
            </a:r>
            <a:r>
              <a:rPr lang="en-US" altLang="zh-CN" sz="1600" dirty="0" smtClean="0"/>
              <a:t>37V</a:t>
            </a:r>
            <a:r>
              <a:rPr lang="zh-CN" altLang="en-US" sz="1600" dirty="0" smtClean="0"/>
              <a:t>，</a:t>
            </a:r>
            <a:r>
              <a:rPr lang="zh-CN" altLang="zh-CN" sz="1600" dirty="0" smtClean="0"/>
              <a:t>最大</a:t>
            </a:r>
            <a:r>
              <a:rPr lang="zh-CN" altLang="zh-CN" sz="1600" dirty="0"/>
              <a:t>输出电流</a:t>
            </a:r>
            <a:r>
              <a:rPr lang="en-US" altLang="zh-CN" sz="1600" dirty="0" smtClean="0"/>
              <a:t>1A</a:t>
            </a:r>
            <a:r>
              <a:rPr lang="zh-CN" altLang="en-US" sz="1600" dirty="0" smtClean="0"/>
              <a:t>，</a:t>
            </a:r>
            <a:r>
              <a:rPr lang="zh-CN" altLang="zh-CN" sz="1600" dirty="0" smtClean="0"/>
              <a:t>压</a:t>
            </a:r>
            <a:r>
              <a:rPr lang="zh-CN" altLang="zh-CN" sz="1600" dirty="0"/>
              <a:t>摆率</a:t>
            </a:r>
            <a:r>
              <a:rPr lang="en-US" altLang="zh-CN" sz="1600" dirty="0"/>
              <a:t>2500V/</a:t>
            </a:r>
            <a:r>
              <a:rPr lang="en-US" altLang="zh-CN" sz="1600" dirty="0">
                <a:sym typeface="Symbol" panose="05050102010706020507" pitchFamily="18" charset="2"/>
              </a:rPr>
              <a:t></a:t>
            </a:r>
            <a:r>
              <a:rPr lang="en-US" altLang="zh-CN" sz="1600" dirty="0" smtClean="0"/>
              <a:t>s</a:t>
            </a:r>
            <a:r>
              <a:rPr lang="zh-CN" altLang="en-US" sz="1600" dirty="0" smtClean="0"/>
              <a:t>，</a:t>
            </a:r>
            <a:r>
              <a:rPr lang="zh-CN" altLang="zh-CN" sz="1600" dirty="0" smtClean="0"/>
              <a:t>大信号</a:t>
            </a:r>
            <a:r>
              <a:rPr lang="en-US" altLang="zh-CN" sz="1600" dirty="0" smtClean="0"/>
              <a:t>-3dB</a:t>
            </a:r>
            <a:r>
              <a:rPr lang="zh-CN" altLang="zh-CN" sz="1600" dirty="0" smtClean="0"/>
              <a:t>带宽</a:t>
            </a:r>
            <a:r>
              <a:rPr lang="en-US" altLang="zh-CN" sz="1600" dirty="0" smtClean="0"/>
              <a:t>52MHz</a:t>
            </a:r>
          </a:p>
          <a:p>
            <a:pPr>
              <a:lnSpc>
                <a:spcPct val="135000"/>
              </a:lnSpc>
            </a:pPr>
            <a:r>
              <a:rPr lang="zh-CN" altLang="en-US" sz="1600" dirty="0" smtClean="0"/>
              <a:t>为了充分利用</a:t>
            </a:r>
            <a:r>
              <a:rPr lang="en-US" altLang="zh-CN" sz="1600" dirty="0" smtClean="0"/>
              <a:t>ADA4870</a:t>
            </a:r>
            <a:r>
              <a:rPr lang="zh-CN" altLang="en-US" sz="1600" dirty="0" smtClean="0"/>
              <a:t>的输出能力，采用传输线变压器进行如图电路阻抗变换</a:t>
            </a:r>
            <a:endParaRPr lang="en-US" altLang="zh-CN" sz="1600" dirty="0" smtClean="0"/>
          </a:p>
          <a:p>
            <a:pPr>
              <a:lnSpc>
                <a:spcPct val="135000"/>
              </a:lnSpc>
            </a:pPr>
            <a:r>
              <a:rPr lang="zh-CN" altLang="en-US" sz="1600" dirty="0" smtClean="0"/>
              <a:t>实测</a:t>
            </a:r>
            <a:r>
              <a:rPr lang="zh-CN" altLang="zh-CN" sz="1600" dirty="0" smtClean="0"/>
              <a:t>最大</a:t>
            </a:r>
            <a:r>
              <a:rPr lang="zh-CN" altLang="zh-CN" sz="1600" dirty="0"/>
              <a:t>不失真输出功率可达</a:t>
            </a:r>
            <a:r>
              <a:rPr lang="en-US" altLang="zh-CN" sz="1600" dirty="0" smtClean="0"/>
              <a:t>2.9W</a:t>
            </a:r>
            <a:r>
              <a:rPr lang="zh-CN" altLang="en-US" sz="1600" dirty="0" smtClean="0"/>
              <a:t>（芯片加合适的散热器）</a:t>
            </a:r>
            <a:endParaRPr lang="en-US" altLang="zh-CN" sz="1600" dirty="0" smtClean="0"/>
          </a:p>
          <a:p>
            <a:pPr>
              <a:lnSpc>
                <a:spcPct val="135000"/>
              </a:lnSpc>
            </a:pPr>
            <a:r>
              <a:rPr lang="zh-CN" altLang="zh-CN" sz="1600" dirty="0" smtClean="0"/>
              <a:t>输出</a:t>
            </a:r>
            <a:r>
              <a:rPr lang="zh-CN" altLang="zh-CN" sz="1600" dirty="0"/>
              <a:t>功率控制在</a:t>
            </a:r>
            <a:r>
              <a:rPr lang="en-US" altLang="zh-CN" sz="1600" dirty="0" smtClean="0"/>
              <a:t>2W</a:t>
            </a:r>
            <a:r>
              <a:rPr lang="zh-CN" altLang="zh-CN" sz="1600" dirty="0" smtClean="0"/>
              <a:t>时</a:t>
            </a:r>
            <a:r>
              <a:rPr lang="zh-CN" altLang="en-US" sz="1600" dirty="0" smtClean="0"/>
              <a:t>，</a:t>
            </a:r>
            <a:r>
              <a:rPr lang="en-US" altLang="zh-CN" sz="1600" dirty="0" smtClean="0"/>
              <a:t>-3dB</a:t>
            </a:r>
            <a:r>
              <a:rPr lang="zh-CN" altLang="zh-CN" sz="1600" dirty="0"/>
              <a:t>带宽大于</a:t>
            </a:r>
            <a:r>
              <a:rPr lang="en-US" altLang="zh-CN" sz="1600" dirty="0"/>
              <a:t>100kHz~20MHz</a:t>
            </a:r>
            <a:r>
              <a:rPr lang="zh-CN" altLang="zh-CN" sz="1600" dirty="0"/>
              <a:t>，但是在频率大于</a:t>
            </a:r>
            <a:r>
              <a:rPr lang="en-US" altLang="zh-CN" sz="1600" dirty="0"/>
              <a:t>10MHz</a:t>
            </a:r>
            <a:r>
              <a:rPr lang="zh-CN" altLang="zh-CN" sz="1600" dirty="0"/>
              <a:t>后输出</a:t>
            </a:r>
            <a:r>
              <a:rPr lang="zh-CN" altLang="zh-CN" sz="1600" dirty="0" smtClean="0"/>
              <a:t>失真</a:t>
            </a:r>
            <a:r>
              <a:rPr lang="zh-CN" altLang="en-US" sz="1600" dirty="0" smtClean="0"/>
              <a:t>略</a:t>
            </a:r>
            <a:r>
              <a:rPr lang="zh-CN" altLang="zh-CN" sz="1600" dirty="0" smtClean="0"/>
              <a:t>大</a:t>
            </a:r>
            <a:endParaRPr lang="en-US" altLang="zh-CN" sz="1600" dirty="0" smtClean="0"/>
          </a:p>
          <a:p>
            <a:pPr>
              <a:lnSpc>
                <a:spcPct val="135000"/>
              </a:lnSpc>
            </a:pPr>
            <a:r>
              <a:rPr lang="zh-CN" altLang="zh-CN" sz="1600" dirty="0" smtClean="0"/>
              <a:t>输出</a:t>
            </a:r>
            <a:r>
              <a:rPr lang="zh-CN" altLang="zh-CN" sz="1600" dirty="0"/>
              <a:t>功率控制在</a:t>
            </a:r>
            <a:r>
              <a:rPr lang="en-US" altLang="zh-CN" sz="1600" dirty="0" smtClean="0"/>
              <a:t>1W</a:t>
            </a:r>
            <a:r>
              <a:rPr lang="zh-CN" altLang="en-US" sz="1600" dirty="0" smtClean="0"/>
              <a:t>时，</a:t>
            </a:r>
            <a:r>
              <a:rPr lang="en-US" altLang="zh-CN" sz="1600" dirty="0" smtClean="0"/>
              <a:t>100kHz~20MHz</a:t>
            </a:r>
            <a:r>
              <a:rPr lang="zh-CN" altLang="zh-CN" sz="1600" dirty="0" smtClean="0"/>
              <a:t>范围内均</a:t>
            </a:r>
            <a:r>
              <a:rPr lang="zh-CN" altLang="zh-CN" sz="1600" dirty="0"/>
              <a:t>无</a:t>
            </a:r>
            <a:r>
              <a:rPr lang="zh-CN" altLang="zh-CN" sz="1600" dirty="0" smtClean="0"/>
              <a:t>明显</a:t>
            </a:r>
            <a:r>
              <a:rPr lang="zh-CN" altLang="zh-CN" sz="1600" dirty="0"/>
              <a:t>输出</a:t>
            </a:r>
            <a:r>
              <a:rPr lang="zh-CN" altLang="zh-CN" sz="1600" dirty="0" smtClean="0"/>
              <a:t>失真</a:t>
            </a:r>
            <a:r>
              <a:rPr lang="zh-CN" altLang="zh-CN" sz="1600" dirty="0"/>
              <a:t>，且增益变化不大于</a:t>
            </a:r>
            <a:r>
              <a:rPr lang="en-US" altLang="zh-CN" sz="1600" dirty="0" smtClean="0"/>
              <a:t>1dB</a:t>
            </a:r>
            <a:endParaRPr lang="zh-CN" altLang="en-US" sz="1400" dirty="0"/>
          </a:p>
        </p:txBody>
      </p:sp>
    </p:spTree>
    <p:extLst>
      <p:ext uri="{BB962C8B-B14F-4D97-AF65-F5344CB8AC3E}">
        <p14:creationId xmlns:p14="http://schemas.microsoft.com/office/powerpoint/2010/main" val="28867149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38</a:t>
            </a:fld>
            <a:endParaRPr lang="en-US" altLang="zh-CN">
              <a:solidFill>
                <a:srgbClr val="FFFFFF"/>
              </a:solidFill>
            </a:endParaRPr>
          </a:p>
        </p:txBody>
      </p:sp>
      <p:sp>
        <p:nvSpPr>
          <p:cNvPr id="5" name="文本框 4"/>
          <p:cNvSpPr txBox="1"/>
          <p:nvPr/>
        </p:nvSpPr>
        <p:spPr>
          <a:xfrm>
            <a:off x="342079" y="407862"/>
            <a:ext cx="8597990" cy="4708981"/>
          </a:xfrm>
          <a:prstGeom prst="rect">
            <a:avLst/>
          </a:prstGeom>
          <a:noFill/>
        </p:spPr>
        <p:txBody>
          <a:bodyPr wrap="square" rtlCol="0">
            <a:spAutoFit/>
          </a:bodyPr>
          <a:lstStyle/>
          <a:p>
            <a:pPr>
              <a:lnSpc>
                <a:spcPct val="150000"/>
              </a:lnSpc>
            </a:pPr>
            <a:r>
              <a:rPr lang="zh-CN" altLang="en-US" dirty="0" smtClean="0"/>
              <a:t>实验</a:t>
            </a:r>
            <a:r>
              <a:rPr lang="zh-CN" altLang="en-US" dirty="0" smtClean="0"/>
              <a:t>题</a:t>
            </a:r>
            <a:r>
              <a:rPr lang="en-US" altLang="zh-CN" dirty="0" smtClean="0"/>
              <a:t>1</a:t>
            </a:r>
            <a:endParaRPr lang="en-US" altLang="zh-CN" dirty="0" smtClean="0"/>
          </a:p>
          <a:p>
            <a:pPr>
              <a:lnSpc>
                <a:spcPct val="150000"/>
              </a:lnSpc>
            </a:pPr>
            <a:r>
              <a:rPr lang="zh-CN" altLang="en-US" sz="1800" dirty="0" smtClean="0"/>
              <a:t>设计与制作一个宽带射频放大器，要求如下：</a:t>
            </a:r>
            <a:endParaRPr lang="en-US" altLang="zh-CN" sz="1800" dirty="0" smtClean="0"/>
          </a:p>
          <a:p>
            <a:pPr marL="457200" indent="-457200">
              <a:lnSpc>
                <a:spcPct val="150000"/>
              </a:lnSpc>
              <a:buFont typeface="+mj-lt"/>
              <a:buAutoNum type="arabicPeriod"/>
            </a:pPr>
            <a:r>
              <a:rPr lang="zh-CN" altLang="zh-CN" sz="1800" dirty="0" smtClean="0"/>
              <a:t>放大器 </a:t>
            </a:r>
            <a:r>
              <a:rPr lang="en-US" altLang="zh-CN" sz="1800" i="1" dirty="0"/>
              <a:t>BW</a:t>
            </a:r>
            <a:r>
              <a:rPr lang="en-US" altLang="zh-CN" sz="1800" baseline="-25000" dirty="0"/>
              <a:t>-3dB</a:t>
            </a:r>
            <a:r>
              <a:rPr lang="zh-CN" altLang="zh-CN" sz="1800" dirty="0"/>
              <a:t>的下限频率 </a:t>
            </a:r>
            <a:r>
              <a:rPr lang="en-US" altLang="zh-CN" sz="1800" i="1" dirty="0" err="1"/>
              <a:t>f</a:t>
            </a:r>
            <a:r>
              <a:rPr lang="en-US" altLang="zh-CN" sz="1800" i="1" baseline="-25000" dirty="0" err="1"/>
              <a:t>L</a:t>
            </a:r>
            <a:r>
              <a:rPr lang="zh-CN" altLang="zh-CN" sz="1800" dirty="0"/>
              <a:t>≤</a:t>
            </a:r>
            <a:r>
              <a:rPr lang="en-US" altLang="zh-CN" sz="1800" dirty="0" smtClean="0"/>
              <a:t>0.5MHz</a:t>
            </a:r>
            <a:r>
              <a:rPr lang="zh-CN" altLang="zh-CN" sz="1800" dirty="0"/>
              <a:t>，上限频率</a:t>
            </a:r>
            <a:r>
              <a:rPr lang="en-US" altLang="zh-CN" sz="1800" i="1" dirty="0"/>
              <a:t> </a:t>
            </a:r>
            <a:r>
              <a:rPr lang="en-US" altLang="zh-CN" sz="1800" i="1" dirty="0" err="1"/>
              <a:t>f</a:t>
            </a:r>
            <a:r>
              <a:rPr lang="en-US" altLang="zh-CN" sz="1800" i="1" baseline="-25000" dirty="0" err="1"/>
              <a:t>H</a:t>
            </a:r>
            <a:r>
              <a:rPr lang="zh-CN" altLang="zh-CN" sz="1800" dirty="0" smtClean="0"/>
              <a:t>≥</a:t>
            </a:r>
            <a:r>
              <a:rPr lang="en-US" altLang="zh-CN" sz="1800" dirty="0" smtClean="0"/>
              <a:t>200MHz</a:t>
            </a:r>
          </a:p>
          <a:p>
            <a:pPr marL="457200" indent="-457200">
              <a:lnSpc>
                <a:spcPct val="150000"/>
              </a:lnSpc>
              <a:buFont typeface="+mj-lt"/>
              <a:buAutoNum type="arabicPeriod"/>
            </a:pPr>
            <a:r>
              <a:rPr lang="zh-CN" altLang="zh-CN" sz="1800" dirty="0" smtClean="0"/>
              <a:t>在</a:t>
            </a:r>
            <a:r>
              <a:rPr lang="en-US" altLang="zh-CN" sz="1800" dirty="0" smtClean="0"/>
              <a:t> </a:t>
            </a:r>
            <a:r>
              <a:rPr lang="en-US" altLang="zh-CN" sz="1800" dirty="0"/>
              <a:t>1MHz</a:t>
            </a:r>
            <a:r>
              <a:rPr lang="zh-CN" altLang="zh-CN" sz="1800" dirty="0" smtClean="0"/>
              <a:t>～</a:t>
            </a:r>
            <a:r>
              <a:rPr lang="en-US" altLang="zh-CN" sz="1800" dirty="0" smtClean="0"/>
              <a:t>150MHz </a:t>
            </a:r>
            <a:r>
              <a:rPr lang="zh-CN" altLang="zh-CN" sz="1800" dirty="0"/>
              <a:t>频带</a:t>
            </a:r>
            <a:r>
              <a:rPr lang="zh-CN" altLang="zh-CN" sz="1800" dirty="0" smtClean="0"/>
              <a:t>内</a:t>
            </a:r>
            <a:r>
              <a:rPr lang="zh-CN" altLang="en-US" sz="1800" dirty="0"/>
              <a:t>增益</a:t>
            </a:r>
            <a:r>
              <a:rPr lang="zh-CN" altLang="zh-CN" sz="1800" dirty="0" smtClean="0"/>
              <a:t>≥</a:t>
            </a:r>
            <a:r>
              <a:rPr lang="en-US" altLang="zh-CN" sz="1800" dirty="0" smtClean="0"/>
              <a:t>40dB</a:t>
            </a:r>
            <a:r>
              <a:rPr lang="zh-CN" altLang="en-US" sz="1800" dirty="0" smtClean="0"/>
              <a:t>，</a:t>
            </a:r>
            <a:r>
              <a:rPr lang="zh-CN" altLang="zh-CN" sz="1800" dirty="0" smtClean="0"/>
              <a:t>增益</a:t>
            </a:r>
            <a:r>
              <a:rPr lang="zh-CN" altLang="zh-CN" sz="1800" dirty="0"/>
              <a:t>起伏≤</a:t>
            </a:r>
            <a:r>
              <a:rPr lang="en-US" altLang="zh-CN" sz="1800" dirty="0" smtClean="0"/>
              <a:t>1dB</a:t>
            </a:r>
            <a:endParaRPr lang="en-US" altLang="zh-CN" sz="1600" dirty="0"/>
          </a:p>
          <a:p>
            <a:pPr marL="457200" indent="-457200">
              <a:lnSpc>
                <a:spcPct val="150000"/>
              </a:lnSpc>
              <a:buFont typeface="+mj-lt"/>
              <a:buAutoNum type="arabicPeriod"/>
            </a:pPr>
            <a:r>
              <a:rPr lang="zh-CN" altLang="en-US" sz="1800" dirty="0" smtClean="0"/>
              <a:t>放大器的输入输出阻抗均为</a:t>
            </a:r>
            <a:r>
              <a:rPr lang="en-US" altLang="zh-CN" sz="1800" dirty="0" smtClean="0"/>
              <a:t>50</a:t>
            </a:r>
            <a:r>
              <a:rPr lang="el-GR" altLang="zh-CN" sz="1800" dirty="0" smtClean="0">
                <a:latin typeface="Times New Roman" panose="02020603050405020304" pitchFamily="18" charset="0"/>
                <a:cs typeface="Times New Roman" panose="02020603050405020304" pitchFamily="18" charset="0"/>
              </a:rPr>
              <a:t>Ω</a:t>
            </a:r>
            <a:r>
              <a:rPr lang="zh-CN" altLang="en-US" sz="1800" dirty="0" smtClean="0">
                <a:latin typeface="Times New Roman" panose="02020603050405020304" pitchFamily="18" charset="0"/>
                <a:cs typeface="Times New Roman" panose="02020603050405020304" pitchFamily="18" charset="0"/>
              </a:rPr>
              <a:t>，负载电阻</a:t>
            </a:r>
            <a:r>
              <a:rPr lang="en-US" altLang="zh-CN" sz="1800" dirty="0"/>
              <a:t>50</a:t>
            </a:r>
            <a:r>
              <a:rPr lang="el-GR" altLang="zh-CN" sz="1800" dirty="0">
                <a:latin typeface="Times New Roman" panose="02020603050405020304" pitchFamily="18" charset="0"/>
                <a:cs typeface="Times New Roman" panose="02020603050405020304" pitchFamily="18" charset="0"/>
              </a:rPr>
              <a:t>Ω</a:t>
            </a:r>
            <a:endParaRPr lang="en-US" altLang="zh-CN" sz="1800" dirty="0" smtClean="0"/>
          </a:p>
          <a:p>
            <a:pPr marL="457200" indent="-457200">
              <a:lnSpc>
                <a:spcPct val="150000"/>
              </a:lnSpc>
              <a:buFont typeface="+mj-lt"/>
              <a:buAutoNum type="arabicPeriod"/>
            </a:pPr>
            <a:r>
              <a:rPr lang="zh-CN" altLang="en-US" sz="1800" dirty="0" smtClean="0"/>
              <a:t>输入电压有效值</a:t>
            </a:r>
            <a:r>
              <a:rPr lang="en-US" altLang="zh-CN" sz="1800" i="1" dirty="0" err="1"/>
              <a:t>U</a:t>
            </a:r>
            <a:r>
              <a:rPr lang="en-US" altLang="zh-CN" sz="1800" i="1" baseline="-25000" dirty="0" err="1"/>
              <a:t>i</a:t>
            </a:r>
            <a:r>
              <a:rPr lang="zh-CN" altLang="zh-CN" sz="1800" dirty="0"/>
              <a:t>≤</a:t>
            </a:r>
            <a:r>
              <a:rPr lang="en-US" altLang="zh-CN" sz="1800" dirty="0"/>
              <a:t>1 mV </a:t>
            </a:r>
            <a:endParaRPr lang="en-US" altLang="zh-CN" sz="1800" dirty="0" smtClean="0"/>
          </a:p>
          <a:p>
            <a:pPr>
              <a:lnSpc>
                <a:spcPct val="150000"/>
              </a:lnSpc>
            </a:pPr>
            <a:r>
              <a:rPr lang="zh-CN" altLang="en-US" sz="1800" dirty="0" smtClean="0"/>
              <a:t>制作完成后，</a:t>
            </a:r>
            <a:endParaRPr lang="en-US" altLang="zh-CN" sz="1800" dirty="0" smtClean="0"/>
          </a:p>
          <a:p>
            <a:pPr marL="457200" indent="-457200">
              <a:lnSpc>
                <a:spcPct val="150000"/>
              </a:lnSpc>
              <a:buFont typeface="+mj-lt"/>
              <a:buAutoNum type="arabicPeriod"/>
            </a:pPr>
            <a:r>
              <a:rPr lang="zh-CN" altLang="en-US" sz="1800" dirty="0" smtClean="0"/>
              <a:t>测试放大器</a:t>
            </a:r>
            <a:r>
              <a:rPr lang="zh-CN" altLang="en-US" sz="1800" dirty="0"/>
              <a:t>的</a:t>
            </a:r>
            <a:r>
              <a:rPr lang="zh-CN" altLang="en-US" sz="1800" dirty="0" smtClean="0"/>
              <a:t>频响（可用网络分析仪测量）</a:t>
            </a:r>
            <a:endParaRPr lang="en-US" altLang="zh-CN" sz="1800" dirty="0" smtClean="0"/>
          </a:p>
          <a:p>
            <a:pPr marL="457200" indent="-457200">
              <a:lnSpc>
                <a:spcPct val="150000"/>
              </a:lnSpc>
              <a:buFont typeface="+mj-lt"/>
              <a:buAutoNum type="arabicPeriod"/>
            </a:pPr>
            <a:r>
              <a:rPr lang="zh-CN" altLang="en-US" sz="1800" dirty="0" smtClean="0"/>
              <a:t>固定频率</a:t>
            </a:r>
            <a:r>
              <a:rPr lang="en-US" altLang="zh-CN" sz="1800" dirty="0" smtClean="0"/>
              <a:t>100MHz</a:t>
            </a:r>
            <a:r>
              <a:rPr lang="zh-CN" altLang="en-US" sz="1800" dirty="0" smtClean="0"/>
              <a:t>，逐步加大输入信号幅度，测试整个放大器的</a:t>
            </a:r>
            <a:r>
              <a:rPr lang="en-US" altLang="zh-CN" sz="1800" dirty="0" smtClean="0"/>
              <a:t>1dB</a:t>
            </a:r>
            <a:r>
              <a:rPr lang="zh-CN" altLang="en-US" sz="1800" dirty="0" smtClean="0"/>
              <a:t>压缩点</a:t>
            </a:r>
            <a:endParaRPr lang="en-US" altLang="zh-CN" sz="1800" dirty="0" smtClean="0"/>
          </a:p>
          <a:p>
            <a:pPr marL="457200" indent="-457200">
              <a:lnSpc>
                <a:spcPct val="150000"/>
              </a:lnSpc>
              <a:buFont typeface="+mj-lt"/>
              <a:buAutoNum type="arabicPeriod"/>
            </a:pPr>
            <a:r>
              <a:rPr lang="zh-CN" altLang="en-US" sz="1800" dirty="0"/>
              <a:t>固定频率</a:t>
            </a:r>
            <a:r>
              <a:rPr lang="en-US" altLang="zh-CN" sz="1800" dirty="0"/>
              <a:t>100MHz</a:t>
            </a:r>
            <a:r>
              <a:rPr lang="zh-CN" altLang="en-US" sz="1800" dirty="0"/>
              <a:t>，</a:t>
            </a:r>
            <a:r>
              <a:rPr lang="zh-CN" altLang="en-US" sz="1800" dirty="0" smtClean="0"/>
              <a:t>逐步</a:t>
            </a:r>
            <a:r>
              <a:rPr lang="zh-CN" altLang="en-US" sz="1800" dirty="0"/>
              <a:t>加大输入信号幅度</a:t>
            </a:r>
            <a:r>
              <a:rPr lang="zh-CN" altLang="en-US" sz="1800" dirty="0" smtClean="0"/>
              <a:t>，</a:t>
            </a:r>
            <a:r>
              <a:rPr lang="zh-CN" altLang="en-US" sz="1800" dirty="0" smtClean="0"/>
              <a:t>测试整个放大器的二次谐波与三次谐波增加情况（可用频谱分析仪测量）</a:t>
            </a:r>
            <a:endParaRPr lang="en-US" altLang="zh-CN" sz="1800" dirty="0"/>
          </a:p>
        </p:txBody>
      </p:sp>
    </p:spTree>
    <p:extLst>
      <p:ext uri="{BB962C8B-B14F-4D97-AF65-F5344CB8AC3E}">
        <p14:creationId xmlns:p14="http://schemas.microsoft.com/office/powerpoint/2010/main" val="23827447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2022/3/24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39</a:t>
            </a:fld>
            <a:endParaRPr lang="en-US" altLang="zh-CN">
              <a:solidFill>
                <a:srgbClr val="FFFFFF"/>
              </a:solidFill>
            </a:endParaRPr>
          </a:p>
        </p:txBody>
      </p:sp>
      <p:sp>
        <p:nvSpPr>
          <p:cNvPr id="5" name="矩形 4"/>
          <p:cNvSpPr/>
          <p:nvPr/>
        </p:nvSpPr>
        <p:spPr>
          <a:xfrm>
            <a:off x="363058" y="416081"/>
            <a:ext cx="8169149" cy="3000821"/>
          </a:xfrm>
          <a:prstGeom prst="rect">
            <a:avLst/>
          </a:prstGeom>
        </p:spPr>
        <p:txBody>
          <a:bodyPr wrap="square">
            <a:spAutoFit/>
          </a:bodyPr>
          <a:lstStyle/>
          <a:p>
            <a:pPr>
              <a:lnSpc>
                <a:spcPct val="150000"/>
              </a:lnSpc>
            </a:pPr>
            <a:r>
              <a:rPr lang="zh-CN" altLang="en-US" sz="1800" dirty="0"/>
              <a:t>实验</a:t>
            </a:r>
            <a:r>
              <a:rPr lang="zh-CN" altLang="en-US" sz="1800" dirty="0" smtClean="0"/>
              <a:t>题</a:t>
            </a:r>
            <a:r>
              <a:rPr lang="en-US" altLang="zh-CN" sz="1800" dirty="0" smtClean="0"/>
              <a:t>2</a:t>
            </a:r>
            <a:endParaRPr lang="en-US" altLang="zh-CN" sz="1800" dirty="0"/>
          </a:p>
          <a:p>
            <a:pPr>
              <a:lnSpc>
                <a:spcPct val="150000"/>
              </a:lnSpc>
            </a:pPr>
            <a:r>
              <a:rPr lang="zh-CN" altLang="en-US" sz="1800" dirty="0"/>
              <a:t>设计与制作一</a:t>
            </a:r>
            <a:r>
              <a:rPr lang="zh-CN" altLang="en-US" sz="1800" dirty="0" smtClean="0"/>
              <a:t>个</a:t>
            </a:r>
            <a:r>
              <a:rPr lang="en-US" altLang="zh-CN" sz="1800" dirty="0" smtClean="0"/>
              <a:t>LC</a:t>
            </a:r>
            <a:r>
              <a:rPr lang="zh-CN" altLang="en-US" sz="1800" dirty="0" smtClean="0"/>
              <a:t>低通滤波网络，</a:t>
            </a:r>
            <a:r>
              <a:rPr lang="zh-CN" altLang="en-US" sz="1800" dirty="0"/>
              <a:t>要求如下：</a:t>
            </a:r>
            <a:endParaRPr lang="en-US" altLang="zh-CN" sz="1800" dirty="0"/>
          </a:p>
          <a:p>
            <a:pPr marL="457200" indent="-457200">
              <a:lnSpc>
                <a:spcPct val="150000"/>
              </a:lnSpc>
              <a:buFont typeface="+mj-lt"/>
              <a:buAutoNum type="arabicPeriod"/>
            </a:pPr>
            <a:r>
              <a:rPr lang="zh-CN" altLang="en-US" sz="1800" dirty="0" smtClean="0"/>
              <a:t>截止</a:t>
            </a:r>
            <a:r>
              <a:rPr lang="zh-CN" altLang="zh-CN" sz="1800" dirty="0" smtClean="0"/>
              <a:t>频率</a:t>
            </a:r>
            <a:r>
              <a:rPr lang="en-US" altLang="zh-CN" sz="1800" i="1" dirty="0" smtClean="0"/>
              <a:t> </a:t>
            </a:r>
            <a:r>
              <a:rPr lang="en-US" altLang="zh-CN" sz="1800" dirty="0" smtClean="0"/>
              <a:t>100MHz</a:t>
            </a:r>
            <a:endParaRPr lang="en-US" altLang="zh-CN" sz="1800" dirty="0"/>
          </a:p>
          <a:p>
            <a:pPr marL="457200" indent="-457200">
              <a:lnSpc>
                <a:spcPct val="150000"/>
              </a:lnSpc>
              <a:buFont typeface="+mj-lt"/>
              <a:buAutoNum type="arabicPeriod"/>
            </a:pPr>
            <a:r>
              <a:rPr lang="zh-CN" altLang="en-US" sz="1800" dirty="0" smtClean="0"/>
              <a:t>通</a:t>
            </a:r>
            <a:r>
              <a:rPr lang="zh-CN" altLang="zh-CN" sz="1800" dirty="0" smtClean="0"/>
              <a:t>带</a:t>
            </a:r>
            <a:r>
              <a:rPr lang="zh-CN" altLang="zh-CN" sz="1800" dirty="0"/>
              <a:t>内</a:t>
            </a:r>
            <a:r>
              <a:rPr lang="zh-CN" altLang="en-US" sz="1800" dirty="0" smtClean="0"/>
              <a:t>增益</a:t>
            </a:r>
            <a:r>
              <a:rPr lang="zh-CN" altLang="zh-CN" sz="1800" dirty="0" smtClean="0"/>
              <a:t>起伏≤</a:t>
            </a:r>
            <a:r>
              <a:rPr lang="en-US" altLang="zh-CN" sz="1800" dirty="0" smtClean="0"/>
              <a:t>0.5dB</a:t>
            </a:r>
            <a:endParaRPr lang="en-US" altLang="zh-CN" sz="1600" dirty="0"/>
          </a:p>
          <a:p>
            <a:pPr marL="457200" indent="-457200">
              <a:lnSpc>
                <a:spcPct val="150000"/>
              </a:lnSpc>
              <a:buFont typeface="+mj-lt"/>
              <a:buAutoNum type="arabicPeriod"/>
            </a:pPr>
            <a:r>
              <a:rPr lang="en-US" altLang="zh-CN" sz="1800" dirty="0" smtClean="0"/>
              <a:t>300MHz</a:t>
            </a:r>
            <a:r>
              <a:rPr lang="zh-CN" altLang="en-US" sz="1800" dirty="0" smtClean="0"/>
              <a:t>处的衰减大于</a:t>
            </a:r>
            <a:r>
              <a:rPr lang="en-US" altLang="zh-CN" sz="1800" dirty="0" smtClean="0"/>
              <a:t>50dB</a:t>
            </a:r>
          </a:p>
          <a:p>
            <a:pPr marL="457200" indent="-457200">
              <a:lnSpc>
                <a:spcPct val="150000"/>
              </a:lnSpc>
              <a:buFont typeface="+mj-lt"/>
              <a:buAutoNum type="arabicPeriod"/>
            </a:pPr>
            <a:r>
              <a:rPr lang="zh-CN" altLang="en-US" sz="1800" dirty="0" smtClean="0"/>
              <a:t>输入输出</a:t>
            </a:r>
            <a:r>
              <a:rPr lang="zh-CN" altLang="en-US" sz="1800" dirty="0"/>
              <a:t>匹配</a:t>
            </a:r>
            <a:r>
              <a:rPr lang="zh-CN" altLang="en-US" sz="1800" dirty="0" smtClean="0"/>
              <a:t>阻抗</a:t>
            </a:r>
            <a:r>
              <a:rPr lang="zh-CN" altLang="en-US" sz="1800" dirty="0"/>
              <a:t>均为</a:t>
            </a:r>
            <a:r>
              <a:rPr lang="en-US" altLang="zh-CN" sz="1800" dirty="0"/>
              <a:t>50</a:t>
            </a:r>
            <a:r>
              <a:rPr lang="el-GR" altLang="zh-CN" sz="1800" dirty="0" smtClean="0">
                <a:latin typeface="Times New Roman" panose="02020603050405020304" pitchFamily="18" charset="0"/>
                <a:cs typeface="Times New Roman" panose="02020603050405020304" pitchFamily="18" charset="0"/>
              </a:rPr>
              <a:t>Ω</a:t>
            </a:r>
            <a:endParaRPr lang="en-US" altLang="zh-CN" sz="1800" dirty="0"/>
          </a:p>
          <a:p>
            <a:pPr>
              <a:lnSpc>
                <a:spcPct val="150000"/>
              </a:lnSpc>
            </a:pPr>
            <a:r>
              <a:rPr lang="zh-CN" altLang="en-US" sz="1800" dirty="0" smtClean="0"/>
              <a:t>制作</a:t>
            </a:r>
            <a:r>
              <a:rPr lang="zh-CN" altLang="en-US" sz="1800" dirty="0"/>
              <a:t>完成后</a:t>
            </a:r>
            <a:r>
              <a:rPr lang="zh-CN" altLang="en-US" sz="1800" dirty="0" smtClean="0"/>
              <a:t>，用网络分析仪测试其幅频特性，并与设计的目标参数进行比较</a:t>
            </a:r>
            <a:endParaRPr lang="en-US" altLang="zh-CN" sz="1800" dirty="0"/>
          </a:p>
        </p:txBody>
      </p:sp>
    </p:spTree>
    <p:extLst>
      <p:ext uri="{BB962C8B-B14F-4D97-AF65-F5344CB8AC3E}">
        <p14:creationId xmlns:p14="http://schemas.microsoft.com/office/powerpoint/2010/main" val="2713329665"/>
      </p:ext>
    </p:extLst>
  </p:cSld>
  <p:clrMapOvr>
    <a:masterClrMapping/>
  </p:clrMapOvr>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23388</TotalTime>
  <Words>3577</Words>
  <Application>Microsoft Office PowerPoint</Application>
  <PresentationFormat>全屏显示(4:3)</PresentationFormat>
  <Paragraphs>391</Paragraphs>
  <Slides>39</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39</vt:i4>
      </vt:variant>
    </vt:vector>
  </HeadingPairs>
  <TitlesOfParts>
    <vt:vector size="55" baseType="lpstr">
      <vt:lpstr>黑体</vt:lpstr>
      <vt:lpstr>华文细黑</vt:lpstr>
      <vt:lpstr>楷体</vt:lpstr>
      <vt:lpstr>楷体_GB2312</vt:lpstr>
      <vt:lpstr>隶书</vt:lpstr>
      <vt:lpstr>宋体</vt:lpstr>
      <vt:lpstr>Arial</vt:lpstr>
      <vt:lpstr>Calibri</vt:lpstr>
      <vt:lpstr>Cambria Math</vt:lpstr>
      <vt:lpstr>Symbol</vt:lpstr>
      <vt:lpstr>Times New Roman</vt:lpstr>
      <vt:lpstr>Wingdings</vt:lpstr>
      <vt:lpstr>1_Network</vt:lpstr>
      <vt:lpstr>Visio</vt:lpstr>
      <vt:lpstr>Equation</vt:lpstr>
      <vt:lpstr>Microsoft Visio 绘图</vt:lpstr>
      <vt:lpstr>高频放大器  复旦大学电子工程系  陈光梦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359</cp:revision>
  <dcterms:created xsi:type="dcterms:W3CDTF">1601-01-01T00:00:00Z</dcterms:created>
  <dcterms:modified xsi:type="dcterms:W3CDTF">2022-03-24T09:09:04Z</dcterms:modified>
</cp:coreProperties>
</file>