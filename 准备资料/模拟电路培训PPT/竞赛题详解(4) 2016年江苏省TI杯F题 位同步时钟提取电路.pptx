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42"/>
  </p:notesMasterIdLst>
  <p:handoutMasterIdLst>
    <p:handoutMasterId r:id="rId43"/>
  </p:handoutMasterIdLst>
  <p:sldIdLst>
    <p:sldId id="398" r:id="rId2"/>
    <p:sldId id="660" r:id="rId3"/>
    <p:sldId id="677" r:id="rId4"/>
    <p:sldId id="678" r:id="rId5"/>
    <p:sldId id="695" r:id="rId6"/>
    <p:sldId id="696" r:id="rId7"/>
    <p:sldId id="679" r:id="rId8"/>
    <p:sldId id="680" r:id="rId9"/>
    <p:sldId id="707" r:id="rId10"/>
    <p:sldId id="694" r:id="rId11"/>
    <p:sldId id="697" r:id="rId12"/>
    <p:sldId id="701" r:id="rId13"/>
    <p:sldId id="698" r:id="rId14"/>
    <p:sldId id="699" r:id="rId15"/>
    <p:sldId id="700" r:id="rId16"/>
    <p:sldId id="702" r:id="rId17"/>
    <p:sldId id="703" r:id="rId18"/>
    <p:sldId id="709" r:id="rId19"/>
    <p:sldId id="714" r:id="rId20"/>
    <p:sldId id="715" r:id="rId21"/>
    <p:sldId id="710" r:id="rId22"/>
    <p:sldId id="716" r:id="rId23"/>
    <p:sldId id="717" r:id="rId24"/>
    <p:sldId id="718" r:id="rId25"/>
    <p:sldId id="719" r:id="rId26"/>
    <p:sldId id="720" r:id="rId27"/>
    <p:sldId id="721" r:id="rId28"/>
    <p:sldId id="722" r:id="rId29"/>
    <p:sldId id="723" r:id="rId30"/>
    <p:sldId id="724" r:id="rId31"/>
    <p:sldId id="725" r:id="rId32"/>
    <p:sldId id="726" r:id="rId33"/>
    <p:sldId id="727" r:id="rId34"/>
    <p:sldId id="728" r:id="rId35"/>
    <p:sldId id="729" r:id="rId36"/>
    <p:sldId id="730" r:id="rId37"/>
    <p:sldId id="731" r:id="rId38"/>
    <p:sldId id="732" r:id="rId39"/>
    <p:sldId id="733" r:id="rId40"/>
    <p:sldId id="734" r:id="rId41"/>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CC00"/>
    <a:srgbClr val="EDFFFF"/>
    <a:srgbClr val="CCECFF"/>
    <a:srgbClr val="99FF99"/>
    <a:srgbClr val="FFFF66"/>
    <a:srgbClr val="66FFFF"/>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3147" autoAdjust="0"/>
  </p:normalViewPr>
  <p:slideViewPr>
    <p:cSldViewPr snapToGrid="0">
      <p:cViewPr varScale="1">
        <p:scale>
          <a:sx n="88" d="100"/>
          <a:sy n="88" d="100"/>
        </p:scale>
        <p:origin x="80" y="20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10</a:t>
            </a:fld>
            <a:endParaRPr lang="en-US" altLang="zh-CN"/>
          </a:p>
        </p:txBody>
      </p:sp>
    </p:spTree>
    <p:extLst>
      <p:ext uri="{BB962C8B-B14F-4D97-AF65-F5344CB8AC3E}">
        <p14:creationId xmlns:p14="http://schemas.microsoft.com/office/powerpoint/2010/main" val="4232894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26</a:t>
            </a:fld>
            <a:endParaRPr lang="en-US" altLang="zh-CN"/>
          </a:p>
        </p:txBody>
      </p:sp>
    </p:spTree>
    <p:extLst>
      <p:ext uri="{BB962C8B-B14F-4D97-AF65-F5344CB8AC3E}">
        <p14:creationId xmlns:p14="http://schemas.microsoft.com/office/powerpoint/2010/main" val="1119225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27</a:t>
            </a:fld>
            <a:endParaRPr lang="en-US" altLang="zh-CN"/>
          </a:p>
        </p:txBody>
      </p:sp>
    </p:spTree>
    <p:extLst>
      <p:ext uri="{BB962C8B-B14F-4D97-AF65-F5344CB8AC3E}">
        <p14:creationId xmlns:p14="http://schemas.microsoft.com/office/powerpoint/2010/main" val="2558124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28</a:t>
            </a:fld>
            <a:endParaRPr lang="en-US" altLang="zh-CN"/>
          </a:p>
        </p:txBody>
      </p:sp>
    </p:spTree>
    <p:extLst>
      <p:ext uri="{BB962C8B-B14F-4D97-AF65-F5344CB8AC3E}">
        <p14:creationId xmlns:p14="http://schemas.microsoft.com/office/powerpoint/2010/main" val="21836245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2023/6/28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2023/6/28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2023/6/28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2023/6/28</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2023/6/28</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2023/6/28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2023/6/28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2023/6/28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2023/6/28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2023/6/28</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7.emf"/><Relationship Id="rId4" Type="http://schemas.openxmlformats.org/officeDocument/2006/relationships/image" Target="../media/image16.wmf"/></Relationships>
</file>

<file path=ppt/slides/_rels/slide16.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0.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2.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3.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4.emf"/></Relationships>
</file>

<file path=ppt/slides/_rels/slide2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8.wmf"/><Relationship Id="rId5" Type="http://schemas.openxmlformats.org/officeDocument/2006/relationships/oleObject" Target="../embeddings/oleObject17.bin"/><Relationship Id="rId4" Type="http://schemas.openxmlformats.org/officeDocument/2006/relationships/image" Target="../media/image27.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9.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30.wmf"/><Relationship Id="rId4" Type="http://schemas.openxmlformats.org/officeDocument/2006/relationships/oleObject" Target="../embeddings/oleObject19.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31.wmf"/><Relationship Id="rId4"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35.emf"/><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3.wmf"/><Relationship Id="rId5" Type="http://schemas.openxmlformats.org/officeDocument/2006/relationships/oleObject" Target="../embeddings/oleObject21.bin"/><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8.wmf"/><Relationship Id="rId5" Type="http://schemas.openxmlformats.org/officeDocument/2006/relationships/oleObject" Target="../embeddings/oleObject24.bin"/><Relationship Id="rId4" Type="http://schemas.openxmlformats.org/officeDocument/2006/relationships/image" Target="../media/image37.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40.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41.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42.emf"/></Relationships>
</file>

<file path=ppt/slides/_rels/slide37.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44.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45.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6967"/>
            <a:ext cx="8596312" cy="3249738"/>
          </a:xfrm>
        </p:spPr>
        <p:txBody>
          <a:bodyPr/>
          <a:lstStyle/>
          <a:p>
            <a:pPr>
              <a:spcBef>
                <a:spcPts val="0"/>
              </a:spcBef>
            </a:pPr>
            <a:r>
              <a:rPr lang="en-US" altLang="zh-CN" sz="3600" dirty="0" smtClean="0">
                <a:solidFill>
                  <a:schemeClr val="tx1"/>
                </a:solidFill>
                <a:latin typeface="Times New Roman" panose="02020603050405020304" pitchFamily="18" charset="0"/>
                <a:ea typeface="宋体" panose="02010600030101010101" pitchFamily="2" charset="-122"/>
              </a:rPr>
              <a:t>2016</a:t>
            </a:r>
            <a:r>
              <a:rPr lang="zh-CN" altLang="zh-CN" sz="3600" dirty="0" smtClean="0">
                <a:solidFill>
                  <a:schemeClr val="tx1"/>
                </a:solidFill>
                <a:latin typeface="Times New Roman" panose="02020603050405020304" pitchFamily="18" charset="0"/>
                <a:ea typeface="宋体" panose="02010600030101010101" pitchFamily="2" charset="-122"/>
              </a:rPr>
              <a:t>年</a:t>
            </a:r>
            <a:r>
              <a:rPr lang="zh-CN" altLang="en-US" sz="3600" dirty="0" smtClean="0">
                <a:solidFill>
                  <a:schemeClr val="tx1"/>
                </a:solidFill>
                <a:latin typeface="Times New Roman" panose="02020603050405020304" pitchFamily="18" charset="0"/>
                <a:ea typeface="宋体" panose="02010600030101010101" pitchFamily="2" charset="-122"/>
              </a:rPr>
              <a:t>江苏省</a:t>
            </a:r>
            <a:r>
              <a:rPr lang="en-US" altLang="zh-CN" sz="3600" dirty="0" smtClean="0">
                <a:solidFill>
                  <a:schemeClr val="tx1"/>
                </a:solidFill>
                <a:latin typeface="Times New Roman" panose="02020603050405020304" pitchFamily="18" charset="0"/>
                <a:ea typeface="宋体" panose="02010600030101010101" pitchFamily="2" charset="-122"/>
              </a:rPr>
              <a:t>TI</a:t>
            </a:r>
            <a:r>
              <a:rPr lang="zh-CN" altLang="en-US" sz="3600" dirty="0" smtClean="0">
                <a:solidFill>
                  <a:schemeClr val="tx1"/>
                </a:solidFill>
                <a:latin typeface="Times New Roman" panose="02020603050405020304" pitchFamily="18" charset="0"/>
                <a:ea typeface="宋体" panose="02010600030101010101" pitchFamily="2" charset="-122"/>
              </a:rPr>
              <a:t>杯</a:t>
            </a:r>
            <a:r>
              <a:rPr lang="en-US" altLang="zh-CN" sz="3600" dirty="0" smtClean="0">
                <a:solidFill>
                  <a:schemeClr val="tx1"/>
                </a:solidFill>
                <a:latin typeface="Times New Roman" panose="02020603050405020304" pitchFamily="18" charset="0"/>
                <a:ea typeface="宋体" panose="02010600030101010101" pitchFamily="2" charset="-122"/>
              </a:rPr>
              <a:t>F</a:t>
            </a:r>
            <a:r>
              <a:rPr lang="zh-CN" altLang="zh-CN" sz="3600" dirty="0" smtClean="0">
                <a:solidFill>
                  <a:schemeClr val="tx1"/>
                </a:solidFill>
                <a:latin typeface="Times New Roman" panose="02020603050405020304" pitchFamily="18" charset="0"/>
                <a:ea typeface="宋体" panose="02010600030101010101" pitchFamily="2" charset="-122"/>
              </a:rPr>
              <a:t>题</a:t>
            </a:r>
            <a:r>
              <a:rPr lang="en-US" altLang="zh-CN" sz="3600" dirty="0">
                <a:solidFill>
                  <a:schemeClr val="tx1"/>
                </a:solidFill>
                <a:latin typeface="Times New Roman" panose="02020603050405020304" pitchFamily="18" charset="0"/>
                <a:ea typeface="宋体" panose="02010600030101010101" pitchFamily="2" charset="-122"/>
              </a:rPr>
              <a:t/>
            </a:r>
            <a:br>
              <a:rPr lang="en-US" altLang="zh-CN" sz="3600" dirty="0">
                <a:solidFill>
                  <a:schemeClr val="tx1"/>
                </a:solidFill>
                <a:latin typeface="Times New Roman" panose="02020603050405020304" pitchFamily="18" charset="0"/>
                <a:ea typeface="宋体" panose="02010600030101010101" pitchFamily="2" charset="-122"/>
              </a:rPr>
            </a:br>
            <a:r>
              <a:rPr lang="en-US" altLang="zh-CN" sz="2000" dirty="0">
                <a:solidFill>
                  <a:schemeClr val="tx1"/>
                </a:solidFill>
                <a:latin typeface="Times New Roman" panose="02020603050405020304" pitchFamily="18" charset="0"/>
                <a:ea typeface="宋体" panose="02010600030101010101" pitchFamily="2" charset="-122"/>
              </a:rPr>
              <a:t/>
            </a:r>
            <a:br>
              <a:rPr lang="en-US" altLang="zh-CN" sz="2000" dirty="0">
                <a:solidFill>
                  <a:schemeClr val="tx1"/>
                </a:solidFill>
                <a:latin typeface="Times New Roman" panose="02020603050405020304" pitchFamily="18" charset="0"/>
                <a:ea typeface="宋体" panose="02010600030101010101" pitchFamily="2" charset="-122"/>
              </a:rPr>
            </a:br>
            <a:r>
              <a:rPr lang="zh-CN" altLang="en-US" sz="4400" dirty="0" smtClean="0">
                <a:solidFill>
                  <a:srgbClr val="FF0000"/>
                </a:solidFill>
              </a:rPr>
              <a:t>位同步时钟提取电路</a:t>
            </a:r>
            <a:r>
              <a:rPr lang="en-US" altLang="zh-CN" sz="4400" dirty="0">
                <a:solidFill>
                  <a:srgbClr val="FF0000"/>
                </a:solidFill>
              </a:rPr>
              <a:t/>
            </a:r>
            <a:br>
              <a:rPr lang="en-US" altLang="zh-CN" sz="4400" dirty="0">
                <a:solidFill>
                  <a:srgbClr val="FF0000"/>
                </a:solidFill>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2023/6/28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99143" y="362307"/>
            <a:ext cx="11422442" cy="2123658"/>
          </a:xfrm>
          <a:prstGeom prst="rect">
            <a:avLst/>
          </a:prstGeom>
          <a:noFill/>
        </p:spPr>
        <p:txBody>
          <a:bodyPr wrap="square" rtlCol="0">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57200">
              <a:lnSpc>
                <a:spcPct val="150000"/>
              </a:lnSpc>
            </a:pPr>
            <a:r>
              <a:rPr lang="zh-CN" altLang="zh-CN" sz="1800" dirty="0" smtClean="0"/>
              <a:t>设计</a:t>
            </a:r>
            <a:r>
              <a:rPr lang="zh-CN" altLang="zh-CN" sz="1800" dirty="0"/>
              <a:t>并制作一个从二进制基带信号中提取位同步时钟的电路，并能测定和显示提取出的位同步时钟频率，设计制作的电路组成框图如下图所示</a:t>
            </a:r>
            <a:r>
              <a:rPr lang="zh-CN" altLang="zh-CN" sz="1800" dirty="0" smtClean="0"/>
              <a:t>。</a:t>
            </a:r>
            <a:endParaRPr lang="zh-CN" altLang="zh-CN" sz="1800" dirty="0"/>
          </a:p>
        </p:txBody>
      </p:sp>
      <p:pic>
        <p:nvPicPr>
          <p:cNvPr id="7" name="图片 6"/>
          <p:cNvPicPr/>
          <p:nvPr/>
        </p:nvPicPr>
        <p:blipFill>
          <a:blip r:embed="rId2"/>
          <a:stretch>
            <a:fillRect/>
          </a:stretch>
        </p:blipFill>
        <p:spPr>
          <a:xfrm>
            <a:off x="1832791" y="2710859"/>
            <a:ext cx="8261895" cy="1714081"/>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2023/6/28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507999" y="519348"/>
            <a:ext cx="11197772" cy="5539978"/>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a:t>
            </a:r>
            <a:r>
              <a:rPr lang="zh-CN" altLang="zh-CN" kern="100" dirty="0" smtClean="0">
                <a:latin typeface="Times New Roman" panose="02020603050405020304" pitchFamily="18" charset="0"/>
                <a:ea typeface="黑体" panose="02010609060101010101" pitchFamily="49" charset="-122"/>
              </a:rPr>
              <a:t>要求</a:t>
            </a:r>
            <a:endParaRPr lang="zh-CN" altLang="zh-CN" dirty="0"/>
          </a:p>
          <a:p>
            <a:pPr indent="457200">
              <a:lnSpc>
                <a:spcPct val="150000"/>
              </a:lnSpc>
            </a:pPr>
            <a:r>
              <a:rPr lang="zh-CN" altLang="zh-CN" sz="1800" dirty="0"/>
              <a:t>（</a:t>
            </a:r>
            <a:r>
              <a:rPr lang="en-US" altLang="zh-CN" sz="1800" dirty="0"/>
              <a:t>1</a:t>
            </a:r>
            <a:r>
              <a:rPr lang="zh-CN" altLang="zh-CN" sz="1800" dirty="0"/>
              <a:t>）设计制作“基带信号产生电路”，用来模拟二进制数字通信系统接收端中被抽样判决的非逻辑电平基带信号。要求： </a:t>
            </a:r>
          </a:p>
          <a:p>
            <a:pPr indent="457200">
              <a:lnSpc>
                <a:spcPct val="150000"/>
              </a:lnSpc>
            </a:pPr>
            <a:r>
              <a:rPr lang="en-US" altLang="zh-CN" sz="1800" dirty="0"/>
              <a:t>1)  m</a:t>
            </a:r>
            <a:r>
              <a:rPr lang="zh-CN" altLang="zh-CN" sz="1800" dirty="0"/>
              <a:t>序列发生器的反馈特征多项式（本原多项式）为 </a:t>
            </a:r>
            <a:r>
              <a:rPr lang="en-US" altLang="zh-CN" sz="1800" i="1" dirty="0"/>
              <a:t>f</a:t>
            </a:r>
            <a:r>
              <a:rPr lang="en-US" altLang="zh-CN" sz="1800" dirty="0"/>
              <a:t>(</a:t>
            </a:r>
            <a:r>
              <a:rPr lang="en-US" altLang="zh-CN" sz="1800" i="1" dirty="0"/>
              <a:t>x</a:t>
            </a:r>
            <a:r>
              <a:rPr lang="en-US" altLang="zh-CN" sz="1800" dirty="0"/>
              <a:t>)=</a:t>
            </a:r>
            <a:r>
              <a:rPr lang="en-US" altLang="zh-CN" sz="1800" i="1" dirty="0"/>
              <a:t>x</a:t>
            </a:r>
            <a:r>
              <a:rPr lang="en-US" altLang="zh-CN" sz="1800" baseline="30000" dirty="0"/>
              <a:t>8</a:t>
            </a:r>
            <a:r>
              <a:rPr lang="en-US" altLang="zh-CN" sz="1800" dirty="0"/>
              <a:t>+</a:t>
            </a:r>
            <a:r>
              <a:rPr lang="en-US" altLang="zh-CN" sz="1800" i="1" dirty="0"/>
              <a:t>x</a:t>
            </a:r>
            <a:r>
              <a:rPr lang="en-US" altLang="zh-CN" sz="1800" baseline="30000" dirty="0"/>
              <a:t>4</a:t>
            </a:r>
            <a:r>
              <a:rPr lang="en-US" altLang="zh-CN" sz="1800" dirty="0"/>
              <a:t>+</a:t>
            </a:r>
            <a:r>
              <a:rPr lang="en-US" altLang="zh-CN" sz="1800" i="1" dirty="0"/>
              <a:t>x</a:t>
            </a:r>
            <a:r>
              <a:rPr lang="en-US" altLang="zh-CN" sz="1800" baseline="30000" dirty="0"/>
              <a:t>3</a:t>
            </a:r>
            <a:r>
              <a:rPr lang="en-US" altLang="zh-CN" sz="1800" dirty="0"/>
              <a:t>+</a:t>
            </a:r>
            <a:r>
              <a:rPr lang="en-US" altLang="zh-CN" sz="1800" i="1" dirty="0"/>
              <a:t>x</a:t>
            </a:r>
            <a:r>
              <a:rPr lang="en-US" altLang="zh-CN" sz="1800" baseline="30000" dirty="0"/>
              <a:t>2</a:t>
            </a:r>
            <a:r>
              <a:rPr lang="en-US" altLang="zh-CN" sz="1800" dirty="0"/>
              <a:t>+1</a:t>
            </a:r>
            <a:r>
              <a:rPr lang="zh-CN" altLang="zh-CN" sz="1800" dirty="0"/>
              <a:t>，其序列输出信号及外输入</a:t>
            </a:r>
            <a:r>
              <a:rPr lang="en-US" altLang="zh-CN" sz="1800" dirty="0" err="1"/>
              <a:t>ck</a:t>
            </a:r>
            <a:r>
              <a:rPr lang="en-US" altLang="zh-CN" sz="1800" dirty="0"/>
              <a:t> </a:t>
            </a:r>
            <a:r>
              <a:rPr lang="zh-CN" altLang="zh-CN" sz="1800" dirty="0"/>
              <a:t>信号均为</a:t>
            </a:r>
            <a:r>
              <a:rPr lang="en-US" altLang="zh-CN" sz="1800" dirty="0"/>
              <a:t> TTL </a:t>
            </a:r>
            <a:r>
              <a:rPr lang="zh-CN" altLang="zh-CN" sz="1800" dirty="0"/>
              <a:t>电平。 </a:t>
            </a:r>
          </a:p>
          <a:p>
            <a:pPr indent="457200">
              <a:lnSpc>
                <a:spcPct val="150000"/>
              </a:lnSpc>
            </a:pPr>
            <a:r>
              <a:rPr lang="en-US" altLang="zh-CN" sz="1800" dirty="0"/>
              <a:t>2) </a:t>
            </a:r>
            <a:r>
              <a:rPr lang="zh-CN" altLang="zh-CN" sz="1800" dirty="0"/>
              <a:t>设计制作</a:t>
            </a:r>
            <a:r>
              <a:rPr lang="en-US" altLang="zh-CN" sz="1800" dirty="0"/>
              <a:t> 3dB </a:t>
            </a:r>
            <a:r>
              <a:rPr lang="zh-CN" altLang="zh-CN" sz="1800" dirty="0"/>
              <a:t>截止频率为</a:t>
            </a:r>
            <a:r>
              <a:rPr lang="en-US" altLang="zh-CN" sz="1800" dirty="0"/>
              <a:t> 300kHz </a:t>
            </a:r>
            <a:r>
              <a:rPr lang="zh-CN" altLang="zh-CN" sz="1800" dirty="0"/>
              <a:t>的无限增益多路负反馈二阶有源低通滤波器，对</a:t>
            </a:r>
            <a:r>
              <a:rPr lang="en-US" altLang="zh-CN" sz="1800" dirty="0"/>
              <a:t>m </a:t>
            </a:r>
            <a:r>
              <a:rPr lang="zh-CN" altLang="zh-CN" sz="1800" dirty="0"/>
              <a:t>序列输出信号进行滤波，并衰减为峰峰值</a:t>
            </a:r>
            <a:r>
              <a:rPr lang="en-US" altLang="zh-CN" sz="1800" dirty="0"/>
              <a:t>0.1V</a:t>
            </a:r>
            <a:r>
              <a:rPr lang="zh-CN" altLang="zh-CN" sz="1800" dirty="0"/>
              <a:t>的基带模拟信号（</a:t>
            </a:r>
            <a:r>
              <a:rPr lang="en-US" altLang="zh-CN" sz="1800" dirty="0"/>
              <a:t>A</a:t>
            </a:r>
            <a:r>
              <a:rPr lang="zh-CN" altLang="zh-CN" sz="1800" dirty="0"/>
              <a:t>信号）。</a:t>
            </a:r>
          </a:p>
          <a:p>
            <a:pPr indent="457200">
              <a:lnSpc>
                <a:spcPct val="150000"/>
              </a:lnSpc>
            </a:pPr>
            <a:r>
              <a:rPr lang="zh-CN" altLang="zh-CN" sz="1800" dirty="0"/>
              <a:t>（</a:t>
            </a:r>
            <a:r>
              <a:rPr lang="en-US" altLang="zh-CN" sz="1800" dirty="0"/>
              <a:t>2</a:t>
            </a:r>
            <a:r>
              <a:rPr lang="zh-CN" altLang="zh-CN" sz="1800" dirty="0"/>
              <a:t>）当</a:t>
            </a:r>
            <a:r>
              <a:rPr lang="en-US" altLang="zh-CN" sz="1800" dirty="0"/>
              <a:t>m</a:t>
            </a:r>
            <a:r>
              <a:rPr lang="zh-CN" altLang="zh-CN" sz="1800" dirty="0"/>
              <a:t>序列发生器外输入</a:t>
            </a:r>
            <a:r>
              <a:rPr lang="en-US" altLang="zh-CN" sz="1800" dirty="0" err="1"/>
              <a:t>ck</a:t>
            </a:r>
            <a:r>
              <a:rPr lang="en-US" altLang="zh-CN" sz="1800" dirty="0"/>
              <a:t> </a:t>
            </a:r>
            <a:r>
              <a:rPr lang="zh-CN" altLang="zh-CN" sz="1800" dirty="0"/>
              <a:t>信号频率为</a:t>
            </a:r>
            <a:r>
              <a:rPr lang="en-US" altLang="zh-CN" sz="1800" dirty="0"/>
              <a:t>200kHz </a:t>
            </a:r>
            <a:r>
              <a:rPr lang="zh-CN" altLang="zh-CN" sz="1800" dirty="0"/>
              <a:t>时，设计制作可从</a:t>
            </a:r>
            <a:r>
              <a:rPr lang="en-US" altLang="zh-CN" sz="1800" dirty="0"/>
              <a:t>A</a:t>
            </a:r>
            <a:r>
              <a:rPr lang="zh-CN" altLang="zh-CN" sz="1800" dirty="0"/>
              <a:t>信号中提取出位同步时钟（</a:t>
            </a:r>
            <a:r>
              <a:rPr lang="en-US" altLang="zh-CN" sz="1800" dirty="0"/>
              <a:t>B</a:t>
            </a:r>
            <a:r>
              <a:rPr lang="zh-CN" altLang="zh-CN" sz="1800" dirty="0"/>
              <a:t>信号）的电路，并数字显示同步时钟的频率。</a:t>
            </a:r>
          </a:p>
          <a:p>
            <a:pPr indent="457200">
              <a:lnSpc>
                <a:spcPct val="150000"/>
              </a:lnSpc>
            </a:pPr>
            <a:r>
              <a:rPr lang="zh-CN" altLang="zh-CN" sz="1800" dirty="0"/>
              <a:t>（</a:t>
            </a:r>
            <a:r>
              <a:rPr lang="en-US" altLang="zh-CN" sz="1800" dirty="0"/>
              <a:t>3</a:t>
            </a:r>
            <a:r>
              <a:rPr lang="zh-CN" altLang="zh-CN" sz="1800" dirty="0"/>
              <a:t>）改进位同步时钟提取电路，当</a:t>
            </a:r>
            <a:r>
              <a:rPr lang="en-US" altLang="zh-CN" sz="1800" dirty="0"/>
              <a:t>m</a:t>
            </a:r>
            <a:r>
              <a:rPr lang="zh-CN" altLang="zh-CN" sz="1800" dirty="0"/>
              <a:t>序列发生器外输入</a:t>
            </a:r>
            <a:r>
              <a:rPr lang="en-US" altLang="zh-CN" sz="1800" dirty="0" err="1"/>
              <a:t>ck</a:t>
            </a:r>
            <a:r>
              <a:rPr lang="zh-CN" altLang="zh-CN" sz="1800" dirty="0"/>
              <a:t>信号频率在</a:t>
            </a:r>
            <a:r>
              <a:rPr lang="en-US" altLang="zh-CN" sz="1800" dirty="0"/>
              <a:t>200kHz~240kHz</a:t>
            </a:r>
            <a:r>
              <a:rPr lang="zh-CN" altLang="zh-CN" sz="1800" dirty="0"/>
              <a:t>之间变化时，能从</a:t>
            </a:r>
            <a:r>
              <a:rPr lang="en-US" altLang="zh-CN" sz="1800" dirty="0"/>
              <a:t>A</a:t>
            </a:r>
            <a:r>
              <a:rPr lang="zh-CN" altLang="zh-CN" sz="1800" dirty="0"/>
              <a:t>信号中自适应提取位同步时钟，并数字显示同步时钟的频率。</a:t>
            </a:r>
          </a:p>
          <a:p>
            <a:pPr indent="457200">
              <a:lnSpc>
                <a:spcPct val="150000"/>
              </a:lnSpc>
            </a:pPr>
            <a:r>
              <a:rPr lang="zh-CN" altLang="zh-CN" sz="1800" dirty="0"/>
              <a:t>（</a:t>
            </a:r>
            <a:r>
              <a:rPr lang="en-US" altLang="zh-CN" sz="1800" dirty="0"/>
              <a:t>4</a:t>
            </a:r>
            <a:r>
              <a:rPr lang="zh-CN" altLang="zh-CN" sz="1800" dirty="0"/>
              <a:t>）降低位同步时钟（</a:t>
            </a:r>
            <a:r>
              <a:rPr lang="en-US" altLang="zh-CN" sz="1800" dirty="0"/>
              <a:t>B</a:t>
            </a:r>
            <a:r>
              <a:rPr lang="zh-CN" altLang="zh-CN" sz="1800" dirty="0"/>
              <a:t>信号）的脉冲相位抖动量</a:t>
            </a:r>
            <a:r>
              <a:rPr lang="en-US" altLang="zh-CN" sz="1800" dirty="0"/>
              <a:t>Δ</a:t>
            </a:r>
            <a:r>
              <a:rPr lang="zh-CN" altLang="zh-CN" sz="1800" dirty="0"/>
              <a:t>，要求 </a:t>
            </a:r>
            <a:r>
              <a:rPr lang="en-US" altLang="zh-CN" sz="1800" dirty="0" err="1"/>
              <a:t>Δ</a:t>
            </a:r>
            <a:r>
              <a:rPr lang="en-US" altLang="zh-CN" sz="1800" baseline="-25000" dirty="0" err="1"/>
              <a:t>max</a:t>
            </a:r>
            <a:r>
              <a:rPr lang="zh-CN" altLang="zh-CN" sz="1800" dirty="0"/>
              <a:t>≤</a:t>
            </a:r>
            <a:r>
              <a:rPr lang="en-US" altLang="zh-CN" sz="1800" dirty="0"/>
              <a:t>1</a:t>
            </a:r>
            <a:r>
              <a:rPr lang="zh-CN" altLang="zh-CN" sz="1800" dirty="0"/>
              <a:t>个位同步时钟周期的</a:t>
            </a:r>
            <a:r>
              <a:rPr lang="en-US" altLang="zh-CN" sz="1800" dirty="0"/>
              <a:t>10%</a:t>
            </a:r>
            <a:r>
              <a:rPr lang="zh-CN" altLang="zh-CN" sz="1800" dirty="0"/>
              <a:t>。</a:t>
            </a:r>
          </a:p>
          <a:p>
            <a:pPr indent="457200">
              <a:lnSpc>
                <a:spcPct val="150000"/>
              </a:lnSpc>
            </a:pPr>
            <a:r>
              <a:rPr lang="zh-CN" altLang="zh-CN" sz="1800" dirty="0"/>
              <a:t>（</a:t>
            </a:r>
            <a:r>
              <a:rPr lang="en-US" altLang="zh-CN" sz="1800" dirty="0"/>
              <a:t>5</a:t>
            </a:r>
            <a:r>
              <a:rPr lang="zh-CN" altLang="zh-CN" sz="1800" dirty="0"/>
              <a:t>）其他</a:t>
            </a:r>
            <a:r>
              <a:rPr lang="zh-CN" altLang="zh-CN" sz="1800" dirty="0" smtClean="0"/>
              <a:t>。</a:t>
            </a:r>
            <a:endParaRPr lang="zh-CN" altLang="zh-CN" sz="1800" dirty="0"/>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2023/6/28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6" name="矩形 5"/>
          <p:cNvSpPr/>
          <p:nvPr/>
        </p:nvSpPr>
        <p:spPr>
          <a:xfrm>
            <a:off x="442686" y="454947"/>
            <a:ext cx="11270341" cy="3877985"/>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a:t>
            </a:r>
            <a:endParaRPr lang="zh-CN" altLang="zh-CN" kern="100" dirty="0">
              <a:latin typeface="Times New Roman" panose="02020603050405020304" pitchFamily="18" charset="0"/>
              <a:ea typeface="宋体" panose="02010600030101010101" pitchFamily="2" charset="-122"/>
            </a:endParaRPr>
          </a:p>
          <a:p>
            <a:pPr indent="457200">
              <a:lnSpc>
                <a:spcPct val="150000"/>
              </a:lnSpc>
            </a:pPr>
            <a:r>
              <a:rPr lang="zh-CN" altLang="zh-CN" dirty="0" smtClean="0"/>
              <a:t>（</a:t>
            </a:r>
            <a:r>
              <a:rPr lang="en-US" altLang="zh-CN" dirty="0"/>
              <a:t>1</a:t>
            </a:r>
            <a:r>
              <a:rPr lang="zh-CN" altLang="zh-CN" dirty="0"/>
              <a:t>）</a:t>
            </a:r>
            <a:r>
              <a:rPr lang="zh-CN" altLang="zh-CN" sz="1800" dirty="0"/>
              <a:t>位同步是数字同步传输的基础同步技术，是指接收端提取的位同步时钟与发送端位时钟在频率上严格相等、相位差固定的信号同步状态。接收端位时钟需从收到的基带数据序列中提取，并将作为接收端的抽样判决脉冲及进一步实现其他同步使用。数字通信系统中的“位”指的是最基本的码元，发送端位时钟（题目中</a:t>
            </a:r>
            <a:r>
              <a:rPr lang="en-US" altLang="zh-CN" sz="1800" dirty="0"/>
              <a:t> m </a:t>
            </a:r>
            <a:r>
              <a:rPr lang="zh-CN" altLang="zh-CN" sz="1800" dirty="0"/>
              <a:t>序列发生器外输入时钟</a:t>
            </a:r>
            <a:r>
              <a:rPr lang="en-US" altLang="zh-CN" sz="1800" dirty="0"/>
              <a:t> </a:t>
            </a:r>
            <a:r>
              <a:rPr lang="en-US" altLang="zh-CN" sz="1800" dirty="0" err="1"/>
              <a:t>ck</a:t>
            </a:r>
            <a:r>
              <a:rPr lang="zh-CN" altLang="zh-CN" sz="1800" dirty="0"/>
              <a:t>）是数据序列的码元时钟。</a:t>
            </a:r>
          </a:p>
          <a:p>
            <a:pPr indent="457200">
              <a:lnSpc>
                <a:spcPct val="150000"/>
              </a:lnSpc>
            </a:pPr>
            <a:r>
              <a:rPr lang="zh-CN" altLang="zh-CN" sz="1800" dirty="0"/>
              <a:t>（</a:t>
            </a:r>
            <a:r>
              <a:rPr lang="en-US" altLang="zh-CN" sz="1800" dirty="0"/>
              <a:t>2</a:t>
            </a:r>
            <a:r>
              <a:rPr lang="zh-CN" altLang="zh-CN" sz="1800" dirty="0"/>
              <a:t>）要求“基带信号产生电路”必须制成单独的电路板，只能用两条输出信号线（</a:t>
            </a:r>
            <a:r>
              <a:rPr lang="en-US" altLang="zh-CN" sz="1800" dirty="0"/>
              <a:t>A </a:t>
            </a:r>
            <a:r>
              <a:rPr lang="zh-CN" altLang="zh-CN" sz="1800" dirty="0"/>
              <a:t>信号线、地线）与位同步时钟提取电路部分连接。</a:t>
            </a:r>
          </a:p>
          <a:p>
            <a:pPr indent="457200">
              <a:lnSpc>
                <a:spcPct val="150000"/>
              </a:lnSpc>
            </a:pPr>
            <a:r>
              <a:rPr lang="zh-CN" altLang="zh-CN" sz="1800" dirty="0"/>
              <a:t>（</a:t>
            </a:r>
            <a:r>
              <a:rPr lang="en-US" altLang="zh-CN" sz="1800" dirty="0"/>
              <a:t>3</a:t>
            </a:r>
            <a:r>
              <a:rPr lang="zh-CN" altLang="zh-CN" sz="1800" dirty="0"/>
              <a:t>）无限增益多路负反馈二阶有源低通滤波器类型（如切比雪夫型或巴特沃斯型）不限。</a:t>
            </a:r>
          </a:p>
          <a:p>
            <a:pPr indent="457200">
              <a:lnSpc>
                <a:spcPct val="150000"/>
              </a:lnSpc>
            </a:pPr>
            <a:endParaRPr lang="zh-CN" altLang="zh-CN" sz="1600" dirty="0"/>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mc:AlternateContent xmlns:mc="http://schemas.openxmlformats.org/markup-compatibility/2006" xmlns:a14="http://schemas.microsoft.com/office/drawing/2010/main">
        <mc:Choice Requires="a14">
          <p:sp>
            <p:nvSpPr>
              <p:cNvPr id="5" name="矩形 4"/>
              <p:cNvSpPr/>
              <p:nvPr/>
            </p:nvSpPr>
            <p:spPr>
              <a:xfrm>
                <a:off x="457201" y="291701"/>
                <a:ext cx="11255828" cy="6232925"/>
              </a:xfrm>
              <a:prstGeom prst="rect">
                <a:avLst/>
              </a:prstGeom>
            </p:spPr>
            <p:txBody>
              <a:bodyPr wrap="square">
                <a:spAutoFit/>
              </a:bodyPr>
              <a:lstStyle/>
              <a:p>
                <a:pPr algn="ctr">
                  <a:lnSpc>
                    <a:spcPct val="150000"/>
                  </a:lnSpc>
                </a:pPr>
                <a:r>
                  <a:rPr lang="zh-CN" altLang="zh-CN" sz="3200" dirty="0" smtClean="0">
                    <a:solidFill>
                      <a:srgbClr val="FF0000"/>
                    </a:solidFill>
                    <a:latin typeface="隶书" panose="02010509060101010101" pitchFamily="49" charset="-122"/>
                    <a:ea typeface="隶书" panose="02010509060101010101" pitchFamily="49" charset="-122"/>
                  </a:rPr>
                  <a:t>分析</a:t>
                </a:r>
                <a:r>
                  <a:rPr lang="zh-CN" altLang="en-US" sz="3200" dirty="0" smtClean="0">
                    <a:solidFill>
                      <a:srgbClr val="FF0000"/>
                    </a:solidFill>
                    <a:latin typeface="隶书" panose="02010509060101010101" pitchFamily="49" charset="-122"/>
                    <a:ea typeface="隶书" panose="02010509060101010101" pitchFamily="49" charset="-122"/>
                  </a:rPr>
                  <a:t>与设计</a:t>
                </a:r>
                <a:endParaRPr lang="zh-CN" altLang="zh-CN" sz="28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a:solidFill>
                      <a:srgbClr val="FF0000"/>
                    </a:solidFill>
                  </a:rPr>
                  <a:t>一、</a:t>
                </a:r>
                <a:r>
                  <a:rPr lang="en-US" altLang="zh-CN" sz="1800" dirty="0">
                    <a:solidFill>
                      <a:srgbClr val="FF0000"/>
                    </a:solidFill>
                  </a:rPr>
                  <a:t>m</a:t>
                </a:r>
                <a:r>
                  <a:rPr lang="zh-CN" altLang="zh-CN" sz="1800" dirty="0" smtClean="0">
                    <a:solidFill>
                      <a:srgbClr val="FF0000"/>
                    </a:solidFill>
                  </a:rPr>
                  <a:t>序列发生器</a:t>
                </a:r>
                <a:endParaRPr lang="zh-CN" altLang="zh-CN" sz="1800" dirty="0">
                  <a:solidFill>
                    <a:srgbClr val="FF0000"/>
                  </a:solidFill>
                </a:endParaRPr>
              </a:p>
              <a:p>
                <a:pPr indent="457200">
                  <a:lnSpc>
                    <a:spcPct val="150000"/>
                  </a:lnSpc>
                </a:pPr>
                <a:r>
                  <a:rPr lang="en-US" altLang="zh-CN" sz="1800" dirty="0"/>
                  <a:t>m</a:t>
                </a:r>
                <a:r>
                  <a:rPr lang="zh-CN" altLang="zh-CN" sz="1800" dirty="0"/>
                  <a:t>序列是最长线性移位寄存器序列的</a:t>
                </a:r>
                <a:r>
                  <a:rPr lang="zh-CN" altLang="zh-CN" sz="1800" dirty="0" smtClean="0"/>
                  <a:t>简称</a:t>
                </a:r>
                <a:r>
                  <a:rPr lang="zh-CN" altLang="en-US" sz="1800" dirty="0" smtClean="0"/>
                  <a:t>，</a:t>
                </a:r>
                <a:r>
                  <a:rPr lang="zh-CN" altLang="zh-CN" sz="1800" dirty="0"/>
                  <a:t>是一种典型的基本伪随机序列</a:t>
                </a:r>
                <a:r>
                  <a:rPr lang="zh-CN" altLang="en-US" sz="1800" dirty="0"/>
                  <a:t>，</a:t>
                </a:r>
                <a:r>
                  <a:rPr lang="zh-CN" altLang="zh-CN" sz="1800" dirty="0"/>
                  <a:t>在通信领域有着广泛的应用</a:t>
                </a:r>
                <a:r>
                  <a:rPr lang="zh-CN" altLang="en-US" sz="1800" dirty="0"/>
                  <a:t>。</a:t>
                </a:r>
                <a:endParaRPr lang="en-US" altLang="zh-CN" sz="1800" dirty="0"/>
              </a:p>
              <a:p>
                <a:pPr indent="457200">
                  <a:lnSpc>
                    <a:spcPct val="150000"/>
                  </a:lnSpc>
                </a:pPr>
                <a:r>
                  <a:rPr lang="zh-CN" altLang="zh-CN" sz="1800" dirty="0" smtClean="0"/>
                  <a:t>在</a:t>
                </a:r>
                <a:r>
                  <a:rPr lang="zh-CN" altLang="zh-CN" sz="1800" dirty="0"/>
                  <a:t>二进制移位寄存器中，若</a:t>
                </a:r>
                <a:r>
                  <a:rPr lang="en-US" altLang="zh-CN" sz="1800" dirty="0"/>
                  <a:t>n</a:t>
                </a:r>
                <a:r>
                  <a:rPr lang="zh-CN" altLang="zh-CN" sz="1800" dirty="0"/>
                  <a:t>为移位寄存器的级数，</a:t>
                </a:r>
                <a:r>
                  <a:rPr lang="en-US" altLang="zh-CN" sz="1800" dirty="0"/>
                  <a:t>n</a:t>
                </a:r>
                <a:r>
                  <a:rPr lang="zh-CN" altLang="zh-CN" sz="1800" dirty="0"/>
                  <a:t>级移位寄存器共有</a:t>
                </a:r>
                <a:r>
                  <a:rPr lang="en-US" altLang="zh-CN" sz="1800" dirty="0"/>
                  <a:t> 2</a:t>
                </a:r>
                <a:r>
                  <a:rPr lang="en-US" altLang="zh-CN" sz="1800" baseline="30000" dirty="0"/>
                  <a:t>n </a:t>
                </a:r>
                <a:r>
                  <a:rPr lang="zh-CN" altLang="zh-CN" sz="1800" dirty="0"/>
                  <a:t>个状态，除去全</a:t>
                </a:r>
                <a:r>
                  <a:rPr lang="en-US" altLang="zh-CN" sz="1800" dirty="0"/>
                  <a:t>0</a:t>
                </a:r>
                <a:r>
                  <a:rPr lang="zh-CN" altLang="zh-CN" sz="1800" dirty="0"/>
                  <a:t>状态外还剩下</a:t>
                </a:r>
                <a:r>
                  <a:rPr lang="en-US" altLang="zh-CN" sz="1800" dirty="0"/>
                  <a:t> 2</a:t>
                </a:r>
                <a:r>
                  <a:rPr lang="en-US" altLang="zh-CN" sz="1800" baseline="30000" dirty="0"/>
                  <a:t>n</a:t>
                </a:r>
                <a:r>
                  <a:rPr lang="en-US" altLang="zh-CN" sz="1800" dirty="0"/>
                  <a:t>-1 </a:t>
                </a:r>
                <a:r>
                  <a:rPr lang="zh-CN" altLang="en-US" sz="1800" dirty="0"/>
                  <a:t>个</a:t>
                </a:r>
                <a:r>
                  <a:rPr lang="zh-CN" altLang="zh-CN" sz="1800" dirty="0"/>
                  <a:t>状态</a:t>
                </a:r>
                <a:r>
                  <a:rPr lang="zh-CN" altLang="en-US" sz="1800" dirty="0"/>
                  <a:t>，</a:t>
                </a:r>
                <a:r>
                  <a:rPr lang="zh-CN" altLang="zh-CN" sz="1800" dirty="0"/>
                  <a:t>因此它能产生的最大长度的码序列为</a:t>
                </a:r>
                <a:r>
                  <a:rPr lang="en-US" altLang="zh-CN" sz="1800" dirty="0"/>
                  <a:t> 2</a:t>
                </a:r>
                <a:r>
                  <a:rPr lang="en-US" altLang="zh-CN" sz="1800" baseline="30000" dirty="0"/>
                  <a:t>n</a:t>
                </a:r>
                <a:r>
                  <a:rPr lang="en-US" altLang="zh-CN" sz="1800" dirty="0"/>
                  <a:t>-1 </a:t>
                </a:r>
                <a:r>
                  <a:rPr lang="zh-CN" altLang="zh-CN" sz="1800" dirty="0"/>
                  <a:t>位</a:t>
                </a:r>
                <a:r>
                  <a:rPr lang="zh-CN" altLang="en-US" sz="1800" dirty="0" smtClean="0"/>
                  <a:t>。</a:t>
                </a:r>
                <a:endParaRPr lang="en-US" altLang="zh-CN" sz="1800" dirty="0" smtClean="0"/>
              </a:p>
              <a:p>
                <a:pPr indent="457200">
                  <a:lnSpc>
                    <a:spcPct val="150000"/>
                  </a:lnSpc>
                </a:pPr>
                <a:r>
                  <a:rPr lang="zh-CN" altLang="zh-CN" sz="1800" dirty="0" smtClean="0"/>
                  <a:t>由</a:t>
                </a:r>
                <a:r>
                  <a:rPr lang="en-US" altLang="zh-CN" sz="1800" dirty="0"/>
                  <a:t>n</a:t>
                </a:r>
                <a:r>
                  <a:rPr lang="zh-CN" altLang="zh-CN" sz="1800" dirty="0" smtClean="0"/>
                  <a:t>级移位寄存器</a:t>
                </a:r>
                <a:r>
                  <a:rPr lang="zh-CN" altLang="zh-CN" sz="1800" dirty="0"/>
                  <a:t>和反馈逻辑可组成动态移位寄存器，如果反馈</a:t>
                </a:r>
                <a:r>
                  <a:rPr lang="zh-CN" altLang="zh-CN" sz="1800" dirty="0" smtClean="0"/>
                  <a:t>逻辑</a:t>
                </a:r>
                <a:r>
                  <a:rPr lang="zh-CN" altLang="en-US" sz="1800" dirty="0" smtClean="0"/>
                  <a:t>全部</a:t>
                </a:r>
                <a:r>
                  <a:rPr lang="zh-CN" altLang="zh-CN" sz="1800" dirty="0"/>
                  <a:t>由</a:t>
                </a:r>
                <a:r>
                  <a:rPr lang="zh-CN" altLang="en-US" sz="1800" dirty="0"/>
                  <a:t>“</a:t>
                </a:r>
                <a:r>
                  <a:rPr lang="zh-CN" altLang="zh-CN" sz="1800" dirty="0"/>
                  <a:t>模</a:t>
                </a:r>
                <a:r>
                  <a:rPr lang="en-US" altLang="zh-CN" sz="1800" dirty="0"/>
                  <a:t>2</a:t>
                </a:r>
                <a:r>
                  <a:rPr lang="zh-CN" altLang="zh-CN" sz="1800" dirty="0"/>
                  <a:t>和</a:t>
                </a:r>
                <a:r>
                  <a:rPr lang="zh-CN" altLang="en-US" sz="1800" dirty="0"/>
                  <a:t>”（即异或门）</a:t>
                </a:r>
                <a:r>
                  <a:rPr lang="zh-CN" altLang="zh-CN" sz="1800" dirty="0"/>
                  <a:t>构成，则称为线性反馈移位寄存器</a:t>
                </a:r>
                <a:r>
                  <a:rPr lang="zh-CN" altLang="zh-CN" sz="1800" dirty="0" smtClean="0"/>
                  <a:t>。</a:t>
                </a:r>
                <a:r>
                  <a:rPr lang="zh-CN" altLang="en-US" sz="1800" dirty="0" smtClean="0"/>
                  <a:t>选择合适的反馈元素，</a:t>
                </a:r>
                <a:r>
                  <a:rPr lang="zh-CN" altLang="zh-CN" sz="1800" dirty="0" smtClean="0"/>
                  <a:t>一</a:t>
                </a:r>
                <a:r>
                  <a:rPr lang="zh-CN" altLang="zh-CN" sz="1800" dirty="0"/>
                  <a:t>个</a:t>
                </a:r>
                <a:r>
                  <a:rPr lang="en-US" altLang="zh-CN" sz="1800" dirty="0"/>
                  <a:t>n</a:t>
                </a:r>
                <a:r>
                  <a:rPr lang="zh-CN" altLang="zh-CN" sz="1800" dirty="0"/>
                  <a:t>级线性</a:t>
                </a:r>
                <a:r>
                  <a:rPr lang="zh-CN" altLang="zh-CN" sz="1800" dirty="0" smtClean="0"/>
                  <a:t>反馈移位寄存器</a:t>
                </a:r>
                <a:r>
                  <a:rPr lang="zh-CN" altLang="en-US" sz="1800" dirty="0" smtClean="0"/>
                  <a:t>能够</a:t>
                </a:r>
                <a:r>
                  <a:rPr lang="zh-CN" altLang="zh-CN" sz="1800" dirty="0" smtClean="0"/>
                  <a:t>产生</a:t>
                </a:r>
                <a:r>
                  <a:rPr lang="zh-CN" altLang="zh-CN" sz="1800" dirty="0"/>
                  <a:t>的最</a:t>
                </a:r>
                <a:r>
                  <a:rPr lang="zh-CN" altLang="zh-CN" sz="1800" dirty="0" smtClean="0"/>
                  <a:t>长</a:t>
                </a:r>
                <a:r>
                  <a:rPr lang="zh-CN" altLang="en-US" sz="1800" dirty="0" smtClean="0"/>
                  <a:t>码序列</a:t>
                </a:r>
                <a:r>
                  <a:rPr lang="zh-CN" altLang="zh-CN" sz="1800" dirty="0" smtClean="0"/>
                  <a:t>等于</a:t>
                </a:r>
                <a:r>
                  <a:rPr lang="en-US" altLang="zh-CN" sz="1800" dirty="0" smtClean="0"/>
                  <a:t> </a:t>
                </a:r>
                <a:r>
                  <a:rPr lang="en-US" altLang="zh-CN" sz="1800" dirty="0"/>
                  <a:t>2</a:t>
                </a:r>
                <a:r>
                  <a:rPr lang="en-US" altLang="zh-CN" sz="1800" baseline="30000" dirty="0"/>
                  <a:t>n</a:t>
                </a:r>
                <a:r>
                  <a:rPr lang="en-US" altLang="zh-CN" sz="1800" dirty="0"/>
                  <a:t>-1 </a:t>
                </a:r>
                <a:r>
                  <a:rPr lang="zh-CN" altLang="en-US" sz="1800" dirty="0" smtClean="0"/>
                  <a:t>。</a:t>
                </a:r>
                <a:r>
                  <a:rPr lang="en-US" altLang="zh-CN" sz="1800" dirty="0" smtClean="0"/>
                  <a:t> </a:t>
                </a:r>
                <a:r>
                  <a:rPr lang="en-US" altLang="zh-CN" sz="1800" dirty="0"/>
                  <a:t>m</a:t>
                </a:r>
                <a:r>
                  <a:rPr lang="zh-CN" altLang="en-US" sz="1800" dirty="0" smtClean="0"/>
                  <a:t>序列就是</a:t>
                </a:r>
                <a:r>
                  <a:rPr lang="zh-CN" altLang="zh-CN" sz="1800" dirty="0" smtClean="0"/>
                  <a:t>由</a:t>
                </a:r>
                <a:r>
                  <a:rPr lang="zh-CN" altLang="zh-CN" sz="1800" dirty="0"/>
                  <a:t>多级移位寄存器通过线性反馈产生的最长码序列。 </a:t>
                </a:r>
                <a:endParaRPr lang="en-US" altLang="zh-CN" sz="1800" dirty="0" smtClean="0"/>
              </a:p>
              <a:p>
                <a:pPr indent="457200">
                  <a:lnSpc>
                    <a:spcPct val="150000"/>
                  </a:lnSpc>
                </a:pPr>
                <a:r>
                  <a:rPr lang="zh-CN" altLang="en-US" sz="1800" dirty="0" smtClean="0"/>
                  <a:t>定义</a:t>
                </a:r>
                <a:r>
                  <a:rPr lang="zh-CN" altLang="zh-CN" sz="1800" dirty="0"/>
                  <a:t>线性反馈移位寄存器</a:t>
                </a:r>
                <a:r>
                  <a:rPr lang="zh-CN" altLang="en-US" sz="1800" dirty="0" smtClean="0"/>
                  <a:t>特征多项式</a:t>
                </a:r>
                <a:r>
                  <a:rPr lang="en-US" altLang="zh-CN" sz="1800" i="1" dirty="0" smtClean="0">
                    <a:latin typeface="+mn-lt"/>
                  </a:rPr>
                  <a:t>F</a:t>
                </a:r>
                <a:r>
                  <a:rPr lang="en-US" altLang="zh-CN" sz="1800" dirty="0" smtClean="0">
                    <a:latin typeface="+mn-lt"/>
                  </a:rPr>
                  <a:t>(</a:t>
                </a:r>
                <a:r>
                  <a:rPr lang="en-US" altLang="zh-CN" sz="1800" i="1" dirty="0" smtClean="0">
                    <a:latin typeface="+mn-lt"/>
                  </a:rPr>
                  <a:t>x</a:t>
                </a:r>
                <a:r>
                  <a:rPr lang="en-US" altLang="zh-CN" sz="1800" dirty="0" smtClean="0">
                    <a:latin typeface="+mn-lt"/>
                  </a:rPr>
                  <a:t>)=</a:t>
                </a:r>
                <a:r>
                  <a:rPr lang="en-US" altLang="zh-CN" sz="1800" i="1" dirty="0" smtClean="0">
                    <a:latin typeface="+mn-lt"/>
                  </a:rPr>
                  <a:t>x</a:t>
                </a:r>
                <a:r>
                  <a:rPr lang="en-US" altLang="zh-CN" sz="1800" i="1" baseline="30000" dirty="0" smtClean="0">
                    <a:latin typeface="+mn-lt"/>
                  </a:rPr>
                  <a:t>n</a:t>
                </a:r>
                <a:r>
                  <a:rPr lang="en-US" altLang="zh-CN" sz="1800" dirty="0" smtClean="0">
                    <a:latin typeface="+mn-lt"/>
                  </a:rPr>
                  <a:t>+</a:t>
                </a:r>
                <a:r>
                  <a:rPr lang="en-US" altLang="zh-CN" sz="1800" i="1" dirty="0" smtClean="0">
                    <a:latin typeface="+mn-lt"/>
                  </a:rPr>
                  <a:t>x</a:t>
                </a:r>
                <a:r>
                  <a:rPr lang="en-US" altLang="zh-CN" sz="1800" i="1" baseline="30000" dirty="0" smtClean="0">
                    <a:latin typeface="+mn-lt"/>
                  </a:rPr>
                  <a:t>n</a:t>
                </a:r>
                <a:r>
                  <a:rPr lang="en-US" altLang="zh-CN" sz="1800" baseline="30000" dirty="0" smtClean="0">
                    <a:latin typeface="+mn-lt"/>
                  </a:rPr>
                  <a:t>-1</a:t>
                </a:r>
                <a:r>
                  <a:rPr lang="en-US" altLang="zh-CN" sz="1800" dirty="0" smtClean="0">
                    <a:latin typeface="+mn-lt"/>
                  </a:rPr>
                  <a:t>+…+1</a:t>
                </a:r>
                <a:r>
                  <a:rPr lang="zh-CN" altLang="en-US" sz="1800" dirty="0" smtClean="0"/>
                  <a:t>，</a:t>
                </a:r>
                <a:r>
                  <a:rPr lang="zh-CN" altLang="zh-CN" sz="1800" dirty="0" smtClean="0"/>
                  <a:t>其中</a:t>
                </a:r>
                <a:r>
                  <a:rPr lang="en-US" altLang="zh-CN" sz="1800" i="1" dirty="0">
                    <a:latin typeface="+mn-lt"/>
                  </a:rPr>
                  <a:t>x</a:t>
                </a:r>
                <a:r>
                  <a:rPr lang="zh-CN" altLang="zh-CN" sz="1800" dirty="0"/>
                  <a:t>的幂次</a:t>
                </a:r>
                <a:r>
                  <a:rPr lang="zh-CN" altLang="zh-CN" sz="1800" dirty="0" smtClean="0"/>
                  <a:t>表示</a:t>
                </a:r>
                <a:r>
                  <a:rPr lang="zh-CN" altLang="en-US" sz="1800" dirty="0" smtClean="0"/>
                  <a:t>反馈</a:t>
                </a:r>
                <a:r>
                  <a:rPr lang="zh-CN" altLang="zh-CN" sz="1800" dirty="0" smtClean="0"/>
                  <a:t>元素</a:t>
                </a:r>
                <a:r>
                  <a:rPr lang="zh-CN" altLang="zh-CN" sz="1800" dirty="0"/>
                  <a:t>的相应</a:t>
                </a:r>
                <a:r>
                  <a:rPr lang="zh-CN" altLang="zh-CN" sz="1800" dirty="0" smtClean="0"/>
                  <a:t>位置</a:t>
                </a:r>
                <a:r>
                  <a:rPr lang="zh-CN" altLang="en-US" sz="1800" dirty="0" smtClean="0"/>
                  <a:t>。能够产生</a:t>
                </a:r>
                <a:r>
                  <a:rPr lang="en-US" altLang="zh-CN" sz="1800" dirty="0" smtClean="0"/>
                  <a:t>m</a:t>
                </a:r>
                <a:r>
                  <a:rPr lang="zh-CN" altLang="en-US" sz="1800" dirty="0" smtClean="0"/>
                  <a:t>序列的特征多项式，称为</a:t>
                </a:r>
                <a:r>
                  <a:rPr lang="en-US" altLang="zh-CN" sz="1800" dirty="0" smtClean="0"/>
                  <a:t>n</a:t>
                </a:r>
                <a:r>
                  <a:rPr lang="zh-CN" altLang="en-US" sz="1800" dirty="0" smtClean="0"/>
                  <a:t>次本原多项式。例如</a:t>
                </a:r>
                <a:r>
                  <a:rPr lang="en-US" altLang="zh-CN" sz="1800" dirty="0" smtClean="0"/>
                  <a:t>2</a:t>
                </a:r>
                <a:r>
                  <a:rPr lang="zh-CN" altLang="en-US" sz="1800" dirty="0" smtClean="0"/>
                  <a:t>次到</a:t>
                </a:r>
                <a:r>
                  <a:rPr lang="en-US" altLang="zh-CN" sz="1800" dirty="0" smtClean="0"/>
                  <a:t>5</a:t>
                </a:r>
                <a:r>
                  <a:rPr lang="zh-CN" altLang="en-US" sz="1800" dirty="0" smtClean="0"/>
                  <a:t>次本原多项式如下：</a:t>
                </a:r>
                <a:endParaRPr lang="en-US" altLang="zh-CN" sz="1800" dirty="0" smtClean="0"/>
              </a:p>
              <a:p>
                <a:pPr indent="457200">
                  <a:lnSpc>
                    <a:spcPct val="150000"/>
                  </a:lnSpc>
                </a:pPr>
                <a14:m>
                  <m:oMathPara xmlns:m="http://schemas.openxmlformats.org/officeDocument/2006/math">
                    <m:oMathParaPr>
                      <m:jc m:val="centerGroup"/>
                    </m:oMathParaPr>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𝑥</m:t>
                          </m:r>
                        </m:e>
                        <m:sup>
                          <m:r>
                            <a:rPr lang="en-US" altLang="zh-CN" sz="1800" i="1" smtClean="0">
                              <a:latin typeface="Cambria Math" panose="02040503050406030204" pitchFamily="18" charset="0"/>
                            </a:rPr>
                            <m:t>2</m:t>
                          </m:r>
                        </m:sup>
                      </m:sSup>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+1</m:t>
                      </m:r>
                    </m:oMath>
                  </m:oMathPara>
                </a14:m>
                <a:endParaRPr lang="en-US" altLang="zh-CN" sz="1800" i="1" dirty="0" smtClean="0">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smtClean="0">
                              <a:latin typeface="Cambria Math" panose="02040503050406030204" pitchFamily="18" charset="0"/>
                            </a:rPr>
                            <m:t>3</m:t>
                          </m:r>
                        </m:sup>
                      </m:sSup>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600" i="1">
                          <a:latin typeface="Cambria Math" panose="02040503050406030204" pitchFamily="18" charset="0"/>
                        </a:rPr>
                        <m:t>+1</m:t>
                      </m:r>
                    </m:oMath>
                  </m:oMathPara>
                </a14:m>
                <a:endParaRPr lang="en-US" altLang="zh-CN" sz="1800" dirty="0" smtClean="0"/>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smtClean="0">
                              <a:latin typeface="Cambria Math" panose="02040503050406030204" pitchFamily="18" charset="0"/>
                            </a:rPr>
                            <m:t>4</m:t>
                          </m:r>
                        </m:sup>
                      </m:sSup>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600" i="1">
                          <a:latin typeface="Cambria Math" panose="02040503050406030204" pitchFamily="18" charset="0"/>
                        </a:rPr>
                        <m:t>+1</m:t>
                      </m:r>
                    </m:oMath>
                  </m:oMathPara>
                </a14:m>
                <a:endParaRPr lang="en-US" altLang="zh-CN" sz="1800" dirty="0" smtClean="0"/>
              </a:p>
              <a:p>
                <a:pPr algn="ctr">
                  <a:lnSpc>
                    <a:spcPct val="150000"/>
                  </a:lnSpc>
                </a:pPr>
                <a:r>
                  <a:rPr lang="en-US" altLang="zh-CN" sz="1800" dirty="0" smtClean="0"/>
                  <a:t>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smtClean="0">
                            <a:latin typeface="Cambria Math" panose="02040503050406030204" pitchFamily="18" charset="0"/>
                          </a:rPr>
                          <m:t>5</m:t>
                        </m:r>
                      </m:sup>
                    </m:sSup>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a:latin typeface="Cambria Math" panose="02040503050406030204" pitchFamily="18" charset="0"/>
                          </a:rPr>
                          <m:t>2</m:t>
                        </m:r>
                      </m:sup>
                    </m:sSup>
                    <m:r>
                      <a:rPr lang="en-US" altLang="zh-CN" sz="1600" i="1">
                        <a:latin typeface="Cambria Math" panose="02040503050406030204" pitchFamily="18" charset="0"/>
                      </a:rPr>
                      <m:t>+1</m:t>
                    </m:r>
                  </m:oMath>
                </a14:m>
                <a:endParaRPr lang="zh-CN" altLang="en-US" sz="1800" dirty="0"/>
              </a:p>
            </p:txBody>
          </p:sp>
        </mc:Choice>
        <mc:Fallback xmlns="">
          <p:sp>
            <p:nvSpPr>
              <p:cNvPr id="5" name="矩形 4"/>
              <p:cNvSpPr>
                <a:spLocks noRot="1" noChangeAspect="1" noMove="1" noResize="1" noEditPoints="1" noAdjustHandles="1" noChangeArrowheads="1" noChangeShapeType="1" noTextEdit="1"/>
              </p:cNvSpPr>
              <p:nvPr/>
            </p:nvSpPr>
            <p:spPr>
              <a:xfrm>
                <a:off x="457201" y="291701"/>
                <a:ext cx="11255828" cy="6232925"/>
              </a:xfrm>
              <a:prstGeom prst="rect">
                <a:avLst/>
              </a:prstGeom>
              <a:blipFill>
                <a:blip r:embed="rId2"/>
                <a:stretch>
                  <a:fillRect l="-4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263617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57201" y="543403"/>
            <a:ext cx="11255828" cy="5909310"/>
          </a:xfrm>
          <a:prstGeom prst="rect">
            <a:avLst/>
          </a:prstGeom>
        </p:spPr>
        <p:txBody>
          <a:bodyPr wrap="square">
            <a:spAutoFit/>
          </a:bodyPr>
          <a:lstStyle/>
          <a:p>
            <a:pPr indent="457200">
              <a:lnSpc>
                <a:spcPct val="150000"/>
              </a:lnSpc>
            </a:pPr>
            <a:r>
              <a:rPr lang="zh-CN" altLang="en-US" sz="1800" dirty="0" smtClean="0"/>
              <a:t>题目要求的</a:t>
            </a:r>
            <a:r>
              <a:rPr lang="en-US" altLang="zh-CN" sz="1800" dirty="0"/>
              <a:t>m</a:t>
            </a:r>
            <a:r>
              <a:rPr lang="zh-CN" altLang="zh-CN" sz="1800" dirty="0"/>
              <a:t>序列发生器</a:t>
            </a:r>
            <a:r>
              <a:rPr lang="zh-CN" altLang="zh-CN" sz="1800" dirty="0" smtClean="0"/>
              <a:t>的本原多项式为 </a:t>
            </a:r>
            <a:r>
              <a:rPr lang="en-US" altLang="zh-CN" sz="1800" i="1" dirty="0"/>
              <a:t>f</a:t>
            </a:r>
            <a:r>
              <a:rPr lang="en-US" altLang="zh-CN" sz="1800" dirty="0"/>
              <a:t>(</a:t>
            </a:r>
            <a:r>
              <a:rPr lang="en-US" altLang="zh-CN" sz="1800" i="1" dirty="0"/>
              <a:t>x</a:t>
            </a:r>
            <a:r>
              <a:rPr lang="en-US" altLang="zh-CN" sz="1800" dirty="0"/>
              <a:t>)=</a:t>
            </a:r>
            <a:r>
              <a:rPr lang="en-US" altLang="zh-CN" sz="1800" i="1" dirty="0"/>
              <a:t>x</a:t>
            </a:r>
            <a:r>
              <a:rPr lang="en-US" altLang="zh-CN" sz="1800" baseline="30000" dirty="0"/>
              <a:t>8</a:t>
            </a:r>
            <a:r>
              <a:rPr lang="en-US" altLang="zh-CN" sz="1800" dirty="0"/>
              <a:t>+</a:t>
            </a:r>
            <a:r>
              <a:rPr lang="en-US" altLang="zh-CN" sz="1800" i="1" dirty="0"/>
              <a:t>x</a:t>
            </a:r>
            <a:r>
              <a:rPr lang="en-US" altLang="zh-CN" sz="1800" baseline="30000" dirty="0"/>
              <a:t>4</a:t>
            </a:r>
            <a:r>
              <a:rPr lang="en-US" altLang="zh-CN" sz="1800" dirty="0"/>
              <a:t>+</a:t>
            </a:r>
            <a:r>
              <a:rPr lang="en-US" altLang="zh-CN" sz="1800" i="1" dirty="0"/>
              <a:t>x</a:t>
            </a:r>
            <a:r>
              <a:rPr lang="en-US" altLang="zh-CN" sz="1800" baseline="30000" dirty="0"/>
              <a:t>3</a:t>
            </a:r>
            <a:r>
              <a:rPr lang="en-US" altLang="zh-CN" sz="1800" dirty="0"/>
              <a:t>+</a:t>
            </a:r>
            <a:r>
              <a:rPr lang="en-US" altLang="zh-CN" sz="1800" i="1" dirty="0"/>
              <a:t>x</a:t>
            </a:r>
            <a:r>
              <a:rPr lang="en-US" altLang="zh-CN" sz="1800" baseline="30000" dirty="0"/>
              <a:t>2</a:t>
            </a:r>
            <a:r>
              <a:rPr lang="en-US" altLang="zh-CN" sz="1800" dirty="0"/>
              <a:t>+1</a:t>
            </a:r>
            <a:r>
              <a:rPr lang="zh-CN" altLang="zh-CN" sz="1800" dirty="0" smtClean="0"/>
              <a:t>，下</a:t>
            </a:r>
            <a:r>
              <a:rPr lang="zh-CN" altLang="zh-CN" sz="1800" dirty="0"/>
              <a:t>图就是根据题目给定的本原多项式实现的</a:t>
            </a:r>
            <a:r>
              <a:rPr lang="en-US" altLang="zh-CN" sz="1800" dirty="0"/>
              <a:t>m</a:t>
            </a:r>
            <a:r>
              <a:rPr lang="zh-CN" altLang="zh-CN" sz="1800" dirty="0"/>
              <a:t>序列发生器的原理图</a:t>
            </a:r>
            <a:r>
              <a:rPr lang="zh-CN" altLang="zh-CN"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100" dirty="0" smtClean="0"/>
          </a:p>
          <a:p>
            <a:pPr indent="457200">
              <a:lnSpc>
                <a:spcPct val="150000"/>
              </a:lnSpc>
            </a:pPr>
            <a:r>
              <a:rPr lang="zh-CN" altLang="zh-CN" sz="1800" dirty="0" smtClean="0"/>
              <a:t>其中</a:t>
            </a:r>
            <a:r>
              <a:rPr lang="zh-CN" altLang="zh-CN" sz="1800" dirty="0"/>
              <a:t>右边三个异或门实现了本原多项式中</a:t>
            </a:r>
            <a:r>
              <a:rPr lang="en-US" altLang="zh-CN" sz="1800" i="1" dirty="0"/>
              <a:t>x</a:t>
            </a:r>
            <a:r>
              <a:rPr lang="en-US" altLang="zh-CN" sz="1800" baseline="30000" dirty="0"/>
              <a:t>8</a:t>
            </a:r>
            <a:r>
              <a:rPr lang="zh-CN" altLang="zh-CN" sz="1800" dirty="0"/>
              <a:t>、</a:t>
            </a:r>
            <a:r>
              <a:rPr lang="en-US" altLang="zh-CN" sz="1800" i="1" dirty="0"/>
              <a:t>x</a:t>
            </a:r>
            <a:r>
              <a:rPr lang="en-US" altLang="zh-CN" sz="1800" baseline="30000" dirty="0"/>
              <a:t>4</a:t>
            </a:r>
            <a:r>
              <a:rPr lang="zh-CN" altLang="zh-CN" sz="1800" dirty="0"/>
              <a:t>、</a:t>
            </a:r>
            <a:r>
              <a:rPr lang="en-US" altLang="zh-CN" sz="1800" i="1" dirty="0"/>
              <a:t>x</a:t>
            </a:r>
            <a:r>
              <a:rPr lang="en-US" altLang="zh-CN" sz="1800" baseline="30000" dirty="0"/>
              <a:t>3</a:t>
            </a:r>
            <a:r>
              <a:rPr lang="zh-CN" altLang="zh-CN" sz="1800" dirty="0"/>
              <a:t>、</a:t>
            </a:r>
            <a:r>
              <a:rPr lang="en-US" altLang="zh-CN" sz="1800" i="1" dirty="0"/>
              <a:t>x</a:t>
            </a:r>
            <a:r>
              <a:rPr lang="en-US" altLang="zh-CN" sz="1800" baseline="30000" dirty="0"/>
              <a:t>2</a:t>
            </a:r>
            <a:r>
              <a:rPr lang="zh-CN" altLang="zh-CN" sz="1800" dirty="0"/>
              <a:t>四个寄存器输出</a:t>
            </a:r>
            <a:r>
              <a:rPr lang="zh-CN" altLang="zh-CN" sz="1800" dirty="0" smtClean="0"/>
              <a:t>的</a:t>
            </a:r>
            <a:r>
              <a:rPr lang="zh-CN" altLang="en-US" sz="1800" dirty="0" smtClean="0"/>
              <a:t>模</a:t>
            </a:r>
            <a:r>
              <a:rPr lang="en-US" altLang="zh-CN" sz="1800" dirty="0" smtClean="0"/>
              <a:t>2</a:t>
            </a:r>
            <a:r>
              <a:rPr lang="zh-CN" altLang="zh-CN" sz="1800" dirty="0" smtClean="0"/>
              <a:t>相加。</a:t>
            </a:r>
            <a:endParaRPr lang="en-US" altLang="zh-CN" sz="1800" dirty="0" smtClean="0"/>
          </a:p>
          <a:p>
            <a:pPr indent="457200">
              <a:lnSpc>
                <a:spcPct val="150000"/>
              </a:lnSpc>
            </a:pPr>
            <a:r>
              <a:rPr lang="zh-CN" altLang="zh-CN" sz="1800" dirty="0" smtClean="0"/>
              <a:t>当</a:t>
            </a:r>
            <a:r>
              <a:rPr lang="zh-CN" altLang="zh-CN" sz="1800" dirty="0"/>
              <a:t>所有</a:t>
            </a:r>
            <a:r>
              <a:rPr lang="zh-CN" altLang="zh-CN" sz="1800" dirty="0" smtClean="0"/>
              <a:t>寄存器都</a:t>
            </a:r>
            <a:r>
              <a:rPr lang="zh-CN" altLang="zh-CN" sz="1800" dirty="0"/>
              <a:t>输出“</a:t>
            </a:r>
            <a:r>
              <a:rPr lang="en-US" altLang="zh-CN" sz="1800" dirty="0"/>
              <a:t>0</a:t>
            </a:r>
            <a:r>
              <a:rPr lang="zh-CN" altLang="zh-CN" sz="1800" dirty="0"/>
              <a:t>”</a:t>
            </a:r>
            <a:r>
              <a:rPr lang="zh-CN" altLang="zh-CN" sz="1800" dirty="0" smtClean="0"/>
              <a:t>时</a:t>
            </a:r>
            <a:r>
              <a:rPr lang="zh-CN" altLang="en-US" sz="1800" dirty="0" smtClean="0"/>
              <a:t>，</a:t>
            </a:r>
            <a:r>
              <a:rPr lang="zh-CN" altLang="zh-CN" sz="1800" dirty="0" smtClean="0"/>
              <a:t>系统</a:t>
            </a:r>
            <a:r>
              <a:rPr lang="zh-CN" altLang="zh-CN" sz="1800" dirty="0"/>
              <a:t>将被锁</a:t>
            </a:r>
            <a:r>
              <a:rPr lang="zh-CN" altLang="zh-CN" sz="1800" dirty="0" smtClean="0"/>
              <a:t>死</a:t>
            </a:r>
            <a:r>
              <a:rPr lang="zh-CN" altLang="en-US" sz="1800" dirty="0" smtClean="0"/>
              <a:t>。可以有两种方法解决：上电置位</a:t>
            </a:r>
            <a:r>
              <a:rPr lang="zh-CN" altLang="en-US" sz="1800" dirty="0"/>
              <a:t>电路，在上电时利用</a:t>
            </a:r>
            <a:r>
              <a:rPr lang="zh-CN" altLang="en-US" sz="1800" dirty="0" smtClean="0"/>
              <a:t>电容充电将</a:t>
            </a:r>
            <a:r>
              <a:rPr lang="zh-CN" altLang="en-US" sz="1800" dirty="0"/>
              <a:t>反馈信号</a:t>
            </a:r>
            <a:r>
              <a:rPr lang="zh-CN" altLang="en-US" sz="1800" dirty="0" smtClean="0"/>
              <a:t>强行反相。全零排除电路，在出现全零状态时将反馈信号强行反相。</a:t>
            </a:r>
            <a:endParaRPr lang="en-US" altLang="zh-CN" sz="1800" dirty="0" smtClean="0"/>
          </a:p>
          <a:p>
            <a:pPr indent="457200">
              <a:lnSpc>
                <a:spcPct val="150000"/>
              </a:lnSpc>
            </a:pPr>
            <a:r>
              <a:rPr lang="zh-CN" altLang="en-US" sz="1800" dirty="0" smtClean="0">
                <a:latin typeface="Times New Roman" panose="02020603050405020304" pitchFamily="18" charset="0"/>
                <a:ea typeface="楷体" panose="02010609060101010101" pitchFamily="49" charset="-122"/>
              </a:rPr>
              <a:t>说明：根据题目要求，输出必须为</a:t>
            </a:r>
            <a:r>
              <a:rPr lang="en-US" altLang="zh-CN" sz="1800" dirty="0" smtClean="0">
                <a:latin typeface="Times New Roman" panose="02020603050405020304" pitchFamily="18" charset="0"/>
                <a:ea typeface="楷体" panose="02010609060101010101" pitchFamily="49" charset="-122"/>
              </a:rPr>
              <a:t>TTL</a:t>
            </a:r>
            <a:r>
              <a:rPr lang="zh-CN" altLang="en-US" sz="1800" dirty="0" smtClean="0">
                <a:latin typeface="Times New Roman" panose="02020603050405020304" pitchFamily="18" charset="0"/>
                <a:ea typeface="楷体" panose="02010609060101010101" pitchFamily="49" charset="-122"/>
              </a:rPr>
              <a:t>电平。</a:t>
            </a:r>
            <a:r>
              <a:rPr lang="en-US" altLang="zh-CN" sz="1800" dirty="0" smtClean="0">
                <a:latin typeface="Times New Roman" panose="02020603050405020304" pitchFamily="18" charset="0"/>
                <a:ea typeface="楷体" panose="02010609060101010101" pitchFamily="49" charset="-122"/>
              </a:rPr>
              <a:t>8</a:t>
            </a:r>
            <a:r>
              <a:rPr lang="zh-CN" altLang="en-US" sz="1800" dirty="0" smtClean="0">
                <a:latin typeface="Times New Roman" panose="02020603050405020304" pitchFamily="18" charset="0"/>
                <a:ea typeface="楷体" panose="02010609060101010101" pitchFamily="49" charset="-122"/>
              </a:rPr>
              <a:t>位移位寄存器的可用型号为</a:t>
            </a:r>
            <a:r>
              <a:rPr lang="en-US" altLang="zh-CN" sz="1800" dirty="0" smtClean="0">
                <a:latin typeface="Times New Roman" panose="02020603050405020304" pitchFamily="18" charset="0"/>
                <a:ea typeface="楷体" panose="02010609060101010101" pitchFamily="49" charset="-122"/>
              </a:rPr>
              <a:t>74LS164</a:t>
            </a:r>
            <a:r>
              <a:rPr lang="zh-CN" altLang="en-US" sz="1800" dirty="0" smtClean="0">
                <a:latin typeface="Times New Roman" panose="02020603050405020304" pitchFamily="18" charset="0"/>
                <a:ea typeface="楷体" panose="02010609060101010101" pitchFamily="49" charset="-122"/>
              </a:rPr>
              <a:t>，异或门的可用型号为</a:t>
            </a:r>
            <a:r>
              <a:rPr lang="en-US" altLang="zh-CN" sz="1800" dirty="0" smtClean="0">
                <a:latin typeface="Times New Roman" panose="02020603050405020304" pitchFamily="18" charset="0"/>
                <a:ea typeface="楷体" panose="02010609060101010101" pitchFamily="49" charset="-122"/>
              </a:rPr>
              <a:t>74LS86</a:t>
            </a:r>
            <a:r>
              <a:rPr lang="zh-CN" altLang="en-US" sz="1800" dirty="0" smtClean="0">
                <a:latin typeface="Times New Roman" panose="02020603050405020304" pitchFamily="18" charset="0"/>
                <a:ea typeface="楷体" panose="02010609060101010101" pitchFamily="49" charset="-122"/>
              </a:rPr>
              <a:t>，</a:t>
            </a:r>
            <a:r>
              <a:rPr lang="en-US" altLang="zh-CN" sz="1800" dirty="0" smtClean="0">
                <a:latin typeface="Times New Roman" panose="02020603050405020304" pitchFamily="18" charset="0"/>
                <a:ea typeface="楷体" panose="02010609060101010101" pitchFamily="49" charset="-122"/>
              </a:rPr>
              <a:t>8</a:t>
            </a:r>
            <a:r>
              <a:rPr lang="zh-CN" altLang="en-US" sz="1800" dirty="0" smtClean="0">
                <a:latin typeface="Times New Roman" panose="02020603050405020304" pitchFamily="18" charset="0"/>
                <a:ea typeface="楷体" panose="02010609060101010101" pitchFamily="49" charset="-122"/>
              </a:rPr>
              <a:t>位输入的或非门没有对应的器件，可用几个</a:t>
            </a:r>
            <a:r>
              <a:rPr lang="en-US" altLang="zh-CN" sz="1800" dirty="0" smtClean="0">
                <a:latin typeface="Times New Roman" panose="02020603050405020304" pitchFamily="18" charset="0"/>
                <a:ea typeface="楷体" panose="02010609060101010101" pitchFamily="49" charset="-122"/>
              </a:rPr>
              <a:t>2</a:t>
            </a:r>
            <a:r>
              <a:rPr lang="zh-CN" altLang="en-US" sz="1800" dirty="0" smtClean="0">
                <a:latin typeface="Times New Roman" panose="02020603050405020304" pitchFamily="18" charset="0"/>
                <a:ea typeface="楷体" panose="02010609060101010101" pitchFamily="49" charset="-122"/>
              </a:rPr>
              <a:t>输入端或</a:t>
            </a:r>
            <a:r>
              <a:rPr lang="en-US" altLang="zh-CN" sz="1800" dirty="0" smtClean="0">
                <a:latin typeface="Times New Roman" panose="02020603050405020304" pitchFamily="18" charset="0"/>
                <a:ea typeface="楷体" panose="02010609060101010101" pitchFamily="49" charset="-122"/>
              </a:rPr>
              <a:t>4</a:t>
            </a:r>
            <a:r>
              <a:rPr lang="zh-CN" altLang="en-US" sz="1800" dirty="0" smtClean="0">
                <a:latin typeface="Times New Roman" panose="02020603050405020304" pitchFamily="18" charset="0"/>
                <a:ea typeface="楷体" panose="02010609060101010101" pitchFamily="49" charset="-122"/>
              </a:rPr>
              <a:t>输入端的或门等搭建。</a:t>
            </a:r>
            <a:endParaRPr lang="zh-CN" altLang="en-US" sz="1600" dirty="0">
              <a:latin typeface="Times New Roman" panose="02020603050405020304" pitchFamily="18" charset="0"/>
              <a:ea typeface="楷体" panose="02010609060101010101" pitchFamily="49" charset="-122"/>
            </a:endParaRPr>
          </a:p>
        </p:txBody>
      </p:sp>
      <p:sp>
        <p:nvSpPr>
          <p:cNvPr id="8" name="椭圆 7"/>
          <p:cNvSpPr/>
          <p:nvPr/>
        </p:nvSpPr>
        <p:spPr>
          <a:xfrm>
            <a:off x="2220686" y="2336800"/>
            <a:ext cx="2199818" cy="1513286"/>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614056" y="1578604"/>
            <a:ext cx="1081315" cy="19919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619553" y="2574558"/>
            <a:ext cx="854527" cy="923330"/>
          </a:xfrm>
          <a:prstGeom prst="rect">
            <a:avLst/>
          </a:prstGeom>
          <a:noFill/>
        </p:spPr>
        <p:txBody>
          <a:bodyPr wrap="square" rtlCol="0">
            <a:spAutoFit/>
          </a:bodyPr>
          <a:lstStyle/>
          <a:p>
            <a:r>
              <a:rPr lang="zh-CN" altLang="en-US" sz="1800" dirty="0"/>
              <a:t>上</a:t>
            </a:r>
            <a:r>
              <a:rPr lang="zh-CN" altLang="en-US" sz="1800" dirty="0" smtClean="0"/>
              <a:t>电置位电路</a:t>
            </a:r>
            <a:endParaRPr lang="zh-CN" altLang="en-US" sz="1800" dirty="0"/>
          </a:p>
        </p:txBody>
      </p:sp>
      <p:sp>
        <p:nvSpPr>
          <p:cNvPr id="12" name="文本框 11"/>
          <p:cNvSpPr txBox="1"/>
          <p:nvPr/>
        </p:nvSpPr>
        <p:spPr>
          <a:xfrm>
            <a:off x="4572000" y="1578604"/>
            <a:ext cx="1952171" cy="369332"/>
          </a:xfrm>
          <a:prstGeom prst="rect">
            <a:avLst/>
          </a:prstGeom>
          <a:noFill/>
        </p:spPr>
        <p:txBody>
          <a:bodyPr wrap="square" rtlCol="0">
            <a:spAutoFit/>
          </a:bodyPr>
          <a:lstStyle/>
          <a:p>
            <a:r>
              <a:rPr lang="zh-CN" altLang="en-US" sz="1800" dirty="0" smtClean="0"/>
              <a:t>全零排除电路</a:t>
            </a:r>
            <a:endParaRPr lang="zh-CN" altLang="en-US" sz="1800" dirty="0"/>
          </a:p>
        </p:txBody>
      </p:sp>
      <p:pic>
        <p:nvPicPr>
          <p:cNvPr id="13" name="图片 12"/>
          <p:cNvPicPr>
            <a:picLocks noChangeAspect="1"/>
          </p:cNvPicPr>
          <p:nvPr/>
        </p:nvPicPr>
        <p:blipFill>
          <a:blip r:embed="rId2"/>
          <a:stretch>
            <a:fillRect/>
          </a:stretch>
        </p:blipFill>
        <p:spPr>
          <a:xfrm>
            <a:off x="2375807" y="1858177"/>
            <a:ext cx="7847588" cy="2097014"/>
          </a:xfrm>
          <a:prstGeom prst="rect">
            <a:avLst/>
          </a:prstGeom>
        </p:spPr>
      </p:pic>
    </p:spTree>
    <p:extLst>
      <p:ext uri="{BB962C8B-B14F-4D97-AF65-F5344CB8AC3E}">
        <p14:creationId xmlns:p14="http://schemas.microsoft.com/office/powerpoint/2010/main" val="8490238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57201" y="485346"/>
            <a:ext cx="11255828" cy="4755148"/>
          </a:xfrm>
          <a:prstGeom prst="rect">
            <a:avLst/>
          </a:prstGeom>
        </p:spPr>
        <p:txBody>
          <a:bodyPr wrap="square">
            <a:spAutoFit/>
          </a:bodyPr>
          <a:lstStyle/>
          <a:p>
            <a:pPr>
              <a:lnSpc>
                <a:spcPct val="150000"/>
              </a:lnSpc>
            </a:pPr>
            <a:r>
              <a:rPr lang="zh-CN" altLang="en-US" sz="1800" dirty="0" smtClean="0">
                <a:solidFill>
                  <a:srgbClr val="FF0000"/>
                </a:solidFill>
              </a:rPr>
              <a:t>二</a:t>
            </a:r>
            <a:r>
              <a:rPr lang="zh-CN" altLang="zh-CN" sz="1800" dirty="0" smtClean="0">
                <a:solidFill>
                  <a:srgbClr val="FF0000"/>
                </a:solidFill>
              </a:rPr>
              <a:t>、</a:t>
            </a:r>
            <a:r>
              <a:rPr lang="zh-CN" altLang="en-US" sz="1800" dirty="0" smtClean="0">
                <a:solidFill>
                  <a:srgbClr val="FF0000"/>
                </a:solidFill>
              </a:rPr>
              <a:t>低通滤波器与衰减器</a:t>
            </a:r>
            <a:endParaRPr lang="zh-CN" altLang="zh-CN" sz="1800" dirty="0">
              <a:solidFill>
                <a:srgbClr val="FF0000"/>
              </a:solidFill>
            </a:endParaRPr>
          </a:p>
          <a:p>
            <a:pPr indent="457200">
              <a:lnSpc>
                <a:spcPct val="150000"/>
              </a:lnSpc>
            </a:pPr>
            <a:r>
              <a:rPr lang="zh-CN" altLang="zh-CN" sz="1800" dirty="0" smtClean="0"/>
              <a:t>题目</a:t>
            </a:r>
            <a:r>
              <a:rPr lang="zh-CN" altLang="en-US" sz="1800" dirty="0" smtClean="0"/>
              <a:t>规定的滤波器是</a:t>
            </a:r>
            <a:r>
              <a:rPr lang="en-US" altLang="zh-CN" sz="1800" dirty="0" smtClean="0"/>
              <a:t>3dB </a:t>
            </a:r>
            <a:r>
              <a:rPr lang="zh-CN" altLang="zh-CN" sz="1800" dirty="0"/>
              <a:t>截止频率为</a:t>
            </a:r>
            <a:r>
              <a:rPr lang="en-US" altLang="zh-CN" sz="1800" dirty="0"/>
              <a:t> 300kHz </a:t>
            </a:r>
            <a:r>
              <a:rPr lang="zh-CN" altLang="zh-CN" sz="1800" dirty="0"/>
              <a:t>的无限增益多路负反馈二阶有源</a:t>
            </a:r>
            <a:r>
              <a:rPr lang="zh-CN" altLang="zh-CN" sz="1800" dirty="0" smtClean="0"/>
              <a:t>低通滤波器</a:t>
            </a:r>
            <a:r>
              <a:rPr lang="zh-CN" altLang="en-US" sz="1800" dirty="0" smtClean="0"/>
              <a:t>，并</a:t>
            </a:r>
            <a:r>
              <a:rPr lang="zh-CN" altLang="en-US" sz="1800" dirty="0" smtClean="0">
                <a:latin typeface="Times New Roman" panose="02020603050405020304" pitchFamily="18" charset="0"/>
                <a:cs typeface="Times New Roman" panose="02020603050405020304" pitchFamily="18" charset="0"/>
              </a:rPr>
              <a:t>将输出信号</a:t>
            </a:r>
            <a:r>
              <a:rPr lang="zh-CN" altLang="en-US" sz="1800" dirty="0">
                <a:latin typeface="Times New Roman" panose="02020603050405020304" pitchFamily="18" charset="0"/>
                <a:cs typeface="Times New Roman" panose="02020603050405020304" pitchFamily="18" charset="0"/>
              </a:rPr>
              <a:t>衰减到</a:t>
            </a:r>
            <a:r>
              <a:rPr lang="zh-CN" altLang="zh-CN" sz="1800" dirty="0"/>
              <a:t>峰峰值</a:t>
            </a:r>
            <a:r>
              <a:rPr lang="en-US" altLang="zh-CN" sz="1800" dirty="0"/>
              <a:t>0.1V</a:t>
            </a:r>
            <a:r>
              <a:rPr lang="zh-CN" altLang="en-US" sz="1800" dirty="0"/>
              <a:t>。根据</a:t>
            </a:r>
            <a:r>
              <a:rPr lang="zh-CN" altLang="en-US" sz="1800" dirty="0" smtClean="0"/>
              <a:t>要求，这部分电路如下。其中第一</a:t>
            </a:r>
            <a:r>
              <a:rPr lang="zh-CN" altLang="en-US" sz="1800" dirty="0"/>
              <a:t>个运放构成题目要求的多路反馈型滤波器，第二个运放及其前面的电位器构成衰减</a:t>
            </a:r>
            <a:r>
              <a:rPr lang="zh-CN" altLang="en-US" sz="1800" dirty="0" smtClean="0"/>
              <a:t>电路，最前面的电容是隔直电容。</a:t>
            </a:r>
            <a:endParaRPr lang="en-US" altLang="zh-CN" sz="1800" dirty="0"/>
          </a:p>
          <a:p>
            <a:pPr indent="457200">
              <a:lnSpc>
                <a:spcPct val="150000"/>
              </a:lnSpc>
            </a:pPr>
            <a:endParaRPr lang="en-US" altLang="zh-CN" sz="1800" dirty="0" smtClean="0"/>
          </a:p>
          <a:p>
            <a:pPr indent="457200">
              <a:lnSpc>
                <a:spcPct val="150000"/>
              </a:lnSpc>
            </a:pPr>
            <a:endParaRPr lang="en-US" altLang="zh-CN" sz="24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600" dirty="0" smtClean="0"/>
          </a:p>
          <a:p>
            <a:pPr indent="457200">
              <a:lnSpc>
                <a:spcPct val="150000"/>
              </a:lnSpc>
            </a:pPr>
            <a:r>
              <a:rPr lang="zh-CN" altLang="en-US" sz="1800" dirty="0" smtClean="0"/>
              <a:t>低通滤波器的截止频率、</a:t>
            </a:r>
            <a:r>
              <a:rPr lang="en-US" altLang="zh-CN" sz="1800" dirty="0" smtClean="0"/>
              <a:t>Q</a:t>
            </a:r>
            <a:r>
              <a:rPr lang="zh-CN" altLang="en-US" sz="1800" dirty="0" smtClean="0"/>
              <a:t>值与直流增益如下：</a:t>
            </a:r>
            <a:endParaRPr lang="en-US" altLang="zh-CN" sz="1800" dirty="0"/>
          </a:p>
        </p:txBody>
      </p:sp>
      <p:pic>
        <p:nvPicPr>
          <p:cNvPr id="7" name="图片 6"/>
          <p:cNvPicPr>
            <a:picLocks noChangeAspect="1"/>
          </p:cNvPicPr>
          <p:nvPr/>
        </p:nvPicPr>
        <p:blipFill>
          <a:blip r:embed="rId3"/>
          <a:stretch>
            <a:fillRect/>
          </a:stretch>
        </p:blipFill>
        <p:spPr>
          <a:xfrm>
            <a:off x="2667969" y="2474686"/>
            <a:ext cx="6211449" cy="2062843"/>
          </a:xfrm>
          <a:prstGeom prst="rect">
            <a:avLst/>
          </a:prstGeom>
        </p:spPr>
      </p:pic>
      <p:graphicFrame>
        <p:nvGraphicFramePr>
          <p:cNvPr id="13" name="对象 12"/>
          <p:cNvGraphicFramePr>
            <a:graphicFrameLocks noChangeAspect="1"/>
          </p:cNvGraphicFramePr>
          <p:nvPr>
            <p:extLst>
              <p:ext uri="{D42A27DB-BD31-4B8C-83A1-F6EECF244321}">
                <p14:modId xmlns:p14="http://schemas.microsoft.com/office/powerpoint/2010/main" val="4074709581"/>
              </p:ext>
            </p:extLst>
          </p:nvPr>
        </p:nvGraphicFramePr>
        <p:xfrm>
          <a:off x="2337254" y="5282778"/>
          <a:ext cx="6280150" cy="850900"/>
        </p:xfrm>
        <a:graphic>
          <a:graphicData uri="http://schemas.openxmlformats.org/presentationml/2006/ole">
            <mc:AlternateContent xmlns:mc="http://schemas.openxmlformats.org/markup-compatibility/2006">
              <mc:Choice xmlns:v="urn:schemas-microsoft-com:vml" Requires="v">
                <p:oleObj spid="_x0000_s30827" name="Equation" r:id="rId4" imgW="3276360" imgH="444240" progId="Equation.DSMT4">
                  <p:embed/>
                </p:oleObj>
              </mc:Choice>
              <mc:Fallback>
                <p:oleObj name="Equation" r:id="rId4" imgW="3276360" imgH="444240" progId="Equation.DSMT4">
                  <p:embed/>
                  <p:pic>
                    <p:nvPicPr>
                      <p:cNvPr id="6" name="对象 5"/>
                      <p:cNvPicPr>
                        <a:picLocks noChangeAspect="1" noChangeArrowheads="1"/>
                      </p:cNvPicPr>
                      <p:nvPr/>
                    </p:nvPicPr>
                    <p:blipFill>
                      <a:blip r:embed="rId5"/>
                      <a:srcRect/>
                      <a:stretch>
                        <a:fillRect/>
                      </a:stretch>
                    </p:blipFill>
                    <p:spPr bwMode="auto">
                      <a:xfrm>
                        <a:off x="2337254" y="5282778"/>
                        <a:ext cx="6280150" cy="850900"/>
                      </a:xfrm>
                      <a:prstGeom prst="rect">
                        <a:avLst/>
                      </a:prstGeom>
                      <a:noFill/>
                    </p:spPr>
                  </p:pic>
                </p:oleObj>
              </mc:Fallback>
            </mc:AlternateContent>
          </a:graphicData>
        </a:graphic>
      </p:graphicFrame>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406401" y="683382"/>
            <a:ext cx="11270342" cy="5401479"/>
          </a:xfrm>
          <a:prstGeom prst="rect">
            <a:avLst/>
          </a:prstGeom>
        </p:spPr>
        <p:txBody>
          <a:bodyPr wrap="square">
            <a:spAutoFit/>
          </a:bodyPr>
          <a:lstStyle/>
          <a:p>
            <a:pPr indent="457200">
              <a:lnSpc>
                <a:spcPct val="150000"/>
              </a:lnSpc>
            </a:pPr>
            <a:r>
              <a:rPr lang="zh-CN" altLang="zh-CN" sz="1800" kern="100" dirty="0">
                <a:latin typeface="Times New Roman" panose="02020603050405020304" pitchFamily="18" charset="0"/>
              </a:rPr>
              <a:t>为了减少脉冲响应的过冲、得到较平坦的延迟特性，可以选择贝塞尔型或巴特沃斯型</a:t>
            </a:r>
            <a:r>
              <a:rPr lang="zh-CN" altLang="zh-CN" sz="1800" kern="100" dirty="0" smtClean="0">
                <a:latin typeface="Times New Roman" panose="02020603050405020304" pitchFamily="18" charset="0"/>
              </a:rPr>
              <a:t>滤波器</a:t>
            </a:r>
            <a:r>
              <a:rPr lang="zh-CN" altLang="en-US" sz="1800" kern="100" dirty="0" smtClean="0">
                <a:latin typeface="Times New Roman" panose="02020603050405020304" pitchFamily="18" charset="0"/>
              </a:rPr>
              <a:t>（</a:t>
            </a:r>
            <a:r>
              <a:rPr lang="en-US" altLang="zh-CN" sz="1800" kern="100" dirty="0" smtClean="0">
                <a:latin typeface="Times New Roman" panose="02020603050405020304" pitchFamily="18" charset="0"/>
              </a:rPr>
              <a:t>Q</a:t>
            </a:r>
            <a:r>
              <a:rPr lang="zh-CN" altLang="zh-CN" sz="1800" kern="100" dirty="0">
                <a:latin typeface="Times New Roman" panose="02020603050405020304" pitchFamily="18" charset="0"/>
              </a:rPr>
              <a:t>值不宜大于</a:t>
            </a:r>
            <a:r>
              <a:rPr lang="en-US" altLang="zh-CN" sz="1800" kern="100" dirty="0" smtClean="0">
                <a:latin typeface="Times New Roman" panose="02020603050405020304" pitchFamily="18" charset="0"/>
              </a:rPr>
              <a:t>0.7</a:t>
            </a:r>
            <a:r>
              <a:rPr lang="zh-CN" altLang="en-US" sz="1800" kern="100" dirty="0" smtClean="0">
                <a:latin typeface="Times New Roman" panose="02020603050405020304" pitchFamily="18" charset="0"/>
              </a:rPr>
              <a:t>）。</a:t>
            </a:r>
            <a:endParaRPr lang="en-US" altLang="zh-CN" sz="1800" dirty="0" smtClean="0"/>
          </a:p>
          <a:p>
            <a:pPr indent="457200">
              <a:lnSpc>
                <a:spcPct val="150000"/>
              </a:lnSpc>
            </a:pPr>
            <a:r>
              <a:rPr lang="zh-CN" altLang="en-US" sz="1800" dirty="0" smtClean="0"/>
              <a:t>假定</a:t>
            </a:r>
            <a:r>
              <a:rPr lang="zh-CN" altLang="en-US" sz="1800" dirty="0"/>
              <a:t>选用巴特沃斯型滤波器，则</a:t>
            </a:r>
            <a:r>
              <a:rPr lang="en-US" altLang="zh-CN" sz="1800" dirty="0" smtClean="0"/>
              <a:t>Q=0.7</a:t>
            </a:r>
            <a:r>
              <a:rPr lang="zh-CN" altLang="en-US" sz="1800" dirty="0" smtClean="0"/>
              <a:t>。</a:t>
            </a:r>
            <a:r>
              <a:rPr lang="zh-CN" altLang="en-US" sz="1800" dirty="0"/>
              <a:t>指定直流增益</a:t>
            </a:r>
            <a:r>
              <a:rPr lang="en-US" altLang="zh-CN" sz="1800" i="1" dirty="0"/>
              <a:t>K</a:t>
            </a:r>
            <a:r>
              <a:rPr lang="en-US" altLang="zh-CN" sz="1800" baseline="-25000" dirty="0"/>
              <a:t>0</a:t>
            </a:r>
            <a:r>
              <a:rPr lang="en-US" altLang="zh-CN" sz="1800" dirty="0"/>
              <a:t>=1</a:t>
            </a:r>
            <a:r>
              <a:rPr lang="zh-CN" altLang="en-US" sz="1800" dirty="0"/>
              <a:t>。此时有</a:t>
            </a:r>
            <a:r>
              <a:rPr lang="en-US" altLang="zh-CN" sz="1800" dirty="0"/>
              <a:t>R3=R1</a:t>
            </a:r>
            <a:r>
              <a:rPr lang="zh-CN" altLang="en-US" sz="1800" dirty="0"/>
              <a:t>。将所有已知条件代入，得到方程组</a:t>
            </a:r>
            <a:endParaRPr lang="zh-CN" altLang="en-US" sz="16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这个方程的解有个约束条件：                        。将已知条件代入，</a:t>
            </a:r>
            <a:r>
              <a:rPr lang="en-US" altLang="zh-CN" sz="1800" i="1" dirty="0" smtClean="0"/>
              <a:t>C</a:t>
            </a:r>
            <a:r>
              <a:rPr lang="en-US" altLang="zh-CN" sz="1800" baseline="-25000" dirty="0" smtClean="0"/>
              <a:t>1</a:t>
            </a:r>
            <a:r>
              <a:rPr lang="en-US" altLang="zh-CN" sz="1800" dirty="0" smtClean="0"/>
              <a:t>/</a:t>
            </a:r>
            <a:r>
              <a:rPr lang="en-US" altLang="zh-CN" sz="1800" i="1" dirty="0" smtClean="0"/>
              <a:t>C</a:t>
            </a:r>
            <a:r>
              <a:rPr lang="en-US" altLang="zh-CN" sz="1800" baseline="-25000" dirty="0" smtClean="0"/>
              <a:t>2</a:t>
            </a:r>
            <a:r>
              <a:rPr lang="en-US" altLang="zh-CN" sz="1800" dirty="0" smtClean="0"/>
              <a:t>&gt;4</a:t>
            </a:r>
            <a:r>
              <a:rPr lang="zh-CN" altLang="en-US" sz="1800" dirty="0" smtClean="0"/>
              <a:t>。</a:t>
            </a:r>
            <a:endParaRPr lang="en-US" altLang="zh-CN" sz="1800" dirty="0" smtClean="0"/>
          </a:p>
          <a:p>
            <a:pPr indent="457200">
              <a:lnSpc>
                <a:spcPct val="150000"/>
              </a:lnSpc>
            </a:pPr>
            <a:endParaRPr lang="en-US" altLang="zh-CN" sz="1400" dirty="0"/>
          </a:p>
          <a:p>
            <a:pPr indent="457200">
              <a:lnSpc>
                <a:spcPct val="150000"/>
              </a:lnSpc>
            </a:pPr>
            <a:r>
              <a:rPr lang="zh-CN" altLang="en-US" sz="1800" dirty="0" smtClean="0"/>
              <a:t>指定</a:t>
            </a:r>
            <a:r>
              <a:rPr lang="en-US" altLang="zh-CN" sz="1800" dirty="0" smtClean="0"/>
              <a:t>C1=10nF</a:t>
            </a:r>
            <a:r>
              <a:rPr lang="zh-CN" altLang="en-US" sz="1800" dirty="0" smtClean="0"/>
              <a:t>，</a:t>
            </a:r>
            <a:r>
              <a:rPr lang="en-US" altLang="zh-CN" sz="1800" dirty="0" smtClean="0"/>
              <a:t>C2=1nF</a:t>
            </a:r>
            <a:r>
              <a:rPr lang="zh-CN" altLang="en-US" sz="1800" dirty="0" smtClean="0"/>
              <a:t>。代入前面的方程组，得到</a:t>
            </a:r>
            <a:r>
              <a:rPr lang="en-US" altLang="zh-CN" sz="1800" dirty="0" smtClean="0"/>
              <a:t>R1=666</a:t>
            </a:r>
            <a:r>
              <a:rPr lang="zh-CN" altLang="en-US" sz="1800" dirty="0" smtClean="0"/>
              <a:t>，</a:t>
            </a:r>
            <a:r>
              <a:rPr lang="en-US" altLang="zh-CN" sz="1800" dirty="0" smtClean="0"/>
              <a:t>R2=42.3</a:t>
            </a:r>
            <a:r>
              <a:rPr lang="zh-CN" altLang="en-US" sz="1800" dirty="0" smtClean="0"/>
              <a:t>。这两个值小了些，所以可以将</a:t>
            </a:r>
            <a:r>
              <a:rPr lang="en-US" altLang="zh-CN" sz="1800" dirty="0" smtClean="0"/>
              <a:t>RC</a:t>
            </a:r>
            <a:r>
              <a:rPr lang="zh-CN" altLang="en-US" sz="1800" dirty="0" smtClean="0"/>
              <a:t>作等比例变换，最后可取</a:t>
            </a:r>
            <a:r>
              <a:rPr lang="en-US" altLang="zh-CN" sz="1800" dirty="0" smtClean="0">
                <a:latin typeface="+mn-lt"/>
              </a:rPr>
              <a:t>R1=R3=6.67k</a:t>
            </a:r>
            <a:r>
              <a:rPr lang="el-GR" altLang="zh-CN" sz="1800" dirty="0" smtClean="0">
                <a:latin typeface="+mn-lt"/>
                <a:cs typeface="Times New Roman" panose="02020603050405020304" pitchFamily="18" charset="0"/>
              </a:rPr>
              <a:t>Ω</a:t>
            </a:r>
            <a:r>
              <a:rPr lang="zh-CN" altLang="en-US" sz="1800" dirty="0" smtClean="0">
                <a:latin typeface="+mn-lt"/>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R2=430</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C1=1nF</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C2=0.1nF</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a:p>
            <a:pPr indent="457200">
              <a:lnSpc>
                <a:spcPct val="150000"/>
              </a:lnSpc>
            </a:pPr>
            <a:r>
              <a:rPr lang="zh-CN" altLang="en-US" sz="1800" dirty="0" smtClean="0">
                <a:latin typeface="Times New Roman" panose="02020603050405020304" pitchFamily="18" charset="0"/>
                <a:cs typeface="Times New Roman" panose="02020603050405020304" pitchFamily="18" charset="0"/>
              </a:rPr>
              <a:t>由于滤波器输出的信号峰峰值大于</a:t>
            </a:r>
            <a:r>
              <a:rPr lang="en-US" altLang="zh-CN" sz="1800" dirty="0" smtClean="0">
                <a:latin typeface="Times New Roman" panose="02020603050405020304" pitchFamily="18" charset="0"/>
                <a:cs typeface="Times New Roman" panose="02020603050405020304" pitchFamily="18" charset="0"/>
              </a:rPr>
              <a:t>3V</a:t>
            </a:r>
            <a:r>
              <a:rPr lang="zh-CN" altLang="en-US" sz="1800" dirty="0" smtClean="0">
                <a:latin typeface="Times New Roman" panose="02020603050405020304" pitchFamily="18" charset="0"/>
                <a:cs typeface="Times New Roman" panose="02020603050405020304" pitchFamily="18" charset="0"/>
              </a:rPr>
              <a:t>，最后的输出要求峰峰值</a:t>
            </a:r>
            <a:r>
              <a:rPr lang="en-US" altLang="zh-CN" sz="1800" dirty="0" smtClean="0">
                <a:latin typeface="Times New Roman" panose="02020603050405020304" pitchFamily="18" charset="0"/>
                <a:cs typeface="Times New Roman" panose="02020603050405020304" pitchFamily="18" charset="0"/>
              </a:rPr>
              <a:t>0.1V</a:t>
            </a:r>
            <a:r>
              <a:rPr lang="zh-CN" altLang="en-US" sz="1800" dirty="0" smtClean="0">
                <a:latin typeface="Times New Roman" panose="02020603050405020304" pitchFamily="18" charset="0"/>
                <a:cs typeface="Times New Roman" panose="02020603050405020304" pitchFamily="18" charset="0"/>
              </a:rPr>
              <a:t>，所以取</a:t>
            </a:r>
            <a:r>
              <a:rPr lang="en-US" altLang="zh-CN" sz="1800" dirty="0" smtClean="0">
                <a:latin typeface="Times New Roman" panose="02020603050405020304" pitchFamily="18" charset="0"/>
                <a:cs typeface="Times New Roman" panose="02020603050405020304" pitchFamily="18" charset="0"/>
              </a:rPr>
              <a:t>R4=2k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R5=100</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4050551986"/>
              </p:ext>
            </p:extLst>
          </p:nvPr>
        </p:nvGraphicFramePr>
        <p:xfrm>
          <a:off x="3872494" y="3906257"/>
          <a:ext cx="1608137" cy="682625"/>
        </p:xfrm>
        <a:graphic>
          <a:graphicData uri="http://schemas.openxmlformats.org/presentationml/2006/ole">
            <mc:AlternateContent xmlns:mc="http://schemas.openxmlformats.org/markup-compatibility/2006">
              <mc:Choice xmlns:v="urn:schemas-microsoft-com:vml" Requires="v">
                <p:oleObj spid="_x0000_s3155" name="Equation" r:id="rId3" imgW="965160" imgH="380880" progId="Equation.DSMT4">
                  <p:embed/>
                </p:oleObj>
              </mc:Choice>
              <mc:Fallback>
                <p:oleObj name="Equation" r:id="rId3" imgW="965160" imgH="380880" progId="Equation.DSMT4">
                  <p:embed/>
                  <p:pic>
                    <p:nvPicPr>
                      <p:cNvPr id="0" name="Object 35"/>
                      <p:cNvPicPr>
                        <a:picLocks noChangeAspect="1" noChangeArrowheads="1"/>
                      </p:cNvPicPr>
                      <p:nvPr/>
                    </p:nvPicPr>
                    <p:blipFill>
                      <a:blip r:embed="rId4"/>
                      <a:srcRect/>
                      <a:stretch>
                        <a:fillRect/>
                      </a:stretch>
                    </p:blipFill>
                    <p:spPr bwMode="auto">
                      <a:xfrm>
                        <a:off x="3872494" y="3906257"/>
                        <a:ext cx="1608137" cy="682625"/>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98052904"/>
              </p:ext>
            </p:extLst>
          </p:nvPr>
        </p:nvGraphicFramePr>
        <p:xfrm>
          <a:off x="3724084" y="2111781"/>
          <a:ext cx="4112675" cy="1457746"/>
        </p:xfrm>
        <a:graphic>
          <a:graphicData uri="http://schemas.openxmlformats.org/presentationml/2006/ole">
            <mc:AlternateContent xmlns:mc="http://schemas.openxmlformats.org/markup-compatibility/2006">
              <mc:Choice xmlns:v="urn:schemas-microsoft-com:vml" Requires="v">
                <p:oleObj spid="_x0000_s3156" name="Equation" r:id="rId5" imgW="2145960" imgH="761760" progId="Equation.DSMT4">
                  <p:embed/>
                </p:oleObj>
              </mc:Choice>
              <mc:Fallback>
                <p:oleObj name="Equation" r:id="rId5" imgW="2145960" imgH="761760" progId="Equation.DSMT4">
                  <p:embed/>
                  <p:pic>
                    <p:nvPicPr>
                      <p:cNvPr id="10" name="对象 9"/>
                      <p:cNvPicPr>
                        <a:picLocks noChangeAspect="1" noChangeArrowheads="1"/>
                      </p:cNvPicPr>
                      <p:nvPr/>
                    </p:nvPicPr>
                    <p:blipFill>
                      <a:blip r:embed="rId6"/>
                      <a:srcRect/>
                      <a:stretch>
                        <a:fillRect/>
                      </a:stretch>
                    </p:blipFill>
                    <p:spPr bwMode="auto">
                      <a:xfrm>
                        <a:off x="3724084" y="2111781"/>
                        <a:ext cx="4112675" cy="1457746"/>
                      </a:xfrm>
                      <a:prstGeom prst="rect">
                        <a:avLst/>
                      </a:prstGeom>
                      <a:noFill/>
                    </p:spPr>
                  </p:pic>
                </p:oleObj>
              </mc:Fallback>
            </mc:AlternateContent>
          </a:graphicData>
        </a:graphic>
      </p:graphicFrame>
    </p:spTree>
    <p:extLst>
      <p:ext uri="{BB962C8B-B14F-4D97-AF65-F5344CB8AC3E}">
        <p14:creationId xmlns:p14="http://schemas.microsoft.com/office/powerpoint/2010/main" val="3086715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442686" y="508000"/>
            <a:ext cx="11277600" cy="3000821"/>
          </a:xfrm>
          <a:prstGeom prst="rect">
            <a:avLst/>
          </a:prstGeom>
          <a:noFill/>
        </p:spPr>
        <p:txBody>
          <a:bodyPr wrap="square" rtlCol="0">
            <a:spAutoFit/>
          </a:bodyPr>
          <a:lstStyle/>
          <a:p>
            <a:pPr indent="457200">
              <a:lnSpc>
                <a:spcPct val="150000"/>
              </a:lnSpc>
            </a:pPr>
            <a:r>
              <a:rPr lang="zh-CN" altLang="en-US" sz="1800" dirty="0" smtClean="0"/>
              <a:t>电源与动态范围的考虑</a:t>
            </a:r>
            <a:endParaRPr lang="en-US" altLang="zh-CN" sz="1800" dirty="0" smtClean="0"/>
          </a:p>
          <a:p>
            <a:pPr indent="457200">
              <a:lnSpc>
                <a:spcPct val="150000"/>
              </a:lnSpc>
            </a:pPr>
            <a:r>
              <a:rPr lang="zh-CN" altLang="en-US" sz="1800" dirty="0" smtClean="0"/>
              <a:t>前面</a:t>
            </a:r>
            <a:r>
              <a:rPr lang="en-US" altLang="zh-CN" sz="1800" dirty="0"/>
              <a:t>m</a:t>
            </a:r>
            <a:r>
              <a:rPr lang="zh-CN" altLang="en-US" sz="1800" dirty="0" smtClean="0"/>
              <a:t>序列发生器采用</a:t>
            </a:r>
            <a:r>
              <a:rPr lang="en-US" altLang="zh-CN" sz="1800" dirty="0" smtClean="0"/>
              <a:t>TTL</a:t>
            </a:r>
            <a:r>
              <a:rPr lang="zh-CN" altLang="en-US" sz="1800" dirty="0" smtClean="0"/>
              <a:t>器件，</a:t>
            </a:r>
            <a:r>
              <a:rPr lang="en-US" altLang="zh-CN" sz="1800" dirty="0" smtClean="0"/>
              <a:t>+5V</a:t>
            </a:r>
            <a:r>
              <a:rPr lang="zh-CN" altLang="en-US" sz="1800" dirty="0" smtClean="0"/>
              <a:t>单电源，输出</a:t>
            </a:r>
            <a:r>
              <a:rPr lang="zh-CN" altLang="en-US" sz="1800" dirty="0"/>
              <a:t>的</a:t>
            </a:r>
            <a:r>
              <a:rPr lang="en-US" altLang="zh-CN" sz="1800" dirty="0"/>
              <a:t>TTL</a:t>
            </a:r>
            <a:r>
              <a:rPr lang="zh-CN" altLang="en-US" sz="1800" dirty="0"/>
              <a:t>电平</a:t>
            </a:r>
            <a:r>
              <a:rPr lang="zh-CN" altLang="en-US" sz="1800" dirty="0" smtClean="0"/>
              <a:t>大约为</a:t>
            </a:r>
            <a:r>
              <a:rPr lang="en-US" altLang="zh-CN" sz="1800" dirty="0" smtClean="0"/>
              <a:t>0.3V~3.5V</a:t>
            </a:r>
            <a:r>
              <a:rPr lang="zh-CN" altLang="en-US" sz="1800" dirty="0" smtClean="0"/>
              <a:t>（峰峰值</a:t>
            </a:r>
            <a:r>
              <a:rPr lang="en-US" altLang="zh-CN" sz="1800" dirty="0" smtClean="0"/>
              <a:t>3.2V</a:t>
            </a:r>
            <a:r>
              <a:rPr lang="zh-CN" altLang="en-US" sz="1800" dirty="0" smtClean="0"/>
              <a:t>）。</a:t>
            </a:r>
            <a:endParaRPr lang="en-US" altLang="zh-CN" sz="1800" dirty="0" smtClean="0"/>
          </a:p>
          <a:p>
            <a:pPr indent="457200">
              <a:lnSpc>
                <a:spcPct val="150000"/>
              </a:lnSpc>
            </a:pPr>
            <a:r>
              <a:rPr lang="zh-CN" altLang="en-US" sz="1800" dirty="0" smtClean="0"/>
              <a:t>大部分通用运放的输出电压比电源轨小</a:t>
            </a:r>
            <a:r>
              <a:rPr lang="en-US" altLang="zh-CN" sz="1800" dirty="0" smtClean="0"/>
              <a:t>1.5V~2V</a:t>
            </a:r>
            <a:r>
              <a:rPr lang="zh-CN" altLang="en-US" sz="1800" dirty="0" smtClean="0"/>
              <a:t>，所以若低通滤波器采用</a:t>
            </a:r>
            <a:r>
              <a:rPr lang="en-US" altLang="zh-CN" sz="1800" dirty="0">
                <a:latin typeface="Times New Roman" panose="02020603050405020304" pitchFamily="18" charset="0"/>
                <a:cs typeface="Times New Roman" panose="02020603050405020304" pitchFamily="18" charset="0"/>
              </a:rPr>
              <a:t>±</a:t>
            </a:r>
            <a:r>
              <a:rPr lang="en-US" altLang="zh-CN" sz="1800" dirty="0" smtClean="0"/>
              <a:t>5V</a:t>
            </a:r>
            <a:r>
              <a:rPr lang="zh-CN" altLang="en-US" sz="1800" dirty="0" smtClean="0"/>
              <a:t>双电源，则其输出动态范围大约有</a:t>
            </a:r>
            <a:r>
              <a:rPr lang="en-US" altLang="zh-CN" sz="1800" dirty="0" smtClean="0"/>
              <a:t>6V</a:t>
            </a:r>
            <a:r>
              <a:rPr lang="zh-CN" altLang="en-US" sz="1800" dirty="0" smtClean="0"/>
              <a:t>峰峰值以上，没有任何问题。</a:t>
            </a:r>
            <a:endParaRPr lang="en-US" altLang="zh-CN" sz="1800" dirty="0" smtClean="0"/>
          </a:p>
          <a:p>
            <a:pPr indent="457200">
              <a:lnSpc>
                <a:spcPct val="150000"/>
              </a:lnSpc>
            </a:pPr>
            <a:r>
              <a:rPr lang="zh-CN" altLang="en-US" sz="1800" dirty="0" smtClean="0"/>
              <a:t>若为了简化电源，采用与</a:t>
            </a:r>
            <a:r>
              <a:rPr lang="en-US" altLang="zh-CN" sz="1800" dirty="0" smtClean="0"/>
              <a:t>m</a:t>
            </a:r>
            <a:r>
              <a:rPr lang="zh-CN" altLang="en-US" sz="1800" dirty="0" smtClean="0"/>
              <a:t>序列一致的</a:t>
            </a:r>
            <a:r>
              <a:rPr lang="en-US" altLang="zh-CN" sz="1800" dirty="0"/>
              <a:t>+5V</a:t>
            </a:r>
            <a:r>
              <a:rPr lang="zh-CN" altLang="en-US" sz="1800" dirty="0"/>
              <a:t>单</a:t>
            </a:r>
            <a:r>
              <a:rPr lang="zh-CN" altLang="en-US" sz="1800" dirty="0" smtClean="0"/>
              <a:t>电源，则要考虑运放的输出动态范围问题。例如可以采用运放</a:t>
            </a:r>
            <a:r>
              <a:rPr lang="en-US" altLang="zh-CN" sz="1800" dirty="0" smtClean="0"/>
              <a:t>LM324</a:t>
            </a:r>
            <a:r>
              <a:rPr lang="zh-CN" altLang="en-US" sz="1800" dirty="0" smtClean="0"/>
              <a:t>，该运放在</a:t>
            </a:r>
            <a:r>
              <a:rPr lang="en-US" altLang="zh-CN" sz="1800" dirty="0" smtClean="0"/>
              <a:t>+5V</a:t>
            </a:r>
            <a:r>
              <a:rPr lang="zh-CN" altLang="en-US" sz="1800" dirty="0" smtClean="0"/>
              <a:t>供电条件下的输入动态范围接近</a:t>
            </a:r>
            <a:r>
              <a:rPr lang="en-US" altLang="zh-CN" sz="1800" dirty="0" smtClean="0"/>
              <a:t>0~5V</a:t>
            </a:r>
            <a:r>
              <a:rPr lang="zh-CN" altLang="en-US" sz="1800" dirty="0" smtClean="0"/>
              <a:t>、输出动态范围约为</a:t>
            </a:r>
            <a:r>
              <a:rPr lang="en-US" altLang="zh-CN" sz="1800" dirty="0" smtClean="0"/>
              <a:t>0~3.5V</a:t>
            </a:r>
            <a:r>
              <a:rPr lang="zh-CN" altLang="en-US" sz="1800" dirty="0" smtClean="0"/>
              <a:t>，可以满足题目的要求。但由于采用了单电源，所以还要有一个信号地发生器，前面电路中所有的接地点都需要接到这个信号地。</a:t>
            </a:r>
            <a:endParaRPr lang="zh-CN" altLang="en-US" sz="1800" dirty="0"/>
          </a:p>
        </p:txBody>
      </p:sp>
    </p:spTree>
    <p:extLst>
      <p:ext uri="{BB962C8B-B14F-4D97-AF65-F5344CB8AC3E}">
        <p14:creationId xmlns:p14="http://schemas.microsoft.com/office/powerpoint/2010/main" val="284670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41072" y="4426856"/>
            <a:ext cx="1986642" cy="1296497"/>
          </a:xfrm>
          <a:prstGeom prst="ellipse">
            <a:avLst/>
          </a:pr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027714" y="4122057"/>
            <a:ext cx="1807028" cy="1969918"/>
          </a:xfrm>
          <a:prstGeom prst="ellipse">
            <a:avLst/>
          </a:pr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348343" y="520316"/>
            <a:ext cx="11292114" cy="3416320"/>
          </a:xfrm>
          <a:prstGeom prst="rect">
            <a:avLst/>
          </a:prstGeom>
        </p:spPr>
        <p:txBody>
          <a:bodyPr wrap="square">
            <a:spAutoFit/>
          </a:bodyPr>
          <a:lstStyle/>
          <a:p>
            <a:pPr>
              <a:lnSpc>
                <a:spcPct val="150000"/>
              </a:lnSpc>
            </a:pPr>
            <a:r>
              <a:rPr lang="zh-CN" altLang="zh-CN" sz="1800" dirty="0">
                <a:solidFill>
                  <a:srgbClr val="FF0000"/>
                </a:solidFill>
              </a:rPr>
              <a:t>三、同步时钟提取</a:t>
            </a:r>
            <a:r>
              <a:rPr lang="zh-CN" altLang="zh-CN" sz="1800" dirty="0" smtClean="0">
                <a:solidFill>
                  <a:srgbClr val="FF0000"/>
                </a:solidFill>
              </a:rPr>
              <a:t>电路</a:t>
            </a:r>
            <a:endParaRPr lang="zh-CN" altLang="zh-CN" sz="1800" dirty="0"/>
          </a:p>
          <a:p>
            <a:pPr indent="457200">
              <a:lnSpc>
                <a:spcPct val="150000"/>
              </a:lnSpc>
            </a:pPr>
            <a:r>
              <a:rPr lang="zh-CN" altLang="zh-CN" sz="1800" dirty="0"/>
              <a:t>该</a:t>
            </a:r>
            <a:r>
              <a:rPr lang="zh-CN" altLang="zh-CN" sz="1800" dirty="0" smtClean="0"/>
              <a:t>电路包含</a:t>
            </a:r>
            <a:r>
              <a:rPr lang="zh-CN" altLang="zh-CN" sz="1800" dirty="0"/>
              <a:t>三部分。第一部分</a:t>
            </a:r>
            <a:r>
              <a:rPr lang="zh-CN" altLang="zh-CN" sz="1800" dirty="0" smtClean="0"/>
              <a:t>是</a:t>
            </a:r>
            <a:r>
              <a:rPr lang="zh-CN" altLang="en-US" sz="1800" dirty="0" smtClean="0"/>
              <a:t>信号整形：用</a:t>
            </a:r>
            <a:r>
              <a:rPr lang="zh-CN" altLang="zh-CN" sz="1800" dirty="0" smtClean="0"/>
              <a:t>一</a:t>
            </a:r>
            <a:r>
              <a:rPr lang="zh-CN" altLang="zh-CN" sz="1800" dirty="0"/>
              <a:t>个</a:t>
            </a:r>
            <a:r>
              <a:rPr lang="zh-CN" altLang="zh-CN" sz="1800" dirty="0" smtClean="0"/>
              <a:t>低噪声放大器将</a:t>
            </a:r>
            <a:r>
              <a:rPr lang="en-US" altLang="zh-CN" sz="1800" dirty="0"/>
              <a:t>0.1V</a:t>
            </a:r>
            <a:r>
              <a:rPr lang="zh-CN" altLang="zh-CN" sz="1800" dirty="0"/>
              <a:t>类似正弦波的信号放大到合适的电平</a:t>
            </a:r>
            <a:r>
              <a:rPr lang="zh-CN" altLang="zh-CN" sz="1800" dirty="0" smtClean="0"/>
              <a:t>后整形</a:t>
            </a:r>
            <a:r>
              <a:rPr lang="zh-CN" altLang="zh-CN" sz="1800" dirty="0"/>
              <a:t>成</a:t>
            </a:r>
            <a:r>
              <a:rPr lang="zh-CN" altLang="zh-CN" sz="1800" dirty="0" smtClean="0"/>
              <a:t>矩形</a:t>
            </a:r>
            <a:r>
              <a:rPr lang="zh-CN" altLang="en-US" sz="1800" dirty="0" smtClean="0"/>
              <a:t>边沿</a:t>
            </a:r>
            <a:r>
              <a:rPr lang="zh-CN" altLang="zh-CN" sz="1800" dirty="0" smtClean="0"/>
              <a:t>脉冲</a:t>
            </a:r>
            <a:r>
              <a:rPr lang="zh-CN" altLang="zh-CN" sz="1800" dirty="0"/>
              <a:t>。第二部分是基于锁相环的同步信号提取电路</a:t>
            </a:r>
            <a:r>
              <a:rPr lang="zh-CN" altLang="zh-CN" sz="1800" dirty="0" smtClean="0"/>
              <a:t>。</a:t>
            </a:r>
            <a:r>
              <a:rPr lang="zh-CN" altLang="en-US" sz="1800" dirty="0" smtClean="0"/>
              <a:t>这</a:t>
            </a:r>
            <a:r>
              <a:rPr lang="zh-CN" altLang="zh-CN" sz="1800" dirty="0" smtClean="0"/>
              <a:t>是</a:t>
            </a:r>
            <a:r>
              <a:rPr lang="zh-CN" altLang="en-US" sz="1800" dirty="0" smtClean="0"/>
              <a:t>电路</a:t>
            </a:r>
            <a:r>
              <a:rPr lang="zh-CN" altLang="zh-CN" sz="1800" dirty="0" smtClean="0"/>
              <a:t>的</a:t>
            </a:r>
            <a:r>
              <a:rPr lang="zh-CN" altLang="zh-CN" sz="1800" dirty="0"/>
              <a:t>核心，其基本结构是一个锁相环</a:t>
            </a:r>
            <a:r>
              <a:rPr lang="zh-CN" altLang="zh-CN" sz="1800" dirty="0" smtClean="0"/>
              <a:t>。第三</a:t>
            </a:r>
            <a:r>
              <a:rPr lang="zh-CN" altLang="zh-CN" sz="1800" dirty="0"/>
              <a:t>部分是由单片机完成的频率显示电路，兼有全系统控制的功能</a:t>
            </a:r>
            <a:r>
              <a:rPr lang="zh-CN" altLang="zh-CN" sz="1800" dirty="0" smtClean="0"/>
              <a:t>。</a:t>
            </a:r>
            <a:endParaRPr lang="en-US" altLang="zh-CN" sz="1800" dirty="0" smtClean="0"/>
          </a:p>
          <a:p>
            <a:pPr marL="285750" indent="-285750">
              <a:lnSpc>
                <a:spcPct val="150000"/>
              </a:lnSpc>
              <a:buFont typeface="Wingdings" panose="05000000000000000000" pitchFamily="2" charset="2"/>
              <a:buChar char="l"/>
            </a:pPr>
            <a:r>
              <a:rPr lang="zh-CN" altLang="en-US" sz="1800" dirty="0" smtClean="0"/>
              <a:t>第一部分，信号整形</a:t>
            </a:r>
            <a:endParaRPr lang="zh-CN" altLang="zh-CN" sz="1800" dirty="0"/>
          </a:p>
          <a:p>
            <a:pPr indent="457200">
              <a:lnSpc>
                <a:spcPct val="150000"/>
              </a:lnSpc>
            </a:pP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原始的</a:t>
            </a:r>
            <a:r>
              <a:rPr lang="en-US" altLang="zh-CN" sz="1800" dirty="0" smtClean="0">
                <a:latin typeface="Times New Roman" panose="02020603050405020304" pitchFamily="18" charset="0"/>
                <a:ea typeface="宋体" panose="02010600030101010101" pitchFamily="2" charset="-122"/>
                <a:cs typeface="Times New Roman" panose="02020603050405020304" pitchFamily="18" charset="0"/>
              </a:rPr>
              <a:t>m</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序列脉冲信号经过低通滤波器后，其波形类似正弦信号但又不是正弦信号，所以必须通过整形电路将它恢复为原始的</a:t>
            </a:r>
            <a:r>
              <a:rPr lang="en-US" altLang="zh-CN" sz="1800" dirty="0" smtClean="0">
                <a:latin typeface="Times New Roman" panose="02020603050405020304" pitchFamily="18" charset="0"/>
                <a:ea typeface="宋体" panose="02010600030101010101" pitchFamily="2" charset="-122"/>
                <a:cs typeface="Times New Roman" panose="02020603050405020304" pitchFamily="18" charset="0"/>
              </a:rPr>
              <a:t>m</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序列</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脉冲</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信号</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然后通过一个边沿信息提取电路，得到一个与</a:t>
            </a:r>
            <a:r>
              <a:rPr lang="en-US" altLang="zh-CN" sz="1800" dirty="0" smtClean="0">
                <a:latin typeface="Times New Roman" panose="02020603050405020304" pitchFamily="18" charset="0"/>
                <a:ea typeface="宋体" panose="02010600030101010101" pitchFamily="2" charset="-122"/>
                <a:cs typeface="Times New Roman" panose="02020603050405020304" pitchFamily="18" charset="0"/>
              </a:rPr>
              <a:t>m</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序列信号边沿有关的边沿脉冲信号。结构框图与</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信号</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波形如下</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p>
        </p:txBody>
      </p:sp>
      <p:sp>
        <p:nvSpPr>
          <p:cNvPr id="11" name="文本框 10"/>
          <p:cNvSpPr txBox="1"/>
          <p:nvPr/>
        </p:nvSpPr>
        <p:spPr>
          <a:xfrm>
            <a:off x="4176185" y="5953739"/>
            <a:ext cx="1567542" cy="338554"/>
          </a:xfrm>
          <a:prstGeom prst="rect">
            <a:avLst/>
          </a:prstGeom>
          <a:noFill/>
        </p:spPr>
        <p:txBody>
          <a:bodyPr wrap="square" rtlCol="0">
            <a:spAutoFit/>
          </a:bodyPr>
          <a:lstStyle/>
          <a:p>
            <a:r>
              <a:rPr lang="zh-CN" altLang="en-US" sz="1600" dirty="0" smtClean="0"/>
              <a:t>边沿信息提取</a:t>
            </a:r>
            <a:endParaRPr lang="zh-CN" altLang="en-US" sz="1600" dirty="0"/>
          </a:p>
        </p:txBody>
      </p:sp>
      <p:sp>
        <p:nvSpPr>
          <p:cNvPr id="12" name="文本框 11"/>
          <p:cNvSpPr txBox="1"/>
          <p:nvPr/>
        </p:nvSpPr>
        <p:spPr>
          <a:xfrm>
            <a:off x="2256971" y="5384800"/>
            <a:ext cx="1436915" cy="338554"/>
          </a:xfrm>
          <a:prstGeom prst="rect">
            <a:avLst/>
          </a:prstGeom>
          <a:noFill/>
        </p:spPr>
        <p:txBody>
          <a:bodyPr wrap="square" rtlCol="0">
            <a:spAutoFit/>
          </a:bodyPr>
          <a:lstStyle/>
          <a:p>
            <a:r>
              <a:rPr lang="zh-CN" altLang="en-US" sz="1600" dirty="0" smtClean="0"/>
              <a:t>信号整形恢复</a:t>
            </a:r>
            <a:endParaRPr lang="zh-CN" altLang="en-US" sz="1600" dirty="0"/>
          </a:p>
        </p:txBody>
      </p:sp>
      <p:pic>
        <p:nvPicPr>
          <p:cNvPr id="13" name="图片 12"/>
          <p:cNvPicPr>
            <a:picLocks noChangeAspect="1"/>
          </p:cNvPicPr>
          <p:nvPr/>
        </p:nvPicPr>
        <p:blipFill>
          <a:blip r:embed="rId3"/>
          <a:stretch>
            <a:fillRect/>
          </a:stretch>
        </p:blipFill>
        <p:spPr>
          <a:xfrm>
            <a:off x="1299027" y="3899700"/>
            <a:ext cx="9546929" cy="2326928"/>
          </a:xfrm>
          <a:prstGeom prst="rect">
            <a:avLst/>
          </a:prstGeom>
        </p:spPr>
      </p:pic>
      <p:sp>
        <p:nvSpPr>
          <p:cNvPr id="17" name="任意多边形 16"/>
          <p:cNvSpPr/>
          <p:nvPr/>
        </p:nvSpPr>
        <p:spPr>
          <a:xfrm>
            <a:off x="1981200" y="3973572"/>
            <a:ext cx="5254170" cy="1042606"/>
          </a:xfrm>
          <a:custGeom>
            <a:avLst/>
            <a:gdLst>
              <a:gd name="connsiteX0" fmla="*/ 5208112 w 5208112"/>
              <a:gd name="connsiteY0" fmla="*/ 649228 h 990314"/>
              <a:gd name="connsiteX1" fmla="*/ 4134055 w 5208112"/>
              <a:gd name="connsiteY1" fmla="*/ 511342 h 990314"/>
              <a:gd name="connsiteX2" fmla="*/ 3183369 w 5208112"/>
              <a:gd name="connsiteY2" fmla="*/ 39628 h 990314"/>
              <a:gd name="connsiteX3" fmla="*/ 505483 w 5208112"/>
              <a:gd name="connsiteY3" fmla="*/ 133971 h 990314"/>
              <a:gd name="connsiteX4" fmla="*/ 4740 w 5208112"/>
              <a:gd name="connsiteY4" fmla="*/ 990314 h 99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112" h="990314">
                <a:moveTo>
                  <a:pt x="5208112" y="649228"/>
                </a:moveTo>
                <a:cubicBezTo>
                  <a:pt x="4839812" y="631085"/>
                  <a:pt x="4471512" y="612942"/>
                  <a:pt x="4134055" y="511342"/>
                </a:cubicBezTo>
                <a:cubicBezTo>
                  <a:pt x="3796598" y="409742"/>
                  <a:pt x="3788131" y="102523"/>
                  <a:pt x="3183369" y="39628"/>
                </a:cubicBezTo>
                <a:cubicBezTo>
                  <a:pt x="2578607" y="-23267"/>
                  <a:pt x="1035254" y="-24477"/>
                  <a:pt x="505483" y="133971"/>
                </a:cubicBezTo>
                <a:cubicBezTo>
                  <a:pt x="-24288" y="292419"/>
                  <a:pt x="-9774" y="641366"/>
                  <a:pt x="4740" y="990314"/>
                </a:cubicBezTo>
              </a:path>
            </a:pathLst>
          </a:custGeom>
          <a:noFill/>
          <a:ln w="952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rot="282126">
            <a:off x="4155759" y="4612753"/>
            <a:ext cx="2920392" cy="520568"/>
          </a:xfrm>
          <a:custGeom>
            <a:avLst/>
            <a:gdLst>
              <a:gd name="connsiteX0" fmla="*/ 5208112 w 5208112"/>
              <a:gd name="connsiteY0" fmla="*/ 649228 h 990314"/>
              <a:gd name="connsiteX1" fmla="*/ 4134055 w 5208112"/>
              <a:gd name="connsiteY1" fmla="*/ 511342 h 990314"/>
              <a:gd name="connsiteX2" fmla="*/ 3183369 w 5208112"/>
              <a:gd name="connsiteY2" fmla="*/ 39628 h 990314"/>
              <a:gd name="connsiteX3" fmla="*/ 505483 w 5208112"/>
              <a:gd name="connsiteY3" fmla="*/ 133971 h 990314"/>
              <a:gd name="connsiteX4" fmla="*/ 4740 w 5208112"/>
              <a:gd name="connsiteY4" fmla="*/ 990314 h 99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112" h="990314">
                <a:moveTo>
                  <a:pt x="5208112" y="649228"/>
                </a:moveTo>
                <a:cubicBezTo>
                  <a:pt x="4839812" y="631085"/>
                  <a:pt x="4471512" y="612942"/>
                  <a:pt x="4134055" y="511342"/>
                </a:cubicBezTo>
                <a:cubicBezTo>
                  <a:pt x="3796598" y="409742"/>
                  <a:pt x="3788131" y="102523"/>
                  <a:pt x="3183369" y="39628"/>
                </a:cubicBezTo>
                <a:cubicBezTo>
                  <a:pt x="2578607" y="-23267"/>
                  <a:pt x="1035254" y="-24477"/>
                  <a:pt x="505483" y="133971"/>
                </a:cubicBezTo>
                <a:cubicBezTo>
                  <a:pt x="-24288" y="292419"/>
                  <a:pt x="-9774" y="641366"/>
                  <a:pt x="4740" y="990314"/>
                </a:cubicBezTo>
              </a:path>
            </a:pathLst>
          </a:custGeom>
          <a:noFill/>
          <a:ln w="9525">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83113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413657" y="515257"/>
            <a:ext cx="11292114" cy="133882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第二部分，基于锁相环的同步信号提取</a:t>
            </a:r>
            <a:endParaRPr lang="en-US" altLang="zh-CN" sz="1800" dirty="0" smtClean="0"/>
          </a:p>
          <a:p>
            <a:pPr indent="457200">
              <a:lnSpc>
                <a:spcPct val="150000"/>
              </a:lnSpc>
            </a:pPr>
            <a:r>
              <a:rPr lang="zh-CN" altLang="en-US" sz="1800" dirty="0" smtClean="0"/>
              <a:t>要提取的同步信号</a:t>
            </a:r>
            <a:r>
              <a:rPr lang="zh-CN" altLang="zh-CN" sz="1800" dirty="0" smtClean="0"/>
              <a:t>频率</a:t>
            </a:r>
            <a:r>
              <a:rPr lang="zh-CN" altLang="en-US" sz="1800" dirty="0" smtClean="0"/>
              <a:t>就是</a:t>
            </a:r>
            <a:r>
              <a:rPr lang="en-US" altLang="zh-CN" sz="1800" dirty="0" smtClean="0"/>
              <a:t>CK</a:t>
            </a:r>
            <a:r>
              <a:rPr lang="zh-CN" altLang="en-US" sz="1800" dirty="0" smtClean="0"/>
              <a:t>信号频率，</a:t>
            </a:r>
            <a:r>
              <a:rPr lang="en-US" altLang="zh-CN" sz="1800" dirty="0" smtClean="0"/>
              <a:t>200kHz~240kHz</a:t>
            </a:r>
            <a:r>
              <a:rPr lang="zh-CN" altLang="en-US" sz="1800" dirty="0" smtClean="0"/>
              <a:t>。由于频率不高，选择最常见的</a:t>
            </a:r>
            <a:r>
              <a:rPr lang="en-US" altLang="zh-CN" sz="1800" dirty="0" smtClean="0"/>
              <a:t>HC4046</a:t>
            </a:r>
            <a:r>
              <a:rPr lang="zh-CN" altLang="en-US" sz="1800" dirty="0" smtClean="0"/>
              <a:t>作为锁相环芯片。</a:t>
            </a:r>
            <a:endParaRPr lang="en-US" altLang="zh-CN" sz="1800" dirty="0" smtClean="0"/>
          </a:p>
        </p:txBody>
      </p:sp>
      <p:pic>
        <p:nvPicPr>
          <p:cNvPr id="6" name="图片 5"/>
          <p:cNvPicPr>
            <a:picLocks noChangeAspect="1"/>
          </p:cNvPicPr>
          <p:nvPr/>
        </p:nvPicPr>
        <p:blipFill>
          <a:blip r:embed="rId2"/>
          <a:stretch>
            <a:fillRect/>
          </a:stretch>
        </p:blipFill>
        <p:spPr>
          <a:xfrm>
            <a:off x="7042039" y="2078263"/>
            <a:ext cx="4663732" cy="3698421"/>
          </a:xfrm>
          <a:prstGeom prst="rect">
            <a:avLst/>
          </a:prstGeom>
        </p:spPr>
      </p:pic>
      <p:sp>
        <p:nvSpPr>
          <p:cNvPr id="7" name="文本框 6"/>
          <p:cNvSpPr txBox="1"/>
          <p:nvPr/>
        </p:nvSpPr>
        <p:spPr>
          <a:xfrm>
            <a:off x="413657" y="1854085"/>
            <a:ext cx="6226629" cy="408573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鉴相器</a:t>
            </a:r>
            <a:endParaRPr lang="en-US" altLang="zh-CN" sz="1800" dirty="0" smtClean="0"/>
          </a:p>
          <a:p>
            <a:pPr indent="457200">
              <a:lnSpc>
                <a:spcPct val="150000"/>
              </a:lnSpc>
            </a:pPr>
            <a:r>
              <a:rPr lang="zh-CN" altLang="zh-CN" sz="1800" dirty="0" smtClean="0"/>
              <a:t>为了</a:t>
            </a:r>
            <a:r>
              <a:rPr lang="zh-CN" altLang="zh-CN" sz="1800" dirty="0"/>
              <a:t>获得最佳的捕捉范围</a:t>
            </a:r>
            <a:r>
              <a:rPr lang="zh-CN" altLang="zh-CN" sz="1800" dirty="0" smtClean="0"/>
              <a:t>，采用</a:t>
            </a:r>
            <a:r>
              <a:rPr lang="en-US" altLang="zh-CN" sz="1800" dirty="0"/>
              <a:t>PFD</a:t>
            </a:r>
            <a:r>
              <a:rPr lang="zh-CN" altLang="zh-CN" sz="1800" dirty="0"/>
              <a:t>鉴</a:t>
            </a:r>
            <a:r>
              <a:rPr lang="zh-CN" altLang="zh-CN" sz="1800" dirty="0" smtClean="0"/>
              <a:t>相</a:t>
            </a:r>
            <a:r>
              <a:rPr lang="zh-CN" altLang="en-US" sz="1800" dirty="0" smtClean="0"/>
              <a:t>器，电源电压为</a:t>
            </a:r>
            <a:r>
              <a:rPr lang="en-US" altLang="zh-CN" sz="1800" dirty="0" smtClean="0"/>
              <a:t>5V</a:t>
            </a:r>
            <a:r>
              <a:rPr lang="zh-CN" altLang="en-US" sz="1800" dirty="0" smtClean="0"/>
              <a:t>时，鉴相增益</a:t>
            </a:r>
            <a:r>
              <a:rPr lang="en-US" altLang="zh-CN" sz="1800" dirty="0" smtClean="0"/>
              <a:t>K</a:t>
            </a:r>
            <a:r>
              <a:rPr lang="en-US" altLang="zh-CN" sz="1800" baseline="-25000" dirty="0" smtClean="0"/>
              <a:t>D</a:t>
            </a:r>
            <a:r>
              <a:rPr lang="en-US" altLang="zh-CN" sz="1800" dirty="0" smtClean="0"/>
              <a:t>=V</a:t>
            </a:r>
            <a:r>
              <a:rPr lang="en-US" altLang="zh-CN" sz="1800" baseline="-25000" dirty="0" smtClean="0"/>
              <a:t>DD</a:t>
            </a:r>
            <a:r>
              <a:rPr lang="en-US" altLang="zh-CN" sz="1800" dirty="0" smtClean="0"/>
              <a:t>/(4</a:t>
            </a:r>
            <a:r>
              <a:rPr lang="el-GR" altLang="zh-CN" sz="1800" dirty="0" smtClean="0"/>
              <a:t>π</a:t>
            </a:r>
            <a:r>
              <a:rPr lang="en-US" altLang="zh-CN" sz="1800" dirty="0" smtClean="0"/>
              <a:t>)=5V/(</a:t>
            </a:r>
            <a:r>
              <a:rPr lang="en-US" altLang="zh-CN" sz="1800" dirty="0"/>
              <a:t>4</a:t>
            </a:r>
            <a:r>
              <a:rPr lang="el-GR" altLang="zh-CN" sz="1800" dirty="0"/>
              <a:t>π</a:t>
            </a:r>
            <a:r>
              <a:rPr lang="en-US" altLang="zh-CN" sz="1800" dirty="0" smtClean="0"/>
              <a:t>)</a:t>
            </a:r>
          </a:p>
          <a:p>
            <a:pPr indent="457200">
              <a:lnSpc>
                <a:spcPct val="150000"/>
              </a:lnSpc>
            </a:pPr>
            <a:endParaRPr lang="en-US" altLang="zh-CN" sz="1100" dirty="0" smtClean="0"/>
          </a:p>
          <a:p>
            <a:pPr marL="285750" indent="-285750">
              <a:lnSpc>
                <a:spcPct val="150000"/>
              </a:lnSpc>
              <a:buFont typeface="Arial" panose="020B0604020202020204" pitchFamily="34" charset="0"/>
              <a:buChar char="•"/>
            </a:pPr>
            <a:r>
              <a:rPr lang="zh-CN" altLang="en-US" sz="1800" dirty="0" smtClean="0"/>
              <a:t>压控振荡器</a:t>
            </a:r>
            <a:endParaRPr lang="en-US" altLang="zh-CN" sz="1800" dirty="0" smtClean="0"/>
          </a:p>
          <a:p>
            <a:pPr indent="457200">
              <a:lnSpc>
                <a:spcPct val="150000"/>
              </a:lnSpc>
            </a:pPr>
            <a:r>
              <a:rPr lang="zh-CN" altLang="zh-CN" sz="1800" dirty="0" smtClean="0"/>
              <a:t>锁相环</a:t>
            </a:r>
            <a:r>
              <a:rPr lang="zh-CN" altLang="zh-CN" sz="1800" dirty="0"/>
              <a:t>中</a:t>
            </a:r>
            <a:r>
              <a:rPr lang="en-US" altLang="zh-CN" sz="1800" dirty="0"/>
              <a:t>VCO</a:t>
            </a:r>
            <a:r>
              <a:rPr lang="zh-CN" altLang="zh-CN" sz="1800" dirty="0"/>
              <a:t>的可控振荡频率范围必须大于输入信号的频率</a:t>
            </a:r>
            <a:r>
              <a:rPr lang="zh-CN" altLang="zh-CN" sz="1800" dirty="0" smtClean="0"/>
              <a:t>范围</a:t>
            </a:r>
            <a:r>
              <a:rPr lang="zh-CN" altLang="en-US" sz="1800" dirty="0" smtClean="0"/>
              <a:t>。</a:t>
            </a:r>
            <a:r>
              <a:rPr lang="zh-CN" altLang="en-US" sz="1800" dirty="0" smtClean="0">
                <a:latin typeface="Times New Roman" panose="02020603050405020304" pitchFamily="18" charset="0"/>
                <a:cs typeface="Times New Roman" panose="02020603050405020304" pitchFamily="18" charset="0"/>
              </a:rPr>
              <a:t>电源电压</a:t>
            </a:r>
            <a:r>
              <a:rPr lang="zh-CN" altLang="en-US" sz="1800" dirty="0">
                <a:latin typeface="Times New Roman" panose="02020603050405020304" pitchFamily="18" charset="0"/>
                <a:cs typeface="Times New Roman" panose="02020603050405020304" pitchFamily="18" charset="0"/>
              </a:rPr>
              <a:t>为</a:t>
            </a:r>
            <a:r>
              <a:rPr lang="en-US" altLang="zh-CN" sz="1800" dirty="0" smtClean="0">
                <a:latin typeface="Times New Roman" panose="02020603050405020304" pitchFamily="18" charset="0"/>
                <a:cs typeface="Times New Roman" panose="02020603050405020304" pitchFamily="18" charset="0"/>
              </a:rPr>
              <a:t>5V</a:t>
            </a:r>
            <a:r>
              <a:rPr lang="zh-CN" altLang="en-US" sz="1800" dirty="0" smtClean="0">
                <a:latin typeface="Times New Roman" panose="02020603050405020304" pitchFamily="18" charset="0"/>
                <a:cs typeface="Times New Roman" panose="02020603050405020304" pitchFamily="18" charset="0"/>
              </a:rPr>
              <a:t>时，</a:t>
            </a:r>
            <a:r>
              <a:rPr lang="en-US" altLang="zh-CN" sz="1800" dirty="0" smtClean="0">
                <a:latin typeface="Times New Roman" panose="02020603050405020304" pitchFamily="18" charset="0"/>
                <a:cs typeface="Times New Roman" panose="02020603050405020304" pitchFamily="18" charset="0"/>
              </a:rPr>
              <a:t>HC4046</a:t>
            </a:r>
            <a:r>
              <a:rPr lang="zh-CN" altLang="en-US" sz="1800" dirty="0" smtClean="0">
                <a:latin typeface="Times New Roman" panose="02020603050405020304" pitchFamily="18" charset="0"/>
                <a:cs typeface="Times New Roman" panose="02020603050405020304" pitchFamily="18" charset="0"/>
              </a:rPr>
              <a:t>的</a:t>
            </a:r>
            <a:r>
              <a:rPr lang="zh-CN" altLang="en-US" sz="1800" dirty="0" smtClean="0"/>
              <a:t>控制电压为</a:t>
            </a:r>
            <a:r>
              <a:rPr lang="en-US" altLang="zh-CN" sz="1800" dirty="0" smtClean="0">
                <a:latin typeface="Times New Roman" panose="02020603050405020304" pitchFamily="18" charset="0"/>
                <a:cs typeface="Times New Roman" panose="02020603050405020304" pitchFamily="18" charset="0"/>
              </a:rPr>
              <a:t>1.5V~3.5V</a:t>
            </a:r>
            <a:r>
              <a:rPr lang="zh-CN" altLang="en-US" sz="1800" dirty="0" smtClean="0">
                <a:latin typeface="Times New Roman" panose="02020603050405020304" pitchFamily="18" charset="0"/>
                <a:cs typeface="Times New Roman" panose="02020603050405020304" pitchFamily="18" charset="0"/>
              </a:rPr>
              <a:t>范围内有较好的控制特性。若取这个电压范围内的</a:t>
            </a:r>
            <a:r>
              <a:rPr lang="zh-CN" altLang="en-US" sz="1800" dirty="0" smtClean="0"/>
              <a:t>振荡频率为</a:t>
            </a:r>
            <a:r>
              <a:rPr lang="en-US" altLang="zh-CN" sz="1800" dirty="0" smtClean="0"/>
              <a:t>180kHz~260kHz</a:t>
            </a:r>
            <a:r>
              <a:rPr lang="zh-CN" altLang="en-US" sz="1800" dirty="0" smtClean="0">
                <a:latin typeface="Times New Roman" panose="02020603050405020304" pitchFamily="18" charset="0"/>
                <a:cs typeface="Times New Roman" panose="02020603050405020304" pitchFamily="18" charset="0"/>
              </a:rPr>
              <a:t>，则压控增益为</a:t>
            </a:r>
            <a:r>
              <a:rPr lang="en-US" altLang="zh-CN" sz="1800" dirty="0" smtClean="0">
                <a:latin typeface="Times New Roman" panose="02020603050405020304" pitchFamily="18" charset="0"/>
                <a:cs typeface="Times New Roman" panose="02020603050405020304" pitchFamily="18" charset="0"/>
              </a:rPr>
              <a:t>2</a:t>
            </a:r>
            <a:r>
              <a:rPr lang="el-GR" altLang="zh-CN" sz="1800" dirty="0" smtClean="0">
                <a:latin typeface="Times New Roman" panose="02020603050405020304" pitchFamily="18" charset="0"/>
                <a:cs typeface="Times New Roman" panose="02020603050405020304" pitchFamily="18" charset="0"/>
              </a:rPr>
              <a:t>π</a:t>
            </a:r>
            <a:r>
              <a:rPr lang="en-US" altLang="zh-CN" sz="1800" dirty="0" smtClean="0">
                <a:latin typeface="Times New Roman" panose="02020603050405020304" pitchFamily="18" charset="0"/>
                <a:cs typeface="Times New Roman" panose="02020603050405020304" pitchFamily="18" charset="0"/>
              </a:rPr>
              <a:t>×40000/V</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a:p>
            <a:pPr indent="457200">
              <a:lnSpc>
                <a:spcPct val="150000"/>
              </a:lnSpc>
            </a:pPr>
            <a:r>
              <a:rPr lang="zh-CN" altLang="en-US" sz="1800" dirty="0" smtClean="0">
                <a:latin typeface="Times New Roman" panose="02020603050405020304" pitchFamily="18" charset="0"/>
                <a:cs typeface="Times New Roman" panose="02020603050405020304" pitchFamily="18" charset="0"/>
              </a:rPr>
              <a:t>据此确定</a:t>
            </a:r>
            <a:r>
              <a:rPr lang="en-US" altLang="zh-CN" sz="1800" dirty="0" smtClean="0">
                <a:latin typeface="Times New Roman" panose="02020603050405020304" pitchFamily="18" charset="0"/>
                <a:cs typeface="Times New Roman" panose="02020603050405020304" pitchFamily="18" charset="0"/>
              </a:rPr>
              <a:t>R</a:t>
            </a:r>
            <a:r>
              <a:rPr lang="en-US" altLang="zh-CN" sz="1800" baseline="-25000" dirty="0" smtClean="0">
                <a:latin typeface="Times New Roman" panose="02020603050405020304" pitchFamily="18" charset="0"/>
                <a:cs typeface="Times New Roman" panose="02020603050405020304" pitchFamily="18" charset="0"/>
              </a:rPr>
              <a:t>T1</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a:t>
            </a:r>
            <a:r>
              <a:rPr lang="en-US" altLang="zh-CN" sz="1800" baseline="-25000" dirty="0">
                <a:latin typeface="Times New Roman" panose="02020603050405020304" pitchFamily="18" charset="0"/>
                <a:cs typeface="Times New Roman" panose="02020603050405020304" pitchFamily="18" charset="0"/>
              </a:rPr>
              <a:t>T2</a:t>
            </a:r>
            <a:r>
              <a:rPr lang="zh-CN" altLang="en-US" sz="1800" dirty="0" smtClean="0">
                <a:latin typeface="Times New Roman" panose="02020603050405020304" pitchFamily="18" charset="0"/>
                <a:cs typeface="Times New Roman" panose="02020603050405020304" pitchFamily="18" charset="0"/>
              </a:rPr>
              <a:t>与</a:t>
            </a:r>
            <a:r>
              <a:rPr lang="en-US" altLang="zh-CN" sz="1800" dirty="0" smtClean="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T</a:t>
            </a:r>
            <a:r>
              <a:rPr lang="zh-CN" altLang="en-US" sz="1800" dirty="0" smtClean="0">
                <a:latin typeface="Times New Roman" panose="02020603050405020304" pitchFamily="18" charset="0"/>
                <a:cs typeface="Times New Roman" panose="02020603050405020304" pitchFamily="18" charset="0"/>
              </a:rPr>
              <a:t>。</a:t>
            </a:r>
            <a:endParaRPr lang="zh-CN" altLang="en-US" sz="1600" dirty="0"/>
          </a:p>
        </p:txBody>
      </p:sp>
    </p:spTree>
    <p:extLst>
      <p:ext uri="{BB962C8B-B14F-4D97-AF65-F5344CB8AC3E}">
        <p14:creationId xmlns:p14="http://schemas.microsoft.com/office/powerpoint/2010/main" val="95361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文本框 4"/>
          <p:cNvSpPr txBox="1"/>
          <p:nvPr/>
        </p:nvSpPr>
        <p:spPr>
          <a:xfrm>
            <a:off x="387024" y="453113"/>
            <a:ext cx="11292114"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环路滤波器</a:t>
            </a:r>
            <a:endParaRPr lang="en-US" altLang="zh-CN" sz="1800" dirty="0" smtClean="0"/>
          </a:p>
          <a:p>
            <a:pPr indent="457200">
              <a:lnSpc>
                <a:spcPct val="150000"/>
              </a:lnSpc>
            </a:pPr>
            <a:r>
              <a:rPr lang="zh-CN" altLang="zh-CN" sz="1800" dirty="0" smtClean="0"/>
              <a:t>本题的</a:t>
            </a:r>
            <a:r>
              <a:rPr lang="zh-CN" altLang="zh-CN" sz="1800" dirty="0"/>
              <a:t>环路滤波器设计具有一定的特殊性，除了阻尼因子通常取</a:t>
            </a:r>
            <a:r>
              <a:rPr lang="en-US" altLang="zh-CN" sz="1800" dirty="0"/>
              <a:t>0.7</a:t>
            </a:r>
            <a:r>
              <a:rPr lang="zh-CN" altLang="zh-CN" sz="1800" dirty="0"/>
              <a:t>左右外，其自然频率还与</a:t>
            </a:r>
            <a:r>
              <a:rPr lang="en-US" altLang="zh-CN" sz="1800" dirty="0"/>
              <a:t>m</a:t>
            </a:r>
            <a:r>
              <a:rPr lang="zh-CN" altLang="zh-CN" sz="1800" dirty="0"/>
              <a:t>序列的特性有关。</a:t>
            </a:r>
          </a:p>
          <a:p>
            <a:pPr indent="457200">
              <a:lnSpc>
                <a:spcPct val="150000"/>
              </a:lnSpc>
            </a:pPr>
            <a:r>
              <a:rPr lang="en-US" altLang="zh-CN" sz="1800" dirty="0"/>
              <a:t>m</a:t>
            </a:r>
            <a:r>
              <a:rPr lang="zh-CN" altLang="zh-CN" sz="1800" dirty="0"/>
              <a:t>序列发生器产生的是一种伪随机码。此码的特点是由</a:t>
            </a:r>
            <a:r>
              <a:rPr lang="en-US" altLang="zh-CN" sz="1800" dirty="0"/>
              <a:t>n</a:t>
            </a:r>
            <a:r>
              <a:rPr lang="zh-CN" altLang="zh-CN" sz="1800" dirty="0"/>
              <a:t>级移位寄存器产生的</a:t>
            </a:r>
            <a:r>
              <a:rPr lang="en-US" altLang="zh-CN" sz="1800" dirty="0"/>
              <a:t>m</a:t>
            </a:r>
            <a:r>
              <a:rPr lang="zh-CN" altLang="zh-CN" sz="1800" dirty="0"/>
              <a:t>序列能产生最大长度为</a:t>
            </a:r>
            <a:r>
              <a:rPr lang="en-US" altLang="zh-CN" sz="1800" dirty="0"/>
              <a:t>2</a:t>
            </a:r>
            <a:r>
              <a:rPr lang="en-US" altLang="zh-CN" sz="1800" baseline="30000" dirty="0"/>
              <a:t>n</a:t>
            </a:r>
            <a:r>
              <a:rPr lang="en-US" altLang="zh-CN" sz="1800" dirty="0"/>
              <a:t>-1</a:t>
            </a:r>
            <a:r>
              <a:rPr lang="zh-CN" altLang="zh-CN" sz="1800" dirty="0"/>
              <a:t>位的码序列，在本题中为</a:t>
            </a:r>
            <a:r>
              <a:rPr lang="en-US" altLang="zh-CN" sz="1800" dirty="0"/>
              <a:t>2</a:t>
            </a:r>
            <a:r>
              <a:rPr lang="en-US" altLang="zh-CN" sz="1800" baseline="30000" dirty="0"/>
              <a:t>8</a:t>
            </a:r>
            <a:r>
              <a:rPr lang="en-US" altLang="zh-CN" sz="1800" dirty="0"/>
              <a:t>-1=255</a:t>
            </a:r>
            <a:r>
              <a:rPr lang="zh-CN" altLang="zh-CN" sz="1800" dirty="0"/>
              <a:t>位，其中</a:t>
            </a:r>
            <a:r>
              <a:rPr lang="en-US" altLang="zh-CN" sz="1800" dirty="0"/>
              <a:t>0</a:t>
            </a:r>
            <a:r>
              <a:rPr lang="zh-CN" altLang="zh-CN" sz="1800" dirty="0"/>
              <a:t>和</a:t>
            </a:r>
            <a:r>
              <a:rPr lang="en-US" altLang="zh-CN" sz="1800" dirty="0"/>
              <a:t>1</a:t>
            </a:r>
            <a:r>
              <a:rPr lang="zh-CN" altLang="zh-CN" sz="1800" dirty="0"/>
              <a:t>的数目基本相等（一个周期中</a:t>
            </a:r>
            <a:r>
              <a:rPr lang="en-US" altLang="zh-CN" sz="1800" dirty="0"/>
              <a:t>1</a:t>
            </a:r>
            <a:r>
              <a:rPr lang="zh-CN" altLang="zh-CN" sz="1800" dirty="0"/>
              <a:t>的数目比</a:t>
            </a:r>
            <a:r>
              <a:rPr lang="en-US" altLang="zh-CN" sz="1800" dirty="0"/>
              <a:t>0</a:t>
            </a:r>
            <a:r>
              <a:rPr lang="zh-CN" altLang="zh-CN" sz="1800" dirty="0"/>
              <a:t>的数目多一个）</a:t>
            </a:r>
            <a:r>
              <a:rPr lang="zh-CN" altLang="zh-CN" sz="1800" dirty="0" smtClean="0"/>
              <a:t>。</a:t>
            </a:r>
            <a:endParaRPr lang="en-US" altLang="zh-CN" sz="1800" dirty="0" smtClean="0"/>
          </a:p>
          <a:p>
            <a:pPr indent="457200">
              <a:lnSpc>
                <a:spcPct val="150000"/>
              </a:lnSpc>
            </a:pPr>
            <a:r>
              <a:rPr lang="zh-CN" altLang="zh-CN" sz="1800" dirty="0" smtClean="0"/>
              <a:t>连续的</a:t>
            </a:r>
            <a:r>
              <a:rPr lang="en-US" altLang="zh-CN" sz="1800" dirty="0"/>
              <a:t>1</a:t>
            </a:r>
            <a:r>
              <a:rPr lang="zh-CN" altLang="zh-CN" sz="1800" dirty="0"/>
              <a:t>或者连续的</a:t>
            </a:r>
            <a:r>
              <a:rPr lang="en-US" altLang="zh-CN" sz="1800" dirty="0"/>
              <a:t>0</a:t>
            </a:r>
            <a:r>
              <a:rPr lang="zh-CN" altLang="zh-CN" sz="1800" dirty="0"/>
              <a:t>被称为游程，游程中</a:t>
            </a:r>
            <a:r>
              <a:rPr lang="en-US" altLang="zh-CN" sz="1800" dirty="0"/>
              <a:t>1</a:t>
            </a:r>
            <a:r>
              <a:rPr lang="zh-CN" altLang="zh-CN" sz="1800" dirty="0"/>
              <a:t>或</a:t>
            </a:r>
            <a:r>
              <a:rPr lang="en-US" altLang="zh-CN" sz="1800" dirty="0"/>
              <a:t>0</a:t>
            </a:r>
            <a:r>
              <a:rPr lang="zh-CN" altLang="zh-CN" sz="1800" dirty="0"/>
              <a:t>的个数称为游程长度。</a:t>
            </a:r>
            <a:r>
              <a:rPr lang="en-US" altLang="zh-CN" sz="1800" dirty="0"/>
              <a:t>n</a:t>
            </a:r>
            <a:r>
              <a:rPr lang="zh-CN" altLang="zh-CN" sz="1800" dirty="0"/>
              <a:t>级</a:t>
            </a:r>
            <a:r>
              <a:rPr lang="en-US" altLang="zh-CN" sz="1800" dirty="0"/>
              <a:t>m</a:t>
            </a:r>
            <a:r>
              <a:rPr lang="zh-CN" altLang="zh-CN" sz="1800" dirty="0"/>
              <a:t>序列的一个码序列周期中总共有</a:t>
            </a:r>
            <a:r>
              <a:rPr lang="en-US" altLang="zh-CN" sz="1800" dirty="0"/>
              <a:t>2</a:t>
            </a:r>
            <a:r>
              <a:rPr lang="en-US" altLang="zh-CN" sz="1800" baseline="30000" dirty="0"/>
              <a:t>n-1</a:t>
            </a:r>
            <a:r>
              <a:rPr lang="zh-CN" altLang="zh-CN" sz="1800" dirty="0"/>
              <a:t>个游程，其中长度为</a:t>
            </a:r>
            <a:r>
              <a:rPr lang="en-US" altLang="zh-CN" sz="1800" dirty="0"/>
              <a:t>1</a:t>
            </a:r>
            <a:r>
              <a:rPr lang="zh-CN" altLang="zh-CN" sz="1800" dirty="0"/>
              <a:t>的游程占总游程数的</a:t>
            </a:r>
            <a:r>
              <a:rPr lang="en-US" altLang="zh-CN" sz="1800" dirty="0"/>
              <a:t>1/2</a:t>
            </a:r>
            <a:r>
              <a:rPr lang="zh-CN" altLang="zh-CN" sz="1800" dirty="0"/>
              <a:t>，长度为</a:t>
            </a:r>
            <a:r>
              <a:rPr lang="en-US" altLang="zh-CN" sz="1800" dirty="0"/>
              <a:t>2</a:t>
            </a:r>
            <a:r>
              <a:rPr lang="zh-CN" altLang="zh-CN" sz="1800" dirty="0"/>
              <a:t>的游程占总游程数的</a:t>
            </a:r>
            <a:r>
              <a:rPr lang="en-US" altLang="zh-CN" sz="1800" dirty="0"/>
              <a:t>1/4</a:t>
            </a:r>
            <a:r>
              <a:rPr lang="zh-CN" altLang="zh-CN" sz="1800" dirty="0"/>
              <a:t>，</a:t>
            </a:r>
            <a:r>
              <a:rPr lang="en-US" altLang="zh-CN" sz="1800" dirty="0"/>
              <a:t>… </a:t>
            </a:r>
            <a:r>
              <a:rPr lang="zh-CN" altLang="zh-CN" sz="1800" dirty="0"/>
              <a:t>，长度为</a:t>
            </a:r>
            <a:r>
              <a:rPr lang="en-US" altLang="zh-CN" sz="1800" dirty="0"/>
              <a:t>k</a:t>
            </a:r>
            <a:r>
              <a:rPr lang="zh-CN" altLang="zh-CN" sz="1800" dirty="0"/>
              <a:t>的游程占总游程数的</a:t>
            </a:r>
            <a:r>
              <a:rPr lang="en-US" altLang="zh-CN" sz="1800" dirty="0"/>
              <a:t>1/(2k)</a:t>
            </a:r>
            <a:r>
              <a:rPr lang="zh-CN" altLang="zh-CN" sz="1800" dirty="0"/>
              <a:t>。且长度为</a:t>
            </a:r>
            <a:r>
              <a:rPr lang="en-US" altLang="zh-CN" sz="1800" dirty="0"/>
              <a:t>k</a:t>
            </a:r>
            <a:r>
              <a:rPr lang="zh-CN" altLang="zh-CN" sz="1800" dirty="0"/>
              <a:t>的游程中，连</a:t>
            </a:r>
            <a:r>
              <a:rPr lang="en-US" altLang="zh-CN" sz="1800" dirty="0"/>
              <a:t>0</a:t>
            </a:r>
            <a:r>
              <a:rPr lang="zh-CN" altLang="zh-CN" sz="1800" dirty="0"/>
              <a:t>与连</a:t>
            </a:r>
            <a:r>
              <a:rPr lang="en-US" altLang="zh-CN" sz="1800" dirty="0"/>
              <a:t>1</a:t>
            </a:r>
            <a:r>
              <a:rPr lang="zh-CN" altLang="zh-CN" sz="1800" dirty="0"/>
              <a:t>的游程数各占一半</a:t>
            </a:r>
            <a:r>
              <a:rPr lang="zh-CN" altLang="zh-CN" sz="1800" dirty="0" smtClean="0"/>
              <a:t>。</a:t>
            </a:r>
            <a:endParaRPr lang="en-US" altLang="zh-CN" sz="1800" dirty="0" smtClean="0"/>
          </a:p>
          <a:p>
            <a:pPr indent="457200">
              <a:lnSpc>
                <a:spcPct val="150000"/>
              </a:lnSpc>
            </a:pPr>
            <a:r>
              <a:rPr lang="zh-CN" altLang="zh-CN" sz="1800" dirty="0" smtClean="0"/>
              <a:t>最</a:t>
            </a:r>
            <a:r>
              <a:rPr lang="zh-CN" altLang="zh-CN" sz="1800" dirty="0"/>
              <a:t>长的游程是</a:t>
            </a:r>
            <a:r>
              <a:rPr lang="en-US" altLang="zh-CN" sz="1800" dirty="0"/>
              <a:t>n</a:t>
            </a:r>
            <a:r>
              <a:rPr lang="zh-CN" altLang="zh-CN" sz="1800" dirty="0"/>
              <a:t>个全</a:t>
            </a:r>
            <a:r>
              <a:rPr lang="en-US" altLang="zh-CN" sz="1800" dirty="0"/>
              <a:t>1</a:t>
            </a:r>
            <a:r>
              <a:rPr lang="zh-CN" altLang="zh-CN" sz="1800" dirty="0"/>
              <a:t>以及</a:t>
            </a:r>
            <a:r>
              <a:rPr lang="en-US" altLang="zh-CN" sz="1800" dirty="0"/>
              <a:t>n-1</a:t>
            </a:r>
            <a:r>
              <a:rPr lang="zh-CN" altLang="zh-CN" sz="1800" dirty="0"/>
              <a:t>个全</a:t>
            </a:r>
            <a:r>
              <a:rPr lang="en-US" altLang="zh-CN" sz="1800" dirty="0"/>
              <a:t>0</a:t>
            </a:r>
            <a:r>
              <a:rPr lang="zh-CN" altLang="zh-CN" sz="1800" dirty="0" smtClean="0"/>
              <a:t>。</a:t>
            </a:r>
            <a:endParaRPr lang="en-US" altLang="zh-CN" sz="1800" dirty="0" smtClean="0"/>
          </a:p>
          <a:p>
            <a:pPr indent="457200">
              <a:lnSpc>
                <a:spcPct val="150000"/>
              </a:lnSpc>
            </a:pPr>
            <a:r>
              <a:rPr lang="zh-CN" altLang="zh-CN" sz="1800" dirty="0"/>
              <a:t>当</a:t>
            </a:r>
            <a:r>
              <a:rPr lang="en-US" altLang="zh-CN" sz="1800" dirty="0"/>
              <a:t>m</a:t>
            </a:r>
            <a:r>
              <a:rPr lang="zh-CN" altLang="zh-CN" sz="1800" dirty="0"/>
              <a:t>序列中长度大于</a:t>
            </a:r>
            <a:r>
              <a:rPr lang="en-US" altLang="zh-CN" sz="1800" dirty="0"/>
              <a:t>1</a:t>
            </a:r>
            <a:r>
              <a:rPr lang="zh-CN" altLang="zh-CN" sz="1800" dirty="0"/>
              <a:t>的游程出现时，由于输入信号在大于</a:t>
            </a:r>
            <a:r>
              <a:rPr lang="en-US" altLang="zh-CN" sz="1800" dirty="0"/>
              <a:t>1</a:t>
            </a:r>
            <a:r>
              <a:rPr lang="zh-CN" altLang="zh-CN" sz="1800" dirty="0"/>
              <a:t>个时钟周期的时间内保持连续不变，所以边沿提取电路输出的边沿脉冲信号将出现缺失。本题的</a:t>
            </a:r>
            <a:r>
              <a:rPr lang="en-US" altLang="zh-CN" sz="1800" dirty="0"/>
              <a:t>m</a:t>
            </a:r>
            <a:r>
              <a:rPr lang="zh-CN" altLang="zh-CN" sz="1800" dirty="0"/>
              <a:t>序列的最长游程是</a:t>
            </a:r>
            <a:r>
              <a:rPr lang="en-US" altLang="zh-CN" sz="1800" dirty="0"/>
              <a:t>8</a:t>
            </a:r>
            <a:r>
              <a:rPr lang="zh-CN" altLang="zh-CN" sz="1800" dirty="0"/>
              <a:t>个</a:t>
            </a:r>
            <a:r>
              <a:rPr lang="en-US" altLang="zh-CN" sz="1800" dirty="0"/>
              <a:t>1</a:t>
            </a:r>
            <a:r>
              <a:rPr lang="zh-CN" altLang="zh-CN" sz="1800" dirty="0"/>
              <a:t>，即可能会有</a:t>
            </a:r>
            <a:r>
              <a:rPr lang="en-US" altLang="zh-CN" sz="1800" dirty="0"/>
              <a:t>8</a:t>
            </a:r>
            <a:r>
              <a:rPr lang="zh-CN" altLang="zh-CN" sz="1800" dirty="0"/>
              <a:t>个时钟周期内锁相环</a:t>
            </a:r>
            <a:r>
              <a:rPr lang="zh-CN" altLang="zh-CN" sz="1800" dirty="0" smtClean="0"/>
              <a:t>得不到边沿</a:t>
            </a:r>
            <a:r>
              <a:rPr lang="zh-CN" altLang="zh-CN" sz="1800" dirty="0"/>
              <a:t>脉冲信号</a:t>
            </a:r>
            <a:r>
              <a:rPr lang="zh-CN" altLang="zh-CN" sz="1800" dirty="0" smtClean="0"/>
              <a:t>。</a:t>
            </a:r>
            <a:endParaRPr lang="en-US" altLang="zh-CN" sz="1800" dirty="0" smtClean="0"/>
          </a:p>
          <a:p>
            <a:pPr indent="457200">
              <a:lnSpc>
                <a:spcPct val="150000"/>
              </a:lnSpc>
            </a:pPr>
            <a:r>
              <a:rPr lang="zh-CN" altLang="en-US" sz="1800" dirty="0" smtClean="0"/>
              <a:t>当</a:t>
            </a:r>
            <a:r>
              <a:rPr lang="zh-CN" altLang="en-US" sz="1800" dirty="0"/>
              <a:t>出现连续</a:t>
            </a:r>
            <a:r>
              <a:rPr lang="en-US" altLang="zh-CN" sz="1800" dirty="0"/>
              <a:t>1</a:t>
            </a:r>
            <a:r>
              <a:rPr lang="zh-CN" altLang="en-US" sz="1800" dirty="0"/>
              <a:t>或连续</a:t>
            </a:r>
            <a:r>
              <a:rPr lang="en-US" altLang="zh-CN" sz="1800" dirty="0"/>
              <a:t>0</a:t>
            </a:r>
            <a:r>
              <a:rPr lang="zh-CN" altLang="en-US" sz="1800" dirty="0"/>
              <a:t>时，由于缺乏边沿信息，送到鉴相器的输入脉冲出现空缺，此时的锁相环输出频率将出现漂移，等下一个边沿信息到来时，锁相环又要重新回到原先的锁定状态，结果就造成输出的</a:t>
            </a:r>
            <a:r>
              <a:rPr lang="zh-CN" altLang="en-US" sz="1800" dirty="0" smtClean="0"/>
              <a:t>相位抖动。</a:t>
            </a:r>
            <a:endParaRPr lang="zh-CN" altLang="en-US" sz="1800" dirty="0"/>
          </a:p>
        </p:txBody>
      </p:sp>
    </p:spTree>
    <p:extLst>
      <p:ext uri="{BB962C8B-B14F-4D97-AF65-F5344CB8AC3E}">
        <p14:creationId xmlns:p14="http://schemas.microsoft.com/office/powerpoint/2010/main" val="1420127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6" name="文本框 5"/>
          <p:cNvSpPr txBox="1"/>
          <p:nvPr/>
        </p:nvSpPr>
        <p:spPr>
          <a:xfrm>
            <a:off x="391886" y="435429"/>
            <a:ext cx="11371943" cy="5216813"/>
          </a:xfrm>
          <a:prstGeom prst="rect">
            <a:avLst/>
          </a:prstGeom>
          <a:noFill/>
        </p:spPr>
        <p:txBody>
          <a:bodyPr wrap="square" rtlCol="0">
            <a:spAutoFit/>
          </a:bodyPr>
          <a:lstStyle/>
          <a:p>
            <a:pPr indent="457200">
              <a:lnSpc>
                <a:spcPct val="150000"/>
              </a:lnSpc>
            </a:pPr>
            <a:r>
              <a:rPr lang="zh-CN" altLang="zh-CN" sz="1800" dirty="0"/>
              <a:t>下图是鉴相器与环路滤波器工作状态的示意图。</a:t>
            </a:r>
            <a:r>
              <a:rPr lang="en-US" altLang="zh-CN" sz="1800" dirty="0"/>
              <a:t>PFD</a:t>
            </a:r>
            <a:r>
              <a:rPr lang="zh-CN" altLang="zh-CN" sz="1800" dirty="0"/>
              <a:t>鉴相器根据输入信号脉冲的上升沿触发，在正常锁定状态，锁相环的输出与输入同频，也就是说</a:t>
            </a:r>
            <a:r>
              <a:rPr lang="en-US" altLang="zh-CN" sz="1800" dirty="0"/>
              <a:t>PFD</a:t>
            </a:r>
            <a:r>
              <a:rPr lang="zh-CN" altLang="zh-CN" sz="1800" dirty="0"/>
              <a:t>会同时得到输入信号脉冲与锁相环的输出反馈的两个上升沿，其输出为高阻状态（图中虚线），环路滤波器的输出保持不变</a:t>
            </a:r>
            <a:r>
              <a:rPr lang="zh-CN" altLang="zh-CN"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zh-CN" sz="1800" dirty="0"/>
              <a:t>但是一旦输入出现连续</a:t>
            </a:r>
            <a:r>
              <a:rPr lang="en-US" altLang="zh-CN" sz="1800" dirty="0"/>
              <a:t>1</a:t>
            </a:r>
            <a:r>
              <a:rPr lang="zh-CN" altLang="zh-CN" sz="1800" dirty="0"/>
              <a:t>或者连续</a:t>
            </a:r>
            <a:r>
              <a:rPr lang="en-US" altLang="zh-CN" sz="1800" dirty="0"/>
              <a:t>0</a:t>
            </a:r>
            <a:r>
              <a:rPr lang="zh-CN" altLang="zh-CN" sz="1800" dirty="0"/>
              <a:t>的情况，输入信号边沿脉冲缺失，</a:t>
            </a:r>
            <a:r>
              <a:rPr lang="en-US" altLang="zh-CN" sz="1800" dirty="0"/>
              <a:t>PFD</a:t>
            </a:r>
            <a:r>
              <a:rPr lang="zh-CN" altLang="zh-CN" sz="1800" dirty="0"/>
              <a:t>就仅有反馈信号而没有输入信号。在这种情况下，</a:t>
            </a:r>
            <a:r>
              <a:rPr lang="en-US" altLang="zh-CN" sz="1800" dirty="0"/>
              <a:t>PFD</a:t>
            </a:r>
            <a:r>
              <a:rPr lang="zh-CN" altLang="zh-CN" sz="1800" dirty="0"/>
              <a:t>的输出将直接跳变为其</a:t>
            </a:r>
            <a:r>
              <a:rPr lang="zh-CN" altLang="zh-CN" sz="1800" dirty="0" smtClean="0"/>
              <a:t>输出</a:t>
            </a:r>
            <a:r>
              <a:rPr lang="zh-CN" altLang="en-US" sz="1800" dirty="0" smtClean="0"/>
              <a:t>低</a:t>
            </a:r>
            <a:r>
              <a:rPr lang="zh-CN" altLang="zh-CN" sz="1800" dirty="0" smtClean="0"/>
              <a:t>电平</a:t>
            </a:r>
            <a:r>
              <a:rPr lang="zh-CN" altLang="zh-CN" sz="1800" dirty="0"/>
              <a:t>并保持到下一个边沿脉冲出现。此情况下环路滤波器得到一个阶跃输入电压，其输出将按照指数</a:t>
            </a:r>
            <a:r>
              <a:rPr lang="zh-CN" altLang="zh-CN" sz="1800" dirty="0" smtClean="0"/>
              <a:t>规律</a:t>
            </a:r>
            <a:r>
              <a:rPr lang="zh-CN" altLang="en-US" sz="1800" dirty="0" smtClean="0"/>
              <a:t>下降</a:t>
            </a:r>
            <a:r>
              <a:rPr lang="zh-CN" altLang="zh-CN" sz="1800" dirty="0" smtClean="0"/>
              <a:t>。</a:t>
            </a:r>
            <a:endParaRPr lang="zh-CN" altLang="en-US" sz="1400" dirty="0"/>
          </a:p>
        </p:txBody>
      </p:sp>
      <p:graphicFrame>
        <p:nvGraphicFramePr>
          <p:cNvPr id="10" name="对象 9"/>
          <p:cNvGraphicFramePr>
            <a:graphicFrameLocks noChangeAspect="1"/>
          </p:cNvGraphicFramePr>
          <p:nvPr>
            <p:extLst>
              <p:ext uri="{D42A27DB-BD31-4B8C-83A1-F6EECF244321}">
                <p14:modId xmlns:p14="http://schemas.microsoft.com/office/powerpoint/2010/main" val="3981278173"/>
              </p:ext>
            </p:extLst>
          </p:nvPr>
        </p:nvGraphicFramePr>
        <p:xfrm>
          <a:off x="1089782" y="1901371"/>
          <a:ext cx="8783036" cy="1966685"/>
        </p:xfrm>
        <a:graphic>
          <a:graphicData uri="http://schemas.openxmlformats.org/presentationml/2006/ole">
            <mc:AlternateContent xmlns:mc="http://schemas.openxmlformats.org/markup-compatibility/2006">
              <mc:Choice xmlns:v="urn:schemas-microsoft-com:vml" Requires="v">
                <p:oleObj spid="_x0000_s31768" name="Visio" r:id="rId3" imgW="4984561" imgH="1117239" progId="Visio.Drawing.15">
                  <p:embed/>
                </p:oleObj>
              </mc:Choice>
              <mc:Fallback>
                <p:oleObj name="Visio" r:id="rId3" imgW="4984561" imgH="1117239" progId="Visio.Drawing.15">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782" y="1901371"/>
                        <a:ext cx="8783036" cy="1966685"/>
                      </a:xfrm>
                      <a:prstGeom prst="rect">
                        <a:avLst/>
                      </a:prstGeom>
                      <a:noFill/>
                    </p:spPr>
                  </p:pic>
                </p:oleObj>
              </mc:Fallback>
            </mc:AlternateContent>
          </a:graphicData>
        </a:graphic>
      </p:graphicFrame>
    </p:spTree>
    <p:extLst>
      <p:ext uri="{BB962C8B-B14F-4D97-AF65-F5344CB8AC3E}">
        <p14:creationId xmlns:p14="http://schemas.microsoft.com/office/powerpoint/2010/main" val="96945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384629" y="442686"/>
            <a:ext cx="11335657" cy="5493812"/>
          </a:xfrm>
          <a:prstGeom prst="rect">
            <a:avLst/>
          </a:prstGeom>
          <a:noFill/>
        </p:spPr>
        <p:txBody>
          <a:bodyPr wrap="square" rtlCol="0">
            <a:spAutoFit/>
          </a:bodyPr>
          <a:lstStyle/>
          <a:p>
            <a:pPr indent="457200">
              <a:lnSpc>
                <a:spcPct val="150000"/>
              </a:lnSpc>
            </a:pPr>
            <a:r>
              <a:rPr lang="zh-CN" altLang="zh-CN" sz="1800" dirty="0">
                <a:latin typeface="+mn-ea"/>
                <a:ea typeface="+mn-ea"/>
              </a:rPr>
              <a:t>对于超前滞后型环路滤波器，其输出</a:t>
            </a:r>
            <a:r>
              <a:rPr lang="zh-CN" altLang="zh-CN" sz="1800" dirty="0" smtClean="0">
                <a:latin typeface="+mn-ea"/>
                <a:ea typeface="+mn-ea"/>
              </a:rPr>
              <a:t>电压</a:t>
            </a:r>
            <a:r>
              <a:rPr lang="zh-CN" altLang="en-US" sz="1800" dirty="0" smtClean="0">
                <a:latin typeface="+mn-ea"/>
                <a:ea typeface="+mn-ea"/>
              </a:rPr>
              <a:t>如下，其中</a:t>
            </a:r>
            <a:r>
              <a:rPr lang="el-GR" altLang="zh-CN" sz="1800" i="1" dirty="0" smtClean="0">
                <a:latin typeface="+mn-lt"/>
                <a:ea typeface="+mn-ea"/>
              </a:rPr>
              <a:t>V</a:t>
            </a:r>
            <a:r>
              <a:rPr lang="el-GR" altLang="zh-CN" sz="1800" i="1" baseline="-25000" dirty="0" smtClean="0">
                <a:latin typeface="+mn-lt"/>
                <a:ea typeface="+mn-ea"/>
              </a:rPr>
              <a:t>S</a:t>
            </a:r>
            <a:r>
              <a:rPr lang="zh-CN" altLang="zh-CN" sz="1800" dirty="0">
                <a:latin typeface="+mn-ea"/>
                <a:ea typeface="+mn-ea"/>
              </a:rPr>
              <a:t>是环路滤波器得到的阶跃输入</a:t>
            </a:r>
            <a:r>
              <a:rPr lang="zh-CN" altLang="zh-CN" sz="1800" dirty="0" smtClean="0">
                <a:latin typeface="+mn-ea"/>
                <a:ea typeface="+mn-ea"/>
              </a:rPr>
              <a:t>电压</a:t>
            </a:r>
            <a:r>
              <a:rPr lang="zh-CN" altLang="en-US" sz="1800" dirty="0" smtClean="0">
                <a:latin typeface="+mn-ea"/>
                <a:ea typeface="+mn-ea"/>
              </a:rPr>
              <a:t>幅度</a:t>
            </a:r>
            <a:r>
              <a:rPr lang="zh-CN" altLang="zh-CN" sz="1800" dirty="0" smtClean="0">
                <a:latin typeface="+mn-ea"/>
                <a:ea typeface="+mn-ea"/>
              </a:rPr>
              <a:t>，</a:t>
            </a:r>
            <a:r>
              <a:rPr lang="en-US" altLang="zh-CN" sz="1800" i="1" dirty="0">
                <a:latin typeface="+mn-lt"/>
                <a:ea typeface="+mn-ea"/>
              </a:rPr>
              <a:t>V</a:t>
            </a:r>
            <a:r>
              <a:rPr lang="en-US" altLang="zh-CN" sz="1800" dirty="0">
                <a:latin typeface="+mn-lt"/>
                <a:ea typeface="+mn-ea"/>
              </a:rPr>
              <a:t>(0)</a:t>
            </a:r>
            <a:r>
              <a:rPr lang="zh-CN" altLang="zh-CN" sz="1800" dirty="0">
                <a:latin typeface="+mn-ea"/>
                <a:ea typeface="+mn-ea"/>
              </a:rPr>
              <a:t>是阶跃输入发生前的环路滤波器输出电压</a:t>
            </a:r>
          </a:p>
          <a:p>
            <a:pPr indent="457200">
              <a:lnSpc>
                <a:spcPct val="150000"/>
              </a:lnSpc>
            </a:pPr>
            <a:endParaRPr lang="en-US" altLang="zh-CN" sz="1800" dirty="0" smtClean="0">
              <a:latin typeface="+mn-ea"/>
              <a:ea typeface="+mn-ea"/>
            </a:endParaRPr>
          </a:p>
          <a:p>
            <a:pPr indent="457200">
              <a:lnSpc>
                <a:spcPct val="150000"/>
              </a:lnSpc>
            </a:pPr>
            <a:endParaRPr lang="en-US" altLang="zh-CN" sz="1800" dirty="0">
              <a:latin typeface="+mn-ea"/>
              <a:ea typeface="+mn-ea"/>
            </a:endParaRPr>
          </a:p>
          <a:p>
            <a:pPr indent="457200">
              <a:lnSpc>
                <a:spcPct val="150000"/>
              </a:lnSpc>
            </a:pPr>
            <a:r>
              <a:rPr lang="zh-CN" altLang="zh-CN" sz="1800" dirty="0">
                <a:latin typeface="+mn-ea"/>
                <a:ea typeface="+mn-ea"/>
              </a:rPr>
              <a:t>考虑到出现连续</a:t>
            </a:r>
            <a:r>
              <a:rPr lang="en-US" altLang="zh-CN" sz="1800" dirty="0">
                <a:latin typeface="+mn-ea"/>
                <a:ea typeface="+mn-ea"/>
              </a:rPr>
              <a:t>1</a:t>
            </a:r>
            <a:r>
              <a:rPr lang="zh-CN" altLang="zh-CN" sz="1800" dirty="0">
                <a:latin typeface="+mn-ea"/>
                <a:ea typeface="+mn-ea"/>
              </a:rPr>
              <a:t>或连续</a:t>
            </a:r>
            <a:r>
              <a:rPr lang="en-US" altLang="zh-CN" sz="1800" dirty="0">
                <a:latin typeface="+mn-ea"/>
                <a:ea typeface="+mn-ea"/>
              </a:rPr>
              <a:t>0</a:t>
            </a:r>
            <a:r>
              <a:rPr lang="zh-CN" altLang="zh-CN" sz="1800" dirty="0">
                <a:latin typeface="+mn-ea"/>
                <a:ea typeface="+mn-ea"/>
              </a:rPr>
              <a:t>的</a:t>
            </a:r>
            <a:r>
              <a:rPr lang="zh-CN" altLang="zh-CN" sz="1800" dirty="0" smtClean="0">
                <a:latin typeface="+mn-ea"/>
                <a:ea typeface="+mn-ea"/>
              </a:rPr>
              <a:t>时间通常</a:t>
            </a:r>
            <a:r>
              <a:rPr lang="zh-CN" altLang="zh-CN" sz="1800" dirty="0">
                <a:latin typeface="+mn-ea"/>
                <a:ea typeface="+mn-ea"/>
              </a:rPr>
              <a:t>总是远小于环路滤波器的时间常数（否则锁相环将无法锁定），即有</a:t>
            </a:r>
            <a:r>
              <a:rPr lang="en-US" altLang="zh-CN" sz="1800" i="1" dirty="0">
                <a:latin typeface="+mn-lt"/>
                <a:ea typeface="+mn-ea"/>
              </a:rPr>
              <a:t>t</a:t>
            </a:r>
            <a:r>
              <a:rPr lang="en-US" altLang="zh-CN" sz="1800" dirty="0">
                <a:latin typeface="+mn-lt"/>
                <a:ea typeface="+mn-ea"/>
              </a:rPr>
              <a:t>&lt;&lt;(</a:t>
            </a:r>
            <a:r>
              <a:rPr lang="en-US" altLang="zh-CN" sz="1800" i="1" dirty="0">
                <a:latin typeface="+mn-lt"/>
                <a:ea typeface="+mn-ea"/>
              </a:rPr>
              <a:t>R</a:t>
            </a:r>
            <a:r>
              <a:rPr lang="en-US" altLang="zh-CN" sz="1800" baseline="-25000" dirty="0">
                <a:latin typeface="+mn-lt"/>
                <a:ea typeface="+mn-ea"/>
              </a:rPr>
              <a:t>1</a:t>
            </a:r>
            <a:r>
              <a:rPr lang="en-US" altLang="zh-CN" sz="1800" dirty="0">
                <a:latin typeface="+mn-lt"/>
                <a:ea typeface="+mn-ea"/>
              </a:rPr>
              <a:t>+</a:t>
            </a:r>
            <a:r>
              <a:rPr lang="en-US" altLang="zh-CN" sz="1800" i="1" dirty="0">
                <a:latin typeface="+mn-lt"/>
                <a:ea typeface="+mn-ea"/>
              </a:rPr>
              <a:t>R</a:t>
            </a:r>
            <a:r>
              <a:rPr lang="en-US" altLang="zh-CN" sz="1800" baseline="-25000" dirty="0">
                <a:latin typeface="+mn-lt"/>
                <a:ea typeface="+mn-ea"/>
              </a:rPr>
              <a:t>2</a:t>
            </a:r>
            <a:r>
              <a:rPr lang="en-US" altLang="zh-CN" sz="1800" dirty="0">
                <a:latin typeface="+mn-lt"/>
                <a:ea typeface="+mn-ea"/>
              </a:rPr>
              <a:t>)</a:t>
            </a:r>
            <a:r>
              <a:rPr lang="en-US" altLang="zh-CN" sz="1800" i="1" dirty="0">
                <a:latin typeface="+mn-lt"/>
                <a:ea typeface="+mn-ea"/>
              </a:rPr>
              <a:t>C</a:t>
            </a:r>
            <a:r>
              <a:rPr lang="zh-CN" altLang="zh-CN" sz="1800" dirty="0" smtClean="0">
                <a:latin typeface="+mn-ea"/>
                <a:ea typeface="+mn-ea"/>
              </a:rPr>
              <a:t>，</a:t>
            </a:r>
            <a:r>
              <a:rPr lang="zh-CN" altLang="en-US" sz="1800" dirty="0" smtClean="0">
                <a:latin typeface="+mn-ea"/>
                <a:ea typeface="+mn-ea"/>
              </a:rPr>
              <a:t>且</a:t>
            </a:r>
            <a:r>
              <a:rPr lang="zh-CN" altLang="zh-CN" sz="1800" dirty="0" smtClean="0">
                <a:latin typeface="+mn-ea"/>
                <a:ea typeface="+mn-ea"/>
              </a:rPr>
              <a:t>大部分</a:t>
            </a:r>
            <a:r>
              <a:rPr lang="zh-CN" altLang="zh-CN" sz="1800" dirty="0">
                <a:latin typeface="+mn-ea"/>
                <a:ea typeface="+mn-ea"/>
              </a:rPr>
              <a:t>锁相环的环路滤波器</a:t>
            </a:r>
            <a:r>
              <a:rPr lang="zh-CN" altLang="zh-CN" sz="1800" dirty="0" smtClean="0">
                <a:latin typeface="+mn-ea"/>
                <a:ea typeface="+mn-ea"/>
              </a:rPr>
              <a:t>都有</a:t>
            </a:r>
            <a:r>
              <a:rPr lang="en-US" altLang="zh-CN" sz="1800" i="1" dirty="0">
                <a:latin typeface="+mn-lt"/>
                <a:ea typeface="+mn-ea"/>
              </a:rPr>
              <a:t>R</a:t>
            </a:r>
            <a:r>
              <a:rPr lang="en-US" altLang="zh-CN" sz="1800" baseline="-25000" dirty="0">
                <a:latin typeface="+mn-lt"/>
                <a:ea typeface="+mn-ea"/>
              </a:rPr>
              <a:t>2</a:t>
            </a:r>
            <a:r>
              <a:rPr lang="en-US" altLang="zh-CN" sz="1800" dirty="0">
                <a:latin typeface="+mn-lt"/>
                <a:ea typeface="+mn-ea"/>
              </a:rPr>
              <a:t>&lt;&lt;</a:t>
            </a:r>
            <a:r>
              <a:rPr lang="en-US" altLang="zh-CN" sz="1800" i="1" dirty="0" smtClean="0">
                <a:latin typeface="+mn-lt"/>
                <a:ea typeface="+mn-ea"/>
              </a:rPr>
              <a:t>R</a:t>
            </a:r>
            <a:r>
              <a:rPr lang="en-US" altLang="zh-CN" sz="1800" baseline="-25000" dirty="0" smtClean="0">
                <a:latin typeface="+mn-lt"/>
                <a:ea typeface="+mn-ea"/>
              </a:rPr>
              <a:t>1</a:t>
            </a:r>
            <a:r>
              <a:rPr lang="zh-CN" altLang="en-US" sz="1800" dirty="0">
                <a:latin typeface="+mn-lt"/>
                <a:ea typeface="+mn-ea"/>
              </a:rPr>
              <a:t> </a:t>
            </a:r>
            <a:r>
              <a:rPr lang="zh-CN" altLang="en-US" sz="1800" dirty="0">
                <a:latin typeface="+mn-ea"/>
                <a:ea typeface="+mn-ea"/>
              </a:rPr>
              <a:t>，</a:t>
            </a:r>
            <a:r>
              <a:rPr lang="zh-CN" altLang="en-US" sz="1800" dirty="0" smtClean="0">
                <a:latin typeface="+mn-ea"/>
                <a:ea typeface="+mn-ea"/>
              </a:rPr>
              <a:t>可以将上式简化为</a:t>
            </a:r>
            <a:endParaRPr lang="en-US" altLang="zh-CN" sz="1800" dirty="0" smtClean="0">
              <a:latin typeface="+mn-ea"/>
              <a:ea typeface="+mn-ea"/>
            </a:endParaRPr>
          </a:p>
          <a:p>
            <a:pPr indent="457200">
              <a:lnSpc>
                <a:spcPct val="150000"/>
              </a:lnSpc>
            </a:pPr>
            <a:endParaRPr lang="en-US" altLang="zh-CN" sz="1800" dirty="0">
              <a:latin typeface="+mn-ea"/>
              <a:ea typeface="+mn-ea"/>
            </a:endParaRPr>
          </a:p>
          <a:p>
            <a:pPr indent="457200">
              <a:lnSpc>
                <a:spcPct val="150000"/>
              </a:lnSpc>
            </a:pPr>
            <a:endParaRPr lang="en-US" altLang="zh-CN" sz="1800" dirty="0" smtClean="0">
              <a:latin typeface="+mn-ea"/>
              <a:ea typeface="+mn-ea"/>
            </a:endParaRPr>
          </a:p>
          <a:p>
            <a:pPr>
              <a:lnSpc>
                <a:spcPct val="150000"/>
              </a:lnSpc>
            </a:pPr>
            <a:r>
              <a:rPr lang="zh-CN" altLang="en-US" sz="1800" dirty="0" smtClean="0">
                <a:latin typeface="+mn-ea"/>
                <a:ea typeface="+mn-ea"/>
              </a:rPr>
              <a:t>即把指数变化近似为线性变化。</a:t>
            </a:r>
            <a:endParaRPr lang="en-US" altLang="zh-CN" sz="1800" dirty="0" smtClean="0">
              <a:latin typeface="+mn-ea"/>
              <a:ea typeface="+mn-ea"/>
            </a:endParaRPr>
          </a:p>
          <a:p>
            <a:pPr indent="457200">
              <a:lnSpc>
                <a:spcPct val="150000"/>
              </a:lnSpc>
            </a:pPr>
            <a:r>
              <a:rPr lang="zh-CN" altLang="zh-CN" sz="1800" dirty="0" smtClean="0"/>
              <a:t>在这个</a:t>
            </a:r>
            <a:r>
              <a:rPr lang="zh-CN" altLang="en-US" sz="1800" dirty="0" smtClean="0"/>
              <a:t>下降</a:t>
            </a:r>
            <a:r>
              <a:rPr lang="zh-CN" altLang="zh-CN" sz="1800" dirty="0" smtClean="0"/>
              <a:t>电压控制</a:t>
            </a:r>
            <a:r>
              <a:rPr lang="zh-CN" altLang="zh-CN" sz="1800" dirty="0"/>
              <a:t>下，</a:t>
            </a:r>
            <a:r>
              <a:rPr lang="en-US" altLang="zh-CN" sz="1800" dirty="0"/>
              <a:t>VCO</a:t>
            </a:r>
            <a:r>
              <a:rPr lang="zh-CN" altLang="zh-CN" sz="1800" dirty="0"/>
              <a:t>的输出</a:t>
            </a:r>
            <a:r>
              <a:rPr lang="zh-CN" altLang="zh-CN" sz="1800" dirty="0" smtClean="0"/>
              <a:t>相位</a:t>
            </a:r>
            <a:r>
              <a:rPr lang="zh-CN" altLang="en-US" sz="1800" dirty="0" smtClean="0"/>
              <a:t>变化量</a:t>
            </a:r>
            <a:r>
              <a:rPr lang="zh-CN" altLang="zh-CN" sz="1800" dirty="0" smtClean="0"/>
              <a:t>为</a:t>
            </a:r>
            <a:endParaRPr lang="en-US" altLang="zh-CN" sz="1800" dirty="0" smtClean="0"/>
          </a:p>
          <a:p>
            <a:pPr indent="457200">
              <a:lnSpc>
                <a:spcPct val="150000"/>
              </a:lnSpc>
            </a:pPr>
            <a:endParaRPr lang="en-US" altLang="zh-CN" sz="1800" dirty="0">
              <a:latin typeface="+mn-ea"/>
              <a:ea typeface="+mn-ea"/>
            </a:endParaRPr>
          </a:p>
          <a:p>
            <a:pPr indent="457200">
              <a:lnSpc>
                <a:spcPct val="150000"/>
              </a:lnSpc>
            </a:pPr>
            <a:endParaRPr lang="en-US" altLang="zh-CN" sz="1800" dirty="0" smtClean="0">
              <a:latin typeface="+mn-ea"/>
              <a:ea typeface="+mn-ea"/>
            </a:endParaRPr>
          </a:p>
          <a:p>
            <a:pPr indent="457200">
              <a:lnSpc>
                <a:spcPct val="150000"/>
              </a:lnSpc>
            </a:pPr>
            <a:r>
              <a:rPr lang="zh-CN" altLang="zh-CN" sz="1800" dirty="0"/>
              <a:t>这个相位变化量就是锁相环的输出相位抖动</a:t>
            </a:r>
            <a:r>
              <a:rPr lang="zh-CN" altLang="zh-CN" sz="1800" dirty="0" smtClean="0"/>
              <a:t>。</a:t>
            </a:r>
            <a:endParaRPr lang="zh-CN"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346933041"/>
              </p:ext>
            </p:extLst>
          </p:nvPr>
        </p:nvGraphicFramePr>
        <p:xfrm>
          <a:off x="3413240" y="1373569"/>
          <a:ext cx="5278433" cy="689428"/>
        </p:xfrm>
        <a:graphic>
          <a:graphicData uri="http://schemas.openxmlformats.org/presentationml/2006/ole">
            <mc:AlternateContent xmlns:mc="http://schemas.openxmlformats.org/markup-compatibility/2006">
              <mc:Choice xmlns:v="urn:schemas-microsoft-com:vml" Requires="v">
                <p:oleObj spid="_x0000_s32833" name="Equation" r:id="rId3" imgW="3111500" imgH="406400" progId="Equation.DSMT4">
                  <p:embed/>
                </p:oleObj>
              </mc:Choice>
              <mc:Fallback>
                <p:oleObj name="Equation" r:id="rId3" imgW="3111500" imgH="4064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3240" y="1373569"/>
                        <a:ext cx="5278433" cy="689428"/>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611567750"/>
              </p:ext>
            </p:extLst>
          </p:nvPr>
        </p:nvGraphicFramePr>
        <p:xfrm>
          <a:off x="4696707" y="2993879"/>
          <a:ext cx="2711500" cy="685913"/>
        </p:xfrm>
        <a:graphic>
          <a:graphicData uri="http://schemas.openxmlformats.org/presentationml/2006/ole">
            <mc:AlternateContent xmlns:mc="http://schemas.openxmlformats.org/markup-compatibility/2006">
              <mc:Choice xmlns:v="urn:schemas-microsoft-com:vml" Requires="v">
                <p:oleObj spid="_x0000_s32834" name="Equation" r:id="rId5" imgW="1612900" imgH="406400" progId="Equation.DSMT4">
                  <p:embed/>
                </p:oleObj>
              </mc:Choice>
              <mc:Fallback>
                <p:oleObj name="Equation" r:id="rId5" imgW="1612900" imgH="4064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6707" y="2993879"/>
                        <a:ext cx="2711500" cy="68591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737131384"/>
              </p:ext>
            </p:extLst>
          </p:nvPr>
        </p:nvGraphicFramePr>
        <p:xfrm>
          <a:off x="3762375" y="4610100"/>
          <a:ext cx="4840288" cy="742950"/>
        </p:xfrm>
        <a:graphic>
          <a:graphicData uri="http://schemas.openxmlformats.org/presentationml/2006/ole">
            <mc:AlternateContent xmlns:mc="http://schemas.openxmlformats.org/markup-compatibility/2006">
              <mc:Choice xmlns:v="urn:schemas-microsoft-com:vml" Requires="v">
                <p:oleObj spid="_x0000_s32835" name="Equation" r:id="rId7" imgW="2730240" imgH="419040" progId="Equation.DSMT4">
                  <p:embed/>
                </p:oleObj>
              </mc:Choice>
              <mc:Fallback>
                <p:oleObj name="Equation" r:id="rId7" imgW="2730240" imgH="419040" progId="Equation.DSMT4">
                  <p:embed/>
                  <p:pic>
                    <p:nvPicPr>
                      <p:cNvPr id="0" name=""/>
                      <p:cNvPicPr/>
                      <p:nvPr/>
                    </p:nvPicPr>
                    <p:blipFill>
                      <a:blip r:embed="rId8"/>
                      <a:stretch>
                        <a:fillRect/>
                      </a:stretch>
                    </p:blipFill>
                    <p:spPr>
                      <a:xfrm>
                        <a:off x="3762375" y="4610100"/>
                        <a:ext cx="4840288" cy="742950"/>
                      </a:xfrm>
                      <a:prstGeom prst="rect">
                        <a:avLst/>
                      </a:prstGeom>
                    </p:spPr>
                  </p:pic>
                </p:oleObj>
              </mc:Fallback>
            </mc:AlternateContent>
          </a:graphicData>
        </a:graphic>
      </p:graphicFrame>
    </p:spTree>
    <p:extLst>
      <p:ext uri="{BB962C8B-B14F-4D97-AF65-F5344CB8AC3E}">
        <p14:creationId xmlns:p14="http://schemas.microsoft.com/office/powerpoint/2010/main" val="1039408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12" name="文本框 11"/>
          <p:cNvSpPr txBox="1"/>
          <p:nvPr/>
        </p:nvSpPr>
        <p:spPr>
          <a:xfrm>
            <a:off x="420914" y="471714"/>
            <a:ext cx="11234057" cy="2215991"/>
          </a:xfrm>
          <a:prstGeom prst="rect">
            <a:avLst/>
          </a:prstGeom>
          <a:noFill/>
        </p:spPr>
        <p:txBody>
          <a:bodyPr wrap="square" rtlCol="0">
            <a:spAutoFit/>
          </a:bodyPr>
          <a:lstStyle/>
          <a:p>
            <a:pPr indent="457200">
              <a:lnSpc>
                <a:spcPct val="150000"/>
              </a:lnSpc>
            </a:pPr>
            <a:r>
              <a:rPr lang="zh-CN" altLang="zh-CN" sz="1800" dirty="0"/>
              <a:t>若输入连续</a:t>
            </a:r>
            <a:r>
              <a:rPr lang="en-US" altLang="zh-CN" sz="1800" i="1" dirty="0"/>
              <a:t>n</a:t>
            </a:r>
            <a:r>
              <a:rPr lang="zh-CN" altLang="zh-CN" sz="1800" dirty="0"/>
              <a:t>个</a:t>
            </a:r>
            <a:r>
              <a:rPr lang="en-US" altLang="zh-CN" sz="1800" dirty="0"/>
              <a:t>1</a:t>
            </a:r>
            <a:r>
              <a:rPr lang="zh-CN" altLang="zh-CN" sz="1800" dirty="0"/>
              <a:t>或</a:t>
            </a:r>
            <a:r>
              <a:rPr lang="en-US" altLang="zh-CN" sz="1800" dirty="0"/>
              <a:t>0</a:t>
            </a:r>
            <a:r>
              <a:rPr lang="zh-CN" altLang="zh-CN" sz="1800" dirty="0" smtClean="0"/>
              <a:t>，</a:t>
            </a:r>
            <a:r>
              <a:rPr lang="zh-CN" altLang="en-US" sz="1800" dirty="0" smtClean="0"/>
              <a:t>鉴相器输出的</a:t>
            </a:r>
            <a:r>
              <a:rPr lang="zh-CN" altLang="zh-CN" sz="1800" dirty="0" smtClean="0"/>
              <a:t>阶</a:t>
            </a:r>
            <a:r>
              <a:rPr lang="zh-CN" altLang="zh-CN" sz="1800" dirty="0"/>
              <a:t>跃脉冲发生在第</a:t>
            </a:r>
            <a:r>
              <a:rPr lang="en-US" altLang="zh-CN" sz="1800" dirty="0"/>
              <a:t>1</a:t>
            </a:r>
            <a:r>
              <a:rPr lang="zh-CN" altLang="zh-CN" sz="1800" dirty="0"/>
              <a:t>个位周期结束时，最大的相位抖动发生在第</a:t>
            </a:r>
            <a:r>
              <a:rPr lang="en-US" altLang="zh-CN" sz="1800" i="1" dirty="0"/>
              <a:t>n</a:t>
            </a:r>
            <a:r>
              <a:rPr lang="zh-CN" altLang="zh-CN" sz="1800" dirty="0"/>
              <a:t>个位周期后，所以出现最大相位抖动时</a:t>
            </a:r>
            <a:r>
              <a:rPr lang="zh-CN" altLang="zh-CN" sz="1800" dirty="0" smtClean="0"/>
              <a:t>的</a:t>
            </a:r>
            <a:r>
              <a:rPr lang="en-US" altLang="zh-CN" sz="1800" dirty="0" smtClean="0"/>
              <a:t> </a:t>
            </a:r>
            <a:r>
              <a:rPr lang="en-US" altLang="zh-CN" sz="1800" i="1" dirty="0" smtClean="0">
                <a:latin typeface="+mn-lt"/>
              </a:rPr>
              <a:t>t</a:t>
            </a:r>
            <a:r>
              <a:rPr lang="en-US" altLang="zh-CN" sz="1800" dirty="0" smtClean="0">
                <a:latin typeface="+mn-lt"/>
              </a:rPr>
              <a:t>=(</a:t>
            </a:r>
            <a:r>
              <a:rPr lang="en-US" altLang="zh-CN" sz="1800" i="1" dirty="0" smtClean="0">
                <a:latin typeface="+mn-lt"/>
              </a:rPr>
              <a:t>n</a:t>
            </a:r>
            <a:r>
              <a:rPr lang="en-US" altLang="zh-CN" sz="1800" dirty="0" smtClean="0">
                <a:latin typeface="+mn-lt"/>
              </a:rPr>
              <a:t>-1)</a:t>
            </a:r>
            <a:r>
              <a:rPr lang="en-US" altLang="zh-CN" sz="1800" i="1" dirty="0" err="1" smtClean="0">
                <a:latin typeface="+mn-lt"/>
              </a:rPr>
              <a:t>T</a:t>
            </a:r>
            <a:r>
              <a:rPr lang="en-US" altLang="zh-CN" sz="1800" i="1" baseline="-25000" dirty="0" err="1" smtClean="0">
                <a:latin typeface="+mn-lt"/>
              </a:rPr>
              <a:t>s</a:t>
            </a:r>
            <a:r>
              <a:rPr lang="zh-CN" altLang="en-US" sz="1800" dirty="0" smtClean="0"/>
              <a:t>，即</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zh-CN" sz="1800" dirty="0"/>
              <a:t>可见锁相环的输出相位抖动与输入信号的连续</a:t>
            </a:r>
            <a:r>
              <a:rPr lang="en-US" altLang="zh-CN" sz="1800" dirty="0"/>
              <a:t>1</a:t>
            </a:r>
            <a:r>
              <a:rPr lang="zh-CN" altLang="zh-CN" sz="1800" dirty="0"/>
              <a:t>或连续</a:t>
            </a:r>
            <a:r>
              <a:rPr lang="en-US" altLang="zh-CN" sz="1800" dirty="0"/>
              <a:t>0</a:t>
            </a:r>
            <a:r>
              <a:rPr lang="zh-CN" altLang="zh-CN" sz="1800" dirty="0"/>
              <a:t>（游程）长度</a:t>
            </a:r>
            <a:r>
              <a:rPr lang="en-US" altLang="zh-CN" sz="1800" i="1" dirty="0"/>
              <a:t>n</a:t>
            </a:r>
            <a:r>
              <a:rPr lang="zh-CN" altLang="zh-CN" sz="1800" dirty="0"/>
              <a:t>有关，且基本呈平方关系。</a:t>
            </a:r>
            <a:endParaRPr lang="zh-CN" altLang="en-US" sz="1800" dirty="0"/>
          </a:p>
        </p:txBody>
      </p:sp>
      <p:graphicFrame>
        <p:nvGraphicFramePr>
          <p:cNvPr id="13" name="对象 12"/>
          <p:cNvGraphicFramePr>
            <a:graphicFrameLocks noChangeAspect="1"/>
          </p:cNvGraphicFramePr>
          <p:nvPr>
            <p:extLst>
              <p:ext uri="{D42A27DB-BD31-4B8C-83A1-F6EECF244321}">
                <p14:modId xmlns:p14="http://schemas.microsoft.com/office/powerpoint/2010/main" val="4060029469"/>
              </p:ext>
            </p:extLst>
          </p:nvPr>
        </p:nvGraphicFramePr>
        <p:xfrm>
          <a:off x="4633685" y="1377043"/>
          <a:ext cx="2540000" cy="749300"/>
        </p:xfrm>
        <a:graphic>
          <a:graphicData uri="http://schemas.openxmlformats.org/presentationml/2006/ole">
            <mc:AlternateContent xmlns:mc="http://schemas.openxmlformats.org/markup-compatibility/2006">
              <mc:Choice xmlns:v="urn:schemas-microsoft-com:vml" Requires="v">
                <p:oleObj spid="_x0000_s33819" name="Equation" r:id="rId3" imgW="1422360" imgH="419040" progId="Equation.DSMT4">
                  <p:embed/>
                </p:oleObj>
              </mc:Choice>
              <mc:Fallback>
                <p:oleObj name="Equation" r:id="rId3" imgW="1422360" imgH="419040" progId="Equation.DSMT4">
                  <p:embed/>
                  <p:pic>
                    <p:nvPicPr>
                      <p:cNvPr id="0" name=""/>
                      <p:cNvPicPr/>
                      <p:nvPr/>
                    </p:nvPicPr>
                    <p:blipFill>
                      <a:blip r:embed="rId4"/>
                      <a:stretch>
                        <a:fillRect/>
                      </a:stretch>
                    </p:blipFill>
                    <p:spPr>
                      <a:xfrm>
                        <a:off x="4633685" y="1377043"/>
                        <a:ext cx="2540000" cy="749300"/>
                      </a:xfrm>
                      <a:prstGeom prst="rect">
                        <a:avLst/>
                      </a:prstGeom>
                    </p:spPr>
                  </p:pic>
                </p:oleObj>
              </mc:Fallback>
            </mc:AlternateContent>
          </a:graphicData>
        </a:graphic>
      </p:graphicFrame>
      <p:sp>
        <p:nvSpPr>
          <p:cNvPr id="15" name="文本框 14"/>
          <p:cNvSpPr txBox="1"/>
          <p:nvPr/>
        </p:nvSpPr>
        <p:spPr>
          <a:xfrm>
            <a:off x="6720114" y="3520368"/>
            <a:ext cx="907143" cy="338554"/>
          </a:xfrm>
          <a:prstGeom prst="rect">
            <a:avLst/>
          </a:prstGeom>
          <a:noFill/>
        </p:spPr>
        <p:txBody>
          <a:bodyPr wrap="square" rtlCol="0">
            <a:spAutoFit/>
          </a:bodyPr>
          <a:lstStyle/>
          <a:p>
            <a:r>
              <a:rPr lang="en-US" altLang="zh-CN" sz="1600" dirty="0"/>
              <a:t>n</a:t>
            </a:r>
            <a:r>
              <a:rPr lang="en-US" altLang="zh-CN" sz="1600" dirty="0" smtClean="0"/>
              <a:t>=1</a:t>
            </a:r>
            <a:endParaRPr lang="zh-CN" altLang="en-US" sz="1600" dirty="0"/>
          </a:p>
        </p:txBody>
      </p:sp>
      <p:sp>
        <p:nvSpPr>
          <p:cNvPr id="16" name="文本框 15"/>
          <p:cNvSpPr txBox="1"/>
          <p:nvPr/>
        </p:nvSpPr>
        <p:spPr>
          <a:xfrm>
            <a:off x="7874899" y="3523384"/>
            <a:ext cx="907143" cy="338554"/>
          </a:xfrm>
          <a:prstGeom prst="rect">
            <a:avLst/>
          </a:prstGeom>
          <a:noFill/>
        </p:spPr>
        <p:txBody>
          <a:bodyPr wrap="square" rtlCol="0">
            <a:spAutoFit/>
          </a:bodyPr>
          <a:lstStyle/>
          <a:p>
            <a:r>
              <a:rPr lang="en-US" altLang="zh-CN" sz="1600" dirty="0" smtClean="0"/>
              <a:t>n=2</a:t>
            </a:r>
            <a:endParaRPr lang="zh-CN" altLang="en-US" sz="1600" dirty="0"/>
          </a:p>
        </p:txBody>
      </p:sp>
      <p:pic>
        <p:nvPicPr>
          <p:cNvPr id="17" name="图片 16"/>
          <p:cNvPicPr>
            <a:picLocks noChangeAspect="1"/>
          </p:cNvPicPr>
          <p:nvPr/>
        </p:nvPicPr>
        <p:blipFill>
          <a:blip r:embed="rId5"/>
          <a:stretch>
            <a:fillRect/>
          </a:stretch>
        </p:blipFill>
        <p:spPr>
          <a:xfrm>
            <a:off x="2534905" y="2910767"/>
            <a:ext cx="6467038" cy="2357918"/>
          </a:xfrm>
          <a:prstGeom prst="rect">
            <a:avLst/>
          </a:prstGeom>
        </p:spPr>
      </p:pic>
    </p:spTree>
    <p:extLst>
      <p:ext uri="{BB962C8B-B14F-4D97-AF65-F5344CB8AC3E}">
        <p14:creationId xmlns:p14="http://schemas.microsoft.com/office/powerpoint/2010/main" val="609970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文本框 4"/>
          <p:cNvSpPr txBox="1"/>
          <p:nvPr/>
        </p:nvSpPr>
        <p:spPr>
          <a:xfrm>
            <a:off x="377371" y="435429"/>
            <a:ext cx="11364686" cy="4893647"/>
          </a:xfrm>
          <a:prstGeom prst="rect">
            <a:avLst/>
          </a:prstGeom>
          <a:noFill/>
        </p:spPr>
        <p:txBody>
          <a:bodyPr wrap="square" rtlCol="0">
            <a:spAutoFit/>
          </a:bodyPr>
          <a:lstStyle/>
          <a:p>
            <a:pPr indent="457200">
              <a:lnSpc>
                <a:spcPct val="150000"/>
              </a:lnSpc>
            </a:pPr>
            <a:r>
              <a:rPr lang="zh-CN" altLang="en-US" sz="1800" dirty="0"/>
              <a:t>在</a:t>
            </a:r>
            <a:r>
              <a:rPr lang="zh-CN" altLang="zh-CN" sz="1800" dirty="0" smtClean="0"/>
              <a:t>采用</a:t>
            </a:r>
            <a:r>
              <a:rPr lang="zh-CN" altLang="zh-CN" sz="1800" dirty="0"/>
              <a:t>超前滞后型环路滤波器的</a:t>
            </a:r>
            <a:r>
              <a:rPr lang="zh-CN" altLang="zh-CN" sz="1800" dirty="0" smtClean="0"/>
              <a:t>锁相环</a:t>
            </a:r>
            <a:r>
              <a:rPr lang="zh-CN" altLang="en-US" sz="1800" dirty="0" smtClean="0"/>
              <a:t>中，</a:t>
            </a:r>
            <a:r>
              <a:rPr lang="zh-CN" altLang="zh-CN" sz="1800" dirty="0" smtClean="0"/>
              <a:t>自然频率为</a:t>
            </a:r>
            <a:endParaRPr lang="en-US" altLang="zh-CN" sz="1800" dirty="0" smtClean="0"/>
          </a:p>
          <a:p>
            <a:pPr indent="457200">
              <a:lnSpc>
                <a:spcPct val="150000"/>
              </a:lnSpc>
            </a:pPr>
            <a:endParaRPr lang="en-US" altLang="zh-CN" sz="1800" dirty="0"/>
          </a:p>
          <a:p>
            <a:pPr indent="457200">
              <a:lnSpc>
                <a:spcPct val="150000"/>
              </a:lnSpc>
            </a:pPr>
            <a:endParaRPr lang="en-US" altLang="zh-CN" sz="2800" dirty="0"/>
          </a:p>
          <a:p>
            <a:pPr indent="457200">
              <a:lnSpc>
                <a:spcPct val="150000"/>
              </a:lnSpc>
            </a:pPr>
            <a:r>
              <a:rPr lang="zh-CN" altLang="en-US" sz="1800" dirty="0" smtClean="0"/>
              <a:t>所以</a:t>
            </a:r>
            <a:r>
              <a:rPr lang="zh-CN" altLang="zh-CN" sz="1800" dirty="0" smtClean="0"/>
              <a:t>前面</a:t>
            </a:r>
            <a:r>
              <a:rPr lang="zh-CN" altLang="zh-CN" sz="1800" dirty="0"/>
              <a:t>的</a:t>
            </a:r>
            <a:r>
              <a:rPr lang="zh-CN" altLang="zh-CN" sz="1800" dirty="0" smtClean="0"/>
              <a:t>关系可</a:t>
            </a:r>
            <a:r>
              <a:rPr lang="zh-CN" altLang="zh-CN" sz="1800" dirty="0"/>
              <a:t>写</a:t>
            </a:r>
            <a:r>
              <a:rPr lang="zh-CN" altLang="zh-CN" sz="1800" dirty="0" smtClean="0"/>
              <a:t>为</a:t>
            </a: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根据此式，可写出</a:t>
            </a:r>
            <a:r>
              <a:rPr lang="zh-CN" altLang="zh-CN" sz="1800" dirty="0" smtClean="0"/>
              <a:t>满足</a:t>
            </a:r>
            <a:r>
              <a:rPr lang="zh-CN" altLang="zh-CN" sz="1800" dirty="0"/>
              <a:t>输出相位抖动要求的</a:t>
            </a:r>
            <a:r>
              <a:rPr lang="zh-CN" altLang="zh-CN" sz="1800" dirty="0" smtClean="0"/>
              <a:t>自然频率</a:t>
            </a:r>
            <a:r>
              <a:rPr lang="zh-CN" altLang="en-US" sz="1800" dirty="0" smtClean="0"/>
              <a:t>为</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a:lnSpc>
                <a:spcPct val="150000"/>
              </a:lnSpc>
            </a:pPr>
            <a:r>
              <a:rPr lang="zh-CN" altLang="en-US" sz="1800" dirty="0" smtClean="0"/>
              <a:t>其中</a:t>
            </a:r>
            <a:r>
              <a:rPr lang="en-US" altLang="zh-CN" sz="1800" i="1" dirty="0" err="1"/>
              <a:t>n</a:t>
            </a:r>
            <a:r>
              <a:rPr lang="en-US" altLang="zh-CN" sz="1800" baseline="-25000" dirty="0" err="1"/>
              <a:t>max</a:t>
            </a:r>
            <a:r>
              <a:rPr lang="zh-CN" altLang="en-US" sz="1800" dirty="0"/>
              <a:t>是最大游程，即连续出现</a:t>
            </a:r>
            <a:r>
              <a:rPr lang="en-US" altLang="zh-CN" sz="1800" dirty="0"/>
              <a:t>1</a:t>
            </a:r>
            <a:r>
              <a:rPr lang="zh-CN" altLang="en-US" sz="1800" dirty="0"/>
              <a:t>或</a:t>
            </a:r>
            <a:r>
              <a:rPr lang="en-US" altLang="zh-CN" sz="1800" dirty="0"/>
              <a:t>0</a:t>
            </a:r>
            <a:r>
              <a:rPr lang="zh-CN" altLang="en-US" sz="1800" dirty="0"/>
              <a:t>的最大个数。</a:t>
            </a:r>
            <a:r>
              <a:rPr lang="en-US" altLang="zh-CN" sz="1800" i="1" dirty="0" err="1"/>
              <a:t>T</a:t>
            </a:r>
            <a:r>
              <a:rPr lang="en-US" altLang="zh-CN" sz="1800" baseline="-25000" dirty="0" err="1"/>
              <a:t>s</a:t>
            </a:r>
            <a:r>
              <a:rPr lang="zh-CN" altLang="en-US" sz="1800" dirty="0"/>
              <a:t>是位周期</a:t>
            </a:r>
            <a:r>
              <a:rPr lang="zh-CN" altLang="en-US" sz="1800" dirty="0" smtClean="0"/>
              <a:t>。</a:t>
            </a:r>
            <a:endParaRPr lang="en-US" altLang="zh-CN" sz="1800" dirty="0" smtClean="0"/>
          </a:p>
          <a:p>
            <a:pPr indent="457200">
              <a:lnSpc>
                <a:spcPct val="150000"/>
              </a:lnSpc>
            </a:pPr>
            <a:r>
              <a:rPr lang="en-US" altLang="zh-CN" sz="1800" i="1" dirty="0" smtClean="0"/>
              <a:t>V</a:t>
            </a:r>
            <a:r>
              <a:rPr lang="en-US" altLang="zh-CN" sz="1800" baseline="-25000" dirty="0" smtClean="0"/>
              <a:t>s</a:t>
            </a:r>
            <a:r>
              <a:rPr lang="zh-CN" altLang="en-US" sz="1800" dirty="0"/>
              <a:t>是</a:t>
            </a:r>
            <a:r>
              <a:rPr lang="zh-CN" altLang="zh-CN" sz="1800" dirty="0"/>
              <a:t>输入环路滤波器的阶跃电压</a:t>
            </a:r>
            <a:r>
              <a:rPr lang="zh-CN" altLang="en-US" sz="1800" dirty="0"/>
              <a:t>。由于大部分情况下，在锁定后的环路滤波器输出电压为</a:t>
            </a:r>
            <a:r>
              <a:rPr lang="en-US" altLang="zh-CN" sz="1800" dirty="0"/>
              <a:t>0.5V</a:t>
            </a:r>
            <a:r>
              <a:rPr lang="en-US" altLang="zh-CN" sz="1800" baseline="-25000" dirty="0"/>
              <a:t>DD</a:t>
            </a:r>
            <a:r>
              <a:rPr lang="zh-CN" altLang="en-US" sz="1800" dirty="0"/>
              <a:t>，所以通常</a:t>
            </a:r>
            <a:r>
              <a:rPr lang="en-US" altLang="zh-CN" sz="1800" i="1" dirty="0"/>
              <a:t>V</a:t>
            </a:r>
            <a:r>
              <a:rPr lang="en-US" altLang="zh-CN" sz="1800" baseline="-25000" dirty="0"/>
              <a:t>s</a:t>
            </a:r>
            <a:r>
              <a:rPr lang="zh-CN" altLang="zh-CN" sz="1800" dirty="0"/>
              <a:t>≈</a:t>
            </a:r>
            <a:r>
              <a:rPr lang="en-US" altLang="zh-CN" sz="1800" dirty="0" smtClean="0"/>
              <a:t>0.5V</a:t>
            </a:r>
            <a:r>
              <a:rPr lang="en-US" altLang="zh-CN" sz="1800" baseline="-25000" dirty="0" smtClean="0"/>
              <a:t>DD</a:t>
            </a:r>
            <a:r>
              <a:rPr lang="zh-CN" altLang="en-US" sz="1800" dirty="0" smtClean="0"/>
              <a:t>。而采用</a:t>
            </a:r>
            <a:r>
              <a:rPr lang="en-US" altLang="zh-CN" sz="1800" dirty="0" smtClean="0"/>
              <a:t>PFD</a:t>
            </a:r>
            <a:r>
              <a:rPr lang="zh-CN" altLang="en-US" sz="1800" dirty="0" smtClean="0"/>
              <a:t>的</a:t>
            </a:r>
            <a:r>
              <a:rPr lang="en-US" altLang="zh-CN" sz="1800" dirty="0" err="1" smtClean="0"/>
              <a:t>K</a:t>
            </a:r>
            <a:r>
              <a:rPr lang="en-US" altLang="zh-CN" sz="1800" baseline="-25000" dirty="0" err="1" smtClean="0"/>
              <a:t>d</a:t>
            </a:r>
            <a:r>
              <a:rPr lang="en-US" altLang="zh-CN" sz="1800" dirty="0" smtClean="0"/>
              <a:t>=V</a:t>
            </a:r>
            <a:r>
              <a:rPr lang="en-US" altLang="zh-CN" sz="1800" baseline="-25000" dirty="0" smtClean="0"/>
              <a:t>DD</a:t>
            </a:r>
            <a:r>
              <a:rPr lang="en-US" altLang="zh-CN" sz="1800" dirty="0" smtClean="0"/>
              <a:t>/4</a:t>
            </a:r>
            <a:r>
              <a:rPr lang="el-GR" altLang="zh-CN" sz="1800" dirty="0" smtClean="0"/>
              <a:t>π</a:t>
            </a:r>
            <a:r>
              <a:rPr lang="zh-CN" altLang="en-US" sz="1800" dirty="0" smtClean="0"/>
              <a:t>，所以上式还可写为</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928995559"/>
              </p:ext>
            </p:extLst>
          </p:nvPr>
        </p:nvGraphicFramePr>
        <p:xfrm>
          <a:off x="4847772" y="1005136"/>
          <a:ext cx="1748972" cy="737518"/>
        </p:xfrm>
        <a:graphic>
          <a:graphicData uri="http://schemas.openxmlformats.org/presentationml/2006/ole">
            <mc:AlternateContent xmlns:mc="http://schemas.openxmlformats.org/markup-compatibility/2006">
              <mc:Choice xmlns:v="urn:schemas-microsoft-com:vml" Requires="v">
                <p:oleObj spid="_x0000_s34956" name="Equation" r:id="rId3" imgW="1054100" imgH="444500" progId="Equation.DSMT4">
                  <p:embed/>
                </p:oleObj>
              </mc:Choice>
              <mc:Fallback>
                <p:oleObj name="Equation" r:id="rId3" imgW="1054100" imgH="4445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7772" y="1005136"/>
                        <a:ext cx="1748972" cy="73751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43271933"/>
              </p:ext>
            </p:extLst>
          </p:nvPr>
        </p:nvGraphicFramePr>
        <p:xfrm>
          <a:off x="4475163" y="2075543"/>
          <a:ext cx="2867025" cy="744538"/>
        </p:xfrm>
        <a:graphic>
          <a:graphicData uri="http://schemas.openxmlformats.org/presentationml/2006/ole">
            <mc:AlternateContent xmlns:mc="http://schemas.openxmlformats.org/markup-compatibility/2006">
              <mc:Choice xmlns:v="urn:schemas-microsoft-com:vml" Requires="v">
                <p:oleObj spid="_x0000_s34957" name="Equation" r:id="rId5" imgW="1612800" imgH="419040" progId="Equation.DSMT4">
                  <p:embed/>
                </p:oleObj>
              </mc:Choice>
              <mc:Fallback>
                <p:oleObj name="Equation" r:id="rId5" imgW="1612800" imgH="419040" progId="Equation.DSMT4">
                  <p:embed/>
                  <p:pic>
                    <p:nvPicPr>
                      <p:cNvPr id="0" name=""/>
                      <p:cNvPicPr/>
                      <p:nvPr/>
                    </p:nvPicPr>
                    <p:blipFill>
                      <a:blip r:embed="rId6"/>
                      <a:stretch>
                        <a:fillRect/>
                      </a:stretch>
                    </p:blipFill>
                    <p:spPr>
                      <a:xfrm>
                        <a:off x="4475163" y="2075543"/>
                        <a:ext cx="2867025" cy="744538"/>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244170325"/>
              </p:ext>
            </p:extLst>
          </p:nvPr>
        </p:nvGraphicFramePr>
        <p:xfrm>
          <a:off x="4302918" y="3251585"/>
          <a:ext cx="3211513" cy="785813"/>
        </p:xfrm>
        <a:graphic>
          <a:graphicData uri="http://schemas.openxmlformats.org/presentationml/2006/ole">
            <mc:AlternateContent xmlns:mc="http://schemas.openxmlformats.org/markup-compatibility/2006">
              <mc:Choice xmlns:v="urn:schemas-microsoft-com:vml" Requires="v">
                <p:oleObj spid="_x0000_s34958" name="Equation" r:id="rId7" imgW="1815840" imgH="444240" progId="Equation.DSMT4">
                  <p:embed/>
                </p:oleObj>
              </mc:Choice>
              <mc:Fallback>
                <p:oleObj name="Equation" r:id="rId7" imgW="1815840" imgH="444240" progId="Equation.DSMT4">
                  <p:embed/>
                  <p:pic>
                    <p:nvPicPr>
                      <p:cNvPr id="0" name=""/>
                      <p:cNvPicPr/>
                      <p:nvPr/>
                    </p:nvPicPr>
                    <p:blipFill>
                      <a:blip r:embed="rId8"/>
                      <a:stretch>
                        <a:fillRect/>
                      </a:stretch>
                    </p:blipFill>
                    <p:spPr>
                      <a:xfrm>
                        <a:off x="4302918" y="3251585"/>
                        <a:ext cx="3211513" cy="78581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068864405"/>
              </p:ext>
            </p:extLst>
          </p:nvPr>
        </p:nvGraphicFramePr>
        <p:xfrm>
          <a:off x="4840855" y="5329076"/>
          <a:ext cx="2673576" cy="802975"/>
        </p:xfrm>
        <a:graphic>
          <a:graphicData uri="http://schemas.openxmlformats.org/presentationml/2006/ole">
            <mc:AlternateContent xmlns:mc="http://schemas.openxmlformats.org/markup-compatibility/2006">
              <mc:Choice xmlns:v="urn:schemas-microsoft-com:vml" Requires="v">
                <p:oleObj spid="_x0000_s34959" name="Equation" r:id="rId9" imgW="1434960" imgH="431640" progId="Equation.DSMT4">
                  <p:embed/>
                </p:oleObj>
              </mc:Choice>
              <mc:Fallback>
                <p:oleObj name="Equation" r:id="rId9" imgW="1434960" imgH="431640" progId="Equation.DSMT4">
                  <p:embed/>
                  <p:pic>
                    <p:nvPicPr>
                      <p:cNvPr id="0" name=""/>
                      <p:cNvPicPr/>
                      <p:nvPr/>
                    </p:nvPicPr>
                    <p:blipFill>
                      <a:blip r:embed="rId10"/>
                      <a:stretch>
                        <a:fillRect/>
                      </a:stretch>
                    </p:blipFill>
                    <p:spPr>
                      <a:xfrm>
                        <a:off x="4840855" y="5329076"/>
                        <a:ext cx="2673576" cy="802975"/>
                      </a:xfrm>
                      <a:prstGeom prst="rect">
                        <a:avLst/>
                      </a:prstGeom>
                    </p:spPr>
                  </p:pic>
                </p:oleObj>
              </mc:Fallback>
            </mc:AlternateContent>
          </a:graphicData>
        </a:graphic>
      </p:graphicFrame>
    </p:spTree>
    <p:extLst>
      <p:ext uri="{BB962C8B-B14F-4D97-AF65-F5344CB8AC3E}">
        <p14:creationId xmlns:p14="http://schemas.microsoft.com/office/powerpoint/2010/main" val="1695312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文本框 4"/>
          <p:cNvSpPr txBox="1"/>
          <p:nvPr/>
        </p:nvSpPr>
        <p:spPr>
          <a:xfrm>
            <a:off x="341087" y="428171"/>
            <a:ext cx="11408228" cy="3831818"/>
          </a:xfrm>
          <a:prstGeom prst="rect">
            <a:avLst/>
          </a:prstGeom>
          <a:noFill/>
        </p:spPr>
        <p:txBody>
          <a:bodyPr wrap="square" rtlCol="0">
            <a:spAutoFit/>
          </a:bodyPr>
          <a:lstStyle/>
          <a:p>
            <a:pPr indent="457200">
              <a:lnSpc>
                <a:spcPct val="150000"/>
              </a:lnSpc>
            </a:pPr>
            <a:r>
              <a:rPr lang="zh-CN" altLang="zh-CN" sz="1800" dirty="0"/>
              <a:t>回到本题目，要求脉冲相位抖动量低于</a:t>
            </a:r>
            <a:r>
              <a:rPr lang="en-US" altLang="zh-CN" sz="1800" dirty="0"/>
              <a:t>1</a:t>
            </a:r>
            <a:r>
              <a:rPr lang="zh-CN" altLang="zh-CN" sz="1800" dirty="0"/>
              <a:t>个位同步时钟周期的</a:t>
            </a:r>
            <a:r>
              <a:rPr lang="en-US" altLang="zh-CN" sz="1800" dirty="0"/>
              <a:t>10%</a:t>
            </a:r>
            <a:r>
              <a:rPr lang="zh-CN" altLang="zh-CN" sz="1800" dirty="0"/>
              <a:t>，即</a:t>
            </a:r>
            <a:r>
              <a:rPr lang="en-US" altLang="zh-CN" sz="1800" dirty="0" err="1"/>
              <a:t>Δ</a:t>
            </a:r>
            <a:r>
              <a:rPr lang="en-US" altLang="zh-CN" sz="1800" i="1" dirty="0" err="1"/>
              <a:t>φ</a:t>
            </a:r>
            <a:r>
              <a:rPr lang="en-US" altLang="zh-CN" sz="1800" baseline="-25000" dirty="0" err="1"/>
              <a:t>max</a:t>
            </a:r>
            <a:r>
              <a:rPr lang="en-US" altLang="zh-CN" sz="1800" dirty="0"/>
              <a:t>=0.1</a:t>
            </a:r>
            <a:r>
              <a:rPr lang="zh-CN" altLang="zh-CN" sz="1800" dirty="0"/>
              <a:t>×</a:t>
            </a:r>
            <a:r>
              <a:rPr lang="en-US" altLang="zh-CN" sz="1800" dirty="0"/>
              <a:t>2π</a:t>
            </a:r>
            <a:r>
              <a:rPr lang="zh-CN" altLang="zh-CN" sz="1800" dirty="0"/>
              <a:t>。题目给定的</a:t>
            </a:r>
            <a:r>
              <a:rPr lang="en-US" altLang="zh-CN" sz="1800" dirty="0"/>
              <a:t>m</a:t>
            </a:r>
            <a:r>
              <a:rPr lang="zh-CN" altLang="zh-CN" sz="1800" dirty="0"/>
              <a:t>序列的最大游程</a:t>
            </a:r>
            <a:r>
              <a:rPr lang="en-US" altLang="zh-CN" sz="1800" i="1" dirty="0"/>
              <a:t>n</a:t>
            </a:r>
            <a:r>
              <a:rPr lang="en-US" altLang="zh-CN" sz="1800" dirty="0"/>
              <a:t>=8</a:t>
            </a:r>
            <a:r>
              <a:rPr lang="zh-CN" altLang="zh-CN" sz="1800" dirty="0"/>
              <a:t>，最大的同步信号周期为</a:t>
            </a:r>
            <a:r>
              <a:rPr lang="en-US" altLang="zh-CN" sz="1800" i="1" dirty="0" err="1"/>
              <a:t>T</a:t>
            </a:r>
            <a:r>
              <a:rPr lang="en-US" altLang="zh-CN" sz="1800" i="1" baseline="-25000" dirty="0" err="1"/>
              <a:t>s</a:t>
            </a:r>
            <a:r>
              <a:rPr lang="en-US" altLang="zh-CN" sz="1800" dirty="0"/>
              <a:t>=1/(2</a:t>
            </a:r>
            <a:r>
              <a:rPr lang="zh-CN" altLang="zh-CN" sz="1800" dirty="0"/>
              <a:t>×</a:t>
            </a:r>
            <a:r>
              <a:rPr lang="en-US" altLang="zh-CN" sz="1800" dirty="0"/>
              <a:t>10</a:t>
            </a:r>
            <a:r>
              <a:rPr lang="en-US" altLang="zh-CN" sz="1800" baseline="30000" dirty="0"/>
              <a:t>5</a:t>
            </a:r>
            <a:r>
              <a:rPr lang="en-US" altLang="zh-CN" sz="1800" dirty="0"/>
              <a:t>)</a:t>
            </a:r>
            <a:r>
              <a:rPr lang="zh-CN" altLang="zh-CN" sz="1800" dirty="0"/>
              <a:t>。将这些数据代入，就可以得到自然频率的约束条件为</a:t>
            </a:r>
            <a:r>
              <a:rPr lang="en-US" altLang="zh-CN" sz="1800" i="1" dirty="0" err="1"/>
              <a:t>ω</a:t>
            </a:r>
            <a:r>
              <a:rPr lang="en-US" altLang="zh-CN" sz="1800" i="1" baseline="-25000" dirty="0" err="1"/>
              <a:t>n</a:t>
            </a:r>
            <a:r>
              <a:rPr lang="en-US" altLang="zh-CN" sz="1800" dirty="0"/>
              <a:t>&lt;12778</a:t>
            </a:r>
            <a:r>
              <a:rPr lang="zh-CN" altLang="zh-CN" sz="1800" dirty="0"/>
              <a:t>。</a:t>
            </a:r>
          </a:p>
          <a:p>
            <a:pPr indent="457200">
              <a:lnSpc>
                <a:spcPct val="150000"/>
              </a:lnSpc>
            </a:pPr>
            <a:r>
              <a:rPr lang="zh-CN" altLang="en-US" sz="1800" dirty="0" smtClean="0"/>
              <a:t>在采用超前</a:t>
            </a:r>
            <a:r>
              <a:rPr lang="en-US" altLang="zh-CN" sz="1800" dirty="0" smtClean="0"/>
              <a:t>-</a:t>
            </a:r>
            <a:r>
              <a:rPr lang="zh-CN" altLang="en-US" sz="1800" dirty="0" smtClean="0"/>
              <a:t>滞回环路滤波器的二阶锁相环中，自然频率与阻尼系数分别为</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a:latin typeface="+mn-lt"/>
              </a:rPr>
              <a:t>取</a:t>
            </a:r>
            <a:r>
              <a:rPr lang="en-US" altLang="zh-CN" sz="1800" i="1" dirty="0" err="1" smtClean="0">
                <a:latin typeface="+mn-lt"/>
              </a:rPr>
              <a:t>ω</a:t>
            </a:r>
            <a:r>
              <a:rPr lang="en-US" altLang="zh-CN" sz="1800" i="1" baseline="-25000" dirty="0" err="1" smtClean="0">
                <a:latin typeface="+mn-lt"/>
              </a:rPr>
              <a:t>n</a:t>
            </a:r>
            <a:r>
              <a:rPr lang="en-US" altLang="zh-CN" sz="1800" dirty="0" smtClean="0">
                <a:latin typeface="+mn-lt"/>
              </a:rPr>
              <a:t>=6000</a:t>
            </a:r>
            <a:r>
              <a:rPr lang="zh-CN" altLang="en-US" sz="1800" dirty="0" smtClean="0">
                <a:latin typeface="+mn-lt"/>
              </a:rPr>
              <a:t>、再</a:t>
            </a:r>
            <a:r>
              <a:rPr lang="zh-CN" altLang="en-US" sz="1800" dirty="0" smtClean="0"/>
              <a:t>将</a:t>
            </a:r>
            <a:r>
              <a:rPr lang="el-GR" altLang="zh-CN" sz="1800" i="1" dirty="0" smtClean="0">
                <a:latin typeface="+mn-lt"/>
              </a:rPr>
              <a:t>ζ</a:t>
            </a:r>
            <a:r>
              <a:rPr lang="en-US" altLang="zh-CN" sz="1800" dirty="0" smtClean="0">
                <a:latin typeface="+mn-lt"/>
              </a:rPr>
              <a:t>=0.707</a:t>
            </a:r>
            <a:r>
              <a:rPr lang="zh-CN" altLang="en-US" sz="1800" dirty="0" smtClean="0">
                <a:latin typeface="+mn-lt"/>
              </a:rPr>
              <a:t>、</a:t>
            </a:r>
            <a:r>
              <a:rPr lang="en-US" altLang="zh-CN" sz="1800" i="1" dirty="0" err="1" smtClean="0">
                <a:latin typeface="+mn-lt"/>
              </a:rPr>
              <a:t>K</a:t>
            </a:r>
            <a:r>
              <a:rPr lang="en-US" altLang="zh-CN" sz="1800" baseline="-25000" dirty="0" err="1" smtClean="0">
                <a:latin typeface="+mn-lt"/>
              </a:rPr>
              <a:t>d</a:t>
            </a:r>
            <a:r>
              <a:rPr lang="en-US" altLang="zh-CN" sz="1800" dirty="0" smtClean="0">
                <a:latin typeface="+mn-lt"/>
              </a:rPr>
              <a:t>=5/4</a:t>
            </a:r>
            <a:r>
              <a:rPr lang="el-GR" altLang="zh-CN" sz="1800" dirty="0" smtClean="0">
                <a:latin typeface="+mn-lt"/>
              </a:rPr>
              <a:t>π</a:t>
            </a:r>
            <a:r>
              <a:rPr lang="zh-CN" altLang="en-US" sz="1800" dirty="0" smtClean="0">
                <a:latin typeface="+mn-lt"/>
              </a:rPr>
              <a:t>、</a:t>
            </a:r>
            <a:r>
              <a:rPr lang="en-US" altLang="zh-CN" sz="1800" i="1" dirty="0" err="1" smtClean="0">
                <a:latin typeface="+mn-lt"/>
              </a:rPr>
              <a:t>K</a:t>
            </a:r>
            <a:r>
              <a:rPr lang="en-US" altLang="zh-CN" sz="1800" baseline="-25000" dirty="0" err="1">
                <a:latin typeface="+mn-lt"/>
              </a:rPr>
              <a:t>o</a:t>
            </a:r>
            <a:r>
              <a:rPr lang="en-US" altLang="zh-CN" sz="1800" dirty="0" smtClean="0">
                <a:latin typeface="+mn-lt"/>
              </a:rPr>
              <a:t>=</a:t>
            </a:r>
            <a:r>
              <a:rPr lang="en-US" altLang="zh-CN" sz="1800" dirty="0">
                <a:latin typeface="+mn-lt"/>
                <a:cs typeface="Times New Roman" panose="02020603050405020304" pitchFamily="18" charset="0"/>
              </a:rPr>
              <a:t> 2</a:t>
            </a:r>
            <a:r>
              <a:rPr lang="el-GR" altLang="zh-CN" sz="1800" dirty="0">
                <a:latin typeface="Times New Roman" panose="02020603050405020304" pitchFamily="18" charset="0"/>
                <a:cs typeface="Times New Roman" panose="02020603050405020304" pitchFamily="18" charset="0"/>
              </a:rPr>
              <a:t>π</a:t>
            </a:r>
            <a:r>
              <a:rPr lang="en-US" altLang="zh-CN" sz="1800" dirty="0" smtClean="0">
                <a:latin typeface="Times New Roman" panose="02020603050405020304" pitchFamily="18" charset="0"/>
                <a:cs typeface="Times New Roman" panose="02020603050405020304" pitchFamily="18" charset="0"/>
              </a:rPr>
              <a:t>×4×10</a:t>
            </a:r>
            <a:r>
              <a:rPr lang="en-US" altLang="zh-CN" sz="1800" baseline="30000" dirty="0" smtClean="0">
                <a:latin typeface="Times New Roman" panose="02020603050405020304" pitchFamily="18" charset="0"/>
                <a:cs typeface="Times New Roman" panose="02020603050405020304" pitchFamily="18" charset="0"/>
              </a:rPr>
              <a:t>4</a:t>
            </a:r>
            <a:r>
              <a:rPr lang="zh-CN" altLang="en-US" sz="1800" dirty="0" smtClean="0">
                <a:latin typeface="Times New Roman" panose="02020603050405020304" pitchFamily="18" charset="0"/>
                <a:cs typeface="Times New Roman" panose="02020603050405020304" pitchFamily="18" charset="0"/>
              </a:rPr>
              <a:t>等参数代入，可以计算环路滤波器的</a:t>
            </a:r>
            <a:r>
              <a:rPr lang="en-US" altLang="zh-CN" sz="1800" dirty="0" smtClean="0">
                <a:latin typeface="Times New Roman" panose="02020603050405020304" pitchFamily="18" charset="0"/>
                <a:cs typeface="Times New Roman" panose="02020603050405020304" pitchFamily="18" charset="0"/>
              </a:rPr>
              <a:t>RC</a:t>
            </a:r>
            <a:r>
              <a:rPr lang="zh-CN" altLang="en-US" sz="1800" dirty="0" smtClean="0">
                <a:latin typeface="Times New Roman" panose="02020603050405020304" pitchFamily="18" charset="0"/>
                <a:cs typeface="Times New Roman" panose="02020603050405020304" pitchFamily="18" charset="0"/>
              </a:rPr>
              <a:t>参数。例如指定</a:t>
            </a:r>
            <a:r>
              <a:rPr lang="en-US" altLang="zh-CN" sz="1800" dirty="0" smtClean="0">
                <a:latin typeface="Times New Roman" panose="02020603050405020304" pitchFamily="18" charset="0"/>
                <a:cs typeface="Times New Roman" panose="02020603050405020304" pitchFamily="18" charset="0"/>
              </a:rPr>
              <a:t>C=100nF</a:t>
            </a:r>
            <a:r>
              <a:rPr lang="zh-CN" altLang="en-US" sz="1800" dirty="0" smtClean="0">
                <a:latin typeface="Times New Roman" panose="02020603050405020304" pitchFamily="18" charset="0"/>
                <a:cs typeface="Times New Roman" panose="02020603050405020304" pitchFamily="18" charset="0"/>
              </a:rPr>
              <a:t>，则可得到</a:t>
            </a:r>
            <a:r>
              <a:rPr lang="en-US" altLang="zh-CN" sz="1800" dirty="0" smtClean="0">
                <a:latin typeface="Times New Roman" panose="02020603050405020304" pitchFamily="18" charset="0"/>
                <a:cs typeface="Times New Roman" panose="02020603050405020304" pitchFamily="18" charset="0"/>
              </a:rPr>
              <a:t>R1=25.6k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（实际可选</a:t>
            </a:r>
            <a:r>
              <a:rPr lang="en-US" altLang="zh-CN" sz="1800" dirty="0" smtClean="0">
                <a:latin typeface="Times New Roman" panose="02020603050405020304" pitchFamily="18" charset="0"/>
                <a:cs typeface="Times New Roman" panose="02020603050405020304" pitchFamily="18" charset="0"/>
              </a:rPr>
              <a:t>27k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R2=2.2k</a:t>
            </a:r>
            <a:r>
              <a:rPr lang="el-GR" altLang="zh-CN" sz="1800" dirty="0" smtClean="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endParaRPr lang="zh-CN" altLang="en-US"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594934373"/>
              </p:ext>
            </p:extLst>
          </p:nvPr>
        </p:nvGraphicFramePr>
        <p:xfrm>
          <a:off x="3178932" y="2344080"/>
          <a:ext cx="4570598" cy="787771"/>
        </p:xfrm>
        <a:graphic>
          <a:graphicData uri="http://schemas.openxmlformats.org/presentationml/2006/ole">
            <mc:AlternateContent xmlns:mc="http://schemas.openxmlformats.org/markup-compatibility/2006">
              <mc:Choice xmlns:v="urn:schemas-microsoft-com:vml" Requires="v">
                <p:oleObj spid="_x0000_s35865" name="Equation" r:id="rId3" imgW="2577960" imgH="444240" progId="Equation.DSMT4">
                  <p:embed/>
                </p:oleObj>
              </mc:Choice>
              <mc:Fallback>
                <p:oleObj name="Equation" r:id="rId3" imgW="2577960" imgH="444240" progId="Equation.DSMT4">
                  <p:embed/>
                  <p:pic>
                    <p:nvPicPr>
                      <p:cNvPr id="6" name="对象 5"/>
                      <p:cNvPicPr>
                        <a:picLocks noChangeAspect="1" noChangeArrowheads="1"/>
                      </p:cNvPicPr>
                      <p:nvPr/>
                    </p:nvPicPr>
                    <p:blipFill>
                      <a:blip r:embed="rId4"/>
                      <a:srcRect/>
                      <a:stretch>
                        <a:fillRect/>
                      </a:stretch>
                    </p:blipFill>
                    <p:spPr bwMode="auto">
                      <a:xfrm>
                        <a:off x="3178932" y="2344080"/>
                        <a:ext cx="4570598" cy="787771"/>
                      </a:xfrm>
                      <a:prstGeom prst="rect">
                        <a:avLst/>
                      </a:prstGeom>
                      <a:noFill/>
                    </p:spPr>
                  </p:pic>
                </p:oleObj>
              </mc:Fallback>
            </mc:AlternateContent>
          </a:graphicData>
        </a:graphic>
      </p:graphicFrame>
    </p:spTree>
    <p:extLst>
      <p:ext uri="{BB962C8B-B14F-4D97-AF65-F5344CB8AC3E}">
        <p14:creationId xmlns:p14="http://schemas.microsoft.com/office/powerpoint/2010/main" val="2705424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370114" y="471714"/>
            <a:ext cx="11371943" cy="2492990"/>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扩展内容：同步</a:t>
            </a:r>
            <a:endParaRPr lang="en-US" altLang="zh-CN" sz="3200" dirty="0" smtClean="0">
              <a:solidFill>
                <a:srgbClr val="FF0000"/>
              </a:solidFill>
              <a:latin typeface="隶书" panose="02010509060101010101" pitchFamily="49" charset="-122"/>
              <a:ea typeface="隶书" panose="02010509060101010101" pitchFamily="49" charset="-122"/>
            </a:endParaRPr>
          </a:p>
          <a:p>
            <a:pPr marL="285750" indent="-285750">
              <a:lnSpc>
                <a:spcPct val="150000"/>
              </a:lnSpc>
              <a:buFont typeface="Arial" panose="020B0604020202020204" pitchFamily="34" charset="0"/>
              <a:buChar char="•"/>
            </a:pPr>
            <a:r>
              <a:rPr lang="zh-CN" altLang="en-US" sz="1800" dirty="0"/>
              <a:t>接收端产生一个与发送端</a:t>
            </a:r>
            <a:r>
              <a:rPr lang="zh-CN" altLang="en-US" sz="1800" dirty="0">
                <a:solidFill>
                  <a:srgbClr val="FF0000"/>
                </a:solidFill>
              </a:rPr>
              <a:t>同频或同相</a:t>
            </a:r>
            <a:r>
              <a:rPr lang="zh-CN" altLang="en-US" sz="1800" dirty="0"/>
              <a:t>的参考信号，称为同步</a:t>
            </a:r>
            <a:endParaRPr lang="en-US" altLang="zh-CN" sz="1800" dirty="0"/>
          </a:p>
          <a:p>
            <a:pPr marL="285750" indent="-285750">
              <a:lnSpc>
                <a:spcPct val="150000"/>
              </a:lnSpc>
              <a:buFont typeface="Arial" panose="020B0604020202020204" pitchFamily="34" charset="0"/>
              <a:buChar char="•"/>
            </a:pPr>
            <a:r>
              <a:rPr lang="zh-CN" altLang="en-US" sz="1800" dirty="0"/>
              <a:t>模拟通信中常见的是载波（副载波）同步</a:t>
            </a:r>
            <a:endParaRPr lang="en-US" altLang="zh-CN" sz="1800" dirty="0"/>
          </a:p>
          <a:p>
            <a:pPr marL="285750" indent="-285750">
              <a:lnSpc>
                <a:spcPct val="150000"/>
              </a:lnSpc>
              <a:buFont typeface="Arial" panose="020B0604020202020204" pitchFamily="34" charset="0"/>
              <a:buChar char="•"/>
            </a:pPr>
            <a:r>
              <a:rPr lang="zh-CN" altLang="en-US" sz="1800" dirty="0"/>
              <a:t>数字通信中有载波同步、码元同步、帧同步等</a:t>
            </a:r>
            <a:endParaRPr lang="en-US" altLang="zh-CN" sz="1800" dirty="0"/>
          </a:p>
          <a:p>
            <a:pPr marL="285750" indent="-285750">
              <a:lnSpc>
                <a:spcPct val="150000"/>
              </a:lnSpc>
              <a:buFont typeface="Arial" panose="020B0604020202020204" pitchFamily="34" charset="0"/>
              <a:buChar char="•"/>
            </a:pPr>
            <a:r>
              <a:rPr lang="zh-CN" altLang="en-US" sz="1800" dirty="0"/>
              <a:t>载波同步通常用硬件完成，码元同步可以硬件完成也可以由软件完成，帧同步通常由软件完成</a:t>
            </a:r>
            <a:endParaRPr lang="en-US" altLang="zh-CN" sz="1800" dirty="0"/>
          </a:p>
        </p:txBody>
      </p:sp>
    </p:spTree>
    <p:extLst>
      <p:ext uri="{BB962C8B-B14F-4D97-AF65-F5344CB8AC3E}">
        <p14:creationId xmlns:p14="http://schemas.microsoft.com/office/powerpoint/2010/main" val="4167289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3059113" y="1700341"/>
            <a:ext cx="2036968" cy="1203674"/>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矩形 4"/>
          <p:cNvSpPr/>
          <p:nvPr/>
        </p:nvSpPr>
        <p:spPr>
          <a:xfrm>
            <a:off x="408374" y="329037"/>
            <a:ext cx="11310150" cy="1061829"/>
          </a:xfrm>
          <a:prstGeom prst="rect">
            <a:avLst/>
          </a:prstGeom>
        </p:spPr>
        <p:txBody>
          <a:bodyPr wrap="square">
            <a:spAutoFit/>
          </a:bodyPr>
          <a:lstStyle/>
          <a:p>
            <a:pPr>
              <a:lnSpc>
                <a:spcPct val="150000"/>
              </a:lnSpc>
            </a:pPr>
            <a:r>
              <a:rPr lang="zh-CN" altLang="en-US" sz="2400" dirty="0">
                <a:solidFill>
                  <a:srgbClr val="FF0000"/>
                </a:solidFill>
                <a:latin typeface="隶书" panose="02010509060101010101" pitchFamily="49" charset="-122"/>
                <a:ea typeface="隶书" panose="02010509060101010101" pitchFamily="49" charset="-122"/>
              </a:rPr>
              <a:t>模拟通信中的载波同步举例</a:t>
            </a:r>
            <a:endParaRPr lang="en-US" altLang="zh-CN" sz="24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t>调频立体声广播</a:t>
            </a:r>
          </a:p>
        </p:txBody>
      </p:sp>
      <p:graphicFrame>
        <p:nvGraphicFramePr>
          <p:cNvPr id="7" name="对象 6"/>
          <p:cNvGraphicFramePr>
            <a:graphicFrameLocks noChangeAspect="1"/>
          </p:cNvGraphicFramePr>
          <p:nvPr>
            <p:extLst/>
          </p:nvPr>
        </p:nvGraphicFramePr>
        <p:xfrm>
          <a:off x="2938360" y="1627981"/>
          <a:ext cx="6460304" cy="1276035"/>
        </p:xfrm>
        <a:graphic>
          <a:graphicData uri="http://schemas.openxmlformats.org/presentationml/2006/ole">
            <mc:AlternateContent xmlns:mc="http://schemas.openxmlformats.org/markup-compatibility/2006">
              <mc:Choice xmlns:v="urn:schemas-microsoft-com:vml" Requires="v">
                <p:oleObj spid="_x0000_s37895" name="Visio" r:id="rId3" imgW="3441511" imgH="660503" progId="Visio.Drawing.15">
                  <p:embed/>
                </p:oleObj>
              </mc:Choice>
              <mc:Fallback>
                <p:oleObj name="Visio" r:id="rId3" imgW="3441511" imgH="660503"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8360" y="1627981"/>
                        <a:ext cx="6460304" cy="1276035"/>
                      </a:xfrm>
                      <a:prstGeom prst="rect">
                        <a:avLst/>
                      </a:prstGeom>
                      <a:noFill/>
                    </p:spPr>
                  </p:pic>
                </p:oleObj>
              </mc:Fallback>
            </mc:AlternateContent>
          </a:graphicData>
        </a:graphic>
      </p:graphicFrame>
      <p:sp>
        <p:nvSpPr>
          <p:cNvPr id="8" name="矩形 7"/>
          <p:cNvSpPr/>
          <p:nvPr/>
        </p:nvSpPr>
        <p:spPr>
          <a:xfrm>
            <a:off x="408374" y="3458882"/>
            <a:ext cx="11413211" cy="2613023"/>
          </a:xfrm>
          <a:prstGeom prst="rect">
            <a:avLst/>
          </a:prstGeom>
        </p:spPr>
        <p:txBody>
          <a:bodyPr wrap="square">
            <a:spAutoFit/>
          </a:bodyPr>
          <a:lstStyle/>
          <a:p>
            <a:pPr marL="342900" indent="-342900">
              <a:lnSpc>
                <a:spcPct val="130000"/>
              </a:lnSpc>
              <a:buFont typeface="Arial" panose="020B0604020202020204" pitchFamily="34" charset="0"/>
              <a:buChar char="•"/>
            </a:pPr>
            <a:r>
              <a:rPr lang="zh-CN" altLang="en-US" sz="1800" dirty="0">
                <a:latin typeface="华文细黑" panose="02010600040101010101" pitchFamily="2" charset="-122"/>
                <a:cs typeface="Times New Roman" panose="02020603050405020304" pitchFamily="18" charset="0"/>
              </a:rPr>
              <a:t>为了与单声道接收机兼容，将左右声道变换为主副声道，</a:t>
            </a:r>
            <a:r>
              <a:rPr lang="zh-CN" altLang="zh-CN" sz="1800" dirty="0">
                <a:latin typeface="华文细黑" panose="02010600040101010101" pitchFamily="2" charset="-122"/>
                <a:cs typeface="Times New Roman" panose="02020603050405020304" pitchFamily="18" charset="0"/>
              </a:rPr>
              <a:t>主声道</a:t>
            </a:r>
            <a:r>
              <a:rPr lang="en-US" altLang="zh-CN" sz="1800" dirty="0">
                <a:latin typeface="Times New Roman" panose="02020603050405020304" pitchFamily="18" charset="0"/>
                <a:ea typeface="宋体" panose="02010600030101010101" pitchFamily="2" charset="-122"/>
              </a:rPr>
              <a:t>M=L+R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latin typeface="华文细黑" panose="02010600040101010101" pitchFamily="2" charset="-122"/>
                <a:cs typeface="Times New Roman" panose="02020603050405020304" pitchFamily="18" charset="0"/>
              </a:rPr>
              <a:t>副声道</a:t>
            </a:r>
            <a:r>
              <a:rPr lang="en-US" altLang="zh-CN" sz="1800" dirty="0">
                <a:latin typeface="Times New Roman" panose="02020603050405020304" pitchFamily="18" charset="0"/>
                <a:ea typeface="宋体" panose="02010600030101010101" pitchFamily="2" charset="-122"/>
              </a:rPr>
              <a:t>S=L-R</a:t>
            </a:r>
            <a:r>
              <a:rPr lang="zh-CN" altLang="en-US" sz="1800" dirty="0">
                <a:latin typeface="Times New Roman" panose="02020603050405020304" pitchFamily="18" charset="0"/>
                <a:ea typeface="宋体" panose="02010600030101010101" pitchFamily="2" charset="-122"/>
              </a:rPr>
              <a:t>，</a:t>
            </a:r>
            <a:r>
              <a:rPr lang="zh-CN" altLang="en-US" sz="1800" dirty="0">
                <a:latin typeface="+mn-ea"/>
                <a:ea typeface="+mn-ea"/>
              </a:rPr>
              <a:t>单声道接收机只接收主声道，立体声接收机接收全部声道</a:t>
            </a:r>
            <a:endParaRPr lang="en-US" altLang="zh-CN" sz="1800" dirty="0">
              <a:latin typeface="+mn-ea"/>
              <a:ea typeface="+mn-ea"/>
            </a:endParaRPr>
          </a:p>
          <a:p>
            <a:pPr marL="342900" indent="-342900">
              <a:lnSpc>
                <a:spcPct val="130000"/>
              </a:lnSpc>
              <a:buFont typeface="Arial" panose="020B0604020202020204" pitchFamily="34" charset="0"/>
              <a:buChar char="•"/>
            </a:pPr>
            <a:r>
              <a:rPr lang="zh-CN" altLang="en-US" sz="1800" dirty="0"/>
              <a:t>副声道</a:t>
            </a:r>
            <a:r>
              <a:rPr lang="zh-CN" altLang="zh-CN" sz="1800" dirty="0"/>
              <a:t>信号用</a:t>
            </a:r>
            <a:r>
              <a:rPr lang="en-US" altLang="zh-CN" sz="1800" dirty="0"/>
              <a:t>DSB</a:t>
            </a:r>
            <a:r>
              <a:rPr lang="zh-CN" altLang="zh-CN" sz="1800" dirty="0"/>
              <a:t>方式调制到</a:t>
            </a:r>
            <a:r>
              <a:rPr lang="en-US" altLang="zh-CN" sz="1800" dirty="0"/>
              <a:t>38kHz</a:t>
            </a:r>
            <a:r>
              <a:rPr lang="zh-CN" altLang="zh-CN" sz="1800" dirty="0"/>
              <a:t>的副载频</a:t>
            </a:r>
            <a:r>
              <a:rPr lang="zh-CN" altLang="zh-CN" sz="1800" dirty="0" smtClean="0"/>
              <a:t>上后</a:t>
            </a:r>
            <a:r>
              <a:rPr lang="zh-CN" altLang="zh-CN" sz="1800" dirty="0"/>
              <a:t>与</a:t>
            </a:r>
            <a:r>
              <a:rPr lang="zh-CN" altLang="en-US" sz="1800" dirty="0"/>
              <a:t>主声道</a:t>
            </a:r>
            <a:r>
              <a:rPr lang="zh-CN" altLang="zh-CN" sz="1800" dirty="0"/>
              <a:t>信号叠加，叠加后的信号称为复合立体声信号</a:t>
            </a:r>
            <a:endParaRPr lang="en-US" altLang="zh-CN" sz="1800" dirty="0"/>
          </a:p>
          <a:p>
            <a:pPr marL="342900" indent="-342900">
              <a:lnSpc>
                <a:spcPct val="130000"/>
              </a:lnSpc>
              <a:buFont typeface="Arial" panose="020B0604020202020204" pitchFamily="34" charset="0"/>
              <a:buChar char="•"/>
            </a:pPr>
            <a:r>
              <a:rPr lang="zh-CN" altLang="zh-CN" sz="1800" dirty="0"/>
              <a:t>复合立体声信号中插入一个</a:t>
            </a:r>
            <a:r>
              <a:rPr lang="en-US" altLang="zh-CN" sz="1800" dirty="0"/>
              <a:t>19kHz</a:t>
            </a:r>
            <a:r>
              <a:rPr lang="zh-CN" altLang="zh-CN" sz="1800" dirty="0"/>
              <a:t>的导频信号</a:t>
            </a:r>
            <a:endParaRPr lang="en-US" altLang="zh-CN" sz="1800" dirty="0"/>
          </a:p>
          <a:p>
            <a:pPr marL="342900" indent="-342900">
              <a:lnSpc>
                <a:spcPct val="130000"/>
              </a:lnSpc>
              <a:buFont typeface="Arial" panose="020B0604020202020204" pitchFamily="34" charset="0"/>
              <a:buChar char="•"/>
            </a:pPr>
            <a:r>
              <a:rPr lang="zh-CN" altLang="zh-CN" sz="1800" dirty="0"/>
              <a:t>接收机用锁相环锁定导频信号</a:t>
            </a:r>
            <a:r>
              <a:rPr lang="zh-CN" altLang="en-US" sz="1800" dirty="0"/>
              <a:t>（</a:t>
            </a:r>
            <a:r>
              <a:rPr lang="zh-CN" altLang="en-US" sz="1800" dirty="0">
                <a:solidFill>
                  <a:srgbClr val="FF0000"/>
                </a:solidFill>
              </a:rPr>
              <a:t>同步</a:t>
            </a:r>
            <a:r>
              <a:rPr lang="zh-CN" altLang="en-US" sz="1800" dirty="0"/>
              <a:t>），</a:t>
            </a:r>
            <a:r>
              <a:rPr lang="zh-CN" altLang="zh-CN" sz="1800" dirty="0"/>
              <a:t>倍频得到</a:t>
            </a:r>
            <a:r>
              <a:rPr lang="en-US" altLang="zh-CN" sz="1800" dirty="0"/>
              <a:t>38kHz</a:t>
            </a:r>
            <a:r>
              <a:rPr lang="zh-CN" altLang="zh-CN" sz="1800" dirty="0"/>
              <a:t>的副载频，然后将副载频与抑制载频的</a:t>
            </a:r>
            <a:r>
              <a:rPr lang="en-US" altLang="zh-CN" sz="1800" dirty="0"/>
              <a:t>S</a:t>
            </a:r>
            <a:r>
              <a:rPr lang="zh-CN" altLang="zh-CN" sz="1800" dirty="0"/>
              <a:t>信号叠加就得到普通</a:t>
            </a:r>
            <a:r>
              <a:rPr lang="en-US" altLang="zh-CN" sz="1800" dirty="0"/>
              <a:t>AM</a:t>
            </a:r>
            <a:r>
              <a:rPr lang="zh-CN" altLang="zh-CN" sz="1800" dirty="0"/>
              <a:t>方式的已调波</a:t>
            </a:r>
            <a:endParaRPr lang="en-US" altLang="zh-CN" sz="1800" dirty="0"/>
          </a:p>
          <a:p>
            <a:pPr marL="342900" indent="-342900">
              <a:lnSpc>
                <a:spcPct val="130000"/>
              </a:lnSpc>
              <a:buFont typeface="Arial" panose="020B0604020202020204" pitchFamily="34" charset="0"/>
              <a:buChar char="•"/>
            </a:pPr>
            <a:r>
              <a:rPr lang="zh-CN" altLang="en-US" sz="1800" dirty="0"/>
              <a:t>检波即可解调</a:t>
            </a:r>
            <a:r>
              <a:rPr lang="en-US" altLang="zh-CN" sz="1800" dirty="0"/>
              <a:t>S</a:t>
            </a:r>
            <a:r>
              <a:rPr lang="zh-CN" altLang="en-US" sz="1800" dirty="0"/>
              <a:t>信号，所以此“副载波同步”只要频率同步即可</a:t>
            </a:r>
          </a:p>
        </p:txBody>
      </p:sp>
      <p:sp>
        <p:nvSpPr>
          <p:cNvPr id="9" name="椭圆 8"/>
          <p:cNvSpPr/>
          <p:nvPr/>
        </p:nvSpPr>
        <p:spPr>
          <a:xfrm>
            <a:off x="3109399" y="1577726"/>
            <a:ext cx="5710065" cy="1428435"/>
          </a:xfrm>
          <a:prstGeom prst="ellipse">
            <a:avLst/>
          </a:prstGeom>
          <a:noFill/>
          <a:ln>
            <a:solidFill>
              <a:schemeClr val="accent3">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847849" y="1827065"/>
            <a:ext cx="1424742" cy="584775"/>
          </a:xfrm>
          <a:prstGeom prst="rect">
            <a:avLst/>
          </a:prstGeom>
          <a:noFill/>
        </p:spPr>
        <p:txBody>
          <a:bodyPr wrap="square" rtlCol="0">
            <a:spAutoFit/>
          </a:bodyPr>
          <a:lstStyle/>
          <a:p>
            <a:r>
              <a:rPr lang="zh-CN" altLang="en-US" sz="1600" dirty="0">
                <a:solidFill>
                  <a:srgbClr val="006C31"/>
                </a:solidFill>
              </a:rPr>
              <a:t>单声道接收</a:t>
            </a:r>
            <a:endParaRPr lang="en-US" altLang="zh-CN" sz="1600" dirty="0">
              <a:solidFill>
                <a:srgbClr val="006C31"/>
              </a:solidFill>
            </a:endParaRPr>
          </a:p>
          <a:p>
            <a:r>
              <a:rPr lang="zh-CN" altLang="en-US" sz="1600" dirty="0">
                <a:solidFill>
                  <a:srgbClr val="006C31"/>
                </a:solidFill>
              </a:rPr>
              <a:t>主声道</a:t>
            </a:r>
          </a:p>
        </p:txBody>
      </p:sp>
      <p:sp>
        <p:nvSpPr>
          <p:cNvPr id="11" name="文本框 10"/>
          <p:cNvSpPr txBox="1"/>
          <p:nvPr/>
        </p:nvSpPr>
        <p:spPr>
          <a:xfrm>
            <a:off x="8552390" y="1534677"/>
            <a:ext cx="1263056" cy="584775"/>
          </a:xfrm>
          <a:prstGeom prst="rect">
            <a:avLst/>
          </a:prstGeom>
          <a:noFill/>
        </p:spPr>
        <p:txBody>
          <a:bodyPr wrap="square" rtlCol="0">
            <a:spAutoFit/>
          </a:bodyPr>
          <a:lstStyle/>
          <a:p>
            <a:r>
              <a:rPr lang="zh-CN" altLang="en-US" sz="1600" dirty="0">
                <a:solidFill>
                  <a:schemeClr val="accent3">
                    <a:lumMod val="50000"/>
                  </a:schemeClr>
                </a:solidFill>
                <a:latin typeface="黑体" panose="02010609060101010101" pitchFamily="49" charset="-122"/>
                <a:ea typeface="黑体" panose="02010609060101010101" pitchFamily="49" charset="-122"/>
              </a:rPr>
              <a:t>立体声接收</a:t>
            </a:r>
            <a:endParaRPr lang="en-US" altLang="zh-CN" sz="1600" dirty="0">
              <a:solidFill>
                <a:schemeClr val="accent3">
                  <a:lumMod val="50000"/>
                </a:schemeClr>
              </a:solidFill>
              <a:latin typeface="黑体" panose="02010609060101010101" pitchFamily="49" charset="-122"/>
              <a:ea typeface="黑体" panose="02010609060101010101" pitchFamily="49" charset="-122"/>
            </a:endParaRPr>
          </a:p>
          <a:p>
            <a:r>
              <a:rPr lang="zh-CN" altLang="en-US" sz="1600" dirty="0">
                <a:solidFill>
                  <a:schemeClr val="accent3">
                    <a:lumMod val="50000"/>
                  </a:schemeClr>
                </a:solidFill>
                <a:latin typeface="黑体" panose="02010609060101010101" pitchFamily="49" charset="-122"/>
                <a:ea typeface="黑体" panose="02010609060101010101" pitchFamily="49" charset="-122"/>
              </a:rPr>
              <a:t>全部声道</a:t>
            </a:r>
          </a:p>
        </p:txBody>
      </p:sp>
    </p:spTree>
    <p:extLst>
      <p:ext uri="{BB962C8B-B14F-4D97-AF65-F5344CB8AC3E}">
        <p14:creationId xmlns:p14="http://schemas.microsoft.com/office/powerpoint/2010/main" val="4112771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矩形 4"/>
          <p:cNvSpPr/>
          <p:nvPr/>
        </p:nvSpPr>
        <p:spPr>
          <a:xfrm>
            <a:off x="417250" y="493497"/>
            <a:ext cx="11404335" cy="5355312"/>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sz="1800" dirty="0"/>
              <a:t>彩电中的彩色副载波</a:t>
            </a:r>
            <a:endParaRPr lang="en-US" altLang="zh-CN" sz="1800" dirty="0"/>
          </a:p>
          <a:p>
            <a:pPr marL="342900" indent="-342900">
              <a:lnSpc>
                <a:spcPct val="150000"/>
              </a:lnSpc>
              <a:buFont typeface="Arial" panose="020B0604020202020204" pitchFamily="34" charset="0"/>
              <a:buChar char="•"/>
            </a:pPr>
            <a:r>
              <a:rPr lang="zh-CN" altLang="en-US" sz="1800" dirty="0"/>
              <a:t>模拟彩电的色度信号采用正交调幅形式，其相位表示颜色，幅度表示颜色的饱和度。接收端采用同步解调恢复其相位与幅度</a:t>
            </a:r>
            <a:endParaRPr lang="en-US" altLang="zh-CN" sz="1800" dirty="0"/>
          </a:p>
          <a:p>
            <a:pPr marL="342900" indent="-342900">
              <a:lnSpc>
                <a:spcPct val="150000"/>
              </a:lnSpc>
              <a:buFont typeface="Arial" panose="020B0604020202020204" pitchFamily="34" charset="0"/>
              <a:buChar char="•"/>
            </a:pPr>
            <a:r>
              <a:rPr lang="zh-CN" altLang="en-US" sz="1800" dirty="0"/>
              <a:t>发送端在每行电视信号的回扫期间插入色同步信号作为参考相位</a:t>
            </a:r>
            <a:endParaRPr lang="en-US" altLang="zh-CN" sz="1800" dirty="0"/>
          </a:p>
          <a:p>
            <a:pPr marL="342900" indent="-342900">
              <a:lnSpc>
                <a:spcPct val="150000"/>
              </a:lnSpc>
              <a:buFont typeface="Arial" panose="020B0604020202020204" pitchFamily="34" charset="0"/>
              <a:buChar char="•"/>
            </a:pPr>
            <a:endParaRPr lang="en-US" altLang="zh-CN" sz="1600" dirty="0"/>
          </a:p>
          <a:p>
            <a:pPr marL="342900" indent="-342900">
              <a:lnSpc>
                <a:spcPct val="150000"/>
              </a:lnSpc>
              <a:buFont typeface="Arial" panose="020B0604020202020204" pitchFamily="34" charset="0"/>
              <a:buChar char="•"/>
            </a:pPr>
            <a:endParaRPr lang="en-US" altLang="zh-CN" sz="1800" dirty="0"/>
          </a:p>
          <a:p>
            <a:pPr marL="342900" indent="-342900">
              <a:lnSpc>
                <a:spcPct val="150000"/>
              </a:lnSpc>
              <a:buFont typeface="Arial" panose="020B0604020202020204" pitchFamily="34" charset="0"/>
              <a:buChar char="•"/>
            </a:pPr>
            <a:endParaRPr lang="en-US" altLang="zh-CN" sz="1800" dirty="0"/>
          </a:p>
          <a:p>
            <a:pPr marL="342900" indent="-342900">
              <a:lnSpc>
                <a:spcPct val="150000"/>
              </a:lnSpc>
              <a:buFont typeface="Arial" panose="020B0604020202020204" pitchFamily="34" charset="0"/>
              <a:buChar char="•"/>
            </a:pPr>
            <a:endParaRPr lang="en-US" altLang="zh-CN" sz="1800" dirty="0" smtClean="0"/>
          </a:p>
          <a:p>
            <a:pPr marL="342900" indent="-342900">
              <a:lnSpc>
                <a:spcPct val="150000"/>
              </a:lnSpc>
              <a:buFont typeface="Arial" panose="020B0604020202020204" pitchFamily="34" charset="0"/>
              <a:buChar char="•"/>
            </a:pPr>
            <a:endParaRPr lang="en-US" altLang="zh-CN" sz="1800" dirty="0"/>
          </a:p>
          <a:p>
            <a:pPr marL="342900" indent="-342900">
              <a:lnSpc>
                <a:spcPct val="150000"/>
              </a:lnSpc>
              <a:buFont typeface="Arial" panose="020B0604020202020204" pitchFamily="34" charset="0"/>
              <a:buChar char="•"/>
            </a:pPr>
            <a:endParaRPr lang="en-US" altLang="zh-CN" sz="1400" dirty="0"/>
          </a:p>
          <a:p>
            <a:pPr marL="342900" indent="-342900">
              <a:lnSpc>
                <a:spcPct val="150000"/>
              </a:lnSpc>
              <a:buFont typeface="Arial" panose="020B0604020202020204" pitchFamily="34" charset="0"/>
              <a:buChar char="•"/>
            </a:pPr>
            <a:r>
              <a:rPr lang="zh-CN" altLang="en-US" sz="1800" dirty="0"/>
              <a:t>接收机用锁相环锁定色同步信号（</a:t>
            </a:r>
            <a:r>
              <a:rPr lang="zh-CN" altLang="en-US" sz="1800" dirty="0">
                <a:solidFill>
                  <a:srgbClr val="FF0000"/>
                </a:solidFill>
              </a:rPr>
              <a:t>同步</a:t>
            </a:r>
            <a:r>
              <a:rPr lang="zh-CN" altLang="en-US" sz="1800" dirty="0"/>
              <a:t>），得到一个与发送端同频同相的“彩色副载频”信号作为恢复色度信号的参考相位</a:t>
            </a:r>
            <a:endParaRPr lang="en-US" altLang="zh-CN" sz="1800" dirty="0"/>
          </a:p>
          <a:p>
            <a:pPr marL="342900" indent="-342900">
              <a:lnSpc>
                <a:spcPct val="150000"/>
              </a:lnSpc>
              <a:buFont typeface="Arial" panose="020B0604020202020204" pitchFamily="34" charset="0"/>
              <a:buChar char="•"/>
            </a:pPr>
            <a:r>
              <a:rPr lang="zh-CN" altLang="en-US" sz="1800" dirty="0"/>
              <a:t>解调色度信号需要以同步信号做参考相位，所以此“副载波同步”必须做到相位同步</a:t>
            </a:r>
          </a:p>
        </p:txBody>
      </p:sp>
      <p:graphicFrame>
        <p:nvGraphicFramePr>
          <p:cNvPr id="7" name="对象 6"/>
          <p:cNvGraphicFramePr>
            <a:graphicFrameLocks noChangeAspect="1"/>
          </p:cNvGraphicFramePr>
          <p:nvPr>
            <p:extLst>
              <p:ext uri="{D42A27DB-BD31-4B8C-83A1-F6EECF244321}">
                <p14:modId xmlns:p14="http://schemas.microsoft.com/office/powerpoint/2010/main" val="2162478528"/>
              </p:ext>
            </p:extLst>
          </p:nvPr>
        </p:nvGraphicFramePr>
        <p:xfrm>
          <a:off x="1969367" y="2502890"/>
          <a:ext cx="7857577" cy="1539350"/>
        </p:xfrm>
        <a:graphic>
          <a:graphicData uri="http://schemas.openxmlformats.org/presentationml/2006/ole">
            <mc:AlternateContent xmlns:mc="http://schemas.openxmlformats.org/markup-compatibility/2006">
              <mc:Choice xmlns:v="urn:schemas-microsoft-com:vml" Requires="v">
                <p:oleObj spid="_x0000_s38919" name="Visio" r:id="rId3" imgW="4927566" imgH="977990" progId="Visio.Drawing.11">
                  <p:embed/>
                </p:oleObj>
              </mc:Choice>
              <mc:Fallback>
                <p:oleObj name="Visio" r:id="rId3" imgW="4927566" imgH="977990"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9367" y="2502890"/>
                        <a:ext cx="7857577" cy="1539350"/>
                      </a:xfrm>
                      <a:prstGeom prst="rect">
                        <a:avLst/>
                      </a:prstGeom>
                      <a:noFill/>
                    </p:spPr>
                  </p:pic>
                </p:oleObj>
              </mc:Fallback>
            </mc:AlternateContent>
          </a:graphicData>
        </a:graphic>
      </p:graphicFrame>
    </p:spTree>
    <p:extLst>
      <p:ext uri="{BB962C8B-B14F-4D97-AF65-F5344CB8AC3E}">
        <p14:creationId xmlns:p14="http://schemas.microsoft.com/office/powerpoint/2010/main" val="392836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389373" y="292255"/>
            <a:ext cx="11432212" cy="2723823"/>
          </a:xfrm>
          <a:prstGeom prst="rect">
            <a:avLst/>
          </a:prstGeom>
          <a:noFill/>
        </p:spPr>
        <p:txBody>
          <a:bodyPr wrap="square" rtlCol="0">
            <a:spAutoFit/>
          </a:bodyPr>
          <a:lstStyle/>
          <a:p>
            <a:pPr>
              <a:lnSpc>
                <a:spcPct val="150000"/>
              </a:lnSpc>
            </a:pPr>
            <a:r>
              <a:rPr lang="zh-CN" altLang="en-US" sz="2400" dirty="0" smtClean="0">
                <a:solidFill>
                  <a:srgbClr val="FF0000"/>
                </a:solidFill>
                <a:latin typeface="隶书" panose="02010509060101010101" pitchFamily="49" charset="-122"/>
                <a:ea typeface="隶书" panose="02010509060101010101" pitchFamily="49" charset="-122"/>
              </a:rPr>
              <a:t>数字通信中的载波同步电路举例</a:t>
            </a:r>
            <a:endParaRPr lang="en-US" altLang="zh-CN" sz="24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smtClean="0"/>
              <a:t>平方环</a:t>
            </a:r>
            <a:endParaRPr lang="en-US" altLang="zh-CN" sz="1800" dirty="0" smtClean="0"/>
          </a:p>
          <a:p>
            <a:pPr marL="342900" indent="-342900">
              <a:lnSpc>
                <a:spcPct val="150000"/>
              </a:lnSpc>
              <a:buFont typeface="Arial" panose="020B0604020202020204" pitchFamily="34" charset="0"/>
              <a:buChar char="•"/>
            </a:pPr>
            <a:r>
              <a:rPr lang="zh-CN" altLang="zh-CN" sz="1800" dirty="0" smtClean="0"/>
              <a:t>数字通信</a:t>
            </a:r>
            <a:r>
              <a:rPr lang="zh-CN" altLang="zh-CN" sz="1800" dirty="0"/>
              <a:t>中原始的数字信号经过编码后对载波进行调制，通常编码后的数字流中的</a:t>
            </a:r>
            <a:r>
              <a:rPr lang="en-US" altLang="zh-CN" sz="1800" dirty="0"/>
              <a:t>0</a:t>
            </a:r>
            <a:r>
              <a:rPr lang="zh-CN" altLang="zh-CN" sz="1800" dirty="0"/>
              <a:t>和</a:t>
            </a:r>
            <a:r>
              <a:rPr lang="en-US" altLang="zh-CN" sz="1800" dirty="0"/>
              <a:t>1</a:t>
            </a:r>
            <a:r>
              <a:rPr lang="zh-CN" altLang="zh-CN" sz="1800" dirty="0"/>
              <a:t>具有相同的出现概率，所以调制后的信号中几乎没有载波</a:t>
            </a:r>
            <a:r>
              <a:rPr lang="zh-CN" altLang="zh-CN" sz="1800" dirty="0" smtClean="0"/>
              <a:t>分量</a:t>
            </a:r>
            <a:r>
              <a:rPr lang="zh-CN" altLang="en-US" sz="1800" dirty="0" smtClean="0"/>
              <a:t>（二进制载波抑制信号，类似模拟调制中的</a:t>
            </a:r>
            <a:r>
              <a:rPr lang="en-US" altLang="zh-CN" sz="1800" dirty="0" smtClean="0"/>
              <a:t>DSB</a:t>
            </a:r>
            <a:r>
              <a:rPr lang="zh-CN" altLang="en-US" sz="1800" dirty="0" smtClean="0"/>
              <a:t>信号）</a:t>
            </a:r>
            <a:endParaRPr lang="en-US" altLang="zh-CN" sz="1800" dirty="0" smtClean="0"/>
          </a:p>
          <a:p>
            <a:pPr marL="342900" indent="-342900">
              <a:lnSpc>
                <a:spcPct val="150000"/>
              </a:lnSpc>
              <a:buFont typeface="Arial" panose="020B0604020202020204" pitchFamily="34" charset="0"/>
              <a:buChar char="•"/>
            </a:pPr>
            <a:r>
              <a:rPr lang="zh-CN" altLang="en-US" sz="1800" dirty="0" smtClean="0"/>
              <a:t>为了</a:t>
            </a:r>
            <a:r>
              <a:rPr lang="zh-CN" altLang="zh-CN" sz="1800" dirty="0" smtClean="0"/>
              <a:t>用锁相环恢复同步信号</a:t>
            </a:r>
            <a:r>
              <a:rPr lang="zh-CN" altLang="en-US" sz="1800" dirty="0" smtClean="0"/>
              <a:t>，</a:t>
            </a:r>
            <a:r>
              <a:rPr lang="zh-CN" altLang="zh-CN" sz="1800" dirty="0" smtClean="0"/>
              <a:t>将</a:t>
            </a:r>
            <a:r>
              <a:rPr lang="zh-CN" altLang="en-US" sz="1800" dirty="0"/>
              <a:t>二进制载波抑制</a:t>
            </a:r>
            <a:r>
              <a:rPr lang="zh-CN" altLang="zh-CN" sz="1800" dirty="0"/>
              <a:t>信号用乘法器平方，得到的信号含有载频的</a:t>
            </a:r>
            <a:r>
              <a:rPr lang="en-US" altLang="zh-CN" sz="1800" dirty="0"/>
              <a:t>2</a:t>
            </a:r>
            <a:r>
              <a:rPr lang="zh-CN" altLang="zh-CN" sz="1800" dirty="0"/>
              <a:t>倍频分量，然后用锁相环锁定此</a:t>
            </a:r>
            <a:r>
              <a:rPr lang="en-US" altLang="zh-CN" sz="1800" dirty="0"/>
              <a:t>2</a:t>
            </a:r>
            <a:r>
              <a:rPr lang="zh-CN" altLang="zh-CN" sz="1800" dirty="0"/>
              <a:t>倍频</a:t>
            </a:r>
            <a:r>
              <a:rPr lang="zh-CN" altLang="zh-CN" sz="1800" dirty="0" smtClean="0"/>
              <a:t>分量</a:t>
            </a:r>
            <a:r>
              <a:rPr lang="zh-CN" altLang="en-US" sz="1800" dirty="0" smtClean="0"/>
              <a:t>（</a:t>
            </a:r>
            <a:r>
              <a:rPr lang="zh-CN" altLang="en-US" sz="1800" dirty="0" smtClean="0">
                <a:solidFill>
                  <a:srgbClr val="FF0000"/>
                </a:solidFill>
              </a:rPr>
              <a:t>同步</a:t>
            </a:r>
            <a:r>
              <a:rPr lang="zh-CN" altLang="en-US" sz="1800" dirty="0" smtClean="0"/>
              <a:t>）</a:t>
            </a:r>
            <a:r>
              <a:rPr lang="zh-CN" altLang="zh-CN" sz="1800" dirty="0" smtClean="0"/>
              <a:t>，</a:t>
            </a:r>
            <a:r>
              <a:rPr lang="zh-CN" altLang="zh-CN" sz="1800" dirty="0"/>
              <a:t>再经</a:t>
            </a:r>
            <a:r>
              <a:rPr lang="en-US" altLang="zh-CN" sz="1800" dirty="0"/>
              <a:t>2</a:t>
            </a:r>
            <a:r>
              <a:rPr lang="zh-CN" altLang="zh-CN" sz="1800" dirty="0"/>
              <a:t>分频就得到了恢复的</a:t>
            </a:r>
            <a:r>
              <a:rPr lang="zh-CN" altLang="zh-CN" sz="1800" dirty="0" smtClean="0"/>
              <a:t>载频</a:t>
            </a:r>
            <a:endParaRPr lang="zh-CN" altLang="en-US" sz="1800" dirty="0"/>
          </a:p>
        </p:txBody>
      </p:sp>
      <p:pic>
        <p:nvPicPr>
          <p:cNvPr id="6" name="图片 5"/>
          <p:cNvPicPr>
            <a:picLocks noChangeAspect="1"/>
          </p:cNvPicPr>
          <p:nvPr/>
        </p:nvPicPr>
        <p:blipFill>
          <a:blip r:embed="rId2"/>
          <a:stretch>
            <a:fillRect/>
          </a:stretch>
        </p:blipFill>
        <p:spPr>
          <a:xfrm>
            <a:off x="2077021" y="3367776"/>
            <a:ext cx="7094581" cy="2771321"/>
          </a:xfrm>
          <a:prstGeom prst="rect">
            <a:avLst/>
          </a:prstGeom>
        </p:spPr>
      </p:pic>
      <p:sp>
        <p:nvSpPr>
          <p:cNvPr id="7" name="文本框 6"/>
          <p:cNvSpPr txBox="1"/>
          <p:nvPr/>
        </p:nvSpPr>
        <p:spPr>
          <a:xfrm>
            <a:off x="5022909" y="3168679"/>
            <a:ext cx="2170878" cy="523220"/>
          </a:xfrm>
          <a:prstGeom prst="rect">
            <a:avLst/>
          </a:prstGeom>
          <a:solidFill>
            <a:srgbClr val="FFFF00"/>
          </a:solidFill>
        </p:spPr>
        <p:txBody>
          <a:bodyPr wrap="square" rtlCol="0">
            <a:spAutoFit/>
          </a:bodyPr>
          <a:lstStyle/>
          <a:p>
            <a:pPr algn="ctr"/>
            <a:r>
              <a:rPr lang="zh-CN" altLang="en-US" sz="1400" dirty="0" smtClean="0"/>
              <a:t>锁相环等效于窄带滤波器</a:t>
            </a:r>
            <a:endParaRPr lang="en-US" altLang="zh-CN" sz="1400" dirty="0" smtClean="0"/>
          </a:p>
          <a:p>
            <a:pPr algn="ctr"/>
            <a:r>
              <a:rPr lang="zh-CN" altLang="en-US" sz="1400" dirty="0" smtClean="0"/>
              <a:t>取出载波的二倍频分量</a:t>
            </a:r>
            <a:endParaRPr lang="zh-CN" altLang="en-US" sz="1400" dirty="0"/>
          </a:p>
        </p:txBody>
      </p:sp>
    </p:spTree>
    <p:extLst>
      <p:ext uri="{BB962C8B-B14F-4D97-AF65-F5344CB8AC3E}">
        <p14:creationId xmlns:p14="http://schemas.microsoft.com/office/powerpoint/2010/main" val="1455140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6" name="矩形 5"/>
          <p:cNvSpPr/>
          <p:nvPr/>
        </p:nvSpPr>
        <p:spPr>
          <a:xfrm>
            <a:off x="475769" y="443217"/>
            <a:ext cx="11310152" cy="2114425"/>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sz="1800" dirty="0">
                <a:latin typeface="+mj-lt"/>
                <a:ea typeface="+mn-ea"/>
              </a:rPr>
              <a:t>Costas</a:t>
            </a:r>
            <a:r>
              <a:rPr lang="zh-CN" altLang="zh-CN" sz="1800" dirty="0">
                <a:latin typeface="+mn-ea"/>
                <a:ea typeface="+mn-ea"/>
                <a:cs typeface="Times New Roman" panose="02020603050405020304" pitchFamily="18" charset="0"/>
              </a:rPr>
              <a:t>环</a:t>
            </a:r>
            <a:endParaRPr lang="en-US" altLang="zh-CN" sz="1800" dirty="0">
              <a:latin typeface="+mn-ea"/>
              <a:ea typeface="+mn-ea"/>
              <a:cs typeface="Times New Roman" panose="02020603050405020304" pitchFamily="18" charset="0"/>
            </a:endParaRPr>
          </a:p>
          <a:p>
            <a:pPr marL="342900" indent="-342900">
              <a:lnSpc>
                <a:spcPct val="130000"/>
              </a:lnSpc>
              <a:buFont typeface="Arial" panose="020B0604020202020204" pitchFamily="34" charset="0"/>
              <a:buChar char="•"/>
            </a:pPr>
            <a:r>
              <a:rPr lang="zh-CN" altLang="en-US" sz="1800" dirty="0">
                <a:latin typeface="+mj-lt"/>
                <a:ea typeface="+mn-ea"/>
              </a:rPr>
              <a:t>应用于</a:t>
            </a:r>
            <a:r>
              <a:rPr lang="en-US" altLang="zh-CN" sz="1800" dirty="0">
                <a:latin typeface="+mj-lt"/>
                <a:ea typeface="+mn-ea"/>
              </a:rPr>
              <a:t>QPSK</a:t>
            </a:r>
            <a:r>
              <a:rPr lang="zh-CN" altLang="zh-CN" sz="1800" dirty="0">
                <a:latin typeface="+mn-ea"/>
                <a:ea typeface="+mn-ea"/>
                <a:cs typeface="Times New Roman" panose="02020603050405020304" pitchFamily="18" charset="0"/>
              </a:rPr>
              <a:t>、</a:t>
            </a:r>
            <a:r>
              <a:rPr lang="en-US" altLang="zh-CN" sz="1800" dirty="0">
                <a:latin typeface="+mj-lt"/>
                <a:ea typeface="+mn-ea"/>
              </a:rPr>
              <a:t>QAM</a:t>
            </a:r>
            <a:r>
              <a:rPr lang="zh-CN" altLang="zh-CN" sz="1800" dirty="0">
                <a:latin typeface="+mn-ea"/>
                <a:ea typeface="+mn-ea"/>
                <a:cs typeface="Times New Roman" panose="02020603050405020304" pitchFamily="18" charset="0"/>
              </a:rPr>
              <a:t>等</a:t>
            </a:r>
            <a:r>
              <a:rPr lang="zh-CN" altLang="en-US" sz="1800" dirty="0">
                <a:latin typeface="+mn-ea"/>
                <a:ea typeface="+mn-ea"/>
                <a:cs typeface="Times New Roman" panose="02020603050405020304" pitchFamily="18" charset="0"/>
              </a:rPr>
              <a:t>正交</a:t>
            </a:r>
            <a:r>
              <a:rPr lang="zh-CN" altLang="zh-CN" sz="1800" dirty="0">
                <a:latin typeface="+mn-ea"/>
                <a:ea typeface="+mn-ea"/>
                <a:cs typeface="Times New Roman" panose="02020603050405020304" pitchFamily="18" charset="0"/>
              </a:rPr>
              <a:t>调制</a:t>
            </a:r>
            <a:r>
              <a:rPr lang="zh-CN" altLang="en-US" sz="1800" dirty="0">
                <a:latin typeface="+mn-ea"/>
                <a:ea typeface="+mn-ea"/>
                <a:cs typeface="Times New Roman" panose="02020603050405020304" pitchFamily="18" charset="0"/>
              </a:rPr>
              <a:t>信号的解调</a:t>
            </a:r>
            <a:endParaRPr lang="en-US" altLang="zh-CN" sz="1800" dirty="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1800" dirty="0">
                <a:latin typeface="+mj-lt"/>
                <a:ea typeface="+mn-ea"/>
              </a:rPr>
              <a:t>可以看作是两个相互正交的锁相环的合成</a:t>
            </a:r>
            <a:r>
              <a:rPr lang="zh-CN" altLang="en-US" sz="1800" dirty="0">
                <a:latin typeface="+mj-lt"/>
                <a:ea typeface="+mn-ea"/>
              </a:rPr>
              <a:t>。锁相环锁定再输入信号的载频分量上（</a:t>
            </a:r>
            <a:r>
              <a:rPr lang="zh-CN" altLang="en-US" sz="1800" dirty="0">
                <a:solidFill>
                  <a:srgbClr val="FF0000"/>
                </a:solidFill>
                <a:latin typeface="+mj-lt"/>
                <a:ea typeface="+mn-ea"/>
              </a:rPr>
              <a:t>载波同步</a:t>
            </a:r>
            <a:r>
              <a:rPr lang="zh-CN" altLang="en-US" sz="1800" dirty="0">
                <a:latin typeface="+mj-lt"/>
                <a:ea typeface="+mn-ea"/>
              </a:rPr>
              <a:t>），</a:t>
            </a:r>
            <a:r>
              <a:rPr lang="en-US" altLang="zh-CN" sz="1800" dirty="0">
                <a:latin typeface="+mj-lt"/>
                <a:ea typeface="+mn-ea"/>
              </a:rPr>
              <a:t>VCO</a:t>
            </a:r>
            <a:r>
              <a:rPr lang="zh-CN" altLang="en-US" sz="1800" dirty="0">
                <a:latin typeface="+mj-lt"/>
                <a:ea typeface="+mn-ea"/>
              </a:rPr>
              <a:t>产生的两个相互正交的信号，与输入信号相乘后得到其</a:t>
            </a:r>
            <a:r>
              <a:rPr lang="en-US" altLang="zh-CN" sz="1800" dirty="0">
                <a:latin typeface="+mj-lt"/>
                <a:ea typeface="+mn-ea"/>
              </a:rPr>
              <a:t>IQ</a:t>
            </a:r>
            <a:r>
              <a:rPr lang="zh-CN" altLang="en-US" sz="1800" dirty="0">
                <a:latin typeface="+mj-lt"/>
                <a:ea typeface="+mn-ea"/>
              </a:rPr>
              <a:t>分量如下图</a:t>
            </a:r>
            <a:endParaRPr lang="en-US" altLang="zh-CN" sz="1800" dirty="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1800" dirty="0"/>
              <a:t>当</a:t>
            </a:r>
            <a:r>
              <a:rPr lang="el-GR" altLang="zh-CN" sz="1800" dirty="0">
                <a:latin typeface="Times New Roman" panose="02020603050405020304" pitchFamily="18" charset="0"/>
                <a:cs typeface="Times New Roman" panose="02020603050405020304" pitchFamily="18" charset="0"/>
              </a:rPr>
              <a:t>φ</a:t>
            </a:r>
            <a:r>
              <a:rPr lang="en-US" altLang="zh-CN" sz="1800" dirty="0">
                <a:latin typeface="Times New Roman" panose="02020603050405020304" pitchFamily="18" charset="0"/>
                <a:cs typeface="Times New Roman" panose="02020603050405020304" pitchFamily="18" charset="0"/>
              </a:rPr>
              <a:t>1=</a:t>
            </a:r>
            <a:r>
              <a:rPr lang="el-GR" altLang="zh-CN" sz="1800" dirty="0">
                <a:latin typeface="Times New Roman" panose="02020603050405020304" pitchFamily="18" charset="0"/>
                <a:cs typeface="Times New Roman" panose="02020603050405020304" pitchFamily="18" charset="0"/>
              </a:rPr>
              <a:t>φ</a:t>
            </a: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时，</a:t>
            </a:r>
            <a:r>
              <a:rPr lang="zh-CN" altLang="zh-CN" sz="1800" dirty="0"/>
              <a:t>输出</a:t>
            </a:r>
            <a:r>
              <a:rPr lang="zh-CN" altLang="en-US" sz="1800" dirty="0"/>
              <a:t>就是</a:t>
            </a:r>
            <a:r>
              <a:rPr lang="zh-CN" altLang="zh-CN" sz="1800" dirty="0"/>
              <a:t>解调后的基带比特流</a:t>
            </a:r>
            <a:r>
              <a:rPr lang="en-US" altLang="zh-CN" sz="1800" i="1" dirty="0">
                <a:latin typeface="+mn-lt"/>
              </a:rPr>
              <a:t>a</a:t>
            </a:r>
            <a:r>
              <a:rPr lang="en-US" altLang="zh-CN" sz="1800" dirty="0"/>
              <a:t>(</a:t>
            </a:r>
            <a:r>
              <a:rPr lang="en-US" altLang="zh-CN" sz="1800" i="1" dirty="0"/>
              <a:t>t</a:t>
            </a:r>
            <a:r>
              <a:rPr lang="en-US" altLang="zh-CN" sz="1800" dirty="0"/>
              <a:t>)</a:t>
            </a:r>
          </a:p>
        </p:txBody>
      </p:sp>
      <p:pic>
        <p:nvPicPr>
          <p:cNvPr id="7" name="图片 6"/>
          <p:cNvPicPr>
            <a:picLocks noChangeAspect="1"/>
          </p:cNvPicPr>
          <p:nvPr/>
        </p:nvPicPr>
        <p:blipFill>
          <a:blip r:embed="rId2"/>
          <a:stretch>
            <a:fillRect/>
          </a:stretch>
        </p:blipFill>
        <p:spPr>
          <a:xfrm>
            <a:off x="2046817" y="2986366"/>
            <a:ext cx="7982294" cy="2609821"/>
          </a:xfrm>
          <a:prstGeom prst="rect">
            <a:avLst/>
          </a:prstGeom>
        </p:spPr>
      </p:pic>
    </p:spTree>
    <p:extLst>
      <p:ext uri="{BB962C8B-B14F-4D97-AF65-F5344CB8AC3E}">
        <p14:creationId xmlns:p14="http://schemas.microsoft.com/office/powerpoint/2010/main" val="196934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矩形 4"/>
          <p:cNvSpPr/>
          <p:nvPr/>
        </p:nvSpPr>
        <p:spPr>
          <a:xfrm>
            <a:off x="435007" y="329037"/>
            <a:ext cx="11481222" cy="5309146"/>
          </a:xfrm>
          <a:prstGeom prst="rect">
            <a:avLst/>
          </a:prstGeom>
        </p:spPr>
        <p:txBody>
          <a:bodyPr wrap="square">
            <a:spAutoFit/>
          </a:bodyPr>
          <a:lstStyle/>
          <a:p>
            <a:pPr>
              <a:lnSpc>
                <a:spcPct val="150000"/>
              </a:lnSpc>
            </a:pPr>
            <a:r>
              <a:rPr lang="zh-CN" altLang="en-US" sz="2400" dirty="0">
                <a:solidFill>
                  <a:srgbClr val="FF0000"/>
                </a:solidFill>
                <a:latin typeface="隶书" panose="02010509060101010101" pitchFamily="49" charset="-122"/>
                <a:ea typeface="隶书" panose="02010509060101010101" pitchFamily="49" charset="-122"/>
              </a:rPr>
              <a:t>载波同步的特点以及载波同步电路的设计要点</a:t>
            </a:r>
            <a:endParaRPr lang="en-US" altLang="zh-CN" sz="24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t>无线通信条件下，载波信号的特点：高频率、低幅度，较差的信噪比</a:t>
            </a:r>
            <a:endParaRPr lang="en-US" altLang="zh-CN" sz="1800" dirty="0"/>
          </a:p>
          <a:p>
            <a:pPr marL="342900" indent="-342900">
              <a:lnSpc>
                <a:spcPct val="150000"/>
              </a:lnSpc>
              <a:buFont typeface="Wingdings" panose="05000000000000000000" pitchFamily="2" charset="2"/>
              <a:buChar char="Ø"/>
            </a:pPr>
            <a:r>
              <a:rPr lang="zh-CN" altLang="en-US" sz="1800" dirty="0" smtClean="0"/>
              <a:t>通常用锁相环</a:t>
            </a:r>
            <a:r>
              <a:rPr lang="zh-CN" altLang="en-US" sz="1800" dirty="0"/>
              <a:t>实现载波同步</a:t>
            </a:r>
          </a:p>
          <a:p>
            <a:pPr marL="342900" indent="-342900">
              <a:lnSpc>
                <a:spcPct val="150000"/>
              </a:lnSpc>
              <a:buFont typeface="Wingdings" panose="05000000000000000000" pitchFamily="2" charset="2"/>
              <a:buChar char="Ø"/>
            </a:pPr>
            <a:r>
              <a:rPr lang="zh-CN" altLang="en-US" sz="1800" dirty="0"/>
              <a:t>当输入的信噪比较好时，可以采用</a:t>
            </a:r>
            <a:r>
              <a:rPr lang="en-US" altLang="zh-CN" sz="1800" dirty="0"/>
              <a:t>PFD</a:t>
            </a:r>
            <a:r>
              <a:rPr lang="zh-CN" altLang="en-US" sz="1800" dirty="0"/>
              <a:t>，按照常规</a:t>
            </a:r>
            <a:r>
              <a:rPr lang="zh-CN" altLang="en-US" sz="1800" dirty="0" smtClean="0"/>
              <a:t>的锁相环</a:t>
            </a:r>
            <a:r>
              <a:rPr lang="zh-CN" altLang="en-US" sz="1800" dirty="0"/>
              <a:t>载波</a:t>
            </a:r>
            <a:r>
              <a:rPr lang="zh-CN" altLang="en-US" sz="1800" dirty="0" smtClean="0"/>
              <a:t>跟踪电路设计</a:t>
            </a:r>
            <a:r>
              <a:rPr lang="zh-CN" altLang="en-US" sz="1800" dirty="0"/>
              <a:t>载波同步</a:t>
            </a:r>
            <a:r>
              <a:rPr lang="zh-CN" altLang="en-US" sz="1800" dirty="0" smtClean="0"/>
              <a:t>电路</a:t>
            </a:r>
            <a:endParaRPr lang="en-US" altLang="zh-CN" sz="1800" dirty="0" smtClean="0"/>
          </a:p>
          <a:p>
            <a:pPr marL="342900" indent="-342900">
              <a:lnSpc>
                <a:spcPct val="150000"/>
              </a:lnSpc>
              <a:buFont typeface="Wingdings" panose="05000000000000000000" pitchFamily="2" charset="2"/>
              <a:buChar char="Ø"/>
            </a:pPr>
            <a:r>
              <a:rPr lang="zh-CN" altLang="en-US" sz="1800" dirty="0" smtClean="0"/>
              <a:t>当</a:t>
            </a:r>
            <a:r>
              <a:rPr lang="zh-CN" altLang="en-US" sz="1800" dirty="0"/>
              <a:t>输入的</a:t>
            </a:r>
            <a:r>
              <a:rPr lang="zh-CN" altLang="en-US" sz="1800" dirty="0" smtClean="0"/>
              <a:t>信噪比</a:t>
            </a:r>
            <a:r>
              <a:rPr lang="zh-CN" altLang="en-US" sz="1800" dirty="0"/>
              <a:t>很差</a:t>
            </a:r>
            <a:r>
              <a:rPr lang="zh-CN" altLang="en-US" sz="1800" dirty="0" smtClean="0"/>
              <a:t>时，要考虑锁相环的抗噪声特性</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采用</a:t>
            </a:r>
            <a:r>
              <a:rPr lang="zh-CN" altLang="en-US" sz="1800" dirty="0"/>
              <a:t>乘法器形式的鉴相器</a:t>
            </a:r>
            <a:r>
              <a:rPr lang="zh-CN" altLang="en-US" sz="1800" dirty="0" smtClean="0"/>
              <a:t>，以满足</a:t>
            </a:r>
            <a:r>
              <a:rPr lang="zh-CN" altLang="en-US" sz="1800" dirty="0"/>
              <a:t>高频率、低噪声性能</a:t>
            </a:r>
            <a:endParaRPr lang="en-US" altLang="zh-CN" sz="1800" dirty="0"/>
          </a:p>
          <a:p>
            <a:pPr marL="742950" lvl="1" indent="-285750">
              <a:lnSpc>
                <a:spcPct val="150000"/>
              </a:lnSpc>
              <a:buFont typeface="Arial" panose="020B0604020202020204" pitchFamily="34" charset="0"/>
              <a:buChar char="•"/>
            </a:pPr>
            <a:r>
              <a:rPr lang="zh-CN" altLang="en-US" sz="1800" dirty="0" smtClean="0"/>
              <a:t>必须</a:t>
            </a:r>
            <a:r>
              <a:rPr lang="zh-CN" altLang="en-US" sz="1800" dirty="0"/>
              <a:t>考虑锁相环的噪声特性：</a:t>
            </a:r>
            <a:endParaRPr lang="en-US" altLang="zh-CN" sz="1800" dirty="0"/>
          </a:p>
          <a:p>
            <a:pPr lvl="2">
              <a:lnSpc>
                <a:spcPct val="200000"/>
              </a:lnSpc>
              <a:spcBef>
                <a:spcPts val="600"/>
              </a:spcBef>
              <a:spcAft>
                <a:spcPts val="1200"/>
              </a:spcAft>
            </a:pPr>
            <a:r>
              <a:rPr lang="zh-CN" altLang="en-US" sz="1800" dirty="0"/>
              <a:t>低信噪比条件下的载波同步电路中，</a:t>
            </a:r>
            <a:r>
              <a:rPr lang="zh-CN" altLang="zh-CN" sz="1800" dirty="0"/>
              <a:t>要求锁相环的噪声带宽</a:t>
            </a:r>
            <a:r>
              <a:rPr lang="en-US" altLang="zh-CN" sz="1800" dirty="0"/>
              <a:t>                         </a:t>
            </a:r>
            <a:r>
              <a:rPr lang="zh-CN" altLang="en-US" sz="1800" dirty="0" smtClean="0"/>
              <a:t>，等效</a:t>
            </a:r>
            <a:r>
              <a:rPr lang="zh-CN" altLang="en-US" sz="1800" dirty="0"/>
              <a:t>于在锁相环的阻尼因子为</a:t>
            </a:r>
            <a:r>
              <a:rPr lang="en-US" altLang="zh-CN" sz="1800" dirty="0"/>
              <a:t>0.7</a:t>
            </a:r>
            <a:r>
              <a:rPr lang="zh-CN" altLang="en-US" sz="1800" dirty="0"/>
              <a:t>左右时，</a:t>
            </a:r>
            <a:r>
              <a:rPr lang="zh-CN" altLang="en-US" sz="1800" dirty="0" smtClean="0"/>
              <a:t>自然频率                           </a:t>
            </a:r>
            <a:r>
              <a:rPr lang="zh-CN" altLang="en-US" sz="1800" dirty="0"/>
              <a:t>，</a:t>
            </a:r>
            <a:r>
              <a:rPr lang="zh-CN" altLang="en-US" sz="1800" dirty="0" smtClean="0"/>
              <a:t>其中 </a:t>
            </a:r>
            <a:r>
              <a:rPr lang="en-US" altLang="zh-CN" sz="1800" i="1" dirty="0">
                <a:latin typeface="+mn-lt"/>
              </a:rPr>
              <a:t>B</a:t>
            </a:r>
            <a:r>
              <a:rPr lang="en-US" altLang="zh-CN" sz="1800" i="1" baseline="-25000" dirty="0">
                <a:latin typeface="Times New Roman" panose="02020603050405020304" pitchFamily="18" charset="0"/>
              </a:rPr>
              <a:t>i</a:t>
            </a:r>
            <a:r>
              <a:rPr lang="en-US" altLang="zh-CN" sz="1800" baseline="-25000" dirty="0">
                <a:latin typeface="Times New Roman" panose="02020603050405020304" pitchFamily="18" charset="0"/>
              </a:rPr>
              <a:t> </a:t>
            </a:r>
            <a:r>
              <a:rPr lang="zh-CN" altLang="en-US" sz="1800" dirty="0" smtClean="0"/>
              <a:t>是</a:t>
            </a:r>
            <a:r>
              <a:rPr lang="zh-CN" altLang="en-US" sz="1800" dirty="0"/>
              <a:t>锁相环输入信号的</a:t>
            </a:r>
            <a:r>
              <a:rPr lang="en-US" altLang="zh-CN" sz="1800" dirty="0">
                <a:latin typeface="+mn-lt"/>
              </a:rPr>
              <a:t>-3dB</a:t>
            </a:r>
            <a:r>
              <a:rPr lang="zh-CN" altLang="en-US" sz="1800" dirty="0"/>
              <a:t>带宽</a:t>
            </a:r>
            <a:endParaRPr lang="zh-CN" altLang="zh-CN" sz="1800" dirty="0"/>
          </a:p>
          <a:p>
            <a:pPr marL="342900" indent="-342900">
              <a:lnSpc>
                <a:spcPct val="150000"/>
              </a:lnSpc>
              <a:buFont typeface="Wingdings" panose="05000000000000000000" pitchFamily="2" charset="2"/>
              <a:buChar char="Ø"/>
            </a:pPr>
            <a:r>
              <a:rPr lang="zh-CN" altLang="en-US" sz="1800" dirty="0" smtClean="0"/>
              <a:t>锁相环</a:t>
            </a:r>
            <a:r>
              <a:rPr lang="zh-CN" altLang="en-US" sz="1800" dirty="0"/>
              <a:t>的捕捉时间对于接收机性能有较大影响，设计载波同步电路时通常需要考虑锁相环的捕捉时间，在某些特殊情况下可能要采用扫描式辅助捕捉电路</a:t>
            </a:r>
          </a:p>
        </p:txBody>
      </p:sp>
      <p:graphicFrame>
        <p:nvGraphicFramePr>
          <p:cNvPr id="6" name="对象 5"/>
          <p:cNvGraphicFramePr>
            <a:graphicFrameLocks noChangeAspect="1"/>
          </p:cNvGraphicFramePr>
          <p:nvPr>
            <p:extLst>
              <p:ext uri="{D42A27DB-BD31-4B8C-83A1-F6EECF244321}">
                <p14:modId xmlns:p14="http://schemas.microsoft.com/office/powerpoint/2010/main" val="3439184277"/>
              </p:ext>
            </p:extLst>
          </p:nvPr>
        </p:nvGraphicFramePr>
        <p:xfrm>
          <a:off x="7445171" y="3477906"/>
          <a:ext cx="1552575" cy="704850"/>
        </p:xfrm>
        <a:graphic>
          <a:graphicData uri="http://schemas.openxmlformats.org/presentationml/2006/ole">
            <mc:AlternateContent xmlns:mc="http://schemas.openxmlformats.org/markup-compatibility/2006">
              <mc:Choice xmlns:v="urn:schemas-microsoft-com:vml" Requires="v">
                <p:oleObj spid="_x0000_s39952" name="Equation" r:id="rId3" imgW="876240" imgH="406080" progId="Equation.DSMT4">
                  <p:embed/>
                </p:oleObj>
              </mc:Choice>
              <mc:Fallback>
                <p:oleObj name="Equation" r:id="rId3" imgW="876240" imgH="406080" progId="Equation.DSMT4">
                  <p:embed/>
                  <p:pic>
                    <p:nvPicPr>
                      <p:cNvPr id="6" name="对象 5"/>
                      <p:cNvPicPr>
                        <a:picLocks noChangeAspect="1" noChangeArrowheads="1"/>
                      </p:cNvPicPr>
                      <p:nvPr/>
                    </p:nvPicPr>
                    <p:blipFill>
                      <a:blip r:embed="rId4"/>
                      <a:srcRect/>
                      <a:stretch>
                        <a:fillRect/>
                      </a:stretch>
                    </p:blipFill>
                    <p:spPr bwMode="auto">
                      <a:xfrm>
                        <a:off x="7445171" y="3477906"/>
                        <a:ext cx="1552575" cy="70485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355373452"/>
              </p:ext>
            </p:extLst>
          </p:nvPr>
        </p:nvGraphicFramePr>
        <p:xfrm>
          <a:off x="4123514" y="4025759"/>
          <a:ext cx="1674058" cy="674273"/>
        </p:xfrm>
        <a:graphic>
          <a:graphicData uri="http://schemas.openxmlformats.org/presentationml/2006/ole">
            <mc:AlternateContent xmlns:mc="http://schemas.openxmlformats.org/markup-compatibility/2006">
              <mc:Choice xmlns:v="urn:schemas-microsoft-com:vml" Requires="v">
                <p:oleObj spid="_x0000_s39953" name="Equation" r:id="rId5" imgW="990360" imgH="406080" progId="Equation.DSMT4">
                  <p:embed/>
                </p:oleObj>
              </mc:Choice>
              <mc:Fallback>
                <p:oleObj name="Equation" r:id="rId5" imgW="990360" imgH="406080" progId="Equation.DSMT4">
                  <p:embed/>
                  <p:pic>
                    <p:nvPicPr>
                      <p:cNvPr id="7" name="对象 6"/>
                      <p:cNvPicPr>
                        <a:picLocks noChangeAspect="1" noChangeArrowheads="1"/>
                      </p:cNvPicPr>
                      <p:nvPr/>
                    </p:nvPicPr>
                    <p:blipFill>
                      <a:blip r:embed="rId6"/>
                      <a:srcRect/>
                      <a:stretch>
                        <a:fillRect/>
                      </a:stretch>
                    </p:blipFill>
                    <p:spPr bwMode="auto">
                      <a:xfrm>
                        <a:off x="4123514" y="4025759"/>
                        <a:ext cx="1674058" cy="674273"/>
                      </a:xfrm>
                      <a:prstGeom prst="rect">
                        <a:avLst/>
                      </a:prstGeom>
                      <a:noFill/>
                    </p:spPr>
                  </p:pic>
                </p:oleObj>
              </mc:Fallback>
            </mc:AlternateContent>
          </a:graphicData>
        </a:graphic>
      </p:graphicFrame>
    </p:spTree>
    <p:extLst>
      <p:ext uri="{BB962C8B-B14F-4D97-AF65-F5344CB8AC3E}">
        <p14:creationId xmlns:p14="http://schemas.microsoft.com/office/powerpoint/2010/main" val="1078940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20914" y="361813"/>
            <a:ext cx="11400671" cy="1061829"/>
          </a:xfrm>
          <a:prstGeom prst="rect">
            <a:avLst/>
          </a:prstGeom>
          <a:noFill/>
        </p:spPr>
        <p:txBody>
          <a:bodyPr wrap="square" rtlCol="0">
            <a:spAutoFit/>
          </a:bodyPr>
          <a:lstStyle/>
          <a:p>
            <a:pPr>
              <a:lnSpc>
                <a:spcPct val="150000"/>
              </a:lnSpc>
            </a:pPr>
            <a:r>
              <a:rPr lang="zh-CN" altLang="en-US" sz="2400" dirty="0">
                <a:solidFill>
                  <a:srgbClr val="FF0000"/>
                </a:solidFill>
                <a:latin typeface="隶书" panose="02010509060101010101" pitchFamily="49" charset="-122"/>
                <a:ea typeface="隶书" panose="02010509060101010101" pitchFamily="49" charset="-122"/>
              </a:rPr>
              <a:t>有噪声输入的载波</a:t>
            </a:r>
            <a:r>
              <a:rPr lang="zh-CN" altLang="zh-CN" sz="2400" dirty="0">
                <a:solidFill>
                  <a:srgbClr val="FF0000"/>
                </a:solidFill>
                <a:latin typeface="隶书" panose="02010509060101010101" pitchFamily="49" charset="-122"/>
                <a:ea typeface="隶书" panose="02010509060101010101" pitchFamily="49" charset="-122"/>
              </a:rPr>
              <a:t>同步电路的</a:t>
            </a:r>
            <a:r>
              <a:rPr lang="zh-CN" altLang="en-US" sz="2400" dirty="0">
                <a:solidFill>
                  <a:srgbClr val="FF0000"/>
                </a:solidFill>
                <a:latin typeface="隶书" panose="02010509060101010101" pitchFamily="49" charset="-122"/>
                <a:ea typeface="隶书" panose="02010509060101010101" pitchFamily="49" charset="-122"/>
              </a:rPr>
              <a:t>例子</a:t>
            </a:r>
            <a:endParaRPr lang="en-US" altLang="zh-CN" sz="2800" dirty="0">
              <a:solidFill>
                <a:srgbClr val="FF0000"/>
              </a:solidFill>
              <a:latin typeface="隶书" panose="02010509060101010101" pitchFamily="49" charset="-122"/>
              <a:ea typeface="隶书" panose="02010509060101010101" pitchFamily="49" charset="-122"/>
            </a:endParaRPr>
          </a:p>
          <a:p>
            <a:pPr marL="285750" indent="-285750">
              <a:lnSpc>
                <a:spcPct val="150000"/>
              </a:lnSpc>
              <a:buFont typeface="Wingdings" panose="05000000000000000000" pitchFamily="2" charset="2"/>
              <a:buChar char="Ø"/>
            </a:pPr>
            <a:r>
              <a:rPr lang="zh-CN" altLang="en-US" sz="1800" dirty="0"/>
              <a:t>实验电路</a:t>
            </a:r>
          </a:p>
        </p:txBody>
      </p:sp>
      <p:graphicFrame>
        <p:nvGraphicFramePr>
          <p:cNvPr id="7" name="对象 6"/>
          <p:cNvGraphicFramePr>
            <a:graphicFrameLocks noChangeAspect="1"/>
          </p:cNvGraphicFramePr>
          <p:nvPr>
            <p:extLst>
              <p:ext uri="{D42A27DB-BD31-4B8C-83A1-F6EECF244321}">
                <p14:modId xmlns:p14="http://schemas.microsoft.com/office/powerpoint/2010/main" val="3161665159"/>
              </p:ext>
            </p:extLst>
          </p:nvPr>
        </p:nvGraphicFramePr>
        <p:xfrm>
          <a:off x="5604306" y="1589044"/>
          <a:ext cx="6217279" cy="3848385"/>
        </p:xfrm>
        <a:graphic>
          <a:graphicData uri="http://schemas.openxmlformats.org/presentationml/2006/ole">
            <mc:AlternateContent xmlns:mc="http://schemas.openxmlformats.org/markup-compatibility/2006">
              <mc:Choice xmlns:v="urn:schemas-microsoft-com:vml" Requires="v">
                <p:oleObj spid="_x0000_s40970" name="Visio" r:id="rId3" imgW="4578178" imgH="2838353" progId="Visio.Drawing.15">
                  <p:embed/>
                </p:oleObj>
              </mc:Choice>
              <mc:Fallback>
                <p:oleObj name="Visio" r:id="rId3" imgW="4578178" imgH="2838353"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306" y="1589044"/>
                        <a:ext cx="6217279" cy="3848385"/>
                      </a:xfrm>
                      <a:prstGeom prst="rect">
                        <a:avLst/>
                      </a:prstGeom>
                      <a:noFill/>
                    </p:spPr>
                  </p:pic>
                </p:oleObj>
              </mc:Fallback>
            </mc:AlternateContent>
          </a:graphicData>
        </a:graphic>
      </p:graphicFrame>
      <p:sp>
        <p:nvSpPr>
          <p:cNvPr id="6" name="矩形 5"/>
          <p:cNvSpPr/>
          <p:nvPr/>
        </p:nvSpPr>
        <p:spPr>
          <a:xfrm>
            <a:off x="420914" y="1372745"/>
            <a:ext cx="4952294" cy="4662815"/>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sz="1800" dirty="0">
                <a:latin typeface="Times New Roman" panose="02020603050405020304" pitchFamily="18" charset="0"/>
              </a:rPr>
              <a:t>鉴</a:t>
            </a:r>
            <a:r>
              <a:rPr lang="zh-CN" altLang="en-US" sz="1800" dirty="0" smtClean="0">
                <a:latin typeface="Times New Roman" panose="02020603050405020304" pitchFamily="18" charset="0"/>
              </a:rPr>
              <a:t>相器</a:t>
            </a:r>
            <a:endParaRPr lang="en-US" altLang="zh-CN" sz="1800" dirty="0" smtClean="0">
              <a:latin typeface="Times New Roman" panose="02020603050405020304" pitchFamily="18" charset="0"/>
            </a:endParaRPr>
          </a:p>
          <a:p>
            <a:pPr marL="0" lvl="1" indent="360000">
              <a:lnSpc>
                <a:spcPct val="150000"/>
              </a:lnSpc>
            </a:pPr>
            <a:r>
              <a:rPr lang="zh-CN" altLang="en-US" sz="1800" dirty="0" smtClean="0">
                <a:latin typeface="Times New Roman" panose="02020603050405020304" pitchFamily="18" charset="0"/>
              </a:rPr>
              <a:t>乘法器，</a:t>
            </a:r>
            <a:r>
              <a:rPr lang="zh-CN" altLang="zh-CN" sz="1800" dirty="0">
                <a:latin typeface="Times New Roman" panose="02020603050405020304" pitchFamily="18" charset="0"/>
              </a:rPr>
              <a:t>偏置电流</a:t>
            </a:r>
            <a:r>
              <a:rPr lang="en-US" altLang="zh-CN" sz="1800" i="1" dirty="0">
                <a:latin typeface="Times New Roman" panose="02020603050405020304" pitchFamily="18" charset="0"/>
              </a:rPr>
              <a:t>I</a:t>
            </a:r>
            <a:r>
              <a:rPr lang="en-US" altLang="zh-CN" sz="1800" baseline="-25000" dirty="0">
                <a:latin typeface="Times New Roman" panose="02020603050405020304" pitchFamily="18" charset="0"/>
              </a:rPr>
              <a:t>BIAS </a:t>
            </a:r>
            <a:r>
              <a:rPr lang="en-US" altLang="zh-CN" sz="1800" dirty="0">
                <a:latin typeface="Times New Roman" panose="02020603050405020304" pitchFamily="18" charset="0"/>
              </a:rPr>
              <a:t>= 0</a:t>
            </a:r>
            <a:r>
              <a:rPr lang="zh-CN" altLang="zh-CN" sz="1800" dirty="0">
                <a:latin typeface="Times New Roman" panose="02020603050405020304" pitchFamily="18" charset="0"/>
              </a:rPr>
              <a:t>，鉴相器</a:t>
            </a:r>
            <a:r>
              <a:rPr lang="zh-CN" altLang="zh-CN" sz="1800" dirty="0" smtClean="0">
                <a:latin typeface="Times New Roman" panose="02020603050405020304" pitchFamily="18" charset="0"/>
              </a:rPr>
              <a:t>增益</a:t>
            </a:r>
            <a:endParaRPr lang="en-US" altLang="zh-CN" sz="1800" dirty="0" smtClean="0">
              <a:latin typeface="Times New Roman" panose="02020603050405020304" pitchFamily="18" charset="0"/>
            </a:endParaRPr>
          </a:p>
          <a:p>
            <a:pPr marL="0" lvl="1" indent="360000">
              <a:lnSpc>
                <a:spcPct val="150000"/>
              </a:lnSpc>
            </a:pPr>
            <a:r>
              <a:rPr lang="en-US" altLang="zh-CN" sz="1800" i="1" dirty="0" err="1" smtClean="0">
                <a:latin typeface="Times New Roman" panose="02020603050405020304" pitchFamily="18" charset="0"/>
              </a:rPr>
              <a:t>K</a:t>
            </a:r>
            <a:r>
              <a:rPr lang="en-US" altLang="zh-CN" sz="1800" i="1" baseline="-25000" dirty="0" err="1" smtClean="0">
                <a:latin typeface="Times New Roman" panose="02020603050405020304" pitchFamily="18" charset="0"/>
              </a:rPr>
              <a:t>d</a:t>
            </a:r>
            <a:r>
              <a:rPr lang="en-US" altLang="zh-CN" sz="1800" dirty="0" smtClean="0">
                <a:latin typeface="Times New Roman" panose="02020603050405020304" pitchFamily="18" charset="0"/>
              </a:rPr>
              <a:t>=0.46</a:t>
            </a:r>
            <a:endParaRPr lang="en-US" altLang="zh-CN" sz="1800" dirty="0">
              <a:latin typeface="Times New Roman" panose="02020603050405020304" pitchFamily="18" charset="0"/>
            </a:endParaRPr>
          </a:p>
          <a:p>
            <a:pPr marL="285750" lvl="1" indent="-285750">
              <a:lnSpc>
                <a:spcPct val="150000"/>
              </a:lnSpc>
              <a:buFont typeface="Arial" panose="020B0604020202020204" pitchFamily="34" charset="0"/>
              <a:buChar char="•"/>
            </a:pPr>
            <a:r>
              <a:rPr lang="en-US" altLang="zh-CN" sz="1800" dirty="0" smtClean="0">
                <a:latin typeface="Times New Roman" panose="02020603050405020304" pitchFamily="18" charset="0"/>
              </a:rPr>
              <a:t>VCO</a:t>
            </a:r>
          </a:p>
          <a:p>
            <a:pPr marL="0" lvl="1" indent="360000">
              <a:lnSpc>
                <a:spcPct val="150000"/>
              </a:lnSpc>
            </a:pPr>
            <a:r>
              <a:rPr lang="zh-CN" altLang="en-US" sz="1800" dirty="0" smtClean="0">
                <a:latin typeface="Times New Roman" panose="02020603050405020304" pitchFamily="18" charset="0"/>
              </a:rPr>
              <a:t>中心</a:t>
            </a:r>
            <a:r>
              <a:rPr lang="zh-CN" altLang="zh-CN" sz="1800" dirty="0">
                <a:latin typeface="Times New Roman" panose="02020603050405020304" pitchFamily="18" charset="0"/>
              </a:rPr>
              <a:t>频率</a:t>
            </a:r>
            <a:r>
              <a:rPr lang="en-US" altLang="zh-CN" sz="1800" i="1" dirty="0">
                <a:latin typeface="Times New Roman" panose="02020603050405020304" pitchFamily="18" charset="0"/>
              </a:rPr>
              <a:t>f</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=1MHz</a:t>
            </a:r>
            <a:r>
              <a:rPr lang="zh-CN" altLang="en-US" sz="1800" dirty="0" smtClean="0">
                <a:latin typeface="Times New Roman" panose="02020603050405020304" pitchFamily="18" charset="0"/>
              </a:rPr>
              <a:t>，</a:t>
            </a:r>
            <a:r>
              <a:rPr lang="en-US" altLang="zh-CN" sz="1800" i="1" dirty="0" smtClean="0">
                <a:latin typeface="Times New Roman" panose="02020603050405020304" pitchFamily="18" charset="0"/>
              </a:rPr>
              <a:t>C</a:t>
            </a:r>
            <a:r>
              <a:rPr lang="en-US" altLang="zh-CN" sz="1800" baseline="-25000" dirty="0" smtClean="0">
                <a:latin typeface="Times New Roman" panose="02020603050405020304" pitchFamily="18" charset="0"/>
              </a:rPr>
              <a:t>0</a:t>
            </a:r>
            <a:r>
              <a:rPr lang="en-US" altLang="zh-CN" sz="1800" dirty="0" smtClean="0">
                <a:latin typeface="Times New Roman" panose="02020603050405020304" pitchFamily="18" charset="0"/>
              </a:rPr>
              <a:t>=450pF(430pF+50pF</a:t>
            </a:r>
          </a:p>
          <a:p>
            <a:pPr marL="0" lvl="1" indent="360000">
              <a:lnSpc>
                <a:spcPct val="150000"/>
              </a:lnSpc>
            </a:pPr>
            <a:r>
              <a:rPr lang="zh-CN" altLang="en-US" sz="1800" dirty="0" smtClean="0">
                <a:latin typeface="Times New Roman" panose="02020603050405020304" pitchFamily="18" charset="0"/>
              </a:rPr>
              <a:t>可</a:t>
            </a:r>
            <a:r>
              <a:rPr lang="zh-CN" altLang="en-US" sz="1800" dirty="0">
                <a:latin typeface="Times New Roman" panose="02020603050405020304" pitchFamily="18" charset="0"/>
              </a:rPr>
              <a:t>调</a:t>
            </a:r>
            <a:r>
              <a:rPr lang="en-US" altLang="zh-CN" sz="1800" dirty="0">
                <a:latin typeface="Times New Roman" panose="02020603050405020304" pitchFamily="18" charset="0"/>
              </a:rPr>
              <a:t>)</a:t>
            </a:r>
            <a:r>
              <a:rPr lang="zh-CN" altLang="en-US" sz="1800" dirty="0">
                <a:latin typeface="Times New Roman" panose="02020603050405020304" pitchFamily="18" charset="0"/>
              </a:rPr>
              <a:t>，</a:t>
            </a:r>
            <a:r>
              <a:rPr lang="zh-CN" altLang="en-US" sz="1800" dirty="0" smtClean="0">
                <a:latin typeface="Times New Roman" panose="02020603050405020304" pitchFamily="18" charset="0"/>
              </a:rPr>
              <a:t>压</a:t>
            </a:r>
            <a:r>
              <a:rPr lang="zh-CN" altLang="en-US" sz="1800" dirty="0">
                <a:latin typeface="Times New Roman" panose="02020603050405020304" pitchFamily="18" charset="0"/>
              </a:rPr>
              <a:t>控增益</a:t>
            </a:r>
            <a:r>
              <a:rPr lang="en-US" altLang="zh-CN" sz="1800" i="1" dirty="0" err="1">
                <a:latin typeface="Times New Roman" panose="02020603050405020304" pitchFamily="18" charset="0"/>
              </a:rPr>
              <a:t>K</a:t>
            </a:r>
            <a:r>
              <a:rPr lang="en-US" altLang="zh-CN" sz="1800" i="1" baseline="-25000" dirty="0" err="1">
                <a:latin typeface="Times New Roman" panose="02020603050405020304" pitchFamily="18" charset="0"/>
              </a:rPr>
              <a:t>o</a:t>
            </a:r>
            <a:r>
              <a:rPr lang="en-US" altLang="zh-CN" sz="1800" dirty="0">
                <a:latin typeface="Times New Roman" panose="02020603050405020304" pitchFamily="18" charset="0"/>
              </a:rPr>
              <a:t>=6×10</a:t>
            </a:r>
            <a:r>
              <a:rPr lang="en-US" altLang="zh-CN" sz="1800" baseline="30000" dirty="0">
                <a:latin typeface="Times New Roman" panose="02020603050405020304" pitchFamily="18" charset="0"/>
              </a:rPr>
              <a:t>6</a:t>
            </a:r>
          </a:p>
          <a:p>
            <a:pPr marL="285750" lvl="1" indent="-285750">
              <a:lnSpc>
                <a:spcPct val="150000"/>
              </a:lnSpc>
              <a:buFont typeface="Arial" panose="020B0604020202020204" pitchFamily="34" charset="0"/>
              <a:buChar char="•"/>
            </a:pPr>
            <a:r>
              <a:rPr lang="zh-CN" altLang="en-US" sz="1800" dirty="0" smtClean="0">
                <a:latin typeface="Times New Roman" panose="02020603050405020304" pitchFamily="18" charset="0"/>
              </a:rPr>
              <a:t>环路滤波器</a:t>
            </a:r>
            <a:endParaRPr lang="en-US" altLang="zh-CN" sz="1800" dirty="0" smtClean="0">
              <a:latin typeface="Times New Roman" panose="02020603050405020304" pitchFamily="18" charset="0"/>
            </a:endParaRPr>
          </a:p>
          <a:p>
            <a:pPr marL="0" lvl="1" indent="360000">
              <a:lnSpc>
                <a:spcPct val="150000"/>
              </a:lnSpc>
            </a:pPr>
            <a:r>
              <a:rPr lang="zh-CN" altLang="en-US" sz="1800" dirty="0" smtClean="0">
                <a:latin typeface="Times New Roman" panose="02020603050405020304" pitchFamily="18" charset="0"/>
              </a:rPr>
              <a:t>超前滞后型，</a:t>
            </a:r>
            <a:r>
              <a:rPr lang="en-US" altLang="zh-CN" sz="1800" i="1" dirty="0" smtClean="0">
                <a:latin typeface="+mn-lt"/>
              </a:rPr>
              <a:t>R</a:t>
            </a:r>
            <a:r>
              <a:rPr lang="en-US" altLang="zh-CN" sz="1800" baseline="-25000" dirty="0" smtClean="0">
                <a:latin typeface="+mn-lt"/>
              </a:rPr>
              <a:t>1</a:t>
            </a:r>
            <a:r>
              <a:rPr lang="en-US" altLang="zh-CN" sz="1800" dirty="0" smtClean="0">
                <a:latin typeface="+mn-lt"/>
              </a:rPr>
              <a:t>=1300</a:t>
            </a:r>
            <a:r>
              <a:rPr lang="zh-CN" altLang="en-US" sz="1800" dirty="0"/>
              <a:t>（芯片内部元件</a:t>
            </a:r>
            <a:r>
              <a:rPr lang="zh-CN" altLang="en-US" sz="1800" dirty="0" smtClean="0"/>
              <a:t>），</a:t>
            </a:r>
            <a:endParaRPr lang="en-US" altLang="zh-CN" sz="1800" dirty="0" smtClean="0"/>
          </a:p>
          <a:p>
            <a:pPr marL="0" lvl="1" indent="360000">
              <a:lnSpc>
                <a:spcPct val="150000"/>
              </a:lnSpc>
            </a:pPr>
            <a:r>
              <a:rPr lang="en-US" altLang="zh-CN" sz="1800" i="1" dirty="0" smtClean="0">
                <a:latin typeface="Times New Roman" panose="02020603050405020304" pitchFamily="18" charset="0"/>
              </a:rPr>
              <a:t>R</a:t>
            </a:r>
            <a:r>
              <a:rPr lang="en-US" altLang="zh-CN" sz="1800" dirty="0" smtClean="0">
                <a:latin typeface="Times New Roman" panose="02020603050405020304" pitchFamily="18" charset="0"/>
              </a:rPr>
              <a:t>=24</a:t>
            </a:r>
            <a:r>
              <a:rPr lang="en-US" altLang="zh-CN" sz="1800" dirty="0" smtClean="0">
                <a:latin typeface="Times New Roman" panose="02020603050405020304" pitchFamily="18" charset="0"/>
                <a:sym typeface="Symbol" panose="05050102010706020507" pitchFamily="18" charset="2"/>
              </a:rPr>
              <a:t></a:t>
            </a:r>
            <a:r>
              <a:rPr lang="zh-CN" altLang="en-US" sz="1800" dirty="0" smtClean="0">
                <a:latin typeface="Times New Roman" panose="02020603050405020304" pitchFamily="18" charset="0"/>
                <a:sym typeface="Symbol" panose="05050102010706020507" pitchFamily="18" charset="2"/>
              </a:rPr>
              <a:t>，</a:t>
            </a:r>
            <a:r>
              <a:rPr lang="en-US" altLang="zh-CN" sz="1800" i="1" dirty="0" smtClean="0">
                <a:latin typeface="Times New Roman" panose="02020603050405020304" pitchFamily="18" charset="0"/>
              </a:rPr>
              <a:t>C</a:t>
            </a:r>
            <a:r>
              <a:rPr lang="en-US" altLang="zh-CN" sz="1800" dirty="0" smtClean="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smtClean="0">
                <a:latin typeface="Times New Roman" panose="02020603050405020304" pitchFamily="18" charset="0"/>
              </a:rPr>
              <a:t>F</a:t>
            </a:r>
            <a:endParaRPr lang="en-US" altLang="zh-CN" sz="1800" dirty="0" smtClean="0">
              <a:latin typeface="Times New Roman" panose="02020603050405020304" pitchFamily="18" charset="0"/>
              <a:sym typeface="Symbol" panose="05050102010706020507" pitchFamily="18" charset="2"/>
            </a:endParaRPr>
          </a:p>
          <a:p>
            <a:pPr marL="285750" lvl="1" indent="-285750">
              <a:lnSpc>
                <a:spcPct val="150000"/>
              </a:lnSpc>
              <a:buFont typeface="Arial" panose="020B0604020202020204" pitchFamily="34" charset="0"/>
              <a:buChar char="•"/>
            </a:pPr>
            <a:r>
              <a:rPr lang="zh-CN" altLang="en-US" sz="1800" dirty="0" smtClean="0">
                <a:latin typeface="Times New Roman" panose="02020603050405020304" pitchFamily="18" charset="0"/>
                <a:sym typeface="Symbol" panose="05050102010706020507" pitchFamily="18" charset="2"/>
              </a:rPr>
              <a:t>闭环参数</a:t>
            </a:r>
            <a:endParaRPr lang="en-US" altLang="zh-CN" sz="1800" dirty="0" smtClean="0">
              <a:latin typeface="Times New Roman" panose="02020603050405020304" pitchFamily="18" charset="0"/>
              <a:sym typeface="Symbol" panose="05050102010706020507" pitchFamily="18" charset="2"/>
            </a:endParaRPr>
          </a:p>
          <a:p>
            <a:pPr marL="0" lvl="1" indent="360000">
              <a:lnSpc>
                <a:spcPct val="150000"/>
              </a:lnSpc>
            </a:pPr>
            <a:r>
              <a:rPr lang="el-GR" altLang="zh-CN" sz="1800" i="1" dirty="0" smtClean="0">
                <a:latin typeface="Times New Roman" panose="02020603050405020304" pitchFamily="18" charset="0"/>
                <a:cs typeface="Times New Roman" panose="02020603050405020304" pitchFamily="18" charset="0"/>
                <a:sym typeface="Symbol" panose="05050102010706020507" pitchFamily="18" charset="2"/>
              </a:rPr>
              <a:t>ω</a:t>
            </a:r>
            <a:r>
              <a:rPr lang="en-US" altLang="zh-CN" sz="18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=2</a:t>
            </a:r>
            <a:r>
              <a:rPr lang="el-GR" altLang="zh-CN" sz="1800" dirty="0">
                <a:latin typeface="Times New Roman" panose="02020603050405020304" pitchFamily="18" charset="0"/>
                <a:cs typeface="Times New Roman" panose="02020603050405020304" pitchFamily="18" charset="0"/>
                <a:sym typeface="Symbol" panose="05050102010706020507" pitchFamily="18" charset="2"/>
              </a:rPr>
              <a:t>π</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×6000=</a:t>
            </a:r>
            <a:r>
              <a:rPr lang="en-US" altLang="zh-CN" sz="1800" dirty="0">
                <a:latin typeface="Times New Roman" panose="02020603050405020304" pitchFamily="18" charset="0"/>
              </a:rPr>
              <a:t>3.76</a:t>
            </a:r>
            <a:r>
              <a:rPr lang="zh-CN" altLang="zh-CN" sz="1800" dirty="0">
                <a:latin typeface="Times New Roman" panose="02020603050405020304" pitchFamily="18" charset="0"/>
              </a:rPr>
              <a:t>×</a:t>
            </a:r>
            <a:r>
              <a:rPr lang="en-US" altLang="zh-CN" sz="1800" dirty="0">
                <a:latin typeface="Times New Roman" panose="02020603050405020304" pitchFamily="18" charset="0"/>
              </a:rPr>
              <a:t>10</a:t>
            </a:r>
            <a:r>
              <a:rPr lang="en-US" altLang="zh-CN" sz="1800" baseline="30000" dirty="0">
                <a:latin typeface="Times New Roman" panose="02020603050405020304" pitchFamily="18" charset="0"/>
              </a:rPr>
              <a:t>4 </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ζ</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=0.7</a:t>
            </a:r>
          </a:p>
        </p:txBody>
      </p:sp>
    </p:spTree>
    <p:extLst>
      <p:ext uri="{BB962C8B-B14F-4D97-AF65-F5344CB8AC3E}">
        <p14:creationId xmlns:p14="http://schemas.microsoft.com/office/powerpoint/2010/main" val="3211521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6" name="矩形 5"/>
          <p:cNvSpPr/>
          <p:nvPr/>
        </p:nvSpPr>
        <p:spPr>
          <a:xfrm>
            <a:off x="449943" y="481164"/>
            <a:ext cx="11371641" cy="4662815"/>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800" dirty="0">
                <a:latin typeface="Times New Roman" panose="02020603050405020304" pitchFamily="18" charset="0"/>
              </a:rPr>
              <a:t>实验过程</a:t>
            </a:r>
            <a:endParaRPr lang="en-US" altLang="zh-CN" sz="1800"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zh-CN" sz="1800" dirty="0">
                <a:latin typeface="Times New Roman" panose="02020603050405020304" pitchFamily="18" charset="0"/>
              </a:rPr>
              <a:t>用一个电阻加法网络将</a:t>
            </a:r>
            <a:r>
              <a:rPr lang="zh-CN" altLang="en-US" sz="1800" dirty="0">
                <a:latin typeface="Times New Roman" panose="02020603050405020304" pitchFamily="18" charset="0"/>
              </a:rPr>
              <a:t>信号</a:t>
            </a:r>
            <a:r>
              <a:rPr lang="zh-CN" altLang="zh-CN" sz="1800" dirty="0">
                <a:latin typeface="Times New Roman" panose="02020603050405020304" pitchFamily="18" charset="0"/>
              </a:rPr>
              <a:t>与噪声叠加后输入锁相环</a:t>
            </a:r>
            <a:endParaRPr lang="en-US" altLang="zh-CN" sz="1800" dirty="0">
              <a:latin typeface="Times New Roman" panose="02020603050405020304" pitchFamily="18" charset="0"/>
            </a:endParaRPr>
          </a:p>
          <a:p>
            <a:pPr marL="360000">
              <a:lnSpc>
                <a:spcPct val="150000"/>
              </a:lnSpc>
            </a:pPr>
            <a:r>
              <a:rPr lang="zh-CN" altLang="zh-CN" sz="1800" dirty="0">
                <a:latin typeface="Times New Roman" panose="02020603050405020304" pitchFamily="18" charset="0"/>
              </a:rPr>
              <a:t>信号</a:t>
            </a:r>
            <a:r>
              <a:rPr lang="zh-CN" altLang="en-US" sz="1800" dirty="0">
                <a:latin typeface="Times New Roman" panose="02020603050405020304" pitchFamily="18" charset="0"/>
              </a:rPr>
              <a:t>：正弦波，</a:t>
            </a:r>
            <a:r>
              <a:rPr lang="en-US" altLang="zh-CN" sz="1800" i="1" dirty="0">
                <a:latin typeface="Times New Roman" panose="02020603050405020304" pitchFamily="18" charset="0"/>
              </a:rPr>
              <a:t>f</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=1MHz</a:t>
            </a:r>
            <a:r>
              <a:rPr lang="zh-CN" altLang="zh-CN" sz="1800" dirty="0">
                <a:latin typeface="Times New Roman" panose="02020603050405020304" pitchFamily="18" charset="0"/>
              </a:rPr>
              <a:t>，幅度</a:t>
            </a:r>
            <a:r>
              <a:rPr lang="zh-CN" altLang="en-US" sz="1800" dirty="0">
                <a:latin typeface="Times New Roman" panose="02020603050405020304" pitchFamily="18" charset="0"/>
              </a:rPr>
              <a:t>有效值</a:t>
            </a:r>
            <a:r>
              <a:rPr lang="en-US" altLang="zh-CN" sz="1800" dirty="0">
                <a:latin typeface="Times New Roman" panose="02020603050405020304" pitchFamily="18" charset="0"/>
              </a:rPr>
              <a:t>0.1V</a:t>
            </a:r>
          </a:p>
          <a:p>
            <a:pPr marL="360000">
              <a:lnSpc>
                <a:spcPct val="150000"/>
              </a:lnSpc>
            </a:pPr>
            <a:r>
              <a:rPr lang="zh-CN" altLang="en-US" sz="1800" dirty="0">
                <a:latin typeface="Times New Roman" panose="02020603050405020304" pitchFamily="18" charset="0"/>
              </a:rPr>
              <a:t>叠加的噪声：实验室信号源的噪声输出，幅度可调（峰峰值</a:t>
            </a:r>
            <a:r>
              <a:rPr lang="en-US" altLang="zh-CN" sz="1800" dirty="0">
                <a:latin typeface="Times New Roman" panose="02020603050405020304" pitchFamily="18" charset="0"/>
              </a:rPr>
              <a:t>0~10V</a:t>
            </a:r>
            <a:r>
              <a:rPr lang="zh-CN" altLang="en-US" sz="1800" dirty="0">
                <a:latin typeface="Times New Roman" panose="02020603050405020304" pitchFamily="18" charset="0"/>
              </a:rPr>
              <a:t>）</a:t>
            </a:r>
            <a:endParaRPr lang="en-US" altLang="zh-CN" sz="1800"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sz="1800" dirty="0" smtClean="0">
                <a:latin typeface="Times New Roman" panose="02020603050405020304" pitchFamily="18" charset="0"/>
              </a:rPr>
              <a:t>改变</a:t>
            </a:r>
            <a:r>
              <a:rPr lang="zh-CN" altLang="zh-CN" sz="1800" dirty="0">
                <a:latin typeface="Times New Roman" panose="02020603050405020304" pitchFamily="18" charset="0"/>
              </a:rPr>
              <a:t>噪声电压峰峰值与输入信号有效值</a:t>
            </a:r>
            <a:r>
              <a:rPr lang="zh-CN" altLang="en-US" sz="1800" dirty="0">
                <a:latin typeface="Times New Roman" panose="02020603050405020304" pitchFamily="18" charset="0"/>
              </a:rPr>
              <a:t>，测量锁相环的锁定情况（观察输出信号的稳定程度以及锁相环的同步范围）</a:t>
            </a:r>
            <a:endParaRPr lang="en-US" altLang="zh-CN" sz="1800" dirty="0">
              <a:latin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1800" dirty="0">
                <a:latin typeface="Times New Roman" panose="02020603050405020304" pitchFamily="18" charset="0"/>
              </a:rPr>
              <a:t>实验结果</a:t>
            </a:r>
            <a:endParaRPr lang="en-US" altLang="zh-CN" sz="1800" dirty="0">
              <a:latin typeface="Times New Roman" panose="02020603050405020304" pitchFamily="18" charset="0"/>
            </a:endParaRPr>
          </a:p>
          <a:p>
            <a:pPr marL="360000" lvl="1">
              <a:lnSpc>
                <a:spcPct val="150000"/>
              </a:lnSpc>
            </a:pPr>
            <a:r>
              <a:rPr lang="zh-CN" altLang="zh-CN" sz="1800" dirty="0">
                <a:latin typeface="Times New Roman" panose="02020603050405020304" pitchFamily="18" charset="0"/>
              </a:rPr>
              <a:t>噪声电压峰峰值</a:t>
            </a:r>
            <a:r>
              <a:rPr lang="en-US" altLang="zh-CN" sz="1800" dirty="0">
                <a:latin typeface="Times New Roman" panose="02020603050405020304" pitchFamily="18" charset="0"/>
              </a:rPr>
              <a:t> / </a:t>
            </a:r>
            <a:r>
              <a:rPr lang="zh-CN" altLang="zh-CN" sz="1800" dirty="0">
                <a:latin typeface="Times New Roman" panose="02020603050405020304" pitchFamily="18" charset="0"/>
              </a:rPr>
              <a:t>输入信号有效值</a:t>
            </a:r>
            <a:r>
              <a:rPr lang="en-US" altLang="zh-CN" sz="1800" dirty="0">
                <a:latin typeface="Times New Roman" panose="02020603050405020304" pitchFamily="18" charset="0"/>
              </a:rPr>
              <a:t> &lt;10</a:t>
            </a:r>
            <a:r>
              <a:rPr lang="zh-CN" altLang="zh-CN" sz="1800" dirty="0">
                <a:latin typeface="Times New Roman" panose="02020603050405020304" pitchFamily="18" charset="0"/>
              </a:rPr>
              <a:t>，</a:t>
            </a:r>
            <a:r>
              <a:rPr lang="en-US" altLang="zh-CN" sz="1800" i="1" dirty="0">
                <a:latin typeface="Times New Roman" panose="02020603050405020304" pitchFamily="18" charset="0"/>
              </a:rPr>
              <a:t>P</a:t>
            </a:r>
            <a:r>
              <a:rPr lang="en-US" altLang="zh-CN" sz="1800" i="1" baseline="-25000" dirty="0">
                <a:latin typeface="Times New Roman" panose="02020603050405020304" pitchFamily="18" charset="0"/>
              </a:rPr>
              <a:t>si</a:t>
            </a:r>
            <a:r>
              <a:rPr lang="en-US" altLang="zh-CN" sz="1800" dirty="0">
                <a:latin typeface="Times New Roman" panose="02020603050405020304" pitchFamily="18" charset="0"/>
              </a:rPr>
              <a:t>/</a:t>
            </a:r>
            <a:r>
              <a:rPr lang="en-US" altLang="zh-CN" sz="1800" i="1" dirty="0" err="1">
                <a:latin typeface="Times New Roman" panose="02020603050405020304" pitchFamily="18" charset="0"/>
              </a:rPr>
              <a:t>P</a:t>
            </a:r>
            <a:r>
              <a:rPr lang="en-US" altLang="zh-CN" sz="1800" i="1" baseline="-25000" dirty="0" err="1">
                <a:latin typeface="Times New Roman" panose="02020603050405020304" pitchFamily="18" charset="0"/>
              </a:rPr>
              <a:t>ni</a:t>
            </a:r>
            <a:r>
              <a:rPr lang="en-US" altLang="zh-CN" sz="1800" i="1" baseline="-25000" dirty="0">
                <a:latin typeface="Times New Roman" panose="02020603050405020304" pitchFamily="18" charset="0"/>
              </a:rPr>
              <a:t> </a:t>
            </a:r>
            <a:r>
              <a:rPr lang="en-US" altLang="zh-CN" sz="1800" dirty="0">
                <a:latin typeface="Times New Roman" panose="02020603050405020304" pitchFamily="18" charset="0"/>
              </a:rPr>
              <a:t>&gt;0.44</a:t>
            </a:r>
            <a:r>
              <a:rPr lang="zh-CN" altLang="en-US" sz="1800" dirty="0">
                <a:latin typeface="Times New Roman" panose="02020603050405020304" pitchFamily="18" charset="0"/>
              </a:rPr>
              <a:t>，</a:t>
            </a:r>
            <a:r>
              <a:rPr lang="zh-CN" altLang="zh-CN" sz="1800" dirty="0">
                <a:latin typeface="Times New Roman" panose="02020603050405020304" pitchFamily="18" charset="0"/>
              </a:rPr>
              <a:t>锁相环基本不受影响</a:t>
            </a:r>
            <a:endParaRPr lang="en-US" altLang="zh-CN" sz="1800" dirty="0">
              <a:latin typeface="Times New Roman" panose="02020603050405020304" pitchFamily="18" charset="0"/>
            </a:endParaRPr>
          </a:p>
          <a:p>
            <a:pPr marL="360000" lvl="1">
              <a:lnSpc>
                <a:spcPct val="150000"/>
              </a:lnSpc>
            </a:pPr>
            <a:r>
              <a:rPr lang="zh-CN" altLang="zh-CN" sz="1800" dirty="0">
                <a:latin typeface="Times New Roman" panose="02020603050405020304" pitchFamily="18" charset="0"/>
              </a:rPr>
              <a:t>噪声电压峰峰值</a:t>
            </a:r>
            <a:r>
              <a:rPr lang="en-US" altLang="zh-CN" sz="1800" dirty="0">
                <a:latin typeface="Times New Roman" panose="02020603050405020304" pitchFamily="18" charset="0"/>
              </a:rPr>
              <a:t> / </a:t>
            </a:r>
            <a:r>
              <a:rPr lang="zh-CN" altLang="zh-CN" sz="1800" dirty="0">
                <a:latin typeface="Times New Roman" panose="02020603050405020304" pitchFamily="18" charset="0"/>
              </a:rPr>
              <a:t>输入信号有效值</a:t>
            </a:r>
            <a:r>
              <a:rPr lang="en-US" altLang="zh-CN" sz="1800" dirty="0">
                <a:latin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rPr>
              <a:t>50</a:t>
            </a:r>
            <a:r>
              <a:rPr lang="zh-CN" altLang="zh-CN" sz="1800" dirty="0">
                <a:latin typeface="Times New Roman" panose="02020603050405020304" pitchFamily="18" charset="0"/>
              </a:rPr>
              <a:t>，</a:t>
            </a:r>
            <a:r>
              <a:rPr lang="en-US" altLang="zh-CN" sz="1800" i="1" dirty="0">
                <a:latin typeface="Times New Roman" panose="02020603050405020304" pitchFamily="18" charset="0"/>
              </a:rPr>
              <a:t>P</a:t>
            </a:r>
            <a:r>
              <a:rPr lang="en-US" altLang="zh-CN" sz="1800" i="1" baseline="-25000" dirty="0">
                <a:latin typeface="Times New Roman" panose="02020603050405020304" pitchFamily="18" charset="0"/>
              </a:rPr>
              <a:t>si</a:t>
            </a:r>
            <a:r>
              <a:rPr lang="en-US" altLang="zh-CN" sz="1800" dirty="0">
                <a:latin typeface="Times New Roman" panose="02020603050405020304" pitchFamily="18" charset="0"/>
              </a:rPr>
              <a:t>/</a:t>
            </a:r>
            <a:r>
              <a:rPr lang="en-US" altLang="zh-CN" sz="1800" i="1" dirty="0" err="1">
                <a:latin typeface="Times New Roman" panose="02020603050405020304" pitchFamily="18" charset="0"/>
              </a:rPr>
              <a:t>P</a:t>
            </a:r>
            <a:r>
              <a:rPr lang="en-US" altLang="zh-CN" sz="1800" i="1" baseline="-25000" dirty="0" err="1">
                <a:latin typeface="Times New Roman" panose="02020603050405020304" pitchFamily="18" charset="0"/>
              </a:rPr>
              <a:t>ni</a:t>
            </a:r>
            <a:r>
              <a:rPr lang="en-US" altLang="zh-CN" sz="1800" i="1" baseline="-25000" dirty="0">
                <a:latin typeface="Times New Roman" panose="02020603050405020304" pitchFamily="18" charset="0"/>
              </a:rPr>
              <a:t> </a:t>
            </a:r>
            <a:r>
              <a:rPr lang="en-US" altLang="zh-CN" sz="1800" dirty="0">
                <a:latin typeface="Times New Roman" panose="02020603050405020304" pitchFamily="18" charset="0"/>
              </a:rPr>
              <a:t>=1.7×10</a:t>
            </a:r>
            <a:r>
              <a:rPr lang="en-US" altLang="zh-CN" sz="1800" baseline="30000" dirty="0">
                <a:latin typeface="Times New Roman" panose="02020603050405020304" pitchFamily="18" charset="0"/>
              </a:rPr>
              <a:t>-2</a:t>
            </a:r>
            <a:r>
              <a:rPr lang="zh-CN" altLang="en-US" sz="1800" dirty="0">
                <a:latin typeface="Times New Roman" panose="02020603050405020304" pitchFamily="18" charset="0"/>
              </a:rPr>
              <a:t>，</a:t>
            </a:r>
            <a:r>
              <a:rPr lang="zh-CN" altLang="zh-CN" sz="1800" dirty="0">
                <a:latin typeface="Times New Roman" panose="02020603050405020304" pitchFamily="18" charset="0"/>
              </a:rPr>
              <a:t>锁相环</a:t>
            </a:r>
            <a:r>
              <a:rPr lang="zh-CN" altLang="en-US" sz="1800" dirty="0">
                <a:latin typeface="Times New Roman" panose="02020603050405020304" pitchFamily="18" charset="0"/>
              </a:rPr>
              <a:t>输出抖动较大，勉强稳定，</a:t>
            </a:r>
            <a:r>
              <a:rPr lang="zh-CN" altLang="zh-CN" sz="1800" dirty="0">
                <a:latin typeface="Times New Roman" panose="02020603050405020304" pitchFamily="18" charset="0"/>
              </a:rPr>
              <a:t>同步范围大幅度降低</a:t>
            </a:r>
            <a:endParaRPr lang="en-US" altLang="zh-CN" sz="1800" dirty="0">
              <a:latin typeface="Times New Roman" panose="02020603050405020304" pitchFamily="18" charset="0"/>
            </a:endParaRPr>
          </a:p>
          <a:p>
            <a:pPr marL="360000" lvl="1">
              <a:lnSpc>
                <a:spcPct val="150000"/>
              </a:lnSpc>
            </a:pPr>
            <a:r>
              <a:rPr lang="zh-CN" altLang="zh-CN" sz="1800" dirty="0">
                <a:latin typeface="Times New Roman" panose="02020603050405020304" pitchFamily="18" charset="0"/>
              </a:rPr>
              <a:t>噪声电压峰峰值</a:t>
            </a:r>
            <a:r>
              <a:rPr lang="en-US" altLang="zh-CN" sz="1800" dirty="0">
                <a:latin typeface="Times New Roman" panose="02020603050405020304" pitchFamily="18" charset="0"/>
              </a:rPr>
              <a:t> / </a:t>
            </a:r>
            <a:r>
              <a:rPr lang="zh-CN" altLang="zh-CN" sz="1800" dirty="0">
                <a:latin typeface="Times New Roman" panose="02020603050405020304" pitchFamily="18" charset="0"/>
              </a:rPr>
              <a:t>输入信号有效值</a:t>
            </a:r>
            <a:r>
              <a:rPr lang="en-US" altLang="zh-CN" sz="1800" dirty="0">
                <a:latin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rPr>
              <a:t>100</a:t>
            </a:r>
            <a:r>
              <a:rPr lang="zh-CN" altLang="zh-CN" sz="1800" dirty="0">
                <a:latin typeface="Times New Roman" panose="02020603050405020304" pitchFamily="18" charset="0"/>
              </a:rPr>
              <a:t>，</a:t>
            </a:r>
            <a:r>
              <a:rPr lang="en-US" altLang="zh-CN" sz="1800" i="1" dirty="0">
                <a:latin typeface="Times New Roman" panose="02020603050405020304" pitchFamily="18" charset="0"/>
              </a:rPr>
              <a:t>P</a:t>
            </a:r>
            <a:r>
              <a:rPr lang="en-US" altLang="zh-CN" sz="1800" i="1" baseline="-25000" dirty="0">
                <a:latin typeface="Times New Roman" panose="02020603050405020304" pitchFamily="18" charset="0"/>
              </a:rPr>
              <a:t>si</a:t>
            </a:r>
            <a:r>
              <a:rPr lang="en-US" altLang="zh-CN" sz="1800" dirty="0">
                <a:latin typeface="Times New Roman" panose="02020603050405020304" pitchFamily="18" charset="0"/>
              </a:rPr>
              <a:t>/</a:t>
            </a:r>
            <a:r>
              <a:rPr lang="en-US" altLang="zh-CN" sz="1800" i="1" dirty="0" err="1">
                <a:latin typeface="Times New Roman" panose="02020603050405020304" pitchFamily="18" charset="0"/>
              </a:rPr>
              <a:t>P</a:t>
            </a:r>
            <a:r>
              <a:rPr lang="en-US" altLang="zh-CN" sz="1800" i="1" baseline="-25000" dirty="0" err="1">
                <a:latin typeface="Times New Roman" panose="02020603050405020304" pitchFamily="18" charset="0"/>
              </a:rPr>
              <a:t>ni</a:t>
            </a:r>
            <a:r>
              <a:rPr lang="en-US" altLang="zh-CN" sz="1800" i="1" baseline="-25000" dirty="0">
                <a:latin typeface="Times New Roman" panose="02020603050405020304" pitchFamily="18" charset="0"/>
              </a:rPr>
              <a:t> </a:t>
            </a:r>
            <a:r>
              <a:rPr lang="en-US" altLang="zh-CN" sz="1800" dirty="0">
                <a:latin typeface="Times New Roman" panose="02020603050405020304" pitchFamily="18" charset="0"/>
              </a:rPr>
              <a:t>=4.4×10</a:t>
            </a:r>
            <a:r>
              <a:rPr lang="en-US" altLang="zh-CN" sz="1800" baseline="30000" dirty="0">
                <a:latin typeface="Times New Roman" panose="02020603050405020304" pitchFamily="18" charset="0"/>
              </a:rPr>
              <a:t>-3</a:t>
            </a:r>
            <a:r>
              <a:rPr lang="zh-CN" altLang="en-US" sz="1800" dirty="0">
                <a:latin typeface="Times New Roman" panose="02020603050405020304" pitchFamily="18" charset="0"/>
              </a:rPr>
              <a:t>，</a:t>
            </a:r>
            <a:r>
              <a:rPr lang="zh-CN" altLang="zh-CN" sz="1800" dirty="0">
                <a:latin typeface="Times New Roman" panose="02020603050405020304" pitchFamily="18" charset="0"/>
              </a:rPr>
              <a:t>锁相环</a:t>
            </a:r>
            <a:r>
              <a:rPr lang="zh-CN" altLang="en-US" sz="1800" dirty="0">
                <a:latin typeface="Times New Roman" panose="02020603050405020304" pitchFamily="18" charset="0"/>
              </a:rPr>
              <a:t>输出极不稳定，无法</a:t>
            </a:r>
            <a:r>
              <a:rPr lang="zh-CN" altLang="zh-CN" sz="1800" dirty="0">
                <a:latin typeface="Times New Roman" panose="02020603050405020304" pitchFamily="18" charset="0"/>
              </a:rPr>
              <a:t>正常工作</a:t>
            </a:r>
            <a:endParaRPr lang="en-US" altLang="zh-CN" sz="1800" dirty="0">
              <a:latin typeface="Times New Roman" panose="02020603050405020304" pitchFamily="18" charset="0"/>
            </a:endParaRPr>
          </a:p>
        </p:txBody>
      </p:sp>
      <p:sp>
        <p:nvSpPr>
          <p:cNvPr id="7" name="文本框 6"/>
          <p:cNvSpPr txBox="1"/>
          <p:nvPr/>
        </p:nvSpPr>
        <p:spPr>
          <a:xfrm>
            <a:off x="449942" y="5205859"/>
            <a:ext cx="11371641" cy="1089529"/>
          </a:xfrm>
          <a:prstGeom prst="rect">
            <a:avLst/>
          </a:prstGeom>
          <a:noFill/>
        </p:spPr>
        <p:txBody>
          <a:bodyPr wrap="square" rtlCol="0">
            <a:spAutoFit/>
          </a:bodyPr>
          <a:lstStyle/>
          <a:p>
            <a:pPr>
              <a:lnSpc>
                <a:spcPct val="135000"/>
              </a:lnSpc>
            </a:pPr>
            <a:r>
              <a:rPr lang="zh-CN" altLang="en-US" sz="1600" dirty="0"/>
              <a:t>注：上述信噪比按照下式计算： </a:t>
            </a:r>
            <a:r>
              <a:rPr lang="en-US" altLang="zh-CN" sz="1600" i="1" dirty="0"/>
              <a:t>P</a:t>
            </a:r>
            <a:r>
              <a:rPr lang="en-US" altLang="zh-CN" sz="1600" i="1" baseline="-25000" dirty="0"/>
              <a:t>si</a:t>
            </a:r>
            <a:r>
              <a:rPr lang="en-US" altLang="zh-CN" sz="1600" dirty="0"/>
              <a:t>/</a:t>
            </a:r>
            <a:r>
              <a:rPr lang="en-US" altLang="zh-CN" sz="1600" i="1" dirty="0" err="1"/>
              <a:t>P</a:t>
            </a:r>
            <a:r>
              <a:rPr lang="en-US" altLang="zh-CN" sz="1600" i="1" baseline="-25000" dirty="0" err="1"/>
              <a:t>ni</a:t>
            </a:r>
            <a:r>
              <a:rPr lang="en-US" altLang="zh-CN" sz="1600" i="1" baseline="-25000" dirty="0"/>
              <a:t> </a:t>
            </a:r>
            <a:r>
              <a:rPr lang="en-US" altLang="zh-CN" sz="1600" dirty="0"/>
              <a:t>= [</a:t>
            </a:r>
            <a:r>
              <a:rPr lang="zh-CN" altLang="zh-CN" sz="1600" dirty="0"/>
              <a:t>输入信号有效值</a:t>
            </a:r>
            <a:r>
              <a:rPr lang="en-US" altLang="zh-CN" sz="1600" dirty="0"/>
              <a:t>/ (</a:t>
            </a:r>
            <a:r>
              <a:rPr lang="zh-CN" altLang="zh-CN" sz="1600" dirty="0"/>
              <a:t>噪声电压峰峰值</a:t>
            </a:r>
            <a:r>
              <a:rPr lang="en-US" altLang="zh-CN" sz="1600" dirty="0"/>
              <a:t>÷6.6)]</a:t>
            </a:r>
            <a:r>
              <a:rPr lang="en-US" altLang="zh-CN" sz="1600" baseline="30000" dirty="0"/>
              <a:t>2 </a:t>
            </a:r>
            <a:endParaRPr lang="en-US" altLang="zh-CN" sz="1600" dirty="0"/>
          </a:p>
          <a:p>
            <a:pPr lvl="1">
              <a:lnSpc>
                <a:spcPct val="135000"/>
              </a:lnSpc>
            </a:pPr>
            <a:r>
              <a:rPr lang="zh-CN" altLang="en-US" sz="1600" dirty="0"/>
              <a:t>其中</a:t>
            </a:r>
            <a:r>
              <a:rPr lang="en-US" altLang="zh-CN" sz="1600" dirty="0"/>
              <a:t>(</a:t>
            </a:r>
            <a:r>
              <a:rPr lang="zh-CN" altLang="zh-CN" sz="1600" dirty="0"/>
              <a:t>噪声电压峰峰值</a:t>
            </a:r>
            <a:r>
              <a:rPr lang="en-US" altLang="zh-CN" sz="1600" dirty="0"/>
              <a:t>÷6.6)</a:t>
            </a:r>
            <a:r>
              <a:rPr lang="zh-CN" altLang="en-US" sz="1600" dirty="0"/>
              <a:t>是噪声电压的</a:t>
            </a:r>
            <a:r>
              <a:rPr lang="zh-CN" altLang="zh-CN" sz="1600" dirty="0"/>
              <a:t>有效值</a:t>
            </a:r>
            <a:endParaRPr lang="en-US" altLang="zh-CN" sz="1600" dirty="0"/>
          </a:p>
          <a:p>
            <a:pPr lvl="1">
              <a:lnSpc>
                <a:spcPct val="135000"/>
              </a:lnSpc>
            </a:pPr>
            <a:r>
              <a:rPr lang="zh-CN" altLang="en-US" sz="1600" dirty="0"/>
              <a:t>系数</a:t>
            </a:r>
            <a:r>
              <a:rPr lang="en-US" altLang="zh-CN" sz="1600" dirty="0"/>
              <a:t>6.6</a:t>
            </a:r>
            <a:r>
              <a:rPr lang="zh-CN" altLang="en-US" sz="1600" dirty="0"/>
              <a:t>来自噪声电压幅度符合正态分布的假设，</a:t>
            </a:r>
            <a:r>
              <a:rPr lang="en-US" altLang="zh-CN" sz="1600" dirty="0"/>
              <a:t>99.9%</a:t>
            </a:r>
            <a:r>
              <a:rPr lang="zh-CN" altLang="en-US" sz="1600" dirty="0"/>
              <a:t>的电压落在</a:t>
            </a:r>
            <a:r>
              <a:rPr lang="en-US" altLang="zh-CN" sz="1600" dirty="0">
                <a:latin typeface="Times New Roman" panose="02020603050405020304" pitchFamily="18" charset="0"/>
                <a:cs typeface="Times New Roman" panose="02020603050405020304" pitchFamily="18" charset="0"/>
              </a:rPr>
              <a:t>±</a:t>
            </a:r>
            <a:r>
              <a:rPr lang="en-US" altLang="zh-CN" sz="1600" dirty="0"/>
              <a:t>3.3</a:t>
            </a:r>
            <a:r>
              <a:rPr lang="el-GR" altLang="zh-CN" sz="1600" dirty="0"/>
              <a:t>σ</a:t>
            </a:r>
            <a:r>
              <a:rPr lang="zh-CN" altLang="en-US" sz="1600" dirty="0"/>
              <a:t>范围内</a:t>
            </a:r>
          </a:p>
        </p:txBody>
      </p:sp>
    </p:spTree>
    <p:extLst>
      <p:ext uri="{BB962C8B-B14F-4D97-AF65-F5344CB8AC3E}">
        <p14:creationId xmlns:p14="http://schemas.microsoft.com/office/powerpoint/2010/main" val="4126416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文本框 4"/>
          <p:cNvSpPr txBox="1"/>
          <p:nvPr/>
        </p:nvSpPr>
        <p:spPr>
          <a:xfrm>
            <a:off x="435429" y="474219"/>
            <a:ext cx="11386156" cy="5832366"/>
          </a:xfrm>
          <a:prstGeom prst="rect">
            <a:avLst/>
          </a:prstGeom>
          <a:noFill/>
        </p:spPr>
        <p:txBody>
          <a:bodyPr wrap="square" rtlCol="0">
            <a:spAutoFit/>
          </a:bodyPr>
          <a:lstStyle/>
          <a:p>
            <a:pPr marL="285750" indent="-285750">
              <a:lnSpc>
                <a:spcPct val="150000"/>
              </a:lnSpc>
              <a:spcAft>
                <a:spcPts val="600"/>
              </a:spcAft>
              <a:buFont typeface="Wingdings" panose="05000000000000000000" pitchFamily="2" charset="2"/>
              <a:buChar char="Ø"/>
            </a:pPr>
            <a:r>
              <a:rPr lang="zh-CN" altLang="en-US" sz="1800" dirty="0">
                <a:latin typeface="+mn-lt"/>
              </a:rPr>
              <a:t>分析与讨论之一</a:t>
            </a:r>
            <a:endParaRPr lang="en-US" altLang="zh-CN" sz="1800" dirty="0">
              <a:latin typeface="+mn-lt"/>
            </a:endParaRPr>
          </a:p>
          <a:p>
            <a:pPr indent="457200">
              <a:lnSpc>
                <a:spcPct val="150000"/>
              </a:lnSpc>
              <a:spcBef>
                <a:spcPts val="0"/>
              </a:spcBef>
              <a:spcAft>
                <a:spcPts val="0"/>
              </a:spcAft>
            </a:pPr>
            <a:r>
              <a:rPr lang="zh-CN" altLang="en-US" sz="1800" dirty="0">
                <a:latin typeface="+mn-lt"/>
              </a:rPr>
              <a:t>载波同步电路中的锁相环，可以视为一个窄带滤波器，其带宽称为锁相环的噪声带宽。对于阻尼因子</a:t>
            </a:r>
            <a:r>
              <a:rPr lang="en-US" altLang="zh-CN" sz="1800" dirty="0">
                <a:latin typeface="+mn-lt"/>
              </a:rPr>
              <a:t>0.7</a:t>
            </a:r>
            <a:r>
              <a:rPr lang="zh-CN" altLang="en-US" sz="1800" dirty="0">
                <a:latin typeface="+mn-lt"/>
              </a:rPr>
              <a:t>左右的二阶锁相环来说，其噪声带宽大约等于</a:t>
            </a:r>
            <a:r>
              <a:rPr lang="en-US" altLang="zh-CN" sz="1800" dirty="0">
                <a:latin typeface="+mn-lt"/>
              </a:rPr>
              <a:t>0.5</a:t>
            </a:r>
            <a:r>
              <a:rPr lang="el-GR" altLang="zh-CN" sz="1800" i="1" dirty="0">
                <a:latin typeface="+mn-lt"/>
              </a:rPr>
              <a:t>ω</a:t>
            </a:r>
            <a:r>
              <a:rPr lang="en-US" altLang="zh-CN" sz="1800" i="1" baseline="-25000" dirty="0">
                <a:latin typeface="+mn-lt"/>
              </a:rPr>
              <a:t>n</a:t>
            </a:r>
          </a:p>
          <a:p>
            <a:pPr indent="457200">
              <a:lnSpc>
                <a:spcPct val="150000"/>
              </a:lnSpc>
              <a:spcBef>
                <a:spcPts val="0"/>
              </a:spcBef>
              <a:spcAft>
                <a:spcPts val="0"/>
              </a:spcAft>
            </a:pPr>
            <a:r>
              <a:rPr lang="zh-CN" altLang="en-US" sz="1800" dirty="0">
                <a:latin typeface="+mn-lt"/>
              </a:rPr>
              <a:t>根据这个等效原理，一个带有噪声的信号经过锁相环后，其中超出噪声带宽部分的噪声将被滤除，锁相环输出信号的信噪比得以提高，可由下式计算</a:t>
            </a:r>
            <a:endParaRPr lang="en-US" altLang="zh-CN" sz="1800" dirty="0">
              <a:latin typeface="+mn-lt"/>
            </a:endParaRPr>
          </a:p>
          <a:p>
            <a:pPr algn="ctr">
              <a:lnSpc>
                <a:spcPct val="150000"/>
              </a:lnSpc>
              <a:spcBef>
                <a:spcPts val="600"/>
              </a:spcBef>
              <a:spcAft>
                <a:spcPts val="600"/>
              </a:spcAft>
            </a:pPr>
            <a:r>
              <a:rPr lang="zh-CN" altLang="en-US" sz="1800" dirty="0">
                <a:latin typeface="+mn-lt"/>
              </a:rPr>
              <a:t>输出信噪比</a:t>
            </a:r>
            <a:r>
              <a:rPr lang="en-US" altLang="zh-CN" sz="1800" dirty="0">
                <a:latin typeface="+mn-lt"/>
              </a:rPr>
              <a:t>=</a:t>
            </a:r>
            <a:r>
              <a:rPr lang="zh-CN" altLang="en-US" sz="1800" dirty="0">
                <a:latin typeface="+mn-lt"/>
              </a:rPr>
              <a:t>输入信噪比</a:t>
            </a:r>
            <a:r>
              <a:rPr lang="en-US" altLang="zh-CN" sz="1800" dirty="0">
                <a:latin typeface="+mn-lt"/>
              </a:rPr>
              <a:t>×</a:t>
            </a:r>
            <a:r>
              <a:rPr lang="zh-CN" altLang="en-US" sz="1800" dirty="0">
                <a:latin typeface="+mn-lt"/>
              </a:rPr>
              <a:t>输入信号带宽 </a:t>
            </a:r>
            <a:r>
              <a:rPr lang="en-US" altLang="zh-CN" sz="1800" dirty="0">
                <a:latin typeface="+mn-lt"/>
              </a:rPr>
              <a:t>/ (</a:t>
            </a:r>
            <a:r>
              <a:rPr lang="zh-CN" altLang="en-US" sz="1800" dirty="0">
                <a:latin typeface="+mn-lt"/>
              </a:rPr>
              <a:t>锁相环噪声带宽</a:t>
            </a:r>
            <a:r>
              <a:rPr lang="en-US" altLang="zh-CN" sz="1800" dirty="0">
                <a:latin typeface="+mn-lt"/>
              </a:rPr>
              <a:t>×2)</a:t>
            </a:r>
          </a:p>
          <a:p>
            <a:pPr indent="457200">
              <a:lnSpc>
                <a:spcPct val="150000"/>
              </a:lnSpc>
              <a:spcBef>
                <a:spcPts val="0"/>
              </a:spcBef>
              <a:spcAft>
                <a:spcPts val="0"/>
              </a:spcAft>
            </a:pPr>
            <a:r>
              <a:rPr lang="zh-CN" altLang="en-US" sz="1800" dirty="0">
                <a:latin typeface="+mn-lt"/>
              </a:rPr>
              <a:t>锁相环输出信号的信噪比等效于其中的载波与相位抖动部分的比例。这个等效信噪比高意味着锁相环可以稳定工作，而信噪比不够则意味着锁相环无法稳定工作。一个经验数值是：等效的输出信噪比要大于</a:t>
            </a:r>
            <a:r>
              <a:rPr lang="en-US" altLang="zh-CN" sz="1800" dirty="0">
                <a:latin typeface="+mn-lt"/>
              </a:rPr>
              <a:t>4</a:t>
            </a:r>
            <a:r>
              <a:rPr lang="zh-CN" altLang="en-US" sz="1800" dirty="0">
                <a:latin typeface="+mn-lt"/>
              </a:rPr>
              <a:t>（</a:t>
            </a:r>
            <a:r>
              <a:rPr lang="en-US" altLang="zh-CN" sz="1800" dirty="0">
                <a:latin typeface="+mn-lt"/>
              </a:rPr>
              <a:t>6dB</a:t>
            </a:r>
            <a:r>
              <a:rPr lang="zh-CN" altLang="en-US" sz="1800" dirty="0">
                <a:latin typeface="+mn-lt"/>
              </a:rPr>
              <a:t>）锁相环才能稳定工作</a:t>
            </a:r>
            <a:endParaRPr lang="en-US" altLang="zh-CN" sz="1800" dirty="0">
              <a:latin typeface="+mn-lt"/>
            </a:endParaRPr>
          </a:p>
          <a:p>
            <a:pPr indent="457200">
              <a:lnSpc>
                <a:spcPct val="150000"/>
              </a:lnSpc>
              <a:spcBef>
                <a:spcPts val="0"/>
              </a:spcBef>
              <a:spcAft>
                <a:spcPts val="0"/>
              </a:spcAft>
            </a:pPr>
            <a:r>
              <a:rPr lang="zh-CN" altLang="en-US" sz="1800" dirty="0">
                <a:latin typeface="+mn-lt"/>
              </a:rPr>
              <a:t>前面实验的结果证明了输出信噪比与输入信噪比的正比关系：输入信号的信噪比较高时，输出的等效信噪也也较高，输出信号是稳定的。加大输入的噪声信号比重，输入的信噪比变差，则输出的信噪比随之变差，锁相环就从稳定状态变成不稳定状态了</a:t>
            </a:r>
            <a:endParaRPr lang="en-US" altLang="zh-CN" sz="1800" dirty="0">
              <a:latin typeface="+mn-lt"/>
            </a:endParaRPr>
          </a:p>
          <a:p>
            <a:pPr indent="457200">
              <a:lnSpc>
                <a:spcPct val="150000"/>
              </a:lnSpc>
              <a:spcBef>
                <a:spcPts val="1200"/>
              </a:spcBef>
              <a:spcAft>
                <a:spcPts val="0"/>
              </a:spcAft>
            </a:pPr>
            <a:r>
              <a:rPr lang="zh-CN" altLang="en-US" sz="1600" dirty="0" smtClean="0">
                <a:latin typeface="+mn-lt"/>
              </a:rPr>
              <a:t>注：此实验存在</a:t>
            </a:r>
            <a:r>
              <a:rPr lang="zh-CN" altLang="en-US" sz="1600" dirty="0">
                <a:latin typeface="+mn-lt"/>
              </a:rPr>
              <a:t>以下问题：</a:t>
            </a:r>
            <a:r>
              <a:rPr lang="en-US" altLang="zh-CN" sz="1600" dirty="0">
                <a:latin typeface="+mn-lt"/>
              </a:rPr>
              <a:t>1</a:t>
            </a:r>
            <a:r>
              <a:rPr lang="zh-CN" altLang="en-US" sz="1600" dirty="0">
                <a:latin typeface="+mn-lt"/>
              </a:rPr>
              <a:t>、噪声不完全是白色的，</a:t>
            </a:r>
            <a:r>
              <a:rPr lang="en-US" altLang="zh-CN" sz="1600" dirty="0">
                <a:latin typeface="+mn-lt"/>
              </a:rPr>
              <a:t>2</a:t>
            </a:r>
            <a:r>
              <a:rPr lang="zh-CN" altLang="en-US" sz="1600" dirty="0">
                <a:latin typeface="+mn-lt"/>
              </a:rPr>
              <a:t>、很难准确估计信号带宽，</a:t>
            </a:r>
            <a:r>
              <a:rPr lang="zh-CN" altLang="en-US" sz="1600" dirty="0"/>
              <a:t>所以最终无法进行定量计算</a:t>
            </a:r>
            <a:endParaRPr lang="en-US" altLang="zh-CN" sz="1600" dirty="0">
              <a:latin typeface="+mn-lt"/>
            </a:endParaRPr>
          </a:p>
        </p:txBody>
      </p:sp>
    </p:spTree>
    <p:extLst>
      <p:ext uri="{BB962C8B-B14F-4D97-AF65-F5344CB8AC3E}">
        <p14:creationId xmlns:p14="http://schemas.microsoft.com/office/powerpoint/2010/main" val="2165868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文本框 4"/>
          <p:cNvSpPr txBox="1"/>
          <p:nvPr/>
        </p:nvSpPr>
        <p:spPr>
          <a:xfrm>
            <a:off x="406400" y="419385"/>
            <a:ext cx="11415185" cy="580158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分析与讨论之二</a:t>
            </a:r>
            <a:endParaRPr lang="en-US" altLang="zh-CN" sz="1800" dirty="0"/>
          </a:p>
          <a:p>
            <a:pPr indent="457200">
              <a:lnSpc>
                <a:spcPct val="150000"/>
              </a:lnSpc>
            </a:pPr>
            <a:r>
              <a:rPr lang="zh-CN" altLang="en-US" sz="1800" dirty="0"/>
              <a:t>载波同步电路中，为了获得更低的输出相位抖动，总是要求锁相环有尽可能低的自然频率（闭环带宽、噪声带宽），但很低的自然频率将会带来</a:t>
            </a:r>
            <a:r>
              <a:rPr lang="zh-CN" altLang="en-US" sz="1800" dirty="0" smtClean="0"/>
              <a:t>捕捉困难的问题</a:t>
            </a:r>
            <a:endParaRPr lang="en-US" altLang="zh-CN" sz="1800" dirty="0" smtClean="0"/>
          </a:p>
          <a:p>
            <a:pPr indent="457200">
              <a:lnSpc>
                <a:spcPct val="150000"/>
              </a:lnSpc>
              <a:spcBef>
                <a:spcPts val="1200"/>
              </a:spcBef>
              <a:spcAft>
                <a:spcPts val="1200"/>
              </a:spcAft>
            </a:pPr>
            <a:r>
              <a:rPr lang="zh-CN" altLang="en-US" sz="1800" dirty="0" smtClean="0"/>
              <a:t>本</a:t>
            </a:r>
            <a:r>
              <a:rPr lang="zh-CN" altLang="en-US" sz="1800" dirty="0"/>
              <a:t>例采用了乘法器</a:t>
            </a:r>
            <a:r>
              <a:rPr lang="en-US" altLang="zh-CN" sz="1800" dirty="0"/>
              <a:t>+</a:t>
            </a:r>
            <a:r>
              <a:rPr lang="zh-CN" altLang="en-US" sz="1800" dirty="0"/>
              <a:t>超前滞后环路滤波器，捕捉范围为</a:t>
            </a:r>
            <a:endParaRPr lang="en-US" altLang="zh-CN" sz="1800" dirty="0"/>
          </a:p>
          <a:p>
            <a:pPr indent="457200">
              <a:lnSpc>
                <a:spcPct val="150000"/>
              </a:lnSpc>
            </a:pPr>
            <a:r>
              <a:rPr lang="zh-CN" altLang="en-US" sz="1800" dirty="0" smtClean="0"/>
              <a:t>将</a:t>
            </a:r>
            <a:r>
              <a:rPr lang="zh-CN" altLang="en-US" sz="1800" dirty="0"/>
              <a:t>所有</a:t>
            </a:r>
            <a:r>
              <a:rPr lang="zh-CN" altLang="en-US" sz="1800" dirty="0" smtClean="0"/>
              <a:t>参数代入</a:t>
            </a:r>
            <a:r>
              <a:rPr lang="zh-CN" altLang="en-US" sz="1800" dirty="0"/>
              <a:t>，捕捉范围大约是 </a:t>
            </a:r>
            <a:r>
              <a:rPr lang="en-US" altLang="zh-CN" sz="1800" i="1" dirty="0">
                <a:latin typeface="+mn-lt"/>
              </a:rPr>
              <a:t>f</a:t>
            </a:r>
            <a:r>
              <a:rPr lang="en-US" altLang="zh-CN" sz="1800" baseline="-25000" dirty="0">
                <a:latin typeface="+mn-lt"/>
              </a:rPr>
              <a:t>0</a:t>
            </a:r>
            <a:r>
              <a:rPr lang="en-US" altLang="zh-CN" sz="1800" dirty="0">
                <a:latin typeface="+mn-lt"/>
                <a:cs typeface="Times New Roman" panose="02020603050405020304" pitchFamily="18" charset="0"/>
              </a:rPr>
              <a:t>±</a:t>
            </a:r>
            <a:r>
              <a:rPr lang="en-US" altLang="zh-CN" sz="1800" dirty="0">
                <a:latin typeface="+mn-lt"/>
              </a:rPr>
              <a:t>55kHz</a:t>
            </a:r>
            <a:r>
              <a:rPr lang="zh-CN" altLang="en-US" sz="1800" dirty="0"/>
              <a:t>。由于载波频率为</a:t>
            </a:r>
            <a:r>
              <a:rPr lang="en-US" altLang="zh-CN" sz="1800" dirty="0">
                <a:latin typeface="+mn-lt"/>
              </a:rPr>
              <a:t>1MHz</a:t>
            </a:r>
            <a:r>
              <a:rPr lang="zh-CN" altLang="en-US" sz="1800" dirty="0"/>
              <a:t>，所以相对捕捉范围大约是</a:t>
            </a:r>
            <a:r>
              <a:rPr lang="en-US" altLang="zh-CN" sz="1800" dirty="0">
                <a:latin typeface="Times New Roman" panose="02020603050405020304" pitchFamily="18" charset="0"/>
                <a:cs typeface="Times New Roman" panose="02020603050405020304" pitchFamily="18" charset="0"/>
              </a:rPr>
              <a:t>±5.5%</a:t>
            </a:r>
            <a:r>
              <a:rPr lang="zh-CN" altLang="en-US" sz="1800" dirty="0">
                <a:latin typeface="Times New Roman" panose="02020603050405020304" pitchFamily="18" charset="0"/>
                <a:cs typeface="Times New Roman" panose="02020603050405020304" pitchFamily="18" charset="0"/>
              </a:rPr>
              <a:t>，这是一个很窄的捕捉范围</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latin typeface="Times New Roman" panose="02020603050405020304" pitchFamily="18" charset="0"/>
                <a:cs typeface="Times New Roman" panose="02020603050405020304" pitchFamily="18" charset="0"/>
              </a:rPr>
              <a:t>实测本例电路的捕捉范围为</a:t>
            </a:r>
            <a:r>
              <a:rPr lang="en-US" altLang="zh-CN" sz="1800" dirty="0">
                <a:latin typeface="Times New Roman" panose="02020603050405020304" pitchFamily="18" charset="0"/>
                <a:cs typeface="Times New Roman" panose="02020603050405020304" pitchFamily="18" charset="0"/>
              </a:rPr>
              <a:t>1MHz±60kHz</a:t>
            </a:r>
            <a:r>
              <a:rPr lang="zh-CN" altLang="en-US" sz="1800" dirty="0">
                <a:latin typeface="Times New Roman" panose="02020603050405020304" pitchFamily="18" charset="0"/>
                <a:cs typeface="Times New Roman" panose="02020603050405020304" pitchFamily="18" charset="0"/>
              </a:rPr>
              <a:t>，与理论符合。笔者观察到由于温度或者其他原因导致</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的中心频率漂移时，即使输入的信噪比较高也无法捕捉到信号，只能重新调节</a:t>
            </a:r>
            <a:r>
              <a:rPr lang="en-US" altLang="zh-CN"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0</a:t>
            </a:r>
          </a:p>
          <a:p>
            <a:pPr indent="457200">
              <a:lnSpc>
                <a:spcPct val="150000"/>
              </a:lnSpc>
            </a:pPr>
            <a:r>
              <a:rPr lang="zh-CN" altLang="en-US" sz="1800" dirty="0">
                <a:latin typeface="Times New Roman" panose="02020603050405020304" pitchFamily="18" charset="0"/>
                <a:cs typeface="Times New Roman" panose="02020603050405020304" pitchFamily="18" charset="0"/>
              </a:rPr>
              <a:t>可以与频率合成器做比较：频率合成器中通常采用</a:t>
            </a:r>
            <a:r>
              <a:rPr lang="en-US" altLang="zh-CN" sz="1800" dirty="0">
                <a:latin typeface="Times New Roman" panose="02020603050405020304" pitchFamily="18" charset="0"/>
                <a:cs typeface="Times New Roman" panose="02020603050405020304" pitchFamily="18" charset="0"/>
              </a:rPr>
              <a:t>PFD</a:t>
            </a:r>
            <a:r>
              <a:rPr lang="zh-CN" altLang="en-US" sz="1800" dirty="0">
                <a:latin typeface="Times New Roman" panose="02020603050405020304" pitchFamily="18" charset="0"/>
                <a:cs typeface="Times New Roman" panose="02020603050405020304" pitchFamily="18" charset="0"/>
              </a:rPr>
              <a:t>鉴相，其捕捉范围仅限于</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的振荡频率范围，所以可以不管这个问题。而在这里尤其是有噪声输入的情况下，通常总是采用乘法器或异或门鉴相，这个捕捉问题就显得很突出</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latin typeface="Times New Roman" panose="02020603050405020304" pitchFamily="18" charset="0"/>
                <a:cs typeface="Times New Roman" panose="02020603050405020304" pitchFamily="18" charset="0"/>
              </a:rPr>
              <a:t>一种扫描捕捉的过程是在</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的输入端叠加一个小的锯齿波电压，让</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的中心频率扫描，一旦锁定就固定那个扫描电压</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1971965210"/>
              </p:ext>
            </p:extLst>
          </p:nvPr>
        </p:nvGraphicFramePr>
        <p:xfrm>
          <a:off x="6390821" y="1767386"/>
          <a:ext cx="1398587" cy="614363"/>
        </p:xfrm>
        <a:graphic>
          <a:graphicData uri="http://schemas.openxmlformats.org/presentationml/2006/ole">
            <mc:AlternateContent xmlns:mc="http://schemas.openxmlformats.org/markup-compatibility/2006">
              <mc:Choice xmlns:v="urn:schemas-microsoft-com:vml" Requires="v">
                <p:oleObj spid="_x0000_s41993" name="Equation" r:id="rId4" imgW="736560" imgH="317160" progId="Equation.DSMT4">
                  <p:embed/>
                </p:oleObj>
              </mc:Choice>
              <mc:Fallback>
                <p:oleObj name="Equation" r:id="rId4" imgW="736560" imgH="317160" progId="Equation.DSMT4">
                  <p:embed/>
                  <p:pic>
                    <p:nvPicPr>
                      <p:cNvPr id="6" name="对象 5"/>
                      <p:cNvPicPr>
                        <a:picLocks noChangeAspect="1" noChangeArrowheads="1"/>
                      </p:cNvPicPr>
                      <p:nvPr/>
                    </p:nvPicPr>
                    <p:blipFill>
                      <a:blip r:embed="rId5"/>
                      <a:srcRect/>
                      <a:stretch>
                        <a:fillRect/>
                      </a:stretch>
                    </p:blipFill>
                    <p:spPr bwMode="auto">
                      <a:xfrm>
                        <a:off x="6390821" y="1767386"/>
                        <a:ext cx="1398587" cy="614363"/>
                      </a:xfrm>
                      <a:prstGeom prst="rect">
                        <a:avLst/>
                      </a:prstGeom>
                      <a:noFill/>
                    </p:spPr>
                  </p:pic>
                </p:oleObj>
              </mc:Fallback>
            </mc:AlternateContent>
          </a:graphicData>
        </a:graphic>
      </p:graphicFrame>
    </p:spTree>
    <p:extLst>
      <p:ext uri="{BB962C8B-B14F-4D97-AF65-F5344CB8AC3E}">
        <p14:creationId xmlns:p14="http://schemas.microsoft.com/office/powerpoint/2010/main" val="36070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464457" y="351975"/>
            <a:ext cx="11357127" cy="5735609"/>
          </a:xfrm>
          <a:prstGeom prst="rect">
            <a:avLst/>
          </a:prstGeom>
          <a:noFill/>
        </p:spPr>
        <p:txBody>
          <a:bodyPr wrap="square" rtlCol="0">
            <a:spAutoFit/>
          </a:bodyPr>
          <a:lstStyle/>
          <a:p>
            <a:pPr>
              <a:lnSpc>
                <a:spcPct val="150000"/>
              </a:lnSpc>
            </a:pPr>
            <a:r>
              <a:rPr lang="zh-CN" altLang="en-US" sz="2400" dirty="0">
                <a:solidFill>
                  <a:srgbClr val="FF0000"/>
                </a:solidFill>
                <a:latin typeface="隶书" panose="02010509060101010101" pitchFamily="49" charset="-122"/>
                <a:ea typeface="隶书" panose="02010509060101010101" pitchFamily="49" charset="-122"/>
              </a:rPr>
              <a:t>高阶锁相环改善输出信号相位抖动的例子</a:t>
            </a:r>
            <a:endParaRPr lang="en-US" altLang="zh-CN" sz="24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t>实验条件：</a:t>
            </a:r>
            <a:endParaRPr lang="en-US" altLang="zh-CN" sz="1800" dirty="0"/>
          </a:p>
          <a:p>
            <a:pPr marL="342900" indent="-342900">
              <a:lnSpc>
                <a:spcPct val="150000"/>
              </a:lnSpc>
              <a:buFont typeface="Arial" panose="020B0604020202020204" pitchFamily="34" charset="0"/>
              <a:buChar char="•"/>
            </a:pPr>
            <a:r>
              <a:rPr lang="zh-CN" altLang="en-US" sz="1800" dirty="0"/>
              <a:t>实验电路与前面一个电路相同，但只有信号输入（</a:t>
            </a:r>
            <a:r>
              <a:rPr lang="zh-CN" altLang="zh-CN" sz="1800" dirty="0"/>
              <a:t>噪声输入端对地短路</a:t>
            </a:r>
            <a:r>
              <a:rPr lang="zh-CN" altLang="en-US" sz="1800" dirty="0"/>
              <a:t>）</a:t>
            </a:r>
            <a:endParaRPr lang="en-US" altLang="zh-CN" sz="1800" dirty="0"/>
          </a:p>
          <a:p>
            <a:pPr lvl="1">
              <a:lnSpc>
                <a:spcPct val="150000"/>
              </a:lnSpc>
            </a:pPr>
            <a:r>
              <a:rPr lang="zh-CN" altLang="en-US" sz="1800" dirty="0"/>
              <a:t>锁相环参数：</a:t>
            </a:r>
            <a:r>
              <a:rPr lang="zh-CN" altLang="zh-CN" sz="1800" dirty="0"/>
              <a:t>鉴相增益</a:t>
            </a:r>
            <a:r>
              <a:rPr lang="en-US" altLang="zh-CN" sz="1800" i="1" dirty="0" err="1">
                <a:latin typeface="+mn-lt"/>
              </a:rPr>
              <a:t>K</a:t>
            </a:r>
            <a:r>
              <a:rPr lang="en-US" altLang="zh-CN" sz="1800" i="1" baseline="-25000" dirty="0" err="1">
                <a:latin typeface="+mn-lt"/>
              </a:rPr>
              <a:t>d</a:t>
            </a:r>
            <a:r>
              <a:rPr lang="en-US" altLang="zh-CN" sz="1800" dirty="0">
                <a:latin typeface="+mn-lt"/>
              </a:rPr>
              <a:t>=0.46</a:t>
            </a:r>
            <a:r>
              <a:rPr lang="zh-CN" altLang="en-US" sz="1800" dirty="0"/>
              <a:t>，压控增益</a:t>
            </a:r>
            <a:r>
              <a:rPr lang="en-US" altLang="zh-CN" sz="1800" i="1" dirty="0" err="1">
                <a:latin typeface="+mn-lt"/>
              </a:rPr>
              <a:t>K</a:t>
            </a:r>
            <a:r>
              <a:rPr lang="en-US" altLang="zh-CN" sz="1800" i="1" baseline="-25000" dirty="0" err="1">
                <a:latin typeface="+mn-lt"/>
              </a:rPr>
              <a:t>o</a:t>
            </a:r>
            <a:r>
              <a:rPr lang="en-US" altLang="zh-CN" sz="1800" dirty="0">
                <a:latin typeface="+mn-lt"/>
              </a:rPr>
              <a:t>=6×10</a:t>
            </a:r>
            <a:r>
              <a:rPr lang="en-US" altLang="zh-CN" sz="1800" baseline="30000" dirty="0">
                <a:latin typeface="+mn-lt"/>
              </a:rPr>
              <a:t>6</a:t>
            </a:r>
            <a:r>
              <a:rPr lang="zh-CN" altLang="en-US" sz="1800" dirty="0">
                <a:latin typeface="Times New Roman" panose="02020603050405020304" pitchFamily="18" charset="0"/>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ω</a:t>
            </a:r>
            <a:r>
              <a:rPr lang="en-US" altLang="zh-CN" sz="18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=2</a:t>
            </a:r>
            <a:r>
              <a:rPr lang="el-GR" altLang="zh-CN" sz="1800" dirty="0">
                <a:latin typeface="Times New Roman" panose="02020603050405020304" pitchFamily="18" charset="0"/>
                <a:cs typeface="Times New Roman" panose="02020603050405020304" pitchFamily="18" charset="0"/>
                <a:sym typeface="Symbol" panose="05050102010706020507" pitchFamily="18" charset="2"/>
              </a:rPr>
              <a:t>π</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×6000</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ζ</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=0.7</a:t>
            </a:r>
            <a:endParaRPr lang="en-US" altLang="zh-CN" sz="1800" dirty="0"/>
          </a:p>
          <a:p>
            <a:pPr lvl="1">
              <a:lnSpc>
                <a:spcPct val="150000"/>
              </a:lnSpc>
            </a:pPr>
            <a:r>
              <a:rPr lang="zh-CN" altLang="en-US" sz="1800" dirty="0"/>
              <a:t>环路滤波器：</a:t>
            </a:r>
            <a:r>
              <a:rPr lang="en-US" altLang="zh-CN" sz="1800" i="1" dirty="0">
                <a:latin typeface="+mn-lt"/>
              </a:rPr>
              <a:t>R</a:t>
            </a:r>
            <a:r>
              <a:rPr lang="en-US" altLang="zh-CN" sz="1800" baseline="-25000" dirty="0">
                <a:latin typeface="+mn-lt"/>
              </a:rPr>
              <a:t>1</a:t>
            </a:r>
            <a:r>
              <a:rPr lang="en-US" altLang="zh-CN" sz="1800" dirty="0">
                <a:latin typeface="+mn-lt"/>
              </a:rPr>
              <a:t>=1300</a:t>
            </a:r>
            <a:r>
              <a:rPr lang="zh-CN" altLang="en-US" sz="1800" dirty="0"/>
              <a:t>（芯片内部元件），</a:t>
            </a:r>
            <a:r>
              <a:rPr lang="en-US" altLang="zh-CN" sz="1800" i="1" dirty="0" smtClean="0">
                <a:latin typeface="Times New Roman" panose="02020603050405020304" pitchFamily="18" charset="0"/>
              </a:rPr>
              <a:t>R</a:t>
            </a:r>
            <a:r>
              <a:rPr lang="en-US" altLang="zh-CN" sz="1800" dirty="0" smtClean="0">
                <a:latin typeface="Times New Roman" panose="02020603050405020304" pitchFamily="18" charset="0"/>
              </a:rPr>
              <a:t>=24</a:t>
            </a:r>
            <a:r>
              <a:rPr lang="en-US" altLang="zh-CN" sz="1800" dirty="0">
                <a:latin typeface="Times New Roman" panose="02020603050405020304" pitchFamily="18" charset="0"/>
                <a:sym typeface="Symbol" panose="05050102010706020507" pitchFamily="18" charset="2"/>
              </a:rPr>
              <a:t></a:t>
            </a:r>
            <a:r>
              <a:rPr lang="zh-CN" altLang="en-US" sz="1800" dirty="0"/>
              <a:t>，</a:t>
            </a:r>
            <a:r>
              <a:rPr lang="en-US" altLang="zh-CN" sz="1800" i="1" dirty="0">
                <a:latin typeface="Times New Roman" panose="02020603050405020304" pitchFamily="18" charset="0"/>
              </a:rPr>
              <a:t>C</a:t>
            </a:r>
            <a:r>
              <a:rPr lang="en-US" altLang="zh-CN" sz="1800" dirty="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a:latin typeface="Times New Roman" panose="02020603050405020304" pitchFamily="18" charset="0"/>
              </a:rPr>
              <a:t>F</a:t>
            </a:r>
          </a:p>
          <a:p>
            <a:pPr marL="342900" indent="-342900">
              <a:lnSpc>
                <a:spcPct val="150000"/>
              </a:lnSpc>
              <a:buFont typeface="Arial" panose="020B0604020202020204" pitchFamily="34" charset="0"/>
              <a:buChar char="•"/>
            </a:pPr>
            <a:r>
              <a:rPr lang="zh-CN" altLang="en-US" sz="1800" dirty="0"/>
              <a:t>输入</a:t>
            </a:r>
            <a:r>
              <a:rPr lang="zh-CN" altLang="zh-CN" sz="1800" dirty="0"/>
              <a:t>信号</a:t>
            </a:r>
            <a:r>
              <a:rPr lang="zh-CN" altLang="en-US" sz="1800" dirty="0"/>
              <a:t>：</a:t>
            </a:r>
            <a:r>
              <a:rPr lang="en-US" altLang="zh-CN" sz="1800" dirty="0">
                <a:latin typeface="+mn-lt"/>
              </a:rPr>
              <a:t>FM</a:t>
            </a:r>
            <a:r>
              <a:rPr lang="zh-CN" altLang="zh-CN" sz="1800" dirty="0"/>
              <a:t>信号</a:t>
            </a:r>
            <a:r>
              <a:rPr lang="zh-CN" altLang="en-US" sz="1800" dirty="0"/>
              <a:t>，</a:t>
            </a:r>
            <a:r>
              <a:rPr lang="zh-CN" altLang="zh-CN" sz="1800" dirty="0"/>
              <a:t>载频</a:t>
            </a:r>
            <a:r>
              <a:rPr lang="en-US" altLang="zh-CN" sz="1800" dirty="0"/>
              <a:t> </a:t>
            </a:r>
            <a:r>
              <a:rPr lang="en-US" altLang="zh-CN" sz="1800" i="1" dirty="0">
                <a:latin typeface="+mn-lt"/>
              </a:rPr>
              <a:t>f</a:t>
            </a:r>
            <a:r>
              <a:rPr lang="en-US" altLang="zh-CN" sz="1800" baseline="-25000" dirty="0">
                <a:latin typeface="+mn-lt"/>
              </a:rPr>
              <a:t>0</a:t>
            </a:r>
            <a:r>
              <a:rPr lang="en-US" altLang="zh-CN" sz="1800" dirty="0">
                <a:latin typeface="+mn-lt"/>
              </a:rPr>
              <a:t>=1MHz</a:t>
            </a:r>
            <a:r>
              <a:rPr lang="zh-CN" altLang="zh-CN" sz="1800" dirty="0"/>
              <a:t>，调制频率</a:t>
            </a:r>
            <a:r>
              <a:rPr lang="en-US" altLang="zh-CN" sz="1800" i="1" dirty="0">
                <a:latin typeface="+mn-lt"/>
              </a:rPr>
              <a:t>F</a:t>
            </a:r>
            <a:r>
              <a:rPr lang="en-US" altLang="zh-CN" sz="1800" dirty="0">
                <a:latin typeface="+mn-lt"/>
              </a:rPr>
              <a:t> =(10~50)kHz</a:t>
            </a:r>
            <a:r>
              <a:rPr lang="zh-CN" altLang="en-US" sz="1800" dirty="0">
                <a:latin typeface="+mn-lt"/>
              </a:rPr>
              <a:t>可变</a:t>
            </a:r>
            <a:r>
              <a:rPr lang="zh-CN" altLang="zh-CN" sz="1800" dirty="0"/>
              <a:t>，最大频偏</a:t>
            </a:r>
            <a:r>
              <a:rPr lang="en-US" altLang="zh-CN" sz="1800" dirty="0" err="1">
                <a:latin typeface="+mn-lt"/>
              </a:rPr>
              <a:t>Δ</a:t>
            </a:r>
            <a:r>
              <a:rPr lang="en-US" altLang="zh-CN" sz="1800" i="1" dirty="0" err="1">
                <a:latin typeface="+mn-lt"/>
              </a:rPr>
              <a:t>f</a:t>
            </a:r>
            <a:r>
              <a:rPr lang="en-US" altLang="zh-CN" sz="1800" i="1" baseline="-25000" dirty="0" err="1">
                <a:latin typeface="+mn-lt"/>
              </a:rPr>
              <a:t>m</a:t>
            </a:r>
            <a:r>
              <a:rPr lang="en-US" altLang="zh-CN" sz="1800" dirty="0">
                <a:latin typeface="+mn-lt"/>
              </a:rPr>
              <a:t> = (1~200)kHz</a:t>
            </a:r>
            <a:r>
              <a:rPr lang="zh-CN" altLang="en-US" sz="1800" dirty="0">
                <a:latin typeface="+mn-lt"/>
              </a:rPr>
              <a:t>可变</a:t>
            </a:r>
            <a:r>
              <a:rPr lang="zh-CN" altLang="en-US" sz="1800" dirty="0"/>
              <a:t>，</a:t>
            </a:r>
            <a:r>
              <a:rPr lang="zh-CN" altLang="zh-CN" sz="1800" dirty="0"/>
              <a:t>实际加到锁相环的电压是</a:t>
            </a:r>
            <a:r>
              <a:rPr lang="en-US" altLang="zh-CN" sz="1800" dirty="0">
                <a:latin typeface="+mn-lt"/>
              </a:rPr>
              <a:t>500mV</a:t>
            </a:r>
            <a:r>
              <a:rPr lang="en-US" altLang="zh-CN" sz="1800" baseline="-25000" dirty="0">
                <a:latin typeface="+mn-lt"/>
              </a:rPr>
              <a:t>P-P</a:t>
            </a:r>
          </a:p>
          <a:p>
            <a:pPr marL="342900" indent="-342900">
              <a:lnSpc>
                <a:spcPct val="150000"/>
              </a:lnSpc>
              <a:spcBef>
                <a:spcPts val="600"/>
              </a:spcBef>
              <a:buFont typeface="Wingdings" panose="05000000000000000000" pitchFamily="2" charset="2"/>
              <a:buChar char="Ø"/>
            </a:pPr>
            <a:endParaRPr lang="en-US" altLang="zh-CN" sz="1800" dirty="0" smtClean="0"/>
          </a:p>
          <a:p>
            <a:pPr marL="342900" indent="-342900">
              <a:lnSpc>
                <a:spcPct val="150000"/>
              </a:lnSpc>
              <a:spcBef>
                <a:spcPts val="600"/>
              </a:spcBef>
              <a:buFont typeface="Wingdings" panose="05000000000000000000" pitchFamily="2" charset="2"/>
              <a:buChar char="Ø"/>
            </a:pPr>
            <a:r>
              <a:rPr lang="zh-CN" altLang="en-US" sz="1800" dirty="0" smtClean="0"/>
              <a:t>实验</a:t>
            </a:r>
            <a:r>
              <a:rPr lang="zh-CN" altLang="en-US" sz="1800" dirty="0"/>
              <a:t>结果</a:t>
            </a:r>
            <a:r>
              <a:rPr lang="zh-CN" altLang="en-US" sz="1800" dirty="0" smtClean="0"/>
              <a:t>及其解释与分析</a:t>
            </a:r>
            <a:r>
              <a:rPr lang="zh-CN" altLang="en-US" sz="1800" dirty="0"/>
              <a:t>：</a:t>
            </a:r>
            <a:endParaRPr lang="en-US" altLang="zh-CN" sz="1800" dirty="0"/>
          </a:p>
          <a:p>
            <a:pPr marL="342900" indent="-342900">
              <a:lnSpc>
                <a:spcPct val="150000"/>
              </a:lnSpc>
              <a:buFont typeface="+mj-lt"/>
              <a:buAutoNum type="arabicPeriod"/>
            </a:pPr>
            <a:r>
              <a:rPr lang="zh-CN" altLang="en-US" sz="1800" dirty="0">
                <a:latin typeface="Times New Roman" panose="02020603050405020304" pitchFamily="18" charset="0"/>
              </a:rPr>
              <a:t>固定调制频率为</a:t>
            </a:r>
            <a:r>
              <a:rPr lang="en-US" altLang="zh-CN" sz="1800" dirty="0">
                <a:latin typeface="Times New Roman" panose="02020603050405020304" pitchFamily="18" charset="0"/>
              </a:rPr>
              <a:t>50kHz</a:t>
            </a:r>
            <a:r>
              <a:rPr lang="zh-CN" altLang="en-US" sz="1800" dirty="0">
                <a:latin typeface="Times New Roman" panose="02020603050405020304" pitchFamily="18" charset="0"/>
              </a:rPr>
              <a:t>（远大于锁相环的自然频率</a:t>
            </a:r>
            <a:r>
              <a:rPr lang="en-US" altLang="zh-CN" sz="1800" dirty="0">
                <a:latin typeface="Times New Roman" panose="02020603050405020304" pitchFamily="18" charset="0"/>
              </a:rPr>
              <a:t>6kHz</a:t>
            </a:r>
            <a:r>
              <a:rPr lang="zh-CN" altLang="en-US" sz="1800" dirty="0">
                <a:latin typeface="Times New Roman" panose="02020603050405020304" pitchFamily="18" charset="0"/>
              </a:rPr>
              <a:t>），改变输入信号调制度（</a:t>
            </a:r>
            <a:r>
              <a:rPr lang="en-US" altLang="zh-CN" sz="1800" dirty="0">
                <a:latin typeface="Times New Roman" panose="02020603050405020304" pitchFamily="18" charset="0"/>
              </a:rPr>
              <a:t>0.02~2</a:t>
            </a:r>
            <a:r>
              <a:rPr lang="zh-CN" altLang="en-US" sz="1800" dirty="0">
                <a:latin typeface="Times New Roman" panose="02020603050405020304" pitchFamily="18" charset="0"/>
              </a:rPr>
              <a:t>），</a:t>
            </a:r>
            <a:r>
              <a:rPr lang="zh-CN" altLang="zh-CN" sz="1800" dirty="0">
                <a:latin typeface="Times New Roman" panose="02020603050405020304" pitchFamily="18" charset="0"/>
              </a:rPr>
              <a:t>输出信号的</a:t>
            </a:r>
            <a:r>
              <a:rPr lang="zh-CN" altLang="en-US" sz="1800" dirty="0">
                <a:latin typeface="Times New Roman" panose="02020603050405020304" pitchFamily="18" charset="0"/>
              </a:rPr>
              <a:t>相位</a:t>
            </a:r>
            <a:r>
              <a:rPr lang="zh-CN" altLang="zh-CN" sz="1800" dirty="0">
                <a:latin typeface="Times New Roman" panose="02020603050405020304" pitchFamily="18" charset="0"/>
              </a:rPr>
              <a:t>抖动随着</a:t>
            </a:r>
            <a:r>
              <a:rPr lang="zh-CN" altLang="en-US" sz="1800" dirty="0">
                <a:latin typeface="Times New Roman" panose="02020603050405020304" pitchFamily="18" charset="0"/>
              </a:rPr>
              <a:t>输入信号</a:t>
            </a:r>
            <a:r>
              <a:rPr lang="zh-CN" altLang="zh-CN" sz="1800" dirty="0">
                <a:latin typeface="Times New Roman" panose="02020603050405020304" pitchFamily="18" charset="0"/>
              </a:rPr>
              <a:t>调制度的增加而增加</a:t>
            </a:r>
            <a:endParaRPr lang="en-US" altLang="zh-CN" sz="1800" dirty="0">
              <a:latin typeface="Times New Roman" panose="02020603050405020304" pitchFamily="18" charset="0"/>
            </a:endParaRPr>
          </a:p>
          <a:p>
            <a:pPr marL="360000">
              <a:lnSpc>
                <a:spcPct val="150000"/>
              </a:lnSpc>
            </a:pPr>
            <a:r>
              <a:rPr lang="zh-CN" altLang="en-US" sz="1800" dirty="0">
                <a:latin typeface="Times New Roman" panose="02020603050405020304" pitchFamily="18" charset="0"/>
              </a:rPr>
              <a:t>解释：</a:t>
            </a:r>
            <a:r>
              <a:rPr lang="en-US" altLang="zh-CN" sz="1800" dirty="0">
                <a:latin typeface="Times New Roman" panose="02020603050405020304" pitchFamily="18" charset="0"/>
              </a:rPr>
              <a:t>FM</a:t>
            </a:r>
            <a:r>
              <a:rPr lang="zh-CN" altLang="en-US" sz="1800" dirty="0">
                <a:latin typeface="Times New Roman" panose="02020603050405020304" pitchFamily="18" charset="0"/>
              </a:rPr>
              <a:t>的边频能量随调制度增加而增加，增加边频能量相当于降低输入信号的信噪比，导致锁相环输出抖动增加</a:t>
            </a:r>
            <a:endParaRPr lang="en-US" altLang="zh-CN" sz="1800" dirty="0">
              <a:latin typeface="Times New Roman" panose="02020603050405020304" pitchFamily="18" charset="0"/>
            </a:endParaRPr>
          </a:p>
        </p:txBody>
      </p:sp>
    </p:spTree>
    <p:extLst>
      <p:ext uri="{BB962C8B-B14F-4D97-AF65-F5344CB8AC3E}">
        <p14:creationId xmlns:p14="http://schemas.microsoft.com/office/powerpoint/2010/main" val="1601427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6" name="文本框 5"/>
          <p:cNvSpPr txBox="1"/>
          <p:nvPr/>
        </p:nvSpPr>
        <p:spPr>
          <a:xfrm>
            <a:off x="457200" y="631464"/>
            <a:ext cx="11495314" cy="5493812"/>
          </a:xfrm>
          <a:prstGeom prst="rect">
            <a:avLst/>
          </a:prstGeom>
          <a:noFill/>
        </p:spPr>
        <p:txBody>
          <a:bodyPr wrap="square" rtlCol="0">
            <a:spAutoFit/>
          </a:bodyPr>
          <a:lstStyle/>
          <a:p>
            <a:pPr marL="342900" indent="-342900">
              <a:lnSpc>
                <a:spcPct val="150000"/>
              </a:lnSpc>
              <a:buFont typeface="+mj-lt"/>
              <a:buAutoNum type="arabicPeriod" startAt="2"/>
            </a:pPr>
            <a:r>
              <a:rPr lang="zh-CN" altLang="en-US" sz="1800" dirty="0" smtClean="0"/>
              <a:t>固定输入信号调制度，改变调制频率（</a:t>
            </a:r>
            <a:r>
              <a:rPr lang="en-US" altLang="zh-CN" sz="1800" dirty="0" smtClean="0"/>
              <a:t>10~50kHz</a:t>
            </a:r>
            <a:r>
              <a:rPr lang="zh-CN" altLang="en-US" sz="1800" dirty="0" smtClean="0"/>
              <a:t>），输出信号的相位抖动几乎不变</a:t>
            </a:r>
            <a:endParaRPr lang="en-US" altLang="zh-CN" sz="1800" dirty="0" smtClean="0"/>
          </a:p>
          <a:p>
            <a:pPr marL="342900" indent="-342900">
              <a:lnSpc>
                <a:spcPct val="150000"/>
              </a:lnSpc>
              <a:buFont typeface="+mj-lt"/>
              <a:buAutoNum type="arabicPeriod" startAt="2"/>
            </a:pPr>
            <a:r>
              <a:rPr lang="zh-CN" altLang="en-US" sz="1800" dirty="0" smtClean="0"/>
              <a:t>修改</a:t>
            </a:r>
            <a:r>
              <a:rPr lang="zh-CN" altLang="en-US" sz="1800" dirty="0"/>
              <a:t>环路滤波器，增加一个极点（约</a:t>
            </a:r>
            <a:r>
              <a:rPr lang="en-US" altLang="zh-CN" sz="1800" dirty="0"/>
              <a:t>25kHz</a:t>
            </a:r>
            <a:r>
              <a:rPr lang="zh-CN" altLang="en-US" sz="1800" dirty="0"/>
              <a:t>），成为三阶锁相环。固定输入信号调制度，改变调制频率（</a:t>
            </a:r>
            <a:r>
              <a:rPr lang="en-US" altLang="zh-CN" sz="1800" dirty="0"/>
              <a:t>10~50kHz</a:t>
            </a:r>
            <a:r>
              <a:rPr lang="zh-CN" altLang="en-US" sz="1800" dirty="0"/>
              <a:t>），</a:t>
            </a:r>
            <a:r>
              <a:rPr lang="zh-CN" altLang="zh-CN" sz="1800" dirty="0"/>
              <a:t>输出</a:t>
            </a:r>
            <a:r>
              <a:rPr lang="zh-CN" altLang="en-US" sz="1800" dirty="0"/>
              <a:t>信号</a:t>
            </a:r>
            <a:r>
              <a:rPr lang="zh-CN" altLang="zh-CN" sz="1800" dirty="0"/>
              <a:t>相位抖动随着调制频率的升高有明显的下降</a:t>
            </a:r>
            <a:endParaRPr lang="en-US" altLang="zh-CN" sz="1800" dirty="0"/>
          </a:p>
          <a:p>
            <a:pPr lvl="1">
              <a:lnSpc>
                <a:spcPct val="150000"/>
              </a:lnSpc>
            </a:pPr>
            <a:endParaRPr lang="en-US" altLang="zh-CN" sz="1800" dirty="0" smtClean="0"/>
          </a:p>
          <a:p>
            <a:pPr lvl="1">
              <a:lnSpc>
                <a:spcPct val="150000"/>
              </a:lnSpc>
            </a:pPr>
            <a:r>
              <a:rPr lang="zh-CN" altLang="en-US" sz="1800" dirty="0" smtClean="0"/>
              <a:t>上述两</a:t>
            </a:r>
            <a:r>
              <a:rPr lang="zh-CN" altLang="en-US" sz="1800" dirty="0"/>
              <a:t>个</a:t>
            </a:r>
            <a:r>
              <a:rPr lang="zh-CN" altLang="en-US" sz="1800" dirty="0" smtClean="0"/>
              <a:t>实验</a:t>
            </a:r>
            <a:r>
              <a:rPr lang="zh-CN" altLang="en-US" sz="1800" dirty="0"/>
              <a:t>结果均与环路滤波器有关</a:t>
            </a:r>
            <a:endParaRPr lang="en-US" altLang="zh-CN" sz="1800" dirty="0"/>
          </a:p>
          <a:p>
            <a:pPr marL="285750" lvl="1" indent="-285750">
              <a:lnSpc>
                <a:spcPct val="150000"/>
              </a:lnSpc>
              <a:buFont typeface="Wingdings" panose="05000000000000000000" pitchFamily="2" charset="2"/>
              <a:buChar char="Ø"/>
            </a:pPr>
            <a:r>
              <a:rPr lang="zh-CN" altLang="en-US" sz="1800" dirty="0" smtClean="0"/>
              <a:t>实验</a:t>
            </a:r>
            <a:r>
              <a:rPr lang="en-US" altLang="zh-CN" sz="1800" dirty="0"/>
              <a:t>2</a:t>
            </a:r>
            <a:r>
              <a:rPr lang="zh-CN" altLang="en-US" sz="1800" dirty="0" smtClean="0"/>
              <a:t>中</a:t>
            </a:r>
            <a:r>
              <a:rPr lang="zh-CN" altLang="en-US" sz="1800" dirty="0"/>
              <a:t>的环路滤波器为超前滞后型，其频率特性如下</a:t>
            </a:r>
            <a:endParaRPr lang="en-US" altLang="zh-CN" sz="1800" dirty="0"/>
          </a:p>
          <a:p>
            <a:pPr lvl="1">
              <a:lnSpc>
                <a:spcPct val="150000"/>
              </a:lnSpc>
            </a:pPr>
            <a:endParaRPr lang="en-US" altLang="zh-CN" sz="1800" dirty="0"/>
          </a:p>
          <a:p>
            <a:pPr lvl="1">
              <a:lnSpc>
                <a:spcPct val="150000"/>
              </a:lnSpc>
            </a:pPr>
            <a:endParaRPr lang="en-US" altLang="zh-CN" sz="1800" dirty="0"/>
          </a:p>
          <a:p>
            <a:pPr lvl="1">
              <a:lnSpc>
                <a:spcPct val="150000"/>
              </a:lnSpc>
            </a:pPr>
            <a:endParaRPr lang="en-US" altLang="zh-CN" sz="1800" dirty="0"/>
          </a:p>
          <a:p>
            <a:pPr lvl="1">
              <a:lnSpc>
                <a:spcPct val="150000"/>
              </a:lnSpc>
            </a:pPr>
            <a:endParaRPr lang="en-US" altLang="zh-CN" sz="1800" dirty="0"/>
          </a:p>
          <a:p>
            <a:pPr lvl="1">
              <a:lnSpc>
                <a:spcPct val="150000"/>
              </a:lnSpc>
            </a:pPr>
            <a:endParaRPr lang="en-US" altLang="zh-CN" sz="1800" dirty="0"/>
          </a:p>
          <a:p>
            <a:pPr indent="457200">
              <a:lnSpc>
                <a:spcPct val="150000"/>
              </a:lnSpc>
            </a:pPr>
            <a:r>
              <a:rPr lang="zh-CN" altLang="en-US" sz="1800" dirty="0"/>
              <a:t>鉴相器输出的噪声需要环路滤波器滤除，但超前滞后型环路滤波器</a:t>
            </a:r>
            <a:r>
              <a:rPr lang="zh-CN" altLang="zh-CN" sz="1800" dirty="0"/>
              <a:t>对于频率高于其零点频率</a:t>
            </a:r>
            <a:r>
              <a:rPr lang="en-US" altLang="zh-CN" sz="1800" dirty="0"/>
              <a:t> </a:t>
            </a:r>
            <a:r>
              <a:rPr lang="el-GR" altLang="zh-CN" sz="1800" i="1" dirty="0">
                <a:latin typeface="+mn-lt"/>
              </a:rPr>
              <a:t>ω</a:t>
            </a:r>
            <a:r>
              <a:rPr lang="en-US" altLang="zh-CN" sz="1800" baseline="-25000" dirty="0"/>
              <a:t>2 </a:t>
            </a:r>
            <a:r>
              <a:rPr lang="zh-CN" altLang="zh-CN" sz="1800" dirty="0"/>
              <a:t>的衰减几乎是一个定值</a:t>
            </a:r>
            <a:r>
              <a:rPr lang="zh-CN" altLang="en-US" sz="1800" dirty="0"/>
              <a:t>，上述实验中的调制频率均高于本实验中的零点频率（</a:t>
            </a:r>
            <a:r>
              <a:rPr lang="en-US" altLang="zh-CN" sz="1800" dirty="0"/>
              <a:t>4.4kHz</a:t>
            </a:r>
            <a:r>
              <a:rPr lang="zh-CN" altLang="en-US" sz="1800" dirty="0"/>
              <a:t>），所以改变调制频率时输出抖动不变</a:t>
            </a:r>
            <a:endParaRPr lang="en-US" altLang="zh-CN" sz="1800" dirty="0"/>
          </a:p>
        </p:txBody>
      </p:sp>
      <p:pic>
        <p:nvPicPr>
          <p:cNvPr id="7" name="图片 6"/>
          <p:cNvPicPr>
            <a:picLocks noChangeAspect="1"/>
          </p:cNvPicPr>
          <p:nvPr/>
        </p:nvPicPr>
        <p:blipFill>
          <a:blip r:embed="rId3"/>
          <a:stretch>
            <a:fillRect/>
          </a:stretch>
        </p:blipFill>
        <p:spPr>
          <a:xfrm>
            <a:off x="2538957" y="3512354"/>
            <a:ext cx="2277873" cy="1259886"/>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1186345151"/>
              </p:ext>
            </p:extLst>
          </p:nvPr>
        </p:nvGraphicFramePr>
        <p:xfrm>
          <a:off x="5710132" y="3288381"/>
          <a:ext cx="3078162" cy="1360488"/>
        </p:xfrm>
        <a:graphic>
          <a:graphicData uri="http://schemas.openxmlformats.org/presentationml/2006/ole">
            <mc:AlternateContent xmlns:mc="http://schemas.openxmlformats.org/markup-compatibility/2006">
              <mc:Choice xmlns:v="urn:schemas-microsoft-com:vml" Requires="v">
                <p:oleObj spid="_x0000_s43019" name="Equation" r:id="rId4" imgW="1904760" imgH="812520" progId="Equation.DSMT4">
                  <p:embed/>
                </p:oleObj>
              </mc:Choice>
              <mc:Fallback>
                <p:oleObj name="Equation" r:id="rId4" imgW="1904760" imgH="812520" progId="Equation.DSMT4">
                  <p:embed/>
                  <p:pic>
                    <p:nvPicPr>
                      <p:cNvPr id="8" name="对象 7"/>
                      <p:cNvPicPr>
                        <a:picLocks noChangeAspect="1" noChangeArrowheads="1"/>
                      </p:cNvPicPr>
                      <p:nvPr/>
                    </p:nvPicPr>
                    <p:blipFill>
                      <a:blip r:embed="rId5"/>
                      <a:srcRect/>
                      <a:stretch>
                        <a:fillRect/>
                      </a:stretch>
                    </p:blipFill>
                    <p:spPr bwMode="auto">
                      <a:xfrm>
                        <a:off x="5710132" y="3288381"/>
                        <a:ext cx="3078162" cy="1360488"/>
                      </a:xfrm>
                      <a:prstGeom prst="rect">
                        <a:avLst/>
                      </a:prstGeom>
                      <a:noFill/>
                    </p:spPr>
                  </p:pic>
                </p:oleObj>
              </mc:Fallback>
            </mc:AlternateContent>
          </a:graphicData>
        </a:graphic>
      </p:graphicFrame>
    </p:spTree>
    <p:extLst>
      <p:ext uri="{BB962C8B-B14F-4D97-AF65-F5344CB8AC3E}">
        <p14:creationId xmlns:p14="http://schemas.microsoft.com/office/powerpoint/2010/main" val="3913512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6" name="文本框 5"/>
          <p:cNvSpPr txBox="1"/>
          <p:nvPr/>
        </p:nvSpPr>
        <p:spPr>
          <a:xfrm>
            <a:off x="312057" y="555178"/>
            <a:ext cx="11509528" cy="604780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800" dirty="0" smtClean="0"/>
              <a:t>实验</a:t>
            </a:r>
            <a:r>
              <a:rPr lang="en-US" altLang="zh-CN" sz="1800" dirty="0" smtClean="0"/>
              <a:t>3</a:t>
            </a:r>
            <a:r>
              <a:rPr lang="zh-CN" altLang="en-US" sz="1800" dirty="0" smtClean="0"/>
              <a:t>在</a:t>
            </a:r>
            <a:r>
              <a:rPr lang="zh-CN" altLang="en-US" sz="1800" dirty="0"/>
              <a:t>环路滤波器中增加一个极点（</a:t>
            </a:r>
            <a:r>
              <a:rPr lang="en-US" altLang="zh-CN" sz="1800" dirty="0">
                <a:latin typeface="+mn-lt"/>
              </a:rPr>
              <a:t>C2=330nF</a:t>
            </a:r>
            <a:r>
              <a:rPr lang="zh-CN" altLang="en-US" sz="1800" dirty="0"/>
              <a:t>），电路与频率特性如下</a:t>
            </a:r>
            <a:endParaRPr lang="en-US" altLang="zh-CN" sz="1800" dirty="0"/>
          </a:p>
          <a:p>
            <a:pPr marL="0" lvl="1" indent="457200">
              <a:lnSpc>
                <a:spcPct val="150000"/>
              </a:lnSpc>
            </a:pPr>
            <a:endParaRPr lang="en-US" altLang="zh-CN" sz="1800" dirty="0"/>
          </a:p>
          <a:p>
            <a:pPr marL="0" lvl="1" indent="457200">
              <a:lnSpc>
                <a:spcPct val="150000"/>
              </a:lnSpc>
            </a:pPr>
            <a:endParaRPr lang="en-US" altLang="zh-CN" sz="1200" dirty="0"/>
          </a:p>
          <a:p>
            <a:pPr marL="0" lvl="1" indent="457200">
              <a:lnSpc>
                <a:spcPct val="150000"/>
              </a:lnSpc>
            </a:pPr>
            <a:endParaRPr lang="en-US" altLang="zh-CN" sz="1800" dirty="0"/>
          </a:p>
          <a:p>
            <a:pPr marL="0" lvl="1" indent="457200">
              <a:lnSpc>
                <a:spcPct val="150000"/>
              </a:lnSpc>
            </a:pPr>
            <a:endParaRPr lang="en-US" altLang="zh-CN" sz="1400" dirty="0"/>
          </a:p>
          <a:p>
            <a:pPr marL="0" lvl="1" indent="457200">
              <a:lnSpc>
                <a:spcPct val="150000"/>
              </a:lnSpc>
            </a:pPr>
            <a:endParaRPr lang="en-US" altLang="zh-CN" sz="1800" dirty="0" smtClean="0"/>
          </a:p>
          <a:p>
            <a:pPr marL="0" lvl="1" indent="457200">
              <a:lnSpc>
                <a:spcPct val="150000"/>
              </a:lnSpc>
            </a:pPr>
            <a:endParaRPr lang="en-US" altLang="zh-CN" sz="1600" dirty="0" smtClean="0"/>
          </a:p>
          <a:p>
            <a:pPr marL="0" lvl="1" indent="457200">
              <a:lnSpc>
                <a:spcPct val="150000"/>
              </a:lnSpc>
            </a:pPr>
            <a:endParaRPr lang="en-US" altLang="zh-CN" sz="1800" dirty="0"/>
          </a:p>
          <a:p>
            <a:pPr marL="0" lvl="1" indent="457200">
              <a:lnSpc>
                <a:spcPct val="150000"/>
              </a:lnSpc>
            </a:pPr>
            <a:r>
              <a:rPr lang="zh-CN" altLang="en-US" sz="1800" dirty="0" smtClean="0"/>
              <a:t>将</a:t>
            </a:r>
            <a:r>
              <a:rPr lang="en-US" altLang="zh-CN" sz="1800" i="1" dirty="0">
                <a:latin typeface="+mn-lt"/>
              </a:rPr>
              <a:t>R</a:t>
            </a:r>
            <a:r>
              <a:rPr lang="en-US" altLang="zh-CN" sz="1800" baseline="-25000" dirty="0">
                <a:latin typeface="+mn-lt"/>
              </a:rPr>
              <a:t>1</a:t>
            </a:r>
            <a:r>
              <a:rPr lang="en-US" altLang="zh-CN" sz="1800" dirty="0">
                <a:latin typeface="+mn-lt"/>
              </a:rPr>
              <a:t>=1300</a:t>
            </a:r>
            <a:r>
              <a:rPr lang="zh-CN" altLang="en-US" sz="1800" dirty="0"/>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=24</a:t>
            </a:r>
            <a:r>
              <a:rPr lang="en-US" altLang="zh-CN" sz="1800" dirty="0">
                <a:latin typeface="Times New Roman" panose="02020603050405020304" pitchFamily="18" charset="0"/>
                <a:sym typeface="Symbol" panose="05050102010706020507" pitchFamily="18" charset="2"/>
              </a:rPr>
              <a:t></a:t>
            </a:r>
            <a:r>
              <a:rPr lang="zh-CN" altLang="en-US" sz="1800" dirty="0"/>
              <a:t>、</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a:latin typeface="Times New Roman" panose="02020603050405020304" pitchFamily="18" charset="0"/>
              </a:rPr>
              <a:t>F</a:t>
            </a:r>
            <a:r>
              <a:rPr lang="zh-CN" altLang="en-US" sz="1800" dirty="0">
                <a:latin typeface="Times New Roman" panose="02020603050405020304" pitchFamily="18" charset="0"/>
              </a:rPr>
              <a:t>、</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=330nF</a:t>
            </a:r>
            <a:r>
              <a:rPr lang="zh-CN" altLang="en-US" sz="1800" dirty="0">
                <a:latin typeface="Times New Roman" panose="02020603050405020304" pitchFamily="18" charset="0"/>
              </a:rPr>
              <a:t>代入</a:t>
            </a:r>
            <a:r>
              <a:rPr lang="zh-CN" altLang="en-US" sz="1800" dirty="0"/>
              <a:t>上述计算公式，得</a:t>
            </a:r>
            <a:endParaRPr lang="en-US" altLang="zh-CN" sz="1800" dirty="0"/>
          </a:p>
          <a:p>
            <a:pPr marL="0" lvl="1" indent="457200">
              <a:lnSpc>
                <a:spcPct val="150000"/>
              </a:lnSpc>
            </a:pPr>
            <a:endParaRPr lang="en-US" altLang="zh-CN" sz="1400" dirty="0" smtClean="0"/>
          </a:p>
          <a:p>
            <a:pPr marL="0" lvl="1" indent="457200">
              <a:lnSpc>
                <a:spcPct val="150000"/>
              </a:lnSpc>
            </a:pPr>
            <a:endParaRPr lang="en-US" altLang="zh-CN" sz="1200" dirty="0"/>
          </a:p>
          <a:p>
            <a:pPr marL="0" lvl="1" indent="457200">
              <a:lnSpc>
                <a:spcPct val="150000"/>
              </a:lnSpc>
            </a:pPr>
            <a:r>
              <a:rPr lang="zh-CN" altLang="en-US" sz="1800" dirty="0" smtClean="0"/>
              <a:t>成为</a:t>
            </a:r>
            <a:r>
              <a:rPr lang="zh-CN" altLang="en-US" sz="1800" dirty="0"/>
              <a:t>三阶锁相环后，鉴相器输出中高于</a:t>
            </a:r>
            <a:r>
              <a:rPr lang="el-GR" altLang="zh-CN" sz="1800" i="1" dirty="0"/>
              <a:t>ω</a:t>
            </a:r>
            <a:r>
              <a:rPr lang="en-US" altLang="zh-CN" sz="1800" baseline="-25000" dirty="0"/>
              <a:t>3</a:t>
            </a:r>
            <a:r>
              <a:rPr lang="zh-CN" altLang="en-US" sz="1800" dirty="0"/>
              <a:t>的波动被进一步衰减，因此改变调制频率（</a:t>
            </a:r>
            <a:r>
              <a:rPr lang="en-US" altLang="zh-CN" sz="1800" dirty="0"/>
              <a:t>10~50kHz</a:t>
            </a:r>
            <a:r>
              <a:rPr lang="zh-CN" altLang="en-US" sz="1800" dirty="0"/>
              <a:t>）时，</a:t>
            </a:r>
            <a:r>
              <a:rPr lang="zh-CN" altLang="zh-CN" sz="1800" dirty="0"/>
              <a:t>输出</a:t>
            </a:r>
            <a:r>
              <a:rPr lang="zh-CN" altLang="en-US" sz="1800" dirty="0"/>
              <a:t>信号</a:t>
            </a:r>
            <a:r>
              <a:rPr lang="zh-CN" altLang="zh-CN" sz="1800" dirty="0"/>
              <a:t>相位抖动随着调制频率的升高有明显的下降</a:t>
            </a:r>
            <a:endParaRPr lang="en-US" altLang="zh-CN" sz="1800" dirty="0"/>
          </a:p>
          <a:p>
            <a:pPr marL="0" lvl="1" indent="457200">
              <a:lnSpc>
                <a:spcPct val="150000"/>
              </a:lnSpc>
            </a:pPr>
            <a:r>
              <a:rPr lang="zh-CN" altLang="en-US" sz="1800" dirty="0"/>
              <a:t>这个例子说明三阶锁相环可以有效降低锁相环输出的相位抖动。这个结论不仅适用于同步电路，也适用于频率合成器电路</a:t>
            </a:r>
            <a:endParaRPr lang="en-US" altLang="zh-CN" sz="1800" dirty="0"/>
          </a:p>
        </p:txBody>
      </p:sp>
      <p:pic>
        <p:nvPicPr>
          <p:cNvPr id="5" name="图片 4"/>
          <p:cNvPicPr>
            <a:picLocks noChangeAspect="1"/>
          </p:cNvPicPr>
          <p:nvPr/>
        </p:nvPicPr>
        <p:blipFill>
          <a:blip r:embed="rId3"/>
          <a:stretch>
            <a:fillRect/>
          </a:stretch>
        </p:blipFill>
        <p:spPr>
          <a:xfrm>
            <a:off x="2999907" y="1082877"/>
            <a:ext cx="2004151" cy="1563448"/>
          </a:xfrm>
          <a:prstGeom prst="rect">
            <a:avLst/>
          </a:prstGeom>
        </p:spPr>
      </p:pic>
      <p:pic>
        <p:nvPicPr>
          <p:cNvPr id="8" name="图片 7"/>
          <p:cNvPicPr>
            <a:picLocks noChangeAspect="1"/>
          </p:cNvPicPr>
          <p:nvPr/>
        </p:nvPicPr>
        <p:blipFill>
          <a:blip r:embed="rId4"/>
          <a:stretch>
            <a:fillRect/>
          </a:stretch>
        </p:blipFill>
        <p:spPr>
          <a:xfrm>
            <a:off x="5387133" y="1256725"/>
            <a:ext cx="3349565" cy="1341472"/>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2367305480"/>
              </p:ext>
            </p:extLst>
          </p:nvPr>
        </p:nvGraphicFramePr>
        <p:xfrm>
          <a:off x="1721447" y="4170638"/>
          <a:ext cx="6710363" cy="360363"/>
        </p:xfrm>
        <a:graphic>
          <a:graphicData uri="http://schemas.openxmlformats.org/presentationml/2006/ole">
            <mc:AlternateContent xmlns:mc="http://schemas.openxmlformats.org/markup-compatibility/2006">
              <mc:Choice xmlns:v="urn:schemas-microsoft-com:vml" Requires="v">
                <p:oleObj spid="_x0000_s44048" name="Equation" r:id="rId5" imgW="4152600" imgH="215640" progId="Equation.DSMT4">
                  <p:embed/>
                </p:oleObj>
              </mc:Choice>
              <mc:Fallback>
                <p:oleObj name="Equation" r:id="rId5" imgW="4152600" imgH="215640" progId="Equation.DSMT4">
                  <p:embed/>
                  <p:pic>
                    <p:nvPicPr>
                      <p:cNvPr id="10" name="对象 9"/>
                      <p:cNvPicPr>
                        <a:picLocks noChangeAspect="1" noChangeArrowheads="1"/>
                      </p:cNvPicPr>
                      <p:nvPr/>
                    </p:nvPicPr>
                    <p:blipFill>
                      <a:blip r:embed="rId6"/>
                      <a:srcRect/>
                      <a:stretch>
                        <a:fillRect/>
                      </a:stretch>
                    </p:blipFill>
                    <p:spPr bwMode="auto">
                      <a:xfrm>
                        <a:off x="1721447" y="4170638"/>
                        <a:ext cx="6710363" cy="36036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59833872"/>
              </p:ext>
            </p:extLst>
          </p:nvPr>
        </p:nvGraphicFramePr>
        <p:xfrm>
          <a:off x="2999907" y="2789273"/>
          <a:ext cx="5524500" cy="644525"/>
        </p:xfrm>
        <a:graphic>
          <a:graphicData uri="http://schemas.openxmlformats.org/presentationml/2006/ole">
            <mc:AlternateContent xmlns:mc="http://schemas.openxmlformats.org/markup-compatibility/2006">
              <mc:Choice xmlns:v="urn:schemas-microsoft-com:vml" Requires="v">
                <p:oleObj spid="_x0000_s44049" name="Equation" r:id="rId7" imgW="3327120" imgH="380880" progId="Equation.DSMT4">
                  <p:embed/>
                </p:oleObj>
              </mc:Choice>
              <mc:Fallback>
                <p:oleObj name="Equation" r:id="rId7" imgW="3327120" imgH="380880" progId="Equation.DSMT4">
                  <p:embed/>
                  <p:pic>
                    <p:nvPicPr>
                      <p:cNvPr id="12" name="对象 11"/>
                      <p:cNvPicPr>
                        <a:picLocks noChangeAspect="1" noChangeArrowheads="1"/>
                      </p:cNvPicPr>
                      <p:nvPr/>
                    </p:nvPicPr>
                    <p:blipFill>
                      <a:blip r:embed="rId8"/>
                      <a:srcRect/>
                      <a:stretch>
                        <a:fillRect/>
                      </a:stretch>
                    </p:blipFill>
                    <p:spPr bwMode="auto">
                      <a:xfrm>
                        <a:off x="2999907" y="2789273"/>
                        <a:ext cx="5524500" cy="644525"/>
                      </a:xfrm>
                      <a:prstGeom prst="rect">
                        <a:avLst/>
                      </a:prstGeom>
                      <a:noFill/>
                    </p:spPr>
                  </p:pic>
                </p:oleObj>
              </mc:Fallback>
            </mc:AlternateContent>
          </a:graphicData>
        </a:graphic>
      </p:graphicFrame>
    </p:spTree>
    <p:extLst>
      <p:ext uri="{BB962C8B-B14F-4D97-AF65-F5344CB8AC3E}">
        <p14:creationId xmlns:p14="http://schemas.microsoft.com/office/powerpoint/2010/main" val="2712915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6" name="文本框 5"/>
          <p:cNvSpPr txBox="1"/>
          <p:nvPr/>
        </p:nvSpPr>
        <p:spPr>
          <a:xfrm>
            <a:off x="471714" y="581491"/>
            <a:ext cx="11349871" cy="4662815"/>
          </a:xfrm>
          <a:prstGeom prst="rect">
            <a:avLst/>
          </a:prstGeom>
          <a:noFill/>
        </p:spPr>
        <p:txBody>
          <a:bodyPr wrap="square" rtlCol="0">
            <a:spAutoFit/>
          </a:bodyPr>
          <a:lstStyle/>
          <a:p>
            <a:pPr marL="0" lvl="1" indent="457200">
              <a:lnSpc>
                <a:spcPct val="150000"/>
              </a:lnSpc>
            </a:pPr>
            <a:r>
              <a:rPr lang="zh-CN" altLang="en-US" sz="1800" dirty="0"/>
              <a:t>常规的三阶锁相环的设计方法基于锁相环的开环频率特性</a:t>
            </a:r>
            <a:r>
              <a:rPr lang="zh-CN" altLang="en-US" sz="1800" dirty="0" smtClean="0"/>
              <a:t>进行</a:t>
            </a:r>
            <a:r>
              <a:rPr lang="zh-CN" altLang="en-US" sz="1800" dirty="0"/>
              <a:t>。</a:t>
            </a:r>
            <a:endParaRPr lang="en-US" altLang="zh-CN" sz="1800" dirty="0"/>
          </a:p>
          <a:p>
            <a:pPr marL="0" lvl="1" indent="457200">
              <a:lnSpc>
                <a:spcPct val="150000"/>
              </a:lnSpc>
            </a:pPr>
            <a:r>
              <a:rPr lang="zh-CN" altLang="en-US" sz="1800" dirty="0"/>
              <a:t>比较本例前面二阶锁相环的两个转角频率与这里的三个转角频率，可发现增加</a:t>
            </a:r>
            <a:r>
              <a:rPr lang="en-US" altLang="zh-CN" sz="1800" dirty="0"/>
              <a:t>C</a:t>
            </a:r>
            <a:r>
              <a:rPr lang="en-US" altLang="zh-CN" sz="1800" baseline="-25000" dirty="0"/>
              <a:t>2</a:t>
            </a:r>
            <a:r>
              <a:rPr lang="zh-CN" altLang="en-US" sz="1800" dirty="0"/>
              <a:t>以后，除了增加一个高频极点外，</a:t>
            </a:r>
            <a:r>
              <a:rPr lang="el-GR" altLang="zh-CN" sz="1800" i="1" dirty="0"/>
              <a:t>ω</a:t>
            </a:r>
            <a:r>
              <a:rPr lang="en-US" altLang="zh-CN" sz="1800" baseline="-25000" dirty="0"/>
              <a:t>1</a:t>
            </a:r>
            <a:r>
              <a:rPr lang="zh-CN" altLang="en-US" sz="1800" dirty="0"/>
              <a:t>基本不变，</a:t>
            </a:r>
            <a:r>
              <a:rPr lang="el-GR" altLang="zh-CN" sz="1800" i="1" dirty="0"/>
              <a:t>ω</a:t>
            </a:r>
            <a:r>
              <a:rPr lang="en-US" altLang="zh-CN" sz="1800" baseline="-25000" dirty="0"/>
              <a:t>2</a:t>
            </a:r>
            <a:r>
              <a:rPr lang="zh-CN" altLang="en-US" sz="1800" dirty="0"/>
              <a:t>完全不变。这提供了三阶锁相环的另一个设计思路：先按照二阶锁相环设计环路滤波器，然后在其中增加一个高频极点</a:t>
            </a:r>
            <a:r>
              <a:rPr lang="el-GR" altLang="zh-CN" sz="1800" i="1" dirty="0"/>
              <a:t>ω</a:t>
            </a:r>
            <a:r>
              <a:rPr lang="en-US" altLang="zh-CN" sz="1800" baseline="-25000" dirty="0"/>
              <a:t>3</a:t>
            </a:r>
            <a:r>
              <a:rPr lang="zh-CN" altLang="en-US" sz="1800" dirty="0"/>
              <a:t>。电容</a:t>
            </a:r>
            <a:r>
              <a:rPr lang="en-US" altLang="zh-CN" sz="1800" dirty="0"/>
              <a:t>C2</a:t>
            </a:r>
            <a:r>
              <a:rPr lang="zh-CN" altLang="en-US" sz="1800" dirty="0"/>
              <a:t>的值按照下式计算</a:t>
            </a:r>
            <a:endParaRPr lang="en-US" altLang="zh-CN" sz="1800" dirty="0"/>
          </a:p>
          <a:p>
            <a:pPr marL="0" lvl="1" indent="457200">
              <a:lnSpc>
                <a:spcPct val="150000"/>
              </a:lnSpc>
            </a:pPr>
            <a:endParaRPr lang="en-US" altLang="zh-CN" sz="1800" dirty="0"/>
          </a:p>
          <a:p>
            <a:pPr marL="0" lvl="1" indent="457200">
              <a:lnSpc>
                <a:spcPct val="150000"/>
              </a:lnSpc>
            </a:pPr>
            <a:endParaRPr lang="en-US" altLang="zh-CN" sz="1800" dirty="0"/>
          </a:p>
          <a:p>
            <a:pPr marL="0" lvl="1" indent="457200">
              <a:lnSpc>
                <a:spcPct val="150000"/>
              </a:lnSpc>
            </a:pPr>
            <a:r>
              <a:rPr lang="zh-CN" altLang="en-US" sz="1800" dirty="0"/>
              <a:t>由于通常总是满足</a:t>
            </a:r>
            <a:r>
              <a:rPr lang="el-GR" altLang="zh-CN" sz="1800" i="1" dirty="0"/>
              <a:t>ω</a:t>
            </a:r>
            <a:r>
              <a:rPr lang="en-US" altLang="zh-CN" sz="1800" baseline="-25000" dirty="0"/>
              <a:t>1</a:t>
            </a:r>
            <a:r>
              <a:rPr lang="en-US" altLang="zh-CN" sz="1800" dirty="0"/>
              <a:t>&lt;&lt;</a:t>
            </a:r>
            <a:r>
              <a:rPr lang="el-GR" altLang="zh-CN" sz="1800" i="1" dirty="0"/>
              <a:t>ω</a:t>
            </a:r>
            <a:r>
              <a:rPr lang="en-US" altLang="zh-CN" sz="1800" baseline="-25000" dirty="0"/>
              <a:t>3</a:t>
            </a:r>
            <a:r>
              <a:rPr lang="zh-CN" altLang="en-US" sz="1800" dirty="0"/>
              <a:t>，所以上式可简化为</a:t>
            </a:r>
            <a:endParaRPr lang="en-US" altLang="zh-CN" sz="1800" dirty="0"/>
          </a:p>
          <a:p>
            <a:pPr marL="0" lvl="1" indent="457200">
              <a:lnSpc>
                <a:spcPct val="150000"/>
              </a:lnSpc>
            </a:pPr>
            <a:endParaRPr lang="en-US" altLang="zh-CN" sz="1800" dirty="0"/>
          </a:p>
          <a:p>
            <a:pPr marL="0" lvl="1" indent="457200">
              <a:lnSpc>
                <a:spcPct val="150000"/>
              </a:lnSpc>
            </a:pPr>
            <a:endParaRPr lang="en-US" altLang="zh-CN" sz="1800" dirty="0"/>
          </a:p>
          <a:p>
            <a:pPr marL="0" lvl="1" indent="457200">
              <a:lnSpc>
                <a:spcPct val="150000"/>
              </a:lnSpc>
            </a:pPr>
            <a:endParaRPr lang="en-US" altLang="zh-CN" sz="1800" dirty="0"/>
          </a:p>
          <a:p>
            <a:pPr marL="0" lvl="1" indent="457200">
              <a:lnSpc>
                <a:spcPct val="150000"/>
              </a:lnSpc>
            </a:pPr>
            <a:r>
              <a:rPr lang="zh-CN" altLang="en-US" sz="1800" dirty="0"/>
              <a:t>按照这个方法设计的三阶锁相环，可以直接套用二阶锁相环的公式估算诸如捕捉范围之类的动态参数</a:t>
            </a:r>
            <a:endParaRPr lang="en-US" altLang="zh-CN" sz="1800" dirty="0"/>
          </a:p>
        </p:txBody>
      </p:sp>
      <p:graphicFrame>
        <p:nvGraphicFramePr>
          <p:cNvPr id="11" name="对象 10"/>
          <p:cNvGraphicFramePr>
            <a:graphicFrameLocks noChangeAspect="1"/>
          </p:cNvGraphicFramePr>
          <p:nvPr>
            <p:extLst/>
          </p:nvPr>
        </p:nvGraphicFramePr>
        <p:xfrm>
          <a:off x="4352698" y="2398588"/>
          <a:ext cx="2627313" cy="750887"/>
        </p:xfrm>
        <a:graphic>
          <a:graphicData uri="http://schemas.openxmlformats.org/presentationml/2006/ole">
            <mc:AlternateContent xmlns:mc="http://schemas.openxmlformats.org/markup-compatibility/2006">
              <mc:Choice xmlns:v="urn:schemas-microsoft-com:vml" Requires="v">
                <p:oleObj spid="_x0000_s45072" name="Equation" r:id="rId3" imgW="1473120" imgH="406080" progId="Equation.DSMT4">
                  <p:embed/>
                </p:oleObj>
              </mc:Choice>
              <mc:Fallback>
                <p:oleObj name="Equation" r:id="rId3" imgW="1473120" imgH="406080" progId="Equation.DSMT4">
                  <p:embed/>
                  <p:pic>
                    <p:nvPicPr>
                      <p:cNvPr id="11" name="对象 10"/>
                      <p:cNvPicPr>
                        <a:picLocks noChangeAspect="1" noChangeArrowheads="1"/>
                      </p:cNvPicPr>
                      <p:nvPr/>
                    </p:nvPicPr>
                    <p:blipFill>
                      <a:blip r:embed="rId4"/>
                      <a:srcRect/>
                      <a:stretch>
                        <a:fillRect/>
                      </a:stretch>
                    </p:blipFill>
                    <p:spPr bwMode="auto">
                      <a:xfrm>
                        <a:off x="4352698" y="2398588"/>
                        <a:ext cx="2627313" cy="750887"/>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nvPr>
        </p:nvGraphicFramePr>
        <p:xfrm>
          <a:off x="4491677" y="3628122"/>
          <a:ext cx="2151062" cy="750888"/>
        </p:xfrm>
        <a:graphic>
          <a:graphicData uri="http://schemas.openxmlformats.org/presentationml/2006/ole">
            <mc:AlternateContent xmlns:mc="http://schemas.openxmlformats.org/markup-compatibility/2006">
              <mc:Choice xmlns:v="urn:schemas-microsoft-com:vml" Requires="v">
                <p:oleObj spid="_x0000_s45073" name="Equation" r:id="rId5" imgW="1206360" imgH="406080" progId="Equation.DSMT4">
                  <p:embed/>
                </p:oleObj>
              </mc:Choice>
              <mc:Fallback>
                <p:oleObj name="Equation" r:id="rId5" imgW="1206360" imgH="406080" progId="Equation.DSMT4">
                  <p:embed/>
                  <p:pic>
                    <p:nvPicPr>
                      <p:cNvPr id="12" name="对象 11"/>
                      <p:cNvPicPr>
                        <a:picLocks noChangeAspect="1" noChangeArrowheads="1"/>
                      </p:cNvPicPr>
                      <p:nvPr/>
                    </p:nvPicPr>
                    <p:blipFill>
                      <a:blip r:embed="rId6"/>
                      <a:srcRect/>
                      <a:stretch>
                        <a:fillRect/>
                      </a:stretch>
                    </p:blipFill>
                    <p:spPr bwMode="auto">
                      <a:xfrm>
                        <a:off x="4491677" y="3628122"/>
                        <a:ext cx="2151062" cy="750888"/>
                      </a:xfrm>
                      <a:prstGeom prst="rect">
                        <a:avLst/>
                      </a:prstGeom>
                      <a:noFill/>
                    </p:spPr>
                  </p:pic>
                </p:oleObj>
              </mc:Fallback>
            </mc:AlternateContent>
          </a:graphicData>
        </a:graphic>
      </p:graphicFrame>
    </p:spTree>
    <p:extLst>
      <p:ext uri="{BB962C8B-B14F-4D97-AF65-F5344CB8AC3E}">
        <p14:creationId xmlns:p14="http://schemas.microsoft.com/office/powerpoint/2010/main" val="3762342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406400" y="329037"/>
            <a:ext cx="11415185" cy="3231654"/>
          </a:xfrm>
          <a:prstGeom prst="rect">
            <a:avLst/>
          </a:prstGeom>
        </p:spPr>
        <p:txBody>
          <a:bodyPr wrap="square">
            <a:spAutoFit/>
          </a:bodyPr>
          <a:lstStyle/>
          <a:p>
            <a:pPr algn="ctr">
              <a:lnSpc>
                <a:spcPct val="150000"/>
              </a:lnSpc>
            </a:pPr>
            <a:r>
              <a:rPr lang="zh-CN" altLang="en-US" sz="2800" dirty="0">
                <a:solidFill>
                  <a:srgbClr val="FF0000"/>
                </a:solidFill>
                <a:latin typeface="隶书" panose="02010509060101010101" pitchFamily="49" charset="-122"/>
                <a:ea typeface="隶书" panose="02010509060101010101" pitchFamily="49" charset="-122"/>
              </a:rPr>
              <a:t>码元同步</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Arial" panose="020B0604020202020204" pitchFamily="34" charset="0"/>
              <a:buChar char="•"/>
            </a:pPr>
            <a:r>
              <a:rPr lang="zh-CN" altLang="en-US" sz="1800" dirty="0"/>
              <a:t>数字通信系统中，将消息编码成二进制比特流，然后将</a:t>
            </a:r>
            <a:r>
              <a:rPr lang="en-US" altLang="zh-CN" sz="1800" dirty="0"/>
              <a:t>k</a:t>
            </a:r>
            <a:r>
              <a:rPr lang="zh-CN" altLang="en-US" sz="1800" dirty="0"/>
              <a:t>个二进制比特组合成一个码元</a:t>
            </a:r>
            <a:endParaRPr lang="en-US" altLang="zh-CN" sz="1800" dirty="0"/>
          </a:p>
          <a:p>
            <a:pPr marL="342900" indent="-342900">
              <a:lnSpc>
                <a:spcPct val="150000"/>
              </a:lnSpc>
              <a:buFont typeface="Arial" panose="020B0604020202020204" pitchFamily="34" charset="0"/>
              <a:buChar char="•"/>
            </a:pPr>
            <a:r>
              <a:rPr lang="zh-CN" altLang="en-US" sz="1800" dirty="0"/>
              <a:t>用一组特定的波形表示码元，称为对码元进行脉冲调制，调制后的信号称为基带信号，基带信号集合中包含</a:t>
            </a:r>
            <a:r>
              <a:rPr lang="en-US" altLang="zh-CN" sz="1800" dirty="0"/>
              <a:t>2</a:t>
            </a:r>
            <a:r>
              <a:rPr lang="en-US" altLang="zh-CN" sz="1800" baseline="30000" dirty="0"/>
              <a:t>k</a:t>
            </a:r>
            <a:r>
              <a:rPr lang="zh-CN" altLang="en-US" sz="1800" dirty="0"/>
              <a:t>种波形</a:t>
            </a:r>
            <a:endParaRPr lang="en-US" altLang="zh-CN" sz="1800" dirty="0"/>
          </a:p>
          <a:p>
            <a:pPr marL="342900" indent="-342900">
              <a:lnSpc>
                <a:spcPct val="150000"/>
              </a:lnSpc>
              <a:buFont typeface="Arial" panose="020B0604020202020204" pitchFamily="34" charset="0"/>
              <a:buChar char="•"/>
            </a:pPr>
            <a:r>
              <a:rPr lang="zh-CN" altLang="en-US" sz="1800" dirty="0"/>
              <a:t>基带信号波形可以只有两个电平，也可以包含多个电平</a:t>
            </a:r>
            <a:endParaRPr lang="en-US" altLang="zh-CN" sz="1800" dirty="0"/>
          </a:p>
          <a:p>
            <a:pPr marL="342900" indent="-342900">
              <a:lnSpc>
                <a:spcPct val="150000"/>
              </a:lnSpc>
              <a:buFont typeface="Arial" panose="020B0604020202020204" pitchFamily="34" charset="0"/>
              <a:buChar char="•"/>
            </a:pPr>
            <a:r>
              <a:rPr lang="zh-CN" altLang="en-US" sz="1800" dirty="0"/>
              <a:t>接收端为了判定码元，需要准确知道基带信号中每个码元的起始与结束时刻（同步）。用锁相环取出基带信号中的同步信号，称为码元同步</a:t>
            </a:r>
            <a:endParaRPr lang="en-US" altLang="zh-CN" sz="1800" dirty="0"/>
          </a:p>
        </p:txBody>
      </p:sp>
    </p:spTree>
    <p:extLst>
      <p:ext uri="{BB962C8B-B14F-4D97-AF65-F5344CB8AC3E}">
        <p14:creationId xmlns:p14="http://schemas.microsoft.com/office/powerpoint/2010/main" val="3456534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6" name="文本框 5"/>
          <p:cNvSpPr txBox="1"/>
          <p:nvPr/>
        </p:nvSpPr>
        <p:spPr>
          <a:xfrm>
            <a:off x="435429" y="401285"/>
            <a:ext cx="11386156" cy="5493812"/>
          </a:xfrm>
          <a:prstGeom prst="rect">
            <a:avLst/>
          </a:prstGeom>
          <a:noFill/>
        </p:spPr>
        <p:txBody>
          <a:bodyPr wrap="square" rtlCol="0">
            <a:spAutoFit/>
          </a:bodyPr>
          <a:lstStyle/>
          <a:p>
            <a:pPr>
              <a:lnSpc>
                <a:spcPct val="150000"/>
              </a:lnSpc>
            </a:pPr>
            <a:r>
              <a:rPr lang="zh-CN" altLang="en-US" sz="2400" dirty="0">
                <a:solidFill>
                  <a:srgbClr val="FF0000"/>
                </a:solidFill>
                <a:latin typeface="隶书" panose="02010509060101010101" pitchFamily="49" charset="-122"/>
                <a:ea typeface="隶书" panose="02010509060101010101" pitchFamily="49" charset="-122"/>
              </a:rPr>
              <a:t>常见的基带波形与同步信号举例</a:t>
            </a:r>
            <a:endParaRPr lang="en-US" altLang="zh-CN" sz="24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en-US" sz="1800" dirty="0"/>
              <a:t>基带波形类型众多，下面仅举比较常见的几种</a:t>
            </a:r>
            <a:endParaRPr lang="en-US" altLang="zh-CN" sz="1800" dirty="0"/>
          </a:p>
          <a:p>
            <a:pPr marL="342900" indent="-342900">
              <a:lnSpc>
                <a:spcPct val="150000"/>
              </a:lnSpc>
              <a:buFont typeface="Wingdings" panose="05000000000000000000" pitchFamily="2" charset="2"/>
              <a:buChar char="Ø"/>
            </a:pPr>
            <a:r>
              <a:rPr lang="zh-CN" altLang="en-US" sz="1800" dirty="0"/>
              <a:t>不归零码（</a:t>
            </a:r>
            <a:r>
              <a:rPr lang="en-US" altLang="zh-CN" sz="1800" dirty="0"/>
              <a:t>NRZ</a:t>
            </a:r>
            <a:r>
              <a:rPr lang="zh-CN" altLang="en-US" sz="1800" dirty="0"/>
              <a:t>）</a:t>
            </a: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4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600" dirty="0"/>
          </a:p>
          <a:p>
            <a:pPr marL="342900" indent="-342900">
              <a:lnSpc>
                <a:spcPct val="150000"/>
              </a:lnSpc>
              <a:buFont typeface="Arial" panose="020B0604020202020204" pitchFamily="34" charset="0"/>
              <a:buChar char="•"/>
            </a:pPr>
            <a:r>
              <a:rPr lang="zh-CN" altLang="en-US" sz="1800" dirty="0"/>
              <a:t>两种不同的编码方式：不归零传号码、不归零空号码</a:t>
            </a:r>
            <a:endParaRPr lang="en-US" altLang="zh-CN" sz="1800" dirty="0"/>
          </a:p>
          <a:p>
            <a:pPr marL="342900" indent="-342900">
              <a:lnSpc>
                <a:spcPct val="150000"/>
              </a:lnSpc>
              <a:buFont typeface="Arial" panose="020B0604020202020204" pitchFamily="34" charset="0"/>
              <a:buChar char="•"/>
            </a:pPr>
            <a:r>
              <a:rPr lang="zh-CN" altLang="en-US" sz="1800" dirty="0"/>
              <a:t>以跳变表示二进制值</a:t>
            </a:r>
            <a:r>
              <a:rPr lang="en-US" altLang="zh-CN" sz="1800" dirty="0"/>
              <a:t>1</a:t>
            </a:r>
            <a:r>
              <a:rPr lang="zh-CN" altLang="en-US" sz="1800" dirty="0"/>
              <a:t>（传号码）或</a:t>
            </a:r>
            <a:r>
              <a:rPr lang="en-US" altLang="zh-CN" sz="1800" dirty="0"/>
              <a:t>0</a:t>
            </a:r>
            <a:r>
              <a:rPr lang="zh-CN" altLang="en-US" sz="1800" dirty="0"/>
              <a:t>（空号码），无跳变表示另一个二进制值</a:t>
            </a:r>
            <a:endParaRPr lang="en-US" altLang="zh-CN" sz="1800" dirty="0"/>
          </a:p>
          <a:p>
            <a:pPr marL="342900" indent="-342900">
              <a:lnSpc>
                <a:spcPct val="150000"/>
              </a:lnSpc>
              <a:buFont typeface="Arial" panose="020B0604020202020204" pitchFamily="34" charset="0"/>
              <a:buChar char="•"/>
            </a:pPr>
            <a:r>
              <a:rPr lang="zh-CN" altLang="en-US" sz="1800" dirty="0"/>
              <a:t>正负两个信号电平，若</a:t>
            </a:r>
            <a:r>
              <a:rPr lang="en-US" altLang="zh-CN" sz="1800" dirty="0"/>
              <a:t>1</a:t>
            </a:r>
            <a:r>
              <a:rPr lang="zh-CN" altLang="en-US" sz="1800" dirty="0"/>
              <a:t>、</a:t>
            </a:r>
            <a:r>
              <a:rPr lang="en-US" altLang="zh-CN" sz="1800" dirty="0"/>
              <a:t>0</a:t>
            </a:r>
            <a:r>
              <a:rPr lang="zh-CN" altLang="en-US" sz="1800" dirty="0"/>
              <a:t>出现几率相同则平均电平为</a:t>
            </a:r>
            <a:r>
              <a:rPr lang="en-US" altLang="zh-CN" sz="1800" dirty="0"/>
              <a:t>0</a:t>
            </a:r>
          </a:p>
          <a:p>
            <a:pPr marL="342900" indent="-342900">
              <a:lnSpc>
                <a:spcPct val="150000"/>
              </a:lnSpc>
              <a:buFont typeface="Arial" panose="020B0604020202020204" pitchFamily="34" charset="0"/>
              <a:buChar char="•"/>
            </a:pPr>
            <a:r>
              <a:rPr lang="zh-CN" altLang="en-US" sz="1800" dirty="0"/>
              <a:t>遇到连续多个</a:t>
            </a:r>
            <a:r>
              <a:rPr lang="en-US" altLang="zh-CN" sz="1800" dirty="0"/>
              <a:t>0</a:t>
            </a:r>
            <a:r>
              <a:rPr lang="zh-CN" altLang="en-US" sz="1800" dirty="0"/>
              <a:t>或连续多个</a:t>
            </a:r>
            <a:r>
              <a:rPr lang="en-US" altLang="zh-CN" sz="1800" dirty="0"/>
              <a:t>1</a:t>
            </a:r>
            <a:r>
              <a:rPr lang="zh-CN" altLang="en-US" sz="1800" dirty="0"/>
              <a:t>，将出现较长时间连续不变的电平，存在较大的直流分量，不利于交流耦合或无线传输，也不利于同步信号提取和解码。通常需要在信道编码中进行调整避免上述情况出现</a:t>
            </a:r>
          </a:p>
        </p:txBody>
      </p:sp>
      <p:pic>
        <p:nvPicPr>
          <p:cNvPr id="12" name="图片 11"/>
          <p:cNvPicPr>
            <a:picLocks noChangeAspect="1"/>
          </p:cNvPicPr>
          <p:nvPr/>
        </p:nvPicPr>
        <p:blipFill>
          <a:blip r:embed="rId2"/>
          <a:stretch>
            <a:fillRect/>
          </a:stretch>
        </p:blipFill>
        <p:spPr>
          <a:xfrm>
            <a:off x="2908528" y="1781456"/>
            <a:ext cx="5483340" cy="1747018"/>
          </a:xfrm>
          <a:prstGeom prst="rect">
            <a:avLst/>
          </a:prstGeom>
        </p:spPr>
      </p:pic>
      <p:sp>
        <p:nvSpPr>
          <p:cNvPr id="5" name="文本框 4"/>
          <p:cNvSpPr txBox="1"/>
          <p:nvPr/>
        </p:nvSpPr>
        <p:spPr>
          <a:xfrm>
            <a:off x="8391868" y="2093996"/>
            <a:ext cx="631528" cy="1292662"/>
          </a:xfrm>
          <a:prstGeom prst="rect">
            <a:avLst/>
          </a:prstGeom>
          <a:noFill/>
        </p:spPr>
        <p:txBody>
          <a:bodyPr wrap="square" rtlCol="0">
            <a:spAutoFit/>
          </a:bodyPr>
          <a:lstStyle/>
          <a:p>
            <a:r>
              <a:rPr lang="en-US" altLang="zh-CN" sz="1400" dirty="0"/>
              <a:t>+V</a:t>
            </a:r>
          </a:p>
          <a:p>
            <a:endParaRPr lang="en-US" altLang="zh-CN" sz="900" dirty="0"/>
          </a:p>
          <a:p>
            <a:r>
              <a:rPr lang="en-US" altLang="zh-CN" sz="1400" dirty="0"/>
              <a:t>-V</a:t>
            </a:r>
          </a:p>
          <a:p>
            <a:endParaRPr lang="en-US" altLang="zh-CN" sz="200" dirty="0"/>
          </a:p>
          <a:p>
            <a:r>
              <a:rPr lang="en-US" altLang="zh-CN" sz="1400" dirty="0"/>
              <a:t>+V</a:t>
            </a:r>
          </a:p>
          <a:p>
            <a:endParaRPr lang="en-US" altLang="zh-CN" sz="900" dirty="0"/>
          </a:p>
          <a:p>
            <a:r>
              <a:rPr lang="en-US" altLang="zh-CN" sz="1400" dirty="0"/>
              <a:t>-V</a:t>
            </a:r>
            <a:endParaRPr lang="zh-CN" altLang="en-US" sz="1400" dirty="0"/>
          </a:p>
        </p:txBody>
      </p:sp>
    </p:spTree>
    <p:extLst>
      <p:ext uri="{BB962C8B-B14F-4D97-AF65-F5344CB8AC3E}">
        <p14:creationId xmlns:p14="http://schemas.microsoft.com/office/powerpoint/2010/main" val="1752752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6" name="文本框 5"/>
          <p:cNvSpPr txBox="1"/>
          <p:nvPr/>
        </p:nvSpPr>
        <p:spPr>
          <a:xfrm>
            <a:off x="449943" y="605215"/>
            <a:ext cx="11371642" cy="383181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双极性归零码</a:t>
            </a:r>
            <a:r>
              <a:rPr lang="en-US" altLang="zh-CN" sz="1800" dirty="0"/>
              <a:t>——AMI</a:t>
            </a:r>
            <a:r>
              <a:rPr lang="zh-CN" altLang="en-US" sz="1800" dirty="0"/>
              <a:t>码</a:t>
            </a: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a:p>
          <a:p>
            <a:pPr marL="285750" indent="-285750">
              <a:lnSpc>
                <a:spcPct val="150000"/>
              </a:lnSpc>
              <a:buFont typeface="Arial" panose="020B0604020202020204" pitchFamily="34" charset="0"/>
              <a:buChar char="•"/>
            </a:pPr>
            <a:r>
              <a:rPr lang="en-US" altLang="zh-CN" sz="1800" dirty="0"/>
              <a:t>1 </a:t>
            </a:r>
            <a:r>
              <a:rPr lang="zh-CN" altLang="zh-CN" sz="1800" dirty="0"/>
              <a:t>交替地变换为</a:t>
            </a:r>
            <a:r>
              <a:rPr lang="en-US" altLang="zh-CN" sz="1800" dirty="0"/>
              <a:t> +V </a:t>
            </a:r>
            <a:r>
              <a:rPr lang="zh-CN" altLang="zh-CN" sz="1800" dirty="0"/>
              <a:t>与</a:t>
            </a:r>
            <a:r>
              <a:rPr lang="en-US" altLang="zh-CN" sz="1800" dirty="0"/>
              <a:t> -V</a:t>
            </a:r>
            <a:r>
              <a:rPr lang="zh-CN" altLang="zh-CN" sz="1800" dirty="0"/>
              <a:t>，每个脉冲的宽度等于半个位宽。</a:t>
            </a:r>
            <a:r>
              <a:rPr lang="en-US" altLang="zh-CN" sz="1800" dirty="0"/>
              <a:t>0 </a:t>
            </a:r>
            <a:r>
              <a:rPr lang="zh-CN" altLang="zh-CN" sz="1800" dirty="0"/>
              <a:t>始终保持为</a:t>
            </a:r>
            <a:r>
              <a:rPr lang="en-US" altLang="zh-CN" sz="1800" dirty="0"/>
              <a:t> 0</a:t>
            </a:r>
          </a:p>
          <a:p>
            <a:pPr marL="285750" indent="-285750">
              <a:lnSpc>
                <a:spcPct val="150000"/>
              </a:lnSpc>
              <a:buFont typeface="Arial" panose="020B0604020202020204" pitchFamily="34" charset="0"/>
              <a:buChar char="•"/>
            </a:pPr>
            <a:r>
              <a:rPr lang="zh-CN" altLang="en-US" sz="1800" dirty="0"/>
              <a:t>平均直流分量为零</a:t>
            </a:r>
            <a:endParaRPr lang="en-US" altLang="zh-CN" sz="1800" dirty="0"/>
          </a:p>
          <a:p>
            <a:pPr marL="285750" lvl="1" indent="-285750">
              <a:lnSpc>
                <a:spcPct val="150000"/>
              </a:lnSpc>
              <a:buFont typeface="Arial" panose="020B0604020202020204" pitchFamily="34" charset="0"/>
              <a:buChar char="•"/>
            </a:pPr>
            <a:r>
              <a:rPr lang="zh-CN" altLang="en-US" sz="1800" dirty="0"/>
              <a:t>出现长时间连续 </a:t>
            </a:r>
            <a:r>
              <a:rPr lang="en-US" altLang="zh-CN" sz="1800" dirty="0"/>
              <a:t>0 </a:t>
            </a:r>
            <a:r>
              <a:rPr lang="zh-CN" altLang="en-US" sz="1800" dirty="0"/>
              <a:t>时解码困难（因为解码需要的同步信号包含在编码信号的跳变中，长时间没有跳变则锁相环将失锁。详细情况后面会有分析）</a:t>
            </a:r>
          </a:p>
        </p:txBody>
      </p:sp>
      <p:graphicFrame>
        <p:nvGraphicFramePr>
          <p:cNvPr id="10" name="对象 9"/>
          <p:cNvGraphicFramePr>
            <a:graphicFrameLocks noChangeAspect="1"/>
          </p:cNvGraphicFramePr>
          <p:nvPr>
            <p:extLst/>
          </p:nvPr>
        </p:nvGraphicFramePr>
        <p:xfrm>
          <a:off x="2712220" y="1244761"/>
          <a:ext cx="6583363" cy="1592263"/>
        </p:xfrm>
        <a:graphic>
          <a:graphicData uri="http://schemas.openxmlformats.org/presentationml/2006/ole">
            <mc:AlternateContent xmlns:mc="http://schemas.openxmlformats.org/markup-compatibility/2006">
              <mc:Choice xmlns:v="urn:schemas-microsoft-com:vml" Requires="v">
                <p:oleObj spid="_x0000_s46088" name="Visio" r:id="rId3" imgW="3105099" imgH="736626" progId="Visio.Drawing.11">
                  <p:embed/>
                </p:oleObj>
              </mc:Choice>
              <mc:Fallback>
                <p:oleObj name="Visio" r:id="rId3" imgW="3105099" imgH="736626" progId="Visio.Drawing.11">
                  <p:embed/>
                  <p:pic>
                    <p:nvPicPr>
                      <p:cNvPr id="10" name="对象 9"/>
                      <p:cNvPicPr>
                        <a:picLocks noChangeAspect="1" noChangeArrowheads="1"/>
                      </p:cNvPicPr>
                      <p:nvPr/>
                    </p:nvPicPr>
                    <p:blipFill>
                      <a:blip r:embed="rId4"/>
                      <a:srcRect/>
                      <a:stretch>
                        <a:fillRect/>
                      </a:stretch>
                    </p:blipFill>
                    <p:spPr bwMode="auto">
                      <a:xfrm>
                        <a:off x="2712220" y="1244761"/>
                        <a:ext cx="6583363" cy="1592263"/>
                      </a:xfrm>
                      <a:prstGeom prst="rect">
                        <a:avLst/>
                      </a:prstGeom>
                      <a:noFill/>
                    </p:spPr>
                  </p:pic>
                </p:oleObj>
              </mc:Fallback>
            </mc:AlternateContent>
          </a:graphicData>
        </a:graphic>
      </p:graphicFrame>
    </p:spTree>
    <p:extLst>
      <p:ext uri="{BB962C8B-B14F-4D97-AF65-F5344CB8AC3E}">
        <p14:creationId xmlns:p14="http://schemas.microsoft.com/office/powerpoint/2010/main" val="39037548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6" name="文本框 5"/>
          <p:cNvSpPr txBox="1"/>
          <p:nvPr/>
        </p:nvSpPr>
        <p:spPr>
          <a:xfrm>
            <a:off x="403831" y="548048"/>
            <a:ext cx="11415185" cy="50783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800" dirty="0"/>
              <a:t>Manchester</a:t>
            </a:r>
            <a:r>
              <a:rPr lang="zh-CN" altLang="en-US" sz="1800" dirty="0"/>
              <a:t>码与差分</a:t>
            </a:r>
            <a:r>
              <a:rPr lang="en-US" altLang="zh-CN" sz="1800" dirty="0"/>
              <a:t>Manchester</a:t>
            </a:r>
            <a:r>
              <a:rPr lang="zh-CN" altLang="en-US" sz="1800" dirty="0"/>
              <a:t>码</a:t>
            </a:r>
          </a:p>
        </p:txBody>
      </p:sp>
      <p:graphicFrame>
        <p:nvGraphicFramePr>
          <p:cNvPr id="8" name="对象 7"/>
          <p:cNvGraphicFramePr>
            <a:graphicFrameLocks noChangeAspect="1"/>
          </p:cNvGraphicFramePr>
          <p:nvPr>
            <p:extLst>
              <p:ext uri="{D42A27DB-BD31-4B8C-83A1-F6EECF244321}">
                <p14:modId xmlns:p14="http://schemas.microsoft.com/office/powerpoint/2010/main" val="2978147852"/>
              </p:ext>
            </p:extLst>
          </p:nvPr>
        </p:nvGraphicFramePr>
        <p:xfrm>
          <a:off x="3469217" y="998406"/>
          <a:ext cx="4941888" cy="1919288"/>
        </p:xfrm>
        <a:graphic>
          <a:graphicData uri="http://schemas.openxmlformats.org/presentationml/2006/ole">
            <mc:AlternateContent xmlns:mc="http://schemas.openxmlformats.org/markup-compatibility/2006">
              <mc:Choice xmlns:v="urn:schemas-microsoft-com:vml" Requires="v">
                <p:oleObj spid="_x0000_s47113" name="Visio" r:id="rId3" imgW="2381301" imgH="920434" progId="Visio.Drawing.11">
                  <p:embed/>
                </p:oleObj>
              </mc:Choice>
              <mc:Fallback>
                <p:oleObj name="Visio" r:id="rId3" imgW="2381301" imgH="920434" progId="Visio.Drawing.11">
                  <p:embed/>
                  <p:pic>
                    <p:nvPicPr>
                      <p:cNvPr id="8" name="对象 7"/>
                      <p:cNvPicPr>
                        <a:picLocks noChangeAspect="1" noChangeArrowheads="1"/>
                      </p:cNvPicPr>
                      <p:nvPr/>
                    </p:nvPicPr>
                    <p:blipFill>
                      <a:blip r:embed="rId4"/>
                      <a:srcRect/>
                      <a:stretch>
                        <a:fillRect/>
                      </a:stretch>
                    </p:blipFill>
                    <p:spPr bwMode="auto">
                      <a:xfrm>
                        <a:off x="3469217" y="998406"/>
                        <a:ext cx="4941888" cy="1919288"/>
                      </a:xfrm>
                      <a:prstGeom prst="rect">
                        <a:avLst/>
                      </a:prstGeom>
                      <a:noFill/>
                    </p:spPr>
                  </p:pic>
                </p:oleObj>
              </mc:Fallback>
            </mc:AlternateContent>
          </a:graphicData>
        </a:graphic>
      </p:graphicFrame>
      <p:sp>
        <p:nvSpPr>
          <p:cNvPr id="10" name="矩形 9"/>
          <p:cNvSpPr/>
          <p:nvPr/>
        </p:nvSpPr>
        <p:spPr>
          <a:xfrm>
            <a:off x="403831" y="2722154"/>
            <a:ext cx="11316455" cy="3543278"/>
          </a:xfrm>
          <a:prstGeom prst="rect">
            <a:avLst/>
          </a:prstGeom>
        </p:spPr>
        <p:txBody>
          <a:bodyPr wrap="square">
            <a:spAutoFit/>
          </a:bodyPr>
          <a:lstStyle/>
          <a:p>
            <a:pPr marL="342900" indent="-342900" algn="just">
              <a:lnSpc>
                <a:spcPct val="13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marL="360000" lvl="1" algn="just">
              <a:lnSpc>
                <a:spcPct val="130000"/>
              </a:lnSpc>
              <a:spcAft>
                <a:spcPts val="0"/>
              </a:spcAft>
            </a:pPr>
            <a:r>
              <a:rPr lang="zh-CN" altLang="en-US" sz="1800" kern="100" dirty="0">
                <a:latin typeface="Times New Roman" panose="02020603050405020304" pitchFamily="18" charset="0"/>
                <a:cs typeface="Times New Roman" panose="02020603050405020304" pitchFamily="18" charset="0"/>
              </a:rPr>
              <a:t>每</a:t>
            </a:r>
            <a:r>
              <a:rPr lang="zh-CN" altLang="zh-CN" sz="1800" kern="100" dirty="0">
                <a:latin typeface="Times New Roman" panose="02020603050405020304" pitchFamily="18" charset="0"/>
                <a:cs typeface="Times New Roman" panose="02020603050405020304" pitchFamily="18" charset="0"/>
              </a:rPr>
              <a:t>个码元中点发生跳变</a:t>
            </a:r>
            <a:r>
              <a:rPr lang="zh-CN" altLang="en-US" sz="1800" kern="100" dirty="0">
                <a:latin typeface="Times New Roman" panose="02020603050405020304" pitchFamily="18" charset="0"/>
                <a:cs typeface="Times New Roman" panose="02020603050405020304" pitchFamily="18" charset="0"/>
              </a:rPr>
              <a:t>，</a:t>
            </a:r>
            <a:r>
              <a:rPr lang="zh-CN" altLang="zh-CN" sz="1800" kern="100" dirty="0">
                <a:latin typeface="Times New Roman" panose="02020603050405020304" pitchFamily="18" charset="0"/>
                <a:cs typeface="Times New Roman" panose="02020603050405020304" pitchFamily="18" charset="0"/>
              </a:rPr>
              <a:t>规定从高电平向低电平跳变为</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，反向的跳变为</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a:t>
            </a:r>
            <a:r>
              <a:rPr lang="zh-CN" altLang="en-US" sz="1800" kern="100" dirty="0" smtClean="0">
                <a:latin typeface="Times New Roman" panose="02020603050405020304" pitchFamily="18" charset="0"/>
                <a:cs typeface="Times New Roman" panose="02020603050405020304" pitchFamily="18" charset="0"/>
              </a:rPr>
              <a:t>就是</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编码为</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编码为</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与</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都是禁用码（不会出现）</a:t>
            </a:r>
            <a:endParaRPr lang="en-US" altLang="zh-CN" sz="1800" kern="100" dirty="0">
              <a:latin typeface="Times New Roman" panose="02020603050405020304" pitchFamily="18" charset="0"/>
              <a:cs typeface="Times New Roman" panose="02020603050405020304" pitchFamily="18" charset="0"/>
            </a:endParaRPr>
          </a:p>
          <a:p>
            <a:pPr marL="360000" lvl="2" algn="just">
              <a:lnSpc>
                <a:spcPct val="130000"/>
              </a:lnSpc>
              <a:spcAft>
                <a:spcPts val="0"/>
              </a:spcAft>
            </a:pPr>
            <a:r>
              <a:rPr lang="zh-CN" altLang="zh-CN" sz="1800" kern="100" dirty="0">
                <a:latin typeface="Times New Roman" panose="02020603050405020304" pitchFamily="18" charset="0"/>
                <a:cs typeface="Times New Roman" panose="02020603050405020304" pitchFamily="18" charset="0"/>
              </a:rPr>
              <a:t>潜在的问题</a:t>
            </a:r>
            <a:r>
              <a:rPr lang="zh-CN" altLang="en-US" sz="1800" kern="100" dirty="0">
                <a:latin typeface="Times New Roman" panose="02020603050405020304" pitchFamily="18" charset="0"/>
                <a:cs typeface="Times New Roman" panose="02020603050405020304" pitchFamily="18" charset="0"/>
              </a:rPr>
              <a:t>是</a:t>
            </a:r>
            <a:r>
              <a:rPr lang="zh-CN" altLang="zh-CN" sz="1800" kern="100" dirty="0">
                <a:latin typeface="Times New Roman" panose="02020603050405020304" pitchFamily="18" charset="0"/>
                <a:cs typeface="Times New Roman" panose="02020603050405020304" pitchFamily="18" charset="0"/>
              </a:rPr>
              <a:t>正确解调依赖信号的绝对电平。但是接收端用平方环或者</a:t>
            </a:r>
            <a:r>
              <a:rPr lang="en-US" altLang="zh-CN" sz="1800" kern="100" dirty="0">
                <a:latin typeface="Times New Roman" panose="02020603050405020304" pitchFamily="18" charset="0"/>
                <a:cs typeface="Times New Roman" panose="02020603050405020304" pitchFamily="18" charset="0"/>
              </a:rPr>
              <a:t>Costas</a:t>
            </a:r>
            <a:r>
              <a:rPr lang="zh-CN" altLang="zh-CN" sz="1800" kern="100" dirty="0">
                <a:latin typeface="Times New Roman" panose="02020603050405020304" pitchFamily="18" charset="0"/>
                <a:cs typeface="Times New Roman" panose="02020603050405020304" pitchFamily="18" charset="0"/>
              </a:rPr>
              <a:t>环等恢复载波信号解调时存在相位模糊现象，即解调后的信号可能反相，此时解调</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码的信号将出现</a:t>
            </a:r>
            <a:r>
              <a:rPr lang="en-US" altLang="zh-CN" sz="1800" kern="100" dirty="0">
                <a:latin typeface="Times New Roman" panose="02020603050405020304" pitchFamily="18" charset="0"/>
                <a:cs typeface="Times New Roman" panose="02020603050405020304" pitchFamily="18" charset="0"/>
              </a:rPr>
              <a:t>0</a:t>
            </a:r>
            <a:r>
              <a:rPr lang="zh-CN" altLang="en-US"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颠倒的错误</a:t>
            </a:r>
            <a:endParaRPr lang="en-US" altLang="zh-CN" sz="1800" kern="100" dirty="0">
              <a:latin typeface="Times New Roman" panose="02020603050405020304" pitchFamily="18" charset="0"/>
              <a:cs typeface="Times New Roman" panose="02020603050405020304" pitchFamily="18" charset="0"/>
            </a:endParaRPr>
          </a:p>
          <a:p>
            <a:pPr marL="360000" lvl="2" algn="just">
              <a:lnSpc>
                <a:spcPct val="130000"/>
              </a:lnSpc>
              <a:spcAft>
                <a:spcPts val="0"/>
              </a:spcAft>
            </a:pPr>
            <a:endParaRPr lang="en-US" altLang="zh-CN" sz="1000" kern="100" dirty="0">
              <a:latin typeface="华文细黑" panose="02010600040101010101" pitchFamily="2" charset="-122"/>
              <a:cs typeface="Times New Roman" panose="02020603050405020304" pitchFamily="18" charset="0"/>
            </a:endParaRPr>
          </a:p>
          <a:p>
            <a:pPr marL="285750" indent="-285750" algn="just">
              <a:lnSpc>
                <a:spcPct val="130000"/>
              </a:lnSpc>
              <a:spcAft>
                <a:spcPts val="0"/>
              </a:spcAft>
              <a:buFont typeface="Arial" panose="020B0604020202020204" pitchFamily="34" charset="0"/>
              <a:buChar char="•"/>
            </a:pPr>
            <a:r>
              <a:rPr lang="zh-CN" altLang="zh-CN" sz="1800" kern="100" dirty="0">
                <a:latin typeface="Times New Roman" panose="02020603050405020304" pitchFamily="18" charset="0"/>
                <a:cs typeface="Times New Roman" panose="02020603050405020304" pitchFamily="18" charset="0"/>
              </a:rPr>
              <a:t>差分</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marL="360000" algn="just">
              <a:lnSpc>
                <a:spcPct val="130000"/>
              </a:lnSpc>
              <a:spcAft>
                <a:spcPts val="0"/>
              </a:spcAft>
            </a:pPr>
            <a:r>
              <a:rPr lang="zh-CN" altLang="zh-CN" sz="1800" kern="100" dirty="0">
                <a:latin typeface="Times New Roman" panose="02020603050405020304" pitchFamily="18" charset="0"/>
                <a:cs typeface="Times New Roman" panose="02020603050405020304" pitchFamily="18" charset="0"/>
              </a:rPr>
              <a:t>规定</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除了在码元中点有跳变外，还要在该码元开始的时候有跳变，而</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仅在码元中点有跳变</a:t>
            </a:r>
            <a:r>
              <a:rPr lang="zh-CN" altLang="en-US" sz="1800" kern="100" dirty="0">
                <a:latin typeface="Times New Roman" panose="02020603050405020304" pitchFamily="18" charset="0"/>
                <a:cs typeface="Times New Roman" panose="02020603050405020304" pitchFamily="18" charset="0"/>
              </a:rPr>
              <a:t>，从而避免了相位模糊问题</a:t>
            </a:r>
            <a:r>
              <a:rPr lang="zh-CN" altLang="zh-CN" sz="1800" kern="100" dirty="0">
                <a:latin typeface="Times New Roman" panose="02020603050405020304" pitchFamily="18" charset="0"/>
                <a:cs typeface="Times New Roman" panose="02020603050405020304" pitchFamily="18" charset="0"/>
              </a:rPr>
              <a:t>。该编码中，</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和</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均可能被编码为</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或</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，具体是什么要根据符号前面是否有跳变确定。</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与</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都是禁用码</a:t>
            </a:r>
            <a:endParaRPr lang="zh-CN" altLang="zh-CN" sz="1800" kern="100" dirty="0">
              <a:latin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362211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矩形 4"/>
          <p:cNvSpPr/>
          <p:nvPr/>
        </p:nvSpPr>
        <p:spPr>
          <a:xfrm>
            <a:off x="406400" y="3175552"/>
            <a:ext cx="11219543" cy="2585323"/>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Miller</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lvl="1" algn="just">
              <a:lnSpc>
                <a:spcPct val="150000"/>
              </a:lnSpc>
              <a:spcAft>
                <a:spcPts val="0"/>
              </a:spcAft>
            </a:pP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在码元中点有跳变，</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在码元中点无跳变。两个码元交界处有无跳变根据码元内容确定：</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的前后始终无跳变，两个</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之间始终有跳变。该编码方式中</a:t>
            </a:r>
            <a:r>
              <a:rPr lang="en-US" altLang="zh-CN" sz="1800" kern="100" dirty="0">
                <a:latin typeface="Times New Roman" panose="02020603050405020304" pitchFamily="18" charset="0"/>
                <a:cs typeface="Times New Roman" panose="02020603050405020304" pitchFamily="18" charset="0"/>
              </a:rPr>
              <a:t>4</a:t>
            </a:r>
            <a:r>
              <a:rPr lang="zh-CN" altLang="zh-CN" sz="1800" kern="100" dirty="0">
                <a:latin typeface="Times New Roman" panose="02020603050405020304" pitchFamily="18" charset="0"/>
                <a:cs typeface="Times New Roman" panose="02020603050405020304" pitchFamily="18" charset="0"/>
              </a:rPr>
              <a:t>种编码符号均可能出现，没有禁用码</a:t>
            </a:r>
            <a:endParaRPr lang="en-US" altLang="zh-CN" sz="1800" kern="100" dirty="0">
              <a:latin typeface="Times New Roman" panose="02020603050405020304" pitchFamily="18"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CMI</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lvl="1" algn="just">
              <a:lnSpc>
                <a:spcPct val="150000"/>
              </a:lnSpc>
              <a:spcAft>
                <a:spcPts val="0"/>
              </a:spcAft>
            </a:pP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在码元中点有低电平向高电平的跳变，</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在码元中点无跳变，后面的</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与前面的</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始终用交替的高低电平表示，即</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被编码为</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被交替编码为</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或</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是禁用的</a:t>
            </a:r>
            <a:endParaRPr lang="zh-CN" altLang="zh-CN" sz="1800" kern="100" dirty="0">
              <a:latin typeface="华文细黑" panose="02010600040101010101" pitchFamily="2"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991800915"/>
              </p:ext>
            </p:extLst>
          </p:nvPr>
        </p:nvGraphicFramePr>
        <p:xfrm>
          <a:off x="3552599" y="1238121"/>
          <a:ext cx="4306888" cy="2198688"/>
        </p:xfrm>
        <a:graphic>
          <a:graphicData uri="http://schemas.openxmlformats.org/presentationml/2006/ole">
            <mc:AlternateContent xmlns:mc="http://schemas.openxmlformats.org/markup-compatibility/2006">
              <mc:Choice xmlns:v="urn:schemas-microsoft-com:vml" Requires="v">
                <p:oleObj spid="_x0000_s48136" name="Visio" r:id="rId3" imgW="2076399" imgH="1060147" progId="Visio.Drawing.11">
                  <p:embed/>
                </p:oleObj>
              </mc:Choice>
              <mc:Fallback>
                <p:oleObj name="Visio" r:id="rId3" imgW="2076399" imgH="1060147" progId="Visio.Drawing.11">
                  <p:embed/>
                  <p:pic>
                    <p:nvPicPr>
                      <p:cNvPr id="6" name="对象 5"/>
                      <p:cNvPicPr>
                        <a:picLocks noChangeAspect="1" noChangeArrowheads="1"/>
                      </p:cNvPicPr>
                      <p:nvPr/>
                    </p:nvPicPr>
                    <p:blipFill>
                      <a:blip r:embed="rId4"/>
                      <a:srcRect/>
                      <a:stretch>
                        <a:fillRect/>
                      </a:stretch>
                    </p:blipFill>
                    <p:spPr bwMode="auto">
                      <a:xfrm>
                        <a:off x="3552599" y="1238121"/>
                        <a:ext cx="4306888" cy="2198688"/>
                      </a:xfrm>
                      <a:prstGeom prst="rect">
                        <a:avLst/>
                      </a:prstGeom>
                      <a:noFill/>
                    </p:spPr>
                  </p:pic>
                </p:oleObj>
              </mc:Fallback>
            </mc:AlternateContent>
          </a:graphicData>
        </a:graphic>
      </p:graphicFrame>
      <p:sp>
        <p:nvSpPr>
          <p:cNvPr id="8" name="文本框 7"/>
          <p:cNvSpPr txBox="1"/>
          <p:nvPr/>
        </p:nvSpPr>
        <p:spPr>
          <a:xfrm>
            <a:off x="406400" y="585314"/>
            <a:ext cx="9598425" cy="50783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800" dirty="0"/>
              <a:t>Miller</a:t>
            </a:r>
            <a:r>
              <a:rPr lang="zh-CN" altLang="en-US" sz="1800" dirty="0"/>
              <a:t>码与</a:t>
            </a:r>
            <a:r>
              <a:rPr lang="en-US" altLang="zh-CN" sz="1800" dirty="0"/>
              <a:t>CMI</a:t>
            </a:r>
            <a:r>
              <a:rPr lang="zh-CN" altLang="en-US" sz="1800" dirty="0"/>
              <a:t>码</a:t>
            </a:r>
          </a:p>
        </p:txBody>
      </p:sp>
    </p:spTree>
    <p:extLst>
      <p:ext uri="{BB962C8B-B14F-4D97-AF65-F5344CB8AC3E}">
        <p14:creationId xmlns:p14="http://schemas.microsoft.com/office/powerpoint/2010/main" val="2012275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文本框 4"/>
          <p:cNvSpPr txBox="1"/>
          <p:nvPr/>
        </p:nvSpPr>
        <p:spPr>
          <a:xfrm>
            <a:off x="428171" y="473647"/>
            <a:ext cx="11393413" cy="133882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800" dirty="0"/>
              <a:t>码元同步信号的相位校正</a:t>
            </a:r>
            <a:endParaRPr lang="en-US" altLang="zh-CN" sz="1800" dirty="0"/>
          </a:p>
          <a:p>
            <a:pPr marL="342900" indent="-342900">
              <a:lnSpc>
                <a:spcPct val="150000"/>
              </a:lnSpc>
              <a:buFont typeface="Arial" panose="020B0604020202020204" pitchFamily="34" charset="0"/>
              <a:buChar char="•"/>
            </a:pPr>
            <a:r>
              <a:rPr lang="en-US" altLang="zh-CN" sz="1800" dirty="0"/>
              <a:t>Manchester</a:t>
            </a:r>
            <a:r>
              <a:rPr lang="zh-CN" altLang="en-US" sz="1800" dirty="0"/>
              <a:t>码、</a:t>
            </a:r>
            <a:r>
              <a:rPr lang="en-US" altLang="zh-CN" sz="1800" dirty="0"/>
              <a:t>Miller</a:t>
            </a:r>
            <a:r>
              <a:rPr lang="zh-CN" altLang="en-US" sz="1800" dirty="0"/>
              <a:t>码</a:t>
            </a:r>
            <a:r>
              <a:rPr lang="zh-CN" altLang="zh-CN" sz="1800" dirty="0"/>
              <a:t>与</a:t>
            </a:r>
            <a:r>
              <a:rPr lang="en-US" altLang="zh-CN" sz="1800" dirty="0"/>
              <a:t>CMI</a:t>
            </a:r>
            <a:r>
              <a:rPr lang="zh-CN" altLang="zh-CN" sz="1800" dirty="0"/>
              <a:t>码</a:t>
            </a:r>
            <a:r>
              <a:rPr lang="zh-CN" altLang="en-US" sz="1800" dirty="0"/>
              <a:t>等码型，</a:t>
            </a:r>
            <a:r>
              <a:rPr lang="zh-CN" altLang="zh-CN" sz="1800" dirty="0"/>
              <a:t>每个原始码元被扩展成两位，获得的同步信号是码元同步信号的</a:t>
            </a:r>
            <a:r>
              <a:rPr lang="en-US" altLang="zh-CN" sz="1800" dirty="0"/>
              <a:t>2</a:t>
            </a:r>
            <a:r>
              <a:rPr lang="zh-CN" altLang="zh-CN" sz="1800" dirty="0"/>
              <a:t>倍频，所以存在一个如何将解码后的</a:t>
            </a:r>
            <a:r>
              <a:rPr lang="en-US" altLang="zh-CN" sz="1800" dirty="0"/>
              <a:t>bit</a:t>
            </a:r>
            <a:r>
              <a:rPr lang="zh-CN" altLang="zh-CN" sz="1800" dirty="0"/>
              <a:t>流正确组合成原始的数据的问题</a:t>
            </a:r>
            <a:r>
              <a:rPr lang="zh-CN" altLang="en-US" sz="1800" dirty="0"/>
              <a:t>，称为</a:t>
            </a:r>
            <a:r>
              <a:rPr lang="zh-CN" altLang="zh-CN" sz="1800" dirty="0"/>
              <a:t>同步信号的相位</a:t>
            </a:r>
            <a:r>
              <a:rPr lang="zh-CN" altLang="zh-CN" sz="1800" dirty="0" smtClean="0"/>
              <a:t>校正</a:t>
            </a:r>
            <a:endParaRPr lang="en-US" altLang="zh-CN" sz="1800" dirty="0"/>
          </a:p>
        </p:txBody>
      </p:sp>
      <p:pic>
        <p:nvPicPr>
          <p:cNvPr id="6" name="图片 5"/>
          <p:cNvPicPr>
            <a:picLocks noChangeAspect="1"/>
          </p:cNvPicPr>
          <p:nvPr/>
        </p:nvPicPr>
        <p:blipFill>
          <a:blip r:embed="rId2"/>
          <a:stretch>
            <a:fillRect/>
          </a:stretch>
        </p:blipFill>
        <p:spPr>
          <a:xfrm>
            <a:off x="7743521" y="2665254"/>
            <a:ext cx="3627969" cy="2195876"/>
          </a:xfrm>
          <a:prstGeom prst="rect">
            <a:avLst/>
          </a:prstGeom>
        </p:spPr>
      </p:pic>
      <p:sp>
        <p:nvSpPr>
          <p:cNvPr id="8" name="文本框 7"/>
          <p:cNvSpPr txBox="1"/>
          <p:nvPr/>
        </p:nvSpPr>
        <p:spPr>
          <a:xfrm>
            <a:off x="319313" y="1733302"/>
            <a:ext cx="7133774" cy="42473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1800" dirty="0" smtClean="0"/>
              <a:t>Manchester</a:t>
            </a:r>
            <a:r>
              <a:rPr lang="zh-CN" altLang="zh-CN" sz="1800" dirty="0"/>
              <a:t>码、差分</a:t>
            </a:r>
            <a:r>
              <a:rPr lang="en-US" altLang="zh-CN" sz="1800" dirty="0"/>
              <a:t>Manchester</a:t>
            </a:r>
            <a:r>
              <a:rPr lang="zh-CN" altLang="zh-CN" sz="1800" dirty="0"/>
              <a:t>码与</a:t>
            </a:r>
            <a:r>
              <a:rPr lang="en-US" altLang="zh-CN" sz="1800" dirty="0"/>
              <a:t>CMI</a:t>
            </a:r>
            <a:r>
              <a:rPr lang="zh-CN" altLang="zh-CN" sz="1800" dirty="0"/>
              <a:t>码均存在禁止码，可以利用这一点来获得正确的同步相位：开始时是任意两位组合，然后检查组合后的信号是否合法，若出现禁止码则将组合偏移一位，以后就是正确的组合相位了。为了便于检测，每个</a:t>
            </a:r>
            <a:r>
              <a:rPr lang="zh-CN" altLang="en-US" sz="1800" dirty="0"/>
              <a:t>数据</a:t>
            </a:r>
            <a:r>
              <a:rPr lang="zh-CN" altLang="zh-CN" sz="1800" dirty="0"/>
              <a:t>帧的开始部分发送几个特定的同步</a:t>
            </a:r>
            <a:r>
              <a:rPr lang="zh-CN" altLang="en-US" sz="1800" dirty="0"/>
              <a:t>头数据</a:t>
            </a:r>
            <a:r>
              <a:rPr lang="zh-CN" altLang="zh-CN" sz="1800" dirty="0"/>
              <a:t>，例如</a:t>
            </a:r>
            <a:r>
              <a:rPr lang="en-US" altLang="zh-CN" sz="1800" dirty="0"/>
              <a:t>Manchester</a:t>
            </a:r>
            <a:r>
              <a:rPr lang="zh-CN" altLang="zh-CN" sz="1800" dirty="0"/>
              <a:t>码可以发送</a:t>
            </a:r>
            <a:r>
              <a:rPr lang="en-US" altLang="zh-CN" sz="1800" dirty="0"/>
              <a:t>1010</a:t>
            </a:r>
            <a:r>
              <a:rPr lang="zh-CN" altLang="zh-CN" sz="1800" dirty="0"/>
              <a:t>作为同步</a:t>
            </a:r>
            <a:r>
              <a:rPr lang="zh-CN" altLang="en-US" sz="1800" dirty="0"/>
              <a:t>头</a:t>
            </a:r>
            <a:r>
              <a:rPr lang="zh-CN" altLang="zh-CN" sz="1800" dirty="0"/>
              <a:t>信号，</a:t>
            </a:r>
            <a:r>
              <a:rPr lang="en-US" altLang="zh-CN" sz="1800" dirty="0"/>
              <a:t>CMI</a:t>
            </a:r>
            <a:r>
              <a:rPr lang="zh-CN" altLang="zh-CN" sz="1800" dirty="0"/>
              <a:t>码可以发送</a:t>
            </a:r>
            <a:r>
              <a:rPr lang="en-US" altLang="zh-CN" sz="1800" dirty="0"/>
              <a:t>0000</a:t>
            </a:r>
            <a:r>
              <a:rPr lang="zh-CN" altLang="zh-CN" sz="1800" dirty="0"/>
              <a:t>作为同步</a:t>
            </a:r>
            <a:r>
              <a:rPr lang="zh-CN" altLang="en-US" sz="1800" dirty="0"/>
              <a:t>头</a:t>
            </a:r>
            <a:r>
              <a:rPr lang="zh-CN" altLang="zh-CN" sz="1800" dirty="0"/>
              <a:t>信号</a:t>
            </a:r>
            <a:r>
              <a:rPr lang="zh-CN" altLang="en-US" sz="1800" dirty="0"/>
              <a:t>。</a:t>
            </a:r>
            <a:endParaRPr lang="en-US" altLang="zh-CN" sz="1800" dirty="0"/>
          </a:p>
          <a:p>
            <a:pPr marL="360000" lvl="1">
              <a:lnSpc>
                <a:spcPct val="150000"/>
              </a:lnSpc>
            </a:pPr>
            <a:r>
              <a:rPr lang="zh-CN" altLang="en-US" sz="1800" dirty="0"/>
              <a:t>以</a:t>
            </a:r>
            <a:r>
              <a:rPr lang="en-US" altLang="zh-CN" sz="1800" dirty="0"/>
              <a:t>Manchester</a:t>
            </a:r>
            <a:r>
              <a:rPr lang="zh-CN" altLang="zh-CN" sz="1800" dirty="0"/>
              <a:t>码</a:t>
            </a:r>
            <a:r>
              <a:rPr lang="zh-CN" altLang="en-US" sz="1800" dirty="0"/>
              <a:t>为例，同步头</a:t>
            </a:r>
            <a:r>
              <a:rPr lang="en-US" altLang="zh-CN" sz="1800" dirty="0"/>
              <a:t>10</a:t>
            </a:r>
            <a:r>
              <a:rPr lang="zh-CN" altLang="en-US" sz="1800" dirty="0"/>
              <a:t>被扩展为</a:t>
            </a:r>
            <a:r>
              <a:rPr lang="en-US" altLang="zh-CN" sz="1800" dirty="0"/>
              <a:t>10/01/10/01</a:t>
            </a:r>
            <a:r>
              <a:rPr lang="zh-CN" altLang="en-US" sz="1800" dirty="0"/>
              <a:t>（参见前面的波形图），若接收时发生错位，将组合为</a:t>
            </a:r>
            <a:r>
              <a:rPr lang="en-US" altLang="zh-CN" sz="1800" dirty="0"/>
              <a:t>1/00/11/00/1x</a:t>
            </a:r>
            <a:r>
              <a:rPr lang="zh-CN" altLang="en-US" sz="1800" dirty="0"/>
              <a:t>，其中</a:t>
            </a:r>
            <a:r>
              <a:rPr lang="en-US" altLang="zh-CN" sz="1800" dirty="0"/>
              <a:t>00</a:t>
            </a:r>
            <a:r>
              <a:rPr lang="zh-CN" altLang="en-US" sz="1800" dirty="0"/>
              <a:t>与</a:t>
            </a:r>
            <a:r>
              <a:rPr lang="en-US" altLang="zh-CN" sz="1800" dirty="0"/>
              <a:t>11</a:t>
            </a:r>
            <a:r>
              <a:rPr lang="zh-CN" altLang="en-US" sz="1800" dirty="0"/>
              <a:t>均为禁止码，所以就知道错位了，将下一位丢弃后的组合就是正确的</a:t>
            </a:r>
          </a:p>
        </p:txBody>
      </p:sp>
    </p:spTree>
    <p:extLst>
      <p:ext uri="{BB962C8B-B14F-4D97-AF65-F5344CB8AC3E}">
        <p14:creationId xmlns:p14="http://schemas.microsoft.com/office/powerpoint/2010/main" val="948092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矩形 4"/>
          <p:cNvSpPr/>
          <p:nvPr/>
        </p:nvSpPr>
        <p:spPr>
          <a:xfrm>
            <a:off x="449943" y="454729"/>
            <a:ext cx="11313885" cy="13388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CN" sz="1800" dirty="0">
                <a:latin typeface="Times New Roman" panose="02020603050405020304" pitchFamily="18" charset="0"/>
              </a:rPr>
              <a:t>Miller</a:t>
            </a:r>
            <a:r>
              <a:rPr lang="zh-CN" altLang="zh-CN" sz="1800" dirty="0">
                <a:latin typeface="Times New Roman" panose="02020603050405020304" pitchFamily="18" charset="0"/>
                <a:cs typeface="Times New Roman" panose="02020603050405020304" pitchFamily="18" charset="0"/>
              </a:rPr>
              <a:t>码不存在禁止码，所以不能用上述方法得到正确的同步相位</a:t>
            </a:r>
            <a:endParaRPr lang="en-US" altLang="zh-CN" sz="1800" dirty="0">
              <a:latin typeface="Times New Roman" panose="02020603050405020304" pitchFamily="18" charset="0"/>
              <a:cs typeface="Times New Roman" panose="02020603050405020304" pitchFamily="18" charset="0"/>
            </a:endParaRPr>
          </a:p>
          <a:p>
            <a:pPr marL="324000" lvl="1">
              <a:lnSpc>
                <a:spcPct val="150000"/>
              </a:lnSpc>
            </a:pPr>
            <a:r>
              <a:rPr lang="zh-CN" altLang="zh-CN" sz="1800" dirty="0">
                <a:latin typeface="Times New Roman" panose="02020603050405020304" pitchFamily="18" charset="0"/>
                <a:cs typeface="Times New Roman" panose="02020603050405020304" pitchFamily="18" charset="0"/>
              </a:rPr>
              <a:t>该编码有一个特征：在原始码元为“</a:t>
            </a:r>
            <a:r>
              <a:rPr lang="en-US" altLang="zh-CN" sz="1800" dirty="0">
                <a:latin typeface="Times New Roman" panose="02020603050405020304" pitchFamily="18" charset="0"/>
              </a:rPr>
              <a:t>101</a:t>
            </a:r>
            <a:r>
              <a:rPr lang="zh-CN" altLang="zh-CN" sz="1800" dirty="0">
                <a:latin typeface="Times New Roman" panose="02020603050405020304" pitchFamily="18" charset="0"/>
                <a:cs typeface="Times New Roman" panose="02020603050405020304" pitchFamily="18" charset="0"/>
              </a:rPr>
              <a:t>”情况下会出现最长的跳变间隔，此时两个跳变之间的间隔是</a:t>
            </a:r>
            <a:r>
              <a:rPr lang="en-US" altLang="zh-CN" sz="1800" dirty="0">
                <a:latin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个码元的宽度，可以利用这一点确定接收信号的同步</a:t>
            </a:r>
            <a:r>
              <a:rPr lang="zh-CN" altLang="zh-CN" sz="1800" dirty="0" smtClean="0">
                <a:latin typeface="Times New Roman" panose="02020603050405020304" pitchFamily="18" charset="0"/>
                <a:cs typeface="Times New Roman" panose="02020603050405020304" pitchFamily="18" charset="0"/>
              </a:rPr>
              <a:t>相位</a:t>
            </a:r>
            <a:r>
              <a:rPr lang="en-US" altLang="zh-CN" sz="1800" dirty="0" smtClean="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552792584"/>
              </p:ext>
            </p:extLst>
          </p:nvPr>
        </p:nvGraphicFramePr>
        <p:xfrm>
          <a:off x="5642104" y="1742274"/>
          <a:ext cx="5092572" cy="3474170"/>
        </p:xfrm>
        <a:graphic>
          <a:graphicData uri="http://schemas.openxmlformats.org/presentationml/2006/ole">
            <mc:AlternateContent xmlns:mc="http://schemas.openxmlformats.org/markup-compatibility/2006">
              <mc:Choice xmlns:v="urn:schemas-microsoft-com:vml" Requires="v">
                <p:oleObj spid="_x0000_s49160" name="Visio" r:id="rId3" imgW="3003155" imgH="2050670" progId="Visio.Drawing.15">
                  <p:embed/>
                </p:oleObj>
              </mc:Choice>
              <mc:Fallback>
                <p:oleObj name="Visio" r:id="rId3" imgW="3003155" imgH="2050670" progId="Visio.Drawing.15">
                  <p:embed/>
                  <p:pic>
                    <p:nvPicPr>
                      <p:cNvPr id="7" name="对象 6"/>
                      <p:cNvPicPr>
                        <a:picLocks noChangeAspect="1" noChangeArrowheads="1"/>
                      </p:cNvPicPr>
                      <p:nvPr/>
                    </p:nvPicPr>
                    <p:blipFill>
                      <a:blip r:embed="rId4"/>
                      <a:srcRect/>
                      <a:stretch>
                        <a:fillRect/>
                      </a:stretch>
                    </p:blipFill>
                    <p:spPr bwMode="auto">
                      <a:xfrm>
                        <a:off x="5642104" y="1742274"/>
                        <a:ext cx="5092572" cy="3474170"/>
                      </a:xfrm>
                      <a:prstGeom prst="rect">
                        <a:avLst/>
                      </a:prstGeom>
                      <a:noFill/>
                    </p:spPr>
                  </p:pic>
                </p:oleObj>
              </mc:Fallback>
            </mc:AlternateContent>
          </a:graphicData>
        </a:graphic>
      </p:graphicFrame>
      <p:sp>
        <p:nvSpPr>
          <p:cNvPr id="8" name="矩形 7"/>
          <p:cNvSpPr/>
          <p:nvPr/>
        </p:nvSpPr>
        <p:spPr>
          <a:xfrm>
            <a:off x="449943" y="1742274"/>
            <a:ext cx="4390676" cy="2169825"/>
          </a:xfrm>
          <a:prstGeom prst="rect">
            <a:avLst/>
          </a:prstGeom>
        </p:spPr>
        <p:txBody>
          <a:bodyPr wrap="square">
            <a:spAutoFit/>
          </a:bodyPr>
          <a:lstStyle/>
          <a:p>
            <a:pPr marL="324000" lvl="1">
              <a:lnSpc>
                <a:spcPct val="150000"/>
              </a:lnSpc>
            </a:pPr>
            <a:r>
              <a:rPr lang="zh-CN" altLang="zh-CN" sz="1800" dirty="0">
                <a:latin typeface="Times New Roman" panose="02020603050405020304" pitchFamily="18" charset="0"/>
                <a:cs typeface="Times New Roman" panose="02020603050405020304" pitchFamily="18" charset="0"/>
              </a:rPr>
              <a:t>在每个信号帧的开始部分发送包含“</a:t>
            </a:r>
            <a:r>
              <a:rPr lang="en-US" altLang="zh-CN" sz="1800" dirty="0">
                <a:latin typeface="Times New Roman" panose="02020603050405020304" pitchFamily="18" charset="0"/>
              </a:rPr>
              <a:t>101</a:t>
            </a:r>
            <a:r>
              <a:rPr lang="zh-CN" altLang="zh-CN" sz="1800" dirty="0">
                <a:latin typeface="Times New Roman" panose="02020603050405020304" pitchFamily="18" charset="0"/>
                <a:cs typeface="Times New Roman" panose="02020603050405020304" pitchFamily="18" charset="0"/>
              </a:rPr>
              <a:t>”的同步信号</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对输入信号的脉冲间隔计数，当计数到第</a:t>
            </a:r>
            <a:r>
              <a:rPr lang="en-US" altLang="zh-CN" sz="1800" dirty="0">
                <a:latin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个脉冲间隔时产生复位脉冲将同步信号强制清零，从而保证同步信号具有正确的相位</a:t>
            </a:r>
            <a:endParaRPr lang="zh-CN" altLang="en-US" sz="1800" dirty="0"/>
          </a:p>
        </p:txBody>
      </p:sp>
      <p:sp>
        <p:nvSpPr>
          <p:cNvPr id="6" name="文本框 5"/>
          <p:cNvSpPr txBox="1"/>
          <p:nvPr/>
        </p:nvSpPr>
        <p:spPr>
          <a:xfrm>
            <a:off x="449943" y="5309997"/>
            <a:ext cx="11313885" cy="923330"/>
          </a:xfrm>
          <a:prstGeom prst="rect">
            <a:avLst/>
          </a:prstGeom>
          <a:noFill/>
        </p:spPr>
        <p:txBody>
          <a:bodyPr wrap="square" rtlCol="0">
            <a:spAutoFit/>
          </a:bodyPr>
          <a:lstStyle/>
          <a:p>
            <a:pPr>
              <a:lnSpc>
                <a:spcPct val="150000"/>
              </a:lnSpc>
            </a:pPr>
            <a:r>
              <a:rPr lang="zh-CN" altLang="en-US" sz="1800" dirty="0">
                <a:latin typeface="楷体" panose="02010609060101010101" pitchFamily="49" charset="-122"/>
                <a:ea typeface="楷体" panose="02010609060101010101" pitchFamily="49" charset="-122"/>
              </a:rPr>
              <a:t>说明：边沿脉冲是锁相环的输入信号</a:t>
            </a:r>
            <a:r>
              <a:rPr lang="zh-CN" altLang="en-US" sz="1800" dirty="0" smtClean="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锁相环的</a:t>
            </a:r>
            <a:r>
              <a:rPr lang="zh-CN" altLang="en-US" sz="1800" dirty="0" smtClean="0">
                <a:latin typeface="楷体" panose="02010609060101010101" pitchFamily="49" charset="-122"/>
                <a:ea typeface="楷体" panose="02010609060101010101" pitchFamily="49" charset="-122"/>
              </a:rPr>
              <a:t>输出</a:t>
            </a:r>
            <a:r>
              <a:rPr lang="zh-CN" altLang="en-US" sz="1800" dirty="0">
                <a:ea typeface="楷体" panose="02010609060101010101" pitchFamily="49" charset="-122"/>
              </a:rPr>
              <a:t>信号</a:t>
            </a:r>
            <a:r>
              <a:rPr lang="zh-CN" altLang="en-US" sz="1800" dirty="0">
                <a:latin typeface="楷体" panose="02010609060101010101" pitchFamily="49" charset="-122"/>
                <a:ea typeface="楷体" panose="02010609060101010101" pitchFamily="49" charset="-122"/>
              </a:rPr>
              <a:t>是</a:t>
            </a:r>
            <a:r>
              <a:rPr lang="zh-CN" altLang="en-US" sz="1800" dirty="0" smtClean="0">
                <a:latin typeface="楷体" panose="02010609060101010101" pitchFamily="49" charset="-122"/>
                <a:ea typeface="楷体" panose="02010609060101010101" pitchFamily="49" charset="-122"/>
              </a:rPr>
              <a:t>计数器的</a:t>
            </a:r>
            <a:r>
              <a:rPr lang="zh-CN" altLang="en-US" sz="1800" dirty="0" smtClean="0">
                <a:latin typeface="+mn-lt"/>
                <a:ea typeface="楷体" panose="02010609060101010101" pitchFamily="49" charset="-122"/>
              </a:rPr>
              <a:t>时钟</a:t>
            </a:r>
            <a:r>
              <a:rPr lang="zh-CN" altLang="en-US" sz="1800" dirty="0" smtClean="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每次都从边沿脉冲开始计数。锁相环的输出二分频得到同步信号，复位脉冲是同步信号的异步复位信号。</a:t>
            </a:r>
          </a:p>
        </p:txBody>
      </p:sp>
    </p:spTree>
    <p:extLst>
      <p:ext uri="{BB962C8B-B14F-4D97-AF65-F5344CB8AC3E}">
        <p14:creationId xmlns:p14="http://schemas.microsoft.com/office/powerpoint/2010/main" val="1277334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420914" y="467068"/>
            <a:ext cx="11400671" cy="92333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多电平编码的例子</a:t>
            </a:r>
            <a:r>
              <a:rPr lang="en-US" altLang="zh-CN" sz="1800" dirty="0"/>
              <a:t>——PAM</a:t>
            </a:r>
          </a:p>
          <a:p>
            <a:pPr marL="342900" indent="-342900">
              <a:lnSpc>
                <a:spcPct val="150000"/>
              </a:lnSpc>
              <a:buFont typeface="Arial" panose="020B0604020202020204" pitchFamily="34" charset="0"/>
              <a:buChar char="•"/>
            </a:pPr>
            <a:r>
              <a:rPr lang="en-US" altLang="zh-CN" sz="1800" dirty="0"/>
              <a:t>PAM(Pulse-Amplitude Modulation) </a:t>
            </a:r>
            <a:r>
              <a:rPr lang="zh-CN" altLang="en-US" sz="1800" dirty="0"/>
              <a:t>包含</a:t>
            </a:r>
            <a:r>
              <a:rPr lang="en-US" altLang="zh-CN" sz="1800" dirty="0"/>
              <a:t>2</a:t>
            </a:r>
            <a:r>
              <a:rPr lang="en-US" altLang="zh-CN" sz="1800" baseline="30000" dirty="0"/>
              <a:t>k</a:t>
            </a:r>
            <a:r>
              <a:rPr lang="zh-CN" altLang="en-US" sz="1800" dirty="0"/>
              <a:t>个电平，一个码元包含</a:t>
            </a:r>
            <a:r>
              <a:rPr lang="en-US" altLang="zh-CN" sz="1800" dirty="0"/>
              <a:t>k</a:t>
            </a:r>
            <a:r>
              <a:rPr lang="zh-CN" altLang="en-US" sz="1800" dirty="0"/>
              <a:t>比特信息</a:t>
            </a:r>
            <a:endParaRPr lang="en-US" altLang="zh-CN" sz="1800" dirty="0"/>
          </a:p>
        </p:txBody>
      </p:sp>
      <p:sp>
        <p:nvSpPr>
          <p:cNvPr id="6" name="文本框 5"/>
          <p:cNvSpPr txBox="1"/>
          <p:nvPr/>
        </p:nvSpPr>
        <p:spPr>
          <a:xfrm>
            <a:off x="420914" y="1335372"/>
            <a:ext cx="5957959" cy="30008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a:t>右图是</a:t>
            </a:r>
            <a:r>
              <a:rPr lang="en-US" altLang="zh-CN" sz="1800" dirty="0"/>
              <a:t>PAM4</a:t>
            </a:r>
            <a:r>
              <a:rPr lang="zh-CN" altLang="en-US" sz="1800" dirty="0"/>
              <a:t>的示意图</a:t>
            </a:r>
            <a:endParaRPr lang="en-US" altLang="zh-CN" sz="1800" dirty="0"/>
          </a:p>
          <a:p>
            <a:pPr marL="342900" indent="-342900">
              <a:lnSpc>
                <a:spcPct val="150000"/>
              </a:lnSpc>
              <a:buFont typeface="Arial" panose="020B0604020202020204" pitchFamily="34" charset="0"/>
              <a:buChar char="•"/>
            </a:pPr>
            <a:r>
              <a:rPr lang="en-US" altLang="zh-CN" sz="1800" dirty="0"/>
              <a:t>A</a:t>
            </a:r>
            <a:r>
              <a:rPr lang="zh-CN" altLang="en-US" sz="1800" dirty="0"/>
              <a:t>、</a:t>
            </a:r>
            <a:r>
              <a:rPr lang="en-US" altLang="zh-CN" sz="1800" dirty="0"/>
              <a:t>B</a:t>
            </a:r>
            <a:r>
              <a:rPr lang="zh-CN" altLang="en-US" sz="1800" dirty="0"/>
              <a:t>是两路二进制比特信号，如果满足</a:t>
            </a:r>
            <a:r>
              <a:rPr lang="en-US" altLang="zh-CN" sz="1800" dirty="0"/>
              <a:t>A</a:t>
            </a:r>
            <a:r>
              <a:rPr lang="zh-CN" altLang="en-US" sz="1800" dirty="0"/>
              <a:t>信号幅度是</a:t>
            </a:r>
            <a:r>
              <a:rPr lang="en-US" altLang="zh-CN" sz="1800" dirty="0"/>
              <a:t>B</a:t>
            </a:r>
            <a:r>
              <a:rPr lang="zh-CN" altLang="en-US" sz="1800" dirty="0"/>
              <a:t>信号幅度的</a:t>
            </a:r>
            <a:r>
              <a:rPr lang="en-US" altLang="zh-CN" sz="1800" dirty="0"/>
              <a:t>2</a:t>
            </a:r>
            <a:r>
              <a:rPr lang="zh-CN" altLang="en-US" sz="1800" dirty="0"/>
              <a:t>倍，简单的叠加就可以得到</a:t>
            </a:r>
            <a:r>
              <a:rPr lang="en-US" altLang="zh-CN" sz="1800" dirty="0"/>
              <a:t>PAM4</a:t>
            </a:r>
            <a:r>
              <a:rPr lang="zh-CN" altLang="en-US" sz="1800" dirty="0"/>
              <a:t>信号</a:t>
            </a:r>
            <a:endParaRPr lang="en-US" altLang="zh-CN" sz="1800" dirty="0"/>
          </a:p>
          <a:p>
            <a:pPr marL="342900" indent="-342900">
              <a:lnSpc>
                <a:spcPct val="150000"/>
              </a:lnSpc>
              <a:buFont typeface="Arial" panose="020B0604020202020204" pitchFamily="34" charset="0"/>
              <a:buChar char="•"/>
            </a:pPr>
            <a:r>
              <a:rPr lang="zh-CN" altLang="zh-CN" sz="1800" dirty="0"/>
              <a:t>将</a:t>
            </a:r>
            <a:r>
              <a:rPr lang="en-US" altLang="zh-CN" sz="1800" dirty="0"/>
              <a:t>PAM4</a:t>
            </a:r>
            <a:r>
              <a:rPr lang="zh-CN" altLang="zh-CN" sz="1800" dirty="0"/>
              <a:t>波形按照幅度分成</a:t>
            </a:r>
            <a:r>
              <a:rPr lang="en-US" altLang="zh-CN" sz="1800" dirty="0"/>
              <a:t>4</a:t>
            </a:r>
            <a:r>
              <a:rPr lang="zh-CN" altLang="zh-CN" sz="1800" dirty="0"/>
              <a:t>个区间，在最大幅度的</a:t>
            </a:r>
            <a:r>
              <a:rPr lang="en-US" altLang="zh-CN" sz="1800" dirty="0"/>
              <a:t>0.25</a:t>
            </a:r>
            <a:r>
              <a:rPr lang="zh-CN" altLang="zh-CN" sz="1800" dirty="0"/>
              <a:t>、</a:t>
            </a:r>
            <a:r>
              <a:rPr lang="en-US" altLang="zh-CN" sz="1800" dirty="0"/>
              <a:t>0.5</a:t>
            </a:r>
            <a:r>
              <a:rPr lang="zh-CN" altLang="zh-CN" sz="1800" dirty="0"/>
              <a:t>和</a:t>
            </a:r>
            <a:r>
              <a:rPr lang="en-US" altLang="zh-CN" sz="1800" dirty="0"/>
              <a:t>0.75</a:t>
            </a:r>
            <a:r>
              <a:rPr lang="zh-CN" altLang="zh-CN" sz="1800" dirty="0"/>
              <a:t>位置用比较器比较，可以得到</a:t>
            </a:r>
            <a:r>
              <a:rPr lang="en-US" altLang="zh-CN" sz="1800" dirty="0"/>
              <a:t>4</a:t>
            </a:r>
            <a:r>
              <a:rPr lang="zh-CN" altLang="zh-CN" sz="1800" dirty="0"/>
              <a:t>个输出，将它们用一个编码电路恢复成</a:t>
            </a:r>
            <a:r>
              <a:rPr lang="en-US" altLang="zh-CN" sz="1800" dirty="0"/>
              <a:t>A</a:t>
            </a:r>
            <a:r>
              <a:rPr lang="zh-CN" altLang="zh-CN" sz="1800" dirty="0"/>
              <a:t>、</a:t>
            </a:r>
            <a:r>
              <a:rPr lang="en-US" altLang="zh-CN" sz="1800" dirty="0"/>
              <a:t>B</a:t>
            </a:r>
            <a:r>
              <a:rPr lang="zh-CN" altLang="zh-CN" sz="1800" dirty="0"/>
              <a:t>两路信号，就完成了</a:t>
            </a:r>
            <a:r>
              <a:rPr lang="en-US" altLang="zh-CN" sz="1800" dirty="0"/>
              <a:t>PAM4</a:t>
            </a:r>
            <a:r>
              <a:rPr lang="zh-CN" altLang="zh-CN" sz="1800" dirty="0"/>
              <a:t>解调</a:t>
            </a:r>
            <a:endParaRPr lang="zh-CN" altLang="en-US" sz="1600" dirty="0"/>
          </a:p>
        </p:txBody>
      </p:sp>
      <p:graphicFrame>
        <p:nvGraphicFramePr>
          <p:cNvPr id="8" name="对象 7"/>
          <p:cNvGraphicFramePr>
            <a:graphicFrameLocks noChangeAspect="1"/>
          </p:cNvGraphicFramePr>
          <p:nvPr>
            <p:extLst/>
          </p:nvPr>
        </p:nvGraphicFramePr>
        <p:xfrm>
          <a:off x="6553045" y="1992998"/>
          <a:ext cx="3261036" cy="2343195"/>
        </p:xfrm>
        <a:graphic>
          <a:graphicData uri="http://schemas.openxmlformats.org/presentationml/2006/ole">
            <mc:AlternateContent xmlns:mc="http://schemas.openxmlformats.org/markup-compatibility/2006">
              <mc:Choice xmlns:v="urn:schemas-microsoft-com:vml" Requires="v">
                <p:oleObj spid="_x0000_s50184" name="Visio" r:id="rId3" imgW="1917923" imgH="1378098" progId="Visio.Drawing.15">
                  <p:embed/>
                </p:oleObj>
              </mc:Choice>
              <mc:Fallback>
                <p:oleObj name="Visio" r:id="rId3" imgW="1917923" imgH="1378098" progId="Visio.Drawing.15">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045" y="1992998"/>
                        <a:ext cx="3261036" cy="2343195"/>
                      </a:xfrm>
                      <a:prstGeom prst="rect">
                        <a:avLst/>
                      </a:prstGeom>
                      <a:noFill/>
                    </p:spPr>
                  </p:pic>
                </p:oleObj>
              </mc:Fallback>
            </mc:AlternateContent>
          </a:graphicData>
        </a:graphic>
      </p:graphicFrame>
      <p:sp>
        <p:nvSpPr>
          <p:cNvPr id="9" name="文本框 8"/>
          <p:cNvSpPr txBox="1"/>
          <p:nvPr/>
        </p:nvSpPr>
        <p:spPr>
          <a:xfrm>
            <a:off x="420914" y="4968744"/>
            <a:ext cx="11313886" cy="1338828"/>
          </a:xfrm>
          <a:prstGeom prst="rect">
            <a:avLst/>
          </a:prstGeom>
          <a:noFill/>
        </p:spPr>
        <p:txBody>
          <a:bodyPr wrap="square" rtlCol="0">
            <a:spAutoFit/>
          </a:bodyPr>
          <a:lstStyle/>
          <a:p>
            <a:pPr>
              <a:lnSpc>
                <a:spcPct val="150000"/>
              </a:lnSpc>
            </a:pPr>
            <a:r>
              <a:rPr lang="zh-CN" altLang="en-US" sz="1800" dirty="0">
                <a:latin typeface="Times New Roman" panose="02020603050405020304" pitchFamily="18" charset="0"/>
                <a:ea typeface="楷体" panose="02010609060101010101" pitchFamily="49" charset="-122"/>
              </a:rPr>
              <a:t>注：将两路</a:t>
            </a:r>
            <a:r>
              <a:rPr lang="en-US" altLang="zh-CN" sz="1800" dirty="0">
                <a:latin typeface="Times New Roman" panose="02020603050405020304" pitchFamily="18" charset="0"/>
                <a:ea typeface="楷体" panose="02010609060101010101" pitchFamily="49" charset="-122"/>
              </a:rPr>
              <a:t>PAM</a:t>
            </a:r>
            <a:r>
              <a:rPr lang="zh-CN" altLang="en-US" sz="1800" dirty="0">
                <a:latin typeface="Times New Roman" panose="02020603050405020304" pitchFamily="18" charset="0"/>
                <a:ea typeface="楷体" panose="02010609060101010101" pitchFamily="49" charset="-122"/>
              </a:rPr>
              <a:t>信号分别对载波的两个正交分量</a:t>
            </a:r>
            <a:r>
              <a:rPr lang="en-US" altLang="zh-CN" sz="1800" dirty="0">
                <a:latin typeface="Times New Roman" panose="02020603050405020304" pitchFamily="18" charset="0"/>
                <a:ea typeface="楷体" panose="02010609060101010101" pitchFamily="49" charset="-122"/>
              </a:rPr>
              <a:t>(I</a:t>
            </a:r>
            <a:r>
              <a:rPr lang="zh-CN" altLang="en-US" sz="1800" dirty="0">
                <a:latin typeface="Times New Roman" panose="02020603050405020304" pitchFamily="18" charset="0"/>
                <a:ea typeface="楷体" panose="02010609060101010101" pitchFamily="49" charset="-122"/>
              </a:rPr>
              <a:t>、</a:t>
            </a:r>
            <a:r>
              <a:rPr lang="en-US" altLang="zh-CN" sz="1800" dirty="0">
                <a:latin typeface="Times New Roman" panose="02020603050405020304" pitchFamily="18" charset="0"/>
                <a:ea typeface="楷体" panose="02010609060101010101" pitchFamily="49" charset="-122"/>
              </a:rPr>
              <a:t>Q)</a:t>
            </a:r>
            <a:r>
              <a:rPr lang="zh-CN" altLang="en-US" sz="1800" dirty="0">
                <a:latin typeface="Times New Roman" panose="02020603050405020304" pitchFamily="18" charset="0"/>
                <a:ea typeface="楷体" panose="02010609060101010101" pitchFamily="49" charset="-122"/>
              </a:rPr>
              <a:t>进行调制，然后再叠加，就得到了正交幅度调制</a:t>
            </a:r>
            <a:r>
              <a:rPr lang="en-US" altLang="zh-CN" sz="1800" dirty="0">
                <a:latin typeface="Times New Roman" panose="02020603050405020304" pitchFamily="18" charset="0"/>
                <a:ea typeface="楷体" panose="02010609060101010101" pitchFamily="49" charset="-122"/>
              </a:rPr>
              <a:t>(QAM)</a:t>
            </a:r>
            <a:r>
              <a:rPr lang="zh-CN" altLang="en-US" sz="1800" dirty="0">
                <a:latin typeface="Times New Roman" panose="02020603050405020304" pitchFamily="18" charset="0"/>
                <a:ea typeface="楷体" panose="02010609060101010101" pitchFamily="49" charset="-122"/>
              </a:rPr>
              <a:t>。例如两个</a:t>
            </a:r>
            <a:r>
              <a:rPr lang="en-US" altLang="zh-CN" sz="1800" dirty="0">
                <a:latin typeface="Times New Roman" panose="02020603050405020304" pitchFamily="18" charset="0"/>
                <a:ea typeface="楷体" panose="02010609060101010101" pitchFamily="49" charset="-122"/>
              </a:rPr>
              <a:t>PAM4</a:t>
            </a:r>
            <a:r>
              <a:rPr lang="zh-CN" altLang="en-US" sz="1800" dirty="0">
                <a:latin typeface="Times New Roman" panose="02020603050405020304" pitchFamily="18" charset="0"/>
                <a:ea typeface="楷体" panose="02010609060101010101" pitchFamily="49" charset="-122"/>
              </a:rPr>
              <a:t>就可以组成</a:t>
            </a:r>
            <a:r>
              <a:rPr lang="en-US" altLang="zh-CN" sz="1800" dirty="0">
                <a:latin typeface="Times New Roman" panose="02020603050405020304" pitchFamily="18" charset="0"/>
                <a:ea typeface="楷体" panose="02010609060101010101" pitchFamily="49" charset="-122"/>
              </a:rPr>
              <a:t>QAM16</a:t>
            </a:r>
            <a:r>
              <a:rPr lang="zh-CN" altLang="en-US" sz="1800" dirty="0">
                <a:latin typeface="Times New Roman" panose="02020603050405020304" pitchFamily="18" charset="0"/>
                <a:ea typeface="楷体" panose="02010609060101010101" pitchFamily="49" charset="-122"/>
              </a:rPr>
              <a:t>，此时一个码元将包含</a:t>
            </a:r>
            <a:r>
              <a:rPr lang="en-US" altLang="zh-CN" sz="1800" dirty="0">
                <a:latin typeface="Times New Roman" panose="02020603050405020304" pitchFamily="18" charset="0"/>
                <a:ea typeface="楷体" panose="02010609060101010101" pitchFamily="49" charset="-122"/>
              </a:rPr>
              <a:t>16</a:t>
            </a:r>
            <a:r>
              <a:rPr lang="zh-CN" altLang="en-US" sz="1800" dirty="0">
                <a:latin typeface="Times New Roman" panose="02020603050405020304" pitchFamily="18" charset="0"/>
                <a:ea typeface="楷体" panose="02010609060101010101" pitchFamily="49" charset="-122"/>
              </a:rPr>
              <a:t>比特信息。由于</a:t>
            </a:r>
            <a:r>
              <a:rPr lang="en-US" altLang="zh-CN" sz="1800" dirty="0">
                <a:latin typeface="Times New Roman" panose="02020603050405020304" pitchFamily="18" charset="0"/>
                <a:ea typeface="楷体" panose="02010609060101010101" pitchFamily="49" charset="-122"/>
              </a:rPr>
              <a:t>QAM</a:t>
            </a:r>
            <a:r>
              <a:rPr lang="zh-CN" altLang="en-US" sz="1800" dirty="0">
                <a:latin typeface="Times New Roman" panose="02020603050405020304" pitchFamily="18" charset="0"/>
                <a:ea typeface="楷体" panose="02010609060101010101" pitchFamily="49" charset="-122"/>
              </a:rPr>
              <a:t>包含了相位信息，所以其同步信号必须做到相位同步</a:t>
            </a:r>
          </a:p>
        </p:txBody>
      </p:sp>
    </p:spTree>
    <p:extLst>
      <p:ext uri="{BB962C8B-B14F-4D97-AF65-F5344CB8AC3E}">
        <p14:creationId xmlns:p14="http://schemas.microsoft.com/office/powerpoint/2010/main" val="2933689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2023/6/28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文本框 4"/>
          <p:cNvSpPr txBox="1"/>
          <p:nvPr/>
        </p:nvSpPr>
        <p:spPr>
          <a:xfrm>
            <a:off x="464457" y="495419"/>
            <a:ext cx="11277600" cy="3416320"/>
          </a:xfrm>
          <a:prstGeom prst="rect">
            <a:avLst/>
          </a:prstGeom>
          <a:noFill/>
        </p:spPr>
        <p:txBody>
          <a:bodyPr wrap="square" rtlCol="0">
            <a:spAutoFit/>
          </a:bodyPr>
          <a:lstStyle/>
          <a:p>
            <a:pPr>
              <a:lnSpc>
                <a:spcPct val="150000"/>
              </a:lnSpc>
            </a:pPr>
            <a:r>
              <a:rPr lang="zh-CN" altLang="en-US" sz="1800" dirty="0">
                <a:solidFill>
                  <a:srgbClr val="FF0000"/>
                </a:solidFill>
              </a:rPr>
              <a:t>码元同步电路的设计原则</a:t>
            </a:r>
            <a:endParaRPr lang="en-US" altLang="zh-CN" sz="1800" dirty="0">
              <a:solidFill>
                <a:srgbClr val="FF0000"/>
              </a:solidFill>
            </a:endParaRPr>
          </a:p>
          <a:p>
            <a:pPr marL="342900" indent="-342900">
              <a:lnSpc>
                <a:spcPct val="150000"/>
              </a:lnSpc>
              <a:buFont typeface="Wingdings" panose="05000000000000000000" pitchFamily="2" charset="2"/>
              <a:buChar char="Ø"/>
            </a:pPr>
            <a:r>
              <a:rPr lang="zh-CN" altLang="zh-CN" sz="1800" dirty="0"/>
              <a:t>同步信息在脉冲跳变边沿中，恢复同步信号需要将边沿转变为脉冲</a:t>
            </a:r>
            <a:endParaRPr lang="en-US" altLang="zh-CN" sz="1800" dirty="0"/>
          </a:p>
          <a:p>
            <a:pPr marL="342900" indent="-342900">
              <a:lnSpc>
                <a:spcPct val="150000"/>
              </a:lnSpc>
              <a:buFont typeface="Wingdings" panose="05000000000000000000" pitchFamily="2" charset="2"/>
              <a:buChar char="Ø"/>
            </a:pPr>
            <a:r>
              <a:rPr lang="zh-CN" altLang="zh-CN" sz="1800" dirty="0"/>
              <a:t>对于</a:t>
            </a:r>
            <a:r>
              <a:rPr lang="en-US" altLang="zh-CN" sz="1800" dirty="0"/>
              <a:t>AMI</a:t>
            </a:r>
            <a:r>
              <a:rPr lang="zh-CN" altLang="zh-CN" sz="1800" dirty="0"/>
              <a:t>码和</a:t>
            </a:r>
            <a:r>
              <a:rPr lang="zh-CN" altLang="en-US" sz="1800" dirty="0"/>
              <a:t>其他</a:t>
            </a:r>
            <a:r>
              <a:rPr lang="zh-CN" altLang="zh-CN" sz="1800" dirty="0"/>
              <a:t>三电平码来说，先做一个整流，将负脉冲信号整流为正脉冲信号后再送入边沿检测电路</a:t>
            </a:r>
            <a:endParaRPr lang="en-US" altLang="zh-CN" sz="1800" dirty="0"/>
          </a:p>
          <a:p>
            <a:pPr marL="342900" indent="-342900">
              <a:lnSpc>
                <a:spcPct val="150000"/>
              </a:lnSpc>
              <a:buFont typeface="Wingdings" panose="05000000000000000000" pitchFamily="2" charset="2"/>
              <a:buChar char="Ø"/>
            </a:pPr>
            <a:r>
              <a:rPr lang="zh-CN" altLang="en-US" sz="1800" dirty="0"/>
              <a:t>设计锁相环电路，</a:t>
            </a:r>
            <a:r>
              <a:rPr lang="zh-CN" altLang="zh-CN" sz="1800" dirty="0"/>
              <a:t>将边沿检测电路的输出锁定可以得到码元同步信号</a:t>
            </a:r>
            <a:endParaRPr lang="en-US" altLang="zh-CN" sz="1800" dirty="0"/>
          </a:p>
          <a:p>
            <a:pPr marL="800100" lvl="1" indent="-342900">
              <a:lnSpc>
                <a:spcPct val="150000"/>
              </a:lnSpc>
              <a:buFont typeface="Arial" panose="020B0604020202020204" pitchFamily="34" charset="0"/>
              <a:buChar char="•"/>
            </a:pPr>
            <a:r>
              <a:rPr lang="zh-CN" altLang="zh-CN" sz="1800" dirty="0"/>
              <a:t>锁相环的鉴相器应该采用边沿触发类型的</a:t>
            </a:r>
            <a:endParaRPr lang="en-US" altLang="zh-CN" sz="1800" dirty="0"/>
          </a:p>
          <a:p>
            <a:pPr marL="800100" lvl="1" indent="-342900">
              <a:lnSpc>
                <a:spcPct val="150000"/>
              </a:lnSpc>
              <a:buFont typeface="Arial" panose="020B0604020202020204" pitchFamily="34" charset="0"/>
              <a:buChar char="•"/>
            </a:pPr>
            <a:r>
              <a:rPr lang="zh-CN" altLang="en-US" sz="1800" dirty="0"/>
              <a:t>同步电路锁相环为载波跟踪型，其环路带宽应该根据信号的频谱特性确定：前述的不归零码、双极性归零码等码型的频谱分量从准直流的低频开始并延申到二进制码频率附近；</a:t>
            </a:r>
            <a:r>
              <a:rPr lang="en-US" altLang="zh-CN" sz="1800" dirty="0"/>
              <a:t> Manchester</a:t>
            </a:r>
            <a:r>
              <a:rPr lang="zh-CN" altLang="en-US" sz="1800" dirty="0"/>
              <a:t>码、</a:t>
            </a:r>
            <a:r>
              <a:rPr lang="en-US" altLang="zh-CN" sz="1800" dirty="0"/>
              <a:t>Miller</a:t>
            </a:r>
            <a:r>
              <a:rPr lang="zh-CN" altLang="en-US" sz="1800" dirty="0"/>
              <a:t>码等</a:t>
            </a:r>
            <a:r>
              <a:rPr lang="zh-CN" altLang="zh-CN" sz="1800" dirty="0"/>
              <a:t>码</a:t>
            </a:r>
            <a:r>
              <a:rPr lang="zh-CN" altLang="en-US" sz="1800" dirty="0"/>
              <a:t>的频谱分量集中在码元频率的</a:t>
            </a:r>
            <a:r>
              <a:rPr lang="en-US" altLang="zh-CN" sz="1800" dirty="0"/>
              <a:t>2</a:t>
            </a:r>
            <a:r>
              <a:rPr lang="zh-CN" altLang="en-US" sz="1800" dirty="0"/>
              <a:t>倍频</a:t>
            </a:r>
            <a:r>
              <a:rPr lang="zh-CN" altLang="en-US" sz="1800" dirty="0" smtClean="0"/>
              <a:t>附近</a:t>
            </a:r>
            <a:endParaRPr lang="zh-CN" altLang="en-US" sz="1800" dirty="0"/>
          </a:p>
        </p:txBody>
      </p:sp>
    </p:spTree>
    <p:extLst>
      <p:ext uri="{BB962C8B-B14F-4D97-AF65-F5344CB8AC3E}">
        <p14:creationId xmlns:p14="http://schemas.microsoft.com/office/powerpoint/2010/main" val="4095475309"/>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15669</TotalTime>
  <Words>5887</Words>
  <Application>Microsoft Office PowerPoint</Application>
  <PresentationFormat>宽屏</PresentationFormat>
  <Paragraphs>437</Paragraphs>
  <Slides>40</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40</vt:i4>
      </vt:variant>
    </vt:vector>
  </HeadingPairs>
  <TitlesOfParts>
    <vt:vector size="55" baseType="lpstr">
      <vt:lpstr>黑体</vt:lpstr>
      <vt:lpstr>华文细黑</vt:lpstr>
      <vt:lpstr>楷体</vt:lpstr>
      <vt:lpstr>楷体_GB2312</vt:lpstr>
      <vt:lpstr>隶书</vt:lpstr>
      <vt:lpstr>宋体</vt:lpstr>
      <vt:lpstr>Arial</vt:lpstr>
      <vt:lpstr>Cambria Math</vt:lpstr>
      <vt:lpstr>Symbol</vt:lpstr>
      <vt:lpstr>Times New Roman</vt:lpstr>
      <vt:lpstr>Wingdings</vt:lpstr>
      <vt:lpstr>1_Network</vt:lpstr>
      <vt:lpstr>Equation</vt:lpstr>
      <vt:lpstr>Visio</vt:lpstr>
      <vt:lpstr>MathType 4.0 Equation</vt:lpstr>
      <vt:lpstr>2016年江苏省TI杯F题  位同步时钟提取电路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391</cp:revision>
  <dcterms:created xsi:type="dcterms:W3CDTF">1601-01-01T00:00:00Z</dcterms:created>
  <dcterms:modified xsi:type="dcterms:W3CDTF">2023-06-29T00:14:07Z</dcterms:modified>
</cp:coreProperties>
</file>