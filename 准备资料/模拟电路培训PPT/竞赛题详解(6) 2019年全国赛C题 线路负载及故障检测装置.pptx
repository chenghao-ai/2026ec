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32"/>
  </p:notesMasterIdLst>
  <p:handoutMasterIdLst>
    <p:handoutMasterId r:id="rId33"/>
  </p:handoutMasterIdLst>
  <p:sldIdLst>
    <p:sldId id="398" r:id="rId2"/>
    <p:sldId id="660" r:id="rId3"/>
    <p:sldId id="677" r:id="rId4"/>
    <p:sldId id="678" r:id="rId5"/>
    <p:sldId id="679" r:id="rId6"/>
    <p:sldId id="694" r:id="rId7"/>
    <p:sldId id="712" r:id="rId8"/>
    <p:sldId id="722" r:id="rId9"/>
    <p:sldId id="718" r:id="rId10"/>
    <p:sldId id="719" r:id="rId11"/>
    <p:sldId id="717" r:id="rId12"/>
    <p:sldId id="720" r:id="rId13"/>
    <p:sldId id="721" r:id="rId14"/>
    <p:sldId id="724" r:id="rId15"/>
    <p:sldId id="723" r:id="rId16"/>
    <p:sldId id="696" r:id="rId17"/>
    <p:sldId id="681" r:id="rId18"/>
    <p:sldId id="697" r:id="rId19"/>
    <p:sldId id="699" r:id="rId20"/>
    <p:sldId id="703" r:id="rId21"/>
    <p:sldId id="704" r:id="rId22"/>
    <p:sldId id="711" r:id="rId23"/>
    <p:sldId id="700" r:id="rId24"/>
    <p:sldId id="710" r:id="rId25"/>
    <p:sldId id="706" r:id="rId26"/>
    <p:sldId id="708" r:id="rId27"/>
    <p:sldId id="713" r:id="rId28"/>
    <p:sldId id="714" r:id="rId29"/>
    <p:sldId id="715" r:id="rId30"/>
    <p:sldId id="716" r:id="rId31"/>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FFFF"/>
    <a:srgbClr val="CCECFF"/>
    <a:srgbClr val="99FF99"/>
    <a:srgbClr val="FFFF66"/>
    <a:srgbClr val="66FFFF"/>
    <a:srgbClr val="FFCC00"/>
    <a:srgbClr val="FF33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3147" autoAdjust="0"/>
  </p:normalViewPr>
  <p:slideViewPr>
    <p:cSldViewPr snapToGrid="0">
      <p:cViewPr varScale="1">
        <p:scale>
          <a:sx n="88" d="100"/>
          <a:sy n="88" d="100"/>
        </p:scale>
        <p:origin x="80" y="20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4"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8</a:t>
            </a:fld>
            <a:endParaRPr lang="en-US" altLang="zh-CN"/>
          </a:p>
        </p:txBody>
      </p:sp>
    </p:spTree>
    <p:extLst>
      <p:ext uri="{BB962C8B-B14F-4D97-AF65-F5344CB8AC3E}">
        <p14:creationId xmlns:p14="http://schemas.microsoft.com/office/powerpoint/2010/main" val="2706431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16</a:t>
            </a:fld>
            <a:endParaRPr lang="en-US" altLang="zh-CN"/>
          </a:p>
        </p:txBody>
      </p:sp>
    </p:spTree>
    <p:extLst>
      <p:ext uri="{BB962C8B-B14F-4D97-AF65-F5344CB8AC3E}">
        <p14:creationId xmlns:p14="http://schemas.microsoft.com/office/powerpoint/2010/main" val="3979229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17</a:t>
            </a:fld>
            <a:endParaRPr lang="en-US" altLang="zh-CN"/>
          </a:p>
        </p:txBody>
      </p:sp>
    </p:spTree>
    <p:extLst>
      <p:ext uri="{BB962C8B-B14F-4D97-AF65-F5344CB8AC3E}">
        <p14:creationId xmlns:p14="http://schemas.microsoft.com/office/powerpoint/2010/main" val="3220893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18</a:t>
            </a:fld>
            <a:endParaRPr lang="en-US" altLang="zh-CN"/>
          </a:p>
        </p:txBody>
      </p:sp>
    </p:spTree>
    <p:extLst>
      <p:ext uri="{BB962C8B-B14F-4D97-AF65-F5344CB8AC3E}">
        <p14:creationId xmlns:p14="http://schemas.microsoft.com/office/powerpoint/2010/main" val="3159904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19</a:t>
            </a:fld>
            <a:endParaRPr lang="en-US" altLang="zh-CN"/>
          </a:p>
        </p:txBody>
      </p:sp>
    </p:spTree>
    <p:extLst>
      <p:ext uri="{BB962C8B-B14F-4D97-AF65-F5344CB8AC3E}">
        <p14:creationId xmlns:p14="http://schemas.microsoft.com/office/powerpoint/2010/main" val="3004269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23</a:t>
            </a:fld>
            <a:endParaRPr lang="en-US" altLang="zh-CN"/>
          </a:p>
        </p:txBody>
      </p:sp>
    </p:spTree>
    <p:extLst>
      <p:ext uri="{BB962C8B-B14F-4D97-AF65-F5344CB8AC3E}">
        <p14:creationId xmlns:p14="http://schemas.microsoft.com/office/powerpoint/2010/main" val="19435408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2023/5/19</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2023/5/19</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2023/5/19</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2023/5/19</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2023/5/19</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2023/5/19</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2023/5/19</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2023/5/19</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2023/5/19</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2023/5/19</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16.wmf"/><Relationship Id="rId4"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3.xml"/><Relationship Id="rId7" Type="http://schemas.openxmlformats.org/officeDocument/2006/relationships/image" Target="../media/image19.wmf"/><Relationship Id="rId12" Type="http://schemas.openxmlformats.org/officeDocument/2006/relationships/image" Target="../media/image23.e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6.bin"/><Relationship Id="rId11" Type="http://schemas.openxmlformats.org/officeDocument/2006/relationships/image" Target="../media/image22.emf"/><Relationship Id="rId5" Type="http://schemas.openxmlformats.org/officeDocument/2006/relationships/image" Target="../media/image18.wmf"/><Relationship Id="rId10" Type="http://schemas.openxmlformats.org/officeDocument/2006/relationships/image" Target="../media/image21.emf"/><Relationship Id="rId4" Type="http://schemas.openxmlformats.org/officeDocument/2006/relationships/oleObject" Target="../embeddings/oleObject5.bin"/><Relationship Id="rId9" Type="http://schemas.openxmlformats.org/officeDocument/2006/relationships/image" Target="../media/image20.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4.xml"/><Relationship Id="rId7" Type="http://schemas.openxmlformats.org/officeDocument/2006/relationships/image" Target="../media/image25.wmf"/><Relationship Id="rId12" Type="http://schemas.openxmlformats.org/officeDocument/2006/relationships/image" Target="../media/image29.e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9.bin"/><Relationship Id="rId11" Type="http://schemas.openxmlformats.org/officeDocument/2006/relationships/image" Target="../media/image28.emf"/><Relationship Id="rId5" Type="http://schemas.openxmlformats.org/officeDocument/2006/relationships/image" Target="../media/image24.wmf"/><Relationship Id="rId10" Type="http://schemas.openxmlformats.org/officeDocument/2006/relationships/image" Target="../media/image27.emf"/><Relationship Id="rId4" Type="http://schemas.openxmlformats.org/officeDocument/2006/relationships/oleObject" Target="../embeddings/oleObject8.bin"/><Relationship Id="rId9" Type="http://schemas.openxmlformats.org/officeDocument/2006/relationships/image" Target="../media/image26.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35.emf"/><Relationship Id="rId3" Type="http://schemas.openxmlformats.org/officeDocument/2006/relationships/notesSlide" Target="../notesSlides/notesSlide5.xml"/><Relationship Id="rId7" Type="http://schemas.openxmlformats.org/officeDocument/2006/relationships/image" Target="../media/image31.wmf"/><Relationship Id="rId12" Type="http://schemas.openxmlformats.org/officeDocument/2006/relationships/image" Target="../media/image34.e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2.bin"/><Relationship Id="rId11" Type="http://schemas.openxmlformats.org/officeDocument/2006/relationships/image" Target="../media/image33.wmf"/><Relationship Id="rId5" Type="http://schemas.openxmlformats.org/officeDocument/2006/relationships/image" Target="../media/image30.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32.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36.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40.wmf"/><Relationship Id="rId5" Type="http://schemas.openxmlformats.org/officeDocument/2006/relationships/oleObject" Target="../embeddings/oleObject17.bin"/><Relationship Id="rId4" Type="http://schemas.openxmlformats.org/officeDocument/2006/relationships/image" Target="../media/image3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3863" y="1716967"/>
            <a:ext cx="8596312" cy="3249738"/>
          </a:xfrm>
        </p:spPr>
        <p:txBody>
          <a:bodyPr/>
          <a:lstStyle/>
          <a:p>
            <a:pPr>
              <a:spcBef>
                <a:spcPts val="0"/>
              </a:spcBef>
            </a:pPr>
            <a:r>
              <a:rPr lang="en-US" altLang="zh-CN" sz="3600" dirty="0" smtClean="0">
                <a:solidFill>
                  <a:schemeClr val="tx1"/>
                </a:solidFill>
                <a:latin typeface="Times New Roman" panose="02020603050405020304" pitchFamily="18" charset="0"/>
                <a:ea typeface="宋体" panose="02010600030101010101" pitchFamily="2" charset="-122"/>
              </a:rPr>
              <a:t>2019</a:t>
            </a:r>
            <a:r>
              <a:rPr lang="zh-CN" altLang="zh-CN" sz="3600" dirty="0" smtClean="0">
                <a:solidFill>
                  <a:schemeClr val="tx1"/>
                </a:solidFill>
                <a:latin typeface="Times New Roman" panose="02020603050405020304" pitchFamily="18" charset="0"/>
                <a:ea typeface="宋体" panose="02010600030101010101" pitchFamily="2" charset="-122"/>
              </a:rPr>
              <a:t>年</a:t>
            </a:r>
            <a:r>
              <a:rPr lang="zh-CN" altLang="en-US" sz="3600" dirty="0" smtClean="0">
                <a:solidFill>
                  <a:schemeClr val="tx1"/>
                </a:solidFill>
                <a:latin typeface="Times New Roman" panose="02020603050405020304" pitchFamily="18" charset="0"/>
                <a:ea typeface="宋体" panose="02010600030101010101" pitchFamily="2" charset="-122"/>
              </a:rPr>
              <a:t>全国赛</a:t>
            </a:r>
            <a:r>
              <a:rPr lang="en-US" altLang="zh-CN" sz="3600" dirty="0" smtClean="0">
                <a:solidFill>
                  <a:schemeClr val="tx1"/>
                </a:solidFill>
                <a:latin typeface="Times New Roman" panose="02020603050405020304" pitchFamily="18" charset="0"/>
                <a:ea typeface="宋体" panose="02010600030101010101" pitchFamily="2" charset="-122"/>
              </a:rPr>
              <a:t>C</a:t>
            </a:r>
            <a:r>
              <a:rPr lang="zh-CN" altLang="zh-CN" sz="3600" dirty="0">
                <a:solidFill>
                  <a:schemeClr val="tx1"/>
                </a:solidFill>
                <a:latin typeface="Times New Roman" panose="02020603050405020304" pitchFamily="18" charset="0"/>
                <a:ea typeface="宋体" panose="02010600030101010101" pitchFamily="2" charset="-122"/>
              </a:rPr>
              <a:t>题</a:t>
            </a:r>
            <a:r>
              <a:rPr lang="en-US" altLang="zh-CN" sz="3600" dirty="0">
                <a:solidFill>
                  <a:schemeClr val="tx1"/>
                </a:solidFill>
                <a:latin typeface="Times New Roman" panose="02020603050405020304" pitchFamily="18" charset="0"/>
                <a:ea typeface="宋体" panose="02010600030101010101" pitchFamily="2" charset="-122"/>
              </a:rPr>
              <a:t/>
            </a:r>
            <a:br>
              <a:rPr lang="en-US" altLang="zh-CN" sz="3600" dirty="0">
                <a:solidFill>
                  <a:schemeClr val="tx1"/>
                </a:solidFill>
                <a:latin typeface="Times New Roman" panose="02020603050405020304" pitchFamily="18" charset="0"/>
                <a:ea typeface="宋体" panose="02010600030101010101" pitchFamily="2" charset="-122"/>
              </a:rPr>
            </a:br>
            <a:r>
              <a:rPr lang="en-US" altLang="zh-CN" sz="2000" dirty="0">
                <a:solidFill>
                  <a:schemeClr val="tx1"/>
                </a:solidFill>
                <a:latin typeface="Times New Roman" panose="02020603050405020304" pitchFamily="18" charset="0"/>
                <a:ea typeface="宋体" panose="02010600030101010101" pitchFamily="2" charset="-122"/>
              </a:rPr>
              <a:t/>
            </a:r>
            <a:br>
              <a:rPr lang="en-US" altLang="zh-CN" sz="2000" dirty="0">
                <a:solidFill>
                  <a:schemeClr val="tx1"/>
                </a:solidFill>
                <a:latin typeface="Times New Roman" panose="02020603050405020304" pitchFamily="18" charset="0"/>
                <a:ea typeface="宋体" panose="02010600030101010101" pitchFamily="2" charset="-122"/>
              </a:rPr>
            </a:br>
            <a:r>
              <a:rPr lang="zh-CN" altLang="zh-CN" sz="4800" dirty="0">
                <a:solidFill>
                  <a:srgbClr val="FF0000"/>
                </a:solidFill>
              </a:rPr>
              <a:t>线路负载及故障检测装置</a:t>
            </a:r>
            <a:r>
              <a:rPr lang="en-US" altLang="zh-CN" sz="4400" dirty="0">
                <a:solidFill>
                  <a:srgbClr val="FF0000"/>
                </a:solidFill>
              </a:rPr>
              <a:t/>
            </a:r>
            <a:br>
              <a:rPr lang="en-US" altLang="zh-CN" sz="4400" dirty="0">
                <a:solidFill>
                  <a:srgbClr val="FF0000"/>
                </a:solidFill>
              </a:rPr>
            </a:br>
            <a:r>
              <a:rPr lang="zh-CN" altLang="en-US" sz="3600" dirty="0">
                <a:latin typeface="隶书" panose="02010509060101010101" pitchFamily="49" charset="-122"/>
                <a:ea typeface="隶书" panose="02010509060101010101" pitchFamily="49" charset="-122"/>
              </a:rPr>
              <a:t/>
            </a:r>
            <a:br>
              <a:rPr lang="zh-CN" altLang="en-US" sz="3600" dirty="0">
                <a:latin typeface="隶书" panose="02010509060101010101" pitchFamily="49" charset="-122"/>
                <a:ea typeface="隶书" panose="02010509060101010101" pitchFamily="49" charset="-122"/>
              </a:rPr>
            </a:br>
            <a:r>
              <a:rPr lang="zh-CN" altLang="en-US" sz="2400" dirty="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2023/5/19</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399143" y="398166"/>
            <a:ext cx="11422442" cy="3123932"/>
          </a:xfrm>
          <a:prstGeom prst="rect">
            <a:avLst/>
          </a:prstGeom>
          <a:noFill/>
        </p:spPr>
        <p:txBody>
          <a:bodyPr wrap="square" rtlCol="0">
            <a:spAutoFit/>
          </a:bodyPr>
          <a:lstStyle/>
          <a:p>
            <a:pPr algn="ctr"/>
            <a:r>
              <a:rPr lang="zh-CN" altLang="en-US" sz="3200" dirty="0" smtClean="0">
                <a:solidFill>
                  <a:srgbClr val="FF0000"/>
                </a:solidFill>
                <a:latin typeface="隶书" panose="02010509060101010101" pitchFamily="49" charset="-122"/>
                <a:ea typeface="隶书" panose="02010509060101010101" pitchFamily="49" charset="-122"/>
              </a:rPr>
              <a:t>题  目</a:t>
            </a:r>
            <a:endParaRPr lang="en-US" altLang="zh-CN" sz="3200" dirty="0">
              <a:solidFill>
                <a:srgbClr val="FF0000"/>
              </a:solidFill>
              <a:latin typeface="隶书" panose="02010509060101010101" pitchFamily="49" charset="-122"/>
              <a:ea typeface="隶书" panose="02010509060101010101" pitchFamily="49" charset="-122"/>
            </a:endParaRPr>
          </a:p>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一、任务</a:t>
            </a:r>
          </a:p>
          <a:p>
            <a:pPr indent="432000">
              <a:lnSpc>
                <a:spcPct val="150000"/>
              </a:lnSpc>
            </a:pPr>
            <a:r>
              <a:rPr lang="zh-CN" altLang="zh-CN" sz="1800" dirty="0"/>
              <a:t>设计并制作线路负载及故障检测装置，如下图所示。检测装置只通过两个连接端子与两根导线连接。导线上</a:t>
            </a:r>
            <a:r>
              <a:rPr lang="en-US" altLang="zh-CN" sz="1800" dirty="0"/>
              <a:t>A</a:t>
            </a:r>
            <a:r>
              <a:rPr lang="zh-CN" altLang="zh-CN" sz="1800" dirty="0"/>
              <a:t>、</a:t>
            </a:r>
            <a:r>
              <a:rPr lang="en-US" altLang="zh-CN" sz="1800" dirty="0"/>
              <a:t>B</a:t>
            </a:r>
            <a:r>
              <a:rPr lang="zh-CN" altLang="zh-CN" sz="1800" dirty="0"/>
              <a:t>两点距离各自连接端子约</a:t>
            </a:r>
            <a:r>
              <a:rPr lang="en-US" altLang="zh-CN" sz="1800" dirty="0"/>
              <a:t>5cm</a:t>
            </a:r>
            <a:r>
              <a:rPr lang="zh-CN" altLang="zh-CN" sz="1800" dirty="0"/>
              <a:t>，远端</a:t>
            </a:r>
            <a:r>
              <a:rPr lang="en-US" altLang="zh-CN" sz="1800" dirty="0"/>
              <a:t>30cm</a:t>
            </a:r>
            <a:r>
              <a:rPr lang="zh-CN" altLang="zh-CN" sz="1800" dirty="0"/>
              <a:t>范围内为连接负载和故障区域。负载由电阻（额定功率</a:t>
            </a:r>
            <a:r>
              <a:rPr lang="en-US" altLang="zh-CN" sz="1800" dirty="0"/>
              <a:t>0.25W</a:t>
            </a:r>
            <a:r>
              <a:rPr lang="zh-CN" altLang="zh-CN" sz="1800" dirty="0"/>
              <a:t>）、电容（耐压</a:t>
            </a:r>
            <a:r>
              <a:rPr lang="en-US" altLang="zh-CN" sz="1800" dirty="0"/>
              <a:t>16V</a:t>
            </a:r>
            <a:r>
              <a:rPr lang="zh-CN" altLang="zh-CN" sz="1800" dirty="0"/>
              <a:t>）和电感（额定电流</a:t>
            </a:r>
            <a:r>
              <a:rPr lang="en-US" altLang="zh-CN" sz="1800" dirty="0"/>
              <a:t>50mA</a:t>
            </a:r>
            <a:r>
              <a:rPr lang="zh-CN" altLang="zh-CN" sz="1800" dirty="0"/>
              <a:t>）</a:t>
            </a:r>
            <a:r>
              <a:rPr lang="en-US" altLang="zh-CN" sz="1800" dirty="0"/>
              <a:t>3</a:t>
            </a:r>
            <a:r>
              <a:rPr lang="zh-CN" altLang="zh-CN" sz="1800" dirty="0"/>
              <a:t>个元件中任意</a:t>
            </a:r>
            <a:r>
              <a:rPr lang="en-US" altLang="zh-CN" sz="1800" dirty="0"/>
              <a:t>2~3</a:t>
            </a:r>
            <a:r>
              <a:rPr lang="zh-CN" altLang="zh-CN" sz="1800" dirty="0"/>
              <a:t>个元件串联或者并联组成。其中电阻值范围：</a:t>
            </a:r>
            <a:r>
              <a:rPr lang="en-US" altLang="zh-CN" sz="1800" dirty="0"/>
              <a:t>200Ω~2kΩ</a:t>
            </a:r>
            <a:r>
              <a:rPr lang="zh-CN" altLang="zh-CN" sz="1800" dirty="0"/>
              <a:t>，电容值范围：</a:t>
            </a:r>
            <a:r>
              <a:rPr lang="en-US" altLang="zh-CN" sz="1800" dirty="0"/>
              <a:t>200nF~2μF</a:t>
            </a:r>
            <a:r>
              <a:rPr lang="zh-CN" altLang="zh-CN" sz="1800" dirty="0"/>
              <a:t>，电感值范围：</a:t>
            </a:r>
            <a:r>
              <a:rPr lang="en-US" altLang="zh-CN" sz="1800" dirty="0"/>
              <a:t>100μH~1mH</a:t>
            </a:r>
            <a:r>
              <a:rPr lang="zh-CN" altLang="zh-CN" sz="1800" dirty="0"/>
              <a:t>。检测装置由</a:t>
            </a:r>
            <a:r>
              <a:rPr lang="en-US" altLang="zh-CN" sz="1800" dirty="0"/>
              <a:t>5V</a:t>
            </a:r>
            <a:r>
              <a:rPr lang="zh-CN" altLang="zh-CN" sz="1800" dirty="0"/>
              <a:t>单电源供电，能实时检测和显示负载网络结构，负载开路、短路故障报警，以及短路故障点位置测量。响应时间不大于</a:t>
            </a:r>
            <a:r>
              <a:rPr lang="en-US" altLang="zh-CN" sz="1800" dirty="0"/>
              <a:t>5s</a:t>
            </a:r>
            <a:r>
              <a:rPr lang="zh-CN" altLang="zh-CN" sz="1800" dirty="0"/>
              <a:t>。</a:t>
            </a:r>
            <a:endParaRPr lang="zh-CN" altLang="zh-CN" sz="1600" dirty="0"/>
          </a:p>
        </p:txBody>
      </p:sp>
      <p:pic>
        <p:nvPicPr>
          <p:cNvPr id="7" name="图片 6"/>
          <p:cNvPicPr/>
          <p:nvPr/>
        </p:nvPicPr>
        <p:blipFill>
          <a:blip r:embed="rId2"/>
          <a:stretch>
            <a:fillRect/>
          </a:stretch>
        </p:blipFill>
        <p:spPr>
          <a:xfrm>
            <a:off x="2913163" y="3829112"/>
            <a:ext cx="5966255" cy="2114487"/>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2023/5/19</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2" name="矩形 1"/>
          <p:cNvSpPr/>
          <p:nvPr/>
        </p:nvSpPr>
        <p:spPr>
          <a:xfrm>
            <a:off x="478971" y="423725"/>
            <a:ext cx="11197772" cy="5955476"/>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二、</a:t>
            </a:r>
            <a:r>
              <a:rPr lang="zh-CN" altLang="zh-CN" kern="100" dirty="0" smtClean="0">
                <a:latin typeface="Times New Roman" panose="02020603050405020304" pitchFamily="18" charset="0"/>
                <a:ea typeface="黑体" panose="02010609060101010101" pitchFamily="49" charset="-122"/>
              </a:rPr>
              <a:t>要求</a:t>
            </a:r>
            <a:endParaRPr lang="en-US" altLang="zh-CN" kern="100" dirty="0" smtClean="0">
              <a:latin typeface="Times New Roman" panose="02020603050405020304" pitchFamily="18" charset="0"/>
              <a:ea typeface="黑体" panose="02010609060101010101" pitchFamily="49" charset="-122"/>
            </a:endParaRPr>
          </a:p>
          <a:p>
            <a:pPr indent="457200">
              <a:lnSpc>
                <a:spcPct val="130000"/>
              </a:lnSpc>
            </a:pPr>
            <a:r>
              <a:rPr lang="en-US" altLang="zh-CN" sz="1800" dirty="0"/>
              <a:t>1</a:t>
            </a:r>
            <a:r>
              <a:rPr lang="zh-CN" altLang="zh-CN" sz="1800" dirty="0"/>
              <a:t>、基本要求 </a:t>
            </a:r>
          </a:p>
          <a:p>
            <a:pPr indent="457200">
              <a:lnSpc>
                <a:spcPct val="130000"/>
              </a:lnSpc>
            </a:pPr>
            <a:r>
              <a:rPr lang="zh-CN" altLang="zh-CN" sz="1800" dirty="0"/>
              <a:t>（</a:t>
            </a:r>
            <a:r>
              <a:rPr lang="en-US" altLang="zh-CN" sz="1800" dirty="0"/>
              <a:t>1</a:t>
            </a:r>
            <a:r>
              <a:rPr lang="zh-CN" altLang="zh-CN" sz="1800" dirty="0"/>
              <a:t>）具有负载开路和短路故障分别指示的报警功能。</a:t>
            </a:r>
          </a:p>
          <a:p>
            <a:pPr indent="457200">
              <a:lnSpc>
                <a:spcPct val="130000"/>
              </a:lnSpc>
            </a:pPr>
            <a:r>
              <a:rPr lang="zh-CN" altLang="zh-CN" sz="1800" dirty="0"/>
              <a:t>（</a:t>
            </a:r>
            <a:r>
              <a:rPr lang="en-US" altLang="zh-CN" sz="1800" dirty="0"/>
              <a:t>2</a:t>
            </a:r>
            <a:r>
              <a:rPr lang="zh-CN" altLang="zh-CN" sz="1800" dirty="0"/>
              <a:t>）测试现场给出电阻、电容和电感</a:t>
            </a:r>
            <a:r>
              <a:rPr lang="en-US" altLang="zh-CN" sz="1800" dirty="0"/>
              <a:t>3</a:t>
            </a:r>
            <a:r>
              <a:rPr lang="zh-CN" altLang="zh-CN" sz="1800" dirty="0"/>
              <a:t>个元件，分别测量每个元件值并稳定显示，相对误差的绝对值不大于</a:t>
            </a:r>
            <a:r>
              <a:rPr lang="en-US" altLang="zh-CN" sz="1800" dirty="0"/>
              <a:t>5%</a:t>
            </a:r>
            <a:r>
              <a:rPr lang="zh-CN" altLang="zh-CN" sz="1800" dirty="0"/>
              <a:t>。每个元件测量时间不大于</a:t>
            </a:r>
            <a:r>
              <a:rPr lang="en-US" altLang="zh-CN" sz="1800" dirty="0"/>
              <a:t>5s</a:t>
            </a:r>
            <a:r>
              <a:rPr lang="zh-CN" altLang="zh-CN" sz="1800" dirty="0"/>
              <a:t>。</a:t>
            </a:r>
          </a:p>
          <a:p>
            <a:pPr indent="457200">
              <a:lnSpc>
                <a:spcPct val="130000"/>
              </a:lnSpc>
            </a:pPr>
            <a:r>
              <a:rPr lang="zh-CN" altLang="zh-CN" sz="1800" dirty="0"/>
              <a:t>（</a:t>
            </a:r>
            <a:r>
              <a:rPr lang="en-US" altLang="zh-CN" sz="1800" dirty="0"/>
              <a:t>3</a:t>
            </a:r>
            <a:r>
              <a:rPr lang="zh-CN" altLang="zh-CN" sz="1800" dirty="0"/>
              <a:t>）可检测由给定电阻、电容和电感</a:t>
            </a:r>
            <a:r>
              <a:rPr lang="en-US" altLang="zh-CN" sz="1800" dirty="0"/>
              <a:t>3</a:t>
            </a:r>
            <a:r>
              <a:rPr lang="zh-CN" altLang="zh-CN" sz="1800" dirty="0"/>
              <a:t>个元件中，任意</a:t>
            </a:r>
            <a:r>
              <a:rPr lang="en-US" altLang="zh-CN" sz="1800" dirty="0"/>
              <a:t>2~3</a:t>
            </a:r>
            <a:r>
              <a:rPr lang="zh-CN" altLang="zh-CN" sz="1800" dirty="0"/>
              <a:t>个元件串联或者并联组成负载的网络结构。</a:t>
            </a:r>
          </a:p>
          <a:p>
            <a:pPr indent="457200">
              <a:lnSpc>
                <a:spcPct val="130000"/>
              </a:lnSpc>
            </a:pPr>
            <a:r>
              <a:rPr lang="en-US" altLang="zh-CN" sz="1800" dirty="0"/>
              <a:t>2</a:t>
            </a:r>
            <a:r>
              <a:rPr lang="zh-CN" altLang="zh-CN" sz="1800" dirty="0"/>
              <a:t>、发挥部分 </a:t>
            </a:r>
          </a:p>
          <a:p>
            <a:pPr indent="457200">
              <a:lnSpc>
                <a:spcPct val="130000"/>
              </a:lnSpc>
            </a:pPr>
            <a:r>
              <a:rPr lang="zh-CN" altLang="zh-CN" sz="1800" dirty="0"/>
              <a:t>两根导线上的短路故障点与各自的</a:t>
            </a:r>
            <a:r>
              <a:rPr lang="en-US" altLang="zh-CN" sz="1800" dirty="0"/>
              <a:t>A</a:t>
            </a:r>
            <a:r>
              <a:rPr lang="zh-CN" altLang="zh-CN" sz="1800" dirty="0"/>
              <a:t>点或</a:t>
            </a:r>
            <a:r>
              <a:rPr lang="en-US" altLang="zh-CN" sz="1800" dirty="0"/>
              <a:t>B</a:t>
            </a:r>
            <a:r>
              <a:rPr lang="zh-CN" altLang="zh-CN" sz="1800" dirty="0"/>
              <a:t>点距离相等。</a:t>
            </a:r>
          </a:p>
          <a:p>
            <a:pPr indent="457200">
              <a:lnSpc>
                <a:spcPct val="130000"/>
              </a:lnSpc>
            </a:pPr>
            <a:r>
              <a:rPr lang="zh-CN" altLang="zh-CN" sz="1800" dirty="0"/>
              <a:t>（</a:t>
            </a:r>
            <a:r>
              <a:rPr lang="en-US" altLang="zh-CN" sz="1800" dirty="0"/>
              <a:t>1</a:t>
            </a:r>
            <a:r>
              <a:rPr lang="zh-CN" altLang="zh-CN" sz="1800" dirty="0"/>
              <a:t>）测量短路故障点与</a:t>
            </a:r>
            <a:r>
              <a:rPr lang="en-US" altLang="zh-CN" sz="1800" dirty="0"/>
              <a:t>A</a:t>
            </a:r>
            <a:r>
              <a:rPr lang="zh-CN" altLang="zh-CN" sz="1800" dirty="0"/>
              <a:t>点（或</a:t>
            </a:r>
            <a:r>
              <a:rPr lang="en-US" altLang="zh-CN" sz="1800" dirty="0"/>
              <a:t>B</a:t>
            </a:r>
            <a:r>
              <a:rPr lang="zh-CN" altLang="zh-CN" sz="1800" dirty="0"/>
              <a:t>点）的距离并稳定显示，误差的绝对值不大于</a:t>
            </a:r>
            <a:r>
              <a:rPr lang="en-US" altLang="zh-CN" sz="1800" dirty="0"/>
              <a:t>1.0cm</a:t>
            </a:r>
            <a:r>
              <a:rPr lang="zh-CN" altLang="zh-CN" sz="1800" dirty="0"/>
              <a:t>。</a:t>
            </a:r>
          </a:p>
          <a:p>
            <a:pPr indent="457200">
              <a:lnSpc>
                <a:spcPct val="130000"/>
              </a:lnSpc>
            </a:pPr>
            <a:r>
              <a:rPr lang="zh-CN" altLang="zh-CN" sz="1800" dirty="0"/>
              <a:t>（</a:t>
            </a:r>
            <a:r>
              <a:rPr lang="en-US" altLang="zh-CN" sz="1800" dirty="0"/>
              <a:t>2</a:t>
            </a:r>
            <a:r>
              <a:rPr lang="zh-CN" altLang="zh-CN" sz="1800" dirty="0"/>
              <a:t>）由信号发生器产生扫频信号</a:t>
            </a:r>
            <a:r>
              <a:rPr lang="en-US" altLang="zh-CN" sz="1800" dirty="0"/>
              <a:t> 1</a:t>
            </a:r>
            <a:r>
              <a:rPr lang="zh-CN" altLang="zh-CN" sz="1800" dirty="0"/>
              <a:t>（信号参数见说明</a:t>
            </a:r>
            <a:r>
              <a:rPr lang="en-US" altLang="zh-CN" sz="1800" dirty="0"/>
              <a:t>3</a:t>
            </a:r>
            <a:r>
              <a:rPr lang="zh-CN" altLang="zh-CN" sz="1800" dirty="0"/>
              <a:t>，信号发生器的“地”与电源“地”相连），其输出端串接</a:t>
            </a:r>
            <a:r>
              <a:rPr lang="en-US" altLang="zh-CN" sz="1800" dirty="0"/>
              <a:t>1pF</a:t>
            </a:r>
            <a:r>
              <a:rPr lang="zh-CN" altLang="zh-CN" sz="1800" dirty="0"/>
              <a:t>电容后，接入导线上</a:t>
            </a:r>
            <a:r>
              <a:rPr lang="en-US" altLang="zh-CN" sz="1800" dirty="0"/>
              <a:t>A</a:t>
            </a:r>
            <a:r>
              <a:rPr lang="zh-CN" altLang="zh-CN" sz="1800" dirty="0"/>
              <a:t>点处（见示意图），用于模拟环境噪声。测量短路故障点与</a:t>
            </a:r>
            <a:r>
              <a:rPr lang="en-US" altLang="zh-CN" sz="1800" dirty="0"/>
              <a:t> A</a:t>
            </a:r>
            <a:r>
              <a:rPr lang="zh-CN" altLang="zh-CN" sz="1800" dirty="0"/>
              <a:t>点（或</a:t>
            </a:r>
            <a:r>
              <a:rPr lang="en-US" altLang="zh-CN" sz="1800" dirty="0"/>
              <a:t>B</a:t>
            </a:r>
            <a:r>
              <a:rPr lang="zh-CN" altLang="zh-CN" sz="1800" dirty="0"/>
              <a:t>点）的距离并稳定显示，误差的绝对值不大于</a:t>
            </a:r>
            <a:r>
              <a:rPr lang="en-US" altLang="zh-CN" sz="1800" dirty="0"/>
              <a:t>1.0cm</a:t>
            </a:r>
            <a:r>
              <a:rPr lang="zh-CN" altLang="zh-CN" sz="1800" dirty="0"/>
              <a:t>。</a:t>
            </a:r>
          </a:p>
          <a:p>
            <a:pPr indent="457200">
              <a:lnSpc>
                <a:spcPct val="130000"/>
              </a:lnSpc>
            </a:pPr>
            <a:r>
              <a:rPr lang="zh-CN" altLang="zh-CN" sz="1800" dirty="0"/>
              <a:t>（</a:t>
            </a:r>
            <a:r>
              <a:rPr lang="en-US" altLang="zh-CN" sz="1800" dirty="0"/>
              <a:t>3</a:t>
            </a:r>
            <a:r>
              <a:rPr lang="zh-CN" altLang="zh-CN" sz="1800" dirty="0"/>
              <a:t>）在发挥部分（</a:t>
            </a:r>
            <a:r>
              <a:rPr lang="en-US" altLang="zh-CN" sz="1800" dirty="0"/>
              <a:t>2</a:t>
            </a:r>
            <a:r>
              <a:rPr lang="zh-CN" altLang="zh-CN" sz="1800" dirty="0"/>
              <a:t>）的基础上，由另一台信号发生器产生扫频信号</a:t>
            </a:r>
            <a:r>
              <a:rPr lang="en-US" altLang="zh-CN" sz="1800" dirty="0"/>
              <a:t> 2</a:t>
            </a:r>
            <a:r>
              <a:rPr lang="zh-CN" altLang="zh-CN" sz="1800" dirty="0"/>
              <a:t>（信号参数见说明</a:t>
            </a:r>
            <a:r>
              <a:rPr lang="en-US" altLang="zh-CN" sz="1800" dirty="0"/>
              <a:t>3</a:t>
            </a:r>
            <a:r>
              <a:rPr lang="zh-CN" altLang="zh-CN" sz="1800" dirty="0"/>
              <a:t>），其输出端串接</a:t>
            </a:r>
            <a:r>
              <a:rPr lang="en-US" altLang="zh-CN" sz="1800" dirty="0"/>
              <a:t>1pF</a:t>
            </a:r>
            <a:r>
              <a:rPr lang="zh-CN" altLang="zh-CN" sz="1800" dirty="0"/>
              <a:t>电容后，接入导线上</a:t>
            </a:r>
            <a:r>
              <a:rPr lang="en-US" altLang="zh-CN" sz="1800" dirty="0"/>
              <a:t>B</a:t>
            </a:r>
            <a:r>
              <a:rPr lang="zh-CN" altLang="zh-CN" sz="1800" dirty="0"/>
              <a:t>点处（见示意图）。测量短路故障点与</a:t>
            </a:r>
            <a:r>
              <a:rPr lang="en-US" altLang="zh-CN" sz="1800" dirty="0"/>
              <a:t>A</a:t>
            </a:r>
            <a:r>
              <a:rPr lang="zh-CN" altLang="zh-CN" sz="1800" dirty="0"/>
              <a:t>点（或</a:t>
            </a:r>
            <a:r>
              <a:rPr lang="en-US" altLang="zh-CN" sz="1800" dirty="0"/>
              <a:t>B</a:t>
            </a:r>
            <a:r>
              <a:rPr lang="zh-CN" altLang="zh-CN" sz="1800" dirty="0"/>
              <a:t>点）的距离并稳定显示，误差的绝对值不大于</a:t>
            </a:r>
            <a:r>
              <a:rPr lang="en-US" altLang="zh-CN" sz="1800" dirty="0"/>
              <a:t>1.0cm</a:t>
            </a:r>
            <a:r>
              <a:rPr lang="zh-CN" altLang="zh-CN" sz="1800" dirty="0"/>
              <a:t>。</a:t>
            </a:r>
          </a:p>
          <a:p>
            <a:pPr indent="457200">
              <a:lnSpc>
                <a:spcPct val="130000"/>
              </a:lnSpc>
            </a:pPr>
            <a:r>
              <a:rPr lang="zh-CN" altLang="zh-CN" sz="1800" dirty="0"/>
              <a:t>（</a:t>
            </a:r>
            <a:r>
              <a:rPr lang="en-US" altLang="zh-CN" sz="1800" dirty="0"/>
              <a:t>4</a:t>
            </a:r>
            <a:r>
              <a:rPr lang="zh-CN" altLang="zh-CN" sz="1800" dirty="0"/>
              <a:t>）其他。</a:t>
            </a:r>
            <a:endParaRPr lang="zh-CN" altLang="zh-CN" sz="1800"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2023/5/19</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a:t>
            </a:fld>
            <a:endParaRPr lang="en-US" altLang="zh-CN"/>
          </a:p>
        </p:txBody>
      </p:sp>
      <p:sp>
        <p:nvSpPr>
          <p:cNvPr id="6" name="矩形 5"/>
          <p:cNvSpPr/>
          <p:nvPr/>
        </p:nvSpPr>
        <p:spPr>
          <a:xfrm>
            <a:off x="442686" y="454947"/>
            <a:ext cx="11270341" cy="4708981"/>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三、说明</a:t>
            </a:r>
            <a:endParaRPr lang="zh-CN" altLang="zh-CN" kern="100" dirty="0">
              <a:latin typeface="Times New Roman" panose="02020603050405020304" pitchFamily="18" charset="0"/>
              <a:ea typeface="宋体" panose="02010600030101010101" pitchFamily="2" charset="-122"/>
            </a:endParaRPr>
          </a:p>
          <a:p>
            <a:pPr indent="457200">
              <a:lnSpc>
                <a:spcPct val="150000"/>
              </a:lnSpc>
            </a:pPr>
            <a:r>
              <a:rPr lang="zh-CN" altLang="zh-CN" sz="1800" dirty="0"/>
              <a:t>（</a:t>
            </a:r>
            <a:r>
              <a:rPr lang="en-US" altLang="zh-CN" sz="1800" dirty="0"/>
              <a:t>1</a:t>
            </a:r>
            <a:r>
              <a:rPr lang="zh-CN" altLang="zh-CN" sz="1800" dirty="0"/>
              <a:t>）测试现场提供元件，并用高精度仪器测量元件值（测量频率</a:t>
            </a:r>
            <a:r>
              <a:rPr lang="en-US" altLang="zh-CN" sz="1800" dirty="0"/>
              <a:t>1kHz</a:t>
            </a:r>
            <a:r>
              <a:rPr lang="zh-CN" altLang="zh-CN" sz="1800" dirty="0"/>
              <a:t>）。每个元件的两端接有线夹，用于负载网络搭建和与导线的连接。</a:t>
            </a:r>
          </a:p>
          <a:p>
            <a:pPr indent="457200">
              <a:lnSpc>
                <a:spcPct val="150000"/>
              </a:lnSpc>
            </a:pPr>
            <a:r>
              <a:rPr lang="zh-CN" altLang="zh-CN" sz="1800" dirty="0"/>
              <a:t>（</a:t>
            </a:r>
            <a:r>
              <a:rPr lang="en-US" altLang="zh-CN" sz="1800" dirty="0"/>
              <a:t>2</a:t>
            </a:r>
            <a:r>
              <a:rPr lang="zh-CN" altLang="zh-CN" sz="1800" dirty="0"/>
              <a:t>）导线采用网线（直径</a:t>
            </a:r>
            <a:r>
              <a:rPr lang="en-US" altLang="zh-CN" sz="1800" dirty="0"/>
              <a:t> 0.51mm ~ 0.58mm</a:t>
            </a:r>
            <a:r>
              <a:rPr lang="zh-CN" altLang="zh-CN" sz="1800" dirty="0"/>
              <a:t>）内的铜芯，导线和短路线由参赛者自带。</a:t>
            </a:r>
          </a:p>
          <a:p>
            <a:pPr indent="457200">
              <a:lnSpc>
                <a:spcPct val="150000"/>
              </a:lnSpc>
            </a:pPr>
            <a:r>
              <a:rPr lang="zh-CN" altLang="zh-CN" sz="1800" dirty="0"/>
              <a:t>（</a:t>
            </a:r>
            <a:r>
              <a:rPr lang="en-US" altLang="zh-CN" sz="1800" dirty="0"/>
              <a:t>3</a:t>
            </a:r>
            <a:r>
              <a:rPr lang="zh-CN" altLang="zh-CN" sz="1800" dirty="0"/>
              <a:t>）扫频信号</a:t>
            </a:r>
            <a:r>
              <a:rPr lang="en-US" altLang="zh-CN" sz="1800" dirty="0"/>
              <a:t>1</a:t>
            </a:r>
            <a:r>
              <a:rPr lang="zh-CN" altLang="zh-CN" sz="1800" dirty="0"/>
              <a:t>参数：方波，峰峰值</a:t>
            </a:r>
            <a:r>
              <a:rPr lang="en-US" altLang="zh-CN" sz="1800" dirty="0"/>
              <a:t>5V</a:t>
            </a:r>
            <a:r>
              <a:rPr lang="zh-CN" altLang="zh-CN" sz="1800" dirty="0"/>
              <a:t>，均值</a:t>
            </a:r>
            <a:r>
              <a:rPr lang="en-US" altLang="zh-CN" sz="1800" dirty="0"/>
              <a:t>0</a:t>
            </a:r>
            <a:r>
              <a:rPr lang="zh-CN" altLang="zh-CN" sz="1800" dirty="0"/>
              <a:t>，线性方式，初始频率</a:t>
            </a:r>
            <a:r>
              <a:rPr lang="en-US" altLang="zh-CN" sz="1800" dirty="0"/>
              <a:t>100Hz</a:t>
            </a:r>
            <a:r>
              <a:rPr lang="zh-CN" altLang="zh-CN" sz="1800" dirty="0"/>
              <a:t>，终止频率</a:t>
            </a:r>
            <a:r>
              <a:rPr lang="en-US" altLang="zh-CN" sz="1800" dirty="0"/>
              <a:t>1kHz</a:t>
            </a:r>
            <a:r>
              <a:rPr lang="zh-CN" altLang="zh-CN" sz="1800" dirty="0"/>
              <a:t>，扫描时间</a:t>
            </a:r>
            <a:r>
              <a:rPr lang="en-US" altLang="zh-CN" sz="1800" dirty="0"/>
              <a:t>100ms</a:t>
            </a:r>
            <a:r>
              <a:rPr lang="zh-CN" altLang="zh-CN" sz="1800" dirty="0"/>
              <a:t>，重复扫描。 扫频信号</a:t>
            </a:r>
            <a:r>
              <a:rPr lang="en-US" altLang="zh-CN" sz="1800" dirty="0"/>
              <a:t>2</a:t>
            </a:r>
            <a:r>
              <a:rPr lang="zh-CN" altLang="zh-CN" sz="1800" dirty="0"/>
              <a:t>参数：方波，峰峰值</a:t>
            </a:r>
            <a:r>
              <a:rPr lang="en-US" altLang="zh-CN" sz="1800" dirty="0"/>
              <a:t>5V</a:t>
            </a:r>
            <a:r>
              <a:rPr lang="zh-CN" altLang="zh-CN" sz="1800" dirty="0"/>
              <a:t>，均值</a:t>
            </a:r>
            <a:r>
              <a:rPr lang="en-US" altLang="zh-CN" sz="1800" dirty="0"/>
              <a:t>0</a:t>
            </a:r>
            <a:r>
              <a:rPr lang="zh-CN" altLang="zh-CN" sz="1800" dirty="0"/>
              <a:t>，线性方式，初始频率</a:t>
            </a:r>
            <a:r>
              <a:rPr lang="en-US" altLang="zh-CN" sz="1800" dirty="0"/>
              <a:t>1MHz</a:t>
            </a:r>
            <a:r>
              <a:rPr lang="zh-CN" altLang="zh-CN" sz="1800" dirty="0"/>
              <a:t>，终止频率</a:t>
            </a:r>
            <a:r>
              <a:rPr lang="en-US" altLang="zh-CN" sz="1800" dirty="0"/>
              <a:t>10MHz</a:t>
            </a:r>
            <a:r>
              <a:rPr lang="zh-CN" altLang="zh-CN" sz="1800" dirty="0"/>
              <a:t>，扫描时间</a:t>
            </a:r>
            <a:r>
              <a:rPr lang="en-US" altLang="zh-CN" sz="1800" dirty="0"/>
              <a:t>10ms</a:t>
            </a:r>
            <a:r>
              <a:rPr lang="zh-CN" altLang="zh-CN" sz="1800" dirty="0"/>
              <a:t>，重复扫描。</a:t>
            </a:r>
          </a:p>
          <a:p>
            <a:pPr indent="457200">
              <a:lnSpc>
                <a:spcPct val="150000"/>
              </a:lnSpc>
            </a:pPr>
            <a:r>
              <a:rPr lang="zh-CN" altLang="zh-CN" sz="1800" dirty="0"/>
              <a:t>（</a:t>
            </a:r>
            <a:r>
              <a:rPr lang="en-US" altLang="zh-CN" sz="1800" dirty="0"/>
              <a:t>4</a:t>
            </a:r>
            <a:r>
              <a:rPr lang="zh-CN" altLang="zh-CN" sz="1800" dirty="0"/>
              <a:t>）在负载和故障检测环节，要求无需人工干预，装置能实时自动检测负载变化、故障报警和短路故障点定位。短路故障点位置显示稳定。</a:t>
            </a:r>
          </a:p>
          <a:p>
            <a:pPr indent="457200">
              <a:lnSpc>
                <a:spcPct val="150000"/>
              </a:lnSpc>
            </a:pPr>
            <a:r>
              <a:rPr lang="zh-CN" altLang="zh-CN" sz="1800" dirty="0"/>
              <a:t>（</a:t>
            </a:r>
            <a:r>
              <a:rPr lang="en-US" altLang="zh-CN" sz="1800" dirty="0"/>
              <a:t>5</a:t>
            </a:r>
            <a:r>
              <a:rPr lang="zh-CN" altLang="zh-CN" sz="1800" dirty="0"/>
              <a:t>）发挥部分测试中，允许短路线与导线通过焊接相连。</a:t>
            </a:r>
          </a:p>
          <a:p>
            <a:pPr indent="457200">
              <a:lnSpc>
                <a:spcPct val="150000"/>
              </a:lnSpc>
            </a:pPr>
            <a:r>
              <a:rPr lang="zh-CN" altLang="zh-CN" sz="1800" dirty="0"/>
              <a:t>（</a:t>
            </a:r>
            <a:r>
              <a:rPr lang="en-US" altLang="zh-CN" sz="1800" dirty="0"/>
              <a:t>6</a:t>
            </a:r>
            <a:r>
              <a:rPr lang="zh-CN" altLang="zh-CN" sz="1800" dirty="0"/>
              <a:t>）参赛作品中不得使用测距传感器</a:t>
            </a:r>
            <a:r>
              <a:rPr lang="zh-CN" altLang="zh-CN" sz="1800" dirty="0" smtClean="0"/>
              <a:t>。</a:t>
            </a:r>
            <a:endParaRPr lang="zh-CN" altLang="zh-CN" sz="1800" dirty="0"/>
          </a:p>
        </p:txBody>
      </p:sp>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5" name="矩形 4"/>
          <p:cNvSpPr/>
          <p:nvPr/>
        </p:nvSpPr>
        <p:spPr>
          <a:xfrm>
            <a:off x="457201" y="456317"/>
            <a:ext cx="11255828" cy="4570482"/>
          </a:xfrm>
          <a:prstGeom prst="rect">
            <a:avLst/>
          </a:prstGeom>
        </p:spPr>
        <p:txBody>
          <a:bodyPr wrap="square">
            <a:spAutoFit/>
          </a:bodyPr>
          <a:lstStyle/>
          <a:p>
            <a:pPr algn="ctr">
              <a:lnSpc>
                <a:spcPct val="150000"/>
              </a:lnSpc>
            </a:pPr>
            <a:r>
              <a:rPr lang="zh-CN" altLang="zh-CN" sz="3200" dirty="0">
                <a:solidFill>
                  <a:srgbClr val="FF0000"/>
                </a:solidFill>
                <a:latin typeface="隶书" panose="02010509060101010101" pitchFamily="49" charset="-122"/>
                <a:ea typeface="隶书" panose="02010509060101010101" pitchFamily="49" charset="-122"/>
              </a:rPr>
              <a:t>题目分析</a:t>
            </a:r>
            <a:endParaRPr lang="zh-CN" altLang="zh-CN" sz="2800" dirty="0">
              <a:solidFill>
                <a:srgbClr val="FF0000"/>
              </a:solidFill>
              <a:latin typeface="隶书" panose="02010509060101010101" pitchFamily="49" charset="-122"/>
              <a:ea typeface="隶书" panose="02010509060101010101" pitchFamily="49" charset="-122"/>
            </a:endParaRPr>
          </a:p>
          <a:p>
            <a:pPr indent="457200">
              <a:lnSpc>
                <a:spcPct val="150000"/>
              </a:lnSpc>
            </a:pPr>
            <a:r>
              <a:rPr lang="zh-CN" altLang="en-US" sz="1800" dirty="0" smtClean="0"/>
              <a:t>这个题目的要求</a:t>
            </a:r>
            <a:r>
              <a:rPr lang="zh-CN" altLang="en-US" sz="1800" dirty="0"/>
              <a:t>比较</a:t>
            </a:r>
            <a:r>
              <a:rPr lang="zh-CN" altLang="en-US" sz="1800" dirty="0" smtClean="0"/>
              <a:t>复杂，必须认真阅读理解。先归纳一下</a:t>
            </a:r>
            <a:r>
              <a:rPr lang="zh-CN" altLang="zh-CN" sz="1800" dirty="0" smtClean="0"/>
              <a:t>题目</a:t>
            </a:r>
            <a:r>
              <a:rPr lang="zh-CN" altLang="en-US" sz="1800" dirty="0" smtClean="0"/>
              <a:t>的要求。</a:t>
            </a:r>
            <a:endParaRPr lang="en-US" altLang="zh-CN" sz="1800" dirty="0" smtClean="0"/>
          </a:p>
          <a:p>
            <a:pPr indent="457200">
              <a:lnSpc>
                <a:spcPct val="150000"/>
              </a:lnSpc>
            </a:pPr>
            <a:r>
              <a:rPr lang="zh-CN" altLang="en-US" sz="1800" dirty="0" smtClean="0"/>
              <a:t>基本要求：</a:t>
            </a:r>
            <a:endParaRPr lang="en-US" altLang="zh-CN" sz="1800" dirty="0" smtClean="0"/>
          </a:p>
          <a:p>
            <a:pPr indent="457200">
              <a:lnSpc>
                <a:spcPct val="150000"/>
              </a:lnSpc>
            </a:pPr>
            <a:r>
              <a:rPr lang="en-US" altLang="zh-CN" sz="1800" dirty="0" smtClean="0"/>
              <a:t>1</a:t>
            </a:r>
            <a:r>
              <a:rPr lang="zh-CN" altLang="en-US" sz="1800" dirty="0" smtClean="0"/>
              <a:t>、给定三</a:t>
            </a:r>
            <a:r>
              <a:rPr lang="zh-CN" altLang="en-US" sz="1800" dirty="0"/>
              <a:t>个元件</a:t>
            </a:r>
            <a:r>
              <a:rPr lang="zh-CN" altLang="en-US" sz="1800" dirty="0" smtClean="0"/>
              <a:t>（电阻，</a:t>
            </a:r>
            <a:r>
              <a:rPr lang="en-US" altLang="zh-CN" sz="1800" dirty="0" smtClean="0"/>
              <a:t>200Ω~2kΩ</a:t>
            </a:r>
            <a:r>
              <a:rPr lang="zh-CN" altLang="en-US" sz="1800" dirty="0" smtClean="0"/>
              <a:t>；</a:t>
            </a:r>
            <a:r>
              <a:rPr lang="zh-CN" altLang="zh-CN" sz="1800" dirty="0" smtClean="0"/>
              <a:t>电容</a:t>
            </a:r>
            <a:r>
              <a:rPr lang="zh-CN" altLang="en-US" sz="1800" dirty="0" smtClean="0"/>
              <a:t>，</a:t>
            </a:r>
            <a:r>
              <a:rPr lang="en-US" altLang="zh-CN" sz="1800" dirty="0" smtClean="0"/>
              <a:t>200nF~2μF</a:t>
            </a:r>
            <a:r>
              <a:rPr lang="zh-CN" altLang="en-US" sz="1800" dirty="0" smtClean="0"/>
              <a:t>；</a:t>
            </a:r>
            <a:r>
              <a:rPr lang="zh-CN" altLang="zh-CN" sz="1800" dirty="0" smtClean="0"/>
              <a:t>电感</a:t>
            </a:r>
            <a:r>
              <a:rPr lang="zh-CN" altLang="en-US" sz="1800" dirty="0" smtClean="0"/>
              <a:t>，</a:t>
            </a:r>
            <a:r>
              <a:rPr lang="en-US" altLang="zh-CN" sz="1800" dirty="0" smtClean="0"/>
              <a:t>100μH~1mH </a:t>
            </a:r>
            <a:r>
              <a:rPr lang="zh-CN" altLang="en-US" sz="1800" dirty="0" smtClean="0"/>
              <a:t>），</a:t>
            </a:r>
            <a:r>
              <a:rPr lang="zh-CN" altLang="zh-CN" sz="1800" dirty="0" smtClean="0"/>
              <a:t>检测</a:t>
            </a:r>
            <a:r>
              <a:rPr lang="zh-CN" altLang="zh-CN" sz="1800" dirty="0"/>
              <a:t>和</a:t>
            </a:r>
            <a:r>
              <a:rPr lang="zh-CN" altLang="zh-CN" sz="1800" dirty="0" smtClean="0"/>
              <a:t>显示</a:t>
            </a:r>
            <a:r>
              <a:rPr lang="zh-CN" altLang="en-US" sz="1800" dirty="0" smtClean="0"/>
              <a:t>它们的值。</a:t>
            </a:r>
            <a:endParaRPr lang="en-US" altLang="zh-CN" sz="1800" dirty="0" smtClean="0"/>
          </a:p>
          <a:p>
            <a:pPr indent="457200">
              <a:lnSpc>
                <a:spcPct val="150000"/>
              </a:lnSpc>
            </a:pPr>
            <a:r>
              <a:rPr lang="en-US" altLang="zh-CN" sz="1800" dirty="0" smtClean="0"/>
              <a:t>2</a:t>
            </a:r>
            <a:r>
              <a:rPr lang="zh-CN" altLang="en-US" sz="1800" dirty="0" smtClean="0"/>
              <a:t>、检测与显示由这</a:t>
            </a:r>
            <a:r>
              <a:rPr lang="en-US" altLang="zh-CN" sz="1800" dirty="0" smtClean="0"/>
              <a:t>3</a:t>
            </a:r>
            <a:r>
              <a:rPr lang="zh-CN" altLang="en-US" sz="1800" dirty="0" smtClean="0"/>
              <a:t>个元件</a:t>
            </a:r>
            <a:r>
              <a:rPr lang="zh-CN" altLang="zh-CN" sz="1800" dirty="0"/>
              <a:t>中任意</a:t>
            </a:r>
            <a:r>
              <a:rPr lang="en-US" altLang="zh-CN" sz="1800" dirty="0"/>
              <a:t>2~3</a:t>
            </a:r>
            <a:r>
              <a:rPr lang="zh-CN" altLang="zh-CN" sz="1800" dirty="0"/>
              <a:t>个元件串联或者并联</a:t>
            </a:r>
            <a:r>
              <a:rPr lang="zh-CN" altLang="zh-CN" sz="1800" dirty="0" smtClean="0"/>
              <a:t>组成</a:t>
            </a:r>
            <a:r>
              <a:rPr lang="zh-CN" altLang="en-US" sz="1800" dirty="0"/>
              <a:t>的</a:t>
            </a:r>
            <a:r>
              <a:rPr lang="zh-CN" altLang="zh-CN" sz="1800" dirty="0" smtClean="0"/>
              <a:t>负载网络结构</a:t>
            </a:r>
            <a:r>
              <a:rPr lang="zh-CN" altLang="en-US" sz="1800" dirty="0" smtClean="0"/>
              <a:t>。</a:t>
            </a:r>
            <a:endParaRPr lang="en-US" altLang="zh-CN" sz="1800" dirty="0" smtClean="0"/>
          </a:p>
          <a:p>
            <a:pPr indent="457200">
              <a:lnSpc>
                <a:spcPct val="150000"/>
              </a:lnSpc>
            </a:pPr>
            <a:r>
              <a:rPr lang="zh-CN" altLang="en-US" sz="1800" dirty="0" smtClean="0"/>
              <a:t>发挥部分：</a:t>
            </a:r>
            <a:endParaRPr lang="en-US" altLang="zh-CN" sz="1800" dirty="0" smtClean="0"/>
          </a:p>
          <a:p>
            <a:pPr indent="457200">
              <a:lnSpc>
                <a:spcPct val="150000"/>
              </a:lnSpc>
            </a:pPr>
            <a:r>
              <a:rPr lang="en-US" altLang="zh-CN" sz="1800" dirty="0" smtClean="0"/>
              <a:t>1</a:t>
            </a:r>
            <a:r>
              <a:rPr lang="zh-CN" altLang="en-US" sz="1800" dirty="0" smtClean="0"/>
              <a:t>、能够检测到</a:t>
            </a:r>
            <a:r>
              <a:rPr lang="zh-CN" altLang="zh-CN" sz="1800" dirty="0" smtClean="0"/>
              <a:t>负载</a:t>
            </a:r>
            <a:r>
              <a:rPr lang="zh-CN" altLang="zh-CN" sz="1800" dirty="0"/>
              <a:t>开路、短路</a:t>
            </a:r>
            <a:r>
              <a:rPr lang="zh-CN" altLang="zh-CN" sz="1800" dirty="0" smtClean="0"/>
              <a:t>故障</a:t>
            </a:r>
            <a:r>
              <a:rPr lang="zh-CN" altLang="en-US" sz="1800" dirty="0" smtClean="0"/>
              <a:t>（</a:t>
            </a:r>
            <a:r>
              <a:rPr lang="zh-CN" altLang="zh-CN" sz="1800" dirty="0" smtClean="0"/>
              <a:t>报警</a:t>
            </a:r>
            <a:r>
              <a:rPr lang="zh-CN" altLang="en-US" sz="1800" dirty="0" smtClean="0"/>
              <a:t>）。</a:t>
            </a:r>
            <a:endParaRPr lang="en-US" altLang="zh-CN" sz="1800" dirty="0" smtClean="0"/>
          </a:p>
          <a:p>
            <a:pPr indent="457200">
              <a:lnSpc>
                <a:spcPct val="150000"/>
              </a:lnSpc>
            </a:pPr>
            <a:r>
              <a:rPr lang="en-US" altLang="zh-CN" sz="1800" dirty="0" smtClean="0"/>
              <a:t>2</a:t>
            </a:r>
            <a:r>
              <a:rPr lang="zh-CN" altLang="en-US" sz="1800" dirty="0" smtClean="0"/>
              <a:t>、</a:t>
            </a:r>
            <a:r>
              <a:rPr lang="zh-CN" altLang="zh-CN" sz="1800" dirty="0" smtClean="0"/>
              <a:t>短路</a:t>
            </a:r>
            <a:r>
              <a:rPr lang="zh-CN" altLang="zh-CN" sz="1800" dirty="0"/>
              <a:t>故障点位置测量</a:t>
            </a:r>
            <a:r>
              <a:rPr lang="zh-CN" altLang="zh-CN" sz="1800" dirty="0" smtClean="0"/>
              <a:t>。</a:t>
            </a:r>
            <a:r>
              <a:rPr lang="zh-CN" altLang="en-US" sz="1800" dirty="0" smtClean="0"/>
              <a:t>在测量短路故障点位置时，在线路上叠加两个扫频信号（</a:t>
            </a:r>
            <a:r>
              <a:rPr lang="en-US" altLang="zh-CN" sz="1800" dirty="0" smtClean="0"/>
              <a:t>100Hz~1kHz</a:t>
            </a:r>
            <a:r>
              <a:rPr lang="zh-CN" altLang="en-US" sz="1800" dirty="0" smtClean="0"/>
              <a:t>以及</a:t>
            </a:r>
            <a:r>
              <a:rPr lang="en-US" altLang="zh-CN" sz="1800" dirty="0" smtClean="0"/>
              <a:t>1MHz~10MHz</a:t>
            </a:r>
            <a:r>
              <a:rPr lang="zh-CN" altLang="en-US" sz="1800" dirty="0" smtClean="0"/>
              <a:t>）作为噪声，要求在强噪声条件下仍然能够进行准确测量</a:t>
            </a:r>
            <a:r>
              <a:rPr lang="zh-CN" altLang="en-US" sz="1800" dirty="0" smtClean="0"/>
              <a:t>。</a:t>
            </a:r>
            <a:endParaRPr lang="en-US" altLang="zh-CN" sz="1800" dirty="0" smtClean="0"/>
          </a:p>
        </p:txBody>
      </p:sp>
    </p:spTree>
    <p:extLst>
      <p:ext uri="{BB962C8B-B14F-4D97-AF65-F5344CB8AC3E}">
        <p14:creationId xmlns:p14="http://schemas.microsoft.com/office/powerpoint/2010/main" val="16577141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dirty="0" smtClean="0">
                <a:solidFill>
                  <a:srgbClr val="FFFFFF"/>
                </a:solidFill>
              </a:rPr>
              <a:t>大学生电子竞赛培训</a:t>
            </a:r>
            <a:endParaRPr lang="en-US" altLang="zh-CN" dirty="0">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sp>
        <p:nvSpPr>
          <p:cNvPr id="5" name="矩形 4"/>
          <p:cNvSpPr/>
          <p:nvPr/>
        </p:nvSpPr>
        <p:spPr>
          <a:xfrm>
            <a:off x="390606" y="432052"/>
            <a:ext cx="11496594" cy="4939814"/>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smtClean="0">
                <a:solidFill>
                  <a:srgbClr val="FF0000"/>
                </a:solidFill>
              </a:rPr>
              <a:t>复阻抗测试法</a:t>
            </a:r>
            <a:endParaRPr lang="en-US" altLang="zh-CN" sz="1800" dirty="0"/>
          </a:p>
          <a:p>
            <a:pPr indent="457200">
              <a:lnSpc>
                <a:spcPct val="150000"/>
              </a:lnSpc>
            </a:pPr>
            <a:r>
              <a:rPr lang="zh-CN" altLang="en-US" sz="1800" dirty="0" smtClean="0"/>
              <a:t>测试</a:t>
            </a:r>
            <a:r>
              <a:rPr lang="en-US" altLang="zh-CN" sz="1800" dirty="0" smtClean="0"/>
              <a:t>RLC</a:t>
            </a:r>
            <a:r>
              <a:rPr lang="zh-CN" altLang="en-US" sz="1800" dirty="0" smtClean="0"/>
              <a:t>最基本的方法是直接测它们的复阻抗。</a:t>
            </a:r>
            <a:endParaRPr lang="en-US" altLang="zh-CN" sz="1800" dirty="0"/>
          </a:p>
          <a:p>
            <a:pPr indent="457200">
              <a:lnSpc>
                <a:spcPct val="150000"/>
              </a:lnSpc>
            </a:pPr>
            <a:r>
              <a:rPr lang="zh-CN" altLang="en-US" sz="1800" dirty="0" smtClean="0"/>
              <a:t>复阻抗测量原理如下：一</a:t>
            </a:r>
            <a:r>
              <a:rPr lang="zh-CN" altLang="en-US" sz="1800" dirty="0"/>
              <a:t>个</a:t>
            </a:r>
            <a:r>
              <a:rPr lang="zh-CN" altLang="en-US" sz="1800" dirty="0" smtClean="0"/>
              <a:t>正弦测量</a:t>
            </a:r>
            <a:r>
              <a:rPr lang="zh-CN" altLang="en-US" sz="1800" dirty="0"/>
              <a:t>信号加到被测元件上，</a:t>
            </a:r>
            <a:r>
              <a:rPr lang="zh-CN" altLang="en-US" sz="1800" dirty="0" smtClean="0"/>
              <a:t>然后测量元件</a:t>
            </a:r>
            <a:r>
              <a:rPr lang="zh-CN" altLang="en-US" sz="1800" dirty="0"/>
              <a:t>两端的电压与流过元件的</a:t>
            </a:r>
            <a:r>
              <a:rPr lang="zh-CN" altLang="en-US" sz="1800" dirty="0" smtClean="0"/>
              <a:t>电流：</a:t>
            </a:r>
            <a:endParaRPr lang="en-US" altLang="zh-CN" sz="1800" dirty="0" smtClean="0"/>
          </a:p>
          <a:p>
            <a:pPr indent="457200">
              <a:lnSpc>
                <a:spcPct val="150000"/>
              </a:lnSpc>
            </a:pPr>
            <a:endParaRPr lang="en-US" altLang="zh-CN" sz="1800" dirty="0"/>
          </a:p>
          <a:p>
            <a:pPr>
              <a:lnSpc>
                <a:spcPct val="150000"/>
              </a:lnSpc>
            </a:pPr>
            <a:r>
              <a:rPr lang="zh-CN" altLang="en-US" sz="1800" dirty="0" smtClean="0"/>
              <a:t>其中</a:t>
            </a:r>
            <a:r>
              <a:rPr lang="en-US" altLang="zh-CN" sz="1800" i="1" dirty="0" err="1"/>
              <a:t>φ</a:t>
            </a:r>
            <a:r>
              <a:rPr lang="en-US" altLang="zh-CN" sz="1800" i="1" baseline="-25000" dirty="0" err="1"/>
              <a:t>v</a:t>
            </a:r>
            <a:r>
              <a:rPr lang="en-US" altLang="zh-CN" sz="1800" i="1" dirty="0"/>
              <a:t> </a:t>
            </a:r>
            <a:r>
              <a:rPr lang="zh-CN" altLang="en-US" sz="1800" dirty="0"/>
              <a:t>和</a:t>
            </a:r>
            <a:r>
              <a:rPr lang="en-US" altLang="zh-CN" sz="1800" i="1" dirty="0" err="1"/>
              <a:t>φ</a:t>
            </a:r>
            <a:r>
              <a:rPr lang="en-US" altLang="zh-CN" sz="1800" i="1" baseline="-25000" dirty="0" err="1"/>
              <a:t>i</a:t>
            </a:r>
            <a:r>
              <a:rPr lang="en-US" altLang="zh-CN" sz="1800" i="1" dirty="0"/>
              <a:t> </a:t>
            </a:r>
            <a:r>
              <a:rPr lang="zh-CN" altLang="en-US" sz="1800" dirty="0"/>
              <a:t>可以相对于任何参考相位，不需要它们的绝对相位，只要知道它们的相对相位即可</a:t>
            </a:r>
            <a:r>
              <a:rPr lang="zh-CN" altLang="en-US" sz="1800" dirty="0" smtClean="0"/>
              <a:t>。</a:t>
            </a:r>
            <a:endParaRPr lang="en-US" altLang="zh-CN" sz="1800" dirty="0" smtClean="0"/>
          </a:p>
          <a:p>
            <a:pPr indent="457200">
              <a:lnSpc>
                <a:spcPct val="150000"/>
              </a:lnSpc>
            </a:pPr>
            <a:r>
              <a:rPr lang="zh-CN" altLang="en-US" sz="1800" dirty="0" smtClean="0"/>
              <a:t>将</a:t>
            </a:r>
            <a:r>
              <a:rPr lang="en-US" altLang="zh-CN" sz="1800" i="1" dirty="0"/>
              <a:t>v</a:t>
            </a:r>
            <a:r>
              <a:rPr lang="en-US" altLang="zh-CN" sz="1800" dirty="0"/>
              <a:t>(</a:t>
            </a:r>
            <a:r>
              <a:rPr lang="en-US" altLang="zh-CN" sz="1800" i="1" dirty="0"/>
              <a:t>t</a:t>
            </a:r>
            <a:r>
              <a:rPr lang="en-US" altLang="zh-CN" sz="1800" dirty="0"/>
              <a:t>)</a:t>
            </a:r>
            <a:r>
              <a:rPr lang="zh-CN" altLang="en-US" sz="1800" dirty="0"/>
              <a:t>和</a:t>
            </a:r>
            <a:r>
              <a:rPr lang="en-US" altLang="zh-CN" sz="1800" i="1" dirty="0" err="1"/>
              <a:t>i</a:t>
            </a:r>
            <a:r>
              <a:rPr lang="en-US" altLang="zh-CN" sz="1800" dirty="0"/>
              <a:t>(</a:t>
            </a:r>
            <a:r>
              <a:rPr lang="en-US" altLang="zh-CN" sz="1800" i="1" dirty="0"/>
              <a:t>t</a:t>
            </a:r>
            <a:r>
              <a:rPr lang="en-US" altLang="zh-CN" sz="1800" dirty="0"/>
              <a:t>)</a:t>
            </a:r>
            <a:r>
              <a:rPr lang="zh-CN" altLang="en-US" sz="1800" dirty="0"/>
              <a:t>看作两个</a:t>
            </a:r>
            <a:r>
              <a:rPr lang="zh-CN" altLang="en-US" sz="1800" dirty="0" smtClean="0"/>
              <a:t>复数</a:t>
            </a:r>
            <a:endParaRPr lang="en-US" altLang="zh-CN" sz="1800" dirty="0" smtClean="0"/>
          </a:p>
          <a:p>
            <a:pPr indent="457200">
              <a:lnSpc>
                <a:spcPct val="150000"/>
              </a:lnSpc>
            </a:pPr>
            <a:endParaRPr lang="en-US" altLang="zh-CN" sz="1800" dirty="0" smtClean="0"/>
          </a:p>
          <a:p>
            <a:pPr indent="457200">
              <a:lnSpc>
                <a:spcPct val="200000"/>
              </a:lnSpc>
            </a:pPr>
            <a:r>
              <a:rPr lang="zh-CN" altLang="en-US" sz="1800" dirty="0" smtClean="0"/>
              <a:t>计算复阻抗                    ，其中实部就是电阻，虚部为电抗。电抗为负值是容抗，为正值是感抗，然后按照容抗或</a:t>
            </a:r>
            <a:r>
              <a:rPr lang="zh-CN" altLang="en-US" sz="1800" dirty="0"/>
              <a:t>感抗</a:t>
            </a:r>
            <a:r>
              <a:rPr lang="zh-CN" altLang="en-US" sz="1800" dirty="0" smtClean="0"/>
              <a:t>的公式可以计算电容或电感的值。</a:t>
            </a:r>
            <a:endParaRPr lang="en-US" altLang="zh-CN" sz="1800" dirty="0" smtClean="0"/>
          </a:p>
          <a:p>
            <a:pPr indent="457200">
              <a:lnSpc>
                <a:spcPct val="150000"/>
              </a:lnSpc>
            </a:pPr>
            <a:r>
              <a:rPr lang="zh-CN" altLang="en-US" sz="1800" dirty="0" smtClean="0">
                <a:latin typeface="楷体" panose="02010609060101010101" pitchFamily="49" charset="-122"/>
                <a:ea typeface="楷体" panose="02010609060101010101" pitchFamily="49" charset="-122"/>
              </a:rPr>
              <a:t>显然这个方法也可以测量电阻与电容串联、或电阻与电感串联后的元件参数。实际上，商品</a:t>
            </a:r>
            <a:r>
              <a:rPr lang="en-US" altLang="zh-CN" sz="1800" dirty="0" smtClean="0">
                <a:latin typeface="+mn-lt"/>
                <a:ea typeface="楷体" panose="02010609060101010101" pitchFamily="49" charset="-122"/>
              </a:rPr>
              <a:t>LCR</a:t>
            </a:r>
            <a:r>
              <a:rPr lang="zh-CN" altLang="en-US" sz="1800" dirty="0" smtClean="0">
                <a:latin typeface="楷体" panose="02010609060101010101" pitchFamily="49" charset="-122"/>
                <a:ea typeface="楷体" panose="02010609060101010101" pitchFamily="49" charset="-122"/>
              </a:rPr>
              <a:t>电桥就是基于这个原理测量元件参数的。只要将计算结果略加变换，就可以得到电容或电感的</a:t>
            </a:r>
            <a:r>
              <a:rPr lang="en-US" altLang="zh-CN" sz="1800" dirty="0" smtClean="0">
                <a:latin typeface="+mn-lt"/>
                <a:ea typeface="楷体" panose="02010609060101010101" pitchFamily="49" charset="-122"/>
              </a:rPr>
              <a:t>Q</a:t>
            </a:r>
            <a:r>
              <a:rPr lang="zh-CN" altLang="en-US" sz="1800" dirty="0" smtClean="0">
                <a:latin typeface="楷体" panose="02010609060101010101" pitchFamily="49" charset="-122"/>
                <a:ea typeface="楷体" panose="02010609060101010101" pitchFamily="49" charset="-122"/>
              </a:rPr>
              <a:t>值等常见的元件参数。</a:t>
            </a:r>
            <a:endParaRPr lang="zh-CN" altLang="zh-CN" sz="1600" dirty="0">
              <a:latin typeface="楷体" panose="02010609060101010101" pitchFamily="49" charset="-122"/>
              <a:ea typeface="楷体" panose="02010609060101010101" pitchFamily="49"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854517413"/>
              </p:ext>
            </p:extLst>
          </p:nvPr>
        </p:nvGraphicFramePr>
        <p:xfrm>
          <a:off x="3353329" y="1763928"/>
          <a:ext cx="4427538" cy="333375"/>
        </p:xfrm>
        <a:graphic>
          <a:graphicData uri="http://schemas.openxmlformats.org/presentationml/2006/ole">
            <mc:AlternateContent xmlns:mc="http://schemas.openxmlformats.org/markup-compatibility/2006">
              <mc:Choice xmlns:v="urn:schemas-microsoft-com:vml" Requires="v">
                <p:oleObj spid="_x0000_s30901" name="Equation" r:id="rId3" imgW="2679480" imgH="203040" progId="Equation.DSMT4">
                  <p:embed/>
                </p:oleObj>
              </mc:Choice>
              <mc:Fallback>
                <p:oleObj name="Equation" r:id="rId3" imgW="2679480" imgH="203040" progId="Equation.DSMT4">
                  <p:embed/>
                  <p:pic>
                    <p:nvPicPr>
                      <p:cNvPr id="7" name="对象 6"/>
                      <p:cNvPicPr>
                        <a:picLocks noChangeAspect="1" noChangeArrowheads="1"/>
                      </p:cNvPicPr>
                      <p:nvPr/>
                    </p:nvPicPr>
                    <p:blipFill>
                      <a:blip r:embed="rId4"/>
                      <a:srcRect/>
                      <a:stretch>
                        <a:fillRect/>
                      </a:stretch>
                    </p:blipFill>
                    <p:spPr bwMode="auto">
                      <a:xfrm>
                        <a:off x="3353329" y="1763928"/>
                        <a:ext cx="4427538" cy="333375"/>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251421292"/>
              </p:ext>
            </p:extLst>
          </p:nvPr>
        </p:nvGraphicFramePr>
        <p:xfrm>
          <a:off x="3039004" y="2920281"/>
          <a:ext cx="5056188" cy="354013"/>
        </p:xfrm>
        <a:graphic>
          <a:graphicData uri="http://schemas.openxmlformats.org/presentationml/2006/ole">
            <mc:AlternateContent xmlns:mc="http://schemas.openxmlformats.org/markup-compatibility/2006">
              <mc:Choice xmlns:v="urn:schemas-microsoft-com:vml" Requires="v">
                <p:oleObj spid="_x0000_s30902" name="Equation" r:id="rId5" imgW="3060360" imgH="215640" progId="Equation.DSMT4">
                  <p:embed/>
                </p:oleObj>
              </mc:Choice>
              <mc:Fallback>
                <p:oleObj name="Equation" r:id="rId5" imgW="3060360" imgH="215640" progId="Equation.DSMT4">
                  <p:embed/>
                  <p:pic>
                    <p:nvPicPr>
                      <p:cNvPr id="6" name="对象 5"/>
                      <p:cNvPicPr>
                        <a:picLocks noChangeAspect="1" noChangeArrowheads="1"/>
                      </p:cNvPicPr>
                      <p:nvPr/>
                    </p:nvPicPr>
                    <p:blipFill>
                      <a:blip r:embed="rId6"/>
                      <a:srcRect/>
                      <a:stretch>
                        <a:fillRect/>
                      </a:stretch>
                    </p:blipFill>
                    <p:spPr bwMode="auto">
                      <a:xfrm>
                        <a:off x="3039004" y="2920281"/>
                        <a:ext cx="5056188" cy="354013"/>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789281707"/>
              </p:ext>
            </p:extLst>
          </p:nvPr>
        </p:nvGraphicFramePr>
        <p:xfrm>
          <a:off x="2130199" y="3384867"/>
          <a:ext cx="1154112" cy="625475"/>
        </p:xfrm>
        <a:graphic>
          <a:graphicData uri="http://schemas.openxmlformats.org/presentationml/2006/ole">
            <mc:AlternateContent xmlns:mc="http://schemas.openxmlformats.org/markup-compatibility/2006">
              <mc:Choice xmlns:v="urn:schemas-microsoft-com:vml" Requires="v">
                <p:oleObj spid="_x0000_s30903" name="Equation" r:id="rId7" imgW="698400" imgH="380880" progId="Equation.DSMT4">
                  <p:embed/>
                </p:oleObj>
              </mc:Choice>
              <mc:Fallback>
                <p:oleObj name="Equation" r:id="rId7" imgW="698400" imgH="380880" progId="Equation.DSMT4">
                  <p:embed/>
                  <p:pic>
                    <p:nvPicPr>
                      <p:cNvPr id="7" name="对象 6"/>
                      <p:cNvPicPr>
                        <a:picLocks noChangeAspect="1" noChangeArrowheads="1"/>
                      </p:cNvPicPr>
                      <p:nvPr/>
                    </p:nvPicPr>
                    <p:blipFill>
                      <a:blip r:embed="rId8"/>
                      <a:srcRect/>
                      <a:stretch>
                        <a:fillRect/>
                      </a:stretch>
                    </p:blipFill>
                    <p:spPr bwMode="auto">
                      <a:xfrm>
                        <a:off x="2130199" y="3384867"/>
                        <a:ext cx="1154112" cy="625475"/>
                      </a:xfrm>
                      <a:prstGeom prst="rect">
                        <a:avLst/>
                      </a:prstGeom>
                      <a:noFill/>
                    </p:spPr>
                  </p:pic>
                </p:oleObj>
              </mc:Fallback>
            </mc:AlternateContent>
          </a:graphicData>
        </a:graphic>
      </p:graphicFrame>
    </p:spTree>
    <p:extLst>
      <p:ext uri="{BB962C8B-B14F-4D97-AF65-F5344CB8AC3E}">
        <p14:creationId xmlns:p14="http://schemas.microsoft.com/office/powerpoint/2010/main" val="21183113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442201" y="458273"/>
            <a:ext cx="4840999" cy="5493812"/>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1800" dirty="0" smtClean="0"/>
              <a:t>LCR</a:t>
            </a:r>
            <a:r>
              <a:rPr lang="zh-CN" altLang="en-US" sz="1800" dirty="0" smtClean="0"/>
              <a:t>电桥的</a:t>
            </a:r>
            <a:r>
              <a:rPr lang="zh-CN" altLang="en-US" sz="1800" dirty="0" smtClean="0"/>
              <a:t>基本电路结构</a:t>
            </a:r>
            <a:endParaRPr lang="en-US" altLang="zh-CN" sz="1800" dirty="0" smtClean="0"/>
          </a:p>
          <a:p>
            <a:pPr indent="457200">
              <a:lnSpc>
                <a:spcPct val="150000"/>
              </a:lnSpc>
            </a:pPr>
            <a:r>
              <a:rPr lang="zh-CN" altLang="en-US" sz="1800" dirty="0" smtClean="0"/>
              <a:t>待测元件用</a:t>
            </a:r>
            <a:r>
              <a:rPr lang="zh-CN" altLang="en-US" sz="1800" dirty="0" smtClean="0">
                <a:solidFill>
                  <a:srgbClr val="FF0000"/>
                </a:solidFill>
              </a:rPr>
              <a:t>开尔文接法</a:t>
            </a:r>
            <a:r>
              <a:rPr lang="zh-CN" altLang="en-US" sz="1800" dirty="0" smtClean="0"/>
              <a:t>连接到驱动电源与电压检测放大器。</a:t>
            </a:r>
            <a:endParaRPr lang="en-US" altLang="zh-CN" sz="1800" dirty="0" smtClean="0"/>
          </a:p>
          <a:p>
            <a:pPr indent="457200">
              <a:lnSpc>
                <a:spcPct val="150000"/>
              </a:lnSpc>
            </a:pPr>
            <a:r>
              <a:rPr lang="zh-CN" altLang="en-US" sz="1800" dirty="0" smtClean="0"/>
              <a:t>电压检测放大器是一个仪表放大器；电流检测放大器是一个跨阻放大器与仪表放大器的组合。</a:t>
            </a:r>
            <a:endParaRPr lang="en-US" altLang="zh-CN" sz="1800" dirty="0" smtClean="0"/>
          </a:p>
          <a:p>
            <a:pPr indent="457200">
              <a:lnSpc>
                <a:spcPct val="150000"/>
              </a:lnSpc>
            </a:pPr>
            <a:r>
              <a:rPr lang="zh-CN" altLang="en-US" sz="1800" dirty="0" smtClean="0"/>
              <a:t>两路信号用模拟开关切换、放大、</a:t>
            </a:r>
            <a:r>
              <a:rPr lang="en-US" altLang="zh-CN" sz="1800" dirty="0" smtClean="0"/>
              <a:t>ADC</a:t>
            </a:r>
            <a:r>
              <a:rPr lang="zh-CN" altLang="en-US" sz="1800" dirty="0"/>
              <a:t>轮流</a:t>
            </a:r>
            <a:r>
              <a:rPr lang="zh-CN" altLang="en-US" sz="1800" dirty="0" smtClean="0"/>
              <a:t>采样，可以得到电压与电流的幅度以及它们的相位关系。</a:t>
            </a:r>
            <a:endParaRPr lang="en-US" altLang="zh-CN" sz="1800" dirty="0" smtClean="0"/>
          </a:p>
          <a:p>
            <a:pPr indent="457200">
              <a:lnSpc>
                <a:spcPct val="150000"/>
              </a:lnSpc>
            </a:pPr>
            <a:r>
              <a:rPr lang="zh-CN" altLang="en-US" sz="1800" dirty="0" smtClean="0"/>
              <a:t>由于测试信号的产生与采样在同一个微处理器中进行，该方法有很高的测试精度。</a:t>
            </a:r>
            <a:endParaRPr lang="en-US" altLang="zh-CN" sz="1800" dirty="0" smtClean="0"/>
          </a:p>
          <a:p>
            <a:pPr indent="457200">
              <a:lnSpc>
                <a:spcPct val="150000"/>
              </a:lnSpc>
            </a:pPr>
            <a:r>
              <a:rPr lang="zh-CN" altLang="en-US" sz="1800" dirty="0" smtClean="0"/>
              <a:t>受到微处理器速度的</a:t>
            </a:r>
            <a:r>
              <a:rPr lang="zh-CN" altLang="en-US" sz="1800" dirty="0"/>
              <a:t>限制，测试频率不可能</a:t>
            </a:r>
            <a:r>
              <a:rPr lang="zh-CN" altLang="en-US" sz="1800" dirty="0" smtClean="0"/>
              <a:t>很高。</a:t>
            </a:r>
            <a:endParaRPr lang="en-US" altLang="zh-CN" sz="1800" dirty="0" smtClean="0"/>
          </a:p>
        </p:txBody>
      </p:sp>
      <p:pic>
        <p:nvPicPr>
          <p:cNvPr id="7" name="图片 6"/>
          <p:cNvPicPr>
            <a:picLocks noChangeAspect="1"/>
          </p:cNvPicPr>
          <p:nvPr/>
        </p:nvPicPr>
        <p:blipFill>
          <a:blip r:embed="rId2"/>
          <a:stretch>
            <a:fillRect/>
          </a:stretch>
        </p:blipFill>
        <p:spPr>
          <a:xfrm>
            <a:off x="6898217" y="4172857"/>
            <a:ext cx="4394441" cy="1837285"/>
          </a:xfrm>
          <a:prstGeom prst="rect">
            <a:avLst/>
          </a:prstGeom>
        </p:spPr>
      </p:pic>
      <p:sp>
        <p:nvSpPr>
          <p:cNvPr id="9" name="文本框 8"/>
          <p:cNvSpPr txBox="1"/>
          <p:nvPr/>
        </p:nvSpPr>
        <p:spPr>
          <a:xfrm>
            <a:off x="8077200" y="5840865"/>
            <a:ext cx="1944914" cy="338554"/>
          </a:xfrm>
          <a:prstGeom prst="rect">
            <a:avLst/>
          </a:prstGeom>
          <a:noFill/>
        </p:spPr>
        <p:txBody>
          <a:bodyPr wrap="square" rtlCol="0">
            <a:spAutoFit/>
          </a:bodyPr>
          <a:lstStyle/>
          <a:p>
            <a:pPr algn="ctr"/>
            <a:r>
              <a:rPr lang="en-US" altLang="zh-CN" sz="1600" dirty="0" smtClean="0"/>
              <a:t>ADC</a:t>
            </a:r>
            <a:r>
              <a:rPr lang="zh-CN" altLang="en-US" sz="1600" dirty="0" smtClean="0"/>
              <a:t>采样</a:t>
            </a:r>
            <a:endParaRPr lang="zh-CN" altLang="en-US" sz="1600" dirty="0"/>
          </a:p>
        </p:txBody>
      </p:sp>
      <p:pic>
        <p:nvPicPr>
          <p:cNvPr id="13" name="图片 12"/>
          <p:cNvPicPr>
            <a:picLocks noChangeAspect="1"/>
          </p:cNvPicPr>
          <p:nvPr/>
        </p:nvPicPr>
        <p:blipFill>
          <a:blip r:embed="rId3"/>
          <a:stretch>
            <a:fillRect/>
          </a:stretch>
        </p:blipFill>
        <p:spPr>
          <a:xfrm>
            <a:off x="5406844" y="1016114"/>
            <a:ext cx="6238149" cy="3051022"/>
          </a:xfrm>
          <a:prstGeom prst="rect">
            <a:avLst/>
          </a:prstGeom>
        </p:spPr>
      </p:pic>
    </p:spTree>
    <p:extLst>
      <p:ext uri="{BB962C8B-B14F-4D97-AF65-F5344CB8AC3E}">
        <p14:creationId xmlns:p14="http://schemas.microsoft.com/office/powerpoint/2010/main" val="39949952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pic>
        <p:nvPicPr>
          <p:cNvPr id="5" name="图片 4"/>
          <p:cNvPicPr>
            <a:picLocks noChangeAspect="1"/>
          </p:cNvPicPr>
          <p:nvPr/>
        </p:nvPicPr>
        <p:blipFill>
          <a:blip r:embed="rId3"/>
          <a:stretch>
            <a:fillRect/>
          </a:stretch>
        </p:blipFill>
        <p:spPr>
          <a:xfrm>
            <a:off x="1705733" y="1054369"/>
            <a:ext cx="8599412" cy="4954999"/>
          </a:xfrm>
          <a:prstGeom prst="rect">
            <a:avLst/>
          </a:prstGeom>
        </p:spPr>
      </p:pic>
      <p:sp>
        <p:nvSpPr>
          <p:cNvPr id="6" name="椭圆 5"/>
          <p:cNvSpPr/>
          <p:nvPr/>
        </p:nvSpPr>
        <p:spPr>
          <a:xfrm>
            <a:off x="2574928" y="1923143"/>
            <a:ext cx="1717372" cy="302053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759503" y="4390571"/>
            <a:ext cx="1469270" cy="16786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966686" y="5024220"/>
            <a:ext cx="1052286" cy="10450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3650344" y="1219199"/>
            <a:ext cx="1052286" cy="9289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6564083" y="1219199"/>
            <a:ext cx="3407231" cy="18578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145314" y="1357085"/>
            <a:ext cx="1494971" cy="14514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6479556" y="559269"/>
            <a:ext cx="2868432" cy="338554"/>
          </a:xfrm>
          <a:prstGeom prst="rect">
            <a:avLst/>
          </a:prstGeom>
          <a:noFill/>
        </p:spPr>
        <p:txBody>
          <a:bodyPr wrap="square" rtlCol="0">
            <a:spAutoFit/>
          </a:bodyPr>
          <a:lstStyle/>
          <a:p>
            <a:r>
              <a:rPr lang="en-US" altLang="zh-CN" sz="1600" dirty="0" smtClean="0"/>
              <a:t>8</a:t>
            </a:r>
            <a:r>
              <a:rPr lang="zh-CN" altLang="en-US" sz="1600" dirty="0" smtClean="0"/>
              <a:t>阶椭圆低通开关电容滤波器</a:t>
            </a:r>
            <a:endParaRPr lang="zh-CN" altLang="en-US" sz="1600" dirty="0"/>
          </a:p>
        </p:txBody>
      </p:sp>
      <p:sp>
        <p:nvSpPr>
          <p:cNvPr id="14" name="文本框 13"/>
          <p:cNvSpPr txBox="1"/>
          <p:nvPr/>
        </p:nvSpPr>
        <p:spPr>
          <a:xfrm>
            <a:off x="9581579" y="568008"/>
            <a:ext cx="2358419" cy="338554"/>
          </a:xfrm>
          <a:prstGeom prst="rect">
            <a:avLst/>
          </a:prstGeom>
          <a:noFill/>
        </p:spPr>
        <p:txBody>
          <a:bodyPr wrap="square" rtlCol="0">
            <a:spAutoFit/>
          </a:bodyPr>
          <a:lstStyle/>
          <a:p>
            <a:r>
              <a:rPr lang="en-US" altLang="zh-CN" sz="1600" dirty="0" smtClean="0"/>
              <a:t>2</a:t>
            </a:r>
            <a:r>
              <a:rPr lang="zh-CN" altLang="en-US" sz="1600" dirty="0" smtClean="0"/>
              <a:t>路</a:t>
            </a:r>
            <a:r>
              <a:rPr lang="en-US" altLang="zh-CN" sz="1600" dirty="0" smtClean="0"/>
              <a:t>4</a:t>
            </a:r>
            <a:r>
              <a:rPr lang="zh-CN" altLang="en-US" sz="1600" dirty="0" smtClean="0"/>
              <a:t>阶低通有源滤波器</a:t>
            </a:r>
            <a:endParaRPr lang="zh-CN" altLang="en-US" sz="1600" dirty="0"/>
          </a:p>
        </p:txBody>
      </p:sp>
      <p:sp>
        <p:nvSpPr>
          <p:cNvPr id="15" name="文本框 14"/>
          <p:cNvSpPr txBox="1"/>
          <p:nvPr/>
        </p:nvSpPr>
        <p:spPr>
          <a:xfrm>
            <a:off x="1181166" y="1254198"/>
            <a:ext cx="1859418" cy="338554"/>
          </a:xfrm>
          <a:prstGeom prst="rect">
            <a:avLst/>
          </a:prstGeom>
          <a:noFill/>
        </p:spPr>
        <p:txBody>
          <a:bodyPr wrap="square" rtlCol="0">
            <a:spAutoFit/>
          </a:bodyPr>
          <a:lstStyle/>
          <a:p>
            <a:r>
              <a:rPr lang="zh-CN" altLang="en-US" sz="1600" dirty="0" smtClean="0"/>
              <a:t>测试信号输出缓冲</a:t>
            </a:r>
            <a:endParaRPr lang="zh-CN" altLang="en-US" sz="1600" dirty="0"/>
          </a:p>
        </p:txBody>
      </p:sp>
      <p:cxnSp>
        <p:nvCxnSpPr>
          <p:cNvPr id="17" name="直接箭头连接符 16"/>
          <p:cNvCxnSpPr/>
          <p:nvPr/>
        </p:nvCxnSpPr>
        <p:spPr>
          <a:xfrm flipH="1">
            <a:off x="5063867" y="870424"/>
            <a:ext cx="17948" cy="1237227"/>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1299936" y="4111512"/>
            <a:ext cx="3101709" cy="978487"/>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6" idx="2"/>
          </p:cNvCxnSpPr>
          <p:nvPr/>
        </p:nvCxnSpPr>
        <p:spPr>
          <a:xfrm flipV="1">
            <a:off x="1530350" y="3433413"/>
            <a:ext cx="1044578" cy="14637"/>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2922302" y="1427532"/>
            <a:ext cx="728042" cy="148056"/>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6359075" y="906562"/>
            <a:ext cx="440714" cy="573844"/>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9354458" y="951986"/>
            <a:ext cx="261257" cy="501153"/>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563120" y="6073231"/>
            <a:ext cx="1859418" cy="338554"/>
          </a:xfrm>
          <a:prstGeom prst="rect">
            <a:avLst/>
          </a:prstGeom>
          <a:noFill/>
        </p:spPr>
        <p:txBody>
          <a:bodyPr wrap="square" rtlCol="0">
            <a:spAutoFit/>
          </a:bodyPr>
          <a:lstStyle/>
          <a:p>
            <a:r>
              <a:rPr lang="zh-CN" altLang="en-US" sz="1600" dirty="0" smtClean="0"/>
              <a:t>待测元件接入端子</a:t>
            </a:r>
            <a:endParaRPr lang="zh-CN" altLang="en-US" sz="1600" dirty="0"/>
          </a:p>
        </p:txBody>
      </p:sp>
      <p:sp>
        <p:nvSpPr>
          <p:cNvPr id="28" name="文本框 27"/>
          <p:cNvSpPr txBox="1"/>
          <p:nvPr/>
        </p:nvSpPr>
        <p:spPr>
          <a:xfrm>
            <a:off x="3734897" y="6089905"/>
            <a:ext cx="1859418" cy="338554"/>
          </a:xfrm>
          <a:prstGeom prst="rect">
            <a:avLst/>
          </a:prstGeom>
          <a:noFill/>
        </p:spPr>
        <p:txBody>
          <a:bodyPr wrap="square" rtlCol="0">
            <a:spAutoFit/>
          </a:bodyPr>
          <a:lstStyle/>
          <a:p>
            <a:r>
              <a:rPr lang="zh-CN" altLang="en-US" sz="1600" dirty="0" smtClean="0"/>
              <a:t>电压检测输入缓冲</a:t>
            </a:r>
            <a:endParaRPr lang="zh-CN" altLang="en-US" sz="1600" dirty="0"/>
          </a:p>
        </p:txBody>
      </p:sp>
      <p:sp>
        <p:nvSpPr>
          <p:cNvPr id="29" name="文本框 28"/>
          <p:cNvSpPr txBox="1"/>
          <p:nvPr/>
        </p:nvSpPr>
        <p:spPr>
          <a:xfrm>
            <a:off x="382970" y="2973760"/>
            <a:ext cx="1226758" cy="584775"/>
          </a:xfrm>
          <a:prstGeom prst="rect">
            <a:avLst/>
          </a:prstGeom>
          <a:noFill/>
        </p:spPr>
        <p:txBody>
          <a:bodyPr wrap="square" rtlCol="0">
            <a:spAutoFit/>
          </a:bodyPr>
          <a:lstStyle/>
          <a:p>
            <a:r>
              <a:rPr lang="zh-CN" altLang="en-US" sz="1600" dirty="0" smtClean="0"/>
              <a:t>电流检测</a:t>
            </a:r>
            <a:endParaRPr lang="en-US" altLang="zh-CN" sz="1600" dirty="0" smtClean="0"/>
          </a:p>
          <a:p>
            <a:r>
              <a:rPr lang="zh-CN" altLang="en-US" sz="1600" dirty="0" smtClean="0"/>
              <a:t>跨阻放大器</a:t>
            </a:r>
            <a:endParaRPr lang="zh-CN" altLang="en-US" sz="1600" dirty="0"/>
          </a:p>
        </p:txBody>
      </p:sp>
      <p:sp>
        <p:nvSpPr>
          <p:cNvPr id="32" name="椭圆 31"/>
          <p:cNvSpPr/>
          <p:nvPr/>
        </p:nvSpPr>
        <p:spPr>
          <a:xfrm>
            <a:off x="5029196" y="2910897"/>
            <a:ext cx="1923147" cy="147967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4170176" y="2047602"/>
            <a:ext cx="815634" cy="226243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6637984" y="3021439"/>
            <a:ext cx="3755825" cy="29879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348499" y="4761319"/>
            <a:ext cx="1226758" cy="584775"/>
          </a:xfrm>
          <a:prstGeom prst="rect">
            <a:avLst/>
          </a:prstGeom>
          <a:noFill/>
        </p:spPr>
        <p:txBody>
          <a:bodyPr wrap="square" rtlCol="0">
            <a:spAutoFit/>
          </a:bodyPr>
          <a:lstStyle/>
          <a:p>
            <a:r>
              <a:rPr lang="zh-CN" altLang="en-US" sz="1600" dirty="0" smtClean="0"/>
              <a:t>电流检测</a:t>
            </a:r>
            <a:endParaRPr lang="en-US" altLang="zh-CN" sz="1600" dirty="0" smtClean="0"/>
          </a:p>
          <a:p>
            <a:r>
              <a:rPr lang="zh-CN" altLang="en-US" sz="1600" dirty="0" smtClean="0"/>
              <a:t>输入缓冲</a:t>
            </a:r>
            <a:endParaRPr lang="zh-CN" altLang="en-US" sz="1600" dirty="0"/>
          </a:p>
        </p:txBody>
      </p:sp>
      <p:sp>
        <p:nvSpPr>
          <p:cNvPr id="37" name="文本框 36"/>
          <p:cNvSpPr txBox="1"/>
          <p:nvPr/>
        </p:nvSpPr>
        <p:spPr>
          <a:xfrm>
            <a:off x="5514098" y="5213400"/>
            <a:ext cx="1604020" cy="584775"/>
          </a:xfrm>
          <a:prstGeom prst="rect">
            <a:avLst/>
          </a:prstGeom>
          <a:noFill/>
        </p:spPr>
        <p:txBody>
          <a:bodyPr wrap="square" rtlCol="0">
            <a:spAutoFit/>
          </a:bodyPr>
          <a:lstStyle/>
          <a:p>
            <a:r>
              <a:rPr lang="zh-CN" altLang="en-US" sz="1600" dirty="0" smtClean="0"/>
              <a:t>差动放大器</a:t>
            </a:r>
            <a:endParaRPr lang="en-US" altLang="zh-CN" sz="1600" dirty="0" smtClean="0"/>
          </a:p>
          <a:p>
            <a:r>
              <a:rPr lang="en-US" altLang="zh-CN" sz="1600" dirty="0"/>
              <a:t>(</a:t>
            </a:r>
            <a:r>
              <a:rPr lang="zh-CN" altLang="en-US" sz="1600" dirty="0" smtClean="0"/>
              <a:t>仪表放大器</a:t>
            </a:r>
            <a:r>
              <a:rPr lang="en-US" altLang="zh-CN" sz="1600" dirty="0" smtClean="0"/>
              <a:t>)</a:t>
            </a:r>
            <a:endParaRPr lang="zh-CN" altLang="en-US" sz="1600" dirty="0"/>
          </a:p>
        </p:txBody>
      </p:sp>
      <p:sp>
        <p:nvSpPr>
          <p:cNvPr id="38" name="文本框 37"/>
          <p:cNvSpPr txBox="1"/>
          <p:nvPr/>
        </p:nvSpPr>
        <p:spPr>
          <a:xfrm>
            <a:off x="10760789" y="5225309"/>
            <a:ext cx="1095910" cy="584775"/>
          </a:xfrm>
          <a:prstGeom prst="rect">
            <a:avLst/>
          </a:prstGeom>
          <a:noFill/>
        </p:spPr>
        <p:txBody>
          <a:bodyPr wrap="square" rtlCol="0">
            <a:spAutoFit/>
          </a:bodyPr>
          <a:lstStyle/>
          <a:p>
            <a:r>
              <a:rPr lang="zh-CN" altLang="en-US" sz="1600" dirty="0" smtClean="0"/>
              <a:t>可变增益主放大器</a:t>
            </a:r>
            <a:endParaRPr lang="zh-CN" altLang="en-US" sz="1600" dirty="0"/>
          </a:p>
        </p:txBody>
      </p:sp>
      <p:cxnSp>
        <p:nvCxnSpPr>
          <p:cNvPr id="42" name="直接箭头连接符 41"/>
          <p:cNvCxnSpPr>
            <a:endCxn id="32" idx="4"/>
          </p:cNvCxnSpPr>
          <p:nvPr/>
        </p:nvCxnSpPr>
        <p:spPr>
          <a:xfrm flipH="1" flipV="1">
            <a:off x="5990770" y="4390571"/>
            <a:ext cx="14669" cy="815111"/>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H="1">
            <a:off x="9971314" y="3777072"/>
            <a:ext cx="817295" cy="984247"/>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1403052" y="2540688"/>
            <a:ext cx="509357" cy="246743"/>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38" idx="1"/>
          </p:cNvCxnSpPr>
          <p:nvPr/>
        </p:nvCxnSpPr>
        <p:spPr>
          <a:xfrm flipH="1" flipV="1">
            <a:off x="10232573" y="5085510"/>
            <a:ext cx="528216" cy="432187"/>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360154" y="2246623"/>
            <a:ext cx="1095910" cy="584775"/>
          </a:xfrm>
          <a:prstGeom prst="rect">
            <a:avLst/>
          </a:prstGeom>
          <a:noFill/>
        </p:spPr>
        <p:txBody>
          <a:bodyPr wrap="square" rtlCol="0">
            <a:spAutoFit/>
          </a:bodyPr>
          <a:lstStyle/>
          <a:p>
            <a:r>
              <a:rPr lang="zh-CN" altLang="en-US" sz="1600" dirty="0" smtClean="0"/>
              <a:t>测试信号</a:t>
            </a:r>
            <a:endParaRPr lang="en-US" altLang="zh-CN" sz="1600" dirty="0" smtClean="0"/>
          </a:p>
          <a:p>
            <a:r>
              <a:rPr lang="en-US" altLang="zh-CN" sz="1600" dirty="0" smtClean="0"/>
              <a:t>(</a:t>
            </a:r>
            <a:r>
              <a:rPr lang="zh-CN" altLang="en-US" sz="1600" dirty="0" smtClean="0"/>
              <a:t>正弦波</a:t>
            </a:r>
            <a:r>
              <a:rPr lang="en-US" altLang="zh-CN" sz="1600" dirty="0" smtClean="0"/>
              <a:t>)</a:t>
            </a:r>
            <a:endParaRPr lang="zh-CN" altLang="en-US" sz="1600" dirty="0"/>
          </a:p>
        </p:txBody>
      </p:sp>
      <p:sp>
        <p:nvSpPr>
          <p:cNvPr id="55" name="文本框 54"/>
          <p:cNvSpPr txBox="1"/>
          <p:nvPr/>
        </p:nvSpPr>
        <p:spPr>
          <a:xfrm>
            <a:off x="10788609" y="3481457"/>
            <a:ext cx="1095910" cy="338554"/>
          </a:xfrm>
          <a:prstGeom prst="rect">
            <a:avLst/>
          </a:prstGeom>
          <a:noFill/>
        </p:spPr>
        <p:txBody>
          <a:bodyPr wrap="square" rtlCol="0">
            <a:spAutoFit/>
          </a:bodyPr>
          <a:lstStyle/>
          <a:p>
            <a:r>
              <a:rPr lang="zh-CN" altLang="en-US" sz="1600" dirty="0" smtClean="0"/>
              <a:t>送</a:t>
            </a:r>
            <a:r>
              <a:rPr lang="en-US" altLang="zh-CN" sz="1600" dirty="0" smtClean="0"/>
              <a:t>MCU</a:t>
            </a:r>
            <a:endParaRPr lang="zh-CN" altLang="en-US" sz="1600" dirty="0"/>
          </a:p>
        </p:txBody>
      </p:sp>
      <p:sp>
        <p:nvSpPr>
          <p:cNvPr id="62" name="文本框 61"/>
          <p:cNvSpPr txBox="1"/>
          <p:nvPr/>
        </p:nvSpPr>
        <p:spPr>
          <a:xfrm>
            <a:off x="4808291" y="536210"/>
            <a:ext cx="1572048" cy="338554"/>
          </a:xfrm>
          <a:prstGeom prst="rect">
            <a:avLst/>
          </a:prstGeom>
          <a:noFill/>
        </p:spPr>
        <p:txBody>
          <a:bodyPr wrap="square" rtlCol="0">
            <a:spAutoFit/>
          </a:bodyPr>
          <a:lstStyle/>
          <a:p>
            <a:r>
              <a:rPr lang="en-US" altLang="zh-CN" sz="1600" dirty="0" smtClean="0"/>
              <a:t>MCU</a:t>
            </a:r>
            <a:r>
              <a:rPr lang="zh-CN" altLang="en-US" sz="1600" dirty="0" smtClean="0"/>
              <a:t>来的方波</a:t>
            </a:r>
            <a:endParaRPr lang="en-US" altLang="zh-CN" sz="1600" dirty="0" smtClean="0"/>
          </a:p>
        </p:txBody>
      </p:sp>
      <p:cxnSp>
        <p:nvCxnSpPr>
          <p:cNvPr id="67" name="直接箭头连接符 66"/>
          <p:cNvCxnSpPr/>
          <p:nvPr/>
        </p:nvCxnSpPr>
        <p:spPr>
          <a:xfrm flipH="1">
            <a:off x="10016771" y="3615464"/>
            <a:ext cx="694171" cy="173923"/>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284710" y="501092"/>
            <a:ext cx="3751850"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sz="1800" dirty="0" smtClean="0"/>
              <a:t>一个</a:t>
            </a:r>
            <a:r>
              <a:rPr lang="en-US" altLang="zh-CN" sz="1800" dirty="0" smtClean="0"/>
              <a:t>LCR</a:t>
            </a:r>
            <a:r>
              <a:rPr lang="zh-CN" altLang="en-US" sz="1800" dirty="0" smtClean="0"/>
              <a:t>电桥电路</a:t>
            </a:r>
            <a:r>
              <a:rPr lang="en-US" altLang="zh-CN" sz="1800" dirty="0" smtClean="0"/>
              <a:t>(</a:t>
            </a:r>
            <a:r>
              <a:rPr lang="zh-CN" altLang="en-US" sz="1800" dirty="0" smtClean="0"/>
              <a:t>局部</a:t>
            </a:r>
            <a:r>
              <a:rPr lang="en-US" altLang="zh-CN" sz="1800" dirty="0" smtClean="0"/>
              <a:t>)</a:t>
            </a:r>
          </a:p>
        </p:txBody>
      </p:sp>
    </p:spTree>
    <p:extLst>
      <p:ext uri="{BB962C8B-B14F-4D97-AF65-F5344CB8AC3E}">
        <p14:creationId xmlns:p14="http://schemas.microsoft.com/office/powerpoint/2010/main" val="32440079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2696809" y="1469787"/>
            <a:ext cx="6335009" cy="3410426"/>
          </a:xfrm>
          <a:prstGeom prst="rect">
            <a:avLst/>
          </a:prstGeom>
        </p:spPr>
      </p:pic>
      <p:sp>
        <p:nvSpPr>
          <p:cNvPr id="6" name="文本框 5"/>
          <p:cNvSpPr txBox="1"/>
          <p:nvPr/>
        </p:nvSpPr>
        <p:spPr>
          <a:xfrm>
            <a:off x="355600" y="515257"/>
            <a:ext cx="6466114" cy="369332"/>
          </a:xfrm>
          <a:prstGeom prst="rect">
            <a:avLst/>
          </a:prstGeom>
          <a:noFill/>
        </p:spPr>
        <p:txBody>
          <a:bodyPr wrap="square" rtlCol="0">
            <a:spAutoFit/>
          </a:bodyPr>
          <a:lstStyle/>
          <a:p>
            <a:r>
              <a:rPr lang="zh-CN" altLang="en-US" sz="1800" dirty="0" smtClean="0"/>
              <a:t>另一个</a:t>
            </a:r>
            <a:r>
              <a:rPr lang="en-US" altLang="zh-CN" sz="1800" dirty="0" smtClean="0"/>
              <a:t>LCR</a:t>
            </a:r>
            <a:r>
              <a:rPr lang="zh-CN" altLang="en-US" sz="1800" dirty="0" smtClean="0"/>
              <a:t>电桥的</a:t>
            </a:r>
            <a:r>
              <a:rPr lang="zh-CN" altLang="en-US" sz="1800" dirty="0" smtClean="0"/>
              <a:t>电压检测部分</a:t>
            </a:r>
            <a:endParaRPr lang="zh-CN" altLang="en-US" sz="1800" dirty="0"/>
          </a:p>
        </p:txBody>
      </p:sp>
      <p:sp>
        <p:nvSpPr>
          <p:cNvPr id="7" name="椭圆 6"/>
          <p:cNvSpPr/>
          <p:nvPr/>
        </p:nvSpPr>
        <p:spPr>
          <a:xfrm>
            <a:off x="2423886" y="1469787"/>
            <a:ext cx="1690914" cy="301512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70115" y="2735111"/>
            <a:ext cx="2053771" cy="646331"/>
          </a:xfrm>
          <a:prstGeom prst="rect">
            <a:avLst/>
          </a:prstGeom>
          <a:noFill/>
        </p:spPr>
        <p:txBody>
          <a:bodyPr wrap="square" rtlCol="0">
            <a:spAutoFit/>
          </a:bodyPr>
          <a:lstStyle/>
          <a:p>
            <a:r>
              <a:rPr lang="zh-CN" altLang="en-US" sz="1800" dirty="0" smtClean="0"/>
              <a:t>开尔文接法的测量端子与夹具</a:t>
            </a:r>
            <a:endParaRPr lang="zh-CN" altLang="en-US" sz="1800" dirty="0"/>
          </a:p>
        </p:txBody>
      </p:sp>
      <p:sp>
        <p:nvSpPr>
          <p:cNvPr id="9" name="椭圆 8"/>
          <p:cNvSpPr/>
          <p:nvPr/>
        </p:nvSpPr>
        <p:spPr>
          <a:xfrm>
            <a:off x="3722914" y="1357087"/>
            <a:ext cx="5308904" cy="352312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9114972" y="2509408"/>
            <a:ext cx="2627085" cy="1754326"/>
          </a:xfrm>
          <a:prstGeom prst="rect">
            <a:avLst/>
          </a:prstGeom>
          <a:noFill/>
        </p:spPr>
        <p:txBody>
          <a:bodyPr wrap="square" rtlCol="0">
            <a:spAutoFit/>
          </a:bodyPr>
          <a:lstStyle/>
          <a:p>
            <a:pPr>
              <a:lnSpc>
                <a:spcPct val="150000"/>
              </a:lnSpc>
            </a:pPr>
            <a:r>
              <a:rPr lang="zh-CN" altLang="en-US" sz="1800" dirty="0" smtClean="0"/>
              <a:t>电压测量的仪表放大器。</a:t>
            </a:r>
            <a:endParaRPr lang="en-US" altLang="zh-CN" sz="1800" dirty="0" smtClean="0"/>
          </a:p>
          <a:p>
            <a:pPr>
              <a:lnSpc>
                <a:spcPct val="150000"/>
              </a:lnSpc>
            </a:pPr>
            <a:r>
              <a:rPr lang="zh-CN" altLang="en-US" sz="1800" dirty="0" smtClean="0"/>
              <a:t>采用电容耦合，可以避免直流偏置带来的影响。</a:t>
            </a:r>
            <a:endParaRPr lang="en-US" altLang="zh-CN" sz="1800" dirty="0" smtClean="0"/>
          </a:p>
          <a:p>
            <a:pPr>
              <a:lnSpc>
                <a:spcPct val="150000"/>
              </a:lnSpc>
            </a:pPr>
            <a:r>
              <a:rPr lang="zh-CN" altLang="en-US" sz="1800" dirty="0" smtClean="0"/>
              <a:t>放大倍数</a:t>
            </a:r>
            <a:r>
              <a:rPr lang="en-US" altLang="zh-CN" sz="1800" dirty="0" smtClean="0"/>
              <a:t>=5</a:t>
            </a:r>
            <a:endParaRPr lang="zh-CN" altLang="en-US" sz="1800" dirty="0"/>
          </a:p>
        </p:txBody>
      </p:sp>
      <p:sp>
        <p:nvSpPr>
          <p:cNvPr id="11" name="椭圆 10"/>
          <p:cNvSpPr/>
          <p:nvPr/>
        </p:nvSpPr>
        <p:spPr>
          <a:xfrm>
            <a:off x="4782457" y="1357087"/>
            <a:ext cx="863600" cy="3592283"/>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976915" y="4999729"/>
            <a:ext cx="2053771" cy="646331"/>
          </a:xfrm>
          <a:prstGeom prst="rect">
            <a:avLst/>
          </a:prstGeom>
          <a:noFill/>
        </p:spPr>
        <p:txBody>
          <a:bodyPr wrap="square" rtlCol="0">
            <a:spAutoFit/>
          </a:bodyPr>
          <a:lstStyle/>
          <a:p>
            <a:r>
              <a:rPr lang="zh-CN" altLang="en-US" sz="1800" dirty="0" smtClean="0"/>
              <a:t>放大器输入端的二极管钳位保护电路</a:t>
            </a:r>
            <a:endParaRPr lang="zh-CN" altLang="en-US" sz="1800" dirty="0"/>
          </a:p>
        </p:txBody>
      </p:sp>
    </p:spTree>
    <p:extLst>
      <p:ext uri="{BB962C8B-B14F-4D97-AF65-F5344CB8AC3E}">
        <p14:creationId xmlns:p14="http://schemas.microsoft.com/office/powerpoint/2010/main" val="9440720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2273874" y="1092779"/>
            <a:ext cx="8897592" cy="4686954"/>
          </a:xfrm>
          <a:prstGeom prst="rect">
            <a:avLst/>
          </a:prstGeom>
        </p:spPr>
      </p:pic>
      <p:sp>
        <p:nvSpPr>
          <p:cNvPr id="6" name="文本框 5"/>
          <p:cNvSpPr txBox="1"/>
          <p:nvPr/>
        </p:nvSpPr>
        <p:spPr>
          <a:xfrm>
            <a:off x="355600" y="515257"/>
            <a:ext cx="6466114" cy="369332"/>
          </a:xfrm>
          <a:prstGeom prst="rect">
            <a:avLst/>
          </a:prstGeom>
          <a:noFill/>
        </p:spPr>
        <p:txBody>
          <a:bodyPr wrap="square" rtlCol="0">
            <a:spAutoFit/>
          </a:bodyPr>
          <a:lstStyle/>
          <a:p>
            <a:r>
              <a:rPr lang="zh-CN" altLang="en-US" sz="1800" dirty="0" smtClean="0"/>
              <a:t>第二个</a:t>
            </a:r>
            <a:r>
              <a:rPr lang="en-US" altLang="zh-CN" sz="1800" dirty="0" smtClean="0"/>
              <a:t>LCR</a:t>
            </a:r>
            <a:r>
              <a:rPr lang="zh-CN" altLang="en-US" sz="1800" dirty="0" smtClean="0"/>
              <a:t>电桥的</a:t>
            </a:r>
            <a:r>
              <a:rPr lang="zh-CN" altLang="en-US" sz="1800" dirty="0" smtClean="0"/>
              <a:t>电</a:t>
            </a:r>
            <a:r>
              <a:rPr lang="zh-CN" altLang="en-US" sz="1800" dirty="0"/>
              <a:t>流</a:t>
            </a:r>
            <a:r>
              <a:rPr lang="zh-CN" altLang="en-US" sz="1800" dirty="0" smtClean="0"/>
              <a:t>检测部分</a:t>
            </a:r>
            <a:endParaRPr lang="zh-CN" altLang="en-US" sz="1800" dirty="0"/>
          </a:p>
        </p:txBody>
      </p:sp>
      <p:sp>
        <p:nvSpPr>
          <p:cNvPr id="11" name="椭圆 10"/>
          <p:cNvSpPr/>
          <p:nvPr/>
        </p:nvSpPr>
        <p:spPr>
          <a:xfrm>
            <a:off x="2759076" y="1451428"/>
            <a:ext cx="1654628" cy="2249714"/>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624417" y="1335010"/>
            <a:ext cx="1705429" cy="2973122"/>
          </a:xfrm>
          <a:prstGeom prst="rect">
            <a:avLst/>
          </a:prstGeom>
          <a:solidFill>
            <a:schemeClr val="bg1"/>
          </a:solidFill>
        </p:spPr>
        <p:txBody>
          <a:bodyPr wrap="square" rtlCol="0">
            <a:spAutoFit/>
          </a:bodyPr>
          <a:lstStyle/>
          <a:p>
            <a:pPr>
              <a:lnSpc>
                <a:spcPct val="130000"/>
              </a:lnSpc>
            </a:pPr>
            <a:r>
              <a:rPr lang="zh-CN" altLang="en-US" sz="1800" dirty="0"/>
              <a:t>跨</a:t>
            </a:r>
            <a:r>
              <a:rPr lang="zh-CN" altLang="en-US" sz="1800" dirty="0" smtClean="0"/>
              <a:t>阻放大器的反馈电阻（采样电阻</a:t>
            </a:r>
            <a:r>
              <a:rPr lang="zh-CN" altLang="en-US" sz="1800" dirty="0" smtClean="0"/>
              <a:t>），从</a:t>
            </a:r>
            <a:r>
              <a:rPr lang="en-US" altLang="zh-CN" sz="1800" dirty="0" smtClean="0"/>
              <a:t>100</a:t>
            </a:r>
            <a:r>
              <a:rPr lang="zh-CN" altLang="en-US" sz="1800" dirty="0" smtClean="0"/>
              <a:t>欧到</a:t>
            </a:r>
            <a:r>
              <a:rPr lang="en-US" altLang="zh-CN" sz="1800" dirty="0" smtClean="0"/>
              <a:t>100k</a:t>
            </a:r>
            <a:r>
              <a:rPr lang="zh-CN" altLang="en-US" sz="1800" dirty="0" smtClean="0"/>
              <a:t>，分为</a:t>
            </a:r>
            <a:r>
              <a:rPr lang="en-US" altLang="zh-CN" sz="1800" dirty="0" smtClean="0"/>
              <a:t>4</a:t>
            </a:r>
            <a:r>
              <a:rPr lang="zh-CN" altLang="en-US" sz="1800" dirty="0" smtClean="0"/>
              <a:t>档量程。</a:t>
            </a:r>
            <a:endParaRPr lang="en-US" altLang="zh-CN" sz="1800" dirty="0" smtClean="0"/>
          </a:p>
          <a:p>
            <a:pPr>
              <a:lnSpc>
                <a:spcPct val="130000"/>
              </a:lnSpc>
            </a:pPr>
            <a:r>
              <a:rPr lang="zh-CN" altLang="en-US" sz="1800" dirty="0" smtClean="0"/>
              <a:t>并联</a:t>
            </a:r>
            <a:r>
              <a:rPr lang="zh-CN" altLang="en-US" sz="1800" dirty="0" smtClean="0"/>
              <a:t>的电容用于频率特性</a:t>
            </a:r>
            <a:r>
              <a:rPr lang="zh-CN" altLang="en-US" sz="1800" dirty="0" smtClean="0"/>
              <a:t>补偿。</a:t>
            </a:r>
            <a:endParaRPr lang="zh-CN" altLang="en-US" sz="1800" dirty="0"/>
          </a:p>
        </p:txBody>
      </p:sp>
      <p:sp>
        <p:nvSpPr>
          <p:cNvPr id="17" name="矩形 16"/>
          <p:cNvSpPr/>
          <p:nvPr/>
        </p:nvSpPr>
        <p:spPr>
          <a:xfrm>
            <a:off x="8688161" y="4238171"/>
            <a:ext cx="2483305" cy="1541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p:cNvCxnSpPr/>
          <p:nvPr/>
        </p:nvCxnSpPr>
        <p:spPr>
          <a:xfrm>
            <a:off x="2163990" y="1941285"/>
            <a:ext cx="657700" cy="3753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7085020" y="4753428"/>
            <a:ext cx="2483305" cy="10263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8471128" y="4543170"/>
            <a:ext cx="2627085" cy="1172629"/>
          </a:xfrm>
          <a:prstGeom prst="rect">
            <a:avLst/>
          </a:prstGeom>
          <a:solidFill>
            <a:schemeClr val="bg1"/>
          </a:solidFill>
        </p:spPr>
        <p:txBody>
          <a:bodyPr wrap="square" rtlCol="0">
            <a:spAutoFit/>
          </a:bodyPr>
          <a:lstStyle/>
          <a:p>
            <a:pPr>
              <a:lnSpc>
                <a:spcPct val="130000"/>
              </a:lnSpc>
            </a:pPr>
            <a:r>
              <a:rPr lang="zh-CN" altLang="en-US" sz="1800" dirty="0" smtClean="0"/>
              <a:t>电流测量的仪表放大器。</a:t>
            </a:r>
            <a:endParaRPr lang="en-US" altLang="zh-CN" sz="1800" dirty="0" smtClean="0"/>
          </a:p>
          <a:p>
            <a:pPr>
              <a:lnSpc>
                <a:spcPct val="130000"/>
              </a:lnSpc>
            </a:pPr>
            <a:r>
              <a:rPr lang="zh-CN" altLang="en-US" sz="1800" dirty="0" smtClean="0"/>
              <a:t>采用电容耦合。</a:t>
            </a:r>
            <a:endParaRPr lang="en-US" altLang="zh-CN" sz="1800" dirty="0" smtClean="0"/>
          </a:p>
          <a:p>
            <a:pPr>
              <a:lnSpc>
                <a:spcPct val="130000"/>
              </a:lnSpc>
            </a:pPr>
            <a:r>
              <a:rPr lang="zh-CN" altLang="en-US" sz="1800" dirty="0" smtClean="0"/>
              <a:t>放大倍数</a:t>
            </a:r>
            <a:r>
              <a:rPr lang="en-US" altLang="zh-CN" sz="1800" dirty="0" smtClean="0"/>
              <a:t>=5</a:t>
            </a:r>
            <a:endParaRPr lang="zh-CN" altLang="en-US" sz="1800" dirty="0"/>
          </a:p>
        </p:txBody>
      </p:sp>
      <p:sp>
        <p:nvSpPr>
          <p:cNvPr id="9" name="椭圆 8"/>
          <p:cNvSpPr/>
          <p:nvPr/>
        </p:nvSpPr>
        <p:spPr>
          <a:xfrm>
            <a:off x="6075590" y="1531257"/>
            <a:ext cx="4136571" cy="312398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9051322" y="1075332"/>
            <a:ext cx="529771" cy="5139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5197476" y="1104710"/>
            <a:ext cx="529771" cy="184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197476" y="5218570"/>
            <a:ext cx="2893138" cy="1135183"/>
          </a:xfrm>
          <a:prstGeom prst="rect">
            <a:avLst/>
          </a:prstGeom>
          <a:solidFill>
            <a:schemeClr val="bg1"/>
          </a:solidFill>
        </p:spPr>
        <p:txBody>
          <a:bodyPr wrap="square" rtlCol="0">
            <a:spAutoFit/>
          </a:bodyPr>
          <a:lstStyle/>
          <a:p>
            <a:pPr>
              <a:lnSpc>
                <a:spcPct val="130000"/>
              </a:lnSpc>
            </a:pPr>
            <a:r>
              <a:rPr lang="zh-CN" altLang="en-US" sz="1800" dirty="0" smtClean="0"/>
              <a:t>电流测量的跨阻放大器，可通过模拟开关切换</a:t>
            </a:r>
            <a:r>
              <a:rPr lang="zh-CN" altLang="en-US" sz="1800" dirty="0" smtClean="0"/>
              <a:t>量程</a:t>
            </a:r>
            <a:endParaRPr lang="en-US" altLang="zh-CN" sz="1800" dirty="0" smtClean="0"/>
          </a:p>
          <a:p>
            <a:pPr>
              <a:lnSpc>
                <a:spcPct val="130000"/>
              </a:lnSpc>
            </a:pPr>
            <a:r>
              <a:rPr lang="zh-CN" altLang="en-US" sz="1800" dirty="0" smtClean="0"/>
              <a:t>（反馈电阻）。</a:t>
            </a:r>
            <a:endParaRPr lang="zh-CN" altLang="en-US" sz="1800" dirty="0"/>
          </a:p>
        </p:txBody>
      </p:sp>
      <p:sp>
        <p:nvSpPr>
          <p:cNvPr id="7" name="椭圆 6"/>
          <p:cNvSpPr/>
          <p:nvPr/>
        </p:nvSpPr>
        <p:spPr>
          <a:xfrm>
            <a:off x="2214790" y="1244815"/>
            <a:ext cx="4085771" cy="44012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10592560" y="865113"/>
            <a:ext cx="1297030" cy="1172629"/>
          </a:xfrm>
          <a:prstGeom prst="rect">
            <a:avLst/>
          </a:prstGeom>
          <a:solidFill>
            <a:schemeClr val="bg1"/>
          </a:solidFill>
        </p:spPr>
        <p:txBody>
          <a:bodyPr wrap="square" rtlCol="0">
            <a:spAutoFit/>
          </a:bodyPr>
          <a:lstStyle/>
          <a:p>
            <a:pPr>
              <a:lnSpc>
                <a:spcPct val="130000"/>
              </a:lnSpc>
            </a:pPr>
            <a:r>
              <a:rPr lang="zh-CN" altLang="en-US" sz="1800" dirty="0" smtClean="0"/>
              <a:t>模拟开关，切换电压与电流</a:t>
            </a:r>
            <a:endParaRPr lang="zh-CN" altLang="en-US" sz="1800" dirty="0"/>
          </a:p>
        </p:txBody>
      </p:sp>
      <p:sp>
        <p:nvSpPr>
          <p:cNvPr id="16" name="椭圆 15"/>
          <p:cNvSpPr/>
          <p:nvPr/>
        </p:nvSpPr>
        <p:spPr>
          <a:xfrm>
            <a:off x="10046306" y="2055189"/>
            <a:ext cx="1184244" cy="934754"/>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59221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2913637" y="1542823"/>
            <a:ext cx="3569284" cy="2376034"/>
          </a:xfrm>
          <a:prstGeom prst="rect">
            <a:avLst/>
          </a:prstGeom>
        </p:spPr>
      </p:pic>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矩形 4"/>
          <p:cNvSpPr/>
          <p:nvPr/>
        </p:nvSpPr>
        <p:spPr>
          <a:xfrm>
            <a:off x="471715" y="584123"/>
            <a:ext cx="11226800" cy="5078313"/>
          </a:xfrm>
          <a:prstGeom prst="rect">
            <a:avLst/>
          </a:prstGeom>
        </p:spPr>
        <p:txBody>
          <a:bodyPr wrap="square">
            <a:spAutoFit/>
          </a:bodyPr>
          <a:lstStyle/>
          <a:p>
            <a:pPr indent="457200">
              <a:lnSpc>
                <a:spcPct val="150000"/>
              </a:lnSpc>
              <a:spcBef>
                <a:spcPts val="0"/>
              </a:spcBef>
            </a:pPr>
            <a:r>
              <a:rPr lang="zh-CN" altLang="en-US" sz="1800" dirty="0" smtClean="0">
                <a:latin typeface="等线" panose="02010600030101010101" pitchFamily="2" charset="-122"/>
                <a:ea typeface="等线" panose="02010600030101010101" pitchFamily="2" charset="-122"/>
              </a:rPr>
              <a:t>电流检测部分的结构</a:t>
            </a:r>
            <a:endParaRPr lang="en-US" altLang="zh-CN" sz="1800" dirty="0" smtClean="0">
              <a:latin typeface="等线" panose="02010600030101010101" pitchFamily="2" charset="-122"/>
              <a:ea typeface="等线" panose="02010600030101010101" pitchFamily="2" charset="-122"/>
            </a:endParaRPr>
          </a:p>
          <a:p>
            <a:pPr indent="457200">
              <a:lnSpc>
                <a:spcPct val="150000"/>
              </a:lnSpc>
              <a:spcBef>
                <a:spcPts val="0"/>
              </a:spcBef>
            </a:pPr>
            <a:endParaRPr lang="en-US" altLang="zh-CN" sz="1800" dirty="0">
              <a:latin typeface="等线" panose="02010600030101010101" pitchFamily="2" charset="-122"/>
              <a:ea typeface="等线" panose="02010600030101010101" pitchFamily="2" charset="-122"/>
            </a:endParaRPr>
          </a:p>
          <a:p>
            <a:pPr indent="457200">
              <a:lnSpc>
                <a:spcPct val="150000"/>
              </a:lnSpc>
              <a:spcBef>
                <a:spcPts val="0"/>
              </a:spcBef>
            </a:pPr>
            <a:endParaRPr lang="en-US" altLang="zh-CN" sz="1800" dirty="0" smtClean="0">
              <a:latin typeface="等线" panose="02010600030101010101" pitchFamily="2" charset="-122"/>
              <a:ea typeface="等线" panose="02010600030101010101" pitchFamily="2" charset="-122"/>
            </a:endParaRPr>
          </a:p>
          <a:p>
            <a:pPr indent="457200">
              <a:lnSpc>
                <a:spcPct val="150000"/>
              </a:lnSpc>
              <a:spcBef>
                <a:spcPts val="0"/>
              </a:spcBef>
            </a:pPr>
            <a:endParaRPr lang="en-US" altLang="zh-CN" sz="1800" dirty="0">
              <a:latin typeface="等线" panose="02010600030101010101" pitchFamily="2" charset="-122"/>
              <a:ea typeface="等线" panose="02010600030101010101" pitchFamily="2" charset="-122"/>
            </a:endParaRPr>
          </a:p>
          <a:p>
            <a:pPr indent="457200">
              <a:lnSpc>
                <a:spcPct val="150000"/>
              </a:lnSpc>
              <a:spcBef>
                <a:spcPts val="0"/>
              </a:spcBef>
            </a:pPr>
            <a:endParaRPr lang="en-US" altLang="zh-CN" sz="1800" dirty="0" smtClean="0">
              <a:latin typeface="等线" panose="02010600030101010101" pitchFamily="2" charset="-122"/>
              <a:ea typeface="等线" panose="02010600030101010101" pitchFamily="2" charset="-122"/>
            </a:endParaRPr>
          </a:p>
          <a:p>
            <a:pPr indent="457200">
              <a:lnSpc>
                <a:spcPct val="150000"/>
              </a:lnSpc>
              <a:spcBef>
                <a:spcPts val="0"/>
              </a:spcBef>
            </a:pPr>
            <a:endParaRPr lang="en-US" altLang="zh-CN" sz="1800" dirty="0">
              <a:latin typeface="等线" panose="02010600030101010101" pitchFamily="2" charset="-122"/>
              <a:ea typeface="等线" panose="02010600030101010101" pitchFamily="2" charset="-122"/>
            </a:endParaRPr>
          </a:p>
          <a:p>
            <a:pPr indent="457200">
              <a:lnSpc>
                <a:spcPct val="150000"/>
              </a:lnSpc>
              <a:spcBef>
                <a:spcPts val="0"/>
              </a:spcBef>
            </a:pPr>
            <a:endParaRPr lang="en-US" altLang="zh-CN" sz="1800" dirty="0" smtClean="0">
              <a:latin typeface="等线" panose="02010600030101010101" pitchFamily="2" charset="-122"/>
              <a:ea typeface="等线" panose="02010600030101010101" pitchFamily="2" charset="-122"/>
            </a:endParaRPr>
          </a:p>
          <a:p>
            <a:pPr indent="457200">
              <a:lnSpc>
                <a:spcPct val="150000"/>
              </a:lnSpc>
              <a:spcBef>
                <a:spcPts val="0"/>
              </a:spcBef>
            </a:pPr>
            <a:endParaRPr lang="en-US" altLang="zh-CN" sz="1800" dirty="0" smtClean="0">
              <a:latin typeface="等线" panose="02010600030101010101" pitchFamily="2" charset="-122"/>
              <a:ea typeface="等线" panose="02010600030101010101" pitchFamily="2" charset="-122"/>
            </a:endParaRPr>
          </a:p>
          <a:p>
            <a:pPr indent="457200">
              <a:lnSpc>
                <a:spcPct val="150000"/>
              </a:lnSpc>
              <a:spcBef>
                <a:spcPts val="0"/>
              </a:spcBef>
            </a:pPr>
            <a:endParaRPr lang="en-US" altLang="zh-CN" sz="1800" dirty="0">
              <a:latin typeface="等线" panose="02010600030101010101" pitchFamily="2" charset="-122"/>
              <a:ea typeface="等线" panose="02010600030101010101" pitchFamily="2" charset="-122"/>
            </a:endParaRPr>
          </a:p>
          <a:p>
            <a:pPr indent="457200">
              <a:lnSpc>
                <a:spcPct val="150000"/>
              </a:lnSpc>
              <a:spcBef>
                <a:spcPts val="0"/>
              </a:spcBef>
            </a:pPr>
            <a:r>
              <a:rPr lang="zh-CN" altLang="en-US" sz="1800" dirty="0" smtClean="0">
                <a:latin typeface="等线" panose="02010600030101010101" pitchFamily="2" charset="-122"/>
                <a:ea typeface="等线" panose="02010600030101010101" pitchFamily="2" charset="-122"/>
              </a:rPr>
              <a:t>采用</a:t>
            </a:r>
            <a:r>
              <a:rPr lang="zh-CN" altLang="en-US" sz="1800" dirty="0">
                <a:latin typeface="等线" panose="02010600030101010101" pitchFamily="2" charset="-122"/>
                <a:ea typeface="等线" panose="02010600030101010101" pitchFamily="2" charset="-122"/>
              </a:rPr>
              <a:t>跨阻放大器测量电流的好处是：该</a:t>
            </a:r>
            <a:r>
              <a:rPr lang="zh-CN" altLang="en-US" sz="1800" dirty="0" smtClean="0">
                <a:latin typeface="等线" panose="02010600030101010101" pitchFamily="2" charset="-122"/>
                <a:ea typeface="等线" panose="02010600030101010101" pitchFamily="2" charset="-122"/>
              </a:rPr>
              <a:t>方法在主测量回路中的</a:t>
            </a:r>
            <a:r>
              <a:rPr lang="zh-CN" altLang="en-US" sz="1800" dirty="0">
                <a:latin typeface="等线" panose="02010600030101010101" pitchFamily="2" charset="-122"/>
                <a:ea typeface="等线" panose="02010600030101010101" pitchFamily="2" charset="-122"/>
              </a:rPr>
              <a:t>等效采样电阻值等于</a:t>
            </a:r>
            <a:r>
              <a:rPr lang="en-US" altLang="zh-CN" sz="1800" dirty="0">
                <a:latin typeface="等线" panose="02010600030101010101" pitchFamily="2" charset="-122"/>
                <a:ea typeface="等线" panose="02010600030101010101" pitchFamily="2" charset="-122"/>
              </a:rPr>
              <a:t>0</a:t>
            </a:r>
            <a:r>
              <a:rPr lang="zh-CN" altLang="en-US" sz="1800" dirty="0">
                <a:latin typeface="等线" panose="02010600030101010101" pitchFamily="2" charset="-122"/>
                <a:ea typeface="等线" panose="02010600030101010101" pitchFamily="2" charset="-122"/>
              </a:rPr>
              <a:t>。这在电流很小的情况下尤其重要，因为在那种情况下，常规的采样电阻（串联在测量回路中）可能会很大，待测元件上得到的测量电压变低、信噪比变差、测量误差增加。</a:t>
            </a:r>
            <a:endParaRPr lang="en-US" altLang="zh-CN" sz="1800" dirty="0">
              <a:latin typeface="等线" panose="02010600030101010101" pitchFamily="2" charset="-122"/>
              <a:ea typeface="等线" panose="02010600030101010101" pitchFamily="2" charset="-122"/>
            </a:endParaRPr>
          </a:p>
        </p:txBody>
      </p:sp>
      <p:sp>
        <p:nvSpPr>
          <p:cNvPr id="7" name="椭圆 6"/>
          <p:cNvSpPr/>
          <p:nvPr/>
        </p:nvSpPr>
        <p:spPr>
          <a:xfrm>
            <a:off x="2913637" y="2558143"/>
            <a:ext cx="2318763" cy="15457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603829" y="3084677"/>
            <a:ext cx="1642149" cy="369332"/>
          </a:xfrm>
          <a:prstGeom prst="rect">
            <a:avLst/>
          </a:prstGeom>
          <a:noFill/>
        </p:spPr>
        <p:txBody>
          <a:bodyPr wrap="square" rtlCol="0">
            <a:spAutoFit/>
          </a:bodyPr>
          <a:lstStyle/>
          <a:p>
            <a:r>
              <a:rPr lang="zh-CN" altLang="en-US" sz="1800" dirty="0" smtClean="0"/>
              <a:t>跨阻放大器</a:t>
            </a:r>
            <a:endParaRPr lang="zh-CN" altLang="en-US" dirty="0"/>
          </a:p>
        </p:txBody>
      </p:sp>
      <p:sp>
        <p:nvSpPr>
          <p:cNvPr id="11" name="文本框 10"/>
          <p:cNvSpPr txBox="1"/>
          <p:nvPr/>
        </p:nvSpPr>
        <p:spPr>
          <a:xfrm>
            <a:off x="5462479" y="2629302"/>
            <a:ext cx="6098150" cy="812530"/>
          </a:xfrm>
          <a:prstGeom prst="rect">
            <a:avLst/>
          </a:prstGeom>
          <a:noFill/>
        </p:spPr>
        <p:txBody>
          <a:bodyPr wrap="square" rtlCol="0">
            <a:spAutoFit/>
          </a:bodyPr>
          <a:lstStyle/>
          <a:p>
            <a:pPr>
              <a:lnSpc>
                <a:spcPct val="130000"/>
              </a:lnSpc>
            </a:pPr>
            <a:r>
              <a:rPr lang="zh-CN" altLang="en-US" sz="1800" dirty="0" smtClean="0"/>
              <a:t>切换</a:t>
            </a:r>
            <a:r>
              <a:rPr lang="zh-CN" altLang="en-US" sz="1800" dirty="0"/>
              <a:t>跨</a:t>
            </a:r>
            <a:r>
              <a:rPr lang="zh-CN" altLang="en-US" sz="1800" dirty="0" smtClean="0"/>
              <a:t>阻放大器反馈电阻的模拟开关</a:t>
            </a:r>
            <a:endParaRPr lang="en-US" altLang="zh-CN" sz="1800" dirty="0" smtClean="0"/>
          </a:p>
          <a:p>
            <a:pPr>
              <a:lnSpc>
                <a:spcPct val="130000"/>
              </a:lnSpc>
            </a:pPr>
            <a:r>
              <a:rPr lang="zh-CN" altLang="en-US" sz="1800" dirty="0"/>
              <a:t>注意模拟开关的接法，这个接法可以消除开关内阻的</a:t>
            </a:r>
            <a:r>
              <a:rPr lang="zh-CN" altLang="en-US" sz="1800" dirty="0" smtClean="0"/>
              <a:t>影响</a:t>
            </a:r>
            <a:endParaRPr lang="zh-CN" altLang="en-US" sz="1800" dirty="0"/>
          </a:p>
        </p:txBody>
      </p:sp>
      <p:sp>
        <p:nvSpPr>
          <p:cNvPr id="12" name="文本框 11"/>
          <p:cNvSpPr txBox="1"/>
          <p:nvPr/>
        </p:nvSpPr>
        <p:spPr>
          <a:xfrm>
            <a:off x="4698279" y="1256176"/>
            <a:ext cx="2496457" cy="369332"/>
          </a:xfrm>
          <a:prstGeom prst="rect">
            <a:avLst/>
          </a:prstGeom>
          <a:noFill/>
        </p:spPr>
        <p:txBody>
          <a:bodyPr wrap="square" rtlCol="0">
            <a:spAutoFit/>
          </a:bodyPr>
          <a:lstStyle/>
          <a:p>
            <a:r>
              <a:rPr lang="zh-CN" altLang="en-US" sz="1800" dirty="0" smtClean="0"/>
              <a:t>采样输出的仪表放大器</a:t>
            </a:r>
            <a:endParaRPr lang="zh-CN" altLang="en-US" dirty="0"/>
          </a:p>
        </p:txBody>
      </p:sp>
      <p:cxnSp>
        <p:nvCxnSpPr>
          <p:cNvPr id="16" name="直接箭头连接符 15"/>
          <p:cNvCxnSpPr/>
          <p:nvPr/>
        </p:nvCxnSpPr>
        <p:spPr>
          <a:xfrm flipH="1" flipV="1">
            <a:off x="4756669" y="2629302"/>
            <a:ext cx="705810" cy="24452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70501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2146450" y="1382702"/>
            <a:ext cx="5430008" cy="3410426"/>
          </a:xfrm>
          <a:prstGeom prst="rect">
            <a:avLst/>
          </a:prstGeom>
        </p:spPr>
      </p:pic>
      <p:sp>
        <p:nvSpPr>
          <p:cNvPr id="6" name="文本框 5"/>
          <p:cNvSpPr txBox="1"/>
          <p:nvPr/>
        </p:nvSpPr>
        <p:spPr>
          <a:xfrm>
            <a:off x="355600" y="515257"/>
            <a:ext cx="6466114" cy="369332"/>
          </a:xfrm>
          <a:prstGeom prst="rect">
            <a:avLst/>
          </a:prstGeom>
          <a:noFill/>
        </p:spPr>
        <p:txBody>
          <a:bodyPr wrap="square" rtlCol="0">
            <a:spAutoFit/>
          </a:bodyPr>
          <a:lstStyle/>
          <a:p>
            <a:r>
              <a:rPr lang="zh-CN" altLang="en-US" sz="1800" dirty="0" smtClean="0"/>
              <a:t>第二个</a:t>
            </a:r>
            <a:r>
              <a:rPr lang="en-US" altLang="zh-CN" sz="1800" dirty="0" smtClean="0"/>
              <a:t>LCR</a:t>
            </a:r>
            <a:r>
              <a:rPr lang="zh-CN" altLang="en-US" sz="1800" dirty="0" smtClean="0"/>
              <a:t>电桥的</a:t>
            </a:r>
            <a:r>
              <a:rPr lang="zh-CN" altLang="en-US" sz="1800" dirty="0" smtClean="0"/>
              <a:t>主放大器</a:t>
            </a:r>
            <a:endParaRPr lang="zh-CN" altLang="en-US" sz="1800" dirty="0"/>
          </a:p>
        </p:txBody>
      </p:sp>
      <p:sp>
        <p:nvSpPr>
          <p:cNvPr id="7" name="椭圆 6"/>
          <p:cNvSpPr/>
          <p:nvPr/>
        </p:nvSpPr>
        <p:spPr>
          <a:xfrm>
            <a:off x="3497943" y="1494971"/>
            <a:ext cx="4078515" cy="34906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815944" y="2540391"/>
            <a:ext cx="3839027" cy="1532727"/>
          </a:xfrm>
          <a:prstGeom prst="rect">
            <a:avLst/>
          </a:prstGeom>
          <a:noFill/>
        </p:spPr>
        <p:txBody>
          <a:bodyPr wrap="square" rtlCol="0">
            <a:spAutoFit/>
          </a:bodyPr>
          <a:lstStyle/>
          <a:p>
            <a:pPr>
              <a:lnSpc>
                <a:spcPct val="130000"/>
              </a:lnSpc>
            </a:pPr>
            <a:r>
              <a:rPr lang="zh-CN" altLang="en-US" sz="1800" dirty="0"/>
              <a:t>两</a:t>
            </a:r>
            <a:r>
              <a:rPr lang="zh-CN" altLang="en-US" sz="1800" dirty="0" smtClean="0"/>
              <a:t>级同相放大器</a:t>
            </a:r>
            <a:endParaRPr lang="en-US" altLang="zh-CN" sz="1800" dirty="0" smtClean="0"/>
          </a:p>
          <a:p>
            <a:pPr>
              <a:lnSpc>
                <a:spcPct val="130000"/>
              </a:lnSpc>
            </a:pPr>
            <a:r>
              <a:rPr lang="zh-CN" altLang="en-US" sz="1800" dirty="0" smtClean="0"/>
              <a:t>通过切换反馈电阻改变增益（图中接法可以消除模拟开关内阻影响）</a:t>
            </a:r>
            <a:endParaRPr lang="en-US" altLang="zh-CN" sz="1800" dirty="0" smtClean="0"/>
          </a:p>
          <a:p>
            <a:pPr>
              <a:lnSpc>
                <a:spcPct val="130000"/>
              </a:lnSpc>
            </a:pPr>
            <a:r>
              <a:rPr lang="zh-CN" altLang="en-US" sz="1800" dirty="0" smtClean="0"/>
              <a:t>电容耦合</a:t>
            </a:r>
            <a:endParaRPr lang="zh-CN" altLang="en-US" dirty="0"/>
          </a:p>
        </p:txBody>
      </p:sp>
      <p:sp>
        <p:nvSpPr>
          <p:cNvPr id="9" name="椭圆 8"/>
          <p:cNvSpPr/>
          <p:nvPr/>
        </p:nvSpPr>
        <p:spPr>
          <a:xfrm flipH="1">
            <a:off x="2090058" y="2540392"/>
            <a:ext cx="1313542" cy="10373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7158" y="2473949"/>
            <a:ext cx="1658557" cy="1172629"/>
          </a:xfrm>
          <a:prstGeom prst="rect">
            <a:avLst/>
          </a:prstGeom>
          <a:noFill/>
        </p:spPr>
        <p:txBody>
          <a:bodyPr wrap="square" rtlCol="0">
            <a:spAutoFit/>
          </a:bodyPr>
          <a:lstStyle/>
          <a:p>
            <a:pPr>
              <a:lnSpc>
                <a:spcPct val="130000"/>
              </a:lnSpc>
            </a:pPr>
            <a:r>
              <a:rPr lang="zh-CN" altLang="en-US" sz="1800" dirty="0" smtClean="0"/>
              <a:t>模拟开关</a:t>
            </a:r>
            <a:endParaRPr lang="en-US" altLang="zh-CN" sz="1800" dirty="0" smtClean="0"/>
          </a:p>
          <a:p>
            <a:pPr>
              <a:lnSpc>
                <a:spcPct val="130000"/>
              </a:lnSpc>
            </a:pPr>
            <a:r>
              <a:rPr lang="zh-CN" altLang="en-US" sz="1800" dirty="0" smtClean="0"/>
              <a:t>切换电压测量与电流测量</a:t>
            </a:r>
            <a:endParaRPr lang="zh-CN" altLang="en-US" dirty="0"/>
          </a:p>
        </p:txBody>
      </p:sp>
    </p:spTree>
    <p:extLst>
      <p:ext uri="{BB962C8B-B14F-4D97-AF65-F5344CB8AC3E}">
        <p14:creationId xmlns:p14="http://schemas.microsoft.com/office/powerpoint/2010/main" val="2111376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pic>
        <p:nvPicPr>
          <p:cNvPr id="6" name="图片 5"/>
          <p:cNvPicPr>
            <a:picLocks noChangeAspect="1"/>
          </p:cNvPicPr>
          <p:nvPr/>
        </p:nvPicPr>
        <p:blipFill>
          <a:blip r:embed="rId2"/>
          <a:stretch>
            <a:fillRect/>
          </a:stretch>
        </p:blipFill>
        <p:spPr>
          <a:xfrm>
            <a:off x="2552205" y="1801057"/>
            <a:ext cx="7087589" cy="4315427"/>
          </a:xfrm>
          <a:prstGeom prst="rect">
            <a:avLst/>
          </a:prstGeom>
        </p:spPr>
      </p:pic>
      <p:sp>
        <p:nvSpPr>
          <p:cNvPr id="7" name="矩形 6"/>
          <p:cNvSpPr/>
          <p:nvPr/>
        </p:nvSpPr>
        <p:spPr>
          <a:xfrm>
            <a:off x="2552205" y="1801057"/>
            <a:ext cx="2868881" cy="3180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090891" y="3799756"/>
            <a:ext cx="548903" cy="2316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976091" y="5342542"/>
            <a:ext cx="2963223" cy="7739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552206" y="2011514"/>
            <a:ext cx="365166" cy="8840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flipH="1">
            <a:off x="5208155" y="1801056"/>
            <a:ext cx="4588988" cy="33805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flipH="1">
            <a:off x="2699655" y="2352274"/>
            <a:ext cx="2663373" cy="293092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355599" y="515257"/>
            <a:ext cx="11321143" cy="923330"/>
          </a:xfrm>
          <a:prstGeom prst="rect">
            <a:avLst/>
          </a:prstGeom>
          <a:noFill/>
        </p:spPr>
        <p:txBody>
          <a:bodyPr wrap="square" rtlCol="0">
            <a:spAutoFit/>
          </a:bodyPr>
          <a:lstStyle/>
          <a:p>
            <a:pPr>
              <a:lnSpc>
                <a:spcPct val="150000"/>
              </a:lnSpc>
            </a:pPr>
            <a:r>
              <a:rPr lang="zh-CN" altLang="en-US" sz="1800" dirty="0" smtClean="0"/>
              <a:t>第二个</a:t>
            </a:r>
            <a:r>
              <a:rPr lang="en-US" altLang="zh-CN" sz="1800" dirty="0" smtClean="0"/>
              <a:t>LCR</a:t>
            </a:r>
            <a:r>
              <a:rPr lang="zh-CN" altLang="en-US" sz="1800" dirty="0" smtClean="0"/>
              <a:t>电桥的</a:t>
            </a:r>
            <a:r>
              <a:rPr lang="en-US" altLang="zh-CN" sz="1800" dirty="0" smtClean="0"/>
              <a:t>ADC</a:t>
            </a:r>
            <a:r>
              <a:rPr lang="zh-CN" altLang="en-US" sz="1800" dirty="0" smtClean="0"/>
              <a:t>部分</a:t>
            </a:r>
            <a:endParaRPr lang="en-US" altLang="zh-CN" sz="1800" dirty="0" smtClean="0"/>
          </a:p>
          <a:p>
            <a:pPr>
              <a:lnSpc>
                <a:spcPct val="150000"/>
              </a:lnSpc>
            </a:pPr>
            <a:r>
              <a:rPr lang="zh-CN" altLang="en-US" sz="1800" dirty="0" smtClean="0"/>
              <a:t>这个电路采用了正交同步检波</a:t>
            </a:r>
            <a:r>
              <a:rPr lang="zh-CN" altLang="en-US" sz="1800" dirty="0" smtClean="0"/>
              <a:t>电路</a:t>
            </a:r>
            <a:endParaRPr lang="zh-CN" altLang="en-US" sz="1800" dirty="0"/>
          </a:p>
        </p:txBody>
      </p:sp>
      <p:sp>
        <p:nvSpPr>
          <p:cNvPr id="15" name="文本框 14"/>
          <p:cNvSpPr txBox="1"/>
          <p:nvPr/>
        </p:nvSpPr>
        <p:spPr>
          <a:xfrm>
            <a:off x="9787243" y="2937620"/>
            <a:ext cx="2034342" cy="1532727"/>
          </a:xfrm>
          <a:prstGeom prst="rect">
            <a:avLst/>
          </a:prstGeom>
          <a:noFill/>
        </p:spPr>
        <p:txBody>
          <a:bodyPr wrap="square" rtlCol="0">
            <a:spAutoFit/>
          </a:bodyPr>
          <a:lstStyle/>
          <a:p>
            <a:pPr>
              <a:lnSpc>
                <a:spcPct val="130000"/>
              </a:lnSpc>
            </a:pPr>
            <a:r>
              <a:rPr lang="zh-CN" altLang="en-US" sz="1800" dirty="0"/>
              <a:t>双</a:t>
            </a:r>
            <a:r>
              <a:rPr lang="zh-CN" altLang="en-US" sz="1800" dirty="0" smtClean="0"/>
              <a:t>积分型</a:t>
            </a:r>
            <a:r>
              <a:rPr lang="en-US" altLang="zh-CN" sz="1800" dirty="0" smtClean="0"/>
              <a:t>ADC</a:t>
            </a:r>
          </a:p>
          <a:p>
            <a:pPr>
              <a:lnSpc>
                <a:spcPct val="130000"/>
              </a:lnSpc>
            </a:pPr>
            <a:r>
              <a:rPr lang="zh-CN" altLang="en-US" sz="1800" dirty="0" smtClean="0"/>
              <a:t>具有很高的分辨率与精度</a:t>
            </a:r>
            <a:endParaRPr lang="en-US" altLang="zh-CN" sz="1800" dirty="0" smtClean="0"/>
          </a:p>
          <a:p>
            <a:pPr>
              <a:lnSpc>
                <a:spcPct val="130000"/>
              </a:lnSpc>
            </a:pPr>
            <a:r>
              <a:rPr lang="zh-CN" altLang="en-US" sz="1800" dirty="0" smtClean="0"/>
              <a:t>转换速度很低</a:t>
            </a:r>
            <a:endParaRPr lang="zh-CN" altLang="en-US" sz="1800" dirty="0"/>
          </a:p>
        </p:txBody>
      </p:sp>
      <p:sp>
        <p:nvSpPr>
          <p:cNvPr id="16" name="文本框 15"/>
          <p:cNvSpPr txBox="1"/>
          <p:nvPr/>
        </p:nvSpPr>
        <p:spPr>
          <a:xfrm>
            <a:off x="674110" y="3106057"/>
            <a:ext cx="2137380" cy="812530"/>
          </a:xfrm>
          <a:prstGeom prst="rect">
            <a:avLst/>
          </a:prstGeom>
          <a:noFill/>
        </p:spPr>
        <p:txBody>
          <a:bodyPr wrap="square" rtlCol="0">
            <a:spAutoFit/>
          </a:bodyPr>
          <a:lstStyle/>
          <a:p>
            <a:pPr>
              <a:lnSpc>
                <a:spcPct val="130000"/>
              </a:lnSpc>
            </a:pPr>
            <a:r>
              <a:rPr lang="zh-CN" altLang="en-US" sz="1800" dirty="0" smtClean="0"/>
              <a:t>用模拟开关构成的正交同步检波电路</a:t>
            </a:r>
            <a:endParaRPr lang="zh-CN" altLang="en-US" sz="1800" dirty="0"/>
          </a:p>
        </p:txBody>
      </p:sp>
      <p:sp>
        <p:nvSpPr>
          <p:cNvPr id="17" name="文本框 16"/>
          <p:cNvSpPr txBox="1"/>
          <p:nvPr/>
        </p:nvSpPr>
        <p:spPr>
          <a:xfrm>
            <a:off x="4697108" y="5372026"/>
            <a:ext cx="2638124" cy="452432"/>
          </a:xfrm>
          <a:prstGeom prst="rect">
            <a:avLst/>
          </a:prstGeom>
          <a:noFill/>
        </p:spPr>
        <p:txBody>
          <a:bodyPr wrap="square" rtlCol="0">
            <a:spAutoFit/>
          </a:bodyPr>
          <a:lstStyle/>
          <a:p>
            <a:pPr>
              <a:lnSpc>
                <a:spcPct val="130000"/>
              </a:lnSpc>
            </a:pPr>
            <a:r>
              <a:rPr lang="zh-CN" altLang="en-US" sz="1800" dirty="0" smtClean="0"/>
              <a:t>两个正交同步时钟信号</a:t>
            </a:r>
            <a:endParaRPr lang="zh-CN" altLang="en-US" sz="1800" dirty="0"/>
          </a:p>
        </p:txBody>
      </p:sp>
      <p:sp>
        <p:nvSpPr>
          <p:cNvPr id="18" name="椭圆 17"/>
          <p:cNvSpPr/>
          <p:nvPr/>
        </p:nvSpPr>
        <p:spPr>
          <a:xfrm flipH="1">
            <a:off x="4176185" y="4158342"/>
            <a:ext cx="799906" cy="667657"/>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p:cNvCxnSpPr>
            <a:endCxn id="18" idx="3"/>
          </p:cNvCxnSpPr>
          <p:nvPr/>
        </p:nvCxnSpPr>
        <p:spPr>
          <a:xfrm flipH="1" flipV="1">
            <a:off x="4858947" y="4728223"/>
            <a:ext cx="360898" cy="71591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395028" y="6036280"/>
            <a:ext cx="2244765" cy="372410"/>
          </a:xfrm>
          <a:prstGeom prst="rect">
            <a:avLst/>
          </a:prstGeom>
          <a:noFill/>
        </p:spPr>
        <p:txBody>
          <a:bodyPr wrap="square" rtlCol="0">
            <a:spAutoFit/>
          </a:bodyPr>
          <a:lstStyle/>
          <a:p>
            <a:pPr>
              <a:lnSpc>
                <a:spcPct val="130000"/>
              </a:lnSpc>
            </a:pPr>
            <a:r>
              <a:rPr lang="zh-CN" altLang="en-US" sz="1400" dirty="0" smtClean="0"/>
              <a:t>被检测的信号</a:t>
            </a:r>
            <a:endParaRPr lang="zh-CN" altLang="en-US" sz="1400" dirty="0"/>
          </a:p>
        </p:txBody>
      </p:sp>
      <p:cxnSp>
        <p:nvCxnSpPr>
          <p:cNvPr id="24" name="直接箭头连接符 23"/>
          <p:cNvCxnSpPr/>
          <p:nvPr/>
        </p:nvCxnSpPr>
        <p:spPr>
          <a:xfrm flipV="1">
            <a:off x="8023225" y="5698067"/>
            <a:ext cx="3176" cy="312208"/>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flipH="1">
            <a:off x="4068947" y="2576604"/>
            <a:ext cx="1352137" cy="169441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3853543" y="1819371"/>
            <a:ext cx="2324466" cy="452432"/>
          </a:xfrm>
          <a:prstGeom prst="rect">
            <a:avLst/>
          </a:prstGeom>
          <a:noFill/>
        </p:spPr>
        <p:txBody>
          <a:bodyPr wrap="square" rtlCol="0">
            <a:spAutoFit/>
          </a:bodyPr>
          <a:lstStyle/>
          <a:p>
            <a:pPr>
              <a:lnSpc>
                <a:spcPct val="130000"/>
              </a:lnSpc>
            </a:pPr>
            <a:r>
              <a:rPr lang="zh-CN" altLang="en-US" sz="1800" dirty="0" smtClean="0"/>
              <a:t>两个</a:t>
            </a:r>
            <a:r>
              <a:rPr lang="en-US" altLang="zh-CN" sz="1800" dirty="0" smtClean="0"/>
              <a:t>RC</a:t>
            </a:r>
            <a:r>
              <a:rPr lang="zh-CN" altLang="en-US" sz="1800" dirty="0" smtClean="0"/>
              <a:t>积分电路</a:t>
            </a:r>
            <a:endParaRPr lang="zh-CN" altLang="en-US" sz="1800" dirty="0"/>
          </a:p>
        </p:txBody>
      </p:sp>
      <p:cxnSp>
        <p:nvCxnSpPr>
          <p:cNvPr id="29" name="直接箭头连接符 28"/>
          <p:cNvCxnSpPr/>
          <p:nvPr/>
        </p:nvCxnSpPr>
        <p:spPr>
          <a:xfrm flipH="1">
            <a:off x="4976091" y="2271803"/>
            <a:ext cx="243755" cy="36246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9772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pic>
        <p:nvPicPr>
          <p:cNvPr id="5" name="图片 4"/>
          <p:cNvPicPr>
            <a:picLocks noChangeAspect="1"/>
          </p:cNvPicPr>
          <p:nvPr/>
        </p:nvPicPr>
        <p:blipFill>
          <a:blip r:embed="rId3"/>
          <a:stretch>
            <a:fillRect/>
          </a:stretch>
        </p:blipFill>
        <p:spPr>
          <a:xfrm>
            <a:off x="3057553" y="1064603"/>
            <a:ext cx="5597385" cy="1802947"/>
          </a:xfrm>
          <a:prstGeom prst="rect">
            <a:avLst/>
          </a:prstGeom>
        </p:spPr>
      </p:pic>
      <p:sp>
        <p:nvSpPr>
          <p:cNvPr id="6" name="文本框 5"/>
          <p:cNvSpPr txBox="1"/>
          <p:nvPr/>
        </p:nvSpPr>
        <p:spPr>
          <a:xfrm>
            <a:off x="449642" y="442686"/>
            <a:ext cx="11371943" cy="42473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正交同步检波</a:t>
            </a:r>
            <a:endParaRPr lang="en-US" altLang="zh-CN" sz="1800" dirty="0" smtClean="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r>
              <a:rPr lang="zh-CN" altLang="en-US" sz="1800" dirty="0" smtClean="0"/>
              <a:t>信号发生器同时送出两路正交信号</a:t>
            </a:r>
            <a:endParaRPr lang="en-US" altLang="zh-CN" sz="1800" dirty="0" smtClean="0"/>
          </a:p>
          <a:p>
            <a:pPr indent="457200">
              <a:lnSpc>
                <a:spcPct val="150000"/>
              </a:lnSpc>
            </a:pPr>
            <a:r>
              <a:rPr lang="zh-CN" altLang="en-US" sz="1800" dirty="0" smtClean="0"/>
              <a:t>设电压检测信号为</a:t>
            </a:r>
            <a:r>
              <a:rPr lang="en-US" altLang="zh-CN" sz="1800" dirty="0" err="1" smtClean="0"/>
              <a:t>Vcos</a:t>
            </a:r>
            <a:r>
              <a:rPr lang="en-US" altLang="zh-CN" sz="1800" dirty="0" smtClean="0"/>
              <a:t>(</a:t>
            </a:r>
            <a:r>
              <a:rPr lang="el-GR" altLang="zh-CN" sz="1800" dirty="0" smtClean="0"/>
              <a:t>ω</a:t>
            </a:r>
            <a:r>
              <a:rPr lang="en-US" altLang="zh-CN" sz="1800" dirty="0" smtClean="0"/>
              <a:t>t+</a:t>
            </a:r>
            <a:r>
              <a:rPr lang="el-GR" altLang="zh-CN" sz="1800" dirty="0" smtClean="0"/>
              <a:t>φ</a:t>
            </a:r>
            <a:r>
              <a:rPr lang="en-US" altLang="zh-CN" sz="1800" baseline="-25000" dirty="0"/>
              <a:t>1</a:t>
            </a:r>
            <a:r>
              <a:rPr lang="en-US" altLang="zh-CN" sz="1800" dirty="0" smtClean="0"/>
              <a:t>)</a:t>
            </a:r>
            <a:r>
              <a:rPr lang="zh-CN" altLang="en-US" sz="1800" dirty="0" smtClean="0"/>
              <a:t>，与两个正交参考信号相乘并经过低通滤波后的输出为</a:t>
            </a:r>
            <a:r>
              <a:rPr lang="en-US" altLang="zh-CN" sz="1800" dirty="0" err="1" smtClean="0"/>
              <a:t>Vcos</a:t>
            </a:r>
            <a:r>
              <a:rPr lang="el-GR" altLang="zh-CN" sz="1800" dirty="0" smtClean="0"/>
              <a:t>φ</a:t>
            </a:r>
            <a:r>
              <a:rPr lang="en-US" altLang="zh-CN" sz="1800" baseline="-25000" dirty="0"/>
              <a:t>1</a:t>
            </a:r>
            <a:r>
              <a:rPr lang="zh-CN" altLang="en-US" sz="1800" dirty="0" smtClean="0"/>
              <a:t>与</a:t>
            </a:r>
            <a:r>
              <a:rPr lang="en-US" altLang="zh-CN" sz="1800" dirty="0" smtClean="0"/>
              <a:t>-</a:t>
            </a:r>
            <a:r>
              <a:rPr lang="en-US" altLang="zh-CN" sz="1800" dirty="0" err="1" smtClean="0"/>
              <a:t>Vsin</a:t>
            </a:r>
            <a:r>
              <a:rPr lang="el-GR" altLang="zh-CN" sz="1800" dirty="0" smtClean="0"/>
              <a:t>φ</a:t>
            </a:r>
            <a:r>
              <a:rPr lang="en-US" altLang="zh-CN" sz="1800" baseline="-25000" dirty="0" smtClean="0"/>
              <a:t>1</a:t>
            </a:r>
            <a:endParaRPr lang="en-US" altLang="zh-CN" sz="1800" dirty="0" smtClean="0"/>
          </a:p>
          <a:p>
            <a:pPr indent="457200">
              <a:lnSpc>
                <a:spcPct val="150000"/>
              </a:lnSpc>
            </a:pPr>
            <a:r>
              <a:rPr lang="zh-CN" altLang="en-US" sz="1800" dirty="0" smtClean="0"/>
              <a:t>设电流检测信号为</a:t>
            </a:r>
            <a:r>
              <a:rPr lang="en-US" altLang="zh-CN" sz="1800" dirty="0" err="1" smtClean="0"/>
              <a:t>Icos</a:t>
            </a:r>
            <a:r>
              <a:rPr lang="en-US" altLang="zh-CN" sz="1800" dirty="0" smtClean="0"/>
              <a:t>(</a:t>
            </a:r>
            <a:r>
              <a:rPr lang="el-GR" altLang="zh-CN" sz="1800" dirty="0"/>
              <a:t>ω</a:t>
            </a:r>
            <a:r>
              <a:rPr lang="en-US" altLang="zh-CN" sz="1800" dirty="0"/>
              <a:t>t+</a:t>
            </a:r>
            <a:r>
              <a:rPr lang="el-GR" altLang="zh-CN" sz="1800" dirty="0" smtClean="0"/>
              <a:t>φ</a:t>
            </a:r>
            <a:r>
              <a:rPr lang="en-US" altLang="zh-CN" sz="1800" baseline="-25000" dirty="0"/>
              <a:t>2</a:t>
            </a:r>
            <a:r>
              <a:rPr lang="en-US" altLang="zh-CN" sz="1800" dirty="0" smtClean="0"/>
              <a:t>)</a:t>
            </a:r>
            <a:r>
              <a:rPr lang="zh-CN" altLang="en-US" sz="1800" dirty="0" smtClean="0"/>
              <a:t>，</a:t>
            </a:r>
            <a:r>
              <a:rPr lang="zh-CN" altLang="en-US" sz="1800" dirty="0"/>
              <a:t>与两个正交参考信号</a:t>
            </a:r>
            <a:r>
              <a:rPr lang="zh-CN" altLang="en-US" sz="1800" dirty="0" smtClean="0"/>
              <a:t>相乘并</a:t>
            </a:r>
            <a:r>
              <a:rPr lang="zh-CN" altLang="en-US" sz="1800" dirty="0"/>
              <a:t>经过低通滤波</a:t>
            </a:r>
            <a:r>
              <a:rPr lang="zh-CN" altLang="en-US" sz="1800" dirty="0" smtClean="0"/>
              <a:t>后的输出为</a:t>
            </a:r>
            <a:r>
              <a:rPr lang="en-US" altLang="zh-CN" sz="1800" dirty="0" err="1" smtClean="0"/>
              <a:t>Icos</a:t>
            </a:r>
            <a:r>
              <a:rPr lang="el-GR" altLang="zh-CN" sz="1800" dirty="0" smtClean="0"/>
              <a:t>φ</a:t>
            </a:r>
            <a:r>
              <a:rPr lang="en-US" altLang="zh-CN" sz="1800" baseline="-25000" dirty="0" smtClean="0"/>
              <a:t>2</a:t>
            </a:r>
            <a:r>
              <a:rPr lang="zh-CN" altLang="en-US" sz="1800" dirty="0" smtClean="0"/>
              <a:t>与</a:t>
            </a:r>
            <a:r>
              <a:rPr lang="en-US" altLang="zh-CN" sz="1800" dirty="0" smtClean="0"/>
              <a:t>-</a:t>
            </a:r>
            <a:r>
              <a:rPr lang="en-US" altLang="zh-CN" sz="1800" dirty="0" err="1" smtClean="0"/>
              <a:t>Isin</a:t>
            </a:r>
            <a:r>
              <a:rPr lang="el-GR" altLang="zh-CN" sz="1800" dirty="0" smtClean="0"/>
              <a:t>φ</a:t>
            </a:r>
            <a:r>
              <a:rPr lang="en-US" altLang="zh-CN" sz="1800" baseline="-25000" dirty="0" smtClean="0"/>
              <a:t>2</a:t>
            </a:r>
            <a:endParaRPr lang="en-US" altLang="zh-CN" sz="1800" dirty="0" smtClean="0"/>
          </a:p>
          <a:p>
            <a:pPr indent="457200">
              <a:lnSpc>
                <a:spcPct val="150000"/>
              </a:lnSpc>
            </a:pPr>
            <a:r>
              <a:rPr lang="zh-CN" altLang="en-US" sz="1800" dirty="0"/>
              <a:t>由此</a:t>
            </a:r>
            <a:r>
              <a:rPr lang="zh-CN" altLang="en-US" sz="1800" dirty="0" smtClean="0"/>
              <a:t>可得到检测信号的电压与电流的模以及它们的相位差</a:t>
            </a:r>
            <a:endParaRPr lang="en-US" altLang="zh-CN" sz="1800" dirty="0" smtClean="0"/>
          </a:p>
        </p:txBody>
      </p:sp>
      <p:graphicFrame>
        <p:nvGraphicFramePr>
          <p:cNvPr id="8" name="对象 7"/>
          <p:cNvGraphicFramePr>
            <a:graphicFrameLocks noChangeAspect="1"/>
          </p:cNvGraphicFramePr>
          <p:nvPr>
            <p:extLst>
              <p:ext uri="{D42A27DB-BD31-4B8C-83A1-F6EECF244321}">
                <p14:modId xmlns:p14="http://schemas.microsoft.com/office/powerpoint/2010/main" val="2386035176"/>
              </p:ext>
            </p:extLst>
          </p:nvPr>
        </p:nvGraphicFramePr>
        <p:xfrm>
          <a:off x="2833073" y="4690003"/>
          <a:ext cx="6046344" cy="1200986"/>
        </p:xfrm>
        <a:graphic>
          <a:graphicData uri="http://schemas.openxmlformats.org/presentationml/2006/ole">
            <mc:AlternateContent xmlns:mc="http://schemas.openxmlformats.org/markup-compatibility/2006">
              <mc:Choice xmlns:v="urn:schemas-microsoft-com:vml" Requires="v">
                <p:oleObj spid="_x0000_s37908" name="Equation" r:id="rId4" imgW="3708360" imgH="736560" progId="Equation.DSMT4">
                  <p:embed/>
                </p:oleObj>
              </mc:Choice>
              <mc:Fallback>
                <p:oleObj name="Equation" r:id="rId4" imgW="3708360" imgH="736560" progId="Equation.DSMT4">
                  <p:embed/>
                  <p:pic>
                    <p:nvPicPr>
                      <p:cNvPr id="0" name=""/>
                      <p:cNvPicPr/>
                      <p:nvPr/>
                    </p:nvPicPr>
                    <p:blipFill>
                      <a:blip r:embed="rId5"/>
                      <a:stretch>
                        <a:fillRect/>
                      </a:stretch>
                    </p:blipFill>
                    <p:spPr>
                      <a:xfrm>
                        <a:off x="2833073" y="4690003"/>
                        <a:ext cx="6046344" cy="1200986"/>
                      </a:xfrm>
                      <a:prstGeom prst="rect">
                        <a:avLst/>
                      </a:prstGeom>
                    </p:spPr>
                  </p:pic>
                </p:oleObj>
              </mc:Fallback>
            </mc:AlternateContent>
          </a:graphicData>
        </a:graphic>
      </p:graphicFrame>
    </p:spTree>
    <p:extLst>
      <p:ext uri="{BB962C8B-B14F-4D97-AF65-F5344CB8AC3E}">
        <p14:creationId xmlns:p14="http://schemas.microsoft.com/office/powerpoint/2010/main" val="3985496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7" name="文本框 6"/>
          <p:cNvSpPr txBox="1"/>
          <p:nvPr/>
        </p:nvSpPr>
        <p:spPr>
          <a:xfrm>
            <a:off x="231928" y="580511"/>
            <a:ext cx="11488358" cy="1754326"/>
          </a:xfrm>
          <a:prstGeom prst="rect">
            <a:avLst/>
          </a:prstGeom>
          <a:noFill/>
        </p:spPr>
        <p:txBody>
          <a:bodyPr wrap="square" rtlCol="0">
            <a:spAutoFit/>
          </a:bodyPr>
          <a:lstStyle/>
          <a:p>
            <a:pPr indent="457200">
              <a:lnSpc>
                <a:spcPct val="150000"/>
              </a:lnSpc>
            </a:pPr>
            <a:r>
              <a:rPr lang="zh-CN" altLang="en-US" sz="1800" dirty="0" smtClean="0"/>
              <a:t>正交同步检波方法的优点：</a:t>
            </a:r>
            <a:endParaRPr lang="en-US" altLang="zh-CN" sz="1800" dirty="0" smtClean="0"/>
          </a:p>
          <a:p>
            <a:pPr indent="457200">
              <a:lnSpc>
                <a:spcPct val="150000"/>
              </a:lnSpc>
            </a:pPr>
            <a:r>
              <a:rPr lang="en-US" altLang="zh-CN" sz="1800" dirty="0" smtClean="0"/>
              <a:t>1</a:t>
            </a:r>
            <a:r>
              <a:rPr lang="zh-CN" altLang="en-US" sz="1800" dirty="0" smtClean="0"/>
              <a:t>、相位信息由参考信号提供，与测试时间无关。</a:t>
            </a:r>
            <a:endParaRPr lang="en-US" altLang="zh-CN" sz="1800" dirty="0" smtClean="0"/>
          </a:p>
          <a:p>
            <a:pPr indent="457200">
              <a:lnSpc>
                <a:spcPct val="150000"/>
              </a:lnSpc>
            </a:pPr>
            <a:r>
              <a:rPr lang="en-US" altLang="zh-CN" sz="1800" dirty="0" smtClean="0"/>
              <a:t>2</a:t>
            </a:r>
            <a:r>
              <a:rPr lang="zh-CN" altLang="en-US" sz="1800" dirty="0" smtClean="0"/>
              <a:t>、最后的输出是直流电压，测试频率不受</a:t>
            </a:r>
            <a:r>
              <a:rPr lang="en-US" altLang="zh-CN" sz="1800" dirty="0" smtClean="0"/>
              <a:t>ADC</a:t>
            </a:r>
            <a:r>
              <a:rPr lang="zh-CN" altLang="en-US" sz="1800" dirty="0" smtClean="0"/>
              <a:t>速度的限制。</a:t>
            </a:r>
            <a:endParaRPr lang="en-US" altLang="zh-CN" sz="1800" dirty="0" smtClean="0"/>
          </a:p>
          <a:p>
            <a:pPr indent="457200">
              <a:lnSpc>
                <a:spcPct val="150000"/>
              </a:lnSpc>
            </a:pPr>
            <a:r>
              <a:rPr lang="en-US" altLang="zh-CN" sz="1800" dirty="0" smtClean="0"/>
              <a:t>3</a:t>
            </a:r>
            <a:r>
              <a:rPr lang="zh-CN" altLang="en-US" sz="1800" dirty="0" smtClean="0"/>
              <a:t>、低通滤波器的截止频率可做得很低，等效噪声带宽极窄，抗噪声干扰的能力极高。</a:t>
            </a:r>
            <a:endParaRPr lang="zh-CN" altLang="en-US" sz="1800" dirty="0"/>
          </a:p>
        </p:txBody>
      </p:sp>
    </p:spTree>
    <p:extLst>
      <p:ext uri="{BB962C8B-B14F-4D97-AF65-F5344CB8AC3E}">
        <p14:creationId xmlns:p14="http://schemas.microsoft.com/office/powerpoint/2010/main" val="1604011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sp>
        <p:nvSpPr>
          <p:cNvPr id="5" name="文本框 4"/>
          <p:cNvSpPr txBox="1"/>
          <p:nvPr/>
        </p:nvSpPr>
        <p:spPr>
          <a:xfrm>
            <a:off x="399143" y="515257"/>
            <a:ext cx="11284857" cy="5570756"/>
          </a:xfrm>
          <a:prstGeom prst="rect">
            <a:avLst/>
          </a:prstGeom>
          <a:noFill/>
        </p:spPr>
        <p:txBody>
          <a:bodyPr wrap="square" rtlCol="0">
            <a:spAutoFit/>
          </a:bodyPr>
          <a:lstStyle/>
          <a:p>
            <a:pPr indent="457200">
              <a:lnSpc>
                <a:spcPct val="150000"/>
              </a:lnSpc>
            </a:pPr>
            <a:r>
              <a:rPr lang="zh-CN" altLang="en-US" sz="1800" dirty="0" smtClean="0"/>
              <a:t>复阻抗方法的优点是电路比较简单，只需要一个测试频率就可以得到结果。但是这个测试方法只适合测量单个元件，例如实验室仪器</a:t>
            </a:r>
            <a:r>
              <a:rPr lang="en-US" altLang="zh-CN" sz="1800" dirty="0" smtClean="0"/>
              <a:t>LCR</a:t>
            </a:r>
            <a:r>
              <a:rPr lang="zh-CN" altLang="en-US" sz="1800" dirty="0" smtClean="0"/>
              <a:t>数字电桥采用此测量方法，可以测量电容或电感值以及它们的</a:t>
            </a:r>
            <a:r>
              <a:rPr lang="en-US" altLang="zh-CN" sz="1800" dirty="0" smtClean="0"/>
              <a:t>Q</a:t>
            </a:r>
            <a:r>
              <a:rPr lang="zh-CN" altLang="en-US" sz="1800" dirty="0" smtClean="0"/>
              <a:t>值，实际上就是测它们的复阻抗，然后通过计算得到其电容或电感值以及它们的损耗电阻值，并依此计算</a:t>
            </a:r>
            <a:r>
              <a:rPr lang="en-US" altLang="zh-CN" sz="1800" dirty="0" smtClean="0"/>
              <a:t>Q</a:t>
            </a:r>
            <a:r>
              <a:rPr lang="zh-CN" altLang="en-US" sz="1800" dirty="0" smtClean="0"/>
              <a:t>值。</a:t>
            </a:r>
            <a:endParaRPr lang="en-US" altLang="zh-CN" sz="1800" dirty="0" smtClean="0"/>
          </a:p>
          <a:p>
            <a:pPr indent="457200">
              <a:lnSpc>
                <a:spcPct val="150000"/>
              </a:lnSpc>
            </a:pPr>
            <a:r>
              <a:rPr lang="zh-CN" altLang="en-US" sz="1800" dirty="0" smtClean="0"/>
              <a:t>对于本题，</a:t>
            </a:r>
            <a:r>
              <a:rPr lang="zh-CN" altLang="zh-CN" sz="1800" dirty="0" smtClean="0"/>
              <a:t>按照</a:t>
            </a:r>
            <a:r>
              <a:rPr lang="zh-CN" altLang="zh-CN" sz="1800" dirty="0"/>
              <a:t>题目要求，待测网络除了三个独立元件</a:t>
            </a:r>
            <a:r>
              <a:rPr lang="en-US" altLang="zh-CN" sz="1800" dirty="0"/>
              <a:t>RLC</a:t>
            </a:r>
            <a:r>
              <a:rPr lang="zh-CN" altLang="zh-CN" sz="1800" dirty="0"/>
              <a:t>外，还有由三种元件中的任意</a:t>
            </a:r>
            <a:r>
              <a:rPr lang="en-US" altLang="zh-CN" sz="1800" dirty="0"/>
              <a:t>2~3</a:t>
            </a:r>
            <a:r>
              <a:rPr lang="zh-CN" altLang="zh-CN" sz="1800" dirty="0"/>
              <a:t>个串联或并联构成的网络。用</a:t>
            </a:r>
            <a:r>
              <a:rPr lang="en-US" altLang="zh-CN" sz="1800" dirty="0"/>
              <a:t>2</a:t>
            </a:r>
            <a:r>
              <a:rPr lang="zh-CN" altLang="zh-CN" sz="1800" dirty="0"/>
              <a:t>个元件可构成</a:t>
            </a:r>
            <a:r>
              <a:rPr lang="en-US" altLang="zh-CN" sz="1800" dirty="0"/>
              <a:t>RC</a:t>
            </a:r>
            <a:r>
              <a:rPr lang="zh-CN" altLang="zh-CN" sz="1800" dirty="0"/>
              <a:t>串联、</a:t>
            </a:r>
            <a:r>
              <a:rPr lang="en-US" altLang="zh-CN" sz="1800" dirty="0"/>
              <a:t>RC</a:t>
            </a:r>
            <a:r>
              <a:rPr lang="zh-CN" altLang="zh-CN" sz="1800" dirty="0"/>
              <a:t>并联、</a:t>
            </a:r>
            <a:r>
              <a:rPr lang="en-US" altLang="zh-CN" sz="1800" dirty="0"/>
              <a:t>RL</a:t>
            </a:r>
            <a:r>
              <a:rPr lang="zh-CN" altLang="zh-CN" sz="1800" dirty="0"/>
              <a:t>串联、</a:t>
            </a:r>
            <a:r>
              <a:rPr lang="en-US" altLang="zh-CN" sz="1800" dirty="0"/>
              <a:t>RL</a:t>
            </a:r>
            <a:r>
              <a:rPr lang="zh-CN" altLang="zh-CN" sz="1800" dirty="0"/>
              <a:t>并联、</a:t>
            </a:r>
            <a:r>
              <a:rPr lang="en-US" altLang="zh-CN" sz="1800" dirty="0"/>
              <a:t>LC</a:t>
            </a:r>
            <a:r>
              <a:rPr lang="zh-CN" altLang="zh-CN" sz="1800" dirty="0"/>
              <a:t>串联、</a:t>
            </a:r>
            <a:r>
              <a:rPr lang="en-US" altLang="zh-CN" sz="1800" dirty="0"/>
              <a:t>LC</a:t>
            </a:r>
            <a:r>
              <a:rPr lang="zh-CN" altLang="zh-CN" sz="1800" dirty="0"/>
              <a:t>并联等</a:t>
            </a:r>
            <a:r>
              <a:rPr lang="en-US" altLang="zh-CN" sz="1800" dirty="0"/>
              <a:t>6</a:t>
            </a:r>
            <a:r>
              <a:rPr lang="zh-CN" altLang="zh-CN" sz="1800" dirty="0"/>
              <a:t>种网络结构，用</a:t>
            </a:r>
            <a:r>
              <a:rPr lang="en-US" altLang="zh-CN" sz="1800" dirty="0"/>
              <a:t>3</a:t>
            </a:r>
            <a:r>
              <a:rPr lang="zh-CN" altLang="zh-CN" sz="1800" dirty="0"/>
              <a:t>个元件可构成</a:t>
            </a:r>
            <a:r>
              <a:rPr lang="en-US" altLang="zh-CN" sz="1800" dirty="0"/>
              <a:t>RLC</a:t>
            </a:r>
            <a:r>
              <a:rPr lang="zh-CN" altLang="zh-CN" sz="1800" dirty="0"/>
              <a:t>串联、</a:t>
            </a:r>
            <a:r>
              <a:rPr lang="en-US" altLang="zh-CN" sz="1800" dirty="0"/>
              <a:t>RLC</a:t>
            </a:r>
            <a:r>
              <a:rPr lang="zh-CN" altLang="zh-CN" sz="1800" dirty="0"/>
              <a:t>并联等</a:t>
            </a:r>
            <a:r>
              <a:rPr lang="en-US" altLang="zh-CN" sz="1800" dirty="0"/>
              <a:t>2</a:t>
            </a:r>
            <a:r>
              <a:rPr lang="zh-CN" altLang="zh-CN" sz="1800" dirty="0"/>
              <a:t>种网络结构（</a:t>
            </a:r>
            <a:r>
              <a:rPr lang="en-US" altLang="zh-CN" sz="1800" dirty="0"/>
              <a:t>3</a:t>
            </a:r>
            <a:r>
              <a:rPr lang="zh-CN" altLang="zh-CN" sz="1800" dirty="0"/>
              <a:t>个元件还可以组合成其他</a:t>
            </a:r>
            <a:r>
              <a:rPr lang="en-US" altLang="zh-CN" sz="1800" dirty="0"/>
              <a:t>8</a:t>
            </a:r>
            <a:r>
              <a:rPr lang="zh-CN" altLang="zh-CN" sz="1800" dirty="0"/>
              <a:t>种串联与并联混合的混联结构，但由于题目只要求串联与并联，所以不考虑这些结构），所以本题总共有</a:t>
            </a:r>
            <a:r>
              <a:rPr lang="en-US" altLang="zh-CN" sz="1800" dirty="0"/>
              <a:t>3+6+2=11</a:t>
            </a:r>
            <a:r>
              <a:rPr lang="zh-CN" altLang="zh-CN" sz="1800" dirty="0"/>
              <a:t>种待测网络结构</a:t>
            </a:r>
            <a:r>
              <a:rPr lang="zh-CN" altLang="zh-CN" sz="1800" dirty="0" smtClean="0"/>
              <a:t>。</a:t>
            </a:r>
            <a:endParaRPr lang="en-US" altLang="zh-CN" sz="1800" dirty="0" smtClean="0"/>
          </a:p>
          <a:p>
            <a:pPr indent="457200">
              <a:lnSpc>
                <a:spcPct val="150000"/>
              </a:lnSpc>
            </a:pPr>
            <a:r>
              <a:rPr lang="zh-CN" altLang="en-US" sz="1800" dirty="0" smtClean="0"/>
              <a:t>用上述复阻抗方法在测量这些网络的时候会出现无法区分的状况。例如对于</a:t>
            </a:r>
            <a:r>
              <a:rPr lang="en-US" altLang="zh-CN" sz="1800" dirty="0" smtClean="0"/>
              <a:t>RC</a:t>
            </a:r>
            <a:r>
              <a:rPr lang="zh-CN" altLang="en-US" sz="1800" dirty="0" smtClean="0"/>
              <a:t>串联与</a:t>
            </a:r>
            <a:r>
              <a:rPr lang="en-US" altLang="zh-CN" sz="1800" dirty="0" smtClean="0"/>
              <a:t>RC</a:t>
            </a:r>
            <a:r>
              <a:rPr lang="zh-CN" altLang="en-US" sz="1800" dirty="0" smtClean="0"/>
              <a:t>并联网络，它们的复阻抗都是一个正实部与一个负虚部，仅靠一个结果无法区分它们是串联还是并联。又如</a:t>
            </a:r>
            <a:r>
              <a:rPr lang="en-US" altLang="zh-CN" sz="1800" dirty="0" smtClean="0"/>
              <a:t>RLC</a:t>
            </a:r>
            <a:r>
              <a:rPr lang="zh-CN" altLang="en-US" sz="1800" dirty="0" smtClean="0"/>
              <a:t>串联或并联电路，用复阻抗测试得到的阻抗虚部是</a:t>
            </a:r>
            <a:r>
              <a:rPr lang="en-US" altLang="zh-CN" sz="1800" dirty="0" smtClean="0"/>
              <a:t>L</a:t>
            </a:r>
            <a:r>
              <a:rPr lang="zh-CN" altLang="en-US" sz="1800" dirty="0" smtClean="0"/>
              <a:t>与</a:t>
            </a:r>
            <a:r>
              <a:rPr lang="en-US" altLang="zh-CN" sz="1800" dirty="0" smtClean="0"/>
              <a:t>C</a:t>
            </a:r>
            <a:r>
              <a:rPr lang="zh-CN" altLang="en-US" sz="1800" dirty="0" smtClean="0"/>
              <a:t>的合成电抗，仅靠一个结果也无法将它们区分开。</a:t>
            </a:r>
            <a:endParaRPr lang="en-US" altLang="zh-CN" sz="1800" dirty="0" smtClean="0"/>
          </a:p>
          <a:p>
            <a:pPr indent="457200">
              <a:lnSpc>
                <a:spcPct val="150000"/>
              </a:lnSpc>
              <a:spcBef>
                <a:spcPts val="600"/>
              </a:spcBef>
            </a:pPr>
            <a:r>
              <a:rPr lang="zh-CN" altLang="en-US" sz="1800" dirty="0" smtClean="0">
                <a:latin typeface="Times New Roman" panose="02020603050405020304" pitchFamily="18" charset="0"/>
                <a:ea typeface="华文楷体" panose="02010600040101010101" pitchFamily="2" charset="-122"/>
              </a:rPr>
              <a:t>顺便说一下，在</a:t>
            </a:r>
            <a:r>
              <a:rPr lang="en-US" altLang="zh-CN" sz="1800" dirty="0" smtClean="0">
                <a:latin typeface="Times New Roman" panose="02020603050405020304" pitchFamily="18" charset="0"/>
                <a:ea typeface="华文楷体" panose="02010600040101010101" pitchFamily="2" charset="-122"/>
              </a:rPr>
              <a:t>LCR</a:t>
            </a:r>
            <a:r>
              <a:rPr lang="zh-CN" altLang="en-US" sz="1800" dirty="0" smtClean="0">
                <a:latin typeface="Times New Roman" panose="02020603050405020304" pitchFamily="18" charset="0"/>
                <a:ea typeface="华文楷体" panose="02010600040101010101" pitchFamily="2" charset="-122"/>
              </a:rPr>
              <a:t>数字电桥中测电容或电感的时候，会有一个选项，就是选择以串联形式显示结果还是并联形式形式显示结果。当元件的</a:t>
            </a:r>
            <a:r>
              <a:rPr lang="en-US" altLang="zh-CN" sz="1800" dirty="0" smtClean="0">
                <a:latin typeface="Times New Roman" panose="02020603050405020304" pitchFamily="18" charset="0"/>
                <a:ea typeface="华文楷体" panose="02010600040101010101" pitchFamily="2" charset="-122"/>
              </a:rPr>
              <a:t>Q</a:t>
            </a:r>
            <a:r>
              <a:rPr lang="zh-CN" altLang="en-US" sz="1800" dirty="0" smtClean="0">
                <a:latin typeface="Times New Roman" panose="02020603050405020304" pitchFamily="18" charset="0"/>
                <a:ea typeface="华文楷体" panose="02010600040101010101" pitchFamily="2" charset="-122"/>
              </a:rPr>
              <a:t>值较高的时候，两者的结果相差不大；但是在</a:t>
            </a:r>
            <a:r>
              <a:rPr lang="en-US" altLang="zh-CN" sz="1800" dirty="0" smtClean="0">
                <a:latin typeface="Times New Roman" panose="02020603050405020304" pitchFamily="18" charset="0"/>
                <a:ea typeface="华文楷体" panose="02010600040101010101" pitchFamily="2" charset="-122"/>
              </a:rPr>
              <a:t>Q</a:t>
            </a:r>
            <a:r>
              <a:rPr lang="zh-CN" altLang="en-US" sz="1800" dirty="0" smtClean="0">
                <a:latin typeface="Times New Roman" panose="02020603050405020304" pitchFamily="18" charset="0"/>
                <a:ea typeface="华文楷体" panose="02010600040101010101" pitchFamily="2" charset="-122"/>
              </a:rPr>
              <a:t>值较小时，两个结果会有较大的差别。</a:t>
            </a:r>
            <a:endParaRPr lang="zh-CN" altLang="en-US" sz="1800" dirty="0">
              <a:latin typeface="Times New Roman" panose="02020603050405020304" pitchFamily="18" charset="0"/>
              <a:ea typeface="华文楷体" panose="02010600040101010101" pitchFamily="2" charset="-122"/>
            </a:endParaRPr>
          </a:p>
        </p:txBody>
      </p:sp>
    </p:spTree>
    <p:extLst>
      <p:ext uri="{BB962C8B-B14F-4D97-AF65-F5344CB8AC3E}">
        <p14:creationId xmlns:p14="http://schemas.microsoft.com/office/powerpoint/2010/main" val="2849825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sp>
        <p:nvSpPr>
          <p:cNvPr id="5" name="矩形 4"/>
          <p:cNvSpPr/>
          <p:nvPr/>
        </p:nvSpPr>
        <p:spPr>
          <a:xfrm>
            <a:off x="442201" y="458273"/>
            <a:ext cx="11321143" cy="216982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smtClean="0">
                <a:solidFill>
                  <a:srgbClr val="FF0000"/>
                </a:solidFill>
              </a:rPr>
              <a:t>频率特性测试法</a:t>
            </a:r>
            <a:endParaRPr lang="en-US" altLang="zh-CN" sz="1800" dirty="0">
              <a:solidFill>
                <a:srgbClr val="FF0000"/>
              </a:solidFill>
            </a:endParaRPr>
          </a:p>
          <a:p>
            <a:pPr indent="457200">
              <a:lnSpc>
                <a:spcPct val="150000"/>
              </a:lnSpc>
            </a:pPr>
            <a:r>
              <a:rPr lang="zh-CN" altLang="en-US" sz="1800" dirty="0" smtClean="0"/>
              <a:t>此方法的测试电路与复阻抗测试相同，但是激励源的频率可变，对被测对象作扫频测试，得到被测对象的阻抗</a:t>
            </a:r>
            <a:r>
              <a:rPr lang="zh-CN" altLang="en-US" sz="1800" dirty="0"/>
              <a:t>频率特性。类似的商品测试仪器称为阻抗测量仪。</a:t>
            </a:r>
            <a:endParaRPr lang="en-US" altLang="zh-CN" sz="1800" dirty="0"/>
          </a:p>
          <a:p>
            <a:pPr indent="457200">
              <a:lnSpc>
                <a:spcPct val="150000"/>
              </a:lnSpc>
            </a:pPr>
            <a:r>
              <a:rPr lang="zh-CN" altLang="en-US" sz="1800" dirty="0" smtClean="0"/>
              <a:t>根据频率特性，可以区分不同的网络结构以及其中的元件参数。</a:t>
            </a:r>
            <a:endParaRPr lang="en-US" altLang="zh-CN" sz="1800" dirty="0" smtClean="0"/>
          </a:p>
          <a:p>
            <a:pPr indent="457200">
              <a:lnSpc>
                <a:spcPct val="150000"/>
              </a:lnSpc>
            </a:pPr>
            <a:r>
              <a:rPr lang="zh-CN" altLang="en-US" sz="1800" dirty="0" smtClean="0"/>
              <a:t>下面分析各种不同结构电路的阻抗频率特性。</a:t>
            </a:r>
            <a:r>
              <a:rPr lang="en-US" altLang="zh-CN" sz="1800" dirty="0" smtClean="0"/>
              <a:t>                           </a:t>
            </a:r>
          </a:p>
        </p:txBody>
      </p:sp>
      <p:graphicFrame>
        <p:nvGraphicFramePr>
          <p:cNvPr id="6" name="对象 5"/>
          <p:cNvGraphicFramePr>
            <a:graphicFrameLocks noChangeAspect="1"/>
          </p:cNvGraphicFramePr>
          <p:nvPr>
            <p:extLst>
              <p:ext uri="{D42A27DB-BD31-4B8C-83A1-F6EECF244321}">
                <p14:modId xmlns:p14="http://schemas.microsoft.com/office/powerpoint/2010/main" val="894504762"/>
              </p:ext>
            </p:extLst>
          </p:nvPr>
        </p:nvGraphicFramePr>
        <p:xfrm>
          <a:off x="1772071" y="3047913"/>
          <a:ext cx="1096962" cy="803275"/>
        </p:xfrm>
        <a:graphic>
          <a:graphicData uri="http://schemas.openxmlformats.org/presentationml/2006/ole">
            <mc:AlternateContent xmlns:mc="http://schemas.openxmlformats.org/markup-compatibility/2006">
              <mc:Choice xmlns:v="urn:schemas-microsoft-com:vml" Requires="v">
                <p:oleObj spid="_x0000_s31922" name="Equation" r:id="rId4" imgW="520560" imgH="380880" progId="Equation.DSMT4">
                  <p:embed/>
                </p:oleObj>
              </mc:Choice>
              <mc:Fallback>
                <p:oleObj name="Equation" r:id="rId4" imgW="520560" imgH="380880" progId="Equation.DSMT4">
                  <p:embed/>
                  <p:pic>
                    <p:nvPicPr>
                      <p:cNvPr id="0" name=""/>
                      <p:cNvPicPr/>
                      <p:nvPr/>
                    </p:nvPicPr>
                    <p:blipFill>
                      <a:blip r:embed="rId5"/>
                      <a:stretch>
                        <a:fillRect/>
                      </a:stretch>
                    </p:blipFill>
                    <p:spPr>
                      <a:xfrm>
                        <a:off x="1772071" y="3047913"/>
                        <a:ext cx="1096962" cy="803275"/>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355267995"/>
              </p:ext>
            </p:extLst>
          </p:nvPr>
        </p:nvGraphicFramePr>
        <p:xfrm>
          <a:off x="5344666" y="3132622"/>
          <a:ext cx="1631950" cy="803275"/>
        </p:xfrm>
        <a:graphic>
          <a:graphicData uri="http://schemas.openxmlformats.org/presentationml/2006/ole">
            <mc:AlternateContent xmlns:mc="http://schemas.openxmlformats.org/markup-compatibility/2006">
              <mc:Choice xmlns:v="urn:schemas-microsoft-com:vml" Requires="v">
                <p:oleObj spid="_x0000_s31923" name="Equation" r:id="rId6" imgW="774360" imgH="380880" progId="Equation.DSMT4">
                  <p:embed/>
                </p:oleObj>
              </mc:Choice>
              <mc:Fallback>
                <p:oleObj name="Equation" r:id="rId6" imgW="774360" imgH="380880" progId="Equation.DSMT4">
                  <p:embed/>
                  <p:pic>
                    <p:nvPicPr>
                      <p:cNvPr id="6" name="对象 5"/>
                      <p:cNvPicPr/>
                      <p:nvPr/>
                    </p:nvPicPr>
                    <p:blipFill>
                      <a:blip r:embed="rId7"/>
                      <a:stretch>
                        <a:fillRect/>
                      </a:stretch>
                    </p:blipFill>
                    <p:spPr>
                      <a:xfrm>
                        <a:off x="5344666" y="3132622"/>
                        <a:ext cx="1631950" cy="803275"/>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687943765"/>
              </p:ext>
            </p:extLst>
          </p:nvPr>
        </p:nvGraphicFramePr>
        <p:xfrm>
          <a:off x="9071776" y="3132622"/>
          <a:ext cx="1633537" cy="803275"/>
        </p:xfrm>
        <a:graphic>
          <a:graphicData uri="http://schemas.openxmlformats.org/presentationml/2006/ole">
            <mc:AlternateContent xmlns:mc="http://schemas.openxmlformats.org/markup-compatibility/2006">
              <mc:Choice xmlns:v="urn:schemas-microsoft-com:vml" Requires="v">
                <p:oleObj spid="_x0000_s31924" name="Equation" r:id="rId8" imgW="774360" imgH="380880" progId="Equation.DSMT4">
                  <p:embed/>
                </p:oleObj>
              </mc:Choice>
              <mc:Fallback>
                <p:oleObj name="Equation" r:id="rId8" imgW="774360" imgH="380880" progId="Equation.DSMT4">
                  <p:embed/>
                  <p:pic>
                    <p:nvPicPr>
                      <p:cNvPr id="6" name="对象 5"/>
                      <p:cNvPicPr/>
                      <p:nvPr/>
                    </p:nvPicPr>
                    <p:blipFill>
                      <a:blip r:embed="rId9"/>
                      <a:stretch>
                        <a:fillRect/>
                      </a:stretch>
                    </p:blipFill>
                    <p:spPr>
                      <a:xfrm>
                        <a:off x="9071776" y="3132622"/>
                        <a:ext cx="1633537" cy="803275"/>
                      </a:xfrm>
                      <a:prstGeom prst="rect">
                        <a:avLst/>
                      </a:prstGeom>
                    </p:spPr>
                  </p:pic>
                </p:oleObj>
              </mc:Fallback>
            </mc:AlternateContent>
          </a:graphicData>
        </a:graphic>
      </p:graphicFrame>
      <p:sp>
        <p:nvSpPr>
          <p:cNvPr id="21" name="文本框 20"/>
          <p:cNvSpPr txBox="1"/>
          <p:nvPr/>
        </p:nvSpPr>
        <p:spPr>
          <a:xfrm>
            <a:off x="1953197" y="2678581"/>
            <a:ext cx="8752116" cy="369332"/>
          </a:xfrm>
          <a:prstGeom prst="rect">
            <a:avLst/>
          </a:prstGeom>
          <a:noFill/>
        </p:spPr>
        <p:txBody>
          <a:bodyPr wrap="square" rtlCol="0">
            <a:spAutoFit/>
          </a:bodyPr>
          <a:lstStyle/>
          <a:p>
            <a:r>
              <a:rPr lang="en-US" altLang="zh-CN" sz="1800" dirty="0" smtClean="0"/>
              <a:t>C                                                       </a:t>
            </a:r>
            <a:r>
              <a:rPr lang="en-US" altLang="zh-CN" sz="1800" dirty="0"/>
              <a:t>RC</a:t>
            </a:r>
            <a:r>
              <a:rPr lang="zh-CN" altLang="en-US" sz="1800" dirty="0"/>
              <a:t>串联                                      </a:t>
            </a:r>
            <a:r>
              <a:rPr lang="zh-CN" altLang="en-US" sz="1800" dirty="0" smtClean="0"/>
              <a:t>          </a:t>
            </a:r>
            <a:r>
              <a:rPr lang="en-US" altLang="zh-CN" sz="1800" dirty="0"/>
              <a:t>RC</a:t>
            </a:r>
            <a:r>
              <a:rPr lang="zh-CN" altLang="en-US" sz="1800" dirty="0"/>
              <a:t>并联</a:t>
            </a:r>
          </a:p>
        </p:txBody>
      </p:sp>
      <p:pic>
        <p:nvPicPr>
          <p:cNvPr id="31" name="图片 30"/>
          <p:cNvPicPr>
            <a:picLocks noChangeAspect="1"/>
          </p:cNvPicPr>
          <p:nvPr/>
        </p:nvPicPr>
        <p:blipFill>
          <a:blip r:embed="rId10"/>
          <a:stretch>
            <a:fillRect/>
          </a:stretch>
        </p:blipFill>
        <p:spPr>
          <a:xfrm>
            <a:off x="4286067" y="3783207"/>
            <a:ext cx="3657600" cy="2597150"/>
          </a:xfrm>
          <a:prstGeom prst="rect">
            <a:avLst/>
          </a:prstGeom>
        </p:spPr>
      </p:pic>
      <p:pic>
        <p:nvPicPr>
          <p:cNvPr id="32" name="图片 31"/>
          <p:cNvPicPr>
            <a:picLocks noChangeAspect="1"/>
          </p:cNvPicPr>
          <p:nvPr/>
        </p:nvPicPr>
        <p:blipFill>
          <a:blip r:embed="rId11"/>
          <a:stretch>
            <a:fillRect/>
          </a:stretch>
        </p:blipFill>
        <p:spPr>
          <a:xfrm>
            <a:off x="8105744" y="3783207"/>
            <a:ext cx="3657600" cy="2597150"/>
          </a:xfrm>
          <a:prstGeom prst="rect">
            <a:avLst/>
          </a:prstGeom>
        </p:spPr>
      </p:pic>
      <p:pic>
        <p:nvPicPr>
          <p:cNvPr id="33" name="图片 32"/>
          <p:cNvPicPr>
            <a:picLocks noChangeAspect="1"/>
          </p:cNvPicPr>
          <p:nvPr/>
        </p:nvPicPr>
        <p:blipFill>
          <a:blip r:embed="rId12"/>
          <a:stretch>
            <a:fillRect/>
          </a:stretch>
        </p:blipFill>
        <p:spPr>
          <a:xfrm>
            <a:off x="777540" y="3783207"/>
            <a:ext cx="3346450" cy="2400300"/>
          </a:xfrm>
          <a:prstGeom prst="rect">
            <a:avLst/>
          </a:prstGeom>
        </p:spPr>
      </p:pic>
    </p:spTree>
    <p:extLst>
      <p:ext uri="{BB962C8B-B14F-4D97-AF65-F5344CB8AC3E}">
        <p14:creationId xmlns:p14="http://schemas.microsoft.com/office/powerpoint/2010/main" val="23553158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176136526"/>
              </p:ext>
            </p:extLst>
          </p:nvPr>
        </p:nvGraphicFramePr>
        <p:xfrm>
          <a:off x="1785257" y="1797855"/>
          <a:ext cx="1016000" cy="401637"/>
        </p:xfrm>
        <a:graphic>
          <a:graphicData uri="http://schemas.openxmlformats.org/presentationml/2006/ole">
            <mc:AlternateContent xmlns:mc="http://schemas.openxmlformats.org/markup-compatibility/2006">
              <mc:Choice xmlns:v="urn:schemas-microsoft-com:vml" Requires="v">
                <p:oleObj spid="_x0000_s32920" name="Equation" r:id="rId4" imgW="482400" imgH="190440" progId="Equation.DSMT4">
                  <p:embed/>
                </p:oleObj>
              </mc:Choice>
              <mc:Fallback>
                <p:oleObj name="Equation" r:id="rId4" imgW="482400" imgH="190440" progId="Equation.DSMT4">
                  <p:embed/>
                  <p:pic>
                    <p:nvPicPr>
                      <p:cNvPr id="6" name="对象 5"/>
                      <p:cNvPicPr/>
                      <p:nvPr/>
                    </p:nvPicPr>
                    <p:blipFill>
                      <a:blip r:embed="rId5"/>
                      <a:stretch>
                        <a:fillRect/>
                      </a:stretch>
                    </p:blipFill>
                    <p:spPr>
                      <a:xfrm>
                        <a:off x="1785257" y="1797855"/>
                        <a:ext cx="1016000" cy="40163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67027555"/>
              </p:ext>
            </p:extLst>
          </p:nvPr>
        </p:nvGraphicFramePr>
        <p:xfrm>
          <a:off x="5034417" y="1797855"/>
          <a:ext cx="1471612" cy="401638"/>
        </p:xfrm>
        <a:graphic>
          <a:graphicData uri="http://schemas.openxmlformats.org/presentationml/2006/ole">
            <mc:AlternateContent xmlns:mc="http://schemas.openxmlformats.org/markup-compatibility/2006">
              <mc:Choice xmlns:v="urn:schemas-microsoft-com:vml" Requires="v">
                <p:oleObj spid="_x0000_s32921" name="Equation" r:id="rId6" imgW="698400" imgH="190440" progId="Equation.DSMT4">
                  <p:embed/>
                </p:oleObj>
              </mc:Choice>
              <mc:Fallback>
                <p:oleObj name="Equation" r:id="rId6" imgW="698400" imgH="190440" progId="Equation.DSMT4">
                  <p:embed/>
                  <p:pic>
                    <p:nvPicPr>
                      <p:cNvPr id="11" name="对象 10"/>
                      <p:cNvPicPr/>
                      <p:nvPr/>
                    </p:nvPicPr>
                    <p:blipFill>
                      <a:blip r:embed="rId7"/>
                      <a:stretch>
                        <a:fillRect/>
                      </a:stretch>
                    </p:blipFill>
                    <p:spPr>
                      <a:xfrm>
                        <a:off x="5034417" y="1797855"/>
                        <a:ext cx="1471612" cy="401638"/>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090022048"/>
              </p:ext>
            </p:extLst>
          </p:nvPr>
        </p:nvGraphicFramePr>
        <p:xfrm>
          <a:off x="8568871" y="1597035"/>
          <a:ext cx="1766888" cy="803275"/>
        </p:xfrm>
        <a:graphic>
          <a:graphicData uri="http://schemas.openxmlformats.org/presentationml/2006/ole">
            <mc:AlternateContent xmlns:mc="http://schemas.openxmlformats.org/markup-compatibility/2006">
              <mc:Choice xmlns:v="urn:schemas-microsoft-com:vml" Requires="v">
                <p:oleObj spid="_x0000_s32922" name="Equation" r:id="rId8" imgW="838080" imgH="380880" progId="Equation.DSMT4">
                  <p:embed/>
                </p:oleObj>
              </mc:Choice>
              <mc:Fallback>
                <p:oleObj name="Equation" r:id="rId8" imgW="838080" imgH="380880" progId="Equation.DSMT4">
                  <p:embed/>
                  <p:pic>
                    <p:nvPicPr>
                      <p:cNvPr id="12" name="对象 11"/>
                      <p:cNvPicPr/>
                      <p:nvPr/>
                    </p:nvPicPr>
                    <p:blipFill>
                      <a:blip r:embed="rId9"/>
                      <a:stretch>
                        <a:fillRect/>
                      </a:stretch>
                    </p:blipFill>
                    <p:spPr>
                      <a:xfrm>
                        <a:off x="8568871" y="1597035"/>
                        <a:ext cx="1766888" cy="803275"/>
                      </a:xfrm>
                      <a:prstGeom prst="rect">
                        <a:avLst/>
                      </a:prstGeom>
                    </p:spPr>
                  </p:pic>
                </p:oleObj>
              </mc:Fallback>
            </mc:AlternateContent>
          </a:graphicData>
        </a:graphic>
      </p:graphicFrame>
      <p:sp>
        <p:nvSpPr>
          <p:cNvPr id="21" name="文本框 20"/>
          <p:cNvSpPr txBox="1"/>
          <p:nvPr/>
        </p:nvSpPr>
        <p:spPr>
          <a:xfrm>
            <a:off x="1785257" y="1204932"/>
            <a:ext cx="8466366" cy="369332"/>
          </a:xfrm>
          <a:prstGeom prst="rect">
            <a:avLst/>
          </a:prstGeom>
          <a:noFill/>
        </p:spPr>
        <p:txBody>
          <a:bodyPr wrap="square" rtlCol="0">
            <a:spAutoFit/>
          </a:bodyPr>
          <a:lstStyle/>
          <a:p>
            <a:r>
              <a:rPr lang="en-US" altLang="zh-CN" sz="1800" dirty="0" smtClean="0"/>
              <a:t>    L                                               RL</a:t>
            </a:r>
            <a:r>
              <a:rPr lang="zh-CN" altLang="en-US" sz="1800" dirty="0" smtClean="0"/>
              <a:t>串联                                                </a:t>
            </a:r>
            <a:r>
              <a:rPr lang="en-US" altLang="zh-CN" sz="1800" dirty="0" smtClean="0"/>
              <a:t>RL</a:t>
            </a:r>
            <a:r>
              <a:rPr lang="zh-CN" altLang="en-US" sz="1800" dirty="0" smtClean="0"/>
              <a:t>并联</a:t>
            </a:r>
            <a:endParaRPr lang="zh-CN" altLang="en-US" sz="1800" dirty="0"/>
          </a:p>
        </p:txBody>
      </p:sp>
      <p:pic>
        <p:nvPicPr>
          <p:cNvPr id="14" name="图片 13"/>
          <p:cNvPicPr>
            <a:picLocks noChangeAspect="1"/>
          </p:cNvPicPr>
          <p:nvPr/>
        </p:nvPicPr>
        <p:blipFill>
          <a:blip r:embed="rId10"/>
          <a:stretch>
            <a:fillRect/>
          </a:stretch>
        </p:blipFill>
        <p:spPr>
          <a:xfrm>
            <a:off x="656848" y="2453182"/>
            <a:ext cx="3346450" cy="2419350"/>
          </a:xfrm>
          <a:prstGeom prst="rect">
            <a:avLst/>
          </a:prstGeom>
        </p:spPr>
      </p:pic>
      <p:pic>
        <p:nvPicPr>
          <p:cNvPr id="15" name="图片 14"/>
          <p:cNvPicPr>
            <a:picLocks noChangeAspect="1"/>
          </p:cNvPicPr>
          <p:nvPr/>
        </p:nvPicPr>
        <p:blipFill>
          <a:blip r:embed="rId11"/>
          <a:stretch>
            <a:fillRect/>
          </a:stretch>
        </p:blipFill>
        <p:spPr>
          <a:xfrm>
            <a:off x="4003298" y="2453182"/>
            <a:ext cx="3644900" cy="2641600"/>
          </a:xfrm>
          <a:prstGeom prst="rect">
            <a:avLst/>
          </a:prstGeom>
        </p:spPr>
      </p:pic>
      <p:pic>
        <p:nvPicPr>
          <p:cNvPr id="16" name="图片 15"/>
          <p:cNvPicPr>
            <a:picLocks noChangeAspect="1"/>
          </p:cNvPicPr>
          <p:nvPr/>
        </p:nvPicPr>
        <p:blipFill>
          <a:blip r:embed="rId12"/>
          <a:stretch>
            <a:fillRect/>
          </a:stretch>
        </p:blipFill>
        <p:spPr>
          <a:xfrm>
            <a:off x="7707389" y="2453182"/>
            <a:ext cx="3644900" cy="2641600"/>
          </a:xfrm>
          <a:prstGeom prst="rect">
            <a:avLst/>
          </a:prstGeom>
        </p:spPr>
      </p:pic>
    </p:spTree>
    <p:extLst>
      <p:ext uri="{BB962C8B-B14F-4D97-AF65-F5344CB8AC3E}">
        <p14:creationId xmlns:p14="http://schemas.microsoft.com/office/powerpoint/2010/main" val="15638442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829835697"/>
              </p:ext>
            </p:extLst>
          </p:nvPr>
        </p:nvGraphicFramePr>
        <p:xfrm>
          <a:off x="1005568" y="1302203"/>
          <a:ext cx="1577975" cy="830263"/>
        </p:xfrm>
        <a:graphic>
          <a:graphicData uri="http://schemas.openxmlformats.org/presentationml/2006/ole">
            <mc:AlternateContent xmlns:mc="http://schemas.openxmlformats.org/markup-compatibility/2006">
              <mc:Choice xmlns:v="urn:schemas-microsoft-com:vml" Requires="v">
                <p:oleObj spid="_x0000_s35022" name="Equation" r:id="rId4" imgW="749160" imgH="393480" progId="Equation.DSMT4">
                  <p:embed/>
                </p:oleObj>
              </mc:Choice>
              <mc:Fallback>
                <p:oleObj name="Equation" r:id="rId4" imgW="749160" imgH="393480" progId="Equation.DSMT4">
                  <p:embed/>
                  <p:pic>
                    <p:nvPicPr>
                      <p:cNvPr id="6" name="对象 5"/>
                      <p:cNvPicPr/>
                      <p:nvPr/>
                    </p:nvPicPr>
                    <p:blipFill>
                      <a:blip r:embed="rId5"/>
                      <a:stretch>
                        <a:fillRect/>
                      </a:stretch>
                    </p:blipFill>
                    <p:spPr>
                      <a:xfrm>
                        <a:off x="1005568" y="1302203"/>
                        <a:ext cx="1577975" cy="830263"/>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61978805"/>
              </p:ext>
            </p:extLst>
          </p:nvPr>
        </p:nvGraphicFramePr>
        <p:xfrm>
          <a:off x="3158597" y="1302204"/>
          <a:ext cx="2035175" cy="830262"/>
        </p:xfrm>
        <a:graphic>
          <a:graphicData uri="http://schemas.openxmlformats.org/presentationml/2006/ole">
            <mc:AlternateContent xmlns:mc="http://schemas.openxmlformats.org/markup-compatibility/2006">
              <mc:Choice xmlns:v="urn:schemas-microsoft-com:vml" Requires="v">
                <p:oleObj spid="_x0000_s35023" name="Equation" r:id="rId6" imgW="965160" imgH="393480" progId="Equation.DSMT4">
                  <p:embed/>
                </p:oleObj>
              </mc:Choice>
              <mc:Fallback>
                <p:oleObj name="Equation" r:id="rId6" imgW="965160" imgH="393480" progId="Equation.DSMT4">
                  <p:embed/>
                  <p:pic>
                    <p:nvPicPr>
                      <p:cNvPr id="12" name="对象 11"/>
                      <p:cNvPicPr/>
                      <p:nvPr/>
                    </p:nvPicPr>
                    <p:blipFill>
                      <a:blip r:embed="rId7"/>
                      <a:stretch>
                        <a:fillRect/>
                      </a:stretch>
                    </p:blipFill>
                    <p:spPr>
                      <a:xfrm>
                        <a:off x="3158597" y="1302204"/>
                        <a:ext cx="2035175" cy="830262"/>
                      </a:xfrm>
                      <a:prstGeom prst="rect">
                        <a:avLst/>
                      </a:prstGeom>
                    </p:spPr>
                  </p:pic>
                </p:oleObj>
              </mc:Fallback>
            </mc:AlternateContent>
          </a:graphicData>
        </a:graphic>
      </p:graphicFrame>
      <p:sp>
        <p:nvSpPr>
          <p:cNvPr id="21" name="文本框 20"/>
          <p:cNvSpPr txBox="1"/>
          <p:nvPr/>
        </p:nvSpPr>
        <p:spPr>
          <a:xfrm>
            <a:off x="1407886" y="820799"/>
            <a:ext cx="9223828" cy="369332"/>
          </a:xfrm>
          <a:prstGeom prst="rect">
            <a:avLst/>
          </a:prstGeom>
          <a:noFill/>
        </p:spPr>
        <p:txBody>
          <a:bodyPr wrap="square" rtlCol="0">
            <a:spAutoFit/>
          </a:bodyPr>
          <a:lstStyle/>
          <a:p>
            <a:r>
              <a:rPr lang="en-US" altLang="zh-CN" sz="1800" dirty="0" smtClean="0"/>
              <a:t>LC</a:t>
            </a:r>
            <a:r>
              <a:rPr lang="zh-CN" altLang="en-US" sz="1800" dirty="0" smtClean="0"/>
              <a:t>串联</a:t>
            </a:r>
            <a:r>
              <a:rPr lang="en-US" altLang="zh-CN" sz="1800" dirty="0" smtClean="0"/>
              <a:t>                     RLC</a:t>
            </a:r>
            <a:r>
              <a:rPr lang="zh-CN" altLang="en-US" sz="1800" dirty="0" smtClean="0"/>
              <a:t>串联                                              </a:t>
            </a:r>
            <a:r>
              <a:rPr lang="en-US" altLang="zh-CN" sz="1800" dirty="0" smtClean="0"/>
              <a:t>LC</a:t>
            </a:r>
            <a:r>
              <a:rPr lang="zh-CN" altLang="en-US" sz="1800" dirty="0" smtClean="0"/>
              <a:t>并联</a:t>
            </a:r>
            <a:r>
              <a:rPr lang="en-US" altLang="zh-CN" sz="1800" dirty="0" smtClean="0"/>
              <a:t>                     RLC</a:t>
            </a:r>
            <a:r>
              <a:rPr lang="zh-CN" altLang="en-US" sz="1800" dirty="0" smtClean="0"/>
              <a:t>并联</a:t>
            </a:r>
            <a:endParaRPr lang="zh-CN" altLang="en-US" sz="1800" dirty="0"/>
          </a:p>
        </p:txBody>
      </p:sp>
      <p:graphicFrame>
        <p:nvGraphicFramePr>
          <p:cNvPr id="13" name="对象 12"/>
          <p:cNvGraphicFramePr>
            <a:graphicFrameLocks noChangeAspect="1"/>
          </p:cNvGraphicFramePr>
          <p:nvPr>
            <p:extLst>
              <p:ext uri="{D42A27DB-BD31-4B8C-83A1-F6EECF244321}">
                <p14:modId xmlns:p14="http://schemas.microsoft.com/office/powerpoint/2010/main" val="3303086956"/>
              </p:ext>
            </p:extLst>
          </p:nvPr>
        </p:nvGraphicFramePr>
        <p:xfrm>
          <a:off x="6943461" y="1302203"/>
          <a:ext cx="1577975" cy="750887"/>
        </p:xfrm>
        <a:graphic>
          <a:graphicData uri="http://schemas.openxmlformats.org/presentationml/2006/ole">
            <mc:AlternateContent xmlns:mc="http://schemas.openxmlformats.org/markup-compatibility/2006">
              <mc:Choice xmlns:v="urn:schemas-microsoft-com:vml" Requires="v">
                <p:oleObj spid="_x0000_s35024" name="Equation" r:id="rId8" imgW="749160" imgH="355320" progId="Equation.DSMT4">
                  <p:embed/>
                </p:oleObj>
              </mc:Choice>
              <mc:Fallback>
                <p:oleObj name="Equation" r:id="rId8" imgW="749160" imgH="355320" progId="Equation.DSMT4">
                  <p:embed/>
                  <p:pic>
                    <p:nvPicPr>
                      <p:cNvPr id="6" name="对象 5"/>
                      <p:cNvPicPr/>
                      <p:nvPr/>
                    </p:nvPicPr>
                    <p:blipFill>
                      <a:blip r:embed="rId9"/>
                      <a:stretch>
                        <a:fillRect/>
                      </a:stretch>
                    </p:blipFill>
                    <p:spPr>
                      <a:xfrm>
                        <a:off x="6943461" y="1302203"/>
                        <a:ext cx="1577975" cy="750887"/>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232624619"/>
              </p:ext>
            </p:extLst>
          </p:nvPr>
        </p:nvGraphicFramePr>
        <p:xfrm>
          <a:off x="9164374" y="1302203"/>
          <a:ext cx="1982787" cy="749300"/>
        </p:xfrm>
        <a:graphic>
          <a:graphicData uri="http://schemas.openxmlformats.org/presentationml/2006/ole">
            <mc:AlternateContent xmlns:mc="http://schemas.openxmlformats.org/markup-compatibility/2006">
              <mc:Choice xmlns:v="urn:schemas-microsoft-com:vml" Requires="v">
                <p:oleObj spid="_x0000_s35025" name="Equation" r:id="rId10" imgW="939600" imgH="355320" progId="Equation.DSMT4">
                  <p:embed/>
                </p:oleObj>
              </mc:Choice>
              <mc:Fallback>
                <p:oleObj name="Equation" r:id="rId10" imgW="939600" imgH="355320" progId="Equation.DSMT4">
                  <p:embed/>
                  <p:pic>
                    <p:nvPicPr>
                      <p:cNvPr id="12" name="对象 11"/>
                      <p:cNvPicPr/>
                      <p:nvPr/>
                    </p:nvPicPr>
                    <p:blipFill>
                      <a:blip r:embed="rId11"/>
                      <a:stretch>
                        <a:fillRect/>
                      </a:stretch>
                    </p:blipFill>
                    <p:spPr>
                      <a:xfrm>
                        <a:off x="9164374" y="1302203"/>
                        <a:ext cx="1982787" cy="749300"/>
                      </a:xfrm>
                      <a:prstGeom prst="rect">
                        <a:avLst/>
                      </a:prstGeom>
                    </p:spPr>
                  </p:pic>
                </p:oleObj>
              </mc:Fallback>
            </mc:AlternateContent>
          </a:graphicData>
        </a:graphic>
      </p:graphicFrame>
      <p:pic>
        <p:nvPicPr>
          <p:cNvPr id="17" name="图片 16"/>
          <p:cNvPicPr>
            <a:picLocks noChangeAspect="1"/>
          </p:cNvPicPr>
          <p:nvPr/>
        </p:nvPicPr>
        <p:blipFill>
          <a:blip r:embed="rId12"/>
          <a:stretch>
            <a:fillRect/>
          </a:stretch>
        </p:blipFill>
        <p:spPr>
          <a:xfrm>
            <a:off x="1339322" y="2244538"/>
            <a:ext cx="3638550" cy="2635250"/>
          </a:xfrm>
          <a:prstGeom prst="rect">
            <a:avLst/>
          </a:prstGeom>
        </p:spPr>
      </p:pic>
      <p:pic>
        <p:nvPicPr>
          <p:cNvPr id="19" name="图片 18"/>
          <p:cNvPicPr>
            <a:picLocks noChangeAspect="1"/>
          </p:cNvPicPr>
          <p:nvPr/>
        </p:nvPicPr>
        <p:blipFill>
          <a:blip r:embed="rId13"/>
          <a:stretch>
            <a:fillRect/>
          </a:stretch>
        </p:blipFill>
        <p:spPr>
          <a:xfrm>
            <a:off x="7206796" y="2244538"/>
            <a:ext cx="3613150" cy="2635250"/>
          </a:xfrm>
          <a:prstGeom prst="rect">
            <a:avLst/>
          </a:prstGeom>
        </p:spPr>
      </p:pic>
      <p:sp>
        <p:nvSpPr>
          <p:cNvPr id="20" name="文本框 19"/>
          <p:cNvSpPr txBox="1"/>
          <p:nvPr/>
        </p:nvSpPr>
        <p:spPr>
          <a:xfrm>
            <a:off x="551543" y="4879788"/>
            <a:ext cx="11103428" cy="1338828"/>
          </a:xfrm>
          <a:prstGeom prst="rect">
            <a:avLst/>
          </a:prstGeom>
          <a:noFill/>
        </p:spPr>
        <p:txBody>
          <a:bodyPr wrap="square" rtlCol="0">
            <a:spAutoFit/>
          </a:bodyPr>
          <a:lstStyle/>
          <a:p>
            <a:pPr indent="457200">
              <a:lnSpc>
                <a:spcPct val="150000"/>
              </a:lnSpc>
            </a:pPr>
            <a:r>
              <a:rPr lang="zh-CN" altLang="en-US" sz="1800" dirty="0" smtClean="0"/>
              <a:t>上面显示的是</a:t>
            </a:r>
            <a:r>
              <a:rPr lang="en-US" altLang="zh-CN" sz="1800" dirty="0" smtClean="0"/>
              <a:t>RLC</a:t>
            </a:r>
            <a:r>
              <a:rPr lang="zh-CN" altLang="en-US" sz="1800" dirty="0" smtClean="0"/>
              <a:t>串联与</a:t>
            </a:r>
            <a:r>
              <a:rPr lang="en-US" altLang="zh-CN" sz="1800" dirty="0" smtClean="0"/>
              <a:t>RLC</a:t>
            </a:r>
            <a:r>
              <a:rPr lang="zh-CN" altLang="en-US" sz="1800" dirty="0" smtClean="0"/>
              <a:t>并联的频率特性图。理论上说，</a:t>
            </a:r>
            <a:r>
              <a:rPr lang="en-US" altLang="zh-CN" sz="1800" dirty="0" smtClean="0"/>
              <a:t>LC</a:t>
            </a:r>
            <a:r>
              <a:rPr lang="zh-CN" altLang="en-US" sz="1800" dirty="0" smtClean="0"/>
              <a:t>串联与</a:t>
            </a:r>
            <a:r>
              <a:rPr lang="en-US" altLang="zh-CN" sz="1800" dirty="0" smtClean="0"/>
              <a:t>LC</a:t>
            </a:r>
            <a:r>
              <a:rPr lang="zh-CN" altLang="en-US" sz="1800" dirty="0" smtClean="0"/>
              <a:t>并联的频率特性中，幅频特性的谐振点可以延申到</a:t>
            </a:r>
            <a:r>
              <a:rPr lang="en-US" altLang="zh-CN" sz="1800" dirty="0" smtClean="0"/>
              <a:t>0</a:t>
            </a:r>
            <a:r>
              <a:rPr lang="zh-CN" altLang="en-US" sz="1800" dirty="0" smtClean="0"/>
              <a:t>或无穷大，相频特性在谐振点是一个阶跃式的跳变，但是实际上不可能有理想的电容电感，所以实际的</a:t>
            </a:r>
            <a:r>
              <a:rPr lang="en-US" altLang="zh-CN" sz="1800" dirty="0" smtClean="0"/>
              <a:t>LC</a:t>
            </a:r>
            <a:r>
              <a:rPr lang="zh-CN" altLang="en-US" sz="1800" dirty="0" smtClean="0"/>
              <a:t>谐振回路总是含有</a:t>
            </a:r>
            <a:r>
              <a:rPr lang="en-US" altLang="zh-CN" sz="1800" dirty="0" smtClean="0"/>
              <a:t>R</a:t>
            </a:r>
            <a:r>
              <a:rPr lang="zh-CN" altLang="en-US" sz="1800" dirty="0" smtClean="0"/>
              <a:t>，只是</a:t>
            </a:r>
            <a:r>
              <a:rPr lang="zh-CN" altLang="en-US" sz="1800" dirty="0"/>
              <a:t>在</a:t>
            </a:r>
            <a:r>
              <a:rPr lang="en-US" altLang="zh-CN" sz="1800" dirty="0" smtClean="0"/>
              <a:t>R</a:t>
            </a:r>
            <a:r>
              <a:rPr lang="zh-CN" altLang="en-US" sz="1800" dirty="0" smtClean="0"/>
              <a:t>很小时可以近似为</a:t>
            </a:r>
            <a:r>
              <a:rPr lang="en-US" altLang="zh-CN" sz="1800" dirty="0" smtClean="0"/>
              <a:t>LC</a:t>
            </a:r>
            <a:r>
              <a:rPr lang="zh-CN" altLang="en-US" sz="1800" dirty="0" smtClean="0"/>
              <a:t>串联或并联。</a:t>
            </a:r>
            <a:endParaRPr lang="zh-CN" altLang="en-US" sz="1800" dirty="0"/>
          </a:p>
        </p:txBody>
      </p:sp>
    </p:spTree>
    <p:extLst>
      <p:ext uri="{BB962C8B-B14F-4D97-AF65-F5344CB8AC3E}">
        <p14:creationId xmlns:p14="http://schemas.microsoft.com/office/powerpoint/2010/main" val="37962561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5" name="文本框 4"/>
          <p:cNvSpPr txBox="1"/>
          <p:nvPr/>
        </p:nvSpPr>
        <p:spPr>
          <a:xfrm>
            <a:off x="362857" y="442686"/>
            <a:ext cx="11458728" cy="4662815"/>
          </a:xfrm>
          <a:prstGeom prst="rect">
            <a:avLst/>
          </a:prstGeom>
          <a:noFill/>
        </p:spPr>
        <p:txBody>
          <a:bodyPr wrap="square" rtlCol="0">
            <a:spAutoFit/>
          </a:bodyPr>
          <a:lstStyle/>
          <a:p>
            <a:pPr indent="457200">
              <a:lnSpc>
                <a:spcPct val="150000"/>
              </a:lnSpc>
            </a:pPr>
            <a:r>
              <a:rPr lang="zh-CN" altLang="en-US" sz="1800" dirty="0" smtClean="0"/>
              <a:t>观察这些频率特性，可得到下列规律：</a:t>
            </a:r>
            <a:endParaRPr lang="en-US" altLang="zh-CN" sz="1800" dirty="0" smtClean="0"/>
          </a:p>
          <a:p>
            <a:pPr marL="285750" indent="-285750">
              <a:lnSpc>
                <a:spcPct val="150000"/>
              </a:lnSpc>
              <a:buFont typeface="Arial" panose="020B0604020202020204" pitchFamily="34" charset="0"/>
              <a:buChar char="•"/>
            </a:pPr>
            <a:r>
              <a:rPr lang="zh-CN" altLang="en-US" sz="1800" dirty="0" smtClean="0"/>
              <a:t>单一的</a:t>
            </a:r>
            <a:r>
              <a:rPr lang="en-US" altLang="zh-CN" sz="1800" dirty="0" smtClean="0"/>
              <a:t>R</a:t>
            </a:r>
            <a:r>
              <a:rPr lang="zh-CN" altLang="en-US" sz="1800" dirty="0" smtClean="0"/>
              <a:t>、</a:t>
            </a:r>
            <a:r>
              <a:rPr lang="en-US" altLang="zh-CN" sz="1800" dirty="0" smtClean="0"/>
              <a:t>L</a:t>
            </a:r>
            <a:r>
              <a:rPr lang="zh-CN" altLang="en-US" sz="1800" dirty="0" smtClean="0"/>
              <a:t>、</a:t>
            </a:r>
            <a:r>
              <a:rPr lang="en-US" altLang="zh-CN" sz="1800" dirty="0" smtClean="0"/>
              <a:t>C</a:t>
            </a:r>
            <a:r>
              <a:rPr lang="zh-CN" altLang="en-US" sz="1800" dirty="0" smtClean="0"/>
              <a:t>元件，无论测试频率如何，其阻抗的相角不变。</a:t>
            </a:r>
            <a:endParaRPr lang="en-US" altLang="zh-CN" sz="1800" dirty="0" smtClean="0"/>
          </a:p>
          <a:p>
            <a:pPr indent="457200">
              <a:lnSpc>
                <a:spcPct val="150000"/>
              </a:lnSpc>
            </a:pPr>
            <a:r>
              <a:rPr lang="en-US" altLang="zh-CN" sz="1800" dirty="0" smtClean="0"/>
              <a:t>R</a:t>
            </a:r>
            <a:r>
              <a:rPr lang="zh-CN" altLang="en-US" sz="1800" dirty="0" smtClean="0"/>
              <a:t>的阻抗相角为</a:t>
            </a:r>
            <a:r>
              <a:rPr lang="en-US" altLang="zh-CN" sz="1800" dirty="0" smtClean="0"/>
              <a:t>0</a:t>
            </a:r>
            <a:r>
              <a:rPr lang="zh-CN" altLang="en-US" sz="1800" dirty="0" smtClean="0"/>
              <a:t>，</a:t>
            </a:r>
            <a:r>
              <a:rPr lang="en-US" altLang="zh-CN" sz="1800" dirty="0" smtClean="0"/>
              <a:t>L</a:t>
            </a:r>
            <a:r>
              <a:rPr lang="zh-CN" altLang="en-US" sz="1800" dirty="0" smtClean="0"/>
              <a:t>的阻抗相角为</a:t>
            </a:r>
            <a:r>
              <a:rPr lang="en-US" altLang="zh-CN" sz="1800" dirty="0" smtClean="0"/>
              <a:t>+90°</a:t>
            </a:r>
            <a:r>
              <a:rPr lang="zh-CN" altLang="en-US" sz="1800" dirty="0" smtClean="0"/>
              <a:t>，</a:t>
            </a:r>
            <a:r>
              <a:rPr lang="en-US" altLang="zh-CN" sz="1800" dirty="0" smtClean="0"/>
              <a:t>C</a:t>
            </a:r>
            <a:r>
              <a:rPr lang="zh-CN" altLang="en-US" sz="1800" dirty="0" smtClean="0"/>
              <a:t>的阻抗相角为</a:t>
            </a:r>
            <a:r>
              <a:rPr lang="en-US" altLang="zh-CN" sz="1800" dirty="0" smtClean="0"/>
              <a:t>-90°</a:t>
            </a:r>
            <a:r>
              <a:rPr lang="zh-CN" altLang="en-US" sz="1800" dirty="0" smtClean="0"/>
              <a:t>。</a:t>
            </a:r>
            <a:endParaRPr lang="en-US" altLang="zh-CN" sz="1800" dirty="0" smtClean="0"/>
          </a:p>
          <a:p>
            <a:pPr marL="285750" indent="-285750">
              <a:lnSpc>
                <a:spcPct val="150000"/>
              </a:lnSpc>
              <a:buFont typeface="Arial" panose="020B0604020202020204" pitchFamily="34" charset="0"/>
              <a:buChar char="•"/>
            </a:pPr>
            <a:r>
              <a:rPr lang="en-US" altLang="zh-CN" sz="1800" dirty="0" smtClean="0"/>
              <a:t>RC</a:t>
            </a:r>
            <a:r>
              <a:rPr lang="zh-CN" altLang="en-US" sz="1800" dirty="0" smtClean="0"/>
              <a:t>网络，无论</a:t>
            </a:r>
            <a:r>
              <a:rPr lang="zh-CN" altLang="en-US" sz="1800" dirty="0"/>
              <a:t>测试</a:t>
            </a:r>
            <a:r>
              <a:rPr lang="zh-CN" altLang="en-US" sz="1800" dirty="0" smtClean="0"/>
              <a:t>频率如何，其阻抗的相角均为负。</a:t>
            </a:r>
            <a:endParaRPr lang="en-US" altLang="zh-CN" sz="1800" dirty="0" smtClean="0"/>
          </a:p>
          <a:p>
            <a:pPr indent="457200">
              <a:lnSpc>
                <a:spcPct val="150000"/>
              </a:lnSpc>
            </a:pPr>
            <a:r>
              <a:rPr lang="en-US" altLang="zh-CN" sz="1800" dirty="0" smtClean="0"/>
              <a:t>RC</a:t>
            </a:r>
            <a:r>
              <a:rPr lang="zh-CN" altLang="en-US" sz="1800" dirty="0" smtClean="0"/>
              <a:t>串联网络的相角随频率升高而变大（趋于</a:t>
            </a:r>
            <a:r>
              <a:rPr lang="en-US" altLang="zh-CN" sz="1800" dirty="0" smtClean="0"/>
              <a:t>0°</a:t>
            </a:r>
            <a:r>
              <a:rPr lang="zh-CN" altLang="en-US" sz="1800" dirty="0" smtClean="0"/>
              <a:t>），</a:t>
            </a:r>
            <a:r>
              <a:rPr lang="en-US" altLang="zh-CN" sz="1800" dirty="0" smtClean="0"/>
              <a:t>RC</a:t>
            </a:r>
            <a:r>
              <a:rPr lang="zh-CN" altLang="en-US" sz="1800" dirty="0" smtClean="0"/>
              <a:t>并联网络的相角随频率升高而变小（趋于</a:t>
            </a:r>
            <a:r>
              <a:rPr lang="en-US" altLang="zh-CN" sz="1800" dirty="0" smtClean="0"/>
              <a:t>-90°</a:t>
            </a:r>
            <a:r>
              <a:rPr lang="zh-CN" altLang="en-US" sz="1800" dirty="0" smtClean="0"/>
              <a:t>）。</a:t>
            </a:r>
            <a:endParaRPr lang="en-US" altLang="zh-CN" sz="1800" dirty="0" smtClean="0"/>
          </a:p>
          <a:p>
            <a:pPr marL="285750" indent="-285750">
              <a:lnSpc>
                <a:spcPct val="150000"/>
              </a:lnSpc>
              <a:buFont typeface="Arial" panose="020B0604020202020204" pitchFamily="34" charset="0"/>
              <a:buChar char="•"/>
            </a:pPr>
            <a:r>
              <a:rPr lang="en-US" altLang="zh-CN" sz="1800" dirty="0" smtClean="0"/>
              <a:t>RL</a:t>
            </a:r>
            <a:r>
              <a:rPr lang="zh-CN" altLang="en-US" sz="1800" dirty="0" smtClean="0"/>
              <a:t>网络，无论</a:t>
            </a:r>
            <a:r>
              <a:rPr lang="zh-CN" altLang="en-US" sz="1800" dirty="0"/>
              <a:t>测试</a:t>
            </a:r>
            <a:r>
              <a:rPr lang="zh-CN" altLang="en-US" sz="1800" dirty="0" smtClean="0"/>
              <a:t>频率如何，其阻抗的相角均为正。</a:t>
            </a:r>
            <a:endParaRPr lang="en-US" altLang="zh-CN" sz="1800" dirty="0" smtClean="0"/>
          </a:p>
          <a:p>
            <a:pPr indent="457200">
              <a:lnSpc>
                <a:spcPct val="150000"/>
              </a:lnSpc>
            </a:pPr>
            <a:r>
              <a:rPr lang="en-US" altLang="zh-CN" sz="1800" dirty="0" smtClean="0"/>
              <a:t>RL</a:t>
            </a:r>
            <a:r>
              <a:rPr lang="zh-CN" altLang="en-US" sz="1800" dirty="0" smtClean="0"/>
              <a:t>串联网络</a:t>
            </a:r>
            <a:r>
              <a:rPr lang="zh-CN" altLang="en-US" sz="1800" dirty="0"/>
              <a:t>的相角随频率升高而变大（</a:t>
            </a:r>
            <a:r>
              <a:rPr lang="zh-CN" altLang="en-US" sz="1800" dirty="0" smtClean="0"/>
              <a:t>趋于</a:t>
            </a:r>
            <a:r>
              <a:rPr lang="en-US" altLang="zh-CN" sz="1800" dirty="0" smtClean="0"/>
              <a:t>90</a:t>
            </a:r>
            <a:r>
              <a:rPr lang="en-US" altLang="zh-CN" sz="1800" dirty="0"/>
              <a:t>°</a:t>
            </a:r>
            <a:r>
              <a:rPr lang="zh-CN" altLang="en-US" sz="1800" dirty="0" smtClean="0"/>
              <a:t>），</a:t>
            </a:r>
            <a:r>
              <a:rPr lang="en-US" altLang="zh-CN" sz="1800" dirty="0" smtClean="0"/>
              <a:t>RL</a:t>
            </a:r>
            <a:r>
              <a:rPr lang="zh-CN" altLang="en-US" sz="1800" dirty="0" smtClean="0"/>
              <a:t>并联网络</a:t>
            </a:r>
            <a:r>
              <a:rPr lang="zh-CN" altLang="en-US" sz="1800" dirty="0"/>
              <a:t>的相角随频率升高而变小（</a:t>
            </a:r>
            <a:r>
              <a:rPr lang="zh-CN" altLang="en-US" sz="1800" dirty="0" smtClean="0"/>
              <a:t>趋于</a:t>
            </a:r>
            <a:r>
              <a:rPr lang="en-US" altLang="zh-CN" sz="1800" dirty="0" smtClean="0"/>
              <a:t>0</a:t>
            </a:r>
            <a:r>
              <a:rPr lang="en-US" altLang="zh-CN" sz="1800" dirty="0"/>
              <a:t>°</a:t>
            </a:r>
            <a:r>
              <a:rPr lang="zh-CN" altLang="en-US" sz="1800" dirty="0"/>
              <a:t>）。</a:t>
            </a:r>
            <a:endParaRPr lang="en-US" altLang="zh-CN" sz="1800" dirty="0"/>
          </a:p>
          <a:p>
            <a:pPr marL="285750" indent="-285750">
              <a:lnSpc>
                <a:spcPct val="150000"/>
              </a:lnSpc>
              <a:buFont typeface="Arial" panose="020B0604020202020204" pitchFamily="34" charset="0"/>
              <a:buChar char="•"/>
            </a:pPr>
            <a:r>
              <a:rPr lang="en-US" altLang="zh-CN" sz="1800" dirty="0" smtClean="0"/>
              <a:t>LC</a:t>
            </a:r>
            <a:r>
              <a:rPr lang="zh-CN" altLang="en-US" sz="1800" dirty="0" smtClean="0"/>
              <a:t>网络与</a:t>
            </a:r>
            <a:r>
              <a:rPr lang="en-US" altLang="zh-CN" sz="1800" dirty="0" smtClean="0"/>
              <a:t>RLC</a:t>
            </a:r>
            <a:r>
              <a:rPr lang="zh-CN" altLang="en-US" sz="1800" dirty="0" smtClean="0"/>
              <a:t>网络，在谐振频率两侧的相角一定是一个为正、另一个为负。</a:t>
            </a:r>
            <a:endParaRPr lang="en-US" altLang="zh-CN" sz="1800" dirty="0" smtClean="0"/>
          </a:p>
          <a:p>
            <a:pPr indent="457200">
              <a:lnSpc>
                <a:spcPct val="150000"/>
              </a:lnSpc>
            </a:pPr>
            <a:r>
              <a:rPr lang="zh-CN" altLang="en-US" sz="1800" dirty="0" smtClean="0"/>
              <a:t>串联网络的相角在测试频率大于谐振频率时为正</a:t>
            </a:r>
            <a:r>
              <a:rPr lang="zh-CN" altLang="en-US" sz="1800" dirty="0"/>
              <a:t>（趋于</a:t>
            </a:r>
            <a:r>
              <a:rPr lang="en-US" altLang="zh-CN" sz="1800" dirty="0"/>
              <a:t>90°</a:t>
            </a:r>
            <a:r>
              <a:rPr lang="zh-CN" altLang="en-US" sz="1800" dirty="0" smtClean="0"/>
              <a:t>），在测试频率低于谐振频率时为负</a:t>
            </a:r>
            <a:r>
              <a:rPr lang="zh-CN" altLang="en-US" sz="1800" dirty="0"/>
              <a:t>（趋于</a:t>
            </a:r>
            <a:r>
              <a:rPr lang="en-US" altLang="zh-CN" sz="1800" dirty="0"/>
              <a:t>-90°</a:t>
            </a:r>
            <a:r>
              <a:rPr lang="zh-CN" altLang="en-US" sz="1800" dirty="0"/>
              <a:t>）</a:t>
            </a:r>
            <a:r>
              <a:rPr lang="zh-CN" altLang="en-US" sz="1800" dirty="0" smtClean="0"/>
              <a:t>。并联</a:t>
            </a:r>
            <a:r>
              <a:rPr lang="zh-CN" altLang="en-US" sz="1800" dirty="0"/>
              <a:t>网络的相角在测试频率大于谐振频率</a:t>
            </a:r>
            <a:r>
              <a:rPr lang="zh-CN" altLang="en-US" sz="1800" dirty="0" smtClean="0"/>
              <a:t>时</a:t>
            </a:r>
            <a:r>
              <a:rPr lang="zh-CN" altLang="en-US" sz="1800" dirty="0"/>
              <a:t>为负（趋于</a:t>
            </a:r>
            <a:r>
              <a:rPr lang="en-US" altLang="zh-CN" sz="1800" dirty="0"/>
              <a:t>-90°</a:t>
            </a:r>
            <a:r>
              <a:rPr lang="zh-CN" altLang="en-US" sz="1800" dirty="0" smtClean="0"/>
              <a:t>），</a:t>
            </a:r>
            <a:r>
              <a:rPr lang="zh-CN" altLang="en-US" sz="1800" dirty="0"/>
              <a:t>在测试频率低于谐振频率</a:t>
            </a:r>
            <a:r>
              <a:rPr lang="zh-CN" altLang="en-US" sz="1800" dirty="0" smtClean="0"/>
              <a:t>时</a:t>
            </a:r>
            <a:r>
              <a:rPr lang="zh-CN" altLang="en-US" sz="1800" dirty="0"/>
              <a:t>为正（趋于</a:t>
            </a:r>
            <a:r>
              <a:rPr lang="en-US" altLang="zh-CN" sz="1800" dirty="0"/>
              <a:t>90°</a:t>
            </a:r>
            <a:r>
              <a:rPr lang="zh-CN" altLang="en-US" sz="1800" dirty="0"/>
              <a:t>）</a:t>
            </a:r>
            <a:r>
              <a:rPr lang="zh-CN" altLang="en-US" sz="1800" dirty="0" smtClean="0"/>
              <a:t>。</a:t>
            </a:r>
            <a:endParaRPr lang="en-US" altLang="zh-CN" sz="1800" dirty="0"/>
          </a:p>
        </p:txBody>
      </p:sp>
    </p:spTree>
    <p:extLst>
      <p:ext uri="{BB962C8B-B14F-4D97-AF65-F5344CB8AC3E}">
        <p14:creationId xmlns:p14="http://schemas.microsoft.com/office/powerpoint/2010/main" val="3920011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5" name="文本框 4"/>
          <p:cNvSpPr txBox="1"/>
          <p:nvPr/>
        </p:nvSpPr>
        <p:spPr>
          <a:xfrm>
            <a:off x="391886" y="420914"/>
            <a:ext cx="11502571" cy="6063198"/>
          </a:xfrm>
          <a:prstGeom prst="rect">
            <a:avLst/>
          </a:prstGeom>
          <a:noFill/>
        </p:spPr>
        <p:txBody>
          <a:bodyPr wrap="square" rtlCol="0">
            <a:spAutoFit/>
          </a:bodyPr>
          <a:lstStyle/>
          <a:p>
            <a:pPr>
              <a:lnSpc>
                <a:spcPct val="150000"/>
              </a:lnSpc>
            </a:pPr>
            <a:r>
              <a:rPr lang="zh-CN" altLang="en-US" sz="1800" dirty="0"/>
              <a:t>因此，可以将前述的两个测试方案结合</a:t>
            </a:r>
            <a:r>
              <a:rPr lang="zh-CN" altLang="en-US" sz="1800" dirty="0" smtClean="0"/>
              <a:t>起来：</a:t>
            </a:r>
            <a:endParaRPr lang="en-US" altLang="zh-CN" sz="1800" dirty="0"/>
          </a:p>
          <a:p>
            <a:pPr indent="288000">
              <a:lnSpc>
                <a:spcPct val="150000"/>
              </a:lnSpc>
            </a:pPr>
            <a:r>
              <a:rPr lang="zh-CN" altLang="en-US" sz="1800" dirty="0" smtClean="0"/>
              <a:t>一、在若干个频率上采样电压与电流，计算它们的复阻抗（幅度与相角）</a:t>
            </a:r>
            <a:endParaRPr lang="en-US" altLang="zh-CN" sz="1800" dirty="0" smtClean="0"/>
          </a:p>
          <a:p>
            <a:pPr indent="288000">
              <a:lnSpc>
                <a:spcPct val="150000"/>
              </a:lnSpc>
            </a:pPr>
            <a:r>
              <a:rPr lang="zh-CN" altLang="en-US" sz="1800" dirty="0" smtClean="0"/>
              <a:t>二、根据复阻抗相角的变化规律，判断被测网络的拓扑结构</a:t>
            </a:r>
            <a:endParaRPr lang="en-US" altLang="zh-CN" sz="1800" dirty="0" smtClean="0"/>
          </a:p>
          <a:p>
            <a:pPr indent="288000">
              <a:lnSpc>
                <a:spcPct val="150000"/>
              </a:lnSpc>
            </a:pPr>
            <a:r>
              <a:rPr lang="zh-CN" altLang="en-US" sz="1800" dirty="0" smtClean="0"/>
              <a:t>三、根据复阻抗值计算其中的元件值</a:t>
            </a:r>
            <a:endParaRPr lang="en-US" altLang="zh-CN" sz="1800" dirty="0" smtClean="0"/>
          </a:p>
          <a:p>
            <a:pPr marL="0" lvl="1" indent="457200">
              <a:lnSpc>
                <a:spcPct val="150000"/>
              </a:lnSpc>
            </a:pPr>
            <a:r>
              <a:rPr lang="en-US" altLang="zh-CN" sz="1800" dirty="0" smtClean="0"/>
              <a:t>1</a:t>
            </a:r>
            <a:r>
              <a:rPr lang="zh-CN" altLang="en-US" sz="1800" dirty="0" smtClean="0"/>
              <a:t>、如果是单一的</a:t>
            </a:r>
            <a:r>
              <a:rPr lang="en-US" altLang="zh-CN" sz="1800" dirty="0" smtClean="0"/>
              <a:t>R</a:t>
            </a:r>
            <a:r>
              <a:rPr lang="zh-CN" altLang="en-US" sz="1800" dirty="0" smtClean="0"/>
              <a:t>、</a:t>
            </a:r>
            <a:r>
              <a:rPr lang="en-US" altLang="zh-CN" sz="1800" dirty="0" smtClean="0"/>
              <a:t>L</a:t>
            </a:r>
            <a:r>
              <a:rPr lang="zh-CN" altLang="en-US" sz="1800" dirty="0" smtClean="0"/>
              <a:t>、</a:t>
            </a:r>
            <a:r>
              <a:rPr lang="en-US" altLang="zh-CN" sz="1800" dirty="0" smtClean="0"/>
              <a:t>C</a:t>
            </a:r>
            <a:r>
              <a:rPr lang="zh-CN" altLang="en-US" sz="1800" dirty="0" smtClean="0"/>
              <a:t>，直接计算它的元件值</a:t>
            </a:r>
            <a:endParaRPr lang="en-US" altLang="zh-CN" sz="1800" dirty="0" smtClean="0"/>
          </a:p>
          <a:p>
            <a:pPr indent="457200">
              <a:lnSpc>
                <a:spcPct val="150000"/>
              </a:lnSpc>
            </a:pPr>
            <a:r>
              <a:rPr lang="en-US" altLang="zh-CN" sz="1800" dirty="0" smtClean="0"/>
              <a:t>2</a:t>
            </a:r>
            <a:r>
              <a:rPr lang="zh-CN" altLang="en-US" sz="1800" dirty="0" smtClean="0"/>
              <a:t>、如果是串联网络（</a:t>
            </a:r>
            <a:r>
              <a:rPr lang="en-US" altLang="zh-CN" sz="1800" dirty="0" smtClean="0"/>
              <a:t>RC</a:t>
            </a:r>
            <a:r>
              <a:rPr lang="zh-CN" altLang="en-US" sz="1800" dirty="0" smtClean="0"/>
              <a:t>串联、</a:t>
            </a:r>
            <a:r>
              <a:rPr lang="en-US" altLang="zh-CN" sz="1800" dirty="0" smtClean="0"/>
              <a:t>RL</a:t>
            </a:r>
            <a:r>
              <a:rPr lang="zh-CN" altLang="en-US" sz="1800" dirty="0" smtClean="0"/>
              <a:t>串联、</a:t>
            </a:r>
            <a:r>
              <a:rPr lang="en-US" altLang="zh-CN" sz="1800" dirty="0" smtClean="0"/>
              <a:t>RLC</a:t>
            </a:r>
            <a:r>
              <a:rPr lang="zh-CN" altLang="en-US" sz="1800" dirty="0" smtClean="0"/>
              <a:t>串联等），</a:t>
            </a:r>
            <a:r>
              <a:rPr lang="zh-CN" altLang="en-US" sz="1800" dirty="0"/>
              <a:t>计算</a:t>
            </a:r>
            <a:r>
              <a:rPr lang="zh-CN" altLang="en-US" sz="1800" dirty="0" smtClean="0"/>
              <a:t>复阻抗，其实部就是电阻</a:t>
            </a:r>
            <a:r>
              <a:rPr lang="en-US" altLang="zh-CN" sz="1800" dirty="0" smtClean="0"/>
              <a:t>R</a:t>
            </a:r>
          </a:p>
          <a:p>
            <a:pPr marL="792000" lvl="1">
              <a:lnSpc>
                <a:spcPct val="150000"/>
              </a:lnSpc>
            </a:pPr>
            <a:r>
              <a:rPr lang="en-US" altLang="zh-CN" sz="1800" dirty="0" smtClean="0"/>
              <a:t>RC</a:t>
            </a:r>
            <a:r>
              <a:rPr lang="zh-CN" altLang="en-US" sz="1800" dirty="0" smtClean="0"/>
              <a:t>串联和</a:t>
            </a:r>
            <a:r>
              <a:rPr lang="en-US" altLang="zh-CN" sz="1800" dirty="0" smtClean="0"/>
              <a:t>RL</a:t>
            </a:r>
            <a:r>
              <a:rPr lang="zh-CN" altLang="en-US" sz="1800" dirty="0" smtClean="0"/>
              <a:t>串联网络的复阻抗虚部是元件的电抗，可据此计算电容或电感的值</a:t>
            </a:r>
            <a:endParaRPr lang="en-US" altLang="zh-CN" sz="1800" dirty="0" smtClean="0"/>
          </a:p>
          <a:p>
            <a:pPr marL="792000" lvl="1">
              <a:lnSpc>
                <a:spcPct val="150000"/>
              </a:lnSpc>
            </a:pPr>
            <a:r>
              <a:rPr lang="en-US" altLang="zh-CN" sz="1800" dirty="0" smtClean="0"/>
              <a:t>RLC</a:t>
            </a:r>
            <a:r>
              <a:rPr lang="zh-CN" altLang="en-US" sz="1800" dirty="0" smtClean="0"/>
              <a:t>串联网络的复阻抗虚部是两个元件电抗的差。设两个测试频率为</a:t>
            </a:r>
            <a:r>
              <a:rPr lang="el-GR" altLang="zh-CN" sz="1800" dirty="0" smtClean="0"/>
              <a:t>ω</a:t>
            </a:r>
            <a:r>
              <a:rPr lang="en-US" altLang="zh-CN" sz="1800" baseline="-25000" dirty="0" smtClean="0"/>
              <a:t>1</a:t>
            </a:r>
            <a:r>
              <a:rPr lang="zh-CN" altLang="en-US" sz="1800" dirty="0" smtClean="0"/>
              <a:t>与</a:t>
            </a:r>
            <a:r>
              <a:rPr lang="el-GR" altLang="zh-CN" sz="1800" dirty="0" smtClean="0"/>
              <a:t>ω</a:t>
            </a:r>
            <a:r>
              <a:rPr lang="en-US" altLang="zh-CN" sz="1800" baseline="-25000" dirty="0"/>
              <a:t>2</a:t>
            </a:r>
            <a:r>
              <a:rPr lang="zh-CN" altLang="en-US" sz="1800" dirty="0" smtClean="0"/>
              <a:t>，测得的复阻抗虚部为</a:t>
            </a:r>
            <a:r>
              <a:rPr lang="en-US" altLang="zh-CN" sz="1800" dirty="0" smtClean="0"/>
              <a:t>X</a:t>
            </a:r>
            <a:r>
              <a:rPr lang="en-US" altLang="zh-CN" sz="1800" baseline="-25000" dirty="0"/>
              <a:t>1</a:t>
            </a:r>
            <a:r>
              <a:rPr lang="zh-CN" altLang="en-US" sz="1800" dirty="0" smtClean="0"/>
              <a:t>与</a:t>
            </a:r>
            <a:endParaRPr lang="en-US" altLang="zh-CN" sz="1800" dirty="0" smtClean="0"/>
          </a:p>
          <a:p>
            <a:pPr marL="792000">
              <a:lnSpc>
                <a:spcPct val="150000"/>
              </a:lnSpc>
              <a:spcBef>
                <a:spcPts val="1200"/>
              </a:spcBef>
            </a:pPr>
            <a:r>
              <a:rPr lang="en-US" altLang="zh-CN" sz="1800" dirty="0" smtClean="0"/>
              <a:t>X</a:t>
            </a:r>
            <a:r>
              <a:rPr lang="en-US" altLang="zh-CN" sz="1800" baseline="-25000" dirty="0" smtClean="0"/>
              <a:t>2</a:t>
            </a:r>
            <a:r>
              <a:rPr lang="zh-CN" altLang="en-US" sz="1800" dirty="0" smtClean="0"/>
              <a:t>，由</a:t>
            </a:r>
            <a:r>
              <a:rPr lang="en-US" altLang="zh-CN" sz="1800" dirty="0" smtClean="0"/>
              <a:t>X</a:t>
            </a:r>
            <a:r>
              <a:rPr lang="en-US" altLang="zh-CN" sz="1800" baseline="-25000" dirty="0" smtClean="0"/>
              <a:t>1</a:t>
            </a:r>
            <a:r>
              <a:rPr lang="en-US" altLang="zh-CN" sz="1800" dirty="0" smtClean="0"/>
              <a:t>=</a:t>
            </a:r>
            <a:r>
              <a:rPr lang="el-GR" altLang="zh-CN" sz="1800" dirty="0"/>
              <a:t> </a:t>
            </a:r>
            <a:r>
              <a:rPr lang="el-GR" altLang="zh-CN" sz="1800" dirty="0" smtClean="0"/>
              <a:t>ω</a:t>
            </a:r>
            <a:r>
              <a:rPr lang="en-US" altLang="zh-CN" sz="1800" baseline="-25000" dirty="0" smtClean="0"/>
              <a:t>1</a:t>
            </a:r>
            <a:r>
              <a:rPr lang="en-US" altLang="zh-CN" sz="1800" dirty="0" smtClean="0"/>
              <a:t>L-1/</a:t>
            </a:r>
            <a:r>
              <a:rPr lang="el-GR" altLang="zh-CN" sz="1800" dirty="0" smtClean="0"/>
              <a:t>ω</a:t>
            </a:r>
            <a:r>
              <a:rPr lang="en-US" altLang="zh-CN" sz="1800" baseline="-25000" dirty="0" smtClean="0"/>
              <a:t>1</a:t>
            </a:r>
            <a:r>
              <a:rPr lang="en-US" altLang="zh-CN" sz="1800" dirty="0" smtClean="0"/>
              <a:t>C</a:t>
            </a:r>
            <a:r>
              <a:rPr lang="zh-CN" altLang="en-US" sz="1800" dirty="0" smtClean="0"/>
              <a:t>，</a:t>
            </a:r>
            <a:r>
              <a:rPr lang="en-US" altLang="zh-CN" sz="1800" dirty="0" smtClean="0"/>
              <a:t>X</a:t>
            </a:r>
            <a:r>
              <a:rPr lang="en-US" altLang="zh-CN" sz="1800" baseline="-25000" dirty="0" smtClean="0"/>
              <a:t>2</a:t>
            </a:r>
            <a:r>
              <a:rPr lang="en-US" altLang="zh-CN" sz="1800" dirty="0" smtClean="0"/>
              <a:t>=</a:t>
            </a:r>
            <a:r>
              <a:rPr lang="el-GR" altLang="zh-CN" sz="1800" dirty="0" smtClean="0"/>
              <a:t> ω</a:t>
            </a:r>
            <a:r>
              <a:rPr lang="en-US" altLang="zh-CN" sz="1800" baseline="-25000" dirty="0" smtClean="0"/>
              <a:t>2</a:t>
            </a:r>
            <a:r>
              <a:rPr lang="en-US" altLang="zh-CN" sz="1800" dirty="0" smtClean="0"/>
              <a:t>L-1/</a:t>
            </a:r>
            <a:r>
              <a:rPr lang="el-GR" altLang="zh-CN" sz="1800" dirty="0"/>
              <a:t>ω</a:t>
            </a:r>
            <a:r>
              <a:rPr lang="en-US" altLang="zh-CN" sz="1800" baseline="-25000" dirty="0" smtClean="0"/>
              <a:t>2</a:t>
            </a:r>
            <a:r>
              <a:rPr lang="en-US" altLang="zh-CN" sz="1800" dirty="0" smtClean="0"/>
              <a:t>C</a:t>
            </a:r>
            <a:r>
              <a:rPr lang="zh-CN" altLang="en-US" sz="1800" dirty="0" smtClean="0"/>
              <a:t>，可得</a:t>
            </a:r>
            <a:endParaRPr lang="en-US" altLang="zh-CN" sz="1800" dirty="0"/>
          </a:p>
          <a:p>
            <a:pPr indent="457200">
              <a:lnSpc>
                <a:spcPct val="150000"/>
              </a:lnSpc>
            </a:pPr>
            <a:endParaRPr lang="en-US" altLang="zh-CN" sz="1050" dirty="0" smtClean="0"/>
          </a:p>
          <a:p>
            <a:pPr indent="457200">
              <a:lnSpc>
                <a:spcPct val="150000"/>
              </a:lnSpc>
            </a:pPr>
            <a:r>
              <a:rPr lang="en-US" altLang="zh-CN" sz="1800" dirty="0" smtClean="0"/>
              <a:t>3</a:t>
            </a:r>
            <a:r>
              <a:rPr lang="zh-CN" altLang="en-US" sz="1800" dirty="0" smtClean="0"/>
              <a:t>、如果是并联网络</a:t>
            </a:r>
            <a:r>
              <a:rPr lang="zh-CN" altLang="en-US" sz="1800" dirty="0"/>
              <a:t>（</a:t>
            </a:r>
            <a:r>
              <a:rPr lang="en-US" altLang="zh-CN" sz="1800" dirty="0" smtClean="0"/>
              <a:t>RC</a:t>
            </a:r>
            <a:r>
              <a:rPr lang="zh-CN" altLang="en-US" sz="1800" dirty="0" smtClean="0"/>
              <a:t>并联</a:t>
            </a:r>
            <a:r>
              <a:rPr lang="zh-CN" altLang="en-US" sz="1800" dirty="0"/>
              <a:t>、</a:t>
            </a:r>
            <a:r>
              <a:rPr lang="en-US" altLang="zh-CN" sz="1800" dirty="0" smtClean="0"/>
              <a:t>RL</a:t>
            </a:r>
            <a:r>
              <a:rPr lang="zh-CN" altLang="en-US" sz="1800" dirty="0" smtClean="0"/>
              <a:t>并联</a:t>
            </a:r>
            <a:r>
              <a:rPr lang="zh-CN" altLang="en-US" sz="1800" dirty="0"/>
              <a:t>、</a:t>
            </a:r>
            <a:r>
              <a:rPr lang="en-US" altLang="zh-CN" sz="1800" dirty="0" smtClean="0"/>
              <a:t>RLC</a:t>
            </a:r>
            <a:r>
              <a:rPr lang="zh-CN" altLang="en-US" sz="1800" dirty="0" smtClean="0"/>
              <a:t>并联</a:t>
            </a:r>
            <a:r>
              <a:rPr lang="zh-CN" altLang="en-US" sz="1800" dirty="0"/>
              <a:t>等），计算</a:t>
            </a:r>
            <a:r>
              <a:rPr lang="zh-CN" altLang="en-US" sz="1800" dirty="0" smtClean="0"/>
              <a:t>复导纳，</a:t>
            </a:r>
            <a:r>
              <a:rPr lang="zh-CN" altLang="en-US" sz="1800" dirty="0"/>
              <a:t>其中实部就是</a:t>
            </a:r>
            <a:r>
              <a:rPr lang="zh-CN" altLang="en-US" sz="1800" dirty="0" smtClean="0"/>
              <a:t>电导</a:t>
            </a:r>
            <a:r>
              <a:rPr lang="en-US" altLang="zh-CN" sz="1800" dirty="0" smtClean="0"/>
              <a:t>1/R </a:t>
            </a:r>
          </a:p>
          <a:p>
            <a:pPr marL="792000">
              <a:lnSpc>
                <a:spcPct val="150000"/>
              </a:lnSpc>
            </a:pPr>
            <a:r>
              <a:rPr lang="en-US" altLang="zh-CN" sz="1800" dirty="0" smtClean="0"/>
              <a:t>RC</a:t>
            </a:r>
            <a:r>
              <a:rPr lang="zh-CN" altLang="en-US" sz="1800" dirty="0" smtClean="0"/>
              <a:t>并联</a:t>
            </a:r>
            <a:r>
              <a:rPr lang="zh-CN" altLang="en-US" sz="1800" dirty="0"/>
              <a:t>和</a:t>
            </a:r>
            <a:r>
              <a:rPr lang="en-US" altLang="zh-CN" sz="1800" dirty="0" smtClean="0"/>
              <a:t>RL</a:t>
            </a:r>
            <a:r>
              <a:rPr lang="zh-CN" altLang="en-US" sz="1800" dirty="0" smtClean="0"/>
              <a:t>并联网络的复阻抗虚部是元件的电纳，可据此计算电容或</a:t>
            </a:r>
            <a:r>
              <a:rPr lang="zh-CN" altLang="en-US" sz="1800" dirty="0"/>
              <a:t>电感的</a:t>
            </a:r>
            <a:r>
              <a:rPr lang="zh-CN" altLang="en-US" sz="1800" dirty="0" smtClean="0"/>
              <a:t>值</a:t>
            </a:r>
            <a:r>
              <a:rPr lang="en-US" altLang="zh-CN" sz="1800" dirty="0" smtClean="0"/>
              <a:t> </a:t>
            </a:r>
          </a:p>
          <a:p>
            <a:pPr marL="792000">
              <a:lnSpc>
                <a:spcPct val="150000"/>
              </a:lnSpc>
            </a:pPr>
            <a:r>
              <a:rPr lang="en-US" altLang="zh-CN" sz="1800" dirty="0" smtClean="0"/>
              <a:t>RLC</a:t>
            </a:r>
            <a:r>
              <a:rPr lang="zh-CN" altLang="en-US" sz="1800" dirty="0" smtClean="0"/>
              <a:t>并联网络的复阻抗虚部</a:t>
            </a:r>
            <a:r>
              <a:rPr lang="zh-CN" altLang="en-US" sz="1800" dirty="0"/>
              <a:t>是两个元件</a:t>
            </a:r>
            <a:r>
              <a:rPr lang="zh-CN" altLang="en-US" sz="1800" dirty="0" smtClean="0"/>
              <a:t>电纳的</a:t>
            </a:r>
            <a:r>
              <a:rPr lang="zh-CN" altLang="en-US" sz="1800" dirty="0"/>
              <a:t>差</a:t>
            </a:r>
            <a:r>
              <a:rPr lang="zh-CN" altLang="en-US" sz="1800" dirty="0" smtClean="0"/>
              <a:t>，与串联网络一样，利用两个不同频率下测得的电纳值可以计算</a:t>
            </a:r>
            <a:r>
              <a:rPr lang="zh-CN" altLang="en-US" sz="1800" dirty="0"/>
              <a:t>两个元件的</a:t>
            </a:r>
            <a:r>
              <a:rPr lang="zh-CN" altLang="en-US" sz="1800" dirty="0" smtClean="0"/>
              <a:t>值，公式从略</a:t>
            </a:r>
            <a:endParaRPr lang="en-US" altLang="zh-CN"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1856921887"/>
              </p:ext>
            </p:extLst>
          </p:nvPr>
        </p:nvGraphicFramePr>
        <p:xfrm>
          <a:off x="5977014" y="3828944"/>
          <a:ext cx="4302125" cy="706090"/>
        </p:xfrm>
        <a:graphic>
          <a:graphicData uri="http://schemas.openxmlformats.org/presentationml/2006/ole">
            <mc:AlternateContent xmlns:mc="http://schemas.openxmlformats.org/markup-compatibility/2006">
              <mc:Choice xmlns:v="urn:schemas-microsoft-com:vml" Requires="v">
                <p:oleObj spid="_x0000_s35870" name="Equation" r:id="rId3" imgW="2323800" imgH="380880" progId="Equation.DSMT4">
                  <p:embed/>
                </p:oleObj>
              </mc:Choice>
              <mc:Fallback>
                <p:oleObj name="Equation" r:id="rId3" imgW="2323800" imgH="380880" progId="Equation.DSMT4">
                  <p:embed/>
                  <p:pic>
                    <p:nvPicPr>
                      <p:cNvPr id="6" name="对象 5"/>
                      <p:cNvPicPr/>
                      <p:nvPr/>
                    </p:nvPicPr>
                    <p:blipFill>
                      <a:blip r:embed="rId4"/>
                      <a:stretch>
                        <a:fillRect/>
                      </a:stretch>
                    </p:blipFill>
                    <p:spPr>
                      <a:xfrm>
                        <a:off x="5977014" y="3828944"/>
                        <a:ext cx="4302125" cy="706090"/>
                      </a:xfrm>
                      <a:prstGeom prst="rect">
                        <a:avLst/>
                      </a:prstGeom>
                    </p:spPr>
                  </p:pic>
                </p:oleObj>
              </mc:Fallback>
            </mc:AlternateContent>
          </a:graphicData>
        </a:graphic>
      </p:graphicFrame>
    </p:spTree>
    <p:extLst>
      <p:ext uri="{BB962C8B-B14F-4D97-AF65-F5344CB8AC3E}">
        <p14:creationId xmlns:p14="http://schemas.microsoft.com/office/powerpoint/2010/main" val="1632323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5" name="文本框 4"/>
          <p:cNvSpPr txBox="1"/>
          <p:nvPr/>
        </p:nvSpPr>
        <p:spPr>
          <a:xfrm>
            <a:off x="391886" y="471714"/>
            <a:ext cx="11429699" cy="549381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测试频率的选择</a:t>
            </a:r>
            <a:endParaRPr lang="en-US" altLang="zh-CN" sz="1800" dirty="0" smtClean="0"/>
          </a:p>
          <a:p>
            <a:pPr indent="457200">
              <a:lnSpc>
                <a:spcPct val="150000"/>
              </a:lnSpc>
            </a:pPr>
            <a:r>
              <a:rPr lang="zh-CN" altLang="en-US" sz="1800" dirty="0" smtClean="0"/>
              <a:t>显然，对于</a:t>
            </a:r>
            <a:r>
              <a:rPr lang="en-US" altLang="zh-CN" sz="1800" dirty="0"/>
              <a:t>RC</a:t>
            </a:r>
            <a:r>
              <a:rPr lang="zh-CN" altLang="en-US" sz="1800" dirty="0"/>
              <a:t>与</a:t>
            </a:r>
            <a:r>
              <a:rPr lang="en-US" altLang="zh-CN" sz="1800" dirty="0"/>
              <a:t>RL</a:t>
            </a:r>
            <a:r>
              <a:rPr lang="zh-CN" altLang="en-US" sz="1800" dirty="0"/>
              <a:t>网络，测试</a:t>
            </a:r>
            <a:r>
              <a:rPr lang="zh-CN" altLang="en-US" sz="1800" dirty="0" smtClean="0"/>
              <a:t>频率安排</a:t>
            </a:r>
            <a:r>
              <a:rPr lang="zh-CN" altLang="en-US" sz="1800" dirty="0"/>
              <a:t>在转折频率</a:t>
            </a:r>
            <a:r>
              <a:rPr lang="zh-CN" altLang="en-US" sz="1800" dirty="0" smtClean="0"/>
              <a:t>附近比较合适，因为在此频率附近的电阻值与电抗值大致相同。同样理由，</a:t>
            </a:r>
            <a:r>
              <a:rPr lang="en-US" altLang="zh-CN" sz="1800" dirty="0" smtClean="0"/>
              <a:t>RLC</a:t>
            </a:r>
            <a:r>
              <a:rPr lang="zh-CN" altLang="en-US" sz="1800" dirty="0" smtClean="0"/>
              <a:t>网络的测试频率安排在</a:t>
            </a:r>
            <a:r>
              <a:rPr lang="zh-CN" altLang="en-US" sz="1800" dirty="0"/>
              <a:t>谐振频率</a:t>
            </a:r>
            <a:r>
              <a:rPr lang="zh-CN" altLang="en-US" sz="1800" dirty="0" smtClean="0"/>
              <a:t>两侧比较合适。</a:t>
            </a:r>
            <a:endParaRPr lang="en-US" altLang="zh-CN" sz="1800" dirty="0" smtClean="0"/>
          </a:p>
          <a:p>
            <a:pPr indent="457200">
              <a:lnSpc>
                <a:spcPct val="150000"/>
              </a:lnSpc>
            </a:pPr>
            <a:r>
              <a:rPr lang="zh-CN" altLang="zh-CN" sz="1800" dirty="0" smtClean="0"/>
              <a:t>题目</a:t>
            </a:r>
            <a:r>
              <a:rPr lang="zh-CN" altLang="zh-CN" sz="1800" dirty="0"/>
              <a:t>给出的元件数值范围为</a:t>
            </a:r>
            <a:r>
              <a:rPr lang="en-US" altLang="zh-CN" sz="1800" dirty="0"/>
              <a:t>R=200Ω~2kΩ</a:t>
            </a:r>
            <a:r>
              <a:rPr lang="zh-CN" altLang="zh-CN" sz="1800" dirty="0"/>
              <a:t>、</a:t>
            </a:r>
            <a:r>
              <a:rPr lang="en-US" altLang="zh-CN" sz="1800" dirty="0"/>
              <a:t>C=200nF~2μF</a:t>
            </a:r>
            <a:r>
              <a:rPr lang="zh-CN" altLang="zh-CN" sz="1800" dirty="0"/>
              <a:t>、</a:t>
            </a:r>
            <a:r>
              <a:rPr lang="en-US" altLang="zh-CN" sz="1800" dirty="0" smtClean="0"/>
              <a:t>L=100μH~1mH</a:t>
            </a:r>
            <a:r>
              <a:rPr lang="zh-CN" altLang="en-US" sz="1800" dirty="0" smtClean="0"/>
              <a:t>，据此分析</a:t>
            </a:r>
            <a:r>
              <a:rPr lang="zh-CN" altLang="zh-CN" sz="1800" dirty="0" smtClean="0"/>
              <a:t>上述</a:t>
            </a:r>
            <a:r>
              <a:rPr lang="zh-CN" altLang="en-US" sz="1800" dirty="0" smtClean="0"/>
              <a:t>各</a:t>
            </a:r>
            <a:r>
              <a:rPr lang="zh-CN" altLang="zh-CN" sz="1800" dirty="0" smtClean="0"/>
              <a:t>种</a:t>
            </a:r>
            <a:r>
              <a:rPr lang="zh-CN" altLang="zh-CN" sz="1800" dirty="0"/>
              <a:t>被测网络</a:t>
            </a:r>
            <a:r>
              <a:rPr lang="zh-CN" altLang="zh-CN" sz="1800" dirty="0" smtClean="0"/>
              <a:t>的</a:t>
            </a:r>
            <a:r>
              <a:rPr lang="zh-CN" altLang="en-US" sz="1800" dirty="0" smtClean="0"/>
              <a:t>转折点频率与谐振频率的分布范围如下：</a:t>
            </a:r>
            <a:endParaRPr lang="en-US" altLang="zh-CN" sz="1800" dirty="0" smtClean="0"/>
          </a:p>
          <a:p>
            <a:pPr indent="457200">
              <a:lnSpc>
                <a:spcPct val="150000"/>
              </a:lnSpc>
            </a:pPr>
            <a:r>
              <a:rPr lang="en-US" altLang="zh-CN" sz="1800" dirty="0" smtClean="0"/>
              <a:t>RC</a:t>
            </a:r>
            <a:r>
              <a:rPr lang="zh-CN" altLang="en-US" sz="1800" dirty="0" smtClean="0"/>
              <a:t>网络，转折频率范围为</a:t>
            </a:r>
            <a:r>
              <a:rPr lang="en-US" altLang="zh-CN" sz="1800" dirty="0" smtClean="0"/>
              <a:t>40Hz~4kHz</a:t>
            </a:r>
            <a:r>
              <a:rPr lang="zh-CN" altLang="en-US" sz="1800" dirty="0" smtClean="0"/>
              <a:t>。</a:t>
            </a:r>
            <a:endParaRPr lang="en-US" altLang="zh-CN" sz="1800" dirty="0"/>
          </a:p>
          <a:p>
            <a:pPr indent="457200">
              <a:lnSpc>
                <a:spcPct val="150000"/>
              </a:lnSpc>
            </a:pPr>
            <a:r>
              <a:rPr lang="en-US" altLang="zh-CN" sz="1800" dirty="0" smtClean="0"/>
              <a:t>RL</a:t>
            </a:r>
            <a:r>
              <a:rPr lang="zh-CN" altLang="en-US" sz="1800" dirty="0" smtClean="0"/>
              <a:t>网络，转折频率范围</a:t>
            </a:r>
            <a:r>
              <a:rPr lang="zh-CN" altLang="en-US" sz="1800" dirty="0"/>
              <a:t>为</a:t>
            </a:r>
            <a:r>
              <a:rPr lang="en-US" altLang="zh-CN" sz="1800" dirty="0" smtClean="0"/>
              <a:t>32kHz~3.2MHz</a:t>
            </a:r>
            <a:r>
              <a:rPr lang="zh-CN" altLang="en-US" sz="1800" dirty="0" smtClean="0"/>
              <a:t>。</a:t>
            </a:r>
            <a:endParaRPr lang="en-US" altLang="zh-CN" sz="1800" dirty="0" smtClean="0"/>
          </a:p>
          <a:p>
            <a:pPr indent="457200">
              <a:lnSpc>
                <a:spcPct val="150000"/>
              </a:lnSpc>
            </a:pPr>
            <a:r>
              <a:rPr lang="en-US" altLang="zh-CN" sz="1800" dirty="0" smtClean="0"/>
              <a:t>RLC</a:t>
            </a:r>
            <a:r>
              <a:rPr lang="zh-CN" altLang="en-US" sz="1800" dirty="0" smtClean="0"/>
              <a:t>网络，谐振频率范围</a:t>
            </a:r>
            <a:r>
              <a:rPr lang="zh-CN" altLang="en-US" sz="1800" dirty="0"/>
              <a:t>为</a:t>
            </a:r>
            <a:r>
              <a:rPr lang="en-US" altLang="zh-CN" sz="1800" dirty="0" smtClean="0"/>
              <a:t>3.6kHz~36kHz</a:t>
            </a:r>
            <a:r>
              <a:rPr lang="zh-CN" altLang="en-US" sz="1800" dirty="0" smtClean="0"/>
              <a:t>。</a:t>
            </a:r>
            <a:endParaRPr lang="en-US" altLang="zh-CN" sz="1800" dirty="0"/>
          </a:p>
          <a:p>
            <a:pPr indent="457200">
              <a:lnSpc>
                <a:spcPct val="150000"/>
              </a:lnSpc>
            </a:pPr>
            <a:r>
              <a:rPr lang="zh-CN" altLang="en-US" sz="1800" dirty="0" smtClean="0"/>
              <a:t>由上述分析可见，本题的被测网络的特征频率范围比较宽（</a:t>
            </a:r>
            <a:r>
              <a:rPr lang="en-US" altLang="zh-CN" sz="1800" dirty="0" smtClean="0"/>
              <a:t>40Hz~3.2MHz</a:t>
            </a:r>
            <a:r>
              <a:rPr lang="zh-CN" altLang="en-US" sz="1800" dirty="0" smtClean="0"/>
              <a:t>），完全按照这个频率范围安排测试频率需要的测试频率会比较多（测试时间拉长），而且其上限频率</a:t>
            </a:r>
            <a:r>
              <a:rPr lang="en-US" altLang="zh-CN" sz="1800" dirty="0" smtClean="0"/>
              <a:t>3.2MHz</a:t>
            </a:r>
            <a:r>
              <a:rPr lang="zh-CN" altLang="en-US" sz="1800" dirty="0" smtClean="0"/>
              <a:t>也比较高，用直接</a:t>
            </a:r>
            <a:r>
              <a:rPr lang="en-US" altLang="zh-CN" sz="1800" dirty="0" smtClean="0"/>
              <a:t>ADC</a:t>
            </a:r>
            <a:r>
              <a:rPr lang="zh-CN" altLang="en-US" sz="1800" dirty="0" smtClean="0"/>
              <a:t>采样方式有困难（采用正交同步检波没问题）。实际上，扫频测试的目的仅仅是为了根据网络的阻抗频率特性判断被测网络的结构，所以完全可以选用窄一些的频率范围。例如整个测试</a:t>
            </a:r>
            <a:r>
              <a:rPr lang="zh-CN" altLang="en-US" sz="1800" dirty="0"/>
              <a:t>频率范围可以</a:t>
            </a:r>
            <a:r>
              <a:rPr lang="zh-CN" altLang="en-US" sz="1800" dirty="0" smtClean="0"/>
              <a:t>压缩到几百赫兹到几百千赫兹（或</a:t>
            </a:r>
            <a:r>
              <a:rPr lang="en-US" altLang="zh-CN" sz="1800" dirty="0" smtClean="0"/>
              <a:t>1MHz</a:t>
            </a:r>
            <a:r>
              <a:rPr lang="zh-CN" altLang="en-US" sz="1800" dirty="0" smtClean="0"/>
              <a:t>），然后在其中选取若干个测试点。这样做可能会导致测试精度下降，换来的好处</a:t>
            </a:r>
            <a:r>
              <a:rPr lang="zh-CN" altLang="en-US" sz="1800" dirty="0" smtClean="0"/>
              <a:t>是测试</a:t>
            </a:r>
            <a:r>
              <a:rPr lang="zh-CN" altLang="en-US" sz="1800" dirty="0" smtClean="0"/>
              <a:t>的速度提高。</a:t>
            </a:r>
            <a:endParaRPr lang="zh-CN" altLang="en-US" sz="1800" dirty="0"/>
          </a:p>
        </p:txBody>
      </p:sp>
    </p:spTree>
    <p:extLst>
      <p:ext uri="{BB962C8B-B14F-4D97-AF65-F5344CB8AC3E}">
        <p14:creationId xmlns:p14="http://schemas.microsoft.com/office/powerpoint/2010/main" val="27552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sp>
        <p:nvSpPr>
          <p:cNvPr id="5" name="文本框 4"/>
          <p:cNvSpPr txBox="1"/>
          <p:nvPr/>
        </p:nvSpPr>
        <p:spPr>
          <a:xfrm>
            <a:off x="377371" y="413657"/>
            <a:ext cx="11444213" cy="590931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solidFill>
                  <a:srgbClr val="FF0000"/>
                </a:solidFill>
              </a:rPr>
              <a:t>发挥部分的考虑</a:t>
            </a:r>
            <a:endParaRPr lang="en-US" altLang="zh-CN" sz="1800" dirty="0" smtClean="0">
              <a:solidFill>
                <a:srgbClr val="FF0000"/>
              </a:solidFill>
            </a:endParaRPr>
          </a:p>
          <a:p>
            <a:pPr indent="457200">
              <a:lnSpc>
                <a:spcPct val="150000"/>
              </a:lnSpc>
            </a:pPr>
            <a:r>
              <a:rPr lang="zh-CN" altLang="en-US" sz="1800" dirty="0" smtClean="0"/>
              <a:t>题目发挥部分要求</a:t>
            </a:r>
            <a:r>
              <a:rPr lang="en-US" altLang="zh-CN" sz="1800" dirty="0" smtClean="0"/>
              <a:t>1</a:t>
            </a:r>
            <a:r>
              <a:rPr lang="zh-CN" altLang="en-US" sz="1800" dirty="0" smtClean="0"/>
              <a:t>，开路与短路报警。</a:t>
            </a:r>
            <a:endParaRPr lang="en-US" altLang="zh-CN" sz="1800" dirty="0" smtClean="0"/>
          </a:p>
          <a:p>
            <a:pPr indent="457200">
              <a:lnSpc>
                <a:spcPct val="150000"/>
              </a:lnSpc>
            </a:pPr>
            <a:r>
              <a:rPr lang="zh-CN" altLang="en-US" sz="1800" dirty="0"/>
              <a:t>这</a:t>
            </a:r>
            <a:r>
              <a:rPr lang="zh-CN" altLang="en-US" sz="1800" dirty="0" smtClean="0"/>
              <a:t>项要求不难实现，在测试网络阻抗的时候，被测电流为</a:t>
            </a:r>
            <a:r>
              <a:rPr lang="en-US" altLang="zh-CN" sz="1800" dirty="0" smtClean="0"/>
              <a:t>0</a:t>
            </a:r>
            <a:r>
              <a:rPr lang="zh-CN" altLang="en-US" sz="1800" dirty="0" smtClean="0"/>
              <a:t>就是开路，被测电压近似为</a:t>
            </a:r>
            <a:r>
              <a:rPr lang="en-US" altLang="zh-CN" sz="1800" dirty="0" smtClean="0"/>
              <a:t>0</a:t>
            </a:r>
            <a:r>
              <a:rPr lang="zh-CN" altLang="en-US" sz="1800" dirty="0" smtClean="0"/>
              <a:t>（低于某个阈值）就是短路。</a:t>
            </a:r>
            <a:endParaRPr lang="en-US" altLang="zh-CN" sz="1800" dirty="0" smtClean="0"/>
          </a:p>
          <a:p>
            <a:pPr indent="457200">
              <a:lnSpc>
                <a:spcPct val="150000"/>
              </a:lnSpc>
            </a:pPr>
            <a:r>
              <a:rPr lang="zh-CN" altLang="en-US" sz="1800" dirty="0" smtClean="0"/>
              <a:t>题目发挥部分要求</a:t>
            </a:r>
            <a:r>
              <a:rPr lang="en-US" altLang="zh-CN" sz="1800" dirty="0" smtClean="0"/>
              <a:t>2</a:t>
            </a:r>
            <a:r>
              <a:rPr lang="zh-CN" altLang="en-US" sz="1800" dirty="0" smtClean="0"/>
              <a:t>，测试短路点的位置。</a:t>
            </a:r>
            <a:endParaRPr lang="en-US" altLang="zh-CN" sz="1800" dirty="0" smtClean="0"/>
          </a:p>
          <a:p>
            <a:pPr indent="457200">
              <a:lnSpc>
                <a:spcPct val="150000"/>
              </a:lnSpc>
            </a:pPr>
            <a:r>
              <a:rPr lang="zh-CN" altLang="zh-CN" sz="1800" dirty="0" smtClean="0"/>
              <a:t>题目</a:t>
            </a:r>
            <a:r>
              <a:rPr lang="zh-CN" altLang="zh-CN" sz="1800" dirty="0"/>
              <a:t>要求采用网线内的铜芯（直径</a:t>
            </a:r>
            <a:r>
              <a:rPr lang="en-US" altLang="zh-CN" sz="1800" dirty="0"/>
              <a:t>0.51mm~0.58mm</a:t>
            </a:r>
            <a:r>
              <a:rPr lang="zh-CN" altLang="zh-CN" sz="1800" dirty="0"/>
              <a:t>）作为连接</a:t>
            </a:r>
            <a:r>
              <a:rPr lang="zh-CN" altLang="zh-CN" sz="1800" dirty="0" smtClean="0"/>
              <a:t>导线</a:t>
            </a:r>
            <a:r>
              <a:rPr lang="zh-CN" altLang="en-US" sz="1800" dirty="0" smtClean="0"/>
              <a:t>，</a:t>
            </a:r>
            <a:r>
              <a:rPr lang="zh-CN" altLang="zh-CN" sz="1800" dirty="0" smtClean="0"/>
              <a:t>短路点</a:t>
            </a:r>
            <a:r>
              <a:rPr lang="zh-CN" altLang="en-US" sz="1800" dirty="0" smtClean="0"/>
              <a:t>位于</a:t>
            </a:r>
            <a:r>
              <a:rPr lang="zh-CN" altLang="zh-CN" sz="1800" dirty="0" smtClean="0"/>
              <a:t>距离</a:t>
            </a:r>
            <a:r>
              <a:rPr lang="zh-CN" altLang="en-US" sz="1800" dirty="0" smtClean="0"/>
              <a:t>两个</a:t>
            </a:r>
            <a:r>
              <a:rPr lang="zh-CN" altLang="zh-CN" sz="1800" dirty="0" smtClean="0"/>
              <a:t>连接</a:t>
            </a:r>
            <a:r>
              <a:rPr lang="zh-CN" altLang="zh-CN" sz="1800" dirty="0"/>
              <a:t>端子</a:t>
            </a:r>
            <a:r>
              <a:rPr lang="en-US" altLang="zh-CN" sz="1800" dirty="0" smtClean="0"/>
              <a:t>25cm~55cm</a:t>
            </a:r>
            <a:r>
              <a:rPr lang="zh-CN" altLang="zh-CN" sz="1800" dirty="0"/>
              <a:t>范围内</a:t>
            </a:r>
            <a:r>
              <a:rPr lang="zh-CN" altLang="zh-CN" sz="1800" dirty="0" smtClean="0"/>
              <a:t>。</a:t>
            </a:r>
            <a:endParaRPr lang="en-US" altLang="zh-CN" sz="1800" dirty="0" smtClean="0"/>
          </a:p>
          <a:p>
            <a:pPr indent="457200">
              <a:lnSpc>
                <a:spcPct val="150000"/>
              </a:lnSpc>
            </a:pPr>
            <a:r>
              <a:rPr lang="zh-CN" altLang="en-US" sz="1800" dirty="0" smtClean="0"/>
              <a:t>基本的想法是通过测量短路后的导线电阻值来测量短路点位置。</a:t>
            </a:r>
            <a:r>
              <a:rPr lang="zh-CN" altLang="zh-CN" sz="1800" dirty="0" smtClean="0"/>
              <a:t>铜</a:t>
            </a:r>
            <a:r>
              <a:rPr lang="zh-CN" altLang="zh-CN" sz="1800" dirty="0"/>
              <a:t>的电阻率是</a:t>
            </a:r>
            <a:r>
              <a:rPr lang="en-US" altLang="zh-CN" sz="1800" dirty="0"/>
              <a:t>1.75</a:t>
            </a:r>
            <a:r>
              <a:rPr lang="zh-CN" altLang="zh-CN" sz="1800" dirty="0"/>
              <a:t>×</a:t>
            </a:r>
            <a:r>
              <a:rPr lang="en-US" altLang="zh-CN" sz="1800" dirty="0"/>
              <a:t>10</a:t>
            </a:r>
            <a:r>
              <a:rPr lang="en-US" altLang="zh-CN" sz="1800" baseline="30000" dirty="0"/>
              <a:t>-8</a:t>
            </a:r>
            <a:r>
              <a:rPr lang="en-US" altLang="zh-CN" sz="1800" dirty="0"/>
              <a:t>Ωm</a:t>
            </a:r>
            <a:r>
              <a:rPr lang="zh-CN" altLang="zh-CN" sz="1800" dirty="0"/>
              <a:t>，按导线直径</a:t>
            </a:r>
            <a:r>
              <a:rPr lang="en-US" altLang="zh-CN" sz="1800" dirty="0"/>
              <a:t>0.55mm</a:t>
            </a:r>
            <a:r>
              <a:rPr lang="zh-CN" altLang="zh-CN" sz="1800" dirty="0"/>
              <a:t>计算，其电阻大约是</a:t>
            </a:r>
            <a:r>
              <a:rPr lang="en-US" altLang="zh-CN" sz="1800" dirty="0"/>
              <a:t>7.4</a:t>
            </a:r>
            <a:r>
              <a:rPr lang="zh-CN" altLang="zh-CN" sz="1800" dirty="0"/>
              <a:t>×</a:t>
            </a:r>
            <a:r>
              <a:rPr lang="en-US" altLang="zh-CN" sz="1800" dirty="0"/>
              <a:t>10</a:t>
            </a:r>
            <a:r>
              <a:rPr lang="en-US" altLang="zh-CN" sz="1800" baseline="30000" dirty="0"/>
              <a:t>-4</a:t>
            </a:r>
            <a:r>
              <a:rPr lang="en-US" altLang="zh-CN" sz="1800" dirty="0"/>
              <a:t>Ω/cm</a:t>
            </a:r>
            <a:r>
              <a:rPr lang="zh-CN" altLang="zh-CN" sz="1800" dirty="0"/>
              <a:t>。假设短路线足够粗而可以忽略其电阻，也可以忽略</a:t>
            </a:r>
            <a:r>
              <a:rPr lang="zh-CN" altLang="zh-CN" sz="1800" dirty="0" smtClean="0"/>
              <a:t>短路线</a:t>
            </a:r>
            <a:r>
              <a:rPr lang="zh-CN" altLang="en-US" sz="1800" dirty="0" smtClean="0"/>
              <a:t>与导线之间</a:t>
            </a:r>
            <a:r>
              <a:rPr lang="zh-CN" altLang="zh-CN" sz="1800" dirty="0" smtClean="0"/>
              <a:t>的</a:t>
            </a:r>
            <a:r>
              <a:rPr lang="zh-CN" altLang="zh-CN" sz="1800" dirty="0"/>
              <a:t>接触电阻（题目允许用焊接方法连接），则短路后从连接端子处</a:t>
            </a:r>
            <a:r>
              <a:rPr lang="zh-CN" altLang="zh-CN" sz="1800" dirty="0" smtClean="0"/>
              <a:t>看</a:t>
            </a:r>
            <a:r>
              <a:rPr lang="zh-CN" altLang="en-US" sz="1800" dirty="0" smtClean="0"/>
              <a:t>过</a:t>
            </a:r>
            <a:r>
              <a:rPr lang="zh-CN" altLang="zh-CN" sz="1800" dirty="0" smtClean="0"/>
              <a:t>去</a:t>
            </a:r>
            <a:r>
              <a:rPr lang="zh-CN" altLang="zh-CN" sz="1800" dirty="0"/>
              <a:t>的导线总长度为</a:t>
            </a:r>
            <a:r>
              <a:rPr lang="en-US" altLang="zh-CN" sz="1800" dirty="0"/>
              <a:t>50cm~110cm</a:t>
            </a:r>
            <a:r>
              <a:rPr lang="zh-CN" altLang="zh-CN" sz="1800" dirty="0"/>
              <a:t>，对应的电阻约为</a:t>
            </a:r>
            <a:r>
              <a:rPr lang="en-US" altLang="zh-CN" sz="1800" dirty="0"/>
              <a:t>37mΩ~81mΩ</a:t>
            </a:r>
            <a:r>
              <a:rPr lang="zh-CN" altLang="zh-CN" sz="1800" dirty="0"/>
              <a:t>。题目要求测量距离误差小于</a:t>
            </a:r>
            <a:r>
              <a:rPr lang="en-US" altLang="zh-CN" sz="1800" dirty="0"/>
              <a:t>1cm</a:t>
            </a:r>
            <a:r>
              <a:rPr lang="zh-CN" altLang="zh-CN" sz="1800" dirty="0"/>
              <a:t>，对应</a:t>
            </a:r>
            <a:r>
              <a:rPr lang="zh-CN" altLang="zh-CN" sz="1800" dirty="0" smtClean="0"/>
              <a:t>的</a:t>
            </a:r>
            <a:r>
              <a:rPr lang="zh-CN" altLang="en-US" sz="1800" dirty="0" smtClean="0"/>
              <a:t>误差</a:t>
            </a:r>
            <a:r>
              <a:rPr lang="zh-CN" altLang="zh-CN" sz="1800" dirty="0" smtClean="0"/>
              <a:t>电</a:t>
            </a:r>
            <a:r>
              <a:rPr lang="zh-CN" altLang="zh-CN" sz="1800" dirty="0"/>
              <a:t>阻值大约是</a:t>
            </a:r>
            <a:r>
              <a:rPr lang="en-US" altLang="zh-CN" sz="1800" dirty="0"/>
              <a:t>1.5mΩ</a:t>
            </a:r>
            <a:r>
              <a:rPr lang="zh-CN" altLang="zh-CN" sz="1800" dirty="0" smtClean="0"/>
              <a:t>。</a:t>
            </a:r>
            <a:endParaRPr lang="en-US" altLang="zh-CN" sz="1800" dirty="0" smtClean="0"/>
          </a:p>
          <a:p>
            <a:pPr indent="457200">
              <a:lnSpc>
                <a:spcPct val="150000"/>
              </a:lnSpc>
            </a:pPr>
            <a:r>
              <a:rPr lang="zh-CN" altLang="en-US" sz="1800" dirty="0" smtClean="0"/>
              <a:t>另外，短路后的导线与短路线构成一个电感，其电感量大约在</a:t>
            </a:r>
            <a:r>
              <a:rPr lang="en-US" altLang="zh-CN" sz="1800" dirty="0" smtClean="0"/>
              <a:t>1~1.5</a:t>
            </a:r>
            <a:r>
              <a:rPr lang="el-GR" altLang="zh-CN" sz="1800" dirty="0" smtClean="0"/>
              <a:t>μ</a:t>
            </a:r>
            <a:r>
              <a:rPr lang="en-US" altLang="zh-CN" sz="1800" dirty="0" smtClean="0"/>
              <a:t>H</a:t>
            </a:r>
            <a:r>
              <a:rPr lang="zh-CN" altLang="en-US" sz="1800" dirty="0" smtClean="0"/>
              <a:t>左右，在测量时也要考虑此因素。</a:t>
            </a:r>
            <a:endParaRPr lang="en-US" altLang="zh-CN" sz="1800" dirty="0" smtClean="0"/>
          </a:p>
          <a:p>
            <a:pPr indent="457200">
              <a:lnSpc>
                <a:spcPct val="150000"/>
              </a:lnSpc>
            </a:pPr>
            <a:r>
              <a:rPr lang="zh-CN" altLang="en-US" sz="1800" dirty="0"/>
              <a:t>题目发挥部分</a:t>
            </a:r>
            <a:r>
              <a:rPr lang="zh-CN" altLang="en-US" sz="1800" dirty="0" smtClean="0"/>
              <a:t>要求</a:t>
            </a:r>
            <a:r>
              <a:rPr lang="en-US" altLang="zh-CN" sz="1800" dirty="0" smtClean="0"/>
              <a:t>3</a:t>
            </a:r>
            <a:r>
              <a:rPr lang="zh-CN" altLang="en-US" sz="1800" dirty="0" smtClean="0"/>
              <a:t>，</a:t>
            </a:r>
            <a:r>
              <a:rPr lang="zh-CN" altLang="en-US" sz="1800" dirty="0"/>
              <a:t>在线路上叠加两个扫频信号（</a:t>
            </a:r>
            <a:r>
              <a:rPr lang="en-US" altLang="zh-CN" sz="1800" dirty="0"/>
              <a:t>100Hz~1kHz</a:t>
            </a:r>
            <a:r>
              <a:rPr lang="zh-CN" altLang="en-US" sz="1800" dirty="0"/>
              <a:t>以及</a:t>
            </a:r>
            <a:r>
              <a:rPr lang="en-US" altLang="zh-CN" sz="1800" dirty="0"/>
              <a:t>1MHz~10MHz</a:t>
            </a:r>
            <a:r>
              <a:rPr lang="zh-CN" altLang="en-US" sz="1800" dirty="0"/>
              <a:t>）作为噪声，要求在强噪声条件下仍然能够进行准确测量</a:t>
            </a:r>
            <a:r>
              <a:rPr lang="zh-CN" altLang="en-US" sz="1800" dirty="0" smtClean="0"/>
              <a:t>。</a:t>
            </a:r>
            <a:endParaRPr lang="en-US" altLang="zh-CN" sz="1800" dirty="0"/>
          </a:p>
        </p:txBody>
      </p:sp>
    </p:spTree>
    <p:extLst>
      <p:ext uri="{BB962C8B-B14F-4D97-AF65-F5344CB8AC3E}">
        <p14:creationId xmlns:p14="http://schemas.microsoft.com/office/powerpoint/2010/main" val="2860999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5" name="文本框 4"/>
          <p:cNvSpPr txBox="1"/>
          <p:nvPr/>
        </p:nvSpPr>
        <p:spPr>
          <a:xfrm>
            <a:off x="377371" y="413657"/>
            <a:ext cx="11444213" cy="4662815"/>
          </a:xfrm>
          <a:prstGeom prst="rect">
            <a:avLst/>
          </a:prstGeom>
          <a:noFill/>
        </p:spPr>
        <p:txBody>
          <a:bodyPr wrap="square" rtlCol="0">
            <a:spAutoFit/>
          </a:bodyPr>
          <a:lstStyle/>
          <a:p>
            <a:pPr>
              <a:lnSpc>
                <a:spcPct val="150000"/>
              </a:lnSpc>
            </a:pPr>
            <a:r>
              <a:rPr lang="en-US" altLang="zh-CN" sz="1800" dirty="0" smtClean="0"/>
              <a:t>1</a:t>
            </a:r>
            <a:r>
              <a:rPr lang="zh-CN" altLang="en-US" sz="1800" dirty="0" smtClean="0"/>
              <a:t>，测试频率</a:t>
            </a:r>
            <a:endParaRPr lang="en-US" altLang="zh-CN" sz="1800" dirty="0" smtClean="0"/>
          </a:p>
          <a:p>
            <a:pPr indent="457200">
              <a:lnSpc>
                <a:spcPct val="150000"/>
              </a:lnSpc>
            </a:pPr>
            <a:r>
              <a:rPr lang="zh-CN" altLang="en-US" sz="1800" dirty="0" smtClean="0"/>
              <a:t>短路点测试的频率</a:t>
            </a:r>
            <a:r>
              <a:rPr lang="zh-CN" altLang="en-US" sz="1800" dirty="0"/>
              <a:t>应当避开叠加</a:t>
            </a:r>
            <a:r>
              <a:rPr lang="zh-CN" altLang="en-US" sz="1800" dirty="0" smtClean="0"/>
              <a:t>的两</a:t>
            </a:r>
            <a:r>
              <a:rPr lang="zh-CN" altLang="en-US" sz="1800" dirty="0"/>
              <a:t>个扫频</a:t>
            </a:r>
            <a:r>
              <a:rPr lang="zh-CN" altLang="en-US" sz="1800" dirty="0" smtClean="0"/>
              <a:t>信号频率（</a:t>
            </a:r>
            <a:r>
              <a:rPr lang="en-US" altLang="zh-CN" sz="1800" dirty="0" smtClean="0"/>
              <a:t>100Hz~1kHz</a:t>
            </a:r>
            <a:r>
              <a:rPr lang="zh-CN" altLang="en-US" sz="1800" dirty="0"/>
              <a:t>以及</a:t>
            </a:r>
            <a:r>
              <a:rPr lang="en-US" altLang="zh-CN" sz="1800" dirty="0" smtClean="0"/>
              <a:t>1MHz~10MHz</a:t>
            </a:r>
            <a:r>
              <a:rPr lang="zh-CN" altLang="en-US" sz="1800" dirty="0" smtClean="0"/>
              <a:t>），最合适的测试频率为</a:t>
            </a:r>
            <a:r>
              <a:rPr lang="en-US" altLang="zh-CN" sz="1800" dirty="0" smtClean="0"/>
              <a:t>1kHz</a:t>
            </a:r>
            <a:r>
              <a:rPr lang="zh-CN" altLang="en-US" sz="1800" dirty="0" smtClean="0"/>
              <a:t>与</a:t>
            </a:r>
            <a:r>
              <a:rPr lang="en-US" altLang="zh-CN" sz="1800" dirty="0" smtClean="0"/>
              <a:t>1MHz</a:t>
            </a:r>
            <a:r>
              <a:rPr lang="zh-CN" altLang="en-US" sz="1800" dirty="0" smtClean="0"/>
              <a:t>的几何中心，即</a:t>
            </a:r>
            <a:r>
              <a:rPr lang="en-US" altLang="zh-CN" sz="1800" dirty="0" smtClean="0"/>
              <a:t>30kHz</a:t>
            </a:r>
            <a:r>
              <a:rPr lang="zh-CN" altLang="en-US" sz="1800" dirty="0" smtClean="0"/>
              <a:t>附近。</a:t>
            </a:r>
            <a:endParaRPr lang="en-US" altLang="zh-CN" sz="1800" dirty="0" smtClean="0"/>
          </a:p>
          <a:p>
            <a:pPr>
              <a:lnSpc>
                <a:spcPct val="150000"/>
              </a:lnSpc>
            </a:pPr>
            <a:endParaRPr lang="en-US" altLang="zh-CN" sz="1800" dirty="0" smtClean="0"/>
          </a:p>
          <a:p>
            <a:pPr>
              <a:lnSpc>
                <a:spcPct val="150000"/>
              </a:lnSpc>
            </a:pPr>
            <a:r>
              <a:rPr lang="en-US" altLang="zh-CN" sz="1800" dirty="0" smtClean="0"/>
              <a:t>2</a:t>
            </a:r>
            <a:r>
              <a:rPr lang="zh-CN" altLang="en-US" sz="1800" dirty="0" smtClean="0"/>
              <a:t>，</a:t>
            </a:r>
            <a:r>
              <a:rPr lang="zh-CN" altLang="en-US" sz="1800" dirty="0"/>
              <a:t>估计干扰信号的</a:t>
            </a:r>
            <a:r>
              <a:rPr lang="zh-CN" altLang="en-US" sz="1800" dirty="0" smtClean="0"/>
              <a:t>强度</a:t>
            </a:r>
            <a:endParaRPr lang="en-US" altLang="zh-CN" sz="1800" dirty="0" smtClean="0"/>
          </a:p>
          <a:p>
            <a:pPr indent="457200">
              <a:lnSpc>
                <a:spcPct val="150000"/>
              </a:lnSpc>
            </a:pPr>
            <a:r>
              <a:rPr lang="zh-CN" altLang="en-US" sz="1800" dirty="0" smtClean="0"/>
              <a:t>干扰信号</a:t>
            </a:r>
            <a:r>
              <a:rPr lang="zh-CN" altLang="en-US" sz="1800" dirty="0"/>
              <a:t>通过</a:t>
            </a:r>
            <a:r>
              <a:rPr lang="en-US" altLang="zh-CN" sz="1800" dirty="0"/>
              <a:t>1pF</a:t>
            </a:r>
            <a:r>
              <a:rPr lang="zh-CN" altLang="en-US" sz="1800" dirty="0"/>
              <a:t>电容加到被测短路导线上，短路导线的电感约</a:t>
            </a:r>
            <a:r>
              <a:rPr lang="zh-CN" altLang="en-US" sz="1800" dirty="0" smtClean="0"/>
              <a:t>为</a:t>
            </a:r>
            <a:r>
              <a:rPr lang="en-US" altLang="zh-CN" sz="1800" dirty="0" smtClean="0"/>
              <a:t>1uH</a:t>
            </a:r>
            <a:r>
              <a:rPr lang="zh-CN" altLang="en-US" sz="1800" dirty="0" smtClean="0"/>
              <a:t>。当干扰频率</a:t>
            </a:r>
            <a:r>
              <a:rPr lang="en-US" altLang="zh-CN" sz="1800" dirty="0" smtClean="0"/>
              <a:t>f </a:t>
            </a:r>
            <a:r>
              <a:rPr lang="zh-CN" altLang="en-US" sz="1800" dirty="0" smtClean="0"/>
              <a:t>远低于</a:t>
            </a:r>
            <a:r>
              <a:rPr lang="en-US" altLang="zh-CN" sz="1800" dirty="0" smtClean="0"/>
              <a:t>LC</a:t>
            </a:r>
            <a:r>
              <a:rPr lang="zh-CN" altLang="en-US" sz="1800" dirty="0" smtClean="0"/>
              <a:t>谐振频率时，在</a:t>
            </a:r>
            <a:r>
              <a:rPr lang="zh-CN" altLang="en-US" sz="1800" dirty="0"/>
              <a:t>短路导线上的干扰幅度约</a:t>
            </a:r>
            <a:r>
              <a:rPr lang="zh-CN" altLang="en-US" sz="1800" dirty="0" smtClean="0"/>
              <a:t>为</a:t>
            </a:r>
            <a:r>
              <a:rPr lang="en-US" altLang="zh-CN" sz="1800" dirty="0" err="1" smtClean="0"/>
              <a:t>V</a:t>
            </a:r>
            <a:r>
              <a:rPr lang="en-US" altLang="zh-CN" sz="1800" baseline="-25000" dirty="0" err="1" smtClean="0"/>
              <a:t>m</a:t>
            </a:r>
            <a:r>
              <a:rPr lang="en-US" altLang="zh-CN" sz="1800" dirty="0" smtClean="0"/>
              <a:t>×(2</a:t>
            </a:r>
            <a:r>
              <a:rPr lang="el-GR" altLang="zh-CN" sz="1800" dirty="0" smtClean="0"/>
              <a:t>π</a:t>
            </a:r>
            <a:r>
              <a:rPr lang="en-US" altLang="zh-CN" sz="1800" dirty="0" smtClean="0"/>
              <a:t>f)</a:t>
            </a:r>
            <a:r>
              <a:rPr lang="en-US" altLang="zh-CN" sz="1800" baseline="30000" dirty="0" smtClean="0"/>
              <a:t>2</a:t>
            </a:r>
            <a:r>
              <a:rPr lang="en-US" altLang="zh-CN" sz="1800" dirty="0"/>
              <a:t>×LC</a:t>
            </a:r>
            <a:r>
              <a:rPr lang="zh-CN" altLang="en-US" sz="1800" dirty="0" smtClean="0"/>
              <a:t>，其中</a:t>
            </a:r>
            <a:r>
              <a:rPr lang="en-US" altLang="zh-CN" sz="1800" dirty="0" err="1" smtClean="0"/>
              <a:t>V</a:t>
            </a:r>
            <a:r>
              <a:rPr lang="en-US" altLang="zh-CN" sz="1800" baseline="-25000" dirty="0" err="1" smtClean="0"/>
              <a:t>m</a:t>
            </a:r>
            <a:r>
              <a:rPr lang="zh-CN" altLang="en-US" sz="1800" dirty="0" smtClean="0"/>
              <a:t>是干扰源的幅度，题目给定的是</a:t>
            </a:r>
            <a:r>
              <a:rPr lang="en-US" altLang="zh-CN" sz="1800" dirty="0" smtClean="0"/>
              <a:t>5V</a:t>
            </a:r>
            <a:r>
              <a:rPr lang="zh-CN" altLang="en-US" sz="1800" dirty="0" smtClean="0"/>
              <a:t>；</a:t>
            </a:r>
            <a:r>
              <a:rPr lang="en-US" altLang="zh-CN" sz="1800" dirty="0" smtClean="0"/>
              <a:t>L=1uH</a:t>
            </a:r>
            <a:r>
              <a:rPr lang="zh-CN" altLang="en-US" sz="1800" dirty="0" smtClean="0"/>
              <a:t>，</a:t>
            </a:r>
            <a:r>
              <a:rPr lang="en-US" altLang="zh-CN" sz="1800" dirty="0" smtClean="0"/>
              <a:t>C=1pF</a:t>
            </a:r>
            <a:r>
              <a:rPr lang="zh-CN" altLang="en-US" sz="1800" dirty="0" smtClean="0"/>
              <a:t>。代入后得到：</a:t>
            </a:r>
            <a:r>
              <a:rPr lang="en-US" altLang="zh-CN" sz="1800" dirty="0" smtClean="0"/>
              <a:t>1kHz</a:t>
            </a:r>
            <a:r>
              <a:rPr lang="zh-CN" altLang="en-US" sz="1800" dirty="0" smtClean="0"/>
              <a:t>的干扰幅度约为</a:t>
            </a:r>
            <a:r>
              <a:rPr lang="en-US" altLang="zh-CN" sz="1800" dirty="0" smtClean="0"/>
              <a:t>2×10</a:t>
            </a:r>
            <a:r>
              <a:rPr lang="en-US" altLang="zh-CN" sz="1800" baseline="30000" dirty="0" smtClean="0"/>
              <a:t>-10</a:t>
            </a:r>
            <a:r>
              <a:rPr lang="en-US" altLang="zh-CN" sz="1800" dirty="0" smtClean="0"/>
              <a:t>V</a:t>
            </a:r>
            <a:r>
              <a:rPr lang="zh-CN" altLang="en-US" sz="1800" dirty="0" smtClean="0"/>
              <a:t>，</a:t>
            </a:r>
            <a:r>
              <a:rPr lang="en-US" altLang="zh-CN" sz="1800" dirty="0" smtClean="0"/>
              <a:t>1MHz</a:t>
            </a:r>
            <a:r>
              <a:rPr lang="zh-CN" altLang="en-US" sz="1800" dirty="0" smtClean="0"/>
              <a:t>的干扰幅度约为</a:t>
            </a:r>
            <a:r>
              <a:rPr lang="en-US" altLang="zh-CN" sz="1800" dirty="0" smtClean="0"/>
              <a:t>2×10</a:t>
            </a:r>
            <a:r>
              <a:rPr lang="en-US" altLang="zh-CN" sz="1800" baseline="30000" dirty="0" smtClean="0"/>
              <a:t>-4</a:t>
            </a:r>
            <a:r>
              <a:rPr lang="en-US" altLang="zh-CN" sz="1800" dirty="0" smtClean="0"/>
              <a:t>V</a:t>
            </a:r>
            <a:r>
              <a:rPr lang="zh-CN" altLang="en-US" sz="1800" dirty="0" smtClean="0"/>
              <a:t>。</a:t>
            </a:r>
            <a:endParaRPr lang="en-US" altLang="zh-CN" sz="1800" dirty="0" smtClean="0"/>
          </a:p>
          <a:p>
            <a:pPr indent="457200">
              <a:lnSpc>
                <a:spcPct val="150000"/>
              </a:lnSpc>
            </a:pPr>
            <a:r>
              <a:rPr lang="zh-CN" altLang="en-US" sz="1800" dirty="0" smtClean="0"/>
              <a:t>前面已经分析，按照题目要求</a:t>
            </a:r>
            <a:r>
              <a:rPr lang="zh-CN" altLang="en-US" sz="1800" dirty="0"/>
              <a:t>短路</a:t>
            </a:r>
            <a:r>
              <a:rPr lang="zh-CN" altLang="en-US" sz="1800" dirty="0" smtClean="0"/>
              <a:t>测量中的阻值分辨率应该小于</a:t>
            </a:r>
            <a:r>
              <a:rPr lang="en-US" altLang="zh-CN" sz="1800" dirty="0" smtClean="0"/>
              <a:t>1.5m</a:t>
            </a:r>
            <a:r>
              <a:rPr lang="el-GR" altLang="zh-CN" sz="1800" dirty="0" smtClean="0">
                <a:latin typeface="+mn-ea"/>
                <a:ea typeface="+mn-ea"/>
                <a:cs typeface="Times New Roman" panose="02020603050405020304" pitchFamily="18" charset="0"/>
              </a:rPr>
              <a:t>Ω</a:t>
            </a:r>
            <a:r>
              <a:rPr lang="zh-CN" altLang="en-US" sz="1800" dirty="0" smtClean="0">
                <a:latin typeface="+mn-ea"/>
                <a:ea typeface="+mn-ea"/>
                <a:cs typeface="Times New Roman" panose="02020603050405020304" pitchFamily="18" charset="0"/>
              </a:rPr>
              <a:t>。若流过短路线的电流为</a:t>
            </a:r>
            <a:r>
              <a:rPr lang="en-US" altLang="zh-CN" sz="1800" dirty="0" smtClean="0">
                <a:latin typeface="+mn-ea"/>
                <a:ea typeface="+mn-ea"/>
                <a:cs typeface="Times New Roman" panose="02020603050405020304" pitchFamily="18" charset="0"/>
              </a:rPr>
              <a:t>20mA</a:t>
            </a:r>
            <a:r>
              <a:rPr lang="zh-CN" altLang="en-US" sz="1800" dirty="0" smtClean="0">
                <a:latin typeface="+mn-ea"/>
                <a:ea typeface="+mn-ea"/>
                <a:cs typeface="Times New Roman" panose="02020603050405020304" pitchFamily="18" charset="0"/>
              </a:rPr>
              <a:t>（这个值需考虑运放的驱动能力），则被测电压的最低分辨率为</a:t>
            </a:r>
            <a:r>
              <a:rPr lang="en-US" altLang="zh-CN" sz="1800" dirty="0" smtClean="0">
                <a:latin typeface="+mn-ea"/>
                <a:ea typeface="+mn-ea"/>
                <a:cs typeface="Times New Roman" panose="02020603050405020304" pitchFamily="18" charset="0"/>
              </a:rPr>
              <a:t>3uV</a:t>
            </a:r>
            <a:r>
              <a:rPr lang="zh-CN" altLang="en-US" sz="1800" dirty="0" smtClean="0">
                <a:latin typeface="+mn-ea"/>
                <a:ea typeface="+mn-ea"/>
                <a:cs typeface="Times New Roman" panose="02020603050405020304" pitchFamily="18" charset="0"/>
              </a:rPr>
              <a:t>。假定允许干扰信号对于最低分辨率的影响为</a:t>
            </a:r>
            <a:r>
              <a:rPr lang="en-US" altLang="zh-CN" sz="1800" dirty="0" smtClean="0">
                <a:latin typeface="+mn-ea"/>
                <a:ea typeface="+mn-ea"/>
                <a:cs typeface="Times New Roman" panose="02020603050405020304" pitchFamily="18" charset="0"/>
              </a:rPr>
              <a:t>10%</a:t>
            </a:r>
            <a:r>
              <a:rPr lang="zh-CN" altLang="en-US" sz="1800" dirty="0" smtClean="0">
                <a:latin typeface="+mn-ea"/>
                <a:ea typeface="+mn-ea"/>
                <a:cs typeface="Times New Roman" panose="02020603050405020304" pitchFamily="18" charset="0"/>
              </a:rPr>
              <a:t>，即需要将干扰幅度从</a:t>
            </a:r>
            <a:r>
              <a:rPr lang="en-US" altLang="zh-CN" sz="1800" dirty="0" smtClean="0">
                <a:latin typeface="+mn-ea"/>
                <a:ea typeface="+mn-ea"/>
                <a:cs typeface="Times New Roman" panose="02020603050405020304" pitchFamily="18" charset="0"/>
              </a:rPr>
              <a:t>0.2mV</a:t>
            </a:r>
            <a:r>
              <a:rPr lang="zh-CN" altLang="en-US" sz="1800" dirty="0" smtClean="0">
                <a:latin typeface="+mn-ea"/>
                <a:ea typeface="+mn-ea"/>
                <a:cs typeface="Times New Roman" panose="02020603050405020304" pitchFamily="18" charset="0"/>
              </a:rPr>
              <a:t>衰减到</a:t>
            </a:r>
            <a:r>
              <a:rPr lang="en-US" altLang="zh-CN" sz="1800" dirty="0" smtClean="0">
                <a:latin typeface="+mn-ea"/>
                <a:ea typeface="+mn-ea"/>
                <a:cs typeface="Times New Roman" panose="02020603050405020304" pitchFamily="18" charset="0"/>
              </a:rPr>
              <a:t>0.3uV</a:t>
            </a:r>
            <a:r>
              <a:rPr lang="zh-CN" altLang="en-US" sz="1800" dirty="0" smtClean="0">
                <a:latin typeface="+mn-ea"/>
                <a:ea typeface="+mn-ea"/>
                <a:cs typeface="Times New Roman" panose="02020603050405020304" pitchFamily="18" charset="0"/>
              </a:rPr>
              <a:t>以下，即必须将干扰信号衰减</a:t>
            </a:r>
            <a:r>
              <a:rPr lang="en-US" altLang="zh-CN" sz="1800" dirty="0" smtClean="0">
                <a:latin typeface="+mn-ea"/>
                <a:ea typeface="+mn-ea"/>
                <a:cs typeface="Times New Roman" panose="02020603050405020304" pitchFamily="18" charset="0"/>
              </a:rPr>
              <a:t>56dB</a:t>
            </a:r>
            <a:r>
              <a:rPr lang="zh-CN" altLang="en-US" sz="1800" dirty="0" smtClean="0">
                <a:latin typeface="+mn-ea"/>
                <a:ea typeface="+mn-ea"/>
                <a:cs typeface="Times New Roman" panose="02020603050405020304" pitchFamily="18" charset="0"/>
              </a:rPr>
              <a:t>以上。</a:t>
            </a:r>
            <a:endParaRPr lang="en-US" altLang="zh-CN" sz="1800" dirty="0">
              <a:latin typeface="+mn-ea"/>
              <a:ea typeface="+mn-ea"/>
            </a:endParaRPr>
          </a:p>
        </p:txBody>
      </p:sp>
    </p:spTree>
    <p:extLst>
      <p:ext uri="{BB962C8B-B14F-4D97-AF65-F5344CB8AC3E}">
        <p14:creationId xmlns:p14="http://schemas.microsoft.com/office/powerpoint/2010/main" val="30240916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5" name="文本框 4"/>
          <p:cNvSpPr txBox="1"/>
          <p:nvPr/>
        </p:nvSpPr>
        <p:spPr>
          <a:xfrm>
            <a:off x="435429" y="399143"/>
            <a:ext cx="11161486" cy="5078313"/>
          </a:xfrm>
          <a:prstGeom prst="rect">
            <a:avLst/>
          </a:prstGeom>
          <a:noFill/>
        </p:spPr>
        <p:txBody>
          <a:bodyPr wrap="square" rtlCol="0">
            <a:spAutoFit/>
          </a:bodyPr>
          <a:lstStyle/>
          <a:p>
            <a:pPr>
              <a:lnSpc>
                <a:spcPct val="150000"/>
              </a:lnSpc>
            </a:pPr>
            <a:r>
              <a:rPr lang="en-US" altLang="zh-CN" sz="1800" dirty="0" smtClean="0"/>
              <a:t>3</a:t>
            </a:r>
            <a:r>
              <a:rPr lang="zh-CN" altLang="en-US" sz="1800" dirty="0" smtClean="0"/>
              <a:t>、具体的抗干扰方法</a:t>
            </a:r>
            <a:endParaRPr lang="en-US" altLang="zh-CN" sz="1800" dirty="0" smtClean="0"/>
          </a:p>
          <a:p>
            <a:pPr indent="457200">
              <a:lnSpc>
                <a:spcPct val="150000"/>
              </a:lnSpc>
            </a:pPr>
            <a:r>
              <a:rPr lang="en-US" altLang="zh-CN" sz="1800" dirty="0" smtClean="0"/>
              <a:t>1</a:t>
            </a:r>
            <a:r>
              <a:rPr lang="zh-CN" altLang="en-US" sz="1800" dirty="0" smtClean="0"/>
              <a:t>、如果</a:t>
            </a:r>
            <a:r>
              <a:rPr lang="zh-CN" altLang="en-US" sz="1800" dirty="0" smtClean="0"/>
              <a:t>采用</a:t>
            </a:r>
            <a:r>
              <a:rPr lang="en-US" altLang="zh-CN" sz="1800" dirty="0" smtClean="0"/>
              <a:t>ADC</a:t>
            </a:r>
            <a:r>
              <a:rPr lang="zh-CN" altLang="en-US" sz="1800" dirty="0" smtClean="0"/>
              <a:t>直接采样的电路，那么必须用带通滤波器滤除干扰成分。</a:t>
            </a:r>
            <a:endParaRPr lang="en-US" altLang="zh-CN" sz="1800" dirty="0"/>
          </a:p>
          <a:p>
            <a:pPr indent="457200">
              <a:lnSpc>
                <a:spcPct val="150000"/>
              </a:lnSpc>
            </a:pPr>
            <a:r>
              <a:rPr lang="zh-CN" altLang="en-US" sz="1800" dirty="0" smtClean="0"/>
              <a:t>该</a:t>
            </a:r>
            <a:r>
              <a:rPr lang="zh-CN" altLang="en-US" sz="1800" dirty="0"/>
              <a:t>滤波器的中心频率</a:t>
            </a:r>
            <a:r>
              <a:rPr lang="zh-CN" altLang="en-US" sz="1800" dirty="0" smtClean="0"/>
              <a:t>为测试频率（</a:t>
            </a:r>
            <a:r>
              <a:rPr lang="en-US" altLang="zh-CN" sz="1800" dirty="0" smtClean="0"/>
              <a:t>30kHz</a:t>
            </a:r>
            <a:r>
              <a:rPr lang="zh-CN" altLang="en-US" sz="1800" dirty="0" smtClean="0"/>
              <a:t>附近），</a:t>
            </a:r>
            <a:r>
              <a:rPr lang="zh-CN" altLang="en-US" sz="1800" dirty="0"/>
              <a:t>对于</a:t>
            </a:r>
            <a:r>
              <a:rPr lang="en-US" altLang="zh-CN" sz="1800" dirty="0"/>
              <a:t>1kHz</a:t>
            </a:r>
            <a:r>
              <a:rPr lang="zh-CN" altLang="en-US" sz="1800" dirty="0"/>
              <a:t>以下、</a:t>
            </a:r>
            <a:r>
              <a:rPr lang="en-US" altLang="zh-CN" sz="1800" dirty="0"/>
              <a:t>1MHz</a:t>
            </a:r>
            <a:r>
              <a:rPr lang="zh-CN" altLang="en-US" sz="1800" dirty="0"/>
              <a:t>以上的信号有足够的衰减。经计算，</a:t>
            </a:r>
            <a:r>
              <a:rPr lang="zh-CN" altLang="en-US" sz="1800" dirty="0" smtClean="0"/>
              <a:t>一个通带频率为</a:t>
            </a:r>
            <a:r>
              <a:rPr lang="en-US" altLang="zh-CN" sz="1800" dirty="0" smtClean="0"/>
              <a:t>20kHz~40kHz</a:t>
            </a:r>
            <a:r>
              <a:rPr lang="zh-CN" altLang="en-US" sz="1800" dirty="0" smtClean="0"/>
              <a:t>的</a:t>
            </a:r>
            <a:r>
              <a:rPr lang="en-US" altLang="zh-CN" sz="1800" dirty="0" smtClean="0"/>
              <a:t>3</a:t>
            </a:r>
            <a:r>
              <a:rPr lang="zh-CN" altLang="en-US" sz="1800" dirty="0" smtClean="0"/>
              <a:t>阶巴特沃斯带通滤波器，可以对上述干扰信号产生</a:t>
            </a:r>
            <a:r>
              <a:rPr lang="en-US" altLang="zh-CN" sz="1800" dirty="0" smtClean="0"/>
              <a:t>95dB</a:t>
            </a:r>
            <a:r>
              <a:rPr lang="zh-CN" altLang="en-US" sz="1800" dirty="0"/>
              <a:t>以上的</a:t>
            </a:r>
            <a:r>
              <a:rPr lang="zh-CN" altLang="en-US" sz="1800" dirty="0" smtClean="0"/>
              <a:t>衰减，根据前面的讨论已经完全可以满足题目的要求</a:t>
            </a:r>
            <a:r>
              <a:rPr lang="zh-CN" altLang="en-US" sz="1800" dirty="0" smtClean="0"/>
              <a:t>。</a:t>
            </a:r>
            <a:endParaRPr lang="en-US" altLang="zh-CN" sz="1800" dirty="0" smtClean="0"/>
          </a:p>
          <a:p>
            <a:pPr indent="457200">
              <a:lnSpc>
                <a:spcPct val="150000"/>
              </a:lnSpc>
            </a:pPr>
            <a:r>
              <a:rPr lang="zh-CN" altLang="en-US" sz="1800" dirty="0" smtClean="0"/>
              <a:t>还有一个方法是在</a:t>
            </a:r>
            <a:r>
              <a:rPr lang="en-US" altLang="zh-CN" sz="1800" dirty="0" smtClean="0"/>
              <a:t>MCU</a:t>
            </a:r>
            <a:r>
              <a:rPr lang="zh-CN" altLang="en-US" sz="1800" dirty="0" smtClean="0"/>
              <a:t>中以软件方式进行滤波。这个方式有很高的灵活性，但有可能需要增加采样点。</a:t>
            </a:r>
            <a:endParaRPr lang="en-US" altLang="zh-CN" sz="1800" dirty="0" smtClean="0"/>
          </a:p>
          <a:p>
            <a:pPr indent="457200">
              <a:lnSpc>
                <a:spcPct val="150000"/>
              </a:lnSpc>
            </a:pPr>
            <a:endParaRPr lang="en-US" altLang="zh-CN" sz="1800" dirty="0" smtClean="0"/>
          </a:p>
          <a:p>
            <a:pPr indent="457200">
              <a:lnSpc>
                <a:spcPct val="150000"/>
              </a:lnSpc>
            </a:pPr>
            <a:r>
              <a:rPr lang="en-US" altLang="zh-CN" sz="1800" dirty="0" smtClean="0"/>
              <a:t>2</a:t>
            </a:r>
            <a:r>
              <a:rPr lang="zh-CN" altLang="en-US" sz="1800" dirty="0" smtClean="0"/>
              <a:t>、如果</a:t>
            </a:r>
            <a:r>
              <a:rPr lang="zh-CN" altLang="en-US" sz="1800" dirty="0" smtClean="0"/>
              <a:t>采用正交同步检波的电路，它相当于将带通滤波器的通带映射到</a:t>
            </a:r>
            <a:r>
              <a:rPr lang="zh-CN" altLang="en-US" sz="1800" dirty="0"/>
              <a:t>零</a:t>
            </a:r>
            <a:r>
              <a:rPr lang="zh-CN" altLang="en-US" sz="1800" dirty="0" smtClean="0"/>
              <a:t>频率，所以只要其后的积分电路有足够大的时间常数，就可以滤除所有干扰与噪声。这个电路的效果优于</a:t>
            </a:r>
            <a:r>
              <a:rPr lang="en-US" altLang="zh-CN" sz="1800" dirty="0" smtClean="0"/>
              <a:t>ADC</a:t>
            </a:r>
            <a:r>
              <a:rPr lang="zh-CN" altLang="en-US" sz="1800" dirty="0" smtClean="0"/>
              <a:t>直接采样方法</a:t>
            </a:r>
            <a:r>
              <a:rPr lang="zh-CN" altLang="en-US" sz="1800" dirty="0" smtClean="0"/>
              <a:t>。</a:t>
            </a:r>
            <a:endParaRPr lang="en-US" altLang="zh-CN" sz="1800" dirty="0" smtClean="0"/>
          </a:p>
          <a:p>
            <a:pPr indent="457200">
              <a:lnSpc>
                <a:spcPct val="150000"/>
              </a:lnSpc>
            </a:pPr>
            <a:endParaRPr lang="en-US" altLang="zh-CN" sz="1800" dirty="0" smtClean="0"/>
          </a:p>
          <a:p>
            <a:pPr indent="457200">
              <a:lnSpc>
                <a:spcPct val="150000"/>
              </a:lnSpc>
            </a:pPr>
            <a:r>
              <a:rPr lang="zh-CN" altLang="en-US" sz="1800" dirty="0" smtClean="0"/>
              <a:t>不管采用哪种方式，在干扰特别大的时候，要防止干扰信号驱动前置放大器使它进入饱和状态，产生所谓的“阻塞”现象。</a:t>
            </a:r>
            <a:endParaRPr lang="en-US" altLang="zh-CN" sz="1800" dirty="0"/>
          </a:p>
        </p:txBody>
      </p:sp>
    </p:spTree>
    <p:extLst>
      <p:ext uri="{BB962C8B-B14F-4D97-AF65-F5344CB8AC3E}">
        <p14:creationId xmlns:p14="http://schemas.microsoft.com/office/powerpoint/2010/main" val="1747451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5" name="文本框 4"/>
          <p:cNvSpPr txBox="1"/>
          <p:nvPr/>
        </p:nvSpPr>
        <p:spPr>
          <a:xfrm>
            <a:off x="428171" y="471714"/>
            <a:ext cx="11466286" cy="5078313"/>
          </a:xfrm>
          <a:prstGeom prst="rect">
            <a:avLst/>
          </a:prstGeom>
          <a:noFill/>
        </p:spPr>
        <p:txBody>
          <a:bodyPr wrap="square" rtlCol="0">
            <a:spAutoFit/>
          </a:bodyPr>
          <a:lstStyle/>
          <a:p>
            <a:pPr>
              <a:lnSpc>
                <a:spcPct val="150000"/>
              </a:lnSpc>
            </a:pPr>
            <a:r>
              <a:rPr lang="zh-CN" altLang="en-US" sz="1800" dirty="0" smtClean="0"/>
              <a:t>注意事项：</a:t>
            </a:r>
            <a:endParaRPr lang="en-US" altLang="zh-CN" sz="1800" dirty="0" smtClean="0"/>
          </a:p>
          <a:p>
            <a:pPr indent="457200">
              <a:lnSpc>
                <a:spcPct val="150000"/>
              </a:lnSpc>
            </a:pPr>
            <a:r>
              <a:rPr lang="en-US" altLang="zh-CN" sz="1800" dirty="0" smtClean="0"/>
              <a:t>1</a:t>
            </a:r>
            <a:r>
              <a:rPr lang="zh-CN" altLang="en-US" sz="1800" dirty="0" smtClean="0"/>
              <a:t>、题目要求</a:t>
            </a:r>
            <a:r>
              <a:rPr lang="en-US" altLang="zh-CN" sz="1800" dirty="0" smtClean="0"/>
              <a:t>+5V</a:t>
            </a:r>
            <a:r>
              <a:rPr lang="zh-CN" altLang="en-US" sz="1800" dirty="0" smtClean="0"/>
              <a:t>单电源供电。所有集成电路都要考虑是否能够在</a:t>
            </a:r>
            <a:r>
              <a:rPr lang="en-US" altLang="zh-CN" sz="1800" dirty="0" smtClean="0"/>
              <a:t>5V</a:t>
            </a:r>
            <a:r>
              <a:rPr lang="zh-CN" altLang="en-US" sz="1800" dirty="0" smtClean="0"/>
              <a:t>单电源下正常工作（工作电压是否允许？动态范围是否足够？），如果不满足就要考虑增加负电源发生器。</a:t>
            </a:r>
            <a:endParaRPr lang="en-US" altLang="zh-CN" sz="1800" dirty="0" smtClean="0"/>
          </a:p>
          <a:p>
            <a:pPr indent="457200">
              <a:lnSpc>
                <a:spcPct val="150000"/>
              </a:lnSpc>
            </a:pPr>
            <a:endParaRPr lang="en-US" altLang="zh-CN" sz="1800" dirty="0" smtClean="0"/>
          </a:p>
          <a:p>
            <a:pPr indent="457200">
              <a:lnSpc>
                <a:spcPct val="150000"/>
              </a:lnSpc>
            </a:pPr>
            <a:r>
              <a:rPr lang="en-US" altLang="zh-CN" sz="1800" dirty="0" smtClean="0"/>
              <a:t>2</a:t>
            </a:r>
            <a:r>
              <a:rPr lang="zh-CN" altLang="en-US" sz="1800" dirty="0" smtClean="0"/>
              <a:t>、如果采用正交同步检波，能够产生两路正交信号的电路有：</a:t>
            </a:r>
            <a:endParaRPr lang="en-US" altLang="zh-CN" sz="1800" dirty="0" smtClean="0"/>
          </a:p>
          <a:p>
            <a:pPr marL="1200150" lvl="2" indent="-285750">
              <a:lnSpc>
                <a:spcPct val="150000"/>
              </a:lnSpc>
              <a:buFont typeface="Arial" panose="020B0604020202020204" pitchFamily="34" charset="0"/>
              <a:buChar char="•"/>
            </a:pPr>
            <a:r>
              <a:rPr lang="en-US" altLang="zh-CN" sz="1800" dirty="0" smtClean="0"/>
              <a:t>DDS</a:t>
            </a:r>
            <a:r>
              <a:rPr lang="zh-CN" altLang="en-US" sz="1800" dirty="0" smtClean="0"/>
              <a:t>芯片，例如</a:t>
            </a:r>
            <a:r>
              <a:rPr lang="en-US" altLang="zh-CN" sz="1800" dirty="0" smtClean="0"/>
              <a:t>AD9854</a:t>
            </a:r>
            <a:endParaRPr lang="en-US" altLang="zh-CN" sz="1800" dirty="0"/>
          </a:p>
          <a:p>
            <a:pPr marL="1200150" lvl="2" indent="-285750">
              <a:lnSpc>
                <a:spcPct val="150000"/>
              </a:lnSpc>
              <a:buFont typeface="Arial" panose="020B0604020202020204" pitchFamily="34" charset="0"/>
              <a:buChar char="•"/>
            </a:pPr>
            <a:r>
              <a:rPr lang="zh-CN" altLang="en-US" sz="1800" dirty="0" smtClean="0"/>
              <a:t>基于锁相环的频率合成器，其输出经过</a:t>
            </a:r>
            <a:r>
              <a:rPr lang="en-US" altLang="zh-CN" sz="1800" dirty="0" smtClean="0"/>
              <a:t>4</a:t>
            </a:r>
            <a:r>
              <a:rPr lang="zh-CN" altLang="en-US" sz="1800" dirty="0" smtClean="0"/>
              <a:t>分频后，可以产生一对正交信号</a:t>
            </a:r>
            <a:endParaRPr lang="en-US" altLang="zh-CN" sz="1800" dirty="0" smtClean="0"/>
          </a:p>
          <a:p>
            <a:pPr marL="1200150" lvl="2" indent="-285750">
              <a:lnSpc>
                <a:spcPct val="150000"/>
              </a:lnSpc>
              <a:buFont typeface="Arial" panose="020B0604020202020204" pitchFamily="34" charset="0"/>
              <a:buChar char="•"/>
            </a:pPr>
            <a:r>
              <a:rPr lang="en-US" altLang="zh-CN" sz="1800" dirty="0" smtClean="0"/>
              <a:t>MCU</a:t>
            </a:r>
            <a:r>
              <a:rPr lang="zh-CN" altLang="en-US" sz="1800" dirty="0" smtClean="0"/>
              <a:t>直接产生一对正交信号；或者产生一个</a:t>
            </a:r>
            <a:r>
              <a:rPr lang="en-US" altLang="zh-CN" sz="1800" dirty="0" smtClean="0"/>
              <a:t>4</a:t>
            </a:r>
            <a:r>
              <a:rPr lang="zh-CN" altLang="en-US" sz="1800" dirty="0" smtClean="0"/>
              <a:t>倍于测量频率的信号，然后</a:t>
            </a:r>
            <a:r>
              <a:rPr lang="en-US" altLang="zh-CN" sz="1800" dirty="0" smtClean="0"/>
              <a:t>4</a:t>
            </a:r>
            <a:r>
              <a:rPr lang="zh-CN" altLang="en-US" sz="1800" dirty="0" smtClean="0"/>
              <a:t>分频得到正交信号</a:t>
            </a:r>
            <a:endParaRPr lang="en-US" altLang="zh-CN" sz="1800" dirty="0" smtClean="0"/>
          </a:p>
          <a:p>
            <a:pPr lvl="1">
              <a:lnSpc>
                <a:spcPct val="150000"/>
              </a:lnSpc>
            </a:pPr>
            <a:r>
              <a:rPr lang="zh-CN" altLang="en-US" sz="1800" dirty="0" smtClean="0"/>
              <a:t>上述方法中，</a:t>
            </a:r>
            <a:r>
              <a:rPr lang="en-US" altLang="zh-CN" sz="1800" dirty="0" smtClean="0"/>
              <a:t>DDS</a:t>
            </a:r>
            <a:r>
              <a:rPr lang="zh-CN" altLang="en-US" sz="1800" dirty="0" smtClean="0"/>
              <a:t>方法最灵活，无论频率精度还是正弦信号的频谱纯度都可以做到极好。基于锁相环的频率合成器的信号频率精度与</a:t>
            </a:r>
            <a:r>
              <a:rPr lang="en-US" altLang="zh-CN" sz="1800" dirty="0" smtClean="0"/>
              <a:t>DDS</a:t>
            </a:r>
            <a:r>
              <a:rPr lang="zh-CN" altLang="en-US" sz="1800" dirty="0" smtClean="0"/>
              <a:t>一样极好，输出频谱纯度要看后续的滤波器。</a:t>
            </a:r>
            <a:r>
              <a:rPr lang="en-US" altLang="zh-CN" sz="1800" dirty="0" smtClean="0"/>
              <a:t>MCU</a:t>
            </a:r>
            <a:r>
              <a:rPr lang="zh-CN" altLang="en-US" sz="1800" dirty="0" smtClean="0"/>
              <a:t>直接产生的信号，其频率准确度取决于</a:t>
            </a:r>
            <a:r>
              <a:rPr lang="en-US" altLang="zh-CN" sz="1800" dirty="0" smtClean="0"/>
              <a:t>MCU</a:t>
            </a:r>
            <a:r>
              <a:rPr lang="zh-CN" altLang="en-US" sz="1800" dirty="0" smtClean="0"/>
              <a:t>的工作方式与速度（如果用定时中断直接输出，精度也很高；若通过软件输出的其精度就差很多），频谱纯度也是取决于后续的滤波器。</a:t>
            </a:r>
            <a:endParaRPr lang="en-US" altLang="zh-CN" sz="1800" dirty="0" smtClean="0"/>
          </a:p>
        </p:txBody>
      </p:sp>
    </p:spTree>
    <p:extLst>
      <p:ext uri="{BB962C8B-B14F-4D97-AF65-F5344CB8AC3E}">
        <p14:creationId xmlns:p14="http://schemas.microsoft.com/office/powerpoint/2010/main" val="2504596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文本框 4"/>
          <p:cNvSpPr txBox="1"/>
          <p:nvPr/>
        </p:nvSpPr>
        <p:spPr>
          <a:xfrm>
            <a:off x="370114" y="464457"/>
            <a:ext cx="11386457" cy="1892826"/>
          </a:xfrm>
          <a:prstGeom prst="rect">
            <a:avLst/>
          </a:prstGeom>
          <a:noFill/>
        </p:spPr>
        <p:txBody>
          <a:bodyPr wrap="square" rtlCol="0">
            <a:spAutoFit/>
          </a:bodyPr>
          <a:lstStyle/>
          <a:p>
            <a:pPr>
              <a:lnSpc>
                <a:spcPct val="150000"/>
              </a:lnSpc>
            </a:pPr>
            <a:r>
              <a:rPr lang="zh-CN" altLang="en-US" sz="2400" dirty="0" smtClean="0">
                <a:solidFill>
                  <a:srgbClr val="FF0000"/>
                </a:solidFill>
                <a:latin typeface="隶书" panose="02010509060101010101" pitchFamily="49" charset="-122"/>
                <a:ea typeface="隶书" panose="02010509060101010101" pitchFamily="49" charset="-122"/>
              </a:rPr>
              <a:t>训练题目  </a:t>
            </a:r>
            <a:r>
              <a:rPr lang="en-US" altLang="zh-CN" sz="1800" dirty="0" smtClean="0"/>
              <a:t>2013</a:t>
            </a:r>
            <a:r>
              <a:rPr lang="zh-CN" altLang="zh-CN" sz="1800" dirty="0"/>
              <a:t>年全国赛</a:t>
            </a:r>
            <a:r>
              <a:rPr lang="en-US" altLang="zh-CN" sz="1800" dirty="0"/>
              <a:t>E</a:t>
            </a:r>
            <a:r>
              <a:rPr lang="zh-CN" altLang="zh-CN" sz="1800" dirty="0"/>
              <a:t>题  简易频率特性测试</a:t>
            </a:r>
            <a:r>
              <a:rPr lang="zh-CN" altLang="zh-CN" sz="1800" dirty="0" smtClean="0"/>
              <a:t>仪</a:t>
            </a:r>
            <a:endParaRPr lang="en-US" altLang="zh-CN" sz="1800" dirty="0" smtClean="0"/>
          </a:p>
          <a:p>
            <a:pPr>
              <a:lnSpc>
                <a:spcPct val="150000"/>
              </a:lnSpc>
            </a:pPr>
            <a:r>
              <a:rPr lang="zh-CN" altLang="zh-CN" sz="1800" dirty="0">
                <a:latin typeface="黑体" panose="02010609060101010101" pitchFamily="49" charset="-122"/>
                <a:ea typeface="黑体" panose="02010609060101010101" pitchFamily="49" charset="-122"/>
              </a:rPr>
              <a:t>一、任务 </a:t>
            </a:r>
          </a:p>
          <a:p>
            <a:pPr indent="457200">
              <a:lnSpc>
                <a:spcPct val="150000"/>
              </a:lnSpc>
            </a:pPr>
            <a:r>
              <a:rPr lang="zh-CN" altLang="zh-CN" sz="1800" dirty="0"/>
              <a:t>根据零中频正交解调原理，设计并制作一个双端口网络频率特性测试仪，包括幅频特性和相频特性，其示意图如图所示。</a:t>
            </a:r>
          </a:p>
        </p:txBody>
      </p:sp>
      <p:pic>
        <p:nvPicPr>
          <p:cNvPr id="6" name="图片 5"/>
          <p:cNvPicPr/>
          <p:nvPr/>
        </p:nvPicPr>
        <p:blipFill>
          <a:blip r:embed="rId2"/>
          <a:stretch>
            <a:fillRect/>
          </a:stretch>
        </p:blipFill>
        <p:spPr>
          <a:xfrm>
            <a:off x="2409371" y="2337516"/>
            <a:ext cx="6701109" cy="2103438"/>
          </a:xfrm>
          <a:prstGeom prst="rect">
            <a:avLst/>
          </a:prstGeom>
        </p:spPr>
      </p:pic>
    </p:spTree>
    <p:extLst>
      <p:ext uri="{BB962C8B-B14F-4D97-AF65-F5344CB8AC3E}">
        <p14:creationId xmlns:p14="http://schemas.microsoft.com/office/powerpoint/2010/main" val="4277981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文本框 4"/>
          <p:cNvSpPr txBox="1"/>
          <p:nvPr/>
        </p:nvSpPr>
        <p:spPr>
          <a:xfrm>
            <a:off x="413657" y="529771"/>
            <a:ext cx="11328400" cy="3354765"/>
          </a:xfrm>
          <a:prstGeom prst="rect">
            <a:avLst/>
          </a:prstGeom>
          <a:noFill/>
        </p:spPr>
        <p:txBody>
          <a:bodyPr wrap="square" rtlCol="0">
            <a:spAutoFit/>
          </a:bodyPr>
          <a:lstStyle/>
          <a:p>
            <a:pPr>
              <a:lnSpc>
                <a:spcPct val="150000"/>
              </a:lnSpc>
            </a:pPr>
            <a:r>
              <a:rPr lang="zh-CN" altLang="zh-CN" dirty="0"/>
              <a:t>二、要求 </a:t>
            </a:r>
          </a:p>
          <a:p>
            <a:pPr>
              <a:lnSpc>
                <a:spcPct val="150000"/>
              </a:lnSpc>
            </a:pPr>
            <a:r>
              <a:rPr lang="en-US" altLang="zh-CN" sz="1800" dirty="0"/>
              <a:t>1</a:t>
            </a:r>
            <a:r>
              <a:rPr lang="zh-CN" altLang="zh-CN" sz="1800" dirty="0"/>
              <a:t>．基本要求 </a:t>
            </a:r>
          </a:p>
          <a:p>
            <a:pPr>
              <a:lnSpc>
                <a:spcPct val="150000"/>
              </a:lnSpc>
            </a:pPr>
            <a:r>
              <a:rPr lang="zh-CN" altLang="zh-CN" sz="1800" dirty="0"/>
              <a:t>制作一个正交扫频信号源。</a:t>
            </a:r>
          </a:p>
          <a:p>
            <a:pPr>
              <a:lnSpc>
                <a:spcPct val="150000"/>
              </a:lnSpc>
            </a:pPr>
            <a:r>
              <a:rPr lang="zh-CN" altLang="zh-CN" sz="1800" dirty="0"/>
              <a:t>（</a:t>
            </a:r>
            <a:r>
              <a:rPr lang="en-US" altLang="zh-CN" sz="1800" dirty="0"/>
              <a:t>1</a:t>
            </a:r>
            <a:r>
              <a:rPr lang="zh-CN" altLang="zh-CN" sz="1800" dirty="0"/>
              <a:t>）频率范围为</a:t>
            </a:r>
            <a:r>
              <a:rPr lang="en-US" altLang="zh-CN" sz="1800" dirty="0"/>
              <a:t> 1MHz~40MHz</a:t>
            </a:r>
            <a:r>
              <a:rPr lang="zh-CN" altLang="zh-CN" sz="1800" dirty="0"/>
              <a:t>，频率稳定度≤</a:t>
            </a:r>
            <a:r>
              <a:rPr lang="en-US" altLang="zh-CN" sz="1800" dirty="0"/>
              <a:t>10</a:t>
            </a:r>
            <a:r>
              <a:rPr lang="en-US" altLang="zh-CN" sz="1800" baseline="30000" dirty="0"/>
              <a:t>-4</a:t>
            </a:r>
            <a:r>
              <a:rPr lang="zh-CN" altLang="zh-CN" sz="1800" dirty="0"/>
              <a:t>；频率可设置，最小设置单位</a:t>
            </a:r>
            <a:r>
              <a:rPr lang="en-US" altLang="zh-CN" sz="1800" dirty="0"/>
              <a:t>100kHz</a:t>
            </a:r>
            <a:r>
              <a:rPr lang="zh-CN" altLang="zh-CN" sz="1800" dirty="0"/>
              <a:t>。</a:t>
            </a:r>
          </a:p>
          <a:p>
            <a:pPr>
              <a:lnSpc>
                <a:spcPct val="150000"/>
              </a:lnSpc>
            </a:pPr>
            <a:r>
              <a:rPr lang="zh-CN" altLang="zh-CN" sz="1800" dirty="0"/>
              <a:t>（</a:t>
            </a:r>
            <a:r>
              <a:rPr lang="en-US" altLang="zh-CN" sz="1800" dirty="0"/>
              <a:t>2</a:t>
            </a:r>
            <a:r>
              <a:rPr lang="zh-CN" altLang="zh-CN" sz="1800" dirty="0"/>
              <a:t>）正交信号相位差误差的绝对值≤</a:t>
            </a:r>
            <a:r>
              <a:rPr lang="en-US" altLang="zh-CN" sz="1800" dirty="0"/>
              <a:t>5</a:t>
            </a:r>
            <a:r>
              <a:rPr lang="zh-CN" altLang="zh-CN" sz="1800" dirty="0"/>
              <a:t>º，幅度平衡误差的绝对值≤</a:t>
            </a:r>
            <a:r>
              <a:rPr lang="en-US" altLang="zh-CN" sz="1800" dirty="0"/>
              <a:t>5%</a:t>
            </a:r>
            <a:r>
              <a:rPr lang="zh-CN" altLang="zh-CN" sz="1800" dirty="0"/>
              <a:t>。 </a:t>
            </a:r>
          </a:p>
          <a:p>
            <a:pPr>
              <a:lnSpc>
                <a:spcPct val="150000"/>
              </a:lnSpc>
            </a:pPr>
            <a:r>
              <a:rPr lang="zh-CN" altLang="zh-CN" sz="1800" dirty="0"/>
              <a:t>（</a:t>
            </a:r>
            <a:r>
              <a:rPr lang="en-US" altLang="zh-CN" sz="1800" dirty="0"/>
              <a:t>3</a:t>
            </a:r>
            <a:r>
              <a:rPr lang="zh-CN" altLang="zh-CN" sz="1800" dirty="0"/>
              <a:t>）信号电压的峰峰值≥</a:t>
            </a:r>
            <a:r>
              <a:rPr lang="en-US" altLang="zh-CN" sz="1800" dirty="0"/>
              <a:t>1V</a:t>
            </a:r>
            <a:r>
              <a:rPr lang="zh-CN" altLang="zh-CN" sz="1800" dirty="0"/>
              <a:t>，幅度平坦度≤</a:t>
            </a:r>
            <a:r>
              <a:rPr lang="en-US" altLang="zh-CN" sz="1800" dirty="0"/>
              <a:t>5%</a:t>
            </a:r>
            <a:r>
              <a:rPr lang="zh-CN" altLang="zh-CN" sz="1800" dirty="0"/>
              <a:t>。 </a:t>
            </a:r>
          </a:p>
          <a:p>
            <a:pPr>
              <a:lnSpc>
                <a:spcPct val="150000"/>
              </a:lnSpc>
            </a:pPr>
            <a:r>
              <a:rPr lang="zh-CN" altLang="zh-CN" sz="1800" dirty="0"/>
              <a:t>（</a:t>
            </a:r>
            <a:r>
              <a:rPr lang="en-US" altLang="zh-CN" sz="1800" dirty="0"/>
              <a:t>4</a:t>
            </a:r>
            <a:r>
              <a:rPr lang="zh-CN" altLang="zh-CN" sz="1800" dirty="0"/>
              <a:t>）可扫频输出，扫频范围及频率步进值可设置，最小步进</a:t>
            </a:r>
            <a:r>
              <a:rPr lang="en-US" altLang="zh-CN" sz="1800" dirty="0"/>
              <a:t>100kHz</a:t>
            </a:r>
            <a:r>
              <a:rPr lang="zh-CN" altLang="zh-CN" sz="1800" dirty="0"/>
              <a:t>；要求连续扫频输出，一次扫频时间≤</a:t>
            </a:r>
            <a:r>
              <a:rPr lang="en-US" altLang="zh-CN" sz="1800" dirty="0"/>
              <a:t>2s</a:t>
            </a:r>
            <a:r>
              <a:rPr lang="zh-CN" altLang="zh-CN" sz="1800" dirty="0"/>
              <a:t>。</a:t>
            </a:r>
          </a:p>
          <a:p>
            <a:endParaRPr lang="zh-CN" altLang="en-US" dirty="0"/>
          </a:p>
        </p:txBody>
      </p:sp>
    </p:spTree>
    <p:extLst>
      <p:ext uri="{BB962C8B-B14F-4D97-AF65-F5344CB8AC3E}">
        <p14:creationId xmlns:p14="http://schemas.microsoft.com/office/powerpoint/2010/main" val="1281596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p:sp>
        <p:nvSpPr>
          <p:cNvPr id="5" name="文本框 4"/>
          <p:cNvSpPr txBox="1"/>
          <p:nvPr/>
        </p:nvSpPr>
        <p:spPr>
          <a:xfrm>
            <a:off x="348343" y="420914"/>
            <a:ext cx="11386457" cy="4216539"/>
          </a:xfrm>
          <a:prstGeom prst="rect">
            <a:avLst/>
          </a:prstGeom>
          <a:noFill/>
        </p:spPr>
        <p:txBody>
          <a:bodyPr wrap="square" rtlCol="0">
            <a:spAutoFit/>
          </a:bodyPr>
          <a:lstStyle/>
          <a:p>
            <a:pPr>
              <a:lnSpc>
                <a:spcPct val="125000"/>
              </a:lnSpc>
            </a:pPr>
            <a:r>
              <a:rPr lang="en-US" altLang="zh-CN" dirty="0"/>
              <a:t>2</a:t>
            </a:r>
            <a:r>
              <a:rPr lang="zh-CN" altLang="zh-CN" dirty="0"/>
              <a:t>．发挥部分 </a:t>
            </a:r>
          </a:p>
          <a:p>
            <a:pPr>
              <a:lnSpc>
                <a:spcPct val="135000"/>
              </a:lnSpc>
            </a:pPr>
            <a:r>
              <a:rPr lang="zh-CN" altLang="zh-CN" sz="1800" dirty="0">
                <a:latin typeface="+mn-ea"/>
                <a:ea typeface="+mn-ea"/>
              </a:rPr>
              <a:t>（</a:t>
            </a:r>
            <a:r>
              <a:rPr lang="en-US" altLang="zh-CN" sz="1800" dirty="0">
                <a:latin typeface="+mn-ea"/>
                <a:ea typeface="+mn-ea"/>
              </a:rPr>
              <a:t>1</a:t>
            </a:r>
            <a:r>
              <a:rPr lang="zh-CN" altLang="zh-CN" sz="1800" dirty="0">
                <a:latin typeface="+mn-ea"/>
                <a:ea typeface="+mn-ea"/>
              </a:rPr>
              <a:t>）使用基本要求中完成的正交扫频信号源，制作频率特性测试仪。</a:t>
            </a:r>
          </a:p>
          <a:p>
            <a:pPr indent="457200">
              <a:lnSpc>
                <a:spcPct val="135000"/>
              </a:lnSpc>
            </a:pPr>
            <a:r>
              <a:rPr lang="en-US" altLang="zh-CN" sz="1800" i="1" dirty="0" smtClean="0">
                <a:latin typeface="+mn-ea"/>
                <a:ea typeface="+mn-ea"/>
              </a:rPr>
              <a:t>a</a:t>
            </a:r>
            <a:r>
              <a:rPr lang="en-US" altLang="zh-CN" sz="1800" dirty="0">
                <a:latin typeface="+mn-ea"/>
                <a:ea typeface="+mn-ea"/>
              </a:rPr>
              <a:t>. </a:t>
            </a:r>
            <a:r>
              <a:rPr lang="zh-CN" altLang="zh-CN" sz="1800" dirty="0">
                <a:latin typeface="+mn-ea"/>
                <a:ea typeface="+mn-ea"/>
              </a:rPr>
              <a:t>输入阻抗为</a:t>
            </a:r>
            <a:r>
              <a:rPr lang="en-US" altLang="zh-CN" sz="1800" dirty="0">
                <a:latin typeface="+mn-ea"/>
                <a:ea typeface="+mn-ea"/>
              </a:rPr>
              <a:t> 50Ω</a:t>
            </a:r>
            <a:r>
              <a:rPr lang="zh-CN" altLang="zh-CN" sz="1800" dirty="0">
                <a:latin typeface="+mn-ea"/>
                <a:ea typeface="+mn-ea"/>
              </a:rPr>
              <a:t>，输出阻抗为</a:t>
            </a:r>
            <a:r>
              <a:rPr lang="en-US" altLang="zh-CN" sz="1800" dirty="0">
                <a:latin typeface="+mn-ea"/>
                <a:ea typeface="+mn-ea"/>
              </a:rPr>
              <a:t> 50Ω</a:t>
            </a:r>
            <a:r>
              <a:rPr lang="zh-CN" altLang="zh-CN" sz="1800" dirty="0">
                <a:latin typeface="+mn-ea"/>
                <a:ea typeface="+mn-ea"/>
              </a:rPr>
              <a:t>； </a:t>
            </a:r>
          </a:p>
          <a:p>
            <a:pPr indent="457200">
              <a:lnSpc>
                <a:spcPct val="135000"/>
              </a:lnSpc>
            </a:pPr>
            <a:r>
              <a:rPr lang="en-US" altLang="zh-CN" sz="1800" i="1" dirty="0" smtClean="0">
                <a:latin typeface="+mn-ea"/>
                <a:ea typeface="+mn-ea"/>
              </a:rPr>
              <a:t>b</a:t>
            </a:r>
            <a:r>
              <a:rPr lang="en-US" altLang="zh-CN" sz="1800" dirty="0">
                <a:latin typeface="+mn-ea"/>
                <a:ea typeface="+mn-ea"/>
              </a:rPr>
              <a:t>. </a:t>
            </a:r>
            <a:r>
              <a:rPr lang="zh-CN" altLang="zh-CN" sz="1800" dirty="0">
                <a:latin typeface="+mn-ea"/>
                <a:ea typeface="+mn-ea"/>
              </a:rPr>
              <a:t>可进行点频测量；幅频测量误差的绝对值≤</a:t>
            </a:r>
            <a:r>
              <a:rPr lang="en-US" altLang="zh-CN" sz="1800" dirty="0">
                <a:latin typeface="+mn-ea"/>
                <a:ea typeface="+mn-ea"/>
              </a:rPr>
              <a:t>0.5dB</a:t>
            </a:r>
            <a:r>
              <a:rPr lang="zh-CN" altLang="zh-CN" sz="1800" dirty="0">
                <a:latin typeface="+mn-ea"/>
                <a:ea typeface="+mn-ea"/>
              </a:rPr>
              <a:t>，相频测量误差的绝对值≤</a:t>
            </a:r>
            <a:r>
              <a:rPr lang="en-US" altLang="zh-CN" sz="1800" dirty="0">
                <a:latin typeface="+mn-ea"/>
                <a:ea typeface="+mn-ea"/>
              </a:rPr>
              <a:t>5º</a:t>
            </a:r>
            <a:r>
              <a:rPr lang="zh-CN" altLang="zh-CN" sz="1800" dirty="0">
                <a:latin typeface="+mn-ea"/>
                <a:ea typeface="+mn-ea"/>
              </a:rPr>
              <a:t>；数据显示的分辨率：电压增益</a:t>
            </a:r>
            <a:r>
              <a:rPr lang="en-US" altLang="zh-CN" sz="1800" dirty="0">
                <a:latin typeface="+mn-ea"/>
                <a:ea typeface="+mn-ea"/>
              </a:rPr>
              <a:t> 0.1dB</a:t>
            </a:r>
            <a:r>
              <a:rPr lang="zh-CN" altLang="zh-CN" sz="1800" dirty="0">
                <a:latin typeface="+mn-ea"/>
                <a:ea typeface="+mn-ea"/>
              </a:rPr>
              <a:t>，相移</a:t>
            </a:r>
            <a:r>
              <a:rPr lang="en-US" altLang="zh-CN" sz="1800" dirty="0">
                <a:latin typeface="+mn-ea"/>
                <a:ea typeface="+mn-ea"/>
              </a:rPr>
              <a:t> 0.1º</a:t>
            </a:r>
            <a:r>
              <a:rPr lang="zh-CN" altLang="zh-CN" sz="1800" dirty="0">
                <a:latin typeface="+mn-ea"/>
                <a:ea typeface="+mn-ea"/>
              </a:rPr>
              <a:t>。 </a:t>
            </a:r>
          </a:p>
          <a:p>
            <a:pPr>
              <a:lnSpc>
                <a:spcPct val="135000"/>
              </a:lnSpc>
            </a:pPr>
            <a:r>
              <a:rPr lang="zh-CN" altLang="zh-CN" sz="1800" dirty="0">
                <a:latin typeface="+mn-ea"/>
                <a:ea typeface="+mn-ea"/>
              </a:rPr>
              <a:t>（</a:t>
            </a:r>
            <a:r>
              <a:rPr lang="en-US" altLang="zh-CN" sz="1800" dirty="0">
                <a:latin typeface="+mn-ea"/>
                <a:ea typeface="+mn-ea"/>
              </a:rPr>
              <a:t>2</a:t>
            </a:r>
            <a:r>
              <a:rPr lang="zh-CN" altLang="zh-CN" sz="1800" dirty="0">
                <a:latin typeface="+mn-ea"/>
                <a:ea typeface="+mn-ea"/>
              </a:rPr>
              <a:t>）制作一个</a:t>
            </a:r>
            <a:r>
              <a:rPr lang="en-US" altLang="zh-CN" sz="1800" dirty="0">
                <a:latin typeface="+mn-ea"/>
                <a:ea typeface="+mn-ea"/>
              </a:rPr>
              <a:t> RLC </a:t>
            </a:r>
            <a:r>
              <a:rPr lang="zh-CN" altLang="zh-CN" sz="1800" dirty="0">
                <a:latin typeface="+mn-ea"/>
                <a:ea typeface="+mn-ea"/>
              </a:rPr>
              <a:t>串联谐振电路作为被测网络，如下图所示，其中</a:t>
            </a:r>
            <a:r>
              <a:rPr lang="en-US" altLang="zh-CN" sz="1800" dirty="0">
                <a:latin typeface="+mn-ea"/>
                <a:ea typeface="+mn-ea"/>
              </a:rPr>
              <a:t> </a:t>
            </a:r>
            <a:r>
              <a:rPr lang="en-US" altLang="zh-CN" sz="1800" dirty="0" err="1">
                <a:latin typeface="+mn-ea"/>
                <a:ea typeface="+mn-ea"/>
              </a:rPr>
              <a:t>Ri</a:t>
            </a:r>
            <a:r>
              <a:rPr lang="zh-CN" altLang="zh-CN" sz="1800" dirty="0">
                <a:latin typeface="+mn-ea"/>
                <a:ea typeface="+mn-ea"/>
              </a:rPr>
              <a:t>和</a:t>
            </a:r>
            <a:r>
              <a:rPr lang="en-US" altLang="zh-CN" sz="1800" dirty="0">
                <a:latin typeface="+mn-ea"/>
                <a:ea typeface="+mn-ea"/>
              </a:rPr>
              <a:t> Ro</a:t>
            </a:r>
            <a:r>
              <a:rPr lang="zh-CN" altLang="zh-CN" sz="1800" dirty="0">
                <a:latin typeface="+mn-ea"/>
                <a:ea typeface="+mn-ea"/>
              </a:rPr>
              <a:t>分别为频率特性测试仪的输入阻抗和输出阻抗；制作的频率特性测试仪可对其进行线性扫频测量。 </a:t>
            </a:r>
          </a:p>
          <a:p>
            <a:pPr indent="457200">
              <a:lnSpc>
                <a:spcPct val="135000"/>
              </a:lnSpc>
            </a:pPr>
            <a:r>
              <a:rPr lang="en-US" altLang="zh-CN" sz="1800" i="1" dirty="0">
                <a:latin typeface="+mn-ea"/>
                <a:ea typeface="+mn-ea"/>
              </a:rPr>
              <a:t>a.</a:t>
            </a:r>
            <a:r>
              <a:rPr lang="en-US" altLang="zh-CN" sz="1800" dirty="0">
                <a:latin typeface="+mn-ea"/>
                <a:ea typeface="+mn-ea"/>
              </a:rPr>
              <a:t> </a:t>
            </a:r>
            <a:r>
              <a:rPr lang="zh-CN" altLang="zh-CN" sz="1800" dirty="0">
                <a:latin typeface="+mn-ea"/>
                <a:ea typeface="+mn-ea"/>
              </a:rPr>
              <a:t>要求被测网络通带中心频率为</a:t>
            </a:r>
            <a:r>
              <a:rPr lang="en-US" altLang="zh-CN" sz="1800" dirty="0">
                <a:latin typeface="+mn-ea"/>
                <a:ea typeface="+mn-ea"/>
              </a:rPr>
              <a:t>20MHz</a:t>
            </a:r>
            <a:r>
              <a:rPr lang="zh-CN" altLang="zh-CN" sz="1800" dirty="0">
                <a:latin typeface="+mn-ea"/>
                <a:ea typeface="+mn-ea"/>
              </a:rPr>
              <a:t>，误差的绝对值≤</a:t>
            </a:r>
            <a:r>
              <a:rPr lang="en-US" altLang="zh-CN" sz="1800" dirty="0">
                <a:latin typeface="+mn-ea"/>
                <a:ea typeface="+mn-ea"/>
              </a:rPr>
              <a:t>5%</a:t>
            </a:r>
            <a:r>
              <a:rPr lang="zh-CN" altLang="zh-CN" sz="1800" dirty="0">
                <a:latin typeface="+mn-ea"/>
                <a:ea typeface="+mn-ea"/>
              </a:rPr>
              <a:t>；有载品质因数为</a:t>
            </a:r>
            <a:r>
              <a:rPr lang="en-US" altLang="zh-CN" sz="1800" dirty="0">
                <a:latin typeface="+mn-ea"/>
                <a:ea typeface="+mn-ea"/>
              </a:rPr>
              <a:t> 4</a:t>
            </a:r>
            <a:r>
              <a:rPr lang="zh-CN" altLang="zh-CN" sz="1800" dirty="0">
                <a:latin typeface="+mn-ea"/>
                <a:ea typeface="+mn-ea"/>
              </a:rPr>
              <a:t>，误差的绝对值≤</a:t>
            </a:r>
            <a:r>
              <a:rPr lang="en-US" altLang="zh-CN" sz="1800" dirty="0">
                <a:latin typeface="+mn-ea"/>
                <a:ea typeface="+mn-ea"/>
              </a:rPr>
              <a:t>5%</a:t>
            </a:r>
            <a:r>
              <a:rPr lang="zh-CN" altLang="zh-CN" sz="1800" dirty="0">
                <a:latin typeface="+mn-ea"/>
                <a:ea typeface="+mn-ea"/>
              </a:rPr>
              <a:t>；有载最大电压增益≥</a:t>
            </a:r>
            <a:r>
              <a:rPr lang="en-US" altLang="zh-CN" sz="1800" dirty="0">
                <a:latin typeface="+mn-ea"/>
                <a:ea typeface="+mn-ea"/>
              </a:rPr>
              <a:t>-1dB</a:t>
            </a:r>
            <a:r>
              <a:rPr lang="zh-CN" altLang="zh-CN" sz="1800" dirty="0">
                <a:latin typeface="+mn-ea"/>
                <a:ea typeface="+mn-ea"/>
              </a:rPr>
              <a:t>； </a:t>
            </a:r>
          </a:p>
          <a:p>
            <a:pPr indent="457200">
              <a:lnSpc>
                <a:spcPct val="135000"/>
              </a:lnSpc>
            </a:pPr>
            <a:r>
              <a:rPr lang="en-US" altLang="zh-CN" sz="1800" i="1" dirty="0">
                <a:latin typeface="+mn-ea"/>
                <a:ea typeface="+mn-ea"/>
              </a:rPr>
              <a:t>b</a:t>
            </a:r>
            <a:r>
              <a:rPr lang="en-US" altLang="zh-CN" sz="1800" dirty="0">
                <a:latin typeface="+mn-ea"/>
                <a:ea typeface="+mn-ea"/>
              </a:rPr>
              <a:t>. </a:t>
            </a:r>
            <a:r>
              <a:rPr lang="zh-CN" altLang="zh-CN" sz="1800" dirty="0">
                <a:latin typeface="+mn-ea"/>
                <a:ea typeface="+mn-ea"/>
              </a:rPr>
              <a:t>扫频测量制作的被测网络，显示其中心频率和</a:t>
            </a:r>
            <a:r>
              <a:rPr lang="en-US" altLang="zh-CN" sz="1800" dirty="0">
                <a:latin typeface="+mn-ea"/>
                <a:ea typeface="+mn-ea"/>
              </a:rPr>
              <a:t>-3dB </a:t>
            </a:r>
            <a:r>
              <a:rPr lang="zh-CN" altLang="zh-CN" sz="1800" dirty="0">
                <a:latin typeface="+mn-ea"/>
                <a:ea typeface="+mn-ea"/>
              </a:rPr>
              <a:t>带宽，频率数据显示的分辨率为</a:t>
            </a:r>
            <a:r>
              <a:rPr lang="en-US" altLang="zh-CN" sz="1800" dirty="0">
                <a:latin typeface="+mn-ea"/>
                <a:ea typeface="+mn-ea"/>
              </a:rPr>
              <a:t> 100kHz</a:t>
            </a:r>
            <a:r>
              <a:rPr lang="zh-CN" altLang="zh-CN" sz="1800" dirty="0">
                <a:latin typeface="+mn-ea"/>
                <a:ea typeface="+mn-ea"/>
              </a:rPr>
              <a:t>；</a:t>
            </a:r>
          </a:p>
          <a:p>
            <a:pPr indent="457200">
              <a:lnSpc>
                <a:spcPct val="135000"/>
              </a:lnSpc>
            </a:pPr>
            <a:r>
              <a:rPr lang="en-US" altLang="zh-CN" sz="1800" i="1" dirty="0">
                <a:latin typeface="+mn-ea"/>
                <a:ea typeface="+mn-ea"/>
              </a:rPr>
              <a:t>c</a:t>
            </a:r>
            <a:r>
              <a:rPr lang="en-US" altLang="zh-CN" sz="1800" dirty="0">
                <a:latin typeface="+mn-ea"/>
                <a:ea typeface="+mn-ea"/>
              </a:rPr>
              <a:t>. </a:t>
            </a:r>
            <a:r>
              <a:rPr lang="zh-CN" altLang="zh-CN" sz="1800" dirty="0">
                <a:latin typeface="+mn-ea"/>
                <a:ea typeface="+mn-ea"/>
              </a:rPr>
              <a:t>扫频测量并显示幅频特性曲线和相频特性曲线，要求具有电压增益、 相移和频率坐标刻度</a:t>
            </a:r>
            <a:r>
              <a:rPr lang="zh-CN" altLang="zh-CN" sz="1800" dirty="0" smtClean="0">
                <a:latin typeface="+mn-ea"/>
                <a:ea typeface="+mn-ea"/>
              </a:rPr>
              <a:t>。</a:t>
            </a:r>
            <a:endParaRPr lang="zh-CN" altLang="zh-CN" sz="1800" dirty="0">
              <a:latin typeface="+mn-ea"/>
              <a:ea typeface="+mn-ea"/>
            </a:endParaRPr>
          </a:p>
        </p:txBody>
      </p:sp>
      <p:pic>
        <p:nvPicPr>
          <p:cNvPr id="6" name="图片 5"/>
          <p:cNvPicPr/>
          <p:nvPr/>
        </p:nvPicPr>
        <p:blipFill>
          <a:blip r:embed="rId2"/>
          <a:stretch>
            <a:fillRect/>
          </a:stretch>
        </p:blipFill>
        <p:spPr>
          <a:xfrm>
            <a:off x="3585331" y="4707408"/>
            <a:ext cx="3896783" cy="1634309"/>
          </a:xfrm>
          <a:prstGeom prst="rect">
            <a:avLst/>
          </a:prstGeom>
        </p:spPr>
      </p:pic>
    </p:spTree>
    <p:extLst>
      <p:ext uri="{BB962C8B-B14F-4D97-AF65-F5344CB8AC3E}">
        <p14:creationId xmlns:p14="http://schemas.microsoft.com/office/powerpoint/2010/main" val="581688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2023/5/19</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5" name="文本框 4"/>
          <p:cNvSpPr txBox="1"/>
          <p:nvPr/>
        </p:nvSpPr>
        <p:spPr>
          <a:xfrm>
            <a:off x="442686" y="341086"/>
            <a:ext cx="11378899" cy="4801314"/>
          </a:xfrm>
          <a:prstGeom prst="rect">
            <a:avLst/>
          </a:prstGeom>
          <a:noFill/>
        </p:spPr>
        <p:txBody>
          <a:bodyPr wrap="square" rtlCol="0">
            <a:spAutoFit/>
          </a:bodyPr>
          <a:lstStyle/>
          <a:p>
            <a:pPr>
              <a:lnSpc>
                <a:spcPct val="150000"/>
              </a:lnSpc>
            </a:pPr>
            <a:r>
              <a:rPr lang="zh-CN" altLang="zh-CN" dirty="0"/>
              <a:t>三、说明 </a:t>
            </a:r>
          </a:p>
          <a:p>
            <a:pPr>
              <a:lnSpc>
                <a:spcPct val="150000"/>
              </a:lnSpc>
            </a:pPr>
            <a:r>
              <a:rPr lang="en-US" altLang="zh-CN" sz="1800" dirty="0"/>
              <a:t>1</a:t>
            </a:r>
            <a:r>
              <a:rPr lang="zh-CN" altLang="zh-CN" sz="1800" dirty="0"/>
              <a:t>．正交扫频信号源必须</a:t>
            </a:r>
            <a:r>
              <a:rPr lang="zh-CN" altLang="zh-CN" sz="1800" dirty="0" smtClean="0"/>
              <a:t>自制</a:t>
            </a:r>
            <a:r>
              <a:rPr lang="zh-CN" altLang="en-US" sz="1800" dirty="0" smtClean="0"/>
              <a:t>。</a:t>
            </a:r>
            <a:endParaRPr lang="en-US" altLang="zh-CN" sz="1800" dirty="0" smtClean="0"/>
          </a:p>
          <a:p>
            <a:pPr>
              <a:lnSpc>
                <a:spcPct val="150000"/>
              </a:lnSpc>
            </a:pPr>
            <a:r>
              <a:rPr lang="en-US" altLang="zh-CN" sz="1800" dirty="0"/>
              <a:t>2</a:t>
            </a:r>
            <a:r>
              <a:rPr lang="zh-CN" altLang="zh-CN" sz="1800" dirty="0"/>
              <a:t>．要求制作的仪器留有正交信号输出测试端口，以及被测网络的输入、输出接入端口。 </a:t>
            </a:r>
          </a:p>
          <a:p>
            <a:pPr>
              <a:lnSpc>
                <a:spcPct val="150000"/>
              </a:lnSpc>
              <a:spcBef>
                <a:spcPts val="1200"/>
              </a:spcBef>
              <a:spcAft>
                <a:spcPts val="1200"/>
              </a:spcAft>
            </a:pPr>
            <a:r>
              <a:rPr lang="en-US" altLang="zh-CN" sz="1800" dirty="0"/>
              <a:t>3</a:t>
            </a:r>
            <a:r>
              <a:rPr lang="zh-CN" altLang="zh-CN" sz="1800" dirty="0"/>
              <a:t>．本题中，幅度平衡误差指正交两路信号幅度在同频点上的相对误差，定义</a:t>
            </a:r>
            <a:r>
              <a:rPr lang="zh-CN" altLang="zh-CN" sz="1800" dirty="0" smtClean="0"/>
              <a:t>为</a:t>
            </a:r>
            <a:endParaRPr lang="en-US" altLang="zh-CN" sz="1800" dirty="0" smtClean="0"/>
          </a:p>
          <a:p>
            <a:pPr>
              <a:lnSpc>
                <a:spcPct val="150000"/>
              </a:lnSpc>
              <a:spcBef>
                <a:spcPts val="1200"/>
              </a:spcBef>
              <a:spcAft>
                <a:spcPts val="1200"/>
              </a:spcAft>
            </a:pPr>
            <a:r>
              <a:rPr lang="en-US" altLang="zh-CN" sz="1800" dirty="0"/>
              <a:t>4</a:t>
            </a:r>
            <a:r>
              <a:rPr lang="zh-CN" altLang="zh-CN" sz="1800" dirty="0"/>
              <a:t>．本题中，幅度平坦度指信号幅度在工作频段内的相对变化量，定义</a:t>
            </a:r>
            <a:r>
              <a:rPr lang="zh-CN" altLang="zh-CN" sz="1800" dirty="0" smtClean="0"/>
              <a:t>为</a:t>
            </a:r>
            <a:endParaRPr lang="en-US" altLang="zh-CN" sz="1800" dirty="0" smtClean="0"/>
          </a:p>
          <a:p>
            <a:pPr>
              <a:lnSpc>
                <a:spcPct val="150000"/>
              </a:lnSpc>
              <a:spcBef>
                <a:spcPts val="1200"/>
              </a:spcBef>
              <a:spcAft>
                <a:spcPts val="1200"/>
              </a:spcAft>
            </a:pPr>
            <a:r>
              <a:rPr lang="en-US" altLang="zh-CN" sz="1800" dirty="0"/>
              <a:t>5</a:t>
            </a:r>
            <a:r>
              <a:rPr lang="zh-CN" altLang="zh-CN" sz="1800" dirty="0" smtClean="0"/>
              <a:t>．本题</a:t>
            </a:r>
            <a:r>
              <a:rPr lang="zh-CN" altLang="zh-CN" sz="1800" dirty="0"/>
              <a:t>被测网络电压增益</a:t>
            </a:r>
            <a:r>
              <a:rPr lang="zh-CN" altLang="zh-CN" sz="1800" dirty="0" smtClean="0"/>
              <a:t>取</a:t>
            </a:r>
            <a:endParaRPr lang="en-US" altLang="zh-CN" sz="1800" dirty="0" smtClean="0"/>
          </a:p>
          <a:p>
            <a:pPr>
              <a:lnSpc>
                <a:spcPct val="150000"/>
              </a:lnSpc>
            </a:pPr>
            <a:r>
              <a:rPr lang="en-US" altLang="zh-CN" sz="1800" dirty="0"/>
              <a:t>6</a:t>
            </a:r>
            <a:r>
              <a:rPr lang="zh-CN" altLang="zh-CN" sz="1800" dirty="0"/>
              <a:t>．幅频特性曲线的纵坐标为电压增益（</a:t>
            </a:r>
            <a:r>
              <a:rPr lang="en-US" altLang="zh-CN" sz="1800" dirty="0"/>
              <a:t>dB</a:t>
            </a:r>
            <a:r>
              <a:rPr lang="zh-CN" altLang="zh-CN" sz="1800" dirty="0"/>
              <a:t>）；相频特性曲线的纵坐标为相移（º）；特性曲线的横坐标均为线性频率（</a:t>
            </a:r>
            <a:r>
              <a:rPr lang="en-US" altLang="zh-CN" sz="1800" dirty="0"/>
              <a:t>Hz</a:t>
            </a:r>
            <a:r>
              <a:rPr lang="zh-CN" altLang="zh-CN" sz="1800" dirty="0"/>
              <a:t>）。 </a:t>
            </a:r>
          </a:p>
          <a:p>
            <a:pPr>
              <a:lnSpc>
                <a:spcPct val="150000"/>
              </a:lnSpc>
            </a:pPr>
            <a:r>
              <a:rPr lang="en-US" altLang="zh-CN" sz="1800" dirty="0"/>
              <a:t>7</a:t>
            </a:r>
            <a:r>
              <a:rPr lang="zh-CN" altLang="zh-CN" sz="1800" dirty="0"/>
              <a:t>．发挥部分中，一次线性扫频测量完成时间≤</a:t>
            </a:r>
            <a:r>
              <a:rPr lang="en-US" altLang="zh-CN" sz="1800" dirty="0"/>
              <a:t>30s</a:t>
            </a:r>
            <a:r>
              <a:rPr lang="zh-CN" altLang="zh-CN" sz="1800" dirty="0" smtClean="0"/>
              <a:t>。</a:t>
            </a:r>
            <a:endParaRPr lang="zh-CN" altLang="zh-CN" sz="1800" dirty="0"/>
          </a:p>
        </p:txBody>
      </p:sp>
      <p:graphicFrame>
        <p:nvGraphicFramePr>
          <p:cNvPr id="14" name="对象 13"/>
          <p:cNvGraphicFramePr>
            <a:graphicFrameLocks noChangeAspect="1"/>
          </p:cNvGraphicFramePr>
          <p:nvPr>
            <p:extLst>
              <p:ext uri="{D42A27DB-BD31-4B8C-83A1-F6EECF244321}">
                <p14:modId xmlns:p14="http://schemas.microsoft.com/office/powerpoint/2010/main" val="3461225149"/>
              </p:ext>
            </p:extLst>
          </p:nvPr>
        </p:nvGraphicFramePr>
        <p:xfrm>
          <a:off x="8465762" y="1770743"/>
          <a:ext cx="1476526" cy="653890"/>
        </p:xfrm>
        <a:graphic>
          <a:graphicData uri="http://schemas.openxmlformats.org/presentationml/2006/ole">
            <mc:AlternateContent xmlns:mc="http://schemas.openxmlformats.org/markup-compatibility/2006">
              <mc:Choice xmlns:v="urn:schemas-microsoft-com:vml" Requires="v">
                <p:oleObj spid="_x0000_s36932" name="Equation" r:id="rId3" imgW="888614" imgH="380835" progId="Equation.DSMT4">
                  <p:embed/>
                </p:oleObj>
              </mc:Choice>
              <mc:Fallback>
                <p:oleObj name="Equation" r:id="rId3" imgW="888614" imgH="380835"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5762" y="1770743"/>
                        <a:ext cx="1476526" cy="653890"/>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257219497"/>
              </p:ext>
            </p:extLst>
          </p:nvPr>
        </p:nvGraphicFramePr>
        <p:xfrm>
          <a:off x="7919661" y="2489200"/>
          <a:ext cx="1791813" cy="645886"/>
        </p:xfrm>
        <a:graphic>
          <a:graphicData uri="http://schemas.openxmlformats.org/presentationml/2006/ole">
            <mc:AlternateContent xmlns:mc="http://schemas.openxmlformats.org/markup-compatibility/2006">
              <mc:Choice xmlns:v="urn:schemas-microsoft-com:vml" Requires="v">
                <p:oleObj spid="_x0000_s36933" name="Equation" r:id="rId5" imgW="1079032" imgH="380835" progId="Equation.DSMT4">
                  <p:embed/>
                </p:oleObj>
              </mc:Choice>
              <mc:Fallback>
                <p:oleObj name="Equation" r:id="rId5" imgW="1079032" imgH="380835"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19661" y="2489200"/>
                        <a:ext cx="1791813" cy="645886"/>
                      </a:xfrm>
                      <a:prstGeom prst="rect">
                        <a:avLst/>
                      </a:prstGeom>
                      <a:noFill/>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43446516"/>
              </p:ext>
            </p:extLst>
          </p:nvPr>
        </p:nvGraphicFramePr>
        <p:xfrm>
          <a:off x="3541485" y="3135085"/>
          <a:ext cx="1988926" cy="696686"/>
        </p:xfrm>
        <a:graphic>
          <a:graphicData uri="http://schemas.openxmlformats.org/presentationml/2006/ole">
            <mc:AlternateContent xmlns:mc="http://schemas.openxmlformats.org/markup-compatibility/2006">
              <mc:Choice xmlns:v="urn:schemas-microsoft-com:vml" Requires="v">
                <p:oleObj spid="_x0000_s36934" name="Equation" r:id="rId7" imgW="1117115" imgH="393529" progId="Equation.DSMT4">
                  <p:embed/>
                </p:oleObj>
              </mc:Choice>
              <mc:Fallback>
                <p:oleObj name="Equation" r:id="rId7" imgW="1117115" imgH="393529"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41485" y="3135085"/>
                        <a:ext cx="1988926" cy="696686"/>
                      </a:xfrm>
                      <a:prstGeom prst="rect">
                        <a:avLst/>
                      </a:prstGeom>
                      <a:noFill/>
                    </p:spPr>
                  </p:pic>
                </p:oleObj>
              </mc:Fallback>
            </mc:AlternateContent>
          </a:graphicData>
        </a:graphic>
      </p:graphicFrame>
    </p:spTree>
    <p:extLst>
      <p:ext uri="{BB962C8B-B14F-4D97-AF65-F5344CB8AC3E}">
        <p14:creationId xmlns:p14="http://schemas.microsoft.com/office/powerpoint/2010/main" val="4042338112"/>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19326</TotalTime>
  <Words>4423</Words>
  <Application>Microsoft Office PowerPoint</Application>
  <PresentationFormat>宽屏</PresentationFormat>
  <Paragraphs>311</Paragraphs>
  <Slides>30</Slides>
  <Notes>6</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3" baseType="lpstr">
      <vt:lpstr>等线</vt:lpstr>
      <vt:lpstr>黑体</vt:lpstr>
      <vt:lpstr>华文楷体</vt:lpstr>
      <vt:lpstr>华文细黑</vt:lpstr>
      <vt:lpstr>楷体</vt:lpstr>
      <vt:lpstr>楷体_GB2312</vt:lpstr>
      <vt:lpstr>隶书</vt:lpstr>
      <vt:lpstr>宋体</vt:lpstr>
      <vt:lpstr>Arial</vt:lpstr>
      <vt:lpstr>Times New Roman</vt:lpstr>
      <vt:lpstr>Wingdings</vt:lpstr>
      <vt:lpstr>1_Network</vt:lpstr>
      <vt:lpstr>Equation</vt:lpstr>
      <vt:lpstr>2019年全国赛C题  线路负载及故障检测装置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478</cp:revision>
  <dcterms:created xsi:type="dcterms:W3CDTF">1601-01-01T00:00:00Z</dcterms:created>
  <dcterms:modified xsi:type="dcterms:W3CDTF">2023-05-19T09:59:37Z</dcterms:modified>
</cp:coreProperties>
</file>