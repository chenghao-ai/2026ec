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883" r:id="rId1"/>
  </p:sldMasterIdLst>
  <p:notesMasterIdLst>
    <p:notesMasterId r:id="rId18"/>
  </p:notesMasterIdLst>
  <p:handoutMasterIdLst>
    <p:handoutMasterId r:id="rId19"/>
  </p:handoutMasterIdLst>
  <p:sldIdLst>
    <p:sldId id="398" r:id="rId2"/>
    <p:sldId id="660" r:id="rId3"/>
    <p:sldId id="677" r:id="rId4"/>
    <p:sldId id="678" r:id="rId5"/>
    <p:sldId id="679" r:id="rId6"/>
    <p:sldId id="688" r:id="rId7"/>
    <p:sldId id="680" r:id="rId8"/>
    <p:sldId id="681" r:id="rId9"/>
    <p:sldId id="689" r:id="rId10"/>
    <p:sldId id="682" r:id="rId11"/>
    <p:sldId id="686" r:id="rId12"/>
    <p:sldId id="683" r:id="rId13"/>
    <p:sldId id="684" r:id="rId14"/>
    <p:sldId id="685" r:id="rId15"/>
    <p:sldId id="691" r:id="rId16"/>
    <p:sldId id="692" r:id="rId17"/>
  </p:sldIdLst>
  <p:sldSz cx="9144000" cy="6858000" type="screen4x3"/>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FFFF"/>
    <a:srgbClr val="CCECFF"/>
    <a:srgbClr val="99FF99"/>
    <a:srgbClr val="FFFF66"/>
    <a:srgbClr val="66FFFF"/>
    <a:srgbClr val="FFCC00"/>
    <a:srgbClr val="FF33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96078" autoAdjust="0"/>
  </p:normalViewPr>
  <p:slideViewPr>
    <p:cSldViewPr snapToGrid="0">
      <p:cViewPr varScale="1">
        <p:scale>
          <a:sx n="97" d="100"/>
          <a:sy n="97" d="100"/>
        </p:scale>
        <p:origin x="660"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900113" y="739775"/>
            <a:ext cx="493553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0" y="5154613"/>
            <a:ext cx="91408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250825" y="1700213"/>
            <a:ext cx="5473700"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3175" y="0"/>
            <a:ext cx="91408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15200" y="228600"/>
            <a:ext cx="1262063"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2022/3/12</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2022/3/12</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68413"/>
            <a:ext cx="4141788"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51388" y="1268413"/>
            <a:ext cx="4141787"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2022/3/12</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2022/3/12</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2022/3/12</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2022/3/12</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2022/3/12</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2022/3/12</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4975" y="549275"/>
            <a:ext cx="2108200"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549275"/>
            <a:ext cx="6175375"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2022/3/12</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5"/>
            <a:ext cx="9144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457200" y="549275"/>
            <a:ext cx="843597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457200" y="1268413"/>
            <a:ext cx="8435975"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468313" y="6524625"/>
            <a:ext cx="21336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2022/3/12</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3132138" y="6524625"/>
            <a:ext cx="3527425"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7235825" y="6524625"/>
            <a:ext cx="163036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914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534400" y="0"/>
            <a:ext cx="371475"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647700" y="107950"/>
            <a:ext cx="3600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5.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863" y="1752600"/>
            <a:ext cx="8835990" cy="3339095"/>
          </a:xfrm>
        </p:spPr>
        <p:txBody>
          <a:bodyPr/>
          <a:lstStyle/>
          <a:p>
            <a:pPr eaLnBrk="1" hangingPunct="1"/>
            <a:r>
              <a:rPr lang="zh-CN" altLang="en-US" dirty="0" smtClean="0">
                <a:solidFill>
                  <a:srgbClr val="FF0000"/>
                </a:solidFill>
                <a:latin typeface="隶书" panose="02010509060101010101" pitchFamily="49" charset="-122"/>
                <a:ea typeface="隶书" panose="02010509060101010101" pitchFamily="49" charset="-122"/>
              </a:rPr>
              <a:t>大学生电子</a:t>
            </a:r>
            <a:r>
              <a:rPr lang="zh-CN" altLang="zh-CN" dirty="0" smtClean="0">
                <a:solidFill>
                  <a:srgbClr val="FF0000"/>
                </a:solidFill>
                <a:latin typeface="隶书" panose="02010509060101010101" pitchFamily="49" charset="-122"/>
                <a:ea typeface="隶书" panose="02010509060101010101" pitchFamily="49" charset="-122"/>
              </a:rPr>
              <a:t>竞赛</a:t>
            </a:r>
            <a:r>
              <a:rPr lang="en-US" altLang="zh-CN" dirty="0" smtClean="0">
                <a:solidFill>
                  <a:srgbClr val="FF0000"/>
                </a:solidFill>
                <a:latin typeface="隶书" panose="02010509060101010101" pitchFamily="49" charset="-122"/>
                <a:ea typeface="隶书" panose="02010509060101010101" pitchFamily="49" charset="-122"/>
              </a:rPr>
              <a:t/>
            </a:r>
            <a:br>
              <a:rPr lang="en-US" altLang="zh-CN" dirty="0" smtClean="0">
                <a:solidFill>
                  <a:srgbClr val="FF0000"/>
                </a:solidFill>
                <a:latin typeface="隶书" panose="02010509060101010101" pitchFamily="49" charset="-122"/>
                <a:ea typeface="隶书" panose="02010509060101010101" pitchFamily="49" charset="-122"/>
              </a:rPr>
            </a:br>
            <a:r>
              <a:rPr lang="zh-CN" altLang="zh-CN" dirty="0">
                <a:solidFill>
                  <a:srgbClr val="FF0000"/>
                </a:solidFill>
                <a:latin typeface="隶书" panose="02010509060101010101" pitchFamily="49" charset="-122"/>
                <a:ea typeface="隶书" panose="02010509060101010101" pitchFamily="49" charset="-122"/>
              </a:rPr>
              <a:t>题目概貌</a:t>
            </a:r>
            <a:r>
              <a:rPr lang="zh-CN" altLang="zh-CN" dirty="0" smtClean="0">
                <a:solidFill>
                  <a:srgbClr val="FF0000"/>
                </a:solidFill>
                <a:latin typeface="隶书" panose="02010509060101010101" pitchFamily="49" charset="-122"/>
                <a:ea typeface="隶书" panose="02010509060101010101" pitchFamily="49" charset="-122"/>
              </a:rPr>
              <a:t>与</a:t>
            </a:r>
            <a:r>
              <a:rPr lang="zh-CN" altLang="zh-CN" dirty="0">
                <a:solidFill>
                  <a:srgbClr val="FF0000"/>
                </a:solidFill>
                <a:latin typeface="隶书" panose="02010509060101010101" pitchFamily="49" charset="-122"/>
                <a:ea typeface="隶书" panose="02010509060101010101" pitchFamily="49" charset="-122"/>
              </a:rPr>
              <a:t>大致分类</a:t>
            </a:r>
            <a:r>
              <a:rPr lang="zh-CN" altLang="en-US" sz="3600" dirty="0" smtClean="0">
                <a:latin typeface="隶书" panose="02010509060101010101" pitchFamily="49" charset="-122"/>
                <a:ea typeface="隶书" panose="02010509060101010101" pitchFamily="49" charset="-122"/>
              </a:rPr>
              <a:t/>
            </a:r>
            <a:br>
              <a:rPr lang="zh-CN" altLang="en-US" sz="3600" dirty="0" smtClean="0">
                <a:latin typeface="隶书" panose="02010509060101010101" pitchFamily="49" charset="-122"/>
                <a:ea typeface="隶书" panose="02010509060101010101" pitchFamily="49" charset="-122"/>
              </a:rPr>
            </a:br>
            <a:r>
              <a:rPr lang="en-US" altLang="zh-CN" sz="3600" dirty="0" smtClean="0">
                <a:latin typeface="隶书" panose="02010509060101010101" pitchFamily="49" charset="-122"/>
                <a:ea typeface="隶书" panose="02010509060101010101" pitchFamily="49" charset="-122"/>
              </a:rPr>
              <a:t/>
            </a:r>
            <a:br>
              <a:rPr lang="en-US" altLang="zh-CN" sz="3600" dirty="0" smtClean="0">
                <a:latin typeface="隶书" panose="02010509060101010101" pitchFamily="49" charset="-122"/>
                <a:ea typeface="隶书" panose="02010509060101010101" pitchFamily="49" charset="-122"/>
              </a:rPr>
            </a:br>
            <a:r>
              <a:rPr lang="zh-CN" altLang="en-US" sz="2400" dirty="0" smtClean="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2022/3/12</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468313" y="680720"/>
            <a:ext cx="8218487" cy="5170646"/>
          </a:xfrm>
          <a:prstGeom prst="rect">
            <a:avLst/>
          </a:prstGeom>
          <a:noFill/>
        </p:spPr>
        <p:txBody>
          <a:bodyPr wrap="square" rtlCol="0">
            <a:spAutoFit/>
          </a:bodyPr>
          <a:lstStyle/>
          <a:p>
            <a:pPr>
              <a:lnSpc>
                <a:spcPct val="150000"/>
              </a:lnSpc>
            </a:pPr>
            <a:r>
              <a:rPr lang="zh-CN" altLang="en-US" dirty="0" smtClean="0"/>
              <a:t>大致的分类</a:t>
            </a:r>
            <a:endParaRPr lang="en-US" altLang="zh-CN" dirty="0" smtClean="0"/>
          </a:p>
          <a:p>
            <a:pPr>
              <a:lnSpc>
                <a:spcPct val="150000"/>
              </a:lnSpc>
            </a:pPr>
            <a:r>
              <a:rPr lang="zh-CN" altLang="en-US" dirty="0" smtClean="0"/>
              <a:t>一、放大器类</a:t>
            </a:r>
            <a:endParaRPr lang="en-US" altLang="zh-CN" dirty="0" smtClean="0"/>
          </a:p>
          <a:p>
            <a:pPr>
              <a:lnSpc>
                <a:spcPct val="150000"/>
              </a:lnSpc>
            </a:pPr>
            <a:r>
              <a:rPr lang="en-US" altLang="zh-CN" dirty="0"/>
              <a:t>	</a:t>
            </a:r>
            <a:r>
              <a:rPr lang="zh-CN" altLang="en-US" dirty="0" smtClean="0"/>
              <a:t>放大器、滤波器等，近年来偏重于高频放大器</a:t>
            </a:r>
            <a:endParaRPr lang="en-US" altLang="zh-CN" dirty="0" smtClean="0"/>
          </a:p>
          <a:p>
            <a:pPr>
              <a:lnSpc>
                <a:spcPct val="150000"/>
              </a:lnSpc>
            </a:pPr>
            <a:r>
              <a:rPr lang="zh-CN" altLang="en-US" dirty="0"/>
              <a:t>二</a:t>
            </a:r>
            <a:r>
              <a:rPr lang="zh-CN" altLang="en-US" dirty="0" smtClean="0"/>
              <a:t>、</a:t>
            </a:r>
            <a:r>
              <a:rPr lang="zh-CN" altLang="en-US" dirty="0"/>
              <a:t>通信类</a:t>
            </a:r>
            <a:endParaRPr lang="en-US" altLang="zh-CN" dirty="0"/>
          </a:p>
          <a:p>
            <a:pPr>
              <a:lnSpc>
                <a:spcPct val="150000"/>
              </a:lnSpc>
            </a:pPr>
            <a:r>
              <a:rPr lang="en-US" altLang="zh-CN" dirty="0"/>
              <a:t>	</a:t>
            </a:r>
            <a:r>
              <a:rPr lang="zh-CN" altLang="en-US" dirty="0"/>
              <a:t>模拟通信与</a:t>
            </a:r>
            <a:r>
              <a:rPr lang="zh-CN" altLang="en-US" dirty="0" smtClean="0"/>
              <a:t>数字通信，近年向数字通信发展</a:t>
            </a:r>
            <a:endParaRPr lang="en-US" altLang="zh-CN" dirty="0"/>
          </a:p>
          <a:p>
            <a:pPr>
              <a:lnSpc>
                <a:spcPct val="150000"/>
              </a:lnSpc>
            </a:pPr>
            <a:r>
              <a:rPr lang="zh-CN" altLang="en-US" dirty="0"/>
              <a:t>三、</a:t>
            </a:r>
            <a:r>
              <a:rPr lang="zh-CN" altLang="en-US" dirty="0" smtClean="0"/>
              <a:t>仪器仪表类</a:t>
            </a:r>
            <a:endParaRPr lang="en-US" altLang="zh-CN" dirty="0" smtClean="0"/>
          </a:p>
          <a:p>
            <a:pPr>
              <a:lnSpc>
                <a:spcPct val="150000"/>
              </a:lnSpc>
            </a:pPr>
            <a:r>
              <a:rPr lang="en-US" altLang="zh-CN" dirty="0"/>
              <a:t>	</a:t>
            </a:r>
            <a:r>
              <a:rPr lang="zh-CN" altLang="en-US" dirty="0" smtClean="0"/>
              <a:t>时域测量、频域测量、参数测量等</a:t>
            </a:r>
            <a:endParaRPr lang="en-US" altLang="zh-CN" dirty="0" smtClean="0"/>
          </a:p>
          <a:p>
            <a:pPr>
              <a:lnSpc>
                <a:spcPct val="150000"/>
              </a:lnSpc>
            </a:pPr>
            <a:r>
              <a:rPr lang="zh-CN" altLang="en-US" dirty="0" smtClean="0"/>
              <a:t>四、自动控制类</a:t>
            </a:r>
            <a:endParaRPr lang="en-US" altLang="zh-CN" dirty="0" smtClean="0"/>
          </a:p>
          <a:p>
            <a:pPr>
              <a:lnSpc>
                <a:spcPct val="150000"/>
              </a:lnSpc>
            </a:pPr>
            <a:r>
              <a:rPr lang="en-US" altLang="zh-CN" dirty="0"/>
              <a:t>	</a:t>
            </a:r>
            <a:r>
              <a:rPr lang="zh-CN" altLang="en-US" dirty="0" smtClean="0"/>
              <a:t>小车、各种摆等，近年来以飞行器为主</a:t>
            </a:r>
            <a:endParaRPr lang="en-US" altLang="zh-CN" dirty="0" smtClean="0"/>
          </a:p>
          <a:p>
            <a:pPr>
              <a:lnSpc>
                <a:spcPct val="150000"/>
              </a:lnSpc>
            </a:pPr>
            <a:r>
              <a:rPr lang="zh-CN" altLang="en-US" dirty="0" smtClean="0"/>
              <a:t>五、电源类</a:t>
            </a:r>
            <a:endParaRPr lang="en-US" altLang="zh-CN" dirty="0" smtClean="0"/>
          </a:p>
          <a:p>
            <a:pPr>
              <a:lnSpc>
                <a:spcPct val="150000"/>
              </a:lnSpc>
            </a:pPr>
            <a:r>
              <a:rPr lang="en-US" altLang="zh-CN" dirty="0"/>
              <a:t>	</a:t>
            </a:r>
            <a:r>
              <a:rPr lang="zh-CN" altLang="en-US" dirty="0" smtClean="0"/>
              <a:t>以开关电源为主，包括</a:t>
            </a:r>
            <a:r>
              <a:rPr lang="en-US" altLang="zh-CN" dirty="0" smtClean="0"/>
              <a:t>DC-DC</a:t>
            </a:r>
            <a:r>
              <a:rPr lang="zh-CN" altLang="en-US" dirty="0" smtClean="0"/>
              <a:t>、</a:t>
            </a:r>
            <a:r>
              <a:rPr lang="en-US" altLang="zh-CN" dirty="0" smtClean="0"/>
              <a:t>AC-DC</a:t>
            </a:r>
            <a:r>
              <a:rPr lang="zh-CN" altLang="en-US" dirty="0" smtClean="0"/>
              <a:t>、</a:t>
            </a:r>
            <a:r>
              <a:rPr lang="en-US" altLang="zh-CN" dirty="0" smtClean="0"/>
              <a:t>DC-AC</a:t>
            </a:r>
            <a:r>
              <a:rPr lang="zh-CN" altLang="en-US" dirty="0" smtClean="0"/>
              <a:t>等</a:t>
            </a:r>
            <a:endParaRPr lang="en-US" altLang="zh-CN"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2022/3/12</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a:t>
            </a:fld>
            <a:endParaRPr lang="en-US" altLang="zh-CN"/>
          </a:p>
        </p:txBody>
      </p:sp>
      <p:sp>
        <p:nvSpPr>
          <p:cNvPr id="2" name="文本框 1"/>
          <p:cNvSpPr txBox="1"/>
          <p:nvPr/>
        </p:nvSpPr>
        <p:spPr>
          <a:xfrm>
            <a:off x="414475" y="411280"/>
            <a:ext cx="8171191" cy="3970318"/>
          </a:xfrm>
          <a:prstGeom prst="rect">
            <a:avLst/>
          </a:prstGeom>
          <a:noFill/>
        </p:spPr>
        <p:txBody>
          <a:bodyPr wrap="square" rtlCol="0">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一、</a:t>
            </a:r>
            <a:r>
              <a:rPr lang="zh-CN" altLang="en-US" sz="2800" dirty="0">
                <a:solidFill>
                  <a:srgbClr val="FF0000"/>
                </a:solidFill>
                <a:latin typeface="隶书" panose="02010509060101010101" pitchFamily="49" charset="-122"/>
                <a:ea typeface="隶书" panose="02010509060101010101" pitchFamily="49" charset="-122"/>
              </a:rPr>
              <a:t>放大器</a:t>
            </a:r>
            <a:r>
              <a:rPr lang="zh-CN" altLang="en-US" sz="2800" dirty="0" smtClean="0">
                <a:solidFill>
                  <a:srgbClr val="FF0000"/>
                </a:solidFill>
                <a:latin typeface="隶书" panose="02010509060101010101" pitchFamily="49" charset="-122"/>
                <a:ea typeface="隶书" panose="02010509060101010101" pitchFamily="49" charset="-122"/>
              </a:rPr>
              <a:t>类题目举例</a:t>
            </a:r>
            <a:endParaRPr lang="en-US" altLang="zh-CN" sz="2800" dirty="0" smtClean="0">
              <a:solidFill>
                <a:srgbClr val="FF0000"/>
              </a:solidFill>
              <a:latin typeface="隶书" panose="02010509060101010101" pitchFamily="49" charset="-122"/>
              <a:ea typeface="隶书" panose="02010509060101010101" pitchFamily="49" charset="-122"/>
            </a:endParaRPr>
          </a:p>
          <a:p>
            <a:pPr>
              <a:lnSpc>
                <a:spcPct val="150000"/>
              </a:lnSpc>
            </a:pPr>
            <a:r>
              <a:rPr lang="en-US" altLang="zh-CN" dirty="0" smtClean="0"/>
              <a:t>2015</a:t>
            </a:r>
            <a:r>
              <a:rPr lang="zh-CN" altLang="zh-CN" dirty="0"/>
              <a:t>年全国赛</a:t>
            </a:r>
            <a:r>
              <a:rPr lang="en-US" altLang="zh-CN" dirty="0"/>
              <a:t>D</a:t>
            </a:r>
            <a:r>
              <a:rPr lang="zh-CN" altLang="zh-CN" dirty="0"/>
              <a:t>题  增益可控</a:t>
            </a:r>
            <a:r>
              <a:rPr lang="zh-CN" altLang="zh-CN" dirty="0" smtClean="0"/>
              <a:t>射频放大器</a:t>
            </a:r>
            <a:endParaRPr lang="en-US" altLang="zh-CN" dirty="0" smtClean="0"/>
          </a:p>
          <a:p>
            <a:pPr marL="342900" indent="-342900">
              <a:lnSpc>
                <a:spcPct val="150000"/>
              </a:lnSpc>
              <a:buFont typeface="Arial" panose="020B0604020202020204" pitchFamily="34" charset="0"/>
              <a:buChar char="•"/>
            </a:pPr>
            <a:r>
              <a:rPr lang="zh-CN" altLang="zh-CN" dirty="0"/>
              <a:t>通频带不窄于</a:t>
            </a:r>
            <a:r>
              <a:rPr lang="en-US" altLang="zh-CN" dirty="0"/>
              <a:t>40MHz</a:t>
            </a:r>
            <a:r>
              <a:rPr lang="zh-CN" altLang="zh-CN" dirty="0"/>
              <a:t>～</a:t>
            </a:r>
            <a:r>
              <a:rPr lang="en-US" altLang="zh-CN" dirty="0"/>
              <a:t>200MHz</a:t>
            </a:r>
            <a:endParaRPr lang="zh-CN" altLang="zh-CN" dirty="0"/>
          </a:p>
          <a:p>
            <a:pPr marL="342900" indent="-342900">
              <a:lnSpc>
                <a:spcPct val="150000"/>
              </a:lnSpc>
              <a:buFont typeface="Arial" panose="020B0604020202020204" pitchFamily="34" charset="0"/>
              <a:buChar char="•"/>
            </a:pPr>
            <a:r>
              <a:rPr lang="zh-CN" altLang="zh-CN" dirty="0" smtClean="0"/>
              <a:t>电压</a:t>
            </a:r>
            <a:r>
              <a:rPr lang="zh-CN" altLang="zh-CN" dirty="0"/>
              <a:t>增益</a:t>
            </a:r>
            <a:r>
              <a:rPr lang="en-US" altLang="zh-CN" i="1" dirty="0"/>
              <a:t>A</a:t>
            </a:r>
            <a:r>
              <a:rPr lang="en-US" altLang="zh-CN" i="1" baseline="-25000" dirty="0"/>
              <a:t>V</a:t>
            </a:r>
            <a:r>
              <a:rPr lang="zh-CN" altLang="zh-CN" dirty="0"/>
              <a:t>≥</a:t>
            </a:r>
            <a:r>
              <a:rPr lang="en-US" altLang="zh-CN" dirty="0" smtClean="0"/>
              <a:t>52dB</a:t>
            </a:r>
            <a:endParaRPr lang="en-US" altLang="zh-CN" dirty="0"/>
          </a:p>
          <a:p>
            <a:pPr marL="342900" indent="-342900">
              <a:lnSpc>
                <a:spcPct val="150000"/>
              </a:lnSpc>
              <a:buFont typeface="Arial" panose="020B0604020202020204" pitchFamily="34" charset="0"/>
              <a:buChar char="•"/>
            </a:pPr>
            <a:r>
              <a:rPr lang="zh-CN" altLang="zh-CN" dirty="0" smtClean="0"/>
              <a:t>输入阻抗</a:t>
            </a:r>
            <a:r>
              <a:rPr lang="zh-CN" altLang="zh-CN" dirty="0"/>
              <a:t>、 输出阻抗均为</a:t>
            </a:r>
            <a:r>
              <a:rPr lang="en-US" altLang="zh-CN" dirty="0"/>
              <a:t>50Ω</a:t>
            </a:r>
            <a:r>
              <a:rPr lang="zh-CN" altLang="zh-CN" dirty="0"/>
              <a:t>，负载电阻</a:t>
            </a:r>
            <a:r>
              <a:rPr lang="en-US" altLang="zh-CN" dirty="0" smtClean="0"/>
              <a:t>50Ω</a:t>
            </a:r>
          </a:p>
          <a:p>
            <a:pPr marL="342900" indent="-342900">
              <a:lnSpc>
                <a:spcPct val="150000"/>
              </a:lnSpc>
              <a:buFont typeface="Arial" panose="020B0604020202020204" pitchFamily="34" charset="0"/>
              <a:buChar char="•"/>
            </a:pPr>
            <a:r>
              <a:rPr lang="zh-CN" altLang="zh-CN" dirty="0"/>
              <a:t>输入电压有效值</a:t>
            </a:r>
            <a:r>
              <a:rPr lang="en-US" altLang="zh-CN" i="1" dirty="0"/>
              <a:t>V</a:t>
            </a:r>
            <a:r>
              <a:rPr lang="en-US" altLang="zh-CN" i="1" baseline="-25000" dirty="0"/>
              <a:t>i</a:t>
            </a:r>
            <a:r>
              <a:rPr lang="zh-CN" altLang="zh-CN" dirty="0" smtClean="0"/>
              <a:t>≤</a:t>
            </a:r>
            <a:r>
              <a:rPr lang="en-US" altLang="zh-CN" dirty="0" smtClean="0"/>
              <a:t>5mV</a:t>
            </a:r>
            <a:r>
              <a:rPr lang="zh-CN" altLang="zh-CN" dirty="0" smtClean="0"/>
              <a:t>，输出</a:t>
            </a:r>
            <a:r>
              <a:rPr lang="zh-CN" altLang="zh-CN" dirty="0"/>
              <a:t>电压有效值 </a:t>
            </a:r>
            <a:r>
              <a:rPr lang="en-US" altLang="zh-CN" i="1" dirty="0"/>
              <a:t>V</a:t>
            </a:r>
            <a:r>
              <a:rPr lang="en-US" altLang="zh-CN" i="1" baseline="-25000" dirty="0"/>
              <a:t>o</a:t>
            </a:r>
            <a:r>
              <a:rPr lang="zh-CN" altLang="zh-CN" dirty="0"/>
              <a:t>≥</a:t>
            </a:r>
            <a:r>
              <a:rPr lang="en-US" altLang="zh-CN" dirty="0"/>
              <a:t>2V</a:t>
            </a:r>
            <a:r>
              <a:rPr lang="zh-CN" altLang="zh-CN" dirty="0"/>
              <a:t>，波形无明显</a:t>
            </a:r>
            <a:r>
              <a:rPr lang="zh-CN" altLang="zh-CN" dirty="0" smtClean="0"/>
              <a:t>失真 </a:t>
            </a:r>
            <a:endParaRPr lang="zh-CN" altLang="zh-CN" dirty="0"/>
          </a:p>
          <a:p>
            <a:pPr marL="342900" indent="-342900">
              <a:lnSpc>
                <a:spcPct val="150000"/>
              </a:lnSpc>
              <a:buFont typeface="Arial" panose="020B0604020202020204" pitchFamily="34" charset="0"/>
              <a:buChar char="•"/>
            </a:pPr>
            <a:r>
              <a:rPr lang="zh-CN" altLang="zh-CN" dirty="0" smtClean="0"/>
              <a:t>增益</a:t>
            </a:r>
            <a:r>
              <a:rPr lang="zh-CN" altLang="zh-CN" dirty="0"/>
              <a:t>步进控制</a:t>
            </a:r>
            <a:r>
              <a:rPr lang="zh-CN" altLang="zh-CN" dirty="0" smtClean="0"/>
              <a:t>，范围</a:t>
            </a:r>
            <a:r>
              <a:rPr lang="zh-CN" altLang="zh-CN" dirty="0"/>
              <a:t>为</a:t>
            </a:r>
            <a:r>
              <a:rPr lang="en-US" altLang="zh-CN" dirty="0"/>
              <a:t> 12dB</a:t>
            </a:r>
            <a:r>
              <a:rPr lang="zh-CN" altLang="zh-CN" dirty="0" smtClean="0"/>
              <a:t>～</a:t>
            </a:r>
            <a:r>
              <a:rPr lang="en-US" altLang="zh-CN" dirty="0" smtClean="0"/>
              <a:t>52dB</a:t>
            </a:r>
            <a:r>
              <a:rPr lang="zh-CN" altLang="zh-CN" dirty="0" smtClean="0"/>
              <a:t>，步长</a:t>
            </a:r>
            <a:r>
              <a:rPr lang="zh-CN" altLang="zh-CN" dirty="0"/>
              <a:t>为</a:t>
            </a:r>
            <a:r>
              <a:rPr lang="en-US" altLang="zh-CN" dirty="0"/>
              <a:t> </a:t>
            </a:r>
            <a:r>
              <a:rPr lang="en-US" altLang="zh-CN" dirty="0" smtClean="0"/>
              <a:t>4dB</a:t>
            </a:r>
          </a:p>
          <a:p>
            <a:pPr marL="342900" indent="-342900">
              <a:lnSpc>
                <a:spcPct val="150000"/>
              </a:lnSpc>
              <a:buFont typeface="Arial" panose="020B0604020202020204" pitchFamily="34" charset="0"/>
              <a:buChar char="•"/>
            </a:pPr>
            <a:r>
              <a:rPr lang="zh-CN" altLang="zh-CN" dirty="0" smtClean="0"/>
              <a:t>增益</a:t>
            </a:r>
            <a:r>
              <a:rPr lang="zh-CN" altLang="zh-CN" dirty="0"/>
              <a:t>绝对误差不大于</a:t>
            </a:r>
            <a:r>
              <a:rPr lang="en-US" altLang="zh-CN" dirty="0"/>
              <a:t>2dB</a:t>
            </a:r>
            <a:r>
              <a:rPr lang="zh-CN" altLang="zh-CN" dirty="0" smtClean="0"/>
              <a:t>，并</a:t>
            </a:r>
            <a:r>
              <a:rPr lang="zh-CN" altLang="zh-CN" dirty="0"/>
              <a:t>能显示设定的</a:t>
            </a:r>
            <a:r>
              <a:rPr lang="zh-CN" altLang="zh-CN" dirty="0" smtClean="0"/>
              <a:t>增益值</a:t>
            </a:r>
            <a:endParaRPr lang="zh-CN" altLang="zh-CN" dirty="0"/>
          </a:p>
        </p:txBody>
      </p:sp>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2022/3/12</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a:t>
            </a:fld>
            <a:endParaRPr lang="en-US" altLang="zh-CN"/>
          </a:p>
        </p:txBody>
      </p:sp>
      <p:sp>
        <p:nvSpPr>
          <p:cNvPr id="2" name="文本框 1"/>
          <p:cNvSpPr txBox="1"/>
          <p:nvPr/>
        </p:nvSpPr>
        <p:spPr>
          <a:xfrm>
            <a:off x="478329" y="499519"/>
            <a:ext cx="8218487" cy="497893"/>
          </a:xfrm>
          <a:prstGeom prst="rect">
            <a:avLst/>
          </a:prstGeom>
          <a:noFill/>
        </p:spPr>
        <p:txBody>
          <a:bodyPr wrap="square" rtlCol="0">
            <a:spAutoFit/>
          </a:bodyPr>
          <a:lstStyle/>
          <a:p>
            <a:pPr>
              <a:lnSpc>
                <a:spcPct val="150000"/>
              </a:lnSpc>
            </a:pPr>
            <a:r>
              <a:rPr lang="en-US" altLang="zh-CN" dirty="0" smtClean="0">
                <a:solidFill>
                  <a:srgbClr val="444444"/>
                </a:solidFill>
                <a:latin typeface="+mn-ea"/>
                <a:ea typeface="+mn-ea"/>
                <a:cs typeface="Arial Unicode MS" panose="020B0604020202020204" pitchFamily="34" charset="-122"/>
              </a:rPr>
              <a:t>2013</a:t>
            </a:r>
            <a:r>
              <a:rPr lang="zh-CN" altLang="en-US" dirty="0">
                <a:solidFill>
                  <a:srgbClr val="444444"/>
                </a:solidFill>
                <a:latin typeface="+mn-ea"/>
                <a:ea typeface="+mn-ea"/>
                <a:cs typeface="Tahoma" panose="020B0604030504040204" pitchFamily="34" charset="0"/>
              </a:rPr>
              <a:t>年全国赛</a:t>
            </a:r>
            <a:r>
              <a:rPr lang="en-US" altLang="zh-CN" dirty="0">
                <a:solidFill>
                  <a:srgbClr val="444444"/>
                </a:solidFill>
                <a:latin typeface="+mn-ea"/>
                <a:ea typeface="+mn-ea"/>
                <a:cs typeface="Arial Unicode MS" panose="020B0604020202020204" pitchFamily="34" charset="-122"/>
              </a:rPr>
              <a:t>G</a:t>
            </a:r>
            <a:r>
              <a:rPr lang="zh-CN" altLang="en-US" dirty="0">
                <a:solidFill>
                  <a:srgbClr val="444444"/>
                </a:solidFill>
                <a:latin typeface="+mn-ea"/>
                <a:ea typeface="+mn-ea"/>
                <a:cs typeface="Tahoma" panose="020B0604030504040204" pitchFamily="34" charset="0"/>
              </a:rPr>
              <a:t>题</a:t>
            </a:r>
            <a:r>
              <a:rPr lang="zh-CN" altLang="en-US" dirty="0">
                <a:solidFill>
                  <a:srgbClr val="444444"/>
                </a:solidFill>
                <a:latin typeface="+mn-ea"/>
                <a:ea typeface="+mn-ea"/>
                <a:cs typeface="Arial Unicode MS" panose="020B0604020202020204" pitchFamily="34" charset="-122"/>
              </a:rPr>
              <a:t>  </a:t>
            </a:r>
            <a:r>
              <a:rPr lang="zh-CN" altLang="en-US" dirty="0">
                <a:solidFill>
                  <a:srgbClr val="444444"/>
                </a:solidFill>
                <a:latin typeface="+mn-ea"/>
                <a:ea typeface="+mn-ea"/>
                <a:cs typeface="Tahoma" panose="020B0604030504040204" pitchFamily="34" charset="0"/>
              </a:rPr>
              <a:t>手写</a:t>
            </a:r>
            <a:r>
              <a:rPr lang="zh-CN" altLang="en-US" dirty="0" smtClean="0">
                <a:solidFill>
                  <a:srgbClr val="444444"/>
                </a:solidFill>
                <a:latin typeface="+mn-ea"/>
                <a:ea typeface="+mn-ea"/>
                <a:cs typeface="Tahoma" panose="020B0604030504040204" pitchFamily="34" charset="0"/>
              </a:rPr>
              <a:t>绘图板</a:t>
            </a:r>
            <a:endParaRPr lang="zh-CN" altLang="en-US" sz="900" dirty="0">
              <a:latin typeface="+mn-ea"/>
              <a:ea typeface="+mn-ea"/>
            </a:endParaRPr>
          </a:p>
        </p:txBody>
      </p:sp>
      <p:pic>
        <p:nvPicPr>
          <p:cNvPr id="1025" name="图片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94" y="1098597"/>
            <a:ext cx="6005208" cy="324798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a:spLocks noChangeArrowheads="1"/>
          </p:cNvSpPr>
          <p:nvPr/>
        </p:nvSpPr>
        <p:spPr bwMode="auto">
          <a:xfrm>
            <a:off x="468312" y="4394395"/>
            <a:ext cx="821848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53975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zh-CN" altLang="en-US" b="0" i="0" u="none" strike="noStrike" cap="none" normalizeH="0" baseline="0" dirty="0" smtClean="0">
                <a:ln>
                  <a:noFill/>
                </a:ln>
                <a:solidFill>
                  <a:schemeClr val="tx1"/>
                </a:solidFill>
                <a:effectLst/>
                <a:latin typeface="+mn-ea"/>
                <a:ea typeface="+mn-ea"/>
                <a:cs typeface="Times New Roman" panose="02020603050405020304" pitchFamily="18" charset="0"/>
              </a:rPr>
              <a:t>表笔接触铜箔表面，正确显示坐标值，分辨率为</a:t>
            </a:r>
            <a:r>
              <a:rPr kumimoji="0" lang="en-US" altLang="zh-CN" b="0" i="0" u="none" strike="noStrike" cap="none" normalizeH="0" baseline="0" dirty="0" smtClean="0">
                <a:ln>
                  <a:noFill/>
                </a:ln>
                <a:solidFill>
                  <a:schemeClr val="tx1"/>
                </a:solidFill>
                <a:effectLst/>
                <a:latin typeface="+mn-ea"/>
                <a:ea typeface="+mn-ea"/>
                <a:cs typeface="Times New Roman" panose="02020603050405020304" pitchFamily="18" charset="0"/>
              </a:rPr>
              <a:t>8mm</a:t>
            </a:r>
            <a:r>
              <a:rPr kumimoji="0" lang="zh-CN" altLang="en-US" b="0" i="0" u="none" strike="noStrike" cap="none" normalizeH="0" baseline="0" dirty="0" smtClean="0">
                <a:ln>
                  <a:noFill/>
                </a:ln>
                <a:solidFill>
                  <a:schemeClr val="tx1"/>
                </a:solidFill>
                <a:effectLst/>
                <a:latin typeface="+mn-ea"/>
                <a:ea typeface="+mn-ea"/>
                <a:cs typeface="Times New Roman" panose="02020603050405020304" pitchFamily="18" charset="0"/>
              </a:rPr>
              <a:t>和</a:t>
            </a:r>
            <a:r>
              <a:rPr kumimoji="0" lang="en-US" altLang="zh-CN" b="0" i="0" u="none" strike="noStrike" cap="none" normalizeH="0" baseline="0" dirty="0" smtClean="0">
                <a:ln>
                  <a:noFill/>
                </a:ln>
                <a:solidFill>
                  <a:schemeClr val="tx1"/>
                </a:solidFill>
                <a:effectLst/>
                <a:latin typeface="+mn-ea"/>
                <a:ea typeface="+mn-ea"/>
                <a:cs typeface="Times New Roman" panose="02020603050405020304" pitchFamily="18" charset="0"/>
              </a:rPr>
              <a:t>6mm</a:t>
            </a:r>
            <a:r>
              <a:rPr kumimoji="0" lang="zh-CN" altLang="en-US" b="0" i="0" u="none" strike="noStrike" cap="none" normalizeH="0" baseline="0" dirty="0" smtClean="0">
                <a:ln>
                  <a:noFill/>
                </a:ln>
                <a:solidFill>
                  <a:schemeClr val="tx1"/>
                </a:solidFill>
                <a:effectLst/>
                <a:latin typeface="+mn-ea"/>
                <a:ea typeface="+mn-ea"/>
                <a:cs typeface="Times New Roman" panose="02020603050405020304" pitchFamily="18" charset="0"/>
              </a:rPr>
              <a:t>，绝对误差不大于</a:t>
            </a:r>
            <a:r>
              <a:rPr kumimoji="0" lang="en-US" altLang="zh-CN" b="0" i="0" u="none" strike="noStrike" cap="none" normalizeH="0" baseline="0" dirty="0" smtClean="0">
                <a:ln>
                  <a:noFill/>
                </a:ln>
                <a:solidFill>
                  <a:schemeClr val="tx1"/>
                </a:solidFill>
                <a:effectLst/>
                <a:latin typeface="+mn-ea"/>
                <a:ea typeface="+mn-ea"/>
                <a:cs typeface="Times New Roman" panose="02020603050405020304" pitchFamily="18" charset="0"/>
              </a:rPr>
              <a:t>4mm</a:t>
            </a:r>
            <a:r>
              <a:rPr kumimoji="0" lang="zh-CN" altLang="en-US" b="0" i="0" u="none" strike="noStrike" cap="none" normalizeH="0" baseline="0" dirty="0" smtClean="0">
                <a:ln>
                  <a:noFill/>
                </a:ln>
                <a:solidFill>
                  <a:schemeClr val="tx1"/>
                </a:solidFill>
                <a:effectLst/>
                <a:latin typeface="+mn-ea"/>
                <a:ea typeface="+mn-ea"/>
                <a:cs typeface="Times New Roman" panose="02020603050405020304" pitchFamily="18" charset="0"/>
              </a:rPr>
              <a:t>和</a:t>
            </a:r>
            <a:r>
              <a:rPr kumimoji="0" lang="en-US" altLang="zh-CN" b="0" i="0" u="none" strike="noStrike" cap="none" normalizeH="0" baseline="0" dirty="0" smtClean="0">
                <a:ln>
                  <a:noFill/>
                </a:ln>
                <a:solidFill>
                  <a:schemeClr val="tx1"/>
                </a:solidFill>
                <a:effectLst/>
                <a:latin typeface="+mn-ea"/>
                <a:ea typeface="+mn-ea"/>
                <a:cs typeface="Times New Roman" panose="02020603050405020304" pitchFamily="18" charset="0"/>
              </a:rPr>
              <a:t>3mm</a:t>
            </a:r>
            <a:endParaRPr kumimoji="0" lang="zh-CN" altLang="en-US" b="0" i="0" u="none" strike="noStrike" cap="none" normalizeH="0" baseline="0" dirty="0" smtClean="0">
              <a:ln>
                <a:noFill/>
              </a:ln>
              <a:solidFill>
                <a:schemeClr val="tx1"/>
              </a:solidFill>
              <a:effectLst/>
              <a:latin typeface="+mn-ea"/>
              <a:ea typeface="+mn-ea"/>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zh-CN" altLang="en-US" b="0" i="0" u="none" strike="noStrike" cap="none" normalizeH="0" baseline="0" dirty="0" smtClean="0">
                <a:ln>
                  <a:noFill/>
                </a:ln>
                <a:solidFill>
                  <a:schemeClr val="tx1"/>
                </a:solidFill>
                <a:effectLst/>
                <a:latin typeface="+mn-ea"/>
                <a:ea typeface="+mn-ea"/>
                <a:cs typeface="Times New Roman" panose="02020603050405020304" pitchFamily="18" charset="0"/>
              </a:rPr>
              <a:t>绘图功能：跟踪表笔动作，并显示绘图轨迹</a:t>
            </a:r>
            <a:endParaRPr kumimoji="0" lang="zh-CN" altLang="en-US" b="0" i="0" u="none" strike="noStrike" cap="none" normalizeH="0" baseline="0" dirty="0" smtClean="0">
              <a:ln>
                <a:noFill/>
              </a:ln>
              <a:solidFill>
                <a:schemeClr val="tx1"/>
              </a:solidFill>
              <a:effectLst/>
              <a:latin typeface="+mn-ea"/>
              <a:ea typeface="+mn-ea"/>
            </a:endParaRPr>
          </a:p>
          <a:p>
            <a:pPr marL="342900" indent="-342900">
              <a:lnSpc>
                <a:spcPct val="150000"/>
              </a:lnSpc>
              <a:buFont typeface="Arial" panose="020B0604020202020204" pitchFamily="34" charset="0"/>
              <a:buChar char="•"/>
            </a:pPr>
            <a:r>
              <a:rPr kumimoji="0" lang="en-US" altLang="zh-CN" b="0" i="0" u="none" strike="noStrike" cap="none" normalizeH="0" baseline="0" dirty="0" smtClean="0">
                <a:ln>
                  <a:noFill/>
                </a:ln>
                <a:solidFill>
                  <a:schemeClr val="tx1"/>
                </a:solidFill>
                <a:effectLst/>
                <a:latin typeface="+mn-ea"/>
                <a:ea typeface="+mn-ea"/>
                <a:cs typeface="Times New Roman" panose="02020603050405020304" pitchFamily="18" charset="0"/>
              </a:rPr>
              <a:t>12V</a:t>
            </a:r>
            <a:r>
              <a:rPr kumimoji="0" lang="zh-CN" altLang="en-US" b="0" i="0" u="none" strike="noStrike" cap="none" normalizeH="0" baseline="0" dirty="0" smtClean="0">
                <a:ln>
                  <a:noFill/>
                </a:ln>
                <a:solidFill>
                  <a:schemeClr val="tx1"/>
                </a:solidFill>
                <a:effectLst/>
                <a:latin typeface="+mn-ea"/>
                <a:ea typeface="+mn-ea"/>
                <a:cs typeface="Times New Roman" panose="02020603050405020304" pitchFamily="18" charset="0"/>
              </a:rPr>
              <a:t>单电源供电，要求功耗等于或小于</a:t>
            </a:r>
            <a:r>
              <a:rPr kumimoji="0" lang="en-US" altLang="zh-CN" b="0" i="0" u="none" strike="noStrike" cap="none" normalizeH="0" baseline="0" dirty="0" smtClean="0">
                <a:ln>
                  <a:noFill/>
                </a:ln>
                <a:solidFill>
                  <a:schemeClr val="tx1"/>
                </a:solidFill>
                <a:effectLst/>
                <a:latin typeface="+mn-ea"/>
                <a:ea typeface="+mn-ea"/>
                <a:cs typeface="Times New Roman" panose="02020603050405020304" pitchFamily="18" charset="0"/>
              </a:rPr>
              <a:t>1.5W</a:t>
            </a:r>
            <a:r>
              <a:rPr kumimoji="0" lang="zh-CN" altLang="en-US" b="0" i="0" u="none" strike="noStrike" cap="none" normalizeH="0" baseline="0" dirty="0" smtClean="0">
                <a:ln>
                  <a:noFill/>
                </a:ln>
                <a:solidFill>
                  <a:schemeClr val="tx1"/>
                </a:solidFill>
                <a:effectLst/>
                <a:latin typeface="+mn-ea"/>
                <a:ea typeface="+mn-ea"/>
                <a:cs typeface="Times New Roman" panose="02020603050405020304" pitchFamily="18" charset="0"/>
              </a:rPr>
              <a:t>，</a:t>
            </a:r>
            <a:r>
              <a:rPr lang="zh-CN" altLang="en-US" dirty="0">
                <a:latin typeface="+mn-ea"/>
                <a:ea typeface="+mn-ea"/>
                <a:cs typeface="Times New Roman" panose="02020603050405020304" pitchFamily="18" charset="0"/>
              </a:rPr>
              <a:t>功耗越低得分越</a:t>
            </a:r>
            <a:r>
              <a:rPr lang="zh-CN" altLang="en-US" dirty="0" smtClean="0">
                <a:latin typeface="+mn-ea"/>
                <a:ea typeface="+mn-ea"/>
                <a:cs typeface="Times New Roman" panose="02020603050405020304" pitchFamily="18" charset="0"/>
              </a:rPr>
              <a:t>高</a:t>
            </a:r>
            <a:endParaRPr kumimoji="0" lang="zh-CN" altLang="en-US" b="0" i="0" u="none" strike="noStrike" cap="none" normalizeH="0" baseline="0" dirty="0" smtClean="0">
              <a:ln>
                <a:noFill/>
              </a:ln>
              <a:solidFill>
                <a:schemeClr val="tx1"/>
              </a:solidFill>
              <a:effectLst/>
              <a:latin typeface="+mj-ea"/>
              <a:ea typeface="+mj-ea"/>
            </a:endParaRPr>
          </a:p>
        </p:txBody>
      </p:sp>
    </p:spTree>
    <p:extLst>
      <p:ext uri="{BB962C8B-B14F-4D97-AF65-F5344CB8AC3E}">
        <p14:creationId xmlns:p14="http://schemas.microsoft.com/office/powerpoint/2010/main" val="16765347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p:sp>
        <p:nvSpPr>
          <p:cNvPr id="5" name="矩形 4"/>
          <p:cNvSpPr/>
          <p:nvPr/>
        </p:nvSpPr>
        <p:spPr>
          <a:xfrm>
            <a:off x="468312" y="460840"/>
            <a:ext cx="8300717" cy="497893"/>
          </a:xfrm>
          <a:prstGeom prst="rect">
            <a:avLst/>
          </a:prstGeom>
        </p:spPr>
        <p:txBody>
          <a:bodyPr wrap="square">
            <a:spAutoFit/>
          </a:bodyPr>
          <a:lstStyle/>
          <a:p>
            <a:pPr>
              <a:lnSpc>
                <a:spcPct val="150000"/>
              </a:lnSpc>
            </a:pPr>
            <a:r>
              <a:rPr lang="en-US" altLang="zh-CN" dirty="0" smtClean="0">
                <a:latin typeface="+mn-ea"/>
                <a:ea typeface="+mn-ea"/>
              </a:rPr>
              <a:t>2012</a:t>
            </a:r>
            <a:r>
              <a:rPr lang="zh-CN" altLang="zh-CN" dirty="0">
                <a:latin typeface="+mn-ea"/>
                <a:ea typeface="+mn-ea"/>
              </a:rPr>
              <a:t>年</a:t>
            </a:r>
            <a:r>
              <a:rPr lang="en-US" altLang="zh-CN" dirty="0">
                <a:latin typeface="+mn-ea"/>
                <a:ea typeface="+mn-ea"/>
              </a:rPr>
              <a:t>15</a:t>
            </a:r>
            <a:r>
              <a:rPr lang="zh-CN" altLang="zh-CN" dirty="0">
                <a:latin typeface="+mn-ea"/>
                <a:ea typeface="+mn-ea"/>
              </a:rPr>
              <a:t>省赛区</a:t>
            </a:r>
            <a:r>
              <a:rPr lang="en-US" altLang="zh-CN" dirty="0">
                <a:latin typeface="+mn-ea"/>
                <a:ea typeface="+mn-ea"/>
              </a:rPr>
              <a:t>TI</a:t>
            </a:r>
            <a:r>
              <a:rPr lang="zh-CN" altLang="zh-CN" dirty="0">
                <a:latin typeface="+mn-ea"/>
                <a:ea typeface="+mn-ea"/>
              </a:rPr>
              <a:t>杯</a:t>
            </a:r>
            <a:r>
              <a:rPr lang="en-US" altLang="zh-CN" dirty="0">
                <a:latin typeface="+mn-ea"/>
                <a:ea typeface="+mn-ea"/>
              </a:rPr>
              <a:t>A</a:t>
            </a:r>
            <a:r>
              <a:rPr lang="zh-CN" altLang="zh-CN" dirty="0">
                <a:latin typeface="+mn-ea"/>
                <a:ea typeface="+mn-ea"/>
              </a:rPr>
              <a:t>题  微弱信号检测装置</a:t>
            </a:r>
            <a:endParaRPr lang="zh-CN" altLang="en-US" sz="900" dirty="0">
              <a:latin typeface="+mn-ea"/>
              <a:ea typeface="+mn-ea"/>
            </a:endParaRPr>
          </a:p>
        </p:txBody>
      </p:sp>
      <p:pic>
        <p:nvPicPr>
          <p:cNvPr id="6" name="图片 5"/>
          <p:cNvPicPr/>
          <p:nvPr/>
        </p:nvPicPr>
        <p:blipFill>
          <a:blip r:embed="rId2"/>
          <a:stretch>
            <a:fillRect/>
          </a:stretch>
        </p:blipFill>
        <p:spPr>
          <a:xfrm>
            <a:off x="455967" y="1203800"/>
            <a:ext cx="8130924" cy="1626744"/>
          </a:xfrm>
          <a:prstGeom prst="rect">
            <a:avLst/>
          </a:prstGeom>
        </p:spPr>
      </p:pic>
      <p:sp>
        <p:nvSpPr>
          <p:cNvPr id="7" name="矩形 6"/>
          <p:cNvSpPr/>
          <p:nvPr/>
        </p:nvSpPr>
        <p:spPr>
          <a:xfrm>
            <a:off x="468312" y="3075611"/>
            <a:ext cx="8308541" cy="2862322"/>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正弦波</a:t>
            </a:r>
            <a:r>
              <a:rPr lang="zh-CN" altLang="zh-CN" kern="100" dirty="0">
                <a:latin typeface="+mn-ea"/>
                <a:ea typeface="+mn-ea"/>
              </a:rPr>
              <a:t>信号</a:t>
            </a:r>
            <a:r>
              <a:rPr lang="en-US" altLang="zh-CN" i="1" kern="100" dirty="0">
                <a:latin typeface="+mn-ea"/>
                <a:ea typeface="+mn-ea"/>
              </a:rPr>
              <a:t>V</a:t>
            </a:r>
            <a:r>
              <a:rPr lang="en-US" altLang="zh-CN" i="1" kern="100" baseline="-25000" dirty="0">
                <a:latin typeface="+mn-ea"/>
                <a:ea typeface="+mn-ea"/>
              </a:rPr>
              <a:t>S</a:t>
            </a:r>
            <a:r>
              <a:rPr lang="zh-CN" altLang="zh-CN" kern="100" dirty="0">
                <a:latin typeface="+mn-ea"/>
                <a:ea typeface="+mn-ea"/>
              </a:rPr>
              <a:t>的幅度峰</a:t>
            </a:r>
            <a:r>
              <a:rPr lang="zh-CN" altLang="zh-CN" kern="100" dirty="0" smtClean="0">
                <a:latin typeface="+mn-ea"/>
                <a:ea typeface="+mn-ea"/>
              </a:rPr>
              <a:t>峰值范围</a:t>
            </a:r>
            <a:r>
              <a:rPr lang="zh-CN" altLang="en-US" kern="100" dirty="0" smtClean="0">
                <a:latin typeface="+mn-ea"/>
                <a:ea typeface="+mn-ea"/>
              </a:rPr>
              <a:t>为</a:t>
            </a:r>
            <a:r>
              <a:rPr lang="en-US" altLang="zh-CN" kern="100" dirty="0" smtClean="0">
                <a:latin typeface="+mn-ea"/>
                <a:ea typeface="+mn-ea"/>
              </a:rPr>
              <a:t>20mV~2V</a:t>
            </a:r>
            <a:r>
              <a:rPr lang="zh-CN" altLang="zh-CN" kern="100" dirty="0" smtClean="0">
                <a:latin typeface="+mn-ea"/>
                <a:ea typeface="+mn-ea"/>
              </a:rPr>
              <a:t>，</a:t>
            </a:r>
            <a:r>
              <a:rPr lang="zh-CN" altLang="zh-CN" kern="100" dirty="0">
                <a:latin typeface="+mn-ea"/>
                <a:ea typeface="+mn-ea"/>
              </a:rPr>
              <a:t>信号的</a:t>
            </a:r>
            <a:r>
              <a:rPr lang="zh-CN" altLang="zh-CN" kern="100" dirty="0" smtClean="0">
                <a:latin typeface="+mn-ea"/>
                <a:ea typeface="+mn-ea"/>
              </a:rPr>
              <a:t>频率范围</a:t>
            </a:r>
            <a:r>
              <a:rPr lang="zh-CN" altLang="en-US" kern="100" dirty="0" smtClean="0">
                <a:latin typeface="+mn-ea"/>
                <a:ea typeface="+mn-ea"/>
              </a:rPr>
              <a:t>为</a:t>
            </a:r>
            <a:r>
              <a:rPr lang="en-US" altLang="zh-CN" kern="100" dirty="0" smtClean="0">
                <a:latin typeface="+mn-ea"/>
                <a:ea typeface="+mn-ea"/>
              </a:rPr>
              <a:t>500Hz~2kHz</a:t>
            </a: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噪声</a:t>
            </a:r>
            <a:r>
              <a:rPr lang="zh-CN" altLang="zh-CN" kern="100" dirty="0">
                <a:latin typeface="+mn-ea"/>
                <a:ea typeface="+mn-ea"/>
              </a:rPr>
              <a:t>源输出</a:t>
            </a:r>
            <a:r>
              <a:rPr lang="en-US" altLang="zh-CN" i="1" kern="100" dirty="0">
                <a:latin typeface="+mn-ea"/>
                <a:ea typeface="+mn-ea"/>
              </a:rPr>
              <a:t>V</a:t>
            </a:r>
            <a:r>
              <a:rPr lang="en-US" altLang="zh-CN" i="1" kern="100" baseline="-25000" dirty="0">
                <a:latin typeface="+mn-ea"/>
                <a:ea typeface="+mn-ea"/>
              </a:rPr>
              <a:t>N</a:t>
            </a:r>
            <a:r>
              <a:rPr lang="zh-CN" altLang="zh-CN" kern="100" dirty="0">
                <a:latin typeface="+mn-ea"/>
                <a:ea typeface="+mn-ea"/>
              </a:rPr>
              <a:t>的均方根电压</a:t>
            </a:r>
            <a:r>
              <a:rPr lang="zh-CN" altLang="zh-CN" kern="100" dirty="0" smtClean="0">
                <a:latin typeface="+mn-ea"/>
                <a:ea typeface="+mn-ea"/>
              </a:rPr>
              <a:t>值为</a:t>
            </a:r>
            <a:r>
              <a:rPr lang="en-US" altLang="zh-CN" kern="100" dirty="0">
                <a:latin typeface="+mn-ea"/>
                <a:ea typeface="+mn-ea"/>
              </a:rPr>
              <a:t>1V</a:t>
            </a:r>
            <a:r>
              <a:rPr lang="en-US" altLang="zh-CN" kern="100" dirty="0">
                <a:latin typeface="+mn-ea"/>
                <a:ea typeface="+mn-ea"/>
                <a:sym typeface="Symbol" panose="05050102010706020507" pitchFamily="18" charset="2"/>
              </a:rPr>
              <a:t></a:t>
            </a:r>
            <a:r>
              <a:rPr lang="en-US" altLang="zh-CN" kern="100" dirty="0" smtClean="0">
                <a:latin typeface="+mn-ea"/>
                <a:ea typeface="+mn-ea"/>
              </a:rPr>
              <a:t>0.1V</a:t>
            </a: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纯</a:t>
            </a:r>
            <a:r>
              <a:rPr lang="zh-CN" altLang="zh-CN" kern="100" dirty="0">
                <a:latin typeface="+mn-ea"/>
                <a:ea typeface="+mn-ea"/>
              </a:rPr>
              <a:t>电阻分压网络的衰减系数不低于</a:t>
            </a:r>
            <a:r>
              <a:rPr lang="en-US" altLang="zh-CN" kern="100" dirty="0" smtClean="0">
                <a:latin typeface="+mn-ea"/>
                <a:ea typeface="+mn-ea"/>
              </a:rPr>
              <a:t>100</a:t>
            </a:r>
            <a:endParaRPr lang="zh-CN"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微弱</a:t>
            </a:r>
            <a:r>
              <a:rPr lang="zh-CN" altLang="zh-CN" kern="100" dirty="0">
                <a:latin typeface="+mn-ea"/>
                <a:ea typeface="+mn-ea"/>
              </a:rPr>
              <a:t>信号检测电路的输入阻抗</a:t>
            </a:r>
            <a:r>
              <a:rPr lang="en-US" altLang="zh-CN" i="1" kern="100" dirty="0" err="1">
                <a:latin typeface="+mn-ea"/>
                <a:ea typeface="+mn-ea"/>
              </a:rPr>
              <a:t>R</a:t>
            </a:r>
            <a:r>
              <a:rPr lang="en-US" altLang="zh-CN" i="1" kern="100" baseline="-25000" dirty="0" err="1">
                <a:latin typeface="+mn-ea"/>
                <a:ea typeface="+mn-ea"/>
              </a:rPr>
              <a:t>i</a:t>
            </a:r>
            <a:r>
              <a:rPr lang="zh-CN" altLang="zh-CN" kern="100" dirty="0">
                <a:latin typeface="+mn-ea"/>
                <a:ea typeface="+mn-ea"/>
              </a:rPr>
              <a:t>≥</a:t>
            </a:r>
            <a:r>
              <a:rPr lang="en-US" altLang="zh-CN" kern="100" dirty="0">
                <a:latin typeface="+mn-ea"/>
                <a:ea typeface="+mn-ea"/>
              </a:rPr>
              <a:t>1 M</a:t>
            </a:r>
            <a:r>
              <a:rPr lang="en-US" altLang="zh-CN" kern="100" dirty="0" smtClean="0">
                <a:latin typeface="+mn-ea"/>
                <a:ea typeface="+mn-ea"/>
                <a:sym typeface="Symbol" panose="05050102010706020507" pitchFamily="18" charset="2"/>
              </a:rPr>
              <a:t></a:t>
            </a:r>
            <a:endParaRPr lang="zh-CN"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检测</a:t>
            </a:r>
            <a:r>
              <a:rPr lang="zh-CN" altLang="zh-CN" kern="100" dirty="0">
                <a:latin typeface="+mn-ea"/>
                <a:ea typeface="+mn-ea"/>
              </a:rPr>
              <a:t>并显示正弦波信号的幅度值，要求误差不</a:t>
            </a:r>
            <a:r>
              <a:rPr lang="zh-CN" altLang="zh-CN" kern="100" dirty="0" smtClean="0">
                <a:latin typeface="+mn-ea"/>
                <a:ea typeface="+mn-ea"/>
              </a:rPr>
              <a:t>超过</a:t>
            </a:r>
            <a:r>
              <a:rPr lang="en-US" altLang="zh-CN" dirty="0" smtClean="0">
                <a:latin typeface="+mn-ea"/>
                <a:ea typeface="+mn-ea"/>
              </a:rPr>
              <a:t>2</a:t>
            </a:r>
            <a:r>
              <a:rPr lang="en-US" altLang="zh-CN" dirty="0">
                <a:latin typeface="+mn-ea"/>
                <a:ea typeface="+mn-ea"/>
              </a:rPr>
              <a:t>%</a:t>
            </a:r>
            <a:endParaRPr lang="zh-CN" altLang="en-US" dirty="0">
              <a:latin typeface="+mn-ea"/>
              <a:ea typeface="+mn-ea"/>
            </a:endParaRPr>
          </a:p>
        </p:txBody>
      </p:sp>
    </p:spTree>
    <p:extLst>
      <p:ext uri="{BB962C8B-B14F-4D97-AF65-F5344CB8AC3E}">
        <p14:creationId xmlns:p14="http://schemas.microsoft.com/office/powerpoint/2010/main" val="639016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a:t>
            </a:fld>
            <a:endParaRPr lang="en-US" altLang="zh-CN">
              <a:solidFill>
                <a:srgbClr val="FFFFFF"/>
              </a:solidFill>
            </a:endParaRPr>
          </a:p>
        </p:txBody>
      </p:sp>
      <p:sp>
        <p:nvSpPr>
          <p:cNvPr id="5" name="矩形 4"/>
          <p:cNvSpPr/>
          <p:nvPr/>
        </p:nvSpPr>
        <p:spPr>
          <a:xfrm>
            <a:off x="468313" y="641043"/>
            <a:ext cx="6389687" cy="400110"/>
          </a:xfrm>
          <a:prstGeom prst="rect">
            <a:avLst/>
          </a:prstGeom>
        </p:spPr>
        <p:txBody>
          <a:bodyPr wrap="square">
            <a:spAutoFit/>
          </a:bodyPr>
          <a:lstStyle/>
          <a:p>
            <a:pPr>
              <a:spcBef>
                <a:spcPts val="1200"/>
              </a:spcBef>
              <a:spcAft>
                <a:spcPts val="600"/>
              </a:spcAft>
            </a:pPr>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2012</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年</a:t>
            </a:r>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15</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省赛区</a:t>
            </a:r>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TI</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杯</a:t>
            </a:r>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D</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题</a:t>
            </a:r>
            <a:r>
              <a:rPr lang="zh-CN" altLang="zh-CN" kern="0" dirty="0">
                <a:solidFill>
                  <a:srgbClr val="444444"/>
                </a:solidFill>
                <a:latin typeface="Times New Roman" panose="02020603050405020304" pitchFamily="18" charset="0"/>
                <a:ea typeface="Arial Unicode MS" panose="020B0604020202020204" pitchFamily="34" charset="-122"/>
                <a:cs typeface="Tahoma" panose="020B0604030504040204" pitchFamily="34" charset="0"/>
              </a:rPr>
              <a:t>  </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声音定位系统</a:t>
            </a:r>
            <a:endParaRPr lang="zh-CN" altLang="zh-CN" sz="1600" kern="100" dirty="0">
              <a:effectLst/>
              <a:latin typeface="Times New Roman" panose="02020603050405020304" pitchFamily="18" charset="0"/>
              <a:ea typeface="宋体" panose="02010600030101010101" pitchFamily="2" charset="-122"/>
            </a:endParaRPr>
          </a:p>
        </p:txBody>
      </p:sp>
      <p:pic>
        <p:nvPicPr>
          <p:cNvPr id="6" name="图片 5"/>
          <p:cNvPicPr/>
          <p:nvPr/>
        </p:nvPicPr>
        <p:blipFill>
          <a:blip r:embed="rId2"/>
          <a:stretch>
            <a:fillRect/>
          </a:stretch>
        </p:blipFill>
        <p:spPr>
          <a:xfrm>
            <a:off x="2447031" y="1129123"/>
            <a:ext cx="4212532" cy="2719251"/>
          </a:xfrm>
          <a:prstGeom prst="rect">
            <a:avLst/>
          </a:prstGeom>
        </p:spPr>
      </p:pic>
      <p:sp>
        <p:nvSpPr>
          <p:cNvPr id="7" name="Rectangle 1"/>
          <p:cNvSpPr>
            <a:spLocks noChangeArrowheads="1"/>
          </p:cNvSpPr>
          <p:nvPr/>
        </p:nvSpPr>
        <p:spPr bwMode="auto">
          <a:xfrm>
            <a:off x="401264" y="3848374"/>
            <a:ext cx="8464924"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zh-CN" altLang="zh-CN" b="0" i="0" u="none" strike="noStrike" cap="none" normalizeH="0" baseline="0" dirty="0" smtClean="0">
                <a:ln>
                  <a:noFill/>
                </a:ln>
                <a:solidFill>
                  <a:schemeClr val="tx1"/>
                </a:solidFill>
                <a:effectLst/>
                <a:latin typeface="+mn-ea"/>
                <a:ea typeface="+mn-ea"/>
                <a:cs typeface="Times New Roman" panose="02020603050405020304" pitchFamily="18" charset="0"/>
              </a:rPr>
              <a:t>设计制作一个声响模块，声音信号的基波频率为</a:t>
            </a:r>
            <a:r>
              <a:rPr kumimoji="0" lang="en-US" altLang="zh-CN" b="0" i="0" u="none" strike="noStrike" cap="none" normalizeH="0" baseline="0" dirty="0" smtClean="0">
                <a:ln>
                  <a:noFill/>
                </a:ln>
                <a:solidFill>
                  <a:schemeClr val="tx1"/>
                </a:solidFill>
                <a:effectLst/>
                <a:latin typeface="+mn-ea"/>
                <a:ea typeface="+mn-ea"/>
                <a:cs typeface="Times New Roman" panose="02020603050405020304" pitchFamily="18" charset="0"/>
              </a:rPr>
              <a:t>500Hz</a:t>
            </a:r>
            <a:r>
              <a:rPr kumimoji="0" lang="zh-CN" altLang="en-US" b="0" i="0" u="none" strike="noStrike" cap="none" normalizeH="0" baseline="0" dirty="0" smtClean="0">
                <a:ln>
                  <a:noFill/>
                </a:ln>
                <a:solidFill>
                  <a:schemeClr val="tx1"/>
                </a:solidFill>
                <a:effectLst/>
                <a:latin typeface="+mn-ea"/>
                <a:ea typeface="+mn-ea"/>
                <a:cs typeface="Times New Roman" panose="02020603050405020304" pitchFamily="18" charset="0"/>
              </a:rPr>
              <a:t>左右，采用</a:t>
            </a:r>
            <a:r>
              <a:rPr kumimoji="0" lang="en-US" altLang="zh-CN" b="0" i="0" u="none" strike="noStrike" cap="none" normalizeH="0" baseline="0" dirty="0" smtClean="0">
                <a:ln>
                  <a:noFill/>
                </a:ln>
                <a:solidFill>
                  <a:schemeClr val="tx1"/>
                </a:solidFill>
                <a:effectLst/>
                <a:latin typeface="+mn-ea"/>
                <a:ea typeface="+mn-ea"/>
                <a:cs typeface="Times New Roman" panose="02020603050405020304" pitchFamily="18" charset="0"/>
              </a:rPr>
              <a:t>3V</a:t>
            </a:r>
            <a:r>
              <a:rPr kumimoji="0" lang="zh-CN" altLang="en-US" b="0" i="0" u="none" strike="noStrike" cap="none" normalizeH="0" baseline="0" dirty="0" smtClean="0">
                <a:ln>
                  <a:noFill/>
                </a:ln>
                <a:solidFill>
                  <a:schemeClr val="tx1"/>
                </a:solidFill>
                <a:effectLst/>
                <a:latin typeface="+mn-ea"/>
                <a:ea typeface="+mn-ea"/>
                <a:cs typeface="Times New Roman" panose="02020603050405020304" pitchFamily="18" charset="0"/>
              </a:rPr>
              <a:t>以下电池供电，功耗不大于</a:t>
            </a:r>
            <a:r>
              <a:rPr kumimoji="0" lang="en-US" altLang="zh-CN" b="0" i="0" u="none" strike="noStrike" cap="none" normalizeH="0" baseline="0" dirty="0" smtClean="0">
                <a:ln>
                  <a:noFill/>
                </a:ln>
                <a:solidFill>
                  <a:schemeClr val="tx1"/>
                </a:solidFill>
                <a:effectLst/>
                <a:latin typeface="+mn-ea"/>
                <a:ea typeface="+mn-ea"/>
                <a:cs typeface="Times New Roman" panose="02020603050405020304" pitchFamily="18" charset="0"/>
              </a:rPr>
              <a:t>200mW</a:t>
            </a:r>
            <a:endParaRPr kumimoji="0" lang="zh-CN" altLang="en-US" b="0" i="0" u="none" strike="noStrike" cap="none" normalizeH="0" baseline="0" dirty="0" smtClean="0">
              <a:ln>
                <a:noFill/>
              </a:ln>
              <a:solidFill>
                <a:schemeClr val="tx1"/>
              </a:solidFill>
              <a:effectLst/>
              <a:latin typeface="+mn-ea"/>
              <a:ea typeface="+mn-ea"/>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zh-CN" altLang="en-US" b="0" i="0" u="none" strike="noStrike" cap="none" normalizeH="0" baseline="0" dirty="0" smtClean="0">
                <a:ln>
                  <a:noFill/>
                </a:ln>
                <a:solidFill>
                  <a:schemeClr val="tx1"/>
                </a:solidFill>
                <a:effectLst/>
                <a:latin typeface="+mn-ea"/>
                <a:ea typeface="+mn-ea"/>
                <a:cs typeface="Times New Roman" panose="02020603050405020304" pitchFamily="18" charset="0"/>
              </a:rPr>
              <a:t>设计制作四路声音接收模块</a:t>
            </a:r>
            <a:endParaRPr kumimoji="0" lang="zh-CN" altLang="en-US" b="0" i="0" u="none" strike="noStrike" cap="none" normalizeH="0" baseline="0" dirty="0" smtClean="0">
              <a:ln>
                <a:noFill/>
              </a:ln>
              <a:solidFill>
                <a:schemeClr val="tx1"/>
              </a:solidFill>
              <a:effectLst/>
              <a:latin typeface="+mn-ea"/>
              <a:ea typeface="+mn-ea"/>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zh-CN" altLang="en-US" b="0" i="0" u="none" strike="noStrike" cap="none" normalizeH="0" baseline="0" dirty="0" smtClean="0">
                <a:ln>
                  <a:noFill/>
                </a:ln>
                <a:solidFill>
                  <a:schemeClr val="tx1"/>
                </a:solidFill>
                <a:effectLst/>
                <a:latin typeface="+mn-ea"/>
                <a:ea typeface="+mn-ea"/>
                <a:cs typeface="Times New Roman" panose="02020603050405020304" pitchFamily="18" charset="0"/>
              </a:rPr>
              <a:t>设计制作一个信息处理模块，根据从声音接收模块传来的信号判断声响模块所在位置的坐标并以数字形式显示，误差绝对值不大于</a:t>
            </a:r>
            <a:r>
              <a:rPr kumimoji="0" lang="en-US" altLang="zh-CN" b="0" i="0" u="none" strike="noStrike" cap="none" normalizeH="0" baseline="0" dirty="0" smtClean="0">
                <a:ln>
                  <a:noFill/>
                </a:ln>
                <a:solidFill>
                  <a:schemeClr val="tx1"/>
                </a:solidFill>
                <a:effectLst/>
                <a:latin typeface="+mn-ea"/>
                <a:ea typeface="+mn-ea"/>
                <a:cs typeface="Times New Roman" panose="02020603050405020304" pitchFamily="18" charset="0"/>
              </a:rPr>
              <a:t>10mm</a:t>
            </a:r>
            <a:endParaRPr kumimoji="0" lang="zh-CN" altLang="en-US" b="0" i="0" u="none" strike="noStrike" cap="none" normalizeH="0" baseline="0" dirty="0" smtClean="0">
              <a:ln>
                <a:noFill/>
              </a:ln>
              <a:solidFill>
                <a:schemeClr val="tx1"/>
              </a:solidFill>
              <a:effectLst/>
              <a:latin typeface="+mn-ea"/>
              <a:ea typeface="+mn-ea"/>
            </a:endParaRPr>
          </a:p>
        </p:txBody>
      </p:sp>
    </p:spTree>
    <p:extLst>
      <p:ext uri="{BB962C8B-B14F-4D97-AF65-F5344CB8AC3E}">
        <p14:creationId xmlns:p14="http://schemas.microsoft.com/office/powerpoint/2010/main" val="425799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5" name="矩形 4"/>
          <p:cNvSpPr/>
          <p:nvPr/>
        </p:nvSpPr>
        <p:spPr>
          <a:xfrm>
            <a:off x="468312" y="460840"/>
            <a:ext cx="8300717" cy="1200329"/>
          </a:xfrm>
          <a:prstGeom prst="rect">
            <a:avLst/>
          </a:prstGeom>
        </p:spPr>
        <p:txBody>
          <a:bodyPr wrap="square">
            <a:spAutoFit/>
          </a:bodyPr>
          <a:lstStyle/>
          <a:p>
            <a:pPr>
              <a:lnSpc>
                <a:spcPct val="150000"/>
              </a:lnSpc>
            </a:pPr>
            <a:r>
              <a:rPr lang="zh-CN" altLang="en-US" sz="2800" dirty="0">
                <a:solidFill>
                  <a:srgbClr val="FF0000"/>
                </a:solidFill>
                <a:latin typeface="隶书" panose="02010509060101010101" pitchFamily="49" charset="-122"/>
                <a:ea typeface="隶书" panose="02010509060101010101" pitchFamily="49" charset="-122"/>
              </a:rPr>
              <a:t>二、通信类题目举例</a:t>
            </a:r>
            <a:endParaRPr lang="en-US" altLang="zh-CN" sz="2800" dirty="0">
              <a:solidFill>
                <a:srgbClr val="FF0000"/>
              </a:solidFill>
              <a:latin typeface="隶书" panose="02010509060101010101" pitchFamily="49" charset="-122"/>
              <a:ea typeface="隶书" panose="02010509060101010101" pitchFamily="49" charset="-122"/>
            </a:endParaRPr>
          </a:p>
          <a:p>
            <a:pPr>
              <a:lnSpc>
                <a:spcPct val="150000"/>
              </a:lnSpc>
            </a:pPr>
            <a:r>
              <a:rPr lang="en-US" altLang="zh-CN" dirty="0" smtClean="0"/>
              <a:t>2020</a:t>
            </a:r>
            <a:r>
              <a:rPr lang="zh-CN" altLang="zh-CN" dirty="0"/>
              <a:t>年</a:t>
            </a:r>
            <a:r>
              <a:rPr lang="en-US" altLang="zh-CN" dirty="0"/>
              <a:t>TI</a:t>
            </a:r>
            <a:r>
              <a:rPr lang="zh-CN" altLang="zh-CN" dirty="0"/>
              <a:t>杯模拟电子系统</a:t>
            </a:r>
            <a:r>
              <a:rPr lang="zh-CN" altLang="zh-CN" dirty="0" smtClean="0"/>
              <a:t>设计邀请赛</a:t>
            </a:r>
            <a:r>
              <a:rPr lang="en-US" altLang="zh-CN" dirty="0"/>
              <a:t>B</a:t>
            </a:r>
            <a:r>
              <a:rPr lang="zh-CN" altLang="zh-CN" dirty="0"/>
              <a:t>题</a:t>
            </a:r>
            <a:r>
              <a:rPr lang="en-US" altLang="zh-CN" dirty="0"/>
              <a:t>  </a:t>
            </a:r>
            <a:r>
              <a:rPr lang="zh-CN" altLang="zh-CN" dirty="0"/>
              <a:t>多种幅度调制信号发生电路</a:t>
            </a:r>
            <a:endParaRPr lang="zh-CN" altLang="en-US" sz="900" dirty="0">
              <a:latin typeface="+mn-ea"/>
              <a:ea typeface="+mn-ea"/>
            </a:endParaRPr>
          </a:p>
        </p:txBody>
      </p:sp>
      <p:pic>
        <p:nvPicPr>
          <p:cNvPr id="6" name="图片 5"/>
          <p:cNvPicPr/>
          <p:nvPr/>
        </p:nvPicPr>
        <p:blipFill>
          <a:blip r:embed="rId2"/>
          <a:stretch>
            <a:fillRect/>
          </a:stretch>
        </p:blipFill>
        <p:spPr>
          <a:xfrm>
            <a:off x="1125812" y="1661169"/>
            <a:ext cx="6301219" cy="2357292"/>
          </a:xfrm>
          <a:prstGeom prst="rect">
            <a:avLst/>
          </a:prstGeom>
        </p:spPr>
      </p:pic>
      <p:sp>
        <p:nvSpPr>
          <p:cNvPr id="7" name="矩形 6"/>
          <p:cNvSpPr/>
          <p:nvPr/>
        </p:nvSpPr>
        <p:spPr>
          <a:xfrm>
            <a:off x="415685" y="3978881"/>
            <a:ext cx="8208620" cy="2400657"/>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设计产生</a:t>
            </a:r>
            <a:r>
              <a:rPr lang="en-US" altLang="zh-CN" kern="100" dirty="0">
                <a:latin typeface="+mn-ea"/>
                <a:ea typeface="+mn-ea"/>
              </a:rPr>
              <a:t>AM</a:t>
            </a:r>
            <a:r>
              <a:rPr lang="zh-CN" altLang="zh-CN" kern="100" dirty="0" smtClean="0">
                <a:latin typeface="+mn-ea"/>
                <a:ea typeface="+mn-ea"/>
              </a:rPr>
              <a:t>信号</a:t>
            </a:r>
            <a:r>
              <a:rPr lang="zh-CN" altLang="en-US" kern="100" dirty="0" smtClean="0">
                <a:latin typeface="+mn-ea"/>
                <a:ea typeface="+mn-ea"/>
              </a:rPr>
              <a:t>。</a:t>
            </a:r>
            <a:r>
              <a:rPr lang="zh-CN" altLang="zh-CN" kern="100" dirty="0" smtClean="0">
                <a:latin typeface="+mn-ea"/>
                <a:ea typeface="+mn-ea"/>
              </a:rPr>
              <a:t>载波</a:t>
            </a:r>
            <a:r>
              <a:rPr lang="zh-CN" altLang="en-US" kern="100" dirty="0" smtClean="0">
                <a:latin typeface="+mn-ea"/>
                <a:ea typeface="+mn-ea"/>
              </a:rPr>
              <a:t>频率</a:t>
            </a:r>
            <a:r>
              <a:rPr lang="en-US" altLang="zh-CN" kern="100" dirty="0" smtClean="0">
                <a:latin typeface="+mn-ea"/>
                <a:ea typeface="+mn-ea"/>
              </a:rPr>
              <a:t>8MHz</a:t>
            </a:r>
            <a:r>
              <a:rPr lang="zh-CN" altLang="en-US" kern="100" dirty="0" smtClean="0">
                <a:latin typeface="+mn-ea"/>
                <a:ea typeface="+mn-ea"/>
              </a:rPr>
              <a:t>，</a:t>
            </a:r>
            <a:r>
              <a:rPr lang="zh-CN" altLang="zh-CN" kern="100" dirty="0" smtClean="0">
                <a:latin typeface="+mn-ea"/>
                <a:ea typeface="+mn-ea"/>
              </a:rPr>
              <a:t>调制频率</a:t>
            </a:r>
            <a:r>
              <a:rPr lang="zh-CN" altLang="zh-CN" kern="100" dirty="0">
                <a:latin typeface="+mn-ea"/>
                <a:ea typeface="+mn-ea"/>
              </a:rPr>
              <a:t>范围</a:t>
            </a:r>
            <a:r>
              <a:rPr lang="en-US" altLang="zh-CN" kern="100" dirty="0" smtClean="0">
                <a:latin typeface="+mn-ea"/>
                <a:ea typeface="+mn-ea"/>
              </a:rPr>
              <a:t>1kHz~10kHz</a:t>
            </a:r>
          </a:p>
          <a:p>
            <a:pPr marL="342900" indent="-342900" algn="just">
              <a:lnSpc>
                <a:spcPct val="150000"/>
              </a:lnSpc>
              <a:spcAft>
                <a:spcPts val="0"/>
              </a:spcAft>
              <a:buFont typeface="Arial" panose="020B0604020202020204" pitchFamily="34" charset="0"/>
              <a:buChar char="•"/>
            </a:pPr>
            <a:r>
              <a:rPr lang="zh-CN" altLang="en-US" kern="100" dirty="0" smtClean="0">
                <a:latin typeface="+mn-ea"/>
                <a:ea typeface="+mn-ea"/>
              </a:rPr>
              <a:t>要求</a:t>
            </a:r>
            <a:r>
              <a:rPr lang="zh-CN" altLang="zh-CN" kern="100" dirty="0" smtClean="0">
                <a:latin typeface="+mn-ea"/>
                <a:ea typeface="+mn-ea"/>
              </a:rPr>
              <a:t>产生</a:t>
            </a:r>
            <a:r>
              <a:rPr lang="zh-CN" altLang="zh-CN" kern="100" dirty="0">
                <a:latin typeface="+mn-ea"/>
                <a:ea typeface="+mn-ea"/>
              </a:rPr>
              <a:t>的</a:t>
            </a:r>
            <a:r>
              <a:rPr lang="en-US" altLang="zh-CN" kern="100" dirty="0">
                <a:latin typeface="+mn-ea"/>
                <a:ea typeface="+mn-ea"/>
              </a:rPr>
              <a:t>AM</a:t>
            </a:r>
            <a:r>
              <a:rPr lang="zh-CN" altLang="zh-CN" kern="100" dirty="0">
                <a:latin typeface="+mn-ea"/>
                <a:ea typeface="+mn-ea"/>
              </a:rPr>
              <a:t>信号的载波峰</a:t>
            </a:r>
            <a:r>
              <a:rPr lang="zh-CN" altLang="zh-CN" kern="100" dirty="0" smtClean="0">
                <a:latin typeface="+mn-ea"/>
                <a:ea typeface="+mn-ea"/>
              </a:rPr>
              <a:t>峰值可调</a:t>
            </a:r>
            <a:r>
              <a:rPr lang="zh-CN" altLang="en-US" kern="100" dirty="0" smtClean="0">
                <a:latin typeface="+mn-ea"/>
                <a:ea typeface="+mn-ea"/>
              </a:rPr>
              <a:t>，</a:t>
            </a:r>
            <a:r>
              <a:rPr lang="en-US" altLang="zh-CN" kern="100" dirty="0" smtClean="0">
                <a:latin typeface="+mn-ea"/>
                <a:ea typeface="+mn-ea"/>
              </a:rPr>
              <a:t>AM</a:t>
            </a:r>
            <a:r>
              <a:rPr lang="zh-CN" altLang="zh-CN" kern="100" dirty="0">
                <a:latin typeface="+mn-ea"/>
                <a:ea typeface="+mn-ea"/>
              </a:rPr>
              <a:t>信号调制</a:t>
            </a:r>
            <a:r>
              <a:rPr lang="zh-CN" altLang="zh-CN" kern="100" dirty="0" smtClean="0">
                <a:latin typeface="+mn-ea"/>
                <a:ea typeface="+mn-ea"/>
              </a:rPr>
              <a:t>度可调</a:t>
            </a:r>
            <a:endParaRPr lang="zh-CN"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设计</a:t>
            </a:r>
            <a:r>
              <a:rPr lang="zh-CN" altLang="zh-CN" kern="100" dirty="0">
                <a:latin typeface="+mn-ea"/>
                <a:ea typeface="+mn-ea"/>
              </a:rPr>
              <a:t>一个陷波器对</a:t>
            </a:r>
            <a:r>
              <a:rPr lang="en-US" altLang="zh-CN" kern="100" dirty="0">
                <a:latin typeface="+mn-ea"/>
                <a:ea typeface="+mn-ea"/>
              </a:rPr>
              <a:t>AM</a:t>
            </a:r>
            <a:r>
              <a:rPr lang="zh-CN" altLang="zh-CN" kern="100" dirty="0">
                <a:latin typeface="+mn-ea"/>
                <a:ea typeface="+mn-ea"/>
              </a:rPr>
              <a:t>信号进行滤波，得到双边带</a:t>
            </a:r>
            <a:r>
              <a:rPr lang="en-US" altLang="zh-CN" kern="100" dirty="0">
                <a:latin typeface="+mn-ea"/>
                <a:ea typeface="+mn-ea"/>
              </a:rPr>
              <a:t>DSB</a:t>
            </a:r>
            <a:r>
              <a:rPr lang="zh-CN" altLang="zh-CN" kern="100" dirty="0" smtClean="0">
                <a:latin typeface="+mn-ea"/>
                <a:ea typeface="+mn-ea"/>
              </a:rPr>
              <a:t>信号 </a:t>
            </a:r>
            <a:endParaRPr lang="zh-CN"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设计</a:t>
            </a:r>
            <a:r>
              <a:rPr lang="zh-CN" altLang="zh-CN" kern="100" dirty="0">
                <a:latin typeface="+mn-ea"/>
                <a:ea typeface="+mn-ea"/>
              </a:rPr>
              <a:t>一个低通滤波器对双边带</a:t>
            </a:r>
            <a:r>
              <a:rPr lang="en-US" altLang="zh-CN" kern="100" dirty="0">
                <a:latin typeface="+mn-ea"/>
                <a:ea typeface="+mn-ea"/>
              </a:rPr>
              <a:t>DSB</a:t>
            </a:r>
            <a:r>
              <a:rPr lang="zh-CN" altLang="zh-CN" kern="100" dirty="0">
                <a:latin typeface="+mn-ea"/>
                <a:ea typeface="+mn-ea"/>
              </a:rPr>
              <a:t>信号滤波，得到下边带</a:t>
            </a:r>
            <a:r>
              <a:rPr lang="en-US" altLang="zh-CN" kern="100" dirty="0">
                <a:latin typeface="+mn-ea"/>
                <a:ea typeface="+mn-ea"/>
              </a:rPr>
              <a:t>LSB</a:t>
            </a:r>
            <a:r>
              <a:rPr lang="zh-CN" altLang="zh-CN" kern="100" dirty="0" smtClean="0">
                <a:latin typeface="+mn-ea"/>
                <a:ea typeface="+mn-ea"/>
              </a:rPr>
              <a:t>信号</a:t>
            </a:r>
            <a:endParaRPr lang="en-US" altLang="zh-CN" kern="100" dirty="0" smtClean="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设计</a:t>
            </a:r>
            <a:r>
              <a:rPr lang="zh-CN" altLang="zh-CN" kern="100" dirty="0">
                <a:latin typeface="+mn-ea"/>
                <a:ea typeface="+mn-ea"/>
              </a:rPr>
              <a:t>一个高通滤波器对双边带</a:t>
            </a:r>
            <a:r>
              <a:rPr lang="en-US" altLang="zh-CN" kern="100" dirty="0">
                <a:latin typeface="+mn-ea"/>
                <a:ea typeface="+mn-ea"/>
              </a:rPr>
              <a:t>DSB</a:t>
            </a:r>
            <a:r>
              <a:rPr lang="zh-CN" altLang="zh-CN" kern="100" dirty="0">
                <a:latin typeface="+mn-ea"/>
                <a:ea typeface="+mn-ea"/>
              </a:rPr>
              <a:t>信号滤波，得到上边带</a:t>
            </a:r>
            <a:r>
              <a:rPr lang="en-US" altLang="zh-CN" kern="100" dirty="0">
                <a:latin typeface="+mn-ea"/>
                <a:ea typeface="+mn-ea"/>
              </a:rPr>
              <a:t>USB</a:t>
            </a:r>
            <a:r>
              <a:rPr lang="zh-CN" altLang="zh-CN" kern="100" dirty="0" smtClean="0">
                <a:latin typeface="+mn-ea"/>
                <a:ea typeface="+mn-ea"/>
              </a:rPr>
              <a:t>信号</a:t>
            </a:r>
            <a:endParaRPr lang="zh-CN" altLang="zh-CN" kern="100" dirty="0">
              <a:latin typeface="+mn-ea"/>
              <a:ea typeface="+mn-ea"/>
            </a:endParaRPr>
          </a:p>
        </p:txBody>
      </p:sp>
    </p:spTree>
    <p:extLst>
      <p:ext uri="{BB962C8B-B14F-4D97-AF65-F5344CB8AC3E}">
        <p14:creationId xmlns:p14="http://schemas.microsoft.com/office/powerpoint/2010/main" val="832979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5" name="文本框 4"/>
          <p:cNvSpPr txBox="1"/>
          <p:nvPr/>
        </p:nvSpPr>
        <p:spPr>
          <a:xfrm>
            <a:off x="375004" y="384966"/>
            <a:ext cx="8171191" cy="497700"/>
          </a:xfrm>
          <a:prstGeom prst="rect">
            <a:avLst/>
          </a:prstGeom>
          <a:noFill/>
        </p:spPr>
        <p:txBody>
          <a:bodyPr wrap="square" rtlCol="0">
            <a:spAutoFit/>
          </a:bodyPr>
          <a:lstStyle/>
          <a:p>
            <a:pPr>
              <a:lnSpc>
                <a:spcPct val="150000"/>
              </a:lnSpc>
            </a:pPr>
            <a:r>
              <a:rPr lang="en-US" altLang="zh-CN" dirty="0" smtClean="0"/>
              <a:t>2019</a:t>
            </a:r>
            <a:r>
              <a:rPr lang="zh-CN" altLang="zh-CN" dirty="0"/>
              <a:t>年全国赛</a:t>
            </a:r>
            <a:r>
              <a:rPr lang="en-US" altLang="zh-CN" dirty="0"/>
              <a:t>G</a:t>
            </a:r>
            <a:r>
              <a:rPr lang="zh-CN" altLang="zh-CN" dirty="0"/>
              <a:t>题  双路语音同传的无线收发</a:t>
            </a:r>
            <a:r>
              <a:rPr lang="zh-CN" altLang="zh-CN" dirty="0" smtClean="0"/>
              <a:t>系统</a:t>
            </a:r>
            <a:endParaRPr lang="en-US" altLang="zh-CN" dirty="0" smtClean="0"/>
          </a:p>
        </p:txBody>
      </p:sp>
      <p:pic>
        <p:nvPicPr>
          <p:cNvPr id="6" name="图片 5"/>
          <p:cNvPicPr/>
          <p:nvPr/>
        </p:nvPicPr>
        <p:blipFill>
          <a:blip r:embed="rId2"/>
          <a:stretch>
            <a:fillRect/>
          </a:stretch>
        </p:blipFill>
        <p:spPr>
          <a:xfrm>
            <a:off x="956793" y="984588"/>
            <a:ext cx="7007611" cy="3202531"/>
          </a:xfrm>
          <a:prstGeom prst="rect">
            <a:avLst/>
          </a:prstGeom>
        </p:spPr>
      </p:pic>
      <p:sp>
        <p:nvSpPr>
          <p:cNvPr id="7" name="矩形 6"/>
          <p:cNvSpPr/>
          <p:nvPr/>
        </p:nvSpPr>
        <p:spPr>
          <a:xfrm>
            <a:off x="468313" y="4289041"/>
            <a:ext cx="8236178" cy="1938992"/>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载波频率</a:t>
            </a:r>
            <a:r>
              <a:rPr lang="en-US" altLang="zh-CN" kern="100" dirty="0" smtClean="0">
                <a:latin typeface="+mn-ea"/>
                <a:ea typeface="+mn-ea"/>
              </a:rPr>
              <a:t>48.5MHz</a:t>
            </a:r>
            <a:r>
              <a:rPr lang="zh-CN" altLang="zh-CN" kern="100" dirty="0" smtClean="0">
                <a:latin typeface="+mn-ea"/>
                <a:ea typeface="+mn-ea"/>
              </a:rPr>
              <a:t>，峰值</a:t>
            </a:r>
            <a:r>
              <a:rPr lang="zh-CN" altLang="zh-CN" kern="100" dirty="0">
                <a:latin typeface="+mn-ea"/>
                <a:ea typeface="+mn-ea"/>
              </a:rPr>
              <a:t>频偏不大于</a:t>
            </a:r>
            <a:r>
              <a:rPr lang="en-US" altLang="zh-CN" kern="100" dirty="0">
                <a:latin typeface="+mn-ea"/>
                <a:ea typeface="+mn-ea"/>
              </a:rPr>
              <a:t>25kHz</a:t>
            </a:r>
            <a:r>
              <a:rPr lang="zh-CN" altLang="zh-CN" kern="100" dirty="0">
                <a:latin typeface="+mn-ea"/>
                <a:ea typeface="+mn-ea"/>
              </a:rPr>
              <a:t>；天线长度不大于</a:t>
            </a:r>
            <a:r>
              <a:rPr lang="en-US" altLang="zh-CN" kern="100" dirty="0" smtClean="0">
                <a:latin typeface="+mn-ea"/>
                <a:ea typeface="+mn-ea"/>
              </a:rPr>
              <a:t>0.5m</a:t>
            </a:r>
            <a:endParaRPr lang="zh-CN"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同时</a:t>
            </a:r>
            <a:r>
              <a:rPr lang="zh-CN" altLang="zh-CN" kern="100" dirty="0">
                <a:latin typeface="+mn-ea"/>
                <a:ea typeface="+mn-ea"/>
              </a:rPr>
              <a:t>传输双路语音</a:t>
            </a:r>
            <a:r>
              <a:rPr lang="zh-CN" altLang="zh-CN" kern="100" dirty="0" smtClean="0">
                <a:latin typeface="+mn-ea"/>
                <a:ea typeface="+mn-ea"/>
              </a:rPr>
              <a:t>信号</a:t>
            </a:r>
            <a:r>
              <a:rPr lang="zh-CN" altLang="en-US" kern="100" dirty="0" smtClean="0">
                <a:latin typeface="+mn-ea"/>
                <a:ea typeface="+mn-ea"/>
              </a:rPr>
              <a:t>，</a:t>
            </a:r>
            <a:r>
              <a:rPr lang="zh-CN" altLang="zh-CN" kern="100" dirty="0" smtClean="0">
                <a:latin typeface="+mn-ea"/>
                <a:ea typeface="+mn-ea"/>
              </a:rPr>
              <a:t>通信</a:t>
            </a:r>
            <a:r>
              <a:rPr lang="zh-CN" altLang="zh-CN" kern="100" dirty="0">
                <a:latin typeface="+mn-ea"/>
                <a:ea typeface="+mn-ea"/>
              </a:rPr>
              <a:t>距离不小于</a:t>
            </a:r>
            <a:r>
              <a:rPr lang="en-US" altLang="zh-CN" kern="100" dirty="0">
                <a:latin typeface="+mn-ea"/>
                <a:ea typeface="+mn-ea"/>
              </a:rPr>
              <a:t>2m</a:t>
            </a:r>
            <a:r>
              <a:rPr lang="zh-CN" altLang="zh-CN" kern="100" dirty="0">
                <a:latin typeface="+mn-ea"/>
                <a:ea typeface="+mn-ea"/>
              </a:rPr>
              <a:t>，解调</a:t>
            </a:r>
            <a:r>
              <a:rPr lang="zh-CN" altLang="zh-CN" kern="100" dirty="0" smtClean="0">
                <a:latin typeface="+mn-ea"/>
                <a:ea typeface="+mn-ea"/>
              </a:rPr>
              <a:t>输出无</a:t>
            </a:r>
            <a:r>
              <a:rPr lang="zh-CN" altLang="zh-CN" kern="100" dirty="0">
                <a:latin typeface="+mn-ea"/>
                <a:ea typeface="+mn-ea"/>
              </a:rPr>
              <a:t>明显</a:t>
            </a:r>
            <a:r>
              <a:rPr lang="zh-CN" altLang="zh-CN" kern="100" dirty="0" smtClean="0">
                <a:latin typeface="+mn-ea"/>
                <a:ea typeface="+mn-ea"/>
              </a:rPr>
              <a:t>失真</a:t>
            </a:r>
            <a:endParaRPr lang="zh-CN"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通过</a:t>
            </a:r>
            <a:r>
              <a:rPr lang="zh-CN" altLang="zh-CN" kern="100" dirty="0">
                <a:latin typeface="+mn-ea"/>
                <a:ea typeface="+mn-ea"/>
              </a:rPr>
              <a:t>一个电压</a:t>
            </a:r>
            <a:r>
              <a:rPr lang="zh-CN" altLang="zh-CN" kern="100" dirty="0" smtClean="0">
                <a:latin typeface="+mn-ea"/>
                <a:ea typeface="+mn-ea"/>
              </a:rPr>
              <a:t>信号</a:t>
            </a:r>
            <a:r>
              <a:rPr lang="zh-CN" altLang="en-US" kern="100" dirty="0" smtClean="0">
                <a:latin typeface="+mn-ea"/>
                <a:ea typeface="+mn-ea"/>
              </a:rPr>
              <a:t>改变</a:t>
            </a:r>
            <a:r>
              <a:rPr lang="zh-CN" altLang="zh-CN" kern="100" dirty="0">
                <a:latin typeface="+mn-ea"/>
                <a:ea typeface="+mn-ea"/>
              </a:rPr>
              <a:t>载波频</a:t>
            </a:r>
            <a:r>
              <a:rPr lang="zh-CN" altLang="en-US" kern="100" dirty="0">
                <a:latin typeface="+mn-ea"/>
                <a:ea typeface="+mn-ea"/>
              </a:rPr>
              <a:t>率</a:t>
            </a:r>
            <a:r>
              <a:rPr lang="zh-CN" altLang="zh-CN" kern="100" dirty="0" smtClean="0">
                <a:latin typeface="+mn-ea"/>
                <a:ea typeface="+mn-ea"/>
              </a:rPr>
              <a:t>，模拟</a:t>
            </a:r>
            <a:r>
              <a:rPr lang="zh-CN" altLang="zh-CN" kern="100" dirty="0">
                <a:latin typeface="+mn-ea"/>
                <a:ea typeface="+mn-ea"/>
              </a:rPr>
              <a:t>无线通信中载波频率</a:t>
            </a:r>
            <a:r>
              <a:rPr lang="zh-CN" altLang="zh-CN" kern="100" dirty="0" smtClean="0">
                <a:latin typeface="+mn-ea"/>
                <a:ea typeface="+mn-ea"/>
              </a:rPr>
              <a:t>漂移</a:t>
            </a:r>
            <a:r>
              <a:rPr lang="zh-CN" altLang="en-US" kern="100" dirty="0" smtClean="0">
                <a:latin typeface="+mn-ea"/>
                <a:ea typeface="+mn-ea"/>
              </a:rPr>
              <a:t>，</a:t>
            </a:r>
            <a:r>
              <a:rPr lang="zh-CN" altLang="zh-CN" kern="100" dirty="0" smtClean="0">
                <a:latin typeface="+mn-ea"/>
                <a:ea typeface="+mn-ea"/>
              </a:rPr>
              <a:t>在</a:t>
            </a:r>
            <a:r>
              <a:rPr lang="zh-CN" altLang="zh-CN" kern="100" dirty="0">
                <a:latin typeface="+mn-ea"/>
                <a:ea typeface="+mn-ea"/>
              </a:rPr>
              <a:t>保证系统</a:t>
            </a:r>
            <a:r>
              <a:rPr lang="zh-CN" altLang="zh-CN" kern="100" dirty="0" smtClean="0">
                <a:latin typeface="+mn-ea"/>
                <a:ea typeface="+mn-ea"/>
              </a:rPr>
              <a:t>能</a:t>
            </a:r>
            <a:r>
              <a:rPr lang="zh-CN" altLang="en-US" kern="100" dirty="0" smtClean="0">
                <a:latin typeface="+mn-ea"/>
                <a:ea typeface="+mn-ea"/>
              </a:rPr>
              <a:t>正常工作</a:t>
            </a:r>
            <a:r>
              <a:rPr lang="zh-CN" altLang="zh-CN" kern="100" dirty="0" smtClean="0">
                <a:latin typeface="+mn-ea"/>
                <a:ea typeface="+mn-ea"/>
              </a:rPr>
              <a:t>前提</a:t>
            </a:r>
            <a:r>
              <a:rPr lang="zh-CN" altLang="zh-CN" kern="100" dirty="0">
                <a:latin typeface="+mn-ea"/>
                <a:ea typeface="+mn-ea"/>
              </a:rPr>
              <a:t>下</a:t>
            </a:r>
            <a:r>
              <a:rPr lang="zh-CN" altLang="zh-CN" kern="100" dirty="0" smtClean="0">
                <a:latin typeface="+mn-ea"/>
                <a:ea typeface="+mn-ea"/>
              </a:rPr>
              <a:t>，</a:t>
            </a:r>
            <a:r>
              <a:rPr lang="zh-CN" altLang="zh-CN" dirty="0" smtClean="0">
                <a:latin typeface="+mn-ea"/>
                <a:ea typeface="+mn-ea"/>
                <a:cs typeface="Times New Roman" panose="02020603050405020304" pitchFamily="18" charset="0"/>
              </a:rPr>
              <a:t>载波频率</a:t>
            </a:r>
            <a:r>
              <a:rPr lang="zh-CN" altLang="zh-CN" dirty="0">
                <a:latin typeface="+mn-ea"/>
                <a:ea typeface="+mn-ea"/>
                <a:cs typeface="Times New Roman" panose="02020603050405020304" pitchFamily="18" charset="0"/>
              </a:rPr>
              <a:t>漂移</a:t>
            </a:r>
            <a:r>
              <a:rPr lang="zh-CN" altLang="zh-CN" dirty="0" smtClean="0">
                <a:latin typeface="+mn-ea"/>
                <a:ea typeface="+mn-ea"/>
                <a:cs typeface="Times New Roman" panose="02020603050405020304" pitchFamily="18" charset="0"/>
              </a:rPr>
              <a:t>范围越大越好</a:t>
            </a:r>
            <a:endParaRPr lang="zh-CN" altLang="en-US" dirty="0">
              <a:latin typeface="+mn-ea"/>
              <a:ea typeface="+mn-ea"/>
            </a:endParaRPr>
          </a:p>
        </p:txBody>
      </p:sp>
    </p:spTree>
    <p:extLst>
      <p:ext uri="{BB962C8B-B14F-4D97-AF65-F5344CB8AC3E}">
        <p14:creationId xmlns:p14="http://schemas.microsoft.com/office/powerpoint/2010/main" val="3802954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5" name="文本框 4"/>
          <p:cNvSpPr txBox="1"/>
          <p:nvPr/>
        </p:nvSpPr>
        <p:spPr>
          <a:xfrm>
            <a:off x="375004" y="384966"/>
            <a:ext cx="8171191" cy="553998"/>
          </a:xfrm>
          <a:prstGeom prst="rect">
            <a:avLst/>
          </a:prstGeom>
          <a:noFill/>
        </p:spPr>
        <p:txBody>
          <a:bodyPr wrap="square" rtlCol="0">
            <a:spAutoFit/>
          </a:bodyPr>
          <a:lstStyle/>
          <a:p>
            <a:pPr>
              <a:lnSpc>
                <a:spcPct val="150000"/>
              </a:lnSpc>
            </a:pPr>
            <a:r>
              <a:rPr lang="en-US" altLang="zh-CN" dirty="0" smtClean="0"/>
              <a:t>2021</a:t>
            </a:r>
            <a:r>
              <a:rPr lang="zh-CN" altLang="zh-CN" dirty="0" smtClean="0"/>
              <a:t>年</a:t>
            </a:r>
            <a:r>
              <a:rPr lang="zh-CN" altLang="zh-CN" dirty="0"/>
              <a:t>全国</a:t>
            </a:r>
            <a:r>
              <a:rPr lang="zh-CN" altLang="zh-CN" dirty="0" smtClean="0"/>
              <a:t>赛</a:t>
            </a:r>
            <a:r>
              <a:rPr lang="en-US" altLang="zh-CN" dirty="0" smtClean="0"/>
              <a:t>E</a:t>
            </a:r>
            <a:r>
              <a:rPr lang="zh-CN" altLang="zh-CN" dirty="0" smtClean="0"/>
              <a:t>题</a:t>
            </a:r>
            <a:r>
              <a:rPr lang="en-US" altLang="zh-CN" dirty="0" smtClean="0"/>
              <a:t>   </a:t>
            </a:r>
            <a:r>
              <a:rPr lang="zh-CN" altLang="zh-CN" dirty="0" smtClean="0"/>
              <a:t>数字</a:t>
            </a:r>
            <a:r>
              <a:rPr lang="en-US" altLang="zh-CN" dirty="0"/>
              <a:t>-</a:t>
            </a:r>
            <a:r>
              <a:rPr lang="zh-CN" altLang="zh-CN" dirty="0"/>
              <a:t>模拟信号混合传输收发机</a:t>
            </a:r>
            <a:endParaRPr lang="en-US" altLang="zh-CN" dirty="0" smtClean="0"/>
          </a:p>
        </p:txBody>
      </p:sp>
      <p:sp>
        <p:nvSpPr>
          <p:cNvPr id="6" name="矩形 5"/>
          <p:cNvSpPr/>
          <p:nvPr/>
        </p:nvSpPr>
        <p:spPr>
          <a:xfrm>
            <a:off x="468313" y="4289041"/>
            <a:ext cx="8236178" cy="1938992"/>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dirty="0"/>
              <a:t>收发机的信道带宽不大于</a:t>
            </a:r>
            <a:r>
              <a:rPr lang="en-US" altLang="zh-CN" dirty="0"/>
              <a:t>25kHz</a:t>
            </a:r>
            <a:r>
              <a:rPr lang="zh-CN" altLang="zh-CN" dirty="0"/>
              <a:t>，载波频率范围为</a:t>
            </a:r>
            <a:r>
              <a:rPr lang="en-US" altLang="zh-CN" dirty="0" smtClean="0"/>
              <a:t>20~30MHz</a:t>
            </a:r>
          </a:p>
          <a:p>
            <a:pPr marL="342900" indent="-342900" algn="just">
              <a:lnSpc>
                <a:spcPct val="150000"/>
              </a:lnSpc>
              <a:spcAft>
                <a:spcPts val="0"/>
              </a:spcAft>
              <a:buFont typeface="Arial" panose="020B0604020202020204" pitchFamily="34" charset="0"/>
              <a:buChar char="•"/>
            </a:pPr>
            <a:r>
              <a:rPr lang="zh-CN" altLang="zh-CN" dirty="0"/>
              <a:t>模拟信号频率</a:t>
            </a:r>
            <a:r>
              <a:rPr lang="zh-CN" altLang="zh-CN" dirty="0" smtClean="0"/>
              <a:t>范围</a:t>
            </a:r>
            <a:r>
              <a:rPr lang="en-US" altLang="zh-CN" dirty="0" smtClean="0"/>
              <a:t>50Hz~10kHz</a:t>
            </a:r>
            <a:r>
              <a:rPr lang="zh-CN" altLang="en-US" dirty="0" smtClean="0"/>
              <a:t>，</a:t>
            </a:r>
            <a:r>
              <a:rPr lang="zh-CN" altLang="zh-CN" dirty="0" smtClean="0"/>
              <a:t>数字信号</a:t>
            </a:r>
            <a:r>
              <a:rPr lang="zh-CN" altLang="en-US" dirty="0" smtClean="0"/>
              <a:t>为 </a:t>
            </a:r>
            <a:r>
              <a:rPr lang="en-US" altLang="zh-CN" dirty="0" smtClean="0"/>
              <a:t>4</a:t>
            </a:r>
            <a:r>
              <a:rPr lang="zh-CN" altLang="zh-CN" dirty="0"/>
              <a:t>个</a:t>
            </a:r>
            <a:r>
              <a:rPr lang="en-US" altLang="zh-CN" dirty="0"/>
              <a:t>0~9</a:t>
            </a:r>
            <a:r>
              <a:rPr lang="zh-CN" altLang="zh-CN" dirty="0"/>
              <a:t>的一组数字</a:t>
            </a:r>
            <a:endParaRPr lang="en-US" altLang="zh-CN" dirty="0" smtClean="0"/>
          </a:p>
          <a:p>
            <a:pPr marL="342900" indent="-342900" algn="just">
              <a:lnSpc>
                <a:spcPct val="150000"/>
              </a:lnSpc>
              <a:spcAft>
                <a:spcPts val="0"/>
              </a:spcAft>
              <a:buFont typeface="Arial" panose="020B0604020202020204" pitchFamily="34" charset="0"/>
              <a:buChar char="•"/>
            </a:pPr>
            <a:r>
              <a:rPr lang="zh-CN" altLang="zh-CN" dirty="0"/>
              <a:t>实现数字</a:t>
            </a:r>
            <a:r>
              <a:rPr lang="en-US" altLang="zh-CN" dirty="0"/>
              <a:t>-</a:t>
            </a:r>
            <a:r>
              <a:rPr lang="zh-CN" altLang="zh-CN" dirty="0"/>
              <a:t>模拟信号的混合</a:t>
            </a:r>
            <a:r>
              <a:rPr lang="zh-CN" altLang="zh-CN" dirty="0" smtClean="0"/>
              <a:t>传输</a:t>
            </a:r>
            <a:r>
              <a:rPr lang="zh-CN" altLang="en-US" dirty="0" smtClean="0"/>
              <a:t>，</a:t>
            </a:r>
            <a:r>
              <a:rPr lang="zh-CN" altLang="zh-CN" dirty="0"/>
              <a:t>数字显示正确，模拟信号波形无明显失真</a:t>
            </a:r>
            <a:endParaRPr lang="zh-CN" altLang="en-US" dirty="0">
              <a:latin typeface="+mn-ea"/>
              <a:ea typeface="+mn-ea"/>
            </a:endParaRPr>
          </a:p>
        </p:txBody>
      </p:sp>
      <p:pic>
        <p:nvPicPr>
          <p:cNvPr id="7" name="图片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6278" y="1163936"/>
            <a:ext cx="7459436" cy="2973656"/>
          </a:xfrm>
          <a:prstGeom prst="rect">
            <a:avLst/>
          </a:prstGeom>
          <a:noFill/>
          <a:ln>
            <a:noFill/>
          </a:ln>
        </p:spPr>
      </p:pic>
    </p:spTree>
    <p:extLst>
      <p:ext uri="{BB962C8B-B14F-4D97-AF65-F5344CB8AC3E}">
        <p14:creationId xmlns:p14="http://schemas.microsoft.com/office/powerpoint/2010/main" val="3267388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5" name="矩形 4"/>
          <p:cNvSpPr/>
          <p:nvPr/>
        </p:nvSpPr>
        <p:spPr>
          <a:xfrm>
            <a:off x="468313" y="587470"/>
            <a:ext cx="7484993" cy="400110"/>
          </a:xfrm>
          <a:prstGeom prst="rect">
            <a:avLst/>
          </a:prstGeom>
        </p:spPr>
        <p:txBody>
          <a:bodyPr wrap="square">
            <a:spAutoFit/>
          </a:bodyPr>
          <a:lstStyle/>
          <a:p>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2016</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年上海市</a:t>
            </a:r>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TI</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杯</a:t>
            </a:r>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B</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题</a:t>
            </a:r>
            <a:r>
              <a:rPr lang="zh-CN" altLang="zh-CN" kern="0" dirty="0">
                <a:solidFill>
                  <a:srgbClr val="444444"/>
                </a:solidFill>
                <a:ea typeface="Arial Unicode MS" panose="020B0604020202020204" pitchFamily="34" charset="-122"/>
                <a:cs typeface="Tahoma" panose="020B0604030504040204" pitchFamily="34" charset="0"/>
              </a:rPr>
              <a:t>  </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短波频段数字通信系统设计</a:t>
            </a:r>
            <a:endParaRPr lang="zh-CN" altLang="en-US" dirty="0"/>
          </a:p>
        </p:txBody>
      </p:sp>
      <p:pic>
        <p:nvPicPr>
          <p:cNvPr id="6" name="图片 5"/>
          <p:cNvPicPr/>
          <p:nvPr/>
        </p:nvPicPr>
        <p:blipFill>
          <a:blip r:embed="rId2"/>
          <a:stretch>
            <a:fillRect/>
          </a:stretch>
        </p:blipFill>
        <p:spPr>
          <a:xfrm>
            <a:off x="119846" y="1198433"/>
            <a:ext cx="5827232" cy="1306594"/>
          </a:xfrm>
          <a:prstGeom prst="rect">
            <a:avLst/>
          </a:prstGeom>
        </p:spPr>
      </p:pic>
      <p:pic>
        <p:nvPicPr>
          <p:cNvPr id="7" name="图片 6"/>
          <p:cNvPicPr/>
          <p:nvPr/>
        </p:nvPicPr>
        <p:blipFill>
          <a:blip r:embed="rId3"/>
          <a:stretch>
            <a:fillRect/>
          </a:stretch>
        </p:blipFill>
        <p:spPr>
          <a:xfrm>
            <a:off x="4493060" y="2167910"/>
            <a:ext cx="4532530" cy="1321821"/>
          </a:xfrm>
          <a:prstGeom prst="rect">
            <a:avLst/>
          </a:prstGeom>
        </p:spPr>
      </p:pic>
      <p:sp>
        <p:nvSpPr>
          <p:cNvPr id="8" name="矩形 7"/>
          <p:cNvSpPr/>
          <p:nvPr/>
        </p:nvSpPr>
        <p:spPr>
          <a:xfrm>
            <a:off x="468313" y="3489731"/>
            <a:ext cx="8397875" cy="2862322"/>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产生三种数据序列：全</a:t>
            </a:r>
            <a:r>
              <a:rPr lang="en-US" altLang="zh-CN" kern="100" dirty="0">
                <a:latin typeface="+mn-ea"/>
                <a:ea typeface="+mn-ea"/>
              </a:rPr>
              <a:t>1</a:t>
            </a:r>
            <a:r>
              <a:rPr lang="zh-CN" altLang="zh-CN" kern="100" dirty="0">
                <a:latin typeface="+mn-ea"/>
                <a:ea typeface="+mn-ea"/>
              </a:rPr>
              <a:t>序列、</a:t>
            </a:r>
            <a:r>
              <a:rPr lang="en-US" altLang="zh-CN" kern="100" dirty="0">
                <a:latin typeface="+mn-ea"/>
                <a:ea typeface="+mn-ea"/>
              </a:rPr>
              <a:t>01</a:t>
            </a:r>
            <a:r>
              <a:rPr lang="zh-CN" altLang="zh-CN" kern="100" dirty="0">
                <a:latin typeface="+mn-ea"/>
                <a:ea typeface="+mn-ea"/>
              </a:rPr>
              <a:t>交替序列、伪随机</a:t>
            </a:r>
            <a:r>
              <a:rPr lang="zh-CN" altLang="zh-CN" kern="100" dirty="0" smtClean="0">
                <a:latin typeface="+mn-ea"/>
                <a:ea typeface="+mn-ea"/>
              </a:rPr>
              <a:t>周期序列</a:t>
            </a:r>
            <a:endParaRPr lang="zh-CN"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en-US" kern="100" dirty="0" smtClean="0">
                <a:latin typeface="+mn-ea"/>
                <a:ea typeface="+mn-ea"/>
              </a:rPr>
              <a:t>对</a:t>
            </a:r>
            <a:r>
              <a:rPr lang="zh-CN" altLang="zh-CN" kern="100" dirty="0" smtClean="0">
                <a:latin typeface="+mn-ea"/>
                <a:ea typeface="+mn-ea"/>
              </a:rPr>
              <a:t>数据</a:t>
            </a:r>
            <a:r>
              <a:rPr lang="zh-CN" altLang="zh-CN" kern="100" dirty="0">
                <a:latin typeface="+mn-ea"/>
                <a:ea typeface="+mn-ea"/>
              </a:rPr>
              <a:t>序列进行</a:t>
            </a:r>
            <a:r>
              <a:rPr lang="en-US" altLang="zh-CN" kern="100" dirty="0">
                <a:latin typeface="+mn-ea"/>
                <a:ea typeface="+mn-ea"/>
              </a:rPr>
              <a:t>BPSK</a:t>
            </a:r>
            <a:r>
              <a:rPr lang="zh-CN" altLang="zh-CN" kern="100" dirty="0">
                <a:latin typeface="+mn-ea"/>
                <a:ea typeface="+mn-ea"/>
              </a:rPr>
              <a:t>调制，调制符号率设置为</a:t>
            </a:r>
            <a:r>
              <a:rPr lang="en-US" altLang="zh-CN" kern="100" dirty="0" smtClean="0">
                <a:latin typeface="+mn-ea"/>
                <a:ea typeface="+mn-ea"/>
              </a:rPr>
              <a:t>25K</a:t>
            </a:r>
            <a:r>
              <a:rPr lang="zh-CN" altLang="en-US" kern="100" dirty="0" smtClean="0">
                <a:latin typeface="+mn-ea"/>
                <a:ea typeface="+mn-ea"/>
              </a:rPr>
              <a:t>，</a:t>
            </a:r>
            <a:r>
              <a:rPr lang="zh-CN" altLang="zh-CN" kern="100" dirty="0" smtClean="0">
                <a:latin typeface="+mn-ea"/>
                <a:ea typeface="+mn-ea"/>
              </a:rPr>
              <a:t>调制</a:t>
            </a:r>
            <a:r>
              <a:rPr lang="zh-CN" altLang="zh-CN" kern="100" dirty="0">
                <a:latin typeface="+mn-ea"/>
                <a:ea typeface="+mn-ea"/>
              </a:rPr>
              <a:t>载波在</a:t>
            </a:r>
            <a:r>
              <a:rPr lang="en-US" altLang="zh-CN" kern="100" dirty="0">
                <a:latin typeface="+mn-ea"/>
                <a:ea typeface="+mn-ea"/>
              </a:rPr>
              <a:t>1MHz</a:t>
            </a:r>
            <a:r>
              <a:rPr lang="zh-CN" altLang="zh-CN" kern="100" dirty="0">
                <a:latin typeface="+mn-ea"/>
                <a:ea typeface="+mn-ea"/>
              </a:rPr>
              <a:t>～</a:t>
            </a:r>
            <a:r>
              <a:rPr lang="en-US" altLang="zh-CN" kern="100" dirty="0">
                <a:latin typeface="+mn-ea"/>
                <a:ea typeface="+mn-ea"/>
              </a:rPr>
              <a:t>5MHz</a:t>
            </a:r>
            <a:r>
              <a:rPr lang="zh-CN" altLang="zh-CN" kern="100" dirty="0">
                <a:latin typeface="+mn-ea"/>
                <a:ea typeface="+mn-ea"/>
              </a:rPr>
              <a:t>范围内以</a:t>
            </a:r>
            <a:r>
              <a:rPr lang="en-US" altLang="zh-CN" kern="100" dirty="0">
                <a:latin typeface="+mn-ea"/>
                <a:ea typeface="+mn-ea"/>
              </a:rPr>
              <a:t>1KHz</a:t>
            </a:r>
            <a:r>
              <a:rPr lang="zh-CN" altLang="zh-CN" kern="100" dirty="0">
                <a:latin typeface="+mn-ea"/>
                <a:ea typeface="+mn-ea"/>
              </a:rPr>
              <a:t>步进进行</a:t>
            </a:r>
            <a:r>
              <a:rPr lang="zh-CN" altLang="zh-CN" kern="100" dirty="0" smtClean="0">
                <a:latin typeface="+mn-ea"/>
                <a:ea typeface="+mn-ea"/>
              </a:rPr>
              <a:t>设置</a:t>
            </a:r>
            <a:r>
              <a:rPr lang="zh-CN" altLang="en-US" kern="100" dirty="0" smtClean="0">
                <a:latin typeface="+mn-ea"/>
                <a:ea typeface="+mn-ea"/>
              </a:rPr>
              <a:t>，</a:t>
            </a:r>
            <a:r>
              <a:rPr lang="zh-CN" altLang="zh-CN" kern="100" dirty="0" smtClean="0">
                <a:latin typeface="+mn-ea"/>
                <a:ea typeface="+mn-ea"/>
              </a:rPr>
              <a:t>调制</a:t>
            </a:r>
            <a:r>
              <a:rPr lang="zh-CN" altLang="zh-CN" kern="100" dirty="0">
                <a:latin typeface="+mn-ea"/>
                <a:ea typeface="+mn-ea"/>
              </a:rPr>
              <a:t>信号输出幅度为</a:t>
            </a:r>
            <a:r>
              <a:rPr lang="en-US" altLang="zh-CN" kern="100" dirty="0">
                <a:latin typeface="+mn-ea"/>
                <a:ea typeface="+mn-ea"/>
              </a:rPr>
              <a:t> </a:t>
            </a:r>
            <a:r>
              <a:rPr lang="en-US" altLang="zh-CN" dirty="0" smtClean="0">
                <a:latin typeface="+mn-ea"/>
                <a:ea typeface="+mn-ea"/>
              </a:rPr>
              <a:t>0.1V~5Vpp</a:t>
            </a:r>
            <a:endParaRPr lang="zh-CN"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接收模块</a:t>
            </a:r>
            <a:r>
              <a:rPr lang="zh-CN" altLang="zh-CN" kern="100" dirty="0">
                <a:latin typeface="+mn-ea"/>
                <a:ea typeface="+mn-ea"/>
              </a:rPr>
              <a:t>在频率范围内自动搜索跟踪</a:t>
            </a:r>
            <a:r>
              <a:rPr lang="zh-CN" altLang="zh-CN" kern="100" dirty="0" smtClean="0">
                <a:latin typeface="+mn-ea"/>
                <a:ea typeface="+mn-ea"/>
              </a:rPr>
              <a:t>实现</a:t>
            </a:r>
            <a:r>
              <a:rPr lang="zh-CN" altLang="zh-CN" kern="100" dirty="0">
                <a:latin typeface="+mn-ea"/>
                <a:ea typeface="+mn-ea"/>
              </a:rPr>
              <a:t>载波同步，恢复基带，并用示波器观察基带</a:t>
            </a:r>
            <a:r>
              <a:rPr lang="zh-CN" altLang="zh-CN" kern="100" dirty="0" smtClean="0">
                <a:latin typeface="+mn-ea"/>
                <a:ea typeface="+mn-ea"/>
              </a:rPr>
              <a:t>波形</a:t>
            </a:r>
            <a:endParaRPr lang="zh-CN" altLang="zh-CN" kern="100" dirty="0">
              <a:latin typeface="+mn-ea"/>
              <a:ea typeface="+mn-ea"/>
            </a:endParaRPr>
          </a:p>
        </p:txBody>
      </p:sp>
    </p:spTree>
    <p:extLst>
      <p:ext uri="{BB962C8B-B14F-4D97-AF65-F5344CB8AC3E}">
        <p14:creationId xmlns:p14="http://schemas.microsoft.com/office/powerpoint/2010/main" val="2380633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矩形 4"/>
          <p:cNvSpPr/>
          <p:nvPr/>
        </p:nvSpPr>
        <p:spPr>
          <a:xfrm>
            <a:off x="468313" y="1096177"/>
            <a:ext cx="8254668" cy="5247590"/>
          </a:xfrm>
          <a:prstGeom prst="rect">
            <a:avLst/>
          </a:prstGeom>
        </p:spPr>
        <p:txBody>
          <a:bodyPr wrap="square">
            <a:spAutoFit/>
          </a:bodyPr>
          <a:lstStyle/>
          <a:p>
            <a:pPr>
              <a:lnSpc>
                <a:spcPct val="150000"/>
              </a:lnSpc>
              <a:spcBef>
                <a:spcPts val="1200"/>
              </a:spcBef>
              <a:spcAft>
                <a:spcPts val="600"/>
              </a:spcAft>
            </a:pPr>
            <a:r>
              <a:rPr lang="en-US" altLang="zh-CN" kern="0" dirty="0">
                <a:solidFill>
                  <a:srgbClr val="444444"/>
                </a:solidFill>
                <a:latin typeface="+mj-ea"/>
                <a:ea typeface="+mj-ea"/>
                <a:cs typeface="Tahoma" panose="020B0604030504040204" pitchFamily="34" charset="0"/>
              </a:rPr>
              <a:t>2016</a:t>
            </a:r>
            <a:r>
              <a:rPr lang="zh-CN" altLang="zh-CN" kern="0" dirty="0">
                <a:solidFill>
                  <a:srgbClr val="444444"/>
                </a:solidFill>
                <a:latin typeface="+mj-ea"/>
                <a:ea typeface="+mj-ea"/>
                <a:cs typeface="Tahoma" panose="020B0604030504040204" pitchFamily="34" charset="0"/>
              </a:rPr>
              <a:t>年上海市</a:t>
            </a:r>
            <a:r>
              <a:rPr lang="en-US" altLang="zh-CN" kern="0" dirty="0">
                <a:solidFill>
                  <a:srgbClr val="444444"/>
                </a:solidFill>
                <a:latin typeface="+mj-ea"/>
                <a:ea typeface="+mj-ea"/>
                <a:cs typeface="Tahoma" panose="020B0604030504040204" pitchFamily="34" charset="0"/>
              </a:rPr>
              <a:t>TI</a:t>
            </a:r>
            <a:r>
              <a:rPr lang="zh-CN" altLang="zh-CN" kern="0" dirty="0">
                <a:solidFill>
                  <a:srgbClr val="444444"/>
                </a:solidFill>
                <a:latin typeface="+mj-ea"/>
                <a:ea typeface="+mj-ea"/>
                <a:cs typeface="Tahoma" panose="020B0604030504040204" pitchFamily="34" charset="0"/>
              </a:rPr>
              <a:t>杯</a:t>
            </a:r>
            <a:r>
              <a:rPr lang="en-US" altLang="zh-CN" kern="0" dirty="0">
                <a:solidFill>
                  <a:srgbClr val="444444"/>
                </a:solidFill>
                <a:latin typeface="+mj-ea"/>
                <a:ea typeface="+mj-ea"/>
                <a:cs typeface="Tahoma" panose="020B0604030504040204" pitchFamily="34" charset="0"/>
              </a:rPr>
              <a:t>C</a:t>
            </a:r>
            <a:r>
              <a:rPr lang="zh-CN" altLang="zh-CN" kern="0" dirty="0">
                <a:solidFill>
                  <a:srgbClr val="444444"/>
                </a:solidFill>
                <a:latin typeface="+mj-ea"/>
                <a:ea typeface="+mj-ea"/>
                <a:cs typeface="Tahoma" panose="020B0604030504040204" pitchFamily="34" charset="0"/>
              </a:rPr>
              <a:t>题  脉冲信号参数测量</a:t>
            </a:r>
            <a:r>
              <a:rPr lang="zh-CN" altLang="zh-CN" kern="0" dirty="0" smtClean="0">
                <a:solidFill>
                  <a:srgbClr val="444444"/>
                </a:solidFill>
                <a:latin typeface="+mj-ea"/>
                <a:ea typeface="+mj-ea"/>
                <a:cs typeface="Tahoma" panose="020B0604030504040204" pitchFamily="34" charset="0"/>
              </a:rPr>
              <a:t>仪</a:t>
            </a:r>
            <a:endParaRPr lang="zh-CN" altLang="zh-CN" kern="100" dirty="0">
              <a:latin typeface="+mj-ea"/>
              <a:ea typeface="+mj-ea"/>
            </a:endParaRPr>
          </a:p>
          <a:p>
            <a:pPr marL="342900" indent="-342900" algn="just">
              <a:lnSpc>
                <a:spcPct val="150000"/>
              </a:lnSpc>
              <a:spcAft>
                <a:spcPts val="0"/>
              </a:spcAft>
              <a:buFont typeface="Arial" panose="020B0604020202020204" pitchFamily="34" charset="0"/>
              <a:buChar char="•"/>
            </a:pPr>
            <a:r>
              <a:rPr lang="zh-CN" altLang="zh-CN" kern="100" dirty="0">
                <a:latin typeface="+mn-ea"/>
                <a:ea typeface="+mn-ea"/>
              </a:rPr>
              <a:t>设计并制作一个数字显示的周期性矩形脉冲信号参数测量</a:t>
            </a:r>
            <a:r>
              <a:rPr lang="zh-CN" altLang="zh-CN" kern="100" dirty="0" smtClean="0">
                <a:latin typeface="+mn-ea"/>
                <a:ea typeface="+mn-ea"/>
              </a:rPr>
              <a:t>仪</a:t>
            </a:r>
            <a:r>
              <a:rPr lang="zh-CN" altLang="en-US" kern="100" dirty="0" smtClean="0">
                <a:latin typeface="+mn-ea"/>
                <a:ea typeface="+mn-ea"/>
              </a:rPr>
              <a:t>：</a:t>
            </a:r>
            <a:endParaRPr lang="zh-CN" altLang="zh-CN" kern="100" dirty="0">
              <a:latin typeface="+mn-ea"/>
              <a:ea typeface="+mn-ea"/>
            </a:endParaRPr>
          </a:p>
          <a:p>
            <a:pPr algn="just">
              <a:lnSpc>
                <a:spcPct val="150000"/>
              </a:lnSpc>
              <a:spcAft>
                <a:spcPts val="0"/>
              </a:spcAft>
            </a:pPr>
            <a:r>
              <a:rPr lang="en-US" altLang="zh-CN" kern="100" dirty="0" smtClean="0">
                <a:latin typeface="+mn-ea"/>
                <a:ea typeface="+mn-ea"/>
              </a:rPr>
              <a:t>    </a:t>
            </a:r>
            <a:r>
              <a:rPr lang="zh-CN" altLang="zh-CN" kern="100" dirty="0" smtClean="0">
                <a:latin typeface="+mn-ea"/>
                <a:ea typeface="+mn-ea"/>
              </a:rPr>
              <a:t>脉冲</a:t>
            </a:r>
            <a:r>
              <a:rPr lang="zh-CN" altLang="zh-CN" kern="100" dirty="0">
                <a:latin typeface="+mn-ea"/>
                <a:ea typeface="+mn-ea"/>
              </a:rPr>
              <a:t>信号</a:t>
            </a:r>
            <a:r>
              <a:rPr lang="zh-CN" altLang="zh-CN" kern="100" dirty="0" smtClean="0">
                <a:latin typeface="+mn-ea"/>
                <a:ea typeface="+mn-ea"/>
              </a:rPr>
              <a:t>频率范围</a:t>
            </a:r>
            <a:r>
              <a:rPr lang="zh-CN" altLang="zh-CN" kern="100" dirty="0">
                <a:latin typeface="+mn-ea"/>
                <a:ea typeface="+mn-ea"/>
              </a:rPr>
              <a:t>为</a:t>
            </a:r>
            <a:r>
              <a:rPr lang="en-US" altLang="zh-CN" kern="100" dirty="0">
                <a:latin typeface="+mn-ea"/>
                <a:ea typeface="+mn-ea"/>
              </a:rPr>
              <a:t>10Hz</a:t>
            </a:r>
            <a:r>
              <a:rPr lang="zh-CN" altLang="zh-CN" kern="100" dirty="0">
                <a:latin typeface="+mn-ea"/>
                <a:ea typeface="+mn-ea"/>
              </a:rPr>
              <a:t>～</a:t>
            </a:r>
            <a:r>
              <a:rPr lang="en-US" altLang="zh-CN" kern="100" dirty="0">
                <a:latin typeface="+mn-ea"/>
                <a:ea typeface="+mn-ea"/>
              </a:rPr>
              <a:t>2MHz</a:t>
            </a:r>
            <a:r>
              <a:rPr lang="zh-CN" altLang="zh-CN" kern="100" dirty="0">
                <a:latin typeface="+mn-ea"/>
                <a:ea typeface="+mn-ea"/>
              </a:rPr>
              <a:t>，测量误差的绝对值不大于</a:t>
            </a:r>
            <a:r>
              <a:rPr lang="en-US" altLang="zh-CN" kern="100" dirty="0">
                <a:latin typeface="+mn-ea"/>
                <a:ea typeface="+mn-ea"/>
              </a:rPr>
              <a:t>0.1</a:t>
            </a:r>
            <a:r>
              <a:rPr lang="en-US" altLang="zh-CN" kern="100" dirty="0" smtClean="0">
                <a:latin typeface="+mn-ea"/>
                <a:ea typeface="+mn-ea"/>
              </a:rPr>
              <a:t>%</a:t>
            </a:r>
            <a:endParaRPr lang="zh-CN" altLang="zh-CN" kern="100" dirty="0">
              <a:latin typeface="+mn-ea"/>
              <a:ea typeface="+mn-ea"/>
            </a:endParaRPr>
          </a:p>
          <a:p>
            <a:pPr algn="just">
              <a:lnSpc>
                <a:spcPct val="150000"/>
              </a:lnSpc>
              <a:spcAft>
                <a:spcPts val="0"/>
              </a:spcAft>
            </a:pPr>
            <a:r>
              <a:rPr lang="en-US" altLang="zh-CN" kern="100" dirty="0" smtClean="0">
                <a:latin typeface="+mn-ea"/>
                <a:ea typeface="+mn-ea"/>
              </a:rPr>
              <a:t>    </a:t>
            </a:r>
            <a:r>
              <a:rPr lang="zh-CN" altLang="zh-CN" kern="100" dirty="0" smtClean="0">
                <a:latin typeface="+mn-ea"/>
                <a:ea typeface="+mn-ea"/>
              </a:rPr>
              <a:t>脉冲</a:t>
            </a:r>
            <a:r>
              <a:rPr lang="zh-CN" altLang="zh-CN" kern="100" dirty="0">
                <a:latin typeface="+mn-ea"/>
                <a:ea typeface="+mn-ea"/>
              </a:rPr>
              <a:t>信号</a:t>
            </a:r>
            <a:r>
              <a:rPr lang="zh-CN" altLang="zh-CN" kern="100" dirty="0" smtClean="0">
                <a:latin typeface="+mn-ea"/>
                <a:ea typeface="+mn-ea"/>
              </a:rPr>
              <a:t>占空比范围</a:t>
            </a:r>
            <a:r>
              <a:rPr lang="zh-CN" altLang="zh-CN" kern="100" dirty="0">
                <a:latin typeface="+mn-ea"/>
                <a:ea typeface="+mn-ea"/>
              </a:rPr>
              <a:t>为</a:t>
            </a:r>
            <a:r>
              <a:rPr lang="en-US" altLang="zh-CN" kern="100" dirty="0">
                <a:latin typeface="+mn-ea"/>
                <a:ea typeface="+mn-ea"/>
              </a:rPr>
              <a:t>10</a:t>
            </a:r>
            <a:r>
              <a:rPr lang="zh-CN" altLang="zh-CN" kern="100" dirty="0">
                <a:latin typeface="+mn-ea"/>
                <a:ea typeface="+mn-ea"/>
              </a:rPr>
              <a:t>％～</a:t>
            </a:r>
            <a:r>
              <a:rPr lang="en-US" altLang="zh-CN" kern="100" dirty="0">
                <a:latin typeface="+mn-ea"/>
                <a:ea typeface="+mn-ea"/>
              </a:rPr>
              <a:t>90</a:t>
            </a:r>
            <a:r>
              <a:rPr lang="zh-CN" altLang="zh-CN" kern="100" dirty="0">
                <a:latin typeface="+mn-ea"/>
                <a:ea typeface="+mn-ea"/>
              </a:rPr>
              <a:t>％，测量误差的绝对值不大于</a:t>
            </a:r>
            <a:r>
              <a:rPr lang="en-US" altLang="zh-CN" kern="100" dirty="0">
                <a:latin typeface="+mn-ea"/>
                <a:ea typeface="+mn-ea"/>
              </a:rPr>
              <a:t>2</a:t>
            </a:r>
            <a:r>
              <a:rPr lang="en-US" altLang="zh-CN" kern="100" dirty="0" smtClean="0">
                <a:latin typeface="+mn-ea"/>
                <a:ea typeface="+mn-ea"/>
              </a:rPr>
              <a:t>%</a:t>
            </a:r>
            <a:endParaRPr lang="zh-CN" altLang="zh-CN" kern="100" dirty="0">
              <a:latin typeface="+mn-ea"/>
              <a:ea typeface="+mn-ea"/>
            </a:endParaRPr>
          </a:p>
          <a:p>
            <a:pPr algn="just">
              <a:lnSpc>
                <a:spcPct val="150000"/>
              </a:lnSpc>
              <a:spcAft>
                <a:spcPts val="0"/>
              </a:spcAft>
            </a:pPr>
            <a:r>
              <a:rPr lang="en-US" altLang="zh-CN" kern="100" dirty="0" smtClean="0">
                <a:latin typeface="+mn-ea"/>
                <a:ea typeface="+mn-ea"/>
              </a:rPr>
              <a:t>    </a:t>
            </a:r>
            <a:r>
              <a:rPr lang="zh-CN" altLang="zh-CN" kern="100" dirty="0" smtClean="0">
                <a:latin typeface="+mn-ea"/>
                <a:ea typeface="+mn-ea"/>
              </a:rPr>
              <a:t>脉冲信号幅度</a:t>
            </a:r>
            <a:r>
              <a:rPr lang="zh-CN" altLang="zh-CN" kern="100" dirty="0">
                <a:latin typeface="+mn-ea"/>
                <a:ea typeface="+mn-ea"/>
              </a:rPr>
              <a:t>范围为</a:t>
            </a:r>
            <a:r>
              <a:rPr lang="en-US" altLang="zh-CN" kern="100" dirty="0">
                <a:latin typeface="+mn-ea"/>
                <a:ea typeface="+mn-ea"/>
              </a:rPr>
              <a:t>0.1</a:t>
            </a:r>
            <a:r>
              <a:rPr lang="zh-CN" altLang="zh-CN" kern="100" dirty="0">
                <a:latin typeface="+mn-ea"/>
                <a:ea typeface="+mn-ea"/>
              </a:rPr>
              <a:t>～</a:t>
            </a:r>
            <a:r>
              <a:rPr lang="en-US" altLang="zh-CN" kern="100" dirty="0">
                <a:latin typeface="+mn-ea"/>
                <a:ea typeface="+mn-ea"/>
              </a:rPr>
              <a:t>10V</a:t>
            </a:r>
            <a:r>
              <a:rPr lang="zh-CN" altLang="zh-CN" kern="100" dirty="0">
                <a:latin typeface="+mn-ea"/>
                <a:ea typeface="+mn-ea"/>
              </a:rPr>
              <a:t>，测量误差的绝对值不大于</a:t>
            </a:r>
            <a:r>
              <a:rPr lang="en-US" altLang="zh-CN" kern="100" dirty="0">
                <a:latin typeface="+mn-ea"/>
                <a:ea typeface="+mn-ea"/>
              </a:rPr>
              <a:t>2</a:t>
            </a:r>
            <a:r>
              <a:rPr lang="en-US" altLang="zh-CN" kern="100" dirty="0" smtClean="0">
                <a:latin typeface="+mn-ea"/>
                <a:ea typeface="+mn-ea"/>
              </a:rPr>
              <a:t>%</a:t>
            </a:r>
            <a:endParaRPr lang="zh-CN" altLang="zh-CN" kern="100" dirty="0">
              <a:latin typeface="+mn-ea"/>
              <a:ea typeface="+mn-ea"/>
            </a:endParaRPr>
          </a:p>
          <a:p>
            <a:pPr algn="just">
              <a:lnSpc>
                <a:spcPct val="150000"/>
              </a:lnSpc>
              <a:spcAft>
                <a:spcPts val="0"/>
              </a:spcAft>
            </a:pPr>
            <a:r>
              <a:rPr lang="en-US" altLang="zh-CN" kern="100" dirty="0" smtClean="0">
                <a:latin typeface="+mn-ea"/>
                <a:ea typeface="+mn-ea"/>
              </a:rPr>
              <a:t>    </a:t>
            </a:r>
            <a:r>
              <a:rPr lang="zh-CN" altLang="zh-CN" kern="100" dirty="0" smtClean="0">
                <a:latin typeface="+mn-ea"/>
                <a:ea typeface="+mn-ea"/>
              </a:rPr>
              <a:t>脉冲</a:t>
            </a:r>
            <a:r>
              <a:rPr lang="zh-CN" altLang="zh-CN" kern="100" dirty="0">
                <a:latin typeface="+mn-ea"/>
                <a:ea typeface="+mn-ea"/>
              </a:rPr>
              <a:t>信号</a:t>
            </a:r>
            <a:r>
              <a:rPr lang="zh-CN" altLang="zh-CN" kern="100" dirty="0" smtClean="0">
                <a:latin typeface="+mn-ea"/>
                <a:ea typeface="+mn-ea"/>
              </a:rPr>
              <a:t>上升时间范围</a:t>
            </a:r>
            <a:r>
              <a:rPr lang="zh-CN" altLang="zh-CN" kern="100" dirty="0">
                <a:latin typeface="+mn-ea"/>
                <a:ea typeface="+mn-ea"/>
              </a:rPr>
              <a:t>为</a:t>
            </a:r>
            <a:r>
              <a:rPr lang="en-US" altLang="zh-CN" kern="100" dirty="0">
                <a:latin typeface="+mn-ea"/>
                <a:ea typeface="+mn-ea"/>
              </a:rPr>
              <a:t>50.0</a:t>
            </a:r>
            <a:r>
              <a:rPr lang="zh-CN" altLang="zh-CN" kern="100" dirty="0">
                <a:latin typeface="+mn-ea"/>
                <a:ea typeface="+mn-ea"/>
              </a:rPr>
              <a:t>～</a:t>
            </a:r>
            <a:r>
              <a:rPr lang="en-US" altLang="zh-CN" kern="100" dirty="0">
                <a:latin typeface="+mn-ea"/>
                <a:ea typeface="+mn-ea"/>
              </a:rPr>
              <a:t>999ns</a:t>
            </a:r>
            <a:r>
              <a:rPr lang="zh-CN" altLang="zh-CN" kern="100" dirty="0">
                <a:latin typeface="+mn-ea"/>
                <a:ea typeface="+mn-ea"/>
              </a:rPr>
              <a:t>，测量误差的绝对值不大于</a:t>
            </a:r>
            <a:r>
              <a:rPr lang="en-US" altLang="zh-CN" kern="100" dirty="0">
                <a:latin typeface="+mn-ea"/>
                <a:ea typeface="+mn-ea"/>
              </a:rPr>
              <a:t> 5</a:t>
            </a:r>
            <a:r>
              <a:rPr lang="en-US" altLang="zh-CN" kern="100" dirty="0" smtClean="0">
                <a:latin typeface="+mn-ea"/>
                <a:ea typeface="+mn-ea"/>
              </a:rPr>
              <a:t>%</a:t>
            </a:r>
            <a:endParaRPr lang="zh-CN"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设计</a:t>
            </a:r>
            <a:r>
              <a:rPr lang="zh-CN" altLang="zh-CN" kern="100" dirty="0">
                <a:latin typeface="+mn-ea"/>
                <a:ea typeface="+mn-ea"/>
              </a:rPr>
              <a:t>并制作一个标准矩形脉冲</a:t>
            </a:r>
            <a:r>
              <a:rPr lang="zh-CN" altLang="zh-CN" kern="100" dirty="0" smtClean="0">
                <a:latin typeface="+mn-ea"/>
                <a:ea typeface="+mn-ea"/>
              </a:rPr>
              <a:t>信号发生器</a:t>
            </a:r>
            <a:r>
              <a:rPr lang="zh-CN" altLang="en-US" kern="100" dirty="0" smtClean="0">
                <a:latin typeface="+mn-ea"/>
                <a:ea typeface="+mn-ea"/>
              </a:rPr>
              <a:t>：</a:t>
            </a:r>
            <a:endParaRPr lang="zh-CN" altLang="zh-CN" kern="100" dirty="0">
              <a:latin typeface="+mn-ea"/>
              <a:ea typeface="+mn-ea"/>
            </a:endParaRPr>
          </a:p>
          <a:p>
            <a:pPr algn="just">
              <a:lnSpc>
                <a:spcPct val="150000"/>
              </a:lnSpc>
              <a:spcAft>
                <a:spcPts val="0"/>
              </a:spcAft>
            </a:pPr>
            <a:r>
              <a:rPr lang="en-US" altLang="zh-CN" kern="100" dirty="0" smtClean="0">
                <a:latin typeface="+mn-ea"/>
                <a:ea typeface="+mn-ea"/>
              </a:rPr>
              <a:t>    </a:t>
            </a:r>
            <a:r>
              <a:rPr lang="zh-CN" altLang="zh-CN" kern="100" dirty="0" smtClean="0">
                <a:latin typeface="+mn-ea"/>
                <a:ea typeface="+mn-ea"/>
              </a:rPr>
              <a:t>频率</a:t>
            </a:r>
            <a:r>
              <a:rPr lang="en-US" altLang="zh-CN" kern="100" dirty="0">
                <a:latin typeface="+mn-ea"/>
                <a:ea typeface="+mn-ea"/>
                <a:cs typeface="Cambria Math" panose="02040503050406030204" pitchFamily="18" charset="0"/>
              </a:rPr>
              <a:t>𝑓</a:t>
            </a:r>
            <a:r>
              <a:rPr lang="en-US" altLang="zh-CN" kern="100" baseline="-25000" dirty="0">
                <a:latin typeface="+mn-ea"/>
                <a:ea typeface="+mn-ea"/>
              </a:rPr>
              <a:t>O</a:t>
            </a:r>
            <a:r>
              <a:rPr lang="zh-CN" altLang="zh-CN" kern="100" dirty="0">
                <a:latin typeface="+mn-ea"/>
                <a:ea typeface="+mn-ea"/>
              </a:rPr>
              <a:t>为</a:t>
            </a:r>
            <a:r>
              <a:rPr lang="en-US" altLang="zh-CN" kern="100" dirty="0">
                <a:latin typeface="+mn-ea"/>
                <a:ea typeface="+mn-ea"/>
              </a:rPr>
              <a:t>1MHz</a:t>
            </a:r>
            <a:r>
              <a:rPr lang="zh-CN" altLang="zh-CN" kern="100" dirty="0">
                <a:latin typeface="+mn-ea"/>
                <a:ea typeface="+mn-ea"/>
              </a:rPr>
              <a:t>，误差的绝对值不大于</a:t>
            </a:r>
            <a:r>
              <a:rPr lang="en-US" altLang="zh-CN" kern="100" dirty="0">
                <a:latin typeface="+mn-ea"/>
                <a:ea typeface="+mn-ea"/>
              </a:rPr>
              <a:t>0.1</a:t>
            </a:r>
            <a:r>
              <a:rPr lang="en-US" altLang="zh-CN" kern="100" dirty="0" smtClean="0">
                <a:latin typeface="+mn-ea"/>
                <a:ea typeface="+mn-ea"/>
              </a:rPr>
              <a:t>%</a:t>
            </a:r>
            <a:r>
              <a:rPr lang="zh-CN" altLang="zh-CN" kern="100" dirty="0" smtClean="0">
                <a:latin typeface="+mn-ea"/>
                <a:ea typeface="+mn-ea"/>
              </a:rPr>
              <a:t> </a:t>
            </a:r>
            <a:endParaRPr lang="zh-CN" altLang="zh-CN" kern="100" dirty="0">
              <a:latin typeface="+mn-ea"/>
              <a:ea typeface="+mn-ea"/>
            </a:endParaRPr>
          </a:p>
          <a:p>
            <a:pPr algn="just">
              <a:lnSpc>
                <a:spcPct val="150000"/>
              </a:lnSpc>
              <a:spcAft>
                <a:spcPts val="0"/>
              </a:spcAft>
            </a:pPr>
            <a:r>
              <a:rPr lang="en-US" altLang="zh-CN" kern="100" dirty="0" smtClean="0">
                <a:latin typeface="+mn-ea"/>
                <a:ea typeface="+mn-ea"/>
              </a:rPr>
              <a:t>    </a:t>
            </a:r>
            <a:r>
              <a:rPr lang="zh-CN" altLang="zh-CN" kern="100" dirty="0" smtClean="0">
                <a:latin typeface="+mn-ea"/>
                <a:ea typeface="+mn-ea"/>
              </a:rPr>
              <a:t>脉</a:t>
            </a:r>
            <a:r>
              <a:rPr lang="zh-CN" altLang="zh-CN" kern="100" dirty="0">
                <a:latin typeface="+mn-ea"/>
                <a:ea typeface="+mn-ea"/>
              </a:rPr>
              <a:t>宽</a:t>
            </a:r>
            <a:r>
              <a:rPr lang="en-US" altLang="zh-CN" kern="100" dirty="0">
                <a:latin typeface="+mn-ea"/>
                <a:ea typeface="+mn-ea"/>
                <a:cs typeface="Cambria Math" panose="02040503050406030204" pitchFamily="18" charset="0"/>
              </a:rPr>
              <a:t>𝑡</a:t>
            </a:r>
            <a:r>
              <a:rPr lang="en-US" altLang="zh-CN" kern="100" baseline="-25000" dirty="0">
                <a:latin typeface="+mn-ea"/>
                <a:ea typeface="+mn-ea"/>
                <a:cs typeface="Cambria Math" panose="02040503050406030204" pitchFamily="18" charset="0"/>
              </a:rPr>
              <a:t>𝑤</a:t>
            </a:r>
            <a:r>
              <a:rPr lang="zh-CN" altLang="zh-CN" kern="100" dirty="0">
                <a:latin typeface="+mn-ea"/>
                <a:ea typeface="+mn-ea"/>
              </a:rPr>
              <a:t>为</a:t>
            </a:r>
            <a:r>
              <a:rPr lang="en-US" altLang="zh-CN" kern="100" dirty="0">
                <a:latin typeface="+mn-ea"/>
                <a:ea typeface="+mn-ea"/>
              </a:rPr>
              <a:t>100ns</a:t>
            </a:r>
            <a:r>
              <a:rPr lang="zh-CN" altLang="zh-CN" kern="100" dirty="0">
                <a:latin typeface="+mn-ea"/>
                <a:ea typeface="+mn-ea"/>
              </a:rPr>
              <a:t>，误差的绝对值不大于</a:t>
            </a:r>
            <a:r>
              <a:rPr lang="en-US" altLang="zh-CN" kern="100" dirty="0">
                <a:latin typeface="+mn-ea"/>
                <a:ea typeface="+mn-ea"/>
              </a:rPr>
              <a:t>1</a:t>
            </a:r>
            <a:r>
              <a:rPr lang="en-US" altLang="zh-CN" kern="100" dirty="0" smtClean="0">
                <a:latin typeface="+mn-ea"/>
                <a:ea typeface="+mn-ea"/>
              </a:rPr>
              <a:t>%</a:t>
            </a:r>
            <a:r>
              <a:rPr lang="zh-CN" altLang="zh-CN" kern="100" dirty="0" smtClean="0">
                <a:latin typeface="+mn-ea"/>
                <a:ea typeface="+mn-ea"/>
              </a:rPr>
              <a:t> </a:t>
            </a:r>
            <a:endParaRPr lang="zh-CN" altLang="zh-CN" kern="100" dirty="0">
              <a:latin typeface="+mn-ea"/>
              <a:ea typeface="+mn-ea"/>
            </a:endParaRPr>
          </a:p>
          <a:p>
            <a:pPr algn="just">
              <a:lnSpc>
                <a:spcPct val="150000"/>
              </a:lnSpc>
              <a:spcAft>
                <a:spcPts val="0"/>
              </a:spcAft>
            </a:pPr>
            <a:r>
              <a:rPr lang="en-US" altLang="zh-CN" kern="100" dirty="0" smtClean="0">
                <a:latin typeface="+mn-ea"/>
                <a:ea typeface="+mn-ea"/>
              </a:rPr>
              <a:t>    </a:t>
            </a:r>
            <a:r>
              <a:rPr lang="zh-CN" altLang="zh-CN" kern="100" dirty="0" smtClean="0">
                <a:latin typeface="+mn-ea"/>
                <a:ea typeface="+mn-ea"/>
              </a:rPr>
              <a:t>幅度</a:t>
            </a:r>
            <a:r>
              <a:rPr lang="en-US" altLang="zh-CN" kern="100" dirty="0">
                <a:latin typeface="+mn-ea"/>
                <a:ea typeface="+mn-ea"/>
                <a:cs typeface="Cambria Math" panose="02040503050406030204" pitchFamily="18" charset="0"/>
              </a:rPr>
              <a:t>𝑉</a:t>
            </a:r>
            <a:r>
              <a:rPr lang="en-US" altLang="zh-CN" kern="100" baseline="-25000" dirty="0">
                <a:latin typeface="+mn-ea"/>
                <a:ea typeface="+mn-ea"/>
                <a:cs typeface="Cambria Math" panose="02040503050406030204" pitchFamily="18" charset="0"/>
              </a:rPr>
              <a:t>𝑚</a:t>
            </a:r>
            <a:r>
              <a:rPr lang="zh-CN" altLang="zh-CN" kern="100" dirty="0">
                <a:latin typeface="+mn-ea"/>
                <a:ea typeface="+mn-ea"/>
              </a:rPr>
              <a:t>为</a:t>
            </a:r>
            <a:r>
              <a:rPr lang="en-US" altLang="zh-CN" kern="100" dirty="0">
                <a:latin typeface="+mn-ea"/>
                <a:ea typeface="+mn-ea"/>
              </a:rPr>
              <a:t>5±0.1V</a:t>
            </a:r>
            <a:r>
              <a:rPr lang="zh-CN" altLang="zh-CN" kern="100" dirty="0">
                <a:latin typeface="+mn-ea"/>
                <a:ea typeface="+mn-ea"/>
              </a:rPr>
              <a:t>（负载电阻为</a:t>
            </a:r>
            <a:r>
              <a:rPr lang="en-US" altLang="zh-CN" kern="100" dirty="0">
                <a:latin typeface="+mn-ea"/>
                <a:ea typeface="+mn-ea"/>
              </a:rPr>
              <a:t> 50Ω</a:t>
            </a:r>
            <a:r>
              <a:rPr lang="zh-CN" altLang="zh-CN" kern="100" dirty="0" smtClean="0">
                <a:latin typeface="+mn-ea"/>
                <a:ea typeface="+mn-ea"/>
              </a:rPr>
              <a:t>）</a:t>
            </a:r>
            <a:endParaRPr lang="zh-CN" altLang="zh-CN" kern="100" dirty="0">
              <a:latin typeface="+mn-ea"/>
              <a:ea typeface="+mn-ea"/>
            </a:endParaRPr>
          </a:p>
          <a:p>
            <a:pPr algn="just">
              <a:lnSpc>
                <a:spcPct val="150000"/>
              </a:lnSpc>
              <a:spcAft>
                <a:spcPts val="0"/>
              </a:spcAft>
            </a:pPr>
            <a:r>
              <a:rPr lang="en-US" altLang="zh-CN" kern="100" dirty="0" smtClean="0">
                <a:latin typeface="+mn-ea"/>
                <a:ea typeface="+mn-ea"/>
              </a:rPr>
              <a:t>    </a:t>
            </a:r>
            <a:r>
              <a:rPr lang="zh-CN" altLang="zh-CN" kern="100" dirty="0" smtClean="0">
                <a:latin typeface="+mn-ea"/>
                <a:ea typeface="+mn-ea"/>
              </a:rPr>
              <a:t>上升时间</a:t>
            </a:r>
            <a:r>
              <a:rPr lang="en-US" altLang="zh-CN" kern="100" dirty="0">
                <a:latin typeface="+mn-ea"/>
                <a:ea typeface="+mn-ea"/>
                <a:cs typeface="Cambria Math" panose="02040503050406030204" pitchFamily="18" charset="0"/>
              </a:rPr>
              <a:t>𝑡</a:t>
            </a:r>
            <a:r>
              <a:rPr lang="en-US" altLang="zh-CN" kern="100" baseline="-25000" dirty="0">
                <a:latin typeface="+mn-ea"/>
                <a:ea typeface="+mn-ea"/>
                <a:cs typeface="Cambria Math" panose="02040503050406030204" pitchFamily="18" charset="0"/>
              </a:rPr>
              <a:t>𝑟</a:t>
            </a:r>
            <a:r>
              <a:rPr lang="zh-CN" altLang="zh-CN" kern="100" dirty="0">
                <a:latin typeface="+mn-ea"/>
                <a:ea typeface="+mn-ea"/>
              </a:rPr>
              <a:t>不大于</a:t>
            </a:r>
            <a:r>
              <a:rPr lang="en-US" altLang="zh-CN" kern="100" dirty="0">
                <a:latin typeface="+mn-ea"/>
                <a:ea typeface="+mn-ea"/>
              </a:rPr>
              <a:t>30ns</a:t>
            </a:r>
            <a:r>
              <a:rPr lang="zh-CN" altLang="zh-CN" kern="100" dirty="0">
                <a:latin typeface="+mn-ea"/>
                <a:ea typeface="+mn-ea"/>
              </a:rPr>
              <a:t>，过冲σ不大于</a:t>
            </a:r>
            <a:r>
              <a:rPr lang="en-US" altLang="zh-CN" kern="100" dirty="0">
                <a:latin typeface="+mn-ea"/>
                <a:ea typeface="+mn-ea"/>
              </a:rPr>
              <a:t>5</a:t>
            </a:r>
            <a:r>
              <a:rPr lang="en-US" altLang="zh-CN" kern="100" dirty="0" smtClean="0">
                <a:latin typeface="+mn-ea"/>
                <a:ea typeface="+mn-ea"/>
              </a:rPr>
              <a:t>%</a:t>
            </a:r>
            <a:r>
              <a:rPr lang="zh-CN" altLang="zh-CN" kern="100" dirty="0" smtClean="0">
                <a:latin typeface="+mn-ea"/>
                <a:ea typeface="+mn-ea"/>
              </a:rPr>
              <a:t> </a:t>
            </a:r>
            <a:endParaRPr lang="zh-CN" altLang="zh-CN" kern="100" dirty="0">
              <a:latin typeface="+mn-ea"/>
              <a:ea typeface="+mn-ea"/>
            </a:endParaRPr>
          </a:p>
        </p:txBody>
      </p:sp>
      <p:sp>
        <p:nvSpPr>
          <p:cNvPr id="6" name="矩形 5"/>
          <p:cNvSpPr/>
          <p:nvPr/>
        </p:nvSpPr>
        <p:spPr>
          <a:xfrm>
            <a:off x="454648" y="374477"/>
            <a:ext cx="4140999" cy="637675"/>
          </a:xfrm>
          <a:prstGeom prst="rect">
            <a:avLst/>
          </a:prstGeom>
        </p:spPr>
        <p:txBody>
          <a:bodyPr wrap="square">
            <a:spAutoFit/>
          </a:bodyPr>
          <a:lstStyle/>
          <a:p>
            <a:pPr>
              <a:lnSpc>
                <a:spcPct val="150000"/>
              </a:lnSpc>
            </a:pPr>
            <a:r>
              <a:rPr lang="zh-CN" altLang="en-US" sz="2800" dirty="0">
                <a:solidFill>
                  <a:srgbClr val="FF0000"/>
                </a:solidFill>
                <a:latin typeface="隶书" panose="02010509060101010101" pitchFamily="49" charset="-122"/>
                <a:ea typeface="隶书" panose="02010509060101010101" pitchFamily="49" charset="-122"/>
              </a:rPr>
              <a:t>三、仪器类题目举例</a:t>
            </a:r>
            <a:endParaRPr lang="en-US" altLang="zh-CN" sz="2800" dirty="0">
              <a:solidFill>
                <a:srgbClr val="FF0000"/>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2666971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p:sp>
        <p:nvSpPr>
          <p:cNvPr id="5" name="矩形 4"/>
          <p:cNvSpPr/>
          <p:nvPr/>
        </p:nvSpPr>
        <p:spPr>
          <a:xfrm>
            <a:off x="343323" y="482152"/>
            <a:ext cx="8307296" cy="497700"/>
          </a:xfrm>
          <a:prstGeom prst="rect">
            <a:avLst/>
          </a:prstGeom>
        </p:spPr>
        <p:txBody>
          <a:bodyPr wrap="square">
            <a:spAutoFit/>
          </a:bodyPr>
          <a:lstStyle/>
          <a:p>
            <a:pPr>
              <a:lnSpc>
                <a:spcPct val="150000"/>
              </a:lnSpc>
            </a:pPr>
            <a:r>
              <a:rPr lang="en-US" altLang="zh-CN" dirty="0" smtClean="0"/>
              <a:t>2013</a:t>
            </a:r>
            <a:r>
              <a:rPr lang="zh-CN" altLang="zh-CN" dirty="0"/>
              <a:t>年全国赛</a:t>
            </a:r>
            <a:r>
              <a:rPr lang="en-US" altLang="zh-CN" dirty="0"/>
              <a:t>E</a:t>
            </a:r>
            <a:r>
              <a:rPr lang="zh-CN" altLang="zh-CN" dirty="0"/>
              <a:t>题  简易频率特性测试仪</a:t>
            </a:r>
            <a:endParaRPr lang="zh-CN" altLang="en-US" sz="900" dirty="0">
              <a:latin typeface="+mn-ea"/>
            </a:endParaRPr>
          </a:p>
        </p:txBody>
      </p:sp>
      <p:pic>
        <p:nvPicPr>
          <p:cNvPr id="6" name="图片 5"/>
          <p:cNvPicPr/>
          <p:nvPr/>
        </p:nvPicPr>
        <p:blipFill>
          <a:blip r:embed="rId2"/>
          <a:stretch>
            <a:fillRect/>
          </a:stretch>
        </p:blipFill>
        <p:spPr>
          <a:xfrm>
            <a:off x="792387" y="1229789"/>
            <a:ext cx="7016194" cy="2039684"/>
          </a:xfrm>
          <a:prstGeom prst="rect">
            <a:avLst/>
          </a:prstGeom>
        </p:spPr>
      </p:pic>
      <p:sp>
        <p:nvSpPr>
          <p:cNvPr id="7" name="矩形 6"/>
          <p:cNvSpPr/>
          <p:nvPr/>
        </p:nvSpPr>
        <p:spPr>
          <a:xfrm>
            <a:off x="343323" y="3412366"/>
            <a:ext cx="8307296" cy="2862322"/>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kern="100" dirty="0" smtClean="0">
                <a:latin typeface="+mn-ea"/>
                <a:ea typeface="+mn-ea"/>
              </a:rPr>
              <a:t>制作</a:t>
            </a:r>
            <a:r>
              <a:rPr lang="zh-CN" altLang="zh-CN" kern="100" dirty="0" smtClean="0">
                <a:latin typeface="+mn-ea"/>
                <a:ea typeface="+mn-ea"/>
              </a:rPr>
              <a:t>正交</a:t>
            </a:r>
            <a:r>
              <a:rPr lang="zh-CN" altLang="zh-CN" kern="100" dirty="0">
                <a:latin typeface="+mn-ea"/>
                <a:ea typeface="+mn-ea"/>
              </a:rPr>
              <a:t>扫频信号</a:t>
            </a:r>
            <a:r>
              <a:rPr lang="zh-CN" altLang="zh-CN" kern="100" dirty="0" smtClean="0">
                <a:latin typeface="+mn-ea"/>
                <a:ea typeface="+mn-ea"/>
              </a:rPr>
              <a:t>源</a:t>
            </a:r>
            <a:r>
              <a:rPr lang="zh-CN" altLang="en-US" kern="100" dirty="0" smtClean="0">
                <a:latin typeface="+mn-ea"/>
                <a:ea typeface="+mn-ea"/>
              </a:rPr>
              <a:t>，</a:t>
            </a:r>
            <a:r>
              <a:rPr lang="zh-CN" altLang="zh-CN" kern="100" dirty="0" smtClean="0">
                <a:latin typeface="+mn-ea"/>
                <a:ea typeface="+mn-ea"/>
              </a:rPr>
              <a:t>频率范围</a:t>
            </a:r>
            <a:r>
              <a:rPr lang="en-US" altLang="zh-CN" kern="100" dirty="0" smtClean="0">
                <a:latin typeface="+mn-ea"/>
                <a:ea typeface="+mn-ea"/>
              </a:rPr>
              <a:t>1MHz~40MHz</a:t>
            </a:r>
            <a:r>
              <a:rPr lang="zh-CN" altLang="zh-CN" kern="100" dirty="0">
                <a:latin typeface="+mn-ea"/>
                <a:ea typeface="+mn-ea"/>
              </a:rPr>
              <a:t>，频率稳定度≤</a:t>
            </a:r>
            <a:r>
              <a:rPr lang="en-US" altLang="zh-CN" kern="100" dirty="0" smtClean="0">
                <a:latin typeface="+mn-ea"/>
                <a:ea typeface="+mn-ea"/>
              </a:rPr>
              <a:t>10</a:t>
            </a:r>
            <a:r>
              <a:rPr lang="en-US" altLang="zh-CN" kern="100" baseline="30000" dirty="0" smtClean="0">
                <a:latin typeface="+mn-ea"/>
                <a:ea typeface="+mn-ea"/>
              </a:rPr>
              <a:t>-4</a:t>
            </a: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频率</a:t>
            </a:r>
            <a:r>
              <a:rPr lang="zh-CN" altLang="zh-CN" kern="100" dirty="0">
                <a:latin typeface="+mn-ea"/>
                <a:ea typeface="+mn-ea"/>
              </a:rPr>
              <a:t>可</a:t>
            </a:r>
            <a:r>
              <a:rPr lang="zh-CN" altLang="zh-CN" kern="100" dirty="0" smtClean="0">
                <a:latin typeface="+mn-ea"/>
                <a:ea typeface="+mn-ea"/>
              </a:rPr>
              <a:t>设置</a:t>
            </a:r>
            <a:r>
              <a:rPr lang="zh-CN" altLang="en-US" kern="100" dirty="0">
                <a:latin typeface="+mn-ea"/>
                <a:ea typeface="+mn-ea"/>
              </a:rPr>
              <a:t>、</a:t>
            </a:r>
            <a:r>
              <a:rPr lang="zh-CN" altLang="zh-CN" kern="100" dirty="0" smtClean="0">
                <a:latin typeface="+mn-ea"/>
                <a:ea typeface="+mn-ea"/>
              </a:rPr>
              <a:t>可</a:t>
            </a:r>
            <a:r>
              <a:rPr lang="zh-CN" altLang="zh-CN" kern="100" dirty="0">
                <a:latin typeface="+mn-ea"/>
                <a:ea typeface="+mn-ea"/>
              </a:rPr>
              <a:t>扫频</a:t>
            </a:r>
            <a:r>
              <a:rPr lang="zh-CN" altLang="zh-CN" kern="100" dirty="0" smtClean="0">
                <a:latin typeface="+mn-ea"/>
                <a:ea typeface="+mn-ea"/>
              </a:rPr>
              <a:t>，最小</a:t>
            </a:r>
            <a:r>
              <a:rPr lang="zh-CN" altLang="en-US" kern="100" dirty="0" smtClean="0">
                <a:latin typeface="+mn-ea"/>
                <a:ea typeface="+mn-ea"/>
              </a:rPr>
              <a:t>步进</a:t>
            </a:r>
            <a:r>
              <a:rPr lang="en-US" altLang="zh-CN" kern="100" dirty="0" smtClean="0">
                <a:latin typeface="+mn-ea"/>
                <a:ea typeface="+mn-ea"/>
              </a:rPr>
              <a:t>100kHz</a:t>
            </a:r>
            <a:r>
              <a:rPr lang="zh-CN" altLang="zh-CN" kern="100" dirty="0" smtClean="0">
                <a:latin typeface="+mn-ea"/>
                <a:ea typeface="+mn-ea"/>
              </a:rPr>
              <a:t>。</a:t>
            </a:r>
            <a:r>
              <a:rPr lang="zh-CN" altLang="zh-CN" kern="100" dirty="0">
                <a:latin typeface="+mn-ea"/>
                <a:ea typeface="+mn-ea"/>
              </a:rPr>
              <a:t>信号电压的峰峰值≥</a:t>
            </a:r>
            <a:r>
              <a:rPr lang="en-US" altLang="zh-CN" kern="100" dirty="0">
                <a:latin typeface="+mn-ea"/>
                <a:ea typeface="+mn-ea"/>
              </a:rPr>
              <a:t>1V</a:t>
            </a:r>
            <a:r>
              <a:rPr lang="zh-CN" altLang="zh-CN" kern="100" dirty="0">
                <a:latin typeface="+mn-ea"/>
                <a:ea typeface="+mn-ea"/>
              </a:rPr>
              <a:t>，幅度平坦度≤</a:t>
            </a:r>
            <a:r>
              <a:rPr lang="en-US" altLang="zh-CN" kern="100" dirty="0">
                <a:latin typeface="+mn-ea"/>
                <a:ea typeface="+mn-ea"/>
              </a:rPr>
              <a:t>5</a:t>
            </a:r>
            <a:r>
              <a:rPr lang="en-US" altLang="zh-CN" kern="100" dirty="0" smtClean="0">
                <a:latin typeface="+mn-ea"/>
                <a:ea typeface="+mn-ea"/>
              </a:rPr>
              <a:t>%</a:t>
            </a:r>
            <a:r>
              <a:rPr lang="zh-CN" altLang="en-US" kern="100" dirty="0" smtClean="0">
                <a:latin typeface="+mn-ea"/>
                <a:ea typeface="+mn-ea"/>
              </a:rPr>
              <a:t>，</a:t>
            </a:r>
            <a:r>
              <a:rPr lang="zh-CN" altLang="zh-CN" kern="100" dirty="0" smtClean="0">
                <a:latin typeface="+mn-ea"/>
                <a:ea typeface="+mn-ea"/>
              </a:rPr>
              <a:t>相位差误差≤</a:t>
            </a:r>
            <a:r>
              <a:rPr lang="en-US" altLang="zh-CN" kern="100" dirty="0">
                <a:latin typeface="+mn-ea"/>
                <a:ea typeface="+mn-ea"/>
              </a:rPr>
              <a:t>5</a:t>
            </a:r>
            <a:r>
              <a:rPr lang="zh-CN" altLang="zh-CN" kern="100" dirty="0">
                <a:latin typeface="+mn-ea"/>
                <a:ea typeface="+mn-ea"/>
              </a:rPr>
              <a:t>º，幅度</a:t>
            </a:r>
            <a:r>
              <a:rPr lang="zh-CN" altLang="zh-CN" kern="100" dirty="0" smtClean="0">
                <a:latin typeface="+mn-ea"/>
                <a:ea typeface="+mn-ea"/>
              </a:rPr>
              <a:t>平衡误差≤</a:t>
            </a:r>
            <a:r>
              <a:rPr lang="en-US" altLang="zh-CN" kern="100" dirty="0">
                <a:latin typeface="+mn-ea"/>
                <a:ea typeface="+mn-ea"/>
              </a:rPr>
              <a:t>5</a:t>
            </a:r>
            <a:r>
              <a:rPr lang="en-US" altLang="zh-CN" kern="100" dirty="0" smtClean="0">
                <a:latin typeface="+mn-ea"/>
                <a:ea typeface="+mn-ea"/>
              </a:rPr>
              <a:t>%</a:t>
            </a:r>
            <a:endParaRPr lang="zh-CN"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en-US" kern="100" dirty="0" smtClean="0">
                <a:latin typeface="+mn-ea"/>
                <a:ea typeface="+mn-ea"/>
              </a:rPr>
              <a:t>基于上述</a:t>
            </a:r>
            <a:r>
              <a:rPr lang="zh-CN" altLang="zh-CN" kern="100" dirty="0" smtClean="0">
                <a:latin typeface="+mn-ea"/>
                <a:ea typeface="+mn-ea"/>
              </a:rPr>
              <a:t>正交</a:t>
            </a:r>
            <a:r>
              <a:rPr lang="zh-CN" altLang="zh-CN" kern="100" dirty="0">
                <a:latin typeface="+mn-ea"/>
                <a:ea typeface="+mn-ea"/>
              </a:rPr>
              <a:t>扫频信号</a:t>
            </a:r>
            <a:r>
              <a:rPr lang="zh-CN" altLang="zh-CN" kern="100" dirty="0" smtClean="0">
                <a:latin typeface="+mn-ea"/>
                <a:ea typeface="+mn-ea"/>
              </a:rPr>
              <a:t>源制作</a:t>
            </a:r>
            <a:r>
              <a:rPr lang="zh-CN" altLang="zh-CN" kern="100" dirty="0">
                <a:latin typeface="+mn-ea"/>
                <a:ea typeface="+mn-ea"/>
              </a:rPr>
              <a:t>频率特性测试</a:t>
            </a:r>
            <a:r>
              <a:rPr lang="zh-CN" altLang="zh-CN" kern="100" dirty="0" smtClean="0">
                <a:latin typeface="+mn-ea"/>
                <a:ea typeface="+mn-ea"/>
              </a:rPr>
              <a:t>仪</a:t>
            </a:r>
            <a:endParaRPr lang="zh-CN" altLang="zh-CN" kern="100" dirty="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制作</a:t>
            </a:r>
            <a:r>
              <a:rPr lang="zh-CN" altLang="zh-CN" kern="100" dirty="0">
                <a:latin typeface="+mn-ea"/>
                <a:ea typeface="+mn-ea"/>
              </a:rPr>
              <a:t>一个</a:t>
            </a:r>
            <a:r>
              <a:rPr lang="en-US" altLang="zh-CN" kern="100" dirty="0">
                <a:latin typeface="+mn-ea"/>
                <a:ea typeface="+mn-ea"/>
              </a:rPr>
              <a:t> RLC </a:t>
            </a:r>
            <a:r>
              <a:rPr lang="zh-CN" altLang="zh-CN" kern="100" dirty="0">
                <a:latin typeface="+mn-ea"/>
                <a:ea typeface="+mn-ea"/>
              </a:rPr>
              <a:t>串联</a:t>
            </a:r>
            <a:r>
              <a:rPr lang="zh-CN" altLang="zh-CN" kern="100" dirty="0" smtClean="0">
                <a:latin typeface="+mn-ea"/>
                <a:ea typeface="+mn-ea"/>
              </a:rPr>
              <a:t>谐振电路</a:t>
            </a:r>
            <a:r>
              <a:rPr lang="zh-CN" altLang="en-US" kern="100" dirty="0" smtClean="0">
                <a:latin typeface="+mn-ea"/>
                <a:ea typeface="+mn-ea"/>
              </a:rPr>
              <a:t>，对它进行</a:t>
            </a:r>
            <a:r>
              <a:rPr lang="zh-CN" altLang="zh-CN" kern="100" dirty="0" smtClean="0">
                <a:latin typeface="+mn-ea"/>
                <a:ea typeface="+mn-ea"/>
              </a:rPr>
              <a:t>扫频测量，</a:t>
            </a:r>
            <a:r>
              <a:rPr lang="zh-CN" altLang="en-US" kern="100" dirty="0" smtClean="0">
                <a:latin typeface="+mn-ea"/>
                <a:ea typeface="+mn-ea"/>
              </a:rPr>
              <a:t>定量</a:t>
            </a:r>
            <a:r>
              <a:rPr lang="zh-CN" altLang="zh-CN" kern="100" dirty="0" smtClean="0">
                <a:latin typeface="+mn-ea"/>
                <a:ea typeface="+mn-ea"/>
              </a:rPr>
              <a:t>显示</a:t>
            </a:r>
            <a:r>
              <a:rPr lang="zh-CN" altLang="zh-CN" kern="100" dirty="0">
                <a:latin typeface="+mn-ea"/>
                <a:ea typeface="+mn-ea"/>
              </a:rPr>
              <a:t>其中心</a:t>
            </a:r>
            <a:r>
              <a:rPr lang="zh-CN" altLang="zh-CN" kern="100" dirty="0" smtClean="0">
                <a:latin typeface="+mn-ea"/>
                <a:ea typeface="+mn-ea"/>
              </a:rPr>
              <a:t>频率</a:t>
            </a:r>
            <a:r>
              <a:rPr lang="zh-CN" altLang="en-US" kern="100" dirty="0" smtClean="0">
                <a:latin typeface="+mn-ea"/>
                <a:ea typeface="+mn-ea"/>
              </a:rPr>
              <a:t>、</a:t>
            </a:r>
            <a:r>
              <a:rPr lang="en-US" altLang="zh-CN" kern="100" dirty="0" smtClean="0">
                <a:latin typeface="+mn-ea"/>
                <a:ea typeface="+mn-ea"/>
              </a:rPr>
              <a:t>-3dB</a:t>
            </a:r>
            <a:r>
              <a:rPr lang="zh-CN" altLang="zh-CN" kern="100" dirty="0" smtClean="0">
                <a:latin typeface="+mn-ea"/>
                <a:ea typeface="+mn-ea"/>
              </a:rPr>
              <a:t>带宽，</a:t>
            </a:r>
            <a:r>
              <a:rPr lang="zh-CN" altLang="zh-CN" dirty="0" smtClean="0">
                <a:latin typeface="+mn-ea"/>
                <a:ea typeface="+mn-ea"/>
                <a:cs typeface="Times New Roman" panose="02020603050405020304" pitchFamily="18" charset="0"/>
              </a:rPr>
              <a:t>幅频特性曲线</a:t>
            </a:r>
            <a:r>
              <a:rPr lang="zh-CN" altLang="en-US" dirty="0" smtClean="0">
                <a:latin typeface="+mn-ea"/>
                <a:ea typeface="+mn-ea"/>
                <a:cs typeface="Times New Roman" panose="02020603050405020304" pitchFamily="18" charset="0"/>
              </a:rPr>
              <a:t>、</a:t>
            </a:r>
            <a:r>
              <a:rPr lang="zh-CN" altLang="zh-CN" dirty="0" smtClean="0">
                <a:latin typeface="+mn-ea"/>
                <a:ea typeface="+mn-ea"/>
                <a:cs typeface="Times New Roman" panose="02020603050405020304" pitchFamily="18" charset="0"/>
              </a:rPr>
              <a:t>相频特性曲线</a:t>
            </a:r>
            <a:endParaRPr lang="zh-CN" altLang="en-US" dirty="0">
              <a:latin typeface="+mn-ea"/>
              <a:ea typeface="+mn-ea"/>
            </a:endParaRPr>
          </a:p>
        </p:txBody>
      </p:sp>
    </p:spTree>
    <p:extLst>
      <p:ext uri="{BB962C8B-B14F-4D97-AF65-F5344CB8AC3E}">
        <p14:creationId xmlns:p14="http://schemas.microsoft.com/office/powerpoint/2010/main" val="3697596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5" name="矩形 4"/>
          <p:cNvSpPr/>
          <p:nvPr/>
        </p:nvSpPr>
        <p:spPr>
          <a:xfrm>
            <a:off x="468313" y="502896"/>
            <a:ext cx="5996227" cy="400110"/>
          </a:xfrm>
          <a:prstGeom prst="rect">
            <a:avLst/>
          </a:prstGeom>
        </p:spPr>
        <p:txBody>
          <a:bodyPr wrap="square">
            <a:spAutoFit/>
          </a:bodyPr>
          <a:lstStyle/>
          <a:p>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2015</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年全国赛</a:t>
            </a:r>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E</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题</a:t>
            </a:r>
            <a:r>
              <a:rPr lang="zh-CN" altLang="zh-CN" kern="0" dirty="0">
                <a:solidFill>
                  <a:srgbClr val="444444"/>
                </a:solidFill>
                <a:ea typeface="Arial Unicode MS" panose="020B0604020202020204" pitchFamily="34" charset="-122"/>
                <a:cs typeface="Tahoma" panose="020B0604030504040204" pitchFamily="34" charset="0"/>
              </a:rPr>
              <a:t>  </a:t>
            </a:r>
            <a:r>
              <a:rPr lang="en-US" altLang="zh-CN" kern="0" dirty="0">
                <a:solidFill>
                  <a:srgbClr val="444444"/>
                </a:solidFill>
                <a:ea typeface="Arial Unicode MS" panose="020B0604020202020204" pitchFamily="34" charset="-122"/>
                <a:cs typeface="Tahoma" panose="020B0604030504040204" pitchFamily="34" charset="0"/>
              </a:rPr>
              <a:t>80MHz~100MHz</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频谱分析仪</a:t>
            </a:r>
            <a:endParaRPr lang="zh-CN" altLang="en-US" dirty="0"/>
          </a:p>
        </p:txBody>
      </p:sp>
      <p:pic>
        <p:nvPicPr>
          <p:cNvPr id="6" name="图片 5"/>
          <p:cNvPicPr/>
          <p:nvPr/>
        </p:nvPicPr>
        <p:blipFill>
          <a:blip r:embed="rId2"/>
          <a:stretch>
            <a:fillRect/>
          </a:stretch>
        </p:blipFill>
        <p:spPr>
          <a:xfrm>
            <a:off x="2181402" y="994420"/>
            <a:ext cx="4478161" cy="2136906"/>
          </a:xfrm>
          <a:prstGeom prst="rect">
            <a:avLst/>
          </a:prstGeom>
        </p:spPr>
      </p:pic>
      <p:sp>
        <p:nvSpPr>
          <p:cNvPr id="7" name="矩形 6"/>
          <p:cNvSpPr/>
          <p:nvPr/>
        </p:nvSpPr>
        <p:spPr>
          <a:xfrm>
            <a:off x="369636" y="3131326"/>
            <a:ext cx="8412551" cy="3323987"/>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制作</a:t>
            </a:r>
            <a:r>
              <a:rPr lang="zh-CN" altLang="zh-CN" kern="100" dirty="0">
                <a:latin typeface="+mn-ea"/>
                <a:ea typeface="+mn-ea"/>
              </a:rPr>
              <a:t>一个基于锁相环的本振源：</a:t>
            </a:r>
          </a:p>
          <a:p>
            <a:pPr algn="just">
              <a:lnSpc>
                <a:spcPct val="150000"/>
              </a:lnSpc>
              <a:spcAft>
                <a:spcPts val="0"/>
              </a:spcAft>
            </a:pPr>
            <a:r>
              <a:rPr lang="en-US" altLang="zh-CN" kern="100" dirty="0" smtClean="0">
                <a:latin typeface="+mn-ea"/>
                <a:ea typeface="+mn-ea"/>
              </a:rPr>
              <a:t>    </a:t>
            </a:r>
            <a:r>
              <a:rPr lang="zh-CN" altLang="zh-CN" kern="100" dirty="0" smtClean="0">
                <a:latin typeface="+mn-ea"/>
                <a:ea typeface="+mn-ea"/>
              </a:rPr>
              <a:t>频率范围</a:t>
            </a:r>
            <a:r>
              <a:rPr lang="en-US" altLang="zh-CN" kern="100" dirty="0" smtClean="0">
                <a:latin typeface="+mn-ea"/>
                <a:ea typeface="+mn-ea"/>
              </a:rPr>
              <a:t> 90MHz~110MHz</a:t>
            </a:r>
            <a:r>
              <a:rPr lang="zh-CN" altLang="en-US" kern="100" dirty="0" smtClean="0">
                <a:latin typeface="+mn-ea"/>
                <a:ea typeface="+mn-ea"/>
              </a:rPr>
              <a:t>，</a:t>
            </a:r>
            <a:r>
              <a:rPr lang="zh-CN" altLang="zh-CN" kern="100" dirty="0" smtClean="0">
                <a:latin typeface="+mn-ea"/>
                <a:ea typeface="+mn-ea"/>
              </a:rPr>
              <a:t>步</a:t>
            </a:r>
            <a:r>
              <a:rPr lang="zh-CN" altLang="zh-CN" kern="100" dirty="0">
                <a:latin typeface="+mn-ea"/>
                <a:ea typeface="+mn-ea"/>
              </a:rPr>
              <a:t>进</a:t>
            </a:r>
            <a:r>
              <a:rPr lang="en-US" altLang="zh-CN" kern="100" dirty="0">
                <a:latin typeface="+mn-ea"/>
                <a:ea typeface="+mn-ea"/>
              </a:rPr>
              <a:t> </a:t>
            </a:r>
            <a:r>
              <a:rPr lang="en-US" altLang="zh-CN" kern="100" dirty="0" smtClean="0">
                <a:latin typeface="+mn-ea"/>
                <a:ea typeface="+mn-ea"/>
              </a:rPr>
              <a:t>100kHz</a:t>
            </a:r>
            <a:r>
              <a:rPr lang="zh-CN" altLang="en-US" kern="100" dirty="0" smtClean="0">
                <a:latin typeface="+mn-ea"/>
                <a:ea typeface="+mn-ea"/>
              </a:rPr>
              <a:t>，</a:t>
            </a:r>
            <a:r>
              <a:rPr lang="zh-CN" altLang="zh-CN" kern="100" dirty="0" smtClean="0">
                <a:latin typeface="+mn-ea"/>
                <a:ea typeface="+mn-ea"/>
              </a:rPr>
              <a:t>输出电压</a:t>
            </a:r>
            <a:r>
              <a:rPr lang="en-US" altLang="zh-CN" kern="100" dirty="0" smtClean="0">
                <a:latin typeface="+mn-ea"/>
                <a:ea typeface="+mn-ea"/>
              </a:rPr>
              <a:t>10~100mV </a:t>
            </a:r>
            <a:r>
              <a:rPr lang="zh-CN" altLang="zh-CN" kern="100" dirty="0" smtClean="0">
                <a:latin typeface="+mn-ea"/>
                <a:ea typeface="+mn-ea"/>
              </a:rPr>
              <a:t>可调 </a:t>
            </a:r>
            <a:endParaRPr lang="zh-CN" altLang="zh-CN" kern="100" dirty="0">
              <a:latin typeface="+mn-ea"/>
              <a:ea typeface="+mn-ea"/>
            </a:endParaRPr>
          </a:p>
          <a:p>
            <a:pPr indent="-612000" algn="just">
              <a:lnSpc>
                <a:spcPct val="150000"/>
              </a:lnSpc>
              <a:spcAft>
                <a:spcPts val="0"/>
              </a:spcAft>
            </a:pPr>
            <a:r>
              <a:rPr lang="en-US" altLang="zh-CN" kern="100" dirty="0" smtClean="0">
                <a:latin typeface="+mn-ea"/>
                <a:ea typeface="+mn-ea"/>
              </a:rPr>
              <a:t>    </a:t>
            </a:r>
            <a:r>
              <a:rPr lang="zh-CN" altLang="zh-CN" kern="100" dirty="0" smtClean="0">
                <a:latin typeface="+mn-ea"/>
                <a:ea typeface="+mn-ea"/>
              </a:rPr>
              <a:t>在</a:t>
            </a:r>
            <a:r>
              <a:rPr lang="zh-CN" altLang="zh-CN" kern="100" dirty="0">
                <a:latin typeface="+mn-ea"/>
                <a:ea typeface="+mn-ea"/>
              </a:rPr>
              <a:t>整个频率范围内可自动扫描；</a:t>
            </a:r>
            <a:r>
              <a:rPr lang="zh-CN" altLang="zh-CN" kern="100" dirty="0" smtClean="0">
                <a:latin typeface="+mn-ea"/>
                <a:ea typeface="+mn-ea"/>
              </a:rPr>
              <a:t>扫描时间</a:t>
            </a:r>
            <a:r>
              <a:rPr lang="en-US" altLang="zh-CN" kern="100" dirty="0" smtClean="0">
                <a:latin typeface="+mn-ea"/>
                <a:ea typeface="+mn-ea"/>
              </a:rPr>
              <a:t>1~5s</a:t>
            </a:r>
            <a:r>
              <a:rPr lang="zh-CN" altLang="zh-CN" kern="100" dirty="0" smtClean="0">
                <a:latin typeface="+mn-ea"/>
                <a:ea typeface="+mn-ea"/>
              </a:rPr>
              <a:t>可</a:t>
            </a:r>
            <a:r>
              <a:rPr lang="zh-CN" altLang="zh-CN" kern="100" dirty="0">
                <a:latin typeface="+mn-ea"/>
                <a:ea typeface="+mn-ea"/>
              </a:rPr>
              <a:t>调；可手动扫描</a:t>
            </a:r>
            <a:r>
              <a:rPr lang="zh-CN" altLang="zh-CN" kern="100" dirty="0" smtClean="0">
                <a:latin typeface="+mn-ea"/>
                <a:ea typeface="+mn-ea"/>
              </a:rPr>
              <a:t>；还</a:t>
            </a:r>
            <a:r>
              <a:rPr lang="zh-CN" altLang="zh-CN" kern="100" dirty="0">
                <a:latin typeface="+mn-ea"/>
                <a:ea typeface="+mn-ea"/>
              </a:rPr>
              <a:t>可预置在某一特定</a:t>
            </a:r>
            <a:r>
              <a:rPr lang="zh-CN" altLang="zh-CN" kern="100" dirty="0" smtClean="0">
                <a:latin typeface="+mn-ea"/>
                <a:ea typeface="+mn-ea"/>
              </a:rPr>
              <a:t>频率</a:t>
            </a:r>
            <a:endParaRPr lang="en-US" altLang="zh-CN" kern="100" dirty="0" smtClean="0">
              <a:latin typeface="+mn-ea"/>
              <a:ea typeface="+mn-ea"/>
            </a:endParaRPr>
          </a:p>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制作</a:t>
            </a:r>
            <a:r>
              <a:rPr lang="zh-CN" altLang="zh-CN" kern="100" dirty="0">
                <a:latin typeface="+mn-ea"/>
                <a:ea typeface="+mn-ea"/>
              </a:rPr>
              <a:t>一个</a:t>
            </a:r>
            <a:r>
              <a:rPr lang="en-US" altLang="zh-CN" kern="100" dirty="0">
                <a:latin typeface="+mn-ea"/>
                <a:ea typeface="+mn-ea"/>
              </a:rPr>
              <a:t> 80MHz~100MHz </a:t>
            </a:r>
            <a:r>
              <a:rPr lang="zh-CN" altLang="zh-CN" kern="100" dirty="0" smtClean="0">
                <a:latin typeface="+mn-ea"/>
                <a:ea typeface="+mn-ea"/>
              </a:rPr>
              <a:t>频谱分析仪 </a:t>
            </a:r>
            <a:endParaRPr lang="zh-CN" altLang="zh-CN" kern="100" dirty="0">
              <a:latin typeface="+mn-ea"/>
              <a:ea typeface="+mn-ea"/>
            </a:endParaRPr>
          </a:p>
          <a:p>
            <a:pPr algn="just">
              <a:lnSpc>
                <a:spcPct val="150000"/>
              </a:lnSpc>
              <a:spcAft>
                <a:spcPts val="0"/>
              </a:spcAft>
            </a:pPr>
            <a:r>
              <a:rPr lang="en-US" altLang="zh-CN" kern="100" dirty="0" smtClean="0">
                <a:latin typeface="+mn-ea"/>
                <a:ea typeface="+mn-ea"/>
              </a:rPr>
              <a:t>    </a:t>
            </a:r>
            <a:r>
              <a:rPr lang="zh-CN" altLang="zh-CN" kern="100" dirty="0" smtClean="0">
                <a:latin typeface="+mn-ea"/>
                <a:ea typeface="+mn-ea"/>
              </a:rPr>
              <a:t>频率</a:t>
            </a:r>
            <a:r>
              <a:rPr lang="zh-CN" altLang="zh-CN" kern="100" dirty="0">
                <a:latin typeface="+mn-ea"/>
                <a:ea typeface="+mn-ea"/>
              </a:rPr>
              <a:t>范围</a:t>
            </a:r>
            <a:r>
              <a:rPr lang="en-US" altLang="zh-CN" kern="100" dirty="0">
                <a:latin typeface="+mn-ea"/>
                <a:ea typeface="+mn-ea"/>
              </a:rPr>
              <a:t>     80MHz~100MHz</a:t>
            </a:r>
            <a:r>
              <a:rPr lang="zh-CN" altLang="zh-CN" kern="100" dirty="0">
                <a:latin typeface="+mn-ea"/>
                <a:ea typeface="+mn-ea"/>
              </a:rPr>
              <a:t>；</a:t>
            </a:r>
            <a:r>
              <a:rPr lang="en-US" altLang="zh-CN" kern="100" dirty="0">
                <a:latin typeface="+mn-ea"/>
                <a:ea typeface="+mn-ea"/>
              </a:rPr>
              <a:t>        </a:t>
            </a:r>
            <a:endParaRPr lang="zh-CN" altLang="zh-CN" kern="100" dirty="0">
              <a:latin typeface="+mn-ea"/>
              <a:ea typeface="+mn-ea"/>
            </a:endParaRPr>
          </a:p>
          <a:p>
            <a:pPr>
              <a:lnSpc>
                <a:spcPct val="150000"/>
              </a:lnSpc>
            </a:pPr>
            <a:r>
              <a:rPr lang="en-US" altLang="zh-CN" dirty="0" smtClean="0">
                <a:latin typeface="+mn-ea"/>
                <a:ea typeface="+mn-ea"/>
                <a:cs typeface="Times New Roman" panose="02020603050405020304" pitchFamily="18" charset="0"/>
              </a:rPr>
              <a:t>    </a:t>
            </a:r>
            <a:r>
              <a:rPr lang="zh-CN" altLang="zh-CN" dirty="0" smtClean="0">
                <a:latin typeface="+mn-ea"/>
                <a:ea typeface="+mn-ea"/>
                <a:cs typeface="Times New Roman" panose="02020603050405020304" pitchFamily="18" charset="0"/>
              </a:rPr>
              <a:t>分辨率</a:t>
            </a:r>
            <a:r>
              <a:rPr lang="en-US" altLang="zh-CN" dirty="0" smtClean="0">
                <a:latin typeface="+mn-ea"/>
                <a:ea typeface="+mn-ea"/>
              </a:rPr>
              <a:t>       </a:t>
            </a:r>
            <a:r>
              <a:rPr lang="en-US" altLang="zh-CN" dirty="0">
                <a:latin typeface="+mn-ea"/>
                <a:ea typeface="+mn-ea"/>
              </a:rPr>
              <a:t>100kHz</a:t>
            </a:r>
            <a:endParaRPr lang="zh-CN" altLang="en-US" dirty="0">
              <a:latin typeface="+mn-ea"/>
              <a:ea typeface="+mn-ea"/>
            </a:endParaRPr>
          </a:p>
        </p:txBody>
      </p:sp>
    </p:spTree>
    <p:extLst>
      <p:ext uri="{BB962C8B-B14F-4D97-AF65-F5344CB8AC3E}">
        <p14:creationId xmlns:p14="http://schemas.microsoft.com/office/powerpoint/2010/main" val="413517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5" name="矩形 4"/>
          <p:cNvSpPr/>
          <p:nvPr/>
        </p:nvSpPr>
        <p:spPr>
          <a:xfrm>
            <a:off x="468313" y="594994"/>
            <a:ext cx="6389687" cy="400110"/>
          </a:xfrm>
          <a:prstGeom prst="rect">
            <a:avLst/>
          </a:prstGeom>
        </p:spPr>
        <p:txBody>
          <a:bodyPr wrap="square">
            <a:spAutoFit/>
          </a:bodyPr>
          <a:lstStyle/>
          <a:p>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2020</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年</a:t>
            </a:r>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TI</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杯赛</a:t>
            </a:r>
            <a:r>
              <a:rPr lang="en-US"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E</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题</a:t>
            </a:r>
            <a:r>
              <a:rPr lang="zh-CN" altLang="zh-CN" kern="0" dirty="0">
                <a:solidFill>
                  <a:srgbClr val="444444"/>
                </a:solidFill>
                <a:ea typeface="Arial Unicode MS" panose="020B0604020202020204" pitchFamily="34" charset="-122"/>
                <a:cs typeface="Tahoma" panose="020B0604030504040204" pitchFamily="34" charset="0"/>
              </a:rPr>
              <a:t>  </a:t>
            </a:r>
            <a:r>
              <a:rPr lang="zh-CN" altLang="zh-CN" kern="0" dirty="0">
                <a:solidFill>
                  <a:srgbClr val="444444"/>
                </a:solidFill>
                <a:latin typeface="Arial Unicode MS" panose="020B0604020202020204" pitchFamily="34" charset="-122"/>
                <a:ea typeface="黑体" panose="02010609060101010101" pitchFamily="49" charset="-122"/>
                <a:cs typeface="Tahoma" panose="020B0604030504040204" pitchFamily="34" charset="0"/>
              </a:rPr>
              <a:t>放大器非线性失真研究装置</a:t>
            </a:r>
            <a:endParaRPr lang="zh-CN" altLang="en-US" dirty="0"/>
          </a:p>
        </p:txBody>
      </p:sp>
      <p:pic>
        <p:nvPicPr>
          <p:cNvPr id="6" name="图片 5"/>
          <p:cNvPicPr/>
          <p:nvPr/>
        </p:nvPicPr>
        <p:blipFill>
          <a:blip r:embed="rId2"/>
          <a:stretch>
            <a:fillRect/>
          </a:stretch>
        </p:blipFill>
        <p:spPr>
          <a:xfrm>
            <a:off x="2458385" y="1064288"/>
            <a:ext cx="4201177" cy="2731459"/>
          </a:xfrm>
          <a:prstGeom prst="rect">
            <a:avLst/>
          </a:prstGeom>
        </p:spPr>
      </p:pic>
      <p:sp>
        <p:nvSpPr>
          <p:cNvPr id="7" name="矩形 6"/>
          <p:cNvSpPr/>
          <p:nvPr/>
        </p:nvSpPr>
        <p:spPr>
          <a:xfrm>
            <a:off x="468313" y="3857891"/>
            <a:ext cx="8280982" cy="2400657"/>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kern="100" dirty="0" smtClean="0">
                <a:latin typeface="+mn-ea"/>
                <a:ea typeface="+mn-ea"/>
              </a:rPr>
              <a:t>外</a:t>
            </a:r>
            <a:r>
              <a:rPr lang="zh-CN" altLang="zh-CN" kern="100" dirty="0">
                <a:latin typeface="+mn-ea"/>
                <a:ea typeface="+mn-ea"/>
              </a:rPr>
              <a:t>接信号源输出频率</a:t>
            </a:r>
            <a:r>
              <a:rPr lang="en-US" altLang="zh-CN" kern="100" dirty="0">
                <a:latin typeface="+mn-ea"/>
                <a:ea typeface="+mn-ea"/>
              </a:rPr>
              <a:t>1kHz</a:t>
            </a:r>
            <a:r>
              <a:rPr lang="zh-CN" altLang="zh-CN" kern="100" dirty="0">
                <a:latin typeface="+mn-ea"/>
                <a:ea typeface="+mn-ea"/>
              </a:rPr>
              <a:t>、峰峰值</a:t>
            </a:r>
            <a:r>
              <a:rPr lang="en-US" altLang="zh-CN" kern="100" dirty="0">
                <a:latin typeface="+mn-ea"/>
                <a:ea typeface="+mn-ea"/>
              </a:rPr>
              <a:t>20mV</a:t>
            </a:r>
            <a:r>
              <a:rPr lang="zh-CN" altLang="zh-CN" kern="100" dirty="0">
                <a:latin typeface="+mn-ea"/>
                <a:ea typeface="+mn-ea"/>
              </a:rPr>
              <a:t>的正弦波作为晶体管放大器输入</a:t>
            </a:r>
            <a:r>
              <a:rPr lang="zh-CN" altLang="zh-CN" kern="100" dirty="0" smtClean="0">
                <a:latin typeface="+mn-ea"/>
                <a:ea typeface="+mn-ea"/>
              </a:rPr>
              <a:t>电压，要求</a:t>
            </a:r>
            <a:r>
              <a:rPr lang="zh-CN" altLang="en-US" kern="100" dirty="0" smtClean="0">
                <a:latin typeface="+mn-ea"/>
                <a:ea typeface="+mn-ea"/>
              </a:rPr>
              <a:t>能够</a:t>
            </a:r>
            <a:r>
              <a:rPr lang="zh-CN" altLang="zh-CN" kern="100" dirty="0" smtClean="0">
                <a:latin typeface="+mn-ea"/>
                <a:ea typeface="+mn-ea"/>
              </a:rPr>
              <a:t>输出</a:t>
            </a:r>
            <a:r>
              <a:rPr lang="zh-CN" altLang="zh-CN" kern="100" dirty="0">
                <a:latin typeface="+mn-ea"/>
                <a:ea typeface="+mn-ea"/>
              </a:rPr>
              <a:t>无明显</a:t>
            </a:r>
            <a:r>
              <a:rPr lang="zh-CN" altLang="zh-CN" kern="100" dirty="0" smtClean="0">
                <a:latin typeface="+mn-ea"/>
                <a:ea typeface="+mn-ea"/>
              </a:rPr>
              <a:t>失真</a:t>
            </a:r>
            <a:r>
              <a:rPr lang="zh-CN" altLang="en-US" kern="100" dirty="0" smtClean="0">
                <a:latin typeface="+mn-ea"/>
                <a:ea typeface="+mn-ea"/>
              </a:rPr>
              <a:t>波形</a:t>
            </a:r>
            <a:r>
              <a:rPr lang="zh-CN" altLang="zh-CN" kern="100" dirty="0" smtClean="0">
                <a:latin typeface="+mn-ea"/>
                <a:ea typeface="+mn-ea"/>
              </a:rPr>
              <a:t>及</a:t>
            </a:r>
            <a:r>
              <a:rPr lang="zh-CN" altLang="zh-CN" kern="100" dirty="0">
                <a:latin typeface="+mn-ea"/>
                <a:ea typeface="+mn-ea"/>
              </a:rPr>
              <a:t>四种失真</a:t>
            </a:r>
            <a:r>
              <a:rPr lang="zh-CN" altLang="zh-CN" kern="100" dirty="0" smtClean="0">
                <a:latin typeface="+mn-ea"/>
                <a:ea typeface="+mn-ea"/>
              </a:rPr>
              <a:t>波形，</a:t>
            </a:r>
            <a:r>
              <a:rPr lang="en-US" altLang="zh-CN" i="1" kern="100" dirty="0" err="1" smtClean="0">
                <a:latin typeface="+mn-ea"/>
                <a:ea typeface="+mn-ea"/>
              </a:rPr>
              <a:t>u</a:t>
            </a:r>
            <a:r>
              <a:rPr lang="en-US" altLang="zh-CN" i="1" kern="100" baseline="-25000" dirty="0" err="1" smtClean="0">
                <a:latin typeface="+mn-ea"/>
                <a:ea typeface="+mn-ea"/>
              </a:rPr>
              <a:t>o</a:t>
            </a:r>
            <a:r>
              <a:rPr lang="zh-CN" altLang="zh-CN" kern="100" dirty="0">
                <a:latin typeface="+mn-ea"/>
                <a:ea typeface="+mn-ea"/>
              </a:rPr>
              <a:t>的峰峰值不低于</a:t>
            </a:r>
            <a:r>
              <a:rPr lang="en-US" altLang="zh-CN" kern="100" dirty="0" smtClean="0">
                <a:latin typeface="+mn-ea"/>
                <a:ea typeface="+mn-ea"/>
              </a:rPr>
              <a:t>2V</a:t>
            </a:r>
            <a:r>
              <a:rPr lang="zh-CN" altLang="en-US" kern="100" dirty="0" smtClean="0">
                <a:latin typeface="+mn-ea"/>
                <a:ea typeface="+mn-ea"/>
              </a:rPr>
              <a:t>。四种失真分别为</a:t>
            </a:r>
            <a:r>
              <a:rPr lang="zh-CN" altLang="zh-CN" kern="100" dirty="0" smtClean="0">
                <a:latin typeface="+mn-ea"/>
                <a:ea typeface="+mn-ea"/>
              </a:rPr>
              <a:t>“顶部失真”</a:t>
            </a:r>
            <a:r>
              <a:rPr lang="zh-CN" altLang="en-US" kern="100" dirty="0" smtClean="0">
                <a:latin typeface="+mn-ea"/>
                <a:ea typeface="+mn-ea"/>
              </a:rPr>
              <a:t>、</a:t>
            </a:r>
            <a:r>
              <a:rPr lang="zh-CN" altLang="zh-CN" kern="100" dirty="0" smtClean="0">
                <a:latin typeface="+mn-ea"/>
                <a:ea typeface="+mn-ea"/>
              </a:rPr>
              <a:t>“底部失真”</a:t>
            </a:r>
            <a:r>
              <a:rPr lang="zh-CN" altLang="en-US" kern="100" dirty="0" smtClean="0">
                <a:latin typeface="+mn-ea"/>
                <a:ea typeface="+mn-ea"/>
              </a:rPr>
              <a:t>、</a:t>
            </a:r>
            <a:r>
              <a:rPr lang="zh-CN" altLang="zh-CN" kern="100" dirty="0" smtClean="0">
                <a:latin typeface="+mn-ea"/>
                <a:ea typeface="+mn-ea"/>
              </a:rPr>
              <a:t>“双向失真”</a:t>
            </a:r>
            <a:r>
              <a:rPr lang="zh-CN" altLang="en-US" kern="100" dirty="0" smtClean="0">
                <a:latin typeface="+mn-ea"/>
                <a:ea typeface="+mn-ea"/>
              </a:rPr>
              <a:t>、</a:t>
            </a:r>
            <a:r>
              <a:rPr lang="zh-CN" altLang="zh-CN" kern="100" dirty="0" smtClean="0">
                <a:latin typeface="+mn-ea"/>
                <a:ea typeface="+mn-ea"/>
              </a:rPr>
              <a:t>“交越失真”</a:t>
            </a:r>
            <a:endParaRPr lang="zh-CN" altLang="zh-CN" kern="100" dirty="0">
              <a:latin typeface="+mn-ea"/>
              <a:ea typeface="+mn-ea"/>
            </a:endParaRPr>
          </a:p>
          <a:p>
            <a:pPr marL="342900" indent="-342900">
              <a:lnSpc>
                <a:spcPct val="150000"/>
              </a:lnSpc>
              <a:buFont typeface="Arial" panose="020B0604020202020204" pitchFamily="34" charset="0"/>
              <a:buChar char="•"/>
            </a:pPr>
            <a:r>
              <a:rPr lang="zh-CN" altLang="zh-CN" dirty="0" smtClean="0">
                <a:latin typeface="+mn-ea"/>
                <a:ea typeface="+mn-ea"/>
                <a:cs typeface="Times New Roman" panose="02020603050405020304" pitchFamily="18" charset="0"/>
              </a:rPr>
              <a:t>分别</a:t>
            </a:r>
            <a:r>
              <a:rPr lang="zh-CN" altLang="zh-CN" dirty="0">
                <a:latin typeface="+mn-ea"/>
                <a:ea typeface="+mn-ea"/>
                <a:cs typeface="Times New Roman" panose="02020603050405020304" pitchFamily="18" charset="0"/>
              </a:rPr>
              <a:t>测量并显示上述五种输出电压</a:t>
            </a:r>
            <a:r>
              <a:rPr lang="en-US" altLang="zh-CN" i="1" dirty="0" err="1">
                <a:latin typeface="+mn-ea"/>
                <a:ea typeface="+mn-ea"/>
              </a:rPr>
              <a:t>u</a:t>
            </a:r>
            <a:r>
              <a:rPr lang="en-US" altLang="zh-CN" i="1" baseline="-25000" dirty="0" err="1">
                <a:latin typeface="+mn-ea"/>
                <a:ea typeface="+mn-ea"/>
              </a:rPr>
              <a:t>o</a:t>
            </a:r>
            <a:r>
              <a:rPr lang="zh-CN" altLang="zh-CN" dirty="0">
                <a:latin typeface="+mn-ea"/>
                <a:ea typeface="+mn-ea"/>
                <a:cs typeface="Times New Roman" panose="02020603050405020304" pitchFamily="18" charset="0"/>
              </a:rPr>
              <a:t>的“总谐波失真”近似值</a:t>
            </a:r>
            <a:endParaRPr lang="zh-CN" altLang="en-US" dirty="0">
              <a:latin typeface="+mn-ea"/>
              <a:ea typeface="+mn-ea"/>
            </a:endParaRPr>
          </a:p>
        </p:txBody>
      </p:sp>
    </p:spTree>
    <p:extLst>
      <p:ext uri="{BB962C8B-B14F-4D97-AF65-F5344CB8AC3E}">
        <p14:creationId xmlns:p14="http://schemas.microsoft.com/office/powerpoint/2010/main" val="15627927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sp>
        <p:nvSpPr>
          <p:cNvPr id="6" name="矩形 5"/>
          <p:cNvSpPr/>
          <p:nvPr/>
        </p:nvSpPr>
        <p:spPr>
          <a:xfrm>
            <a:off x="430999" y="295107"/>
            <a:ext cx="4140999" cy="637675"/>
          </a:xfrm>
          <a:prstGeom prst="rect">
            <a:avLst/>
          </a:prstGeom>
        </p:spPr>
        <p:txBody>
          <a:bodyPr wrap="square">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四、涉及的电子技术</a:t>
            </a:r>
            <a:endParaRPr lang="en-US" altLang="zh-CN" sz="2800" dirty="0">
              <a:solidFill>
                <a:srgbClr val="FF0000"/>
              </a:solidFill>
              <a:latin typeface="隶书" panose="02010509060101010101" pitchFamily="49" charset="-122"/>
              <a:ea typeface="隶书" panose="02010509060101010101" pitchFamily="49"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788305119"/>
              </p:ext>
            </p:extLst>
          </p:nvPr>
        </p:nvGraphicFramePr>
        <p:xfrm>
          <a:off x="130630" y="990833"/>
          <a:ext cx="8889998" cy="5308366"/>
        </p:xfrm>
        <a:graphic>
          <a:graphicData uri="http://schemas.openxmlformats.org/drawingml/2006/table">
            <a:tbl>
              <a:tblPr>
                <a:tableStyleId>{5C22544A-7EE6-4342-B048-85BDC9FD1C3A}</a:tableStyleId>
              </a:tblPr>
              <a:tblGrid>
                <a:gridCol w="853168">
                  <a:extLst>
                    <a:ext uri="{9D8B030D-6E8A-4147-A177-3AD203B41FA5}">
                      <a16:colId xmlns:a16="http://schemas.microsoft.com/office/drawing/2014/main" val="254975328"/>
                    </a:ext>
                  </a:extLst>
                </a:gridCol>
                <a:gridCol w="1057927">
                  <a:extLst>
                    <a:ext uri="{9D8B030D-6E8A-4147-A177-3AD203B41FA5}">
                      <a16:colId xmlns:a16="http://schemas.microsoft.com/office/drawing/2014/main" val="4187689726"/>
                    </a:ext>
                  </a:extLst>
                </a:gridCol>
                <a:gridCol w="546026">
                  <a:extLst>
                    <a:ext uri="{9D8B030D-6E8A-4147-A177-3AD203B41FA5}">
                      <a16:colId xmlns:a16="http://schemas.microsoft.com/office/drawing/2014/main" val="3270281176"/>
                    </a:ext>
                  </a:extLst>
                </a:gridCol>
                <a:gridCol w="546026">
                  <a:extLst>
                    <a:ext uri="{9D8B030D-6E8A-4147-A177-3AD203B41FA5}">
                      <a16:colId xmlns:a16="http://schemas.microsoft.com/office/drawing/2014/main" val="1078034538"/>
                    </a:ext>
                  </a:extLst>
                </a:gridCol>
                <a:gridCol w="546026">
                  <a:extLst>
                    <a:ext uri="{9D8B030D-6E8A-4147-A177-3AD203B41FA5}">
                      <a16:colId xmlns:a16="http://schemas.microsoft.com/office/drawing/2014/main" val="405754744"/>
                    </a:ext>
                  </a:extLst>
                </a:gridCol>
                <a:gridCol w="443647">
                  <a:extLst>
                    <a:ext uri="{9D8B030D-6E8A-4147-A177-3AD203B41FA5}">
                      <a16:colId xmlns:a16="http://schemas.microsoft.com/office/drawing/2014/main" val="2899246934"/>
                    </a:ext>
                  </a:extLst>
                </a:gridCol>
                <a:gridCol w="546026">
                  <a:extLst>
                    <a:ext uri="{9D8B030D-6E8A-4147-A177-3AD203B41FA5}">
                      <a16:colId xmlns:a16="http://schemas.microsoft.com/office/drawing/2014/main" val="4286777002"/>
                    </a:ext>
                  </a:extLst>
                </a:gridCol>
                <a:gridCol w="392456">
                  <a:extLst>
                    <a:ext uri="{9D8B030D-6E8A-4147-A177-3AD203B41FA5}">
                      <a16:colId xmlns:a16="http://schemas.microsoft.com/office/drawing/2014/main" val="2535016717"/>
                    </a:ext>
                  </a:extLst>
                </a:gridCol>
                <a:gridCol w="443647">
                  <a:extLst>
                    <a:ext uri="{9D8B030D-6E8A-4147-A177-3AD203B41FA5}">
                      <a16:colId xmlns:a16="http://schemas.microsoft.com/office/drawing/2014/main" val="3800036647"/>
                    </a:ext>
                  </a:extLst>
                </a:gridCol>
                <a:gridCol w="392456">
                  <a:extLst>
                    <a:ext uri="{9D8B030D-6E8A-4147-A177-3AD203B41FA5}">
                      <a16:colId xmlns:a16="http://schemas.microsoft.com/office/drawing/2014/main" val="54382426"/>
                    </a:ext>
                  </a:extLst>
                </a:gridCol>
                <a:gridCol w="290077">
                  <a:extLst>
                    <a:ext uri="{9D8B030D-6E8A-4147-A177-3AD203B41FA5}">
                      <a16:colId xmlns:a16="http://schemas.microsoft.com/office/drawing/2014/main" val="3332019294"/>
                    </a:ext>
                  </a:extLst>
                </a:gridCol>
                <a:gridCol w="290077">
                  <a:extLst>
                    <a:ext uri="{9D8B030D-6E8A-4147-A177-3AD203B41FA5}">
                      <a16:colId xmlns:a16="http://schemas.microsoft.com/office/drawing/2014/main" val="2528989505"/>
                    </a:ext>
                  </a:extLst>
                </a:gridCol>
                <a:gridCol w="341267">
                  <a:extLst>
                    <a:ext uri="{9D8B030D-6E8A-4147-A177-3AD203B41FA5}">
                      <a16:colId xmlns:a16="http://schemas.microsoft.com/office/drawing/2014/main" val="2433931374"/>
                    </a:ext>
                  </a:extLst>
                </a:gridCol>
                <a:gridCol w="443647">
                  <a:extLst>
                    <a:ext uri="{9D8B030D-6E8A-4147-A177-3AD203B41FA5}">
                      <a16:colId xmlns:a16="http://schemas.microsoft.com/office/drawing/2014/main" val="1677032850"/>
                    </a:ext>
                  </a:extLst>
                </a:gridCol>
                <a:gridCol w="290077">
                  <a:extLst>
                    <a:ext uri="{9D8B030D-6E8A-4147-A177-3AD203B41FA5}">
                      <a16:colId xmlns:a16="http://schemas.microsoft.com/office/drawing/2014/main" val="2177031227"/>
                    </a:ext>
                  </a:extLst>
                </a:gridCol>
                <a:gridCol w="290077">
                  <a:extLst>
                    <a:ext uri="{9D8B030D-6E8A-4147-A177-3AD203B41FA5}">
                      <a16:colId xmlns:a16="http://schemas.microsoft.com/office/drawing/2014/main" val="3375888847"/>
                    </a:ext>
                  </a:extLst>
                </a:gridCol>
                <a:gridCol w="290077">
                  <a:extLst>
                    <a:ext uri="{9D8B030D-6E8A-4147-A177-3AD203B41FA5}">
                      <a16:colId xmlns:a16="http://schemas.microsoft.com/office/drawing/2014/main" val="2303823570"/>
                    </a:ext>
                  </a:extLst>
                </a:gridCol>
                <a:gridCol w="443647">
                  <a:extLst>
                    <a:ext uri="{9D8B030D-6E8A-4147-A177-3AD203B41FA5}">
                      <a16:colId xmlns:a16="http://schemas.microsoft.com/office/drawing/2014/main" val="3724940261"/>
                    </a:ext>
                  </a:extLst>
                </a:gridCol>
                <a:gridCol w="443647">
                  <a:extLst>
                    <a:ext uri="{9D8B030D-6E8A-4147-A177-3AD203B41FA5}">
                      <a16:colId xmlns:a16="http://schemas.microsoft.com/office/drawing/2014/main" val="1994282185"/>
                    </a:ext>
                  </a:extLst>
                </a:gridCol>
              </a:tblGrid>
              <a:tr h="284492">
                <a:tc>
                  <a:txBody>
                    <a:bodyPr/>
                    <a:lstStyle/>
                    <a:p>
                      <a:pPr algn="ctr" fontAlgn="ctr"/>
                      <a:r>
                        <a:rPr lang="zh-CN" altLang="en-US" sz="700" u="none" strike="noStrike">
                          <a:effectLst/>
                        </a:rPr>
                        <a:t>年届</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题目</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低频放大器</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高频放大器</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锁定放大器</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滤波器</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调制与解调</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乘法器</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锁相环</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振荡器</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700" u="none" strike="noStrike">
                          <a:effectLst/>
                        </a:rPr>
                        <a:t>DDS</a:t>
                      </a:r>
                      <a:endParaRPr 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700" u="none" strike="noStrike">
                          <a:effectLst/>
                        </a:rPr>
                        <a:t>ADC</a:t>
                      </a:r>
                      <a:endParaRPr 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单片机</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数据压缩</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700" u="none" strike="noStrike">
                          <a:effectLst/>
                        </a:rPr>
                        <a:t>FFT</a:t>
                      </a:r>
                      <a:endParaRPr 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蓝牙</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700" u="none" strike="noStrike">
                          <a:effectLst/>
                        </a:rPr>
                        <a:t>WIFI</a:t>
                      </a:r>
                      <a:endParaRPr 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数字电路</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700" u="none" strike="noStrike">
                          <a:effectLst/>
                        </a:rPr>
                        <a:t>开关电源</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304282704"/>
                  </a:ext>
                </a:extLst>
              </a:tr>
              <a:tr h="226300">
                <a:tc>
                  <a:txBody>
                    <a:bodyPr/>
                    <a:lstStyle/>
                    <a:p>
                      <a:pPr algn="l" fontAlgn="ctr"/>
                      <a:r>
                        <a:rPr lang="en-US" altLang="zh-CN" sz="800" u="none" strike="noStrike" dirty="0">
                          <a:effectLst/>
                        </a:rPr>
                        <a:t>2010</a:t>
                      </a:r>
                      <a:r>
                        <a:rPr lang="zh-CN" altLang="en-US" sz="800" u="none" strike="noStrike" dirty="0">
                          <a:effectLst/>
                        </a:rPr>
                        <a:t>年</a:t>
                      </a:r>
                      <a:r>
                        <a:rPr lang="en-US" altLang="zh-CN" sz="800" u="none" strike="noStrike" dirty="0">
                          <a:effectLst/>
                        </a:rPr>
                        <a:t>TI</a:t>
                      </a:r>
                      <a:r>
                        <a:rPr lang="zh-CN" altLang="en-US" sz="800" u="none" strike="noStrike" dirty="0">
                          <a:effectLst/>
                        </a:rPr>
                        <a:t>杯</a:t>
                      </a:r>
                      <a:r>
                        <a:rPr lang="en-US" altLang="zh-CN" sz="800" u="none" strike="noStrike" dirty="0">
                          <a:effectLst/>
                        </a:rPr>
                        <a:t>A</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宽带放大器</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宽带</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471175271"/>
                  </a:ext>
                </a:extLst>
              </a:tr>
              <a:tr h="219835">
                <a:tc>
                  <a:txBody>
                    <a:bodyPr/>
                    <a:lstStyle/>
                    <a:p>
                      <a:pPr algn="l" fontAlgn="ctr"/>
                      <a:r>
                        <a:rPr lang="en-US" altLang="zh-CN" sz="800" u="none" strike="noStrike" dirty="0">
                          <a:effectLst/>
                        </a:rPr>
                        <a:t>2010</a:t>
                      </a:r>
                      <a:r>
                        <a:rPr lang="zh-CN" altLang="en-US" sz="800" u="none" strike="noStrike" dirty="0">
                          <a:effectLst/>
                        </a:rPr>
                        <a:t>年</a:t>
                      </a:r>
                      <a:r>
                        <a:rPr lang="en-US" altLang="zh-CN" sz="800" u="none" strike="noStrike" dirty="0">
                          <a:effectLst/>
                        </a:rPr>
                        <a:t>TI</a:t>
                      </a:r>
                      <a:r>
                        <a:rPr lang="zh-CN" altLang="en-US" sz="800" u="none" strike="noStrike" dirty="0">
                          <a:effectLst/>
                        </a:rPr>
                        <a:t>杯</a:t>
                      </a:r>
                      <a:r>
                        <a:rPr lang="en-US" altLang="zh-CN" sz="800" u="none" strike="noStrike" dirty="0">
                          <a:effectLst/>
                        </a:rPr>
                        <a:t>C</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信号波形合成实验电路</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有源</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方波</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800874755"/>
                  </a:ext>
                </a:extLst>
              </a:tr>
              <a:tr h="219835">
                <a:tc>
                  <a:txBody>
                    <a:bodyPr/>
                    <a:lstStyle/>
                    <a:p>
                      <a:pPr algn="l" fontAlgn="ctr"/>
                      <a:r>
                        <a:rPr lang="en-US" altLang="zh-CN" sz="800" u="none" strike="noStrike" dirty="0">
                          <a:effectLst/>
                        </a:rPr>
                        <a:t>2011</a:t>
                      </a:r>
                      <a:r>
                        <a:rPr lang="zh-CN" altLang="en-US" sz="800" u="none" strike="noStrike" dirty="0">
                          <a:effectLst/>
                        </a:rPr>
                        <a:t>年全国赛</a:t>
                      </a:r>
                      <a:r>
                        <a:rPr lang="en-US" sz="800" u="none" strike="noStrike" dirty="0">
                          <a:effectLst/>
                        </a:rPr>
                        <a:t>D</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en-US" sz="800" u="none" strike="noStrike" dirty="0">
                          <a:effectLst/>
                        </a:rPr>
                        <a:t>LC</a:t>
                      </a:r>
                      <a:r>
                        <a:rPr lang="zh-CN" altLang="en-US" sz="800" u="none" strike="noStrike" dirty="0">
                          <a:effectLst/>
                        </a:rPr>
                        <a:t>谐振放大器</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dirty="0">
                          <a:effectLst/>
                        </a:rPr>
                        <a:t>AGC</a:t>
                      </a:r>
                      <a:endParaRPr 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dirty="0">
                          <a:effectLst/>
                        </a:rPr>
                        <a:t>LC</a:t>
                      </a:r>
                      <a:endParaRPr 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210507788"/>
                  </a:ext>
                </a:extLst>
              </a:tr>
              <a:tr h="219835">
                <a:tc>
                  <a:txBody>
                    <a:bodyPr/>
                    <a:lstStyle/>
                    <a:p>
                      <a:pPr algn="l" fontAlgn="ctr"/>
                      <a:r>
                        <a:rPr lang="en-US" altLang="zh-CN" sz="800" u="none" strike="noStrike" dirty="0">
                          <a:effectLst/>
                        </a:rPr>
                        <a:t>2012</a:t>
                      </a:r>
                      <a:r>
                        <a:rPr lang="zh-CN" altLang="en-US" sz="800" u="none" strike="noStrike" dirty="0">
                          <a:effectLst/>
                        </a:rPr>
                        <a:t>年</a:t>
                      </a:r>
                      <a:r>
                        <a:rPr lang="en-US" altLang="zh-CN" sz="800" u="none" strike="noStrike" dirty="0">
                          <a:effectLst/>
                        </a:rPr>
                        <a:t>TI</a:t>
                      </a:r>
                      <a:r>
                        <a:rPr lang="zh-CN" altLang="en-US" sz="800" u="none" strike="noStrike" dirty="0">
                          <a:effectLst/>
                        </a:rPr>
                        <a:t>杯</a:t>
                      </a:r>
                      <a:r>
                        <a:rPr lang="en-US" altLang="zh-CN" sz="800" u="none" strike="noStrike" dirty="0">
                          <a:effectLst/>
                        </a:rPr>
                        <a:t>A</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微弱信号检测装置</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762931093"/>
                  </a:ext>
                </a:extLst>
              </a:tr>
              <a:tr h="219835">
                <a:tc>
                  <a:txBody>
                    <a:bodyPr/>
                    <a:lstStyle/>
                    <a:p>
                      <a:pPr algn="l" fontAlgn="ctr"/>
                      <a:r>
                        <a:rPr lang="en-US" altLang="zh-CN" sz="800" u="none" strike="noStrike" dirty="0">
                          <a:effectLst/>
                        </a:rPr>
                        <a:t>2012</a:t>
                      </a:r>
                      <a:r>
                        <a:rPr lang="zh-CN" altLang="en-US" sz="800" u="none" strike="noStrike" dirty="0">
                          <a:effectLst/>
                        </a:rPr>
                        <a:t>年</a:t>
                      </a:r>
                      <a:r>
                        <a:rPr lang="en-US" altLang="zh-CN" sz="800" u="none" strike="noStrike" dirty="0">
                          <a:effectLst/>
                        </a:rPr>
                        <a:t>TI</a:t>
                      </a:r>
                      <a:r>
                        <a:rPr lang="zh-CN" altLang="en-US" sz="800" u="none" strike="noStrike" dirty="0">
                          <a:effectLst/>
                        </a:rPr>
                        <a:t>杯</a:t>
                      </a:r>
                      <a:r>
                        <a:rPr lang="en-US" altLang="zh-CN" sz="800" u="none" strike="noStrike" dirty="0">
                          <a:effectLst/>
                        </a:rPr>
                        <a:t>D</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声音定位系统</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有源</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464817475"/>
                  </a:ext>
                </a:extLst>
              </a:tr>
              <a:tr h="219835">
                <a:tc>
                  <a:txBody>
                    <a:bodyPr/>
                    <a:lstStyle/>
                    <a:p>
                      <a:pPr algn="l" fontAlgn="ctr"/>
                      <a:r>
                        <a:rPr lang="en-US" altLang="zh-CN" sz="800" u="none" strike="noStrike" dirty="0">
                          <a:effectLst/>
                        </a:rPr>
                        <a:t>2012</a:t>
                      </a:r>
                      <a:r>
                        <a:rPr lang="zh-CN" altLang="en-US" sz="800" u="none" strike="noStrike" dirty="0">
                          <a:effectLst/>
                        </a:rPr>
                        <a:t>年</a:t>
                      </a:r>
                      <a:r>
                        <a:rPr lang="en-US" altLang="zh-CN" sz="800" u="none" strike="noStrike" dirty="0">
                          <a:effectLst/>
                        </a:rPr>
                        <a:t>TI</a:t>
                      </a:r>
                      <a:r>
                        <a:rPr lang="zh-CN" altLang="en-US" sz="800" u="none" strike="noStrike" dirty="0">
                          <a:effectLst/>
                        </a:rPr>
                        <a:t>杯</a:t>
                      </a:r>
                      <a:r>
                        <a:rPr lang="en-US" altLang="zh-CN" sz="800" u="none" strike="noStrike" dirty="0">
                          <a:effectLst/>
                        </a:rPr>
                        <a:t>B</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频率补偿电路</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有源</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970517528"/>
                  </a:ext>
                </a:extLst>
              </a:tr>
              <a:tr h="433204">
                <a:tc>
                  <a:txBody>
                    <a:bodyPr/>
                    <a:lstStyle/>
                    <a:p>
                      <a:pPr algn="l" fontAlgn="ctr"/>
                      <a:r>
                        <a:rPr lang="en-US" altLang="zh-CN" sz="800" u="none" strike="noStrike" dirty="0">
                          <a:effectLst/>
                        </a:rPr>
                        <a:t>2013</a:t>
                      </a:r>
                      <a:r>
                        <a:rPr lang="zh-CN" altLang="en-US" sz="800" u="none" strike="noStrike" dirty="0">
                          <a:effectLst/>
                        </a:rPr>
                        <a:t>年全国赛</a:t>
                      </a:r>
                      <a:r>
                        <a:rPr lang="en-US" sz="800" u="none" strike="noStrike" dirty="0">
                          <a:effectLst/>
                        </a:rPr>
                        <a:t>D</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射频宽带放大器</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可变增益、宽带</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dirty="0">
                          <a:effectLst/>
                        </a:rPr>
                        <a:t>LC</a:t>
                      </a:r>
                      <a:endParaRPr 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902635198"/>
                  </a:ext>
                </a:extLst>
              </a:tr>
              <a:tr h="433204">
                <a:tc>
                  <a:txBody>
                    <a:bodyPr/>
                    <a:lstStyle/>
                    <a:p>
                      <a:pPr algn="l" fontAlgn="ctr"/>
                      <a:r>
                        <a:rPr lang="en-US" altLang="zh-CN" sz="800" u="none" strike="noStrike" dirty="0">
                          <a:effectLst/>
                        </a:rPr>
                        <a:t>2013</a:t>
                      </a:r>
                      <a:r>
                        <a:rPr lang="zh-CN" altLang="en-US" sz="800" u="none" strike="noStrike" dirty="0">
                          <a:effectLst/>
                        </a:rPr>
                        <a:t>年全国赛</a:t>
                      </a:r>
                      <a:r>
                        <a:rPr lang="en-US" sz="800" u="none" strike="noStrike" dirty="0">
                          <a:effectLst/>
                        </a:rPr>
                        <a:t>G</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手写绘图板</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小信号、仪表、功率</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有源</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低频</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769570681"/>
                  </a:ext>
                </a:extLst>
              </a:tr>
              <a:tr h="219835">
                <a:tc>
                  <a:txBody>
                    <a:bodyPr/>
                    <a:lstStyle/>
                    <a:p>
                      <a:pPr algn="l" fontAlgn="ctr"/>
                      <a:r>
                        <a:rPr lang="en-US" altLang="zh-CN" sz="800" u="none" strike="noStrike" dirty="0">
                          <a:effectLst/>
                        </a:rPr>
                        <a:t>2013</a:t>
                      </a:r>
                      <a:r>
                        <a:rPr lang="zh-CN" altLang="en-US" sz="800" u="none" strike="noStrike" dirty="0">
                          <a:effectLst/>
                        </a:rPr>
                        <a:t>年全国赛</a:t>
                      </a:r>
                      <a:r>
                        <a:rPr lang="en-US" sz="800" u="none" strike="noStrike" dirty="0">
                          <a:effectLst/>
                        </a:rPr>
                        <a:t>F</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红外光通信装置</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音频</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341141153"/>
                  </a:ext>
                </a:extLst>
              </a:tr>
              <a:tr h="219835">
                <a:tc>
                  <a:txBody>
                    <a:bodyPr/>
                    <a:lstStyle/>
                    <a:p>
                      <a:pPr algn="l" fontAlgn="ctr"/>
                      <a:r>
                        <a:rPr lang="en-US" altLang="zh-CN" sz="800" u="none" strike="noStrike" dirty="0">
                          <a:effectLst/>
                        </a:rPr>
                        <a:t>2013</a:t>
                      </a:r>
                      <a:r>
                        <a:rPr lang="zh-CN" altLang="en-US" sz="800" u="none" strike="noStrike" dirty="0">
                          <a:effectLst/>
                        </a:rPr>
                        <a:t>年全国赛</a:t>
                      </a:r>
                      <a:r>
                        <a:rPr lang="en-US" sz="800" u="none" strike="noStrike" dirty="0">
                          <a:effectLst/>
                        </a:rPr>
                        <a:t>E</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简易频率特性测试仪</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有源</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543559516"/>
                  </a:ext>
                </a:extLst>
              </a:tr>
              <a:tr h="219835">
                <a:tc>
                  <a:txBody>
                    <a:bodyPr/>
                    <a:lstStyle/>
                    <a:p>
                      <a:pPr algn="l" fontAlgn="ctr"/>
                      <a:r>
                        <a:rPr lang="en-US" altLang="zh-CN" sz="800" u="none" strike="noStrike" dirty="0">
                          <a:effectLst/>
                        </a:rPr>
                        <a:t>2014</a:t>
                      </a:r>
                      <a:r>
                        <a:rPr lang="zh-CN" altLang="en-US" sz="800" u="none" strike="noStrike" dirty="0">
                          <a:effectLst/>
                        </a:rPr>
                        <a:t>年</a:t>
                      </a:r>
                      <a:r>
                        <a:rPr lang="en-US" altLang="zh-CN" sz="800" u="none" strike="noStrike" dirty="0">
                          <a:effectLst/>
                        </a:rPr>
                        <a:t>TI</a:t>
                      </a:r>
                      <a:r>
                        <a:rPr lang="zh-CN" altLang="en-US" sz="800" u="none" strike="noStrike" dirty="0">
                          <a:effectLst/>
                        </a:rPr>
                        <a:t>杯</a:t>
                      </a:r>
                      <a:r>
                        <a:rPr lang="en-US" altLang="zh-CN" sz="800" u="none" strike="noStrike" dirty="0">
                          <a:effectLst/>
                        </a:rPr>
                        <a:t>C</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锁定放大器的设计</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388401695"/>
                  </a:ext>
                </a:extLst>
              </a:tr>
              <a:tr h="433204">
                <a:tc>
                  <a:txBody>
                    <a:bodyPr/>
                    <a:lstStyle/>
                    <a:p>
                      <a:pPr algn="l" fontAlgn="ctr"/>
                      <a:r>
                        <a:rPr lang="en-US" altLang="zh-CN" sz="800" u="none" strike="noStrike" dirty="0">
                          <a:effectLst/>
                        </a:rPr>
                        <a:t>2015</a:t>
                      </a:r>
                      <a:r>
                        <a:rPr lang="zh-CN" altLang="en-US" sz="800" u="none" strike="noStrike" dirty="0">
                          <a:effectLst/>
                        </a:rPr>
                        <a:t>年全国赛</a:t>
                      </a:r>
                      <a:r>
                        <a:rPr lang="en-US" sz="800" u="none" strike="noStrike" dirty="0">
                          <a:effectLst/>
                        </a:rPr>
                        <a:t>D</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增益可控射频放大器</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可变增益、宽带</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dirty="0">
                          <a:effectLst/>
                        </a:rPr>
                        <a:t>LC</a:t>
                      </a:r>
                      <a:endParaRPr 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237510244"/>
                  </a:ext>
                </a:extLst>
              </a:tr>
              <a:tr h="433204">
                <a:tc>
                  <a:txBody>
                    <a:bodyPr/>
                    <a:lstStyle/>
                    <a:p>
                      <a:pPr algn="l" fontAlgn="ctr"/>
                      <a:r>
                        <a:rPr lang="en-US" altLang="zh-CN" sz="800" u="none" strike="noStrike" dirty="0">
                          <a:effectLst/>
                        </a:rPr>
                        <a:t>2015</a:t>
                      </a:r>
                      <a:r>
                        <a:rPr lang="zh-CN" altLang="en-US" sz="800" u="none" strike="noStrike" dirty="0">
                          <a:effectLst/>
                        </a:rPr>
                        <a:t>年全国赛</a:t>
                      </a:r>
                      <a:r>
                        <a:rPr lang="en-US" sz="800" u="none" strike="noStrike" dirty="0">
                          <a:effectLst/>
                        </a:rPr>
                        <a:t>E</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en-US" sz="800" u="none" strike="noStrike" dirty="0">
                          <a:effectLst/>
                        </a:rPr>
                        <a:t>80MHz~100MHz</a:t>
                      </a:r>
                      <a:r>
                        <a:rPr lang="zh-CN" altLang="en-US" sz="800" u="none" strike="noStrike" dirty="0">
                          <a:effectLst/>
                        </a:rPr>
                        <a:t>频谱分析仪</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dirty="0">
                          <a:effectLst/>
                        </a:rPr>
                        <a:t>LC</a:t>
                      </a:r>
                      <a:endParaRPr 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混频</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频率合成</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942812901"/>
                  </a:ext>
                </a:extLst>
              </a:tr>
              <a:tr h="219835">
                <a:tc>
                  <a:txBody>
                    <a:bodyPr/>
                    <a:lstStyle/>
                    <a:p>
                      <a:pPr algn="l" fontAlgn="ctr"/>
                      <a:r>
                        <a:rPr lang="en-US" altLang="zh-CN" sz="800" u="none" strike="noStrike" dirty="0">
                          <a:effectLst/>
                        </a:rPr>
                        <a:t>2015</a:t>
                      </a:r>
                      <a:r>
                        <a:rPr lang="zh-CN" altLang="en-US" sz="800" u="none" strike="noStrike" dirty="0">
                          <a:effectLst/>
                        </a:rPr>
                        <a:t>年全国赛</a:t>
                      </a:r>
                      <a:r>
                        <a:rPr lang="en-US" sz="800" u="none" strike="noStrike" dirty="0">
                          <a:effectLst/>
                        </a:rPr>
                        <a:t>F</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数字频率计</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高速</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891965988"/>
                  </a:ext>
                </a:extLst>
              </a:tr>
              <a:tr h="219835">
                <a:tc>
                  <a:txBody>
                    <a:bodyPr/>
                    <a:lstStyle/>
                    <a:p>
                      <a:pPr algn="l" fontAlgn="ctr"/>
                      <a:r>
                        <a:rPr lang="en-US" altLang="zh-CN" sz="800" u="none" strike="noStrike" dirty="0">
                          <a:effectLst/>
                        </a:rPr>
                        <a:t>2016</a:t>
                      </a:r>
                      <a:r>
                        <a:rPr lang="zh-CN" altLang="en-US" sz="800" u="none" strike="noStrike" dirty="0">
                          <a:effectLst/>
                        </a:rPr>
                        <a:t>年江苏省</a:t>
                      </a:r>
                      <a:r>
                        <a:rPr lang="en-US" sz="800" u="none" strike="noStrike" dirty="0">
                          <a:effectLst/>
                        </a:rPr>
                        <a:t>F</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位同步时钟提取电路</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有源</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同步恢复</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565477180"/>
                  </a:ext>
                </a:extLst>
              </a:tr>
              <a:tr h="433204">
                <a:tc>
                  <a:txBody>
                    <a:bodyPr/>
                    <a:lstStyle/>
                    <a:p>
                      <a:pPr algn="l" fontAlgn="ctr"/>
                      <a:r>
                        <a:rPr lang="en-US" altLang="zh-CN" sz="800" u="none" strike="noStrike" dirty="0">
                          <a:effectLst/>
                        </a:rPr>
                        <a:t>2016</a:t>
                      </a:r>
                      <a:r>
                        <a:rPr lang="zh-CN" altLang="en-US" sz="800" u="none" strike="noStrike" dirty="0">
                          <a:effectLst/>
                        </a:rPr>
                        <a:t>年上海市</a:t>
                      </a:r>
                      <a:r>
                        <a:rPr lang="en-US" sz="800" u="none" strike="noStrike" dirty="0">
                          <a:effectLst/>
                        </a:rPr>
                        <a:t>B</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dirty="0">
                          <a:effectLst/>
                        </a:rPr>
                        <a:t>短波频段数字通信系统设计</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频率合成同步恢复</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25084087"/>
                  </a:ext>
                </a:extLst>
              </a:tr>
              <a:tr h="433204">
                <a:tc>
                  <a:txBody>
                    <a:bodyPr/>
                    <a:lstStyle/>
                    <a:p>
                      <a:pPr algn="l" fontAlgn="ctr"/>
                      <a:r>
                        <a:rPr lang="en-US" altLang="zh-CN" sz="800" u="none" strike="noStrike" dirty="0">
                          <a:effectLst/>
                        </a:rPr>
                        <a:t>2016</a:t>
                      </a:r>
                      <a:r>
                        <a:rPr lang="zh-CN" altLang="en-US" sz="800" u="none" strike="noStrike" dirty="0">
                          <a:effectLst/>
                        </a:rPr>
                        <a:t>年安徽省</a:t>
                      </a:r>
                      <a:r>
                        <a:rPr lang="en-US" sz="800" u="none" strike="noStrike" dirty="0">
                          <a:effectLst/>
                        </a:rPr>
                        <a:t>C</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en-US" altLang="zh-CN" sz="800" u="none" strike="noStrike" dirty="0">
                          <a:effectLst/>
                        </a:rPr>
                        <a:t>PAM4</a:t>
                      </a:r>
                      <a:r>
                        <a:rPr lang="zh-CN" altLang="en-US" sz="800" u="none" strike="noStrike" dirty="0">
                          <a:effectLst/>
                        </a:rPr>
                        <a:t>信号调制解调电路</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813192715"/>
                  </a:ext>
                </a:extLst>
              </a:tr>
            </a:tbl>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099182465"/>
              </p:ext>
            </p:extLst>
          </p:nvPr>
        </p:nvGraphicFramePr>
        <p:xfrm>
          <a:off x="130630" y="1045829"/>
          <a:ext cx="8889998" cy="224758"/>
        </p:xfrm>
        <a:graphic>
          <a:graphicData uri="http://schemas.openxmlformats.org/presentationml/2006/ole">
            <mc:AlternateContent xmlns:mc="http://schemas.openxmlformats.org/markup-compatibility/2006">
              <mc:Choice xmlns:v="urn:schemas-microsoft-com:vml" Requires="v">
                <p:oleObj spid="_x0000_s1029" name="工作表" r:id="rId3" imgW="13131680" imgH="285924" progId="Excel.Sheet.12">
                  <p:embed/>
                </p:oleObj>
              </mc:Choice>
              <mc:Fallback>
                <p:oleObj name="工作表" r:id="rId3" imgW="13131680" imgH="285924" progId="Excel.Sheet.12">
                  <p:embed/>
                  <p:pic>
                    <p:nvPicPr>
                      <p:cNvPr id="0" name=""/>
                      <p:cNvPicPr/>
                      <p:nvPr/>
                    </p:nvPicPr>
                    <p:blipFill>
                      <a:blip r:embed="rId4"/>
                      <a:stretch>
                        <a:fillRect/>
                      </a:stretch>
                    </p:blipFill>
                    <p:spPr>
                      <a:xfrm>
                        <a:off x="130630" y="1045829"/>
                        <a:ext cx="8889998" cy="224758"/>
                      </a:xfrm>
                      <a:prstGeom prst="rect">
                        <a:avLst/>
                      </a:prstGeom>
                    </p:spPr>
                  </p:pic>
                </p:oleObj>
              </mc:Fallback>
            </mc:AlternateContent>
          </a:graphicData>
        </a:graphic>
      </p:graphicFrame>
    </p:spTree>
    <p:extLst>
      <p:ext uri="{BB962C8B-B14F-4D97-AF65-F5344CB8AC3E}">
        <p14:creationId xmlns:p14="http://schemas.microsoft.com/office/powerpoint/2010/main" val="21256968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2621451104"/>
              </p:ext>
            </p:extLst>
          </p:nvPr>
        </p:nvGraphicFramePr>
        <p:xfrm>
          <a:off x="195942" y="907147"/>
          <a:ext cx="8759379" cy="5013429"/>
        </p:xfrm>
        <a:graphic>
          <a:graphicData uri="http://schemas.openxmlformats.org/drawingml/2006/table">
            <a:tbl>
              <a:tblPr>
                <a:tableStyleId>{5C22544A-7EE6-4342-B048-85BDC9FD1C3A}</a:tableStyleId>
              </a:tblPr>
              <a:tblGrid>
                <a:gridCol w="840632">
                  <a:extLst>
                    <a:ext uri="{9D8B030D-6E8A-4147-A177-3AD203B41FA5}">
                      <a16:colId xmlns:a16="http://schemas.microsoft.com/office/drawing/2014/main" val="2296113000"/>
                    </a:ext>
                  </a:extLst>
                </a:gridCol>
                <a:gridCol w="1042383">
                  <a:extLst>
                    <a:ext uri="{9D8B030D-6E8A-4147-A177-3AD203B41FA5}">
                      <a16:colId xmlns:a16="http://schemas.microsoft.com/office/drawing/2014/main" val="489552724"/>
                    </a:ext>
                  </a:extLst>
                </a:gridCol>
                <a:gridCol w="538004">
                  <a:extLst>
                    <a:ext uri="{9D8B030D-6E8A-4147-A177-3AD203B41FA5}">
                      <a16:colId xmlns:a16="http://schemas.microsoft.com/office/drawing/2014/main" val="4158680729"/>
                    </a:ext>
                  </a:extLst>
                </a:gridCol>
                <a:gridCol w="538004">
                  <a:extLst>
                    <a:ext uri="{9D8B030D-6E8A-4147-A177-3AD203B41FA5}">
                      <a16:colId xmlns:a16="http://schemas.microsoft.com/office/drawing/2014/main" val="2525380838"/>
                    </a:ext>
                  </a:extLst>
                </a:gridCol>
                <a:gridCol w="538004">
                  <a:extLst>
                    <a:ext uri="{9D8B030D-6E8A-4147-A177-3AD203B41FA5}">
                      <a16:colId xmlns:a16="http://schemas.microsoft.com/office/drawing/2014/main" val="966272967"/>
                    </a:ext>
                  </a:extLst>
                </a:gridCol>
                <a:gridCol w="437128">
                  <a:extLst>
                    <a:ext uri="{9D8B030D-6E8A-4147-A177-3AD203B41FA5}">
                      <a16:colId xmlns:a16="http://schemas.microsoft.com/office/drawing/2014/main" val="1298766386"/>
                    </a:ext>
                  </a:extLst>
                </a:gridCol>
                <a:gridCol w="538004">
                  <a:extLst>
                    <a:ext uri="{9D8B030D-6E8A-4147-A177-3AD203B41FA5}">
                      <a16:colId xmlns:a16="http://schemas.microsoft.com/office/drawing/2014/main" val="455995928"/>
                    </a:ext>
                  </a:extLst>
                </a:gridCol>
                <a:gridCol w="386690">
                  <a:extLst>
                    <a:ext uri="{9D8B030D-6E8A-4147-A177-3AD203B41FA5}">
                      <a16:colId xmlns:a16="http://schemas.microsoft.com/office/drawing/2014/main" val="3923582687"/>
                    </a:ext>
                  </a:extLst>
                </a:gridCol>
                <a:gridCol w="437128">
                  <a:extLst>
                    <a:ext uri="{9D8B030D-6E8A-4147-A177-3AD203B41FA5}">
                      <a16:colId xmlns:a16="http://schemas.microsoft.com/office/drawing/2014/main" val="1247217039"/>
                    </a:ext>
                  </a:extLst>
                </a:gridCol>
                <a:gridCol w="386690">
                  <a:extLst>
                    <a:ext uri="{9D8B030D-6E8A-4147-A177-3AD203B41FA5}">
                      <a16:colId xmlns:a16="http://schemas.microsoft.com/office/drawing/2014/main" val="2563926591"/>
                    </a:ext>
                  </a:extLst>
                </a:gridCol>
                <a:gridCol w="285815">
                  <a:extLst>
                    <a:ext uri="{9D8B030D-6E8A-4147-A177-3AD203B41FA5}">
                      <a16:colId xmlns:a16="http://schemas.microsoft.com/office/drawing/2014/main" val="1612983807"/>
                    </a:ext>
                  </a:extLst>
                </a:gridCol>
                <a:gridCol w="285815">
                  <a:extLst>
                    <a:ext uri="{9D8B030D-6E8A-4147-A177-3AD203B41FA5}">
                      <a16:colId xmlns:a16="http://schemas.microsoft.com/office/drawing/2014/main" val="4176839578"/>
                    </a:ext>
                  </a:extLst>
                </a:gridCol>
                <a:gridCol w="336253">
                  <a:extLst>
                    <a:ext uri="{9D8B030D-6E8A-4147-A177-3AD203B41FA5}">
                      <a16:colId xmlns:a16="http://schemas.microsoft.com/office/drawing/2014/main" val="404248507"/>
                    </a:ext>
                  </a:extLst>
                </a:gridCol>
                <a:gridCol w="437128">
                  <a:extLst>
                    <a:ext uri="{9D8B030D-6E8A-4147-A177-3AD203B41FA5}">
                      <a16:colId xmlns:a16="http://schemas.microsoft.com/office/drawing/2014/main" val="1924576071"/>
                    </a:ext>
                  </a:extLst>
                </a:gridCol>
                <a:gridCol w="285815">
                  <a:extLst>
                    <a:ext uri="{9D8B030D-6E8A-4147-A177-3AD203B41FA5}">
                      <a16:colId xmlns:a16="http://schemas.microsoft.com/office/drawing/2014/main" val="768091562"/>
                    </a:ext>
                  </a:extLst>
                </a:gridCol>
                <a:gridCol w="285815">
                  <a:extLst>
                    <a:ext uri="{9D8B030D-6E8A-4147-A177-3AD203B41FA5}">
                      <a16:colId xmlns:a16="http://schemas.microsoft.com/office/drawing/2014/main" val="3492614976"/>
                    </a:ext>
                  </a:extLst>
                </a:gridCol>
                <a:gridCol w="285815">
                  <a:extLst>
                    <a:ext uri="{9D8B030D-6E8A-4147-A177-3AD203B41FA5}">
                      <a16:colId xmlns:a16="http://schemas.microsoft.com/office/drawing/2014/main" val="2751349568"/>
                    </a:ext>
                  </a:extLst>
                </a:gridCol>
                <a:gridCol w="437128">
                  <a:extLst>
                    <a:ext uri="{9D8B030D-6E8A-4147-A177-3AD203B41FA5}">
                      <a16:colId xmlns:a16="http://schemas.microsoft.com/office/drawing/2014/main" val="1958771229"/>
                    </a:ext>
                  </a:extLst>
                </a:gridCol>
                <a:gridCol w="437128">
                  <a:extLst>
                    <a:ext uri="{9D8B030D-6E8A-4147-A177-3AD203B41FA5}">
                      <a16:colId xmlns:a16="http://schemas.microsoft.com/office/drawing/2014/main" val="3922909257"/>
                    </a:ext>
                  </a:extLst>
                </a:gridCol>
              </a:tblGrid>
              <a:tr h="208571">
                <a:tc>
                  <a:txBody>
                    <a:bodyPr/>
                    <a:lstStyle/>
                    <a:p>
                      <a:pPr algn="l" fontAlgn="ctr"/>
                      <a:r>
                        <a:rPr lang="en-US" altLang="zh-CN" sz="800" u="none" strike="noStrike" dirty="0">
                          <a:effectLst/>
                        </a:rPr>
                        <a:t>2016</a:t>
                      </a:r>
                      <a:r>
                        <a:rPr lang="zh-CN" altLang="en-US" sz="800" u="none" strike="noStrike" dirty="0">
                          <a:effectLst/>
                        </a:rPr>
                        <a:t>年</a:t>
                      </a:r>
                      <a:r>
                        <a:rPr lang="en-US" altLang="zh-CN" sz="800" u="none" strike="noStrike" dirty="0">
                          <a:effectLst/>
                        </a:rPr>
                        <a:t>TI</a:t>
                      </a:r>
                      <a:r>
                        <a:rPr lang="zh-CN" altLang="en-US" sz="800" u="none" strike="noStrike" dirty="0">
                          <a:effectLst/>
                        </a:rPr>
                        <a:t>杯</a:t>
                      </a:r>
                      <a:r>
                        <a:rPr lang="en-US" altLang="zh-CN" sz="800" u="none" strike="noStrike" dirty="0">
                          <a:effectLst/>
                        </a:rPr>
                        <a:t>C</a:t>
                      </a:r>
                      <a:r>
                        <a:rPr lang="zh-CN" altLang="en-US" sz="800" u="none" strike="noStrike" dirty="0">
                          <a:effectLst/>
                        </a:rPr>
                        <a:t>题</a:t>
                      </a:r>
                      <a:endParaRPr lang="zh-CN" altLang="en-US" sz="800" b="0" i="0" u="none" strike="noStrike" dirty="0">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频率特性测试仪</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358470193"/>
                  </a:ext>
                </a:extLst>
              </a:tr>
              <a:tr h="208571">
                <a:tc>
                  <a:txBody>
                    <a:bodyPr/>
                    <a:lstStyle/>
                    <a:p>
                      <a:pPr algn="l" fontAlgn="ctr"/>
                      <a:r>
                        <a:rPr lang="en-US" altLang="zh-CN" sz="800" u="none" strike="noStrike">
                          <a:effectLst/>
                        </a:rPr>
                        <a:t>2016</a:t>
                      </a:r>
                      <a:r>
                        <a:rPr lang="zh-CN" altLang="en-US" sz="800" u="none" strike="noStrike">
                          <a:effectLst/>
                        </a:rPr>
                        <a:t>年上海市</a:t>
                      </a:r>
                      <a:r>
                        <a:rPr lang="en-US" sz="800" u="none" strike="noStrike">
                          <a:effectLst/>
                        </a:rPr>
                        <a:t>C</a:t>
                      </a:r>
                      <a:r>
                        <a:rPr lang="zh-CN" altLang="en-US" sz="800" u="none" strike="noStrike">
                          <a:effectLst/>
                        </a:rPr>
                        <a:t>题</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脉冲信号参数测量仪</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高速</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978730154"/>
                  </a:ext>
                </a:extLst>
              </a:tr>
              <a:tr h="411007">
                <a:tc>
                  <a:txBody>
                    <a:bodyPr/>
                    <a:lstStyle/>
                    <a:p>
                      <a:pPr algn="l" fontAlgn="ctr"/>
                      <a:r>
                        <a:rPr lang="en-US" altLang="zh-CN" sz="800" u="none" strike="noStrike">
                          <a:effectLst/>
                        </a:rPr>
                        <a:t>2016</a:t>
                      </a:r>
                      <a:r>
                        <a:rPr lang="zh-CN" altLang="en-US" sz="800" u="none" strike="noStrike">
                          <a:effectLst/>
                        </a:rPr>
                        <a:t>年</a:t>
                      </a:r>
                      <a:r>
                        <a:rPr lang="en-US" altLang="zh-CN" sz="800" u="none" strike="noStrike">
                          <a:effectLst/>
                        </a:rPr>
                        <a:t>TI</a:t>
                      </a:r>
                      <a:r>
                        <a:rPr lang="zh-CN" altLang="en-US" sz="800" u="none" strike="noStrike">
                          <a:effectLst/>
                        </a:rPr>
                        <a:t>杯</a:t>
                      </a:r>
                      <a:r>
                        <a:rPr lang="en-US" altLang="zh-CN" sz="800" u="none" strike="noStrike">
                          <a:effectLst/>
                        </a:rPr>
                        <a:t>B</a:t>
                      </a:r>
                      <a:r>
                        <a:rPr lang="zh-CN" altLang="en-US" sz="800" u="none" strike="noStrike">
                          <a:effectLst/>
                        </a:rPr>
                        <a:t>题</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超声波测距仪</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altLang="zh-CN" sz="800" u="none" strike="noStrike">
                          <a:effectLst/>
                        </a:rPr>
                        <a:t>H</a:t>
                      </a:r>
                      <a:r>
                        <a:rPr lang="zh-CN" altLang="en-US" sz="800" u="none" strike="noStrike">
                          <a:effectLst/>
                        </a:rPr>
                        <a:t>桥驱动、</a:t>
                      </a:r>
                      <a:r>
                        <a:rPr lang="en-US" altLang="zh-CN" sz="800" u="none" strike="noStrike">
                          <a:effectLst/>
                        </a:rPr>
                        <a:t>AGC</a:t>
                      </a:r>
                      <a:r>
                        <a:rPr lang="zh-CN" altLang="en-US" sz="800" u="none" strike="noStrike">
                          <a:effectLst/>
                        </a:rPr>
                        <a:t>放大</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449766941"/>
                  </a:ext>
                </a:extLst>
              </a:tr>
              <a:tr h="208571">
                <a:tc>
                  <a:txBody>
                    <a:bodyPr/>
                    <a:lstStyle/>
                    <a:p>
                      <a:pPr algn="l" fontAlgn="ctr"/>
                      <a:r>
                        <a:rPr lang="en-US" altLang="zh-CN" sz="800" u="none" strike="noStrike">
                          <a:effectLst/>
                        </a:rPr>
                        <a:t>2017</a:t>
                      </a:r>
                      <a:r>
                        <a:rPr lang="zh-CN" altLang="en-US" sz="800" u="none" strike="noStrike">
                          <a:effectLst/>
                        </a:rPr>
                        <a:t>年全国赛</a:t>
                      </a:r>
                      <a:r>
                        <a:rPr lang="en-US" sz="800" u="none" strike="noStrike">
                          <a:effectLst/>
                        </a:rPr>
                        <a:t>I</a:t>
                      </a:r>
                      <a:r>
                        <a:rPr lang="zh-CN" altLang="en-US" sz="800" u="none" strike="noStrike">
                          <a:effectLst/>
                        </a:rPr>
                        <a:t>题</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可见光室内定位装置</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有源</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389898619"/>
                  </a:ext>
                </a:extLst>
              </a:tr>
              <a:tr h="208571">
                <a:tc>
                  <a:txBody>
                    <a:bodyPr/>
                    <a:lstStyle/>
                    <a:p>
                      <a:pPr algn="l" fontAlgn="ctr"/>
                      <a:r>
                        <a:rPr lang="en-US" altLang="zh-CN" sz="800" u="none" strike="noStrike">
                          <a:effectLst/>
                        </a:rPr>
                        <a:t>2017</a:t>
                      </a:r>
                      <a:r>
                        <a:rPr lang="zh-CN" altLang="en-US" sz="800" u="none" strike="noStrike">
                          <a:effectLst/>
                        </a:rPr>
                        <a:t>年全国赛</a:t>
                      </a:r>
                      <a:r>
                        <a:rPr lang="en-US" sz="800" u="none" strike="noStrike">
                          <a:effectLst/>
                        </a:rPr>
                        <a:t>F</a:t>
                      </a:r>
                      <a:r>
                        <a:rPr lang="zh-CN" altLang="en-US" sz="800" u="none" strike="noStrike">
                          <a:effectLst/>
                        </a:rPr>
                        <a:t>题</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调幅信号处理实验电路</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dirty="0">
                          <a:effectLst/>
                        </a:rPr>
                        <a:t>AGC</a:t>
                      </a:r>
                      <a:endParaRPr 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频率合成</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187918918"/>
                  </a:ext>
                </a:extLst>
              </a:tr>
              <a:tr h="411007">
                <a:tc>
                  <a:txBody>
                    <a:bodyPr/>
                    <a:lstStyle/>
                    <a:p>
                      <a:pPr algn="l" fontAlgn="ctr"/>
                      <a:r>
                        <a:rPr lang="en-US" altLang="zh-CN" sz="800" u="none" strike="noStrike">
                          <a:effectLst/>
                        </a:rPr>
                        <a:t>2017</a:t>
                      </a:r>
                      <a:r>
                        <a:rPr lang="zh-CN" altLang="en-US" sz="800" u="none" strike="noStrike">
                          <a:effectLst/>
                        </a:rPr>
                        <a:t>年全国赛</a:t>
                      </a:r>
                      <a:r>
                        <a:rPr lang="en-US" sz="800" u="none" strike="noStrike">
                          <a:effectLst/>
                        </a:rPr>
                        <a:t>H</a:t>
                      </a:r>
                      <a:r>
                        <a:rPr lang="zh-CN" altLang="en-US" sz="800" u="none" strike="noStrike">
                          <a:effectLst/>
                        </a:rPr>
                        <a:t>题</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远程幅频特性测试装置</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可变增益、宽带</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a:effectLst/>
                        </a:rPr>
                        <a:t>LC</a:t>
                      </a:r>
                      <a:endParaRPr 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检波</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频率合成</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913484650"/>
                  </a:ext>
                </a:extLst>
              </a:tr>
              <a:tr h="208571">
                <a:tc>
                  <a:txBody>
                    <a:bodyPr/>
                    <a:lstStyle/>
                    <a:p>
                      <a:pPr algn="l" fontAlgn="ctr"/>
                      <a:r>
                        <a:rPr lang="en-US" altLang="zh-CN" sz="800" u="none" strike="noStrike">
                          <a:effectLst/>
                        </a:rPr>
                        <a:t>2018</a:t>
                      </a:r>
                      <a:r>
                        <a:rPr lang="zh-CN" altLang="en-US" sz="800" u="none" strike="noStrike">
                          <a:effectLst/>
                        </a:rPr>
                        <a:t>年</a:t>
                      </a:r>
                      <a:r>
                        <a:rPr lang="en-US" altLang="zh-CN" sz="800" u="none" strike="noStrike">
                          <a:effectLst/>
                        </a:rPr>
                        <a:t>TI</a:t>
                      </a:r>
                      <a:r>
                        <a:rPr lang="zh-CN" altLang="en-US" sz="800" u="none" strike="noStrike">
                          <a:effectLst/>
                        </a:rPr>
                        <a:t>杯</a:t>
                      </a:r>
                      <a:r>
                        <a:rPr lang="en-US" altLang="zh-CN" sz="800" u="none" strike="noStrike">
                          <a:effectLst/>
                        </a:rPr>
                        <a:t>F</a:t>
                      </a:r>
                      <a:r>
                        <a:rPr lang="zh-CN" altLang="en-US" sz="800" u="none" strike="noStrike">
                          <a:effectLst/>
                        </a:rPr>
                        <a:t>题</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无线话筒扩音系统</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a:effectLst/>
                        </a:rPr>
                        <a:t>FM</a:t>
                      </a:r>
                      <a:endParaRPr 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高频</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830855919"/>
                  </a:ext>
                </a:extLst>
              </a:tr>
              <a:tr h="208571">
                <a:tc>
                  <a:txBody>
                    <a:bodyPr/>
                    <a:lstStyle/>
                    <a:p>
                      <a:pPr algn="l" fontAlgn="ctr"/>
                      <a:r>
                        <a:rPr lang="en-US" altLang="zh-CN" sz="800" u="none" strike="noStrike">
                          <a:effectLst/>
                        </a:rPr>
                        <a:t>2018</a:t>
                      </a:r>
                      <a:r>
                        <a:rPr lang="zh-CN" altLang="en-US" sz="800" u="none" strike="noStrike">
                          <a:effectLst/>
                        </a:rPr>
                        <a:t>年</a:t>
                      </a:r>
                      <a:r>
                        <a:rPr lang="en-US" altLang="zh-CN" sz="800" u="none" strike="noStrike">
                          <a:effectLst/>
                        </a:rPr>
                        <a:t>TI</a:t>
                      </a:r>
                      <a:r>
                        <a:rPr lang="zh-CN" altLang="en-US" sz="800" u="none" strike="noStrike">
                          <a:effectLst/>
                        </a:rPr>
                        <a:t>杯</a:t>
                      </a:r>
                      <a:r>
                        <a:rPr lang="en-US" altLang="zh-CN" sz="800" u="none" strike="noStrike">
                          <a:effectLst/>
                        </a:rPr>
                        <a:t>A</a:t>
                      </a:r>
                      <a:r>
                        <a:rPr lang="zh-CN" altLang="en-US" sz="800" u="none" strike="noStrike">
                          <a:effectLst/>
                        </a:rPr>
                        <a:t>题</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电流信号检测装置</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4269923687"/>
                  </a:ext>
                </a:extLst>
              </a:tr>
              <a:tr h="411007">
                <a:tc>
                  <a:txBody>
                    <a:bodyPr/>
                    <a:lstStyle/>
                    <a:p>
                      <a:pPr algn="l" fontAlgn="ctr"/>
                      <a:r>
                        <a:rPr lang="en-US" altLang="zh-CN" sz="800" u="none" strike="noStrike">
                          <a:effectLst/>
                        </a:rPr>
                        <a:t>2019</a:t>
                      </a:r>
                      <a:r>
                        <a:rPr lang="zh-CN" altLang="en-US" sz="800" u="none" strike="noStrike">
                          <a:effectLst/>
                        </a:rPr>
                        <a:t>年全国赛</a:t>
                      </a:r>
                      <a:r>
                        <a:rPr lang="en-US" sz="800" u="none" strike="noStrike">
                          <a:effectLst/>
                        </a:rPr>
                        <a:t>G</a:t>
                      </a:r>
                      <a:r>
                        <a:rPr lang="zh-CN" altLang="en-US" sz="800" u="none" strike="noStrike">
                          <a:effectLst/>
                        </a:rPr>
                        <a:t>题</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双路语音同传的无线收发系统</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有源</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a:effectLst/>
                        </a:rPr>
                        <a:t>FM、AM</a:t>
                      </a:r>
                      <a:endParaRPr 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频率合成</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763431596"/>
                  </a:ext>
                </a:extLst>
              </a:tr>
              <a:tr h="411007">
                <a:tc>
                  <a:txBody>
                    <a:bodyPr/>
                    <a:lstStyle/>
                    <a:p>
                      <a:pPr algn="l" fontAlgn="ctr"/>
                      <a:r>
                        <a:rPr lang="en-US" altLang="zh-CN" sz="800" u="none" strike="noStrike">
                          <a:effectLst/>
                        </a:rPr>
                        <a:t>2019</a:t>
                      </a:r>
                      <a:r>
                        <a:rPr lang="zh-CN" altLang="en-US" sz="800" u="none" strike="noStrike">
                          <a:effectLst/>
                        </a:rPr>
                        <a:t>年全国赛</a:t>
                      </a:r>
                      <a:r>
                        <a:rPr lang="en-US" sz="800" u="none" strike="noStrike">
                          <a:effectLst/>
                        </a:rPr>
                        <a:t>C</a:t>
                      </a:r>
                      <a:r>
                        <a:rPr lang="zh-CN" altLang="en-US" sz="800" u="none" strike="noStrike">
                          <a:effectLst/>
                        </a:rPr>
                        <a:t>题</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线路负载及故障检测装置</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音频</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038881469"/>
                  </a:ext>
                </a:extLst>
              </a:tr>
              <a:tr h="208571">
                <a:tc>
                  <a:txBody>
                    <a:bodyPr/>
                    <a:lstStyle/>
                    <a:p>
                      <a:pPr algn="l" fontAlgn="ctr"/>
                      <a:r>
                        <a:rPr lang="en-US" altLang="zh-CN" sz="800" u="none" strike="noStrike">
                          <a:effectLst/>
                        </a:rPr>
                        <a:t>2019</a:t>
                      </a:r>
                      <a:r>
                        <a:rPr lang="zh-CN" altLang="en-US" sz="800" u="none" strike="noStrike">
                          <a:effectLst/>
                        </a:rPr>
                        <a:t>年全国赛</a:t>
                      </a:r>
                      <a:r>
                        <a:rPr lang="en-US" sz="800" u="none" strike="noStrike">
                          <a:effectLst/>
                        </a:rPr>
                        <a:t>D</a:t>
                      </a:r>
                      <a:r>
                        <a:rPr lang="zh-CN" altLang="en-US" sz="800" u="none" strike="noStrike">
                          <a:effectLst/>
                        </a:rPr>
                        <a:t>题</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简易电路特性测试仪</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音频</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679223903"/>
                  </a:ext>
                </a:extLst>
              </a:tr>
              <a:tr h="208571">
                <a:tc>
                  <a:txBody>
                    <a:bodyPr/>
                    <a:lstStyle/>
                    <a:p>
                      <a:pPr algn="l" fontAlgn="ctr"/>
                      <a:r>
                        <a:rPr lang="en-US" altLang="zh-CN" sz="800" u="none" strike="noStrike">
                          <a:effectLst/>
                        </a:rPr>
                        <a:t>2019</a:t>
                      </a:r>
                      <a:r>
                        <a:rPr lang="zh-CN" altLang="en-US" sz="800" u="none" strike="noStrike">
                          <a:effectLst/>
                        </a:rPr>
                        <a:t>年全国赛</a:t>
                      </a:r>
                      <a:r>
                        <a:rPr lang="en-US" sz="800" u="none" strike="noStrike">
                          <a:effectLst/>
                        </a:rPr>
                        <a:t>F</a:t>
                      </a:r>
                      <a:r>
                        <a:rPr lang="zh-CN" altLang="en-US" sz="800" u="none" strike="noStrike">
                          <a:effectLst/>
                        </a:rPr>
                        <a:t>题</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纸张计数显示装置</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800" u="none" strike="noStrike" dirty="0" smtClean="0">
                          <a:effectLst/>
                        </a:rPr>
                        <a:t>●</a:t>
                      </a: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高频</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高速</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314189827"/>
                  </a:ext>
                </a:extLst>
              </a:tr>
              <a:tr h="411007">
                <a:tc>
                  <a:txBody>
                    <a:bodyPr/>
                    <a:lstStyle/>
                    <a:p>
                      <a:pPr algn="l" fontAlgn="ctr"/>
                      <a:r>
                        <a:rPr lang="en-US" altLang="zh-CN" sz="800" u="none" strike="noStrike">
                          <a:effectLst/>
                        </a:rPr>
                        <a:t>2020</a:t>
                      </a:r>
                      <a:r>
                        <a:rPr lang="zh-CN" altLang="en-US" sz="800" u="none" strike="noStrike">
                          <a:effectLst/>
                        </a:rPr>
                        <a:t>年</a:t>
                      </a:r>
                      <a:r>
                        <a:rPr lang="en-US" altLang="zh-CN" sz="800" u="none" strike="noStrike">
                          <a:effectLst/>
                        </a:rPr>
                        <a:t>TI</a:t>
                      </a:r>
                      <a:r>
                        <a:rPr lang="zh-CN" altLang="en-US" sz="800" u="none" strike="noStrike">
                          <a:effectLst/>
                        </a:rPr>
                        <a:t>杯赛</a:t>
                      </a:r>
                      <a:r>
                        <a:rPr lang="en-US" altLang="zh-CN" sz="800" u="none" strike="noStrike">
                          <a:effectLst/>
                        </a:rPr>
                        <a:t>B</a:t>
                      </a:r>
                      <a:r>
                        <a:rPr lang="zh-CN" altLang="en-US" sz="800" u="none" strike="noStrike">
                          <a:effectLst/>
                        </a:rPr>
                        <a:t>题</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多种幅度调制信号发生电路</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r>
                        <a:rPr lang="zh-CN" altLang="en-US" sz="800" u="none" strike="noStrike" dirty="0">
                          <a:effectLst/>
                        </a:rPr>
                        <a:t>　</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a:effectLst/>
                        </a:rPr>
                        <a:t>LC</a:t>
                      </a:r>
                      <a:endParaRPr 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a:effectLst/>
                        </a:rPr>
                        <a:t>AM</a:t>
                      </a:r>
                      <a:endParaRPr 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3802896181"/>
                  </a:ext>
                </a:extLst>
              </a:tr>
              <a:tr h="411007">
                <a:tc>
                  <a:txBody>
                    <a:bodyPr/>
                    <a:lstStyle/>
                    <a:p>
                      <a:pPr algn="l" fontAlgn="ctr"/>
                      <a:r>
                        <a:rPr lang="en-US" altLang="zh-CN" sz="800" u="none" strike="noStrike">
                          <a:effectLst/>
                        </a:rPr>
                        <a:t>2020</a:t>
                      </a:r>
                      <a:r>
                        <a:rPr lang="zh-CN" altLang="en-US" sz="800" u="none" strike="noStrike">
                          <a:effectLst/>
                        </a:rPr>
                        <a:t>年</a:t>
                      </a:r>
                      <a:r>
                        <a:rPr lang="en-US" altLang="zh-CN" sz="800" u="none" strike="noStrike">
                          <a:effectLst/>
                        </a:rPr>
                        <a:t>TI</a:t>
                      </a:r>
                      <a:r>
                        <a:rPr lang="zh-CN" altLang="en-US" sz="800" u="none" strike="noStrike">
                          <a:effectLst/>
                        </a:rPr>
                        <a:t>杯</a:t>
                      </a:r>
                      <a:r>
                        <a:rPr lang="en-US" altLang="zh-CN" sz="800" u="none" strike="noStrike">
                          <a:effectLst/>
                        </a:rPr>
                        <a:t>E</a:t>
                      </a:r>
                      <a:r>
                        <a:rPr lang="zh-CN" altLang="en-US" sz="800" u="none" strike="noStrike">
                          <a:effectLst/>
                        </a:rPr>
                        <a:t>题</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放大器非线性失真研究装置</a:t>
                      </a:r>
                      <a:endParaRPr lang="zh-CN" altLang="en-US" sz="800" b="0" i="0" u="none" strike="noStrike">
                        <a:solidFill>
                          <a:srgbClr val="444444"/>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晶体管</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1299284877"/>
                  </a:ext>
                </a:extLst>
              </a:tr>
              <a:tr h="411007">
                <a:tc>
                  <a:txBody>
                    <a:bodyPr/>
                    <a:lstStyle/>
                    <a:p>
                      <a:pPr algn="l" fontAlgn="ctr"/>
                      <a:r>
                        <a:rPr lang="en-US" altLang="zh-CN" sz="800" u="none" strike="noStrike">
                          <a:effectLst/>
                        </a:rPr>
                        <a:t>2021</a:t>
                      </a:r>
                      <a:r>
                        <a:rPr lang="zh-CN" altLang="en-US" sz="800" u="none" strike="noStrike">
                          <a:effectLst/>
                        </a:rPr>
                        <a:t>年全国赛</a:t>
                      </a:r>
                      <a:r>
                        <a:rPr lang="en-US" sz="800" u="none" strike="noStrike">
                          <a:effectLst/>
                        </a:rPr>
                        <a:t>E</a:t>
                      </a:r>
                      <a:r>
                        <a:rPr lang="zh-CN" altLang="en-US" sz="800" u="none" strike="noStrike">
                          <a:effectLst/>
                        </a:rPr>
                        <a:t>题</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数字</a:t>
                      </a:r>
                      <a:r>
                        <a:rPr lang="en-US" altLang="zh-CN" sz="800" u="none" strike="noStrike">
                          <a:effectLst/>
                        </a:rPr>
                        <a:t>-</a:t>
                      </a:r>
                      <a:r>
                        <a:rPr lang="zh-CN" altLang="en-US" sz="800" u="none" strike="noStrike">
                          <a:effectLst/>
                        </a:rPr>
                        <a:t>模拟信号混合传输收发机</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a:effectLst/>
                        </a:rPr>
                        <a:t>AGC</a:t>
                      </a:r>
                      <a:endParaRPr 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a:effectLst/>
                        </a:rPr>
                        <a:t>LC、</a:t>
                      </a:r>
                      <a:r>
                        <a:rPr lang="zh-CN" altLang="en-US" sz="800" u="none" strike="noStrike">
                          <a:effectLst/>
                        </a:rPr>
                        <a:t>有源</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数字、</a:t>
                      </a:r>
                      <a:r>
                        <a:rPr lang="en-US" sz="800" u="none" strike="noStrike">
                          <a:effectLst/>
                        </a:rPr>
                        <a:t>AM</a:t>
                      </a:r>
                      <a:endParaRPr 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频率合成</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005225366"/>
                  </a:ext>
                </a:extLst>
              </a:tr>
              <a:tr h="208571">
                <a:tc>
                  <a:txBody>
                    <a:bodyPr/>
                    <a:lstStyle/>
                    <a:p>
                      <a:pPr algn="l" fontAlgn="ctr"/>
                      <a:r>
                        <a:rPr lang="en-US" altLang="zh-CN" sz="800" u="none" strike="noStrike">
                          <a:effectLst/>
                        </a:rPr>
                        <a:t>2021</a:t>
                      </a:r>
                      <a:r>
                        <a:rPr lang="zh-CN" altLang="en-US" sz="800" u="none" strike="noStrike">
                          <a:effectLst/>
                        </a:rPr>
                        <a:t>年全国赛</a:t>
                      </a:r>
                      <a:r>
                        <a:rPr lang="en-US" sz="800" u="none" strike="noStrike">
                          <a:effectLst/>
                        </a:rPr>
                        <a:t>A</a:t>
                      </a:r>
                      <a:r>
                        <a:rPr lang="zh-CN" altLang="en-US" sz="800" u="none" strike="noStrike">
                          <a:effectLst/>
                        </a:rPr>
                        <a:t>题</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l" fontAlgn="ctr"/>
                      <a:r>
                        <a:rPr lang="zh-CN" altLang="en-US" sz="800" u="none" strike="noStrike">
                          <a:effectLst/>
                        </a:rPr>
                        <a:t>信号失真度测量装置</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en-US" sz="800" u="none" strike="noStrike">
                          <a:effectLst/>
                        </a:rPr>
                        <a:t>AGC</a:t>
                      </a:r>
                      <a:endParaRPr 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dirty="0" smtClean="0">
                          <a:effectLst/>
                        </a:rPr>
                        <a:t>●</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extLst>
                  <a:ext uri="{0D108BD9-81ED-4DB2-BD59-A6C34878D82A}">
                    <a16:rowId xmlns:a16="http://schemas.microsoft.com/office/drawing/2014/main" val="2239368216"/>
                  </a:ext>
                </a:extLst>
              </a:tr>
              <a:tr h="259241">
                <a:tc gridSpan="2">
                  <a:txBody>
                    <a:bodyPr/>
                    <a:lstStyle/>
                    <a:p>
                      <a:pPr algn="ctr" fontAlgn="b"/>
                      <a:r>
                        <a:rPr lang="zh-CN" altLang="en-US" sz="1200" b="0" i="0" u="none" strike="noStrike" dirty="0" smtClean="0">
                          <a:solidFill>
                            <a:srgbClr val="000000"/>
                          </a:solidFill>
                          <a:effectLst/>
                          <a:latin typeface="微软雅黑" panose="020B0503020204020204" pitchFamily="34" charset="-122"/>
                          <a:ea typeface="微软雅黑" panose="020B0503020204020204" pitchFamily="34" charset="-122"/>
                        </a:rPr>
                        <a:t>合计</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ctr"/>
                </a:tc>
                <a:tc hMerge="1">
                  <a:txBody>
                    <a:bodyPr/>
                    <a:lstStyle/>
                    <a:p>
                      <a:pPr algn="l" fontAlgn="b"/>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48" marR="4048" marT="4048" marB="0" anchor="b"/>
                </a:tc>
                <a:tc>
                  <a:txBody>
                    <a:bodyPr/>
                    <a:lstStyle/>
                    <a:p>
                      <a:pPr algn="r" fontAlgn="ctr"/>
                      <a:r>
                        <a:rPr lang="en-US" altLang="zh-CN" sz="1200" u="none" strike="noStrike">
                          <a:effectLst/>
                        </a:rPr>
                        <a:t>14</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dirty="0" smtClean="0">
                          <a:effectLst/>
                        </a:rPr>
                        <a:t>17</a:t>
                      </a:r>
                      <a:endParaRPr lang="en-US" altLang="zh-CN" sz="1200" b="0" i="0" u="none" strike="noStrike" dirty="0">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dirty="0">
                          <a:effectLst/>
                        </a:rPr>
                        <a:t>2</a:t>
                      </a:r>
                      <a:endParaRPr lang="en-US" altLang="zh-CN" sz="1200" b="0" i="0" u="none" strike="noStrike" dirty="0">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a:effectLst/>
                        </a:rPr>
                        <a:t>16</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a:effectLst/>
                        </a:rPr>
                        <a:t>8</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a:effectLst/>
                        </a:rPr>
                        <a:t>4</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a:effectLst/>
                        </a:rPr>
                        <a:t>7</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a:effectLst/>
                        </a:rPr>
                        <a:t>6</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a:effectLst/>
                        </a:rPr>
                        <a:t>2</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a:effectLst/>
                        </a:rPr>
                        <a:t>15</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a:effectLst/>
                        </a:rPr>
                        <a:t>26</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a:effectLst/>
                        </a:rPr>
                        <a:t>1</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a:effectLst/>
                        </a:rPr>
                        <a:t>2</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a:effectLst/>
                        </a:rPr>
                        <a:t>1</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a:effectLst/>
                        </a:rPr>
                        <a:t>1</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a:effectLst/>
                        </a:rPr>
                        <a:t>7</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4048" marR="4048" marT="4048" marB="0" anchor="ctr"/>
                </a:tc>
                <a:tc>
                  <a:txBody>
                    <a:bodyPr/>
                    <a:lstStyle/>
                    <a:p>
                      <a:pPr algn="r" fontAlgn="ctr"/>
                      <a:r>
                        <a:rPr lang="en-US" altLang="zh-CN" sz="1200" u="none" strike="noStrike" dirty="0">
                          <a:effectLst/>
                        </a:rPr>
                        <a:t>1</a:t>
                      </a:r>
                      <a:endParaRPr lang="en-US" altLang="zh-CN" sz="1200" b="0" i="0" u="none" strike="noStrike" dirty="0">
                        <a:solidFill>
                          <a:srgbClr val="000000"/>
                        </a:solidFill>
                        <a:effectLst/>
                        <a:latin typeface="等线" panose="02010600030101010101" pitchFamily="2" charset="-122"/>
                        <a:ea typeface="等线" panose="02010600030101010101" pitchFamily="2" charset="-122"/>
                      </a:endParaRPr>
                    </a:p>
                  </a:txBody>
                  <a:tcPr marL="4048" marR="4048" marT="4048" marB="0" anchor="ctr"/>
                </a:tc>
                <a:extLst>
                  <a:ext uri="{0D108BD9-81ED-4DB2-BD59-A6C34878D82A}">
                    <a16:rowId xmlns:a16="http://schemas.microsoft.com/office/drawing/2014/main" val="1437290635"/>
                  </a:ext>
                </a:extLst>
              </a:tr>
            </a:tbl>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602292552"/>
              </p:ext>
            </p:extLst>
          </p:nvPr>
        </p:nvGraphicFramePr>
        <p:xfrm>
          <a:off x="195941" y="682171"/>
          <a:ext cx="8759379" cy="224976"/>
        </p:xfrm>
        <a:graphic>
          <a:graphicData uri="http://schemas.openxmlformats.org/presentationml/2006/ole">
            <mc:AlternateContent xmlns:mc="http://schemas.openxmlformats.org/markup-compatibility/2006">
              <mc:Choice xmlns:v="urn:schemas-microsoft-com:vml" Requires="v">
                <p:oleObj spid="_x0000_s2053" name="工作表" r:id="rId3" imgW="13131680" imgH="285924" progId="Excel.Sheet.12">
                  <p:embed/>
                </p:oleObj>
              </mc:Choice>
              <mc:Fallback>
                <p:oleObj name="工作表" r:id="rId3" imgW="13131680" imgH="285924" progId="Excel.Sheet.12">
                  <p:embed/>
                  <p:pic>
                    <p:nvPicPr>
                      <p:cNvPr id="0" name=""/>
                      <p:cNvPicPr/>
                      <p:nvPr/>
                    </p:nvPicPr>
                    <p:blipFill>
                      <a:blip r:embed="rId4"/>
                      <a:stretch>
                        <a:fillRect/>
                      </a:stretch>
                    </p:blipFill>
                    <p:spPr>
                      <a:xfrm>
                        <a:off x="195941" y="682171"/>
                        <a:ext cx="8759379" cy="224976"/>
                      </a:xfrm>
                      <a:prstGeom prst="rect">
                        <a:avLst/>
                      </a:prstGeom>
                    </p:spPr>
                  </p:pic>
                </p:oleObj>
              </mc:Fallback>
            </mc:AlternateContent>
          </a:graphicData>
        </a:graphic>
      </p:graphicFrame>
    </p:spTree>
    <p:extLst>
      <p:ext uri="{BB962C8B-B14F-4D97-AF65-F5344CB8AC3E}">
        <p14:creationId xmlns:p14="http://schemas.microsoft.com/office/powerpoint/2010/main" val="2694415574"/>
      </p:ext>
    </p:extLst>
  </p:cSld>
  <p:clrMapOvr>
    <a:masterClrMapping/>
  </p:clrMapOvr>
  <p:timing>
    <p:tnLst>
      <p:par>
        <p:cTn id="1" dur="indefinite" restart="never" nodeType="tmRoot"/>
      </p:par>
    </p:tnLst>
  </p:timing>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13272</TotalTime>
  <Words>2151</Words>
  <Application>Microsoft Office PowerPoint</Application>
  <PresentationFormat>全屏显示(4:3)</PresentationFormat>
  <Paragraphs>790</Paragraphs>
  <Slides>16</Slides>
  <Notes>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16</vt:i4>
      </vt:variant>
    </vt:vector>
  </HeadingPairs>
  <TitlesOfParts>
    <vt:vector size="33" baseType="lpstr">
      <vt:lpstr>Arial Unicode MS</vt:lpstr>
      <vt:lpstr>等线</vt:lpstr>
      <vt:lpstr>黑体</vt:lpstr>
      <vt:lpstr>华文细黑</vt:lpstr>
      <vt:lpstr>楷体</vt:lpstr>
      <vt:lpstr>楷体_GB2312</vt:lpstr>
      <vt:lpstr>隶书</vt:lpstr>
      <vt:lpstr>宋体</vt:lpstr>
      <vt:lpstr>微软雅黑</vt:lpstr>
      <vt:lpstr>Arial</vt:lpstr>
      <vt:lpstr>Cambria Math</vt:lpstr>
      <vt:lpstr>Symbol</vt:lpstr>
      <vt:lpstr>Tahoma</vt:lpstr>
      <vt:lpstr>Times New Roman</vt:lpstr>
      <vt:lpstr>Wingdings</vt:lpstr>
      <vt:lpstr>1_Network</vt:lpstr>
      <vt:lpstr>工作表</vt:lpstr>
      <vt:lpstr>大学生电子竞赛 题目概貌与大致分类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233</cp:revision>
  <dcterms:created xsi:type="dcterms:W3CDTF">1601-01-01T00:00:00Z</dcterms:created>
  <dcterms:modified xsi:type="dcterms:W3CDTF">2022-03-12T00:00:39Z</dcterms:modified>
</cp:coreProperties>
</file>