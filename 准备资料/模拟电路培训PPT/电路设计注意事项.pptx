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24"/>
  </p:notesMasterIdLst>
  <p:handoutMasterIdLst>
    <p:handoutMasterId r:id="rId25"/>
  </p:handoutMasterIdLst>
  <p:sldIdLst>
    <p:sldId id="398" r:id="rId2"/>
    <p:sldId id="660" r:id="rId3"/>
    <p:sldId id="677" r:id="rId4"/>
    <p:sldId id="678" r:id="rId5"/>
    <p:sldId id="684" r:id="rId6"/>
    <p:sldId id="689" r:id="rId7"/>
    <p:sldId id="685" r:id="rId8"/>
    <p:sldId id="686" r:id="rId9"/>
    <p:sldId id="687" r:id="rId10"/>
    <p:sldId id="700" r:id="rId11"/>
    <p:sldId id="688" r:id="rId12"/>
    <p:sldId id="698" r:id="rId13"/>
    <p:sldId id="699" r:id="rId14"/>
    <p:sldId id="693" r:id="rId15"/>
    <p:sldId id="682" r:id="rId16"/>
    <p:sldId id="679" r:id="rId17"/>
    <p:sldId id="680" r:id="rId18"/>
    <p:sldId id="681" r:id="rId19"/>
    <p:sldId id="701" r:id="rId20"/>
    <p:sldId id="697" r:id="rId21"/>
    <p:sldId id="702" r:id="rId22"/>
    <p:sldId id="690" r:id="rId23"/>
  </p:sldIdLst>
  <p:sldSz cx="9144000" cy="6858000" type="screen4x3"/>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FFF"/>
    <a:srgbClr val="CCECFF"/>
    <a:srgbClr val="99FF99"/>
    <a:srgbClr val="FFFF66"/>
    <a:srgbClr val="66FFFF"/>
    <a:srgbClr val="FFCC00"/>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6078" autoAdjust="0"/>
  </p:normalViewPr>
  <p:slideViewPr>
    <p:cSldViewPr snapToGrid="0">
      <p:cViewPr varScale="1">
        <p:scale>
          <a:sx n="97" d="100"/>
          <a:sy n="97" d="100"/>
        </p:scale>
        <p:origin x="660"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900113" y="739775"/>
            <a:ext cx="493553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0" y="5154613"/>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250825" y="1700213"/>
            <a:ext cx="5473700"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3175" y="0"/>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5200" y="228600"/>
            <a:ext cx="1262063"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2022/3/12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2022/3/12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68413"/>
            <a:ext cx="4141788"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51388" y="1268413"/>
            <a:ext cx="4141787"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2022/3/12</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2022/3/12</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2022/3/12</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2022/3/12</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2022/3/12</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2022/3/12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4975" y="549275"/>
            <a:ext cx="2108200"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549275"/>
            <a:ext cx="6175375"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2022/3/12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5"/>
            <a:ext cx="9144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457200" y="549275"/>
            <a:ext cx="84359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457200" y="1268413"/>
            <a:ext cx="8435975"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468313" y="6524625"/>
            <a:ext cx="21336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2022/3/12</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3132138" y="6524625"/>
            <a:ext cx="3527425"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7235825" y="6524625"/>
            <a:ext cx="163036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534400" y="0"/>
            <a:ext cx="371475"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647700" y="107950"/>
            <a:ext cx="3600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862" y="1828800"/>
            <a:ext cx="8816255" cy="3131327"/>
          </a:xfrm>
        </p:spPr>
        <p:txBody>
          <a:bodyPr/>
          <a:lstStyle/>
          <a:p>
            <a:pPr eaLnBrk="1" hangingPunct="1"/>
            <a:r>
              <a:rPr lang="zh-CN" altLang="zh-CN" sz="5400" dirty="0" smtClean="0">
                <a:solidFill>
                  <a:srgbClr val="FF3300"/>
                </a:solidFill>
                <a:latin typeface="隶书" panose="02010509060101010101" pitchFamily="49" charset="-122"/>
                <a:ea typeface="隶书" panose="02010509060101010101" pitchFamily="49" charset="-122"/>
              </a:rPr>
              <a:t>电路</a:t>
            </a:r>
            <a:r>
              <a:rPr lang="zh-CN" altLang="zh-CN" sz="5400" dirty="0">
                <a:solidFill>
                  <a:srgbClr val="FF3300"/>
                </a:solidFill>
                <a:latin typeface="隶书" panose="02010509060101010101" pitchFamily="49" charset="-122"/>
                <a:ea typeface="隶书" panose="02010509060101010101" pitchFamily="49" charset="-122"/>
              </a:rPr>
              <a:t>设计制作</a:t>
            </a:r>
            <a:r>
              <a:rPr lang="zh-CN" altLang="zh-CN" sz="5400" dirty="0" smtClean="0">
                <a:solidFill>
                  <a:srgbClr val="FF3300"/>
                </a:solidFill>
                <a:latin typeface="隶书" panose="02010509060101010101" pitchFamily="49" charset="-122"/>
                <a:ea typeface="隶书" panose="02010509060101010101" pitchFamily="49" charset="-122"/>
              </a:rPr>
              <a:t>的</a:t>
            </a:r>
            <a:r>
              <a:rPr lang="en-US" altLang="zh-CN" sz="5400" dirty="0" smtClean="0">
                <a:solidFill>
                  <a:srgbClr val="FF3300"/>
                </a:solidFill>
                <a:latin typeface="隶书" panose="02010509060101010101" pitchFamily="49" charset="-122"/>
                <a:ea typeface="隶书" panose="02010509060101010101" pitchFamily="49" charset="-122"/>
              </a:rPr>
              <a:t/>
            </a:r>
            <a:br>
              <a:rPr lang="en-US" altLang="zh-CN" sz="5400" dirty="0" smtClean="0">
                <a:solidFill>
                  <a:srgbClr val="FF3300"/>
                </a:solidFill>
                <a:latin typeface="隶书" panose="02010509060101010101" pitchFamily="49" charset="-122"/>
                <a:ea typeface="隶书" panose="02010509060101010101" pitchFamily="49" charset="-122"/>
              </a:rPr>
            </a:br>
            <a:r>
              <a:rPr lang="zh-CN" altLang="zh-CN" sz="5400" dirty="0" smtClean="0">
                <a:solidFill>
                  <a:srgbClr val="FF3300"/>
                </a:solidFill>
                <a:latin typeface="隶书" panose="02010509060101010101" pitchFamily="49" charset="-122"/>
                <a:ea typeface="隶书" panose="02010509060101010101" pitchFamily="49" charset="-122"/>
              </a:rPr>
              <a:t>注意事项</a:t>
            </a:r>
            <a:r>
              <a:rPr lang="en-US" altLang="zh-CN" sz="5400" dirty="0" smtClean="0">
                <a:solidFill>
                  <a:srgbClr val="FF3300"/>
                </a:solidFill>
                <a:latin typeface="隶书" panose="02010509060101010101" pitchFamily="49" charset="-122"/>
                <a:ea typeface="隶书" panose="02010509060101010101" pitchFamily="49" charset="-122"/>
              </a:rPr>
              <a:t/>
            </a:r>
            <a:br>
              <a:rPr lang="en-US" altLang="zh-CN" sz="5400" dirty="0" smtClean="0">
                <a:solidFill>
                  <a:srgbClr val="FF3300"/>
                </a:solidFill>
                <a:latin typeface="隶书" panose="02010509060101010101" pitchFamily="49" charset="-122"/>
                <a:ea typeface="隶书" panose="02010509060101010101" pitchFamily="49" charset="-122"/>
              </a:rPr>
            </a:br>
            <a:r>
              <a:rPr lang="en-US" altLang="zh-CN" sz="5400" dirty="0" smtClean="0">
                <a:solidFill>
                  <a:srgbClr val="FF3300"/>
                </a:solidFill>
                <a:latin typeface="隶书" panose="02010509060101010101" pitchFamily="49" charset="-122"/>
                <a:ea typeface="隶书" panose="02010509060101010101" pitchFamily="49" charset="-122"/>
              </a:rPr>
              <a:t/>
            </a:r>
            <a:br>
              <a:rPr lang="en-US" altLang="zh-CN" sz="5400" dirty="0" smtClean="0">
                <a:solidFill>
                  <a:srgbClr val="FF3300"/>
                </a:solidFill>
                <a:latin typeface="隶书" panose="02010509060101010101" pitchFamily="49" charset="-122"/>
                <a:ea typeface="隶书" panose="02010509060101010101" pitchFamily="49" charset="-122"/>
              </a:rPr>
            </a:br>
            <a:r>
              <a:rPr lang="zh-CN" altLang="en-US" sz="2400" dirty="0" smtClean="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468313" y="559165"/>
            <a:ext cx="5110185" cy="523220"/>
          </a:xfrm>
          <a:prstGeom prst="rect">
            <a:avLst/>
          </a:prstGeom>
          <a:noFill/>
        </p:spPr>
        <p:txBody>
          <a:bodyPr wrap="square" rtlCol="0">
            <a:spAutoFit/>
          </a:bodyPr>
          <a:lstStyle/>
          <a:p>
            <a:r>
              <a:rPr lang="zh-CN" altLang="en-US" sz="2800" dirty="0" smtClean="0">
                <a:solidFill>
                  <a:srgbClr val="FF0000"/>
                </a:solidFill>
                <a:latin typeface="隶书" panose="02010509060101010101" pitchFamily="49" charset="-122"/>
                <a:ea typeface="隶书" panose="02010509060101010101" pitchFamily="49" charset="-122"/>
              </a:rPr>
              <a:t>接地与退耦</a:t>
            </a:r>
            <a:endParaRPr lang="zh-CN" altLang="en-US" sz="2800" dirty="0">
              <a:solidFill>
                <a:srgbClr val="FF0000"/>
              </a:solidFill>
              <a:latin typeface="隶书" panose="02010509060101010101" pitchFamily="49" charset="-122"/>
              <a:ea typeface="隶书" panose="02010509060101010101" pitchFamily="49" charset="-122"/>
            </a:endParaRPr>
          </a:p>
        </p:txBody>
      </p:sp>
      <p:sp>
        <p:nvSpPr>
          <p:cNvPr id="4" name="矩形 3"/>
          <p:cNvSpPr/>
          <p:nvPr/>
        </p:nvSpPr>
        <p:spPr>
          <a:xfrm>
            <a:off x="468313" y="1082385"/>
            <a:ext cx="8254668" cy="2862322"/>
          </a:xfrm>
          <a:prstGeom prst="rect">
            <a:avLst/>
          </a:prstGeom>
        </p:spPr>
        <p:txBody>
          <a:bodyPr wrap="square">
            <a:spAutoFit/>
          </a:bodyPr>
          <a:lstStyle/>
          <a:p>
            <a:pPr>
              <a:lnSpc>
                <a:spcPct val="150000"/>
              </a:lnSpc>
            </a:pPr>
            <a:r>
              <a:rPr lang="zh-CN" altLang="zh-CN" dirty="0" smtClean="0">
                <a:latin typeface="+mj-ea"/>
                <a:ea typeface="+mj-ea"/>
                <a:cs typeface="Times New Roman" panose="02020603050405020304" pitchFamily="18" charset="0"/>
              </a:rPr>
              <a:t>低频电路</a:t>
            </a:r>
            <a:endParaRPr lang="en-US" altLang="zh-CN" dirty="0" smtClean="0">
              <a:latin typeface="+mj-ea"/>
              <a:ea typeface="+mj-ea"/>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dirty="0" smtClean="0">
                <a:latin typeface="+mn-ea"/>
                <a:ea typeface="+mn-ea"/>
                <a:cs typeface="Times New Roman" panose="02020603050405020304" pitchFamily="18" charset="0"/>
              </a:rPr>
              <a:t>尽量</a:t>
            </a:r>
            <a:r>
              <a:rPr lang="zh-CN" altLang="zh-CN" dirty="0" smtClean="0">
                <a:latin typeface="+mn-ea"/>
                <a:ea typeface="+mn-ea"/>
                <a:cs typeface="Times New Roman" panose="02020603050405020304" pitchFamily="18" charset="0"/>
              </a:rPr>
              <a:t>采用</a:t>
            </a:r>
            <a:r>
              <a:rPr lang="zh-CN" altLang="zh-CN" dirty="0">
                <a:latin typeface="+mn-ea"/>
                <a:ea typeface="+mn-ea"/>
                <a:cs typeface="Times New Roman" panose="02020603050405020304" pitchFamily="18" charset="0"/>
              </a:rPr>
              <a:t>粗直的导线作为地线以降低地线</a:t>
            </a:r>
            <a:r>
              <a:rPr lang="zh-CN" altLang="zh-CN" dirty="0" smtClean="0">
                <a:latin typeface="+mn-ea"/>
                <a:ea typeface="+mn-ea"/>
                <a:cs typeface="Times New Roman" panose="02020603050405020304" pitchFamily="18" charset="0"/>
              </a:rPr>
              <a:t>电阻</a:t>
            </a:r>
            <a:endParaRPr lang="en-US" altLang="zh-CN" dirty="0" smtClean="0">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Ø"/>
            </a:pPr>
            <a:r>
              <a:rPr lang="zh-CN" altLang="zh-CN" dirty="0" smtClean="0">
                <a:latin typeface="+mn-ea"/>
                <a:ea typeface="+mn-ea"/>
                <a:cs typeface="Times New Roman" panose="02020603050405020304" pitchFamily="18" charset="0"/>
              </a:rPr>
              <a:t>单点接地</a:t>
            </a:r>
            <a:r>
              <a:rPr lang="zh-CN" altLang="en-US" dirty="0" smtClean="0">
                <a:latin typeface="+mn-ea"/>
                <a:ea typeface="+mn-ea"/>
                <a:cs typeface="Times New Roman" panose="02020603050405020304" pitchFamily="18" charset="0"/>
              </a:rPr>
              <a:t>：</a:t>
            </a:r>
            <a:r>
              <a:rPr lang="zh-CN" altLang="zh-CN" dirty="0" smtClean="0">
                <a:latin typeface="+mn-ea"/>
                <a:ea typeface="+mn-ea"/>
                <a:cs typeface="Times New Roman" panose="02020603050405020304" pitchFamily="18" charset="0"/>
              </a:rPr>
              <a:t>每</a:t>
            </a:r>
            <a:r>
              <a:rPr lang="zh-CN" altLang="zh-CN" dirty="0">
                <a:latin typeface="+mn-ea"/>
                <a:ea typeface="+mn-ea"/>
                <a:cs typeface="Times New Roman" panose="02020603050405020304" pitchFamily="18" charset="0"/>
              </a:rPr>
              <a:t>级放大器或其他单元电路与其周边的相关元件（电阻电容等）形成一个接地点，然后将每级电路的接地点通过一根单独的接地线接到电源输入端的储能电容引脚</a:t>
            </a:r>
            <a:r>
              <a:rPr lang="zh-CN" altLang="zh-CN" dirty="0" smtClean="0">
                <a:latin typeface="+mn-ea"/>
                <a:ea typeface="+mn-ea"/>
                <a:cs typeface="Times New Roman" panose="02020603050405020304" pitchFamily="18" charset="0"/>
              </a:rPr>
              <a:t>点</a:t>
            </a:r>
            <a:endParaRPr lang="en-US" altLang="zh-CN" dirty="0" smtClean="0">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dirty="0" smtClean="0">
                <a:latin typeface="+mn-ea"/>
                <a:ea typeface="+mn-ea"/>
                <a:cs typeface="Times New Roman" panose="02020603050405020304" pitchFamily="18" charset="0"/>
              </a:rPr>
              <a:t>避免地线构成环</a:t>
            </a:r>
            <a:endParaRPr lang="zh-CN" altLang="en-US" dirty="0">
              <a:latin typeface="+mn-ea"/>
              <a:ea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矩形 1"/>
          <p:cNvSpPr/>
          <p:nvPr/>
        </p:nvSpPr>
        <p:spPr>
          <a:xfrm>
            <a:off x="468313" y="528083"/>
            <a:ext cx="8169149" cy="5170646"/>
          </a:xfrm>
          <a:prstGeom prst="rect">
            <a:avLst/>
          </a:prstGeom>
        </p:spPr>
        <p:txBody>
          <a:bodyPr wrap="square">
            <a:spAutoFit/>
          </a:bodyPr>
          <a:lstStyle/>
          <a:p>
            <a:pPr algn="just">
              <a:lnSpc>
                <a:spcPct val="150000"/>
              </a:lnSpc>
              <a:spcAft>
                <a:spcPts val="0"/>
              </a:spcAft>
            </a:pPr>
            <a:r>
              <a:rPr lang="zh-CN" altLang="en-US" kern="100" dirty="0" smtClean="0">
                <a:latin typeface="+mj-ea"/>
                <a:ea typeface="+mj-ea"/>
              </a:rPr>
              <a:t>高</a:t>
            </a:r>
            <a:r>
              <a:rPr lang="zh-CN" altLang="zh-CN" kern="100" dirty="0" smtClean="0">
                <a:latin typeface="+mj-ea"/>
                <a:ea typeface="+mj-ea"/>
              </a:rPr>
              <a:t>频电路</a:t>
            </a:r>
            <a:endParaRPr lang="en-US" altLang="zh-CN" kern="100" dirty="0" smtClean="0">
              <a:latin typeface="+mj-ea"/>
              <a:ea typeface="+mj-ea"/>
            </a:endParaRPr>
          </a:p>
          <a:p>
            <a:pPr marL="342900" indent="-342900" algn="just">
              <a:lnSpc>
                <a:spcPct val="150000"/>
              </a:lnSpc>
              <a:spcAft>
                <a:spcPts val="0"/>
              </a:spcAft>
              <a:buFont typeface="Wingdings" panose="05000000000000000000" pitchFamily="2" charset="2"/>
              <a:buChar char="Ø"/>
            </a:pPr>
            <a:r>
              <a:rPr lang="zh-CN" altLang="en-US" kern="100" dirty="0" smtClean="0">
                <a:latin typeface="+mn-ea"/>
                <a:ea typeface="+mn-ea"/>
              </a:rPr>
              <a:t>大面积接地：</a:t>
            </a:r>
            <a:r>
              <a:rPr lang="zh-CN" altLang="zh-CN" kern="100" dirty="0" smtClean="0">
                <a:latin typeface="+mn-ea"/>
                <a:ea typeface="+mn-ea"/>
              </a:rPr>
              <a:t>在</a:t>
            </a:r>
            <a:r>
              <a:rPr lang="zh-CN" altLang="zh-CN" kern="100" dirty="0">
                <a:latin typeface="+mn-ea"/>
                <a:ea typeface="+mn-ea"/>
              </a:rPr>
              <a:t>印制电路板中采用一整层铜箔作为接地平面（在</a:t>
            </a:r>
            <a:r>
              <a:rPr lang="en-US" altLang="zh-CN" kern="100" dirty="0">
                <a:latin typeface="+mn-ea"/>
                <a:ea typeface="+mn-ea"/>
              </a:rPr>
              <a:t>4</a:t>
            </a:r>
            <a:r>
              <a:rPr lang="zh-CN" altLang="zh-CN" kern="100" dirty="0">
                <a:latin typeface="+mn-ea"/>
                <a:ea typeface="+mn-ea"/>
              </a:rPr>
              <a:t>层印制板中通常将第</a:t>
            </a:r>
            <a:r>
              <a:rPr lang="en-US" altLang="zh-CN" kern="100" dirty="0">
                <a:latin typeface="+mn-ea"/>
                <a:ea typeface="+mn-ea"/>
              </a:rPr>
              <a:t>2</a:t>
            </a:r>
            <a:r>
              <a:rPr lang="zh-CN" altLang="zh-CN" kern="100" dirty="0">
                <a:latin typeface="+mn-ea"/>
                <a:ea typeface="+mn-ea"/>
              </a:rPr>
              <a:t>层作为接地层、第</a:t>
            </a:r>
            <a:r>
              <a:rPr lang="en-US" altLang="zh-CN" kern="100" dirty="0">
                <a:latin typeface="+mn-ea"/>
                <a:ea typeface="+mn-ea"/>
              </a:rPr>
              <a:t>3</a:t>
            </a:r>
            <a:r>
              <a:rPr lang="zh-CN" altLang="zh-CN" kern="100" dirty="0">
                <a:latin typeface="+mn-ea"/>
                <a:ea typeface="+mn-ea"/>
              </a:rPr>
              <a:t>层作为电源层；在双面板中将背面作为接地层，所有元件与走线都尽可能安排在</a:t>
            </a:r>
            <a:r>
              <a:rPr lang="zh-CN" altLang="zh-CN" kern="100" dirty="0" smtClean="0">
                <a:latin typeface="+mn-ea"/>
                <a:ea typeface="+mn-ea"/>
              </a:rPr>
              <a:t>元件面），</a:t>
            </a:r>
            <a:r>
              <a:rPr lang="zh-CN" altLang="zh-CN" kern="100" dirty="0">
                <a:latin typeface="+mn-ea"/>
                <a:ea typeface="+mn-ea"/>
              </a:rPr>
              <a:t>所有需要接地的引脚包括集成电路引脚、退耦电容引脚等，都在尽可能短的距离内通过一个过孔连接到</a:t>
            </a:r>
            <a:r>
              <a:rPr lang="zh-CN" altLang="zh-CN" kern="100" dirty="0" smtClean="0">
                <a:latin typeface="+mn-ea"/>
                <a:ea typeface="+mn-ea"/>
              </a:rPr>
              <a:t>地平面</a:t>
            </a:r>
            <a:endParaRPr lang="zh-CN" altLang="zh-CN" kern="100" dirty="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尽可能保持接地平面</a:t>
            </a:r>
            <a:r>
              <a:rPr lang="zh-CN" altLang="zh-CN" kern="100" dirty="0">
                <a:latin typeface="+mn-ea"/>
                <a:ea typeface="+mn-ea"/>
              </a:rPr>
              <a:t>的</a:t>
            </a:r>
            <a:r>
              <a:rPr lang="zh-CN" altLang="zh-CN" kern="100" dirty="0" smtClean="0">
                <a:latin typeface="+mn-ea"/>
                <a:ea typeface="+mn-ea"/>
              </a:rPr>
              <a:t>完整性</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dirty="0" smtClean="0"/>
              <a:t>大面积</a:t>
            </a:r>
            <a:r>
              <a:rPr lang="zh-CN" altLang="zh-CN" dirty="0"/>
              <a:t>铺铜（</a:t>
            </a:r>
            <a:r>
              <a:rPr lang="en-US" altLang="zh-CN" dirty="0"/>
              <a:t>Polygon Plane</a:t>
            </a:r>
            <a:r>
              <a:rPr lang="zh-CN" altLang="zh-CN" dirty="0"/>
              <a:t>）</a:t>
            </a:r>
            <a:r>
              <a:rPr lang="zh-CN" altLang="zh-CN" dirty="0" smtClean="0"/>
              <a:t>接地</a:t>
            </a:r>
            <a:r>
              <a:rPr lang="zh-CN" altLang="en-US" dirty="0" smtClean="0"/>
              <a:t>（适用于</a:t>
            </a:r>
            <a:r>
              <a:rPr lang="zh-CN" altLang="zh-CN" dirty="0" smtClean="0"/>
              <a:t>双面板</a:t>
            </a:r>
            <a:r>
              <a:rPr lang="zh-CN" altLang="en-US" dirty="0" smtClean="0"/>
              <a:t>）</a:t>
            </a:r>
            <a:r>
              <a:rPr lang="zh-CN" altLang="zh-CN" dirty="0" smtClean="0"/>
              <a:t>，</a:t>
            </a:r>
            <a:r>
              <a:rPr lang="zh-CN" altLang="zh-CN" dirty="0"/>
              <a:t>这种接地的效果介于星形接地与大面积接地之间。如果能小心安排走线，使得大面积铺铜接近一个完整的接地平面，或者通过足够多的通孔将印板两面的接地面连成一个完整的接地平面，则其效果将接近大面积接地</a:t>
            </a:r>
            <a:endParaRPr lang="zh-CN" altLang="zh-CN" kern="100" dirty="0">
              <a:latin typeface="+mn-ea"/>
              <a:ea typeface="+mn-ea"/>
            </a:endParaRPr>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2" name="矩形 1"/>
          <p:cNvSpPr/>
          <p:nvPr/>
        </p:nvSpPr>
        <p:spPr>
          <a:xfrm>
            <a:off x="468313" y="728615"/>
            <a:ext cx="8241511" cy="3323987"/>
          </a:xfrm>
          <a:prstGeom prst="rect">
            <a:avLst/>
          </a:prstGeom>
        </p:spPr>
        <p:txBody>
          <a:bodyPr wrap="square">
            <a:spAutoFit/>
          </a:bodyPr>
          <a:lstStyle/>
          <a:p>
            <a:pPr algn="just">
              <a:lnSpc>
                <a:spcPct val="150000"/>
              </a:lnSpc>
              <a:spcAft>
                <a:spcPts val="0"/>
              </a:spcAft>
            </a:pPr>
            <a:r>
              <a:rPr lang="zh-CN" altLang="en-US" kern="100" dirty="0" smtClean="0">
                <a:latin typeface="+mj-ea"/>
                <a:ea typeface="+mj-ea"/>
              </a:rPr>
              <a:t>地的分割</a:t>
            </a:r>
            <a:endParaRPr lang="en-US" altLang="zh-CN" kern="100" dirty="0" smtClean="0">
              <a:latin typeface="+mj-ea"/>
              <a:ea typeface="+mj-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当</a:t>
            </a:r>
            <a:r>
              <a:rPr lang="zh-CN" altLang="zh-CN" kern="100" dirty="0">
                <a:latin typeface="+mn-ea"/>
                <a:ea typeface="+mn-ea"/>
              </a:rPr>
              <a:t>一个系统中同时存在模拟信号与数字信号时，应该将两部分的地分开，然后在合适的地方</a:t>
            </a:r>
            <a:r>
              <a:rPr lang="zh-CN" altLang="zh-CN" kern="100" dirty="0" smtClean="0">
                <a:latin typeface="+mn-ea"/>
                <a:ea typeface="+mn-ea"/>
              </a:rPr>
              <a:t>连接</a:t>
            </a:r>
            <a:r>
              <a:rPr lang="zh-CN" altLang="en-US" kern="100" dirty="0" smtClean="0">
                <a:latin typeface="+mn-ea"/>
                <a:ea typeface="+mn-ea"/>
              </a:rPr>
              <a:t>。</a:t>
            </a:r>
            <a:r>
              <a:rPr lang="zh-CN" altLang="zh-CN" kern="100" dirty="0" smtClean="0">
                <a:latin typeface="+mn-ea"/>
                <a:ea typeface="+mn-ea"/>
              </a:rPr>
              <a:t>通常</a:t>
            </a:r>
            <a:r>
              <a:rPr lang="zh-CN" altLang="zh-CN" kern="100" dirty="0">
                <a:latin typeface="+mn-ea"/>
                <a:ea typeface="+mn-ea"/>
              </a:rPr>
              <a:t>可以在模拟信号进入数字部分的位置（例如</a:t>
            </a:r>
            <a:r>
              <a:rPr lang="en-US" altLang="zh-CN" kern="100" dirty="0">
                <a:latin typeface="+mn-ea"/>
                <a:ea typeface="+mn-ea"/>
              </a:rPr>
              <a:t>ADC</a:t>
            </a:r>
            <a:r>
              <a:rPr lang="zh-CN" altLang="zh-CN" kern="100" dirty="0">
                <a:latin typeface="+mn-ea"/>
                <a:ea typeface="+mn-ea"/>
              </a:rPr>
              <a:t>输入端口）</a:t>
            </a:r>
            <a:r>
              <a:rPr lang="zh-CN" altLang="zh-CN" kern="100" dirty="0" smtClean="0">
                <a:latin typeface="+mn-ea"/>
                <a:ea typeface="+mn-ea"/>
              </a:rPr>
              <a:t>连接</a:t>
            </a:r>
            <a:endParaRPr lang="zh-CN" altLang="zh-CN" kern="100" dirty="0">
              <a:latin typeface="+mn-ea"/>
              <a:ea typeface="+mn-ea"/>
            </a:endParaRPr>
          </a:p>
          <a:p>
            <a:pPr marL="342900" indent="-342900">
              <a:lnSpc>
                <a:spcPct val="150000"/>
              </a:lnSpc>
              <a:buFont typeface="Wingdings" panose="05000000000000000000" pitchFamily="2" charset="2"/>
              <a:buChar char="Ø"/>
            </a:pPr>
            <a:r>
              <a:rPr lang="zh-CN" altLang="zh-CN" dirty="0">
                <a:latin typeface="+mn-ea"/>
                <a:ea typeface="+mn-ea"/>
                <a:cs typeface="Times New Roman" panose="02020603050405020304" pitchFamily="18" charset="0"/>
              </a:rPr>
              <a:t>若系统中存在开关电源，则最好将开关电源部分独立。如果必须设计在同一个印制板上，则电源部分应该形成一个单独的区域，它与其他部分仅仅在电源最后的输出储能电容引脚处相</a:t>
            </a:r>
            <a:r>
              <a:rPr lang="zh-CN" altLang="zh-CN" dirty="0" smtClean="0">
                <a:latin typeface="+mn-ea"/>
                <a:ea typeface="+mn-ea"/>
                <a:cs typeface="Times New Roman" panose="02020603050405020304" pitchFamily="18" charset="0"/>
              </a:rPr>
              <a:t>连通</a:t>
            </a:r>
            <a:endParaRPr lang="zh-CN" altLang="en-US" dirty="0">
              <a:latin typeface="+mn-ea"/>
              <a:ea typeface="+mn-ea"/>
            </a:endParaRPr>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5" name="矩形 4"/>
          <p:cNvSpPr/>
          <p:nvPr/>
        </p:nvSpPr>
        <p:spPr>
          <a:xfrm>
            <a:off x="468313" y="563557"/>
            <a:ext cx="8221775" cy="4247317"/>
          </a:xfrm>
          <a:prstGeom prst="rect">
            <a:avLst/>
          </a:prstGeom>
        </p:spPr>
        <p:txBody>
          <a:bodyPr wrap="square">
            <a:spAutoFit/>
          </a:bodyPr>
          <a:lstStyle/>
          <a:p>
            <a:pPr algn="just">
              <a:lnSpc>
                <a:spcPct val="150000"/>
              </a:lnSpc>
              <a:spcAft>
                <a:spcPts val="0"/>
              </a:spcAft>
            </a:pPr>
            <a:r>
              <a:rPr lang="zh-CN" altLang="zh-CN" kern="100" dirty="0" smtClean="0">
                <a:latin typeface="+mj-ea"/>
                <a:ea typeface="+mj-ea"/>
              </a:rPr>
              <a:t>电源</a:t>
            </a:r>
            <a:r>
              <a:rPr lang="zh-CN" altLang="zh-CN" kern="100" dirty="0">
                <a:latin typeface="+mj-ea"/>
                <a:ea typeface="+mj-ea"/>
              </a:rPr>
              <a:t>退</a:t>
            </a:r>
            <a:r>
              <a:rPr lang="zh-CN" altLang="zh-CN" kern="100" dirty="0" smtClean="0">
                <a:latin typeface="+mj-ea"/>
                <a:ea typeface="+mj-ea"/>
              </a:rPr>
              <a:t>耦电容</a:t>
            </a:r>
            <a:endParaRPr lang="zh-CN" altLang="zh-CN" kern="100" dirty="0">
              <a:latin typeface="+mj-ea"/>
              <a:ea typeface="+mj-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高频</a:t>
            </a:r>
            <a:r>
              <a:rPr lang="zh-CN" altLang="zh-CN" kern="100" dirty="0">
                <a:latin typeface="+mn-ea"/>
                <a:ea typeface="+mn-ea"/>
              </a:rPr>
              <a:t>或高速</a:t>
            </a:r>
            <a:r>
              <a:rPr lang="zh-CN" altLang="zh-CN" kern="100" dirty="0" smtClean="0">
                <a:latin typeface="+mn-ea"/>
                <a:ea typeface="+mn-ea"/>
              </a:rPr>
              <a:t>电路</a:t>
            </a:r>
            <a:r>
              <a:rPr lang="zh-CN" altLang="en-US" kern="100" dirty="0" smtClean="0">
                <a:latin typeface="+mn-ea"/>
                <a:ea typeface="+mn-ea"/>
              </a:rPr>
              <a:t>，</a:t>
            </a:r>
            <a:r>
              <a:rPr lang="zh-CN" altLang="zh-CN" kern="100" dirty="0" smtClean="0">
                <a:latin typeface="+mn-ea"/>
                <a:ea typeface="+mn-ea"/>
              </a:rPr>
              <a:t>每个</a:t>
            </a:r>
            <a:r>
              <a:rPr lang="zh-CN" altLang="zh-CN" kern="100" dirty="0">
                <a:latin typeface="+mn-ea"/>
                <a:ea typeface="+mn-ea"/>
              </a:rPr>
              <a:t>集成电路芯片都需要单独的电源退耦</a:t>
            </a:r>
            <a:r>
              <a:rPr lang="zh-CN" altLang="zh-CN" kern="100" dirty="0" smtClean="0">
                <a:latin typeface="+mn-ea"/>
                <a:ea typeface="+mn-ea"/>
              </a:rPr>
              <a:t>电容</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en-US" kern="100" dirty="0">
                <a:latin typeface="+mn-ea"/>
                <a:ea typeface="+mn-ea"/>
              </a:rPr>
              <a:t>运</a:t>
            </a:r>
            <a:r>
              <a:rPr lang="zh-CN" altLang="en-US" kern="100" dirty="0" smtClean="0">
                <a:latin typeface="+mn-ea"/>
                <a:ea typeface="+mn-ea"/>
              </a:rPr>
              <a:t>放，</a:t>
            </a:r>
            <a:r>
              <a:rPr lang="zh-CN" altLang="zh-CN" kern="100" dirty="0">
                <a:latin typeface="+mn-ea"/>
              </a:rPr>
              <a:t>每个集成电路芯片都需要单独的电源退耦</a:t>
            </a:r>
            <a:r>
              <a:rPr lang="zh-CN" altLang="zh-CN" kern="100" dirty="0" smtClean="0">
                <a:latin typeface="+mn-ea"/>
              </a:rPr>
              <a:t>电容</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低频数字电路</a:t>
            </a:r>
            <a:r>
              <a:rPr lang="zh-CN" altLang="en-US" kern="100" dirty="0" smtClean="0">
                <a:latin typeface="+mn-ea"/>
                <a:ea typeface="+mn-ea"/>
              </a:rPr>
              <a:t>，可以</a:t>
            </a:r>
            <a:r>
              <a:rPr lang="zh-CN" altLang="zh-CN" kern="100" dirty="0" smtClean="0">
                <a:latin typeface="+mn-ea"/>
                <a:ea typeface="+mn-ea"/>
              </a:rPr>
              <a:t>采用</a:t>
            </a:r>
            <a:r>
              <a:rPr lang="zh-CN" altLang="zh-CN" kern="100" dirty="0">
                <a:latin typeface="+mn-ea"/>
                <a:ea typeface="+mn-ea"/>
              </a:rPr>
              <a:t>几个芯片合用一组电源退耦电容的</a:t>
            </a:r>
            <a:r>
              <a:rPr lang="zh-CN" altLang="zh-CN" kern="100" dirty="0" smtClean="0">
                <a:latin typeface="+mn-ea"/>
                <a:ea typeface="+mn-ea"/>
              </a:rPr>
              <a:t>做法</a:t>
            </a:r>
            <a:endParaRPr lang="zh-CN" altLang="zh-CN" kern="100" dirty="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瓷</a:t>
            </a:r>
            <a:r>
              <a:rPr lang="zh-CN" altLang="zh-CN" kern="100" dirty="0">
                <a:latin typeface="+mn-ea"/>
                <a:ea typeface="+mn-ea"/>
              </a:rPr>
              <a:t>片电容具有较好的高频特性，它作为电源退耦电容的作用是给电源提供一个低阻抗的接地通道，有效降低电源</a:t>
            </a:r>
            <a:r>
              <a:rPr lang="zh-CN" altLang="zh-CN" kern="100" dirty="0" smtClean="0">
                <a:latin typeface="+mn-ea"/>
                <a:ea typeface="+mn-ea"/>
              </a:rPr>
              <a:t>噪声</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dirty="0" smtClean="0"/>
              <a:t>并联</a:t>
            </a:r>
            <a:r>
              <a:rPr lang="zh-CN" altLang="zh-CN" dirty="0"/>
              <a:t>在芯片电源引脚上的电解</a:t>
            </a:r>
            <a:r>
              <a:rPr lang="zh-CN" altLang="zh-CN" dirty="0" smtClean="0"/>
              <a:t>电容是</a:t>
            </a:r>
            <a:r>
              <a:rPr lang="zh-CN" altLang="zh-CN" dirty="0"/>
              <a:t>储能</a:t>
            </a:r>
            <a:r>
              <a:rPr lang="zh-CN" altLang="zh-CN" dirty="0" smtClean="0"/>
              <a:t>电容</a:t>
            </a:r>
            <a:r>
              <a:rPr lang="zh-CN" altLang="en-US" dirty="0" smtClean="0"/>
              <a:t>，</a:t>
            </a:r>
            <a:r>
              <a:rPr lang="zh-CN" altLang="zh-CN" dirty="0" smtClean="0"/>
              <a:t>它</a:t>
            </a:r>
            <a:r>
              <a:rPr lang="zh-CN" altLang="zh-CN" dirty="0"/>
              <a:t>的作用是在芯片的工作电流发生变化时提供芯片一个缓冲的能量，使得芯片的工作电压不至于有太大的</a:t>
            </a:r>
            <a:r>
              <a:rPr lang="zh-CN" altLang="zh-CN" dirty="0" smtClean="0"/>
              <a:t>波动</a:t>
            </a:r>
            <a:r>
              <a:rPr lang="zh-CN" altLang="en-US" dirty="0" smtClean="0"/>
              <a:t>，尤其在模拟电路芯片中是十分必要的</a:t>
            </a:r>
            <a:endParaRPr lang="en-US" altLang="zh-CN" dirty="0" smtClean="0"/>
          </a:p>
        </p:txBody>
      </p:sp>
    </p:spTree>
    <p:extLst>
      <p:ext uri="{BB962C8B-B14F-4D97-AF65-F5344CB8AC3E}">
        <p14:creationId xmlns:p14="http://schemas.microsoft.com/office/powerpoint/2010/main" val="2119180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矩形 4"/>
          <p:cNvSpPr/>
          <p:nvPr/>
        </p:nvSpPr>
        <p:spPr>
          <a:xfrm>
            <a:off x="468313" y="563557"/>
            <a:ext cx="8221775" cy="5170646"/>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Ø"/>
            </a:pPr>
            <a:r>
              <a:rPr lang="zh-CN" altLang="zh-CN" kern="100" dirty="0">
                <a:latin typeface="+mn-ea"/>
              </a:rPr>
              <a:t>工作频率很高时必须考虑电容的寄生参数影响，包括电容的等效串联电阻（</a:t>
            </a:r>
            <a:r>
              <a:rPr lang="en-US" altLang="zh-CN" kern="100" dirty="0">
                <a:latin typeface="+mn-ea"/>
              </a:rPr>
              <a:t>ESR</a:t>
            </a:r>
            <a:r>
              <a:rPr lang="zh-CN" altLang="zh-CN" kern="100" dirty="0">
                <a:latin typeface="+mn-ea"/>
              </a:rPr>
              <a:t>）和等效串联电感（</a:t>
            </a:r>
            <a:r>
              <a:rPr lang="en-US" altLang="zh-CN" kern="100" dirty="0">
                <a:latin typeface="+mn-ea"/>
              </a:rPr>
              <a:t>ESL</a:t>
            </a:r>
            <a:r>
              <a:rPr lang="zh-CN" altLang="zh-CN" kern="100" dirty="0">
                <a:latin typeface="+mn-ea"/>
              </a:rPr>
              <a:t>）</a:t>
            </a:r>
            <a:r>
              <a:rPr lang="zh-CN" altLang="en-US" kern="100" dirty="0">
                <a:latin typeface="+mn-ea"/>
              </a:rPr>
              <a:t>，</a:t>
            </a:r>
            <a:r>
              <a:rPr lang="zh-CN" altLang="zh-CN" kern="100" dirty="0">
                <a:latin typeface="+mn-ea"/>
              </a:rPr>
              <a:t>必须使用无引线电容，最为常见的是贴片</a:t>
            </a:r>
            <a:r>
              <a:rPr lang="zh-CN" altLang="zh-CN" kern="100" dirty="0" smtClean="0">
                <a:latin typeface="+mn-ea"/>
              </a:rPr>
              <a:t>电容</a:t>
            </a:r>
            <a:endParaRPr lang="zh-CN" altLang="zh-CN" kern="100" dirty="0">
              <a:latin typeface="+mn-ea"/>
            </a:endParaRPr>
          </a:p>
          <a:p>
            <a:pPr marL="342900" indent="-342900" algn="just">
              <a:lnSpc>
                <a:spcPct val="150000"/>
              </a:lnSpc>
              <a:spcAft>
                <a:spcPts val="0"/>
              </a:spcAft>
              <a:buFont typeface="Wingdings" panose="05000000000000000000" pitchFamily="2" charset="2"/>
              <a:buChar char="Ø"/>
            </a:pPr>
            <a:r>
              <a:rPr lang="zh-CN" altLang="en-US" kern="100" dirty="0" smtClean="0">
                <a:latin typeface="+mn-ea"/>
                <a:ea typeface="+mn-ea"/>
              </a:rPr>
              <a:t>高频电路中，</a:t>
            </a:r>
            <a:r>
              <a:rPr lang="zh-CN" altLang="zh-CN" kern="100" dirty="0" smtClean="0">
                <a:latin typeface="+mn-ea"/>
                <a:ea typeface="+mn-ea"/>
              </a:rPr>
              <a:t>即使</a:t>
            </a:r>
            <a:r>
              <a:rPr lang="zh-CN" altLang="zh-CN" kern="100" dirty="0">
                <a:latin typeface="+mn-ea"/>
                <a:ea typeface="+mn-ea"/>
              </a:rPr>
              <a:t>贴片</a:t>
            </a:r>
            <a:r>
              <a:rPr lang="zh-CN" altLang="zh-CN" kern="100" dirty="0" smtClean="0">
                <a:latin typeface="+mn-ea"/>
                <a:ea typeface="+mn-ea"/>
              </a:rPr>
              <a:t>电容</a:t>
            </a:r>
            <a:r>
              <a:rPr lang="zh-CN" altLang="en-US" kern="100" dirty="0" smtClean="0">
                <a:latin typeface="+mn-ea"/>
                <a:ea typeface="+mn-ea"/>
              </a:rPr>
              <a:t>也要考虑其</a:t>
            </a:r>
            <a:r>
              <a:rPr lang="zh-CN" altLang="zh-CN" kern="100" dirty="0" smtClean="0">
                <a:latin typeface="+mn-ea"/>
                <a:ea typeface="+mn-ea"/>
              </a:rPr>
              <a:t>分布电感</a:t>
            </a:r>
            <a:r>
              <a:rPr lang="zh-CN" altLang="en-US" kern="100" dirty="0" smtClean="0">
                <a:latin typeface="+mn-ea"/>
                <a:ea typeface="+mn-ea"/>
              </a:rPr>
              <a:t>，</a:t>
            </a:r>
            <a:r>
              <a:rPr lang="zh-CN" altLang="zh-CN" kern="100" dirty="0" smtClean="0">
                <a:latin typeface="+mn-ea"/>
                <a:ea typeface="+mn-ea"/>
              </a:rPr>
              <a:t>有时候</a:t>
            </a:r>
            <a:r>
              <a:rPr lang="zh-CN" altLang="zh-CN" kern="100" dirty="0">
                <a:latin typeface="+mn-ea"/>
                <a:ea typeface="+mn-ea"/>
              </a:rPr>
              <a:t>大容量电容的退耦效果反而不如较小容量的电容</a:t>
            </a:r>
            <a:r>
              <a:rPr lang="zh-CN" altLang="zh-CN" kern="100" dirty="0" smtClean="0">
                <a:latin typeface="+mn-ea"/>
                <a:ea typeface="+mn-ea"/>
              </a:rPr>
              <a:t>好</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en-US" kern="100" dirty="0" smtClean="0">
                <a:latin typeface="+mn-ea"/>
                <a:ea typeface="+mn-ea"/>
              </a:rPr>
              <a:t>采用多个相同的贴片电容并联，可以有效降低等效的</a:t>
            </a:r>
            <a:r>
              <a:rPr lang="en-US" altLang="zh-CN" kern="100" dirty="0" smtClean="0">
                <a:latin typeface="+mn-ea"/>
                <a:ea typeface="+mn-ea"/>
              </a:rPr>
              <a:t>ESR</a:t>
            </a:r>
            <a:r>
              <a:rPr lang="zh-CN" altLang="en-US" kern="100" dirty="0" smtClean="0">
                <a:latin typeface="+mn-ea"/>
                <a:ea typeface="+mn-ea"/>
              </a:rPr>
              <a:t>与</a:t>
            </a:r>
            <a:r>
              <a:rPr lang="en-US" altLang="zh-CN" kern="100" dirty="0" smtClean="0">
                <a:latin typeface="+mn-ea"/>
                <a:ea typeface="+mn-ea"/>
              </a:rPr>
              <a:t>ESL</a:t>
            </a:r>
          </a:p>
          <a:p>
            <a:pPr marL="342900" indent="-342900" algn="just">
              <a:lnSpc>
                <a:spcPct val="150000"/>
              </a:lnSpc>
              <a:spcAft>
                <a:spcPts val="0"/>
              </a:spcAft>
              <a:buFont typeface="Wingdings" panose="05000000000000000000" pitchFamily="2" charset="2"/>
              <a:buChar char="Ø"/>
            </a:pPr>
            <a:r>
              <a:rPr lang="zh-CN" altLang="en-US" kern="100" dirty="0">
                <a:latin typeface="+mn-ea"/>
                <a:ea typeface="+mn-ea"/>
              </a:rPr>
              <a:t>不</a:t>
            </a:r>
            <a:r>
              <a:rPr lang="zh-CN" altLang="en-US" kern="100" dirty="0" smtClean="0">
                <a:latin typeface="+mn-ea"/>
                <a:ea typeface="+mn-ea"/>
              </a:rPr>
              <a:t>建议不同容量的贴片电容并联（电解电容除外）</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en-US" kern="100" dirty="0" smtClean="0">
                <a:latin typeface="+mn-ea"/>
                <a:ea typeface="+mn-ea"/>
              </a:rPr>
              <a:t>所有退耦电容</a:t>
            </a:r>
            <a:r>
              <a:rPr lang="zh-CN" altLang="zh-CN" dirty="0"/>
              <a:t>要尽可能靠近芯片的电源引脚，同时尽可能就近接地，在高频电路中通常直接在电容接地端用一个通孔接到</a:t>
            </a:r>
            <a:r>
              <a:rPr lang="zh-CN" altLang="zh-CN" dirty="0" smtClean="0"/>
              <a:t>地平面</a:t>
            </a:r>
            <a:endParaRPr lang="en-US" altLang="zh-CN" dirty="0" smtClean="0"/>
          </a:p>
          <a:p>
            <a:pPr marL="342900" indent="-342900" algn="just">
              <a:lnSpc>
                <a:spcPct val="150000"/>
              </a:lnSpc>
              <a:spcAft>
                <a:spcPts val="0"/>
              </a:spcAft>
              <a:buFont typeface="Wingdings" panose="05000000000000000000" pitchFamily="2" charset="2"/>
              <a:buChar char="Ø"/>
            </a:pPr>
            <a:r>
              <a:rPr lang="zh-CN" altLang="zh-CN" dirty="0" smtClean="0"/>
              <a:t>电源</a:t>
            </a:r>
            <a:r>
              <a:rPr lang="zh-CN" altLang="zh-CN" dirty="0"/>
              <a:t>线进入放大器时最好先连到退耦电容引脚，再连到芯片的电源引脚</a:t>
            </a:r>
            <a:endParaRPr lang="zh-CN" altLang="zh-CN" kern="100" dirty="0">
              <a:latin typeface="+mn-ea"/>
              <a:ea typeface="+mn-ea"/>
            </a:endParaRPr>
          </a:p>
        </p:txBody>
      </p:sp>
    </p:spTree>
    <p:extLst>
      <p:ext uri="{BB962C8B-B14F-4D97-AF65-F5344CB8AC3E}">
        <p14:creationId xmlns:p14="http://schemas.microsoft.com/office/powerpoint/2010/main" val="3640100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68313" y="539766"/>
            <a:ext cx="4373402" cy="523220"/>
          </a:xfrm>
          <a:prstGeom prst="rect">
            <a:avLst/>
          </a:prstGeom>
        </p:spPr>
        <p:txBody>
          <a:bodyPr wrap="square">
            <a:spAutoFit/>
          </a:bodyPr>
          <a:lstStyle/>
          <a:p>
            <a:r>
              <a:rPr lang="zh-CN" altLang="zh-CN" sz="2800" kern="0" dirty="0">
                <a:solidFill>
                  <a:srgbClr val="FF0000"/>
                </a:solidFill>
                <a:latin typeface="隶书" panose="02010509060101010101" pitchFamily="49" charset="-122"/>
                <a:ea typeface="隶书" panose="02010509060101010101" pitchFamily="49" charset="-122"/>
                <a:cs typeface="Tahoma" panose="020B0604030504040204" pitchFamily="34" charset="0"/>
              </a:rPr>
              <a:t>信号的连接</a:t>
            </a:r>
            <a:endParaRPr lang="zh-CN" altLang="en-US" sz="2800" dirty="0">
              <a:solidFill>
                <a:srgbClr val="FF0000"/>
              </a:solidFill>
              <a:latin typeface="隶书" panose="02010509060101010101" pitchFamily="49" charset="-122"/>
              <a:ea typeface="隶书" panose="02010509060101010101" pitchFamily="49" charset="-122"/>
            </a:endParaRPr>
          </a:p>
        </p:txBody>
      </p:sp>
      <p:sp>
        <p:nvSpPr>
          <p:cNvPr id="6" name="矩形 5"/>
          <p:cNvSpPr/>
          <p:nvPr/>
        </p:nvSpPr>
        <p:spPr>
          <a:xfrm>
            <a:off x="415686" y="1097237"/>
            <a:ext cx="8280982" cy="4324261"/>
          </a:xfrm>
          <a:prstGeom prst="rect">
            <a:avLst/>
          </a:prstGeom>
        </p:spPr>
        <p:txBody>
          <a:bodyPr wrap="square">
            <a:spAutoFit/>
          </a:bodyPr>
          <a:lstStyle/>
          <a:p>
            <a:pPr>
              <a:lnSpc>
                <a:spcPct val="150000"/>
              </a:lnSpc>
              <a:spcBef>
                <a:spcPts val="1200"/>
              </a:spcBef>
              <a:spcAft>
                <a:spcPts val="600"/>
              </a:spcAft>
            </a:pPr>
            <a:r>
              <a:rPr lang="zh-CN" altLang="zh-CN" kern="0" dirty="0">
                <a:solidFill>
                  <a:srgbClr val="444444"/>
                </a:solidFill>
                <a:latin typeface="Times New Roman" panose="02020603050405020304" pitchFamily="18" charset="0"/>
                <a:ea typeface="黑体" panose="02010609060101010101" pitchFamily="49" charset="-122"/>
                <a:cs typeface="Tahoma" panose="020B0604030504040204" pitchFamily="34" charset="0"/>
              </a:rPr>
              <a:t>印制板上的信号线</a:t>
            </a:r>
            <a:endParaRPr lang="zh-CN" altLang="zh-CN" kern="100" dirty="0">
              <a:latin typeface="Times New Roman" panose="02020603050405020304" pitchFamily="18" charset="0"/>
              <a:ea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低频</a:t>
            </a:r>
            <a:r>
              <a:rPr lang="zh-CN" altLang="zh-CN" kern="100" dirty="0">
                <a:latin typeface="+mn-ea"/>
                <a:ea typeface="+mn-ea"/>
              </a:rPr>
              <a:t>和低速</a:t>
            </a:r>
            <a:r>
              <a:rPr lang="zh-CN" altLang="zh-CN" kern="100" dirty="0" smtClean="0">
                <a:latin typeface="+mn-ea"/>
                <a:ea typeface="+mn-ea"/>
              </a:rPr>
              <a:t>电路</a:t>
            </a:r>
            <a:r>
              <a:rPr lang="zh-CN" altLang="zh-CN" kern="100" dirty="0">
                <a:latin typeface="+mn-ea"/>
                <a:ea typeface="+mn-ea"/>
              </a:rPr>
              <a:t>（精密测量电路除外</a:t>
            </a:r>
            <a:r>
              <a:rPr lang="zh-CN" altLang="zh-CN" kern="100" dirty="0" smtClean="0">
                <a:latin typeface="+mn-ea"/>
                <a:ea typeface="+mn-ea"/>
              </a:rPr>
              <a:t>）</a:t>
            </a:r>
            <a:r>
              <a:rPr lang="zh-CN" altLang="en-US" kern="100" dirty="0" smtClean="0">
                <a:latin typeface="+mn-ea"/>
                <a:ea typeface="+mn-ea"/>
              </a:rPr>
              <a:t>：</a:t>
            </a:r>
            <a:r>
              <a:rPr lang="zh-CN" altLang="zh-CN" kern="100" dirty="0" smtClean="0">
                <a:latin typeface="+mn-ea"/>
                <a:ea typeface="+mn-ea"/>
              </a:rPr>
              <a:t>只要</a:t>
            </a:r>
            <a:r>
              <a:rPr lang="zh-CN" altLang="zh-CN" kern="100" dirty="0">
                <a:latin typeface="+mn-ea"/>
                <a:ea typeface="+mn-ea"/>
              </a:rPr>
              <a:t>不是十分糟糕的布线，印制板上的信号连接通常不会引起什么</a:t>
            </a:r>
            <a:r>
              <a:rPr lang="zh-CN" altLang="zh-CN" kern="100" dirty="0" smtClean="0">
                <a:latin typeface="+mn-ea"/>
                <a:ea typeface="+mn-ea"/>
              </a:rPr>
              <a:t>问题</a:t>
            </a:r>
            <a:endParaRPr lang="zh-CN" altLang="zh-CN" kern="100" dirty="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高频</a:t>
            </a:r>
            <a:r>
              <a:rPr lang="zh-CN" altLang="en-US" kern="100" dirty="0" smtClean="0">
                <a:latin typeface="+mn-ea"/>
                <a:ea typeface="+mn-ea"/>
              </a:rPr>
              <a:t>高速</a:t>
            </a:r>
            <a:r>
              <a:rPr lang="zh-CN" altLang="zh-CN" kern="100" dirty="0" smtClean="0">
                <a:latin typeface="+mn-ea"/>
                <a:ea typeface="+mn-ea"/>
              </a:rPr>
              <a:t>电路</a:t>
            </a:r>
            <a:r>
              <a:rPr lang="zh-CN" altLang="en-US" kern="100" dirty="0" smtClean="0">
                <a:latin typeface="+mn-ea"/>
                <a:ea typeface="+mn-ea"/>
              </a:rPr>
              <a:t>：</a:t>
            </a:r>
            <a:r>
              <a:rPr lang="zh-CN" altLang="zh-CN" kern="100" dirty="0" smtClean="0">
                <a:latin typeface="+mn-ea"/>
                <a:ea typeface="+mn-ea"/>
              </a:rPr>
              <a:t>信号</a:t>
            </a:r>
            <a:r>
              <a:rPr lang="zh-CN" altLang="zh-CN" kern="100" dirty="0">
                <a:latin typeface="+mn-ea"/>
                <a:ea typeface="+mn-ea"/>
              </a:rPr>
              <a:t>线以短、直为布线原则（传输线除外）。曾经有学生由于将信号线绕了一个圈而导致高频振荡器停振。也有些特殊的集成器件对布线有特殊的要求，通常会在其数据手册中特别注明，布线时必须遵循手册的</a:t>
            </a:r>
            <a:r>
              <a:rPr lang="zh-CN" altLang="zh-CN" kern="100" dirty="0" smtClean="0">
                <a:latin typeface="+mn-ea"/>
                <a:ea typeface="+mn-ea"/>
              </a:rPr>
              <a:t>说明</a:t>
            </a:r>
            <a:endParaRPr lang="zh-CN" altLang="zh-CN" kern="100" dirty="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kern="100" dirty="0">
                <a:latin typeface="+mn-ea"/>
                <a:ea typeface="+mn-ea"/>
              </a:rPr>
              <a:t>传输线</a:t>
            </a:r>
            <a:r>
              <a:rPr lang="zh-CN" altLang="zh-CN" kern="100" dirty="0" smtClean="0">
                <a:latin typeface="+mn-ea"/>
                <a:ea typeface="+mn-ea"/>
              </a:rPr>
              <a:t>需要</a:t>
            </a:r>
            <a:r>
              <a:rPr lang="zh-CN" altLang="en-US" kern="100" dirty="0" smtClean="0">
                <a:latin typeface="+mn-ea"/>
                <a:ea typeface="+mn-ea"/>
              </a:rPr>
              <a:t>其</a:t>
            </a:r>
            <a:r>
              <a:rPr lang="zh-CN" altLang="zh-CN" kern="100" dirty="0" smtClean="0">
                <a:latin typeface="+mn-ea"/>
                <a:ea typeface="+mn-ea"/>
              </a:rPr>
              <a:t>特性阻抗</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en-US" kern="100" dirty="0" smtClean="0">
                <a:latin typeface="+mn-ea"/>
                <a:ea typeface="+mn-ea"/>
              </a:rPr>
              <a:t>高速数字电路（</a:t>
            </a:r>
            <a:r>
              <a:rPr lang="en-US" altLang="zh-CN" kern="100" dirty="0" smtClean="0">
                <a:latin typeface="+mn-ea"/>
                <a:ea typeface="+mn-ea"/>
              </a:rPr>
              <a:t>100MHz</a:t>
            </a:r>
            <a:r>
              <a:rPr lang="zh-CN" altLang="en-US" kern="100" dirty="0" smtClean="0">
                <a:latin typeface="+mn-ea"/>
                <a:ea typeface="+mn-ea"/>
              </a:rPr>
              <a:t>以上），要考虑信号线的延时</a:t>
            </a:r>
            <a:endParaRPr lang="zh-CN" altLang="zh-CN" kern="100" dirty="0">
              <a:latin typeface="+mn-ea"/>
              <a:ea typeface="+mn-ea"/>
            </a:endParaRPr>
          </a:p>
        </p:txBody>
      </p:sp>
    </p:spTree>
    <p:extLst>
      <p:ext uri="{BB962C8B-B14F-4D97-AF65-F5344CB8AC3E}">
        <p14:creationId xmlns:p14="http://schemas.microsoft.com/office/powerpoint/2010/main" val="3916258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矩形 4"/>
          <p:cNvSpPr/>
          <p:nvPr/>
        </p:nvSpPr>
        <p:spPr>
          <a:xfrm>
            <a:off x="468313" y="603095"/>
            <a:ext cx="8267825" cy="1938992"/>
          </a:xfrm>
          <a:prstGeom prst="rect">
            <a:avLst/>
          </a:prstGeom>
        </p:spPr>
        <p:txBody>
          <a:bodyPr wrap="square">
            <a:spAutoFit/>
          </a:bodyPr>
          <a:lstStyle/>
          <a:p>
            <a:pPr algn="just">
              <a:lnSpc>
                <a:spcPct val="150000"/>
              </a:lnSpc>
              <a:spcAft>
                <a:spcPts val="0"/>
              </a:spcAft>
            </a:pPr>
            <a:r>
              <a:rPr lang="zh-CN" altLang="zh-CN" kern="100" dirty="0" smtClean="0">
                <a:latin typeface="+mj-ea"/>
                <a:ea typeface="+mj-ea"/>
              </a:rPr>
              <a:t>屏蔽电缆</a:t>
            </a:r>
            <a:endParaRPr lang="en-US" altLang="zh-CN" kern="100" dirty="0" smtClean="0">
              <a:latin typeface="+mj-ea"/>
              <a:ea typeface="+mj-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常常</a:t>
            </a:r>
            <a:r>
              <a:rPr lang="zh-CN" altLang="zh-CN" kern="100" dirty="0">
                <a:latin typeface="+mn-ea"/>
                <a:ea typeface="+mn-ea"/>
              </a:rPr>
              <a:t>用于小信号</a:t>
            </a:r>
            <a:r>
              <a:rPr lang="zh-CN" altLang="zh-CN" kern="100" dirty="0" smtClean="0">
                <a:latin typeface="+mn-ea"/>
                <a:ea typeface="+mn-ea"/>
              </a:rPr>
              <a:t>传递</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屏蔽</a:t>
            </a:r>
            <a:r>
              <a:rPr lang="zh-CN" altLang="zh-CN" kern="100" dirty="0">
                <a:latin typeface="+mn-ea"/>
                <a:ea typeface="+mn-ea"/>
              </a:rPr>
              <a:t>层</a:t>
            </a:r>
            <a:r>
              <a:rPr lang="zh-CN" altLang="zh-CN" kern="100" dirty="0" smtClean="0">
                <a:latin typeface="+mn-ea"/>
                <a:ea typeface="+mn-ea"/>
              </a:rPr>
              <a:t>接地可以</a:t>
            </a:r>
            <a:r>
              <a:rPr lang="zh-CN" altLang="zh-CN" kern="100" dirty="0">
                <a:latin typeface="+mn-ea"/>
                <a:ea typeface="+mn-ea"/>
              </a:rPr>
              <a:t>很大程度上降低</a:t>
            </a:r>
            <a:r>
              <a:rPr lang="zh-CN" altLang="zh-CN" kern="100" dirty="0" smtClean="0">
                <a:latin typeface="+mn-ea"/>
                <a:ea typeface="+mn-ea"/>
              </a:rPr>
              <a:t>由分布电容</a:t>
            </a:r>
            <a:r>
              <a:rPr lang="zh-CN" altLang="zh-CN" kern="100" dirty="0">
                <a:latin typeface="+mn-ea"/>
                <a:ea typeface="+mn-ea"/>
              </a:rPr>
              <a:t>引入的</a:t>
            </a:r>
            <a:r>
              <a:rPr lang="zh-CN" altLang="zh-CN" kern="100" dirty="0" smtClean="0">
                <a:latin typeface="+mn-ea"/>
                <a:ea typeface="+mn-ea"/>
              </a:rPr>
              <a:t>干扰</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屏蔽</a:t>
            </a:r>
            <a:r>
              <a:rPr lang="zh-CN" altLang="zh-CN" kern="100" dirty="0">
                <a:latin typeface="+mn-ea"/>
                <a:ea typeface="+mn-ea"/>
              </a:rPr>
              <a:t>层接地方式对屏蔽效果有很大</a:t>
            </a:r>
            <a:r>
              <a:rPr lang="zh-CN" altLang="zh-CN" kern="100" dirty="0" smtClean="0">
                <a:latin typeface="+mn-ea"/>
                <a:ea typeface="+mn-ea"/>
              </a:rPr>
              <a:t>影响</a:t>
            </a:r>
            <a:endParaRPr lang="zh-CN" altLang="en-US" dirty="0">
              <a:latin typeface="+mn-ea"/>
              <a:ea typeface="+mn-ea"/>
            </a:endParaRPr>
          </a:p>
        </p:txBody>
      </p:sp>
      <p:sp>
        <p:nvSpPr>
          <p:cNvPr id="8" name="Rectangle 4"/>
          <p:cNvSpPr>
            <a:spLocks noChangeArrowheads="1"/>
          </p:cNvSpPr>
          <p:nvPr/>
        </p:nvSpPr>
        <p:spPr bwMode="auto">
          <a:xfrm>
            <a:off x="844552" y="2893149"/>
            <a:ext cx="145574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4193803507"/>
              </p:ext>
            </p:extLst>
          </p:nvPr>
        </p:nvGraphicFramePr>
        <p:xfrm>
          <a:off x="1069010" y="2846519"/>
          <a:ext cx="7066429" cy="2080134"/>
        </p:xfrm>
        <a:graphic>
          <a:graphicData uri="http://schemas.openxmlformats.org/presentationml/2006/ole">
            <mc:AlternateContent xmlns:mc="http://schemas.openxmlformats.org/markup-compatibility/2006">
              <mc:Choice xmlns:v="urn:schemas-microsoft-com:vml" Requires="v">
                <p:oleObj spid="_x0000_s1041" name="Visio" r:id="rId3" imgW="3708417" imgH="1041116" progId="Visio.Drawing.15">
                  <p:embed/>
                </p:oleObj>
              </mc:Choice>
              <mc:Fallback>
                <p:oleObj name="Visio" r:id="rId3" imgW="3708417" imgH="1041116" progId="Visio.Drawing.15">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010" y="2846519"/>
                        <a:ext cx="7066429" cy="2080134"/>
                      </a:xfrm>
                      <a:prstGeom prst="rect">
                        <a:avLst/>
                      </a:prstGeom>
                      <a:noFill/>
                    </p:spPr>
                  </p:pic>
                </p:oleObj>
              </mc:Fallback>
            </mc:AlternateContent>
          </a:graphicData>
        </a:graphic>
      </p:graphicFrame>
      <p:sp>
        <p:nvSpPr>
          <p:cNvPr id="12" name="矩形 11"/>
          <p:cNvSpPr/>
          <p:nvPr/>
        </p:nvSpPr>
        <p:spPr>
          <a:xfrm>
            <a:off x="468313" y="5091068"/>
            <a:ext cx="8267825" cy="497893"/>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Ø"/>
            </a:pPr>
            <a:r>
              <a:rPr lang="zh-CN" altLang="en-US" kern="100" dirty="0" smtClean="0">
                <a:latin typeface="+mn-ea"/>
                <a:ea typeface="+mn-ea"/>
              </a:rPr>
              <a:t>避免</a:t>
            </a:r>
            <a:r>
              <a:rPr lang="zh-CN" altLang="zh-CN" kern="100" dirty="0" smtClean="0">
                <a:latin typeface="+mn-ea"/>
                <a:ea typeface="+mn-ea"/>
              </a:rPr>
              <a:t>屏蔽层</a:t>
            </a:r>
            <a:r>
              <a:rPr lang="zh-CN" altLang="en-US" kern="100" dirty="0" smtClean="0">
                <a:latin typeface="+mn-ea"/>
                <a:ea typeface="+mn-ea"/>
              </a:rPr>
              <a:t>两端同时接地而形成接地环</a:t>
            </a:r>
            <a:endParaRPr lang="zh-CN" altLang="en-US" dirty="0">
              <a:latin typeface="+mn-ea"/>
              <a:ea typeface="+mn-ea"/>
            </a:endParaRPr>
          </a:p>
        </p:txBody>
      </p:sp>
      <p:sp>
        <p:nvSpPr>
          <p:cNvPr id="13" name="文本框 12"/>
          <p:cNvSpPr txBox="1"/>
          <p:nvPr/>
        </p:nvSpPr>
        <p:spPr>
          <a:xfrm>
            <a:off x="5512715" y="4393773"/>
            <a:ext cx="2282709" cy="584775"/>
          </a:xfrm>
          <a:prstGeom prst="rect">
            <a:avLst/>
          </a:prstGeom>
          <a:noFill/>
        </p:spPr>
        <p:txBody>
          <a:bodyPr wrap="square" rtlCol="0">
            <a:spAutoFit/>
          </a:bodyPr>
          <a:lstStyle/>
          <a:p>
            <a:r>
              <a:rPr lang="zh-CN" altLang="en-US" sz="1600" dirty="0" smtClean="0">
                <a:solidFill>
                  <a:srgbClr val="C00000"/>
                </a:solidFill>
              </a:rPr>
              <a:t>若此端接地，则屏蔽层与电源地构成接地环</a:t>
            </a:r>
            <a:endParaRPr lang="zh-CN" altLang="en-US" sz="1600" dirty="0">
              <a:solidFill>
                <a:srgbClr val="C00000"/>
              </a:solidFill>
            </a:endParaRPr>
          </a:p>
        </p:txBody>
      </p:sp>
      <p:cxnSp>
        <p:nvCxnSpPr>
          <p:cNvPr id="15" name="直接箭头连接符 14"/>
          <p:cNvCxnSpPr/>
          <p:nvPr/>
        </p:nvCxnSpPr>
        <p:spPr>
          <a:xfrm flipH="1" flipV="1">
            <a:off x="5617968" y="3243161"/>
            <a:ext cx="98677" cy="111175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7849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矩形 4"/>
          <p:cNvSpPr/>
          <p:nvPr/>
        </p:nvSpPr>
        <p:spPr>
          <a:xfrm>
            <a:off x="468313" y="802152"/>
            <a:ext cx="8261247" cy="3785652"/>
          </a:xfrm>
          <a:prstGeom prst="rect">
            <a:avLst/>
          </a:prstGeom>
        </p:spPr>
        <p:txBody>
          <a:bodyPr wrap="square">
            <a:spAutoFit/>
          </a:bodyPr>
          <a:lstStyle/>
          <a:p>
            <a:pPr algn="just">
              <a:lnSpc>
                <a:spcPct val="150000"/>
              </a:lnSpc>
              <a:spcAft>
                <a:spcPts val="0"/>
              </a:spcAft>
            </a:pPr>
            <a:r>
              <a:rPr lang="zh-CN" altLang="en-US" kern="100" dirty="0" smtClean="0">
                <a:latin typeface="+mj-ea"/>
                <a:ea typeface="+mj-ea"/>
              </a:rPr>
              <a:t>双绞线</a:t>
            </a:r>
            <a:endParaRPr lang="en-US" altLang="zh-CN" kern="100" dirty="0" smtClean="0">
              <a:latin typeface="+mj-ea"/>
              <a:ea typeface="+mj-ea"/>
            </a:endParaRPr>
          </a:p>
          <a:p>
            <a:pPr marL="342900" indent="-342900" algn="just">
              <a:lnSpc>
                <a:spcPct val="150000"/>
              </a:lnSpc>
              <a:spcAft>
                <a:spcPts val="0"/>
              </a:spcAft>
              <a:buFont typeface="Wingdings" panose="05000000000000000000" pitchFamily="2" charset="2"/>
              <a:buChar char="Ø"/>
            </a:pPr>
            <a:r>
              <a:rPr lang="zh-CN" altLang="zh-CN" kern="100" dirty="0">
                <a:latin typeface="+mn-ea"/>
                <a:ea typeface="+mn-ea"/>
              </a:rPr>
              <a:t>双绞线</a:t>
            </a:r>
            <a:r>
              <a:rPr lang="zh-CN" altLang="zh-CN" kern="100" dirty="0" smtClean="0">
                <a:latin typeface="+mn-ea"/>
                <a:ea typeface="+mn-ea"/>
              </a:rPr>
              <a:t>传输差分信号</a:t>
            </a:r>
            <a:endParaRPr lang="zh-CN" altLang="zh-CN" kern="100" dirty="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kern="100" dirty="0">
                <a:latin typeface="+mn-ea"/>
                <a:ea typeface="+mn-ea"/>
              </a:rPr>
              <a:t>由于双绞线中两根导线的空间位置相互交替，电场干扰信号在双绞线的两根导线上的感应电压总是正负交替，磁场干扰信号在双绞线中的感应电流同样也是正负交替，在总体效应上相互抵消，所以双绞线的抗干扰能力比其他连接方式更为</a:t>
            </a:r>
            <a:r>
              <a:rPr lang="zh-CN" altLang="zh-CN" kern="100" dirty="0" smtClean="0">
                <a:latin typeface="+mn-ea"/>
                <a:ea typeface="+mn-ea"/>
              </a:rPr>
              <a:t>有效</a:t>
            </a:r>
            <a:endParaRPr lang="zh-CN" altLang="zh-CN" kern="100" dirty="0">
              <a:latin typeface="+mn-ea"/>
              <a:ea typeface="+mn-ea"/>
            </a:endParaRPr>
          </a:p>
          <a:p>
            <a:pPr marL="342900" indent="-342900">
              <a:lnSpc>
                <a:spcPct val="150000"/>
              </a:lnSpc>
              <a:buFont typeface="Wingdings" panose="05000000000000000000" pitchFamily="2" charset="2"/>
              <a:buChar char="Ø"/>
            </a:pPr>
            <a:r>
              <a:rPr lang="zh-CN" altLang="zh-CN" dirty="0" smtClean="0">
                <a:latin typeface="+mn-ea"/>
                <a:ea typeface="+mn-ea"/>
                <a:cs typeface="Times New Roman" panose="02020603050405020304" pitchFamily="18" charset="0"/>
              </a:rPr>
              <a:t>在</a:t>
            </a:r>
            <a:r>
              <a:rPr lang="zh-CN" altLang="zh-CN" dirty="0">
                <a:latin typeface="+mn-ea"/>
                <a:ea typeface="+mn-ea"/>
                <a:cs typeface="Times New Roman" panose="02020603050405020304" pitchFamily="18" charset="0"/>
              </a:rPr>
              <a:t>距离较长的情况下，用双绞线传输差分信号是极为有效的防止干扰的</a:t>
            </a:r>
            <a:r>
              <a:rPr lang="zh-CN" altLang="zh-CN" dirty="0" smtClean="0">
                <a:latin typeface="+mn-ea"/>
                <a:ea typeface="+mn-ea"/>
                <a:cs typeface="Times New Roman" panose="02020603050405020304" pitchFamily="18" charset="0"/>
              </a:rPr>
              <a:t>手段</a:t>
            </a:r>
            <a:endParaRPr lang="zh-CN" altLang="en-US" dirty="0">
              <a:latin typeface="+mn-ea"/>
              <a:ea typeface="+mn-ea"/>
            </a:endParaRPr>
          </a:p>
        </p:txBody>
      </p:sp>
    </p:spTree>
    <p:extLst>
      <p:ext uri="{BB962C8B-B14F-4D97-AF65-F5344CB8AC3E}">
        <p14:creationId xmlns:p14="http://schemas.microsoft.com/office/powerpoint/2010/main" val="1886624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矩形 4"/>
          <p:cNvSpPr/>
          <p:nvPr/>
        </p:nvSpPr>
        <p:spPr>
          <a:xfrm>
            <a:off x="468313" y="505123"/>
            <a:ext cx="8274404" cy="5709255"/>
          </a:xfrm>
          <a:prstGeom prst="rect">
            <a:avLst/>
          </a:prstGeom>
        </p:spPr>
        <p:txBody>
          <a:bodyPr wrap="square">
            <a:spAutoFit/>
          </a:bodyPr>
          <a:lstStyle/>
          <a:p>
            <a:pPr>
              <a:lnSpc>
                <a:spcPct val="150000"/>
              </a:lnSpc>
              <a:spcBef>
                <a:spcPts val="600"/>
              </a:spcBef>
              <a:spcAft>
                <a:spcPts val="600"/>
              </a:spcAft>
            </a:pPr>
            <a:r>
              <a:rPr lang="zh-CN" altLang="zh-CN" kern="0" dirty="0">
                <a:solidFill>
                  <a:srgbClr val="444444"/>
                </a:solidFill>
                <a:latin typeface="Times New Roman" panose="02020603050405020304" pitchFamily="18" charset="0"/>
                <a:ea typeface="黑体" panose="02010609060101010101" pitchFamily="49" charset="-122"/>
                <a:cs typeface="Tahoma" panose="020B0604030504040204" pitchFamily="34" charset="0"/>
              </a:rPr>
              <a:t> 排线</a:t>
            </a:r>
            <a:endParaRPr lang="zh-CN" altLang="zh-CN" kern="100" dirty="0">
              <a:latin typeface="Times New Roman" panose="02020603050405020304" pitchFamily="18" charset="0"/>
              <a:ea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同时</a:t>
            </a:r>
            <a:r>
              <a:rPr lang="zh-CN" altLang="zh-CN" kern="100" dirty="0">
                <a:latin typeface="+mn-ea"/>
                <a:ea typeface="+mn-ea"/>
              </a:rPr>
              <a:t>传输多个</a:t>
            </a:r>
            <a:r>
              <a:rPr lang="zh-CN" altLang="zh-CN" kern="100" dirty="0" smtClean="0">
                <a:latin typeface="+mn-ea"/>
                <a:ea typeface="+mn-ea"/>
              </a:rPr>
              <a:t>信号</a:t>
            </a:r>
            <a:endParaRPr lang="en-US" altLang="zh-CN" kern="100" dirty="0" smtClean="0">
              <a:latin typeface="+mn-ea"/>
              <a:ea typeface="+mn-ea"/>
            </a:endParaRPr>
          </a:p>
          <a:p>
            <a:pPr marL="800100" lvl="1" indent="-342900" algn="just">
              <a:lnSpc>
                <a:spcPct val="150000"/>
              </a:lnSpc>
              <a:spcAft>
                <a:spcPts val="0"/>
              </a:spcAft>
              <a:buFont typeface="Arial" panose="020B0604020202020204" pitchFamily="34" charset="0"/>
              <a:buChar char="•"/>
            </a:pPr>
            <a:r>
              <a:rPr lang="zh-CN" altLang="zh-CN" kern="100" dirty="0" smtClean="0">
                <a:latin typeface="+mn-ea"/>
                <a:ea typeface="+mn-ea"/>
              </a:rPr>
              <a:t>模拟信号</a:t>
            </a:r>
            <a:r>
              <a:rPr lang="zh-CN" altLang="en-US" kern="100" dirty="0" smtClean="0">
                <a:latin typeface="+mn-ea"/>
                <a:ea typeface="+mn-ea"/>
              </a:rPr>
              <a:t>很</a:t>
            </a:r>
            <a:r>
              <a:rPr lang="zh-CN" altLang="zh-CN" kern="100" dirty="0" smtClean="0">
                <a:latin typeface="+mn-ea"/>
                <a:ea typeface="+mn-ea"/>
              </a:rPr>
              <a:t>少</a:t>
            </a:r>
            <a:r>
              <a:rPr lang="zh-CN" altLang="zh-CN" kern="100" dirty="0">
                <a:latin typeface="+mn-ea"/>
                <a:ea typeface="+mn-ea"/>
              </a:rPr>
              <a:t>使用排线</a:t>
            </a:r>
            <a:r>
              <a:rPr lang="zh-CN" altLang="zh-CN" kern="100" dirty="0" smtClean="0">
                <a:latin typeface="+mn-ea"/>
                <a:ea typeface="+mn-ea"/>
              </a:rPr>
              <a:t>，</a:t>
            </a:r>
            <a:r>
              <a:rPr lang="zh-CN" altLang="en-US" kern="100" dirty="0" smtClean="0">
                <a:latin typeface="+mn-ea"/>
                <a:ea typeface="+mn-ea"/>
              </a:rPr>
              <a:t>数字</a:t>
            </a:r>
            <a:r>
              <a:rPr lang="zh-CN" altLang="zh-CN" kern="100" dirty="0" smtClean="0">
                <a:latin typeface="+mn-ea"/>
                <a:ea typeface="+mn-ea"/>
              </a:rPr>
              <a:t>信号</a:t>
            </a:r>
            <a:r>
              <a:rPr lang="zh-CN" altLang="zh-CN" kern="100" dirty="0">
                <a:latin typeface="+mn-ea"/>
                <a:ea typeface="+mn-ea"/>
              </a:rPr>
              <a:t>常常使用排线</a:t>
            </a:r>
            <a:r>
              <a:rPr lang="zh-CN" altLang="zh-CN" kern="100" dirty="0" smtClean="0">
                <a:latin typeface="+mn-ea"/>
                <a:ea typeface="+mn-ea"/>
              </a:rPr>
              <a:t>传输</a:t>
            </a:r>
            <a:endParaRPr lang="zh-CN" altLang="zh-CN" kern="100" dirty="0">
              <a:latin typeface="+mn-ea"/>
              <a:ea typeface="+mn-ea"/>
            </a:endParaRPr>
          </a:p>
          <a:p>
            <a:pPr marL="342900" indent="-342900">
              <a:lnSpc>
                <a:spcPct val="150000"/>
              </a:lnSpc>
              <a:buFont typeface="Wingdings" panose="05000000000000000000" pitchFamily="2" charset="2"/>
              <a:buChar char="Ø"/>
            </a:pPr>
            <a:r>
              <a:rPr lang="zh-CN" altLang="zh-CN" dirty="0" smtClean="0">
                <a:latin typeface="+mn-ea"/>
                <a:ea typeface="+mn-ea"/>
                <a:cs typeface="Times New Roman" panose="02020603050405020304" pitchFamily="18" charset="0"/>
              </a:rPr>
              <a:t>排</a:t>
            </a:r>
            <a:r>
              <a:rPr lang="zh-CN" altLang="zh-CN" dirty="0">
                <a:latin typeface="+mn-ea"/>
                <a:ea typeface="+mn-ea"/>
                <a:cs typeface="Times New Roman" panose="02020603050405020304" pitchFamily="18" charset="0"/>
              </a:rPr>
              <a:t>线中地线的</a:t>
            </a:r>
            <a:r>
              <a:rPr lang="zh-CN" altLang="zh-CN" dirty="0" smtClean="0">
                <a:latin typeface="+mn-ea"/>
                <a:ea typeface="+mn-ea"/>
                <a:cs typeface="Times New Roman" panose="02020603050405020304" pitchFamily="18" charset="0"/>
              </a:rPr>
              <a:t>安排</a:t>
            </a:r>
            <a:endParaRPr lang="en-US" altLang="zh-CN" dirty="0" smtClean="0">
              <a:latin typeface="+mn-ea"/>
              <a:ea typeface="+mn-ea"/>
              <a:cs typeface="Times New Roman" panose="02020603050405020304" pitchFamily="18" charset="0"/>
            </a:endParaRPr>
          </a:p>
          <a:p>
            <a:pPr marL="800100" lvl="1" indent="-342900">
              <a:lnSpc>
                <a:spcPct val="150000"/>
              </a:lnSpc>
              <a:buFont typeface="Arial" panose="020B0604020202020204" pitchFamily="34" charset="0"/>
              <a:buChar char="•"/>
            </a:pPr>
            <a:r>
              <a:rPr lang="zh-CN" altLang="zh-CN" dirty="0" smtClean="0">
                <a:latin typeface="+mn-ea"/>
                <a:ea typeface="+mn-ea"/>
                <a:cs typeface="Times New Roman" panose="02020603050405020304" pitchFamily="18" charset="0"/>
              </a:rPr>
              <a:t>第一</a:t>
            </a:r>
            <a:r>
              <a:rPr lang="zh-CN" altLang="zh-CN" dirty="0">
                <a:latin typeface="+mn-ea"/>
                <a:ea typeface="+mn-ea"/>
                <a:cs typeface="Times New Roman" panose="02020603050405020304" pitchFamily="18" charset="0"/>
              </a:rPr>
              <a:t>个原则与使用屏蔽电缆的屏蔽层相同，就是要避免排线中的地线与电源地线构成一个</a:t>
            </a:r>
            <a:r>
              <a:rPr lang="zh-CN" altLang="zh-CN" dirty="0" smtClean="0">
                <a:latin typeface="+mn-ea"/>
                <a:ea typeface="+mn-ea"/>
                <a:cs typeface="Times New Roman" panose="02020603050405020304" pitchFamily="18" charset="0"/>
              </a:rPr>
              <a:t>环</a:t>
            </a:r>
            <a:endParaRPr lang="en-US" altLang="zh-CN" dirty="0" smtClean="0">
              <a:latin typeface="+mn-ea"/>
              <a:ea typeface="+mn-ea"/>
              <a:cs typeface="Times New Roman" panose="02020603050405020304" pitchFamily="18" charset="0"/>
            </a:endParaRPr>
          </a:p>
          <a:p>
            <a:pPr marL="800100" lvl="1" indent="-342900">
              <a:lnSpc>
                <a:spcPct val="150000"/>
              </a:lnSpc>
              <a:buFont typeface="Arial" panose="020B0604020202020204" pitchFamily="34" charset="0"/>
              <a:buChar char="•"/>
            </a:pPr>
            <a:r>
              <a:rPr lang="zh-CN" altLang="zh-CN" dirty="0" smtClean="0">
                <a:latin typeface="+mn-ea"/>
                <a:ea typeface="+mn-ea"/>
                <a:cs typeface="Times New Roman" panose="02020603050405020304" pitchFamily="18" charset="0"/>
              </a:rPr>
              <a:t>第二</a:t>
            </a:r>
            <a:r>
              <a:rPr lang="zh-CN" altLang="zh-CN" dirty="0">
                <a:latin typeface="+mn-ea"/>
                <a:ea typeface="+mn-ea"/>
                <a:cs typeface="Times New Roman" panose="02020603050405020304" pitchFamily="18" charset="0"/>
              </a:rPr>
              <a:t>个原则是针对高频或高速信号的：要尽量减小信号回路的电抗。常常看到一些高速数字信号通过排线传输时采用一根信号线隔一根地线的排列结构，此结构的特点就是每根信号线都可以找到一根与它构成最小回路面积的地线以返回信号电流。有一种特殊的排线，在其背面有一片金属网作为地线，具有极好的高频传输特性，可惜现在市场上几乎见不到这种排线</a:t>
            </a:r>
            <a:endParaRPr lang="zh-CN" altLang="en-US" dirty="0">
              <a:latin typeface="+mn-ea"/>
              <a:ea typeface="+mn-ea"/>
            </a:endParaRPr>
          </a:p>
        </p:txBody>
      </p:sp>
    </p:spTree>
    <p:extLst>
      <p:ext uri="{BB962C8B-B14F-4D97-AF65-F5344CB8AC3E}">
        <p14:creationId xmlns:p14="http://schemas.microsoft.com/office/powerpoint/2010/main" val="791589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矩形 4"/>
          <p:cNvSpPr/>
          <p:nvPr/>
        </p:nvSpPr>
        <p:spPr>
          <a:xfrm>
            <a:off x="468313" y="346714"/>
            <a:ext cx="8287560" cy="4893647"/>
          </a:xfrm>
          <a:prstGeom prst="rect">
            <a:avLst/>
          </a:prstGeom>
        </p:spPr>
        <p:txBody>
          <a:bodyPr wrap="square">
            <a:spAutoFit/>
          </a:bodyPr>
          <a:lstStyle/>
          <a:p>
            <a:pPr algn="just">
              <a:lnSpc>
                <a:spcPct val="150000"/>
              </a:lnSpc>
              <a:spcAft>
                <a:spcPts val="0"/>
              </a:spcAft>
            </a:pPr>
            <a:r>
              <a:rPr lang="zh-CN" altLang="en-US" sz="2800" dirty="0" smtClean="0">
                <a:solidFill>
                  <a:srgbClr val="FF0000"/>
                </a:solidFill>
                <a:latin typeface="隶书" panose="02010509060101010101" pitchFamily="49" charset="-122"/>
                <a:ea typeface="隶书" panose="02010509060101010101" pitchFamily="49" charset="-122"/>
                <a:cs typeface="宋体" panose="02010600030101010101" pitchFamily="2" charset="-122"/>
              </a:rPr>
              <a:t>运放的正确使用</a:t>
            </a:r>
            <a:endParaRPr lang="en-US" altLang="zh-CN" sz="2800" dirty="0" smtClean="0">
              <a:solidFill>
                <a:srgbClr val="FF0000"/>
              </a:solidFill>
              <a:latin typeface="隶书" panose="02010509060101010101" pitchFamily="49" charset="-122"/>
              <a:ea typeface="隶书" panose="02010509060101010101" pitchFamily="49" charset="-122"/>
              <a:cs typeface="宋体" panose="02010600030101010101" pitchFamily="2" charset="-122"/>
            </a:endParaRPr>
          </a:p>
          <a:p>
            <a:pPr algn="just">
              <a:lnSpc>
                <a:spcPct val="150000"/>
              </a:lnSpc>
              <a:spcAft>
                <a:spcPts val="0"/>
              </a:spcAft>
            </a:pPr>
            <a:r>
              <a:rPr lang="zh-CN" altLang="zh-CN" dirty="0" smtClean="0">
                <a:latin typeface="+mj-ea"/>
                <a:ea typeface="+mj-ea"/>
                <a:cs typeface="宋体" panose="02010600030101010101" pitchFamily="2" charset="-122"/>
              </a:rPr>
              <a:t>基本</a:t>
            </a:r>
            <a:r>
              <a:rPr lang="zh-CN" altLang="zh-CN" dirty="0">
                <a:latin typeface="+mj-ea"/>
                <a:ea typeface="+mj-ea"/>
                <a:cs typeface="宋体" panose="02010600030101010101" pitchFamily="2" charset="-122"/>
              </a:rPr>
              <a:t>参数的选择原则</a:t>
            </a:r>
          </a:p>
          <a:p>
            <a:pPr marL="342900" indent="-342900" algn="just">
              <a:lnSpc>
                <a:spcPct val="150000"/>
              </a:lnSpc>
              <a:spcAft>
                <a:spcPts val="0"/>
              </a:spcAft>
              <a:buFont typeface="Wingdings" panose="05000000000000000000" pitchFamily="2" charset="2"/>
              <a:buChar char="Ø"/>
            </a:pPr>
            <a:r>
              <a:rPr lang="zh-CN" altLang="zh-CN" dirty="0" smtClean="0">
                <a:latin typeface="+mn-ea"/>
                <a:ea typeface="+mn-ea"/>
                <a:cs typeface="宋体" panose="02010600030101010101" pitchFamily="2" charset="-122"/>
              </a:rPr>
              <a:t>电源电压</a:t>
            </a:r>
            <a:r>
              <a:rPr lang="zh-CN" altLang="zh-CN" dirty="0">
                <a:latin typeface="+mn-ea"/>
                <a:ea typeface="+mn-ea"/>
                <a:cs typeface="宋体" panose="02010600030101010101" pitchFamily="2" charset="-122"/>
              </a:rPr>
              <a:t>与运放的输入输出动态范围。所有放大器均需</a:t>
            </a:r>
            <a:r>
              <a:rPr lang="zh-CN" altLang="zh-CN" dirty="0" smtClean="0">
                <a:latin typeface="+mn-ea"/>
                <a:ea typeface="+mn-ea"/>
                <a:cs typeface="宋体" panose="02010600030101010101" pitchFamily="2" charset="-122"/>
              </a:rPr>
              <a:t>考察</a:t>
            </a:r>
            <a:endParaRPr lang="en-US" altLang="zh-CN" dirty="0" smtClean="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zh-CN" dirty="0" smtClean="0">
                <a:latin typeface="+mn-ea"/>
                <a:ea typeface="+mn-ea"/>
                <a:cs typeface="宋体" panose="02010600030101010101" pitchFamily="2" charset="-122"/>
              </a:rPr>
              <a:t>频率特性</a:t>
            </a:r>
            <a:r>
              <a:rPr lang="zh-CN" altLang="zh-CN" dirty="0" smtClean="0">
                <a:latin typeface="+mn-ea"/>
                <a:ea typeface="+mn-ea"/>
                <a:cs typeface="宋体" panose="02010600030101010101" pitchFamily="2" charset="-122"/>
              </a:rPr>
              <a:t>。</a:t>
            </a:r>
            <a:r>
              <a:rPr lang="zh-CN" altLang="zh-CN" dirty="0">
                <a:latin typeface="+mn-ea"/>
                <a:ea typeface="+mn-ea"/>
                <a:cs typeface="宋体" panose="02010600030101010101" pitchFamily="2" charset="-122"/>
              </a:rPr>
              <a:t>所有放大器均需考察，尤其对高频放大器必须仔细</a:t>
            </a:r>
            <a:r>
              <a:rPr lang="zh-CN" altLang="zh-CN" dirty="0" smtClean="0">
                <a:latin typeface="+mn-ea"/>
                <a:ea typeface="+mn-ea"/>
                <a:cs typeface="宋体" panose="02010600030101010101" pitchFamily="2" charset="-122"/>
              </a:rPr>
              <a:t>核查</a:t>
            </a:r>
            <a:endParaRPr lang="zh-CN" altLang="zh-CN" dirty="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zh-CN" dirty="0">
                <a:latin typeface="+mn-ea"/>
                <a:ea typeface="+mn-ea"/>
                <a:cs typeface="宋体" panose="02010600030101010101" pitchFamily="2" charset="-122"/>
              </a:rPr>
              <a:t>封装。所有放大器均需考察，尤其在制作印制板时必须</a:t>
            </a:r>
            <a:r>
              <a:rPr lang="zh-CN" altLang="zh-CN" dirty="0" smtClean="0">
                <a:latin typeface="+mn-ea"/>
                <a:ea typeface="+mn-ea"/>
                <a:cs typeface="宋体" panose="02010600030101010101" pitchFamily="2" charset="-122"/>
              </a:rPr>
              <a:t>核对</a:t>
            </a:r>
            <a:endParaRPr lang="en-US" altLang="zh-CN" dirty="0" smtClean="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endParaRPr lang="zh-CN" altLang="zh-CN" dirty="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zh-CN" dirty="0" smtClean="0">
                <a:latin typeface="+mn-ea"/>
                <a:ea typeface="+mn-ea"/>
                <a:cs typeface="宋体" panose="02010600030101010101" pitchFamily="2" charset="-122"/>
              </a:rPr>
              <a:t>输入</a:t>
            </a:r>
            <a:r>
              <a:rPr lang="zh-CN" altLang="zh-CN" dirty="0">
                <a:latin typeface="+mn-ea"/>
                <a:ea typeface="+mn-ea"/>
                <a:cs typeface="宋体" panose="02010600030101010101" pitchFamily="2" charset="-122"/>
              </a:rPr>
              <a:t>失调电压与失调电流、输入偏置电流。微弱信号</a:t>
            </a:r>
            <a:r>
              <a:rPr lang="zh-CN" altLang="zh-CN" dirty="0" smtClean="0">
                <a:latin typeface="+mn-ea"/>
                <a:ea typeface="+mn-ea"/>
                <a:cs typeface="宋体" panose="02010600030101010101" pitchFamily="2" charset="-122"/>
              </a:rPr>
              <a:t>放大器</a:t>
            </a:r>
            <a:r>
              <a:rPr lang="zh-CN" altLang="en-US" dirty="0" smtClean="0">
                <a:latin typeface="+mn-ea"/>
                <a:ea typeface="+mn-ea"/>
                <a:cs typeface="宋体" panose="02010600030101010101" pitchFamily="2" charset="-122"/>
              </a:rPr>
              <a:t>、</a:t>
            </a:r>
            <a:r>
              <a:rPr lang="zh-CN" altLang="zh-CN" dirty="0" smtClean="0">
                <a:latin typeface="+mn-ea"/>
                <a:ea typeface="+mn-ea"/>
                <a:cs typeface="宋体" panose="02010600030101010101" pitchFamily="2" charset="-122"/>
              </a:rPr>
              <a:t>精密放大器</a:t>
            </a:r>
            <a:r>
              <a:rPr lang="zh-CN" altLang="en-US" dirty="0" smtClean="0">
                <a:latin typeface="+mn-ea"/>
                <a:ea typeface="+mn-ea"/>
                <a:cs typeface="宋体" panose="02010600030101010101" pitchFamily="2" charset="-122"/>
              </a:rPr>
              <a:t>以及直流放大器</a:t>
            </a:r>
            <a:r>
              <a:rPr lang="zh-CN" altLang="zh-CN" dirty="0" smtClean="0">
                <a:latin typeface="+mn-ea"/>
                <a:ea typeface="+mn-ea"/>
                <a:cs typeface="宋体" panose="02010600030101010101" pitchFamily="2" charset="-122"/>
              </a:rPr>
              <a:t>必须考察</a:t>
            </a:r>
            <a:endParaRPr lang="zh-CN" altLang="zh-CN" dirty="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zh-CN" dirty="0" smtClean="0">
                <a:latin typeface="+mn-ea"/>
                <a:ea typeface="+mn-ea"/>
                <a:cs typeface="宋体" panose="02010600030101010101" pitchFamily="2" charset="-122"/>
              </a:rPr>
              <a:t>输出</a:t>
            </a:r>
            <a:r>
              <a:rPr lang="zh-CN" altLang="zh-CN" dirty="0">
                <a:latin typeface="+mn-ea"/>
                <a:ea typeface="+mn-ea"/>
                <a:cs typeface="宋体" panose="02010600030101010101" pitchFamily="2" charset="-122"/>
              </a:rPr>
              <a:t>驱动能力</a:t>
            </a:r>
            <a:r>
              <a:rPr lang="zh-CN" altLang="zh-CN" dirty="0" smtClean="0">
                <a:latin typeface="+mn-ea"/>
                <a:ea typeface="+mn-ea"/>
                <a:cs typeface="宋体" panose="02010600030101010101" pitchFamily="2" charset="-122"/>
              </a:rPr>
              <a:t>与</a:t>
            </a:r>
            <a:r>
              <a:rPr lang="zh-CN" altLang="en-US" dirty="0" smtClean="0">
                <a:latin typeface="+mn-ea"/>
                <a:ea typeface="+mn-ea"/>
                <a:cs typeface="宋体" panose="02010600030101010101" pitchFamily="2" charset="-122"/>
              </a:rPr>
              <a:t>压摆率</a:t>
            </a:r>
            <a:r>
              <a:rPr lang="zh-CN" altLang="zh-CN" dirty="0" smtClean="0">
                <a:latin typeface="+mn-ea"/>
                <a:ea typeface="+mn-ea"/>
                <a:cs typeface="宋体" panose="02010600030101010101" pitchFamily="2" charset="-122"/>
              </a:rPr>
              <a:t>。</a:t>
            </a:r>
            <a:r>
              <a:rPr lang="zh-CN" altLang="zh-CN" dirty="0">
                <a:latin typeface="+mn-ea"/>
                <a:ea typeface="+mn-ea"/>
                <a:cs typeface="宋体" panose="02010600030101010101" pitchFamily="2" charset="-122"/>
              </a:rPr>
              <a:t>大信号输出放大器必须</a:t>
            </a:r>
            <a:r>
              <a:rPr lang="zh-CN" altLang="zh-CN" dirty="0" smtClean="0">
                <a:latin typeface="+mn-ea"/>
                <a:ea typeface="+mn-ea"/>
                <a:cs typeface="宋体" panose="02010600030101010101" pitchFamily="2" charset="-122"/>
              </a:rPr>
              <a:t>考察</a:t>
            </a:r>
            <a:endParaRPr lang="zh-CN" altLang="zh-CN" dirty="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zh-CN" dirty="0" smtClean="0">
                <a:latin typeface="+mn-ea"/>
                <a:ea typeface="+mn-ea"/>
                <a:cs typeface="宋体" panose="02010600030101010101" pitchFamily="2" charset="-122"/>
              </a:rPr>
              <a:t>噪声</a:t>
            </a:r>
            <a:r>
              <a:rPr lang="zh-CN" altLang="zh-CN" dirty="0">
                <a:latin typeface="+mn-ea"/>
                <a:ea typeface="+mn-ea"/>
                <a:cs typeface="宋体" panose="02010600030101010101" pitchFamily="2" charset="-122"/>
              </a:rPr>
              <a:t>。微弱信号放大器必须</a:t>
            </a:r>
            <a:r>
              <a:rPr lang="zh-CN" altLang="zh-CN" dirty="0" smtClean="0">
                <a:latin typeface="+mn-ea"/>
                <a:ea typeface="+mn-ea"/>
                <a:cs typeface="宋体" panose="02010600030101010101" pitchFamily="2" charset="-122"/>
              </a:rPr>
              <a:t>考察</a:t>
            </a:r>
            <a:endParaRPr lang="zh-CN" altLang="zh-CN" dirty="0">
              <a:latin typeface="+mn-ea"/>
              <a:ea typeface="+mn-ea"/>
              <a:cs typeface="宋体" panose="02010600030101010101" pitchFamily="2" charset="-122"/>
            </a:endParaRPr>
          </a:p>
        </p:txBody>
      </p:sp>
    </p:spTree>
    <p:extLst>
      <p:ext uri="{BB962C8B-B14F-4D97-AF65-F5344CB8AC3E}">
        <p14:creationId xmlns:p14="http://schemas.microsoft.com/office/powerpoint/2010/main" val="3371943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文本框 4"/>
          <p:cNvSpPr txBox="1"/>
          <p:nvPr/>
        </p:nvSpPr>
        <p:spPr>
          <a:xfrm>
            <a:off x="468312" y="519695"/>
            <a:ext cx="8267825" cy="5632311"/>
          </a:xfrm>
          <a:prstGeom prst="rect">
            <a:avLst/>
          </a:prstGeom>
          <a:noFill/>
        </p:spPr>
        <p:txBody>
          <a:bodyPr wrap="square" rtlCol="0">
            <a:spAutoFit/>
          </a:bodyPr>
          <a:lstStyle/>
          <a:p>
            <a:pPr>
              <a:lnSpc>
                <a:spcPct val="150000"/>
              </a:lnSpc>
            </a:pPr>
            <a:r>
              <a:rPr lang="zh-CN" altLang="en-US" dirty="0" smtClean="0">
                <a:latin typeface="+mj-ea"/>
                <a:ea typeface="+mj-ea"/>
              </a:rPr>
              <a:t>两种不同结构的运放</a:t>
            </a:r>
            <a:endParaRPr lang="en-US" altLang="zh-CN" dirty="0" smtClean="0">
              <a:latin typeface="+mj-ea"/>
              <a:ea typeface="+mj-ea"/>
            </a:endParaRPr>
          </a:p>
          <a:p>
            <a:pPr marL="342900" indent="-342900">
              <a:lnSpc>
                <a:spcPct val="150000"/>
              </a:lnSpc>
              <a:buFont typeface="Wingdings" panose="05000000000000000000" pitchFamily="2" charset="2"/>
              <a:buChar char="Ø"/>
            </a:pPr>
            <a:r>
              <a:rPr lang="zh-CN" altLang="en-US" dirty="0" smtClean="0"/>
              <a:t>电压反馈型运放</a:t>
            </a:r>
            <a:endParaRPr lang="en-US" altLang="zh-CN" dirty="0" smtClean="0"/>
          </a:p>
          <a:p>
            <a:pPr marL="800100" lvl="1" indent="-342900">
              <a:lnSpc>
                <a:spcPct val="150000"/>
              </a:lnSpc>
              <a:buFont typeface="Arial" panose="020B0604020202020204" pitchFamily="34" charset="0"/>
              <a:buChar char="•"/>
            </a:pPr>
            <a:r>
              <a:rPr lang="zh-CN" altLang="en-US" dirty="0" smtClean="0"/>
              <a:t>差分放大器</a:t>
            </a:r>
            <a:r>
              <a:rPr lang="en-US" altLang="zh-CN" dirty="0" smtClean="0"/>
              <a:t>+</a:t>
            </a:r>
            <a:r>
              <a:rPr lang="zh-CN" altLang="en-US" dirty="0" smtClean="0"/>
              <a:t>共射</a:t>
            </a:r>
            <a:r>
              <a:rPr lang="en-US" altLang="zh-CN" dirty="0" smtClean="0"/>
              <a:t>(</a:t>
            </a:r>
            <a:r>
              <a:rPr lang="zh-CN" altLang="en-US" dirty="0" smtClean="0"/>
              <a:t>共源</a:t>
            </a:r>
            <a:r>
              <a:rPr lang="en-US" altLang="zh-CN" dirty="0" smtClean="0"/>
              <a:t>)</a:t>
            </a:r>
            <a:r>
              <a:rPr lang="zh-CN" altLang="en-US" dirty="0" smtClean="0"/>
              <a:t>放大器结构</a:t>
            </a:r>
            <a:endParaRPr lang="en-US" altLang="zh-CN" dirty="0" smtClean="0"/>
          </a:p>
          <a:p>
            <a:pPr marL="800100" lvl="1" indent="-342900">
              <a:lnSpc>
                <a:spcPct val="150000"/>
              </a:lnSpc>
              <a:buFont typeface="Arial" panose="020B0604020202020204" pitchFamily="34" charset="0"/>
              <a:buChar char="•"/>
            </a:pPr>
            <a:r>
              <a:rPr lang="zh-CN" altLang="en-US" dirty="0" smtClean="0"/>
              <a:t>完全补偿的运放。内部有足够大的补偿电容，开环增益在</a:t>
            </a:r>
            <a:r>
              <a:rPr lang="en-US" altLang="zh-CN" dirty="0" smtClean="0"/>
              <a:t>0dB</a:t>
            </a:r>
            <a:r>
              <a:rPr lang="zh-CN" altLang="en-US" dirty="0" smtClean="0"/>
              <a:t>以上只有一个极点，闭环后</a:t>
            </a:r>
            <a:r>
              <a:rPr lang="en-US" altLang="zh-CN" dirty="0" smtClean="0"/>
              <a:t>GBP</a:t>
            </a:r>
            <a:r>
              <a:rPr lang="zh-CN" altLang="en-US" dirty="0" smtClean="0"/>
              <a:t>近似为常数</a:t>
            </a:r>
            <a:endParaRPr lang="en-US" altLang="zh-CN" dirty="0" smtClean="0"/>
          </a:p>
          <a:p>
            <a:pPr marL="800100" lvl="1" indent="-342900">
              <a:lnSpc>
                <a:spcPct val="150000"/>
              </a:lnSpc>
              <a:buFont typeface="Arial" panose="020B0604020202020204" pitchFamily="34" charset="0"/>
              <a:buChar char="•"/>
            </a:pPr>
            <a:r>
              <a:rPr lang="zh-CN" altLang="en-US" dirty="0" smtClean="0"/>
              <a:t>非完全补偿的运放。内部的</a:t>
            </a:r>
            <a:r>
              <a:rPr lang="zh-CN" altLang="en-US" dirty="0"/>
              <a:t>补偿</a:t>
            </a:r>
            <a:r>
              <a:rPr lang="zh-CN" altLang="en-US" dirty="0" smtClean="0"/>
              <a:t>电容不大，</a:t>
            </a:r>
            <a:r>
              <a:rPr lang="zh-CN" altLang="en-US" dirty="0"/>
              <a:t>开环增益在</a:t>
            </a:r>
            <a:r>
              <a:rPr lang="en-US" altLang="zh-CN" dirty="0"/>
              <a:t>0dB</a:t>
            </a:r>
            <a:r>
              <a:rPr lang="zh-CN" altLang="en-US" dirty="0" smtClean="0"/>
              <a:t>以上有不止一</a:t>
            </a:r>
            <a:r>
              <a:rPr lang="zh-CN" altLang="en-US" dirty="0"/>
              <a:t>个极点</a:t>
            </a:r>
            <a:r>
              <a:rPr lang="zh-CN" altLang="en-US" dirty="0" smtClean="0"/>
              <a:t>，频响优于完全补偿型运放，闭环时有最低增益的限制</a:t>
            </a:r>
            <a:endParaRPr lang="en-US" altLang="zh-CN" dirty="0" smtClean="0"/>
          </a:p>
          <a:p>
            <a:pPr marL="342900" indent="-342900">
              <a:lnSpc>
                <a:spcPct val="150000"/>
              </a:lnSpc>
              <a:buFont typeface="Wingdings" panose="05000000000000000000" pitchFamily="2" charset="2"/>
              <a:buChar char="Ø"/>
            </a:pPr>
            <a:r>
              <a:rPr lang="zh-CN" altLang="en-US" dirty="0" smtClean="0"/>
              <a:t>电流反馈型运放</a:t>
            </a:r>
            <a:endParaRPr lang="en-US" altLang="zh-CN" dirty="0" smtClean="0"/>
          </a:p>
          <a:p>
            <a:pPr marL="800100" lvl="1" indent="-342900">
              <a:lnSpc>
                <a:spcPct val="150000"/>
              </a:lnSpc>
              <a:buFont typeface="Arial" panose="020B0604020202020204" pitchFamily="34" charset="0"/>
              <a:buChar char="•"/>
            </a:pPr>
            <a:r>
              <a:rPr lang="zh-CN" altLang="en-US" dirty="0" smtClean="0"/>
              <a:t>跟随器</a:t>
            </a:r>
            <a:r>
              <a:rPr lang="en-US" altLang="zh-CN" dirty="0" smtClean="0"/>
              <a:t>+</a:t>
            </a:r>
            <a:r>
              <a:rPr lang="zh-CN" altLang="en-US" dirty="0" smtClean="0"/>
              <a:t>电流镜结构</a:t>
            </a:r>
            <a:endParaRPr lang="en-US" altLang="zh-CN" dirty="0" smtClean="0"/>
          </a:p>
          <a:p>
            <a:pPr marL="800100" lvl="1" indent="-342900">
              <a:lnSpc>
                <a:spcPct val="150000"/>
              </a:lnSpc>
              <a:buFont typeface="Arial" panose="020B0604020202020204" pitchFamily="34" charset="0"/>
              <a:buChar char="•"/>
            </a:pPr>
            <a:r>
              <a:rPr lang="zh-CN" altLang="en-US" dirty="0" smtClean="0"/>
              <a:t>频响和压摆率均很高（远高于电压反馈型运放），且基本不受闭环增益的影响</a:t>
            </a:r>
            <a:endParaRPr lang="en-US" altLang="zh-CN" dirty="0" smtClean="0"/>
          </a:p>
        </p:txBody>
      </p:sp>
    </p:spTree>
    <p:extLst>
      <p:ext uri="{BB962C8B-B14F-4D97-AF65-F5344CB8AC3E}">
        <p14:creationId xmlns:p14="http://schemas.microsoft.com/office/powerpoint/2010/main" val="1828355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矩形 4"/>
          <p:cNvSpPr/>
          <p:nvPr/>
        </p:nvSpPr>
        <p:spPr>
          <a:xfrm>
            <a:off x="468313" y="564686"/>
            <a:ext cx="1980029" cy="400110"/>
          </a:xfrm>
          <a:prstGeom prst="rect">
            <a:avLst/>
          </a:prstGeom>
        </p:spPr>
        <p:txBody>
          <a:bodyPr wrap="none">
            <a:spAutoFit/>
          </a:bodyPr>
          <a:lstStyle/>
          <a:p>
            <a:r>
              <a:rPr lang="zh-CN" altLang="en-US" dirty="0" smtClean="0">
                <a:latin typeface="+mj-ea"/>
                <a:ea typeface="+mj-ea"/>
              </a:rPr>
              <a:t>放大器的</a:t>
            </a:r>
            <a:r>
              <a:rPr lang="zh-CN" altLang="en-US" dirty="0">
                <a:latin typeface="+mj-ea"/>
                <a:ea typeface="+mj-ea"/>
              </a:rPr>
              <a:t>稳定性</a:t>
            </a:r>
          </a:p>
        </p:txBody>
      </p:sp>
      <p:sp>
        <p:nvSpPr>
          <p:cNvPr id="6" name="矩形 5"/>
          <p:cNvSpPr/>
          <p:nvPr/>
        </p:nvSpPr>
        <p:spPr>
          <a:xfrm>
            <a:off x="468313" y="1056894"/>
            <a:ext cx="8327031" cy="5170646"/>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Ø"/>
            </a:pPr>
            <a:r>
              <a:rPr lang="zh-CN" altLang="zh-CN" dirty="0">
                <a:latin typeface="+mn-ea"/>
                <a:ea typeface="+mn-ea"/>
                <a:cs typeface="宋体" panose="02010600030101010101" pitchFamily="2" charset="-122"/>
              </a:rPr>
              <a:t>不完全补偿</a:t>
            </a:r>
            <a:r>
              <a:rPr lang="zh-CN" altLang="zh-CN" dirty="0" smtClean="0">
                <a:latin typeface="+mn-ea"/>
                <a:ea typeface="+mn-ea"/>
                <a:cs typeface="宋体" panose="02010600030101010101" pitchFamily="2" charset="-122"/>
              </a:rPr>
              <a:t>的</a:t>
            </a:r>
            <a:r>
              <a:rPr lang="zh-CN" altLang="en-US" dirty="0" smtClean="0">
                <a:latin typeface="+mn-ea"/>
                <a:ea typeface="+mn-ea"/>
                <a:cs typeface="宋体" panose="02010600030101010101" pitchFamily="2" charset="-122"/>
              </a:rPr>
              <a:t>电压反馈型</a:t>
            </a:r>
            <a:r>
              <a:rPr lang="zh-CN" altLang="zh-CN" dirty="0" smtClean="0">
                <a:latin typeface="+mn-ea"/>
                <a:ea typeface="+mn-ea"/>
                <a:cs typeface="宋体" panose="02010600030101010101" pitchFamily="2" charset="-122"/>
              </a:rPr>
              <a:t>运放</a:t>
            </a:r>
            <a:r>
              <a:rPr lang="zh-CN" altLang="en-US" dirty="0" smtClean="0">
                <a:latin typeface="+mn-ea"/>
                <a:ea typeface="+mn-ea"/>
                <a:cs typeface="宋体" panose="02010600030101010101" pitchFamily="2" charset="-122"/>
              </a:rPr>
              <a:t>，</a:t>
            </a:r>
            <a:r>
              <a:rPr lang="zh-CN" altLang="zh-CN" dirty="0" smtClean="0">
                <a:latin typeface="+mn-ea"/>
                <a:ea typeface="+mn-ea"/>
                <a:cs typeface="宋体" panose="02010600030101010101" pitchFamily="2" charset="-122"/>
              </a:rPr>
              <a:t>构成</a:t>
            </a:r>
            <a:r>
              <a:rPr lang="zh-CN" altLang="zh-CN" dirty="0">
                <a:latin typeface="+mn-ea"/>
                <a:ea typeface="+mn-ea"/>
                <a:cs typeface="宋体" panose="02010600030101010101" pitchFamily="2" charset="-122"/>
              </a:rPr>
              <a:t>放大器时要满足最小稳定增益的限制，不可接成跟随器，也不可用电容反馈，否则就会自</a:t>
            </a:r>
            <a:r>
              <a:rPr lang="zh-CN" altLang="zh-CN" dirty="0" smtClean="0">
                <a:latin typeface="+mn-ea"/>
                <a:ea typeface="+mn-ea"/>
                <a:cs typeface="宋体" panose="02010600030101010101" pitchFamily="2" charset="-122"/>
              </a:rPr>
              <a:t>激</a:t>
            </a:r>
            <a:endParaRPr lang="zh-CN" altLang="zh-CN" dirty="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zh-CN" dirty="0" smtClean="0">
                <a:latin typeface="+mn-ea"/>
                <a:ea typeface="+mn-ea"/>
                <a:cs typeface="宋体" panose="02010600030101010101" pitchFamily="2" charset="-122"/>
              </a:rPr>
              <a:t>电流反馈</a:t>
            </a:r>
            <a:r>
              <a:rPr lang="zh-CN" altLang="zh-CN" dirty="0">
                <a:latin typeface="+mn-ea"/>
                <a:ea typeface="+mn-ea"/>
                <a:cs typeface="宋体" panose="02010600030101010101" pitchFamily="2" charset="-122"/>
              </a:rPr>
              <a:t>型运</a:t>
            </a:r>
            <a:r>
              <a:rPr lang="zh-CN" altLang="zh-CN" dirty="0" smtClean="0">
                <a:latin typeface="+mn-ea"/>
                <a:ea typeface="+mn-ea"/>
                <a:cs typeface="宋体" panose="02010600030101010101" pitchFamily="2" charset="-122"/>
              </a:rPr>
              <a:t>放</a:t>
            </a:r>
            <a:r>
              <a:rPr lang="zh-CN" altLang="en-US" dirty="0" smtClean="0">
                <a:latin typeface="+mn-ea"/>
                <a:ea typeface="+mn-ea"/>
                <a:cs typeface="宋体" panose="02010600030101010101" pitchFamily="2" charset="-122"/>
              </a:rPr>
              <a:t>，</a:t>
            </a:r>
            <a:r>
              <a:rPr lang="zh-CN" altLang="zh-CN" dirty="0" smtClean="0">
                <a:latin typeface="+mn-ea"/>
                <a:ea typeface="+mn-ea"/>
                <a:cs typeface="宋体" panose="02010600030101010101" pitchFamily="2" charset="-122"/>
              </a:rPr>
              <a:t>反馈</a:t>
            </a:r>
            <a:r>
              <a:rPr lang="zh-CN" altLang="zh-CN" dirty="0">
                <a:latin typeface="+mn-ea"/>
                <a:ea typeface="+mn-ea"/>
                <a:cs typeface="宋体" panose="02010600030101010101" pitchFamily="2" charset="-122"/>
              </a:rPr>
              <a:t>电阻有一个最佳值，不能随便选取，尤其不能短路或者用电容反馈，否则就会自</a:t>
            </a:r>
            <a:r>
              <a:rPr lang="zh-CN" altLang="zh-CN" dirty="0" smtClean="0">
                <a:latin typeface="+mn-ea"/>
                <a:ea typeface="+mn-ea"/>
                <a:cs typeface="宋体" panose="02010600030101010101" pitchFamily="2" charset="-122"/>
              </a:rPr>
              <a:t>激</a:t>
            </a:r>
            <a:endParaRPr lang="zh-CN" altLang="zh-CN" dirty="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zh-CN" dirty="0" smtClean="0">
                <a:latin typeface="+mn-ea"/>
                <a:ea typeface="+mn-ea"/>
                <a:cs typeface="宋体" panose="02010600030101010101" pitchFamily="2" charset="-122"/>
              </a:rPr>
              <a:t>容性负载</a:t>
            </a:r>
            <a:r>
              <a:rPr lang="zh-CN" altLang="en-US" dirty="0" smtClean="0">
                <a:latin typeface="+mn-ea"/>
                <a:ea typeface="+mn-ea"/>
                <a:cs typeface="宋体" panose="02010600030101010101" pitchFamily="2" charset="-122"/>
              </a:rPr>
              <a:t>是</a:t>
            </a:r>
            <a:r>
              <a:rPr lang="zh-CN" altLang="zh-CN" dirty="0" smtClean="0">
                <a:latin typeface="+mn-ea"/>
                <a:ea typeface="+mn-ea"/>
                <a:cs typeface="宋体" panose="02010600030101010101" pitchFamily="2" charset="-122"/>
              </a:rPr>
              <a:t>运</a:t>
            </a:r>
            <a:r>
              <a:rPr lang="zh-CN" altLang="zh-CN" dirty="0">
                <a:latin typeface="+mn-ea"/>
                <a:ea typeface="+mn-ea"/>
                <a:cs typeface="宋体" panose="02010600030101010101" pitchFamily="2" charset="-122"/>
              </a:rPr>
              <a:t>放自激的重要</a:t>
            </a:r>
            <a:r>
              <a:rPr lang="zh-CN" altLang="zh-CN" dirty="0" smtClean="0">
                <a:latin typeface="+mn-ea"/>
                <a:ea typeface="+mn-ea"/>
                <a:cs typeface="宋体" panose="02010600030101010101" pitchFamily="2" charset="-122"/>
              </a:rPr>
              <a:t>原因</a:t>
            </a:r>
            <a:r>
              <a:rPr lang="zh-CN" altLang="en-US" dirty="0" smtClean="0">
                <a:latin typeface="+mn-ea"/>
                <a:ea typeface="+mn-ea"/>
                <a:cs typeface="宋体" panose="02010600030101010101" pitchFamily="2" charset="-122"/>
              </a:rPr>
              <a:t>。</a:t>
            </a:r>
            <a:r>
              <a:rPr lang="zh-CN" altLang="zh-CN" dirty="0" smtClean="0">
                <a:latin typeface="+mn-ea"/>
                <a:ea typeface="+mn-ea"/>
                <a:cs typeface="宋体" panose="02010600030101010101" pitchFamily="2" charset="-122"/>
              </a:rPr>
              <a:t>如果</a:t>
            </a:r>
            <a:r>
              <a:rPr lang="zh-CN" altLang="zh-CN" dirty="0">
                <a:latin typeface="+mn-ea"/>
                <a:ea typeface="+mn-ea"/>
                <a:cs typeface="宋体" panose="02010600030101010101" pitchFamily="2" charset="-122"/>
              </a:rPr>
              <a:t>一定要驱动大容量的电容</a:t>
            </a:r>
            <a:r>
              <a:rPr lang="zh-CN" altLang="zh-CN" dirty="0" smtClean="0">
                <a:latin typeface="+mn-ea"/>
                <a:ea typeface="+mn-ea"/>
                <a:cs typeface="宋体" panose="02010600030101010101" pitchFamily="2" charset="-122"/>
              </a:rPr>
              <a:t>负载应当</a:t>
            </a:r>
            <a:r>
              <a:rPr lang="zh-CN" altLang="zh-CN" dirty="0">
                <a:latin typeface="+mn-ea"/>
                <a:ea typeface="+mn-ea"/>
                <a:cs typeface="宋体" panose="02010600030101010101" pitchFamily="2" charset="-122"/>
              </a:rPr>
              <a:t>在运放输出端接入隔离</a:t>
            </a:r>
            <a:r>
              <a:rPr lang="zh-CN" altLang="zh-CN" dirty="0" smtClean="0">
                <a:latin typeface="+mn-ea"/>
                <a:ea typeface="+mn-ea"/>
                <a:cs typeface="宋体" panose="02010600030101010101" pitchFamily="2" charset="-122"/>
              </a:rPr>
              <a:t>电阻</a:t>
            </a:r>
            <a:endParaRPr lang="en-US" altLang="zh-CN" dirty="0" smtClean="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en-US" dirty="0" smtClean="0">
                <a:latin typeface="+mn-ea"/>
                <a:ea typeface="+mn-ea"/>
                <a:cs typeface="宋体" panose="02010600030101010101" pitchFamily="2" charset="-122"/>
              </a:rPr>
              <a:t>反相输入端的大电容（例如微分电路）可能引起自激</a:t>
            </a:r>
            <a:endParaRPr lang="zh-CN" altLang="zh-CN" dirty="0">
              <a:latin typeface="+mn-ea"/>
              <a:ea typeface="+mn-ea"/>
              <a:cs typeface="宋体" panose="02010600030101010101" pitchFamily="2" charset="-122"/>
            </a:endParaRPr>
          </a:p>
          <a:p>
            <a:pPr marL="342900" indent="-342900">
              <a:lnSpc>
                <a:spcPct val="150000"/>
              </a:lnSpc>
              <a:spcAft>
                <a:spcPts val="0"/>
              </a:spcAft>
              <a:buFont typeface="Wingdings" panose="05000000000000000000" pitchFamily="2" charset="2"/>
              <a:buChar char="Ø"/>
            </a:pPr>
            <a:r>
              <a:rPr lang="zh-CN" altLang="en-US" kern="100" dirty="0">
                <a:latin typeface="+mn-ea"/>
                <a:ea typeface="+mn-ea"/>
                <a:cs typeface="Times New Roman" panose="02020603050405020304" pitchFamily="18" charset="0"/>
              </a:rPr>
              <a:t>不合理的</a:t>
            </a:r>
            <a:r>
              <a:rPr lang="zh-CN" altLang="zh-CN" kern="100" dirty="0" smtClean="0">
                <a:latin typeface="+mn-ea"/>
                <a:ea typeface="+mn-ea"/>
                <a:cs typeface="Times New Roman" panose="02020603050405020304" pitchFamily="18" charset="0"/>
              </a:rPr>
              <a:t>接地</a:t>
            </a:r>
            <a:r>
              <a:rPr lang="zh-CN" altLang="en-US" kern="100" dirty="0" smtClean="0">
                <a:latin typeface="+mn-ea"/>
                <a:ea typeface="+mn-ea"/>
                <a:cs typeface="Times New Roman" panose="02020603050405020304" pitchFamily="18" charset="0"/>
              </a:rPr>
              <a:t>、</a:t>
            </a:r>
            <a:r>
              <a:rPr lang="zh-CN" altLang="zh-CN" dirty="0" smtClean="0">
                <a:latin typeface="+mn-ea"/>
                <a:ea typeface="+mn-ea"/>
                <a:cs typeface="宋体" panose="02010600030101010101" pitchFamily="2" charset="-122"/>
              </a:rPr>
              <a:t>不</a:t>
            </a:r>
            <a:r>
              <a:rPr lang="zh-CN" altLang="zh-CN" dirty="0">
                <a:latin typeface="+mn-ea"/>
                <a:ea typeface="+mn-ea"/>
                <a:cs typeface="宋体" panose="02010600030101010101" pitchFamily="2" charset="-122"/>
              </a:rPr>
              <a:t>合理的电源退</a:t>
            </a:r>
            <a:r>
              <a:rPr lang="zh-CN" altLang="zh-CN" dirty="0" smtClean="0">
                <a:latin typeface="+mn-ea"/>
                <a:ea typeface="+mn-ea"/>
                <a:cs typeface="宋体" panose="02010600030101010101" pitchFamily="2" charset="-122"/>
              </a:rPr>
              <a:t>耦</a:t>
            </a:r>
            <a:r>
              <a:rPr lang="zh-CN" altLang="en-US" dirty="0" smtClean="0">
                <a:latin typeface="+mn-ea"/>
                <a:ea typeface="+mn-ea"/>
                <a:cs typeface="宋体" panose="02010600030101010101" pitchFamily="2" charset="-122"/>
              </a:rPr>
              <a:t>、</a:t>
            </a:r>
            <a:r>
              <a:rPr lang="zh-CN" altLang="en-US" kern="100" dirty="0">
                <a:latin typeface="+mn-ea"/>
                <a:ea typeface="+mn-ea"/>
                <a:cs typeface="Times New Roman" panose="02020603050405020304" pitchFamily="18" charset="0"/>
              </a:rPr>
              <a:t>以及</a:t>
            </a:r>
            <a:r>
              <a:rPr lang="zh-CN" altLang="en-US" kern="100" dirty="0" smtClean="0">
                <a:latin typeface="+mn-ea"/>
                <a:ea typeface="+mn-ea"/>
                <a:cs typeface="Times New Roman" panose="02020603050405020304" pitchFamily="18" charset="0"/>
              </a:rPr>
              <a:t>不</a:t>
            </a:r>
            <a:r>
              <a:rPr lang="zh-CN" altLang="zh-CN" kern="100" dirty="0" smtClean="0">
                <a:latin typeface="+mn-ea"/>
                <a:ea typeface="+mn-ea"/>
                <a:cs typeface="Times New Roman" panose="02020603050405020304" pitchFamily="18" charset="0"/>
              </a:rPr>
              <a:t>合理</a:t>
            </a:r>
            <a:r>
              <a:rPr lang="zh-CN" altLang="zh-CN" kern="100" dirty="0">
                <a:latin typeface="+mn-ea"/>
                <a:ea typeface="+mn-ea"/>
                <a:cs typeface="Times New Roman" panose="02020603050405020304" pitchFamily="18" charset="0"/>
              </a:rPr>
              <a:t>的印制板</a:t>
            </a:r>
            <a:r>
              <a:rPr lang="zh-CN" altLang="zh-CN" kern="100" dirty="0" smtClean="0">
                <a:latin typeface="+mn-ea"/>
                <a:ea typeface="+mn-ea"/>
                <a:cs typeface="Times New Roman" panose="02020603050405020304" pitchFamily="18" charset="0"/>
              </a:rPr>
              <a:t>布局</a:t>
            </a:r>
            <a:r>
              <a:rPr lang="zh-CN" altLang="en-US" kern="100" dirty="0" smtClean="0">
                <a:latin typeface="+mn-ea"/>
                <a:ea typeface="+mn-ea"/>
                <a:cs typeface="Times New Roman" panose="02020603050405020304" pitchFamily="18" charset="0"/>
              </a:rPr>
              <a:t>，均可能</a:t>
            </a:r>
            <a:r>
              <a:rPr lang="zh-CN" altLang="zh-CN" dirty="0" smtClean="0">
                <a:latin typeface="+mn-ea"/>
                <a:cs typeface="宋体" panose="02010600030101010101" pitchFamily="2" charset="-122"/>
              </a:rPr>
              <a:t>引起</a:t>
            </a:r>
            <a:r>
              <a:rPr lang="zh-CN" altLang="zh-CN" dirty="0">
                <a:latin typeface="+mn-ea"/>
                <a:cs typeface="宋体" panose="02010600030101010101" pitchFamily="2" charset="-122"/>
              </a:rPr>
              <a:t>放大器自</a:t>
            </a:r>
            <a:r>
              <a:rPr lang="zh-CN" altLang="zh-CN" dirty="0" smtClean="0">
                <a:latin typeface="+mn-ea"/>
                <a:cs typeface="宋体" panose="02010600030101010101" pitchFamily="2" charset="-122"/>
              </a:rPr>
              <a:t>激</a:t>
            </a:r>
            <a:endParaRPr lang="en-US" altLang="zh-CN" dirty="0" smtClean="0">
              <a:latin typeface="+mn-ea"/>
              <a:cs typeface="宋体" panose="02010600030101010101" pitchFamily="2" charset="-122"/>
            </a:endParaRPr>
          </a:p>
          <a:p>
            <a:pPr marL="342900" indent="-342900">
              <a:lnSpc>
                <a:spcPct val="150000"/>
              </a:lnSpc>
              <a:buFont typeface="Wingdings" panose="05000000000000000000" pitchFamily="2" charset="2"/>
              <a:buChar char="Ø"/>
            </a:pPr>
            <a:r>
              <a:rPr lang="zh-CN" altLang="zh-CN" dirty="0"/>
              <a:t>多级放大器要避免级间存在不需要的</a:t>
            </a:r>
            <a:r>
              <a:rPr lang="zh-CN" altLang="zh-CN" dirty="0" smtClean="0"/>
              <a:t>耦合</a:t>
            </a:r>
            <a:endParaRPr lang="en-US" altLang="zh-CN" dirty="0" smtClean="0"/>
          </a:p>
          <a:p>
            <a:pPr marL="342900" indent="-342900">
              <a:lnSpc>
                <a:spcPct val="150000"/>
              </a:lnSpc>
              <a:buFont typeface="Wingdings" panose="05000000000000000000" pitchFamily="2" charset="2"/>
              <a:buChar char="Ø"/>
            </a:pPr>
            <a:r>
              <a:rPr lang="zh-CN" altLang="en-US" dirty="0" smtClean="0">
                <a:latin typeface="+mn-ea"/>
                <a:ea typeface="+mn-ea"/>
              </a:rPr>
              <a:t>正确的测量方法至关重要</a:t>
            </a:r>
            <a:endParaRPr lang="zh-CN" altLang="en-US" dirty="0">
              <a:latin typeface="+mn-ea"/>
              <a:ea typeface="+mn-ea"/>
            </a:endParaRPr>
          </a:p>
        </p:txBody>
      </p:sp>
    </p:spTree>
    <p:extLst>
      <p:ext uri="{BB962C8B-B14F-4D97-AF65-F5344CB8AC3E}">
        <p14:creationId xmlns:p14="http://schemas.microsoft.com/office/powerpoint/2010/main" val="3358359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矩形 4"/>
          <p:cNvSpPr/>
          <p:nvPr/>
        </p:nvSpPr>
        <p:spPr>
          <a:xfrm>
            <a:off x="519695" y="472818"/>
            <a:ext cx="8124345" cy="5632311"/>
          </a:xfrm>
          <a:prstGeom prst="rect">
            <a:avLst/>
          </a:prstGeom>
        </p:spPr>
        <p:txBody>
          <a:bodyPr wrap="square">
            <a:spAutoFit/>
          </a:bodyPr>
          <a:lstStyle/>
          <a:p>
            <a:pPr marL="1270" algn="just">
              <a:lnSpc>
                <a:spcPct val="150000"/>
              </a:lnSpc>
              <a:spcAft>
                <a:spcPts val="0"/>
              </a:spcAft>
            </a:pPr>
            <a:r>
              <a:rPr lang="zh-CN" altLang="en-US" kern="100" dirty="0" smtClean="0">
                <a:latin typeface="+mj-ea"/>
                <a:ea typeface="+mj-ea"/>
              </a:rPr>
              <a:t>多余运放的处理</a:t>
            </a:r>
            <a:endParaRPr lang="en-US" altLang="zh-CN" kern="100" dirty="0" smtClean="0">
              <a:latin typeface="+mj-ea"/>
              <a:ea typeface="+mj-ea"/>
            </a:endParaRPr>
          </a:p>
          <a:p>
            <a:pPr marL="344170" indent="-342900" algn="just">
              <a:lnSpc>
                <a:spcPct val="150000"/>
              </a:lnSpc>
              <a:spcAft>
                <a:spcPts val="0"/>
              </a:spcAft>
              <a:buFont typeface="Wingdings" panose="05000000000000000000" pitchFamily="2" charset="2"/>
              <a:buChar char="Ø"/>
            </a:pPr>
            <a:r>
              <a:rPr lang="zh-CN" altLang="zh-CN" kern="100" dirty="0" smtClean="0">
                <a:latin typeface="+mn-ea"/>
                <a:ea typeface="+mn-ea"/>
              </a:rPr>
              <a:t>在</a:t>
            </a:r>
            <a:r>
              <a:rPr lang="zh-CN" altLang="zh-CN" kern="100" dirty="0">
                <a:latin typeface="+mn-ea"/>
                <a:ea typeface="+mn-ea"/>
              </a:rPr>
              <a:t>使用一个双运放或四运放时，可能只用了其中一部分，多余运放的处理主要是防止它产生自</a:t>
            </a:r>
            <a:r>
              <a:rPr lang="zh-CN" altLang="zh-CN" kern="100" dirty="0" smtClean="0">
                <a:latin typeface="+mn-ea"/>
                <a:ea typeface="+mn-ea"/>
              </a:rPr>
              <a:t>激</a:t>
            </a:r>
            <a:endParaRPr lang="en-US" altLang="zh-CN" kern="100" dirty="0" smtClean="0">
              <a:latin typeface="+mn-ea"/>
              <a:ea typeface="+mn-ea"/>
            </a:endParaRPr>
          </a:p>
          <a:p>
            <a:pPr marL="344170" indent="-342900" algn="just">
              <a:lnSpc>
                <a:spcPct val="150000"/>
              </a:lnSpc>
              <a:spcAft>
                <a:spcPts val="0"/>
              </a:spcAft>
              <a:buFont typeface="Wingdings" panose="05000000000000000000" pitchFamily="2" charset="2"/>
              <a:buChar char="Ø"/>
            </a:pPr>
            <a:r>
              <a:rPr lang="zh-CN" altLang="en-US" kern="100" dirty="0" smtClean="0">
                <a:latin typeface="+mn-ea"/>
                <a:ea typeface="+mn-ea"/>
              </a:rPr>
              <a:t>对于完全补偿的电压反馈型运放，可</a:t>
            </a:r>
            <a:r>
              <a:rPr lang="zh-CN" altLang="zh-CN" kern="100" dirty="0" smtClean="0">
                <a:latin typeface="+mn-ea"/>
                <a:ea typeface="+mn-ea"/>
              </a:rPr>
              <a:t>将</a:t>
            </a:r>
            <a:r>
              <a:rPr lang="zh-CN" altLang="zh-CN" kern="100" dirty="0">
                <a:latin typeface="+mn-ea"/>
                <a:ea typeface="+mn-ea"/>
              </a:rPr>
              <a:t>它接成一个跟随器（反相输入端与输出连接），然后将同相输入端</a:t>
            </a:r>
            <a:r>
              <a:rPr lang="zh-CN" altLang="zh-CN" kern="100" dirty="0" smtClean="0">
                <a:latin typeface="+mn-ea"/>
                <a:ea typeface="+mn-ea"/>
              </a:rPr>
              <a:t>接地或</a:t>
            </a:r>
            <a:r>
              <a:rPr lang="zh-CN" altLang="en-US" kern="100" dirty="0" smtClean="0">
                <a:latin typeface="+mn-ea"/>
                <a:ea typeface="+mn-ea"/>
              </a:rPr>
              <a:t>某个固定电位</a:t>
            </a:r>
            <a:r>
              <a:rPr lang="zh-CN" altLang="zh-CN" kern="100" dirty="0" smtClean="0">
                <a:latin typeface="+mn-ea"/>
                <a:ea typeface="+mn-ea"/>
              </a:rPr>
              <a:t>，</a:t>
            </a:r>
            <a:r>
              <a:rPr lang="zh-CN" altLang="zh-CN" kern="100" dirty="0">
                <a:latin typeface="+mn-ea"/>
                <a:ea typeface="+mn-ea"/>
              </a:rPr>
              <a:t>这样的做法能保证它不会自</a:t>
            </a:r>
            <a:r>
              <a:rPr lang="zh-CN" altLang="zh-CN" kern="100" dirty="0" smtClean="0">
                <a:latin typeface="+mn-ea"/>
                <a:ea typeface="+mn-ea"/>
              </a:rPr>
              <a:t>激</a:t>
            </a:r>
            <a:endParaRPr lang="zh-CN" altLang="zh-CN" kern="100" dirty="0">
              <a:latin typeface="+mn-ea"/>
              <a:ea typeface="+mn-ea"/>
            </a:endParaRPr>
          </a:p>
          <a:p>
            <a:pPr marL="342900" indent="-342900">
              <a:lnSpc>
                <a:spcPct val="150000"/>
              </a:lnSpc>
              <a:buFont typeface="Wingdings" panose="05000000000000000000" pitchFamily="2" charset="2"/>
              <a:buChar char="Ø"/>
            </a:pPr>
            <a:r>
              <a:rPr lang="zh-CN" altLang="en-US" dirty="0" smtClean="0">
                <a:latin typeface="+mn-ea"/>
                <a:ea typeface="+mn-ea"/>
                <a:cs typeface="Times New Roman" panose="02020603050405020304" pitchFamily="18" charset="0"/>
              </a:rPr>
              <a:t>对于</a:t>
            </a:r>
            <a:r>
              <a:rPr lang="zh-CN" altLang="zh-CN" dirty="0" smtClean="0">
                <a:latin typeface="+mn-ea"/>
                <a:ea typeface="+mn-ea"/>
                <a:cs typeface="Times New Roman" panose="02020603050405020304" pitchFamily="18" charset="0"/>
              </a:rPr>
              <a:t>不完全补偿</a:t>
            </a:r>
            <a:r>
              <a:rPr lang="zh-CN" altLang="en-US" dirty="0" smtClean="0">
                <a:latin typeface="+mn-ea"/>
                <a:ea typeface="+mn-ea"/>
                <a:cs typeface="Times New Roman" panose="02020603050405020304" pitchFamily="18" charset="0"/>
              </a:rPr>
              <a:t>的运放，因为</a:t>
            </a:r>
            <a:r>
              <a:rPr lang="zh-CN" altLang="zh-CN" dirty="0" smtClean="0">
                <a:latin typeface="+mn-ea"/>
                <a:ea typeface="+mn-ea"/>
                <a:cs typeface="Times New Roman" panose="02020603050405020304" pitchFamily="18" charset="0"/>
              </a:rPr>
              <a:t>有</a:t>
            </a:r>
            <a:r>
              <a:rPr lang="zh-CN" altLang="zh-CN" dirty="0">
                <a:latin typeface="+mn-ea"/>
                <a:ea typeface="+mn-ea"/>
                <a:cs typeface="Times New Roman" panose="02020603050405020304" pitchFamily="18" charset="0"/>
              </a:rPr>
              <a:t>最小闭环增益的限制</a:t>
            </a:r>
            <a:r>
              <a:rPr lang="zh-CN" altLang="zh-CN" dirty="0" smtClean="0">
                <a:latin typeface="+mn-ea"/>
                <a:ea typeface="+mn-ea"/>
                <a:cs typeface="Times New Roman" panose="02020603050405020304" pitchFamily="18" charset="0"/>
              </a:rPr>
              <a:t>，要</a:t>
            </a:r>
            <a:r>
              <a:rPr lang="zh-CN" altLang="zh-CN" dirty="0">
                <a:latin typeface="+mn-ea"/>
                <a:ea typeface="+mn-ea"/>
                <a:cs typeface="Times New Roman" panose="02020603050405020304" pitchFamily="18" charset="0"/>
              </a:rPr>
              <a:t>用两个电阻构成一个放大倍数足以保证稳定的放大器，然后将输入端接地</a:t>
            </a:r>
            <a:r>
              <a:rPr lang="zh-CN" altLang="zh-CN" dirty="0" smtClean="0">
                <a:latin typeface="+mn-ea"/>
                <a:ea typeface="+mn-ea"/>
                <a:cs typeface="Times New Roman" panose="02020603050405020304" pitchFamily="18" charset="0"/>
              </a:rPr>
              <a:t>或</a:t>
            </a:r>
            <a:r>
              <a:rPr lang="zh-CN" altLang="en-US" dirty="0" smtClean="0">
                <a:latin typeface="+mn-ea"/>
                <a:ea typeface="+mn-ea"/>
                <a:cs typeface="Times New Roman" panose="02020603050405020304" pitchFamily="18" charset="0"/>
              </a:rPr>
              <a:t>某个固定电位</a:t>
            </a:r>
            <a:endParaRPr lang="en-US" altLang="zh-CN" dirty="0" smtClean="0">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Ø"/>
            </a:pPr>
            <a:r>
              <a:rPr lang="zh-CN" altLang="zh-CN" dirty="0" smtClean="0">
                <a:latin typeface="+mn-ea"/>
                <a:ea typeface="+mn-ea"/>
                <a:cs typeface="Times New Roman" panose="02020603050405020304" pitchFamily="18" charset="0"/>
              </a:rPr>
              <a:t>对于</a:t>
            </a:r>
            <a:r>
              <a:rPr lang="zh-CN" altLang="zh-CN" dirty="0">
                <a:latin typeface="+mn-ea"/>
                <a:ea typeface="+mn-ea"/>
                <a:cs typeface="Times New Roman" panose="02020603050405020304" pitchFamily="18" charset="0"/>
              </a:rPr>
              <a:t>电流反馈型运放</a:t>
            </a:r>
            <a:r>
              <a:rPr lang="zh-CN" altLang="zh-CN" dirty="0" smtClean="0">
                <a:latin typeface="+mn-ea"/>
                <a:ea typeface="+mn-ea"/>
                <a:cs typeface="Times New Roman" panose="02020603050405020304" pitchFamily="18" charset="0"/>
              </a:rPr>
              <a:t>，</a:t>
            </a:r>
            <a:r>
              <a:rPr lang="zh-CN" altLang="en-US" dirty="0" smtClean="0">
                <a:latin typeface="+mn-ea"/>
                <a:ea typeface="+mn-ea"/>
                <a:cs typeface="Times New Roman" panose="02020603050405020304" pitchFamily="18" charset="0"/>
              </a:rPr>
              <a:t>可参照电压反馈型运放的做法，但</a:t>
            </a:r>
            <a:r>
              <a:rPr lang="zh-CN" altLang="zh-CN" dirty="0" smtClean="0">
                <a:latin typeface="+mn-ea"/>
                <a:ea typeface="+mn-ea"/>
                <a:cs typeface="Times New Roman" panose="02020603050405020304" pitchFamily="18" charset="0"/>
              </a:rPr>
              <a:t>即使</a:t>
            </a:r>
            <a:r>
              <a:rPr lang="zh-CN" altLang="zh-CN" dirty="0">
                <a:latin typeface="+mn-ea"/>
                <a:ea typeface="+mn-ea"/>
                <a:cs typeface="Times New Roman" panose="02020603050405020304" pitchFamily="18" charset="0"/>
              </a:rPr>
              <a:t>允许闭环增益为</a:t>
            </a:r>
            <a:r>
              <a:rPr lang="en-US" altLang="zh-CN" dirty="0">
                <a:latin typeface="+mn-ea"/>
                <a:ea typeface="+mn-ea"/>
              </a:rPr>
              <a:t>1</a:t>
            </a:r>
            <a:r>
              <a:rPr lang="zh-CN" altLang="zh-CN" dirty="0">
                <a:latin typeface="+mn-ea"/>
                <a:ea typeface="+mn-ea"/>
                <a:cs typeface="Times New Roman" panose="02020603050405020304" pitchFamily="18" charset="0"/>
              </a:rPr>
              <a:t>，也要接入反馈电阻，决不允许直接将输出与反相输入端直接连接</a:t>
            </a:r>
            <a:endParaRPr lang="zh-CN" altLang="en-US" dirty="0">
              <a:latin typeface="+mn-ea"/>
              <a:ea typeface="+mn-ea"/>
            </a:endParaRPr>
          </a:p>
        </p:txBody>
      </p:sp>
    </p:spTree>
    <p:extLst>
      <p:ext uri="{BB962C8B-B14F-4D97-AF65-F5344CB8AC3E}">
        <p14:creationId xmlns:p14="http://schemas.microsoft.com/office/powerpoint/2010/main" val="1114082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5" name="矩形 4"/>
          <p:cNvSpPr/>
          <p:nvPr/>
        </p:nvSpPr>
        <p:spPr>
          <a:xfrm>
            <a:off x="468313" y="1183250"/>
            <a:ext cx="8228355" cy="3323987"/>
          </a:xfrm>
          <a:prstGeom prst="rect">
            <a:avLst/>
          </a:prstGeom>
        </p:spPr>
        <p:txBody>
          <a:bodyPr wrap="square">
            <a:spAutoFit/>
          </a:bodyPr>
          <a:lstStyle/>
          <a:p>
            <a:pPr>
              <a:lnSpc>
                <a:spcPct val="150000"/>
              </a:lnSpc>
            </a:pPr>
            <a:r>
              <a:rPr lang="zh-CN" altLang="en-US" kern="100" dirty="0" smtClean="0">
                <a:latin typeface="+mj-ea"/>
                <a:ea typeface="+mj-ea"/>
                <a:cs typeface="Times New Roman" panose="02020603050405020304" pitchFamily="18" charset="0"/>
              </a:rPr>
              <a:t>常用电阻的特点</a:t>
            </a:r>
            <a:endParaRPr lang="en-US" altLang="zh-CN" kern="100" dirty="0" smtClean="0">
              <a:latin typeface="+mj-ea"/>
              <a:ea typeface="+mj-ea"/>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kern="100" dirty="0" smtClean="0">
                <a:latin typeface="+mj-ea"/>
                <a:cs typeface="Times New Roman" panose="02020603050405020304" pitchFamily="18" charset="0"/>
              </a:rPr>
              <a:t>碳膜电阻具有负的温度系数，</a:t>
            </a:r>
            <a:r>
              <a:rPr lang="zh-CN" altLang="en-US" kern="100" dirty="0">
                <a:latin typeface="+mj-ea"/>
                <a:cs typeface="Times New Roman" panose="02020603050405020304" pitchFamily="18" charset="0"/>
              </a:rPr>
              <a:t>金属</a:t>
            </a:r>
            <a:r>
              <a:rPr lang="zh-CN" altLang="en-US" kern="100" dirty="0" smtClean="0">
                <a:latin typeface="+mj-ea"/>
                <a:cs typeface="Times New Roman" panose="02020603050405020304" pitchFamily="18" charset="0"/>
              </a:rPr>
              <a:t>膜电阻具有正的温度系数，合成膜电阻具有或正或负的温度系数</a:t>
            </a:r>
            <a:endParaRPr lang="en-US" altLang="zh-CN" kern="100" dirty="0" smtClean="0">
              <a:latin typeface="+mj-ea"/>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kern="100" dirty="0" smtClean="0">
                <a:latin typeface="+mj-ea"/>
                <a:cs typeface="Times New Roman" panose="02020603050405020304" pitchFamily="18" charset="0"/>
              </a:rPr>
              <a:t>贴片电阻具有很低的分布电感，适合高频应用</a:t>
            </a:r>
            <a:endParaRPr lang="en-US" altLang="zh-CN" kern="100" dirty="0" smtClean="0">
              <a:latin typeface="+mj-ea"/>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kern="100" dirty="0" smtClean="0">
                <a:latin typeface="+mj-ea"/>
                <a:cs typeface="Times New Roman" panose="02020603050405020304" pitchFamily="18" charset="0"/>
              </a:rPr>
              <a:t>线</a:t>
            </a:r>
            <a:r>
              <a:rPr lang="zh-CN" altLang="en-US" kern="100" dirty="0">
                <a:latin typeface="+mj-ea"/>
                <a:cs typeface="Times New Roman" panose="02020603050405020304" pitchFamily="18" charset="0"/>
              </a:rPr>
              <a:t>绕电阻、水泥</a:t>
            </a:r>
            <a:r>
              <a:rPr lang="zh-CN" altLang="en-US" kern="100" dirty="0" smtClean="0">
                <a:latin typeface="+mj-ea"/>
                <a:cs typeface="Times New Roman" panose="02020603050405020304" pitchFamily="18" charset="0"/>
              </a:rPr>
              <a:t>电阻等适用于大功率应用，但这些电阻通常都有较大的分布电感，不能用于高频电路</a:t>
            </a:r>
            <a:endParaRPr lang="en-US" altLang="zh-CN" kern="100" dirty="0" smtClean="0">
              <a:latin typeface="+mj-ea"/>
              <a:cs typeface="Times New Roman" panose="02020603050405020304" pitchFamily="18" charset="0"/>
            </a:endParaRPr>
          </a:p>
          <a:p>
            <a:pPr marL="342900" indent="-342900">
              <a:lnSpc>
                <a:spcPct val="150000"/>
              </a:lnSpc>
              <a:buFont typeface="Arial" panose="020B0604020202020204" pitchFamily="34" charset="0"/>
              <a:buChar char="•"/>
            </a:pPr>
            <a:endParaRPr lang="en-US" altLang="zh-CN" kern="100" dirty="0">
              <a:latin typeface="+mj-ea"/>
              <a:cs typeface="Times New Roman" panose="02020603050405020304" pitchFamily="18" charset="0"/>
            </a:endParaRPr>
          </a:p>
        </p:txBody>
      </p:sp>
      <p:sp>
        <p:nvSpPr>
          <p:cNvPr id="6" name="文本框 5"/>
          <p:cNvSpPr txBox="1"/>
          <p:nvPr/>
        </p:nvSpPr>
        <p:spPr>
          <a:xfrm>
            <a:off x="468313" y="578901"/>
            <a:ext cx="4287883" cy="523220"/>
          </a:xfrm>
          <a:prstGeom prst="rect">
            <a:avLst/>
          </a:prstGeom>
          <a:noFill/>
        </p:spPr>
        <p:txBody>
          <a:bodyPr wrap="square" rtlCol="0">
            <a:spAutoFit/>
          </a:bodyPr>
          <a:lstStyle/>
          <a:p>
            <a:r>
              <a:rPr lang="zh-CN" altLang="en-US" sz="2800" dirty="0" smtClean="0">
                <a:solidFill>
                  <a:srgbClr val="FF0000"/>
                </a:solidFill>
                <a:latin typeface="隶书" panose="02010509060101010101" pitchFamily="49" charset="-122"/>
                <a:ea typeface="隶书" panose="02010509060101010101" pitchFamily="49" charset="-122"/>
              </a:rPr>
              <a:t>电阻、电容与电感</a:t>
            </a:r>
            <a:endParaRPr lang="zh-CN" altLang="en-US" sz="2800" dirty="0">
              <a:solidFill>
                <a:srgbClr val="FF0000"/>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38319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16</a:t>
            </a:fld>
            <a:endParaRPr lang="en-US" altLang="zh-CN"/>
          </a:p>
        </p:txBody>
      </p:sp>
      <p:sp>
        <p:nvSpPr>
          <p:cNvPr id="2" name="矩形 1"/>
          <p:cNvSpPr/>
          <p:nvPr/>
        </p:nvSpPr>
        <p:spPr>
          <a:xfrm>
            <a:off x="468313" y="667137"/>
            <a:ext cx="4572000" cy="400110"/>
          </a:xfrm>
          <a:prstGeom prst="rect">
            <a:avLst/>
          </a:prstGeom>
        </p:spPr>
        <p:txBody>
          <a:bodyPr>
            <a:spAutoFit/>
          </a:bodyPr>
          <a:lstStyle/>
          <a:p>
            <a:r>
              <a:rPr lang="zh-CN" altLang="zh-CN" kern="100" dirty="0">
                <a:latin typeface="黑体" panose="02010609060101010101" pitchFamily="49" charset="-122"/>
                <a:ea typeface="黑体" panose="02010609060101010101" pitchFamily="49" charset="-122"/>
                <a:cs typeface="Times New Roman" panose="02020603050405020304" pitchFamily="18" charset="0"/>
              </a:rPr>
              <a:t>电阻的标称值系列与</a:t>
            </a:r>
            <a:r>
              <a:rPr lang="zh-CN" altLang="zh-CN" kern="100" dirty="0" smtClean="0">
                <a:latin typeface="黑体" panose="02010609060101010101" pitchFamily="49" charset="-122"/>
                <a:ea typeface="黑体" panose="02010609060101010101" pitchFamily="49" charset="-122"/>
                <a:cs typeface="Times New Roman" panose="02020603050405020304" pitchFamily="18" charset="0"/>
              </a:rPr>
              <a:t>误差</a:t>
            </a: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（一）</a:t>
            </a:r>
            <a:endParaRPr lang="zh-CN" altLang="en-US" dirty="0">
              <a:latin typeface="黑体" panose="02010609060101010101" pitchFamily="49" charset="-122"/>
              <a:ea typeface="黑体" panose="02010609060101010101" pitchFamily="49"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84072328"/>
              </p:ext>
            </p:extLst>
          </p:nvPr>
        </p:nvGraphicFramePr>
        <p:xfrm>
          <a:off x="580148" y="1489856"/>
          <a:ext cx="7988167" cy="1483360"/>
        </p:xfrm>
        <a:graphic>
          <a:graphicData uri="http://schemas.openxmlformats.org/drawingml/2006/table">
            <a:tbl>
              <a:tblPr firstCol="1" bandRow="1">
                <a:tableStyleId>{35758FB7-9AC5-4552-8A53-C91805E547FA}</a:tableStyleId>
              </a:tblPr>
              <a:tblGrid>
                <a:gridCol w="3155768">
                  <a:extLst>
                    <a:ext uri="{9D8B030D-6E8A-4147-A177-3AD203B41FA5}">
                      <a16:colId xmlns:a16="http://schemas.microsoft.com/office/drawing/2014/main" val="701144564"/>
                    </a:ext>
                  </a:extLst>
                </a:gridCol>
                <a:gridCol w="792429">
                  <a:extLst>
                    <a:ext uri="{9D8B030D-6E8A-4147-A177-3AD203B41FA5}">
                      <a16:colId xmlns:a16="http://schemas.microsoft.com/office/drawing/2014/main" val="3291988892"/>
                    </a:ext>
                  </a:extLst>
                </a:gridCol>
                <a:gridCol w="714601">
                  <a:extLst>
                    <a:ext uri="{9D8B030D-6E8A-4147-A177-3AD203B41FA5}">
                      <a16:colId xmlns:a16="http://schemas.microsoft.com/office/drawing/2014/main" val="150703995"/>
                    </a:ext>
                  </a:extLst>
                </a:gridCol>
                <a:gridCol w="778278">
                  <a:extLst>
                    <a:ext uri="{9D8B030D-6E8A-4147-A177-3AD203B41FA5}">
                      <a16:colId xmlns:a16="http://schemas.microsoft.com/office/drawing/2014/main" val="4174519557"/>
                    </a:ext>
                  </a:extLst>
                </a:gridCol>
                <a:gridCol w="841955">
                  <a:extLst>
                    <a:ext uri="{9D8B030D-6E8A-4147-A177-3AD203B41FA5}">
                      <a16:colId xmlns:a16="http://schemas.microsoft.com/office/drawing/2014/main" val="243996030"/>
                    </a:ext>
                  </a:extLst>
                </a:gridCol>
                <a:gridCol w="870256">
                  <a:extLst>
                    <a:ext uri="{9D8B030D-6E8A-4147-A177-3AD203B41FA5}">
                      <a16:colId xmlns:a16="http://schemas.microsoft.com/office/drawing/2014/main" val="1509725156"/>
                    </a:ext>
                  </a:extLst>
                </a:gridCol>
                <a:gridCol w="834880">
                  <a:extLst>
                    <a:ext uri="{9D8B030D-6E8A-4147-A177-3AD203B41FA5}">
                      <a16:colId xmlns:a16="http://schemas.microsoft.com/office/drawing/2014/main" val="2501159926"/>
                    </a:ext>
                  </a:extLst>
                </a:gridCol>
              </a:tblGrid>
              <a:tr h="370840">
                <a:tc>
                  <a:txBody>
                    <a:bodyPr/>
                    <a:lstStyle/>
                    <a:p>
                      <a:r>
                        <a:rPr lang="en-US" altLang="zh-CN" dirty="0" smtClean="0"/>
                        <a:t>E24(5%), E12(10%), E6(20%)</a:t>
                      </a:r>
                      <a:endParaRPr lang="zh-CN" altLang="en-US" dirty="0"/>
                    </a:p>
                  </a:txBody>
                  <a:tcPr/>
                </a:tc>
                <a:tc>
                  <a:txBody>
                    <a:bodyPr/>
                    <a:lstStyle/>
                    <a:p>
                      <a:pPr algn="ctr"/>
                      <a:r>
                        <a:rPr lang="en-US" altLang="zh-CN" dirty="0" smtClean="0"/>
                        <a:t>1.0</a:t>
                      </a:r>
                      <a:endParaRPr lang="zh-CN" altLang="en-US" dirty="0"/>
                    </a:p>
                  </a:txBody>
                  <a:tcPr/>
                </a:tc>
                <a:tc>
                  <a:txBody>
                    <a:bodyPr/>
                    <a:lstStyle/>
                    <a:p>
                      <a:pPr algn="ctr"/>
                      <a:r>
                        <a:rPr lang="en-US" altLang="zh-CN" dirty="0" smtClean="0"/>
                        <a:t>1.5</a:t>
                      </a:r>
                      <a:endParaRPr lang="zh-CN" altLang="en-US" dirty="0"/>
                    </a:p>
                  </a:txBody>
                  <a:tcPr/>
                </a:tc>
                <a:tc>
                  <a:txBody>
                    <a:bodyPr/>
                    <a:lstStyle/>
                    <a:p>
                      <a:pPr algn="ctr"/>
                      <a:r>
                        <a:rPr lang="en-US" altLang="zh-CN" dirty="0" smtClean="0"/>
                        <a:t>2.2</a:t>
                      </a:r>
                      <a:endParaRPr lang="zh-CN" altLang="en-US" dirty="0"/>
                    </a:p>
                  </a:txBody>
                  <a:tcPr/>
                </a:tc>
                <a:tc>
                  <a:txBody>
                    <a:bodyPr/>
                    <a:lstStyle/>
                    <a:p>
                      <a:pPr algn="ctr"/>
                      <a:r>
                        <a:rPr lang="en-US" altLang="zh-CN" dirty="0" smtClean="0"/>
                        <a:t>3.3</a:t>
                      </a:r>
                      <a:endParaRPr lang="zh-CN" altLang="en-US" dirty="0"/>
                    </a:p>
                  </a:txBody>
                  <a:tcPr/>
                </a:tc>
                <a:tc>
                  <a:txBody>
                    <a:bodyPr/>
                    <a:lstStyle/>
                    <a:p>
                      <a:pPr algn="ctr"/>
                      <a:r>
                        <a:rPr lang="en-US" altLang="zh-CN" dirty="0" smtClean="0"/>
                        <a:t>4.7</a:t>
                      </a:r>
                      <a:endParaRPr lang="zh-CN" altLang="en-US" dirty="0"/>
                    </a:p>
                  </a:txBody>
                  <a:tcPr/>
                </a:tc>
                <a:tc>
                  <a:txBody>
                    <a:bodyPr/>
                    <a:lstStyle/>
                    <a:p>
                      <a:pPr algn="ctr"/>
                      <a:r>
                        <a:rPr lang="en-US" altLang="zh-CN" dirty="0" smtClean="0"/>
                        <a:t>6.8</a:t>
                      </a:r>
                      <a:endParaRPr lang="zh-CN" altLang="en-US" dirty="0"/>
                    </a:p>
                  </a:txBody>
                  <a:tcPr/>
                </a:tc>
                <a:extLst>
                  <a:ext uri="{0D108BD9-81ED-4DB2-BD59-A6C34878D82A}">
                    <a16:rowId xmlns:a16="http://schemas.microsoft.com/office/drawing/2014/main" val="2376847251"/>
                  </a:ext>
                </a:extLst>
              </a:tr>
              <a:tr h="370840">
                <a:tc>
                  <a:txBody>
                    <a:bodyPr/>
                    <a:lstStyle/>
                    <a:p>
                      <a:r>
                        <a:rPr lang="en-US" altLang="zh-CN" dirty="0" smtClean="0"/>
                        <a:t>E24(5%)</a:t>
                      </a:r>
                      <a:endParaRPr lang="zh-CN" altLang="en-US" dirty="0"/>
                    </a:p>
                  </a:txBody>
                  <a:tcPr/>
                </a:tc>
                <a:tc>
                  <a:txBody>
                    <a:bodyPr/>
                    <a:lstStyle/>
                    <a:p>
                      <a:pPr algn="ctr"/>
                      <a:r>
                        <a:rPr lang="en-US" altLang="zh-CN" dirty="0" smtClean="0"/>
                        <a:t>1.1</a:t>
                      </a:r>
                      <a:endParaRPr lang="zh-CN" altLang="en-US" dirty="0"/>
                    </a:p>
                  </a:txBody>
                  <a:tcPr/>
                </a:tc>
                <a:tc>
                  <a:txBody>
                    <a:bodyPr/>
                    <a:lstStyle/>
                    <a:p>
                      <a:pPr algn="ctr"/>
                      <a:r>
                        <a:rPr lang="en-US" altLang="zh-CN" dirty="0" smtClean="0"/>
                        <a:t>1.6</a:t>
                      </a:r>
                      <a:endParaRPr lang="zh-CN" altLang="en-US" dirty="0"/>
                    </a:p>
                  </a:txBody>
                  <a:tcPr/>
                </a:tc>
                <a:tc>
                  <a:txBody>
                    <a:bodyPr/>
                    <a:lstStyle/>
                    <a:p>
                      <a:pPr algn="ctr"/>
                      <a:r>
                        <a:rPr lang="en-US" altLang="zh-CN" dirty="0" smtClean="0"/>
                        <a:t>2.4</a:t>
                      </a:r>
                      <a:endParaRPr lang="zh-CN" altLang="en-US" dirty="0"/>
                    </a:p>
                  </a:txBody>
                  <a:tcPr/>
                </a:tc>
                <a:tc>
                  <a:txBody>
                    <a:bodyPr/>
                    <a:lstStyle/>
                    <a:p>
                      <a:pPr algn="ctr"/>
                      <a:r>
                        <a:rPr lang="en-US" altLang="zh-CN" dirty="0" smtClean="0"/>
                        <a:t>3.6</a:t>
                      </a:r>
                      <a:endParaRPr lang="zh-CN" altLang="en-US" dirty="0"/>
                    </a:p>
                  </a:txBody>
                  <a:tcPr/>
                </a:tc>
                <a:tc>
                  <a:txBody>
                    <a:bodyPr/>
                    <a:lstStyle/>
                    <a:p>
                      <a:pPr algn="ctr"/>
                      <a:r>
                        <a:rPr lang="en-US" altLang="zh-CN" dirty="0" smtClean="0"/>
                        <a:t>5.1</a:t>
                      </a:r>
                      <a:endParaRPr lang="zh-CN" altLang="en-US" dirty="0"/>
                    </a:p>
                  </a:txBody>
                  <a:tcPr/>
                </a:tc>
                <a:tc>
                  <a:txBody>
                    <a:bodyPr/>
                    <a:lstStyle/>
                    <a:p>
                      <a:pPr algn="ctr"/>
                      <a:r>
                        <a:rPr lang="en-US" altLang="zh-CN" dirty="0" smtClean="0"/>
                        <a:t>7.5</a:t>
                      </a:r>
                      <a:endParaRPr lang="zh-CN" altLang="en-US" dirty="0"/>
                    </a:p>
                  </a:txBody>
                  <a:tcPr/>
                </a:tc>
                <a:extLst>
                  <a:ext uri="{0D108BD9-81ED-4DB2-BD59-A6C34878D82A}">
                    <a16:rowId xmlns:a16="http://schemas.microsoft.com/office/drawing/2014/main" val="2363456801"/>
                  </a:ext>
                </a:extLst>
              </a:tr>
              <a:tr h="370840">
                <a:tc>
                  <a:txBody>
                    <a:bodyPr/>
                    <a:lstStyle/>
                    <a:p>
                      <a:r>
                        <a:rPr lang="en-US" altLang="zh-CN" dirty="0" smtClean="0"/>
                        <a:t>E24(5%), E12(10%)</a:t>
                      </a:r>
                      <a:endParaRPr lang="zh-CN" altLang="en-US" dirty="0"/>
                    </a:p>
                  </a:txBody>
                  <a:tcPr/>
                </a:tc>
                <a:tc>
                  <a:txBody>
                    <a:bodyPr/>
                    <a:lstStyle/>
                    <a:p>
                      <a:pPr algn="ctr"/>
                      <a:r>
                        <a:rPr lang="en-US" altLang="zh-CN" dirty="0" smtClean="0"/>
                        <a:t>1.2</a:t>
                      </a:r>
                      <a:endParaRPr lang="zh-CN" altLang="en-US" dirty="0"/>
                    </a:p>
                  </a:txBody>
                  <a:tcPr/>
                </a:tc>
                <a:tc>
                  <a:txBody>
                    <a:bodyPr/>
                    <a:lstStyle/>
                    <a:p>
                      <a:pPr algn="ctr"/>
                      <a:r>
                        <a:rPr lang="en-US" altLang="zh-CN" dirty="0" smtClean="0"/>
                        <a:t>1.8</a:t>
                      </a:r>
                      <a:endParaRPr lang="zh-CN" altLang="en-US" dirty="0"/>
                    </a:p>
                  </a:txBody>
                  <a:tcPr/>
                </a:tc>
                <a:tc>
                  <a:txBody>
                    <a:bodyPr/>
                    <a:lstStyle/>
                    <a:p>
                      <a:pPr algn="ctr"/>
                      <a:r>
                        <a:rPr lang="en-US" altLang="zh-CN" dirty="0" smtClean="0"/>
                        <a:t>2.7</a:t>
                      </a:r>
                      <a:endParaRPr lang="zh-CN" altLang="en-US" dirty="0"/>
                    </a:p>
                  </a:txBody>
                  <a:tcPr/>
                </a:tc>
                <a:tc>
                  <a:txBody>
                    <a:bodyPr/>
                    <a:lstStyle/>
                    <a:p>
                      <a:pPr algn="ctr"/>
                      <a:r>
                        <a:rPr lang="en-US" altLang="zh-CN" dirty="0" smtClean="0"/>
                        <a:t>3.9</a:t>
                      </a:r>
                      <a:endParaRPr lang="zh-CN" altLang="en-US" dirty="0"/>
                    </a:p>
                  </a:txBody>
                  <a:tcPr/>
                </a:tc>
                <a:tc>
                  <a:txBody>
                    <a:bodyPr/>
                    <a:lstStyle/>
                    <a:p>
                      <a:pPr algn="ctr"/>
                      <a:r>
                        <a:rPr lang="en-US" altLang="zh-CN" dirty="0" smtClean="0"/>
                        <a:t>5.6</a:t>
                      </a:r>
                      <a:endParaRPr lang="zh-CN" altLang="en-US" dirty="0"/>
                    </a:p>
                  </a:txBody>
                  <a:tcPr/>
                </a:tc>
                <a:tc>
                  <a:txBody>
                    <a:bodyPr/>
                    <a:lstStyle/>
                    <a:p>
                      <a:pPr algn="ctr"/>
                      <a:r>
                        <a:rPr lang="en-US" altLang="zh-CN" dirty="0" smtClean="0"/>
                        <a:t>8.2</a:t>
                      </a:r>
                      <a:endParaRPr lang="zh-CN" altLang="en-US" dirty="0"/>
                    </a:p>
                  </a:txBody>
                  <a:tcPr/>
                </a:tc>
                <a:extLst>
                  <a:ext uri="{0D108BD9-81ED-4DB2-BD59-A6C34878D82A}">
                    <a16:rowId xmlns:a16="http://schemas.microsoft.com/office/drawing/2014/main" val="300934839"/>
                  </a:ext>
                </a:extLst>
              </a:tr>
              <a:tr h="370840">
                <a:tc>
                  <a:txBody>
                    <a:bodyPr/>
                    <a:lstStyle/>
                    <a:p>
                      <a:r>
                        <a:rPr lang="en-US" altLang="zh-CN" dirty="0" smtClean="0"/>
                        <a:t>E24(5%)</a:t>
                      </a:r>
                      <a:endParaRPr lang="zh-CN" altLang="en-US" dirty="0"/>
                    </a:p>
                  </a:txBody>
                  <a:tcPr/>
                </a:tc>
                <a:tc>
                  <a:txBody>
                    <a:bodyPr/>
                    <a:lstStyle/>
                    <a:p>
                      <a:pPr algn="ctr"/>
                      <a:r>
                        <a:rPr lang="en-US" altLang="zh-CN" dirty="0" smtClean="0"/>
                        <a:t>1.3</a:t>
                      </a:r>
                      <a:endParaRPr lang="zh-CN" altLang="en-US" dirty="0"/>
                    </a:p>
                  </a:txBody>
                  <a:tcPr/>
                </a:tc>
                <a:tc>
                  <a:txBody>
                    <a:bodyPr/>
                    <a:lstStyle/>
                    <a:p>
                      <a:pPr algn="ctr"/>
                      <a:r>
                        <a:rPr lang="en-US" altLang="zh-CN" dirty="0" smtClean="0"/>
                        <a:t>2.0</a:t>
                      </a:r>
                      <a:endParaRPr lang="zh-CN" altLang="en-US" dirty="0"/>
                    </a:p>
                  </a:txBody>
                  <a:tcPr/>
                </a:tc>
                <a:tc>
                  <a:txBody>
                    <a:bodyPr/>
                    <a:lstStyle/>
                    <a:p>
                      <a:pPr algn="ctr"/>
                      <a:r>
                        <a:rPr lang="en-US" altLang="zh-CN" dirty="0" smtClean="0"/>
                        <a:t>3.0</a:t>
                      </a:r>
                      <a:endParaRPr lang="zh-CN" altLang="en-US" dirty="0"/>
                    </a:p>
                  </a:txBody>
                  <a:tcPr/>
                </a:tc>
                <a:tc>
                  <a:txBody>
                    <a:bodyPr/>
                    <a:lstStyle/>
                    <a:p>
                      <a:pPr algn="ctr"/>
                      <a:r>
                        <a:rPr lang="en-US" altLang="zh-CN" dirty="0" smtClean="0"/>
                        <a:t>4.3</a:t>
                      </a:r>
                      <a:endParaRPr lang="zh-CN" altLang="en-US" dirty="0"/>
                    </a:p>
                  </a:txBody>
                  <a:tcPr/>
                </a:tc>
                <a:tc>
                  <a:txBody>
                    <a:bodyPr/>
                    <a:lstStyle/>
                    <a:p>
                      <a:pPr algn="ctr"/>
                      <a:r>
                        <a:rPr lang="en-US" altLang="zh-CN" dirty="0" smtClean="0"/>
                        <a:t>6.2</a:t>
                      </a:r>
                      <a:endParaRPr lang="zh-CN" altLang="en-US" dirty="0"/>
                    </a:p>
                  </a:txBody>
                  <a:tcPr/>
                </a:tc>
                <a:tc>
                  <a:txBody>
                    <a:bodyPr/>
                    <a:lstStyle/>
                    <a:p>
                      <a:pPr algn="ctr"/>
                      <a:r>
                        <a:rPr lang="en-US" altLang="zh-CN" dirty="0" smtClean="0"/>
                        <a:t>9.1</a:t>
                      </a:r>
                      <a:endParaRPr lang="zh-CN" altLang="en-US" dirty="0"/>
                    </a:p>
                  </a:txBody>
                  <a:tcPr/>
                </a:tc>
                <a:extLst>
                  <a:ext uri="{0D108BD9-81ED-4DB2-BD59-A6C34878D82A}">
                    <a16:rowId xmlns:a16="http://schemas.microsoft.com/office/drawing/2014/main" val="892794822"/>
                  </a:ext>
                </a:extLst>
              </a:tr>
            </a:tbl>
          </a:graphicData>
        </a:graphic>
      </p:graphicFrame>
      <p:sp>
        <p:nvSpPr>
          <p:cNvPr id="4" name="文本框 3"/>
          <p:cNvSpPr txBox="1"/>
          <p:nvPr/>
        </p:nvSpPr>
        <p:spPr>
          <a:xfrm>
            <a:off x="468313" y="3395826"/>
            <a:ext cx="7762284" cy="400110"/>
          </a:xfrm>
          <a:prstGeom prst="rect">
            <a:avLst/>
          </a:prstGeom>
          <a:noFill/>
        </p:spPr>
        <p:txBody>
          <a:bodyPr wrap="square" rtlCol="0">
            <a:spAutoFit/>
          </a:bodyPr>
          <a:lstStyle/>
          <a:p>
            <a:r>
              <a:rPr lang="zh-CN" altLang="en-US" dirty="0" smtClean="0"/>
              <a:t>电容、电感的标称值系列与电阻相同，但通常只有</a:t>
            </a:r>
            <a:r>
              <a:rPr lang="en-US" altLang="zh-CN" dirty="0" smtClean="0"/>
              <a:t>E12</a:t>
            </a:r>
            <a:r>
              <a:rPr lang="zh-CN" altLang="en-US" dirty="0" smtClean="0"/>
              <a:t>与</a:t>
            </a:r>
            <a:r>
              <a:rPr lang="en-US" altLang="zh-CN" dirty="0" smtClean="0"/>
              <a:t>E6</a:t>
            </a:r>
            <a:r>
              <a:rPr lang="zh-CN" altLang="en-US" dirty="0" smtClean="0"/>
              <a:t>系列</a:t>
            </a:r>
            <a:endParaRPr lang="zh-CN" altLang="en-US" dirty="0"/>
          </a:p>
        </p:txBody>
      </p:sp>
    </p:spTree>
    <p:extLst>
      <p:ext uri="{BB962C8B-B14F-4D97-AF65-F5344CB8AC3E}">
        <p14:creationId xmlns:p14="http://schemas.microsoft.com/office/powerpoint/2010/main" val="22136565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17</a:t>
            </a:fld>
            <a:endParaRPr lang="en-US" altLang="zh-CN"/>
          </a:p>
        </p:txBody>
      </p:sp>
      <p:sp>
        <p:nvSpPr>
          <p:cNvPr id="2" name="矩形 1"/>
          <p:cNvSpPr/>
          <p:nvPr/>
        </p:nvSpPr>
        <p:spPr>
          <a:xfrm>
            <a:off x="468313" y="667137"/>
            <a:ext cx="4572000" cy="400110"/>
          </a:xfrm>
          <a:prstGeom prst="rect">
            <a:avLst/>
          </a:prstGeom>
        </p:spPr>
        <p:txBody>
          <a:bodyPr>
            <a:spAutoFit/>
          </a:bodyPr>
          <a:lstStyle/>
          <a:p>
            <a:r>
              <a:rPr lang="zh-CN" altLang="zh-CN" kern="100" dirty="0">
                <a:latin typeface="黑体" panose="02010609060101010101" pitchFamily="49" charset="-122"/>
                <a:ea typeface="黑体" panose="02010609060101010101" pitchFamily="49" charset="-122"/>
                <a:cs typeface="Times New Roman" panose="02020603050405020304" pitchFamily="18" charset="0"/>
              </a:rPr>
              <a:t>电阻的标称值系列与</a:t>
            </a:r>
            <a:r>
              <a:rPr lang="zh-CN" altLang="zh-CN" kern="100" dirty="0" smtClean="0">
                <a:latin typeface="黑体" panose="02010609060101010101" pitchFamily="49" charset="-122"/>
                <a:ea typeface="黑体" panose="02010609060101010101" pitchFamily="49" charset="-122"/>
                <a:cs typeface="Times New Roman" panose="02020603050405020304" pitchFamily="18" charset="0"/>
              </a:rPr>
              <a:t>误差</a:t>
            </a:r>
            <a:r>
              <a:rPr lang="en-US" altLang="zh-CN" kern="100" dirty="0" smtClean="0">
                <a:latin typeface="黑体" panose="02010609060101010101" pitchFamily="49" charset="-122"/>
                <a:ea typeface="黑体" panose="02010609060101010101" pitchFamily="49" charset="-122"/>
                <a:cs typeface="Times New Roman" panose="02020603050405020304" pitchFamily="18" charset="0"/>
              </a:rPr>
              <a:t>(</a:t>
            </a:r>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二）</a:t>
            </a:r>
            <a:endParaRPr lang="zh-CN" altLang="en-US" dirty="0">
              <a:latin typeface="黑体" panose="02010609060101010101" pitchFamily="49" charset="-122"/>
              <a:ea typeface="黑体" panose="02010609060101010101" pitchFamily="49" charset="-122"/>
            </a:endParaRPr>
          </a:p>
        </p:txBody>
      </p:sp>
      <p:graphicFrame>
        <p:nvGraphicFramePr>
          <p:cNvPr id="8" name="表格 7"/>
          <p:cNvGraphicFramePr>
            <a:graphicFrameLocks noGrp="1"/>
          </p:cNvGraphicFramePr>
          <p:nvPr/>
        </p:nvGraphicFramePr>
        <p:xfrm>
          <a:off x="468313" y="1711921"/>
          <a:ext cx="8263168" cy="3657600"/>
        </p:xfrm>
        <a:graphic>
          <a:graphicData uri="http://schemas.openxmlformats.org/drawingml/2006/table">
            <a:tbl>
              <a:tblPr bandRow="1">
                <a:tableStyleId>{5C22544A-7EE6-4342-B048-85BDC9FD1C3A}</a:tableStyleId>
              </a:tblPr>
              <a:tblGrid>
                <a:gridCol w="516448">
                  <a:extLst>
                    <a:ext uri="{9D8B030D-6E8A-4147-A177-3AD203B41FA5}">
                      <a16:colId xmlns:a16="http://schemas.microsoft.com/office/drawing/2014/main" val="4268404077"/>
                    </a:ext>
                  </a:extLst>
                </a:gridCol>
                <a:gridCol w="516448">
                  <a:extLst>
                    <a:ext uri="{9D8B030D-6E8A-4147-A177-3AD203B41FA5}">
                      <a16:colId xmlns:a16="http://schemas.microsoft.com/office/drawing/2014/main" val="2935321735"/>
                    </a:ext>
                  </a:extLst>
                </a:gridCol>
                <a:gridCol w="516448">
                  <a:extLst>
                    <a:ext uri="{9D8B030D-6E8A-4147-A177-3AD203B41FA5}">
                      <a16:colId xmlns:a16="http://schemas.microsoft.com/office/drawing/2014/main" val="4261982915"/>
                    </a:ext>
                  </a:extLst>
                </a:gridCol>
                <a:gridCol w="516448">
                  <a:extLst>
                    <a:ext uri="{9D8B030D-6E8A-4147-A177-3AD203B41FA5}">
                      <a16:colId xmlns:a16="http://schemas.microsoft.com/office/drawing/2014/main" val="2034954157"/>
                    </a:ext>
                  </a:extLst>
                </a:gridCol>
                <a:gridCol w="516448">
                  <a:extLst>
                    <a:ext uri="{9D8B030D-6E8A-4147-A177-3AD203B41FA5}">
                      <a16:colId xmlns:a16="http://schemas.microsoft.com/office/drawing/2014/main" val="3292887957"/>
                    </a:ext>
                  </a:extLst>
                </a:gridCol>
                <a:gridCol w="516448">
                  <a:extLst>
                    <a:ext uri="{9D8B030D-6E8A-4147-A177-3AD203B41FA5}">
                      <a16:colId xmlns:a16="http://schemas.microsoft.com/office/drawing/2014/main" val="3628198017"/>
                    </a:ext>
                  </a:extLst>
                </a:gridCol>
                <a:gridCol w="516448">
                  <a:extLst>
                    <a:ext uri="{9D8B030D-6E8A-4147-A177-3AD203B41FA5}">
                      <a16:colId xmlns:a16="http://schemas.microsoft.com/office/drawing/2014/main" val="401756313"/>
                    </a:ext>
                  </a:extLst>
                </a:gridCol>
                <a:gridCol w="516448">
                  <a:extLst>
                    <a:ext uri="{9D8B030D-6E8A-4147-A177-3AD203B41FA5}">
                      <a16:colId xmlns:a16="http://schemas.microsoft.com/office/drawing/2014/main" val="2916195009"/>
                    </a:ext>
                  </a:extLst>
                </a:gridCol>
                <a:gridCol w="516448">
                  <a:extLst>
                    <a:ext uri="{9D8B030D-6E8A-4147-A177-3AD203B41FA5}">
                      <a16:colId xmlns:a16="http://schemas.microsoft.com/office/drawing/2014/main" val="3518084281"/>
                    </a:ext>
                  </a:extLst>
                </a:gridCol>
                <a:gridCol w="516448">
                  <a:extLst>
                    <a:ext uri="{9D8B030D-6E8A-4147-A177-3AD203B41FA5}">
                      <a16:colId xmlns:a16="http://schemas.microsoft.com/office/drawing/2014/main" val="549312503"/>
                    </a:ext>
                  </a:extLst>
                </a:gridCol>
                <a:gridCol w="516448">
                  <a:extLst>
                    <a:ext uri="{9D8B030D-6E8A-4147-A177-3AD203B41FA5}">
                      <a16:colId xmlns:a16="http://schemas.microsoft.com/office/drawing/2014/main" val="1776338093"/>
                    </a:ext>
                  </a:extLst>
                </a:gridCol>
                <a:gridCol w="516448">
                  <a:extLst>
                    <a:ext uri="{9D8B030D-6E8A-4147-A177-3AD203B41FA5}">
                      <a16:colId xmlns:a16="http://schemas.microsoft.com/office/drawing/2014/main" val="814237955"/>
                    </a:ext>
                  </a:extLst>
                </a:gridCol>
                <a:gridCol w="516448">
                  <a:extLst>
                    <a:ext uri="{9D8B030D-6E8A-4147-A177-3AD203B41FA5}">
                      <a16:colId xmlns:a16="http://schemas.microsoft.com/office/drawing/2014/main" val="4079133067"/>
                    </a:ext>
                  </a:extLst>
                </a:gridCol>
                <a:gridCol w="516448">
                  <a:extLst>
                    <a:ext uri="{9D8B030D-6E8A-4147-A177-3AD203B41FA5}">
                      <a16:colId xmlns:a16="http://schemas.microsoft.com/office/drawing/2014/main" val="236925193"/>
                    </a:ext>
                  </a:extLst>
                </a:gridCol>
                <a:gridCol w="516448">
                  <a:extLst>
                    <a:ext uri="{9D8B030D-6E8A-4147-A177-3AD203B41FA5}">
                      <a16:colId xmlns:a16="http://schemas.microsoft.com/office/drawing/2014/main" val="1282764507"/>
                    </a:ext>
                  </a:extLst>
                </a:gridCol>
                <a:gridCol w="516448">
                  <a:extLst>
                    <a:ext uri="{9D8B030D-6E8A-4147-A177-3AD203B41FA5}">
                      <a16:colId xmlns:a16="http://schemas.microsoft.com/office/drawing/2014/main" val="2871071617"/>
                    </a:ext>
                  </a:extLst>
                </a:gridCol>
              </a:tblGrid>
              <a:tr h="303081">
                <a:tc>
                  <a:txBody>
                    <a:bodyPr/>
                    <a:lstStyle/>
                    <a:p>
                      <a:r>
                        <a:rPr lang="en-US" altLang="zh-CN" sz="1400" dirty="0" smtClean="0"/>
                        <a:t>1.00</a:t>
                      </a:r>
                      <a:endParaRPr lang="zh-CN" altLang="en-US" sz="1400" dirty="0"/>
                    </a:p>
                  </a:txBody>
                  <a:tcPr/>
                </a:tc>
                <a:tc>
                  <a:txBody>
                    <a:bodyPr/>
                    <a:lstStyle/>
                    <a:p>
                      <a:r>
                        <a:rPr lang="en-US" altLang="zh-CN" sz="1400" dirty="0" smtClean="0"/>
                        <a:t>1.15</a:t>
                      </a:r>
                      <a:endParaRPr lang="zh-CN" altLang="en-US" sz="1400" dirty="0"/>
                    </a:p>
                  </a:txBody>
                  <a:tcPr/>
                </a:tc>
                <a:tc>
                  <a:txBody>
                    <a:bodyPr/>
                    <a:lstStyle/>
                    <a:p>
                      <a:r>
                        <a:rPr lang="en-US" altLang="zh-CN" sz="1400" dirty="0" smtClean="0"/>
                        <a:t>1.33</a:t>
                      </a:r>
                      <a:endParaRPr lang="zh-CN" altLang="en-US" sz="1400" dirty="0"/>
                    </a:p>
                  </a:txBody>
                  <a:tcPr/>
                </a:tc>
                <a:tc>
                  <a:txBody>
                    <a:bodyPr/>
                    <a:lstStyle/>
                    <a:p>
                      <a:r>
                        <a:rPr lang="en-US" altLang="zh-CN" sz="1400" dirty="0" smtClean="0"/>
                        <a:t>1.54</a:t>
                      </a:r>
                      <a:endParaRPr lang="zh-CN" altLang="en-US" sz="1400" dirty="0"/>
                    </a:p>
                  </a:txBody>
                  <a:tcPr/>
                </a:tc>
                <a:tc>
                  <a:txBody>
                    <a:bodyPr/>
                    <a:lstStyle/>
                    <a:p>
                      <a:r>
                        <a:rPr lang="en-US" altLang="zh-CN" sz="1400" dirty="0" smtClean="0"/>
                        <a:t>1.78</a:t>
                      </a:r>
                      <a:endParaRPr lang="zh-CN" altLang="en-US" sz="1400" dirty="0"/>
                    </a:p>
                  </a:txBody>
                  <a:tcPr/>
                </a:tc>
                <a:tc>
                  <a:txBody>
                    <a:bodyPr/>
                    <a:lstStyle/>
                    <a:p>
                      <a:r>
                        <a:rPr lang="en-US" altLang="zh-CN" sz="1400" dirty="0" smtClean="0"/>
                        <a:t>2.05</a:t>
                      </a:r>
                      <a:endParaRPr lang="zh-CN" altLang="en-US" sz="1400" dirty="0"/>
                    </a:p>
                  </a:txBody>
                  <a:tcPr/>
                </a:tc>
                <a:tc>
                  <a:txBody>
                    <a:bodyPr/>
                    <a:lstStyle/>
                    <a:p>
                      <a:r>
                        <a:rPr lang="en-US" altLang="zh-CN" sz="1400" dirty="0" smtClean="0"/>
                        <a:t>2.37</a:t>
                      </a:r>
                      <a:endParaRPr lang="zh-CN" altLang="en-US" sz="1400" dirty="0"/>
                    </a:p>
                  </a:txBody>
                  <a:tcPr/>
                </a:tc>
                <a:tc>
                  <a:txBody>
                    <a:bodyPr/>
                    <a:lstStyle/>
                    <a:p>
                      <a:r>
                        <a:rPr lang="en-US" altLang="zh-CN" sz="1400" dirty="0" smtClean="0"/>
                        <a:t>2.74</a:t>
                      </a:r>
                      <a:endParaRPr lang="zh-CN" altLang="en-US" sz="1400" dirty="0"/>
                    </a:p>
                  </a:txBody>
                  <a:tcPr/>
                </a:tc>
                <a:tc>
                  <a:txBody>
                    <a:bodyPr/>
                    <a:lstStyle/>
                    <a:p>
                      <a:r>
                        <a:rPr lang="en-US" altLang="zh-CN" sz="1400" dirty="0" smtClean="0"/>
                        <a:t>3.16</a:t>
                      </a:r>
                      <a:endParaRPr lang="zh-CN" altLang="en-US" sz="1400" dirty="0"/>
                    </a:p>
                  </a:txBody>
                  <a:tcPr/>
                </a:tc>
                <a:tc>
                  <a:txBody>
                    <a:bodyPr/>
                    <a:lstStyle/>
                    <a:p>
                      <a:r>
                        <a:rPr lang="en-US" altLang="zh-CN" sz="1400" dirty="0" smtClean="0"/>
                        <a:t>3.65</a:t>
                      </a:r>
                      <a:endParaRPr lang="zh-CN" altLang="en-US" sz="1400" dirty="0"/>
                    </a:p>
                  </a:txBody>
                  <a:tcPr/>
                </a:tc>
                <a:tc>
                  <a:txBody>
                    <a:bodyPr/>
                    <a:lstStyle/>
                    <a:p>
                      <a:r>
                        <a:rPr lang="en-US" altLang="zh-CN" sz="1400" dirty="0" smtClean="0"/>
                        <a:t>4.22</a:t>
                      </a:r>
                      <a:endParaRPr lang="zh-CN" altLang="en-US" sz="1400" dirty="0"/>
                    </a:p>
                  </a:txBody>
                  <a:tcPr/>
                </a:tc>
                <a:tc>
                  <a:txBody>
                    <a:bodyPr/>
                    <a:lstStyle/>
                    <a:p>
                      <a:r>
                        <a:rPr lang="en-US" altLang="zh-CN" sz="1400" dirty="0" smtClean="0"/>
                        <a:t>4.87</a:t>
                      </a:r>
                      <a:endParaRPr lang="zh-CN" altLang="en-US" sz="1400" dirty="0"/>
                    </a:p>
                  </a:txBody>
                  <a:tcPr/>
                </a:tc>
                <a:tc>
                  <a:txBody>
                    <a:bodyPr/>
                    <a:lstStyle/>
                    <a:p>
                      <a:r>
                        <a:rPr lang="en-US" altLang="zh-CN" sz="1400" dirty="0" smtClean="0"/>
                        <a:t>5.62</a:t>
                      </a:r>
                      <a:endParaRPr lang="zh-CN" altLang="en-US" sz="1400" dirty="0"/>
                    </a:p>
                  </a:txBody>
                  <a:tcPr/>
                </a:tc>
                <a:tc>
                  <a:txBody>
                    <a:bodyPr/>
                    <a:lstStyle/>
                    <a:p>
                      <a:r>
                        <a:rPr lang="en-US" altLang="zh-CN" sz="1400" dirty="0" smtClean="0"/>
                        <a:t>6.49</a:t>
                      </a:r>
                      <a:endParaRPr lang="zh-CN" altLang="en-US" sz="1400" dirty="0"/>
                    </a:p>
                  </a:txBody>
                  <a:tcPr/>
                </a:tc>
                <a:tc>
                  <a:txBody>
                    <a:bodyPr/>
                    <a:lstStyle/>
                    <a:p>
                      <a:r>
                        <a:rPr lang="en-US" altLang="zh-CN" sz="1400" dirty="0" smtClean="0"/>
                        <a:t>7.50</a:t>
                      </a:r>
                      <a:endParaRPr lang="zh-CN" altLang="en-US" sz="1400" dirty="0"/>
                    </a:p>
                  </a:txBody>
                  <a:tcPr/>
                </a:tc>
                <a:tc>
                  <a:txBody>
                    <a:bodyPr/>
                    <a:lstStyle/>
                    <a:p>
                      <a:r>
                        <a:rPr lang="en-US" altLang="zh-CN" sz="1400" dirty="0" smtClean="0"/>
                        <a:t>8.66</a:t>
                      </a:r>
                      <a:endParaRPr lang="zh-CN" altLang="en-US" sz="1400" dirty="0"/>
                    </a:p>
                  </a:txBody>
                  <a:tcPr/>
                </a:tc>
                <a:extLst>
                  <a:ext uri="{0D108BD9-81ED-4DB2-BD59-A6C34878D82A}">
                    <a16:rowId xmlns:a16="http://schemas.microsoft.com/office/drawing/2014/main" val="4201530643"/>
                  </a:ext>
                </a:extLst>
              </a:tr>
              <a:tr h="303081">
                <a:tc>
                  <a:txBody>
                    <a:bodyPr/>
                    <a:lstStyle/>
                    <a:p>
                      <a:r>
                        <a:rPr lang="en-US" altLang="zh-CN" sz="1400" dirty="0" smtClean="0"/>
                        <a:t>1.01</a:t>
                      </a:r>
                      <a:endParaRPr lang="zh-CN" altLang="en-US" sz="1400" dirty="0"/>
                    </a:p>
                  </a:txBody>
                  <a:tcPr/>
                </a:tc>
                <a:tc>
                  <a:txBody>
                    <a:bodyPr/>
                    <a:lstStyle/>
                    <a:p>
                      <a:r>
                        <a:rPr lang="en-US" altLang="zh-CN" sz="1400" dirty="0" smtClean="0"/>
                        <a:t>1.17</a:t>
                      </a:r>
                      <a:endParaRPr lang="zh-CN" altLang="en-US" sz="1400" dirty="0"/>
                    </a:p>
                  </a:txBody>
                  <a:tcPr/>
                </a:tc>
                <a:tc>
                  <a:txBody>
                    <a:bodyPr/>
                    <a:lstStyle/>
                    <a:p>
                      <a:r>
                        <a:rPr lang="en-US" altLang="zh-CN" sz="1400" dirty="0" smtClean="0"/>
                        <a:t>1.35</a:t>
                      </a:r>
                      <a:endParaRPr lang="zh-CN" altLang="en-US" sz="1400" dirty="0"/>
                    </a:p>
                  </a:txBody>
                  <a:tcPr/>
                </a:tc>
                <a:tc>
                  <a:txBody>
                    <a:bodyPr/>
                    <a:lstStyle/>
                    <a:p>
                      <a:r>
                        <a:rPr lang="en-US" altLang="zh-CN" sz="1400" dirty="0" smtClean="0"/>
                        <a:t>1.56</a:t>
                      </a:r>
                      <a:endParaRPr lang="zh-CN" altLang="en-US" sz="1400" dirty="0"/>
                    </a:p>
                  </a:txBody>
                  <a:tcPr/>
                </a:tc>
                <a:tc>
                  <a:txBody>
                    <a:bodyPr/>
                    <a:lstStyle/>
                    <a:p>
                      <a:r>
                        <a:rPr lang="en-US" altLang="zh-CN" sz="1400" dirty="0" smtClean="0"/>
                        <a:t>1.80</a:t>
                      </a:r>
                      <a:endParaRPr lang="zh-CN" altLang="en-US" sz="1400" dirty="0"/>
                    </a:p>
                  </a:txBody>
                  <a:tcPr/>
                </a:tc>
                <a:tc>
                  <a:txBody>
                    <a:bodyPr/>
                    <a:lstStyle/>
                    <a:p>
                      <a:r>
                        <a:rPr lang="en-US" altLang="zh-CN" sz="1400" dirty="0" smtClean="0"/>
                        <a:t>2.08</a:t>
                      </a:r>
                      <a:endParaRPr lang="zh-CN" altLang="en-US" sz="1400" dirty="0"/>
                    </a:p>
                  </a:txBody>
                  <a:tcPr/>
                </a:tc>
                <a:tc>
                  <a:txBody>
                    <a:bodyPr/>
                    <a:lstStyle/>
                    <a:p>
                      <a:r>
                        <a:rPr lang="en-US" altLang="zh-CN" sz="1400" dirty="0" smtClean="0"/>
                        <a:t>2.40</a:t>
                      </a:r>
                      <a:endParaRPr lang="zh-CN" altLang="en-US" sz="1400" dirty="0"/>
                    </a:p>
                  </a:txBody>
                  <a:tcPr/>
                </a:tc>
                <a:tc>
                  <a:txBody>
                    <a:bodyPr/>
                    <a:lstStyle/>
                    <a:p>
                      <a:r>
                        <a:rPr lang="en-US" altLang="zh-CN" sz="1400" dirty="0" smtClean="0"/>
                        <a:t>2.77</a:t>
                      </a:r>
                      <a:endParaRPr lang="zh-CN" altLang="en-US" sz="1400" dirty="0"/>
                    </a:p>
                  </a:txBody>
                  <a:tcPr/>
                </a:tc>
                <a:tc>
                  <a:txBody>
                    <a:bodyPr/>
                    <a:lstStyle/>
                    <a:p>
                      <a:r>
                        <a:rPr lang="en-US" altLang="zh-CN" sz="1400" dirty="0" smtClean="0"/>
                        <a:t>3.20</a:t>
                      </a:r>
                      <a:endParaRPr lang="zh-CN" altLang="en-US" sz="1400" dirty="0"/>
                    </a:p>
                  </a:txBody>
                  <a:tcPr/>
                </a:tc>
                <a:tc>
                  <a:txBody>
                    <a:bodyPr/>
                    <a:lstStyle/>
                    <a:p>
                      <a:r>
                        <a:rPr lang="en-US" altLang="zh-CN" sz="1400" dirty="0" smtClean="0"/>
                        <a:t>3.70</a:t>
                      </a:r>
                      <a:endParaRPr lang="zh-CN" altLang="en-US" sz="1400" dirty="0"/>
                    </a:p>
                  </a:txBody>
                  <a:tcPr/>
                </a:tc>
                <a:tc>
                  <a:txBody>
                    <a:bodyPr/>
                    <a:lstStyle/>
                    <a:p>
                      <a:r>
                        <a:rPr lang="en-US" altLang="zh-CN" sz="1400" dirty="0" smtClean="0"/>
                        <a:t>4.27</a:t>
                      </a:r>
                      <a:endParaRPr lang="zh-CN" altLang="en-US" sz="1400" dirty="0"/>
                    </a:p>
                  </a:txBody>
                  <a:tcPr/>
                </a:tc>
                <a:tc>
                  <a:txBody>
                    <a:bodyPr/>
                    <a:lstStyle/>
                    <a:p>
                      <a:r>
                        <a:rPr lang="en-US" altLang="zh-CN" sz="1400" dirty="0" smtClean="0"/>
                        <a:t>4.93</a:t>
                      </a:r>
                      <a:endParaRPr lang="zh-CN" altLang="en-US" sz="1400" dirty="0"/>
                    </a:p>
                  </a:txBody>
                  <a:tcPr/>
                </a:tc>
                <a:tc>
                  <a:txBody>
                    <a:bodyPr/>
                    <a:lstStyle/>
                    <a:p>
                      <a:r>
                        <a:rPr lang="en-US" altLang="zh-CN" sz="1400" dirty="0" smtClean="0"/>
                        <a:t>5.69</a:t>
                      </a:r>
                      <a:endParaRPr lang="zh-CN" altLang="en-US" sz="1400" dirty="0"/>
                    </a:p>
                  </a:txBody>
                  <a:tcPr/>
                </a:tc>
                <a:tc>
                  <a:txBody>
                    <a:bodyPr/>
                    <a:lstStyle/>
                    <a:p>
                      <a:r>
                        <a:rPr lang="en-US" altLang="zh-CN" sz="1400" dirty="0" smtClean="0"/>
                        <a:t>6.57</a:t>
                      </a:r>
                      <a:endParaRPr lang="zh-CN" altLang="en-US" sz="1400" dirty="0"/>
                    </a:p>
                  </a:txBody>
                  <a:tcPr/>
                </a:tc>
                <a:tc>
                  <a:txBody>
                    <a:bodyPr/>
                    <a:lstStyle/>
                    <a:p>
                      <a:r>
                        <a:rPr lang="en-US" altLang="zh-CN" sz="1400" dirty="0" smtClean="0"/>
                        <a:t>7.59</a:t>
                      </a:r>
                      <a:endParaRPr lang="zh-CN" altLang="en-US" sz="1400" dirty="0"/>
                    </a:p>
                  </a:txBody>
                  <a:tcPr/>
                </a:tc>
                <a:tc>
                  <a:txBody>
                    <a:bodyPr/>
                    <a:lstStyle/>
                    <a:p>
                      <a:r>
                        <a:rPr lang="en-US" altLang="zh-CN" sz="1400" dirty="0" smtClean="0"/>
                        <a:t>8.76</a:t>
                      </a:r>
                      <a:endParaRPr lang="zh-CN" altLang="en-US" sz="1400" dirty="0"/>
                    </a:p>
                  </a:txBody>
                  <a:tcPr/>
                </a:tc>
                <a:extLst>
                  <a:ext uri="{0D108BD9-81ED-4DB2-BD59-A6C34878D82A}">
                    <a16:rowId xmlns:a16="http://schemas.microsoft.com/office/drawing/2014/main" val="1647652234"/>
                  </a:ext>
                </a:extLst>
              </a:tr>
              <a:tr h="303081">
                <a:tc>
                  <a:txBody>
                    <a:bodyPr/>
                    <a:lstStyle/>
                    <a:p>
                      <a:r>
                        <a:rPr lang="en-US" altLang="zh-CN" sz="1400" dirty="0" smtClean="0"/>
                        <a:t>1.02</a:t>
                      </a:r>
                      <a:endParaRPr lang="zh-CN" altLang="en-US" sz="1400" dirty="0"/>
                    </a:p>
                  </a:txBody>
                  <a:tcPr/>
                </a:tc>
                <a:tc>
                  <a:txBody>
                    <a:bodyPr/>
                    <a:lstStyle/>
                    <a:p>
                      <a:r>
                        <a:rPr lang="en-US" altLang="zh-CN" sz="1400" dirty="0" smtClean="0"/>
                        <a:t>1.18</a:t>
                      </a:r>
                      <a:endParaRPr lang="zh-CN" altLang="en-US" sz="1400" dirty="0"/>
                    </a:p>
                  </a:txBody>
                  <a:tcPr/>
                </a:tc>
                <a:tc>
                  <a:txBody>
                    <a:bodyPr/>
                    <a:lstStyle/>
                    <a:p>
                      <a:r>
                        <a:rPr lang="en-US" altLang="zh-CN" sz="1400" dirty="0" smtClean="0"/>
                        <a:t>1.37</a:t>
                      </a:r>
                      <a:endParaRPr lang="zh-CN" altLang="en-US" sz="1400" dirty="0"/>
                    </a:p>
                  </a:txBody>
                  <a:tcPr/>
                </a:tc>
                <a:tc>
                  <a:txBody>
                    <a:bodyPr/>
                    <a:lstStyle/>
                    <a:p>
                      <a:r>
                        <a:rPr lang="en-US" altLang="zh-CN" sz="1400" dirty="0" smtClean="0"/>
                        <a:t>1.58</a:t>
                      </a:r>
                      <a:endParaRPr lang="zh-CN" altLang="en-US" sz="1400" dirty="0"/>
                    </a:p>
                  </a:txBody>
                  <a:tcPr/>
                </a:tc>
                <a:tc>
                  <a:txBody>
                    <a:bodyPr/>
                    <a:lstStyle/>
                    <a:p>
                      <a:r>
                        <a:rPr lang="en-US" altLang="zh-CN" sz="1400" dirty="0" smtClean="0"/>
                        <a:t>1.82</a:t>
                      </a:r>
                      <a:endParaRPr lang="zh-CN" altLang="en-US" sz="1400" dirty="0"/>
                    </a:p>
                  </a:txBody>
                  <a:tcPr/>
                </a:tc>
                <a:tc>
                  <a:txBody>
                    <a:bodyPr/>
                    <a:lstStyle/>
                    <a:p>
                      <a:r>
                        <a:rPr lang="en-US" altLang="zh-CN" sz="1400" dirty="0" smtClean="0"/>
                        <a:t>2.10</a:t>
                      </a:r>
                      <a:endParaRPr lang="zh-CN" altLang="en-US" sz="1400" dirty="0"/>
                    </a:p>
                  </a:txBody>
                  <a:tcPr/>
                </a:tc>
                <a:tc>
                  <a:txBody>
                    <a:bodyPr/>
                    <a:lstStyle/>
                    <a:p>
                      <a:r>
                        <a:rPr lang="en-US" altLang="zh-CN" sz="1400" dirty="0" smtClean="0"/>
                        <a:t>2.43</a:t>
                      </a:r>
                      <a:endParaRPr lang="zh-CN" altLang="en-US" sz="1400" dirty="0"/>
                    </a:p>
                  </a:txBody>
                  <a:tcPr/>
                </a:tc>
                <a:tc>
                  <a:txBody>
                    <a:bodyPr/>
                    <a:lstStyle/>
                    <a:p>
                      <a:r>
                        <a:rPr lang="en-US" altLang="zh-CN" sz="1400" dirty="0" smtClean="0"/>
                        <a:t>2.80</a:t>
                      </a:r>
                      <a:endParaRPr lang="zh-CN" altLang="en-US" sz="1400" dirty="0"/>
                    </a:p>
                  </a:txBody>
                  <a:tcPr/>
                </a:tc>
                <a:tc>
                  <a:txBody>
                    <a:bodyPr/>
                    <a:lstStyle/>
                    <a:p>
                      <a:r>
                        <a:rPr lang="en-US" altLang="zh-CN" sz="1400" dirty="0" smtClean="0"/>
                        <a:t>3.24</a:t>
                      </a:r>
                      <a:endParaRPr lang="zh-CN" altLang="en-US" sz="1400" dirty="0"/>
                    </a:p>
                  </a:txBody>
                  <a:tcPr/>
                </a:tc>
                <a:tc>
                  <a:txBody>
                    <a:bodyPr/>
                    <a:lstStyle/>
                    <a:p>
                      <a:r>
                        <a:rPr lang="en-US" altLang="zh-CN" sz="1400" dirty="0" smtClean="0"/>
                        <a:t>3.74</a:t>
                      </a:r>
                      <a:endParaRPr lang="zh-CN" altLang="en-US" sz="1400" dirty="0"/>
                    </a:p>
                  </a:txBody>
                  <a:tcPr/>
                </a:tc>
                <a:tc>
                  <a:txBody>
                    <a:bodyPr/>
                    <a:lstStyle/>
                    <a:p>
                      <a:r>
                        <a:rPr lang="en-US" altLang="zh-CN" sz="1400" dirty="0" smtClean="0"/>
                        <a:t>4.32</a:t>
                      </a:r>
                      <a:endParaRPr lang="zh-CN" altLang="en-US" sz="1400" dirty="0"/>
                    </a:p>
                  </a:txBody>
                  <a:tcPr/>
                </a:tc>
                <a:tc>
                  <a:txBody>
                    <a:bodyPr/>
                    <a:lstStyle/>
                    <a:p>
                      <a:r>
                        <a:rPr lang="en-US" altLang="zh-CN" sz="1400" dirty="0" smtClean="0"/>
                        <a:t>4.99</a:t>
                      </a:r>
                      <a:endParaRPr lang="zh-CN" altLang="en-US" sz="1400" dirty="0"/>
                    </a:p>
                  </a:txBody>
                  <a:tcPr/>
                </a:tc>
                <a:tc>
                  <a:txBody>
                    <a:bodyPr/>
                    <a:lstStyle/>
                    <a:p>
                      <a:r>
                        <a:rPr lang="en-US" altLang="zh-CN" sz="1400" dirty="0" smtClean="0"/>
                        <a:t>5.76</a:t>
                      </a:r>
                      <a:endParaRPr lang="zh-CN" altLang="en-US" sz="1400" dirty="0"/>
                    </a:p>
                  </a:txBody>
                  <a:tcPr/>
                </a:tc>
                <a:tc>
                  <a:txBody>
                    <a:bodyPr/>
                    <a:lstStyle/>
                    <a:p>
                      <a:r>
                        <a:rPr lang="en-US" altLang="zh-CN" sz="1400" dirty="0" smtClean="0"/>
                        <a:t>6.65</a:t>
                      </a:r>
                      <a:endParaRPr lang="zh-CN" altLang="en-US" sz="1400" dirty="0"/>
                    </a:p>
                  </a:txBody>
                  <a:tcPr/>
                </a:tc>
                <a:tc>
                  <a:txBody>
                    <a:bodyPr/>
                    <a:lstStyle/>
                    <a:p>
                      <a:r>
                        <a:rPr lang="en-US" altLang="zh-CN" sz="1400" dirty="0" smtClean="0"/>
                        <a:t>7.68</a:t>
                      </a:r>
                      <a:endParaRPr lang="zh-CN" altLang="en-US" sz="1400" dirty="0"/>
                    </a:p>
                  </a:txBody>
                  <a:tcPr/>
                </a:tc>
                <a:tc>
                  <a:txBody>
                    <a:bodyPr/>
                    <a:lstStyle/>
                    <a:p>
                      <a:r>
                        <a:rPr lang="en-US" altLang="zh-CN" sz="1400" dirty="0" smtClean="0"/>
                        <a:t>8.87</a:t>
                      </a:r>
                      <a:endParaRPr lang="zh-CN" altLang="en-US" sz="1400" dirty="0"/>
                    </a:p>
                  </a:txBody>
                  <a:tcPr/>
                </a:tc>
                <a:extLst>
                  <a:ext uri="{0D108BD9-81ED-4DB2-BD59-A6C34878D82A}">
                    <a16:rowId xmlns:a16="http://schemas.microsoft.com/office/drawing/2014/main" val="267079948"/>
                  </a:ext>
                </a:extLst>
              </a:tr>
              <a:tr h="303081">
                <a:tc>
                  <a:txBody>
                    <a:bodyPr/>
                    <a:lstStyle/>
                    <a:p>
                      <a:r>
                        <a:rPr lang="en-US" altLang="zh-CN" sz="1400" dirty="0" smtClean="0"/>
                        <a:t>1.04</a:t>
                      </a:r>
                      <a:endParaRPr lang="zh-CN" altLang="en-US" sz="1400" dirty="0"/>
                    </a:p>
                  </a:txBody>
                  <a:tcPr/>
                </a:tc>
                <a:tc>
                  <a:txBody>
                    <a:bodyPr/>
                    <a:lstStyle/>
                    <a:p>
                      <a:r>
                        <a:rPr lang="en-US" altLang="zh-CN" sz="1400" dirty="0" smtClean="0"/>
                        <a:t>1.20</a:t>
                      </a:r>
                      <a:endParaRPr lang="zh-CN" altLang="en-US" sz="1400" dirty="0"/>
                    </a:p>
                  </a:txBody>
                  <a:tcPr/>
                </a:tc>
                <a:tc>
                  <a:txBody>
                    <a:bodyPr/>
                    <a:lstStyle/>
                    <a:p>
                      <a:r>
                        <a:rPr lang="en-US" altLang="zh-CN" sz="1400" dirty="0" smtClean="0"/>
                        <a:t>1.38</a:t>
                      </a:r>
                      <a:endParaRPr lang="zh-CN" altLang="en-US" sz="1400" dirty="0"/>
                    </a:p>
                  </a:txBody>
                  <a:tcPr/>
                </a:tc>
                <a:tc>
                  <a:txBody>
                    <a:bodyPr/>
                    <a:lstStyle/>
                    <a:p>
                      <a:r>
                        <a:rPr lang="en-US" altLang="zh-CN" sz="1400" dirty="0" smtClean="0"/>
                        <a:t>1.60</a:t>
                      </a:r>
                      <a:endParaRPr lang="zh-CN" altLang="en-US" sz="1400" dirty="0"/>
                    </a:p>
                  </a:txBody>
                  <a:tcPr/>
                </a:tc>
                <a:tc>
                  <a:txBody>
                    <a:bodyPr/>
                    <a:lstStyle/>
                    <a:p>
                      <a:r>
                        <a:rPr lang="en-US" altLang="zh-CN" sz="1400" dirty="0" smtClean="0"/>
                        <a:t>1.84</a:t>
                      </a:r>
                      <a:endParaRPr lang="zh-CN" altLang="en-US" sz="1400" dirty="0"/>
                    </a:p>
                  </a:txBody>
                  <a:tcPr/>
                </a:tc>
                <a:tc>
                  <a:txBody>
                    <a:bodyPr/>
                    <a:lstStyle/>
                    <a:p>
                      <a:r>
                        <a:rPr lang="en-US" altLang="zh-CN" sz="1400" dirty="0" smtClean="0"/>
                        <a:t>2.13</a:t>
                      </a:r>
                      <a:endParaRPr lang="zh-CN" altLang="en-US" sz="1400" dirty="0"/>
                    </a:p>
                  </a:txBody>
                  <a:tcPr/>
                </a:tc>
                <a:tc>
                  <a:txBody>
                    <a:bodyPr/>
                    <a:lstStyle/>
                    <a:p>
                      <a:r>
                        <a:rPr lang="en-US" altLang="zh-CN" sz="1400" dirty="0" smtClean="0"/>
                        <a:t>2.46</a:t>
                      </a:r>
                      <a:endParaRPr lang="zh-CN" altLang="en-US" sz="1400" dirty="0"/>
                    </a:p>
                  </a:txBody>
                  <a:tcPr/>
                </a:tc>
                <a:tc>
                  <a:txBody>
                    <a:bodyPr/>
                    <a:lstStyle/>
                    <a:p>
                      <a:r>
                        <a:rPr lang="en-US" altLang="zh-CN" sz="1400" dirty="0" smtClean="0"/>
                        <a:t>2.84</a:t>
                      </a:r>
                      <a:endParaRPr lang="zh-CN" altLang="en-US" sz="1400" dirty="0"/>
                    </a:p>
                  </a:txBody>
                  <a:tcPr/>
                </a:tc>
                <a:tc>
                  <a:txBody>
                    <a:bodyPr/>
                    <a:lstStyle/>
                    <a:p>
                      <a:r>
                        <a:rPr lang="en-US" altLang="zh-CN" sz="1400" dirty="0" smtClean="0"/>
                        <a:t>3.28</a:t>
                      </a:r>
                      <a:endParaRPr lang="zh-CN" altLang="en-US" sz="1400" dirty="0"/>
                    </a:p>
                  </a:txBody>
                  <a:tcPr/>
                </a:tc>
                <a:tc>
                  <a:txBody>
                    <a:bodyPr/>
                    <a:lstStyle/>
                    <a:p>
                      <a:r>
                        <a:rPr lang="en-US" altLang="zh-CN" sz="1400" dirty="0" smtClean="0"/>
                        <a:t>3.79</a:t>
                      </a:r>
                      <a:endParaRPr lang="zh-CN" altLang="en-US" sz="1400" dirty="0"/>
                    </a:p>
                  </a:txBody>
                  <a:tcPr/>
                </a:tc>
                <a:tc>
                  <a:txBody>
                    <a:bodyPr/>
                    <a:lstStyle/>
                    <a:p>
                      <a:r>
                        <a:rPr lang="en-US" altLang="zh-CN" sz="1400" dirty="0" smtClean="0"/>
                        <a:t>4.37</a:t>
                      </a:r>
                      <a:endParaRPr lang="zh-CN" altLang="en-US" sz="1400" dirty="0"/>
                    </a:p>
                  </a:txBody>
                  <a:tcPr/>
                </a:tc>
                <a:tc>
                  <a:txBody>
                    <a:bodyPr/>
                    <a:lstStyle/>
                    <a:p>
                      <a:r>
                        <a:rPr lang="en-US" altLang="zh-CN" sz="1400" dirty="0" smtClean="0"/>
                        <a:t>5.05</a:t>
                      </a:r>
                      <a:endParaRPr lang="zh-CN" altLang="en-US" sz="1400" dirty="0"/>
                    </a:p>
                  </a:txBody>
                  <a:tcPr/>
                </a:tc>
                <a:tc>
                  <a:txBody>
                    <a:bodyPr/>
                    <a:lstStyle/>
                    <a:p>
                      <a:r>
                        <a:rPr lang="en-US" altLang="zh-CN" sz="1400" dirty="0" smtClean="0"/>
                        <a:t>5.83</a:t>
                      </a:r>
                      <a:endParaRPr lang="zh-CN" altLang="en-US" sz="1400" dirty="0"/>
                    </a:p>
                  </a:txBody>
                  <a:tcPr/>
                </a:tc>
                <a:tc>
                  <a:txBody>
                    <a:bodyPr/>
                    <a:lstStyle/>
                    <a:p>
                      <a:r>
                        <a:rPr lang="en-US" altLang="zh-CN" sz="1400" dirty="0" smtClean="0"/>
                        <a:t>6.73</a:t>
                      </a:r>
                      <a:endParaRPr lang="zh-CN" altLang="en-US" sz="1400" dirty="0"/>
                    </a:p>
                  </a:txBody>
                  <a:tcPr/>
                </a:tc>
                <a:tc>
                  <a:txBody>
                    <a:bodyPr/>
                    <a:lstStyle/>
                    <a:p>
                      <a:r>
                        <a:rPr lang="en-US" altLang="zh-CN" sz="1400" dirty="0" smtClean="0"/>
                        <a:t>7.77</a:t>
                      </a:r>
                      <a:endParaRPr lang="zh-CN" altLang="en-US" sz="1400" dirty="0"/>
                    </a:p>
                  </a:txBody>
                  <a:tcPr/>
                </a:tc>
                <a:tc>
                  <a:txBody>
                    <a:bodyPr/>
                    <a:lstStyle/>
                    <a:p>
                      <a:r>
                        <a:rPr lang="en-US" altLang="zh-CN" sz="1400" dirty="0" smtClean="0"/>
                        <a:t>8.98</a:t>
                      </a:r>
                      <a:endParaRPr lang="zh-CN" altLang="en-US" sz="1400" dirty="0"/>
                    </a:p>
                  </a:txBody>
                  <a:tcPr/>
                </a:tc>
                <a:extLst>
                  <a:ext uri="{0D108BD9-81ED-4DB2-BD59-A6C34878D82A}">
                    <a16:rowId xmlns:a16="http://schemas.microsoft.com/office/drawing/2014/main" val="4056033725"/>
                  </a:ext>
                </a:extLst>
              </a:tr>
              <a:tr h="303081">
                <a:tc>
                  <a:txBody>
                    <a:bodyPr/>
                    <a:lstStyle/>
                    <a:p>
                      <a:r>
                        <a:rPr lang="en-US" altLang="zh-CN" sz="1400" dirty="0" smtClean="0"/>
                        <a:t>1.05</a:t>
                      </a:r>
                      <a:endParaRPr lang="zh-CN" altLang="en-US" sz="1400" dirty="0"/>
                    </a:p>
                  </a:txBody>
                  <a:tcPr/>
                </a:tc>
                <a:tc>
                  <a:txBody>
                    <a:bodyPr/>
                    <a:lstStyle/>
                    <a:p>
                      <a:r>
                        <a:rPr lang="en-US" altLang="zh-CN" sz="1400" dirty="0" smtClean="0"/>
                        <a:t>1.21</a:t>
                      </a:r>
                      <a:endParaRPr lang="zh-CN" altLang="en-US" sz="1400" dirty="0"/>
                    </a:p>
                  </a:txBody>
                  <a:tcPr/>
                </a:tc>
                <a:tc>
                  <a:txBody>
                    <a:bodyPr/>
                    <a:lstStyle/>
                    <a:p>
                      <a:r>
                        <a:rPr lang="en-US" altLang="zh-CN" sz="1400" dirty="0" smtClean="0"/>
                        <a:t>1.40</a:t>
                      </a:r>
                      <a:endParaRPr lang="zh-CN" altLang="en-US" sz="1400" dirty="0"/>
                    </a:p>
                  </a:txBody>
                  <a:tcPr/>
                </a:tc>
                <a:tc>
                  <a:txBody>
                    <a:bodyPr/>
                    <a:lstStyle/>
                    <a:p>
                      <a:r>
                        <a:rPr lang="en-US" altLang="zh-CN" sz="1400" dirty="0" smtClean="0"/>
                        <a:t>1.62</a:t>
                      </a:r>
                      <a:endParaRPr lang="zh-CN" altLang="en-US" sz="1400" dirty="0"/>
                    </a:p>
                  </a:txBody>
                  <a:tcPr/>
                </a:tc>
                <a:tc>
                  <a:txBody>
                    <a:bodyPr/>
                    <a:lstStyle/>
                    <a:p>
                      <a:r>
                        <a:rPr lang="en-US" altLang="zh-CN" sz="1400" dirty="0" smtClean="0"/>
                        <a:t>1.87</a:t>
                      </a:r>
                      <a:endParaRPr lang="zh-CN" altLang="en-US" sz="1400" dirty="0"/>
                    </a:p>
                  </a:txBody>
                  <a:tcPr/>
                </a:tc>
                <a:tc>
                  <a:txBody>
                    <a:bodyPr/>
                    <a:lstStyle/>
                    <a:p>
                      <a:r>
                        <a:rPr lang="en-US" altLang="zh-CN" sz="1400" dirty="0" smtClean="0"/>
                        <a:t>2.15</a:t>
                      </a:r>
                      <a:endParaRPr lang="zh-CN" altLang="en-US" sz="1400" dirty="0"/>
                    </a:p>
                  </a:txBody>
                  <a:tcPr/>
                </a:tc>
                <a:tc>
                  <a:txBody>
                    <a:bodyPr/>
                    <a:lstStyle/>
                    <a:p>
                      <a:r>
                        <a:rPr lang="en-US" altLang="zh-CN" sz="1400" dirty="0" smtClean="0"/>
                        <a:t>2.49</a:t>
                      </a:r>
                      <a:endParaRPr lang="zh-CN" altLang="en-US" sz="1400" dirty="0"/>
                    </a:p>
                  </a:txBody>
                  <a:tcPr/>
                </a:tc>
                <a:tc>
                  <a:txBody>
                    <a:bodyPr/>
                    <a:lstStyle/>
                    <a:p>
                      <a:r>
                        <a:rPr lang="en-US" altLang="zh-CN" sz="1400" dirty="0" smtClean="0"/>
                        <a:t>2.87</a:t>
                      </a:r>
                      <a:endParaRPr lang="zh-CN" altLang="en-US" sz="1400" dirty="0"/>
                    </a:p>
                  </a:txBody>
                  <a:tcPr/>
                </a:tc>
                <a:tc>
                  <a:txBody>
                    <a:bodyPr/>
                    <a:lstStyle/>
                    <a:p>
                      <a:r>
                        <a:rPr lang="en-US" altLang="zh-CN" sz="1400" dirty="0" smtClean="0"/>
                        <a:t>3.32</a:t>
                      </a:r>
                      <a:endParaRPr lang="zh-CN" altLang="en-US" sz="1400" dirty="0"/>
                    </a:p>
                  </a:txBody>
                  <a:tcPr/>
                </a:tc>
                <a:tc>
                  <a:txBody>
                    <a:bodyPr/>
                    <a:lstStyle/>
                    <a:p>
                      <a:r>
                        <a:rPr lang="en-US" altLang="zh-CN" sz="1400" dirty="0" smtClean="0"/>
                        <a:t>3.83</a:t>
                      </a:r>
                      <a:endParaRPr lang="zh-CN" altLang="en-US" sz="1400" dirty="0"/>
                    </a:p>
                  </a:txBody>
                  <a:tcPr/>
                </a:tc>
                <a:tc>
                  <a:txBody>
                    <a:bodyPr/>
                    <a:lstStyle/>
                    <a:p>
                      <a:r>
                        <a:rPr lang="en-US" altLang="zh-CN" sz="1400" dirty="0" smtClean="0"/>
                        <a:t>4.42</a:t>
                      </a:r>
                      <a:endParaRPr lang="zh-CN" altLang="en-US" sz="1400" dirty="0"/>
                    </a:p>
                  </a:txBody>
                  <a:tcPr/>
                </a:tc>
                <a:tc>
                  <a:txBody>
                    <a:bodyPr/>
                    <a:lstStyle/>
                    <a:p>
                      <a:r>
                        <a:rPr lang="en-US" altLang="zh-CN" sz="1400" dirty="0" smtClean="0"/>
                        <a:t>5.11</a:t>
                      </a:r>
                      <a:endParaRPr lang="zh-CN" altLang="en-US" sz="1400" dirty="0"/>
                    </a:p>
                  </a:txBody>
                  <a:tcPr/>
                </a:tc>
                <a:tc>
                  <a:txBody>
                    <a:bodyPr/>
                    <a:lstStyle/>
                    <a:p>
                      <a:r>
                        <a:rPr lang="en-US" altLang="zh-CN" sz="1400" dirty="0" smtClean="0"/>
                        <a:t>5.90</a:t>
                      </a:r>
                      <a:endParaRPr lang="zh-CN" altLang="en-US" sz="1400" dirty="0"/>
                    </a:p>
                  </a:txBody>
                  <a:tcPr/>
                </a:tc>
                <a:tc>
                  <a:txBody>
                    <a:bodyPr/>
                    <a:lstStyle/>
                    <a:p>
                      <a:r>
                        <a:rPr lang="en-US" altLang="zh-CN" sz="1400" dirty="0" smtClean="0"/>
                        <a:t>6.81</a:t>
                      </a:r>
                      <a:endParaRPr lang="zh-CN" altLang="en-US" sz="1400" dirty="0"/>
                    </a:p>
                  </a:txBody>
                  <a:tcPr/>
                </a:tc>
                <a:tc>
                  <a:txBody>
                    <a:bodyPr/>
                    <a:lstStyle/>
                    <a:p>
                      <a:r>
                        <a:rPr lang="en-US" altLang="zh-CN" sz="1400" dirty="0" smtClean="0"/>
                        <a:t>7.87</a:t>
                      </a:r>
                      <a:endParaRPr lang="zh-CN" altLang="en-US" sz="1400" dirty="0"/>
                    </a:p>
                  </a:txBody>
                  <a:tcPr/>
                </a:tc>
                <a:tc>
                  <a:txBody>
                    <a:bodyPr/>
                    <a:lstStyle/>
                    <a:p>
                      <a:r>
                        <a:rPr lang="en-US" altLang="zh-CN" sz="1400" dirty="0" smtClean="0"/>
                        <a:t>9.09</a:t>
                      </a:r>
                      <a:endParaRPr lang="zh-CN" altLang="en-US" sz="1400" dirty="0"/>
                    </a:p>
                  </a:txBody>
                  <a:tcPr/>
                </a:tc>
                <a:extLst>
                  <a:ext uri="{0D108BD9-81ED-4DB2-BD59-A6C34878D82A}">
                    <a16:rowId xmlns:a16="http://schemas.microsoft.com/office/drawing/2014/main" val="3602564493"/>
                  </a:ext>
                </a:extLst>
              </a:tr>
              <a:tr h="303081">
                <a:tc>
                  <a:txBody>
                    <a:bodyPr/>
                    <a:lstStyle/>
                    <a:p>
                      <a:r>
                        <a:rPr lang="en-US" altLang="zh-CN" sz="1400" dirty="0" smtClean="0"/>
                        <a:t>1.06</a:t>
                      </a:r>
                      <a:endParaRPr lang="zh-CN" altLang="en-US" sz="1400" dirty="0"/>
                    </a:p>
                  </a:txBody>
                  <a:tcPr/>
                </a:tc>
                <a:tc>
                  <a:txBody>
                    <a:bodyPr/>
                    <a:lstStyle/>
                    <a:p>
                      <a:r>
                        <a:rPr lang="en-US" altLang="zh-CN" sz="1400" dirty="0" smtClean="0"/>
                        <a:t>1.23</a:t>
                      </a:r>
                      <a:endParaRPr lang="zh-CN" altLang="en-US" sz="1400" dirty="0"/>
                    </a:p>
                  </a:txBody>
                  <a:tcPr/>
                </a:tc>
                <a:tc>
                  <a:txBody>
                    <a:bodyPr/>
                    <a:lstStyle/>
                    <a:p>
                      <a:r>
                        <a:rPr lang="en-US" altLang="zh-CN" sz="1400" dirty="0" smtClean="0"/>
                        <a:t>1.42</a:t>
                      </a:r>
                      <a:endParaRPr lang="zh-CN" altLang="en-US" sz="1400" dirty="0"/>
                    </a:p>
                  </a:txBody>
                  <a:tcPr/>
                </a:tc>
                <a:tc>
                  <a:txBody>
                    <a:bodyPr/>
                    <a:lstStyle/>
                    <a:p>
                      <a:r>
                        <a:rPr lang="en-US" altLang="zh-CN" sz="1400" dirty="0" smtClean="0"/>
                        <a:t>1.64</a:t>
                      </a:r>
                      <a:endParaRPr lang="zh-CN" altLang="en-US" sz="1400" dirty="0"/>
                    </a:p>
                  </a:txBody>
                  <a:tcPr/>
                </a:tc>
                <a:tc>
                  <a:txBody>
                    <a:bodyPr/>
                    <a:lstStyle/>
                    <a:p>
                      <a:r>
                        <a:rPr lang="en-US" altLang="zh-CN" sz="1400" dirty="0" smtClean="0"/>
                        <a:t>1.89</a:t>
                      </a:r>
                      <a:endParaRPr lang="zh-CN" altLang="en-US" sz="1400" dirty="0"/>
                    </a:p>
                  </a:txBody>
                  <a:tcPr/>
                </a:tc>
                <a:tc>
                  <a:txBody>
                    <a:bodyPr/>
                    <a:lstStyle/>
                    <a:p>
                      <a:r>
                        <a:rPr lang="en-US" altLang="zh-CN" sz="1400" dirty="0" smtClean="0"/>
                        <a:t>2.18</a:t>
                      </a:r>
                      <a:endParaRPr lang="zh-CN" altLang="en-US" sz="1400" dirty="0"/>
                    </a:p>
                  </a:txBody>
                  <a:tcPr/>
                </a:tc>
                <a:tc>
                  <a:txBody>
                    <a:bodyPr/>
                    <a:lstStyle/>
                    <a:p>
                      <a:r>
                        <a:rPr lang="en-US" altLang="zh-CN" sz="1400" dirty="0" smtClean="0"/>
                        <a:t>2.52</a:t>
                      </a:r>
                      <a:endParaRPr lang="zh-CN" altLang="en-US" sz="1400" dirty="0"/>
                    </a:p>
                  </a:txBody>
                  <a:tcPr/>
                </a:tc>
                <a:tc>
                  <a:txBody>
                    <a:bodyPr/>
                    <a:lstStyle/>
                    <a:p>
                      <a:r>
                        <a:rPr lang="en-US" altLang="zh-CN" sz="1400" dirty="0" smtClean="0"/>
                        <a:t>2.91</a:t>
                      </a:r>
                      <a:endParaRPr lang="zh-CN" altLang="en-US" sz="1400" dirty="0"/>
                    </a:p>
                  </a:txBody>
                  <a:tcPr/>
                </a:tc>
                <a:tc>
                  <a:txBody>
                    <a:bodyPr/>
                    <a:lstStyle/>
                    <a:p>
                      <a:r>
                        <a:rPr lang="en-US" altLang="zh-CN" sz="1400" dirty="0" smtClean="0"/>
                        <a:t>3.36</a:t>
                      </a:r>
                      <a:endParaRPr lang="zh-CN" altLang="en-US" sz="1400" dirty="0"/>
                    </a:p>
                  </a:txBody>
                  <a:tcPr/>
                </a:tc>
                <a:tc>
                  <a:txBody>
                    <a:bodyPr/>
                    <a:lstStyle/>
                    <a:p>
                      <a:r>
                        <a:rPr lang="en-US" altLang="zh-CN" sz="1400" dirty="0" smtClean="0"/>
                        <a:t>3.88</a:t>
                      </a:r>
                      <a:endParaRPr lang="zh-CN" altLang="en-US" sz="1400" dirty="0"/>
                    </a:p>
                  </a:txBody>
                  <a:tcPr/>
                </a:tc>
                <a:tc>
                  <a:txBody>
                    <a:bodyPr/>
                    <a:lstStyle/>
                    <a:p>
                      <a:r>
                        <a:rPr lang="en-US" altLang="zh-CN" sz="1400" dirty="0" smtClean="0"/>
                        <a:t>4.48</a:t>
                      </a:r>
                      <a:endParaRPr lang="zh-CN" altLang="en-US" sz="1400" dirty="0"/>
                    </a:p>
                  </a:txBody>
                  <a:tcPr/>
                </a:tc>
                <a:tc>
                  <a:txBody>
                    <a:bodyPr/>
                    <a:lstStyle/>
                    <a:p>
                      <a:r>
                        <a:rPr lang="en-US" altLang="zh-CN" sz="1400" dirty="0" smtClean="0"/>
                        <a:t>5.17</a:t>
                      </a:r>
                      <a:endParaRPr lang="zh-CN" altLang="en-US" sz="1400" dirty="0"/>
                    </a:p>
                  </a:txBody>
                  <a:tcPr/>
                </a:tc>
                <a:tc>
                  <a:txBody>
                    <a:bodyPr/>
                    <a:lstStyle/>
                    <a:p>
                      <a:r>
                        <a:rPr lang="en-US" altLang="zh-CN" sz="1400" dirty="0" smtClean="0"/>
                        <a:t>5.97</a:t>
                      </a:r>
                      <a:endParaRPr lang="zh-CN" altLang="en-US" sz="1400" dirty="0"/>
                    </a:p>
                  </a:txBody>
                  <a:tcPr/>
                </a:tc>
                <a:tc>
                  <a:txBody>
                    <a:bodyPr/>
                    <a:lstStyle/>
                    <a:p>
                      <a:r>
                        <a:rPr lang="en-US" altLang="zh-CN" sz="1400" dirty="0" smtClean="0"/>
                        <a:t>6.90</a:t>
                      </a:r>
                      <a:endParaRPr lang="zh-CN" altLang="en-US" sz="1400" dirty="0"/>
                    </a:p>
                  </a:txBody>
                  <a:tcPr/>
                </a:tc>
                <a:tc>
                  <a:txBody>
                    <a:bodyPr/>
                    <a:lstStyle/>
                    <a:p>
                      <a:r>
                        <a:rPr lang="en-US" altLang="zh-CN" sz="1400" dirty="0" smtClean="0"/>
                        <a:t>7.96</a:t>
                      </a:r>
                      <a:endParaRPr lang="zh-CN" altLang="en-US" sz="1400" dirty="0"/>
                    </a:p>
                  </a:txBody>
                  <a:tcPr/>
                </a:tc>
                <a:tc>
                  <a:txBody>
                    <a:bodyPr/>
                    <a:lstStyle/>
                    <a:p>
                      <a:r>
                        <a:rPr lang="en-US" altLang="zh-CN" sz="1400" dirty="0" smtClean="0"/>
                        <a:t>9.20</a:t>
                      </a:r>
                      <a:endParaRPr lang="zh-CN" altLang="en-US" sz="1400" dirty="0"/>
                    </a:p>
                  </a:txBody>
                  <a:tcPr/>
                </a:tc>
                <a:extLst>
                  <a:ext uri="{0D108BD9-81ED-4DB2-BD59-A6C34878D82A}">
                    <a16:rowId xmlns:a16="http://schemas.microsoft.com/office/drawing/2014/main" val="1651484838"/>
                  </a:ext>
                </a:extLst>
              </a:tr>
              <a:tr h="303081">
                <a:tc>
                  <a:txBody>
                    <a:bodyPr/>
                    <a:lstStyle/>
                    <a:p>
                      <a:r>
                        <a:rPr lang="en-US" altLang="zh-CN" sz="1400" dirty="0" smtClean="0"/>
                        <a:t>1.07</a:t>
                      </a:r>
                      <a:endParaRPr lang="zh-CN" altLang="en-US" sz="1400" dirty="0"/>
                    </a:p>
                  </a:txBody>
                  <a:tcPr/>
                </a:tc>
                <a:tc>
                  <a:txBody>
                    <a:bodyPr/>
                    <a:lstStyle/>
                    <a:p>
                      <a:r>
                        <a:rPr lang="en-US" altLang="zh-CN" sz="1400" dirty="0" smtClean="0"/>
                        <a:t>1.24</a:t>
                      </a:r>
                      <a:endParaRPr lang="zh-CN" altLang="en-US" sz="1400" dirty="0"/>
                    </a:p>
                  </a:txBody>
                  <a:tcPr/>
                </a:tc>
                <a:tc>
                  <a:txBody>
                    <a:bodyPr/>
                    <a:lstStyle/>
                    <a:p>
                      <a:r>
                        <a:rPr lang="en-US" altLang="zh-CN" sz="1400" dirty="0" smtClean="0"/>
                        <a:t>1.43</a:t>
                      </a:r>
                      <a:endParaRPr lang="zh-CN" altLang="en-US" sz="1400" dirty="0"/>
                    </a:p>
                  </a:txBody>
                  <a:tcPr/>
                </a:tc>
                <a:tc>
                  <a:txBody>
                    <a:bodyPr/>
                    <a:lstStyle/>
                    <a:p>
                      <a:r>
                        <a:rPr lang="en-US" altLang="zh-CN" sz="1400" dirty="0" smtClean="0"/>
                        <a:t>1.65</a:t>
                      </a:r>
                      <a:endParaRPr lang="zh-CN" altLang="en-US" sz="1400" dirty="0"/>
                    </a:p>
                  </a:txBody>
                  <a:tcPr/>
                </a:tc>
                <a:tc>
                  <a:txBody>
                    <a:bodyPr/>
                    <a:lstStyle/>
                    <a:p>
                      <a:r>
                        <a:rPr lang="en-US" altLang="zh-CN" sz="1400" dirty="0" smtClean="0"/>
                        <a:t>1.91</a:t>
                      </a:r>
                      <a:endParaRPr lang="zh-CN" altLang="en-US" sz="1400" dirty="0"/>
                    </a:p>
                  </a:txBody>
                  <a:tcPr/>
                </a:tc>
                <a:tc>
                  <a:txBody>
                    <a:bodyPr/>
                    <a:lstStyle/>
                    <a:p>
                      <a:r>
                        <a:rPr lang="en-US" altLang="zh-CN" sz="1400" dirty="0" smtClean="0"/>
                        <a:t>2.21</a:t>
                      </a:r>
                      <a:endParaRPr lang="zh-CN" altLang="en-US" sz="1400" dirty="0"/>
                    </a:p>
                  </a:txBody>
                  <a:tcPr/>
                </a:tc>
                <a:tc>
                  <a:txBody>
                    <a:bodyPr/>
                    <a:lstStyle/>
                    <a:p>
                      <a:r>
                        <a:rPr lang="en-US" altLang="zh-CN" sz="1400" dirty="0" smtClean="0"/>
                        <a:t>2.55</a:t>
                      </a:r>
                      <a:endParaRPr lang="zh-CN" altLang="en-US" sz="1400" dirty="0"/>
                    </a:p>
                  </a:txBody>
                  <a:tcPr/>
                </a:tc>
                <a:tc>
                  <a:txBody>
                    <a:bodyPr/>
                    <a:lstStyle/>
                    <a:p>
                      <a:r>
                        <a:rPr lang="en-US" altLang="zh-CN" sz="1400" dirty="0" smtClean="0"/>
                        <a:t>2.94</a:t>
                      </a:r>
                      <a:endParaRPr lang="zh-CN" altLang="en-US" sz="1400" dirty="0"/>
                    </a:p>
                  </a:txBody>
                  <a:tcPr/>
                </a:tc>
                <a:tc>
                  <a:txBody>
                    <a:bodyPr/>
                    <a:lstStyle/>
                    <a:p>
                      <a:r>
                        <a:rPr lang="en-US" altLang="zh-CN" sz="1400" dirty="0" smtClean="0"/>
                        <a:t>3.40</a:t>
                      </a:r>
                      <a:endParaRPr lang="zh-CN" altLang="en-US" sz="1400" dirty="0"/>
                    </a:p>
                  </a:txBody>
                  <a:tcPr/>
                </a:tc>
                <a:tc>
                  <a:txBody>
                    <a:bodyPr/>
                    <a:lstStyle/>
                    <a:p>
                      <a:r>
                        <a:rPr lang="en-US" altLang="zh-CN" sz="1400" dirty="0" smtClean="0"/>
                        <a:t>3.92</a:t>
                      </a:r>
                      <a:endParaRPr lang="zh-CN" altLang="en-US" sz="1400" dirty="0"/>
                    </a:p>
                  </a:txBody>
                  <a:tcPr/>
                </a:tc>
                <a:tc>
                  <a:txBody>
                    <a:bodyPr/>
                    <a:lstStyle/>
                    <a:p>
                      <a:r>
                        <a:rPr lang="en-US" altLang="zh-CN" sz="1400" dirty="0" smtClean="0"/>
                        <a:t>4.53</a:t>
                      </a:r>
                      <a:endParaRPr lang="zh-CN" altLang="en-US" sz="1400" dirty="0"/>
                    </a:p>
                  </a:txBody>
                  <a:tcPr/>
                </a:tc>
                <a:tc>
                  <a:txBody>
                    <a:bodyPr/>
                    <a:lstStyle/>
                    <a:p>
                      <a:r>
                        <a:rPr lang="en-US" altLang="zh-CN" sz="1400" dirty="0" smtClean="0"/>
                        <a:t>5.23</a:t>
                      </a:r>
                      <a:endParaRPr lang="zh-CN" altLang="en-US" sz="1400" dirty="0"/>
                    </a:p>
                  </a:txBody>
                  <a:tcPr/>
                </a:tc>
                <a:tc>
                  <a:txBody>
                    <a:bodyPr/>
                    <a:lstStyle/>
                    <a:p>
                      <a:r>
                        <a:rPr lang="en-US" altLang="zh-CN" sz="1400" dirty="0" smtClean="0"/>
                        <a:t>6.04</a:t>
                      </a:r>
                      <a:endParaRPr lang="zh-CN" altLang="en-US" sz="1400" dirty="0"/>
                    </a:p>
                  </a:txBody>
                  <a:tcPr/>
                </a:tc>
                <a:tc>
                  <a:txBody>
                    <a:bodyPr/>
                    <a:lstStyle/>
                    <a:p>
                      <a:r>
                        <a:rPr lang="en-US" altLang="zh-CN" sz="1400" dirty="0" smtClean="0"/>
                        <a:t>6.98</a:t>
                      </a:r>
                      <a:endParaRPr lang="zh-CN" altLang="en-US" sz="1400" dirty="0"/>
                    </a:p>
                  </a:txBody>
                  <a:tcPr/>
                </a:tc>
                <a:tc>
                  <a:txBody>
                    <a:bodyPr/>
                    <a:lstStyle/>
                    <a:p>
                      <a:r>
                        <a:rPr lang="en-US" altLang="zh-CN" sz="1400" dirty="0" smtClean="0"/>
                        <a:t>8.06</a:t>
                      </a:r>
                      <a:endParaRPr lang="zh-CN" altLang="en-US" sz="1400" dirty="0"/>
                    </a:p>
                  </a:txBody>
                  <a:tcPr/>
                </a:tc>
                <a:tc>
                  <a:txBody>
                    <a:bodyPr/>
                    <a:lstStyle/>
                    <a:p>
                      <a:r>
                        <a:rPr lang="en-US" altLang="zh-CN" sz="1400" dirty="0" smtClean="0"/>
                        <a:t>9.31</a:t>
                      </a:r>
                      <a:endParaRPr lang="zh-CN" altLang="en-US" sz="1400" dirty="0"/>
                    </a:p>
                  </a:txBody>
                  <a:tcPr/>
                </a:tc>
                <a:extLst>
                  <a:ext uri="{0D108BD9-81ED-4DB2-BD59-A6C34878D82A}">
                    <a16:rowId xmlns:a16="http://schemas.microsoft.com/office/drawing/2014/main" val="785367221"/>
                  </a:ext>
                </a:extLst>
              </a:tr>
              <a:tr h="303081">
                <a:tc>
                  <a:txBody>
                    <a:bodyPr/>
                    <a:lstStyle/>
                    <a:p>
                      <a:r>
                        <a:rPr lang="en-US" altLang="zh-CN" sz="1400" dirty="0" smtClean="0"/>
                        <a:t>1.09</a:t>
                      </a:r>
                      <a:endParaRPr lang="zh-CN" altLang="en-US" sz="1400" dirty="0"/>
                    </a:p>
                  </a:txBody>
                  <a:tcPr/>
                </a:tc>
                <a:tc>
                  <a:txBody>
                    <a:bodyPr/>
                    <a:lstStyle/>
                    <a:p>
                      <a:r>
                        <a:rPr lang="en-US" altLang="zh-CN" sz="1400" dirty="0" smtClean="0"/>
                        <a:t>1.26</a:t>
                      </a:r>
                      <a:endParaRPr lang="zh-CN" altLang="en-US" sz="1400" dirty="0"/>
                    </a:p>
                  </a:txBody>
                  <a:tcPr/>
                </a:tc>
                <a:tc>
                  <a:txBody>
                    <a:bodyPr/>
                    <a:lstStyle/>
                    <a:p>
                      <a:r>
                        <a:rPr lang="en-US" altLang="zh-CN" sz="1400" dirty="0" smtClean="0"/>
                        <a:t>1.45</a:t>
                      </a:r>
                      <a:endParaRPr lang="zh-CN" altLang="en-US" sz="1400" dirty="0"/>
                    </a:p>
                  </a:txBody>
                  <a:tcPr/>
                </a:tc>
                <a:tc>
                  <a:txBody>
                    <a:bodyPr/>
                    <a:lstStyle/>
                    <a:p>
                      <a:r>
                        <a:rPr lang="en-US" altLang="zh-CN" sz="1400" dirty="0" smtClean="0"/>
                        <a:t>1.67</a:t>
                      </a:r>
                      <a:endParaRPr lang="zh-CN" altLang="en-US" sz="1400" dirty="0"/>
                    </a:p>
                  </a:txBody>
                  <a:tcPr/>
                </a:tc>
                <a:tc>
                  <a:txBody>
                    <a:bodyPr/>
                    <a:lstStyle/>
                    <a:p>
                      <a:r>
                        <a:rPr lang="en-US" altLang="zh-CN" sz="1400" dirty="0" smtClean="0"/>
                        <a:t>1.93</a:t>
                      </a:r>
                      <a:endParaRPr lang="zh-CN" altLang="en-US" sz="1400" dirty="0"/>
                    </a:p>
                  </a:txBody>
                  <a:tcPr/>
                </a:tc>
                <a:tc>
                  <a:txBody>
                    <a:bodyPr/>
                    <a:lstStyle/>
                    <a:p>
                      <a:r>
                        <a:rPr lang="en-US" altLang="zh-CN" sz="1400" dirty="0" smtClean="0"/>
                        <a:t>2.23</a:t>
                      </a:r>
                      <a:endParaRPr lang="zh-CN" altLang="en-US" sz="1400" dirty="0"/>
                    </a:p>
                  </a:txBody>
                  <a:tcPr/>
                </a:tc>
                <a:tc>
                  <a:txBody>
                    <a:bodyPr/>
                    <a:lstStyle/>
                    <a:p>
                      <a:r>
                        <a:rPr lang="en-US" altLang="zh-CN" sz="1400" dirty="0" smtClean="0"/>
                        <a:t>2.58</a:t>
                      </a:r>
                      <a:endParaRPr lang="zh-CN" altLang="en-US" sz="1400" dirty="0"/>
                    </a:p>
                  </a:txBody>
                  <a:tcPr/>
                </a:tc>
                <a:tc>
                  <a:txBody>
                    <a:bodyPr/>
                    <a:lstStyle/>
                    <a:p>
                      <a:r>
                        <a:rPr lang="en-US" altLang="zh-CN" sz="1400" dirty="0" smtClean="0"/>
                        <a:t>2.98</a:t>
                      </a:r>
                      <a:endParaRPr lang="zh-CN" altLang="en-US" sz="1400" dirty="0"/>
                    </a:p>
                  </a:txBody>
                  <a:tcPr/>
                </a:tc>
                <a:tc>
                  <a:txBody>
                    <a:bodyPr/>
                    <a:lstStyle/>
                    <a:p>
                      <a:r>
                        <a:rPr lang="en-US" altLang="zh-CN" sz="1400" dirty="0" smtClean="0"/>
                        <a:t>3.44</a:t>
                      </a:r>
                      <a:endParaRPr lang="zh-CN" altLang="en-US" sz="1400" dirty="0"/>
                    </a:p>
                  </a:txBody>
                  <a:tcPr/>
                </a:tc>
                <a:tc>
                  <a:txBody>
                    <a:bodyPr/>
                    <a:lstStyle/>
                    <a:p>
                      <a:r>
                        <a:rPr lang="en-US" altLang="zh-CN" sz="1400" dirty="0" smtClean="0"/>
                        <a:t>3.97</a:t>
                      </a:r>
                      <a:endParaRPr lang="zh-CN" altLang="en-US" sz="1400" dirty="0"/>
                    </a:p>
                  </a:txBody>
                  <a:tcPr/>
                </a:tc>
                <a:tc>
                  <a:txBody>
                    <a:bodyPr/>
                    <a:lstStyle/>
                    <a:p>
                      <a:r>
                        <a:rPr lang="en-US" altLang="zh-CN" sz="1400" dirty="0" smtClean="0"/>
                        <a:t>4.59</a:t>
                      </a:r>
                      <a:endParaRPr lang="zh-CN" altLang="en-US" sz="1400" dirty="0"/>
                    </a:p>
                  </a:txBody>
                  <a:tcPr/>
                </a:tc>
                <a:tc>
                  <a:txBody>
                    <a:bodyPr/>
                    <a:lstStyle/>
                    <a:p>
                      <a:r>
                        <a:rPr lang="en-US" altLang="zh-CN" sz="1400" dirty="0" smtClean="0"/>
                        <a:t>5.30</a:t>
                      </a:r>
                      <a:endParaRPr lang="zh-CN" altLang="en-US" sz="1400" dirty="0"/>
                    </a:p>
                  </a:txBody>
                  <a:tcPr/>
                </a:tc>
                <a:tc>
                  <a:txBody>
                    <a:bodyPr/>
                    <a:lstStyle/>
                    <a:p>
                      <a:r>
                        <a:rPr lang="en-US" altLang="zh-CN" sz="1400" dirty="0" smtClean="0"/>
                        <a:t>6.12</a:t>
                      </a:r>
                      <a:endParaRPr lang="zh-CN" altLang="en-US" sz="1400" dirty="0"/>
                    </a:p>
                  </a:txBody>
                  <a:tcPr/>
                </a:tc>
                <a:tc>
                  <a:txBody>
                    <a:bodyPr/>
                    <a:lstStyle/>
                    <a:p>
                      <a:r>
                        <a:rPr lang="en-US" altLang="zh-CN" sz="1400" dirty="0" smtClean="0"/>
                        <a:t>7.06</a:t>
                      </a:r>
                      <a:endParaRPr lang="zh-CN" altLang="en-US" sz="1400" dirty="0"/>
                    </a:p>
                  </a:txBody>
                  <a:tcPr/>
                </a:tc>
                <a:tc>
                  <a:txBody>
                    <a:bodyPr/>
                    <a:lstStyle/>
                    <a:p>
                      <a:r>
                        <a:rPr lang="en-US" altLang="zh-CN" sz="1400" dirty="0" smtClean="0"/>
                        <a:t>8.16</a:t>
                      </a:r>
                      <a:endParaRPr lang="zh-CN" altLang="en-US" sz="1400" dirty="0"/>
                    </a:p>
                  </a:txBody>
                  <a:tcPr/>
                </a:tc>
                <a:tc>
                  <a:txBody>
                    <a:bodyPr/>
                    <a:lstStyle/>
                    <a:p>
                      <a:r>
                        <a:rPr lang="en-US" altLang="zh-CN" sz="1400" dirty="0" smtClean="0"/>
                        <a:t>9.42</a:t>
                      </a:r>
                      <a:endParaRPr lang="zh-CN" altLang="en-US" sz="1400" dirty="0"/>
                    </a:p>
                  </a:txBody>
                  <a:tcPr/>
                </a:tc>
                <a:extLst>
                  <a:ext uri="{0D108BD9-81ED-4DB2-BD59-A6C34878D82A}">
                    <a16:rowId xmlns:a16="http://schemas.microsoft.com/office/drawing/2014/main" val="3589947442"/>
                  </a:ext>
                </a:extLst>
              </a:tr>
              <a:tr h="303081">
                <a:tc>
                  <a:txBody>
                    <a:bodyPr/>
                    <a:lstStyle/>
                    <a:p>
                      <a:r>
                        <a:rPr lang="en-US" altLang="zh-CN" sz="1400" dirty="0" smtClean="0"/>
                        <a:t>1.10</a:t>
                      </a:r>
                      <a:endParaRPr lang="zh-CN" altLang="en-US" sz="1400" dirty="0"/>
                    </a:p>
                  </a:txBody>
                  <a:tcPr/>
                </a:tc>
                <a:tc>
                  <a:txBody>
                    <a:bodyPr/>
                    <a:lstStyle/>
                    <a:p>
                      <a:r>
                        <a:rPr lang="en-US" altLang="zh-CN" sz="1400" dirty="0" smtClean="0"/>
                        <a:t>1.27</a:t>
                      </a:r>
                      <a:endParaRPr lang="zh-CN" altLang="en-US" sz="1400" dirty="0"/>
                    </a:p>
                  </a:txBody>
                  <a:tcPr/>
                </a:tc>
                <a:tc>
                  <a:txBody>
                    <a:bodyPr/>
                    <a:lstStyle/>
                    <a:p>
                      <a:r>
                        <a:rPr lang="en-US" altLang="zh-CN" sz="1400" dirty="0" smtClean="0"/>
                        <a:t>1.47</a:t>
                      </a:r>
                      <a:endParaRPr lang="zh-CN" altLang="en-US" sz="1400" dirty="0"/>
                    </a:p>
                  </a:txBody>
                  <a:tcPr/>
                </a:tc>
                <a:tc>
                  <a:txBody>
                    <a:bodyPr/>
                    <a:lstStyle/>
                    <a:p>
                      <a:r>
                        <a:rPr lang="en-US" altLang="zh-CN" sz="1400" dirty="0" smtClean="0"/>
                        <a:t>1.69</a:t>
                      </a:r>
                      <a:endParaRPr lang="zh-CN" altLang="en-US" sz="1400" dirty="0"/>
                    </a:p>
                  </a:txBody>
                  <a:tcPr/>
                </a:tc>
                <a:tc>
                  <a:txBody>
                    <a:bodyPr/>
                    <a:lstStyle/>
                    <a:p>
                      <a:r>
                        <a:rPr lang="en-US" altLang="zh-CN" sz="1400" dirty="0" smtClean="0"/>
                        <a:t>1.96</a:t>
                      </a:r>
                      <a:endParaRPr lang="zh-CN" altLang="en-US" sz="1400" dirty="0"/>
                    </a:p>
                  </a:txBody>
                  <a:tcPr/>
                </a:tc>
                <a:tc>
                  <a:txBody>
                    <a:bodyPr/>
                    <a:lstStyle/>
                    <a:p>
                      <a:r>
                        <a:rPr lang="en-US" altLang="zh-CN" sz="1400" dirty="0" smtClean="0"/>
                        <a:t>2.26</a:t>
                      </a:r>
                      <a:endParaRPr lang="zh-CN" altLang="en-US" sz="1400" dirty="0"/>
                    </a:p>
                  </a:txBody>
                  <a:tcPr/>
                </a:tc>
                <a:tc>
                  <a:txBody>
                    <a:bodyPr/>
                    <a:lstStyle/>
                    <a:p>
                      <a:r>
                        <a:rPr lang="en-US" altLang="zh-CN" sz="1400" dirty="0" smtClean="0"/>
                        <a:t>2.61</a:t>
                      </a:r>
                      <a:endParaRPr lang="zh-CN" altLang="en-US" sz="1400" dirty="0"/>
                    </a:p>
                  </a:txBody>
                  <a:tcPr/>
                </a:tc>
                <a:tc>
                  <a:txBody>
                    <a:bodyPr/>
                    <a:lstStyle/>
                    <a:p>
                      <a:r>
                        <a:rPr lang="en-US" altLang="zh-CN" sz="1400" dirty="0" smtClean="0"/>
                        <a:t>3.01</a:t>
                      </a:r>
                      <a:endParaRPr lang="zh-CN" altLang="en-US" sz="1400" dirty="0"/>
                    </a:p>
                  </a:txBody>
                  <a:tcPr/>
                </a:tc>
                <a:tc>
                  <a:txBody>
                    <a:bodyPr/>
                    <a:lstStyle/>
                    <a:p>
                      <a:r>
                        <a:rPr lang="en-US" altLang="zh-CN" sz="1400" dirty="0" smtClean="0"/>
                        <a:t>3.48</a:t>
                      </a:r>
                      <a:endParaRPr lang="zh-CN" altLang="en-US" sz="1400" dirty="0"/>
                    </a:p>
                  </a:txBody>
                  <a:tcPr/>
                </a:tc>
                <a:tc>
                  <a:txBody>
                    <a:bodyPr/>
                    <a:lstStyle/>
                    <a:p>
                      <a:r>
                        <a:rPr lang="en-US" altLang="zh-CN" sz="1400" dirty="0" smtClean="0"/>
                        <a:t>4.02</a:t>
                      </a:r>
                      <a:endParaRPr lang="zh-CN" altLang="en-US" sz="1400" dirty="0"/>
                    </a:p>
                  </a:txBody>
                  <a:tcPr/>
                </a:tc>
                <a:tc>
                  <a:txBody>
                    <a:bodyPr/>
                    <a:lstStyle/>
                    <a:p>
                      <a:r>
                        <a:rPr lang="en-US" altLang="zh-CN" sz="1400" dirty="0" smtClean="0"/>
                        <a:t>4.64</a:t>
                      </a:r>
                      <a:endParaRPr lang="zh-CN" altLang="en-US" sz="1400" dirty="0"/>
                    </a:p>
                  </a:txBody>
                  <a:tcPr/>
                </a:tc>
                <a:tc>
                  <a:txBody>
                    <a:bodyPr/>
                    <a:lstStyle/>
                    <a:p>
                      <a:r>
                        <a:rPr lang="en-US" altLang="zh-CN" sz="1400" dirty="0" smtClean="0"/>
                        <a:t>5.36</a:t>
                      </a:r>
                      <a:endParaRPr lang="zh-CN" altLang="en-US" sz="1400" dirty="0"/>
                    </a:p>
                  </a:txBody>
                  <a:tcPr/>
                </a:tc>
                <a:tc>
                  <a:txBody>
                    <a:bodyPr/>
                    <a:lstStyle/>
                    <a:p>
                      <a:r>
                        <a:rPr lang="en-US" altLang="zh-CN" sz="1400" dirty="0" smtClean="0"/>
                        <a:t>6.19</a:t>
                      </a:r>
                      <a:endParaRPr lang="zh-CN" altLang="en-US" sz="1400" dirty="0"/>
                    </a:p>
                  </a:txBody>
                  <a:tcPr/>
                </a:tc>
                <a:tc>
                  <a:txBody>
                    <a:bodyPr/>
                    <a:lstStyle/>
                    <a:p>
                      <a:r>
                        <a:rPr lang="en-US" altLang="zh-CN" sz="1400" dirty="0" smtClean="0"/>
                        <a:t>7.15</a:t>
                      </a:r>
                      <a:endParaRPr lang="zh-CN" altLang="en-US" sz="1400" dirty="0"/>
                    </a:p>
                  </a:txBody>
                  <a:tcPr/>
                </a:tc>
                <a:tc>
                  <a:txBody>
                    <a:bodyPr/>
                    <a:lstStyle/>
                    <a:p>
                      <a:r>
                        <a:rPr lang="en-US" altLang="zh-CN" sz="1400" dirty="0" smtClean="0"/>
                        <a:t>8.25</a:t>
                      </a:r>
                      <a:endParaRPr lang="zh-CN" altLang="en-US" sz="1400" dirty="0"/>
                    </a:p>
                  </a:txBody>
                  <a:tcPr/>
                </a:tc>
                <a:tc>
                  <a:txBody>
                    <a:bodyPr/>
                    <a:lstStyle/>
                    <a:p>
                      <a:r>
                        <a:rPr lang="en-US" altLang="zh-CN" sz="1400" dirty="0" smtClean="0"/>
                        <a:t>9.53</a:t>
                      </a:r>
                      <a:endParaRPr lang="zh-CN" altLang="en-US" sz="1400" dirty="0"/>
                    </a:p>
                  </a:txBody>
                  <a:tcPr/>
                </a:tc>
                <a:extLst>
                  <a:ext uri="{0D108BD9-81ED-4DB2-BD59-A6C34878D82A}">
                    <a16:rowId xmlns:a16="http://schemas.microsoft.com/office/drawing/2014/main" val="4075418078"/>
                  </a:ext>
                </a:extLst>
              </a:tr>
              <a:tr h="303081">
                <a:tc>
                  <a:txBody>
                    <a:bodyPr/>
                    <a:lstStyle/>
                    <a:p>
                      <a:r>
                        <a:rPr lang="en-US" altLang="zh-CN" sz="1400" dirty="0" smtClean="0"/>
                        <a:t>1.11</a:t>
                      </a:r>
                      <a:endParaRPr lang="zh-CN" altLang="en-US" sz="1400" dirty="0"/>
                    </a:p>
                  </a:txBody>
                  <a:tcPr/>
                </a:tc>
                <a:tc>
                  <a:txBody>
                    <a:bodyPr/>
                    <a:lstStyle/>
                    <a:p>
                      <a:r>
                        <a:rPr lang="en-US" altLang="zh-CN" sz="1400" dirty="0" smtClean="0"/>
                        <a:t>1.29</a:t>
                      </a:r>
                      <a:endParaRPr lang="zh-CN" altLang="en-US" sz="1400" dirty="0"/>
                    </a:p>
                  </a:txBody>
                  <a:tcPr/>
                </a:tc>
                <a:tc>
                  <a:txBody>
                    <a:bodyPr/>
                    <a:lstStyle/>
                    <a:p>
                      <a:r>
                        <a:rPr lang="en-US" altLang="zh-CN" sz="1400" dirty="0" smtClean="0"/>
                        <a:t>1.49</a:t>
                      </a:r>
                      <a:endParaRPr lang="zh-CN" altLang="en-US" sz="1400" dirty="0"/>
                    </a:p>
                  </a:txBody>
                  <a:tcPr/>
                </a:tc>
                <a:tc>
                  <a:txBody>
                    <a:bodyPr/>
                    <a:lstStyle/>
                    <a:p>
                      <a:r>
                        <a:rPr lang="en-US" altLang="zh-CN" sz="1400" dirty="0" smtClean="0"/>
                        <a:t>1.72</a:t>
                      </a:r>
                      <a:endParaRPr lang="zh-CN" altLang="en-US" sz="1400" dirty="0"/>
                    </a:p>
                  </a:txBody>
                  <a:tcPr/>
                </a:tc>
                <a:tc>
                  <a:txBody>
                    <a:bodyPr/>
                    <a:lstStyle/>
                    <a:p>
                      <a:r>
                        <a:rPr lang="en-US" altLang="zh-CN" sz="1400" dirty="0" smtClean="0"/>
                        <a:t>1.98</a:t>
                      </a:r>
                      <a:endParaRPr lang="zh-CN" altLang="en-US" dirty="0"/>
                    </a:p>
                  </a:txBody>
                  <a:tcPr/>
                </a:tc>
                <a:tc>
                  <a:txBody>
                    <a:bodyPr/>
                    <a:lstStyle/>
                    <a:p>
                      <a:r>
                        <a:rPr lang="en-US" altLang="zh-CN" sz="1400" dirty="0" smtClean="0"/>
                        <a:t>2.29</a:t>
                      </a:r>
                      <a:endParaRPr lang="zh-CN" altLang="en-US" sz="1400" dirty="0"/>
                    </a:p>
                  </a:txBody>
                  <a:tcPr/>
                </a:tc>
                <a:tc>
                  <a:txBody>
                    <a:bodyPr/>
                    <a:lstStyle/>
                    <a:p>
                      <a:r>
                        <a:rPr lang="en-US" altLang="zh-CN" sz="1400" dirty="0" smtClean="0"/>
                        <a:t>2.64</a:t>
                      </a:r>
                      <a:endParaRPr lang="zh-CN" altLang="en-US" sz="1400" dirty="0"/>
                    </a:p>
                  </a:txBody>
                  <a:tcPr/>
                </a:tc>
                <a:tc>
                  <a:txBody>
                    <a:bodyPr/>
                    <a:lstStyle/>
                    <a:p>
                      <a:r>
                        <a:rPr lang="en-US" altLang="zh-CN" sz="1400" dirty="0" smtClean="0"/>
                        <a:t>3.05</a:t>
                      </a:r>
                      <a:endParaRPr lang="zh-CN" altLang="en-US" sz="1400" dirty="0"/>
                    </a:p>
                  </a:txBody>
                  <a:tcPr/>
                </a:tc>
                <a:tc>
                  <a:txBody>
                    <a:bodyPr/>
                    <a:lstStyle/>
                    <a:p>
                      <a:r>
                        <a:rPr lang="en-US" altLang="zh-CN" sz="1400" dirty="0" smtClean="0"/>
                        <a:t>3.52</a:t>
                      </a:r>
                      <a:endParaRPr lang="zh-CN" altLang="en-US" sz="1400" dirty="0"/>
                    </a:p>
                  </a:txBody>
                  <a:tcPr/>
                </a:tc>
                <a:tc>
                  <a:txBody>
                    <a:bodyPr/>
                    <a:lstStyle/>
                    <a:p>
                      <a:r>
                        <a:rPr lang="en-US" altLang="zh-CN" sz="1400" dirty="0" smtClean="0"/>
                        <a:t>4.07</a:t>
                      </a:r>
                      <a:endParaRPr lang="zh-CN" altLang="en-US" sz="1400" dirty="0"/>
                    </a:p>
                  </a:txBody>
                  <a:tcPr/>
                </a:tc>
                <a:tc>
                  <a:txBody>
                    <a:bodyPr/>
                    <a:lstStyle/>
                    <a:p>
                      <a:r>
                        <a:rPr lang="en-US" altLang="zh-CN" sz="1400" dirty="0" smtClean="0"/>
                        <a:t>4.70</a:t>
                      </a:r>
                      <a:endParaRPr lang="zh-CN" altLang="en-US" sz="1400" dirty="0"/>
                    </a:p>
                  </a:txBody>
                  <a:tcPr/>
                </a:tc>
                <a:tc>
                  <a:txBody>
                    <a:bodyPr/>
                    <a:lstStyle/>
                    <a:p>
                      <a:r>
                        <a:rPr lang="en-US" altLang="zh-CN" sz="1400" dirty="0" smtClean="0"/>
                        <a:t>5.43</a:t>
                      </a:r>
                      <a:endParaRPr lang="zh-CN" altLang="en-US" sz="1400" dirty="0"/>
                    </a:p>
                  </a:txBody>
                  <a:tcPr/>
                </a:tc>
                <a:tc>
                  <a:txBody>
                    <a:bodyPr/>
                    <a:lstStyle/>
                    <a:p>
                      <a:r>
                        <a:rPr lang="en-US" altLang="zh-CN" sz="1400" dirty="0" smtClean="0"/>
                        <a:t>6.26</a:t>
                      </a:r>
                      <a:endParaRPr lang="zh-CN" altLang="en-US" sz="1400" dirty="0"/>
                    </a:p>
                  </a:txBody>
                  <a:tcPr/>
                </a:tc>
                <a:tc>
                  <a:txBody>
                    <a:bodyPr/>
                    <a:lstStyle/>
                    <a:p>
                      <a:r>
                        <a:rPr lang="en-US" altLang="zh-CN" sz="1400" dirty="0" smtClean="0"/>
                        <a:t>7.23</a:t>
                      </a:r>
                      <a:endParaRPr lang="zh-CN" altLang="en-US" sz="1400" dirty="0"/>
                    </a:p>
                  </a:txBody>
                  <a:tcPr/>
                </a:tc>
                <a:tc>
                  <a:txBody>
                    <a:bodyPr/>
                    <a:lstStyle/>
                    <a:p>
                      <a:r>
                        <a:rPr lang="en-US" altLang="zh-CN" sz="1400" dirty="0" smtClean="0"/>
                        <a:t>8.35</a:t>
                      </a:r>
                      <a:endParaRPr lang="zh-CN" altLang="en-US" sz="1400" dirty="0"/>
                    </a:p>
                  </a:txBody>
                  <a:tcPr/>
                </a:tc>
                <a:tc>
                  <a:txBody>
                    <a:bodyPr/>
                    <a:lstStyle/>
                    <a:p>
                      <a:r>
                        <a:rPr lang="en-US" altLang="zh-CN" sz="1400" dirty="0" smtClean="0"/>
                        <a:t>9.65</a:t>
                      </a:r>
                      <a:endParaRPr lang="zh-CN" altLang="en-US" sz="1400" dirty="0"/>
                    </a:p>
                  </a:txBody>
                  <a:tcPr/>
                </a:tc>
                <a:extLst>
                  <a:ext uri="{0D108BD9-81ED-4DB2-BD59-A6C34878D82A}">
                    <a16:rowId xmlns:a16="http://schemas.microsoft.com/office/drawing/2014/main" val="1528578500"/>
                  </a:ext>
                </a:extLst>
              </a:tr>
              <a:tr h="303081">
                <a:tc>
                  <a:txBody>
                    <a:bodyPr/>
                    <a:lstStyle/>
                    <a:p>
                      <a:r>
                        <a:rPr lang="en-US" altLang="zh-CN" sz="1400" dirty="0" smtClean="0"/>
                        <a:t>1.13</a:t>
                      </a:r>
                      <a:endParaRPr lang="zh-CN" altLang="en-US" sz="1400" dirty="0"/>
                    </a:p>
                  </a:txBody>
                  <a:tcPr/>
                </a:tc>
                <a:tc>
                  <a:txBody>
                    <a:bodyPr/>
                    <a:lstStyle/>
                    <a:p>
                      <a:r>
                        <a:rPr lang="en-US" altLang="zh-CN" sz="1400" dirty="0" smtClean="0"/>
                        <a:t>1.30</a:t>
                      </a:r>
                      <a:endParaRPr lang="zh-CN" altLang="en-US" sz="1400" dirty="0"/>
                    </a:p>
                  </a:txBody>
                  <a:tcPr/>
                </a:tc>
                <a:tc>
                  <a:txBody>
                    <a:bodyPr/>
                    <a:lstStyle/>
                    <a:p>
                      <a:r>
                        <a:rPr lang="en-US" altLang="zh-CN" sz="1400" dirty="0" smtClean="0"/>
                        <a:t>1.50</a:t>
                      </a:r>
                      <a:endParaRPr lang="zh-CN" altLang="en-US" sz="1400" dirty="0"/>
                    </a:p>
                  </a:txBody>
                  <a:tcPr/>
                </a:tc>
                <a:tc>
                  <a:txBody>
                    <a:bodyPr/>
                    <a:lstStyle/>
                    <a:p>
                      <a:r>
                        <a:rPr lang="en-US" altLang="zh-CN" sz="1400" dirty="0" smtClean="0"/>
                        <a:t>1.74</a:t>
                      </a:r>
                      <a:endParaRPr lang="zh-CN" altLang="en-US" sz="1400" dirty="0"/>
                    </a:p>
                  </a:txBody>
                  <a:tcPr/>
                </a:tc>
                <a:tc>
                  <a:txBody>
                    <a:bodyPr/>
                    <a:lstStyle/>
                    <a:p>
                      <a:r>
                        <a:rPr lang="en-US" altLang="zh-CN" sz="1400" dirty="0" smtClean="0"/>
                        <a:t>2.00</a:t>
                      </a:r>
                      <a:endParaRPr lang="zh-CN" altLang="en-US" sz="1400" dirty="0"/>
                    </a:p>
                  </a:txBody>
                  <a:tcPr/>
                </a:tc>
                <a:tc>
                  <a:txBody>
                    <a:bodyPr/>
                    <a:lstStyle/>
                    <a:p>
                      <a:r>
                        <a:rPr lang="en-US" altLang="zh-CN" sz="1400" dirty="0" smtClean="0"/>
                        <a:t>2.32</a:t>
                      </a:r>
                      <a:endParaRPr lang="zh-CN" altLang="en-US" sz="1400" dirty="0"/>
                    </a:p>
                  </a:txBody>
                  <a:tcPr/>
                </a:tc>
                <a:tc>
                  <a:txBody>
                    <a:bodyPr/>
                    <a:lstStyle/>
                    <a:p>
                      <a:r>
                        <a:rPr lang="en-US" altLang="zh-CN" sz="1400" dirty="0" smtClean="0"/>
                        <a:t>2.67</a:t>
                      </a:r>
                      <a:endParaRPr lang="zh-CN" altLang="en-US" sz="1400" dirty="0"/>
                    </a:p>
                  </a:txBody>
                  <a:tcPr/>
                </a:tc>
                <a:tc>
                  <a:txBody>
                    <a:bodyPr/>
                    <a:lstStyle/>
                    <a:p>
                      <a:r>
                        <a:rPr lang="en-US" altLang="zh-CN" sz="1400" dirty="0" smtClean="0"/>
                        <a:t>3.09</a:t>
                      </a:r>
                      <a:endParaRPr lang="zh-CN" altLang="en-US" sz="1400" dirty="0"/>
                    </a:p>
                  </a:txBody>
                  <a:tcPr/>
                </a:tc>
                <a:tc>
                  <a:txBody>
                    <a:bodyPr/>
                    <a:lstStyle/>
                    <a:p>
                      <a:r>
                        <a:rPr lang="en-US" altLang="zh-CN" sz="1400" dirty="0" smtClean="0"/>
                        <a:t>3.57</a:t>
                      </a:r>
                      <a:endParaRPr lang="zh-CN" altLang="en-US" sz="1400" dirty="0"/>
                    </a:p>
                  </a:txBody>
                  <a:tcPr/>
                </a:tc>
                <a:tc>
                  <a:txBody>
                    <a:bodyPr/>
                    <a:lstStyle/>
                    <a:p>
                      <a:r>
                        <a:rPr lang="en-US" altLang="zh-CN" sz="1400" dirty="0" smtClean="0"/>
                        <a:t>4.12</a:t>
                      </a:r>
                      <a:endParaRPr lang="zh-CN" altLang="en-US" sz="1400" dirty="0"/>
                    </a:p>
                  </a:txBody>
                  <a:tcPr/>
                </a:tc>
                <a:tc>
                  <a:txBody>
                    <a:bodyPr/>
                    <a:lstStyle/>
                    <a:p>
                      <a:r>
                        <a:rPr lang="en-US" altLang="zh-CN" sz="1400" dirty="0" smtClean="0"/>
                        <a:t>4.75</a:t>
                      </a:r>
                      <a:endParaRPr lang="zh-CN" altLang="en-US" sz="1400" dirty="0"/>
                    </a:p>
                  </a:txBody>
                  <a:tcPr/>
                </a:tc>
                <a:tc>
                  <a:txBody>
                    <a:bodyPr/>
                    <a:lstStyle/>
                    <a:p>
                      <a:r>
                        <a:rPr lang="en-US" altLang="zh-CN" sz="1400" dirty="0" smtClean="0"/>
                        <a:t>5.49</a:t>
                      </a:r>
                      <a:endParaRPr lang="zh-CN" altLang="en-US" sz="1400" dirty="0"/>
                    </a:p>
                  </a:txBody>
                  <a:tcPr/>
                </a:tc>
                <a:tc>
                  <a:txBody>
                    <a:bodyPr/>
                    <a:lstStyle/>
                    <a:p>
                      <a:r>
                        <a:rPr lang="en-US" altLang="zh-CN" sz="1400" dirty="0" smtClean="0"/>
                        <a:t>6.34</a:t>
                      </a:r>
                      <a:endParaRPr lang="zh-CN" altLang="en-US" sz="1400" dirty="0"/>
                    </a:p>
                  </a:txBody>
                  <a:tcPr/>
                </a:tc>
                <a:tc>
                  <a:txBody>
                    <a:bodyPr/>
                    <a:lstStyle/>
                    <a:p>
                      <a:r>
                        <a:rPr lang="en-US" altLang="zh-CN" sz="1400" dirty="0" smtClean="0"/>
                        <a:t>7.32</a:t>
                      </a:r>
                      <a:endParaRPr lang="zh-CN" altLang="en-US" sz="1400" dirty="0"/>
                    </a:p>
                  </a:txBody>
                  <a:tcPr/>
                </a:tc>
                <a:tc>
                  <a:txBody>
                    <a:bodyPr/>
                    <a:lstStyle/>
                    <a:p>
                      <a:r>
                        <a:rPr lang="en-US" altLang="zh-CN" sz="1400" dirty="0" smtClean="0"/>
                        <a:t>8.45</a:t>
                      </a:r>
                      <a:endParaRPr lang="zh-CN" altLang="en-US" sz="1400" dirty="0"/>
                    </a:p>
                  </a:txBody>
                  <a:tcPr/>
                </a:tc>
                <a:tc>
                  <a:txBody>
                    <a:bodyPr/>
                    <a:lstStyle/>
                    <a:p>
                      <a:r>
                        <a:rPr lang="en-US" altLang="zh-CN" sz="1400" dirty="0" smtClean="0"/>
                        <a:t>9.76</a:t>
                      </a:r>
                      <a:endParaRPr lang="zh-CN" altLang="en-US" sz="1400" dirty="0"/>
                    </a:p>
                  </a:txBody>
                  <a:tcPr/>
                </a:tc>
                <a:extLst>
                  <a:ext uri="{0D108BD9-81ED-4DB2-BD59-A6C34878D82A}">
                    <a16:rowId xmlns:a16="http://schemas.microsoft.com/office/drawing/2014/main" val="539875931"/>
                  </a:ext>
                </a:extLst>
              </a:tr>
              <a:tr h="303081">
                <a:tc>
                  <a:txBody>
                    <a:bodyPr/>
                    <a:lstStyle/>
                    <a:p>
                      <a:r>
                        <a:rPr lang="en-US" altLang="zh-CN" sz="1400" dirty="0" smtClean="0"/>
                        <a:t>1.14</a:t>
                      </a:r>
                      <a:endParaRPr lang="zh-CN" altLang="en-US" sz="1400" dirty="0"/>
                    </a:p>
                  </a:txBody>
                  <a:tcPr/>
                </a:tc>
                <a:tc>
                  <a:txBody>
                    <a:bodyPr/>
                    <a:lstStyle/>
                    <a:p>
                      <a:r>
                        <a:rPr lang="en-US" altLang="zh-CN" sz="1400" dirty="0" smtClean="0"/>
                        <a:t>1.32</a:t>
                      </a:r>
                      <a:endParaRPr lang="zh-CN" altLang="en-US" sz="1400" dirty="0"/>
                    </a:p>
                  </a:txBody>
                  <a:tcPr/>
                </a:tc>
                <a:tc>
                  <a:txBody>
                    <a:bodyPr/>
                    <a:lstStyle/>
                    <a:p>
                      <a:r>
                        <a:rPr lang="en-US" altLang="zh-CN" sz="1400" dirty="0" smtClean="0"/>
                        <a:t>1.52</a:t>
                      </a:r>
                      <a:endParaRPr lang="zh-CN" altLang="en-US" sz="1400" dirty="0"/>
                    </a:p>
                  </a:txBody>
                  <a:tcPr/>
                </a:tc>
                <a:tc>
                  <a:txBody>
                    <a:bodyPr/>
                    <a:lstStyle/>
                    <a:p>
                      <a:r>
                        <a:rPr lang="en-US" altLang="zh-CN" sz="1400" dirty="0" smtClean="0"/>
                        <a:t>1.76</a:t>
                      </a:r>
                      <a:endParaRPr lang="zh-CN" altLang="en-US" sz="1400" dirty="0"/>
                    </a:p>
                  </a:txBody>
                  <a:tcPr/>
                </a:tc>
                <a:tc>
                  <a:txBody>
                    <a:bodyPr/>
                    <a:lstStyle/>
                    <a:p>
                      <a:r>
                        <a:rPr lang="en-US" altLang="zh-CN" sz="1400" dirty="0" smtClean="0"/>
                        <a:t>2.03</a:t>
                      </a:r>
                      <a:endParaRPr lang="zh-CN" altLang="en-US" sz="1400" dirty="0"/>
                    </a:p>
                  </a:txBody>
                  <a:tcPr/>
                </a:tc>
                <a:tc>
                  <a:txBody>
                    <a:bodyPr/>
                    <a:lstStyle/>
                    <a:p>
                      <a:r>
                        <a:rPr lang="en-US" altLang="zh-CN" sz="1400" dirty="0" smtClean="0"/>
                        <a:t>2.34</a:t>
                      </a:r>
                      <a:endParaRPr lang="zh-CN" altLang="en-US" sz="1400" dirty="0"/>
                    </a:p>
                  </a:txBody>
                  <a:tcPr/>
                </a:tc>
                <a:tc>
                  <a:txBody>
                    <a:bodyPr/>
                    <a:lstStyle/>
                    <a:p>
                      <a:r>
                        <a:rPr lang="en-US" altLang="zh-CN" sz="1400" dirty="0" smtClean="0"/>
                        <a:t>2.71</a:t>
                      </a:r>
                      <a:endParaRPr lang="zh-CN" altLang="en-US" sz="1400" dirty="0"/>
                    </a:p>
                  </a:txBody>
                  <a:tcPr/>
                </a:tc>
                <a:tc>
                  <a:txBody>
                    <a:bodyPr/>
                    <a:lstStyle/>
                    <a:p>
                      <a:r>
                        <a:rPr lang="en-US" altLang="zh-CN" sz="1400" dirty="0" smtClean="0"/>
                        <a:t>3.12</a:t>
                      </a:r>
                      <a:endParaRPr lang="zh-CN" altLang="en-US" sz="1400" dirty="0"/>
                    </a:p>
                  </a:txBody>
                  <a:tcPr/>
                </a:tc>
                <a:tc>
                  <a:txBody>
                    <a:bodyPr/>
                    <a:lstStyle/>
                    <a:p>
                      <a:r>
                        <a:rPr lang="en-US" altLang="zh-CN" sz="1400" dirty="0" smtClean="0"/>
                        <a:t>3.61</a:t>
                      </a:r>
                      <a:endParaRPr lang="zh-CN" altLang="en-US" sz="1400" dirty="0"/>
                    </a:p>
                  </a:txBody>
                  <a:tcPr/>
                </a:tc>
                <a:tc>
                  <a:txBody>
                    <a:bodyPr/>
                    <a:lstStyle/>
                    <a:p>
                      <a:r>
                        <a:rPr lang="en-US" altLang="zh-CN" sz="1400" dirty="0" smtClean="0"/>
                        <a:t>4.17</a:t>
                      </a:r>
                      <a:endParaRPr lang="zh-CN" altLang="en-US" sz="1400" dirty="0"/>
                    </a:p>
                  </a:txBody>
                  <a:tcPr/>
                </a:tc>
                <a:tc>
                  <a:txBody>
                    <a:bodyPr/>
                    <a:lstStyle/>
                    <a:p>
                      <a:r>
                        <a:rPr lang="en-US" altLang="zh-CN" sz="1400" dirty="0" smtClean="0"/>
                        <a:t>4.81</a:t>
                      </a:r>
                      <a:endParaRPr lang="zh-CN" altLang="en-US" sz="1400" dirty="0"/>
                    </a:p>
                  </a:txBody>
                  <a:tcPr/>
                </a:tc>
                <a:tc>
                  <a:txBody>
                    <a:bodyPr/>
                    <a:lstStyle/>
                    <a:p>
                      <a:r>
                        <a:rPr lang="en-US" altLang="zh-CN" sz="1400" dirty="0" smtClean="0"/>
                        <a:t>5.56</a:t>
                      </a:r>
                      <a:endParaRPr lang="zh-CN" altLang="en-US" sz="1400" dirty="0"/>
                    </a:p>
                  </a:txBody>
                  <a:tcPr/>
                </a:tc>
                <a:tc>
                  <a:txBody>
                    <a:bodyPr/>
                    <a:lstStyle/>
                    <a:p>
                      <a:r>
                        <a:rPr lang="en-US" altLang="zh-CN" sz="1400" dirty="0" smtClean="0"/>
                        <a:t>6.42</a:t>
                      </a:r>
                      <a:endParaRPr lang="zh-CN" altLang="en-US" sz="1400" dirty="0"/>
                    </a:p>
                  </a:txBody>
                  <a:tcPr/>
                </a:tc>
                <a:tc>
                  <a:txBody>
                    <a:bodyPr/>
                    <a:lstStyle/>
                    <a:p>
                      <a:r>
                        <a:rPr lang="en-US" altLang="zh-CN" sz="1400" dirty="0" smtClean="0"/>
                        <a:t>7.41</a:t>
                      </a:r>
                      <a:endParaRPr lang="zh-CN" altLang="en-US" sz="1400" dirty="0"/>
                    </a:p>
                  </a:txBody>
                  <a:tcPr/>
                </a:tc>
                <a:tc>
                  <a:txBody>
                    <a:bodyPr/>
                    <a:lstStyle/>
                    <a:p>
                      <a:r>
                        <a:rPr lang="en-US" altLang="zh-CN" sz="1400" dirty="0" smtClean="0"/>
                        <a:t>8.56</a:t>
                      </a:r>
                      <a:endParaRPr lang="zh-CN" altLang="en-US" sz="1400" dirty="0"/>
                    </a:p>
                  </a:txBody>
                  <a:tcPr/>
                </a:tc>
                <a:tc>
                  <a:txBody>
                    <a:bodyPr/>
                    <a:lstStyle/>
                    <a:p>
                      <a:r>
                        <a:rPr lang="en-US" altLang="zh-CN" sz="1400" dirty="0" smtClean="0"/>
                        <a:t>9.88</a:t>
                      </a:r>
                      <a:endParaRPr lang="zh-CN" altLang="en-US" sz="1400" dirty="0"/>
                    </a:p>
                  </a:txBody>
                  <a:tcPr/>
                </a:tc>
                <a:extLst>
                  <a:ext uri="{0D108BD9-81ED-4DB2-BD59-A6C34878D82A}">
                    <a16:rowId xmlns:a16="http://schemas.microsoft.com/office/drawing/2014/main" val="3424356478"/>
                  </a:ext>
                </a:extLst>
              </a:tr>
            </a:tbl>
          </a:graphicData>
        </a:graphic>
      </p:graphicFrame>
      <p:sp>
        <p:nvSpPr>
          <p:cNvPr id="9" name="文本框 8"/>
          <p:cNvSpPr txBox="1"/>
          <p:nvPr/>
        </p:nvSpPr>
        <p:spPr>
          <a:xfrm>
            <a:off x="468313" y="1189529"/>
            <a:ext cx="2662908" cy="400110"/>
          </a:xfrm>
          <a:prstGeom prst="rect">
            <a:avLst/>
          </a:prstGeom>
          <a:noFill/>
        </p:spPr>
        <p:txBody>
          <a:bodyPr wrap="none" rtlCol="0">
            <a:spAutoFit/>
          </a:bodyPr>
          <a:lstStyle/>
          <a:p>
            <a:r>
              <a:rPr lang="en-US" altLang="zh-CN" b="1" dirty="0" smtClean="0">
                <a:latin typeface="+mn-lt"/>
              </a:rPr>
              <a:t>E96(1%),  E192(0.5%)</a:t>
            </a:r>
            <a:endParaRPr lang="zh-CN" altLang="en-US" b="1" dirty="0">
              <a:latin typeface="+mn-lt"/>
            </a:endParaRPr>
          </a:p>
        </p:txBody>
      </p:sp>
      <p:sp>
        <p:nvSpPr>
          <p:cNvPr id="10" name="矩形 9"/>
          <p:cNvSpPr/>
          <p:nvPr/>
        </p:nvSpPr>
        <p:spPr>
          <a:xfrm>
            <a:off x="687482" y="5491803"/>
            <a:ext cx="3376245" cy="400110"/>
          </a:xfrm>
          <a:prstGeom prst="rect">
            <a:avLst/>
          </a:prstGeom>
        </p:spPr>
        <p:txBody>
          <a:bodyPr wrap="none">
            <a:spAutoFit/>
          </a:bodyPr>
          <a:lstStyle/>
          <a:p>
            <a:r>
              <a:rPr lang="en-US" altLang="zh-CN" dirty="0" smtClean="0"/>
              <a:t>* E96</a:t>
            </a:r>
            <a:r>
              <a:rPr lang="zh-CN" altLang="en-US" dirty="0" smtClean="0"/>
              <a:t>仅</a:t>
            </a:r>
            <a:r>
              <a:rPr lang="zh-CN" altLang="en-US" dirty="0"/>
              <a:t>有</a:t>
            </a:r>
            <a:r>
              <a:rPr lang="zh-CN" altLang="en-US" dirty="0" smtClean="0"/>
              <a:t>深色</a:t>
            </a:r>
            <a:r>
              <a:rPr lang="zh-CN" altLang="en-US" dirty="0"/>
              <a:t>格</a:t>
            </a:r>
            <a:r>
              <a:rPr lang="zh-CN" altLang="en-US" dirty="0" smtClean="0"/>
              <a:t>内的标称值</a:t>
            </a:r>
            <a:endParaRPr lang="zh-CN" altLang="en-US" dirty="0"/>
          </a:p>
        </p:txBody>
      </p:sp>
    </p:spTree>
    <p:extLst>
      <p:ext uri="{BB962C8B-B14F-4D97-AF65-F5344CB8AC3E}">
        <p14:creationId xmlns:p14="http://schemas.microsoft.com/office/powerpoint/2010/main" val="37284956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矩形 4"/>
          <p:cNvSpPr/>
          <p:nvPr/>
        </p:nvSpPr>
        <p:spPr>
          <a:xfrm>
            <a:off x="468313" y="697617"/>
            <a:ext cx="4572000" cy="400110"/>
          </a:xfrm>
          <a:prstGeom prst="rect">
            <a:avLst/>
          </a:prstGeom>
        </p:spPr>
        <p:txBody>
          <a:bodyPr>
            <a:spAutoFit/>
          </a:bodyPr>
          <a:lstStyle/>
          <a:p>
            <a:r>
              <a:rPr lang="zh-CN" altLang="en-US" kern="100" dirty="0" smtClean="0">
                <a:latin typeface="黑体" panose="02010609060101010101" pitchFamily="49" charset="-122"/>
                <a:ea typeface="黑体" panose="02010609060101010101" pitchFamily="49" charset="-122"/>
                <a:cs typeface="Times New Roman" panose="02020603050405020304" pitchFamily="18" charset="0"/>
              </a:rPr>
              <a:t>贴片</a:t>
            </a:r>
            <a:r>
              <a:rPr lang="zh-CN" altLang="zh-CN" kern="100" dirty="0" smtClean="0">
                <a:latin typeface="黑体" panose="02010609060101010101" pitchFamily="49" charset="-122"/>
                <a:ea typeface="黑体" panose="02010609060101010101" pitchFamily="49" charset="-122"/>
                <a:cs typeface="Times New Roman" panose="02020603050405020304" pitchFamily="18" charset="0"/>
              </a:rPr>
              <a:t>电阻</a:t>
            </a:r>
            <a:r>
              <a:rPr lang="zh-CN" altLang="zh-CN" kern="100" dirty="0">
                <a:latin typeface="黑体" panose="02010609060101010101" pitchFamily="49" charset="-122"/>
                <a:ea typeface="黑体" panose="02010609060101010101" pitchFamily="49" charset="-122"/>
                <a:cs typeface="Times New Roman" panose="02020603050405020304" pitchFamily="18" charset="0"/>
              </a:rPr>
              <a:t>的功耗</a:t>
            </a:r>
            <a:r>
              <a:rPr lang="zh-CN" altLang="zh-CN" kern="100" dirty="0" smtClean="0">
                <a:latin typeface="黑体" panose="02010609060101010101" pitchFamily="49" charset="-122"/>
                <a:ea typeface="黑体" panose="02010609060101010101" pitchFamily="49" charset="-122"/>
                <a:cs typeface="Times New Roman" panose="02020603050405020304" pitchFamily="18" charset="0"/>
              </a:rPr>
              <a:t>限制</a:t>
            </a:r>
            <a:endParaRPr lang="zh-CN" altLang="en-US" dirty="0">
              <a:latin typeface="黑体" panose="02010609060101010101" pitchFamily="49" charset="-122"/>
              <a:ea typeface="黑体" panose="02010609060101010101" pitchFamily="49"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353398626"/>
              </p:ext>
            </p:extLst>
          </p:nvPr>
        </p:nvGraphicFramePr>
        <p:xfrm>
          <a:off x="970318" y="1389000"/>
          <a:ext cx="7154027" cy="3352800"/>
        </p:xfrm>
        <a:graphic>
          <a:graphicData uri="http://schemas.openxmlformats.org/drawingml/2006/table">
            <a:tbl>
              <a:tblPr firstRow="1" firstCol="1" bandRow="1">
                <a:tableStyleId>{5C22544A-7EE6-4342-B048-85BDC9FD1C3A}</a:tableStyleId>
              </a:tblPr>
              <a:tblGrid>
                <a:gridCol w="1059714">
                  <a:extLst>
                    <a:ext uri="{9D8B030D-6E8A-4147-A177-3AD203B41FA5}">
                      <a16:colId xmlns:a16="http://schemas.microsoft.com/office/drawing/2014/main" val="527000749"/>
                    </a:ext>
                  </a:extLst>
                </a:gridCol>
                <a:gridCol w="970581">
                  <a:extLst>
                    <a:ext uri="{9D8B030D-6E8A-4147-A177-3AD203B41FA5}">
                      <a16:colId xmlns:a16="http://schemas.microsoft.com/office/drawing/2014/main" val="2474886730"/>
                    </a:ext>
                  </a:extLst>
                </a:gridCol>
                <a:gridCol w="1690262">
                  <a:extLst>
                    <a:ext uri="{9D8B030D-6E8A-4147-A177-3AD203B41FA5}">
                      <a16:colId xmlns:a16="http://schemas.microsoft.com/office/drawing/2014/main" val="1276104181"/>
                    </a:ext>
                  </a:extLst>
                </a:gridCol>
                <a:gridCol w="1538886">
                  <a:extLst>
                    <a:ext uri="{9D8B030D-6E8A-4147-A177-3AD203B41FA5}">
                      <a16:colId xmlns:a16="http://schemas.microsoft.com/office/drawing/2014/main" val="1009216821"/>
                    </a:ext>
                  </a:extLst>
                </a:gridCol>
                <a:gridCol w="1894584">
                  <a:extLst>
                    <a:ext uri="{9D8B030D-6E8A-4147-A177-3AD203B41FA5}">
                      <a16:colId xmlns:a16="http://schemas.microsoft.com/office/drawing/2014/main" val="1225418085"/>
                    </a:ext>
                  </a:extLst>
                </a:gridCol>
              </a:tblGrid>
              <a:tr h="0">
                <a:tc>
                  <a:txBody>
                    <a:bodyPr/>
                    <a:lstStyle/>
                    <a:p>
                      <a:pPr>
                        <a:spcAft>
                          <a:spcPts val="0"/>
                        </a:spcAft>
                      </a:pPr>
                      <a:r>
                        <a:rPr lang="zh-CN" sz="2000" dirty="0">
                          <a:effectLst/>
                        </a:rPr>
                        <a:t>英制</a:t>
                      </a:r>
                      <a:r>
                        <a:rPr lang="en-US" sz="2000" dirty="0">
                          <a:effectLst/>
                        </a:rPr>
                        <a:t>(mil)</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zh-CN" sz="2000">
                          <a:effectLst/>
                        </a:rPr>
                        <a:t>公制</a:t>
                      </a:r>
                      <a:r>
                        <a:rPr lang="en-US" sz="2000">
                          <a:effectLst/>
                        </a:rPr>
                        <a:t>(mm)</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zh-CN" sz="2000">
                          <a:effectLst/>
                        </a:rPr>
                        <a:t>额定功率</a:t>
                      </a:r>
                      <a:r>
                        <a:rPr lang="en-US" sz="2000">
                          <a:effectLst/>
                        </a:rPr>
                        <a:t>@70°C</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zh-CN" sz="2000">
                          <a:effectLst/>
                        </a:rPr>
                        <a:t>额定功率（增强系列）</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zh-CN" sz="2000">
                          <a:effectLst/>
                        </a:rPr>
                        <a:t>最大工作电压</a:t>
                      </a:r>
                      <a:r>
                        <a:rPr lang="en-US" sz="2000">
                          <a:effectLst/>
                        </a:rPr>
                        <a:t>(V)</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925489958"/>
                  </a:ext>
                </a:extLst>
              </a:tr>
              <a:tr h="0">
                <a:tc>
                  <a:txBody>
                    <a:bodyPr/>
                    <a:lstStyle/>
                    <a:p>
                      <a:pPr marL="0" algn="l" defTabSz="914400" rtl="0" eaLnBrk="1" latinLnBrk="0" hangingPunct="1">
                        <a:spcAft>
                          <a:spcPts val="0"/>
                        </a:spcAft>
                      </a:pPr>
                      <a:r>
                        <a:rPr lang="en-US" sz="2000" kern="1200" dirty="0">
                          <a:solidFill>
                            <a:schemeClr val="dk1"/>
                          </a:solidFill>
                          <a:effectLst/>
                          <a:latin typeface="+mn-lt"/>
                          <a:ea typeface="+mn-ea"/>
                          <a:cs typeface="+mn-cs"/>
                        </a:rPr>
                        <a:t>0201</a:t>
                      </a:r>
                      <a:endParaRPr lang="zh-CN" sz="20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2000" dirty="0">
                          <a:effectLst/>
                        </a:rPr>
                        <a:t>0603</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1/20W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 </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25</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761251763"/>
                  </a:ext>
                </a:extLst>
              </a:tr>
              <a:tr h="0">
                <a:tc>
                  <a:txBody>
                    <a:bodyPr/>
                    <a:lstStyle/>
                    <a:p>
                      <a:pPr marL="0" algn="l" defTabSz="914400" rtl="0" eaLnBrk="1" latinLnBrk="0" hangingPunct="1">
                        <a:spcAft>
                          <a:spcPts val="0"/>
                        </a:spcAft>
                      </a:pPr>
                      <a:r>
                        <a:rPr lang="en-US" sz="2000" kern="1200" dirty="0">
                          <a:solidFill>
                            <a:schemeClr val="dk1"/>
                          </a:solidFill>
                          <a:effectLst/>
                          <a:latin typeface="+mn-lt"/>
                          <a:ea typeface="+mn-ea"/>
                          <a:cs typeface="+mn-cs"/>
                        </a:rPr>
                        <a:t>0402</a:t>
                      </a:r>
                      <a:endParaRPr lang="zh-CN" sz="20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2000" dirty="0">
                          <a:effectLst/>
                        </a:rPr>
                        <a:t>1005</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1/16W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 </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50</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22268691"/>
                  </a:ext>
                </a:extLst>
              </a:tr>
              <a:tr h="0">
                <a:tc>
                  <a:txBody>
                    <a:bodyPr/>
                    <a:lstStyle/>
                    <a:p>
                      <a:pPr marL="0" algn="l" defTabSz="914400" rtl="0" eaLnBrk="1" latinLnBrk="0" hangingPunct="1">
                        <a:spcAft>
                          <a:spcPts val="0"/>
                        </a:spcAft>
                      </a:pPr>
                      <a:r>
                        <a:rPr lang="en-US" sz="2000" kern="1200" dirty="0">
                          <a:solidFill>
                            <a:schemeClr val="dk1"/>
                          </a:solidFill>
                          <a:effectLst/>
                          <a:latin typeface="+mn-lt"/>
                          <a:ea typeface="+mn-ea"/>
                          <a:cs typeface="+mn-cs"/>
                        </a:rPr>
                        <a:t>0603</a:t>
                      </a:r>
                      <a:endParaRPr lang="zh-CN" sz="20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2000" dirty="0">
                          <a:effectLst/>
                        </a:rPr>
                        <a:t>1608</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1/16W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1/10W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50</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444178951"/>
                  </a:ext>
                </a:extLst>
              </a:tr>
              <a:tr h="0">
                <a:tc>
                  <a:txBody>
                    <a:bodyPr/>
                    <a:lstStyle/>
                    <a:p>
                      <a:pPr marL="0" algn="l" defTabSz="914400" rtl="0" eaLnBrk="1" latinLnBrk="0" hangingPunct="1">
                        <a:spcAft>
                          <a:spcPts val="0"/>
                        </a:spcAft>
                      </a:pPr>
                      <a:r>
                        <a:rPr lang="en-US" sz="2000" kern="1200" dirty="0">
                          <a:solidFill>
                            <a:schemeClr val="dk1"/>
                          </a:solidFill>
                          <a:effectLst/>
                          <a:latin typeface="+mn-lt"/>
                          <a:ea typeface="+mn-ea"/>
                          <a:cs typeface="+mn-cs"/>
                        </a:rPr>
                        <a:t>0805</a:t>
                      </a:r>
                      <a:endParaRPr lang="zh-CN" sz="20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2000" dirty="0">
                          <a:effectLst/>
                        </a:rPr>
                        <a:t>2012</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1/10W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1/8W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150</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100541306"/>
                  </a:ext>
                </a:extLst>
              </a:tr>
              <a:tr h="0">
                <a:tc>
                  <a:txBody>
                    <a:bodyPr/>
                    <a:lstStyle/>
                    <a:p>
                      <a:pPr marL="0" algn="l" defTabSz="914400" rtl="0" eaLnBrk="1" latinLnBrk="0" hangingPunct="1">
                        <a:spcAft>
                          <a:spcPts val="0"/>
                        </a:spcAft>
                      </a:pPr>
                      <a:r>
                        <a:rPr lang="en-US" sz="2000" kern="1200" dirty="0">
                          <a:solidFill>
                            <a:schemeClr val="dk1"/>
                          </a:solidFill>
                          <a:effectLst/>
                          <a:latin typeface="+mn-lt"/>
                          <a:ea typeface="+mn-ea"/>
                          <a:cs typeface="+mn-cs"/>
                        </a:rPr>
                        <a:t>1206</a:t>
                      </a:r>
                      <a:endParaRPr lang="zh-CN" sz="20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2000" dirty="0">
                          <a:effectLst/>
                        </a:rPr>
                        <a:t>3216</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1/8W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1/4W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200</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222251259"/>
                  </a:ext>
                </a:extLst>
              </a:tr>
              <a:tr h="0">
                <a:tc>
                  <a:txBody>
                    <a:bodyPr/>
                    <a:lstStyle/>
                    <a:p>
                      <a:pPr marL="0" algn="l" defTabSz="914400" rtl="0" eaLnBrk="1" latinLnBrk="0" hangingPunct="1">
                        <a:spcAft>
                          <a:spcPts val="0"/>
                        </a:spcAft>
                      </a:pPr>
                      <a:r>
                        <a:rPr lang="en-US" sz="2000" kern="1200" dirty="0">
                          <a:solidFill>
                            <a:schemeClr val="dk1"/>
                          </a:solidFill>
                          <a:effectLst/>
                          <a:latin typeface="+mn-lt"/>
                          <a:ea typeface="+mn-ea"/>
                          <a:cs typeface="+mn-cs"/>
                        </a:rPr>
                        <a:t>1210</a:t>
                      </a:r>
                      <a:endParaRPr lang="zh-CN" sz="20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2000" dirty="0">
                          <a:effectLst/>
                        </a:rPr>
                        <a:t>3225</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dirty="0">
                          <a:effectLst/>
                        </a:rPr>
                        <a:t>1/4W</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1/3W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200</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599067382"/>
                  </a:ext>
                </a:extLst>
              </a:tr>
              <a:tr h="0">
                <a:tc>
                  <a:txBody>
                    <a:bodyPr/>
                    <a:lstStyle/>
                    <a:p>
                      <a:pPr marL="0" algn="l" defTabSz="914400" rtl="0" eaLnBrk="1" latinLnBrk="0" hangingPunct="1">
                        <a:spcAft>
                          <a:spcPts val="0"/>
                        </a:spcAft>
                      </a:pPr>
                      <a:r>
                        <a:rPr lang="en-US" sz="2000" kern="1200" dirty="0">
                          <a:solidFill>
                            <a:schemeClr val="dk1"/>
                          </a:solidFill>
                          <a:effectLst/>
                          <a:latin typeface="+mn-lt"/>
                          <a:ea typeface="+mn-ea"/>
                          <a:cs typeface="+mn-cs"/>
                        </a:rPr>
                        <a:t>1812</a:t>
                      </a:r>
                      <a:endParaRPr lang="zh-CN" sz="20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2000" dirty="0">
                          <a:effectLst/>
                        </a:rPr>
                        <a:t>4832</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dirty="0">
                          <a:effectLst/>
                        </a:rPr>
                        <a:t>1/2W</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 </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200</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47936816"/>
                  </a:ext>
                </a:extLst>
              </a:tr>
              <a:tr h="0">
                <a:tc>
                  <a:txBody>
                    <a:bodyPr/>
                    <a:lstStyle/>
                    <a:p>
                      <a:pPr marL="0" algn="l" defTabSz="914400" rtl="0" eaLnBrk="1" latinLnBrk="0" hangingPunct="1">
                        <a:spcAft>
                          <a:spcPts val="0"/>
                        </a:spcAft>
                      </a:pPr>
                      <a:r>
                        <a:rPr lang="en-US" sz="2000" kern="1200" dirty="0">
                          <a:solidFill>
                            <a:schemeClr val="dk1"/>
                          </a:solidFill>
                          <a:effectLst/>
                          <a:latin typeface="+mn-lt"/>
                          <a:ea typeface="+mn-ea"/>
                          <a:cs typeface="+mn-cs"/>
                        </a:rPr>
                        <a:t>2010</a:t>
                      </a:r>
                      <a:endParaRPr lang="zh-CN" sz="20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2000" dirty="0">
                          <a:effectLst/>
                        </a:rPr>
                        <a:t>5025</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dirty="0">
                          <a:effectLst/>
                        </a:rPr>
                        <a:t>1/2W</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dirty="0">
                          <a:effectLst/>
                        </a:rPr>
                        <a:t>3/4W</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200</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743531990"/>
                  </a:ext>
                </a:extLst>
              </a:tr>
              <a:tr h="0">
                <a:tc>
                  <a:txBody>
                    <a:bodyPr/>
                    <a:lstStyle/>
                    <a:p>
                      <a:pPr marL="0" algn="l" defTabSz="914400" rtl="0" eaLnBrk="1" latinLnBrk="0" hangingPunct="1">
                        <a:spcAft>
                          <a:spcPts val="0"/>
                        </a:spcAft>
                      </a:pPr>
                      <a:r>
                        <a:rPr lang="en-US" sz="2000" kern="1200" dirty="0">
                          <a:solidFill>
                            <a:schemeClr val="dk1"/>
                          </a:solidFill>
                          <a:effectLst/>
                          <a:latin typeface="+mn-lt"/>
                          <a:ea typeface="+mn-ea"/>
                          <a:cs typeface="+mn-cs"/>
                        </a:rPr>
                        <a:t>2512</a:t>
                      </a:r>
                      <a:endParaRPr lang="zh-CN" sz="2000" kern="1200" dirty="0">
                        <a:solidFill>
                          <a:schemeClr val="dk1"/>
                        </a:solidFill>
                        <a:effectLst/>
                        <a:latin typeface="+mn-lt"/>
                        <a:ea typeface="+mn-ea"/>
                        <a:cs typeface="+mn-cs"/>
                      </a:endParaRPr>
                    </a:p>
                  </a:txBody>
                  <a:tcPr marL="68580" marR="68580" marT="0" marB="0"/>
                </a:tc>
                <a:tc>
                  <a:txBody>
                    <a:bodyPr/>
                    <a:lstStyle/>
                    <a:p>
                      <a:pPr>
                        <a:spcAft>
                          <a:spcPts val="0"/>
                        </a:spcAft>
                      </a:pPr>
                      <a:r>
                        <a:rPr lang="en-US" sz="2000" dirty="0">
                          <a:effectLst/>
                        </a:rPr>
                        <a:t>6432</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a:effectLst/>
                        </a:rPr>
                        <a:t>1W</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dirty="0">
                          <a:effectLst/>
                        </a:rPr>
                        <a:t> </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spcAft>
                          <a:spcPts val="0"/>
                        </a:spcAft>
                      </a:pPr>
                      <a:r>
                        <a:rPr lang="en-US" sz="2000" dirty="0">
                          <a:effectLst/>
                        </a:rPr>
                        <a:t>200</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862659964"/>
                  </a:ext>
                </a:extLst>
              </a:tr>
            </a:tbl>
          </a:graphicData>
        </a:graphic>
      </p:graphicFrame>
    </p:spTree>
    <p:extLst>
      <p:ext uri="{BB962C8B-B14F-4D97-AF65-F5344CB8AC3E}">
        <p14:creationId xmlns:p14="http://schemas.microsoft.com/office/powerpoint/2010/main" val="1909639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文本框 4"/>
          <p:cNvSpPr txBox="1"/>
          <p:nvPr/>
        </p:nvSpPr>
        <p:spPr>
          <a:xfrm>
            <a:off x="468313" y="585479"/>
            <a:ext cx="8254668" cy="4708981"/>
          </a:xfrm>
          <a:prstGeom prst="rect">
            <a:avLst/>
          </a:prstGeom>
          <a:noFill/>
        </p:spPr>
        <p:txBody>
          <a:bodyPr wrap="square" rtlCol="0">
            <a:spAutoFit/>
          </a:bodyPr>
          <a:lstStyle/>
          <a:p>
            <a:pPr>
              <a:lnSpc>
                <a:spcPct val="150000"/>
              </a:lnSpc>
            </a:pPr>
            <a:r>
              <a:rPr lang="zh-CN" altLang="en-US" dirty="0" smtClean="0"/>
              <a:t>电容器通常按照介质分类</a:t>
            </a:r>
            <a:endParaRPr lang="en-US" altLang="zh-CN" dirty="0" smtClean="0"/>
          </a:p>
          <a:p>
            <a:pPr marL="342900" indent="-342900">
              <a:lnSpc>
                <a:spcPct val="150000"/>
              </a:lnSpc>
              <a:buFont typeface="Wingdings" panose="05000000000000000000" pitchFamily="2" charset="2"/>
              <a:buChar char="Ø"/>
            </a:pPr>
            <a:r>
              <a:rPr lang="zh-CN" altLang="en-US" dirty="0" smtClean="0"/>
              <a:t>陶瓷介质</a:t>
            </a:r>
            <a:endParaRPr lang="en-US" altLang="zh-CN" dirty="0" smtClean="0"/>
          </a:p>
          <a:p>
            <a:pPr lvl="1">
              <a:lnSpc>
                <a:spcPct val="150000"/>
              </a:lnSpc>
            </a:pPr>
            <a:r>
              <a:rPr lang="en-US" altLang="zh-CN" dirty="0" smtClean="0"/>
              <a:t>NP0</a:t>
            </a:r>
            <a:r>
              <a:rPr lang="zh-CN" altLang="en-US" dirty="0" smtClean="0"/>
              <a:t>，</a:t>
            </a:r>
            <a:r>
              <a:rPr lang="en-US" altLang="zh-CN" dirty="0" smtClean="0"/>
              <a:t>X7R</a:t>
            </a:r>
            <a:r>
              <a:rPr lang="zh-CN" altLang="en-US" dirty="0" smtClean="0"/>
              <a:t>等介质，可以是单层结构（瓷片电容）或多层结构（独石电容）</a:t>
            </a:r>
            <a:endParaRPr lang="en-US" altLang="zh-CN" dirty="0" smtClean="0"/>
          </a:p>
          <a:p>
            <a:pPr marL="342900" indent="-342900">
              <a:lnSpc>
                <a:spcPct val="150000"/>
              </a:lnSpc>
              <a:buFont typeface="Wingdings" panose="05000000000000000000" pitchFamily="2" charset="2"/>
              <a:buChar char="Ø"/>
            </a:pPr>
            <a:r>
              <a:rPr lang="zh-CN" altLang="en-US" dirty="0" smtClean="0"/>
              <a:t>有机薄膜介质</a:t>
            </a:r>
            <a:endParaRPr lang="en-US" altLang="zh-CN" dirty="0" smtClean="0"/>
          </a:p>
          <a:p>
            <a:pPr lvl="1">
              <a:lnSpc>
                <a:spcPct val="150000"/>
              </a:lnSpc>
            </a:pPr>
            <a:r>
              <a:rPr lang="zh-CN" altLang="zh-CN" dirty="0" smtClean="0"/>
              <a:t>聚苯乙烯</a:t>
            </a:r>
            <a:r>
              <a:rPr lang="zh-CN" altLang="en-US" dirty="0" smtClean="0"/>
              <a:t>、</a:t>
            </a:r>
            <a:r>
              <a:rPr lang="zh-CN" altLang="zh-CN" dirty="0" smtClean="0"/>
              <a:t>聚丙烯</a:t>
            </a:r>
            <a:r>
              <a:rPr lang="zh-CN" altLang="en-US" dirty="0" smtClean="0"/>
              <a:t>、</a:t>
            </a:r>
            <a:r>
              <a:rPr lang="zh-CN" altLang="zh-CN" dirty="0" smtClean="0"/>
              <a:t>聚酯</a:t>
            </a:r>
            <a:r>
              <a:rPr lang="zh-CN" altLang="en-US" dirty="0"/>
              <a:t>、</a:t>
            </a:r>
            <a:r>
              <a:rPr lang="zh-CN" altLang="en-US" dirty="0" smtClean="0"/>
              <a:t>涤纶等介质，卷绕结构</a:t>
            </a:r>
            <a:endParaRPr lang="en-US" altLang="zh-CN" dirty="0" smtClean="0"/>
          </a:p>
          <a:p>
            <a:pPr marL="342900" indent="-342900">
              <a:lnSpc>
                <a:spcPct val="150000"/>
              </a:lnSpc>
              <a:buFont typeface="Wingdings" panose="05000000000000000000" pitchFamily="2" charset="2"/>
              <a:buChar char="Ø"/>
            </a:pPr>
            <a:r>
              <a:rPr lang="zh-CN" altLang="en-US" dirty="0" smtClean="0"/>
              <a:t>云母介质</a:t>
            </a:r>
            <a:endParaRPr lang="en-US" altLang="zh-CN" dirty="0" smtClean="0"/>
          </a:p>
          <a:p>
            <a:pPr marL="342900" indent="-342900">
              <a:lnSpc>
                <a:spcPct val="150000"/>
              </a:lnSpc>
              <a:buFont typeface="Wingdings" panose="05000000000000000000" pitchFamily="2" charset="2"/>
              <a:buChar char="Ø"/>
            </a:pPr>
            <a:r>
              <a:rPr lang="zh-CN" altLang="en-US" dirty="0" smtClean="0"/>
              <a:t>玻璃釉电容</a:t>
            </a:r>
            <a:endParaRPr lang="en-US" altLang="zh-CN" dirty="0" smtClean="0"/>
          </a:p>
          <a:p>
            <a:pPr marL="342900" indent="-342900">
              <a:lnSpc>
                <a:spcPct val="150000"/>
              </a:lnSpc>
              <a:buFont typeface="Wingdings" panose="05000000000000000000" pitchFamily="2" charset="2"/>
              <a:buChar char="Ø"/>
            </a:pPr>
            <a:r>
              <a:rPr lang="zh-CN" altLang="en-US" dirty="0" smtClean="0"/>
              <a:t>电解电容</a:t>
            </a:r>
            <a:endParaRPr lang="en-US" altLang="zh-CN" dirty="0" smtClean="0"/>
          </a:p>
          <a:p>
            <a:pPr lvl="1">
              <a:lnSpc>
                <a:spcPct val="150000"/>
              </a:lnSpc>
            </a:pPr>
            <a:r>
              <a:rPr lang="zh-CN" altLang="en-US" dirty="0" smtClean="0"/>
              <a:t>铝电解电容、钽电解电容</a:t>
            </a:r>
            <a:endParaRPr lang="zh-CN" altLang="en-US" dirty="0"/>
          </a:p>
        </p:txBody>
      </p:sp>
    </p:spTree>
    <p:extLst>
      <p:ext uri="{BB962C8B-B14F-4D97-AF65-F5344CB8AC3E}">
        <p14:creationId xmlns:p14="http://schemas.microsoft.com/office/powerpoint/2010/main" val="3419836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矩形 4"/>
          <p:cNvSpPr/>
          <p:nvPr/>
        </p:nvSpPr>
        <p:spPr>
          <a:xfrm>
            <a:off x="468313" y="683062"/>
            <a:ext cx="8202041" cy="4247317"/>
          </a:xfrm>
          <a:prstGeom prst="rect">
            <a:avLst/>
          </a:prstGeom>
        </p:spPr>
        <p:txBody>
          <a:bodyPr wrap="square">
            <a:spAutoFit/>
          </a:bodyPr>
          <a:lstStyle/>
          <a:p>
            <a:pPr algn="just">
              <a:lnSpc>
                <a:spcPct val="150000"/>
              </a:lnSpc>
              <a:spcAft>
                <a:spcPts val="0"/>
              </a:spcAft>
            </a:pPr>
            <a:r>
              <a:rPr lang="zh-CN" altLang="zh-CN" kern="100" dirty="0" smtClean="0">
                <a:latin typeface="+mj-ea"/>
                <a:ea typeface="+mj-ea"/>
              </a:rPr>
              <a:t>电容</a:t>
            </a:r>
            <a:r>
              <a:rPr lang="zh-CN" altLang="en-US" kern="100" dirty="0" smtClean="0">
                <a:latin typeface="+mj-ea"/>
                <a:ea typeface="+mj-ea"/>
              </a:rPr>
              <a:t>器的非理想特性</a:t>
            </a:r>
            <a:endParaRPr lang="en-US" altLang="zh-CN" kern="100" dirty="0" smtClean="0">
              <a:latin typeface="+mj-ea"/>
              <a:ea typeface="+mj-ea"/>
            </a:endParaRPr>
          </a:p>
          <a:p>
            <a:pPr marL="342900" indent="-342900" algn="just">
              <a:lnSpc>
                <a:spcPct val="150000"/>
              </a:lnSpc>
              <a:spcAft>
                <a:spcPts val="0"/>
              </a:spcAft>
              <a:buFont typeface="Wingdings" panose="05000000000000000000" pitchFamily="2" charset="2"/>
              <a:buChar char="Ø"/>
            </a:pPr>
            <a:r>
              <a:rPr lang="zh-CN" altLang="zh-CN" dirty="0">
                <a:latin typeface="+mn-ea"/>
                <a:ea typeface="+mn-ea"/>
                <a:cs typeface="Times New Roman" panose="02020603050405020304" pitchFamily="18" charset="0"/>
              </a:rPr>
              <a:t>等效串联</a:t>
            </a:r>
            <a:r>
              <a:rPr lang="zh-CN" altLang="zh-CN" dirty="0" smtClean="0">
                <a:latin typeface="+mn-ea"/>
                <a:ea typeface="+mn-ea"/>
                <a:cs typeface="Times New Roman" panose="02020603050405020304" pitchFamily="18" charset="0"/>
              </a:rPr>
              <a:t>电感</a:t>
            </a:r>
            <a:r>
              <a:rPr lang="en-US" altLang="zh-CN" dirty="0" smtClean="0">
                <a:latin typeface="+mn-ea"/>
                <a:ea typeface="+mn-ea"/>
                <a:cs typeface="Times New Roman" panose="02020603050405020304" pitchFamily="18" charset="0"/>
              </a:rPr>
              <a:t>(</a:t>
            </a:r>
            <a:r>
              <a:rPr lang="en-US" altLang="zh-CN" dirty="0" smtClean="0">
                <a:latin typeface="+mn-ea"/>
                <a:ea typeface="+mn-ea"/>
              </a:rPr>
              <a:t>ESL)</a:t>
            </a:r>
            <a:r>
              <a:rPr lang="zh-CN" altLang="en-US" dirty="0" smtClean="0">
                <a:latin typeface="+mn-ea"/>
                <a:ea typeface="+mn-ea"/>
                <a:cs typeface="Times New Roman" panose="02020603050405020304" pitchFamily="18" charset="0"/>
              </a:rPr>
              <a:t>，与电容结构有关，与封装形式有关</a:t>
            </a:r>
            <a:endParaRPr lang="en-US" altLang="zh-CN" dirty="0" smtClean="0">
              <a:latin typeface="+mn-ea"/>
              <a:ea typeface="+mn-ea"/>
              <a:cs typeface="Times New Roman" panose="02020603050405020304" pitchFamily="18" charset="0"/>
            </a:endParaRPr>
          </a:p>
          <a:p>
            <a:pPr marL="342900" indent="-342900" algn="just">
              <a:lnSpc>
                <a:spcPct val="150000"/>
              </a:lnSpc>
              <a:spcAft>
                <a:spcPts val="0"/>
              </a:spcAft>
              <a:buFont typeface="Wingdings" panose="05000000000000000000" pitchFamily="2" charset="2"/>
              <a:buChar char="Ø"/>
            </a:pPr>
            <a:r>
              <a:rPr lang="zh-CN" altLang="zh-CN" dirty="0" smtClean="0">
                <a:latin typeface="+mn-ea"/>
                <a:ea typeface="+mn-ea"/>
                <a:cs typeface="Times New Roman" panose="02020603050405020304" pitchFamily="18" charset="0"/>
              </a:rPr>
              <a:t>等效串联电阻</a:t>
            </a:r>
            <a:r>
              <a:rPr lang="en-US" altLang="zh-CN" dirty="0" smtClean="0">
                <a:latin typeface="+mn-ea"/>
                <a:ea typeface="+mn-ea"/>
                <a:cs typeface="Times New Roman" panose="02020603050405020304" pitchFamily="18" charset="0"/>
              </a:rPr>
              <a:t>(</a:t>
            </a:r>
            <a:r>
              <a:rPr lang="en-US" altLang="zh-CN" dirty="0" smtClean="0">
                <a:latin typeface="+mn-ea"/>
                <a:ea typeface="+mn-ea"/>
              </a:rPr>
              <a:t>ESR)</a:t>
            </a:r>
            <a:r>
              <a:rPr lang="zh-CN" altLang="zh-CN" dirty="0" smtClean="0">
                <a:latin typeface="+mn-ea"/>
                <a:ea typeface="+mn-ea"/>
                <a:cs typeface="Times New Roman" panose="02020603050405020304" pitchFamily="18" charset="0"/>
              </a:rPr>
              <a:t>，</a:t>
            </a:r>
            <a:r>
              <a:rPr lang="zh-CN" altLang="en-US" dirty="0" smtClean="0">
                <a:latin typeface="+mn-ea"/>
                <a:ea typeface="+mn-ea"/>
                <a:cs typeface="Times New Roman" panose="02020603050405020304" pitchFamily="18" charset="0"/>
              </a:rPr>
              <a:t>与电容的介质有关。表现为电容的</a:t>
            </a:r>
            <a:r>
              <a:rPr lang="en-US" altLang="zh-CN" dirty="0" smtClean="0">
                <a:latin typeface="+mn-ea"/>
                <a:ea typeface="+mn-ea"/>
                <a:cs typeface="Times New Roman" panose="02020603050405020304" pitchFamily="18" charset="0"/>
              </a:rPr>
              <a:t>Q</a:t>
            </a:r>
            <a:r>
              <a:rPr lang="zh-CN" altLang="en-US" dirty="0" smtClean="0">
                <a:latin typeface="+mn-ea"/>
                <a:ea typeface="+mn-ea"/>
                <a:cs typeface="Times New Roman" panose="02020603050405020304" pitchFamily="18" charset="0"/>
              </a:rPr>
              <a:t>值。云母电容、老式的薄膜电容、</a:t>
            </a:r>
            <a:r>
              <a:rPr lang="en-US" altLang="zh-CN" dirty="0" smtClean="0">
                <a:latin typeface="+mn-ea"/>
                <a:ea typeface="+mn-ea"/>
                <a:cs typeface="Times New Roman" panose="02020603050405020304" pitchFamily="18" charset="0"/>
              </a:rPr>
              <a:t>NP0</a:t>
            </a:r>
            <a:r>
              <a:rPr lang="zh-CN" altLang="en-US" dirty="0" smtClean="0">
                <a:latin typeface="+mn-ea"/>
                <a:ea typeface="+mn-ea"/>
                <a:cs typeface="Times New Roman" panose="02020603050405020304" pitchFamily="18" charset="0"/>
              </a:rPr>
              <a:t>瓷介电容等有较高的</a:t>
            </a:r>
            <a:r>
              <a:rPr lang="en-US" altLang="zh-CN" dirty="0" smtClean="0">
                <a:latin typeface="+mn-ea"/>
                <a:ea typeface="+mn-ea"/>
                <a:cs typeface="Times New Roman" panose="02020603050405020304" pitchFamily="18" charset="0"/>
              </a:rPr>
              <a:t>Q</a:t>
            </a:r>
            <a:r>
              <a:rPr lang="zh-CN" altLang="en-US" dirty="0" smtClean="0">
                <a:latin typeface="+mn-ea"/>
                <a:ea typeface="+mn-ea"/>
                <a:cs typeface="Times New Roman" panose="02020603050405020304" pitchFamily="18" charset="0"/>
              </a:rPr>
              <a:t>值</a:t>
            </a:r>
            <a:endParaRPr lang="zh-CN" altLang="en-US" dirty="0">
              <a:latin typeface="+mn-ea"/>
              <a:ea typeface="+mn-ea"/>
            </a:endParaRPr>
          </a:p>
          <a:p>
            <a:pPr marL="342900" indent="-342900" algn="just">
              <a:lnSpc>
                <a:spcPct val="150000"/>
              </a:lnSpc>
              <a:spcAft>
                <a:spcPts val="0"/>
              </a:spcAft>
              <a:buFont typeface="Wingdings" panose="05000000000000000000" pitchFamily="2" charset="2"/>
              <a:buChar char="Ø"/>
            </a:pPr>
            <a:r>
              <a:rPr lang="zh-CN" altLang="zh-CN" kern="100" dirty="0" smtClean="0">
                <a:latin typeface="+mn-ea"/>
                <a:ea typeface="+mn-ea"/>
              </a:rPr>
              <a:t>介质吸收</a:t>
            </a:r>
            <a:r>
              <a:rPr lang="zh-CN" altLang="en-US" kern="100" dirty="0" smtClean="0">
                <a:latin typeface="+mn-ea"/>
                <a:ea typeface="+mn-ea"/>
              </a:rPr>
              <a:t>。</a:t>
            </a:r>
            <a:r>
              <a:rPr lang="zh-CN" altLang="zh-CN" kern="100" dirty="0" smtClean="0">
                <a:latin typeface="+mn-ea"/>
                <a:ea typeface="+mn-ea"/>
              </a:rPr>
              <a:t>用</a:t>
            </a:r>
            <a:r>
              <a:rPr lang="zh-CN" altLang="zh-CN" kern="100" dirty="0">
                <a:latin typeface="+mn-ea"/>
                <a:ea typeface="+mn-ea"/>
              </a:rPr>
              <a:t>一根导线将电容短路一段时间然后分开，在分开的瞬间电容两端电压为</a:t>
            </a:r>
            <a:r>
              <a:rPr lang="en-US" altLang="zh-CN" kern="100" dirty="0">
                <a:latin typeface="+mn-ea"/>
                <a:ea typeface="+mn-ea"/>
              </a:rPr>
              <a:t>0</a:t>
            </a:r>
            <a:r>
              <a:rPr lang="zh-CN" altLang="zh-CN" kern="100" dirty="0">
                <a:latin typeface="+mn-ea"/>
                <a:ea typeface="+mn-ea"/>
              </a:rPr>
              <a:t>，但是随即此电压将慢慢升高到某个残余值</a:t>
            </a:r>
            <a:r>
              <a:rPr lang="zh-CN" altLang="zh-CN" kern="100" dirty="0" smtClean="0">
                <a:latin typeface="+mn-ea"/>
                <a:ea typeface="+mn-ea"/>
              </a:rPr>
              <a:t>。不同</a:t>
            </a:r>
            <a:r>
              <a:rPr lang="zh-CN" altLang="zh-CN" kern="100" dirty="0">
                <a:latin typeface="+mn-ea"/>
                <a:ea typeface="+mn-ea"/>
              </a:rPr>
              <a:t>的电容器的介质吸收程度是不同的，聚苯乙烯电容有最小的介质吸收系数，所以是精密测量电路中的</a:t>
            </a:r>
            <a:r>
              <a:rPr lang="zh-CN" altLang="zh-CN" kern="100" dirty="0" smtClean="0">
                <a:latin typeface="+mn-ea"/>
                <a:ea typeface="+mn-ea"/>
              </a:rPr>
              <a:t>首选</a:t>
            </a:r>
            <a:endParaRPr lang="en-US" altLang="zh-CN" kern="100" dirty="0" smtClean="0">
              <a:latin typeface="+mn-ea"/>
              <a:ea typeface="+mn-ea"/>
            </a:endParaRPr>
          </a:p>
          <a:p>
            <a:pPr marL="342900" indent="-342900" algn="just">
              <a:lnSpc>
                <a:spcPct val="150000"/>
              </a:lnSpc>
              <a:spcAft>
                <a:spcPts val="0"/>
              </a:spcAft>
              <a:buFont typeface="Wingdings" panose="05000000000000000000" pitchFamily="2" charset="2"/>
              <a:buChar char="Ø"/>
            </a:pPr>
            <a:r>
              <a:rPr lang="zh-CN" altLang="en-US" kern="100" dirty="0" smtClean="0">
                <a:latin typeface="+mn-ea"/>
                <a:ea typeface="+mn-ea"/>
              </a:rPr>
              <a:t>压电效应。不同的电压下电容量有变化，多见于陶瓷介质电容器</a:t>
            </a:r>
            <a:endParaRPr lang="zh-CN" altLang="zh-CN" kern="100" dirty="0">
              <a:latin typeface="+mn-ea"/>
              <a:ea typeface="+mn-ea"/>
            </a:endParaRPr>
          </a:p>
        </p:txBody>
      </p:sp>
    </p:spTree>
    <p:extLst>
      <p:ext uri="{BB962C8B-B14F-4D97-AF65-F5344CB8AC3E}">
        <p14:creationId xmlns:p14="http://schemas.microsoft.com/office/powerpoint/2010/main" val="3919073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文本框 4"/>
          <p:cNvSpPr txBox="1"/>
          <p:nvPr/>
        </p:nvSpPr>
        <p:spPr>
          <a:xfrm>
            <a:off x="468313" y="552587"/>
            <a:ext cx="8058561" cy="4247317"/>
          </a:xfrm>
          <a:prstGeom prst="rect">
            <a:avLst/>
          </a:prstGeom>
          <a:noFill/>
        </p:spPr>
        <p:txBody>
          <a:bodyPr wrap="square" rtlCol="0">
            <a:spAutoFit/>
          </a:bodyPr>
          <a:lstStyle/>
          <a:p>
            <a:pPr>
              <a:lnSpc>
                <a:spcPct val="150000"/>
              </a:lnSpc>
            </a:pPr>
            <a:r>
              <a:rPr lang="zh-CN" altLang="en-US" dirty="0" smtClean="0"/>
              <a:t>电容器选型的注意事项</a:t>
            </a:r>
            <a:endParaRPr lang="en-US" altLang="zh-CN" dirty="0" smtClean="0"/>
          </a:p>
          <a:p>
            <a:pPr marL="342900" indent="-342900">
              <a:lnSpc>
                <a:spcPct val="150000"/>
              </a:lnSpc>
              <a:buFont typeface="Wingdings" panose="05000000000000000000" pitchFamily="2" charset="2"/>
              <a:buChar char="Ø"/>
            </a:pPr>
            <a:r>
              <a:rPr lang="zh-CN" altLang="en-US" dirty="0" smtClean="0"/>
              <a:t>常规事项</a:t>
            </a:r>
            <a:endParaRPr lang="en-US" altLang="zh-CN" dirty="0" smtClean="0"/>
          </a:p>
          <a:p>
            <a:pPr marL="800100" lvl="1" indent="-342900">
              <a:lnSpc>
                <a:spcPct val="150000"/>
              </a:lnSpc>
              <a:buFont typeface="Arial" panose="020B0604020202020204" pitchFamily="34" charset="0"/>
              <a:buChar char="•"/>
            </a:pPr>
            <a:r>
              <a:rPr lang="zh-CN" altLang="en-US" dirty="0" smtClean="0"/>
              <a:t>容量的标称值、容量的误差</a:t>
            </a:r>
            <a:endParaRPr lang="en-US" altLang="zh-CN" dirty="0" smtClean="0"/>
          </a:p>
          <a:p>
            <a:pPr marL="800100" lvl="1" indent="-342900">
              <a:lnSpc>
                <a:spcPct val="150000"/>
              </a:lnSpc>
              <a:buFont typeface="Arial" panose="020B0604020202020204" pitchFamily="34" charset="0"/>
              <a:buChar char="•"/>
            </a:pPr>
            <a:r>
              <a:rPr lang="zh-CN" altLang="en-US" dirty="0" smtClean="0"/>
              <a:t>耐压</a:t>
            </a:r>
            <a:endParaRPr lang="en-US" altLang="zh-CN" dirty="0" smtClean="0"/>
          </a:p>
          <a:p>
            <a:pPr marL="800100" lvl="1" indent="-342900">
              <a:lnSpc>
                <a:spcPct val="150000"/>
              </a:lnSpc>
              <a:buFont typeface="Arial" panose="020B0604020202020204" pitchFamily="34" charset="0"/>
              <a:buChar char="•"/>
            </a:pPr>
            <a:r>
              <a:rPr lang="zh-CN" altLang="en-US" dirty="0" smtClean="0"/>
              <a:t>额定电流</a:t>
            </a:r>
            <a:endParaRPr lang="en-US" altLang="zh-CN" dirty="0" smtClean="0"/>
          </a:p>
          <a:p>
            <a:pPr marL="342900" indent="-342900">
              <a:lnSpc>
                <a:spcPct val="150000"/>
              </a:lnSpc>
              <a:buFont typeface="Wingdings" panose="05000000000000000000" pitchFamily="2" charset="2"/>
              <a:buChar char="Ø"/>
            </a:pPr>
            <a:r>
              <a:rPr lang="zh-CN" altLang="en-US" dirty="0" smtClean="0"/>
              <a:t>特殊要求</a:t>
            </a:r>
            <a:endParaRPr lang="en-US" altLang="zh-CN" dirty="0" smtClean="0"/>
          </a:p>
          <a:p>
            <a:pPr marL="800100" lvl="1" indent="-342900">
              <a:lnSpc>
                <a:spcPct val="150000"/>
              </a:lnSpc>
              <a:buFont typeface="Arial" panose="020B0604020202020204" pitchFamily="34" charset="0"/>
              <a:buChar char="•"/>
            </a:pPr>
            <a:r>
              <a:rPr lang="zh-CN" altLang="en-US" dirty="0" smtClean="0"/>
              <a:t>谐振回路与滤波器应用：</a:t>
            </a:r>
            <a:r>
              <a:rPr lang="en-US" altLang="zh-CN" dirty="0" smtClean="0"/>
              <a:t>Q</a:t>
            </a:r>
            <a:r>
              <a:rPr lang="zh-CN" altLang="en-US" dirty="0" smtClean="0"/>
              <a:t>值</a:t>
            </a:r>
            <a:endParaRPr lang="en-US" altLang="zh-CN" dirty="0" smtClean="0"/>
          </a:p>
          <a:p>
            <a:pPr marL="800100" lvl="1" indent="-342900">
              <a:lnSpc>
                <a:spcPct val="150000"/>
              </a:lnSpc>
              <a:buFont typeface="Arial" panose="020B0604020202020204" pitchFamily="34" charset="0"/>
              <a:buChar char="•"/>
            </a:pPr>
            <a:r>
              <a:rPr lang="en-US" altLang="zh-CN" dirty="0" smtClean="0"/>
              <a:t>ADC</a:t>
            </a:r>
            <a:r>
              <a:rPr lang="zh-CN" altLang="en-US" dirty="0" smtClean="0"/>
              <a:t>采样电容与积分电容：介质吸收</a:t>
            </a:r>
            <a:endParaRPr lang="en-US" altLang="zh-CN" dirty="0" smtClean="0"/>
          </a:p>
          <a:p>
            <a:pPr marL="800100" lvl="1" indent="-342900">
              <a:lnSpc>
                <a:spcPct val="150000"/>
              </a:lnSpc>
              <a:buFont typeface="Arial" panose="020B0604020202020204" pitchFamily="34" charset="0"/>
              <a:buChar char="•"/>
            </a:pPr>
            <a:r>
              <a:rPr lang="zh-CN" altLang="en-US" dirty="0" smtClean="0"/>
              <a:t>极低谐波失真的应用：压电效应</a:t>
            </a:r>
            <a:endParaRPr lang="zh-CN" altLang="en-US" dirty="0"/>
          </a:p>
        </p:txBody>
      </p:sp>
    </p:spTree>
    <p:extLst>
      <p:ext uri="{BB962C8B-B14F-4D97-AF65-F5344CB8AC3E}">
        <p14:creationId xmlns:p14="http://schemas.microsoft.com/office/powerpoint/2010/main" val="2680964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矩形 4"/>
          <p:cNvSpPr/>
          <p:nvPr/>
        </p:nvSpPr>
        <p:spPr>
          <a:xfrm>
            <a:off x="468312" y="588296"/>
            <a:ext cx="8169149" cy="4247317"/>
          </a:xfrm>
          <a:prstGeom prst="rect">
            <a:avLst/>
          </a:prstGeom>
        </p:spPr>
        <p:txBody>
          <a:bodyPr wrap="square">
            <a:spAutoFit/>
          </a:bodyPr>
          <a:lstStyle/>
          <a:p>
            <a:pPr algn="just">
              <a:lnSpc>
                <a:spcPct val="150000"/>
              </a:lnSpc>
              <a:spcAft>
                <a:spcPts val="0"/>
              </a:spcAft>
            </a:pPr>
            <a:r>
              <a:rPr lang="zh-CN" altLang="zh-CN" dirty="0" smtClean="0">
                <a:latin typeface="+mj-ea"/>
                <a:ea typeface="+mj-ea"/>
                <a:cs typeface="宋体" panose="02010600030101010101" pitchFamily="2" charset="-122"/>
              </a:rPr>
              <a:t>电感</a:t>
            </a:r>
            <a:r>
              <a:rPr lang="zh-CN" altLang="zh-CN" dirty="0">
                <a:latin typeface="+mj-ea"/>
                <a:ea typeface="+mj-ea"/>
                <a:cs typeface="宋体" panose="02010600030101010101" pitchFamily="2" charset="-122"/>
              </a:rPr>
              <a:t>的</a:t>
            </a:r>
            <a:r>
              <a:rPr lang="zh-CN" altLang="zh-CN" dirty="0" smtClean="0">
                <a:latin typeface="+mj-ea"/>
                <a:ea typeface="+mj-ea"/>
                <a:cs typeface="宋体" panose="02010600030101010101" pitchFamily="2" charset="-122"/>
              </a:rPr>
              <a:t>类型</a:t>
            </a:r>
            <a:r>
              <a:rPr lang="zh-CN" altLang="en-US" dirty="0" smtClean="0">
                <a:latin typeface="+mj-ea"/>
                <a:ea typeface="+mj-ea"/>
                <a:cs typeface="宋体" panose="02010600030101010101" pitchFamily="2" charset="-122"/>
              </a:rPr>
              <a:t>与特点</a:t>
            </a:r>
            <a:endParaRPr lang="en-US" altLang="zh-CN" dirty="0" smtClean="0">
              <a:latin typeface="+mj-ea"/>
              <a:ea typeface="+mj-ea"/>
              <a:cs typeface="宋体" panose="02010600030101010101" pitchFamily="2" charset="-122"/>
            </a:endParaRPr>
          </a:p>
          <a:p>
            <a:pPr algn="just">
              <a:lnSpc>
                <a:spcPct val="150000"/>
              </a:lnSpc>
              <a:spcAft>
                <a:spcPts val="0"/>
              </a:spcAft>
            </a:pPr>
            <a:r>
              <a:rPr lang="zh-CN" altLang="en-US" dirty="0" smtClean="0">
                <a:latin typeface="+mn-ea"/>
                <a:ea typeface="+mn-ea"/>
                <a:cs typeface="宋体" panose="02010600030101010101" pitchFamily="2" charset="-122"/>
              </a:rPr>
              <a:t>通常可将</a:t>
            </a:r>
            <a:r>
              <a:rPr lang="zh-CN" altLang="zh-CN" dirty="0" smtClean="0">
                <a:latin typeface="+mn-ea"/>
                <a:ea typeface="+mn-ea"/>
                <a:cs typeface="宋体" panose="02010600030101010101" pitchFamily="2" charset="-122"/>
              </a:rPr>
              <a:t>电感</a:t>
            </a:r>
            <a:r>
              <a:rPr lang="zh-CN" altLang="en-US" dirty="0" smtClean="0">
                <a:latin typeface="+mn-ea"/>
                <a:ea typeface="+mn-ea"/>
                <a:cs typeface="宋体" panose="02010600030101010101" pitchFamily="2" charset="-122"/>
              </a:rPr>
              <a:t>分为带磁芯与不带磁芯两大类</a:t>
            </a:r>
            <a:endParaRPr lang="en-US" altLang="zh-CN" dirty="0" smtClean="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en-US" dirty="0" smtClean="0">
                <a:latin typeface="+mn-ea"/>
                <a:ea typeface="+mn-ea"/>
                <a:cs typeface="宋体" panose="02010600030101010101" pitchFamily="2" charset="-122"/>
              </a:rPr>
              <a:t>不带磁芯的电感（空气电感）通常电感量较小，工作频率范围很大，</a:t>
            </a:r>
            <a:r>
              <a:rPr lang="en-US" altLang="zh-CN" dirty="0" smtClean="0">
                <a:latin typeface="+mn-ea"/>
                <a:ea typeface="+mn-ea"/>
                <a:cs typeface="宋体" panose="02010600030101010101" pitchFamily="2" charset="-122"/>
              </a:rPr>
              <a:t>Q</a:t>
            </a:r>
            <a:r>
              <a:rPr lang="zh-CN" altLang="zh-CN" dirty="0" smtClean="0">
                <a:latin typeface="+mn-ea"/>
                <a:ea typeface="+mn-ea"/>
                <a:cs typeface="宋体" panose="02010600030101010101" pitchFamily="2" charset="-122"/>
              </a:rPr>
              <a:t>值</a:t>
            </a:r>
            <a:r>
              <a:rPr lang="zh-CN" altLang="en-US" dirty="0" smtClean="0">
                <a:latin typeface="+mn-ea"/>
                <a:ea typeface="+mn-ea"/>
                <a:cs typeface="宋体" panose="02010600030101010101" pitchFamily="2" charset="-122"/>
              </a:rPr>
              <a:t>稳定</a:t>
            </a:r>
            <a:endParaRPr lang="en-US" altLang="zh-CN" dirty="0" smtClean="0">
              <a:latin typeface="+mn-ea"/>
              <a:ea typeface="+mn-ea"/>
              <a:cs typeface="宋体" panose="02010600030101010101" pitchFamily="2" charset="-122"/>
            </a:endParaRPr>
          </a:p>
          <a:p>
            <a:pPr marL="342900" indent="-342900" algn="just">
              <a:lnSpc>
                <a:spcPct val="150000"/>
              </a:lnSpc>
              <a:spcAft>
                <a:spcPts val="0"/>
              </a:spcAft>
              <a:buFont typeface="Wingdings" panose="05000000000000000000" pitchFamily="2" charset="2"/>
              <a:buChar char="Ø"/>
            </a:pPr>
            <a:r>
              <a:rPr lang="zh-CN" altLang="en-US" dirty="0" smtClean="0">
                <a:latin typeface="+mn-ea"/>
                <a:ea typeface="+mn-ea"/>
                <a:cs typeface="宋体" panose="02010600030101010101" pitchFamily="2" charset="-122"/>
              </a:rPr>
              <a:t>带磁芯的电感可以将电感量做得很大</a:t>
            </a:r>
            <a:r>
              <a:rPr lang="zh-CN" altLang="zh-CN" dirty="0" smtClean="0">
                <a:latin typeface="+mn-ea"/>
                <a:ea typeface="+mn-ea"/>
                <a:cs typeface="宋体" panose="02010600030101010101" pitchFamily="2" charset="-122"/>
              </a:rPr>
              <a:t>，</a:t>
            </a:r>
            <a:r>
              <a:rPr lang="zh-CN" altLang="en-US" dirty="0" smtClean="0">
                <a:latin typeface="+mn-ea"/>
                <a:ea typeface="+mn-ea"/>
                <a:cs typeface="宋体" panose="02010600030101010101" pitchFamily="2" charset="-122"/>
              </a:rPr>
              <a:t>但是由于磁芯的非线性</a:t>
            </a:r>
            <a:r>
              <a:rPr lang="zh-CN" altLang="zh-CN" dirty="0" smtClean="0">
                <a:latin typeface="+mn-ea"/>
                <a:ea typeface="+mn-ea"/>
                <a:cs typeface="宋体" panose="02010600030101010101" pitchFamily="2" charset="-122"/>
              </a:rPr>
              <a:t>，</a:t>
            </a:r>
            <a:r>
              <a:rPr lang="zh-CN" altLang="en-US" dirty="0" smtClean="0">
                <a:latin typeface="+mn-ea"/>
                <a:ea typeface="+mn-ea"/>
                <a:cs typeface="宋体" panose="02010600030101010101" pitchFamily="2" charset="-122"/>
              </a:rPr>
              <a:t>存在很多非线性因素：</a:t>
            </a:r>
            <a:endParaRPr lang="en-US" altLang="zh-CN" dirty="0" smtClean="0">
              <a:latin typeface="+mn-ea"/>
              <a:ea typeface="+mn-ea"/>
              <a:cs typeface="宋体" panose="02010600030101010101" pitchFamily="2" charset="-122"/>
            </a:endParaRPr>
          </a:p>
          <a:p>
            <a:pPr marL="914400" lvl="1" indent="-457200" algn="just">
              <a:lnSpc>
                <a:spcPct val="150000"/>
              </a:lnSpc>
              <a:spcAft>
                <a:spcPts val="0"/>
              </a:spcAft>
              <a:buFont typeface="Arial" panose="020B0604020202020204" pitchFamily="34" charset="0"/>
              <a:buChar char="•"/>
            </a:pPr>
            <a:r>
              <a:rPr lang="zh-CN" altLang="en-US" dirty="0" smtClean="0">
                <a:latin typeface="+mn-ea"/>
                <a:ea typeface="+mn-ea"/>
                <a:cs typeface="宋体" panose="02010600030101010101" pitchFamily="2" charset="-122"/>
              </a:rPr>
              <a:t>工作频率上限受磁芯材料限制</a:t>
            </a:r>
            <a:endParaRPr lang="en-US" altLang="zh-CN" dirty="0" smtClean="0">
              <a:latin typeface="+mn-ea"/>
              <a:ea typeface="+mn-ea"/>
              <a:cs typeface="宋体" panose="02010600030101010101" pitchFamily="2" charset="-122"/>
            </a:endParaRPr>
          </a:p>
          <a:p>
            <a:pPr marL="914400" lvl="1" indent="-457200" algn="just">
              <a:lnSpc>
                <a:spcPct val="150000"/>
              </a:lnSpc>
              <a:spcAft>
                <a:spcPts val="0"/>
              </a:spcAft>
              <a:buFont typeface="Arial" panose="020B0604020202020204" pitchFamily="34" charset="0"/>
              <a:buChar char="•"/>
            </a:pPr>
            <a:r>
              <a:rPr lang="zh-CN" altLang="en-US" dirty="0" smtClean="0">
                <a:latin typeface="+mn-ea"/>
                <a:ea typeface="+mn-ea"/>
                <a:cs typeface="宋体" panose="02010600030101010101" pitchFamily="2" charset="-122"/>
              </a:rPr>
              <a:t>电感量有非线性，存在磁饱和现象</a:t>
            </a:r>
            <a:endParaRPr lang="en-US" altLang="zh-CN" dirty="0" smtClean="0">
              <a:latin typeface="+mn-ea"/>
              <a:ea typeface="+mn-ea"/>
              <a:cs typeface="宋体" panose="02010600030101010101" pitchFamily="2" charset="-122"/>
            </a:endParaRPr>
          </a:p>
          <a:p>
            <a:pPr marL="914400" lvl="1" indent="-457200" algn="just">
              <a:lnSpc>
                <a:spcPct val="150000"/>
              </a:lnSpc>
              <a:spcAft>
                <a:spcPts val="0"/>
              </a:spcAft>
              <a:buFont typeface="Arial" panose="020B0604020202020204" pitchFamily="34" charset="0"/>
              <a:buChar char="•"/>
            </a:pPr>
            <a:r>
              <a:rPr lang="zh-CN" altLang="en-US" dirty="0" smtClean="0">
                <a:latin typeface="+mn-ea"/>
                <a:ea typeface="+mn-ea"/>
                <a:cs typeface="宋体" panose="02010600030101010101" pitchFamily="2" charset="-122"/>
              </a:rPr>
              <a:t>随工作条件的变化，</a:t>
            </a:r>
            <a:r>
              <a:rPr lang="en-US" altLang="zh-CN" dirty="0" smtClean="0">
                <a:latin typeface="+mn-ea"/>
                <a:ea typeface="+mn-ea"/>
                <a:cs typeface="宋体" panose="02010600030101010101" pitchFamily="2" charset="-122"/>
              </a:rPr>
              <a:t>Q</a:t>
            </a:r>
            <a:r>
              <a:rPr lang="zh-CN" altLang="en-US" dirty="0" smtClean="0">
                <a:latin typeface="+mn-ea"/>
                <a:ea typeface="+mn-ea"/>
                <a:cs typeface="宋体" panose="02010600030101010101" pitchFamily="2" charset="-122"/>
              </a:rPr>
              <a:t>值可能有较大变化</a:t>
            </a:r>
            <a:endParaRPr lang="zh-CN" altLang="zh-CN" dirty="0">
              <a:latin typeface="+mn-ea"/>
              <a:ea typeface="+mn-ea"/>
              <a:cs typeface="宋体" panose="02010600030101010101" pitchFamily="2" charset="-122"/>
            </a:endParaRPr>
          </a:p>
        </p:txBody>
      </p:sp>
    </p:spTree>
    <p:extLst>
      <p:ext uri="{BB962C8B-B14F-4D97-AF65-F5344CB8AC3E}">
        <p14:creationId xmlns:p14="http://schemas.microsoft.com/office/powerpoint/2010/main" val="2925482655"/>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10997</TotalTime>
  <Words>2446</Words>
  <Application>Microsoft Office PowerPoint</Application>
  <PresentationFormat>全屏显示(4:3)</PresentationFormat>
  <Paragraphs>451</Paragraphs>
  <Slides>22</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4" baseType="lpstr">
      <vt:lpstr>黑体</vt:lpstr>
      <vt:lpstr>华文细黑</vt:lpstr>
      <vt:lpstr>楷体</vt:lpstr>
      <vt:lpstr>楷体_GB2312</vt:lpstr>
      <vt:lpstr>隶书</vt:lpstr>
      <vt:lpstr>宋体</vt:lpstr>
      <vt:lpstr>Arial</vt:lpstr>
      <vt:lpstr>Tahoma</vt:lpstr>
      <vt:lpstr>Times New Roman</vt:lpstr>
      <vt:lpstr>Wingdings</vt:lpstr>
      <vt:lpstr>1_Network</vt:lpstr>
      <vt:lpstr>Visio</vt:lpstr>
      <vt:lpstr>电路设计制作的 注意事项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235</cp:revision>
  <dcterms:created xsi:type="dcterms:W3CDTF">1601-01-01T00:00:00Z</dcterms:created>
  <dcterms:modified xsi:type="dcterms:W3CDTF">2022-03-12T00:25:49Z</dcterms:modified>
</cp:coreProperties>
</file>