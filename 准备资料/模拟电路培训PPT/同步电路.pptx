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883" r:id="rId1"/>
  </p:sldMasterIdLst>
  <p:notesMasterIdLst>
    <p:notesMasterId r:id="rId38"/>
  </p:notesMasterIdLst>
  <p:handoutMasterIdLst>
    <p:handoutMasterId r:id="rId39"/>
  </p:handoutMasterIdLst>
  <p:sldIdLst>
    <p:sldId id="398" r:id="rId2"/>
    <p:sldId id="660" r:id="rId3"/>
    <p:sldId id="661" r:id="rId4"/>
    <p:sldId id="662" r:id="rId5"/>
    <p:sldId id="691" r:id="rId6"/>
    <p:sldId id="666" r:id="rId7"/>
    <p:sldId id="692" r:id="rId8"/>
    <p:sldId id="682" r:id="rId9"/>
    <p:sldId id="688" r:id="rId10"/>
    <p:sldId id="687" r:id="rId11"/>
    <p:sldId id="693" r:id="rId12"/>
    <p:sldId id="683" r:id="rId13"/>
    <p:sldId id="684" r:id="rId14"/>
    <p:sldId id="697" r:id="rId15"/>
    <p:sldId id="698" r:id="rId16"/>
    <p:sldId id="699" r:id="rId17"/>
    <p:sldId id="701" r:id="rId18"/>
    <p:sldId id="678" r:id="rId19"/>
    <p:sldId id="676" r:id="rId20"/>
    <p:sldId id="670" r:id="rId21"/>
    <p:sldId id="703" r:id="rId22"/>
    <p:sldId id="704" r:id="rId23"/>
    <p:sldId id="702" r:id="rId24"/>
    <p:sldId id="671" r:id="rId25"/>
    <p:sldId id="689" r:id="rId26"/>
    <p:sldId id="690" r:id="rId27"/>
    <p:sldId id="705" r:id="rId28"/>
    <p:sldId id="706" r:id="rId29"/>
    <p:sldId id="707" r:id="rId30"/>
    <p:sldId id="710" r:id="rId31"/>
    <p:sldId id="709" r:id="rId32"/>
    <p:sldId id="712" r:id="rId33"/>
    <p:sldId id="713" r:id="rId34"/>
    <p:sldId id="711" r:id="rId35"/>
    <p:sldId id="714" r:id="rId36"/>
    <p:sldId id="686" r:id="rId37"/>
  </p:sldIdLst>
  <p:sldSz cx="9144000" cy="6858000" type="screen4x3"/>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6C31"/>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9" autoAdjust="0"/>
    <p:restoredTop sz="96078" autoAdjust="0"/>
  </p:normalViewPr>
  <p:slideViewPr>
    <p:cSldViewPr snapToGrid="0">
      <p:cViewPr varScale="1">
        <p:scale>
          <a:sx n="91" d="100"/>
          <a:sy n="91" d="100"/>
        </p:scale>
        <p:origin x="18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0" y="5154613"/>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250825" y="1700213"/>
            <a:ext cx="5473700"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5" y="0"/>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0" y="228600"/>
            <a:ext cx="1262063"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2023/4/11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2023/4/11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141788"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51388" y="1268413"/>
            <a:ext cx="4141787"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2023/4/11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2023/4/11</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2023/4/11</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2023/4/11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2023/4/11</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2023/4/11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549275"/>
            <a:ext cx="2108200"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49275"/>
            <a:ext cx="6175375"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2023/4/11</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5"/>
            <a:ext cx="9144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457200" y="549275"/>
            <a:ext cx="84359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457200" y="1268413"/>
            <a:ext cx="8435975"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468313" y="6524625"/>
            <a:ext cx="21336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2023/4/11</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3132138" y="6524625"/>
            <a:ext cx="3527425"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7235825" y="6524625"/>
            <a:ext cx="163036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34400" y="0"/>
            <a:ext cx="371475"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647700" y="107950"/>
            <a:ext cx="3600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6.emf"/><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1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1.emf"/><Relationship Id="rId5" Type="http://schemas.openxmlformats.org/officeDocument/2006/relationships/oleObject" Target="../embeddings/oleObject19.bin"/><Relationship Id="rId4" Type="http://schemas.openxmlformats.org/officeDocument/2006/relationships/image" Target="../media/image30.wmf"/></Relationships>
</file>

<file path=ppt/slides/_rels/slide3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33.wmf"/><Relationship Id="rId5" Type="http://schemas.openxmlformats.org/officeDocument/2006/relationships/oleObject" Target="../embeddings/oleObject21.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23.bin"/></Relationships>
</file>

<file path=ppt/slides/_rels/slide32.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37.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7.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41.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863" y="1752600"/>
            <a:ext cx="8596312" cy="2906713"/>
          </a:xfrm>
        </p:spPr>
        <p:txBody>
          <a:bodyPr/>
          <a:lstStyle/>
          <a:p>
            <a:pPr eaLnBrk="1" hangingPunct="1">
              <a:lnSpc>
                <a:spcPct val="160000"/>
              </a:lnSpc>
            </a:pPr>
            <a:r>
              <a:rPr lang="zh-CN" altLang="en-US" sz="5400" dirty="0" smtClean="0">
                <a:solidFill>
                  <a:srgbClr val="FF3300"/>
                </a:solidFill>
                <a:latin typeface="隶书" panose="02010509060101010101" pitchFamily="49" charset="-122"/>
                <a:ea typeface="隶书" panose="02010509060101010101" pitchFamily="49" charset="-122"/>
              </a:rPr>
              <a:t>同步电路</a:t>
            </a:r>
            <a:r>
              <a:rPr lang="en-US" altLang="zh-CN" sz="5400" dirty="0" smtClean="0">
                <a:solidFill>
                  <a:srgbClr val="FF3300"/>
                </a:solidFill>
                <a:latin typeface="隶书" panose="02010509060101010101" pitchFamily="49" charset="-122"/>
                <a:ea typeface="隶书" panose="02010509060101010101" pitchFamily="49" charset="-122"/>
              </a:rPr>
              <a:t/>
            </a:r>
            <a:br>
              <a:rPr lang="en-US" altLang="zh-CN" sz="5400" dirty="0" smtClean="0">
                <a:solidFill>
                  <a:srgbClr val="FF3300"/>
                </a:solidFill>
                <a:latin typeface="隶书" panose="02010509060101010101" pitchFamily="49" charset="-122"/>
                <a:ea typeface="隶书" panose="02010509060101010101" pitchFamily="49" charset="-122"/>
              </a:rPr>
            </a:br>
            <a:r>
              <a:rPr lang="en-US" altLang="zh-CN" sz="3600" dirty="0" smtClean="0">
                <a:latin typeface="隶书" panose="02010509060101010101" pitchFamily="49" charset="-122"/>
                <a:ea typeface="隶书" panose="02010509060101010101" pitchFamily="49" charset="-122"/>
              </a:rPr>
              <a:t/>
            </a:r>
            <a:br>
              <a:rPr lang="en-US" altLang="zh-CN" sz="3600" dirty="0" smtClean="0">
                <a:latin typeface="隶书" panose="02010509060101010101" pitchFamily="49" charset="-122"/>
                <a:ea typeface="隶书" panose="02010509060101010101" pitchFamily="49" charset="-122"/>
              </a:rPr>
            </a:br>
            <a:r>
              <a:rPr lang="zh-CN" altLang="en-US" sz="2400" dirty="0" smtClean="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2023/4/11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87420" y="355235"/>
            <a:ext cx="8440109" cy="4062651"/>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同  步</a:t>
            </a:r>
            <a:endParaRPr lang="en-US" altLang="zh-CN" sz="3200" dirty="0" smtClean="0">
              <a:solidFill>
                <a:srgbClr val="FF0000"/>
              </a:solidFill>
              <a:latin typeface="隶书" panose="02010509060101010101" pitchFamily="49" charset="-122"/>
              <a:ea typeface="隶书" panose="02010509060101010101" pitchFamily="49" charset="-122"/>
            </a:endParaRPr>
          </a:p>
          <a:p>
            <a:pPr marL="285750" indent="-285750">
              <a:lnSpc>
                <a:spcPct val="150000"/>
              </a:lnSpc>
              <a:buFont typeface="Arial" panose="020B0604020202020204" pitchFamily="34" charset="0"/>
              <a:buChar char="•"/>
            </a:pPr>
            <a:r>
              <a:rPr lang="zh-CN" altLang="en-US" dirty="0" smtClean="0"/>
              <a:t>接收端产生一个与发送端</a:t>
            </a:r>
            <a:r>
              <a:rPr lang="zh-CN" altLang="en-US" dirty="0" smtClean="0">
                <a:solidFill>
                  <a:srgbClr val="FF0000"/>
                </a:solidFill>
              </a:rPr>
              <a:t>同频或同相</a:t>
            </a:r>
            <a:r>
              <a:rPr lang="zh-CN" altLang="en-US" dirty="0" smtClean="0"/>
              <a:t>的参考信号，称为同步</a:t>
            </a:r>
            <a:endParaRPr lang="en-US" altLang="zh-CN" dirty="0" smtClean="0"/>
          </a:p>
          <a:p>
            <a:pPr marL="285750" indent="-285750">
              <a:lnSpc>
                <a:spcPct val="150000"/>
              </a:lnSpc>
              <a:buFont typeface="Arial" panose="020B0604020202020204" pitchFamily="34" charset="0"/>
              <a:buChar char="•"/>
            </a:pPr>
            <a:r>
              <a:rPr lang="zh-CN" altLang="en-US" dirty="0" smtClean="0"/>
              <a:t>模拟通信中常见的是载波（副载波）同步</a:t>
            </a:r>
            <a:endParaRPr lang="en-US" altLang="zh-CN" dirty="0" smtClean="0"/>
          </a:p>
          <a:p>
            <a:pPr marL="285750" indent="-285750">
              <a:lnSpc>
                <a:spcPct val="150000"/>
              </a:lnSpc>
              <a:buFont typeface="Arial" panose="020B0604020202020204" pitchFamily="34" charset="0"/>
              <a:buChar char="•"/>
            </a:pPr>
            <a:r>
              <a:rPr lang="zh-CN" altLang="en-US" dirty="0" smtClean="0"/>
              <a:t>数字通信中有载波同步、</a:t>
            </a:r>
            <a:r>
              <a:rPr lang="zh-CN" altLang="en-US" dirty="0"/>
              <a:t>码元同步、帧</a:t>
            </a:r>
            <a:r>
              <a:rPr lang="zh-CN" altLang="en-US" dirty="0" smtClean="0"/>
              <a:t>同步等</a:t>
            </a:r>
            <a:endParaRPr lang="en-US" altLang="zh-CN" dirty="0" smtClean="0"/>
          </a:p>
          <a:p>
            <a:pPr marL="285750" indent="-285750">
              <a:lnSpc>
                <a:spcPct val="150000"/>
              </a:lnSpc>
              <a:buFont typeface="Arial" panose="020B0604020202020204" pitchFamily="34" charset="0"/>
              <a:buChar char="•"/>
            </a:pPr>
            <a:r>
              <a:rPr lang="zh-CN" altLang="en-US" dirty="0" smtClean="0"/>
              <a:t>载波同步通常用硬件完成，码元同步可以硬件完成也可以由软件</a:t>
            </a:r>
            <a:r>
              <a:rPr lang="zh-CN" altLang="en-US" dirty="0"/>
              <a:t>完成，帧</a:t>
            </a:r>
            <a:r>
              <a:rPr lang="zh-CN" altLang="en-US" dirty="0" smtClean="0"/>
              <a:t>同步通常由软件完成</a:t>
            </a:r>
            <a:endParaRPr lang="en-US" altLang="zh-CN" dirty="0" smtClean="0"/>
          </a:p>
          <a:p>
            <a:pPr marL="285750" indent="-285750">
              <a:lnSpc>
                <a:spcPct val="150000"/>
              </a:lnSpc>
              <a:buFont typeface="Arial" panose="020B0604020202020204" pitchFamily="34" charset="0"/>
              <a:buChar char="•"/>
            </a:pPr>
            <a:r>
              <a:rPr lang="zh-CN" altLang="en-US" dirty="0"/>
              <a:t>本</a:t>
            </a:r>
            <a:r>
              <a:rPr lang="en-US" altLang="zh-CN" dirty="0"/>
              <a:t>PPT</a:t>
            </a:r>
            <a:r>
              <a:rPr lang="zh-CN" altLang="en-US" dirty="0"/>
              <a:t>只讨论基于锁相环技术的</a:t>
            </a:r>
            <a:r>
              <a:rPr lang="zh-CN" altLang="en-US" dirty="0">
                <a:solidFill>
                  <a:srgbClr val="FF0000"/>
                </a:solidFill>
              </a:rPr>
              <a:t>载波同步</a:t>
            </a:r>
            <a:r>
              <a:rPr lang="zh-CN" altLang="en-US" dirty="0"/>
              <a:t>电路与</a:t>
            </a:r>
            <a:r>
              <a:rPr lang="zh-CN" altLang="en-US" dirty="0">
                <a:solidFill>
                  <a:srgbClr val="FF0000"/>
                </a:solidFill>
              </a:rPr>
              <a:t>码元同步</a:t>
            </a:r>
            <a:r>
              <a:rPr lang="zh-CN" altLang="en-US" dirty="0"/>
              <a:t>电路</a:t>
            </a:r>
          </a:p>
          <a:p>
            <a:pPr marL="285750" indent="-285750">
              <a:lnSpc>
                <a:spcPct val="150000"/>
              </a:lnSpc>
              <a:buFont typeface="Arial" panose="020B0604020202020204" pitchFamily="34" charset="0"/>
              <a:buChar char="•"/>
            </a:pP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1535113" y="1700341"/>
            <a:ext cx="2036968" cy="1203674"/>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矩形 4"/>
          <p:cNvSpPr/>
          <p:nvPr/>
        </p:nvSpPr>
        <p:spPr>
          <a:xfrm>
            <a:off x="323849" y="329037"/>
            <a:ext cx="8399131" cy="1154162"/>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模拟通信中的载波同步举例</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smtClean="0"/>
              <a:t>调频立体声广播</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345114898"/>
              </p:ext>
            </p:extLst>
          </p:nvPr>
        </p:nvGraphicFramePr>
        <p:xfrm>
          <a:off x="1414360" y="1627980"/>
          <a:ext cx="6460304" cy="1276035"/>
        </p:xfrm>
        <a:graphic>
          <a:graphicData uri="http://schemas.openxmlformats.org/presentationml/2006/ole">
            <mc:AlternateContent xmlns:mc="http://schemas.openxmlformats.org/markup-compatibility/2006">
              <mc:Choice xmlns:v="urn:schemas-microsoft-com:vml" Requires="v">
                <p:oleObj spid="_x0000_s20570" name="Visio" r:id="rId3" imgW="3441511" imgH="660503" progId="Visio.Drawing.15">
                  <p:embed/>
                </p:oleObj>
              </mc:Choice>
              <mc:Fallback>
                <p:oleObj name="Visio" r:id="rId3" imgW="3441511" imgH="66050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360" y="1627980"/>
                        <a:ext cx="6460304" cy="1276035"/>
                      </a:xfrm>
                      <a:prstGeom prst="rect">
                        <a:avLst/>
                      </a:prstGeom>
                      <a:noFill/>
                    </p:spPr>
                  </p:pic>
                </p:oleObj>
              </mc:Fallback>
            </mc:AlternateContent>
          </a:graphicData>
        </a:graphic>
      </p:graphicFrame>
      <p:sp>
        <p:nvSpPr>
          <p:cNvPr id="8" name="矩形 7"/>
          <p:cNvSpPr/>
          <p:nvPr/>
        </p:nvSpPr>
        <p:spPr>
          <a:xfrm>
            <a:off x="514359" y="3214972"/>
            <a:ext cx="8274405" cy="2973122"/>
          </a:xfrm>
          <a:prstGeom prst="rect">
            <a:avLst/>
          </a:prstGeom>
        </p:spPr>
        <p:txBody>
          <a:bodyPr wrap="square">
            <a:spAutoFit/>
          </a:bodyPr>
          <a:lstStyle/>
          <a:p>
            <a:pPr marL="342900" indent="-342900">
              <a:lnSpc>
                <a:spcPct val="130000"/>
              </a:lnSpc>
              <a:buFont typeface="Arial" panose="020B0604020202020204" pitchFamily="34" charset="0"/>
              <a:buChar char="•"/>
            </a:pPr>
            <a:r>
              <a:rPr lang="zh-CN" altLang="en-US" sz="1800" dirty="0" smtClean="0">
                <a:latin typeface="华文细黑" panose="02010600040101010101" pitchFamily="2" charset="-122"/>
                <a:cs typeface="Times New Roman" panose="02020603050405020304" pitchFamily="18" charset="0"/>
              </a:rPr>
              <a:t>为了与单声道接收机兼容，将左右声道变换为主副声道，</a:t>
            </a:r>
            <a:r>
              <a:rPr lang="zh-CN" altLang="zh-CN" sz="1800" dirty="0" smtClean="0">
                <a:latin typeface="华文细黑" panose="02010600040101010101" pitchFamily="2" charset="-122"/>
                <a:cs typeface="Times New Roman" panose="02020603050405020304" pitchFamily="18" charset="0"/>
              </a:rPr>
              <a:t>主声道</a:t>
            </a:r>
            <a:r>
              <a:rPr lang="en-US" altLang="zh-CN" sz="1800" dirty="0" smtClean="0">
                <a:latin typeface="Times New Roman" panose="02020603050405020304" pitchFamily="18" charset="0"/>
                <a:ea typeface="宋体" panose="02010600030101010101" pitchFamily="2" charset="-122"/>
              </a:rPr>
              <a:t>M=L+R</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smtClean="0">
                <a:latin typeface="华文细黑" panose="02010600040101010101" pitchFamily="2" charset="-122"/>
                <a:cs typeface="Times New Roman" panose="02020603050405020304" pitchFamily="18" charset="0"/>
              </a:rPr>
              <a:t>副声道</a:t>
            </a:r>
            <a:r>
              <a:rPr lang="en-US" altLang="zh-CN" sz="1800" dirty="0" smtClean="0">
                <a:latin typeface="Times New Roman" panose="02020603050405020304" pitchFamily="18" charset="0"/>
                <a:ea typeface="宋体" panose="02010600030101010101" pitchFamily="2" charset="-122"/>
              </a:rPr>
              <a:t>S=L-R</a:t>
            </a:r>
            <a:r>
              <a:rPr lang="zh-CN" altLang="en-US" sz="1800" dirty="0" smtClean="0">
                <a:latin typeface="Times New Roman" panose="02020603050405020304" pitchFamily="18" charset="0"/>
                <a:ea typeface="宋体" panose="02010600030101010101" pitchFamily="2" charset="-122"/>
              </a:rPr>
              <a:t>，</a:t>
            </a:r>
            <a:r>
              <a:rPr lang="zh-CN" altLang="en-US" sz="1800" dirty="0" smtClean="0">
                <a:latin typeface="+mn-ea"/>
                <a:ea typeface="+mn-ea"/>
              </a:rPr>
              <a:t>单声道接收机只接收主声道，立体声接收机接收全部声道</a:t>
            </a:r>
            <a:endParaRPr lang="en-US" altLang="zh-CN" sz="1800" dirty="0" smtClean="0">
              <a:latin typeface="+mn-ea"/>
              <a:ea typeface="+mn-ea"/>
            </a:endParaRPr>
          </a:p>
          <a:p>
            <a:pPr marL="342900" indent="-342900">
              <a:lnSpc>
                <a:spcPct val="130000"/>
              </a:lnSpc>
              <a:buFont typeface="Arial" panose="020B0604020202020204" pitchFamily="34" charset="0"/>
              <a:buChar char="•"/>
            </a:pPr>
            <a:r>
              <a:rPr lang="zh-CN" altLang="en-US" sz="1800" dirty="0" smtClean="0"/>
              <a:t>副声道</a:t>
            </a:r>
            <a:r>
              <a:rPr lang="zh-CN" altLang="zh-CN" sz="1800" dirty="0" smtClean="0"/>
              <a:t>信号用</a:t>
            </a:r>
            <a:r>
              <a:rPr lang="en-US" altLang="zh-CN" sz="1800" dirty="0" smtClean="0"/>
              <a:t>DSB</a:t>
            </a:r>
            <a:r>
              <a:rPr lang="zh-CN" altLang="zh-CN" sz="1800" dirty="0" smtClean="0"/>
              <a:t>方式</a:t>
            </a:r>
            <a:r>
              <a:rPr lang="zh-CN" altLang="zh-CN" sz="1800" dirty="0"/>
              <a:t>调制到</a:t>
            </a:r>
            <a:r>
              <a:rPr lang="en-US" altLang="zh-CN" sz="1800" dirty="0"/>
              <a:t>38kHz</a:t>
            </a:r>
            <a:r>
              <a:rPr lang="zh-CN" altLang="zh-CN" sz="1800" dirty="0"/>
              <a:t>的副载频上，然后</a:t>
            </a:r>
            <a:r>
              <a:rPr lang="zh-CN" altLang="zh-CN" sz="1800" dirty="0" smtClean="0"/>
              <a:t>与</a:t>
            </a:r>
            <a:r>
              <a:rPr lang="zh-CN" altLang="en-US" sz="1800" dirty="0" smtClean="0"/>
              <a:t>主声道</a:t>
            </a:r>
            <a:r>
              <a:rPr lang="zh-CN" altLang="zh-CN" sz="1800" dirty="0" smtClean="0"/>
              <a:t>信号</a:t>
            </a:r>
            <a:r>
              <a:rPr lang="zh-CN" altLang="zh-CN" sz="1800" dirty="0"/>
              <a:t>叠加，叠加后的信号称为复合立体声</a:t>
            </a:r>
            <a:r>
              <a:rPr lang="zh-CN" altLang="zh-CN" sz="1800" dirty="0" smtClean="0"/>
              <a:t>信号</a:t>
            </a:r>
            <a:endParaRPr lang="en-US" altLang="zh-CN" sz="1800" dirty="0" smtClean="0"/>
          </a:p>
          <a:p>
            <a:pPr marL="342900" indent="-342900">
              <a:lnSpc>
                <a:spcPct val="130000"/>
              </a:lnSpc>
              <a:buFont typeface="Arial" panose="020B0604020202020204" pitchFamily="34" charset="0"/>
              <a:buChar char="•"/>
            </a:pPr>
            <a:r>
              <a:rPr lang="zh-CN" altLang="zh-CN" sz="1800" dirty="0"/>
              <a:t>复合立体声信号中插入一个</a:t>
            </a:r>
            <a:r>
              <a:rPr lang="en-US" altLang="zh-CN" sz="1800" dirty="0"/>
              <a:t>19kHz</a:t>
            </a:r>
            <a:r>
              <a:rPr lang="zh-CN" altLang="zh-CN" sz="1800" dirty="0"/>
              <a:t>的</a:t>
            </a:r>
            <a:r>
              <a:rPr lang="zh-CN" altLang="zh-CN" sz="1800" dirty="0" smtClean="0"/>
              <a:t>导频信号</a:t>
            </a:r>
            <a:endParaRPr lang="en-US" altLang="zh-CN" sz="1800" dirty="0" smtClean="0"/>
          </a:p>
          <a:p>
            <a:pPr marL="342900" indent="-342900">
              <a:lnSpc>
                <a:spcPct val="130000"/>
              </a:lnSpc>
              <a:buFont typeface="Arial" panose="020B0604020202020204" pitchFamily="34" charset="0"/>
              <a:buChar char="•"/>
            </a:pPr>
            <a:r>
              <a:rPr lang="zh-CN" altLang="zh-CN" sz="1800" dirty="0"/>
              <a:t>接收机用锁相环</a:t>
            </a:r>
            <a:r>
              <a:rPr lang="zh-CN" altLang="zh-CN" sz="1800" dirty="0" smtClean="0"/>
              <a:t>锁定导频信号</a:t>
            </a:r>
            <a:r>
              <a:rPr lang="zh-CN" altLang="en-US" sz="1800" dirty="0" smtClean="0"/>
              <a:t>（</a:t>
            </a:r>
            <a:r>
              <a:rPr lang="zh-CN" altLang="en-US" sz="1800" dirty="0" smtClean="0">
                <a:solidFill>
                  <a:srgbClr val="FF0000"/>
                </a:solidFill>
              </a:rPr>
              <a:t>同步</a:t>
            </a:r>
            <a:r>
              <a:rPr lang="zh-CN" altLang="en-US" sz="1800" dirty="0" smtClean="0"/>
              <a:t>），</a:t>
            </a:r>
            <a:r>
              <a:rPr lang="zh-CN" altLang="zh-CN" sz="1800" dirty="0" smtClean="0"/>
              <a:t>倍频</a:t>
            </a:r>
            <a:r>
              <a:rPr lang="zh-CN" altLang="zh-CN" sz="1800" dirty="0"/>
              <a:t>得到</a:t>
            </a:r>
            <a:r>
              <a:rPr lang="en-US" altLang="zh-CN" sz="1800" dirty="0"/>
              <a:t>38kHz</a:t>
            </a:r>
            <a:r>
              <a:rPr lang="zh-CN" altLang="zh-CN" sz="1800" dirty="0"/>
              <a:t>的副载频，然后将副载频与抑制载频的</a:t>
            </a:r>
            <a:r>
              <a:rPr lang="en-US" altLang="zh-CN" sz="1800" dirty="0"/>
              <a:t>S</a:t>
            </a:r>
            <a:r>
              <a:rPr lang="zh-CN" altLang="zh-CN" sz="1800" dirty="0"/>
              <a:t>信号叠加就得到普通</a:t>
            </a:r>
            <a:r>
              <a:rPr lang="en-US" altLang="zh-CN" sz="1800" dirty="0"/>
              <a:t>AM</a:t>
            </a:r>
            <a:r>
              <a:rPr lang="zh-CN" altLang="zh-CN" sz="1800" dirty="0"/>
              <a:t>方式的已调</a:t>
            </a:r>
            <a:r>
              <a:rPr lang="zh-CN" altLang="zh-CN" sz="1800" dirty="0" smtClean="0"/>
              <a:t>波</a:t>
            </a:r>
            <a:endParaRPr lang="en-US" altLang="zh-CN" sz="1800" dirty="0" smtClean="0"/>
          </a:p>
          <a:p>
            <a:pPr marL="342900" indent="-342900">
              <a:lnSpc>
                <a:spcPct val="130000"/>
              </a:lnSpc>
              <a:buFont typeface="Arial" panose="020B0604020202020204" pitchFamily="34" charset="0"/>
              <a:buChar char="•"/>
            </a:pPr>
            <a:r>
              <a:rPr lang="zh-CN" altLang="en-US" sz="1800" dirty="0" smtClean="0"/>
              <a:t>检波即可解调</a:t>
            </a:r>
            <a:r>
              <a:rPr lang="en-US" altLang="zh-CN" sz="1800" dirty="0" smtClean="0"/>
              <a:t>S</a:t>
            </a:r>
            <a:r>
              <a:rPr lang="zh-CN" altLang="en-US" sz="1800" dirty="0" smtClean="0"/>
              <a:t>信号，所以此“副载波同步”只要频率同步即可</a:t>
            </a:r>
            <a:endParaRPr lang="zh-CN" altLang="en-US" sz="1800" dirty="0"/>
          </a:p>
        </p:txBody>
      </p:sp>
      <p:sp>
        <p:nvSpPr>
          <p:cNvPr id="9" name="椭圆 8"/>
          <p:cNvSpPr/>
          <p:nvPr/>
        </p:nvSpPr>
        <p:spPr>
          <a:xfrm>
            <a:off x="1585398" y="1577725"/>
            <a:ext cx="5710065" cy="1428435"/>
          </a:xfrm>
          <a:prstGeom prst="ellipse">
            <a:avLst/>
          </a:prstGeom>
          <a:noFill/>
          <a:ln>
            <a:solidFill>
              <a:schemeClr val="accent3">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23849" y="1827064"/>
            <a:ext cx="1424742" cy="584775"/>
          </a:xfrm>
          <a:prstGeom prst="rect">
            <a:avLst/>
          </a:prstGeom>
          <a:noFill/>
        </p:spPr>
        <p:txBody>
          <a:bodyPr wrap="square" rtlCol="0">
            <a:spAutoFit/>
          </a:bodyPr>
          <a:lstStyle/>
          <a:p>
            <a:r>
              <a:rPr lang="zh-CN" altLang="en-US" sz="1600" dirty="0" smtClean="0">
                <a:solidFill>
                  <a:srgbClr val="006C31"/>
                </a:solidFill>
              </a:rPr>
              <a:t>单声道接收</a:t>
            </a:r>
            <a:endParaRPr lang="en-US" altLang="zh-CN" sz="1600" dirty="0" smtClean="0">
              <a:solidFill>
                <a:srgbClr val="006C31"/>
              </a:solidFill>
            </a:endParaRPr>
          </a:p>
          <a:p>
            <a:r>
              <a:rPr lang="zh-CN" altLang="en-US" sz="1600" dirty="0" smtClean="0">
                <a:solidFill>
                  <a:srgbClr val="006C31"/>
                </a:solidFill>
              </a:rPr>
              <a:t>主声道</a:t>
            </a:r>
            <a:endParaRPr lang="zh-CN" altLang="en-US" sz="1600" dirty="0">
              <a:solidFill>
                <a:srgbClr val="006C31"/>
              </a:solidFill>
            </a:endParaRPr>
          </a:p>
        </p:txBody>
      </p:sp>
      <p:sp>
        <p:nvSpPr>
          <p:cNvPr id="11" name="文本框 10"/>
          <p:cNvSpPr txBox="1"/>
          <p:nvPr/>
        </p:nvSpPr>
        <p:spPr>
          <a:xfrm>
            <a:off x="7028390" y="1534676"/>
            <a:ext cx="1263056" cy="584775"/>
          </a:xfrm>
          <a:prstGeom prst="rect">
            <a:avLst/>
          </a:prstGeom>
          <a:noFill/>
        </p:spPr>
        <p:txBody>
          <a:bodyPr wrap="square" rtlCol="0">
            <a:spAutoFit/>
          </a:bodyPr>
          <a:lstStyle/>
          <a:p>
            <a:r>
              <a:rPr lang="zh-CN" altLang="en-US" sz="1600" dirty="0" smtClean="0">
                <a:solidFill>
                  <a:schemeClr val="accent3">
                    <a:lumMod val="50000"/>
                  </a:schemeClr>
                </a:solidFill>
                <a:latin typeface="黑体" panose="02010609060101010101" pitchFamily="49" charset="-122"/>
                <a:ea typeface="黑体" panose="02010609060101010101" pitchFamily="49" charset="-122"/>
              </a:rPr>
              <a:t>立体声接收</a:t>
            </a:r>
            <a:endParaRPr lang="en-US" altLang="zh-CN" sz="1600" dirty="0" smtClean="0">
              <a:solidFill>
                <a:schemeClr val="accent3">
                  <a:lumMod val="50000"/>
                </a:schemeClr>
              </a:solidFill>
              <a:latin typeface="黑体" panose="02010609060101010101" pitchFamily="49" charset="-122"/>
              <a:ea typeface="黑体" panose="02010609060101010101" pitchFamily="49" charset="-122"/>
            </a:endParaRPr>
          </a:p>
          <a:p>
            <a:r>
              <a:rPr lang="zh-CN" altLang="en-US" sz="1600" dirty="0" smtClean="0">
                <a:solidFill>
                  <a:schemeClr val="accent3">
                    <a:lumMod val="50000"/>
                  </a:schemeClr>
                </a:solidFill>
                <a:latin typeface="黑体" panose="02010609060101010101" pitchFamily="49" charset="-122"/>
                <a:ea typeface="黑体" panose="02010609060101010101" pitchFamily="49" charset="-122"/>
              </a:rPr>
              <a:t>全部声道</a:t>
            </a:r>
            <a:endParaRPr lang="zh-CN" altLang="en-US" sz="1600" dirty="0">
              <a:solidFill>
                <a:schemeClr val="accent3">
                  <a:lumMod val="50000"/>
                </a:schemeClr>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399143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323849" y="493497"/>
            <a:ext cx="8399131" cy="5355312"/>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sz="1800" dirty="0"/>
              <a:t>彩电中的彩色副</a:t>
            </a:r>
            <a:r>
              <a:rPr lang="zh-CN" altLang="zh-CN" sz="1800" dirty="0" smtClean="0"/>
              <a:t>载波</a:t>
            </a:r>
            <a:endParaRPr lang="en-US" altLang="zh-CN" sz="1800" dirty="0" smtClean="0"/>
          </a:p>
          <a:p>
            <a:pPr marL="342900" indent="-342900">
              <a:lnSpc>
                <a:spcPct val="150000"/>
              </a:lnSpc>
              <a:buFont typeface="Arial" panose="020B0604020202020204" pitchFamily="34" charset="0"/>
              <a:buChar char="•"/>
            </a:pPr>
            <a:r>
              <a:rPr lang="zh-CN" altLang="en-US" sz="1800" dirty="0" smtClean="0"/>
              <a:t>模拟彩电的色度信号采用正交调幅形式，其相位表示颜色，幅度表示颜色的饱和度。接收端采用同步解调恢复其相位与幅度</a:t>
            </a:r>
            <a:endParaRPr lang="en-US" altLang="zh-CN" sz="1800" dirty="0" smtClean="0"/>
          </a:p>
          <a:p>
            <a:pPr marL="342900" indent="-342900">
              <a:lnSpc>
                <a:spcPct val="150000"/>
              </a:lnSpc>
              <a:buFont typeface="Arial" panose="020B0604020202020204" pitchFamily="34" charset="0"/>
              <a:buChar char="•"/>
            </a:pPr>
            <a:r>
              <a:rPr lang="zh-CN" altLang="en-US" sz="1800" dirty="0" smtClean="0"/>
              <a:t>发送端在每行电视信号的回扫期间插入色同步信号作为参考相位</a:t>
            </a:r>
            <a:endParaRPr lang="en-US" altLang="zh-CN" sz="1800" dirty="0" smtClean="0"/>
          </a:p>
          <a:p>
            <a:pPr marL="342900" indent="-342900">
              <a:lnSpc>
                <a:spcPct val="150000"/>
              </a:lnSpc>
              <a:buFont typeface="Arial" panose="020B0604020202020204" pitchFamily="34" charset="0"/>
              <a:buChar char="•"/>
            </a:pPr>
            <a:endParaRPr lang="en-US" altLang="zh-CN" sz="1600" dirty="0"/>
          </a:p>
          <a:p>
            <a:pPr marL="342900" indent="-342900">
              <a:lnSpc>
                <a:spcPct val="150000"/>
              </a:lnSpc>
              <a:buFont typeface="Arial" panose="020B0604020202020204" pitchFamily="34" charset="0"/>
              <a:buChar char="•"/>
            </a:pPr>
            <a:endParaRPr lang="en-US" altLang="zh-CN" sz="1800" dirty="0" smtClean="0"/>
          </a:p>
          <a:p>
            <a:pPr marL="342900" indent="-342900">
              <a:lnSpc>
                <a:spcPct val="150000"/>
              </a:lnSpc>
              <a:buFont typeface="Arial" panose="020B0604020202020204" pitchFamily="34" charset="0"/>
              <a:buChar char="•"/>
            </a:pPr>
            <a:endParaRPr lang="en-US" altLang="zh-CN" sz="1800" dirty="0"/>
          </a:p>
          <a:p>
            <a:pPr marL="342900" indent="-342900">
              <a:lnSpc>
                <a:spcPct val="150000"/>
              </a:lnSpc>
              <a:buFont typeface="Arial" panose="020B0604020202020204" pitchFamily="34" charset="0"/>
              <a:buChar char="•"/>
            </a:pPr>
            <a:endParaRPr lang="en-US" altLang="zh-CN" sz="1800" dirty="0" smtClean="0"/>
          </a:p>
          <a:p>
            <a:pPr marL="342900" indent="-342900">
              <a:lnSpc>
                <a:spcPct val="150000"/>
              </a:lnSpc>
              <a:buFont typeface="Arial" panose="020B0604020202020204" pitchFamily="34" charset="0"/>
              <a:buChar char="•"/>
            </a:pPr>
            <a:endParaRPr lang="en-US" altLang="zh-CN" sz="1400" dirty="0" smtClean="0"/>
          </a:p>
          <a:p>
            <a:pPr marL="342900" indent="-342900">
              <a:lnSpc>
                <a:spcPct val="150000"/>
              </a:lnSpc>
              <a:buFont typeface="Arial" panose="020B0604020202020204" pitchFamily="34" charset="0"/>
              <a:buChar char="•"/>
            </a:pPr>
            <a:r>
              <a:rPr lang="zh-CN" altLang="en-US" sz="1800" dirty="0" smtClean="0"/>
              <a:t>接收机用锁相环锁定</a:t>
            </a:r>
            <a:r>
              <a:rPr lang="zh-CN" altLang="en-US" sz="1800" dirty="0"/>
              <a:t>色同步信号</a:t>
            </a:r>
            <a:r>
              <a:rPr lang="zh-CN" altLang="en-US" sz="1800" dirty="0" smtClean="0"/>
              <a:t>（</a:t>
            </a:r>
            <a:r>
              <a:rPr lang="zh-CN" altLang="en-US" sz="1800" dirty="0" smtClean="0">
                <a:solidFill>
                  <a:srgbClr val="FF0000"/>
                </a:solidFill>
              </a:rPr>
              <a:t>同步</a:t>
            </a:r>
            <a:r>
              <a:rPr lang="zh-CN" altLang="en-US" sz="1800" dirty="0"/>
              <a:t>），</a:t>
            </a:r>
            <a:r>
              <a:rPr lang="zh-CN" altLang="en-US" sz="1800" dirty="0" smtClean="0"/>
              <a:t>得到一个与发送端同频同相的“彩色副载频”信号作为恢复色度信号的参考相位</a:t>
            </a:r>
            <a:endParaRPr lang="en-US" altLang="zh-CN" sz="1800" dirty="0" smtClean="0"/>
          </a:p>
          <a:p>
            <a:pPr marL="342900" indent="-342900">
              <a:lnSpc>
                <a:spcPct val="150000"/>
              </a:lnSpc>
              <a:buFont typeface="Arial" panose="020B0604020202020204" pitchFamily="34" charset="0"/>
              <a:buChar char="•"/>
            </a:pPr>
            <a:r>
              <a:rPr lang="zh-CN" altLang="en-US" sz="1800" dirty="0" smtClean="0"/>
              <a:t>解调色度信号需要以同步信号做参考相位，所以此“副载波同步”必须做到相位同步</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226588587"/>
              </p:ext>
            </p:extLst>
          </p:nvPr>
        </p:nvGraphicFramePr>
        <p:xfrm>
          <a:off x="640674" y="2334215"/>
          <a:ext cx="7857577" cy="1539350"/>
        </p:xfrm>
        <a:graphic>
          <a:graphicData uri="http://schemas.openxmlformats.org/presentationml/2006/ole">
            <mc:AlternateContent xmlns:mc="http://schemas.openxmlformats.org/markup-compatibility/2006">
              <mc:Choice xmlns:v="urn:schemas-microsoft-com:vml" Requires="v">
                <p:oleObj spid="_x0000_s21589" name="Visio" r:id="rId3" imgW="4927566" imgH="977990" progId="Visio.Drawing.11">
                  <p:embed/>
                </p:oleObj>
              </mc:Choice>
              <mc:Fallback>
                <p:oleObj name="Visio" r:id="rId3" imgW="4927566" imgH="97799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674" y="2334215"/>
                        <a:ext cx="7857577" cy="1539350"/>
                      </a:xfrm>
                      <a:prstGeom prst="rect">
                        <a:avLst/>
                      </a:prstGeom>
                      <a:noFill/>
                    </p:spPr>
                  </p:pic>
                </p:oleObj>
              </mc:Fallback>
            </mc:AlternateContent>
          </a:graphicData>
        </a:graphic>
      </p:graphicFrame>
    </p:spTree>
    <p:extLst>
      <p:ext uri="{BB962C8B-B14F-4D97-AF65-F5344CB8AC3E}">
        <p14:creationId xmlns:p14="http://schemas.microsoft.com/office/powerpoint/2010/main" val="1089590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10" name="文本框 9"/>
          <p:cNvSpPr txBox="1"/>
          <p:nvPr/>
        </p:nvSpPr>
        <p:spPr>
          <a:xfrm>
            <a:off x="389373" y="292255"/>
            <a:ext cx="8379657" cy="3162404"/>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数字通信中的载波同步举例</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25000"/>
              </a:lnSpc>
              <a:buFont typeface="Wingdings" panose="05000000000000000000" pitchFamily="2" charset="2"/>
              <a:buChar char="Ø"/>
            </a:pPr>
            <a:r>
              <a:rPr lang="zh-CN" altLang="en-US" sz="1800" dirty="0" smtClean="0"/>
              <a:t>平方环</a:t>
            </a:r>
            <a:endParaRPr lang="en-US" altLang="zh-CN" sz="1800" dirty="0" smtClean="0"/>
          </a:p>
          <a:p>
            <a:pPr marL="342900" indent="-342900">
              <a:lnSpc>
                <a:spcPct val="125000"/>
              </a:lnSpc>
              <a:buFont typeface="Arial" panose="020B0604020202020204" pitchFamily="34" charset="0"/>
              <a:buChar char="•"/>
            </a:pPr>
            <a:r>
              <a:rPr lang="zh-CN" altLang="zh-CN" sz="1800" dirty="0" smtClean="0"/>
              <a:t>数字通信</a:t>
            </a:r>
            <a:r>
              <a:rPr lang="zh-CN" altLang="zh-CN" sz="1800" dirty="0"/>
              <a:t>中原始的数字信号经过编码后对载波进行调制，通常编码后的数字流中的</a:t>
            </a:r>
            <a:r>
              <a:rPr lang="en-US" altLang="zh-CN" sz="1800" dirty="0"/>
              <a:t>0</a:t>
            </a:r>
            <a:r>
              <a:rPr lang="zh-CN" altLang="zh-CN" sz="1800" dirty="0"/>
              <a:t>和</a:t>
            </a:r>
            <a:r>
              <a:rPr lang="en-US" altLang="zh-CN" sz="1800" dirty="0"/>
              <a:t>1</a:t>
            </a:r>
            <a:r>
              <a:rPr lang="zh-CN" altLang="zh-CN" sz="1800" dirty="0"/>
              <a:t>具有相同的出现概率，所以调制后的信号中几乎没有载波</a:t>
            </a:r>
            <a:r>
              <a:rPr lang="zh-CN" altLang="zh-CN" sz="1800" dirty="0" smtClean="0"/>
              <a:t>分量</a:t>
            </a:r>
            <a:r>
              <a:rPr lang="zh-CN" altLang="en-US" sz="1800" dirty="0" smtClean="0"/>
              <a:t>（二进制载波抑制信号，类似模拟调制中的</a:t>
            </a:r>
            <a:r>
              <a:rPr lang="en-US" altLang="zh-CN" sz="1800" dirty="0" smtClean="0"/>
              <a:t>DSB</a:t>
            </a:r>
            <a:r>
              <a:rPr lang="zh-CN" altLang="en-US" sz="1800" dirty="0" smtClean="0"/>
              <a:t>信号）</a:t>
            </a:r>
            <a:endParaRPr lang="en-US" altLang="zh-CN" sz="1800" dirty="0" smtClean="0"/>
          </a:p>
          <a:p>
            <a:pPr marL="342900" indent="-342900">
              <a:lnSpc>
                <a:spcPct val="125000"/>
              </a:lnSpc>
              <a:buFont typeface="Arial" panose="020B0604020202020204" pitchFamily="34" charset="0"/>
              <a:buChar char="•"/>
            </a:pPr>
            <a:r>
              <a:rPr lang="zh-CN" altLang="en-US" sz="1800" dirty="0" smtClean="0"/>
              <a:t>为了</a:t>
            </a:r>
            <a:r>
              <a:rPr lang="zh-CN" altLang="zh-CN" sz="1800" dirty="0" smtClean="0"/>
              <a:t>用锁相环恢复同步信号</a:t>
            </a:r>
            <a:r>
              <a:rPr lang="zh-CN" altLang="en-US" sz="1800" dirty="0" smtClean="0"/>
              <a:t>，</a:t>
            </a:r>
            <a:r>
              <a:rPr lang="zh-CN" altLang="zh-CN" sz="1800" dirty="0" smtClean="0"/>
              <a:t>将</a:t>
            </a:r>
            <a:r>
              <a:rPr lang="zh-CN" altLang="en-US" sz="1800" dirty="0"/>
              <a:t>二进制载波抑制</a:t>
            </a:r>
            <a:r>
              <a:rPr lang="zh-CN" altLang="zh-CN" sz="1800" dirty="0"/>
              <a:t>信号用乘法器平方，得到的信号含有载频的</a:t>
            </a:r>
            <a:r>
              <a:rPr lang="en-US" altLang="zh-CN" sz="1800" dirty="0"/>
              <a:t>2</a:t>
            </a:r>
            <a:r>
              <a:rPr lang="zh-CN" altLang="zh-CN" sz="1800" dirty="0"/>
              <a:t>倍频分量，然后用锁相环锁定此</a:t>
            </a:r>
            <a:r>
              <a:rPr lang="en-US" altLang="zh-CN" sz="1800" dirty="0"/>
              <a:t>2</a:t>
            </a:r>
            <a:r>
              <a:rPr lang="zh-CN" altLang="zh-CN" sz="1800" dirty="0"/>
              <a:t>倍频</a:t>
            </a:r>
            <a:r>
              <a:rPr lang="zh-CN" altLang="zh-CN" sz="1800" dirty="0" smtClean="0"/>
              <a:t>分量</a:t>
            </a:r>
            <a:r>
              <a:rPr lang="zh-CN" altLang="en-US" sz="1800" dirty="0" smtClean="0"/>
              <a:t>（</a:t>
            </a:r>
            <a:r>
              <a:rPr lang="zh-CN" altLang="en-US" sz="1800" dirty="0" smtClean="0">
                <a:solidFill>
                  <a:srgbClr val="FF0000"/>
                </a:solidFill>
              </a:rPr>
              <a:t>同步</a:t>
            </a:r>
            <a:r>
              <a:rPr lang="zh-CN" altLang="en-US" sz="1800" dirty="0" smtClean="0"/>
              <a:t>）</a:t>
            </a:r>
            <a:r>
              <a:rPr lang="zh-CN" altLang="zh-CN" sz="1800" dirty="0" smtClean="0"/>
              <a:t>，</a:t>
            </a:r>
            <a:r>
              <a:rPr lang="zh-CN" altLang="zh-CN" sz="1800" dirty="0"/>
              <a:t>再经</a:t>
            </a:r>
            <a:r>
              <a:rPr lang="en-US" altLang="zh-CN" sz="1800" dirty="0"/>
              <a:t>2</a:t>
            </a:r>
            <a:r>
              <a:rPr lang="zh-CN" altLang="zh-CN" sz="1800" dirty="0"/>
              <a:t>分频就得到了恢复的</a:t>
            </a:r>
            <a:r>
              <a:rPr lang="zh-CN" altLang="zh-CN" sz="1800" dirty="0" smtClean="0"/>
              <a:t>载频</a:t>
            </a:r>
            <a:endParaRPr lang="zh-CN" altLang="en-US" sz="1800" dirty="0"/>
          </a:p>
        </p:txBody>
      </p:sp>
      <p:pic>
        <p:nvPicPr>
          <p:cNvPr id="6" name="图片 5"/>
          <p:cNvPicPr>
            <a:picLocks noChangeAspect="1"/>
          </p:cNvPicPr>
          <p:nvPr/>
        </p:nvPicPr>
        <p:blipFill>
          <a:blip r:embed="rId2"/>
          <a:stretch>
            <a:fillRect/>
          </a:stretch>
        </p:blipFill>
        <p:spPr>
          <a:xfrm>
            <a:off x="1047212" y="3554207"/>
            <a:ext cx="7094581" cy="2771321"/>
          </a:xfrm>
          <a:prstGeom prst="rect">
            <a:avLst/>
          </a:prstGeom>
        </p:spPr>
      </p:pic>
      <p:sp>
        <p:nvSpPr>
          <p:cNvPr id="5" name="文本框 4"/>
          <p:cNvSpPr txBox="1"/>
          <p:nvPr/>
        </p:nvSpPr>
        <p:spPr>
          <a:xfrm>
            <a:off x="3993100" y="3355110"/>
            <a:ext cx="2170878" cy="523220"/>
          </a:xfrm>
          <a:prstGeom prst="rect">
            <a:avLst/>
          </a:prstGeom>
          <a:solidFill>
            <a:srgbClr val="FFFF00"/>
          </a:solidFill>
        </p:spPr>
        <p:txBody>
          <a:bodyPr wrap="square" rtlCol="0">
            <a:spAutoFit/>
          </a:bodyPr>
          <a:lstStyle/>
          <a:p>
            <a:pPr algn="ctr"/>
            <a:r>
              <a:rPr lang="zh-CN" altLang="en-US" sz="1400" dirty="0" smtClean="0"/>
              <a:t>锁相环等效于窄带滤波器</a:t>
            </a:r>
            <a:endParaRPr lang="en-US" altLang="zh-CN" sz="1400" dirty="0" smtClean="0"/>
          </a:p>
          <a:p>
            <a:pPr algn="ctr"/>
            <a:r>
              <a:rPr lang="zh-CN" altLang="en-US" sz="1400" dirty="0" smtClean="0"/>
              <a:t>取出载波的二倍频分量</a:t>
            </a:r>
            <a:endParaRPr lang="zh-CN" altLang="en-US" sz="1400" dirty="0"/>
          </a:p>
        </p:txBody>
      </p:sp>
    </p:spTree>
    <p:extLst>
      <p:ext uri="{BB962C8B-B14F-4D97-AF65-F5344CB8AC3E}">
        <p14:creationId xmlns:p14="http://schemas.microsoft.com/office/powerpoint/2010/main" val="340885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6" name="矩形 5"/>
          <p:cNvSpPr/>
          <p:nvPr/>
        </p:nvSpPr>
        <p:spPr>
          <a:xfrm>
            <a:off x="468312" y="567504"/>
            <a:ext cx="8397875" cy="2529923"/>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sz="1800" dirty="0">
                <a:latin typeface="+mj-lt"/>
                <a:ea typeface="+mn-ea"/>
              </a:rPr>
              <a:t>Costas</a:t>
            </a:r>
            <a:r>
              <a:rPr lang="zh-CN" altLang="zh-CN" sz="1800" dirty="0" smtClean="0">
                <a:latin typeface="+mn-ea"/>
                <a:ea typeface="+mn-ea"/>
                <a:cs typeface="Times New Roman" panose="02020603050405020304" pitchFamily="18" charset="0"/>
              </a:rPr>
              <a:t>环</a:t>
            </a:r>
            <a:endParaRPr lang="en-US" altLang="zh-CN" sz="1800" dirty="0" smtClean="0">
              <a:latin typeface="+mn-ea"/>
              <a:ea typeface="+mn-ea"/>
              <a:cs typeface="Times New Roman" panose="02020603050405020304" pitchFamily="18" charset="0"/>
            </a:endParaRPr>
          </a:p>
          <a:p>
            <a:pPr marL="342900" indent="-342900">
              <a:lnSpc>
                <a:spcPct val="130000"/>
              </a:lnSpc>
              <a:buFont typeface="Arial" panose="020B0604020202020204" pitchFamily="34" charset="0"/>
              <a:buChar char="•"/>
            </a:pPr>
            <a:r>
              <a:rPr lang="zh-CN" altLang="en-US" sz="1800" dirty="0" smtClean="0">
                <a:latin typeface="+mj-lt"/>
                <a:ea typeface="+mn-ea"/>
              </a:rPr>
              <a:t>应用于</a:t>
            </a:r>
            <a:r>
              <a:rPr lang="en-US" altLang="zh-CN" sz="1800" dirty="0" smtClean="0">
                <a:latin typeface="+mj-lt"/>
                <a:ea typeface="+mn-ea"/>
              </a:rPr>
              <a:t>QPSK</a:t>
            </a:r>
            <a:r>
              <a:rPr lang="zh-CN" altLang="zh-CN" sz="1800" dirty="0">
                <a:latin typeface="+mn-ea"/>
                <a:ea typeface="+mn-ea"/>
                <a:cs typeface="Times New Roman" panose="02020603050405020304" pitchFamily="18" charset="0"/>
              </a:rPr>
              <a:t>、</a:t>
            </a:r>
            <a:r>
              <a:rPr lang="en-US" altLang="zh-CN" sz="1800" dirty="0">
                <a:latin typeface="+mj-lt"/>
                <a:ea typeface="+mn-ea"/>
              </a:rPr>
              <a:t>QAM</a:t>
            </a:r>
            <a:r>
              <a:rPr lang="zh-CN" altLang="zh-CN" sz="1800" dirty="0" smtClean="0">
                <a:latin typeface="+mn-ea"/>
                <a:ea typeface="+mn-ea"/>
                <a:cs typeface="Times New Roman" panose="02020603050405020304" pitchFamily="18" charset="0"/>
              </a:rPr>
              <a:t>等</a:t>
            </a:r>
            <a:r>
              <a:rPr lang="zh-CN" altLang="en-US" sz="1800" dirty="0" smtClean="0">
                <a:latin typeface="+mn-ea"/>
                <a:ea typeface="+mn-ea"/>
                <a:cs typeface="Times New Roman" panose="02020603050405020304" pitchFamily="18" charset="0"/>
              </a:rPr>
              <a:t>正交</a:t>
            </a:r>
            <a:r>
              <a:rPr lang="zh-CN" altLang="zh-CN" sz="1800" dirty="0" smtClean="0">
                <a:latin typeface="+mn-ea"/>
                <a:ea typeface="+mn-ea"/>
                <a:cs typeface="Times New Roman" panose="02020603050405020304" pitchFamily="18" charset="0"/>
              </a:rPr>
              <a:t>调制</a:t>
            </a:r>
            <a:r>
              <a:rPr lang="zh-CN" altLang="en-US" sz="1800" dirty="0" smtClean="0">
                <a:latin typeface="+mn-ea"/>
                <a:ea typeface="+mn-ea"/>
                <a:cs typeface="Times New Roman" panose="02020603050405020304" pitchFamily="18" charset="0"/>
              </a:rPr>
              <a:t>信号的解调</a:t>
            </a:r>
            <a:endParaRPr lang="en-US" altLang="zh-CN" sz="1800" dirty="0" smtClean="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1800" dirty="0">
                <a:latin typeface="+mj-lt"/>
                <a:ea typeface="+mn-ea"/>
              </a:rPr>
              <a:t>可以看作是两个相互正交的锁相环的</a:t>
            </a:r>
            <a:r>
              <a:rPr lang="zh-CN" altLang="zh-CN" sz="1800" dirty="0" smtClean="0">
                <a:latin typeface="+mj-lt"/>
                <a:ea typeface="+mn-ea"/>
              </a:rPr>
              <a:t>合成</a:t>
            </a:r>
            <a:r>
              <a:rPr lang="zh-CN" altLang="en-US" sz="1800" dirty="0" smtClean="0">
                <a:latin typeface="+mj-lt"/>
                <a:ea typeface="+mn-ea"/>
              </a:rPr>
              <a:t>。锁相环锁定再输入信号的载频分量上（</a:t>
            </a:r>
            <a:r>
              <a:rPr lang="zh-CN" altLang="en-US" sz="1800" dirty="0" smtClean="0">
                <a:solidFill>
                  <a:srgbClr val="FF0000"/>
                </a:solidFill>
                <a:latin typeface="+mj-lt"/>
                <a:ea typeface="+mn-ea"/>
              </a:rPr>
              <a:t>载波同步</a:t>
            </a:r>
            <a:r>
              <a:rPr lang="zh-CN" altLang="en-US" sz="1800" dirty="0" smtClean="0">
                <a:latin typeface="+mj-lt"/>
                <a:ea typeface="+mn-ea"/>
              </a:rPr>
              <a:t>），</a:t>
            </a:r>
            <a:r>
              <a:rPr lang="en-US" altLang="zh-CN" sz="1800" dirty="0" smtClean="0">
                <a:latin typeface="+mj-lt"/>
                <a:ea typeface="+mn-ea"/>
              </a:rPr>
              <a:t>VCO</a:t>
            </a:r>
            <a:r>
              <a:rPr lang="zh-CN" altLang="en-US" sz="1800" dirty="0">
                <a:latin typeface="+mj-lt"/>
                <a:ea typeface="+mn-ea"/>
              </a:rPr>
              <a:t>产生的两</a:t>
            </a:r>
            <a:r>
              <a:rPr lang="zh-CN" altLang="en-US" sz="1800" dirty="0" smtClean="0">
                <a:latin typeface="+mj-lt"/>
                <a:ea typeface="+mn-ea"/>
              </a:rPr>
              <a:t>个相互正交的信号，与输入信号相乘后得到其</a:t>
            </a:r>
            <a:r>
              <a:rPr lang="en-US" altLang="zh-CN" sz="1800" dirty="0" smtClean="0">
                <a:latin typeface="+mj-lt"/>
                <a:ea typeface="+mn-ea"/>
              </a:rPr>
              <a:t>IQ</a:t>
            </a:r>
            <a:r>
              <a:rPr lang="zh-CN" altLang="en-US" sz="1800" dirty="0" smtClean="0">
                <a:latin typeface="+mj-lt"/>
                <a:ea typeface="+mn-ea"/>
              </a:rPr>
              <a:t>分量如下图</a:t>
            </a:r>
            <a:endParaRPr lang="en-US" altLang="zh-CN" sz="1800" dirty="0" smtClean="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1800" dirty="0" smtClean="0"/>
              <a:t>当</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1=</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2</a:t>
            </a:r>
            <a:r>
              <a:rPr lang="zh-CN" altLang="en-US" sz="1800" dirty="0" smtClean="0">
                <a:latin typeface="Times New Roman" panose="02020603050405020304" pitchFamily="18" charset="0"/>
                <a:cs typeface="Times New Roman" panose="02020603050405020304" pitchFamily="18" charset="0"/>
              </a:rPr>
              <a:t>时，</a:t>
            </a:r>
            <a:r>
              <a:rPr lang="zh-CN" altLang="zh-CN" sz="1800" dirty="0" smtClean="0"/>
              <a:t>输出</a:t>
            </a:r>
            <a:r>
              <a:rPr lang="zh-CN" altLang="en-US" sz="1800" dirty="0" smtClean="0"/>
              <a:t>就是</a:t>
            </a:r>
            <a:r>
              <a:rPr lang="zh-CN" altLang="zh-CN" sz="1800" dirty="0" smtClean="0"/>
              <a:t>解调</a:t>
            </a:r>
            <a:r>
              <a:rPr lang="zh-CN" altLang="zh-CN" sz="1800" dirty="0"/>
              <a:t>后的基带比特</a:t>
            </a:r>
            <a:r>
              <a:rPr lang="zh-CN" altLang="zh-CN" sz="1800" dirty="0" smtClean="0"/>
              <a:t>流</a:t>
            </a:r>
            <a:r>
              <a:rPr lang="en-US" altLang="zh-CN" sz="1800" i="1" dirty="0" smtClean="0">
                <a:latin typeface="+mn-lt"/>
              </a:rPr>
              <a:t>a</a:t>
            </a:r>
            <a:r>
              <a:rPr lang="en-US" altLang="zh-CN" sz="1800" dirty="0" smtClean="0"/>
              <a:t>(</a:t>
            </a:r>
            <a:r>
              <a:rPr lang="en-US" altLang="zh-CN" sz="1800" i="1" dirty="0" smtClean="0"/>
              <a:t>t</a:t>
            </a:r>
            <a:r>
              <a:rPr lang="en-US" altLang="zh-CN" sz="1800" dirty="0" smtClean="0"/>
              <a:t>)</a:t>
            </a:r>
          </a:p>
        </p:txBody>
      </p:sp>
      <p:pic>
        <p:nvPicPr>
          <p:cNvPr id="7" name="图片 6"/>
          <p:cNvPicPr>
            <a:picLocks noChangeAspect="1"/>
          </p:cNvPicPr>
          <p:nvPr/>
        </p:nvPicPr>
        <p:blipFill>
          <a:blip r:embed="rId2"/>
          <a:stretch>
            <a:fillRect/>
          </a:stretch>
        </p:blipFill>
        <p:spPr>
          <a:xfrm>
            <a:off x="615698" y="3288205"/>
            <a:ext cx="7982294" cy="2609821"/>
          </a:xfrm>
          <a:prstGeom prst="rect">
            <a:avLst/>
          </a:prstGeom>
        </p:spPr>
      </p:pic>
    </p:spTree>
    <p:extLst>
      <p:ext uri="{BB962C8B-B14F-4D97-AF65-F5344CB8AC3E}">
        <p14:creationId xmlns:p14="http://schemas.microsoft.com/office/powerpoint/2010/main" val="101612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323848" y="329037"/>
            <a:ext cx="8542339" cy="5616922"/>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载波同步的特点以及载波同步电路的设计要点</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Arial" panose="020B0604020202020204" pitchFamily="34" charset="0"/>
              <a:buChar char="•"/>
            </a:pPr>
            <a:r>
              <a:rPr lang="zh-CN" altLang="en-US" sz="1800" dirty="0" smtClean="0"/>
              <a:t>无线通信条件下，载波信号的特点：高频率、低幅度，较差的信噪比</a:t>
            </a:r>
            <a:endParaRPr lang="en-US" altLang="zh-CN" sz="1800" dirty="0" smtClean="0"/>
          </a:p>
          <a:p>
            <a:pPr marL="342900" indent="-342900">
              <a:lnSpc>
                <a:spcPct val="150000"/>
              </a:lnSpc>
              <a:buFont typeface="Arial" panose="020B0604020202020204" pitchFamily="34" charset="0"/>
              <a:buChar char="•"/>
            </a:pPr>
            <a:r>
              <a:rPr lang="zh-CN" altLang="en-US" sz="1800" dirty="0" smtClean="0"/>
              <a:t>以锁相环实现载波同步</a:t>
            </a:r>
          </a:p>
          <a:p>
            <a:pPr marL="342900" indent="-342900">
              <a:lnSpc>
                <a:spcPct val="150000"/>
              </a:lnSpc>
              <a:buFont typeface="Arial" panose="020B0604020202020204" pitchFamily="34" charset="0"/>
              <a:buChar char="•"/>
            </a:pPr>
            <a:r>
              <a:rPr lang="zh-CN" altLang="en-US" sz="1800" dirty="0" smtClean="0"/>
              <a:t>通常采用乘法器形式的鉴相器，满足高频率、低噪声性能</a:t>
            </a:r>
            <a:endParaRPr lang="en-US" altLang="zh-CN" sz="1800" dirty="0" smtClean="0"/>
          </a:p>
          <a:p>
            <a:pPr marL="342900" indent="-342900">
              <a:lnSpc>
                <a:spcPct val="150000"/>
              </a:lnSpc>
              <a:buFont typeface="Arial" panose="020B0604020202020204" pitchFamily="34" charset="0"/>
              <a:buChar char="•"/>
            </a:pPr>
            <a:r>
              <a:rPr lang="zh-CN" altLang="en-US" sz="1800" dirty="0" smtClean="0"/>
              <a:t>当输入的信噪比较好时，可以按照</a:t>
            </a:r>
            <a:r>
              <a:rPr lang="en-US" altLang="zh-CN" sz="1800" dirty="0" smtClean="0"/>
              <a:t>《</a:t>
            </a:r>
            <a:r>
              <a:rPr lang="zh-CN" altLang="en-US" sz="1800" dirty="0" smtClean="0"/>
              <a:t>锁相环</a:t>
            </a:r>
            <a:r>
              <a:rPr lang="en-US" altLang="zh-CN" sz="1800" dirty="0" smtClean="0"/>
              <a:t>》PPT</a:t>
            </a:r>
            <a:r>
              <a:rPr lang="zh-CN" altLang="en-US" sz="1800" dirty="0" smtClean="0"/>
              <a:t>中频率合成器的设计过程设计载波同步电路</a:t>
            </a:r>
            <a:r>
              <a:rPr lang="zh-CN" altLang="en-US" sz="1800" dirty="0"/>
              <a:t>，将频率合成器中</a:t>
            </a:r>
            <a:r>
              <a:rPr lang="zh-CN" altLang="en-US" sz="1800" dirty="0" smtClean="0"/>
              <a:t>的参考信号更换为输入鉴相器的载波信号即可</a:t>
            </a:r>
            <a:endParaRPr lang="en-US" altLang="zh-CN" sz="1800" dirty="0" smtClean="0"/>
          </a:p>
          <a:p>
            <a:pPr marL="342900" indent="-342900">
              <a:lnSpc>
                <a:spcPct val="150000"/>
              </a:lnSpc>
              <a:buFont typeface="Arial" panose="020B0604020202020204" pitchFamily="34" charset="0"/>
              <a:buChar char="•"/>
            </a:pPr>
            <a:r>
              <a:rPr lang="zh-CN" altLang="en-US" sz="1800" dirty="0" smtClean="0"/>
              <a:t>当输入的信噪比较差时，设计时必须考虑锁相环的噪声特性：</a:t>
            </a:r>
            <a:endParaRPr lang="en-US" altLang="zh-CN" sz="1800" dirty="0" smtClean="0"/>
          </a:p>
          <a:p>
            <a:pPr lvl="1">
              <a:lnSpc>
                <a:spcPct val="150000"/>
              </a:lnSpc>
              <a:spcBef>
                <a:spcPts val="600"/>
              </a:spcBef>
              <a:spcAft>
                <a:spcPts val="600"/>
              </a:spcAft>
            </a:pPr>
            <a:r>
              <a:rPr lang="zh-CN" altLang="en-US" sz="1800" dirty="0" smtClean="0"/>
              <a:t>低</a:t>
            </a:r>
            <a:r>
              <a:rPr lang="zh-CN" altLang="en-US" sz="1800" dirty="0"/>
              <a:t>信噪比条件下的载波同步电路</a:t>
            </a:r>
            <a:r>
              <a:rPr lang="zh-CN" altLang="en-US" sz="1800" dirty="0" smtClean="0"/>
              <a:t>中，</a:t>
            </a:r>
            <a:r>
              <a:rPr lang="zh-CN" altLang="zh-CN" sz="1800" dirty="0" smtClean="0"/>
              <a:t>要求</a:t>
            </a:r>
            <a:r>
              <a:rPr lang="zh-CN" altLang="zh-CN" sz="1800" dirty="0"/>
              <a:t>锁相环的噪声</a:t>
            </a:r>
            <a:r>
              <a:rPr lang="zh-CN" altLang="zh-CN" sz="1800" dirty="0" smtClean="0"/>
              <a:t>带宽</a:t>
            </a:r>
            <a:r>
              <a:rPr lang="en-US" altLang="zh-CN" sz="1800" dirty="0" smtClean="0"/>
              <a:t>                         </a:t>
            </a:r>
            <a:r>
              <a:rPr lang="zh-CN" altLang="en-US" sz="1800" dirty="0" smtClean="0"/>
              <a:t>，</a:t>
            </a:r>
            <a:endParaRPr lang="en-US" altLang="zh-CN" sz="1800" dirty="0" smtClean="0"/>
          </a:p>
          <a:p>
            <a:pPr lvl="1">
              <a:lnSpc>
                <a:spcPct val="150000"/>
              </a:lnSpc>
              <a:spcBef>
                <a:spcPts val="600"/>
              </a:spcBef>
              <a:spcAft>
                <a:spcPts val="600"/>
              </a:spcAft>
            </a:pPr>
            <a:r>
              <a:rPr lang="zh-CN" altLang="en-US" sz="1800" dirty="0" smtClean="0"/>
              <a:t>等效</a:t>
            </a:r>
            <a:r>
              <a:rPr lang="zh-CN" altLang="en-US" sz="1800" dirty="0"/>
              <a:t>于在锁相环的阻尼因子为</a:t>
            </a:r>
            <a:r>
              <a:rPr lang="en-US" altLang="zh-CN" sz="1800" dirty="0"/>
              <a:t>0.7</a:t>
            </a:r>
            <a:r>
              <a:rPr lang="zh-CN" altLang="en-US" sz="1800" dirty="0"/>
              <a:t>左右时，</a:t>
            </a:r>
            <a:r>
              <a:rPr lang="zh-CN" altLang="en-US" sz="1800" dirty="0" smtClean="0"/>
              <a:t>自然频率                          </a:t>
            </a:r>
            <a:r>
              <a:rPr lang="en-US" altLang="zh-CN" sz="1800" dirty="0" smtClean="0"/>
              <a:t>,</a:t>
            </a:r>
            <a:r>
              <a:rPr lang="zh-CN" altLang="en-US" sz="1800" dirty="0"/>
              <a:t>其中 </a:t>
            </a:r>
            <a:r>
              <a:rPr lang="en-US" altLang="zh-CN" sz="1800" i="1" dirty="0"/>
              <a:t>Bi</a:t>
            </a:r>
            <a:r>
              <a:rPr lang="en-US" altLang="zh-CN" sz="1800" dirty="0"/>
              <a:t> </a:t>
            </a:r>
            <a:r>
              <a:rPr lang="zh-CN" altLang="en-US" sz="1800" dirty="0"/>
              <a:t>是</a:t>
            </a:r>
            <a:endParaRPr lang="en-US" altLang="zh-CN" sz="1800" dirty="0"/>
          </a:p>
          <a:p>
            <a:pPr lvl="1">
              <a:lnSpc>
                <a:spcPct val="150000"/>
              </a:lnSpc>
            </a:pPr>
            <a:r>
              <a:rPr lang="zh-CN" altLang="en-US" sz="1800" dirty="0" smtClean="0"/>
              <a:t>锁相环</a:t>
            </a:r>
            <a:r>
              <a:rPr lang="zh-CN" altLang="en-US" sz="1800" dirty="0"/>
              <a:t>输入信号</a:t>
            </a:r>
            <a:r>
              <a:rPr lang="zh-CN" altLang="en-US" sz="1800" dirty="0" smtClean="0"/>
              <a:t>的</a:t>
            </a:r>
            <a:r>
              <a:rPr lang="en-US" altLang="zh-CN" sz="1800" dirty="0" smtClean="0"/>
              <a:t>-3dB</a:t>
            </a:r>
            <a:r>
              <a:rPr lang="zh-CN" altLang="en-US" sz="1800" dirty="0" smtClean="0"/>
              <a:t>带宽</a:t>
            </a:r>
            <a:endParaRPr lang="zh-CN" altLang="zh-CN" sz="1800" dirty="0"/>
          </a:p>
          <a:p>
            <a:pPr marL="342900" indent="-342900">
              <a:lnSpc>
                <a:spcPct val="150000"/>
              </a:lnSpc>
              <a:buFont typeface="Arial" panose="020B0604020202020204" pitchFamily="34" charset="0"/>
              <a:buChar char="•"/>
            </a:pPr>
            <a:r>
              <a:rPr lang="zh-CN" altLang="en-US" sz="1800" dirty="0" smtClean="0"/>
              <a:t>锁相环的捕捉时间对于接收机性能有较大影响，设计载波同步电路时通常需要考虑锁相环的捕捉时间，在某些特殊情况下可能要采用扫描式辅助捕捉电路</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026259877"/>
              </p:ext>
            </p:extLst>
          </p:nvPr>
        </p:nvGraphicFramePr>
        <p:xfrm>
          <a:off x="6813573" y="3500210"/>
          <a:ext cx="1552575" cy="704850"/>
        </p:xfrm>
        <a:graphic>
          <a:graphicData uri="http://schemas.openxmlformats.org/presentationml/2006/ole">
            <mc:AlternateContent xmlns:mc="http://schemas.openxmlformats.org/markup-compatibility/2006">
              <mc:Choice xmlns:v="urn:schemas-microsoft-com:vml" Requires="v">
                <p:oleObj spid="_x0000_s43104" name="Equation" r:id="rId3" imgW="876240" imgH="406080" progId="Equation.DSMT4">
                  <p:embed/>
                </p:oleObj>
              </mc:Choice>
              <mc:Fallback>
                <p:oleObj name="Equation" r:id="rId3" imgW="876240" imgH="406080" progId="Equation.DSMT4">
                  <p:embed/>
                  <p:pic>
                    <p:nvPicPr>
                      <p:cNvPr id="7" name="对象 6"/>
                      <p:cNvPicPr>
                        <a:picLocks noChangeAspect="1" noChangeArrowheads="1"/>
                      </p:cNvPicPr>
                      <p:nvPr/>
                    </p:nvPicPr>
                    <p:blipFill>
                      <a:blip r:embed="rId4"/>
                      <a:srcRect/>
                      <a:stretch>
                        <a:fillRect/>
                      </a:stretch>
                    </p:blipFill>
                    <p:spPr bwMode="auto">
                      <a:xfrm>
                        <a:off x="6813573" y="3500210"/>
                        <a:ext cx="1552575" cy="7048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83878709"/>
              </p:ext>
            </p:extLst>
          </p:nvPr>
        </p:nvGraphicFramePr>
        <p:xfrm>
          <a:off x="5976544" y="4039273"/>
          <a:ext cx="1674058" cy="674273"/>
        </p:xfrm>
        <a:graphic>
          <a:graphicData uri="http://schemas.openxmlformats.org/presentationml/2006/ole">
            <mc:AlternateContent xmlns:mc="http://schemas.openxmlformats.org/markup-compatibility/2006">
              <mc:Choice xmlns:v="urn:schemas-microsoft-com:vml" Requires="v">
                <p:oleObj spid="_x0000_s43105" name="Equation" r:id="rId5" imgW="990360" imgH="406080" progId="Equation.DSMT4">
                  <p:embed/>
                </p:oleObj>
              </mc:Choice>
              <mc:Fallback>
                <p:oleObj name="Equation" r:id="rId5" imgW="990360" imgH="406080" progId="Equation.DSMT4">
                  <p:embed/>
                  <p:pic>
                    <p:nvPicPr>
                      <p:cNvPr id="9" name="对象 8"/>
                      <p:cNvPicPr>
                        <a:picLocks noChangeAspect="1" noChangeArrowheads="1"/>
                      </p:cNvPicPr>
                      <p:nvPr/>
                    </p:nvPicPr>
                    <p:blipFill>
                      <a:blip r:embed="rId6"/>
                      <a:srcRect/>
                      <a:stretch>
                        <a:fillRect/>
                      </a:stretch>
                    </p:blipFill>
                    <p:spPr bwMode="auto">
                      <a:xfrm>
                        <a:off x="5976544" y="4039273"/>
                        <a:ext cx="1674058" cy="674273"/>
                      </a:xfrm>
                      <a:prstGeom prst="rect">
                        <a:avLst/>
                      </a:prstGeom>
                      <a:noFill/>
                    </p:spPr>
                  </p:pic>
                </p:oleObj>
              </mc:Fallback>
            </mc:AlternateContent>
          </a:graphicData>
        </a:graphic>
      </p:graphicFrame>
    </p:spTree>
    <p:extLst>
      <p:ext uri="{BB962C8B-B14F-4D97-AF65-F5344CB8AC3E}">
        <p14:creationId xmlns:p14="http://schemas.microsoft.com/office/powerpoint/2010/main" val="287256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文本框 4"/>
          <p:cNvSpPr txBox="1"/>
          <p:nvPr/>
        </p:nvSpPr>
        <p:spPr>
          <a:xfrm>
            <a:off x="468313" y="361813"/>
            <a:ext cx="8261247" cy="1154162"/>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有噪声输入的载波</a:t>
            </a:r>
            <a:r>
              <a:rPr lang="zh-CN" altLang="zh-CN" sz="2800" dirty="0">
                <a:solidFill>
                  <a:srgbClr val="FF0000"/>
                </a:solidFill>
                <a:latin typeface="隶书" panose="02010509060101010101" pitchFamily="49" charset="-122"/>
                <a:ea typeface="隶书" panose="02010509060101010101" pitchFamily="49" charset="-122"/>
              </a:rPr>
              <a:t>同步电路的</a:t>
            </a:r>
            <a:r>
              <a:rPr lang="zh-CN" altLang="en-US" sz="2800" dirty="0">
                <a:solidFill>
                  <a:srgbClr val="FF0000"/>
                </a:solidFill>
                <a:latin typeface="隶书" panose="02010509060101010101" pitchFamily="49" charset="-122"/>
                <a:ea typeface="隶书" panose="02010509060101010101" pitchFamily="49" charset="-122"/>
              </a:rPr>
              <a:t>例子</a:t>
            </a:r>
            <a:endParaRPr lang="en-US" altLang="zh-CN" sz="2800" dirty="0">
              <a:solidFill>
                <a:srgbClr val="FF0000"/>
              </a:solidFill>
              <a:latin typeface="隶书" panose="02010509060101010101" pitchFamily="49" charset="-122"/>
              <a:ea typeface="隶书" panose="02010509060101010101" pitchFamily="49" charset="-122"/>
            </a:endParaRPr>
          </a:p>
          <a:p>
            <a:pPr marL="285750" indent="-285750">
              <a:lnSpc>
                <a:spcPct val="150000"/>
              </a:lnSpc>
              <a:buFont typeface="Wingdings" panose="05000000000000000000" pitchFamily="2" charset="2"/>
              <a:buChar char="Ø"/>
            </a:pPr>
            <a:r>
              <a:rPr lang="zh-CN" altLang="en-US" sz="1800" dirty="0" smtClean="0"/>
              <a:t>实验电路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208734946"/>
              </p:ext>
            </p:extLst>
          </p:nvPr>
        </p:nvGraphicFramePr>
        <p:xfrm>
          <a:off x="1209932" y="1151265"/>
          <a:ext cx="6025893" cy="3729920"/>
        </p:xfrm>
        <a:graphic>
          <a:graphicData uri="http://schemas.openxmlformats.org/presentationml/2006/ole">
            <mc:AlternateContent xmlns:mc="http://schemas.openxmlformats.org/markup-compatibility/2006">
              <mc:Choice xmlns:v="urn:schemas-microsoft-com:vml" Requires="v">
                <p:oleObj spid="_x0000_s36938" name="Visio" r:id="rId3" imgW="4578178" imgH="2838353" progId="Visio.Drawing.15">
                  <p:embed/>
                </p:oleObj>
              </mc:Choice>
              <mc:Fallback>
                <p:oleObj name="Visio" r:id="rId3" imgW="4578178" imgH="2838353"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932" y="1151265"/>
                        <a:ext cx="6025893" cy="3729920"/>
                      </a:xfrm>
                      <a:prstGeom prst="rect">
                        <a:avLst/>
                      </a:prstGeom>
                      <a:noFill/>
                    </p:spPr>
                  </p:pic>
                </p:oleObj>
              </mc:Fallback>
            </mc:AlternateContent>
          </a:graphicData>
        </a:graphic>
      </p:graphicFrame>
      <p:sp>
        <p:nvSpPr>
          <p:cNvPr id="6" name="矩形 5"/>
          <p:cNvSpPr/>
          <p:nvPr/>
        </p:nvSpPr>
        <p:spPr>
          <a:xfrm>
            <a:off x="468313" y="5001223"/>
            <a:ext cx="8261247" cy="1338828"/>
          </a:xfrm>
          <a:prstGeom prst="rect">
            <a:avLst/>
          </a:prstGeom>
        </p:spPr>
        <p:txBody>
          <a:bodyPr wrap="square">
            <a:spAutoFit/>
          </a:bodyPr>
          <a:lstStyle/>
          <a:p>
            <a:pPr marL="0" lvl="1">
              <a:lnSpc>
                <a:spcPct val="150000"/>
              </a:lnSpc>
            </a:pPr>
            <a:r>
              <a:rPr lang="zh-CN" altLang="en-US" sz="1800" dirty="0">
                <a:latin typeface="Times New Roman" panose="02020603050405020304" pitchFamily="18" charset="0"/>
              </a:rPr>
              <a:t>乘法器鉴相，</a:t>
            </a:r>
            <a:r>
              <a:rPr lang="zh-CN" altLang="zh-CN" sz="1800" dirty="0">
                <a:latin typeface="Times New Roman" panose="02020603050405020304" pitchFamily="18" charset="0"/>
              </a:rPr>
              <a:t>偏置电流</a:t>
            </a:r>
            <a:r>
              <a:rPr lang="en-US" altLang="zh-CN" sz="1800" i="1" dirty="0">
                <a:latin typeface="Times New Roman" panose="02020603050405020304" pitchFamily="18" charset="0"/>
              </a:rPr>
              <a:t>I</a:t>
            </a:r>
            <a:r>
              <a:rPr lang="en-US" altLang="zh-CN" sz="1800" baseline="-25000" dirty="0">
                <a:latin typeface="Times New Roman" panose="02020603050405020304" pitchFamily="18" charset="0"/>
              </a:rPr>
              <a:t>BIAS </a:t>
            </a:r>
            <a:r>
              <a:rPr lang="en-US" altLang="zh-CN" sz="1800" dirty="0">
                <a:latin typeface="Times New Roman" panose="02020603050405020304" pitchFamily="18" charset="0"/>
              </a:rPr>
              <a:t>= 0</a:t>
            </a:r>
            <a:r>
              <a:rPr lang="zh-CN" altLang="zh-CN" sz="1800" dirty="0">
                <a:latin typeface="Times New Roman" panose="02020603050405020304" pitchFamily="18" charset="0"/>
              </a:rPr>
              <a:t>，鉴相器增益</a:t>
            </a:r>
            <a:r>
              <a:rPr lang="en-US" altLang="zh-CN" sz="1800" i="1" dirty="0" err="1">
                <a:latin typeface="Times New Roman" panose="02020603050405020304" pitchFamily="18" charset="0"/>
              </a:rPr>
              <a:t>K</a:t>
            </a:r>
            <a:r>
              <a:rPr lang="en-US" altLang="zh-CN" sz="1800" i="1" baseline="-25000" dirty="0" err="1">
                <a:latin typeface="Times New Roman" panose="02020603050405020304" pitchFamily="18" charset="0"/>
              </a:rPr>
              <a:t>d</a:t>
            </a:r>
            <a:r>
              <a:rPr lang="en-US" altLang="zh-CN" sz="1800" dirty="0">
                <a:latin typeface="Times New Roman" panose="02020603050405020304" pitchFamily="18" charset="0"/>
              </a:rPr>
              <a:t>=0.46</a:t>
            </a:r>
          </a:p>
          <a:p>
            <a:pPr marL="0" lvl="1">
              <a:lnSpc>
                <a:spcPct val="150000"/>
              </a:lnSpc>
            </a:pP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=450pF(430pF+50pF</a:t>
            </a:r>
            <a:r>
              <a:rPr lang="zh-CN" altLang="en-US" sz="1800" dirty="0">
                <a:latin typeface="Times New Roman" panose="02020603050405020304" pitchFamily="18" charset="0"/>
              </a:rPr>
              <a:t>可调</a:t>
            </a:r>
            <a:r>
              <a:rPr lang="en-US" altLang="zh-CN" sz="1800" dirty="0">
                <a:latin typeface="Times New Roman" panose="02020603050405020304" pitchFamily="18" charset="0"/>
              </a:rPr>
              <a:t>)</a:t>
            </a:r>
            <a:r>
              <a:rPr lang="zh-CN" altLang="en-US" sz="1800" dirty="0" smtClean="0">
                <a:latin typeface="Times New Roman" panose="02020603050405020304" pitchFamily="18" charset="0"/>
              </a:rPr>
              <a:t>，</a:t>
            </a:r>
            <a:r>
              <a:rPr lang="en-US" altLang="zh-CN" sz="1800" dirty="0" smtClean="0">
                <a:latin typeface="Times New Roman" panose="02020603050405020304" pitchFamily="18" charset="0"/>
              </a:rPr>
              <a:t>VCO</a:t>
            </a:r>
            <a:r>
              <a:rPr lang="zh-CN" altLang="en-US" sz="1800" dirty="0" smtClean="0">
                <a:latin typeface="Times New Roman" panose="02020603050405020304" pitchFamily="18" charset="0"/>
              </a:rPr>
              <a:t>中心</a:t>
            </a:r>
            <a:r>
              <a:rPr lang="zh-CN" altLang="zh-CN" sz="1800" dirty="0" smtClean="0">
                <a:latin typeface="Times New Roman" panose="02020603050405020304" pitchFamily="18" charset="0"/>
              </a:rPr>
              <a:t>频率</a:t>
            </a:r>
            <a:r>
              <a:rPr lang="en-US" altLang="zh-CN" sz="1800" i="1" dirty="0">
                <a:latin typeface="Times New Roman" panose="02020603050405020304" pitchFamily="18" charset="0"/>
              </a:rPr>
              <a:t>f</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=1MHz</a:t>
            </a:r>
            <a:r>
              <a:rPr lang="zh-CN" altLang="en-US" sz="1800" dirty="0">
                <a:latin typeface="Times New Roman" panose="02020603050405020304" pitchFamily="18" charset="0"/>
              </a:rPr>
              <a:t>，压控增益</a:t>
            </a:r>
            <a:r>
              <a:rPr lang="en-US" altLang="zh-CN" sz="1800" i="1" dirty="0" err="1">
                <a:latin typeface="Times New Roman" panose="02020603050405020304" pitchFamily="18" charset="0"/>
              </a:rPr>
              <a:t>K</a:t>
            </a:r>
            <a:r>
              <a:rPr lang="en-US" altLang="zh-CN" sz="1800" i="1" baseline="-25000" dirty="0" err="1">
                <a:latin typeface="Times New Roman" panose="02020603050405020304" pitchFamily="18" charset="0"/>
              </a:rPr>
              <a:t>o</a:t>
            </a:r>
            <a:r>
              <a:rPr lang="en-US" altLang="zh-CN" sz="1800" dirty="0">
                <a:latin typeface="Times New Roman" panose="02020603050405020304" pitchFamily="18" charset="0"/>
              </a:rPr>
              <a:t>=6×10</a:t>
            </a:r>
            <a:r>
              <a:rPr lang="en-US" altLang="zh-CN" sz="1800" baseline="30000" dirty="0">
                <a:latin typeface="Times New Roman" panose="02020603050405020304" pitchFamily="18" charset="0"/>
              </a:rPr>
              <a:t>6</a:t>
            </a:r>
          </a:p>
          <a:p>
            <a:pPr marL="0" lvl="1">
              <a:lnSpc>
                <a:spcPct val="150000"/>
              </a:lnSpc>
            </a:pPr>
            <a:r>
              <a:rPr lang="en-US" altLang="zh-CN" sz="1800" i="1" dirty="0">
                <a:latin typeface="Times New Roman" panose="02020603050405020304" pitchFamily="18" charset="0"/>
              </a:rPr>
              <a:t>C</a:t>
            </a:r>
            <a:r>
              <a:rPr lang="en-US" altLang="zh-CN" sz="1800" dirty="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rPr>
              <a:t>F</a:t>
            </a:r>
            <a:r>
              <a:rPr lang="zh-CN" altLang="en-US"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dirty="0">
                <a:latin typeface="Times New Roman" panose="02020603050405020304" pitchFamily="18" charset="0"/>
              </a:rPr>
              <a:t>=24</a:t>
            </a:r>
            <a:r>
              <a:rPr lang="en-US" altLang="zh-CN" sz="1800" dirty="0">
                <a:latin typeface="Times New Roman" panose="02020603050405020304" pitchFamily="18" charset="0"/>
                <a:sym typeface="Symbol" panose="05050102010706020507" pitchFamily="18" charset="2"/>
              </a:rPr>
              <a:t></a:t>
            </a:r>
            <a:r>
              <a:rPr lang="zh-CN" altLang="en-US" sz="1800" dirty="0">
                <a:latin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ω</a:t>
            </a:r>
            <a:r>
              <a:rPr lang="en-US" altLang="zh-CN" sz="1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=2</a:t>
            </a:r>
            <a:r>
              <a:rPr lang="el-GR" altLang="zh-CN" sz="1800" dirty="0">
                <a:latin typeface="Times New Roman" panose="02020603050405020304" pitchFamily="18" charset="0"/>
                <a:cs typeface="Times New Roman" panose="02020603050405020304" pitchFamily="18" charset="0"/>
                <a:sym typeface="Symbol" panose="05050102010706020507" pitchFamily="18" charset="2"/>
              </a:rPr>
              <a:t>π</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×6000=</a:t>
            </a:r>
            <a:r>
              <a:rPr lang="en-US" altLang="zh-CN" sz="1800" dirty="0">
                <a:latin typeface="Times New Roman" panose="02020603050405020304" pitchFamily="18" charset="0"/>
              </a:rPr>
              <a:t>3.76</a:t>
            </a:r>
            <a:r>
              <a:rPr lang="zh-CN" altLang="zh-CN" sz="1800" dirty="0">
                <a:latin typeface="Times New Roman" panose="02020603050405020304" pitchFamily="18" charset="0"/>
              </a:rPr>
              <a:t>×</a:t>
            </a:r>
            <a:r>
              <a:rPr lang="en-US" altLang="zh-CN" sz="1800" dirty="0">
                <a:latin typeface="Times New Roman" panose="02020603050405020304" pitchFamily="18" charset="0"/>
              </a:rPr>
              <a:t>10</a:t>
            </a:r>
            <a:r>
              <a:rPr lang="en-US" altLang="zh-CN" sz="1800" baseline="30000" dirty="0">
                <a:latin typeface="Times New Roman" panose="02020603050405020304" pitchFamily="18" charset="0"/>
              </a:rPr>
              <a:t>4 </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ζ</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=0.7</a:t>
            </a:r>
          </a:p>
        </p:txBody>
      </p:sp>
    </p:spTree>
    <p:extLst>
      <p:ext uri="{BB962C8B-B14F-4D97-AF65-F5344CB8AC3E}">
        <p14:creationId xmlns:p14="http://schemas.microsoft.com/office/powerpoint/2010/main" val="192094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6" name="矩形 5"/>
          <p:cNvSpPr/>
          <p:nvPr/>
        </p:nvSpPr>
        <p:spPr>
          <a:xfrm>
            <a:off x="335499" y="481164"/>
            <a:ext cx="8530689" cy="4592026"/>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800" dirty="0" smtClean="0"/>
              <a:t>实验</a:t>
            </a:r>
            <a:r>
              <a:rPr lang="zh-CN" altLang="en-US" sz="1800" dirty="0"/>
              <a:t>过程</a:t>
            </a:r>
            <a:endParaRPr lang="en-US" altLang="zh-CN" sz="1800" dirty="0"/>
          </a:p>
          <a:p>
            <a:pPr marL="342900" indent="-342900">
              <a:lnSpc>
                <a:spcPct val="130000"/>
              </a:lnSpc>
              <a:buFont typeface="Arial" panose="020B0604020202020204" pitchFamily="34" charset="0"/>
              <a:buChar char="•"/>
            </a:pPr>
            <a:r>
              <a:rPr lang="zh-CN" altLang="zh-CN" sz="1800" dirty="0" smtClean="0"/>
              <a:t>用</a:t>
            </a:r>
            <a:r>
              <a:rPr lang="zh-CN" altLang="zh-CN" sz="1800" dirty="0"/>
              <a:t>一个电阻加法网络</a:t>
            </a:r>
            <a:r>
              <a:rPr lang="zh-CN" altLang="zh-CN" sz="1800" dirty="0" smtClean="0"/>
              <a:t>将</a:t>
            </a:r>
            <a:r>
              <a:rPr lang="zh-CN" altLang="en-US" sz="1800" dirty="0"/>
              <a:t>信号</a:t>
            </a:r>
            <a:r>
              <a:rPr lang="zh-CN" altLang="zh-CN" sz="1800" dirty="0" smtClean="0"/>
              <a:t>与</a:t>
            </a:r>
            <a:r>
              <a:rPr lang="zh-CN" altLang="zh-CN" sz="1800" dirty="0"/>
              <a:t>噪声叠加后输入锁相环</a:t>
            </a:r>
            <a:endParaRPr lang="en-US" altLang="zh-CN" sz="1800" dirty="0"/>
          </a:p>
          <a:p>
            <a:pPr marL="360000">
              <a:lnSpc>
                <a:spcPct val="130000"/>
              </a:lnSpc>
            </a:pPr>
            <a:r>
              <a:rPr lang="zh-CN" altLang="zh-CN" sz="1800" dirty="0" smtClean="0"/>
              <a:t>信号</a:t>
            </a:r>
            <a:r>
              <a:rPr lang="zh-CN" altLang="en-US" sz="1800" dirty="0"/>
              <a:t>：</a:t>
            </a:r>
            <a:r>
              <a:rPr lang="zh-CN" altLang="en-US" sz="1800" dirty="0" smtClean="0"/>
              <a:t>正弦波，</a:t>
            </a:r>
            <a:r>
              <a:rPr lang="en-US" altLang="zh-CN" sz="1800" i="1" dirty="0" smtClean="0"/>
              <a:t>f</a:t>
            </a:r>
            <a:r>
              <a:rPr lang="en-US" altLang="zh-CN" sz="1800" baseline="-25000" dirty="0" smtClean="0"/>
              <a:t>0</a:t>
            </a:r>
            <a:r>
              <a:rPr lang="en-US" altLang="zh-CN" sz="1800" dirty="0" smtClean="0"/>
              <a:t>=1MHz</a:t>
            </a:r>
            <a:r>
              <a:rPr lang="zh-CN" altLang="zh-CN" sz="1800" dirty="0"/>
              <a:t>，</a:t>
            </a:r>
            <a:r>
              <a:rPr lang="zh-CN" altLang="zh-CN" sz="1800" dirty="0" smtClean="0"/>
              <a:t>幅度</a:t>
            </a:r>
            <a:r>
              <a:rPr lang="zh-CN" altLang="en-US" sz="1800" dirty="0" smtClean="0"/>
              <a:t>有效值</a:t>
            </a:r>
            <a:r>
              <a:rPr lang="en-US" altLang="zh-CN" sz="1800" dirty="0" smtClean="0"/>
              <a:t>0.1V</a:t>
            </a:r>
            <a:endParaRPr lang="en-US" altLang="zh-CN" sz="1800" dirty="0"/>
          </a:p>
          <a:p>
            <a:pPr marL="360000">
              <a:lnSpc>
                <a:spcPct val="130000"/>
              </a:lnSpc>
            </a:pPr>
            <a:r>
              <a:rPr lang="zh-CN" altLang="en-US" sz="1800" dirty="0"/>
              <a:t>叠加的</a:t>
            </a:r>
            <a:r>
              <a:rPr lang="zh-CN" altLang="en-US" sz="1800" dirty="0" smtClean="0"/>
              <a:t>噪声：实验室信号源的噪声输出，</a:t>
            </a:r>
            <a:r>
              <a:rPr lang="zh-CN" altLang="en-US" sz="1800" dirty="0"/>
              <a:t>幅度可调（峰峰值</a:t>
            </a:r>
            <a:r>
              <a:rPr lang="en-US" altLang="zh-CN" sz="1800" dirty="0" smtClean="0"/>
              <a:t>0~10V</a:t>
            </a:r>
            <a:r>
              <a:rPr lang="zh-CN" altLang="en-US" sz="1800" dirty="0" smtClean="0"/>
              <a:t>）</a:t>
            </a:r>
            <a:endParaRPr lang="en-US" altLang="zh-CN" sz="1800" dirty="0" smtClean="0"/>
          </a:p>
          <a:p>
            <a:pPr marL="360000">
              <a:lnSpc>
                <a:spcPct val="130000"/>
              </a:lnSpc>
            </a:pPr>
            <a:endParaRPr lang="en-US" altLang="zh-CN" sz="200" dirty="0"/>
          </a:p>
          <a:p>
            <a:pPr marL="342900" indent="-342900">
              <a:lnSpc>
                <a:spcPct val="130000"/>
              </a:lnSpc>
              <a:buFont typeface="Arial" panose="020B0604020202020204" pitchFamily="34" charset="0"/>
              <a:buChar char="•"/>
            </a:pPr>
            <a:r>
              <a:rPr lang="zh-CN" altLang="en-US" sz="1800" dirty="0"/>
              <a:t>改变</a:t>
            </a:r>
            <a:r>
              <a:rPr lang="zh-CN" altLang="zh-CN" sz="1800" dirty="0"/>
              <a:t>噪声电压峰峰值与输入信号有效值</a:t>
            </a:r>
            <a:r>
              <a:rPr lang="zh-CN" altLang="en-US" sz="1800" dirty="0"/>
              <a:t>，测量锁相环的锁定情况（观察输出信号的稳定程度以及锁相环的同步范围</a:t>
            </a:r>
            <a:r>
              <a:rPr lang="zh-CN" altLang="en-US" sz="1800" dirty="0" smtClean="0"/>
              <a:t>）</a:t>
            </a:r>
            <a:endParaRPr lang="en-US" altLang="zh-CN" sz="1800" dirty="0" smtClean="0"/>
          </a:p>
          <a:p>
            <a:pPr marL="342900" indent="-342900">
              <a:lnSpc>
                <a:spcPct val="135000"/>
              </a:lnSpc>
              <a:buFont typeface="Wingdings" panose="05000000000000000000" pitchFamily="2" charset="2"/>
              <a:buChar char="Ø"/>
            </a:pPr>
            <a:r>
              <a:rPr lang="zh-CN" altLang="en-US" sz="1800" dirty="0"/>
              <a:t>实验结果</a:t>
            </a:r>
            <a:endParaRPr lang="en-US" altLang="zh-CN" sz="1800" dirty="0"/>
          </a:p>
          <a:p>
            <a:pPr marL="360000" lvl="1">
              <a:lnSpc>
                <a:spcPct val="135000"/>
              </a:lnSpc>
            </a:pPr>
            <a:r>
              <a:rPr lang="zh-CN" altLang="zh-CN" sz="1800" dirty="0"/>
              <a:t>噪声电压峰峰值</a:t>
            </a:r>
            <a:r>
              <a:rPr lang="en-US" altLang="zh-CN" sz="1800" dirty="0"/>
              <a:t> / </a:t>
            </a:r>
            <a:r>
              <a:rPr lang="zh-CN" altLang="zh-CN" sz="1800" dirty="0"/>
              <a:t>输入信号有效值</a:t>
            </a:r>
            <a:r>
              <a:rPr lang="en-US" altLang="zh-CN" sz="1800" dirty="0"/>
              <a:t> &lt;10</a:t>
            </a:r>
            <a:r>
              <a:rPr lang="zh-CN" altLang="zh-CN" sz="1800" dirty="0"/>
              <a:t>，</a:t>
            </a:r>
            <a:r>
              <a:rPr lang="en-US" altLang="zh-CN" sz="1800" i="1" dirty="0"/>
              <a:t>P</a:t>
            </a:r>
            <a:r>
              <a:rPr lang="en-US" altLang="zh-CN" sz="1800" i="1" baseline="-25000" dirty="0"/>
              <a:t>si</a:t>
            </a:r>
            <a:r>
              <a:rPr lang="en-US" altLang="zh-CN" sz="1800" dirty="0"/>
              <a:t>/</a:t>
            </a:r>
            <a:r>
              <a:rPr lang="en-US" altLang="zh-CN" sz="1800" i="1" dirty="0" err="1"/>
              <a:t>P</a:t>
            </a:r>
            <a:r>
              <a:rPr lang="en-US" altLang="zh-CN" sz="1800" i="1" baseline="-25000" dirty="0" err="1"/>
              <a:t>ni</a:t>
            </a:r>
            <a:r>
              <a:rPr lang="en-US" altLang="zh-CN" sz="1800" i="1" baseline="-25000" dirty="0"/>
              <a:t> </a:t>
            </a:r>
            <a:r>
              <a:rPr lang="en-US" altLang="zh-CN" sz="1800" dirty="0"/>
              <a:t>&gt;0.44</a:t>
            </a:r>
            <a:r>
              <a:rPr lang="zh-CN" altLang="en-US" sz="1800" dirty="0"/>
              <a:t>，</a:t>
            </a:r>
            <a:r>
              <a:rPr lang="zh-CN" altLang="zh-CN" sz="1800" dirty="0"/>
              <a:t>锁相环基本不受影响</a:t>
            </a:r>
            <a:endParaRPr lang="en-US" altLang="zh-CN" sz="1800" dirty="0"/>
          </a:p>
          <a:p>
            <a:pPr marL="360000" lvl="1">
              <a:lnSpc>
                <a:spcPct val="135000"/>
              </a:lnSpc>
            </a:pPr>
            <a:r>
              <a:rPr lang="zh-CN" altLang="zh-CN" sz="1800" dirty="0"/>
              <a:t>噪声电压峰峰值</a:t>
            </a:r>
            <a:r>
              <a:rPr lang="en-US" altLang="zh-CN" sz="1800" dirty="0"/>
              <a:t> / </a:t>
            </a:r>
            <a:r>
              <a:rPr lang="zh-CN" altLang="zh-CN" sz="1800" dirty="0"/>
              <a:t>输入信号有效值</a:t>
            </a:r>
            <a:r>
              <a:rPr lang="en-US" altLang="zh-CN" sz="1800" dirty="0"/>
              <a:t> </a:t>
            </a:r>
            <a:r>
              <a:rPr lang="en-US" altLang="zh-CN" sz="1800" dirty="0">
                <a:latin typeface="Times New Roman" panose="02020603050405020304" pitchFamily="18" charset="0"/>
                <a:cs typeface="Times New Roman" panose="02020603050405020304" pitchFamily="18" charset="0"/>
              </a:rPr>
              <a:t>=</a:t>
            </a:r>
            <a:r>
              <a:rPr lang="en-US" altLang="zh-CN" sz="1800" dirty="0"/>
              <a:t>50</a:t>
            </a:r>
            <a:r>
              <a:rPr lang="zh-CN" altLang="zh-CN" sz="1800" dirty="0"/>
              <a:t>，</a:t>
            </a:r>
            <a:r>
              <a:rPr lang="en-US" altLang="zh-CN" sz="1800" i="1" dirty="0"/>
              <a:t>P</a:t>
            </a:r>
            <a:r>
              <a:rPr lang="en-US" altLang="zh-CN" sz="1800" i="1" baseline="-25000" dirty="0"/>
              <a:t>si</a:t>
            </a:r>
            <a:r>
              <a:rPr lang="en-US" altLang="zh-CN" sz="1800" dirty="0"/>
              <a:t>/</a:t>
            </a:r>
            <a:r>
              <a:rPr lang="en-US" altLang="zh-CN" sz="1800" i="1" dirty="0" err="1"/>
              <a:t>P</a:t>
            </a:r>
            <a:r>
              <a:rPr lang="en-US" altLang="zh-CN" sz="1800" i="1" baseline="-25000" dirty="0" err="1"/>
              <a:t>ni</a:t>
            </a:r>
            <a:r>
              <a:rPr lang="en-US" altLang="zh-CN" sz="1800" i="1" baseline="-25000" dirty="0"/>
              <a:t> </a:t>
            </a:r>
            <a:r>
              <a:rPr lang="en-US" altLang="zh-CN" sz="1800" dirty="0"/>
              <a:t>=</a:t>
            </a:r>
            <a:r>
              <a:rPr lang="en-US" altLang="zh-CN" sz="1800" dirty="0" smtClean="0"/>
              <a:t>1.7×10</a:t>
            </a:r>
            <a:r>
              <a:rPr lang="en-US" altLang="zh-CN" sz="1800" baseline="30000" dirty="0" smtClean="0"/>
              <a:t>-2</a:t>
            </a:r>
            <a:r>
              <a:rPr lang="zh-CN" altLang="en-US" sz="1800" dirty="0"/>
              <a:t>，</a:t>
            </a:r>
            <a:r>
              <a:rPr lang="zh-CN" altLang="zh-CN" sz="1800" dirty="0"/>
              <a:t>锁相环</a:t>
            </a:r>
            <a:r>
              <a:rPr lang="zh-CN" altLang="en-US" sz="1800" dirty="0" smtClean="0"/>
              <a:t>输出抖动较大，勉强稳定，</a:t>
            </a:r>
            <a:r>
              <a:rPr lang="zh-CN" altLang="zh-CN" sz="1800" dirty="0" smtClean="0"/>
              <a:t>同步</a:t>
            </a:r>
            <a:r>
              <a:rPr lang="zh-CN" altLang="zh-CN" sz="1800" dirty="0"/>
              <a:t>范围大幅度降低</a:t>
            </a:r>
            <a:endParaRPr lang="en-US" altLang="zh-CN" sz="1800" dirty="0"/>
          </a:p>
          <a:p>
            <a:pPr marL="360000" lvl="1">
              <a:lnSpc>
                <a:spcPct val="135000"/>
              </a:lnSpc>
            </a:pPr>
            <a:r>
              <a:rPr lang="zh-CN" altLang="zh-CN" sz="1800" dirty="0"/>
              <a:t>噪声电压峰峰值</a:t>
            </a:r>
            <a:r>
              <a:rPr lang="en-US" altLang="zh-CN" sz="1800" dirty="0"/>
              <a:t> / </a:t>
            </a:r>
            <a:r>
              <a:rPr lang="zh-CN" altLang="zh-CN" sz="1800" dirty="0"/>
              <a:t>输入信号有效值</a:t>
            </a:r>
            <a:r>
              <a:rPr lang="en-US" altLang="zh-CN" sz="1800" dirty="0"/>
              <a:t> </a:t>
            </a:r>
            <a:r>
              <a:rPr lang="en-US" altLang="zh-CN" sz="1800" dirty="0">
                <a:latin typeface="Times New Roman" panose="02020603050405020304" pitchFamily="18" charset="0"/>
                <a:cs typeface="Times New Roman" panose="02020603050405020304" pitchFamily="18" charset="0"/>
              </a:rPr>
              <a:t>=</a:t>
            </a:r>
            <a:r>
              <a:rPr lang="en-US" altLang="zh-CN" sz="1800" dirty="0"/>
              <a:t>100</a:t>
            </a:r>
            <a:r>
              <a:rPr lang="zh-CN" altLang="zh-CN" sz="1800" dirty="0"/>
              <a:t>，</a:t>
            </a:r>
            <a:r>
              <a:rPr lang="en-US" altLang="zh-CN" sz="1800" i="1" dirty="0"/>
              <a:t>P</a:t>
            </a:r>
            <a:r>
              <a:rPr lang="en-US" altLang="zh-CN" sz="1800" i="1" baseline="-25000" dirty="0"/>
              <a:t>si</a:t>
            </a:r>
            <a:r>
              <a:rPr lang="en-US" altLang="zh-CN" sz="1800" dirty="0"/>
              <a:t>/</a:t>
            </a:r>
            <a:r>
              <a:rPr lang="en-US" altLang="zh-CN" sz="1800" i="1" dirty="0" err="1"/>
              <a:t>P</a:t>
            </a:r>
            <a:r>
              <a:rPr lang="en-US" altLang="zh-CN" sz="1800" i="1" baseline="-25000" dirty="0" err="1"/>
              <a:t>ni</a:t>
            </a:r>
            <a:r>
              <a:rPr lang="en-US" altLang="zh-CN" sz="1800" i="1" baseline="-25000" dirty="0"/>
              <a:t> </a:t>
            </a:r>
            <a:r>
              <a:rPr lang="en-US" altLang="zh-CN" sz="1800" dirty="0"/>
              <a:t>=</a:t>
            </a:r>
            <a:r>
              <a:rPr lang="en-US" altLang="zh-CN" sz="1800" dirty="0" smtClean="0"/>
              <a:t>4.4×10</a:t>
            </a:r>
            <a:r>
              <a:rPr lang="en-US" altLang="zh-CN" sz="1800" baseline="30000" dirty="0" smtClean="0"/>
              <a:t>-3</a:t>
            </a:r>
            <a:r>
              <a:rPr lang="zh-CN" altLang="en-US" sz="1800" dirty="0"/>
              <a:t>，</a:t>
            </a:r>
            <a:r>
              <a:rPr lang="zh-CN" altLang="zh-CN" sz="1800" dirty="0"/>
              <a:t>锁相环</a:t>
            </a:r>
            <a:r>
              <a:rPr lang="zh-CN" altLang="en-US" sz="1800" dirty="0"/>
              <a:t>输出极不稳定，无法</a:t>
            </a:r>
            <a:r>
              <a:rPr lang="zh-CN" altLang="zh-CN" sz="1800" dirty="0"/>
              <a:t>正常</a:t>
            </a:r>
            <a:r>
              <a:rPr lang="zh-CN" altLang="zh-CN" sz="1800" dirty="0" smtClean="0"/>
              <a:t>工作</a:t>
            </a:r>
            <a:endParaRPr lang="en-US" altLang="zh-CN" sz="1800" dirty="0"/>
          </a:p>
        </p:txBody>
      </p:sp>
      <p:sp>
        <p:nvSpPr>
          <p:cNvPr id="7" name="文本框 6"/>
          <p:cNvSpPr txBox="1"/>
          <p:nvPr/>
        </p:nvSpPr>
        <p:spPr>
          <a:xfrm>
            <a:off x="335499" y="5082486"/>
            <a:ext cx="8406998" cy="1089529"/>
          </a:xfrm>
          <a:prstGeom prst="rect">
            <a:avLst/>
          </a:prstGeom>
          <a:noFill/>
        </p:spPr>
        <p:txBody>
          <a:bodyPr wrap="square" rtlCol="0">
            <a:spAutoFit/>
          </a:bodyPr>
          <a:lstStyle/>
          <a:p>
            <a:pPr>
              <a:lnSpc>
                <a:spcPct val="135000"/>
              </a:lnSpc>
            </a:pPr>
            <a:r>
              <a:rPr lang="zh-CN" altLang="en-US" sz="1600" dirty="0"/>
              <a:t>注</a:t>
            </a:r>
            <a:r>
              <a:rPr lang="zh-CN" altLang="en-US" sz="1600" dirty="0" smtClean="0"/>
              <a:t>：上述</a:t>
            </a:r>
            <a:r>
              <a:rPr lang="zh-CN" altLang="en-US" sz="1600" dirty="0"/>
              <a:t>信噪比按照下式计算</a:t>
            </a:r>
            <a:r>
              <a:rPr lang="zh-CN" altLang="en-US" sz="1600" dirty="0" smtClean="0"/>
              <a:t>： </a:t>
            </a:r>
            <a:r>
              <a:rPr lang="en-US" altLang="zh-CN" sz="1600" i="1" dirty="0"/>
              <a:t>P</a:t>
            </a:r>
            <a:r>
              <a:rPr lang="en-US" altLang="zh-CN" sz="1600" i="1" baseline="-25000" dirty="0"/>
              <a:t>si</a:t>
            </a:r>
            <a:r>
              <a:rPr lang="en-US" altLang="zh-CN" sz="1600" dirty="0"/>
              <a:t>/</a:t>
            </a:r>
            <a:r>
              <a:rPr lang="en-US" altLang="zh-CN" sz="1600" i="1" dirty="0" err="1"/>
              <a:t>P</a:t>
            </a:r>
            <a:r>
              <a:rPr lang="en-US" altLang="zh-CN" sz="1600" i="1" baseline="-25000" dirty="0" err="1"/>
              <a:t>ni</a:t>
            </a:r>
            <a:r>
              <a:rPr lang="en-US" altLang="zh-CN" sz="1600" i="1" baseline="-25000" dirty="0"/>
              <a:t> </a:t>
            </a:r>
            <a:r>
              <a:rPr lang="en-US" altLang="zh-CN" sz="1600" dirty="0" smtClean="0"/>
              <a:t>= [</a:t>
            </a:r>
            <a:r>
              <a:rPr lang="zh-CN" altLang="zh-CN" sz="1600" dirty="0" smtClean="0"/>
              <a:t>输入信号有效值</a:t>
            </a:r>
            <a:r>
              <a:rPr lang="en-US" altLang="zh-CN" sz="1600" dirty="0" smtClean="0"/>
              <a:t>/ (</a:t>
            </a:r>
            <a:r>
              <a:rPr lang="zh-CN" altLang="zh-CN" sz="1600" dirty="0" smtClean="0"/>
              <a:t>噪声</a:t>
            </a:r>
            <a:r>
              <a:rPr lang="zh-CN" altLang="zh-CN" sz="1600" dirty="0"/>
              <a:t>电压峰</a:t>
            </a:r>
            <a:r>
              <a:rPr lang="zh-CN" altLang="zh-CN" sz="1600" dirty="0" smtClean="0"/>
              <a:t>峰值</a:t>
            </a:r>
            <a:r>
              <a:rPr lang="en-US" altLang="zh-CN" sz="1600" dirty="0" smtClean="0"/>
              <a:t>÷6.6)]</a:t>
            </a:r>
            <a:r>
              <a:rPr lang="en-US" altLang="zh-CN" sz="1600" baseline="30000" dirty="0" smtClean="0"/>
              <a:t>2 </a:t>
            </a:r>
            <a:endParaRPr lang="en-US" altLang="zh-CN" sz="1600" dirty="0"/>
          </a:p>
          <a:p>
            <a:pPr lvl="1">
              <a:lnSpc>
                <a:spcPct val="135000"/>
              </a:lnSpc>
            </a:pPr>
            <a:r>
              <a:rPr lang="zh-CN" altLang="en-US" sz="1600" dirty="0" smtClean="0"/>
              <a:t>其中</a:t>
            </a:r>
            <a:r>
              <a:rPr lang="en-US" altLang="zh-CN" sz="1600" dirty="0" smtClean="0"/>
              <a:t>(</a:t>
            </a:r>
            <a:r>
              <a:rPr lang="zh-CN" altLang="zh-CN" sz="1600" dirty="0" smtClean="0"/>
              <a:t>噪声电压峰峰值</a:t>
            </a:r>
            <a:r>
              <a:rPr lang="en-US" altLang="zh-CN" sz="1600" dirty="0" smtClean="0"/>
              <a:t>÷6.6)</a:t>
            </a:r>
            <a:r>
              <a:rPr lang="zh-CN" altLang="en-US" sz="1600" dirty="0" smtClean="0"/>
              <a:t>是噪声电压的</a:t>
            </a:r>
            <a:r>
              <a:rPr lang="zh-CN" altLang="zh-CN" sz="1600" dirty="0" smtClean="0"/>
              <a:t>有效值</a:t>
            </a:r>
            <a:endParaRPr lang="en-US" altLang="zh-CN" sz="1600" dirty="0" smtClean="0"/>
          </a:p>
          <a:p>
            <a:pPr lvl="1">
              <a:lnSpc>
                <a:spcPct val="135000"/>
              </a:lnSpc>
            </a:pPr>
            <a:r>
              <a:rPr lang="zh-CN" altLang="en-US" sz="1600" dirty="0" smtClean="0"/>
              <a:t>系数</a:t>
            </a:r>
            <a:r>
              <a:rPr lang="en-US" altLang="zh-CN" sz="1600" dirty="0" smtClean="0"/>
              <a:t>6.6</a:t>
            </a:r>
            <a:r>
              <a:rPr lang="zh-CN" altLang="en-US" sz="1600" dirty="0" smtClean="0"/>
              <a:t>来自噪声电压幅度符合正态分布的假设，</a:t>
            </a:r>
            <a:r>
              <a:rPr lang="en-US" altLang="zh-CN" sz="1600" dirty="0" smtClean="0"/>
              <a:t>99.9%</a:t>
            </a:r>
            <a:r>
              <a:rPr lang="zh-CN" altLang="en-US" sz="1600" dirty="0" smtClean="0"/>
              <a:t>的电压落在</a:t>
            </a:r>
            <a:r>
              <a:rPr lang="en-US" altLang="zh-CN" sz="1600" dirty="0" smtClean="0">
                <a:latin typeface="Times New Roman" panose="02020603050405020304" pitchFamily="18" charset="0"/>
                <a:cs typeface="Times New Roman" panose="02020603050405020304" pitchFamily="18" charset="0"/>
              </a:rPr>
              <a:t>±</a:t>
            </a:r>
            <a:r>
              <a:rPr lang="en-US" altLang="zh-CN" sz="1600" dirty="0" smtClean="0"/>
              <a:t>3.3</a:t>
            </a:r>
            <a:r>
              <a:rPr lang="el-GR" altLang="zh-CN" sz="1600" dirty="0" smtClean="0"/>
              <a:t>σ</a:t>
            </a:r>
            <a:r>
              <a:rPr lang="zh-CN" altLang="en-US" sz="1600" dirty="0" smtClean="0"/>
              <a:t>范围内</a:t>
            </a:r>
            <a:endParaRPr lang="zh-CN" altLang="en-US" sz="1600" dirty="0"/>
          </a:p>
        </p:txBody>
      </p:sp>
    </p:spTree>
    <p:extLst>
      <p:ext uri="{BB962C8B-B14F-4D97-AF65-F5344CB8AC3E}">
        <p14:creationId xmlns:p14="http://schemas.microsoft.com/office/powerpoint/2010/main" val="408462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文本框 4"/>
          <p:cNvSpPr txBox="1"/>
          <p:nvPr/>
        </p:nvSpPr>
        <p:spPr>
          <a:xfrm>
            <a:off x="277538" y="474219"/>
            <a:ext cx="8588650" cy="5738494"/>
          </a:xfrm>
          <a:prstGeom prst="rect">
            <a:avLst/>
          </a:prstGeom>
          <a:noFill/>
        </p:spPr>
        <p:txBody>
          <a:bodyPr wrap="square" rtlCol="0">
            <a:spAutoFit/>
          </a:bodyPr>
          <a:lstStyle/>
          <a:p>
            <a:pPr marL="285750" indent="-285750">
              <a:lnSpc>
                <a:spcPct val="135000"/>
              </a:lnSpc>
              <a:spcAft>
                <a:spcPts val="600"/>
              </a:spcAft>
              <a:buFont typeface="Wingdings" panose="05000000000000000000" pitchFamily="2" charset="2"/>
              <a:buChar char="Ø"/>
            </a:pPr>
            <a:r>
              <a:rPr lang="zh-CN" altLang="en-US" sz="1800" dirty="0" smtClean="0">
                <a:latin typeface="+mn-lt"/>
              </a:rPr>
              <a:t>分析与讨论之一</a:t>
            </a:r>
            <a:endParaRPr lang="en-US" altLang="zh-CN" sz="1800" dirty="0" smtClean="0">
              <a:latin typeface="+mn-lt"/>
            </a:endParaRPr>
          </a:p>
          <a:p>
            <a:pPr indent="457200">
              <a:lnSpc>
                <a:spcPct val="130000"/>
              </a:lnSpc>
              <a:spcBef>
                <a:spcPts val="0"/>
              </a:spcBef>
              <a:spcAft>
                <a:spcPts val="0"/>
              </a:spcAft>
            </a:pPr>
            <a:r>
              <a:rPr lang="zh-CN" altLang="en-US" sz="1800" dirty="0" smtClean="0">
                <a:latin typeface="+mn-lt"/>
              </a:rPr>
              <a:t>载波同步电路中的锁相环，可以视为一个窄带滤波器，其带宽称为锁相环的噪声带宽。对于阻尼因子</a:t>
            </a:r>
            <a:r>
              <a:rPr lang="en-US" altLang="zh-CN" sz="1800" dirty="0" smtClean="0">
                <a:latin typeface="+mn-lt"/>
              </a:rPr>
              <a:t>0.7</a:t>
            </a:r>
            <a:r>
              <a:rPr lang="zh-CN" altLang="en-US" sz="1800" dirty="0" smtClean="0">
                <a:latin typeface="+mn-lt"/>
              </a:rPr>
              <a:t>左右的二阶锁相环来说，其噪声带宽大约等于</a:t>
            </a:r>
            <a:r>
              <a:rPr lang="en-US" altLang="zh-CN" sz="1800" dirty="0" smtClean="0">
                <a:latin typeface="+mn-lt"/>
              </a:rPr>
              <a:t>0.5</a:t>
            </a:r>
            <a:r>
              <a:rPr lang="el-GR" altLang="zh-CN" sz="1800" i="1" dirty="0" smtClean="0">
                <a:latin typeface="+mn-lt"/>
              </a:rPr>
              <a:t>ω</a:t>
            </a:r>
            <a:r>
              <a:rPr lang="en-US" altLang="zh-CN" sz="1800" i="1" baseline="-25000" dirty="0" smtClean="0">
                <a:latin typeface="+mn-lt"/>
              </a:rPr>
              <a:t>n</a:t>
            </a:r>
          </a:p>
          <a:p>
            <a:pPr indent="457200">
              <a:lnSpc>
                <a:spcPct val="130000"/>
              </a:lnSpc>
              <a:spcBef>
                <a:spcPts val="0"/>
              </a:spcBef>
              <a:spcAft>
                <a:spcPts val="0"/>
              </a:spcAft>
            </a:pPr>
            <a:r>
              <a:rPr lang="zh-CN" altLang="en-US" sz="1800" dirty="0" smtClean="0">
                <a:latin typeface="+mn-lt"/>
              </a:rPr>
              <a:t>根据这个等效原理，一个带有噪声的信号经过锁相环后，其中超出噪声带宽部分的噪声将被滤除，锁相环输出信号的信噪比得以提高，可由下式计算</a:t>
            </a:r>
            <a:endParaRPr lang="en-US" altLang="zh-CN" sz="1800" dirty="0" smtClean="0">
              <a:latin typeface="+mn-lt"/>
            </a:endParaRPr>
          </a:p>
          <a:p>
            <a:pPr algn="ctr">
              <a:lnSpc>
                <a:spcPct val="130000"/>
              </a:lnSpc>
              <a:spcBef>
                <a:spcPts val="600"/>
              </a:spcBef>
              <a:spcAft>
                <a:spcPts val="600"/>
              </a:spcAft>
            </a:pPr>
            <a:r>
              <a:rPr lang="zh-CN" altLang="en-US" sz="1800" dirty="0" smtClean="0">
                <a:latin typeface="+mn-lt"/>
              </a:rPr>
              <a:t>输出信噪比</a:t>
            </a:r>
            <a:r>
              <a:rPr lang="en-US" altLang="zh-CN" sz="1800" dirty="0" smtClean="0">
                <a:latin typeface="+mn-lt"/>
              </a:rPr>
              <a:t>=</a:t>
            </a:r>
            <a:r>
              <a:rPr lang="zh-CN" altLang="en-US" sz="1800" dirty="0" smtClean="0">
                <a:latin typeface="+mn-lt"/>
              </a:rPr>
              <a:t>输入信噪比</a:t>
            </a:r>
            <a:r>
              <a:rPr lang="en-US" altLang="zh-CN" sz="1800" dirty="0" smtClean="0">
                <a:latin typeface="+mn-lt"/>
              </a:rPr>
              <a:t>×</a:t>
            </a:r>
            <a:r>
              <a:rPr lang="zh-CN" altLang="en-US" sz="1800" dirty="0" smtClean="0">
                <a:latin typeface="+mn-lt"/>
              </a:rPr>
              <a:t>输入信号带宽 </a:t>
            </a:r>
            <a:r>
              <a:rPr lang="en-US" altLang="zh-CN" sz="1800" dirty="0" smtClean="0">
                <a:latin typeface="+mn-lt"/>
              </a:rPr>
              <a:t>/ (</a:t>
            </a:r>
            <a:r>
              <a:rPr lang="zh-CN" altLang="en-US" sz="1800" dirty="0" smtClean="0">
                <a:latin typeface="+mn-lt"/>
              </a:rPr>
              <a:t>锁相环</a:t>
            </a:r>
            <a:r>
              <a:rPr lang="zh-CN" altLang="en-US" sz="1800" dirty="0">
                <a:latin typeface="+mn-lt"/>
              </a:rPr>
              <a:t>噪声</a:t>
            </a:r>
            <a:r>
              <a:rPr lang="zh-CN" altLang="en-US" sz="1800" dirty="0" smtClean="0">
                <a:latin typeface="+mn-lt"/>
              </a:rPr>
              <a:t>带宽</a:t>
            </a:r>
            <a:r>
              <a:rPr lang="en-US" altLang="zh-CN" sz="1800" dirty="0" smtClean="0">
                <a:latin typeface="+mn-lt"/>
              </a:rPr>
              <a:t>×2)</a:t>
            </a:r>
          </a:p>
          <a:p>
            <a:pPr indent="457200">
              <a:lnSpc>
                <a:spcPct val="130000"/>
              </a:lnSpc>
              <a:spcBef>
                <a:spcPts val="0"/>
              </a:spcBef>
              <a:spcAft>
                <a:spcPts val="0"/>
              </a:spcAft>
            </a:pPr>
            <a:r>
              <a:rPr lang="zh-CN" altLang="en-US" sz="1800" dirty="0" smtClean="0">
                <a:latin typeface="+mn-lt"/>
              </a:rPr>
              <a:t>锁相环输出信号的信噪比等效于其中的载波与相位抖动部分的比例。这个等效信噪比高意味着锁相环可以稳定工作，而信噪比不够则意味着锁相环无法稳定工作。一个经验数值是：等效的输出信噪比要大于</a:t>
            </a:r>
            <a:r>
              <a:rPr lang="en-US" altLang="zh-CN" sz="1800" dirty="0" smtClean="0">
                <a:latin typeface="+mn-lt"/>
              </a:rPr>
              <a:t>4</a:t>
            </a:r>
            <a:r>
              <a:rPr lang="zh-CN" altLang="en-US" sz="1800" dirty="0" smtClean="0">
                <a:latin typeface="+mn-lt"/>
              </a:rPr>
              <a:t>（</a:t>
            </a:r>
            <a:r>
              <a:rPr lang="en-US" altLang="zh-CN" sz="1800" dirty="0" smtClean="0">
                <a:latin typeface="+mn-lt"/>
              </a:rPr>
              <a:t>6dB</a:t>
            </a:r>
            <a:r>
              <a:rPr lang="zh-CN" altLang="en-US" sz="1800" dirty="0" smtClean="0">
                <a:latin typeface="+mn-lt"/>
              </a:rPr>
              <a:t>）锁相环才能稳定工作</a:t>
            </a:r>
            <a:endParaRPr lang="en-US" altLang="zh-CN" sz="1800" dirty="0" smtClean="0">
              <a:latin typeface="+mn-lt"/>
            </a:endParaRPr>
          </a:p>
          <a:p>
            <a:pPr indent="457200">
              <a:lnSpc>
                <a:spcPct val="130000"/>
              </a:lnSpc>
              <a:spcBef>
                <a:spcPts val="0"/>
              </a:spcBef>
              <a:spcAft>
                <a:spcPts val="0"/>
              </a:spcAft>
            </a:pPr>
            <a:r>
              <a:rPr lang="zh-CN" altLang="en-US" sz="1800" dirty="0" smtClean="0">
                <a:latin typeface="+mn-lt"/>
              </a:rPr>
              <a:t>前面实验的结果证明了输出信噪比与输入信噪比的正比关系：输入信号的信噪比较高</a:t>
            </a:r>
            <a:r>
              <a:rPr lang="zh-CN" altLang="en-US" sz="1800" dirty="0">
                <a:latin typeface="+mn-lt"/>
              </a:rPr>
              <a:t>时，输出的等效信</a:t>
            </a:r>
            <a:r>
              <a:rPr lang="zh-CN" altLang="en-US" sz="1800" dirty="0" smtClean="0">
                <a:latin typeface="+mn-lt"/>
              </a:rPr>
              <a:t>噪也也较高，输出信号是稳定的。加大输入的噪声信号比重，输入的信噪比变差，则输出的信噪比随之变差，锁相环就从稳定状态变成不稳定状态了</a:t>
            </a:r>
            <a:endParaRPr lang="en-US" altLang="zh-CN" sz="1800" dirty="0" smtClean="0">
              <a:latin typeface="+mn-lt"/>
            </a:endParaRPr>
          </a:p>
          <a:p>
            <a:pPr indent="457200">
              <a:lnSpc>
                <a:spcPct val="130000"/>
              </a:lnSpc>
              <a:spcBef>
                <a:spcPts val="0"/>
              </a:spcBef>
              <a:spcAft>
                <a:spcPts val="0"/>
              </a:spcAft>
            </a:pPr>
            <a:r>
              <a:rPr lang="zh-CN" altLang="en-US" sz="1800" dirty="0" smtClean="0">
                <a:latin typeface="+mn-lt"/>
              </a:rPr>
              <a:t>此实验</a:t>
            </a:r>
            <a:r>
              <a:rPr lang="zh-CN" altLang="en-US" sz="1800" dirty="0">
                <a:latin typeface="+mn-lt"/>
              </a:rPr>
              <a:t>尚存在</a:t>
            </a:r>
            <a:r>
              <a:rPr lang="zh-CN" altLang="en-US" sz="1800" dirty="0" smtClean="0">
                <a:latin typeface="+mn-lt"/>
              </a:rPr>
              <a:t>以下问题：</a:t>
            </a:r>
            <a:r>
              <a:rPr lang="en-US" altLang="zh-CN" sz="1800" dirty="0" smtClean="0">
                <a:latin typeface="+mn-lt"/>
              </a:rPr>
              <a:t>1</a:t>
            </a:r>
            <a:r>
              <a:rPr lang="zh-CN" altLang="en-US" sz="1800" dirty="0" smtClean="0">
                <a:latin typeface="+mn-lt"/>
              </a:rPr>
              <a:t>、噪声不完全是白色的，</a:t>
            </a:r>
            <a:r>
              <a:rPr lang="en-US" altLang="zh-CN" sz="1800" dirty="0" smtClean="0">
                <a:latin typeface="+mn-lt"/>
              </a:rPr>
              <a:t>2</a:t>
            </a:r>
            <a:r>
              <a:rPr lang="zh-CN" altLang="en-US" sz="1800" dirty="0" smtClean="0">
                <a:latin typeface="+mn-lt"/>
              </a:rPr>
              <a:t>、很难准确估计信号带宽，</a:t>
            </a:r>
            <a:r>
              <a:rPr lang="zh-CN" altLang="en-US" sz="1800" dirty="0" smtClean="0"/>
              <a:t>所以最终无法进行定量计算</a:t>
            </a:r>
            <a:endParaRPr lang="en-US" altLang="zh-CN" sz="1800" dirty="0" smtClean="0">
              <a:latin typeface="+mn-lt"/>
            </a:endParaRPr>
          </a:p>
        </p:txBody>
      </p:sp>
    </p:spTree>
    <p:extLst>
      <p:ext uri="{BB962C8B-B14F-4D97-AF65-F5344CB8AC3E}">
        <p14:creationId xmlns:p14="http://schemas.microsoft.com/office/powerpoint/2010/main" val="1764219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356479" y="419385"/>
            <a:ext cx="8509709" cy="5773888"/>
          </a:xfrm>
          <a:prstGeom prst="rect">
            <a:avLst/>
          </a:prstGeom>
          <a:noFill/>
        </p:spPr>
        <p:txBody>
          <a:bodyPr wrap="square" rtlCol="0">
            <a:spAutoFit/>
          </a:bodyPr>
          <a:lstStyle/>
          <a:p>
            <a:pPr marL="342900" indent="-342900">
              <a:lnSpc>
                <a:spcPct val="130000"/>
              </a:lnSpc>
              <a:buFont typeface="Wingdings" panose="05000000000000000000" pitchFamily="2" charset="2"/>
              <a:buChar char="Ø"/>
            </a:pPr>
            <a:r>
              <a:rPr lang="zh-CN" altLang="en-US" sz="1800" dirty="0" smtClean="0"/>
              <a:t>分析与讨论之二</a:t>
            </a:r>
            <a:endParaRPr lang="en-US" altLang="zh-CN" sz="1800" dirty="0" smtClean="0"/>
          </a:p>
          <a:p>
            <a:pPr indent="457200">
              <a:lnSpc>
                <a:spcPct val="130000"/>
              </a:lnSpc>
            </a:pPr>
            <a:r>
              <a:rPr lang="zh-CN" altLang="en-US" sz="1800" dirty="0" smtClean="0"/>
              <a:t>载波同步电路中，为了获得更低的输出相位抖动，总是要求锁相环有尽可能</a:t>
            </a:r>
            <a:r>
              <a:rPr lang="zh-CN" altLang="en-US" sz="1800" dirty="0"/>
              <a:t>低的</a:t>
            </a:r>
            <a:r>
              <a:rPr lang="zh-CN" altLang="en-US" sz="1800" dirty="0" smtClean="0"/>
              <a:t>自然频率</a:t>
            </a:r>
            <a:r>
              <a:rPr lang="zh-CN" altLang="en-US" sz="1800" dirty="0"/>
              <a:t>（</a:t>
            </a:r>
            <a:r>
              <a:rPr lang="zh-CN" altLang="en-US" sz="1800" dirty="0" smtClean="0"/>
              <a:t>闭环带宽、噪声带宽），但很低的自然频率将会带来捕捉上的问题</a:t>
            </a:r>
            <a:endParaRPr lang="en-US" altLang="zh-CN" sz="1800" dirty="0"/>
          </a:p>
          <a:p>
            <a:pPr indent="457200">
              <a:lnSpc>
                <a:spcPct val="130000"/>
              </a:lnSpc>
            </a:pPr>
            <a:r>
              <a:rPr lang="zh-CN" altLang="en-US" sz="1800" dirty="0" smtClean="0"/>
              <a:t>本例采用了乘法器</a:t>
            </a:r>
            <a:r>
              <a:rPr lang="en-US" altLang="zh-CN" sz="1800" dirty="0" smtClean="0"/>
              <a:t>+</a:t>
            </a:r>
            <a:r>
              <a:rPr lang="zh-CN" altLang="en-US" sz="1800" dirty="0" smtClean="0"/>
              <a:t>超前滞后环路滤波器，捕捉范围为</a:t>
            </a:r>
            <a:endParaRPr lang="en-US" altLang="zh-CN" sz="1800" dirty="0" smtClean="0"/>
          </a:p>
          <a:p>
            <a:pPr indent="457200">
              <a:lnSpc>
                <a:spcPct val="130000"/>
              </a:lnSpc>
            </a:pPr>
            <a:endParaRPr lang="en-US" altLang="zh-CN" sz="1800" dirty="0"/>
          </a:p>
          <a:p>
            <a:pPr indent="457200">
              <a:lnSpc>
                <a:spcPct val="130000"/>
              </a:lnSpc>
            </a:pPr>
            <a:endParaRPr lang="en-US" altLang="zh-CN" sz="1400" dirty="0" smtClean="0"/>
          </a:p>
          <a:p>
            <a:pPr indent="457200">
              <a:lnSpc>
                <a:spcPct val="130000"/>
              </a:lnSpc>
            </a:pPr>
            <a:r>
              <a:rPr lang="zh-CN" altLang="en-US" sz="1800" dirty="0" smtClean="0"/>
              <a:t>将所有参数（见第</a:t>
            </a:r>
            <a:r>
              <a:rPr lang="en-US" altLang="zh-CN" sz="1800" dirty="0" smtClean="0"/>
              <a:t>8</a:t>
            </a:r>
            <a:r>
              <a:rPr lang="zh-CN" altLang="en-US" sz="1800" dirty="0" smtClean="0"/>
              <a:t>页）代入，捕捉范围大约是 </a:t>
            </a:r>
            <a:r>
              <a:rPr lang="en-US" altLang="zh-CN" sz="1800" i="1" dirty="0" smtClean="0">
                <a:latin typeface="+mn-lt"/>
              </a:rPr>
              <a:t>f</a:t>
            </a:r>
            <a:r>
              <a:rPr lang="en-US" altLang="zh-CN" sz="1800" baseline="-25000" dirty="0" smtClean="0">
                <a:latin typeface="+mn-lt"/>
              </a:rPr>
              <a:t>0</a:t>
            </a:r>
            <a:r>
              <a:rPr lang="en-US" altLang="zh-CN" sz="1800" dirty="0" smtClean="0">
                <a:latin typeface="+mn-lt"/>
                <a:cs typeface="Times New Roman" panose="02020603050405020304" pitchFamily="18" charset="0"/>
              </a:rPr>
              <a:t>±</a:t>
            </a:r>
            <a:r>
              <a:rPr lang="en-US" altLang="zh-CN" sz="1800" dirty="0" smtClean="0">
                <a:latin typeface="+mn-lt"/>
              </a:rPr>
              <a:t>55kHz</a:t>
            </a:r>
            <a:r>
              <a:rPr lang="zh-CN" altLang="en-US" sz="1800" dirty="0" smtClean="0"/>
              <a:t>。由于载波频率为</a:t>
            </a:r>
            <a:r>
              <a:rPr lang="en-US" altLang="zh-CN" sz="1800" dirty="0" smtClean="0">
                <a:latin typeface="+mn-lt"/>
              </a:rPr>
              <a:t>1MHz</a:t>
            </a:r>
            <a:r>
              <a:rPr lang="zh-CN" altLang="en-US" sz="1800" dirty="0" smtClean="0"/>
              <a:t>，所以相对捕捉范围大约是</a:t>
            </a:r>
            <a:r>
              <a:rPr lang="en-US" altLang="zh-CN" sz="1800" dirty="0" smtClean="0">
                <a:latin typeface="Times New Roman" panose="02020603050405020304" pitchFamily="18" charset="0"/>
                <a:cs typeface="Times New Roman" panose="02020603050405020304" pitchFamily="18" charset="0"/>
              </a:rPr>
              <a:t>±5.5%</a:t>
            </a:r>
            <a:r>
              <a:rPr lang="zh-CN" altLang="en-US" sz="1800" dirty="0" smtClean="0">
                <a:latin typeface="Times New Roman" panose="02020603050405020304" pitchFamily="18" charset="0"/>
                <a:cs typeface="Times New Roman" panose="02020603050405020304" pitchFamily="18" charset="0"/>
              </a:rPr>
              <a:t>，这是一个很窄的捕捉范围</a:t>
            </a:r>
            <a:endParaRPr lang="en-US" altLang="zh-CN" sz="1800" dirty="0" smtClean="0">
              <a:latin typeface="Times New Roman" panose="02020603050405020304" pitchFamily="18" charset="0"/>
              <a:cs typeface="Times New Roman" panose="02020603050405020304" pitchFamily="18" charset="0"/>
            </a:endParaRPr>
          </a:p>
          <a:p>
            <a:pPr indent="457200">
              <a:lnSpc>
                <a:spcPct val="130000"/>
              </a:lnSpc>
            </a:pPr>
            <a:r>
              <a:rPr lang="zh-CN" altLang="en-US" sz="1800" dirty="0" smtClean="0">
                <a:latin typeface="Times New Roman" panose="02020603050405020304" pitchFamily="18" charset="0"/>
                <a:cs typeface="Times New Roman" panose="02020603050405020304" pitchFamily="18" charset="0"/>
              </a:rPr>
              <a:t>实测</a:t>
            </a:r>
            <a:r>
              <a:rPr lang="zh-CN" altLang="en-US" sz="1800" dirty="0">
                <a:latin typeface="Times New Roman" panose="02020603050405020304" pitchFamily="18" charset="0"/>
                <a:cs typeface="Times New Roman" panose="02020603050405020304" pitchFamily="18" charset="0"/>
              </a:rPr>
              <a:t>本</a:t>
            </a:r>
            <a:r>
              <a:rPr lang="zh-CN" altLang="en-US" sz="1800" dirty="0" smtClean="0">
                <a:latin typeface="Times New Roman" panose="02020603050405020304" pitchFamily="18" charset="0"/>
                <a:cs typeface="Times New Roman" panose="02020603050405020304" pitchFamily="18" charset="0"/>
              </a:rPr>
              <a:t>例电路的捕捉范围为</a:t>
            </a:r>
            <a:r>
              <a:rPr lang="en-US" altLang="zh-CN" sz="1800" dirty="0" smtClean="0">
                <a:latin typeface="Times New Roman" panose="02020603050405020304" pitchFamily="18" charset="0"/>
                <a:cs typeface="Times New Roman" panose="02020603050405020304" pitchFamily="18" charset="0"/>
              </a:rPr>
              <a:t>1MHz±60kHz</a:t>
            </a:r>
            <a:r>
              <a:rPr lang="zh-CN" altLang="en-US" sz="1800" dirty="0" smtClean="0">
                <a:latin typeface="Times New Roman" panose="02020603050405020304" pitchFamily="18" charset="0"/>
                <a:cs typeface="Times New Roman" panose="02020603050405020304" pitchFamily="18" charset="0"/>
              </a:rPr>
              <a:t>，与理论</a:t>
            </a:r>
            <a:r>
              <a:rPr lang="zh-CN" altLang="en-US" sz="1800" dirty="0">
                <a:latin typeface="Times New Roman" panose="02020603050405020304" pitchFamily="18" charset="0"/>
                <a:cs typeface="Times New Roman" panose="02020603050405020304" pitchFamily="18" charset="0"/>
              </a:rPr>
              <a:t>符合。笔者观察</a:t>
            </a:r>
            <a:r>
              <a:rPr lang="zh-CN" altLang="en-US" sz="1800" dirty="0" smtClean="0">
                <a:latin typeface="Times New Roman" panose="02020603050405020304" pitchFamily="18" charset="0"/>
                <a:cs typeface="Times New Roman" panose="02020603050405020304" pitchFamily="18" charset="0"/>
              </a:rPr>
              <a:t>到由于温度或者其他原因导致</a:t>
            </a:r>
            <a:r>
              <a:rPr lang="en-US" altLang="zh-CN" sz="1800" dirty="0" smtClean="0">
                <a:latin typeface="Times New Roman" panose="02020603050405020304" pitchFamily="18" charset="0"/>
                <a:cs typeface="Times New Roman" panose="02020603050405020304" pitchFamily="18" charset="0"/>
              </a:rPr>
              <a:t>VCO</a:t>
            </a:r>
            <a:r>
              <a:rPr lang="zh-CN" altLang="en-US" sz="1800" dirty="0" smtClean="0">
                <a:latin typeface="Times New Roman" panose="02020603050405020304" pitchFamily="18" charset="0"/>
                <a:cs typeface="Times New Roman" panose="02020603050405020304" pitchFamily="18" charset="0"/>
              </a:rPr>
              <a:t>的中心频率漂移时，即使输入的信噪比较高也无法捕捉到信号，只能重新调节</a:t>
            </a:r>
            <a:r>
              <a:rPr lang="en-US" altLang="zh-CN" sz="1800" dirty="0" smtClean="0">
                <a:latin typeface="Times New Roman" panose="02020603050405020304" pitchFamily="18" charset="0"/>
                <a:cs typeface="Times New Roman" panose="02020603050405020304" pitchFamily="18" charset="0"/>
              </a:rPr>
              <a:t>C</a:t>
            </a:r>
            <a:r>
              <a:rPr lang="en-US" altLang="zh-CN" sz="1800" baseline="-25000" dirty="0" smtClean="0">
                <a:latin typeface="Times New Roman" panose="02020603050405020304" pitchFamily="18" charset="0"/>
                <a:cs typeface="Times New Roman" panose="02020603050405020304" pitchFamily="18" charset="0"/>
              </a:rPr>
              <a:t>0</a:t>
            </a:r>
          </a:p>
          <a:p>
            <a:pPr indent="457200">
              <a:lnSpc>
                <a:spcPct val="130000"/>
              </a:lnSpc>
            </a:pPr>
            <a:r>
              <a:rPr lang="zh-CN" altLang="en-US" sz="1800" dirty="0" smtClean="0">
                <a:latin typeface="Times New Roman" panose="02020603050405020304" pitchFamily="18" charset="0"/>
                <a:cs typeface="Times New Roman" panose="02020603050405020304" pitchFamily="18" charset="0"/>
              </a:rPr>
              <a:t>可以与频率合成器做比较：频率合成器中通常采用</a:t>
            </a:r>
            <a:r>
              <a:rPr lang="en-US" altLang="zh-CN" sz="1800" dirty="0" smtClean="0">
                <a:latin typeface="Times New Roman" panose="02020603050405020304" pitchFamily="18" charset="0"/>
                <a:cs typeface="Times New Roman" panose="02020603050405020304" pitchFamily="18" charset="0"/>
              </a:rPr>
              <a:t>PFD</a:t>
            </a:r>
            <a:r>
              <a:rPr lang="zh-CN" altLang="en-US" sz="1800" dirty="0" smtClean="0">
                <a:latin typeface="Times New Roman" panose="02020603050405020304" pitchFamily="18" charset="0"/>
                <a:cs typeface="Times New Roman" panose="02020603050405020304" pitchFamily="18" charset="0"/>
              </a:rPr>
              <a:t>鉴相，其捕捉范围仅限于</a:t>
            </a:r>
            <a:r>
              <a:rPr lang="en-US" altLang="zh-CN" sz="1800" dirty="0" smtClean="0">
                <a:latin typeface="Times New Roman" panose="02020603050405020304" pitchFamily="18" charset="0"/>
                <a:cs typeface="Times New Roman" panose="02020603050405020304" pitchFamily="18" charset="0"/>
              </a:rPr>
              <a:t>VCO</a:t>
            </a:r>
            <a:r>
              <a:rPr lang="zh-CN" altLang="en-US" sz="1800" dirty="0" smtClean="0">
                <a:latin typeface="Times New Roman" panose="02020603050405020304" pitchFamily="18" charset="0"/>
                <a:cs typeface="Times New Roman" panose="02020603050405020304" pitchFamily="18" charset="0"/>
              </a:rPr>
              <a:t>的振荡频率范围，所以可以不管这个问题。而在这里尤其是有噪声输入的情况下，通常总是采用乘法器或异或门鉴相，这个捕捉问题就显得很突出</a:t>
            </a:r>
            <a:endParaRPr lang="en-US" altLang="zh-CN" sz="1800" dirty="0" smtClean="0">
              <a:latin typeface="Times New Roman" panose="02020603050405020304" pitchFamily="18" charset="0"/>
              <a:cs typeface="Times New Roman" panose="02020603050405020304" pitchFamily="18" charset="0"/>
            </a:endParaRPr>
          </a:p>
          <a:p>
            <a:pPr indent="457200">
              <a:lnSpc>
                <a:spcPct val="130000"/>
              </a:lnSpc>
            </a:pPr>
            <a:r>
              <a:rPr lang="zh-CN" altLang="en-US" sz="1800" dirty="0">
                <a:latin typeface="Times New Roman" panose="02020603050405020304" pitchFamily="18" charset="0"/>
                <a:cs typeface="Times New Roman" panose="02020603050405020304" pitchFamily="18" charset="0"/>
              </a:rPr>
              <a:t>一</a:t>
            </a:r>
            <a:r>
              <a:rPr lang="zh-CN" altLang="en-US" sz="1800" dirty="0" smtClean="0">
                <a:latin typeface="Times New Roman" panose="02020603050405020304" pitchFamily="18" charset="0"/>
                <a:cs typeface="Times New Roman" panose="02020603050405020304" pitchFamily="18" charset="0"/>
              </a:rPr>
              <a:t>种扫描捕捉的过程是在</a:t>
            </a:r>
            <a:r>
              <a:rPr lang="en-US" altLang="zh-CN" sz="1800" dirty="0" smtClean="0">
                <a:latin typeface="Times New Roman" panose="02020603050405020304" pitchFamily="18" charset="0"/>
                <a:cs typeface="Times New Roman" panose="02020603050405020304" pitchFamily="18" charset="0"/>
              </a:rPr>
              <a:t>VCO</a:t>
            </a:r>
            <a:r>
              <a:rPr lang="zh-CN" altLang="en-US" sz="1800" dirty="0" smtClean="0">
                <a:latin typeface="Times New Roman" panose="02020603050405020304" pitchFamily="18" charset="0"/>
                <a:cs typeface="Times New Roman" panose="02020603050405020304" pitchFamily="18" charset="0"/>
              </a:rPr>
              <a:t>的输入端叠加一个小的锯齿波电压，让</a:t>
            </a:r>
            <a:r>
              <a:rPr lang="en-US" altLang="zh-CN" sz="1800" dirty="0" smtClean="0">
                <a:latin typeface="Times New Roman" panose="02020603050405020304" pitchFamily="18" charset="0"/>
                <a:cs typeface="Times New Roman" panose="02020603050405020304" pitchFamily="18" charset="0"/>
              </a:rPr>
              <a:t>VCO</a:t>
            </a:r>
            <a:r>
              <a:rPr lang="zh-CN" altLang="en-US" sz="1800" dirty="0" smtClean="0">
                <a:latin typeface="Times New Roman" panose="02020603050405020304" pitchFamily="18" charset="0"/>
                <a:cs typeface="Times New Roman" panose="02020603050405020304" pitchFamily="18" charset="0"/>
              </a:rPr>
              <a:t>的中心频率扫描，一旦锁定就固定那个扫描电压</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412716818"/>
              </p:ext>
            </p:extLst>
          </p:nvPr>
        </p:nvGraphicFramePr>
        <p:xfrm>
          <a:off x="3741964" y="1919784"/>
          <a:ext cx="1398587" cy="614363"/>
        </p:xfrm>
        <a:graphic>
          <a:graphicData uri="http://schemas.openxmlformats.org/presentationml/2006/ole">
            <mc:AlternateContent xmlns:mc="http://schemas.openxmlformats.org/markup-compatibility/2006">
              <mc:Choice xmlns:v="urn:schemas-microsoft-com:vml" Requires="v">
                <p:oleObj spid="_x0000_s44079" name="Equation" r:id="rId3" imgW="736560" imgH="317160" progId="Equation.DSMT4">
                  <p:embed/>
                </p:oleObj>
              </mc:Choice>
              <mc:Fallback>
                <p:oleObj name="Equation" r:id="rId3" imgW="736560" imgH="317160" progId="Equation.DSMT4">
                  <p:embed/>
                  <p:pic>
                    <p:nvPicPr>
                      <p:cNvPr id="22" name="对象 21"/>
                      <p:cNvPicPr>
                        <a:picLocks noChangeAspect="1" noChangeArrowheads="1"/>
                      </p:cNvPicPr>
                      <p:nvPr/>
                    </p:nvPicPr>
                    <p:blipFill>
                      <a:blip r:embed="rId4"/>
                      <a:srcRect/>
                      <a:stretch>
                        <a:fillRect/>
                      </a:stretch>
                    </p:blipFill>
                    <p:spPr bwMode="auto">
                      <a:xfrm>
                        <a:off x="3741964" y="1919784"/>
                        <a:ext cx="1398587" cy="614363"/>
                      </a:xfrm>
                      <a:prstGeom prst="rect">
                        <a:avLst/>
                      </a:prstGeom>
                      <a:noFill/>
                    </p:spPr>
                  </p:pic>
                </p:oleObj>
              </mc:Fallback>
            </mc:AlternateContent>
          </a:graphicData>
        </a:graphic>
      </p:graphicFrame>
    </p:spTree>
    <p:extLst>
      <p:ext uri="{BB962C8B-B14F-4D97-AF65-F5344CB8AC3E}">
        <p14:creationId xmlns:p14="http://schemas.microsoft.com/office/powerpoint/2010/main" val="316251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文本框 4"/>
          <p:cNvSpPr txBox="1"/>
          <p:nvPr/>
        </p:nvSpPr>
        <p:spPr>
          <a:xfrm>
            <a:off x="387853" y="351974"/>
            <a:ext cx="8478335" cy="5503045"/>
          </a:xfrm>
          <a:prstGeom prst="rect">
            <a:avLst/>
          </a:prstGeom>
          <a:noFill/>
        </p:spPr>
        <p:txBody>
          <a:bodyPr wrap="square" rtlCol="0">
            <a:spAutoFit/>
          </a:bodyPr>
          <a:lstStyle/>
          <a:p>
            <a:pPr>
              <a:lnSpc>
                <a:spcPct val="140000"/>
              </a:lnSpc>
            </a:pPr>
            <a:r>
              <a:rPr lang="zh-CN" altLang="en-US" sz="2800" dirty="0">
                <a:solidFill>
                  <a:srgbClr val="FF0000"/>
                </a:solidFill>
                <a:latin typeface="隶书" panose="02010509060101010101" pitchFamily="49" charset="-122"/>
                <a:ea typeface="隶书" panose="02010509060101010101" pitchFamily="49" charset="-122"/>
              </a:rPr>
              <a:t>高阶锁相环改善输出信号相位抖动</a:t>
            </a:r>
            <a:r>
              <a:rPr lang="zh-CN" altLang="en-US" sz="2800" dirty="0" smtClean="0">
                <a:solidFill>
                  <a:srgbClr val="FF0000"/>
                </a:solidFill>
                <a:latin typeface="隶书" panose="02010509060101010101" pitchFamily="49" charset="-122"/>
                <a:ea typeface="隶书" panose="02010509060101010101" pitchFamily="49" charset="-122"/>
              </a:rPr>
              <a:t>的例子</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40000"/>
              </a:lnSpc>
              <a:buFont typeface="Wingdings" panose="05000000000000000000" pitchFamily="2" charset="2"/>
              <a:buChar char="Ø"/>
            </a:pPr>
            <a:r>
              <a:rPr lang="zh-CN" altLang="en-US" sz="1800" dirty="0" smtClean="0"/>
              <a:t>实验条件：</a:t>
            </a:r>
            <a:endParaRPr lang="en-US" altLang="zh-CN" sz="1800" dirty="0" smtClean="0"/>
          </a:p>
          <a:p>
            <a:pPr marL="342900" indent="-342900">
              <a:lnSpc>
                <a:spcPct val="140000"/>
              </a:lnSpc>
              <a:buFont typeface="Arial" panose="020B0604020202020204" pitchFamily="34" charset="0"/>
              <a:buChar char="•"/>
            </a:pPr>
            <a:r>
              <a:rPr lang="zh-CN" altLang="en-US" sz="1800" dirty="0" smtClean="0"/>
              <a:t>实验电路与前面一个电路相同，但只有信号输入（</a:t>
            </a:r>
            <a:r>
              <a:rPr lang="zh-CN" altLang="zh-CN" sz="1800" dirty="0" smtClean="0"/>
              <a:t>噪声</a:t>
            </a:r>
            <a:r>
              <a:rPr lang="zh-CN" altLang="zh-CN" sz="1800" dirty="0"/>
              <a:t>输入端对地</a:t>
            </a:r>
            <a:r>
              <a:rPr lang="zh-CN" altLang="zh-CN" sz="1800" dirty="0" smtClean="0"/>
              <a:t>短路</a:t>
            </a:r>
            <a:r>
              <a:rPr lang="zh-CN" altLang="en-US" sz="1800" dirty="0" smtClean="0"/>
              <a:t>）</a:t>
            </a:r>
            <a:endParaRPr lang="en-US" altLang="zh-CN" sz="1800" dirty="0" smtClean="0"/>
          </a:p>
          <a:p>
            <a:pPr lvl="1">
              <a:lnSpc>
                <a:spcPct val="140000"/>
              </a:lnSpc>
            </a:pPr>
            <a:r>
              <a:rPr lang="zh-CN" altLang="en-US" sz="1800" dirty="0"/>
              <a:t>锁相环参数</a:t>
            </a:r>
            <a:r>
              <a:rPr lang="zh-CN" altLang="en-US" sz="1800" dirty="0" smtClean="0"/>
              <a:t>：</a:t>
            </a:r>
            <a:r>
              <a:rPr lang="zh-CN" altLang="zh-CN" sz="1800" dirty="0" smtClean="0"/>
              <a:t>鉴</a:t>
            </a:r>
            <a:r>
              <a:rPr lang="zh-CN" altLang="zh-CN" sz="1800" dirty="0"/>
              <a:t>相增益</a:t>
            </a:r>
            <a:r>
              <a:rPr lang="en-US" altLang="zh-CN" sz="1800" i="1" dirty="0" err="1">
                <a:latin typeface="+mn-lt"/>
              </a:rPr>
              <a:t>K</a:t>
            </a:r>
            <a:r>
              <a:rPr lang="en-US" altLang="zh-CN" sz="1800" i="1" baseline="-25000" dirty="0" err="1">
                <a:latin typeface="+mn-lt"/>
              </a:rPr>
              <a:t>d</a:t>
            </a:r>
            <a:r>
              <a:rPr lang="en-US" altLang="zh-CN" sz="1800" dirty="0">
                <a:latin typeface="+mn-lt"/>
              </a:rPr>
              <a:t>=0.46</a:t>
            </a:r>
            <a:r>
              <a:rPr lang="zh-CN" altLang="en-US" sz="1800" dirty="0"/>
              <a:t>，压控增益</a:t>
            </a:r>
            <a:r>
              <a:rPr lang="en-US" altLang="zh-CN" sz="1800" i="1" dirty="0" err="1" smtClean="0">
                <a:latin typeface="+mn-lt"/>
              </a:rPr>
              <a:t>K</a:t>
            </a:r>
            <a:r>
              <a:rPr lang="en-US" altLang="zh-CN" sz="1800" i="1" baseline="-25000" dirty="0" err="1" smtClean="0">
                <a:latin typeface="+mn-lt"/>
              </a:rPr>
              <a:t>o</a:t>
            </a:r>
            <a:r>
              <a:rPr lang="en-US" altLang="zh-CN" sz="1800" dirty="0" smtClean="0">
                <a:latin typeface="+mn-lt"/>
              </a:rPr>
              <a:t>=6×10</a:t>
            </a:r>
            <a:r>
              <a:rPr lang="en-US" altLang="zh-CN" sz="1800" baseline="30000" dirty="0" smtClean="0">
                <a:latin typeface="+mn-lt"/>
              </a:rPr>
              <a:t>6</a:t>
            </a:r>
            <a:r>
              <a:rPr lang="zh-CN" altLang="en-US" sz="1800" dirty="0">
                <a:latin typeface="Times New Roman" panose="02020603050405020304" pitchFamily="18" charset="0"/>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ω</a:t>
            </a:r>
            <a:r>
              <a:rPr lang="en-US" altLang="zh-CN" sz="1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=2</a:t>
            </a:r>
            <a:r>
              <a:rPr lang="el-GR" altLang="zh-CN" sz="1800" dirty="0">
                <a:latin typeface="Times New Roman" panose="02020603050405020304" pitchFamily="18" charset="0"/>
                <a:cs typeface="Times New Roman" panose="02020603050405020304" pitchFamily="18" charset="0"/>
                <a:sym typeface="Symbol" panose="05050102010706020507" pitchFamily="18" charset="2"/>
              </a:rPr>
              <a:t>π</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×6000</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ζ</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=0.7</a:t>
            </a:r>
            <a:endParaRPr lang="en-US" altLang="zh-CN" sz="1800" dirty="0"/>
          </a:p>
          <a:p>
            <a:pPr lvl="1">
              <a:lnSpc>
                <a:spcPct val="140000"/>
              </a:lnSpc>
            </a:pPr>
            <a:r>
              <a:rPr lang="zh-CN" altLang="en-US" sz="1800" dirty="0" smtClean="0"/>
              <a:t>环路滤波器：</a:t>
            </a:r>
            <a:r>
              <a:rPr lang="en-US" altLang="zh-CN" sz="1800" i="1" dirty="0" smtClean="0">
                <a:latin typeface="+mn-lt"/>
              </a:rPr>
              <a:t>R</a:t>
            </a:r>
            <a:r>
              <a:rPr lang="en-US" altLang="zh-CN" sz="1800" baseline="-25000" dirty="0" smtClean="0">
                <a:latin typeface="+mn-lt"/>
              </a:rPr>
              <a:t>1</a:t>
            </a:r>
            <a:r>
              <a:rPr lang="en-US" altLang="zh-CN" sz="1800" dirty="0" smtClean="0">
                <a:latin typeface="+mn-lt"/>
              </a:rPr>
              <a:t>=1300</a:t>
            </a:r>
            <a:r>
              <a:rPr lang="zh-CN" altLang="en-US" sz="1800" dirty="0" smtClean="0"/>
              <a:t>（芯片内部元件），</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2</a:t>
            </a:r>
            <a:r>
              <a:rPr lang="en-US" altLang="zh-CN" sz="1800" dirty="0" smtClean="0">
                <a:latin typeface="Times New Roman" panose="02020603050405020304" pitchFamily="18" charset="0"/>
              </a:rPr>
              <a:t>=24</a:t>
            </a:r>
            <a:r>
              <a:rPr lang="en-US" altLang="zh-CN" sz="1800" dirty="0">
                <a:latin typeface="Times New Roman" panose="02020603050405020304" pitchFamily="18" charset="0"/>
                <a:sym typeface="Symbol" panose="05050102010706020507" pitchFamily="18" charset="2"/>
              </a:rPr>
              <a:t></a:t>
            </a:r>
            <a:r>
              <a:rPr lang="zh-CN" altLang="en-US" sz="1800" dirty="0" smtClean="0"/>
              <a:t>，</a:t>
            </a:r>
            <a:r>
              <a:rPr lang="en-US" altLang="zh-CN" sz="1800" i="1" dirty="0" smtClean="0">
                <a:latin typeface="Times New Roman" panose="02020603050405020304" pitchFamily="18" charset="0"/>
              </a:rPr>
              <a:t>C</a:t>
            </a:r>
            <a:r>
              <a:rPr lang="en-US" altLang="zh-CN" sz="1800" dirty="0" smtClean="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smtClean="0">
                <a:latin typeface="Times New Roman" panose="02020603050405020304" pitchFamily="18" charset="0"/>
              </a:rPr>
              <a:t>F</a:t>
            </a:r>
          </a:p>
          <a:p>
            <a:pPr marL="342900" indent="-342900">
              <a:lnSpc>
                <a:spcPct val="140000"/>
              </a:lnSpc>
              <a:buFont typeface="Arial" panose="020B0604020202020204" pitchFamily="34" charset="0"/>
              <a:buChar char="•"/>
            </a:pPr>
            <a:r>
              <a:rPr lang="zh-CN" altLang="en-US" sz="1800" dirty="0" smtClean="0"/>
              <a:t>输入</a:t>
            </a:r>
            <a:r>
              <a:rPr lang="zh-CN" altLang="zh-CN" sz="1800" dirty="0" smtClean="0"/>
              <a:t>信号</a:t>
            </a:r>
            <a:r>
              <a:rPr lang="zh-CN" altLang="en-US" sz="1800" dirty="0" smtClean="0"/>
              <a:t>：</a:t>
            </a:r>
            <a:r>
              <a:rPr lang="en-US" altLang="zh-CN" sz="1800" dirty="0" smtClean="0">
                <a:latin typeface="+mn-lt"/>
              </a:rPr>
              <a:t>FM</a:t>
            </a:r>
            <a:r>
              <a:rPr lang="zh-CN" altLang="zh-CN" sz="1800" dirty="0" smtClean="0"/>
              <a:t>信号</a:t>
            </a:r>
            <a:r>
              <a:rPr lang="zh-CN" altLang="en-US" sz="1800" dirty="0"/>
              <a:t>，</a:t>
            </a:r>
            <a:r>
              <a:rPr lang="zh-CN" altLang="zh-CN" sz="1800" dirty="0" smtClean="0"/>
              <a:t>载频</a:t>
            </a:r>
            <a:r>
              <a:rPr lang="en-US" altLang="zh-CN" sz="1800" dirty="0" smtClean="0"/>
              <a:t> </a:t>
            </a:r>
            <a:r>
              <a:rPr lang="en-US" altLang="zh-CN" sz="1800" i="1" dirty="0" smtClean="0">
                <a:latin typeface="+mn-lt"/>
              </a:rPr>
              <a:t>f</a:t>
            </a:r>
            <a:r>
              <a:rPr lang="en-US" altLang="zh-CN" sz="1800" baseline="-25000" dirty="0" smtClean="0">
                <a:latin typeface="+mn-lt"/>
              </a:rPr>
              <a:t>0</a:t>
            </a:r>
            <a:r>
              <a:rPr lang="en-US" altLang="zh-CN" sz="1800" dirty="0" smtClean="0">
                <a:latin typeface="+mn-lt"/>
              </a:rPr>
              <a:t>=1MHz</a:t>
            </a:r>
            <a:r>
              <a:rPr lang="zh-CN" altLang="zh-CN" sz="1800" dirty="0"/>
              <a:t>，</a:t>
            </a:r>
            <a:r>
              <a:rPr lang="zh-CN" altLang="zh-CN" sz="1800" dirty="0" smtClean="0"/>
              <a:t>调制频率</a:t>
            </a:r>
            <a:r>
              <a:rPr lang="en-US" altLang="zh-CN" sz="1800" i="1" dirty="0" smtClean="0">
                <a:latin typeface="+mn-lt"/>
              </a:rPr>
              <a:t>F</a:t>
            </a:r>
            <a:r>
              <a:rPr lang="en-US" altLang="zh-CN" sz="1800" dirty="0" smtClean="0">
                <a:latin typeface="+mn-lt"/>
              </a:rPr>
              <a:t> </a:t>
            </a:r>
            <a:r>
              <a:rPr lang="en-US" altLang="zh-CN" sz="1800" dirty="0">
                <a:latin typeface="+mn-lt"/>
              </a:rPr>
              <a:t>=(</a:t>
            </a:r>
            <a:r>
              <a:rPr lang="en-US" altLang="zh-CN" sz="1800" dirty="0" smtClean="0">
                <a:latin typeface="+mn-lt"/>
              </a:rPr>
              <a:t>10~50)kHz</a:t>
            </a:r>
            <a:r>
              <a:rPr lang="zh-CN" altLang="en-US" sz="1800" dirty="0" smtClean="0">
                <a:latin typeface="+mn-lt"/>
              </a:rPr>
              <a:t>可变</a:t>
            </a:r>
            <a:r>
              <a:rPr lang="zh-CN" altLang="zh-CN" sz="1800" dirty="0" smtClean="0"/>
              <a:t>，</a:t>
            </a:r>
            <a:r>
              <a:rPr lang="zh-CN" altLang="zh-CN" sz="1800" dirty="0"/>
              <a:t>最大</a:t>
            </a:r>
            <a:r>
              <a:rPr lang="zh-CN" altLang="zh-CN" sz="1800" dirty="0" smtClean="0"/>
              <a:t>频偏</a:t>
            </a:r>
            <a:r>
              <a:rPr lang="en-US" altLang="zh-CN" sz="1800" dirty="0" err="1" smtClean="0">
                <a:latin typeface="+mn-lt"/>
              </a:rPr>
              <a:t>Δ</a:t>
            </a:r>
            <a:r>
              <a:rPr lang="en-US" altLang="zh-CN" sz="1800" i="1" dirty="0" err="1" smtClean="0">
                <a:latin typeface="+mn-lt"/>
              </a:rPr>
              <a:t>f</a:t>
            </a:r>
            <a:r>
              <a:rPr lang="en-US" altLang="zh-CN" sz="1800" i="1" baseline="-25000" dirty="0" err="1" smtClean="0">
                <a:latin typeface="+mn-lt"/>
              </a:rPr>
              <a:t>m</a:t>
            </a:r>
            <a:r>
              <a:rPr lang="en-US" altLang="zh-CN" sz="1800" dirty="0" smtClean="0">
                <a:latin typeface="+mn-lt"/>
              </a:rPr>
              <a:t> </a:t>
            </a:r>
            <a:r>
              <a:rPr lang="en-US" altLang="zh-CN" sz="1800" dirty="0">
                <a:latin typeface="+mn-lt"/>
              </a:rPr>
              <a:t>= (</a:t>
            </a:r>
            <a:r>
              <a:rPr lang="en-US" altLang="zh-CN" sz="1800" dirty="0" smtClean="0">
                <a:latin typeface="+mn-lt"/>
              </a:rPr>
              <a:t>1~200)kHz</a:t>
            </a:r>
            <a:r>
              <a:rPr lang="zh-CN" altLang="en-US" sz="1800" dirty="0" smtClean="0">
                <a:latin typeface="+mn-lt"/>
              </a:rPr>
              <a:t>可变</a:t>
            </a:r>
            <a:r>
              <a:rPr lang="zh-CN" altLang="en-US" sz="1800" dirty="0" smtClean="0"/>
              <a:t>，</a:t>
            </a:r>
            <a:r>
              <a:rPr lang="zh-CN" altLang="zh-CN" sz="1800" dirty="0" smtClean="0"/>
              <a:t>实际</a:t>
            </a:r>
            <a:r>
              <a:rPr lang="zh-CN" altLang="zh-CN" sz="1800" dirty="0"/>
              <a:t>加到锁相环的电压是</a:t>
            </a:r>
            <a:r>
              <a:rPr lang="en-US" altLang="zh-CN" sz="1800" dirty="0" smtClean="0">
                <a:latin typeface="+mn-lt"/>
              </a:rPr>
              <a:t>500mV</a:t>
            </a:r>
            <a:r>
              <a:rPr lang="en-US" altLang="zh-CN" sz="1800" baseline="-25000" dirty="0" smtClean="0">
                <a:latin typeface="+mn-lt"/>
              </a:rPr>
              <a:t>P-P</a:t>
            </a:r>
          </a:p>
          <a:p>
            <a:pPr marL="342900" indent="-342900">
              <a:lnSpc>
                <a:spcPct val="140000"/>
              </a:lnSpc>
              <a:spcBef>
                <a:spcPts val="600"/>
              </a:spcBef>
              <a:buFont typeface="Wingdings" panose="05000000000000000000" pitchFamily="2" charset="2"/>
              <a:buChar char="Ø"/>
            </a:pPr>
            <a:endParaRPr lang="en-US" altLang="zh-CN" sz="1800" dirty="0" smtClean="0"/>
          </a:p>
          <a:p>
            <a:pPr marL="342900" indent="-342900">
              <a:lnSpc>
                <a:spcPct val="140000"/>
              </a:lnSpc>
              <a:spcBef>
                <a:spcPts val="600"/>
              </a:spcBef>
              <a:buFont typeface="Wingdings" panose="05000000000000000000" pitchFamily="2" charset="2"/>
              <a:buChar char="Ø"/>
            </a:pPr>
            <a:r>
              <a:rPr lang="zh-CN" altLang="en-US" sz="1800" dirty="0" smtClean="0"/>
              <a:t>实验结果及其解释与分析：</a:t>
            </a:r>
            <a:endParaRPr lang="en-US" altLang="zh-CN" sz="1800" dirty="0"/>
          </a:p>
          <a:p>
            <a:pPr marL="342900" indent="-342900">
              <a:lnSpc>
                <a:spcPct val="140000"/>
              </a:lnSpc>
              <a:buFont typeface="+mj-lt"/>
              <a:buAutoNum type="arabicPeriod"/>
            </a:pPr>
            <a:r>
              <a:rPr lang="zh-CN" altLang="en-US" sz="1800" dirty="0"/>
              <a:t>固定调制频率为</a:t>
            </a:r>
            <a:r>
              <a:rPr lang="en-US" altLang="zh-CN" sz="1800" dirty="0"/>
              <a:t>50kHz</a:t>
            </a:r>
            <a:r>
              <a:rPr lang="zh-CN" altLang="en-US" sz="1800" dirty="0"/>
              <a:t>（远大于锁相环的自然频率</a:t>
            </a:r>
            <a:r>
              <a:rPr lang="en-US" altLang="zh-CN" sz="1800" dirty="0"/>
              <a:t>6kHz</a:t>
            </a:r>
            <a:r>
              <a:rPr lang="zh-CN" altLang="en-US" sz="1800" dirty="0"/>
              <a:t>），改变输入信号调制度（</a:t>
            </a:r>
            <a:r>
              <a:rPr lang="en-US" altLang="zh-CN" sz="1800" dirty="0"/>
              <a:t>0.02~2</a:t>
            </a:r>
            <a:r>
              <a:rPr lang="zh-CN" altLang="en-US" sz="1800" dirty="0"/>
              <a:t>），</a:t>
            </a:r>
            <a:r>
              <a:rPr lang="zh-CN" altLang="zh-CN" sz="1800" dirty="0"/>
              <a:t>输出信号的</a:t>
            </a:r>
            <a:r>
              <a:rPr lang="zh-CN" altLang="en-US" sz="1800" dirty="0"/>
              <a:t>相位</a:t>
            </a:r>
            <a:r>
              <a:rPr lang="zh-CN" altLang="zh-CN" sz="1800" dirty="0"/>
              <a:t>抖动随着</a:t>
            </a:r>
            <a:r>
              <a:rPr lang="zh-CN" altLang="en-US" sz="1800" dirty="0"/>
              <a:t>输入信号</a:t>
            </a:r>
            <a:r>
              <a:rPr lang="zh-CN" altLang="zh-CN" sz="1800" dirty="0"/>
              <a:t>调制度的增加而</a:t>
            </a:r>
            <a:r>
              <a:rPr lang="zh-CN" altLang="zh-CN" sz="1800" dirty="0" smtClean="0"/>
              <a:t>增加</a:t>
            </a:r>
            <a:endParaRPr lang="en-US" altLang="zh-CN" sz="1800" dirty="0" smtClean="0"/>
          </a:p>
          <a:p>
            <a:pPr indent="-457200">
              <a:lnSpc>
                <a:spcPct val="140000"/>
              </a:lnSpc>
            </a:pPr>
            <a:r>
              <a:rPr lang="zh-CN" altLang="en-US" sz="1800" dirty="0" smtClean="0"/>
              <a:t>解释：</a:t>
            </a:r>
            <a:r>
              <a:rPr lang="en-US" altLang="zh-CN" sz="1800" dirty="0" smtClean="0"/>
              <a:t>FM</a:t>
            </a:r>
            <a:r>
              <a:rPr lang="zh-CN" altLang="en-US" sz="1800" dirty="0"/>
              <a:t>的</a:t>
            </a:r>
            <a:r>
              <a:rPr lang="zh-CN" altLang="en-US" sz="1800" dirty="0" smtClean="0"/>
              <a:t>边频能量</a:t>
            </a:r>
            <a:r>
              <a:rPr lang="zh-CN" altLang="en-US" sz="1800" dirty="0"/>
              <a:t>随调制度增加而增加，增加边频能量相当于降低输入信号的</a:t>
            </a:r>
            <a:r>
              <a:rPr lang="zh-CN" altLang="en-US" sz="1800" dirty="0" smtClean="0"/>
              <a:t>信噪比，导致锁相环输出抖动增加</a:t>
            </a:r>
            <a:endParaRPr lang="en-US" altLang="zh-CN" sz="1800" dirty="0" smtClean="0"/>
          </a:p>
        </p:txBody>
      </p:sp>
    </p:spTree>
    <p:extLst>
      <p:ext uri="{BB962C8B-B14F-4D97-AF65-F5344CB8AC3E}">
        <p14:creationId xmlns:p14="http://schemas.microsoft.com/office/powerpoint/2010/main" val="289753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6" name="文本框 5"/>
          <p:cNvSpPr txBox="1"/>
          <p:nvPr/>
        </p:nvSpPr>
        <p:spPr>
          <a:xfrm>
            <a:off x="368391" y="631464"/>
            <a:ext cx="8497797" cy="5493812"/>
          </a:xfrm>
          <a:prstGeom prst="rect">
            <a:avLst/>
          </a:prstGeom>
          <a:noFill/>
        </p:spPr>
        <p:txBody>
          <a:bodyPr wrap="square" rtlCol="0">
            <a:spAutoFit/>
          </a:bodyPr>
          <a:lstStyle/>
          <a:p>
            <a:pPr marL="342900" indent="-342900">
              <a:lnSpc>
                <a:spcPct val="130000"/>
              </a:lnSpc>
              <a:buFont typeface="+mj-lt"/>
              <a:buAutoNum type="arabicPeriod" startAt="2"/>
            </a:pPr>
            <a:r>
              <a:rPr lang="zh-CN" altLang="en-US" sz="1800" dirty="0" smtClean="0"/>
              <a:t>固定输入信号调制度，改变调制频率（</a:t>
            </a:r>
            <a:r>
              <a:rPr lang="en-US" altLang="zh-CN" sz="1800" dirty="0" smtClean="0"/>
              <a:t>10~50kHz</a:t>
            </a:r>
            <a:r>
              <a:rPr lang="zh-CN" altLang="en-US" sz="1800" dirty="0" smtClean="0"/>
              <a:t>），</a:t>
            </a:r>
            <a:r>
              <a:rPr lang="zh-CN" altLang="en-US" sz="1800" dirty="0"/>
              <a:t>输出信号的相位抖动几乎</a:t>
            </a:r>
            <a:r>
              <a:rPr lang="zh-CN" altLang="en-US" sz="1800" dirty="0" smtClean="0"/>
              <a:t>不变</a:t>
            </a:r>
            <a:endParaRPr lang="en-US" altLang="zh-CN" sz="1800" dirty="0" smtClean="0"/>
          </a:p>
          <a:p>
            <a:pPr marL="342900" indent="-342900">
              <a:lnSpc>
                <a:spcPct val="130000"/>
              </a:lnSpc>
              <a:buFont typeface="+mj-lt"/>
              <a:buAutoNum type="arabicPeriod" startAt="2"/>
            </a:pPr>
            <a:r>
              <a:rPr lang="zh-CN" altLang="en-US" sz="1800" dirty="0" smtClean="0"/>
              <a:t>修改环路</a:t>
            </a:r>
            <a:r>
              <a:rPr lang="zh-CN" altLang="en-US" sz="1800" dirty="0"/>
              <a:t>滤波器</a:t>
            </a:r>
            <a:r>
              <a:rPr lang="zh-CN" altLang="en-US" sz="1800" dirty="0" smtClean="0"/>
              <a:t>，增加</a:t>
            </a:r>
            <a:r>
              <a:rPr lang="zh-CN" altLang="en-US" sz="1800" dirty="0"/>
              <a:t>一个极点（约</a:t>
            </a:r>
            <a:r>
              <a:rPr lang="en-US" altLang="zh-CN" sz="1800" dirty="0"/>
              <a:t>25kHz</a:t>
            </a:r>
            <a:r>
              <a:rPr lang="zh-CN" altLang="en-US" sz="1800" dirty="0" smtClean="0"/>
              <a:t>），成为三阶锁相环。固定</a:t>
            </a:r>
            <a:r>
              <a:rPr lang="zh-CN" altLang="en-US" sz="1800" dirty="0"/>
              <a:t>输入信号调制度，改变调制频率（</a:t>
            </a:r>
            <a:r>
              <a:rPr lang="en-US" altLang="zh-CN" sz="1800" dirty="0"/>
              <a:t>10~50kHz</a:t>
            </a:r>
            <a:r>
              <a:rPr lang="zh-CN" altLang="en-US" sz="1800" dirty="0" smtClean="0"/>
              <a:t>），</a:t>
            </a:r>
            <a:r>
              <a:rPr lang="zh-CN" altLang="zh-CN" sz="1800" dirty="0" smtClean="0"/>
              <a:t>输出</a:t>
            </a:r>
            <a:r>
              <a:rPr lang="zh-CN" altLang="en-US" sz="1800" dirty="0" smtClean="0"/>
              <a:t>信号</a:t>
            </a:r>
            <a:r>
              <a:rPr lang="zh-CN" altLang="zh-CN" sz="1800" dirty="0" smtClean="0"/>
              <a:t>相位抖动随着</a:t>
            </a:r>
            <a:r>
              <a:rPr lang="zh-CN" altLang="zh-CN" sz="1800" dirty="0"/>
              <a:t>调制频率的</a:t>
            </a:r>
            <a:r>
              <a:rPr lang="zh-CN" altLang="zh-CN" sz="1800" dirty="0" smtClean="0"/>
              <a:t>升高有</a:t>
            </a:r>
            <a:r>
              <a:rPr lang="zh-CN" altLang="zh-CN" sz="1800" dirty="0"/>
              <a:t>明显的</a:t>
            </a:r>
            <a:r>
              <a:rPr lang="zh-CN" altLang="zh-CN" sz="1800" dirty="0" smtClean="0"/>
              <a:t>下降</a:t>
            </a:r>
            <a:endParaRPr lang="en-US" altLang="zh-CN" sz="1800" dirty="0" smtClean="0"/>
          </a:p>
          <a:p>
            <a:pPr lvl="1">
              <a:lnSpc>
                <a:spcPct val="130000"/>
              </a:lnSpc>
            </a:pPr>
            <a:r>
              <a:rPr lang="zh-CN" altLang="en-US" sz="1800" dirty="0" smtClean="0"/>
              <a:t>上述两条实验结果均与环路滤波器有关</a:t>
            </a:r>
            <a:endParaRPr lang="en-US" altLang="zh-CN" sz="1800" dirty="0" smtClean="0"/>
          </a:p>
          <a:p>
            <a:pPr lvl="1">
              <a:lnSpc>
                <a:spcPct val="130000"/>
              </a:lnSpc>
            </a:pPr>
            <a:r>
              <a:rPr lang="zh-CN" altLang="en-US" sz="1800" dirty="0" smtClean="0"/>
              <a:t>第</a:t>
            </a:r>
            <a:r>
              <a:rPr lang="en-US" altLang="zh-CN" sz="1800" dirty="0" smtClean="0"/>
              <a:t>2</a:t>
            </a:r>
            <a:r>
              <a:rPr lang="zh-CN" altLang="en-US" sz="1800" dirty="0" smtClean="0"/>
              <a:t>条实验中的环路滤波器为超前滞后型，其频率特性如下</a:t>
            </a:r>
            <a:endParaRPr lang="en-US" altLang="zh-CN" sz="1800" dirty="0" smtClean="0"/>
          </a:p>
          <a:p>
            <a:pPr lvl="1">
              <a:lnSpc>
                <a:spcPct val="130000"/>
              </a:lnSpc>
            </a:pPr>
            <a:endParaRPr lang="en-US" altLang="zh-CN" sz="1800" dirty="0"/>
          </a:p>
          <a:p>
            <a:pPr lvl="1">
              <a:lnSpc>
                <a:spcPct val="130000"/>
              </a:lnSpc>
            </a:pPr>
            <a:endParaRPr lang="en-US" altLang="zh-CN" sz="1800" dirty="0" smtClean="0"/>
          </a:p>
          <a:p>
            <a:pPr lvl="1">
              <a:lnSpc>
                <a:spcPct val="130000"/>
              </a:lnSpc>
            </a:pPr>
            <a:endParaRPr lang="en-US" altLang="zh-CN" sz="1800" dirty="0"/>
          </a:p>
          <a:p>
            <a:pPr lvl="1">
              <a:lnSpc>
                <a:spcPct val="130000"/>
              </a:lnSpc>
            </a:pPr>
            <a:endParaRPr lang="en-US" altLang="zh-CN" sz="1800" dirty="0" smtClean="0"/>
          </a:p>
          <a:p>
            <a:pPr lvl="1">
              <a:lnSpc>
                <a:spcPct val="130000"/>
              </a:lnSpc>
            </a:pPr>
            <a:endParaRPr lang="en-US" altLang="zh-CN" sz="1800" dirty="0" smtClean="0"/>
          </a:p>
          <a:p>
            <a:pPr indent="457200">
              <a:lnSpc>
                <a:spcPct val="130000"/>
              </a:lnSpc>
            </a:pPr>
            <a:r>
              <a:rPr lang="zh-CN" altLang="en-US" sz="1800" dirty="0" smtClean="0"/>
              <a:t>鉴相器输出的噪声需要环路滤波器滤除，但超前滞后型环路滤波器</a:t>
            </a:r>
            <a:r>
              <a:rPr lang="zh-CN" altLang="zh-CN" sz="1800" dirty="0" smtClean="0"/>
              <a:t>对于</a:t>
            </a:r>
            <a:r>
              <a:rPr lang="zh-CN" altLang="zh-CN" sz="1800" dirty="0"/>
              <a:t>频率高于其零点</a:t>
            </a:r>
            <a:r>
              <a:rPr lang="zh-CN" altLang="zh-CN" sz="1800" dirty="0" smtClean="0"/>
              <a:t>频率</a:t>
            </a:r>
            <a:r>
              <a:rPr lang="en-US" altLang="zh-CN" sz="1800" dirty="0" smtClean="0"/>
              <a:t> </a:t>
            </a:r>
            <a:r>
              <a:rPr lang="el-GR" altLang="zh-CN" sz="1800" i="1" dirty="0" smtClean="0">
                <a:latin typeface="+mn-lt"/>
              </a:rPr>
              <a:t>ω</a:t>
            </a:r>
            <a:r>
              <a:rPr lang="en-US" altLang="zh-CN" sz="1800" baseline="-25000" dirty="0" smtClean="0"/>
              <a:t>2 </a:t>
            </a:r>
            <a:r>
              <a:rPr lang="zh-CN" altLang="zh-CN" sz="1800" dirty="0" smtClean="0"/>
              <a:t>的</a:t>
            </a:r>
            <a:r>
              <a:rPr lang="zh-CN" altLang="zh-CN" sz="1800" dirty="0"/>
              <a:t>衰减几乎是一个定值</a:t>
            </a:r>
            <a:r>
              <a:rPr lang="zh-CN" altLang="en-US" sz="1800" dirty="0" smtClean="0"/>
              <a:t>，上述实验中的调制频率</a:t>
            </a:r>
            <a:r>
              <a:rPr lang="zh-CN" altLang="en-US" sz="1800" dirty="0"/>
              <a:t>均高于本实验</a:t>
            </a:r>
            <a:r>
              <a:rPr lang="zh-CN" altLang="en-US" sz="1800" dirty="0" smtClean="0"/>
              <a:t>中的</a:t>
            </a:r>
            <a:r>
              <a:rPr lang="zh-CN" altLang="en-US" sz="1800" dirty="0"/>
              <a:t>零点频率（</a:t>
            </a:r>
            <a:r>
              <a:rPr lang="en-US" altLang="zh-CN" sz="1800" dirty="0"/>
              <a:t>4.4kHz</a:t>
            </a:r>
            <a:r>
              <a:rPr lang="zh-CN" altLang="en-US" sz="1800" dirty="0" smtClean="0"/>
              <a:t>），所以改变调制频率时输出抖动不变</a:t>
            </a:r>
            <a:endParaRPr lang="en-US" altLang="zh-CN" sz="1800" dirty="0" smtClean="0"/>
          </a:p>
        </p:txBody>
      </p:sp>
      <p:pic>
        <p:nvPicPr>
          <p:cNvPr id="7" name="图片 6"/>
          <p:cNvPicPr>
            <a:picLocks noChangeAspect="1"/>
          </p:cNvPicPr>
          <p:nvPr/>
        </p:nvPicPr>
        <p:blipFill>
          <a:blip r:embed="rId3"/>
          <a:stretch>
            <a:fillRect/>
          </a:stretch>
        </p:blipFill>
        <p:spPr>
          <a:xfrm>
            <a:off x="1620632" y="3410755"/>
            <a:ext cx="2277873" cy="1259886"/>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1386200783"/>
              </p:ext>
            </p:extLst>
          </p:nvPr>
        </p:nvGraphicFramePr>
        <p:xfrm>
          <a:off x="4527218" y="3310153"/>
          <a:ext cx="3078162" cy="1360488"/>
        </p:xfrm>
        <a:graphic>
          <a:graphicData uri="http://schemas.openxmlformats.org/presentationml/2006/ole">
            <mc:AlternateContent xmlns:mc="http://schemas.openxmlformats.org/markup-compatibility/2006">
              <mc:Choice xmlns:v="urn:schemas-microsoft-com:vml" Requires="v">
                <p:oleObj spid="_x0000_s45098" name="Equation" r:id="rId4" imgW="1904760" imgH="812520" progId="Equation.DSMT4">
                  <p:embed/>
                </p:oleObj>
              </mc:Choice>
              <mc:Fallback>
                <p:oleObj name="Equation" r:id="rId4" imgW="1904760" imgH="812520" progId="Equation.DSMT4">
                  <p:embed/>
                  <p:pic>
                    <p:nvPicPr>
                      <p:cNvPr id="8" name="对象 7"/>
                      <p:cNvPicPr>
                        <a:picLocks noChangeAspect="1" noChangeArrowheads="1"/>
                      </p:cNvPicPr>
                      <p:nvPr/>
                    </p:nvPicPr>
                    <p:blipFill>
                      <a:blip r:embed="rId5"/>
                      <a:srcRect/>
                      <a:stretch>
                        <a:fillRect/>
                      </a:stretch>
                    </p:blipFill>
                    <p:spPr bwMode="auto">
                      <a:xfrm>
                        <a:off x="4527218" y="3310153"/>
                        <a:ext cx="3078162" cy="1360488"/>
                      </a:xfrm>
                      <a:prstGeom prst="rect">
                        <a:avLst/>
                      </a:prstGeom>
                      <a:noFill/>
                    </p:spPr>
                  </p:pic>
                </p:oleObj>
              </mc:Fallback>
            </mc:AlternateContent>
          </a:graphicData>
        </a:graphic>
      </p:graphicFrame>
    </p:spTree>
    <p:extLst>
      <p:ext uri="{BB962C8B-B14F-4D97-AF65-F5344CB8AC3E}">
        <p14:creationId xmlns:p14="http://schemas.microsoft.com/office/powerpoint/2010/main" val="312342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6" name="文本框 5"/>
          <p:cNvSpPr txBox="1"/>
          <p:nvPr/>
        </p:nvSpPr>
        <p:spPr>
          <a:xfrm>
            <a:off x="309186" y="555178"/>
            <a:ext cx="8497797" cy="5383782"/>
          </a:xfrm>
          <a:prstGeom prst="rect">
            <a:avLst/>
          </a:prstGeom>
          <a:noFill/>
        </p:spPr>
        <p:txBody>
          <a:bodyPr wrap="square" rtlCol="0">
            <a:spAutoFit/>
          </a:bodyPr>
          <a:lstStyle/>
          <a:p>
            <a:pPr indent="457200">
              <a:lnSpc>
                <a:spcPct val="130000"/>
              </a:lnSpc>
            </a:pPr>
            <a:r>
              <a:rPr lang="zh-CN" altLang="en-US" sz="1800" dirty="0" smtClean="0"/>
              <a:t>第</a:t>
            </a:r>
            <a:r>
              <a:rPr lang="en-US" altLang="zh-CN" sz="1800" dirty="0" smtClean="0"/>
              <a:t>3</a:t>
            </a:r>
            <a:r>
              <a:rPr lang="zh-CN" altLang="en-US" sz="1800" dirty="0" smtClean="0"/>
              <a:t>条实验在环路滤波器中增加</a:t>
            </a:r>
            <a:r>
              <a:rPr lang="zh-CN" altLang="en-US" sz="1800" dirty="0"/>
              <a:t>一个极点</a:t>
            </a:r>
            <a:r>
              <a:rPr lang="zh-CN" altLang="en-US" sz="1800" dirty="0" smtClean="0"/>
              <a:t>（</a:t>
            </a:r>
            <a:r>
              <a:rPr lang="en-US" altLang="zh-CN" sz="1800" dirty="0" smtClean="0">
                <a:latin typeface="+mn-lt"/>
              </a:rPr>
              <a:t>C2=330nF</a:t>
            </a:r>
            <a:r>
              <a:rPr lang="zh-CN" altLang="en-US" sz="1800" dirty="0" smtClean="0"/>
              <a:t>），电路与频率特性如下</a:t>
            </a:r>
            <a:endParaRPr lang="en-US" altLang="zh-CN" sz="1800" dirty="0" smtClean="0"/>
          </a:p>
          <a:p>
            <a:pPr marL="0" lvl="1" indent="457200">
              <a:lnSpc>
                <a:spcPct val="130000"/>
              </a:lnSpc>
            </a:pPr>
            <a:endParaRPr lang="en-US" altLang="zh-CN" sz="1800" dirty="0"/>
          </a:p>
          <a:p>
            <a:pPr marL="0" lvl="1" indent="457200">
              <a:lnSpc>
                <a:spcPct val="130000"/>
              </a:lnSpc>
            </a:pPr>
            <a:endParaRPr lang="en-US" altLang="zh-CN" sz="1800" dirty="0" smtClean="0"/>
          </a:p>
          <a:p>
            <a:pPr marL="0" lvl="1" indent="457200">
              <a:lnSpc>
                <a:spcPct val="130000"/>
              </a:lnSpc>
            </a:pPr>
            <a:endParaRPr lang="en-US" altLang="zh-CN" sz="1800" dirty="0"/>
          </a:p>
          <a:p>
            <a:pPr marL="0" lvl="1" indent="457200">
              <a:lnSpc>
                <a:spcPct val="130000"/>
              </a:lnSpc>
            </a:pPr>
            <a:endParaRPr lang="en-US" altLang="zh-CN" sz="1400" dirty="0" smtClean="0"/>
          </a:p>
          <a:p>
            <a:pPr marL="0" lvl="1" indent="457200">
              <a:lnSpc>
                <a:spcPct val="130000"/>
              </a:lnSpc>
            </a:pPr>
            <a:endParaRPr lang="en-US" altLang="zh-CN" sz="1800" dirty="0" smtClean="0"/>
          </a:p>
          <a:p>
            <a:pPr marL="0" lvl="1" indent="457200">
              <a:lnSpc>
                <a:spcPct val="130000"/>
              </a:lnSpc>
            </a:pPr>
            <a:r>
              <a:rPr lang="zh-CN" altLang="en-US" sz="1800" dirty="0" smtClean="0"/>
              <a:t>其中</a:t>
            </a:r>
            <a:endParaRPr lang="en-US" altLang="zh-CN" sz="1800" dirty="0" smtClean="0"/>
          </a:p>
          <a:p>
            <a:pPr marL="0" lvl="1" indent="457200">
              <a:lnSpc>
                <a:spcPct val="130000"/>
              </a:lnSpc>
            </a:pPr>
            <a:endParaRPr lang="en-US" altLang="zh-CN" sz="1800" dirty="0" smtClean="0"/>
          </a:p>
          <a:p>
            <a:pPr marL="0" lvl="1" indent="457200">
              <a:lnSpc>
                <a:spcPct val="130000"/>
              </a:lnSpc>
            </a:pPr>
            <a:r>
              <a:rPr lang="zh-CN" altLang="en-US" sz="1800" dirty="0" smtClean="0"/>
              <a:t>将</a:t>
            </a:r>
            <a:r>
              <a:rPr lang="en-US" altLang="zh-CN" sz="1800" i="1" dirty="0" smtClean="0">
                <a:latin typeface="+mn-lt"/>
              </a:rPr>
              <a:t>R</a:t>
            </a:r>
            <a:r>
              <a:rPr lang="en-US" altLang="zh-CN" sz="1800" baseline="-25000" dirty="0" smtClean="0">
                <a:latin typeface="+mn-lt"/>
              </a:rPr>
              <a:t>1</a:t>
            </a:r>
            <a:r>
              <a:rPr lang="en-US" altLang="zh-CN" sz="1800" dirty="0" smtClean="0">
                <a:latin typeface="+mn-lt"/>
              </a:rPr>
              <a:t>=1300</a:t>
            </a:r>
            <a:r>
              <a:rPr lang="zh-CN" altLang="en-US" sz="1800" dirty="0" smtClean="0"/>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2</a:t>
            </a:r>
            <a:r>
              <a:rPr lang="en-US" altLang="zh-CN" sz="1800" dirty="0" smtClean="0">
                <a:latin typeface="Times New Roman" panose="02020603050405020304" pitchFamily="18" charset="0"/>
              </a:rPr>
              <a:t>=24</a:t>
            </a:r>
            <a:r>
              <a:rPr lang="en-US" altLang="zh-CN" sz="1800" dirty="0" smtClean="0">
                <a:latin typeface="Times New Roman" panose="02020603050405020304" pitchFamily="18" charset="0"/>
                <a:sym typeface="Symbol" panose="05050102010706020507" pitchFamily="18" charset="2"/>
              </a:rPr>
              <a:t></a:t>
            </a:r>
            <a:r>
              <a:rPr lang="zh-CN" altLang="en-US" sz="1800" dirty="0" smtClean="0"/>
              <a:t>、</a:t>
            </a:r>
            <a:r>
              <a:rPr lang="en-US" altLang="zh-CN" sz="1800" i="1" dirty="0" smtClean="0">
                <a:latin typeface="Times New Roman" panose="02020603050405020304" pitchFamily="18" charset="0"/>
              </a:rPr>
              <a:t>C</a:t>
            </a:r>
            <a:r>
              <a:rPr lang="en-US" altLang="zh-CN" sz="1800" baseline="-25000" dirty="0" smtClean="0">
                <a:latin typeface="Times New Roman" panose="02020603050405020304" pitchFamily="18" charset="0"/>
              </a:rPr>
              <a:t>1</a:t>
            </a:r>
            <a:r>
              <a:rPr lang="en-US" altLang="zh-CN" sz="1800" dirty="0" smtClean="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smtClean="0">
                <a:latin typeface="Times New Roman" panose="02020603050405020304" pitchFamily="18" charset="0"/>
              </a:rPr>
              <a:t>F</a:t>
            </a:r>
            <a:r>
              <a:rPr lang="zh-CN" altLang="en-US" sz="1800" dirty="0" smtClean="0">
                <a:latin typeface="Times New Roman" panose="02020603050405020304" pitchFamily="18" charset="0"/>
              </a:rPr>
              <a:t>、</a:t>
            </a:r>
            <a:r>
              <a:rPr lang="en-US" altLang="zh-CN" sz="1800" i="1" dirty="0" smtClean="0">
                <a:latin typeface="Times New Roman" panose="02020603050405020304" pitchFamily="18" charset="0"/>
              </a:rPr>
              <a:t>C</a:t>
            </a:r>
            <a:r>
              <a:rPr lang="en-US" altLang="zh-CN" sz="1800" baseline="-25000" dirty="0" smtClean="0">
                <a:latin typeface="Times New Roman" panose="02020603050405020304" pitchFamily="18" charset="0"/>
              </a:rPr>
              <a:t>2</a:t>
            </a:r>
            <a:r>
              <a:rPr lang="en-US" altLang="zh-CN" sz="1800" dirty="0" smtClean="0">
                <a:latin typeface="Times New Roman" panose="02020603050405020304" pitchFamily="18" charset="0"/>
              </a:rPr>
              <a:t>=330nF</a:t>
            </a:r>
            <a:r>
              <a:rPr lang="zh-CN" altLang="en-US" sz="1800" dirty="0" smtClean="0">
                <a:latin typeface="Times New Roman" panose="02020603050405020304" pitchFamily="18" charset="0"/>
              </a:rPr>
              <a:t>代入</a:t>
            </a:r>
            <a:r>
              <a:rPr lang="zh-CN" altLang="en-US" sz="1800" dirty="0" smtClean="0"/>
              <a:t>上述计算公式，得</a:t>
            </a:r>
            <a:endParaRPr lang="en-US" altLang="zh-CN" sz="1800" dirty="0" smtClean="0"/>
          </a:p>
          <a:p>
            <a:pPr marL="0" lvl="1" indent="457200">
              <a:lnSpc>
                <a:spcPct val="130000"/>
              </a:lnSpc>
            </a:pPr>
            <a:endParaRPr lang="en-US" altLang="zh-CN" sz="1200" dirty="0" smtClean="0"/>
          </a:p>
          <a:p>
            <a:pPr marL="0" lvl="1" indent="457200">
              <a:lnSpc>
                <a:spcPct val="130000"/>
              </a:lnSpc>
            </a:pPr>
            <a:endParaRPr lang="en-US" altLang="zh-CN" sz="1200" dirty="0"/>
          </a:p>
          <a:p>
            <a:pPr marL="0" lvl="1" indent="457200">
              <a:lnSpc>
                <a:spcPct val="130000"/>
              </a:lnSpc>
            </a:pPr>
            <a:endParaRPr lang="en-US" altLang="zh-CN" sz="1050" dirty="0" smtClean="0"/>
          </a:p>
          <a:p>
            <a:pPr marL="0" lvl="1" indent="457200">
              <a:lnSpc>
                <a:spcPct val="130000"/>
              </a:lnSpc>
            </a:pPr>
            <a:r>
              <a:rPr lang="zh-CN" altLang="en-US" sz="1800" dirty="0" smtClean="0"/>
              <a:t>成为</a:t>
            </a:r>
            <a:r>
              <a:rPr lang="zh-CN" altLang="en-US" sz="1800" dirty="0"/>
              <a:t>三阶</a:t>
            </a:r>
            <a:r>
              <a:rPr lang="zh-CN" altLang="en-US" sz="1800" dirty="0" smtClean="0"/>
              <a:t>锁相环后，鉴相器输出中高于</a:t>
            </a:r>
            <a:r>
              <a:rPr lang="el-GR" altLang="zh-CN" sz="1800" i="1" dirty="0" smtClean="0"/>
              <a:t>ω</a:t>
            </a:r>
            <a:r>
              <a:rPr lang="en-US" altLang="zh-CN" sz="1800" baseline="-25000" dirty="0" smtClean="0"/>
              <a:t>3</a:t>
            </a:r>
            <a:r>
              <a:rPr lang="zh-CN" altLang="en-US" sz="1800" dirty="0" smtClean="0"/>
              <a:t>的波动被进一步衰减，因此改变</a:t>
            </a:r>
            <a:r>
              <a:rPr lang="zh-CN" altLang="en-US" sz="1800" dirty="0"/>
              <a:t>调制频率（</a:t>
            </a:r>
            <a:r>
              <a:rPr lang="en-US" altLang="zh-CN" sz="1800" dirty="0"/>
              <a:t>10~50kHz</a:t>
            </a:r>
            <a:r>
              <a:rPr lang="zh-CN" altLang="en-US" sz="1800" dirty="0" smtClean="0"/>
              <a:t>）时，</a:t>
            </a:r>
            <a:r>
              <a:rPr lang="zh-CN" altLang="zh-CN" sz="1800" dirty="0"/>
              <a:t>输出</a:t>
            </a:r>
            <a:r>
              <a:rPr lang="zh-CN" altLang="en-US" sz="1800" dirty="0"/>
              <a:t>信号</a:t>
            </a:r>
            <a:r>
              <a:rPr lang="zh-CN" altLang="zh-CN" sz="1800" dirty="0"/>
              <a:t>相位抖动随着调制频率的升高有明显的</a:t>
            </a:r>
            <a:r>
              <a:rPr lang="zh-CN" altLang="zh-CN" sz="1800" dirty="0" smtClean="0"/>
              <a:t>下降</a:t>
            </a:r>
            <a:endParaRPr lang="en-US" altLang="zh-CN" sz="1800" dirty="0" smtClean="0"/>
          </a:p>
          <a:p>
            <a:pPr marL="0" lvl="1" indent="457200">
              <a:lnSpc>
                <a:spcPct val="130000"/>
              </a:lnSpc>
            </a:pPr>
            <a:r>
              <a:rPr lang="zh-CN" altLang="en-US" sz="1800" dirty="0"/>
              <a:t>这个例子说明三阶锁相环可以有效降低锁相环输出的</a:t>
            </a:r>
            <a:r>
              <a:rPr lang="zh-CN" altLang="en-US" sz="1800" dirty="0" smtClean="0"/>
              <a:t>相位抖动。这个结论不仅适用于同步电路，也适用于频率合成器电路</a:t>
            </a:r>
            <a:endParaRPr lang="en-US" altLang="zh-CN" sz="1800" dirty="0"/>
          </a:p>
        </p:txBody>
      </p:sp>
      <p:pic>
        <p:nvPicPr>
          <p:cNvPr id="5" name="图片 4"/>
          <p:cNvPicPr>
            <a:picLocks noChangeAspect="1"/>
          </p:cNvPicPr>
          <p:nvPr/>
        </p:nvPicPr>
        <p:blipFill>
          <a:blip r:embed="rId3"/>
          <a:stretch>
            <a:fillRect/>
          </a:stretch>
        </p:blipFill>
        <p:spPr>
          <a:xfrm>
            <a:off x="1475907" y="915541"/>
            <a:ext cx="2004151" cy="1563448"/>
          </a:xfrm>
          <a:prstGeom prst="rect">
            <a:avLst/>
          </a:prstGeom>
        </p:spPr>
      </p:pic>
      <p:pic>
        <p:nvPicPr>
          <p:cNvPr id="8" name="图片 7"/>
          <p:cNvPicPr>
            <a:picLocks noChangeAspect="1"/>
          </p:cNvPicPr>
          <p:nvPr/>
        </p:nvPicPr>
        <p:blipFill>
          <a:blip r:embed="rId4"/>
          <a:stretch>
            <a:fillRect/>
          </a:stretch>
        </p:blipFill>
        <p:spPr>
          <a:xfrm>
            <a:off x="3899417" y="1082877"/>
            <a:ext cx="3349565" cy="1341472"/>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1769724989"/>
              </p:ext>
            </p:extLst>
          </p:nvPr>
        </p:nvGraphicFramePr>
        <p:xfrm>
          <a:off x="1091069" y="3903264"/>
          <a:ext cx="6710363" cy="360363"/>
        </p:xfrm>
        <a:graphic>
          <a:graphicData uri="http://schemas.openxmlformats.org/presentationml/2006/ole">
            <mc:AlternateContent xmlns:mc="http://schemas.openxmlformats.org/markup-compatibility/2006">
              <mc:Choice xmlns:v="urn:schemas-microsoft-com:vml" Requires="v">
                <p:oleObj spid="_x0000_s46159" name="Equation" r:id="rId5" imgW="4152600" imgH="215640" progId="Equation.DSMT4">
                  <p:embed/>
                </p:oleObj>
              </mc:Choice>
              <mc:Fallback>
                <p:oleObj name="Equation" r:id="rId5" imgW="4152600" imgH="215640" progId="Equation.DSMT4">
                  <p:embed/>
                  <p:pic>
                    <p:nvPicPr>
                      <p:cNvPr id="8" name="对象 7"/>
                      <p:cNvPicPr>
                        <a:picLocks noChangeAspect="1" noChangeArrowheads="1"/>
                      </p:cNvPicPr>
                      <p:nvPr/>
                    </p:nvPicPr>
                    <p:blipFill>
                      <a:blip r:embed="rId6"/>
                      <a:srcRect/>
                      <a:stretch>
                        <a:fillRect/>
                      </a:stretch>
                    </p:blipFill>
                    <p:spPr bwMode="auto">
                      <a:xfrm>
                        <a:off x="1091069" y="3903264"/>
                        <a:ext cx="6710363" cy="36036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14563382"/>
              </p:ext>
            </p:extLst>
          </p:nvPr>
        </p:nvGraphicFramePr>
        <p:xfrm>
          <a:off x="1475907" y="2532282"/>
          <a:ext cx="5524500" cy="644525"/>
        </p:xfrm>
        <a:graphic>
          <a:graphicData uri="http://schemas.openxmlformats.org/presentationml/2006/ole">
            <mc:AlternateContent xmlns:mc="http://schemas.openxmlformats.org/markup-compatibility/2006">
              <mc:Choice xmlns:v="urn:schemas-microsoft-com:vml" Requires="v">
                <p:oleObj spid="_x0000_s46160" name="Equation" r:id="rId7" imgW="3327120" imgH="380880" progId="Equation.DSMT4">
                  <p:embed/>
                </p:oleObj>
              </mc:Choice>
              <mc:Fallback>
                <p:oleObj name="Equation" r:id="rId7" imgW="3327120" imgH="380880" progId="Equation.DSMT4">
                  <p:embed/>
                  <p:pic>
                    <p:nvPicPr>
                      <p:cNvPr id="12" name="对象 11"/>
                      <p:cNvPicPr>
                        <a:picLocks noChangeAspect="1" noChangeArrowheads="1"/>
                      </p:cNvPicPr>
                      <p:nvPr/>
                    </p:nvPicPr>
                    <p:blipFill>
                      <a:blip r:embed="rId8"/>
                      <a:srcRect/>
                      <a:stretch>
                        <a:fillRect/>
                      </a:stretch>
                    </p:blipFill>
                    <p:spPr bwMode="auto">
                      <a:xfrm>
                        <a:off x="1475907" y="2532282"/>
                        <a:ext cx="5524500" cy="644525"/>
                      </a:xfrm>
                      <a:prstGeom prst="rect">
                        <a:avLst/>
                      </a:prstGeom>
                      <a:noFill/>
                    </p:spPr>
                  </p:pic>
                </p:oleObj>
              </mc:Fallback>
            </mc:AlternateContent>
          </a:graphicData>
        </a:graphic>
      </p:graphicFrame>
    </p:spTree>
    <p:extLst>
      <p:ext uri="{BB962C8B-B14F-4D97-AF65-F5344CB8AC3E}">
        <p14:creationId xmlns:p14="http://schemas.microsoft.com/office/powerpoint/2010/main" val="1621450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6" name="文本框 5"/>
          <p:cNvSpPr txBox="1"/>
          <p:nvPr/>
        </p:nvSpPr>
        <p:spPr>
          <a:xfrm>
            <a:off x="296029" y="581491"/>
            <a:ext cx="8497797" cy="4713598"/>
          </a:xfrm>
          <a:prstGeom prst="rect">
            <a:avLst/>
          </a:prstGeom>
          <a:noFill/>
        </p:spPr>
        <p:txBody>
          <a:bodyPr wrap="square" rtlCol="0">
            <a:spAutoFit/>
          </a:bodyPr>
          <a:lstStyle/>
          <a:p>
            <a:pPr marL="0" lvl="1" indent="457200">
              <a:lnSpc>
                <a:spcPct val="130000"/>
              </a:lnSpc>
            </a:pPr>
            <a:r>
              <a:rPr lang="zh-CN" altLang="en-US" sz="1800" dirty="0" smtClean="0"/>
              <a:t>常规的三阶锁相环的设计方法基于锁相环的开环频率特性进行</a:t>
            </a:r>
            <a:endParaRPr lang="en-US" altLang="zh-CN" sz="1800" dirty="0" smtClean="0"/>
          </a:p>
          <a:p>
            <a:pPr marL="0" lvl="1" indent="457200">
              <a:lnSpc>
                <a:spcPct val="130000"/>
              </a:lnSpc>
            </a:pPr>
            <a:r>
              <a:rPr lang="zh-CN" altLang="en-US" sz="1800" dirty="0" smtClean="0"/>
              <a:t>比较本例前面</a:t>
            </a:r>
            <a:r>
              <a:rPr lang="zh-CN" altLang="en-US" sz="1800" dirty="0"/>
              <a:t>二阶锁相环</a:t>
            </a:r>
            <a:r>
              <a:rPr lang="zh-CN" altLang="en-US" sz="1800" dirty="0" smtClean="0"/>
              <a:t>的两个转角频率与这里的三个转角频率，可发现增加</a:t>
            </a:r>
            <a:r>
              <a:rPr lang="en-US" altLang="zh-CN" sz="1800" dirty="0" smtClean="0"/>
              <a:t>C</a:t>
            </a:r>
            <a:r>
              <a:rPr lang="en-US" altLang="zh-CN" sz="1800" baseline="-25000" dirty="0" smtClean="0"/>
              <a:t>2</a:t>
            </a:r>
            <a:r>
              <a:rPr lang="zh-CN" altLang="en-US" sz="1800" dirty="0" smtClean="0"/>
              <a:t>以后，除了增加一个高频极点外，</a:t>
            </a:r>
            <a:r>
              <a:rPr lang="el-GR" altLang="zh-CN" sz="1800" i="1" dirty="0" smtClean="0"/>
              <a:t>ω</a:t>
            </a:r>
            <a:r>
              <a:rPr lang="en-US" altLang="zh-CN" sz="1800" baseline="-25000" dirty="0" smtClean="0"/>
              <a:t>1</a:t>
            </a:r>
            <a:r>
              <a:rPr lang="zh-CN" altLang="en-US" sz="1800" dirty="0" smtClean="0"/>
              <a:t>基本不变，</a:t>
            </a:r>
            <a:r>
              <a:rPr lang="el-GR" altLang="zh-CN" sz="1800" i="1" dirty="0" smtClean="0"/>
              <a:t>ω</a:t>
            </a:r>
            <a:r>
              <a:rPr lang="en-US" altLang="zh-CN" sz="1800" baseline="-25000" dirty="0" smtClean="0"/>
              <a:t>2</a:t>
            </a:r>
            <a:r>
              <a:rPr lang="zh-CN" altLang="en-US" sz="1800" dirty="0" smtClean="0"/>
              <a:t>完全不变。这提供了三阶锁相环的另一个设计思路：先按照二阶锁相环设计环路滤波器，然后在其中增加一个高频极点</a:t>
            </a:r>
            <a:r>
              <a:rPr lang="el-GR" altLang="zh-CN" sz="1800" i="1" dirty="0" smtClean="0"/>
              <a:t>ω</a:t>
            </a:r>
            <a:r>
              <a:rPr lang="en-US" altLang="zh-CN" sz="1800" baseline="-25000" dirty="0" smtClean="0"/>
              <a:t>3</a:t>
            </a:r>
            <a:r>
              <a:rPr lang="zh-CN" altLang="en-US" sz="1800" dirty="0" smtClean="0"/>
              <a:t>。电容</a:t>
            </a:r>
            <a:r>
              <a:rPr lang="en-US" altLang="zh-CN" sz="1800" dirty="0" smtClean="0"/>
              <a:t>C2</a:t>
            </a:r>
            <a:r>
              <a:rPr lang="zh-CN" altLang="en-US" sz="1800" dirty="0" smtClean="0"/>
              <a:t>的值按照下式计算</a:t>
            </a:r>
            <a:endParaRPr lang="en-US" altLang="zh-CN" sz="1800" dirty="0" smtClean="0"/>
          </a:p>
          <a:p>
            <a:pPr marL="0" lvl="1" indent="457200">
              <a:lnSpc>
                <a:spcPct val="130000"/>
              </a:lnSpc>
            </a:pPr>
            <a:endParaRPr lang="en-US" altLang="zh-CN" sz="1800" dirty="0"/>
          </a:p>
          <a:p>
            <a:pPr marL="0" lvl="1" indent="457200">
              <a:lnSpc>
                <a:spcPct val="130000"/>
              </a:lnSpc>
            </a:pPr>
            <a:endParaRPr lang="en-US" altLang="zh-CN" sz="2400" dirty="0" smtClean="0"/>
          </a:p>
          <a:p>
            <a:pPr marL="0" lvl="1" indent="457200">
              <a:lnSpc>
                <a:spcPct val="130000"/>
              </a:lnSpc>
            </a:pPr>
            <a:r>
              <a:rPr lang="zh-CN" altLang="en-US" sz="1800" dirty="0" smtClean="0"/>
              <a:t>由于通常总是满足</a:t>
            </a:r>
            <a:r>
              <a:rPr lang="el-GR" altLang="zh-CN" sz="1800" i="1" dirty="0"/>
              <a:t>ω</a:t>
            </a:r>
            <a:r>
              <a:rPr lang="en-US" altLang="zh-CN" sz="1800" baseline="-25000" dirty="0" smtClean="0"/>
              <a:t>1</a:t>
            </a:r>
            <a:r>
              <a:rPr lang="en-US" altLang="zh-CN" sz="1800" dirty="0" smtClean="0"/>
              <a:t>&lt;&lt;</a:t>
            </a:r>
            <a:r>
              <a:rPr lang="el-GR" altLang="zh-CN" sz="1800" i="1" dirty="0" smtClean="0"/>
              <a:t>ω</a:t>
            </a:r>
            <a:r>
              <a:rPr lang="en-US" altLang="zh-CN" sz="1800" baseline="-25000" dirty="0" smtClean="0"/>
              <a:t>3</a:t>
            </a:r>
            <a:r>
              <a:rPr lang="zh-CN" altLang="en-US" sz="1800" dirty="0" smtClean="0"/>
              <a:t>，所以上式可简化为</a:t>
            </a:r>
            <a:endParaRPr lang="en-US" altLang="zh-CN" sz="1800" dirty="0" smtClean="0"/>
          </a:p>
          <a:p>
            <a:pPr marL="0" lvl="1" indent="457200">
              <a:lnSpc>
                <a:spcPct val="130000"/>
              </a:lnSpc>
            </a:pPr>
            <a:endParaRPr lang="en-US" altLang="zh-CN" sz="1600" dirty="0"/>
          </a:p>
          <a:p>
            <a:pPr marL="0" lvl="1" indent="457200">
              <a:lnSpc>
                <a:spcPct val="130000"/>
              </a:lnSpc>
            </a:pPr>
            <a:endParaRPr lang="en-US" altLang="zh-CN" sz="1100" dirty="0" smtClean="0"/>
          </a:p>
          <a:p>
            <a:pPr marL="0" lvl="1" indent="457200">
              <a:lnSpc>
                <a:spcPct val="130000"/>
              </a:lnSpc>
            </a:pPr>
            <a:endParaRPr lang="en-US" altLang="zh-CN" sz="1800" dirty="0"/>
          </a:p>
          <a:p>
            <a:pPr marL="0" lvl="1" indent="457200">
              <a:lnSpc>
                <a:spcPct val="130000"/>
              </a:lnSpc>
            </a:pPr>
            <a:r>
              <a:rPr lang="zh-CN" altLang="en-US" sz="1800" dirty="0" smtClean="0"/>
              <a:t>按照这个方法设计的三阶锁相环，可以直接套用二阶锁相环的公式估算诸如捕捉范围之类的动态参数</a:t>
            </a:r>
            <a:endParaRPr lang="en-US" altLang="zh-CN" sz="18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944818626"/>
              </p:ext>
            </p:extLst>
          </p:nvPr>
        </p:nvGraphicFramePr>
        <p:xfrm>
          <a:off x="2828697" y="2398587"/>
          <a:ext cx="2627313" cy="750887"/>
        </p:xfrm>
        <a:graphic>
          <a:graphicData uri="http://schemas.openxmlformats.org/presentationml/2006/ole">
            <mc:AlternateContent xmlns:mc="http://schemas.openxmlformats.org/markup-compatibility/2006">
              <mc:Choice xmlns:v="urn:schemas-microsoft-com:vml" Requires="v">
                <p:oleObj spid="_x0000_s47173" name="Equation" r:id="rId3" imgW="1473120" imgH="406080" progId="Equation.DSMT4">
                  <p:embed/>
                </p:oleObj>
              </mc:Choice>
              <mc:Fallback>
                <p:oleObj name="Equation" r:id="rId3" imgW="1473120" imgH="406080" progId="Equation.DSMT4">
                  <p:embed/>
                  <p:pic>
                    <p:nvPicPr>
                      <p:cNvPr id="11" name="对象 10"/>
                      <p:cNvPicPr>
                        <a:picLocks noChangeAspect="1" noChangeArrowheads="1"/>
                      </p:cNvPicPr>
                      <p:nvPr/>
                    </p:nvPicPr>
                    <p:blipFill>
                      <a:blip r:embed="rId4"/>
                      <a:srcRect/>
                      <a:stretch>
                        <a:fillRect/>
                      </a:stretch>
                    </p:blipFill>
                    <p:spPr bwMode="auto">
                      <a:xfrm>
                        <a:off x="2828697" y="2398587"/>
                        <a:ext cx="2627313" cy="750887"/>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195571402"/>
              </p:ext>
            </p:extLst>
          </p:nvPr>
        </p:nvGraphicFramePr>
        <p:xfrm>
          <a:off x="2967677" y="3628122"/>
          <a:ext cx="2151062" cy="750888"/>
        </p:xfrm>
        <a:graphic>
          <a:graphicData uri="http://schemas.openxmlformats.org/presentationml/2006/ole">
            <mc:AlternateContent xmlns:mc="http://schemas.openxmlformats.org/markup-compatibility/2006">
              <mc:Choice xmlns:v="urn:schemas-microsoft-com:vml" Requires="v">
                <p:oleObj spid="_x0000_s47174" name="Equation" r:id="rId5" imgW="1206360" imgH="406080" progId="Equation.DSMT4">
                  <p:embed/>
                </p:oleObj>
              </mc:Choice>
              <mc:Fallback>
                <p:oleObj name="Equation" r:id="rId5" imgW="1206360" imgH="406080" progId="Equation.DSMT4">
                  <p:embed/>
                  <p:pic>
                    <p:nvPicPr>
                      <p:cNvPr id="11" name="对象 10"/>
                      <p:cNvPicPr>
                        <a:picLocks noChangeAspect="1" noChangeArrowheads="1"/>
                      </p:cNvPicPr>
                      <p:nvPr/>
                    </p:nvPicPr>
                    <p:blipFill>
                      <a:blip r:embed="rId6"/>
                      <a:srcRect/>
                      <a:stretch>
                        <a:fillRect/>
                      </a:stretch>
                    </p:blipFill>
                    <p:spPr bwMode="auto">
                      <a:xfrm>
                        <a:off x="2967677" y="3628122"/>
                        <a:ext cx="2151062" cy="750888"/>
                      </a:xfrm>
                      <a:prstGeom prst="rect">
                        <a:avLst/>
                      </a:prstGeom>
                      <a:noFill/>
                    </p:spPr>
                  </p:pic>
                </p:oleObj>
              </mc:Fallback>
            </mc:AlternateContent>
          </a:graphicData>
        </a:graphic>
      </p:graphicFrame>
    </p:spTree>
    <p:extLst>
      <p:ext uri="{BB962C8B-B14F-4D97-AF65-F5344CB8AC3E}">
        <p14:creationId xmlns:p14="http://schemas.microsoft.com/office/powerpoint/2010/main" val="4272126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矩形 4"/>
          <p:cNvSpPr/>
          <p:nvPr/>
        </p:nvSpPr>
        <p:spPr>
          <a:xfrm>
            <a:off x="323849" y="329037"/>
            <a:ext cx="8399131" cy="3647152"/>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码元同步</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Arial" panose="020B0604020202020204" pitchFamily="34" charset="0"/>
              <a:buChar char="•"/>
            </a:pPr>
            <a:r>
              <a:rPr lang="zh-CN" altLang="en-US" sz="1800" dirty="0" smtClean="0"/>
              <a:t>数字通信系统中，将消息编码成二进制比特流，然后将</a:t>
            </a:r>
            <a:r>
              <a:rPr lang="en-US" altLang="zh-CN" sz="1800" dirty="0" smtClean="0"/>
              <a:t>k</a:t>
            </a:r>
            <a:r>
              <a:rPr lang="zh-CN" altLang="en-US" sz="1800" dirty="0" smtClean="0"/>
              <a:t>个二进制比特组合成一个码元</a:t>
            </a:r>
            <a:endParaRPr lang="en-US" altLang="zh-CN" sz="1800" dirty="0" smtClean="0"/>
          </a:p>
          <a:p>
            <a:pPr marL="342900" indent="-342900">
              <a:lnSpc>
                <a:spcPct val="150000"/>
              </a:lnSpc>
              <a:buFont typeface="Arial" panose="020B0604020202020204" pitchFamily="34" charset="0"/>
              <a:buChar char="•"/>
            </a:pPr>
            <a:r>
              <a:rPr lang="zh-CN" altLang="en-US" sz="1800" dirty="0" smtClean="0"/>
              <a:t>用一组特定的波形表示码元，称为对码元进行脉冲调制，调制后的信号称为基带信号，基带信号集合中包含</a:t>
            </a:r>
            <a:r>
              <a:rPr lang="en-US" altLang="zh-CN" sz="1800" dirty="0" smtClean="0"/>
              <a:t>2</a:t>
            </a:r>
            <a:r>
              <a:rPr lang="en-US" altLang="zh-CN" sz="1800" baseline="30000" dirty="0" smtClean="0"/>
              <a:t>k</a:t>
            </a:r>
            <a:r>
              <a:rPr lang="zh-CN" altLang="en-US" sz="1800" dirty="0" smtClean="0"/>
              <a:t>种波形</a:t>
            </a:r>
            <a:endParaRPr lang="en-US" altLang="zh-CN" sz="1800" dirty="0" smtClean="0"/>
          </a:p>
          <a:p>
            <a:pPr marL="342900" indent="-342900">
              <a:lnSpc>
                <a:spcPct val="150000"/>
              </a:lnSpc>
              <a:buFont typeface="Arial" panose="020B0604020202020204" pitchFamily="34" charset="0"/>
              <a:buChar char="•"/>
            </a:pPr>
            <a:r>
              <a:rPr lang="zh-CN" altLang="en-US" sz="1800" dirty="0" smtClean="0"/>
              <a:t>基带信号</a:t>
            </a:r>
            <a:r>
              <a:rPr lang="zh-CN" altLang="en-US" sz="1800" dirty="0"/>
              <a:t>波形可以只有两个</a:t>
            </a:r>
            <a:r>
              <a:rPr lang="zh-CN" altLang="en-US" sz="1800" dirty="0" smtClean="0"/>
              <a:t>电平，</a:t>
            </a:r>
            <a:r>
              <a:rPr lang="zh-CN" altLang="en-US" sz="1800" dirty="0"/>
              <a:t>也可以包含多个</a:t>
            </a:r>
            <a:r>
              <a:rPr lang="zh-CN" altLang="en-US" sz="1800" dirty="0" smtClean="0"/>
              <a:t>电平</a:t>
            </a:r>
            <a:endParaRPr lang="en-US" altLang="zh-CN" sz="1800" dirty="0" smtClean="0"/>
          </a:p>
          <a:p>
            <a:pPr marL="342900" indent="-342900">
              <a:lnSpc>
                <a:spcPct val="150000"/>
              </a:lnSpc>
              <a:buFont typeface="Arial" panose="020B0604020202020204" pitchFamily="34" charset="0"/>
              <a:buChar char="•"/>
            </a:pPr>
            <a:r>
              <a:rPr lang="zh-CN" altLang="en-US" sz="1800" dirty="0" smtClean="0"/>
              <a:t>接收</a:t>
            </a:r>
            <a:r>
              <a:rPr lang="zh-CN" altLang="en-US" sz="1800" dirty="0"/>
              <a:t>端为了判定码元，需要准确知道</a:t>
            </a:r>
            <a:r>
              <a:rPr lang="zh-CN" altLang="en-US" sz="1800" dirty="0" smtClean="0"/>
              <a:t>基带信号中</a:t>
            </a:r>
            <a:r>
              <a:rPr lang="zh-CN" altLang="en-US" sz="1800" dirty="0"/>
              <a:t>每个码元的起始与结束时刻（同步）。用锁相环取出基带信号中的同步信号，称为</a:t>
            </a:r>
            <a:r>
              <a:rPr lang="zh-CN" altLang="en-US" sz="1800" dirty="0" smtClean="0"/>
              <a:t>码元同步</a:t>
            </a:r>
            <a:endParaRPr lang="en-US" altLang="zh-CN" sz="1800" dirty="0" smtClean="0"/>
          </a:p>
        </p:txBody>
      </p:sp>
    </p:spTree>
    <p:extLst>
      <p:ext uri="{BB962C8B-B14F-4D97-AF65-F5344CB8AC3E}">
        <p14:creationId xmlns:p14="http://schemas.microsoft.com/office/powerpoint/2010/main" val="212326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6" name="文本框 5"/>
          <p:cNvSpPr txBox="1"/>
          <p:nvPr/>
        </p:nvSpPr>
        <p:spPr>
          <a:xfrm>
            <a:off x="414440" y="401284"/>
            <a:ext cx="8451748" cy="5816977"/>
          </a:xfrm>
          <a:prstGeom prst="rect">
            <a:avLst/>
          </a:prstGeom>
          <a:noFill/>
        </p:spPr>
        <p:txBody>
          <a:bodyPr wrap="square" rtlCol="0">
            <a:spAutoFit/>
          </a:bodyPr>
          <a:lstStyle/>
          <a:p>
            <a:pPr>
              <a:lnSpc>
                <a:spcPct val="150000"/>
              </a:lnSpc>
            </a:pPr>
            <a:r>
              <a:rPr lang="zh-CN" altLang="en-US" dirty="0" smtClean="0">
                <a:solidFill>
                  <a:srgbClr val="FF0000"/>
                </a:solidFill>
              </a:rPr>
              <a:t>常见的基带波形与同步信号举例</a:t>
            </a:r>
            <a:endParaRPr lang="en-US" altLang="zh-CN" dirty="0" smtClean="0">
              <a:solidFill>
                <a:srgbClr val="FF0000"/>
              </a:solidFill>
            </a:endParaRPr>
          </a:p>
          <a:p>
            <a:pPr>
              <a:lnSpc>
                <a:spcPct val="150000"/>
              </a:lnSpc>
            </a:pPr>
            <a:r>
              <a:rPr lang="zh-CN" altLang="en-US" sz="1800" dirty="0" smtClean="0"/>
              <a:t>基带波形类型众多，下面仅举比较常见的几种</a:t>
            </a:r>
            <a:endParaRPr lang="en-US" altLang="zh-CN" sz="1800" dirty="0" smtClean="0"/>
          </a:p>
          <a:p>
            <a:pPr marL="342900" indent="-342900">
              <a:lnSpc>
                <a:spcPct val="150000"/>
              </a:lnSpc>
              <a:buFont typeface="Wingdings" panose="05000000000000000000" pitchFamily="2" charset="2"/>
              <a:buChar char="Ø"/>
            </a:pPr>
            <a:r>
              <a:rPr lang="zh-CN" altLang="en-US" sz="1800" dirty="0" smtClean="0"/>
              <a:t>不归零码（</a:t>
            </a:r>
            <a:r>
              <a:rPr lang="en-US" altLang="zh-CN" sz="1800" dirty="0" smtClean="0"/>
              <a:t>NRZ</a:t>
            </a:r>
            <a:r>
              <a:rPr lang="zh-CN" altLang="en-US" sz="1800" dirty="0" smtClean="0"/>
              <a:t>）</a:t>
            </a:r>
            <a:endParaRPr lang="en-US" altLang="zh-CN" sz="1800" dirty="0" smtClean="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400" dirty="0" smtClean="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smtClean="0"/>
          </a:p>
          <a:p>
            <a:pPr marL="342900" indent="-342900">
              <a:lnSpc>
                <a:spcPct val="150000"/>
              </a:lnSpc>
              <a:buFont typeface="Wingdings" panose="05000000000000000000" pitchFamily="2" charset="2"/>
              <a:buChar char="Ø"/>
            </a:pPr>
            <a:endParaRPr lang="en-US" altLang="zh-CN" sz="1600" dirty="0"/>
          </a:p>
          <a:p>
            <a:pPr marL="342900" indent="-342900">
              <a:lnSpc>
                <a:spcPct val="150000"/>
              </a:lnSpc>
              <a:buFont typeface="Arial" panose="020B0604020202020204" pitchFamily="34" charset="0"/>
              <a:buChar char="•"/>
            </a:pPr>
            <a:r>
              <a:rPr lang="zh-CN" altLang="en-US" sz="1800" dirty="0" smtClean="0"/>
              <a:t>两种不同的编码方式：不归零传号码、不归零空号码</a:t>
            </a:r>
            <a:endParaRPr lang="en-US" altLang="zh-CN" sz="1800" dirty="0" smtClean="0"/>
          </a:p>
          <a:p>
            <a:pPr marL="342900" indent="-342900">
              <a:lnSpc>
                <a:spcPct val="150000"/>
              </a:lnSpc>
              <a:buFont typeface="Arial" panose="020B0604020202020204" pitchFamily="34" charset="0"/>
              <a:buChar char="•"/>
            </a:pPr>
            <a:r>
              <a:rPr lang="zh-CN" altLang="en-US" sz="1800" dirty="0" smtClean="0"/>
              <a:t>以跳变表示二进制值</a:t>
            </a:r>
            <a:r>
              <a:rPr lang="en-US" altLang="zh-CN" sz="1800" dirty="0" smtClean="0"/>
              <a:t>1</a:t>
            </a:r>
            <a:r>
              <a:rPr lang="zh-CN" altLang="en-US" sz="1800" dirty="0" smtClean="0"/>
              <a:t>（传号码）或</a:t>
            </a:r>
            <a:r>
              <a:rPr lang="en-US" altLang="zh-CN" sz="1800" dirty="0" smtClean="0"/>
              <a:t>0</a:t>
            </a:r>
            <a:r>
              <a:rPr lang="zh-CN" altLang="en-US" sz="1800" dirty="0" smtClean="0"/>
              <a:t>（空号码），无跳变表示另一个二进制值</a:t>
            </a:r>
            <a:endParaRPr lang="en-US" altLang="zh-CN" sz="1800" dirty="0" smtClean="0"/>
          </a:p>
          <a:p>
            <a:pPr marL="342900" indent="-342900">
              <a:lnSpc>
                <a:spcPct val="150000"/>
              </a:lnSpc>
              <a:buFont typeface="Arial" panose="020B0604020202020204" pitchFamily="34" charset="0"/>
              <a:buChar char="•"/>
            </a:pPr>
            <a:r>
              <a:rPr lang="zh-CN" altLang="en-US" sz="1800" dirty="0"/>
              <a:t>正负两个信号电平，若</a:t>
            </a:r>
            <a:r>
              <a:rPr lang="en-US" altLang="zh-CN" sz="1800" dirty="0"/>
              <a:t>1</a:t>
            </a:r>
            <a:r>
              <a:rPr lang="zh-CN" altLang="en-US" sz="1800" dirty="0"/>
              <a:t>、</a:t>
            </a:r>
            <a:r>
              <a:rPr lang="en-US" altLang="zh-CN" sz="1800" dirty="0"/>
              <a:t>0</a:t>
            </a:r>
            <a:r>
              <a:rPr lang="zh-CN" altLang="en-US" sz="1800" dirty="0"/>
              <a:t>出现几率相同则平均电平为</a:t>
            </a:r>
            <a:r>
              <a:rPr lang="en-US" altLang="zh-CN" sz="1800" dirty="0"/>
              <a:t>0</a:t>
            </a:r>
          </a:p>
          <a:p>
            <a:pPr marL="342900" indent="-342900">
              <a:lnSpc>
                <a:spcPct val="150000"/>
              </a:lnSpc>
              <a:buFont typeface="Arial" panose="020B0604020202020204" pitchFamily="34" charset="0"/>
              <a:buChar char="•"/>
            </a:pPr>
            <a:r>
              <a:rPr lang="zh-CN" altLang="en-US" sz="1800" dirty="0" smtClean="0"/>
              <a:t>遇到连续多个</a:t>
            </a:r>
            <a:r>
              <a:rPr lang="en-US" altLang="zh-CN" sz="1800" dirty="0" smtClean="0"/>
              <a:t>0</a:t>
            </a:r>
            <a:r>
              <a:rPr lang="zh-CN" altLang="en-US" sz="1800" dirty="0" smtClean="0"/>
              <a:t>或连续多个</a:t>
            </a:r>
            <a:r>
              <a:rPr lang="en-US" altLang="zh-CN" sz="1800" dirty="0" smtClean="0"/>
              <a:t>1</a:t>
            </a:r>
            <a:r>
              <a:rPr lang="zh-CN" altLang="en-US" sz="1800" dirty="0" smtClean="0"/>
              <a:t>，将出现较长时间连续不变的电平，存在较大的直流分量，不利于交流耦合或无线传输，也不利于同步信号提取和解码。通常需要在信道编码中进行调整避免上述情况出现</a:t>
            </a:r>
            <a:endParaRPr lang="zh-CN" altLang="en-US" sz="1800" dirty="0"/>
          </a:p>
        </p:txBody>
      </p:sp>
      <p:pic>
        <p:nvPicPr>
          <p:cNvPr id="12" name="图片 11"/>
          <p:cNvPicPr>
            <a:picLocks noChangeAspect="1"/>
          </p:cNvPicPr>
          <p:nvPr/>
        </p:nvPicPr>
        <p:blipFill>
          <a:blip r:embed="rId2"/>
          <a:stretch>
            <a:fillRect/>
          </a:stretch>
        </p:blipFill>
        <p:spPr>
          <a:xfrm>
            <a:off x="1384528" y="1781456"/>
            <a:ext cx="5483340" cy="1747018"/>
          </a:xfrm>
          <a:prstGeom prst="rect">
            <a:avLst/>
          </a:prstGeom>
        </p:spPr>
      </p:pic>
      <p:sp>
        <p:nvSpPr>
          <p:cNvPr id="5" name="文本框 4"/>
          <p:cNvSpPr txBox="1"/>
          <p:nvPr/>
        </p:nvSpPr>
        <p:spPr>
          <a:xfrm>
            <a:off x="6867868" y="2093996"/>
            <a:ext cx="631528" cy="1292662"/>
          </a:xfrm>
          <a:prstGeom prst="rect">
            <a:avLst/>
          </a:prstGeom>
          <a:noFill/>
        </p:spPr>
        <p:txBody>
          <a:bodyPr wrap="square" rtlCol="0">
            <a:spAutoFit/>
          </a:bodyPr>
          <a:lstStyle/>
          <a:p>
            <a:r>
              <a:rPr lang="en-US" altLang="zh-CN" sz="1400" dirty="0" smtClean="0"/>
              <a:t>+V</a:t>
            </a:r>
          </a:p>
          <a:p>
            <a:endParaRPr lang="en-US" altLang="zh-CN" sz="900" dirty="0" smtClean="0"/>
          </a:p>
          <a:p>
            <a:r>
              <a:rPr lang="en-US" altLang="zh-CN" sz="1400" dirty="0" smtClean="0"/>
              <a:t>-V</a:t>
            </a:r>
          </a:p>
          <a:p>
            <a:endParaRPr lang="en-US" altLang="zh-CN" sz="200" dirty="0" smtClean="0"/>
          </a:p>
          <a:p>
            <a:r>
              <a:rPr lang="en-US" altLang="zh-CN" sz="1400" dirty="0" smtClean="0"/>
              <a:t>+V</a:t>
            </a:r>
          </a:p>
          <a:p>
            <a:endParaRPr lang="en-US" altLang="zh-CN" sz="900" dirty="0" smtClean="0"/>
          </a:p>
          <a:p>
            <a:r>
              <a:rPr lang="en-US" altLang="zh-CN" sz="1400" dirty="0" smtClean="0"/>
              <a:t>-V</a:t>
            </a:r>
            <a:endParaRPr lang="zh-CN" altLang="en-US" sz="1400" dirty="0"/>
          </a:p>
        </p:txBody>
      </p:sp>
    </p:spTree>
    <p:extLst>
      <p:ext uri="{BB962C8B-B14F-4D97-AF65-F5344CB8AC3E}">
        <p14:creationId xmlns:p14="http://schemas.microsoft.com/office/powerpoint/2010/main" val="2722178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6" name="文本框 5"/>
          <p:cNvSpPr txBox="1"/>
          <p:nvPr/>
        </p:nvSpPr>
        <p:spPr>
          <a:xfrm>
            <a:off x="532851" y="605215"/>
            <a:ext cx="8104610" cy="383181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双极性归零</a:t>
            </a:r>
            <a:r>
              <a:rPr lang="zh-CN" altLang="en-US" sz="1800" dirty="0" smtClean="0"/>
              <a:t>码</a:t>
            </a:r>
            <a:r>
              <a:rPr lang="en-US" altLang="zh-CN" sz="1800" dirty="0" smtClean="0"/>
              <a:t>——AMI</a:t>
            </a:r>
            <a:r>
              <a:rPr lang="zh-CN" altLang="en-US" sz="1800" dirty="0" smtClean="0"/>
              <a:t>码</a:t>
            </a:r>
            <a:endParaRPr lang="en-US" altLang="zh-CN" sz="1800" dirty="0" smtClean="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smtClean="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smtClean="0"/>
          </a:p>
          <a:p>
            <a:pPr marL="285750" indent="-285750">
              <a:lnSpc>
                <a:spcPct val="150000"/>
              </a:lnSpc>
              <a:buFont typeface="Arial" panose="020B0604020202020204" pitchFamily="34" charset="0"/>
              <a:buChar char="•"/>
            </a:pPr>
            <a:r>
              <a:rPr lang="en-US" altLang="zh-CN" sz="1800" dirty="0" smtClean="0"/>
              <a:t>1 </a:t>
            </a:r>
            <a:r>
              <a:rPr lang="zh-CN" altLang="zh-CN" sz="1800" dirty="0" smtClean="0"/>
              <a:t>交替</a:t>
            </a:r>
            <a:r>
              <a:rPr lang="zh-CN" altLang="zh-CN" sz="1800" dirty="0"/>
              <a:t>地变换</a:t>
            </a:r>
            <a:r>
              <a:rPr lang="zh-CN" altLang="zh-CN" sz="1800" dirty="0" smtClean="0"/>
              <a:t>为</a:t>
            </a:r>
            <a:r>
              <a:rPr lang="en-US" altLang="zh-CN" sz="1800" dirty="0" smtClean="0"/>
              <a:t> +V </a:t>
            </a:r>
            <a:r>
              <a:rPr lang="zh-CN" altLang="zh-CN" sz="1800" dirty="0" smtClean="0"/>
              <a:t>与</a:t>
            </a:r>
            <a:r>
              <a:rPr lang="en-US" altLang="zh-CN" sz="1800" dirty="0" smtClean="0"/>
              <a:t> -V</a:t>
            </a:r>
            <a:r>
              <a:rPr lang="zh-CN" altLang="zh-CN" sz="1800" dirty="0" smtClean="0"/>
              <a:t>，</a:t>
            </a:r>
            <a:r>
              <a:rPr lang="zh-CN" altLang="zh-CN" sz="1800" dirty="0"/>
              <a:t>每个脉冲的宽度等于半个位宽</a:t>
            </a:r>
            <a:r>
              <a:rPr lang="zh-CN" altLang="zh-CN" sz="1800" dirty="0" smtClean="0"/>
              <a:t>。</a:t>
            </a:r>
            <a:r>
              <a:rPr lang="en-US" altLang="zh-CN" sz="1800" dirty="0" smtClean="0"/>
              <a:t>0 </a:t>
            </a:r>
            <a:r>
              <a:rPr lang="zh-CN" altLang="zh-CN" sz="1800" dirty="0" smtClean="0"/>
              <a:t>始终</a:t>
            </a:r>
            <a:r>
              <a:rPr lang="zh-CN" altLang="zh-CN" sz="1800" dirty="0"/>
              <a:t>保持</a:t>
            </a:r>
            <a:r>
              <a:rPr lang="zh-CN" altLang="zh-CN" sz="1800" dirty="0" smtClean="0"/>
              <a:t>为</a:t>
            </a:r>
            <a:r>
              <a:rPr lang="en-US" altLang="zh-CN" sz="1800" dirty="0" smtClean="0"/>
              <a:t> 0</a:t>
            </a:r>
          </a:p>
          <a:p>
            <a:pPr marL="285750" indent="-285750">
              <a:lnSpc>
                <a:spcPct val="150000"/>
              </a:lnSpc>
              <a:buFont typeface="Arial" panose="020B0604020202020204" pitchFamily="34" charset="0"/>
              <a:buChar char="•"/>
            </a:pPr>
            <a:r>
              <a:rPr lang="zh-CN" altLang="en-US" sz="1800" dirty="0" smtClean="0"/>
              <a:t>平均直流分量为零</a:t>
            </a:r>
            <a:endParaRPr lang="en-US" altLang="zh-CN" sz="1800" dirty="0" smtClean="0"/>
          </a:p>
          <a:p>
            <a:pPr marL="285750" lvl="1" indent="-285750">
              <a:lnSpc>
                <a:spcPct val="150000"/>
              </a:lnSpc>
              <a:buFont typeface="Arial" panose="020B0604020202020204" pitchFamily="34" charset="0"/>
              <a:buChar char="•"/>
            </a:pPr>
            <a:r>
              <a:rPr lang="zh-CN" altLang="en-US" sz="1800" dirty="0" smtClean="0"/>
              <a:t>出现长时间连续 </a:t>
            </a:r>
            <a:r>
              <a:rPr lang="en-US" altLang="zh-CN" sz="1800" dirty="0" smtClean="0"/>
              <a:t>0 </a:t>
            </a:r>
            <a:r>
              <a:rPr lang="zh-CN" altLang="en-US" sz="1800" dirty="0" smtClean="0"/>
              <a:t>时解码困难（因为解码需要的同步信号包含在编码信号的跳变中，长时间没有跳变则锁相环将失锁。详细情况后面会有分析）</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3664889500"/>
              </p:ext>
            </p:extLst>
          </p:nvPr>
        </p:nvGraphicFramePr>
        <p:xfrm>
          <a:off x="1188219" y="1244760"/>
          <a:ext cx="6583363" cy="1592263"/>
        </p:xfrm>
        <a:graphic>
          <a:graphicData uri="http://schemas.openxmlformats.org/presentationml/2006/ole">
            <mc:AlternateContent xmlns:mc="http://schemas.openxmlformats.org/markup-compatibility/2006">
              <mc:Choice xmlns:v="urn:schemas-microsoft-com:vml" Requires="v">
                <p:oleObj spid="_x0000_s28755" name="Visio" r:id="rId3" imgW="3105099" imgH="736626" progId="Visio.Drawing.11">
                  <p:embed/>
                </p:oleObj>
              </mc:Choice>
              <mc:Fallback>
                <p:oleObj name="Visio" r:id="rId3" imgW="3105099" imgH="736626" progId="Visio.Drawing.11">
                  <p:embed/>
                  <p:pic>
                    <p:nvPicPr>
                      <p:cNvPr id="10" name="对象 9"/>
                      <p:cNvPicPr>
                        <a:picLocks noChangeAspect="1" noChangeArrowheads="1"/>
                      </p:cNvPicPr>
                      <p:nvPr/>
                    </p:nvPicPr>
                    <p:blipFill>
                      <a:blip r:embed="rId4"/>
                      <a:srcRect/>
                      <a:stretch>
                        <a:fillRect/>
                      </a:stretch>
                    </p:blipFill>
                    <p:spPr bwMode="auto">
                      <a:xfrm>
                        <a:off x="1188219" y="1244760"/>
                        <a:ext cx="6583363" cy="1592263"/>
                      </a:xfrm>
                      <a:prstGeom prst="rect">
                        <a:avLst/>
                      </a:prstGeom>
                      <a:noFill/>
                    </p:spPr>
                  </p:pic>
                </p:oleObj>
              </mc:Fallback>
            </mc:AlternateContent>
          </a:graphicData>
        </a:graphic>
      </p:graphicFrame>
    </p:spTree>
    <p:extLst>
      <p:ext uri="{BB962C8B-B14F-4D97-AF65-F5344CB8AC3E}">
        <p14:creationId xmlns:p14="http://schemas.microsoft.com/office/powerpoint/2010/main" val="4065379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6" name="文本框 5"/>
          <p:cNvSpPr txBox="1"/>
          <p:nvPr/>
        </p:nvSpPr>
        <p:spPr>
          <a:xfrm>
            <a:off x="405818" y="648414"/>
            <a:ext cx="8104610" cy="45724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smtClean="0"/>
              <a:t>Manchester</a:t>
            </a:r>
            <a:r>
              <a:rPr lang="zh-CN" altLang="en-US" sz="1800" dirty="0" smtClean="0"/>
              <a:t>码与差分</a:t>
            </a:r>
            <a:r>
              <a:rPr lang="en-US" altLang="zh-CN" sz="1800" dirty="0"/>
              <a:t>Manchester</a:t>
            </a:r>
            <a:r>
              <a:rPr lang="zh-CN" altLang="en-US" sz="1800" dirty="0"/>
              <a:t>码</a:t>
            </a:r>
          </a:p>
        </p:txBody>
      </p:sp>
      <p:graphicFrame>
        <p:nvGraphicFramePr>
          <p:cNvPr id="8" name="对象 7"/>
          <p:cNvGraphicFramePr>
            <a:graphicFrameLocks noChangeAspect="1"/>
          </p:cNvGraphicFramePr>
          <p:nvPr>
            <p:extLst>
              <p:ext uri="{D42A27DB-BD31-4B8C-83A1-F6EECF244321}">
                <p14:modId xmlns:p14="http://schemas.microsoft.com/office/powerpoint/2010/main" val="2978598320"/>
              </p:ext>
            </p:extLst>
          </p:nvPr>
        </p:nvGraphicFramePr>
        <p:xfrm>
          <a:off x="3693531" y="718601"/>
          <a:ext cx="4941888" cy="1919288"/>
        </p:xfrm>
        <a:graphic>
          <a:graphicData uri="http://schemas.openxmlformats.org/presentationml/2006/ole">
            <mc:AlternateContent xmlns:mc="http://schemas.openxmlformats.org/markup-compatibility/2006">
              <mc:Choice xmlns:v="urn:schemas-microsoft-com:vml" Requires="v">
                <p:oleObj spid="_x0000_s26709" name="Visio" r:id="rId3" imgW="2381301" imgH="920434" progId="Visio.Drawing.11">
                  <p:embed/>
                </p:oleObj>
              </mc:Choice>
              <mc:Fallback>
                <p:oleObj name="Visio" r:id="rId3" imgW="2381301" imgH="920434" progId="Visio.Drawing.11">
                  <p:embed/>
                  <p:pic>
                    <p:nvPicPr>
                      <p:cNvPr id="8" name="对象 7"/>
                      <p:cNvPicPr>
                        <a:picLocks noChangeAspect="1" noChangeArrowheads="1"/>
                      </p:cNvPicPr>
                      <p:nvPr/>
                    </p:nvPicPr>
                    <p:blipFill>
                      <a:blip r:embed="rId4"/>
                      <a:srcRect/>
                      <a:stretch>
                        <a:fillRect/>
                      </a:stretch>
                    </p:blipFill>
                    <p:spPr bwMode="auto">
                      <a:xfrm>
                        <a:off x="3693531" y="718601"/>
                        <a:ext cx="4941888" cy="1919288"/>
                      </a:xfrm>
                      <a:prstGeom prst="rect">
                        <a:avLst/>
                      </a:prstGeom>
                      <a:noFill/>
                    </p:spPr>
                  </p:pic>
                </p:oleObj>
              </mc:Fallback>
            </mc:AlternateContent>
          </a:graphicData>
        </a:graphic>
      </p:graphicFrame>
      <p:sp>
        <p:nvSpPr>
          <p:cNvPr id="9" name="矩形 8"/>
          <p:cNvSpPr/>
          <p:nvPr/>
        </p:nvSpPr>
        <p:spPr>
          <a:xfrm>
            <a:off x="405818" y="1282780"/>
            <a:ext cx="3154103" cy="1532727"/>
          </a:xfrm>
          <a:prstGeom prst="rect">
            <a:avLst/>
          </a:prstGeom>
        </p:spPr>
        <p:txBody>
          <a:bodyPr wrap="square">
            <a:spAutoFit/>
          </a:bodyPr>
          <a:lstStyle/>
          <a:p>
            <a:pPr marL="342900" indent="-342900" algn="just">
              <a:lnSpc>
                <a:spcPct val="13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smtClean="0">
                <a:latin typeface="Times New Roman" panose="02020603050405020304" pitchFamily="18" charset="0"/>
                <a:cs typeface="Times New Roman" panose="02020603050405020304" pitchFamily="18" charset="0"/>
              </a:rPr>
              <a:t>码</a:t>
            </a:r>
            <a:endParaRPr lang="en-US" altLang="zh-CN" sz="1800" kern="100" dirty="0" smtClean="0">
              <a:latin typeface="Times New Roman" panose="02020603050405020304" pitchFamily="18" charset="0"/>
              <a:cs typeface="Times New Roman" panose="02020603050405020304" pitchFamily="18" charset="0"/>
            </a:endParaRPr>
          </a:p>
          <a:p>
            <a:pPr marL="360000" lvl="1" algn="just">
              <a:lnSpc>
                <a:spcPct val="130000"/>
              </a:lnSpc>
              <a:spcAft>
                <a:spcPts val="0"/>
              </a:spcAft>
            </a:pPr>
            <a:r>
              <a:rPr lang="zh-CN" altLang="en-US" sz="1800" kern="100" dirty="0" smtClean="0">
                <a:latin typeface="Times New Roman" panose="02020603050405020304" pitchFamily="18" charset="0"/>
                <a:cs typeface="Times New Roman" panose="02020603050405020304" pitchFamily="18" charset="0"/>
              </a:rPr>
              <a:t>每</a:t>
            </a:r>
            <a:r>
              <a:rPr lang="zh-CN" altLang="zh-CN" sz="1800" kern="100" dirty="0" smtClean="0">
                <a:latin typeface="Times New Roman" panose="02020603050405020304" pitchFamily="18" charset="0"/>
                <a:cs typeface="Times New Roman" panose="02020603050405020304" pitchFamily="18" charset="0"/>
              </a:rPr>
              <a:t>个</a:t>
            </a:r>
            <a:r>
              <a:rPr lang="zh-CN" altLang="zh-CN" sz="1800" kern="100" dirty="0">
                <a:latin typeface="Times New Roman" panose="02020603050405020304" pitchFamily="18" charset="0"/>
                <a:cs typeface="Times New Roman" panose="02020603050405020304" pitchFamily="18" charset="0"/>
              </a:rPr>
              <a:t>码元中点发生跳</a:t>
            </a:r>
            <a:r>
              <a:rPr lang="zh-CN" altLang="zh-CN" sz="1800" kern="100" dirty="0" smtClean="0">
                <a:latin typeface="Times New Roman" panose="02020603050405020304" pitchFamily="18" charset="0"/>
                <a:cs typeface="Times New Roman" panose="02020603050405020304" pitchFamily="18" charset="0"/>
              </a:rPr>
              <a:t>变</a:t>
            </a:r>
            <a:r>
              <a:rPr lang="zh-CN" altLang="en-US" sz="1800" kern="100" dirty="0">
                <a:latin typeface="Times New Roman" panose="02020603050405020304" pitchFamily="18" charset="0"/>
                <a:cs typeface="Times New Roman" panose="02020603050405020304" pitchFamily="18" charset="0"/>
              </a:rPr>
              <a:t>，</a:t>
            </a:r>
            <a:r>
              <a:rPr lang="zh-CN" altLang="zh-CN" sz="1800" kern="100" dirty="0" smtClean="0">
                <a:latin typeface="Times New Roman" panose="02020603050405020304" pitchFamily="18" charset="0"/>
                <a:cs typeface="Times New Roman" panose="02020603050405020304" pitchFamily="18" charset="0"/>
              </a:rPr>
              <a:t>规定</a:t>
            </a:r>
            <a:r>
              <a:rPr lang="zh-CN" altLang="zh-CN" sz="1800" kern="100" dirty="0">
                <a:latin typeface="Times New Roman" panose="02020603050405020304" pitchFamily="18" charset="0"/>
                <a:cs typeface="Times New Roman" panose="02020603050405020304" pitchFamily="18" charset="0"/>
              </a:rPr>
              <a:t>从高电平向低</a:t>
            </a:r>
            <a:r>
              <a:rPr lang="zh-CN" altLang="zh-CN" sz="1800" kern="100" dirty="0" smtClean="0">
                <a:latin typeface="Times New Roman" panose="02020603050405020304" pitchFamily="18" charset="0"/>
                <a:cs typeface="Times New Roman" panose="02020603050405020304" pitchFamily="18" charset="0"/>
              </a:rPr>
              <a:t>电平跳变为</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a:t>
            </a:r>
            <a:r>
              <a:rPr lang="zh-CN" altLang="zh-CN" sz="1800" kern="100" dirty="0">
                <a:latin typeface="Times New Roman" panose="02020603050405020304" pitchFamily="18" charset="0"/>
                <a:cs typeface="Times New Roman" panose="02020603050405020304" pitchFamily="18" charset="0"/>
              </a:rPr>
              <a:t>反向的跳</a:t>
            </a:r>
            <a:r>
              <a:rPr lang="zh-CN" altLang="zh-CN" sz="1800" kern="100" dirty="0" smtClean="0">
                <a:latin typeface="Times New Roman" panose="02020603050405020304" pitchFamily="18" charset="0"/>
                <a:cs typeface="Times New Roman" panose="02020603050405020304" pitchFamily="18" charset="0"/>
              </a:rPr>
              <a:t>变为</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a:t>
            </a:r>
            <a:endParaRPr lang="en-US" altLang="zh-CN" sz="1800" kern="100" dirty="0" smtClean="0">
              <a:latin typeface="华文细黑" panose="02010600040101010101" pitchFamily="2" charset="-122"/>
              <a:cs typeface="Times New Roman" panose="02020603050405020304" pitchFamily="18" charset="0"/>
            </a:endParaRPr>
          </a:p>
        </p:txBody>
      </p:sp>
      <p:sp>
        <p:nvSpPr>
          <p:cNvPr id="10" name="矩形 9"/>
          <p:cNvSpPr/>
          <p:nvPr/>
        </p:nvSpPr>
        <p:spPr>
          <a:xfrm>
            <a:off x="405818" y="2710589"/>
            <a:ext cx="8363211" cy="3333220"/>
          </a:xfrm>
          <a:prstGeom prst="rect">
            <a:avLst/>
          </a:prstGeom>
        </p:spPr>
        <p:txBody>
          <a:bodyPr wrap="square">
            <a:spAutoFit/>
          </a:bodyPr>
          <a:lstStyle/>
          <a:p>
            <a:pPr marL="360000" lvl="2" algn="just">
              <a:lnSpc>
                <a:spcPct val="130000"/>
              </a:lnSpc>
              <a:spcAft>
                <a:spcPts val="0"/>
              </a:spcAft>
            </a:pPr>
            <a:r>
              <a:rPr lang="zh-CN" altLang="en-US" sz="1800" kern="100" dirty="0">
                <a:latin typeface="Times New Roman" panose="02020603050405020304" pitchFamily="18" charset="0"/>
                <a:cs typeface="Times New Roman" panose="02020603050405020304" pitchFamily="18" charset="0"/>
              </a:rPr>
              <a:t>就是</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编码</a:t>
            </a:r>
            <a:r>
              <a:rPr lang="zh-CN" altLang="zh-CN" sz="1800" kern="100" dirty="0">
                <a:latin typeface="Times New Roman" panose="02020603050405020304" pitchFamily="18" charset="0"/>
                <a:cs typeface="Times New Roman" panose="02020603050405020304" pitchFamily="18" charset="0"/>
              </a:rPr>
              <a:t>为</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编码为</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与</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都是禁用码（不会出现）</a:t>
            </a:r>
            <a:endParaRPr lang="en-US" altLang="zh-CN" sz="1800" kern="100" dirty="0" smtClean="0">
              <a:latin typeface="Times New Roman" panose="02020603050405020304" pitchFamily="18" charset="0"/>
              <a:cs typeface="Times New Roman" panose="02020603050405020304" pitchFamily="18" charset="0"/>
            </a:endParaRPr>
          </a:p>
          <a:p>
            <a:pPr marL="360000" lvl="2" algn="just">
              <a:lnSpc>
                <a:spcPct val="130000"/>
              </a:lnSpc>
              <a:spcAft>
                <a:spcPts val="0"/>
              </a:spcAft>
            </a:pPr>
            <a:r>
              <a:rPr lang="zh-CN" altLang="zh-CN" sz="1800" kern="100" dirty="0" smtClean="0">
                <a:latin typeface="Times New Roman" panose="02020603050405020304" pitchFamily="18" charset="0"/>
                <a:cs typeface="Times New Roman" panose="02020603050405020304" pitchFamily="18" charset="0"/>
              </a:rPr>
              <a:t>潜在</a:t>
            </a:r>
            <a:r>
              <a:rPr lang="zh-CN" altLang="zh-CN" sz="1800" kern="100" dirty="0">
                <a:latin typeface="Times New Roman" panose="02020603050405020304" pitchFamily="18" charset="0"/>
                <a:cs typeface="Times New Roman" panose="02020603050405020304" pitchFamily="18" charset="0"/>
              </a:rPr>
              <a:t>的</a:t>
            </a:r>
            <a:r>
              <a:rPr lang="zh-CN" altLang="zh-CN" sz="1800" kern="100" dirty="0" smtClean="0">
                <a:latin typeface="Times New Roman" panose="02020603050405020304" pitchFamily="18" charset="0"/>
                <a:cs typeface="Times New Roman" panose="02020603050405020304" pitchFamily="18" charset="0"/>
              </a:rPr>
              <a:t>问题</a:t>
            </a:r>
            <a:r>
              <a:rPr lang="zh-CN" altLang="en-US" sz="1800" kern="100" dirty="0" smtClean="0">
                <a:latin typeface="Times New Roman" panose="02020603050405020304" pitchFamily="18" charset="0"/>
                <a:cs typeface="Times New Roman" panose="02020603050405020304" pitchFamily="18" charset="0"/>
              </a:rPr>
              <a:t>是</a:t>
            </a:r>
            <a:r>
              <a:rPr lang="zh-CN" altLang="zh-CN" sz="1800" kern="100" dirty="0" smtClean="0">
                <a:latin typeface="Times New Roman" panose="02020603050405020304" pitchFamily="18" charset="0"/>
                <a:cs typeface="Times New Roman" panose="02020603050405020304" pitchFamily="18" charset="0"/>
              </a:rPr>
              <a:t>正确</a:t>
            </a:r>
            <a:r>
              <a:rPr lang="zh-CN" altLang="zh-CN" sz="1800" kern="100" dirty="0">
                <a:latin typeface="Times New Roman" panose="02020603050405020304" pitchFamily="18" charset="0"/>
                <a:cs typeface="Times New Roman" panose="02020603050405020304" pitchFamily="18" charset="0"/>
              </a:rPr>
              <a:t>解调依赖信号的绝对电平。</a:t>
            </a:r>
            <a:r>
              <a:rPr lang="zh-CN" altLang="zh-CN" sz="1800" kern="100" dirty="0" smtClean="0">
                <a:latin typeface="Times New Roman" panose="02020603050405020304" pitchFamily="18" charset="0"/>
                <a:cs typeface="Times New Roman" panose="02020603050405020304" pitchFamily="18" charset="0"/>
              </a:rPr>
              <a:t>但是接收</a:t>
            </a:r>
            <a:r>
              <a:rPr lang="zh-CN" altLang="zh-CN" sz="1800" kern="100" dirty="0">
                <a:latin typeface="Times New Roman" panose="02020603050405020304" pitchFamily="18" charset="0"/>
                <a:cs typeface="Times New Roman" panose="02020603050405020304" pitchFamily="18" charset="0"/>
              </a:rPr>
              <a:t>端用平方环或者</a:t>
            </a:r>
            <a:r>
              <a:rPr lang="en-US" altLang="zh-CN" sz="1800" kern="100" dirty="0">
                <a:latin typeface="Times New Roman" panose="02020603050405020304" pitchFamily="18" charset="0"/>
                <a:cs typeface="Times New Roman" panose="02020603050405020304" pitchFamily="18" charset="0"/>
              </a:rPr>
              <a:t>Costas</a:t>
            </a:r>
            <a:r>
              <a:rPr lang="zh-CN" altLang="zh-CN" sz="1800" kern="100" dirty="0">
                <a:latin typeface="Times New Roman" panose="02020603050405020304" pitchFamily="18" charset="0"/>
                <a:cs typeface="Times New Roman" panose="02020603050405020304" pitchFamily="18" charset="0"/>
              </a:rPr>
              <a:t>环等恢复载波信号解调时存在相位模糊现象，即解调后的信号</a:t>
            </a:r>
            <a:r>
              <a:rPr lang="zh-CN" altLang="zh-CN" sz="1800" kern="100" dirty="0" smtClean="0">
                <a:latin typeface="Times New Roman" panose="02020603050405020304" pitchFamily="18" charset="0"/>
                <a:cs typeface="Times New Roman" panose="02020603050405020304" pitchFamily="18" charset="0"/>
              </a:rPr>
              <a:t>可能反相，</a:t>
            </a:r>
            <a:r>
              <a:rPr lang="zh-CN" altLang="zh-CN" sz="1800" kern="100" dirty="0">
                <a:latin typeface="Times New Roman" panose="02020603050405020304" pitchFamily="18" charset="0"/>
                <a:cs typeface="Times New Roman" panose="02020603050405020304" pitchFamily="18" charset="0"/>
              </a:rPr>
              <a:t>此时解调</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码的信号将</a:t>
            </a:r>
            <a:r>
              <a:rPr lang="zh-CN" altLang="zh-CN" sz="1800" kern="100" dirty="0" smtClean="0">
                <a:latin typeface="Times New Roman" panose="02020603050405020304" pitchFamily="18" charset="0"/>
                <a:cs typeface="Times New Roman" panose="02020603050405020304" pitchFamily="18" charset="0"/>
              </a:rPr>
              <a:t>出现</a:t>
            </a:r>
            <a:r>
              <a:rPr lang="en-US" altLang="zh-CN" sz="1800" kern="100" dirty="0" smtClean="0">
                <a:latin typeface="Times New Roman" panose="02020603050405020304" pitchFamily="18" charset="0"/>
                <a:cs typeface="Times New Roman" panose="02020603050405020304" pitchFamily="18" charset="0"/>
              </a:rPr>
              <a:t>0</a:t>
            </a:r>
            <a:r>
              <a:rPr lang="zh-CN" altLang="en-US"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颠倒</a:t>
            </a:r>
            <a:r>
              <a:rPr lang="zh-CN" altLang="zh-CN" sz="1800" kern="100" dirty="0">
                <a:latin typeface="Times New Roman" panose="02020603050405020304" pitchFamily="18" charset="0"/>
                <a:cs typeface="Times New Roman" panose="02020603050405020304" pitchFamily="18" charset="0"/>
              </a:rPr>
              <a:t>的</a:t>
            </a:r>
            <a:r>
              <a:rPr lang="zh-CN" altLang="zh-CN" sz="1800" kern="100" dirty="0" smtClean="0">
                <a:latin typeface="Times New Roman" panose="02020603050405020304" pitchFamily="18" charset="0"/>
                <a:cs typeface="Times New Roman" panose="02020603050405020304" pitchFamily="18" charset="0"/>
              </a:rPr>
              <a:t>错误</a:t>
            </a:r>
            <a:endParaRPr lang="en-US" altLang="zh-CN" sz="1800" kern="100" dirty="0" smtClean="0">
              <a:latin typeface="Times New Roman" panose="02020603050405020304" pitchFamily="18" charset="0"/>
              <a:cs typeface="Times New Roman" panose="02020603050405020304" pitchFamily="18" charset="0"/>
            </a:endParaRPr>
          </a:p>
          <a:p>
            <a:pPr marL="360000" lvl="2" algn="just">
              <a:lnSpc>
                <a:spcPct val="130000"/>
              </a:lnSpc>
              <a:spcAft>
                <a:spcPts val="0"/>
              </a:spcAft>
            </a:pPr>
            <a:endParaRPr lang="en-US" altLang="zh-CN" sz="1800" kern="100" dirty="0" smtClean="0">
              <a:latin typeface="华文细黑" panose="02010600040101010101" pitchFamily="2" charset="-122"/>
              <a:cs typeface="Times New Roman" panose="02020603050405020304" pitchFamily="18" charset="0"/>
            </a:endParaRPr>
          </a:p>
          <a:p>
            <a:pPr marL="285750" indent="-285750" algn="just">
              <a:lnSpc>
                <a:spcPct val="130000"/>
              </a:lnSpc>
              <a:spcAft>
                <a:spcPts val="0"/>
              </a:spcAft>
              <a:buFont typeface="Arial" panose="020B0604020202020204" pitchFamily="34" charset="0"/>
              <a:buChar char="•"/>
            </a:pPr>
            <a:r>
              <a:rPr lang="zh-CN" altLang="zh-CN" sz="1800" kern="100" dirty="0" smtClean="0">
                <a:latin typeface="Times New Roman" panose="02020603050405020304" pitchFamily="18" charset="0"/>
                <a:cs typeface="Times New Roman" panose="02020603050405020304" pitchFamily="18" charset="0"/>
              </a:rPr>
              <a:t>差分</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smtClean="0">
                <a:latin typeface="Times New Roman" panose="02020603050405020304" pitchFamily="18" charset="0"/>
                <a:cs typeface="Times New Roman" panose="02020603050405020304" pitchFamily="18" charset="0"/>
              </a:rPr>
              <a:t>码</a:t>
            </a:r>
            <a:endParaRPr lang="en-US" altLang="zh-CN" sz="1800" kern="100" dirty="0" smtClean="0">
              <a:latin typeface="Times New Roman" panose="02020603050405020304" pitchFamily="18" charset="0"/>
              <a:cs typeface="Times New Roman" panose="02020603050405020304" pitchFamily="18" charset="0"/>
            </a:endParaRPr>
          </a:p>
          <a:p>
            <a:pPr marL="360000" algn="just">
              <a:lnSpc>
                <a:spcPct val="130000"/>
              </a:lnSpc>
              <a:spcAft>
                <a:spcPts val="0"/>
              </a:spcAft>
            </a:pPr>
            <a:r>
              <a:rPr lang="zh-CN" altLang="zh-CN" sz="1800" kern="100" dirty="0" smtClean="0">
                <a:latin typeface="Times New Roman" panose="02020603050405020304" pitchFamily="18" charset="0"/>
                <a:cs typeface="Times New Roman" panose="02020603050405020304" pitchFamily="18" charset="0"/>
              </a:rPr>
              <a:t>规定</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除了</a:t>
            </a:r>
            <a:r>
              <a:rPr lang="zh-CN" altLang="zh-CN" sz="1800" kern="100" dirty="0">
                <a:latin typeface="Times New Roman" panose="02020603050405020304" pitchFamily="18" charset="0"/>
                <a:cs typeface="Times New Roman" panose="02020603050405020304" pitchFamily="18" charset="0"/>
              </a:rPr>
              <a:t>在码元中点有跳变外，还要在该码元开始的时候有跳变，</a:t>
            </a:r>
            <a:r>
              <a:rPr lang="zh-CN" altLang="zh-CN" sz="1800" kern="100" dirty="0" smtClean="0">
                <a:latin typeface="Times New Roman" panose="02020603050405020304" pitchFamily="18" charset="0"/>
                <a:cs typeface="Times New Roman" panose="02020603050405020304" pitchFamily="18" charset="0"/>
              </a:rPr>
              <a:t>而</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仅</a:t>
            </a:r>
            <a:r>
              <a:rPr lang="zh-CN" altLang="zh-CN" sz="1800" kern="100" dirty="0">
                <a:latin typeface="Times New Roman" panose="02020603050405020304" pitchFamily="18" charset="0"/>
                <a:cs typeface="Times New Roman" panose="02020603050405020304" pitchFamily="18" charset="0"/>
              </a:rPr>
              <a:t>在码元中点有跳</a:t>
            </a:r>
            <a:r>
              <a:rPr lang="zh-CN" altLang="zh-CN" sz="1800" kern="100" dirty="0" smtClean="0">
                <a:latin typeface="Times New Roman" panose="02020603050405020304" pitchFamily="18" charset="0"/>
                <a:cs typeface="Times New Roman" panose="02020603050405020304" pitchFamily="18" charset="0"/>
              </a:rPr>
              <a:t>变</a:t>
            </a:r>
            <a:r>
              <a:rPr lang="zh-CN" altLang="en-US" sz="1800" kern="100" dirty="0" smtClean="0">
                <a:latin typeface="Times New Roman" panose="02020603050405020304" pitchFamily="18" charset="0"/>
                <a:cs typeface="Times New Roman" panose="02020603050405020304" pitchFamily="18" charset="0"/>
              </a:rPr>
              <a:t>，从而避免了相位模糊问题</a:t>
            </a:r>
            <a:r>
              <a:rPr lang="zh-CN" altLang="zh-CN" sz="1800" kern="100" dirty="0" smtClean="0">
                <a:latin typeface="Times New Roman" panose="02020603050405020304" pitchFamily="18" charset="0"/>
                <a:cs typeface="Times New Roman" panose="02020603050405020304" pitchFamily="18" charset="0"/>
              </a:rPr>
              <a:t>。该编码中，</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和</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均可能被编码为</a:t>
            </a:r>
            <a:r>
              <a:rPr lang="en-US" altLang="zh-CN" sz="1800" kern="100" dirty="0" smtClean="0">
                <a:latin typeface="Times New Roman" panose="02020603050405020304" pitchFamily="18" charset="0"/>
                <a:cs typeface="Times New Roman" panose="02020603050405020304" pitchFamily="18" charset="0"/>
              </a:rPr>
              <a:t>10</a:t>
            </a:r>
            <a:r>
              <a:rPr lang="zh-CN" altLang="zh-CN" sz="1800" kern="100" dirty="0" smtClean="0">
                <a:latin typeface="Times New Roman" panose="02020603050405020304" pitchFamily="18" charset="0"/>
                <a:cs typeface="Times New Roman" panose="02020603050405020304" pitchFamily="18" charset="0"/>
              </a:rPr>
              <a:t>或</a:t>
            </a:r>
            <a:r>
              <a:rPr lang="en-US" altLang="zh-CN" sz="1800" kern="100" dirty="0" smtClean="0">
                <a:latin typeface="Times New Roman" panose="02020603050405020304" pitchFamily="18" charset="0"/>
                <a:cs typeface="Times New Roman" panose="02020603050405020304" pitchFamily="18" charset="0"/>
              </a:rPr>
              <a:t>01</a:t>
            </a:r>
            <a:r>
              <a:rPr lang="zh-CN" altLang="zh-CN" sz="1800" kern="100" dirty="0" smtClean="0">
                <a:latin typeface="Times New Roman" panose="02020603050405020304" pitchFamily="18" charset="0"/>
                <a:cs typeface="Times New Roman" panose="02020603050405020304" pitchFamily="18" charset="0"/>
              </a:rPr>
              <a:t>，具体是什么要根据符号前面是否有跳变确定。</a:t>
            </a:r>
            <a:r>
              <a:rPr lang="en-US" altLang="zh-CN" sz="1800" kern="100" dirty="0" smtClean="0">
                <a:latin typeface="Times New Roman" panose="02020603050405020304" pitchFamily="18" charset="0"/>
                <a:cs typeface="Times New Roman" panose="02020603050405020304" pitchFamily="18" charset="0"/>
              </a:rPr>
              <a:t>00</a:t>
            </a:r>
            <a:r>
              <a:rPr lang="zh-CN" altLang="zh-CN" sz="1800" kern="100" dirty="0" smtClean="0">
                <a:latin typeface="Times New Roman" panose="02020603050405020304" pitchFamily="18" charset="0"/>
                <a:cs typeface="Times New Roman" panose="02020603050405020304" pitchFamily="18" charset="0"/>
              </a:rPr>
              <a:t>与</a:t>
            </a:r>
            <a:r>
              <a:rPr lang="en-US" altLang="zh-CN" sz="1800" kern="100" dirty="0" smtClean="0">
                <a:latin typeface="Times New Roman" panose="02020603050405020304" pitchFamily="18" charset="0"/>
                <a:cs typeface="Times New Roman" panose="02020603050405020304" pitchFamily="18" charset="0"/>
              </a:rPr>
              <a:t>11</a:t>
            </a:r>
            <a:r>
              <a:rPr lang="zh-CN" altLang="zh-CN" sz="1800" kern="100" dirty="0" smtClean="0">
                <a:latin typeface="Times New Roman" panose="02020603050405020304" pitchFamily="18" charset="0"/>
                <a:cs typeface="Times New Roman" panose="02020603050405020304" pitchFamily="18" charset="0"/>
              </a:rPr>
              <a:t>都是禁用码</a:t>
            </a:r>
            <a:endParaRPr lang="zh-CN" altLang="zh-CN" sz="1800" kern="100" dirty="0">
              <a:latin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63875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矩形 4"/>
          <p:cNvSpPr/>
          <p:nvPr/>
        </p:nvSpPr>
        <p:spPr>
          <a:xfrm>
            <a:off x="376215" y="2538741"/>
            <a:ext cx="8117767" cy="341632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US" altLang="zh-CN" sz="1800" kern="100" dirty="0" smtClean="0">
                <a:latin typeface="Times New Roman" panose="02020603050405020304" pitchFamily="18" charset="0"/>
                <a:cs typeface="Times New Roman" panose="02020603050405020304" pitchFamily="18" charset="0"/>
              </a:rPr>
              <a:t>Miller</a:t>
            </a:r>
            <a:r>
              <a:rPr lang="zh-CN" altLang="zh-CN" sz="1800" kern="100" dirty="0" smtClean="0">
                <a:latin typeface="Times New Roman" panose="02020603050405020304" pitchFamily="18" charset="0"/>
                <a:cs typeface="Times New Roman" panose="02020603050405020304" pitchFamily="18" charset="0"/>
              </a:rPr>
              <a:t>码</a:t>
            </a:r>
            <a:endParaRPr lang="en-US" altLang="zh-CN" sz="1800" kern="100" dirty="0" smtClean="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在</a:t>
            </a:r>
            <a:r>
              <a:rPr lang="zh-CN" altLang="zh-CN" sz="1800" kern="100" dirty="0">
                <a:latin typeface="Times New Roman" panose="02020603050405020304" pitchFamily="18" charset="0"/>
                <a:cs typeface="Times New Roman" panose="02020603050405020304" pitchFamily="18" charset="0"/>
              </a:rPr>
              <a:t>码元中点有跳变</a:t>
            </a:r>
            <a:r>
              <a:rPr lang="zh-CN" altLang="zh-CN"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在</a:t>
            </a:r>
            <a:r>
              <a:rPr lang="zh-CN" altLang="zh-CN" sz="1800" kern="100" dirty="0">
                <a:latin typeface="Times New Roman" panose="02020603050405020304" pitchFamily="18" charset="0"/>
                <a:cs typeface="Times New Roman" panose="02020603050405020304" pitchFamily="18" charset="0"/>
              </a:rPr>
              <a:t>码元中点无跳变。两个码元交界处有无跳变根据码元内容确定</a:t>
            </a:r>
            <a:r>
              <a:rPr lang="zh-CN" altLang="zh-CN"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的</a:t>
            </a:r>
            <a:r>
              <a:rPr lang="zh-CN" altLang="zh-CN" sz="1800" kern="100" dirty="0">
                <a:latin typeface="Times New Roman" panose="02020603050405020304" pitchFamily="18" charset="0"/>
                <a:cs typeface="Times New Roman" panose="02020603050405020304" pitchFamily="18" charset="0"/>
              </a:rPr>
              <a:t>前后始终无跳变，两</a:t>
            </a:r>
            <a:r>
              <a:rPr lang="zh-CN" altLang="zh-CN" sz="1800" kern="100" dirty="0" smtClean="0">
                <a:latin typeface="Times New Roman" panose="02020603050405020304" pitchFamily="18" charset="0"/>
                <a:cs typeface="Times New Roman" panose="02020603050405020304" pitchFamily="18" charset="0"/>
              </a:rPr>
              <a:t>个</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之间</a:t>
            </a:r>
            <a:r>
              <a:rPr lang="zh-CN" altLang="zh-CN" sz="1800" kern="100" dirty="0">
                <a:latin typeface="Times New Roman" panose="02020603050405020304" pitchFamily="18" charset="0"/>
                <a:cs typeface="Times New Roman" panose="02020603050405020304" pitchFamily="18" charset="0"/>
              </a:rPr>
              <a:t>始终有跳变。该编码方式中</a:t>
            </a:r>
            <a:r>
              <a:rPr lang="en-US" altLang="zh-CN" sz="1800" kern="100" dirty="0">
                <a:latin typeface="Times New Roman" panose="02020603050405020304" pitchFamily="18" charset="0"/>
                <a:cs typeface="Times New Roman" panose="02020603050405020304" pitchFamily="18" charset="0"/>
              </a:rPr>
              <a:t>4</a:t>
            </a:r>
            <a:r>
              <a:rPr lang="zh-CN" altLang="zh-CN" sz="1800" kern="100" dirty="0">
                <a:latin typeface="Times New Roman" panose="02020603050405020304" pitchFamily="18" charset="0"/>
                <a:cs typeface="Times New Roman" panose="02020603050405020304" pitchFamily="18" charset="0"/>
              </a:rPr>
              <a:t>种编码符号均可能出现，没有禁用</a:t>
            </a:r>
            <a:r>
              <a:rPr lang="zh-CN" altLang="zh-CN" sz="1800" kern="100" dirty="0" smtClean="0">
                <a:latin typeface="Times New Roman" panose="02020603050405020304" pitchFamily="18" charset="0"/>
                <a:cs typeface="Times New Roman" panose="02020603050405020304" pitchFamily="18" charset="0"/>
              </a:rPr>
              <a:t>码</a:t>
            </a:r>
            <a:endParaRPr lang="en-US" altLang="zh-CN" sz="1800" kern="100" dirty="0" smtClean="0">
              <a:latin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smtClean="0">
                <a:latin typeface="Times New Roman" panose="02020603050405020304" pitchFamily="18" charset="0"/>
                <a:cs typeface="Times New Roman" panose="02020603050405020304" pitchFamily="18" charset="0"/>
              </a:rPr>
              <a:t>CMI</a:t>
            </a:r>
            <a:r>
              <a:rPr lang="zh-CN" altLang="zh-CN" sz="1800" kern="100" dirty="0" smtClean="0">
                <a:latin typeface="Times New Roman" panose="02020603050405020304" pitchFamily="18" charset="0"/>
                <a:cs typeface="Times New Roman" panose="02020603050405020304" pitchFamily="18" charset="0"/>
              </a:rPr>
              <a:t>码</a:t>
            </a:r>
            <a:endParaRPr lang="en-US" altLang="zh-CN" sz="1800" kern="100" dirty="0" smtClean="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在</a:t>
            </a:r>
            <a:r>
              <a:rPr lang="zh-CN" altLang="zh-CN" sz="1800" kern="100" dirty="0">
                <a:latin typeface="Times New Roman" panose="02020603050405020304" pitchFamily="18" charset="0"/>
                <a:cs typeface="Times New Roman" panose="02020603050405020304" pitchFamily="18" charset="0"/>
              </a:rPr>
              <a:t>码元中点有低电平向高电平的跳变</a:t>
            </a:r>
            <a:r>
              <a:rPr lang="zh-CN" altLang="zh-CN"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在</a:t>
            </a:r>
            <a:r>
              <a:rPr lang="zh-CN" altLang="zh-CN" sz="1800" kern="100" dirty="0">
                <a:latin typeface="Times New Roman" panose="02020603050405020304" pitchFamily="18" charset="0"/>
                <a:cs typeface="Times New Roman" panose="02020603050405020304" pitchFamily="18" charset="0"/>
              </a:rPr>
              <a:t>码元中点无跳变，后面</a:t>
            </a:r>
            <a:r>
              <a:rPr lang="zh-CN" altLang="zh-CN" sz="1800" kern="100" dirty="0" smtClean="0">
                <a:latin typeface="Times New Roman" panose="02020603050405020304" pitchFamily="18" charset="0"/>
                <a:cs typeface="Times New Roman" panose="02020603050405020304" pitchFamily="18" charset="0"/>
              </a:rPr>
              <a:t>的</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与</a:t>
            </a:r>
            <a:r>
              <a:rPr lang="zh-CN" altLang="zh-CN" sz="1800" kern="100" dirty="0">
                <a:latin typeface="Times New Roman" panose="02020603050405020304" pitchFamily="18" charset="0"/>
                <a:cs typeface="Times New Roman" panose="02020603050405020304" pitchFamily="18" charset="0"/>
              </a:rPr>
              <a:t>前面</a:t>
            </a:r>
            <a:r>
              <a:rPr lang="zh-CN" altLang="zh-CN" sz="1800" kern="100" dirty="0" smtClean="0">
                <a:latin typeface="Times New Roman" panose="02020603050405020304" pitchFamily="18" charset="0"/>
                <a:cs typeface="Times New Roman" panose="02020603050405020304" pitchFamily="18" charset="0"/>
              </a:rPr>
              <a:t>的</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始终</a:t>
            </a:r>
            <a:r>
              <a:rPr lang="zh-CN" altLang="zh-CN" sz="1800" kern="100" dirty="0">
                <a:latin typeface="Times New Roman" panose="02020603050405020304" pitchFamily="18" charset="0"/>
                <a:cs typeface="Times New Roman" panose="02020603050405020304" pitchFamily="18" charset="0"/>
              </a:rPr>
              <a:t>用交替的高低电平表示，</a:t>
            </a:r>
            <a:r>
              <a:rPr lang="zh-CN" altLang="zh-CN" sz="1800" kern="100" dirty="0" smtClean="0">
                <a:latin typeface="Times New Roman" panose="02020603050405020304" pitchFamily="18" charset="0"/>
                <a:cs typeface="Times New Roman" panose="02020603050405020304" pitchFamily="18" charset="0"/>
              </a:rPr>
              <a:t>即</a:t>
            </a:r>
            <a:r>
              <a:rPr lang="en-US" altLang="zh-CN" sz="1800" kern="100" dirty="0" smtClean="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被</a:t>
            </a:r>
            <a:r>
              <a:rPr lang="zh-CN" altLang="zh-CN" sz="1800" kern="100" dirty="0">
                <a:latin typeface="Times New Roman" panose="02020603050405020304" pitchFamily="18" charset="0"/>
                <a:cs typeface="Times New Roman" panose="02020603050405020304" pitchFamily="18" charset="0"/>
              </a:rPr>
              <a:t>编码</a:t>
            </a:r>
            <a:r>
              <a:rPr lang="zh-CN" altLang="zh-CN" sz="1800" kern="100" dirty="0" smtClean="0">
                <a:latin typeface="Times New Roman" panose="02020603050405020304" pitchFamily="18" charset="0"/>
                <a:cs typeface="Times New Roman" panose="02020603050405020304" pitchFamily="18" charset="0"/>
              </a:rPr>
              <a:t>为</a:t>
            </a:r>
            <a:r>
              <a:rPr lang="en-US" altLang="zh-CN" sz="1800" kern="100" dirty="0" smtClean="0">
                <a:latin typeface="Times New Roman" panose="02020603050405020304" pitchFamily="18" charset="0"/>
                <a:cs typeface="Times New Roman" panose="02020603050405020304" pitchFamily="18" charset="0"/>
              </a:rPr>
              <a:t>01</a:t>
            </a:r>
            <a:r>
              <a:rPr lang="zh-CN" altLang="zh-CN"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被</a:t>
            </a:r>
            <a:r>
              <a:rPr lang="zh-CN" altLang="zh-CN" sz="1800" kern="100" dirty="0">
                <a:latin typeface="Times New Roman" panose="02020603050405020304" pitchFamily="18" charset="0"/>
                <a:cs typeface="Times New Roman" panose="02020603050405020304" pitchFamily="18" charset="0"/>
              </a:rPr>
              <a:t>交替编码</a:t>
            </a:r>
            <a:r>
              <a:rPr lang="zh-CN" altLang="zh-CN" sz="1800" kern="100" dirty="0" smtClean="0">
                <a:latin typeface="Times New Roman" panose="02020603050405020304" pitchFamily="18" charset="0"/>
                <a:cs typeface="Times New Roman" panose="02020603050405020304" pitchFamily="18" charset="0"/>
              </a:rPr>
              <a:t>为</a:t>
            </a:r>
            <a:r>
              <a:rPr lang="en-US" altLang="zh-CN" sz="1800" kern="100" dirty="0" smtClean="0">
                <a:latin typeface="Times New Roman" panose="02020603050405020304" pitchFamily="18" charset="0"/>
                <a:cs typeface="Times New Roman" panose="02020603050405020304" pitchFamily="18" charset="0"/>
              </a:rPr>
              <a:t>00</a:t>
            </a:r>
            <a:r>
              <a:rPr lang="zh-CN" altLang="zh-CN" sz="1800" kern="100" dirty="0" smtClean="0">
                <a:latin typeface="Times New Roman" panose="02020603050405020304" pitchFamily="18" charset="0"/>
                <a:cs typeface="Times New Roman" panose="02020603050405020304" pitchFamily="18" charset="0"/>
              </a:rPr>
              <a:t>或</a:t>
            </a:r>
            <a:r>
              <a:rPr lang="en-US" altLang="zh-CN" sz="1800" kern="100" dirty="0" smtClean="0">
                <a:latin typeface="Times New Roman" panose="02020603050405020304" pitchFamily="18" charset="0"/>
                <a:cs typeface="Times New Roman" panose="02020603050405020304" pitchFamily="18" charset="0"/>
              </a:rPr>
              <a:t>11</a:t>
            </a:r>
            <a:r>
              <a:rPr lang="zh-CN" altLang="zh-CN"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10</a:t>
            </a:r>
            <a:r>
              <a:rPr lang="zh-CN" altLang="zh-CN" sz="1800" kern="100" dirty="0" smtClean="0">
                <a:latin typeface="Times New Roman" panose="02020603050405020304" pitchFamily="18" charset="0"/>
                <a:cs typeface="Times New Roman" panose="02020603050405020304" pitchFamily="18" charset="0"/>
              </a:rPr>
              <a:t>是</a:t>
            </a:r>
            <a:r>
              <a:rPr lang="zh-CN" altLang="zh-CN" sz="1800" kern="100" dirty="0">
                <a:latin typeface="Times New Roman" panose="02020603050405020304" pitchFamily="18" charset="0"/>
                <a:cs typeface="Times New Roman" panose="02020603050405020304" pitchFamily="18" charset="0"/>
              </a:rPr>
              <a:t>禁用</a:t>
            </a:r>
            <a:r>
              <a:rPr lang="zh-CN" altLang="zh-CN" sz="1800" kern="100" dirty="0" smtClean="0">
                <a:latin typeface="Times New Roman" panose="02020603050405020304" pitchFamily="18" charset="0"/>
                <a:cs typeface="Times New Roman" panose="02020603050405020304" pitchFamily="18" charset="0"/>
              </a:rPr>
              <a:t>的</a:t>
            </a:r>
            <a:endParaRPr lang="zh-CN" altLang="zh-CN" sz="1800" kern="100" dirty="0">
              <a:latin typeface="华文细黑" panose="02010600040101010101" pitchFamily="2"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99588620"/>
              </p:ext>
            </p:extLst>
          </p:nvPr>
        </p:nvGraphicFramePr>
        <p:xfrm>
          <a:off x="2601913" y="976864"/>
          <a:ext cx="4306888" cy="2198688"/>
        </p:xfrm>
        <a:graphic>
          <a:graphicData uri="http://schemas.openxmlformats.org/presentationml/2006/ole">
            <mc:AlternateContent xmlns:mc="http://schemas.openxmlformats.org/markup-compatibility/2006">
              <mc:Choice xmlns:v="urn:schemas-microsoft-com:vml" Requires="v">
                <p:oleObj spid="_x0000_s30801" name="Visio" r:id="rId3" imgW="2076399" imgH="1060147" progId="Visio.Drawing.11">
                  <p:embed/>
                </p:oleObj>
              </mc:Choice>
              <mc:Fallback>
                <p:oleObj name="Visio" r:id="rId3" imgW="2076399" imgH="1060147" progId="Visio.Drawing.11">
                  <p:embed/>
                  <p:pic>
                    <p:nvPicPr>
                      <p:cNvPr id="8" name="对象 7"/>
                      <p:cNvPicPr>
                        <a:picLocks noChangeAspect="1" noChangeArrowheads="1"/>
                      </p:cNvPicPr>
                      <p:nvPr/>
                    </p:nvPicPr>
                    <p:blipFill>
                      <a:blip r:embed="rId4"/>
                      <a:srcRect/>
                      <a:stretch>
                        <a:fillRect/>
                      </a:stretch>
                    </p:blipFill>
                    <p:spPr bwMode="auto">
                      <a:xfrm>
                        <a:off x="2601913" y="976864"/>
                        <a:ext cx="4306888" cy="2198688"/>
                      </a:xfrm>
                      <a:prstGeom prst="rect">
                        <a:avLst/>
                      </a:prstGeom>
                      <a:noFill/>
                    </p:spPr>
                  </p:pic>
                </p:oleObj>
              </mc:Fallback>
            </mc:AlternateContent>
          </a:graphicData>
        </a:graphic>
      </p:graphicFrame>
      <p:sp>
        <p:nvSpPr>
          <p:cNvPr id="8" name="文本框 7"/>
          <p:cNvSpPr txBox="1"/>
          <p:nvPr/>
        </p:nvSpPr>
        <p:spPr>
          <a:xfrm>
            <a:off x="376215" y="585313"/>
            <a:ext cx="8104610" cy="45724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smtClean="0"/>
              <a:t>Miller</a:t>
            </a:r>
            <a:r>
              <a:rPr lang="zh-CN" altLang="en-US" sz="1800" dirty="0" smtClean="0"/>
              <a:t>码与</a:t>
            </a:r>
            <a:r>
              <a:rPr lang="en-US" altLang="zh-CN" sz="1800" dirty="0" smtClean="0"/>
              <a:t>CMI</a:t>
            </a:r>
            <a:r>
              <a:rPr lang="zh-CN" altLang="en-US" sz="1800" dirty="0" smtClean="0"/>
              <a:t>码</a:t>
            </a:r>
            <a:endParaRPr lang="zh-CN" altLang="en-US" sz="1800" dirty="0"/>
          </a:p>
        </p:txBody>
      </p:sp>
    </p:spTree>
    <p:extLst>
      <p:ext uri="{BB962C8B-B14F-4D97-AF65-F5344CB8AC3E}">
        <p14:creationId xmlns:p14="http://schemas.microsoft.com/office/powerpoint/2010/main" val="3834458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401283" y="473646"/>
            <a:ext cx="8464905" cy="507831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800" dirty="0" smtClean="0"/>
              <a:t>码元同步信号的相位校正</a:t>
            </a:r>
            <a:endParaRPr lang="en-US" altLang="zh-CN" sz="1800" dirty="0"/>
          </a:p>
          <a:p>
            <a:pPr marL="342900" indent="-342900">
              <a:lnSpc>
                <a:spcPct val="150000"/>
              </a:lnSpc>
              <a:buFont typeface="Arial" panose="020B0604020202020204" pitchFamily="34" charset="0"/>
              <a:buChar char="•"/>
            </a:pPr>
            <a:r>
              <a:rPr lang="en-US" altLang="zh-CN" sz="1800" dirty="0" smtClean="0"/>
              <a:t>Manchester</a:t>
            </a:r>
            <a:r>
              <a:rPr lang="zh-CN" altLang="en-US" sz="1800" dirty="0" smtClean="0"/>
              <a:t>码、</a:t>
            </a:r>
            <a:r>
              <a:rPr lang="en-US" altLang="zh-CN" sz="1800" dirty="0" smtClean="0"/>
              <a:t>Miller</a:t>
            </a:r>
            <a:r>
              <a:rPr lang="zh-CN" altLang="en-US" sz="1800" dirty="0" smtClean="0"/>
              <a:t>码</a:t>
            </a:r>
            <a:r>
              <a:rPr lang="zh-CN" altLang="zh-CN" sz="1800" dirty="0"/>
              <a:t>与</a:t>
            </a:r>
            <a:r>
              <a:rPr lang="en-US" altLang="zh-CN" sz="1800" dirty="0"/>
              <a:t>CMI</a:t>
            </a:r>
            <a:r>
              <a:rPr lang="zh-CN" altLang="zh-CN" sz="1800" dirty="0"/>
              <a:t>码</a:t>
            </a:r>
            <a:r>
              <a:rPr lang="zh-CN" altLang="en-US" sz="1800" dirty="0" smtClean="0"/>
              <a:t>等码型，</a:t>
            </a:r>
            <a:r>
              <a:rPr lang="zh-CN" altLang="zh-CN" sz="1800" dirty="0" smtClean="0"/>
              <a:t>每个</a:t>
            </a:r>
            <a:r>
              <a:rPr lang="zh-CN" altLang="zh-CN" sz="1800" dirty="0"/>
              <a:t>原始码元被扩展成两位，获得的同步信号是码元同步信号的</a:t>
            </a:r>
            <a:r>
              <a:rPr lang="en-US" altLang="zh-CN" sz="1800" dirty="0"/>
              <a:t>2</a:t>
            </a:r>
            <a:r>
              <a:rPr lang="zh-CN" altLang="zh-CN" sz="1800" dirty="0"/>
              <a:t>倍频，所以存在一个如何将解码后的</a:t>
            </a:r>
            <a:r>
              <a:rPr lang="en-US" altLang="zh-CN" sz="1800" dirty="0"/>
              <a:t>bit</a:t>
            </a:r>
            <a:r>
              <a:rPr lang="zh-CN" altLang="zh-CN" sz="1800" dirty="0"/>
              <a:t>流正确组合成原始的数据的</a:t>
            </a:r>
            <a:r>
              <a:rPr lang="zh-CN" altLang="zh-CN" sz="1800" dirty="0" smtClean="0"/>
              <a:t>问题</a:t>
            </a:r>
            <a:r>
              <a:rPr lang="zh-CN" altLang="en-US" sz="1800" dirty="0" smtClean="0"/>
              <a:t>，称为</a:t>
            </a:r>
            <a:r>
              <a:rPr lang="zh-CN" altLang="zh-CN" sz="1800" dirty="0" smtClean="0"/>
              <a:t>同步信号</a:t>
            </a:r>
            <a:r>
              <a:rPr lang="zh-CN" altLang="zh-CN" sz="1800" dirty="0"/>
              <a:t>的相位</a:t>
            </a:r>
            <a:r>
              <a:rPr lang="zh-CN" altLang="zh-CN" sz="1800" dirty="0" smtClean="0"/>
              <a:t>校正</a:t>
            </a:r>
            <a:endParaRPr lang="en-US" altLang="zh-CN" sz="1800" dirty="0" smtClean="0"/>
          </a:p>
          <a:p>
            <a:pPr marL="342900" indent="-342900">
              <a:lnSpc>
                <a:spcPct val="150000"/>
              </a:lnSpc>
              <a:buFont typeface="Arial" panose="020B0604020202020204" pitchFamily="34" charset="0"/>
              <a:buChar char="•"/>
            </a:pPr>
            <a:r>
              <a:rPr lang="en-US" altLang="zh-CN" sz="1800" dirty="0"/>
              <a:t>Manchester</a:t>
            </a:r>
            <a:r>
              <a:rPr lang="zh-CN" altLang="zh-CN" sz="1800" dirty="0"/>
              <a:t>码、差分</a:t>
            </a:r>
            <a:r>
              <a:rPr lang="en-US" altLang="zh-CN" sz="1800" dirty="0"/>
              <a:t>Manchester</a:t>
            </a:r>
            <a:r>
              <a:rPr lang="zh-CN" altLang="zh-CN" sz="1800" dirty="0"/>
              <a:t>码与</a:t>
            </a:r>
            <a:r>
              <a:rPr lang="en-US" altLang="zh-CN" sz="1800" dirty="0"/>
              <a:t>CMI</a:t>
            </a:r>
            <a:r>
              <a:rPr lang="zh-CN" altLang="zh-CN" sz="1800" dirty="0"/>
              <a:t>码均存在禁止码</a:t>
            </a:r>
            <a:r>
              <a:rPr lang="zh-CN" altLang="zh-CN" sz="1800" dirty="0" smtClean="0"/>
              <a:t>，可以</a:t>
            </a:r>
            <a:r>
              <a:rPr lang="zh-CN" altLang="zh-CN" sz="1800" dirty="0"/>
              <a:t>利用这一点来获得正确的同步相位：开始时是任意两位组合，然后检查组合后的信号是否合法，若出现禁止码则将组合偏移一位，以后就是正确的组合相位了。为了便于检测，</a:t>
            </a:r>
            <a:r>
              <a:rPr lang="zh-CN" altLang="zh-CN" sz="1800" dirty="0" smtClean="0"/>
              <a:t>每个</a:t>
            </a:r>
            <a:r>
              <a:rPr lang="zh-CN" altLang="en-US" sz="1800" dirty="0" smtClean="0"/>
              <a:t>数据</a:t>
            </a:r>
            <a:r>
              <a:rPr lang="zh-CN" altLang="zh-CN" sz="1800" dirty="0" smtClean="0"/>
              <a:t>帧</a:t>
            </a:r>
            <a:r>
              <a:rPr lang="zh-CN" altLang="zh-CN" sz="1800" dirty="0"/>
              <a:t>的开始部分发送几个特定的</a:t>
            </a:r>
            <a:r>
              <a:rPr lang="zh-CN" altLang="zh-CN" sz="1800" dirty="0" smtClean="0"/>
              <a:t>同步</a:t>
            </a:r>
            <a:r>
              <a:rPr lang="zh-CN" altLang="en-US" sz="1800" dirty="0" smtClean="0"/>
              <a:t>头数据</a:t>
            </a:r>
            <a:r>
              <a:rPr lang="zh-CN" altLang="zh-CN" sz="1800" dirty="0" smtClean="0"/>
              <a:t>，</a:t>
            </a:r>
            <a:r>
              <a:rPr lang="zh-CN" altLang="zh-CN" sz="1800" dirty="0"/>
              <a:t>例如</a:t>
            </a:r>
            <a:r>
              <a:rPr lang="en-US" altLang="zh-CN" sz="1800" dirty="0"/>
              <a:t>Manchester</a:t>
            </a:r>
            <a:r>
              <a:rPr lang="zh-CN" altLang="zh-CN" sz="1800" dirty="0"/>
              <a:t>码可以</a:t>
            </a:r>
            <a:r>
              <a:rPr lang="zh-CN" altLang="zh-CN" sz="1800" dirty="0" smtClean="0"/>
              <a:t>发送</a:t>
            </a:r>
            <a:r>
              <a:rPr lang="en-US" altLang="zh-CN" sz="1800" dirty="0" smtClean="0"/>
              <a:t>1010</a:t>
            </a:r>
            <a:r>
              <a:rPr lang="zh-CN" altLang="zh-CN" sz="1800" dirty="0" smtClean="0"/>
              <a:t>作为同步</a:t>
            </a:r>
            <a:r>
              <a:rPr lang="zh-CN" altLang="en-US" sz="1800" dirty="0" smtClean="0"/>
              <a:t>头</a:t>
            </a:r>
            <a:r>
              <a:rPr lang="zh-CN" altLang="zh-CN" sz="1800" dirty="0" smtClean="0"/>
              <a:t>信号</a:t>
            </a:r>
            <a:r>
              <a:rPr lang="zh-CN" altLang="zh-CN" sz="1800" dirty="0"/>
              <a:t>，</a:t>
            </a:r>
            <a:r>
              <a:rPr lang="en-US" altLang="zh-CN" sz="1800" dirty="0"/>
              <a:t>CMI</a:t>
            </a:r>
            <a:r>
              <a:rPr lang="zh-CN" altLang="zh-CN" sz="1800" dirty="0"/>
              <a:t>码可以</a:t>
            </a:r>
            <a:r>
              <a:rPr lang="zh-CN" altLang="zh-CN" sz="1800" dirty="0" smtClean="0"/>
              <a:t>发送</a:t>
            </a:r>
            <a:r>
              <a:rPr lang="en-US" altLang="zh-CN" sz="1800" dirty="0" smtClean="0"/>
              <a:t>0000</a:t>
            </a:r>
            <a:r>
              <a:rPr lang="zh-CN" altLang="zh-CN" sz="1800" dirty="0" smtClean="0"/>
              <a:t>作为同步</a:t>
            </a:r>
            <a:r>
              <a:rPr lang="zh-CN" altLang="en-US" sz="1800" dirty="0" smtClean="0"/>
              <a:t>头</a:t>
            </a:r>
            <a:r>
              <a:rPr lang="zh-CN" altLang="zh-CN" sz="1800" dirty="0" smtClean="0"/>
              <a:t>信号</a:t>
            </a:r>
            <a:r>
              <a:rPr lang="zh-CN" altLang="en-US" sz="1800" dirty="0" smtClean="0"/>
              <a:t>。</a:t>
            </a:r>
            <a:endParaRPr lang="en-US" altLang="zh-CN" sz="1800" dirty="0" smtClean="0"/>
          </a:p>
          <a:p>
            <a:pPr marL="360000" lvl="1">
              <a:lnSpc>
                <a:spcPct val="150000"/>
              </a:lnSpc>
            </a:pPr>
            <a:r>
              <a:rPr lang="zh-CN" altLang="en-US" sz="1800" dirty="0" smtClean="0"/>
              <a:t>以</a:t>
            </a:r>
            <a:r>
              <a:rPr lang="en-US" altLang="zh-CN" sz="1800" dirty="0"/>
              <a:t>Manchester</a:t>
            </a:r>
            <a:r>
              <a:rPr lang="zh-CN" altLang="zh-CN" sz="1800" dirty="0" smtClean="0"/>
              <a:t>码</a:t>
            </a:r>
            <a:r>
              <a:rPr lang="zh-CN" altLang="en-US" sz="1800" dirty="0" smtClean="0"/>
              <a:t>为例，同步头</a:t>
            </a:r>
            <a:r>
              <a:rPr lang="en-US" altLang="zh-CN" sz="1800" dirty="0" smtClean="0"/>
              <a:t>10</a:t>
            </a:r>
            <a:r>
              <a:rPr lang="zh-CN" altLang="en-US" sz="1800" dirty="0" smtClean="0"/>
              <a:t>被扩展为</a:t>
            </a:r>
            <a:r>
              <a:rPr lang="en-US" altLang="zh-CN" sz="1800" dirty="0" smtClean="0"/>
              <a:t>10/01/10/01</a:t>
            </a:r>
            <a:r>
              <a:rPr lang="zh-CN" altLang="en-US" sz="1800" dirty="0" smtClean="0"/>
              <a:t>（参见前面的波形图），若接收时发生错位，将组合为</a:t>
            </a:r>
            <a:r>
              <a:rPr lang="en-US" altLang="zh-CN" sz="1800" dirty="0" smtClean="0"/>
              <a:t>1/00/11/00/1x</a:t>
            </a:r>
            <a:r>
              <a:rPr lang="zh-CN" altLang="en-US" sz="1800" dirty="0" smtClean="0"/>
              <a:t>，其中</a:t>
            </a:r>
            <a:r>
              <a:rPr lang="en-US" altLang="zh-CN" sz="1800" dirty="0" smtClean="0"/>
              <a:t>00</a:t>
            </a:r>
            <a:r>
              <a:rPr lang="zh-CN" altLang="en-US" sz="1800" dirty="0" smtClean="0"/>
              <a:t>与</a:t>
            </a:r>
            <a:r>
              <a:rPr lang="en-US" altLang="zh-CN" sz="1800" dirty="0" smtClean="0"/>
              <a:t>11</a:t>
            </a:r>
            <a:r>
              <a:rPr lang="zh-CN" altLang="en-US" sz="1800" dirty="0" smtClean="0"/>
              <a:t>均为禁止码，所以就知道错位了，将下一位丢弃后</a:t>
            </a:r>
            <a:r>
              <a:rPr lang="zh-CN" altLang="en-US" sz="1800" dirty="0"/>
              <a:t>的</a:t>
            </a:r>
            <a:r>
              <a:rPr lang="zh-CN" altLang="en-US" sz="1800" dirty="0" smtClean="0"/>
              <a:t>组合就是正确的</a:t>
            </a:r>
            <a:endParaRPr lang="zh-CN" altLang="en-US" sz="1800" dirty="0"/>
          </a:p>
        </p:txBody>
      </p:sp>
    </p:spTree>
    <p:extLst>
      <p:ext uri="{BB962C8B-B14F-4D97-AF65-F5344CB8AC3E}">
        <p14:creationId xmlns:p14="http://schemas.microsoft.com/office/powerpoint/2010/main" val="4211473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336745" y="454729"/>
            <a:ext cx="8392815" cy="1754326"/>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CN" sz="1800" dirty="0">
                <a:latin typeface="Times New Roman" panose="02020603050405020304" pitchFamily="18" charset="0"/>
              </a:rPr>
              <a:t>Miller</a:t>
            </a:r>
            <a:r>
              <a:rPr lang="zh-CN" altLang="zh-CN" sz="1800" dirty="0">
                <a:latin typeface="Times New Roman" panose="02020603050405020304" pitchFamily="18" charset="0"/>
                <a:cs typeface="Times New Roman" panose="02020603050405020304" pitchFamily="18" charset="0"/>
              </a:rPr>
              <a:t>码不存在禁止码，所以不能用上述方法得到正确的同步</a:t>
            </a:r>
            <a:r>
              <a:rPr lang="zh-CN" altLang="zh-CN" sz="1800" dirty="0" smtClean="0">
                <a:latin typeface="Times New Roman" panose="02020603050405020304" pitchFamily="18" charset="0"/>
                <a:cs typeface="Times New Roman" panose="02020603050405020304" pitchFamily="18" charset="0"/>
              </a:rPr>
              <a:t>相位</a:t>
            </a:r>
            <a:endParaRPr lang="en-US" altLang="zh-CN" sz="1800" dirty="0" smtClean="0">
              <a:latin typeface="Times New Roman" panose="02020603050405020304" pitchFamily="18" charset="0"/>
              <a:cs typeface="Times New Roman" panose="02020603050405020304" pitchFamily="18" charset="0"/>
            </a:endParaRPr>
          </a:p>
          <a:p>
            <a:pPr marL="324000" lvl="1">
              <a:lnSpc>
                <a:spcPct val="150000"/>
              </a:lnSpc>
            </a:pPr>
            <a:r>
              <a:rPr lang="zh-CN" altLang="zh-CN" sz="1800" dirty="0" smtClean="0">
                <a:latin typeface="Times New Roman" panose="02020603050405020304" pitchFamily="18" charset="0"/>
                <a:cs typeface="Times New Roman" panose="02020603050405020304" pitchFamily="18" charset="0"/>
              </a:rPr>
              <a:t>该</a:t>
            </a:r>
            <a:r>
              <a:rPr lang="zh-CN" altLang="zh-CN" sz="1800" dirty="0">
                <a:latin typeface="Times New Roman" panose="02020603050405020304" pitchFamily="18" charset="0"/>
                <a:cs typeface="Times New Roman" panose="02020603050405020304" pitchFamily="18" charset="0"/>
              </a:rPr>
              <a:t>编码有一个特征：在原始码元为“</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”情况下会出现最长的跳变间隔，此时两个跳变之间的间隔是</a:t>
            </a:r>
            <a:r>
              <a:rPr lang="en-US" altLang="zh-CN" sz="1800" dirty="0">
                <a:latin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个码元的宽度，可以利用这一点确定接收信号的同步</a:t>
            </a:r>
            <a:r>
              <a:rPr lang="zh-CN" altLang="zh-CN" sz="1800" dirty="0" smtClean="0">
                <a:latin typeface="Times New Roman" panose="02020603050405020304" pitchFamily="18" charset="0"/>
                <a:cs typeface="Times New Roman" panose="02020603050405020304" pitchFamily="18" charset="0"/>
              </a:rPr>
              <a:t>相位</a:t>
            </a:r>
            <a:endParaRPr lang="en-US" altLang="zh-CN" sz="1800" dirty="0" smtClean="0">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245018108"/>
              </p:ext>
            </p:extLst>
          </p:nvPr>
        </p:nvGraphicFramePr>
        <p:xfrm>
          <a:off x="3375824" y="1857083"/>
          <a:ext cx="5092572" cy="3474170"/>
        </p:xfrm>
        <a:graphic>
          <a:graphicData uri="http://schemas.openxmlformats.org/presentationml/2006/ole">
            <mc:AlternateContent xmlns:mc="http://schemas.openxmlformats.org/markup-compatibility/2006">
              <mc:Choice xmlns:v="urn:schemas-microsoft-com:vml" Requires="v">
                <p:oleObj spid="_x0000_s49176" name="Visio" r:id="rId3" imgW="3003155" imgH="2050670" progId="Visio.Drawing.15">
                  <p:embed/>
                </p:oleObj>
              </mc:Choice>
              <mc:Fallback>
                <p:oleObj name="Visio" r:id="rId3" imgW="3003155" imgH="2050670" progId="Visio.Drawing.15">
                  <p:embed/>
                  <p:pic>
                    <p:nvPicPr>
                      <p:cNvPr id="7" name="对象 6"/>
                      <p:cNvPicPr>
                        <a:picLocks noChangeAspect="1" noChangeArrowheads="1"/>
                      </p:cNvPicPr>
                      <p:nvPr/>
                    </p:nvPicPr>
                    <p:blipFill>
                      <a:blip r:embed="rId4"/>
                      <a:srcRect/>
                      <a:stretch>
                        <a:fillRect/>
                      </a:stretch>
                    </p:blipFill>
                    <p:spPr bwMode="auto">
                      <a:xfrm>
                        <a:off x="3375824" y="1857083"/>
                        <a:ext cx="5092572" cy="3474170"/>
                      </a:xfrm>
                      <a:prstGeom prst="rect">
                        <a:avLst/>
                      </a:prstGeom>
                      <a:noFill/>
                    </p:spPr>
                  </p:pic>
                </p:oleObj>
              </mc:Fallback>
            </mc:AlternateContent>
          </a:graphicData>
        </a:graphic>
      </p:graphicFrame>
      <p:sp>
        <p:nvSpPr>
          <p:cNvPr id="8" name="矩形 7"/>
          <p:cNvSpPr/>
          <p:nvPr/>
        </p:nvSpPr>
        <p:spPr>
          <a:xfrm>
            <a:off x="336745" y="2083360"/>
            <a:ext cx="2979874" cy="3416320"/>
          </a:xfrm>
          <a:prstGeom prst="rect">
            <a:avLst/>
          </a:prstGeom>
        </p:spPr>
        <p:txBody>
          <a:bodyPr wrap="square">
            <a:spAutoFit/>
          </a:bodyPr>
          <a:lstStyle/>
          <a:p>
            <a:pPr marL="324000" lvl="1">
              <a:lnSpc>
                <a:spcPct val="150000"/>
              </a:lnSpc>
            </a:pPr>
            <a:r>
              <a:rPr lang="zh-CN" altLang="zh-CN" sz="1800" dirty="0">
                <a:latin typeface="Times New Roman" panose="02020603050405020304" pitchFamily="18" charset="0"/>
                <a:cs typeface="Times New Roman" panose="02020603050405020304" pitchFamily="18" charset="0"/>
              </a:rPr>
              <a:t>在每个信号帧的开始部分发送包含“</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”的同步信号</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对输入信号的脉冲间隔计数，当计数到第</a:t>
            </a:r>
            <a:r>
              <a:rPr lang="en-US" altLang="zh-CN" sz="1800" dirty="0">
                <a:latin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个脉冲间隔时产生复位脉冲将同步信号强制清零，从而保证同步信号具有正确的相位</a:t>
            </a:r>
            <a:endParaRPr lang="zh-CN" altLang="en-US" sz="1800" dirty="0"/>
          </a:p>
        </p:txBody>
      </p:sp>
      <p:sp>
        <p:nvSpPr>
          <p:cNvPr id="6" name="文本框 5"/>
          <p:cNvSpPr txBox="1"/>
          <p:nvPr/>
        </p:nvSpPr>
        <p:spPr>
          <a:xfrm>
            <a:off x="3210268" y="5474393"/>
            <a:ext cx="5387723" cy="738664"/>
          </a:xfrm>
          <a:prstGeom prst="rect">
            <a:avLst/>
          </a:prstGeom>
          <a:noFill/>
        </p:spPr>
        <p:txBody>
          <a:bodyPr wrap="square" rtlCol="0">
            <a:spAutoFit/>
          </a:bodyPr>
          <a:lstStyle/>
          <a:p>
            <a:r>
              <a:rPr lang="zh-CN" altLang="en-US" sz="1400" dirty="0" smtClean="0">
                <a:latin typeface="楷体" panose="02010609060101010101" pitchFamily="49" charset="-122"/>
                <a:ea typeface="楷体" panose="02010609060101010101" pitchFamily="49" charset="-122"/>
              </a:rPr>
              <a:t>说明：边沿脉冲是锁相环的输入信号。计数器的</a:t>
            </a:r>
            <a:r>
              <a:rPr lang="en-US" altLang="zh-CN" sz="1400" dirty="0" smtClean="0">
                <a:latin typeface="楷体" panose="02010609060101010101" pitchFamily="49" charset="-122"/>
                <a:ea typeface="楷体" panose="02010609060101010101" pitchFamily="49" charset="-122"/>
              </a:rPr>
              <a:t>CLK</a:t>
            </a:r>
            <a:r>
              <a:rPr lang="zh-CN" altLang="en-US" sz="1400" dirty="0" smtClean="0">
                <a:latin typeface="楷体" panose="02010609060101010101" pitchFamily="49" charset="-122"/>
                <a:ea typeface="楷体" panose="02010609060101010101" pitchFamily="49" charset="-122"/>
              </a:rPr>
              <a:t>是锁相环的输出，每次都从边沿脉冲开始计数。</a:t>
            </a:r>
            <a:r>
              <a:rPr lang="zh-CN" altLang="en-US" sz="1400" dirty="0">
                <a:latin typeface="楷体" panose="02010609060101010101" pitchFamily="49" charset="-122"/>
                <a:ea typeface="楷体" panose="02010609060101010101" pitchFamily="49" charset="-122"/>
              </a:rPr>
              <a:t>锁相环的输出二分频得到</a:t>
            </a:r>
            <a:r>
              <a:rPr lang="zh-CN" altLang="en-US" sz="1400" dirty="0" smtClean="0">
                <a:latin typeface="楷体" panose="02010609060101010101" pitchFamily="49" charset="-122"/>
                <a:ea typeface="楷体" panose="02010609060101010101" pitchFamily="49" charset="-122"/>
              </a:rPr>
              <a:t>同步信号，复位脉冲是同步信号的异步复位信号。</a:t>
            </a:r>
            <a:endParaRPr lang="zh-CN" altLang="en-US" sz="1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80733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388127" y="467068"/>
            <a:ext cx="8282227" cy="92333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smtClean="0"/>
              <a:t>多电平编码的例子</a:t>
            </a:r>
            <a:r>
              <a:rPr lang="en-US" altLang="zh-CN" sz="1800" dirty="0" smtClean="0"/>
              <a:t>——PAM</a:t>
            </a:r>
          </a:p>
          <a:p>
            <a:pPr marL="342900" indent="-342900">
              <a:lnSpc>
                <a:spcPct val="150000"/>
              </a:lnSpc>
              <a:buFont typeface="Arial" panose="020B0604020202020204" pitchFamily="34" charset="0"/>
              <a:buChar char="•"/>
            </a:pPr>
            <a:r>
              <a:rPr lang="en-US" altLang="zh-CN" sz="1800" dirty="0" smtClean="0"/>
              <a:t>PAM(Pulse-Amplitude Modulation) </a:t>
            </a:r>
            <a:r>
              <a:rPr lang="zh-CN" altLang="en-US" sz="1800" dirty="0" smtClean="0"/>
              <a:t>包含</a:t>
            </a:r>
            <a:r>
              <a:rPr lang="en-US" altLang="zh-CN" sz="1800" dirty="0" smtClean="0"/>
              <a:t>2</a:t>
            </a:r>
            <a:r>
              <a:rPr lang="en-US" altLang="zh-CN" sz="1800" baseline="30000" dirty="0" smtClean="0"/>
              <a:t>k</a:t>
            </a:r>
            <a:r>
              <a:rPr lang="zh-CN" altLang="en-US" sz="1800" dirty="0" smtClean="0"/>
              <a:t>个</a:t>
            </a:r>
            <a:r>
              <a:rPr lang="zh-CN" altLang="en-US" sz="1800" dirty="0"/>
              <a:t>电平，一个码元</a:t>
            </a:r>
            <a:r>
              <a:rPr lang="zh-CN" altLang="en-US" sz="1800" dirty="0" smtClean="0"/>
              <a:t>包含</a:t>
            </a:r>
            <a:r>
              <a:rPr lang="en-US" altLang="zh-CN" sz="1800" dirty="0" smtClean="0"/>
              <a:t>k</a:t>
            </a:r>
            <a:r>
              <a:rPr lang="zh-CN" altLang="en-US" sz="1800" dirty="0" smtClean="0"/>
              <a:t>比特信息</a:t>
            </a:r>
            <a:endParaRPr lang="en-US" altLang="zh-CN" sz="1800" dirty="0"/>
          </a:p>
        </p:txBody>
      </p:sp>
      <p:sp>
        <p:nvSpPr>
          <p:cNvPr id="6" name="文本框 5"/>
          <p:cNvSpPr txBox="1"/>
          <p:nvPr/>
        </p:nvSpPr>
        <p:spPr>
          <a:xfrm>
            <a:off x="388127" y="1248686"/>
            <a:ext cx="4466745" cy="37812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a:t>右图是</a:t>
            </a:r>
            <a:r>
              <a:rPr lang="en-US" altLang="zh-CN" sz="1800" dirty="0"/>
              <a:t>PAM4</a:t>
            </a:r>
            <a:r>
              <a:rPr lang="zh-CN" altLang="en-US" sz="1800" dirty="0"/>
              <a:t>的示意图</a:t>
            </a:r>
            <a:endParaRPr lang="en-US" altLang="zh-CN" sz="1800" dirty="0"/>
          </a:p>
          <a:p>
            <a:pPr marL="342900" indent="-342900">
              <a:lnSpc>
                <a:spcPct val="150000"/>
              </a:lnSpc>
              <a:buFont typeface="Arial" panose="020B0604020202020204" pitchFamily="34" charset="0"/>
              <a:buChar char="•"/>
            </a:pPr>
            <a:r>
              <a:rPr lang="en-US" altLang="zh-CN" sz="1800" dirty="0"/>
              <a:t>A</a:t>
            </a:r>
            <a:r>
              <a:rPr lang="zh-CN" altLang="en-US" sz="1800" dirty="0"/>
              <a:t>、</a:t>
            </a:r>
            <a:r>
              <a:rPr lang="en-US" altLang="zh-CN" sz="1800" dirty="0"/>
              <a:t>B</a:t>
            </a:r>
            <a:r>
              <a:rPr lang="zh-CN" altLang="en-US" sz="1800" dirty="0"/>
              <a:t>是两路二进制比特信号，如果满足</a:t>
            </a:r>
            <a:r>
              <a:rPr lang="en-US" altLang="zh-CN" sz="1800" dirty="0"/>
              <a:t>A</a:t>
            </a:r>
            <a:r>
              <a:rPr lang="zh-CN" altLang="en-US" sz="1800" dirty="0"/>
              <a:t>信号幅度是</a:t>
            </a:r>
            <a:r>
              <a:rPr lang="en-US" altLang="zh-CN" sz="1800" dirty="0"/>
              <a:t>B</a:t>
            </a:r>
            <a:r>
              <a:rPr lang="zh-CN" altLang="en-US" sz="1800" dirty="0"/>
              <a:t>信号幅度的</a:t>
            </a:r>
            <a:r>
              <a:rPr lang="en-US" altLang="zh-CN" sz="1800" dirty="0"/>
              <a:t>2</a:t>
            </a:r>
            <a:r>
              <a:rPr lang="zh-CN" altLang="en-US" sz="1800" dirty="0"/>
              <a:t>倍，简单的叠加就可以得到</a:t>
            </a:r>
            <a:r>
              <a:rPr lang="en-US" altLang="zh-CN" sz="1800" dirty="0"/>
              <a:t>PAM4</a:t>
            </a:r>
            <a:r>
              <a:rPr lang="zh-CN" altLang="en-US" sz="1800" dirty="0" smtClean="0"/>
              <a:t>信号</a:t>
            </a:r>
            <a:endParaRPr lang="en-US" altLang="zh-CN" sz="1800" dirty="0" smtClean="0"/>
          </a:p>
          <a:p>
            <a:pPr marL="342900" indent="-342900">
              <a:lnSpc>
                <a:spcPct val="150000"/>
              </a:lnSpc>
              <a:buFont typeface="Arial" panose="020B0604020202020204" pitchFamily="34" charset="0"/>
              <a:buChar char="•"/>
            </a:pPr>
            <a:r>
              <a:rPr lang="zh-CN" altLang="zh-CN" sz="1800" dirty="0" smtClean="0"/>
              <a:t>将</a:t>
            </a:r>
            <a:r>
              <a:rPr lang="en-US" altLang="zh-CN" sz="1800" dirty="0"/>
              <a:t>PAM4</a:t>
            </a:r>
            <a:r>
              <a:rPr lang="zh-CN" altLang="zh-CN" sz="1800" dirty="0"/>
              <a:t>波形按照幅度分成</a:t>
            </a:r>
            <a:r>
              <a:rPr lang="en-US" altLang="zh-CN" sz="1800" dirty="0"/>
              <a:t>4</a:t>
            </a:r>
            <a:r>
              <a:rPr lang="zh-CN" altLang="zh-CN" sz="1800" dirty="0"/>
              <a:t>个区间，在最大幅度的</a:t>
            </a:r>
            <a:r>
              <a:rPr lang="en-US" altLang="zh-CN" sz="1800" dirty="0"/>
              <a:t>0.25</a:t>
            </a:r>
            <a:r>
              <a:rPr lang="zh-CN" altLang="zh-CN" sz="1800" dirty="0"/>
              <a:t>、</a:t>
            </a:r>
            <a:r>
              <a:rPr lang="en-US" altLang="zh-CN" sz="1800" dirty="0"/>
              <a:t>0.5</a:t>
            </a:r>
            <a:r>
              <a:rPr lang="zh-CN" altLang="zh-CN" sz="1800" dirty="0"/>
              <a:t>和</a:t>
            </a:r>
            <a:r>
              <a:rPr lang="en-US" altLang="zh-CN" sz="1800" dirty="0"/>
              <a:t>0.75</a:t>
            </a:r>
            <a:r>
              <a:rPr lang="zh-CN" altLang="zh-CN" sz="1800" dirty="0"/>
              <a:t>位置用比较器比较，可以得到</a:t>
            </a:r>
            <a:r>
              <a:rPr lang="en-US" altLang="zh-CN" sz="1800" dirty="0"/>
              <a:t>4</a:t>
            </a:r>
            <a:r>
              <a:rPr lang="zh-CN" altLang="zh-CN" sz="1800" dirty="0"/>
              <a:t>个输出，将它们用一个编码电路恢复成</a:t>
            </a:r>
            <a:r>
              <a:rPr lang="en-US" altLang="zh-CN" sz="1800" dirty="0"/>
              <a:t>A</a:t>
            </a:r>
            <a:r>
              <a:rPr lang="zh-CN" altLang="zh-CN" sz="1800" dirty="0"/>
              <a:t>、</a:t>
            </a:r>
            <a:r>
              <a:rPr lang="en-US" altLang="zh-CN" sz="1800" dirty="0"/>
              <a:t>B</a:t>
            </a:r>
            <a:r>
              <a:rPr lang="zh-CN" altLang="zh-CN" sz="1800" dirty="0"/>
              <a:t>两路信号，就完成了</a:t>
            </a:r>
            <a:r>
              <a:rPr lang="en-US" altLang="zh-CN" sz="1800" dirty="0"/>
              <a:t>PAM4</a:t>
            </a:r>
            <a:r>
              <a:rPr lang="zh-CN" altLang="zh-CN" sz="1800" dirty="0" smtClean="0"/>
              <a:t>解调</a:t>
            </a:r>
            <a:endParaRPr lang="zh-CN" altLang="en-US" sz="1600" dirty="0"/>
          </a:p>
        </p:txBody>
      </p:sp>
      <p:graphicFrame>
        <p:nvGraphicFramePr>
          <p:cNvPr id="8" name="对象 7"/>
          <p:cNvGraphicFramePr>
            <a:graphicFrameLocks noChangeAspect="1"/>
          </p:cNvGraphicFramePr>
          <p:nvPr>
            <p:extLst>
              <p:ext uri="{D42A27DB-BD31-4B8C-83A1-F6EECF244321}">
                <p14:modId xmlns:p14="http://schemas.microsoft.com/office/powerpoint/2010/main" val="4162740114"/>
              </p:ext>
            </p:extLst>
          </p:nvPr>
        </p:nvGraphicFramePr>
        <p:xfrm>
          <a:off x="5029045" y="1992997"/>
          <a:ext cx="3261036" cy="2343195"/>
        </p:xfrm>
        <a:graphic>
          <a:graphicData uri="http://schemas.openxmlformats.org/presentationml/2006/ole">
            <mc:AlternateContent xmlns:mc="http://schemas.openxmlformats.org/markup-compatibility/2006">
              <mc:Choice xmlns:v="urn:schemas-microsoft-com:vml" Requires="v">
                <p:oleObj spid="_x0000_s48154" name="Visio" r:id="rId3" imgW="1917923" imgH="1378098" progId="Visio.Drawing.15">
                  <p:embed/>
                </p:oleObj>
              </mc:Choice>
              <mc:Fallback>
                <p:oleObj name="Visio" r:id="rId3" imgW="1917923" imgH="137809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045" y="1992997"/>
                        <a:ext cx="3261036" cy="2343195"/>
                      </a:xfrm>
                      <a:prstGeom prst="rect">
                        <a:avLst/>
                      </a:prstGeom>
                      <a:noFill/>
                    </p:spPr>
                  </p:pic>
                </p:oleObj>
              </mc:Fallback>
            </mc:AlternateContent>
          </a:graphicData>
        </a:graphic>
      </p:graphicFrame>
      <p:sp>
        <p:nvSpPr>
          <p:cNvPr id="9" name="文本框 8"/>
          <p:cNvSpPr txBox="1"/>
          <p:nvPr/>
        </p:nvSpPr>
        <p:spPr>
          <a:xfrm>
            <a:off x="789410" y="5217014"/>
            <a:ext cx="7644121" cy="830997"/>
          </a:xfrm>
          <a:prstGeom prst="rect">
            <a:avLst/>
          </a:prstGeom>
          <a:noFill/>
        </p:spPr>
        <p:txBody>
          <a:bodyPr wrap="square" rtlCol="0">
            <a:spAutoFit/>
          </a:bodyPr>
          <a:lstStyle/>
          <a:p>
            <a:r>
              <a:rPr lang="zh-CN" altLang="en-US" sz="1600" dirty="0" smtClean="0">
                <a:latin typeface="楷体" panose="02010609060101010101" pitchFamily="49" charset="-122"/>
                <a:ea typeface="楷体" panose="02010609060101010101" pitchFamily="49" charset="-122"/>
              </a:rPr>
              <a:t>注：将两路</a:t>
            </a:r>
            <a:r>
              <a:rPr lang="en-US" altLang="zh-CN" sz="1600" dirty="0" smtClean="0">
                <a:latin typeface="楷体" panose="02010609060101010101" pitchFamily="49" charset="-122"/>
                <a:ea typeface="楷体" panose="02010609060101010101" pitchFamily="49" charset="-122"/>
              </a:rPr>
              <a:t>PAM</a:t>
            </a:r>
            <a:r>
              <a:rPr lang="zh-CN" altLang="en-US" sz="1600" dirty="0" smtClean="0">
                <a:latin typeface="楷体" panose="02010609060101010101" pitchFamily="49" charset="-122"/>
                <a:ea typeface="楷体" panose="02010609060101010101" pitchFamily="49" charset="-122"/>
              </a:rPr>
              <a:t>信号分别对载波的两个正交分量</a:t>
            </a:r>
            <a:r>
              <a:rPr lang="en-US" altLang="zh-CN" sz="1600" dirty="0" smtClean="0">
                <a:latin typeface="楷体" panose="02010609060101010101" pitchFamily="49" charset="-122"/>
                <a:ea typeface="楷体" panose="02010609060101010101" pitchFamily="49" charset="-122"/>
              </a:rPr>
              <a:t>(I</a:t>
            </a:r>
            <a:r>
              <a:rPr lang="zh-CN" altLang="en-US" sz="1600" dirty="0" smtClean="0">
                <a:latin typeface="楷体" panose="02010609060101010101" pitchFamily="49" charset="-122"/>
                <a:ea typeface="楷体" panose="02010609060101010101" pitchFamily="49" charset="-122"/>
              </a:rPr>
              <a:t>、</a:t>
            </a:r>
            <a:r>
              <a:rPr lang="en-US" altLang="zh-CN" sz="1600" dirty="0" smtClean="0">
                <a:latin typeface="楷体" panose="02010609060101010101" pitchFamily="49" charset="-122"/>
                <a:ea typeface="楷体" panose="02010609060101010101" pitchFamily="49" charset="-122"/>
              </a:rPr>
              <a:t>Q)</a:t>
            </a:r>
            <a:r>
              <a:rPr lang="zh-CN" altLang="en-US" sz="1600" dirty="0" smtClean="0">
                <a:latin typeface="楷体" panose="02010609060101010101" pitchFamily="49" charset="-122"/>
                <a:ea typeface="楷体" panose="02010609060101010101" pitchFamily="49" charset="-122"/>
              </a:rPr>
              <a:t>进行调制，然后再叠加，就得到了正交幅度调制</a:t>
            </a:r>
            <a:r>
              <a:rPr lang="en-US" altLang="zh-CN" sz="1600" dirty="0" smtClean="0">
                <a:latin typeface="楷体" panose="02010609060101010101" pitchFamily="49" charset="-122"/>
                <a:ea typeface="楷体" panose="02010609060101010101" pitchFamily="49" charset="-122"/>
              </a:rPr>
              <a:t>(QAM)</a:t>
            </a:r>
            <a:r>
              <a:rPr lang="zh-CN" altLang="en-US" sz="1600" dirty="0" smtClean="0">
                <a:latin typeface="楷体" panose="02010609060101010101" pitchFamily="49" charset="-122"/>
                <a:ea typeface="楷体" panose="02010609060101010101" pitchFamily="49" charset="-122"/>
              </a:rPr>
              <a:t>。例如两个</a:t>
            </a:r>
            <a:r>
              <a:rPr lang="en-US" altLang="zh-CN" sz="1600" dirty="0" smtClean="0">
                <a:latin typeface="楷体" panose="02010609060101010101" pitchFamily="49" charset="-122"/>
                <a:ea typeface="楷体" panose="02010609060101010101" pitchFamily="49" charset="-122"/>
              </a:rPr>
              <a:t>PAM4</a:t>
            </a:r>
            <a:r>
              <a:rPr lang="zh-CN" altLang="en-US" sz="1600" dirty="0" smtClean="0">
                <a:latin typeface="楷体" panose="02010609060101010101" pitchFamily="49" charset="-122"/>
                <a:ea typeface="楷体" panose="02010609060101010101" pitchFamily="49" charset="-122"/>
              </a:rPr>
              <a:t>就可以组成</a:t>
            </a:r>
            <a:r>
              <a:rPr lang="en-US" altLang="zh-CN" sz="1600" dirty="0" smtClean="0">
                <a:latin typeface="楷体" panose="02010609060101010101" pitchFamily="49" charset="-122"/>
                <a:ea typeface="楷体" panose="02010609060101010101" pitchFamily="49" charset="-122"/>
              </a:rPr>
              <a:t>QAM16</a:t>
            </a:r>
            <a:r>
              <a:rPr lang="zh-CN" altLang="en-US" sz="1600" dirty="0" smtClean="0">
                <a:latin typeface="楷体" panose="02010609060101010101" pitchFamily="49" charset="-122"/>
                <a:ea typeface="楷体" panose="02010609060101010101" pitchFamily="49" charset="-122"/>
              </a:rPr>
              <a:t>，此时一个码元将包含</a:t>
            </a:r>
            <a:r>
              <a:rPr lang="en-US" altLang="zh-CN" sz="1600" dirty="0" smtClean="0">
                <a:latin typeface="楷体" panose="02010609060101010101" pitchFamily="49" charset="-122"/>
                <a:ea typeface="楷体" panose="02010609060101010101" pitchFamily="49" charset="-122"/>
              </a:rPr>
              <a:t>16</a:t>
            </a:r>
            <a:r>
              <a:rPr lang="zh-CN" altLang="en-US" sz="1600" dirty="0" smtClean="0">
                <a:latin typeface="楷体" panose="02010609060101010101" pitchFamily="49" charset="-122"/>
                <a:ea typeface="楷体" panose="02010609060101010101" pitchFamily="49" charset="-122"/>
              </a:rPr>
              <a:t>比特信息。由于</a:t>
            </a:r>
            <a:r>
              <a:rPr lang="en-US" altLang="zh-CN" sz="1600" dirty="0" smtClean="0">
                <a:latin typeface="楷体" panose="02010609060101010101" pitchFamily="49" charset="-122"/>
                <a:ea typeface="楷体" panose="02010609060101010101" pitchFamily="49" charset="-122"/>
              </a:rPr>
              <a:t>QAM</a:t>
            </a:r>
            <a:r>
              <a:rPr lang="zh-CN" altLang="en-US" sz="1600" dirty="0" smtClean="0">
                <a:latin typeface="楷体" panose="02010609060101010101" pitchFamily="49" charset="-122"/>
                <a:ea typeface="楷体" panose="02010609060101010101" pitchFamily="49" charset="-122"/>
              </a:rPr>
              <a:t>包含了相位信息，所以其同步信号必须做到相位同步</a:t>
            </a:r>
            <a:endParaRPr lang="zh-CN" altLang="en-US" sz="16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04042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01283" y="473646"/>
            <a:ext cx="8464905" cy="4708981"/>
          </a:xfrm>
          <a:prstGeom prst="rect">
            <a:avLst/>
          </a:prstGeom>
          <a:noFill/>
        </p:spPr>
        <p:txBody>
          <a:bodyPr wrap="square" rtlCol="0">
            <a:spAutoFit/>
          </a:bodyPr>
          <a:lstStyle/>
          <a:p>
            <a:pPr>
              <a:lnSpc>
                <a:spcPct val="150000"/>
              </a:lnSpc>
            </a:pPr>
            <a:r>
              <a:rPr lang="zh-CN" altLang="en-US" sz="1800" dirty="0" smtClean="0">
                <a:solidFill>
                  <a:srgbClr val="FF0000"/>
                </a:solidFill>
              </a:rPr>
              <a:t>码元同步电路的设计原则</a:t>
            </a:r>
            <a:endParaRPr lang="en-US" altLang="zh-CN" sz="1800" dirty="0">
              <a:solidFill>
                <a:srgbClr val="FF0000"/>
              </a:solidFill>
            </a:endParaRPr>
          </a:p>
          <a:p>
            <a:pPr marL="342900" indent="-342900">
              <a:lnSpc>
                <a:spcPct val="150000"/>
              </a:lnSpc>
              <a:buFont typeface="Wingdings" panose="05000000000000000000" pitchFamily="2" charset="2"/>
              <a:buChar char="Ø"/>
            </a:pPr>
            <a:r>
              <a:rPr lang="zh-CN" altLang="zh-CN" sz="1800" dirty="0" smtClean="0"/>
              <a:t>同步信息在</a:t>
            </a:r>
            <a:r>
              <a:rPr lang="zh-CN" altLang="zh-CN" sz="1800" dirty="0"/>
              <a:t>脉冲跳变边沿中</a:t>
            </a:r>
            <a:r>
              <a:rPr lang="zh-CN" altLang="zh-CN" sz="1800" dirty="0" smtClean="0"/>
              <a:t>，恢复同步信号需要将</a:t>
            </a:r>
            <a:r>
              <a:rPr lang="zh-CN" altLang="zh-CN" sz="1800" dirty="0"/>
              <a:t>边沿转变为</a:t>
            </a:r>
            <a:r>
              <a:rPr lang="zh-CN" altLang="zh-CN" sz="1800" dirty="0" smtClean="0"/>
              <a:t>脉冲</a:t>
            </a:r>
            <a:endParaRPr lang="en-US" altLang="zh-CN" sz="1800" dirty="0" smtClean="0"/>
          </a:p>
          <a:p>
            <a:pPr marL="342900" indent="-342900">
              <a:lnSpc>
                <a:spcPct val="150000"/>
              </a:lnSpc>
              <a:buFont typeface="Wingdings" panose="05000000000000000000" pitchFamily="2" charset="2"/>
              <a:buChar char="Ø"/>
            </a:pPr>
            <a:r>
              <a:rPr lang="zh-CN" altLang="zh-CN" sz="1800" dirty="0" smtClean="0"/>
              <a:t>对于</a:t>
            </a:r>
            <a:r>
              <a:rPr lang="en-US" altLang="zh-CN" sz="1800" dirty="0"/>
              <a:t>AMI</a:t>
            </a:r>
            <a:r>
              <a:rPr lang="zh-CN" altLang="zh-CN" sz="1800" dirty="0"/>
              <a:t>码</a:t>
            </a:r>
            <a:r>
              <a:rPr lang="zh-CN" altLang="zh-CN" sz="1800" dirty="0" smtClean="0"/>
              <a:t>和</a:t>
            </a:r>
            <a:r>
              <a:rPr lang="zh-CN" altLang="en-US" sz="1800" dirty="0" smtClean="0"/>
              <a:t>其他</a:t>
            </a:r>
            <a:r>
              <a:rPr lang="zh-CN" altLang="zh-CN" sz="1800" dirty="0" smtClean="0"/>
              <a:t>三</a:t>
            </a:r>
            <a:r>
              <a:rPr lang="zh-CN" altLang="zh-CN" sz="1800" dirty="0"/>
              <a:t>电平码来说</a:t>
            </a:r>
            <a:r>
              <a:rPr lang="zh-CN" altLang="zh-CN" sz="1800" dirty="0" smtClean="0"/>
              <a:t>，先</a:t>
            </a:r>
            <a:r>
              <a:rPr lang="zh-CN" altLang="zh-CN" sz="1800" dirty="0"/>
              <a:t>做一个整流，将负脉冲信号整流为正脉冲信号后再送入边沿检测</a:t>
            </a:r>
            <a:r>
              <a:rPr lang="zh-CN" altLang="zh-CN" sz="1800" dirty="0" smtClean="0"/>
              <a:t>电路</a:t>
            </a:r>
            <a:endParaRPr lang="en-US" altLang="zh-CN" sz="1800" dirty="0" smtClean="0"/>
          </a:p>
          <a:p>
            <a:pPr marL="342900" indent="-342900">
              <a:lnSpc>
                <a:spcPct val="150000"/>
              </a:lnSpc>
              <a:buFont typeface="Wingdings" panose="05000000000000000000" pitchFamily="2" charset="2"/>
              <a:buChar char="Ø"/>
            </a:pPr>
            <a:r>
              <a:rPr lang="zh-CN" altLang="en-US" sz="1800" dirty="0" smtClean="0"/>
              <a:t>设计锁相环电路，</a:t>
            </a:r>
            <a:r>
              <a:rPr lang="zh-CN" altLang="zh-CN" sz="1800" dirty="0" smtClean="0"/>
              <a:t>将</a:t>
            </a:r>
            <a:r>
              <a:rPr lang="zh-CN" altLang="zh-CN" sz="1800" dirty="0"/>
              <a:t>边沿检测电路的</a:t>
            </a:r>
            <a:r>
              <a:rPr lang="zh-CN" altLang="zh-CN" sz="1800" dirty="0" smtClean="0"/>
              <a:t>输出锁定可以</a:t>
            </a:r>
            <a:r>
              <a:rPr lang="zh-CN" altLang="zh-CN" sz="1800" dirty="0"/>
              <a:t>得到码元同步</a:t>
            </a:r>
            <a:r>
              <a:rPr lang="zh-CN" altLang="zh-CN" sz="1800" dirty="0" smtClean="0"/>
              <a:t>信号</a:t>
            </a:r>
            <a:endParaRPr lang="en-US" altLang="zh-CN" sz="1800" dirty="0" smtClean="0"/>
          </a:p>
          <a:p>
            <a:pPr marL="800100" lvl="1" indent="-342900">
              <a:lnSpc>
                <a:spcPct val="150000"/>
              </a:lnSpc>
              <a:buFont typeface="Arial" panose="020B0604020202020204" pitchFamily="34" charset="0"/>
              <a:buChar char="•"/>
            </a:pPr>
            <a:r>
              <a:rPr lang="zh-CN" altLang="zh-CN" sz="1800" dirty="0" smtClean="0"/>
              <a:t>锁相环</a:t>
            </a:r>
            <a:r>
              <a:rPr lang="zh-CN" altLang="zh-CN" sz="1800" dirty="0"/>
              <a:t>的鉴相器应该采用边沿触发类型</a:t>
            </a:r>
            <a:r>
              <a:rPr lang="zh-CN" altLang="zh-CN" sz="1800" dirty="0" smtClean="0"/>
              <a:t>的</a:t>
            </a:r>
            <a:endParaRPr lang="en-US" altLang="zh-CN" sz="1800" dirty="0" smtClean="0"/>
          </a:p>
          <a:p>
            <a:pPr marL="800100" lvl="1" indent="-342900">
              <a:lnSpc>
                <a:spcPct val="150000"/>
              </a:lnSpc>
              <a:buFont typeface="Arial" panose="020B0604020202020204" pitchFamily="34" charset="0"/>
              <a:buChar char="•"/>
            </a:pPr>
            <a:r>
              <a:rPr lang="zh-CN" altLang="en-US" sz="1800" dirty="0"/>
              <a:t>同步电路锁相环为载波跟踪型，其环路带宽应该</a:t>
            </a:r>
            <a:r>
              <a:rPr lang="zh-CN" altLang="en-US" sz="1800" dirty="0" smtClean="0"/>
              <a:t>根据信号</a:t>
            </a:r>
            <a:r>
              <a:rPr lang="zh-CN" altLang="en-US" sz="1800" dirty="0"/>
              <a:t>的频谱特性</a:t>
            </a:r>
            <a:r>
              <a:rPr lang="zh-CN" altLang="en-US" sz="1800" dirty="0" smtClean="0"/>
              <a:t>确定：前述的不归零码、双极性归零码等码型的频谱分量从准直流的低频开始并延申到二进制码频率附近；</a:t>
            </a:r>
            <a:r>
              <a:rPr lang="en-US" altLang="zh-CN" sz="1800" dirty="0" smtClean="0"/>
              <a:t> </a:t>
            </a:r>
            <a:r>
              <a:rPr lang="en-US" altLang="zh-CN" sz="1800" dirty="0"/>
              <a:t>Manchester</a:t>
            </a:r>
            <a:r>
              <a:rPr lang="zh-CN" altLang="en-US" sz="1800" dirty="0"/>
              <a:t>码、</a:t>
            </a:r>
            <a:r>
              <a:rPr lang="en-US" altLang="zh-CN" sz="1800" dirty="0"/>
              <a:t>Miller</a:t>
            </a:r>
            <a:r>
              <a:rPr lang="zh-CN" altLang="en-US" sz="1800" dirty="0"/>
              <a:t>码</a:t>
            </a:r>
            <a:r>
              <a:rPr lang="zh-CN" altLang="en-US" sz="1800" dirty="0" smtClean="0"/>
              <a:t>等</a:t>
            </a:r>
            <a:r>
              <a:rPr lang="zh-CN" altLang="zh-CN" sz="1800" dirty="0" smtClean="0"/>
              <a:t>码</a:t>
            </a:r>
            <a:r>
              <a:rPr lang="zh-CN" altLang="en-US" sz="1800" dirty="0" smtClean="0"/>
              <a:t>的频谱分量集中在码元频率的</a:t>
            </a:r>
            <a:r>
              <a:rPr lang="en-US" altLang="zh-CN" sz="1800" dirty="0" smtClean="0"/>
              <a:t>2</a:t>
            </a:r>
            <a:r>
              <a:rPr lang="zh-CN" altLang="en-US" sz="1800" dirty="0" smtClean="0"/>
              <a:t>倍频附近。设计详情可参见后面的例子</a:t>
            </a:r>
            <a:endParaRPr lang="en-US" altLang="zh-CN" sz="1800" dirty="0" smtClean="0"/>
          </a:p>
          <a:p>
            <a:pPr marL="342900" indent="-342900">
              <a:lnSpc>
                <a:spcPct val="150000"/>
              </a:lnSpc>
              <a:buFont typeface="Wingdings" panose="05000000000000000000" pitchFamily="2" charset="2"/>
              <a:buChar char="Ø"/>
            </a:pPr>
            <a:endParaRPr lang="zh-CN" altLang="en-US" sz="1800" dirty="0"/>
          </a:p>
        </p:txBody>
      </p:sp>
    </p:spTree>
    <p:extLst>
      <p:ext uri="{BB962C8B-B14F-4D97-AF65-F5344CB8AC3E}">
        <p14:creationId xmlns:p14="http://schemas.microsoft.com/office/powerpoint/2010/main" val="566918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309186" y="473646"/>
            <a:ext cx="8557002" cy="923330"/>
          </a:xfrm>
          <a:prstGeom prst="rect">
            <a:avLst/>
          </a:prstGeom>
          <a:noFill/>
        </p:spPr>
        <p:txBody>
          <a:bodyPr wrap="square" rtlCol="0">
            <a:spAutoFit/>
          </a:bodyPr>
          <a:lstStyle/>
          <a:p>
            <a:pPr>
              <a:lnSpc>
                <a:spcPct val="150000"/>
              </a:lnSpc>
            </a:pPr>
            <a:r>
              <a:rPr lang="zh-CN" altLang="en-US" sz="1800" dirty="0" smtClean="0">
                <a:solidFill>
                  <a:srgbClr val="FF0000"/>
                </a:solidFill>
              </a:rPr>
              <a:t>码元同步电路分析与设计举例</a:t>
            </a:r>
            <a:endParaRPr lang="en-US" altLang="zh-CN" sz="1800" dirty="0" smtClean="0">
              <a:solidFill>
                <a:srgbClr val="FF0000"/>
              </a:solidFill>
            </a:endParaRPr>
          </a:p>
          <a:p>
            <a:pPr>
              <a:lnSpc>
                <a:spcPct val="150000"/>
              </a:lnSpc>
            </a:pPr>
            <a:r>
              <a:rPr lang="en-US" altLang="zh-CN" sz="1800" dirty="0" smtClean="0"/>
              <a:t>2016</a:t>
            </a:r>
            <a:r>
              <a:rPr lang="zh-CN" altLang="en-US" sz="1800" dirty="0" smtClean="0"/>
              <a:t>年的竞赛题：</a:t>
            </a:r>
            <a:r>
              <a:rPr lang="zh-CN" altLang="zh-CN" sz="1800" dirty="0" smtClean="0"/>
              <a:t>设计制作从</a:t>
            </a:r>
            <a:r>
              <a:rPr lang="zh-CN" altLang="zh-CN" sz="1800" dirty="0"/>
              <a:t>二进制基带信号中提取位同步时钟的</a:t>
            </a:r>
            <a:r>
              <a:rPr lang="zh-CN" altLang="zh-CN" sz="1800" dirty="0" smtClean="0"/>
              <a:t>电路</a:t>
            </a:r>
            <a:r>
              <a:rPr lang="zh-CN" altLang="en-US" sz="1800" dirty="0" smtClean="0"/>
              <a:t>，框图如下</a:t>
            </a:r>
            <a:endParaRPr lang="zh-CN" altLang="en-US" sz="1600" dirty="0"/>
          </a:p>
        </p:txBody>
      </p:sp>
      <p:pic>
        <p:nvPicPr>
          <p:cNvPr id="6" name="图片 5"/>
          <p:cNvPicPr/>
          <p:nvPr/>
        </p:nvPicPr>
        <p:blipFill>
          <a:blip r:embed="rId2"/>
          <a:stretch>
            <a:fillRect/>
          </a:stretch>
        </p:blipFill>
        <p:spPr>
          <a:xfrm>
            <a:off x="848616" y="1585400"/>
            <a:ext cx="7433611" cy="1578820"/>
          </a:xfrm>
          <a:prstGeom prst="rect">
            <a:avLst/>
          </a:prstGeom>
        </p:spPr>
      </p:pic>
      <p:sp>
        <p:nvSpPr>
          <p:cNvPr id="7" name="文本框 6"/>
          <p:cNvSpPr txBox="1"/>
          <p:nvPr/>
        </p:nvSpPr>
        <p:spPr>
          <a:xfrm>
            <a:off x="309186" y="3323197"/>
            <a:ext cx="8557002" cy="2585323"/>
          </a:xfrm>
          <a:prstGeom prst="rect">
            <a:avLst/>
          </a:prstGeom>
          <a:noFill/>
        </p:spPr>
        <p:txBody>
          <a:bodyPr wrap="square" rtlCol="0">
            <a:spAutoFit/>
          </a:bodyPr>
          <a:lstStyle/>
          <a:p>
            <a:pPr>
              <a:lnSpc>
                <a:spcPct val="150000"/>
              </a:lnSpc>
            </a:pPr>
            <a:r>
              <a:rPr lang="zh-CN" altLang="en-US" sz="1800" dirty="0" smtClean="0"/>
              <a:t>主要指标要求：</a:t>
            </a:r>
            <a:endParaRPr lang="en-US" altLang="zh-CN" sz="1800" dirty="0" smtClean="0"/>
          </a:p>
          <a:p>
            <a:pPr lvl="1">
              <a:lnSpc>
                <a:spcPct val="150000"/>
              </a:lnSpc>
            </a:pPr>
            <a:r>
              <a:rPr lang="en-US" altLang="zh-CN" sz="1800" dirty="0" smtClean="0"/>
              <a:t>m</a:t>
            </a:r>
            <a:r>
              <a:rPr lang="zh-CN" altLang="zh-CN" sz="1800" dirty="0"/>
              <a:t>序列发生器</a:t>
            </a:r>
            <a:r>
              <a:rPr lang="zh-CN" altLang="zh-CN" sz="1800" dirty="0" smtClean="0"/>
              <a:t>的本原多项式为 </a:t>
            </a:r>
            <a:r>
              <a:rPr lang="en-US" altLang="zh-CN" sz="1800" i="1" dirty="0"/>
              <a:t>f</a:t>
            </a:r>
            <a:r>
              <a:rPr lang="en-US" altLang="zh-CN" sz="1800" dirty="0"/>
              <a:t>(</a:t>
            </a:r>
            <a:r>
              <a:rPr lang="en-US" altLang="zh-CN" sz="1800" i="1" dirty="0"/>
              <a:t>x</a:t>
            </a:r>
            <a:r>
              <a:rPr lang="en-US" altLang="zh-CN" sz="1800" dirty="0"/>
              <a:t>)=</a:t>
            </a:r>
            <a:r>
              <a:rPr lang="en-US" altLang="zh-CN" sz="1800" i="1" dirty="0" smtClean="0"/>
              <a:t>x</a:t>
            </a:r>
            <a:r>
              <a:rPr lang="en-US" altLang="zh-CN" sz="1800" baseline="30000" dirty="0" smtClean="0"/>
              <a:t>8</a:t>
            </a:r>
            <a:r>
              <a:rPr lang="en-US" altLang="zh-CN" sz="1800" dirty="0" smtClean="0"/>
              <a:t>+</a:t>
            </a:r>
            <a:r>
              <a:rPr lang="en-US" altLang="zh-CN" sz="1800" i="1" dirty="0" smtClean="0"/>
              <a:t>x</a:t>
            </a:r>
            <a:r>
              <a:rPr lang="en-US" altLang="zh-CN" sz="1800" baseline="30000" dirty="0" smtClean="0"/>
              <a:t>4</a:t>
            </a:r>
            <a:r>
              <a:rPr lang="en-US" altLang="zh-CN" sz="1800" dirty="0" smtClean="0"/>
              <a:t>+</a:t>
            </a:r>
            <a:r>
              <a:rPr lang="en-US" altLang="zh-CN" sz="1800" i="1" dirty="0" smtClean="0"/>
              <a:t>x</a:t>
            </a:r>
            <a:r>
              <a:rPr lang="en-US" altLang="zh-CN" sz="1800" baseline="30000" dirty="0" smtClean="0"/>
              <a:t>3</a:t>
            </a:r>
            <a:r>
              <a:rPr lang="en-US" altLang="zh-CN" sz="1800" dirty="0" smtClean="0"/>
              <a:t>+</a:t>
            </a:r>
            <a:r>
              <a:rPr lang="en-US" altLang="zh-CN" sz="1800" i="1" dirty="0" smtClean="0"/>
              <a:t>x</a:t>
            </a:r>
            <a:r>
              <a:rPr lang="en-US" altLang="zh-CN" sz="1800" baseline="30000" dirty="0" smtClean="0"/>
              <a:t>2</a:t>
            </a:r>
            <a:r>
              <a:rPr lang="en-US" altLang="zh-CN" sz="1800" dirty="0" smtClean="0"/>
              <a:t>+1</a:t>
            </a:r>
          </a:p>
          <a:p>
            <a:pPr lvl="1">
              <a:lnSpc>
                <a:spcPct val="150000"/>
              </a:lnSpc>
            </a:pPr>
            <a:r>
              <a:rPr lang="zh-CN" altLang="en-US" sz="1800" dirty="0" smtClean="0"/>
              <a:t>时钟信号</a:t>
            </a:r>
            <a:r>
              <a:rPr lang="en-US" altLang="zh-CN" sz="1800" dirty="0" smtClean="0"/>
              <a:t>CK</a:t>
            </a:r>
            <a:r>
              <a:rPr lang="zh-CN" altLang="en-US" sz="1800" dirty="0" smtClean="0"/>
              <a:t>的频率</a:t>
            </a:r>
            <a:r>
              <a:rPr lang="en-US" altLang="zh-CN" sz="1800" dirty="0" smtClean="0"/>
              <a:t>200kHz~240kHz</a:t>
            </a:r>
          </a:p>
          <a:p>
            <a:pPr lvl="1">
              <a:lnSpc>
                <a:spcPct val="150000"/>
              </a:lnSpc>
            </a:pPr>
            <a:r>
              <a:rPr lang="zh-CN" altLang="zh-CN" sz="1800" dirty="0" smtClean="0"/>
              <a:t>二</a:t>
            </a:r>
            <a:r>
              <a:rPr lang="zh-CN" altLang="zh-CN" sz="1800" dirty="0"/>
              <a:t>阶有源</a:t>
            </a:r>
            <a:r>
              <a:rPr lang="zh-CN" altLang="zh-CN" sz="1800" dirty="0" smtClean="0"/>
              <a:t>低通滤波器</a:t>
            </a:r>
            <a:r>
              <a:rPr lang="zh-CN" altLang="en-US" sz="1800" dirty="0"/>
              <a:t>的</a:t>
            </a:r>
            <a:r>
              <a:rPr lang="en-US" altLang="zh-CN" sz="1800" dirty="0" smtClean="0"/>
              <a:t>3dB </a:t>
            </a:r>
            <a:r>
              <a:rPr lang="zh-CN" altLang="zh-CN" sz="1800" dirty="0" smtClean="0"/>
              <a:t>截止频率</a:t>
            </a:r>
            <a:r>
              <a:rPr lang="zh-CN" altLang="en-US" sz="1800" dirty="0" smtClean="0"/>
              <a:t>为</a:t>
            </a:r>
            <a:r>
              <a:rPr lang="en-US" altLang="zh-CN" sz="1800" dirty="0" smtClean="0"/>
              <a:t> 300kHz</a:t>
            </a:r>
          </a:p>
          <a:p>
            <a:pPr lvl="1">
              <a:lnSpc>
                <a:spcPct val="150000"/>
              </a:lnSpc>
            </a:pPr>
            <a:r>
              <a:rPr lang="zh-CN" altLang="en-US" sz="1800" dirty="0" smtClean="0"/>
              <a:t>信号</a:t>
            </a:r>
            <a:r>
              <a:rPr lang="en-US" altLang="zh-CN" sz="1800" dirty="0" smtClean="0"/>
              <a:t>A</a:t>
            </a:r>
            <a:r>
              <a:rPr lang="zh-CN" altLang="en-US" sz="1800" dirty="0" smtClean="0"/>
              <a:t>的幅度峰峰值为</a:t>
            </a:r>
            <a:r>
              <a:rPr lang="en-US" altLang="zh-CN" sz="1800" dirty="0" smtClean="0"/>
              <a:t>0.1V</a:t>
            </a:r>
          </a:p>
          <a:p>
            <a:pPr lvl="1">
              <a:lnSpc>
                <a:spcPct val="150000"/>
              </a:lnSpc>
            </a:pPr>
            <a:r>
              <a:rPr lang="zh-CN" altLang="en-US" sz="1800" dirty="0"/>
              <a:t>自</a:t>
            </a:r>
            <a:r>
              <a:rPr lang="zh-CN" altLang="en-US" sz="1800" dirty="0" smtClean="0"/>
              <a:t>适应提取位同步时钟，</a:t>
            </a:r>
            <a:r>
              <a:rPr lang="zh-CN" altLang="zh-CN" sz="1800" dirty="0"/>
              <a:t>要求</a:t>
            </a:r>
            <a:r>
              <a:rPr lang="zh-CN" altLang="zh-CN" sz="1800" dirty="0" smtClean="0"/>
              <a:t>相位抖动量≤</a:t>
            </a:r>
            <a:r>
              <a:rPr lang="en-US" altLang="zh-CN" sz="1800" dirty="0"/>
              <a:t>1</a:t>
            </a:r>
            <a:r>
              <a:rPr lang="zh-CN" altLang="zh-CN" sz="1800" dirty="0"/>
              <a:t>个位同步时钟周期的</a:t>
            </a:r>
            <a:r>
              <a:rPr lang="en-US" altLang="zh-CN" sz="1800" dirty="0"/>
              <a:t>10%</a:t>
            </a:r>
            <a:endParaRPr lang="zh-CN" altLang="en-US" sz="1100" dirty="0"/>
          </a:p>
        </p:txBody>
      </p:sp>
    </p:spTree>
    <p:extLst>
      <p:ext uri="{BB962C8B-B14F-4D97-AF65-F5344CB8AC3E}">
        <p14:creationId xmlns:p14="http://schemas.microsoft.com/office/powerpoint/2010/main" val="3270207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6" name="文本框 5"/>
          <p:cNvSpPr txBox="1"/>
          <p:nvPr/>
        </p:nvSpPr>
        <p:spPr>
          <a:xfrm>
            <a:off x="256558" y="467068"/>
            <a:ext cx="8609630" cy="216982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800" dirty="0" smtClean="0"/>
              <a:t>m</a:t>
            </a:r>
            <a:r>
              <a:rPr lang="zh-CN" altLang="en-US" sz="1800" dirty="0" smtClean="0"/>
              <a:t>序列发生器</a:t>
            </a:r>
            <a:endParaRPr lang="en-US" altLang="zh-CN" sz="1800" dirty="0" smtClean="0"/>
          </a:p>
          <a:p>
            <a:pPr marL="360000" lvl="1">
              <a:lnSpc>
                <a:spcPct val="150000"/>
              </a:lnSpc>
            </a:pPr>
            <a:r>
              <a:rPr lang="zh-CN" altLang="zh-CN" sz="1800" dirty="0"/>
              <a:t>用移位寄存器加异或门实现，下图就是根据题目给定的本原多项式实现的</a:t>
            </a:r>
            <a:r>
              <a:rPr lang="en-US" altLang="zh-CN" sz="1800" dirty="0"/>
              <a:t>m</a:t>
            </a:r>
            <a:r>
              <a:rPr lang="zh-CN" altLang="zh-CN" sz="1800" dirty="0"/>
              <a:t>序列发生器的原理图。其中右边三个异或门实现了本原多项式中</a:t>
            </a:r>
            <a:r>
              <a:rPr lang="en-US" altLang="zh-CN" sz="1800" i="1" dirty="0"/>
              <a:t>x</a:t>
            </a:r>
            <a:r>
              <a:rPr lang="en-US" altLang="zh-CN" sz="1800" baseline="30000" dirty="0"/>
              <a:t>8</a:t>
            </a:r>
            <a:r>
              <a:rPr lang="zh-CN" altLang="zh-CN" sz="1800" dirty="0"/>
              <a:t>、</a:t>
            </a:r>
            <a:r>
              <a:rPr lang="en-US" altLang="zh-CN" sz="1800" i="1" dirty="0"/>
              <a:t>x</a:t>
            </a:r>
            <a:r>
              <a:rPr lang="en-US" altLang="zh-CN" sz="1800" baseline="30000" dirty="0"/>
              <a:t>4</a:t>
            </a:r>
            <a:r>
              <a:rPr lang="zh-CN" altLang="zh-CN" sz="1800" dirty="0"/>
              <a:t>、</a:t>
            </a:r>
            <a:r>
              <a:rPr lang="en-US" altLang="zh-CN" sz="1800" i="1" dirty="0"/>
              <a:t>x</a:t>
            </a:r>
            <a:r>
              <a:rPr lang="en-US" altLang="zh-CN" sz="1800" baseline="30000" dirty="0"/>
              <a:t>3</a:t>
            </a:r>
            <a:r>
              <a:rPr lang="zh-CN" altLang="zh-CN" sz="1800" dirty="0"/>
              <a:t>、</a:t>
            </a:r>
            <a:r>
              <a:rPr lang="en-US" altLang="zh-CN" sz="1800" i="1" dirty="0"/>
              <a:t>x</a:t>
            </a:r>
            <a:r>
              <a:rPr lang="en-US" altLang="zh-CN" sz="1800" baseline="30000" dirty="0"/>
              <a:t>2</a:t>
            </a:r>
            <a:r>
              <a:rPr lang="zh-CN" altLang="zh-CN" sz="1800" dirty="0"/>
              <a:t>四个寄存器输出的按位相加。最左边的异或门和</a:t>
            </a:r>
            <a:r>
              <a:rPr lang="en-US" altLang="zh-CN" sz="1800" dirty="0"/>
              <a:t>8</a:t>
            </a:r>
            <a:r>
              <a:rPr lang="zh-CN" altLang="zh-CN" sz="1800" dirty="0"/>
              <a:t>输入或非门实现了全零排除电路，若没有这部分电路，当所有寄存器位都输出“</a:t>
            </a:r>
            <a:r>
              <a:rPr lang="en-US" altLang="zh-CN" sz="1800" dirty="0"/>
              <a:t>0</a:t>
            </a:r>
            <a:r>
              <a:rPr lang="zh-CN" altLang="zh-CN" sz="1800" dirty="0"/>
              <a:t>”时系统将被锁死。</a:t>
            </a:r>
            <a:endParaRPr lang="zh-CN" altLang="en-US"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1799940757"/>
              </p:ext>
            </p:extLst>
          </p:nvPr>
        </p:nvGraphicFramePr>
        <p:xfrm>
          <a:off x="1197270" y="2901081"/>
          <a:ext cx="7171298" cy="2124829"/>
        </p:xfrm>
        <a:graphic>
          <a:graphicData uri="http://schemas.openxmlformats.org/presentationml/2006/ole">
            <mc:AlternateContent xmlns:mc="http://schemas.openxmlformats.org/markup-compatibility/2006">
              <mc:Choice xmlns:v="urn:schemas-microsoft-com:vml" Requires="v">
                <p:oleObj spid="_x0000_s50199" name="Visio" r:id="rId3" imgW="3987834" imgH="1174795" progId="Visio.Drawing.15">
                  <p:embed/>
                </p:oleObj>
              </mc:Choice>
              <mc:Fallback>
                <p:oleObj name="Visio" r:id="rId3" imgW="3987834" imgH="117479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270" y="2901081"/>
                        <a:ext cx="7171298" cy="2124829"/>
                      </a:xfrm>
                      <a:prstGeom prst="rect">
                        <a:avLst/>
                      </a:prstGeom>
                      <a:noFill/>
                    </p:spPr>
                  </p:pic>
                </p:oleObj>
              </mc:Fallback>
            </mc:AlternateContent>
          </a:graphicData>
        </a:graphic>
      </p:graphicFrame>
    </p:spTree>
    <p:extLst>
      <p:ext uri="{BB962C8B-B14F-4D97-AF65-F5344CB8AC3E}">
        <p14:creationId xmlns:p14="http://schemas.microsoft.com/office/powerpoint/2010/main" val="1332116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374969" y="521098"/>
            <a:ext cx="8361169" cy="5078313"/>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Ø"/>
            </a:pPr>
            <a:r>
              <a:rPr lang="zh-CN" altLang="zh-CN" sz="1800" kern="100" dirty="0">
                <a:latin typeface="Times New Roman" panose="02020603050405020304" pitchFamily="18" charset="0"/>
              </a:rPr>
              <a:t>有源</a:t>
            </a:r>
            <a:r>
              <a:rPr lang="zh-CN" altLang="zh-CN" sz="1800" kern="100" dirty="0" smtClean="0">
                <a:latin typeface="Times New Roman" panose="02020603050405020304" pitchFamily="18" charset="0"/>
              </a:rPr>
              <a:t>低通滤波器</a:t>
            </a:r>
            <a:endParaRPr lang="zh-CN" altLang="zh-CN" sz="1800" kern="100" dirty="0">
              <a:latin typeface="Times New Roman" panose="02020603050405020304" pitchFamily="18" charset="0"/>
            </a:endParaRPr>
          </a:p>
          <a:p>
            <a:pPr indent="266700" algn="just">
              <a:lnSpc>
                <a:spcPct val="150000"/>
              </a:lnSpc>
              <a:spcAft>
                <a:spcPts val="0"/>
              </a:spcAft>
            </a:pPr>
            <a:r>
              <a:rPr lang="zh-CN" altLang="en-US" sz="1800" kern="100" dirty="0" smtClean="0">
                <a:latin typeface="Times New Roman" panose="02020603050405020304" pitchFamily="18" charset="0"/>
              </a:rPr>
              <a:t>在真实的</a:t>
            </a:r>
            <a:r>
              <a:rPr lang="zh-CN" altLang="zh-CN" sz="1800" kern="100" dirty="0" smtClean="0">
                <a:latin typeface="Times New Roman" panose="02020603050405020304" pitchFamily="18" charset="0"/>
              </a:rPr>
              <a:t>数字通信系统中</a:t>
            </a:r>
            <a:r>
              <a:rPr lang="zh-CN" altLang="en-US" sz="1800" kern="100" dirty="0">
                <a:latin typeface="Times New Roman" panose="02020603050405020304" pitchFamily="18" charset="0"/>
              </a:rPr>
              <a:t>有</a:t>
            </a:r>
            <a:r>
              <a:rPr lang="zh-CN" altLang="en-US" sz="1800" kern="100" dirty="0" smtClean="0">
                <a:latin typeface="Times New Roman" panose="02020603050405020304" pitchFamily="18" charset="0"/>
              </a:rPr>
              <a:t>两个</a:t>
            </a:r>
            <a:r>
              <a:rPr lang="zh-CN" altLang="zh-CN" sz="1800" kern="100" dirty="0" smtClean="0">
                <a:latin typeface="Times New Roman" panose="02020603050405020304" pitchFamily="18" charset="0"/>
              </a:rPr>
              <a:t>部分</a:t>
            </a:r>
            <a:r>
              <a:rPr lang="zh-CN" altLang="en-US" sz="1800" kern="100" dirty="0" smtClean="0">
                <a:latin typeface="Times New Roman" panose="02020603050405020304" pitchFamily="18" charset="0"/>
              </a:rPr>
              <a:t>具有低通特性</a:t>
            </a:r>
            <a:r>
              <a:rPr lang="zh-CN" altLang="zh-CN" sz="1800" kern="100" dirty="0" smtClean="0">
                <a:latin typeface="Times New Roman" panose="02020603050405020304" pitchFamily="18" charset="0"/>
              </a:rPr>
              <a:t>：</a:t>
            </a:r>
            <a:endParaRPr lang="en-US" altLang="zh-CN" sz="1800" kern="100" dirty="0" smtClean="0">
              <a:latin typeface="Times New Roman" panose="02020603050405020304" pitchFamily="18" charset="0"/>
            </a:endParaRPr>
          </a:p>
          <a:p>
            <a:pPr indent="266700" algn="just">
              <a:lnSpc>
                <a:spcPct val="150000"/>
              </a:lnSpc>
              <a:spcAft>
                <a:spcPts val="0"/>
              </a:spcAft>
            </a:pPr>
            <a:r>
              <a:rPr lang="zh-CN" altLang="zh-CN" sz="1800" kern="100" dirty="0" smtClean="0">
                <a:latin typeface="Times New Roman" panose="02020603050405020304" pitchFamily="18" charset="0"/>
              </a:rPr>
              <a:t>第</a:t>
            </a:r>
            <a:r>
              <a:rPr lang="zh-CN" altLang="zh-CN" sz="1800" kern="100" dirty="0">
                <a:latin typeface="Times New Roman" panose="02020603050405020304" pitchFamily="18" charset="0"/>
              </a:rPr>
              <a:t>一部分是在数字调制电路中为了抑制矩形脉冲信号的高次谐波造成的带外功率辐射而插入的预调制滤波器，通常该滤波器是一个具有平坦延迟特性的低通滤波器，如高斯</a:t>
            </a:r>
            <a:r>
              <a:rPr lang="zh-CN" altLang="zh-CN" sz="1800" kern="100" dirty="0" smtClean="0">
                <a:latin typeface="Times New Roman" panose="02020603050405020304" pitchFamily="18" charset="0"/>
              </a:rPr>
              <a:t>滤波器</a:t>
            </a:r>
            <a:endParaRPr lang="en-US" altLang="zh-CN" sz="1800" kern="100" dirty="0" smtClean="0">
              <a:latin typeface="Times New Roman" panose="02020603050405020304" pitchFamily="18" charset="0"/>
            </a:endParaRPr>
          </a:p>
          <a:p>
            <a:pPr indent="266700" algn="just">
              <a:lnSpc>
                <a:spcPct val="150000"/>
              </a:lnSpc>
              <a:spcAft>
                <a:spcPts val="0"/>
              </a:spcAft>
            </a:pPr>
            <a:r>
              <a:rPr lang="zh-CN" altLang="zh-CN" sz="1800" kern="100" dirty="0" smtClean="0">
                <a:latin typeface="Times New Roman" panose="02020603050405020304" pitchFamily="18" charset="0"/>
              </a:rPr>
              <a:t>第二</a:t>
            </a:r>
            <a:r>
              <a:rPr lang="zh-CN" altLang="zh-CN" sz="1800" kern="100" dirty="0">
                <a:latin typeface="Times New Roman" panose="02020603050405020304" pitchFamily="18" charset="0"/>
              </a:rPr>
              <a:t>部分不是一</a:t>
            </a:r>
            <a:r>
              <a:rPr lang="zh-CN" altLang="zh-CN" sz="1800" kern="100" dirty="0" smtClean="0">
                <a:latin typeface="Times New Roman" panose="02020603050405020304" pitchFamily="18" charset="0"/>
              </a:rPr>
              <a:t>个滤波器</a:t>
            </a:r>
            <a:r>
              <a:rPr lang="zh-CN" altLang="zh-CN" sz="1800" kern="100" dirty="0">
                <a:latin typeface="Times New Roman" panose="02020603050405020304" pitchFamily="18" charset="0"/>
              </a:rPr>
              <a:t>电路，</a:t>
            </a:r>
            <a:r>
              <a:rPr lang="zh-CN" altLang="zh-CN" sz="1800" kern="100" dirty="0" smtClean="0">
                <a:latin typeface="Times New Roman" panose="02020603050405020304" pitchFamily="18" charset="0"/>
              </a:rPr>
              <a:t>而是</a:t>
            </a:r>
            <a:r>
              <a:rPr lang="zh-CN" altLang="zh-CN" sz="1800" kern="100" dirty="0">
                <a:latin typeface="Times New Roman" panose="02020603050405020304" pitchFamily="18" charset="0"/>
              </a:rPr>
              <a:t>通信</a:t>
            </a:r>
            <a:r>
              <a:rPr lang="zh-CN" altLang="zh-CN" sz="1800" kern="100" dirty="0" smtClean="0">
                <a:latin typeface="Times New Roman" panose="02020603050405020304" pitchFamily="18" charset="0"/>
              </a:rPr>
              <a:t>信道</a:t>
            </a:r>
            <a:r>
              <a:rPr lang="zh-CN" altLang="en-US" sz="1800" kern="100" dirty="0" smtClean="0">
                <a:latin typeface="Times New Roman" panose="02020603050405020304" pitchFamily="18" charset="0"/>
              </a:rPr>
              <a:t>的</a:t>
            </a:r>
            <a:r>
              <a:rPr lang="zh-CN" altLang="zh-CN" sz="1800" kern="100" dirty="0" smtClean="0">
                <a:latin typeface="Times New Roman" panose="02020603050405020304" pitchFamily="18" charset="0"/>
              </a:rPr>
              <a:t>低</a:t>
            </a:r>
            <a:r>
              <a:rPr lang="zh-CN" altLang="zh-CN" sz="1800" kern="100" dirty="0">
                <a:latin typeface="Times New Roman" panose="02020603050405020304" pitchFamily="18" charset="0"/>
              </a:rPr>
              <a:t>通</a:t>
            </a:r>
            <a:r>
              <a:rPr lang="zh-CN" altLang="zh-CN" sz="1800" kern="100" dirty="0" smtClean="0">
                <a:latin typeface="Times New Roman" panose="02020603050405020304" pitchFamily="18" charset="0"/>
              </a:rPr>
              <a:t>特性</a:t>
            </a:r>
            <a:endParaRPr lang="en-US" altLang="zh-CN" sz="1800" kern="100" dirty="0" smtClean="0">
              <a:latin typeface="Times New Roman" panose="02020603050405020304" pitchFamily="18" charset="0"/>
            </a:endParaRPr>
          </a:p>
          <a:p>
            <a:pPr indent="266700" algn="just">
              <a:lnSpc>
                <a:spcPct val="150000"/>
              </a:lnSpc>
              <a:spcAft>
                <a:spcPts val="0"/>
              </a:spcAft>
            </a:pPr>
            <a:r>
              <a:rPr lang="zh-CN" altLang="en-US" sz="1800" kern="100" dirty="0" smtClean="0">
                <a:latin typeface="Times New Roman" panose="02020603050405020304" pitchFamily="18" charset="0"/>
              </a:rPr>
              <a:t>题目</a:t>
            </a:r>
            <a:r>
              <a:rPr lang="zh-CN" altLang="zh-CN" sz="1800" kern="100" dirty="0" smtClean="0">
                <a:latin typeface="Times New Roman" panose="02020603050405020304" pitchFamily="18" charset="0"/>
              </a:rPr>
              <a:t>用</a:t>
            </a:r>
            <a:r>
              <a:rPr lang="zh-CN" altLang="zh-CN" sz="1800" kern="100" dirty="0">
                <a:latin typeface="Times New Roman" panose="02020603050405020304" pitchFamily="18" charset="0"/>
              </a:rPr>
              <a:t>一</a:t>
            </a:r>
            <a:r>
              <a:rPr lang="zh-CN" altLang="zh-CN" sz="1800" kern="100" dirty="0" smtClean="0">
                <a:latin typeface="Times New Roman" panose="02020603050405020304" pitchFamily="18" charset="0"/>
              </a:rPr>
              <a:t>个截止频率</a:t>
            </a:r>
            <a:r>
              <a:rPr lang="zh-CN" altLang="en-US" sz="1800" kern="100" dirty="0" smtClean="0">
                <a:latin typeface="Times New Roman" panose="02020603050405020304" pitchFamily="18" charset="0"/>
              </a:rPr>
              <a:t>为</a:t>
            </a:r>
            <a:r>
              <a:rPr lang="en-US" altLang="zh-CN" sz="1800" kern="100" dirty="0" smtClean="0">
                <a:latin typeface="Times New Roman" panose="02020603050405020304" pitchFamily="18" charset="0"/>
              </a:rPr>
              <a:t>300kHz</a:t>
            </a:r>
            <a:r>
              <a:rPr lang="zh-CN" altLang="en-US" sz="1800" kern="100" dirty="0" smtClean="0">
                <a:latin typeface="Times New Roman" panose="02020603050405020304" pitchFamily="18" charset="0"/>
              </a:rPr>
              <a:t>的</a:t>
            </a:r>
            <a:r>
              <a:rPr lang="en-US" altLang="zh-CN" sz="1800" kern="100" dirty="0" smtClean="0">
                <a:latin typeface="Times New Roman" panose="02020603050405020304" pitchFamily="18" charset="0"/>
              </a:rPr>
              <a:t>2</a:t>
            </a:r>
            <a:r>
              <a:rPr lang="zh-CN" altLang="zh-CN" sz="1800" kern="100" dirty="0" smtClean="0">
                <a:latin typeface="Times New Roman" panose="02020603050405020304" pitchFamily="18" charset="0"/>
              </a:rPr>
              <a:t>阶低通滤波器模拟</a:t>
            </a:r>
            <a:r>
              <a:rPr lang="zh-CN" altLang="en-US" sz="1800" kern="100" dirty="0" smtClean="0">
                <a:latin typeface="Times New Roman" panose="02020603050405020304" pitchFamily="18" charset="0"/>
              </a:rPr>
              <a:t>真实</a:t>
            </a:r>
            <a:r>
              <a:rPr lang="zh-CN" altLang="zh-CN" sz="1800" kern="100" dirty="0" smtClean="0">
                <a:latin typeface="Times New Roman" panose="02020603050405020304" pitchFamily="18" charset="0"/>
              </a:rPr>
              <a:t>通信中上述</a:t>
            </a:r>
            <a:r>
              <a:rPr lang="zh-CN" altLang="zh-CN" sz="1800" kern="100" dirty="0">
                <a:latin typeface="Times New Roman" panose="02020603050405020304" pitchFamily="18" charset="0"/>
              </a:rPr>
              <a:t>两</a:t>
            </a:r>
            <a:r>
              <a:rPr lang="zh-CN" altLang="zh-CN" sz="1800" kern="100" dirty="0" smtClean="0">
                <a:latin typeface="Times New Roman" panose="02020603050405020304" pitchFamily="18" charset="0"/>
              </a:rPr>
              <a:t>部分</a:t>
            </a:r>
            <a:r>
              <a:rPr lang="zh-CN" altLang="en-US" sz="1800" kern="100" dirty="0" smtClean="0">
                <a:latin typeface="Times New Roman" panose="02020603050405020304" pitchFamily="18" charset="0"/>
              </a:rPr>
              <a:t>合成的低通特性</a:t>
            </a:r>
            <a:endParaRPr lang="en-US" altLang="zh-CN" sz="1800" kern="100" dirty="0" smtClean="0">
              <a:latin typeface="Times New Roman" panose="02020603050405020304" pitchFamily="18" charset="0"/>
            </a:endParaRPr>
          </a:p>
          <a:p>
            <a:pPr indent="266700" algn="just">
              <a:lnSpc>
                <a:spcPct val="150000"/>
              </a:lnSpc>
              <a:spcAft>
                <a:spcPts val="0"/>
              </a:spcAft>
            </a:pPr>
            <a:r>
              <a:rPr lang="zh-CN" altLang="zh-CN" sz="1800" kern="100" dirty="0" smtClean="0">
                <a:latin typeface="Times New Roman" panose="02020603050405020304" pitchFamily="18" charset="0"/>
              </a:rPr>
              <a:t>为了</a:t>
            </a:r>
            <a:r>
              <a:rPr lang="zh-CN" altLang="zh-CN" sz="1800" kern="100" dirty="0">
                <a:latin typeface="Times New Roman" panose="02020603050405020304" pitchFamily="18" charset="0"/>
              </a:rPr>
              <a:t>减少脉冲响应的过冲、得到较平坦的延迟特性，可以选择贝塞尔型或巴特沃斯型滤波器，</a:t>
            </a:r>
            <a:r>
              <a:rPr lang="en-US" altLang="zh-CN" sz="1800" kern="100" dirty="0">
                <a:latin typeface="Times New Roman" panose="02020603050405020304" pitchFamily="18" charset="0"/>
              </a:rPr>
              <a:t>Q</a:t>
            </a:r>
            <a:r>
              <a:rPr lang="zh-CN" altLang="zh-CN" sz="1800" kern="100" dirty="0">
                <a:latin typeface="Times New Roman" panose="02020603050405020304" pitchFamily="18" charset="0"/>
              </a:rPr>
              <a:t>值不宜大于</a:t>
            </a:r>
            <a:r>
              <a:rPr lang="en-US" altLang="zh-CN" sz="1800" kern="100" dirty="0" smtClean="0">
                <a:latin typeface="Times New Roman" panose="02020603050405020304" pitchFamily="18" charset="0"/>
              </a:rPr>
              <a:t>0.7</a:t>
            </a:r>
          </a:p>
          <a:p>
            <a:pPr indent="266700" algn="just">
              <a:lnSpc>
                <a:spcPct val="150000"/>
              </a:lnSpc>
              <a:spcAft>
                <a:spcPts val="0"/>
              </a:spcAft>
            </a:pPr>
            <a:r>
              <a:rPr lang="zh-CN" altLang="en-US" sz="1800" dirty="0" smtClean="0">
                <a:latin typeface="Times New Roman" panose="02020603050405020304" pitchFamily="18" charset="0"/>
                <a:cs typeface="Times New Roman" panose="02020603050405020304" pitchFamily="18" charset="0"/>
              </a:rPr>
              <a:t>由于滤波器截止频率</a:t>
            </a:r>
            <a:r>
              <a:rPr lang="en-US" altLang="zh-CN" sz="1800" dirty="0" smtClean="0">
                <a:latin typeface="Times New Roman" panose="02020603050405020304" pitchFamily="18" charset="0"/>
                <a:cs typeface="Times New Roman" panose="02020603050405020304" pitchFamily="18" charset="0"/>
              </a:rPr>
              <a:t>300kHz</a:t>
            </a:r>
            <a:r>
              <a:rPr lang="zh-CN" altLang="en-US" sz="1800" dirty="0" smtClean="0">
                <a:latin typeface="Times New Roman" panose="02020603050405020304" pitchFamily="18" charset="0"/>
                <a:cs typeface="Times New Roman" panose="02020603050405020304" pitchFamily="18" charset="0"/>
              </a:rPr>
              <a:t>，信号（</a:t>
            </a:r>
            <a:r>
              <a:rPr lang="en-US" altLang="zh-CN" sz="1800" dirty="0" smtClean="0">
                <a:latin typeface="Times New Roman" panose="02020603050405020304" pitchFamily="18" charset="0"/>
                <a:cs typeface="Times New Roman" panose="02020603050405020304" pitchFamily="18" charset="0"/>
              </a:rPr>
              <a:t>200kHz~240kHz</a:t>
            </a:r>
            <a:r>
              <a:rPr lang="zh-CN" altLang="en-US" sz="1800" dirty="0" smtClean="0">
                <a:latin typeface="Times New Roman" panose="02020603050405020304" pitchFamily="18" charset="0"/>
                <a:cs typeface="Times New Roman" panose="02020603050405020304" pitchFamily="18" charset="0"/>
              </a:rPr>
              <a:t>）中的各高次谐波均被滤除，经过低通滤波器的信号波形类似正弦波，但并非周期波形</a:t>
            </a:r>
            <a:endParaRPr lang="zh-CN" altLang="en-US" sz="1800" dirty="0"/>
          </a:p>
        </p:txBody>
      </p:sp>
    </p:spTree>
    <p:extLst>
      <p:ext uri="{BB962C8B-B14F-4D97-AF65-F5344CB8AC3E}">
        <p14:creationId xmlns:p14="http://schemas.microsoft.com/office/powerpoint/2010/main" val="2997394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309186" y="421018"/>
            <a:ext cx="8557002" cy="590931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zh-CN" sz="1800" dirty="0"/>
              <a:t>同步时钟提取</a:t>
            </a:r>
            <a:r>
              <a:rPr lang="zh-CN" altLang="zh-CN" sz="1800" dirty="0" smtClean="0"/>
              <a:t>电路</a:t>
            </a:r>
            <a:endParaRPr lang="zh-CN" altLang="zh-CN" sz="1800" dirty="0"/>
          </a:p>
          <a:p>
            <a:pPr marL="285750" indent="-285750">
              <a:lnSpc>
                <a:spcPct val="150000"/>
              </a:lnSpc>
              <a:buFont typeface="Arial" panose="020B0604020202020204" pitchFamily="34" charset="0"/>
              <a:buChar char="•"/>
            </a:pPr>
            <a:r>
              <a:rPr lang="zh-CN" altLang="zh-CN" sz="1800" dirty="0" smtClean="0"/>
              <a:t>低噪声放大器</a:t>
            </a:r>
            <a:r>
              <a:rPr lang="zh-CN" altLang="en-US" sz="1800" dirty="0" smtClean="0"/>
              <a:t>与整形电路</a:t>
            </a:r>
            <a:r>
              <a:rPr lang="zh-CN" altLang="zh-CN" sz="1800" dirty="0" smtClean="0"/>
              <a:t>，</a:t>
            </a:r>
            <a:r>
              <a:rPr lang="zh-CN" altLang="zh-CN" sz="1800" dirty="0"/>
              <a:t>将</a:t>
            </a:r>
            <a:r>
              <a:rPr lang="en-US" altLang="zh-CN" sz="1800" dirty="0"/>
              <a:t>0.1V</a:t>
            </a:r>
            <a:r>
              <a:rPr lang="zh-CN" altLang="zh-CN" sz="1800" dirty="0"/>
              <a:t>的信号放大到合适的电平</a:t>
            </a:r>
            <a:r>
              <a:rPr lang="zh-CN" altLang="zh-CN" sz="1800" dirty="0" smtClean="0"/>
              <a:t>后整形</a:t>
            </a:r>
            <a:r>
              <a:rPr lang="zh-CN" altLang="zh-CN" sz="1800" dirty="0"/>
              <a:t>成</a:t>
            </a:r>
            <a:r>
              <a:rPr lang="zh-CN" altLang="zh-CN" sz="1800" dirty="0" smtClean="0"/>
              <a:t>矩形脉冲</a:t>
            </a:r>
            <a:endParaRPr lang="en-US" altLang="zh-CN" sz="1800" dirty="0" smtClean="0"/>
          </a:p>
          <a:p>
            <a:pPr marL="285750" indent="-285750">
              <a:lnSpc>
                <a:spcPct val="150000"/>
              </a:lnSpc>
              <a:buFont typeface="Arial" panose="020B0604020202020204" pitchFamily="34" charset="0"/>
              <a:buChar char="•"/>
            </a:pPr>
            <a:endParaRPr lang="en-US" altLang="zh-CN" sz="1800" dirty="0"/>
          </a:p>
          <a:p>
            <a:pPr marL="285750" indent="-285750">
              <a:lnSpc>
                <a:spcPct val="150000"/>
              </a:lnSpc>
              <a:buFont typeface="Arial" panose="020B0604020202020204" pitchFamily="34" charset="0"/>
              <a:buChar char="•"/>
            </a:pPr>
            <a:endParaRPr lang="en-US" altLang="zh-CN" sz="1800" dirty="0" smtClean="0"/>
          </a:p>
          <a:p>
            <a:pPr marL="285750" indent="-285750">
              <a:lnSpc>
                <a:spcPct val="150000"/>
              </a:lnSpc>
              <a:buFont typeface="Arial" panose="020B0604020202020204" pitchFamily="34" charset="0"/>
              <a:buChar char="•"/>
            </a:pPr>
            <a:endParaRPr lang="en-US" altLang="zh-CN" sz="1800" dirty="0" smtClean="0"/>
          </a:p>
          <a:p>
            <a:pPr marL="285750" indent="-285750">
              <a:lnSpc>
                <a:spcPct val="150000"/>
              </a:lnSpc>
              <a:buFont typeface="Arial" panose="020B0604020202020204" pitchFamily="34" charset="0"/>
              <a:buChar char="•"/>
            </a:pPr>
            <a:r>
              <a:rPr lang="zh-CN" altLang="en-US" sz="1800" dirty="0" smtClean="0"/>
              <a:t>基于</a:t>
            </a:r>
            <a:r>
              <a:rPr lang="zh-CN" altLang="zh-CN" sz="1800" dirty="0" smtClean="0"/>
              <a:t>锁相环</a:t>
            </a:r>
            <a:r>
              <a:rPr lang="zh-CN" altLang="zh-CN" sz="1800" dirty="0"/>
              <a:t>完成</a:t>
            </a:r>
            <a:r>
              <a:rPr lang="zh-CN" altLang="zh-CN" sz="1800" dirty="0" smtClean="0"/>
              <a:t>的</a:t>
            </a:r>
            <a:r>
              <a:rPr lang="zh-CN" altLang="zh-CN" sz="1800" dirty="0"/>
              <a:t>同步信号</a:t>
            </a:r>
            <a:r>
              <a:rPr lang="zh-CN" altLang="zh-CN" sz="1800" dirty="0" smtClean="0"/>
              <a:t>提取</a:t>
            </a:r>
            <a:r>
              <a:rPr lang="zh-CN" altLang="en-US" sz="1800" dirty="0" smtClean="0"/>
              <a:t>电路</a:t>
            </a:r>
            <a:endParaRPr lang="en-US" altLang="zh-CN" sz="1800" dirty="0" smtClean="0"/>
          </a:p>
          <a:p>
            <a:pPr marL="360000" lvl="1">
              <a:lnSpc>
                <a:spcPct val="150000"/>
              </a:lnSpc>
            </a:pPr>
            <a:r>
              <a:rPr lang="en-US" altLang="zh-CN" sz="1800" dirty="0" smtClean="0"/>
              <a:t>1</a:t>
            </a:r>
            <a:r>
              <a:rPr lang="zh-CN" altLang="en-US" sz="1800" dirty="0" smtClean="0"/>
              <a:t>、用异或门提取边沿信息</a:t>
            </a:r>
            <a:endParaRPr lang="en-US" altLang="zh-CN" sz="1800" dirty="0"/>
          </a:p>
          <a:p>
            <a:pPr marL="360000" lvl="1">
              <a:lnSpc>
                <a:spcPct val="150000"/>
              </a:lnSpc>
            </a:pPr>
            <a:endParaRPr lang="en-US" altLang="zh-CN" sz="1800" dirty="0" smtClean="0"/>
          </a:p>
          <a:p>
            <a:pPr marL="360000" lvl="1">
              <a:lnSpc>
                <a:spcPct val="150000"/>
              </a:lnSpc>
            </a:pPr>
            <a:endParaRPr lang="en-US" altLang="zh-CN" sz="1800" dirty="0"/>
          </a:p>
          <a:p>
            <a:pPr marL="360000" lvl="1">
              <a:lnSpc>
                <a:spcPct val="150000"/>
              </a:lnSpc>
            </a:pPr>
            <a:endParaRPr lang="en-US" altLang="zh-CN" sz="1800" dirty="0" smtClean="0"/>
          </a:p>
          <a:p>
            <a:pPr marL="360000" lvl="1">
              <a:lnSpc>
                <a:spcPct val="150000"/>
              </a:lnSpc>
            </a:pPr>
            <a:endParaRPr lang="en-US" altLang="zh-CN" sz="1800" dirty="0" smtClean="0"/>
          </a:p>
          <a:p>
            <a:pPr marL="360000" lvl="1">
              <a:lnSpc>
                <a:spcPct val="150000"/>
              </a:lnSpc>
            </a:pPr>
            <a:r>
              <a:rPr lang="en-US" altLang="zh-CN" sz="1800" dirty="0" smtClean="0"/>
              <a:t>2</a:t>
            </a:r>
            <a:r>
              <a:rPr lang="zh-CN" altLang="en-US" sz="1800" dirty="0" smtClean="0"/>
              <a:t>、为了获得最佳的捕捉范围，采用</a:t>
            </a:r>
            <a:r>
              <a:rPr lang="en-US" altLang="zh-CN" sz="1800" dirty="0" smtClean="0"/>
              <a:t>PFD</a:t>
            </a:r>
            <a:r>
              <a:rPr lang="zh-CN" altLang="en-US" sz="1800" dirty="0" smtClean="0"/>
              <a:t>鉴相</a:t>
            </a:r>
            <a:endParaRPr lang="en-US" altLang="zh-CN" sz="1800" dirty="0" smtClean="0"/>
          </a:p>
          <a:p>
            <a:pPr marL="360000" lvl="1">
              <a:lnSpc>
                <a:spcPct val="150000"/>
              </a:lnSpc>
            </a:pPr>
            <a:r>
              <a:rPr lang="en-US" altLang="zh-CN" sz="1800" dirty="0" smtClean="0"/>
              <a:t>3</a:t>
            </a:r>
            <a:r>
              <a:rPr lang="zh-CN" altLang="en-US" sz="1800" dirty="0" smtClean="0"/>
              <a:t>、</a:t>
            </a:r>
            <a:r>
              <a:rPr lang="en-US" altLang="zh-CN" sz="1800" dirty="0" smtClean="0"/>
              <a:t>VCO</a:t>
            </a:r>
            <a:r>
              <a:rPr lang="zh-CN" altLang="en-US" sz="1800" dirty="0" smtClean="0"/>
              <a:t>的可控振荡频率范围必须大于输入信号的频率范围（在本题中就是时钟信号</a:t>
            </a:r>
            <a:r>
              <a:rPr lang="en-US" altLang="zh-CN" sz="1800" dirty="0" smtClean="0"/>
              <a:t>CK</a:t>
            </a:r>
            <a:r>
              <a:rPr lang="zh-CN" altLang="en-US" sz="1800" dirty="0" smtClean="0"/>
              <a:t>的频率）</a:t>
            </a:r>
            <a:endParaRPr lang="zh-CN" altLang="en-US" sz="1800" dirty="0"/>
          </a:p>
        </p:txBody>
      </p:sp>
      <p:pic>
        <p:nvPicPr>
          <p:cNvPr id="8" name="图片 7"/>
          <p:cNvPicPr>
            <a:picLocks noChangeAspect="1"/>
          </p:cNvPicPr>
          <p:nvPr/>
        </p:nvPicPr>
        <p:blipFill>
          <a:blip r:embed="rId2"/>
          <a:stretch>
            <a:fillRect/>
          </a:stretch>
        </p:blipFill>
        <p:spPr>
          <a:xfrm>
            <a:off x="1966947" y="1488710"/>
            <a:ext cx="4922861" cy="764419"/>
          </a:xfrm>
          <a:prstGeom prst="rect">
            <a:avLst/>
          </a:prstGeom>
        </p:spPr>
      </p:pic>
      <p:pic>
        <p:nvPicPr>
          <p:cNvPr id="6" name="图片 5"/>
          <p:cNvPicPr>
            <a:picLocks noChangeAspect="1"/>
          </p:cNvPicPr>
          <p:nvPr/>
        </p:nvPicPr>
        <p:blipFill>
          <a:blip r:embed="rId3"/>
          <a:stretch>
            <a:fillRect/>
          </a:stretch>
        </p:blipFill>
        <p:spPr>
          <a:xfrm>
            <a:off x="1403053" y="3447021"/>
            <a:ext cx="6713987" cy="1394693"/>
          </a:xfrm>
          <a:prstGeom prst="rect">
            <a:avLst/>
          </a:prstGeom>
        </p:spPr>
      </p:pic>
    </p:spTree>
    <p:extLst>
      <p:ext uri="{BB962C8B-B14F-4D97-AF65-F5344CB8AC3E}">
        <p14:creationId xmlns:p14="http://schemas.microsoft.com/office/powerpoint/2010/main" val="1221344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文本框 4"/>
          <p:cNvSpPr txBox="1"/>
          <p:nvPr/>
        </p:nvSpPr>
        <p:spPr>
          <a:xfrm>
            <a:off x="269715" y="506538"/>
            <a:ext cx="8538786" cy="5521512"/>
          </a:xfrm>
          <a:prstGeom prst="rect">
            <a:avLst/>
          </a:prstGeom>
          <a:noFill/>
        </p:spPr>
        <p:txBody>
          <a:bodyPr wrap="square" rtlCol="0">
            <a:spAutoFit/>
          </a:bodyPr>
          <a:lstStyle/>
          <a:p>
            <a:pPr>
              <a:lnSpc>
                <a:spcPct val="140000"/>
              </a:lnSpc>
            </a:pPr>
            <a:r>
              <a:rPr lang="en-US" altLang="zh-CN" sz="1800" dirty="0" smtClean="0"/>
              <a:t>4</a:t>
            </a:r>
            <a:r>
              <a:rPr lang="zh-CN" altLang="en-US" sz="1800" dirty="0" smtClean="0"/>
              <a:t>、环路滤波器的设计</a:t>
            </a:r>
            <a:endParaRPr lang="en-US" altLang="zh-CN" sz="1800" dirty="0" smtClean="0"/>
          </a:p>
          <a:p>
            <a:pPr indent="468000">
              <a:lnSpc>
                <a:spcPct val="140000"/>
              </a:lnSpc>
            </a:pPr>
            <a:r>
              <a:rPr lang="zh-CN" altLang="en-US" sz="1800" dirty="0" smtClean="0"/>
              <a:t>除了阻尼因子取</a:t>
            </a:r>
            <a:r>
              <a:rPr lang="en-US" altLang="zh-CN" sz="1800" dirty="0" smtClean="0"/>
              <a:t>0.7</a:t>
            </a:r>
            <a:r>
              <a:rPr lang="zh-CN" altLang="en-US" sz="1800" dirty="0" smtClean="0"/>
              <a:t>左右外，这个同步电路中最值得讨论的是自然频率</a:t>
            </a:r>
            <a:endParaRPr lang="en-US" altLang="zh-CN" sz="1800" dirty="0" smtClean="0"/>
          </a:p>
          <a:p>
            <a:pPr indent="468000">
              <a:lnSpc>
                <a:spcPct val="140000"/>
              </a:lnSpc>
            </a:pPr>
            <a:r>
              <a:rPr lang="zh-CN" altLang="en-US" sz="1800" dirty="0" smtClean="0"/>
              <a:t>作为载波跟踪电路，</a:t>
            </a:r>
            <a:r>
              <a:rPr lang="zh-CN" altLang="en-US" sz="1800" dirty="0"/>
              <a:t>同步</a:t>
            </a:r>
            <a:r>
              <a:rPr lang="zh-CN" altLang="en-US" sz="1800" dirty="0" smtClean="0"/>
              <a:t>电路的自然频率应远低于输入信号频率。问题在于输入信号中可能出现长时间的</a:t>
            </a:r>
            <a:r>
              <a:rPr lang="en-US" altLang="zh-CN" sz="1800" dirty="0" smtClean="0"/>
              <a:t>1</a:t>
            </a:r>
            <a:r>
              <a:rPr lang="zh-CN" altLang="en-US" sz="1800" dirty="0" smtClean="0"/>
              <a:t>或者</a:t>
            </a:r>
            <a:r>
              <a:rPr lang="en-US" altLang="zh-CN" sz="1800" dirty="0" smtClean="0"/>
              <a:t>0</a:t>
            </a:r>
            <a:r>
              <a:rPr lang="zh-CN" altLang="en-US" sz="1800" dirty="0" smtClean="0"/>
              <a:t>，所以自然频率不能依靠信号时钟频率确定</a:t>
            </a:r>
            <a:endParaRPr lang="en-US" altLang="zh-CN" sz="1800" dirty="0" smtClean="0"/>
          </a:p>
          <a:p>
            <a:pPr indent="468000">
              <a:lnSpc>
                <a:spcPct val="140000"/>
              </a:lnSpc>
            </a:pPr>
            <a:r>
              <a:rPr lang="en-US" altLang="zh-CN" sz="1800" dirty="0"/>
              <a:t>m</a:t>
            </a:r>
            <a:r>
              <a:rPr lang="zh-CN" altLang="zh-CN" sz="1800" dirty="0"/>
              <a:t>序列发生器产生的是一种伪随机码。此码的特点是由</a:t>
            </a:r>
            <a:r>
              <a:rPr lang="en-US" altLang="zh-CN" sz="1800" dirty="0"/>
              <a:t>n</a:t>
            </a:r>
            <a:r>
              <a:rPr lang="zh-CN" altLang="zh-CN" sz="1800" dirty="0"/>
              <a:t>级移位寄存器产生的</a:t>
            </a:r>
            <a:r>
              <a:rPr lang="en-US" altLang="zh-CN" sz="1800" dirty="0"/>
              <a:t>m</a:t>
            </a:r>
            <a:r>
              <a:rPr lang="zh-CN" altLang="zh-CN" sz="1800" dirty="0"/>
              <a:t>序列能产生最大长度为</a:t>
            </a:r>
            <a:r>
              <a:rPr lang="en-US" altLang="zh-CN" sz="1800" dirty="0"/>
              <a:t>2</a:t>
            </a:r>
            <a:r>
              <a:rPr lang="en-US" altLang="zh-CN" sz="1800" baseline="30000" dirty="0"/>
              <a:t>n</a:t>
            </a:r>
            <a:r>
              <a:rPr lang="en-US" altLang="zh-CN" sz="1800" dirty="0"/>
              <a:t>-1</a:t>
            </a:r>
            <a:r>
              <a:rPr lang="zh-CN" altLang="zh-CN" sz="1800" dirty="0" smtClean="0"/>
              <a:t>位（在</a:t>
            </a:r>
            <a:r>
              <a:rPr lang="zh-CN" altLang="zh-CN" sz="1800" dirty="0"/>
              <a:t>本题中</a:t>
            </a:r>
            <a:r>
              <a:rPr lang="zh-CN" altLang="zh-CN" sz="1800" dirty="0" smtClean="0"/>
              <a:t>为</a:t>
            </a:r>
            <a:r>
              <a:rPr lang="en-US" altLang="zh-CN" sz="1800" dirty="0" smtClean="0"/>
              <a:t>2</a:t>
            </a:r>
            <a:r>
              <a:rPr lang="en-US" altLang="zh-CN" sz="1800" baseline="30000" dirty="0" smtClean="0"/>
              <a:t>8</a:t>
            </a:r>
            <a:r>
              <a:rPr lang="en-US" altLang="zh-CN" sz="1800" dirty="0" smtClean="0"/>
              <a:t>-1=255</a:t>
            </a:r>
            <a:r>
              <a:rPr lang="zh-CN" altLang="en-US" sz="1800" dirty="0" smtClean="0"/>
              <a:t>位</a:t>
            </a:r>
            <a:r>
              <a:rPr lang="zh-CN" altLang="zh-CN" sz="1800" dirty="0" smtClean="0"/>
              <a:t>）</a:t>
            </a:r>
            <a:r>
              <a:rPr lang="zh-CN" altLang="zh-CN" sz="1800" dirty="0"/>
              <a:t>的码序列</a:t>
            </a:r>
            <a:r>
              <a:rPr lang="zh-CN" altLang="zh-CN" sz="1800" dirty="0" smtClean="0"/>
              <a:t>，</a:t>
            </a:r>
            <a:r>
              <a:rPr lang="zh-CN" altLang="zh-CN" sz="1800" dirty="0"/>
              <a:t>其中</a:t>
            </a:r>
            <a:r>
              <a:rPr lang="en-US" altLang="zh-CN" sz="1800" dirty="0"/>
              <a:t>0</a:t>
            </a:r>
            <a:r>
              <a:rPr lang="zh-CN" altLang="zh-CN" sz="1800" dirty="0"/>
              <a:t>和</a:t>
            </a:r>
            <a:r>
              <a:rPr lang="en-US" altLang="zh-CN" sz="1800" dirty="0"/>
              <a:t>1</a:t>
            </a:r>
            <a:r>
              <a:rPr lang="zh-CN" altLang="zh-CN" sz="1800" dirty="0"/>
              <a:t>的数目基本</a:t>
            </a:r>
            <a:r>
              <a:rPr lang="zh-CN" altLang="zh-CN" sz="1800" dirty="0" smtClean="0"/>
              <a:t>相等。</a:t>
            </a:r>
            <a:endParaRPr lang="en-US" altLang="zh-CN" sz="1800" dirty="0" smtClean="0"/>
          </a:p>
          <a:p>
            <a:pPr indent="468000">
              <a:lnSpc>
                <a:spcPct val="140000"/>
              </a:lnSpc>
            </a:pPr>
            <a:r>
              <a:rPr lang="zh-CN" altLang="en-US" sz="1800" dirty="0" smtClean="0"/>
              <a:t>序列中</a:t>
            </a:r>
            <a:r>
              <a:rPr lang="zh-CN" altLang="zh-CN" sz="1800" dirty="0" smtClean="0"/>
              <a:t>连续的</a:t>
            </a:r>
            <a:r>
              <a:rPr lang="en-US" altLang="zh-CN" sz="1800" dirty="0"/>
              <a:t>1</a:t>
            </a:r>
            <a:r>
              <a:rPr lang="zh-CN" altLang="zh-CN" sz="1800" dirty="0"/>
              <a:t>或者连续的</a:t>
            </a:r>
            <a:r>
              <a:rPr lang="en-US" altLang="zh-CN" sz="1800" dirty="0"/>
              <a:t>0</a:t>
            </a:r>
            <a:r>
              <a:rPr lang="zh-CN" altLang="zh-CN" sz="1800" dirty="0"/>
              <a:t>被称为游程，游程中</a:t>
            </a:r>
            <a:r>
              <a:rPr lang="en-US" altLang="zh-CN" sz="1800" dirty="0"/>
              <a:t>1</a:t>
            </a:r>
            <a:r>
              <a:rPr lang="zh-CN" altLang="zh-CN" sz="1800" dirty="0"/>
              <a:t>或</a:t>
            </a:r>
            <a:r>
              <a:rPr lang="en-US" altLang="zh-CN" sz="1800" dirty="0"/>
              <a:t>0</a:t>
            </a:r>
            <a:r>
              <a:rPr lang="zh-CN" altLang="zh-CN" sz="1800" dirty="0"/>
              <a:t>的个数称为游程长度。</a:t>
            </a:r>
            <a:r>
              <a:rPr lang="en-US" altLang="zh-CN" sz="1800" dirty="0"/>
              <a:t>n</a:t>
            </a:r>
            <a:r>
              <a:rPr lang="zh-CN" altLang="zh-CN" sz="1800" dirty="0"/>
              <a:t>级</a:t>
            </a:r>
            <a:r>
              <a:rPr lang="en-US" altLang="zh-CN" sz="1800" dirty="0"/>
              <a:t>m</a:t>
            </a:r>
            <a:r>
              <a:rPr lang="zh-CN" altLang="zh-CN" sz="1800" dirty="0"/>
              <a:t>序列的一个周期中总共有</a:t>
            </a:r>
            <a:r>
              <a:rPr lang="en-US" altLang="zh-CN" sz="1800" dirty="0"/>
              <a:t>2</a:t>
            </a:r>
            <a:r>
              <a:rPr lang="en-US" altLang="zh-CN" sz="1800" baseline="30000" dirty="0"/>
              <a:t>n-1</a:t>
            </a:r>
            <a:r>
              <a:rPr lang="zh-CN" altLang="zh-CN" sz="1800" dirty="0"/>
              <a:t>个游程，其中长度为</a:t>
            </a:r>
            <a:r>
              <a:rPr lang="en-US" altLang="zh-CN" sz="1800" dirty="0"/>
              <a:t>1</a:t>
            </a:r>
            <a:r>
              <a:rPr lang="zh-CN" altLang="zh-CN" sz="1800" dirty="0"/>
              <a:t>的游程占总游程数的</a:t>
            </a:r>
            <a:r>
              <a:rPr lang="en-US" altLang="zh-CN" sz="1800" dirty="0"/>
              <a:t>1/2</a:t>
            </a:r>
            <a:r>
              <a:rPr lang="zh-CN" altLang="zh-CN" sz="1800" dirty="0"/>
              <a:t>，长度为</a:t>
            </a:r>
            <a:r>
              <a:rPr lang="en-US" altLang="zh-CN" sz="1800" dirty="0"/>
              <a:t>2</a:t>
            </a:r>
            <a:r>
              <a:rPr lang="zh-CN" altLang="zh-CN" sz="1800" dirty="0"/>
              <a:t>的游程占总游程数的</a:t>
            </a:r>
            <a:r>
              <a:rPr lang="en-US" altLang="zh-CN" sz="1800" dirty="0"/>
              <a:t>1/4</a:t>
            </a:r>
            <a:r>
              <a:rPr lang="zh-CN" altLang="zh-CN" sz="1800" dirty="0"/>
              <a:t>，</a:t>
            </a:r>
            <a:r>
              <a:rPr lang="en-US" altLang="zh-CN" sz="1800" dirty="0"/>
              <a:t>… </a:t>
            </a:r>
            <a:r>
              <a:rPr lang="zh-CN" altLang="en-US" sz="1800" dirty="0" smtClean="0"/>
              <a:t>。</a:t>
            </a:r>
            <a:r>
              <a:rPr lang="zh-CN" altLang="zh-CN" sz="1800" dirty="0" smtClean="0"/>
              <a:t>最</a:t>
            </a:r>
            <a:r>
              <a:rPr lang="zh-CN" altLang="zh-CN" sz="1800" dirty="0"/>
              <a:t>长的游程是</a:t>
            </a:r>
            <a:r>
              <a:rPr lang="en-US" altLang="zh-CN" sz="1800" dirty="0"/>
              <a:t>n</a:t>
            </a:r>
            <a:r>
              <a:rPr lang="zh-CN" altLang="zh-CN" sz="1800" dirty="0"/>
              <a:t>个全</a:t>
            </a:r>
            <a:r>
              <a:rPr lang="en-US" altLang="zh-CN" sz="1800" dirty="0"/>
              <a:t>1</a:t>
            </a:r>
            <a:r>
              <a:rPr lang="zh-CN" altLang="zh-CN" sz="1800" dirty="0"/>
              <a:t>以及</a:t>
            </a:r>
            <a:r>
              <a:rPr lang="en-US" altLang="zh-CN" sz="1800" dirty="0"/>
              <a:t>n-1</a:t>
            </a:r>
            <a:r>
              <a:rPr lang="zh-CN" altLang="zh-CN" sz="1800" dirty="0"/>
              <a:t>个全</a:t>
            </a:r>
            <a:r>
              <a:rPr lang="en-US" altLang="zh-CN" sz="1800" dirty="0" smtClean="0"/>
              <a:t>0</a:t>
            </a:r>
            <a:r>
              <a:rPr lang="zh-CN" altLang="en-US" sz="1800" dirty="0" smtClean="0"/>
              <a:t>，所以在本题中，可能出现连续</a:t>
            </a:r>
            <a:r>
              <a:rPr lang="en-US" altLang="zh-CN" sz="1800" dirty="0" smtClean="0"/>
              <a:t>8</a:t>
            </a:r>
            <a:r>
              <a:rPr lang="zh-CN" altLang="en-US" sz="1800" dirty="0" smtClean="0"/>
              <a:t>个</a:t>
            </a:r>
            <a:r>
              <a:rPr lang="en-US" altLang="zh-CN" sz="1800" dirty="0" smtClean="0"/>
              <a:t>1</a:t>
            </a:r>
            <a:r>
              <a:rPr lang="zh-CN" altLang="en-US" sz="1800" dirty="0" smtClean="0"/>
              <a:t>和连续</a:t>
            </a:r>
            <a:r>
              <a:rPr lang="en-US" altLang="zh-CN" sz="1800" dirty="0" smtClean="0"/>
              <a:t>7</a:t>
            </a:r>
            <a:r>
              <a:rPr lang="zh-CN" altLang="en-US" sz="1800" dirty="0" smtClean="0"/>
              <a:t>个</a:t>
            </a:r>
            <a:r>
              <a:rPr lang="en-US" altLang="zh-CN" sz="1800" dirty="0" smtClean="0"/>
              <a:t>0</a:t>
            </a:r>
          </a:p>
          <a:p>
            <a:pPr indent="468000">
              <a:lnSpc>
                <a:spcPct val="140000"/>
              </a:lnSpc>
            </a:pPr>
            <a:r>
              <a:rPr lang="zh-CN" altLang="en-US" sz="1800" dirty="0"/>
              <a:t>当</a:t>
            </a:r>
            <a:r>
              <a:rPr lang="zh-CN" altLang="en-US" sz="1800" dirty="0" smtClean="0"/>
              <a:t>出现连续</a:t>
            </a:r>
            <a:r>
              <a:rPr lang="en-US" altLang="zh-CN" sz="1800" dirty="0" smtClean="0"/>
              <a:t>1</a:t>
            </a:r>
            <a:r>
              <a:rPr lang="zh-CN" altLang="en-US" sz="1800" dirty="0" smtClean="0"/>
              <a:t>或连续</a:t>
            </a:r>
            <a:r>
              <a:rPr lang="en-US" altLang="zh-CN" sz="1800" dirty="0" smtClean="0"/>
              <a:t>0</a:t>
            </a:r>
            <a:r>
              <a:rPr lang="zh-CN" altLang="en-US" sz="1800" dirty="0" smtClean="0"/>
              <a:t>时，由于缺乏边沿信息，送到鉴相器的输入脉冲出现空缺，此时的锁相环输出频率将出现漂移，等下一个边沿信息到来时，锁相环又要重新回到原先的锁定状态，结果就造成输出的相位抖动</a:t>
            </a:r>
            <a:endParaRPr lang="zh-CN" altLang="en-US" sz="1600" dirty="0"/>
          </a:p>
        </p:txBody>
      </p:sp>
    </p:spTree>
    <p:extLst>
      <p:ext uri="{BB962C8B-B14F-4D97-AF65-F5344CB8AC3E}">
        <p14:creationId xmlns:p14="http://schemas.microsoft.com/office/powerpoint/2010/main" val="1129704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262626" y="383655"/>
            <a:ext cx="8538786" cy="5995487"/>
          </a:xfrm>
          <a:prstGeom prst="rect">
            <a:avLst/>
          </a:prstGeom>
          <a:noFill/>
        </p:spPr>
        <p:txBody>
          <a:bodyPr wrap="square" rtlCol="0">
            <a:spAutoFit/>
          </a:bodyPr>
          <a:lstStyle/>
          <a:p>
            <a:pPr indent="468000">
              <a:lnSpc>
                <a:spcPct val="140000"/>
              </a:lnSpc>
            </a:pPr>
            <a:r>
              <a:rPr lang="zh-CN" altLang="en-US" sz="1800" dirty="0" smtClean="0"/>
              <a:t>下图是</a:t>
            </a:r>
            <a:r>
              <a:rPr lang="en-US" altLang="zh-CN" sz="1800" dirty="0" smtClean="0"/>
              <a:t>PFD</a:t>
            </a:r>
            <a:r>
              <a:rPr lang="zh-CN" altLang="en-US" sz="1800" dirty="0" smtClean="0"/>
              <a:t>的输入出现空缺时，它与环路滤波器的输出之间的关系</a:t>
            </a:r>
            <a:endParaRPr lang="en-US" altLang="zh-CN" sz="1800" dirty="0" smtClean="0"/>
          </a:p>
          <a:p>
            <a:pPr indent="468000">
              <a:lnSpc>
                <a:spcPct val="140000"/>
              </a:lnSpc>
            </a:pPr>
            <a:endParaRPr lang="en-US" altLang="zh-CN" sz="1800" dirty="0"/>
          </a:p>
          <a:p>
            <a:pPr indent="468000">
              <a:lnSpc>
                <a:spcPct val="140000"/>
              </a:lnSpc>
            </a:pPr>
            <a:endParaRPr lang="en-US" altLang="zh-CN" sz="1800" dirty="0" smtClean="0"/>
          </a:p>
          <a:p>
            <a:pPr indent="468000">
              <a:lnSpc>
                <a:spcPct val="140000"/>
              </a:lnSpc>
            </a:pPr>
            <a:endParaRPr lang="en-US" altLang="zh-CN" sz="1800" dirty="0"/>
          </a:p>
          <a:p>
            <a:pPr indent="468000">
              <a:lnSpc>
                <a:spcPct val="140000"/>
              </a:lnSpc>
            </a:pPr>
            <a:endParaRPr lang="en-US" altLang="zh-CN" sz="1200" dirty="0" smtClean="0"/>
          </a:p>
          <a:p>
            <a:pPr indent="468000">
              <a:lnSpc>
                <a:spcPct val="140000"/>
              </a:lnSpc>
            </a:pPr>
            <a:endParaRPr lang="en-US" altLang="zh-CN" sz="1400" dirty="0" smtClean="0"/>
          </a:p>
          <a:p>
            <a:pPr indent="468000">
              <a:lnSpc>
                <a:spcPct val="140000"/>
              </a:lnSpc>
            </a:pPr>
            <a:endParaRPr lang="en-US" altLang="zh-CN" sz="1800" dirty="0"/>
          </a:p>
          <a:p>
            <a:pPr indent="468000">
              <a:lnSpc>
                <a:spcPct val="140000"/>
              </a:lnSpc>
            </a:pPr>
            <a:r>
              <a:rPr lang="zh-CN" altLang="en-US" sz="1800" dirty="0" smtClean="0"/>
              <a:t>在正常锁定（边沿信息完整）状态，</a:t>
            </a:r>
            <a:r>
              <a:rPr lang="en-US" altLang="zh-CN" sz="1800" dirty="0" smtClean="0"/>
              <a:t>PFD</a:t>
            </a:r>
            <a:r>
              <a:rPr lang="zh-CN" altLang="en-US" sz="1800" dirty="0" smtClean="0"/>
              <a:t>同时得到两个上升沿，所以</a:t>
            </a:r>
            <a:r>
              <a:rPr lang="zh-CN" altLang="en-US" sz="1800" dirty="0"/>
              <a:t>其</a:t>
            </a:r>
            <a:r>
              <a:rPr lang="zh-CN" altLang="en-US" sz="1800" dirty="0" smtClean="0"/>
              <a:t>输出为高阻状态（图中虚线），环路滤波器的输出保持不变</a:t>
            </a:r>
            <a:endParaRPr lang="en-US" altLang="zh-CN" sz="1800" dirty="0" smtClean="0"/>
          </a:p>
          <a:p>
            <a:pPr indent="468000">
              <a:lnSpc>
                <a:spcPct val="140000"/>
              </a:lnSpc>
            </a:pPr>
            <a:r>
              <a:rPr lang="zh-CN" altLang="en-US" sz="1800" dirty="0" smtClean="0"/>
              <a:t>但是在输入信号连续</a:t>
            </a:r>
            <a:r>
              <a:rPr lang="en-US" altLang="zh-CN" sz="1800" dirty="0" smtClean="0"/>
              <a:t>0</a:t>
            </a:r>
            <a:r>
              <a:rPr lang="zh-CN" altLang="en-US" sz="1800" dirty="0" smtClean="0"/>
              <a:t>或连续</a:t>
            </a:r>
            <a:r>
              <a:rPr lang="en-US" altLang="zh-CN" sz="1800" dirty="0" smtClean="0"/>
              <a:t>1</a:t>
            </a:r>
            <a:r>
              <a:rPr lang="zh-CN" altLang="en-US" sz="1800" dirty="0" smtClean="0"/>
              <a:t>情况下，信号</a:t>
            </a:r>
            <a:r>
              <a:rPr lang="zh-CN" altLang="en-US" sz="1800" dirty="0"/>
              <a:t>边沿</a:t>
            </a:r>
            <a:r>
              <a:rPr lang="zh-CN" altLang="en-US" sz="1800" dirty="0" smtClean="0"/>
              <a:t>脉冲缺失，</a:t>
            </a:r>
            <a:r>
              <a:rPr lang="en-US" altLang="zh-CN" sz="1800" dirty="0" smtClean="0"/>
              <a:t>PFD</a:t>
            </a:r>
            <a:r>
              <a:rPr lang="zh-CN" altLang="en-US" sz="1800" dirty="0" smtClean="0"/>
              <a:t>在得到反馈的上升沿后，其输出立即</a:t>
            </a:r>
            <a:r>
              <a:rPr lang="zh-CN" altLang="en-US" sz="1800" dirty="0" smtClean="0"/>
              <a:t>变为低电平</a:t>
            </a:r>
            <a:r>
              <a:rPr lang="zh-CN" altLang="en-US" sz="1800" dirty="0" smtClean="0"/>
              <a:t>。此时环路滤波器的输出按照指数</a:t>
            </a:r>
            <a:r>
              <a:rPr lang="zh-CN" altLang="en-US" sz="1800" dirty="0" smtClean="0"/>
              <a:t>规律下降，</a:t>
            </a:r>
            <a:r>
              <a:rPr lang="zh-CN" altLang="en-US" sz="1800" dirty="0" smtClean="0"/>
              <a:t>对于超前滞后型滤波器有</a:t>
            </a:r>
            <a:endParaRPr lang="en-US" altLang="zh-CN" sz="1800" dirty="0" smtClean="0"/>
          </a:p>
          <a:p>
            <a:pPr indent="468000">
              <a:lnSpc>
                <a:spcPct val="140000"/>
              </a:lnSpc>
            </a:pPr>
            <a:endParaRPr lang="en-US" altLang="zh-CN" dirty="0" smtClean="0"/>
          </a:p>
          <a:p>
            <a:pPr>
              <a:lnSpc>
                <a:spcPct val="140000"/>
              </a:lnSpc>
            </a:pPr>
            <a:endParaRPr lang="en-US" altLang="zh-CN" sz="1200" dirty="0" smtClean="0"/>
          </a:p>
          <a:p>
            <a:pPr>
              <a:lnSpc>
                <a:spcPct val="140000"/>
              </a:lnSpc>
            </a:pPr>
            <a:r>
              <a:rPr lang="zh-CN" altLang="en-US" sz="1800" dirty="0" smtClean="0"/>
              <a:t>其中</a:t>
            </a:r>
            <a:r>
              <a:rPr lang="en-US" altLang="zh-CN" sz="1800" dirty="0" smtClean="0"/>
              <a:t>v(t)</a:t>
            </a:r>
            <a:r>
              <a:rPr lang="zh-CN" altLang="en-US" sz="1800" dirty="0" smtClean="0"/>
              <a:t>是环路滤波器输出电压，</a:t>
            </a:r>
            <a:r>
              <a:rPr lang="el-GR" altLang="zh-CN" sz="1800" dirty="0" smtClean="0"/>
              <a:t> </a:t>
            </a:r>
            <a:r>
              <a:rPr lang="en-US" altLang="zh-CN" sz="1800" dirty="0" smtClean="0"/>
              <a:t>V</a:t>
            </a:r>
            <a:r>
              <a:rPr lang="en-US" altLang="zh-CN" sz="1800" baseline="-25000" dirty="0" smtClean="0"/>
              <a:t>S</a:t>
            </a:r>
            <a:r>
              <a:rPr lang="zh-CN" altLang="en-US" sz="1800" dirty="0" smtClean="0"/>
              <a:t>是环路滤波器输入的阶跃电压，</a:t>
            </a:r>
            <a:r>
              <a:rPr lang="en-US" altLang="zh-CN" sz="1800" dirty="0" smtClean="0"/>
              <a:t>V(0)</a:t>
            </a:r>
            <a:r>
              <a:rPr lang="zh-CN" altLang="en-US" sz="1800" dirty="0" smtClean="0"/>
              <a:t>是环路滤波器输出的初始电压</a:t>
            </a:r>
            <a:endParaRPr lang="en-US" altLang="zh-CN" sz="1800" dirty="0" smtClean="0"/>
          </a:p>
        </p:txBody>
      </p:sp>
      <p:graphicFrame>
        <p:nvGraphicFramePr>
          <p:cNvPr id="8" name="对象 7"/>
          <p:cNvGraphicFramePr>
            <a:graphicFrameLocks noChangeAspect="1"/>
          </p:cNvGraphicFramePr>
          <p:nvPr>
            <p:extLst>
              <p:ext uri="{D42A27DB-BD31-4B8C-83A1-F6EECF244321}">
                <p14:modId xmlns:p14="http://schemas.microsoft.com/office/powerpoint/2010/main" val="3237519261"/>
              </p:ext>
            </p:extLst>
          </p:nvPr>
        </p:nvGraphicFramePr>
        <p:xfrm>
          <a:off x="1661950" y="4804463"/>
          <a:ext cx="5069976" cy="662201"/>
        </p:xfrm>
        <a:graphic>
          <a:graphicData uri="http://schemas.openxmlformats.org/presentationml/2006/ole">
            <mc:AlternateContent xmlns:mc="http://schemas.openxmlformats.org/markup-compatibility/2006">
              <mc:Choice xmlns:v="urn:schemas-microsoft-com:vml" Requires="v">
                <p:oleObj spid="_x0000_s52253" name="Equation" r:id="rId3" imgW="3111500" imgH="406400" progId="Equation.DSMT4">
                  <p:embed/>
                </p:oleObj>
              </mc:Choice>
              <mc:Fallback>
                <p:oleObj name="Equation" r:id="rId3" imgW="3111500" imgH="406400"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1950" y="4804463"/>
                        <a:ext cx="5069976" cy="66220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958641088"/>
              </p:ext>
            </p:extLst>
          </p:nvPr>
        </p:nvGraphicFramePr>
        <p:xfrm>
          <a:off x="18376" y="936965"/>
          <a:ext cx="8783036" cy="1966685"/>
        </p:xfrm>
        <a:graphic>
          <a:graphicData uri="http://schemas.openxmlformats.org/presentationml/2006/ole">
            <mc:AlternateContent xmlns:mc="http://schemas.openxmlformats.org/markup-compatibility/2006">
              <mc:Choice xmlns:v="urn:schemas-microsoft-com:vml" Requires="v">
                <p:oleObj spid="_x0000_s52254" name="Visio" r:id="rId5" imgW="4984561" imgH="1117239" progId="Visio.Drawing.15">
                  <p:embed/>
                </p:oleObj>
              </mc:Choice>
              <mc:Fallback>
                <p:oleObj name="Visio" r:id="rId5" imgW="4984561" imgH="1117239" progId="Visio.Drawing.15">
                  <p:embed/>
                  <p:pic>
                    <p:nvPicPr>
                      <p:cNvPr id="1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76" y="936965"/>
                        <a:ext cx="8783036" cy="1966685"/>
                      </a:xfrm>
                      <a:prstGeom prst="rect">
                        <a:avLst/>
                      </a:prstGeom>
                      <a:noFill/>
                    </p:spPr>
                  </p:pic>
                </p:oleObj>
              </mc:Fallback>
            </mc:AlternateContent>
          </a:graphicData>
        </a:graphic>
      </p:graphicFrame>
    </p:spTree>
    <p:extLst>
      <p:ext uri="{BB962C8B-B14F-4D97-AF65-F5344CB8AC3E}">
        <p14:creationId xmlns:p14="http://schemas.microsoft.com/office/powerpoint/2010/main" val="1846774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327402" y="421534"/>
            <a:ext cx="8538786" cy="4982903"/>
          </a:xfrm>
          <a:prstGeom prst="rect">
            <a:avLst/>
          </a:prstGeom>
          <a:noFill/>
        </p:spPr>
        <p:txBody>
          <a:bodyPr wrap="square" rtlCol="0">
            <a:spAutoFit/>
          </a:bodyPr>
          <a:lstStyle/>
          <a:p>
            <a:pPr indent="468000">
              <a:lnSpc>
                <a:spcPct val="140000"/>
              </a:lnSpc>
            </a:pPr>
            <a:r>
              <a:rPr lang="zh-CN" altLang="en-US" sz="1800" dirty="0" smtClean="0">
                <a:latin typeface="Times New Roman" panose="02020603050405020304" pitchFamily="18" charset="0"/>
              </a:rPr>
              <a:t>通常总有</a:t>
            </a:r>
            <a:r>
              <a:rPr lang="en-US" altLang="zh-CN" sz="1800" i="1" dirty="0" smtClean="0">
                <a:latin typeface="Times New Roman" panose="02020603050405020304" pitchFamily="18" charset="0"/>
              </a:rPr>
              <a:t>t</a:t>
            </a:r>
            <a:r>
              <a:rPr lang="en-US" altLang="zh-CN" sz="1800" dirty="0" smtClean="0">
                <a:latin typeface="Times New Roman" panose="02020603050405020304" pitchFamily="18" charset="0"/>
              </a:rPr>
              <a:t>&lt;&lt;(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zh-CN" altLang="en-US" sz="1800" dirty="0" smtClean="0">
                <a:latin typeface="Times New Roman" panose="02020603050405020304" pitchFamily="18" charset="0"/>
              </a:rPr>
              <a:t>，将上式中的指数用幂级数线性近似后有</a:t>
            </a:r>
            <a:endParaRPr lang="en-US" altLang="zh-CN" sz="1800" dirty="0" smtClean="0">
              <a:latin typeface="Times New Roman" panose="02020603050405020304" pitchFamily="18" charset="0"/>
            </a:endParaRPr>
          </a:p>
          <a:p>
            <a:pPr indent="468000">
              <a:lnSpc>
                <a:spcPct val="140000"/>
              </a:lnSpc>
            </a:pPr>
            <a:endParaRPr lang="en-US" altLang="zh-CN" sz="1800" dirty="0">
              <a:latin typeface="Times New Roman" panose="02020603050405020304" pitchFamily="18" charset="0"/>
            </a:endParaRPr>
          </a:p>
          <a:p>
            <a:pPr indent="468000">
              <a:lnSpc>
                <a:spcPct val="140000"/>
              </a:lnSpc>
            </a:pPr>
            <a:endParaRPr lang="en-US" altLang="zh-CN" sz="1800" dirty="0" smtClean="0">
              <a:latin typeface="Times New Roman" panose="02020603050405020304" pitchFamily="18" charset="0"/>
            </a:endParaRPr>
          </a:p>
          <a:p>
            <a:pPr indent="468000">
              <a:lnSpc>
                <a:spcPct val="140000"/>
              </a:lnSpc>
            </a:pPr>
            <a:r>
              <a:rPr lang="zh-CN" altLang="en-US" sz="1800" dirty="0">
                <a:latin typeface="Times New Roman" panose="02020603050405020304" pitchFamily="18" charset="0"/>
              </a:rPr>
              <a:t>再假设</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&lt;&lt;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1</a:t>
            </a:r>
            <a:r>
              <a:rPr lang="zh-CN" altLang="en-US" sz="1800" dirty="0">
                <a:latin typeface="Times New Roman" panose="02020603050405020304" pitchFamily="18" charset="0"/>
              </a:rPr>
              <a:t>（大部分情况下这个</a:t>
            </a:r>
            <a:r>
              <a:rPr lang="zh-CN" altLang="en-US" sz="1800" dirty="0" smtClean="0">
                <a:latin typeface="Times New Roman" panose="02020603050405020304" pitchFamily="18" charset="0"/>
              </a:rPr>
              <a:t>假设成立），则有</a:t>
            </a:r>
            <a:endParaRPr lang="en-US" altLang="zh-CN" sz="1800" dirty="0" smtClean="0">
              <a:latin typeface="Times New Roman" panose="02020603050405020304" pitchFamily="18" charset="0"/>
            </a:endParaRPr>
          </a:p>
          <a:p>
            <a:pPr indent="468000">
              <a:lnSpc>
                <a:spcPct val="140000"/>
              </a:lnSpc>
            </a:pPr>
            <a:endParaRPr lang="en-US" altLang="zh-CN" sz="1800" dirty="0">
              <a:latin typeface="Times New Roman" panose="02020603050405020304" pitchFamily="18" charset="0"/>
            </a:endParaRPr>
          </a:p>
          <a:p>
            <a:pPr indent="468000">
              <a:lnSpc>
                <a:spcPct val="140000"/>
              </a:lnSpc>
            </a:pPr>
            <a:endParaRPr lang="zh-CN" altLang="en-US" sz="1100" dirty="0">
              <a:latin typeface="Times New Roman" panose="02020603050405020304" pitchFamily="18" charset="0"/>
            </a:endParaRPr>
          </a:p>
          <a:p>
            <a:pPr indent="468000">
              <a:lnSpc>
                <a:spcPct val="140000"/>
              </a:lnSpc>
            </a:pPr>
            <a:r>
              <a:rPr lang="zh-CN" altLang="en-US" sz="1800" dirty="0" smtClean="0">
                <a:latin typeface="Times New Roman" panose="02020603050405020304" pitchFamily="18" charset="0"/>
              </a:rPr>
              <a:t>由于</a:t>
            </a:r>
            <a:r>
              <a:rPr lang="en-US" altLang="zh-CN" sz="1800" dirty="0" smtClean="0">
                <a:latin typeface="Times New Roman" panose="02020603050405020304" pitchFamily="18" charset="0"/>
              </a:rPr>
              <a:t>VCO</a:t>
            </a:r>
            <a:r>
              <a:rPr lang="zh-CN" altLang="en-US" sz="1800" dirty="0" smtClean="0">
                <a:latin typeface="Times New Roman" panose="02020603050405020304" pitchFamily="18" charset="0"/>
              </a:rPr>
              <a:t>的输出相位是其输入电压的积分，故有</a:t>
            </a:r>
            <a:endParaRPr lang="en-US" altLang="zh-CN" sz="1800" dirty="0">
              <a:latin typeface="Times New Roman" panose="02020603050405020304" pitchFamily="18" charset="0"/>
            </a:endParaRPr>
          </a:p>
          <a:p>
            <a:pPr indent="468000">
              <a:lnSpc>
                <a:spcPct val="140000"/>
              </a:lnSpc>
            </a:pPr>
            <a:endParaRPr lang="en-US" altLang="zh-CN" sz="1800" dirty="0" smtClean="0">
              <a:latin typeface="Times New Roman" panose="02020603050405020304" pitchFamily="18" charset="0"/>
            </a:endParaRPr>
          </a:p>
          <a:p>
            <a:pPr indent="468000">
              <a:lnSpc>
                <a:spcPct val="140000"/>
              </a:lnSpc>
            </a:pPr>
            <a:endParaRPr lang="en-US" altLang="zh-CN" sz="1800" dirty="0">
              <a:latin typeface="Times New Roman" panose="02020603050405020304" pitchFamily="18" charset="0"/>
            </a:endParaRPr>
          </a:p>
          <a:p>
            <a:pPr indent="468000">
              <a:lnSpc>
                <a:spcPct val="140000"/>
              </a:lnSpc>
            </a:pPr>
            <a:r>
              <a:rPr lang="zh-CN" altLang="en-US" sz="1800" dirty="0" smtClean="0">
                <a:latin typeface="Times New Roman" panose="02020603050405020304" pitchFamily="18" charset="0"/>
              </a:rPr>
              <a:t>在阶跃发生后，输出相位的变化量是</a:t>
            </a:r>
            <a:endParaRPr lang="en-US" altLang="zh-CN" sz="1800" dirty="0" smtClean="0">
              <a:latin typeface="Times New Roman" panose="02020603050405020304" pitchFamily="18" charset="0"/>
            </a:endParaRPr>
          </a:p>
          <a:p>
            <a:pPr indent="468000">
              <a:lnSpc>
                <a:spcPct val="140000"/>
              </a:lnSpc>
            </a:pPr>
            <a:endParaRPr lang="en-US" altLang="zh-CN" sz="1800" dirty="0" smtClean="0">
              <a:latin typeface="Times New Roman" panose="02020603050405020304" pitchFamily="18" charset="0"/>
            </a:endParaRPr>
          </a:p>
          <a:p>
            <a:pPr indent="468000">
              <a:lnSpc>
                <a:spcPct val="140000"/>
              </a:lnSpc>
            </a:pPr>
            <a:endParaRPr lang="en-US" altLang="zh-CN" sz="1800" dirty="0">
              <a:latin typeface="Times New Roman" panose="02020603050405020304" pitchFamily="18" charset="0"/>
            </a:endParaRPr>
          </a:p>
          <a:p>
            <a:pPr indent="468000">
              <a:lnSpc>
                <a:spcPct val="140000"/>
              </a:lnSpc>
            </a:pPr>
            <a:r>
              <a:rPr lang="zh-CN" altLang="en-US" sz="1800" dirty="0" smtClean="0">
                <a:latin typeface="Times New Roman" panose="02020603050405020304" pitchFamily="18" charset="0"/>
              </a:rPr>
              <a:t>这个输出相位变化量就是输出相位抖动</a:t>
            </a:r>
            <a:endParaRPr lang="en-US" altLang="zh-CN" sz="1800" dirty="0" smtClean="0">
              <a:latin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151056280"/>
              </p:ext>
            </p:extLst>
          </p:nvPr>
        </p:nvGraphicFramePr>
        <p:xfrm>
          <a:off x="2406650" y="873125"/>
          <a:ext cx="4379913" cy="687388"/>
        </p:xfrm>
        <a:graphic>
          <a:graphicData uri="http://schemas.openxmlformats.org/presentationml/2006/ole">
            <mc:AlternateContent xmlns:mc="http://schemas.openxmlformats.org/markup-compatibility/2006">
              <mc:Choice xmlns:v="urn:schemas-microsoft-com:vml" Requires="v">
                <p:oleObj spid="_x0000_s51311" name="Equation" r:id="rId3" imgW="2679480" imgH="406080" progId="Equation.DSMT4">
                  <p:embed/>
                </p:oleObj>
              </mc:Choice>
              <mc:Fallback>
                <p:oleObj name="Equation" r:id="rId3" imgW="2679480" imgH="406080" progId="Equation.DSMT4">
                  <p:embed/>
                  <p:pic>
                    <p:nvPicPr>
                      <p:cNvPr id="9" name="对象 8"/>
                      <p:cNvPicPr>
                        <a:picLocks noChangeAspect="1" noChangeArrowheads="1"/>
                      </p:cNvPicPr>
                      <p:nvPr/>
                    </p:nvPicPr>
                    <p:blipFill>
                      <a:blip r:embed="rId4"/>
                      <a:srcRect/>
                      <a:stretch>
                        <a:fillRect/>
                      </a:stretch>
                    </p:blipFill>
                    <p:spPr bwMode="auto">
                      <a:xfrm>
                        <a:off x="2406650" y="873125"/>
                        <a:ext cx="4379913" cy="687388"/>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4180093428"/>
              </p:ext>
            </p:extLst>
          </p:nvPr>
        </p:nvGraphicFramePr>
        <p:xfrm>
          <a:off x="3279775" y="1954213"/>
          <a:ext cx="2635250" cy="687387"/>
        </p:xfrm>
        <a:graphic>
          <a:graphicData uri="http://schemas.openxmlformats.org/presentationml/2006/ole">
            <mc:AlternateContent xmlns:mc="http://schemas.openxmlformats.org/markup-compatibility/2006">
              <mc:Choice xmlns:v="urn:schemas-microsoft-com:vml" Requires="v">
                <p:oleObj spid="_x0000_s51312" name="Equation" r:id="rId5" imgW="1612800" imgH="406080" progId="Equation.DSMT4">
                  <p:embed/>
                </p:oleObj>
              </mc:Choice>
              <mc:Fallback>
                <p:oleObj name="Equation" r:id="rId5" imgW="1612800" imgH="406080" progId="Equation.DSMT4">
                  <p:embed/>
                  <p:pic>
                    <p:nvPicPr>
                      <p:cNvPr id="13" name="对象 12"/>
                      <p:cNvPicPr>
                        <a:picLocks noChangeAspect="1" noChangeArrowheads="1"/>
                      </p:cNvPicPr>
                      <p:nvPr/>
                    </p:nvPicPr>
                    <p:blipFill>
                      <a:blip r:embed="rId6"/>
                      <a:srcRect/>
                      <a:stretch>
                        <a:fillRect/>
                      </a:stretch>
                    </p:blipFill>
                    <p:spPr bwMode="auto">
                      <a:xfrm>
                        <a:off x="3279775" y="1954213"/>
                        <a:ext cx="2635250" cy="68738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866614856"/>
              </p:ext>
            </p:extLst>
          </p:nvPr>
        </p:nvGraphicFramePr>
        <p:xfrm>
          <a:off x="2574791" y="3035300"/>
          <a:ext cx="4211772" cy="694942"/>
        </p:xfrm>
        <a:graphic>
          <a:graphicData uri="http://schemas.openxmlformats.org/presentationml/2006/ole">
            <mc:AlternateContent xmlns:mc="http://schemas.openxmlformats.org/markup-compatibility/2006">
              <mc:Choice xmlns:v="urn:schemas-microsoft-com:vml" Requires="v">
                <p:oleObj spid="_x0000_s51313" name="Equation" r:id="rId7" imgW="2540000" imgH="419100" progId="Equation.DSMT4">
                  <p:embed/>
                </p:oleObj>
              </mc:Choice>
              <mc:Fallback>
                <p:oleObj name="Equation" r:id="rId7" imgW="2540000" imgH="419100" progId="Equation.DSMT4">
                  <p:embed/>
                  <p:pic>
                    <p:nvPicPr>
                      <p:cNvPr id="0" name="Object 9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74791" y="3035300"/>
                        <a:ext cx="4211772" cy="694942"/>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053140243"/>
              </p:ext>
            </p:extLst>
          </p:nvPr>
        </p:nvGraphicFramePr>
        <p:xfrm>
          <a:off x="2750794" y="4215482"/>
          <a:ext cx="3859765" cy="703714"/>
        </p:xfrm>
        <a:graphic>
          <a:graphicData uri="http://schemas.openxmlformats.org/presentationml/2006/ole">
            <mc:AlternateContent xmlns:mc="http://schemas.openxmlformats.org/markup-compatibility/2006">
              <mc:Choice xmlns:v="urn:schemas-microsoft-com:vml" Requires="v">
                <p:oleObj spid="_x0000_s51314" name="Equation" r:id="rId9" imgW="2298700" imgH="419100" progId="Equation.DSMT4">
                  <p:embed/>
                </p:oleObj>
              </mc:Choice>
              <mc:Fallback>
                <p:oleObj name="Equation" r:id="rId9" imgW="2298700" imgH="419100" progId="Equation.DSMT4">
                  <p:embed/>
                  <p:pic>
                    <p:nvPicPr>
                      <p:cNvPr id="0" name="Object 9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50794" y="4215482"/>
                        <a:ext cx="3859765" cy="703714"/>
                      </a:xfrm>
                      <a:prstGeom prst="rect">
                        <a:avLst/>
                      </a:prstGeom>
                      <a:noFill/>
                    </p:spPr>
                  </p:pic>
                </p:oleObj>
              </mc:Fallback>
            </mc:AlternateContent>
          </a:graphicData>
        </a:graphic>
      </p:graphicFrame>
    </p:spTree>
    <p:extLst>
      <p:ext uri="{BB962C8B-B14F-4D97-AF65-F5344CB8AC3E}">
        <p14:creationId xmlns:p14="http://schemas.microsoft.com/office/powerpoint/2010/main" val="199427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文本框 4"/>
          <p:cNvSpPr txBox="1"/>
          <p:nvPr/>
        </p:nvSpPr>
        <p:spPr>
          <a:xfrm>
            <a:off x="335499" y="459758"/>
            <a:ext cx="8530689" cy="6017032"/>
          </a:xfrm>
          <a:prstGeom prst="rect">
            <a:avLst/>
          </a:prstGeom>
          <a:noFill/>
        </p:spPr>
        <p:txBody>
          <a:bodyPr wrap="square" rtlCol="0">
            <a:spAutoFit/>
          </a:bodyPr>
          <a:lstStyle/>
          <a:p>
            <a:pPr indent="457200">
              <a:lnSpc>
                <a:spcPct val="140000"/>
              </a:lnSpc>
            </a:pPr>
            <a:r>
              <a:rPr lang="zh-CN" altLang="en-US" sz="1800" dirty="0">
                <a:latin typeface="Times New Roman" panose="02020603050405020304" pitchFamily="18" charset="0"/>
                <a:ea typeface="+mn-ea"/>
                <a:cs typeface="Times New Roman" panose="02020603050405020304" pitchFamily="18" charset="0"/>
              </a:rPr>
              <a:t>由</a:t>
            </a:r>
            <a:r>
              <a:rPr lang="zh-CN" altLang="en-US" sz="1800" dirty="0" smtClean="0">
                <a:latin typeface="Times New Roman" panose="02020603050405020304" pitchFamily="18" charset="0"/>
                <a:ea typeface="+mn-ea"/>
                <a:cs typeface="Times New Roman" panose="02020603050405020304" pitchFamily="18" charset="0"/>
              </a:rPr>
              <a:t>前面示意图</a:t>
            </a:r>
            <a:r>
              <a:rPr lang="zh-CN" altLang="en-US" sz="1800" dirty="0">
                <a:latin typeface="Times New Roman" panose="02020603050405020304" pitchFamily="18" charset="0"/>
                <a:ea typeface="+mn-ea"/>
                <a:cs typeface="Times New Roman" panose="02020603050405020304" pitchFamily="18" charset="0"/>
              </a:rPr>
              <a:t>可见，若输入连续</a:t>
            </a:r>
            <a:r>
              <a:rPr lang="en-US" altLang="zh-CN" sz="1800" i="1" dirty="0">
                <a:latin typeface="Times New Roman" panose="02020603050405020304" pitchFamily="18" charset="0"/>
                <a:ea typeface="+mn-ea"/>
                <a:cs typeface="Times New Roman" panose="02020603050405020304" pitchFamily="18" charset="0"/>
              </a:rPr>
              <a:t>n</a:t>
            </a:r>
            <a:r>
              <a:rPr lang="zh-CN" altLang="en-US" sz="1800" dirty="0">
                <a:latin typeface="Times New Roman" panose="02020603050405020304" pitchFamily="18" charset="0"/>
                <a:ea typeface="+mn-ea"/>
                <a:cs typeface="Times New Roman" panose="02020603050405020304" pitchFamily="18" charset="0"/>
              </a:rPr>
              <a:t>个</a:t>
            </a:r>
            <a:r>
              <a:rPr lang="en-US" altLang="zh-CN" sz="1800" dirty="0">
                <a:latin typeface="Times New Roman" panose="02020603050405020304" pitchFamily="18" charset="0"/>
                <a:ea typeface="+mn-ea"/>
                <a:cs typeface="Times New Roman" panose="02020603050405020304" pitchFamily="18" charset="0"/>
              </a:rPr>
              <a:t>1</a:t>
            </a:r>
            <a:r>
              <a:rPr lang="zh-CN" altLang="en-US" sz="1800" dirty="0">
                <a:latin typeface="Times New Roman" panose="02020603050405020304" pitchFamily="18" charset="0"/>
                <a:ea typeface="+mn-ea"/>
                <a:cs typeface="Times New Roman" panose="02020603050405020304" pitchFamily="18" charset="0"/>
              </a:rPr>
              <a:t>或</a:t>
            </a:r>
            <a:r>
              <a:rPr lang="en-US" altLang="zh-CN" sz="1800" dirty="0">
                <a:latin typeface="Times New Roman" panose="02020603050405020304" pitchFamily="18" charset="0"/>
                <a:ea typeface="+mn-ea"/>
                <a:cs typeface="Times New Roman" panose="02020603050405020304" pitchFamily="18" charset="0"/>
              </a:rPr>
              <a:t>0</a:t>
            </a:r>
            <a:r>
              <a:rPr lang="zh-CN" altLang="en-US" sz="1800" dirty="0">
                <a:latin typeface="Times New Roman" panose="02020603050405020304" pitchFamily="18" charset="0"/>
                <a:ea typeface="+mn-ea"/>
                <a:cs typeface="Times New Roman" panose="02020603050405020304" pitchFamily="18" charset="0"/>
              </a:rPr>
              <a:t>，阶跃脉冲发生在第</a:t>
            </a:r>
            <a:r>
              <a:rPr lang="en-US" altLang="zh-CN" sz="1800" dirty="0" smtClean="0">
                <a:latin typeface="Times New Roman" panose="02020603050405020304" pitchFamily="18" charset="0"/>
                <a:ea typeface="+mn-ea"/>
                <a:cs typeface="Times New Roman" panose="02020603050405020304" pitchFamily="18" charset="0"/>
              </a:rPr>
              <a:t>1</a:t>
            </a:r>
            <a:r>
              <a:rPr lang="zh-CN" altLang="en-US" sz="1800" dirty="0" smtClean="0">
                <a:latin typeface="Times New Roman" panose="02020603050405020304" pitchFamily="18" charset="0"/>
                <a:ea typeface="+mn-ea"/>
                <a:cs typeface="Times New Roman" panose="02020603050405020304" pitchFamily="18" charset="0"/>
              </a:rPr>
              <a:t>位结束时，</a:t>
            </a:r>
            <a:r>
              <a:rPr lang="zh-CN" altLang="en-US" sz="1800" dirty="0">
                <a:latin typeface="Times New Roman" panose="02020603050405020304" pitchFamily="18" charset="0"/>
                <a:ea typeface="+mn-ea"/>
                <a:cs typeface="Times New Roman" panose="02020603050405020304" pitchFamily="18" charset="0"/>
              </a:rPr>
              <a:t>最大的相位抖动发生在第</a:t>
            </a:r>
            <a:r>
              <a:rPr lang="en-US" altLang="zh-CN" sz="1800" i="1" dirty="0" smtClean="0">
                <a:latin typeface="Times New Roman" panose="02020603050405020304" pitchFamily="18" charset="0"/>
                <a:ea typeface="+mn-ea"/>
                <a:cs typeface="Times New Roman" panose="02020603050405020304" pitchFamily="18" charset="0"/>
              </a:rPr>
              <a:t>n</a:t>
            </a:r>
            <a:r>
              <a:rPr lang="zh-CN" altLang="en-US" sz="1800" dirty="0" smtClean="0">
                <a:latin typeface="Times New Roman" panose="02020603050405020304" pitchFamily="18" charset="0"/>
                <a:ea typeface="+mn-ea"/>
                <a:cs typeface="Times New Roman" panose="02020603050405020304" pitchFamily="18" charset="0"/>
              </a:rPr>
              <a:t>位结束时，</a:t>
            </a:r>
            <a:r>
              <a:rPr lang="zh-CN" altLang="en-US" sz="1800" dirty="0">
                <a:latin typeface="Times New Roman" panose="02020603050405020304" pitchFamily="18" charset="0"/>
                <a:ea typeface="+mn-ea"/>
                <a:cs typeface="Times New Roman" panose="02020603050405020304" pitchFamily="18" charset="0"/>
              </a:rPr>
              <a:t>所以出现最大相位抖动</a:t>
            </a:r>
            <a:r>
              <a:rPr lang="zh-CN" altLang="en-US" sz="1800" dirty="0" smtClean="0">
                <a:latin typeface="Times New Roman" panose="02020603050405020304" pitchFamily="18" charset="0"/>
                <a:ea typeface="+mn-ea"/>
                <a:cs typeface="Times New Roman" panose="02020603050405020304" pitchFamily="18" charset="0"/>
              </a:rPr>
              <a:t>时                      ，即有</a:t>
            </a:r>
            <a:endParaRPr lang="en-US" altLang="zh-CN" sz="1800" dirty="0" smtClean="0">
              <a:latin typeface="Times New Roman" panose="02020603050405020304" pitchFamily="18" charset="0"/>
              <a:ea typeface="+mn-ea"/>
              <a:cs typeface="Times New Roman" panose="02020603050405020304" pitchFamily="18" charset="0"/>
            </a:endParaRPr>
          </a:p>
          <a:p>
            <a:pPr indent="457200">
              <a:lnSpc>
                <a:spcPct val="140000"/>
              </a:lnSpc>
            </a:pPr>
            <a:endParaRPr lang="en-US" altLang="zh-CN" sz="1800" dirty="0">
              <a:latin typeface="Times New Roman" panose="02020603050405020304" pitchFamily="18" charset="0"/>
              <a:ea typeface="+mn-ea"/>
              <a:cs typeface="Times New Roman" panose="02020603050405020304" pitchFamily="18" charset="0"/>
            </a:endParaRPr>
          </a:p>
          <a:p>
            <a:pPr indent="457200">
              <a:lnSpc>
                <a:spcPct val="140000"/>
              </a:lnSpc>
            </a:pPr>
            <a:endParaRPr lang="en-US" altLang="zh-CN" sz="1800" dirty="0" smtClean="0">
              <a:latin typeface="Times New Roman" panose="02020603050405020304" pitchFamily="18" charset="0"/>
              <a:ea typeface="+mn-ea"/>
              <a:cs typeface="Times New Roman" panose="02020603050405020304" pitchFamily="18" charset="0"/>
            </a:endParaRPr>
          </a:p>
          <a:p>
            <a:pPr indent="457200">
              <a:lnSpc>
                <a:spcPct val="140000"/>
              </a:lnSpc>
            </a:pPr>
            <a:r>
              <a:rPr lang="zh-CN" altLang="zh-CN" sz="1800" dirty="0"/>
              <a:t>可见锁相环的输出相位抖动与输入信号的连续</a:t>
            </a:r>
            <a:r>
              <a:rPr lang="en-US" altLang="zh-CN" sz="1800" dirty="0"/>
              <a:t>1</a:t>
            </a:r>
            <a:r>
              <a:rPr lang="zh-CN" altLang="zh-CN" sz="1800" dirty="0"/>
              <a:t>或连续</a:t>
            </a:r>
            <a:r>
              <a:rPr lang="en-US" altLang="zh-CN" sz="1800" dirty="0"/>
              <a:t>0</a:t>
            </a:r>
            <a:r>
              <a:rPr lang="zh-CN" altLang="zh-CN" sz="1800" dirty="0"/>
              <a:t>（游程）长度</a:t>
            </a:r>
            <a:r>
              <a:rPr lang="en-US" altLang="zh-CN" sz="1800" i="1" dirty="0"/>
              <a:t>n</a:t>
            </a:r>
            <a:r>
              <a:rPr lang="zh-CN" altLang="zh-CN" sz="1800" dirty="0"/>
              <a:t>有关，且基本呈平方关系。由于</a:t>
            </a:r>
            <a:r>
              <a:rPr lang="en-US" altLang="zh-CN" sz="1800" i="1" dirty="0"/>
              <a:t>n</a:t>
            </a:r>
            <a:r>
              <a:rPr lang="en-US" altLang="zh-CN" sz="1800" dirty="0"/>
              <a:t>=1</a:t>
            </a:r>
            <a:r>
              <a:rPr lang="zh-CN" altLang="zh-CN" sz="1800" dirty="0"/>
              <a:t>就是输入连续波（载波），所以包含调制信息的比特流</a:t>
            </a:r>
            <a:r>
              <a:rPr lang="en-US" altLang="zh-CN" sz="1800" i="1" dirty="0"/>
              <a:t>n</a:t>
            </a:r>
            <a:r>
              <a:rPr lang="zh-CN" altLang="zh-CN" sz="1800" dirty="0"/>
              <a:t>≥</a:t>
            </a:r>
            <a:r>
              <a:rPr lang="en-US" altLang="zh-CN" sz="1800" dirty="0"/>
              <a:t>2</a:t>
            </a:r>
            <a:r>
              <a:rPr lang="zh-CN" altLang="zh-CN" sz="1800" dirty="0"/>
              <a:t>。在其他参数不变的条件下，</a:t>
            </a:r>
            <a:r>
              <a:rPr lang="en-US" altLang="zh-CN" sz="1800" i="1" dirty="0"/>
              <a:t>n</a:t>
            </a:r>
            <a:r>
              <a:rPr lang="en-US" altLang="zh-CN" sz="1800" dirty="0"/>
              <a:t>=2</a:t>
            </a:r>
            <a:r>
              <a:rPr lang="zh-CN" altLang="zh-CN" sz="1800" dirty="0"/>
              <a:t>有最小的输出</a:t>
            </a:r>
            <a:r>
              <a:rPr lang="zh-CN" altLang="zh-CN" sz="1800" dirty="0" smtClean="0"/>
              <a:t>相位抖动</a:t>
            </a:r>
            <a:endParaRPr lang="en-US" altLang="zh-CN" sz="1800" dirty="0" smtClean="0"/>
          </a:p>
          <a:p>
            <a:pPr indent="457200">
              <a:lnSpc>
                <a:spcPct val="140000"/>
              </a:lnSpc>
            </a:pPr>
            <a:endParaRPr lang="en-US" altLang="zh-CN" sz="900" dirty="0">
              <a:latin typeface="Times New Roman" panose="02020603050405020304" pitchFamily="18" charset="0"/>
              <a:ea typeface="+mn-ea"/>
              <a:cs typeface="Times New Roman" panose="02020603050405020304" pitchFamily="18" charset="0"/>
            </a:endParaRPr>
          </a:p>
          <a:p>
            <a:pPr indent="457200">
              <a:lnSpc>
                <a:spcPct val="140000"/>
              </a:lnSpc>
            </a:pPr>
            <a:r>
              <a:rPr lang="zh-CN" altLang="en-US" sz="1800" dirty="0">
                <a:latin typeface="Times New Roman" panose="02020603050405020304" pitchFamily="18" charset="0"/>
              </a:rPr>
              <a:t>已知超前滞后型环路滤波器的自然频率为                                ，所以前面的关系可写为</a:t>
            </a:r>
            <a:endParaRPr lang="en-US" altLang="zh-CN" sz="1800" dirty="0">
              <a:latin typeface="Times New Roman" panose="02020603050405020304" pitchFamily="18" charset="0"/>
            </a:endParaRPr>
          </a:p>
          <a:p>
            <a:pPr indent="457200">
              <a:lnSpc>
                <a:spcPct val="140000"/>
              </a:lnSpc>
            </a:pPr>
            <a:endParaRPr lang="en-US" altLang="zh-CN" sz="1000" dirty="0" smtClean="0">
              <a:latin typeface="Times New Roman" panose="02020603050405020304" pitchFamily="18" charset="0"/>
              <a:ea typeface="+mn-ea"/>
              <a:cs typeface="Times New Roman" panose="02020603050405020304" pitchFamily="18" charset="0"/>
            </a:endParaRPr>
          </a:p>
          <a:p>
            <a:pPr indent="457200">
              <a:lnSpc>
                <a:spcPct val="140000"/>
              </a:lnSpc>
            </a:pPr>
            <a:endParaRPr lang="en-US" altLang="zh-CN" sz="1200" dirty="0" smtClean="0"/>
          </a:p>
          <a:p>
            <a:pPr indent="457200">
              <a:lnSpc>
                <a:spcPct val="140000"/>
              </a:lnSpc>
            </a:pPr>
            <a:r>
              <a:rPr lang="zh-CN" altLang="zh-CN" sz="1800" dirty="0" smtClean="0"/>
              <a:t>满足</a:t>
            </a:r>
            <a:r>
              <a:rPr lang="zh-CN" altLang="zh-CN" sz="1800" dirty="0"/>
              <a:t>输出相位抖动要求的自然频率</a:t>
            </a:r>
            <a:r>
              <a:rPr lang="zh-CN" altLang="zh-CN" sz="1800" dirty="0" smtClean="0"/>
              <a:t>为</a:t>
            </a:r>
            <a:endParaRPr lang="en-US" altLang="zh-CN" sz="1800" dirty="0" smtClean="0"/>
          </a:p>
          <a:p>
            <a:pPr indent="457200">
              <a:lnSpc>
                <a:spcPct val="140000"/>
              </a:lnSpc>
            </a:pPr>
            <a:endParaRPr lang="en-US" altLang="zh-CN" sz="1800" dirty="0">
              <a:latin typeface="Times New Roman" panose="02020603050405020304" pitchFamily="18" charset="0"/>
              <a:ea typeface="+mn-ea"/>
              <a:cs typeface="Times New Roman" panose="02020603050405020304" pitchFamily="18" charset="0"/>
            </a:endParaRPr>
          </a:p>
          <a:p>
            <a:pPr indent="457200">
              <a:lnSpc>
                <a:spcPct val="140000"/>
              </a:lnSpc>
            </a:pPr>
            <a:endParaRPr lang="en-US" altLang="zh-CN" sz="1050" dirty="0" smtClean="0">
              <a:latin typeface="Times New Roman" panose="02020603050405020304" pitchFamily="18" charset="0"/>
              <a:ea typeface="+mn-ea"/>
              <a:cs typeface="Times New Roman" panose="02020603050405020304" pitchFamily="18" charset="0"/>
            </a:endParaRPr>
          </a:p>
          <a:p>
            <a:pPr indent="457200">
              <a:lnSpc>
                <a:spcPct val="140000"/>
              </a:lnSpc>
            </a:pPr>
            <a:endParaRPr lang="en-US" altLang="zh-CN" sz="1400" i="1" dirty="0" smtClean="0"/>
          </a:p>
          <a:p>
            <a:pPr>
              <a:lnSpc>
                <a:spcPct val="140000"/>
              </a:lnSpc>
            </a:pPr>
            <a:r>
              <a:rPr lang="zh-CN" altLang="en-US" sz="1400" dirty="0" smtClean="0"/>
              <a:t>  （</a:t>
            </a:r>
            <a:r>
              <a:rPr lang="en-US" altLang="zh-CN" sz="1400" i="1" dirty="0" smtClean="0"/>
              <a:t>n</a:t>
            </a:r>
            <a:r>
              <a:rPr lang="zh-CN" altLang="zh-CN" sz="1400" dirty="0"/>
              <a:t>是连续</a:t>
            </a:r>
            <a:r>
              <a:rPr lang="en-US" altLang="zh-CN" sz="1400" dirty="0"/>
              <a:t>1</a:t>
            </a:r>
            <a:r>
              <a:rPr lang="zh-CN" altLang="zh-CN" sz="1400" dirty="0"/>
              <a:t>或</a:t>
            </a:r>
            <a:r>
              <a:rPr lang="en-US" altLang="zh-CN" sz="1400" dirty="0"/>
              <a:t>0</a:t>
            </a:r>
            <a:r>
              <a:rPr lang="zh-CN" altLang="zh-CN" sz="1400" dirty="0"/>
              <a:t>的个数，</a:t>
            </a:r>
            <a:r>
              <a:rPr lang="en-US" altLang="zh-CN" sz="1400" i="1" dirty="0" err="1"/>
              <a:t>Δφ</a:t>
            </a:r>
            <a:r>
              <a:rPr lang="en-US" altLang="zh-CN" sz="1400" baseline="-25000" dirty="0" err="1"/>
              <a:t>max</a:t>
            </a:r>
            <a:r>
              <a:rPr lang="zh-CN" altLang="zh-CN" sz="1400" dirty="0"/>
              <a:t>是最大相位抖动量，</a:t>
            </a:r>
            <a:r>
              <a:rPr lang="en-US" altLang="zh-CN" sz="1400" i="1" dirty="0" err="1"/>
              <a:t>K</a:t>
            </a:r>
            <a:r>
              <a:rPr lang="en-US" altLang="zh-CN" sz="1400" i="1" baseline="-25000" dirty="0" err="1"/>
              <a:t>d</a:t>
            </a:r>
            <a:r>
              <a:rPr lang="zh-CN" altLang="zh-CN" sz="1400" dirty="0"/>
              <a:t>是鉴相增益，</a:t>
            </a:r>
            <a:r>
              <a:rPr lang="en-US" altLang="zh-CN" sz="1400" i="1" dirty="0"/>
              <a:t>V</a:t>
            </a:r>
            <a:r>
              <a:rPr lang="en-US" altLang="zh-CN" sz="1400" i="1" baseline="-25000" dirty="0"/>
              <a:t>S</a:t>
            </a:r>
            <a:r>
              <a:rPr lang="zh-CN" altLang="zh-CN" sz="1400" dirty="0" smtClean="0"/>
              <a:t>是阶跃电压</a:t>
            </a:r>
            <a:r>
              <a:rPr lang="zh-CN" altLang="zh-CN" sz="1400" dirty="0"/>
              <a:t>，</a:t>
            </a:r>
            <a:r>
              <a:rPr lang="en-US" altLang="zh-CN" sz="1400" i="1" dirty="0" err="1"/>
              <a:t>T</a:t>
            </a:r>
            <a:r>
              <a:rPr lang="en-US" altLang="zh-CN" sz="1400" i="1" baseline="-25000" dirty="0" err="1"/>
              <a:t>s</a:t>
            </a:r>
            <a:r>
              <a:rPr lang="zh-CN" altLang="zh-CN" sz="1400" dirty="0" smtClean="0"/>
              <a:t>是同步</a:t>
            </a:r>
            <a:r>
              <a:rPr lang="zh-CN" altLang="zh-CN" sz="1400" dirty="0"/>
              <a:t>脉冲</a:t>
            </a:r>
            <a:r>
              <a:rPr lang="zh-CN" altLang="zh-CN" sz="1400" dirty="0" smtClean="0"/>
              <a:t>周期</a:t>
            </a:r>
            <a:r>
              <a:rPr lang="zh-CN" altLang="en-US" sz="1400" dirty="0" smtClean="0"/>
              <a:t>）</a:t>
            </a:r>
            <a:endParaRPr lang="en-US" altLang="zh-CN" sz="1400" dirty="0" smtClean="0">
              <a:latin typeface="Times New Roman" panose="02020603050405020304" pitchFamily="18" charset="0"/>
              <a:ea typeface="+mn-ea"/>
              <a:cs typeface="Times New Roman" panose="02020603050405020304" pitchFamily="18" charset="0"/>
            </a:endParaRPr>
          </a:p>
        </p:txBody>
      </p:sp>
      <p:sp>
        <p:nvSpPr>
          <p:cNvPr id="9" name="Rectangle 80"/>
          <p:cNvSpPr>
            <a:spLocks noChangeArrowheads="1"/>
          </p:cNvSpPr>
          <p:nvPr/>
        </p:nvSpPr>
        <p:spPr bwMode="auto">
          <a:xfrm>
            <a:off x="0" y="20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500" b="0" i="0" u="none" strike="noStrike" cap="none" normalizeH="0" baseline="0" smtClean="0">
                <a:ln>
                  <a:noFill/>
                </a:ln>
                <a:solidFill>
                  <a:schemeClr val="tx1"/>
                </a:solidFill>
                <a:effectLst/>
              </a:rPr>
              <a:t> </a:t>
            </a: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437051815"/>
              </p:ext>
            </p:extLst>
          </p:nvPr>
        </p:nvGraphicFramePr>
        <p:xfrm>
          <a:off x="6350271" y="953871"/>
          <a:ext cx="1151226" cy="347540"/>
        </p:xfrm>
        <a:graphic>
          <a:graphicData uri="http://schemas.openxmlformats.org/presentationml/2006/ole">
            <mc:AlternateContent xmlns:mc="http://schemas.openxmlformats.org/markup-compatibility/2006">
              <mc:Choice xmlns:v="urn:schemas-microsoft-com:vml" Requires="v">
                <p:oleObj spid="_x0000_s54307" name="Equation" r:id="rId3" imgW="672808" imgH="203112" progId="Equation.DSMT4">
                  <p:embed/>
                </p:oleObj>
              </mc:Choice>
              <mc:Fallback>
                <p:oleObj name="Equation" r:id="rId3" imgW="672808" imgH="203112"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271" y="953871"/>
                        <a:ext cx="1151226" cy="347540"/>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889183037"/>
              </p:ext>
            </p:extLst>
          </p:nvPr>
        </p:nvGraphicFramePr>
        <p:xfrm>
          <a:off x="2552533" y="1315080"/>
          <a:ext cx="2999152" cy="661882"/>
        </p:xfrm>
        <a:graphic>
          <a:graphicData uri="http://schemas.openxmlformats.org/presentationml/2006/ole">
            <mc:AlternateContent xmlns:mc="http://schemas.openxmlformats.org/markup-compatibility/2006">
              <mc:Choice xmlns:v="urn:schemas-microsoft-com:vml" Requires="v">
                <p:oleObj spid="_x0000_s54308" name="Equation" r:id="rId5" imgW="1841500" imgH="406400" progId="Equation.DSMT4">
                  <p:embed/>
                </p:oleObj>
              </mc:Choice>
              <mc:Fallback>
                <p:oleObj name="Equation" r:id="rId5" imgW="1841500" imgH="406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2533" y="1315080"/>
                        <a:ext cx="2999152" cy="661882"/>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292707944"/>
              </p:ext>
            </p:extLst>
          </p:nvPr>
        </p:nvGraphicFramePr>
        <p:xfrm>
          <a:off x="5041403" y="3231281"/>
          <a:ext cx="1722437" cy="754062"/>
        </p:xfrm>
        <a:graphic>
          <a:graphicData uri="http://schemas.openxmlformats.org/presentationml/2006/ole">
            <mc:AlternateContent xmlns:mc="http://schemas.openxmlformats.org/markup-compatibility/2006">
              <mc:Choice xmlns:v="urn:schemas-microsoft-com:vml" Requires="v">
                <p:oleObj spid="_x0000_s54309" name="Equation" r:id="rId7" imgW="1054080" imgH="444240" progId="Equation.DSMT4">
                  <p:embed/>
                </p:oleObj>
              </mc:Choice>
              <mc:Fallback>
                <p:oleObj name="Equation" r:id="rId7" imgW="1054080" imgH="444240" progId="Equation.DSMT4">
                  <p:embed/>
                  <p:pic>
                    <p:nvPicPr>
                      <p:cNvPr id="6" name="对象 5"/>
                      <p:cNvPicPr>
                        <a:picLocks noChangeAspect="1" noChangeArrowheads="1"/>
                      </p:cNvPicPr>
                      <p:nvPr/>
                    </p:nvPicPr>
                    <p:blipFill>
                      <a:blip r:embed="rId8"/>
                      <a:srcRect/>
                      <a:stretch>
                        <a:fillRect/>
                      </a:stretch>
                    </p:blipFill>
                    <p:spPr bwMode="auto">
                      <a:xfrm>
                        <a:off x="5041403" y="3231281"/>
                        <a:ext cx="1722437" cy="754062"/>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173528346"/>
              </p:ext>
            </p:extLst>
          </p:nvPr>
        </p:nvGraphicFramePr>
        <p:xfrm>
          <a:off x="2939055" y="3985343"/>
          <a:ext cx="2493523" cy="715533"/>
        </p:xfrm>
        <a:graphic>
          <a:graphicData uri="http://schemas.openxmlformats.org/presentationml/2006/ole">
            <mc:AlternateContent xmlns:mc="http://schemas.openxmlformats.org/markup-compatibility/2006">
              <mc:Choice xmlns:v="urn:schemas-microsoft-com:vml" Requires="v">
                <p:oleObj spid="_x0000_s54310" name="Equation" r:id="rId9" imgW="1460500" imgH="419100" progId="Equation.DSMT4">
                  <p:embed/>
                </p:oleObj>
              </mc:Choice>
              <mc:Fallback>
                <p:oleObj name="Equation" r:id="rId9" imgW="1460500" imgH="4191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39055" y="3985343"/>
                        <a:ext cx="2493523" cy="715533"/>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632018809"/>
              </p:ext>
            </p:extLst>
          </p:nvPr>
        </p:nvGraphicFramePr>
        <p:xfrm>
          <a:off x="2939055" y="5078718"/>
          <a:ext cx="2816275" cy="752440"/>
        </p:xfrm>
        <a:graphic>
          <a:graphicData uri="http://schemas.openxmlformats.org/presentationml/2006/ole">
            <mc:AlternateContent xmlns:mc="http://schemas.openxmlformats.org/markup-compatibility/2006">
              <mc:Choice xmlns:v="urn:schemas-microsoft-com:vml" Requires="v">
                <p:oleObj spid="_x0000_s54311" name="Equation" r:id="rId11" imgW="1663700" imgH="444500" progId="Equation.DSMT4">
                  <p:embed/>
                </p:oleObj>
              </mc:Choice>
              <mc:Fallback>
                <p:oleObj name="Equation" r:id="rId11" imgW="1663700" imgH="4445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39055" y="5078718"/>
                        <a:ext cx="2816275" cy="752440"/>
                      </a:xfrm>
                      <a:prstGeom prst="rect">
                        <a:avLst/>
                      </a:prstGeom>
                      <a:noFill/>
                    </p:spPr>
                  </p:pic>
                </p:oleObj>
              </mc:Fallback>
            </mc:AlternateContent>
          </a:graphicData>
        </a:graphic>
      </p:graphicFrame>
    </p:spTree>
    <p:extLst>
      <p:ext uri="{BB962C8B-B14F-4D97-AF65-F5344CB8AC3E}">
        <p14:creationId xmlns:p14="http://schemas.microsoft.com/office/powerpoint/2010/main" val="4008074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256558" y="499960"/>
            <a:ext cx="8609630" cy="5133713"/>
          </a:xfrm>
          <a:prstGeom prst="rect">
            <a:avLst/>
          </a:prstGeom>
          <a:noFill/>
        </p:spPr>
        <p:txBody>
          <a:bodyPr wrap="square" rtlCol="0">
            <a:spAutoFit/>
          </a:bodyPr>
          <a:lstStyle/>
          <a:p>
            <a:pPr indent="457200">
              <a:lnSpc>
                <a:spcPct val="130000"/>
              </a:lnSpc>
            </a:pPr>
            <a:r>
              <a:rPr lang="zh-CN" altLang="zh-CN" sz="1800" dirty="0"/>
              <a:t>由于在阶跃输入电压产生之前鉴相器的输出是高阻，而环路滤波器后面</a:t>
            </a:r>
            <a:r>
              <a:rPr lang="en-US" altLang="zh-CN" sz="1800" dirty="0"/>
              <a:t>VCO</a:t>
            </a:r>
            <a:r>
              <a:rPr lang="zh-CN" altLang="zh-CN" sz="1800" dirty="0"/>
              <a:t>的输入电阻也很高，可以认为没有电流流过</a:t>
            </a:r>
            <a:r>
              <a:rPr lang="en-US" altLang="zh-CN" sz="1800" i="1" dirty="0"/>
              <a:t>R</a:t>
            </a:r>
            <a:r>
              <a:rPr lang="en-US" altLang="zh-CN" sz="1800" baseline="-25000" dirty="0"/>
              <a:t>1</a:t>
            </a:r>
            <a:r>
              <a:rPr lang="zh-CN" altLang="zh-CN" sz="1800" dirty="0"/>
              <a:t>与</a:t>
            </a:r>
            <a:r>
              <a:rPr lang="en-US" altLang="zh-CN" sz="1800" i="1" dirty="0"/>
              <a:t>R</a:t>
            </a:r>
            <a:r>
              <a:rPr lang="en-US" altLang="zh-CN" sz="1800" baseline="-25000" dirty="0"/>
              <a:t>2</a:t>
            </a:r>
            <a:r>
              <a:rPr lang="zh-CN" altLang="zh-CN" sz="1800" dirty="0"/>
              <a:t>，所以在阶跃产生之前环路滤波器的输入电压与输出电压均等于电容</a:t>
            </a:r>
            <a:r>
              <a:rPr lang="en-US" altLang="zh-CN" sz="1800" dirty="0"/>
              <a:t>C</a:t>
            </a:r>
            <a:r>
              <a:rPr lang="zh-CN" altLang="zh-CN" sz="1800" dirty="0"/>
              <a:t>上的电压。由此得到环路滤波器的阶跃输入电压</a:t>
            </a:r>
            <a:r>
              <a:rPr lang="en-US" altLang="zh-CN" sz="1800" i="1" dirty="0"/>
              <a:t>V</a:t>
            </a:r>
            <a:r>
              <a:rPr lang="en-US" altLang="zh-CN" sz="1800" i="1" baseline="-25000" dirty="0"/>
              <a:t>S</a:t>
            </a:r>
            <a:r>
              <a:rPr lang="en-US" altLang="zh-CN" sz="1800" dirty="0"/>
              <a:t>=</a:t>
            </a:r>
            <a:r>
              <a:rPr lang="en-US" altLang="zh-CN" sz="1800" i="1" dirty="0"/>
              <a:t>V</a:t>
            </a:r>
            <a:r>
              <a:rPr lang="en-US" altLang="zh-CN" sz="1800" i="1" baseline="-25000" dirty="0"/>
              <a:t>H</a:t>
            </a:r>
            <a:r>
              <a:rPr lang="en-US" altLang="zh-CN" sz="1800" dirty="0"/>
              <a:t>-</a:t>
            </a:r>
            <a:r>
              <a:rPr lang="en-US" altLang="zh-CN" sz="1800" i="1" dirty="0"/>
              <a:t>V</a:t>
            </a:r>
            <a:r>
              <a:rPr lang="en-US" altLang="zh-CN" sz="1800" dirty="0"/>
              <a:t>(0)</a:t>
            </a:r>
            <a:r>
              <a:rPr lang="zh-CN" altLang="zh-CN" sz="1800" dirty="0"/>
              <a:t>。通常情况下，阶跃输入发生前的环路滤波器输出电压</a:t>
            </a:r>
            <a:r>
              <a:rPr lang="en-US" altLang="zh-CN" sz="1800" i="1" dirty="0"/>
              <a:t>V</a:t>
            </a:r>
            <a:r>
              <a:rPr lang="en-US" altLang="zh-CN" sz="1800" dirty="0"/>
              <a:t>(0)≈</a:t>
            </a:r>
            <a:r>
              <a:rPr lang="en-US" altLang="zh-CN" sz="1800" i="1" dirty="0"/>
              <a:t>V</a:t>
            </a:r>
            <a:r>
              <a:rPr lang="en-US" altLang="zh-CN" sz="1800" i="1" baseline="-25000" dirty="0"/>
              <a:t>H</a:t>
            </a:r>
            <a:r>
              <a:rPr lang="en-US" altLang="zh-CN" sz="1800" dirty="0"/>
              <a:t>/2</a:t>
            </a:r>
            <a:r>
              <a:rPr lang="zh-CN" altLang="zh-CN" sz="1800" dirty="0"/>
              <a:t>，所以</a:t>
            </a:r>
            <a:r>
              <a:rPr lang="en-US" altLang="zh-CN" sz="1800" i="1" dirty="0"/>
              <a:t>V</a:t>
            </a:r>
            <a:r>
              <a:rPr lang="en-US" altLang="zh-CN" sz="1800" i="1" baseline="-25000" dirty="0"/>
              <a:t>S</a:t>
            </a:r>
            <a:r>
              <a:rPr lang="en-US" altLang="zh-CN" sz="1800" dirty="0"/>
              <a:t>=</a:t>
            </a:r>
            <a:r>
              <a:rPr lang="en-US" altLang="zh-CN" sz="1800" i="1" dirty="0"/>
              <a:t>V</a:t>
            </a:r>
            <a:r>
              <a:rPr lang="en-US" altLang="zh-CN" sz="1800" i="1" baseline="-25000" dirty="0"/>
              <a:t>H</a:t>
            </a:r>
            <a:r>
              <a:rPr lang="en-US" altLang="zh-CN" sz="1800" dirty="0"/>
              <a:t>-</a:t>
            </a:r>
            <a:r>
              <a:rPr lang="en-US" altLang="zh-CN" sz="1800" i="1" dirty="0"/>
              <a:t>V</a:t>
            </a:r>
            <a:r>
              <a:rPr lang="en-US" altLang="zh-CN" sz="1800" dirty="0"/>
              <a:t>(0)≈</a:t>
            </a:r>
            <a:r>
              <a:rPr lang="en-US" altLang="zh-CN" sz="1800" i="1" dirty="0"/>
              <a:t>V</a:t>
            </a:r>
            <a:r>
              <a:rPr lang="en-US" altLang="zh-CN" sz="1800" i="1" baseline="-25000" dirty="0"/>
              <a:t>H</a:t>
            </a:r>
            <a:r>
              <a:rPr lang="en-US" altLang="zh-CN" sz="1800" dirty="0"/>
              <a:t>/2</a:t>
            </a:r>
            <a:r>
              <a:rPr lang="zh-CN" altLang="zh-CN" sz="1800" dirty="0"/>
              <a:t>。而</a:t>
            </a:r>
            <a:r>
              <a:rPr lang="en-US" altLang="zh-CN" sz="1800" dirty="0"/>
              <a:t>PFD</a:t>
            </a:r>
            <a:r>
              <a:rPr lang="zh-CN" altLang="zh-CN" sz="1800" dirty="0"/>
              <a:t>的鉴相增益</a:t>
            </a:r>
            <a:r>
              <a:rPr lang="en-US" altLang="zh-CN" sz="1800" i="1" dirty="0" err="1"/>
              <a:t>K</a:t>
            </a:r>
            <a:r>
              <a:rPr lang="en-US" altLang="zh-CN" sz="1800" i="1" baseline="-25000" dirty="0" err="1"/>
              <a:t>d</a:t>
            </a:r>
            <a:r>
              <a:rPr lang="en-US" altLang="zh-CN" sz="1800" dirty="0"/>
              <a:t>=</a:t>
            </a:r>
            <a:r>
              <a:rPr lang="en-US" altLang="zh-CN" sz="1800" i="1" dirty="0"/>
              <a:t>V</a:t>
            </a:r>
            <a:r>
              <a:rPr lang="en-US" altLang="zh-CN" sz="1800" i="1" baseline="-25000" dirty="0"/>
              <a:t>H</a:t>
            </a:r>
            <a:r>
              <a:rPr lang="en-US" altLang="zh-CN" sz="1800" dirty="0"/>
              <a:t>/4</a:t>
            </a:r>
            <a:r>
              <a:rPr lang="en-US" altLang="zh-CN" sz="1800" i="1" dirty="0"/>
              <a:t>π</a:t>
            </a:r>
            <a:r>
              <a:rPr lang="zh-CN" altLang="zh-CN" sz="1800" dirty="0"/>
              <a:t>，因此上述约束条件还可以近似为</a:t>
            </a:r>
          </a:p>
          <a:p>
            <a:pPr>
              <a:lnSpc>
                <a:spcPct val="130000"/>
              </a:lnSpc>
            </a:pPr>
            <a:endParaRPr lang="en-US" altLang="zh-CN" sz="1800" dirty="0" smtClean="0"/>
          </a:p>
          <a:p>
            <a:pPr>
              <a:lnSpc>
                <a:spcPct val="130000"/>
              </a:lnSpc>
            </a:pPr>
            <a:endParaRPr lang="en-US" altLang="zh-CN" sz="1800" dirty="0"/>
          </a:p>
          <a:p>
            <a:pPr>
              <a:lnSpc>
                <a:spcPct val="130000"/>
              </a:lnSpc>
            </a:pPr>
            <a:endParaRPr lang="en-US" altLang="zh-CN" sz="1800" dirty="0" smtClean="0"/>
          </a:p>
          <a:p>
            <a:pPr indent="457200">
              <a:lnSpc>
                <a:spcPct val="130000"/>
              </a:lnSpc>
            </a:pPr>
            <a:r>
              <a:rPr lang="zh-CN" altLang="zh-CN" sz="1800" dirty="0"/>
              <a:t>本</a:t>
            </a:r>
            <a:r>
              <a:rPr lang="zh-CN" altLang="zh-CN" sz="1800" dirty="0" smtClean="0"/>
              <a:t>题目要求</a:t>
            </a:r>
            <a:r>
              <a:rPr lang="zh-CN" altLang="zh-CN" sz="1800" dirty="0"/>
              <a:t>脉冲相位抖动量低于</a:t>
            </a:r>
            <a:r>
              <a:rPr lang="en-US" altLang="zh-CN" sz="1800" dirty="0"/>
              <a:t>1</a:t>
            </a:r>
            <a:r>
              <a:rPr lang="zh-CN" altLang="zh-CN" sz="1800" dirty="0"/>
              <a:t>个位同步时钟周期的</a:t>
            </a:r>
            <a:r>
              <a:rPr lang="en-US" altLang="zh-CN" sz="1800" dirty="0"/>
              <a:t>10%</a:t>
            </a:r>
            <a:r>
              <a:rPr lang="zh-CN" altLang="zh-CN" sz="1800" dirty="0"/>
              <a:t>，即</a:t>
            </a:r>
            <a:r>
              <a:rPr lang="en-US" altLang="zh-CN" sz="1800" dirty="0" err="1"/>
              <a:t>Δ</a:t>
            </a:r>
            <a:r>
              <a:rPr lang="en-US" altLang="zh-CN" sz="1800" i="1" dirty="0" err="1"/>
              <a:t>φ</a:t>
            </a:r>
            <a:r>
              <a:rPr lang="en-US" altLang="zh-CN" sz="1800" baseline="-25000" dirty="0" err="1"/>
              <a:t>max</a:t>
            </a:r>
            <a:r>
              <a:rPr lang="en-US" altLang="zh-CN" sz="1800" dirty="0"/>
              <a:t>=2π/10</a:t>
            </a:r>
            <a:r>
              <a:rPr lang="zh-CN" altLang="zh-CN" sz="1800" dirty="0"/>
              <a:t>。题目给定的</a:t>
            </a:r>
            <a:r>
              <a:rPr lang="en-US" altLang="zh-CN" sz="1800" dirty="0"/>
              <a:t>m</a:t>
            </a:r>
            <a:r>
              <a:rPr lang="zh-CN" altLang="zh-CN" sz="1800" dirty="0"/>
              <a:t>序列的最大游程</a:t>
            </a:r>
            <a:r>
              <a:rPr lang="en-US" altLang="zh-CN" sz="1800" i="1" dirty="0"/>
              <a:t>n</a:t>
            </a:r>
            <a:r>
              <a:rPr lang="en-US" altLang="zh-CN" sz="1800" dirty="0"/>
              <a:t>=8</a:t>
            </a:r>
            <a:r>
              <a:rPr lang="zh-CN" altLang="zh-CN" sz="1800" dirty="0"/>
              <a:t>，最大的同步信号周期为</a:t>
            </a:r>
            <a:r>
              <a:rPr lang="en-US" altLang="zh-CN" sz="1800" i="1" dirty="0" err="1"/>
              <a:t>T</a:t>
            </a:r>
            <a:r>
              <a:rPr lang="en-US" altLang="zh-CN" sz="1800" i="1" baseline="-25000" dirty="0" err="1"/>
              <a:t>s</a:t>
            </a:r>
            <a:r>
              <a:rPr lang="en-US" altLang="zh-CN" sz="1800" dirty="0"/>
              <a:t>=1/(2</a:t>
            </a:r>
            <a:r>
              <a:rPr lang="zh-CN" altLang="zh-CN" sz="1800" dirty="0"/>
              <a:t>×</a:t>
            </a:r>
            <a:r>
              <a:rPr lang="en-US" altLang="zh-CN" sz="1800" dirty="0"/>
              <a:t>10</a:t>
            </a:r>
            <a:r>
              <a:rPr lang="en-US" altLang="zh-CN" sz="1800" baseline="30000" dirty="0"/>
              <a:t>5</a:t>
            </a:r>
            <a:r>
              <a:rPr lang="en-US" altLang="zh-CN" sz="1800" dirty="0"/>
              <a:t>)</a:t>
            </a:r>
            <a:r>
              <a:rPr lang="zh-CN" altLang="zh-CN" sz="1800" dirty="0"/>
              <a:t>。将这些数据代入，就可以得到自然频率的约束条件为</a:t>
            </a:r>
            <a:r>
              <a:rPr lang="en-US" altLang="zh-CN" sz="1800" i="1" dirty="0" err="1" smtClean="0"/>
              <a:t>ω</a:t>
            </a:r>
            <a:r>
              <a:rPr lang="en-US" altLang="zh-CN" sz="1800" i="1" baseline="-25000" dirty="0" err="1" smtClean="0"/>
              <a:t>n</a:t>
            </a:r>
            <a:r>
              <a:rPr lang="en-US" altLang="zh-CN" sz="1800" dirty="0" smtClean="0"/>
              <a:t>&lt;12778</a:t>
            </a:r>
            <a:endParaRPr lang="en-US" altLang="zh-CN" sz="1600" dirty="0"/>
          </a:p>
          <a:p>
            <a:pPr>
              <a:lnSpc>
                <a:spcPct val="130000"/>
              </a:lnSpc>
            </a:pPr>
            <a:endParaRPr lang="en-US" altLang="zh-CN" sz="1800" dirty="0" smtClean="0"/>
          </a:p>
          <a:p>
            <a:pPr>
              <a:lnSpc>
                <a:spcPct val="130000"/>
              </a:lnSpc>
            </a:pPr>
            <a:endParaRPr lang="en-US" altLang="zh-CN" sz="1800" dirty="0"/>
          </a:p>
          <a:p>
            <a:pPr>
              <a:lnSpc>
                <a:spcPct val="130000"/>
              </a:lnSpc>
            </a:pP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959230979"/>
              </p:ext>
            </p:extLst>
          </p:nvPr>
        </p:nvGraphicFramePr>
        <p:xfrm>
          <a:off x="3270285" y="2559003"/>
          <a:ext cx="2090970" cy="703891"/>
        </p:xfrm>
        <a:graphic>
          <a:graphicData uri="http://schemas.openxmlformats.org/presentationml/2006/ole">
            <mc:AlternateContent xmlns:mc="http://schemas.openxmlformats.org/markup-compatibility/2006">
              <mc:Choice xmlns:v="urn:schemas-microsoft-com:vml" Requires="v">
                <p:oleObj spid="_x0000_s55304" name="Equation" r:id="rId3" imgW="1282680" imgH="431640" progId="Equation.DSMT4">
                  <p:embed/>
                </p:oleObj>
              </mc:Choice>
              <mc:Fallback>
                <p:oleObj name="Equation" r:id="rId3" imgW="1282680" imgH="431640" progId="Equation.DSMT4">
                  <p:embed/>
                  <p:pic>
                    <p:nvPicPr>
                      <p:cNvPr id="0" name="Object 1"/>
                      <p:cNvPicPr>
                        <a:picLocks noChangeAspect="1" noChangeArrowheads="1"/>
                      </p:cNvPicPr>
                      <p:nvPr/>
                    </p:nvPicPr>
                    <p:blipFill>
                      <a:blip r:embed="rId4"/>
                      <a:srcRect/>
                      <a:stretch>
                        <a:fillRect/>
                      </a:stretch>
                    </p:blipFill>
                    <p:spPr bwMode="auto">
                      <a:xfrm>
                        <a:off x="3270285" y="2559003"/>
                        <a:ext cx="2090970" cy="703891"/>
                      </a:xfrm>
                      <a:prstGeom prst="rect">
                        <a:avLst/>
                      </a:prstGeom>
                      <a:noFill/>
                    </p:spPr>
                  </p:pic>
                </p:oleObj>
              </mc:Fallback>
            </mc:AlternateContent>
          </a:graphicData>
        </a:graphic>
      </p:graphicFrame>
    </p:spTree>
    <p:extLst>
      <p:ext uri="{BB962C8B-B14F-4D97-AF65-F5344CB8AC3E}">
        <p14:creationId xmlns:p14="http://schemas.microsoft.com/office/powerpoint/2010/main" val="77660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361812" y="516287"/>
            <a:ext cx="8242757" cy="3970318"/>
          </a:xfrm>
          <a:prstGeom prst="rect">
            <a:avLst/>
          </a:prstGeom>
        </p:spPr>
        <p:txBody>
          <a:bodyPr wrap="square">
            <a:spAutoFit/>
          </a:bodyPr>
          <a:lstStyle/>
          <a:p>
            <a:pPr>
              <a:lnSpc>
                <a:spcPct val="140000"/>
              </a:lnSpc>
            </a:pPr>
            <a:r>
              <a:rPr lang="zh-CN" altLang="en-US" sz="1800" dirty="0" smtClean="0">
                <a:latin typeface="Times New Roman" panose="02020603050405020304" pitchFamily="18" charset="0"/>
              </a:rPr>
              <a:t>讨论一</a:t>
            </a:r>
            <a:endParaRPr lang="en-US" altLang="zh-CN" sz="1800" dirty="0" smtClean="0">
              <a:latin typeface="Times New Roman" panose="02020603050405020304" pitchFamily="18" charset="0"/>
            </a:endParaRPr>
          </a:p>
          <a:p>
            <a:pPr indent="457200">
              <a:lnSpc>
                <a:spcPct val="140000"/>
              </a:lnSpc>
            </a:pPr>
            <a:r>
              <a:rPr lang="zh-CN" altLang="zh-CN" sz="1800" dirty="0"/>
              <a:t>本题的</a:t>
            </a:r>
            <a:r>
              <a:rPr lang="en-US" altLang="zh-CN" sz="1800" dirty="0"/>
              <a:t>m</a:t>
            </a:r>
            <a:r>
              <a:rPr lang="zh-CN" altLang="zh-CN" sz="1800" dirty="0"/>
              <a:t>序列实际上是在模拟原始信息的比特流，而原始信息比特流的游程长度是不确定的，那样的话要控制锁相环的输出相位抖动就很困难。所以在实际的数字信号传输中要采用某种编码方式，控制编码后的比特流中的游程长度</a:t>
            </a:r>
            <a:r>
              <a:rPr lang="zh-CN" altLang="zh-CN" sz="1800" dirty="0" smtClean="0"/>
              <a:t>。</a:t>
            </a:r>
            <a:endParaRPr lang="en-US" altLang="zh-CN" sz="1800" dirty="0" smtClean="0"/>
          </a:p>
          <a:p>
            <a:pPr indent="457200">
              <a:lnSpc>
                <a:spcPct val="140000"/>
              </a:lnSpc>
            </a:pPr>
            <a:r>
              <a:rPr lang="zh-CN" altLang="en-US" sz="1800" dirty="0" smtClean="0">
                <a:latin typeface="Times New Roman" panose="02020603050405020304" pitchFamily="18" charset="0"/>
              </a:rPr>
              <a:t>前面讨论多个编码中，</a:t>
            </a:r>
            <a:r>
              <a:rPr lang="en-US" altLang="zh-CN" sz="1800" dirty="0" smtClean="0"/>
              <a:t>Manchester</a:t>
            </a:r>
            <a:r>
              <a:rPr lang="zh-CN" altLang="en-US" sz="1800" dirty="0" smtClean="0"/>
              <a:t>码、</a:t>
            </a:r>
            <a:r>
              <a:rPr lang="en-US" altLang="zh-CN" sz="1800" dirty="0"/>
              <a:t>Miller</a:t>
            </a:r>
            <a:r>
              <a:rPr lang="zh-CN" altLang="en-US" sz="1800" dirty="0"/>
              <a:t>码与</a:t>
            </a:r>
            <a:r>
              <a:rPr lang="en-US" altLang="zh-CN" sz="1800" dirty="0"/>
              <a:t>CMI</a:t>
            </a:r>
            <a:r>
              <a:rPr lang="zh-CN" altLang="en-US" sz="1800" dirty="0" smtClean="0"/>
              <a:t>码等均将</a:t>
            </a:r>
            <a:r>
              <a:rPr lang="zh-CN" altLang="zh-CN" sz="1800" dirty="0" smtClean="0"/>
              <a:t>每个</a:t>
            </a:r>
            <a:r>
              <a:rPr lang="zh-CN" altLang="zh-CN" sz="1800" dirty="0"/>
              <a:t>原始</a:t>
            </a:r>
            <a:r>
              <a:rPr lang="zh-CN" altLang="zh-CN" sz="1800" dirty="0" smtClean="0"/>
              <a:t>码元扩展</a:t>
            </a:r>
            <a:r>
              <a:rPr lang="zh-CN" altLang="zh-CN" sz="1800" dirty="0"/>
              <a:t>成两</a:t>
            </a:r>
            <a:r>
              <a:rPr lang="zh-CN" altLang="zh-CN" sz="1800" dirty="0" smtClean="0"/>
              <a:t>位</a:t>
            </a:r>
            <a:r>
              <a:rPr lang="zh-CN" altLang="en-US" sz="1800" dirty="0" smtClean="0"/>
              <a:t>（即所谓的</a:t>
            </a:r>
            <a:r>
              <a:rPr lang="en-US" altLang="zh-CN" sz="1800" dirty="0" smtClean="0"/>
              <a:t>1B2B</a:t>
            </a:r>
            <a:r>
              <a:rPr lang="zh-CN" altLang="en-US" sz="1800" dirty="0" smtClean="0"/>
              <a:t>码），那样虽然增加了信号频率，但是其游程被限制：</a:t>
            </a:r>
            <a:r>
              <a:rPr lang="en-US" altLang="zh-CN" sz="1800" dirty="0" smtClean="0"/>
              <a:t>Manchester</a:t>
            </a:r>
            <a:r>
              <a:rPr lang="zh-CN" altLang="en-US" sz="1800" dirty="0" smtClean="0"/>
              <a:t>码最大为</a:t>
            </a:r>
            <a:r>
              <a:rPr lang="en-US" altLang="zh-CN" sz="1800" dirty="0" smtClean="0"/>
              <a:t>2</a:t>
            </a:r>
            <a:r>
              <a:rPr lang="zh-CN" altLang="en-US" sz="1800" dirty="0" smtClean="0"/>
              <a:t>，</a:t>
            </a:r>
            <a:r>
              <a:rPr lang="en-US" altLang="zh-CN" sz="1800" dirty="0" smtClean="0"/>
              <a:t>Miller</a:t>
            </a:r>
            <a:r>
              <a:rPr lang="zh-CN" altLang="en-US" sz="1800" dirty="0" smtClean="0"/>
              <a:t>码最大为</a:t>
            </a:r>
            <a:r>
              <a:rPr lang="en-US" altLang="zh-CN" sz="1800" dirty="0" smtClean="0"/>
              <a:t>4</a:t>
            </a:r>
            <a:r>
              <a:rPr lang="zh-CN" altLang="en-US" sz="1800" dirty="0" smtClean="0"/>
              <a:t>，</a:t>
            </a:r>
            <a:r>
              <a:rPr lang="en-US" altLang="zh-CN" sz="1800" dirty="0" smtClean="0"/>
              <a:t>CMI</a:t>
            </a:r>
            <a:r>
              <a:rPr lang="zh-CN" altLang="en-US" sz="1800" dirty="0" smtClean="0"/>
              <a:t>码最大为</a:t>
            </a:r>
            <a:r>
              <a:rPr lang="en-US" altLang="zh-CN" sz="1800" dirty="0" smtClean="0"/>
              <a:t>3</a:t>
            </a:r>
            <a:r>
              <a:rPr lang="zh-CN" altLang="en-US" sz="1800" dirty="0" smtClean="0"/>
              <a:t>。这样就大大降低了输出的相位抖动，所以是经常被采用的几种编码方式</a:t>
            </a:r>
            <a:endParaRPr lang="en-US" altLang="zh-CN" sz="1800" dirty="0" smtClean="0">
              <a:latin typeface="Times New Roman" panose="02020603050405020304" pitchFamily="18" charset="0"/>
            </a:endParaRPr>
          </a:p>
          <a:p>
            <a:pPr indent="457200">
              <a:lnSpc>
                <a:spcPct val="140000"/>
              </a:lnSpc>
            </a:pPr>
            <a:r>
              <a:rPr lang="zh-CN" altLang="en-US" sz="1800" dirty="0" smtClean="0">
                <a:latin typeface="Times New Roman" panose="02020603050405020304" pitchFamily="18" charset="0"/>
              </a:rPr>
              <a:t>本题目输入信号</a:t>
            </a:r>
            <a:r>
              <a:rPr lang="zh-CN" altLang="en-US" sz="1800" dirty="0" smtClean="0">
                <a:latin typeface="Times New Roman" panose="02020603050405020304" pitchFamily="18" charset="0"/>
                <a:cs typeface="Times New Roman" panose="02020603050405020304" pitchFamily="18" charset="0"/>
              </a:rPr>
              <a:t>的</a:t>
            </a:r>
            <a:r>
              <a:rPr lang="zh-CN" altLang="en-US" sz="1800" dirty="0">
                <a:latin typeface="Times New Roman" panose="02020603050405020304" pitchFamily="18" charset="0"/>
                <a:cs typeface="Times New Roman" panose="02020603050405020304" pitchFamily="18" charset="0"/>
              </a:rPr>
              <a:t>最大游程数</a:t>
            </a:r>
            <a:r>
              <a:rPr lang="zh-CN" altLang="en-US" sz="1800" dirty="0" smtClean="0">
                <a:latin typeface="Times New Roman" panose="02020603050405020304" pitchFamily="18" charset="0"/>
                <a:cs typeface="Times New Roman" panose="02020603050405020304" pitchFamily="18" charset="0"/>
              </a:rPr>
              <a:t>为</a:t>
            </a:r>
            <a:r>
              <a:rPr lang="en-US" altLang="zh-CN" sz="1800" i="1" dirty="0" smtClean="0">
                <a:latin typeface="Times New Roman" panose="02020603050405020304" pitchFamily="18" charset="0"/>
                <a:cs typeface="Times New Roman" panose="02020603050405020304" pitchFamily="18" charset="0"/>
              </a:rPr>
              <a:t>n</a:t>
            </a:r>
            <a:r>
              <a:rPr lang="en-US" altLang="zh-CN" sz="1800" dirty="0" smtClean="0">
                <a:latin typeface="Times New Roman" panose="02020603050405020304" pitchFamily="18" charset="0"/>
                <a:cs typeface="Times New Roman" panose="02020603050405020304" pitchFamily="18" charset="0"/>
              </a:rPr>
              <a:t>=8</a:t>
            </a:r>
            <a:r>
              <a:rPr lang="zh-CN" altLang="en-US" sz="1800" dirty="0" smtClean="0">
                <a:latin typeface="Times New Roman" panose="02020603050405020304" pitchFamily="18" charset="0"/>
                <a:cs typeface="Times New Roman" panose="02020603050405020304" pitchFamily="18" charset="0"/>
              </a:rPr>
              <a:t>。如果将原始比特流采用</a:t>
            </a:r>
            <a:r>
              <a:rPr lang="en-US" altLang="zh-CN" sz="1800" dirty="0"/>
              <a:t>Manchester</a:t>
            </a:r>
            <a:r>
              <a:rPr lang="zh-CN" altLang="en-US" sz="1800" dirty="0" smtClean="0"/>
              <a:t>码进行编码，则在其他条件不变的情况下，其输出相位抖动可以下降到原来的</a:t>
            </a:r>
            <a:r>
              <a:rPr lang="en-US" altLang="zh-CN" sz="1800" dirty="0" smtClean="0"/>
              <a:t>1/49</a:t>
            </a:r>
          </a:p>
        </p:txBody>
      </p:sp>
    </p:spTree>
    <p:extLst>
      <p:ext uri="{BB962C8B-B14F-4D97-AF65-F5344CB8AC3E}">
        <p14:creationId xmlns:p14="http://schemas.microsoft.com/office/powerpoint/2010/main" val="452939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276294" y="467068"/>
            <a:ext cx="8589894" cy="5027723"/>
          </a:xfrm>
          <a:prstGeom prst="rect">
            <a:avLst/>
          </a:prstGeom>
          <a:noFill/>
        </p:spPr>
        <p:txBody>
          <a:bodyPr wrap="square" rtlCol="0">
            <a:spAutoFit/>
          </a:bodyPr>
          <a:lstStyle/>
          <a:p>
            <a:pPr>
              <a:lnSpc>
                <a:spcPct val="150000"/>
              </a:lnSpc>
            </a:pPr>
            <a:r>
              <a:rPr lang="zh-CN" altLang="en-US" sz="1800" dirty="0" smtClean="0"/>
              <a:t>讨论二</a:t>
            </a:r>
            <a:endParaRPr lang="en-US" altLang="zh-CN" sz="1800" dirty="0" smtClean="0"/>
          </a:p>
          <a:p>
            <a:pPr indent="457200">
              <a:lnSpc>
                <a:spcPct val="150000"/>
              </a:lnSpc>
            </a:pPr>
            <a:r>
              <a:rPr lang="zh-CN" altLang="zh-CN" sz="1800" dirty="0" smtClean="0"/>
              <a:t>在</a:t>
            </a:r>
            <a:r>
              <a:rPr lang="zh-CN" altLang="zh-CN" sz="1800" dirty="0"/>
              <a:t>载波同步电路中，通常不会有输入信号脉冲缺失的情况，只有大量的噪声会影响输出的相位抖动，所以只要按照自然频率必须远低于输入信号频率的关系约束自然频率。另外还可以增加锁相环的阶数来过滤高频噪声，以降低由于噪声引起的输出</a:t>
            </a:r>
            <a:r>
              <a:rPr lang="zh-CN" altLang="zh-CN" sz="1800" dirty="0" smtClean="0"/>
              <a:t>相位抖动</a:t>
            </a:r>
            <a:endParaRPr lang="zh-CN" altLang="zh-CN" sz="1800" dirty="0"/>
          </a:p>
          <a:p>
            <a:pPr indent="457200">
              <a:lnSpc>
                <a:spcPct val="150000"/>
              </a:lnSpc>
            </a:pPr>
            <a:r>
              <a:rPr lang="zh-CN" altLang="zh-CN" sz="1800" dirty="0"/>
              <a:t>然而在位同步电路中可能存在输入信号脉冲缺失，此时要按照上述讨论提出的由输出相位抖动来确定自然频率约束条件。可以这样理解：输入信号脉冲缺失等效于输入信号中存在比同步信号更低的频谱分量，这种情况下增加锁相环的阶数是无能为力的，所以必须依靠降低锁相环的闭环带宽来解决由它引起的</a:t>
            </a:r>
            <a:r>
              <a:rPr lang="zh-CN" altLang="zh-CN" sz="1800" dirty="0" smtClean="0"/>
              <a:t>相位抖动</a:t>
            </a:r>
            <a:endParaRPr lang="zh-CN" altLang="zh-CN" sz="1800" dirty="0"/>
          </a:p>
          <a:p>
            <a:pPr indent="457200">
              <a:lnSpc>
                <a:spcPct val="150000"/>
              </a:lnSpc>
            </a:pPr>
            <a:r>
              <a:rPr lang="zh-CN" altLang="zh-CN" sz="1800" dirty="0"/>
              <a:t>当然，降低自然频率必然会增加捕捉时间。所以若系统的捕捉时间还有要求，那就可能要在相位抖动与捕捉时间之间作合理的折衷，或者采用其他提高捕捉能力的辅助电路，例如扫描式捕捉电路</a:t>
            </a:r>
            <a:endParaRPr lang="zh-CN" altLang="en-US" sz="1800" dirty="0"/>
          </a:p>
        </p:txBody>
      </p:sp>
    </p:spTree>
    <p:extLst>
      <p:ext uri="{BB962C8B-B14F-4D97-AF65-F5344CB8AC3E}">
        <p14:creationId xmlns:p14="http://schemas.microsoft.com/office/powerpoint/2010/main" val="1518705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380849" y="509392"/>
            <a:ext cx="8357634" cy="2292935"/>
          </a:xfrm>
          <a:prstGeom prst="rect">
            <a:avLst/>
          </a:prstGeom>
        </p:spPr>
        <p:txBody>
          <a:bodyPr wrap="square">
            <a:spAutoFit/>
          </a:bodyPr>
          <a:lstStyle/>
          <a:p>
            <a:pPr algn="just">
              <a:lnSpc>
                <a:spcPct val="150000"/>
              </a:lnSpc>
              <a:spcBef>
                <a:spcPts val="600"/>
              </a:spcBef>
              <a:spcAft>
                <a:spcPts val="600"/>
              </a:spcAft>
            </a:pPr>
            <a:r>
              <a:rPr lang="zh-CN" altLang="zh-CN" b="1" kern="100" dirty="0">
                <a:solidFill>
                  <a:srgbClr val="FF0000"/>
                </a:solidFill>
                <a:latin typeface="等线" panose="02010600030101010101" pitchFamily="2" charset="-122"/>
                <a:cs typeface="Times New Roman" panose="02020603050405020304" pitchFamily="18" charset="0"/>
              </a:rPr>
              <a:t>实验</a:t>
            </a:r>
            <a:r>
              <a:rPr lang="zh-CN" altLang="zh-CN" b="1" kern="100" dirty="0" smtClean="0">
                <a:solidFill>
                  <a:srgbClr val="FF0000"/>
                </a:solidFill>
                <a:latin typeface="等线" panose="02010600030101010101" pitchFamily="2" charset="-122"/>
                <a:cs typeface="Times New Roman" panose="02020603050405020304" pitchFamily="18" charset="0"/>
              </a:rPr>
              <a:t>题</a:t>
            </a:r>
            <a:endParaRPr lang="zh-CN" altLang="zh-CN" b="1" kern="100" dirty="0">
              <a:solidFill>
                <a:srgbClr val="FF0000"/>
              </a:solidFill>
              <a:latin typeface="华文细黑" panose="02010600040101010101" pitchFamily="2" charset="-122"/>
              <a:cs typeface="Times New Roman" panose="02020603050405020304" pitchFamily="18" charset="0"/>
            </a:endParaRPr>
          </a:p>
          <a:p>
            <a:pPr marL="457200" indent="-457200" algn="just">
              <a:lnSpc>
                <a:spcPct val="150000"/>
              </a:lnSpc>
              <a:spcAft>
                <a:spcPts val="0"/>
              </a:spcAft>
              <a:buFont typeface="+mj-lt"/>
              <a:buAutoNum type="arabicPeriod"/>
            </a:pPr>
            <a:r>
              <a:rPr lang="zh-CN" altLang="en-US" sz="1800" kern="100" dirty="0">
                <a:latin typeface="Times New Roman" panose="02020603050405020304" pitchFamily="18" charset="0"/>
                <a:cs typeface="Times New Roman" panose="02020603050405020304" pitchFamily="18" charset="0"/>
              </a:rPr>
              <a:t>用</a:t>
            </a:r>
            <a:r>
              <a:rPr lang="en-US" altLang="zh-CN" sz="1800" kern="100" dirty="0">
                <a:latin typeface="Times New Roman" panose="02020603050405020304" pitchFamily="18" charset="0"/>
                <a:cs typeface="Times New Roman" panose="02020603050405020304" pitchFamily="18" charset="0"/>
              </a:rPr>
              <a:t>74HC4046</a:t>
            </a:r>
            <a:r>
              <a:rPr lang="zh-CN" altLang="en-US" sz="1800" kern="100" dirty="0">
                <a:latin typeface="Times New Roman" panose="02020603050405020304" pitchFamily="18" charset="0"/>
                <a:cs typeface="Times New Roman" panose="02020603050405020304" pitchFamily="18" charset="0"/>
              </a:rPr>
              <a:t>芯片</a:t>
            </a:r>
            <a:r>
              <a:rPr lang="zh-CN" altLang="en-US" sz="1800" kern="100" dirty="0" smtClean="0">
                <a:latin typeface="Times New Roman" panose="02020603050405020304" pitchFamily="18" charset="0"/>
                <a:cs typeface="Times New Roman" panose="02020603050405020304" pitchFamily="18" charset="0"/>
              </a:rPr>
              <a:t>设计前面第</a:t>
            </a:r>
            <a:r>
              <a:rPr lang="en-US" altLang="zh-CN" sz="1800" kern="100" dirty="0" smtClean="0">
                <a:latin typeface="Times New Roman" panose="02020603050405020304" pitchFamily="18" charset="0"/>
                <a:cs typeface="Times New Roman" panose="02020603050405020304" pitchFamily="18" charset="0"/>
              </a:rPr>
              <a:t>25</a:t>
            </a:r>
            <a:r>
              <a:rPr lang="zh-CN" altLang="en-US" sz="1800" kern="100" dirty="0" smtClean="0">
                <a:latin typeface="Times New Roman" panose="02020603050405020304" pitchFamily="18" charset="0"/>
                <a:cs typeface="Times New Roman" panose="02020603050405020304" pitchFamily="18" charset="0"/>
              </a:rPr>
              <a:t>页例子中的锁相环</a:t>
            </a:r>
            <a:r>
              <a:rPr lang="zh-CN" altLang="en-US" sz="1800" kern="100" dirty="0">
                <a:latin typeface="Times New Roman" panose="02020603050405020304" pitchFamily="18" charset="0"/>
                <a:cs typeface="Times New Roman" panose="02020603050405020304" pitchFamily="18" charset="0"/>
              </a:rPr>
              <a:t>同步电路</a:t>
            </a:r>
            <a:r>
              <a:rPr lang="zh-CN" altLang="en-US" sz="1800" kern="100" dirty="0" smtClean="0">
                <a:latin typeface="Times New Roman" panose="02020603050405020304" pitchFamily="18" charset="0"/>
                <a:cs typeface="Times New Roman" panose="02020603050405020304" pitchFamily="18" charset="0"/>
              </a:rPr>
              <a:t>，</a:t>
            </a:r>
            <a:r>
              <a:rPr lang="zh-CN" altLang="en-US" sz="1800" kern="100" dirty="0">
                <a:latin typeface="Times New Roman" panose="02020603050405020304" pitchFamily="18" charset="0"/>
                <a:cs typeface="Times New Roman" panose="02020603050405020304" pitchFamily="18" charset="0"/>
              </a:rPr>
              <a:t>根据芯片的数据</a:t>
            </a:r>
            <a:r>
              <a:rPr lang="zh-CN" altLang="en-US" sz="1800" kern="100" dirty="0" smtClean="0">
                <a:latin typeface="Times New Roman" panose="02020603050405020304" pitchFamily="18" charset="0"/>
                <a:cs typeface="Times New Roman" panose="02020603050405020304" pitchFamily="18" charset="0"/>
              </a:rPr>
              <a:t>手册完成锁相环中环路滤波器的元件参数设计。若有可能，实际制作这个锁相环并进行测试（用信号发生器作为输入信号）</a:t>
            </a:r>
            <a:endParaRPr lang="en-US" altLang="zh-CN" sz="1800" kern="100" dirty="0" smtClean="0">
              <a:latin typeface="Times New Roman" panose="02020603050405020304" pitchFamily="18" charset="0"/>
              <a:cs typeface="Times New Roman" panose="02020603050405020304" pitchFamily="18" charset="0"/>
            </a:endParaRPr>
          </a:p>
          <a:p>
            <a:pPr marL="457200" indent="-457200" algn="just">
              <a:lnSpc>
                <a:spcPct val="150000"/>
              </a:lnSpc>
              <a:spcAft>
                <a:spcPts val="0"/>
              </a:spcAft>
              <a:buFont typeface="+mj-lt"/>
              <a:buAutoNum type="arabicPeriod"/>
            </a:pPr>
            <a:r>
              <a:rPr lang="zh-CN" altLang="en-US" sz="1800" kern="100" dirty="0" smtClean="0">
                <a:latin typeface="Times New Roman" panose="02020603050405020304" pitchFamily="18" charset="0"/>
                <a:cs typeface="Times New Roman" panose="02020603050405020304" pitchFamily="18" charset="0"/>
              </a:rPr>
              <a:t>设计一个能克服相位模糊的</a:t>
            </a:r>
            <a:r>
              <a:rPr lang="en-US" altLang="zh-CN" sz="1800" kern="100" dirty="0" smtClean="0">
                <a:latin typeface="Times New Roman" panose="02020603050405020304" pitchFamily="18" charset="0"/>
                <a:cs typeface="Times New Roman" panose="02020603050405020304" pitchFamily="18" charset="0"/>
              </a:rPr>
              <a:t>diff-Manchester</a:t>
            </a:r>
            <a:r>
              <a:rPr lang="zh-CN" altLang="zh-CN" sz="1800" kern="100" dirty="0">
                <a:latin typeface="Times New Roman" panose="02020603050405020304" pitchFamily="18" charset="0"/>
                <a:cs typeface="Times New Roman" panose="02020603050405020304" pitchFamily="18" charset="0"/>
              </a:rPr>
              <a:t>码</a:t>
            </a:r>
            <a:r>
              <a:rPr lang="zh-CN" altLang="en-US" sz="1800" kern="100" dirty="0" smtClean="0">
                <a:latin typeface="Times New Roman" panose="02020603050405020304" pitchFamily="18" charset="0"/>
                <a:cs typeface="Times New Roman" panose="02020603050405020304" pitchFamily="18" charset="0"/>
              </a:rPr>
              <a:t>解码电路</a:t>
            </a:r>
            <a:endParaRPr lang="zh-CN" altLang="zh-CN" sz="1800" kern="100" dirty="0">
              <a:latin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197271603"/>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20578</TotalTime>
  <Words>5103</Words>
  <Application>Microsoft Office PowerPoint</Application>
  <PresentationFormat>全屏显示(4:3)</PresentationFormat>
  <Paragraphs>387</Paragraphs>
  <Slides>36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36</vt:i4>
      </vt:variant>
    </vt:vector>
  </HeadingPairs>
  <TitlesOfParts>
    <vt:vector size="51" baseType="lpstr">
      <vt:lpstr>等线</vt:lpstr>
      <vt:lpstr>黑体</vt:lpstr>
      <vt:lpstr>华文细黑</vt:lpstr>
      <vt:lpstr>楷体</vt:lpstr>
      <vt:lpstr>楷体_GB2312</vt:lpstr>
      <vt:lpstr>隶书</vt:lpstr>
      <vt:lpstr>宋体</vt:lpstr>
      <vt:lpstr>Arial</vt:lpstr>
      <vt:lpstr>Symbol</vt:lpstr>
      <vt:lpstr>Times New Roman</vt:lpstr>
      <vt:lpstr>Wingdings</vt:lpstr>
      <vt:lpstr>1_Network</vt:lpstr>
      <vt:lpstr>Visio</vt:lpstr>
      <vt:lpstr>Equation</vt:lpstr>
      <vt:lpstr>MathType 4.0 Equation</vt:lpstr>
      <vt:lpstr>同步电路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541</cp:revision>
  <dcterms:created xsi:type="dcterms:W3CDTF">1601-01-01T00:00:00Z</dcterms:created>
  <dcterms:modified xsi:type="dcterms:W3CDTF">2023-04-11T07:54:20Z</dcterms:modified>
</cp:coreProperties>
</file>