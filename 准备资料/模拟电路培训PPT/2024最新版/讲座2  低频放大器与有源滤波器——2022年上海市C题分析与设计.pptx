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67"/>
  </p:notesMasterIdLst>
  <p:handoutMasterIdLst>
    <p:handoutMasterId r:id="rId68"/>
  </p:handoutMasterIdLst>
  <p:sldIdLst>
    <p:sldId id="398" r:id="rId2"/>
    <p:sldId id="660" r:id="rId3"/>
    <p:sldId id="677" r:id="rId4"/>
    <p:sldId id="678" r:id="rId5"/>
    <p:sldId id="679" r:id="rId6"/>
    <p:sldId id="680" r:id="rId7"/>
    <p:sldId id="693" r:id="rId8"/>
    <p:sldId id="694" r:id="rId9"/>
    <p:sldId id="682" r:id="rId10"/>
    <p:sldId id="683" r:id="rId11"/>
    <p:sldId id="695" r:id="rId12"/>
    <p:sldId id="696" r:id="rId13"/>
    <p:sldId id="697" r:id="rId14"/>
    <p:sldId id="684" r:id="rId15"/>
    <p:sldId id="685" r:id="rId16"/>
    <p:sldId id="740" r:id="rId17"/>
    <p:sldId id="686" r:id="rId18"/>
    <p:sldId id="687" r:id="rId19"/>
    <p:sldId id="688" r:id="rId20"/>
    <p:sldId id="689" r:id="rId21"/>
    <p:sldId id="690" r:id="rId22"/>
    <p:sldId id="691" r:id="rId23"/>
    <p:sldId id="692" r:id="rId24"/>
    <p:sldId id="744" r:id="rId25"/>
    <p:sldId id="699" r:id="rId26"/>
    <p:sldId id="700" r:id="rId27"/>
    <p:sldId id="701" r:id="rId28"/>
    <p:sldId id="702" r:id="rId29"/>
    <p:sldId id="703" r:id="rId30"/>
    <p:sldId id="704" r:id="rId31"/>
    <p:sldId id="720" r:id="rId32"/>
    <p:sldId id="721" r:id="rId33"/>
    <p:sldId id="725" r:id="rId34"/>
    <p:sldId id="726" r:id="rId35"/>
    <p:sldId id="722" r:id="rId36"/>
    <p:sldId id="723" r:id="rId37"/>
    <p:sldId id="724" r:id="rId38"/>
    <p:sldId id="739" r:id="rId39"/>
    <p:sldId id="727" r:id="rId40"/>
    <p:sldId id="709" r:id="rId41"/>
    <p:sldId id="710" r:id="rId42"/>
    <p:sldId id="741" r:id="rId43"/>
    <p:sldId id="742" r:id="rId44"/>
    <p:sldId id="743" r:id="rId45"/>
    <p:sldId id="711" r:id="rId46"/>
    <p:sldId id="748" r:id="rId47"/>
    <p:sldId id="712" r:id="rId48"/>
    <p:sldId id="713" r:id="rId49"/>
    <p:sldId id="714" r:id="rId50"/>
    <p:sldId id="715" r:id="rId51"/>
    <p:sldId id="745" r:id="rId52"/>
    <p:sldId id="728" r:id="rId53"/>
    <p:sldId id="717" r:id="rId54"/>
    <p:sldId id="718" r:id="rId55"/>
    <p:sldId id="736" r:id="rId56"/>
    <p:sldId id="719" r:id="rId57"/>
    <p:sldId id="729" r:id="rId58"/>
    <p:sldId id="730" r:id="rId59"/>
    <p:sldId id="731" r:id="rId60"/>
    <p:sldId id="732" r:id="rId61"/>
    <p:sldId id="733" r:id="rId62"/>
    <p:sldId id="746" r:id="rId63"/>
    <p:sldId id="734" r:id="rId64"/>
    <p:sldId id="737" r:id="rId65"/>
    <p:sldId id="738" r:id="rId66"/>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FFFF"/>
    <a:srgbClr val="CCECFF"/>
    <a:srgbClr val="99FF99"/>
    <a:srgbClr val="FFFF66"/>
    <a:srgbClr val="66FFFF"/>
    <a:srgbClr val="FFCC00"/>
    <a:srgbClr val="FF33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3147" autoAdjust="0"/>
  </p:normalViewPr>
  <p:slideViewPr>
    <p:cSldViewPr snapToGrid="0">
      <p:cViewPr varScale="1">
        <p:scale>
          <a:sx n="88" d="100"/>
          <a:sy n="88" d="100"/>
        </p:scale>
        <p:origin x="80" y="200"/>
      </p:cViewPr>
      <p:guideLst>
        <p:guide orient="horz" pos="2160"/>
        <p:guide pos="384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00" d="100"/>
        <a:sy n="100" d="100"/>
      </p:scale>
      <p:origin x="0" y="0"/>
    </p:cViewPr>
  </p:sorter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emf"/><Relationship Id="rId5" Type="http://schemas.openxmlformats.org/officeDocument/2006/relationships/image" Target="../media/image23.wmf"/><Relationship Id="rId4" Type="http://schemas.openxmlformats.org/officeDocument/2006/relationships/image" Target="../media/image2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emf"/><Relationship Id="rId5" Type="http://schemas.openxmlformats.org/officeDocument/2006/relationships/image" Target="../media/image28.wmf"/><Relationship Id="rId4" Type="http://schemas.openxmlformats.org/officeDocument/2006/relationships/image" Target="../media/image2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9.wmf"/><Relationship Id="rId1" Type="http://schemas.openxmlformats.org/officeDocument/2006/relationships/image" Target="../media/image21.wmf"/><Relationship Id="rId5" Type="http://schemas.openxmlformats.org/officeDocument/2006/relationships/image" Target="../media/image31.wmf"/><Relationship Id="rId4" Type="http://schemas.openxmlformats.org/officeDocument/2006/relationships/image" Target="../media/image30.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wmf"/><Relationship Id="rId1" Type="http://schemas.openxmlformats.org/officeDocument/2006/relationships/image" Target="../media/image32.wmf"/><Relationship Id="rId5" Type="http://schemas.openxmlformats.org/officeDocument/2006/relationships/image" Target="../media/image36.wmf"/><Relationship Id="rId4"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emf"/><Relationship Id="rId4" Type="http://schemas.openxmlformats.org/officeDocument/2006/relationships/image" Target="../media/image4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emf"/><Relationship Id="rId4" Type="http://schemas.openxmlformats.org/officeDocument/2006/relationships/image" Target="../media/image4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wmf"/><Relationship Id="rId1" Type="http://schemas.openxmlformats.org/officeDocument/2006/relationships/image" Target="../media/image4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emf"/><Relationship Id="rId5" Type="http://schemas.openxmlformats.org/officeDocument/2006/relationships/image" Target="../media/image58.wmf"/><Relationship Id="rId4" Type="http://schemas.openxmlformats.org/officeDocument/2006/relationships/image" Target="../media/image57.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image" Target="../media/image5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31</a:t>
            </a:fld>
            <a:endParaRPr lang="en-US" altLang="zh-CN"/>
          </a:p>
        </p:txBody>
      </p:sp>
    </p:spTree>
    <p:extLst>
      <p:ext uri="{BB962C8B-B14F-4D97-AF65-F5344CB8AC3E}">
        <p14:creationId xmlns:p14="http://schemas.microsoft.com/office/powerpoint/2010/main" val="422678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smtClean="0">
                <a:solidFill>
                  <a:schemeClr val="tx1"/>
                </a:solidFill>
                <a:effectLst/>
                <a:latin typeface="Times New Roman" pitchFamily="18" charset="0"/>
                <a:ea typeface="宋体" pitchFamily="2" charset="-122"/>
                <a:cs typeface="+mn-cs"/>
              </a:rPr>
              <a:t>已知</a:t>
            </a:r>
            <a:r>
              <a:rPr lang="en-US" altLang="zh-CN" sz="1200" kern="1200" dirty="0" smtClean="0">
                <a:solidFill>
                  <a:schemeClr val="tx1"/>
                </a:solidFill>
                <a:effectLst/>
                <a:latin typeface="Times New Roman" pitchFamily="18" charset="0"/>
                <a:ea typeface="宋体" pitchFamily="2" charset="-122"/>
                <a:cs typeface="+mn-cs"/>
              </a:rPr>
              <a:t>fc</a:t>
            </a:r>
            <a:r>
              <a:rPr lang="zh-CN" altLang="en-US" sz="1200" kern="1200" dirty="0" smtClean="0">
                <a:solidFill>
                  <a:schemeClr val="tx1"/>
                </a:solidFill>
                <a:effectLst/>
                <a:latin typeface="Times New Roman" pitchFamily="18" charset="0"/>
                <a:ea typeface="宋体" pitchFamily="2" charset="-122"/>
                <a:cs typeface="+mn-cs"/>
              </a:rPr>
              <a:t>与</a:t>
            </a:r>
            <a:r>
              <a:rPr lang="en-US" altLang="zh-CN" sz="1200" kern="1200" dirty="0" smtClean="0">
                <a:solidFill>
                  <a:schemeClr val="tx1"/>
                </a:solidFill>
                <a:effectLst/>
                <a:latin typeface="Times New Roman" pitchFamily="18" charset="0"/>
                <a:ea typeface="宋体" pitchFamily="2" charset="-122"/>
                <a:cs typeface="+mn-cs"/>
              </a:rPr>
              <a:t>Q</a:t>
            </a:r>
            <a:r>
              <a:rPr lang="zh-CN" altLang="en-US" sz="1200" kern="1200" dirty="0" smtClean="0">
                <a:solidFill>
                  <a:schemeClr val="tx1"/>
                </a:solidFill>
                <a:effectLst/>
                <a:latin typeface="Times New Roman" pitchFamily="18" charset="0"/>
                <a:ea typeface="宋体" pitchFamily="2" charset="-122"/>
                <a:cs typeface="+mn-cs"/>
              </a:rPr>
              <a:t>，求各</a:t>
            </a:r>
            <a:r>
              <a:rPr lang="en-US" altLang="zh-CN" sz="1200" kern="1200" dirty="0" smtClean="0">
                <a:solidFill>
                  <a:schemeClr val="tx1"/>
                </a:solidFill>
                <a:effectLst/>
                <a:latin typeface="Times New Roman" pitchFamily="18" charset="0"/>
                <a:ea typeface="宋体" pitchFamily="2" charset="-122"/>
                <a:cs typeface="+mn-cs"/>
              </a:rPr>
              <a:t>RC</a:t>
            </a:r>
            <a:r>
              <a:rPr lang="zh-CN" altLang="en-US" sz="1200" kern="1200" dirty="0" smtClean="0">
                <a:solidFill>
                  <a:schemeClr val="tx1"/>
                </a:solidFill>
                <a:effectLst/>
                <a:latin typeface="Times New Roman" pitchFamily="18" charset="0"/>
                <a:ea typeface="宋体" pitchFamily="2" charset="-122"/>
                <a:cs typeface="+mn-cs"/>
              </a:rPr>
              <a:t>。</a:t>
            </a:r>
            <a:r>
              <a:rPr lang="zh-CN" altLang="zh-CN" sz="1200" kern="1200" dirty="0" smtClean="0">
                <a:solidFill>
                  <a:schemeClr val="tx1"/>
                </a:solidFill>
                <a:effectLst/>
                <a:latin typeface="Times New Roman" pitchFamily="18" charset="0"/>
                <a:ea typeface="宋体" pitchFamily="2" charset="-122"/>
                <a:cs typeface="+mn-cs"/>
              </a:rPr>
              <a:t>参数个数大于方程个数，元件参数并不唯一</a:t>
            </a:r>
            <a:r>
              <a:rPr lang="zh-CN" altLang="en-US" sz="1200" kern="1200" dirty="0" smtClean="0">
                <a:solidFill>
                  <a:schemeClr val="tx1"/>
                </a:solidFill>
                <a:effectLst/>
                <a:latin typeface="Times New Roman" pitchFamily="18" charset="0"/>
                <a:ea typeface="宋体" pitchFamily="2" charset="-122"/>
                <a:cs typeface="+mn-cs"/>
              </a:rPr>
              <a:t>。要指定某几个参数，具体可参见</a:t>
            </a:r>
            <a:r>
              <a:rPr lang="en-US" altLang="zh-CN" sz="1200" kern="1200" dirty="0" smtClean="0">
                <a:solidFill>
                  <a:schemeClr val="tx1"/>
                </a:solidFill>
                <a:effectLst/>
                <a:latin typeface="Times New Roman" pitchFamily="18" charset="0"/>
                <a:ea typeface="宋体" pitchFamily="2" charset="-122"/>
                <a:cs typeface="+mn-cs"/>
              </a:rPr>
              <a:t>《</a:t>
            </a:r>
            <a:r>
              <a:rPr lang="zh-CN" altLang="en-US" sz="1200" kern="1200" dirty="0" smtClean="0">
                <a:solidFill>
                  <a:schemeClr val="tx1"/>
                </a:solidFill>
                <a:effectLst/>
                <a:latin typeface="Times New Roman" pitchFamily="18" charset="0"/>
                <a:ea typeface="宋体" pitchFamily="2" charset="-122"/>
                <a:cs typeface="+mn-cs"/>
              </a:rPr>
              <a:t>有源滤波器</a:t>
            </a:r>
            <a:r>
              <a:rPr lang="en-US" altLang="zh-CN" sz="1200" kern="1200" dirty="0" smtClean="0">
                <a:solidFill>
                  <a:schemeClr val="tx1"/>
                </a:solidFill>
                <a:effectLst/>
                <a:latin typeface="Times New Roman" pitchFamily="18" charset="0"/>
                <a:ea typeface="宋体" pitchFamily="2" charset="-122"/>
                <a:cs typeface="+mn-cs"/>
              </a:rPr>
              <a:t>》p12~p13</a:t>
            </a:r>
            <a:r>
              <a:rPr lang="zh-CN" altLang="en-US" sz="1200" kern="1200" dirty="0" smtClean="0">
                <a:solidFill>
                  <a:schemeClr val="tx1"/>
                </a:solidFill>
                <a:effectLst/>
                <a:latin typeface="Times New Roman" pitchFamily="18" charset="0"/>
                <a:ea typeface="宋体" pitchFamily="2" charset="-122"/>
                <a:cs typeface="+mn-cs"/>
              </a:rPr>
              <a:t>。</a:t>
            </a:r>
            <a:endParaRPr lang="zh-CN" altLang="en-US" dirty="0" smtClean="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32</a:t>
            </a:fld>
            <a:endParaRPr lang="en-US" altLang="zh-CN"/>
          </a:p>
        </p:txBody>
      </p:sp>
    </p:spTree>
    <p:extLst>
      <p:ext uri="{BB962C8B-B14F-4D97-AF65-F5344CB8AC3E}">
        <p14:creationId xmlns:p14="http://schemas.microsoft.com/office/powerpoint/2010/main" val="2123861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33</a:t>
            </a:fld>
            <a:endParaRPr lang="en-US" altLang="zh-CN"/>
          </a:p>
        </p:txBody>
      </p:sp>
    </p:spTree>
    <p:extLst>
      <p:ext uri="{BB962C8B-B14F-4D97-AF65-F5344CB8AC3E}">
        <p14:creationId xmlns:p14="http://schemas.microsoft.com/office/powerpoint/2010/main" val="169419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7788" y="739775"/>
            <a:ext cx="6580187" cy="370205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smtClean="0">
                <a:solidFill>
                  <a:schemeClr val="tx1"/>
                </a:solidFill>
                <a:effectLst/>
                <a:latin typeface="Times New Roman" pitchFamily="18" charset="0"/>
                <a:ea typeface="宋体" pitchFamily="2" charset="-122"/>
                <a:cs typeface="+mn-cs"/>
              </a:rPr>
              <a:t>已知</a:t>
            </a:r>
            <a:r>
              <a:rPr lang="en-US" altLang="zh-CN" sz="1200" kern="1200" dirty="0" smtClean="0">
                <a:solidFill>
                  <a:schemeClr val="tx1"/>
                </a:solidFill>
                <a:effectLst/>
                <a:latin typeface="Times New Roman" pitchFamily="18" charset="0"/>
                <a:ea typeface="宋体" pitchFamily="2" charset="-122"/>
                <a:cs typeface="+mn-cs"/>
              </a:rPr>
              <a:t>fc</a:t>
            </a:r>
            <a:r>
              <a:rPr lang="zh-CN" altLang="en-US" sz="1200" kern="1200" dirty="0" smtClean="0">
                <a:solidFill>
                  <a:schemeClr val="tx1"/>
                </a:solidFill>
                <a:effectLst/>
                <a:latin typeface="Times New Roman" pitchFamily="18" charset="0"/>
                <a:ea typeface="宋体" pitchFamily="2" charset="-122"/>
                <a:cs typeface="+mn-cs"/>
              </a:rPr>
              <a:t>与</a:t>
            </a:r>
            <a:r>
              <a:rPr lang="en-US" altLang="zh-CN" sz="1200" kern="1200" dirty="0" smtClean="0">
                <a:solidFill>
                  <a:schemeClr val="tx1"/>
                </a:solidFill>
                <a:effectLst/>
                <a:latin typeface="Times New Roman" pitchFamily="18" charset="0"/>
                <a:ea typeface="宋体" pitchFamily="2" charset="-122"/>
                <a:cs typeface="+mn-cs"/>
              </a:rPr>
              <a:t>Q</a:t>
            </a:r>
            <a:r>
              <a:rPr lang="zh-CN" altLang="en-US" sz="1200" kern="1200" dirty="0" smtClean="0">
                <a:solidFill>
                  <a:schemeClr val="tx1"/>
                </a:solidFill>
                <a:effectLst/>
                <a:latin typeface="Times New Roman" pitchFamily="18" charset="0"/>
                <a:ea typeface="宋体" pitchFamily="2" charset="-122"/>
                <a:cs typeface="+mn-cs"/>
              </a:rPr>
              <a:t>，求各</a:t>
            </a:r>
            <a:r>
              <a:rPr lang="en-US" altLang="zh-CN" sz="1200" kern="1200" dirty="0" smtClean="0">
                <a:solidFill>
                  <a:schemeClr val="tx1"/>
                </a:solidFill>
                <a:effectLst/>
                <a:latin typeface="Times New Roman" pitchFamily="18" charset="0"/>
                <a:ea typeface="宋体" pitchFamily="2" charset="-122"/>
                <a:cs typeface="+mn-cs"/>
              </a:rPr>
              <a:t>RC</a:t>
            </a:r>
            <a:r>
              <a:rPr lang="zh-CN" altLang="en-US" sz="1200" kern="1200" dirty="0" smtClean="0">
                <a:solidFill>
                  <a:schemeClr val="tx1"/>
                </a:solidFill>
                <a:effectLst/>
                <a:latin typeface="Times New Roman" pitchFamily="18" charset="0"/>
                <a:ea typeface="宋体" pitchFamily="2" charset="-122"/>
                <a:cs typeface="+mn-cs"/>
              </a:rPr>
              <a:t>。</a:t>
            </a:r>
            <a:r>
              <a:rPr lang="zh-CN" altLang="zh-CN" sz="1200" kern="1200" dirty="0" smtClean="0">
                <a:solidFill>
                  <a:schemeClr val="tx1"/>
                </a:solidFill>
                <a:effectLst/>
                <a:latin typeface="Times New Roman" pitchFamily="18" charset="0"/>
                <a:ea typeface="宋体" pitchFamily="2" charset="-122"/>
                <a:cs typeface="+mn-cs"/>
              </a:rPr>
              <a:t>参数个数大于方程个数，元件参数并不唯一</a:t>
            </a:r>
            <a:r>
              <a:rPr lang="zh-CN" altLang="en-US" sz="1200" kern="1200" dirty="0" smtClean="0">
                <a:solidFill>
                  <a:schemeClr val="tx1"/>
                </a:solidFill>
                <a:effectLst/>
                <a:latin typeface="Times New Roman" pitchFamily="18" charset="0"/>
                <a:ea typeface="宋体" pitchFamily="2" charset="-122"/>
                <a:cs typeface="+mn-cs"/>
              </a:rPr>
              <a:t>。要指定某几个参数，具体可参见</a:t>
            </a:r>
            <a:r>
              <a:rPr lang="en-US" altLang="zh-CN" sz="1200" kern="1200" dirty="0" smtClean="0">
                <a:solidFill>
                  <a:schemeClr val="tx1"/>
                </a:solidFill>
                <a:effectLst/>
                <a:latin typeface="Times New Roman" pitchFamily="18" charset="0"/>
                <a:ea typeface="宋体" pitchFamily="2" charset="-122"/>
                <a:cs typeface="+mn-cs"/>
              </a:rPr>
              <a:t>《</a:t>
            </a:r>
            <a:r>
              <a:rPr lang="zh-CN" altLang="en-US" sz="1200" kern="1200" dirty="0" smtClean="0">
                <a:solidFill>
                  <a:schemeClr val="tx1"/>
                </a:solidFill>
                <a:effectLst/>
                <a:latin typeface="Times New Roman" pitchFamily="18" charset="0"/>
                <a:ea typeface="宋体" pitchFamily="2" charset="-122"/>
                <a:cs typeface="+mn-cs"/>
              </a:rPr>
              <a:t>有源滤波器</a:t>
            </a:r>
            <a:r>
              <a:rPr lang="en-US" altLang="zh-CN" sz="1200" kern="1200" dirty="0" smtClean="0">
                <a:solidFill>
                  <a:schemeClr val="tx1"/>
                </a:solidFill>
                <a:effectLst/>
                <a:latin typeface="Times New Roman" pitchFamily="18" charset="0"/>
                <a:ea typeface="宋体" pitchFamily="2" charset="-122"/>
                <a:cs typeface="+mn-cs"/>
              </a:rPr>
              <a:t>》p12~p13</a:t>
            </a:r>
            <a:r>
              <a:rPr lang="zh-CN" altLang="en-US" sz="1200" kern="1200" dirty="0" smtClean="0">
                <a:solidFill>
                  <a:schemeClr val="tx1"/>
                </a:solidFill>
                <a:effectLst/>
                <a:latin typeface="Times New Roman" pitchFamily="18" charset="0"/>
                <a:ea typeface="宋体" pitchFamily="2" charset="-122"/>
                <a:cs typeface="+mn-cs"/>
              </a:rPr>
              <a:t>。</a:t>
            </a:r>
            <a:endParaRPr lang="zh-CN" altLang="en-US" dirty="0" smtClean="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34</a:t>
            </a:fld>
            <a:endParaRPr lang="en-US" altLang="zh-CN"/>
          </a:p>
        </p:txBody>
      </p:sp>
    </p:spTree>
    <p:extLst>
      <p:ext uri="{BB962C8B-B14F-4D97-AF65-F5344CB8AC3E}">
        <p14:creationId xmlns:p14="http://schemas.microsoft.com/office/powerpoint/2010/main" val="967852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40</a:t>
            </a:fld>
            <a:endParaRPr lang="en-US" altLang="zh-CN"/>
          </a:p>
        </p:txBody>
      </p:sp>
    </p:spTree>
    <p:extLst>
      <p:ext uri="{BB962C8B-B14F-4D97-AF65-F5344CB8AC3E}">
        <p14:creationId xmlns:p14="http://schemas.microsoft.com/office/powerpoint/2010/main" val="3998468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41</a:t>
            </a:fld>
            <a:endParaRPr lang="en-US" altLang="zh-CN"/>
          </a:p>
        </p:txBody>
      </p:sp>
    </p:spTree>
    <p:extLst>
      <p:ext uri="{BB962C8B-B14F-4D97-AF65-F5344CB8AC3E}">
        <p14:creationId xmlns:p14="http://schemas.microsoft.com/office/powerpoint/2010/main" val="2524754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56</a:t>
            </a:fld>
            <a:endParaRPr lang="en-US" altLang="zh-CN"/>
          </a:p>
        </p:txBody>
      </p:sp>
    </p:spTree>
    <p:extLst>
      <p:ext uri="{BB962C8B-B14F-4D97-AF65-F5344CB8AC3E}">
        <p14:creationId xmlns:p14="http://schemas.microsoft.com/office/powerpoint/2010/main" val="40878142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2024/3/24</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2024/3/24</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2024/3/24</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2024/3/24</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2024/3/24</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2024/3/24</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2024/3/24</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1.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2.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4.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7.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18.e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3.wmf"/><Relationship Id="rId3" Type="http://schemas.openxmlformats.org/officeDocument/2006/relationships/notesSlide" Target="../notesSlides/notesSlide1.xml"/><Relationship Id="rId7" Type="http://schemas.openxmlformats.org/officeDocument/2006/relationships/image" Target="../media/image20.wmf"/><Relationship Id="rId12"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14.bin"/><Relationship Id="rId11" Type="http://schemas.openxmlformats.org/officeDocument/2006/relationships/image" Target="../media/image22.wmf"/><Relationship Id="rId5" Type="http://schemas.openxmlformats.org/officeDocument/2006/relationships/image" Target="../media/image19.e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21.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28.wmf"/><Relationship Id="rId3" Type="http://schemas.openxmlformats.org/officeDocument/2006/relationships/notesSlide" Target="../notesSlides/notesSlide2.xml"/><Relationship Id="rId7" Type="http://schemas.openxmlformats.org/officeDocument/2006/relationships/image" Target="../media/image25.wmf"/><Relationship Id="rId12"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9.bin"/><Relationship Id="rId11" Type="http://schemas.openxmlformats.org/officeDocument/2006/relationships/image" Target="../media/image27.wmf"/><Relationship Id="rId5" Type="http://schemas.openxmlformats.org/officeDocument/2006/relationships/image" Target="../media/image24.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31.wmf"/><Relationship Id="rId3" Type="http://schemas.openxmlformats.org/officeDocument/2006/relationships/notesSlide" Target="../notesSlides/notesSlide3.xml"/><Relationship Id="rId7" Type="http://schemas.openxmlformats.org/officeDocument/2006/relationships/image" Target="../media/image29.wmf"/><Relationship Id="rId12"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23.bin"/><Relationship Id="rId11" Type="http://schemas.openxmlformats.org/officeDocument/2006/relationships/image" Target="../media/image30.emf"/><Relationship Id="rId5" Type="http://schemas.openxmlformats.org/officeDocument/2006/relationships/image" Target="../media/image21.wmf"/><Relationship Id="rId10" Type="http://schemas.openxmlformats.org/officeDocument/2006/relationships/oleObject" Target="../embeddings/oleObject24.bin"/><Relationship Id="rId4" Type="http://schemas.openxmlformats.org/officeDocument/2006/relationships/oleObject" Target="../embeddings/oleObject15.bin"/><Relationship Id="rId9" Type="http://schemas.openxmlformats.org/officeDocument/2006/relationships/image" Target="../media/image23.wmf"/></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6.wmf"/><Relationship Id="rId3" Type="http://schemas.openxmlformats.org/officeDocument/2006/relationships/notesSlide" Target="../notesSlides/notesSlide4.xml"/><Relationship Id="rId7" Type="http://schemas.openxmlformats.org/officeDocument/2006/relationships/image" Target="../media/image33.wmf"/><Relationship Id="rId12"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27.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4.emf"/></Relationships>
</file>

<file path=ppt/slides/_rels/slide35.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38.wmf"/><Relationship Id="rId5" Type="http://schemas.openxmlformats.org/officeDocument/2006/relationships/oleObject" Target="../embeddings/oleObject32.bin"/><Relationship Id="rId10" Type="http://schemas.openxmlformats.org/officeDocument/2006/relationships/image" Target="../media/image40.wmf"/><Relationship Id="rId4" Type="http://schemas.openxmlformats.org/officeDocument/2006/relationships/image" Target="../media/image37.emf"/><Relationship Id="rId9" Type="http://schemas.openxmlformats.org/officeDocument/2006/relationships/oleObject" Target="../embeddings/oleObject34.bin"/></Relationships>
</file>

<file path=ppt/slides/_rels/slide36.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42.wmf"/><Relationship Id="rId5" Type="http://schemas.openxmlformats.org/officeDocument/2006/relationships/oleObject" Target="../embeddings/oleObject36.bin"/><Relationship Id="rId4" Type="http://schemas.openxmlformats.org/officeDocument/2006/relationships/image" Target="../media/image41.emf"/></Relationships>
</file>

<file path=ppt/slides/_rels/slide37.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45.wmf"/><Relationship Id="rId5" Type="http://schemas.openxmlformats.org/officeDocument/2006/relationships/oleObject" Target="../embeddings/oleObject39.bin"/><Relationship Id="rId10" Type="http://schemas.openxmlformats.org/officeDocument/2006/relationships/image" Target="../media/image47.wmf"/><Relationship Id="rId4" Type="http://schemas.openxmlformats.org/officeDocument/2006/relationships/image" Target="../media/image44.emf"/><Relationship Id="rId9" Type="http://schemas.openxmlformats.org/officeDocument/2006/relationships/oleObject" Target="../embeddings/oleObject41.bin"/></Relationships>
</file>

<file path=ppt/slides/_rels/slide38.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oleObject" Target="../embeddings/oleObject42.bin"/><Relationship Id="rId7"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49.wmf"/><Relationship Id="rId5" Type="http://schemas.openxmlformats.org/officeDocument/2006/relationships/oleObject" Target="../embeddings/oleObject43.bin"/><Relationship Id="rId4" Type="http://schemas.openxmlformats.org/officeDocument/2006/relationships/image" Target="../media/image48.wmf"/></Relationships>
</file>

<file path=ppt/slides/_rels/slide39.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52.wmf"/><Relationship Id="rId5" Type="http://schemas.openxmlformats.org/officeDocument/2006/relationships/oleObject" Target="../embeddings/oleObject46.bin"/><Relationship Id="rId4" Type="http://schemas.openxmlformats.org/officeDocument/2006/relationships/image" Target="../media/image51.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58.wmf"/><Relationship Id="rId3" Type="http://schemas.openxmlformats.org/officeDocument/2006/relationships/notesSlide" Target="../notesSlides/notesSlide5.xml"/><Relationship Id="rId7" Type="http://schemas.openxmlformats.org/officeDocument/2006/relationships/image" Target="../media/image55.wmf"/><Relationship Id="rId12"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49.bin"/><Relationship Id="rId11" Type="http://schemas.openxmlformats.org/officeDocument/2006/relationships/image" Target="../media/image57.wmf"/><Relationship Id="rId5" Type="http://schemas.openxmlformats.org/officeDocument/2006/relationships/image" Target="../media/image54.e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56.wm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60.e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54.bin"/><Relationship Id="rId5" Type="http://schemas.openxmlformats.org/officeDocument/2006/relationships/image" Target="../media/image59.emf"/><Relationship Id="rId4" Type="http://schemas.openxmlformats.org/officeDocument/2006/relationships/oleObject" Target="../embeddings/oleObject53.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63.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64.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0.e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12685"/>
            <a:ext cx="8596312" cy="2046515"/>
          </a:xfrm>
        </p:spPr>
        <p:txBody>
          <a:bodyPr/>
          <a:lstStyle/>
          <a:p>
            <a:pPr>
              <a:lnSpc>
                <a:spcPct val="150000"/>
              </a:lnSpc>
              <a:spcBef>
                <a:spcPts val="1200"/>
              </a:spcBef>
            </a:pPr>
            <a:r>
              <a:rPr lang="zh-CN" altLang="en-US" sz="4400" dirty="0" smtClean="0">
                <a:solidFill>
                  <a:srgbClr val="FF0000"/>
                </a:solidFill>
                <a:latin typeface="隶书" panose="02010509060101010101" pitchFamily="49" charset="-122"/>
                <a:ea typeface="隶书" panose="02010509060101010101" pitchFamily="49" charset="-122"/>
              </a:rPr>
              <a:t>低频放大器</a:t>
            </a:r>
            <a:r>
              <a:rPr lang="zh-CN" altLang="en-US" sz="4400" dirty="0">
                <a:solidFill>
                  <a:srgbClr val="FF0000"/>
                </a:solidFill>
                <a:latin typeface="隶书" panose="02010509060101010101" pitchFamily="49" charset="-122"/>
                <a:ea typeface="隶书" panose="02010509060101010101" pitchFamily="49" charset="-122"/>
              </a:rPr>
              <a:t>与有源</a:t>
            </a:r>
            <a:r>
              <a:rPr lang="zh-CN" altLang="en-US" sz="4400" dirty="0" smtClean="0">
                <a:solidFill>
                  <a:srgbClr val="FF0000"/>
                </a:solidFill>
                <a:latin typeface="隶书" panose="02010509060101010101" pitchFamily="49" charset="-122"/>
                <a:ea typeface="隶书" panose="02010509060101010101" pitchFamily="49" charset="-122"/>
              </a:rPr>
              <a:t>滤波器</a:t>
            </a:r>
            <a:r>
              <a:rPr lang="en-US" altLang="zh-CN" sz="4400" dirty="0" smtClean="0">
                <a:solidFill>
                  <a:srgbClr val="FF0000"/>
                </a:solidFill>
                <a:latin typeface="隶书" panose="02010509060101010101" pitchFamily="49" charset="-122"/>
                <a:ea typeface="隶书" panose="02010509060101010101" pitchFamily="49" charset="-122"/>
              </a:rPr>
              <a:t/>
            </a:r>
            <a:br>
              <a:rPr lang="en-US" altLang="zh-CN" sz="4400" dirty="0" smtClean="0">
                <a:solidFill>
                  <a:srgbClr val="FF0000"/>
                </a:solidFill>
                <a:latin typeface="隶书" panose="02010509060101010101" pitchFamily="49" charset="-122"/>
                <a:ea typeface="隶书" panose="02010509060101010101" pitchFamily="49" charset="-122"/>
              </a:rPr>
            </a:br>
            <a:r>
              <a:rPr lang="en-US" altLang="zh-CN" sz="3600" dirty="0" smtClean="0">
                <a:solidFill>
                  <a:srgbClr val="FF0000"/>
                </a:solidFill>
                <a:latin typeface="+mj-ea"/>
              </a:rPr>
              <a:t>——</a:t>
            </a:r>
            <a:r>
              <a:rPr lang="en-US" altLang="zh-CN" sz="4400" dirty="0" smtClean="0">
                <a:solidFill>
                  <a:srgbClr val="FF0000"/>
                </a:solidFill>
                <a:latin typeface="+mj-ea"/>
              </a:rPr>
              <a:t> </a:t>
            </a:r>
            <a:r>
              <a:rPr lang="en-US" altLang="zh-CN" sz="3600" dirty="0" smtClean="0">
                <a:solidFill>
                  <a:srgbClr val="FF0000"/>
                </a:solidFill>
                <a:ea typeface="隶书" panose="02010509060101010101" pitchFamily="49" charset="-122"/>
              </a:rPr>
              <a:t>2022</a:t>
            </a:r>
            <a:r>
              <a:rPr lang="zh-CN" altLang="en-US" sz="4400" dirty="0">
                <a:solidFill>
                  <a:srgbClr val="FF0000"/>
                </a:solidFill>
                <a:latin typeface="隶书" panose="02010509060101010101" pitchFamily="49" charset="-122"/>
                <a:ea typeface="隶书" panose="02010509060101010101" pitchFamily="49" charset="-122"/>
              </a:rPr>
              <a:t>年上海市</a:t>
            </a:r>
            <a:r>
              <a:rPr lang="en-US" altLang="zh-CN" sz="3600" dirty="0">
                <a:solidFill>
                  <a:srgbClr val="FF0000"/>
                </a:solidFill>
                <a:ea typeface="隶书" panose="02010509060101010101" pitchFamily="49" charset="-122"/>
              </a:rPr>
              <a:t>C</a:t>
            </a:r>
            <a:r>
              <a:rPr lang="zh-CN" altLang="en-US" sz="4400" dirty="0">
                <a:solidFill>
                  <a:srgbClr val="FF0000"/>
                </a:solidFill>
                <a:latin typeface="隶书" panose="02010509060101010101" pitchFamily="49" charset="-122"/>
                <a:ea typeface="隶书" panose="02010509060101010101" pitchFamily="49" charset="-122"/>
              </a:rPr>
              <a:t>题分析与</a:t>
            </a:r>
            <a:r>
              <a:rPr lang="zh-CN" altLang="en-US" sz="4400" dirty="0" smtClean="0">
                <a:solidFill>
                  <a:srgbClr val="FF0000"/>
                </a:solidFill>
                <a:latin typeface="隶书" panose="02010509060101010101" pitchFamily="49" charset="-122"/>
                <a:ea typeface="隶书" panose="02010509060101010101" pitchFamily="49" charset="-122"/>
              </a:rPr>
              <a:t>设计</a:t>
            </a:r>
            <a:endParaRPr lang="zh-CN" altLang="en-US" sz="2400" dirty="0">
              <a:solidFill>
                <a:schemeClr val="tx1"/>
              </a:solidFill>
              <a:latin typeface="楷体" panose="02010609060101010101" pitchFamily="49" charset="-122"/>
              <a:ea typeface="楷体" panose="02010609060101010101" pitchFamily="49" charset="-122"/>
            </a:endParaRPr>
          </a:p>
        </p:txBody>
      </p:sp>
      <p:sp>
        <p:nvSpPr>
          <p:cNvPr id="3" name="Rectangle 2"/>
          <p:cNvSpPr txBox="1">
            <a:spLocks noChangeArrowheads="1"/>
          </p:cNvSpPr>
          <p:nvPr/>
        </p:nvSpPr>
        <p:spPr bwMode="auto">
          <a:xfrm>
            <a:off x="1693864" y="3759201"/>
            <a:ext cx="8596312" cy="136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ctr">
              <a:spcBef>
                <a:spcPct val="0"/>
              </a:spcBef>
              <a:spcAft>
                <a:spcPct val="0"/>
              </a:spcAft>
              <a:defRPr sz="6000">
                <a:solidFill>
                  <a:srgbClr val="FFFF66"/>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a:lstStyle>
          <a:p>
            <a:pPr>
              <a:lnSpc>
                <a:spcPct val="150000"/>
              </a:lnSpc>
              <a:spcBef>
                <a:spcPts val="1200"/>
              </a:spcBef>
            </a:pPr>
            <a:r>
              <a:rPr lang="zh-CN" altLang="en-US" sz="2400" kern="0" dirty="0" smtClean="0">
                <a:solidFill>
                  <a:schemeClr val="tx1"/>
                </a:solidFill>
                <a:latin typeface="楷体" panose="02010609060101010101" pitchFamily="49" charset="-122"/>
                <a:ea typeface="楷体" panose="02010609060101010101" pitchFamily="49" charset="-122"/>
              </a:rPr>
              <a:t>复旦大学电子工程系  陈光梦</a:t>
            </a:r>
            <a:endParaRPr lang="zh-CN" altLang="en-US" sz="2400" kern="0" dirty="0">
              <a:solidFill>
                <a:schemeClr val="tx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2024/3/24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99143" y="362307"/>
            <a:ext cx="11321142" cy="2904065"/>
          </a:xfrm>
          <a:prstGeom prst="rect">
            <a:avLst/>
          </a:prstGeom>
          <a:noFill/>
        </p:spPr>
        <p:txBody>
          <a:bodyPr wrap="square" rtlCol="0">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32000">
              <a:lnSpc>
                <a:spcPct val="150000"/>
              </a:lnSpc>
            </a:pPr>
            <a:r>
              <a:rPr lang="zh-CN" altLang="zh-CN" sz="1800" dirty="0"/>
              <a:t>设计并制作一个采用有源分频网络的音频放大电路，用以实现音频信号的二分频和功率放大。</a:t>
            </a:r>
          </a:p>
          <a:p>
            <a:pPr indent="432000">
              <a:lnSpc>
                <a:spcPct val="150000"/>
              </a:lnSpc>
            </a:pPr>
            <a:r>
              <a:rPr lang="zh-CN" altLang="zh-CN" sz="1800" dirty="0"/>
              <a:t>下图为放大电路结构框图</a:t>
            </a:r>
            <a:r>
              <a:rPr lang="en-US" altLang="zh-CN" sz="1800" dirty="0"/>
              <a:t>, </a:t>
            </a:r>
            <a:r>
              <a:rPr lang="zh-CN" altLang="zh-CN" sz="1800" dirty="0"/>
              <a:t>信号源输出信号</a:t>
            </a:r>
            <a:r>
              <a:rPr lang="en-US" altLang="zh-CN" sz="1800" dirty="0"/>
              <a:t>V</a:t>
            </a:r>
            <a:r>
              <a:rPr lang="en-US" altLang="zh-CN" sz="1800" baseline="-25000" dirty="0"/>
              <a:t>S</a:t>
            </a:r>
            <a:r>
              <a:rPr lang="zh-CN" altLang="zh-CN" sz="1800" dirty="0"/>
              <a:t>为音频信号，其频率范围：</a:t>
            </a:r>
            <a:r>
              <a:rPr lang="en-US" altLang="zh-CN" sz="1800" dirty="0"/>
              <a:t>100Hz</a:t>
            </a:r>
            <a:r>
              <a:rPr lang="zh-CN" altLang="zh-CN" sz="1800" dirty="0"/>
              <a:t>～</a:t>
            </a:r>
            <a:r>
              <a:rPr lang="en-US" altLang="zh-CN" sz="1800" dirty="0"/>
              <a:t>20kHz</a:t>
            </a:r>
            <a:r>
              <a:rPr lang="zh-CN" altLang="zh-CN" sz="1800" dirty="0"/>
              <a:t>；幅度范围：</a:t>
            </a:r>
            <a:r>
              <a:rPr lang="en-US" altLang="zh-CN" sz="1800" dirty="0"/>
              <a:t>10</a:t>
            </a:r>
            <a:r>
              <a:rPr lang="zh-CN" altLang="zh-CN" sz="1800" dirty="0"/>
              <a:t>～</a:t>
            </a:r>
            <a:r>
              <a:rPr lang="en-US" altLang="zh-CN" sz="1800" dirty="0"/>
              <a:t>100mV</a:t>
            </a:r>
            <a:r>
              <a:rPr lang="zh-CN" altLang="zh-CN" sz="1800" dirty="0"/>
              <a:t>（有效值）。图中</a:t>
            </a:r>
            <a:r>
              <a:rPr lang="en-US" altLang="zh-CN" sz="1800" dirty="0"/>
              <a:t>A</a:t>
            </a:r>
            <a:r>
              <a:rPr lang="zh-CN" altLang="zh-CN" sz="1800" dirty="0"/>
              <a:t>、</a:t>
            </a:r>
            <a:r>
              <a:rPr lang="en-US" altLang="zh-CN" sz="1800" dirty="0"/>
              <a:t>B</a:t>
            </a:r>
            <a:r>
              <a:rPr lang="zh-CN" altLang="zh-CN" sz="1800" dirty="0"/>
              <a:t>、</a:t>
            </a:r>
            <a:r>
              <a:rPr lang="en-US" altLang="zh-CN" sz="1800" dirty="0"/>
              <a:t>C</a:t>
            </a:r>
            <a:r>
              <a:rPr lang="zh-CN" altLang="zh-CN" sz="1800" dirty="0"/>
              <a:t>为</a:t>
            </a:r>
            <a:r>
              <a:rPr lang="en-US" altLang="zh-CN" sz="1800" dirty="0"/>
              <a:t>3</a:t>
            </a:r>
            <a:r>
              <a:rPr lang="zh-CN" altLang="zh-CN" sz="1800" dirty="0"/>
              <a:t>个测试端点，</a:t>
            </a:r>
            <a:r>
              <a:rPr lang="en-US" altLang="zh-CN" sz="1800" dirty="0"/>
              <a:t>S</a:t>
            </a:r>
            <a:r>
              <a:rPr lang="zh-CN" altLang="zh-CN" sz="1800" dirty="0"/>
              <a:t>为信号源接口。整个自制装置由稳压电源提供正</a:t>
            </a:r>
            <a:r>
              <a:rPr lang="en-US" altLang="zh-CN" sz="1800" dirty="0"/>
              <a:t>/</a:t>
            </a:r>
            <a:r>
              <a:rPr lang="zh-CN" altLang="zh-CN" sz="1800" dirty="0"/>
              <a:t>负电源，负载电阻</a:t>
            </a:r>
            <a:r>
              <a:rPr lang="en-US" altLang="zh-CN" sz="1800" dirty="0"/>
              <a:t>H</a:t>
            </a:r>
            <a:r>
              <a:rPr lang="zh-CN" altLang="zh-CN" sz="1800" dirty="0"/>
              <a:t>为</a:t>
            </a:r>
            <a:r>
              <a:rPr lang="en-US" altLang="zh-CN" sz="1800" dirty="0"/>
              <a:t>8Ω/4W</a:t>
            </a:r>
            <a:r>
              <a:rPr lang="zh-CN" altLang="zh-CN" sz="1800" dirty="0"/>
              <a:t>功率电阻，负载电阻</a:t>
            </a:r>
            <a:r>
              <a:rPr lang="en-US" altLang="zh-CN" sz="1800" dirty="0"/>
              <a:t>L</a:t>
            </a:r>
            <a:r>
              <a:rPr lang="zh-CN" altLang="zh-CN" sz="1800" dirty="0"/>
              <a:t>为</a:t>
            </a:r>
            <a:r>
              <a:rPr lang="en-US" altLang="zh-CN" sz="1800" dirty="0"/>
              <a:t>4Ω/8W</a:t>
            </a:r>
            <a:r>
              <a:rPr lang="zh-CN" altLang="zh-CN" sz="1800" dirty="0"/>
              <a:t>功率电阻。</a:t>
            </a:r>
          </a:p>
        </p:txBody>
      </p:sp>
      <p:graphicFrame>
        <p:nvGraphicFramePr>
          <p:cNvPr id="6" name="对象 5"/>
          <p:cNvGraphicFramePr>
            <a:graphicFrameLocks noChangeAspect="1"/>
          </p:cNvGraphicFramePr>
          <p:nvPr>
            <p:extLst>
              <p:ext uri="{D42A27DB-BD31-4B8C-83A1-F6EECF244321}">
                <p14:modId xmlns:p14="http://schemas.microsoft.com/office/powerpoint/2010/main" val="1095784157"/>
              </p:ext>
            </p:extLst>
          </p:nvPr>
        </p:nvGraphicFramePr>
        <p:xfrm>
          <a:off x="2480569" y="3497263"/>
          <a:ext cx="7158291" cy="2565582"/>
        </p:xfrm>
        <a:graphic>
          <a:graphicData uri="http://schemas.openxmlformats.org/presentationml/2006/ole">
            <mc:AlternateContent xmlns:mc="http://schemas.openxmlformats.org/markup-compatibility/2006">
              <mc:Choice xmlns:v="urn:schemas-microsoft-com:vml" Requires="v">
                <p:oleObj spid="_x0000_s1081" name="Visio" r:id="rId3" imgW="6508613" imgH="2190383" progId="Visio.Drawing.15">
                  <p:embed/>
                </p:oleObj>
              </mc:Choice>
              <mc:Fallback>
                <p:oleObj name="Visio" r:id="rId3" imgW="6508613" imgH="219038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0569" y="3497263"/>
                        <a:ext cx="7158291" cy="2565582"/>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2024/3/24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478971" y="620948"/>
            <a:ext cx="11197772" cy="5074402"/>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二、要求</a:t>
            </a:r>
            <a:endParaRPr lang="zh-CN" altLang="zh-CN" kern="100" dirty="0">
              <a:latin typeface="Times New Roman" panose="02020603050405020304" pitchFamily="18" charset="0"/>
              <a:ea typeface="宋体" panose="02010600030101010101" pitchFamily="2" charset="-122"/>
            </a:endParaRPr>
          </a:p>
          <a:p>
            <a:pPr indent="432000">
              <a:lnSpc>
                <a:spcPct val="150000"/>
              </a:lnSpc>
            </a:pPr>
            <a:r>
              <a:rPr lang="zh-CN" altLang="zh-CN" sz="1800" dirty="0"/>
              <a:t>（</a:t>
            </a:r>
            <a:r>
              <a:rPr lang="en-US" altLang="zh-CN" sz="1800" dirty="0"/>
              <a:t>1</a:t>
            </a:r>
            <a:r>
              <a:rPr lang="zh-CN" altLang="zh-CN" sz="1800" dirty="0"/>
              <a:t>）预处理电路的输入阻抗大于</a:t>
            </a:r>
            <a:r>
              <a:rPr lang="en-US" altLang="zh-CN" sz="1800" dirty="0"/>
              <a:t>10k</a:t>
            </a:r>
            <a:r>
              <a:rPr lang="el-GR" altLang="zh-CN" sz="1800" dirty="0"/>
              <a:t>Ω</a:t>
            </a:r>
            <a:r>
              <a:rPr lang="zh-CN" altLang="zh-CN" sz="1800" dirty="0"/>
              <a:t>，最大增益不小于</a:t>
            </a:r>
            <a:r>
              <a:rPr lang="en-US" altLang="zh-CN" sz="1800" dirty="0"/>
              <a:t>46dB</a:t>
            </a:r>
            <a:r>
              <a:rPr lang="zh-CN" altLang="zh-CN" sz="1800" dirty="0"/>
              <a:t>。要求预处理电路具有自动增益控制功能，当输入正弦信号</a:t>
            </a:r>
            <a:r>
              <a:rPr lang="en-US" altLang="zh-CN" sz="1800" dirty="0"/>
              <a:t>VS</a:t>
            </a:r>
            <a:r>
              <a:rPr lang="zh-CN" altLang="zh-CN" sz="1800" dirty="0"/>
              <a:t>幅度在</a:t>
            </a:r>
            <a:r>
              <a:rPr lang="en-US" altLang="zh-CN" sz="1800" dirty="0"/>
              <a:t>10</a:t>
            </a:r>
            <a:r>
              <a:rPr lang="zh-CN" altLang="zh-CN" sz="1800" dirty="0"/>
              <a:t>～</a:t>
            </a:r>
            <a:r>
              <a:rPr lang="en-US" altLang="zh-CN" sz="1800" dirty="0"/>
              <a:t>100mV</a:t>
            </a:r>
            <a:r>
              <a:rPr lang="zh-CN" altLang="zh-CN" sz="1800" dirty="0"/>
              <a:t>（有效值）范围变化时，输出信号</a:t>
            </a:r>
            <a:r>
              <a:rPr lang="en-US" altLang="zh-CN" sz="1800" dirty="0"/>
              <a:t>V</a:t>
            </a:r>
            <a:r>
              <a:rPr lang="en-US" altLang="zh-CN" sz="1800" baseline="-25000" dirty="0"/>
              <a:t>C</a:t>
            </a:r>
            <a:r>
              <a:rPr lang="zh-CN" altLang="zh-CN" sz="1800" dirty="0"/>
              <a:t>在</a:t>
            </a:r>
            <a:r>
              <a:rPr lang="en-US" altLang="zh-CN" sz="1800" dirty="0"/>
              <a:t>100 Hz</a:t>
            </a:r>
            <a:r>
              <a:rPr lang="zh-CN" altLang="zh-CN" sz="1800" dirty="0"/>
              <a:t>～</a:t>
            </a:r>
            <a:r>
              <a:rPr lang="en-US" altLang="zh-CN" sz="1800" dirty="0"/>
              <a:t>20kHz</a:t>
            </a:r>
            <a:r>
              <a:rPr lang="zh-CN" altLang="zh-CN" sz="1800" dirty="0"/>
              <a:t>频带内的幅度变化</a:t>
            </a:r>
            <a:r>
              <a:rPr lang="en-US" altLang="zh-CN" sz="1800" dirty="0">
                <a:sym typeface="Symbol Tiger"/>
              </a:rPr>
              <a:t>≤</a:t>
            </a:r>
            <a:r>
              <a:rPr lang="en-US" altLang="zh-CN" sz="1800" dirty="0"/>
              <a:t>1dB</a:t>
            </a:r>
            <a:r>
              <a:rPr lang="zh-CN" altLang="zh-CN" sz="1800" dirty="0"/>
              <a:t>，且信号波形无失真。</a:t>
            </a:r>
          </a:p>
          <a:p>
            <a:pPr indent="432000">
              <a:lnSpc>
                <a:spcPct val="150000"/>
              </a:lnSpc>
            </a:pPr>
            <a:r>
              <a:rPr lang="zh-CN" altLang="zh-CN" sz="1800" dirty="0"/>
              <a:t>（</a:t>
            </a:r>
            <a:r>
              <a:rPr lang="en-US" altLang="zh-CN" sz="1800" dirty="0"/>
              <a:t>2</a:t>
            </a:r>
            <a:r>
              <a:rPr lang="zh-CN" altLang="zh-CN" sz="1800" dirty="0"/>
              <a:t>）设计并制作图中高通滤波器和功率放大电路，将信号</a:t>
            </a:r>
            <a:r>
              <a:rPr lang="en-US" altLang="zh-CN" sz="1800" dirty="0"/>
              <a:t>V</a:t>
            </a:r>
            <a:r>
              <a:rPr lang="en-US" altLang="zh-CN" sz="1800" baseline="-25000" dirty="0"/>
              <a:t>C</a:t>
            </a:r>
            <a:r>
              <a:rPr lang="zh-CN" altLang="zh-CN" sz="1800" dirty="0"/>
              <a:t>经高通滤波和功率放大输出信号</a:t>
            </a:r>
            <a:r>
              <a:rPr lang="en-US" altLang="zh-CN" sz="1800" dirty="0"/>
              <a:t>V</a:t>
            </a:r>
            <a:r>
              <a:rPr lang="en-US" altLang="zh-CN" sz="1800" baseline="-25000" dirty="0"/>
              <a:t>A</a:t>
            </a:r>
            <a:r>
              <a:rPr lang="zh-CN" altLang="zh-CN" sz="1800" dirty="0"/>
              <a:t>。高通滤波器的</a:t>
            </a:r>
            <a:r>
              <a:rPr lang="en-US" altLang="zh-CN" sz="1800" dirty="0"/>
              <a:t>-3dB</a:t>
            </a:r>
            <a:r>
              <a:rPr lang="zh-CN" altLang="zh-CN" sz="1800" dirty="0"/>
              <a:t>截止频率为</a:t>
            </a:r>
            <a:r>
              <a:rPr lang="en-US" altLang="zh-CN" sz="1800" dirty="0"/>
              <a:t>2kHz</a:t>
            </a:r>
            <a:r>
              <a:rPr lang="zh-CN" altLang="zh-CN" sz="1800" dirty="0"/>
              <a:t>，阻带衰减率</a:t>
            </a:r>
            <a:r>
              <a:rPr lang="en-US" altLang="zh-CN" sz="1800" dirty="0"/>
              <a:t>24dB/</a:t>
            </a:r>
            <a:r>
              <a:rPr lang="zh-CN" altLang="zh-CN" sz="1800" dirty="0"/>
              <a:t>倍频程，</a:t>
            </a:r>
            <a:r>
              <a:rPr lang="en-US" altLang="zh-CN" sz="1800" dirty="0"/>
              <a:t>10kHz</a:t>
            </a:r>
            <a:r>
              <a:rPr lang="zh-CN" altLang="zh-CN" sz="1800" dirty="0"/>
              <a:t>～</a:t>
            </a:r>
            <a:r>
              <a:rPr lang="en-US" altLang="zh-CN" sz="1800" dirty="0"/>
              <a:t>20kHz</a:t>
            </a:r>
            <a:r>
              <a:rPr lang="zh-CN" altLang="zh-CN" sz="1800" dirty="0"/>
              <a:t>带内波动</a:t>
            </a:r>
            <a:r>
              <a:rPr lang="en-US" altLang="zh-CN" sz="1800" dirty="0">
                <a:sym typeface="Symbol Tiger"/>
              </a:rPr>
              <a:t>≤</a:t>
            </a:r>
            <a:r>
              <a:rPr lang="en-US" altLang="zh-CN" sz="1800" dirty="0"/>
              <a:t>3dB</a:t>
            </a:r>
            <a:r>
              <a:rPr lang="zh-CN" altLang="zh-CN" sz="1800" dirty="0"/>
              <a:t>。功率放大电路为负载电阻</a:t>
            </a:r>
            <a:r>
              <a:rPr lang="en-US" altLang="zh-CN" sz="1800" dirty="0"/>
              <a:t>H</a:t>
            </a:r>
            <a:r>
              <a:rPr lang="zh-CN" altLang="zh-CN" sz="1800" dirty="0"/>
              <a:t>提供不小于</a:t>
            </a:r>
            <a:r>
              <a:rPr lang="en-US" altLang="zh-CN" sz="1800" dirty="0"/>
              <a:t>2W</a:t>
            </a:r>
            <a:r>
              <a:rPr lang="zh-CN" altLang="zh-CN" sz="1800" dirty="0"/>
              <a:t>的不失真信号。</a:t>
            </a:r>
          </a:p>
          <a:p>
            <a:pPr indent="432000">
              <a:lnSpc>
                <a:spcPct val="150000"/>
              </a:lnSpc>
            </a:pPr>
            <a:r>
              <a:rPr lang="zh-CN" altLang="zh-CN" sz="1800" dirty="0"/>
              <a:t>（</a:t>
            </a:r>
            <a:r>
              <a:rPr lang="en-US" altLang="zh-CN" sz="1800" dirty="0"/>
              <a:t>3</a:t>
            </a:r>
            <a:r>
              <a:rPr lang="zh-CN" altLang="zh-CN" sz="1800" dirty="0"/>
              <a:t>）设计并制作图中低通滤波器和功率放大电路，将信号</a:t>
            </a:r>
            <a:r>
              <a:rPr lang="en-US" altLang="zh-CN" sz="1800" dirty="0"/>
              <a:t>V</a:t>
            </a:r>
            <a:r>
              <a:rPr lang="en-US" altLang="zh-CN" sz="1800" baseline="-25000" dirty="0"/>
              <a:t>C</a:t>
            </a:r>
            <a:r>
              <a:rPr lang="zh-CN" altLang="zh-CN" sz="1800" dirty="0"/>
              <a:t>经低通滤波和功率放大输出信号</a:t>
            </a:r>
            <a:r>
              <a:rPr lang="en-US" altLang="zh-CN" sz="1800" dirty="0"/>
              <a:t>V</a:t>
            </a:r>
            <a:r>
              <a:rPr lang="en-US" altLang="zh-CN" sz="1800" baseline="-25000" dirty="0"/>
              <a:t>B</a:t>
            </a:r>
            <a:r>
              <a:rPr lang="zh-CN" altLang="zh-CN" sz="1800" dirty="0"/>
              <a:t>。低通滤波器的</a:t>
            </a:r>
            <a:r>
              <a:rPr lang="en-US" altLang="zh-CN" sz="1800" dirty="0"/>
              <a:t>-3dB</a:t>
            </a:r>
            <a:r>
              <a:rPr lang="zh-CN" altLang="zh-CN" sz="1800" dirty="0"/>
              <a:t>截止频率为</a:t>
            </a:r>
            <a:r>
              <a:rPr lang="en-US" altLang="zh-CN" sz="1800" dirty="0"/>
              <a:t>2KHz</a:t>
            </a:r>
            <a:r>
              <a:rPr lang="zh-CN" altLang="zh-CN" sz="1800" dirty="0"/>
              <a:t>，阻带衰减率</a:t>
            </a:r>
            <a:r>
              <a:rPr lang="en-US" altLang="zh-CN" sz="1800" dirty="0"/>
              <a:t>24dB/</a:t>
            </a:r>
            <a:r>
              <a:rPr lang="zh-CN" altLang="zh-CN" sz="1800" dirty="0"/>
              <a:t>倍频程，</a:t>
            </a:r>
            <a:r>
              <a:rPr lang="en-US" altLang="zh-CN" sz="1800" dirty="0"/>
              <a:t>100Hz</a:t>
            </a:r>
            <a:r>
              <a:rPr lang="zh-CN" altLang="zh-CN" sz="1800" dirty="0"/>
              <a:t>～</a:t>
            </a:r>
            <a:r>
              <a:rPr lang="en-US" altLang="zh-CN" sz="1800" dirty="0"/>
              <a:t>1kHz</a:t>
            </a:r>
            <a:r>
              <a:rPr lang="zh-CN" altLang="zh-CN" sz="1800" dirty="0"/>
              <a:t>带内波动</a:t>
            </a:r>
            <a:r>
              <a:rPr lang="en-US" altLang="zh-CN" sz="1800" dirty="0">
                <a:sym typeface="Symbol Tiger"/>
              </a:rPr>
              <a:t>≤</a:t>
            </a:r>
            <a:r>
              <a:rPr lang="en-US" altLang="zh-CN" sz="1800" dirty="0"/>
              <a:t>3dB</a:t>
            </a:r>
            <a:r>
              <a:rPr lang="zh-CN" altLang="zh-CN" sz="1800" dirty="0"/>
              <a:t>。功率放大电路为负载电阻</a:t>
            </a:r>
            <a:r>
              <a:rPr lang="en-US" altLang="zh-CN" sz="1800" dirty="0"/>
              <a:t>L</a:t>
            </a:r>
            <a:r>
              <a:rPr lang="zh-CN" altLang="zh-CN" sz="1800" dirty="0"/>
              <a:t>提供不小于</a:t>
            </a:r>
            <a:r>
              <a:rPr lang="en-US" altLang="zh-CN" sz="1800" dirty="0"/>
              <a:t>4W</a:t>
            </a:r>
            <a:r>
              <a:rPr lang="zh-CN" altLang="zh-CN" sz="1800" dirty="0"/>
              <a:t>的不失真信号。</a:t>
            </a:r>
            <a:endParaRPr lang="en-US" altLang="zh-CN" sz="1800" dirty="0"/>
          </a:p>
          <a:p>
            <a:pPr indent="432000">
              <a:lnSpc>
                <a:spcPct val="150000"/>
              </a:lnSpc>
            </a:pPr>
            <a:r>
              <a:rPr lang="zh-CN" altLang="zh-CN" sz="1800" dirty="0"/>
              <a:t>（</a:t>
            </a:r>
            <a:r>
              <a:rPr lang="en-US" altLang="zh-CN" sz="1800" dirty="0"/>
              <a:t>4</a:t>
            </a:r>
            <a:r>
              <a:rPr lang="zh-CN" altLang="zh-CN" sz="1800" dirty="0"/>
              <a:t>）信号</a:t>
            </a:r>
            <a:r>
              <a:rPr lang="en-US" altLang="zh-CN" sz="1800" dirty="0"/>
              <a:t>V</a:t>
            </a:r>
            <a:r>
              <a:rPr lang="en-US" altLang="zh-CN" sz="1800" baseline="-25000" dirty="0"/>
              <a:t>A</a:t>
            </a:r>
            <a:r>
              <a:rPr lang="zh-CN" altLang="zh-CN" sz="1800" dirty="0"/>
              <a:t>和信号</a:t>
            </a:r>
            <a:r>
              <a:rPr lang="en-US" altLang="zh-CN" sz="1800" dirty="0"/>
              <a:t>V</a:t>
            </a:r>
            <a:r>
              <a:rPr lang="en-US" altLang="zh-CN" sz="1800" baseline="-25000" dirty="0"/>
              <a:t>B</a:t>
            </a:r>
            <a:r>
              <a:rPr lang="zh-CN" altLang="zh-CN" sz="1800" dirty="0"/>
              <a:t>在</a:t>
            </a:r>
            <a:r>
              <a:rPr lang="en-US" altLang="zh-CN" sz="1800" dirty="0"/>
              <a:t>2kHz</a:t>
            </a:r>
            <a:r>
              <a:rPr lang="zh-CN" altLang="zh-CN" sz="1800" dirty="0"/>
              <a:t>频点的相位之差</a:t>
            </a:r>
            <a:r>
              <a:rPr lang="en-US" altLang="zh-CN" sz="1800" dirty="0">
                <a:sym typeface="Symbol Tiger"/>
              </a:rPr>
              <a:t>≤</a:t>
            </a:r>
            <a:r>
              <a:rPr lang="en-US" altLang="zh-CN" sz="1800" dirty="0"/>
              <a:t>±10°</a:t>
            </a:r>
            <a:r>
              <a:rPr lang="zh-CN" altLang="zh-CN" sz="1800" dirty="0"/>
              <a:t>。</a:t>
            </a:r>
          </a:p>
          <a:p>
            <a:pPr indent="432000">
              <a:lnSpc>
                <a:spcPct val="150000"/>
              </a:lnSpc>
            </a:pPr>
            <a:r>
              <a:rPr lang="zh-CN" altLang="zh-CN" sz="1800" dirty="0"/>
              <a:t>（</a:t>
            </a:r>
            <a:r>
              <a:rPr lang="en-US" altLang="zh-CN" sz="1800" dirty="0"/>
              <a:t>5</a:t>
            </a:r>
            <a:r>
              <a:rPr lang="zh-CN" altLang="zh-CN" sz="1800" dirty="0"/>
              <a:t>）其他。</a:t>
            </a:r>
            <a:endParaRPr lang="zh-CN" altLang="zh-CN" kern="1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2024/3/24</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a:t>
            </a:fld>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2493847564"/>
              </p:ext>
            </p:extLst>
          </p:nvPr>
        </p:nvGraphicFramePr>
        <p:xfrm>
          <a:off x="3140564" y="2889317"/>
          <a:ext cx="6216370" cy="3366340"/>
        </p:xfrm>
        <a:graphic>
          <a:graphicData uri="http://schemas.openxmlformats.org/presentationml/2006/ole">
            <mc:AlternateContent xmlns:mc="http://schemas.openxmlformats.org/markup-compatibility/2006">
              <mc:Choice xmlns:v="urn:schemas-microsoft-com:vml" Requires="v">
                <p:oleObj spid="_x0000_s2103" name="Visio" r:id="rId3" imgW="5762355" imgH="3119214" progId="Visio.Drawing.15">
                  <p:embed/>
                </p:oleObj>
              </mc:Choice>
              <mc:Fallback>
                <p:oleObj name="Visio" r:id="rId3" imgW="5762355" imgH="311921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0564" y="2889317"/>
                        <a:ext cx="6216370" cy="3366340"/>
                      </a:xfrm>
                      <a:prstGeom prst="rect">
                        <a:avLst/>
                      </a:prstGeom>
                      <a:noFill/>
                    </p:spPr>
                  </p:pic>
                </p:oleObj>
              </mc:Fallback>
            </mc:AlternateContent>
          </a:graphicData>
        </a:graphic>
      </p:graphicFrame>
      <p:sp>
        <p:nvSpPr>
          <p:cNvPr id="6" name="矩形 5"/>
          <p:cNvSpPr/>
          <p:nvPr/>
        </p:nvSpPr>
        <p:spPr>
          <a:xfrm>
            <a:off x="442686" y="454947"/>
            <a:ext cx="11270341" cy="2165401"/>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a:t>
            </a:r>
            <a:endParaRPr lang="zh-CN" altLang="zh-CN" kern="100" dirty="0">
              <a:latin typeface="Times New Roman" panose="02020603050405020304" pitchFamily="18" charset="0"/>
              <a:ea typeface="宋体" panose="02010600030101010101" pitchFamily="2" charset="-122"/>
            </a:endParaRPr>
          </a:p>
          <a:p>
            <a:pPr indent="432000">
              <a:lnSpc>
                <a:spcPct val="150000"/>
              </a:lnSpc>
            </a:pPr>
            <a:r>
              <a:rPr lang="zh-CN" altLang="zh-CN" sz="1800" dirty="0"/>
              <a:t>（</a:t>
            </a:r>
            <a:r>
              <a:rPr lang="en-US" altLang="zh-CN" sz="1800" dirty="0"/>
              <a:t>1</a:t>
            </a:r>
            <a:r>
              <a:rPr lang="zh-CN" altLang="zh-CN" sz="1800" dirty="0"/>
              <a:t>）</a:t>
            </a:r>
            <a:r>
              <a:rPr lang="en-US" altLang="zh-CN" sz="1800" dirty="0"/>
              <a:t>A</a:t>
            </a:r>
            <a:r>
              <a:rPr lang="zh-CN" altLang="zh-CN" sz="1800" dirty="0"/>
              <a:t>、</a:t>
            </a:r>
            <a:r>
              <a:rPr lang="en-US" altLang="zh-CN" sz="1800" dirty="0"/>
              <a:t>B</a:t>
            </a:r>
            <a:r>
              <a:rPr lang="zh-CN" altLang="zh-CN" sz="1800" dirty="0"/>
              <a:t>、</a:t>
            </a:r>
            <a:r>
              <a:rPr lang="en-US" altLang="zh-CN" sz="1800" dirty="0"/>
              <a:t>C</a:t>
            </a:r>
            <a:r>
              <a:rPr lang="zh-CN" altLang="zh-CN" sz="1800" dirty="0"/>
              <a:t>、</a:t>
            </a:r>
            <a:r>
              <a:rPr lang="en-US" altLang="zh-CN" sz="1800" dirty="0"/>
              <a:t>S</a:t>
            </a:r>
            <a:r>
              <a:rPr lang="zh-CN" altLang="zh-CN" sz="1800" dirty="0"/>
              <a:t>等端口需预留测试接口，其信号参数可利用示波器测量。 </a:t>
            </a:r>
          </a:p>
          <a:p>
            <a:pPr indent="432000">
              <a:lnSpc>
                <a:spcPct val="150000"/>
              </a:lnSpc>
            </a:pPr>
            <a:r>
              <a:rPr lang="zh-CN" altLang="zh-CN" sz="1800" dirty="0"/>
              <a:t>（</a:t>
            </a:r>
            <a:r>
              <a:rPr lang="en-US" altLang="zh-CN" sz="1800" dirty="0"/>
              <a:t>2</a:t>
            </a:r>
            <a:r>
              <a:rPr lang="zh-CN" altLang="zh-CN" sz="1800" dirty="0"/>
              <a:t>）高通滤波器和低通滤波器的</a:t>
            </a:r>
            <a:r>
              <a:rPr lang="en-US" altLang="zh-CN" sz="1800" dirty="0"/>
              <a:t>-3dB</a:t>
            </a:r>
            <a:r>
              <a:rPr lang="zh-CN" altLang="zh-CN" sz="1800" dirty="0"/>
              <a:t>截止频率均为</a:t>
            </a:r>
            <a:r>
              <a:rPr lang="en-US" altLang="zh-CN" sz="1800" dirty="0"/>
              <a:t>2kHz</a:t>
            </a:r>
            <a:r>
              <a:rPr lang="zh-CN" altLang="zh-CN" sz="1800" dirty="0"/>
              <a:t>，容许有±</a:t>
            </a:r>
            <a:r>
              <a:rPr lang="en-US" altLang="zh-CN" sz="1800" dirty="0"/>
              <a:t>50Hz</a:t>
            </a:r>
            <a:r>
              <a:rPr lang="zh-CN" altLang="zh-CN" sz="1800" dirty="0"/>
              <a:t>的误差。</a:t>
            </a:r>
          </a:p>
          <a:p>
            <a:pPr indent="432000">
              <a:lnSpc>
                <a:spcPct val="150000"/>
              </a:lnSpc>
            </a:pPr>
            <a:r>
              <a:rPr lang="zh-CN" altLang="zh-CN" sz="1800" dirty="0"/>
              <a:t>（</a:t>
            </a:r>
            <a:r>
              <a:rPr lang="en-US" altLang="zh-CN" sz="1800" dirty="0"/>
              <a:t>3</a:t>
            </a:r>
            <a:r>
              <a:rPr lang="zh-CN" altLang="zh-CN" sz="1800" dirty="0"/>
              <a:t>）要求</a:t>
            </a:r>
            <a:r>
              <a:rPr lang="en-US" altLang="zh-CN" sz="1800" dirty="0"/>
              <a:t> 4</a:t>
            </a:r>
            <a:r>
              <a:rPr lang="zh-CN" altLang="zh-CN" sz="1800" dirty="0"/>
              <a:t>的目的是检测二分频音频放大电路</a:t>
            </a:r>
            <a:r>
              <a:rPr lang="en-US" altLang="zh-CN" sz="1800" dirty="0"/>
              <a:t>A</a:t>
            </a:r>
            <a:r>
              <a:rPr lang="zh-CN" altLang="zh-CN" sz="1800" dirty="0"/>
              <a:t>、</a:t>
            </a:r>
            <a:r>
              <a:rPr lang="en-US" altLang="zh-CN" sz="1800" dirty="0"/>
              <a:t>B</a:t>
            </a:r>
            <a:r>
              <a:rPr lang="zh-CN" altLang="zh-CN" sz="1800" dirty="0"/>
              <a:t>两输出信号在</a:t>
            </a:r>
            <a:r>
              <a:rPr lang="en-US" altLang="zh-CN" sz="1800" dirty="0"/>
              <a:t>2kHz</a:t>
            </a:r>
            <a:r>
              <a:rPr lang="zh-CN" altLang="zh-CN" sz="1800" dirty="0"/>
              <a:t>频点的相移特性。 </a:t>
            </a:r>
            <a:endParaRPr lang="en-US" altLang="zh-CN" sz="1800" dirty="0"/>
          </a:p>
          <a:p>
            <a:pPr indent="432000">
              <a:lnSpc>
                <a:spcPct val="150000"/>
              </a:lnSpc>
            </a:pPr>
            <a:r>
              <a:rPr lang="zh-CN" altLang="zh-CN" sz="1800" dirty="0"/>
              <a:t>低通、高通滤波器幅频特性示意见图。</a:t>
            </a:r>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矩形 4"/>
          <p:cNvSpPr/>
          <p:nvPr/>
        </p:nvSpPr>
        <p:spPr>
          <a:xfrm>
            <a:off x="449944" y="292151"/>
            <a:ext cx="11255828" cy="6232475"/>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endParaRPr lang="zh-CN" altLang="zh-CN" sz="2800" dirty="0">
              <a:solidFill>
                <a:srgbClr val="FF0000"/>
              </a:solidFill>
              <a:latin typeface="隶书" panose="02010509060101010101" pitchFamily="49" charset="-122"/>
              <a:ea typeface="隶书" panose="02010509060101010101" pitchFamily="49" charset="-122"/>
            </a:endParaRPr>
          </a:p>
          <a:p>
            <a:pPr indent="457200">
              <a:lnSpc>
                <a:spcPct val="150000"/>
              </a:lnSpc>
            </a:pPr>
            <a:r>
              <a:rPr lang="zh-CN" altLang="zh-CN" sz="1800" dirty="0"/>
              <a:t>题目涉及三个电路模块：</a:t>
            </a:r>
            <a:endParaRPr lang="en-US" altLang="zh-CN" sz="1800" dirty="0"/>
          </a:p>
          <a:p>
            <a:pPr indent="457200">
              <a:lnSpc>
                <a:spcPct val="150000"/>
              </a:lnSpc>
            </a:pPr>
            <a:r>
              <a:rPr lang="en-US" altLang="zh-CN" sz="1800" dirty="0"/>
              <a:t>(1) </a:t>
            </a:r>
            <a:r>
              <a:rPr lang="zh-CN" altLang="zh-CN" sz="1800" dirty="0"/>
              <a:t>预处理放大器</a:t>
            </a:r>
            <a:endParaRPr lang="en-US" altLang="zh-CN" sz="1800" dirty="0"/>
          </a:p>
          <a:p>
            <a:pPr marL="900000" indent="-285750">
              <a:lnSpc>
                <a:spcPct val="150000"/>
              </a:lnSpc>
              <a:buFont typeface="Arial" panose="020B0604020202020204" pitchFamily="34" charset="0"/>
              <a:buChar char="•"/>
            </a:pPr>
            <a:r>
              <a:rPr lang="en-US" altLang="zh-CN" sz="1800" dirty="0"/>
              <a:t>r</a:t>
            </a:r>
            <a:r>
              <a:rPr lang="en-US" altLang="zh-CN" sz="1800" baseline="-25000" dirty="0"/>
              <a:t>i</a:t>
            </a:r>
            <a:r>
              <a:rPr lang="en-US" altLang="zh-CN" sz="1800" dirty="0"/>
              <a:t>≥10k</a:t>
            </a:r>
            <a:r>
              <a:rPr lang="el-GR" altLang="zh-CN" sz="1800" dirty="0">
                <a:latin typeface="Times New Roman" panose="02020603050405020304" pitchFamily="18" charset="0"/>
                <a:cs typeface="Times New Roman" panose="02020603050405020304" pitchFamily="18" charset="0"/>
                <a:sym typeface="Symbol Tiger Expert"/>
              </a:rPr>
              <a:t>Ω</a:t>
            </a:r>
            <a:r>
              <a:rPr lang="zh-CN" altLang="zh-CN" sz="1800" dirty="0"/>
              <a:t>，</a:t>
            </a:r>
            <a:r>
              <a:rPr lang="en-US" altLang="zh-CN" sz="1800" dirty="0"/>
              <a:t>G</a:t>
            </a:r>
            <a:r>
              <a:rPr lang="en-US" altLang="zh-CN" sz="1800" baseline="-25000" dirty="0"/>
              <a:t>max</a:t>
            </a:r>
            <a:r>
              <a:rPr lang="en-US" altLang="zh-CN" sz="1800" dirty="0"/>
              <a:t>≥</a:t>
            </a:r>
            <a:r>
              <a:rPr lang="en-US" altLang="zh-CN" sz="1800" dirty="0" smtClean="0"/>
              <a:t>46dB</a:t>
            </a:r>
            <a:r>
              <a:rPr lang="zh-CN" altLang="en-US" sz="1800" dirty="0" smtClean="0"/>
              <a:t>（</a:t>
            </a:r>
            <a:r>
              <a:rPr lang="en-US" altLang="zh-CN" sz="1800" dirty="0" smtClean="0"/>
              <a:t>200</a:t>
            </a:r>
            <a:r>
              <a:rPr lang="zh-CN" altLang="en-US" sz="1800" dirty="0" smtClean="0"/>
              <a:t>倍）</a:t>
            </a:r>
            <a:r>
              <a:rPr lang="zh-CN" altLang="en-US" sz="1800" dirty="0"/>
              <a:t>，</a:t>
            </a:r>
            <a:r>
              <a:rPr lang="zh-CN" altLang="zh-CN" sz="1800" dirty="0" smtClean="0"/>
              <a:t>无失真</a:t>
            </a:r>
            <a:endParaRPr lang="en-US" altLang="zh-CN" sz="1800" dirty="0" smtClean="0"/>
          </a:p>
          <a:p>
            <a:pPr marL="900000" indent="-285750">
              <a:lnSpc>
                <a:spcPct val="150000"/>
              </a:lnSpc>
              <a:buFont typeface="Arial" panose="020B0604020202020204" pitchFamily="34" charset="0"/>
              <a:buChar char="•"/>
            </a:pPr>
            <a:r>
              <a:rPr lang="en-US" altLang="zh-CN" sz="1800" dirty="0" smtClean="0"/>
              <a:t>AGC</a:t>
            </a:r>
            <a:r>
              <a:rPr lang="zh-CN" altLang="zh-CN" sz="1800" dirty="0" smtClean="0"/>
              <a:t>功能</a:t>
            </a:r>
            <a:r>
              <a:rPr lang="zh-CN" altLang="en-US" sz="1800" dirty="0" smtClean="0"/>
              <a:t>：</a:t>
            </a:r>
            <a:r>
              <a:rPr lang="zh-CN" altLang="zh-CN" sz="1800" dirty="0" smtClean="0"/>
              <a:t>当</a:t>
            </a:r>
            <a:r>
              <a:rPr lang="zh-CN" altLang="zh-CN" sz="1800" dirty="0"/>
              <a:t>输入信号幅度在</a:t>
            </a:r>
            <a:r>
              <a:rPr lang="en-US" altLang="zh-CN" sz="1800" dirty="0"/>
              <a:t>10</a:t>
            </a:r>
            <a:r>
              <a:rPr lang="zh-CN" altLang="zh-CN" sz="1800" dirty="0"/>
              <a:t>～</a:t>
            </a:r>
            <a:r>
              <a:rPr lang="en-US" altLang="zh-CN" sz="1800" dirty="0"/>
              <a:t>100mV</a:t>
            </a:r>
            <a:r>
              <a:rPr lang="zh-CN" altLang="zh-CN" sz="1800" dirty="0"/>
              <a:t>（有效值）范围变化时，输出信号的幅度变化</a:t>
            </a:r>
            <a:r>
              <a:rPr lang="en-US" altLang="zh-CN" sz="1800" dirty="0">
                <a:latin typeface="Times New Roman" panose="02020603050405020304" pitchFamily="18" charset="0"/>
                <a:cs typeface="Times New Roman" panose="02020603050405020304" pitchFamily="18" charset="0"/>
                <a:sym typeface="Symbol Tiger"/>
              </a:rPr>
              <a:t>≤</a:t>
            </a:r>
            <a:r>
              <a:rPr lang="en-US" altLang="zh-CN" sz="1800" dirty="0" smtClean="0"/>
              <a:t>1dB</a:t>
            </a:r>
          </a:p>
          <a:p>
            <a:pPr indent="457200">
              <a:lnSpc>
                <a:spcPct val="150000"/>
              </a:lnSpc>
            </a:pPr>
            <a:r>
              <a:rPr lang="en-US" altLang="zh-CN" sz="1800" dirty="0" smtClean="0"/>
              <a:t>(</a:t>
            </a:r>
            <a:r>
              <a:rPr lang="en-US" altLang="zh-CN" sz="1800" dirty="0"/>
              <a:t>2) </a:t>
            </a:r>
            <a:r>
              <a:rPr lang="zh-CN" altLang="zh-CN" sz="1800" dirty="0"/>
              <a:t>有源滤波器</a:t>
            </a:r>
            <a:endParaRPr lang="en-US" altLang="zh-CN" sz="1800" dirty="0"/>
          </a:p>
          <a:p>
            <a:pPr marL="900000" indent="-285750">
              <a:lnSpc>
                <a:spcPct val="150000"/>
              </a:lnSpc>
              <a:buFont typeface="Arial" panose="020B0604020202020204" pitchFamily="34" charset="0"/>
              <a:buChar char="•"/>
            </a:pPr>
            <a:r>
              <a:rPr lang="zh-CN" altLang="zh-CN" sz="1800" dirty="0"/>
              <a:t>高通滤波器与低通滤波器</a:t>
            </a:r>
            <a:r>
              <a:rPr lang="zh-CN" altLang="en-US" sz="1800" dirty="0"/>
              <a:t>，</a:t>
            </a:r>
            <a:r>
              <a:rPr lang="en-US" altLang="zh-CN" sz="1800" dirty="0"/>
              <a:t>-3dB</a:t>
            </a:r>
            <a:r>
              <a:rPr lang="zh-CN" altLang="zh-CN" sz="1800" dirty="0"/>
              <a:t>截止频率都是</a:t>
            </a:r>
            <a:r>
              <a:rPr lang="en-US" altLang="zh-CN" sz="1800" dirty="0"/>
              <a:t>2kHz</a:t>
            </a:r>
            <a:r>
              <a:rPr lang="zh-CN" altLang="en-US" sz="1800" dirty="0"/>
              <a:t>，</a:t>
            </a:r>
            <a:r>
              <a:rPr lang="zh-CN" altLang="zh-CN" sz="1800" dirty="0"/>
              <a:t>阻带衰减率都是</a:t>
            </a:r>
            <a:r>
              <a:rPr lang="en-US" altLang="zh-CN" sz="1800" dirty="0"/>
              <a:t>24dB/</a:t>
            </a:r>
            <a:r>
              <a:rPr lang="zh-CN" altLang="zh-CN" sz="1800" dirty="0" smtClean="0"/>
              <a:t>倍频程</a:t>
            </a:r>
            <a:endParaRPr lang="en-US" altLang="zh-CN" sz="1800" dirty="0" smtClean="0"/>
          </a:p>
          <a:p>
            <a:pPr marL="900000" indent="-285750">
              <a:lnSpc>
                <a:spcPct val="150000"/>
              </a:lnSpc>
              <a:buFont typeface="Arial" panose="020B0604020202020204" pitchFamily="34" charset="0"/>
              <a:buChar char="•"/>
            </a:pPr>
            <a:r>
              <a:rPr lang="zh-CN" altLang="zh-CN" sz="1800" dirty="0" smtClean="0"/>
              <a:t>高通滤波器</a:t>
            </a:r>
            <a:r>
              <a:rPr lang="zh-CN" altLang="zh-CN" sz="1800" dirty="0"/>
              <a:t>通带内</a:t>
            </a:r>
            <a:r>
              <a:rPr lang="en-US" altLang="zh-CN" sz="1800" dirty="0"/>
              <a:t>10kHz</a:t>
            </a:r>
            <a:r>
              <a:rPr lang="zh-CN" altLang="zh-CN" sz="1800" dirty="0"/>
              <a:t>～</a:t>
            </a:r>
            <a:r>
              <a:rPr lang="en-US" altLang="zh-CN" sz="1800" dirty="0"/>
              <a:t>20kHz</a:t>
            </a:r>
            <a:r>
              <a:rPr lang="zh-CN" altLang="zh-CN" sz="1800" dirty="0"/>
              <a:t>范围内的波动</a:t>
            </a:r>
            <a:r>
              <a:rPr lang="en-US" altLang="zh-CN" sz="1800" dirty="0">
                <a:latin typeface="Times New Roman" panose="02020603050405020304" pitchFamily="18" charset="0"/>
                <a:cs typeface="Times New Roman" panose="02020603050405020304" pitchFamily="18" charset="0"/>
                <a:sym typeface="Symbol Tiger"/>
              </a:rPr>
              <a:t>≤</a:t>
            </a:r>
            <a:r>
              <a:rPr lang="en-US" altLang="zh-CN" sz="1800" dirty="0" smtClean="0"/>
              <a:t>3dB</a:t>
            </a:r>
          </a:p>
          <a:p>
            <a:pPr marL="900000" indent="-285750">
              <a:lnSpc>
                <a:spcPct val="150000"/>
              </a:lnSpc>
              <a:buFont typeface="Arial" panose="020B0604020202020204" pitchFamily="34" charset="0"/>
              <a:buChar char="•"/>
            </a:pPr>
            <a:r>
              <a:rPr lang="zh-CN" altLang="zh-CN" sz="1800" dirty="0" smtClean="0"/>
              <a:t>低通滤波器</a:t>
            </a:r>
            <a:r>
              <a:rPr lang="zh-CN" altLang="zh-CN" sz="1800" dirty="0"/>
              <a:t>通带内</a:t>
            </a:r>
            <a:r>
              <a:rPr lang="en-US" altLang="zh-CN" sz="1800" dirty="0"/>
              <a:t>100Hz</a:t>
            </a:r>
            <a:r>
              <a:rPr lang="zh-CN" altLang="zh-CN" sz="1800" dirty="0"/>
              <a:t>～</a:t>
            </a:r>
            <a:r>
              <a:rPr lang="en-US" altLang="zh-CN" sz="1800" dirty="0"/>
              <a:t>1kHz</a:t>
            </a:r>
            <a:r>
              <a:rPr lang="zh-CN" altLang="zh-CN" sz="1800" dirty="0"/>
              <a:t>范围内的波动</a:t>
            </a:r>
            <a:r>
              <a:rPr lang="en-US" altLang="zh-CN" sz="1800" dirty="0">
                <a:latin typeface="Times New Roman" panose="02020603050405020304" pitchFamily="18" charset="0"/>
                <a:cs typeface="Times New Roman" panose="02020603050405020304" pitchFamily="18" charset="0"/>
                <a:sym typeface="Symbol Tiger"/>
              </a:rPr>
              <a:t>≤ </a:t>
            </a:r>
            <a:r>
              <a:rPr lang="en-US" altLang="zh-CN" sz="1800" dirty="0" smtClean="0"/>
              <a:t>3dB</a:t>
            </a:r>
          </a:p>
          <a:p>
            <a:pPr marL="900000" indent="-285750">
              <a:lnSpc>
                <a:spcPct val="150000"/>
              </a:lnSpc>
              <a:buFont typeface="Arial" panose="020B0604020202020204" pitchFamily="34" charset="0"/>
              <a:buChar char="•"/>
            </a:pPr>
            <a:r>
              <a:rPr lang="zh-CN" altLang="zh-CN" sz="1800" dirty="0" smtClean="0"/>
              <a:t>两</a:t>
            </a:r>
            <a:r>
              <a:rPr lang="zh-CN" altLang="zh-CN" sz="1800" dirty="0"/>
              <a:t>个滤波器在分频点上的输出相位差</a:t>
            </a:r>
            <a:r>
              <a:rPr lang="en-US" altLang="zh-CN" sz="1800" dirty="0">
                <a:latin typeface="Times New Roman" panose="02020603050405020304" pitchFamily="18" charset="0"/>
                <a:cs typeface="Times New Roman" panose="02020603050405020304" pitchFamily="18" charset="0"/>
                <a:sym typeface="Symbol Tiger"/>
              </a:rPr>
              <a:t>≤ </a:t>
            </a:r>
            <a:r>
              <a:rPr lang="en-US" altLang="zh-CN" sz="1800" dirty="0"/>
              <a:t>±10</a:t>
            </a:r>
            <a:r>
              <a:rPr lang="en-US" altLang="zh-CN" sz="1800" dirty="0" smtClean="0"/>
              <a:t>°</a:t>
            </a:r>
            <a:endParaRPr lang="en-US" altLang="zh-CN" sz="1800" dirty="0"/>
          </a:p>
          <a:p>
            <a:pPr indent="457200">
              <a:lnSpc>
                <a:spcPct val="150000"/>
              </a:lnSpc>
            </a:pPr>
            <a:r>
              <a:rPr lang="en-US" altLang="zh-CN" sz="1800" dirty="0"/>
              <a:t>(3) </a:t>
            </a:r>
            <a:r>
              <a:rPr lang="zh-CN" altLang="zh-CN" sz="1800" dirty="0"/>
              <a:t>低频功率放大器</a:t>
            </a:r>
            <a:endParaRPr lang="en-US" altLang="zh-CN" sz="1800" dirty="0"/>
          </a:p>
          <a:p>
            <a:pPr marL="900000" indent="-285750">
              <a:lnSpc>
                <a:spcPct val="150000"/>
              </a:lnSpc>
              <a:buFont typeface="Arial" panose="020B0604020202020204" pitchFamily="34" charset="0"/>
              <a:buChar char="•"/>
            </a:pPr>
            <a:r>
              <a:rPr lang="zh-CN" altLang="zh-CN" sz="1800" dirty="0"/>
              <a:t>高频端功放的频响不小于</a:t>
            </a:r>
            <a:r>
              <a:rPr lang="en-US" altLang="zh-CN" sz="1800" dirty="0"/>
              <a:t>10kHz</a:t>
            </a:r>
            <a:r>
              <a:rPr lang="zh-CN" altLang="zh-CN" sz="1800" dirty="0"/>
              <a:t>～</a:t>
            </a:r>
            <a:r>
              <a:rPr lang="en-US" altLang="zh-CN" sz="1800" dirty="0"/>
              <a:t>20kHz</a:t>
            </a:r>
            <a:r>
              <a:rPr lang="zh-CN" altLang="zh-CN" sz="1800" dirty="0"/>
              <a:t>，在</a:t>
            </a:r>
            <a:r>
              <a:rPr lang="en-US" altLang="zh-CN" sz="1800" dirty="0"/>
              <a:t>8Ω</a:t>
            </a:r>
            <a:r>
              <a:rPr lang="zh-CN" altLang="zh-CN" sz="1800" dirty="0"/>
              <a:t>负载电阻上提供不小于</a:t>
            </a:r>
            <a:r>
              <a:rPr lang="en-US" altLang="zh-CN" sz="1800" dirty="0"/>
              <a:t>2W</a:t>
            </a:r>
            <a:r>
              <a:rPr lang="zh-CN" altLang="zh-CN" sz="1800" dirty="0"/>
              <a:t>的不失真信号</a:t>
            </a:r>
            <a:endParaRPr lang="en-US" altLang="zh-CN" sz="1800" dirty="0"/>
          </a:p>
          <a:p>
            <a:pPr marL="900000" indent="-285750">
              <a:lnSpc>
                <a:spcPct val="150000"/>
              </a:lnSpc>
              <a:buFont typeface="Arial" panose="020B0604020202020204" pitchFamily="34" charset="0"/>
              <a:buChar char="•"/>
            </a:pPr>
            <a:r>
              <a:rPr lang="zh-CN" altLang="zh-CN" sz="1800" dirty="0"/>
              <a:t>低频端功放的频响不小于</a:t>
            </a:r>
            <a:r>
              <a:rPr lang="en-US" altLang="zh-CN" sz="1800" dirty="0"/>
              <a:t>100Hz</a:t>
            </a:r>
            <a:r>
              <a:rPr lang="zh-CN" altLang="zh-CN" sz="1800" dirty="0"/>
              <a:t>～</a:t>
            </a:r>
            <a:r>
              <a:rPr lang="en-US" altLang="zh-CN" sz="1800" dirty="0"/>
              <a:t>1kHz</a:t>
            </a:r>
            <a:r>
              <a:rPr lang="zh-CN" altLang="zh-CN" sz="1800" dirty="0"/>
              <a:t>。在</a:t>
            </a:r>
            <a:r>
              <a:rPr lang="en-US" altLang="zh-CN" sz="1800" dirty="0"/>
              <a:t>4Ω</a:t>
            </a:r>
            <a:r>
              <a:rPr lang="zh-CN" altLang="zh-CN" sz="1800" dirty="0"/>
              <a:t>负载电阻上提供不小于</a:t>
            </a:r>
            <a:r>
              <a:rPr lang="en-US" altLang="zh-CN" sz="1800" dirty="0"/>
              <a:t>4W</a:t>
            </a:r>
            <a:r>
              <a:rPr lang="zh-CN" altLang="zh-CN" sz="1800" dirty="0"/>
              <a:t>的不失真</a:t>
            </a:r>
            <a:r>
              <a:rPr lang="zh-CN" altLang="zh-CN" sz="1800" dirty="0" smtClean="0"/>
              <a:t>信号</a:t>
            </a:r>
            <a:endParaRPr lang="en-US" altLang="zh-CN" sz="1800" dirty="0"/>
          </a:p>
          <a:p>
            <a:pPr indent="457200">
              <a:lnSpc>
                <a:spcPct val="150000"/>
              </a:lnSpc>
            </a:pPr>
            <a:r>
              <a:rPr lang="zh-CN" altLang="zh-CN" sz="1800" dirty="0"/>
              <a:t>题目已经给定了整体结构，参赛者要做的仅仅是电路的选择、元件参数计算以及安装调试</a:t>
            </a:r>
            <a:r>
              <a:rPr lang="zh-CN" altLang="en-US" sz="1800" dirty="0"/>
              <a:t>。</a:t>
            </a:r>
          </a:p>
        </p:txBody>
      </p:sp>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20915" y="349554"/>
            <a:ext cx="11270342" cy="2908489"/>
          </a:xfrm>
          <a:prstGeom prst="rect">
            <a:avLst/>
          </a:prstGeom>
        </p:spPr>
        <p:txBody>
          <a:bodyPr wrap="square">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解决</a:t>
            </a:r>
            <a:r>
              <a:rPr lang="zh-CN" altLang="zh-CN" sz="3200" dirty="0">
                <a:solidFill>
                  <a:srgbClr val="FF0000"/>
                </a:solidFill>
                <a:latin typeface="隶书" panose="02010509060101010101" pitchFamily="49" charset="-122"/>
                <a:ea typeface="隶书" panose="02010509060101010101" pitchFamily="49" charset="-122"/>
              </a:rPr>
              <a:t>方案</a:t>
            </a:r>
            <a:endParaRPr lang="en-US" altLang="zh-CN" sz="32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zh-CN" sz="1800" dirty="0">
                <a:solidFill>
                  <a:srgbClr val="FF0000"/>
                </a:solidFill>
                <a:latin typeface="+mj-ea"/>
                <a:ea typeface="+mj-ea"/>
              </a:rPr>
              <a:t>一、预处理</a:t>
            </a:r>
            <a:r>
              <a:rPr lang="zh-CN" altLang="en-US" sz="1800" dirty="0">
                <a:solidFill>
                  <a:srgbClr val="FF0000"/>
                </a:solidFill>
                <a:latin typeface="+mj-ea"/>
                <a:ea typeface="+mj-ea"/>
              </a:rPr>
              <a:t>放大器</a:t>
            </a:r>
            <a:endParaRPr lang="en-US" altLang="zh-CN" sz="1800" dirty="0">
              <a:solidFill>
                <a:srgbClr val="FF0000"/>
              </a:solidFill>
              <a:latin typeface="+mj-ea"/>
              <a:ea typeface="+mj-ea"/>
            </a:endParaRPr>
          </a:p>
          <a:p>
            <a:pPr indent="457200">
              <a:lnSpc>
                <a:spcPct val="150000"/>
              </a:lnSpc>
            </a:pPr>
            <a:r>
              <a:rPr lang="zh-CN" altLang="zh-CN" sz="1800" dirty="0"/>
              <a:t>题目的要求</a:t>
            </a:r>
            <a:r>
              <a:rPr lang="zh-CN" altLang="en-US" sz="1800" dirty="0"/>
              <a:t>：</a:t>
            </a:r>
            <a:endParaRPr lang="en-US" altLang="zh-CN" sz="1800" dirty="0"/>
          </a:p>
          <a:p>
            <a:pPr indent="457200">
              <a:lnSpc>
                <a:spcPct val="150000"/>
              </a:lnSpc>
            </a:pPr>
            <a:r>
              <a:rPr lang="zh-CN" altLang="zh-CN" sz="1800" dirty="0"/>
              <a:t>输入阻抗大于</a:t>
            </a:r>
            <a:r>
              <a:rPr lang="en-US" altLang="zh-CN" sz="1800" dirty="0"/>
              <a:t>10k</a:t>
            </a:r>
            <a:r>
              <a:rPr lang="el-GR" altLang="zh-CN" sz="1800" dirty="0">
                <a:latin typeface="Times New Roman" panose="02020603050405020304" pitchFamily="18" charset="0"/>
                <a:cs typeface="Times New Roman" panose="02020603050405020304" pitchFamily="18" charset="0"/>
              </a:rPr>
              <a:t>Ω</a:t>
            </a:r>
            <a:r>
              <a:rPr lang="zh-CN" altLang="zh-CN" sz="1800" dirty="0"/>
              <a:t>，</a:t>
            </a:r>
            <a:r>
              <a:rPr lang="zh-CN" altLang="en-US" sz="1800" dirty="0"/>
              <a:t>频响</a:t>
            </a:r>
            <a:r>
              <a:rPr lang="en-US" altLang="zh-CN" sz="1800" dirty="0"/>
              <a:t>100 Hz</a:t>
            </a:r>
            <a:r>
              <a:rPr lang="zh-CN" altLang="zh-CN" sz="1800" dirty="0"/>
              <a:t>～</a:t>
            </a:r>
            <a:r>
              <a:rPr lang="en-US" altLang="zh-CN" sz="1800" dirty="0"/>
              <a:t>20kHz</a:t>
            </a:r>
            <a:r>
              <a:rPr lang="zh-CN" altLang="en-US" sz="1800" dirty="0"/>
              <a:t>，</a:t>
            </a:r>
            <a:r>
              <a:rPr lang="zh-CN" altLang="zh-CN" sz="1800" dirty="0"/>
              <a:t>最大增益不小于</a:t>
            </a:r>
            <a:r>
              <a:rPr lang="en-US" altLang="zh-CN" sz="1800" dirty="0" smtClean="0"/>
              <a:t>46dB</a:t>
            </a:r>
            <a:endParaRPr lang="en-US" altLang="zh-CN" sz="1800" dirty="0"/>
          </a:p>
          <a:p>
            <a:pPr indent="457200">
              <a:lnSpc>
                <a:spcPct val="150000"/>
              </a:lnSpc>
            </a:pPr>
            <a:r>
              <a:rPr lang="zh-CN" altLang="zh-CN" sz="1800" dirty="0"/>
              <a:t>具有自动增益控制功能，当输入正弦信号幅度在</a:t>
            </a:r>
            <a:r>
              <a:rPr lang="en-US" altLang="zh-CN" sz="1800" dirty="0"/>
              <a:t>10</a:t>
            </a:r>
            <a:r>
              <a:rPr lang="zh-CN" altLang="zh-CN" sz="1800" dirty="0"/>
              <a:t>～</a:t>
            </a:r>
            <a:r>
              <a:rPr lang="en-US" altLang="zh-CN" sz="1800" dirty="0"/>
              <a:t>100mV</a:t>
            </a:r>
            <a:r>
              <a:rPr lang="zh-CN" altLang="zh-CN" sz="1800" dirty="0"/>
              <a:t>（有效值）范围变化时，输出信号的幅度变化</a:t>
            </a:r>
            <a:r>
              <a:rPr lang="en-US" altLang="zh-CN" sz="1800" dirty="0">
                <a:latin typeface="Arial" panose="020B0604020202020204" pitchFamily="34" charset="0"/>
                <a:cs typeface="Arial" panose="020B0604020202020204" pitchFamily="34" charset="0"/>
                <a:sym typeface="Symbol Tiger"/>
              </a:rPr>
              <a:t>≤</a:t>
            </a:r>
            <a:r>
              <a:rPr lang="en-US" altLang="zh-CN" sz="1800" dirty="0" smtClean="0"/>
              <a:t>1dB</a:t>
            </a:r>
            <a:endParaRPr lang="en-US" altLang="zh-CN" sz="1800" dirty="0"/>
          </a:p>
        </p:txBody>
      </p:sp>
      <p:sp>
        <p:nvSpPr>
          <p:cNvPr id="6" name="矩形 5"/>
          <p:cNvSpPr/>
          <p:nvPr/>
        </p:nvSpPr>
        <p:spPr>
          <a:xfrm>
            <a:off x="889747" y="3265077"/>
            <a:ext cx="2993127" cy="369332"/>
          </a:xfrm>
          <a:prstGeom prst="rect">
            <a:avLst/>
          </a:prstGeom>
        </p:spPr>
        <p:txBody>
          <a:bodyPr wrap="none">
            <a:spAutoFit/>
          </a:bodyPr>
          <a:lstStyle/>
          <a:p>
            <a:r>
              <a:rPr lang="en-US" altLang="zh-CN" sz="1800" dirty="0" smtClean="0"/>
              <a:t>AGC</a:t>
            </a:r>
            <a:r>
              <a:rPr lang="zh-CN" altLang="zh-CN" sz="1800" dirty="0"/>
              <a:t>放大器</a:t>
            </a:r>
            <a:r>
              <a:rPr lang="zh-CN" altLang="en-US" sz="1800" dirty="0"/>
              <a:t>，其</a:t>
            </a:r>
            <a:r>
              <a:rPr lang="zh-CN" altLang="zh-CN" sz="1800" dirty="0"/>
              <a:t>特性</a:t>
            </a:r>
            <a:r>
              <a:rPr lang="zh-CN" altLang="en-US" sz="1800" dirty="0"/>
              <a:t>如下：</a:t>
            </a:r>
          </a:p>
        </p:txBody>
      </p:sp>
      <p:graphicFrame>
        <p:nvGraphicFramePr>
          <p:cNvPr id="8" name="对象 7"/>
          <p:cNvGraphicFramePr>
            <a:graphicFrameLocks noChangeAspect="1"/>
          </p:cNvGraphicFramePr>
          <p:nvPr>
            <p:extLst>
              <p:ext uri="{D42A27DB-BD31-4B8C-83A1-F6EECF244321}">
                <p14:modId xmlns:p14="http://schemas.microsoft.com/office/powerpoint/2010/main" val="3463216276"/>
              </p:ext>
            </p:extLst>
          </p:nvPr>
        </p:nvGraphicFramePr>
        <p:xfrm>
          <a:off x="4001861" y="3452813"/>
          <a:ext cx="6672263" cy="3071813"/>
        </p:xfrm>
        <a:graphic>
          <a:graphicData uri="http://schemas.openxmlformats.org/presentationml/2006/ole">
            <mc:AlternateContent xmlns:mc="http://schemas.openxmlformats.org/markup-compatibility/2006">
              <mc:Choice xmlns:v="urn:schemas-microsoft-com:vml" Requires="v">
                <p:oleObj spid="_x0000_s3130" name="Visio" r:id="rId3" imgW="3714441" imgH="1701619" progId="Visio.Drawing.11">
                  <p:embed/>
                </p:oleObj>
              </mc:Choice>
              <mc:Fallback>
                <p:oleObj name="Visio" r:id="rId3" imgW="3714441" imgH="1701619" progId="Visio.Drawing.11">
                  <p:embed/>
                  <p:pic>
                    <p:nvPicPr>
                      <p:cNvPr id="0" name="Object 1"/>
                      <p:cNvPicPr>
                        <a:picLocks noChangeAspect="1" noChangeArrowheads="1"/>
                      </p:cNvPicPr>
                      <p:nvPr/>
                    </p:nvPicPr>
                    <p:blipFill>
                      <a:blip r:embed="rId4"/>
                      <a:srcRect/>
                      <a:stretch>
                        <a:fillRect/>
                      </a:stretch>
                    </p:blipFill>
                    <p:spPr bwMode="auto">
                      <a:xfrm>
                        <a:off x="4001861" y="3452813"/>
                        <a:ext cx="6672263" cy="3071813"/>
                      </a:xfrm>
                      <a:prstGeom prst="rect">
                        <a:avLst/>
                      </a:prstGeom>
                      <a:noFill/>
                    </p:spPr>
                  </p:pic>
                </p:oleObj>
              </mc:Fallback>
            </mc:AlternateContent>
          </a:graphicData>
        </a:graphic>
      </p:graphicFrame>
    </p:spTree>
    <p:extLst>
      <p:ext uri="{BB962C8B-B14F-4D97-AF65-F5344CB8AC3E}">
        <p14:creationId xmlns:p14="http://schemas.microsoft.com/office/powerpoint/2010/main" val="30867158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29829" y="958302"/>
            <a:ext cx="11313885" cy="872739"/>
          </a:xfrm>
          <a:prstGeom prst="rect">
            <a:avLst/>
          </a:prstGeom>
        </p:spPr>
        <p:txBody>
          <a:bodyPr wrap="square">
            <a:spAutoFit/>
          </a:bodyPr>
          <a:lstStyle/>
          <a:p>
            <a:pPr indent="457200">
              <a:lnSpc>
                <a:spcPct val="150000"/>
              </a:lnSpc>
            </a:pPr>
            <a:r>
              <a:rPr lang="en-US" altLang="zh-CN" sz="1800" dirty="0"/>
              <a:t>AGC</a:t>
            </a:r>
            <a:r>
              <a:rPr lang="zh-CN" altLang="zh-CN" sz="1800" dirty="0"/>
              <a:t>电路本质上是一个反馈控制电路，将输出电压平均值通过检测电路变换为合适的直流电平并反馈至压控增益放大器的增益控制端</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353399443"/>
              </p:ext>
            </p:extLst>
          </p:nvPr>
        </p:nvGraphicFramePr>
        <p:xfrm>
          <a:off x="3253718" y="1892114"/>
          <a:ext cx="6010006" cy="1618079"/>
        </p:xfrm>
        <a:graphic>
          <a:graphicData uri="http://schemas.openxmlformats.org/presentationml/2006/ole">
            <mc:AlternateContent xmlns:mc="http://schemas.openxmlformats.org/markup-compatibility/2006">
              <mc:Choice xmlns:v="urn:schemas-microsoft-com:vml" Requires="v">
                <p:oleObj spid="_x0000_s4149" name="Visio" r:id="rId3" imgW="3538793" imgH="946653" progId="Visio.Drawing.11">
                  <p:embed/>
                </p:oleObj>
              </mc:Choice>
              <mc:Fallback>
                <p:oleObj name="Visio" r:id="rId3" imgW="3538793" imgH="94665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3718" y="1892114"/>
                        <a:ext cx="6010006" cy="1618079"/>
                      </a:xfrm>
                      <a:prstGeom prst="rect">
                        <a:avLst/>
                      </a:prstGeom>
                      <a:noFill/>
                    </p:spPr>
                  </p:pic>
                </p:oleObj>
              </mc:Fallback>
            </mc:AlternateContent>
          </a:graphicData>
        </a:graphic>
      </p:graphicFrame>
      <p:sp>
        <p:nvSpPr>
          <p:cNvPr id="8" name="矩形 7"/>
          <p:cNvSpPr/>
          <p:nvPr/>
        </p:nvSpPr>
        <p:spPr>
          <a:xfrm>
            <a:off x="429829" y="3637590"/>
            <a:ext cx="11174341" cy="2534733"/>
          </a:xfrm>
          <a:prstGeom prst="rect">
            <a:avLst/>
          </a:prstGeom>
        </p:spPr>
        <p:txBody>
          <a:bodyPr wrap="square">
            <a:spAutoFit/>
          </a:bodyPr>
          <a:lstStyle/>
          <a:p>
            <a:pPr indent="457200">
              <a:lnSpc>
                <a:spcPct val="150000"/>
              </a:lnSpc>
            </a:pPr>
            <a:r>
              <a:rPr lang="zh-CN" altLang="zh-CN" sz="1800" dirty="0">
                <a:solidFill>
                  <a:srgbClr val="FF0000"/>
                </a:solidFill>
              </a:rPr>
              <a:t>压控增益放大器</a:t>
            </a:r>
            <a:r>
              <a:rPr lang="zh-CN" altLang="zh-CN" sz="1800" dirty="0"/>
              <a:t>是</a:t>
            </a:r>
            <a:r>
              <a:rPr lang="en-US" altLang="zh-CN" sz="1800" dirty="0"/>
              <a:t>AGC</a:t>
            </a:r>
            <a:r>
              <a:rPr lang="zh-CN" altLang="zh-CN" sz="1800" dirty="0"/>
              <a:t>电路的核心，它决定了</a:t>
            </a:r>
            <a:r>
              <a:rPr lang="en-US" altLang="zh-CN" sz="1800" dirty="0"/>
              <a:t>AGC</a:t>
            </a:r>
            <a:r>
              <a:rPr lang="zh-CN" altLang="zh-CN" sz="1800" dirty="0"/>
              <a:t>电路的最大增益和增益变化范围，电路的主要指标取决于这个放大器</a:t>
            </a:r>
            <a:endParaRPr lang="en-US" altLang="zh-CN" sz="1800" dirty="0"/>
          </a:p>
          <a:p>
            <a:pPr indent="457200">
              <a:lnSpc>
                <a:spcPct val="150000"/>
              </a:lnSpc>
            </a:pPr>
            <a:r>
              <a:rPr lang="zh-CN" altLang="zh-CN" sz="1800" dirty="0"/>
              <a:t>早期的压控增益放大器用晶体管设计</a:t>
            </a:r>
            <a:r>
              <a:rPr lang="zh-CN" altLang="en-US" sz="1800" dirty="0"/>
              <a:t>或运放</a:t>
            </a:r>
            <a:r>
              <a:rPr lang="zh-CN" altLang="zh-CN" sz="1800" dirty="0"/>
              <a:t>加上场效应管等可变电阻器件</a:t>
            </a:r>
            <a:r>
              <a:rPr lang="zh-CN" altLang="en-US" sz="1800" dirty="0"/>
              <a:t>实现</a:t>
            </a:r>
            <a:r>
              <a:rPr lang="zh-CN" altLang="zh-CN" sz="1800" dirty="0"/>
              <a:t>，其增益控制主要通过改变晶体管的工作点实现。</a:t>
            </a:r>
            <a:r>
              <a:rPr lang="zh-CN" altLang="en-US" sz="1800" dirty="0"/>
              <a:t>电路设计稍困难，性能稍差，但可用于低电压场合</a:t>
            </a:r>
            <a:endParaRPr lang="en-US" altLang="zh-CN" sz="1800" dirty="0"/>
          </a:p>
          <a:p>
            <a:pPr indent="457200">
              <a:lnSpc>
                <a:spcPct val="150000"/>
              </a:lnSpc>
            </a:pPr>
            <a:r>
              <a:rPr lang="zh-CN" altLang="en-US" sz="1800" dirty="0"/>
              <a:t>现在的设计大多</a:t>
            </a:r>
            <a:r>
              <a:rPr lang="zh-CN" altLang="zh-CN" sz="1800" dirty="0"/>
              <a:t>用集成</a:t>
            </a:r>
            <a:r>
              <a:rPr lang="zh-CN" altLang="en-US" sz="1800" dirty="0"/>
              <a:t>压控增益放大器（</a:t>
            </a:r>
            <a:r>
              <a:rPr lang="en-US" altLang="zh-CN" sz="1800" dirty="0"/>
              <a:t>VGA</a:t>
            </a:r>
            <a:r>
              <a:rPr lang="zh-CN" altLang="en-US" sz="1800" dirty="0"/>
              <a:t>）实现，</a:t>
            </a:r>
            <a:r>
              <a:rPr lang="zh-CN" altLang="zh-CN" sz="1800" dirty="0"/>
              <a:t>电路设计更加方便，各种技术指标也更加容易得到控制</a:t>
            </a:r>
            <a:endParaRPr lang="en-US" altLang="zh-CN" sz="1800" dirty="0"/>
          </a:p>
        </p:txBody>
      </p:sp>
      <p:sp>
        <p:nvSpPr>
          <p:cNvPr id="9" name="文本框 8"/>
          <p:cNvSpPr txBox="1"/>
          <p:nvPr/>
        </p:nvSpPr>
        <p:spPr>
          <a:xfrm>
            <a:off x="879116" y="494495"/>
            <a:ext cx="7320005" cy="400110"/>
          </a:xfrm>
          <a:prstGeom prst="rect">
            <a:avLst/>
          </a:prstGeom>
          <a:noFill/>
        </p:spPr>
        <p:txBody>
          <a:bodyPr wrap="square" rtlCol="0">
            <a:spAutoFit/>
          </a:bodyPr>
          <a:lstStyle/>
          <a:p>
            <a:r>
              <a:rPr lang="zh-CN" altLang="en-US" dirty="0">
                <a:solidFill>
                  <a:srgbClr val="FF0000"/>
                </a:solidFill>
              </a:rPr>
              <a:t>关于</a:t>
            </a:r>
            <a:r>
              <a:rPr lang="en-US" altLang="zh-CN" dirty="0">
                <a:solidFill>
                  <a:srgbClr val="FF0000"/>
                </a:solidFill>
              </a:rPr>
              <a:t>AGC</a:t>
            </a:r>
            <a:r>
              <a:rPr lang="zh-CN" altLang="en-US" dirty="0">
                <a:solidFill>
                  <a:srgbClr val="FF0000"/>
                </a:solidFill>
              </a:rPr>
              <a:t>电路的基础知识</a:t>
            </a:r>
          </a:p>
        </p:txBody>
      </p:sp>
    </p:spTree>
    <p:extLst>
      <p:ext uri="{BB962C8B-B14F-4D97-AF65-F5344CB8AC3E}">
        <p14:creationId xmlns:p14="http://schemas.microsoft.com/office/powerpoint/2010/main" val="6664928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435429" y="544832"/>
            <a:ext cx="11255827" cy="5493812"/>
          </a:xfrm>
          <a:prstGeom prst="rect">
            <a:avLst/>
          </a:prstGeom>
        </p:spPr>
        <p:txBody>
          <a:bodyPr wrap="square">
            <a:spAutoFit/>
          </a:bodyPr>
          <a:lstStyle/>
          <a:p>
            <a:pPr indent="457200">
              <a:lnSpc>
                <a:spcPct val="150000"/>
              </a:lnSpc>
            </a:pPr>
            <a:r>
              <a:rPr lang="zh-CN" altLang="zh-CN" sz="1800" dirty="0">
                <a:solidFill>
                  <a:srgbClr val="FF0000"/>
                </a:solidFill>
              </a:rPr>
              <a:t>检波电路</a:t>
            </a:r>
            <a:r>
              <a:rPr lang="zh-CN" altLang="en-US" sz="1800" dirty="0"/>
              <a:t>检测</a:t>
            </a:r>
            <a:r>
              <a:rPr lang="zh-CN" altLang="zh-CN" sz="1800" dirty="0"/>
              <a:t>放大器输出电压的幅度</a:t>
            </a:r>
            <a:endParaRPr lang="en-US" altLang="zh-CN" sz="1800" dirty="0"/>
          </a:p>
          <a:p>
            <a:pPr indent="457200">
              <a:lnSpc>
                <a:spcPct val="150000"/>
              </a:lnSpc>
            </a:pPr>
            <a:r>
              <a:rPr lang="zh-CN" altLang="zh-CN" sz="1800" dirty="0"/>
              <a:t>最简单的检波电路是二极管峰值检波电路，复杂一些的可以用</a:t>
            </a:r>
            <a:r>
              <a:rPr lang="zh-CN" altLang="en-US" sz="1800" dirty="0"/>
              <a:t>晶体管或</a:t>
            </a:r>
            <a:r>
              <a:rPr lang="zh-CN" altLang="zh-CN" sz="1800" dirty="0"/>
              <a:t>运放构成峰值电压检测电路、有效值检测电路等</a:t>
            </a:r>
            <a:r>
              <a:rPr lang="zh-CN" altLang="en-US" sz="1800" dirty="0"/>
              <a:t>，也可以用集成电路检波芯片。</a:t>
            </a:r>
            <a:r>
              <a:rPr lang="zh-CN" altLang="zh-CN" sz="1800" dirty="0"/>
              <a:t>在</a:t>
            </a:r>
            <a:r>
              <a:rPr lang="en-US" altLang="zh-CN" sz="1800" dirty="0"/>
              <a:t>AM</a:t>
            </a:r>
            <a:r>
              <a:rPr lang="zh-CN" altLang="zh-CN" sz="1800" dirty="0"/>
              <a:t>解调电路中，它往往与解调电路合用一个</a:t>
            </a:r>
            <a:r>
              <a:rPr lang="zh-CN" altLang="zh-CN" sz="1800" dirty="0" smtClean="0"/>
              <a:t>检波器</a:t>
            </a:r>
            <a:endParaRPr lang="en-US" altLang="zh-CN" sz="1800" dirty="0" smtClean="0"/>
          </a:p>
          <a:p>
            <a:pPr indent="457200">
              <a:lnSpc>
                <a:spcPct val="150000"/>
              </a:lnSpc>
            </a:pPr>
            <a:endParaRPr lang="en-US" altLang="zh-CN" sz="1800" dirty="0"/>
          </a:p>
          <a:p>
            <a:pPr indent="457200">
              <a:lnSpc>
                <a:spcPct val="150000"/>
              </a:lnSpc>
            </a:pPr>
            <a:r>
              <a:rPr lang="zh-CN" altLang="zh-CN" sz="1800" dirty="0">
                <a:solidFill>
                  <a:srgbClr val="FF0000"/>
                </a:solidFill>
              </a:rPr>
              <a:t>低通滤波器（积分器）</a:t>
            </a:r>
            <a:r>
              <a:rPr lang="zh-CN" altLang="zh-CN" sz="1800" dirty="0"/>
              <a:t>的作用是得到检波后信号的平均值成分，该成分就是压控增益放大器的控制电压。</a:t>
            </a:r>
          </a:p>
          <a:p>
            <a:pPr indent="457200">
              <a:lnSpc>
                <a:spcPct val="150000"/>
              </a:lnSpc>
            </a:pPr>
            <a:r>
              <a:rPr lang="zh-CN" altLang="zh-CN" sz="1800" dirty="0"/>
              <a:t>通常将这个滤波器或积分器的时间常数称为</a:t>
            </a:r>
            <a:r>
              <a:rPr lang="en-US" altLang="zh-CN" sz="1800" dirty="0"/>
              <a:t>AGC</a:t>
            </a:r>
            <a:r>
              <a:rPr lang="zh-CN" altLang="zh-CN" sz="1800" dirty="0"/>
              <a:t>时间常数，它决定了</a:t>
            </a:r>
            <a:r>
              <a:rPr lang="en-US" altLang="zh-CN" sz="1800" dirty="0"/>
              <a:t>AGC</a:t>
            </a:r>
            <a:r>
              <a:rPr lang="zh-CN" altLang="zh-CN" sz="1800" dirty="0"/>
              <a:t>电路的反应时间。若</a:t>
            </a:r>
            <a:r>
              <a:rPr lang="en-US" altLang="zh-CN" sz="1800" dirty="0"/>
              <a:t>AGC</a:t>
            </a:r>
            <a:r>
              <a:rPr lang="zh-CN" altLang="zh-CN" sz="1800" dirty="0"/>
              <a:t>时间常数过大，则输入信号的平均幅度发生变化后要过一段时间才起到</a:t>
            </a:r>
            <a:r>
              <a:rPr lang="en-US" altLang="zh-CN" sz="1800" dirty="0"/>
              <a:t>AGC</a:t>
            </a:r>
            <a:r>
              <a:rPr lang="zh-CN" altLang="zh-CN" sz="1800" dirty="0"/>
              <a:t>作用，这种情况称为</a:t>
            </a:r>
            <a:r>
              <a:rPr lang="en-US" altLang="zh-CN" sz="1800" dirty="0"/>
              <a:t>AGC</a:t>
            </a:r>
            <a:r>
              <a:rPr lang="zh-CN" altLang="zh-CN" sz="1800" dirty="0"/>
              <a:t>作用迟钝。反过来若时间常数过小，则输入信号中正常的幅度变化（例如</a:t>
            </a:r>
            <a:r>
              <a:rPr lang="en-US" altLang="zh-CN" sz="1800" dirty="0"/>
              <a:t>AM</a:t>
            </a:r>
            <a:r>
              <a:rPr lang="zh-CN" altLang="zh-CN" sz="1800" dirty="0"/>
              <a:t>信号）也会引起</a:t>
            </a:r>
            <a:r>
              <a:rPr lang="en-US" altLang="zh-CN" sz="1800" dirty="0"/>
              <a:t>AGC</a:t>
            </a:r>
            <a:r>
              <a:rPr lang="zh-CN" altLang="zh-CN" sz="1800" dirty="0"/>
              <a:t>作用，那样就会抑制正常的幅度变化，这种情况称为反调制。在</a:t>
            </a:r>
            <a:r>
              <a:rPr lang="en-US" altLang="zh-CN" sz="1800" dirty="0"/>
              <a:t>AGC</a:t>
            </a:r>
            <a:r>
              <a:rPr lang="zh-CN" altLang="zh-CN" sz="1800" dirty="0"/>
              <a:t>电路中反调制现象是不允许的，而反应迟钝使得</a:t>
            </a:r>
            <a:r>
              <a:rPr lang="en-US" altLang="zh-CN" sz="1800" dirty="0"/>
              <a:t>AGC</a:t>
            </a:r>
            <a:r>
              <a:rPr lang="zh-CN" altLang="zh-CN" sz="1800" dirty="0"/>
              <a:t>功能变差，所以一定要针对输入信号的特点，设计合适的</a:t>
            </a:r>
            <a:r>
              <a:rPr lang="en-US" altLang="zh-CN" sz="1800" dirty="0"/>
              <a:t>AGC</a:t>
            </a:r>
            <a:r>
              <a:rPr lang="zh-CN" altLang="zh-CN" sz="1800" dirty="0"/>
              <a:t>时间常数。通常要求这个时间常数大于输入信号中最低频率分量的周期以保证没有反调制，然后再考虑</a:t>
            </a:r>
            <a:r>
              <a:rPr lang="en-US" altLang="zh-CN" sz="1800" dirty="0"/>
              <a:t>AGC</a:t>
            </a:r>
            <a:r>
              <a:rPr lang="zh-CN" altLang="zh-CN" sz="1800" dirty="0"/>
              <a:t>反应速度将时间常数限制在一个合适的范围</a:t>
            </a:r>
            <a:r>
              <a:rPr lang="zh-CN" altLang="zh-CN" sz="1800" dirty="0" smtClean="0"/>
              <a:t>内</a:t>
            </a:r>
            <a:endParaRPr lang="en-US" altLang="zh-CN" sz="1800" dirty="0" smtClean="0"/>
          </a:p>
          <a:p>
            <a:pPr indent="457200">
              <a:lnSpc>
                <a:spcPct val="150000"/>
              </a:lnSpc>
            </a:pPr>
            <a:endParaRPr lang="zh-CN" altLang="zh-CN" sz="1800" dirty="0"/>
          </a:p>
          <a:p>
            <a:pPr indent="457200">
              <a:lnSpc>
                <a:spcPct val="150000"/>
              </a:lnSpc>
            </a:pPr>
            <a:r>
              <a:rPr lang="en-US" altLang="zh-CN" sz="1800" dirty="0"/>
              <a:t>AGC</a:t>
            </a:r>
            <a:r>
              <a:rPr lang="zh-CN" altLang="zh-CN" sz="1800" dirty="0"/>
              <a:t>电路中包含有</a:t>
            </a:r>
            <a:r>
              <a:rPr lang="zh-CN" altLang="zh-CN" sz="1800" dirty="0">
                <a:solidFill>
                  <a:srgbClr val="FF0000"/>
                </a:solidFill>
              </a:rPr>
              <a:t>确定起控阈值</a:t>
            </a:r>
            <a:r>
              <a:rPr lang="zh-CN" altLang="zh-CN" sz="1800" dirty="0"/>
              <a:t>的电路</a:t>
            </a:r>
            <a:r>
              <a:rPr lang="zh-CN" altLang="en-US" sz="1800" dirty="0"/>
              <a:t>，</a:t>
            </a:r>
            <a:r>
              <a:rPr lang="zh-CN" altLang="zh-CN" sz="1800" dirty="0"/>
              <a:t>它通常不是一个单独的电路而是包含在检波或者积分电路</a:t>
            </a:r>
            <a:r>
              <a:rPr lang="zh-CN" altLang="zh-CN" sz="1800" dirty="0" smtClean="0"/>
              <a:t>中</a:t>
            </a:r>
            <a:endParaRPr lang="zh-CN" altLang="zh-CN" sz="1800" dirty="0"/>
          </a:p>
        </p:txBody>
      </p:sp>
    </p:spTree>
    <p:extLst>
      <p:ext uri="{BB962C8B-B14F-4D97-AF65-F5344CB8AC3E}">
        <p14:creationId xmlns:p14="http://schemas.microsoft.com/office/powerpoint/2010/main" val="21183113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1908253" y="1646244"/>
            <a:ext cx="8174460" cy="3847254"/>
          </a:xfrm>
          <a:prstGeom prst="rect">
            <a:avLst/>
          </a:prstGeom>
        </p:spPr>
      </p:pic>
      <p:sp>
        <p:nvSpPr>
          <p:cNvPr id="6" name="矩形 5"/>
          <p:cNvSpPr/>
          <p:nvPr/>
        </p:nvSpPr>
        <p:spPr>
          <a:xfrm>
            <a:off x="456825" y="579037"/>
            <a:ext cx="4314001" cy="923330"/>
          </a:xfrm>
          <a:prstGeom prst="rect">
            <a:avLst/>
          </a:prstGeom>
        </p:spPr>
        <p:txBody>
          <a:bodyPr wrap="none">
            <a:spAutoFit/>
          </a:bodyPr>
          <a:lstStyle/>
          <a:p>
            <a:r>
              <a:rPr lang="en-US" altLang="zh-CN" sz="1800" dirty="0">
                <a:solidFill>
                  <a:srgbClr val="FF0000"/>
                </a:solidFill>
              </a:rPr>
              <a:t>AGC</a:t>
            </a:r>
            <a:r>
              <a:rPr lang="zh-CN" altLang="zh-CN" sz="1800" dirty="0">
                <a:solidFill>
                  <a:srgbClr val="FF0000"/>
                </a:solidFill>
                <a:latin typeface="+mj-ea"/>
                <a:ea typeface="+mj-ea"/>
              </a:rPr>
              <a:t>放大器</a:t>
            </a:r>
            <a:r>
              <a:rPr lang="zh-CN" altLang="en-US" sz="1800" dirty="0">
                <a:solidFill>
                  <a:srgbClr val="FF0000"/>
                </a:solidFill>
                <a:latin typeface="+mj-ea"/>
                <a:ea typeface="+mj-ea"/>
              </a:rPr>
              <a:t>举例</a:t>
            </a:r>
            <a:endParaRPr lang="en-US" altLang="zh-CN" sz="1800" dirty="0">
              <a:solidFill>
                <a:srgbClr val="FF0000"/>
              </a:solidFill>
              <a:latin typeface="+mj-ea"/>
              <a:ea typeface="+mj-ea"/>
            </a:endParaRPr>
          </a:p>
          <a:p>
            <a:endParaRPr lang="en-US" altLang="zh-CN"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endParaRPr>
          </a:p>
          <a:p>
            <a:r>
              <a:rPr lang="en-US" altLang="zh-CN"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rPr>
              <a:t>1</a:t>
            </a:r>
            <a:r>
              <a:rPr lang="zh-CN" altLang="en-US"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rPr>
              <a:t>、</a:t>
            </a:r>
            <a:r>
              <a:rPr lang="zh-CN" altLang="zh-CN"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rPr>
              <a:t>基于</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VGA</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芯片</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AD603</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的</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AGC</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电路</a:t>
            </a:r>
            <a:endParaRPr lang="zh-CN" altLang="en-US" sz="1800" dirty="0"/>
          </a:p>
        </p:txBody>
      </p:sp>
      <p:sp>
        <p:nvSpPr>
          <p:cNvPr id="7" name="椭圆 6"/>
          <p:cNvSpPr/>
          <p:nvPr/>
        </p:nvSpPr>
        <p:spPr>
          <a:xfrm>
            <a:off x="1999570" y="2015577"/>
            <a:ext cx="5532860" cy="376076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flipH="1">
            <a:off x="2640391" y="5862830"/>
            <a:ext cx="4607561" cy="369332"/>
          </a:xfrm>
          <a:prstGeom prst="rect">
            <a:avLst/>
          </a:prstGeom>
          <a:noFill/>
        </p:spPr>
        <p:txBody>
          <a:bodyPr wrap="square" rtlCol="0">
            <a:spAutoFit/>
          </a:bodyPr>
          <a:lstStyle/>
          <a:p>
            <a:r>
              <a:rPr lang="en-US" altLang="zh-CN" sz="1800" dirty="0"/>
              <a:t>2</a:t>
            </a:r>
            <a:r>
              <a:rPr lang="zh-CN" altLang="en-US" sz="1800" dirty="0"/>
              <a:t>级</a:t>
            </a:r>
            <a:r>
              <a:rPr lang="en-US" altLang="zh-CN" sz="1800" dirty="0"/>
              <a:t>VGA</a:t>
            </a:r>
            <a:r>
              <a:rPr lang="zh-CN" altLang="en-US" sz="1800" dirty="0"/>
              <a:t>构成的</a:t>
            </a:r>
            <a:r>
              <a:rPr lang="en-US" altLang="zh-CN" sz="1800" dirty="0"/>
              <a:t>84dB</a:t>
            </a:r>
            <a:r>
              <a:rPr lang="zh-CN" altLang="en-US" sz="1800" dirty="0"/>
              <a:t>可变增益放大器</a:t>
            </a:r>
          </a:p>
        </p:txBody>
      </p:sp>
      <p:sp>
        <p:nvSpPr>
          <p:cNvPr id="9" name="椭圆 8"/>
          <p:cNvSpPr/>
          <p:nvPr/>
        </p:nvSpPr>
        <p:spPr>
          <a:xfrm>
            <a:off x="7349551" y="1502367"/>
            <a:ext cx="2733163" cy="329184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flipH="1">
            <a:off x="8252097" y="4929489"/>
            <a:ext cx="2274147" cy="646331"/>
          </a:xfrm>
          <a:prstGeom prst="rect">
            <a:avLst/>
          </a:prstGeom>
          <a:noFill/>
        </p:spPr>
        <p:txBody>
          <a:bodyPr wrap="square" rtlCol="0">
            <a:spAutoFit/>
          </a:bodyPr>
          <a:lstStyle/>
          <a:p>
            <a:r>
              <a:rPr lang="zh-CN" altLang="en-US" sz="1800" dirty="0"/>
              <a:t>晶体管构成的检波与积分电路</a:t>
            </a:r>
          </a:p>
        </p:txBody>
      </p:sp>
    </p:spTree>
    <p:extLst>
      <p:ext uri="{BB962C8B-B14F-4D97-AF65-F5344CB8AC3E}">
        <p14:creationId xmlns:p14="http://schemas.microsoft.com/office/powerpoint/2010/main" val="37761612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384630" y="573194"/>
            <a:ext cx="11364684" cy="4662815"/>
          </a:xfrm>
          <a:prstGeom prst="rect">
            <a:avLst/>
          </a:prstGeom>
        </p:spPr>
        <p:txBody>
          <a:bodyPr wrap="square">
            <a:spAutoFit/>
          </a:bodyPr>
          <a:lstStyle/>
          <a:p>
            <a:pPr indent="457200">
              <a:lnSpc>
                <a:spcPct val="150000"/>
              </a:lnSpc>
            </a:pPr>
            <a:r>
              <a:rPr lang="en-US" altLang="zh-CN" sz="1800" dirty="0"/>
              <a:t>AD603</a:t>
            </a:r>
            <a:r>
              <a:rPr lang="zh-CN" altLang="zh-CN" sz="1800" dirty="0"/>
              <a:t>的主要指标如下：</a:t>
            </a:r>
            <a:endParaRPr lang="en-US" altLang="zh-CN" sz="1800" dirty="0"/>
          </a:p>
          <a:p>
            <a:pPr marL="742950" lvl="1" indent="-285750">
              <a:lnSpc>
                <a:spcPct val="150000"/>
              </a:lnSpc>
              <a:buFont typeface="Arial" panose="020B0604020202020204" pitchFamily="34" charset="0"/>
              <a:buChar char="•"/>
            </a:pPr>
            <a:r>
              <a:rPr lang="zh-CN" altLang="zh-CN" sz="1800" dirty="0" smtClean="0"/>
              <a:t>增益</a:t>
            </a:r>
            <a:r>
              <a:rPr lang="zh-CN" altLang="zh-CN" sz="1800" dirty="0"/>
              <a:t>变化范围为</a:t>
            </a:r>
            <a:r>
              <a:rPr lang="en-US" altLang="zh-CN" sz="1800" dirty="0"/>
              <a:t>42dB</a:t>
            </a:r>
            <a:r>
              <a:rPr lang="zh-CN" altLang="zh-CN" sz="1800" dirty="0"/>
              <a:t>，最大增益可以通过外部电阻调节。</a:t>
            </a:r>
            <a:endParaRPr lang="en-US" altLang="zh-CN" sz="1800" dirty="0"/>
          </a:p>
          <a:p>
            <a:pPr marL="742950" lvl="1" indent="-285750">
              <a:lnSpc>
                <a:spcPct val="150000"/>
              </a:lnSpc>
              <a:buFont typeface="Arial" panose="020B0604020202020204" pitchFamily="34" charset="0"/>
              <a:buChar char="•"/>
            </a:pPr>
            <a:r>
              <a:rPr lang="zh-CN" altLang="zh-CN" sz="1800" dirty="0" smtClean="0"/>
              <a:t>最大</a:t>
            </a:r>
            <a:r>
              <a:rPr lang="zh-CN" altLang="zh-CN" sz="1800" dirty="0"/>
              <a:t>增益为</a:t>
            </a:r>
            <a:r>
              <a:rPr lang="en-US" altLang="zh-CN" sz="1800" dirty="0"/>
              <a:t>+31dB</a:t>
            </a:r>
            <a:r>
              <a:rPr lang="zh-CN" altLang="zh-CN" sz="1800" dirty="0"/>
              <a:t>时的带宽为</a:t>
            </a:r>
            <a:r>
              <a:rPr lang="en-US" altLang="zh-CN" sz="1800" dirty="0"/>
              <a:t>90MHz</a:t>
            </a:r>
            <a:r>
              <a:rPr lang="zh-CN" altLang="en-US" sz="1800" dirty="0"/>
              <a:t>、</a:t>
            </a:r>
            <a:r>
              <a:rPr lang="zh-CN" altLang="zh-CN" sz="1800" dirty="0"/>
              <a:t>为</a:t>
            </a:r>
            <a:r>
              <a:rPr lang="en-US" altLang="zh-CN" sz="1800" dirty="0"/>
              <a:t>+51dB</a:t>
            </a:r>
            <a:r>
              <a:rPr lang="zh-CN" altLang="zh-CN" sz="1800" dirty="0"/>
              <a:t>时的带宽为</a:t>
            </a:r>
            <a:r>
              <a:rPr lang="en-US" altLang="zh-CN" sz="1800" dirty="0"/>
              <a:t>9MHz</a:t>
            </a:r>
            <a:r>
              <a:rPr lang="zh-CN" altLang="zh-CN" sz="1800" dirty="0"/>
              <a:t>。主放大器采用了梯形电阻分压的方式改变增益，在增益变化时其带宽保持不变。</a:t>
            </a:r>
            <a:endParaRPr lang="en-US" altLang="zh-CN" sz="1800" dirty="0"/>
          </a:p>
          <a:p>
            <a:pPr marL="742950" lvl="1" indent="-285750">
              <a:lnSpc>
                <a:spcPct val="150000"/>
              </a:lnSpc>
              <a:buFont typeface="Arial" panose="020B0604020202020204" pitchFamily="34" charset="0"/>
              <a:buChar char="•"/>
            </a:pPr>
            <a:r>
              <a:rPr lang="zh-CN" altLang="zh-CN" sz="1800" dirty="0" smtClean="0"/>
              <a:t>输入</a:t>
            </a:r>
            <a:r>
              <a:rPr lang="zh-CN" altLang="zh-CN" sz="1800" dirty="0"/>
              <a:t>噪声为</a:t>
            </a:r>
            <a:r>
              <a:rPr lang="en-US" altLang="zh-CN" sz="1800" dirty="0"/>
              <a:t>1.3nV/√Hz</a:t>
            </a:r>
            <a:r>
              <a:rPr lang="zh-CN" altLang="zh-CN" sz="1800" dirty="0"/>
              <a:t>。</a:t>
            </a:r>
            <a:endParaRPr lang="en-US" altLang="zh-CN" sz="1800" dirty="0"/>
          </a:p>
          <a:p>
            <a:pPr marL="742950" lvl="1" indent="-285750">
              <a:lnSpc>
                <a:spcPct val="150000"/>
              </a:lnSpc>
              <a:buFont typeface="Arial" panose="020B0604020202020204" pitchFamily="34" charset="0"/>
              <a:buChar char="•"/>
            </a:pPr>
            <a:r>
              <a:rPr lang="zh-CN" altLang="zh-CN" sz="1800" dirty="0" smtClean="0"/>
              <a:t>总</a:t>
            </a:r>
            <a:r>
              <a:rPr lang="zh-CN" altLang="zh-CN" sz="1800" dirty="0"/>
              <a:t>电源电压为</a:t>
            </a:r>
            <a:r>
              <a:rPr lang="en-US" altLang="zh-CN" sz="1800" dirty="0"/>
              <a:t>10V</a:t>
            </a:r>
            <a:r>
              <a:rPr lang="zh-CN" altLang="zh-CN" sz="1800" dirty="0"/>
              <a:t>，可以用正负</a:t>
            </a:r>
            <a:r>
              <a:rPr lang="en-US" altLang="zh-CN" sz="1800" dirty="0"/>
              <a:t>5V</a:t>
            </a:r>
            <a:r>
              <a:rPr lang="zh-CN" altLang="zh-CN" sz="1800" dirty="0"/>
              <a:t>分裂式电源</a:t>
            </a:r>
            <a:r>
              <a:rPr lang="zh-CN" altLang="en-US" sz="1800" dirty="0"/>
              <a:t>或</a:t>
            </a:r>
            <a:r>
              <a:rPr lang="zh-CN" altLang="zh-CN" sz="1800" dirty="0"/>
              <a:t>单电源方式</a:t>
            </a:r>
            <a:r>
              <a:rPr lang="zh-CN" altLang="en-US" sz="1800" dirty="0"/>
              <a:t>供电</a:t>
            </a:r>
            <a:r>
              <a:rPr lang="zh-CN" altLang="zh-CN" sz="1800" dirty="0"/>
              <a:t>。</a:t>
            </a:r>
          </a:p>
          <a:p>
            <a:pPr marL="742950" lvl="1" indent="-285750">
              <a:lnSpc>
                <a:spcPct val="150000"/>
              </a:lnSpc>
              <a:buFont typeface="Arial" panose="020B0604020202020204" pitchFamily="34" charset="0"/>
              <a:buChar char="•"/>
            </a:pPr>
            <a:r>
              <a:rPr lang="zh-CN" altLang="zh-CN" sz="1800" dirty="0" smtClean="0"/>
              <a:t>增益控制</a:t>
            </a:r>
            <a:r>
              <a:rPr lang="zh-CN" altLang="zh-CN" sz="1800" dirty="0"/>
              <a:t>电压</a:t>
            </a:r>
            <a:r>
              <a:rPr lang="zh-CN" altLang="zh-CN" sz="1800" dirty="0" smtClean="0"/>
              <a:t>为</a:t>
            </a:r>
            <a:r>
              <a:rPr lang="zh-CN" altLang="en-US" sz="1800" dirty="0" smtClean="0"/>
              <a:t>引脚 </a:t>
            </a:r>
            <a:r>
              <a:rPr lang="en-US" altLang="zh-CN" sz="1800" dirty="0" smtClean="0"/>
              <a:t>1 </a:t>
            </a:r>
            <a:r>
              <a:rPr lang="zh-CN" altLang="zh-CN" sz="1800" dirty="0" smtClean="0"/>
              <a:t>与</a:t>
            </a:r>
            <a:r>
              <a:rPr lang="zh-CN" altLang="en-US" sz="1800" dirty="0" smtClean="0"/>
              <a:t>引脚 </a:t>
            </a:r>
            <a:r>
              <a:rPr lang="en-US" altLang="zh-CN" sz="1800" dirty="0" smtClean="0"/>
              <a:t>2 </a:t>
            </a:r>
            <a:r>
              <a:rPr lang="zh-CN" altLang="zh-CN" sz="1800" dirty="0" smtClean="0"/>
              <a:t>之间</a:t>
            </a:r>
            <a:r>
              <a:rPr lang="zh-CN" altLang="zh-CN" sz="1800" dirty="0"/>
              <a:t>的差分电压（</a:t>
            </a:r>
            <a:r>
              <a:rPr lang="en-US" altLang="zh-CN" sz="1800" dirty="0" smtClean="0"/>
              <a:t>pin1 </a:t>
            </a:r>
            <a:r>
              <a:rPr lang="zh-CN" altLang="zh-CN" sz="1800" dirty="0" smtClean="0"/>
              <a:t>的</a:t>
            </a:r>
            <a:r>
              <a:rPr lang="zh-CN" altLang="zh-CN" sz="1800" dirty="0"/>
              <a:t>电平</a:t>
            </a:r>
            <a:r>
              <a:rPr lang="zh-CN" altLang="zh-CN" sz="1800" dirty="0" smtClean="0"/>
              <a:t>减去</a:t>
            </a:r>
            <a:r>
              <a:rPr lang="en-US" altLang="zh-CN" sz="1800" dirty="0" smtClean="0"/>
              <a:t> pin2 </a:t>
            </a:r>
            <a:r>
              <a:rPr lang="zh-CN" altLang="zh-CN" sz="1800" dirty="0" smtClean="0"/>
              <a:t>的</a:t>
            </a:r>
            <a:r>
              <a:rPr lang="zh-CN" altLang="zh-CN" sz="1800" dirty="0"/>
              <a:t>电平），有效控制范围大约</a:t>
            </a:r>
            <a:r>
              <a:rPr lang="zh-CN" altLang="zh-CN" sz="1800" dirty="0" smtClean="0"/>
              <a:t>为</a:t>
            </a:r>
            <a:r>
              <a:rPr lang="en-US" altLang="zh-CN" sz="1800" dirty="0" smtClean="0"/>
              <a:t>-0.5V</a:t>
            </a:r>
            <a:r>
              <a:rPr lang="en-US" altLang="zh-CN" sz="1800" dirty="0"/>
              <a:t>~+0.5V</a:t>
            </a:r>
            <a:r>
              <a:rPr lang="zh-CN" altLang="zh-CN" sz="1800" dirty="0"/>
              <a:t>。当控制电压为</a:t>
            </a:r>
            <a:r>
              <a:rPr lang="en-US" altLang="zh-CN" sz="1800" dirty="0"/>
              <a:t>-0.5V</a:t>
            </a:r>
            <a:r>
              <a:rPr lang="zh-CN" altLang="zh-CN" sz="1800" dirty="0"/>
              <a:t>时放大器的增益最小</a:t>
            </a:r>
            <a:r>
              <a:rPr lang="zh-CN" altLang="zh-CN" sz="1800" dirty="0" smtClean="0"/>
              <a:t>、</a:t>
            </a:r>
            <a:r>
              <a:rPr lang="en-US" altLang="zh-CN" sz="1800" dirty="0" smtClean="0"/>
              <a:t>+</a:t>
            </a:r>
            <a:r>
              <a:rPr lang="en-US" altLang="zh-CN" sz="1800" dirty="0"/>
              <a:t>0.5V</a:t>
            </a:r>
            <a:r>
              <a:rPr lang="zh-CN" altLang="zh-CN" sz="1800" dirty="0"/>
              <a:t>时放大器的增益最大。</a:t>
            </a:r>
          </a:p>
          <a:p>
            <a:pPr indent="457200">
              <a:lnSpc>
                <a:spcPct val="150000"/>
              </a:lnSpc>
            </a:pPr>
            <a:endParaRPr lang="en-US" altLang="zh-CN" sz="1800" dirty="0"/>
          </a:p>
          <a:p>
            <a:pPr indent="457200">
              <a:lnSpc>
                <a:spcPct val="150000"/>
              </a:lnSpc>
            </a:pPr>
            <a:r>
              <a:rPr lang="zh-CN" altLang="zh-CN" sz="1800" dirty="0"/>
              <a:t>本电路由两个</a:t>
            </a:r>
            <a:r>
              <a:rPr lang="en-US" altLang="zh-CN" sz="1800" dirty="0"/>
              <a:t>AD603</a:t>
            </a:r>
            <a:r>
              <a:rPr lang="zh-CN" altLang="zh-CN" sz="1800" dirty="0"/>
              <a:t>级联构成可变增益放大器。根据图中的元件参数，本电路中每个</a:t>
            </a:r>
            <a:r>
              <a:rPr lang="en-US" altLang="zh-CN" sz="1800" dirty="0"/>
              <a:t>AD603</a:t>
            </a:r>
            <a:r>
              <a:rPr lang="zh-CN" altLang="zh-CN" sz="1800" dirty="0"/>
              <a:t>的电压增益可以从</a:t>
            </a:r>
            <a:r>
              <a:rPr lang="en-US" altLang="zh-CN" sz="1800" dirty="0"/>
              <a:t>0dB</a:t>
            </a:r>
            <a:r>
              <a:rPr lang="zh-CN" altLang="zh-CN" sz="1800" dirty="0"/>
              <a:t>变化到</a:t>
            </a:r>
            <a:r>
              <a:rPr lang="en-US" altLang="zh-CN" sz="1800" dirty="0"/>
              <a:t>+42dB</a:t>
            </a:r>
            <a:r>
              <a:rPr lang="zh-CN" altLang="zh-CN" sz="1800" dirty="0"/>
              <a:t>，两个放大器构成级联放大器后，</a:t>
            </a:r>
            <a:r>
              <a:rPr lang="en-US" altLang="zh-CN" sz="1800" dirty="0"/>
              <a:t>AGC</a:t>
            </a:r>
            <a:r>
              <a:rPr lang="zh-CN" altLang="zh-CN" sz="1800" dirty="0"/>
              <a:t>控制范围增加到</a:t>
            </a:r>
            <a:r>
              <a:rPr lang="en-US" altLang="zh-CN" sz="1800" dirty="0"/>
              <a:t>0~84dB</a:t>
            </a:r>
            <a:r>
              <a:rPr lang="zh-CN" altLang="zh-CN" sz="1800" dirty="0"/>
              <a:t>。</a:t>
            </a:r>
          </a:p>
        </p:txBody>
      </p:sp>
    </p:spTree>
    <p:extLst>
      <p:ext uri="{BB962C8B-B14F-4D97-AF65-F5344CB8AC3E}">
        <p14:creationId xmlns:p14="http://schemas.microsoft.com/office/powerpoint/2010/main" val="348642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矩形 4"/>
          <p:cNvSpPr/>
          <p:nvPr/>
        </p:nvSpPr>
        <p:spPr>
          <a:xfrm>
            <a:off x="420914" y="559995"/>
            <a:ext cx="11313886" cy="5027017"/>
          </a:xfrm>
          <a:prstGeom prst="rect">
            <a:avLst/>
          </a:prstGeom>
        </p:spPr>
        <p:txBody>
          <a:bodyPr wrap="square">
            <a:spAutoFit/>
          </a:bodyPr>
          <a:lstStyle/>
          <a:p>
            <a:pPr indent="457200">
              <a:lnSpc>
                <a:spcPct val="150000"/>
              </a:lnSpc>
            </a:pPr>
            <a:r>
              <a:rPr lang="zh-CN" altLang="zh-CN" sz="1800" dirty="0"/>
              <a:t>两个放大器的增益控制端（</a:t>
            </a:r>
            <a:r>
              <a:rPr lang="en-US" altLang="zh-CN" sz="1800" dirty="0"/>
              <a:t>pin1</a:t>
            </a:r>
            <a:r>
              <a:rPr lang="zh-CN" altLang="zh-CN" sz="1800" dirty="0"/>
              <a:t>）被连在一起，接受由晶体管检波电路送来的</a:t>
            </a:r>
            <a:r>
              <a:rPr lang="en-US" altLang="zh-CN" sz="1800" dirty="0"/>
              <a:t>AGC</a:t>
            </a:r>
            <a:r>
              <a:rPr lang="zh-CN" altLang="zh-CN" sz="1800" dirty="0"/>
              <a:t>电平信号（</a:t>
            </a:r>
            <a:r>
              <a:rPr lang="en-US" altLang="zh-CN" sz="1800" dirty="0"/>
              <a:t>V</a:t>
            </a:r>
            <a:r>
              <a:rPr lang="en-US" altLang="zh-CN" sz="1800" baseline="-25000" dirty="0"/>
              <a:t>AGC</a:t>
            </a:r>
            <a:r>
              <a:rPr lang="zh-CN" altLang="zh-CN" sz="1800" dirty="0"/>
              <a:t>）。两个芯片的参考电平（</a:t>
            </a:r>
            <a:r>
              <a:rPr lang="en-US" altLang="zh-CN" sz="1800" dirty="0"/>
              <a:t>pin2</a:t>
            </a:r>
            <a:r>
              <a:rPr lang="zh-CN" altLang="zh-CN" sz="1800" dirty="0"/>
              <a:t>）被</a:t>
            </a:r>
            <a:r>
              <a:rPr lang="en-US" altLang="zh-CN" sz="1800" dirty="0"/>
              <a:t>R5</a:t>
            </a:r>
            <a:r>
              <a:rPr lang="zh-CN" altLang="zh-CN" sz="1800" dirty="0"/>
              <a:t>、</a:t>
            </a:r>
            <a:r>
              <a:rPr lang="en-US" altLang="zh-CN" sz="1800" dirty="0"/>
              <a:t>R6</a:t>
            </a:r>
            <a:r>
              <a:rPr lang="zh-CN" altLang="zh-CN" sz="1800" dirty="0"/>
              <a:t>和</a:t>
            </a:r>
            <a:r>
              <a:rPr lang="en-US" altLang="zh-CN" sz="1800" dirty="0"/>
              <a:t>R7</a:t>
            </a:r>
            <a:r>
              <a:rPr lang="zh-CN" altLang="zh-CN" sz="1800" dirty="0"/>
              <a:t>构成的分压电路赋予不同的偏置电压：</a:t>
            </a:r>
            <a:r>
              <a:rPr lang="en-US" altLang="zh-CN" sz="1800" dirty="0"/>
              <a:t>A1</a:t>
            </a:r>
            <a:r>
              <a:rPr lang="zh-CN" altLang="zh-CN" sz="1800" dirty="0"/>
              <a:t>的参考电平为</a:t>
            </a:r>
            <a:r>
              <a:rPr lang="en-US" altLang="zh-CN" sz="1800" dirty="0"/>
              <a:t>5.5V</a:t>
            </a:r>
            <a:r>
              <a:rPr lang="zh-CN" altLang="zh-CN" sz="1800" dirty="0"/>
              <a:t>左右，</a:t>
            </a:r>
            <a:r>
              <a:rPr lang="en-US" altLang="zh-CN" sz="1800" dirty="0"/>
              <a:t>A2</a:t>
            </a:r>
            <a:r>
              <a:rPr lang="zh-CN" altLang="zh-CN" sz="1800" dirty="0"/>
              <a:t>的参考电平为</a:t>
            </a:r>
            <a:r>
              <a:rPr lang="en-US" altLang="zh-CN" sz="1800" dirty="0"/>
              <a:t>6.5V</a:t>
            </a:r>
            <a:r>
              <a:rPr lang="zh-CN" altLang="zh-CN" sz="1800" dirty="0"/>
              <a:t>左右。</a:t>
            </a:r>
            <a:endParaRPr lang="en-US" altLang="zh-CN" sz="1800" dirty="0"/>
          </a:p>
          <a:p>
            <a:pPr indent="457200">
              <a:lnSpc>
                <a:spcPct val="150000"/>
              </a:lnSpc>
            </a:pPr>
            <a:r>
              <a:rPr lang="zh-CN" altLang="zh-CN" sz="1800" dirty="0"/>
              <a:t>整个控制过程可以分为</a:t>
            </a:r>
            <a:r>
              <a:rPr lang="en-US" altLang="zh-CN" sz="1800" dirty="0"/>
              <a:t>4</a:t>
            </a:r>
            <a:r>
              <a:rPr lang="zh-CN" altLang="zh-CN" sz="1800" dirty="0"/>
              <a:t>个阶段</a:t>
            </a:r>
            <a:r>
              <a:rPr lang="zh-CN" altLang="en-US" sz="1800" dirty="0"/>
              <a:t>：</a:t>
            </a:r>
            <a:endParaRPr lang="en-US" altLang="zh-CN" sz="1800" dirty="0"/>
          </a:p>
          <a:p>
            <a:pPr indent="457200">
              <a:lnSpc>
                <a:spcPct val="150000"/>
              </a:lnSpc>
            </a:pPr>
            <a:r>
              <a:rPr lang="en-US" altLang="zh-CN" sz="1800" dirty="0"/>
              <a:t>1</a:t>
            </a:r>
            <a:r>
              <a:rPr lang="zh-CN" altLang="zh-CN" sz="1800" dirty="0"/>
              <a:t>、</a:t>
            </a:r>
            <a:r>
              <a:rPr lang="en-US" altLang="zh-CN" sz="1800" dirty="0"/>
              <a:t>V</a:t>
            </a:r>
            <a:r>
              <a:rPr lang="en-US" altLang="zh-CN" sz="1800" baseline="-25000" dirty="0"/>
              <a:t>AGC</a:t>
            </a:r>
            <a:r>
              <a:rPr lang="en-US" altLang="zh-CN" sz="1800" dirty="0"/>
              <a:t> </a:t>
            </a:r>
            <a:r>
              <a:rPr lang="zh-CN" altLang="zh-CN" sz="1800" dirty="0"/>
              <a:t>大于</a:t>
            </a:r>
            <a:r>
              <a:rPr lang="en-US" altLang="zh-CN" sz="1800" dirty="0"/>
              <a:t>7V</a:t>
            </a:r>
            <a:r>
              <a:rPr lang="zh-CN" altLang="zh-CN" sz="1800" dirty="0"/>
              <a:t>。此时两个运放的差分控制电压均大于</a:t>
            </a:r>
            <a:r>
              <a:rPr lang="en-US" altLang="zh-CN" sz="1800" dirty="0"/>
              <a:t>+0.5V</a:t>
            </a:r>
            <a:r>
              <a:rPr lang="zh-CN" altLang="zh-CN" sz="1800" dirty="0"/>
              <a:t>，处于最大增益状态，整个放大器的增益始终等于最大增益（</a:t>
            </a:r>
            <a:r>
              <a:rPr lang="en-US" altLang="zh-CN" sz="1800" dirty="0"/>
              <a:t>84dB</a:t>
            </a:r>
            <a:r>
              <a:rPr lang="zh-CN" altLang="zh-CN" sz="1800" dirty="0"/>
              <a:t>）。</a:t>
            </a:r>
          </a:p>
          <a:p>
            <a:pPr indent="457200">
              <a:lnSpc>
                <a:spcPct val="150000"/>
              </a:lnSpc>
            </a:pPr>
            <a:r>
              <a:rPr lang="en-US" altLang="zh-CN" sz="1800" dirty="0"/>
              <a:t>2</a:t>
            </a:r>
            <a:r>
              <a:rPr lang="zh-CN" altLang="zh-CN" sz="1800" dirty="0"/>
              <a:t>、</a:t>
            </a:r>
            <a:r>
              <a:rPr lang="en-US" altLang="zh-CN" sz="1800" dirty="0"/>
              <a:t>V</a:t>
            </a:r>
            <a:r>
              <a:rPr lang="en-US" altLang="zh-CN" sz="1800" baseline="-25000" dirty="0"/>
              <a:t>AGC</a:t>
            </a:r>
            <a:r>
              <a:rPr lang="zh-CN" altLang="zh-CN" sz="1800" dirty="0"/>
              <a:t>在</a:t>
            </a:r>
            <a:r>
              <a:rPr lang="en-US" altLang="zh-CN" sz="1800" dirty="0"/>
              <a:t>7V</a:t>
            </a:r>
            <a:r>
              <a:rPr lang="zh-CN" altLang="zh-CN" sz="1800" dirty="0"/>
              <a:t>与</a:t>
            </a:r>
            <a:r>
              <a:rPr lang="en-US" altLang="zh-CN" sz="1800" dirty="0"/>
              <a:t>6V</a:t>
            </a:r>
            <a:r>
              <a:rPr lang="zh-CN" altLang="zh-CN" sz="1800" dirty="0"/>
              <a:t>之间。此时</a:t>
            </a:r>
            <a:r>
              <a:rPr lang="en-US" altLang="zh-CN" sz="1800" dirty="0"/>
              <a:t>A1</a:t>
            </a:r>
            <a:r>
              <a:rPr lang="zh-CN" altLang="zh-CN" sz="1800" dirty="0"/>
              <a:t>的差分控制电压大于</a:t>
            </a:r>
            <a:r>
              <a:rPr lang="en-US" altLang="zh-CN" sz="1800" dirty="0"/>
              <a:t>0.5V</a:t>
            </a:r>
            <a:r>
              <a:rPr lang="zh-CN" altLang="zh-CN" sz="1800" dirty="0"/>
              <a:t>，处于最大增益状态（</a:t>
            </a:r>
            <a:r>
              <a:rPr lang="en-US" altLang="zh-CN" sz="1800" dirty="0"/>
              <a:t>42dB</a:t>
            </a:r>
            <a:r>
              <a:rPr lang="zh-CN" altLang="zh-CN" sz="1800" dirty="0"/>
              <a:t>） ，</a:t>
            </a:r>
            <a:r>
              <a:rPr lang="en-US" altLang="zh-CN" sz="1800" dirty="0"/>
              <a:t>A2</a:t>
            </a:r>
            <a:r>
              <a:rPr lang="zh-CN" altLang="zh-CN" sz="1800" dirty="0"/>
              <a:t>的差分控制电压为</a:t>
            </a:r>
            <a:r>
              <a:rPr lang="en-US" altLang="zh-CN" sz="1800" dirty="0"/>
              <a:t>(+0.5V)~(-0.5V)</a:t>
            </a:r>
            <a:r>
              <a:rPr lang="zh-CN" altLang="zh-CN" sz="1800" dirty="0"/>
              <a:t>，处于正常起控状态，放大器的增益随着控制电压的下降而下降（</a:t>
            </a:r>
            <a:r>
              <a:rPr lang="en-US" altLang="zh-CN" sz="1800" dirty="0"/>
              <a:t>84dB~42dB</a:t>
            </a:r>
            <a:r>
              <a:rPr lang="zh-CN" altLang="zh-CN" sz="1800" dirty="0"/>
              <a:t>） 。</a:t>
            </a:r>
          </a:p>
          <a:p>
            <a:pPr indent="457200">
              <a:lnSpc>
                <a:spcPct val="150000"/>
              </a:lnSpc>
            </a:pPr>
            <a:r>
              <a:rPr lang="en-US" altLang="zh-CN" sz="1800" dirty="0"/>
              <a:t>3</a:t>
            </a:r>
            <a:r>
              <a:rPr lang="zh-CN" altLang="zh-CN" sz="1800" dirty="0"/>
              <a:t>、</a:t>
            </a:r>
            <a:r>
              <a:rPr lang="en-US" altLang="zh-CN" sz="1800" dirty="0"/>
              <a:t>V</a:t>
            </a:r>
            <a:r>
              <a:rPr lang="en-US" altLang="zh-CN" sz="1800" baseline="-25000" dirty="0"/>
              <a:t>AGC</a:t>
            </a:r>
            <a:r>
              <a:rPr lang="zh-CN" altLang="zh-CN" sz="1800" dirty="0"/>
              <a:t>在</a:t>
            </a:r>
            <a:r>
              <a:rPr lang="en-US" altLang="zh-CN" sz="1800" dirty="0"/>
              <a:t>6V</a:t>
            </a:r>
            <a:r>
              <a:rPr lang="zh-CN" altLang="zh-CN" sz="1800" dirty="0"/>
              <a:t>与</a:t>
            </a:r>
            <a:r>
              <a:rPr lang="en-US" altLang="zh-CN" sz="1800" dirty="0"/>
              <a:t>5V</a:t>
            </a:r>
            <a:r>
              <a:rPr lang="zh-CN" altLang="zh-CN" sz="1800" dirty="0"/>
              <a:t>之间。此时</a:t>
            </a:r>
            <a:r>
              <a:rPr lang="en-US" altLang="zh-CN" sz="1800" dirty="0"/>
              <a:t>A1</a:t>
            </a:r>
            <a:r>
              <a:rPr lang="zh-CN" altLang="zh-CN" sz="1800" dirty="0"/>
              <a:t>的差分控制电压为</a:t>
            </a:r>
            <a:r>
              <a:rPr lang="en-US" altLang="zh-CN" sz="1800" dirty="0"/>
              <a:t>(+0.5V)~(-0.5V)</a:t>
            </a:r>
            <a:r>
              <a:rPr lang="zh-CN" altLang="zh-CN" sz="1800" dirty="0"/>
              <a:t>，处于正常起控状态，</a:t>
            </a:r>
            <a:r>
              <a:rPr lang="en-US" altLang="zh-CN" sz="1800" dirty="0"/>
              <a:t>A2</a:t>
            </a:r>
            <a:r>
              <a:rPr lang="zh-CN" altLang="zh-CN" sz="1800" dirty="0"/>
              <a:t>则由于差分控制电压低于</a:t>
            </a:r>
            <a:r>
              <a:rPr lang="en-US" altLang="zh-CN" sz="1800" dirty="0"/>
              <a:t>-0.5V</a:t>
            </a:r>
            <a:r>
              <a:rPr lang="zh-CN" altLang="zh-CN" sz="1800" dirty="0"/>
              <a:t>而保持最小增益（</a:t>
            </a:r>
            <a:r>
              <a:rPr lang="en-US" altLang="zh-CN" sz="1800" dirty="0"/>
              <a:t>0dB</a:t>
            </a:r>
            <a:r>
              <a:rPr lang="zh-CN" altLang="zh-CN" sz="1800" dirty="0"/>
              <a:t>） 。整个放大器的增益继续随着控制电压的下降而下降（</a:t>
            </a:r>
            <a:r>
              <a:rPr lang="en-US" altLang="zh-CN" sz="1800" dirty="0"/>
              <a:t>42dB~0dB</a:t>
            </a:r>
            <a:r>
              <a:rPr lang="zh-CN" altLang="zh-CN" sz="1800" dirty="0"/>
              <a:t>） 。</a:t>
            </a:r>
          </a:p>
          <a:p>
            <a:pPr indent="457200">
              <a:lnSpc>
                <a:spcPct val="150000"/>
              </a:lnSpc>
            </a:pPr>
            <a:r>
              <a:rPr lang="en-US" altLang="zh-CN" sz="1800" dirty="0"/>
              <a:t>4</a:t>
            </a:r>
            <a:r>
              <a:rPr lang="zh-CN" altLang="zh-CN" sz="1800" dirty="0"/>
              <a:t>、</a:t>
            </a:r>
            <a:r>
              <a:rPr lang="en-US" altLang="zh-CN" sz="1800" dirty="0"/>
              <a:t>V</a:t>
            </a:r>
            <a:r>
              <a:rPr lang="en-US" altLang="zh-CN" sz="1800" baseline="-25000" dirty="0"/>
              <a:t>AGC</a:t>
            </a:r>
            <a:r>
              <a:rPr lang="zh-CN" altLang="zh-CN" sz="1800" dirty="0"/>
              <a:t>小于</a:t>
            </a:r>
            <a:r>
              <a:rPr lang="en-US" altLang="zh-CN" sz="1800" dirty="0"/>
              <a:t>5V</a:t>
            </a:r>
            <a:r>
              <a:rPr lang="zh-CN" altLang="zh-CN" sz="1800" dirty="0"/>
              <a:t>。此时两个运放的差分控制电压均低于</a:t>
            </a:r>
            <a:r>
              <a:rPr lang="en-US" altLang="zh-CN" sz="1800" dirty="0"/>
              <a:t>-0.5V</a:t>
            </a:r>
            <a:r>
              <a:rPr lang="zh-CN" altLang="zh-CN" sz="1800" dirty="0"/>
              <a:t>而始终保持最小增益（</a:t>
            </a:r>
            <a:r>
              <a:rPr lang="en-US" altLang="zh-CN" sz="1800" dirty="0"/>
              <a:t>0dB</a:t>
            </a:r>
            <a:r>
              <a:rPr lang="zh-CN" altLang="zh-CN" sz="1800" dirty="0"/>
              <a:t>）。</a:t>
            </a:r>
          </a:p>
          <a:p>
            <a:pPr indent="457200">
              <a:lnSpc>
                <a:spcPct val="150000"/>
              </a:lnSpc>
            </a:pPr>
            <a:endParaRPr lang="zh-CN" altLang="en-US" sz="1800" dirty="0"/>
          </a:p>
        </p:txBody>
      </p:sp>
    </p:spTree>
    <p:extLst>
      <p:ext uri="{BB962C8B-B14F-4D97-AF65-F5344CB8AC3E}">
        <p14:creationId xmlns:p14="http://schemas.microsoft.com/office/powerpoint/2010/main" val="36237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矩形 4"/>
          <p:cNvSpPr/>
          <p:nvPr/>
        </p:nvSpPr>
        <p:spPr>
          <a:xfrm>
            <a:off x="435429" y="527364"/>
            <a:ext cx="11284857" cy="4612225"/>
          </a:xfrm>
          <a:prstGeom prst="rect">
            <a:avLst/>
          </a:prstGeom>
        </p:spPr>
        <p:txBody>
          <a:bodyPr wrap="square">
            <a:spAutoFit/>
          </a:bodyPr>
          <a:lstStyle/>
          <a:p>
            <a:pPr indent="457200">
              <a:lnSpc>
                <a:spcPct val="150000"/>
              </a:lnSpc>
            </a:pPr>
            <a:r>
              <a:rPr lang="en-US" altLang="zh-CN" sz="1800" dirty="0"/>
              <a:t>AGC</a:t>
            </a:r>
            <a:r>
              <a:rPr lang="zh-CN" altLang="zh-CN" sz="1800" dirty="0"/>
              <a:t>电平（</a:t>
            </a:r>
            <a:r>
              <a:rPr lang="en-US" altLang="zh-CN" sz="1800" dirty="0"/>
              <a:t>V</a:t>
            </a:r>
            <a:r>
              <a:rPr lang="en-US" altLang="zh-CN" sz="1800" baseline="-25000" dirty="0"/>
              <a:t>AGC</a:t>
            </a:r>
            <a:r>
              <a:rPr lang="zh-CN" altLang="zh-CN" sz="1800" dirty="0"/>
              <a:t>）由</a:t>
            </a:r>
            <a:r>
              <a:rPr lang="en-US" altLang="zh-CN" sz="1800" dirty="0"/>
              <a:t>Q1</a:t>
            </a:r>
            <a:r>
              <a:rPr lang="zh-CN" altLang="zh-CN" sz="1800" dirty="0"/>
              <a:t>、</a:t>
            </a:r>
            <a:r>
              <a:rPr lang="en-US" altLang="zh-CN" sz="1800" dirty="0"/>
              <a:t>Q2</a:t>
            </a:r>
            <a:r>
              <a:rPr lang="zh-CN" altLang="zh-CN" sz="1800" dirty="0"/>
              <a:t>、</a:t>
            </a:r>
            <a:r>
              <a:rPr lang="en-US" altLang="zh-CN" sz="1800" dirty="0"/>
              <a:t>C</a:t>
            </a:r>
            <a:r>
              <a:rPr lang="en-US" altLang="zh-CN" sz="1800" baseline="-25000" dirty="0"/>
              <a:t>AV</a:t>
            </a:r>
            <a:r>
              <a:rPr lang="zh-CN" altLang="zh-CN" sz="1800" dirty="0"/>
              <a:t>等元件构成的检波</a:t>
            </a:r>
            <a:r>
              <a:rPr lang="en-US" altLang="zh-CN" sz="1800" dirty="0"/>
              <a:t>-</a:t>
            </a:r>
            <a:r>
              <a:rPr lang="zh-CN" altLang="zh-CN" sz="1800" dirty="0"/>
              <a:t>积分电路产生，工作原理如下：</a:t>
            </a:r>
          </a:p>
          <a:p>
            <a:pPr indent="457200">
              <a:lnSpc>
                <a:spcPct val="150000"/>
              </a:lnSpc>
            </a:pPr>
            <a:r>
              <a:rPr lang="en-US" altLang="zh-CN" sz="1800" dirty="0"/>
              <a:t>Q2</a:t>
            </a:r>
            <a:r>
              <a:rPr lang="zh-CN" altLang="zh-CN" sz="1800" dirty="0"/>
              <a:t>是一个恒流源，对</a:t>
            </a:r>
            <a:r>
              <a:rPr lang="en-US" altLang="zh-CN" sz="1800" dirty="0"/>
              <a:t>C</a:t>
            </a:r>
            <a:r>
              <a:rPr lang="en-US" altLang="zh-CN" sz="1800" baseline="-25000" dirty="0"/>
              <a:t>AV</a:t>
            </a:r>
            <a:r>
              <a:rPr lang="zh-CN" altLang="zh-CN" sz="1800" dirty="0"/>
              <a:t>进行恒流充电。若没有</a:t>
            </a:r>
            <a:r>
              <a:rPr lang="en-US" altLang="zh-CN" sz="1800" dirty="0"/>
              <a:t>Q1</a:t>
            </a:r>
            <a:r>
              <a:rPr lang="zh-CN" altLang="zh-CN" sz="1800" dirty="0"/>
              <a:t>存在，此电容可以充电直至</a:t>
            </a:r>
            <a:r>
              <a:rPr lang="en-US" altLang="zh-CN" sz="1800" dirty="0"/>
              <a:t>Q2</a:t>
            </a:r>
            <a:r>
              <a:rPr lang="zh-CN" altLang="zh-CN" sz="1800" dirty="0"/>
              <a:t>进入饱和导通状态，此时</a:t>
            </a:r>
            <a:r>
              <a:rPr lang="en-US" altLang="zh-CN" sz="1800" dirty="0"/>
              <a:t>V</a:t>
            </a:r>
            <a:r>
              <a:rPr lang="en-US" altLang="zh-CN" sz="1800" baseline="-25000" dirty="0"/>
              <a:t>AGC</a:t>
            </a:r>
            <a:r>
              <a:rPr lang="zh-CN" altLang="zh-CN" sz="1800" dirty="0"/>
              <a:t>大约是</a:t>
            </a:r>
            <a:r>
              <a:rPr lang="en-US" altLang="zh-CN" sz="1800" dirty="0"/>
              <a:t>9.3V</a:t>
            </a:r>
            <a:r>
              <a:rPr lang="zh-CN" altLang="zh-CN" sz="1800" dirty="0"/>
              <a:t>。由前面的分析可知，此时两级放大器都将处于最高增益状态。</a:t>
            </a:r>
          </a:p>
          <a:p>
            <a:pPr indent="457200">
              <a:lnSpc>
                <a:spcPct val="150000"/>
              </a:lnSpc>
            </a:pPr>
            <a:r>
              <a:rPr lang="en-US" altLang="zh-CN" sz="1800" dirty="0"/>
              <a:t>Q1</a:t>
            </a:r>
            <a:r>
              <a:rPr lang="zh-CN" altLang="zh-CN" sz="1800" dirty="0"/>
              <a:t>的基极电位由电阻分压为</a:t>
            </a:r>
            <a:r>
              <a:rPr lang="en-US" altLang="zh-CN" sz="1800" dirty="0"/>
              <a:t>5V</a:t>
            </a:r>
            <a:r>
              <a:rPr lang="zh-CN" altLang="zh-CN" sz="1800" dirty="0"/>
              <a:t>，发射极通过电阻</a:t>
            </a:r>
            <a:r>
              <a:rPr lang="en-US" altLang="zh-CN" sz="1800" dirty="0"/>
              <a:t>R8</a:t>
            </a:r>
            <a:r>
              <a:rPr lang="zh-CN" altLang="zh-CN" sz="1800" dirty="0"/>
              <a:t>接到放大器的输出端。由于运放是单电源供电，参考电压输入端（</a:t>
            </a:r>
            <a:r>
              <a:rPr lang="en-US" altLang="zh-CN" sz="1800" dirty="0"/>
              <a:t>pin4</a:t>
            </a:r>
            <a:r>
              <a:rPr lang="zh-CN" altLang="zh-CN" sz="1800" dirty="0"/>
              <a:t>）被分压到</a:t>
            </a:r>
            <a:r>
              <a:rPr lang="en-US" altLang="zh-CN" sz="1800" dirty="0"/>
              <a:t>5V</a:t>
            </a:r>
            <a:r>
              <a:rPr lang="zh-CN" altLang="zh-CN" sz="1800" dirty="0"/>
              <a:t>，所以输出信号的静态电平就是</a:t>
            </a:r>
            <a:r>
              <a:rPr lang="en-US" altLang="zh-CN" sz="1800" dirty="0"/>
              <a:t>5V</a:t>
            </a:r>
            <a:r>
              <a:rPr lang="zh-CN" altLang="zh-CN" sz="1800" dirty="0"/>
              <a:t>，或者说输出信号在</a:t>
            </a:r>
            <a:r>
              <a:rPr lang="en-US" altLang="zh-CN" sz="1800" dirty="0"/>
              <a:t>5V</a:t>
            </a:r>
            <a:r>
              <a:rPr lang="zh-CN" altLang="zh-CN" sz="1800" dirty="0"/>
              <a:t>上下摆动。在输出信号的负半周</a:t>
            </a:r>
            <a:r>
              <a:rPr lang="en-US" altLang="zh-CN" sz="1800" dirty="0"/>
              <a:t>Q1</a:t>
            </a:r>
            <a:r>
              <a:rPr lang="zh-CN" altLang="zh-CN" sz="1800" dirty="0"/>
              <a:t>可能导通，导通的条件是输出幅度大于</a:t>
            </a:r>
            <a:r>
              <a:rPr lang="en-US" altLang="zh-CN" sz="1800" dirty="0"/>
              <a:t>Q1</a:t>
            </a:r>
            <a:r>
              <a:rPr lang="zh-CN" altLang="zh-CN" sz="1800" dirty="0"/>
              <a:t>发射结的阈值电压（大约</a:t>
            </a:r>
            <a:r>
              <a:rPr lang="en-US" altLang="zh-CN" sz="1800" dirty="0"/>
              <a:t>0.7V</a:t>
            </a:r>
            <a:r>
              <a:rPr lang="zh-CN" altLang="zh-CN" sz="1800" dirty="0"/>
              <a:t>），因此有：</a:t>
            </a:r>
          </a:p>
          <a:p>
            <a:pPr indent="457200">
              <a:lnSpc>
                <a:spcPct val="150000"/>
              </a:lnSpc>
            </a:pPr>
            <a:r>
              <a:rPr lang="zh-CN" altLang="zh-CN" sz="1800" dirty="0"/>
              <a:t>当输出幅度小于</a:t>
            </a:r>
            <a:r>
              <a:rPr lang="en-US" altLang="zh-CN" sz="1800" dirty="0"/>
              <a:t>0.7V</a:t>
            </a:r>
            <a:r>
              <a:rPr lang="zh-CN" altLang="en-US" sz="1800" dirty="0"/>
              <a:t>左右</a:t>
            </a:r>
            <a:r>
              <a:rPr lang="zh-CN" altLang="zh-CN" sz="1800" dirty="0"/>
              <a:t>时</a:t>
            </a:r>
            <a:r>
              <a:rPr lang="en-US" altLang="zh-CN" sz="1800" dirty="0"/>
              <a:t>Q1</a:t>
            </a:r>
            <a:r>
              <a:rPr lang="zh-CN" altLang="zh-CN" sz="1800" dirty="0"/>
              <a:t>不会导通，放大器处于最大增益放大状态。</a:t>
            </a:r>
          </a:p>
          <a:p>
            <a:pPr indent="457200">
              <a:lnSpc>
                <a:spcPct val="150000"/>
              </a:lnSpc>
            </a:pPr>
            <a:r>
              <a:rPr lang="zh-CN" altLang="zh-CN" sz="1800" dirty="0"/>
              <a:t>当输出幅度大于</a:t>
            </a:r>
            <a:r>
              <a:rPr lang="en-US" altLang="zh-CN" sz="1800" dirty="0"/>
              <a:t>0.7V</a:t>
            </a:r>
            <a:r>
              <a:rPr lang="zh-CN" altLang="en-US" sz="1800" dirty="0"/>
              <a:t>（</a:t>
            </a:r>
            <a:r>
              <a:rPr lang="en-US" altLang="zh-CN" sz="1800" dirty="0"/>
              <a:t> Q1</a:t>
            </a:r>
            <a:r>
              <a:rPr lang="zh-CN" altLang="zh-CN" sz="1800" dirty="0"/>
              <a:t>发射结的</a:t>
            </a:r>
            <a:r>
              <a:rPr lang="zh-CN" altLang="en-US" sz="1800" dirty="0"/>
              <a:t>导通阈值）</a:t>
            </a:r>
            <a:r>
              <a:rPr lang="zh-CN" altLang="zh-CN" sz="1800" dirty="0"/>
              <a:t>后，在输出电压的负半周峰值附近</a:t>
            </a:r>
            <a:r>
              <a:rPr lang="en-US" altLang="zh-CN" sz="1800" dirty="0"/>
              <a:t>Q1</a:t>
            </a:r>
            <a:r>
              <a:rPr lang="zh-CN" altLang="zh-CN" sz="1800" dirty="0"/>
              <a:t>将开始导通，导通后</a:t>
            </a:r>
            <a:r>
              <a:rPr lang="en-US" altLang="zh-CN" sz="1800" dirty="0"/>
              <a:t>C</a:t>
            </a:r>
            <a:r>
              <a:rPr lang="en-US" altLang="zh-CN" sz="1800" baseline="-25000" dirty="0"/>
              <a:t>AV</a:t>
            </a:r>
            <a:r>
              <a:rPr lang="zh-CN" altLang="zh-CN" sz="1800" dirty="0"/>
              <a:t>上的电压将通过</a:t>
            </a:r>
            <a:r>
              <a:rPr lang="en-US" altLang="zh-CN" sz="1800" dirty="0"/>
              <a:t>Q1</a:t>
            </a:r>
            <a:r>
              <a:rPr lang="zh-CN" altLang="zh-CN" sz="1800" dirty="0"/>
              <a:t>放电而下降。由于</a:t>
            </a:r>
            <a:r>
              <a:rPr lang="en-US" altLang="zh-CN" sz="1800" dirty="0"/>
              <a:t>C</a:t>
            </a:r>
            <a:r>
              <a:rPr lang="en-US" altLang="zh-CN" sz="1800" baseline="-25000" dirty="0"/>
              <a:t>AV</a:t>
            </a:r>
            <a:r>
              <a:rPr lang="zh-CN" altLang="zh-CN" sz="1800" dirty="0"/>
              <a:t>上的电压就是可变增益放大器的控制电压</a:t>
            </a:r>
            <a:r>
              <a:rPr lang="en-US" altLang="zh-CN" sz="1800" dirty="0"/>
              <a:t>V</a:t>
            </a:r>
            <a:r>
              <a:rPr lang="en-US" altLang="zh-CN" sz="1800" baseline="-25000" dirty="0"/>
              <a:t>AGC</a:t>
            </a:r>
            <a:r>
              <a:rPr lang="zh-CN" altLang="zh-CN" sz="1800" dirty="0"/>
              <a:t> ，所以当此电压低于</a:t>
            </a:r>
            <a:r>
              <a:rPr lang="en-US" altLang="zh-CN" sz="1800" dirty="0"/>
              <a:t>7V</a:t>
            </a:r>
            <a:r>
              <a:rPr lang="zh-CN" altLang="zh-CN" sz="1800" dirty="0"/>
              <a:t>后放大器增益下降。输出幅度越大则</a:t>
            </a:r>
            <a:r>
              <a:rPr lang="en-US" altLang="zh-CN" sz="1800" dirty="0"/>
              <a:t>Q1</a:t>
            </a:r>
            <a:r>
              <a:rPr lang="zh-CN" altLang="zh-CN" sz="1800" dirty="0"/>
              <a:t>导通越多，放电速度越快，也就是控制电压越低，导致放大器的增益越低，这样就起到了</a:t>
            </a:r>
            <a:r>
              <a:rPr lang="en-US" altLang="zh-CN" sz="1800" dirty="0"/>
              <a:t>AGC</a:t>
            </a:r>
            <a:r>
              <a:rPr lang="zh-CN" altLang="zh-CN" sz="1800" dirty="0"/>
              <a:t>作用。</a:t>
            </a:r>
          </a:p>
        </p:txBody>
      </p:sp>
    </p:spTree>
    <p:extLst>
      <p:ext uri="{BB962C8B-B14F-4D97-AF65-F5344CB8AC3E}">
        <p14:creationId xmlns:p14="http://schemas.microsoft.com/office/powerpoint/2010/main" val="2428389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435429" y="587344"/>
            <a:ext cx="9954759" cy="452432"/>
          </a:xfrm>
          <a:prstGeom prst="rect">
            <a:avLst/>
          </a:prstGeom>
        </p:spPr>
        <p:txBody>
          <a:bodyPr wrap="square">
            <a:spAutoFit/>
          </a:bodyPr>
          <a:lstStyle/>
          <a:p>
            <a:pPr indent="457200">
              <a:lnSpc>
                <a:spcPct val="130000"/>
              </a:lnSpc>
            </a:pPr>
            <a:r>
              <a:rPr lang="zh-CN" altLang="en-US" sz="1800" dirty="0"/>
              <a:t>定量分析此电路中对于积分电容</a:t>
            </a:r>
            <a:r>
              <a:rPr lang="en-US" altLang="zh-CN" sz="1800" dirty="0"/>
              <a:t>C</a:t>
            </a:r>
            <a:r>
              <a:rPr lang="en-US" altLang="zh-CN" sz="1800" baseline="-25000" dirty="0"/>
              <a:t>AV</a:t>
            </a:r>
            <a:r>
              <a:rPr lang="zh-CN" altLang="en-US" sz="1800" dirty="0"/>
              <a:t>的充放电过程，有下列等式：</a:t>
            </a:r>
          </a:p>
        </p:txBody>
      </p:sp>
      <p:graphicFrame>
        <p:nvGraphicFramePr>
          <p:cNvPr id="7" name="对象 6"/>
          <p:cNvGraphicFramePr>
            <a:graphicFrameLocks noChangeAspect="1"/>
          </p:cNvGraphicFramePr>
          <p:nvPr>
            <p:extLst>
              <p:ext uri="{D42A27DB-BD31-4B8C-83A1-F6EECF244321}">
                <p14:modId xmlns:p14="http://schemas.microsoft.com/office/powerpoint/2010/main" val="460195733"/>
              </p:ext>
            </p:extLst>
          </p:nvPr>
        </p:nvGraphicFramePr>
        <p:xfrm>
          <a:off x="4285934" y="1146030"/>
          <a:ext cx="2936875" cy="2081212"/>
        </p:xfrm>
        <a:graphic>
          <a:graphicData uri="http://schemas.openxmlformats.org/presentationml/2006/ole">
            <mc:AlternateContent xmlns:mc="http://schemas.openxmlformats.org/markup-compatibility/2006">
              <mc:Choice xmlns:v="urn:schemas-microsoft-com:vml" Requires="v">
                <p:oleObj spid="_x0000_s6207" name="Equation" r:id="rId3" imgW="1777680" imgH="1269720" progId="Equation.DSMT4">
                  <p:embed/>
                </p:oleObj>
              </mc:Choice>
              <mc:Fallback>
                <p:oleObj name="Equation" r:id="rId3" imgW="1777680" imgH="1269720" progId="Equation.DSMT4">
                  <p:embed/>
                  <p:pic>
                    <p:nvPicPr>
                      <p:cNvPr id="0" name="Object 1"/>
                      <p:cNvPicPr>
                        <a:picLocks noChangeAspect="1" noChangeArrowheads="1"/>
                      </p:cNvPicPr>
                      <p:nvPr/>
                    </p:nvPicPr>
                    <p:blipFill>
                      <a:blip r:embed="rId4"/>
                      <a:srcRect/>
                      <a:stretch>
                        <a:fillRect/>
                      </a:stretch>
                    </p:blipFill>
                    <p:spPr bwMode="auto">
                      <a:xfrm>
                        <a:off x="4285934" y="1146030"/>
                        <a:ext cx="2936875" cy="2081212"/>
                      </a:xfrm>
                      <a:prstGeom prst="rect">
                        <a:avLst/>
                      </a:prstGeom>
                      <a:noFill/>
                    </p:spPr>
                  </p:pic>
                </p:oleObj>
              </mc:Fallback>
            </mc:AlternateContent>
          </a:graphicData>
        </a:graphic>
      </p:graphicFrame>
      <p:sp>
        <p:nvSpPr>
          <p:cNvPr id="8" name="矩形 7"/>
          <p:cNvSpPr/>
          <p:nvPr/>
        </p:nvSpPr>
        <p:spPr>
          <a:xfrm>
            <a:off x="435428" y="3328486"/>
            <a:ext cx="11263085" cy="2585323"/>
          </a:xfrm>
          <a:prstGeom prst="rect">
            <a:avLst/>
          </a:prstGeom>
        </p:spPr>
        <p:txBody>
          <a:bodyPr wrap="square">
            <a:spAutoFit/>
          </a:bodyPr>
          <a:lstStyle/>
          <a:p>
            <a:pPr>
              <a:lnSpc>
                <a:spcPct val="150000"/>
              </a:lnSpc>
            </a:pPr>
            <a:r>
              <a:rPr lang="zh-CN" altLang="en-US" sz="1800" dirty="0"/>
              <a:t>其中</a:t>
            </a:r>
            <a:r>
              <a:rPr lang="en-US" altLang="zh-CN" sz="1800" dirty="0"/>
              <a:t>I</a:t>
            </a:r>
            <a:r>
              <a:rPr lang="en-US" altLang="zh-CN" sz="1800" baseline="-25000" dirty="0"/>
              <a:t>C</a:t>
            </a:r>
            <a:r>
              <a:rPr lang="zh-CN" altLang="en-US" sz="1800" dirty="0"/>
              <a:t>为</a:t>
            </a:r>
            <a:r>
              <a:rPr lang="en-US" altLang="zh-CN" sz="1800" dirty="0"/>
              <a:t>Q2</a:t>
            </a:r>
            <a:r>
              <a:rPr lang="zh-CN" altLang="en-US" sz="1800" dirty="0"/>
              <a:t>对电容</a:t>
            </a:r>
            <a:r>
              <a:rPr lang="en-US" altLang="zh-CN" sz="1800" dirty="0"/>
              <a:t>C</a:t>
            </a:r>
            <a:r>
              <a:rPr lang="en-US" altLang="zh-CN" sz="1800" baseline="-25000" dirty="0"/>
              <a:t>AV</a:t>
            </a:r>
            <a:r>
              <a:rPr lang="zh-CN" altLang="en-US" sz="1800" dirty="0"/>
              <a:t>的充电电流，</a:t>
            </a:r>
            <a:r>
              <a:rPr lang="en-US" altLang="zh-CN" sz="1800" dirty="0"/>
              <a:t>I</a:t>
            </a:r>
            <a:r>
              <a:rPr lang="en-US" altLang="zh-CN" sz="1800" baseline="-25000" dirty="0"/>
              <a:t>D</a:t>
            </a:r>
            <a:r>
              <a:rPr lang="zh-CN" altLang="en-US" sz="1800" dirty="0"/>
              <a:t>为</a:t>
            </a:r>
            <a:r>
              <a:rPr lang="en-US" altLang="zh-CN" sz="1800" dirty="0"/>
              <a:t>Q1</a:t>
            </a:r>
            <a:r>
              <a:rPr lang="zh-CN" altLang="en-US" sz="1800" dirty="0"/>
              <a:t>对电容</a:t>
            </a:r>
            <a:r>
              <a:rPr lang="en-US" altLang="zh-CN" sz="1800" dirty="0"/>
              <a:t>C</a:t>
            </a:r>
            <a:r>
              <a:rPr lang="en-US" altLang="zh-CN" sz="1800" baseline="-25000" dirty="0"/>
              <a:t>AV</a:t>
            </a:r>
            <a:r>
              <a:rPr lang="zh-CN" altLang="en-US" sz="1800" dirty="0"/>
              <a:t>的放电电流，</a:t>
            </a:r>
            <a:r>
              <a:rPr lang="en-US" altLang="zh-CN" sz="1800" dirty="0" err="1"/>
              <a:t>V</a:t>
            </a:r>
            <a:r>
              <a:rPr lang="en-US" altLang="zh-CN" sz="1800" baseline="-25000" dirty="0" err="1"/>
              <a:t>om</a:t>
            </a:r>
            <a:r>
              <a:rPr lang="zh-CN" altLang="zh-CN" sz="1800" dirty="0"/>
              <a:t>为输出电压峰值</a:t>
            </a:r>
            <a:r>
              <a:rPr lang="zh-CN" altLang="en-US" sz="1800" dirty="0"/>
              <a:t>，</a:t>
            </a:r>
            <a:r>
              <a:rPr lang="en-US" altLang="zh-CN" sz="1800" dirty="0"/>
              <a:t>V</a:t>
            </a:r>
            <a:r>
              <a:rPr lang="en-US" altLang="zh-CN" sz="1800" baseline="-25000" dirty="0"/>
              <a:t>BE</a:t>
            </a:r>
            <a:r>
              <a:rPr lang="zh-CN" altLang="zh-CN" sz="1800" dirty="0"/>
              <a:t>为</a:t>
            </a:r>
            <a:r>
              <a:rPr lang="zh-CN" altLang="en-US" sz="1800" dirty="0"/>
              <a:t>晶体管</a:t>
            </a:r>
            <a:r>
              <a:rPr lang="zh-CN" altLang="zh-CN" sz="1800" dirty="0"/>
              <a:t>发射结的</a:t>
            </a:r>
            <a:r>
              <a:rPr lang="zh-CN" altLang="en-US" sz="1800" dirty="0"/>
              <a:t>导通阈值，</a:t>
            </a:r>
            <a:r>
              <a:rPr lang="en-US" altLang="zh-CN" sz="1800" dirty="0"/>
              <a:t>V</a:t>
            </a:r>
            <a:r>
              <a:rPr lang="en-US" altLang="zh-CN" sz="1800" baseline="-25000" dirty="0"/>
              <a:t>B2</a:t>
            </a:r>
            <a:r>
              <a:rPr lang="zh-CN" altLang="zh-CN" sz="1800" dirty="0"/>
              <a:t>为</a:t>
            </a:r>
            <a:r>
              <a:rPr lang="zh-CN" altLang="en-US" sz="1800" dirty="0"/>
              <a:t>晶体管</a:t>
            </a:r>
            <a:r>
              <a:rPr lang="en-US" altLang="zh-CN" sz="1800" dirty="0"/>
              <a:t>Q2</a:t>
            </a:r>
            <a:r>
              <a:rPr lang="zh-CN" altLang="zh-CN" sz="1800" dirty="0"/>
              <a:t>的</a:t>
            </a:r>
            <a:r>
              <a:rPr lang="zh-CN" altLang="en-US" sz="1800" dirty="0"/>
              <a:t>基极电位。</a:t>
            </a:r>
            <a:endParaRPr lang="en-US" altLang="zh-CN" sz="1800" dirty="0"/>
          </a:p>
          <a:p>
            <a:pPr indent="457200">
              <a:lnSpc>
                <a:spcPct val="150000"/>
              </a:lnSpc>
            </a:pPr>
            <a:r>
              <a:rPr lang="zh-CN" altLang="en-US" sz="1800" dirty="0"/>
              <a:t>可以算得，当充放电平衡即</a:t>
            </a:r>
            <a:r>
              <a:rPr lang="en-US" altLang="zh-CN" sz="1800" dirty="0"/>
              <a:t>I</a:t>
            </a:r>
            <a:r>
              <a:rPr lang="en-US" altLang="zh-CN" sz="1800" baseline="-25000" dirty="0"/>
              <a:t>C</a:t>
            </a:r>
            <a:r>
              <a:rPr lang="en-US" altLang="zh-CN" sz="1800" dirty="0"/>
              <a:t>=I</a:t>
            </a:r>
            <a:r>
              <a:rPr lang="en-US" altLang="zh-CN" sz="1800" baseline="-25000" dirty="0"/>
              <a:t>D</a:t>
            </a:r>
            <a:r>
              <a:rPr lang="zh-CN" altLang="en-US" sz="1800" dirty="0"/>
              <a:t>时，</a:t>
            </a:r>
            <a:r>
              <a:rPr lang="zh-CN" altLang="zh-CN" sz="1800" dirty="0"/>
              <a:t>输出电压峰值</a:t>
            </a:r>
            <a:r>
              <a:rPr lang="en-US" altLang="zh-CN" sz="1800" dirty="0"/>
              <a:t>V</a:t>
            </a:r>
            <a:r>
              <a:rPr lang="en-US" altLang="zh-CN" sz="1800" baseline="-25000" dirty="0"/>
              <a:t>om</a:t>
            </a:r>
            <a:r>
              <a:rPr lang="en-US" altLang="zh-CN" sz="1800" dirty="0"/>
              <a:t>≈1.8V</a:t>
            </a:r>
            <a:r>
              <a:rPr lang="zh-CN" altLang="en-US" sz="1800" dirty="0"/>
              <a:t>，这就是在</a:t>
            </a:r>
            <a:r>
              <a:rPr lang="en-US" altLang="zh-CN" sz="1800" dirty="0"/>
              <a:t>AGC</a:t>
            </a:r>
            <a:r>
              <a:rPr lang="zh-CN" altLang="en-US" sz="1800" dirty="0"/>
              <a:t>起控范围内的输出电压。 实际测量，此电路</a:t>
            </a:r>
            <a:r>
              <a:rPr lang="zh-CN" altLang="zh-CN" sz="1800" dirty="0"/>
              <a:t>在整个起控范围内的输出电压峰值大约在</a:t>
            </a:r>
            <a:r>
              <a:rPr lang="en-US" altLang="zh-CN" sz="1800" dirty="0"/>
              <a:t>1.74V~1.82V</a:t>
            </a:r>
            <a:r>
              <a:rPr lang="zh-CN" altLang="zh-CN" sz="1800" dirty="0"/>
              <a:t>之间。</a:t>
            </a:r>
            <a:endParaRPr lang="en-US" altLang="zh-CN" sz="1800" dirty="0"/>
          </a:p>
          <a:p>
            <a:pPr indent="457200">
              <a:lnSpc>
                <a:spcPct val="150000"/>
              </a:lnSpc>
            </a:pPr>
            <a:r>
              <a:rPr lang="zh-CN" altLang="en-US" sz="1800" dirty="0"/>
              <a:t>很显然，这个</a:t>
            </a:r>
            <a:r>
              <a:rPr lang="en-US" altLang="zh-CN" sz="1800" dirty="0"/>
              <a:t>AGC</a:t>
            </a:r>
            <a:r>
              <a:rPr lang="zh-CN" altLang="en-US" sz="1800" dirty="0"/>
              <a:t>电路的</a:t>
            </a:r>
            <a:r>
              <a:rPr lang="zh-CN" altLang="zh-CN" sz="1800" dirty="0"/>
              <a:t>起控</a:t>
            </a:r>
            <a:r>
              <a:rPr lang="zh-CN" altLang="en-US" sz="1800" dirty="0"/>
              <a:t>电压、起控后的</a:t>
            </a:r>
            <a:r>
              <a:rPr lang="zh-CN" altLang="zh-CN" sz="1800" dirty="0"/>
              <a:t>输出电</a:t>
            </a:r>
            <a:r>
              <a:rPr lang="zh-CN" altLang="en-US" sz="1800" dirty="0"/>
              <a:t>压等参数与晶体管的发射结导通阈值有关，还与电阻</a:t>
            </a:r>
            <a:r>
              <a:rPr lang="en-US" altLang="zh-CN" sz="1800" dirty="0"/>
              <a:t>R8</a:t>
            </a:r>
            <a:r>
              <a:rPr lang="zh-CN" altLang="en-US" sz="1800" dirty="0"/>
              <a:t>与</a:t>
            </a:r>
            <a:r>
              <a:rPr lang="en-US" altLang="zh-CN" sz="1800" dirty="0"/>
              <a:t>R9</a:t>
            </a:r>
            <a:r>
              <a:rPr lang="zh-CN" altLang="en-US" sz="1800" dirty="0"/>
              <a:t>有关。实际电路调试中可以</a:t>
            </a:r>
            <a:r>
              <a:rPr lang="zh-CN" altLang="zh-CN" sz="1800" dirty="0"/>
              <a:t>通过调节</a:t>
            </a:r>
            <a:r>
              <a:rPr lang="en-US" altLang="zh-CN" sz="1800" dirty="0"/>
              <a:t>R8</a:t>
            </a:r>
            <a:r>
              <a:rPr lang="zh-CN" altLang="en-US" sz="1800" dirty="0"/>
              <a:t>与</a:t>
            </a:r>
            <a:r>
              <a:rPr lang="en-US" altLang="zh-CN" sz="1800" dirty="0"/>
              <a:t>R9</a:t>
            </a:r>
            <a:r>
              <a:rPr lang="zh-CN" altLang="zh-CN" sz="1800" dirty="0"/>
              <a:t>的值来调整</a:t>
            </a:r>
            <a:r>
              <a:rPr lang="en-US" altLang="zh-CN" sz="1800" dirty="0"/>
              <a:t>AGC</a:t>
            </a:r>
            <a:r>
              <a:rPr lang="zh-CN" altLang="zh-CN" sz="1800" dirty="0"/>
              <a:t>起控电平</a:t>
            </a:r>
            <a:r>
              <a:rPr lang="zh-CN" altLang="en-US" sz="1800" dirty="0"/>
              <a:t>与输出电压。</a:t>
            </a:r>
          </a:p>
        </p:txBody>
      </p:sp>
    </p:spTree>
    <p:extLst>
      <p:ext uri="{BB962C8B-B14F-4D97-AF65-F5344CB8AC3E}">
        <p14:creationId xmlns:p14="http://schemas.microsoft.com/office/powerpoint/2010/main" val="2365433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2036447" y="1429174"/>
            <a:ext cx="6147117" cy="3525520"/>
          </a:xfrm>
          <a:prstGeom prst="rect">
            <a:avLst/>
          </a:prstGeom>
        </p:spPr>
      </p:pic>
      <p:sp>
        <p:nvSpPr>
          <p:cNvPr id="6" name="矩形 5"/>
          <p:cNvSpPr/>
          <p:nvPr/>
        </p:nvSpPr>
        <p:spPr>
          <a:xfrm>
            <a:off x="624417" y="571045"/>
            <a:ext cx="5224507" cy="369332"/>
          </a:xfrm>
          <a:prstGeom prst="rect">
            <a:avLst/>
          </a:prstGeom>
        </p:spPr>
        <p:txBody>
          <a:bodyPr wrap="none">
            <a:spAutoFit/>
          </a:bodyPr>
          <a:lstStyle/>
          <a:p>
            <a:r>
              <a:rPr lang="en-US" altLang="zh-CN"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rPr>
              <a:t>2</a:t>
            </a:r>
            <a:r>
              <a:rPr lang="zh-CN" altLang="en-US"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rPr>
              <a:t>、</a:t>
            </a:r>
            <a:r>
              <a:rPr lang="zh-CN" altLang="zh-CN" sz="1800" kern="0" dirty="0" smtClean="0">
                <a:solidFill>
                  <a:srgbClr val="444444"/>
                </a:solidFill>
                <a:latin typeface="Arial" panose="020B0604020202020204" pitchFamily="34" charset="0"/>
                <a:ea typeface="黑体" panose="02010609060101010101" pitchFamily="49" charset="-122"/>
                <a:cs typeface="Tahoma" panose="020B0604030504040204" pitchFamily="34" charset="0"/>
              </a:rPr>
              <a:t>基于</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VGA</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芯片与集成检波芯片</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的</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AGC</a:t>
            </a:r>
            <a:r>
              <a:rPr lang="zh-CN"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电路</a:t>
            </a:r>
            <a:endParaRPr lang="zh-CN" altLang="en-US" sz="1800" dirty="0"/>
          </a:p>
        </p:txBody>
      </p:sp>
      <p:sp>
        <p:nvSpPr>
          <p:cNvPr id="7" name="椭圆 6"/>
          <p:cNvSpPr/>
          <p:nvPr/>
        </p:nvSpPr>
        <p:spPr>
          <a:xfrm>
            <a:off x="2282720" y="1429174"/>
            <a:ext cx="2865120" cy="345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870134" y="3020907"/>
            <a:ext cx="1842347" cy="212005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784533" y="1341121"/>
            <a:ext cx="2174240" cy="235711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282720" y="4954694"/>
            <a:ext cx="2428870" cy="812530"/>
          </a:xfrm>
          <a:prstGeom prst="rect">
            <a:avLst/>
          </a:prstGeom>
        </p:spPr>
        <p:txBody>
          <a:bodyPr wrap="none">
            <a:spAutoFit/>
          </a:bodyPr>
          <a:lstStyle/>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VGA</a:t>
            </a: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芯片</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AD8367</a:t>
            </a:r>
          </a:p>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构成可变增益放大器</a:t>
            </a:r>
            <a:endParaRPr lang="zh-CN" altLang="en-US" sz="1800" dirty="0"/>
          </a:p>
        </p:txBody>
      </p:sp>
      <p:sp>
        <p:nvSpPr>
          <p:cNvPr id="11" name="矩形 10"/>
          <p:cNvSpPr/>
          <p:nvPr/>
        </p:nvSpPr>
        <p:spPr>
          <a:xfrm>
            <a:off x="7934220" y="2113414"/>
            <a:ext cx="2403222" cy="812530"/>
          </a:xfrm>
          <a:prstGeom prst="rect">
            <a:avLst/>
          </a:prstGeom>
        </p:spPr>
        <p:txBody>
          <a:bodyPr wrap="none">
            <a:spAutoFit/>
          </a:bodyPr>
          <a:lstStyle/>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集成检波芯片</a:t>
            </a:r>
            <a:r>
              <a:rPr lang="en-US" altLang="zh-CN"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AD8361</a:t>
            </a:r>
          </a:p>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构成有效值检测电路</a:t>
            </a:r>
            <a:endParaRPr lang="zh-CN" altLang="en-US" sz="1800" dirty="0"/>
          </a:p>
        </p:txBody>
      </p:sp>
      <p:sp>
        <p:nvSpPr>
          <p:cNvPr id="12" name="矩形 11"/>
          <p:cNvSpPr/>
          <p:nvPr/>
        </p:nvSpPr>
        <p:spPr>
          <a:xfrm>
            <a:off x="5008988" y="5214065"/>
            <a:ext cx="2492990" cy="452432"/>
          </a:xfrm>
          <a:prstGeom prst="rect">
            <a:avLst/>
          </a:prstGeom>
        </p:spPr>
        <p:txBody>
          <a:bodyPr wrap="none">
            <a:spAutoFit/>
          </a:bodyPr>
          <a:lstStyle/>
          <a:p>
            <a:pPr>
              <a:lnSpc>
                <a:spcPct val="130000"/>
              </a:lnSpc>
            </a:pPr>
            <a:r>
              <a:rPr lang="zh-CN" altLang="en-US" sz="1800" kern="0" dirty="0">
                <a:solidFill>
                  <a:srgbClr val="444444"/>
                </a:solidFill>
                <a:latin typeface="Arial" panose="020B0604020202020204" pitchFamily="34" charset="0"/>
                <a:ea typeface="黑体" panose="02010609060101010101" pitchFamily="49" charset="-122"/>
                <a:cs typeface="Tahoma" panose="020B0604030504040204" pitchFamily="34" charset="0"/>
              </a:rPr>
              <a:t>通用运放构成的积分器</a:t>
            </a:r>
            <a:endParaRPr lang="zh-CN" altLang="en-US" sz="1800" dirty="0"/>
          </a:p>
        </p:txBody>
      </p:sp>
    </p:spTree>
    <p:extLst>
      <p:ext uri="{BB962C8B-B14F-4D97-AF65-F5344CB8AC3E}">
        <p14:creationId xmlns:p14="http://schemas.microsoft.com/office/powerpoint/2010/main" val="3179222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矩形 4"/>
          <p:cNvSpPr/>
          <p:nvPr/>
        </p:nvSpPr>
        <p:spPr>
          <a:xfrm>
            <a:off x="384628" y="583869"/>
            <a:ext cx="11277600" cy="5493812"/>
          </a:xfrm>
          <a:prstGeom prst="rect">
            <a:avLst/>
          </a:prstGeom>
        </p:spPr>
        <p:txBody>
          <a:bodyPr wrap="square">
            <a:spAutoFit/>
          </a:bodyPr>
          <a:lstStyle/>
          <a:p>
            <a:pPr indent="457200">
              <a:lnSpc>
                <a:spcPct val="150000"/>
              </a:lnSpc>
            </a:pPr>
            <a:r>
              <a:rPr lang="en-US" altLang="zh-CN" sz="1800" dirty="0"/>
              <a:t>AD8367</a:t>
            </a:r>
            <a:r>
              <a:rPr lang="zh-CN" altLang="zh-CN" sz="1800" dirty="0"/>
              <a:t>是一个压控增益放大器，</a:t>
            </a:r>
            <a:r>
              <a:rPr lang="zh-CN" altLang="en-US" sz="1800" dirty="0"/>
              <a:t>主要指标为：</a:t>
            </a:r>
            <a:endParaRPr lang="en-US" altLang="zh-CN" sz="1800" dirty="0"/>
          </a:p>
          <a:p>
            <a:pPr marL="720000" indent="-285750">
              <a:lnSpc>
                <a:spcPct val="150000"/>
              </a:lnSpc>
              <a:buFont typeface="Arial" panose="020B0604020202020204" pitchFamily="34" charset="0"/>
              <a:buChar char="•"/>
            </a:pPr>
            <a:r>
              <a:rPr lang="zh-CN" altLang="zh-CN" sz="1800" dirty="0" smtClean="0"/>
              <a:t>增益控制范围</a:t>
            </a:r>
            <a:r>
              <a:rPr lang="en-US" altLang="zh-CN" sz="1800" dirty="0" smtClean="0"/>
              <a:t> -</a:t>
            </a:r>
            <a:r>
              <a:rPr lang="en-US" altLang="zh-CN" sz="1800" dirty="0"/>
              <a:t>2.5dB~+</a:t>
            </a:r>
            <a:r>
              <a:rPr lang="en-US" altLang="zh-CN" sz="1800" dirty="0" smtClean="0"/>
              <a:t>42.5dB</a:t>
            </a:r>
          </a:p>
          <a:p>
            <a:pPr marL="720000" indent="-285750">
              <a:lnSpc>
                <a:spcPct val="150000"/>
              </a:lnSpc>
              <a:buFont typeface="Arial" panose="020B0604020202020204" pitchFamily="34" charset="0"/>
              <a:buChar char="•"/>
            </a:pPr>
            <a:r>
              <a:rPr lang="en-US" altLang="zh-CN" sz="1800" dirty="0" smtClean="0"/>
              <a:t>-</a:t>
            </a:r>
            <a:r>
              <a:rPr lang="en-US" altLang="zh-CN" sz="1800" dirty="0" smtClean="0"/>
              <a:t>3dB</a:t>
            </a:r>
            <a:r>
              <a:rPr lang="zh-CN" altLang="zh-CN" sz="1800" dirty="0" smtClean="0"/>
              <a:t>截止频率</a:t>
            </a:r>
            <a:r>
              <a:rPr lang="en-US" altLang="zh-CN" sz="1800" dirty="0" smtClean="0"/>
              <a:t> 500MHz</a:t>
            </a:r>
          </a:p>
          <a:p>
            <a:pPr marL="720000" indent="-285750">
              <a:lnSpc>
                <a:spcPct val="150000"/>
              </a:lnSpc>
              <a:buFont typeface="Arial" panose="020B0604020202020204" pitchFamily="34" charset="0"/>
              <a:buChar char="•"/>
            </a:pPr>
            <a:r>
              <a:rPr lang="zh-CN" altLang="en-US" sz="1800" dirty="0" smtClean="0"/>
              <a:t>输入阻抗 </a:t>
            </a:r>
            <a:r>
              <a:rPr lang="en-US" altLang="zh-CN" sz="1800" dirty="0" smtClean="0"/>
              <a:t>200</a:t>
            </a:r>
            <a:r>
              <a:rPr lang="el-GR" altLang="zh-CN" sz="1800" dirty="0" smtClean="0"/>
              <a:t>Ω</a:t>
            </a:r>
            <a:endParaRPr lang="en-US" altLang="zh-CN" sz="1800" dirty="0"/>
          </a:p>
          <a:p>
            <a:pPr marL="720000" indent="-285750">
              <a:lnSpc>
                <a:spcPct val="150000"/>
              </a:lnSpc>
              <a:buFont typeface="Arial" panose="020B0604020202020204" pitchFamily="34" charset="0"/>
              <a:buChar char="•"/>
            </a:pPr>
            <a:r>
              <a:rPr lang="zh-CN" altLang="en-US" sz="1800" dirty="0" smtClean="0"/>
              <a:t>电源电压 </a:t>
            </a:r>
            <a:r>
              <a:rPr lang="en-US" altLang="zh-CN" sz="1800" dirty="0" smtClean="0"/>
              <a:t>+</a:t>
            </a:r>
            <a:r>
              <a:rPr lang="en-US" altLang="zh-CN" sz="1800" dirty="0" smtClean="0"/>
              <a:t>5V</a:t>
            </a:r>
          </a:p>
          <a:p>
            <a:pPr marL="720000" indent="-285750">
              <a:lnSpc>
                <a:spcPct val="150000"/>
              </a:lnSpc>
              <a:buFont typeface="Arial" panose="020B0604020202020204" pitchFamily="34" charset="0"/>
              <a:buChar char="•"/>
            </a:pPr>
            <a:r>
              <a:rPr lang="zh-CN" altLang="zh-CN" sz="1800" dirty="0"/>
              <a:t>有效控制电压范围大约为</a:t>
            </a:r>
            <a:r>
              <a:rPr lang="en-US" altLang="zh-CN" sz="1800" dirty="0"/>
              <a:t>0~1V</a:t>
            </a:r>
            <a:r>
              <a:rPr lang="zh-CN" altLang="en-US" sz="1800" dirty="0"/>
              <a:t>，</a:t>
            </a:r>
            <a:r>
              <a:rPr lang="zh-CN" altLang="zh-CN" sz="1800" dirty="0"/>
              <a:t>按</a:t>
            </a:r>
            <a:r>
              <a:rPr lang="en-US" altLang="zh-CN" sz="1800" dirty="0"/>
              <a:t>dB</a:t>
            </a:r>
            <a:r>
              <a:rPr lang="zh-CN" altLang="zh-CN" sz="1800" dirty="0"/>
              <a:t>计算的增益与控制电压成正比</a:t>
            </a:r>
            <a:r>
              <a:rPr lang="zh-CN" altLang="en-US" sz="1800" dirty="0"/>
              <a:t>，</a:t>
            </a:r>
            <a:r>
              <a:rPr lang="zh-CN" altLang="zh-CN" sz="1800" dirty="0"/>
              <a:t>可通过引脚</a:t>
            </a:r>
            <a:r>
              <a:rPr lang="en-US" altLang="zh-CN" sz="1800" dirty="0"/>
              <a:t> MODE </a:t>
            </a:r>
            <a:r>
              <a:rPr lang="zh-CN" altLang="zh-CN" sz="1800" dirty="0"/>
              <a:t>配置成增益随控制电压升高而升高（正向模式</a:t>
            </a:r>
            <a:r>
              <a:rPr lang="zh-CN" altLang="en-US" sz="1800" dirty="0"/>
              <a:t>，</a:t>
            </a:r>
            <a:r>
              <a:rPr lang="en-US" altLang="zh-CN" sz="1800" dirty="0"/>
              <a:t>MODE=VPP</a:t>
            </a:r>
            <a:r>
              <a:rPr lang="zh-CN" altLang="zh-CN" sz="1800" dirty="0"/>
              <a:t>）或随控制电压升高而降低（负向模式</a:t>
            </a:r>
            <a:r>
              <a:rPr lang="zh-CN" altLang="en-US" sz="1800" dirty="0"/>
              <a:t>，</a:t>
            </a:r>
            <a:r>
              <a:rPr lang="en-US" altLang="zh-CN" sz="1800" dirty="0"/>
              <a:t>MODE=0</a:t>
            </a:r>
            <a:r>
              <a:rPr lang="zh-CN" altLang="zh-CN" sz="1800" dirty="0"/>
              <a:t>）</a:t>
            </a:r>
            <a:endParaRPr lang="zh-CN" altLang="en-US" sz="1800" dirty="0"/>
          </a:p>
          <a:p>
            <a:pPr indent="457200">
              <a:lnSpc>
                <a:spcPct val="150000"/>
              </a:lnSpc>
            </a:pPr>
            <a:endParaRPr lang="en-US" altLang="zh-CN" sz="1800" dirty="0" smtClean="0"/>
          </a:p>
          <a:p>
            <a:pPr indent="457200">
              <a:lnSpc>
                <a:spcPct val="150000"/>
              </a:lnSpc>
            </a:pPr>
            <a:r>
              <a:rPr lang="en-US" altLang="zh-CN" sz="1800" dirty="0" smtClean="0"/>
              <a:t>AD8361</a:t>
            </a:r>
            <a:r>
              <a:rPr lang="zh-CN" altLang="zh-CN" sz="1800" dirty="0"/>
              <a:t>是一</a:t>
            </a:r>
            <a:r>
              <a:rPr lang="zh-CN" altLang="zh-CN" sz="1800" dirty="0" smtClean="0"/>
              <a:t>个</a:t>
            </a:r>
            <a:r>
              <a:rPr lang="zh-CN" altLang="zh-CN" sz="1800" dirty="0"/>
              <a:t>有效值检波器，</a:t>
            </a:r>
            <a:r>
              <a:rPr lang="zh-CN" altLang="en-US" sz="1800" dirty="0"/>
              <a:t>主要指标为</a:t>
            </a:r>
            <a:r>
              <a:rPr lang="zh-CN" altLang="en-US" sz="1800" dirty="0" smtClean="0"/>
              <a:t>：</a:t>
            </a:r>
            <a:endParaRPr lang="en-US" altLang="zh-CN" sz="1800" dirty="0" smtClean="0"/>
          </a:p>
          <a:p>
            <a:pPr marL="720000" indent="-285750">
              <a:lnSpc>
                <a:spcPct val="150000"/>
              </a:lnSpc>
              <a:buFont typeface="Arial" panose="020B0604020202020204" pitchFamily="34" charset="0"/>
              <a:buChar char="•"/>
            </a:pPr>
            <a:r>
              <a:rPr lang="zh-CN" altLang="en-US" sz="1800" dirty="0" smtClean="0"/>
              <a:t>输入</a:t>
            </a:r>
            <a:r>
              <a:rPr lang="zh-CN" altLang="zh-CN" sz="1800" dirty="0"/>
              <a:t>频响</a:t>
            </a:r>
            <a:r>
              <a:rPr lang="en-US" altLang="zh-CN" sz="1800" dirty="0"/>
              <a:t>  2.5GHz</a:t>
            </a:r>
          </a:p>
          <a:p>
            <a:pPr marL="720000" indent="-285750">
              <a:lnSpc>
                <a:spcPct val="150000"/>
              </a:lnSpc>
              <a:buFont typeface="Arial" panose="020B0604020202020204" pitchFamily="34" charset="0"/>
              <a:buChar char="•"/>
            </a:pPr>
            <a:r>
              <a:rPr lang="zh-CN" altLang="en-US" sz="1800" dirty="0" smtClean="0"/>
              <a:t>输入阻抗 </a:t>
            </a:r>
            <a:r>
              <a:rPr lang="en-US" altLang="zh-CN" sz="1800" dirty="0" smtClean="0"/>
              <a:t> </a:t>
            </a:r>
            <a:r>
              <a:rPr lang="en-US" altLang="zh-CN" sz="1800" dirty="0"/>
              <a:t>225</a:t>
            </a:r>
            <a:r>
              <a:rPr lang="el-GR" altLang="zh-CN" sz="1800" dirty="0"/>
              <a:t>Ω</a:t>
            </a:r>
            <a:r>
              <a:rPr lang="en-US" altLang="zh-CN" sz="1800" dirty="0"/>
              <a:t>||1pF</a:t>
            </a:r>
          </a:p>
          <a:p>
            <a:pPr marL="720000" indent="-285750">
              <a:lnSpc>
                <a:spcPct val="150000"/>
              </a:lnSpc>
              <a:buFont typeface="Arial" panose="020B0604020202020204" pitchFamily="34" charset="0"/>
              <a:buChar char="•"/>
            </a:pPr>
            <a:r>
              <a:rPr lang="zh-CN" altLang="zh-CN" sz="1800" dirty="0" smtClean="0"/>
              <a:t>输出</a:t>
            </a:r>
            <a:r>
              <a:rPr lang="zh-CN" altLang="zh-CN" sz="1800" dirty="0"/>
              <a:t>是一个直流电压，与输入电压有效值的关系为线性函数</a:t>
            </a:r>
            <a:r>
              <a:rPr lang="zh-CN" altLang="en-US" sz="1800" dirty="0"/>
              <a:t>，增益为</a:t>
            </a:r>
            <a:r>
              <a:rPr lang="en-US" altLang="zh-CN" sz="1800" dirty="0"/>
              <a:t>7.5V/V</a:t>
            </a:r>
          </a:p>
          <a:p>
            <a:pPr marL="720000" indent="-285750">
              <a:lnSpc>
                <a:spcPct val="150000"/>
              </a:lnSpc>
              <a:buFont typeface="Arial" panose="020B0604020202020204" pitchFamily="34" charset="0"/>
              <a:buChar char="•"/>
            </a:pPr>
            <a:r>
              <a:rPr lang="zh-CN" altLang="en-US" sz="1800" dirty="0" smtClean="0"/>
              <a:t>电源电压 </a:t>
            </a:r>
            <a:r>
              <a:rPr lang="en-US" altLang="zh-CN" sz="1800" dirty="0" smtClean="0"/>
              <a:t>+</a:t>
            </a:r>
            <a:r>
              <a:rPr lang="en-US" altLang="zh-CN" sz="1800" dirty="0"/>
              <a:t>2.7V~+5.5V</a:t>
            </a:r>
          </a:p>
        </p:txBody>
      </p:sp>
    </p:spTree>
    <p:extLst>
      <p:ext uri="{BB962C8B-B14F-4D97-AF65-F5344CB8AC3E}">
        <p14:creationId xmlns:p14="http://schemas.microsoft.com/office/powerpoint/2010/main" val="3166742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矩形 4"/>
          <p:cNvSpPr/>
          <p:nvPr/>
        </p:nvSpPr>
        <p:spPr>
          <a:xfrm>
            <a:off x="399142" y="504040"/>
            <a:ext cx="11277600" cy="2585323"/>
          </a:xfrm>
          <a:prstGeom prst="rect">
            <a:avLst/>
          </a:prstGeom>
        </p:spPr>
        <p:txBody>
          <a:bodyPr wrap="square">
            <a:spAutoFit/>
          </a:bodyPr>
          <a:lstStyle/>
          <a:p>
            <a:pPr indent="457200">
              <a:lnSpc>
                <a:spcPct val="150000"/>
              </a:lnSpc>
            </a:pPr>
            <a:r>
              <a:rPr lang="en-US" altLang="zh-CN" sz="1800" dirty="0" smtClean="0"/>
              <a:t>AGC</a:t>
            </a:r>
            <a:r>
              <a:rPr lang="zh-CN" altLang="en-US" sz="1800" dirty="0" smtClean="0"/>
              <a:t>控制过程：</a:t>
            </a:r>
            <a:endParaRPr lang="en-US" altLang="zh-CN" sz="1800" dirty="0" smtClean="0"/>
          </a:p>
          <a:p>
            <a:pPr indent="457200">
              <a:lnSpc>
                <a:spcPct val="150000"/>
              </a:lnSpc>
            </a:pPr>
            <a:r>
              <a:rPr lang="en-US" altLang="zh-CN" sz="1800" i="1" dirty="0" err="1" smtClean="0"/>
              <a:t>V</a:t>
            </a:r>
            <a:r>
              <a:rPr lang="en-US" altLang="zh-CN" sz="1800" baseline="-25000" dirty="0" err="1" smtClean="0"/>
              <a:t>rms</a:t>
            </a:r>
            <a:r>
              <a:rPr lang="zh-CN" altLang="zh-CN" sz="1800" dirty="0"/>
              <a:t>送入运放</a:t>
            </a:r>
            <a:r>
              <a:rPr lang="en-US" altLang="zh-CN" sz="1800" dirty="0"/>
              <a:t>AD820</a:t>
            </a:r>
            <a:r>
              <a:rPr lang="zh-CN" altLang="zh-CN" sz="1800" dirty="0"/>
              <a:t>构成的比较</a:t>
            </a:r>
            <a:r>
              <a:rPr lang="en-US" altLang="zh-CN" sz="1800" dirty="0"/>
              <a:t>-</a:t>
            </a:r>
            <a:r>
              <a:rPr lang="zh-CN" altLang="zh-CN" sz="1800" dirty="0"/>
              <a:t>积分器。当</a:t>
            </a:r>
            <a:r>
              <a:rPr lang="en-US" altLang="zh-CN" sz="1800" i="1" dirty="0" err="1"/>
              <a:t>V</a:t>
            </a:r>
            <a:r>
              <a:rPr lang="en-US" altLang="zh-CN" sz="1800" baseline="-25000" dirty="0" err="1"/>
              <a:t>rms</a:t>
            </a:r>
            <a:r>
              <a:rPr lang="zh-CN" altLang="zh-CN" sz="1800" dirty="0"/>
              <a:t>低于</a:t>
            </a:r>
            <a:r>
              <a:rPr lang="en-US" altLang="zh-CN" sz="1800" i="1" dirty="0"/>
              <a:t>V</a:t>
            </a:r>
            <a:r>
              <a:rPr lang="en-US" altLang="zh-CN" sz="1800" i="1" baseline="-25000" dirty="0"/>
              <a:t>SET</a:t>
            </a:r>
            <a:r>
              <a:rPr lang="zh-CN" altLang="en-US" sz="1800" dirty="0"/>
              <a:t>（</a:t>
            </a:r>
            <a:r>
              <a:rPr lang="en-US" altLang="zh-CN" sz="1800" dirty="0"/>
              <a:t>U3</a:t>
            </a:r>
            <a:r>
              <a:rPr lang="zh-CN" altLang="en-US" sz="1800" dirty="0"/>
              <a:t>同相输入端）</a:t>
            </a:r>
            <a:r>
              <a:rPr lang="zh-CN" altLang="zh-CN" sz="1800" dirty="0"/>
              <a:t>时，流过积分电容</a:t>
            </a:r>
            <a:r>
              <a:rPr lang="en-US" altLang="zh-CN" sz="1800" i="1" dirty="0"/>
              <a:t>C</a:t>
            </a:r>
            <a:r>
              <a:rPr lang="en-US" altLang="zh-CN" sz="1800" baseline="-25000" dirty="0"/>
              <a:t>1</a:t>
            </a:r>
            <a:r>
              <a:rPr lang="zh-CN" altLang="zh-CN" sz="1800" dirty="0"/>
              <a:t>的电流方向自左向右，积分器的输出电压</a:t>
            </a:r>
            <a:r>
              <a:rPr lang="en-US" altLang="zh-CN" sz="1800" i="1" dirty="0"/>
              <a:t>V</a:t>
            </a:r>
            <a:r>
              <a:rPr lang="en-US" altLang="zh-CN" sz="1800" i="1" baseline="-25000" dirty="0"/>
              <a:t>AGC</a:t>
            </a:r>
            <a:r>
              <a:rPr lang="zh-CN" altLang="zh-CN" sz="1800" dirty="0"/>
              <a:t>逐渐升高，压控增益放大器的增益也逐步加大。若</a:t>
            </a:r>
            <a:r>
              <a:rPr lang="en-US" altLang="zh-CN" sz="1800" i="1" dirty="0" err="1"/>
              <a:t>V</a:t>
            </a:r>
            <a:r>
              <a:rPr lang="en-US" altLang="zh-CN" sz="1800" baseline="-25000" dirty="0" err="1"/>
              <a:t>rms</a:t>
            </a:r>
            <a:r>
              <a:rPr lang="zh-CN" altLang="zh-CN" sz="1800" dirty="0"/>
              <a:t>高于</a:t>
            </a:r>
            <a:r>
              <a:rPr lang="en-US" altLang="zh-CN" sz="1800" i="1" dirty="0"/>
              <a:t>V</a:t>
            </a:r>
            <a:r>
              <a:rPr lang="en-US" altLang="zh-CN" sz="1800" i="1" baseline="-25000" dirty="0"/>
              <a:t>SET</a:t>
            </a:r>
            <a:r>
              <a:rPr lang="zh-CN" altLang="zh-CN" sz="1800" dirty="0"/>
              <a:t>时，流过积分电容的电流方向自右向左，积分器的输出电压</a:t>
            </a:r>
            <a:r>
              <a:rPr lang="en-US" altLang="zh-CN" sz="1800" i="1" dirty="0"/>
              <a:t>V</a:t>
            </a:r>
            <a:r>
              <a:rPr lang="en-US" altLang="zh-CN" sz="1800" i="1" baseline="-25000" dirty="0"/>
              <a:t>AGC</a:t>
            </a:r>
            <a:r>
              <a:rPr lang="zh-CN" altLang="zh-CN" sz="1800" dirty="0"/>
              <a:t>逐渐下降，压控增益放大器的增益也逐步减小。在</a:t>
            </a:r>
            <a:r>
              <a:rPr lang="en-US" altLang="zh-CN" sz="1800" dirty="0"/>
              <a:t>AGC</a:t>
            </a:r>
            <a:r>
              <a:rPr lang="zh-CN" altLang="zh-CN" sz="1800" dirty="0"/>
              <a:t>起控范围内，输出电压基本保持不变，</a:t>
            </a:r>
            <a:r>
              <a:rPr lang="en-US" altLang="zh-CN" sz="1800" i="1" dirty="0" err="1"/>
              <a:t>V</a:t>
            </a:r>
            <a:r>
              <a:rPr lang="en-US" altLang="zh-CN" sz="1800" baseline="-25000" dirty="0" err="1"/>
              <a:t>rms</a:t>
            </a:r>
            <a:r>
              <a:rPr lang="en-US" altLang="zh-CN" sz="1800" dirty="0" err="1"/>
              <a:t>≈</a:t>
            </a:r>
            <a:r>
              <a:rPr lang="en-US" altLang="zh-CN" sz="1800" i="1" dirty="0" err="1"/>
              <a:t>V</a:t>
            </a:r>
            <a:r>
              <a:rPr lang="en-US" altLang="zh-CN" sz="1800" i="1" baseline="-25000" dirty="0" err="1"/>
              <a:t>SET</a:t>
            </a:r>
            <a:r>
              <a:rPr lang="zh-CN" altLang="zh-CN" sz="1800" dirty="0"/>
              <a:t>。</a:t>
            </a:r>
            <a:endParaRPr lang="en-US" altLang="zh-CN" sz="1800" dirty="0"/>
          </a:p>
          <a:p>
            <a:pPr indent="457200">
              <a:lnSpc>
                <a:spcPct val="150000"/>
              </a:lnSpc>
            </a:pPr>
            <a:r>
              <a:rPr lang="zh-CN" altLang="en-US" sz="1800" dirty="0"/>
              <a:t>这个</a:t>
            </a:r>
            <a:r>
              <a:rPr lang="en-US" altLang="zh-CN" sz="1800" dirty="0"/>
              <a:t>AGC</a:t>
            </a:r>
            <a:r>
              <a:rPr lang="zh-CN" altLang="en-US" sz="1800" dirty="0"/>
              <a:t>电路的</a:t>
            </a:r>
            <a:r>
              <a:rPr lang="zh-CN" altLang="zh-CN" sz="1800" dirty="0"/>
              <a:t>起控</a:t>
            </a:r>
            <a:r>
              <a:rPr lang="zh-CN" altLang="en-US" sz="1800" dirty="0"/>
              <a:t>电压、起控后的</a:t>
            </a:r>
            <a:r>
              <a:rPr lang="zh-CN" altLang="zh-CN" sz="1800" dirty="0"/>
              <a:t>输出电</a:t>
            </a:r>
            <a:r>
              <a:rPr lang="zh-CN" altLang="en-US" sz="1800" dirty="0"/>
              <a:t>压等参数取决于</a:t>
            </a:r>
            <a:r>
              <a:rPr lang="en-US" altLang="zh-CN" sz="1800" i="1" dirty="0"/>
              <a:t>V</a:t>
            </a:r>
            <a:r>
              <a:rPr lang="en-US" altLang="zh-CN" sz="1800" i="1" baseline="-25000" dirty="0"/>
              <a:t>SET</a:t>
            </a:r>
            <a:r>
              <a:rPr lang="zh-CN" altLang="zh-CN" sz="1800" dirty="0"/>
              <a:t>。</a:t>
            </a:r>
            <a:endParaRPr lang="zh-CN" altLang="en-US" sz="1800" dirty="0"/>
          </a:p>
        </p:txBody>
      </p:sp>
    </p:spTree>
    <p:extLst>
      <p:ext uri="{BB962C8B-B14F-4D97-AF65-F5344CB8AC3E}">
        <p14:creationId xmlns:p14="http://schemas.microsoft.com/office/powerpoint/2010/main" val="697426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sp>
        <p:nvSpPr>
          <p:cNvPr id="5" name="矩形 4"/>
          <p:cNvSpPr/>
          <p:nvPr/>
        </p:nvSpPr>
        <p:spPr>
          <a:xfrm>
            <a:off x="449943" y="532700"/>
            <a:ext cx="11306628" cy="3453253"/>
          </a:xfrm>
          <a:prstGeom prst="rect">
            <a:avLst/>
          </a:prstGeom>
        </p:spPr>
        <p:txBody>
          <a:bodyPr wrap="square">
            <a:spAutoFit/>
          </a:bodyPr>
          <a:lstStyle/>
          <a:p>
            <a:pPr indent="266700" algn="just">
              <a:lnSpc>
                <a:spcPct val="120000"/>
              </a:lnSpc>
              <a:spcAft>
                <a:spcPts val="0"/>
              </a:spcAft>
            </a:pPr>
            <a:r>
              <a:rPr lang="zh-CN" altLang="en-US" dirty="0">
                <a:solidFill>
                  <a:srgbClr val="FF0000"/>
                </a:solidFill>
              </a:rPr>
              <a:t>本题目中</a:t>
            </a:r>
            <a:r>
              <a:rPr lang="en-US" altLang="zh-CN" dirty="0">
                <a:solidFill>
                  <a:srgbClr val="FF0000"/>
                </a:solidFill>
              </a:rPr>
              <a:t>AGC</a:t>
            </a:r>
            <a:r>
              <a:rPr lang="zh-CN" altLang="zh-CN" dirty="0" smtClean="0">
                <a:solidFill>
                  <a:srgbClr val="FF0000"/>
                </a:solidFill>
              </a:rPr>
              <a:t>放大器</a:t>
            </a:r>
            <a:endParaRPr lang="en-US" altLang="zh-CN" sz="1800" dirty="0"/>
          </a:p>
          <a:p>
            <a:pPr marL="742950" lvl="1" indent="-285750" algn="just">
              <a:lnSpc>
                <a:spcPct val="120000"/>
              </a:lnSpc>
              <a:spcAft>
                <a:spcPts val="0"/>
              </a:spcAft>
              <a:buFont typeface="Arial" panose="020B0604020202020204" pitchFamily="34" charset="0"/>
              <a:buChar char="•"/>
            </a:pPr>
            <a:r>
              <a:rPr lang="zh-CN" altLang="zh-CN" sz="1800" dirty="0" smtClean="0"/>
              <a:t>增益控制</a:t>
            </a:r>
            <a:r>
              <a:rPr lang="zh-CN" altLang="zh-CN" sz="1800" dirty="0"/>
              <a:t>范围必须大于</a:t>
            </a:r>
            <a:r>
              <a:rPr lang="en-US" altLang="zh-CN" sz="1800" dirty="0" smtClean="0"/>
              <a:t>20dB</a:t>
            </a:r>
            <a:endParaRPr lang="zh-CN" altLang="zh-CN" sz="1800" dirty="0"/>
          </a:p>
          <a:p>
            <a:pPr marL="742950" lvl="1" indent="-285750" algn="just">
              <a:lnSpc>
                <a:spcPct val="120000"/>
              </a:lnSpc>
              <a:spcAft>
                <a:spcPts val="0"/>
              </a:spcAft>
              <a:buFont typeface="Arial" panose="020B0604020202020204" pitchFamily="34" charset="0"/>
              <a:buChar char="•"/>
            </a:pPr>
            <a:r>
              <a:rPr lang="zh-CN" altLang="zh-CN" sz="1800" dirty="0" smtClean="0"/>
              <a:t>放大器</a:t>
            </a:r>
            <a:r>
              <a:rPr lang="zh-CN" altLang="zh-CN" sz="1800" dirty="0"/>
              <a:t>的最大增益不小于</a:t>
            </a:r>
            <a:r>
              <a:rPr lang="en-US" altLang="zh-CN" sz="1800" dirty="0"/>
              <a:t>46dB</a:t>
            </a:r>
            <a:r>
              <a:rPr lang="zh-CN" altLang="zh-CN" sz="1800" dirty="0"/>
              <a:t>（</a:t>
            </a:r>
            <a:r>
              <a:rPr lang="en-US" altLang="zh-CN" sz="1800" dirty="0" smtClean="0"/>
              <a:t>200</a:t>
            </a:r>
            <a:r>
              <a:rPr lang="zh-CN" altLang="en-US" sz="1800" dirty="0" smtClean="0"/>
              <a:t>倍</a:t>
            </a:r>
            <a:r>
              <a:rPr lang="zh-CN" altLang="zh-CN" sz="1800" dirty="0" smtClean="0"/>
              <a:t>）</a:t>
            </a:r>
            <a:endParaRPr lang="zh-CN" altLang="zh-CN" sz="1800" dirty="0"/>
          </a:p>
          <a:p>
            <a:pPr marL="742950" lvl="1" indent="-285750" algn="just">
              <a:lnSpc>
                <a:spcPct val="120000"/>
              </a:lnSpc>
              <a:spcAft>
                <a:spcPts val="0"/>
              </a:spcAft>
              <a:buFont typeface="Arial" panose="020B0604020202020204" pitchFamily="34" charset="0"/>
              <a:buChar char="•"/>
            </a:pPr>
            <a:r>
              <a:rPr lang="zh-CN" altLang="zh-CN" sz="1800" dirty="0"/>
              <a:t>频响大于</a:t>
            </a:r>
            <a:r>
              <a:rPr lang="en-US" altLang="zh-CN" sz="1800" dirty="0"/>
              <a:t>100Hz~20kHz</a:t>
            </a:r>
            <a:endParaRPr lang="zh-CN" altLang="zh-CN" sz="1800" dirty="0"/>
          </a:p>
          <a:p>
            <a:pPr marL="742950" lvl="1" indent="-285750" algn="just">
              <a:lnSpc>
                <a:spcPct val="120000"/>
              </a:lnSpc>
              <a:spcAft>
                <a:spcPts val="0"/>
              </a:spcAft>
              <a:buFont typeface="Arial" panose="020B0604020202020204" pitchFamily="34" charset="0"/>
              <a:buChar char="•"/>
            </a:pPr>
            <a:r>
              <a:rPr lang="zh-CN" altLang="zh-CN" sz="1800" dirty="0" smtClean="0"/>
              <a:t>放大器</a:t>
            </a:r>
            <a:r>
              <a:rPr lang="zh-CN" altLang="zh-CN" sz="1800" dirty="0"/>
              <a:t>的输出电压不小于</a:t>
            </a:r>
            <a:r>
              <a:rPr lang="en-US" altLang="zh-CN" sz="1800" dirty="0"/>
              <a:t>2Vrms</a:t>
            </a:r>
            <a:r>
              <a:rPr lang="zh-CN" altLang="zh-CN" sz="1800" dirty="0"/>
              <a:t>，即峰值</a:t>
            </a:r>
            <a:r>
              <a:rPr lang="en-US" altLang="zh-CN" sz="1800" dirty="0" smtClean="0"/>
              <a:t>2.83V</a:t>
            </a:r>
            <a:endParaRPr lang="zh-CN" altLang="zh-CN" sz="1800" dirty="0"/>
          </a:p>
          <a:p>
            <a:pPr marL="742950" lvl="1" indent="-285750" algn="just">
              <a:lnSpc>
                <a:spcPct val="120000"/>
              </a:lnSpc>
              <a:spcAft>
                <a:spcPts val="0"/>
              </a:spcAft>
              <a:buFont typeface="Arial" panose="020B0604020202020204" pitchFamily="34" charset="0"/>
              <a:buChar char="•"/>
            </a:pPr>
            <a:r>
              <a:rPr lang="zh-CN" altLang="zh-CN" sz="1800" dirty="0" smtClean="0"/>
              <a:t>输入阻抗</a:t>
            </a:r>
            <a:r>
              <a:rPr lang="zh-CN" altLang="zh-CN" sz="1800" dirty="0"/>
              <a:t>大于</a:t>
            </a:r>
            <a:r>
              <a:rPr lang="en-US" altLang="zh-CN" sz="1800" dirty="0" smtClean="0"/>
              <a:t>10kΩ</a:t>
            </a:r>
            <a:endParaRPr lang="zh-CN" altLang="zh-CN" sz="1800" dirty="0"/>
          </a:p>
          <a:p>
            <a:pPr indent="266700" algn="just">
              <a:lnSpc>
                <a:spcPct val="120000"/>
              </a:lnSpc>
              <a:spcAft>
                <a:spcPts val="0"/>
              </a:spcAft>
            </a:pPr>
            <a:endParaRPr lang="en-US" altLang="zh-CN" sz="1800" dirty="0"/>
          </a:p>
          <a:p>
            <a:pPr indent="266700" algn="just">
              <a:lnSpc>
                <a:spcPct val="120000"/>
              </a:lnSpc>
              <a:spcAft>
                <a:spcPts val="0"/>
              </a:spcAft>
            </a:pPr>
            <a:r>
              <a:rPr lang="zh-CN" altLang="en-US" sz="1800" dirty="0" smtClean="0"/>
              <a:t>下表列出笔者</a:t>
            </a:r>
            <a:r>
              <a:rPr lang="zh-CN" altLang="en-US" sz="1800" dirty="0"/>
              <a:t>使用过的</a:t>
            </a:r>
            <a:r>
              <a:rPr lang="zh-CN" altLang="en-US" sz="1800" dirty="0" smtClean="0"/>
              <a:t>芯片的主要参数，红色</a:t>
            </a:r>
            <a:r>
              <a:rPr lang="zh-CN" altLang="en-US" sz="1800" dirty="0" smtClean="0"/>
              <a:t>的参数不</a:t>
            </a:r>
            <a:r>
              <a:rPr lang="zh-CN" altLang="en-US" sz="1800" dirty="0" smtClean="0"/>
              <a:t>符合本题要求</a:t>
            </a:r>
            <a:endParaRPr lang="en-US" altLang="zh-CN" sz="1800" dirty="0" smtClean="0"/>
          </a:p>
          <a:p>
            <a:pPr indent="266700" algn="just">
              <a:lnSpc>
                <a:spcPct val="120000"/>
              </a:lnSpc>
              <a:spcAft>
                <a:spcPts val="0"/>
              </a:spcAft>
            </a:pPr>
            <a:r>
              <a:rPr lang="zh-CN" altLang="zh-CN" sz="1800" dirty="0" smtClean="0"/>
              <a:t>有些</a:t>
            </a:r>
            <a:r>
              <a:rPr lang="zh-CN" altLang="en-US" sz="1800" dirty="0" smtClean="0"/>
              <a:t>不足</a:t>
            </a:r>
            <a:r>
              <a:rPr lang="zh-CN" altLang="zh-CN" sz="1800" dirty="0" smtClean="0"/>
              <a:t>是</a:t>
            </a:r>
            <a:r>
              <a:rPr lang="zh-CN" altLang="zh-CN" sz="1800" dirty="0"/>
              <a:t>可以弥补的。例如</a:t>
            </a:r>
            <a:r>
              <a:rPr lang="zh-CN" altLang="zh-CN" sz="1800" dirty="0" smtClean="0"/>
              <a:t>，</a:t>
            </a:r>
            <a:r>
              <a:rPr lang="zh-CN" altLang="en-US" sz="1800" dirty="0" smtClean="0"/>
              <a:t>最大增益</a:t>
            </a:r>
            <a:r>
              <a:rPr lang="zh-CN" altLang="zh-CN" sz="1800" dirty="0" smtClean="0"/>
              <a:t>不够</a:t>
            </a:r>
            <a:r>
              <a:rPr lang="zh-CN" altLang="zh-CN" sz="1800" dirty="0"/>
              <a:t>可以用增加的运放弥补，输入阻抗不够可以在前面插入高输入阻抗的缓冲器来弥补，</a:t>
            </a:r>
            <a:r>
              <a:rPr lang="zh-CN" altLang="zh-CN" sz="1800" dirty="0" smtClean="0"/>
              <a:t>等等</a:t>
            </a:r>
            <a:endParaRPr lang="zh-CN" altLang="en-US" sz="1800" dirty="0"/>
          </a:p>
        </p:txBody>
      </p:sp>
      <p:graphicFrame>
        <p:nvGraphicFramePr>
          <p:cNvPr id="6" name="表格 5"/>
          <p:cNvGraphicFramePr>
            <a:graphicFrameLocks noGrp="1"/>
          </p:cNvGraphicFramePr>
          <p:nvPr>
            <p:extLst>
              <p:ext uri="{D42A27DB-BD31-4B8C-83A1-F6EECF244321}">
                <p14:modId xmlns:p14="http://schemas.microsoft.com/office/powerpoint/2010/main" val="4264112581"/>
              </p:ext>
            </p:extLst>
          </p:nvPr>
        </p:nvGraphicFramePr>
        <p:xfrm>
          <a:off x="417437" y="4051357"/>
          <a:ext cx="11371640" cy="2108200"/>
        </p:xfrm>
        <a:graphic>
          <a:graphicData uri="http://schemas.openxmlformats.org/drawingml/2006/table">
            <a:tbl>
              <a:tblPr firstRow="1" bandRow="1">
                <a:tableStyleId>{5C22544A-7EE6-4342-B048-85BDC9FD1C3A}</a:tableStyleId>
              </a:tblPr>
              <a:tblGrid>
                <a:gridCol w="1095267">
                  <a:extLst>
                    <a:ext uri="{9D8B030D-6E8A-4147-A177-3AD203B41FA5}">
                      <a16:colId xmlns:a16="http://schemas.microsoft.com/office/drawing/2014/main" val="2103707317"/>
                    </a:ext>
                  </a:extLst>
                </a:gridCol>
                <a:gridCol w="1023818">
                  <a:extLst>
                    <a:ext uri="{9D8B030D-6E8A-4147-A177-3AD203B41FA5}">
                      <a16:colId xmlns:a16="http://schemas.microsoft.com/office/drawing/2014/main" val="110855815"/>
                    </a:ext>
                  </a:extLst>
                </a:gridCol>
                <a:gridCol w="1611085">
                  <a:extLst>
                    <a:ext uri="{9D8B030D-6E8A-4147-A177-3AD203B41FA5}">
                      <a16:colId xmlns:a16="http://schemas.microsoft.com/office/drawing/2014/main" val="169190026"/>
                    </a:ext>
                  </a:extLst>
                </a:gridCol>
                <a:gridCol w="2135745">
                  <a:extLst>
                    <a:ext uri="{9D8B030D-6E8A-4147-A177-3AD203B41FA5}">
                      <a16:colId xmlns:a16="http://schemas.microsoft.com/office/drawing/2014/main" val="372113319"/>
                    </a:ext>
                  </a:extLst>
                </a:gridCol>
                <a:gridCol w="2443512">
                  <a:extLst>
                    <a:ext uri="{9D8B030D-6E8A-4147-A177-3AD203B41FA5}">
                      <a16:colId xmlns:a16="http://schemas.microsoft.com/office/drawing/2014/main" val="1050964820"/>
                    </a:ext>
                  </a:extLst>
                </a:gridCol>
                <a:gridCol w="1712686">
                  <a:extLst>
                    <a:ext uri="{9D8B030D-6E8A-4147-A177-3AD203B41FA5}">
                      <a16:colId xmlns:a16="http://schemas.microsoft.com/office/drawing/2014/main" val="2392192059"/>
                    </a:ext>
                  </a:extLst>
                </a:gridCol>
                <a:gridCol w="1349527">
                  <a:extLst>
                    <a:ext uri="{9D8B030D-6E8A-4147-A177-3AD203B41FA5}">
                      <a16:colId xmlns:a16="http://schemas.microsoft.com/office/drawing/2014/main" val="2616797675"/>
                    </a:ext>
                  </a:extLst>
                </a:gridCol>
              </a:tblGrid>
              <a:tr h="370840">
                <a:tc>
                  <a:txBody>
                    <a:bodyPr/>
                    <a:lstStyle/>
                    <a:p>
                      <a:pPr algn="ctr"/>
                      <a:r>
                        <a:rPr lang="zh-CN" altLang="en-US" sz="1600" dirty="0" smtClean="0"/>
                        <a:t>型号</a:t>
                      </a:r>
                      <a:endParaRPr lang="zh-CN" altLang="en-US" sz="1600" dirty="0"/>
                    </a:p>
                  </a:txBody>
                  <a:tcPr anchor="ctr"/>
                </a:tc>
                <a:tc>
                  <a:txBody>
                    <a:bodyPr/>
                    <a:lstStyle/>
                    <a:p>
                      <a:pPr algn="ctr"/>
                      <a:r>
                        <a:rPr lang="zh-CN" altLang="en-US" sz="1600" dirty="0" smtClean="0"/>
                        <a:t>增益范围</a:t>
                      </a:r>
                      <a:endParaRPr lang="en-US" altLang="zh-CN" sz="1600" dirty="0" smtClean="0"/>
                    </a:p>
                  </a:txBody>
                  <a:tcPr anchor="ctr"/>
                </a:tc>
                <a:tc>
                  <a:txBody>
                    <a:bodyPr/>
                    <a:lstStyle/>
                    <a:p>
                      <a:pPr algn="ctr"/>
                      <a:r>
                        <a:rPr lang="zh-CN" altLang="en-US" sz="1600" dirty="0" smtClean="0"/>
                        <a:t>最大增益</a:t>
                      </a:r>
                      <a:endParaRPr lang="zh-CN" altLang="en-US" sz="1600" dirty="0"/>
                    </a:p>
                  </a:txBody>
                  <a:tcPr anchor="ctr"/>
                </a:tc>
                <a:tc>
                  <a:txBody>
                    <a:bodyPr/>
                    <a:lstStyle/>
                    <a:p>
                      <a:pPr algn="ctr"/>
                      <a:r>
                        <a:rPr lang="zh-CN" altLang="en-US" sz="1600" dirty="0" smtClean="0"/>
                        <a:t>频响</a:t>
                      </a:r>
                      <a:endParaRPr lang="zh-CN" altLang="en-US" sz="1600" dirty="0"/>
                    </a:p>
                  </a:txBody>
                  <a:tcPr anchor="ctr"/>
                </a:tc>
                <a:tc>
                  <a:txBody>
                    <a:bodyPr/>
                    <a:lstStyle/>
                    <a:p>
                      <a:pPr algn="ctr"/>
                      <a:r>
                        <a:rPr lang="zh-CN" altLang="en-US" sz="1600" dirty="0" smtClean="0"/>
                        <a:t>输出电压范围</a:t>
                      </a:r>
                      <a:endParaRPr lang="zh-CN" altLang="en-US" sz="1600" dirty="0"/>
                    </a:p>
                  </a:txBody>
                  <a:tcPr anchor="ctr"/>
                </a:tc>
                <a:tc>
                  <a:txBody>
                    <a:bodyPr/>
                    <a:lstStyle/>
                    <a:p>
                      <a:pPr algn="ctr"/>
                      <a:r>
                        <a:rPr lang="zh-CN" altLang="en-US" sz="1600" dirty="0" smtClean="0"/>
                        <a:t>电源电压</a:t>
                      </a:r>
                      <a:endParaRPr lang="zh-CN" altLang="en-US" sz="1600" dirty="0"/>
                    </a:p>
                  </a:txBody>
                  <a:tcPr anchor="ctr"/>
                </a:tc>
                <a:tc>
                  <a:txBody>
                    <a:bodyPr/>
                    <a:lstStyle/>
                    <a:p>
                      <a:pPr algn="ctr"/>
                      <a:r>
                        <a:rPr lang="zh-CN" altLang="en-US" sz="1600" dirty="0" smtClean="0"/>
                        <a:t>输入阻抗</a:t>
                      </a:r>
                      <a:endParaRPr lang="zh-CN" altLang="en-US" sz="1600" dirty="0"/>
                    </a:p>
                  </a:txBody>
                  <a:tcPr anchor="ctr"/>
                </a:tc>
                <a:extLst>
                  <a:ext uri="{0D108BD9-81ED-4DB2-BD59-A6C34878D82A}">
                    <a16:rowId xmlns:a16="http://schemas.microsoft.com/office/drawing/2014/main" val="3599926832"/>
                  </a:ext>
                </a:extLst>
              </a:tr>
              <a:tr h="370840">
                <a:tc>
                  <a:txBody>
                    <a:bodyPr/>
                    <a:lstStyle/>
                    <a:p>
                      <a:r>
                        <a:rPr lang="en-US" altLang="zh-CN" sz="1600" dirty="0" smtClean="0"/>
                        <a:t>LMH6502</a:t>
                      </a:r>
                      <a:endParaRPr lang="zh-CN" altLang="en-US" sz="1600" dirty="0"/>
                    </a:p>
                  </a:txBody>
                  <a:tcPr/>
                </a:tc>
                <a:tc>
                  <a:txBody>
                    <a:bodyPr/>
                    <a:lstStyle/>
                    <a:p>
                      <a:r>
                        <a:rPr lang="en-US" altLang="zh-CN" sz="1600" dirty="0" smtClean="0"/>
                        <a:t>70dB</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外接电阻设置</a:t>
                      </a:r>
                    </a:p>
                  </a:txBody>
                  <a:tcPr/>
                </a:tc>
                <a:tc>
                  <a:txBody>
                    <a:bodyPr/>
                    <a:lstStyle/>
                    <a:p>
                      <a:r>
                        <a:rPr lang="en-US" altLang="zh-CN" sz="1600" dirty="0" smtClean="0"/>
                        <a:t>130MHz@G</a:t>
                      </a:r>
                      <a:r>
                        <a:rPr lang="en-US" altLang="zh-CN" sz="1600" baseline="-25000" dirty="0" smtClean="0"/>
                        <a:t>max</a:t>
                      </a:r>
                      <a:r>
                        <a:rPr lang="en-US" altLang="zh-CN" sz="1600" dirty="0" smtClean="0"/>
                        <a:t>=20dB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50MHz@G</a:t>
                      </a:r>
                      <a:r>
                        <a:rPr lang="en-US" altLang="zh-CN" sz="1600" baseline="-25000" dirty="0" smtClean="0"/>
                        <a:t>max</a:t>
                      </a:r>
                      <a:r>
                        <a:rPr lang="en-US" altLang="zh-CN" sz="1600" dirty="0" smtClean="0"/>
                        <a:t>=40dB</a:t>
                      </a:r>
                      <a:endParaRPr lang="zh-CN" altLang="en-US" sz="1600" dirty="0" smtClean="0"/>
                    </a:p>
                  </a:txBody>
                  <a:tcPr/>
                </a:tc>
                <a:tc>
                  <a:txBody>
                    <a:bodyPr/>
                    <a:lstStyle/>
                    <a:p>
                      <a:r>
                        <a:rPr lang="en-US" altLang="zh-CN" sz="1600" dirty="0" smtClean="0">
                          <a:latin typeface="Times New Roman" panose="02020603050405020304" pitchFamily="18" charset="0"/>
                          <a:cs typeface="Times New Roman" panose="02020603050405020304" pitchFamily="18" charset="0"/>
                        </a:rPr>
                        <a:t>±3.2V</a:t>
                      </a:r>
                      <a:r>
                        <a:rPr lang="en-US" altLang="zh-CN" sz="1600" dirty="0" smtClean="0"/>
                        <a:t>@</a:t>
                      </a:r>
                      <a:r>
                        <a:rPr lang="en-US" altLang="zh-CN" sz="1600" i="1" dirty="0" smtClean="0"/>
                        <a:t>R</a:t>
                      </a:r>
                      <a:r>
                        <a:rPr lang="en-US" altLang="zh-CN" sz="1600" i="1" baseline="-25000" dirty="0" smtClean="0"/>
                        <a:t>L</a:t>
                      </a:r>
                      <a:r>
                        <a:rPr lang="en-US" altLang="zh-CN" sz="1600" dirty="0" smtClean="0"/>
                        <a:t>=100</a:t>
                      </a:r>
                      <a:r>
                        <a:rPr lang="el-GR" altLang="zh-CN" sz="1600" dirty="0" smtClean="0">
                          <a:latin typeface="Times New Roman" panose="02020603050405020304" pitchFamily="18" charset="0"/>
                          <a:cs typeface="Times New Roman" panose="02020603050405020304" pitchFamily="18" charset="0"/>
                        </a:rPr>
                        <a:t>Ω</a:t>
                      </a:r>
                      <a:endParaRPr lang="zh-CN" altLang="en-US" sz="1600" dirty="0"/>
                    </a:p>
                  </a:txBody>
                  <a:tcPr/>
                </a:tc>
                <a:tc>
                  <a:txBody>
                    <a:bodyPr/>
                    <a:lstStyle/>
                    <a:p>
                      <a:r>
                        <a:rPr lang="en-US" altLang="zh-CN" sz="1600" dirty="0" smtClean="0">
                          <a:latin typeface="Times New Roman" panose="02020603050405020304" pitchFamily="18" charset="0"/>
                          <a:cs typeface="Times New Roman" panose="02020603050405020304" pitchFamily="18" charset="0"/>
                        </a:rPr>
                        <a:t>±5V</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750k</a:t>
                      </a:r>
                      <a:r>
                        <a:rPr lang="el-GR" altLang="zh-CN" sz="1600" dirty="0" smtClean="0">
                          <a:latin typeface="Times New Roman" panose="02020603050405020304" pitchFamily="18" charset="0"/>
                          <a:cs typeface="Times New Roman" panose="02020603050405020304" pitchFamily="18" charset="0"/>
                        </a:rPr>
                        <a:t>Ω</a:t>
                      </a:r>
                      <a:r>
                        <a:rPr lang="en-US" altLang="zh-CN" sz="1600" dirty="0" smtClean="0">
                          <a:latin typeface="Times New Roman" panose="02020603050405020304" pitchFamily="18" charset="0"/>
                          <a:cs typeface="Times New Roman" panose="02020603050405020304" pitchFamily="18" charset="0"/>
                        </a:rPr>
                        <a:t> || 5pF</a:t>
                      </a:r>
                      <a:endParaRPr lang="zh-CN" altLang="en-US" sz="1600" dirty="0" smtClean="0"/>
                    </a:p>
                  </a:txBody>
                  <a:tcPr/>
                </a:tc>
                <a:extLst>
                  <a:ext uri="{0D108BD9-81ED-4DB2-BD59-A6C34878D82A}">
                    <a16:rowId xmlns:a16="http://schemas.microsoft.com/office/drawing/2014/main" val="2932165909"/>
                  </a:ext>
                </a:extLst>
              </a:tr>
              <a:tr h="370840">
                <a:tc>
                  <a:txBody>
                    <a:bodyPr/>
                    <a:lstStyle/>
                    <a:p>
                      <a:r>
                        <a:rPr lang="en-US" altLang="zh-CN" sz="1600" dirty="0" smtClean="0"/>
                        <a:t>AD603</a:t>
                      </a:r>
                      <a:endParaRPr lang="zh-CN" altLang="en-US" sz="1600" dirty="0"/>
                    </a:p>
                  </a:txBody>
                  <a:tcPr/>
                </a:tc>
                <a:tc>
                  <a:txBody>
                    <a:bodyPr/>
                    <a:lstStyle/>
                    <a:p>
                      <a:r>
                        <a:rPr lang="en-US" altLang="zh-CN" sz="1600" dirty="0" smtClean="0"/>
                        <a:t>42dB</a:t>
                      </a:r>
                      <a:endParaRPr lang="zh-CN" altLang="en-US" sz="1600" dirty="0"/>
                    </a:p>
                  </a:txBody>
                  <a:tcPr/>
                </a:tc>
                <a:tc>
                  <a:txBody>
                    <a:bodyPr/>
                    <a:lstStyle/>
                    <a:p>
                      <a:r>
                        <a:rPr lang="en-US" altLang="zh-CN" sz="1600" dirty="0" smtClean="0"/>
                        <a:t>31dB ~ 51dB</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smtClean="0"/>
                        <a:t>外接电阻设置</a:t>
                      </a:r>
                    </a:p>
                  </a:txBody>
                  <a:tcPr/>
                </a:tc>
                <a:tc>
                  <a:txBody>
                    <a:bodyPr/>
                    <a:lstStyle/>
                    <a:p>
                      <a:r>
                        <a:rPr lang="en-US" altLang="zh-CN" sz="1600" dirty="0" smtClean="0"/>
                        <a:t>90MHz@G</a:t>
                      </a:r>
                      <a:r>
                        <a:rPr lang="en-US" altLang="zh-CN" sz="1600" baseline="-25000" dirty="0" smtClean="0"/>
                        <a:t>max</a:t>
                      </a:r>
                      <a:r>
                        <a:rPr lang="en-US" altLang="zh-CN" sz="1600" dirty="0" smtClean="0"/>
                        <a:t>=31dB</a:t>
                      </a:r>
                    </a:p>
                    <a:p>
                      <a:r>
                        <a:rPr lang="en-US" altLang="zh-CN" sz="1600" dirty="0" smtClean="0"/>
                        <a:t>9MHz@G</a:t>
                      </a:r>
                      <a:r>
                        <a:rPr lang="en-US" altLang="zh-CN" sz="1600" baseline="-25000" dirty="0" smtClean="0"/>
                        <a:t>max</a:t>
                      </a:r>
                      <a:r>
                        <a:rPr lang="en-US" altLang="zh-CN" sz="1600" dirty="0" smtClean="0"/>
                        <a:t>=51dB</a:t>
                      </a:r>
                      <a:endParaRPr lang="zh-CN" altLang="en-US" sz="1600" dirty="0"/>
                    </a:p>
                  </a:txBody>
                  <a:tcPr/>
                </a:tc>
                <a:tc>
                  <a:txBody>
                    <a:bodyPr/>
                    <a:lstStyle/>
                    <a:p>
                      <a:r>
                        <a:rPr lang="zh-CN" altLang="en-US" sz="1600" dirty="0" smtClean="0"/>
                        <a:t>低于电源轨约</a:t>
                      </a:r>
                      <a:r>
                        <a:rPr lang="en-US" altLang="zh-CN" sz="1600" dirty="0" smtClean="0"/>
                        <a:t>2.5V</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latin typeface="Times New Roman" panose="02020603050405020304" pitchFamily="18" charset="0"/>
                          <a:cs typeface="Times New Roman" panose="02020603050405020304" pitchFamily="18" charset="0"/>
                        </a:rPr>
                        <a:t>±4.75V~±6.3V</a:t>
                      </a:r>
                      <a:endParaRPr lang="zh-CN" altLang="en-US" sz="1600" baseline="-25000" dirty="0" smtClean="0"/>
                    </a:p>
                    <a:p>
                      <a:endParaRPr lang="zh-CN" altLang="en-US" sz="1600" baseline="-25000" dirty="0"/>
                    </a:p>
                  </a:txBody>
                  <a:tcPr/>
                </a:tc>
                <a:tc>
                  <a:txBody>
                    <a:bodyPr/>
                    <a:lstStyle/>
                    <a:p>
                      <a:r>
                        <a:rPr lang="en-US" altLang="zh-CN" sz="1600" dirty="0" smtClean="0">
                          <a:solidFill>
                            <a:srgbClr val="FF0000"/>
                          </a:solidFill>
                        </a:rPr>
                        <a:t>100</a:t>
                      </a:r>
                      <a:r>
                        <a:rPr lang="el-GR" altLang="zh-CN" sz="1600" dirty="0" smtClean="0">
                          <a:solidFill>
                            <a:srgbClr val="FF0000"/>
                          </a:solidFill>
                          <a:latin typeface="Times New Roman" panose="02020603050405020304" pitchFamily="18" charset="0"/>
                          <a:cs typeface="Times New Roman" panose="02020603050405020304" pitchFamily="18" charset="0"/>
                        </a:rPr>
                        <a:t>Ω</a:t>
                      </a:r>
                      <a:r>
                        <a:rPr lang="en-US" altLang="zh-CN" sz="1600" dirty="0" smtClean="0">
                          <a:solidFill>
                            <a:srgbClr val="FF0000"/>
                          </a:solidFill>
                          <a:latin typeface="Times New Roman" panose="02020603050405020304" pitchFamily="18" charset="0"/>
                          <a:cs typeface="Times New Roman" panose="02020603050405020304" pitchFamily="18" charset="0"/>
                        </a:rPr>
                        <a:t> || 2pF</a:t>
                      </a:r>
                      <a:endParaRPr lang="zh-CN" altLang="en-US" sz="1600" dirty="0">
                        <a:solidFill>
                          <a:srgbClr val="FF0000"/>
                        </a:solidFill>
                      </a:endParaRPr>
                    </a:p>
                  </a:txBody>
                  <a:tcPr/>
                </a:tc>
                <a:extLst>
                  <a:ext uri="{0D108BD9-81ED-4DB2-BD59-A6C34878D82A}">
                    <a16:rowId xmlns:a16="http://schemas.microsoft.com/office/drawing/2014/main" val="358861927"/>
                  </a:ext>
                </a:extLst>
              </a:tr>
              <a:tr h="370840">
                <a:tc>
                  <a:txBody>
                    <a:bodyPr/>
                    <a:lstStyle/>
                    <a:p>
                      <a:r>
                        <a:rPr lang="en-US" altLang="zh-CN" sz="1600" dirty="0" smtClean="0"/>
                        <a:t>AD8367</a:t>
                      </a:r>
                      <a:endParaRPr lang="zh-CN" altLang="en-US" sz="1600" dirty="0"/>
                    </a:p>
                  </a:txBody>
                  <a:tcPr/>
                </a:tc>
                <a:tc>
                  <a:txBody>
                    <a:bodyPr/>
                    <a:lstStyle/>
                    <a:p>
                      <a:r>
                        <a:rPr lang="en-US" altLang="zh-CN" sz="1600" dirty="0" smtClean="0"/>
                        <a:t>45dB</a:t>
                      </a:r>
                      <a:endParaRPr lang="zh-CN" altLang="en-US" sz="1600" dirty="0"/>
                    </a:p>
                  </a:txBody>
                  <a:tcPr/>
                </a:tc>
                <a:tc>
                  <a:txBody>
                    <a:bodyPr/>
                    <a:lstStyle/>
                    <a:p>
                      <a:r>
                        <a:rPr lang="en-US" altLang="zh-CN" sz="1600" dirty="0" smtClean="0">
                          <a:solidFill>
                            <a:srgbClr val="FF0000"/>
                          </a:solidFill>
                        </a:rPr>
                        <a:t>42.5dB</a:t>
                      </a:r>
                      <a:endParaRPr lang="zh-CN" altLang="en-US" sz="1600" dirty="0">
                        <a:solidFill>
                          <a:srgbClr val="FF0000"/>
                        </a:solidFill>
                      </a:endParaRPr>
                    </a:p>
                  </a:txBody>
                  <a:tcPr/>
                </a:tc>
                <a:tc>
                  <a:txBody>
                    <a:bodyPr/>
                    <a:lstStyle/>
                    <a:p>
                      <a:r>
                        <a:rPr lang="en-US" altLang="zh-CN" sz="1600" dirty="0" smtClean="0"/>
                        <a:t>500MHz</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rgbClr val="FF0000"/>
                          </a:solidFill>
                        </a:rPr>
                        <a:t>4.3Vpp@</a:t>
                      </a:r>
                      <a:r>
                        <a:rPr lang="en-US" altLang="zh-CN" sz="1600" i="1" dirty="0" smtClean="0">
                          <a:solidFill>
                            <a:srgbClr val="FF0000"/>
                          </a:solidFill>
                        </a:rPr>
                        <a:t>V</a:t>
                      </a:r>
                      <a:r>
                        <a:rPr lang="en-US" altLang="zh-CN" sz="1600" i="1" baseline="-25000" dirty="0" smtClean="0">
                          <a:solidFill>
                            <a:srgbClr val="FF0000"/>
                          </a:solidFill>
                        </a:rPr>
                        <a:t>S</a:t>
                      </a:r>
                      <a:r>
                        <a:rPr lang="en-US" altLang="zh-CN" sz="1600" dirty="0" smtClean="0">
                          <a:solidFill>
                            <a:srgbClr val="FF0000"/>
                          </a:solidFill>
                        </a:rPr>
                        <a:t>=5V,</a:t>
                      </a:r>
                      <a:r>
                        <a:rPr lang="en-US" altLang="zh-CN" sz="1600" i="1" dirty="0" smtClean="0">
                          <a:solidFill>
                            <a:srgbClr val="FF0000"/>
                          </a:solidFill>
                        </a:rPr>
                        <a:t>R</a:t>
                      </a:r>
                      <a:r>
                        <a:rPr lang="en-US" altLang="zh-CN" sz="1600" i="1" baseline="-25000" dirty="0" smtClean="0">
                          <a:solidFill>
                            <a:srgbClr val="FF0000"/>
                          </a:solidFill>
                        </a:rPr>
                        <a:t>L</a:t>
                      </a:r>
                      <a:r>
                        <a:rPr lang="en-US" altLang="zh-CN" sz="1600" dirty="0" smtClean="0">
                          <a:solidFill>
                            <a:srgbClr val="FF0000"/>
                          </a:solidFill>
                        </a:rPr>
                        <a:t>=1k</a:t>
                      </a:r>
                      <a:r>
                        <a:rPr lang="el-GR" altLang="zh-CN" sz="1600" dirty="0" smtClean="0">
                          <a:solidFill>
                            <a:srgbClr val="FF0000"/>
                          </a:solidFill>
                          <a:latin typeface="Times New Roman" panose="02020603050405020304" pitchFamily="18" charset="0"/>
                          <a:cs typeface="Times New Roman" panose="02020603050405020304" pitchFamily="18" charset="0"/>
                        </a:rPr>
                        <a:t>Ω</a:t>
                      </a:r>
                      <a:endParaRPr lang="zh-CN" altLang="en-US" sz="1600" dirty="0" smtClean="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rgbClr val="FF0000"/>
                          </a:solidFill>
                        </a:rPr>
                        <a:t>3.5Vpp@</a:t>
                      </a:r>
                      <a:r>
                        <a:rPr lang="en-US" altLang="zh-CN" sz="1600" i="1" dirty="0" smtClean="0">
                          <a:solidFill>
                            <a:srgbClr val="FF0000"/>
                          </a:solidFill>
                        </a:rPr>
                        <a:t>V</a:t>
                      </a:r>
                      <a:r>
                        <a:rPr lang="en-US" altLang="zh-CN" sz="1600" i="1" baseline="-25000" dirty="0" smtClean="0">
                          <a:solidFill>
                            <a:srgbClr val="FF0000"/>
                          </a:solidFill>
                        </a:rPr>
                        <a:t>S</a:t>
                      </a:r>
                      <a:r>
                        <a:rPr lang="en-US" altLang="zh-CN" sz="1600" dirty="0" smtClean="0">
                          <a:solidFill>
                            <a:srgbClr val="FF0000"/>
                          </a:solidFill>
                        </a:rPr>
                        <a:t>=5V,</a:t>
                      </a:r>
                      <a:r>
                        <a:rPr lang="en-US" altLang="zh-CN" sz="1600" i="1" dirty="0" smtClean="0">
                          <a:solidFill>
                            <a:srgbClr val="FF0000"/>
                          </a:solidFill>
                        </a:rPr>
                        <a:t>R</a:t>
                      </a:r>
                      <a:r>
                        <a:rPr lang="en-US" altLang="zh-CN" sz="1600" i="1" baseline="-25000" dirty="0" smtClean="0">
                          <a:solidFill>
                            <a:srgbClr val="FF0000"/>
                          </a:solidFill>
                        </a:rPr>
                        <a:t>L</a:t>
                      </a:r>
                      <a:r>
                        <a:rPr lang="en-US" altLang="zh-CN" sz="1600" dirty="0" smtClean="0">
                          <a:solidFill>
                            <a:srgbClr val="FF0000"/>
                          </a:solidFill>
                        </a:rPr>
                        <a:t>=200</a:t>
                      </a:r>
                      <a:r>
                        <a:rPr lang="el-GR" altLang="zh-CN" sz="1600" dirty="0" smtClean="0">
                          <a:solidFill>
                            <a:srgbClr val="FF0000"/>
                          </a:solidFill>
                          <a:latin typeface="Times New Roman" panose="02020603050405020304" pitchFamily="18" charset="0"/>
                          <a:cs typeface="Times New Roman" panose="02020603050405020304" pitchFamily="18" charset="0"/>
                        </a:rPr>
                        <a:t>Ω</a:t>
                      </a:r>
                      <a:endParaRPr lang="zh-CN" altLang="en-US" sz="1600" dirty="0" smtClean="0">
                        <a:solidFill>
                          <a:srgbClr val="FF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t>+2.7V ~ +5.5V</a:t>
                      </a:r>
                      <a:endParaRPr lang="zh-CN" altLang="en-US" sz="16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smtClean="0">
                          <a:solidFill>
                            <a:srgbClr val="FF0000"/>
                          </a:solidFill>
                        </a:rPr>
                        <a:t>200</a:t>
                      </a:r>
                      <a:r>
                        <a:rPr lang="el-GR" altLang="zh-CN" sz="1600" dirty="0" smtClean="0">
                          <a:solidFill>
                            <a:srgbClr val="FF0000"/>
                          </a:solidFill>
                          <a:latin typeface="Times New Roman" panose="02020603050405020304" pitchFamily="18" charset="0"/>
                          <a:cs typeface="Times New Roman" panose="02020603050405020304" pitchFamily="18" charset="0"/>
                        </a:rPr>
                        <a:t>Ω</a:t>
                      </a:r>
                      <a:endParaRPr lang="zh-CN" altLang="en-US" sz="1600" dirty="0" smtClean="0">
                        <a:solidFill>
                          <a:srgbClr val="FF0000"/>
                        </a:solidFill>
                      </a:endParaRPr>
                    </a:p>
                  </a:txBody>
                  <a:tcPr/>
                </a:tc>
                <a:extLst>
                  <a:ext uri="{0D108BD9-81ED-4DB2-BD59-A6C34878D82A}">
                    <a16:rowId xmlns:a16="http://schemas.microsoft.com/office/drawing/2014/main" val="1369301399"/>
                  </a:ext>
                </a:extLst>
              </a:tr>
            </a:tbl>
          </a:graphicData>
        </a:graphic>
      </p:graphicFrame>
    </p:spTree>
    <p:extLst>
      <p:ext uri="{BB962C8B-B14F-4D97-AF65-F5344CB8AC3E}">
        <p14:creationId xmlns:p14="http://schemas.microsoft.com/office/powerpoint/2010/main" val="4127615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409393" y="463338"/>
            <a:ext cx="8397875" cy="369332"/>
          </a:xfrm>
          <a:prstGeom prst="rect">
            <a:avLst/>
          </a:prstGeom>
          <a:noFill/>
        </p:spPr>
        <p:txBody>
          <a:bodyPr wrap="square" rtlCol="0">
            <a:spAutoFit/>
          </a:bodyPr>
          <a:lstStyle/>
          <a:p>
            <a:r>
              <a:rPr lang="zh-CN" altLang="en-US" sz="1800" dirty="0"/>
              <a:t>笔者设计的电路（基于</a:t>
            </a:r>
            <a:r>
              <a:rPr lang="en-US" altLang="zh-CN" sz="1800" dirty="0"/>
              <a:t>AD603</a:t>
            </a:r>
            <a:r>
              <a:rPr lang="zh-CN" altLang="en-US" sz="1800" dirty="0"/>
              <a:t>）：</a:t>
            </a:r>
          </a:p>
        </p:txBody>
      </p:sp>
      <p:graphicFrame>
        <p:nvGraphicFramePr>
          <p:cNvPr id="7" name="对象 6"/>
          <p:cNvGraphicFramePr>
            <a:graphicFrameLocks noChangeAspect="1"/>
          </p:cNvGraphicFramePr>
          <p:nvPr>
            <p:extLst>
              <p:ext uri="{D42A27DB-BD31-4B8C-83A1-F6EECF244321}">
                <p14:modId xmlns:p14="http://schemas.microsoft.com/office/powerpoint/2010/main" val="260369363"/>
              </p:ext>
            </p:extLst>
          </p:nvPr>
        </p:nvGraphicFramePr>
        <p:xfrm>
          <a:off x="2277291" y="648004"/>
          <a:ext cx="6985396" cy="3075093"/>
        </p:xfrm>
        <a:graphic>
          <a:graphicData uri="http://schemas.openxmlformats.org/presentationml/2006/ole">
            <mc:AlternateContent xmlns:mc="http://schemas.openxmlformats.org/markup-compatibility/2006">
              <mc:Choice xmlns:v="urn:schemas-microsoft-com:vml" Requires="v">
                <p:oleObj spid="_x0000_s7220" name="Visio" r:id="rId3" imgW="4673634" imgH="2057168" progId="Visio.Drawing.15">
                  <p:embed/>
                </p:oleObj>
              </mc:Choice>
              <mc:Fallback>
                <p:oleObj name="Visio" r:id="rId3" imgW="4673634" imgH="2057168" progId="Visio.Drawing.15">
                  <p:embed/>
                  <p:pic>
                    <p:nvPicPr>
                      <p:cNvPr id="0" name="Object 1"/>
                      <p:cNvPicPr>
                        <a:picLocks noChangeAspect="1" noChangeArrowheads="1"/>
                      </p:cNvPicPr>
                      <p:nvPr/>
                    </p:nvPicPr>
                    <p:blipFill>
                      <a:blip r:embed="rId4"/>
                      <a:srcRect/>
                      <a:stretch>
                        <a:fillRect/>
                      </a:stretch>
                    </p:blipFill>
                    <p:spPr bwMode="auto">
                      <a:xfrm>
                        <a:off x="2277291" y="648004"/>
                        <a:ext cx="6985396" cy="3075093"/>
                      </a:xfrm>
                      <a:prstGeom prst="rect">
                        <a:avLst/>
                      </a:prstGeom>
                      <a:noFill/>
                    </p:spPr>
                  </p:pic>
                </p:oleObj>
              </mc:Fallback>
            </mc:AlternateContent>
          </a:graphicData>
        </a:graphic>
      </p:graphicFrame>
      <p:sp>
        <p:nvSpPr>
          <p:cNvPr id="8" name="矩形 7"/>
          <p:cNvSpPr/>
          <p:nvPr/>
        </p:nvSpPr>
        <p:spPr>
          <a:xfrm>
            <a:off x="409393" y="3723097"/>
            <a:ext cx="11325407" cy="2751522"/>
          </a:xfrm>
          <a:prstGeom prst="rect">
            <a:avLst/>
          </a:prstGeom>
        </p:spPr>
        <p:txBody>
          <a:bodyPr wrap="square">
            <a:spAutoFit/>
          </a:bodyPr>
          <a:lstStyle/>
          <a:p>
            <a:pPr indent="457200" algn="just">
              <a:lnSpc>
                <a:spcPct val="120000"/>
              </a:lnSpc>
              <a:spcAft>
                <a:spcPts val="0"/>
              </a:spcAft>
            </a:pPr>
            <a:r>
              <a:rPr lang="zh-CN" altLang="zh-CN" sz="1800" dirty="0"/>
              <a:t>在电路前端增加了</a:t>
            </a:r>
            <a:r>
              <a:rPr lang="en-US" altLang="zh-CN" sz="1800" dirty="0"/>
              <a:t>U1</a:t>
            </a:r>
            <a:r>
              <a:rPr lang="zh-CN" altLang="zh-CN" sz="1800" dirty="0"/>
              <a:t>构成的跟随器，提高了整个电路的输入电阻。</a:t>
            </a:r>
            <a:endParaRPr lang="en-US" altLang="zh-CN" sz="1800" dirty="0"/>
          </a:p>
          <a:p>
            <a:pPr indent="457200" algn="just">
              <a:lnSpc>
                <a:spcPct val="120000"/>
              </a:lnSpc>
              <a:spcAft>
                <a:spcPts val="0"/>
              </a:spcAft>
            </a:pPr>
            <a:r>
              <a:rPr lang="en-US" altLang="zh-CN" sz="1800" dirty="0" smtClean="0"/>
              <a:t>AD603</a:t>
            </a:r>
            <a:r>
              <a:rPr lang="zh-CN" altLang="zh-CN" sz="1800" dirty="0" smtClean="0"/>
              <a:t>电源电压</a:t>
            </a:r>
            <a:r>
              <a:rPr lang="zh-CN" altLang="en-US" sz="1800" dirty="0" smtClean="0"/>
              <a:t>采用</a:t>
            </a:r>
            <a:r>
              <a:rPr lang="en-US" altLang="zh-CN" sz="1800" dirty="0" smtClean="0"/>
              <a:t>±6V</a:t>
            </a:r>
            <a:r>
              <a:rPr lang="zh-CN" altLang="zh-CN" sz="1800" dirty="0"/>
              <a:t>（该芯片允许的最大电源电压为</a:t>
            </a:r>
            <a:r>
              <a:rPr lang="en-US" altLang="zh-CN" sz="1800" dirty="0" smtClean="0"/>
              <a:t>±6.3V</a:t>
            </a:r>
            <a:r>
              <a:rPr lang="zh-CN" altLang="zh-CN" sz="1800" dirty="0"/>
              <a:t>），这样其输出动态范围大约是</a:t>
            </a:r>
            <a:r>
              <a:rPr lang="en-US" altLang="zh-CN" sz="1800" dirty="0"/>
              <a:t>±3.5V</a:t>
            </a:r>
            <a:r>
              <a:rPr lang="zh-CN" altLang="zh-CN" sz="1800" dirty="0"/>
              <a:t>，满足了题目的要求。</a:t>
            </a:r>
            <a:endParaRPr lang="en-US" altLang="zh-CN" sz="1800" dirty="0"/>
          </a:p>
          <a:p>
            <a:pPr indent="457200" algn="just">
              <a:lnSpc>
                <a:spcPct val="120000"/>
              </a:lnSpc>
              <a:spcAft>
                <a:spcPts val="0"/>
              </a:spcAft>
            </a:pPr>
            <a:r>
              <a:rPr lang="zh-CN" altLang="zh-CN" sz="1800" dirty="0"/>
              <a:t>放大器的最大增益可由接在</a:t>
            </a:r>
            <a:r>
              <a:rPr lang="en-US" altLang="zh-CN" sz="1800" dirty="0"/>
              <a:t>5</a:t>
            </a:r>
            <a:r>
              <a:rPr lang="zh-CN" altLang="zh-CN" sz="1800" dirty="0"/>
              <a:t>脚与</a:t>
            </a:r>
            <a:r>
              <a:rPr lang="en-US" altLang="zh-CN" sz="1800" dirty="0"/>
              <a:t>7</a:t>
            </a:r>
            <a:r>
              <a:rPr lang="zh-CN" altLang="zh-CN" sz="1800" dirty="0"/>
              <a:t>脚之间的反馈电阻调节，不接此电阻时，最小增益为</a:t>
            </a:r>
            <a:r>
              <a:rPr lang="en-US" altLang="zh-CN" sz="1800" dirty="0"/>
              <a:t>9dB</a:t>
            </a:r>
            <a:r>
              <a:rPr lang="zh-CN" altLang="zh-CN" sz="1800" dirty="0"/>
              <a:t>，最大增益为</a:t>
            </a:r>
            <a:r>
              <a:rPr lang="en-US" altLang="zh-CN" sz="1800" dirty="0"/>
              <a:t>51dB</a:t>
            </a:r>
            <a:r>
              <a:rPr lang="zh-CN" altLang="zh-CN" sz="1800" dirty="0"/>
              <a:t>，带宽为</a:t>
            </a:r>
            <a:r>
              <a:rPr lang="en-US" altLang="zh-CN" sz="1800" dirty="0"/>
              <a:t>9MHz</a:t>
            </a:r>
            <a:r>
              <a:rPr lang="zh-CN" altLang="en-US" sz="1800" dirty="0" smtClean="0"/>
              <a:t>，满足</a:t>
            </a:r>
            <a:r>
              <a:rPr lang="zh-CN" altLang="en-US" sz="1800" dirty="0"/>
              <a:t>题目要求</a:t>
            </a:r>
            <a:r>
              <a:rPr lang="zh-CN" altLang="zh-CN" sz="1800" dirty="0"/>
              <a:t>。</a:t>
            </a:r>
          </a:p>
          <a:p>
            <a:pPr indent="457200" algn="just">
              <a:lnSpc>
                <a:spcPct val="120000"/>
              </a:lnSpc>
              <a:spcAft>
                <a:spcPts val="0"/>
              </a:spcAft>
            </a:pPr>
            <a:r>
              <a:rPr lang="en-US" altLang="zh-CN" sz="1800" dirty="0"/>
              <a:t>U1</a:t>
            </a:r>
            <a:r>
              <a:rPr lang="zh-CN" altLang="en-US" sz="1800" dirty="0"/>
              <a:t>与</a:t>
            </a:r>
            <a:r>
              <a:rPr lang="en-US" altLang="zh-CN" sz="1800" dirty="0" smtClean="0"/>
              <a:t>U3</a:t>
            </a:r>
            <a:r>
              <a:rPr lang="zh-CN" altLang="en-US" sz="1800" dirty="0" smtClean="0"/>
              <a:t>应根据频响与动态范围的要求选择运放，由于本题的这些要求很低，可以选择的范围极大，笔者实际选用</a:t>
            </a:r>
            <a:r>
              <a:rPr lang="en-US" altLang="zh-CN" sz="1800" dirty="0" smtClean="0"/>
              <a:t>LF356</a:t>
            </a:r>
            <a:r>
              <a:rPr lang="zh-CN" altLang="en-US" sz="1800" dirty="0" smtClean="0"/>
              <a:t>。</a:t>
            </a:r>
            <a:r>
              <a:rPr lang="zh-CN" altLang="zh-CN" sz="1800" dirty="0" smtClean="0"/>
              <a:t>电源电压</a:t>
            </a:r>
            <a:r>
              <a:rPr lang="zh-CN" altLang="zh-CN" sz="1800" dirty="0"/>
              <a:t>与</a:t>
            </a:r>
            <a:r>
              <a:rPr lang="en-US" altLang="zh-CN" sz="1800" dirty="0"/>
              <a:t>AD603</a:t>
            </a:r>
            <a:r>
              <a:rPr lang="zh-CN" altLang="zh-CN" sz="1800" dirty="0" smtClean="0"/>
              <a:t>相同</a:t>
            </a:r>
            <a:r>
              <a:rPr lang="zh-CN" altLang="en-US" sz="1800" dirty="0" smtClean="0"/>
              <a:t>，</a:t>
            </a:r>
            <a:r>
              <a:rPr lang="zh-CN" altLang="zh-CN" sz="1800" dirty="0" smtClean="0"/>
              <a:t>图</a:t>
            </a:r>
            <a:r>
              <a:rPr lang="zh-CN" altLang="zh-CN" sz="1800" dirty="0"/>
              <a:t>中没有画出电源退耦电容，实际电路中每个运放与</a:t>
            </a:r>
            <a:r>
              <a:rPr lang="en-US" altLang="zh-CN" sz="1800" dirty="0"/>
              <a:t>AD603</a:t>
            </a:r>
            <a:r>
              <a:rPr lang="zh-CN" altLang="zh-CN" sz="1800" dirty="0"/>
              <a:t>的电源都接有合适的退耦电容。</a:t>
            </a:r>
            <a:endParaRPr lang="zh-CN" altLang="en-US" sz="1800" dirty="0"/>
          </a:p>
        </p:txBody>
      </p:sp>
    </p:spTree>
    <p:extLst>
      <p:ext uri="{BB962C8B-B14F-4D97-AF65-F5344CB8AC3E}">
        <p14:creationId xmlns:p14="http://schemas.microsoft.com/office/powerpoint/2010/main" val="2157265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矩形 4"/>
          <p:cNvSpPr/>
          <p:nvPr/>
        </p:nvSpPr>
        <p:spPr>
          <a:xfrm>
            <a:off x="413657" y="465330"/>
            <a:ext cx="11407928" cy="5443221"/>
          </a:xfrm>
          <a:prstGeom prst="rect">
            <a:avLst/>
          </a:prstGeom>
        </p:spPr>
        <p:txBody>
          <a:bodyPr wrap="square">
            <a:spAutoFit/>
          </a:bodyPr>
          <a:lstStyle/>
          <a:p>
            <a:pPr indent="457200">
              <a:lnSpc>
                <a:spcPct val="150000"/>
              </a:lnSpc>
            </a:pPr>
            <a:r>
              <a:rPr lang="zh-CN" altLang="en-US" sz="1800" dirty="0"/>
              <a:t>检波与低通滤波部分的设计</a:t>
            </a:r>
            <a:endParaRPr lang="en-US" altLang="zh-CN" sz="1800" dirty="0"/>
          </a:p>
          <a:p>
            <a:pPr indent="457200">
              <a:lnSpc>
                <a:spcPct val="150000"/>
              </a:lnSpc>
            </a:pPr>
            <a:r>
              <a:rPr lang="zh-CN" altLang="zh-CN" sz="1800" dirty="0"/>
              <a:t>放大器的输出由二极管</a:t>
            </a:r>
            <a:r>
              <a:rPr lang="en-US" altLang="zh-CN" sz="1800" dirty="0"/>
              <a:t>D1</a:t>
            </a:r>
            <a:r>
              <a:rPr lang="zh-CN" altLang="zh-CN" sz="1800" dirty="0"/>
              <a:t>检波，经过</a:t>
            </a:r>
            <a:r>
              <a:rPr lang="en-US" altLang="zh-CN" sz="1800" dirty="0"/>
              <a:t>R2</a:t>
            </a:r>
            <a:r>
              <a:rPr lang="zh-CN" altLang="zh-CN" sz="1800" dirty="0"/>
              <a:t>、</a:t>
            </a:r>
            <a:r>
              <a:rPr lang="en-US" altLang="zh-CN" sz="1800" dirty="0"/>
              <a:t>C2</a:t>
            </a:r>
            <a:r>
              <a:rPr lang="zh-CN" altLang="zh-CN" sz="1800" dirty="0"/>
              <a:t>的滤波得到其平均电压。</a:t>
            </a:r>
          </a:p>
          <a:p>
            <a:pPr indent="457200">
              <a:lnSpc>
                <a:spcPct val="150000"/>
              </a:lnSpc>
            </a:pPr>
            <a:r>
              <a:rPr lang="zh-CN" altLang="zh-CN" sz="1800" dirty="0"/>
              <a:t>题目要求</a:t>
            </a:r>
            <a:r>
              <a:rPr lang="en-US" altLang="zh-CN" sz="1800" dirty="0"/>
              <a:t>AGC</a:t>
            </a:r>
            <a:r>
              <a:rPr lang="zh-CN" altLang="zh-CN" sz="1800" dirty="0"/>
              <a:t>起控后放大器的输出电压有效值为</a:t>
            </a:r>
            <a:r>
              <a:rPr lang="en-US" altLang="zh-CN" sz="1800" dirty="0"/>
              <a:t>2V</a:t>
            </a:r>
            <a:r>
              <a:rPr lang="zh-CN" altLang="zh-CN" sz="1800" dirty="0"/>
              <a:t>，波动不超过</a:t>
            </a:r>
            <a:r>
              <a:rPr lang="en-US" altLang="zh-CN" sz="1800" dirty="0"/>
              <a:t>1dB</a:t>
            </a:r>
            <a:r>
              <a:rPr lang="zh-CN" altLang="zh-CN" sz="1800" dirty="0" smtClean="0"/>
              <a:t>。</a:t>
            </a:r>
            <a:r>
              <a:rPr lang="zh-CN" altLang="en-US" sz="1800" dirty="0" smtClean="0"/>
              <a:t>按照 </a:t>
            </a:r>
            <a:r>
              <a:rPr lang="en-US" altLang="zh-CN" sz="1800" dirty="0" smtClean="0"/>
              <a:t>20lg(</a:t>
            </a:r>
            <a:r>
              <a:rPr lang="el-GR" altLang="zh-CN" sz="1800" dirty="0" smtClean="0"/>
              <a:t>Δ</a:t>
            </a:r>
            <a:r>
              <a:rPr lang="en-US" altLang="zh-CN" sz="1800" dirty="0" smtClean="0"/>
              <a:t>V/V)&lt;1 </a:t>
            </a:r>
            <a:r>
              <a:rPr lang="zh-CN" altLang="zh-CN" sz="1800" dirty="0" smtClean="0"/>
              <a:t>计算</a:t>
            </a:r>
            <a:r>
              <a:rPr lang="zh-CN" altLang="en-US" sz="1800" dirty="0" smtClean="0"/>
              <a:t>，</a:t>
            </a:r>
            <a:r>
              <a:rPr lang="zh-CN" altLang="zh-CN" sz="1800" dirty="0" smtClean="0"/>
              <a:t>起</a:t>
            </a:r>
            <a:r>
              <a:rPr lang="zh-CN" altLang="zh-CN" sz="1800" dirty="0"/>
              <a:t>控后的输出电压有效值波动应该小于</a:t>
            </a:r>
            <a:r>
              <a:rPr lang="en-US" altLang="zh-CN" sz="1800" dirty="0"/>
              <a:t>0.24V</a:t>
            </a:r>
            <a:r>
              <a:rPr lang="zh-CN" altLang="zh-CN" sz="1800" dirty="0"/>
              <a:t>，平均值波动小于</a:t>
            </a:r>
            <a:r>
              <a:rPr lang="en-US" altLang="zh-CN" sz="1800" dirty="0"/>
              <a:t>0.22V</a:t>
            </a:r>
            <a:r>
              <a:rPr lang="zh-CN" altLang="zh-CN" sz="1800" dirty="0"/>
              <a:t>。</a:t>
            </a:r>
          </a:p>
          <a:p>
            <a:pPr indent="457200">
              <a:lnSpc>
                <a:spcPct val="150000"/>
              </a:lnSpc>
            </a:pPr>
            <a:r>
              <a:rPr lang="en-US" altLang="zh-CN" sz="1800" dirty="0"/>
              <a:t>AD603</a:t>
            </a:r>
            <a:r>
              <a:rPr lang="zh-CN" altLang="zh-CN" sz="1800" dirty="0"/>
              <a:t>的增益控制电压为</a:t>
            </a:r>
            <a:r>
              <a:rPr lang="en-US" altLang="zh-CN" sz="1800" dirty="0"/>
              <a:t>1</a:t>
            </a:r>
            <a:r>
              <a:rPr lang="zh-CN" altLang="zh-CN" sz="1800" dirty="0"/>
              <a:t>脚与</a:t>
            </a:r>
            <a:r>
              <a:rPr lang="en-US" altLang="zh-CN" sz="1800" dirty="0"/>
              <a:t>2</a:t>
            </a:r>
            <a:r>
              <a:rPr lang="zh-CN" altLang="zh-CN" sz="1800" dirty="0"/>
              <a:t>脚之间的电压差。此电压差为</a:t>
            </a:r>
            <a:r>
              <a:rPr lang="en-US" altLang="zh-CN" sz="1800" dirty="0"/>
              <a:t>-0.5V ~+0.5V</a:t>
            </a:r>
            <a:r>
              <a:rPr lang="zh-CN" altLang="zh-CN" sz="1800" dirty="0"/>
              <a:t>时其增益由最小变到最大，控制灵敏度为</a:t>
            </a:r>
            <a:r>
              <a:rPr lang="en-US" altLang="zh-CN" sz="1800" dirty="0"/>
              <a:t>40dB/V</a:t>
            </a:r>
            <a:r>
              <a:rPr lang="zh-CN" altLang="zh-CN" sz="1800" dirty="0"/>
              <a:t>。根据题目要求，</a:t>
            </a:r>
            <a:r>
              <a:rPr lang="en-US" altLang="zh-CN" sz="1800" dirty="0"/>
              <a:t>AGC</a:t>
            </a:r>
            <a:r>
              <a:rPr lang="zh-CN" altLang="zh-CN" sz="1800" dirty="0"/>
              <a:t>起控后的输入电压变化大于</a:t>
            </a:r>
            <a:r>
              <a:rPr lang="en-US" altLang="zh-CN" sz="1800" dirty="0"/>
              <a:t>20dB</a:t>
            </a:r>
            <a:r>
              <a:rPr lang="zh-CN" altLang="zh-CN" sz="1800" dirty="0"/>
              <a:t>，所以控制电压变化量应该大于</a:t>
            </a:r>
            <a:r>
              <a:rPr lang="en-US" altLang="zh-CN" sz="1800" dirty="0"/>
              <a:t>0.5V</a:t>
            </a:r>
            <a:r>
              <a:rPr lang="zh-CN" altLang="zh-CN" sz="1800" dirty="0"/>
              <a:t>，否则就达不到</a:t>
            </a:r>
            <a:r>
              <a:rPr lang="en-US" altLang="zh-CN" sz="1800" dirty="0"/>
              <a:t>AGC</a:t>
            </a:r>
            <a:r>
              <a:rPr lang="zh-CN" altLang="zh-CN" sz="1800" dirty="0"/>
              <a:t>控制范围大于</a:t>
            </a:r>
            <a:r>
              <a:rPr lang="en-US" altLang="zh-CN" sz="1800" dirty="0"/>
              <a:t>20dB</a:t>
            </a:r>
            <a:r>
              <a:rPr lang="zh-CN" altLang="zh-CN" sz="1800" dirty="0"/>
              <a:t>的要求。</a:t>
            </a:r>
          </a:p>
          <a:p>
            <a:pPr indent="457200">
              <a:lnSpc>
                <a:spcPct val="150000"/>
              </a:lnSpc>
            </a:pPr>
            <a:r>
              <a:rPr lang="zh-CN" altLang="zh-CN" sz="1800" dirty="0"/>
              <a:t>显然，</a:t>
            </a:r>
            <a:r>
              <a:rPr lang="zh-CN" altLang="en-US" sz="1800" dirty="0"/>
              <a:t>若直接将</a:t>
            </a:r>
            <a:r>
              <a:rPr lang="zh-CN" altLang="zh-CN" sz="1800" dirty="0"/>
              <a:t>输出电压平均值的</a:t>
            </a:r>
            <a:r>
              <a:rPr lang="zh-CN" altLang="en-US" sz="1800" dirty="0"/>
              <a:t>波动（</a:t>
            </a:r>
            <a:r>
              <a:rPr lang="zh-CN" altLang="en-US" sz="1800" dirty="0">
                <a:latin typeface="Arial" panose="020B0604020202020204" pitchFamily="34" charset="0"/>
                <a:cs typeface="Arial" panose="020B0604020202020204" pitchFamily="34" charset="0"/>
              </a:rPr>
              <a:t>小于</a:t>
            </a:r>
            <a:r>
              <a:rPr lang="en-US" altLang="zh-CN" sz="1800" dirty="0"/>
              <a:t>0.22V</a:t>
            </a:r>
            <a:r>
              <a:rPr lang="zh-CN" altLang="en-US" sz="1800" dirty="0"/>
              <a:t>）作为</a:t>
            </a:r>
            <a:r>
              <a:rPr lang="en-US" altLang="zh-CN" sz="1800" dirty="0"/>
              <a:t>AD603</a:t>
            </a:r>
            <a:r>
              <a:rPr lang="zh-CN" altLang="en-US" sz="1800" dirty="0"/>
              <a:t>的</a:t>
            </a:r>
            <a:r>
              <a:rPr lang="en-US" altLang="zh-CN" sz="1800" dirty="0"/>
              <a:t>AGC</a:t>
            </a:r>
            <a:r>
              <a:rPr lang="zh-CN" altLang="zh-CN" sz="1800" dirty="0"/>
              <a:t>控制电压</a:t>
            </a:r>
            <a:r>
              <a:rPr lang="zh-CN" altLang="en-US" sz="1800" dirty="0"/>
              <a:t>，将无法达到</a:t>
            </a:r>
            <a:r>
              <a:rPr lang="en-US" altLang="zh-CN" sz="1800" dirty="0"/>
              <a:t>AGC</a:t>
            </a:r>
            <a:r>
              <a:rPr lang="zh-CN" altLang="en-US" sz="1800" dirty="0"/>
              <a:t>控制范围</a:t>
            </a:r>
            <a:r>
              <a:rPr lang="zh-CN" altLang="zh-CN" sz="1800" dirty="0"/>
              <a:t>的要求</a:t>
            </a:r>
            <a:r>
              <a:rPr lang="zh-CN" altLang="en-US" sz="1800" dirty="0"/>
              <a:t>。</a:t>
            </a:r>
            <a:endParaRPr lang="en-US" altLang="zh-CN" sz="1800" dirty="0"/>
          </a:p>
          <a:p>
            <a:pPr indent="457200">
              <a:lnSpc>
                <a:spcPct val="150000"/>
              </a:lnSpc>
            </a:pPr>
            <a:r>
              <a:rPr lang="zh-CN" altLang="en-US" sz="1800" dirty="0"/>
              <a:t>解决办法是：</a:t>
            </a:r>
            <a:endParaRPr lang="en-US" altLang="zh-CN" sz="1800" dirty="0"/>
          </a:p>
          <a:p>
            <a:pPr indent="457200">
              <a:lnSpc>
                <a:spcPct val="150000"/>
              </a:lnSpc>
            </a:pPr>
            <a:r>
              <a:rPr lang="en-US" altLang="zh-CN" sz="1800" dirty="0"/>
              <a:t>1</a:t>
            </a:r>
            <a:r>
              <a:rPr lang="zh-CN" altLang="en-US" sz="1800" dirty="0"/>
              <a:t>、</a:t>
            </a:r>
            <a:r>
              <a:rPr lang="zh-CN" altLang="zh-CN" sz="1800" dirty="0"/>
              <a:t>接入一个具有足够放大倍数的放大器，将输出电压的</a:t>
            </a:r>
            <a:r>
              <a:rPr lang="zh-CN" altLang="en-US" sz="1800" dirty="0"/>
              <a:t>波动</a:t>
            </a:r>
            <a:r>
              <a:rPr lang="zh-CN" altLang="zh-CN" sz="1800" dirty="0"/>
              <a:t>放大到满足</a:t>
            </a:r>
            <a:r>
              <a:rPr lang="en-US" altLang="zh-CN" sz="1800" dirty="0"/>
              <a:t>VGA</a:t>
            </a:r>
            <a:r>
              <a:rPr lang="zh-CN" altLang="zh-CN" sz="1800" dirty="0"/>
              <a:t>控制电压的要求。</a:t>
            </a:r>
            <a:endParaRPr lang="en-US" altLang="zh-CN" sz="1800" dirty="0"/>
          </a:p>
          <a:p>
            <a:pPr indent="457200">
              <a:lnSpc>
                <a:spcPct val="150000"/>
              </a:lnSpc>
            </a:pPr>
            <a:r>
              <a:rPr lang="en-US" altLang="zh-CN" sz="1800" dirty="0"/>
              <a:t>2</a:t>
            </a:r>
            <a:r>
              <a:rPr lang="zh-CN" altLang="en-US" sz="1800" dirty="0"/>
              <a:t>、接入一个</a:t>
            </a:r>
            <a:r>
              <a:rPr lang="zh-CN" altLang="zh-CN" sz="1800" dirty="0"/>
              <a:t>积分器，那样不管输出电压的变化量有多少，积分器会一直对此变化量进行积分直到最后的输出回到原始状态。</a:t>
            </a:r>
            <a:endParaRPr lang="en-US" altLang="zh-CN" sz="1800" dirty="0"/>
          </a:p>
        </p:txBody>
      </p:sp>
    </p:spTree>
    <p:extLst>
      <p:ext uri="{BB962C8B-B14F-4D97-AF65-F5344CB8AC3E}">
        <p14:creationId xmlns:p14="http://schemas.microsoft.com/office/powerpoint/2010/main" val="2678178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矩形 4"/>
          <p:cNvSpPr/>
          <p:nvPr/>
        </p:nvSpPr>
        <p:spPr>
          <a:xfrm>
            <a:off x="391886" y="458756"/>
            <a:ext cx="11342914" cy="5674054"/>
          </a:xfrm>
          <a:prstGeom prst="rect">
            <a:avLst/>
          </a:prstGeom>
        </p:spPr>
        <p:txBody>
          <a:bodyPr wrap="square">
            <a:spAutoFit/>
          </a:bodyPr>
          <a:lstStyle/>
          <a:p>
            <a:pPr indent="457200">
              <a:lnSpc>
                <a:spcPct val="150000"/>
              </a:lnSpc>
            </a:pPr>
            <a:r>
              <a:rPr lang="zh-CN" altLang="en-US" sz="1800" dirty="0">
                <a:latin typeface="华文楷体" panose="02010600040101010101" pitchFamily="2" charset="-122"/>
                <a:ea typeface="华文楷体" panose="02010600040101010101" pitchFamily="2" charset="-122"/>
              </a:rPr>
              <a:t>注释：</a:t>
            </a:r>
            <a:r>
              <a:rPr lang="zh-CN" altLang="zh-CN" sz="1800" dirty="0">
                <a:latin typeface="华文楷体" panose="02010600040101010101" pitchFamily="2" charset="-122"/>
                <a:ea typeface="华文楷体" panose="02010600040101010101" pitchFamily="2" charset="-122"/>
              </a:rPr>
              <a:t>从控制理论的角度分析，在反馈回路中没有积分器的系统是一个有差系统，其实际输出与理想输出之间总是有误差的，反馈信号依靠此误差建立，反馈增益越大则误差越小</a:t>
            </a:r>
            <a:r>
              <a:rPr lang="zh-CN" altLang="zh-CN" sz="1800" dirty="0" smtClean="0">
                <a:latin typeface="华文楷体" panose="02010600040101010101" pitchFamily="2" charset="-122"/>
                <a:ea typeface="华文楷体" panose="02010600040101010101" pitchFamily="2" charset="-122"/>
              </a:rPr>
              <a:t>。有</a:t>
            </a:r>
            <a:r>
              <a:rPr lang="zh-CN" altLang="zh-CN" sz="1800" dirty="0">
                <a:latin typeface="华文楷体" panose="02010600040101010101" pitchFamily="2" charset="-122"/>
                <a:ea typeface="华文楷体" panose="02010600040101010101" pitchFamily="2" charset="-122"/>
              </a:rPr>
              <a:t>积分器的系统是一个无差系统，因为误差会被积分器不断积累并反馈，直至误差为</a:t>
            </a:r>
            <a:r>
              <a:rPr lang="zh-CN" altLang="en-US" sz="1800" dirty="0">
                <a:latin typeface="华文楷体" panose="02010600040101010101" pitchFamily="2" charset="-122"/>
                <a:ea typeface="华文楷体" panose="02010600040101010101" pitchFamily="2" charset="-122"/>
              </a:rPr>
              <a:t>零</a:t>
            </a:r>
            <a:r>
              <a:rPr lang="zh-CN" altLang="zh-CN" sz="1800" dirty="0">
                <a:latin typeface="华文楷体" panose="02010600040101010101" pitchFamily="2" charset="-122"/>
                <a:ea typeface="华文楷体" panose="02010600040101010101" pitchFamily="2" charset="-122"/>
              </a:rPr>
              <a:t>才会停止积分。</a:t>
            </a:r>
            <a:endParaRPr lang="en-US" altLang="zh-CN" sz="1800" dirty="0">
              <a:latin typeface="华文楷体" panose="02010600040101010101" pitchFamily="2" charset="-122"/>
              <a:ea typeface="华文楷体" panose="02010600040101010101" pitchFamily="2" charset="-122"/>
            </a:endParaRPr>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600" dirty="0"/>
          </a:p>
          <a:p>
            <a:pPr indent="457200">
              <a:lnSpc>
                <a:spcPct val="150000"/>
              </a:lnSpc>
            </a:pPr>
            <a:endParaRPr lang="zh-CN" altLang="zh-CN" sz="1400" dirty="0"/>
          </a:p>
          <a:p>
            <a:pPr indent="457200">
              <a:lnSpc>
                <a:spcPct val="150000"/>
              </a:lnSpc>
            </a:pPr>
            <a:endParaRPr lang="en-US" altLang="zh-CN" sz="1600" dirty="0"/>
          </a:p>
          <a:p>
            <a:pPr indent="457200">
              <a:lnSpc>
                <a:spcPct val="150000"/>
              </a:lnSpc>
            </a:pPr>
            <a:r>
              <a:rPr lang="zh-CN" altLang="zh-CN" sz="1800" dirty="0"/>
              <a:t>可以将</a:t>
            </a:r>
            <a:r>
              <a:rPr lang="zh-CN" altLang="en-US" sz="1800" dirty="0"/>
              <a:t>实际</a:t>
            </a:r>
            <a:r>
              <a:rPr lang="zh-CN" altLang="zh-CN" sz="1800" dirty="0"/>
              <a:t>电路中</a:t>
            </a:r>
            <a:r>
              <a:rPr lang="zh-CN" altLang="en-US" sz="1800" dirty="0"/>
              <a:t>的</a:t>
            </a:r>
            <a:r>
              <a:rPr lang="en-US" altLang="zh-CN" sz="1800" dirty="0"/>
              <a:t>U3</a:t>
            </a:r>
            <a:r>
              <a:rPr lang="zh-CN" altLang="zh-CN" sz="1800" dirty="0"/>
              <a:t>看作一个带有低通特性的高增益放大器，也可以将它看作一个带有放电电阻的积分器。实际上它的功能介于放大器与积分器之间，电阻</a:t>
            </a:r>
            <a:r>
              <a:rPr lang="en-US" altLang="zh-CN" sz="1800" dirty="0"/>
              <a:t>R4</a:t>
            </a:r>
            <a:r>
              <a:rPr lang="zh-CN" altLang="zh-CN" sz="1800" dirty="0"/>
              <a:t>的阻值越大就越接近于积分器。但是这个电阻不能完全取消，因为一旦</a:t>
            </a:r>
            <a:r>
              <a:rPr lang="en-US" altLang="zh-CN" sz="1800" dirty="0"/>
              <a:t>VGA</a:t>
            </a:r>
            <a:r>
              <a:rPr lang="zh-CN" altLang="zh-CN" sz="1800" dirty="0"/>
              <a:t>的输出</a:t>
            </a:r>
            <a:r>
              <a:rPr lang="zh-CN" altLang="zh-CN" sz="1800" dirty="0" smtClean="0"/>
              <a:t>电压</a:t>
            </a:r>
            <a:r>
              <a:rPr lang="en-US" altLang="zh-CN" sz="1800" i="1" dirty="0" err="1" smtClean="0"/>
              <a:t>V</a:t>
            </a:r>
            <a:r>
              <a:rPr lang="en-US" altLang="zh-CN" sz="1800" i="1" baseline="-25000" dirty="0" err="1" smtClean="0"/>
              <a:t>out</a:t>
            </a:r>
            <a:r>
              <a:rPr lang="zh-CN" altLang="zh-CN" sz="1800" dirty="0" smtClean="0"/>
              <a:t>下降</a:t>
            </a:r>
            <a:r>
              <a:rPr lang="zh-CN" altLang="zh-CN" sz="1800" dirty="0"/>
              <a:t>，由于二极管不能流过反向电流，没有这个电阻会导致积分电容上的电荷没有释放通道，那样积分器的输出电压不会及时变化，导致</a:t>
            </a:r>
            <a:r>
              <a:rPr lang="en-US" altLang="zh-CN" sz="1800" dirty="0"/>
              <a:t>VGA</a:t>
            </a:r>
            <a:r>
              <a:rPr lang="zh-CN" altLang="zh-CN" sz="1800" dirty="0"/>
              <a:t>的增益不会及时上升，</a:t>
            </a:r>
            <a:r>
              <a:rPr lang="en-US" altLang="zh-CN" sz="1800" dirty="0"/>
              <a:t>AGC</a:t>
            </a:r>
            <a:r>
              <a:rPr lang="zh-CN" altLang="zh-CN" sz="1800" dirty="0"/>
              <a:t>就失控了。</a:t>
            </a:r>
            <a:endParaRPr lang="en-US" altLang="zh-CN"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1410017732"/>
              </p:ext>
            </p:extLst>
          </p:nvPr>
        </p:nvGraphicFramePr>
        <p:xfrm>
          <a:off x="1846770" y="1314360"/>
          <a:ext cx="5895730" cy="2967354"/>
        </p:xfrm>
        <a:graphic>
          <a:graphicData uri="http://schemas.openxmlformats.org/presentationml/2006/ole">
            <mc:AlternateContent xmlns:mc="http://schemas.openxmlformats.org/markup-compatibility/2006">
              <mc:Choice xmlns:v="urn:schemas-microsoft-com:vml" Requires="v">
                <p:oleObj spid="_x0000_s8241" name="Visio" r:id="rId3" imgW="3688955" imgH="1860363" progId="Visio.Drawing.15">
                  <p:embed/>
                </p:oleObj>
              </mc:Choice>
              <mc:Fallback>
                <p:oleObj name="Visio" r:id="rId3" imgW="3688955" imgH="1860363" progId="Visio.Drawing.15">
                  <p:embed/>
                  <p:pic>
                    <p:nvPicPr>
                      <p:cNvPr id="7" name="对象 6"/>
                      <p:cNvPicPr>
                        <a:picLocks noChangeAspect="1" noChangeArrowheads="1"/>
                      </p:cNvPicPr>
                      <p:nvPr/>
                    </p:nvPicPr>
                    <p:blipFill>
                      <a:blip r:embed="rId4"/>
                      <a:srcRect/>
                      <a:stretch>
                        <a:fillRect/>
                      </a:stretch>
                    </p:blipFill>
                    <p:spPr bwMode="auto">
                      <a:xfrm>
                        <a:off x="1846770" y="1314360"/>
                        <a:ext cx="5895730" cy="2967354"/>
                      </a:xfrm>
                      <a:prstGeom prst="rect">
                        <a:avLst/>
                      </a:prstGeom>
                      <a:noFill/>
                    </p:spPr>
                  </p:pic>
                </p:oleObj>
              </mc:Fallback>
            </mc:AlternateContent>
          </a:graphicData>
        </a:graphic>
      </p:graphicFrame>
    </p:spTree>
    <p:extLst>
      <p:ext uri="{BB962C8B-B14F-4D97-AF65-F5344CB8AC3E}">
        <p14:creationId xmlns:p14="http://schemas.microsoft.com/office/powerpoint/2010/main" val="3418914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矩形 4"/>
          <p:cNvSpPr/>
          <p:nvPr/>
        </p:nvSpPr>
        <p:spPr>
          <a:xfrm>
            <a:off x="442686" y="629730"/>
            <a:ext cx="11277600" cy="5493812"/>
          </a:xfrm>
          <a:prstGeom prst="rect">
            <a:avLst/>
          </a:prstGeom>
        </p:spPr>
        <p:txBody>
          <a:bodyPr wrap="square">
            <a:spAutoFit/>
          </a:bodyPr>
          <a:lstStyle/>
          <a:p>
            <a:pPr indent="457200">
              <a:lnSpc>
                <a:spcPct val="150000"/>
              </a:lnSpc>
            </a:pPr>
            <a:r>
              <a:rPr lang="en-US" altLang="zh-CN" sz="1800" dirty="0"/>
              <a:t>AD603</a:t>
            </a:r>
            <a:r>
              <a:rPr lang="zh-CN" altLang="zh-CN" sz="1800" dirty="0"/>
              <a:t>的</a:t>
            </a:r>
            <a:r>
              <a:rPr lang="en-US" altLang="zh-CN" sz="1800" dirty="0"/>
              <a:t>2</a:t>
            </a:r>
            <a:r>
              <a:rPr lang="zh-CN" altLang="zh-CN" sz="1800" dirty="0"/>
              <a:t>脚接地，所以送往</a:t>
            </a:r>
            <a:r>
              <a:rPr lang="en-US" altLang="zh-CN" sz="1800" dirty="0"/>
              <a:t>AD603 </a:t>
            </a:r>
            <a:r>
              <a:rPr lang="zh-CN" altLang="en-US" sz="1800" dirty="0"/>
              <a:t>的</a:t>
            </a:r>
            <a:r>
              <a:rPr lang="en-US" altLang="zh-CN" sz="1800" dirty="0"/>
              <a:t>1</a:t>
            </a:r>
            <a:r>
              <a:rPr lang="zh-CN" altLang="zh-CN" sz="1800" dirty="0"/>
              <a:t>脚的控制信号电平应该在</a:t>
            </a:r>
            <a:r>
              <a:rPr lang="en-US" altLang="zh-CN" sz="1800" dirty="0"/>
              <a:t>-0.5V~+0.5V</a:t>
            </a:r>
            <a:r>
              <a:rPr lang="zh-CN" altLang="zh-CN" sz="1800" dirty="0"/>
              <a:t>之间变化</a:t>
            </a:r>
            <a:r>
              <a:rPr lang="zh-CN" altLang="en-US" sz="1800" dirty="0"/>
              <a:t>。</a:t>
            </a:r>
            <a:r>
              <a:rPr lang="zh-CN" altLang="zh-CN" sz="1800" dirty="0"/>
              <a:t>但是从二极管</a:t>
            </a:r>
            <a:r>
              <a:rPr lang="en-US" altLang="zh-CN" sz="1800" dirty="0"/>
              <a:t>D1</a:t>
            </a:r>
            <a:r>
              <a:rPr lang="zh-CN" altLang="zh-CN" sz="1800" dirty="0"/>
              <a:t>检波得到的平均电压一定是一个大于</a:t>
            </a:r>
            <a:r>
              <a:rPr lang="en-US" altLang="zh-CN" sz="1800" dirty="0"/>
              <a:t>0</a:t>
            </a:r>
            <a:r>
              <a:rPr lang="zh-CN" altLang="zh-CN" sz="1800" dirty="0"/>
              <a:t>的正电平信号，</a:t>
            </a:r>
            <a:r>
              <a:rPr lang="zh-CN" altLang="en-US" sz="1800" dirty="0"/>
              <a:t>若直接</a:t>
            </a:r>
            <a:r>
              <a:rPr lang="zh-CN" altLang="zh-CN" sz="1800" dirty="0"/>
              <a:t>反向积分</a:t>
            </a:r>
            <a:r>
              <a:rPr lang="zh-CN" altLang="en-US" sz="1800" dirty="0"/>
              <a:t>，则积分</a:t>
            </a:r>
            <a:r>
              <a:rPr lang="zh-CN" altLang="zh-CN" sz="1800" dirty="0"/>
              <a:t>后的输出一定是一个负电平信号，不满足上述电路对于控制电压的要求。</a:t>
            </a:r>
            <a:endParaRPr lang="en-US" altLang="zh-CN" sz="1800" dirty="0"/>
          </a:p>
          <a:p>
            <a:pPr indent="457200">
              <a:lnSpc>
                <a:spcPct val="150000"/>
              </a:lnSpc>
            </a:pPr>
            <a:r>
              <a:rPr lang="zh-CN" altLang="zh-CN" sz="1800" dirty="0"/>
              <a:t>为此在电路中通过电位器</a:t>
            </a:r>
            <a:r>
              <a:rPr lang="en-US" altLang="zh-CN" sz="1800" dirty="0"/>
              <a:t>R6</a:t>
            </a:r>
            <a:r>
              <a:rPr lang="zh-CN" altLang="zh-CN" sz="1800" dirty="0"/>
              <a:t>在积分器的同相输入端输入一个正电平，那样就可以将积分器的输出电平向上平移到需要的位置</a:t>
            </a:r>
            <a:r>
              <a:rPr lang="zh-CN" altLang="en-US" sz="1800" dirty="0"/>
              <a:t>。</a:t>
            </a:r>
            <a:r>
              <a:rPr lang="zh-CN" altLang="zh-CN" sz="1800" dirty="0"/>
              <a:t>实际上</a:t>
            </a:r>
            <a:r>
              <a:rPr lang="zh-CN" altLang="en-US" sz="1800" dirty="0"/>
              <a:t>这个</a:t>
            </a:r>
            <a:r>
              <a:rPr lang="zh-CN" altLang="en-US" sz="1800" dirty="0" smtClean="0"/>
              <a:t>电位</a:t>
            </a:r>
            <a:r>
              <a:rPr lang="zh-CN" altLang="en-US" sz="1800" dirty="0"/>
              <a:t>还起到</a:t>
            </a:r>
            <a:r>
              <a:rPr lang="zh-CN" altLang="zh-CN" sz="1800" dirty="0" smtClean="0"/>
              <a:t>调节</a:t>
            </a:r>
            <a:r>
              <a:rPr lang="zh-CN" altLang="zh-CN" sz="1800" dirty="0"/>
              <a:t>起控</a:t>
            </a:r>
            <a:r>
              <a:rPr lang="zh-CN" altLang="zh-CN" sz="1800" dirty="0" smtClean="0"/>
              <a:t>阈值</a:t>
            </a:r>
            <a:r>
              <a:rPr lang="zh-CN" altLang="en-US" sz="1800" dirty="0" smtClean="0"/>
              <a:t>的作用，因为在</a:t>
            </a:r>
            <a:r>
              <a:rPr lang="en-US" altLang="zh-CN" sz="1800" dirty="0" smtClean="0"/>
              <a:t>AGC</a:t>
            </a:r>
            <a:r>
              <a:rPr lang="zh-CN" altLang="en-US" sz="1800" dirty="0" smtClean="0"/>
              <a:t>平衡时，流过</a:t>
            </a:r>
            <a:r>
              <a:rPr lang="en-US" altLang="zh-CN" sz="1800" dirty="0" smtClean="0"/>
              <a:t>R3</a:t>
            </a:r>
            <a:r>
              <a:rPr lang="zh-CN" altLang="en-US" sz="1800" dirty="0" smtClean="0"/>
              <a:t>的电流（积分电流）近似为</a:t>
            </a:r>
            <a:r>
              <a:rPr lang="en-US" altLang="zh-CN" sz="1800" dirty="0" smtClean="0"/>
              <a:t>0</a:t>
            </a:r>
            <a:r>
              <a:rPr lang="zh-CN" altLang="en-US" sz="1800" dirty="0" smtClean="0"/>
              <a:t>，而积分器两个输入端的电平相等，所以调节同相端电平就是调节平衡时的二极管整流输出电平，也就是调节</a:t>
            </a:r>
            <a:r>
              <a:rPr lang="en-US" altLang="zh-CN" sz="1800" dirty="0" smtClean="0"/>
              <a:t>AGC</a:t>
            </a:r>
            <a:r>
              <a:rPr lang="zh-CN" altLang="en-US" sz="1800" dirty="0" smtClean="0"/>
              <a:t>起控段的输出电平</a:t>
            </a:r>
            <a:r>
              <a:rPr lang="zh-CN" altLang="zh-CN" sz="1800" dirty="0" smtClean="0"/>
              <a:t>。</a:t>
            </a:r>
            <a:r>
              <a:rPr lang="zh-CN" altLang="zh-CN" sz="1800" dirty="0"/>
              <a:t>实际调试中，将输入信号置</a:t>
            </a:r>
            <a:r>
              <a:rPr lang="zh-CN" altLang="zh-CN" sz="1800" dirty="0" smtClean="0"/>
              <a:t>为</a:t>
            </a:r>
            <a:r>
              <a:rPr lang="zh-CN" altLang="en-US" sz="1800" dirty="0" smtClean="0"/>
              <a:t>题目要求的起控电平</a:t>
            </a:r>
            <a:r>
              <a:rPr lang="en-US" altLang="zh-CN" sz="1800" dirty="0" smtClean="0"/>
              <a:t>10mV</a:t>
            </a:r>
            <a:r>
              <a:rPr lang="zh-CN" altLang="zh-CN" sz="1800" dirty="0"/>
              <a:t>（均方根值），然后调节</a:t>
            </a:r>
            <a:r>
              <a:rPr lang="en-US" altLang="zh-CN" sz="1800" dirty="0"/>
              <a:t>R6</a:t>
            </a:r>
            <a:r>
              <a:rPr lang="zh-CN" altLang="zh-CN" sz="1800" dirty="0"/>
              <a:t>使得输出为</a:t>
            </a:r>
            <a:r>
              <a:rPr lang="en-US" altLang="zh-CN" sz="1800" dirty="0"/>
              <a:t>2V</a:t>
            </a:r>
            <a:r>
              <a:rPr lang="zh-CN" altLang="zh-CN" sz="1800" dirty="0"/>
              <a:t>（均方根值），就将此控制电压移到了符合题目规定的</a:t>
            </a:r>
            <a:r>
              <a:rPr lang="en-US" altLang="zh-CN" sz="1800" dirty="0"/>
              <a:t>AGC</a:t>
            </a:r>
            <a:r>
              <a:rPr lang="zh-CN" altLang="zh-CN" sz="1800" dirty="0"/>
              <a:t>控制电平范围之内。</a:t>
            </a:r>
          </a:p>
          <a:p>
            <a:pPr indent="457200">
              <a:lnSpc>
                <a:spcPct val="150000"/>
              </a:lnSpc>
            </a:pPr>
            <a:endParaRPr lang="en-US" altLang="zh-CN" sz="1800" dirty="0" smtClean="0"/>
          </a:p>
          <a:p>
            <a:pPr indent="457200">
              <a:lnSpc>
                <a:spcPct val="150000"/>
              </a:lnSpc>
            </a:pPr>
            <a:r>
              <a:rPr lang="zh-CN" altLang="zh-CN" sz="1800" dirty="0" smtClean="0"/>
              <a:t>最后</a:t>
            </a:r>
            <a:r>
              <a:rPr lang="zh-CN" altLang="zh-CN" sz="1800" dirty="0"/>
              <a:t>一个问题是控制电压的直流电平极限范围。根据</a:t>
            </a:r>
            <a:r>
              <a:rPr lang="en-US" altLang="zh-CN" sz="1800" dirty="0"/>
              <a:t>AD603</a:t>
            </a:r>
            <a:r>
              <a:rPr lang="zh-CN" altLang="zh-CN" sz="1800" dirty="0"/>
              <a:t>的数据手册，在采用</a:t>
            </a:r>
            <a:r>
              <a:rPr lang="en-US" altLang="zh-CN" sz="1800" dirty="0"/>
              <a:t>±6V</a:t>
            </a:r>
            <a:r>
              <a:rPr lang="zh-CN" altLang="zh-CN" sz="1800" dirty="0"/>
              <a:t>供电时，控制电压的直流电平极限范围在</a:t>
            </a:r>
            <a:r>
              <a:rPr lang="en-US" altLang="zh-CN" sz="1800" dirty="0"/>
              <a:t>-1.8V</a:t>
            </a:r>
            <a:r>
              <a:rPr lang="zh-CN" altLang="zh-CN" sz="1800" dirty="0"/>
              <a:t>到</a:t>
            </a:r>
            <a:r>
              <a:rPr lang="en-US" altLang="zh-CN" sz="1800" dirty="0"/>
              <a:t>+2.6V</a:t>
            </a:r>
            <a:r>
              <a:rPr lang="zh-CN" altLang="zh-CN" sz="1800" dirty="0"/>
              <a:t>之间。为了防止在某种意外情况下（例如调试过程中）此控制电压过大，在电路中设置了由</a:t>
            </a:r>
            <a:r>
              <a:rPr lang="en-US" altLang="zh-CN" sz="1800" dirty="0"/>
              <a:t>R5</a:t>
            </a:r>
            <a:r>
              <a:rPr lang="zh-CN" altLang="zh-CN" sz="1800" dirty="0"/>
              <a:t>、</a:t>
            </a:r>
            <a:r>
              <a:rPr lang="en-US" altLang="zh-CN" sz="1800" dirty="0"/>
              <a:t>D2</a:t>
            </a:r>
            <a:r>
              <a:rPr lang="zh-CN" altLang="zh-CN" sz="1800" dirty="0"/>
              <a:t>、</a:t>
            </a:r>
            <a:r>
              <a:rPr lang="en-US" altLang="zh-CN" sz="1800" dirty="0"/>
              <a:t>D3</a:t>
            </a:r>
            <a:r>
              <a:rPr lang="zh-CN" altLang="zh-CN" sz="1800" dirty="0"/>
              <a:t>构成的双向限幅电路。其中两个限幅二极管采用红色发光二极管，可以将此电位限制在</a:t>
            </a:r>
            <a:r>
              <a:rPr lang="en-US" altLang="zh-CN" sz="1800" dirty="0"/>
              <a:t>±1.5V</a:t>
            </a:r>
            <a:r>
              <a:rPr lang="zh-CN" altLang="zh-CN" sz="1800" dirty="0"/>
              <a:t>以内（采用普通硅二极管则在</a:t>
            </a:r>
            <a:r>
              <a:rPr lang="en-US" altLang="zh-CN" sz="1800" dirty="0"/>
              <a:t>±0.3V</a:t>
            </a:r>
            <a:r>
              <a:rPr lang="zh-CN" altLang="zh-CN" sz="1800" dirty="0"/>
              <a:t>左右二极管就开始导通，不能满足控制电压</a:t>
            </a:r>
            <a:r>
              <a:rPr lang="en-US" altLang="zh-CN" sz="1800" dirty="0"/>
              <a:t>±0.5V</a:t>
            </a:r>
            <a:r>
              <a:rPr lang="zh-CN" altLang="zh-CN" sz="1800" dirty="0"/>
              <a:t>的要求）。</a:t>
            </a:r>
          </a:p>
        </p:txBody>
      </p:sp>
    </p:spTree>
    <p:extLst>
      <p:ext uri="{BB962C8B-B14F-4D97-AF65-F5344CB8AC3E}">
        <p14:creationId xmlns:p14="http://schemas.microsoft.com/office/powerpoint/2010/main" val="3357032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矩形 4"/>
          <p:cNvSpPr/>
          <p:nvPr/>
        </p:nvSpPr>
        <p:spPr>
          <a:xfrm>
            <a:off x="428171" y="521028"/>
            <a:ext cx="9853749" cy="872739"/>
          </a:xfrm>
          <a:prstGeom prst="rect">
            <a:avLst/>
          </a:prstGeom>
        </p:spPr>
        <p:txBody>
          <a:bodyPr wrap="square">
            <a:spAutoFit/>
          </a:bodyPr>
          <a:lstStyle/>
          <a:p>
            <a:pPr indent="457200">
              <a:lnSpc>
                <a:spcPct val="150000"/>
              </a:lnSpc>
            </a:pPr>
            <a:r>
              <a:rPr lang="zh-CN" altLang="en-US" sz="1800" dirty="0"/>
              <a:t>实测结果</a:t>
            </a:r>
            <a:r>
              <a:rPr lang="en-US" altLang="zh-CN" sz="1800" dirty="0"/>
              <a:t>1</a:t>
            </a:r>
            <a:r>
              <a:rPr lang="zh-CN" altLang="en-US" sz="1800" dirty="0"/>
              <a:t>（</a:t>
            </a:r>
            <a:r>
              <a:rPr lang="en-US" altLang="zh-CN" sz="1800" dirty="0"/>
              <a:t>AGC</a:t>
            </a:r>
            <a:r>
              <a:rPr lang="zh-CN" altLang="en-US" sz="1800" dirty="0"/>
              <a:t>性能测试）：</a:t>
            </a:r>
            <a:endParaRPr lang="en-US" altLang="zh-CN" sz="1800" dirty="0"/>
          </a:p>
          <a:p>
            <a:pPr indent="457200">
              <a:lnSpc>
                <a:spcPct val="150000"/>
              </a:lnSpc>
            </a:pPr>
            <a:r>
              <a:rPr lang="zh-CN" altLang="zh-CN" sz="1800" dirty="0"/>
              <a:t>测试频率为</a:t>
            </a:r>
            <a:r>
              <a:rPr lang="en-US" altLang="zh-CN" sz="1800" dirty="0"/>
              <a:t>2kHz</a:t>
            </a:r>
            <a:r>
              <a:rPr lang="zh-CN" altLang="zh-CN" sz="1800" dirty="0"/>
              <a:t>，输入电压范围为</a:t>
            </a:r>
            <a:r>
              <a:rPr lang="en-US" altLang="zh-CN" sz="1800" dirty="0"/>
              <a:t>6mV~600mV</a:t>
            </a:r>
            <a:r>
              <a:rPr lang="zh-CN" altLang="zh-CN" sz="1800" dirty="0"/>
              <a:t>（均方根值，下同）：</a:t>
            </a:r>
          </a:p>
        </p:txBody>
      </p:sp>
      <p:graphicFrame>
        <p:nvGraphicFramePr>
          <p:cNvPr id="6" name="表格 5"/>
          <p:cNvGraphicFramePr>
            <a:graphicFrameLocks noGrp="1"/>
          </p:cNvGraphicFramePr>
          <p:nvPr>
            <p:extLst>
              <p:ext uri="{D42A27DB-BD31-4B8C-83A1-F6EECF244321}">
                <p14:modId xmlns:p14="http://schemas.microsoft.com/office/powerpoint/2010/main" val="1021774925"/>
              </p:ext>
            </p:extLst>
          </p:nvPr>
        </p:nvGraphicFramePr>
        <p:xfrm>
          <a:off x="2632410" y="1686880"/>
          <a:ext cx="6400797" cy="994380"/>
        </p:xfrm>
        <a:graphic>
          <a:graphicData uri="http://schemas.openxmlformats.org/drawingml/2006/table">
            <a:tbl>
              <a:tblPr firstCol="1">
                <a:tableStyleId>{5C22544A-7EE6-4342-B048-85BDC9FD1C3A}</a:tableStyleId>
              </a:tblPr>
              <a:tblGrid>
                <a:gridCol w="1801817">
                  <a:extLst>
                    <a:ext uri="{9D8B030D-6E8A-4147-A177-3AD203B41FA5}">
                      <a16:colId xmlns:a16="http://schemas.microsoft.com/office/drawing/2014/main" val="2423105365"/>
                    </a:ext>
                  </a:extLst>
                </a:gridCol>
                <a:gridCol w="1149455">
                  <a:extLst>
                    <a:ext uri="{9D8B030D-6E8A-4147-A177-3AD203B41FA5}">
                      <a16:colId xmlns:a16="http://schemas.microsoft.com/office/drawing/2014/main" val="3910471753"/>
                    </a:ext>
                  </a:extLst>
                </a:gridCol>
                <a:gridCol w="1149455">
                  <a:extLst>
                    <a:ext uri="{9D8B030D-6E8A-4147-A177-3AD203B41FA5}">
                      <a16:colId xmlns:a16="http://schemas.microsoft.com/office/drawing/2014/main" val="426524026"/>
                    </a:ext>
                  </a:extLst>
                </a:gridCol>
                <a:gridCol w="1149455">
                  <a:extLst>
                    <a:ext uri="{9D8B030D-6E8A-4147-A177-3AD203B41FA5}">
                      <a16:colId xmlns:a16="http://schemas.microsoft.com/office/drawing/2014/main" val="766970051"/>
                    </a:ext>
                  </a:extLst>
                </a:gridCol>
                <a:gridCol w="1150615">
                  <a:extLst>
                    <a:ext uri="{9D8B030D-6E8A-4147-A177-3AD203B41FA5}">
                      <a16:colId xmlns:a16="http://schemas.microsoft.com/office/drawing/2014/main" val="4095780163"/>
                    </a:ext>
                  </a:extLst>
                </a:gridCol>
              </a:tblGrid>
              <a:tr h="331460">
                <a:tc>
                  <a:txBody>
                    <a:bodyPr/>
                    <a:lstStyle/>
                    <a:p>
                      <a:pPr algn="ctr">
                        <a:lnSpc>
                          <a:spcPct val="115000"/>
                        </a:lnSpc>
                        <a:spcAft>
                          <a:spcPts val="0"/>
                        </a:spcAft>
                      </a:pPr>
                      <a:r>
                        <a:rPr lang="zh-CN" sz="1800" kern="100" dirty="0">
                          <a:effectLst/>
                        </a:rPr>
                        <a:t>输入电压</a:t>
                      </a:r>
                      <a:r>
                        <a:rPr lang="en-US" sz="1800" kern="100" dirty="0">
                          <a:effectLst/>
                        </a:rPr>
                        <a:t>(</a:t>
                      </a:r>
                      <a:r>
                        <a:rPr lang="en-US" sz="1800" kern="100" dirty="0" err="1">
                          <a:effectLst/>
                        </a:rPr>
                        <a:t>rms</a:t>
                      </a:r>
                      <a:r>
                        <a:rPr lang="en-US"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6mV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600mV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51298845"/>
                  </a:ext>
                </a:extLst>
              </a:tr>
              <a:tr h="331460">
                <a:tc>
                  <a:txBody>
                    <a:bodyPr/>
                    <a:lstStyle/>
                    <a:p>
                      <a:pPr algn="ctr">
                        <a:lnSpc>
                          <a:spcPct val="115000"/>
                        </a:lnSpc>
                        <a:spcAft>
                          <a:spcPts val="0"/>
                        </a:spcAft>
                      </a:pPr>
                      <a:r>
                        <a:rPr lang="zh-CN" sz="1800" kern="100" dirty="0">
                          <a:effectLst/>
                        </a:rPr>
                        <a:t>输出电压</a:t>
                      </a:r>
                      <a:r>
                        <a:rPr lang="en-US" sz="1800" kern="100" dirty="0">
                          <a:effectLst/>
                        </a:rPr>
                        <a:t>(</a:t>
                      </a:r>
                      <a:r>
                        <a:rPr lang="en-US" sz="1800" kern="100" dirty="0" err="1">
                          <a:effectLst/>
                        </a:rPr>
                        <a:t>rms</a:t>
                      </a:r>
                      <a:r>
                        <a:rPr lang="en-US"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2.06V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2.08V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2.18V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23173566"/>
                  </a:ext>
                </a:extLst>
              </a:tr>
              <a:tr h="331460">
                <a:tc>
                  <a:txBody>
                    <a:bodyPr/>
                    <a:lstStyle/>
                    <a:p>
                      <a:pPr algn="ctr">
                        <a:lnSpc>
                          <a:spcPct val="115000"/>
                        </a:lnSpc>
                        <a:spcAft>
                          <a:spcPts val="0"/>
                        </a:spcAft>
                      </a:pPr>
                      <a:r>
                        <a:rPr lang="zh-CN" sz="1800" kern="100">
                          <a:effectLst/>
                        </a:rPr>
                        <a:t>增益</a:t>
                      </a:r>
                      <a:r>
                        <a:rPr lang="en-US" sz="1800" kern="100">
                          <a:effectLst/>
                        </a:rPr>
                        <a:t>(dB)</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50.7</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46.4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26.7</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11.2</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86172315"/>
                  </a:ext>
                </a:extLst>
              </a:tr>
            </a:tbl>
          </a:graphicData>
        </a:graphic>
      </p:graphicFrame>
      <p:sp>
        <p:nvSpPr>
          <p:cNvPr id="7" name="矩形 6"/>
          <p:cNvSpPr/>
          <p:nvPr/>
        </p:nvSpPr>
        <p:spPr>
          <a:xfrm>
            <a:off x="428171" y="3034582"/>
            <a:ext cx="11226800" cy="2534733"/>
          </a:xfrm>
          <a:prstGeom prst="rect">
            <a:avLst/>
          </a:prstGeom>
        </p:spPr>
        <p:txBody>
          <a:bodyPr wrap="square">
            <a:spAutoFit/>
          </a:bodyPr>
          <a:lstStyle/>
          <a:p>
            <a:pPr indent="457200">
              <a:lnSpc>
                <a:spcPct val="150000"/>
              </a:lnSpc>
            </a:pPr>
            <a:r>
              <a:rPr lang="en-US" altLang="zh-CN" sz="1800" dirty="0"/>
              <a:t>1</a:t>
            </a:r>
            <a:r>
              <a:rPr lang="zh-CN" altLang="en-US" sz="1800" dirty="0"/>
              <a:t>、</a:t>
            </a:r>
            <a:r>
              <a:rPr lang="zh-CN" altLang="zh-CN" sz="1800" dirty="0"/>
              <a:t>在题目规定的输入电压</a:t>
            </a:r>
            <a:r>
              <a:rPr lang="en-US" altLang="zh-CN" sz="1800" dirty="0"/>
              <a:t>10mV</a:t>
            </a:r>
            <a:r>
              <a:rPr lang="zh-CN" altLang="zh-CN" sz="1800" dirty="0"/>
              <a:t>时</a:t>
            </a:r>
            <a:r>
              <a:rPr lang="zh-CN" altLang="en-US" sz="1800" dirty="0"/>
              <a:t>，放大器</a:t>
            </a:r>
            <a:r>
              <a:rPr lang="zh-CN" altLang="zh-CN" sz="1800" dirty="0"/>
              <a:t>增益为</a:t>
            </a:r>
            <a:r>
              <a:rPr lang="en-US" altLang="zh-CN" sz="1800" dirty="0"/>
              <a:t>46.4dB</a:t>
            </a:r>
            <a:r>
              <a:rPr lang="zh-CN" altLang="zh-CN" sz="1800" dirty="0"/>
              <a:t>，满足题目要求。</a:t>
            </a:r>
            <a:endParaRPr lang="en-US" altLang="zh-CN" sz="1800" dirty="0"/>
          </a:p>
          <a:p>
            <a:pPr indent="457200">
              <a:lnSpc>
                <a:spcPct val="150000"/>
              </a:lnSpc>
            </a:pPr>
            <a:r>
              <a:rPr lang="en-US" altLang="zh-CN" sz="1800" dirty="0"/>
              <a:t>2</a:t>
            </a:r>
            <a:r>
              <a:rPr lang="zh-CN" altLang="en-US" sz="1800" dirty="0"/>
              <a:t>、</a:t>
            </a:r>
            <a:r>
              <a:rPr lang="zh-CN" altLang="zh-CN" sz="1800" dirty="0"/>
              <a:t>在输入电压为题目规定的</a:t>
            </a:r>
            <a:r>
              <a:rPr lang="en-US" altLang="zh-CN" sz="1800" dirty="0"/>
              <a:t>10mV~100mV</a:t>
            </a:r>
            <a:r>
              <a:rPr lang="zh-CN" altLang="zh-CN" sz="1800" dirty="0"/>
              <a:t>范围内，输出电压的相对变化为</a:t>
            </a:r>
            <a:r>
              <a:rPr lang="en-US" altLang="zh-CN" sz="1800" dirty="0"/>
              <a:t>0.10/2=5%</a:t>
            </a:r>
            <a:r>
              <a:rPr lang="zh-CN" altLang="zh-CN" sz="1800" dirty="0"/>
              <a:t>（</a:t>
            </a:r>
            <a:r>
              <a:rPr lang="en-US" altLang="zh-CN" sz="1800" dirty="0"/>
              <a:t>0.42dB</a:t>
            </a:r>
            <a:r>
              <a:rPr lang="zh-CN" altLang="zh-CN" sz="1800" dirty="0"/>
              <a:t>），满足题目要求。</a:t>
            </a:r>
          </a:p>
          <a:p>
            <a:pPr indent="457200">
              <a:lnSpc>
                <a:spcPct val="150000"/>
              </a:lnSpc>
            </a:pPr>
            <a:r>
              <a:rPr lang="en-US" altLang="zh-CN" sz="1800" dirty="0"/>
              <a:t>3</a:t>
            </a:r>
            <a:r>
              <a:rPr lang="zh-CN" altLang="en-US" sz="1800" dirty="0"/>
              <a:t>、</a:t>
            </a:r>
            <a:r>
              <a:rPr lang="zh-CN" altLang="zh-CN" sz="1800" dirty="0"/>
              <a:t>最高增益为</a:t>
            </a:r>
            <a:r>
              <a:rPr lang="en-US" altLang="zh-CN" sz="1800" dirty="0"/>
              <a:t>50.7dB</a:t>
            </a:r>
            <a:r>
              <a:rPr lang="zh-CN" altLang="zh-CN" sz="1800" dirty="0"/>
              <a:t>，这与</a:t>
            </a:r>
            <a:r>
              <a:rPr lang="en-US" altLang="zh-CN" sz="1800" dirty="0"/>
              <a:t>AD603</a:t>
            </a:r>
            <a:r>
              <a:rPr lang="zh-CN" altLang="zh-CN" sz="1800" dirty="0"/>
              <a:t>的数据手册提供的数据（</a:t>
            </a:r>
            <a:r>
              <a:rPr lang="en-US" altLang="zh-CN" sz="1800" dirty="0"/>
              <a:t>51dB</a:t>
            </a:r>
            <a:r>
              <a:rPr lang="zh-CN" altLang="zh-CN" sz="1800" dirty="0"/>
              <a:t>）是吻合的。在整个</a:t>
            </a:r>
            <a:r>
              <a:rPr lang="en-US" altLang="zh-CN" sz="1800" dirty="0"/>
              <a:t>AGC</a:t>
            </a:r>
            <a:r>
              <a:rPr lang="zh-CN" altLang="zh-CN" sz="1800" dirty="0"/>
              <a:t>起控范围（输入</a:t>
            </a:r>
            <a:r>
              <a:rPr lang="en-US" altLang="zh-CN" sz="1800" dirty="0"/>
              <a:t>6mV~600mV</a:t>
            </a:r>
            <a:r>
              <a:rPr lang="zh-CN" altLang="zh-CN" sz="1800" dirty="0"/>
              <a:t>）内，输入变化</a:t>
            </a:r>
            <a:r>
              <a:rPr lang="en-US" altLang="zh-CN" sz="1800" dirty="0"/>
              <a:t>40dB</a:t>
            </a:r>
            <a:r>
              <a:rPr lang="zh-CN" altLang="zh-CN" sz="1800" dirty="0"/>
              <a:t>，输出变化为</a:t>
            </a:r>
            <a:r>
              <a:rPr lang="en-US" altLang="zh-CN" sz="1800" dirty="0"/>
              <a:t>0.5dB</a:t>
            </a:r>
            <a:r>
              <a:rPr lang="zh-CN" altLang="en-US" sz="1800" dirty="0"/>
              <a:t>，</a:t>
            </a:r>
            <a:r>
              <a:rPr lang="zh-CN" altLang="zh-CN" sz="1800" dirty="0"/>
              <a:t>就是</a:t>
            </a:r>
            <a:r>
              <a:rPr lang="en-US" altLang="zh-CN" sz="1800" dirty="0"/>
              <a:t>AGC</a:t>
            </a:r>
            <a:r>
              <a:rPr lang="zh-CN" altLang="zh-CN" sz="1800" dirty="0"/>
              <a:t>的控制范围（</a:t>
            </a:r>
            <a:r>
              <a:rPr lang="en-US" altLang="zh-CN" sz="1800" dirty="0"/>
              <a:t>VGA</a:t>
            </a:r>
            <a:r>
              <a:rPr lang="zh-CN" altLang="zh-CN" sz="1800" dirty="0"/>
              <a:t>的增益变化范围）为</a:t>
            </a:r>
            <a:r>
              <a:rPr lang="en-US" altLang="zh-CN" sz="1800" dirty="0"/>
              <a:t>40dB</a:t>
            </a:r>
            <a:r>
              <a:rPr lang="zh-CN" altLang="zh-CN" sz="1800" dirty="0"/>
              <a:t>。这与</a:t>
            </a:r>
            <a:r>
              <a:rPr lang="en-US" altLang="zh-CN" sz="1800" dirty="0"/>
              <a:t>AD603</a:t>
            </a:r>
            <a:r>
              <a:rPr lang="zh-CN" altLang="zh-CN" sz="1800" dirty="0"/>
              <a:t>数据手册提供的数据（</a:t>
            </a:r>
            <a:r>
              <a:rPr lang="en-US" altLang="zh-CN" sz="1800" dirty="0"/>
              <a:t>42dB</a:t>
            </a:r>
            <a:r>
              <a:rPr lang="zh-CN" altLang="zh-CN" sz="1800" dirty="0"/>
              <a:t>）是吻合的，也大大超出了题目的要求。</a:t>
            </a:r>
          </a:p>
        </p:txBody>
      </p:sp>
    </p:spTree>
    <p:extLst>
      <p:ext uri="{BB962C8B-B14F-4D97-AF65-F5344CB8AC3E}">
        <p14:creationId xmlns:p14="http://schemas.microsoft.com/office/powerpoint/2010/main" val="2330983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393295236"/>
              </p:ext>
            </p:extLst>
          </p:nvPr>
        </p:nvGraphicFramePr>
        <p:xfrm>
          <a:off x="2504924" y="1684399"/>
          <a:ext cx="7247466" cy="1261872"/>
        </p:xfrm>
        <a:graphic>
          <a:graphicData uri="http://schemas.openxmlformats.org/drawingml/2006/table">
            <a:tbl>
              <a:tblPr firstRow="1" firstCol="1" bandRow="1">
                <a:tableStyleId>{5C22544A-7EE6-4342-B048-85BDC9FD1C3A}</a:tableStyleId>
              </a:tblPr>
              <a:tblGrid>
                <a:gridCol w="1369360">
                  <a:extLst>
                    <a:ext uri="{9D8B030D-6E8A-4147-A177-3AD203B41FA5}">
                      <a16:colId xmlns:a16="http://schemas.microsoft.com/office/drawing/2014/main" val="2131808804"/>
                    </a:ext>
                  </a:extLst>
                </a:gridCol>
                <a:gridCol w="1368111">
                  <a:extLst>
                    <a:ext uri="{9D8B030D-6E8A-4147-A177-3AD203B41FA5}">
                      <a16:colId xmlns:a16="http://schemas.microsoft.com/office/drawing/2014/main" val="3382925084"/>
                    </a:ext>
                  </a:extLst>
                </a:gridCol>
                <a:gridCol w="1353795">
                  <a:extLst>
                    <a:ext uri="{9D8B030D-6E8A-4147-A177-3AD203B41FA5}">
                      <a16:colId xmlns:a16="http://schemas.microsoft.com/office/drawing/2014/main" val="2119499608"/>
                    </a:ext>
                  </a:extLst>
                </a:gridCol>
                <a:gridCol w="1578100">
                  <a:extLst>
                    <a:ext uri="{9D8B030D-6E8A-4147-A177-3AD203B41FA5}">
                      <a16:colId xmlns:a16="http://schemas.microsoft.com/office/drawing/2014/main" val="2978169889"/>
                    </a:ext>
                  </a:extLst>
                </a:gridCol>
                <a:gridCol w="1578100">
                  <a:extLst>
                    <a:ext uri="{9D8B030D-6E8A-4147-A177-3AD203B41FA5}">
                      <a16:colId xmlns:a16="http://schemas.microsoft.com/office/drawing/2014/main" val="263762215"/>
                    </a:ext>
                  </a:extLst>
                </a:gridCol>
              </a:tblGrid>
              <a:tr h="0">
                <a:tc>
                  <a:txBody>
                    <a:bodyPr/>
                    <a:lstStyle/>
                    <a:p>
                      <a:pPr algn="ctr">
                        <a:lnSpc>
                          <a:spcPct val="115000"/>
                        </a:lnSpc>
                        <a:spcAft>
                          <a:spcPts val="0"/>
                        </a:spcAft>
                      </a:pPr>
                      <a:r>
                        <a:rPr lang="en-US" sz="1800" kern="10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2kHz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500kHz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2MHz</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81718021"/>
                  </a:ext>
                </a:extLst>
              </a:tr>
              <a:tr h="0">
                <a:tc>
                  <a:txBody>
                    <a:bodyPr/>
                    <a:lstStyle/>
                    <a:p>
                      <a:pPr algn="ctr">
                        <a:lnSpc>
                          <a:spcPct val="115000"/>
                        </a:lnSpc>
                        <a:spcAft>
                          <a:spcPts val="0"/>
                        </a:spcAft>
                      </a:pPr>
                      <a:r>
                        <a:rPr lang="zh-CN" sz="1800" kern="100" dirty="0">
                          <a:effectLst/>
                        </a:rPr>
                        <a:t>输入</a:t>
                      </a:r>
                      <a:r>
                        <a:rPr lang="en-US" sz="1800" kern="100" dirty="0">
                          <a:effectLst/>
                        </a:rPr>
                        <a:t>10mV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2.04V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2.08V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2.10V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2.21V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39125633"/>
                  </a:ext>
                </a:extLst>
              </a:tr>
              <a:tr h="0">
                <a:tc>
                  <a:txBody>
                    <a:bodyPr/>
                    <a:lstStyle/>
                    <a:p>
                      <a:pPr algn="ctr">
                        <a:lnSpc>
                          <a:spcPct val="115000"/>
                        </a:lnSpc>
                        <a:spcAft>
                          <a:spcPts val="0"/>
                        </a:spcAft>
                      </a:pPr>
                      <a:r>
                        <a:rPr lang="zh-CN" sz="1800" kern="100" dirty="0">
                          <a:effectLst/>
                        </a:rPr>
                        <a:t>输入</a:t>
                      </a:r>
                      <a:r>
                        <a:rPr lang="en-US" sz="1800" kern="100" dirty="0">
                          <a:effectLst/>
                        </a:rPr>
                        <a:t>100mV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2.11V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2.16V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2.29V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85914586"/>
                  </a:ext>
                </a:extLst>
              </a:tr>
              <a:tr h="0">
                <a:tc>
                  <a:txBody>
                    <a:bodyPr/>
                    <a:lstStyle/>
                    <a:p>
                      <a:pPr algn="ctr">
                        <a:lnSpc>
                          <a:spcPct val="115000"/>
                        </a:lnSpc>
                        <a:spcAft>
                          <a:spcPts val="0"/>
                        </a:spcAft>
                      </a:pPr>
                      <a:r>
                        <a:rPr lang="zh-CN" sz="1800" kern="100">
                          <a:effectLst/>
                        </a:rPr>
                        <a:t>输入</a:t>
                      </a:r>
                      <a:r>
                        <a:rPr lang="en-US" sz="1800" kern="100">
                          <a:effectLst/>
                        </a:rPr>
                        <a:t>600mV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2.13V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2.18V</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2.17V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2.27V</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84715870"/>
                  </a:ext>
                </a:extLst>
              </a:tr>
            </a:tbl>
          </a:graphicData>
        </a:graphic>
      </p:graphicFrame>
      <p:sp>
        <p:nvSpPr>
          <p:cNvPr id="6" name="Rectangle 1"/>
          <p:cNvSpPr>
            <a:spLocks noChangeArrowheads="1"/>
          </p:cNvSpPr>
          <p:nvPr/>
        </p:nvSpPr>
        <p:spPr bwMode="auto">
          <a:xfrm>
            <a:off x="515257" y="406279"/>
            <a:ext cx="11226800"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en-US" sz="1800" dirty="0">
                <a:latin typeface="Arial" charset="0"/>
              </a:rPr>
              <a:t>实测结果</a:t>
            </a:r>
            <a:r>
              <a:rPr lang="en-US" altLang="zh-CN" sz="1800" dirty="0">
                <a:latin typeface="Arial" charset="0"/>
              </a:rPr>
              <a:t>2</a:t>
            </a:r>
            <a:r>
              <a:rPr lang="zh-CN" altLang="en-US" sz="1800" dirty="0">
                <a:latin typeface="Arial" charset="0"/>
              </a:rPr>
              <a:t>（</a:t>
            </a:r>
            <a:r>
              <a:rPr lang="zh-CN" altLang="zh-CN" sz="1800" dirty="0">
                <a:latin typeface="Arial" charset="0"/>
              </a:rPr>
              <a:t>频响测试</a:t>
            </a:r>
            <a:r>
              <a:rPr lang="zh-CN" altLang="en-US" sz="1800" dirty="0">
                <a:latin typeface="Arial" charset="0"/>
              </a:rPr>
              <a:t>）：</a:t>
            </a:r>
            <a:endParaRPr lang="en-US" altLang="zh-CN" sz="1800" dirty="0">
              <a:latin typeface="Arial" charset="0"/>
            </a:endParaRPr>
          </a:p>
          <a:p>
            <a:pPr indent="457200">
              <a:lnSpc>
                <a:spcPct val="150000"/>
              </a:lnSpc>
            </a:pPr>
            <a:r>
              <a:rPr lang="zh-CN" altLang="zh-CN" sz="1800" dirty="0">
                <a:latin typeface="Arial" charset="0"/>
              </a:rPr>
              <a:t>输入电压为</a:t>
            </a:r>
            <a:r>
              <a:rPr lang="en-US" altLang="zh-CN" sz="1800" dirty="0">
                <a:latin typeface="Arial" charset="0"/>
              </a:rPr>
              <a:t>10mV</a:t>
            </a:r>
            <a:r>
              <a:rPr lang="zh-CN" altLang="en-US" sz="1800" dirty="0">
                <a:latin typeface="Arial" charset="0"/>
              </a:rPr>
              <a:t>、</a:t>
            </a:r>
            <a:r>
              <a:rPr lang="en-US" altLang="zh-CN" sz="1800" dirty="0">
                <a:latin typeface="Arial" charset="0"/>
              </a:rPr>
              <a:t>100mV</a:t>
            </a:r>
            <a:r>
              <a:rPr lang="zh-CN" altLang="en-US" sz="1800" dirty="0">
                <a:latin typeface="Arial" charset="0"/>
              </a:rPr>
              <a:t>与</a:t>
            </a:r>
            <a:r>
              <a:rPr lang="en-US" altLang="zh-CN" sz="1800" dirty="0">
                <a:latin typeface="Arial" charset="0"/>
              </a:rPr>
              <a:t>600mV</a:t>
            </a:r>
            <a:r>
              <a:rPr lang="zh-CN" altLang="en-US" sz="1800" dirty="0">
                <a:latin typeface="Arial" charset="0"/>
              </a:rPr>
              <a:t>（整个起控范围的两个</a:t>
            </a:r>
            <a:r>
              <a:rPr lang="zh-CN" altLang="en-US" sz="1800" dirty="0" smtClean="0">
                <a:latin typeface="Arial" charset="0"/>
              </a:rPr>
              <a:t>端点与</a:t>
            </a:r>
            <a:r>
              <a:rPr lang="zh-CN" altLang="en-US" sz="1800" dirty="0">
                <a:latin typeface="Arial" charset="0"/>
              </a:rPr>
              <a:t>中间）测量输出电压，测试结果如下：</a:t>
            </a: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zh-CN" altLang="en-US" sz="1800" dirty="0">
              <a:latin typeface="Arial" charset="0"/>
            </a:endParaRPr>
          </a:p>
          <a:p>
            <a:pPr indent="457200">
              <a:lnSpc>
                <a:spcPct val="150000"/>
              </a:lnSpc>
            </a:pPr>
            <a:endParaRPr lang="en-US" altLang="zh-CN" sz="1800" dirty="0">
              <a:latin typeface="Arial" charset="0"/>
            </a:endParaRPr>
          </a:p>
          <a:p>
            <a:pPr indent="457200">
              <a:lnSpc>
                <a:spcPct val="150000"/>
              </a:lnSpc>
            </a:pPr>
            <a:r>
              <a:rPr lang="zh-CN" altLang="en-US" sz="1800" dirty="0">
                <a:latin typeface="Arial" charset="0"/>
              </a:rPr>
              <a:t>在所有被测频率上，输入</a:t>
            </a:r>
            <a:r>
              <a:rPr lang="en-US" altLang="zh-CN" sz="1800" dirty="0">
                <a:latin typeface="Arial" charset="0"/>
              </a:rPr>
              <a:t>10mV~100mV</a:t>
            </a:r>
            <a:r>
              <a:rPr lang="zh-CN" altLang="en-US" sz="1800" dirty="0">
                <a:latin typeface="Arial" charset="0"/>
              </a:rPr>
              <a:t>时输出相对波动均低于</a:t>
            </a:r>
            <a:r>
              <a:rPr lang="en-US" altLang="zh-CN" sz="1800" dirty="0">
                <a:latin typeface="Arial" charset="0"/>
              </a:rPr>
              <a:t>0.4dB</a:t>
            </a:r>
            <a:r>
              <a:rPr lang="zh-CN" altLang="en-US" sz="1800" dirty="0">
                <a:latin typeface="Arial" charset="0"/>
              </a:rPr>
              <a:t>。可见此电路在</a:t>
            </a:r>
            <a:r>
              <a:rPr lang="en-US" altLang="zh-CN" sz="1800" dirty="0">
                <a:latin typeface="Arial" charset="0"/>
              </a:rPr>
              <a:t>100Hz~2MHz</a:t>
            </a:r>
            <a:r>
              <a:rPr lang="zh-CN" altLang="en-US" sz="1800" dirty="0">
                <a:latin typeface="Arial" charset="0"/>
              </a:rPr>
              <a:t>范围内都有很好的</a:t>
            </a:r>
            <a:r>
              <a:rPr lang="en-US" altLang="zh-CN" sz="1800" dirty="0">
                <a:latin typeface="Arial" charset="0"/>
              </a:rPr>
              <a:t>AGC</a:t>
            </a:r>
            <a:r>
              <a:rPr lang="zh-CN" altLang="en-US" sz="1800" dirty="0">
                <a:latin typeface="Arial" charset="0"/>
              </a:rPr>
              <a:t>特性。</a:t>
            </a:r>
            <a:endParaRPr lang="en-US" altLang="zh-CN" sz="1800" dirty="0">
              <a:latin typeface="Arial" charset="0"/>
            </a:endParaRPr>
          </a:p>
          <a:p>
            <a:pPr indent="457200">
              <a:lnSpc>
                <a:spcPct val="150000"/>
              </a:lnSpc>
            </a:pPr>
            <a:r>
              <a:rPr lang="zh-CN" altLang="en-US" sz="1800" dirty="0">
                <a:latin typeface="Arial" charset="0"/>
              </a:rPr>
              <a:t>笔者也测试了低于</a:t>
            </a:r>
            <a:r>
              <a:rPr lang="en-US" altLang="zh-CN" sz="1800" dirty="0">
                <a:latin typeface="Arial" charset="0"/>
              </a:rPr>
              <a:t>100Hz</a:t>
            </a:r>
            <a:r>
              <a:rPr lang="zh-CN" altLang="en-US" sz="1800" dirty="0">
                <a:latin typeface="Arial" charset="0"/>
              </a:rPr>
              <a:t>的低频响应，能稳定工作的最低频率为</a:t>
            </a:r>
            <a:r>
              <a:rPr lang="en-US" altLang="zh-CN" sz="1800" dirty="0">
                <a:latin typeface="Arial" charset="0"/>
              </a:rPr>
              <a:t>50Hz</a:t>
            </a:r>
            <a:r>
              <a:rPr lang="zh-CN" altLang="en-US" sz="1800" dirty="0">
                <a:latin typeface="Arial" charset="0"/>
              </a:rPr>
              <a:t>，低于</a:t>
            </a:r>
            <a:r>
              <a:rPr lang="en-US" altLang="zh-CN" sz="1800" dirty="0">
                <a:latin typeface="Arial" charset="0"/>
              </a:rPr>
              <a:t>50Hz</a:t>
            </a:r>
            <a:r>
              <a:rPr lang="zh-CN" altLang="en-US" sz="1800" dirty="0">
                <a:latin typeface="Arial" charset="0"/>
              </a:rPr>
              <a:t>后输出有波动。其原因是在更低的频率下，二极管整流后的脉动信号已经无法由其后的电容过滤成直流信号，其中的脉动成分导致</a:t>
            </a:r>
            <a:r>
              <a:rPr lang="en-US" altLang="zh-CN" sz="1800" dirty="0">
                <a:latin typeface="Arial" charset="0"/>
              </a:rPr>
              <a:t>VGA</a:t>
            </a:r>
            <a:r>
              <a:rPr lang="zh-CN" altLang="en-US" sz="1800" dirty="0">
                <a:latin typeface="Arial" charset="0"/>
              </a:rPr>
              <a:t>的增益波动。加大</a:t>
            </a:r>
            <a:r>
              <a:rPr lang="en-US" altLang="zh-CN" sz="1800" dirty="0">
                <a:latin typeface="Arial" charset="0"/>
              </a:rPr>
              <a:t>RC</a:t>
            </a:r>
            <a:r>
              <a:rPr lang="zh-CN" altLang="en-US" sz="1800" dirty="0">
                <a:latin typeface="Arial" charset="0"/>
              </a:rPr>
              <a:t>时间常数（例如增大</a:t>
            </a:r>
            <a:r>
              <a:rPr lang="en-US" altLang="zh-CN" sz="1800" dirty="0">
                <a:latin typeface="Arial" charset="0"/>
              </a:rPr>
              <a:t>C2</a:t>
            </a:r>
            <a:r>
              <a:rPr lang="zh-CN" altLang="en-US" sz="1800" dirty="0">
                <a:latin typeface="Arial" charset="0"/>
              </a:rPr>
              <a:t>与</a:t>
            </a:r>
            <a:r>
              <a:rPr lang="en-US" altLang="zh-CN" sz="1800" dirty="0">
                <a:latin typeface="Arial" charset="0"/>
              </a:rPr>
              <a:t>C3</a:t>
            </a:r>
            <a:r>
              <a:rPr lang="zh-CN" altLang="en-US" sz="1800" dirty="0">
                <a:latin typeface="Arial" charset="0"/>
              </a:rPr>
              <a:t>）能够使得此可控的最低频率下降，但时间常数太大则系统的响应速度将变得迟钝，所以笔者没有进一步追求更低的可控频率。</a:t>
            </a:r>
          </a:p>
        </p:txBody>
      </p:sp>
    </p:spTree>
    <p:extLst>
      <p:ext uri="{BB962C8B-B14F-4D97-AF65-F5344CB8AC3E}">
        <p14:creationId xmlns:p14="http://schemas.microsoft.com/office/powerpoint/2010/main" val="2647837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1486" y="913564"/>
            <a:ext cx="10058400" cy="4928798"/>
          </a:xfrm>
          <a:prstGeom prst="rect">
            <a:avLst/>
          </a:prstGeom>
        </p:spPr>
      </p:pic>
    </p:spTree>
    <p:extLst>
      <p:ext uri="{BB962C8B-B14F-4D97-AF65-F5344CB8AC3E}">
        <p14:creationId xmlns:p14="http://schemas.microsoft.com/office/powerpoint/2010/main" val="2402989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428171" y="474133"/>
            <a:ext cx="11306629" cy="5586145"/>
          </a:xfrm>
          <a:prstGeom prst="rect">
            <a:avLst/>
          </a:prstGeom>
          <a:noFill/>
        </p:spPr>
        <p:txBody>
          <a:bodyPr wrap="square" rtlCol="0">
            <a:spAutoFit/>
          </a:bodyPr>
          <a:lstStyle/>
          <a:p>
            <a:pPr>
              <a:lnSpc>
                <a:spcPct val="150000"/>
              </a:lnSpc>
            </a:pPr>
            <a:r>
              <a:rPr lang="zh-CN" altLang="en-US" dirty="0" smtClean="0">
                <a:solidFill>
                  <a:srgbClr val="FF0000"/>
                </a:solidFill>
                <a:latin typeface="+mj-ea"/>
                <a:ea typeface="+mj-ea"/>
              </a:rPr>
              <a:t>二、有源滤波器</a:t>
            </a:r>
            <a:endParaRPr lang="en-US" altLang="zh-CN" dirty="0" smtClean="0">
              <a:solidFill>
                <a:srgbClr val="FF0000"/>
              </a:solidFill>
              <a:latin typeface="+mj-ea"/>
              <a:ea typeface="+mj-ea"/>
            </a:endParaRPr>
          </a:p>
          <a:p>
            <a:pPr>
              <a:lnSpc>
                <a:spcPct val="150000"/>
              </a:lnSpc>
            </a:pPr>
            <a:r>
              <a:rPr lang="en-US" altLang="zh-CN" dirty="0">
                <a:solidFill>
                  <a:srgbClr val="FF0000"/>
                </a:solidFill>
              </a:rPr>
              <a:t> </a:t>
            </a:r>
            <a:r>
              <a:rPr lang="en-US" altLang="zh-CN" dirty="0" smtClean="0">
                <a:solidFill>
                  <a:srgbClr val="FF0000"/>
                </a:solidFill>
              </a:rPr>
              <a:t>     </a:t>
            </a:r>
            <a:r>
              <a:rPr lang="zh-CN" altLang="en-US" dirty="0" smtClean="0">
                <a:solidFill>
                  <a:srgbClr val="FF0000"/>
                </a:solidFill>
              </a:rPr>
              <a:t>模拟滤波器的基础</a:t>
            </a:r>
            <a:r>
              <a:rPr lang="zh-CN" altLang="en-US" dirty="0">
                <a:solidFill>
                  <a:srgbClr val="FF0000"/>
                </a:solidFill>
              </a:rPr>
              <a:t>知识</a:t>
            </a:r>
            <a:endParaRPr lang="en-US" altLang="zh-CN" dirty="0">
              <a:solidFill>
                <a:srgbClr val="FF0000"/>
              </a:solidFill>
            </a:endParaRPr>
          </a:p>
          <a:p>
            <a:pPr indent="457200">
              <a:lnSpc>
                <a:spcPct val="150000"/>
              </a:lnSpc>
            </a:pPr>
            <a:r>
              <a:rPr lang="zh-CN" altLang="zh-CN" sz="1800" dirty="0"/>
              <a:t>一个理想滤波器的幅频特性是一个矩形，通带内无衰减而阻带内完全衰减。但是实际上不可能做出这种滤波器，所以用各种函数逼近这个理想的矩形。</a:t>
            </a:r>
            <a:endParaRPr lang="en-US" altLang="zh-CN" sz="1800" dirty="0"/>
          </a:p>
          <a:p>
            <a:pPr indent="457200">
              <a:lnSpc>
                <a:spcPct val="150000"/>
              </a:lnSpc>
            </a:pPr>
            <a:r>
              <a:rPr lang="zh-CN" altLang="zh-CN" sz="1800" dirty="0"/>
              <a:t>常见的逼近方式有三种：巴特沃斯函数逼近、切比雪夫函数逼近或椭圆函数逼近，相应的滤波器称为巴特沃斯型、切比雪夫型或椭圆型滤波器。</a:t>
            </a:r>
          </a:p>
          <a:p>
            <a:pPr indent="457200">
              <a:lnSpc>
                <a:spcPct val="150000"/>
              </a:lnSpc>
            </a:pPr>
            <a:r>
              <a:rPr lang="zh-CN" altLang="zh-CN" sz="1800" dirty="0"/>
              <a:t>另外，一个理想滤波器的相频特性应该是一根斜率不变的直线，其相位随着频率的升高线性下降。但是上述三种类型滤波器的相频特性都具有较强的非线性，所以</a:t>
            </a:r>
            <a:r>
              <a:rPr lang="zh-CN" altLang="zh-CN" sz="1800" dirty="0" smtClean="0"/>
              <a:t>在关注</a:t>
            </a:r>
            <a:r>
              <a:rPr lang="zh-CN" altLang="zh-CN" sz="1800" dirty="0"/>
              <a:t>相频特性的应用中采用一些具有较好相频特性的函数进行逼近，比较常见是贝塞尔函数，那种滤波器就称为贝塞尔型滤波器</a:t>
            </a:r>
            <a:r>
              <a:rPr lang="zh-CN" altLang="zh-CN" sz="1800" dirty="0" smtClean="0"/>
              <a:t>。</a:t>
            </a:r>
            <a:endParaRPr lang="en-US" altLang="zh-CN" sz="1800" dirty="0" smtClean="0"/>
          </a:p>
          <a:p>
            <a:pPr indent="457200">
              <a:lnSpc>
                <a:spcPct val="150000"/>
              </a:lnSpc>
            </a:pPr>
            <a:endParaRPr lang="en-US" altLang="zh-CN" sz="1800" dirty="0" smtClean="0">
              <a:latin typeface="楷体" panose="02010609060101010101" pitchFamily="49" charset="-122"/>
              <a:ea typeface="楷体" panose="02010609060101010101" pitchFamily="49" charset="-122"/>
            </a:endParaRPr>
          </a:p>
          <a:p>
            <a:pPr indent="457200">
              <a:lnSpc>
                <a:spcPct val="150000"/>
              </a:lnSpc>
            </a:pPr>
            <a:endParaRPr lang="en-US" altLang="zh-CN" sz="1800" dirty="0">
              <a:latin typeface="楷体" panose="02010609060101010101" pitchFamily="49" charset="-122"/>
              <a:ea typeface="楷体" panose="02010609060101010101" pitchFamily="49" charset="-122"/>
            </a:endParaRPr>
          </a:p>
          <a:p>
            <a:pPr indent="457200">
              <a:lnSpc>
                <a:spcPct val="150000"/>
              </a:lnSpc>
            </a:pPr>
            <a:endParaRPr lang="en-US" altLang="zh-CN" sz="1800" dirty="0" smtClean="0">
              <a:latin typeface="楷体" panose="02010609060101010101" pitchFamily="49" charset="-122"/>
              <a:ea typeface="楷体" panose="02010609060101010101" pitchFamily="49" charset="-122"/>
            </a:endParaRPr>
          </a:p>
          <a:p>
            <a:pPr indent="457200">
              <a:lnSpc>
                <a:spcPct val="150000"/>
              </a:lnSpc>
            </a:pPr>
            <a:r>
              <a:rPr lang="zh-CN" altLang="en-US" sz="1800" dirty="0" smtClean="0">
                <a:latin typeface="楷体" panose="02010609060101010101" pitchFamily="49" charset="-122"/>
                <a:ea typeface="楷体" panose="02010609060101010101" pitchFamily="49" charset="-122"/>
              </a:rPr>
              <a:t>说明：有源滤波器的内容很多，这个</a:t>
            </a:r>
            <a:r>
              <a:rPr lang="en-US" altLang="zh-CN" sz="1800" dirty="0" smtClean="0">
                <a:latin typeface="楷体" panose="02010609060101010101" pitchFamily="49" charset="-122"/>
                <a:ea typeface="楷体" panose="02010609060101010101" pitchFamily="49" charset="-122"/>
              </a:rPr>
              <a:t>PPT</a:t>
            </a:r>
            <a:r>
              <a:rPr lang="zh-CN" altLang="en-US" sz="1800" dirty="0" smtClean="0">
                <a:latin typeface="楷体" panose="02010609060101010101" pitchFamily="49" charset="-122"/>
                <a:ea typeface="楷体" panose="02010609060101010101" pitchFamily="49" charset="-122"/>
              </a:rPr>
              <a:t>只做简单介绍，培训材料</a:t>
            </a:r>
            <a:r>
              <a:rPr lang="en-US" altLang="zh-CN" sz="1800" dirty="0" smtClean="0">
                <a:latin typeface="楷体" panose="02010609060101010101" pitchFamily="49" charset="-122"/>
                <a:ea typeface="楷体" panose="02010609060101010101" pitchFamily="49" charset="-122"/>
              </a:rPr>
              <a:t>《</a:t>
            </a:r>
            <a:r>
              <a:rPr lang="zh-CN" altLang="en-US" sz="1800" dirty="0" smtClean="0">
                <a:latin typeface="楷体" panose="02010609060101010101" pitchFamily="49" charset="-122"/>
                <a:ea typeface="楷体" panose="02010609060101010101" pitchFamily="49" charset="-122"/>
              </a:rPr>
              <a:t>有源滤波器</a:t>
            </a:r>
            <a:r>
              <a:rPr lang="en-US" altLang="zh-CN" sz="1800" dirty="0" smtClean="0">
                <a:latin typeface="楷体" panose="02010609060101010101" pitchFamily="49" charset="-122"/>
                <a:ea typeface="楷体" panose="02010609060101010101" pitchFamily="49" charset="-122"/>
              </a:rPr>
              <a:t>.pdf》</a:t>
            </a:r>
            <a:r>
              <a:rPr lang="zh-CN" altLang="en-US" sz="1800" dirty="0" smtClean="0">
                <a:latin typeface="楷体" panose="02010609060101010101" pitchFamily="49" charset="-122"/>
                <a:ea typeface="楷体" panose="02010609060101010101" pitchFamily="49" charset="-122"/>
              </a:rPr>
              <a:t>有更详细的介绍。</a:t>
            </a:r>
            <a:endParaRPr lang="zh-CN" altLang="en-US"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897321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Rectangle 2"/>
          <p:cNvSpPr>
            <a:spLocks noChangeArrowheads="1"/>
          </p:cNvSpPr>
          <p:nvPr/>
        </p:nvSpPr>
        <p:spPr bwMode="auto">
          <a:xfrm>
            <a:off x="464457" y="432500"/>
            <a:ext cx="11183257" cy="253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巴特沃斯型滤波器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幅频特性在通带内平坦（单调，没有波动），在截止频率处的幅度下降</a:t>
            </a:r>
            <a:r>
              <a:rPr lang="en-US" altLang="zh-CN" sz="1800" dirty="0">
                <a:latin typeface="Arial" charset="0"/>
              </a:rPr>
              <a:t>3dB</a:t>
            </a:r>
            <a:r>
              <a:rPr lang="zh-CN" altLang="en-US" sz="1800" dirty="0">
                <a:latin typeface="Arial" charset="0"/>
              </a:rPr>
              <a:t>。随着阶数的增加，其过渡带越来越陡。</a:t>
            </a:r>
            <a:endParaRPr lang="en-US" altLang="zh-CN" sz="1800" dirty="0">
              <a:latin typeface="Arial" charset="0"/>
            </a:endParaRPr>
          </a:p>
          <a:p>
            <a:pPr indent="457200">
              <a:lnSpc>
                <a:spcPct val="150000"/>
              </a:lnSpc>
            </a:pPr>
            <a:r>
              <a:rPr lang="zh-CN" altLang="en-US" sz="1800" dirty="0">
                <a:latin typeface="Arial" charset="0"/>
              </a:rPr>
              <a:t>这是一种具有最平坦幅频响应的逼近方式，其主要缺点是过渡带的陡峭程度不是最好，或者说为了得到某个需要的陡度就需要比较高的阶数。</a:t>
            </a:r>
          </a:p>
          <a:p>
            <a:pPr indent="457200">
              <a:lnSpc>
                <a:spcPct val="150000"/>
              </a:lnSpc>
            </a:pPr>
            <a:r>
              <a:rPr lang="zh-CN" altLang="en-US" sz="1800" dirty="0">
                <a:latin typeface="Arial" charset="0"/>
              </a:rPr>
              <a:t>下图显示了巴特沃斯型低通滤波器的幅频特性，其中</a:t>
            </a:r>
            <a:r>
              <a:rPr lang="en-US" altLang="zh-CN" sz="1800" dirty="0">
                <a:latin typeface="Arial" charset="0"/>
              </a:rPr>
              <a:t>f</a:t>
            </a:r>
            <a:r>
              <a:rPr lang="en-US" altLang="zh-CN" sz="1800" baseline="-25000" dirty="0">
                <a:latin typeface="Arial" charset="0"/>
              </a:rPr>
              <a:t>c</a:t>
            </a:r>
            <a:r>
              <a:rPr lang="zh-CN" altLang="en-US" sz="1800" dirty="0">
                <a:latin typeface="Arial" charset="0"/>
              </a:rPr>
              <a:t>是</a:t>
            </a:r>
            <a:r>
              <a:rPr lang="en-US" altLang="zh-CN" sz="1800" dirty="0">
                <a:latin typeface="Arial" charset="0"/>
              </a:rPr>
              <a:t>-3dB</a:t>
            </a:r>
            <a:r>
              <a:rPr lang="zh-CN" altLang="en-US" sz="1800" dirty="0">
                <a:latin typeface="Arial" charset="0"/>
              </a:rPr>
              <a:t>截止频率，</a:t>
            </a:r>
            <a:r>
              <a:rPr lang="en-US" altLang="zh-CN" sz="1800" dirty="0">
                <a:latin typeface="Arial" charset="0"/>
              </a:rPr>
              <a:t>n</a:t>
            </a:r>
            <a:r>
              <a:rPr lang="zh-CN" altLang="en-US" sz="1800" dirty="0">
                <a:latin typeface="Arial" charset="0"/>
              </a:rPr>
              <a:t>是滤波器的阶数。</a:t>
            </a:r>
          </a:p>
        </p:txBody>
      </p:sp>
      <p:graphicFrame>
        <p:nvGraphicFramePr>
          <p:cNvPr id="6" name="对象 5"/>
          <p:cNvGraphicFramePr>
            <a:graphicFrameLocks noChangeAspect="1"/>
          </p:cNvGraphicFramePr>
          <p:nvPr>
            <p:extLst>
              <p:ext uri="{D42A27DB-BD31-4B8C-83A1-F6EECF244321}">
                <p14:modId xmlns:p14="http://schemas.microsoft.com/office/powerpoint/2010/main" val="4256949871"/>
              </p:ext>
            </p:extLst>
          </p:nvPr>
        </p:nvGraphicFramePr>
        <p:xfrm>
          <a:off x="1788268" y="3208786"/>
          <a:ext cx="6094924" cy="3074286"/>
        </p:xfrm>
        <a:graphic>
          <a:graphicData uri="http://schemas.openxmlformats.org/presentationml/2006/ole">
            <mc:AlternateContent xmlns:mc="http://schemas.openxmlformats.org/markup-compatibility/2006">
              <mc:Choice xmlns:v="urn:schemas-microsoft-com:vml" Requires="v">
                <p:oleObj spid="_x0000_s11313" name="Visio" r:id="rId3" imgW="3427249" imgH="1850413" progId="Visio.Drawing.11">
                  <p:embed/>
                </p:oleObj>
              </mc:Choice>
              <mc:Fallback>
                <p:oleObj name="Visio" r:id="rId3" imgW="3427249" imgH="185041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8268" y="3208786"/>
                        <a:ext cx="6094924" cy="3074286"/>
                      </a:xfrm>
                      <a:prstGeom prst="rect">
                        <a:avLst/>
                      </a:prstGeom>
                      <a:noFill/>
                    </p:spPr>
                  </p:pic>
                </p:oleObj>
              </mc:Fallback>
            </mc:AlternateContent>
          </a:graphicData>
        </a:graphic>
      </p:graphicFrame>
      <p:sp>
        <p:nvSpPr>
          <p:cNvPr id="7" name="文本框 6"/>
          <p:cNvSpPr txBox="1"/>
          <p:nvPr/>
        </p:nvSpPr>
        <p:spPr>
          <a:xfrm>
            <a:off x="8396515" y="3657601"/>
            <a:ext cx="2721428" cy="1703736"/>
          </a:xfrm>
          <a:prstGeom prst="rect">
            <a:avLst/>
          </a:prstGeom>
          <a:noFill/>
        </p:spPr>
        <p:txBody>
          <a:bodyPr wrap="square" rtlCol="0">
            <a:spAutoFit/>
          </a:bodyPr>
          <a:lstStyle/>
          <a:p>
            <a:pPr>
              <a:lnSpc>
                <a:spcPct val="150000"/>
              </a:lnSpc>
            </a:pPr>
            <a:r>
              <a:rPr lang="zh-CN" altLang="en-US" sz="1800" dirty="0" smtClean="0"/>
              <a:t>这一段的斜率是</a:t>
            </a:r>
            <a:endParaRPr lang="en-US" altLang="zh-CN" sz="1800" dirty="0" smtClean="0"/>
          </a:p>
          <a:p>
            <a:pPr>
              <a:lnSpc>
                <a:spcPct val="150000"/>
              </a:lnSpc>
            </a:pPr>
            <a:r>
              <a:rPr lang="en-US" altLang="zh-CN" sz="1800" dirty="0" smtClean="0"/>
              <a:t>n*(-20dB/</a:t>
            </a:r>
            <a:r>
              <a:rPr lang="zh-CN" altLang="en-US" sz="1800" dirty="0" smtClean="0"/>
              <a:t>十倍频程</a:t>
            </a:r>
            <a:r>
              <a:rPr lang="en-US" altLang="zh-CN" sz="1800" dirty="0" smtClean="0"/>
              <a:t>)</a:t>
            </a:r>
          </a:p>
          <a:p>
            <a:pPr>
              <a:lnSpc>
                <a:spcPct val="150000"/>
              </a:lnSpc>
            </a:pPr>
            <a:r>
              <a:rPr lang="zh-CN" altLang="en-US" sz="1800" dirty="0" smtClean="0"/>
              <a:t>或</a:t>
            </a:r>
            <a:endParaRPr lang="en-US" altLang="zh-CN" sz="1800" dirty="0" smtClean="0"/>
          </a:p>
          <a:p>
            <a:pPr>
              <a:lnSpc>
                <a:spcPct val="150000"/>
              </a:lnSpc>
            </a:pPr>
            <a:r>
              <a:rPr lang="en-US" altLang="zh-CN" sz="1800" dirty="0" smtClean="0"/>
              <a:t>n*(-6dB/</a:t>
            </a:r>
            <a:r>
              <a:rPr lang="zh-CN" altLang="en-US" sz="1800" dirty="0" smtClean="0"/>
              <a:t>倍频程</a:t>
            </a:r>
            <a:r>
              <a:rPr lang="en-US" altLang="zh-CN" sz="1800" dirty="0" smtClean="0"/>
              <a:t>)</a:t>
            </a:r>
            <a:endParaRPr lang="zh-CN" altLang="en-US" dirty="0"/>
          </a:p>
        </p:txBody>
      </p:sp>
      <p:cxnSp>
        <p:nvCxnSpPr>
          <p:cNvPr id="9" name="直接箭头连接符 8"/>
          <p:cNvCxnSpPr/>
          <p:nvPr/>
        </p:nvCxnSpPr>
        <p:spPr>
          <a:xfrm flipH="1">
            <a:off x="6255658" y="3957926"/>
            <a:ext cx="2090057" cy="1103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5638800" y="3957926"/>
            <a:ext cx="2706915" cy="1103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20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Rectangle 2"/>
          <p:cNvSpPr>
            <a:spLocks noChangeArrowheads="1"/>
          </p:cNvSpPr>
          <p:nvPr/>
        </p:nvSpPr>
        <p:spPr bwMode="auto">
          <a:xfrm>
            <a:off x="471713" y="606211"/>
            <a:ext cx="11205029" cy="1703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切比雪夫型滤波器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在相同阶数的条件下得到比巴特沃斯型滤波器更陡峭的过渡特性，其代价是幅频特性在通带内具有微小的起伏（通常用分贝表示，此波动量越大在相同阶数下的过渡带越陡）。</a:t>
            </a:r>
            <a:endParaRPr lang="en-US" altLang="zh-CN" sz="1800" dirty="0">
              <a:latin typeface="Arial" charset="0"/>
            </a:endParaRPr>
          </a:p>
          <a:p>
            <a:pPr indent="457200">
              <a:lnSpc>
                <a:spcPct val="150000"/>
              </a:lnSpc>
            </a:pPr>
            <a:r>
              <a:rPr lang="zh-CN" altLang="en-US" sz="1800" dirty="0">
                <a:latin typeface="Arial" charset="0"/>
              </a:rPr>
              <a:t>下</a:t>
            </a:r>
            <a:r>
              <a:rPr lang="zh-CN" altLang="zh-CN" sz="1800" dirty="0">
                <a:latin typeface="Arial" charset="0"/>
              </a:rPr>
              <a:t>图</a:t>
            </a:r>
            <a:r>
              <a:rPr lang="zh-CN" altLang="en-US" sz="1800" dirty="0">
                <a:latin typeface="Arial" charset="0"/>
              </a:rPr>
              <a:t>显示了切比雪夫型低通滤波器的幅频特性。</a:t>
            </a: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567944797"/>
              </p:ext>
            </p:extLst>
          </p:nvPr>
        </p:nvGraphicFramePr>
        <p:xfrm>
          <a:off x="1602908" y="2598057"/>
          <a:ext cx="6588475" cy="3431177"/>
        </p:xfrm>
        <a:graphic>
          <a:graphicData uri="http://schemas.openxmlformats.org/presentationml/2006/ole">
            <mc:AlternateContent xmlns:mc="http://schemas.openxmlformats.org/markup-compatibility/2006">
              <mc:Choice xmlns:v="urn:schemas-microsoft-com:vml" Requires="v">
                <p:oleObj spid="_x0000_s13361" name="Visio" r:id="rId3" imgW="3427249" imgH="1823480" progId="Visio.Drawing.11">
                  <p:embed/>
                </p:oleObj>
              </mc:Choice>
              <mc:Fallback>
                <p:oleObj name="Visio" r:id="rId3" imgW="3427249" imgH="182348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2908" y="2598057"/>
                        <a:ext cx="6588475" cy="3431177"/>
                      </a:xfrm>
                      <a:prstGeom prst="rect">
                        <a:avLst/>
                      </a:prstGeom>
                      <a:noFill/>
                    </p:spPr>
                  </p:pic>
                </p:oleObj>
              </mc:Fallback>
            </mc:AlternateContent>
          </a:graphicData>
        </a:graphic>
      </p:graphicFrame>
      <p:sp>
        <p:nvSpPr>
          <p:cNvPr id="7" name="文本框 6"/>
          <p:cNvSpPr txBox="1"/>
          <p:nvPr/>
        </p:nvSpPr>
        <p:spPr>
          <a:xfrm>
            <a:off x="8396515" y="3657601"/>
            <a:ext cx="2721428" cy="1703736"/>
          </a:xfrm>
          <a:prstGeom prst="rect">
            <a:avLst/>
          </a:prstGeom>
          <a:noFill/>
        </p:spPr>
        <p:txBody>
          <a:bodyPr wrap="square" rtlCol="0">
            <a:spAutoFit/>
          </a:bodyPr>
          <a:lstStyle/>
          <a:p>
            <a:pPr>
              <a:lnSpc>
                <a:spcPct val="150000"/>
              </a:lnSpc>
            </a:pPr>
            <a:r>
              <a:rPr lang="zh-CN" altLang="en-US" sz="1800" dirty="0" smtClean="0"/>
              <a:t>这一段的斜率是</a:t>
            </a:r>
            <a:endParaRPr lang="en-US" altLang="zh-CN" sz="1800" dirty="0" smtClean="0"/>
          </a:p>
          <a:p>
            <a:pPr>
              <a:lnSpc>
                <a:spcPct val="150000"/>
              </a:lnSpc>
            </a:pPr>
            <a:r>
              <a:rPr lang="en-US" altLang="zh-CN" sz="1800" dirty="0" smtClean="0"/>
              <a:t>n*(-20dB/</a:t>
            </a:r>
            <a:r>
              <a:rPr lang="zh-CN" altLang="en-US" sz="1800" dirty="0" smtClean="0"/>
              <a:t>十倍频程</a:t>
            </a:r>
            <a:r>
              <a:rPr lang="en-US" altLang="zh-CN" sz="1800" dirty="0" smtClean="0"/>
              <a:t>)</a:t>
            </a:r>
          </a:p>
          <a:p>
            <a:pPr>
              <a:lnSpc>
                <a:spcPct val="150000"/>
              </a:lnSpc>
            </a:pPr>
            <a:r>
              <a:rPr lang="zh-CN" altLang="en-US" sz="1800" dirty="0" smtClean="0"/>
              <a:t>或</a:t>
            </a:r>
            <a:endParaRPr lang="en-US" altLang="zh-CN" sz="1800" dirty="0" smtClean="0"/>
          </a:p>
          <a:p>
            <a:pPr>
              <a:lnSpc>
                <a:spcPct val="150000"/>
              </a:lnSpc>
            </a:pPr>
            <a:r>
              <a:rPr lang="en-US" altLang="zh-CN" sz="1800" dirty="0" smtClean="0"/>
              <a:t>n*(-6dB/</a:t>
            </a:r>
            <a:r>
              <a:rPr lang="zh-CN" altLang="en-US" sz="1800" dirty="0" smtClean="0"/>
              <a:t>倍频程</a:t>
            </a:r>
            <a:r>
              <a:rPr lang="en-US" altLang="zh-CN" sz="1800" dirty="0" smtClean="0"/>
              <a:t>)</a:t>
            </a:r>
            <a:endParaRPr lang="zh-CN" altLang="en-US" dirty="0"/>
          </a:p>
        </p:txBody>
      </p:sp>
      <p:cxnSp>
        <p:nvCxnSpPr>
          <p:cNvPr id="8" name="直接箭头连接符 7"/>
          <p:cNvCxnSpPr/>
          <p:nvPr/>
        </p:nvCxnSpPr>
        <p:spPr>
          <a:xfrm flipH="1">
            <a:off x="6411452" y="4042229"/>
            <a:ext cx="1985063" cy="1374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5535269" y="3957926"/>
            <a:ext cx="2861246" cy="162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026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Rectangle 2"/>
          <p:cNvSpPr>
            <a:spLocks noChangeArrowheads="1"/>
          </p:cNvSpPr>
          <p:nvPr/>
        </p:nvSpPr>
        <p:spPr bwMode="auto">
          <a:xfrm>
            <a:off x="435429" y="553224"/>
            <a:ext cx="11226799"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椭圆型滤波器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幅频特性不仅在通带内有等纹波起伏，而且在阻带内也具有等纹波起伏（从传递函数上说就是既有极点也有零点）。它是上述三种逼近类型中具有最陡峭过渡特性的，其代价就是在通带内与阻带内均存在波动。</a:t>
            </a:r>
          </a:p>
          <a:p>
            <a:pPr indent="457200">
              <a:lnSpc>
                <a:spcPct val="150000"/>
              </a:lnSpc>
            </a:pPr>
            <a:r>
              <a:rPr lang="zh-CN" altLang="en-US" sz="1800" dirty="0">
                <a:latin typeface="Arial" charset="0"/>
              </a:rPr>
              <a:t>下</a:t>
            </a:r>
            <a:r>
              <a:rPr lang="zh-CN" altLang="zh-CN" sz="1800" dirty="0">
                <a:latin typeface="Arial" charset="0"/>
              </a:rPr>
              <a:t>图</a:t>
            </a:r>
            <a:r>
              <a:rPr lang="zh-CN" altLang="en-US" sz="1800" dirty="0">
                <a:latin typeface="Arial" charset="0"/>
              </a:rPr>
              <a:t>是一个</a:t>
            </a:r>
            <a:r>
              <a:rPr lang="en-US" altLang="zh-CN" sz="1800" dirty="0">
                <a:latin typeface="Arial" charset="0"/>
              </a:rPr>
              <a:t>7</a:t>
            </a:r>
            <a:r>
              <a:rPr lang="zh-CN" altLang="en-US" sz="1800" dirty="0">
                <a:latin typeface="Arial" charset="0"/>
              </a:rPr>
              <a:t>阶椭圆低通滤波器的幅频特性（注意：由于纵坐标太大了，所以通带内的纹波没法显示）。</a:t>
            </a:r>
          </a:p>
          <a:p>
            <a:pPr>
              <a:lnSpc>
                <a:spcPct val="150000"/>
              </a:lnSpc>
            </a:pPr>
            <a:endParaRPr lang="zh-CN" altLang="en-US" sz="1800" dirty="0"/>
          </a:p>
        </p:txBody>
      </p:sp>
      <p:graphicFrame>
        <p:nvGraphicFramePr>
          <p:cNvPr id="6" name="对象 5"/>
          <p:cNvGraphicFramePr>
            <a:graphicFrameLocks noChangeAspect="1"/>
          </p:cNvGraphicFramePr>
          <p:nvPr>
            <p:extLst>
              <p:ext uri="{D42A27DB-BD31-4B8C-83A1-F6EECF244321}">
                <p14:modId xmlns:p14="http://schemas.microsoft.com/office/powerpoint/2010/main" val="965384026"/>
              </p:ext>
            </p:extLst>
          </p:nvPr>
        </p:nvGraphicFramePr>
        <p:xfrm>
          <a:off x="1096550" y="2837830"/>
          <a:ext cx="6159269" cy="3006301"/>
        </p:xfrm>
        <a:graphic>
          <a:graphicData uri="http://schemas.openxmlformats.org/presentationml/2006/ole">
            <mc:AlternateContent xmlns:mc="http://schemas.openxmlformats.org/markup-compatibility/2006">
              <mc:Choice xmlns:v="urn:schemas-microsoft-com:vml" Requires="v">
                <p:oleObj spid="_x0000_s14389" name="Visio" r:id="rId3" imgW="3427249" imgH="1822981" progId="Visio.Drawing.11">
                  <p:embed/>
                </p:oleObj>
              </mc:Choice>
              <mc:Fallback>
                <p:oleObj name="Visio" r:id="rId3" imgW="3427249" imgH="1822981"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550" y="2837830"/>
                        <a:ext cx="6159269" cy="3006301"/>
                      </a:xfrm>
                      <a:prstGeom prst="rect">
                        <a:avLst/>
                      </a:prstGeom>
                      <a:noFill/>
                    </p:spPr>
                  </p:pic>
                </p:oleObj>
              </mc:Fallback>
            </mc:AlternateContent>
          </a:graphicData>
        </a:graphic>
      </p:graphicFrame>
      <p:sp>
        <p:nvSpPr>
          <p:cNvPr id="7" name="文本框 6"/>
          <p:cNvSpPr txBox="1"/>
          <p:nvPr/>
        </p:nvSpPr>
        <p:spPr>
          <a:xfrm>
            <a:off x="8374743" y="3489112"/>
            <a:ext cx="2721428" cy="1703736"/>
          </a:xfrm>
          <a:prstGeom prst="rect">
            <a:avLst/>
          </a:prstGeom>
          <a:noFill/>
        </p:spPr>
        <p:txBody>
          <a:bodyPr wrap="square" rtlCol="0">
            <a:spAutoFit/>
          </a:bodyPr>
          <a:lstStyle/>
          <a:p>
            <a:pPr>
              <a:lnSpc>
                <a:spcPct val="150000"/>
              </a:lnSpc>
            </a:pPr>
            <a:r>
              <a:rPr lang="zh-CN" altLang="en-US" sz="1800" dirty="0" smtClean="0"/>
              <a:t>这一段的斜率是</a:t>
            </a:r>
            <a:endParaRPr lang="en-US" altLang="zh-CN" sz="1800" dirty="0" smtClean="0"/>
          </a:p>
          <a:p>
            <a:pPr>
              <a:lnSpc>
                <a:spcPct val="150000"/>
              </a:lnSpc>
            </a:pPr>
            <a:r>
              <a:rPr lang="en-US" altLang="zh-CN" sz="1800" dirty="0" smtClean="0"/>
              <a:t>n*(-20dB/</a:t>
            </a:r>
            <a:r>
              <a:rPr lang="zh-CN" altLang="en-US" sz="1800" dirty="0" smtClean="0"/>
              <a:t>十倍频程</a:t>
            </a:r>
            <a:r>
              <a:rPr lang="en-US" altLang="zh-CN" sz="1800" dirty="0" smtClean="0"/>
              <a:t>)</a:t>
            </a:r>
          </a:p>
          <a:p>
            <a:pPr>
              <a:lnSpc>
                <a:spcPct val="150000"/>
              </a:lnSpc>
            </a:pPr>
            <a:r>
              <a:rPr lang="zh-CN" altLang="en-US" sz="1800" dirty="0" smtClean="0"/>
              <a:t>或</a:t>
            </a:r>
            <a:endParaRPr lang="en-US" altLang="zh-CN" sz="1800" dirty="0" smtClean="0"/>
          </a:p>
          <a:p>
            <a:pPr>
              <a:lnSpc>
                <a:spcPct val="150000"/>
              </a:lnSpc>
            </a:pPr>
            <a:r>
              <a:rPr lang="en-US" altLang="zh-CN" sz="1800" dirty="0" smtClean="0"/>
              <a:t>n*(-6dB/</a:t>
            </a:r>
            <a:r>
              <a:rPr lang="zh-CN" altLang="en-US" sz="1800" dirty="0" smtClean="0"/>
              <a:t>倍频程</a:t>
            </a:r>
            <a:r>
              <a:rPr lang="en-US" altLang="zh-CN" sz="1800" dirty="0" smtClean="0"/>
              <a:t>)</a:t>
            </a:r>
            <a:endParaRPr lang="zh-CN" altLang="en-US" dirty="0"/>
          </a:p>
        </p:txBody>
      </p:sp>
      <p:cxnSp>
        <p:nvCxnSpPr>
          <p:cNvPr id="9" name="直接箭头连接符 8"/>
          <p:cNvCxnSpPr/>
          <p:nvPr/>
        </p:nvCxnSpPr>
        <p:spPr>
          <a:xfrm flipH="1" flipV="1">
            <a:off x="4807858" y="3700427"/>
            <a:ext cx="3439885" cy="1346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8609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Rectangle 2"/>
          <p:cNvSpPr>
            <a:spLocks noChangeArrowheads="1"/>
          </p:cNvSpPr>
          <p:nvPr/>
        </p:nvSpPr>
        <p:spPr bwMode="auto">
          <a:xfrm>
            <a:off x="384629" y="573594"/>
            <a:ext cx="11270343" cy="2119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solidFill>
                  <a:srgbClr val="FF0000"/>
                </a:solidFill>
                <a:latin typeface="Arial" charset="0"/>
              </a:rPr>
              <a:t>贝塞尔型滤波器</a:t>
            </a:r>
            <a:endParaRPr lang="en-US" altLang="zh-CN" sz="1800" dirty="0">
              <a:solidFill>
                <a:srgbClr val="FF0000"/>
              </a:solidFill>
              <a:latin typeface="Arial" charset="0"/>
            </a:endParaRPr>
          </a:p>
          <a:p>
            <a:pPr indent="457200">
              <a:lnSpc>
                <a:spcPct val="150000"/>
              </a:lnSpc>
            </a:pPr>
            <a:r>
              <a:rPr lang="zh-CN" altLang="zh-CN" sz="1800" dirty="0">
                <a:latin typeface="Arial" charset="0"/>
              </a:rPr>
              <a:t>在相同阶数下，贝塞尔型滤波器的幅频特性比上述三种滤波器都差，但是它的相频特性比上述三种都好。</a:t>
            </a:r>
            <a:endParaRPr lang="en-US" altLang="zh-CN" sz="1800" dirty="0">
              <a:latin typeface="Arial" charset="0"/>
            </a:endParaRPr>
          </a:p>
          <a:p>
            <a:pPr indent="457200">
              <a:lnSpc>
                <a:spcPct val="150000"/>
              </a:lnSpc>
            </a:pPr>
            <a:r>
              <a:rPr lang="zh-CN" altLang="en-US" sz="1800" dirty="0">
                <a:latin typeface="Arial" charset="0"/>
              </a:rPr>
              <a:t>下</a:t>
            </a:r>
            <a:r>
              <a:rPr lang="zh-CN" altLang="zh-CN" sz="1800" dirty="0">
                <a:latin typeface="Arial" charset="0"/>
              </a:rPr>
              <a:t>图</a:t>
            </a:r>
            <a:r>
              <a:rPr lang="zh-CN" altLang="en-US" sz="1800" dirty="0">
                <a:latin typeface="Arial" charset="0"/>
              </a:rPr>
              <a:t>是贝塞尔型低通滤波器与巴特沃斯型低通滤波器的比较。</a:t>
            </a:r>
            <a:endParaRPr lang="en-US" altLang="zh-CN" sz="1800" dirty="0">
              <a:latin typeface="Arial" charset="0"/>
            </a:endParaRPr>
          </a:p>
          <a:p>
            <a:pPr indent="457200">
              <a:lnSpc>
                <a:spcPct val="150000"/>
              </a:lnSpc>
            </a:pPr>
            <a:r>
              <a:rPr lang="zh-CN" altLang="en-US" sz="1800" dirty="0">
                <a:latin typeface="Arial" charset="0"/>
              </a:rPr>
              <a:t>两个滤波器都是</a:t>
            </a:r>
            <a:r>
              <a:rPr lang="en-US" altLang="zh-CN" sz="1800" dirty="0">
                <a:latin typeface="Arial" charset="0"/>
              </a:rPr>
              <a:t>5</a:t>
            </a:r>
            <a:r>
              <a:rPr lang="zh-CN" altLang="en-US" sz="1800" dirty="0">
                <a:latin typeface="Arial" charset="0"/>
              </a:rPr>
              <a:t>阶低通滤波器。可见贝塞尔型滤波器在通带范围（</a:t>
            </a:r>
            <a:r>
              <a:rPr lang="en-US" altLang="zh-CN" sz="1800" dirty="0" err="1">
                <a:latin typeface="Arial" charset="0"/>
              </a:rPr>
              <a:t>ω≤ωc</a:t>
            </a:r>
            <a:r>
              <a:rPr lang="zh-CN" altLang="en-US" sz="1800" dirty="0">
                <a:latin typeface="Arial" charset="0"/>
              </a:rPr>
              <a:t>）内的相频特性基本是一条直线，线性度远好于巴特沃斯型滤波器；但是贝塞尔型滤波器的幅频特性明显比巴特沃斯型滤波器的差。</a:t>
            </a:r>
          </a:p>
        </p:txBody>
      </p:sp>
      <p:graphicFrame>
        <p:nvGraphicFramePr>
          <p:cNvPr id="6" name="对象 5"/>
          <p:cNvGraphicFramePr>
            <a:graphicFrameLocks noChangeAspect="1"/>
          </p:cNvGraphicFramePr>
          <p:nvPr>
            <p:extLst>
              <p:ext uri="{D42A27DB-BD31-4B8C-83A1-F6EECF244321}">
                <p14:modId xmlns:p14="http://schemas.microsoft.com/office/powerpoint/2010/main" val="1206645804"/>
              </p:ext>
            </p:extLst>
          </p:nvPr>
        </p:nvGraphicFramePr>
        <p:xfrm>
          <a:off x="2491422" y="3194704"/>
          <a:ext cx="6805450" cy="3009669"/>
        </p:xfrm>
        <a:graphic>
          <a:graphicData uri="http://schemas.openxmlformats.org/presentationml/2006/ole">
            <mc:AlternateContent xmlns:mc="http://schemas.openxmlformats.org/markup-compatibility/2006">
              <mc:Choice xmlns:v="urn:schemas-microsoft-com:vml" Requires="v">
                <p:oleObj spid="_x0000_s15410" name="Visio" r:id="rId3" imgW="3600450" imgH="1834834" progId="Visio.Drawing.11">
                  <p:embed/>
                </p:oleObj>
              </mc:Choice>
              <mc:Fallback>
                <p:oleObj name="Visio" r:id="rId3" imgW="3600450" imgH="1834834" progId="Visio.Drawing.11">
                  <p:embed/>
                  <p:pic>
                    <p:nvPicPr>
                      <p:cNvPr id="0" name="Object 1"/>
                      <p:cNvPicPr>
                        <a:picLocks noChangeAspect="1" noChangeArrowheads="1"/>
                      </p:cNvPicPr>
                      <p:nvPr/>
                    </p:nvPicPr>
                    <p:blipFill>
                      <a:blip r:embed="rId4"/>
                      <a:srcRect/>
                      <a:stretch>
                        <a:fillRect/>
                      </a:stretch>
                    </p:blipFill>
                    <p:spPr bwMode="auto">
                      <a:xfrm>
                        <a:off x="2491422" y="3194704"/>
                        <a:ext cx="6805450" cy="3009669"/>
                      </a:xfrm>
                      <a:prstGeom prst="rect">
                        <a:avLst/>
                      </a:prstGeom>
                      <a:noFill/>
                    </p:spPr>
                  </p:pic>
                </p:oleObj>
              </mc:Fallback>
            </mc:AlternateContent>
          </a:graphicData>
        </a:graphic>
      </p:graphicFrame>
    </p:spTree>
    <p:extLst>
      <p:ext uri="{BB962C8B-B14F-4D97-AF65-F5344CB8AC3E}">
        <p14:creationId xmlns:p14="http://schemas.microsoft.com/office/powerpoint/2010/main" val="3766731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5" name="文本框 4"/>
          <p:cNvSpPr txBox="1"/>
          <p:nvPr/>
        </p:nvSpPr>
        <p:spPr>
          <a:xfrm>
            <a:off x="326571" y="535093"/>
            <a:ext cx="11350171" cy="1754326"/>
          </a:xfrm>
          <a:prstGeom prst="rect">
            <a:avLst/>
          </a:prstGeom>
          <a:noFill/>
        </p:spPr>
        <p:txBody>
          <a:bodyPr wrap="square" rtlCol="0">
            <a:spAutoFit/>
          </a:bodyPr>
          <a:lstStyle/>
          <a:p>
            <a:pPr indent="457200" eaLnBrk="0" hangingPunct="0">
              <a:lnSpc>
                <a:spcPct val="150000"/>
              </a:lnSpc>
            </a:pPr>
            <a:r>
              <a:rPr lang="zh-CN" altLang="en-US" sz="1800" dirty="0">
                <a:solidFill>
                  <a:srgbClr val="FF0000"/>
                </a:solidFill>
              </a:rPr>
              <a:t>高阶有源滤波器的结构以及阻带衰减率与阶数的关系</a:t>
            </a:r>
            <a:endParaRPr lang="en-US" altLang="zh-CN" sz="1800" dirty="0">
              <a:solidFill>
                <a:srgbClr val="FF0000"/>
              </a:solidFill>
            </a:endParaRPr>
          </a:p>
          <a:p>
            <a:pPr indent="457200" eaLnBrk="0" hangingPunct="0">
              <a:lnSpc>
                <a:spcPct val="150000"/>
              </a:lnSpc>
            </a:pPr>
            <a:r>
              <a:rPr lang="zh-CN" altLang="en-US" sz="1800" dirty="0"/>
              <a:t>偶数阶高阶有源滤波器由若干个</a:t>
            </a:r>
            <a:r>
              <a:rPr lang="en-US" altLang="zh-CN" sz="1800" dirty="0"/>
              <a:t>2</a:t>
            </a:r>
            <a:r>
              <a:rPr lang="zh-CN" altLang="en-US" sz="1800" dirty="0"/>
              <a:t>阶滤波器串联而成，奇数阶则包含一级</a:t>
            </a:r>
            <a:r>
              <a:rPr lang="en-US" altLang="zh-CN" sz="1800" dirty="0"/>
              <a:t>1</a:t>
            </a:r>
            <a:r>
              <a:rPr lang="zh-CN" altLang="en-US" sz="1800" dirty="0"/>
              <a:t>阶滤波器。</a:t>
            </a:r>
            <a:endParaRPr lang="en-US" altLang="zh-CN" sz="1800" dirty="0"/>
          </a:p>
          <a:p>
            <a:pPr indent="457200" eaLnBrk="0" hangingPunct="0">
              <a:lnSpc>
                <a:spcPct val="150000"/>
              </a:lnSpc>
            </a:pPr>
            <a:r>
              <a:rPr lang="en-US" altLang="zh-CN" sz="1800" dirty="0"/>
              <a:t>n</a:t>
            </a:r>
            <a:r>
              <a:rPr lang="zh-CN" altLang="en-US" sz="1800" dirty="0"/>
              <a:t>阶滤波器的阻带衰减率为 </a:t>
            </a:r>
            <a:r>
              <a:rPr lang="en-US" altLang="zh-CN" sz="1800" dirty="0"/>
              <a:t>n×20dB/</a:t>
            </a:r>
            <a:r>
              <a:rPr lang="zh-CN" altLang="en-US" sz="1800" dirty="0"/>
              <a:t>十倍频程（或</a:t>
            </a:r>
            <a:r>
              <a:rPr lang="en-US" altLang="zh-CN" sz="1800" dirty="0"/>
              <a:t>n×6dB/</a:t>
            </a:r>
            <a:r>
              <a:rPr lang="zh-CN" altLang="en-US" sz="1800" dirty="0"/>
              <a:t>倍频程）。</a:t>
            </a:r>
            <a:endParaRPr lang="en-US" altLang="zh-CN" sz="1800" dirty="0"/>
          </a:p>
          <a:p>
            <a:pPr indent="457200" eaLnBrk="0" hangingPunct="0">
              <a:lnSpc>
                <a:spcPct val="150000"/>
              </a:lnSpc>
            </a:pPr>
            <a:r>
              <a:rPr lang="zh-CN" altLang="en-US" sz="1800" dirty="0"/>
              <a:t>不同逼近方式的滤波器只能改变截止频率附近（过渡带）的陡峭程度，不能改变阻带衰减率。</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919456783"/>
              </p:ext>
            </p:extLst>
          </p:nvPr>
        </p:nvGraphicFramePr>
        <p:xfrm>
          <a:off x="2157163" y="2689634"/>
          <a:ext cx="5301389" cy="3048002"/>
        </p:xfrm>
        <a:graphic>
          <a:graphicData uri="http://schemas.openxmlformats.org/presentationml/2006/ole">
            <mc:AlternateContent xmlns:mc="http://schemas.openxmlformats.org/markup-compatibility/2006">
              <mc:Choice xmlns:v="urn:schemas-microsoft-com:vml" Requires="v">
                <p:oleObj spid="_x0000_s16435" name="Visio" r:id="rId3" imgW="3676444" imgH="2082697" progId="Visio.Drawing.11">
                  <p:embed/>
                </p:oleObj>
              </mc:Choice>
              <mc:Fallback>
                <p:oleObj name="Visio" r:id="rId3" imgW="3676444" imgH="2082697" progId="Visio.Drawing.11">
                  <p:embed/>
                  <p:pic>
                    <p:nvPicPr>
                      <p:cNvPr id="0" name="Object 1"/>
                      <p:cNvPicPr>
                        <a:picLocks noChangeAspect="1" noChangeArrowheads="1"/>
                      </p:cNvPicPr>
                      <p:nvPr/>
                    </p:nvPicPr>
                    <p:blipFill>
                      <a:blip r:embed="rId4"/>
                      <a:srcRect/>
                      <a:stretch>
                        <a:fillRect/>
                      </a:stretch>
                    </p:blipFill>
                    <p:spPr bwMode="auto">
                      <a:xfrm>
                        <a:off x="2157163" y="2689634"/>
                        <a:ext cx="5301389" cy="3048002"/>
                      </a:xfrm>
                      <a:prstGeom prst="rect">
                        <a:avLst/>
                      </a:prstGeom>
                      <a:noFill/>
                    </p:spPr>
                  </p:pic>
                </p:oleObj>
              </mc:Fallback>
            </mc:AlternateContent>
          </a:graphicData>
        </a:graphic>
      </p:graphicFrame>
      <p:sp>
        <p:nvSpPr>
          <p:cNvPr id="8" name="文本框 7"/>
          <p:cNvSpPr txBox="1"/>
          <p:nvPr/>
        </p:nvSpPr>
        <p:spPr>
          <a:xfrm>
            <a:off x="8374743" y="3489112"/>
            <a:ext cx="2721428" cy="507831"/>
          </a:xfrm>
          <a:prstGeom prst="rect">
            <a:avLst/>
          </a:prstGeom>
          <a:noFill/>
        </p:spPr>
        <p:txBody>
          <a:bodyPr wrap="square" rtlCol="0">
            <a:spAutoFit/>
          </a:bodyPr>
          <a:lstStyle/>
          <a:p>
            <a:pPr>
              <a:lnSpc>
                <a:spcPct val="150000"/>
              </a:lnSpc>
            </a:pPr>
            <a:r>
              <a:rPr lang="zh-CN" altLang="en-US" sz="1800" dirty="0"/>
              <a:t>两</a:t>
            </a:r>
            <a:r>
              <a:rPr lang="zh-CN" altLang="en-US" sz="1800" dirty="0" smtClean="0"/>
              <a:t>个滤波节的</a:t>
            </a:r>
            <a:r>
              <a:rPr lang="en-US" altLang="zh-CN" sz="1800" dirty="0" smtClean="0"/>
              <a:t>Q</a:t>
            </a:r>
            <a:r>
              <a:rPr lang="zh-CN" altLang="en-US" sz="1800" dirty="0" smtClean="0"/>
              <a:t>值不同</a:t>
            </a:r>
            <a:endParaRPr lang="zh-CN" altLang="en-US" dirty="0"/>
          </a:p>
        </p:txBody>
      </p:sp>
      <p:cxnSp>
        <p:nvCxnSpPr>
          <p:cNvPr id="9" name="直接箭头连接符 8"/>
          <p:cNvCxnSpPr/>
          <p:nvPr/>
        </p:nvCxnSpPr>
        <p:spPr>
          <a:xfrm flipH="1" flipV="1">
            <a:off x="4405086" y="3650343"/>
            <a:ext cx="3842658" cy="184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3933372" y="3940629"/>
            <a:ext cx="4314372" cy="843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403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文本框 4"/>
          <p:cNvSpPr txBox="1"/>
          <p:nvPr/>
        </p:nvSpPr>
        <p:spPr>
          <a:xfrm>
            <a:off x="1012336" y="485553"/>
            <a:ext cx="7867082" cy="923330"/>
          </a:xfrm>
          <a:prstGeom prst="rect">
            <a:avLst/>
          </a:prstGeom>
          <a:noFill/>
        </p:spPr>
        <p:txBody>
          <a:bodyPr wrap="square" rtlCol="0">
            <a:spAutoFit/>
          </a:bodyPr>
          <a:lstStyle/>
          <a:p>
            <a:pPr>
              <a:lnSpc>
                <a:spcPct val="150000"/>
              </a:lnSpc>
            </a:pPr>
            <a:r>
              <a:rPr lang="zh-CN" altLang="en-US" sz="1800" dirty="0">
                <a:solidFill>
                  <a:srgbClr val="FF0000"/>
                </a:solidFill>
              </a:rPr>
              <a:t>常见的二阶低通有源滤波器单元电路</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latin typeface="+mn-ea"/>
                <a:ea typeface="+mn-ea"/>
              </a:rPr>
              <a:t>压控电压源</a:t>
            </a:r>
            <a:r>
              <a:rPr lang="en-US" altLang="zh-CN" sz="1800" dirty="0">
                <a:latin typeface="+mn-ea"/>
                <a:ea typeface="+mn-ea"/>
              </a:rPr>
              <a:t>LPF</a:t>
            </a:r>
            <a:r>
              <a:rPr lang="zh-CN" altLang="en-US" sz="1800" dirty="0">
                <a:latin typeface="+mn-ea"/>
                <a:ea typeface="+mn-ea"/>
              </a:rPr>
              <a:t>电路（</a:t>
            </a:r>
            <a:r>
              <a:rPr lang="en-US" altLang="zh-CN" sz="1800" dirty="0" err="1">
                <a:latin typeface="+mn-ea"/>
                <a:ea typeface="+mn-ea"/>
              </a:rPr>
              <a:t>Sallen</a:t>
            </a:r>
            <a:r>
              <a:rPr lang="en-US" altLang="zh-CN" sz="1800" dirty="0">
                <a:latin typeface="+mn-ea"/>
                <a:ea typeface="+mn-ea"/>
              </a:rPr>
              <a:t>-Key</a:t>
            </a:r>
            <a:r>
              <a:rPr lang="zh-CN" altLang="en-US" sz="1800" dirty="0">
                <a:latin typeface="+mn-ea"/>
                <a:ea typeface="+mn-ea"/>
              </a:rPr>
              <a:t>电路）</a:t>
            </a:r>
          </a:p>
        </p:txBody>
      </p:sp>
      <p:graphicFrame>
        <p:nvGraphicFramePr>
          <p:cNvPr id="7" name="对象 6"/>
          <p:cNvGraphicFramePr>
            <a:graphicFrameLocks noChangeAspect="1"/>
          </p:cNvGraphicFramePr>
          <p:nvPr>
            <p:extLst>
              <p:ext uri="{D42A27DB-BD31-4B8C-83A1-F6EECF244321}">
                <p14:modId xmlns:p14="http://schemas.microsoft.com/office/powerpoint/2010/main" val="2161781711"/>
              </p:ext>
            </p:extLst>
          </p:nvPr>
        </p:nvGraphicFramePr>
        <p:xfrm>
          <a:off x="1992313" y="2784379"/>
          <a:ext cx="4790070" cy="2456076"/>
        </p:xfrm>
        <a:graphic>
          <a:graphicData uri="http://schemas.openxmlformats.org/presentationml/2006/ole">
            <mc:AlternateContent xmlns:mc="http://schemas.openxmlformats.org/markup-compatibility/2006">
              <mc:Choice xmlns:v="urn:schemas-microsoft-com:vml" Requires="v">
                <p:oleObj spid="_x0000_s17645" name="Visio" r:id="rId4" imgW="2801047" imgH="1335190" progId="Visio.Drawing.11">
                  <p:embed/>
                </p:oleObj>
              </mc:Choice>
              <mc:Fallback>
                <p:oleObj name="Visio" r:id="rId4" imgW="2801047" imgH="133519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313" y="2784379"/>
                        <a:ext cx="4790070" cy="245607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64497189"/>
              </p:ext>
            </p:extLst>
          </p:nvPr>
        </p:nvGraphicFramePr>
        <p:xfrm>
          <a:off x="3996268" y="1620569"/>
          <a:ext cx="5739803" cy="1019646"/>
        </p:xfrm>
        <a:graphic>
          <a:graphicData uri="http://schemas.openxmlformats.org/presentationml/2006/ole">
            <mc:AlternateContent xmlns:mc="http://schemas.openxmlformats.org/markup-compatibility/2006">
              <mc:Choice xmlns:v="urn:schemas-microsoft-com:vml" Requires="v">
                <p:oleObj spid="_x0000_s17646" name="Equation" r:id="rId6" imgW="3175000" imgH="558800" progId="Equation.DSMT4">
                  <p:embed/>
                </p:oleObj>
              </mc:Choice>
              <mc:Fallback>
                <p:oleObj name="Equation" r:id="rId6" imgW="3175000" imgH="558800" progId="Equation.DSMT4">
                  <p:embed/>
                  <p:pic>
                    <p:nvPicPr>
                      <p:cNvPr id="9"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96268" y="1620569"/>
                        <a:ext cx="5739803" cy="1019646"/>
                      </a:xfrm>
                      <a:prstGeom prst="rect">
                        <a:avLst/>
                      </a:prstGeom>
                      <a:noFill/>
                    </p:spPr>
                  </p:pic>
                </p:oleObj>
              </mc:Fallback>
            </mc:AlternateContent>
          </a:graphicData>
        </a:graphic>
      </p:graphicFrame>
      <p:sp>
        <p:nvSpPr>
          <p:cNvPr id="10" name="Rectangle 6"/>
          <p:cNvSpPr>
            <a:spLocks noChangeArrowheads="1"/>
          </p:cNvSpPr>
          <p:nvPr/>
        </p:nvSpPr>
        <p:spPr bwMode="auto">
          <a:xfrm>
            <a:off x="14311418" y="1989954"/>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ext uri="{D42A27DB-BD31-4B8C-83A1-F6EECF244321}">
                <p14:modId xmlns:p14="http://schemas.microsoft.com/office/powerpoint/2010/main" val="507124992"/>
              </p:ext>
            </p:extLst>
          </p:nvPr>
        </p:nvGraphicFramePr>
        <p:xfrm>
          <a:off x="7331094" y="2680600"/>
          <a:ext cx="1751946" cy="764272"/>
        </p:xfrm>
        <a:graphic>
          <a:graphicData uri="http://schemas.openxmlformats.org/presentationml/2006/ole">
            <mc:AlternateContent xmlns:mc="http://schemas.openxmlformats.org/markup-compatibility/2006">
              <mc:Choice xmlns:v="urn:schemas-microsoft-com:vml" Requires="v">
                <p:oleObj spid="_x0000_s17647" name="Equation" r:id="rId8" imgW="939392" imgH="406224" progId="Equation.DSMT4">
                  <p:embed/>
                </p:oleObj>
              </mc:Choice>
              <mc:Fallback>
                <p:oleObj name="Equation" r:id="rId8" imgW="939392" imgH="406224" progId="Equation.DSMT4">
                  <p:embed/>
                  <p:pic>
                    <p:nvPicPr>
                      <p:cNvPr id="11" name="对象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31094" y="2680600"/>
                        <a:ext cx="1751946" cy="764272"/>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830832072"/>
              </p:ext>
            </p:extLst>
          </p:nvPr>
        </p:nvGraphicFramePr>
        <p:xfrm>
          <a:off x="7322312" y="3656558"/>
          <a:ext cx="2573529" cy="1056383"/>
        </p:xfrm>
        <a:graphic>
          <a:graphicData uri="http://schemas.openxmlformats.org/presentationml/2006/ole">
            <mc:AlternateContent xmlns:mc="http://schemas.openxmlformats.org/markup-compatibility/2006">
              <mc:Choice xmlns:v="urn:schemas-microsoft-com:vml" Requires="v">
                <p:oleObj spid="_x0000_s17648" name="Equation" r:id="rId10" imgW="1460500" imgH="596900" progId="Equation.DSMT4">
                  <p:embed/>
                </p:oleObj>
              </mc:Choice>
              <mc:Fallback>
                <p:oleObj name="Equation" r:id="rId10" imgW="1460500" imgH="596900" progId="Equation.DSMT4">
                  <p:embed/>
                  <p:pic>
                    <p:nvPicPr>
                      <p:cNvPr id="13" name="对象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22312" y="3656558"/>
                        <a:ext cx="2573529" cy="1056383"/>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491822111"/>
              </p:ext>
            </p:extLst>
          </p:nvPr>
        </p:nvGraphicFramePr>
        <p:xfrm>
          <a:off x="7301547" y="4836700"/>
          <a:ext cx="1125960" cy="649701"/>
        </p:xfrm>
        <a:graphic>
          <a:graphicData uri="http://schemas.openxmlformats.org/presentationml/2006/ole">
            <mc:AlternateContent xmlns:mc="http://schemas.openxmlformats.org/markup-compatibility/2006">
              <mc:Choice xmlns:v="urn:schemas-microsoft-com:vml" Requires="v">
                <p:oleObj spid="_x0000_s17649" name="Equation" r:id="rId12" imgW="660240" imgH="380880" progId="Equation.DSMT4">
                  <p:embed/>
                </p:oleObj>
              </mc:Choice>
              <mc:Fallback>
                <p:oleObj name="Equation" r:id="rId12" imgW="660240" imgH="380880" progId="Equation.DSMT4">
                  <p:embed/>
                  <p:pic>
                    <p:nvPicPr>
                      <p:cNvPr id="17" name="对象 16"/>
                      <p:cNvPicPr>
                        <a:picLocks noChangeAspect="1" noChangeArrowheads="1"/>
                      </p:cNvPicPr>
                      <p:nvPr/>
                    </p:nvPicPr>
                    <p:blipFill>
                      <a:blip r:embed="rId13"/>
                      <a:srcRect/>
                      <a:stretch>
                        <a:fillRect/>
                      </a:stretch>
                    </p:blipFill>
                    <p:spPr bwMode="auto">
                      <a:xfrm>
                        <a:off x="7301547" y="4836700"/>
                        <a:ext cx="1125960" cy="649701"/>
                      </a:xfrm>
                      <a:prstGeom prst="rect">
                        <a:avLst/>
                      </a:prstGeom>
                      <a:noFill/>
                    </p:spPr>
                  </p:pic>
                </p:oleObj>
              </mc:Fallback>
            </mc:AlternateContent>
          </a:graphicData>
        </a:graphic>
      </p:graphicFrame>
      <p:sp>
        <p:nvSpPr>
          <p:cNvPr id="6" name="文本框 5"/>
          <p:cNvSpPr txBox="1"/>
          <p:nvPr/>
        </p:nvSpPr>
        <p:spPr>
          <a:xfrm>
            <a:off x="624417" y="5666959"/>
            <a:ext cx="8818879"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endParaRPr lang="zh-CN" altLang="en-US" sz="1600" dirty="0"/>
          </a:p>
        </p:txBody>
      </p:sp>
    </p:spTree>
    <p:extLst>
      <p:ext uri="{BB962C8B-B14F-4D97-AF65-F5344CB8AC3E}">
        <p14:creationId xmlns:p14="http://schemas.microsoft.com/office/powerpoint/2010/main" val="9085841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5" name="矩形 4"/>
          <p:cNvSpPr/>
          <p:nvPr/>
        </p:nvSpPr>
        <p:spPr>
          <a:xfrm>
            <a:off x="936171" y="579775"/>
            <a:ext cx="3789131" cy="369332"/>
          </a:xfrm>
          <a:prstGeom prst="rect">
            <a:avLst/>
          </a:prstGeom>
        </p:spPr>
        <p:txBody>
          <a:bodyPr wrap="square">
            <a:spAutoFit/>
          </a:bodyPr>
          <a:lstStyle/>
          <a:p>
            <a:pPr marL="342900" indent="-342900">
              <a:buFont typeface="Arial" panose="020B0604020202020204" pitchFamily="34" charset="0"/>
              <a:buChar char="•"/>
            </a:pPr>
            <a:r>
              <a:rPr lang="zh-CN" altLang="zh-CN" sz="1800" kern="0" dirty="0">
                <a:solidFill>
                  <a:srgbClr val="444444"/>
                </a:solidFill>
                <a:latin typeface="+mn-ea"/>
                <a:ea typeface="+mn-ea"/>
                <a:cs typeface="Tahoma" panose="020B0604030504040204" pitchFamily="34" charset="0"/>
              </a:rPr>
              <a:t>多路反馈型</a:t>
            </a:r>
            <a:r>
              <a:rPr lang="en-US" altLang="zh-CN" sz="1800" kern="0" dirty="0">
                <a:solidFill>
                  <a:srgbClr val="444444"/>
                </a:solidFill>
                <a:latin typeface="+mn-ea"/>
                <a:ea typeface="+mn-ea"/>
                <a:cs typeface="Tahoma" panose="020B0604030504040204" pitchFamily="34" charset="0"/>
              </a:rPr>
              <a:t>LPF</a:t>
            </a:r>
            <a:r>
              <a:rPr lang="zh-CN" altLang="zh-CN" sz="1800" kern="0" dirty="0">
                <a:solidFill>
                  <a:srgbClr val="444444"/>
                </a:solidFill>
                <a:latin typeface="+mn-ea"/>
                <a:ea typeface="+mn-ea"/>
                <a:cs typeface="Tahoma" panose="020B0604030504040204" pitchFamily="34" charset="0"/>
              </a:rPr>
              <a:t>电路</a:t>
            </a:r>
            <a:endParaRPr lang="zh-CN" altLang="en-US" sz="1800" dirty="0">
              <a:latin typeface="+mn-ea"/>
              <a:ea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954113308"/>
              </p:ext>
            </p:extLst>
          </p:nvPr>
        </p:nvGraphicFramePr>
        <p:xfrm>
          <a:off x="2153920" y="2601757"/>
          <a:ext cx="4757805" cy="1659971"/>
        </p:xfrm>
        <a:graphic>
          <a:graphicData uri="http://schemas.openxmlformats.org/presentationml/2006/ole">
            <mc:AlternateContent xmlns:mc="http://schemas.openxmlformats.org/markup-compatibility/2006">
              <mc:Choice xmlns:v="urn:schemas-microsoft-com:vml" Requires="v">
                <p:oleObj spid="_x0000_s18664" name="Visio" r:id="rId4" imgW="2567065" imgH="879320" progId="Visio.Drawing.11">
                  <p:embed/>
                </p:oleObj>
              </mc:Choice>
              <mc:Fallback>
                <p:oleObj name="Visio" r:id="rId4" imgW="2567065" imgH="879320" progId="Visio.Drawing.11">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3920" y="2601757"/>
                        <a:ext cx="4757805" cy="1659971"/>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589164250"/>
              </p:ext>
            </p:extLst>
          </p:nvPr>
        </p:nvGraphicFramePr>
        <p:xfrm>
          <a:off x="7534405" y="2217312"/>
          <a:ext cx="1724743" cy="735890"/>
        </p:xfrm>
        <a:graphic>
          <a:graphicData uri="http://schemas.openxmlformats.org/presentationml/2006/ole">
            <mc:AlternateContent xmlns:mc="http://schemas.openxmlformats.org/markup-compatibility/2006">
              <mc:Choice xmlns:v="urn:schemas-microsoft-com:vml" Requires="v">
                <p:oleObj spid="_x0000_s18665" name="Equation" r:id="rId6" imgW="952087" imgH="406224" progId="Equation.DSMT4">
                  <p:embed/>
                </p:oleObj>
              </mc:Choice>
              <mc:Fallback>
                <p:oleObj name="Equation" r:id="rId6" imgW="952087" imgH="406224" progId="Equation.DSMT4">
                  <p:embed/>
                  <p:pic>
                    <p:nvPicPr>
                      <p:cNvPr id="8"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4405" y="2217312"/>
                        <a:ext cx="1724743" cy="73589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064113638"/>
              </p:ext>
            </p:extLst>
          </p:nvPr>
        </p:nvGraphicFramePr>
        <p:xfrm>
          <a:off x="7534405" y="3161856"/>
          <a:ext cx="2578183" cy="702188"/>
        </p:xfrm>
        <a:graphic>
          <a:graphicData uri="http://schemas.openxmlformats.org/presentationml/2006/ole">
            <mc:AlternateContent xmlns:mc="http://schemas.openxmlformats.org/markup-compatibility/2006">
              <mc:Choice xmlns:v="urn:schemas-microsoft-com:vml" Requires="v">
                <p:oleObj spid="_x0000_s18666" name="Equation" r:id="rId8" imgW="1549400" imgH="419100" progId="Equation.DSMT4">
                  <p:embed/>
                </p:oleObj>
              </mc:Choice>
              <mc:Fallback>
                <p:oleObj name="Equation" r:id="rId8" imgW="1549400" imgH="419100" progId="Equation.DSMT4">
                  <p:embed/>
                  <p:pic>
                    <p:nvPicPr>
                      <p:cNvPr id="9" name="对象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34405" y="3161856"/>
                        <a:ext cx="2578183" cy="70218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610527054"/>
              </p:ext>
            </p:extLst>
          </p:nvPr>
        </p:nvGraphicFramePr>
        <p:xfrm>
          <a:off x="4179147" y="1130899"/>
          <a:ext cx="5251183" cy="670266"/>
        </p:xfrm>
        <a:graphic>
          <a:graphicData uri="http://schemas.openxmlformats.org/presentationml/2006/ole">
            <mc:AlternateContent xmlns:mc="http://schemas.openxmlformats.org/markup-compatibility/2006">
              <mc:Choice xmlns:v="urn:schemas-microsoft-com:vml" Requires="v">
                <p:oleObj spid="_x0000_s18667" name="Equation" r:id="rId10" imgW="2997000" imgH="380880" progId="Equation.DSMT4">
                  <p:embed/>
                </p:oleObj>
              </mc:Choice>
              <mc:Fallback>
                <p:oleObj name="Equation" r:id="rId10" imgW="2997000" imgH="380880" progId="Equation.DSMT4">
                  <p:embed/>
                  <p:pic>
                    <p:nvPicPr>
                      <p:cNvPr id="13" name="对象 12"/>
                      <p:cNvPicPr>
                        <a:picLocks noChangeAspect="1" noChangeArrowheads="1"/>
                      </p:cNvPicPr>
                      <p:nvPr/>
                    </p:nvPicPr>
                    <p:blipFill>
                      <a:blip r:embed="rId11"/>
                      <a:srcRect/>
                      <a:stretch>
                        <a:fillRect/>
                      </a:stretch>
                    </p:blipFill>
                    <p:spPr bwMode="auto">
                      <a:xfrm>
                        <a:off x="4179147" y="1130899"/>
                        <a:ext cx="5251183" cy="670266"/>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756554784"/>
              </p:ext>
            </p:extLst>
          </p:nvPr>
        </p:nvGraphicFramePr>
        <p:xfrm>
          <a:off x="7485029" y="4228428"/>
          <a:ext cx="1001959" cy="654172"/>
        </p:xfrm>
        <a:graphic>
          <a:graphicData uri="http://schemas.openxmlformats.org/presentationml/2006/ole">
            <mc:AlternateContent xmlns:mc="http://schemas.openxmlformats.org/markup-compatibility/2006">
              <mc:Choice xmlns:v="urn:schemas-microsoft-com:vml" Requires="v">
                <p:oleObj spid="_x0000_s18668" name="Equation" r:id="rId12" imgW="583920" imgH="380880" progId="Equation.DSMT4">
                  <p:embed/>
                </p:oleObj>
              </mc:Choice>
              <mc:Fallback>
                <p:oleObj name="Equation" r:id="rId12" imgW="583920" imgH="380880" progId="Equation.DSMT4">
                  <p:embed/>
                  <p:pic>
                    <p:nvPicPr>
                      <p:cNvPr id="15" name="对象 14"/>
                      <p:cNvPicPr>
                        <a:picLocks noChangeAspect="1" noChangeArrowheads="1"/>
                      </p:cNvPicPr>
                      <p:nvPr/>
                    </p:nvPicPr>
                    <p:blipFill>
                      <a:blip r:embed="rId13"/>
                      <a:srcRect/>
                      <a:stretch>
                        <a:fillRect/>
                      </a:stretch>
                    </p:blipFill>
                    <p:spPr bwMode="auto">
                      <a:xfrm>
                        <a:off x="7485029" y="4228428"/>
                        <a:ext cx="1001959" cy="654172"/>
                      </a:xfrm>
                      <a:prstGeom prst="rect">
                        <a:avLst/>
                      </a:prstGeom>
                      <a:noFill/>
                    </p:spPr>
                  </p:pic>
                </p:oleObj>
              </mc:Fallback>
            </mc:AlternateContent>
          </a:graphicData>
        </a:graphic>
      </p:graphicFrame>
      <p:sp>
        <p:nvSpPr>
          <p:cNvPr id="6" name="文本框 5"/>
          <p:cNvSpPr txBox="1"/>
          <p:nvPr/>
        </p:nvSpPr>
        <p:spPr>
          <a:xfrm>
            <a:off x="624417" y="5422742"/>
            <a:ext cx="8510953"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endParaRPr lang="zh-CN" altLang="en-US" sz="1600" dirty="0"/>
          </a:p>
        </p:txBody>
      </p:sp>
    </p:spTree>
    <p:extLst>
      <p:ext uri="{BB962C8B-B14F-4D97-AF65-F5344CB8AC3E}">
        <p14:creationId xmlns:p14="http://schemas.microsoft.com/office/powerpoint/2010/main" val="15959144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文本框 4"/>
          <p:cNvSpPr txBox="1"/>
          <p:nvPr/>
        </p:nvSpPr>
        <p:spPr>
          <a:xfrm>
            <a:off x="718457" y="553075"/>
            <a:ext cx="7656625" cy="923330"/>
          </a:xfrm>
          <a:prstGeom prst="rect">
            <a:avLst/>
          </a:prstGeom>
          <a:noFill/>
        </p:spPr>
        <p:txBody>
          <a:bodyPr wrap="square" rtlCol="0">
            <a:spAutoFit/>
          </a:bodyPr>
          <a:lstStyle/>
          <a:p>
            <a:pPr>
              <a:lnSpc>
                <a:spcPct val="150000"/>
              </a:lnSpc>
            </a:pPr>
            <a:r>
              <a:rPr lang="zh-CN" altLang="en-US" sz="1800" dirty="0">
                <a:solidFill>
                  <a:srgbClr val="FF0000"/>
                </a:solidFill>
              </a:rPr>
              <a:t>常见的二阶高通有源滤波器单元电路</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latin typeface="+mn-ea"/>
                <a:ea typeface="+mn-ea"/>
              </a:rPr>
              <a:t>压控电压源</a:t>
            </a:r>
            <a:r>
              <a:rPr lang="en-US" altLang="zh-CN" sz="1800" dirty="0">
                <a:latin typeface="+mn-ea"/>
                <a:ea typeface="+mn-ea"/>
              </a:rPr>
              <a:t>HPF</a:t>
            </a:r>
            <a:r>
              <a:rPr lang="zh-CN" altLang="en-US" sz="1800" dirty="0">
                <a:latin typeface="+mn-ea"/>
                <a:ea typeface="+mn-ea"/>
              </a:rPr>
              <a:t>电路（</a:t>
            </a:r>
            <a:r>
              <a:rPr lang="en-US" altLang="zh-CN" sz="1800" dirty="0" err="1">
                <a:latin typeface="+mn-ea"/>
                <a:ea typeface="+mn-ea"/>
              </a:rPr>
              <a:t>Sallen</a:t>
            </a:r>
            <a:r>
              <a:rPr lang="en-US" altLang="zh-CN" sz="1800" dirty="0">
                <a:latin typeface="+mn-ea"/>
                <a:ea typeface="+mn-ea"/>
              </a:rPr>
              <a:t>-Key</a:t>
            </a:r>
            <a:r>
              <a:rPr lang="zh-CN" altLang="en-US" sz="1800" dirty="0">
                <a:latin typeface="+mn-ea"/>
                <a:ea typeface="+mn-ea"/>
              </a:rPr>
              <a:t>电路）</a:t>
            </a:r>
          </a:p>
        </p:txBody>
      </p:sp>
      <p:sp>
        <p:nvSpPr>
          <p:cNvPr id="10" name="Rectangle 6"/>
          <p:cNvSpPr>
            <a:spLocks noChangeArrowheads="1"/>
          </p:cNvSpPr>
          <p:nvPr/>
        </p:nvSpPr>
        <p:spPr bwMode="auto">
          <a:xfrm>
            <a:off x="14311418" y="1989954"/>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 name="对象 10"/>
          <p:cNvGraphicFramePr>
            <a:graphicFrameLocks noChangeAspect="1"/>
          </p:cNvGraphicFramePr>
          <p:nvPr>
            <p:extLst/>
          </p:nvPr>
        </p:nvGraphicFramePr>
        <p:xfrm>
          <a:off x="7331094" y="2680600"/>
          <a:ext cx="1751946" cy="764272"/>
        </p:xfrm>
        <a:graphic>
          <a:graphicData uri="http://schemas.openxmlformats.org/presentationml/2006/ole">
            <mc:AlternateContent xmlns:mc="http://schemas.openxmlformats.org/markup-compatibility/2006">
              <mc:Choice xmlns:v="urn:schemas-microsoft-com:vml" Requires="v">
                <p:oleObj spid="_x0000_s19697" name="Equation" r:id="rId4" imgW="939392" imgH="406224" progId="Equation.DSMT4">
                  <p:embed/>
                </p:oleObj>
              </mc:Choice>
              <mc:Fallback>
                <p:oleObj name="Equation" r:id="rId4" imgW="939392" imgH="406224"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1094" y="2680600"/>
                        <a:ext cx="1751946" cy="764272"/>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549448176"/>
              </p:ext>
            </p:extLst>
          </p:nvPr>
        </p:nvGraphicFramePr>
        <p:xfrm>
          <a:off x="7310438" y="3656014"/>
          <a:ext cx="2597150" cy="1057275"/>
        </p:xfrm>
        <a:graphic>
          <a:graphicData uri="http://schemas.openxmlformats.org/presentationml/2006/ole">
            <mc:AlternateContent xmlns:mc="http://schemas.openxmlformats.org/markup-compatibility/2006">
              <mc:Choice xmlns:v="urn:schemas-microsoft-com:vml" Requires="v">
                <p:oleObj spid="_x0000_s19698" name="Equation" r:id="rId6" imgW="1473120" imgH="596880" progId="Equation.DSMT4">
                  <p:embed/>
                </p:oleObj>
              </mc:Choice>
              <mc:Fallback>
                <p:oleObj name="Equation" r:id="rId6" imgW="1473120" imgH="596880" progId="Equation.DSMT4">
                  <p:embed/>
                  <p:pic>
                    <p:nvPicPr>
                      <p:cNvPr id="13" name="对象 12"/>
                      <p:cNvPicPr>
                        <a:picLocks noChangeAspect="1" noChangeArrowheads="1"/>
                      </p:cNvPicPr>
                      <p:nvPr/>
                    </p:nvPicPr>
                    <p:blipFill>
                      <a:blip r:embed="rId7"/>
                      <a:srcRect/>
                      <a:stretch>
                        <a:fillRect/>
                      </a:stretch>
                    </p:blipFill>
                    <p:spPr bwMode="auto">
                      <a:xfrm>
                        <a:off x="7310438" y="3656014"/>
                        <a:ext cx="2597150" cy="1057275"/>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nvPr>
        </p:nvGraphicFramePr>
        <p:xfrm>
          <a:off x="7301547" y="4836700"/>
          <a:ext cx="1125960" cy="649701"/>
        </p:xfrm>
        <a:graphic>
          <a:graphicData uri="http://schemas.openxmlformats.org/presentationml/2006/ole">
            <mc:AlternateContent xmlns:mc="http://schemas.openxmlformats.org/markup-compatibility/2006">
              <mc:Choice xmlns:v="urn:schemas-microsoft-com:vml" Requires="v">
                <p:oleObj spid="_x0000_s19699" name="Equation" r:id="rId8" imgW="660240" imgH="380880" progId="Equation.DSMT4">
                  <p:embed/>
                </p:oleObj>
              </mc:Choice>
              <mc:Fallback>
                <p:oleObj name="Equation" r:id="rId8" imgW="660240" imgH="380880" progId="Equation.DSMT4">
                  <p:embed/>
                  <p:pic>
                    <p:nvPicPr>
                      <p:cNvPr id="17" name="对象 16"/>
                      <p:cNvPicPr>
                        <a:picLocks noChangeAspect="1" noChangeArrowheads="1"/>
                      </p:cNvPicPr>
                      <p:nvPr/>
                    </p:nvPicPr>
                    <p:blipFill>
                      <a:blip r:embed="rId9"/>
                      <a:srcRect/>
                      <a:stretch>
                        <a:fillRect/>
                      </a:stretch>
                    </p:blipFill>
                    <p:spPr bwMode="auto">
                      <a:xfrm>
                        <a:off x="7301547" y="4836700"/>
                        <a:ext cx="1125960" cy="649701"/>
                      </a:xfrm>
                      <a:prstGeom prst="rect">
                        <a:avLst/>
                      </a:prstGeom>
                      <a:noFill/>
                    </p:spPr>
                  </p:pic>
                </p:oleObj>
              </mc:Fallback>
            </mc:AlternateContent>
          </a:graphicData>
        </a:graphic>
      </p:graphicFrame>
      <p:sp>
        <p:nvSpPr>
          <p:cNvPr id="6" name="文本框 5"/>
          <p:cNvSpPr txBox="1"/>
          <p:nvPr/>
        </p:nvSpPr>
        <p:spPr>
          <a:xfrm>
            <a:off x="1014678" y="5666959"/>
            <a:ext cx="8818879"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endParaRPr lang="zh-CN" altLang="en-US" sz="1600" dirty="0"/>
          </a:p>
        </p:txBody>
      </p:sp>
      <p:graphicFrame>
        <p:nvGraphicFramePr>
          <p:cNvPr id="12" name="对象 11"/>
          <p:cNvGraphicFramePr>
            <a:graphicFrameLocks noChangeAspect="1"/>
          </p:cNvGraphicFramePr>
          <p:nvPr>
            <p:extLst>
              <p:ext uri="{D42A27DB-BD31-4B8C-83A1-F6EECF244321}">
                <p14:modId xmlns:p14="http://schemas.microsoft.com/office/powerpoint/2010/main" val="2545396981"/>
              </p:ext>
            </p:extLst>
          </p:nvPr>
        </p:nvGraphicFramePr>
        <p:xfrm>
          <a:off x="2141062" y="2770358"/>
          <a:ext cx="3969702" cy="2481064"/>
        </p:xfrm>
        <a:graphic>
          <a:graphicData uri="http://schemas.openxmlformats.org/presentationml/2006/ole">
            <mc:AlternateContent xmlns:mc="http://schemas.openxmlformats.org/markup-compatibility/2006">
              <mc:Choice xmlns:v="urn:schemas-microsoft-com:vml" Requires="v">
                <p:oleObj spid="_x0000_s19700" name="Visio" r:id="rId10" imgW="2387038" imgH="1515244" progId="Visio.Drawing.11">
                  <p:embed/>
                </p:oleObj>
              </mc:Choice>
              <mc:Fallback>
                <p:oleObj name="Visio" r:id="rId10" imgW="2387038" imgH="1515244" progId="Visio.Drawing.11">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1062" y="2770358"/>
                        <a:ext cx="3969702" cy="2481064"/>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626646647"/>
              </p:ext>
            </p:extLst>
          </p:nvPr>
        </p:nvGraphicFramePr>
        <p:xfrm>
          <a:off x="3186549" y="1546299"/>
          <a:ext cx="5240958" cy="943774"/>
        </p:xfrm>
        <a:graphic>
          <a:graphicData uri="http://schemas.openxmlformats.org/presentationml/2006/ole">
            <mc:AlternateContent xmlns:mc="http://schemas.openxmlformats.org/markup-compatibility/2006">
              <mc:Choice xmlns:v="urn:schemas-microsoft-com:vml" Requires="v">
                <p:oleObj spid="_x0000_s19701" name="Equation" r:id="rId12" imgW="3314700" imgH="596900" progId="Equation.DSMT4">
                  <p:embed/>
                </p:oleObj>
              </mc:Choice>
              <mc:Fallback>
                <p:oleObj name="Equation" r:id="rId12" imgW="3314700" imgH="59690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86549" y="1546299"/>
                        <a:ext cx="5240958" cy="943774"/>
                      </a:xfrm>
                      <a:prstGeom prst="rect">
                        <a:avLst/>
                      </a:prstGeom>
                      <a:noFill/>
                    </p:spPr>
                  </p:pic>
                </p:oleObj>
              </mc:Fallback>
            </mc:AlternateContent>
          </a:graphicData>
        </a:graphic>
      </p:graphicFrame>
    </p:spTree>
    <p:extLst>
      <p:ext uri="{BB962C8B-B14F-4D97-AF65-F5344CB8AC3E}">
        <p14:creationId xmlns:p14="http://schemas.microsoft.com/office/powerpoint/2010/main" val="10152577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矩形 4"/>
          <p:cNvSpPr/>
          <p:nvPr/>
        </p:nvSpPr>
        <p:spPr>
          <a:xfrm>
            <a:off x="769257" y="579775"/>
            <a:ext cx="4005739" cy="369332"/>
          </a:xfrm>
          <a:prstGeom prst="rect">
            <a:avLst/>
          </a:prstGeom>
        </p:spPr>
        <p:txBody>
          <a:bodyPr wrap="square">
            <a:spAutoFit/>
          </a:bodyPr>
          <a:lstStyle/>
          <a:p>
            <a:pPr marL="342900" indent="-342900">
              <a:buFont typeface="Arial" panose="020B0604020202020204" pitchFamily="34" charset="0"/>
              <a:buChar char="•"/>
            </a:pPr>
            <a:r>
              <a:rPr lang="zh-CN" altLang="zh-CN" sz="1800" kern="0" dirty="0">
                <a:solidFill>
                  <a:srgbClr val="444444"/>
                </a:solidFill>
                <a:latin typeface="+mn-ea"/>
                <a:ea typeface="+mn-ea"/>
                <a:cs typeface="Tahoma" panose="020B0604030504040204" pitchFamily="34" charset="0"/>
              </a:rPr>
              <a:t>多路反馈型</a:t>
            </a:r>
            <a:r>
              <a:rPr lang="en-US" altLang="zh-CN" sz="1800" kern="0" dirty="0">
                <a:solidFill>
                  <a:srgbClr val="444444"/>
                </a:solidFill>
                <a:latin typeface="+mn-ea"/>
                <a:ea typeface="+mn-ea"/>
                <a:cs typeface="Tahoma" panose="020B0604030504040204" pitchFamily="34" charset="0"/>
              </a:rPr>
              <a:t>HPF</a:t>
            </a:r>
            <a:r>
              <a:rPr lang="zh-CN" altLang="zh-CN" sz="1800" kern="0" dirty="0">
                <a:solidFill>
                  <a:srgbClr val="444444"/>
                </a:solidFill>
                <a:latin typeface="+mn-ea"/>
                <a:ea typeface="+mn-ea"/>
                <a:cs typeface="Tahoma" panose="020B0604030504040204" pitchFamily="34" charset="0"/>
              </a:rPr>
              <a:t>电路</a:t>
            </a:r>
            <a:endParaRPr lang="zh-CN" altLang="en-US" sz="1800" dirty="0">
              <a:latin typeface="+mn-ea"/>
              <a:ea typeface="+mn-ea"/>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19715482"/>
              </p:ext>
            </p:extLst>
          </p:nvPr>
        </p:nvGraphicFramePr>
        <p:xfrm>
          <a:off x="7534405" y="2217312"/>
          <a:ext cx="1724743" cy="735890"/>
        </p:xfrm>
        <a:graphic>
          <a:graphicData uri="http://schemas.openxmlformats.org/presentationml/2006/ole">
            <mc:AlternateContent xmlns:mc="http://schemas.openxmlformats.org/markup-compatibility/2006">
              <mc:Choice xmlns:v="urn:schemas-microsoft-com:vml" Requires="v">
                <p:oleObj spid="_x0000_s20752" name="Equation" r:id="rId4" imgW="952200" imgH="406080" progId="Equation.DSMT4">
                  <p:embed/>
                </p:oleObj>
              </mc:Choice>
              <mc:Fallback>
                <p:oleObj name="Equation" r:id="rId4" imgW="952200" imgH="406080" progId="Equation.DSMT4">
                  <p:embed/>
                  <p:pic>
                    <p:nvPicPr>
                      <p:cNvPr id="8" name="对象 7"/>
                      <p:cNvPicPr>
                        <a:picLocks noChangeAspect="1" noChangeArrowheads="1"/>
                      </p:cNvPicPr>
                      <p:nvPr/>
                    </p:nvPicPr>
                    <p:blipFill>
                      <a:blip r:embed="rId5"/>
                      <a:srcRect/>
                      <a:stretch>
                        <a:fillRect/>
                      </a:stretch>
                    </p:blipFill>
                    <p:spPr bwMode="auto">
                      <a:xfrm>
                        <a:off x="7534405" y="2217312"/>
                        <a:ext cx="1724743" cy="735890"/>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977273475"/>
              </p:ext>
            </p:extLst>
          </p:nvPr>
        </p:nvGraphicFramePr>
        <p:xfrm>
          <a:off x="7534405" y="4217391"/>
          <a:ext cx="1001959" cy="654172"/>
        </p:xfrm>
        <a:graphic>
          <a:graphicData uri="http://schemas.openxmlformats.org/presentationml/2006/ole">
            <mc:AlternateContent xmlns:mc="http://schemas.openxmlformats.org/markup-compatibility/2006">
              <mc:Choice xmlns:v="urn:schemas-microsoft-com:vml" Requires="v">
                <p:oleObj spid="_x0000_s20753" name="Equation" r:id="rId6" imgW="583920" imgH="380880" progId="Equation.DSMT4">
                  <p:embed/>
                </p:oleObj>
              </mc:Choice>
              <mc:Fallback>
                <p:oleObj name="Equation" r:id="rId6" imgW="583920" imgH="380880" progId="Equation.DSMT4">
                  <p:embed/>
                  <p:pic>
                    <p:nvPicPr>
                      <p:cNvPr id="15" name="对象 14"/>
                      <p:cNvPicPr>
                        <a:picLocks noChangeAspect="1" noChangeArrowheads="1"/>
                      </p:cNvPicPr>
                      <p:nvPr/>
                    </p:nvPicPr>
                    <p:blipFill>
                      <a:blip r:embed="rId7"/>
                      <a:srcRect/>
                      <a:stretch>
                        <a:fillRect/>
                      </a:stretch>
                    </p:blipFill>
                    <p:spPr bwMode="auto">
                      <a:xfrm>
                        <a:off x="7534405" y="4217391"/>
                        <a:ext cx="1001959" cy="654172"/>
                      </a:xfrm>
                      <a:prstGeom prst="rect">
                        <a:avLst/>
                      </a:prstGeom>
                      <a:noFill/>
                    </p:spPr>
                  </p:pic>
                </p:oleObj>
              </mc:Fallback>
            </mc:AlternateContent>
          </a:graphicData>
        </a:graphic>
      </p:graphicFrame>
      <p:sp>
        <p:nvSpPr>
          <p:cNvPr id="6" name="文本框 5"/>
          <p:cNvSpPr txBox="1"/>
          <p:nvPr/>
        </p:nvSpPr>
        <p:spPr>
          <a:xfrm>
            <a:off x="911217" y="5620794"/>
            <a:ext cx="8510953"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fc</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endParaRPr lang="zh-CN" altLang="en-US" sz="1600" dirty="0"/>
          </a:p>
        </p:txBody>
      </p:sp>
      <p:graphicFrame>
        <p:nvGraphicFramePr>
          <p:cNvPr id="11" name="对象 10"/>
          <p:cNvGraphicFramePr>
            <a:graphicFrameLocks noChangeAspect="1"/>
          </p:cNvGraphicFramePr>
          <p:nvPr>
            <p:extLst>
              <p:ext uri="{D42A27DB-BD31-4B8C-83A1-F6EECF244321}">
                <p14:modId xmlns:p14="http://schemas.microsoft.com/office/powerpoint/2010/main" val="3780293703"/>
              </p:ext>
            </p:extLst>
          </p:nvPr>
        </p:nvGraphicFramePr>
        <p:xfrm>
          <a:off x="1992313" y="2806865"/>
          <a:ext cx="4736654" cy="1813792"/>
        </p:xfrm>
        <a:graphic>
          <a:graphicData uri="http://schemas.openxmlformats.org/presentationml/2006/ole">
            <mc:AlternateContent xmlns:mc="http://schemas.openxmlformats.org/markup-compatibility/2006">
              <mc:Choice xmlns:v="urn:schemas-microsoft-com:vml" Requires="v">
                <p:oleObj spid="_x0000_s20754" name="Visio" r:id="rId8" imgW="2567065" imgH="969597" progId="Visio.Drawing.11">
                  <p:embed/>
                </p:oleObj>
              </mc:Choice>
              <mc:Fallback>
                <p:oleObj name="Visio" r:id="rId8" imgW="2567065" imgH="969597" progId="Visio.Drawing.11">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92313" y="2806865"/>
                        <a:ext cx="4736654" cy="1813792"/>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912350973"/>
              </p:ext>
            </p:extLst>
          </p:nvPr>
        </p:nvGraphicFramePr>
        <p:xfrm>
          <a:off x="2966720" y="1046018"/>
          <a:ext cx="4539546" cy="750726"/>
        </p:xfrm>
        <a:graphic>
          <a:graphicData uri="http://schemas.openxmlformats.org/presentationml/2006/ole">
            <mc:AlternateContent xmlns:mc="http://schemas.openxmlformats.org/markup-compatibility/2006">
              <mc:Choice xmlns:v="urn:schemas-microsoft-com:vml" Requires="v">
                <p:oleObj spid="_x0000_s20755" name="Equation" r:id="rId10" imgW="2489200" imgH="406400" progId="Equation.DSMT4">
                  <p:embed/>
                </p:oleObj>
              </mc:Choice>
              <mc:Fallback>
                <p:oleObj name="Equation" r:id="rId10" imgW="2489200" imgH="4064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6720" y="1046018"/>
                        <a:ext cx="4539546" cy="750726"/>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035726828"/>
              </p:ext>
            </p:extLst>
          </p:nvPr>
        </p:nvGraphicFramePr>
        <p:xfrm>
          <a:off x="7534404" y="3159850"/>
          <a:ext cx="1887766" cy="687393"/>
        </p:xfrm>
        <a:graphic>
          <a:graphicData uri="http://schemas.openxmlformats.org/presentationml/2006/ole">
            <mc:AlternateContent xmlns:mc="http://schemas.openxmlformats.org/markup-compatibility/2006">
              <mc:Choice xmlns:v="urn:schemas-microsoft-com:vml" Requires="v">
                <p:oleObj spid="_x0000_s20756" name="Equation" r:id="rId12" imgW="1168400" imgH="419100" progId="Equation.DSMT4">
                  <p:embed/>
                </p:oleObj>
              </mc:Choice>
              <mc:Fallback>
                <p:oleObj name="Equation" r:id="rId12" imgW="1168400" imgH="419100" progId="Equation.DSMT4">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34404" y="3159850"/>
                        <a:ext cx="1887766" cy="687393"/>
                      </a:xfrm>
                      <a:prstGeom prst="rect">
                        <a:avLst/>
                      </a:prstGeom>
                      <a:noFill/>
                    </p:spPr>
                  </p:pic>
                </p:oleObj>
              </mc:Fallback>
            </mc:AlternateContent>
          </a:graphicData>
        </a:graphic>
      </p:graphicFrame>
    </p:spTree>
    <p:extLst>
      <p:ext uri="{BB962C8B-B14F-4D97-AF65-F5344CB8AC3E}">
        <p14:creationId xmlns:p14="http://schemas.microsoft.com/office/powerpoint/2010/main" val="20232275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graphicFrame>
        <p:nvGraphicFramePr>
          <p:cNvPr id="7" name="对象 6"/>
          <p:cNvGraphicFramePr>
            <a:graphicFrameLocks noChangeAspect="1"/>
          </p:cNvGraphicFramePr>
          <p:nvPr>
            <p:extLst/>
          </p:nvPr>
        </p:nvGraphicFramePr>
        <p:xfrm>
          <a:off x="1992314" y="2712297"/>
          <a:ext cx="3878449" cy="2264021"/>
        </p:xfrm>
        <a:graphic>
          <a:graphicData uri="http://schemas.openxmlformats.org/presentationml/2006/ole">
            <mc:AlternateContent xmlns:mc="http://schemas.openxmlformats.org/markup-compatibility/2006">
              <mc:Choice xmlns:v="urn:schemas-microsoft-com:vml" Requires="v">
                <p:oleObj spid="_x0000_s21694" name="Visio" r:id="rId3" imgW="2567065" imgH="1503274" progId="Visio.Drawing.11">
                  <p:embed/>
                </p:oleObj>
              </mc:Choice>
              <mc:Fallback>
                <p:oleObj name="Visio" r:id="rId3" imgW="2567065" imgH="1503274"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314" y="2712297"/>
                        <a:ext cx="3878449" cy="226402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2090738" y="1189038"/>
          <a:ext cx="7561262" cy="1312862"/>
        </p:xfrm>
        <a:graphic>
          <a:graphicData uri="http://schemas.openxmlformats.org/presentationml/2006/ole">
            <mc:AlternateContent xmlns:mc="http://schemas.openxmlformats.org/markup-compatibility/2006">
              <mc:Choice xmlns:v="urn:schemas-microsoft-com:vml" Requires="v">
                <p:oleObj spid="_x0000_s21695" name="Equation" r:id="rId5" imgW="4406760" imgH="749160" progId="Equation.DSMT4">
                  <p:embed/>
                </p:oleObj>
              </mc:Choice>
              <mc:Fallback>
                <p:oleObj name="Equation" r:id="rId5" imgW="4406760" imgH="749160" progId="Equation.DSMT4">
                  <p:embed/>
                  <p:pic>
                    <p:nvPicPr>
                      <p:cNvPr id="9" name="对象 8"/>
                      <p:cNvPicPr>
                        <a:picLocks noChangeAspect="1" noChangeArrowheads="1"/>
                      </p:cNvPicPr>
                      <p:nvPr/>
                    </p:nvPicPr>
                    <p:blipFill>
                      <a:blip r:embed="rId6"/>
                      <a:srcRect/>
                      <a:stretch>
                        <a:fillRect/>
                      </a:stretch>
                    </p:blipFill>
                    <p:spPr bwMode="auto">
                      <a:xfrm>
                        <a:off x="2090738" y="1189038"/>
                        <a:ext cx="7561262" cy="1312862"/>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99617524"/>
              </p:ext>
            </p:extLst>
          </p:nvPr>
        </p:nvGraphicFramePr>
        <p:xfrm>
          <a:off x="6348414" y="2878767"/>
          <a:ext cx="3825875" cy="1649413"/>
        </p:xfrm>
        <a:graphic>
          <a:graphicData uri="http://schemas.openxmlformats.org/presentationml/2006/ole">
            <mc:AlternateContent xmlns:mc="http://schemas.openxmlformats.org/markup-compatibility/2006">
              <mc:Choice xmlns:v="urn:schemas-microsoft-com:vml" Requires="v">
                <p:oleObj spid="_x0000_s21696" name="Equation" r:id="rId7" imgW="2387520" imgH="1028520" progId="Equation.DSMT4">
                  <p:embed/>
                </p:oleObj>
              </mc:Choice>
              <mc:Fallback>
                <p:oleObj name="Equation" r:id="rId7" imgW="2387520" imgH="1028520" progId="Equation.DSMT4">
                  <p:embed/>
                  <p:pic>
                    <p:nvPicPr>
                      <p:cNvPr id="11" name="对象 10"/>
                      <p:cNvPicPr>
                        <a:picLocks noChangeAspect="1" noChangeArrowheads="1"/>
                      </p:cNvPicPr>
                      <p:nvPr/>
                    </p:nvPicPr>
                    <p:blipFill>
                      <a:blip r:embed="rId8"/>
                      <a:srcRect/>
                      <a:stretch>
                        <a:fillRect/>
                      </a:stretch>
                    </p:blipFill>
                    <p:spPr bwMode="auto">
                      <a:xfrm>
                        <a:off x="6348414" y="2878767"/>
                        <a:ext cx="3825875" cy="1649413"/>
                      </a:xfrm>
                      <a:prstGeom prst="rect">
                        <a:avLst/>
                      </a:prstGeom>
                      <a:noFill/>
                    </p:spPr>
                  </p:pic>
                </p:oleObj>
              </mc:Fallback>
            </mc:AlternateContent>
          </a:graphicData>
        </a:graphic>
      </p:graphicFrame>
      <p:graphicFrame>
        <p:nvGraphicFramePr>
          <p:cNvPr id="15" name="对象 14"/>
          <p:cNvGraphicFramePr>
            <a:graphicFrameLocks noChangeAspect="1"/>
          </p:cNvGraphicFramePr>
          <p:nvPr>
            <p:extLst/>
          </p:nvPr>
        </p:nvGraphicFramePr>
        <p:xfrm>
          <a:off x="6348414" y="4546601"/>
          <a:ext cx="2049463" cy="657225"/>
        </p:xfrm>
        <a:graphic>
          <a:graphicData uri="http://schemas.openxmlformats.org/presentationml/2006/ole">
            <mc:AlternateContent xmlns:mc="http://schemas.openxmlformats.org/markup-compatibility/2006">
              <mc:Choice xmlns:v="urn:schemas-microsoft-com:vml" Requires="v">
                <p:oleObj spid="_x0000_s21697" name="Equation" r:id="rId9" imgW="1282680" imgH="406080" progId="Equation.DSMT4">
                  <p:embed/>
                </p:oleObj>
              </mc:Choice>
              <mc:Fallback>
                <p:oleObj name="Equation" r:id="rId9" imgW="1282680" imgH="406080" progId="Equation.DSMT4">
                  <p:embed/>
                  <p:pic>
                    <p:nvPicPr>
                      <p:cNvPr id="15" name="对象 14"/>
                      <p:cNvPicPr>
                        <a:picLocks noChangeAspect="1" noChangeArrowheads="1"/>
                      </p:cNvPicPr>
                      <p:nvPr/>
                    </p:nvPicPr>
                    <p:blipFill>
                      <a:blip r:embed="rId10"/>
                      <a:srcRect/>
                      <a:stretch>
                        <a:fillRect/>
                      </a:stretch>
                    </p:blipFill>
                    <p:spPr bwMode="auto">
                      <a:xfrm>
                        <a:off x="6348414" y="4546601"/>
                        <a:ext cx="2049463" cy="657225"/>
                      </a:xfrm>
                      <a:prstGeom prst="rect">
                        <a:avLst/>
                      </a:prstGeom>
                      <a:noFill/>
                    </p:spPr>
                  </p:pic>
                </p:oleObj>
              </mc:Fallback>
            </mc:AlternateContent>
          </a:graphicData>
        </a:graphic>
      </p:graphicFrame>
      <p:sp>
        <p:nvSpPr>
          <p:cNvPr id="12" name="文本框 11"/>
          <p:cNvSpPr txBox="1"/>
          <p:nvPr/>
        </p:nvSpPr>
        <p:spPr>
          <a:xfrm>
            <a:off x="1827478" y="5729454"/>
            <a:ext cx="8556043"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f0</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endParaRPr lang="zh-CN" altLang="en-US" sz="1600" dirty="0"/>
          </a:p>
        </p:txBody>
      </p:sp>
      <p:sp>
        <p:nvSpPr>
          <p:cNvPr id="13" name="文本框 12"/>
          <p:cNvSpPr txBox="1"/>
          <p:nvPr/>
        </p:nvSpPr>
        <p:spPr>
          <a:xfrm>
            <a:off x="624417" y="429869"/>
            <a:ext cx="7559146" cy="923330"/>
          </a:xfrm>
          <a:prstGeom prst="rect">
            <a:avLst/>
          </a:prstGeom>
          <a:noFill/>
        </p:spPr>
        <p:txBody>
          <a:bodyPr wrap="square" rtlCol="0">
            <a:spAutoFit/>
          </a:bodyPr>
          <a:lstStyle/>
          <a:p>
            <a:pPr>
              <a:lnSpc>
                <a:spcPct val="150000"/>
              </a:lnSpc>
            </a:pPr>
            <a:r>
              <a:rPr lang="zh-CN" altLang="en-US" sz="1800" dirty="0">
                <a:solidFill>
                  <a:srgbClr val="FF0000"/>
                </a:solidFill>
              </a:rPr>
              <a:t>常见的二阶带通有源滤波器单元电路</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latin typeface="+mn-ea"/>
                <a:ea typeface="+mn-ea"/>
              </a:rPr>
              <a:t>压控电压源</a:t>
            </a:r>
            <a:r>
              <a:rPr lang="en-US" altLang="zh-CN" sz="1800" dirty="0">
                <a:latin typeface="+mn-ea"/>
                <a:ea typeface="+mn-ea"/>
              </a:rPr>
              <a:t>BPF</a:t>
            </a:r>
            <a:r>
              <a:rPr lang="zh-CN" altLang="en-US" sz="1800" dirty="0">
                <a:latin typeface="+mn-ea"/>
                <a:ea typeface="+mn-ea"/>
              </a:rPr>
              <a:t>电路</a:t>
            </a:r>
          </a:p>
        </p:txBody>
      </p:sp>
    </p:spTree>
    <p:extLst>
      <p:ext uri="{BB962C8B-B14F-4D97-AF65-F5344CB8AC3E}">
        <p14:creationId xmlns:p14="http://schemas.microsoft.com/office/powerpoint/2010/main" val="1646640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5" name="矩形 4"/>
          <p:cNvSpPr/>
          <p:nvPr/>
        </p:nvSpPr>
        <p:spPr>
          <a:xfrm>
            <a:off x="783771" y="653171"/>
            <a:ext cx="3746416" cy="369332"/>
          </a:xfrm>
          <a:prstGeom prst="rect">
            <a:avLst/>
          </a:prstGeom>
        </p:spPr>
        <p:txBody>
          <a:bodyPr wrap="square">
            <a:spAutoFit/>
          </a:bodyPr>
          <a:lstStyle/>
          <a:p>
            <a:pPr marL="285750" indent="-285750">
              <a:buFont typeface="Arial" panose="020B0604020202020204" pitchFamily="34" charset="0"/>
              <a:buChar char="•"/>
            </a:pPr>
            <a:r>
              <a:rPr lang="zh-CN" altLang="zh-CN" sz="1800" kern="0" dirty="0">
                <a:solidFill>
                  <a:srgbClr val="444444"/>
                </a:solidFill>
                <a:ea typeface="黑体" panose="02010609060101010101" pitchFamily="49" charset="-122"/>
                <a:cs typeface="Tahoma" panose="020B0604030504040204" pitchFamily="34" charset="0"/>
              </a:rPr>
              <a:t>多路反馈型</a:t>
            </a:r>
            <a:r>
              <a:rPr lang="en-US" altLang="zh-CN" sz="1800" kern="0" dirty="0">
                <a:solidFill>
                  <a:srgbClr val="444444"/>
                </a:solidFill>
                <a:ea typeface="黑体" panose="02010609060101010101" pitchFamily="49" charset="-122"/>
                <a:cs typeface="Tahoma" panose="020B0604030504040204" pitchFamily="34" charset="0"/>
              </a:rPr>
              <a:t>BPF</a:t>
            </a:r>
            <a:r>
              <a:rPr lang="zh-CN" altLang="zh-CN" sz="1800" kern="0" dirty="0">
                <a:solidFill>
                  <a:srgbClr val="444444"/>
                </a:solidFill>
                <a:ea typeface="黑体" panose="02010609060101010101" pitchFamily="49" charset="-122"/>
                <a:cs typeface="Tahoma" panose="020B0604030504040204" pitchFamily="34" charset="0"/>
              </a:rPr>
              <a:t>电路</a:t>
            </a:r>
            <a:endParaRPr lang="zh-CN" altLang="en-US" sz="1800" dirty="0"/>
          </a:p>
        </p:txBody>
      </p:sp>
      <p:graphicFrame>
        <p:nvGraphicFramePr>
          <p:cNvPr id="15" name="对象 14"/>
          <p:cNvGraphicFramePr>
            <a:graphicFrameLocks noChangeAspect="1"/>
          </p:cNvGraphicFramePr>
          <p:nvPr>
            <p:extLst>
              <p:ext uri="{D42A27DB-BD31-4B8C-83A1-F6EECF244321}">
                <p14:modId xmlns:p14="http://schemas.microsoft.com/office/powerpoint/2010/main" val="2345886102"/>
              </p:ext>
            </p:extLst>
          </p:nvPr>
        </p:nvGraphicFramePr>
        <p:xfrm>
          <a:off x="2383372" y="3002258"/>
          <a:ext cx="4329002" cy="1627364"/>
        </p:xfrm>
        <a:graphic>
          <a:graphicData uri="http://schemas.openxmlformats.org/presentationml/2006/ole">
            <mc:AlternateContent xmlns:mc="http://schemas.openxmlformats.org/markup-compatibility/2006">
              <mc:Choice xmlns:v="urn:schemas-microsoft-com:vml" Requires="v">
                <p:oleObj spid="_x0000_s22668" name="Visio" r:id="rId3" imgW="2567065" imgH="980071" progId="Visio.Drawing.11">
                  <p:embed/>
                </p:oleObj>
              </mc:Choice>
              <mc:Fallback>
                <p:oleObj name="Visio" r:id="rId3" imgW="2567065" imgH="980071" progId="Visio.Drawing.11">
                  <p:embed/>
                  <p:pic>
                    <p:nvPicPr>
                      <p:cNvPr id="15" name="对象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3372" y="3002258"/>
                        <a:ext cx="4329002" cy="1627364"/>
                      </a:xfrm>
                      <a:prstGeom prst="rect">
                        <a:avLst/>
                      </a:prstGeom>
                      <a:noFill/>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986964229"/>
              </p:ext>
            </p:extLst>
          </p:nvPr>
        </p:nvGraphicFramePr>
        <p:xfrm>
          <a:off x="2831188" y="1348331"/>
          <a:ext cx="6474166" cy="723118"/>
        </p:xfrm>
        <a:graphic>
          <a:graphicData uri="http://schemas.openxmlformats.org/presentationml/2006/ole">
            <mc:AlternateContent xmlns:mc="http://schemas.openxmlformats.org/markup-compatibility/2006">
              <mc:Choice xmlns:v="urn:schemas-microsoft-com:vml" Requires="v">
                <p:oleObj spid="_x0000_s22669" name="Equation" r:id="rId5" imgW="3644900" imgH="406400" progId="Equation.DSMT4">
                  <p:embed/>
                </p:oleObj>
              </mc:Choice>
              <mc:Fallback>
                <p:oleObj name="Equation" r:id="rId5" imgW="3644900" imgH="406400" progId="Equation.DSMT4">
                  <p:embed/>
                  <p:pic>
                    <p:nvPicPr>
                      <p:cNvPr id="17" name="对象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1188" y="1348331"/>
                        <a:ext cx="6474166" cy="723118"/>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32952530"/>
              </p:ext>
            </p:extLst>
          </p:nvPr>
        </p:nvGraphicFramePr>
        <p:xfrm>
          <a:off x="7177482" y="2528126"/>
          <a:ext cx="2012162" cy="2361733"/>
        </p:xfrm>
        <a:graphic>
          <a:graphicData uri="http://schemas.openxmlformats.org/presentationml/2006/ole">
            <mc:AlternateContent xmlns:mc="http://schemas.openxmlformats.org/markup-compatibility/2006">
              <mc:Choice xmlns:v="urn:schemas-microsoft-com:vml" Requires="v">
                <p:oleObj spid="_x0000_s22670" name="Equation" r:id="rId7" imgW="1155600" imgH="1282680" progId="Equation.DSMT4">
                  <p:embed/>
                </p:oleObj>
              </mc:Choice>
              <mc:Fallback>
                <p:oleObj name="Equation" r:id="rId7" imgW="1155600" imgH="1282680" progId="Equation.DSMT4">
                  <p:embed/>
                  <p:pic>
                    <p:nvPicPr>
                      <p:cNvPr id="19" name="对象 18"/>
                      <p:cNvPicPr>
                        <a:picLocks noChangeAspect="1" noChangeArrowheads="1"/>
                      </p:cNvPicPr>
                      <p:nvPr/>
                    </p:nvPicPr>
                    <p:blipFill>
                      <a:blip r:embed="rId8"/>
                      <a:srcRect/>
                      <a:stretch>
                        <a:fillRect/>
                      </a:stretch>
                    </p:blipFill>
                    <p:spPr bwMode="auto">
                      <a:xfrm>
                        <a:off x="7177482" y="2528126"/>
                        <a:ext cx="2012162" cy="2361733"/>
                      </a:xfrm>
                      <a:prstGeom prst="rect">
                        <a:avLst/>
                      </a:prstGeom>
                      <a:noFill/>
                    </p:spPr>
                  </p:pic>
                </p:oleObj>
              </mc:Fallback>
            </mc:AlternateContent>
          </a:graphicData>
        </a:graphic>
      </p:graphicFrame>
      <p:sp>
        <p:nvSpPr>
          <p:cNvPr id="9" name="文本框 8"/>
          <p:cNvSpPr txBox="1"/>
          <p:nvPr/>
        </p:nvSpPr>
        <p:spPr>
          <a:xfrm>
            <a:off x="1871621" y="5647790"/>
            <a:ext cx="8562711" cy="338554"/>
          </a:xfrm>
          <a:prstGeom prst="rect">
            <a:avLst/>
          </a:prstGeom>
          <a:noFill/>
        </p:spPr>
        <p:txBody>
          <a:bodyPr wrap="square" rtlCol="0">
            <a:spAutoFit/>
          </a:bodyPr>
          <a:lstStyle/>
          <a:p>
            <a:r>
              <a:rPr lang="zh-CN" altLang="en-US" sz="1600" dirty="0">
                <a:latin typeface="Times New Roman" pitchFamily="18" charset="0"/>
                <a:ea typeface="宋体" pitchFamily="2" charset="-122"/>
              </a:rPr>
              <a:t>注：已知</a:t>
            </a:r>
            <a:r>
              <a:rPr lang="en-US" altLang="zh-CN" sz="1600" dirty="0">
                <a:latin typeface="Times New Roman" pitchFamily="18" charset="0"/>
                <a:ea typeface="宋体" pitchFamily="2" charset="-122"/>
              </a:rPr>
              <a:t>f0</a:t>
            </a:r>
            <a:r>
              <a:rPr lang="zh-CN" altLang="en-US" sz="1600" dirty="0">
                <a:latin typeface="Times New Roman" pitchFamily="18" charset="0"/>
                <a:ea typeface="宋体" pitchFamily="2" charset="-122"/>
              </a:rPr>
              <a:t>与</a:t>
            </a:r>
            <a:r>
              <a:rPr lang="en-US" altLang="zh-CN" sz="1600" dirty="0">
                <a:latin typeface="Times New Roman" pitchFamily="18" charset="0"/>
                <a:ea typeface="宋体" pitchFamily="2" charset="-122"/>
              </a:rPr>
              <a:t>Q</a:t>
            </a:r>
            <a:r>
              <a:rPr lang="zh-CN" altLang="en-US" sz="1600" dirty="0">
                <a:latin typeface="Times New Roman" pitchFamily="18" charset="0"/>
                <a:ea typeface="宋体" pitchFamily="2" charset="-122"/>
              </a:rPr>
              <a:t>，求</a:t>
            </a:r>
            <a:r>
              <a:rPr lang="en-US" altLang="zh-CN" sz="1600" dirty="0">
                <a:latin typeface="Times New Roman" pitchFamily="18" charset="0"/>
                <a:ea typeface="宋体" pitchFamily="2" charset="-122"/>
              </a:rPr>
              <a:t>RC</a:t>
            </a:r>
            <a:r>
              <a:rPr lang="zh-CN" altLang="en-US" sz="1600" dirty="0">
                <a:latin typeface="Times New Roman" pitchFamily="18" charset="0"/>
                <a:ea typeface="宋体" pitchFamily="2" charset="-122"/>
              </a:rPr>
              <a:t>。</a:t>
            </a:r>
            <a:r>
              <a:rPr lang="zh-CN" altLang="zh-CN" sz="1600" dirty="0">
                <a:latin typeface="Times New Roman" pitchFamily="18" charset="0"/>
                <a:ea typeface="宋体" pitchFamily="2" charset="-122"/>
              </a:rPr>
              <a:t>参数个数大于方程个数，元件参数并不唯一</a:t>
            </a:r>
            <a:r>
              <a:rPr lang="zh-CN" altLang="en-US" sz="1600" dirty="0">
                <a:latin typeface="Times New Roman" pitchFamily="18" charset="0"/>
                <a:ea typeface="宋体" pitchFamily="2" charset="-122"/>
              </a:rPr>
              <a:t>，要预先指定某几个参数。</a:t>
            </a:r>
            <a:endParaRPr lang="zh-CN" altLang="en-US" sz="1600" dirty="0"/>
          </a:p>
        </p:txBody>
      </p:sp>
    </p:spTree>
    <p:extLst>
      <p:ext uri="{BB962C8B-B14F-4D97-AF65-F5344CB8AC3E}">
        <p14:creationId xmlns:p14="http://schemas.microsoft.com/office/powerpoint/2010/main" val="21256322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966163" y="1868554"/>
            <a:ext cx="2341418" cy="2992582"/>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矩形 4"/>
          <p:cNvSpPr/>
          <p:nvPr/>
        </p:nvSpPr>
        <p:spPr>
          <a:xfrm>
            <a:off x="827314" y="649706"/>
            <a:ext cx="4222247" cy="369332"/>
          </a:xfrm>
          <a:prstGeom prst="rect">
            <a:avLst/>
          </a:prstGeom>
        </p:spPr>
        <p:txBody>
          <a:bodyPr wrap="square">
            <a:spAutoFit/>
          </a:bodyPr>
          <a:lstStyle/>
          <a:p>
            <a:pPr marL="342900" indent="-342900">
              <a:buFont typeface="Arial" panose="020B0604020202020204" pitchFamily="34" charset="0"/>
              <a:buChar char="•"/>
            </a:pPr>
            <a:r>
              <a:rPr lang="zh-CN" altLang="zh-CN" sz="1800" kern="0" dirty="0">
                <a:solidFill>
                  <a:srgbClr val="444444"/>
                </a:solidFill>
                <a:ea typeface="黑体" panose="02010609060101010101" pitchFamily="49" charset="-122"/>
                <a:cs typeface="Tahoma" panose="020B0604030504040204" pitchFamily="34" charset="0"/>
              </a:rPr>
              <a:t>使用模拟电感的</a:t>
            </a:r>
            <a:r>
              <a:rPr lang="en-US" altLang="zh-CN" sz="1800" kern="0" dirty="0">
                <a:solidFill>
                  <a:srgbClr val="444444"/>
                </a:solidFill>
                <a:ea typeface="黑体" panose="02010609060101010101" pitchFamily="49" charset="-122"/>
                <a:cs typeface="Tahoma" panose="020B0604030504040204" pitchFamily="34" charset="0"/>
              </a:rPr>
              <a:t>BPF</a:t>
            </a:r>
            <a:r>
              <a:rPr lang="zh-CN" altLang="zh-CN" sz="1800" kern="0" dirty="0">
                <a:solidFill>
                  <a:srgbClr val="444444"/>
                </a:solidFill>
                <a:ea typeface="黑体" panose="02010609060101010101" pitchFamily="49" charset="-122"/>
                <a:cs typeface="Tahoma" panose="020B0604030504040204" pitchFamily="34" charset="0"/>
              </a:rPr>
              <a:t>电路</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385350008"/>
              </p:ext>
            </p:extLst>
          </p:nvPr>
        </p:nvGraphicFramePr>
        <p:xfrm>
          <a:off x="1676407" y="1779290"/>
          <a:ext cx="4068199" cy="3153103"/>
        </p:xfrm>
        <a:graphic>
          <a:graphicData uri="http://schemas.openxmlformats.org/presentationml/2006/ole">
            <mc:AlternateContent xmlns:mc="http://schemas.openxmlformats.org/markup-compatibility/2006">
              <mc:Choice xmlns:v="urn:schemas-microsoft-com:vml" Requires="v">
                <p:oleObj spid="_x0000_s23738" name="Visio" r:id="rId3" imgW="2819194" imgH="2203379" progId="Visio.Drawing.11">
                  <p:embed/>
                </p:oleObj>
              </mc:Choice>
              <mc:Fallback>
                <p:oleObj name="Visio" r:id="rId3" imgW="2819194" imgH="2203379" progId="Visio.Drawing.11">
                  <p:embed/>
                  <p:pic>
                    <p:nvPicPr>
                      <p:cNvPr id="7" name="对象 6"/>
                      <p:cNvPicPr>
                        <a:picLocks noChangeAspect="1" noChangeArrowheads="1"/>
                      </p:cNvPicPr>
                      <p:nvPr/>
                    </p:nvPicPr>
                    <p:blipFill>
                      <a:blip r:embed="rId4"/>
                      <a:srcRect/>
                      <a:stretch>
                        <a:fillRect/>
                      </a:stretch>
                    </p:blipFill>
                    <p:spPr bwMode="auto">
                      <a:xfrm>
                        <a:off x="1676407" y="1779290"/>
                        <a:ext cx="4068199" cy="3153103"/>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83096687"/>
              </p:ext>
            </p:extLst>
          </p:nvPr>
        </p:nvGraphicFramePr>
        <p:xfrm>
          <a:off x="5754881" y="881018"/>
          <a:ext cx="4615890" cy="1208924"/>
        </p:xfrm>
        <a:graphic>
          <a:graphicData uri="http://schemas.openxmlformats.org/presentationml/2006/ole">
            <mc:AlternateContent xmlns:mc="http://schemas.openxmlformats.org/markup-compatibility/2006">
              <mc:Choice xmlns:v="urn:schemas-microsoft-com:vml" Requires="v">
                <p:oleObj spid="_x0000_s23739" name="Equation" r:id="rId5" imgW="2933700" imgH="774700" progId="Equation.DSMT4">
                  <p:embed/>
                </p:oleObj>
              </mc:Choice>
              <mc:Fallback>
                <p:oleObj name="Equation" r:id="rId5" imgW="2933700" imgH="7747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4881" y="881018"/>
                        <a:ext cx="4615890" cy="1208924"/>
                      </a:xfrm>
                      <a:prstGeom prst="rect">
                        <a:avLst/>
                      </a:prstGeom>
                      <a:noFill/>
                    </p:spPr>
                  </p:pic>
                </p:oleObj>
              </mc:Fallback>
            </mc:AlternateContent>
          </a:graphicData>
        </a:graphic>
      </p:graphicFrame>
      <p:sp>
        <p:nvSpPr>
          <p:cNvPr id="9" name="矩形 8"/>
          <p:cNvSpPr/>
          <p:nvPr/>
        </p:nvSpPr>
        <p:spPr>
          <a:xfrm>
            <a:off x="5887896" y="2363381"/>
            <a:ext cx="4401733" cy="507831"/>
          </a:xfrm>
          <a:prstGeom prst="rect">
            <a:avLst/>
          </a:prstGeom>
        </p:spPr>
        <p:txBody>
          <a:bodyPr wrap="square">
            <a:spAutoFit/>
          </a:bodyPr>
          <a:lstStyle/>
          <a:p>
            <a:pPr>
              <a:lnSpc>
                <a:spcPct val="150000"/>
              </a:lnSpc>
            </a:pPr>
            <a:r>
              <a:rPr lang="zh-CN" altLang="en-US" sz="1800" dirty="0">
                <a:latin typeface="Times New Roman" panose="02020603050405020304" pitchFamily="18" charset="0"/>
                <a:cs typeface="Times New Roman" panose="02020603050405020304" pitchFamily="18" charset="0"/>
              </a:rPr>
              <a:t>通常</a:t>
            </a:r>
            <a:r>
              <a:rPr lang="zh-CN" altLang="zh-CN" sz="1800" dirty="0">
                <a:latin typeface="Times New Roman" panose="02020603050405020304" pitchFamily="18" charset="0"/>
                <a:cs typeface="Times New Roman" panose="02020603050405020304" pitchFamily="18" charset="0"/>
              </a:rPr>
              <a:t>令</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C</a:t>
            </a:r>
            <a:r>
              <a:rPr lang="zh-CN" altLang="en-US"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zh-CN" altLang="en-US" sz="1800" dirty="0">
                <a:latin typeface="Times New Roman" panose="02020603050405020304" pitchFamily="18" charset="0"/>
              </a:rPr>
              <a:t>，则有</a:t>
            </a:r>
          </a:p>
        </p:txBody>
      </p:sp>
      <p:sp>
        <p:nvSpPr>
          <p:cNvPr id="17" name="文本框 16"/>
          <p:cNvSpPr txBox="1"/>
          <p:nvPr/>
        </p:nvSpPr>
        <p:spPr>
          <a:xfrm>
            <a:off x="3560239" y="4864147"/>
            <a:ext cx="1201161" cy="369332"/>
          </a:xfrm>
          <a:prstGeom prst="rect">
            <a:avLst/>
          </a:prstGeom>
          <a:noFill/>
        </p:spPr>
        <p:txBody>
          <a:bodyPr wrap="square" rtlCol="0">
            <a:spAutoFit/>
          </a:bodyPr>
          <a:lstStyle/>
          <a:p>
            <a:r>
              <a:rPr lang="zh-CN" altLang="en-US" sz="1800" dirty="0"/>
              <a:t>模拟电感</a:t>
            </a:r>
          </a:p>
        </p:txBody>
      </p:sp>
      <p:sp>
        <p:nvSpPr>
          <p:cNvPr id="18" name="文本框 17"/>
          <p:cNvSpPr txBox="1"/>
          <p:nvPr/>
        </p:nvSpPr>
        <p:spPr>
          <a:xfrm>
            <a:off x="499308" y="5369479"/>
            <a:ext cx="11034315" cy="869533"/>
          </a:xfrm>
          <a:prstGeom prst="rect">
            <a:avLst/>
          </a:prstGeom>
          <a:noFill/>
        </p:spPr>
        <p:txBody>
          <a:bodyPr wrap="square" rtlCol="0">
            <a:spAutoFit/>
          </a:bodyPr>
          <a:lstStyle/>
          <a:p>
            <a:pPr>
              <a:lnSpc>
                <a:spcPct val="150000"/>
              </a:lnSpc>
            </a:pPr>
            <a:r>
              <a:rPr lang="zh-CN" altLang="en-US" sz="1800" dirty="0">
                <a:latin typeface="Times New Roman" pitchFamily="18" charset="0"/>
                <a:ea typeface="宋体" pitchFamily="2" charset="-122"/>
              </a:rPr>
              <a:t>注：此电路与前面两种相比，设计与调整均较为简单，缺点是要用</a:t>
            </a:r>
            <a:r>
              <a:rPr lang="en-US" altLang="zh-CN" sz="1800" dirty="0">
                <a:latin typeface="Times New Roman" pitchFamily="18" charset="0"/>
                <a:ea typeface="宋体" pitchFamily="2" charset="-122"/>
              </a:rPr>
              <a:t>2</a:t>
            </a:r>
            <a:r>
              <a:rPr lang="zh-CN" altLang="en-US" sz="1800" dirty="0">
                <a:latin typeface="Times New Roman" pitchFamily="18" charset="0"/>
                <a:ea typeface="宋体" pitchFamily="2" charset="-122"/>
              </a:rPr>
              <a:t>个运放，且中心增益必须大于</a:t>
            </a:r>
            <a:r>
              <a:rPr lang="en-US" altLang="zh-CN" sz="1800" dirty="0">
                <a:latin typeface="Times New Roman" pitchFamily="18" charset="0"/>
                <a:ea typeface="宋体" pitchFamily="2" charset="-122"/>
              </a:rPr>
              <a:t>1</a:t>
            </a:r>
            <a:r>
              <a:rPr lang="zh-CN" altLang="en-US" sz="1800" dirty="0">
                <a:latin typeface="Times New Roman" pitchFamily="18" charset="0"/>
                <a:ea typeface="宋体" pitchFamily="2" charset="-122"/>
              </a:rPr>
              <a:t>。实际电路中采用双运放较为适宜。</a:t>
            </a:r>
            <a:endParaRPr lang="zh-CN" altLang="en-US" sz="1800" dirty="0"/>
          </a:p>
        </p:txBody>
      </p:sp>
      <p:graphicFrame>
        <p:nvGraphicFramePr>
          <p:cNvPr id="20" name="对象 19"/>
          <p:cNvGraphicFramePr>
            <a:graphicFrameLocks noChangeAspect="1"/>
          </p:cNvGraphicFramePr>
          <p:nvPr>
            <p:extLst>
              <p:ext uri="{D42A27DB-BD31-4B8C-83A1-F6EECF244321}">
                <p14:modId xmlns:p14="http://schemas.microsoft.com/office/powerpoint/2010/main" val="1327292134"/>
              </p:ext>
            </p:extLst>
          </p:nvPr>
        </p:nvGraphicFramePr>
        <p:xfrm>
          <a:off x="5949041" y="3011467"/>
          <a:ext cx="4469044" cy="677128"/>
        </p:xfrm>
        <a:graphic>
          <a:graphicData uri="http://schemas.openxmlformats.org/presentationml/2006/ole">
            <mc:AlternateContent xmlns:mc="http://schemas.openxmlformats.org/markup-compatibility/2006">
              <mc:Choice xmlns:v="urn:schemas-microsoft-com:vml" Requires="v">
                <p:oleObj spid="_x0000_s23740" name="Equation" r:id="rId7" imgW="2971800" imgH="444240" progId="Equation.DSMT4">
                  <p:embed/>
                </p:oleObj>
              </mc:Choice>
              <mc:Fallback>
                <p:oleObj name="Equation" r:id="rId7" imgW="2971800" imgH="444240" progId="Equation.DSMT4">
                  <p:embed/>
                  <p:pic>
                    <p:nvPicPr>
                      <p:cNvPr id="20" name="对象 19"/>
                      <p:cNvPicPr>
                        <a:picLocks noChangeAspect="1" noChangeArrowheads="1"/>
                      </p:cNvPicPr>
                      <p:nvPr/>
                    </p:nvPicPr>
                    <p:blipFill>
                      <a:blip r:embed="rId8"/>
                      <a:srcRect/>
                      <a:stretch>
                        <a:fillRect/>
                      </a:stretch>
                    </p:blipFill>
                    <p:spPr bwMode="auto">
                      <a:xfrm>
                        <a:off x="5949041" y="3011467"/>
                        <a:ext cx="4469044" cy="677128"/>
                      </a:xfrm>
                      <a:prstGeom prst="rect">
                        <a:avLst/>
                      </a:prstGeom>
                      <a:noFill/>
                    </p:spPr>
                  </p:pic>
                </p:oleObj>
              </mc:Fallback>
            </mc:AlternateContent>
          </a:graphicData>
        </a:graphic>
      </p:graphicFrame>
      <p:sp>
        <p:nvSpPr>
          <p:cNvPr id="21" name="矩形 20"/>
          <p:cNvSpPr/>
          <p:nvPr/>
        </p:nvSpPr>
        <p:spPr>
          <a:xfrm>
            <a:off x="5938345" y="3802702"/>
            <a:ext cx="4401733" cy="507831"/>
          </a:xfrm>
          <a:prstGeom prst="rect">
            <a:avLst/>
          </a:prstGeom>
        </p:spPr>
        <p:txBody>
          <a:bodyPr wrap="square">
            <a:spAutoFit/>
          </a:bodyPr>
          <a:lstStyle/>
          <a:p>
            <a:pPr>
              <a:lnSpc>
                <a:spcPct val="150000"/>
              </a:lnSpc>
            </a:pPr>
            <a:r>
              <a:rPr lang="zh-CN" altLang="en-US" sz="1800" dirty="0">
                <a:latin typeface="Times New Roman" panose="02020603050405020304" pitchFamily="18" charset="0"/>
                <a:cs typeface="Times New Roman" panose="02020603050405020304" pitchFamily="18" charset="0"/>
              </a:rPr>
              <a:t>进一步</a:t>
            </a:r>
            <a:r>
              <a:rPr lang="zh-CN" altLang="zh-CN" sz="1800" dirty="0">
                <a:latin typeface="Times New Roman" panose="02020603050405020304" pitchFamily="18" charset="0"/>
                <a:cs typeface="Times New Roman" panose="02020603050405020304" pitchFamily="18" charset="0"/>
              </a:rPr>
              <a:t>令</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4</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5</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en-US" altLang="zh-CN" sz="1800" baseline="-25000" dirty="0">
                <a:latin typeface="Times New Roman" panose="02020603050405020304" pitchFamily="18" charset="0"/>
              </a:rPr>
              <a:t>3</a:t>
            </a:r>
            <a:r>
              <a:rPr lang="en-US" altLang="zh-CN" sz="1800" dirty="0">
                <a:latin typeface="Times New Roman" panose="02020603050405020304" pitchFamily="18" charset="0"/>
              </a:rPr>
              <a:t>=</a:t>
            </a:r>
            <a:r>
              <a:rPr lang="en-US" altLang="zh-CN" sz="1800" i="1" dirty="0">
                <a:latin typeface="Times New Roman" panose="02020603050405020304" pitchFamily="18" charset="0"/>
              </a:rPr>
              <a:t>R</a:t>
            </a:r>
            <a:r>
              <a:rPr lang="zh-CN" altLang="en-US" sz="1800" dirty="0">
                <a:latin typeface="Times New Roman" panose="02020603050405020304" pitchFamily="18" charset="0"/>
              </a:rPr>
              <a:t>，则有</a:t>
            </a:r>
          </a:p>
        </p:txBody>
      </p:sp>
      <p:graphicFrame>
        <p:nvGraphicFramePr>
          <p:cNvPr id="22" name="对象 21"/>
          <p:cNvGraphicFramePr>
            <a:graphicFrameLocks noChangeAspect="1"/>
          </p:cNvGraphicFramePr>
          <p:nvPr>
            <p:extLst>
              <p:ext uri="{D42A27DB-BD31-4B8C-83A1-F6EECF244321}">
                <p14:modId xmlns:p14="http://schemas.microsoft.com/office/powerpoint/2010/main" val="185182121"/>
              </p:ext>
            </p:extLst>
          </p:nvPr>
        </p:nvGraphicFramePr>
        <p:xfrm>
          <a:off x="6016466" y="4392116"/>
          <a:ext cx="2903537" cy="560387"/>
        </p:xfrm>
        <a:graphic>
          <a:graphicData uri="http://schemas.openxmlformats.org/presentationml/2006/ole">
            <mc:AlternateContent xmlns:mc="http://schemas.openxmlformats.org/markup-compatibility/2006">
              <mc:Choice xmlns:v="urn:schemas-microsoft-com:vml" Requires="v">
                <p:oleObj spid="_x0000_s23741" name="Equation" r:id="rId9" imgW="1930320" imgH="368280" progId="Equation.DSMT4">
                  <p:embed/>
                </p:oleObj>
              </mc:Choice>
              <mc:Fallback>
                <p:oleObj name="Equation" r:id="rId9" imgW="1930320" imgH="368280" progId="Equation.DSMT4">
                  <p:embed/>
                  <p:pic>
                    <p:nvPicPr>
                      <p:cNvPr id="22" name="对象 21"/>
                      <p:cNvPicPr>
                        <a:picLocks noChangeAspect="1" noChangeArrowheads="1"/>
                      </p:cNvPicPr>
                      <p:nvPr/>
                    </p:nvPicPr>
                    <p:blipFill>
                      <a:blip r:embed="rId10"/>
                      <a:srcRect/>
                      <a:stretch>
                        <a:fillRect/>
                      </a:stretch>
                    </p:blipFill>
                    <p:spPr bwMode="auto">
                      <a:xfrm>
                        <a:off x="6016466" y="4392116"/>
                        <a:ext cx="2903537" cy="560387"/>
                      </a:xfrm>
                      <a:prstGeom prst="rect">
                        <a:avLst/>
                      </a:prstGeom>
                      <a:noFill/>
                    </p:spPr>
                  </p:pic>
                </p:oleObj>
              </mc:Fallback>
            </mc:AlternateContent>
          </a:graphicData>
        </a:graphic>
      </p:graphicFrame>
    </p:spTree>
    <p:extLst>
      <p:ext uri="{BB962C8B-B14F-4D97-AF65-F5344CB8AC3E}">
        <p14:creationId xmlns:p14="http://schemas.microsoft.com/office/powerpoint/2010/main" val="2590567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442685" y="429358"/>
            <a:ext cx="11328099" cy="5909310"/>
          </a:xfrm>
          <a:prstGeom prst="rect">
            <a:avLst/>
          </a:prstGeom>
          <a:noFill/>
        </p:spPr>
        <p:txBody>
          <a:bodyPr wrap="square" rtlCol="0">
            <a:spAutoFit/>
          </a:bodyPr>
          <a:lstStyle/>
          <a:p>
            <a:pPr>
              <a:lnSpc>
                <a:spcPct val="150000"/>
              </a:lnSpc>
            </a:pPr>
            <a:r>
              <a:rPr lang="zh-CN" altLang="en-US" sz="1800" dirty="0">
                <a:solidFill>
                  <a:srgbClr val="FF0000"/>
                </a:solidFill>
                <a:latin typeface="Arial" panose="020B0604020202020204" pitchFamily="34" charset="0"/>
              </a:rPr>
              <a:t>状态变量滤波器</a:t>
            </a:r>
            <a:endParaRPr lang="en-US" altLang="zh-CN" sz="1800" dirty="0">
              <a:solidFill>
                <a:srgbClr val="FF0000"/>
              </a:solidFill>
              <a:latin typeface="Arial" panose="020B0604020202020204" pitchFamily="34" charset="0"/>
            </a:endParaRPr>
          </a:p>
          <a:p>
            <a:pPr marL="0" lvl="1" indent="457200" eaLnBrk="0" hangingPunct="0">
              <a:lnSpc>
                <a:spcPct val="150000"/>
              </a:lnSpc>
            </a:pPr>
            <a:r>
              <a:rPr lang="en-US" altLang="zh-CN" sz="1800" dirty="0" smtClean="0">
                <a:latin typeface="Arial" panose="020B0604020202020204" pitchFamily="34" charset="0"/>
                <a:cs typeface="Times New Roman" panose="02020603050405020304" pitchFamily="18" charset="0"/>
              </a:rPr>
              <a:t>2</a:t>
            </a:r>
            <a:r>
              <a:rPr lang="zh-CN" altLang="en-US" sz="1800" dirty="0" smtClean="0">
                <a:latin typeface="Arial" panose="020B0604020202020204" pitchFamily="34" charset="0"/>
                <a:cs typeface="Times New Roman" panose="02020603050405020304" pitchFamily="18" charset="0"/>
              </a:rPr>
              <a:t>阶</a:t>
            </a:r>
            <a:r>
              <a:rPr lang="zh-CN" altLang="zh-CN" sz="1800" dirty="0" smtClean="0">
                <a:latin typeface="Arial" panose="020B0604020202020204" pitchFamily="34" charset="0"/>
                <a:cs typeface="Times New Roman" panose="02020603050405020304" pitchFamily="18" charset="0"/>
              </a:rPr>
              <a:t>滤波</a:t>
            </a:r>
            <a:r>
              <a:rPr lang="zh-CN" altLang="en-US" sz="1800" dirty="0" smtClean="0">
                <a:latin typeface="Arial" panose="020B0604020202020204" pitchFamily="34" charset="0"/>
                <a:cs typeface="Times New Roman" panose="02020603050405020304" pitchFamily="18" charset="0"/>
              </a:rPr>
              <a:t>节</a:t>
            </a:r>
            <a:r>
              <a:rPr lang="zh-CN" altLang="zh-CN" sz="1800" dirty="0" smtClean="0">
                <a:latin typeface="Arial" panose="020B0604020202020204" pitchFamily="34" charset="0"/>
                <a:cs typeface="Times New Roman" panose="02020603050405020304" pitchFamily="18" charset="0"/>
              </a:rPr>
              <a:t>的传递函数</a:t>
            </a:r>
            <a:r>
              <a:rPr lang="zh-CN" altLang="en-US" sz="1800" dirty="0" smtClean="0">
                <a:latin typeface="Arial" panose="020B0604020202020204" pitchFamily="34" charset="0"/>
                <a:cs typeface="Times New Roman" panose="02020603050405020304" pitchFamily="18" charset="0"/>
              </a:rPr>
              <a:t>通</a:t>
            </a:r>
            <a:r>
              <a:rPr lang="zh-CN" altLang="zh-CN" sz="1800" dirty="0" smtClean="0">
                <a:latin typeface="Arial" panose="020B0604020202020204" pitchFamily="34" charset="0"/>
                <a:cs typeface="Times New Roman" panose="02020603050405020304" pitchFamily="18" charset="0"/>
              </a:rPr>
              <a:t>式</a:t>
            </a:r>
            <a:endParaRPr lang="en-US" altLang="zh-CN" sz="1800" dirty="0">
              <a:latin typeface="Arial" panose="020B0604020202020204" pitchFamily="34" charset="0"/>
              <a:cs typeface="Times New Roman" panose="02020603050405020304" pitchFamily="18" charset="0"/>
            </a:endParaRPr>
          </a:p>
          <a:p>
            <a:pPr marL="0" lvl="1" indent="457200" eaLnBrk="0" hangingPunct="0">
              <a:lnSpc>
                <a:spcPct val="150000"/>
              </a:lnSpc>
            </a:pPr>
            <a:endParaRPr lang="en-US" altLang="zh-CN" sz="1800" dirty="0" smtClean="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endParaRPr lang="en-US" altLang="zh-CN" sz="1800" dirty="0" smtClean="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endParaRPr lang="en-US" altLang="zh-CN" sz="1800" dirty="0" smtClean="0">
              <a:latin typeface="Arial" panose="020B0604020202020204" pitchFamily="34" charset="0"/>
            </a:endParaRPr>
          </a:p>
          <a:p>
            <a:pPr marL="0" lvl="1" indent="457200" eaLnBrk="0" hangingPunct="0">
              <a:lnSpc>
                <a:spcPct val="150000"/>
              </a:lnSpc>
            </a:pPr>
            <a:endParaRPr lang="en-US" altLang="zh-CN" sz="1800" dirty="0" smtClean="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endParaRPr lang="en-US" altLang="zh-CN" sz="1800" dirty="0" smtClean="0">
              <a:latin typeface="Arial" panose="020B0604020202020204" pitchFamily="34" charset="0"/>
            </a:endParaRPr>
          </a:p>
          <a:p>
            <a:pPr marL="0" lvl="1" indent="457200" eaLnBrk="0" hangingPunct="0">
              <a:lnSpc>
                <a:spcPct val="150000"/>
              </a:lnSpc>
            </a:pPr>
            <a:endParaRPr lang="en-US" altLang="zh-CN" sz="1800" dirty="0">
              <a:latin typeface="Arial" panose="020B0604020202020204" pitchFamily="34" charset="0"/>
            </a:endParaRPr>
          </a:p>
          <a:p>
            <a:pPr marL="0" lvl="1" indent="457200" eaLnBrk="0" hangingPunct="0">
              <a:lnSpc>
                <a:spcPct val="150000"/>
              </a:lnSpc>
            </a:pPr>
            <a:r>
              <a:rPr lang="zh-CN" altLang="en-US" sz="1800" dirty="0">
                <a:latin typeface="Arial" panose="020B0604020202020204" pitchFamily="34" charset="0"/>
              </a:rPr>
              <a:t>在输出端取不同的项，可以得到不同的滤波器传递函数：</a:t>
            </a:r>
            <a:endParaRPr lang="en-US" altLang="zh-CN" sz="1800" dirty="0">
              <a:latin typeface="Arial" panose="020B0604020202020204" pitchFamily="34" charset="0"/>
            </a:endParaRPr>
          </a:p>
          <a:p>
            <a:pPr marL="0" lvl="1" indent="457200" eaLnBrk="0" hangingPunct="0">
              <a:lnSpc>
                <a:spcPct val="150000"/>
              </a:lnSpc>
            </a:pPr>
            <a:r>
              <a:rPr lang="zh-CN" altLang="zh-CN" sz="1800" dirty="0"/>
              <a:t>令</a:t>
            </a:r>
            <a:r>
              <a:rPr lang="en-US" altLang="zh-CN" sz="1800" i="1" dirty="0"/>
              <a:t>b</a:t>
            </a:r>
            <a:r>
              <a:rPr lang="en-US" altLang="zh-CN" sz="1800" baseline="-25000" dirty="0"/>
              <a:t>2</a:t>
            </a:r>
            <a:r>
              <a:rPr lang="zh-CN" altLang="zh-CN" sz="1800" dirty="0"/>
              <a:t>和</a:t>
            </a:r>
            <a:r>
              <a:rPr lang="en-US" altLang="zh-CN" sz="1800" i="1" dirty="0"/>
              <a:t>b</a:t>
            </a:r>
            <a:r>
              <a:rPr lang="en-US" altLang="zh-CN" sz="1800" baseline="-25000" dirty="0"/>
              <a:t>1</a:t>
            </a:r>
            <a:r>
              <a:rPr lang="zh-CN" altLang="zh-CN" sz="1800" dirty="0"/>
              <a:t>为零就是低通滤波器，令</a:t>
            </a:r>
            <a:r>
              <a:rPr lang="en-US" altLang="zh-CN" sz="1800" i="1" dirty="0"/>
              <a:t>b</a:t>
            </a:r>
            <a:r>
              <a:rPr lang="en-US" altLang="zh-CN" sz="1800" baseline="-25000" dirty="0"/>
              <a:t>1</a:t>
            </a:r>
            <a:r>
              <a:rPr lang="zh-CN" altLang="zh-CN" sz="1800" dirty="0"/>
              <a:t>和</a:t>
            </a:r>
            <a:r>
              <a:rPr lang="en-US" altLang="zh-CN" sz="1800" i="1" dirty="0"/>
              <a:t>b</a:t>
            </a:r>
            <a:r>
              <a:rPr lang="en-US" altLang="zh-CN" sz="1800" baseline="-25000" dirty="0"/>
              <a:t>0</a:t>
            </a:r>
            <a:r>
              <a:rPr lang="zh-CN" altLang="zh-CN" sz="1800" dirty="0"/>
              <a:t>为零就是高通滤波器，令</a:t>
            </a:r>
            <a:r>
              <a:rPr lang="en-US" altLang="zh-CN" sz="1800" i="1" dirty="0"/>
              <a:t>b</a:t>
            </a:r>
            <a:r>
              <a:rPr lang="en-US" altLang="zh-CN" sz="1800" baseline="-25000" dirty="0"/>
              <a:t>2</a:t>
            </a:r>
            <a:r>
              <a:rPr lang="zh-CN" altLang="zh-CN" sz="1800" dirty="0"/>
              <a:t>和</a:t>
            </a:r>
            <a:r>
              <a:rPr lang="en-US" altLang="zh-CN" sz="1800" i="1" dirty="0"/>
              <a:t>b</a:t>
            </a:r>
            <a:r>
              <a:rPr lang="en-US" altLang="zh-CN" sz="1800" baseline="-25000" dirty="0"/>
              <a:t>0</a:t>
            </a:r>
            <a:r>
              <a:rPr lang="zh-CN" altLang="zh-CN" sz="1800" dirty="0"/>
              <a:t>为零就是带通滤波器，令</a:t>
            </a:r>
            <a:r>
              <a:rPr lang="en-US" altLang="zh-CN" sz="1800" i="1" dirty="0"/>
              <a:t>b</a:t>
            </a:r>
            <a:r>
              <a:rPr lang="en-US" altLang="zh-CN" sz="1800" baseline="-25000" dirty="0"/>
              <a:t>1</a:t>
            </a:r>
            <a:r>
              <a:rPr lang="zh-CN" altLang="zh-CN" sz="1800" dirty="0"/>
              <a:t>为零就是带阻滤波器</a:t>
            </a:r>
            <a:r>
              <a:rPr lang="zh-CN" altLang="zh-CN" sz="1800" dirty="0" smtClean="0"/>
              <a:t>。</a:t>
            </a:r>
            <a:r>
              <a:rPr lang="zh-CN" altLang="en-US" sz="1800" dirty="0" smtClean="0">
                <a:latin typeface="Arial" panose="020B0604020202020204" pitchFamily="34" charset="0"/>
              </a:rPr>
              <a:t>所</a:t>
            </a:r>
            <a:r>
              <a:rPr lang="zh-CN" altLang="en-US" sz="1800" dirty="0">
                <a:latin typeface="Arial" panose="020B0604020202020204" pitchFamily="34" charset="0"/>
              </a:rPr>
              <a:t>以此类滤波器被称为“万能滤波器”</a:t>
            </a:r>
          </a:p>
        </p:txBody>
      </p:sp>
      <p:graphicFrame>
        <p:nvGraphicFramePr>
          <p:cNvPr id="7" name="对象 6"/>
          <p:cNvGraphicFramePr>
            <a:graphicFrameLocks noChangeAspect="1"/>
          </p:cNvGraphicFramePr>
          <p:nvPr>
            <p:extLst>
              <p:ext uri="{D42A27DB-BD31-4B8C-83A1-F6EECF244321}">
                <p14:modId xmlns:p14="http://schemas.microsoft.com/office/powerpoint/2010/main" val="2272506865"/>
              </p:ext>
            </p:extLst>
          </p:nvPr>
        </p:nvGraphicFramePr>
        <p:xfrm>
          <a:off x="1378735" y="1308908"/>
          <a:ext cx="4556125" cy="1249362"/>
        </p:xfrm>
        <a:graphic>
          <a:graphicData uri="http://schemas.openxmlformats.org/presentationml/2006/ole">
            <mc:AlternateContent xmlns:mc="http://schemas.openxmlformats.org/markup-compatibility/2006">
              <mc:Choice xmlns:v="urn:schemas-microsoft-com:vml" Requires="v">
                <p:oleObj spid="_x0000_s29781" name="Equation" r:id="rId3" imgW="2603160" imgH="711000" progId="Equation.DSMT4">
                  <p:embed/>
                </p:oleObj>
              </mc:Choice>
              <mc:Fallback>
                <p:oleObj name="Equation" r:id="rId3" imgW="2603160" imgH="711000" progId="Equation.DSMT4">
                  <p:embed/>
                  <p:pic>
                    <p:nvPicPr>
                      <p:cNvPr id="0" name="Object 1"/>
                      <p:cNvPicPr>
                        <a:picLocks noChangeAspect="1" noChangeArrowheads="1"/>
                      </p:cNvPicPr>
                      <p:nvPr/>
                    </p:nvPicPr>
                    <p:blipFill>
                      <a:blip r:embed="rId4"/>
                      <a:srcRect/>
                      <a:stretch>
                        <a:fillRect/>
                      </a:stretch>
                    </p:blipFill>
                    <p:spPr bwMode="auto">
                      <a:xfrm>
                        <a:off x="1378735" y="1308908"/>
                        <a:ext cx="4556125" cy="124936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56427200"/>
              </p:ext>
            </p:extLst>
          </p:nvPr>
        </p:nvGraphicFramePr>
        <p:xfrm>
          <a:off x="7432888" y="1257297"/>
          <a:ext cx="2214880" cy="1300973"/>
        </p:xfrm>
        <a:graphic>
          <a:graphicData uri="http://schemas.openxmlformats.org/presentationml/2006/ole">
            <mc:AlternateContent xmlns:mc="http://schemas.openxmlformats.org/markup-compatibility/2006">
              <mc:Choice xmlns:v="urn:schemas-microsoft-com:vml" Requires="v">
                <p:oleObj spid="_x0000_s29782" name="Equation" r:id="rId5" imgW="1294838" imgH="774364" progId="Equation.DSMT4">
                  <p:embed/>
                </p:oleObj>
              </mc:Choice>
              <mc:Fallback>
                <p:oleObj name="Equation" r:id="rId5" imgW="1294838" imgH="774364"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32888" y="1257297"/>
                        <a:ext cx="2214880" cy="1300973"/>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8833450"/>
              </p:ext>
            </p:extLst>
          </p:nvPr>
        </p:nvGraphicFramePr>
        <p:xfrm>
          <a:off x="1611512" y="2814273"/>
          <a:ext cx="8116387" cy="2148114"/>
        </p:xfrm>
        <a:graphic>
          <a:graphicData uri="http://schemas.openxmlformats.org/presentationml/2006/ole">
            <mc:AlternateContent xmlns:mc="http://schemas.openxmlformats.org/markup-compatibility/2006">
              <mc:Choice xmlns:v="urn:schemas-microsoft-com:vml" Requires="v">
                <p:oleObj spid="_x0000_s29783" name="Visio" r:id="rId7" imgW="4816618" imgH="1250400" progId="Visio.Drawing.11">
                  <p:embed/>
                </p:oleObj>
              </mc:Choice>
              <mc:Fallback>
                <p:oleObj name="Visio" r:id="rId7" imgW="4816618" imgH="1250400" progId="Visio.Drawing.11">
                  <p:embed/>
                  <p:pic>
                    <p:nvPicPr>
                      <p:cNvPr id="0" name="Object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1512" y="2814273"/>
                        <a:ext cx="8116387" cy="2148114"/>
                      </a:xfrm>
                      <a:prstGeom prst="rect">
                        <a:avLst/>
                      </a:prstGeom>
                      <a:noFill/>
                    </p:spPr>
                  </p:pic>
                </p:oleObj>
              </mc:Fallback>
            </mc:AlternateContent>
          </a:graphicData>
        </a:graphic>
      </p:graphicFrame>
      <p:sp>
        <p:nvSpPr>
          <p:cNvPr id="10" name="右箭头 9"/>
          <p:cNvSpPr/>
          <p:nvPr/>
        </p:nvSpPr>
        <p:spPr>
          <a:xfrm>
            <a:off x="6281102" y="1759418"/>
            <a:ext cx="805543" cy="3483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9348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711857" y="440802"/>
            <a:ext cx="8472784" cy="452432"/>
          </a:xfrm>
          <a:prstGeom prst="rect">
            <a:avLst/>
          </a:prstGeom>
          <a:noFill/>
        </p:spPr>
        <p:txBody>
          <a:bodyPr wrap="square" rtlCol="0">
            <a:spAutoFit/>
          </a:bodyPr>
          <a:lstStyle/>
          <a:p>
            <a:pPr>
              <a:lnSpc>
                <a:spcPct val="130000"/>
              </a:lnSpc>
            </a:pPr>
            <a:r>
              <a:rPr lang="zh-CN" altLang="en-US" sz="1800" dirty="0"/>
              <a:t>实际的状态变量滤波器电路由积分与求和两种电路构成</a:t>
            </a:r>
          </a:p>
        </p:txBody>
      </p:sp>
      <p:graphicFrame>
        <p:nvGraphicFramePr>
          <p:cNvPr id="7" name="对象 6"/>
          <p:cNvGraphicFramePr>
            <a:graphicFrameLocks/>
          </p:cNvGraphicFramePr>
          <p:nvPr>
            <p:extLst>
              <p:ext uri="{D42A27DB-BD31-4B8C-83A1-F6EECF244321}">
                <p14:modId xmlns:p14="http://schemas.microsoft.com/office/powerpoint/2010/main" val="3465143090"/>
              </p:ext>
            </p:extLst>
          </p:nvPr>
        </p:nvGraphicFramePr>
        <p:xfrm>
          <a:off x="1778861" y="1057181"/>
          <a:ext cx="7292568" cy="2527383"/>
        </p:xfrm>
        <a:graphic>
          <a:graphicData uri="http://schemas.openxmlformats.org/presentationml/2006/ole">
            <mc:AlternateContent xmlns:mc="http://schemas.openxmlformats.org/markup-compatibility/2006">
              <mc:Choice xmlns:v="urn:schemas-microsoft-com:vml" Requires="v">
                <p:oleObj spid="_x0000_s25748" name="Visio" r:id="rId3" imgW="4637110" imgH="1708764" progId="Visio.Drawing.11">
                  <p:embed/>
                </p:oleObj>
              </mc:Choice>
              <mc:Fallback>
                <p:oleObj name="Visio" r:id="rId3" imgW="4637110" imgH="1708764" progId="Visio.Drawing.11">
                  <p:embed/>
                  <p:pic>
                    <p:nvPicPr>
                      <p:cNvPr id="7" name="对象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8861" y="1057181"/>
                        <a:ext cx="7292568" cy="2527383"/>
                      </a:xfrm>
                      <a:prstGeom prst="rect">
                        <a:avLst/>
                      </a:prstGeom>
                      <a:noFill/>
                    </p:spPr>
                  </p:pic>
                </p:oleObj>
              </mc:Fallback>
            </mc:AlternateContent>
          </a:graphicData>
        </a:graphic>
      </p:graphicFrame>
      <p:sp>
        <p:nvSpPr>
          <p:cNvPr id="9" name="Rectangle 4"/>
          <p:cNvSpPr>
            <a:spLocks noChangeArrowheads="1"/>
          </p:cNvSpPr>
          <p:nvPr/>
        </p:nvSpPr>
        <p:spPr bwMode="auto">
          <a:xfrm>
            <a:off x="515257" y="3748513"/>
            <a:ext cx="11067143"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457200" eaLnBrk="0" hangingPunct="0">
              <a:lnSpc>
                <a:spcPct val="130000"/>
              </a:lnSpc>
            </a:pPr>
            <a:r>
              <a:rPr lang="zh-CN" altLang="en-US" sz="1800" dirty="0"/>
              <a:t>在上述电路中，</a:t>
            </a:r>
            <a:r>
              <a:rPr lang="zh-CN" altLang="zh-CN" sz="1800" dirty="0"/>
              <a:t>高通与低通</a:t>
            </a:r>
            <a:r>
              <a:rPr lang="zh-CN" altLang="en-US" sz="1800" dirty="0"/>
              <a:t>的截止频率以及带通的中心频率相同，三种滤波器的</a:t>
            </a:r>
            <a:r>
              <a:rPr lang="en-US" altLang="zh-CN" sz="1800" dirty="0"/>
              <a:t>Q</a:t>
            </a:r>
            <a:r>
              <a:rPr lang="zh-CN" altLang="en-US" sz="1800" dirty="0"/>
              <a:t>值相同，低通与高通有</a:t>
            </a:r>
            <a:r>
              <a:rPr lang="zh-CN" altLang="zh-CN" sz="1800" dirty="0"/>
              <a:t>相同的电压增益，带通则有不同的电压增益</a:t>
            </a:r>
            <a:r>
              <a:rPr lang="zh-CN" altLang="en-US" sz="1800" dirty="0"/>
              <a:t>。</a:t>
            </a:r>
            <a:endParaRPr lang="zh-CN" altLang="zh-CN"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2503208923"/>
              </p:ext>
            </p:extLst>
          </p:nvPr>
        </p:nvGraphicFramePr>
        <p:xfrm>
          <a:off x="2908570" y="4706620"/>
          <a:ext cx="3370310" cy="676316"/>
        </p:xfrm>
        <a:graphic>
          <a:graphicData uri="http://schemas.openxmlformats.org/presentationml/2006/ole">
            <mc:AlternateContent xmlns:mc="http://schemas.openxmlformats.org/markup-compatibility/2006">
              <mc:Choice xmlns:v="urn:schemas-microsoft-com:vml" Requires="v">
                <p:oleObj spid="_x0000_s25749" name="Equation" r:id="rId5" imgW="1892300" imgH="381000" progId="Equation.DSMT4">
                  <p:embed/>
                </p:oleObj>
              </mc:Choice>
              <mc:Fallback>
                <p:oleObj name="Equation" r:id="rId5" imgW="1892300" imgH="381000"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08570" y="4706620"/>
                        <a:ext cx="3370310" cy="676316"/>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038961492"/>
              </p:ext>
            </p:extLst>
          </p:nvPr>
        </p:nvGraphicFramePr>
        <p:xfrm>
          <a:off x="2908570" y="5546884"/>
          <a:ext cx="3329380" cy="700355"/>
        </p:xfrm>
        <a:graphic>
          <a:graphicData uri="http://schemas.openxmlformats.org/presentationml/2006/ole">
            <mc:AlternateContent xmlns:mc="http://schemas.openxmlformats.org/markup-compatibility/2006">
              <mc:Choice xmlns:v="urn:schemas-microsoft-com:vml" Requires="v">
                <p:oleObj spid="_x0000_s25750" name="Equation" r:id="rId7" imgW="1968500" imgH="406400" progId="Equation.DSMT4">
                  <p:embed/>
                </p:oleObj>
              </mc:Choice>
              <mc:Fallback>
                <p:oleObj name="Equation" r:id="rId7" imgW="1968500" imgH="4064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8570" y="5546884"/>
                        <a:ext cx="3329380" cy="700355"/>
                      </a:xfrm>
                      <a:prstGeom prst="rect">
                        <a:avLst/>
                      </a:prstGeom>
                      <a:noFill/>
                    </p:spPr>
                  </p:pic>
                </p:oleObj>
              </mc:Fallback>
            </mc:AlternateContent>
          </a:graphicData>
        </a:graphic>
      </p:graphicFrame>
      <p:sp>
        <p:nvSpPr>
          <p:cNvPr id="8" name="文本框 7"/>
          <p:cNvSpPr txBox="1"/>
          <p:nvPr/>
        </p:nvSpPr>
        <p:spPr>
          <a:xfrm>
            <a:off x="4176185" y="1624589"/>
            <a:ext cx="323244" cy="400110"/>
          </a:xfrm>
          <a:prstGeom prst="rect">
            <a:avLst/>
          </a:prstGeom>
          <a:noFill/>
        </p:spPr>
        <p:txBody>
          <a:bodyPr wrap="square" rtlCol="0">
            <a:spAutoFit/>
          </a:bodyPr>
          <a:lstStyle/>
          <a:p>
            <a:r>
              <a:rPr lang="en-US" altLang="zh-CN" dirty="0">
                <a:solidFill>
                  <a:srgbClr val="FF0000"/>
                </a:solidFill>
              </a:rPr>
              <a:t>x</a:t>
            </a:r>
            <a:endParaRPr lang="zh-CN" altLang="en-US" dirty="0">
              <a:solidFill>
                <a:srgbClr val="FF0000"/>
              </a:solidFill>
            </a:endParaRPr>
          </a:p>
        </p:txBody>
      </p:sp>
      <p:sp>
        <p:nvSpPr>
          <p:cNvPr id="12" name="文本框 11"/>
          <p:cNvSpPr txBox="1"/>
          <p:nvPr/>
        </p:nvSpPr>
        <p:spPr>
          <a:xfrm>
            <a:off x="6153544" y="1634814"/>
            <a:ext cx="552056" cy="400110"/>
          </a:xfrm>
          <a:prstGeom prst="rect">
            <a:avLst/>
          </a:prstGeom>
          <a:noFill/>
        </p:spPr>
        <p:txBody>
          <a:bodyPr wrap="square" rtlCol="0">
            <a:spAutoFit/>
          </a:bodyPr>
          <a:lstStyle/>
          <a:p>
            <a:r>
              <a:rPr lang="en-US" altLang="zh-CN" dirty="0" smtClean="0">
                <a:solidFill>
                  <a:srgbClr val="FF0000"/>
                </a:solidFill>
              </a:rPr>
              <a:t>x/s</a:t>
            </a:r>
            <a:endParaRPr lang="zh-CN" altLang="en-US" dirty="0">
              <a:solidFill>
                <a:srgbClr val="FF0000"/>
              </a:solidFill>
            </a:endParaRPr>
          </a:p>
        </p:txBody>
      </p:sp>
      <p:sp>
        <p:nvSpPr>
          <p:cNvPr id="13" name="文本框 12"/>
          <p:cNvSpPr txBox="1"/>
          <p:nvPr/>
        </p:nvSpPr>
        <p:spPr>
          <a:xfrm>
            <a:off x="8163773" y="1720708"/>
            <a:ext cx="769770" cy="400110"/>
          </a:xfrm>
          <a:prstGeom prst="rect">
            <a:avLst/>
          </a:prstGeom>
          <a:noFill/>
        </p:spPr>
        <p:txBody>
          <a:bodyPr wrap="square" rtlCol="0">
            <a:spAutoFit/>
          </a:bodyPr>
          <a:lstStyle/>
          <a:p>
            <a:r>
              <a:rPr lang="en-US" altLang="zh-CN" dirty="0" smtClean="0">
                <a:solidFill>
                  <a:srgbClr val="FF0000"/>
                </a:solidFill>
              </a:rPr>
              <a:t>x/s</a:t>
            </a:r>
            <a:r>
              <a:rPr lang="en-US" altLang="zh-CN" baseline="30000" dirty="0" smtClean="0">
                <a:solidFill>
                  <a:srgbClr val="FF0000"/>
                </a:solidFill>
              </a:rPr>
              <a:t>2</a:t>
            </a:r>
            <a:endParaRPr lang="zh-CN" altLang="en-US" baseline="30000" dirty="0">
              <a:solidFill>
                <a:srgbClr val="FF0000"/>
              </a:solidFill>
            </a:endParaRPr>
          </a:p>
        </p:txBody>
      </p:sp>
    </p:spTree>
    <p:extLst>
      <p:ext uri="{BB962C8B-B14F-4D97-AF65-F5344CB8AC3E}">
        <p14:creationId xmlns:p14="http://schemas.microsoft.com/office/powerpoint/2010/main" val="1066854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5" name="文本框 4"/>
          <p:cNvSpPr txBox="1"/>
          <p:nvPr/>
        </p:nvSpPr>
        <p:spPr>
          <a:xfrm>
            <a:off x="442686" y="447973"/>
            <a:ext cx="11125200" cy="872739"/>
          </a:xfrm>
          <a:prstGeom prst="rect">
            <a:avLst/>
          </a:prstGeom>
          <a:noFill/>
        </p:spPr>
        <p:txBody>
          <a:bodyPr wrap="square" rtlCol="0">
            <a:spAutoFit/>
          </a:bodyPr>
          <a:lstStyle/>
          <a:p>
            <a:pPr>
              <a:lnSpc>
                <a:spcPct val="150000"/>
              </a:lnSpc>
            </a:pPr>
            <a:r>
              <a:rPr lang="zh-CN" altLang="en-US" sz="1800" dirty="0">
                <a:solidFill>
                  <a:srgbClr val="FF0000"/>
                </a:solidFill>
              </a:rPr>
              <a:t>开关电容滤波器</a:t>
            </a:r>
            <a:endParaRPr lang="en-US" altLang="zh-CN" sz="1800" dirty="0">
              <a:solidFill>
                <a:srgbClr val="FF0000"/>
              </a:solidFill>
            </a:endParaRPr>
          </a:p>
          <a:p>
            <a:pPr marL="0" lvl="1" indent="457200" eaLnBrk="0" hangingPunct="0">
              <a:lnSpc>
                <a:spcPct val="150000"/>
              </a:lnSpc>
            </a:pPr>
            <a:r>
              <a:rPr lang="zh-CN" altLang="zh-CN" sz="1800" dirty="0"/>
              <a:t>在集成电路设计中用开关电容来等效电阻</a:t>
            </a:r>
            <a:r>
              <a:rPr lang="zh-CN" altLang="en-US" sz="1800" dirty="0"/>
              <a:t>，可以构成开关电容滤波器</a:t>
            </a:r>
          </a:p>
        </p:txBody>
      </p:sp>
      <p:graphicFrame>
        <p:nvGraphicFramePr>
          <p:cNvPr id="7" name="对象 6"/>
          <p:cNvGraphicFramePr>
            <a:graphicFrameLocks noChangeAspect="1"/>
          </p:cNvGraphicFramePr>
          <p:nvPr>
            <p:extLst>
              <p:ext uri="{D42A27DB-BD31-4B8C-83A1-F6EECF244321}">
                <p14:modId xmlns:p14="http://schemas.microsoft.com/office/powerpoint/2010/main" val="4154801126"/>
              </p:ext>
            </p:extLst>
          </p:nvPr>
        </p:nvGraphicFramePr>
        <p:xfrm>
          <a:off x="2053274" y="1462154"/>
          <a:ext cx="7978034" cy="1726667"/>
        </p:xfrm>
        <a:graphic>
          <a:graphicData uri="http://schemas.openxmlformats.org/presentationml/2006/ole">
            <mc:AlternateContent xmlns:mc="http://schemas.openxmlformats.org/markup-compatibility/2006">
              <mc:Choice xmlns:v="urn:schemas-microsoft-com:vml" Requires="v">
                <p:oleObj spid="_x0000_s26878" name="Visio" r:id="rId4" imgW="4996645" imgH="1080821" progId="Visio.Drawing.11">
                  <p:embed/>
                </p:oleObj>
              </mc:Choice>
              <mc:Fallback>
                <p:oleObj name="Visio" r:id="rId4" imgW="4996645" imgH="1080821"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3274" y="1462154"/>
                        <a:ext cx="7978034" cy="1726667"/>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372472468"/>
              </p:ext>
            </p:extLst>
          </p:nvPr>
        </p:nvGraphicFramePr>
        <p:xfrm>
          <a:off x="1942007" y="4503478"/>
          <a:ext cx="1028139" cy="361392"/>
        </p:xfrm>
        <a:graphic>
          <a:graphicData uri="http://schemas.openxmlformats.org/presentationml/2006/ole">
            <mc:AlternateContent xmlns:mc="http://schemas.openxmlformats.org/markup-compatibility/2006">
              <mc:Choice xmlns:v="urn:schemas-microsoft-com:vml" Requires="v">
                <p:oleObj spid="_x0000_s26879" name="Equation" r:id="rId6" imgW="558558" imgH="203112" progId="Equation.DSMT4">
                  <p:embed/>
                </p:oleObj>
              </mc:Choice>
              <mc:Fallback>
                <p:oleObj name="Equation" r:id="rId6" imgW="558558" imgH="203112"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42007" y="4503478"/>
                        <a:ext cx="1028139" cy="361392"/>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839388136"/>
              </p:ext>
            </p:extLst>
          </p:nvPr>
        </p:nvGraphicFramePr>
        <p:xfrm>
          <a:off x="2669910" y="5409251"/>
          <a:ext cx="1539068" cy="735584"/>
        </p:xfrm>
        <a:graphic>
          <a:graphicData uri="http://schemas.openxmlformats.org/presentationml/2006/ole">
            <mc:AlternateContent xmlns:mc="http://schemas.openxmlformats.org/markup-compatibility/2006">
              <mc:Choice xmlns:v="urn:schemas-microsoft-com:vml" Requires="v">
                <p:oleObj spid="_x0000_s26880" name="Equation" r:id="rId8" imgW="837836" imgH="406224" progId="Equation.DSMT4">
                  <p:embed/>
                </p:oleObj>
              </mc:Choice>
              <mc:Fallback>
                <p:oleObj name="Equation" r:id="rId8" imgW="837836" imgH="406224"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9910" y="5409251"/>
                        <a:ext cx="1539068" cy="735584"/>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327425812"/>
              </p:ext>
            </p:extLst>
          </p:nvPr>
        </p:nvGraphicFramePr>
        <p:xfrm>
          <a:off x="8033652" y="5392604"/>
          <a:ext cx="1691532" cy="768878"/>
        </p:xfrm>
        <a:graphic>
          <a:graphicData uri="http://schemas.openxmlformats.org/presentationml/2006/ole">
            <mc:AlternateContent xmlns:mc="http://schemas.openxmlformats.org/markup-compatibility/2006">
              <mc:Choice xmlns:v="urn:schemas-microsoft-com:vml" Requires="v">
                <p:oleObj spid="_x0000_s26881" name="Equation" r:id="rId10" imgW="914003" imgH="406224" progId="Equation.DSMT4">
                  <p:embed/>
                </p:oleObj>
              </mc:Choice>
              <mc:Fallback>
                <p:oleObj name="Equation" r:id="rId10" imgW="914003" imgH="406224" progId="Equation.DSMT4">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33652" y="5392604"/>
                        <a:ext cx="1691532" cy="768878"/>
                      </a:xfrm>
                      <a:prstGeom prst="rect">
                        <a:avLst/>
                      </a:prstGeom>
                      <a:noFill/>
                    </p:spPr>
                  </p:pic>
                </p:oleObj>
              </mc:Fallback>
            </mc:AlternateContent>
          </a:graphicData>
        </a:graphic>
      </p:graphicFrame>
      <p:sp>
        <p:nvSpPr>
          <p:cNvPr id="12" name="Rectangle 7"/>
          <p:cNvSpPr>
            <a:spLocks noChangeArrowheads="1"/>
          </p:cNvSpPr>
          <p:nvPr/>
        </p:nvSpPr>
        <p:spPr bwMode="auto">
          <a:xfrm>
            <a:off x="439777" y="3583479"/>
            <a:ext cx="11205028"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68000">
              <a:lnSpc>
                <a:spcPct val="150000"/>
              </a:lnSpc>
            </a:pPr>
            <a:r>
              <a:rPr lang="zh-CN" altLang="en-US" sz="1800" dirty="0">
                <a:latin typeface="Arial" charset="0"/>
              </a:rPr>
              <a:t>开关</a:t>
            </a:r>
            <a:r>
              <a:rPr lang="en-US" altLang="zh-CN" sz="1800" dirty="0" smtClean="0">
                <a:latin typeface="Arial" charset="0"/>
              </a:rPr>
              <a:t>S1</a:t>
            </a:r>
            <a:r>
              <a:rPr lang="zh-CN" altLang="en-US" sz="1800" dirty="0" smtClean="0">
                <a:latin typeface="Arial" charset="0"/>
              </a:rPr>
              <a:t>与</a:t>
            </a:r>
            <a:r>
              <a:rPr lang="en-US" altLang="zh-CN" sz="1800" dirty="0" smtClean="0">
                <a:latin typeface="Arial" charset="0"/>
              </a:rPr>
              <a:t>S2</a:t>
            </a:r>
            <a:r>
              <a:rPr lang="zh-CN" altLang="en-US" sz="1800" dirty="0" smtClean="0">
                <a:latin typeface="Arial" charset="0"/>
              </a:rPr>
              <a:t>交替接通。当</a:t>
            </a:r>
            <a:r>
              <a:rPr lang="en-US" altLang="zh-CN" sz="1800" dirty="0" smtClean="0">
                <a:latin typeface="Arial" charset="0"/>
              </a:rPr>
              <a:t>S1</a:t>
            </a:r>
            <a:r>
              <a:rPr lang="zh-CN" altLang="en-US" sz="1800" dirty="0">
                <a:latin typeface="Arial" charset="0"/>
              </a:rPr>
              <a:t>接通时，输入信号</a:t>
            </a:r>
            <a:r>
              <a:rPr lang="en-US" altLang="zh-CN" sz="1800" dirty="0">
                <a:latin typeface="Arial" charset="0"/>
              </a:rPr>
              <a:t>v1</a:t>
            </a:r>
            <a:r>
              <a:rPr lang="zh-CN" altLang="en-US" sz="1800" dirty="0">
                <a:latin typeface="Arial" charset="0"/>
              </a:rPr>
              <a:t>对电容</a:t>
            </a:r>
            <a:r>
              <a:rPr lang="en-US" altLang="zh-CN" sz="1800" dirty="0">
                <a:latin typeface="Arial" charset="0"/>
              </a:rPr>
              <a:t>C1</a:t>
            </a:r>
            <a:r>
              <a:rPr lang="zh-CN" altLang="en-US" sz="1800" dirty="0">
                <a:latin typeface="Arial" charset="0"/>
              </a:rPr>
              <a:t>充电；</a:t>
            </a:r>
            <a:r>
              <a:rPr lang="zh-CN" altLang="en-US" sz="1800" dirty="0" smtClean="0">
                <a:latin typeface="Arial" charset="0"/>
              </a:rPr>
              <a:t>当</a:t>
            </a:r>
            <a:r>
              <a:rPr lang="en-US" altLang="zh-CN" sz="1800" dirty="0" smtClean="0">
                <a:latin typeface="Arial" charset="0"/>
              </a:rPr>
              <a:t>S2</a:t>
            </a:r>
            <a:r>
              <a:rPr lang="zh-CN" altLang="en-US" sz="1800" dirty="0">
                <a:latin typeface="Arial" charset="0"/>
              </a:rPr>
              <a:t>接通时，电容对虚地放电。假设电容足够小，则充电电荷</a:t>
            </a:r>
            <a:r>
              <a:rPr lang="en-US" altLang="zh-CN" sz="1800" dirty="0">
                <a:latin typeface="Arial" charset="0"/>
              </a:rPr>
              <a:t>Q=C1*v1</a:t>
            </a:r>
            <a:r>
              <a:rPr lang="zh-CN" altLang="en-US" sz="1800" dirty="0">
                <a:latin typeface="Arial" charset="0"/>
              </a:rPr>
              <a:t>，而放电后电容上的电荷为</a:t>
            </a:r>
            <a:r>
              <a:rPr lang="en-US" altLang="zh-CN" sz="1800" dirty="0">
                <a:latin typeface="Arial" charset="0"/>
              </a:rPr>
              <a:t>0</a:t>
            </a:r>
            <a:r>
              <a:rPr lang="zh-CN" altLang="en-US" sz="1800" dirty="0">
                <a:latin typeface="Arial" charset="0"/>
              </a:rPr>
              <a:t>。所以在一个时钟周期</a:t>
            </a:r>
            <a:r>
              <a:rPr lang="en-US" altLang="zh-CN" sz="1800" dirty="0">
                <a:latin typeface="Arial" charset="0"/>
              </a:rPr>
              <a:t>T</a:t>
            </a:r>
            <a:r>
              <a:rPr lang="en-US" altLang="zh-CN" sz="1800" baseline="-25000" dirty="0">
                <a:latin typeface="Arial" charset="0"/>
              </a:rPr>
              <a:t>CLK</a:t>
            </a:r>
            <a:r>
              <a:rPr lang="zh-CN" altLang="en-US" sz="1800" dirty="0">
                <a:latin typeface="Arial" charset="0"/>
              </a:rPr>
              <a:t>内，输入端传输过去的总电荷为</a:t>
            </a:r>
            <a:endParaRPr lang="en-US" altLang="zh-CN" sz="1800" dirty="0">
              <a:latin typeface="Arial" charset="0"/>
            </a:endParaRPr>
          </a:p>
          <a:p>
            <a:pPr indent="468000">
              <a:lnSpc>
                <a:spcPct val="200000"/>
              </a:lnSpc>
            </a:pPr>
            <a:r>
              <a:rPr lang="zh-CN" altLang="zh-CN" sz="1800" dirty="0" smtClean="0">
                <a:latin typeface="Arial" charset="0"/>
              </a:rPr>
              <a:t>如果</a:t>
            </a:r>
            <a:r>
              <a:rPr lang="zh-CN" altLang="zh-CN" sz="1800" dirty="0">
                <a:latin typeface="Arial" charset="0"/>
              </a:rPr>
              <a:t>时钟频率足够高，这个电荷传递可等效为电流</a:t>
            </a:r>
            <a:r>
              <a:rPr lang="en-US" altLang="zh-CN" sz="1800" dirty="0">
                <a:latin typeface="Arial" charset="0"/>
              </a:rPr>
              <a:t>                                           </a:t>
            </a:r>
            <a:r>
              <a:rPr lang="en-US" altLang="zh-CN" sz="1800" dirty="0" smtClean="0">
                <a:latin typeface="Arial" charset="0"/>
              </a:rPr>
              <a:t>,  </a:t>
            </a:r>
            <a:r>
              <a:rPr lang="zh-CN" altLang="zh-CN" sz="1800" dirty="0" smtClean="0"/>
              <a:t>整个</a:t>
            </a:r>
            <a:r>
              <a:rPr lang="zh-CN" altLang="zh-CN" sz="1800" dirty="0"/>
              <a:t>开关电容单元可以等效为一个电阻</a:t>
            </a:r>
            <a:r>
              <a:rPr lang="en-US" altLang="zh-CN" sz="1800" i="1" dirty="0"/>
              <a:t>R</a:t>
            </a:r>
            <a:r>
              <a:rPr lang="en-US" altLang="zh-CN" sz="1800" baseline="-25000" dirty="0"/>
              <a:t>1</a:t>
            </a:r>
            <a:r>
              <a:rPr lang="zh-CN" altLang="zh-CN" sz="1800" dirty="0"/>
              <a:t>，</a:t>
            </a:r>
            <a:r>
              <a:rPr lang="zh-CN" altLang="zh-CN" sz="1800" dirty="0" smtClean="0"/>
              <a:t>有</a:t>
            </a:r>
            <a:r>
              <a:rPr lang="en-US" altLang="zh-CN" sz="1800" dirty="0" smtClean="0"/>
              <a:t>                          </a:t>
            </a:r>
            <a:r>
              <a:rPr lang="zh-CN" altLang="en-US" sz="1800" dirty="0" smtClean="0"/>
              <a:t>，</a:t>
            </a:r>
            <a:r>
              <a:rPr lang="zh-CN" altLang="en-US" sz="1800" dirty="0" smtClean="0">
                <a:latin typeface="Arial" charset="0"/>
              </a:rPr>
              <a:t>整个</a:t>
            </a:r>
            <a:r>
              <a:rPr lang="zh-CN" altLang="en-US" sz="1800" dirty="0">
                <a:latin typeface="Arial" charset="0"/>
              </a:rPr>
              <a:t>开关电容积分单元的</a:t>
            </a:r>
            <a:r>
              <a:rPr lang="zh-CN" altLang="en-US" sz="1800" dirty="0" smtClean="0">
                <a:latin typeface="Arial" charset="0"/>
              </a:rPr>
              <a:t>时间常数</a:t>
            </a:r>
            <a:endParaRPr lang="zh-CN" altLang="en-US" sz="1800" dirty="0">
              <a:latin typeface="Arial" charset="0"/>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705913698"/>
              </p:ext>
            </p:extLst>
          </p:nvPr>
        </p:nvGraphicFramePr>
        <p:xfrm>
          <a:off x="6115367" y="5046495"/>
          <a:ext cx="2708578" cy="362756"/>
        </p:xfrm>
        <a:graphic>
          <a:graphicData uri="http://schemas.openxmlformats.org/presentationml/2006/ole">
            <mc:AlternateContent xmlns:mc="http://schemas.openxmlformats.org/markup-compatibility/2006">
              <mc:Choice xmlns:v="urn:schemas-microsoft-com:vml" Requires="v">
                <p:oleObj spid="_x0000_s26882" name="Equation" r:id="rId12" imgW="1396394" imgH="203112" progId="Equation.DSMT4">
                  <p:embed/>
                </p:oleObj>
              </mc:Choice>
              <mc:Fallback>
                <p:oleObj name="Equation" r:id="rId12" imgW="1396394" imgH="203112"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15367" y="5046495"/>
                        <a:ext cx="2708578" cy="362756"/>
                      </a:xfrm>
                      <a:prstGeom prst="rect">
                        <a:avLst/>
                      </a:prstGeom>
                      <a:noFill/>
                    </p:spPr>
                  </p:pic>
                </p:oleObj>
              </mc:Fallback>
            </mc:AlternateContent>
          </a:graphicData>
        </a:graphic>
      </p:graphicFrame>
    </p:spTree>
    <p:extLst>
      <p:ext uri="{BB962C8B-B14F-4D97-AF65-F5344CB8AC3E}">
        <p14:creationId xmlns:p14="http://schemas.microsoft.com/office/powerpoint/2010/main" val="22628926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508521421"/>
              </p:ext>
            </p:extLst>
          </p:nvPr>
        </p:nvGraphicFramePr>
        <p:xfrm>
          <a:off x="3178856" y="912681"/>
          <a:ext cx="5492750" cy="2678113"/>
        </p:xfrm>
        <a:graphic>
          <a:graphicData uri="http://schemas.openxmlformats.org/presentationml/2006/ole">
            <mc:AlternateContent xmlns:mc="http://schemas.openxmlformats.org/markup-compatibility/2006">
              <mc:Choice xmlns:v="urn:schemas-microsoft-com:vml" Requires="v">
                <p:oleObj spid="_x0000_s27744" name="Visio" r:id="rId4" imgW="3784411" imgH="1872895" progId="Visio.Drawing.11">
                  <p:embed/>
                </p:oleObj>
              </mc:Choice>
              <mc:Fallback>
                <p:oleObj name="Visio" r:id="rId4" imgW="3784411" imgH="1872895" progId="Visio.Drawing.11">
                  <p:embed/>
                  <p:pic>
                    <p:nvPicPr>
                      <p:cNvPr id="0" name="Object 1"/>
                      <p:cNvPicPr>
                        <a:picLocks noChangeAspect="1" noChangeArrowheads="1"/>
                      </p:cNvPicPr>
                      <p:nvPr/>
                    </p:nvPicPr>
                    <p:blipFill>
                      <a:blip r:embed="rId5"/>
                      <a:srcRect/>
                      <a:stretch>
                        <a:fillRect/>
                      </a:stretch>
                    </p:blipFill>
                    <p:spPr bwMode="auto">
                      <a:xfrm>
                        <a:off x="3178856" y="912681"/>
                        <a:ext cx="5492750" cy="2678113"/>
                      </a:xfrm>
                      <a:prstGeom prst="rect">
                        <a:avLst/>
                      </a:prstGeom>
                      <a:noFill/>
                    </p:spPr>
                  </p:pic>
                </p:oleObj>
              </mc:Fallback>
            </mc:AlternateContent>
          </a:graphicData>
        </a:graphic>
      </p:graphicFrame>
      <p:sp>
        <p:nvSpPr>
          <p:cNvPr id="7" name="文本框 6"/>
          <p:cNvSpPr txBox="1"/>
          <p:nvPr/>
        </p:nvSpPr>
        <p:spPr>
          <a:xfrm>
            <a:off x="631977" y="531704"/>
            <a:ext cx="6007946" cy="369332"/>
          </a:xfrm>
          <a:prstGeom prst="rect">
            <a:avLst/>
          </a:prstGeom>
          <a:noFill/>
        </p:spPr>
        <p:txBody>
          <a:bodyPr wrap="square" rtlCol="0">
            <a:spAutoFit/>
          </a:bodyPr>
          <a:lstStyle/>
          <a:p>
            <a:r>
              <a:rPr lang="zh-CN" altLang="en-US" sz="1800" dirty="0"/>
              <a:t>集成开关电容滤波器</a:t>
            </a:r>
            <a:r>
              <a:rPr lang="en-US" altLang="zh-CN" sz="1800" dirty="0"/>
              <a:t>MF10</a:t>
            </a:r>
            <a:endParaRPr lang="zh-CN" altLang="en-US" sz="1800" dirty="0"/>
          </a:p>
        </p:txBody>
      </p:sp>
      <p:sp>
        <p:nvSpPr>
          <p:cNvPr id="8" name="矩形 7"/>
          <p:cNvSpPr/>
          <p:nvPr/>
        </p:nvSpPr>
        <p:spPr>
          <a:xfrm>
            <a:off x="631977" y="3568409"/>
            <a:ext cx="8466561" cy="369332"/>
          </a:xfrm>
          <a:prstGeom prst="rect">
            <a:avLst/>
          </a:prstGeom>
        </p:spPr>
        <p:txBody>
          <a:bodyPr wrap="square">
            <a:spAutoFit/>
          </a:bodyPr>
          <a:lstStyle/>
          <a:p>
            <a:r>
              <a:rPr lang="zh-CN" altLang="zh-CN" sz="1800" dirty="0"/>
              <a:t>将</a:t>
            </a:r>
            <a:r>
              <a:rPr lang="en-US" altLang="zh-CN" sz="1800" dirty="0"/>
              <a:t>MF10</a:t>
            </a:r>
            <a:r>
              <a:rPr lang="zh-CN" altLang="zh-CN" sz="1800" dirty="0"/>
              <a:t>的各外部引脚通过合适的电阻连接起来，就可以构成各种类型的滤波器。</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3624820404"/>
              </p:ext>
            </p:extLst>
          </p:nvPr>
        </p:nvGraphicFramePr>
        <p:xfrm>
          <a:off x="4150301" y="4018038"/>
          <a:ext cx="5820698" cy="2230361"/>
        </p:xfrm>
        <a:graphic>
          <a:graphicData uri="http://schemas.openxmlformats.org/presentationml/2006/ole">
            <mc:AlternateContent xmlns:mc="http://schemas.openxmlformats.org/markup-compatibility/2006">
              <mc:Choice xmlns:v="urn:schemas-microsoft-com:vml" Requires="v">
                <p:oleObj spid="_x0000_s27745" name="Visio" r:id="rId6" imgW="4070053" imgH="1561629" progId="Visio.Drawing.11">
                  <p:embed/>
                </p:oleObj>
              </mc:Choice>
              <mc:Fallback>
                <p:oleObj name="Visio" r:id="rId6" imgW="4070053" imgH="1561629" progId="Visio.Drawing.11">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0301" y="4018038"/>
                        <a:ext cx="5820698" cy="2230361"/>
                      </a:xfrm>
                      <a:prstGeom prst="rect">
                        <a:avLst/>
                      </a:prstGeom>
                      <a:noFill/>
                    </p:spPr>
                  </p:pic>
                </p:oleObj>
              </mc:Fallback>
            </mc:AlternateContent>
          </a:graphicData>
        </a:graphic>
      </p:graphicFrame>
      <p:sp>
        <p:nvSpPr>
          <p:cNvPr id="11" name="矩形 10"/>
          <p:cNvSpPr/>
          <p:nvPr/>
        </p:nvSpPr>
        <p:spPr>
          <a:xfrm>
            <a:off x="1636714" y="4461841"/>
            <a:ext cx="2397761" cy="923330"/>
          </a:xfrm>
          <a:prstGeom prst="rect">
            <a:avLst/>
          </a:prstGeom>
        </p:spPr>
        <p:txBody>
          <a:bodyPr wrap="square">
            <a:spAutoFit/>
          </a:bodyPr>
          <a:lstStyle/>
          <a:p>
            <a:pPr>
              <a:lnSpc>
                <a:spcPct val="150000"/>
              </a:lnSpc>
            </a:pPr>
            <a:r>
              <a:rPr lang="zh-CN" altLang="en-US" sz="1800" dirty="0"/>
              <a:t>右图是用</a:t>
            </a:r>
            <a:r>
              <a:rPr lang="en-US" altLang="zh-CN" sz="1800" dirty="0"/>
              <a:t>MF10</a:t>
            </a:r>
            <a:r>
              <a:rPr lang="zh-CN" altLang="zh-CN" sz="1800" dirty="0"/>
              <a:t>构成</a:t>
            </a:r>
            <a:r>
              <a:rPr lang="zh-CN" altLang="en-US" sz="1800" dirty="0"/>
              <a:t>的</a:t>
            </a:r>
            <a:r>
              <a:rPr lang="en-US" altLang="zh-CN" sz="1800" dirty="0"/>
              <a:t>2</a:t>
            </a:r>
            <a:r>
              <a:rPr lang="zh-CN" altLang="en-US" sz="1800" dirty="0"/>
              <a:t>阶低通与带通</a:t>
            </a:r>
            <a:r>
              <a:rPr lang="zh-CN" altLang="zh-CN" sz="1800" dirty="0"/>
              <a:t>滤波器</a:t>
            </a:r>
            <a:endParaRPr lang="zh-CN" altLang="en-US" sz="1800" dirty="0"/>
          </a:p>
        </p:txBody>
      </p:sp>
    </p:spTree>
    <p:extLst>
      <p:ext uri="{BB962C8B-B14F-4D97-AF65-F5344CB8AC3E}">
        <p14:creationId xmlns:p14="http://schemas.microsoft.com/office/powerpoint/2010/main" val="128252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矩形 4"/>
          <p:cNvSpPr/>
          <p:nvPr/>
        </p:nvSpPr>
        <p:spPr>
          <a:xfrm>
            <a:off x="449943" y="452853"/>
            <a:ext cx="11371642" cy="4662815"/>
          </a:xfrm>
          <a:prstGeom prst="rect">
            <a:avLst/>
          </a:prstGeom>
        </p:spPr>
        <p:txBody>
          <a:bodyPr wrap="square">
            <a:spAutoFit/>
          </a:bodyPr>
          <a:lstStyle/>
          <a:p>
            <a:pPr>
              <a:lnSpc>
                <a:spcPct val="150000"/>
              </a:lnSpc>
            </a:pPr>
            <a:r>
              <a:rPr lang="zh-CN" altLang="en-US" sz="1800" dirty="0">
                <a:solidFill>
                  <a:srgbClr val="FF0000"/>
                </a:solidFill>
                <a:latin typeface="+mj-ea"/>
              </a:rPr>
              <a:t>本题目中的有源滤波器分析</a:t>
            </a:r>
            <a:endParaRPr lang="en-US" altLang="zh-CN" sz="1800" dirty="0">
              <a:solidFill>
                <a:srgbClr val="FF0000"/>
              </a:solidFill>
              <a:latin typeface="+mj-ea"/>
            </a:endParaRPr>
          </a:p>
          <a:p>
            <a:pPr indent="457200">
              <a:lnSpc>
                <a:spcPct val="150000"/>
              </a:lnSpc>
            </a:pPr>
            <a:r>
              <a:rPr lang="zh-CN" altLang="zh-CN" sz="1800" dirty="0" smtClean="0"/>
              <a:t>题目</a:t>
            </a:r>
            <a:r>
              <a:rPr lang="zh-CN" altLang="zh-CN" sz="1800" dirty="0"/>
              <a:t>的要求</a:t>
            </a:r>
            <a:r>
              <a:rPr lang="zh-CN" altLang="en-US" sz="1800" dirty="0"/>
              <a:t>：</a:t>
            </a:r>
            <a:endParaRPr lang="en-US" altLang="zh-CN" sz="1800" dirty="0"/>
          </a:p>
          <a:p>
            <a:pPr indent="457200">
              <a:lnSpc>
                <a:spcPct val="150000"/>
              </a:lnSpc>
            </a:pPr>
            <a:r>
              <a:rPr lang="zh-CN" altLang="en-US" sz="1800" dirty="0"/>
              <a:t>两个滤波器，</a:t>
            </a:r>
            <a:r>
              <a:rPr lang="zh-CN" altLang="zh-CN" sz="1800" dirty="0"/>
              <a:t>高通滤波器与低通滤波器</a:t>
            </a:r>
            <a:r>
              <a:rPr lang="zh-CN" altLang="en-US" sz="1800" dirty="0"/>
              <a:t>，其</a:t>
            </a:r>
            <a:r>
              <a:rPr lang="en-US" altLang="zh-CN" sz="1800" dirty="0"/>
              <a:t>-3dB</a:t>
            </a:r>
            <a:r>
              <a:rPr lang="zh-CN" altLang="zh-CN" sz="1800" dirty="0"/>
              <a:t>截止频率（分频点）相同，都是</a:t>
            </a:r>
            <a:r>
              <a:rPr lang="en-US" altLang="zh-CN" sz="1800" dirty="0"/>
              <a:t>2kHz</a:t>
            </a:r>
            <a:r>
              <a:rPr lang="zh-CN" altLang="zh-CN" sz="1800" dirty="0"/>
              <a:t>；阻带衰减率都是</a:t>
            </a:r>
            <a:r>
              <a:rPr lang="en-US" altLang="zh-CN" sz="1800" dirty="0"/>
              <a:t>24dB/</a:t>
            </a:r>
            <a:r>
              <a:rPr lang="zh-CN" altLang="zh-CN" sz="1800" dirty="0"/>
              <a:t>倍频程；高通滤波器通带内</a:t>
            </a:r>
            <a:r>
              <a:rPr lang="en-US" altLang="zh-CN" sz="1800" dirty="0"/>
              <a:t>10kHz</a:t>
            </a:r>
            <a:r>
              <a:rPr lang="zh-CN" altLang="zh-CN" sz="1800" dirty="0"/>
              <a:t>～</a:t>
            </a:r>
            <a:r>
              <a:rPr lang="en-US" altLang="zh-CN" sz="1800" dirty="0"/>
              <a:t>20kHz</a:t>
            </a:r>
            <a:r>
              <a:rPr lang="zh-CN" altLang="zh-CN" sz="1800" dirty="0"/>
              <a:t>范围内的波动</a:t>
            </a:r>
            <a:r>
              <a:rPr lang="en-US" altLang="zh-CN" sz="1800" dirty="0">
                <a:latin typeface="Arial" panose="020B0604020202020204" pitchFamily="34" charset="0"/>
                <a:cs typeface="Arial" panose="020B0604020202020204" pitchFamily="34" charset="0"/>
                <a:sym typeface="Symbol Tiger"/>
              </a:rPr>
              <a:t>≤</a:t>
            </a:r>
            <a:r>
              <a:rPr lang="en-US" altLang="zh-CN" sz="1800" dirty="0"/>
              <a:t>3dB</a:t>
            </a:r>
            <a:r>
              <a:rPr lang="zh-CN" altLang="zh-CN" sz="1800" dirty="0"/>
              <a:t>，低通滤波器通带内</a:t>
            </a:r>
            <a:r>
              <a:rPr lang="en-US" altLang="zh-CN" sz="1800" dirty="0"/>
              <a:t>100Hz</a:t>
            </a:r>
            <a:r>
              <a:rPr lang="zh-CN" altLang="zh-CN" sz="1800" dirty="0"/>
              <a:t>～</a:t>
            </a:r>
            <a:r>
              <a:rPr lang="en-US" altLang="zh-CN" sz="1800" dirty="0"/>
              <a:t>1kHz</a:t>
            </a:r>
            <a:r>
              <a:rPr lang="zh-CN" altLang="zh-CN" sz="1800" dirty="0"/>
              <a:t>范围内的波动</a:t>
            </a:r>
            <a:r>
              <a:rPr lang="en-US" altLang="zh-CN" sz="1800" dirty="0">
                <a:latin typeface="Arial" panose="020B0604020202020204" pitchFamily="34" charset="0"/>
                <a:cs typeface="Arial" panose="020B0604020202020204" pitchFamily="34" charset="0"/>
                <a:sym typeface="Symbol Tiger"/>
              </a:rPr>
              <a:t>≤ </a:t>
            </a:r>
            <a:r>
              <a:rPr lang="en-US" altLang="zh-CN" sz="1800" dirty="0"/>
              <a:t>3dB</a:t>
            </a:r>
            <a:r>
              <a:rPr lang="zh-CN" altLang="zh-CN" sz="1800" dirty="0"/>
              <a:t>；两个滤波器在分频点上的输出相位差</a:t>
            </a:r>
            <a:r>
              <a:rPr lang="en-US" altLang="zh-CN" sz="1800" dirty="0">
                <a:latin typeface="Arial" panose="020B0604020202020204" pitchFamily="34" charset="0"/>
                <a:cs typeface="Arial" panose="020B0604020202020204" pitchFamily="34" charset="0"/>
                <a:sym typeface="Symbol Tiger"/>
              </a:rPr>
              <a:t>≤ </a:t>
            </a:r>
            <a:r>
              <a:rPr lang="en-US" altLang="zh-CN" sz="1800" dirty="0"/>
              <a:t>±10°</a:t>
            </a:r>
            <a:r>
              <a:rPr lang="zh-CN" altLang="zh-CN" sz="1800" dirty="0"/>
              <a:t>。</a:t>
            </a:r>
            <a:endParaRPr lang="en-US" altLang="zh-CN" sz="1800" dirty="0"/>
          </a:p>
          <a:p>
            <a:pPr indent="457200">
              <a:lnSpc>
                <a:spcPct val="150000"/>
              </a:lnSpc>
            </a:pPr>
            <a:endParaRPr lang="en-US" altLang="zh-CN" sz="1800" dirty="0"/>
          </a:p>
          <a:p>
            <a:pPr indent="457200">
              <a:lnSpc>
                <a:spcPct val="150000"/>
              </a:lnSpc>
            </a:pPr>
            <a:r>
              <a:rPr lang="zh-CN" altLang="zh-CN" sz="1800" dirty="0" smtClean="0"/>
              <a:t>题目</a:t>
            </a:r>
            <a:r>
              <a:rPr lang="zh-CN" altLang="zh-CN" sz="1800" dirty="0"/>
              <a:t>对于阻带衰减率的</a:t>
            </a:r>
            <a:r>
              <a:rPr lang="zh-CN" altLang="zh-CN" sz="1800" dirty="0" smtClean="0"/>
              <a:t>描述</a:t>
            </a:r>
            <a:r>
              <a:rPr lang="zh-CN" altLang="en-US" sz="1800" dirty="0" smtClean="0"/>
              <a:t>是</a:t>
            </a:r>
            <a:r>
              <a:rPr lang="en-US" altLang="zh-CN" sz="1800" dirty="0" smtClean="0"/>
              <a:t>24dB</a:t>
            </a:r>
            <a:r>
              <a:rPr lang="en-US" altLang="zh-CN" sz="1800" dirty="0"/>
              <a:t>/</a:t>
            </a:r>
            <a:r>
              <a:rPr lang="zh-CN" altLang="zh-CN" sz="1800" dirty="0"/>
              <a:t>倍频程</a:t>
            </a:r>
            <a:r>
              <a:rPr lang="zh-CN" altLang="en-US" sz="1800" dirty="0" smtClean="0"/>
              <a:t>，由于</a:t>
            </a:r>
            <a:r>
              <a:rPr lang="en-US" altLang="zh-CN" sz="1800" dirty="0" smtClean="0"/>
              <a:t>n</a:t>
            </a:r>
            <a:r>
              <a:rPr lang="zh-CN" altLang="en-US" sz="1800" dirty="0" smtClean="0"/>
              <a:t>阶滤波器的阻带衰减率为</a:t>
            </a:r>
            <a:r>
              <a:rPr lang="en-US" altLang="zh-CN" sz="1800" dirty="0" smtClean="0"/>
              <a:t>n×6dB/</a:t>
            </a:r>
            <a:r>
              <a:rPr lang="zh-CN" altLang="en-US" sz="1800" dirty="0" smtClean="0"/>
              <a:t>倍频程，所以</a:t>
            </a:r>
            <a:r>
              <a:rPr lang="zh-CN" altLang="zh-CN" sz="1800" dirty="0" smtClean="0"/>
              <a:t>可以</a:t>
            </a:r>
            <a:r>
              <a:rPr lang="zh-CN" altLang="zh-CN" sz="1800" dirty="0"/>
              <a:t>知道，这是两</a:t>
            </a:r>
            <a:r>
              <a:rPr lang="zh-CN" altLang="zh-CN" sz="1800" dirty="0" smtClean="0"/>
              <a:t>个</a:t>
            </a:r>
            <a:r>
              <a:rPr lang="en-US" altLang="zh-CN" sz="1800" dirty="0" smtClean="0"/>
              <a:t>4</a:t>
            </a:r>
            <a:r>
              <a:rPr lang="zh-CN" altLang="zh-CN" sz="1800" dirty="0" smtClean="0"/>
              <a:t>阶</a:t>
            </a:r>
            <a:r>
              <a:rPr lang="zh-CN" altLang="zh-CN" sz="1800" dirty="0"/>
              <a:t>有源滤波器。</a:t>
            </a:r>
            <a:endParaRPr lang="en-US" altLang="zh-CN" sz="1800" dirty="0"/>
          </a:p>
          <a:p>
            <a:pPr indent="457200">
              <a:lnSpc>
                <a:spcPct val="150000"/>
              </a:lnSpc>
            </a:pPr>
            <a:r>
              <a:rPr lang="zh-CN" altLang="zh-CN" sz="1800" dirty="0"/>
              <a:t>因为这类分频电路通常总是应用于音频设备，为了保证信号的保真度，这两个滤波器应该有较好的延时特性，所以不宜选用切比雪夫型或者椭圆型滤波器，应该选用通带特性比较平缓的巴特沃斯滤波器或贝塞尔</a:t>
            </a:r>
            <a:r>
              <a:rPr lang="zh-CN" altLang="zh-CN" sz="1800" dirty="0" smtClean="0"/>
              <a:t>滤波器</a:t>
            </a:r>
            <a:r>
              <a:rPr lang="zh-CN" altLang="en-US" sz="1800" dirty="0" smtClean="0"/>
              <a:t>，这里选用巴特沃斯型滤波器</a:t>
            </a:r>
            <a:endParaRPr lang="en-US" altLang="zh-CN" sz="1600" dirty="0"/>
          </a:p>
        </p:txBody>
      </p:sp>
    </p:spTree>
    <p:extLst>
      <p:ext uri="{BB962C8B-B14F-4D97-AF65-F5344CB8AC3E}">
        <p14:creationId xmlns:p14="http://schemas.microsoft.com/office/powerpoint/2010/main" val="2990069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文本框 4"/>
          <p:cNvSpPr txBox="1"/>
          <p:nvPr/>
        </p:nvSpPr>
        <p:spPr>
          <a:xfrm>
            <a:off x="478971" y="508000"/>
            <a:ext cx="11248571" cy="2169825"/>
          </a:xfrm>
          <a:prstGeom prst="rect">
            <a:avLst/>
          </a:prstGeom>
          <a:noFill/>
        </p:spPr>
        <p:txBody>
          <a:bodyPr wrap="square" rtlCol="0">
            <a:spAutoFit/>
          </a:bodyPr>
          <a:lstStyle/>
          <a:p>
            <a:pPr indent="468000" eaLnBrk="0" hangingPunct="0">
              <a:lnSpc>
                <a:spcPct val="150000"/>
              </a:lnSpc>
            </a:pPr>
            <a:r>
              <a:rPr lang="zh-CN" altLang="en-US" sz="1800" dirty="0" smtClean="0">
                <a:solidFill>
                  <a:srgbClr val="FF0000"/>
                </a:solidFill>
                <a:latin typeface="+mj-ea"/>
                <a:ea typeface="+mj-ea"/>
              </a:rPr>
              <a:t>用辅助设计表格</a:t>
            </a:r>
            <a:r>
              <a:rPr lang="en-US" altLang="zh-CN" sz="1800" dirty="0" smtClean="0">
                <a:solidFill>
                  <a:srgbClr val="FF0000"/>
                </a:solidFill>
                <a:latin typeface="+mj-ea"/>
                <a:ea typeface="+mj-ea"/>
              </a:rPr>
              <a:t>《</a:t>
            </a:r>
            <a:r>
              <a:rPr lang="zh-CN" altLang="en-US" sz="1800" dirty="0" smtClean="0">
                <a:solidFill>
                  <a:srgbClr val="FF0000"/>
                </a:solidFill>
                <a:latin typeface="+mj-ea"/>
                <a:ea typeface="+mj-ea"/>
              </a:rPr>
              <a:t>有源滤波器参数计算</a:t>
            </a:r>
            <a:r>
              <a:rPr lang="en-US" altLang="zh-CN" sz="1800" dirty="0" smtClean="0">
                <a:solidFill>
                  <a:srgbClr val="FF0000"/>
                </a:solidFill>
                <a:latin typeface="+mj-ea"/>
                <a:ea typeface="+mj-ea"/>
              </a:rPr>
              <a:t>》</a:t>
            </a:r>
            <a:r>
              <a:rPr lang="zh-CN" altLang="en-US" sz="1800" dirty="0" smtClean="0">
                <a:solidFill>
                  <a:srgbClr val="FF0000"/>
                </a:solidFill>
                <a:latin typeface="+mj-ea"/>
                <a:ea typeface="+mj-ea"/>
              </a:rPr>
              <a:t>设计本</a:t>
            </a:r>
            <a:r>
              <a:rPr lang="zh-CN" altLang="en-US" sz="1800" dirty="0">
                <a:solidFill>
                  <a:srgbClr val="FF0000"/>
                </a:solidFill>
                <a:latin typeface="+mj-ea"/>
                <a:ea typeface="+mj-ea"/>
              </a:rPr>
              <a:t>题目中的有源</a:t>
            </a:r>
            <a:r>
              <a:rPr lang="zh-CN" altLang="en-US" sz="1800" dirty="0" smtClean="0">
                <a:solidFill>
                  <a:srgbClr val="FF0000"/>
                </a:solidFill>
                <a:latin typeface="+mj-ea"/>
                <a:ea typeface="+mj-ea"/>
              </a:rPr>
              <a:t>滤波器</a:t>
            </a:r>
            <a:endParaRPr lang="en-US" altLang="zh-CN" sz="1800" dirty="0">
              <a:solidFill>
                <a:srgbClr val="FF0000"/>
              </a:solidFill>
              <a:latin typeface="+mj-ea"/>
              <a:ea typeface="+mj-ea"/>
            </a:endParaRPr>
          </a:p>
          <a:p>
            <a:pPr indent="457200" eaLnBrk="0" hangingPunct="0">
              <a:lnSpc>
                <a:spcPct val="150000"/>
              </a:lnSpc>
            </a:pPr>
            <a:r>
              <a:rPr lang="zh-CN" altLang="en-US" sz="1800" dirty="0" smtClean="0"/>
              <a:t>第一</a:t>
            </a:r>
            <a:r>
              <a:rPr lang="zh-CN" altLang="en-US" sz="1800" dirty="0"/>
              <a:t>步，在</a:t>
            </a:r>
            <a:r>
              <a:rPr lang="zh-CN" altLang="en-US" sz="1800" dirty="0" smtClean="0"/>
              <a:t>表格内填入截止频率</a:t>
            </a:r>
            <a:r>
              <a:rPr lang="en-US" altLang="zh-CN" sz="1800" dirty="0" smtClean="0"/>
              <a:t>2kHz</a:t>
            </a:r>
            <a:r>
              <a:rPr lang="zh-CN" altLang="en-US" sz="1800" dirty="0" smtClean="0"/>
              <a:t>，在阻带起始频率中填入</a:t>
            </a:r>
            <a:r>
              <a:rPr lang="en-US" altLang="zh-CN" sz="1800" dirty="0" smtClean="0"/>
              <a:t>4</a:t>
            </a:r>
            <a:r>
              <a:rPr lang="zh-CN" altLang="en-US" sz="1800" dirty="0" smtClean="0"/>
              <a:t>倍截止频率</a:t>
            </a:r>
            <a:r>
              <a:rPr lang="en-US" altLang="zh-CN" sz="1800" dirty="0" smtClean="0"/>
              <a:t>8kHz</a:t>
            </a:r>
            <a:r>
              <a:rPr lang="zh-CN" altLang="en-US" sz="1800" dirty="0" smtClean="0"/>
              <a:t>，按照题目要求此频率下的衰减是</a:t>
            </a:r>
            <a:r>
              <a:rPr lang="en-US" altLang="zh-CN" sz="1800" dirty="0" smtClean="0"/>
              <a:t>48dB</a:t>
            </a:r>
            <a:r>
              <a:rPr lang="zh-CN" altLang="en-US" sz="1800" dirty="0" smtClean="0"/>
              <a:t>，填入阻带衰减，这样得到了选用的阶数为</a:t>
            </a:r>
            <a:r>
              <a:rPr lang="en-US" altLang="zh-CN" sz="1800" dirty="0" smtClean="0"/>
              <a:t>4</a:t>
            </a:r>
            <a:r>
              <a:rPr lang="zh-CN" altLang="en-US" sz="1800" dirty="0" smtClean="0"/>
              <a:t>阶（与预想中的一致）</a:t>
            </a:r>
            <a:endParaRPr lang="en-US" altLang="zh-CN" sz="1800" dirty="0" smtClean="0"/>
          </a:p>
          <a:p>
            <a:pPr indent="457200" eaLnBrk="0" hangingPunct="0">
              <a:lnSpc>
                <a:spcPct val="150000"/>
              </a:lnSpc>
            </a:pPr>
            <a:r>
              <a:rPr lang="zh-CN" altLang="en-US" sz="1800" dirty="0"/>
              <a:t>第二</a:t>
            </a:r>
            <a:r>
              <a:rPr lang="zh-CN" altLang="en-US" sz="1800" dirty="0" smtClean="0"/>
              <a:t>步，从表格可以看到：此</a:t>
            </a:r>
            <a:r>
              <a:rPr lang="en-US" altLang="zh-CN" sz="1800" dirty="0" smtClean="0"/>
              <a:t>4</a:t>
            </a:r>
            <a:r>
              <a:rPr lang="zh-CN" altLang="zh-CN" sz="1800" dirty="0"/>
              <a:t>阶巴特沃斯</a:t>
            </a:r>
            <a:r>
              <a:rPr lang="zh-CN" altLang="zh-CN" sz="1800" dirty="0" smtClean="0"/>
              <a:t>滤波器由</a:t>
            </a:r>
            <a:r>
              <a:rPr lang="zh-CN" altLang="zh-CN" sz="1800" dirty="0"/>
              <a:t>两个</a:t>
            </a:r>
            <a:r>
              <a:rPr lang="en-US" altLang="zh-CN" sz="1800" dirty="0"/>
              <a:t>2</a:t>
            </a:r>
            <a:r>
              <a:rPr lang="zh-CN" altLang="zh-CN" sz="1800" dirty="0"/>
              <a:t>阶滤波节串联</a:t>
            </a:r>
            <a:r>
              <a:rPr lang="zh-CN" altLang="zh-CN" sz="1800" dirty="0" smtClean="0"/>
              <a:t>构成</a:t>
            </a:r>
            <a:r>
              <a:rPr lang="zh-CN" altLang="en-US" sz="1800" dirty="0" smtClean="0"/>
              <a:t>，</a:t>
            </a:r>
            <a:r>
              <a:rPr lang="zh-CN" altLang="zh-CN" sz="1800" dirty="0" smtClean="0"/>
              <a:t>两</a:t>
            </a:r>
            <a:r>
              <a:rPr lang="zh-CN" altLang="zh-CN" sz="1800" dirty="0"/>
              <a:t>个滤波节</a:t>
            </a:r>
            <a:r>
              <a:rPr lang="zh-CN" altLang="zh-CN" sz="1800" dirty="0" smtClean="0"/>
              <a:t>的</a:t>
            </a:r>
            <a:r>
              <a:rPr lang="zh-CN" altLang="en-US" sz="1800" dirty="0" smtClean="0"/>
              <a:t>极点</a:t>
            </a:r>
            <a:r>
              <a:rPr lang="zh-CN" altLang="zh-CN" sz="1800" dirty="0" smtClean="0"/>
              <a:t>频率</a:t>
            </a:r>
            <a:r>
              <a:rPr lang="zh-CN" altLang="en-US" sz="1800" dirty="0" smtClean="0"/>
              <a:t>（截止频率）</a:t>
            </a:r>
            <a:r>
              <a:rPr lang="zh-CN" altLang="zh-CN" sz="1800" dirty="0" smtClean="0"/>
              <a:t>相同</a:t>
            </a:r>
            <a:r>
              <a:rPr lang="zh-CN" altLang="en-US" sz="1800" dirty="0" smtClean="0"/>
              <a:t>，都是</a:t>
            </a:r>
            <a:r>
              <a:rPr lang="en-US" altLang="zh-CN" sz="1800" dirty="0" smtClean="0"/>
              <a:t>2kHz</a:t>
            </a:r>
            <a:r>
              <a:rPr lang="zh-CN" altLang="zh-CN" sz="1800" dirty="0" smtClean="0"/>
              <a:t>，</a:t>
            </a:r>
            <a:r>
              <a:rPr lang="en-US" altLang="zh-CN" sz="1800" dirty="0"/>
              <a:t>Q</a:t>
            </a:r>
            <a:r>
              <a:rPr lang="zh-CN" altLang="zh-CN" sz="1800" dirty="0"/>
              <a:t>值分别</a:t>
            </a:r>
            <a:r>
              <a:rPr lang="zh-CN" altLang="zh-CN" sz="1800" dirty="0" smtClean="0"/>
              <a:t>为</a:t>
            </a:r>
            <a:r>
              <a:rPr lang="en-US" altLang="zh-CN" sz="1800" dirty="0" smtClean="0"/>
              <a:t>1.307</a:t>
            </a:r>
            <a:r>
              <a:rPr lang="zh-CN" altLang="zh-CN" sz="1800" dirty="0" smtClean="0"/>
              <a:t>与</a:t>
            </a:r>
            <a:r>
              <a:rPr lang="en-US" altLang="zh-CN" sz="1800" dirty="0" smtClean="0"/>
              <a:t>0.541</a:t>
            </a:r>
            <a:endParaRPr lang="zh-CN" altLang="zh-CN" sz="1800" dirty="0"/>
          </a:p>
        </p:txBody>
      </p:sp>
      <p:pic>
        <p:nvPicPr>
          <p:cNvPr id="6" name="图片 5"/>
          <p:cNvPicPr>
            <a:picLocks noChangeAspect="1"/>
          </p:cNvPicPr>
          <p:nvPr/>
        </p:nvPicPr>
        <p:blipFill>
          <a:blip r:embed="rId2"/>
          <a:stretch>
            <a:fillRect/>
          </a:stretch>
        </p:blipFill>
        <p:spPr>
          <a:xfrm>
            <a:off x="624417" y="2677825"/>
            <a:ext cx="10261486" cy="3422976"/>
          </a:xfrm>
          <a:prstGeom prst="rect">
            <a:avLst/>
          </a:prstGeom>
        </p:spPr>
      </p:pic>
    </p:spTree>
    <p:extLst>
      <p:ext uri="{BB962C8B-B14F-4D97-AF65-F5344CB8AC3E}">
        <p14:creationId xmlns:p14="http://schemas.microsoft.com/office/powerpoint/2010/main" val="2489713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pic>
        <p:nvPicPr>
          <p:cNvPr id="6" name="图片 5"/>
          <p:cNvPicPr>
            <a:picLocks noChangeAspect="1"/>
          </p:cNvPicPr>
          <p:nvPr/>
        </p:nvPicPr>
        <p:blipFill>
          <a:blip r:embed="rId2"/>
          <a:stretch>
            <a:fillRect/>
          </a:stretch>
        </p:blipFill>
        <p:spPr>
          <a:xfrm>
            <a:off x="522514" y="1964132"/>
            <a:ext cx="11032670" cy="4286888"/>
          </a:xfrm>
          <a:prstGeom prst="rect">
            <a:avLst/>
          </a:prstGeom>
        </p:spPr>
      </p:pic>
      <p:sp>
        <p:nvSpPr>
          <p:cNvPr id="7" name="文本框 6"/>
          <p:cNvSpPr txBox="1"/>
          <p:nvPr/>
        </p:nvSpPr>
        <p:spPr>
          <a:xfrm>
            <a:off x="478971" y="508000"/>
            <a:ext cx="11248571" cy="1287532"/>
          </a:xfrm>
          <a:prstGeom prst="rect">
            <a:avLst/>
          </a:prstGeom>
          <a:noFill/>
        </p:spPr>
        <p:txBody>
          <a:bodyPr wrap="square" rtlCol="0">
            <a:spAutoFit/>
          </a:bodyPr>
          <a:lstStyle/>
          <a:p>
            <a:pPr indent="457200" eaLnBrk="0" hangingPunct="0">
              <a:lnSpc>
                <a:spcPct val="150000"/>
              </a:lnSpc>
            </a:pPr>
            <a:r>
              <a:rPr lang="zh-CN" altLang="en-US" sz="1800" dirty="0" smtClean="0"/>
              <a:t>第三步</a:t>
            </a:r>
            <a:r>
              <a:rPr lang="zh-CN" altLang="en-US" sz="1800" dirty="0"/>
              <a:t>，在</a:t>
            </a:r>
            <a:r>
              <a:rPr lang="zh-CN" altLang="en-US" sz="1800" dirty="0" smtClean="0"/>
              <a:t>表格内填入节编号、类型，然后选择其中一个电路，填入指定的电容参数，软件自动给出该电路中其他电阻的值。例如选压控电压源电路，指定电容</a:t>
            </a:r>
            <a:r>
              <a:rPr lang="en-US" altLang="zh-CN" sz="1800" dirty="0" smtClean="0"/>
              <a:t>10nF</a:t>
            </a:r>
            <a:r>
              <a:rPr lang="zh-CN" altLang="en-US" sz="1800" dirty="0" smtClean="0"/>
              <a:t>与</a:t>
            </a:r>
            <a:r>
              <a:rPr lang="en-US" altLang="zh-CN" sz="1800" dirty="0" smtClean="0"/>
              <a:t>1nF</a:t>
            </a:r>
            <a:r>
              <a:rPr lang="zh-CN" altLang="en-US" sz="1800" dirty="0" smtClean="0"/>
              <a:t>，给出的电阻是</a:t>
            </a:r>
            <a:r>
              <a:rPr lang="en-US" altLang="zh-CN" sz="1800" dirty="0" smtClean="0"/>
              <a:t>47.6k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t>与</a:t>
            </a:r>
            <a:r>
              <a:rPr lang="en-US" altLang="zh-CN" sz="1800" dirty="0" smtClean="0"/>
              <a:t>13.3k</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a:t>
            </a:r>
            <a:endParaRPr lang="en-US" altLang="zh-CN" sz="1800" dirty="0" smtClean="0"/>
          </a:p>
          <a:p>
            <a:pPr indent="457200" eaLnBrk="0" hangingPunct="0">
              <a:lnSpc>
                <a:spcPct val="150000"/>
              </a:lnSpc>
            </a:pPr>
            <a:r>
              <a:rPr lang="zh-CN" altLang="en-US" sz="1800" dirty="0" smtClean="0"/>
              <a:t>依次改变节编号，可以完成整个滤波器电路的设计。</a:t>
            </a:r>
            <a:endParaRPr lang="zh-CN" altLang="zh-CN" sz="1800" dirty="0"/>
          </a:p>
        </p:txBody>
      </p:sp>
    </p:spTree>
    <p:extLst>
      <p:ext uri="{BB962C8B-B14F-4D97-AF65-F5344CB8AC3E}">
        <p14:creationId xmlns:p14="http://schemas.microsoft.com/office/powerpoint/2010/main" val="8394195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45</a:t>
            </a:fld>
            <a:endParaRPr lang="en-US" altLang="zh-CN">
              <a:solidFill>
                <a:srgbClr val="FFFFFF"/>
              </a:solidFill>
            </a:endParaRPr>
          </a:p>
        </p:txBody>
      </p:sp>
      <p:sp>
        <p:nvSpPr>
          <p:cNvPr id="5" name="文本框 4"/>
          <p:cNvSpPr txBox="1"/>
          <p:nvPr/>
        </p:nvSpPr>
        <p:spPr>
          <a:xfrm>
            <a:off x="478971" y="508000"/>
            <a:ext cx="11248571" cy="5493812"/>
          </a:xfrm>
          <a:prstGeom prst="rect">
            <a:avLst/>
          </a:prstGeom>
          <a:noFill/>
        </p:spPr>
        <p:txBody>
          <a:bodyPr wrap="square" rtlCol="0">
            <a:spAutoFit/>
          </a:bodyPr>
          <a:lstStyle/>
          <a:p>
            <a:pPr indent="457200" eaLnBrk="0" hangingPunct="0">
              <a:lnSpc>
                <a:spcPct val="150000"/>
              </a:lnSpc>
            </a:pPr>
            <a:r>
              <a:rPr lang="zh-CN" altLang="en-US" sz="1800" dirty="0" smtClean="0">
                <a:solidFill>
                  <a:srgbClr val="FF0000"/>
                </a:solidFill>
              </a:rPr>
              <a:t>滤波器的精度与元件的关系</a:t>
            </a:r>
            <a:endParaRPr lang="en-US" altLang="zh-CN" sz="1800" dirty="0" smtClean="0">
              <a:solidFill>
                <a:srgbClr val="FF0000"/>
              </a:solidFill>
            </a:endParaRPr>
          </a:p>
          <a:p>
            <a:pPr indent="457200" eaLnBrk="0" hangingPunct="0">
              <a:lnSpc>
                <a:spcPct val="150000"/>
              </a:lnSpc>
            </a:pPr>
            <a:r>
              <a:rPr lang="zh-CN" altLang="zh-CN" sz="1800" dirty="0" smtClean="0"/>
              <a:t>有源</a:t>
            </a:r>
            <a:r>
              <a:rPr lang="zh-CN" altLang="zh-CN" sz="1800" dirty="0"/>
              <a:t>滤波器的</a:t>
            </a:r>
            <a:r>
              <a:rPr lang="zh-CN" altLang="zh-CN" sz="1800" dirty="0" smtClean="0"/>
              <a:t>截止频率</a:t>
            </a:r>
            <a:r>
              <a:rPr lang="zh-CN" altLang="en-US" sz="1800" dirty="0" smtClean="0"/>
              <a:t>与</a:t>
            </a:r>
            <a:r>
              <a:rPr lang="en-US" altLang="zh-CN" sz="1800" dirty="0" smtClean="0"/>
              <a:t>Q</a:t>
            </a:r>
            <a:r>
              <a:rPr lang="zh-CN" altLang="en-US" sz="1800" dirty="0" smtClean="0"/>
              <a:t>值的</a:t>
            </a:r>
            <a:r>
              <a:rPr lang="zh-CN" altLang="zh-CN" sz="1800" dirty="0" smtClean="0"/>
              <a:t>精度</a:t>
            </a:r>
            <a:r>
              <a:rPr lang="zh-CN" altLang="zh-CN" sz="1800" dirty="0"/>
              <a:t>取决于阻容元件的</a:t>
            </a:r>
            <a:r>
              <a:rPr lang="zh-CN" altLang="zh-CN" sz="1800" dirty="0" smtClean="0"/>
              <a:t>精度</a:t>
            </a:r>
            <a:r>
              <a:rPr lang="zh-CN" altLang="en-US" sz="1800" dirty="0" smtClean="0"/>
              <a:t>，还与运放的</a:t>
            </a:r>
            <a:r>
              <a:rPr lang="en-US" altLang="zh-CN" sz="1800" dirty="0" smtClean="0"/>
              <a:t>GBP</a:t>
            </a:r>
            <a:r>
              <a:rPr lang="zh-CN" altLang="en-US" sz="1800" dirty="0" smtClean="0"/>
              <a:t>有关</a:t>
            </a:r>
            <a:r>
              <a:rPr lang="zh-CN" altLang="zh-CN" sz="1800" dirty="0" smtClean="0"/>
              <a:t>。</a:t>
            </a:r>
            <a:endParaRPr lang="en-US" altLang="zh-CN" sz="1800" dirty="0" smtClean="0"/>
          </a:p>
          <a:p>
            <a:pPr indent="457200" eaLnBrk="0" hangingPunct="0">
              <a:lnSpc>
                <a:spcPct val="150000"/>
              </a:lnSpc>
            </a:pPr>
            <a:r>
              <a:rPr lang="zh-CN" altLang="zh-CN" sz="1800" dirty="0" smtClean="0"/>
              <a:t>电阻</a:t>
            </a:r>
            <a:r>
              <a:rPr lang="zh-CN" altLang="zh-CN" sz="1800" dirty="0"/>
              <a:t>的精度比较容易控制，现在商品电阻大部分可以达到</a:t>
            </a:r>
            <a:r>
              <a:rPr lang="en-US" altLang="zh-CN" sz="1800" dirty="0"/>
              <a:t>1%</a:t>
            </a:r>
            <a:r>
              <a:rPr lang="zh-CN" altLang="zh-CN" sz="1800" dirty="0"/>
              <a:t>精度，即使</a:t>
            </a:r>
            <a:r>
              <a:rPr lang="en-US" altLang="zh-CN" sz="1800" dirty="0"/>
              <a:t>0.1%</a:t>
            </a:r>
            <a:r>
              <a:rPr lang="zh-CN" altLang="zh-CN" sz="1800" dirty="0"/>
              <a:t>的电阻也容易得到。但是电容的精度较难控制，高精度的电容不容易获得且价格很高。</a:t>
            </a:r>
            <a:endParaRPr lang="en-US" altLang="zh-CN" sz="1800" dirty="0"/>
          </a:p>
          <a:p>
            <a:pPr indent="457200" eaLnBrk="0" hangingPunct="0">
              <a:lnSpc>
                <a:spcPct val="150000"/>
              </a:lnSpc>
            </a:pPr>
            <a:r>
              <a:rPr lang="zh-CN" altLang="zh-CN" sz="1800" dirty="0"/>
              <a:t>所以要获得准确且稳定的截止频率，在制作滤波器时必须对电阻电容进行</a:t>
            </a:r>
            <a:r>
              <a:rPr lang="zh-CN" altLang="en-US" sz="1800" dirty="0"/>
              <a:t>严格</a:t>
            </a:r>
            <a:r>
              <a:rPr lang="zh-CN" altLang="zh-CN" sz="1800" dirty="0"/>
              <a:t>筛选</a:t>
            </a:r>
            <a:r>
              <a:rPr lang="zh-CN" altLang="en-US" sz="1800" dirty="0"/>
              <a:t>（主要是电容）</a:t>
            </a:r>
            <a:r>
              <a:rPr lang="zh-CN" altLang="zh-CN" sz="1800" dirty="0"/>
              <a:t>，选取具有低</a:t>
            </a:r>
            <a:r>
              <a:rPr lang="zh-CN" altLang="zh-CN" sz="1800" dirty="0" smtClean="0"/>
              <a:t>温度系数且准确的</a:t>
            </a:r>
            <a:r>
              <a:rPr lang="zh-CN" altLang="zh-CN" sz="1800" dirty="0"/>
              <a:t>元件</a:t>
            </a:r>
            <a:r>
              <a:rPr lang="zh-CN" altLang="zh-CN" sz="1800" dirty="0" smtClean="0"/>
              <a:t>。</a:t>
            </a:r>
            <a:r>
              <a:rPr lang="zh-CN" altLang="en-US" sz="1800" dirty="0" smtClean="0"/>
              <a:t>若难以获得准确值，也可选低温度系数但电容值略有误差的电容，然后用仪器（例如数字电桥）测得实际的电容值，填入上述表格软件计算对应的电阻值（电阻容易筛选，也可以用几个电阻串联）。</a:t>
            </a:r>
            <a:endParaRPr lang="en-US" altLang="zh-CN" sz="1800" dirty="0" smtClean="0"/>
          </a:p>
          <a:p>
            <a:pPr indent="457200" eaLnBrk="0" hangingPunct="0">
              <a:lnSpc>
                <a:spcPct val="150000"/>
              </a:lnSpc>
            </a:pPr>
            <a:r>
              <a:rPr lang="zh-CN" altLang="en-US" sz="1800" dirty="0"/>
              <a:t>在</a:t>
            </a:r>
            <a:r>
              <a:rPr lang="zh-CN" altLang="en-US" sz="1800" dirty="0" smtClean="0"/>
              <a:t>有源滤波器的设计中假定运放是理想的，但是实际运放并非理想，所以运放的性能对滤波器有影响，其中影响最显著的是运放的带宽</a:t>
            </a:r>
            <a:r>
              <a:rPr lang="zh-CN" altLang="en-US" sz="1800" dirty="0" smtClean="0"/>
              <a:t>。通常</a:t>
            </a:r>
            <a:r>
              <a:rPr lang="zh-CN" altLang="en-US" sz="1800" dirty="0" smtClean="0">
                <a:solidFill>
                  <a:srgbClr val="FF0000"/>
                </a:solidFill>
              </a:rPr>
              <a:t>要求运放的</a:t>
            </a:r>
            <a:r>
              <a:rPr lang="en-US" altLang="zh-CN" sz="1800" dirty="0" smtClean="0">
                <a:solidFill>
                  <a:srgbClr val="FF0000"/>
                </a:solidFill>
              </a:rPr>
              <a:t>GBP&gt;100*A*Q*f</a:t>
            </a:r>
            <a:r>
              <a:rPr lang="zh-CN" altLang="en-US" sz="1800" dirty="0" smtClean="0"/>
              <a:t>，其中</a:t>
            </a:r>
            <a:r>
              <a:rPr lang="en-US" altLang="zh-CN" sz="1800" dirty="0" smtClean="0"/>
              <a:t>A</a:t>
            </a:r>
            <a:r>
              <a:rPr lang="zh-CN" altLang="en-US" sz="1800" dirty="0" smtClean="0"/>
              <a:t>是滤波器的增益，</a:t>
            </a:r>
            <a:r>
              <a:rPr lang="en-US" altLang="zh-CN" sz="1800" dirty="0" smtClean="0"/>
              <a:t>Q</a:t>
            </a:r>
            <a:r>
              <a:rPr lang="zh-CN" altLang="en-US" sz="1800" dirty="0" smtClean="0"/>
              <a:t>是滤波器的</a:t>
            </a:r>
            <a:r>
              <a:rPr lang="en-US" altLang="zh-CN" sz="1800" dirty="0" smtClean="0"/>
              <a:t>Q</a:t>
            </a:r>
            <a:r>
              <a:rPr lang="zh-CN" altLang="en-US" sz="1800" dirty="0" smtClean="0"/>
              <a:t>值，</a:t>
            </a:r>
            <a:r>
              <a:rPr lang="en-US" altLang="zh-CN" sz="1800" dirty="0" smtClean="0"/>
              <a:t>f</a:t>
            </a:r>
            <a:r>
              <a:rPr lang="zh-CN" altLang="en-US" sz="1800" dirty="0" smtClean="0"/>
              <a:t>是低通滤波器的截止频率或带通滤波器的中心频率。</a:t>
            </a:r>
            <a:endParaRPr lang="en-US" altLang="zh-CN" sz="1800" dirty="0" smtClean="0"/>
          </a:p>
          <a:p>
            <a:pPr indent="457200" eaLnBrk="0" hangingPunct="0">
              <a:lnSpc>
                <a:spcPct val="150000"/>
              </a:lnSpc>
            </a:pPr>
            <a:r>
              <a:rPr lang="zh-CN" altLang="en-US" sz="1800" dirty="0" smtClean="0"/>
              <a:t>在高通与带阻滤波器中，除了上述要求外，运放的频响还决定了输出响应的频率</a:t>
            </a:r>
            <a:r>
              <a:rPr lang="zh-CN" altLang="en-US" sz="1800" dirty="0" smtClean="0"/>
              <a:t>上限，所以它对于运放的频响要求更高。</a:t>
            </a:r>
            <a:endParaRPr lang="zh-CN" altLang="en-US" sz="1800" dirty="0"/>
          </a:p>
        </p:txBody>
      </p:sp>
    </p:spTree>
    <p:extLst>
      <p:ext uri="{BB962C8B-B14F-4D97-AF65-F5344CB8AC3E}">
        <p14:creationId xmlns:p14="http://schemas.microsoft.com/office/powerpoint/2010/main" val="26035777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5" name="文本框 4"/>
          <p:cNvSpPr txBox="1"/>
          <p:nvPr/>
        </p:nvSpPr>
        <p:spPr>
          <a:xfrm>
            <a:off x="478971" y="508000"/>
            <a:ext cx="11248571" cy="3000821"/>
          </a:xfrm>
          <a:prstGeom prst="rect">
            <a:avLst/>
          </a:prstGeom>
          <a:noFill/>
        </p:spPr>
        <p:txBody>
          <a:bodyPr wrap="square" rtlCol="0">
            <a:spAutoFit/>
          </a:bodyPr>
          <a:lstStyle/>
          <a:p>
            <a:pPr indent="457200" eaLnBrk="0" hangingPunct="0">
              <a:lnSpc>
                <a:spcPct val="150000"/>
              </a:lnSpc>
            </a:pPr>
            <a:r>
              <a:rPr lang="zh-CN" altLang="en-US" sz="1800" dirty="0" smtClean="0">
                <a:solidFill>
                  <a:srgbClr val="FF0000"/>
                </a:solidFill>
              </a:rPr>
              <a:t>本题中滤波器的精度</a:t>
            </a:r>
            <a:endParaRPr lang="en-US" altLang="zh-CN" sz="1800" dirty="0" smtClean="0">
              <a:solidFill>
                <a:srgbClr val="FF0000"/>
              </a:solidFill>
            </a:endParaRPr>
          </a:p>
          <a:p>
            <a:pPr indent="457200" eaLnBrk="0" hangingPunct="0">
              <a:lnSpc>
                <a:spcPct val="150000"/>
              </a:lnSpc>
            </a:pPr>
            <a:r>
              <a:rPr lang="zh-CN" altLang="zh-CN" sz="1800" dirty="0" smtClean="0"/>
              <a:t>题目</a:t>
            </a:r>
            <a:r>
              <a:rPr lang="zh-CN" altLang="zh-CN" sz="1800" dirty="0"/>
              <a:t>要求两个滤波器在分频点上的输出相位差</a:t>
            </a:r>
            <a:r>
              <a:rPr lang="zh-CN" altLang="en-US" sz="1800" dirty="0"/>
              <a:t>低于</a:t>
            </a:r>
            <a:r>
              <a:rPr lang="en-US" altLang="zh-CN" sz="1800" dirty="0"/>
              <a:t>±10°</a:t>
            </a:r>
            <a:r>
              <a:rPr lang="zh-CN" altLang="zh-CN" sz="1800" dirty="0"/>
              <a:t>。如果两个滤波器的截止频率与</a:t>
            </a:r>
            <a:r>
              <a:rPr lang="en-US" altLang="zh-CN" sz="1800" dirty="0"/>
              <a:t>Q</a:t>
            </a:r>
            <a:r>
              <a:rPr lang="zh-CN" altLang="zh-CN" sz="1800" dirty="0"/>
              <a:t>值严格等于设计值，那么它们在截止频率上的相位差应该是相等的。但是如果它们的截止频率或者</a:t>
            </a:r>
            <a:r>
              <a:rPr lang="en-US" altLang="zh-CN" sz="1800" dirty="0"/>
              <a:t>Q</a:t>
            </a:r>
            <a:r>
              <a:rPr lang="zh-CN" altLang="zh-CN" sz="1800" dirty="0"/>
              <a:t>值与设计值有误差，那么在分频点上两个滤波器的输出将存在相位差。</a:t>
            </a:r>
          </a:p>
          <a:p>
            <a:pPr indent="457200" eaLnBrk="0" hangingPunct="0">
              <a:lnSpc>
                <a:spcPct val="150000"/>
              </a:lnSpc>
            </a:pPr>
            <a:r>
              <a:rPr lang="zh-CN" altLang="zh-CN" sz="1800" dirty="0"/>
              <a:t>经计算，</a:t>
            </a:r>
            <a:r>
              <a:rPr lang="en-US" altLang="zh-CN" sz="1800" dirty="0"/>
              <a:t>4</a:t>
            </a:r>
            <a:r>
              <a:rPr lang="zh-CN" altLang="zh-CN" sz="1800" dirty="0"/>
              <a:t>阶巴特沃斯滤波器</a:t>
            </a:r>
            <a:r>
              <a:rPr lang="zh-CN" altLang="en-US" sz="1800" dirty="0"/>
              <a:t>截止</a:t>
            </a:r>
            <a:r>
              <a:rPr lang="zh-CN" altLang="zh-CN" sz="1800" dirty="0"/>
              <a:t>频率每变化</a:t>
            </a:r>
            <a:r>
              <a:rPr lang="en-US" altLang="zh-CN" sz="1800" dirty="0"/>
              <a:t>1%</a:t>
            </a:r>
            <a:r>
              <a:rPr lang="zh-CN" altLang="en-US" sz="1800" dirty="0"/>
              <a:t>，</a:t>
            </a:r>
            <a:r>
              <a:rPr lang="zh-CN" altLang="zh-CN" sz="1800" dirty="0"/>
              <a:t>在截止频率附近的相位变化大约是</a:t>
            </a:r>
            <a:r>
              <a:rPr lang="en-US" altLang="zh-CN" sz="1800" dirty="0"/>
              <a:t>2°</a:t>
            </a:r>
            <a:r>
              <a:rPr lang="zh-CN" altLang="zh-CN" sz="1800" dirty="0" smtClean="0"/>
              <a:t>，题目</a:t>
            </a:r>
            <a:r>
              <a:rPr lang="zh-CN" altLang="zh-CN" sz="1800" dirty="0"/>
              <a:t>要求两个滤波器在分频点的相位差不大于</a:t>
            </a:r>
            <a:r>
              <a:rPr lang="en-US" altLang="zh-CN" sz="1800" dirty="0"/>
              <a:t>10°</a:t>
            </a:r>
            <a:r>
              <a:rPr lang="zh-CN" altLang="zh-CN" sz="1800" dirty="0"/>
              <a:t>，就是要求它们的截止频率的相对误差不能大于</a:t>
            </a:r>
            <a:r>
              <a:rPr lang="en-US" altLang="zh-CN" sz="1800" dirty="0"/>
              <a:t>5%</a:t>
            </a:r>
            <a:r>
              <a:rPr lang="zh-CN" altLang="zh-CN" sz="1800" dirty="0"/>
              <a:t>。</a:t>
            </a:r>
            <a:r>
              <a:rPr lang="en-US" altLang="zh-CN" sz="1800" dirty="0"/>
              <a:t>Q</a:t>
            </a:r>
            <a:r>
              <a:rPr lang="zh-CN" altLang="zh-CN" sz="1800" dirty="0"/>
              <a:t>值的误差也会引起其相位变化，但其影响比截止频率的影响小很多，基本可忽略</a:t>
            </a:r>
            <a:r>
              <a:rPr lang="zh-CN" altLang="zh-CN" sz="1800" dirty="0" smtClean="0"/>
              <a:t>。</a:t>
            </a:r>
            <a:endParaRPr lang="zh-CN" altLang="zh-CN" sz="1800" dirty="0"/>
          </a:p>
        </p:txBody>
      </p:sp>
    </p:spTree>
    <p:extLst>
      <p:ext uri="{BB962C8B-B14F-4D97-AF65-F5344CB8AC3E}">
        <p14:creationId xmlns:p14="http://schemas.microsoft.com/office/powerpoint/2010/main" val="18718155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矩形 4"/>
          <p:cNvSpPr/>
          <p:nvPr/>
        </p:nvSpPr>
        <p:spPr>
          <a:xfrm>
            <a:off x="413657" y="448725"/>
            <a:ext cx="11328399" cy="1338828"/>
          </a:xfrm>
          <a:prstGeom prst="rect">
            <a:avLst/>
          </a:prstGeom>
        </p:spPr>
        <p:txBody>
          <a:bodyPr wrap="square">
            <a:spAutoFit/>
          </a:bodyPr>
          <a:lstStyle/>
          <a:p>
            <a:pPr indent="266700" algn="just">
              <a:lnSpc>
                <a:spcPct val="150000"/>
              </a:lnSpc>
              <a:spcAft>
                <a:spcPts val="0"/>
              </a:spcAft>
            </a:pPr>
            <a:r>
              <a:rPr lang="zh-CN" altLang="zh-CN" sz="1800" dirty="0">
                <a:solidFill>
                  <a:srgbClr val="FF0000"/>
                </a:solidFill>
                <a:latin typeface="+mj-ea"/>
                <a:ea typeface="+mj-ea"/>
              </a:rPr>
              <a:t>笔者</a:t>
            </a:r>
            <a:r>
              <a:rPr lang="zh-CN" altLang="en-US" sz="1800" dirty="0">
                <a:solidFill>
                  <a:srgbClr val="FF0000"/>
                </a:solidFill>
                <a:latin typeface="+mj-ea"/>
                <a:ea typeface="+mj-ea"/>
              </a:rPr>
              <a:t>的实际设计</a:t>
            </a:r>
            <a:endParaRPr lang="en-US" altLang="zh-CN" sz="1800" dirty="0">
              <a:solidFill>
                <a:srgbClr val="FF0000"/>
              </a:solidFill>
              <a:latin typeface="+mj-ea"/>
              <a:ea typeface="+mj-ea"/>
            </a:endParaRPr>
          </a:p>
          <a:p>
            <a:pPr indent="266700" algn="just">
              <a:lnSpc>
                <a:spcPct val="150000"/>
              </a:lnSpc>
              <a:spcAft>
                <a:spcPts val="0"/>
              </a:spcAft>
            </a:pPr>
            <a:r>
              <a:rPr lang="zh-CN" altLang="en-US" sz="1800" dirty="0" smtClean="0"/>
              <a:t>笔者</a:t>
            </a:r>
            <a:r>
              <a:rPr lang="zh-CN" altLang="zh-CN" sz="1800" dirty="0" smtClean="0"/>
              <a:t>采用</a:t>
            </a:r>
            <a:r>
              <a:rPr lang="zh-CN" altLang="zh-CN" sz="1800" dirty="0"/>
              <a:t>开关电容滤波器芯片</a:t>
            </a:r>
            <a:r>
              <a:rPr lang="en-US" altLang="zh-CN" sz="1800" dirty="0"/>
              <a:t>MF10</a:t>
            </a:r>
            <a:r>
              <a:rPr lang="zh-CN" altLang="zh-CN" sz="1800" dirty="0"/>
              <a:t>。该芯片内部包含两个开关电容结构的</a:t>
            </a:r>
            <a:r>
              <a:rPr lang="en-US" altLang="zh-CN" sz="1800" dirty="0"/>
              <a:t>2</a:t>
            </a:r>
            <a:r>
              <a:rPr lang="zh-CN" altLang="zh-CN" sz="1800" dirty="0"/>
              <a:t>阶状态变量滤波器，所以用一个芯片可以构成</a:t>
            </a:r>
            <a:r>
              <a:rPr lang="en-US" altLang="zh-CN" sz="1800" dirty="0"/>
              <a:t>4</a:t>
            </a:r>
            <a:r>
              <a:rPr lang="zh-CN" altLang="zh-CN" sz="1800" dirty="0"/>
              <a:t>阶低通或高通滤波器。下图是采用开关电容滤波器构成的</a:t>
            </a:r>
            <a:r>
              <a:rPr lang="en-US" altLang="zh-CN" sz="1800" dirty="0"/>
              <a:t>4</a:t>
            </a:r>
            <a:r>
              <a:rPr lang="zh-CN" altLang="zh-CN" sz="1800" dirty="0"/>
              <a:t>阶巴特沃斯型低通滤波器。</a:t>
            </a:r>
          </a:p>
        </p:txBody>
      </p:sp>
      <p:graphicFrame>
        <p:nvGraphicFramePr>
          <p:cNvPr id="7" name="对象 6"/>
          <p:cNvGraphicFramePr>
            <a:graphicFrameLocks noChangeAspect="1"/>
          </p:cNvGraphicFramePr>
          <p:nvPr>
            <p:extLst>
              <p:ext uri="{D42A27DB-BD31-4B8C-83A1-F6EECF244321}">
                <p14:modId xmlns:p14="http://schemas.microsoft.com/office/powerpoint/2010/main" val="4119463005"/>
              </p:ext>
            </p:extLst>
          </p:nvPr>
        </p:nvGraphicFramePr>
        <p:xfrm>
          <a:off x="1987128" y="2122067"/>
          <a:ext cx="7071360" cy="2897003"/>
        </p:xfrm>
        <a:graphic>
          <a:graphicData uri="http://schemas.openxmlformats.org/presentationml/2006/ole">
            <mc:AlternateContent xmlns:mc="http://schemas.openxmlformats.org/markup-compatibility/2006">
              <mc:Choice xmlns:v="urn:schemas-microsoft-com:vml" Requires="v">
                <p:oleObj spid="_x0000_s28758" name="Visio" r:id="rId3" imgW="5378433" imgH="2203379" progId="Visio.Drawing.15">
                  <p:embed/>
                </p:oleObj>
              </mc:Choice>
              <mc:Fallback>
                <p:oleObj name="Visio" r:id="rId3" imgW="5378433" imgH="2203379" progId="Visio.Drawing.15">
                  <p:embed/>
                  <p:pic>
                    <p:nvPicPr>
                      <p:cNvPr id="0" name="Object 1"/>
                      <p:cNvPicPr>
                        <a:picLocks noChangeAspect="1" noChangeArrowheads="1"/>
                      </p:cNvPicPr>
                      <p:nvPr/>
                    </p:nvPicPr>
                    <p:blipFill>
                      <a:blip r:embed="rId4"/>
                      <a:srcRect/>
                      <a:stretch>
                        <a:fillRect/>
                      </a:stretch>
                    </p:blipFill>
                    <p:spPr bwMode="auto">
                      <a:xfrm>
                        <a:off x="1987128" y="2122067"/>
                        <a:ext cx="7071360" cy="2897003"/>
                      </a:xfrm>
                      <a:prstGeom prst="rect">
                        <a:avLst/>
                      </a:prstGeom>
                      <a:noFill/>
                    </p:spPr>
                  </p:pic>
                </p:oleObj>
              </mc:Fallback>
            </mc:AlternateContent>
          </a:graphicData>
        </a:graphic>
      </p:graphicFrame>
      <p:sp>
        <p:nvSpPr>
          <p:cNvPr id="8" name="Rectangle 4"/>
          <p:cNvSpPr>
            <a:spLocks noChangeArrowheads="1"/>
          </p:cNvSpPr>
          <p:nvPr/>
        </p:nvSpPr>
        <p:spPr bwMode="auto">
          <a:xfrm>
            <a:off x="624417" y="5047086"/>
            <a:ext cx="11400500" cy="1288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66700" algn="just" eaLnBrk="0" hangingPunct="0">
              <a:lnSpc>
                <a:spcPct val="150000"/>
              </a:lnSpc>
              <a:spcAft>
                <a:spcPts val="0"/>
              </a:spcAft>
            </a:pPr>
            <a:r>
              <a:rPr lang="zh-CN" altLang="en-US" sz="1800" dirty="0" smtClean="0"/>
              <a:t>选用开关电容滤波器的主要考虑是：</a:t>
            </a:r>
            <a:endParaRPr lang="en-US" altLang="zh-CN" sz="1800" dirty="0" smtClean="0"/>
          </a:p>
          <a:p>
            <a:pPr indent="266700" algn="just" eaLnBrk="0" hangingPunct="0">
              <a:lnSpc>
                <a:spcPct val="150000"/>
              </a:lnSpc>
              <a:spcAft>
                <a:spcPts val="0"/>
              </a:spcAft>
            </a:pPr>
            <a:r>
              <a:rPr lang="en-US" altLang="zh-CN" sz="1800" dirty="0" smtClean="0"/>
              <a:t>1</a:t>
            </a:r>
            <a:r>
              <a:rPr lang="zh-CN" altLang="en-US" sz="1800" dirty="0" smtClean="0"/>
              <a:t>、滤波器中没有电容，比较容易控制截止频率的准确度</a:t>
            </a:r>
            <a:endParaRPr lang="en-US" altLang="zh-CN" sz="1800" dirty="0" smtClean="0"/>
          </a:p>
          <a:p>
            <a:pPr indent="266700" algn="just" eaLnBrk="0" hangingPunct="0">
              <a:lnSpc>
                <a:spcPct val="150000"/>
              </a:lnSpc>
              <a:spcAft>
                <a:spcPts val="0"/>
              </a:spcAft>
            </a:pPr>
            <a:r>
              <a:rPr lang="en-US" altLang="zh-CN" sz="1800" dirty="0" smtClean="0"/>
              <a:t>2</a:t>
            </a:r>
            <a:r>
              <a:rPr lang="zh-CN" altLang="en-US" sz="1800" dirty="0" smtClean="0"/>
              <a:t>、容易改变系统的分频点频率，可以作为竞赛的加分项</a:t>
            </a:r>
            <a:endParaRPr lang="zh-CN" altLang="en-US" sz="1800" dirty="0"/>
          </a:p>
        </p:txBody>
      </p:sp>
      <p:sp>
        <p:nvSpPr>
          <p:cNvPr id="11" name="椭圆 10"/>
          <p:cNvSpPr/>
          <p:nvPr/>
        </p:nvSpPr>
        <p:spPr>
          <a:xfrm>
            <a:off x="4374200" y="2092001"/>
            <a:ext cx="1743605" cy="20936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459409" y="2072903"/>
            <a:ext cx="1743605" cy="21753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199612" y="1976855"/>
            <a:ext cx="2940156" cy="19249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574112" y="3940749"/>
            <a:ext cx="1428220" cy="584775"/>
          </a:xfrm>
          <a:prstGeom prst="rect">
            <a:avLst/>
          </a:prstGeom>
          <a:noFill/>
        </p:spPr>
        <p:txBody>
          <a:bodyPr wrap="square" rtlCol="0">
            <a:spAutoFit/>
          </a:bodyPr>
          <a:lstStyle/>
          <a:p>
            <a:r>
              <a:rPr lang="en-US" altLang="zh-CN" sz="1600" dirty="0"/>
              <a:t>Q</a:t>
            </a:r>
            <a:r>
              <a:rPr lang="zh-CN" altLang="zh-CN" sz="1600" dirty="0"/>
              <a:t>值为</a:t>
            </a:r>
            <a:r>
              <a:rPr lang="en-US" altLang="zh-CN" sz="1600" dirty="0"/>
              <a:t>0.54</a:t>
            </a:r>
            <a:r>
              <a:rPr lang="zh-CN" altLang="en-US" sz="1600" dirty="0"/>
              <a:t>的二阶滤波节</a:t>
            </a:r>
          </a:p>
        </p:txBody>
      </p:sp>
      <p:sp>
        <p:nvSpPr>
          <p:cNvPr id="16" name="文本框 15"/>
          <p:cNvSpPr txBox="1"/>
          <p:nvPr/>
        </p:nvSpPr>
        <p:spPr>
          <a:xfrm>
            <a:off x="5142444" y="4189619"/>
            <a:ext cx="1428220" cy="584775"/>
          </a:xfrm>
          <a:prstGeom prst="rect">
            <a:avLst/>
          </a:prstGeom>
          <a:noFill/>
        </p:spPr>
        <p:txBody>
          <a:bodyPr wrap="square" rtlCol="0">
            <a:spAutoFit/>
          </a:bodyPr>
          <a:lstStyle/>
          <a:p>
            <a:r>
              <a:rPr lang="en-US" altLang="zh-CN" sz="1600" dirty="0"/>
              <a:t>Q</a:t>
            </a:r>
            <a:r>
              <a:rPr lang="zh-CN" altLang="zh-CN" sz="1600" dirty="0"/>
              <a:t>值为</a:t>
            </a:r>
            <a:r>
              <a:rPr lang="en-US" altLang="zh-CN" sz="1600" dirty="0"/>
              <a:t>1.31</a:t>
            </a:r>
            <a:r>
              <a:rPr lang="zh-CN" altLang="en-US" sz="1600" dirty="0"/>
              <a:t>的二阶滤波节</a:t>
            </a:r>
          </a:p>
        </p:txBody>
      </p:sp>
      <p:sp>
        <p:nvSpPr>
          <p:cNvPr id="17" name="文本框 16"/>
          <p:cNvSpPr txBox="1"/>
          <p:nvPr/>
        </p:nvSpPr>
        <p:spPr>
          <a:xfrm>
            <a:off x="6655281" y="3948069"/>
            <a:ext cx="2055495" cy="584775"/>
          </a:xfrm>
          <a:prstGeom prst="rect">
            <a:avLst/>
          </a:prstGeom>
          <a:noFill/>
        </p:spPr>
        <p:txBody>
          <a:bodyPr wrap="square" rtlCol="0">
            <a:spAutoFit/>
          </a:bodyPr>
          <a:lstStyle/>
          <a:p>
            <a:r>
              <a:rPr lang="zh-CN" altLang="en-US" sz="1600" dirty="0"/>
              <a:t>用以滤除开关噪声的</a:t>
            </a:r>
            <a:r>
              <a:rPr lang="en-US" altLang="zh-CN" sz="1600" dirty="0"/>
              <a:t>2</a:t>
            </a:r>
            <a:r>
              <a:rPr lang="zh-CN" altLang="en-US" sz="1600" dirty="0"/>
              <a:t>阶低通滤波器</a:t>
            </a:r>
          </a:p>
        </p:txBody>
      </p:sp>
      <p:sp>
        <p:nvSpPr>
          <p:cNvPr id="6" name="矩形 5"/>
          <p:cNvSpPr/>
          <p:nvPr/>
        </p:nvSpPr>
        <p:spPr>
          <a:xfrm>
            <a:off x="8924730" y="3588795"/>
            <a:ext cx="2719784" cy="338554"/>
          </a:xfrm>
          <a:prstGeom prst="rect">
            <a:avLst/>
          </a:prstGeom>
        </p:spPr>
        <p:txBody>
          <a:bodyPr wrap="none">
            <a:spAutoFit/>
          </a:bodyPr>
          <a:lstStyle/>
          <a:p>
            <a:r>
              <a:rPr lang="en-US" altLang="zh-CN" sz="1600" dirty="0"/>
              <a:t>f</a:t>
            </a:r>
            <a:r>
              <a:rPr lang="en-US" altLang="zh-CN" sz="1600" baseline="-25000" dirty="0"/>
              <a:t>c</a:t>
            </a:r>
            <a:r>
              <a:rPr lang="en-US" altLang="zh-CN" sz="1600" dirty="0"/>
              <a:t>=</a:t>
            </a:r>
            <a:r>
              <a:rPr lang="en-US" altLang="zh-CN" sz="1600" dirty="0" err="1"/>
              <a:t>f</a:t>
            </a:r>
            <a:r>
              <a:rPr lang="en-US" altLang="zh-CN" sz="1600" baseline="-25000" dirty="0" err="1"/>
              <a:t>CLK</a:t>
            </a:r>
            <a:r>
              <a:rPr lang="en-US" altLang="zh-CN" sz="1600" dirty="0"/>
              <a:t>/100</a:t>
            </a:r>
            <a:r>
              <a:rPr lang="zh-CN" altLang="en-US" sz="1600" dirty="0"/>
              <a:t>，</a:t>
            </a:r>
            <a:r>
              <a:rPr lang="en-US" altLang="zh-CN" sz="1600" dirty="0"/>
              <a:t>Q=R</a:t>
            </a:r>
            <a:r>
              <a:rPr lang="en-US" altLang="zh-CN" sz="1600" baseline="-25000" dirty="0"/>
              <a:t>3</a:t>
            </a:r>
            <a:r>
              <a:rPr lang="en-US" altLang="zh-CN" sz="1600" dirty="0"/>
              <a:t>/R</a:t>
            </a:r>
            <a:r>
              <a:rPr lang="zh-CN" altLang="en-US" sz="1600" dirty="0"/>
              <a:t>，</a:t>
            </a:r>
            <a:r>
              <a:rPr lang="en-US" altLang="zh-CN" sz="1600" dirty="0"/>
              <a:t>A</a:t>
            </a:r>
            <a:r>
              <a:rPr lang="en-US" altLang="zh-CN" sz="1600" baseline="-25000" dirty="0"/>
              <a:t>V</a:t>
            </a:r>
            <a:r>
              <a:rPr lang="en-US" altLang="zh-CN" sz="1600" dirty="0"/>
              <a:t>=1</a:t>
            </a:r>
            <a:endParaRPr lang="zh-CN" altLang="en-US" sz="1600" dirty="0"/>
          </a:p>
        </p:txBody>
      </p:sp>
    </p:spTree>
    <p:extLst>
      <p:ext uri="{BB962C8B-B14F-4D97-AF65-F5344CB8AC3E}">
        <p14:creationId xmlns:p14="http://schemas.microsoft.com/office/powerpoint/2010/main" val="3018215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5" name="矩形 4"/>
          <p:cNvSpPr/>
          <p:nvPr/>
        </p:nvSpPr>
        <p:spPr>
          <a:xfrm>
            <a:off x="391886" y="1340554"/>
            <a:ext cx="11429699" cy="4662815"/>
          </a:xfrm>
          <a:prstGeom prst="rect">
            <a:avLst/>
          </a:prstGeom>
        </p:spPr>
        <p:txBody>
          <a:bodyPr wrap="square">
            <a:spAutoFit/>
          </a:bodyPr>
          <a:lstStyle/>
          <a:p>
            <a:pPr indent="457200" eaLnBrk="0" hangingPunct="0">
              <a:lnSpc>
                <a:spcPct val="150000"/>
              </a:lnSpc>
            </a:pPr>
            <a:r>
              <a:rPr lang="zh-CN" altLang="zh-CN" sz="1800" dirty="0"/>
              <a:t>实际制作中令</a:t>
            </a:r>
            <a:r>
              <a:rPr lang="en-US" altLang="zh-CN" sz="1800" dirty="0"/>
              <a:t>R</a:t>
            </a:r>
            <a:r>
              <a:rPr lang="en-US" altLang="zh-CN" sz="1800" baseline="-25000" dirty="0"/>
              <a:t>1</a:t>
            </a:r>
            <a:r>
              <a:rPr lang="en-US" altLang="zh-CN" sz="1800" dirty="0"/>
              <a:t>=R</a:t>
            </a:r>
            <a:r>
              <a:rPr lang="en-US" altLang="zh-CN" sz="1800" baseline="-25000" dirty="0"/>
              <a:t>2</a:t>
            </a:r>
            <a:r>
              <a:rPr lang="en-US" altLang="zh-CN" sz="1800" dirty="0"/>
              <a:t>=R</a:t>
            </a:r>
            <a:r>
              <a:rPr lang="en-US" altLang="zh-CN" sz="1800" baseline="-25000" dirty="0"/>
              <a:t>4</a:t>
            </a:r>
            <a:r>
              <a:rPr lang="en-US" altLang="zh-CN" sz="1800" dirty="0"/>
              <a:t>=R</a:t>
            </a:r>
            <a:r>
              <a:rPr lang="zh-CN" altLang="en-US" sz="1800" dirty="0"/>
              <a:t>，上述</a:t>
            </a:r>
            <a:r>
              <a:rPr lang="zh-CN" altLang="en-US" sz="1800" dirty="0" smtClean="0"/>
              <a:t>关系简化</a:t>
            </a:r>
            <a:r>
              <a:rPr lang="zh-CN" altLang="en-US" sz="1800" dirty="0"/>
              <a:t>为 </a:t>
            </a:r>
            <a:r>
              <a:rPr lang="en-US" altLang="zh-CN" sz="1800" dirty="0"/>
              <a:t>f</a:t>
            </a:r>
            <a:r>
              <a:rPr lang="en-US" altLang="zh-CN" sz="1800" baseline="-25000" dirty="0"/>
              <a:t>c</a:t>
            </a:r>
            <a:r>
              <a:rPr lang="en-US" altLang="zh-CN" sz="1800" dirty="0"/>
              <a:t>=</a:t>
            </a:r>
            <a:r>
              <a:rPr lang="en-US" altLang="zh-CN" sz="1800" dirty="0" err="1"/>
              <a:t>f</a:t>
            </a:r>
            <a:r>
              <a:rPr lang="en-US" altLang="zh-CN" sz="1800" baseline="-25000" dirty="0" err="1"/>
              <a:t>CLK</a:t>
            </a:r>
            <a:r>
              <a:rPr lang="en-US" altLang="zh-CN" sz="1800" dirty="0"/>
              <a:t>/100</a:t>
            </a:r>
            <a:r>
              <a:rPr lang="zh-CN" altLang="en-US" sz="1800" dirty="0"/>
              <a:t>，</a:t>
            </a:r>
            <a:r>
              <a:rPr lang="en-US" altLang="zh-CN" sz="1800" dirty="0"/>
              <a:t>Q=R</a:t>
            </a:r>
            <a:r>
              <a:rPr lang="en-US" altLang="zh-CN" sz="1800" baseline="-25000" dirty="0"/>
              <a:t>3</a:t>
            </a:r>
            <a:r>
              <a:rPr lang="en-US" altLang="zh-CN" sz="1800" dirty="0"/>
              <a:t>/R</a:t>
            </a:r>
            <a:r>
              <a:rPr lang="zh-CN" altLang="en-US" sz="1800" dirty="0"/>
              <a:t>，</a:t>
            </a:r>
            <a:r>
              <a:rPr lang="en-US" altLang="zh-CN" sz="1800" dirty="0" smtClean="0"/>
              <a:t>A</a:t>
            </a:r>
            <a:r>
              <a:rPr lang="en-US" altLang="zh-CN" sz="1800" baseline="-25000" dirty="0" smtClean="0"/>
              <a:t>V</a:t>
            </a:r>
            <a:r>
              <a:rPr lang="en-US" altLang="zh-CN" sz="1800" dirty="0" smtClean="0"/>
              <a:t>=1</a:t>
            </a:r>
            <a:r>
              <a:rPr lang="zh-CN" altLang="en-US" sz="1800" dirty="0"/>
              <a:t>。</a:t>
            </a:r>
            <a:r>
              <a:rPr lang="zh-CN" altLang="zh-CN" sz="1800" dirty="0"/>
              <a:t>选用了精度为</a:t>
            </a:r>
            <a:r>
              <a:rPr lang="en-US" altLang="zh-CN" sz="1800" dirty="0"/>
              <a:t>0.1%</a:t>
            </a:r>
            <a:r>
              <a:rPr lang="zh-CN" altLang="zh-CN" sz="1800" dirty="0"/>
              <a:t>的电阻以保证参数的准确度，两个决定巴特沃斯滤波器</a:t>
            </a:r>
            <a:r>
              <a:rPr lang="en-US" altLang="zh-CN" sz="1800" dirty="0"/>
              <a:t>Q</a:t>
            </a:r>
            <a:r>
              <a:rPr lang="zh-CN" altLang="zh-CN" sz="1800" dirty="0"/>
              <a:t>值的电阻</a:t>
            </a:r>
            <a:r>
              <a:rPr lang="en-US" altLang="zh-CN" sz="1800" dirty="0"/>
              <a:t>R</a:t>
            </a:r>
            <a:r>
              <a:rPr lang="en-US" altLang="zh-CN" sz="1800" baseline="-25000" dirty="0"/>
              <a:t>3A</a:t>
            </a:r>
            <a:r>
              <a:rPr lang="zh-CN" altLang="zh-CN" sz="1800" dirty="0"/>
              <a:t>与</a:t>
            </a:r>
            <a:r>
              <a:rPr lang="en-US" altLang="zh-CN" sz="1800" dirty="0"/>
              <a:t>R</a:t>
            </a:r>
            <a:r>
              <a:rPr lang="en-US" altLang="zh-CN" sz="1800" baseline="-25000" dirty="0"/>
              <a:t>3B</a:t>
            </a:r>
            <a:r>
              <a:rPr lang="zh-CN" altLang="zh-CN" sz="1800" dirty="0"/>
              <a:t>则采用两个电阻串联以获得需要的</a:t>
            </a:r>
            <a:r>
              <a:rPr lang="zh-CN" altLang="zh-CN" sz="1800" dirty="0" smtClean="0"/>
              <a:t>阻值</a:t>
            </a:r>
            <a:endParaRPr lang="en-US" altLang="zh-CN" sz="1800" dirty="0"/>
          </a:p>
          <a:p>
            <a:pPr indent="457200" eaLnBrk="0" hangingPunct="0">
              <a:lnSpc>
                <a:spcPct val="150000"/>
              </a:lnSpc>
            </a:pPr>
            <a:r>
              <a:rPr lang="zh-CN" altLang="en-US" sz="1800" dirty="0"/>
              <a:t>将两个滤波节的输出由</a:t>
            </a:r>
            <a:r>
              <a:rPr lang="en-US" altLang="zh-CN" sz="1800" dirty="0"/>
              <a:t>1</a:t>
            </a:r>
            <a:r>
              <a:rPr lang="zh-CN" altLang="en-US" sz="1800" dirty="0"/>
              <a:t>、</a:t>
            </a:r>
            <a:r>
              <a:rPr lang="en-US" altLang="zh-CN" sz="1800" dirty="0"/>
              <a:t>20</a:t>
            </a:r>
            <a:r>
              <a:rPr lang="zh-CN" altLang="en-US" sz="1800" dirty="0"/>
              <a:t>脚改为</a:t>
            </a:r>
            <a:r>
              <a:rPr lang="en-US" altLang="zh-CN" sz="1800" dirty="0"/>
              <a:t>3</a:t>
            </a:r>
            <a:r>
              <a:rPr lang="zh-CN" altLang="en-US" sz="1800" dirty="0"/>
              <a:t>、</a:t>
            </a:r>
            <a:r>
              <a:rPr lang="en-US" altLang="zh-CN" sz="1800" dirty="0"/>
              <a:t>18</a:t>
            </a:r>
            <a:r>
              <a:rPr lang="zh-CN" altLang="en-US" sz="1800" dirty="0"/>
              <a:t>脚，就是高通滤波器。</a:t>
            </a:r>
            <a:endParaRPr lang="en-US" altLang="zh-CN" sz="1800" dirty="0"/>
          </a:p>
          <a:p>
            <a:pPr indent="457200" eaLnBrk="0" hangingPunct="0">
              <a:lnSpc>
                <a:spcPct val="150000"/>
              </a:lnSpc>
            </a:pPr>
            <a:r>
              <a:rPr lang="zh-CN" altLang="zh-CN" sz="1800" dirty="0"/>
              <a:t>这种滤波器中的输出信号中含有时钟频率的开关噪声，</a:t>
            </a:r>
            <a:r>
              <a:rPr lang="zh-CN" altLang="zh-CN" sz="1800" dirty="0" smtClean="0"/>
              <a:t>所以</a:t>
            </a:r>
            <a:r>
              <a:rPr lang="zh-CN" altLang="en-US" sz="1800" dirty="0" smtClean="0"/>
              <a:t>开关电容滤波器后面</a:t>
            </a:r>
            <a:r>
              <a:rPr lang="zh-CN" altLang="zh-CN" sz="1800" dirty="0" smtClean="0"/>
              <a:t>增加</a:t>
            </a:r>
            <a:r>
              <a:rPr lang="zh-CN" altLang="zh-CN" sz="1800" dirty="0"/>
              <a:t>了一</a:t>
            </a:r>
            <a:r>
              <a:rPr lang="zh-CN" altLang="zh-CN" sz="1800" dirty="0" smtClean="0"/>
              <a:t>个模拟</a:t>
            </a:r>
            <a:r>
              <a:rPr lang="zh-CN" altLang="zh-CN" sz="1800" dirty="0"/>
              <a:t>低通滤波器用于滤除此噪声。考虑到开关噪声本来就较小，所以此滤波器被设计成</a:t>
            </a:r>
            <a:r>
              <a:rPr lang="en-US" altLang="zh-CN" sz="1800" dirty="0"/>
              <a:t>2</a:t>
            </a:r>
            <a:r>
              <a:rPr lang="zh-CN" altLang="zh-CN" sz="1800" dirty="0"/>
              <a:t>阶低通滤波器，其</a:t>
            </a:r>
            <a:r>
              <a:rPr lang="en-US" altLang="zh-CN" sz="1800" dirty="0"/>
              <a:t>-3dB</a:t>
            </a:r>
            <a:r>
              <a:rPr lang="zh-CN" altLang="zh-CN" sz="1800" dirty="0"/>
              <a:t>截止频率大约是</a:t>
            </a:r>
            <a:r>
              <a:rPr lang="en-US" altLang="zh-CN" sz="1800" dirty="0"/>
              <a:t>47kHz</a:t>
            </a:r>
            <a:r>
              <a:rPr lang="zh-CN" altLang="zh-CN" sz="1800" dirty="0"/>
              <a:t>，</a:t>
            </a:r>
            <a:r>
              <a:rPr lang="en-US" altLang="zh-CN" sz="1800" dirty="0"/>
              <a:t>Q</a:t>
            </a:r>
            <a:r>
              <a:rPr lang="zh-CN" altLang="zh-CN" sz="1800" dirty="0"/>
              <a:t>值大约是</a:t>
            </a:r>
            <a:r>
              <a:rPr lang="en-US" altLang="zh-CN" sz="1800" dirty="0"/>
              <a:t>0.75</a:t>
            </a:r>
            <a:r>
              <a:rPr lang="zh-CN" altLang="zh-CN" sz="1800" dirty="0"/>
              <a:t>。如果需要更低的开关噪声，也可以将它设计成高阶的滤波器。</a:t>
            </a:r>
            <a:endParaRPr lang="en-US" altLang="zh-CN" sz="1800" dirty="0"/>
          </a:p>
          <a:p>
            <a:pPr indent="457200" eaLnBrk="0" hangingPunct="0">
              <a:lnSpc>
                <a:spcPct val="150000"/>
              </a:lnSpc>
            </a:pPr>
            <a:r>
              <a:rPr lang="en-US" altLang="zh-CN" sz="1800" dirty="0"/>
              <a:t>MF10</a:t>
            </a:r>
            <a:r>
              <a:rPr lang="zh-CN" altLang="en-US" sz="1800" dirty="0"/>
              <a:t>与其后的模拟滤波器均采用</a:t>
            </a:r>
            <a:r>
              <a:rPr lang="en-US" altLang="zh-CN" sz="1800" dirty="0"/>
              <a:t>±6V</a:t>
            </a:r>
            <a:r>
              <a:rPr lang="zh-CN" altLang="en-US" sz="1800" dirty="0"/>
              <a:t>电源。其设计考虑是：一方面与前面的</a:t>
            </a:r>
            <a:r>
              <a:rPr lang="en-US" altLang="zh-CN" sz="1800" dirty="0"/>
              <a:t>AGC</a:t>
            </a:r>
            <a:r>
              <a:rPr lang="zh-CN" altLang="en-US" sz="1800" dirty="0"/>
              <a:t>放大器采用相同电源，可以减少电源种类。另一方面，</a:t>
            </a:r>
            <a:r>
              <a:rPr lang="en-US" altLang="zh-CN" sz="1800" dirty="0"/>
              <a:t>MF10</a:t>
            </a:r>
            <a:r>
              <a:rPr lang="zh-CN" altLang="en-US" sz="1800" dirty="0"/>
              <a:t>的输出动态范围大致上比电源电压小</a:t>
            </a:r>
            <a:r>
              <a:rPr lang="en-US" altLang="zh-CN" sz="1800" dirty="0"/>
              <a:t>1.2V</a:t>
            </a:r>
            <a:r>
              <a:rPr lang="zh-CN" altLang="en-US" sz="1800" dirty="0"/>
              <a:t>，选用</a:t>
            </a:r>
            <a:r>
              <a:rPr lang="en-US" altLang="zh-CN" sz="1800" dirty="0"/>
              <a:t>6V</a:t>
            </a:r>
            <a:r>
              <a:rPr lang="zh-CN" altLang="en-US" sz="1800" dirty="0"/>
              <a:t>电源可以满足输出动态范围的要求。</a:t>
            </a:r>
            <a:endParaRPr lang="en-US" altLang="zh-CN" sz="1800" dirty="0"/>
          </a:p>
          <a:p>
            <a:pPr indent="457200" eaLnBrk="0" hangingPunct="0">
              <a:lnSpc>
                <a:spcPct val="150000"/>
              </a:lnSpc>
            </a:pPr>
            <a:r>
              <a:rPr lang="zh-CN" altLang="zh-CN" sz="1800" dirty="0" smtClean="0"/>
              <a:t>注意，</a:t>
            </a:r>
            <a:r>
              <a:rPr lang="en-US" altLang="zh-CN" sz="1800" dirty="0"/>
              <a:t>MF10</a:t>
            </a:r>
            <a:r>
              <a:rPr lang="zh-CN" altLang="zh-CN" sz="1800" dirty="0"/>
              <a:t>的负载能力不是很强</a:t>
            </a:r>
            <a:r>
              <a:rPr lang="zh-CN" altLang="zh-CN" sz="1800" dirty="0" smtClean="0"/>
              <a:t>（</a:t>
            </a:r>
            <a:r>
              <a:rPr lang="zh-CN" altLang="en-US" sz="1800" dirty="0" smtClean="0"/>
              <a:t>负载电阻</a:t>
            </a:r>
            <a:r>
              <a:rPr lang="zh-CN" altLang="zh-CN" sz="1800" dirty="0" smtClean="0"/>
              <a:t>小于</a:t>
            </a:r>
            <a:r>
              <a:rPr lang="en-US" altLang="zh-CN" sz="1800" dirty="0"/>
              <a:t>5 </a:t>
            </a:r>
            <a:r>
              <a:rPr lang="en-US" altLang="zh-CN" sz="1800" dirty="0" err="1"/>
              <a:t>kΩ</a:t>
            </a:r>
            <a:r>
              <a:rPr lang="zh-CN" altLang="zh-CN" sz="1800" dirty="0"/>
              <a:t>后其输出动态范围将明显缩减），所以</a:t>
            </a:r>
            <a:r>
              <a:rPr lang="zh-CN" altLang="en-US" sz="1800" dirty="0"/>
              <a:t>其后续</a:t>
            </a:r>
            <a:r>
              <a:rPr lang="zh-CN" altLang="en-US" sz="1800" dirty="0" smtClean="0"/>
              <a:t>的噪声</a:t>
            </a:r>
            <a:r>
              <a:rPr lang="zh-CN" altLang="zh-CN" sz="1800" dirty="0" smtClean="0"/>
              <a:t>滤波器</a:t>
            </a:r>
            <a:r>
              <a:rPr lang="zh-CN" altLang="zh-CN" sz="1800" dirty="0"/>
              <a:t>的输入电阻不能太小</a:t>
            </a:r>
            <a:r>
              <a:rPr lang="zh-CN" altLang="en-US" sz="1800" dirty="0"/>
              <a:t>。</a:t>
            </a:r>
            <a:r>
              <a:rPr lang="zh-CN" altLang="zh-CN" sz="1800" dirty="0"/>
              <a:t>图中电路的输入电阻不会小于</a:t>
            </a:r>
            <a:r>
              <a:rPr lang="en-US" altLang="zh-CN" sz="1800" dirty="0"/>
              <a:t>7.5kΩ</a:t>
            </a:r>
            <a:r>
              <a:rPr lang="zh-CN" altLang="zh-CN" sz="1800" dirty="0"/>
              <a:t>，对</a:t>
            </a:r>
            <a:r>
              <a:rPr lang="en-US" altLang="zh-CN" sz="1800" dirty="0"/>
              <a:t>MF10</a:t>
            </a:r>
            <a:r>
              <a:rPr lang="zh-CN" altLang="zh-CN" sz="1800" dirty="0"/>
              <a:t>的输出动态范围的影响基本忽略。</a:t>
            </a:r>
          </a:p>
        </p:txBody>
      </p:sp>
      <p:graphicFrame>
        <p:nvGraphicFramePr>
          <p:cNvPr id="6" name="对象 5"/>
          <p:cNvGraphicFramePr>
            <a:graphicFrameLocks noChangeAspect="1"/>
          </p:cNvGraphicFramePr>
          <p:nvPr>
            <p:extLst>
              <p:ext uri="{D42A27DB-BD31-4B8C-83A1-F6EECF244321}">
                <p14:modId xmlns:p14="http://schemas.microsoft.com/office/powerpoint/2010/main" val="4264455966"/>
              </p:ext>
            </p:extLst>
          </p:nvPr>
        </p:nvGraphicFramePr>
        <p:xfrm>
          <a:off x="6195333" y="563686"/>
          <a:ext cx="4648200" cy="776287"/>
        </p:xfrm>
        <a:graphic>
          <a:graphicData uri="http://schemas.openxmlformats.org/presentationml/2006/ole">
            <mc:AlternateContent xmlns:mc="http://schemas.openxmlformats.org/markup-compatibility/2006">
              <mc:Choice xmlns:v="urn:schemas-microsoft-com:vml" Requires="v">
                <p:oleObj spid="_x0000_s30741" name="Equation" r:id="rId3" imgW="2577960" imgH="431640" progId="Equation.DSMT4">
                  <p:embed/>
                </p:oleObj>
              </mc:Choice>
              <mc:Fallback>
                <p:oleObj name="Equation" r:id="rId3" imgW="2577960" imgH="431640" progId="Equation.DSMT4">
                  <p:embed/>
                  <p:pic>
                    <p:nvPicPr>
                      <p:cNvPr id="9" name="对象 8"/>
                      <p:cNvPicPr>
                        <a:picLocks noChangeAspect="1" noChangeArrowheads="1"/>
                      </p:cNvPicPr>
                      <p:nvPr/>
                    </p:nvPicPr>
                    <p:blipFill>
                      <a:blip r:embed="rId4"/>
                      <a:srcRect/>
                      <a:stretch>
                        <a:fillRect/>
                      </a:stretch>
                    </p:blipFill>
                    <p:spPr bwMode="auto">
                      <a:xfrm>
                        <a:off x="6195333" y="563686"/>
                        <a:ext cx="4648200" cy="776287"/>
                      </a:xfrm>
                      <a:prstGeom prst="rect">
                        <a:avLst/>
                      </a:prstGeom>
                      <a:noFill/>
                    </p:spPr>
                  </p:pic>
                </p:oleObj>
              </mc:Fallback>
            </mc:AlternateContent>
          </a:graphicData>
        </a:graphic>
      </p:graphicFrame>
      <p:sp>
        <p:nvSpPr>
          <p:cNvPr id="8" name="Rectangle 4"/>
          <p:cNvSpPr>
            <a:spLocks noChangeArrowheads="1"/>
          </p:cNvSpPr>
          <p:nvPr/>
        </p:nvSpPr>
        <p:spPr bwMode="auto">
          <a:xfrm>
            <a:off x="863601" y="746389"/>
            <a:ext cx="8269287" cy="41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hangingPunct="0">
              <a:lnSpc>
                <a:spcPct val="115000"/>
              </a:lnSpc>
              <a:spcAft>
                <a:spcPts val="0"/>
              </a:spcAft>
            </a:pPr>
            <a:r>
              <a:rPr lang="zh-CN" altLang="zh-CN" sz="1800" dirty="0" smtClean="0"/>
              <a:t>此</a:t>
            </a:r>
            <a:r>
              <a:rPr lang="zh-CN" altLang="zh-CN" sz="1800" dirty="0"/>
              <a:t>滤波器的</a:t>
            </a:r>
            <a:r>
              <a:rPr lang="en-US" altLang="zh-CN" sz="1800" dirty="0"/>
              <a:t>-3dB</a:t>
            </a:r>
            <a:r>
              <a:rPr lang="zh-CN" altLang="en-US" sz="1800" dirty="0" smtClean="0"/>
              <a:t>截止频率、</a:t>
            </a:r>
            <a:r>
              <a:rPr lang="en-US" altLang="zh-CN" sz="1800" dirty="0"/>
              <a:t>Q</a:t>
            </a:r>
            <a:r>
              <a:rPr lang="zh-CN" altLang="en-US" sz="1800" dirty="0"/>
              <a:t>值、以及通带</a:t>
            </a:r>
            <a:r>
              <a:rPr lang="zh-CN" altLang="en-US" sz="1800" dirty="0" smtClean="0"/>
              <a:t>增益为：</a:t>
            </a:r>
            <a:endParaRPr lang="zh-CN" altLang="en-US" sz="1800" dirty="0"/>
          </a:p>
        </p:txBody>
      </p:sp>
    </p:spTree>
    <p:extLst>
      <p:ext uri="{BB962C8B-B14F-4D97-AF65-F5344CB8AC3E}">
        <p14:creationId xmlns:p14="http://schemas.microsoft.com/office/powerpoint/2010/main" val="6981421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4027303358"/>
              </p:ext>
            </p:extLst>
          </p:nvPr>
        </p:nvGraphicFramePr>
        <p:xfrm>
          <a:off x="2515817" y="1666242"/>
          <a:ext cx="7153487" cy="786288"/>
        </p:xfrm>
        <a:graphic>
          <a:graphicData uri="http://schemas.openxmlformats.org/drawingml/2006/table">
            <a:tbl>
              <a:tblPr firstRow="1" firstCol="1" bandRow="1">
                <a:tableStyleId>{5C22544A-7EE6-4342-B048-85BDC9FD1C3A}</a:tableStyleId>
              </a:tblPr>
              <a:tblGrid>
                <a:gridCol w="1894267">
                  <a:extLst>
                    <a:ext uri="{9D8B030D-6E8A-4147-A177-3AD203B41FA5}">
                      <a16:colId xmlns:a16="http://schemas.microsoft.com/office/drawing/2014/main" val="453289302"/>
                    </a:ext>
                  </a:extLst>
                </a:gridCol>
                <a:gridCol w="730705">
                  <a:extLst>
                    <a:ext uri="{9D8B030D-6E8A-4147-A177-3AD203B41FA5}">
                      <a16:colId xmlns:a16="http://schemas.microsoft.com/office/drawing/2014/main" val="1157590514"/>
                    </a:ext>
                  </a:extLst>
                </a:gridCol>
                <a:gridCol w="730705">
                  <a:extLst>
                    <a:ext uri="{9D8B030D-6E8A-4147-A177-3AD203B41FA5}">
                      <a16:colId xmlns:a16="http://schemas.microsoft.com/office/drawing/2014/main" val="2056619964"/>
                    </a:ext>
                  </a:extLst>
                </a:gridCol>
                <a:gridCol w="729674">
                  <a:extLst>
                    <a:ext uri="{9D8B030D-6E8A-4147-A177-3AD203B41FA5}">
                      <a16:colId xmlns:a16="http://schemas.microsoft.com/office/drawing/2014/main" val="2223127701"/>
                    </a:ext>
                  </a:extLst>
                </a:gridCol>
                <a:gridCol w="730705">
                  <a:extLst>
                    <a:ext uri="{9D8B030D-6E8A-4147-A177-3AD203B41FA5}">
                      <a16:colId xmlns:a16="http://schemas.microsoft.com/office/drawing/2014/main" val="154980637"/>
                    </a:ext>
                  </a:extLst>
                </a:gridCol>
                <a:gridCol w="730705">
                  <a:extLst>
                    <a:ext uri="{9D8B030D-6E8A-4147-A177-3AD203B41FA5}">
                      <a16:colId xmlns:a16="http://schemas.microsoft.com/office/drawing/2014/main" val="1271003506"/>
                    </a:ext>
                  </a:extLst>
                </a:gridCol>
                <a:gridCol w="730705">
                  <a:extLst>
                    <a:ext uri="{9D8B030D-6E8A-4147-A177-3AD203B41FA5}">
                      <a16:colId xmlns:a16="http://schemas.microsoft.com/office/drawing/2014/main" val="1701827661"/>
                    </a:ext>
                  </a:extLst>
                </a:gridCol>
                <a:gridCol w="876021">
                  <a:extLst>
                    <a:ext uri="{9D8B030D-6E8A-4147-A177-3AD203B41FA5}">
                      <a16:colId xmlns:a16="http://schemas.microsoft.com/office/drawing/2014/main" val="1011532686"/>
                    </a:ext>
                  </a:extLst>
                </a:gridCol>
              </a:tblGrid>
              <a:tr h="393144">
                <a:tc>
                  <a:txBody>
                    <a:bodyPr/>
                    <a:lstStyle/>
                    <a:p>
                      <a:pPr algn="ctr">
                        <a:lnSpc>
                          <a:spcPct val="115000"/>
                        </a:lnSpc>
                        <a:spcAft>
                          <a:spcPts val="0"/>
                        </a:spcAft>
                      </a:pPr>
                      <a:r>
                        <a:rPr lang="zh-CN" sz="1800" kern="100" dirty="0">
                          <a:effectLst/>
                        </a:rPr>
                        <a:t>信号频率（</a:t>
                      </a:r>
                      <a:r>
                        <a:rPr lang="en-US" sz="1800" kern="100" dirty="0">
                          <a:effectLst/>
                        </a:rPr>
                        <a:t>Hz</a:t>
                      </a:r>
                      <a:r>
                        <a:rPr lang="zh-CN"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4k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92917933"/>
                  </a:ext>
                </a:extLst>
              </a:tr>
              <a:tr h="393144">
                <a:tc>
                  <a:txBody>
                    <a:bodyPr/>
                    <a:lstStyle/>
                    <a:p>
                      <a:pPr algn="ctr">
                        <a:lnSpc>
                          <a:spcPct val="115000"/>
                        </a:lnSpc>
                        <a:spcAft>
                          <a:spcPts val="0"/>
                        </a:spcAft>
                      </a:pPr>
                      <a:r>
                        <a:rPr lang="zh-CN" sz="1800" kern="100">
                          <a:effectLst/>
                        </a:rPr>
                        <a:t>输出幅度（</a:t>
                      </a:r>
                      <a:r>
                        <a:rPr lang="en-US" sz="1800" kern="100">
                          <a:effectLst/>
                        </a:rPr>
                        <a:t>V</a:t>
                      </a:r>
                      <a:r>
                        <a:rPr lang="zh-CN" sz="1800" kern="10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1.05</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0.74</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0.066</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0.005*</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44368162"/>
                  </a:ext>
                </a:extLst>
              </a:tr>
            </a:tbl>
          </a:graphicData>
        </a:graphic>
      </p:graphicFrame>
      <p:sp>
        <p:nvSpPr>
          <p:cNvPr id="6" name="Rectangle 1"/>
          <p:cNvSpPr>
            <a:spLocks noChangeArrowheads="1"/>
          </p:cNvSpPr>
          <p:nvPr/>
        </p:nvSpPr>
        <p:spPr bwMode="auto">
          <a:xfrm>
            <a:off x="526331" y="499975"/>
            <a:ext cx="11132458" cy="5401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en-US" sz="1800" dirty="0">
                <a:latin typeface="Arial" charset="0"/>
              </a:rPr>
              <a:t>低通滤波器的</a:t>
            </a:r>
            <a:r>
              <a:rPr lang="zh-CN" altLang="zh-CN" sz="1800" dirty="0">
                <a:latin typeface="Arial" charset="0"/>
              </a:rPr>
              <a:t>测试结果</a:t>
            </a:r>
            <a:endParaRPr lang="en-US" altLang="zh-CN" sz="1800" dirty="0">
              <a:latin typeface="Arial" charset="0"/>
            </a:endParaRPr>
          </a:p>
          <a:p>
            <a:pPr indent="457200">
              <a:lnSpc>
                <a:spcPct val="150000"/>
              </a:lnSpc>
            </a:pPr>
            <a:r>
              <a:rPr lang="zh-CN" altLang="zh-CN" sz="1800" dirty="0">
                <a:latin typeface="Arial" charset="0"/>
              </a:rPr>
              <a:t>测试条件：输入信号幅度有效值</a:t>
            </a:r>
            <a:r>
              <a:rPr lang="en-US" altLang="zh-CN" sz="1800" dirty="0">
                <a:latin typeface="Arial" charset="0"/>
              </a:rPr>
              <a:t>1V</a:t>
            </a:r>
            <a:r>
              <a:rPr lang="zh-CN" altLang="en-US" sz="1800" dirty="0">
                <a:latin typeface="Arial" charset="0"/>
              </a:rPr>
              <a:t>，时钟信号频率</a:t>
            </a:r>
            <a:r>
              <a:rPr lang="en-US" altLang="zh-CN" sz="1800" dirty="0">
                <a:latin typeface="Arial" charset="0"/>
              </a:rPr>
              <a:t>200kHz</a:t>
            </a:r>
            <a:r>
              <a:rPr lang="zh-CN" altLang="en-US" sz="1800" dirty="0">
                <a:latin typeface="Arial" charset="0"/>
              </a:rPr>
              <a:t>。</a:t>
            </a: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zh-CN" altLang="en-US" sz="1800" dirty="0">
              <a:latin typeface="Arial" charset="0"/>
            </a:endParaRPr>
          </a:p>
          <a:p>
            <a:pPr indent="457200">
              <a:lnSpc>
                <a:spcPct val="150000"/>
              </a:lnSpc>
            </a:pPr>
            <a:r>
              <a:rPr lang="zh-CN" altLang="en-US" sz="1400" dirty="0">
                <a:latin typeface="Arial" charset="0"/>
              </a:rPr>
              <a:t>               </a:t>
            </a:r>
            <a:r>
              <a:rPr lang="en-US" altLang="zh-CN" sz="1400" dirty="0" smtClean="0">
                <a:latin typeface="Arial" charset="0"/>
              </a:rPr>
              <a:t>	</a:t>
            </a:r>
            <a:r>
              <a:rPr lang="zh-CN" altLang="en-US" sz="1400" dirty="0" smtClean="0">
                <a:latin typeface="Arial" charset="0"/>
              </a:rPr>
              <a:t>*</a:t>
            </a:r>
            <a:r>
              <a:rPr lang="zh-CN" altLang="en-US" sz="1400" dirty="0">
                <a:latin typeface="Arial" charset="0"/>
              </a:rPr>
              <a:t>信噪比很差，该数据误差较大</a:t>
            </a:r>
            <a:endParaRPr lang="zh-CN" altLang="en-US" sz="1800" dirty="0">
              <a:latin typeface="Arial" charset="0"/>
            </a:endParaRPr>
          </a:p>
          <a:p>
            <a:pPr indent="457200">
              <a:lnSpc>
                <a:spcPct val="150000"/>
              </a:lnSpc>
            </a:pPr>
            <a:endParaRPr lang="en-US" altLang="zh-CN" sz="1800" dirty="0" smtClean="0">
              <a:latin typeface="Arial" charset="0"/>
            </a:endParaRPr>
          </a:p>
          <a:p>
            <a:pPr indent="457200">
              <a:lnSpc>
                <a:spcPct val="150000"/>
              </a:lnSpc>
            </a:pPr>
            <a:r>
              <a:rPr lang="zh-CN" altLang="en-US" sz="1800" dirty="0" smtClean="0">
                <a:latin typeface="Arial" charset="0"/>
              </a:rPr>
              <a:t>以</a:t>
            </a:r>
            <a:r>
              <a:rPr lang="en-US" altLang="zh-CN" sz="1800" dirty="0">
                <a:latin typeface="Arial" charset="0"/>
              </a:rPr>
              <a:t>100Hz</a:t>
            </a:r>
            <a:r>
              <a:rPr lang="zh-CN" altLang="en-US" sz="1800" dirty="0">
                <a:latin typeface="Arial" charset="0"/>
              </a:rPr>
              <a:t>的输出幅度</a:t>
            </a:r>
            <a:r>
              <a:rPr lang="en-US" altLang="zh-CN" sz="1800" dirty="0">
                <a:latin typeface="Arial" charset="0"/>
              </a:rPr>
              <a:t>1.06V</a:t>
            </a:r>
            <a:r>
              <a:rPr lang="zh-CN" altLang="en-US" sz="1800" dirty="0">
                <a:latin typeface="Arial" charset="0"/>
              </a:rPr>
              <a:t>作为基准，</a:t>
            </a:r>
            <a:r>
              <a:rPr lang="en-US" altLang="zh-CN" sz="1800" dirty="0">
                <a:latin typeface="Arial" charset="0"/>
              </a:rPr>
              <a:t>-3dB</a:t>
            </a:r>
            <a:r>
              <a:rPr lang="zh-CN" altLang="en-US" sz="1800" dirty="0">
                <a:latin typeface="Arial" charset="0"/>
              </a:rPr>
              <a:t>的幅度应该是</a:t>
            </a:r>
            <a:r>
              <a:rPr lang="en-US" altLang="zh-CN" sz="1800" dirty="0">
                <a:latin typeface="Arial" charset="0"/>
              </a:rPr>
              <a:t>0.749V</a:t>
            </a:r>
            <a:r>
              <a:rPr lang="zh-CN" altLang="en-US" sz="1800" dirty="0">
                <a:latin typeface="Arial" charset="0"/>
              </a:rPr>
              <a:t>，在预设的截止频率点</a:t>
            </a:r>
            <a:r>
              <a:rPr lang="en-US" altLang="zh-CN" sz="1800" dirty="0">
                <a:latin typeface="Arial" charset="0"/>
              </a:rPr>
              <a:t>2kHz</a:t>
            </a:r>
            <a:r>
              <a:rPr lang="zh-CN" altLang="en-US" sz="1800" dirty="0">
                <a:latin typeface="Arial" charset="0"/>
              </a:rPr>
              <a:t>测得的幅度为</a:t>
            </a:r>
            <a:r>
              <a:rPr lang="en-US" altLang="zh-CN" sz="1800" dirty="0">
                <a:latin typeface="Arial" charset="0"/>
              </a:rPr>
              <a:t>0.74V</a:t>
            </a:r>
            <a:r>
              <a:rPr lang="zh-CN" altLang="en-US" sz="1800" dirty="0">
                <a:latin typeface="Arial" charset="0"/>
              </a:rPr>
              <a:t>，基本上可以认为完全符合设计。实际上经过仔细测试，准确的</a:t>
            </a:r>
            <a:r>
              <a:rPr lang="en-US" altLang="zh-CN" sz="1800" dirty="0">
                <a:latin typeface="Arial" charset="0"/>
              </a:rPr>
              <a:t>-3dB</a:t>
            </a:r>
            <a:r>
              <a:rPr lang="zh-CN" altLang="en-US" sz="1800" dirty="0">
                <a:latin typeface="Arial" charset="0"/>
              </a:rPr>
              <a:t>频率为</a:t>
            </a:r>
            <a:r>
              <a:rPr lang="en-US" altLang="zh-CN" sz="1800" dirty="0">
                <a:latin typeface="Arial" charset="0"/>
              </a:rPr>
              <a:t>1987Hz</a:t>
            </a:r>
            <a:r>
              <a:rPr lang="zh-CN" altLang="en-US" sz="1800" dirty="0">
                <a:latin typeface="Arial" charset="0"/>
              </a:rPr>
              <a:t>，与设计值的误差仅为</a:t>
            </a:r>
            <a:r>
              <a:rPr lang="en-US" altLang="zh-CN" sz="1800" dirty="0">
                <a:latin typeface="Arial" charset="0"/>
              </a:rPr>
              <a:t>0.65%</a:t>
            </a:r>
            <a:r>
              <a:rPr lang="zh-CN" altLang="en-US" sz="1800" dirty="0">
                <a:latin typeface="Arial" charset="0"/>
              </a:rPr>
              <a:t>，这个误差符合笔者使用的</a:t>
            </a:r>
            <a:r>
              <a:rPr lang="en-US" altLang="zh-CN" sz="1800" dirty="0">
                <a:latin typeface="Arial" charset="0"/>
              </a:rPr>
              <a:t>MF10A</a:t>
            </a:r>
            <a:r>
              <a:rPr lang="zh-CN" altLang="en-US" sz="1800" dirty="0">
                <a:latin typeface="Arial" charset="0"/>
              </a:rPr>
              <a:t>芯片的参数</a:t>
            </a:r>
            <a:r>
              <a:rPr lang="zh-CN" altLang="en-US" sz="1800" dirty="0" smtClean="0">
                <a:latin typeface="Arial" charset="0"/>
              </a:rPr>
              <a:t>标准，也完全满足题目的精度要求（前面已经分析，实际截止频率与理论值的相对误差不得大于</a:t>
            </a:r>
            <a:r>
              <a:rPr lang="en-US" altLang="zh-CN" sz="1800" dirty="0" smtClean="0">
                <a:latin typeface="Arial" charset="0"/>
              </a:rPr>
              <a:t>5%</a:t>
            </a:r>
            <a:r>
              <a:rPr lang="zh-CN" altLang="en-US" sz="1800" dirty="0" smtClean="0">
                <a:latin typeface="Arial" charset="0"/>
              </a:rPr>
              <a:t>）。</a:t>
            </a:r>
            <a:endParaRPr lang="zh-CN" altLang="en-US" sz="1800" dirty="0">
              <a:latin typeface="Arial" charset="0"/>
            </a:endParaRPr>
          </a:p>
          <a:p>
            <a:pPr indent="457200">
              <a:lnSpc>
                <a:spcPct val="150000"/>
              </a:lnSpc>
            </a:pPr>
            <a:r>
              <a:rPr lang="zh-CN" altLang="en-US" sz="1800" dirty="0">
                <a:latin typeface="Arial" charset="0"/>
              </a:rPr>
              <a:t>笔者还对此滤波器进行了改变截止频率的测试。当改变时钟频率为</a:t>
            </a:r>
            <a:r>
              <a:rPr lang="en-US" altLang="zh-CN" sz="1800" dirty="0">
                <a:latin typeface="Arial" charset="0"/>
              </a:rPr>
              <a:t>100kHz</a:t>
            </a:r>
            <a:r>
              <a:rPr lang="zh-CN" altLang="en-US" sz="1800" dirty="0">
                <a:latin typeface="Arial" charset="0"/>
              </a:rPr>
              <a:t>与</a:t>
            </a:r>
            <a:r>
              <a:rPr lang="en-US" altLang="zh-CN" sz="1800" dirty="0">
                <a:latin typeface="Arial" charset="0"/>
              </a:rPr>
              <a:t>400kHz</a:t>
            </a:r>
            <a:r>
              <a:rPr lang="zh-CN" altLang="en-US" sz="1800" dirty="0">
                <a:latin typeface="Arial" charset="0"/>
              </a:rPr>
              <a:t>后，所测的结果与上述时钟频率</a:t>
            </a:r>
            <a:r>
              <a:rPr lang="en-US" altLang="zh-CN" sz="1800" dirty="0">
                <a:latin typeface="Arial" charset="0"/>
              </a:rPr>
              <a:t>200kHz</a:t>
            </a:r>
            <a:r>
              <a:rPr lang="zh-CN" altLang="en-US" sz="1800" dirty="0">
                <a:latin typeface="Arial" charset="0"/>
              </a:rPr>
              <a:t>的完全相仿。</a:t>
            </a:r>
          </a:p>
        </p:txBody>
      </p:sp>
    </p:spTree>
    <p:extLst>
      <p:ext uri="{BB962C8B-B14F-4D97-AF65-F5344CB8AC3E}">
        <p14:creationId xmlns:p14="http://schemas.microsoft.com/office/powerpoint/2010/main" val="4073218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3354350276"/>
              </p:ext>
            </p:extLst>
          </p:nvPr>
        </p:nvGraphicFramePr>
        <p:xfrm>
          <a:off x="2323256" y="1752222"/>
          <a:ext cx="7403255" cy="936354"/>
        </p:xfrm>
        <a:graphic>
          <a:graphicData uri="http://schemas.openxmlformats.org/drawingml/2006/table">
            <a:tbl>
              <a:tblPr firstRow="1" firstCol="1" bandRow="1">
                <a:tableStyleId>{5C22544A-7EE6-4342-B048-85BDC9FD1C3A}</a:tableStyleId>
              </a:tblPr>
              <a:tblGrid>
                <a:gridCol w="1781385">
                  <a:extLst>
                    <a:ext uri="{9D8B030D-6E8A-4147-A177-3AD203B41FA5}">
                      <a16:colId xmlns:a16="http://schemas.microsoft.com/office/drawing/2014/main" val="110215734"/>
                    </a:ext>
                  </a:extLst>
                </a:gridCol>
                <a:gridCol w="935239">
                  <a:extLst>
                    <a:ext uri="{9D8B030D-6E8A-4147-A177-3AD203B41FA5}">
                      <a16:colId xmlns:a16="http://schemas.microsoft.com/office/drawing/2014/main" val="3238265353"/>
                    </a:ext>
                  </a:extLst>
                </a:gridCol>
                <a:gridCol w="756218">
                  <a:extLst>
                    <a:ext uri="{9D8B030D-6E8A-4147-A177-3AD203B41FA5}">
                      <a16:colId xmlns:a16="http://schemas.microsoft.com/office/drawing/2014/main" val="2202424587"/>
                    </a:ext>
                  </a:extLst>
                </a:gridCol>
                <a:gridCol w="755152">
                  <a:extLst>
                    <a:ext uri="{9D8B030D-6E8A-4147-A177-3AD203B41FA5}">
                      <a16:colId xmlns:a16="http://schemas.microsoft.com/office/drawing/2014/main" val="1427590904"/>
                    </a:ext>
                  </a:extLst>
                </a:gridCol>
                <a:gridCol w="756218">
                  <a:extLst>
                    <a:ext uri="{9D8B030D-6E8A-4147-A177-3AD203B41FA5}">
                      <a16:colId xmlns:a16="http://schemas.microsoft.com/office/drawing/2014/main" val="507706896"/>
                    </a:ext>
                  </a:extLst>
                </a:gridCol>
                <a:gridCol w="756218">
                  <a:extLst>
                    <a:ext uri="{9D8B030D-6E8A-4147-A177-3AD203B41FA5}">
                      <a16:colId xmlns:a16="http://schemas.microsoft.com/office/drawing/2014/main" val="2163006563"/>
                    </a:ext>
                  </a:extLst>
                </a:gridCol>
                <a:gridCol w="756218">
                  <a:extLst>
                    <a:ext uri="{9D8B030D-6E8A-4147-A177-3AD203B41FA5}">
                      <a16:colId xmlns:a16="http://schemas.microsoft.com/office/drawing/2014/main" val="2478194255"/>
                    </a:ext>
                  </a:extLst>
                </a:gridCol>
                <a:gridCol w="906607">
                  <a:extLst>
                    <a:ext uri="{9D8B030D-6E8A-4147-A177-3AD203B41FA5}">
                      <a16:colId xmlns:a16="http://schemas.microsoft.com/office/drawing/2014/main" val="3456867074"/>
                    </a:ext>
                  </a:extLst>
                </a:gridCol>
              </a:tblGrid>
              <a:tr h="449111">
                <a:tc>
                  <a:txBody>
                    <a:bodyPr/>
                    <a:lstStyle/>
                    <a:p>
                      <a:pPr algn="ctr">
                        <a:lnSpc>
                          <a:spcPct val="115000"/>
                        </a:lnSpc>
                        <a:spcAft>
                          <a:spcPts val="0"/>
                        </a:spcAft>
                      </a:pPr>
                      <a:r>
                        <a:rPr lang="zh-CN" sz="1800" kern="100">
                          <a:effectLst/>
                        </a:rPr>
                        <a:t>信号频率（</a:t>
                      </a:r>
                      <a:r>
                        <a:rPr lang="en-US" sz="1800" kern="100">
                          <a:effectLst/>
                        </a:rPr>
                        <a:t>Hz</a:t>
                      </a:r>
                      <a:r>
                        <a:rPr lang="zh-CN" sz="1800" kern="100">
                          <a:effectLst/>
                        </a:rPr>
                        <a:t>）</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20k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50k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53261396"/>
                  </a:ext>
                </a:extLst>
              </a:tr>
              <a:tr h="487243">
                <a:tc>
                  <a:txBody>
                    <a:bodyPr/>
                    <a:lstStyle/>
                    <a:p>
                      <a:pPr algn="ctr">
                        <a:lnSpc>
                          <a:spcPct val="115000"/>
                        </a:lnSpc>
                        <a:spcAft>
                          <a:spcPts val="0"/>
                        </a:spcAft>
                      </a:pPr>
                      <a:r>
                        <a:rPr lang="zh-CN" sz="1800" kern="100" dirty="0">
                          <a:effectLst/>
                        </a:rPr>
                        <a:t>输出幅度（</a:t>
                      </a:r>
                      <a:r>
                        <a:rPr lang="en-US" sz="1800" kern="100" dirty="0">
                          <a:effectLst/>
                        </a:rPr>
                        <a:t>V</a:t>
                      </a:r>
                      <a:r>
                        <a:rPr lang="zh-CN" sz="1800" kern="100" dirty="0">
                          <a:effectLst/>
                        </a:rPr>
                        <a:t>）</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0.008*</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0.068</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0.703</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1.00</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1.01</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a:effectLst/>
                        </a:rPr>
                        <a:t>0.99</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800" kern="100" dirty="0">
                          <a:effectLst/>
                        </a:rPr>
                        <a:t>0.73</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830052965"/>
                  </a:ext>
                </a:extLst>
              </a:tr>
            </a:tbl>
          </a:graphicData>
        </a:graphic>
      </p:graphicFrame>
      <p:sp>
        <p:nvSpPr>
          <p:cNvPr id="6" name="Rectangle 1"/>
          <p:cNvSpPr>
            <a:spLocks noChangeArrowheads="1"/>
          </p:cNvSpPr>
          <p:nvPr/>
        </p:nvSpPr>
        <p:spPr bwMode="auto">
          <a:xfrm>
            <a:off x="476797" y="578678"/>
            <a:ext cx="11096172"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50000"/>
              </a:lnSpc>
            </a:pPr>
            <a:r>
              <a:rPr lang="zh-CN" altLang="zh-CN" sz="1800" dirty="0">
                <a:latin typeface="Arial" charset="0"/>
              </a:rPr>
              <a:t>高通滤波器</a:t>
            </a:r>
            <a:r>
              <a:rPr lang="zh-CN" altLang="en-US" sz="1800" dirty="0">
                <a:latin typeface="Arial" charset="0"/>
              </a:rPr>
              <a:t>的</a:t>
            </a:r>
            <a:r>
              <a:rPr lang="zh-CN" altLang="zh-CN" sz="1800" dirty="0">
                <a:latin typeface="Arial" charset="0"/>
              </a:rPr>
              <a:t>测试</a:t>
            </a:r>
            <a:r>
              <a:rPr lang="zh-CN" altLang="en-US" sz="1800" dirty="0">
                <a:latin typeface="Arial" charset="0"/>
              </a:rPr>
              <a:t>结果</a:t>
            </a:r>
            <a:endParaRPr lang="en-US" altLang="zh-CN" sz="1800" dirty="0">
              <a:latin typeface="Arial" charset="0"/>
            </a:endParaRPr>
          </a:p>
          <a:p>
            <a:pPr indent="457200">
              <a:lnSpc>
                <a:spcPct val="150000"/>
              </a:lnSpc>
            </a:pPr>
            <a:r>
              <a:rPr lang="zh-CN" altLang="zh-CN" sz="1800" dirty="0">
                <a:latin typeface="Arial" charset="0"/>
              </a:rPr>
              <a:t>测试条件与低通滤波器的相同：输入信号幅度有效值</a:t>
            </a:r>
            <a:r>
              <a:rPr lang="en-US" altLang="zh-CN" sz="1800" dirty="0">
                <a:latin typeface="Arial" charset="0"/>
              </a:rPr>
              <a:t>1V</a:t>
            </a:r>
            <a:r>
              <a:rPr lang="zh-CN" altLang="en-US" sz="1800" dirty="0">
                <a:latin typeface="Arial" charset="0"/>
              </a:rPr>
              <a:t>，时钟信号频率</a:t>
            </a:r>
            <a:r>
              <a:rPr lang="en-US" altLang="zh-CN" sz="1800" dirty="0">
                <a:latin typeface="Arial" charset="0"/>
              </a:rPr>
              <a:t>200kHz</a:t>
            </a:r>
            <a:r>
              <a:rPr lang="zh-CN" altLang="en-US" sz="1800" dirty="0">
                <a:latin typeface="Arial" charset="0"/>
              </a:rPr>
              <a:t>。</a:t>
            </a:r>
            <a:endParaRPr lang="en-US" altLang="zh-CN" sz="1800" dirty="0">
              <a:latin typeface="Arial" charset="0"/>
            </a:endParaRPr>
          </a:p>
          <a:p>
            <a:pPr indent="457200">
              <a:lnSpc>
                <a:spcPct val="150000"/>
              </a:lnSpc>
            </a:pPr>
            <a:endParaRPr lang="en-US" altLang="zh-CN" sz="1800" dirty="0">
              <a:latin typeface="Arial" charset="0"/>
            </a:endParaRPr>
          </a:p>
          <a:p>
            <a:pPr indent="457200">
              <a:lnSpc>
                <a:spcPct val="150000"/>
              </a:lnSpc>
            </a:pPr>
            <a:endParaRPr lang="en-US" altLang="zh-CN" sz="1800" dirty="0" smtClean="0">
              <a:latin typeface="Arial" charset="0"/>
            </a:endParaRPr>
          </a:p>
          <a:p>
            <a:pPr indent="457200">
              <a:lnSpc>
                <a:spcPct val="150000"/>
              </a:lnSpc>
            </a:pPr>
            <a:endParaRPr lang="zh-CN" altLang="en-US" sz="1800" dirty="0">
              <a:latin typeface="Arial" charset="0"/>
            </a:endParaRPr>
          </a:p>
          <a:p>
            <a:pPr indent="457200">
              <a:lnSpc>
                <a:spcPct val="150000"/>
              </a:lnSpc>
            </a:pPr>
            <a:r>
              <a:rPr lang="zh-CN" altLang="en-US" sz="1400" dirty="0">
                <a:latin typeface="Arial" charset="0"/>
              </a:rPr>
              <a:t>      </a:t>
            </a:r>
            <a:r>
              <a:rPr lang="en-US" altLang="zh-CN" sz="1400" dirty="0" smtClean="0">
                <a:latin typeface="Arial" charset="0"/>
              </a:rPr>
              <a:t>		</a:t>
            </a:r>
            <a:r>
              <a:rPr lang="zh-CN" altLang="en-US" sz="1400" dirty="0" smtClean="0">
                <a:latin typeface="Arial" charset="0"/>
              </a:rPr>
              <a:t> </a:t>
            </a:r>
            <a:r>
              <a:rPr lang="zh-CN" altLang="en-US" sz="1400" dirty="0">
                <a:latin typeface="Arial" charset="0"/>
              </a:rPr>
              <a:t>*信噪比很差，该数据误差较大</a:t>
            </a:r>
          </a:p>
          <a:p>
            <a:pPr indent="457200">
              <a:lnSpc>
                <a:spcPct val="150000"/>
              </a:lnSpc>
            </a:pPr>
            <a:endParaRPr lang="en-US" altLang="zh-CN" sz="1800" dirty="0" smtClean="0">
              <a:latin typeface="Arial" charset="0"/>
            </a:endParaRPr>
          </a:p>
          <a:p>
            <a:pPr indent="457200">
              <a:lnSpc>
                <a:spcPct val="150000"/>
              </a:lnSpc>
            </a:pPr>
            <a:r>
              <a:rPr lang="zh-CN" altLang="en-US" sz="1800" dirty="0">
                <a:latin typeface="Arial" charset="0"/>
              </a:rPr>
              <a:t>经仔细测量，高通滤波器的</a:t>
            </a:r>
            <a:r>
              <a:rPr lang="en-US" altLang="zh-CN" sz="1800" dirty="0">
                <a:latin typeface="Arial" charset="0"/>
              </a:rPr>
              <a:t>-3dB</a:t>
            </a:r>
            <a:r>
              <a:rPr lang="zh-CN" altLang="en-US" sz="1800" dirty="0" smtClean="0">
                <a:latin typeface="Arial" charset="0"/>
              </a:rPr>
              <a:t>截止频率为</a:t>
            </a:r>
            <a:r>
              <a:rPr lang="en-US" altLang="zh-CN" sz="1800" dirty="0">
                <a:latin typeface="Arial" charset="0"/>
              </a:rPr>
              <a:t>2006Hz</a:t>
            </a:r>
            <a:r>
              <a:rPr lang="zh-CN" altLang="en-US" sz="1800" dirty="0">
                <a:latin typeface="Arial" charset="0"/>
              </a:rPr>
              <a:t>，误差</a:t>
            </a:r>
            <a:r>
              <a:rPr lang="en-US" altLang="zh-CN" sz="1800" dirty="0">
                <a:latin typeface="Arial" charset="0"/>
              </a:rPr>
              <a:t>0.3%</a:t>
            </a:r>
            <a:r>
              <a:rPr lang="zh-CN" altLang="en-US" sz="1800" dirty="0">
                <a:latin typeface="Arial" charset="0"/>
              </a:rPr>
              <a:t>。在通带</a:t>
            </a:r>
            <a:r>
              <a:rPr lang="en-US" altLang="zh-CN" sz="1800" dirty="0">
                <a:latin typeface="Arial" charset="0"/>
              </a:rPr>
              <a:t>5kHz~20kHz</a:t>
            </a:r>
            <a:r>
              <a:rPr lang="zh-CN" altLang="en-US" sz="1800" dirty="0">
                <a:latin typeface="Arial" charset="0"/>
              </a:rPr>
              <a:t>范围内的波动只有</a:t>
            </a:r>
            <a:r>
              <a:rPr lang="en-US" altLang="zh-CN" sz="1800" dirty="0">
                <a:latin typeface="Arial" charset="0"/>
              </a:rPr>
              <a:t>±1%</a:t>
            </a:r>
            <a:r>
              <a:rPr lang="zh-CN" altLang="en-US" sz="1800" dirty="0">
                <a:latin typeface="Arial" charset="0"/>
              </a:rPr>
              <a:t>（约</a:t>
            </a:r>
            <a:r>
              <a:rPr lang="en-US" altLang="zh-CN" sz="1800" dirty="0">
                <a:latin typeface="Arial" charset="0"/>
              </a:rPr>
              <a:t>0.1dB</a:t>
            </a:r>
            <a:r>
              <a:rPr lang="zh-CN" altLang="en-US" sz="1800" dirty="0">
                <a:latin typeface="Arial" charset="0"/>
              </a:rPr>
              <a:t>）。指标完全符合题目的要求。</a:t>
            </a:r>
          </a:p>
          <a:p>
            <a:pPr indent="457200">
              <a:lnSpc>
                <a:spcPct val="150000"/>
              </a:lnSpc>
            </a:pPr>
            <a:r>
              <a:rPr lang="zh-CN" altLang="en-US" sz="1800" dirty="0">
                <a:latin typeface="Arial" charset="0"/>
              </a:rPr>
              <a:t>测试结果显示在</a:t>
            </a:r>
            <a:r>
              <a:rPr lang="en-US" altLang="zh-CN" sz="1800" dirty="0">
                <a:latin typeface="Arial" charset="0"/>
              </a:rPr>
              <a:t>50kHz</a:t>
            </a:r>
            <a:r>
              <a:rPr lang="zh-CN" altLang="en-US" sz="1800" dirty="0">
                <a:latin typeface="Arial" charset="0"/>
              </a:rPr>
              <a:t>处增益下降，这是由于电路后接入的消开关噪声的低通滤波器（截止频率约为</a:t>
            </a:r>
            <a:r>
              <a:rPr lang="en-US" altLang="zh-CN" sz="1800" dirty="0">
                <a:latin typeface="Arial" charset="0"/>
              </a:rPr>
              <a:t>47kHz</a:t>
            </a:r>
            <a:r>
              <a:rPr lang="zh-CN" altLang="en-US" sz="1800" dirty="0">
                <a:latin typeface="Arial" charset="0"/>
              </a:rPr>
              <a:t>）起作用了。从这里也可以看到，用开关电容滤波器设计高通滤波器时，由于要滤除开关噪声，其通带范围要比模拟滤波器小很多，所以这种滤波器更适合于低通与带通应用。</a:t>
            </a:r>
          </a:p>
        </p:txBody>
      </p:sp>
    </p:spTree>
    <p:extLst>
      <p:ext uri="{BB962C8B-B14F-4D97-AF65-F5344CB8AC3E}">
        <p14:creationId xmlns:p14="http://schemas.microsoft.com/office/powerpoint/2010/main" val="31353983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0511" y="679476"/>
            <a:ext cx="6924289" cy="5460758"/>
          </a:xfrm>
          <a:prstGeom prst="rect">
            <a:avLst/>
          </a:prstGeom>
        </p:spPr>
      </p:pic>
    </p:spTree>
    <p:extLst>
      <p:ext uri="{BB962C8B-B14F-4D97-AF65-F5344CB8AC3E}">
        <p14:creationId xmlns:p14="http://schemas.microsoft.com/office/powerpoint/2010/main" val="994075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5" name="矩形 4"/>
          <p:cNvSpPr/>
          <p:nvPr/>
        </p:nvSpPr>
        <p:spPr>
          <a:xfrm>
            <a:off x="413657" y="452853"/>
            <a:ext cx="11299372" cy="5078313"/>
          </a:xfrm>
          <a:prstGeom prst="rect">
            <a:avLst/>
          </a:prstGeom>
        </p:spPr>
        <p:txBody>
          <a:bodyPr wrap="square">
            <a:spAutoFit/>
          </a:bodyPr>
          <a:lstStyle/>
          <a:p>
            <a:pPr>
              <a:lnSpc>
                <a:spcPct val="150000"/>
              </a:lnSpc>
            </a:pPr>
            <a:r>
              <a:rPr lang="zh-CN" altLang="en-US" sz="1800" dirty="0">
                <a:solidFill>
                  <a:srgbClr val="FF0000"/>
                </a:solidFill>
                <a:latin typeface="+mj-ea"/>
                <a:ea typeface="+mj-ea"/>
              </a:rPr>
              <a:t>三</a:t>
            </a:r>
            <a:r>
              <a:rPr lang="zh-CN" altLang="zh-CN" sz="1800" dirty="0">
                <a:solidFill>
                  <a:srgbClr val="FF0000"/>
                </a:solidFill>
                <a:latin typeface="+mj-ea"/>
                <a:ea typeface="+mj-ea"/>
              </a:rPr>
              <a:t>、</a:t>
            </a:r>
            <a:r>
              <a:rPr lang="zh-CN" altLang="en-US" sz="1800" dirty="0">
                <a:solidFill>
                  <a:srgbClr val="FF0000"/>
                </a:solidFill>
                <a:latin typeface="+mj-ea"/>
                <a:ea typeface="+mj-ea"/>
              </a:rPr>
              <a:t>音频功率放大器</a:t>
            </a:r>
            <a:endParaRPr lang="en-US" altLang="zh-CN" sz="1800" dirty="0">
              <a:solidFill>
                <a:srgbClr val="FF0000"/>
              </a:solidFill>
              <a:latin typeface="+mj-ea"/>
              <a:ea typeface="+mj-ea"/>
            </a:endParaRPr>
          </a:p>
          <a:p>
            <a:pPr indent="457200">
              <a:lnSpc>
                <a:spcPct val="150000"/>
              </a:lnSpc>
            </a:pPr>
            <a:r>
              <a:rPr lang="zh-CN" altLang="zh-CN" sz="1800" dirty="0" smtClean="0"/>
              <a:t>题目要求</a:t>
            </a:r>
            <a:r>
              <a:rPr lang="zh-CN" altLang="en-US" sz="1800" dirty="0"/>
              <a:t>设计制作两个音频功放。</a:t>
            </a:r>
            <a:endParaRPr lang="en-US" altLang="zh-CN" sz="1800" dirty="0"/>
          </a:p>
          <a:p>
            <a:pPr indent="457200">
              <a:lnSpc>
                <a:spcPct val="150000"/>
              </a:lnSpc>
            </a:pPr>
            <a:r>
              <a:rPr lang="zh-CN" altLang="zh-CN" sz="1800" dirty="0"/>
              <a:t>高频端功放的频响不小于</a:t>
            </a:r>
            <a:r>
              <a:rPr lang="en-US" altLang="zh-CN" sz="1800" dirty="0"/>
              <a:t>10kHz</a:t>
            </a:r>
            <a:r>
              <a:rPr lang="zh-CN" altLang="zh-CN" sz="1800" dirty="0"/>
              <a:t>～</a:t>
            </a:r>
            <a:r>
              <a:rPr lang="en-US" altLang="zh-CN" sz="1800" dirty="0"/>
              <a:t>20kHz</a:t>
            </a:r>
            <a:r>
              <a:rPr lang="zh-CN" altLang="zh-CN" sz="1800" dirty="0"/>
              <a:t>，在</a:t>
            </a:r>
            <a:r>
              <a:rPr lang="en-US" altLang="zh-CN" sz="1800" dirty="0"/>
              <a:t>8Ω</a:t>
            </a:r>
            <a:r>
              <a:rPr lang="zh-CN" altLang="zh-CN" sz="1800" dirty="0"/>
              <a:t>负载电阻上提供不小于</a:t>
            </a:r>
            <a:r>
              <a:rPr lang="en-US" altLang="zh-CN" sz="1800" dirty="0"/>
              <a:t>2W</a:t>
            </a:r>
            <a:r>
              <a:rPr lang="zh-CN" altLang="zh-CN" sz="1800" dirty="0"/>
              <a:t>的不失真信号</a:t>
            </a:r>
            <a:r>
              <a:rPr lang="zh-CN" altLang="en-US" sz="1800" dirty="0"/>
              <a:t>。</a:t>
            </a:r>
            <a:endParaRPr lang="en-US" altLang="zh-CN" sz="1800" dirty="0"/>
          </a:p>
          <a:p>
            <a:pPr indent="457200">
              <a:lnSpc>
                <a:spcPct val="150000"/>
              </a:lnSpc>
            </a:pPr>
            <a:r>
              <a:rPr lang="zh-CN" altLang="zh-CN" sz="1800" dirty="0"/>
              <a:t>低频端功放的频响不小于</a:t>
            </a:r>
            <a:r>
              <a:rPr lang="en-US" altLang="zh-CN" sz="1800" dirty="0"/>
              <a:t>100Hz</a:t>
            </a:r>
            <a:r>
              <a:rPr lang="zh-CN" altLang="zh-CN" sz="1800" dirty="0"/>
              <a:t>～</a:t>
            </a:r>
            <a:r>
              <a:rPr lang="en-US" altLang="zh-CN" sz="1800" dirty="0"/>
              <a:t>1kHz</a:t>
            </a:r>
            <a:r>
              <a:rPr lang="zh-CN" altLang="zh-CN" sz="1800" dirty="0"/>
              <a:t>。在</a:t>
            </a:r>
            <a:r>
              <a:rPr lang="en-US" altLang="zh-CN" sz="1800" dirty="0"/>
              <a:t>4Ω</a:t>
            </a:r>
            <a:r>
              <a:rPr lang="zh-CN" altLang="zh-CN" sz="1800" dirty="0"/>
              <a:t>负载电阻上提供不小于</a:t>
            </a:r>
            <a:r>
              <a:rPr lang="en-US" altLang="zh-CN" sz="1800" dirty="0"/>
              <a:t>4W</a:t>
            </a:r>
            <a:r>
              <a:rPr lang="zh-CN" altLang="zh-CN" sz="1800" dirty="0"/>
              <a:t>的不失真信号。</a:t>
            </a:r>
          </a:p>
          <a:p>
            <a:pPr indent="457200">
              <a:lnSpc>
                <a:spcPct val="150000"/>
              </a:lnSpc>
            </a:pPr>
            <a:r>
              <a:rPr lang="zh-CN" altLang="zh-CN" sz="1800" dirty="0"/>
              <a:t>这两个功放的输出电压相同，都是</a:t>
            </a:r>
            <a:r>
              <a:rPr lang="en-US" altLang="zh-CN" sz="1800" dirty="0"/>
              <a:t>4V</a:t>
            </a:r>
            <a:r>
              <a:rPr lang="zh-CN" altLang="zh-CN" sz="1800" dirty="0"/>
              <a:t>有效值，所以输出电压的峰值都是</a:t>
            </a:r>
            <a:r>
              <a:rPr lang="en-US" altLang="zh-CN" sz="1800" dirty="0"/>
              <a:t>5.66V</a:t>
            </a:r>
            <a:r>
              <a:rPr lang="zh-CN" altLang="zh-CN" sz="1800" dirty="0"/>
              <a:t>。输出电流峰值则分别为</a:t>
            </a:r>
            <a:r>
              <a:rPr lang="en-US" altLang="zh-CN" sz="1800" dirty="0"/>
              <a:t>0.71A</a:t>
            </a:r>
            <a:r>
              <a:rPr lang="zh-CN" altLang="zh-CN" sz="1800" dirty="0"/>
              <a:t>与</a:t>
            </a:r>
            <a:r>
              <a:rPr lang="en-US" altLang="zh-CN" sz="1800" dirty="0"/>
              <a:t>1.41A</a:t>
            </a:r>
            <a:r>
              <a:rPr lang="zh-CN" altLang="zh-CN" sz="1800" dirty="0"/>
              <a:t>。</a:t>
            </a:r>
            <a:r>
              <a:rPr lang="zh-CN" altLang="en-US" sz="1800" dirty="0"/>
              <a:t>由于前面</a:t>
            </a:r>
            <a:r>
              <a:rPr lang="en-US" altLang="zh-CN" sz="1800" dirty="0"/>
              <a:t>AGC</a:t>
            </a:r>
            <a:r>
              <a:rPr lang="zh-CN" altLang="en-US" sz="1800" dirty="0"/>
              <a:t>放大器的输出为</a:t>
            </a:r>
            <a:r>
              <a:rPr lang="en-US" altLang="zh-CN" sz="1800" dirty="0"/>
              <a:t>2V</a:t>
            </a:r>
            <a:r>
              <a:rPr lang="zh-CN" altLang="en-US" sz="1800" dirty="0"/>
              <a:t>有效值</a:t>
            </a:r>
            <a:r>
              <a:rPr lang="zh-CN" altLang="en-US" sz="1800" dirty="0" smtClean="0"/>
              <a:t>，且两个滤波器的通带增益均为</a:t>
            </a:r>
            <a:r>
              <a:rPr lang="en-US" altLang="zh-CN" sz="1800" dirty="0" smtClean="0"/>
              <a:t>1</a:t>
            </a:r>
            <a:r>
              <a:rPr lang="zh-CN" altLang="en-US" sz="1800" dirty="0" smtClean="0"/>
              <a:t>，所以</a:t>
            </a:r>
            <a:r>
              <a:rPr lang="zh-CN" altLang="en-US" sz="1800" dirty="0"/>
              <a:t>本级放大器的电压增益应该是</a:t>
            </a:r>
            <a:r>
              <a:rPr lang="en-US" altLang="zh-CN" sz="1800" dirty="0"/>
              <a:t>2</a:t>
            </a:r>
            <a:r>
              <a:rPr lang="zh-CN" altLang="en-US" sz="1800" dirty="0"/>
              <a:t>倍（</a:t>
            </a:r>
            <a:r>
              <a:rPr lang="en-US" altLang="zh-CN" sz="1800" dirty="0"/>
              <a:t>6dB</a:t>
            </a:r>
            <a:r>
              <a:rPr lang="zh-CN" altLang="en-US" sz="1800" dirty="0"/>
              <a:t>）。</a:t>
            </a:r>
            <a:endParaRPr lang="en-US" altLang="zh-CN" sz="1800" dirty="0"/>
          </a:p>
          <a:p>
            <a:pPr indent="457200">
              <a:lnSpc>
                <a:spcPct val="150000"/>
              </a:lnSpc>
            </a:pPr>
            <a:r>
              <a:rPr lang="zh-CN" altLang="zh-CN" sz="1800" dirty="0"/>
              <a:t>为了简化设计与制作，</a:t>
            </a:r>
            <a:r>
              <a:rPr lang="zh-CN" altLang="zh-CN" sz="1800" dirty="0" smtClean="0"/>
              <a:t>实际上</a:t>
            </a:r>
            <a:r>
              <a:rPr lang="zh-CN" altLang="en-US" sz="1800" dirty="0" smtClean="0"/>
              <a:t>可</a:t>
            </a:r>
            <a:r>
              <a:rPr lang="zh-CN" altLang="zh-CN" sz="1800" dirty="0" smtClean="0"/>
              <a:t>按照</a:t>
            </a:r>
            <a:r>
              <a:rPr lang="zh-CN" altLang="zh-CN" sz="1800" dirty="0"/>
              <a:t>统一的指标进行设计：</a:t>
            </a:r>
            <a:endParaRPr lang="en-US" altLang="zh-CN" sz="1800" dirty="0"/>
          </a:p>
          <a:p>
            <a:pPr indent="457200">
              <a:lnSpc>
                <a:spcPct val="150000"/>
              </a:lnSpc>
            </a:pPr>
            <a:r>
              <a:rPr lang="en-US" altLang="zh-CN" sz="1800" dirty="0"/>
              <a:t>1</a:t>
            </a:r>
            <a:r>
              <a:rPr lang="zh-CN" altLang="en-US" sz="1800" dirty="0"/>
              <a:t>、增益等于</a:t>
            </a:r>
            <a:r>
              <a:rPr lang="en-US" altLang="zh-CN" sz="1800" dirty="0"/>
              <a:t>6dB</a:t>
            </a:r>
            <a:r>
              <a:rPr lang="zh-CN" altLang="en-US" sz="1800" dirty="0"/>
              <a:t>；</a:t>
            </a:r>
            <a:endParaRPr lang="en-US" altLang="zh-CN" sz="1800" dirty="0"/>
          </a:p>
          <a:p>
            <a:pPr indent="457200">
              <a:lnSpc>
                <a:spcPct val="150000"/>
              </a:lnSpc>
            </a:pPr>
            <a:r>
              <a:rPr lang="en-US" altLang="zh-CN" sz="1800" dirty="0"/>
              <a:t>2</a:t>
            </a:r>
            <a:r>
              <a:rPr lang="zh-CN" altLang="en-US" sz="1800" dirty="0"/>
              <a:t>、</a:t>
            </a:r>
            <a:r>
              <a:rPr lang="zh-CN" altLang="zh-CN" sz="1800" dirty="0"/>
              <a:t>频响范围不小于</a:t>
            </a:r>
            <a:r>
              <a:rPr lang="en-US" altLang="zh-CN" sz="1800" dirty="0"/>
              <a:t>100Hz~20kHz</a:t>
            </a:r>
            <a:r>
              <a:rPr lang="zh-CN" altLang="en-US" sz="1800" dirty="0"/>
              <a:t>；</a:t>
            </a:r>
            <a:endParaRPr lang="en-US" altLang="zh-CN" sz="1800" dirty="0"/>
          </a:p>
          <a:p>
            <a:pPr indent="457200">
              <a:lnSpc>
                <a:spcPct val="150000"/>
              </a:lnSpc>
            </a:pPr>
            <a:r>
              <a:rPr lang="en-US" altLang="zh-CN" sz="1800" dirty="0"/>
              <a:t>3</a:t>
            </a:r>
            <a:r>
              <a:rPr lang="zh-CN" altLang="en-US" sz="1800" dirty="0"/>
              <a:t>、</a:t>
            </a:r>
            <a:r>
              <a:rPr lang="zh-CN" altLang="zh-CN" sz="1800" dirty="0"/>
              <a:t>输出电压峰值不低于</a:t>
            </a:r>
            <a:r>
              <a:rPr lang="en-US" altLang="zh-CN" sz="1800" dirty="0"/>
              <a:t>6V</a:t>
            </a:r>
            <a:r>
              <a:rPr lang="zh-CN" altLang="en-US" sz="1800" dirty="0"/>
              <a:t>；</a:t>
            </a:r>
            <a:endParaRPr lang="en-US" altLang="zh-CN" sz="1800" dirty="0"/>
          </a:p>
          <a:p>
            <a:pPr indent="457200">
              <a:lnSpc>
                <a:spcPct val="150000"/>
              </a:lnSpc>
            </a:pPr>
            <a:r>
              <a:rPr lang="en-US" altLang="zh-CN" sz="1800" dirty="0"/>
              <a:t>4</a:t>
            </a:r>
            <a:r>
              <a:rPr lang="zh-CN" altLang="en-US" sz="1800" dirty="0"/>
              <a:t>、</a:t>
            </a:r>
            <a:r>
              <a:rPr lang="zh-CN" altLang="zh-CN" sz="1800" dirty="0"/>
              <a:t>输出电流峰值不低于</a:t>
            </a:r>
            <a:r>
              <a:rPr lang="en-US" altLang="zh-CN" sz="1800" dirty="0"/>
              <a:t>1.5A</a:t>
            </a:r>
            <a:r>
              <a:rPr lang="zh-CN" altLang="zh-CN" sz="1800" dirty="0"/>
              <a:t>。</a:t>
            </a:r>
            <a:endParaRPr lang="en-US" altLang="zh-CN" sz="1800" dirty="0"/>
          </a:p>
        </p:txBody>
      </p:sp>
    </p:spTree>
    <p:extLst>
      <p:ext uri="{BB962C8B-B14F-4D97-AF65-F5344CB8AC3E}">
        <p14:creationId xmlns:p14="http://schemas.microsoft.com/office/powerpoint/2010/main" val="41472917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sp>
        <p:nvSpPr>
          <p:cNvPr id="5" name="文本框 4"/>
          <p:cNvSpPr txBox="1"/>
          <p:nvPr/>
        </p:nvSpPr>
        <p:spPr>
          <a:xfrm>
            <a:off x="457201" y="541867"/>
            <a:ext cx="11205028" cy="4247317"/>
          </a:xfrm>
          <a:prstGeom prst="rect">
            <a:avLst/>
          </a:prstGeom>
          <a:noFill/>
        </p:spPr>
        <p:txBody>
          <a:bodyPr wrap="square" rtlCol="0">
            <a:spAutoFit/>
          </a:bodyPr>
          <a:lstStyle/>
          <a:p>
            <a:pPr>
              <a:lnSpc>
                <a:spcPct val="150000"/>
              </a:lnSpc>
            </a:pPr>
            <a:r>
              <a:rPr lang="zh-CN" altLang="en-US" sz="1800" dirty="0"/>
              <a:t>可选的音频功放方案：</a:t>
            </a:r>
            <a:endParaRPr lang="en-US" altLang="zh-CN" sz="1800" dirty="0"/>
          </a:p>
          <a:p>
            <a:pPr indent="457200">
              <a:lnSpc>
                <a:spcPct val="150000"/>
              </a:lnSpc>
            </a:pPr>
            <a:r>
              <a:rPr lang="en-US" altLang="zh-CN" sz="1800" dirty="0"/>
              <a:t>1</a:t>
            </a:r>
            <a:r>
              <a:rPr lang="zh-CN" altLang="en-US" sz="1800" dirty="0"/>
              <a:t>、集成功放芯片</a:t>
            </a:r>
            <a:endParaRPr lang="en-US" altLang="zh-CN" sz="1800" dirty="0"/>
          </a:p>
          <a:p>
            <a:pPr indent="457200">
              <a:lnSpc>
                <a:spcPct val="150000"/>
              </a:lnSpc>
            </a:pPr>
            <a:r>
              <a:rPr lang="en-US" altLang="zh-CN" sz="1800" dirty="0"/>
              <a:t>2</a:t>
            </a:r>
            <a:r>
              <a:rPr lang="zh-CN" altLang="en-US" sz="1800" dirty="0"/>
              <a:t>、通用运放</a:t>
            </a:r>
            <a:r>
              <a:rPr lang="en-US" altLang="zh-CN" sz="1800" dirty="0"/>
              <a:t>+</a:t>
            </a:r>
            <a:r>
              <a:rPr lang="zh-CN" altLang="en-US" sz="1800" dirty="0"/>
              <a:t>晶体管（扩流、扩压）</a:t>
            </a:r>
            <a:endParaRPr lang="en-US" altLang="zh-CN" sz="1800" dirty="0"/>
          </a:p>
          <a:p>
            <a:pPr indent="457200">
              <a:lnSpc>
                <a:spcPct val="150000"/>
              </a:lnSpc>
            </a:pPr>
            <a:r>
              <a:rPr lang="en-US" altLang="zh-CN" sz="1800" dirty="0"/>
              <a:t>3</a:t>
            </a:r>
            <a:r>
              <a:rPr lang="zh-CN" altLang="en-US" sz="1800" dirty="0"/>
              <a:t>、全晶体管</a:t>
            </a:r>
            <a:endParaRPr lang="en-US" altLang="zh-CN" sz="1800" dirty="0"/>
          </a:p>
          <a:p>
            <a:pPr indent="457200">
              <a:lnSpc>
                <a:spcPct val="150000"/>
              </a:lnSpc>
            </a:pPr>
            <a:endParaRPr lang="en-US" altLang="zh-CN" sz="1800" dirty="0"/>
          </a:p>
          <a:p>
            <a:pPr indent="457200">
              <a:lnSpc>
                <a:spcPct val="150000"/>
              </a:lnSpc>
            </a:pPr>
            <a:r>
              <a:rPr lang="zh-CN" altLang="en-US" sz="1800" dirty="0"/>
              <a:t>随着集成电路的发展，上述方案中全晶体管的方式现在已经几乎看不到了。</a:t>
            </a:r>
            <a:endParaRPr lang="en-US" altLang="zh-CN" sz="1800" dirty="0"/>
          </a:p>
          <a:p>
            <a:pPr indent="457200">
              <a:lnSpc>
                <a:spcPct val="150000"/>
              </a:lnSpc>
            </a:pPr>
            <a:r>
              <a:rPr lang="zh-CN" altLang="en-US" sz="1800" dirty="0"/>
              <a:t>在中小输出功率的场合，有许多集成功放芯片可以选择，例如常见的集成功放芯片</a:t>
            </a:r>
            <a:r>
              <a:rPr lang="en-US" altLang="zh-CN" sz="1800" dirty="0"/>
              <a:t>TDA2003A</a:t>
            </a:r>
            <a:r>
              <a:rPr lang="zh-CN" altLang="en-US" sz="1800" dirty="0"/>
              <a:t>、</a:t>
            </a:r>
            <a:r>
              <a:rPr lang="en-US" altLang="zh-CN" sz="1800" dirty="0"/>
              <a:t>TDA2030A</a:t>
            </a:r>
            <a:r>
              <a:rPr lang="zh-CN" altLang="en-US" sz="1800" dirty="0"/>
              <a:t>、</a:t>
            </a:r>
            <a:r>
              <a:rPr lang="en-US" altLang="zh-CN" sz="1800" dirty="0"/>
              <a:t>TDA2050A</a:t>
            </a:r>
            <a:r>
              <a:rPr lang="zh-CN" altLang="en-US" sz="1800" dirty="0"/>
              <a:t>等</a:t>
            </a:r>
            <a:r>
              <a:rPr lang="zh-CN" altLang="en-US" sz="1800" dirty="0" smtClean="0"/>
              <a:t>。</a:t>
            </a:r>
            <a:endParaRPr lang="en-US" altLang="zh-CN" sz="1800" dirty="0" smtClean="0"/>
          </a:p>
          <a:p>
            <a:pPr indent="457200">
              <a:lnSpc>
                <a:spcPct val="150000"/>
              </a:lnSpc>
            </a:pPr>
            <a:r>
              <a:rPr lang="zh-CN" altLang="en-US" sz="1800" dirty="0"/>
              <a:t>以</a:t>
            </a:r>
            <a:r>
              <a:rPr lang="en-US" altLang="zh-CN" sz="1800" dirty="0"/>
              <a:t>TDA2030A</a:t>
            </a:r>
            <a:r>
              <a:rPr lang="zh-CN" altLang="en-US" sz="1800" dirty="0"/>
              <a:t>为例，当电源电压为</a:t>
            </a:r>
            <a:r>
              <a:rPr lang="en-US" altLang="zh-CN" sz="1800" dirty="0"/>
              <a:t>36V</a:t>
            </a:r>
            <a:r>
              <a:rPr lang="zh-CN" altLang="en-US" sz="1800" dirty="0"/>
              <a:t>（或</a:t>
            </a:r>
            <a:r>
              <a:rPr lang="en-US" altLang="zh-CN" sz="1800" dirty="0"/>
              <a:t>±18V</a:t>
            </a:r>
            <a:r>
              <a:rPr lang="zh-CN" altLang="en-US" sz="1800" dirty="0"/>
              <a:t>）时，在</a:t>
            </a:r>
            <a:r>
              <a:rPr lang="en-US" altLang="zh-CN" sz="1800" dirty="0"/>
              <a:t>40Hz~15000Hz</a:t>
            </a:r>
            <a:r>
              <a:rPr lang="zh-CN" altLang="en-US" sz="1800" dirty="0"/>
              <a:t>范围内，</a:t>
            </a:r>
            <a:r>
              <a:rPr lang="en-US" altLang="zh-CN" sz="1800" dirty="0"/>
              <a:t>RL=4</a:t>
            </a:r>
            <a:r>
              <a:rPr lang="el-GR" altLang="zh-CN" sz="1800" dirty="0"/>
              <a:t>Ω</a:t>
            </a:r>
            <a:r>
              <a:rPr lang="zh-CN" altLang="en-US" sz="1800" dirty="0"/>
              <a:t>的输出功率可达</a:t>
            </a:r>
            <a:r>
              <a:rPr lang="en-US" altLang="zh-CN" sz="1800" dirty="0"/>
              <a:t>14W</a:t>
            </a:r>
            <a:r>
              <a:rPr lang="zh-CN" altLang="en-US" sz="1800" dirty="0"/>
              <a:t>，</a:t>
            </a:r>
            <a:r>
              <a:rPr lang="en-US" altLang="zh-CN" sz="1800" dirty="0"/>
              <a:t>RL=8</a:t>
            </a:r>
            <a:r>
              <a:rPr lang="el-GR" altLang="zh-CN" sz="1800" dirty="0"/>
              <a:t>Ω</a:t>
            </a:r>
            <a:r>
              <a:rPr lang="zh-CN" altLang="en-US" sz="1800" dirty="0"/>
              <a:t>的输出功率可达</a:t>
            </a:r>
            <a:r>
              <a:rPr lang="en-US" altLang="zh-CN" sz="1800" dirty="0"/>
              <a:t>9W</a:t>
            </a:r>
            <a:r>
              <a:rPr lang="zh-CN" altLang="en-US" sz="1800" dirty="0"/>
              <a:t>，且失真只有</a:t>
            </a:r>
            <a:r>
              <a:rPr lang="en-US" altLang="zh-CN" sz="1800" dirty="0"/>
              <a:t>0.5%</a:t>
            </a:r>
            <a:r>
              <a:rPr lang="zh-CN" altLang="en-US" sz="1800" dirty="0" smtClean="0"/>
              <a:t>。</a:t>
            </a:r>
            <a:endParaRPr lang="zh-CN" altLang="en-US" sz="1800" dirty="0"/>
          </a:p>
        </p:txBody>
      </p:sp>
    </p:spTree>
    <p:extLst>
      <p:ext uri="{BB962C8B-B14F-4D97-AF65-F5344CB8AC3E}">
        <p14:creationId xmlns:p14="http://schemas.microsoft.com/office/powerpoint/2010/main" val="4141830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文本框 4"/>
          <p:cNvSpPr txBox="1"/>
          <p:nvPr/>
        </p:nvSpPr>
        <p:spPr>
          <a:xfrm>
            <a:off x="486230" y="528320"/>
            <a:ext cx="11212284" cy="1338828"/>
          </a:xfrm>
          <a:prstGeom prst="rect">
            <a:avLst/>
          </a:prstGeom>
          <a:noFill/>
        </p:spPr>
        <p:txBody>
          <a:bodyPr wrap="square" rtlCol="0">
            <a:spAutoFit/>
          </a:bodyPr>
          <a:lstStyle/>
          <a:p>
            <a:pPr indent="457200">
              <a:lnSpc>
                <a:spcPct val="150000"/>
              </a:lnSpc>
            </a:pPr>
            <a:r>
              <a:rPr lang="zh-CN" altLang="en-US" sz="1800" dirty="0" smtClean="0"/>
              <a:t>下</a:t>
            </a:r>
            <a:r>
              <a:rPr lang="zh-CN" altLang="en-US" sz="1800" dirty="0"/>
              <a:t>图是</a:t>
            </a:r>
            <a:r>
              <a:rPr lang="en-US" altLang="zh-CN" sz="1800" dirty="0"/>
              <a:t>TDA2030</a:t>
            </a:r>
            <a:r>
              <a:rPr lang="zh-CN" altLang="en-US" sz="1800" dirty="0"/>
              <a:t>数据手册给出的参考电路。</a:t>
            </a:r>
            <a:endParaRPr lang="en-US" altLang="zh-CN" sz="1800" dirty="0"/>
          </a:p>
          <a:p>
            <a:pPr indent="457200">
              <a:lnSpc>
                <a:spcPct val="150000"/>
              </a:lnSpc>
            </a:pPr>
            <a:r>
              <a:rPr lang="zh-CN" altLang="en-US" sz="1800" dirty="0"/>
              <a:t>其中</a:t>
            </a:r>
            <a:r>
              <a:rPr lang="en-US" altLang="zh-CN" sz="1800" dirty="0"/>
              <a:t>R1</a:t>
            </a:r>
            <a:r>
              <a:rPr lang="zh-CN" altLang="en-US" sz="1800" dirty="0"/>
              <a:t>、</a:t>
            </a:r>
            <a:r>
              <a:rPr lang="en-US" altLang="zh-CN" sz="1800" dirty="0"/>
              <a:t>R2</a:t>
            </a:r>
            <a:r>
              <a:rPr lang="zh-CN" altLang="en-US" sz="1800" dirty="0"/>
              <a:t>是反馈网络，决定了该放大器的增益，</a:t>
            </a:r>
            <a:r>
              <a:rPr lang="en-US" altLang="zh-CN" sz="1800" dirty="0"/>
              <a:t>G(dB)=20log(1+R1/R2)</a:t>
            </a:r>
            <a:r>
              <a:rPr lang="zh-CN" altLang="en-US" sz="1800" dirty="0"/>
              <a:t>。图中的参数为</a:t>
            </a:r>
            <a:r>
              <a:rPr lang="en-US" altLang="zh-CN" sz="1800" dirty="0"/>
              <a:t>30dB</a:t>
            </a:r>
            <a:r>
              <a:rPr lang="zh-CN" altLang="en-US" sz="1800" dirty="0"/>
              <a:t>。但是该放大器的增益不能低于</a:t>
            </a:r>
            <a:r>
              <a:rPr lang="en-US" altLang="zh-CN" sz="1800" dirty="0"/>
              <a:t>24dB</a:t>
            </a:r>
            <a:r>
              <a:rPr lang="zh-CN" altLang="en-US" sz="1800" dirty="0"/>
              <a:t>（</a:t>
            </a:r>
            <a:r>
              <a:rPr lang="en-US" altLang="zh-CN" sz="1800" dirty="0"/>
              <a:t>16</a:t>
            </a:r>
            <a:r>
              <a:rPr lang="zh-CN" altLang="en-US" sz="1800" dirty="0"/>
              <a:t>倍），否则电路会自激振荡。</a:t>
            </a:r>
          </a:p>
        </p:txBody>
      </p:sp>
      <p:pic>
        <p:nvPicPr>
          <p:cNvPr id="6" name="图片 5"/>
          <p:cNvPicPr>
            <a:picLocks noChangeAspect="1"/>
          </p:cNvPicPr>
          <p:nvPr/>
        </p:nvPicPr>
        <p:blipFill>
          <a:blip r:embed="rId2"/>
          <a:stretch>
            <a:fillRect/>
          </a:stretch>
        </p:blipFill>
        <p:spPr>
          <a:xfrm>
            <a:off x="3669616" y="2190841"/>
            <a:ext cx="4108564" cy="3513242"/>
          </a:xfrm>
          <a:prstGeom prst="rect">
            <a:avLst/>
          </a:prstGeom>
        </p:spPr>
      </p:pic>
    </p:spTree>
    <p:extLst>
      <p:ext uri="{BB962C8B-B14F-4D97-AF65-F5344CB8AC3E}">
        <p14:creationId xmlns:p14="http://schemas.microsoft.com/office/powerpoint/2010/main" val="16737667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sp>
        <p:nvSpPr>
          <p:cNvPr id="5" name="文本框 4"/>
          <p:cNvSpPr txBox="1"/>
          <p:nvPr/>
        </p:nvSpPr>
        <p:spPr>
          <a:xfrm>
            <a:off x="566057" y="579507"/>
            <a:ext cx="11096172" cy="5443221"/>
          </a:xfrm>
          <a:prstGeom prst="rect">
            <a:avLst/>
          </a:prstGeom>
          <a:noFill/>
        </p:spPr>
        <p:txBody>
          <a:bodyPr wrap="square" rtlCol="0">
            <a:spAutoFit/>
          </a:bodyPr>
          <a:lstStyle/>
          <a:p>
            <a:pPr indent="457200">
              <a:lnSpc>
                <a:spcPct val="150000"/>
              </a:lnSpc>
            </a:pPr>
            <a:r>
              <a:rPr lang="zh-CN" altLang="en-US" sz="1800" dirty="0"/>
              <a:t>由于题目要求的放大倍数仅为</a:t>
            </a:r>
            <a:r>
              <a:rPr lang="en-US" altLang="zh-CN" sz="1800" dirty="0"/>
              <a:t>2</a:t>
            </a:r>
            <a:r>
              <a:rPr lang="zh-CN" altLang="en-US" sz="1800" dirty="0"/>
              <a:t>，而</a:t>
            </a:r>
            <a:r>
              <a:rPr lang="en-US" altLang="zh-CN" sz="1800" dirty="0"/>
              <a:t>TDA2030</a:t>
            </a:r>
            <a:r>
              <a:rPr lang="zh-CN" altLang="en-US" sz="1800" dirty="0"/>
              <a:t>的最小增益是</a:t>
            </a:r>
            <a:r>
              <a:rPr lang="en-US" altLang="zh-CN" sz="1800" dirty="0"/>
              <a:t>16</a:t>
            </a:r>
            <a:r>
              <a:rPr lang="zh-CN" altLang="en-US" sz="1800" dirty="0"/>
              <a:t>倍，所以若用</a:t>
            </a:r>
            <a:r>
              <a:rPr lang="en-US" altLang="zh-CN" sz="1800" dirty="0"/>
              <a:t>TDA2030</a:t>
            </a:r>
            <a:r>
              <a:rPr lang="zh-CN" altLang="en-US" sz="1800" dirty="0"/>
              <a:t>作为功放，在它前面还应插入一个电阻衰减网络，将信号衰减到合适的值。此衰减网络会引入一定的噪声。</a:t>
            </a:r>
            <a:endParaRPr lang="en-US" altLang="zh-CN" sz="1800" dirty="0"/>
          </a:p>
          <a:p>
            <a:pPr indent="457200">
              <a:lnSpc>
                <a:spcPct val="150000"/>
              </a:lnSpc>
            </a:pPr>
            <a:r>
              <a:rPr lang="zh-CN" altLang="en-US" sz="1800" dirty="0"/>
              <a:t>另外，</a:t>
            </a:r>
            <a:r>
              <a:rPr lang="en-US" altLang="zh-CN" sz="1800" dirty="0"/>
              <a:t>TDA2030</a:t>
            </a:r>
            <a:r>
              <a:rPr lang="zh-CN" altLang="en-US" sz="1800" dirty="0"/>
              <a:t>的频响为</a:t>
            </a:r>
            <a:r>
              <a:rPr lang="en-US" altLang="zh-CN" sz="1800" dirty="0"/>
              <a:t>40Hz~15000Hz</a:t>
            </a:r>
            <a:r>
              <a:rPr lang="zh-CN" altLang="en-US" sz="1800" dirty="0"/>
              <a:t>。查其数据手册可知，当信号频率高于</a:t>
            </a:r>
            <a:r>
              <a:rPr lang="en-US" altLang="zh-CN" sz="1800" dirty="0"/>
              <a:t>15000Hz</a:t>
            </a:r>
            <a:r>
              <a:rPr lang="zh-CN" altLang="en-US" sz="1800" dirty="0"/>
              <a:t>后，其失真度急剧上升，但数据手册并未给出具体数据。</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由于题目要求的放大器频响为</a:t>
            </a:r>
            <a:r>
              <a:rPr lang="en-US" altLang="zh-CN" sz="1800" dirty="0"/>
              <a:t>100Hz~20000Hz</a:t>
            </a:r>
            <a:r>
              <a:rPr lang="zh-CN" altLang="en-US" sz="1800" dirty="0"/>
              <a:t>，所以不能确定此芯片的</a:t>
            </a:r>
            <a:r>
              <a:rPr lang="zh-CN" altLang="en-US" sz="1800" dirty="0" smtClean="0"/>
              <a:t>频响是否满足</a:t>
            </a:r>
            <a:r>
              <a:rPr lang="zh-CN" altLang="en-US" sz="1800" dirty="0"/>
              <a:t>题目的</a:t>
            </a:r>
            <a:r>
              <a:rPr lang="zh-CN" altLang="en-US" sz="1800" dirty="0" smtClean="0"/>
              <a:t>要求。</a:t>
            </a:r>
            <a:endParaRPr lang="zh-CN" altLang="en-US" sz="1800" dirty="0"/>
          </a:p>
        </p:txBody>
      </p:sp>
      <p:pic>
        <p:nvPicPr>
          <p:cNvPr id="6" name="图片 5"/>
          <p:cNvPicPr>
            <a:picLocks noChangeAspect="1"/>
          </p:cNvPicPr>
          <p:nvPr/>
        </p:nvPicPr>
        <p:blipFill>
          <a:blip r:embed="rId2"/>
          <a:stretch>
            <a:fillRect/>
          </a:stretch>
        </p:blipFill>
        <p:spPr>
          <a:xfrm>
            <a:off x="4496482" y="2476598"/>
            <a:ext cx="2970666" cy="2951744"/>
          </a:xfrm>
          <a:prstGeom prst="rect">
            <a:avLst/>
          </a:prstGeom>
        </p:spPr>
      </p:pic>
    </p:spTree>
    <p:extLst>
      <p:ext uri="{BB962C8B-B14F-4D97-AF65-F5344CB8AC3E}">
        <p14:creationId xmlns:p14="http://schemas.microsoft.com/office/powerpoint/2010/main" val="23994808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pic>
        <p:nvPicPr>
          <p:cNvPr id="5" name="图片 4"/>
          <p:cNvPicPr>
            <a:picLocks noChangeAspect="1"/>
          </p:cNvPicPr>
          <p:nvPr/>
        </p:nvPicPr>
        <p:blipFill>
          <a:blip r:embed="rId3"/>
          <a:stretch>
            <a:fillRect/>
          </a:stretch>
        </p:blipFill>
        <p:spPr>
          <a:xfrm>
            <a:off x="1624243" y="1248229"/>
            <a:ext cx="8279436" cy="4927600"/>
          </a:xfrm>
          <a:prstGeom prst="rect">
            <a:avLst/>
          </a:prstGeom>
        </p:spPr>
      </p:pic>
      <p:sp>
        <p:nvSpPr>
          <p:cNvPr id="7" name="文本框 6"/>
          <p:cNvSpPr txBox="1"/>
          <p:nvPr/>
        </p:nvSpPr>
        <p:spPr>
          <a:xfrm>
            <a:off x="624417" y="664754"/>
            <a:ext cx="11016040" cy="369332"/>
          </a:xfrm>
          <a:prstGeom prst="rect">
            <a:avLst/>
          </a:prstGeom>
          <a:noFill/>
        </p:spPr>
        <p:txBody>
          <a:bodyPr wrap="square" rtlCol="0">
            <a:spAutoFit/>
          </a:bodyPr>
          <a:lstStyle/>
          <a:p>
            <a:r>
              <a:rPr lang="zh-CN" altLang="en-US" sz="1800" dirty="0" smtClean="0"/>
              <a:t>笔者</a:t>
            </a:r>
            <a:r>
              <a:rPr lang="zh-CN" altLang="en-US" sz="1800" dirty="0"/>
              <a:t>实际采用了运放</a:t>
            </a:r>
            <a:r>
              <a:rPr lang="en-US" altLang="zh-CN" sz="1800" dirty="0"/>
              <a:t>+</a:t>
            </a:r>
            <a:r>
              <a:rPr lang="zh-CN" altLang="en-US" sz="1800" dirty="0" smtClean="0"/>
              <a:t>晶体管的</a:t>
            </a:r>
            <a:r>
              <a:rPr lang="zh-CN" altLang="en-US" sz="1800" dirty="0"/>
              <a:t>方案，此方式中的晶体管主要起到扩大</a:t>
            </a:r>
            <a:r>
              <a:rPr lang="zh-CN" altLang="en-US" sz="1800" dirty="0" smtClean="0"/>
              <a:t>电流的</a:t>
            </a:r>
            <a:r>
              <a:rPr lang="zh-CN" altLang="en-US" sz="1800" dirty="0"/>
              <a:t>作用</a:t>
            </a:r>
            <a:r>
              <a:rPr lang="zh-CN" altLang="en-US" sz="1800" dirty="0" smtClean="0"/>
              <a:t>。电路</a:t>
            </a:r>
            <a:r>
              <a:rPr lang="zh-CN" altLang="en-US" sz="1800" dirty="0"/>
              <a:t>如下：</a:t>
            </a:r>
          </a:p>
        </p:txBody>
      </p:sp>
      <p:cxnSp>
        <p:nvCxnSpPr>
          <p:cNvPr id="8" name="直接箭头连接符 7"/>
          <p:cNvCxnSpPr/>
          <p:nvPr/>
        </p:nvCxnSpPr>
        <p:spPr>
          <a:xfrm flipH="1">
            <a:off x="7605486" y="2721429"/>
            <a:ext cx="7257" cy="17199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7605485" y="2808514"/>
            <a:ext cx="2598057" cy="338554"/>
          </a:xfrm>
          <a:prstGeom prst="rect">
            <a:avLst/>
          </a:prstGeom>
          <a:noFill/>
        </p:spPr>
        <p:txBody>
          <a:bodyPr wrap="square" rtlCol="0">
            <a:spAutoFit/>
          </a:bodyPr>
          <a:lstStyle/>
          <a:p>
            <a:r>
              <a:rPr lang="zh-CN" altLang="en-US" sz="1600" dirty="0" smtClean="0">
                <a:solidFill>
                  <a:srgbClr val="FF0000"/>
                </a:solidFill>
              </a:rPr>
              <a:t>几毫安（静态电流）</a:t>
            </a:r>
            <a:endParaRPr lang="zh-CN" altLang="en-US" sz="1600" dirty="0">
              <a:solidFill>
                <a:srgbClr val="FF0000"/>
              </a:solidFill>
            </a:endParaRPr>
          </a:p>
        </p:txBody>
      </p:sp>
      <p:cxnSp>
        <p:nvCxnSpPr>
          <p:cNvPr id="12" name="直接箭头连接符 11"/>
          <p:cNvCxnSpPr/>
          <p:nvPr/>
        </p:nvCxnSpPr>
        <p:spPr>
          <a:xfrm flipH="1">
            <a:off x="6520545" y="3060097"/>
            <a:ext cx="7256" cy="138127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309528" y="2639237"/>
            <a:ext cx="1226156" cy="338554"/>
          </a:xfrm>
          <a:prstGeom prst="rect">
            <a:avLst/>
          </a:prstGeom>
          <a:noFill/>
        </p:spPr>
        <p:txBody>
          <a:bodyPr wrap="square" rtlCol="0">
            <a:spAutoFit/>
          </a:bodyPr>
          <a:lstStyle/>
          <a:p>
            <a:r>
              <a:rPr lang="zh-CN" altLang="en-US" sz="1600" dirty="0">
                <a:solidFill>
                  <a:srgbClr val="FF0000"/>
                </a:solidFill>
              </a:rPr>
              <a:t>几</a:t>
            </a:r>
            <a:r>
              <a:rPr lang="zh-CN" altLang="en-US" sz="1600" dirty="0" smtClean="0">
                <a:solidFill>
                  <a:srgbClr val="FF0000"/>
                </a:solidFill>
              </a:rPr>
              <a:t>毫安</a:t>
            </a:r>
            <a:endParaRPr lang="zh-CN" altLang="en-US" sz="1600" dirty="0">
              <a:solidFill>
                <a:srgbClr val="FF0000"/>
              </a:solidFill>
            </a:endParaRPr>
          </a:p>
        </p:txBody>
      </p:sp>
      <p:cxnSp>
        <p:nvCxnSpPr>
          <p:cNvPr id="15" name="直接箭头连接符 14"/>
          <p:cNvCxnSpPr/>
          <p:nvPr/>
        </p:nvCxnSpPr>
        <p:spPr>
          <a:xfrm flipH="1">
            <a:off x="5435603" y="3142289"/>
            <a:ext cx="7256" cy="138127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5224586" y="2721429"/>
            <a:ext cx="1226156" cy="338554"/>
          </a:xfrm>
          <a:prstGeom prst="rect">
            <a:avLst/>
          </a:prstGeom>
          <a:noFill/>
        </p:spPr>
        <p:txBody>
          <a:bodyPr wrap="square" rtlCol="0">
            <a:spAutoFit/>
          </a:bodyPr>
          <a:lstStyle/>
          <a:p>
            <a:r>
              <a:rPr lang="zh-CN" altLang="en-US" sz="1600" dirty="0" smtClean="0">
                <a:solidFill>
                  <a:srgbClr val="FF0000"/>
                </a:solidFill>
              </a:rPr>
              <a:t>几毫安</a:t>
            </a:r>
            <a:endParaRPr lang="zh-CN" altLang="en-US" sz="1600" dirty="0">
              <a:solidFill>
                <a:srgbClr val="FF0000"/>
              </a:solidFill>
            </a:endParaRPr>
          </a:p>
        </p:txBody>
      </p:sp>
    </p:spTree>
    <p:extLst>
      <p:ext uri="{BB962C8B-B14F-4D97-AF65-F5344CB8AC3E}">
        <p14:creationId xmlns:p14="http://schemas.microsoft.com/office/powerpoint/2010/main" val="30016254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sp>
        <p:nvSpPr>
          <p:cNvPr id="5" name="矩形 4"/>
          <p:cNvSpPr/>
          <p:nvPr/>
        </p:nvSpPr>
        <p:spPr>
          <a:xfrm>
            <a:off x="486229" y="471812"/>
            <a:ext cx="11219541" cy="5678478"/>
          </a:xfrm>
          <a:prstGeom prst="rect">
            <a:avLst/>
          </a:prstGeom>
        </p:spPr>
        <p:txBody>
          <a:bodyPr wrap="square">
            <a:spAutoFit/>
          </a:bodyPr>
          <a:lstStyle/>
          <a:p>
            <a:pPr indent="457200">
              <a:lnSpc>
                <a:spcPct val="150000"/>
              </a:lnSpc>
            </a:pPr>
            <a:r>
              <a:rPr lang="zh-CN" altLang="en-US" sz="1800" dirty="0"/>
              <a:t>在这种运放</a:t>
            </a:r>
            <a:r>
              <a:rPr lang="en-US" altLang="zh-CN" sz="1800" dirty="0"/>
              <a:t>+</a:t>
            </a:r>
            <a:r>
              <a:rPr lang="zh-CN" altLang="en-US" sz="1800" dirty="0"/>
              <a:t>晶体管扩流的电路中，比较麻烦的是其中扩流部分的元件参数计算。下面做详细介绍</a:t>
            </a:r>
            <a:r>
              <a:rPr lang="zh-CN" altLang="en-US" sz="1800" dirty="0" smtClean="0"/>
              <a:t>。</a:t>
            </a:r>
            <a:endParaRPr lang="en-US" altLang="zh-CN" sz="1800" dirty="0" smtClean="0"/>
          </a:p>
          <a:p>
            <a:pPr indent="457200">
              <a:lnSpc>
                <a:spcPct val="150000"/>
              </a:lnSpc>
            </a:pPr>
            <a:endParaRPr lang="en-US" altLang="zh-CN" sz="1400" dirty="0"/>
          </a:p>
          <a:p>
            <a:pPr indent="457200">
              <a:lnSpc>
                <a:spcPct val="150000"/>
              </a:lnSpc>
            </a:pPr>
            <a:r>
              <a:rPr lang="en-US" altLang="zh-CN" sz="1800" dirty="0"/>
              <a:t>1</a:t>
            </a:r>
            <a:r>
              <a:rPr lang="zh-CN" altLang="en-US" sz="1800" dirty="0"/>
              <a:t>、</a:t>
            </a:r>
            <a:r>
              <a:rPr lang="zh-CN" altLang="zh-CN" sz="1800" dirty="0"/>
              <a:t>选择末级功放管</a:t>
            </a:r>
            <a:r>
              <a:rPr lang="en-US" altLang="zh-CN" sz="1800" dirty="0"/>
              <a:t>Q3</a:t>
            </a:r>
            <a:r>
              <a:rPr lang="zh-CN" altLang="zh-CN" sz="1800" dirty="0"/>
              <a:t>、</a:t>
            </a:r>
            <a:r>
              <a:rPr lang="en-US" altLang="zh-CN" sz="1800" dirty="0"/>
              <a:t>Q4</a:t>
            </a:r>
            <a:r>
              <a:rPr lang="zh-CN" altLang="en-US" sz="1800" dirty="0"/>
              <a:t>，主要选择依据是晶体管的最大允许集电极电压与最大允许集电极电流</a:t>
            </a:r>
            <a:r>
              <a:rPr lang="zh-CN" altLang="zh-CN" sz="1800" dirty="0"/>
              <a:t>。</a:t>
            </a:r>
            <a:endParaRPr lang="en-US" altLang="zh-CN" sz="1800" dirty="0"/>
          </a:p>
          <a:p>
            <a:pPr indent="457200">
              <a:lnSpc>
                <a:spcPct val="150000"/>
              </a:lnSpc>
            </a:pPr>
            <a:r>
              <a:rPr lang="zh-CN" altLang="zh-CN" sz="1800" dirty="0"/>
              <a:t>由于输出电压峰值很低</a:t>
            </a:r>
            <a:r>
              <a:rPr lang="zh-CN" altLang="en-US" sz="1800" dirty="0"/>
              <a:t>（</a:t>
            </a:r>
            <a:r>
              <a:rPr lang="en-US" altLang="zh-CN" sz="1800" dirty="0"/>
              <a:t>6V</a:t>
            </a:r>
            <a:r>
              <a:rPr lang="zh-CN" altLang="en-US" sz="1800" dirty="0"/>
              <a:t>）</a:t>
            </a:r>
            <a:r>
              <a:rPr lang="zh-CN" altLang="zh-CN" sz="1800" dirty="0"/>
              <a:t>，基本上</a:t>
            </a:r>
            <a:r>
              <a:rPr lang="zh-CN" altLang="en-US" sz="1800" dirty="0"/>
              <a:t>所有大功率</a:t>
            </a:r>
            <a:r>
              <a:rPr lang="zh-CN" altLang="en-US" sz="1800" dirty="0" smtClean="0"/>
              <a:t>晶体管的耐压都会</a:t>
            </a:r>
            <a:r>
              <a:rPr lang="zh-CN" altLang="en-US" sz="1800" dirty="0"/>
              <a:t>满足要求，所以</a:t>
            </a:r>
            <a:r>
              <a:rPr lang="zh-CN" altLang="zh-CN" sz="1800" dirty="0"/>
              <a:t>只要按照输出电流选择晶体管即可。</a:t>
            </a:r>
            <a:r>
              <a:rPr lang="zh-CN" altLang="en-US" sz="1800" dirty="0"/>
              <a:t>前面已经计算了功率放大器的输出电流峰值不低于</a:t>
            </a:r>
            <a:r>
              <a:rPr lang="en-US" altLang="zh-CN" sz="1800" dirty="0"/>
              <a:t>1.5A</a:t>
            </a:r>
            <a:r>
              <a:rPr lang="zh-CN" altLang="en-US" sz="1800" dirty="0"/>
              <a:t>，</a:t>
            </a:r>
            <a:r>
              <a:rPr lang="zh-CN" altLang="zh-CN" sz="1800" dirty="0"/>
              <a:t>笔者选用了手头现成的互补大功率晶体管对</a:t>
            </a:r>
            <a:r>
              <a:rPr lang="en-US" altLang="zh-CN" sz="1800" dirty="0"/>
              <a:t>2N3055</a:t>
            </a:r>
            <a:r>
              <a:rPr lang="zh-CN" altLang="zh-CN" sz="1800" dirty="0"/>
              <a:t>与</a:t>
            </a:r>
            <a:r>
              <a:rPr lang="en-US" altLang="zh-CN" sz="1800" dirty="0"/>
              <a:t>MJ2955</a:t>
            </a:r>
            <a:r>
              <a:rPr lang="zh-CN" altLang="zh-CN" sz="1800" dirty="0"/>
              <a:t>，该晶体管允许的最大电流为</a:t>
            </a:r>
            <a:r>
              <a:rPr lang="en-US" altLang="zh-CN" sz="1800" dirty="0"/>
              <a:t>15A</a:t>
            </a:r>
            <a:r>
              <a:rPr lang="zh-CN" altLang="zh-CN" sz="1800" dirty="0"/>
              <a:t>，有点杀鸡用牛刀的感觉。</a:t>
            </a:r>
            <a:endParaRPr lang="en-US" altLang="zh-CN" sz="1800" dirty="0"/>
          </a:p>
          <a:p>
            <a:pPr indent="457200">
              <a:lnSpc>
                <a:spcPct val="150000"/>
              </a:lnSpc>
            </a:pPr>
            <a:endParaRPr lang="en-US" altLang="zh-CN" sz="1400" dirty="0" smtClean="0"/>
          </a:p>
          <a:p>
            <a:pPr indent="457200">
              <a:lnSpc>
                <a:spcPct val="150000"/>
              </a:lnSpc>
            </a:pPr>
            <a:r>
              <a:rPr lang="en-US" altLang="zh-CN" sz="1800" dirty="0" smtClean="0"/>
              <a:t>2</a:t>
            </a:r>
            <a:r>
              <a:rPr lang="zh-CN" altLang="en-US" sz="1800" dirty="0" smtClean="0"/>
              <a:t>、选择</a:t>
            </a:r>
            <a:r>
              <a:rPr lang="zh-CN" altLang="zh-CN" sz="1800" dirty="0"/>
              <a:t>激励</a:t>
            </a:r>
            <a:r>
              <a:rPr lang="zh-CN" altLang="zh-CN" sz="1800" dirty="0" smtClean="0"/>
              <a:t>级</a:t>
            </a:r>
            <a:r>
              <a:rPr lang="zh-CN" altLang="en-US" sz="1800" dirty="0" smtClean="0"/>
              <a:t>晶体管</a:t>
            </a:r>
            <a:r>
              <a:rPr lang="en-US" altLang="zh-CN" sz="1800" dirty="0" smtClean="0"/>
              <a:t>Q1</a:t>
            </a:r>
            <a:r>
              <a:rPr lang="zh-CN" altLang="zh-CN" sz="1800" dirty="0"/>
              <a:t>与</a:t>
            </a:r>
            <a:r>
              <a:rPr lang="en-US" altLang="zh-CN" sz="1800" dirty="0" smtClean="0"/>
              <a:t>Q2</a:t>
            </a:r>
            <a:r>
              <a:rPr lang="zh-CN" altLang="zh-CN" sz="1800" dirty="0" smtClean="0"/>
              <a:t>，</a:t>
            </a:r>
            <a:r>
              <a:rPr lang="zh-CN" altLang="en-US" sz="1800" dirty="0" smtClean="0"/>
              <a:t>同样根据电路估算流过</a:t>
            </a:r>
            <a:r>
              <a:rPr lang="zh-CN" altLang="en-US" sz="1800" dirty="0"/>
              <a:t>它们的</a:t>
            </a:r>
            <a:r>
              <a:rPr lang="zh-CN" altLang="en-US" sz="1800" dirty="0" smtClean="0"/>
              <a:t>电流，大致上</a:t>
            </a:r>
            <a:r>
              <a:rPr lang="zh-CN" altLang="en-US" sz="1800" dirty="0"/>
              <a:t>是末级电流除以</a:t>
            </a:r>
            <a:r>
              <a:rPr lang="en-US" altLang="zh-CN" sz="1800" dirty="0" err="1" smtClean="0"/>
              <a:t>hfe</a:t>
            </a:r>
            <a:r>
              <a:rPr lang="zh-CN" altLang="en-US" sz="1800" dirty="0" smtClean="0"/>
              <a:t>。</a:t>
            </a:r>
            <a:endParaRPr lang="en-US" altLang="zh-CN" sz="1800" dirty="0" smtClean="0"/>
          </a:p>
          <a:p>
            <a:pPr indent="457200">
              <a:lnSpc>
                <a:spcPct val="150000"/>
              </a:lnSpc>
            </a:pPr>
            <a:r>
              <a:rPr lang="zh-CN" altLang="zh-CN" sz="1800" dirty="0" smtClean="0"/>
              <a:t>大功率</a:t>
            </a:r>
            <a:r>
              <a:rPr lang="zh-CN" altLang="zh-CN" sz="1800" dirty="0"/>
              <a:t>晶体管对</a:t>
            </a:r>
            <a:r>
              <a:rPr lang="en-US" altLang="zh-CN" sz="1800" dirty="0"/>
              <a:t>2N3055</a:t>
            </a:r>
            <a:r>
              <a:rPr lang="zh-CN" altLang="zh-CN" sz="1800" dirty="0"/>
              <a:t>与</a:t>
            </a:r>
            <a:r>
              <a:rPr lang="en-US" altLang="zh-CN" sz="1800" dirty="0"/>
              <a:t>MJ2955</a:t>
            </a:r>
            <a:r>
              <a:rPr lang="zh-CN" altLang="en-US" sz="1800" dirty="0"/>
              <a:t>在电流为</a:t>
            </a:r>
            <a:r>
              <a:rPr lang="en-US" altLang="zh-CN" sz="1800" dirty="0"/>
              <a:t>1.5A</a:t>
            </a:r>
            <a:r>
              <a:rPr lang="zh-CN" altLang="en-US" sz="1800" dirty="0"/>
              <a:t>时的</a:t>
            </a:r>
            <a:r>
              <a:rPr lang="en-US" altLang="zh-CN" sz="1800" dirty="0" err="1"/>
              <a:t>hfe</a:t>
            </a:r>
            <a:r>
              <a:rPr lang="zh-CN" altLang="en-US" sz="1800" dirty="0"/>
              <a:t>均大于</a:t>
            </a:r>
            <a:r>
              <a:rPr lang="en-US" altLang="zh-CN" sz="1800" dirty="0"/>
              <a:t>40</a:t>
            </a:r>
            <a:r>
              <a:rPr lang="zh-CN" altLang="en-US" sz="1800" dirty="0"/>
              <a:t>，按</a:t>
            </a:r>
            <a:r>
              <a:rPr lang="en-US" altLang="zh-CN" sz="1800" dirty="0"/>
              <a:t>40</a:t>
            </a:r>
            <a:r>
              <a:rPr lang="zh-CN" altLang="en-US" sz="1800" dirty="0"/>
              <a:t>算则流过</a:t>
            </a:r>
            <a:r>
              <a:rPr lang="en-US" altLang="zh-CN" sz="1800" dirty="0"/>
              <a:t>Q1</a:t>
            </a:r>
            <a:r>
              <a:rPr lang="zh-CN" altLang="en-US" sz="1800" dirty="0"/>
              <a:t>与</a:t>
            </a:r>
            <a:r>
              <a:rPr lang="en-US" altLang="zh-CN" sz="1800" dirty="0"/>
              <a:t>Q2</a:t>
            </a:r>
            <a:r>
              <a:rPr lang="zh-CN" altLang="en-US" sz="1800" dirty="0"/>
              <a:t>的最大电流大约是</a:t>
            </a:r>
            <a:r>
              <a:rPr lang="en-US" altLang="zh-CN" sz="1800" dirty="0"/>
              <a:t>40mA</a:t>
            </a:r>
            <a:r>
              <a:rPr lang="zh-CN" altLang="en-US" sz="1800" dirty="0"/>
              <a:t>，按照此值选择晶体管</a:t>
            </a:r>
            <a:r>
              <a:rPr lang="zh-CN" altLang="en-US" sz="1800" dirty="0" smtClean="0"/>
              <a:t>。实际选用</a:t>
            </a:r>
            <a:r>
              <a:rPr lang="en-US" altLang="zh-CN" sz="1800" dirty="0" smtClean="0"/>
              <a:t>2N3906</a:t>
            </a:r>
            <a:r>
              <a:rPr lang="zh-CN" altLang="en-US" sz="1800" dirty="0"/>
              <a:t>与</a:t>
            </a:r>
            <a:r>
              <a:rPr lang="en-US" altLang="zh-CN" sz="1800" dirty="0"/>
              <a:t>2N3904</a:t>
            </a:r>
            <a:r>
              <a:rPr lang="zh-CN" altLang="en-US" sz="1800" dirty="0"/>
              <a:t>，它们的最大允许集电极电流都是</a:t>
            </a:r>
            <a:r>
              <a:rPr lang="en-US" altLang="zh-CN" sz="1800" dirty="0"/>
              <a:t>200mA</a:t>
            </a:r>
            <a:r>
              <a:rPr lang="zh-CN" altLang="en-US" sz="1800" dirty="0"/>
              <a:t>。</a:t>
            </a:r>
            <a:endParaRPr lang="en-US" altLang="zh-CN" sz="1800" dirty="0"/>
          </a:p>
          <a:p>
            <a:pPr indent="457200">
              <a:lnSpc>
                <a:spcPct val="150000"/>
              </a:lnSpc>
            </a:pPr>
            <a:endParaRPr lang="en-US" altLang="zh-CN" sz="1400" dirty="0" smtClean="0"/>
          </a:p>
          <a:p>
            <a:pPr indent="457200">
              <a:lnSpc>
                <a:spcPct val="150000"/>
              </a:lnSpc>
            </a:pPr>
            <a:r>
              <a:rPr lang="en-US" altLang="zh-CN" sz="1800" dirty="0" smtClean="0"/>
              <a:t>3</a:t>
            </a:r>
            <a:r>
              <a:rPr lang="zh-CN" altLang="en-US" sz="1800" dirty="0"/>
              <a:t>、指定</a:t>
            </a:r>
            <a:r>
              <a:rPr lang="en-US" altLang="zh-CN" sz="1800" dirty="0"/>
              <a:t>R7</a:t>
            </a:r>
            <a:r>
              <a:rPr lang="zh-CN" altLang="zh-CN" sz="1800" dirty="0"/>
              <a:t>与</a:t>
            </a:r>
            <a:r>
              <a:rPr lang="en-US" altLang="zh-CN" sz="1800" dirty="0"/>
              <a:t>R8</a:t>
            </a:r>
            <a:r>
              <a:rPr lang="zh-CN" altLang="en-US" sz="1800" dirty="0"/>
              <a:t>的阻值。这两个电阻</a:t>
            </a:r>
            <a:r>
              <a:rPr lang="zh-CN" altLang="zh-CN" sz="1800" dirty="0"/>
              <a:t>是末级功放的电流串联负反馈电阻，可以有效地抑制由于晶体管发热引起的电流失控。</a:t>
            </a:r>
            <a:r>
              <a:rPr lang="zh-CN" altLang="en-US" sz="1800" dirty="0"/>
              <a:t>通常要求它们远小于负载电阻，</a:t>
            </a:r>
            <a:r>
              <a:rPr lang="zh-CN" altLang="zh-CN" sz="1800" dirty="0"/>
              <a:t>实际电路中用</a:t>
            </a:r>
            <a:r>
              <a:rPr lang="zh-CN" altLang="zh-CN" sz="1800" dirty="0" smtClean="0"/>
              <a:t>了三</a:t>
            </a:r>
            <a:r>
              <a:rPr lang="zh-CN" altLang="zh-CN" sz="1800" dirty="0"/>
              <a:t>个</a:t>
            </a:r>
            <a:r>
              <a:rPr lang="en-US" altLang="zh-CN" sz="1800" dirty="0"/>
              <a:t>0.5</a:t>
            </a:r>
            <a:r>
              <a:rPr lang="zh-CN" altLang="zh-CN" sz="1800" dirty="0"/>
              <a:t>欧姆的电阻</a:t>
            </a:r>
            <a:r>
              <a:rPr lang="zh-CN" altLang="zh-CN" sz="1800" dirty="0" smtClean="0"/>
              <a:t>并联</a:t>
            </a:r>
            <a:r>
              <a:rPr lang="zh-CN" altLang="en-US" sz="1800" dirty="0" smtClean="0"/>
              <a:t>，满足了阻值要求同时也保证了功率裕量</a:t>
            </a:r>
            <a:r>
              <a:rPr lang="zh-CN" altLang="zh-CN" sz="1800" dirty="0" smtClean="0"/>
              <a:t>。</a:t>
            </a:r>
            <a:endParaRPr lang="zh-CN" altLang="zh-CN" sz="1800" dirty="0"/>
          </a:p>
        </p:txBody>
      </p:sp>
    </p:spTree>
    <p:extLst>
      <p:ext uri="{BB962C8B-B14F-4D97-AF65-F5344CB8AC3E}">
        <p14:creationId xmlns:p14="http://schemas.microsoft.com/office/powerpoint/2010/main" val="34217998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sp>
        <p:nvSpPr>
          <p:cNvPr id="5" name="矩形 4"/>
          <p:cNvSpPr/>
          <p:nvPr/>
        </p:nvSpPr>
        <p:spPr>
          <a:xfrm>
            <a:off x="428171" y="580113"/>
            <a:ext cx="11205029" cy="4662815"/>
          </a:xfrm>
          <a:prstGeom prst="rect">
            <a:avLst/>
          </a:prstGeom>
        </p:spPr>
        <p:txBody>
          <a:bodyPr wrap="square">
            <a:spAutoFit/>
          </a:bodyPr>
          <a:lstStyle/>
          <a:p>
            <a:pPr indent="457200">
              <a:lnSpc>
                <a:spcPct val="150000"/>
              </a:lnSpc>
            </a:pPr>
            <a:r>
              <a:rPr lang="en-US" altLang="zh-CN" sz="1800" dirty="0"/>
              <a:t>4</a:t>
            </a:r>
            <a:r>
              <a:rPr lang="zh-CN" altLang="en-US" sz="1800" dirty="0"/>
              <a:t>、指定各级静态工作点</a:t>
            </a:r>
            <a:r>
              <a:rPr lang="zh-CN" altLang="en-US" sz="1800" dirty="0" smtClean="0"/>
              <a:t>电流，计算激励级发射极电阻</a:t>
            </a:r>
            <a:r>
              <a:rPr lang="en-US" altLang="zh-CN" sz="1800" dirty="0"/>
              <a:t>R5</a:t>
            </a:r>
            <a:r>
              <a:rPr lang="zh-CN" altLang="zh-CN" sz="1800" dirty="0"/>
              <a:t>与</a:t>
            </a:r>
            <a:r>
              <a:rPr lang="en-US" altLang="zh-CN" sz="1800" dirty="0"/>
              <a:t>R6 </a:t>
            </a:r>
            <a:r>
              <a:rPr lang="zh-CN" altLang="en-US" sz="1800" dirty="0" smtClean="0"/>
              <a:t>。</a:t>
            </a:r>
            <a:endParaRPr lang="en-US" altLang="zh-CN" sz="1800" dirty="0"/>
          </a:p>
          <a:p>
            <a:pPr indent="457200">
              <a:lnSpc>
                <a:spcPct val="150000"/>
              </a:lnSpc>
            </a:pPr>
            <a:r>
              <a:rPr lang="zh-CN" altLang="en-US" sz="1800" dirty="0"/>
              <a:t>为了避免推挽输出两组晶体管交替导通过程中的交越失真，要求两组晶体管具有一定的静态电流。该静态电流太小则不能完全消除交越失真，太大则晶体管发热严重，通常控制在</a:t>
            </a:r>
            <a:r>
              <a:rPr lang="zh-CN" altLang="zh-CN" sz="1800" dirty="0"/>
              <a:t>毫安数量级</a:t>
            </a:r>
            <a:r>
              <a:rPr lang="zh-CN" altLang="en-US" sz="1800" dirty="0"/>
              <a:t>。</a:t>
            </a:r>
            <a:endParaRPr lang="en-US" altLang="zh-CN" sz="1800" dirty="0"/>
          </a:p>
          <a:p>
            <a:pPr indent="457200">
              <a:lnSpc>
                <a:spcPct val="150000"/>
              </a:lnSpc>
            </a:pPr>
            <a:r>
              <a:rPr lang="en-US" altLang="zh-CN" sz="1800" dirty="0"/>
              <a:t>Q3</a:t>
            </a:r>
            <a:r>
              <a:rPr lang="zh-CN" altLang="en-US" sz="1800" dirty="0"/>
              <a:t>与</a:t>
            </a:r>
            <a:r>
              <a:rPr lang="en-US" altLang="zh-CN" sz="1800" dirty="0"/>
              <a:t>Q4</a:t>
            </a:r>
            <a:r>
              <a:rPr lang="zh-CN" altLang="en-US" sz="1800" dirty="0"/>
              <a:t>的集电极电流在毫安数量级时，其</a:t>
            </a:r>
            <a:r>
              <a:rPr lang="en-US" altLang="zh-CN" sz="1800" dirty="0"/>
              <a:t>V</a:t>
            </a:r>
            <a:r>
              <a:rPr lang="en-US" altLang="zh-CN" sz="1800" baseline="-25000" dirty="0"/>
              <a:t>BE</a:t>
            </a:r>
            <a:r>
              <a:rPr lang="zh-CN" altLang="en-US" sz="1800" dirty="0"/>
              <a:t>大约为</a:t>
            </a:r>
            <a:r>
              <a:rPr lang="en-US" altLang="zh-CN" sz="1800" dirty="0"/>
              <a:t>0.5~0.6V</a:t>
            </a:r>
            <a:r>
              <a:rPr lang="zh-CN" altLang="en-US" sz="1800" dirty="0"/>
              <a:t>（设计时可通过图示仪实测）。而</a:t>
            </a:r>
            <a:r>
              <a:rPr lang="en-US" altLang="zh-CN" sz="1800" dirty="0"/>
              <a:t>Q1</a:t>
            </a:r>
            <a:r>
              <a:rPr lang="zh-CN" altLang="en-US" sz="1800" dirty="0"/>
              <a:t>与</a:t>
            </a:r>
            <a:r>
              <a:rPr lang="en-US" altLang="zh-CN" sz="1800" dirty="0"/>
              <a:t>Q2</a:t>
            </a:r>
            <a:r>
              <a:rPr lang="zh-CN" altLang="en-US" sz="1800" dirty="0"/>
              <a:t>的静态电流</a:t>
            </a:r>
            <a:r>
              <a:rPr lang="zh-CN" altLang="zh-CN" sz="1800" dirty="0"/>
              <a:t>在</a:t>
            </a:r>
            <a:r>
              <a:rPr lang="en-US" altLang="zh-CN" sz="1800" dirty="0"/>
              <a:t>R5</a:t>
            </a:r>
            <a:r>
              <a:rPr lang="zh-CN" altLang="zh-CN" sz="1800" dirty="0"/>
              <a:t>与</a:t>
            </a:r>
            <a:r>
              <a:rPr lang="en-US" altLang="zh-CN" sz="1800" dirty="0"/>
              <a:t>R6</a:t>
            </a:r>
            <a:r>
              <a:rPr lang="zh-CN" altLang="zh-CN" sz="1800" dirty="0"/>
              <a:t>上的</a:t>
            </a:r>
            <a:r>
              <a:rPr lang="zh-CN" altLang="zh-CN" sz="1800" dirty="0" smtClean="0"/>
              <a:t>压降</a:t>
            </a:r>
            <a:r>
              <a:rPr lang="en-US" altLang="zh-CN" sz="1800" dirty="0" smtClean="0"/>
              <a:t>=</a:t>
            </a:r>
            <a:r>
              <a:rPr lang="zh-CN" altLang="en-US" sz="1800" dirty="0" smtClean="0"/>
              <a:t>（</a:t>
            </a:r>
            <a:r>
              <a:rPr lang="en-US" altLang="zh-CN" sz="1800" dirty="0" smtClean="0"/>
              <a:t>Q3</a:t>
            </a:r>
            <a:r>
              <a:rPr lang="zh-CN" altLang="zh-CN" sz="1800" dirty="0"/>
              <a:t>与</a:t>
            </a:r>
            <a:r>
              <a:rPr lang="en-US" altLang="zh-CN" sz="1800" dirty="0"/>
              <a:t>Q4</a:t>
            </a:r>
            <a:r>
              <a:rPr lang="zh-CN" altLang="zh-CN" sz="1800" dirty="0"/>
              <a:t>的静态</a:t>
            </a:r>
            <a:r>
              <a:rPr lang="en-US" altLang="zh-CN" sz="1800" dirty="0" smtClean="0"/>
              <a:t>V</a:t>
            </a:r>
            <a:r>
              <a:rPr lang="en-US" altLang="zh-CN" sz="1800" baseline="-25000" dirty="0" smtClean="0"/>
              <a:t>BE</a:t>
            </a:r>
            <a:r>
              <a:rPr lang="zh-CN" altLang="en-US" sz="1800" dirty="0" smtClean="0"/>
              <a:t>）</a:t>
            </a:r>
            <a:r>
              <a:rPr lang="en-US" altLang="zh-CN" sz="1800" dirty="0" smtClean="0"/>
              <a:t>+</a:t>
            </a:r>
            <a:r>
              <a:rPr lang="zh-CN" altLang="en-US" sz="1800" dirty="0" smtClean="0"/>
              <a:t>（末</a:t>
            </a:r>
            <a:r>
              <a:rPr lang="zh-CN" altLang="en-US" sz="1800" dirty="0"/>
              <a:t>级静态电流在</a:t>
            </a:r>
            <a:r>
              <a:rPr lang="en-US" altLang="zh-CN" sz="1800" dirty="0"/>
              <a:t>R7</a:t>
            </a:r>
            <a:r>
              <a:rPr lang="zh-CN" altLang="en-US" sz="1800" dirty="0"/>
              <a:t>和</a:t>
            </a:r>
            <a:r>
              <a:rPr lang="en-US" altLang="zh-CN" sz="1800" dirty="0"/>
              <a:t>R8</a:t>
            </a:r>
            <a:r>
              <a:rPr lang="zh-CN" altLang="en-US" sz="1800" dirty="0"/>
              <a:t>上的</a:t>
            </a:r>
            <a:r>
              <a:rPr lang="zh-CN" altLang="en-US" sz="1800" dirty="0" smtClean="0"/>
              <a:t>压降）</a:t>
            </a:r>
            <a:r>
              <a:rPr lang="zh-CN" altLang="zh-CN" sz="1800" dirty="0" smtClean="0"/>
              <a:t>。</a:t>
            </a:r>
            <a:endParaRPr lang="en-US" altLang="zh-CN" sz="1800" dirty="0"/>
          </a:p>
          <a:p>
            <a:pPr indent="457200">
              <a:lnSpc>
                <a:spcPct val="150000"/>
              </a:lnSpc>
            </a:pPr>
            <a:r>
              <a:rPr lang="zh-CN" altLang="en-US" sz="1800" dirty="0" smtClean="0"/>
              <a:t>按照</a:t>
            </a:r>
            <a:r>
              <a:rPr lang="zh-CN" altLang="en-US" sz="1800" dirty="0"/>
              <a:t>上述</a:t>
            </a:r>
            <a:r>
              <a:rPr lang="zh-CN" altLang="en-US" sz="1800" dirty="0" smtClean="0"/>
              <a:t>关系可以计算</a:t>
            </a:r>
            <a:r>
              <a:rPr lang="en-US" altLang="zh-CN" sz="1800" dirty="0" smtClean="0"/>
              <a:t>R5</a:t>
            </a:r>
            <a:r>
              <a:rPr lang="zh-CN" altLang="en-US" sz="1800" dirty="0"/>
              <a:t>与</a:t>
            </a:r>
            <a:r>
              <a:rPr lang="en-US" altLang="zh-CN" sz="1800" dirty="0"/>
              <a:t>R6</a:t>
            </a:r>
            <a:r>
              <a:rPr lang="zh-CN" altLang="en-US" sz="1800" dirty="0"/>
              <a:t>的值</a:t>
            </a:r>
            <a:r>
              <a:rPr lang="zh-CN" altLang="en-US" sz="1800" dirty="0" smtClean="0"/>
              <a:t>。</a:t>
            </a:r>
            <a:endParaRPr lang="en-US" altLang="zh-CN" sz="1800" dirty="0" smtClean="0"/>
          </a:p>
          <a:p>
            <a:pPr indent="457200">
              <a:lnSpc>
                <a:spcPct val="150000"/>
              </a:lnSpc>
            </a:pPr>
            <a:r>
              <a:rPr lang="zh-CN" altLang="en-US" sz="1800" dirty="0" smtClean="0"/>
              <a:t>例如，假设</a:t>
            </a:r>
            <a:r>
              <a:rPr lang="en-US" altLang="zh-CN" sz="1800" dirty="0"/>
              <a:t>Q3</a:t>
            </a:r>
            <a:r>
              <a:rPr lang="zh-CN" altLang="en-US" sz="1800" dirty="0"/>
              <a:t>与</a:t>
            </a:r>
            <a:r>
              <a:rPr lang="en-US" altLang="zh-CN" sz="1800" dirty="0"/>
              <a:t>Q4</a:t>
            </a:r>
            <a:r>
              <a:rPr lang="zh-CN" altLang="en-US" sz="1800" dirty="0" smtClean="0"/>
              <a:t>的静态集电极电流为</a:t>
            </a:r>
            <a:r>
              <a:rPr lang="en-US" altLang="zh-CN" sz="1800" dirty="0" smtClean="0"/>
              <a:t>3</a:t>
            </a:r>
            <a:r>
              <a:rPr lang="zh-CN" altLang="en-US" sz="1800" dirty="0" smtClean="0"/>
              <a:t>毫安，则</a:t>
            </a:r>
            <a:endParaRPr lang="en-US" altLang="zh-CN" sz="1800" dirty="0"/>
          </a:p>
          <a:p>
            <a:pPr indent="457200">
              <a:lnSpc>
                <a:spcPct val="150000"/>
              </a:lnSpc>
            </a:pPr>
            <a:r>
              <a:rPr lang="en-US" altLang="zh-CN" sz="1800" dirty="0" smtClean="0"/>
              <a:t>	R5</a:t>
            </a:r>
            <a:r>
              <a:rPr lang="zh-CN" altLang="zh-CN" sz="1800" dirty="0"/>
              <a:t>与</a:t>
            </a:r>
            <a:r>
              <a:rPr lang="en-US" altLang="zh-CN" sz="1800" dirty="0"/>
              <a:t>R6</a:t>
            </a:r>
            <a:r>
              <a:rPr lang="zh-CN" altLang="zh-CN" sz="1800" dirty="0"/>
              <a:t>上的</a:t>
            </a:r>
            <a:r>
              <a:rPr lang="zh-CN" altLang="zh-CN" sz="1800" dirty="0" smtClean="0"/>
              <a:t>压降</a:t>
            </a:r>
            <a:r>
              <a:rPr lang="en-US" altLang="zh-CN" sz="1800" dirty="0" smtClean="0"/>
              <a:t>=</a:t>
            </a:r>
            <a:r>
              <a:rPr lang="zh-CN" altLang="en-US" sz="1800" dirty="0" smtClean="0"/>
              <a:t>（</a:t>
            </a:r>
            <a:r>
              <a:rPr lang="en-US" altLang="zh-CN" sz="1800" dirty="0" smtClean="0"/>
              <a:t>0.5~0.6</a:t>
            </a:r>
            <a:r>
              <a:rPr lang="zh-CN" altLang="en-US" sz="1800" dirty="0" smtClean="0"/>
              <a:t>）</a:t>
            </a:r>
            <a:r>
              <a:rPr lang="en-US" altLang="zh-CN" sz="1800" dirty="0" smtClean="0"/>
              <a:t>+</a:t>
            </a:r>
            <a:r>
              <a:rPr lang="zh-CN" altLang="en-US" sz="1800" dirty="0" smtClean="0"/>
              <a:t>（</a:t>
            </a:r>
            <a:r>
              <a:rPr lang="en-US" altLang="zh-CN" sz="1800" dirty="0" smtClean="0"/>
              <a:t>3</a:t>
            </a:r>
            <a:r>
              <a:rPr lang="zh-CN" altLang="en-US" sz="1800" dirty="0" smtClean="0"/>
              <a:t>*</a:t>
            </a:r>
            <a:r>
              <a:rPr lang="en-US" altLang="zh-CN" sz="1800" dirty="0" smtClean="0"/>
              <a:t>0.17</a:t>
            </a:r>
            <a:r>
              <a:rPr lang="zh-CN" altLang="en-US" sz="1800" dirty="0" smtClean="0"/>
              <a:t>）</a:t>
            </a:r>
            <a:r>
              <a:rPr lang="en-US" altLang="zh-CN" sz="1800" dirty="0" smtClean="0"/>
              <a:t>=</a:t>
            </a:r>
            <a:r>
              <a:rPr lang="zh-CN" altLang="en-US" sz="1800" dirty="0" smtClean="0"/>
              <a:t>（</a:t>
            </a:r>
            <a:r>
              <a:rPr lang="en-US" altLang="zh-CN" sz="1800" dirty="0" smtClean="0"/>
              <a:t>1~1.1</a:t>
            </a:r>
            <a:r>
              <a:rPr lang="zh-CN" altLang="en-US" sz="1800" dirty="0" smtClean="0"/>
              <a:t>）</a:t>
            </a:r>
            <a:r>
              <a:rPr lang="en-US" altLang="zh-CN" sz="1800" dirty="0" smtClean="0"/>
              <a:t>V</a:t>
            </a:r>
          </a:p>
          <a:p>
            <a:pPr indent="457200">
              <a:lnSpc>
                <a:spcPct val="150000"/>
              </a:lnSpc>
            </a:pPr>
            <a:r>
              <a:rPr lang="zh-CN" altLang="en-US" sz="1800" dirty="0"/>
              <a:t>指定</a:t>
            </a:r>
            <a:r>
              <a:rPr lang="zh-CN" altLang="zh-CN" sz="1800" dirty="0" smtClean="0"/>
              <a:t>激励</a:t>
            </a:r>
            <a:r>
              <a:rPr lang="zh-CN" altLang="zh-CN" sz="1800" dirty="0"/>
              <a:t>级</a:t>
            </a:r>
            <a:r>
              <a:rPr lang="en-US" altLang="zh-CN" sz="1800" dirty="0"/>
              <a:t>Q1</a:t>
            </a:r>
            <a:r>
              <a:rPr lang="zh-CN" altLang="en-US" sz="1800" dirty="0"/>
              <a:t>与</a:t>
            </a:r>
            <a:r>
              <a:rPr lang="en-US" altLang="zh-CN" sz="1800" dirty="0"/>
              <a:t>Q2</a:t>
            </a:r>
            <a:r>
              <a:rPr lang="zh-CN" altLang="zh-CN" sz="1800" dirty="0"/>
              <a:t>的静态</a:t>
            </a:r>
            <a:r>
              <a:rPr lang="zh-CN" altLang="zh-CN" sz="1800" dirty="0" smtClean="0"/>
              <a:t>电流为</a:t>
            </a:r>
            <a:r>
              <a:rPr lang="en-US" altLang="zh-CN" sz="1800" dirty="0" smtClean="0"/>
              <a:t>1~2mA</a:t>
            </a:r>
            <a:r>
              <a:rPr lang="zh-CN" altLang="en-US" sz="1800" dirty="0" smtClean="0"/>
              <a:t>（理由与</a:t>
            </a:r>
            <a:r>
              <a:rPr lang="en-US" altLang="zh-CN" sz="1800" dirty="0" smtClean="0"/>
              <a:t>Q3</a:t>
            </a:r>
            <a:r>
              <a:rPr lang="zh-CN" altLang="en-US" sz="1800" dirty="0" smtClean="0"/>
              <a:t>、</a:t>
            </a:r>
            <a:r>
              <a:rPr lang="en-US" altLang="zh-CN" sz="1800" dirty="0" smtClean="0"/>
              <a:t>Q4</a:t>
            </a:r>
            <a:r>
              <a:rPr lang="zh-CN" altLang="en-US" sz="1800" dirty="0" smtClean="0"/>
              <a:t>相同），可以计算</a:t>
            </a:r>
            <a:r>
              <a:rPr lang="en-US" altLang="zh-CN" sz="1800" dirty="0"/>
              <a:t>R5</a:t>
            </a:r>
            <a:r>
              <a:rPr lang="zh-CN" altLang="zh-CN" sz="1800" dirty="0"/>
              <a:t>与</a:t>
            </a:r>
            <a:r>
              <a:rPr lang="en-US" altLang="zh-CN" sz="1800" dirty="0"/>
              <a:t>R6 </a:t>
            </a:r>
            <a:r>
              <a:rPr lang="zh-CN" altLang="en-US" sz="1800" dirty="0" smtClean="0"/>
              <a:t>应该在</a:t>
            </a:r>
            <a:r>
              <a:rPr lang="en-US" altLang="zh-CN" sz="1800" dirty="0" smtClean="0"/>
              <a:t>470</a:t>
            </a:r>
            <a:r>
              <a:rPr lang="el-GR" altLang="zh-CN" sz="1800" dirty="0" smtClean="0">
                <a:latin typeface="Arial" panose="020B0604020202020204" pitchFamily="34" charset="0"/>
                <a:cs typeface="Arial" panose="020B0604020202020204" pitchFamily="34" charset="0"/>
              </a:rPr>
              <a:t>Ω</a:t>
            </a:r>
            <a:r>
              <a:rPr lang="en-US" altLang="zh-CN" sz="1800" dirty="0" smtClean="0">
                <a:latin typeface="Arial" panose="020B0604020202020204" pitchFamily="34" charset="0"/>
                <a:cs typeface="Arial" panose="020B0604020202020204" pitchFamily="34" charset="0"/>
              </a:rPr>
              <a:t>~1k</a:t>
            </a:r>
            <a:r>
              <a:rPr lang="el-GR" altLang="zh-CN" sz="1800" dirty="0" smtClean="0">
                <a:latin typeface="Arial" panose="020B0604020202020204" pitchFamily="34" charset="0"/>
                <a:cs typeface="Arial" panose="020B0604020202020204" pitchFamily="34" charset="0"/>
              </a:rPr>
              <a:t>Ω</a:t>
            </a:r>
            <a:r>
              <a:rPr lang="zh-CN" altLang="en-US" sz="1800" dirty="0" smtClean="0">
                <a:latin typeface="Times New Roman" panose="02020603050405020304" pitchFamily="18" charset="0"/>
                <a:cs typeface="Times New Roman" panose="02020603050405020304" pitchFamily="18" charset="0"/>
              </a:rPr>
              <a:t>之间</a:t>
            </a:r>
            <a:r>
              <a:rPr lang="zh-CN" altLang="en-US" sz="1800" dirty="0" smtClean="0"/>
              <a:t>，实际电路中取了</a:t>
            </a:r>
            <a:r>
              <a:rPr lang="en-US" altLang="zh-CN" sz="1800" dirty="0" smtClean="0"/>
              <a:t>470</a:t>
            </a:r>
            <a:r>
              <a:rPr lang="zh-CN" altLang="en-US" sz="1800" dirty="0" smtClean="0"/>
              <a:t>。</a:t>
            </a:r>
            <a:endParaRPr lang="en-US" altLang="zh-CN" sz="1800" dirty="0" smtClean="0"/>
          </a:p>
          <a:p>
            <a:pPr indent="457200">
              <a:lnSpc>
                <a:spcPct val="150000"/>
              </a:lnSpc>
            </a:pPr>
            <a:endParaRPr lang="zh-CN" altLang="zh-CN" sz="1800" dirty="0"/>
          </a:p>
        </p:txBody>
      </p:sp>
    </p:spTree>
    <p:extLst>
      <p:ext uri="{BB962C8B-B14F-4D97-AF65-F5344CB8AC3E}">
        <p14:creationId xmlns:p14="http://schemas.microsoft.com/office/powerpoint/2010/main" val="27606818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5" name="矩形 4"/>
          <p:cNvSpPr/>
          <p:nvPr/>
        </p:nvSpPr>
        <p:spPr>
          <a:xfrm>
            <a:off x="486228" y="522466"/>
            <a:ext cx="11197771" cy="5078313"/>
          </a:xfrm>
          <a:prstGeom prst="rect">
            <a:avLst/>
          </a:prstGeom>
        </p:spPr>
        <p:txBody>
          <a:bodyPr wrap="square">
            <a:spAutoFit/>
          </a:bodyPr>
          <a:lstStyle/>
          <a:p>
            <a:pPr indent="457200">
              <a:lnSpc>
                <a:spcPct val="150000"/>
              </a:lnSpc>
            </a:pPr>
            <a:r>
              <a:rPr lang="en-US" altLang="zh-CN" sz="1800" dirty="0" smtClean="0"/>
              <a:t>5</a:t>
            </a:r>
            <a:r>
              <a:rPr lang="zh-CN" altLang="en-US" sz="1800" dirty="0" smtClean="0"/>
              <a:t>、</a:t>
            </a:r>
            <a:r>
              <a:rPr lang="zh-CN" altLang="en-US" sz="1800" dirty="0"/>
              <a:t>设计偏置电路。</a:t>
            </a:r>
            <a:endParaRPr lang="en-US" altLang="zh-CN" sz="1800" dirty="0"/>
          </a:p>
          <a:p>
            <a:pPr indent="457200">
              <a:lnSpc>
                <a:spcPct val="150000"/>
              </a:lnSpc>
            </a:pPr>
            <a:r>
              <a:rPr lang="zh-CN" altLang="zh-CN" sz="1800" dirty="0"/>
              <a:t>从</a:t>
            </a:r>
            <a:r>
              <a:rPr lang="en-US" altLang="zh-CN" sz="1800" dirty="0"/>
              <a:t>R2</a:t>
            </a:r>
            <a:r>
              <a:rPr lang="zh-CN" altLang="zh-CN" sz="1800" dirty="0"/>
              <a:t>到</a:t>
            </a:r>
            <a:r>
              <a:rPr lang="en-US" altLang="zh-CN" sz="1800" dirty="0"/>
              <a:t>R4</a:t>
            </a:r>
            <a:r>
              <a:rPr lang="zh-CN" altLang="zh-CN" sz="1800" dirty="0"/>
              <a:t>这一大串电阻与二极管是功放的偏置电路。由于</a:t>
            </a:r>
            <a:r>
              <a:rPr lang="en-US" altLang="zh-CN" sz="1800" dirty="0"/>
              <a:t>Q1</a:t>
            </a:r>
            <a:r>
              <a:rPr lang="zh-CN" altLang="zh-CN" sz="1800" dirty="0"/>
              <a:t>基极到</a:t>
            </a:r>
            <a:r>
              <a:rPr lang="en-US" altLang="zh-CN" sz="1800" dirty="0"/>
              <a:t>Q2</a:t>
            </a:r>
            <a:r>
              <a:rPr lang="zh-CN" altLang="zh-CN" sz="1800" dirty="0"/>
              <a:t>基极之间的静态电压差大致为</a:t>
            </a:r>
            <a:r>
              <a:rPr lang="en-US" altLang="zh-CN" sz="1800" dirty="0"/>
              <a:t>4</a:t>
            </a:r>
            <a:r>
              <a:rPr lang="zh-CN" altLang="zh-CN" sz="1800" dirty="0"/>
              <a:t>个晶体管</a:t>
            </a:r>
            <a:r>
              <a:rPr lang="en-US" altLang="zh-CN" sz="1800" dirty="0"/>
              <a:t>BE</a:t>
            </a:r>
            <a:r>
              <a:rPr lang="zh-CN" altLang="zh-CN" sz="1800" dirty="0"/>
              <a:t>结的压降，所以在偏置电路中设置了</a:t>
            </a:r>
            <a:r>
              <a:rPr lang="en-US" altLang="zh-CN" sz="1800" dirty="0"/>
              <a:t>3</a:t>
            </a:r>
            <a:r>
              <a:rPr lang="zh-CN" altLang="zh-CN" sz="1800" dirty="0"/>
              <a:t>个二极管与一个可变电阻</a:t>
            </a:r>
            <a:r>
              <a:rPr lang="en-US" altLang="zh-CN" sz="1800" dirty="0"/>
              <a:t>R3</a:t>
            </a:r>
            <a:r>
              <a:rPr lang="zh-CN" altLang="zh-CN" sz="1800" dirty="0"/>
              <a:t>。假设这些二极管与</a:t>
            </a:r>
            <a:r>
              <a:rPr lang="en-US" altLang="zh-CN" sz="1800" dirty="0"/>
              <a:t>Q1~Q4</a:t>
            </a:r>
            <a:r>
              <a:rPr lang="zh-CN" altLang="zh-CN" sz="1800" dirty="0"/>
              <a:t>有相同的温度，则二极管可以提供温度补偿作用。调节</a:t>
            </a:r>
            <a:r>
              <a:rPr lang="en-US" altLang="zh-CN" sz="1800" dirty="0"/>
              <a:t>R3</a:t>
            </a:r>
            <a:r>
              <a:rPr lang="zh-CN" altLang="zh-CN" sz="1800" dirty="0"/>
              <a:t>则可以调节加在各晶体管上的偏置电压，所以它是偏置调整电阻。</a:t>
            </a:r>
          </a:p>
          <a:p>
            <a:pPr indent="457200">
              <a:lnSpc>
                <a:spcPct val="150000"/>
              </a:lnSpc>
            </a:pPr>
            <a:r>
              <a:rPr lang="en-US" altLang="zh-CN" sz="1800" dirty="0"/>
              <a:t>R2</a:t>
            </a:r>
            <a:r>
              <a:rPr lang="zh-CN" altLang="zh-CN" sz="1800" dirty="0"/>
              <a:t>与</a:t>
            </a:r>
            <a:r>
              <a:rPr lang="en-US" altLang="zh-CN" sz="1800" dirty="0"/>
              <a:t>R4</a:t>
            </a:r>
            <a:r>
              <a:rPr lang="zh-CN" altLang="zh-CN" sz="1800" dirty="0"/>
              <a:t>的阻值的设计过程如下（以</a:t>
            </a:r>
            <a:r>
              <a:rPr lang="en-US" altLang="zh-CN" sz="1800" dirty="0"/>
              <a:t>R2</a:t>
            </a:r>
            <a:r>
              <a:rPr lang="zh-CN" altLang="zh-CN" sz="1800" dirty="0"/>
              <a:t>为例）。当输出到达极大值</a:t>
            </a:r>
            <a:r>
              <a:rPr lang="en-US" altLang="zh-CN" sz="1800" dirty="0"/>
              <a:t>+5.66V</a:t>
            </a:r>
            <a:r>
              <a:rPr lang="zh-CN" altLang="zh-CN" sz="1800" dirty="0"/>
              <a:t>时，晶体管</a:t>
            </a:r>
            <a:r>
              <a:rPr lang="en-US" altLang="zh-CN" sz="1800" dirty="0"/>
              <a:t>Q3</a:t>
            </a:r>
            <a:r>
              <a:rPr lang="zh-CN" altLang="zh-CN" sz="1800" dirty="0"/>
              <a:t>的输出电流为</a:t>
            </a:r>
            <a:r>
              <a:rPr lang="en-US" altLang="zh-CN" sz="1800" dirty="0"/>
              <a:t>1.41A</a:t>
            </a:r>
            <a:r>
              <a:rPr lang="zh-CN" altLang="zh-CN" sz="1800" dirty="0"/>
              <a:t>，假设</a:t>
            </a:r>
            <a:r>
              <a:rPr lang="en-US" altLang="zh-CN" sz="1800" dirty="0"/>
              <a:t>Q3</a:t>
            </a:r>
            <a:r>
              <a:rPr lang="zh-CN" altLang="zh-CN" sz="1800" dirty="0"/>
              <a:t>的</a:t>
            </a:r>
            <a:r>
              <a:rPr lang="en-US" altLang="zh-CN" sz="1800" dirty="0" err="1"/>
              <a:t>hfe</a:t>
            </a:r>
            <a:r>
              <a:rPr lang="en-US" altLang="zh-CN" sz="1800" dirty="0"/>
              <a:t>=50</a:t>
            </a:r>
            <a:r>
              <a:rPr lang="zh-CN" altLang="zh-CN" sz="1800" dirty="0"/>
              <a:t>，则在最大输出时其基极电流约为</a:t>
            </a:r>
            <a:r>
              <a:rPr lang="en-US" altLang="zh-CN" sz="1800" dirty="0"/>
              <a:t>30mA</a:t>
            </a:r>
            <a:r>
              <a:rPr lang="zh-CN" altLang="zh-CN" sz="1800" dirty="0"/>
              <a:t>，此电流必须由</a:t>
            </a:r>
            <a:r>
              <a:rPr lang="en-US" altLang="zh-CN" sz="1800" dirty="0"/>
              <a:t>Q1</a:t>
            </a:r>
            <a:r>
              <a:rPr lang="zh-CN" altLang="zh-CN" sz="1800" dirty="0"/>
              <a:t>提供。再假设</a:t>
            </a:r>
            <a:r>
              <a:rPr lang="en-US" altLang="zh-CN" sz="1800" dirty="0"/>
              <a:t>Q1</a:t>
            </a:r>
            <a:r>
              <a:rPr lang="zh-CN" altLang="zh-CN" sz="1800" dirty="0"/>
              <a:t>的</a:t>
            </a:r>
            <a:r>
              <a:rPr lang="en-US" altLang="zh-CN" sz="1800" dirty="0" err="1"/>
              <a:t>hfe</a:t>
            </a:r>
            <a:r>
              <a:rPr lang="en-US" altLang="zh-CN" sz="1800" dirty="0"/>
              <a:t>=100</a:t>
            </a:r>
            <a:r>
              <a:rPr lang="zh-CN" altLang="zh-CN" sz="1800" dirty="0"/>
              <a:t>，则</a:t>
            </a:r>
            <a:r>
              <a:rPr lang="en-US" altLang="zh-CN" sz="1800" dirty="0"/>
              <a:t>Q1</a:t>
            </a:r>
            <a:r>
              <a:rPr lang="zh-CN" altLang="zh-CN" sz="1800" dirty="0"/>
              <a:t>的基极电流必须大于</a:t>
            </a:r>
            <a:r>
              <a:rPr lang="en-US" altLang="zh-CN" sz="1800" dirty="0"/>
              <a:t>0.3mA</a:t>
            </a:r>
            <a:r>
              <a:rPr lang="zh-CN" altLang="zh-CN" sz="1800" dirty="0"/>
              <a:t>，此电流必须由电源通过</a:t>
            </a:r>
            <a:r>
              <a:rPr lang="en-US" altLang="zh-CN" sz="1800" dirty="0"/>
              <a:t>R2</a:t>
            </a:r>
            <a:r>
              <a:rPr lang="zh-CN" altLang="zh-CN" sz="1800" dirty="0"/>
              <a:t>提供。</a:t>
            </a:r>
          </a:p>
          <a:p>
            <a:pPr indent="457200">
              <a:lnSpc>
                <a:spcPct val="150000"/>
              </a:lnSpc>
            </a:pPr>
            <a:r>
              <a:rPr lang="zh-CN" altLang="zh-CN" sz="1800" dirty="0"/>
              <a:t>当输出为</a:t>
            </a:r>
            <a:r>
              <a:rPr lang="en-US" altLang="zh-CN" sz="1800" dirty="0"/>
              <a:t>5.66V</a:t>
            </a:r>
            <a:r>
              <a:rPr lang="zh-CN" altLang="zh-CN" sz="1800" dirty="0"/>
              <a:t>时，</a:t>
            </a:r>
            <a:r>
              <a:rPr lang="en-US" altLang="zh-CN" sz="1800" dirty="0"/>
              <a:t>R2</a:t>
            </a:r>
            <a:r>
              <a:rPr lang="zh-CN" altLang="zh-CN" sz="1800" dirty="0"/>
              <a:t>上的压降是</a:t>
            </a:r>
            <a:r>
              <a:rPr lang="en-US" altLang="zh-CN" sz="1800" dirty="0"/>
              <a:t>12V</a:t>
            </a:r>
            <a:r>
              <a:rPr lang="zh-CN" altLang="zh-CN" sz="1800" dirty="0"/>
              <a:t>减去</a:t>
            </a:r>
            <a:r>
              <a:rPr lang="en-US" altLang="zh-CN" sz="1800" dirty="0"/>
              <a:t>5.66V</a:t>
            </a:r>
            <a:r>
              <a:rPr lang="zh-CN" altLang="zh-CN" sz="1800" dirty="0"/>
              <a:t>再减去两个晶体管的</a:t>
            </a:r>
            <a:r>
              <a:rPr lang="en-US" altLang="zh-CN" sz="1800" dirty="0"/>
              <a:t>VBE</a:t>
            </a:r>
            <a:r>
              <a:rPr lang="zh-CN" altLang="zh-CN" sz="1800" dirty="0"/>
              <a:t>，结果大约是</a:t>
            </a:r>
            <a:r>
              <a:rPr lang="en-US" altLang="zh-CN" sz="1800" dirty="0"/>
              <a:t>5V</a:t>
            </a:r>
            <a:r>
              <a:rPr lang="zh-CN" altLang="zh-CN" sz="1800" dirty="0"/>
              <a:t>。此时流过此电阻的电流必须大于</a:t>
            </a:r>
            <a:r>
              <a:rPr lang="en-US" altLang="zh-CN" sz="1800" dirty="0"/>
              <a:t>0.3mA</a:t>
            </a:r>
            <a:r>
              <a:rPr lang="zh-CN" altLang="zh-CN" sz="1800" dirty="0"/>
              <a:t>，所以其电阻必须小于</a:t>
            </a:r>
            <a:r>
              <a:rPr lang="en-US" altLang="zh-CN" sz="1800" dirty="0"/>
              <a:t>16kΩ</a:t>
            </a:r>
            <a:r>
              <a:rPr lang="zh-CN" altLang="zh-CN" sz="1800" dirty="0"/>
              <a:t>。实际上还要考虑流过那一串二极管的电流，那个电流至少也要毫安量级（太小了二极管的动态内阻加大，不利于运放的输出信号到晶体管的传递），所以其阻值要比</a:t>
            </a:r>
            <a:r>
              <a:rPr lang="en-US" altLang="zh-CN" sz="1800" dirty="0"/>
              <a:t>16kΩ</a:t>
            </a:r>
            <a:r>
              <a:rPr lang="zh-CN" altLang="zh-CN" sz="1800" dirty="0"/>
              <a:t>小很多，</a:t>
            </a:r>
            <a:r>
              <a:rPr lang="zh-CN" altLang="en-US" sz="1800" dirty="0"/>
              <a:t>实际</a:t>
            </a:r>
            <a:r>
              <a:rPr lang="zh-CN" altLang="zh-CN" sz="1800" dirty="0"/>
              <a:t>取</a:t>
            </a:r>
            <a:r>
              <a:rPr lang="en-US" altLang="zh-CN" sz="1800" dirty="0"/>
              <a:t>4.7kΩ</a:t>
            </a:r>
            <a:r>
              <a:rPr lang="zh-CN" altLang="zh-CN" sz="1800" dirty="0"/>
              <a:t>。</a:t>
            </a:r>
          </a:p>
        </p:txBody>
      </p:sp>
    </p:spTree>
    <p:extLst>
      <p:ext uri="{BB962C8B-B14F-4D97-AF65-F5344CB8AC3E}">
        <p14:creationId xmlns:p14="http://schemas.microsoft.com/office/powerpoint/2010/main" val="29210637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矩形 4"/>
          <p:cNvSpPr/>
          <p:nvPr/>
        </p:nvSpPr>
        <p:spPr>
          <a:xfrm>
            <a:off x="471714" y="530105"/>
            <a:ext cx="11139715" cy="5443221"/>
          </a:xfrm>
          <a:prstGeom prst="rect">
            <a:avLst/>
          </a:prstGeom>
        </p:spPr>
        <p:txBody>
          <a:bodyPr wrap="square">
            <a:spAutoFit/>
          </a:bodyPr>
          <a:lstStyle/>
          <a:p>
            <a:pPr indent="457200">
              <a:lnSpc>
                <a:spcPct val="150000"/>
              </a:lnSpc>
            </a:pPr>
            <a:r>
              <a:rPr lang="zh-CN" altLang="zh-CN" sz="1800" dirty="0"/>
              <a:t>调试此电路的时候按照先静态再动态的原则进行。</a:t>
            </a:r>
            <a:endParaRPr lang="en-US" altLang="zh-CN" sz="1800" dirty="0"/>
          </a:p>
          <a:p>
            <a:pPr indent="457200">
              <a:lnSpc>
                <a:spcPct val="150000"/>
              </a:lnSpc>
            </a:pPr>
            <a:r>
              <a:rPr lang="zh-CN" altLang="en-US" sz="1800" dirty="0">
                <a:solidFill>
                  <a:srgbClr val="FF0000"/>
                </a:solidFill>
                <a:latin typeface="华文楷体" panose="02010600040101010101" pitchFamily="2" charset="-122"/>
                <a:ea typeface="华文楷体" panose="02010600040101010101" pitchFamily="2" charset="-122"/>
              </a:rPr>
              <a:t>注意：大功率器件必须预先装上散热器，否则极易烧毁。</a:t>
            </a:r>
            <a:endParaRPr lang="zh-CN" altLang="zh-CN" sz="1800" dirty="0">
              <a:solidFill>
                <a:srgbClr val="FF0000"/>
              </a:solidFill>
              <a:latin typeface="华文楷体" panose="02010600040101010101" pitchFamily="2" charset="-122"/>
              <a:ea typeface="华文楷体" panose="02010600040101010101" pitchFamily="2" charset="-122"/>
            </a:endParaRPr>
          </a:p>
          <a:p>
            <a:pPr indent="457200">
              <a:lnSpc>
                <a:spcPct val="150000"/>
              </a:lnSpc>
            </a:pPr>
            <a:r>
              <a:rPr lang="zh-CN" altLang="zh-CN" sz="1800" dirty="0"/>
              <a:t>第一步在不安装运放的情况下</a:t>
            </a:r>
            <a:r>
              <a:rPr lang="zh-CN" altLang="en-US" sz="1800" dirty="0"/>
              <a:t>进行（将运放拔出，将插座上原运放输出点接地），监视末级输出点</a:t>
            </a:r>
            <a:r>
              <a:rPr lang="en-US" altLang="zh-CN" sz="1800" dirty="0"/>
              <a:t>(</a:t>
            </a:r>
            <a:r>
              <a:rPr lang="en-US" altLang="zh-CN" sz="1800" dirty="0" err="1"/>
              <a:t>vo</a:t>
            </a:r>
            <a:r>
              <a:rPr lang="en-US" altLang="zh-CN" sz="1800" dirty="0"/>
              <a:t>)</a:t>
            </a:r>
            <a:r>
              <a:rPr lang="zh-CN" altLang="en-US" sz="1800" dirty="0"/>
              <a:t>的电位以及正负电源的电流。</a:t>
            </a:r>
            <a:endParaRPr lang="en-US" altLang="zh-CN" sz="1800" dirty="0"/>
          </a:p>
          <a:p>
            <a:pPr indent="457200">
              <a:lnSpc>
                <a:spcPct val="150000"/>
              </a:lnSpc>
            </a:pPr>
            <a:r>
              <a:rPr lang="en-US" altLang="zh-CN" sz="1800" dirty="0" err="1"/>
              <a:t>vo</a:t>
            </a:r>
            <a:r>
              <a:rPr lang="zh-CN" altLang="en-US" sz="1800" dirty="0"/>
              <a:t>应该在</a:t>
            </a:r>
            <a:r>
              <a:rPr lang="en-US" altLang="zh-CN" sz="1800" dirty="0"/>
              <a:t>0V</a:t>
            </a:r>
            <a:r>
              <a:rPr lang="zh-CN" altLang="en-US" sz="1800" dirty="0"/>
              <a:t>附近，允许有一些偏差，但是不应很大。有时候会因为</a:t>
            </a:r>
            <a:r>
              <a:rPr lang="en-US" altLang="zh-CN" sz="1800" dirty="0"/>
              <a:t>R3</a:t>
            </a:r>
            <a:r>
              <a:rPr lang="zh-CN" altLang="en-US" sz="1800" dirty="0"/>
              <a:t>阻值不对导致对称性变差，所以在进行上述检查时可以调节</a:t>
            </a:r>
            <a:r>
              <a:rPr lang="en-US" altLang="zh-CN" sz="1800" dirty="0"/>
              <a:t>R3</a:t>
            </a:r>
            <a:r>
              <a:rPr lang="zh-CN" altLang="en-US" sz="1800" dirty="0"/>
              <a:t>试试。</a:t>
            </a:r>
            <a:endParaRPr lang="en-US" altLang="zh-CN" sz="1800" dirty="0"/>
          </a:p>
          <a:p>
            <a:pPr indent="457200">
              <a:lnSpc>
                <a:spcPct val="150000"/>
              </a:lnSpc>
            </a:pPr>
            <a:r>
              <a:rPr lang="zh-CN" altLang="en-US" sz="1800" dirty="0"/>
              <a:t>通常情况下，若</a:t>
            </a:r>
            <a:r>
              <a:rPr lang="en-US" altLang="zh-CN" sz="1800" dirty="0" err="1"/>
              <a:t>vo</a:t>
            </a:r>
            <a:r>
              <a:rPr lang="zh-CN" altLang="en-US" sz="1800" dirty="0"/>
              <a:t>正常，则</a:t>
            </a:r>
            <a:r>
              <a:rPr lang="zh-CN" altLang="zh-CN" sz="1800" dirty="0"/>
              <a:t>正负电源的电流</a:t>
            </a:r>
            <a:r>
              <a:rPr lang="zh-CN" altLang="en-US" sz="1800" dirty="0"/>
              <a:t>都应该在几毫安到十几毫安</a:t>
            </a:r>
            <a:r>
              <a:rPr lang="zh-CN" altLang="zh-CN" sz="1800" dirty="0"/>
              <a:t>左右，</a:t>
            </a:r>
            <a:r>
              <a:rPr lang="zh-CN" altLang="en-US" sz="1800" dirty="0"/>
              <a:t>这</a:t>
            </a:r>
            <a:r>
              <a:rPr lang="zh-CN" altLang="zh-CN" sz="1800" dirty="0"/>
              <a:t>就算将静态工作点调完了。</a:t>
            </a:r>
            <a:endParaRPr lang="en-US" altLang="zh-CN" sz="1800" dirty="0"/>
          </a:p>
          <a:p>
            <a:pPr indent="457200">
              <a:lnSpc>
                <a:spcPct val="150000"/>
              </a:lnSpc>
            </a:pPr>
            <a:r>
              <a:rPr lang="zh-CN" altLang="zh-CN" sz="1800" dirty="0"/>
              <a:t>如果始终无法将静态工作点电流调到上述范围之内，</a:t>
            </a:r>
            <a:r>
              <a:rPr lang="zh-CN" altLang="en-US" sz="1800" dirty="0"/>
              <a:t>或者</a:t>
            </a:r>
            <a:r>
              <a:rPr lang="en-US" altLang="zh-CN" sz="1800" dirty="0" err="1"/>
              <a:t>vo</a:t>
            </a:r>
            <a:r>
              <a:rPr lang="zh-CN" altLang="en-US" sz="1800" dirty="0"/>
              <a:t>的偏差很大（例如有好几伏）就说明电路上下不对称，应该逐级检查原因（</a:t>
            </a:r>
            <a:r>
              <a:rPr lang="zh-CN" altLang="zh-CN" sz="1800" dirty="0"/>
              <a:t>电路是否有错误，元器件是否有损坏等</a:t>
            </a:r>
            <a:r>
              <a:rPr lang="zh-CN" altLang="en-US" sz="1800" dirty="0"/>
              <a:t>）并改正。</a:t>
            </a:r>
            <a:r>
              <a:rPr lang="zh-CN" altLang="zh-CN" sz="1800" dirty="0"/>
              <a:t>尤其是一旦出现电流猛增的情况，要迅速切断电源并查找原因，否则很可能导致晶体管烧毁。</a:t>
            </a:r>
            <a:endParaRPr lang="en-US" altLang="zh-CN" sz="1800" dirty="0"/>
          </a:p>
          <a:p>
            <a:pPr indent="457200">
              <a:lnSpc>
                <a:spcPct val="150000"/>
              </a:lnSpc>
            </a:pPr>
            <a:r>
              <a:rPr lang="zh-CN" altLang="zh-CN" sz="1800" dirty="0"/>
              <a:t>如果电流可以调节，但是始终超出上述范围较多，则可以适当修改偏置电路的参数，例如改变</a:t>
            </a:r>
            <a:r>
              <a:rPr lang="en-US" altLang="zh-CN" sz="1800" dirty="0"/>
              <a:t>R3</a:t>
            </a:r>
            <a:r>
              <a:rPr lang="zh-CN" altLang="zh-CN" sz="1800" dirty="0"/>
              <a:t>阻值</a:t>
            </a:r>
            <a:r>
              <a:rPr lang="zh-CN" altLang="en-US" sz="1800" dirty="0"/>
              <a:t>、</a:t>
            </a:r>
            <a:r>
              <a:rPr lang="zh-CN" altLang="zh-CN" sz="1800" dirty="0"/>
              <a:t>增减一个二极管</a:t>
            </a:r>
            <a:r>
              <a:rPr lang="zh-CN" altLang="en-US" sz="1800" dirty="0"/>
              <a:t>、或将某个二极管换成导通阈值不同的肖特基二极管（或锗二极管）</a:t>
            </a:r>
            <a:r>
              <a:rPr lang="zh-CN" altLang="zh-CN" sz="1800" dirty="0"/>
              <a:t>等。</a:t>
            </a:r>
          </a:p>
        </p:txBody>
      </p:sp>
    </p:spTree>
    <p:extLst>
      <p:ext uri="{BB962C8B-B14F-4D97-AF65-F5344CB8AC3E}">
        <p14:creationId xmlns:p14="http://schemas.microsoft.com/office/powerpoint/2010/main" val="4847686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61</a:t>
            </a:fld>
            <a:endParaRPr lang="en-US" altLang="zh-CN">
              <a:solidFill>
                <a:srgbClr val="FFFFFF"/>
              </a:solidFill>
            </a:endParaRPr>
          </a:p>
        </p:txBody>
      </p:sp>
      <p:sp>
        <p:nvSpPr>
          <p:cNvPr id="6" name="Rectangle 1"/>
          <p:cNvSpPr>
            <a:spLocks noChangeArrowheads="1"/>
          </p:cNvSpPr>
          <p:nvPr/>
        </p:nvSpPr>
        <p:spPr bwMode="auto">
          <a:xfrm>
            <a:off x="486228" y="1638000"/>
            <a:ext cx="11103429" cy="457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457200">
              <a:lnSpc>
                <a:spcPct val="130000"/>
              </a:lnSpc>
            </a:pPr>
            <a:r>
              <a:rPr lang="en-US" altLang="zh-CN" sz="1800" dirty="0">
                <a:latin typeface="Arial" charset="0"/>
              </a:rPr>
              <a:t>1/4</a:t>
            </a:r>
            <a:r>
              <a:rPr lang="zh-CN" altLang="en-US" sz="1800" dirty="0">
                <a:latin typeface="Arial" charset="0"/>
              </a:rPr>
              <a:t>功率测试（</a:t>
            </a:r>
            <a:r>
              <a:rPr lang="en-US" altLang="zh-CN" sz="1800" dirty="0">
                <a:latin typeface="Arial" charset="0"/>
              </a:rPr>
              <a:t>V</a:t>
            </a:r>
            <a:r>
              <a:rPr lang="en-US" altLang="zh-CN" sz="1800" baseline="-25000" dirty="0">
                <a:latin typeface="Arial" charset="0"/>
              </a:rPr>
              <a:t>i</a:t>
            </a:r>
            <a:r>
              <a:rPr lang="en-US" altLang="zh-CN" sz="1800" dirty="0">
                <a:latin typeface="Arial" charset="0"/>
              </a:rPr>
              <a:t>=1V</a:t>
            </a:r>
            <a:r>
              <a:rPr lang="zh-CN" altLang="en-US" sz="1800" dirty="0">
                <a:latin typeface="Arial" charset="0"/>
              </a:rPr>
              <a:t>）：</a:t>
            </a: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zh-CN" altLang="en-US" sz="1800" dirty="0">
              <a:latin typeface="Arial" charset="0"/>
            </a:endParaRPr>
          </a:p>
          <a:p>
            <a:pPr indent="457200">
              <a:lnSpc>
                <a:spcPct val="130000"/>
              </a:lnSpc>
            </a:pPr>
            <a:r>
              <a:rPr lang="zh-CN" altLang="en-US" sz="1800" dirty="0">
                <a:latin typeface="Arial" charset="0"/>
              </a:rPr>
              <a:t>全功率测试（</a:t>
            </a:r>
            <a:r>
              <a:rPr lang="en-US" altLang="zh-CN" sz="1800" dirty="0">
                <a:latin typeface="Arial" charset="0"/>
              </a:rPr>
              <a:t>V</a:t>
            </a:r>
            <a:r>
              <a:rPr lang="en-US" altLang="zh-CN" sz="1800" baseline="-25000" dirty="0">
                <a:latin typeface="Arial" charset="0"/>
              </a:rPr>
              <a:t>i</a:t>
            </a:r>
            <a:r>
              <a:rPr lang="en-US" altLang="zh-CN" sz="1800" dirty="0">
                <a:latin typeface="Arial" charset="0"/>
              </a:rPr>
              <a:t>=2V</a:t>
            </a:r>
            <a:r>
              <a:rPr lang="zh-CN" altLang="en-US" sz="1800" dirty="0">
                <a:latin typeface="Arial" charset="0"/>
              </a:rPr>
              <a:t>）：</a:t>
            </a: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en-US" altLang="zh-CN" sz="1800" dirty="0">
              <a:latin typeface="Arial" charset="0"/>
            </a:endParaRPr>
          </a:p>
          <a:p>
            <a:pPr indent="457200">
              <a:lnSpc>
                <a:spcPct val="130000"/>
              </a:lnSpc>
            </a:pPr>
            <a:endParaRPr lang="zh-CN" altLang="en-US" sz="1800" dirty="0">
              <a:latin typeface="Arial" charset="0"/>
            </a:endParaRPr>
          </a:p>
          <a:p>
            <a:pPr indent="457200">
              <a:lnSpc>
                <a:spcPct val="150000"/>
              </a:lnSpc>
            </a:pPr>
            <a:r>
              <a:rPr lang="zh-CN" altLang="en-US" sz="1800" dirty="0">
                <a:latin typeface="Arial" charset="0"/>
              </a:rPr>
              <a:t>在上述所有测试过程中，在示波器上显示的输出波形均未见可观察到的失真。</a:t>
            </a:r>
          </a:p>
          <a:p>
            <a:pPr indent="457200">
              <a:lnSpc>
                <a:spcPct val="150000"/>
              </a:lnSpc>
            </a:pPr>
            <a:r>
              <a:rPr lang="zh-CN" altLang="en-US" sz="1800" dirty="0">
                <a:latin typeface="Arial" charset="0"/>
              </a:rPr>
              <a:t>结果表明，在</a:t>
            </a:r>
            <a:r>
              <a:rPr lang="en-US" altLang="zh-CN" sz="1800" dirty="0">
                <a:latin typeface="Arial" charset="0"/>
              </a:rPr>
              <a:t>10Hz~200kHz</a:t>
            </a:r>
            <a:r>
              <a:rPr lang="zh-CN" altLang="en-US" sz="1800" dirty="0">
                <a:latin typeface="Arial" charset="0"/>
              </a:rPr>
              <a:t>的频响范围内，这个电路具有很高的增益平坦度，用此电路实现题目的要求是绰绰有余的。</a:t>
            </a:r>
          </a:p>
          <a:p>
            <a:pPr indent="457200">
              <a:lnSpc>
                <a:spcPct val="130000"/>
              </a:lnSpc>
            </a:pPr>
            <a:endParaRPr lang="en-US" altLang="zh-CN" sz="1800" dirty="0">
              <a:latin typeface="Arial" charset="0"/>
            </a:endParaRPr>
          </a:p>
        </p:txBody>
      </p:sp>
      <p:graphicFrame>
        <p:nvGraphicFramePr>
          <p:cNvPr id="9" name="表格 8"/>
          <p:cNvGraphicFramePr>
            <a:graphicFrameLocks noGrp="1"/>
          </p:cNvGraphicFramePr>
          <p:nvPr>
            <p:extLst>
              <p:ext uri="{D42A27DB-BD31-4B8C-83A1-F6EECF244321}">
                <p14:modId xmlns:p14="http://schemas.microsoft.com/office/powerpoint/2010/main" val="574517088"/>
              </p:ext>
            </p:extLst>
          </p:nvPr>
        </p:nvGraphicFramePr>
        <p:xfrm>
          <a:off x="1989669" y="2144245"/>
          <a:ext cx="8435973" cy="901011"/>
        </p:xfrm>
        <a:graphic>
          <a:graphicData uri="http://schemas.openxmlformats.org/drawingml/2006/table">
            <a:tbl>
              <a:tblPr firstRow="1" firstCol="1" bandRow="1">
                <a:tableStyleId>{5C22544A-7EE6-4342-B048-85BDC9FD1C3A}</a:tableStyleId>
              </a:tblPr>
              <a:tblGrid>
                <a:gridCol w="714586">
                  <a:extLst>
                    <a:ext uri="{9D8B030D-6E8A-4147-A177-3AD203B41FA5}">
                      <a16:colId xmlns:a16="http://schemas.microsoft.com/office/drawing/2014/main" val="2375250493"/>
                    </a:ext>
                  </a:extLst>
                </a:gridCol>
                <a:gridCol w="583256">
                  <a:extLst>
                    <a:ext uri="{9D8B030D-6E8A-4147-A177-3AD203B41FA5}">
                      <a16:colId xmlns:a16="http://schemas.microsoft.com/office/drawing/2014/main" val="1600478827"/>
                    </a:ext>
                  </a:extLst>
                </a:gridCol>
                <a:gridCol w="648921">
                  <a:extLst>
                    <a:ext uri="{9D8B030D-6E8A-4147-A177-3AD203B41FA5}">
                      <a16:colId xmlns:a16="http://schemas.microsoft.com/office/drawing/2014/main" val="2509412015"/>
                    </a:ext>
                  </a:extLst>
                </a:gridCol>
                <a:gridCol w="648921">
                  <a:extLst>
                    <a:ext uri="{9D8B030D-6E8A-4147-A177-3AD203B41FA5}">
                      <a16:colId xmlns:a16="http://schemas.microsoft.com/office/drawing/2014/main" val="336247377"/>
                    </a:ext>
                  </a:extLst>
                </a:gridCol>
                <a:gridCol w="648921">
                  <a:extLst>
                    <a:ext uri="{9D8B030D-6E8A-4147-A177-3AD203B41FA5}">
                      <a16:colId xmlns:a16="http://schemas.microsoft.com/office/drawing/2014/main" val="2750407462"/>
                    </a:ext>
                  </a:extLst>
                </a:gridCol>
                <a:gridCol w="648921">
                  <a:extLst>
                    <a:ext uri="{9D8B030D-6E8A-4147-A177-3AD203B41FA5}">
                      <a16:colId xmlns:a16="http://schemas.microsoft.com/office/drawing/2014/main" val="10096805"/>
                    </a:ext>
                  </a:extLst>
                </a:gridCol>
                <a:gridCol w="648921">
                  <a:extLst>
                    <a:ext uri="{9D8B030D-6E8A-4147-A177-3AD203B41FA5}">
                      <a16:colId xmlns:a16="http://schemas.microsoft.com/office/drawing/2014/main" val="1439902183"/>
                    </a:ext>
                  </a:extLst>
                </a:gridCol>
                <a:gridCol w="648921">
                  <a:extLst>
                    <a:ext uri="{9D8B030D-6E8A-4147-A177-3AD203B41FA5}">
                      <a16:colId xmlns:a16="http://schemas.microsoft.com/office/drawing/2014/main" val="3407705641"/>
                    </a:ext>
                  </a:extLst>
                </a:gridCol>
                <a:gridCol w="648921">
                  <a:extLst>
                    <a:ext uri="{9D8B030D-6E8A-4147-A177-3AD203B41FA5}">
                      <a16:colId xmlns:a16="http://schemas.microsoft.com/office/drawing/2014/main" val="2595576871"/>
                    </a:ext>
                  </a:extLst>
                </a:gridCol>
                <a:gridCol w="648921">
                  <a:extLst>
                    <a:ext uri="{9D8B030D-6E8A-4147-A177-3AD203B41FA5}">
                      <a16:colId xmlns:a16="http://schemas.microsoft.com/office/drawing/2014/main" val="474306035"/>
                    </a:ext>
                  </a:extLst>
                </a:gridCol>
                <a:gridCol w="648921">
                  <a:extLst>
                    <a:ext uri="{9D8B030D-6E8A-4147-A177-3AD203B41FA5}">
                      <a16:colId xmlns:a16="http://schemas.microsoft.com/office/drawing/2014/main" val="613195356"/>
                    </a:ext>
                  </a:extLst>
                </a:gridCol>
                <a:gridCol w="648921">
                  <a:extLst>
                    <a:ext uri="{9D8B030D-6E8A-4147-A177-3AD203B41FA5}">
                      <a16:colId xmlns:a16="http://schemas.microsoft.com/office/drawing/2014/main" val="4175208127"/>
                    </a:ext>
                  </a:extLst>
                </a:gridCol>
                <a:gridCol w="648921">
                  <a:extLst>
                    <a:ext uri="{9D8B030D-6E8A-4147-A177-3AD203B41FA5}">
                      <a16:colId xmlns:a16="http://schemas.microsoft.com/office/drawing/2014/main" val="3187037410"/>
                    </a:ext>
                  </a:extLst>
                </a:gridCol>
              </a:tblGrid>
              <a:tr h="300337">
                <a:tc>
                  <a:txBody>
                    <a:bodyPr/>
                    <a:lstStyle/>
                    <a:p>
                      <a:pPr algn="ctr">
                        <a:lnSpc>
                          <a:spcPct val="115000"/>
                        </a:lnSpc>
                        <a:spcAft>
                          <a:spcPts val="0"/>
                        </a:spcAft>
                      </a:pPr>
                      <a:r>
                        <a:rPr lang="en-US" sz="1600" kern="100" dirty="0">
                          <a:effectLst/>
                        </a:rPr>
                        <a:t>f(Hz)</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69766842"/>
                  </a:ext>
                </a:extLst>
              </a:tr>
              <a:tr h="300337">
                <a:tc>
                  <a:txBody>
                    <a:bodyPr/>
                    <a:lstStyle/>
                    <a:p>
                      <a:pPr algn="ctr">
                        <a:lnSpc>
                          <a:spcPct val="115000"/>
                        </a:lnSpc>
                        <a:spcAft>
                          <a:spcPts val="0"/>
                        </a:spcAft>
                      </a:pPr>
                      <a:r>
                        <a:rPr lang="en-US" sz="1600" kern="100" dirty="0">
                          <a:effectLst/>
                        </a:rPr>
                        <a:t>Vo(V)</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2.04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2.02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2.00</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1.98</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1.92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1.92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1.93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14009664"/>
                  </a:ext>
                </a:extLst>
              </a:tr>
              <a:tr h="300337">
                <a:tc>
                  <a:txBody>
                    <a:bodyPr/>
                    <a:lstStyle/>
                    <a:p>
                      <a:pPr algn="ctr">
                        <a:lnSpc>
                          <a:spcPct val="115000"/>
                        </a:lnSpc>
                        <a:spcAft>
                          <a:spcPts val="0"/>
                        </a:spcAft>
                      </a:pPr>
                      <a:r>
                        <a:rPr lang="en-US" sz="1600" kern="100" dirty="0">
                          <a:effectLst/>
                        </a:rPr>
                        <a:t>G(dB)</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6.11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6.00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5.93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5.76</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5.71</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5.71</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31435098"/>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3095841910"/>
              </p:ext>
            </p:extLst>
          </p:nvPr>
        </p:nvGraphicFramePr>
        <p:xfrm>
          <a:off x="1989668" y="3598519"/>
          <a:ext cx="8435973" cy="862053"/>
        </p:xfrm>
        <a:graphic>
          <a:graphicData uri="http://schemas.openxmlformats.org/drawingml/2006/table">
            <a:tbl>
              <a:tblPr firstRow="1" firstCol="1" bandRow="1">
                <a:tableStyleId>{5C22544A-7EE6-4342-B048-85BDC9FD1C3A}</a:tableStyleId>
              </a:tblPr>
              <a:tblGrid>
                <a:gridCol w="714587">
                  <a:extLst>
                    <a:ext uri="{9D8B030D-6E8A-4147-A177-3AD203B41FA5}">
                      <a16:colId xmlns:a16="http://schemas.microsoft.com/office/drawing/2014/main" val="3364028794"/>
                    </a:ext>
                  </a:extLst>
                </a:gridCol>
                <a:gridCol w="583255">
                  <a:extLst>
                    <a:ext uri="{9D8B030D-6E8A-4147-A177-3AD203B41FA5}">
                      <a16:colId xmlns:a16="http://schemas.microsoft.com/office/drawing/2014/main" val="3527732982"/>
                    </a:ext>
                  </a:extLst>
                </a:gridCol>
                <a:gridCol w="648921">
                  <a:extLst>
                    <a:ext uri="{9D8B030D-6E8A-4147-A177-3AD203B41FA5}">
                      <a16:colId xmlns:a16="http://schemas.microsoft.com/office/drawing/2014/main" val="69107694"/>
                    </a:ext>
                  </a:extLst>
                </a:gridCol>
                <a:gridCol w="648921">
                  <a:extLst>
                    <a:ext uri="{9D8B030D-6E8A-4147-A177-3AD203B41FA5}">
                      <a16:colId xmlns:a16="http://schemas.microsoft.com/office/drawing/2014/main" val="1586510065"/>
                    </a:ext>
                  </a:extLst>
                </a:gridCol>
                <a:gridCol w="648921">
                  <a:extLst>
                    <a:ext uri="{9D8B030D-6E8A-4147-A177-3AD203B41FA5}">
                      <a16:colId xmlns:a16="http://schemas.microsoft.com/office/drawing/2014/main" val="3803669978"/>
                    </a:ext>
                  </a:extLst>
                </a:gridCol>
                <a:gridCol w="648921">
                  <a:extLst>
                    <a:ext uri="{9D8B030D-6E8A-4147-A177-3AD203B41FA5}">
                      <a16:colId xmlns:a16="http://schemas.microsoft.com/office/drawing/2014/main" val="3801613108"/>
                    </a:ext>
                  </a:extLst>
                </a:gridCol>
                <a:gridCol w="648921">
                  <a:extLst>
                    <a:ext uri="{9D8B030D-6E8A-4147-A177-3AD203B41FA5}">
                      <a16:colId xmlns:a16="http://schemas.microsoft.com/office/drawing/2014/main" val="4168161750"/>
                    </a:ext>
                  </a:extLst>
                </a:gridCol>
                <a:gridCol w="648921">
                  <a:extLst>
                    <a:ext uri="{9D8B030D-6E8A-4147-A177-3AD203B41FA5}">
                      <a16:colId xmlns:a16="http://schemas.microsoft.com/office/drawing/2014/main" val="33902765"/>
                    </a:ext>
                  </a:extLst>
                </a:gridCol>
                <a:gridCol w="648921">
                  <a:extLst>
                    <a:ext uri="{9D8B030D-6E8A-4147-A177-3AD203B41FA5}">
                      <a16:colId xmlns:a16="http://schemas.microsoft.com/office/drawing/2014/main" val="334802542"/>
                    </a:ext>
                  </a:extLst>
                </a:gridCol>
                <a:gridCol w="648921">
                  <a:extLst>
                    <a:ext uri="{9D8B030D-6E8A-4147-A177-3AD203B41FA5}">
                      <a16:colId xmlns:a16="http://schemas.microsoft.com/office/drawing/2014/main" val="2120469947"/>
                    </a:ext>
                  </a:extLst>
                </a:gridCol>
                <a:gridCol w="648921">
                  <a:extLst>
                    <a:ext uri="{9D8B030D-6E8A-4147-A177-3AD203B41FA5}">
                      <a16:colId xmlns:a16="http://schemas.microsoft.com/office/drawing/2014/main" val="570064478"/>
                    </a:ext>
                  </a:extLst>
                </a:gridCol>
                <a:gridCol w="648921">
                  <a:extLst>
                    <a:ext uri="{9D8B030D-6E8A-4147-A177-3AD203B41FA5}">
                      <a16:colId xmlns:a16="http://schemas.microsoft.com/office/drawing/2014/main" val="2561749877"/>
                    </a:ext>
                  </a:extLst>
                </a:gridCol>
                <a:gridCol w="648921">
                  <a:extLst>
                    <a:ext uri="{9D8B030D-6E8A-4147-A177-3AD203B41FA5}">
                      <a16:colId xmlns:a16="http://schemas.microsoft.com/office/drawing/2014/main" val="3049858620"/>
                    </a:ext>
                  </a:extLst>
                </a:gridCol>
              </a:tblGrid>
              <a:tr h="287351">
                <a:tc>
                  <a:txBody>
                    <a:bodyPr/>
                    <a:lstStyle/>
                    <a:p>
                      <a:pPr algn="ctr">
                        <a:lnSpc>
                          <a:spcPct val="115000"/>
                        </a:lnSpc>
                        <a:spcAft>
                          <a:spcPts val="0"/>
                        </a:spcAft>
                      </a:pPr>
                      <a:r>
                        <a:rPr lang="en-US" sz="1600" kern="100" dirty="0">
                          <a:effectLst/>
                        </a:rPr>
                        <a:t>f(Hz)</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500</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50k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100k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200k</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83956527"/>
                  </a:ext>
                </a:extLst>
              </a:tr>
              <a:tr h="287351">
                <a:tc>
                  <a:txBody>
                    <a:bodyPr/>
                    <a:lstStyle/>
                    <a:p>
                      <a:pPr algn="ctr">
                        <a:lnSpc>
                          <a:spcPct val="115000"/>
                        </a:lnSpc>
                        <a:spcAft>
                          <a:spcPts val="0"/>
                        </a:spcAft>
                      </a:pPr>
                      <a:r>
                        <a:rPr lang="en-US" sz="1600" kern="100" dirty="0">
                          <a:effectLst/>
                        </a:rPr>
                        <a:t>Vo(V)</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4.03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4.03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4.02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3.99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3.96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3.87</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3.84</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3.82</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3.83</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3.87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28225401"/>
                  </a:ext>
                </a:extLst>
              </a:tr>
              <a:tr h="287351">
                <a:tc>
                  <a:txBody>
                    <a:bodyPr/>
                    <a:lstStyle/>
                    <a:p>
                      <a:pPr algn="ctr">
                        <a:lnSpc>
                          <a:spcPct val="115000"/>
                        </a:lnSpc>
                        <a:spcAft>
                          <a:spcPts val="0"/>
                        </a:spcAft>
                      </a:pPr>
                      <a:r>
                        <a:rPr lang="en-US" sz="1600" kern="100">
                          <a:effectLst/>
                        </a:rPr>
                        <a:t>G(dB)</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a:effectLst/>
                        </a:rPr>
                        <a:t>6.09</a:t>
                      </a:r>
                      <a:endParaRPr lang="zh-CN" sz="18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6.09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6.06</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5.99</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5.93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5.73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5.64</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5.62</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5.67</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lnSpc>
                          <a:spcPct val="115000"/>
                        </a:lnSpc>
                        <a:spcAft>
                          <a:spcPts val="0"/>
                        </a:spcAft>
                      </a:pPr>
                      <a:r>
                        <a:rPr lang="en-US" sz="1600" kern="100" dirty="0">
                          <a:effectLst/>
                        </a:rPr>
                        <a:t>5.73</a:t>
                      </a:r>
                      <a:endParaRPr 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05569855"/>
                  </a:ext>
                </a:extLst>
              </a:tr>
            </a:tbl>
          </a:graphicData>
        </a:graphic>
      </p:graphicFrame>
      <p:sp>
        <p:nvSpPr>
          <p:cNvPr id="12" name="矩形 11"/>
          <p:cNvSpPr/>
          <p:nvPr/>
        </p:nvSpPr>
        <p:spPr>
          <a:xfrm>
            <a:off x="486228" y="458350"/>
            <a:ext cx="11009085" cy="872739"/>
          </a:xfrm>
          <a:prstGeom prst="rect">
            <a:avLst/>
          </a:prstGeom>
        </p:spPr>
        <p:txBody>
          <a:bodyPr wrap="square">
            <a:spAutoFit/>
          </a:bodyPr>
          <a:lstStyle/>
          <a:p>
            <a:pPr indent="457200">
              <a:lnSpc>
                <a:spcPct val="150000"/>
              </a:lnSpc>
            </a:pPr>
            <a:r>
              <a:rPr lang="zh-CN" altLang="zh-CN" sz="1800" dirty="0"/>
              <a:t>在静态工作点正常后，可进行第二步</a:t>
            </a:r>
            <a:r>
              <a:rPr lang="zh-CN" altLang="en-US" sz="1800" dirty="0"/>
              <a:t>测试</a:t>
            </a:r>
            <a:r>
              <a:rPr lang="zh-CN" altLang="zh-CN" sz="1800" dirty="0"/>
              <a:t>：插入运放，然后接入输入信号进行动态测试。</a:t>
            </a:r>
            <a:endParaRPr lang="en-US" altLang="zh-CN" sz="1800" dirty="0"/>
          </a:p>
          <a:p>
            <a:pPr indent="457200">
              <a:lnSpc>
                <a:spcPct val="150000"/>
              </a:lnSpc>
            </a:pPr>
            <a:r>
              <a:rPr lang="zh-CN" altLang="en-US" sz="1800" dirty="0"/>
              <a:t>下面是对本实验电路的测试结果（其中电压值均为有效值）</a:t>
            </a:r>
            <a:endParaRPr lang="zh-CN" altLang="zh-CN" sz="1800" dirty="0"/>
          </a:p>
        </p:txBody>
      </p:sp>
    </p:spTree>
    <p:extLst>
      <p:ext uri="{BB962C8B-B14F-4D97-AF65-F5344CB8AC3E}">
        <p14:creationId xmlns:p14="http://schemas.microsoft.com/office/powerpoint/2010/main" val="36426788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62</a:t>
            </a:fld>
            <a:endParaRPr lang="en-US" altLang="zh-CN">
              <a:solidFill>
                <a:srgbClr val="FFFFFF"/>
              </a:solidFill>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66766" y="557928"/>
            <a:ext cx="7872320" cy="5795970"/>
          </a:xfrm>
          <a:prstGeom prst="rect">
            <a:avLst/>
          </a:prstGeom>
        </p:spPr>
      </p:pic>
    </p:spTree>
    <p:extLst>
      <p:ext uri="{BB962C8B-B14F-4D97-AF65-F5344CB8AC3E}">
        <p14:creationId xmlns:p14="http://schemas.microsoft.com/office/powerpoint/2010/main" val="32009941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63</a:t>
            </a:fld>
            <a:endParaRPr lang="en-US" altLang="zh-CN">
              <a:solidFill>
                <a:srgbClr val="FFFFFF"/>
              </a:solidFill>
            </a:endParaRPr>
          </a:p>
        </p:txBody>
      </p:sp>
      <p:sp>
        <p:nvSpPr>
          <p:cNvPr id="5" name="矩形 4"/>
          <p:cNvSpPr/>
          <p:nvPr/>
        </p:nvSpPr>
        <p:spPr>
          <a:xfrm>
            <a:off x="428170" y="575789"/>
            <a:ext cx="11255829" cy="2169825"/>
          </a:xfrm>
          <a:prstGeom prst="rect">
            <a:avLst/>
          </a:prstGeom>
        </p:spPr>
        <p:txBody>
          <a:bodyPr wrap="square">
            <a:spAutoFit/>
          </a:bodyPr>
          <a:lstStyle/>
          <a:p>
            <a:pPr indent="457200">
              <a:lnSpc>
                <a:spcPct val="150000"/>
              </a:lnSpc>
            </a:pPr>
            <a:r>
              <a:rPr lang="zh-CN" altLang="zh-CN" sz="1800" dirty="0"/>
              <a:t>此电路的缺点是，由于电源电压比最大输出电压</a:t>
            </a:r>
            <a:r>
              <a:rPr lang="en-US" altLang="zh-CN" sz="1800" dirty="0"/>
              <a:t>5.66V</a:t>
            </a:r>
            <a:r>
              <a:rPr lang="zh-CN" altLang="zh-CN" sz="1800" dirty="0"/>
              <a:t>大得太多，所以这个电路的电源利用效率很低。在满功率输出（</a:t>
            </a:r>
            <a:r>
              <a:rPr lang="en-US" altLang="zh-CN" sz="1800" dirty="0"/>
              <a:t>4W</a:t>
            </a:r>
            <a:r>
              <a:rPr lang="zh-CN" altLang="zh-CN" sz="1800" dirty="0"/>
              <a:t>）情况下的实测电源功率消耗大约是</a:t>
            </a:r>
            <a:r>
              <a:rPr lang="en-US" altLang="zh-CN" sz="1800" dirty="0"/>
              <a:t>10.8W</a:t>
            </a:r>
            <a:r>
              <a:rPr lang="zh-CN" altLang="zh-CN" sz="1800" dirty="0"/>
              <a:t>，也就是说其电源利用效率只有</a:t>
            </a:r>
            <a:r>
              <a:rPr lang="en-US" altLang="zh-CN" sz="1800" dirty="0"/>
              <a:t>37%</a:t>
            </a:r>
            <a:r>
              <a:rPr lang="zh-CN" altLang="zh-CN" sz="1800" dirty="0"/>
              <a:t>。</a:t>
            </a:r>
            <a:r>
              <a:rPr lang="zh-CN" altLang="en-US" sz="1800" dirty="0"/>
              <a:t>而</a:t>
            </a:r>
            <a:r>
              <a:rPr lang="zh-CN" altLang="zh-CN" sz="1800" dirty="0"/>
              <a:t>从理论上说乙类功放的效率可以做到</a:t>
            </a:r>
            <a:r>
              <a:rPr lang="en-US" altLang="zh-CN" sz="1800" dirty="0"/>
              <a:t>78%</a:t>
            </a:r>
            <a:r>
              <a:rPr lang="zh-CN" altLang="zh-CN" sz="1800" dirty="0"/>
              <a:t>，实际功放做到</a:t>
            </a:r>
            <a:r>
              <a:rPr lang="en-US" altLang="zh-CN" sz="1800" dirty="0"/>
              <a:t>60%~70%</a:t>
            </a:r>
            <a:r>
              <a:rPr lang="zh-CN" altLang="zh-CN" sz="1800" dirty="0"/>
              <a:t>是常见的。</a:t>
            </a:r>
            <a:endParaRPr lang="en-US" altLang="zh-CN" sz="1800" dirty="0"/>
          </a:p>
          <a:p>
            <a:pPr indent="457200">
              <a:lnSpc>
                <a:spcPct val="150000"/>
              </a:lnSpc>
            </a:pPr>
            <a:r>
              <a:rPr lang="zh-CN" altLang="zh-CN" sz="1800" dirty="0"/>
              <a:t>对于这个电路来说，要提高电源效率就要降低电源电压。但是降低电源电压后，</a:t>
            </a:r>
            <a:r>
              <a:rPr lang="zh-CN" altLang="en-US" sz="1800" dirty="0"/>
              <a:t>必须降低</a:t>
            </a:r>
            <a:r>
              <a:rPr lang="en-US" altLang="zh-CN" sz="1800" dirty="0"/>
              <a:t>R2</a:t>
            </a:r>
            <a:r>
              <a:rPr lang="zh-CN" altLang="zh-CN" sz="1800" dirty="0"/>
              <a:t>与</a:t>
            </a:r>
            <a:r>
              <a:rPr lang="en-US" altLang="zh-CN" sz="1800" dirty="0"/>
              <a:t>R4</a:t>
            </a:r>
            <a:r>
              <a:rPr lang="zh-CN" altLang="en-US" sz="1800" dirty="0"/>
              <a:t>的阻值，否则它们</a:t>
            </a:r>
            <a:r>
              <a:rPr lang="zh-CN" altLang="zh-CN" sz="1800" dirty="0"/>
              <a:t>提供的</a:t>
            </a:r>
            <a:r>
              <a:rPr lang="zh-CN" altLang="en-US" sz="1800" dirty="0"/>
              <a:t>电流将不满足</a:t>
            </a:r>
            <a:r>
              <a:rPr lang="zh-CN" altLang="zh-CN" sz="1800" dirty="0"/>
              <a:t>晶体管的激励电流</a:t>
            </a:r>
            <a:r>
              <a:rPr lang="zh-CN" altLang="en-US" sz="1800" dirty="0"/>
              <a:t>需要</a:t>
            </a:r>
            <a:r>
              <a:rPr lang="zh-CN" altLang="en-US" sz="1800" dirty="0" smtClean="0"/>
              <a:t>。</a:t>
            </a:r>
            <a:endParaRPr lang="en-US" altLang="zh-CN" sz="1800" dirty="0"/>
          </a:p>
        </p:txBody>
      </p:sp>
      <p:sp>
        <p:nvSpPr>
          <p:cNvPr id="6" name="矩形 5"/>
          <p:cNvSpPr/>
          <p:nvPr/>
        </p:nvSpPr>
        <p:spPr>
          <a:xfrm>
            <a:off x="428170" y="2745614"/>
            <a:ext cx="6923316" cy="3000821"/>
          </a:xfrm>
          <a:prstGeom prst="rect">
            <a:avLst/>
          </a:prstGeom>
        </p:spPr>
        <p:txBody>
          <a:bodyPr wrap="square">
            <a:spAutoFit/>
          </a:bodyPr>
          <a:lstStyle/>
          <a:p>
            <a:pPr indent="457200">
              <a:lnSpc>
                <a:spcPct val="150000"/>
              </a:lnSpc>
            </a:pPr>
            <a:r>
              <a:rPr lang="zh-CN" altLang="en-US" sz="1800" dirty="0" smtClean="0"/>
              <a:t>但是</a:t>
            </a:r>
            <a:r>
              <a:rPr lang="zh-CN" altLang="en-US" sz="1800" dirty="0"/>
              <a:t>即使在最极端的情况下（令</a:t>
            </a:r>
            <a:r>
              <a:rPr lang="en-US" altLang="zh-CN" sz="1800" dirty="0"/>
              <a:t>R2</a:t>
            </a:r>
            <a:r>
              <a:rPr lang="zh-CN" altLang="en-US" sz="1800" dirty="0"/>
              <a:t>与</a:t>
            </a:r>
            <a:r>
              <a:rPr lang="en-US" altLang="zh-CN" sz="1800" dirty="0"/>
              <a:t>R4</a:t>
            </a:r>
            <a:r>
              <a:rPr lang="zh-CN" altLang="en-US" sz="1800" dirty="0"/>
              <a:t>为</a:t>
            </a:r>
            <a:r>
              <a:rPr lang="en-US" altLang="zh-CN" sz="1800" dirty="0"/>
              <a:t>0</a:t>
            </a:r>
            <a:r>
              <a:rPr lang="zh-CN" altLang="en-US" sz="1800" dirty="0"/>
              <a:t>）</a:t>
            </a:r>
            <a:r>
              <a:rPr lang="zh-CN" altLang="zh-CN" sz="1800" dirty="0"/>
              <a:t>，</a:t>
            </a:r>
            <a:r>
              <a:rPr lang="zh-CN" altLang="en-US" sz="1800" dirty="0"/>
              <a:t>放大器的输出摆幅仍然比电源电压低两个</a:t>
            </a:r>
            <a:r>
              <a:rPr lang="en-US" altLang="zh-CN" sz="1800" dirty="0"/>
              <a:t>VBE</a:t>
            </a:r>
            <a:r>
              <a:rPr lang="zh-CN" altLang="en-US" sz="1800" dirty="0"/>
              <a:t>。更何况</a:t>
            </a:r>
            <a:r>
              <a:rPr lang="en-US" altLang="zh-CN" sz="1800" dirty="0"/>
              <a:t>R2</a:t>
            </a:r>
            <a:r>
              <a:rPr lang="zh-CN" altLang="en-US" sz="1800" dirty="0"/>
              <a:t>与</a:t>
            </a:r>
            <a:r>
              <a:rPr lang="en-US" altLang="zh-CN" sz="1800" dirty="0"/>
              <a:t>R4</a:t>
            </a:r>
            <a:r>
              <a:rPr lang="zh-CN" altLang="en-US" sz="1800" dirty="0"/>
              <a:t>不可能为</a:t>
            </a:r>
            <a:r>
              <a:rPr lang="en-US" altLang="zh-CN" sz="1800" dirty="0"/>
              <a:t>0</a:t>
            </a:r>
            <a:r>
              <a:rPr lang="zh-CN" altLang="en-US" sz="1800" dirty="0"/>
              <a:t>，否则运放的输出无法传输到晶体管基极。</a:t>
            </a:r>
            <a:endParaRPr lang="en-US" altLang="zh-CN" sz="1800" dirty="0"/>
          </a:p>
          <a:p>
            <a:pPr indent="457200">
              <a:lnSpc>
                <a:spcPct val="150000"/>
              </a:lnSpc>
            </a:pPr>
            <a:r>
              <a:rPr lang="zh-CN" altLang="zh-CN" sz="1800" dirty="0"/>
              <a:t>解决的方法是采用自举式偏置电路：将</a:t>
            </a:r>
            <a:r>
              <a:rPr lang="en-US" altLang="zh-CN" sz="1800" dirty="0"/>
              <a:t>R2</a:t>
            </a:r>
            <a:r>
              <a:rPr lang="zh-CN" altLang="zh-CN" sz="1800" dirty="0"/>
              <a:t>与</a:t>
            </a:r>
            <a:r>
              <a:rPr lang="en-US" altLang="zh-CN" sz="1800" dirty="0"/>
              <a:t>R4</a:t>
            </a:r>
            <a:r>
              <a:rPr lang="zh-CN" altLang="zh-CN" sz="1800" dirty="0"/>
              <a:t>都拆分为两个电阻串联，然后在两个电阻的中间节点各接一个大容量电容到功放的输出端，利用功放的输出提供晶体管的激励电流。这样改动以后，正常工作的电源电压可以降低到</a:t>
            </a:r>
            <a:r>
              <a:rPr lang="en-US" altLang="zh-CN" sz="1800" dirty="0"/>
              <a:t>±7V~±8V</a:t>
            </a:r>
            <a:r>
              <a:rPr lang="zh-CN" altLang="zh-CN" sz="1800" dirty="0"/>
              <a:t>。</a:t>
            </a:r>
          </a:p>
        </p:txBody>
      </p:sp>
      <p:pic>
        <p:nvPicPr>
          <p:cNvPr id="7" name="图片 6"/>
          <p:cNvPicPr>
            <a:picLocks noChangeAspect="1"/>
          </p:cNvPicPr>
          <p:nvPr/>
        </p:nvPicPr>
        <p:blipFill>
          <a:blip r:embed="rId2"/>
          <a:stretch>
            <a:fillRect/>
          </a:stretch>
        </p:blipFill>
        <p:spPr>
          <a:xfrm>
            <a:off x="7730974" y="2694813"/>
            <a:ext cx="3697151" cy="3270557"/>
          </a:xfrm>
          <a:prstGeom prst="rect">
            <a:avLst/>
          </a:prstGeom>
        </p:spPr>
      </p:pic>
    </p:spTree>
    <p:extLst>
      <p:ext uri="{BB962C8B-B14F-4D97-AF65-F5344CB8AC3E}">
        <p14:creationId xmlns:p14="http://schemas.microsoft.com/office/powerpoint/2010/main" val="42407335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64</a:t>
            </a:fld>
            <a:endParaRPr lang="en-US" altLang="zh-CN">
              <a:solidFill>
                <a:srgbClr val="FFFFFF"/>
              </a:solidFill>
            </a:endParaRPr>
          </a:p>
        </p:txBody>
      </p:sp>
      <p:sp>
        <p:nvSpPr>
          <p:cNvPr id="5" name="矩形 4"/>
          <p:cNvSpPr/>
          <p:nvPr/>
        </p:nvSpPr>
        <p:spPr>
          <a:xfrm>
            <a:off x="573314" y="507539"/>
            <a:ext cx="11103429" cy="4196726"/>
          </a:xfrm>
          <a:prstGeom prst="rect">
            <a:avLst/>
          </a:prstGeom>
        </p:spPr>
        <p:txBody>
          <a:bodyPr wrap="square">
            <a:spAutoFit/>
          </a:bodyPr>
          <a:lstStyle/>
          <a:p>
            <a:pPr>
              <a:lnSpc>
                <a:spcPct val="150000"/>
              </a:lnSpc>
            </a:pPr>
            <a:r>
              <a:rPr lang="zh-CN" altLang="en-US" sz="1800" dirty="0">
                <a:solidFill>
                  <a:srgbClr val="FF0000"/>
                </a:solidFill>
                <a:latin typeface="+mj-ea"/>
              </a:rPr>
              <a:t>四</a:t>
            </a:r>
            <a:r>
              <a:rPr lang="zh-CN" altLang="zh-CN" sz="1800" dirty="0">
                <a:solidFill>
                  <a:srgbClr val="FF0000"/>
                </a:solidFill>
                <a:latin typeface="+mj-ea"/>
              </a:rPr>
              <a:t>、</a:t>
            </a:r>
            <a:r>
              <a:rPr lang="zh-CN" altLang="en-US" sz="1800" dirty="0">
                <a:solidFill>
                  <a:srgbClr val="FF0000"/>
                </a:solidFill>
                <a:latin typeface="+mj-ea"/>
              </a:rPr>
              <a:t>电源与退耦，以及制作注意事项</a:t>
            </a:r>
            <a:endParaRPr lang="en-US" altLang="zh-CN" sz="1800" dirty="0">
              <a:solidFill>
                <a:srgbClr val="FF0000"/>
              </a:solidFill>
              <a:latin typeface="+mj-ea"/>
            </a:endParaRPr>
          </a:p>
          <a:p>
            <a:pPr indent="457200">
              <a:lnSpc>
                <a:spcPct val="150000"/>
              </a:lnSpc>
            </a:pPr>
            <a:r>
              <a:rPr lang="zh-CN" altLang="en-US" sz="1800" dirty="0"/>
              <a:t>整个放大器的电源有</a:t>
            </a:r>
            <a:r>
              <a:rPr lang="en-US" altLang="zh-CN" sz="1800" dirty="0"/>
              <a:t>4</a:t>
            </a:r>
            <a:r>
              <a:rPr lang="zh-CN" altLang="en-US" sz="1800" dirty="0"/>
              <a:t>组：</a:t>
            </a:r>
            <a:r>
              <a:rPr lang="en-US" altLang="zh-CN" sz="1800" dirty="0"/>
              <a:t>±12V</a:t>
            </a:r>
            <a:r>
              <a:rPr lang="zh-CN" altLang="en-US" sz="1800" dirty="0"/>
              <a:t>与</a:t>
            </a:r>
            <a:r>
              <a:rPr lang="en-US" altLang="zh-CN" sz="1800" dirty="0"/>
              <a:t>±6V</a:t>
            </a:r>
            <a:r>
              <a:rPr lang="zh-CN" altLang="en-US" sz="1800" dirty="0"/>
              <a:t>。为了减少外供电源的数量，其中</a:t>
            </a:r>
            <a:r>
              <a:rPr lang="en-US" altLang="zh-CN" sz="1800" dirty="0"/>
              <a:t>±12V</a:t>
            </a:r>
            <a:r>
              <a:rPr lang="zh-CN" altLang="en-US" sz="1800" dirty="0"/>
              <a:t>部分由外部稳压电源提供，而</a:t>
            </a:r>
            <a:r>
              <a:rPr lang="en-US" altLang="zh-CN" sz="1800" dirty="0"/>
              <a:t>±6V</a:t>
            </a:r>
            <a:r>
              <a:rPr lang="zh-CN" altLang="en-US" sz="1800" dirty="0"/>
              <a:t>部分可以由线性稳压电源</a:t>
            </a:r>
            <a:r>
              <a:rPr lang="en-US" altLang="zh-CN" sz="1800" dirty="0"/>
              <a:t>7806</a:t>
            </a:r>
            <a:r>
              <a:rPr lang="zh-CN" altLang="en-US" sz="1800" dirty="0"/>
              <a:t>和</a:t>
            </a:r>
            <a:r>
              <a:rPr lang="en-US" altLang="zh-CN" sz="1800" dirty="0"/>
              <a:t>7906</a:t>
            </a:r>
            <a:r>
              <a:rPr lang="zh-CN" altLang="en-US" sz="1800" dirty="0"/>
              <a:t>从</a:t>
            </a:r>
            <a:r>
              <a:rPr lang="en-US" altLang="zh-CN" sz="1800" dirty="0"/>
              <a:t>±12V</a:t>
            </a:r>
            <a:r>
              <a:rPr lang="zh-CN" altLang="en-US" sz="1800" dirty="0"/>
              <a:t>上降压得到。</a:t>
            </a:r>
            <a:endParaRPr lang="en-US" altLang="zh-CN" sz="1800" dirty="0"/>
          </a:p>
          <a:p>
            <a:pPr indent="457200">
              <a:lnSpc>
                <a:spcPct val="150000"/>
              </a:lnSpc>
            </a:pPr>
            <a:r>
              <a:rPr lang="zh-CN" altLang="en-US" sz="1800" dirty="0"/>
              <a:t>对于这种纯粹的模拟放大器电路，电源的退耦以及防止干扰是极其重要的。具体需要注意的有以下几项：</a:t>
            </a:r>
            <a:endParaRPr lang="en-US" altLang="zh-CN" sz="1800" dirty="0"/>
          </a:p>
          <a:p>
            <a:pPr indent="457200">
              <a:lnSpc>
                <a:spcPct val="150000"/>
              </a:lnSpc>
            </a:pPr>
            <a:r>
              <a:rPr lang="en-US" altLang="zh-CN" sz="1800" dirty="0"/>
              <a:t>1</a:t>
            </a:r>
            <a:r>
              <a:rPr lang="zh-CN" altLang="en-US" sz="1800" dirty="0"/>
              <a:t>、所有器件（运放、滤波器等），在其每个电源端均需接入对地的退耦电容，此退耦电容应由一个大容量的电解电容（几到几十微法）与一个小容量的瓷片电容（</a:t>
            </a:r>
            <a:r>
              <a:rPr lang="en-US" altLang="zh-CN" sz="1800" dirty="0"/>
              <a:t>0.01~0.1</a:t>
            </a:r>
            <a:r>
              <a:rPr lang="zh-CN" altLang="en-US" sz="1800" dirty="0"/>
              <a:t>微法）并联而成，且应该就近接地（与本运放中的其他接地点靠近）。</a:t>
            </a:r>
            <a:endParaRPr lang="en-US" altLang="zh-CN" sz="1800" dirty="0"/>
          </a:p>
          <a:p>
            <a:pPr indent="457200">
              <a:lnSpc>
                <a:spcPct val="150000"/>
              </a:lnSpc>
            </a:pPr>
            <a:r>
              <a:rPr lang="en-US" altLang="zh-CN" sz="1800" dirty="0"/>
              <a:t>2</a:t>
            </a:r>
            <a:r>
              <a:rPr lang="zh-CN" altLang="en-US" sz="1800" dirty="0"/>
              <a:t>、对于音频电路来说，两个不同放大器的接地点不应以“链”的形式连接后在接到电源的接地点（通常是电源输出储能电容的接地点），而应该每个放大器都由一根单独的接地线将放大器的“地”与电源的“地”相连，称为单点接地。从电源接地点看，这些接地线形成一个星形结构。</a:t>
            </a:r>
          </a:p>
        </p:txBody>
      </p:sp>
    </p:spTree>
    <p:extLst>
      <p:ext uri="{BB962C8B-B14F-4D97-AF65-F5344CB8AC3E}">
        <p14:creationId xmlns:p14="http://schemas.microsoft.com/office/powerpoint/2010/main" val="28626479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2024/3/24</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65</a:t>
            </a:fld>
            <a:endParaRPr lang="en-US" altLang="zh-CN">
              <a:solidFill>
                <a:srgbClr val="FFFFFF"/>
              </a:solidFill>
            </a:endParaRPr>
          </a:p>
        </p:txBody>
      </p:sp>
      <p:sp>
        <p:nvSpPr>
          <p:cNvPr id="6" name="文本框 5"/>
          <p:cNvSpPr txBox="1"/>
          <p:nvPr/>
        </p:nvSpPr>
        <p:spPr>
          <a:xfrm>
            <a:off x="522514" y="575733"/>
            <a:ext cx="11176000" cy="2950231"/>
          </a:xfrm>
          <a:prstGeom prst="rect">
            <a:avLst/>
          </a:prstGeom>
          <a:noFill/>
        </p:spPr>
        <p:txBody>
          <a:bodyPr wrap="square" rtlCol="0">
            <a:spAutoFit/>
          </a:bodyPr>
          <a:lstStyle/>
          <a:p>
            <a:pPr indent="457200">
              <a:lnSpc>
                <a:spcPct val="150000"/>
              </a:lnSpc>
            </a:pPr>
            <a:r>
              <a:rPr lang="en-US" altLang="zh-CN" sz="1800" dirty="0"/>
              <a:t>3</a:t>
            </a:r>
            <a:r>
              <a:rPr lang="zh-CN" altLang="en-US" sz="1800" dirty="0"/>
              <a:t>、严格禁止将接地线构成一个环。这种情况最容易在用屏蔽线传输信号时无意中错误地形成。一旦形成这种“地环”便很容易受到外界工频磁场的干扰。</a:t>
            </a:r>
            <a:endParaRPr lang="en-US" altLang="zh-CN" sz="1800" dirty="0"/>
          </a:p>
          <a:p>
            <a:pPr indent="457200">
              <a:lnSpc>
                <a:spcPct val="150000"/>
              </a:lnSpc>
            </a:pPr>
            <a:r>
              <a:rPr lang="en-US" altLang="zh-CN" sz="1800" dirty="0"/>
              <a:t>4</a:t>
            </a:r>
            <a:r>
              <a:rPr lang="zh-CN" altLang="en-US" sz="1800" dirty="0"/>
              <a:t>、所有电路必须通过焊接相连。可以使用洞洞板或者制作印制板，面包板只适合于小规模电路的验证过程，不能用于实际电路的制作。</a:t>
            </a:r>
            <a:endParaRPr lang="en-US" altLang="zh-CN" sz="1800" dirty="0"/>
          </a:p>
          <a:p>
            <a:pPr indent="457200">
              <a:lnSpc>
                <a:spcPct val="150000"/>
              </a:lnSpc>
            </a:pPr>
            <a:r>
              <a:rPr lang="en-US" altLang="zh-CN" sz="1800" dirty="0"/>
              <a:t>5</a:t>
            </a:r>
            <a:r>
              <a:rPr lang="zh-CN" altLang="en-US" sz="1800" dirty="0"/>
              <a:t>、若多个模块分别安装在几块板上，可以通过可靠的接插件连接，例如排针与插座直接连接，或通过音频插头插座、</a:t>
            </a:r>
            <a:r>
              <a:rPr lang="en-US" altLang="zh-CN" sz="1800" dirty="0"/>
              <a:t>BNC</a:t>
            </a:r>
            <a:r>
              <a:rPr lang="zh-CN" altLang="en-US" sz="1800" dirty="0"/>
              <a:t>插头插座、</a:t>
            </a:r>
            <a:r>
              <a:rPr lang="en-US" altLang="zh-CN" sz="1800" dirty="0"/>
              <a:t>SMA</a:t>
            </a:r>
            <a:r>
              <a:rPr lang="zh-CN" altLang="en-US" sz="1800" dirty="0"/>
              <a:t>插头插座等。杜邦线是一种不可靠的连接线，不建议使用。为了避免干扰，连线应尽可能短或采用屏蔽线。</a:t>
            </a:r>
          </a:p>
        </p:txBody>
      </p:sp>
    </p:spTree>
    <p:extLst>
      <p:ext uri="{BB962C8B-B14F-4D97-AF65-F5344CB8AC3E}">
        <p14:creationId xmlns:p14="http://schemas.microsoft.com/office/powerpoint/2010/main" val="1267225340"/>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12409</TotalTime>
  <Words>9411</Words>
  <Application>Microsoft Office PowerPoint</Application>
  <PresentationFormat>宽屏</PresentationFormat>
  <Paragraphs>749</Paragraphs>
  <Slides>65</Slides>
  <Notes>7</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65</vt:i4>
      </vt:variant>
    </vt:vector>
  </HeadingPairs>
  <TitlesOfParts>
    <vt:vector size="81" baseType="lpstr">
      <vt:lpstr>Symbol Tiger</vt:lpstr>
      <vt:lpstr>Symbol Tiger Expert</vt:lpstr>
      <vt:lpstr>黑体</vt:lpstr>
      <vt:lpstr>华文楷体</vt:lpstr>
      <vt:lpstr>华文细黑</vt:lpstr>
      <vt:lpstr>楷体</vt:lpstr>
      <vt:lpstr>楷体_GB2312</vt:lpstr>
      <vt:lpstr>隶书</vt:lpstr>
      <vt:lpstr>宋体</vt:lpstr>
      <vt:lpstr>Arial</vt:lpstr>
      <vt:lpstr>Tahoma</vt:lpstr>
      <vt:lpstr>Times New Roman</vt:lpstr>
      <vt:lpstr>Wingdings</vt:lpstr>
      <vt:lpstr>1_Network</vt:lpstr>
      <vt:lpstr>Visio</vt:lpstr>
      <vt:lpstr>Equation</vt:lpstr>
      <vt:lpstr>低频放大器与有源滤波器 —— 2022年上海市C题分析与设计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365</cp:revision>
  <dcterms:created xsi:type="dcterms:W3CDTF">1601-01-01T00:00:00Z</dcterms:created>
  <dcterms:modified xsi:type="dcterms:W3CDTF">2024-03-23T23:48:51Z</dcterms:modified>
</cp:coreProperties>
</file>