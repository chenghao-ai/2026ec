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883" r:id="rId1"/>
  </p:sldMasterIdLst>
  <p:notesMasterIdLst>
    <p:notesMasterId r:id="rId55"/>
  </p:notesMasterIdLst>
  <p:handoutMasterIdLst>
    <p:handoutMasterId r:id="rId56"/>
  </p:handoutMasterIdLst>
  <p:sldIdLst>
    <p:sldId id="398" r:id="rId2"/>
    <p:sldId id="660" r:id="rId3"/>
    <p:sldId id="678" r:id="rId4"/>
    <p:sldId id="677" r:id="rId5"/>
    <p:sldId id="679" r:id="rId6"/>
    <p:sldId id="716" r:id="rId7"/>
    <p:sldId id="680" r:id="rId8"/>
    <p:sldId id="681" r:id="rId9"/>
    <p:sldId id="689" r:id="rId10"/>
    <p:sldId id="682" r:id="rId11"/>
    <p:sldId id="686" r:id="rId12"/>
    <p:sldId id="685" r:id="rId13"/>
    <p:sldId id="683" r:id="rId14"/>
    <p:sldId id="684" r:id="rId15"/>
    <p:sldId id="691" r:id="rId16"/>
    <p:sldId id="692" r:id="rId17"/>
    <p:sldId id="715" r:id="rId18"/>
    <p:sldId id="723" r:id="rId19"/>
    <p:sldId id="717" r:id="rId20"/>
    <p:sldId id="718" r:id="rId21"/>
    <p:sldId id="719" r:id="rId22"/>
    <p:sldId id="694" r:id="rId23"/>
    <p:sldId id="695" r:id="rId24"/>
    <p:sldId id="696" r:id="rId25"/>
    <p:sldId id="697" r:id="rId26"/>
    <p:sldId id="698" r:id="rId27"/>
    <p:sldId id="699" r:id="rId28"/>
    <p:sldId id="700" r:id="rId29"/>
    <p:sldId id="721" r:id="rId30"/>
    <p:sldId id="701" r:id="rId31"/>
    <p:sldId id="722" r:id="rId32"/>
    <p:sldId id="702" r:id="rId33"/>
    <p:sldId id="720" r:id="rId34"/>
    <p:sldId id="703" r:id="rId35"/>
    <p:sldId id="704" r:id="rId36"/>
    <p:sldId id="734" r:id="rId37"/>
    <p:sldId id="735" r:id="rId38"/>
    <p:sldId id="705" r:id="rId39"/>
    <p:sldId id="706" r:id="rId40"/>
    <p:sldId id="724" r:id="rId41"/>
    <p:sldId id="728" r:id="rId42"/>
    <p:sldId id="725" r:id="rId43"/>
    <p:sldId id="730" r:id="rId44"/>
    <p:sldId id="731" r:id="rId45"/>
    <p:sldId id="732" r:id="rId46"/>
    <p:sldId id="733" r:id="rId47"/>
    <p:sldId id="707" r:id="rId48"/>
    <p:sldId id="708" r:id="rId49"/>
    <p:sldId id="710" r:id="rId50"/>
    <p:sldId id="711" r:id="rId51"/>
    <p:sldId id="712" r:id="rId52"/>
    <p:sldId id="713" r:id="rId53"/>
    <p:sldId id="714" r:id="rId54"/>
  </p:sldIdLst>
  <p:sldSz cx="12192000" cy="6858000"/>
  <p:notesSz cx="6735763" cy="9869488"/>
  <p:defaultTextStyle>
    <a:defPPr>
      <a:defRPr lang="en-US"/>
    </a:defPPr>
    <a:lvl1pPr algn="l" rtl="0" fontAlgn="base">
      <a:spcBef>
        <a:spcPct val="0"/>
      </a:spcBef>
      <a:spcAft>
        <a:spcPct val="0"/>
      </a:spcAft>
      <a:defRPr sz="2000" kern="1200">
        <a:solidFill>
          <a:schemeClr val="tx1"/>
        </a:solidFill>
        <a:latin typeface="Arial" charset="0"/>
        <a:ea typeface="华文细黑" pitchFamily="2" charset="-122"/>
        <a:cs typeface="+mn-cs"/>
      </a:defRPr>
    </a:lvl1pPr>
    <a:lvl2pPr marL="457200" algn="l" rtl="0" fontAlgn="base">
      <a:spcBef>
        <a:spcPct val="0"/>
      </a:spcBef>
      <a:spcAft>
        <a:spcPct val="0"/>
      </a:spcAft>
      <a:defRPr sz="2000" kern="1200">
        <a:solidFill>
          <a:schemeClr val="tx1"/>
        </a:solidFill>
        <a:latin typeface="Arial" charset="0"/>
        <a:ea typeface="华文细黑" pitchFamily="2" charset="-122"/>
        <a:cs typeface="+mn-cs"/>
      </a:defRPr>
    </a:lvl2pPr>
    <a:lvl3pPr marL="914400" algn="l" rtl="0" fontAlgn="base">
      <a:spcBef>
        <a:spcPct val="0"/>
      </a:spcBef>
      <a:spcAft>
        <a:spcPct val="0"/>
      </a:spcAft>
      <a:defRPr sz="2000" kern="1200">
        <a:solidFill>
          <a:schemeClr val="tx1"/>
        </a:solidFill>
        <a:latin typeface="Arial" charset="0"/>
        <a:ea typeface="华文细黑" pitchFamily="2" charset="-122"/>
        <a:cs typeface="+mn-cs"/>
      </a:defRPr>
    </a:lvl3pPr>
    <a:lvl4pPr marL="1371600" algn="l" rtl="0" fontAlgn="base">
      <a:spcBef>
        <a:spcPct val="0"/>
      </a:spcBef>
      <a:spcAft>
        <a:spcPct val="0"/>
      </a:spcAft>
      <a:defRPr sz="2000" kern="1200">
        <a:solidFill>
          <a:schemeClr val="tx1"/>
        </a:solidFill>
        <a:latin typeface="Arial" charset="0"/>
        <a:ea typeface="华文细黑" pitchFamily="2" charset="-122"/>
        <a:cs typeface="+mn-cs"/>
      </a:defRPr>
    </a:lvl4pPr>
    <a:lvl5pPr marL="1828800" algn="l" rtl="0" fontAlgn="base">
      <a:spcBef>
        <a:spcPct val="0"/>
      </a:spcBef>
      <a:spcAft>
        <a:spcPct val="0"/>
      </a:spcAft>
      <a:defRPr sz="2000" kern="1200">
        <a:solidFill>
          <a:schemeClr val="tx1"/>
        </a:solidFill>
        <a:latin typeface="Arial" charset="0"/>
        <a:ea typeface="华文细黑" pitchFamily="2" charset="-122"/>
        <a:cs typeface="+mn-cs"/>
      </a:defRPr>
    </a:lvl5pPr>
    <a:lvl6pPr marL="2286000" algn="l" defTabSz="914400" rtl="0" eaLnBrk="1" latinLnBrk="0" hangingPunct="1">
      <a:defRPr sz="2000" kern="1200">
        <a:solidFill>
          <a:schemeClr val="tx1"/>
        </a:solidFill>
        <a:latin typeface="Arial" charset="0"/>
        <a:ea typeface="华文细黑" pitchFamily="2" charset="-122"/>
        <a:cs typeface="+mn-cs"/>
      </a:defRPr>
    </a:lvl6pPr>
    <a:lvl7pPr marL="2743200" algn="l" defTabSz="914400" rtl="0" eaLnBrk="1" latinLnBrk="0" hangingPunct="1">
      <a:defRPr sz="2000" kern="1200">
        <a:solidFill>
          <a:schemeClr val="tx1"/>
        </a:solidFill>
        <a:latin typeface="Arial" charset="0"/>
        <a:ea typeface="华文细黑" pitchFamily="2" charset="-122"/>
        <a:cs typeface="+mn-cs"/>
      </a:defRPr>
    </a:lvl7pPr>
    <a:lvl8pPr marL="3200400" algn="l" defTabSz="914400" rtl="0" eaLnBrk="1" latinLnBrk="0" hangingPunct="1">
      <a:defRPr sz="2000" kern="1200">
        <a:solidFill>
          <a:schemeClr val="tx1"/>
        </a:solidFill>
        <a:latin typeface="Arial" charset="0"/>
        <a:ea typeface="华文细黑" pitchFamily="2" charset="-122"/>
        <a:cs typeface="+mn-cs"/>
      </a:defRPr>
    </a:lvl8pPr>
    <a:lvl9pPr marL="3657600" algn="l" defTabSz="914400" rtl="0" eaLnBrk="1" latinLnBrk="0" hangingPunct="1">
      <a:defRPr sz="2000" kern="1200">
        <a:solidFill>
          <a:schemeClr val="tx1"/>
        </a:solidFill>
        <a:latin typeface="Arial" charset="0"/>
        <a:ea typeface="华文细黑"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09">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EDFFFF"/>
    <a:srgbClr val="CCECFF"/>
    <a:srgbClr val="99FF99"/>
    <a:srgbClr val="FFFF66"/>
    <a:srgbClr val="66FFFF"/>
    <a:srgbClr val="FFCC00"/>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59" autoAdjust="0"/>
    <p:restoredTop sz="96078" autoAdjust="0"/>
  </p:normalViewPr>
  <p:slideViewPr>
    <p:cSldViewPr snapToGrid="0">
      <p:cViewPr varScale="1">
        <p:scale>
          <a:sx n="88" d="100"/>
          <a:sy n="88" d="100"/>
        </p:scale>
        <p:origin x="80" y="26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71" d="100"/>
          <a:sy n="71" d="100"/>
        </p:scale>
        <p:origin x="2768" y="56"/>
      </p:cViewPr>
      <p:guideLst>
        <p:guide orient="horz" pos="3109"/>
        <p:guide pos="212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image" Target="../media/image41.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image" Target="../media/image4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97283" name="Rectangle 3"/>
          <p:cNvSpPr>
            <a:spLocks noGrp="1" noChangeArrowheads="1"/>
          </p:cNvSpPr>
          <p:nvPr>
            <p:ph type="dt" sz="quarter"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97284" name="Rectangle 4"/>
          <p:cNvSpPr>
            <a:spLocks noGrp="1" noChangeArrowheads="1"/>
          </p:cNvSpPr>
          <p:nvPr>
            <p:ph type="ftr" sz="quarter" idx="2"/>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97285" name="Rectangle 5"/>
          <p:cNvSpPr>
            <a:spLocks noGrp="1" noChangeArrowheads="1"/>
          </p:cNvSpPr>
          <p:nvPr>
            <p:ph type="sldNum" sz="quarter" idx="3"/>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E6372099-F593-43F9-841D-2A8A1DB37ACA}" type="slidenum">
              <a:rPr lang="zh-CN" altLang="en-US"/>
              <a:pPr>
                <a:defRPr/>
              </a:pPr>
              <a:t>‹#›</a:t>
            </a:fld>
            <a:endParaRPr lang="en-US" altLang="zh-CN"/>
          </a:p>
        </p:txBody>
      </p:sp>
    </p:spTree>
    <p:extLst>
      <p:ext uri="{BB962C8B-B14F-4D97-AF65-F5344CB8AC3E}">
        <p14:creationId xmlns:p14="http://schemas.microsoft.com/office/powerpoint/2010/main" val="3352001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47107" name="Rectangle 3"/>
          <p:cNvSpPr>
            <a:spLocks noGrp="1" noChangeArrowheads="1"/>
          </p:cNvSpPr>
          <p:nvPr>
            <p:ph type="dt"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33796" name="Rectangle 4"/>
          <p:cNvSpPr>
            <a:spLocks noGrp="1" noRot="1" noChangeAspect="1" noChangeArrowheads="1" noTextEdit="1"/>
          </p:cNvSpPr>
          <p:nvPr>
            <p:ph type="sldImg" idx="2"/>
          </p:nvPr>
        </p:nvSpPr>
        <p:spPr bwMode="auto">
          <a:xfrm>
            <a:off x="77788" y="739775"/>
            <a:ext cx="6580187"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673100" y="4687888"/>
            <a:ext cx="5389563" cy="4441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7110" name="Rectangle 6"/>
          <p:cNvSpPr>
            <a:spLocks noGrp="1" noChangeArrowheads="1"/>
          </p:cNvSpPr>
          <p:nvPr>
            <p:ph type="ftr" sz="quarter" idx="4"/>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47111" name="Rectangle 7"/>
          <p:cNvSpPr>
            <a:spLocks noGrp="1" noChangeArrowheads="1"/>
          </p:cNvSpPr>
          <p:nvPr>
            <p:ph type="sldNum" sz="quarter" idx="5"/>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C6010409-D5FA-46F9-8871-2961FD40B879}" type="slidenum">
              <a:rPr lang="zh-CN" altLang="en-US"/>
              <a:pPr>
                <a:defRPr/>
              </a:pPr>
              <a:t>‹#›</a:t>
            </a:fld>
            <a:endParaRPr lang="en-US" altLang="zh-CN"/>
          </a:p>
        </p:txBody>
      </p:sp>
    </p:spTree>
    <p:extLst>
      <p:ext uri="{BB962C8B-B14F-4D97-AF65-F5344CB8AC3E}">
        <p14:creationId xmlns:p14="http://schemas.microsoft.com/office/powerpoint/2010/main" val="31127954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15</a:t>
            </a:fld>
            <a:endParaRPr lang="en-US" altLang="zh-CN"/>
          </a:p>
        </p:txBody>
      </p:sp>
    </p:spTree>
    <p:extLst>
      <p:ext uri="{BB962C8B-B14F-4D97-AF65-F5344CB8AC3E}">
        <p14:creationId xmlns:p14="http://schemas.microsoft.com/office/powerpoint/2010/main" val="2873812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28</a:t>
            </a:fld>
            <a:endParaRPr lang="en-US" altLang="zh-CN"/>
          </a:p>
        </p:txBody>
      </p:sp>
    </p:spTree>
    <p:extLst>
      <p:ext uri="{BB962C8B-B14F-4D97-AF65-F5344CB8AC3E}">
        <p14:creationId xmlns:p14="http://schemas.microsoft.com/office/powerpoint/2010/main" val="14632602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85418" name="Picture 42"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1" y="5154613"/>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5379" name="Rectangle 3"/>
          <p:cNvSpPr>
            <a:spLocks noGrp="1" noChangeArrowheads="1"/>
          </p:cNvSpPr>
          <p:nvPr>
            <p:ph type="ctrTitle"/>
          </p:nvPr>
        </p:nvSpPr>
        <p:spPr>
          <a:xfrm>
            <a:off x="334433" y="1700214"/>
            <a:ext cx="7298267" cy="3457575"/>
          </a:xfrm>
        </p:spPr>
        <p:txBody>
          <a:bodyPr/>
          <a:lstStyle>
            <a:lvl1pPr algn="ctr" fontAlgn="ctr">
              <a:defRPr sz="6000">
                <a:solidFill>
                  <a:srgbClr val="FFFF66"/>
                </a:solidFill>
              </a:defRPr>
            </a:lvl1pPr>
          </a:lstStyle>
          <a:p>
            <a:pPr lvl="0"/>
            <a:r>
              <a:rPr lang="en-US" altLang="zh-CN" noProof="0" smtClean="0"/>
              <a:t>单击此处编辑母版标题样式</a:t>
            </a:r>
          </a:p>
        </p:txBody>
      </p:sp>
      <p:pic>
        <p:nvPicPr>
          <p:cNvPr id="485417" name="Picture 41"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4234" y="0"/>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5419" name="Picture 43" descr="fudan霓虹"/>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3601" y="228600"/>
            <a:ext cx="1682751"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70524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34C533E4-840F-457A-BDC6-00E847894365}" type="datetime1">
              <a:rPr lang="zh-CN" altLang="en-US" smtClean="0">
                <a:solidFill>
                  <a:srgbClr val="FFFFFF"/>
                </a:solidFill>
              </a:rPr>
              <a:t>2024/3/8</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7546952B-77A4-4ED1-9C66-997228AEE54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73544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8B3CDC7C-FE39-44BC-8776-62C7CBA3FD29}" type="datetime1">
              <a:rPr lang="zh-CN" altLang="en-US" smtClean="0">
                <a:solidFill>
                  <a:srgbClr val="FFFFFF"/>
                </a:solidFill>
              </a:rPr>
              <a:t>2024/3/8</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3BBB1522-67C6-4B5B-9E93-199C4BD5AAA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6466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268413"/>
            <a:ext cx="5522384"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335185" y="1268413"/>
            <a:ext cx="5522383"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1EE9AC11-FFD8-425F-85DD-52C90D8403ED}" type="datetime1">
              <a:rPr lang="zh-CN" altLang="en-US" smtClean="0">
                <a:solidFill>
                  <a:srgbClr val="FFFFFF"/>
                </a:solidFill>
              </a:rPr>
              <a:t>2024/3/8</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5BF1C3F-A99D-4E0C-9142-4E955F3C5B6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03266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934FE2D1-6C68-423F-A557-EEF096E28FFE}" type="datetime1">
              <a:rPr lang="zh-CN" altLang="en-US" smtClean="0">
                <a:solidFill>
                  <a:srgbClr val="FFFFFF"/>
                </a:solidFill>
              </a:rPr>
              <a:t>2024/3/8</a:t>
            </a:fld>
            <a:endParaRPr lang="en-US" altLang="zh-CN">
              <a:solidFill>
                <a:srgbClr val="FFFFFF"/>
              </a:solidFill>
            </a:endParaRPr>
          </a:p>
        </p:txBody>
      </p:sp>
      <p:sp>
        <p:nvSpPr>
          <p:cNvPr id="8" name="页脚占位符 7"/>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9" name="灯片编号占位符 8"/>
          <p:cNvSpPr>
            <a:spLocks noGrp="1"/>
          </p:cNvSpPr>
          <p:nvPr>
            <p:ph type="sldNum" sz="quarter" idx="12"/>
          </p:nvPr>
        </p:nvSpPr>
        <p:spPr/>
        <p:txBody>
          <a:bodyPr/>
          <a:lstStyle>
            <a:lvl1pPr>
              <a:defRPr/>
            </a:lvl1pPr>
          </a:lstStyle>
          <a:p>
            <a:fld id="{9F023302-31F7-4957-AA9A-06F65D93711D}"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426798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89CBE490-D6F5-4CE8-B6AB-4A7BEA66CF67}" type="datetime1">
              <a:rPr lang="zh-CN" altLang="en-US" smtClean="0">
                <a:solidFill>
                  <a:srgbClr val="FFFFFF"/>
                </a:solidFill>
              </a:rPr>
              <a:t>2024/3/8</a:t>
            </a:fld>
            <a:endParaRPr lang="en-US" altLang="zh-CN">
              <a:solidFill>
                <a:srgbClr val="FFFFFF"/>
              </a:solidFill>
            </a:endParaRPr>
          </a:p>
        </p:txBody>
      </p:sp>
      <p:sp>
        <p:nvSpPr>
          <p:cNvPr id="4" name="页脚占位符 3"/>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5" name="灯片编号占位符 4"/>
          <p:cNvSpPr>
            <a:spLocks noGrp="1"/>
          </p:cNvSpPr>
          <p:nvPr>
            <p:ph type="sldNum" sz="quarter" idx="12"/>
          </p:nvPr>
        </p:nvSpPr>
        <p:spPr/>
        <p:txBody>
          <a:bodyPr/>
          <a:lstStyle>
            <a:lvl1pPr>
              <a:defRPr/>
            </a:lvl1pPr>
          </a:lstStyle>
          <a:p>
            <a:fld id="{F9C52ED8-7AEC-4CBB-934D-9F20D978842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269992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lvl1pPr>
              <a:defRPr/>
            </a:lvl1pPr>
          </a:lstStyle>
          <a:p>
            <a:fld id="{EE1EA6D7-BBFA-44A4-BBD4-7DDF74B48E1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30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E8E4429-EF20-4367-A18B-946A02232E72}" type="datetime1">
              <a:rPr lang="zh-CN" altLang="en-US" smtClean="0">
                <a:solidFill>
                  <a:srgbClr val="FFFFFF"/>
                </a:solidFill>
              </a:rPr>
              <a:t>2024/3/8</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16585F4E-703D-4DDA-A04C-5275EF0B434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0096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22C09A3A-CC11-4C77-93F0-0867CCE43CB2}" type="datetime1">
              <a:rPr lang="zh-CN" altLang="en-US" smtClean="0">
                <a:solidFill>
                  <a:srgbClr val="FFFFFF"/>
                </a:solidFill>
              </a:rPr>
              <a:t>2024/3/8</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F07C10B-5957-44A4-AE21-D398C1EA64F2}"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946512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2DEDBB5-E1BC-4480-B5BD-C5E9E70D6D95}" type="datetime1">
              <a:rPr lang="zh-CN" altLang="en-US" smtClean="0">
                <a:solidFill>
                  <a:srgbClr val="FFFFFF"/>
                </a:solidFill>
              </a:rPr>
              <a:t>2024/3/8</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CB66BF2F-8EAE-4947-A6AE-705CB6B016DB}"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246930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46634" y="549275"/>
            <a:ext cx="2810933" cy="55816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1" y="549275"/>
            <a:ext cx="8233833" cy="55816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A882F663-C0B2-4D7A-9086-04AE7939ADA5}" type="datetime1">
              <a:rPr lang="zh-CN" altLang="en-US" smtClean="0">
                <a:solidFill>
                  <a:srgbClr val="FFFFFF"/>
                </a:solidFill>
              </a:rPr>
              <a:t>2024/3/8</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6F944636-8C9F-4429-B41D-0C113918A764}"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51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CCFFFF"/>
            </a:gs>
            <a:gs pos="100000">
              <a:srgbClr val="CCFFFF">
                <a:gamma/>
                <a:tint val="41569"/>
                <a:invGamma/>
              </a:srgbClr>
            </a:gs>
          </a:gsLst>
          <a:lin ang="5400000" scaled="1"/>
        </a:gradFill>
        <a:effectLst/>
      </p:bgPr>
    </p:bg>
    <p:spTree>
      <p:nvGrpSpPr>
        <p:cNvPr id="1" name=""/>
        <p:cNvGrpSpPr/>
        <p:nvPr/>
      </p:nvGrpSpPr>
      <p:grpSpPr>
        <a:xfrm>
          <a:off x="0" y="0"/>
          <a:ext cx="0" cy="0"/>
          <a:chOff x="0" y="0"/>
          <a:chExt cx="0" cy="0"/>
        </a:xfrm>
      </p:grpSpPr>
      <p:pic>
        <p:nvPicPr>
          <p:cNvPr id="484392" name="Picture 40"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54021" b="23820"/>
          <a:stretch>
            <a:fillRect/>
          </a:stretch>
        </p:blipFill>
        <p:spPr bwMode="blackWhite">
          <a:xfrm>
            <a:off x="0" y="6480176"/>
            <a:ext cx="121920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4355" name="Rectangle 3"/>
          <p:cNvSpPr>
            <a:spLocks noGrp="1" noChangeArrowheads="1"/>
          </p:cNvSpPr>
          <p:nvPr>
            <p:ph type="title"/>
          </p:nvPr>
        </p:nvSpPr>
        <p:spPr bwMode="auto">
          <a:xfrm>
            <a:off x="609600" y="549275"/>
            <a:ext cx="1124796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smtClean="0"/>
              <a:t>单击此处编辑母版标题样式</a:t>
            </a:r>
          </a:p>
        </p:txBody>
      </p:sp>
      <p:sp>
        <p:nvSpPr>
          <p:cNvPr id="484356" name="Rectangle 4"/>
          <p:cNvSpPr>
            <a:spLocks noGrp="1" noChangeArrowheads="1"/>
          </p:cNvSpPr>
          <p:nvPr>
            <p:ph type="body" idx="1"/>
          </p:nvPr>
        </p:nvSpPr>
        <p:spPr bwMode="auto">
          <a:xfrm>
            <a:off x="609600" y="1268413"/>
            <a:ext cx="11247967" cy="486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单击此处编辑母版文本样式</a:t>
            </a:r>
          </a:p>
          <a:p>
            <a:pPr lvl="1"/>
            <a:r>
              <a:rPr lang="en-US" altLang="zh-CN" smtClean="0"/>
              <a:t>第二级</a:t>
            </a:r>
          </a:p>
          <a:p>
            <a:pPr lvl="2"/>
            <a:r>
              <a:rPr lang="en-US" altLang="zh-CN" smtClean="0"/>
              <a:t>第三级</a:t>
            </a:r>
          </a:p>
          <a:p>
            <a:pPr lvl="3"/>
            <a:r>
              <a:rPr lang="en-US" altLang="zh-CN" smtClean="0"/>
              <a:t>第四级</a:t>
            </a:r>
          </a:p>
          <a:p>
            <a:pPr lvl="4"/>
            <a:r>
              <a:rPr lang="en-US" altLang="zh-CN" smtClean="0"/>
              <a:t>第五级</a:t>
            </a:r>
          </a:p>
        </p:txBody>
      </p:sp>
      <p:sp>
        <p:nvSpPr>
          <p:cNvPr id="484357" name="Rectangle 5"/>
          <p:cNvSpPr>
            <a:spLocks noGrp="1" noChangeArrowheads="1"/>
          </p:cNvSpPr>
          <p:nvPr>
            <p:ph type="dt" sz="half" idx="2"/>
          </p:nvPr>
        </p:nvSpPr>
        <p:spPr bwMode="auto">
          <a:xfrm>
            <a:off x="624417" y="6524626"/>
            <a:ext cx="28448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bg1"/>
                </a:solidFill>
                <a:latin typeface="+mn-lt"/>
                <a:ea typeface="宋体" charset="-122"/>
              </a:defRPr>
            </a:lvl1pPr>
          </a:lstStyle>
          <a:p>
            <a:fld id="{8F7001E2-937F-4764-916A-4BB9B06FB241}" type="datetime1">
              <a:rPr lang="zh-CN" altLang="en-US" smtClean="0">
                <a:solidFill>
                  <a:srgbClr val="FFFFFF"/>
                </a:solidFill>
              </a:rPr>
              <a:t>2024/3/8</a:t>
            </a:fld>
            <a:endParaRPr lang="en-US" altLang="zh-CN" smtClean="0">
              <a:solidFill>
                <a:srgbClr val="FFFFFF"/>
              </a:solidFill>
            </a:endParaRPr>
          </a:p>
        </p:txBody>
      </p:sp>
      <p:sp>
        <p:nvSpPr>
          <p:cNvPr id="484358" name="Rectangle 6"/>
          <p:cNvSpPr>
            <a:spLocks noGrp="1" noChangeArrowheads="1"/>
          </p:cNvSpPr>
          <p:nvPr>
            <p:ph type="ftr" sz="quarter" idx="3"/>
          </p:nvPr>
        </p:nvSpPr>
        <p:spPr bwMode="auto">
          <a:xfrm>
            <a:off x="4176185" y="6524626"/>
            <a:ext cx="4703233"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bg1"/>
                </a:solidFill>
                <a:ea typeface="楷体_GB2312" pitchFamily="49" charset="-122"/>
              </a:defRPr>
            </a:lvl1pPr>
          </a:lstStyle>
          <a:p>
            <a:r>
              <a:rPr lang="zh-CN" altLang="en-US" smtClean="0">
                <a:solidFill>
                  <a:srgbClr val="FFFFFF"/>
                </a:solidFill>
              </a:rPr>
              <a:t>大学生电子竞赛培训</a:t>
            </a:r>
            <a:endParaRPr lang="en-US" altLang="zh-CN" smtClean="0">
              <a:solidFill>
                <a:srgbClr val="FFFFFF"/>
              </a:solidFill>
            </a:endParaRPr>
          </a:p>
        </p:txBody>
      </p:sp>
      <p:sp>
        <p:nvSpPr>
          <p:cNvPr id="484359" name="Rectangle 7"/>
          <p:cNvSpPr>
            <a:spLocks noGrp="1" noChangeArrowheads="1"/>
          </p:cNvSpPr>
          <p:nvPr>
            <p:ph type="sldNum" sz="quarter" idx="4"/>
          </p:nvPr>
        </p:nvSpPr>
        <p:spPr bwMode="auto">
          <a:xfrm>
            <a:off x="9647768" y="6524626"/>
            <a:ext cx="2173817"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bg1"/>
                </a:solidFill>
                <a:latin typeface="+mn-lt"/>
                <a:ea typeface="宋体" charset="-122"/>
              </a:defRPr>
            </a:lvl1pPr>
          </a:lstStyle>
          <a:p>
            <a:fld id="{7854125E-C87B-484A-8700-536C00B7949E}" type="slidenum">
              <a:rPr lang="en-US" altLang="zh-CN" smtClean="0">
                <a:solidFill>
                  <a:srgbClr val="FFFFFF"/>
                </a:solidFill>
              </a:rPr>
              <a:pPr/>
              <a:t>‹#›</a:t>
            </a:fld>
            <a:endParaRPr lang="en-US" altLang="zh-CN" smtClean="0">
              <a:solidFill>
                <a:srgbClr val="FFFFFF"/>
              </a:solidFill>
            </a:endParaRPr>
          </a:p>
        </p:txBody>
      </p:sp>
      <p:pic>
        <p:nvPicPr>
          <p:cNvPr id="484393" name="Picture 41"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27010" b="52319"/>
          <a:stretch>
            <a:fillRect/>
          </a:stretch>
        </p:blipFill>
        <p:spPr bwMode="blackWhite">
          <a:xfrm>
            <a:off x="0" y="0"/>
            <a:ext cx="1219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4394" name="Picture 42" descr="fudan霓虹"/>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1379201" y="0"/>
            <a:ext cx="495300" cy="381000"/>
          </a:xfrm>
          <a:prstGeom prst="rect">
            <a:avLst/>
          </a:prstGeom>
          <a:noFill/>
          <a:extLst>
            <a:ext uri="{909E8E84-426E-40DD-AFC4-6F175D3DCCD1}">
              <a14:hiddenFill xmlns:a14="http://schemas.microsoft.com/office/drawing/2010/main">
                <a:solidFill>
                  <a:srgbClr val="FFFFFF"/>
                </a:solidFill>
              </a14:hiddenFill>
            </a:ext>
          </a:extLst>
        </p:spPr>
      </p:pic>
      <p:sp>
        <p:nvSpPr>
          <p:cNvPr id="484395" name="Text Box 43"/>
          <p:cNvSpPr txBox="1">
            <a:spLocks noChangeArrowheads="1"/>
          </p:cNvSpPr>
          <p:nvPr/>
        </p:nvSpPr>
        <p:spPr bwMode="auto">
          <a:xfrm>
            <a:off x="863600" y="107950"/>
            <a:ext cx="4800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1400" smtClean="0">
                <a:solidFill>
                  <a:srgbClr val="FFFFFF"/>
                </a:solidFill>
                <a:latin typeface="楷体_GB2312" pitchFamily="49" charset="-122"/>
                <a:ea typeface="楷体_GB2312" pitchFamily="49" charset="-122"/>
              </a:rPr>
              <a:t>复旦大学电子工程系   陈光梦</a:t>
            </a:r>
          </a:p>
        </p:txBody>
      </p:sp>
    </p:spTree>
    <p:extLst>
      <p:ext uri="{BB962C8B-B14F-4D97-AF65-F5344CB8AC3E}">
        <p14:creationId xmlns:p14="http://schemas.microsoft.com/office/powerpoint/2010/main" val="375476001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timing>
    <p:tnLst>
      <p:par>
        <p:cTn id="1" dur="indefinite" restart="never" nodeType="tmRoot"/>
      </p:par>
    </p:tnLst>
  </p:timing>
  <p:hf hdr="0"/>
  <p:txStyles>
    <p:titleStyle>
      <a:lvl1pPr algn="l" rtl="0" fontAlgn="base">
        <a:spcBef>
          <a:spcPct val="0"/>
        </a:spcBef>
        <a:spcAft>
          <a:spcPct val="0"/>
        </a:spcAft>
        <a:defRPr sz="3600">
          <a:solidFill>
            <a:schemeClr val="accent2"/>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p:titleStyle>
    <p:bodyStyle>
      <a:lvl1pPr marL="342900" indent="-342900" algn="l" rtl="0" fontAlgn="base">
        <a:spcBef>
          <a:spcPct val="20000"/>
        </a:spcBef>
        <a:spcAft>
          <a:spcPct val="0"/>
        </a:spcAft>
        <a:buClr>
          <a:schemeClr val="tx2"/>
        </a:buClr>
        <a:buSzPct val="70000"/>
        <a:buFont typeface="Wingdings" pitchFamily="2" charset="2"/>
        <a:buChar char="l"/>
        <a:defRPr sz="28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itchFamily="2" charset="2"/>
        <a:buChar char="l"/>
        <a:defRPr sz="2600">
          <a:solidFill>
            <a:schemeClr val="tx1"/>
          </a:solidFill>
          <a:latin typeface="+mj-lt"/>
          <a:ea typeface="+mn-ea"/>
        </a:defRPr>
      </a:lvl2pPr>
      <a:lvl3pPr marL="987425" indent="-293688" algn="l" rtl="0" fontAlgn="base">
        <a:spcBef>
          <a:spcPct val="20000"/>
        </a:spcBef>
        <a:spcAft>
          <a:spcPct val="0"/>
        </a:spcAft>
        <a:buClr>
          <a:schemeClr val="accent1"/>
        </a:buClr>
        <a:buSzPct val="70000"/>
        <a:buFont typeface="Wingdings" pitchFamily="2" charset="2"/>
        <a:buChar char="l"/>
        <a:defRPr sz="2300">
          <a:solidFill>
            <a:schemeClr val="tx1"/>
          </a:solidFill>
          <a:latin typeface="+mj-lt"/>
          <a:ea typeface="+mn-ea"/>
        </a:defRPr>
      </a:lvl3pPr>
      <a:lvl4pPr marL="1281113" indent="-292100" algn="l" rtl="0" fontAlgn="base">
        <a:spcBef>
          <a:spcPct val="20000"/>
        </a:spcBef>
        <a:spcAft>
          <a:spcPct val="0"/>
        </a:spcAft>
        <a:buClr>
          <a:schemeClr val="tx2"/>
        </a:buClr>
        <a:buSzPct val="75000"/>
        <a:buFont typeface="Wingdings" pitchFamily="2" charset="2"/>
        <a:buChar char="§"/>
        <a:defRPr sz="2000">
          <a:solidFill>
            <a:schemeClr val="tx1"/>
          </a:solidFill>
          <a:latin typeface="+mj-lt"/>
          <a:ea typeface="宋体" charset="-122"/>
        </a:defRPr>
      </a:lvl4pPr>
      <a:lvl5pPr marL="15986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21.emf"/></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23.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25.emf"/><Relationship Id="rId4" Type="http://schemas.openxmlformats.org/officeDocument/2006/relationships/oleObject" Target="../embeddings/oleObject5.bin"/></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42.emf"/><Relationship Id="rId5" Type="http://schemas.openxmlformats.org/officeDocument/2006/relationships/oleObject" Target="../embeddings/oleObject7.bin"/><Relationship Id="rId4" Type="http://schemas.openxmlformats.org/officeDocument/2006/relationships/image" Target="../media/image41.e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44.emf"/><Relationship Id="rId5" Type="http://schemas.openxmlformats.org/officeDocument/2006/relationships/oleObject" Target="../embeddings/oleObject9.bin"/><Relationship Id="rId4" Type="http://schemas.openxmlformats.org/officeDocument/2006/relationships/image" Target="../media/image43.e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45.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693863" y="1752601"/>
            <a:ext cx="8835990" cy="3339095"/>
          </a:xfrm>
        </p:spPr>
        <p:txBody>
          <a:bodyPr/>
          <a:lstStyle/>
          <a:p>
            <a:pPr eaLnBrk="1" hangingPunct="1"/>
            <a:r>
              <a:rPr lang="zh-CN" altLang="en-US" sz="4800" dirty="0" smtClean="0">
                <a:solidFill>
                  <a:srgbClr val="FF0000"/>
                </a:solidFill>
                <a:latin typeface="隶书" panose="02010509060101010101" pitchFamily="49" charset="-122"/>
                <a:ea typeface="隶书" panose="02010509060101010101" pitchFamily="49" charset="-122"/>
              </a:rPr>
              <a:t>电子</a:t>
            </a:r>
            <a:r>
              <a:rPr lang="zh-CN" altLang="zh-CN" sz="4800" dirty="0" smtClean="0">
                <a:solidFill>
                  <a:srgbClr val="FF0000"/>
                </a:solidFill>
                <a:latin typeface="隶书" panose="02010509060101010101" pitchFamily="49" charset="-122"/>
                <a:ea typeface="隶书" panose="02010509060101010101" pitchFamily="49" charset="-122"/>
              </a:rPr>
              <a:t>竞赛</a:t>
            </a:r>
            <a:r>
              <a:rPr lang="zh-CN" altLang="en-US" sz="4800" dirty="0" smtClean="0">
                <a:solidFill>
                  <a:srgbClr val="FF0000"/>
                </a:solidFill>
                <a:latin typeface="隶书" panose="02010509060101010101" pitchFamily="49" charset="-122"/>
                <a:ea typeface="隶书" panose="02010509060101010101" pitchFamily="49" charset="-122"/>
              </a:rPr>
              <a:t>题目介绍</a:t>
            </a:r>
            <a:r>
              <a:rPr lang="en-US" altLang="zh-CN" sz="4800" dirty="0" smtClean="0">
                <a:solidFill>
                  <a:srgbClr val="FF0000"/>
                </a:solidFill>
                <a:latin typeface="隶书" panose="02010509060101010101" pitchFamily="49" charset="-122"/>
                <a:ea typeface="隶书" panose="02010509060101010101" pitchFamily="49" charset="-122"/>
              </a:rPr>
              <a:t/>
            </a:r>
            <a:br>
              <a:rPr lang="en-US" altLang="zh-CN" sz="4800" dirty="0" smtClean="0">
                <a:solidFill>
                  <a:srgbClr val="FF0000"/>
                </a:solidFill>
                <a:latin typeface="隶书" panose="02010509060101010101" pitchFamily="49" charset="-122"/>
                <a:ea typeface="隶书" panose="02010509060101010101" pitchFamily="49" charset="-122"/>
              </a:rPr>
            </a:br>
            <a:r>
              <a:rPr lang="zh-CN" altLang="zh-CN" sz="4800" dirty="0" smtClean="0">
                <a:solidFill>
                  <a:srgbClr val="FF0000"/>
                </a:solidFill>
                <a:latin typeface="隶书" panose="02010509060101010101" pitchFamily="49" charset="-122"/>
                <a:ea typeface="隶书" panose="02010509060101010101" pitchFamily="49" charset="-122"/>
              </a:rPr>
              <a:t>与</a:t>
            </a:r>
            <a:r>
              <a:rPr lang="en-US" altLang="zh-CN" sz="4800" dirty="0" smtClean="0">
                <a:solidFill>
                  <a:srgbClr val="FF0000"/>
                </a:solidFill>
                <a:latin typeface="隶书" panose="02010509060101010101" pitchFamily="49" charset="-122"/>
                <a:ea typeface="隶书" panose="02010509060101010101" pitchFamily="49" charset="-122"/>
              </a:rPr>
              <a:t/>
            </a:r>
            <a:br>
              <a:rPr lang="en-US" altLang="zh-CN" sz="4800" dirty="0" smtClean="0">
                <a:solidFill>
                  <a:srgbClr val="FF0000"/>
                </a:solidFill>
                <a:latin typeface="隶书" panose="02010509060101010101" pitchFamily="49" charset="-122"/>
                <a:ea typeface="隶书" panose="02010509060101010101" pitchFamily="49" charset="-122"/>
              </a:rPr>
            </a:br>
            <a:r>
              <a:rPr lang="zh-CN" altLang="en-US" sz="4800" dirty="0" smtClean="0">
                <a:solidFill>
                  <a:srgbClr val="FF0000"/>
                </a:solidFill>
                <a:latin typeface="隶书" panose="02010509060101010101" pitchFamily="49" charset="-122"/>
                <a:ea typeface="隶书" panose="02010509060101010101" pitchFamily="49" charset="-122"/>
              </a:rPr>
              <a:t>电路设计制作注意事项</a:t>
            </a:r>
            <a:r>
              <a:rPr lang="zh-CN" altLang="en-US" sz="3600" dirty="0">
                <a:latin typeface="隶书" panose="02010509060101010101" pitchFamily="49" charset="-122"/>
                <a:ea typeface="隶书" panose="02010509060101010101" pitchFamily="49" charset="-122"/>
              </a:rPr>
              <a:t/>
            </a:r>
            <a:br>
              <a:rPr lang="zh-CN" altLang="en-US" sz="3600" dirty="0">
                <a:latin typeface="隶书" panose="02010509060101010101" pitchFamily="49" charset="-122"/>
                <a:ea typeface="隶书" panose="02010509060101010101" pitchFamily="49" charset="-122"/>
              </a:rPr>
            </a:br>
            <a:r>
              <a:rPr lang="en-US" altLang="zh-CN" sz="3600" dirty="0">
                <a:latin typeface="隶书" panose="02010509060101010101" pitchFamily="49" charset="-122"/>
                <a:ea typeface="隶书" panose="02010509060101010101" pitchFamily="49" charset="-122"/>
              </a:rPr>
              <a:t/>
            </a:r>
            <a:br>
              <a:rPr lang="en-US" altLang="zh-CN" sz="3600" dirty="0">
                <a:latin typeface="隶书" panose="02010509060101010101" pitchFamily="49" charset="-122"/>
                <a:ea typeface="隶书" panose="02010509060101010101" pitchFamily="49" charset="-122"/>
              </a:rPr>
            </a:br>
            <a:r>
              <a:rPr lang="zh-CN" altLang="en-US" sz="2400" dirty="0">
                <a:solidFill>
                  <a:schemeClr val="tx1"/>
                </a:solidFill>
                <a:latin typeface="楷体" panose="02010609060101010101" pitchFamily="49" charset="-122"/>
                <a:ea typeface="楷体" panose="02010609060101010101" pitchFamily="49" charset="-122"/>
              </a:rPr>
              <a:t>复旦大学电子工程系  陈光梦</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2024/3/8</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a:t>
            </a:fld>
            <a:endParaRPr lang="en-US" altLang="zh-CN"/>
          </a:p>
        </p:txBody>
      </p:sp>
      <p:sp>
        <p:nvSpPr>
          <p:cNvPr id="2" name="文本框 1"/>
          <p:cNvSpPr txBox="1"/>
          <p:nvPr/>
        </p:nvSpPr>
        <p:spPr>
          <a:xfrm>
            <a:off x="493790" y="1137919"/>
            <a:ext cx="7039126" cy="4708981"/>
          </a:xfrm>
          <a:prstGeom prst="rect">
            <a:avLst/>
          </a:prstGeom>
          <a:noFill/>
        </p:spPr>
        <p:txBody>
          <a:bodyPr wrap="square" rtlCol="0">
            <a:spAutoFit/>
          </a:bodyPr>
          <a:lstStyle/>
          <a:p>
            <a:pPr>
              <a:lnSpc>
                <a:spcPct val="150000"/>
              </a:lnSpc>
            </a:pPr>
            <a:r>
              <a:rPr lang="zh-CN" altLang="en-US" dirty="0" smtClean="0"/>
              <a:t>一</a:t>
            </a:r>
            <a:r>
              <a:rPr lang="zh-CN" altLang="en-US" dirty="0"/>
              <a:t>、放大器类</a:t>
            </a:r>
            <a:endParaRPr lang="en-US" altLang="zh-CN" dirty="0"/>
          </a:p>
          <a:p>
            <a:pPr>
              <a:lnSpc>
                <a:spcPct val="150000"/>
              </a:lnSpc>
            </a:pPr>
            <a:r>
              <a:rPr lang="en-US" altLang="zh-CN" dirty="0"/>
              <a:t>	</a:t>
            </a:r>
            <a:r>
              <a:rPr lang="zh-CN" altLang="en-US" dirty="0"/>
              <a:t>放大器、滤波器等，近年来偏重于</a:t>
            </a:r>
            <a:r>
              <a:rPr lang="zh-CN" altLang="en-US" dirty="0" smtClean="0"/>
              <a:t>高频放大器</a:t>
            </a:r>
            <a:endParaRPr lang="en-US" altLang="zh-CN" dirty="0" smtClean="0"/>
          </a:p>
          <a:p>
            <a:pPr>
              <a:lnSpc>
                <a:spcPct val="150000"/>
              </a:lnSpc>
            </a:pPr>
            <a:r>
              <a:rPr lang="zh-CN" altLang="en-US" dirty="0" smtClean="0"/>
              <a:t>二</a:t>
            </a:r>
            <a:r>
              <a:rPr lang="zh-CN" altLang="en-US" dirty="0"/>
              <a:t>、通信类</a:t>
            </a:r>
            <a:endParaRPr lang="en-US" altLang="zh-CN" dirty="0"/>
          </a:p>
          <a:p>
            <a:pPr>
              <a:lnSpc>
                <a:spcPct val="150000"/>
              </a:lnSpc>
            </a:pPr>
            <a:r>
              <a:rPr lang="en-US" altLang="zh-CN" dirty="0"/>
              <a:t>	</a:t>
            </a:r>
            <a:r>
              <a:rPr lang="zh-CN" altLang="en-US" dirty="0"/>
              <a:t>模拟通信与数字通信，近年向数字通信发展</a:t>
            </a:r>
            <a:endParaRPr lang="en-US" altLang="zh-CN" dirty="0"/>
          </a:p>
          <a:p>
            <a:pPr>
              <a:lnSpc>
                <a:spcPct val="150000"/>
              </a:lnSpc>
            </a:pPr>
            <a:r>
              <a:rPr lang="zh-CN" altLang="en-US" dirty="0"/>
              <a:t>三、仪器仪表类</a:t>
            </a:r>
            <a:endParaRPr lang="en-US" altLang="zh-CN" dirty="0"/>
          </a:p>
          <a:p>
            <a:pPr>
              <a:lnSpc>
                <a:spcPct val="150000"/>
              </a:lnSpc>
            </a:pPr>
            <a:r>
              <a:rPr lang="en-US" altLang="zh-CN" dirty="0"/>
              <a:t>	</a:t>
            </a:r>
            <a:r>
              <a:rPr lang="zh-CN" altLang="en-US" dirty="0"/>
              <a:t>时域测量、频域测量、参数测量等</a:t>
            </a:r>
            <a:endParaRPr lang="en-US" altLang="zh-CN" dirty="0"/>
          </a:p>
          <a:p>
            <a:pPr>
              <a:lnSpc>
                <a:spcPct val="150000"/>
              </a:lnSpc>
            </a:pPr>
            <a:r>
              <a:rPr lang="zh-CN" altLang="en-US" dirty="0"/>
              <a:t>四、自动控制类</a:t>
            </a:r>
            <a:endParaRPr lang="en-US" altLang="zh-CN" dirty="0"/>
          </a:p>
          <a:p>
            <a:pPr>
              <a:lnSpc>
                <a:spcPct val="150000"/>
              </a:lnSpc>
            </a:pPr>
            <a:r>
              <a:rPr lang="en-US" altLang="zh-CN" dirty="0"/>
              <a:t>	</a:t>
            </a:r>
            <a:r>
              <a:rPr lang="zh-CN" altLang="en-US" dirty="0"/>
              <a:t>小车、各种摆等，近年来以飞行器为主</a:t>
            </a:r>
            <a:endParaRPr lang="en-US" altLang="zh-CN" dirty="0"/>
          </a:p>
          <a:p>
            <a:pPr>
              <a:lnSpc>
                <a:spcPct val="150000"/>
              </a:lnSpc>
            </a:pPr>
            <a:r>
              <a:rPr lang="zh-CN" altLang="en-US" dirty="0"/>
              <a:t>五、电源类</a:t>
            </a:r>
            <a:endParaRPr lang="en-US" altLang="zh-CN" dirty="0"/>
          </a:p>
          <a:p>
            <a:pPr>
              <a:lnSpc>
                <a:spcPct val="150000"/>
              </a:lnSpc>
            </a:pPr>
            <a:r>
              <a:rPr lang="en-US" altLang="zh-CN" dirty="0"/>
              <a:t>	</a:t>
            </a:r>
            <a:r>
              <a:rPr lang="zh-CN" altLang="en-US" dirty="0"/>
              <a:t>以开关电源为主，包括</a:t>
            </a:r>
            <a:r>
              <a:rPr lang="en-US" altLang="zh-CN" dirty="0"/>
              <a:t>DC-DC</a:t>
            </a:r>
            <a:r>
              <a:rPr lang="zh-CN" altLang="en-US" dirty="0"/>
              <a:t>、</a:t>
            </a:r>
            <a:r>
              <a:rPr lang="en-US" altLang="zh-CN" dirty="0"/>
              <a:t>AC-DC</a:t>
            </a:r>
            <a:r>
              <a:rPr lang="zh-CN" altLang="en-US" dirty="0"/>
              <a:t>、</a:t>
            </a:r>
            <a:r>
              <a:rPr lang="en-US" altLang="zh-CN" dirty="0"/>
              <a:t>DC-AC</a:t>
            </a:r>
            <a:r>
              <a:rPr lang="zh-CN" altLang="en-US" dirty="0"/>
              <a:t>等</a:t>
            </a:r>
            <a:endParaRPr lang="en-US" altLang="zh-CN" dirty="0"/>
          </a:p>
        </p:txBody>
      </p:sp>
      <p:sp>
        <p:nvSpPr>
          <p:cNvPr id="4" name="右大括号 3"/>
          <p:cNvSpPr/>
          <p:nvPr/>
        </p:nvSpPr>
        <p:spPr>
          <a:xfrm>
            <a:off x="7017657" y="1654629"/>
            <a:ext cx="674914" cy="2300514"/>
          </a:xfrm>
          <a:prstGeom prst="rightBrace">
            <a:avLst>
              <a:gd name="adj1" fmla="val 8333"/>
              <a:gd name="adj2" fmla="val 49685"/>
            </a:avLst>
          </a:prstGeom>
          <a:noFill/>
          <a:ln w="28575">
            <a:solidFill>
              <a:srgbClr val="FF33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70C0"/>
              </a:solidFill>
            </a:endParaRPr>
          </a:p>
        </p:txBody>
      </p:sp>
      <p:sp>
        <p:nvSpPr>
          <p:cNvPr id="6" name="文本框 5"/>
          <p:cNvSpPr txBox="1"/>
          <p:nvPr/>
        </p:nvSpPr>
        <p:spPr>
          <a:xfrm>
            <a:off x="7932056" y="2032041"/>
            <a:ext cx="3759199" cy="1938992"/>
          </a:xfrm>
          <a:prstGeom prst="rect">
            <a:avLst/>
          </a:prstGeom>
          <a:noFill/>
        </p:spPr>
        <p:txBody>
          <a:bodyPr wrap="square" rtlCol="0">
            <a:spAutoFit/>
          </a:bodyPr>
          <a:lstStyle/>
          <a:p>
            <a:pPr>
              <a:lnSpc>
                <a:spcPct val="150000"/>
              </a:lnSpc>
            </a:pPr>
            <a:r>
              <a:rPr lang="zh-CN" altLang="en-US" dirty="0" smtClean="0"/>
              <a:t>模拟电路占比重较大</a:t>
            </a:r>
            <a:endParaRPr lang="en-US" altLang="zh-CN" dirty="0" smtClean="0"/>
          </a:p>
          <a:p>
            <a:pPr>
              <a:lnSpc>
                <a:spcPct val="150000"/>
              </a:lnSpc>
            </a:pPr>
            <a:r>
              <a:rPr lang="zh-CN" altLang="en-US" dirty="0" smtClean="0"/>
              <a:t>理论比较繁杂，经验很重要</a:t>
            </a:r>
            <a:endParaRPr lang="en-US" altLang="zh-CN" dirty="0" smtClean="0"/>
          </a:p>
          <a:p>
            <a:pPr>
              <a:lnSpc>
                <a:spcPct val="150000"/>
              </a:lnSpc>
            </a:pPr>
            <a:r>
              <a:rPr lang="zh-CN" altLang="en-US" dirty="0"/>
              <a:t>通常</a:t>
            </a:r>
            <a:r>
              <a:rPr lang="zh-CN" altLang="en-US" dirty="0" smtClean="0"/>
              <a:t>包含微处理器与数字电路</a:t>
            </a:r>
            <a:endParaRPr lang="en-US" altLang="zh-CN" dirty="0"/>
          </a:p>
          <a:p>
            <a:pPr>
              <a:lnSpc>
                <a:spcPct val="150000"/>
              </a:lnSpc>
            </a:pPr>
            <a:endParaRPr lang="zh-CN" altLang="en-US" dirty="0"/>
          </a:p>
        </p:txBody>
      </p:sp>
      <p:sp>
        <p:nvSpPr>
          <p:cNvPr id="8" name="文本框 7"/>
          <p:cNvSpPr txBox="1"/>
          <p:nvPr/>
        </p:nvSpPr>
        <p:spPr>
          <a:xfrm>
            <a:off x="7932057" y="4341884"/>
            <a:ext cx="3519714" cy="553998"/>
          </a:xfrm>
          <a:prstGeom prst="rect">
            <a:avLst/>
          </a:prstGeom>
          <a:noFill/>
        </p:spPr>
        <p:txBody>
          <a:bodyPr wrap="square" rtlCol="0">
            <a:spAutoFit/>
          </a:bodyPr>
          <a:lstStyle/>
          <a:p>
            <a:pPr>
              <a:lnSpc>
                <a:spcPct val="150000"/>
              </a:lnSpc>
            </a:pPr>
            <a:r>
              <a:rPr lang="zh-CN" altLang="en-US" dirty="0" smtClean="0"/>
              <a:t>控制理论与软件占主导地位</a:t>
            </a:r>
            <a:endParaRPr lang="zh-CN" altLang="en-US" dirty="0"/>
          </a:p>
        </p:txBody>
      </p:sp>
      <p:cxnSp>
        <p:nvCxnSpPr>
          <p:cNvPr id="9" name="直接箭头连接符 8"/>
          <p:cNvCxnSpPr/>
          <p:nvPr/>
        </p:nvCxnSpPr>
        <p:spPr>
          <a:xfrm>
            <a:off x="7017657" y="4684197"/>
            <a:ext cx="73297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493790" y="385913"/>
            <a:ext cx="11197465" cy="738664"/>
          </a:xfrm>
          <a:prstGeom prst="rect">
            <a:avLst/>
          </a:prstGeom>
        </p:spPr>
        <p:txBody>
          <a:bodyPr wrap="square">
            <a:spAutoFit/>
          </a:bodyPr>
          <a:lstStyle/>
          <a:p>
            <a:pPr algn="ctr">
              <a:lnSpc>
                <a:spcPct val="150000"/>
              </a:lnSpc>
            </a:pPr>
            <a:r>
              <a:rPr lang="zh-CN" altLang="en-US" sz="3200" dirty="0">
                <a:solidFill>
                  <a:srgbClr val="FF0000"/>
                </a:solidFill>
                <a:latin typeface="隶书" panose="02010509060101010101" pitchFamily="49" charset="-122"/>
                <a:ea typeface="隶书" panose="02010509060101010101" pitchFamily="49" charset="-122"/>
              </a:rPr>
              <a:t>竞赛题目的大致分类</a:t>
            </a:r>
            <a:endParaRPr lang="en-US" altLang="zh-CN" sz="3200" dirty="0">
              <a:solidFill>
                <a:srgbClr val="FF0000"/>
              </a:solidFill>
              <a:latin typeface="隶书" panose="02010509060101010101" pitchFamily="49" charset="-122"/>
              <a:ea typeface="隶书" panose="02010509060101010101" pitchFamily="49"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2024/3/8</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a:t>
            </a:fld>
            <a:endParaRPr lang="en-US" altLang="zh-CN"/>
          </a:p>
        </p:txBody>
      </p:sp>
      <p:sp>
        <p:nvSpPr>
          <p:cNvPr id="9" name="文本框 8"/>
          <p:cNvSpPr txBox="1"/>
          <p:nvPr/>
        </p:nvSpPr>
        <p:spPr>
          <a:xfrm>
            <a:off x="446976" y="264941"/>
            <a:ext cx="10972497" cy="1200329"/>
          </a:xfrm>
          <a:prstGeom prst="rect">
            <a:avLst/>
          </a:prstGeom>
          <a:noFill/>
        </p:spPr>
        <p:txBody>
          <a:bodyPr wrap="square" rtlCol="0">
            <a:spAutoFit/>
          </a:bodyPr>
          <a:lstStyle/>
          <a:p>
            <a:pPr>
              <a:lnSpc>
                <a:spcPct val="150000"/>
              </a:lnSpc>
            </a:pPr>
            <a:r>
              <a:rPr lang="zh-CN" altLang="en-US" sz="2800" dirty="0" smtClean="0">
                <a:solidFill>
                  <a:srgbClr val="FF0000"/>
                </a:solidFill>
                <a:latin typeface="隶书" panose="02010509060101010101" pitchFamily="49" charset="-122"/>
                <a:ea typeface="隶书" panose="02010509060101010101" pitchFamily="49" charset="-122"/>
              </a:rPr>
              <a:t>放大器</a:t>
            </a:r>
            <a:r>
              <a:rPr lang="zh-CN" altLang="en-US" sz="2800" dirty="0">
                <a:solidFill>
                  <a:srgbClr val="FF0000"/>
                </a:solidFill>
                <a:latin typeface="隶书" panose="02010509060101010101" pitchFamily="49" charset="-122"/>
                <a:ea typeface="隶书" panose="02010509060101010101" pitchFamily="49" charset="-122"/>
              </a:rPr>
              <a:t>类题目举例</a:t>
            </a:r>
            <a:endParaRPr lang="en-US" altLang="zh-CN" sz="2800" dirty="0">
              <a:solidFill>
                <a:srgbClr val="FF0000"/>
              </a:solidFill>
              <a:latin typeface="隶书" panose="02010509060101010101" pitchFamily="49" charset="-122"/>
              <a:ea typeface="隶书" panose="02010509060101010101" pitchFamily="49" charset="-122"/>
            </a:endParaRPr>
          </a:p>
          <a:p>
            <a:pPr>
              <a:lnSpc>
                <a:spcPct val="150000"/>
              </a:lnSpc>
            </a:pPr>
            <a:r>
              <a:rPr lang="en-US" altLang="zh-CN" dirty="0"/>
              <a:t>2022</a:t>
            </a:r>
            <a:r>
              <a:rPr lang="zh-CN" altLang="zh-CN" dirty="0"/>
              <a:t>年</a:t>
            </a:r>
            <a:r>
              <a:rPr lang="en-US" altLang="zh-CN" dirty="0"/>
              <a:t>TI</a:t>
            </a:r>
            <a:r>
              <a:rPr lang="zh-CN" altLang="zh-CN" dirty="0"/>
              <a:t>杯上海市</a:t>
            </a:r>
            <a:r>
              <a:rPr lang="en-US" altLang="zh-CN" dirty="0"/>
              <a:t>C</a:t>
            </a:r>
            <a:r>
              <a:rPr lang="zh-CN" altLang="zh-CN" dirty="0"/>
              <a:t>题  有源二分频音频放大</a:t>
            </a:r>
            <a:r>
              <a:rPr lang="zh-CN" altLang="zh-CN" dirty="0" smtClean="0"/>
              <a:t>电路</a:t>
            </a:r>
            <a:endParaRPr lang="en-US" altLang="zh-CN" dirty="0"/>
          </a:p>
        </p:txBody>
      </p:sp>
      <p:graphicFrame>
        <p:nvGraphicFramePr>
          <p:cNvPr id="8" name="对象 7"/>
          <p:cNvGraphicFramePr>
            <a:graphicFrameLocks noChangeAspect="1"/>
          </p:cNvGraphicFramePr>
          <p:nvPr>
            <p:extLst>
              <p:ext uri="{D42A27DB-BD31-4B8C-83A1-F6EECF244321}">
                <p14:modId xmlns:p14="http://schemas.microsoft.com/office/powerpoint/2010/main" val="2118988059"/>
              </p:ext>
            </p:extLst>
          </p:nvPr>
        </p:nvGraphicFramePr>
        <p:xfrm>
          <a:off x="2532803" y="1595022"/>
          <a:ext cx="6694051" cy="2399195"/>
        </p:xfrm>
        <a:graphic>
          <a:graphicData uri="http://schemas.openxmlformats.org/presentationml/2006/ole">
            <mc:AlternateContent xmlns:mc="http://schemas.openxmlformats.org/markup-compatibility/2006">
              <mc:Choice xmlns:v="urn:schemas-microsoft-com:vml" Requires="v">
                <p:oleObj spid="_x0000_s4147" name="Visio" r:id="rId3" imgW="6508613" imgH="2190383" progId="Visio.Drawing.15">
                  <p:embed/>
                </p:oleObj>
              </mc:Choice>
              <mc:Fallback>
                <p:oleObj name="Visio" r:id="rId3" imgW="6508613" imgH="2190383"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2803" y="1595022"/>
                        <a:ext cx="6694051" cy="2399195"/>
                      </a:xfrm>
                      <a:prstGeom prst="rect">
                        <a:avLst/>
                      </a:prstGeom>
                      <a:noFill/>
                    </p:spPr>
                  </p:pic>
                </p:oleObj>
              </mc:Fallback>
            </mc:AlternateContent>
          </a:graphicData>
        </a:graphic>
      </p:graphicFrame>
      <p:sp>
        <p:nvSpPr>
          <p:cNvPr id="13" name="文本框 12"/>
          <p:cNvSpPr txBox="1"/>
          <p:nvPr/>
        </p:nvSpPr>
        <p:spPr>
          <a:xfrm>
            <a:off x="446976" y="3994217"/>
            <a:ext cx="11157195" cy="240065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zh-CN" dirty="0" smtClean="0"/>
              <a:t>预处理电路</a:t>
            </a:r>
            <a:r>
              <a:rPr lang="zh-CN" altLang="en-US" dirty="0" smtClean="0"/>
              <a:t>，频响不低于</a:t>
            </a:r>
            <a:r>
              <a:rPr lang="en-US" altLang="zh-CN" dirty="0"/>
              <a:t>100 Hz</a:t>
            </a:r>
            <a:r>
              <a:rPr lang="zh-CN" altLang="zh-CN" dirty="0"/>
              <a:t>～</a:t>
            </a:r>
            <a:r>
              <a:rPr lang="en-US" altLang="zh-CN" dirty="0" smtClean="0"/>
              <a:t>20kHz</a:t>
            </a:r>
            <a:r>
              <a:rPr lang="zh-CN" altLang="en-US" dirty="0" smtClean="0"/>
              <a:t>，</a:t>
            </a:r>
            <a:r>
              <a:rPr lang="zh-CN" altLang="zh-CN" dirty="0" smtClean="0"/>
              <a:t>具有</a:t>
            </a:r>
            <a:r>
              <a:rPr lang="zh-CN" altLang="zh-CN" dirty="0"/>
              <a:t>自动增益控制功能，</a:t>
            </a:r>
            <a:r>
              <a:rPr lang="zh-CN" altLang="zh-CN" dirty="0" smtClean="0"/>
              <a:t>最大</a:t>
            </a:r>
            <a:r>
              <a:rPr lang="zh-CN" altLang="zh-CN" dirty="0"/>
              <a:t>增益不小于</a:t>
            </a:r>
            <a:r>
              <a:rPr lang="en-US" altLang="zh-CN" dirty="0"/>
              <a:t>46dB</a:t>
            </a:r>
            <a:r>
              <a:rPr lang="zh-CN" altLang="zh-CN" dirty="0" smtClean="0"/>
              <a:t>。输入信号幅度</a:t>
            </a:r>
            <a:r>
              <a:rPr lang="zh-CN" altLang="en-US" dirty="0" smtClean="0"/>
              <a:t>变化</a:t>
            </a:r>
            <a:r>
              <a:rPr lang="en-US" altLang="zh-CN" dirty="0" smtClean="0"/>
              <a:t>10</a:t>
            </a:r>
            <a:r>
              <a:rPr lang="zh-CN" altLang="zh-CN" dirty="0"/>
              <a:t>～</a:t>
            </a:r>
            <a:r>
              <a:rPr lang="en-US" altLang="zh-CN" dirty="0" smtClean="0"/>
              <a:t>100mV</a:t>
            </a:r>
            <a:r>
              <a:rPr lang="zh-CN" altLang="en-US" dirty="0" smtClean="0"/>
              <a:t>时，</a:t>
            </a:r>
            <a:r>
              <a:rPr lang="zh-CN" altLang="zh-CN" dirty="0" smtClean="0"/>
              <a:t>输出信号的</a:t>
            </a:r>
            <a:r>
              <a:rPr lang="zh-CN" altLang="zh-CN" dirty="0"/>
              <a:t>幅度</a:t>
            </a:r>
            <a:r>
              <a:rPr lang="zh-CN" altLang="zh-CN" dirty="0" smtClean="0"/>
              <a:t>变化</a:t>
            </a:r>
            <a:r>
              <a:rPr lang="zh-CN" altLang="en-US" dirty="0" smtClean="0"/>
              <a:t>不大于</a:t>
            </a:r>
            <a:r>
              <a:rPr lang="en-US" altLang="zh-CN" dirty="0" smtClean="0"/>
              <a:t>1dB</a:t>
            </a:r>
            <a:r>
              <a:rPr lang="zh-CN" altLang="en-US" dirty="0" smtClean="0"/>
              <a:t>且不失真。</a:t>
            </a:r>
            <a:endParaRPr lang="en-US" altLang="zh-CN" dirty="0" smtClean="0"/>
          </a:p>
          <a:p>
            <a:pPr marL="342900" indent="-342900">
              <a:lnSpc>
                <a:spcPct val="150000"/>
              </a:lnSpc>
              <a:buFont typeface="Arial" panose="020B0604020202020204" pitchFamily="34" charset="0"/>
              <a:buChar char="•"/>
            </a:pPr>
            <a:r>
              <a:rPr lang="zh-CN" altLang="zh-CN" dirty="0"/>
              <a:t>高通滤波器的</a:t>
            </a:r>
            <a:r>
              <a:rPr lang="en-US" altLang="zh-CN" dirty="0"/>
              <a:t>-3dB</a:t>
            </a:r>
            <a:r>
              <a:rPr lang="zh-CN" altLang="zh-CN" dirty="0"/>
              <a:t>截止频率为</a:t>
            </a:r>
            <a:r>
              <a:rPr lang="en-US" altLang="zh-CN" dirty="0"/>
              <a:t>2kHz</a:t>
            </a:r>
            <a:r>
              <a:rPr lang="zh-CN" altLang="zh-CN" dirty="0"/>
              <a:t>，阻带衰减率</a:t>
            </a:r>
            <a:r>
              <a:rPr lang="en-US" altLang="zh-CN" dirty="0"/>
              <a:t>24dB/</a:t>
            </a:r>
            <a:r>
              <a:rPr lang="zh-CN" altLang="zh-CN" dirty="0"/>
              <a:t>倍频程，</a:t>
            </a:r>
            <a:r>
              <a:rPr lang="en-US" altLang="zh-CN" dirty="0"/>
              <a:t>10kHz</a:t>
            </a:r>
            <a:r>
              <a:rPr lang="zh-CN" altLang="zh-CN" dirty="0"/>
              <a:t>～</a:t>
            </a:r>
            <a:r>
              <a:rPr lang="en-US" altLang="zh-CN" dirty="0"/>
              <a:t>20kHz</a:t>
            </a:r>
            <a:r>
              <a:rPr lang="zh-CN" altLang="zh-CN" dirty="0"/>
              <a:t>带内波动</a:t>
            </a:r>
            <a:r>
              <a:rPr lang="en-US" altLang="zh-CN" dirty="0">
                <a:sym typeface="Symbol Tiger"/>
              </a:rPr>
              <a:t>&lt;</a:t>
            </a:r>
            <a:r>
              <a:rPr lang="en-US" altLang="zh-CN" dirty="0"/>
              <a:t>3dB</a:t>
            </a:r>
            <a:r>
              <a:rPr lang="zh-CN" altLang="zh-CN" dirty="0"/>
              <a:t>。低通滤波器的</a:t>
            </a:r>
            <a:r>
              <a:rPr lang="en-US" altLang="zh-CN" dirty="0"/>
              <a:t>-3dB</a:t>
            </a:r>
            <a:r>
              <a:rPr lang="zh-CN" altLang="zh-CN" dirty="0"/>
              <a:t>截止频率为</a:t>
            </a:r>
            <a:r>
              <a:rPr lang="en-US" altLang="zh-CN" dirty="0"/>
              <a:t>2KHz</a:t>
            </a:r>
            <a:r>
              <a:rPr lang="zh-CN" altLang="zh-CN" dirty="0"/>
              <a:t>，阻带衰减率</a:t>
            </a:r>
            <a:r>
              <a:rPr lang="en-US" altLang="zh-CN" dirty="0"/>
              <a:t>24dB/</a:t>
            </a:r>
            <a:r>
              <a:rPr lang="zh-CN" altLang="zh-CN" dirty="0"/>
              <a:t>倍频程，</a:t>
            </a:r>
            <a:r>
              <a:rPr lang="en-US" altLang="zh-CN" dirty="0"/>
              <a:t>100Hz</a:t>
            </a:r>
            <a:r>
              <a:rPr lang="zh-CN" altLang="zh-CN" dirty="0"/>
              <a:t>～</a:t>
            </a:r>
            <a:r>
              <a:rPr lang="en-US" altLang="zh-CN" dirty="0"/>
              <a:t>1kHz</a:t>
            </a:r>
            <a:r>
              <a:rPr lang="zh-CN" altLang="zh-CN" dirty="0"/>
              <a:t>带内波动</a:t>
            </a:r>
            <a:r>
              <a:rPr lang="en-US" altLang="zh-CN" dirty="0"/>
              <a:t>&lt;3dB</a:t>
            </a:r>
            <a:r>
              <a:rPr lang="zh-CN" altLang="zh-CN" dirty="0"/>
              <a:t>。</a:t>
            </a:r>
          </a:p>
          <a:p>
            <a:pPr marL="342900" indent="-342900">
              <a:lnSpc>
                <a:spcPct val="150000"/>
              </a:lnSpc>
              <a:buFont typeface="Arial" panose="020B0604020202020204" pitchFamily="34" charset="0"/>
              <a:buChar char="•"/>
            </a:pPr>
            <a:r>
              <a:rPr lang="zh-CN" altLang="zh-CN" dirty="0"/>
              <a:t>功率放大电路为负载电阻</a:t>
            </a:r>
            <a:r>
              <a:rPr lang="en-US" altLang="zh-CN" dirty="0"/>
              <a:t>L</a:t>
            </a:r>
            <a:r>
              <a:rPr lang="zh-CN" altLang="zh-CN" dirty="0"/>
              <a:t>提供不小于</a:t>
            </a:r>
            <a:r>
              <a:rPr lang="en-US" altLang="zh-CN" dirty="0"/>
              <a:t>4W</a:t>
            </a:r>
            <a:r>
              <a:rPr lang="zh-CN" altLang="zh-CN" dirty="0"/>
              <a:t>的不失真信号</a:t>
            </a:r>
            <a:r>
              <a:rPr lang="zh-CN" altLang="zh-CN" dirty="0" smtClean="0"/>
              <a:t>。</a:t>
            </a:r>
            <a:endParaRPr lang="zh-CN" altLang="zh-CN" dirty="0"/>
          </a:p>
        </p:txBody>
      </p:sp>
    </p:spTree>
    <p:extLst>
      <p:ext uri="{BB962C8B-B14F-4D97-AF65-F5344CB8AC3E}">
        <p14:creationId xmlns:p14="http://schemas.microsoft.com/office/powerpoint/2010/main" val="16765347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2024/3/8</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a:t>
            </a:fld>
            <a:endParaRPr lang="en-US" altLang="zh-CN"/>
          </a:p>
        </p:txBody>
      </p:sp>
      <p:sp>
        <p:nvSpPr>
          <p:cNvPr id="2" name="文本框 1"/>
          <p:cNvSpPr txBox="1"/>
          <p:nvPr/>
        </p:nvSpPr>
        <p:spPr>
          <a:xfrm>
            <a:off x="558800" y="411280"/>
            <a:ext cx="11117943" cy="3323987"/>
          </a:xfrm>
          <a:prstGeom prst="rect">
            <a:avLst/>
          </a:prstGeom>
          <a:noFill/>
        </p:spPr>
        <p:txBody>
          <a:bodyPr wrap="square" rtlCol="0">
            <a:spAutoFit/>
          </a:bodyPr>
          <a:lstStyle/>
          <a:p>
            <a:pPr>
              <a:lnSpc>
                <a:spcPct val="150000"/>
              </a:lnSpc>
            </a:pPr>
            <a:r>
              <a:rPr lang="en-US" altLang="zh-CN" dirty="0" smtClean="0"/>
              <a:t>2015</a:t>
            </a:r>
            <a:r>
              <a:rPr lang="zh-CN" altLang="zh-CN" dirty="0"/>
              <a:t>年全国赛</a:t>
            </a:r>
            <a:r>
              <a:rPr lang="en-US" altLang="zh-CN" dirty="0"/>
              <a:t>D</a:t>
            </a:r>
            <a:r>
              <a:rPr lang="zh-CN" altLang="zh-CN" dirty="0"/>
              <a:t>题  增益可控射频放大器</a:t>
            </a:r>
            <a:endParaRPr lang="en-US" altLang="zh-CN" dirty="0"/>
          </a:p>
          <a:p>
            <a:pPr marL="342900" indent="-342900">
              <a:lnSpc>
                <a:spcPct val="150000"/>
              </a:lnSpc>
              <a:buFont typeface="Arial" panose="020B0604020202020204" pitchFamily="34" charset="0"/>
              <a:buChar char="•"/>
            </a:pPr>
            <a:r>
              <a:rPr lang="zh-CN" altLang="zh-CN" dirty="0"/>
              <a:t>通频带不窄于</a:t>
            </a:r>
            <a:r>
              <a:rPr lang="en-US" altLang="zh-CN" dirty="0"/>
              <a:t>40MHz</a:t>
            </a:r>
            <a:r>
              <a:rPr lang="zh-CN" altLang="zh-CN" dirty="0"/>
              <a:t>～</a:t>
            </a:r>
            <a:r>
              <a:rPr lang="en-US" altLang="zh-CN" dirty="0"/>
              <a:t>200MHz</a:t>
            </a:r>
            <a:endParaRPr lang="zh-CN" altLang="zh-CN" dirty="0"/>
          </a:p>
          <a:p>
            <a:pPr marL="342900" indent="-342900">
              <a:lnSpc>
                <a:spcPct val="150000"/>
              </a:lnSpc>
              <a:buFont typeface="Arial" panose="020B0604020202020204" pitchFamily="34" charset="0"/>
              <a:buChar char="•"/>
            </a:pPr>
            <a:r>
              <a:rPr lang="zh-CN" altLang="zh-CN" dirty="0"/>
              <a:t>电压增益</a:t>
            </a:r>
            <a:r>
              <a:rPr lang="en-US" altLang="zh-CN" i="1" dirty="0"/>
              <a:t>A</a:t>
            </a:r>
            <a:r>
              <a:rPr lang="en-US" altLang="zh-CN" i="1" baseline="-25000" dirty="0"/>
              <a:t>V</a:t>
            </a:r>
            <a:r>
              <a:rPr lang="zh-CN" altLang="zh-CN" dirty="0"/>
              <a:t>≥</a:t>
            </a:r>
            <a:r>
              <a:rPr lang="en-US" altLang="zh-CN" dirty="0"/>
              <a:t>52dB</a:t>
            </a:r>
          </a:p>
          <a:p>
            <a:pPr marL="342900" indent="-342900">
              <a:lnSpc>
                <a:spcPct val="150000"/>
              </a:lnSpc>
              <a:buFont typeface="Arial" panose="020B0604020202020204" pitchFamily="34" charset="0"/>
              <a:buChar char="•"/>
            </a:pPr>
            <a:r>
              <a:rPr lang="zh-CN" altLang="zh-CN" dirty="0"/>
              <a:t>输入阻抗、 输出阻抗均为</a:t>
            </a:r>
            <a:r>
              <a:rPr lang="en-US" altLang="zh-CN" dirty="0"/>
              <a:t>50Ω</a:t>
            </a:r>
            <a:r>
              <a:rPr lang="zh-CN" altLang="zh-CN" dirty="0"/>
              <a:t>，负载电阻</a:t>
            </a:r>
            <a:r>
              <a:rPr lang="en-US" altLang="zh-CN" dirty="0"/>
              <a:t>50Ω</a:t>
            </a:r>
          </a:p>
          <a:p>
            <a:pPr marL="342900" indent="-342900">
              <a:lnSpc>
                <a:spcPct val="150000"/>
              </a:lnSpc>
              <a:buFont typeface="Arial" panose="020B0604020202020204" pitchFamily="34" charset="0"/>
              <a:buChar char="•"/>
            </a:pPr>
            <a:r>
              <a:rPr lang="zh-CN" altLang="zh-CN" dirty="0"/>
              <a:t>输入电压有效值</a:t>
            </a:r>
            <a:r>
              <a:rPr lang="en-US" altLang="zh-CN" i="1" dirty="0"/>
              <a:t>V</a:t>
            </a:r>
            <a:r>
              <a:rPr lang="en-US" altLang="zh-CN" i="1" baseline="-25000" dirty="0"/>
              <a:t>i</a:t>
            </a:r>
            <a:r>
              <a:rPr lang="zh-CN" altLang="zh-CN" dirty="0"/>
              <a:t>≤</a:t>
            </a:r>
            <a:r>
              <a:rPr lang="en-US" altLang="zh-CN" dirty="0"/>
              <a:t>5mV</a:t>
            </a:r>
            <a:r>
              <a:rPr lang="zh-CN" altLang="zh-CN" dirty="0"/>
              <a:t>，输出电压有效值 </a:t>
            </a:r>
            <a:r>
              <a:rPr lang="en-US" altLang="zh-CN" i="1" dirty="0"/>
              <a:t>V</a:t>
            </a:r>
            <a:r>
              <a:rPr lang="en-US" altLang="zh-CN" i="1" baseline="-25000" dirty="0"/>
              <a:t>o</a:t>
            </a:r>
            <a:r>
              <a:rPr lang="zh-CN" altLang="zh-CN" dirty="0"/>
              <a:t>≥</a:t>
            </a:r>
            <a:r>
              <a:rPr lang="en-US" altLang="zh-CN" dirty="0"/>
              <a:t>2V</a:t>
            </a:r>
            <a:r>
              <a:rPr lang="zh-CN" altLang="zh-CN" dirty="0"/>
              <a:t>，波形无明显失真 </a:t>
            </a:r>
          </a:p>
          <a:p>
            <a:pPr marL="342900" indent="-342900">
              <a:lnSpc>
                <a:spcPct val="150000"/>
              </a:lnSpc>
              <a:buFont typeface="Arial" panose="020B0604020202020204" pitchFamily="34" charset="0"/>
              <a:buChar char="•"/>
            </a:pPr>
            <a:r>
              <a:rPr lang="zh-CN" altLang="zh-CN" dirty="0"/>
              <a:t>增益步进控制，范围为</a:t>
            </a:r>
            <a:r>
              <a:rPr lang="en-US" altLang="zh-CN" dirty="0"/>
              <a:t> 12dB</a:t>
            </a:r>
            <a:r>
              <a:rPr lang="zh-CN" altLang="zh-CN" dirty="0"/>
              <a:t>～</a:t>
            </a:r>
            <a:r>
              <a:rPr lang="en-US" altLang="zh-CN" dirty="0"/>
              <a:t>52dB</a:t>
            </a:r>
            <a:r>
              <a:rPr lang="zh-CN" altLang="zh-CN" dirty="0"/>
              <a:t>，步长为</a:t>
            </a:r>
            <a:r>
              <a:rPr lang="en-US" altLang="zh-CN" dirty="0"/>
              <a:t> 4dB</a:t>
            </a:r>
          </a:p>
          <a:p>
            <a:pPr marL="342900" indent="-342900">
              <a:lnSpc>
                <a:spcPct val="150000"/>
              </a:lnSpc>
              <a:buFont typeface="Arial" panose="020B0604020202020204" pitchFamily="34" charset="0"/>
              <a:buChar char="•"/>
            </a:pPr>
            <a:r>
              <a:rPr lang="zh-CN" altLang="zh-CN" dirty="0"/>
              <a:t>增益绝对误差不大于</a:t>
            </a:r>
            <a:r>
              <a:rPr lang="en-US" altLang="zh-CN" dirty="0"/>
              <a:t>2dB</a:t>
            </a:r>
            <a:r>
              <a:rPr lang="zh-CN" altLang="zh-CN" dirty="0"/>
              <a:t>，并能显示设定的增益值</a:t>
            </a:r>
          </a:p>
        </p:txBody>
      </p:sp>
      <p:graphicFrame>
        <p:nvGraphicFramePr>
          <p:cNvPr id="6" name="对象 5"/>
          <p:cNvGraphicFramePr>
            <a:graphicFrameLocks noChangeAspect="1"/>
          </p:cNvGraphicFramePr>
          <p:nvPr>
            <p:extLst>
              <p:ext uri="{D42A27DB-BD31-4B8C-83A1-F6EECF244321}">
                <p14:modId xmlns:p14="http://schemas.microsoft.com/office/powerpoint/2010/main" val="2864998803"/>
              </p:ext>
            </p:extLst>
          </p:nvPr>
        </p:nvGraphicFramePr>
        <p:xfrm>
          <a:off x="1386113" y="4724399"/>
          <a:ext cx="9448461" cy="1465943"/>
        </p:xfrm>
        <a:graphic>
          <a:graphicData uri="http://schemas.openxmlformats.org/presentationml/2006/ole">
            <mc:AlternateContent xmlns:mc="http://schemas.openxmlformats.org/markup-compatibility/2006">
              <mc:Choice xmlns:v="urn:schemas-microsoft-com:vml" Requires="v">
                <p:oleObj spid="_x0000_s5170" name="Visio" r:id="rId3" imgW="4889569" imgH="749158" progId="Visio.Drawing.15">
                  <p:embed/>
                </p:oleObj>
              </mc:Choice>
              <mc:Fallback>
                <p:oleObj name="Visio" r:id="rId3" imgW="4889569" imgH="749158"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6113" y="4724399"/>
                        <a:ext cx="9448461" cy="1465943"/>
                      </a:xfrm>
                      <a:prstGeom prst="rect">
                        <a:avLst/>
                      </a:prstGeom>
                      <a:noFill/>
                    </p:spPr>
                  </p:pic>
                </p:oleObj>
              </mc:Fallback>
            </mc:AlternateContent>
          </a:graphicData>
        </a:graphic>
      </p:graphicFrame>
      <p:sp>
        <p:nvSpPr>
          <p:cNvPr id="7" name="文本框 6"/>
          <p:cNvSpPr txBox="1"/>
          <p:nvPr/>
        </p:nvSpPr>
        <p:spPr>
          <a:xfrm>
            <a:off x="624417" y="4114800"/>
            <a:ext cx="3330726" cy="400110"/>
          </a:xfrm>
          <a:prstGeom prst="rect">
            <a:avLst/>
          </a:prstGeom>
          <a:noFill/>
        </p:spPr>
        <p:txBody>
          <a:bodyPr wrap="square" rtlCol="0">
            <a:spAutoFit/>
          </a:bodyPr>
          <a:lstStyle/>
          <a:p>
            <a:r>
              <a:rPr lang="zh-CN" altLang="en-US" dirty="0" smtClean="0"/>
              <a:t>一个解决方案的框图：</a:t>
            </a:r>
            <a:endParaRPr lang="zh-CN" altLang="en-US" dirty="0"/>
          </a:p>
        </p:txBody>
      </p:sp>
    </p:spTree>
    <p:extLst>
      <p:ext uri="{BB962C8B-B14F-4D97-AF65-F5344CB8AC3E}">
        <p14:creationId xmlns:p14="http://schemas.microsoft.com/office/powerpoint/2010/main" val="33862117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a:t>
            </a:fld>
            <a:endParaRPr lang="en-US" altLang="zh-CN">
              <a:solidFill>
                <a:srgbClr val="FFFFFF"/>
              </a:solidFill>
            </a:endParaRPr>
          </a:p>
        </p:txBody>
      </p:sp>
      <p:sp>
        <p:nvSpPr>
          <p:cNvPr id="5" name="矩形 4"/>
          <p:cNvSpPr/>
          <p:nvPr/>
        </p:nvSpPr>
        <p:spPr>
          <a:xfrm>
            <a:off x="471715" y="460840"/>
            <a:ext cx="9821316" cy="553998"/>
          </a:xfrm>
          <a:prstGeom prst="rect">
            <a:avLst/>
          </a:prstGeom>
        </p:spPr>
        <p:txBody>
          <a:bodyPr wrap="square">
            <a:spAutoFit/>
          </a:bodyPr>
          <a:lstStyle/>
          <a:p>
            <a:pPr>
              <a:lnSpc>
                <a:spcPct val="150000"/>
              </a:lnSpc>
            </a:pPr>
            <a:r>
              <a:rPr lang="en-US" altLang="zh-CN" dirty="0">
                <a:latin typeface="Arial" panose="020B0604020202020204" pitchFamily="34" charset="0"/>
              </a:rPr>
              <a:t>2012</a:t>
            </a:r>
            <a:r>
              <a:rPr lang="zh-CN" altLang="zh-CN" dirty="0">
                <a:latin typeface="Arial" panose="020B0604020202020204" pitchFamily="34" charset="0"/>
              </a:rPr>
              <a:t>年</a:t>
            </a:r>
            <a:r>
              <a:rPr lang="en-US" altLang="zh-CN" dirty="0">
                <a:latin typeface="Arial" panose="020B0604020202020204" pitchFamily="34" charset="0"/>
              </a:rPr>
              <a:t>15</a:t>
            </a:r>
            <a:r>
              <a:rPr lang="zh-CN" altLang="zh-CN" dirty="0">
                <a:latin typeface="Arial" panose="020B0604020202020204" pitchFamily="34" charset="0"/>
              </a:rPr>
              <a:t>省赛区</a:t>
            </a:r>
            <a:r>
              <a:rPr lang="en-US" altLang="zh-CN" dirty="0">
                <a:latin typeface="Arial" panose="020B0604020202020204" pitchFamily="34" charset="0"/>
              </a:rPr>
              <a:t>TI</a:t>
            </a:r>
            <a:r>
              <a:rPr lang="zh-CN" altLang="zh-CN" dirty="0">
                <a:latin typeface="Arial" panose="020B0604020202020204" pitchFamily="34" charset="0"/>
              </a:rPr>
              <a:t>杯</a:t>
            </a:r>
            <a:r>
              <a:rPr lang="en-US" altLang="zh-CN" dirty="0">
                <a:latin typeface="Arial" panose="020B0604020202020204" pitchFamily="34" charset="0"/>
              </a:rPr>
              <a:t>A</a:t>
            </a:r>
            <a:r>
              <a:rPr lang="zh-CN" altLang="zh-CN" dirty="0">
                <a:latin typeface="Arial" panose="020B0604020202020204" pitchFamily="34" charset="0"/>
              </a:rPr>
              <a:t>题  微弱信号检测装置</a:t>
            </a:r>
            <a:endParaRPr lang="zh-CN" altLang="en-US" sz="900" dirty="0">
              <a:latin typeface="Arial" panose="020B0604020202020204" pitchFamily="34" charset="0"/>
            </a:endParaRPr>
          </a:p>
        </p:txBody>
      </p:sp>
      <p:pic>
        <p:nvPicPr>
          <p:cNvPr id="6" name="图片 5"/>
          <p:cNvPicPr/>
          <p:nvPr/>
        </p:nvPicPr>
        <p:blipFill>
          <a:blip r:embed="rId2"/>
          <a:stretch>
            <a:fillRect/>
          </a:stretch>
        </p:blipFill>
        <p:spPr>
          <a:xfrm>
            <a:off x="1979967" y="1203800"/>
            <a:ext cx="8130924" cy="1626744"/>
          </a:xfrm>
          <a:prstGeom prst="rect">
            <a:avLst/>
          </a:prstGeom>
        </p:spPr>
      </p:pic>
      <p:sp>
        <p:nvSpPr>
          <p:cNvPr id="7" name="矩形 6"/>
          <p:cNvSpPr/>
          <p:nvPr/>
        </p:nvSpPr>
        <p:spPr>
          <a:xfrm>
            <a:off x="471715" y="3075611"/>
            <a:ext cx="9829139" cy="1938992"/>
          </a:xfrm>
          <a:prstGeom prst="rect">
            <a:avLst/>
          </a:prstGeom>
        </p:spPr>
        <p:txBody>
          <a:bodyPr wrap="square">
            <a:spAutoFit/>
          </a:bodyPr>
          <a:lstStyle/>
          <a:p>
            <a:pPr marL="342900" indent="-342900">
              <a:lnSpc>
                <a:spcPct val="150000"/>
              </a:lnSpc>
              <a:buFont typeface="Arial" panose="020B0604020202020204" pitchFamily="34" charset="0"/>
              <a:buChar char="•"/>
            </a:pPr>
            <a:r>
              <a:rPr lang="zh-CN" altLang="zh-CN" dirty="0">
                <a:latin typeface="Arial" panose="020B0604020202020204" pitchFamily="34" charset="0"/>
              </a:rPr>
              <a:t>正弦波信号</a:t>
            </a:r>
            <a:r>
              <a:rPr lang="en-US" altLang="zh-CN" dirty="0">
                <a:latin typeface="Arial" panose="020B0604020202020204" pitchFamily="34" charset="0"/>
              </a:rPr>
              <a:t>V</a:t>
            </a:r>
            <a:r>
              <a:rPr lang="en-US" altLang="zh-CN" baseline="-25000" dirty="0">
                <a:latin typeface="Arial" panose="020B0604020202020204" pitchFamily="34" charset="0"/>
              </a:rPr>
              <a:t>S</a:t>
            </a:r>
            <a:r>
              <a:rPr lang="zh-CN" altLang="zh-CN" dirty="0">
                <a:latin typeface="Arial" panose="020B0604020202020204" pitchFamily="34" charset="0"/>
              </a:rPr>
              <a:t>的幅度峰峰值范围</a:t>
            </a:r>
            <a:r>
              <a:rPr lang="zh-CN" altLang="en-US" dirty="0">
                <a:latin typeface="Arial" panose="020B0604020202020204" pitchFamily="34" charset="0"/>
              </a:rPr>
              <a:t>为</a:t>
            </a:r>
            <a:r>
              <a:rPr lang="en-US" altLang="zh-CN" dirty="0">
                <a:latin typeface="Arial" panose="020B0604020202020204" pitchFamily="34" charset="0"/>
              </a:rPr>
              <a:t>20mV~2V</a:t>
            </a:r>
            <a:r>
              <a:rPr lang="zh-CN" altLang="zh-CN" dirty="0">
                <a:latin typeface="Arial" panose="020B0604020202020204" pitchFamily="34" charset="0"/>
              </a:rPr>
              <a:t>，信号的频率范围</a:t>
            </a:r>
            <a:r>
              <a:rPr lang="zh-CN" altLang="en-US" dirty="0">
                <a:latin typeface="Arial" panose="020B0604020202020204" pitchFamily="34" charset="0"/>
              </a:rPr>
              <a:t>为</a:t>
            </a:r>
            <a:r>
              <a:rPr lang="en-US" altLang="zh-CN" dirty="0">
                <a:latin typeface="Arial" panose="020B0604020202020204" pitchFamily="34" charset="0"/>
              </a:rPr>
              <a:t>500Hz~2kHz</a:t>
            </a:r>
          </a:p>
          <a:p>
            <a:pPr marL="342900" indent="-342900">
              <a:lnSpc>
                <a:spcPct val="150000"/>
              </a:lnSpc>
              <a:buFont typeface="Arial" panose="020B0604020202020204" pitchFamily="34" charset="0"/>
              <a:buChar char="•"/>
            </a:pPr>
            <a:r>
              <a:rPr lang="zh-CN" altLang="zh-CN" dirty="0">
                <a:latin typeface="Arial" panose="020B0604020202020204" pitchFamily="34" charset="0"/>
              </a:rPr>
              <a:t>噪声源输出</a:t>
            </a:r>
            <a:r>
              <a:rPr lang="en-US" altLang="zh-CN" dirty="0">
                <a:latin typeface="Arial" panose="020B0604020202020204" pitchFamily="34" charset="0"/>
              </a:rPr>
              <a:t>V</a:t>
            </a:r>
            <a:r>
              <a:rPr lang="en-US" altLang="zh-CN" baseline="-25000" dirty="0">
                <a:latin typeface="Arial" panose="020B0604020202020204" pitchFamily="34" charset="0"/>
              </a:rPr>
              <a:t>N</a:t>
            </a:r>
            <a:r>
              <a:rPr lang="zh-CN" altLang="zh-CN" dirty="0">
                <a:latin typeface="Arial" panose="020B0604020202020204" pitchFamily="34" charset="0"/>
              </a:rPr>
              <a:t>的均方根电压值为</a:t>
            </a:r>
            <a:r>
              <a:rPr lang="en-US" altLang="zh-CN" dirty="0">
                <a:latin typeface="Arial" panose="020B0604020202020204" pitchFamily="34" charset="0"/>
              </a:rPr>
              <a:t>1V</a:t>
            </a:r>
            <a:r>
              <a:rPr lang="en-US" altLang="zh-CN" dirty="0">
                <a:latin typeface="Arial" panose="020B0604020202020204" pitchFamily="34" charset="0"/>
                <a:sym typeface="Symbol" panose="05050102010706020507" pitchFamily="18" charset="2"/>
              </a:rPr>
              <a:t></a:t>
            </a:r>
            <a:r>
              <a:rPr lang="en-US" altLang="zh-CN" dirty="0">
                <a:latin typeface="Arial" panose="020B0604020202020204" pitchFamily="34" charset="0"/>
              </a:rPr>
              <a:t>0.1V</a:t>
            </a:r>
          </a:p>
          <a:p>
            <a:pPr marL="342900" indent="-342900">
              <a:lnSpc>
                <a:spcPct val="150000"/>
              </a:lnSpc>
              <a:buFont typeface="Arial" panose="020B0604020202020204" pitchFamily="34" charset="0"/>
              <a:buChar char="•"/>
            </a:pPr>
            <a:r>
              <a:rPr lang="zh-CN" altLang="zh-CN" dirty="0">
                <a:latin typeface="Arial" panose="020B0604020202020204" pitchFamily="34" charset="0"/>
              </a:rPr>
              <a:t>纯电阻分压网络的衰减系数不低于</a:t>
            </a:r>
            <a:r>
              <a:rPr lang="en-US" altLang="zh-CN" dirty="0">
                <a:latin typeface="Arial" panose="020B0604020202020204" pitchFamily="34" charset="0"/>
              </a:rPr>
              <a:t>100</a:t>
            </a:r>
            <a:endParaRPr lang="zh-CN" altLang="zh-CN" dirty="0">
              <a:latin typeface="Arial" panose="020B0604020202020204" pitchFamily="34" charset="0"/>
            </a:endParaRPr>
          </a:p>
          <a:p>
            <a:pPr marL="342900" indent="-342900">
              <a:lnSpc>
                <a:spcPct val="150000"/>
              </a:lnSpc>
              <a:buFont typeface="Arial" panose="020B0604020202020204" pitchFamily="34" charset="0"/>
              <a:buChar char="•"/>
            </a:pPr>
            <a:r>
              <a:rPr lang="zh-CN" altLang="zh-CN" dirty="0" smtClean="0">
                <a:latin typeface="Arial" panose="020B0604020202020204" pitchFamily="34" charset="0"/>
              </a:rPr>
              <a:t>检测</a:t>
            </a:r>
            <a:r>
              <a:rPr lang="zh-CN" altLang="zh-CN" dirty="0">
                <a:latin typeface="Arial" panose="020B0604020202020204" pitchFamily="34" charset="0"/>
              </a:rPr>
              <a:t>并显示正弦波信号的幅度值，要求误差不超过</a:t>
            </a:r>
            <a:r>
              <a:rPr lang="en-US" altLang="zh-CN" dirty="0">
                <a:latin typeface="Arial" panose="020B0604020202020204" pitchFamily="34" charset="0"/>
              </a:rPr>
              <a:t>2%</a:t>
            </a:r>
            <a:endParaRPr lang="zh-CN" altLang="en-US" dirty="0">
              <a:latin typeface="Arial" panose="020B0604020202020204" pitchFamily="34" charset="0"/>
            </a:endParaRPr>
          </a:p>
        </p:txBody>
      </p:sp>
    </p:spTree>
    <p:extLst>
      <p:ext uri="{BB962C8B-B14F-4D97-AF65-F5344CB8AC3E}">
        <p14:creationId xmlns:p14="http://schemas.microsoft.com/office/powerpoint/2010/main" val="639016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a:t>
            </a:fld>
            <a:endParaRPr lang="en-US" altLang="zh-CN">
              <a:solidFill>
                <a:srgbClr val="FFFFFF"/>
              </a:solidFill>
            </a:endParaRPr>
          </a:p>
        </p:txBody>
      </p:sp>
      <p:sp>
        <p:nvSpPr>
          <p:cNvPr id="5" name="矩形 4"/>
          <p:cNvSpPr/>
          <p:nvPr/>
        </p:nvSpPr>
        <p:spPr>
          <a:xfrm>
            <a:off x="471715" y="460840"/>
            <a:ext cx="9821316" cy="497700"/>
          </a:xfrm>
          <a:prstGeom prst="rect">
            <a:avLst/>
          </a:prstGeom>
        </p:spPr>
        <p:txBody>
          <a:bodyPr wrap="square">
            <a:spAutoFit/>
          </a:bodyPr>
          <a:lstStyle/>
          <a:p>
            <a:pPr>
              <a:lnSpc>
                <a:spcPct val="150000"/>
              </a:lnSpc>
            </a:pPr>
            <a:r>
              <a:rPr lang="en-US" altLang="zh-CN" dirty="0"/>
              <a:t>2023</a:t>
            </a:r>
            <a:r>
              <a:rPr lang="zh-CN" altLang="zh-CN" dirty="0"/>
              <a:t>年全国赛</a:t>
            </a:r>
            <a:r>
              <a:rPr lang="en-US" altLang="zh-CN" dirty="0"/>
              <a:t>B</a:t>
            </a:r>
            <a:r>
              <a:rPr lang="zh-CN" altLang="zh-CN" dirty="0"/>
              <a:t>题  同轴电缆长度与终端负载检测装置</a:t>
            </a:r>
            <a:endParaRPr lang="zh-CN" altLang="en-US" sz="900" dirty="0">
              <a:latin typeface="Arial" panose="020B0604020202020204" pitchFamily="34" charset="0"/>
            </a:endParaRPr>
          </a:p>
        </p:txBody>
      </p:sp>
      <p:sp>
        <p:nvSpPr>
          <p:cNvPr id="7" name="矩形 6"/>
          <p:cNvSpPr/>
          <p:nvPr/>
        </p:nvSpPr>
        <p:spPr>
          <a:xfrm>
            <a:off x="471715" y="3075611"/>
            <a:ext cx="9829139" cy="2400657"/>
          </a:xfrm>
          <a:prstGeom prst="rect">
            <a:avLst/>
          </a:prstGeom>
        </p:spPr>
        <p:txBody>
          <a:bodyPr wrap="square">
            <a:spAutoFit/>
          </a:bodyPr>
          <a:lstStyle/>
          <a:p>
            <a:pPr marL="342900" indent="-342900">
              <a:lnSpc>
                <a:spcPct val="150000"/>
              </a:lnSpc>
              <a:buFont typeface="Arial" panose="020B0604020202020204" pitchFamily="34" charset="0"/>
              <a:buChar char="•"/>
            </a:pPr>
            <a:r>
              <a:rPr lang="zh-CN" altLang="zh-CN" dirty="0"/>
              <a:t>电缆长度</a:t>
            </a:r>
            <a:r>
              <a:rPr lang="en-US" altLang="zh-CN" dirty="0"/>
              <a:t>1000cm</a:t>
            </a:r>
            <a:r>
              <a:rPr lang="zh-CN" altLang="zh-CN" dirty="0"/>
              <a:t>≤</a:t>
            </a:r>
            <a:r>
              <a:rPr lang="en-US" altLang="zh-CN" dirty="0"/>
              <a:t>L</a:t>
            </a:r>
            <a:r>
              <a:rPr lang="zh-CN" altLang="zh-CN" dirty="0"/>
              <a:t>≤</a:t>
            </a:r>
            <a:r>
              <a:rPr lang="en-US" altLang="zh-CN" dirty="0"/>
              <a:t>2000cm</a:t>
            </a:r>
            <a:r>
              <a:rPr lang="zh-CN" altLang="zh-CN" dirty="0"/>
              <a:t>、终端开路</a:t>
            </a:r>
            <a:r>
              <a:rPr lang="zh-CN" altLang="en-US" dirty="0"/>
              <a:t>或接入负载</a:t>
            </a:r>
            <a:endParaRPr lang="en-US" altLang="zh-CN" dirty="0"/>
          </a:p>
          <a:p>
            <a:pPr marL="342900" indent="-342900">
              <a:lnSpc>
                <a:spcPct val="150000"/>
              </a:lnSpc>
              <a:buFont typeface="Arial" panose="020B0604020202020204" pitchFamily="34" charset="0"/>
              <a:buChar char="•"/>
            </a:pPr>
            <a:r>
              <a:rPr lang="zh-CN" altLang="zh-CN" dirty="0"/>
              <a:t>负载电阻值范围：</a:t>
            </a:r>
            <a:r>
              <a:rPr lang="en-US" altLang="zh-CN" dirty="0"/>
              <a:t>10Ω~30Ω</a:t>
            </a:r>
            <a:r>
              <a:rPr lang="zh-CN" altLang="zh-CN" dirty="0"/>
              <a:t>，电容值范围：</a:t>
            </a:r>
            <a:r>
              <a:rPr lang="en-US" altLang="zh-CN" dirty="0"/>
              <a:t>100pF~300pF</a:t>
            </a:r>
          </a:p>
          <a:p>
            <a:pPr marL="342900" indent="-342900">
              <a:lnSpc>
                <a:spcPct val="150000"/>
              </a:lnSpc>
              <a:buFont typeface="Arial" panose="020B0604020202020204" pitchFamily="34" charset="0"/>
              <a:buChar char="•"/>
            </a:pPr>
            <a:r>
              <a:rPr lang="zh-CN" altLang="en-US" dirty="0" smtClean="0"/>
              <a:t>装置具有“</a:t>
            </a:r>
            <a:r>
              <a:rPr lang="zh-CN" altLang="zh-CN" dirty="0" smtClean="0"/>
              <a:t>长度检测</a:t>
            </a:r>
            <a:r>
              <a:rPr lang="zh-CN" altLang="en-US" dirty="0" smtClean="0"/>
              <a:t>”</a:t>
            </a:r>
            <a:r>
              <a:rPr lang="zh-CN" altLang="zh-CN" dirty="0" smtClean="0"/>
              <a:t>和</a:t>
            </a:r>
            <a:r>
              <a:rPr lang="zh-CN" altLang="en-US" dirty="0" smtClean="0"/>
              <a:t>“</a:t>
            </a:r>
            <a:r>
              <a:rPr lang="zh-CN" altLang="zh-CN" dirty="0" smtClean="0"/>
              <a:t>负载检测</a:t>
            </a:r>
            <a:r>
              <a:rPr lang="zh-CN" altLang="en-US" dirty="0" smtClean="0"/>
              <a:t>”</a:t>
            </a:r>
            <a:r>
              <a:rPr lang="zh-CN" altLang="zh-CN" dirty="0" smtClean="0"/>
              <a:t>两</a:t>
            </a:r>
            <a:r>
              <a:rPr lang="zh-CN" altLang="en-US" dirty="0" smtClean="0"/>
              <a:t>种工作模式</a:t>
            </a:r>
            <a:endParaRPr lang="en-US" altLang="zh-CN" dirty="0" smtClean="0"/>
          </a:p>
          <a:p>
            <a:pPr marL="342900" indent="-342900">
              <a:lnSpc>
                <a:spcPct val="150000"/>
              </a:lnSpc>
              <a:buFont typeface="Arial" panose="020B0604020202020204" pitchFamily="34" charset="0"/>
              <a:buChar char="•"/>
            </a:pPr>
            <a:r>
              <a:rPr lang="zh-CN" altLang="zh-CN" dirty="0" smtClean="0"/>
              <a:t>能够</a:t>
            </a:r>
            <a:r>
              <a:rPr lang="zh-CN" altLang="en-US" dirty="0" smtClean="0"/>
              <a:t>自动</a:t>
            </a:r>
            <a:r>
              <a:rPr lang="zh-CN" altLang="zh-CN" dirty="0" smtClean="0"/>
              <a:t>显示</a:t>
            </a:r>
            <a:r>
              <a:rPr lang="zh-CN" altLang="zh-CN" dirty="0"/>
              <a:t>工作状态、电缆长度、负载类型、负载</a:t>
            </a:r>
            <a:r>
              <a:rPr lang="zh-CN" altLang="zh-CN" dirty="0" smtClean="0"/>
              <a:t>参数</a:t>
            </a:r>
            <a:endParaRPr lang="en-US" altLang="zh-CN" dirty="0">
              <a:latin typeface="Arial" panose="020B0604020202020204" pitchFamily="34" charset="0"/>
            </a:endParaRPr>
          </a:p>
          <a:p>
            <a:pPr marL="342900" indent="-342900">
              <a:lnSpc>
                <a:spcPct val="150000"/>
              </a:lnSpc>
              <a:buFont typeface="Arial" panose="020B0604020202020204" pitchFamily="34" charset="0"/>
              <a:buChar char="•"/>
            </a:pPr>
            <a:r>
              <a:rPr lang="zh-CN" altLang="zh-CN" dirty="0" smtClean="0"/>
              <a:t>装置</a:t>
            </a:r>
            <a:r>
              <a:rPr lang="zh-CN" altLang="zh-CN" dirty="0"/>
              <a:t>由不大于</a:t>
            </a:r>
            <a:r>
              <a:rPr lang="en-US" altLang="zh-CN" dirty="0"/>
              <a:t>6V</a:t>
            </a:r>
            <a:r>
              <a:rPr lang="zh-CN" altLang="zh-CN" dirty="0"/>
              <a:t>的单电源</a:t>
            </a:r>
            <a:r>
              <a:rPr lang="zh-CN" altLang="zh-CN" dirty="0" smtClean="0"/>
              <a:t>供电</a:t>
            </a:r>
            <a:endParaRPr lang="zh-CN" altLang="zh-CN" dirty="0">
              <a:latin typeface="Arial" panose="020B0604020202020204" pitchFamily="34" charset="0"/>
            </a:endParaRPr>
          </a:p>
        </p:txBody>
      </p:sp>
      <p:pic>
        <p:nvPicPr>
          <p:cNvPr id="8" name="图片 7"/>
          <p:cNvPicPr/>
          <p:nvPr/>
        </p:nvPicPr>
        <p:blipFill>
          <a:blip r:embed="rId2"/>
          <a:stretch>
            <a:fillRect/>
          </a:stretch>
        </p:blipFill>
        <p:spPr>
          <a:xfrm>
            <a:off x="2413680" y="1249536"/>
            <a:ext cx="7608435" cy="1660579"/>
          </a:xfrm>
          <a:prstGeom prst="rect">
            <a:avLst/>
          </a:prstGeom>
        </p:spPr>
      </p:pic>
    </p:spTree>
    <p:extLst>
      <p:ext uri="{BB962C8B-B14F-4D97-AF65-F5344CB8AC3E}">
        <p14:creationId xmlns:p14="http://schemas.microsoft.com/office/powerpoint/2010/main" val="3232448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a:t>
            </a:fld>
            <a:endParaRPr lang="en-US" altLang="zh-CN">
              <a:solidFill>
                <a:srgbClr val="FFFFFF"/>
              </a:solidFill>
            </a:endParaRPr>
          </a:p>
        </p:txBody>
      </p:sp>
      <p:sp>
        <p:nvSpPr>
          <p:cNvPr id="5" name="矩形 4"/>
          <p:cNvSpPr/>
          <p:nvPr/>
        </p:nvSpPr>
        <p:spPr>
          <a:xfrm>
            <a:off x="501699" y="315753"/>
            <a:ext cx="11117942" cy="1200329"/>
          </a:xfrm>
          <a:prstGeom prst="rect">
            <a:avLst/>
          </a:prstGeom>
        </p:spPr>
        <p:txBody>
          <a:bodyPr wrap="square">
            <a:spAutoFit/>
          </a:bodyPr>
          <a:lstStyle/>
          <a:p>
            <a:pPr>
              <a:lnSpc>
                <a:spcPct val="150000"/>
              </a:lnSpc>
            </a:pPr>
            <a:r>
              <a:rPr lang="zh-CN" altLang="en-US" sz="2800" dirty="0" smtClean="0">
                <a:solidFill>
                  <a:srgbClr val="FF0000"/>
                </a:solidFill>
                <a:latin typeface="隶书" panose="02010509060101010101" pitchFamily="49" charset="-122"/>
                <a:ea typeface="隶书" panose="02010509060101010101" pitchFamily="49" charset="-122"/>
              </a:rPr>
              <a:t>通信</a:t>
            </a:r>
            <a:r>
              <a:rPr lang="zh-CN" altLang="en-US" sz="2800" dirty="0">
                <a:solidFill>
                  <a:srgbClr val="FF0000"/>
                </a:solidFill>
                <a:latin typeface="隶书" panose="02010509060101010101" pitchFamily="49" charset="-122"/>
                <a:ea typeface="隶书" panose="02010509060101010101" pitchFamily="49" charset="-122"/>
              </a:rPr>
              <a:t>类题目举例</a:t>
            </a:r>
            <a:endParaRPr lang="en-US" altLang="zh-CN" sz="2800" dirty="0">
              <a:solidFill>
                <a:srgbClr val="FF0000"/>
              </a:solidFill>
              <a:latin typeface="隶书" panose="02010509060101010101" pitchFamily="49" charset="-122"/>
              <a:ea typeface="隶书" panose="02010509060101010101" pitchFamily="49" charset="-122"/>
            </a:endParaRPr>
          </a:p>
          <a:p>
            <a:pPr>
              <a:lnSpc>
                <a:spcPct val="150000"/>
              </a:lnSpc>
            </a:pPr>
            <a:r>
              <a:rPr lang="en-US" altLang="zh-CN" dirty="0"/>
              <a:t>2023</a:t>
            </a:r>
            <a:r>
              <a:rPr lang="zh-CN" altLang="zh-CN" dirty="0"/>
              <a:t>年全国赛</a:t>
            </a:r>
            <a:r>
              <a:rPr lang="en-US" altLang="zh-CN" dirty="0"/>
              <a:t>D</a:t>
            </a:r>
            <a:r>
              <a:rPr lang="zh-CN" altLang="zh-CN" dirty="0"/>
              <a:t>题  信号调制方式识别与参数估计装置</a:t>
            </a:r>
            <a:endParaRPr lang="zh-CN" altLang="en-US" sz="900" dirty="0">
              <a:latin typeface="+mn-ea"/>
              <a:ea typeface="+mn-ea"/>
            </a:endParaRPr>
          </a:p>
        </p:txBody>
      </p:sp>
      <p:sp>
        <p:nvSpPr>
          <p:cNvPr id="7" name="矩形 6"/>
          <p:cNvSpPr/>
          <p:nvPr/>
        </p:nvSpPr>
        <p:spPr>
          <a:xfrm>
            <a:off x="501699" y="3039110"/>
            <a:ext cx="11117942" cy="2862322"/>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zh-CN" dirty="0"/>
              <a:t>信号发生器</a:t>
            </a:r>
            <a:r>
              <a:rPr lang="zh-CN" altLang="zh-CN" dirty="0" smtClean="0"/>
              <a:t>输出</a:t>
            </a:r>
            <a:r>
              <a:rPr lang="zh-CN" altLang="zh-CN" dirty="0"/>
              <a:t>三种</a:t>
            </a:r>
            <a:r>
              <a:rPr lang="zh-CN" altLang="zh-CN" dirty="0" smtClean="0"/>
              <a:t>信号</a:t>
            </a:r>
            <a:r>
              <a:rPr lang="zh-CN" altLang="en-US" dirty="0" smtClean="0"/>
              <a:t>：</a:t>
            </a:r>
            <a:r>
              <a:rPr lang="en-US" altLang="zh-CN" dirty="0" smtClean="0"/>
              <a:t>AM</a:t>
            </a:r>
            <a:r>
              <a:rPr lang="zh-CN" altLang="zh-CN" dirty="0"/>
              <a:t>、</a:t>
            </a:r>
            <a:r>
              <a:rPr lang="en-US" altLang="zh-CN" dirty="0"/>
              <a:t>FM </a:t>
            </a:r>
            <a:r>
              <a:rPr lang="zh-CN" altLang="zh-CN" dirty="0"/>
              <a:t>或连续载波（</a:t>
            </a:r>
            <a:r>
              <a:rPr lang="en-US" altLang="zh-CN" dirty="0"/>
              <a:t>CW</a:t>
            </a:r>
            <a:r>
              <a:rPr lang="zh-CN" altLang="zh-CN" dirty="0" smtClean="0"/>
              <a:t>），电压</a:t>
            </a:r>
            <a:r>
              <a:rPr lang="zh-CN" altLang="zh-CN" dirty="0"/>
              <a:t>峰</a:t>
            </a:r>
            <a:r>
              <a:rPr lang="zh-CN" altLang="zh-CN" dirty="0" smtClean="0"/>
              <a:t>峰值</a:t>
            </a:r>
            <a:r>
              <a:rPr lang="en-US" altLang="zh-CN" dirty="0" smtClean="0"/>
              <a:t>100mV</a:t>
            </a:r>
            <a:r>
              <a:rPr lang="zh-CN" altLang="zh-CN" dirty="0"/>
              <a:t>、</a:t>
            </a:r>
            <a:r>
              <a:rPr lang="zh-CN" altLang="zh-CN" dirty="0" smtClean="0"/>
              <a:t>载频</a:t>
            </a:r>
            <a:r>
              <a:rPr lang="en-US" altLang="zh-CN" dirty="0" smtClean="0"/>
              <a:t>2MHz</a:t>
            </a:r>
            <a:r>
              <a:rPr lang="zh-CN" altLang="en-US" dirty="0"/>
              <a:t>。</a:t>
            </a:r>
            <a:r>
              <a:rPr lang="zh-CN" altLang="zh-CN" dirty="0" smtClean="0"/>
              <a:t> </a:t>
            </a:r>
            <a:r>
              <a:rPr lang="zh-CN" altLang="en-US" dirty="0" smtClean="0"/>
              <a:t>要求在</a:t>
            </a:r>
            <a:r>
              <a:rPr lang="zh-CN" altLang="zh-CN" dirty="0" smtClean="0"/>
              <a:t>未知调制</a:t>
            </a:r>
            <a:r>
              <a:rPr lang="zh-CN" altLang="zh-CN" dirty="0"/>
              <a:t>方式条件下，装置可自主识别并</a:t>
            </a:r>
            <a:r>
              <a:rPr lang="zh-CN" altLang="zh-CN" dirty="0" smtClean="0"/>
              <a:t>显示</a:t>
            </a:r>
            <a:r>
              <a:rPr lang="zh-CN" altLang="en-US" dirty="0" smtClean="0"/>
              <a:t>信号的</a:t>
            </a:r>
            <a:r>
              <a:rPr lang="zh-CN" altLang="zh-CN" dirty="0" smtClean="0"/>
              <a:t>调制方式</a:t>
            </a:r>
            <a:r>
              <a:rPr lang="zh-CN" altLang="en-US" dirty="0" smtClean="0"/>
              <a:t>，</a:t>
            </a:r>
            <a:r>
              <a:rPr lang="zh-CN" altLang="zh-CN" dirty="0" smtClean="0"/>
              <a:t>估计</a:t>
            </a:r>
            <a:r>
              <a:rPr lang="zh-CN" altLang="zh-CN" dirty="0"/>
              <a:t>并</a:t>
            </a:r>
            <a:r>
              <a:rPr lang="zh-CN" altLang="zh-CN" dirty="0" smtClean="0"/>
              <a:t>显示</a:t>
            </a:r>
            <a:r>
              <a:rPr lang="zh-CN" altLang="en-US" dirty="0" smtClean="0"/>
              <a:t>调制信号</a:t>
            </a:r>
            <a:r>
              <a:rPr lang="zh-CN" altLang="zh-CN" dirty="0" smtClean="0"/>
              <a:t>的</a:t>
            </a:r>
            <a:r>
              <a:rPr lang="zh-CN" altLang="zh-CN" dirty="0"/>
              <a:t>有关</a:t>
            </a:r>
            <a:r>
              <a:rPr lang="zh-CN" altLang="zh-CN" dirty="0" smtClean="0"/>
              <a:t>参数</a:t>
            </a:r>
            <a:r>
              <a:rPr lang="zh-CN" altLang="en-US" dirty="0" smtClean="0"/>
              <a:t>，在示波器上显示</a:t>
            </a:r>
            <a:r>
              <a:rPr lang="zh-CN" altLang="zh-CN" dirty="0" smtClean="0"/>
              <a:t>解调</a:t>
            </a:r>
            <a:r>
              <a:rPr lang="zh-CN" altLang="en-US" dirty="0" smtClean="0"/>
              <a:t>输出</a:t>
            </a:r>
            <a:r>
              <a:rPr lang="zh-CN" altLang="zh-CN" dirty="0" smtClean="0"/>
              <a:t>信号。</a:t>
            </a:r>
            <a:endParaRPr lang="en-US" altLang="zh-CN" dirty="0" smtClean="0"/>
          </a:p>
          <a:p>
            <a:pPr marL="342900" indent="-342900" algn="just">
              <a:lnSpc>
                <a:spcPct val="150000"/>
              </a:lnSpc>
              <a:spcAft>
                <a:spcPts val="0"/>
              </a:spcAft>
              <a:buFont typeface="Arial" panose="020B0604020202020204" pitchFamily="34" charset="0"/>
              <a:buChar char="•"/>
            </a:pPr>
            <a:r>
              <a:rPr lang="zh-CN" altLang="zh-CN" dirty="0"/>
              <a:t>信号发生器输出</a:t>
            </a:r>
            <a:r>
              <a:rPr lang="zh-CN" altLang="zh-CN" dirty="0" smtClean="0"/>
              <a:t>二进制</a:t>
            </a:r>
            <a:r>
              <a:rPr lang="zh-CN" altLang="zh-CN" dirty="0"/>
              <a:t>幅度键控（</a:t>
            </a:r>
            <a:r>
              <a:rPr lang="en-US" altLang="zh-CN" dirty="0"/>
              <a:t>2ASK</a:t>
            </a:r>
            <a:r>
              <a:rPr lang="zh-CN" altLang="zh-CN" dirty="0"/>
              <a:t>）、移相键控（</a:t>
            </a:r>
            <a:r>
              <a:rPr lang="en-US" altLang="zh-CN" dirty="0"/>
              <a:t>2PSK</a:t>
            </a:r>
            <a:r>
              <a:rPr lang="zh-CN" altLang="zh-CN" dirty="0"/>
              <a:t>）或移频键控（</a:t>
            </a:r>
            <a:r>
              <a:rPr lang="en-US" altLang="zh-CN" dirty="0"/>
              <a:t>2FSK</a:t>
            </a:r>
            <a:r>
              <a:rPr lang="zh-CN" altLang="zh-CN" dirty="0"/>
              <a:t>）</a:t>
            </a:r>
            <a:r>
              <a:rPr lang="zh-CN" altLang="zh-CN" dirty="0" smtClean="0"/>
              <a:t>信号，</a:t>
            </a:r>
            <a:r>
              <a:rPr lang="zh-CN" altLang="zh-CN" dirty="0"/>
              <a:t>电压峰峰值</a:t>
            </a:r>
            <a:r>
              <a:rPr lang="en-US" altLang="zh-CN" dirty="0"/>
              <a:t>100mV</a:t>
            </a:r>
            <a:r>
              <a:rPr lang="zh-CN" altLang="zh-CN" dirty="0"/>
              <a:t>、载频</a:t>
            </a:r>
            <a:r>
              <a:rPr lang="en-US" altLang="zh-CN" dirty="0" smtClean="0"/>
              <a:t>2MHz</a:t>
            </a:r>
            <a:r>
              <a:rPr lang="zh-CN" altLang="en-US" dirty="0" smtClean="0"/>
              <a:t>。</a:t>
            </a:r>
            <a:r>
              <a:rPr lang="zh-CN" altLang="en-US" dirty="0"/>
              <a:t>要求在</a:t>
            </a:r>
            <a:r>
              <a:rPr lang="zh-CN" altLang="zh-CN" dirty="0"/>
              <a:t>未知调制方式条件下，装置可自主识别并显示</a:t>
            </a:r>
            <a:r>
              <a:rPr lang="zh-CN" altLang="en-US" dirty="0"/>
              <a:t>信号</a:t>
            </a:r>
            <a:r>
              <a:rPr lang="zh-CN" altLang="en-US" dirty="0" smtClean="0"/>
              <a:t>的键控</a:t>
            </a:r>
            <a:r>
              <a:rPr lang="zh-CN" altLang="zh-CN" dirty="0" smtClean="0"/>
              <a:t>方式</a:t>
            </a:r>
            <a:r>
              <a:rPr lang="zh-CN" altLang="en-US" dirty="0"/>
              <a:t>，</a:t>
            </a:r>
            <a:r>
              <a:rPr lang="zh-CN" altLang="zh-CN" dirty="0"/>
              <a:t>估计并显示</a:t>
            </a:r>
            <a:r>
              <a:rPr lang="zh-CN" altLang="en-US" dirty="0"/>
              <a:t>调制信号</a:t>
            </a:r>
            <a:r>
              <a:rPr lang="zh-CN" altLang="zh-CN" dirty="0" smtClean="0"/>
              <a:t>的</a:t>
            </a:r>
            <a:r>
              <a:rPr lang="zh-CN" altLang="en-US" dirty="0" smtClean="0"/>
              <a:t>二进制码速率，在示波器上显示</a:t>
            </a:r>
            <a:r>
              <a:rPr lang="zh-CN" altLang="zh-CN" dirty="0"/>
              <a:t>解调</a:t>
            </a:r>
            <a:r>
              <a:rPr lang="zh-CN" altLang="zh-CN" dirty="0" smtClean="0"/>
              <a:t>输出信号。</a:t>
            </a:r>
            <a:endParaRPr lang="zh-CN" altLang="zh-CN" kern="100" dirty="0">
              <a:latin typeface="+mn-ea"/>
              <a:ea typeface="+mn-ea"/>
            </a:endParaRPr>
          </a:p>
        </p:txBody>
      </p:sp>
      <p:pic>
        <p:nvPicPr>
          <p:cNvPr id="8" name="图片 7"/>
          <p:cNvPicPr/>
          <p:nvPr/>
        </p:nvPicPr>
        <p:blipFill>
          <a:blip r:embed="rId2"/>
          <a:stretch>
            <a:fillRect/>
          </a:stretch>
        </p:blipFill>
        <p:spPr>
          <a:xfrm>
            <a:off x="3097984" y="1661169"/>
            <a:ext cx="5349330" cy="1232854"/>
          </a:xfrm>
          <a:prstGeom prst="rect">
            <a:avLst/>
          </a:prstGeom>
        </p:spPr>
      </p:pic>
    </p:spTree>
    <p:extLst>
      <p:ext uri="{BB962C8B-B14F-4D97-AF65-F5344CB8AC3E}">
        <p14:creationId xmlns:p14="http://schemas.microsoft.com/office/powerpoint/2010/main" val="832979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8</a:t>
            </a:fld>
            <a:endParaRPr lang="en-US" altLang="zh-CN">
              <a:solidFill>
                <a:srgbClr val="FFFFFF"/>
              </a:solidFill>
            </a:endParaRPr>
          </a:p>
        </p:txBody>
      </p:sp>
      <p:sp>
        <p:nvSpPr>
          <p:cNvPr id="5" name="文本框 4"/>
          <p:cNvSpPr txBox="1"/>
          <p:nvPr/>
        </p:nvSpPr>
        <p:spPr>
          <a:xfrm>
            <a:off x="566057" y="384966"/>
            <a:ext cx="9504139" cy="553998"/>
          </a:xfrm>
          <a:prstGeom prst="rect">
            <a:avLst/>
          </a:prstGeom>
          <a:noFill/>
        </p:spPr>
        <p:txBody>
          <a:bodyPr wrap="square" rtlCol="0">
            <a:spAutoFit/>
          </a:bodyPr>
          <a:lstStyle/>
          <a:p>
            <a:pPr>
              <a:lnSpc>
                <a:spcPct val="150000"/>
              </a:lnSpc>
            </a:pPr>
            <a:r>
              <a:rPr lang="en-US" altLang="zh-CN" dirty="0"/>
              <a:t>2019</a:t>
            </a:r>
            <a:r>
              <a:rPr lang="zh-CN" altLang="zh-CN" dirty="0"/>
              <a:t>年全国赛</a:t>
            </a:r>
            <a:r>
              <a:rPr lang="en-US" altLang="zh-CN" dirty="0"/>
              <a:t>G</a:t>
            </a:r>
            <a:r>
              <a:rPr lang="zh-CN" altLang="zh-CN" dirty="0"/>
              <a:t>题  双路语音同传的无线收发系统</a:t>
            </a:r>
            <a:endParaRPr lang="en-US" altLang="zh-CN" dirty="0"/>
          </a:p>
        </p:txBody>
      </p:sp>
      <p:pic>
        <p:nvPicPr>
          <p:cNvPr id="6" name="图片 5"/>
          <p:cNvPicPr/>
          <p:nvPr/>
        </p:nvPicPr>
        <p:blipFill>
          <a:blip r:embed="rId2"/>
          <a:stretch>
            <a:fillRect/>
          </a:stretch>
        </p:blipFill>
        <p:spPr>
          <a:xfrm>
            <a:off x="2480794" y="984589"/>
            <a:ext cx="7007611" cy="3202531"/>
          </a:xfrm>
          <a:prstGeom prst="rect">
            <a:avLst/>
          </a:prstGeom>
        </p:spPr>
      </p:pic>
      <p:sp>
        <p:nvSpPr>
          <p:cNvPr id="7" name="矩形 6"/>
          <p:cNvSpPr/>
          <p:nvPr/>
        </p:nvSpPr>
        <p:spPr>
          <a:xfrm>
            <a:off x="566056" y="4289041"/>
            <a:ext cx="10965543" cy="1938992"/>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zh-CN" kern="100" dirty="0">
                <a:latin typeface="Arial" panose="020B0604020202020204" pitchFamily="34" charset="0"/>
                <a:ea typeface="+mn-ea"/>
              </a:rPr>
              <a:t>载波频率</a:t>
            </a:r>
            <a:r>
              <a:rPr lang="en-US" altLang="zh-CN" kern="100" dirty="0">
                <a:latin typeface="Arial" panose="020B0604020202020204" pitchFamily="34" charset="0"/>
                <a:ea typeface="+mn-ea"/>
              </a:rPr>
              <a:t>48.5MHz</a:t>
            </a:r>
            <a:r>
              <a:rPr lang="zh-CN" altLang="zh-CN" kern="100" dirty="0">
                <a:latin typeface="Arial" panose="020B0604020202020204" pitchFamily="34" charset="0"/>
                <a:ea typeface="+mn-ea"/>
              </a:rPr>
              <a:t>，峰值频偏不大于</a:t>
            </a:r>
            <a:r>
              <a:rPr lang="en-US" altLang="zh-CN" kern="100" dirty="0">
                <a:latin typeface="Arial" panose="020B0604020202020204" pitchFamily="34" charset="0"/>
                <a:ea typeface="+mn-ea"/>
              </a:rPr>
              <a:t>25kHz</a:t>
            </a:r>
            <a:r>
              <a:rPr lang="zh-CN" altLang="zh-CN" kern="100" dirty="0">
                <a:latin typeface="Arial" panose="020B0604020202020204" pitchFamily="34" charset="0"/>
                <a:ea typeface="+mn-ea"/>
              </a:rPr>
              <a:t>；天线长度不大于</a:t>
            </a:r>
            <a:r>
              <a:rPr lang="en-US" altLang="zh-CN" kern="100" dirty="0">
                <a:latin typeface="Arial" panose="020B0604020202020204" pitchFamily="34" charset="0"/>
                <a:ea typeface="+mn-ea"/>
              </a:rPr>
              <a:t>0.5m</a:t>
            </a:r>
            <a:endParaRPr lang="zh-CN" altLang="zh-CN" kern="100" dirty="0">
              <a:latin typeface="Arial" panose="020B0604020202020204" pitchFamily="34" charset="0"/>
              <a:ea typeface="+mn-ea"/>
            </a:endParaRPr>
          </a:p>
          <a:p>
            <a:pPr marL="342900" indent="-342900" algn="just">
              <a:lnSpc>
                <a:spcPct val="150000"/>
              </a:lnSpc>
              <a:spcAft>
                <a:spcPts val="0"/>
              </a:spcAft>
              <a:buFont typeface="Arial" panose="020B0604020202020204" pitchFamily="34" charset="0"/>
              <a:buChar char="•"/>
            </a:pPr>
            <a:r>
              <a:rPr lang="zh-CN" altLang="zh-CN" kern="100" dirty="0">
                <a:latin typeface="Arial" panose="020B0604020202020204" pitchFamily="34" charset="0"/>
                <a:ea typeface="+mn-ea"/>
              </a:rPr>
              <a:t>同时传输双路语音信号</a:t>
            </a:r>
            <a:r>
              <a:rPr lang="zh-CN" altLang="en-US" kern="100" dirty="0">
                <a:latin typeface="Arial" panose="020B0604020202020204" pitchFamily="34" charset="0"/>
                <a:ea typeface="+mn-ea"/>
              </a:rPr>
              <a:t>，</a:t>
            </a:r>
            <a:r>
              <a:rPr lang="zh-CN" altLang="zh-CN" kern="100" dirty="0">
                <a:latin typeface="Arial" panose="020B0604020202020204" pitchFamily="34" charset="0"/>
                <a:ea typeface="+mn-ea"/>
              </a:rPr>
              <a:t>通信距离不小于</a:t>
            </a:r>
            <a:r>
              <a:rPr lang="en-US" altLang="zh-CN" kern="100" dirty="0">
                <a:latin typeface="Arial" panose="020B0604020202020204" pitchFamily="34" charset="0"/>
                <a:ea typeface="+mn-ea"/>
              </a:rPr>
              <a:t>2m</a:t>
            </a:r>
            <a:r>
              <a:rPr lang="zh-CN" altLang="zh-CN" kern="100" dirty="0">
                <a:latin typeface="Arial" panose="020B0604020202020204" pitchFamily="34" charset="0"/>
                <a:ea typeface="+mn-ea"/>
              </a:rPr>
              <a:t>，解调输出无明显失真</a:t>
            </a:r>
          </a:p>
          <a:p>
            <a:pPr marL="342900" indent="-342900" algn="just">
              <a:lnSpc>
                <a:spcPct val="150000"/>
              </a:lnSpc>
              <a:spcAft>
                <a:spcPts val="0"/>
              </a:spcAft>
              <a:buFont typeface="Arial" panose="020B0604020202020204" pitchFamily="34" charset="0"/>
              <a:buChar char="•"/>
            </a:pPr>
            <a:r>
              <a:rPr lang="zh-CN" altLang="zh-CN" kern="100" dirty="0">
                <a:latin typeface="Arial" panose="020B0604020202020204" pitchFamily="34" charset="0"/>
                <a:ea typeface="+mn-ea"/>
              </a:rPr>
              <a:t>通过一个电压信号</a:t>
            </a:r>
            <a:r>
              <a:rPr lang="zh-CN" altLang="en-US" kern="100" dirty="0">
                <a:latin typeface="Arial" panose="020B0604020202020204" pitchFamily="34" charset="0"/>
                <a:ea typeface="+mn-ea"/>
              </a:rPr>
              <a:t>改变</a:t>
            </a:r>
            <a:r>
              <a:rPr lang="zh-CN" altLang="zh-CN" kern="100" dirty="0">
                <a:latin typeface="Arial" panose="020B0604020202020204" pitchFamily="34" charset="0"/>
                <a:ea typeface="+mn-ea"/>
              </a:rPr>
              <a:t>载波频</a:t>
            </a:r>
            <a:r>
              <a:rPr lang="zh-CN" altLang="en-US" kern="100" dirty="0">
                <a:latin typeface="Arial" panose="020B0604020202020204" pitchFamily="34" charset="0"/>
                <a:ea typeface="+mn-ea"/>
              </a:rPr>
              <a:t>率</a:t>
            </a:r>
            <a:r>
              <a:rPr lang="zh-CN" altLang="zh-CN" kern="100" dirty="0">
                <a:latin typeface="Arial" panose="020B0604020202020204" pitchFamily="34" charset="0"/>
                <a:ea typeface="+mn-ea"/>
              </a:rPr>
              <a:t>，模拟无线通信中载波频率漂移</a:t>
            </a:r>
            <a:r>
              <a:rPr lang="zh-CN" altLang="en-US" kern="100" dirty="0">
                <a:latin typeface="Arial" panose="020B0604020202020204" pitchFamily="34" charset="0"/>
                <a:ea typeface="+mn-ea"/>
              </a:rPr>
              <a:t>，</a:t>
            </a:r>
            <a:r>
              <a:rPr lang="zh-CN" altLang="zh-CN" kern="100" dirty="0">
                <a:latin typeface="Arial" panose="020B0604020202020204" pitchFamily="34" charset="0"/>
                <a:ea typeface="+mn-ea"/>
              </a:rPr>
              <a:t>在保证系统能</a:t>
            </a:r>
            <a:r>
              <a:rPr lang="zh-CN" altLang="en-US" kern="100" dirty="0">
                <a:latin typeface="Arial" panose="020B0604020202020204" pitchFamily="34" charset="0"/>
                <a:ea typeface="+mn-ea"/>
              </a:rPr>
              <a:t>正常工作</a:t>
            </a:r>
            <a:r>
              <a:rPr lang="zh-CN" altLang="zh-CN" kern="100" dirty="0">
                <a:latin typeface="Arial" panose="020B0604020202020204" pitchFamily="34" charset="0"/>
                <a:ea typeface="+mn-ea"/>
              </a:rPr>
              <a:t>前提下，</a:t>
            </a:r>
            <a:r>
              <a:rPr lang="zh-CN" altLang="zh-CN" dirty="0">
                <a:latin typeface="Arial" panose="020B0604020202020204" pitchFamily="34" charset="0"/>
                <a:ea typeface="+mn-ea"/>
                <a:cs typeface="Times New Roman" panose="02020603050405020304" pitchFamily="18" charset="0"/>
              </a:rPr>
              <a:t>载波频率漂移范围越大越好</a:t>
            </a:r>
            <a:endParaRPr lang="zh-CN" altLang="en-US" dirty="0">
              <a:latin typeface="Arial" panose="020B0604020202020204" pitchFamily="34" charset="0"/>
              <a:ea typeface="+mn-ea"/>
            </a:endParaRPr>
          </a:p>
        </p:txBody>
      </p:sp>
    </p:spTree>
    <p:extLst>
      <p:ext uri="{BB962C8B-B14F-4D97-AF65-F5344CB8AC3E}">
        <p14:creationId xmlns:p14="http://schemas.microsoft.com/office/powerpoint/2010/main" val="3802954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9</a:t>
            </a:fld>
            <a:endParaRPr lang="en-US" altLang="zh-CN">
              <a:solidFill>
                <a:srgbClr val="FFFFFF"/>
              </a:solidFill>
            </a:endParaRPr>
          </a:p>
        </p:txBody>
      </p:sp>
      <p:sp>
        <p:nvSpPr>
          <p:cNvPr id="5" name="文本框 4"/>
          <p:cNvSpPr txBox="1"/>
          <p:nvPr/>
        </p:nvSpPr>
        <p:spPr>
          <a:xfrm>
            <a:off x="382262" y="534214"/>
            <a:ext cx="8171191" cy="553998"/>
          </a:xfrm>
          <a:prstGeom prst="rect">
            <a:avLst/>
          </a:prstGeom>
          <a:noFill/>
        </p:spPr>
        <p:txBody>
          <a:bodyPr wrap="square" rtlCol="0">
            <a:spAutoFit/>
          </a:bodyPr>
          <a:lstStyle/>
          <a:p>
            <a:pPr>
              <a:lnSpc>
                <a:spcPct val="150000"/>
              </a:lnSpc>
            </a:pPr>
            <a:r>
              <a:rPr lang="en-US" altLang="zh-CN" dirty="0"/>
              <a:t>2021</a:t>
            </a:r>
            <a:r>
              <a:rPr lang="zh-CN" altLang="zh-CN" dirty="0"/>
              <a:t>年全国赛</a:t>
            </a:r>
            <a:r>
              <a:rPr lang="en-US" altLang="zh-CN" dirty="0"/>
              <a:t>E</a:t>
            </a:r>
            <a:r>
              <a:rPr lang="zh-CN" altLang="zh-CN" dirty="0"/>
              <a:t>题</a:t>
            </a:r>
            <a:r>
              <a:rPr lang="en-US" altLang="zh-CN" dirty="0"/>
              <a:t>   </a:t>
            </a:r>
            <a:r>
              <a:rPr lang="zh-CN" altLang="zh-CN" dirty="0"/>
              <a:t>数字</a:t>
            </a:r>
            <a:r>
              <a:rPr lang="en-US" altLang="zh-CN" dirty="0"/>
              <a:t>-</a:t>
            </a:r>
            <a:r>
              <a:rPr lang="zh-CN" altLang="zh-CN" dirty="0"/>
              <a:t>模拟信号混合传输收发机</a:t>
            </a:r>
            <a:endParaRPr lang="en-US" altLang="zh-CN" dirty="0"/>
          </a:p>
        </p:txBody>
      </p:sp>
      <p:sp>
        <p:nvSpPr>
          <p:cNvPr id="6" name="矩形 5"/>
          <p:cNvSpPr/>
          <p:nvPr/>
        </p:nvSpPr>
        <p:spPr>
          <a:xfrm>
            <a:off x="382261" y="4213316"/>
            <a:ext cx="11229167" cy="1477328"/>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zh-CN" dirty="0"/>
              <a:t>收发机的信道带宽不大于</a:t>
            </a:r>
            <a:r>
              <a:rPr lang="en-US" altLang="zh-CN" dirty="0"/>
              <a:t>25kHz</a:t>
            </a:r>
            <a:r>
              <a:rPr lang="zh-CN" altLang="zh-CN" dirty="0"/>
              <a:t>，载波频率范围为</a:t>
            </a:r>
            <a:r>
              <a:rPr lang="en-US" altLang="zh-CN" dirty="0"/>
              <a:t>20~30MHz</a:t>
            </a:r>
          </a:p>
          <a:p>
            <a:pPr marL="342900" indent="-342900" algn="just">
              <a:lnSpc>
                <a:spcPct val="150000"/>
              </a:lnSpc>
              <a:spcAft>
                <a:spcPts val="0"/>
              </a:spcAft>
              <a:buFont typeface="Arial" panose="020B0604020202020204" pitchFamily="34" charset="0"/>
              <a:buChar char="•"/>
            </a:pPr>
            <a:r>
              <a:rPr lang="zh-CN" altLang="zh-CN" dirty="0"/>
              <a:t>模拟信号频率范围</a:t>
            </a:r>
            <a:r>
              <a:rPr lang="en-US" altLang="zh-CN" dirty="0"/>
              <a:t>50Hz~10kHz</a:t>
            </a:r>
            <a:r>
              <a:rPr lang="zh-CN" altLang="en-US" dirty="0"/>
              <a:t>，</a:t>
            </a:r>
            <a:r>
              <a:rPr lang="zh-CN" altLang="zh-CN" dirty="0"/>
              <a:t>数字信号</a:t>
            </a:r>
            <a:r>
              <a:rPr lang="zh-CN" altLang="en-US" dirty="0"/>
              <a:t>为 </a:t>
            </a:r>
            <a:r>
              <a:rPr lang="en-US" altLang="zh-CN" dirty="0"/>
              <a:t>4</a:t>
            </a:r>
            <a:r>
              <a:rPr lang="zh-CN" altLang="zh-CN" dirty="0"/>
              <a:t>个</a:t>
            </a:r>
            <a:r>
              <a:rPr lang="en-US" altLang="zh-CN" dirty="0"/>
              <a:t>0~9</a:t>
            </a:r>
            <a:r>
              <a:rPr lang="zh-CN" altLang="zh-CN" dirty="0"/>
              <a:t>的一组数字</a:t>
            </a:r>
            <a:endParaRPr lang="en-US" altLang="zh-CN" dirty="0"/>
          </a:p>
          <a:p>
            <a:pPr marL="342900" indent="-342900" algn="just">
              <a:lnSpc>
                <a:spcPct val="150000"/>
              </a:lnSpc>
              <a:spcAft>
                <a:spcPts val="0"/>
              </a:spcAft>
              <a:buFont typeface="Arial" panose="020B0604020202020204" pitchFamily="34" charset="0"/>
              <a:buChar char="•"/>
            </a:pPr>
            <a:r>
              <a:rPr lang="zh-CN" altLang="zh-CN" dirty="0"/>
              <a:t>实现数字</a:t>
            </a:r>
            <a:r>
              <a:rPr lang="en-US" altLang="zh-CN" dirty="0"/>
              <a:t>-</a:t>
            </a:r>
            <a:r>
              <a:rPr lang="zh-CN" altLang="zh-CN" dirty="0"/>
              <a:t>模拟信号的混合传输</a:t>
            </a:r>
            <a:r>
              <a:rPr lang="zh-CN" altLang="en-US" dirty="0"/>
              <a:t>，</a:t>
            </a:r>
            <a:r>
              <a:rPr lang="zh-CN" altLang="zh-CN" dirty="0"/>
              <a:t>数字显示正确，模拟信号波形无明显失真</a:t>
            </a:r>
            <a:endParaRPr lang="zh-CN" altLang="en-US" dirty="0">
              <a:latin typeface="+mn-ea"/>
              <a:ea typeface="+mn-ea"/>
            </a:endParaRPr>
          </a:p>
        </p:txBody>
      </p:sp>
      <p:pic>
        <p:nvPicPr>
          <p:cNvPr id="7" name="图片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10278" y="1163936"/>
            <a:ext cx="7459436" cy="2973656"/>
          </a:xfrm>
          <a:prstGeom prst="rect">
            <a:avLst/>
          </a:prstGeom>
          <a:noFill/>
          <a:ln>
            <a:noFill/>
          </a:ln>
        </p:spPr>
      </p:pic>
    </p:spTree>
    <p:extLst>
      <p:ext uri="{BB962C8B-B14F-4D97-AF65-F5344CB8AC3E}">
        <p14:creationId xmlns:p14="http://schemas.microsoft.com/office/powerpoint/2010/main" val="3267388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10</a:t>
            </a:fld>
            <a:endParaRPr lang="en-US" altLang="zh-CN">
              <a:solidFill>
                <a:srgbClr val="FFFFFF"/>
              </a:solidFill>
            </a:endParaRPr>
          </a:p>
        </p:txBody>
      </p:sp>
      <p:sp>
        <p:nvSpPr>
          <p:cNvPr id="5" name="矩形 4"/>
          <p:cNvSpPr/>
          <p:nvPr/>
        </p:nvSpPr>
        <p:spPr>
          <a:xfrm>
            <a:off x="471714" y="587470"/>
            <a:ext cx="11168743" cy="400110"/>
          </a:xfrm>
          <a:prstGeom prst="rect">
            <a:avLst/>
          </a:prstGeom>
        </p:spPr>
        <p:txBody>
          <a:bodyPr wrap="square">
            <a:spAutoFit/>
          </a:bodyPr>
          <a:lstStyle/>
          <a:p>
            <a:r>
              <a:rPr lang="en-US" altLang="zh-CN" dirty="0"/>
              <a:t>2016</a:t>
            </a:r>
            <a:r>
              <a:rPr lang="zh-CN" altLang="zh-CN" dirty="0"/>
              <a:t>年江苏省</a:t>
            </a:r>
            <a:r>
              <a:rPr lang="en-US" altLang="zh-CN" dirty="0"/>
              <a:t>TI</a:t>
            </a:r>
            <a:r>
              <a:rPr lang="zh-CN" altLang="zh-CN" dirty="0"/>
              <a:t>杯</a:t>
            </a:r>
            <a:r>
              <a:rPr lang="en-US" altLang="zh-CN" dirty="0"/>
              <a:t>F</a:t>
            </a:r>
            <a:r>
              <a:rPr lang="zh-CN" altLang="zh-CN" dirty="0"/>
              <a:t>题  位同步时钟提取电路</a:t>
            </a:r>
            <a:endParaRPr lang="zh-CN" altLang="en-US" dirty="0"/>
          </a:p>
        </p:txBody>
      </p:sp>
      <p:sp>
        <p:nvSpPr>
          <p:cNvPr id="8" name="矩形 7"/>
          <p:cNvSpPr/>
          <p:nvPr/>
        </p:nvSpPr>
        <p:spPr>
          <a:xfrm>
            <a:off x="471713" y="3361643"/>
            <a:ext cx="11168743" cy="2400657"/>
          </a:xfrm>
          <a:prstGeom prst="rect">
            <a:avLst/>
          </a:prstGeom>
        </p:spPr>
        <p:txBody>
          <a:bodyPr wrap="square">
            <a:spAutoFit/>
          </a:bodyPr>
          <a:lstStyle/>
          <a:p>
            <a:pPr marL="342900" indent="-342900">
              <a:lnSpc>
                <a:spcPct val="150000"/>
              </a:lnSpc>
              <a:buFont typeface="Arial" panose="020B0604020202020204" pitchFamily="34" charset="0"/>
              <a:buChar char="•"/>
            </a:pPr>
            <a:r>
              <a:rPr lang="zh-CN" altLang="en-US" dirty="0" smtClean="0"/>
              <a:t>设计制作</a:t>
            </a:r>
            <a:r>
              <a:rPr lang="zh-CN" altLang="zh-CN" dirty="0" smtClean="0"/>
              <a:t>基带信号</a:t>
            </a:r>
            <a:r>
              <a:rPr lang="zh-CN" altLang="zh-CN" dirty="0"/>
              <a:t>产生</a:t>
            </a:r>
            <a:r>
              <a:rPr lang="zh-CN" altLang="zh-CN" dirty="0" smtClean="0"/>
              <a:t>电路</a:t>
            </a:r>
            <a:r>
              <a:rPr lang="zh-CN" altLang="en-US" dirty="0" smtClean="0"/>
              <a:t>。其中</a:t>
            </a:r>
            <a:r>
              <a:rPr lang="en-US" altLang="zh-CN" dirty="0" smtClean="0"/>
              <a:t>m</a:t>
            </a:r>
            <a:r>
              <a:rPr lang="zh-CN" altLang="zh-CN" dirty="0"/>
              <a:t>序列发生器</a:t>
            </a:r>
            <a:r>
              <a:rPr lang="zh-CN" altLang="zh-CN" dirty="0" smtClean="0"/>
              <a:t>的本原多项式为 </a:t>
            </a:r>
            <a:r>
              <a:rPr lang="en-US" altLang="zh-CN" i="1" dirty="0"/>
              <a:t>f</a:t>
            </a:r>
            <a:r>
              <a:rPr lang="en-US" altLang="zh-CN" dirty="0"/>
              <a:t>(</a:t>
            </a:r>
            <a:r>
              <a:rPr lang="en-US" altLang="zh-CN" i="1" dirty="0"/>
              <a:t>x</a:t>
            </a:r>
            <a:r>
              <a:rPr lang="en-US" altLang="zh-CN" dirty="0"/>
              <a:t>)=</a:t>
            </a:r>
            <a:r>
              <a:rPr lang="en-US" altLang="zh-CN" i="1" dirty="0"/>
              <a:t>x</a:t>
            </a:r>
            <a:r>
              <a:rPr lang="en-US" altLang="zh-CN" baseline="30000" dirty="0"/>
              <a:t>8</a:t>
            </a:r>
            <a:r>
              <a:rPr lang="en-US" altLang="zh-CN" dirty="0"/>
              <a:t>+</a:t>
            </a:r>
            <a:r>
              <a:rPr lang="en-US" altLang="zh-CN" i="1" dirty="0"/>
              <a:t>x</a:t>
            </a:r>
            <a:r>
              <a:rPr lang="en-US" altLang="zh-CN" baseline="30000" dirty="0"/>
              <a:t>4</a:t>
            </a:r>
            <a:r>
              <a:rPr lang="en-US" altLang="zh-CN" dirty="0"/>
              <a:t>+</a:t>
            </a:r>
            <a:r>
              <a:rPr lang="en-US" altLang="zh-CN" i="1" dirty="0"/>
              <a:t>x</a:t>
            </a:r>
            <a:r>
              <a:rPr lang="en-US" altLang="zh-CN" baseline="30000" dirty="0"/>
              <a:t>3</a:t>
            </a:r>
            <a:r>
              <a:rPr lang="en-US" altLang="zh-CN" dirty="0"/>
              <a:t>+</a:t>
            </a:r>
            <a:r>
              <a:rPr lang="en-US" altLang="zh-CN" i="1" dirty="0"/>
              <a:t>x</a:t>
            </a:r>
            <a:r>
              <a:rPr lang="en-US" altLang="zh-CN" baseline="30000" dirty="0"/>
              <a:t>2</a:t>
            </a:r>
            <a:r>
              <a:rPr lang="en-US" altLang="zh-CN" dirty="0"/>
              <a:t>+1</a:t>
            </a:r>
            <a:r>
              <a:rPr lang="zh-CN" altLang="zh-CN" dirty="0" smtClean="0"/>
              <a:t>，</a:t>
            </a:r>
            <a:r>
              <a:rPr lang="zh-CN" altLang="zh-CN" dirty="0"/>
              <a:t>二阶有源</a:t>
            </a:r>
            <a:r>
              <a:rPr lang="zh-CN" altLang="zh-CN" dirty="0" smtClean="0"/>
              <a:t>低通滤波器</a:t>
            </a:r>
            <a:r>
              <a:rPr lang="zh-CN" altLang="en-US" dirty="0" smtClean="0"/>
              <a:t>的</a:t>
            </a:r>
            <a:r>
              <a:rPr lang="zh-CN" altLang="zh-CN" dirty="0" smtClean="0"/>
              <a:t>截止频率</a:t>
            </a:r>
            <a:r>
              <a:rPr lang="zh-CN" altLang="zh-CN" dirty="0"/>
              <a:t>为</a:t>
            </a:r>
            <a:r>
              <a:rPr lang="en-US" altLang="zh-CN" dirty="0"/>
              <a:t> </a:t>
            </a:r>
            <a:r>
              <a:rPr lang="en-US" altLang="zh-CN" dirty="0" smtClean="0"/>
              <a:t>300kHz</a:t>
            </a:r>
            <a:r>
              <a:rPr lang="zh-CN" altLang="zh-CN" dirty="0" smtClean="0"/>
              <a:t>，</a:t>
            </a:r>
            <a:r>
              <a:rPr lang="zh-CN" altLang="en-US" dirty="0" smtClean="0"/>
              <a:t>输出信号</a:t>
            </a:r>
            <a:r>
              <a:rPr lang="zh-CN" altLang="zh-CN" dirty="0" smtClean="0"/>
              <a:t>峰峰值</a:t>
            </a:r>
            <a:r>
              <a:rPr lang="zh-CN" altLang="en-US" dirty="0" smtClean="0"/>
              <a:t>为</a:t>
            </a:r>
            <a:r>
              <a:rPr lang="en-US" altLang="zh-CN" dirty="0" smtClean="0"/>
              <a:t>0.1V</a:t>
            </a:r>
          </a:p>
          <a:p>
            <a:pPr marL="342900" indent="-342900">
              <a:lnSpc>
                <a:spcPct val="150000"/>
              </a:lnSpc>
              <a:buFont typeface="Arial" panose="020B0604020202020204" pitchFamily="34" charset="0"/>
              <a:buChar char="•"/>
            </a:pPr>
            <a:r>
              <a:rPr lang="zh-CN" altLang="en-US" dirty="0" smtClean="0"/>
              <a:t>设计制作位同步时钟提取电路。</a:t>
            </a:r>
            <a:r>
              <a:rPr lang="zh-CN" altLang="zh-CN" dirty="0" smtClean="0"/>
              <a:t>当</a:t>
            </a:r>
            <a:r>
              <a:rPr lang="en-US" altLang="zh-CN" dirty="0"/>
              <a:t>m</a:t>
            </a:r>
            <a:r>
              <a:rPr lang="zh-CN" altLang="zh-CN" dirty="0"/>
              <a:t>序列发生器外输入</a:t>
            </a:r>
            <a:r>
              <a:rPr lang="en-US" altLang="zh-CN" dirty="0" err="1"/>
              <a:t>ck</a:t>
            </a:r>
            <a:r>
              <a:rPr lang="en-US" altLang="zh-CN" dirty="0"/>
              <a:t> </a:t>
            </a:r>
            <a:r>
              <a:rPr lang="zh-CN" altLang="zh-CN" dirty="0"/>
              <a:t>信号</a:t>
            </a:r>
            <a:r>
              <a:rPr lang="zh-CN" altLang="zh-CN" dirty="0" smtClean="0"/>
              <a:t>频率</a:t>
            </a:r>
            <a:r>
              <a:rPr lang="zh-CN" altLang="en-US" dirty="0" smtClean="0"/>
              <a:t>在</a:t>
            </a:r>
            <a:r>
              <a:rPr lang="en-US" altLang="zh-CN" dirty="0" smtClean="0"/>
              <a:t>200kHz~240kHz</a:t>
            </a:r>
            <a:r>
              <a:rPr lang="zh-CN" altLang="zh-CN" dirty="0"/>
              <a:t>之间变化</a:t>
            </a:r>
            <a:r>
              <a:rPr lang="zh-CN" altLang="zh-CN" dirty="0" smtClean="0"/>
              <a:t>时，可</a:t>
            </a:r>
            <a:r>
              <a:rPr lang="zh-CN" altLang="zh-CN" dirty="0"/>
              <a:t>从</a:t>
            </a:r>
            <a:r>
              <a:rPr lang="en-US" altLang="zh-CN" dirty="0"/>
              <a:t>A</a:t>
            </a:r>
            <a:r>
              <a:rPr lang="zh-CN" altLang="zh-CN" dirty="0"/>
              <a:t>信号</a:t>
            </a:r>
            <a:r>
              <a:rPr lang="zh-CN" altLang="zh-CN" dirty="0" smtClean="0"/>
              <a:t>中</a:t>
            </a:r>
            <a:r>
              <a:rPr lang="zh-CN" altLang="zh-CN" dirty="0"/>
              <a:t>自适应</a:t>
            </a:r>
            <a:r>
              <a:rPr lang="zh-CN" altLang="zh-CN" dirty="0" smtClean="0"/>
              <a:t>提取</a:t>
            </a:r>
            <a:r>
              <a:rPr lang="zh-CN" altLang="zh-CN" dirty="0"/>
              <a:t>出位同步</a:t>
            </a:r>
            <a:r>
              <a:rPr lang="zh-CN" altLang="zh-CN" dirty="0" smtClean="0"/>
              <a:t>时钟</a:t>
            </a:r>
            <a:r>
              <a:rPr lang="zh-CN" altLang="en-US" dirty="0" smtClean="0"/>
              <a:t>信号</a:t>
            </a:r>
            <a:r>
              <a:rPr lang="zh-CN" altLang="zh-CN" dirty="0" smtClean="0"/>
              <a:t>，</a:t>
            </a:r>
            <a:r>
              <a:rPr lang="zh-CN" altLang="zh-CN" dirty="0"/>
              <a:t>并数字显示同步时钟的</a:t>
            </a:r>
            <a:r>
              <a:rPr lang="zh-CN" altLang="zh-CN" dirty="0" smtClean="0"/>
              <a:t>频率</a:t>
            </a:r>
            <a:r>
              <a:rPr lang="zh-CN" altLang="en-US" dirty="0" smtClean="0"/>
              <a:t>。</a:t>
            </a:r>
            <a:r>
              <a:rPr lang="zh-CN" altLang="zh-CN" dirty="0" smtClean="0"/>
              <a:t>位同步</a:t>
            </a:r>
            <a:r>
              <a:rPr lang="zh-CN" altLang="zh-CN" dirty="0"/>
              <a:t>时钟（</a:t>
            </a:r>
            <a:r>
              <a:rPr lang="en-US" altLang="zh-CN" dirty="0"/>
              <a:t>B</a:t>
            </a:r>
            <a:r>
              <a:rPr lang="zh-CN" altLang="zh-CN" dirty="0"/>
              <a:t>信号）的脉冲相位抖动</a:t>
            </a:r>
            <a:r>
              <a:rPr lang="zh-CN" altLang="zh-CN" dirty="0" smtClean="0"/>
              <a:t>量 </a:t>
            </a:r>
            <a:r>
              <a:rPr lang="en-US" altLang="zh-CN" dirty="0" err="1"/>
              <a:t>Δ</a:t>
            </a:r>
            <a:r>
              <a:rPr lang="en-US" altLang="zh-CN" baseline="-25000" dirty="0" err="1"/>
              <a:t>max</a:t>
            </a:r>
            <a:r>
              <a:rPr lang="zh-CN" altLang="zh-CN" dirty="0"/>
              <a:t>≤</a:t>
            </a:r>
            <a:r>
              <a:rPr lang="en-US" altLang="zh-CN" dirty="0"/>
              <a:t>1</a:t>
            </a:r>
            <a:r>
              <a:rPr lang="zh-CN" altLang="zh-CN" dirty="0"/>
              <a:t>个位同步时钟周期的</a:t>
            </a:r>
            <a:r>
              <a:rPr lang="en-US" altLang="zh-CN" dirty="0"/>
              <a:t>10</a:t>
            </a:r>
            <a:r>
              <a:rPr lang="en-US" altLang="zh-CN" dirty="0" smtClean="0"/>
              <a:t>%</a:t>
            </a:r>
            <a:endParaRPr lang="zh-CN" altLang="zh-CN" kern="100" dirty="0">
              <a:latin typeface="+mn-ea"/>
              <a:ea typeface="+mn-ea"/>
            </a:endParaRPr>
          </a:p>
        </p:txBody>
      </p:sp>
      <p:pic>
        <p:nvPicPr>
          <p:cNvPr id="9" name="图片 8"/>
          <p:cNvPicPr/>
          <p:nvPr/>
        </p:nvPicPr>
        <p:blipFill>
          <a:blip r:embed="rId2"/>
          <a:stretch>
            <a:fillRect/>
          </a:stretch>
        </p:blipFill>
        <p:spPr>
          <a:xfrm>
            <a:off x="1395827" y="1320800"/>
            <a:ext cx="9320514" cy="1933711"/>
          </a:xfrm>
          <a:prstGeom prst="rect">
            <a:avLst/>
          </a:prstGeom>
        </p:spPr>
      </p:pic>
    </p:spTree>
    <p:extLst>
      <p:ext uri="{BB962C8B-B14F-4D97-AF65-F5344CB8AC3E}">
        <p14:creationId xmlns:p14="http://schemas.microsoft.com/office/powerpoint/2010/main" val="2380633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11</a:t>
            </a:fld>
            <a:endParaRPr lang="en-US" altLang="zh-CN">
              <a:solidFill>
                <a:srgbClr val="FFFFFF"/>
              </a:solidFill>
            </a:endParaRPr>
          </a:p>
        </p:txBody>
      </p:sp>
      <p:sp>
        <p:nvSpPr>
          <p:cNvPr id="5" name="矩形 4"/>
          <p:cNvSpPr/>
          <p:nvPr/>
        </p:nvSpPr>
        <p:spPr>
          <a:xfrm>
            <a:off x="449943" y="994577"/>
            <a:ext cx="11132457" cy="497700"/>
          </a:xfrm>
          <a:prstGeom prst="rect">
            <a:avLst/>
          </a:prstGeom>
        </p:spPr>
        <p:txBody>
          <a:bodyPr wrap="square">
            <a:spAutoFit/>
          </a:bodyPr>
          <a:lstStyle/>
          <a:p>
            <a:pPr>
              <a:lnSpc>
                <a:spcPct val="150000"/>
              </a:lnSpc>
              <a:spcBef>
                <a:spcPts val="1200"/>
              </a:spcBef>
              <a:spcAft>
                <a:spcPts val="600"/>
              </a:spcAft>
            </a:pPr>
            <a:r>
              <a:rPr lang="en-US" altLang="zh-CN" dirty="0"/>
              <a:t>2022</a:t>
            </a:r>
            <a:r>
              <a:rPr lang="zh-CN" altLang="zh-CN" dirty="0"/>
              <a:t>年 </a:t>
            </a:r>
            <a:r>
              <a:rPr lang="en-US" altLang="zh-CN" dirty="0"/>
              <a:t>TI</a:t>
            </a:r>
            <a:r>
              <a:rPr lang="zh-CN" altLang="zh-CN" dirty="0"/>
              <a:t>杯模拟电子系统设计邀请赛</a:t>
            </a:r>
            <a:r>
              <a:rPr lang="en-US" altLang="zh-CN" dirty="0"/>
              <a:t>X</a:t>
            </a:r>
            <a:r>
              <a:rPr lang="zh-CN" altLang="zh-CN" dirty="0"/>
              <a:t>题  李萨如图形演示</a:t>
            </a:r>
            <a:r>
              <a:rPr lang="zh-CN" altLang="zh-CN" dirty="0" smtClean="0"/>
              <a:t>装置</a:t>
            </a:r>
            <a:endParaRPr lang="zh-CN" altLang="zh-CN" kern="100" dirty="0">
              <a:latin typeface="+mn-ea"/>
              <a:ea typeface="+mn-ea"/>
            </a:endParaRPr>
          </a:p>
        </p:txBody>
      </p:sp>
      <p:sp>
        <p:nvSpPr>
          <p:cNvPr id="6" name="矩形 5"/>
          <p:cNvSpPr/>
          <p:nvPr/>
        </p:nvSpPr>
        <p:spPr>
          <a:xfrm>
            <a:off x="449943" y="374477"/>
            <a:ext cx="5669705" cy="738664"/>
          </a:xfrm>
          <a:prstGeom prst="rect">
            <a:avLst/>
          </a:prstGeom>
        </p:spPr>
        <p:txBody>
          <a:bodyPr wrap="square">
            <a:spAutoFit/>
          </a:bodyPr>
          <a:lstStyle/>
          <a:p>
            <a:pPr>
              <a:lnSpc>
                <a:spcPct val="150000"/>
              </a:lnSpc>
            </a:pPr>
            <a:r>
              <a:rPr lang="zh-CN" altLang="en-US" sz="2800" dirty="0" smtClean="0">
                <a:solidFill>
                  <a:srgbClr val="FF0000"/>
                </a:solidFill>
                <a:latin typeface="隶书" panose="02010509060101010101" pitchFamily="49" charset="-122"/>
                <a:ea typeface="隶书" panose="02010509060101010101" pitchFamily="49" charset="-122"/>
              </a:rPr>
              <a:t>仪器</a:t>
            </a:r>
            <a:r>
              <a:rPr lang="zh-CN" altLang="en-US" sz="2800" dirty="0">
                <a:solidFill>
                  <a:srgbClr val="FF0000"/>
                </a:solidFill>
                <a:latin typeface="隶书" panose="02010509060101010101" pitchFamily="49" charset="-122"/>
                <a:ea typeface="隶书" panose="02010509060101010101" pitchFamily="49" charset="-122"/>
              </a:rPr>
              <a:t>类题目举例</a:t>
            </a:r>
            <a:endParaRPr lang="en-US" altLang="zh-CN" sz="2800" dirty="0">
              <a:solidFill>
                <a:srgbClr val="FF0000"/>
              </a:solidFill>
              <a:latin typeface="隶书" panose="02010509060101010101" pitchFamily="49" charset="-122"/>
              <a:ea typeface="隶书" panose="02010509060101010101" pitchFamily="49" charset="-122"/>
            </a:endParaRPr>
          </a:p>
        </p:txBody>
      </p:sp>
      <p:pic>
        <p:nvPicPr>
          <p:cNvPr id="7" name="图片 6"/>
          <p:cNvPicPr/>
          <p:nvPr/>
        </p:nvPicPr>
        <p:blipFill>
          <a:blip r:embed="rId2"/>
          <a:stretch>
            <a:fillRect/>
          </a:stretch>
        </p:blipFill>
        <p:spPr>
          <a:xfrm>
            <a:off x="2784066" y="1617120"/>
            <a:ext cx="6294619" cy="2522436"/>
          </a:xfrm>
          <a:prstGeom prst="rect">
            <a:avLst/>
          </a:prstGeom>
        </p:spPr>
      </p:pic>
      <p:sp>
        <p:nvSpPr>
          <p:cNvPr id="9" name="矩形 8"/>
          <p:cNvSpPr/>
          <p:nvPr/>
        </p:nvSpPr>
        <p:spPr>
          <a:xfrm>
            <a:off x="449943" y="4278569"/>
            <a:ext cx="11132457" cy="1938992"/>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zh-CN" dirty="0"/>
              <a:t>x</a:t>
            </a:r>
            <a:r>
              <a:rPr lang="zh-CN" altLang="zh-CN" dirty="0"/>
              <a:t>轴</a:t>
            </a:r>
            <a:r>
              <a:rPr lang="zh-CN" altLang="zh-CN" dirty="0" smtClean="0"/>
              <a:t>信号</a:t>
            </a:r>
            <a:r>
              <a:rPr lang="zh-CN" altLang="en-US" dirty="0" smtClean="0"/>
              <a:t>为正弦波，</a:t>
            </a:r>
            <a:r>
              <a:rPr lang="zh-CN" altLang="zh-CN" dirty="0" smtClean="0"/>
              <a:t>峰</a:t>
            </a:r>
            <a:r>
              <a:rPr lang="zh-CN" altLang="zh-CN" dirty="0"/>
              <a:t>峰值</a:t>
            </a:r>
            <a:r>
              <a:rPr lang="en-US" altLang="zh-CN" dirty="0"/>
              <a:t>2V</a:t>
            </a:r>
            <a:r>
              <a:rPr lang="zh-CN" altLang="zh-CN" dirty="0"/>
              <a:t>，频率</a:t>
            </a:r>
            <a:r>
              <a:rPr lang="en-US" altLang="zh-CN" dirty="0" smtClean="0"/>
              <a:t>1.5kHz~2kHz</a:t>
            </a:r>
            <a:r>
              <a:rPr lang="zh-CN" altLang="en-US" dirty="0" smtClean="0"/>
              <a:t>可变</a:t>
            </a:r>
            <a:endParaRPr lang="en-US" altLang="zh-CN" dirty="0" smtClean="0"/>
          </a:p>
          <a:p>
            <a:pPr marL="342900" indent="-342900">
              <a:lnSpc>
                <a:spcPct val="150000"/>
              </a:lnSpc>
              <a:buFont typeface="Arial" panose="020B0604020202020204" pitchFamily="34" charset="0"/>
              <a:buChar char="•"/>
            </a:pPr>
            <a:r>
              <a:rPr lang="en-US" altLang="zh-CN" dirty="0" smtClean="0"/>
              <a:t>y</a:t>
            </a:r>
            <a:r>
              <a:rPr lang="zh-CN" altLang="zh-CN" dirty="0" smtClean="0"/>
              <a:t>轴</a:t>
            </a:r>
            <a:r>
              <a:rPr lang="zh-CN" altLang="en-US" dirty="0" smtClean="0"/>
              <a:t>信号频率为</a:t>
            </a:r>
            <a:r>
              <a:rPr lang="en-US" altLang="zh-CN" dirty="0" smtClean="0"/>
              <a:t>x</a:t>
            </a:r>
            <a:r>
              <a:rPr lang="zh-CN" altLang="zh-CN" dirty="0"/>
              <a:t>轴信号</a:t>
            </a:r>
            <a:r>
              <a:rPr lang="zh-CN" altLang="zh-CN" dirty="0" smtClean="0"/>
              <a:t>频率</a:t>
            </a:r>
            <a:r>
              <a:rPr lang="en-US" altLang="zh-CN" dirty="0" smtClean="0"/>
              <a:t>1~5</a:t>
            </a:r>
            <a:r>
              <a:rPr lang="zh-CN" altLang="zh-CN" dirty="0" smtClean="0"/>
              <a:t>倍</a:t>
            </a:r>
            <a:r>
              <a:rPr lang="zh-CN" altLang="en-US" dirty="0" smtClean="0"/>
              <a:t>，</a:t>
            </a:r>
            <a:r>
              <a:rPr lang="zh-CN" altLang="zh-CN" dirty="0" smtClean="0"/>
              <a:t>程控</a:t>
            </a:r>
            <a:r>
              <a:rPr lang="zh-CN" altLang="zh-CN" dirty="0"/>
              <a:t>可调，</a:t>
            </a:r>
            <a:r>
              <a:rPr lang="en-US" altLang="zh-CN" dirty="0"/>
              <a:t>1</a:t>
            </a:r>
            <a:r>
              <a:rPr lang="zh-CN" altLang="zh-CN" dirty="0"/>
              <a:t>倍步进；频率误差绝对值不大于</a:t>
            </a:r>
            <a:r>
              <a:rPr lang="en-US" altLang="zh-CN" dirty="0" smtClean="0"/>
              <a:t>100Hz</a:t>
            </a:r>
            <a:r>
              <a:rPr lang="zh-CN" altLang="en-US" dirty="0" smtClean="0"/>
              <a:t>。</a:t>
            </a:r>
            <a:r>
              <a:rPr lang="zh-CN" altLang="zh-CN" dirty="0" smtClean="0"/>
              <a:t>峰</a:t>
            </a:r>
            <a:r>
              <a:rPr lang="zh-CN" altLang="zh-CN" dirty="0"/>
              <a:t>峰值</a:t>
            </a:r>
            <a:r>
              <a:rPr lang="en-US" altLang="zh-CN" dirty="0"/>
              <a:t>1V</a:t>
            </a:r>
            <a:r>
              <a:rPr lang="zh-CN" altLang="zh-CN" dirty="0"/>
              <a:t>、</a:t>
            </a:r>
            <a:r>
              <a:rPr lang="en-US" altLang="zh-CN" dirty="0"/>
              <a:t>2V</a:t>
            </a:r>
            <a:r>
              <a:rPr lang="zh-CN" altLang="zh-CN" dirty="0"/>
              <a:t>、</a:t>
            </a:r>
            <a:r>
              <a:rPr lang="en-US" altLang="zh-CN" dirty="0"/>
              <a:t>3V</a:t>
            </a:r>
            <a:r>
              <a:rPr lang="zh-CN" altLang="zh-CN" dirty="0"/>
              <a:t>程控可选，幅度误差绝对值不大于</a:t>
            </a:r>
            <a:r>
              <a:rPr lang="en-US" altLang="zh-CN" dirty="0" smtClean="0"/>
              <a:t>0.1V</a:t>
            </a:r>
            <a:r>
              <a:rPr lang="zh-CN" altLang="en-US" dirty="0" smtClean="0"/>
              <a:t>。</a:t>
            </a:r>
            <a:r>
              <a:rPr lang="zh-CN" altLang="zh-CN" dirty="0" smtClean="0"/>
              <a:t>可</a:t>
            </a:r>
            <a:r>
              <a:rPr lang="zh-CN" altLang="zh-CN" dirty="0"/>
              <a:t>转换为相应的三角波信号</a:t>
            </a:r>
            <a:r>
              <a:rPr lang="zh-CN" altLang="zh-CN" dirty="0" smtClean="0"/>
              <a:t>。</a:t>
            </a:r>
            <a:endParaRPr lang="en-US" altLang="zh-CN" dirty="0" smtClean="0"/>
          </a:p>
          <a:p>
            <a:pPr marL="342900" indent="-342900">
              <a:lnSpc>
                <a:spcPct val="150000"/>
              </a:lnSpc>
              <a:buFont typeface="Arial" panose="020B0604020202020204" pitchFamily="34" charset="0"/>
              <a:buChar char="•"/>
            </a:pPr>
            <a:r>
              <a:rPr lang="zh-CN" altLang="en-US" dirty="0" smtClean="0"/>
              <a:t>规定信号变换部分只能用模拟电路设计，且限定器件清单</a:t>
            </a:r>
            <a:endParaRPr lang="zh-CN" altLang="zh-CN" dirty="0"/>
          </a:p>
        </p:txBody>
      </p:sp>
    </p:spTree>
    <p:extLst>
      <p:ext uri="{BB962C8B-B14F-4D97-AF65-F5344CB8AC3E}">
        <p14:creationId xmlns:p14="http://schemas.microsoft.com/office/powerpoint/2010/main" val="2666971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12</a:t>
            </a:fld>
            <a:endParaRPr lang="en-US" altLang="zh-CN">
              <a:solidFill>
                <a:srgbClr val="FFFFFF"/>
              </a:solidFill>
            </a:endParaRPr>
          </a:p>
        </p:txBody>
      </p:sp>
      <p:sp>
        <p:nvSpPr>
          <p:cNvPr id="5" name="矩形 4"/>
          <p:cNvSpPr/>
          <p:nvPr/>
        </p:nvSpPr>
        <p:spPr>
          <a:xfrm>
            <a:off x="435430" y="594994"/>
            <a:ext cx="7946572" cy="400110"/>
          </a:xfrm>
          <a:prstGeom prst="rect">
            <a:avLst/>
          </a:prstGeom>
        </p:spPr>
        <p:txBody>
          <a:bodyPr wrap="square">
            <a:spAutoFit/>
          </a:bodyPr>
          <a:lstStyle/>
          <a:p>
            <a:r>
              <a:rPr lang="en-US"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2020</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年</a:t>
            </a:r>
            <a:r>
              <a:rPr lang="en-US"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TI</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杯赛</a:t>
            </a:r>
            <a:r>
              <a:rPr lang="en-US"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E</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题</a:t>
            </a:r>
            <a:r>
              <a:rPr lang="zh-CN" altLang="zh-CN" kern="0" dirty="0">
                <a:solidFill>
                  <a:srgbClr val="444444"/>
                </a:solidFill>
                <a:ea typeface="Arial Unicode MS" panose="020B0604020202020204" pitchFamily="34" charset="-122"/>
                <a:cs typeface="Tahoma" panose="020B0604030504040204" pitchFamily="34" charset="0"/>
              </a:rPr>
              <a:t>  </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放大器非线性失真研究装置</a:t>
            </a:r>
            <a:endParaRPr lang="zh-CN" altLang="en-US" dirty="0"/>
          </a:p>
        </p:txBody>
      </p:sp>
      <p:pic>
        <p:nvPicPr>
          <p:cNvPr id="6" name="图片 5"/>
          <p:cNvPicPr/>
          <p:nvPr/>
        </p:nvPicPr>
        <p:blipFill>
          <a:blip r:embed="rId2"/>
          <a:stretch>
            <a:fillRect/>
          </a:stretch>
        </p:blipFill>
        <p:spPr>
          <a:xfrm>
            <a:off x="3951869" y="1162368"/>
            <a:ext cx="4201177" cy="2731459"/>
          </a:xfrm>
          <a:prstGeom prst="rect">
            <a:avLst/>
          </a:prstGeom>
        </p:spPr>
      </p:pic>
      <p:sp>
        <p:nvSpPr>
          <p:cNvPr id="7" name="矩形 6"/>
          <p:cNvSpPr/>
          <p:nvPr/>
        </p:nvSpPr>
        <p:spPr>
          <a:xfrm>
            <a:off x="435430" y="4061092"/>
            <a:ext cx="11234056" cy="1938992"/>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zh-CN" kern="100" dirty="0">
                <a:latin typeface="+mn-ea"/>
                <a:ea typeface="+mn-ea"/>
              </a:rPr>
              <a:t>外接信号源输出频率</a:t>
            </a:r>
            <a:r>
              <a:rPr lang="en-US" altLang="zh-CN" kern="100" dirty="0">
                <a:latin typeface="+mn-ea"/>
                <a:ea typeface="+mn-ea"/>
              </a:rPr>
              <a:t>1kHz</a:t>
            </a:r>
            <a:r>
              <a:rPr lang="zh-CN" altLang="zh-CN" kern="100" dirty="0">
                <a:latin typeface="+mn-ea"/>
                <a:ea typeface="+mn-ea"/>
              </a:rPr>
              <a:t>、峰峰值</a:t>
            </a:r>
            <a:r>
              <a:rPr lang="en-US" altLang="zh-CN" kern="100" dirty="0">
                <a:latin typeface="+mn-ea"/>
                <a:ea typeface="+mn-ea"/>
              </a:rPr>
              <a:t>20mV</a:t>
            </a:r>
            <a:r>
              <a:rPr lang="zh-CN" altLang="zh-CN" kern="100" dirty="0">
                <a:latin typeface="+mn-ea"/>
                <a:ea typeface="+mn-ea"/>
              </a:rPr>
              <a:t>的正弦波作为晶体管放大器输入电压，要求</a:t>
            </a:r>
            <a:r>
              <a:rPr lang="zh-CN" altLang="en-US" kern="100" dirty="0">
                <a:latin typeface="+mn-ea"/>
                <a:ea typeface="+mn-ea"/>
              </a:rPr>
              <a:t>能够</a:t>
            </a:r>
            <a:r>
              <a:rPr lang="zh-CN" altLang="zh-CN" kern="100" dirty="0">
                <a:latin typeface="+mn-ea"/>
                <a:ea typeface="+mn-ea"/>
              </a:rPr>
              <a:t>输出无明显失真</a:t>
            </a:r>
            <a:r>
              <a:rPr lang="zh-CN" altLang="en-US" kern="100" dirty="0">
                <a:latin typeface="+mn-ea"/>
                <a:ea typeface="+mn-ea"/>
              </a:rPr>
              <a:t>波形</a:t>
            </a:r>
            <a:r>
              <a:rPr lang="zh-CN" altLang="zh-CN" kern="100" dirty="0">
                <a:latin typeface="+mn-ea"/>
                <a:ea typeface="+mn-ea"/>
              </a:rPr>
              <a:t>及四种失真波形，</a:t>
            </a:r>
            <a:r>
              <a:rPr lang="en-US" altLang="zh-CN" i="1" kern="100" dirty="0" err="1">
                <a:latin typeface="+mn-ea"/>
                <a:ea typeface="+mn-ea"/>
              </a:rPr>
              <a:t>u</a:t>
            </a:r>
            <a:r>
              <a:rPr lang="en-US" altLang="zh-CN" i="1" kern="100" baseline="-25000" dirty="0" err="1">
                <a:latin typeface="+mn-ea"/>
                <a:ea typeface="+mn-ea"/>
              </a:rPr>
              <a:t>o</a:t>
            </a:r>
            <a:r>
              <a:rPr lang="zh-CN" altLang="zh-CN" kern="100" dirty="0">
                <a:latin typeface="+mn-ea"/>
                <a:ea typeface="+mn-ea"/>
              </a:rPr>
              <a:t>的峰峰值不低于</a:t>
            </a:r>
            <a:r>
              <a:rPr lang="en-US" altLang="zh-CN" kern="100" dirty="0">
                <a:latin typeface="+mn-ea"/>
                <a:ea typeface="+mn-ea"/>
              </a:rPr>
              <a:t>2V</a:t>
            </a:r>
            <a:r>
              <a:rPr lang="zh-CN" altLang="en-US" kern="100" dirty="0">
                <a:latin typeface="+mn-ea"/>
                <a:ea typeface="+mn-ea"/>
              </a:rPr>
              <a:t>。四种失真分别为</a:t>
            </a:r>
            <a:r>
              <a:rPr lang="zh-CN" altLang="zh-CN" kern="100" dirty="0">
                <a:latin typeface="+mn-ea"/>
                <a:ea typeface="+mn-ea"/>
              </a:rPr>
              <a:t>“顶部失真”</a:t>
            </a:r>
            <a:r>
              <a:rPr lang="zh-CN" altLang="en-US" kern="100" dirty="0">
                <a:latin typeface="+mn-ea"/>
                <a:ea typeface="+mn-ea"/>
              </a:rPr>
              <a:t>、</a:t>
            </a:r>
            <a:r>
              <a:rPr lang="zh-CN" altLang="zh-CN" kern="100" dirty="0">
                <a:latin typeface="+mn-ea"/>
                <a:ea typeface="+mn-ea"/>
              </a:rPr>
              <a:t>“底部失真”</a:t>
            </a:r>
            <a:r>
              <a:rPr lang="zh-CN" altLang="en-US" kern="100" dirty="0">
                <a:latin typeface="+mn-ea"/>
                <a:ea typeface="+mn-ea"/>
              </a:rPr>
              <a:t>、</a:t>
            </a:r>
            <a:r>
              <a:rPr lang="zh-CN" altLang="zh-CN" kern="100" dirty="0">
                <a:latin typeface="+mn-ea"/>
                <a:ea typeface="+mn-ea"/>
              </a:rPr>
              <a:t>“双向失真”</a:t>
            </a:r>
            <a:r>
              <a:rPr lang="zh-CN" altLang="en-US" kern="100" dirty="0">
                <a:latin typeface="+mn-ea"/>
                <a:ea typeface="+mn-ea"/>
              </a:rPr>
              <a:t>、</a:t>
            </a:r>
            <a:r>
              <a:rPr lang="zh-CN" altLang="zh-CN" kern="100" dirty="0">
                <a:latin typeface="+mn-ea"/>
                <a:ea typeface="+mn-ea"/>
              </a:rPr>
              <a:t>“交越失真”</a:t>
            </a:r>
          </a:p>
          <a:p>
            <a:pPr marL="342900" indent="-342900">
              <a:lnSpc>
                <a:spcPct val="150000"/>
              </a:lnSpc>
              <a:buFont typeface="Arial" panose="020B0604020202020204" pitchFamily="34" charset="0"/>
              <a:buChar char="•"/>
            </a:pPr>
            <a:r>
              <a:rPr lang="zh-CN" altLang="zh-CN" dirty="0">
                <a:latin typeface="+mn-ea"/>
                <a:ea typeface="+mn-ea"/>
                <a:cs typeface="Times New Roman" panose="02020603050405020304" pitchFamily="18" charset="0"/>
              </a:rPr>
              <a:t>分别测量并显示上述五种输出电压</a:t>
            </a:r>
            <a:r>
              <a:rPr lang="en-US" altLang="zh-CN" i="1" dirty="0" err="1">
                <a:latin typeface="+mn-ea"/>
                <a:ea typeface="+mn-ea"/>
              </a:rPr>
              <a:t>u</a:t>
            </a:r>
            <a:r>
              <a:rPr lang="en-US" altLang="zh-CN" i="1" baseline="-25000" dirty="0" err="1">
                <a:latin typeface="+mn-ea"/>
                <a:ea typeface="+mn-ea"/>
              </a:rPr>
              <a:t>o</a:t>
            </a:r>
            <a:r>
              <a:rPr lang="zh-CN" altLang="zh-CN" dirty="0">
                <a:latin typeface="+mn-ea"/>
                <a:ea typeface="+mn-ea"/>
                <a:cs typeface="Times New Roman" panose="02020603050405020304" pitchFamily="18" charset="0"/>
              </a:rPr>
              <a:t>的“总谐波失真”近似值</a:t>
            </a:r>
            <a:endParaRPr lang="zh-CN" altLang="en-US" dirty="0">
              <a:latin typeface="+mn-ea"/>
              <a:ea typeface="+mn-ea"/>
            </a:endParaRPr>
          </a:p>
        </p:txBody>
      </p:sp>
    </p:spTree>
    <p:extLst>
      <p:ext uri="{BB962C8B-B14F-4D97-AF65-F5344CB8AC3E}">
        <p14:creationId xmlns:p14="http://schemas.microsoft.com/office/powerpoint/2010/main" val="15627927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13</a:t>
            </a:fld>
            <a:endParaRPr lang="en-US" altLang="zh-CN">
              <a:solidFill>
                <a:srgbClr val="FFFFFF"/>
              </a:solidFill>
            </a:endParaRPr>
          </a:p>
        </p:txBody>
      </p:sp>
      <p:sp>
        <p:nvSpPr>
          <p:cNvPr id="5" name="矩形 4"/>
          <p:cNvSpPr/>
          <p:nvPr/>
        </p:nvSpPr>
        <p:spPr>
          <a:xfrm>
            <a:off x="355600" y="482152"/>
            <a:ext cx="9819019" cy="553998"/>
          </a:xfrm>
          <a:prstGeom prst="rect">
            <a:avLst/>
          </a:prstGeom>
        </p:spPr>
        <p:txBody>
          <a:bodyPr wrap="square">
            <a:spAutoFit/>
          </a:bodyPr>
          <a:lstStyle/>
          <a:p>
            <a:pPr>
              <a:lnSpc>
                <a:spcPct val="150000"/>
              </a:lnSpc>
            </a:pPr>
            <a:r>
              <a:rPr lang="en-US" altLang="zh-CN" dirty="0"/>
              <a:t>2013</a:t>
            </a:r>
            <a:r>
              <a:rPr lang="zh-CN" altLang="zh-CN" dirty="0"/>
              <a:t>年全国赛</a:t>
            </a:r>
            <a:r>
              <a:rPr lang="en-US" altLang="zh-CN" dirty="0"/>
              <a:t>E</a:t>
            </a:r>
            <a:r>
              <a:rPr lang="zh-CN" altLang="zh-CN" dirty="0"/>
              <a:t>题  简易频率特性测试仪</a:t>
            </a:r>
            <a:endParaRPr lang="zh-CN" altLang="en-US" sz="900" dirty="0">
              <a:latin typeface="+mn-ea"/>
            </a:endParaRPr>
          </a:p>
        </p:txBody>
      </p:sp>
      <p:pic>
        <p:nvPicPr>
          <p:cNvPr id="6" name="图片 5"/>
          <p:cNvPicPr/>
          <p:nvPr/>
        </p:nvPicPr>
        <p:blipFill>
          <a:blip r:embed="rId2"/>
          <a:stretch>
            <a:fillRect/>
          </a:stretch>
        </p:blipFill>
        <p:spPr>
          <a:xfrm>
            <a:off x="2316387" y="1229789"/>
            <a:ext cx="7016194" cy="2039684"/>
          </a:xfrm>
          <a:prstGeom prst="rect">
            <a:avLst/>
          </a:prstGeom>
        </p:spPr>
      </p:pic>
      <p:sp>
        <p:nvSpPr>
          <p:cNvPr id="7" name="矩形 6"/>
          <p:cNvSpPr/>
          <p:nvPr/>
        </p:nvSpPr>
        <p:spPr>
          <a:xfrm>
            <a:off x="355600" y="3412366"/>
            <a:ext cx="11321143" cy="2862322"/>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en-US" kern="100" dirty="0">
                <a:latin typeface="Arial" panose="020B0604020202020204" pitchFamily="34" charset="0"/>
                <a:ea typeface="+mn-ea"/>
              </a:rPr>
              <a:t>制作</a:t>
            </a:r>
            <a:r>
              <a:rPr lang="zh-CN" altLang="zh-CN" kern="100" dirty="0">
                <a:latin typeface="Arial" panose="020B0604020202020204" pitchFamily="34" charset="0"/>
                <a:ea typeface="+mn-ea"/>
              </a:rPr>
              <a:t>正交扫频信号源</a:t>
            </a:r>
            <a:r>
              <a:rPr lang="zh-CN" altLang="en-US" kern="100" dirty="0">
                <a:latin typeface="Arial" panose="020B0604020202020204" pitchFamily="34" charset="0"/>
                <a:ea typeface="+mn-ea"/>
              </a:rPr>
              <a:t>，</a:t>
            </a:r>
            <a:r>
              <a:rPr lang="zh-CN" altLang="zh-CN" kern="100" dirty="0">
                <a:latin typeface="Arial" panose="020B0604020202020204" pitchFamily="34" charset="0"/>
                <a:ea typeface="+mn-ea"/>
              </a:rPr>
              <a:t>频率范围</a:t>
            </a:r>
            <a:r>
              <a:rPr lang="en-US" altLang="zh-CN" kern="100" dirty="0">
                <a:latin typeface="Arial" panose="020B0604020202020204" pitchFamily="34" charset="0"/>
                <a:ea typeface="+mn-ea"/>
              </a:rPr>
              <a:t>1MHz~40MHz</a:t>
            </a:r>
            <a:r>
              <a:rPr lang="zh-CN" altLang="zh-CN" kern="100" dirty="0">
                <a:latin typeface="Arial" panose="020B0604020202020204" pitchFamily="34" charset="0"/>
                <a:ea typeface="+mn-ea"/>
              </a:rPr>
              <a:t>，频率稳定度≤</a:t>
            </a:r>
            <a:r>
              <a:rPr lang="en-US" altLang="zh-CN" kern="100" dirty="0">
                <a:latin typeface="Arial" panose="020B0604020202020204" pitchFamily="34" charset="0"/>
                <a:ea typeface="+mn-ea"/>
              </a:rPr>
              <a:t>10</a:t>
            </a:r>
            <a:r>
              <a:rPr lang="en-US" altLang="zh-CN" kern="100" baseline="30000" dirty="0">
                <a:latin typeface="Arial" panose="020B0604020202020204" pitchFamily="34" charset="0"/>
                <a:ea typeface="+mn-ea"/>
              </a:rPr>
              <a:t>-4</a:t>
            </a:r>
          </a:p>
          <a:p>
            <a:pPr marL="342900" indent="-342900" algn="just">
              <a:lnSpc>
                <a:spcPct val="150000"/>
              </a:lnSpc>
              <a:spcAft>
                <a:spcPts val="0"/>
              </a:spcAft>
              <a:buFont typeface="Arial" panose="020B0604020202020204" pitchFamily="34" charset="0"/>
              <a:buChar char="•"/>
            </a:pPr>
            <a:r>
              <a:rPr lang="zh-CN" altLang="zh-CN" kern="100" dirty="0">
                <a:latin typeface="Arial" panose="020B0604020202020204" pitchFamily="34" charset="0"/>
                <a:ea typeface="+mn-ea"/>
              </a:rPr>
              <a:t>频率可设置</a:t>
            </a:r>
            <a:r>
              <a:rPr lang="zh-CN" altLang="en-US" kern="100" dirty="0">
                <a:latin typeface="Arial" panose="020B0604020202020204" pitchFamily="34" charset="0"/>
                <a:ea typeface="+mn-ea"/>
              </a:rPr>
              <a:t>、</a:t>
            </a:r>
            <a:r>
              <a:rPr lang="zh-CN" altLang="zh-CN" kern="100" dirty="0">
                <a:latin typeface="Arial" panose="020B0604020202020204" pitchFamily="34" charset="0"/>
                <a:ea typeface="+mn-ea"/>
              </a:rPr>
              <a:t>可扫频，最小</a:t>
            </a:r>
            <a:r>
              <a:rPr lang="zh-CN" altLang="en-US" kern="100" dirty="0">
                <a:latin typeface="Arial" panose="020B0604020202020204" pitchFamily="34" charset="0"/>
                <a:ea typeface="+mn-ea"/>
              </a:rPr>
              <a:t>步进</a:t>
            </a:r>
            <a:r>
              <a:rPr lang="en-US" altLang="zh-CN" kern="100" dirty="0">
                <a:latin typeface="Arial" panose="020B0604020202020204" pitchFamily="34" charset="0"/>
                <a:ea typeface="+mn-ea"/>
              </a:rPr>
              <a:t>100kHz</a:t>
            </a:r>
            <a:r>
              <a:rPr lang="zh-CN" altLang="zh-CN" kern="100" dirty="0">
                <a:latin typeface="Arial" panose="020B0604020202020204" pitchFamily="34" charset="0"/>
                <a:ea typeface="+mn-ea"/>
              </a:rPr>
              <a:t>。信号电压的峰峰值≥</a:t>
            </a:r>
            <a:r>
              <a:rPr lang="en-US" altLang="zh-CN" kern="100" dirty="0">
                <a:latin typeface="Arial" panose="020B0604020202020204" pitchFamily="34" charset="0"/>
                <a:ea typeface="+mn-ea"/>
              </a:rPr>
              <a:t>1V</a:t>
            </a:r>
            <a:r>
              <a:rPr lang="zh-CN" altLang="zh-CN" kern="100" dirty="0">
                <a:latin typeface="Arial" panose="020B0604020202020204" pitchFamily="34" charset="0"/>
                <a:ea typeface="+mn-ea"/>
              </a:rPr>
              <a:t>，幅度平坦度≤</a:t>
            </a:r>
            <a:r>
              <a:rPr lang="en-US" altLang="zh-CN" kern="100" dirty="0">
                <a:latin typeface="Arial" panose="020B0604020202020204" pitchFamily="34" charset="0"/>
                <a:ea typeface="+mn-ea"/>
              </a:rPr>
              <a:t>5%</a:t>
            </a:r>
            <a:r>
              <a:rPr lang="zh-CN" altLang="en-US" kern="100" dirty="0">
                <a:latin typeface="Arial" panose="020B0604020202020204" pitchFamily="34" charset="0"/>
                <a:ea typeface="+mn-ea"/>
              </a:rPr>
              <a:t>，</a:t>
            </a:r>
            <a:r>
              <a:rPr lang="zh-CN" altLang="zh-CN" kern="100" dirty="0">
                <a:latin typeface="Arial" panose="020B0604020202020204" pitchFamily="34" charset="0"/>
                <a:ea typeface="+mn-ea"/>
              </a:rPr>
              <a:t>相位差误差≤</a:t>
            </a:r>
            <a:r>
              <a:rPr lang="en-US" altLang="zh-CN" kern="100" dirty="0">
                <a:latin typeface="Arial" panose="020B0604020202020204" pitchFamily="34" charset="0"/>
                <a:ea typeface="+mn-ea"/>
              </a:rPr>
              <a:t>5</a:t>
            </a:r>
            <a:r>
              <a:rPr lang="zh-CN" altLang="zh-CN" kern="100" dirty="0">
                <a:latin typeface="Arial" panose="020B0604020202020204" pitchFamily="34" charset="0"/>
                <a:ea typeface="+mn-ea"/>
              </a:rPr>
              <a:t>º，幅度平衡误差≤</a:t>
            </a:r>
            <a:r>
              <a:rPr lang="en-US" altLang="zh-CN" kern="100" dirty="0">
                <a:latin typeface="Arial" panose="020B0604020202020204" pitchFamily="34" charset="0"/>
                <a:ea typeface="+mn-ea"/>
              </a:rPr>
              <a:t>5%</a:t>
            </a:r>
            <a:endParaRPr lang="zh-CN" altLang="zh-CN" kern="100" dirty="0">
              <a:latin typeface="Arial" panose="020B0604020202020204" pitchFamily="34" charset="0"/>
              <a:ea typeface="+mn-ea"/>
            </a:endParaRPr>
          </a:p>
          <a:p>
            <a:pPr marL="342900" indent="-342900" algn="just">
              <a:lnSpc>
                <a:spcPct val="150000"/>
              </a:lnSpc>
              <a:spcAft>
                <a:spcPts val="0"/>
              </a:spcAft>
              <a:buFont typeface="Arial" panose="020B0604020202020204" pitchFamily="34" charset="0"/>
              <a:buChar char="•"/>
            </a:pPr>
            <a:r>
              <a:rPr lang="zh-CN" altLang="en-US" kern="100" dirty="0">
                <a:latin typeface="Arial" panose="020B0604020202020204" pitchFamily="34" charset="0"/>
                <a:ea typeface="+mn-ea"/>
              </a:rPr>
              <a:t>基于上述</a:t>
            </a:r>
            <a:r>
              <a:rPr lang="zh-CN" altLang="zh-CN" kern="100" dirty="0">
                <a:latin typeface="Arial" panose="020B0604020202020204" pitchFamily="34" charset="0"/>
                <a:ea typeface="+mn-ea"/>
              </a:rPr>
              <a:t>正交扫频信号源制作频率特性测试仪</a:t>
            </a:r>
          </a:p>
          <a:p>
            <a:pPr marL="342900" indent="-342900" algn="just">
              <a:lnSpc>
                <a:spcPct val="150000"/>
              </a:lnSpc>
              <a:spcAft>
                <a:spcPts val="0"/>
              </a:spcAft>
              <a:buFont typeface="Arial" panose="020B0604020202020204" pitchFamily="34" charset="0"/>
              <a:buChar char="•"/>
            </a:pPr>
            <a:r>
              <a:rPr lang="zh-CN" altLang="zh-CN" kern="100" dirty="0">
                <a:latin typeface="Arial" panose="020B0604020202020204" pitchFamily="34" charset="0"/>
                <a:ea typeface="+mn-ea"/>
              </a:rPr>
              <a:t>制作一个</a:t>
            </a:r>
            <a:r>
              <a:rPr lang="en-US" altLang="zh-CN" kern="100" dirty="0">
                <a:latin typeface="Arial" panose="020B0604020202020204" pitchFamily="34" charset="0"/>
                <a:ea typeface="+mn-ea"/>
              </a:rPr>
              <a:t> RLC </a:t>
            </a:r>
            <a:r>
              <a:rPr lang="zh-CN" altLang="zh-CN" kern="100" dirty="0">
                <a:latin typeface="Arial" panose="020B0604020202020204" pitchFamily="34" charset="0"/>
                <a:ea typeface="+mn-ea"/>
              </a:rPr>
              <a:t>串联谐振电路</a:t>
            </a:r>
            <a:r>
              <a:rPr lang="zh-CN" altLang="en-US" kern="100" dirty="0">
                <a:latin typeface="Arial" panose="020B0604020202020204" pitchFamily="34" charset="0"/>
                <a:ea typeface="+mn-ea"/>
              </a:rPr>
              <a:t>，对它进行</a:t>
            </a:r>
            <a:r>
              <a:rPr lang="zh-CN" altLang="zh-CN" kern="100" dirty="0">
                <a:latin typeface="Arial" panose="020B0604020202020204" pitchFamily="34" charset="0"/>
                <a:ea typeface="+mn-ea"/>
              </a:rPr>
              <a:t>扫频测量，</a:t>
            </a:r>
            <a:r>
              <a:rPr lang="zh-CN" altLang="en-US" kern="100" dirty="0">
                <a:latin typeface="Arial" panose="020B0604020202020204" pitchFamily="34" charset="0"/>
                <a:ea typeface="+mn-ea"/>
              </a:rPr>
              <a:t>定量</a:t>
            </a:r>
            <a:r>
              <a:rPr lang="zh-CN" altLang="zh-CN" kern="100" dirty="0">
                <a:latin typeface="Arial" panose="020B0604020202020204" pitchFamily="34" charset="0"/>
                <a:ea typeface="+mn-ea"/>
              </a:rPr>
              <a:t>显示其中心频率</a:t>
            </a:r>
            <a:r>
              <a:rPr lang="zh-CN" altLang="en-US" kern="100" dirty="0">
                <a:latin typeface="Arial" panose="020B0604020202020204" pitchFamily="34" charset="0"/>
                <a:ea typeface="+mn-ea"/>
              </a:rPr>
              <a:t>、</a:t>
            </a:r>
            <a:r>
              <a:rPr lang="en-US" altLang="zh-CN" kern="100" dirty="0">
                <a:latin typeface="Arial" panose="020B0604020202020204" pitchFamily="34" charset="0"/>
                <a:ea typeface="+mn-ea"/>
              </a:rPr>
              <a:t>-3dB</a:t>
            </a:r>
            <a:r>
              <a:rPr lang="zh-CN" altLang="zh-CN" kern="100" dirty="0">
                <a:latin typeface="Arial" panose="020B0604020202020204" pitchFamily="34" charset="0"/>
                <a:ea typeface="+mn-ea"/>
              </a:rPr>
              <a:t>带宽，</a:t>
            </a:r>
            <a:r>
              <a:rPr lang="zh-CN" altLang="zh-CN" dirty="0">
                <a:latin typeface="Arial" panose="020B0604020202020204" pitchFamily="34" charset="0"/>
                <a:ea typeface="+mn-ea"/>
                <a:cs typeface="Times New Roman" panose="02020603050405020304" pitchFamily="18" charset="0"/>
              </a:rPr>
              <a:t>幅频特性曲线</a:t>
            </a:r>
            <a:r>
              <a:rPr lang="zh-CN" altLang="en-US" dirty="0">
                <a:latin typeface="Arial" panose="020B0604020202020204" pitchFamily="34" charset="0"/>
                <a:ea typeface="+mn-ea"/>
                <a:cs typeface="Times New Roman" panose="02020603050405020304" pitchFamily="18" charset="0"/>
              </a:rPr>
              <a:t>、</a:t>
            </a:r>
            <a:r>
              <a:rPr lang="zh-CN" altLang="zh-CN" dirty="0">
                <a:latin typeface="Arial" panose="020B0604020202020204" pitchFamily="34" charset="0"/>
                <a:ea typeface="+mn-ea"/>
                <a:cs typeface="Times New Roman" panose="02020603050405020304" pitchFamily="18" charset="0"/>
              </a:rPr>
              <a:t>相频特性曲线</a:t>
            </a:r>
            <a:endParaRPr lang="zh-CN" altLang="en-US" dirty="0">
              <a:latin typeface="Arial" panose="020B0604020202020204" pitchFamily="34" charset="0"/>
              <a:ea typeface="+mn-ea"/>
            </a:endParaRPr>
          </a:p>
        </p:txBody>
      </p:sp>
    </p:spTree>
    <p:extLst>
      <p:ext uri="{BB962C8B-B14F-4D97-AF65-F5344CB8AC3E}">
        <p14:creationId xmlns:p14="http://schemas.microsoft.com/office/powerpoint/2010/main" val="36975969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14</a:t>
            </a:fld>
            <a:endParaRPr lang="en-US" altLang="zh-CN">
              <a:solidFill>
                <a:srgbClr val="FFFFFF"/>
              </a:solidFill>
            </a:endParaRPr>
          </a:p>
        </p:txBody>
      </p:sp>
      <p:sp>
        <p:nvSpPr>
          <p:cNvPr id="5" name="矩形 4"/>
          <p:cNvSpPr/>
          <p:nvPr/>
        </p:nvSpPr>
        <p:spPr>
          <a:xfrm>
            <a:off x="478972" y="502896"/>
            <a:ext cx="7509570" cy="400110"/>
          </a:xfrm>
          <a:prstGeom prst="rect">
            <a:avLst/>
          </a:prstGeom>
        </p:spPr>
        <p:txBody>
          <a:bodyPr wrap="square">
            <a:spAutoFit/>
          </a:bodyPr>
          <a:lstStyle/>
          <a:p>
            <a:r>
              <a:rPr lang="en-US"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2015</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年全国赛</a:t>
            </a:r>
            <a:r>
              <a:rPr lang="en-US"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E</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题</a:t>
            </a:r>
            <a:r>
              <a:rPr lang="zh-CN" altLang="zh-CN" kern="0" dirty="0">
                <a:solidFill>
                  <a:srgbClr val="444444"/>
                </a:solidFill>
                <a:ea typeface="Arial Unicode MS" panose="020B0604020202020204" pitchFamily="34" charset="-122"/>
                <a:cs typeface="Tahoma" panose="020B0604030504040204" pitchFamily="34" charset="0"/>
              </a:rPr>
              <a:t>  </a:t>
            </a:r>
            <a:r>
              <a:rPr lang="en-US" altLang="zh-CN" kern="0" dirty="0">
                <a:solidFill>
                  <a:srgbClr val="444444"/>
                </a:solidFill>
                <a:ea typeface="Arial Unicode MS" panose="020B0604020202020204" pitchFamily="34" charset="-122"/>
                <a:cs typeface="Tahoma" panose="020B0604030504040204" pitchFamily="34" charset="0"/>
              </a:rPr>
              <a:t>80MHz~100MHz</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频谱分析仪</a:t>
            </a:r>
            <a:endParaRPr lang="zh-CN" altLang="en-US" dirty="0"/>
          </a:p>
        </p:txBody>
      </p:sp>
      <p:pic>
        <p:nvPicPr>
          <p:cNvPr id="6" name="图片 5"/>
          <p:cNvPicPr/>
          <p:nvPr/>
        </p:nvPicPr>
        <p:blipFill>
          <a:blip r:embed="rId2"/>
          <a:stretch>
            <a:fillRect/>
          </a:stretch>
        </p:blipFill>
        <p:spPr>
          <a:xfrm>
            <a:off x="3676374" y="994420"/>
            <a:ext cx="4625797" cy="2322094"/>
          </a:xfrm>
          <a:prstGeom prst="rect">
            <a:avLst/>
          </a:prstGeom>
        </p:spPr>
      </p:pic>
      <p:sp>
        <p:nvSpPr>
          <p:cNvPr id="7" name="矩形 6"/>
          <p:cNvSpPr/>
          <p:nvPr/>
        </p:nvSpPr>
        <p:spPr>
          <a:xfrm>
            <a:off x="478972" y="3396815"/>
            <a:ext cx="11125198" cy="2862322"/>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zh-CN" kern="100" dirty="0">
                <a:latin typeface="+mn-ea"/>
                <a:ea typeface="+mn-ea"/>
              </a:rPr>
              <a:t>制作一个基于锁相环的本振源：</a:t>
            </a:r>
          </a:p>
          <a:p>
            <a:pPr algn="just">
              <a:lnSpc>
                <a:spcPct val="150000"/>
              </a:lnSpc>
              <a:spcAft>
                <a:spcPts val="0"/>
              </a:spcAft>
            </a:pPr>
            <a:r>
              <a:rPr lang="en-US" altLang="zh-CN" kern="100" dirty="0">
                <a:latin typeface="+mn-ea"/>
                <a:ea typeface="+mn-ea"/>
              </a:rPr>
              <a:t>    </a:t>
            </a:r>
            <a:r>
              <a:rPr lang="zh-CN" altLang="zh-CN" kern="100" dirty="0">
                <a:latin typeface="+mn-ea"/>
                <a:ea typeface="+mn-ea"/>
              </a:rPr>
              <a:t>频率范围</a:t>
            </a:r>
            <a:r>
              <a:rPr lang="en-US" altLang="zh-CN" kern="100" dirty="0">
                <a:latin typeface="+mn-ea"/>
                <a:ea typeface="+mn-ea"/>
              </a:rPr>
              <a:t> 90MHz~110MHz</a:t>
            </a:r>
            <a:r>
              <a:rPr lang="zh-CN" altLang="en-US" kern="100" dirty="0">
                <a:latin typeface="+mn-ea"/>
                <a:ea typeface="+mn-ea"/>
              </a:rPr>
              <a:t>，</a:t>
            </a:r>
            <a:r>
              <a:rPr lang="zh-CN" altLang="zh-CN" kern="100" dirty="0">
                <a:latin typeface="+mn-ea"/>
                <a:ea typeface="+mn-ea"/>
              </a:rPr>
              <a:t>步进</a:t>
            </a:r>
            <a:r>
              <a:rPr lang="en-US" altLang="zh-CN" kern="100" dirty="0">
                <a:latin typeface="+mn-ea"/>
                <a:ea typeface="+mn-ea"/>
              </a:rPr>
              <a:t> 100kHz</a:t>
            </a:r>
            <a:r>
              <a:rPr lang="zh-CN" altLang="en-US" kern="100" dirty="0">
                <a:latin typeface="+mn-ea"/>
                <a:ea typeface="+mn-ea"/>
              </a:rPr>
              <a:t>，</a:t>
            </a:r>
            <a:r>
              <a:rPr lang="zh-CN" altLang="zh-CN" kern="100" dirty="0">
                <a:latin typeface="+mn-ea"/>
                <a:ea typeface="+mn-ea"/>
              </a:rPr>
              <a:t>输出电压</a:t>
            </a:r>
            <a:r>
              <a:rPr lang="en-US" altLang="zh-CN" kern="100" dirty="0">
                <a:latin typeface="+mn-ea"/>
                <a:ea typeface="+mn-ea"/>
              </a:rPr>
              <a:t>10~100mV </a:t>
            </a:r>
            <a:r>
              <a:rPr lang="zh-CN" altLang="zh-CN" kern="100" dirty="0">
                <a:latin typeface="+mn-ea"/>
                <a:ea typeface="+mn-ea"/>
              </a:rPr>
              <a:t>可调 </a:t>
            </a:r>
          </a:p>
          <a:p>
            <a:pPr indent="-612000" algn="just">
              <a:lnSpc>
                <a:spcPct val="150000"/>
              </a:lnSpc>
              <a:spcAft>
                <a:spcPts val="0"/>
              </a:spcAft>
            </a:pPr>
            <a:r>
              <a:rPr lang="en-US" altLang="zh-CN" kern="100" dirty="0">
                <a:latin typeface="+mn-ea"/>
                <a:ea typeface="+mn-ea"/>
              </a:rPr>
              <a:t>    </a:t>
            </a:r>
            <a:r>
              <a:rPr lang="zh-CN" altLang="zh-CN" kern="100" dirty="0">
                <a:latin typeface="+mn-ea"/>
                <a:ea typeface="+mn-ea"/>
              </a:rPr>
              <a:t>在整个频率范围内可自动扫描；扫描时间</a:t>
            </a:r>
            <a:r>
              <a:rPr lang="en-US" altLang="zh-CN" kern="100" dirty="0">
                <a:latin typeface="+mn-ea"/>
                <a:ea typeface="+mn-ea"/>
              </a:rPr>
              <a:t>1~5s</a:t>
            </a:r>
            <a:r>
              <a:rPr lang="zh-CN" altLang="zh-CN" kern="100" dirty="0">
                <a:latin typeface="+mn-ea"/>
                <a:ea typeface="+mn-ea"/>
              </a:rPr>
              <a:t>可调；可手动扫描；还可预置在某一特定频率</a:t>
            </a:r>
            <a:endParaRPr lang="en-US" altLang="zh-CN" kern="100" dirty="0">
              <a:latin typeface="+mn-ea"/>
              <a:ea typeface="+mn-ea"/>
            </a:endParaRPr>
          </a:p>
          <a:p>
            <a:pPr marL="342900" indent="-342900" algn="just">
              <a:lnSpc>
                <a:spcPct val="150000"/>
              </a:lnSpc>
              <a:spcAft>
                <a:spcPts val="0"/>
              </a:spcAft>
              <a:buFont typeface="Arial" panose="020B0604020202020204" pitchFamily="34" charset="0"/>
              <a:buChar char="•"/>
            </a:pPr>
            <a:r>
              <a:rPr lang="zh-CN" altLang="zh-CN" kern="100" dirty="0">
                <a:latin typeface="+mn-ea"/>
                <a:ea typeface="+mn-ea"/>
              </a:rPr>
              <a:t>制作一个</a:t>
            </a:r>
            <a:r>
              <a:rPr lang="en-US" altLang="zh-CN" kern="100" dirty="0">
                <a:latin typeface="+mn-ea"/>
                <a:ea typeface="+mn-ea"/>
              </a:rPr>
              <a:t> 80MHz~100MHz </a:t>
            </a:r>
            <a:r>
              <a:rPr lang="zh-CN" altLang="zh-CN" kern="100" dirty="0">
                <a:latin typeface="+mn-ea"/>
                <a:ea typeface="+mn-ea"/>
              </a:rPr>
              <a:t>频谱分析仪 </a:t>
            </a:r>
          </a:p>
          <a:p>
            <a:pPr algn="just">
              <a:lnSpc>
                <a:spcPct val="150000"/>
              </a:lnSpc>
              <a:spcAft>
                <a:spcPts val="0"/>
              </a:spcAft>
            </a:pPr>
            <a:r>
              <a:rPr lang="en-US" altLang="zh-CN" kern="100" dirty="0">
                <a:latin typeface="+mn-ea"/>
                <a:ea typeface="+mn-ea"/>
              </a:rPr>
              <a:t>    </a:t>
            </a:r>
            <a:r>
              <a:rPr lang="zh-CN" altLang="zh-CN" kern="100" dirty="0">
                <a:latin typeface="+mn-ea"/>
                <a:ea typeface="+mn-ea"/>
              </a:rPr>
              <a:t>频率范围</a:t>
            </a:r>
            <a:r>
              <a:rPr lang="en-US" altLang="zh-CN" kern="100" dirty="0">
                <a:latin typeface="+mn-ea"/>
                <a:ea typeface="+mn-ea"/>
              </a:rPr>
              <a:t>     80MHz~100MHz</a:t>
            </a:r>
            <a:r>
              <a:rPr lang="zh-CN" altLang="zh-CN" kern="100" dirty="0">
                <a:latin typeface="+mn-ea"/>
                <a:ea typeface="+mn-ea"/>
              </a:rPr>
              <a:t>；</a:t>
            </a:r>
            <a:r>
              <a:rPr lang="en-US" altLang="zh-CN" kern="100" dirty="0">
                <a:latin typeface="+mn-ea"/>
                <a:ea typeface="+mn-ea"/>
              </a:rPr>
              <a:t>        </a:t>
            </a:r>
            <a:endParaRPr lang="zh-CN" altLang="zh-CN" kern="100" dirty="0">
              <a:latin typeface="+mn-ea"/>
              <a:ea typeface="+mn-ea"/>
            </a:endParaRPr>
          </a:p>
          <a:p>
            <a:pPr>
              <a:lnSpc>
                <a:spcPct val="150000"/>
              </a:lnSpc>
            </a:pPr>
            <a:r>
              <a:rPr lang="en-US" altLang="zh-CN" dirty="0">
                <a:latin typeface="+mn-ea"/>
                <a:ea typeface="+mn-ea"/>
                <a:cs typeface="Times New Roman" panose="02020603050405020304" pitchFamily="18" charset="0"/>
              </a:rPr>
              <a:t>    </a:t>
            </a:r>
            <a:r>
              <a:rPr lang="zh-CN" altLang="zh-CN" dirty="0">
                <a:latin typeface="+mn-ea"/>
                <a:ea typeface="+mn-ea"/>
                <a:cs typeface="Times New Roman" panose="02020603050405020304" pitchFamily="18" charset="0"/>
              </a:rPr>
              <a:t>分辨率</a:t>
            </a:r>
            <a:r>
              <a:rPr lang="en-US" altLang="zh-CN" dirty="0">
                <a:latin typeface="+mn-ea"/>
                <a:ea typeface="+mn-ea"/>
              </a:rPr>
              <a:t>       100kHz</a:t>
            </a:r>
            <a:endParaRPr lang="zh-CN" altLang="en-US" dirty="0">
              <a:latin typeface="+mn-ea"/>
              <a:ea typeface="+mn-ea"/>
            </a:endParaRPr>
          </a:p>
        </p:txBody>
      </p:sp>
    </p:spTree>
    <p:extLst>
      <p:ext uri="{BB962C8B-B14F-4D97-AF65-F5344CB8AC3E}">
        <p14:creationId xmlns:p14="http://schemas.microsoft.com/office/powerpoint/2010/main" val="413517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15</a:t>
            </a:fld>
            <a:endParaRPr lang="en-US" altLang="zh-CN">
              <a:solidFill>
                <a:srgbClr val="FFFFFF"/>
              </a:solidFill>
            </a:endParaRPr>
          </a:p>
        </p:txBody>
      </p:sp>
      <p:sp>
        <p:nvSpPr>
          <p:cNvPr id="6" name="矩形 5"/>
          <p:cNvSpPr/>
          <p:nvPr/>
        </p:nvSpPr>
        <p:spPr>
          <a:xfrm>
            <a:off x="384628" y="295107"/>
            <a:ext cx="11234058" cy="738664"/>
          </a:xfrm>
          <a:prstGeom prst="rect">
            <a:avLst/>
          </a:prstGeom>
        </p:spPr>
        <p:txBody>
          <a:bodyPr wrap="square">
            <a:spAutoFit/>
          </a:bodyPr>
          <a:lstStyle/>
          <a:p>
            <a:pPr algn="ctr">
              <a:lnSpc>
                <a:spcPct val="150000"/>
              </a:lnSpc>
            </a:pPr>
            <a:r>
              <a:rPr lang="en-US" altLang="zh-CN" sz="2400" dirty="0" smtClean="0">
                <a:solidFill>
                  <a:srgbClr val="FF0000"/>
                </a:solidFill>
                <a:latin typeface="+mj-lt"/>
                <a:ea typeface="隶书" panose="02010509060101010101" pitchFamily="49" charset="-122"/>
              </a:rPr>
              <a:t>2010</a:t>
            </a:r>
            <a:r>
              <a:rPr lang="zh-CN" altLang="en-US" sz="2800" dirty="0" smtClean="0">
                <a:solidFill>
                  <a:srgbClr val="FF0000"/>
                </a:solidFill>
                <a:latin typeface="隶书" panose="02010509060101010101" pitchFamily="49" charset="-122"/>
                <a:ea typeface="隶书" panose="02010509060101010101" pitchFamily="49" charset="-122"/>
              </a:rPr>
              <a:t>年</a:t>
            </a:r>
            <a:r>
              <a:rPr lang="en-US" altLang="zh-CN" sz="2400" dirty="0" smtClean="0">
                <a:solidFill>
                  <a:srgbClr val="FF0000"/>
                </a:solidFill>
                <a:latin typeface="+mj-lt"/>
                <a:ea typeface="隶书" panose="02010509060101010101" pitchFamily="49" charset="-122"/>
              </a:rPr>
              <a:t>~2023</a:t>
            </a:r>
            <a:r>
              <a:rPr lang="zh-CN" altLang="en-US" sz="2800" dirty="0" smtClean="0">
                <a:solidFill>
                  <a:srgbClr val="FF0000"/>
                </a:solidFill>
                <a:latin typeface="隶书" panose="02010509060101010101" pitchFamily="49" charset="-122"/>
                <a:ea typeface="隶书" panose="02010509060101010101" pitchFamily="49" charset="-122"/>
              </a:rPr>
              <a:t>年间</a:t>
            </a:r>
            <a:r>
              <a:rPr lang="en-US" altLang="zh-CN" sz="2400" dirty="0" smtClean="0">
                <a:solidFill>
                  <a:srgbClr val="FF0000"/>
                </a:solidFill>
                <a:latin typeface="+mj-lt"/>
                <a:ea typeface="隶书" panose="02010509060101010101" pitchFamily="49" charset="-122"/>
              </a:rPr>
              <a:t>39</a:t>
            </a:r>
            <a:r>
              <a:rPr lang="zh-CN" altLang="en-US" sz="2800" dirty="0">
                <a:solidFill>
                  <a:srgbClr val="FF0000"/>
                </a:solidFill>
                <a:latin typeface="隶书" panose="02010509060101010101" pitchFamily="49" charset="-122"/>
                <a:ea typeface="隶书" panose="02010509060101010101" pitchFamily="49" charset="-122"/>
              </a:rPr>
              <a:t>个模拟类竞赛题涉及的主要电子技术的</a:t>
            </a:r>
            <a:r>
              <a:rPr lang="zh-CN" altLang="en-US" sz="2800" dirty="0" smtClean="0">
                <a:solidFill>
                  <a:srgbClr val="FF0000"/>
                </a:solidFill>
                <a:latin typeface="隶书" panose="02010509060101010101" pitchFamily="49" charset="-122"/>
                <a:ea typeface="隶书" panose="02010509060101010101" pitchFamily="49" charset="-122"/>
              </a:rPr>
              <a:t>统计</a:t>
            </a:r>
            <a:endParaRPr lang="en-US" altLang="zh-CN" sz="2800" dirty="0">
              <a:solidFill>
                <a:srgbClr val="FF0000"/>
              </a:solidFill>
              <a:latin typeface="隶书" panose="02010509060101010101" pitchFamily="49" charset="-122"/>
              <a:ea typeface="隶书" panose="02010509060101010101" pitchFamily="49" charset="-122"/>
            </a:endParaRPr>
          </a:p>
        </p:txBody>
      </p:sp>
      <p:graphicFrame>
        <p:nvGraphicFramePr>
          <p:cNvPr id="8" name="表格 7"/>
          <p:cNvGraphicFramePr>
            <a:graphicFrameLocks noGrp="1"/>
          </p:cNvGraphicFramePr>
          <p:nvPr>
            <p:extLst>
              <p:ext uri="{D42A27DB-BD31-4B8C-83A1-F6EECF244321}">
                <p14:modId xmlns:p14="http://schemas.microsoft.com/office/powerpoint/2010/main" val="4206278130"/>
              </p:ext>
            </p:extLst>
          </p:nvPr>
        </p:nvGraphicFramePr>
        <p:xfrm>
          <a:off x="384628" y="990839"/>
          <a:ext cx="11234058" cy="5387198"/>
        </p:xfrm>
        <a:graphic>
          <a:graphicData uri="http://schemas.openxmlformats.org/drawingml/2006/table">
            <a:tbl>
              <a:tblPr>
                <a:tableStyleId>{5C22544A-7EE6-4342-B048-85BDC9FD1C3A}</a:tableStyleId>
              </a:tblPr>
              <a:tblGrid>
                <a:gridCol w="1054369">
                  <a:extLst>
                    <a:ext uri="{9D8B030D-6E8A-4147-A177-3AD203B41FA5}">
                      <a16:colId xmlns:a16="http://schemas.microsoft.com/office/drawing/2014/main" val="254975328"/>
                    </a:ext>
                  </a:extLst>
                </a:gridCol>
                <a:gridCol w="1652368">
                  <a:extLst>
                    <a:ext uri="{9D8B030D-6E8A-4147-A177-3AD203B41FA5}">
                      <a16:colId xmlns:a16="http://schemas.microsoft.com/office/drawing/2014/main" val="4187689726"/>
                    </a:ext>
                  </a:extLst>
                </a:gridCol>
                <a:gridCol w="720605">
                  <a:extLst>
                    <a:ext uri="{9D8B030D-6E8A-4147-A177-3AD203B41FA5}">
                      <a16:colId xmlns:a16="http://schemas.microsoft.com/office/drawing/2014/main" val="3270281176"/>
                    </a:ext>
                  </a:extLst>
                </a:gridCol>
                <a:gridCol w="761630">
                  <a:extLst>
                    <a:ext uri="{9D8B030D-6E8A-4147-A177-3AD203B41FA5}">
                      <a16:colId xmlns:a16="http://schemas.microsoft.com/office/drawing/2014/main" val="1078034538"/>
                    </a:ext>
                  </a:extLst>
                </a:gridCol>
                <a:gridCol w="618825">
                  <a:extLst>
                    <a:ext uri="{9D8B030D-6E8A-4147-A177-3AD203B41FA5}">
                      <a16:colId xmlns:a16="http://schemas.microsoft.com/office/drawing/2014/main" val="2899246934"/>
                    </a:ext>
                  </a:extLst>
                </a:gridCol>
                <a:gridCol w="733177">
                  <a:extLst>
                    <a:ext uri="{9D8B030D-6E8A-4147-A177-3AD203B41FA5}">
                      <a16:colId xmlns:a16="http://schemas.microsoft.com/office/drawing/2014/main" val="4286777002"/>
                    </a:ext>
                  </a:extLst>
                </a:gridCol>
                <a:gridCol w="575874">
                  <a:extLst>
                    <a:ext uri="{9D8B030D-6E8A-4147-A177-3AD203B41FA5}">
                      <a16:colId xmlns:a16="http://schemas.microsoft.com/office/drawing/2014/main" val="2535016717"/>
                    </a:ext>
                  </a:extLst>
                </a:gridCol>
                <a:gridCol w="618825">
                  <a:extLst>
                    <a:ext uri="{9D8B030D-6E8A-4147-A177-3AD203B41FA5}">
                      <a16:colId xmlns:a16="http://schemas.microsoft.com/office/drawing/2014/main" val="3800036647"/>
                    </a:ext>
                  </a:extLst>
                </a:gridCol>
                <a:gridCol w="547422">
                  <a:extLst>
                    <a:ext uri="{9D8B030D-6E8A-4147-A177-3AD203B41FA5}">
                      <a16:colId xmlns:a16="http://schemas.microsoft.com/office/drawing/2014/main" val="54382426"/>
                    </a:ext>
                  </a:extLst>
                </a:gridCol>
                <a:gridCol w="404617">
                  <a:extLst>
                    <a:ext uri="{9D8B030D-6E8A-4147-A177-3AD203B41FA5}">
                      <a16:colId xmlns:a16="http://schemas.microsoft.com/office/drawing/2014/main" val="2528989505"/>
                    </a:ext>
                  </a:extLst>
                </a:gridCol>
                <a:gridCol w="476020">
                  <a:extLst>
                    <a:ext uri="{9D8B030D-6E8A-4147-A177-3AD203B41FA5}">
                      <a16:colId xmlns:a16="http://schemas.microsoft.com/office/drawing/2014/main" val="2433931374"/>
                    </a:ext>
                  </a:extLst>
                </a:gridCol>
                <a:gridCol w="618825">
                  <a:extLst>
                    <a:ext uri="{9D8B030D-6E8A-4147-A177-3AD203B41FA5}">
                      <a16:colId xmlns:a16="http://schemas.microsoft.com/office/drawing/2014/main" val="1677032850"/>
                    </a:ext>
                  </a:extLst>
                </a:gridCol>
                <a:gridCol w="404617">
                  <a:extLst>
                    <a:ext uri="{9D8B030D-6E8A-4147-A177-3AD203B41FA5}">
                      <a16:colId xmlns:a16="http://schemas.microsoft.com/office/drawing/2014/main" val="2177031227"/>
                    </a:ext>
                  </a:extLst>
                </a:gridCol>
                <a:gridCol w="404617">
                  <a:extLst>
                    <a:ext uri="{9D8B030D-6E8A-4147-A177-3AD203B41FA5}">
                      <a16:colId xmlns:a16="http://schemas.microsoft.com/office/drawing/2014/main" val="3375888847"/>
                    </a:ext>
                  </a:extLst>
                </a:gridCol>
                <a:gridCol w="404617">
                  <a:extLst>
                    <a:ext uri="{9D8B030D-6E8A-4147-A177-3AD203B41FA5}">
                      <a16:colId xmlns:a16="http://schemas.microsoft.com/office/drawing/2014/main" val="2303823570"/>
                    </a:ext>
                  </a:extLst>
                </a:gridCol>
                <a:gridCol w="618825">
                  <a:extLst>
                    <a:ext uri="{9D8B030D-6E8A-4147-A177-3AD203B41FA5}">
                      <a16:colId xmlns:a16="http://schemas.microsoft.com/office/drawing/2014/main" val="3724940261"/>
                    </a:ext>
                  </a:extLst>
                </a:gridCol>
                <a:gridCol w="618825">
                  <a:extLst>
                    <a:ext uri="{9D8B030D-6E8A-4147-A177-3AD203B41FA5}">
                      <a16:colId xmlns:a16="http://schemas.microsoft.com/office/drawing/2014/main" val="1994282185"/>
                    </a:ext>
                  </a:extLst>
                </a:gridCol>
              </a:tblGrid>
              <a:tr h="310550">
                <a:tc>
                  <a:txBody>
                    <a:bodyPr/>
                    <a:lstStyle/>
                    <a:p>
                      <a:pPr algn="ctr" fontAlgn="ctr"/>
                      <a:r>
                        <a:rPr lang="zh-CN" altLang="en-US" sz="900" u="none" strike="noStrike" dirty="0">
                          <a:effectLst/>
                        </a:rPr>
                        <a:t>年届</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题目</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低频放大器</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高频放大器</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滤波器</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调制与解调</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乘法器</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锁相环</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振荡器</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900" u="none" strike="noStrike" dirty="0" smtClean="0">
                          <a:effectLst/>
                        </a:rPr>
                        <a:t>AD/DA</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单片机</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数据压缩</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900" u="none" strike="noStrike">
                          <a:effectLst/>
                        </a:rPr>
                        <a:t>FFT</a:t>
                      </a:r>
                      <a:endParaRPr 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蓝牙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900" u="none" strike="noStrike">
                          <a:effectLst/>
                        </a:rPr>
                        <a:t>WIFI</a:t>
                      </a:r>
                      <a:endParaRPr 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数字电路</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开关电源</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1304282704"/>
                  </a:ext>
                </a:extLst>
              </a:tr>
              <a:tr h="282036">
                <a:tc>
                  <a:txBody>
                    <a:bodyPr/>
                    <a:lstStyle/>
                    <a:p>
                      <a:pPr algn="l" fontAlgn="ctr"/>
                      <a:r>
                        <a:rPr lang="en-US" altLang="zh-CN" sz="900" u="none" strike="noStrike" dirty="0">
                          <a:effectLst/>
                        </a:rPr>
                        <a:t>2010</a:t>
                      </a:r>
                      <a:r>
                        <a:rPr lang="zh-CN" altLang="en-US" sz="900" u="none" strike="noStrike" dirty="0">
                          <a:effectLst/>
                        </a:rPr>
                        <a:t>年</a:t>
                      </a:r>
                      <a:r>
                        <a:rPr lang="en-US" altLang="zh-CN" sz="900" u="none" strike="noStrike" dirty="0">
                          <a:effectLst/>
                        </a:rPr>
                        <a:t>TI</a:t>
                      </a:r>
                      <a:r>
                        <a:rPr lang="zh-CN" altLang="en-US" sz="900" u="none" strike="noStrike" dirty="0">
                          <a:effectLst/>
                        </a:rPr>
                        <a:t>杯</a:t>
                      </a:r>
                      <a:r>
                        <a:rPr lang="en-US" altLang="zh-CN" sz="900" u="none" strike="noStrike" dirty="0">
                          <a:effectLst/>
                        </a:rPr>
                        <a:t>A</a:t>
                      </a:r>
                      <a:r>
                        <a:rPr lang="zh-CN" altLang="en-US" sz="900" u="none" strike="noStrike" dirty="0">
                          <a:effectLst/>
                        </a:rPr>
                        <a:t>题</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l" fontAlgn="ctr"/>
                      <a:r>
                        <a:rPr lang="zh-CN" altLang="en-US" sz="900" u="none" strike="noStrike" dirty="0">
                          <a:effectLst/>
                        </a:rPr>
                        <a:t>宽带放大器</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宽带</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extLst>
                  <a:ext uri="{0D108BD9-81ED-4DB2-BD59-A6C34878D82A}">
                    <a16:rowId xmlns:a16="http://schemas.microsoft.com/office/drawing/2014/main" val="3471175271"/>
                  </a:ext>
                </a:extLst>
              </a:tr>
              <a:tr h="282036">
                <a:tc>
                  <a:txBody>
                    <a:bodyPr/>
                    <a:lstStyle/>
                    <a:p>
                      <a:pPr algn="l" fontAlgn="ctr"/>
                      <a:r>
                        <a:rPr lang="en-US" altLang="zh-CN" sz="900" u="none" strike="noStrike" dirty="0">
                          <a:effectLst/>
                        </a:rPr>
                        <a:t>2010</a:t>
                      </a:r>
                      <a:r>
                        <a:rPr lang="zh-CN" altLang="en-US" sz="900" u="none" strike="noStrike" dirty="0">
                          <a:effectLst/>
                        </a:rPr>
                        <a:t>年</a:t>
                      </a:r>
                      <a:r>
                        <a:rPr lang="en-US" altLang="zh-CN" sz="900" u="none" strike="noStrike" dirty="0">
                          <a:effectLst/>
                        </a:rPr>
                        <a:t>TI</a:t>
                      </a:r>
                      <a:r>
                        <a:rPr lang="zh-CN" altLang="en-US" sz="900" u="none" strike="noStrike" dirty="0">
                          <a:effectLst/>
                        </a:rPr>
                        <a:t>杯</a:t>
                      </a:r>
                      <a:r>
                        <a:rPr lang="en-US" altLang="zh-CN" sz="900" u="none" strike="noStrike" dirty="0">
                          <a:effectLst/>
                        </a:rPr>
                        <a:t>C</a:t>
                      </a:r>
                      <a:r>
                        <a:rPr lang="zh-CN" altLang="en-US" sz="900" u="none" strike="noStrike" dirty="0">
                          <a:effectLst/>
                        </a:rPr>
                        <a:t>题</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l" fontAlgn="ctr"/>
                      <a:r>
                        <a:rPr lang="zh-CN" altLang="en-US" sz="900" u="none" strike="noStrike" dirty="0">
                          <a:effectLst/>
                        </a:rPr>
                        <a:t>信号波形合成实验电路</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有源</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方波</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extLst>
                  <a:ext uri="{0D108BD9-81ED-4DB2-BD59-A6C34878D82A}">
                    <a16:rowId xmlns:a16="http://schemas.microsoft.com/office/drawing/2014/main" val="2800874755"/>
                  </a:ext>
                </a:extLst>
              </a:tr>
              <a:tr h="282036">
                <a:tc>
                  <a:txBody>
                    <a:bodyPr/>
                    <a:lstStyle/>
                    <a:p>
                      <a:pPr algn="l" fontAlgn="ctr"/>
                      <a:r>
                        <a:rPr lang="en-US" altLang="zh-CN" sz="900" u="none" strike="noStrike" dirty="0">
                          <a:effectLst/>
                        </a:rPr>
                        <a:t>2011</a:t>
                      </a:r>
                      <a:r>
                        <a:rPr lang="zh-CN" altLang="en-US" sz="900" u="none" strike="noStrike" dirty="0">
                          <a:effectLst/>
                        </a:rPr>
                        <a:t>年全国赛</a:t>
                      </a:r>
                      <a:r>
                        <a:rPr lang="en-US" sz="900" u="none" strike="noStrike" dirty="0">
                          <a:effectLst/>
                        </a:rPr>
                        <a:t>D</a:t>
                      </a:r>
                      <a:r>
                        <a:rPr lang="zh-CN" altLang="en-US" sz="900" u="none" strike="noStrike" dirty="0">
                          <a:effectLst/>
                        </a:rPr>
                        <a:t>题</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en-US" sz="900" u="none" strike="noStrike" dirty="0">
                          <a:effectLst/>
                        </a:rPr>
                        <a:t>LC</a:t>
                      </a:r>
                      <a:r>
                        <a:rPr lang="zh-CN" altLang="en-US" sz="900" u="none" strike="noStrike" dirty="0">
                          <a:effectLst/>
                        </a:rPr>
                        <a:t>谐振放大器</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900" u="none" strike="noStrike" dirty="0">
                          <a:effectLst/>
                        </a:rPr>
                        <a:t>AGC</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900" u="none" strike="noStrike" dirty="0">
                          <a:effectLst/>
                        </a:rPr>
                        <a:t>LC</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3210507788"/>
                  </a:ext>
                </a:extLst>
              </a:tr>
              <a:tr h="282036">
                <a:tc>
                  <a:txBody>
                    <a:bodyPr/>
                    <a:lstStyle/>
                    <a:p>
                      <a:pPr algn="l" fontAlgn="ctr"/>
                      <a:r>
                        <a:rPr lang="en-US" altLang="zh-CN" sz="900" u="none" strike="noStrike" dirty="0">
                          <a:effectLst/>
                        </a:rPr>
                        <a:t>2012</a:t>
                      </a:r>
                      <a:r>
                        <a:rPr lang="zh-CN" altLang="en-US" sz="900" u="none" strike="noStrike" dirty="0">
                          <a:effectLst/>
                        </a:rPr>
                        <a:t>年</a:t>
                      </a:r>
                      <a:r>
                        <a:rPr lang="en-US" altLang="zh-CN" sz="900" u="none" strike="noStrike" dirty="0">
                          <a:effectLst/>
                        </a:rPr>
                        <a:t>TI</a:t>
                      </a:r>
                      <a:r>
                        <a:rPr lang="zh-CN" altLang="en-US" sz="900" u="none" strike="noStrike" dirty="0">
                          <a:effectLst/>
                        </a:rPr>
                        <a:t>杯</a:t>
                      </a:r>
                      <a:r>
                        <a:rPr lang="en-US" altLang="zh-CN" sz="900" u="none" strike="noStrike" dirty="0">
                          <a:effectLst/>
                        </a:rPr>
                        <a:t>A</a:t>
                      </a:r>
                      <a:r>
                        <a:rPr lang="zh-CN" altLang="en-US" sz="900" u="none" strike="noStrike" dirty="0">
                          <a:effectLst/>
                        </a:rPr>
                        <a:t>题</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l" fontAlgn="ctr"/>
                      <a:r>
                        <a:rPr lang="zh-CN" altLang="en-US" sz="900" u="none" strike="noStrike" dirty="0">
                          <a:effectLst/>
                        </a:rPr>
                        <a:t>微弱信号检测装置</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smtClean="0">
                          <a:effectLst/>
                        </a:rPr>
                        <a:t>锁定放大</a:t>
                      </a: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extLst>
                  <a:ext uri="{0D108BD9-81ED-4DB2-BD59-A6C34878D82A}">
                    <a16:rowId xmlns:a16="http://schemas.microsoft.com/office/drawing/2014/main" val="762931093"/>
                  </a:ext>
                </a:extLst>
              </a:tr>
              <a:tr h="282036">
                <a:tc>
                  <a:txBody>
                    <a:bodyPr/>
                    <a:lstStyle/>
                    <a:p>
                      <a:pPr algn="l" fontAlgn="ctr"/>
                      <a:r>
                        <a:rPr lang="en-US" altLang="zh-CN" sz="900" u="none" strike="noStrike" dirty="0">
                          <a:effectLst/>
                        </a:rPr>
                        <a:t>2012</a:t>
                      </a:r>
                      <a:r>
                        <a:rPr lang="zh-CN" altLang="en-US" sz="900" u="none" strike="noStrike" dirty="0">
                          <a:effectLst/>
                        </a:rPr>
                        <a:t>年</a:t>
                      </a:r>
                      <a:r>
                        <a:rPr lang="en-US" altLang="zh-CN" sz="900" u="none" strike="noStrike" dirty="0">
                          <a:effectLst/>
                        </a:rPr>
                        <a:t>TI</a:t>
                      </a:r>
                      <a:r>
                        <a:rPr lang="zh-CN" altLang="en-US" sz="900" u="none" strike="noStrike" dirty="0">
                          <a:effectLst/>
                        </a:rPr>
                        <a:t>杯</a:t>
                      </a:r>
                      <a:r>
                        <a:rPr lang="en-US" altLang="zh-CN" sz="900" u="none" strike="noStrike" dirty="0">
                          <a:effectLst/>
                        </a:rPr>
                        <a:t>D</a:t>
                      </a:r>
                      <a:r>
                        <a:rPr lang="zh-CN" altLang="en-US" sz="900" u="none" strike="noStrike" dirty="0">
                          <a:effectLst/>
                        </a:rPr>
                        <a:t>题</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l" fontAlgn="ctr"/>
                      <a:r>
                        <a:rPr lang="zh-CN" altLang="en-US" sz="900" u="none" strike="noStrike" dirty="0">
                          <a:effectLst/>
                        </a:rPr>
                        <a:t>声音定位系统</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有源</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extLst>
                  <a:ext uri="{0D108BD9-81ED-4DB2-BD59-A6C34878D82A}">
                    <a16:rowId xmlns:a16="http://schemas.microsoft.com/office/drawing/2014/main" val="1464817475"/>
                  </a:ext>
                </a:extLst>
              </a:tr>
              <a:tr h="282036">
                <a:tc>
                  <a:txBody>
                    <a:bodyPr/>
                    <a:lstStyle/>
                    <a:p>
                      <a:pPr algn="l" fontAlgn="ctr"/>
                      <a:r>
                        <a:rPr lang="en-US" altLang="zh-CN" sz="900" u="none" strike="noStrike" dirty="0">
                          <a:effectLst/>
                        </a:rPr>
                        <a:t>2012</a:t>
                      </a:r>
                      <a:r>
                        <a:rPr lang="zh-CN" altLang="en-US" sz="900" u="none" strike="noStrike" dirty="0">
                          <a:effectLst/>
                        </a:rPr>
                        <a:t>年</a:t>
                      </a:r>
                      <a:r>
                        <a:rPr lang="en-US" altLang="zh-CN" sz="900" u="none" strike="noStrike" dirty="0">
                          <a:effectLst/>
                        </a:rPr>
                        <a:t>TI</a:t>
                      </a:r>
                      <a:r>
                        <a:rPr lang="zh-CN" altLang="en-US" sz="900" u="none" strike="noStrike" dirty="0">
                          <a:effectLst/>
                        </a:rPr>
                        <a:t>杯</a:t>
                      </a:r>
                      <a:r>
                        <a:rPr lang="en-US" altLang="zh-CN" sz="900" u="none" strike="noStrike" dirty="0">
                          <a:effectLst/>
                        </a:rPr>
                        <a:t>B</a:t>
                      </a:r>
                      <a:r>
                        <a:rPr lang="zh-CN" altLang="en-US" sz="900" u="none" strike="noStrike" dirty="0">
                          <a:effectLst/>
                        </a:rPr>
                        <a:t>题</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l" fontAlgn="ctr"/>
                      <a:r>
                        <a:rPr lang="zh-CN" altLang="en-US" sz="900" u="none" strike="noStrike" dirty="0">
                          <a:effectLst/>
                        </a:rPr>
                        <a:t>频率补偿电路</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有源</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extLst>
                  <a:ext uri="{0D108BD9-81ED-4DB2-BD59-A6C34878D82A}">
                    <a16:rowId xmlns:a16="http://schemas.microsoft.com/office/drawing/2014/main" val="2970517528"/>
                  </a:ext>
                </a:extLst>
              </a:tr>
              <a:tr h="282036">
                <a:tc>
                  <a:txBody>
                    <a:bodyPr/>
                    <a:lstStyle/>
                    <a:p>
                      <a:pPr algn="l" fontAlgn="ctr"/>
                      <a:r>
                        <a:rPr lang="en-US" altLang="zh-CN" sz="900" u="none" strike="noStrike" dirty="0">
                          <a:effectLst/>
                        </a:rPr>
                        <a:t>2013</a:t>
                      </a:r>
                      <a:r>
                        <a:rPr lang="zh-CN" altLang="en-US" sz="900" u="none" strike="noStrike" dirty="0">
                          <a:effectLst/>
                        </a:rPr>
                        <a:t>年全国赛</a:t>
                      </a:r>
                      <a:r>
                        <a:rPr lang="en-US" sz="900" u="none" strike="noStrike" dirty="0">
                          <a:effectLst/>
                        </a:rPr>
                        <a:t>D</a:t>
                      </a:r>
                      <a:r>
                        <a:rPr lang="zh-CN" altLang="en-US" sz="900" u="none" strike="noStrike" dirty="0">
                          <a:effectLst/>
                        </a:rPr>
                        <a:t>题</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900" u="none" strike="noStrike" dirty="0">
                          <a:effectLst/>
                        </a:rPr>
                        <a:t>射频宽带放大器</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altLang="zh-CN" sz="900" u="none" strike="noStrike" dirty="0" smtClean="0">
                          <a:effectLst/>
                        </a:rPr>
                        <a:t>VGA</a:t>
                      </a:r>
                      <a:r>
                        <a:rPr lang="zh-CN" altLang="en-US" sz="900" u="none" strike="noStrike" dirty="0" smtClean="0">
                          <a:effectLst/>
                        </a:rPr>
                        <a:t>、</a:t>
                      </a:r>
                      <a:r>
                        <a:rPr lang="zh-CN" altLang="en-US" sz="900" u="none" strike="noStrike" dirty="0">
                          <a:effectLst/>
                        </a:rPr>
                        <a:t>宽带</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900" u="none" strike="noStrike" dirty="0">
                          <a:effectLst/>
                        </a:rPr>
                        <a:t>LC</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2902635198"/>
                  </a:ext>
                </a:extLst>
              </a:tr>
              <a:tr h="282036">
                <a:tc>
                  <a:txBody>
                    <a:bodyPr/>
                    <a:lstStyle/>
                    <a:p>
                      <a:pPr algn="l" fontAlgn="ctr"/>
                      <a:r>
                        <a:rPr lang="en-US" altLang="zh-CN" sz="900" u="none" strike="noStrike" dirty="0">
                          <a:effectLst/>
                        </a:rPr>
                        <a:t>2013</a:t>
                      </a:r>
                      <a:r>
                        <a:rPr lang="zh-CN" altLang="en-US" sz="900" u="none" strike="noStrike" dirty="0">
                          <a:effectLst/>
                        </a:rPr>
                        <a:t>年全国赛</a:t>
                      </a:r>
                      <a:r>
                        <a:rPr lang="en-US" sz="900" u="none" strike="noStrike" dirty="0">
                          <a:effectLst/>
                        </a:rPr>
                        <a:t>G</a:t>
                      </a:r>
                      <a:r>
                        <a:rPr lang="zh-CN" altLang="en-US" sz="900" u="none" strike="noStrike" dirty="0">
                          <a:effectLst/>
                        </a:rPr>
                        <a:t>题</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900" u="none" strike="noStrike" dirty="0">
                          <a:effectLst/>
                        </a:rPr>
                        <a:t>手写绘图板</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仪表</a:t>
                      </a:r>
                      <a:r>
                        <a:rPr lang="zh-CN" altLang="en-US" sz="900" u="none" strike="noStrike" dirty="0">
                          <a:effectLst/>
                        </a:rPr>
                        <a:t>、功率</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有源</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低频</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1769570681"/>
                  </a:ext>
                </a:extLst>
              </a:tr>
              <a:tr h="282036">
                <a:tc>
                  <a:txBody>
                    <a:bodyPr/>
                    <a:lstStyle/>
                    <a:p>
                      <a:pPr algn="l" fontAlgn="ctr"/>
                      <a:r>
                        <a:rPr lang="en-US" altLang="zh-CN" sz="900" u="none" strike="noStrike" dirty="0">
                          <a:effectLst/>
                        </a:rPr>
                        <a:t>2013</a:t>
                      </a:r>
                      <a:r>
                        <a:rPr lang="zh-CN" altLang="en-US" sz="900" u="none" strike="noStrike" dirty="0">
                          <a:effectLst/>
                        </a:rPr>
                        <a:t>年全国赛</a:t>
                      </a:r>
                      <a:r>
                        <a:rPr lang="en-US" sz="900" u="none" strike="noStrike" dirty="0">
                          <a:effectLst/>
                        </a:rPr>
                        <a:t>F</a:t>
                      </a:r>
                      <a:r>
                        <a:rPr lang="zh-CN" altLang="en-US" sz="900" u="none" strike="noStrike" dirty="0">
                          <a:effectLst/>
                        </a:rPr>
                        <a:t>题</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900" u="none" strike="noStrike" dirty="0">
                          <a:effectLst/>
                        </a:rPr>
                        <a:t>红外光通信装置</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b="0" i="0" u="none" strike="noStrike" dirty="0" smtClean="0">
                          <a:solidFill>
                            <a:schemeClr val="dk1"/>
                          </a:solidFill>
                          <a:effectLst/>
                          <a:latin typeface="+mn-lt"/>
                          <a:ea typeface="+mn-ea"/>
                        </a:rPr>
                        <a:t>有源</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音频</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1341141153"/>
                  </a:ext>
                </a:extLst>
              </a:tr>
              <a:tr h="282036">
                <a:tc>
                  <a:txBody>
                    <a:bodyPr/>
                    <a:lstStyle/>
                    <a:p>
                      <a:pPr algn="l" fontAlgn="ctr"/>
                      <a:r>
                        <a:rPr lang="en-US" altLang="zh-CN" sz="900" u="none" strike="noStrike" dirty="0">
                          <a:effectLst/>
                        </a:rPr>
                        <a:t>2013</a:t>
                      </a:r>
                      <a:r>
                        <a:rPr lang="zh-CN" altLang="en-US" sz="900" u="none" strike="noStrike" dirty="0">
                          <a:effectLst/>
                        </a:rPr>
                        <a:t>年全国赛</a:t>
                      </a:r>
                      <a:r>
                        <a:rPr lang="en-US" sz="900" u="none" strike="noStrike" dirty="0">
                          <a:effectLst/>
                        </a:rPr>
                        <a:t>E</a:t>
                      </a:r>
                      <a:r>
                        <a:rPr lang="zh-CN" altLang="en-US" sz="900" u="none" strike="noStrike" dirty="0">
                          <a:effectLst/>
                        </a:rPr>
                        <a:t>题</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900" u="none" strike="noStrike" dirty="0">
                          <a:effectLst/>
                        </a:rPr>
                        <a:t>简易频率特性测试仪</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CN" altLang="en-US" sz="900" b="1" i="0" u="none" strike="noStrike" dirty="0" smtClean="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有源</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altLang="zh-CN" sz="900" u="none" strike="noStrike" dirty="0" smtClean="0">
                          <a:effectLst/>
                        </a:rPr>
                        <a:t>DDS</a:t>
                      </a:r>
                      <a:r>
                        <a:rPr lang="zh-CN" altLang="en-US" sz="900" u="none" strike="noStrike" dirty="0">
                          <a:effectLst/>
                        </a:rPr>
                        <a:t>　</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3543559516"/>
                  </a:ext>
                </a:extLst>
              </a:tr>
              <a:tr h="282036">
                <a:tc>
                  <a:txBody>
                    <a:bodyPr/>
                    <a:lstStyle/>
                    <a:p>
                      <a:pPr algn="l" fontAlgn="ctr"/>
                      <a:r>
                        <a:rPr lang="en-US" altLang="zh-CN" sz="900" u="none" strike="noStrike" dirty="0">
                          <a:effectLst/>
                        </a:rPr>
                        <a:t>2014</a:t>
                      </a:r>
                      <a:r>
                        <a:rPr lang="zh-CN" altLang="en-US" sz="900" u="none" strike="noStrike" dirty="0">
                          <a:effectLst/>
                        </a:rPr>
                        <a:t>年</a:t>
                      </a:r>
                      <a:r>
                        <a:rPr lang="en-US" altLang="zh-CN" sz="900" u="none" strike="noStrike" dirty="0">
                          <a:effectLst/>
                        </a:rPr>
                        <a:t>TI</a:t>
                      </a:r>
                      <a:r>
                        <a:rPr lang="zh-CN" altLang="en-US" sz="900" u="none" strike="noStrike" dirty="0">
                          <a:effectLst/>
                        </a:rPr>
                        <a:t>杯</a:t>
                      </a:r>
                      <a:r>
                        <a:rPr lang="en-US" altLang="zh-CN" sz="900" u="none" strike="noStrike" dirty="0">
                          <a:effectLst/>
                        </a:rPr>
                        <a:t>C</a:t>
                      </a:r>
                      <a:r>
                        <a:rPr lang="zh-CN" altLang="en-US" sz="900" u="none" strike="noStrike" dirty="0">
                          <a:effectLst/>
                        </a:rPr>
                        <a:t>题</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l" fontAlgn="ctr"/>
                      <a:r>
                        <a:rPr lang="zh-CN" altLang="en-US" sz="900" u="none" strike="noStrike" dirty="0">
                          <a:effectLst/>
                        </a:rPr>
                        <a:t>锁定放大器的设计</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r>
                        <a:rPr lang="zh-CN" altLang="en-US" sz="900" u="none" strike="noStrike" dirty="0" smtClean="0">
                          <a:effectLst/>
                        </a:rPr>
                        <a:t>锁定放大</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extLst>
                  <a:ext uri="{0D108BD9-81ED-4DB2-BD59-A6C34878D82A}">
                    <a16:rowId xmlns:a16="http://schemas.microsoft.com/office/drawing/2014/main" val="3388401695"/>
                  </a:ext>
                </a:extLst>
              </a:tr>
              <a:tr h="282036">
                <a:tc>
                  <a:txBody>
                    <a:bodyPr/>
                    <a:lstStyle/>
                    <a:p>
                      <a:pPr algn="l" fontAlgn="ctr"/>
                      <a:r>
                        <a:rPr lang="en-US" altLang="zh-CN" sz="900" u="none" strike="noStrike" dirty="0">
                          <a:effectLst/>
                        </a:rPr>
                        <a:t>2015</a:t>
                      </a:r>
                      <a:r>
                        <a:rPr lang="zh-CN" altLang="en-US" sz="900" u="none" strike="noStrike" dirty="0">
                          <a:effectLst/>
                        </a:rPr>
                        <a:t>年全国赛</a:t>
                      </a:r>
                      <a:r>
                        <a:rPr lang="en-US" sz="900" u="none" strike="noStrike" dirty="0">
                          <a:effectLst/>
                        </a:rPr>
                        <a:t>D</a:t>
                      </a:r>
                      <a:r>
                        <a:rPr lang="zh-CN" altLang="en-US" sz="900" u="none" strike="noStrike" dirty="0">
                          <a:effectLst/>
                        </a:rPr>
                        <a:t>题</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900" u="none" strike="noStrike" dirty="0">
                          <a:effectLst/>
                        </a:rPr>
                        <a:t>增益可控射频放大器</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altLang="zh-CN" sz="900" u="none" strike="noStrike" dirty="0" smtClean="0">
                          <a:effectLst/>
                        </a:rPr>
                        <a:t>VGA</a:t>
                      </a:r>
                      <a:r>
                        <a:rPr lang="zh-CN" altLang="en-US" sz="900" u="none" strike="noStrike" dirty="0" smtClean="0">
                          <a:effectLst/>
                        </a:rPr>
                        <a:t>、</a:t>
                      </a:r>
                      <a:r>
                        <a:rPr lang="zh-CN" altLang="en-US" sz="900" u="none" strike="noStrike" dirty="0">
                          <a:effectLst/>
                        </a:rPr>
                        <a:t>宽带</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900" u="none" strike="noStrike" dirty="0">
                          <a:effectLst/>
                        </a:rPr>
                        <a:t>LC</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3237510244"/>
                  </a:ext>
                </a:extLst>
              </a:tr>
              <a:tr h="282036">
                <a:tc>
                  <a:txBody>
                    <a:bodyPr/>
                    <a:lstStyle/>
                    <a:p>
                      <a:pPr algn="l" fontAlgn="ctr"/>
                      <a:r>
                        <a:rPr lang="en-US" altLang="zh-CN" sz="900" u="none" strike="noStrike" dirty="0">
                          <a:effectLst/>
                        </a:rPr>
                        <a:t>2015</a:t>
                      </a:r>
                      <a:r>
                        <a:rPr lang="zh-CN" altLang="en-US" sz="900" u="none" strike="noStrike" dirty="0">
                          <a:effectLst/>
                        </a:rPr>
                        <a:t>年全国赛</a:t>
                      </a:r>
                      <a:r>
                        <a:rPr lang="en-US" sz="900" u="none" strike="noStrike" dirty="0">
                          <a:effectLst/>
                        </a:rPr>
                        <a:t>E</a:t>
                      </a:r>
                      <a:r>
                        <a:rPr lang="zh-CN" altLang="en-US" sz="900" u="none" strike="noStrike" dirty="0">
                          <a:effectLst/>
                        </a:rPr>
                        <a:t>题</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en-US" sz="900" u="none" strike="noStrike" dirty="0">
                          <a:effectLst/>
                        </a:rPr>
                        <a:t>80MHz~100MHz</a:t>
                      </a:r>
                      <a:r>
                        <a:rPr lang="zh-CN" altLang="en-US" sz="900" u="none" strike="noStrike" dirty="0">
                          <a:effectLst/>
                        </a:rPr>
                        <a:t>频谱分析仪</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900" u="none" strike="noStrike" dirty="0">
                          <a:effectLst/>
                        </a:rPr>
                        <a:t>LC</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混频</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频率合成</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942812901"/>
                  </a:ext>
                </a:extLst>
              </a:tr>
              <a:tr h="282036">
                <a:tc>
                  <a:txBody>
                    <a:bodyPr/>
                    <a:lstStyle/>
                    <a:p>
                      <a:pPr algn="l" fontAlgn="ctr"/>
                      <a:r>
                        <a:rPr lang="en-US" altLang="zh-CN" sz="900" u="none" strike="noStrike" dirty="0">
                          <a:effectLst/>
                        </a:rPr>
                        <a:t>2015</a:t>
                      </a:r>
                      <a:r>
                        <a:rPr lang="zh-CN" altLang="en-US" sz="900" u="none" strike="noStrike" dirty="0">
                          <a:effectLst/>
                        </a:rPr>
                        <a:t>年全国赛</a:t>
                      </a:r>
                      <a:r>
                        <a:rPr lang="en-US" sz="900" u="none" strike="noStrike" dirty="0">
                          <a:effectLst/>
                        </a:rPr>
                        <a:t>F</a:t>
                      </a:r>
                      <a:r>
                        <a:rPr lang="zh-CN" altLang="en-US" sz="900" u="none" strike="noStrike" dirty="0">
                          <a:effectLst/>
                        </a:rPr>
                        <a:t>题</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900" u="none" strike="noStrike" dirty="0">
                          <a:effectLst/>
                        </a:rPr>
                        <a:t>数字频率计</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高速</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891965988"/>
                  </a:ext>
                </a:extLst>
              </a:tr>
              <a:tr h="282036">
                <a:tc>
                  <a:txBody>
                    <a:bodyPr/>
                    <a:lstStyle/>
                    <a:p>
                      <a:pPr algn="l" fontAlgn="ctr"/>
                      <a:r>
                        <a:rPr lang="en-US" altLang="zh-CN" sz="900" u="none" strike="noStrike" dirty="0">
                          <a:effectLst/>
                        </a:rPr>
                        <a:t>2016</a:t>
                      </a:r>
                      <a:r>
                        <a:rPr lang="zh-CN" altLang="en-US" sz="900" u="none" strike="noStrike" dirty="0">
                          <a:effectLst/>
                        </a:rPr>
                        <a:t>年江苏省</a:t>
                      </a:r>
                      <a:r>
                        <a:rPr lang="en-US" sz="900" u="none" strike="noStrike" dirty="0">
                          <a:effectLst/>
                        </a:rPr>
                        <a:t>F</a:t>
                      </a:r>
                      <a:r>
                        <a:rPr lang="zh-CN" altLang="en-US" sz="900" u="none" strike="noStrike" dirty="0">
                          <a:effectLst/>
                        </a:rPr>
                        <a:t>题</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l" fontAlgn="ctr"/>
                      <a:r>
                        <a:rPr lang="zh-CN" altLang="en-US" sz="900" u="none" strike="noStrike" dirty="0">
                          <a:effectLst/>
                        </a:rPr>
                        <a:t>位同步时钟提取电路</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smtClean="0">
                          <a:effectLst/>
                        </a:rPr>
                        <a:t>●</a:t>
                      </a: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有源</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同步恢复</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extLst>
                  <a:ext uri="{0D108BD9-81ED-4DB2-BD59-A6C34878D82A}">
                    <a16:rowId xmlns:a16="http://schemas.microsoft.com/office/drawing/2014/main" val="1565477180"/>
                  </a:ext>
                </a:extLst>
              </a:tr>
              <a:tr h="282036">
                <a:tc>
                  <a:txBody>
                    <a:bodyPr/>
                    <a:lstStyle/>
                    <a:p>
                      <a:pPr algn="l" fontAlgn="ctr"/>
                      <a:r>
                        <a:rPr lang="en-US" altLang="zh-CN" sz="900" u="none" strike="noStrike" dirty="0">
                          <a:effectLst/>
                        </a:rPr>
                        <a:t>2016</a:t>
                      </a:r>
                      <a:r>
                        <a:rPr lang="zh-CN" altLang="en-US" sz="900" u="none" strike="noStrike" dirty="0">
                          <a:effectLst/>
                        </a:rPr>
                        <a:t>年上海市</a:t>
                      </a:r>
                      <a:r>
                        <a:rPr lang="en-US" sz="900" u="none" strike="noStrike" dirty="0">
                          <a:effectLst/>
                        </a:rPr>
                        <a:t>B</a:t>
                      </a:r>
                      <a:r>
                        <a:rPr lang="zh-CN" altLang="en-US" sz="900" u="none" strike="noStrike" dirty="0">
                          <a:effectLst/>
                        </a:rPr>
                        <a:t>题</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l" fontAlgn="ctr"/>
                      <a:r>
                        <a:rPr lang="zh-CN" altLang="en-US" sz="900" u="none" strike="noStrike" dirty="0">
                          <a:effectLst/>
                        </a:rPr>
                        <a:t>短波频段数字通信系统设计</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频率</a:t>
                      </a:r>
                      <a:r>
                        <a:rPr lang="zh-CN" altLang="en-US" sz="900" u="none" strike="noStrike" dirty="0" smtClean="0">
                          <a:effectLst/>
                        </a:rPr>
                        <a:t>合成</a:t>
                      </a:r>
                      <a:endParaRPr lang="en-US" altLang="zh-CN" sz="900" u="none" strike="noStrike" dirty="0" smtClean="0">
                        <a:effectLst/>
                      </a:endParaRPr>
                    </a:p>
                    <a:p>
                      <a:pPr algn="ctr" fontAlgn="ctr"/>
                      <a:r>
                        <a:rPr lang="zh-CN" altLang="en-US" sz="900" u="none" strike="noStrike" dirty="0" smtClean="0">
                          <a:effectLst/>
                        </a:rPr>
                        <a:t>同步</a:t>
                      </a:r>
                      <a:r>
                        <a:rPr lang="zh-CN" altLang="en-US" sz="900" u="none" strike="noStrike" dirty="0">
                          <a:effectLst/>
                        </a:rPr>
                        <a:t>恢复</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extLst>
                  <a:ext uri="{0D108BD9-81ED-4DB2-BD59-A6C34878D82A}">
                    <a16:rowId xmlns:a16="http://schemas.microsoft.com/office/drawing/2014/main" val="325084087"/>
                  </a:ext>
                </a:extLst>
              </a:tr>
              <a:tr h="282036">
                <a:tc>
                  <a:txBody>
                    <a:bodyPr/>
                    <a:lstStyle/>
                    <a:p>
                      <a:pPr algn="l" fontAlgn="ctr"/>
                      <a:r>
                        <a:rPr lang="en-US" altLang="zh-CN" sz="900" u="none" strike="noStrike" dirty="0">
                          <a:effectLst/>
                        </a:rPr>
                        <a:t>2016</a:t>
                      </a:r>
                      <a:r>
                        <a:rPr lang="zh-CN" altLang="en-US" sz="900" u="none" strike="noStrike" dirty="0">
                          <a:effectLst/>
                        </a:rPr>
                        <a:t>年安徽省</a:t>
                      </a:r>
                      <a:r>
                        <a:rPr lang="en-US" sz="900" u="none" strike="noStrike" dirty="0">
                          <a:effectLst/>
                        </a:rPr>
                        <a:t>C</a:t>
                      </a:r>
                      <a:r>
                        <a:rPr lang="zh-CN" altLang="en-US" sz="900" u="none" strike="noStrike" dirty="0">
                          <a:effectLst/>
                        </a:rPr>
                        <a:t>题</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l" fontAlgn="ctr"/>
                      <a:r>
                        <a:rPr lang="en-US" altLang="zh-CN" sz="900" u="none" strike="noStrike" dirty="0">
                          <a:effectLst/>
                        </a:rPr>
                        <a:t>PAM4</a:t>
                      </a:r>
                      <a:r>
                        <a:rPr lang="zh-CN" altLang="en-US" sz="900" u="none" strike="noStrike" dirty="0">
                          <a:effectLst/>
                        </a:rPr>
                        <a:t>信号调制解调电路</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extLst>
                  <a:ext uri="{0D108BD9-81ED-4DB2-BD59-A6C34878D82A}">
                    <a16:rowId xmlns:a16="http://schemas.microsoft.com/office/drawing/2014/main" val="1813192715"/>
                  </a:ext>
                </a:extLst>
              </a:tr>
              <a:tr h="282036">
                <a:tc>
                  <a:txBody>
                    <a:bodyPr/>
                    <a:lstStyle/>
                    <a:p>
                      <a:pPr algn="l" fontAlgn="ctr"/>
                      <a:r>
                        <a:rPr lang="en-US" altLang="zh-CN" sz="900" u="none" strike="noStrike" dirty="0">
                          <a:effectLst/>
                        </a:rPr>
                        <a:t>2016</a:t>
                      </a:r>
                      <a:r>
                        <a:rPr lang="zh-CN" altLang="en-US" sz="900" u="none" strike="noStrike" dirty="0">
                          <a:effectLst/>
                        </a:rPr>
                        <a:t>年</a:t>
                      </a:r>
                      <a:r>
                        <a:rPr lang="en-US" altLang="zh-CN" sz="900" u="none" strike="noStrike" dirty="0">
                          <a:effectLst/>
                        </a:rPr>
                        <a:t>TI</a:t>
                      </a:r>
                      <a:r>
                        <a:rPr lang="zh-CN" altLang="en-US" sz="900" u="none" strike="noStrike" dirty="0">
                          <a:effectLst/>
                        </a:rPr>
                        <a:t>杯</a:t>
                      </a:r>
                      <a:r>
                        <a:rPr lang="en-US" altLang="zh-CN" sz="900" u="none" strike="noStrike" dirty="0">
                          <a:effectLst/>
                        </a:rPr>
                        <a:t>C</a:t>
                      </a:r>
                      <a:r>
                        <a:rPr lang="zh-CN" altLang="en-US" sz="900" u="none" strike="noStrike" dirty="0">
                          <a:effectLst/>
                        </a:rPr>
                        <a:t>题</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l" fontAlgn="ctr"/>
                      <a:r>
                        <a:rPr lang="zh-CN" altLang="en-US" sz="900" u="none" strike="noStrike" dirty="0">
                          <a:effectLst/>
                        </a:rPr>
                        <a:t>频率特性测试仪</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en-US" altLang="zh-CN" sz="900" u="none" strike="noStrike" dirty="0" smtClean="0">
                          <a:effectLst/>
                        </a:rPr>
                        <a:t>DDS</a:t>
                      </a: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accent1">
                        <a:lumMod val="20000"/>
                        <a:lumOff val="80000"/>
                      </a:schemeClr>
                    </a:solidFill>
                  </a:tcPr>
                </a:tc>
                <a:extLst>
                  <a:ext uri="{0D108BD9-81ED-4DB2-BD59-A6C34878D82A}">
                    <a16:rowId xmlns:a16="http://schemas.microsoft.com/office/drawing/2014/main" val="1594296095"/>
                  </a:ext>
                </a:extLst>
              </a:tr>
            </a:tbl>
          </a:graphicData>
        </a:graphic>
      </p:graphicFrame>
    </p:spTree>
    <p:extLst>
      <p:ext uri="{BB962C8B-B14F-4D97-AF65-F5344CB8AC3E}">
        <p14:creationId xmlns:p14="http://schemas.microsoft.com/office/powerpoint/2010/main" val="21256968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16</a:t>
            </a:fld>
            <a:endParaRPr lang="en-US" altLang="zh-CN">
              <a:solidFill>
                <a:srgbClr val="FFFFFF"/>
              </a:solidFill>
            </a:endParaRPr>
          </a:p>
        </p:txBody>
      </p:sp>
      <p:graphicFrame>
        <p:nvGraphicFramePr>
          <p:cNvPr id="5" name="表格 4"/>
          <p:cNvGraphicFramePr>
            <a:graphicFrameLocks noGrp="1"/>
          </p:cNvGraphicFramePr>
          <p:nvPr>
            <p:extLst>
              <p:ext uri="{D42A27DB-BD31-4B8C-83A1-F6EECF244321}">
                <p14:modId xmlns:p14="http://schemas.microsoft.com/office/powerpoint/2010/main" val="3622552184"/>
              </p:ext>
            </p:extLst>
          </p:nvPr>
        </p:nvGraphicFramePr>
        <p:xfrm>
          <a:off x="326275" y="551544"/>
          <a:ext cx="11495310" cy="5795309"/>
        </p:xfrm>
        <a:graphic>
          <a:graphicData uri="http://schemas.openxmlformats.org/drawingml/2006/table">
            <a:tbl>
              <a:tblPr>
                <a:tableStyleId>{5C22544A-7EE6-4342-B048-85BDC9FD1C3A}</a:tableStyleId>
              </a:tblPr>
              <a:tblGrid>
                <a:gridCol w="1037713">
                  <a:extLst>
                    <a:ext uri="{9D8B030D-6E8A-4147-A177-3AD203B41FA5}">
                      <a16:colId xmlns:a16="http://schemas.microsoft.com/office/drawing/2014/main" val="2296113000"/>
                    </a:ext>
                  </a:extLst>
                </a:gridCol>
                <a:gridCol w="1726883">
                  <a:extLst>
                    <a:ext uri="{9D8B030D-6E8A-4147-A177-3AD203B41FA5}">
                      <a16:colId xmlns:a16="http://schemas.microsoft.com/office/drawing/2014/main" val="489552724"/>
                    </a:ext>
                  </a:extLst>
                </a:gridCol>
                <a:gridCol w="760461">
                  <a:extLst>
                    <a:ext uri="{9D8B030D-6E8A-4147-A177-3AD203B41FA5}">
                      <a16:colId xmlns:a16="http://schemas.microsoft.com/office/drawing/2014/main" val="4158680729"/>
                    </a:ext>
                  </a:extLst>
                </a:gridCol>
                <a:gridCol w="792149">
                  <a:extLst>
                    <a:ext uri="{9D8B030D-6E8A-4147-A177-3AD203B41FA5}">
                      <a16:colId xmlns:a16="http://schemas.microsoft.com/office/drawing/2014/main" val="2525380838"/>
                    </a:ext>
                  </a:extLst>
                </a:gridCol>
                <a:gridCol w="630508">
                  <a:extLst>
                    <a:ext uri="{9D8B030D-6E8A-4147-A177-3AD203B41FA5}">
                      <a16:colId xmlns:a16="http://schemas.microsoft.com/office/drawing/2014/main" val="1298766386"/>
                    </a:ext>
                  </a:extLst>
                </a:gridCol>
                <a:gridCol w="776011">
                  <a:extLst>
                    <a:ext uri="{9D8B030D-6E8A-4147-A177-3AD203B41FA5}">
                      <a16:colId xmlns:a16="http://schemas.microsoft.com/office/drawing/2014/main" val="455995928"/>
                    </a:ext>
                  </a:extLst>
                </a:gridCol>
                <a:gridCol w="557759">
                  <a:extLst>
                    <a:ext uri="{9D8B030D-6E8A-4147-A177-3AD203B41FA5}">
                      <a16:colId xmlns:a16="http://schemas.microsoft.com/office/drawing/2014/main" val="3923582687"/>
                    </a:ext>
                  </a:extLst>
                </a:gridCol>
                <a:gridCol w="630508">
                  <a:extLst>
                    <a:ext uri="{9D8B030D-6E8A-4147-A177-3AD203B41FA5}">
                      <a16:colId xmlns:a16="http://schemas.microsoft.com/office/drawing/2014/main" val="1247217039"/>
                    </a:ext>
                  </a:extLst>
                </a:gridCol>
                <a:gridCol w="557759">
                  <a:extLst>
                    <a:ext uri="{9D8B030D-6E8A-4147-A177-3AD203B41FA5}">
                      <a16:colId xmlns:a16="http://schemas.microsoft.com/office/drawing/2014/main" val="2563926591"/>
                    </a:ext>
                  </a:extLst>
                </a:gridCol>
                <a:gridCol w="412257">
                  <a:extLst>
                    <a:ext uri="{9D8B030D-6E8A-4147-A177-3AD203B41FA5}">
                      <a16:colId xmlns:a16="http://schemas.microsoft.com/office/drawing/2014/main" val="4176839578"/>
                    </a:ext>
                  </a:extLst>
                </a:gridCol>
                <a:gridCol w="485007">
                  <a:extLst>
                    <a:ext uri="{9D8B030D-6E8A-4147-A177-3AD203B41FA5}">
                      <a16:colId xmlns:a16="http://schemas.microsoft.com/office/drawing/2014/main" val="404248507"/>
                    </a:ext>
                  </a:extLst>
                </a:gridCol>
                <a:gridCol w="630508">
                  <a:extLst>
                    <a:ext uri="{9D8B030D-6E8A-4147-A177-3AD203B41FA5}">
                      <a16:colId xmlns:a16="http://schemas.microsoft.com/office/drawing/2014/main" val="1924576071"/>
                    </a:ext>
                  </a:extLst>
                </a:gridCol>
                <a:gridCol w="412257">
                  <a:extLst>
                    <a:ext uri="{9D8B030D-6E8A-4147-A177-3AD203B41FA5}">
                      <a16:colId xmlns:a16="http://schemas.microsoft.com/office/drawing/2014/main" val="768091562"/>
                    </a:ext>
                  </a:extLst>
                </a:gridCol>
                <a:gridCol w="412257">
                  <a:extLst>
                    <a:ext uri="{9D8B030D-6E8A-4147-A177-3AD203B41FA5}">
                      <a16:colId xmlns:a16="http://schemas.microsoft.com/office/drawing/2014/main" val="3492614976"/>
                    </a:ext>
                  </a:extLst>
                </a:gridCol>
                <a:gridCol w="412257">
                  <a:extLst>
                    <a:ext uri="{9D8B030D-6E8A-4147-A177-3AD203B41FA5}">
                      <a16:colId xmlns:a16="http://schemas.microsoft.com/office/drawing/2014/main" val="2751349568"/>
                    </a:ext>
                  </a:extLst>
                </a:gridCol>
                <a:gridCol w="630508">
                  <a:extLst>
                    <a:ext uri="{9D8B030D-6E8A-4147-A177-3AD203B41FA5}">
                      <a16:colId xmlns:a16="http://schemas.microsoft.com/office/drawing/2014/main" val="1958771229"/>
                    </a:ext>
                  </a:extLst>
                </a:gridCol>
                <a:gridCol w="630508">
                  <a:extLst>
                    <a:ext uri="{9D8B030D-6E8A-4147-A177-3AD203B41FA5}">
                      <a16:colId xmlns:a16="http://schemas.microsoft.com/office/drawing/2014/main" val="3922909257"/>
                    </a:ext>
                  </a:extLst>
                </a:gridCol>
              </a:tblGrid>
              <a:tr h="259743">
                <a:tc>
                  <a:txBody>
                    <a:bodyPr/>
                    <a:lstStyle/>
                    <a:p>
                      <a:pPr algn="ctr" fontAlgn="ctr"/>
                      <a:r>
                        <a:rPr lang="zh-CN" altLang="en-US" sz="900" u="none" strike="noStrike" dirty="0">
                          <a:effectLst/>
                        </a:rPr>
                        <a:t>年届</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题目</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低频放大器</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高频放大器</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滤波器</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调制与解调</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乘法器</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锁相环</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振荡器</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900" u="none" strike="noStrike" dirty="0" smtClean="0">
                          <a:effectLst/>
                        </a:rPr>
                        <a:t>AD</a:t>
                      </a:r>
                      <a:r>
                        <a:rPr lang="en-US" altLang="zh-CN" sz="900" u="none" strike="noStrike" dirty="0" smtClean="0">
                          <a:effectLst/>
                        </a:rPr>
                        <a:t>/DA</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单片机</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数据压缩</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900" u="none" strike="noStrike">
                          <a:effectLst/>
                        </a:rPr>
                        <a:t>FFT</a:t>
                      </a:r>
                      <a:endParaRPr 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蓝牙</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900" u="none" strike="noStrike">
                          <a:effectLst/>
                        </a:rPr>
                        <a:t>WIFI</a:t>
                      </a:r>
                      <a:endParaRPr 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数字电路</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开关电源</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3417497325"/>
                  </a:ext>
                </a:extLst>
              </a:tr>
              <a:tr h="259743">
                <a:tc>
                  <a:txBody>
                    <a:bodyPr/>
                    <a:lstStyle/>
                    <a:p>
                      <a:pPr algn="l" fontAlgn="ctr"/>
                      <a:r>
                        <a:rPr lang="en-US" altLang="zh-CN" sz="900" u="none" strike="noStrike" dirty="0">
                          <a:effectLst/>
                        </a:rPr>
                        <a:t>2016</a:t>
                      </a:r>
                      <a:r>
                        <a:rPr lang="zh-CN" altLang="en-US" sz="900" u="none" strike="noStrike" dirty="0">
                          <a:effectLst/>
                        </a:rPr>
                        <a:t>年上海市</a:t>
                      </a:r>
                      <a:r>
                        <a:rPr lang="en-US" sz="900" u="none" strike="noStrike" dirty="0">
                          <a:effectLst/>
                        </a:rPr>
                        <a:t>C</a:t>
                      </a:r>
                      <a:r>
                        <a:rPr lang="zh-CN" altLang="en-US" sz="900" u="none" strike="noStrike" dirty="0">
                          <a:effectLst/>
                        </a:rPr>
                        <a:t>题</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l" fontAlgn="ctr"/>
                      <a:r>
                        <a:rPr lang="zh-CN" altLang="en-US" sz="900" u="none" strike="noStrike" dirty="0">
                          <a:effectLst/>
                        </a:rPr>
                        <a:t>脉冲信号参数测量仪</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1"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1"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高速</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extLst>
                  <a:ext uri="{0D108BD9-81ED-4DB2-BD59-A6C34878D82A}">
                    <a16:rowId xmlns:a16="http://schemas.microsoft.com/office/drawing/2014/main" val="2978730154"/>
                  </a:ext>
                </a:extLst>
              </a:tr>
              <a:tr h="266783">
                <a:tc>
                  <a:txBody>
                    <a:bodyPr/>
                    <a:lstStyle/>
                    <a:p>
                      <a:pPr algn="l" fontAlgn="ctr"/>
                      <a:r>
                        <a:rPr lang="en-US" altLang="zh-CN" sz="900" u="none" strike="noStrike">
                          <a:effectLst/>
                        </a:rPr>
                        <a:t>2016</a:t>
                      </a:r>
                      <a:r>
                        <a:rPr lang="zh-CN" altLang="en-US" sz="900" u="none" strike="noStrike">
                          <a:effectLst/>
                        </a:rPr>
                        <a:t>年</a:t>
                      </a:r>
                      <a:r>
                        <a:rPr lang="en-US" altLang="zh-CN" sz="900" u="none" strike="noStrike">
                          <a:effectLst/>
                        </a:rPr>
                        <a:t>TI</a:t>
                      </a:r>
                      <a:r>
                        <a:rPr lang="zh-CN" altLang="en-US" sz="900" u="none" strike="noStrike">
                          <a:effectLst/>
                        </a:rPr>
                        <a:t>杯</a:t>
                      </a:r>
                      <a:r>
                        <a:rPr lang="en-US" altLang="zh-CN" sz="900" u="none" strike="noStrike">
                          <a:effectLst/>
                        </a:rPr>
                        <a:t>B</a:t>
                      </a:r>
                      <a:r>
                        <a:rPr lang="zh-CN" altLang="en-US" sz="900" u="none" strike="noStrike">
                          <a:effectLst/>
                        </a:rPr>
                        <a:t>题</a:t>
                      </a:r>
                      <a:endParaRPr lang="zh-CN" altLang="en-US" sz="9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l" fontAlgn="ctr"/>
                      <a:r>
                        <a:rPr lang="zh-CN" altLang="en-US" sz="900" u="none" strike="noStrike" dirty="0">
                          <a:effectLst/>
                        </a:rPr>
                        <a:t>超声波测距仪</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smtClean="0">
                          <a:effectLst/>
                        </a:rPr>
                        <a:t>大功率</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extLst>
                  <a:ext uri="{0D108BD9-81ED-4DB2-BD59-A6C34878D82A}">
                    <a16:rowId xmlns:a16="http://schemas.microsoft.com/office/drawing/2014/main" val="3449766941"/>
                  </a:ext>
                </a:extLst>
              </a:tr>
              <a:tr h="259743">
                <a:tc>
                  <a:txBody>
                    <a:bodyPr/>
                    <a:lstStyle/>
                    <a:p>
                      <a:pPr algn="l" fontAlgn="ctr"/>
                      <a:r>
                        <a:rPr lang="en-US" altLang="zh-CN" sz="900" u="none" strike="noStrike" dirty="0">
                          <a:effectLst/>
                        </a:rPr>
                        <a:t>2017</a:t>
                      </a:r>
                      <a:r>
                        <a:rPr lang="zh-CN" altLang="en-US" sz="900" u="none" strike="noStrike" dirty="0">
                          <a:effectLst/>
                        </a:rPr>
                        <a:t>年全国赛</a:t>
                      </a:r>
                      <a:r>
                        <a:rPr lang="en-US" sz="900" u="none" strike="noStrike" dirty="0">
                          <a:effectLst/>
                        </a:rPr>
                        <a:t>I</a:t>
                      </a:r>
                      <a:r>
                        <a:rPr lang="zh-CN" altLang="en-US" sz="900" u="none" strike="noStrike" dirty="0">
                          <a:effectLst/>
                        </a:rPr>
                        <a:t>题</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900" u="none" strike="noStrike" dirty="0">
                          <a:effectLst/>
                        </a:rPr>
                        <a:t>可见光室内定位装置</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有源</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2389898619"/>
                  </a:ext>
                </a:extLst>
              </a:tr>
              <a:tr h="259743">
                <a:tc>
                  <a:txBody>
                    <a:bodyPr/>
                    <a:lstStyle/>
                    <a:p>
                      <a:pPr algn="l" fontAlgn="ctr"/>
                      <a:r>
                        <a:rPr lang="en-US" altLang="zh-CN" sz="900" u="none" strike="noStrike">
                          <a:effectLst/>
                        </a:rPr>
                        <a:t>2017</a:t>
                      </a:r>
                      <a:r>
                        <a:rPr lang="zh-CN" altLang="en-US" sz="900" u="none" strike="noStrike">
                          <a:effectLst/>
                        </a:rPr>
                        <a:t>年全国赛</a:t>
                      </a:r>
                      <a:r>
                        <a:rPr lang="en-US" sz="900" u="none" strike="noStrike">
                          <a:effectLst/>
                        </a:rPr>
                        <a:t>F</a:t>
                      </a:r>
                      <a:r>
                        <a:rPr lang="zh-CN" altLang="en-US" sz="900" u="none" strike="noStrike">
                          <a:effectLst/>
                        </a:rPr>
                        <a:t>题</a:t>
                      </a:r>
                      <a:endParaRPr lang="zh-CN" altLang="en-US" sz="9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900" u="none" strike="noStrike" dirty="0">
                          <a:effectLst/>
                        </a:rPr>
                        <a:t>调幅信号处理实验电路</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900" u="none" strike="noStrike" dirty="0">
                          <a:effectLst/>
                        </a:rPr>
                        <a:t>AGC</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频率合成</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2187918918"/>
                  </a:ext>
                </a:extLst>
              </a:tr>
              <a:tr h="275828">
                <a:tc>
                  <a:txBody>
                    <a:bodyPr/>
                    <a:lstStyle/>
                    <a:p>
                      <a:pPr algn="l" fontAlgn="ctr"/>
                      <a:r>
                        <a:rPr lang="en-US" altLang="zh-CN" sz="900" u="none" strike="noStrike">
                          <a:effectLst/>
                        </a:rPr>
                        <a:t>2017</a:t>
                      </a:r>
                      <a:r>
                        <a:rPr lang="zh-CN" altLang="en-US" sz="900" u="none" strike="noStrike">
                          <a:effectLst/>
                        </a:rPr>
                        <a:t>年全国赛</a:t>
                      </a:r>
                      <a:r>
                        <a:rPr lang="en-US" sz="900" u="none" strike="noStrike">
                          <a:effectLst/>
                        </a:rPr>
                        <a:t>H</a:t>
                      </a:r>
                      <a:r>
                        <a:rPr lang="zh-CN" altLang="en-US" sz="900" u="none" strike="noStrike">
                          <a:effectLst/>
                        </a:rPr>
                        <a:t>题</a:t>
                      </a:r>
                      <a:endParaRPr lang="zh-CN" altLang="en-US" sz="9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900" u="none" strike="noStrike" dirty="0">
                          <a:effectLst/>
                        </a:rPr>
                        <a:t>远程幅频特性测试装置</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altLang="zh-CN" sz="900" u="none" strike="noStrike" dirty="0" smtClean="0">
                          <a:effectLst/>
                        </a:rPr>
                        <a:t>VGA</a:t>
                      </a:r>
                      <a:r>
                        <a:rPr lang="zh-CN" altLang="en-US" sz="900" u="none" strike="noStrike" dirty="0" smtClean="0">
                          <a:effectLst/>
                        </a:rPr>
                        <a:t>、</a:t>
                      </a:r>
                      <a:r>
                        <a:rPr lang="zh-CN" altLang="en-US" sz="900" u="none" strike="noStrike" dirty="0">
                          <a:effectLst/>
                        </a:rPr>
                        <a:t>宽带</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900" u="none" strike="noStrike">
                          <a:effectLst/>
                        </a:rPr>
                        <a:t>LC</a:t>
                      </a:r>
                      <a:endParaRPr 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检波</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频率合成</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1913484650"/>
                  </a:ext>
                </a:extLst>
              </a:tr>
              <a:tr h="259743">
                <a:tc>
                  <a:txBody>
                    <a:bodyPr/>
                    <a:lstStyle/>
                    <a:p>
                      <a:pPr algn="l" fontAlgn="ctr"/>
                      <a:r>
                        <a:rPr lang="en-US" altLang="zh-CN" sz="900" u="none" strike="noStrike">
                          <a:effectLst/>
                        </a:rPr>
                        <a:t>2018</a:t>
                      </a:r>
                      <a:r>
                        <a:rPr lang="zh-CN" altLang="en-US" sz="900" u="none" strike="noStrike">
                          <a:effectLst/>
                        </a:rPr>
                        <a:t>年</a:t>
                      </a:r>
                      <a:r>
                        <a:rPr lang="en-US" altLang="zh-CN" sz="900" u="none" strike="noStrike">
                          <a:effectLst/>
                        </a:rPr>
                        <a:t>TI</a:t>
                      </a:r>
                      <a:r>
                        <a:rPr lang="zh-CN" altLang="en-US" sz="900" u="none" strike="noStrike">
                          <a:effectLst/>
                        </a:rPr>
                        <a:t>杯</a:t>
                      </a:r>
                      <a:r>
                        <a:rPr lang="en-US" altLang="zh-CN" sz="900" u="none" strike="noStrike">
                          <a:effectLst/>
                        </a:rPr>
                        <a:t>F</a:t>
                      </a:r>
                      <a:r>
                        <a:rPr lang="zh-CN" altLang="en-US" sz="900" u="none" strike="noStrike">
                          <a:effectLst/>
                        </a:rPr>
                        <a:t>题</a:t>
                      </a:r>
                      <a:endParaRPr lang="zh-CN" altLang="en-US" sz="9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l" fontAlgn="ctr"/>
                      <a:r>
                        <a:rPr lang="zh-CN" altLang="en-US" sz="900" u="none" strike="noStrike" dirty="0">
                          <a:effectLst/>
                        </a:rPr>
                        <a:t>无线话筒扩音系统</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en-US" sz="900" u="none" strike="noStrike">
                          <a:effectLst/>
                        </a:rPr>
                        <a:t>FM</a:t>
                      </a:r>
                      <a:endParaRPr 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高频</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extLst>
                  <a:ext uri="{0D108BD9-81ED-4DB2-BD59-A6C34878D82A}">
                    <a16:rowId xmlns:a16="http://schemas.microsoft.com/office/drawing/2014/main" val="1830855919"/>
                  </a:ext>
                </a:extLst>
              </a:tr>
              <a:tr h="259743">
                <a:tc>
                  <a:txBody>
                    <a:bodyPr/>
                    <a:lstStyle/>
                    <a:p>
                      <a:pPr algn="l" fontAlgn="ctr"/>
                      <a:r>
                        <a:rPr lang="en-US" altLang="zh-CN" sz="900" u="none" strike="noStrike">
                          <a:effectLst/>
                        </a:rPr>
                        <a:t>2018</a:t>
                      </a:r>
                      <a:r>
                        <a:rPr lang="zh-CN" altLang="en-US" sz="900" u="none" strike="noStrike">
                          <a:effectLst/>
                        </a:rPr>
                        <a:t>年</a:t>
                      </a:r>
                      <a:r>
                        <a:rPr lang="en-US" altLang="zh-CN" sz="900" u="none" strike="noStrike">
                          <a:effectLst/>
                        </a:rPr>
                        <a:t>TI</a:t>
                      </a:r>
                      <a:r>
                        <a:rPr lang="zh-CN" altLang="en-US" sz="900" u="none" strike="noStrike">
                          <a:effectLst/>
                        </a:rPr>
                        <a:t>杯</a:t>
                      </a:r>
                      <a:r>
                        <a:rPr lang="en-US" altLang="zh-CN" sz="900" u="none" strike="noStrike">
                          <a:effectLst/>
                        </a:rPr>
                        <a:t>A</a:t>
                      </a:r>
                      <a:r>
                        <a:rPr lang="zh-CN" altLang="en-US" sz="900" u="none" strike="noStrike">
                          <a:effectLst/>
                        </a:rPr>
                        <a:t>题</a:t>
                      </a:r>
                      <a:endParaRPr lang="zh-CN" altLang="en-US" sz="9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l" fontAlgn="ctr"/>
                      <a:r>
                        <a:rPr lang="zh-CN" altLang="en-US" sz="900" u="none" strike="noStrike" dirty="0">
                          <a:effectLst/>
                        </a:rPr>
                        <a:t>电流信号检测装置</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extLst>
                  <a:ext uri="{0D108BD9-81ED-4DB2-BD59-A6C34878D82A}">
                    <a16:rowId xmlns:a16="http://schemas.microsoft.com/office/drawing/2014/main" val="4269923687"/>
                  </a:ext>
                </a:extLst>
              </a:tr>
              <a:tr h="266789">
                <a:tc>
                  <a:txBody>
                    <a:bodyPr/>
                    <a:lstStyle/>
                    <a:p>
                      <a:pPr algn="l" fontAlgn="ctr"/>
                      <a:r>
                        <a:rPr lang="en-US" altLang="zh-CN" sz="900" u="none" strike="noStrike">
                          <a:effectLst/>
                        </a:rPr>
                        <a:t>2019</a:t>
                      </a:r>
                      <a:r>
                        <a:rPr lang="zh-CN" altLang="en-US" sz="900" u="none" strike="noStrike">
                          <a:effectLst/>
                        </a:rPr>
                        <a:t>年全国赛</a:t>
                      </a:r>
                      <a:r>
                        <a:rPr lang="en-US" sz="900" u="none" strike="noStrike">
                          <a:effectLst/>
                        </a:rPr>
                        <a:t>G</a:t>
                      </a:r>
                      <a:r>
                        <a:rPr lang="zh-CN" altLang="en-US" sz="900" u="none" strike="noStrike">
                          <a:effectLst/>
                        </a:rPr>
                        <a:t>题</a:t>
                      </a:r>
                      <a:endParaRPr lang="zh-CN" altLang="en-US" sz="9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900" u="none" strike="noStrike" dirty="0">
                          <a:effectLst/>
                        </a:rPr>
                        <a:t>双路语音同传的无线收发系统</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有源</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900" u="none" strike="noStrike">
                          <a:effectLst/>
                        </a:rPr>
                        <a:t>FM、AM</a:t>
                      </a:r>
                      <a:endParaRPr 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频率合成</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1"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3763431596"/>
                  </a:ext>
                </a:extLst>
              </a:tr>
              <a:tr h="271129">
                <a:tc>
                  <a:txBody>
                    <a:bodyPr/>
                    <a:lstStyle/>
                    <a:p>
                      <a:pPr algn="l" fontAlgn="ctr"/>
                      <a:r>
                        <a:rPr lang="en-US" altLang="zh-CN" sz="900" u="none" strike="noStrike">
                          <a:effectLst/>
                        </a:rPr>
                        <a:t>2019</a:t>
                      </a:r>
                      <a:r>
                        <a:rPr lang="zh-CN" altLang="en-US" sz="900" u="none" strike="noStrike">
                          <a:effectLst/>
                        </a:rPr>
                        <a:t>年全国赛</a:t>
                      </a:r>
                      <a:r>
                        <a:rPr lang="en-US" sz="900" u="none" strike="noStrike">
                          <a:effectLst/>
                        </a:rPr>
                        <a:t>C</a:t>
                      </a:r>
                      <a:r>
                        <a:rPr lang="zh-CN" altLang="en-US" sz="900" u="none" strike="noStrike">
                          <a:effectLst/>
                        </a:rPr>
                        <a:t>题</a:t>
                      </a:r>
                      <a:endParaRPr lang="zh-CN" altLang="en-US" sz="9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900" u="none" strike="noStrike" dirty="0">
                          <a:effectLst/>
                        </a:rPr>
                        <a:t>线路负载及故障检测装置</a:t>
                      </a:r>
                      <a:endParaRPr lang="zh-CN" altLang="en-US" sz="9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音频</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3038881469"/>
                  </a:ext>
                </a:extLst>
              </a:tr>
              <a:tr h="259743">
                <a:tc>
                  <a:txBody>
                    <a:bodyPr/>
                    <a:lstStyle/>
                    <a:p>
                      <a:pPr algn="l" fontAlgn="ctr"/>
                      <a:r>
                        <a:rPr lang="en-US" altLang="zh-CN" sz="900" u="none" strike="noStrike">
                          <a:effectLst/>
                        </a:rPr>
                        <a:t>2019</a:t>
                      </a:r>
                      <a:r>
                        <a:rPr lang="zh-CN" altLang="en-US" sz="900" u="none" strike="noStrike">
                          <a:effectLst/>
                        </a:rPr>
                        <a:t>年全国赛</a:t>
                      </a:r>
                      <a:r>
                        <a:rPr lang="en-US" sz="900" u="none" strike="noStrike">
                          <a:effectLst/>
                        </a:rPr>
                        <a:t>D</a:t>
                      </a:r>
                      <a:r>
                        <a:rPr lang="zh-CN" altLang="en-US" sz="900" u="none" strike="noStrike">
                          <a:effectLst/>
                        </a:rPr>
                        <a:t>题</a:t>
                      </a:r>
                      <a:endParaRPr lang="zh-CN" altLang="en-US" sz="9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900" u="none" strike="noStrike">
                          <a:effectLst/>
                        </a:rPr>
                        <a:t>简易电路特性测试仪</a:t>
                      </a:r>
                      <a:endParaRPr lang="zh-CN" altLang="en-US" sz="9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音频</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2679223903"/>
                  </a:ext>
                </a:extLst>
              </a:tr>
              <a:tr h="259743">
                <a:tc>
                  <a:txBody>
                    <a:bodyPr/>
                    <a:lstStyle/>
                    <a:p>
                      <a:pPr algn="l" fontAlgn="ctr"/>
                      <a:r>
                        <a:rPr lang="en-US" altLang="zh-CN" sz="900" u="none" strike="noStrike">
                          <a:effectLst/>
                        </a:rPr>
                        <a:t>2019</a:t>
                      </a:r>
                      <a:r>
                        <a:rPr lang="zh-CN" altLang="en-US" sz="900" u="none" strike="noStrike">
                          <a:effectLst/>
                        </a:rPr>
                        <a:t>年全国赛</a:t>
                      </a:r>
                      <a:r>
                        <a:rPr lang="en-US" sz="900" u="none" strike="noStrike">
                          <a:effectLst/>
                        </a:rPr>
                        <a:t>F</a:t>
                      </a:r>
                      <a:r>
                        <a:rPr lang="zh-CN" altLang="en-US" sz="900" u="none" strike="noStrike">
                          <a:effectLst/>
                        </a:rPr>
                        <a:t>题</a:t>
                      </a:r>
                      <a:endParaRPr lang="zh-CN" altLang="en-US" sz="9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900" u="none" strike="noStrike">
                          <a:effectLst/>
                        </a:rPr>
                        <a:t>纸张计数显示装置</a:t>
                      </a:r>
                      <a:endParaRPr lang="zh-CN" altLang="en-US" sz="9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900" u="none" strike="noStrike" dirty="0" smtClean="0">
                          <a:effectLst/>
                        </a:rPr>
                        <a:t>●</a:t>
                      </a: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高频</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高速</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1314189827"/>
                  </a:ext>
                </a:extLst>
              </a:tr>
              <a:tr h="275828">
                <a:tc>
                  <a:txBody>
                    <a:bodyPr/>
                    <a:lstStyle/>
                    <a:p>
                      <a:pPr algn="l" fontAlgn="ctr"/>
                      <a:r>
                        <a:rPr lang="en-US" altLang="zh-CN" sz="900" u="none" strike="noStrike">
                          <a:effectLst/>
                        </a:rPr>
                        <a:t>2020</a:t>
                      </a:r>
                      <a:r>
                        <a:rPr lang="zh-CN" altLang="en-US" sz="900" u="none" strike="noStrike">
                          <a:effectLst/>
                        </a:rPr>
                        <a:t>年</a:t>
                      </a:r>
                      <a:r>
                        <a:rPr lang="en-US" altLang="zh-CN" sz="900" u="none" strike="noStrike">
                          <a:effectLst/>
                        </a:rPr>
                        <a:t>TI</a:t>
                      </a:r>
                      <a:r>
                        <a:rPr lang="zh-CN" altLang="en-US" sz="900" u="none" strike="noStrike">
                          <a:effectLst/>
                        </a:rPr>
                        <a:t>杯赛</a:t>
                      </a:r>
                      <a:r>
                        <a:rPr lang="en-US" altLang="zh-CN" sz="900" u="none" strike="noStrike">
                          <a:effectLst/>
                        </a:rPr>
                        <a:t>B</a:t>
                      </a:r>
                      <a:r>
                        <a:rPr lang="zh-CN" altLang="en-US" sz="900" u="none" strike="noStrike">
                          <a:effectLst/>
                        </a:rPr>
                        <a:t>题</a:t>
                      </a:r>
                      <a:endParaRPr lang="zh-CN" altLang="en-US" sz="9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l" fontAlgn="ctr"/>
                      <a:r>
                        <a:rPr lang="zh-CN" altLang="en-US" sz="900" u="none" strike="noStrike">
                          <a:effectLst/>
                        </a:rPr>
                        <a:t>多种幅度调制信号发生电路</a:t>
                      </a:r>
                      <a:endParaRPr lang="zh-CN" altLang="en-US" sz="9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smtClean="0">
                          <a:effectLst/>
                        </a:rPr>
                        <a:t>●</a:t>
                      </a: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en-US" sz="900" u="none" strike="noStrike">
                          <a:effectLst/>
                        </a:rPr>
                        <a:t>LC</a:t>
                      </a:r>
                      <a:endParaRPr 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en-US" sz="900" u="none" strike="noStrike">
                          <a:effectLst/>
                        </a:rPr>
                        <a:t>AM</a:t>
                      </a:r>
                      <a:endParaRPr 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extLst>
                  <a:ext uri="{0D108BD9-81ED-4DB2-BD59-A6C34878D82A}">
                    <a16:rowId xmlns:a16="http://schemas.microsoft.com/office/drawing/2014/main" val="3802896181"/>
                  </a:ext>
                </a:extLst>
              </a:tr>
              <a:tr h="271129">
                <a:tc>
                  <a:txBody>
                    <a:bodyPr/>
                    <a:lstStyle/>
                    <a:p>
                      <a:pPr algn="l" fontAlgn="ctr"/>
                      <a:r>
                        <a:rPr lang="en-US" altLang="zh-CN" sz="900" u="none" strike="noStrike">
                          <a:effectLst/>
                        </a:rPr>
                        <a:t>2020</a:t>
                      </a:r>
                      <a:r>
                        <a:rPr lang="zh-CN" altLang="en-US" sz="900" u="none" strike="noStrike">
                          <a:effectLst/>
                        </a:rPr>
                        <a:t>年</a:t>
                      </a:r>
                      <a:r>
                        <a:rPr lang="en-US" altLang="zh-CN" sz="900" u="none" strike="noStrike">
                          <a:effectLst/>
                        </a:rPr>
                        <a:t>TI</a:t>
                      </a:r>
                      <a:r>
                        <a:rPr lang="zh-CN" altLang="en-US" sz="900" u="none" strike="noStrike">
                          <a:effectLst/>
                        </a:rPr>
                        <a:t>杯</a:t>
                      </a:r>
                      <a:r>
                        <a:rPr lang="en-US" altLang="zh-CN" sz="900" u="none" strike="noStrike">
                          <a:effectLst/>
                        </a:rPr>
                        <a:t>E</a:t>
                      </a:r>
                      <a:r>
                        <a:rPr lang="zh-CN" altLang="en-US" sz="900" u="none" strike="noStrike">
                          <a:effectLst/>
                        </a:rPr>
                        <a:t>题</a:t>
                      </a:r>
                      <a:endParaRPr lang="zh-CN" altLang="en-US" sz="9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l" fontAlgn="ctr"/>
                      <a:r>
                        <a:rPr lang="zh-CN" altLang="en-US" sz="900" u="none" strike="noStrike">
                          <a:effectLst/>
                        </a:rPr>
                        <a:t>放大器非线性失真研究装置</a:t>
                      </a:r>
                      <a:endParaRPr lang="zh-CN" altLang="en-US" sz="9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晶体管</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extLst>
                  <a:ext uri="{0D108BD9-81ED-4DB2-BD59-A6C34878D82A}">
                    <a16:rowId xmlns:a16="http://schemas.microsoft.com/office/drawing/2014/main" val="1299284877"/>
                  </a:ext>
                </a:extLst>
              </a:tr>
              <a:tr h="253053">
                <a:tc>
                  <a:txBody>
                    <a:bodyPr/>
                    <a:lstStyle/>
                    <a:p>
                      <a:pPr algn="l" fontAlgn="ctr"/>
                      <a:r>
                        <a:rPr lang="en-US" altLang="zh-CN" sz="900" u="none" strike="noStrike">
                          <a:effectLst/>
                        </a:rPr>
                        <a:t>2021</a:t>
                      </a:r>
                      <a:r>
                        <a:rPr lang="zh-CN" altLang="en-US" sz="900" u="none" strike="noStrike">
                          <a:effectLst/>
                        </a:rPr>
                        <a:t>年全国赛</a:t>
                      </a:r>
                      <a:r>
                        <a:rPr lang="en-US" sz="900" u="none" strike="noStrike">
                          <a:effectLst/>
                        </a:rPr>
                        <a:t>E</a:t>
                      </a:r>
                      <a:r>
                        <a:rPr lang="zh-CN" altLang="en-US" sz="900" u="none" strike="noStrike">
                          <a:effectLst/>
                        </a:rPr>
                        <a:t>题</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900" u="none" strike="noStrike">
                          <a:effectLst/>
                        </a:rPr>
                        <a:t>数字</a:t>
                      </a:r>
                      <a:r>
                        <a:rPr lang="en-US" altLang="zh-CN" sz="900" u="none" strike="noStrike">
                          <a:effectLst/>
                        </a:rPr>
                        <a:t>-</a:t>
                      </a:r>
                      <a:r>
                        <a:rPr lang="zh-CN" altLang="en-US" sz="900" u="none" strike="noStrike">
                          <a:effectLst/>
                        </a:rPr>
                        <a:t>模拟信号混合传输收发机</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900" u="none" strike="noStrike">
                          <a:effectLst/>
                        </a:rPr>
                        <a:t>AGC</a:t>
                      </a:r>
                      <a:endParaRPr 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900" u="none" strike="noStrike" dirty="0">
                          <a:effectLst/>
                        </a:rPr>
                        <a:t>LC、</a:t>
                      </a:r>
                      <a:r>
                        <a:rPr lang="zh-CN" altLang="en-US" sz="900" u="none" strike="noStrike" dirty="0">
                          <a:effectLst/>
                        </a:rPr>
                        <a:t>有源</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数字、</a:t>
                      </a:r>
                      <a:r>
                        <a:rPr lang="en-US" sz="900" u="none" strike="noStrike" dirty="0">
                          <a:effectLst/>
                        </a:rPr>
                        <a:t>AM</a:t>
                      </a:r>
                      <a:endParaRPr 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频率合成</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2005225366"/>
                  </a:ext>
                </a:extLst>
              </a:tr>
              <a:tr h="259743">
                <a:tc>
                  <a:txBody>
                    <a:bodyPr/>
                    <a:lstStyle/>
                    <a:p>
                      <a:pPr algn="l" fontAlgn="ctr"/>
                      <a:r>
                        <a:rPr lang="en-US" altLang="zh-CN" sz="900" u="none" strike="noStrike" dirty="0">
                          <a:effectLst/>
                        </a:rPr>
                        <a:t>2021</a:t>
                      </a:r>
                      <a:r>
                        <a:rPr lang="zh-CN" altLang="en-US" sz="900" u="none" strike="noStrike" dirty="0">
                          <a:effectLst/>
                        </a:rPr>
                        <a:t>年全国赛</a:t>
                      </a:r>
                      <a:r>
                        <a:rPr lang="en-US" sz="900" u="none" strike="noStrike" dirty="0">
                          <a:effectLst/>
                        </a:rPr>
                        <a:t>A</a:t>
                      </a:r>
                      <a:r>
                        <a:rPr lang="zh-CN" altLang="en-US" sz="900" u="none" strike="noStrike" dirty="0">
                          <a:effectLst/>
                        </a:rPr>
                        <a:t>题</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900" u="none" strike="noStrike" dirty="0">
                          <a:effectLst/>
                        </a:rPr>
                        <a:t>信号失真度测量装置</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900" u="none" strike="noStrike">
                          <a:effectLst/>
                        </a:rPr>
                        <a:t>AGC</a:t>
                      </a:r>
                      <a:endParaRPr 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smtClean="0">
                          <a:effectLst/>
                        </a:rPr>
                        <a:t>●</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2239368216"/>
                  </a:ext>
                </a:extLst>
              </a:tr>
              <a:tr h="259743">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900" u="none" strike="noStrike" dirty="0" smtClean="0">
                          <a:effectLst/>
                        </a:rPr>
                        <a:t>2022</a:t>
                      </a:r>
                      <a:r>
                        <a:rPr lang="zh-CN" altLang="en-US" sz="900" u="none" strike="noStrike" dirty="0" smtClean="0">
                          <a:effectLst/>
                        </a:rPr>
                        <a:t>年</a:t>
                      </a:r>
                      <a:r>
                        <a:rPr lang="en-US" altLang="zh-CN" sz="900" u="none" strike="noStrike" dirty="0" smtClean="0">
                          <a:effectLst/>
                        </a:rPr>
                        <a:t>TI</a:t>
                      </a:r>
                      <a:r>
                        <a:rPr lang="zh-CN" altLang="en-US" sz="900" u="none" strike="noStrike" dirty="0" smtClean="0">
                          <a:effectLst/>
                        </a:rPr>
                        <a:t>杯</a:t>
                      </a:r>
                      <a:r>
                        <a:rPr lang="en-US" altLang="zh-CN" sz="900" u="none" strike="noStrike" dirty="0" smtClean="0">
                          <a:effectLst/>
                        </a:rPr>
                        <a:t>C</a:t>
                      </a:r>
                      <a:r>
                        <a:rPr lang="zh-CN" altLang="en-US" sz="900" u="none" strike="noStrike" dirty="0" smtClean="0">
                          <a:effectLst/>
                        </a:rPr>
                        <a:t>题</a:t>
                      </a:r>
                      <a:endParaRPr lang="zh-CN" altLang="en-US" sz="900" b="0" i="0" u="none" strike="noStrike" dirty="0" smtClean="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marL="0" algn="l" defTabSz="914400" rtl="0" eaLnBrk="1" fontAlgn="ctr" latinLnBrk="0" hangingPunct="1"/>
                      <a:r>
                        <a:rPr lang="zh-CN" altLang="en-US" sz="900" u="none" strike="noStrike" kern="1200" dirty="0" smtClean="0">
                          <a:solidFill>
                            <a:schemeClr val="dk1"/>
                          </a:solidFill>
                          <a:effectLst/>
                          <a:latin typeface="+mn-lt"/>
                          <a:ea typeface="+mn-ea"/>
                          <a:cs typeface="+mn-cs"/>
                        </a:rPr>
                        <a:t>有源二分频音频放大器</a:t>
                      </a:r>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r>
                        <a:rPr lang="en-US" altLang="zh-CN" sz="900" u="none" strike="noStrike" kern="1200" dirty="0" smtClean="0">
                          <a:solidFill>
                            <a:schemeClr val="dk1"/>
                          </a:solidFill>
                          <a:effectLst/>
                          <a:latin typeface="+mn-lt"/>
                          <a:ea typeface="+mn-ea"/>
                          <a:cs typeface="+mn-cs"/>
                        </a:rPr>
                        <a:t>AGC</a:t>
                      </a:r>
                      <a:r>
                        <a:rPr lang="zh-CN" altLang="en-US" sz="900" u="none" strike="noStrike" kern="1200" dirty="0" smtClean="0">
                          <a:solidFill>
                            <a:schemeClr val="dk1"/>
                          </a:solidFill>
                          <a:effectLst/>
                          <a:latin typeface="+mn-lt"/>
                          <a:ea typeface="+mn-ea"/>
                          <a:cs typeface="+mn-cs"/>
                        </a:rPr>
                        <a:t>、功率</a:t>
                      </a:r>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endParaRPr 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r>
                        <a:rPr lang="zh-CN" altLang="en-US" sz="900" u="none" strike="noStrike" kern="1200" dirty="0" smtClean="0">
                          <a:solidFill>
                            <a:schemeClr val="dk1"/>
                          </a:solidFill>
                          <a:effectLst/>
                          <a:latin typeface="+mn-lt"/>
                          <a:ea typeface="+mn-ea"/>
                          <a:cs typeface="+mn-cs"/>
                        </a:rPr>
                        <a:t>有源</a:t>
                      </a:r>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endParaRPr lang="zh-CN" altLang="en-US" sz="900" u="none" strike="noStrike" kern="120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extLst>
                  <a:ext uri="{0D108BD9-81ED-4DB2-BD59-A6C34878D82A}">
                    <a16:rowId xmlns:a16="http://schemas.microsoft.com/office/drawing/2014/main" val="3688044095"/>
                  </a:ext>
                </a:extLst>
              </a:tr>
              <a:tr h="259743">
                <a:tc>
                  <a:txBody>
                    <a:bodyPr/>
                    <a:lstStyle/>
                    <a:p>
                      <a:pPr algn="l" fontAlgn="ctr"/>
                      <a:r>
                        <a:rPr lang="en-US" altLang="zh-CN" sz="900" u="none" strike="noStrike" dirty="0" smtClean="0">
                          <a:effectLst/>
                        </a:rPr>
                        <a:t>2022</a:t>
                      </a:r>
                      <a:r>
                        <a:rPr lang="zh-CN" altLang="en-US" sz="900" u="none" strike="noStrike" dirty="0" smtClean="0">
                          <a:effectLst/>
                        </a:rPr>
                        <a:t>年</a:t>
                      </a:r>
                      <a:r>
                        <a:rPr lang="en-US" altLang="zh-CN" sz="900" u="none" strike="noStrike" dirty="0" smtClean="0">
                          <a:effectLst/>
                        </a:rPr>
                        <a:t>TI</a:t>
                      </a:r>
                      <a:r>
                        <a:rPr lang="zh-CN" altLang="en-US" sz="900" u="none" strike="noStrike" dirty="0" smtClean="0">
                          <a:effectLst/>
                        </a:rPr>
                        <a:t>杯</a:t>
                      </a:r>
                      <a:r>
                        <a:rPr lang="en-US" altLang="zh-CN" sz="900" u="none" strike="noStrike" dirty="0" smtClean="0">
                          <a:effectLst/>
                        </a:rPr>
                        <a:t>F</a:t>
                      </a:r>
                      <a:r>
                        <a:rPr lang="zh-CN" altLang="en-US" sz="900" u="none" strike="noStrike" dirty="0" smtClean="0">
                          <a:effectLst/>
                        </a:rPr>
                        <a:t>题</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marL="0" algn="l" defTabSz="914400" rtl="0" eaLnBrk="1" fontAlgn="ctr" latinLnBrk="0" hangingPunct="1"/>
                      <a:r>
                        <a:rPr lang="zh-CN" altLang="en-US" sz="900" u="none" strike="noStrike" kern="1200" dirty="0" smtClean="0">
                          <a:solidFill>
                            <a:schemeClr val="dk1"/>
                          </a:solidFill>
                          <a:effectLst/>
                          <a:latin typeface="+mn-lt"/>
                          <a:ea typeface="+mn-ea"/>
                          <a:cs typeface="+mn-cs"/>
                        </a:rPr>
                        <a:t>信号调制度测量装置</a:t>
                      </a:r>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900" u="none" strike="noStrike" dirty="0" smtClean="0">
                          <a:effectLst/>
                        </a:rPr>
                        <a:t>●</a:t>
                      </a:r>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900" u="none" strike="noStrike" dirty="0" smtClean="0">
                          <a:effectLst/>
                        </a:rPr>
                        <a:t>●</a:t>
                      </a:r>
                      <a:endParaRPr 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r>
                        <a:rPr lang="zh-CN" altLang="en-US" sz="900" u="none" strike="noStrike" dirty="0" smtClean="0">
                          <a:effectLst/>
                        </a:rPr>
                        <a:t>●</a:t>
                      </a:r>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r>
                        <a:rPr lang="en-US" altLang="zh-CN" sz="900" u="none" strike="noStrike" kern="1200" dirty="0" smtClean="0">
                          <a:solidFill>
                            <a:schemeClr val="dk1"/>
                          </a:solidFill>
                          <a:effectLst/>
                          <a:latin typeface="+mn-lt"/>
                          <a:ea typeface="+mn-ea"/>
                          <a:cs typeface="+mn-cs"/>
                        </a:rPr>
                        <a:t>AM</a:t>
                      </a:r>
                      <a:r>
                        <a:rPr lang="zh-CN" altLang="en-US" sz="900" u="none" strike="noStrike" kern="1200" dirty="0" smtClean="0">
                          <a:solidFill>
                            <a:schemeClr val="dk1"/>
                          </a:solidFill>
                          <a:effectLst/>
                          <a:latin typeface="+mn-lt"/>
                          <a:ea typeface="+mn-ea"/>
                          <a:cs typeface="+mn-cs"/>
                        </a:rPr>
                        <a:t>、</a:t>
                      </a:r>
                      <a:r>
                        <a:rPr lang="en-US" altLang="zh-CN" sz="900" u="none" strike="noStrike" kern="1200" dirty="0" smtClean="0">
                          <a:solidFill>
                            <a:schemeClr val="dk1"/>
                          </a:solidFill>
                          <a:effectLst/>
                          <a:latin typeface="+mn-lt"/>
                          <a:ea typeface="+mn-ea"/>
                          <a:cs typeface="+mn-cs"/>
                        </a:rPr>
                        <a:t>FM</a:t>
                      </a:r>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r>
                        <a:rPr lang="zh-CN" altLang="en-US" sz="900" u="none" strike="noStrike" kern="1200" dirty="0" smtClean="0">
                          <a:solidFill>
                            <a:schemeClr val="dk1"/>
                          </a:solidFill>
                          <a:effectLst/>
                          <a:latin typeface="+mn-lt"/>
                          <a:ea typeface="+mn-ea"/>
                          <a:cs typeface="+mn-cs"/>
                        </a:rPr>
                        <a:t>混频</a:t>
                      </a:r>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900" u="none" strike="noStrike" dirty="0" smtClean="0">
                          <a:effectLst/>
                        </a:rPr>
                        <a:t>频率合成</a:t>
                      </a:r>
                      <a:endParaRPr lang="zh-CN" altLang="en-US" sz="900" b="0" i="0" u="none" strike="noStrike" dirty="0" smtClean="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900" u="none" strike="noStrike" dirty="0" smtClean="0">
                          <a:effectLst/>
                        </a:rPr>
                        <a:t>●</a:t>
                      </a:r>
                      <a:endParaRPr lang="zh-CN" altLang="en-US" sz="900" b="1" i="0" u="none" strike="noStrike" dirty="0" smtClean="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900" u="none" strike="noStrike" dirty="0" smtClean="0">
                          <a:effectLst/>
                        </a:rPr>
                        <a:t>●</a:t>
                      </a:r>
                      <a:endParaRPr lang="zh-CN" altLang="en-US" sz="900" b="1" i="0" u="none" strike="noStrike" dirty="0" smtClean="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endParaRPr lang="zh-CN" altLang="en-US" sz="900" u="none" strike="noStrike" kern="120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900" u="none" strike="noStrike" dirty="0" smtClean="0">
                          <a:effectLst/>
                        </a:rPr>
                        <a:t>●</a:t>
                      </a:r>
                      <a:endParaRPr lang="zh-CN" altLang="en-US" sz="900" b="1" i="0" u="none" strike="noStrike" dirty="0" smtClean="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solidFill>
                      <a:schemeClr val="bg2">
                        <a:lumMod val="20000"/>
                        <a:lumOff val="80000"/>
                      </a:schemeClr>
                    </a:solidFill>
                  </a:tcP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solidFill>
                      <a:schemeClr val="bg2">
                        <a:lumMod val="20000"/>
                        <a:lumOff val="80000"/>
                      </a:schemeClr>
                    </a:solidFill>
                  </a:tcPr>
                </a:tc>
                <a:extLst>
                  <a:ext uri="{0D108BD9-81ED-4DB2-BD59-A6C34878D82A}">
                    <a16:rowId xmlns:a16="http://schemas.microsoft.com/office/drawing/2014/main" val="1512611306"/>
                  </a:ext>
                </a:extLst>
              </a:tr>
              <a:tr h="259743">
                <a:tc>
                  <a:txBody>
                    <a:bodyPr/>
                    <a:lstStyle/>
                    <a:p>
                      <a:pPr algn="l" fontAlgn="ctr"/>
                      <a:r>
                        <a:rPr lang="en-US" altLang="zh-CN" sz="900" u="none" strike="noStrike" dirty="0" smtClean="0">
                          <a:effectLst/>
                        </a:rPr>
                        <a:t>2023</a:t>
                      </a:r>
                      <a:r>
                        <a:rPr lang="zh-CN" altLang="en-US" sz="900" u="none" strike="noStrike" dirty="0" smtClean="0">
                          <a:effectLst/>
                        </a:rPr>
                        <a:t>年全国赛</a:t>
                      </a:r>
                      <a:r>
                        <a:rPr lang="en-US" altLang="zh-CN" sz="900" u="none" strike="noStrike" dirty="0" smtClean="0">
                          <a:effectLst/>
                        </a:rPr>
                        <a:t>B</a:t>
                      </a:r>
                      <a:r>
                        <a:rPr lang="zh-CN" altLang="en-US" sz="900" u="none" strike="noStrike" dirty="0" smtClean="0">
                          <a:effectLst/>
                        </a:rPr>
                        <a:t>题</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marL="0" algn="l" defTabSz="914400" rtl="0" eaLnBrk="1" fontAlgn="ctr" latinLnBrk="0" hangingPunct="1"/>
                      <a:r>
                        <a:rPr lang="zh-CN" altLang="en-US" sz="900" u="none" strike="noStrike" kern="1200" dirty="0" smtClean="0">
                          <a:solidFill>
                            <a:schemeClr val="dk1"/>
                          </a:solidFill>
                          <a:effectLst/>
                          <a:latin typeface="+mn-lt"/>
                          <a:ea typeface="+mn-ea"/>
                          <a:cs typeface="+mn-cs"/>
                        </a:rPr>
                        <a:t>同轴电缆长度与终端负载检测装置</a:t>
                      </a:r>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900" u="none" strike="noStrike" dirty="0" smtClean="0">
                          <a:effectLst/>
                        </a:rPr>
                        <a:t>●</a:t>
                      </a:r>
                      <a:endParaRPr lang="zh-CN" altLang="en-US" sz="900" b="1" i="0" u="none" strike="noStrike" dirty="0" smtClean="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marL="0" algn="ctr" defTabSz="914400" rtl="0" eaLnBrk="1" fontAlgn="ctr" latinLnBrk="0" hangingPunct="1"/>
                      <a:endParaRPr lang="zh-CN" altLang="en-US" sz="900" u="none" strike="noStrike" kern="120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a:solidFill>
                          <a:schemeClr val="dk1"/>
                        </a:solidFill>
                        <a:effectLst/>
                        <a:latin typeface="+mn-lt"/>
                        <a:ea typeface="+mn-ea"/>
                        <a:cs typeface="+mn-cs"/>
                      </a:endParaRPr>
                    </a:p>
                  </a:txBody>
                  <a:tcPr marL="4048" marR="4048" marT="4048"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900" u="none" strike="noStrike" dirty="0" smtClean="0">
                          <a:effectLst/>
                        </a:rPr>
                        <a:t>●</a:t>
                      </a:r>
                      <a:endParaRPr lang="zh-CN" altLang="en-US" sz="900" b="1" i="0" u="none" strike="noStrike" dirty="0" smtClean="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marL="0" algn="ctr" defTabSz="914400" rtl="0" eaLnBrk="1" fontAlgn="ctr" latinLnBrk="0" hangingPunct="1"/>
                      <a:endParaRPr lang="zh-CN" altLang="en-US" sz="900" u="none" strike="noStrike" kern="120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r>
                        <a:rPr lang="en-US" altLang="zh-CN" sz="900" u="none" strike="noStrike" kern="1200" dirty="0" smtClean="0">
                          <a:solidFill>
                            <a:schemeClr val="dk1"/>
                          </a:solidFill>
                          <a:effectLst/>
                          <a:latin typeface="+mn-lt"/>
                          <a:ea typeface="+mn-ea"/>
                          <a:cs typeface="+mn-cs"/>
                        </a:rPr>
                        <a:t>DDS</a:t>
                      </a:r>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900" u="none" strike="noStrike" dirty="0" smtClean="0">
                          <a:effectLst/>
                        </a:rPr>
                        <a:t>●</a:t>
                      </a:r>
                      <a:endParaRPr lang="zh-CN" altLang="en-US" sz="900" b="1" i="0" u="none" strike="noStrike" dirty="0" smtClean="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marL="0" algn="ctr" defTabSz="914400" rtl="0" eaLnBrk="1" fontAlgn="ctr" latinLnBrk="0" hangingPunct="1"/>
                      <a:endParaRPr lang="zh-CN" altLang="en-US" sz="900" u="none" strike="noStrike" kern="120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extLst>
                  <a:ext uri="{0D108BD9-81ED-4DB2-BD59-A6C34878D82A}">
                    <a16:rowId xmlns:a16="http://schemas.microsoft.com/office/drawing/2014/main" val="4028681855"/>
                  </a:ext>
                </a:extLst>
              </a:tr>
              <a:tr h="259743">
                <a:tc>
                  <a:txBody>
                    <a:bodyPr/>
                    <a:lstStyle/>
                    <a:p>
                      <a:pPr algn="l" fontAlgn="ctr"/>
                      <a:r>
                        <a:rPr lang="en-US" altLang="zh-CN" sz="900" u="none" strike="noStrike" dirty="0" smtClean="0">
                          <a:effectLst/>
                        </a:rPr>
                        <a:t>2023</a:t>
                      </a:r>
                      <a:r>
                        <a:rPr lang="zh-CN" altLang="en-US" sz="900" u="none" strike="noStrike" dirty="0" smtClean="0">
                          <a:effectLst/>
                        </a:rPr>
                        <a:t>年全国赛</a:t>
                      </a:r>
                      <a:r>
                        <a:rPr lang="en-US" altLang="zh-CN" sz="900" u="none" strike="noStrike" dirty="0" smtClean="0">
                          <a:effectLst/>
                        </a:rPr>
                        <a:t>C</a:t>
                      </a:r>
                      <a:r>
                        <a:rPr lang="zh-CN" altLang="en-US" sz="900" u="none" strike="noStrike" dirty="0" smtClean="0">
                          <a:effectLst/>
                        </a:rPr>
                        <a:t>题</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marL="0" algn="l" defTabSz="914400" rtl="0" eaLnBrk="1" fontAlgn="ctr" latinLnBrk="0" hangingPunct="1"/>
                      <a:r>
                        <a:rPr lang="zh-CN" altLang="en-US" sz="900" u="none" strike="noStrike" kern="1200" dirty="0" smtClean="0">
                          <a:solidFill>
                            <a:schemeClr val="dk1"/>
                          </a:solidFill>
                          <a:effectLst/>
                          <a:latin typeface="+mn-lt"/>
                          <a:ea typeface="+mn-ea"/>
                          <a:cs typeface="+mn-cs"/>
                        </a:rPr>
                        <a:t>电容电感测量装置</a:t>
                      </a:r>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900" u="none" strike="noStrike" dirty="0" smtClean="0">
                          <a:effectLst/>
                        </a:rPr>
                        <a:t>●</a:t>
                      </a:r>
                      <a:endParaRPr lang="zh-CN" altLang="en-US" sz="900" b="1" i="0" u="none" strike="noStrike" dirty="0" smtClean="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marL="0" algn="ctr" defTabSz="914400" rtl="0" eaLnBrk="1" fontAlgn="ctr" latinLnBrk="0" hangingPunct="1"/>
                      <a:endParaRPr lang="en-US" sz="900" u="none" strike="noStrike" kern="1200" dirty="0">
                        <a:solidFill>
                          <a:schemeClr val="dk1"/>
                        </a:solidFill>
                        <a:effectLst/>
                        <a:latin typeface="+mn-lt"/>
                        <a:ea typeface="+mn-ea"/>
                        <a:cs typeface="+mn-cs"/>
                      </a:endParaRPr>
                    </a:p>
                  </a:txBody>
                  <a:tcPr marL="4048" marR="4048" marT="4048"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900" b="0" i="0" u="none" strike="noStrike" dirty="0" smtClean="0">
                          <a:solidFill>
                            <a:schemeClr val="dk1"/>
                          </a:solidFill>
                          <a:effectLst/>
                          <a:latin typeface="+mn-lt"/>
                          <a:ea typeface="+mn-ea"/>
                        </a:rPr>
                        <a:t>有源</a:t>
                      </a:r>
                      <a:endParaRPr lang="zh-CN" altLang="en-US" sz="900" b="1" i="0" u="none" strike="noStrike" dirty="0" smtClean="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marL="0" algn="ctr" defTabSz="914400" rtl="0" eaLnBrk="1" fontAlgn="ctr" latinLnBrk="0" hangingPunct="1"/>
                      <a:endParaRPr lang="zh-CN" altLang="en-US" sz="900" u="none" strike="noStrike" kern="1200">
                        <a:solidFill>
                          <a:schemeClr val="dk1"/>
                        </a:solidFill>
                        <a:effectLst/>
                        <a:latin typeface="+mn-lt"/>
                        <a:ea typeface="+mn-ea"/>
                        <a:cs typeface="+mn-cs"/>
                      </a:endParaRPr>
                    </a:p>
                  </a:txBody>
                  <a:tcPr marL="4048" marR="4048" marT="4048"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900" u="none" strike="noStrike" dirty="0" smtClean="0">
                          <a:effectLst/>
                        </a:rPr>
                        <a:t>●</a:t>
                      </a:r>
                      <a:endParaRPr lang="zh-CN" altLang="en-US" sz="900" b="1" i="0" u="none" strike="noStrike" dirty="0" smtClean="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marL="0" algn="ctr" defTabSz="914400" rtl="0" eaLnBrk="1" fontAlgn="ctr" latinLnBrk="0" hangingPunct="1"/>
                      <a:endParaRPr lang="zh-CN" altLang="en-US" sz="900" u="none" strike="noStrike" kern="120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900" u="none" strike="noStrike" dirty="0" smtClean="0">
                          <a:effectLst/>
                        </a:rPr>
                        <a:t>●</a:t>
                      </a:r>
                      <a:endParaRPr lang="zh-CN" altLang="en-US" sz="900" b="1" i="0" u="none" strike="noStrike" dirty="0" smtClean="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extLst>
                  <a:ext uri="{0D108BD9-81ED-4DB2-BD59-A6C34878D82A}">
                    <a16:rowId xmlns:a16="http://schemas.microsoft.com/office/drawing/2014/main" val="119084971"/>
                  </a:ext>
                </a:extLst>
              </a:tr>
              <a:tr h="259743">
                <a:tc>
                  <a:txBody>
                    <a:bodyPr/>
                    <a:lstStyle/>
                    <a:p>
                      <a:pPr algn="l" fontAlgn="ctr"/>
                      <a:r>
                        <a:rPr lang="en-US" altLang="zh-CN" sz="900" u="none" strike="noStrike" dirty="0" smtClean="0">
                          <a:effectLst/>
                        </a:rPr>
                        <a:t>2023</a:t>
                      </a:r>
                      <a:r>
                        <a:rPr lang="zh-CN" altLang="en-US" sz="900" u="none" strike="noStrike" dirty="0" smtClean="0">
                          <a:effectLst/>
                        </a:rPr>
                        <a:t>年全国赛</a:t>
                      </a:r>
                      <a:r>
                        <a:rPr lang="en-US" altLang="zh-CN" sz="900" u="none" strike="noStrike" dirty="0" smtClean="0">
                          <a:effectLst/>
                        </a:rPr>
                        <a:t>D</a:t>
                      </a:r>
                      <a:r>
                        <a:rPr lang="zh-CN" altLang="en-US" sz="900" u="none" strike="noStrike" dirty="0" smtClean="0">
                          <a:effectLst/>
                        </a:rPr>
                        <a:t>题</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marL="0" algn="l" defTabSz="914400" rtl="0" eaLnBrk="1" fontAlgn="ctr" latinLnBrk="0" hangingPunct="1"/>
                      <a:r>
                        <a:rPr lang="zh-CN" altLang="en-US" sz="900" u="none" strike="noStrike" kern="1200" dirty="0" smtClean="0">
                          <a:solidFill>
                            <a:schemeClr val="dk1"/>
                          </a:solidFill>
                          <a:effectLst/>
                          <a:latin typeface="+mn-lt"/>
                          <a:ea typeface="+mn-ea"/>
                          <a:cs typeface="+mn-cs"/>
                        </a:rPr>
                        <a:t>信号调制方式识别与参数估计</a:t>
                      </a:r>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r>
                        <a:rPr lang="zh-CN" altLang="en-US" sz="900" u="none" strike="noStrike" dirty="0" smtClean="0">
                          <a:effectLst/>
                        </a:rPr>
                        <a:t>●</a:t>
                      </a:r>
                      <a:endParaRPr 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r>
                        <a:rPr lang="zh-CN" altLang="en-US" sz="900" u="none" strike="noStrike" dirty="0" smtClean="0">
                          <a:effectLst/>
                        </a:rPr>
                        <a:t>●</a:t>
                      </a:r>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r>
                        <a:rPr lang="en-US" altLang="zh-CN" sz="900" u="none" strike="noStrike" kern="1200" dirty="0" smtClean="0">
                          <a:solidFill>
                            <a:schemeClr val="dk1"/>
                          </a:solidFill>
                          <a:effectLst/>
                          <a:latin typeface="+mn-lt"/>
                          <a:ea typeface="+mn-ea"/>
                          <a:cs typeface="+mn-cs"/>
                        </a:rPr>
                        <a:t>AM</a:t>
                      </a:r>
                      <a:r>
                        <a:rPr lang="zh-CN" altLang="en-US" sz="900" u="none" strike="noStrike" kern="1200" dirty="0" smtClean="0">
                          <a:solidFill>
                            <a:schemeClr val="dk1"/>
                          </a:solidFill>
                          <a:effectLst/>
                          <a:latin typeface="+mn-lt"/>
                          <a:ea typeface="+mn-ea"/>
                          <a:cs typeface="+mn-cs"/>
                        </a:rPr>
                        <a:t>、</a:t>
                      </a:r>
                      <a:r>
                        <a:rPr lang="en-US" altLang="zh-CN" sz="900" u="none" strike="noStrike" kern="1200" dirty="0" smtClean="0">
                          <a:solidFill>
                            <a:schemeClr val="dk1"/>
                          </a:solidFill>
                          <a:effectLst/>
                          <a:latin typeface="+mn-lt"/>
                          <a:ea typeface="+mn-ea"/>
                          <a:cs typeface="+mn-cs"/>
                        </a:rPr>
                        <a:t>FM</a:t>
                      </a:r>
                      <a:r>
                        <a:rPr lang="zh-CN" altLang="en-US" sz="900" u="none" strike="noStrike" kern="1200" dirty="0" smtClean="0">
                          <a:solidFill>
                            <a:schemeClr val="dk1"/>
                          </a:solidFill>
                          <a:effectLst/>
                          <a:latin typeface="+mn-lt"/>
                          <a:ea typeface="+mn-ea"/>
                          <a:cs typeface="+mn-cs"/>
                        </a:rPr>
                        <a:t>、数字</a:t>
                      </a:r>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r>
                        <a:rPr lang="zh-CN" altLang="en-US" sz="900" u="none" strike="noStrike" dirty="0" smtClean="0">
                          <a:effectLst/>
                        </a:rPr>
                        <a:t>●</a:t>
                      </a:r>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900" u="none" strike="noStrike" dirty="0" smtClean="0">
                          <a:effectLst/>
                        </a:rPr>
                        <a:t>●</a:t>
                      </a:r>
                      <a:endParaRPr lang="zh-CN" altLang="en-US" sz="900" b="1" i="0" u="none" strike="noStrike" dirty="0" smtClean="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extLst>
                  <a:ext uri="{0D108BD9-81ED-4DB2-BD59-A6C34878D82A}">
                    <a16:rowId xmlns:a16="http://schemas.microsoft.com/office/drawing/2014/main" val="2887804836"/>
                  </a:ext>
                </a:extLst>
              </a:tr>
              <a:tr h="259743">
                <a:tc>
                  <a:txBody>
                    <a:bodyPr/>
                    <a:lstStyle/>
                    <a:p>
                      <a:pPr algn="l" fontAlgn="ctr"/>
                      <a:r>
                        <a:rPr lang="en-US" altLang="zh-CN" sz="900" u="none" strike="noStrike" dirty="0" smtClean="0">
                          <a:effectLst/>
                        </a:rPr>
                        <a:t>2023</a:t>
                      </a:r>
                      <a:r>
                        <a:rPr lang="zh-CN" altLang="en-US" sz="900" u="none" strike="noStrike" dirty="0" smtClean="0">
                          <a:effectLst/>
                        </a:rPr>
                        <a:t>年全国赛</a:t>
                      </a:r>
                      <a:r>
                        <a:rPr lang="en-US" altLang="zh-CN" sz="900" u="none" strike="noStrike" dirty="0" smtClean="0">
                          <a:effectLst/>
                        </a:rPr>
                        <a:t>H</a:t>
                      </a:r>
                      <a:r>
                        <a:rPr lang="zh-CN" altLang="en-US" sz="900" u="none" strike="noStrike" dirty="0" smtClean="0">
                          <a:effectLst/>
                        </a:rPr>
                        <a:t>题</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marL="0" algn="l" defTabSz="914400" rtl="0" eaLnBrk="1" fontAlgn="ctr" latinLnBrk="0" hangingPunct="1"/>
                      <a:r>
                        <a:rPr lang="zh-CN" altLang="en-US" sz="900" u="none" strike="noStrike" kern="1200" dirty="0" smtClean="0">
                          <a:solidFill>
                            <a:schemeClr val="dk1"/>
                          </a:solidFill>
                          <a:effectLst/>
                          <a:latin typeface="+mn-lt"/>
                          <a:ea typeface="+mn-ea"/>
                          <a:cs typeface="+mn-cs"/>
                        </a:rPr>
                        <a:t>信号分离装置</a:t>
                      </a:r>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r>
                        <a:rPr lang="zh-CN" altLang="en-US" sz="900" u="none" strike="noStrike" dirty="0" smtClean="0">
                          <a:effectLst/>
                        </a:rPr>
                        <a:t>●</a:t>
                      </a:r>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r>
                        <a:rPr lang="zh-CN" altLang="en-US" sz="900" u="none" strike="noStrike" kern="1200" dirty="0" smtClean="0">
                          <a:solidFill>
                            <a:schemeClr val="dk1"/>
                          </a:solidFill>
                          <a:effectLst/>
                          <a:latin typeface="+mn-lt"/>
                          <a:ea typeface="+mn-ea"/>
                          <a:cs typeface="+mn-cs"/>
                        </a:rPr>
                        <a:t>程控</a:t>
                      </a:r>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r>
                        <a:rPr lang="zh-CN" altLang="en-US" sz="900" u="none" strike="noStrike" dirty="0" smtClean="0">
                          <a:effectLst/>
                        </a:rPr>
                        <a:t>●</a:t>
                      </a:r>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r>
                        <a:rPr lang="en-US" altLang="zh-CN" sz="900" u="none" strike="noStrike" kern="1200" dirty="0" smtClean="0">
                          <a:solidFill>
                            <a:schemeClr val="dk1"/>
                          </a:solidFill>
                          <a:effectLst/>
                          <a:latin typeface="+mn-lt"/>
                          <a:ea typeface="+mn-ea"/>
                          <a:cs typeface="+mn-cs"/>
                        </a:rPr>
                        <a:t>DDS</a:t>
                      </a:r>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r>
                        <a:rPr lang="zh-CN" altLang="en-US" sz="900" u="none" strike="noStrike" dirty="0" smtClean="0">
                          <a:effectLst/>
                        </a:rPr>
                        <a:t>●</a:t>
                      </a:r>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tc>
                  <a:txBody>
                    <a:bodyPr/>
                    <a:lstStyle/>
                    <a:p>
                      <a:pPr marL="0" algn="ctr" defTabSz="914400" rtl="0" eaLnBrk="1" fontAlgn="ctr" latinLnBrk="0" hangingPunct="1"/>
                      <a:endParaRPr lang="zh-CN" altLang="en-US" sz="900" u="none" strike="noStrike" kern="1200" dirty="0">
                        <a:solidFill>
                          <a:schemeClr val="dk1"/>
                        </a:solidFill>
                        <a:effectLst/>
                        <a:latin typeface="+mn-lt"/>
                        <a:ea typeface="+mn-ea"/>
                        <a:cs typeface="+mn-cs"/>
                      </a:endParaRPr>
                    </a:p>
                  </a:txBody>
                  <a:tcPr marL="4048" marR="4048" marT="4048" marB="0" anchor="ctr"/>
                </a:tc>
                <a:extLst>
                  <a:ext uri="{0D108BD9-81ED-4DB2-BD59-A6C34878D82A}">
                    <a16:rowId xmlns:a16="http://schemas.microsoft.com/office/drawing/2014/main" val="1022377566"/>
                  </a:ext>
                </a:extLst>
              </a:tr>
            </a:tbl>
          </a:graphicData>
        </a:graphic>
      </p:graphicFrame>
    </p:spTree>
    <p:extLst>
      <p:ext uri="{BB962C8B-B14F-4D97-AF65-F5344CB8AC3E}">
        <p14:creationId xmlns:p14="http://schemas.microsoft.com/office/powerpoint/2010/main" val="26944155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17</a:t>
            </a:fld>
            <a:endParaRPr lang="en-US" altLang="zh-CN">
              <a:solidFill>
                <a:srgbClr val="FFFFFF"/>
              </a:solidFill>
            </a:endParaRPr>
          </a:p>
        </p:txBody>
      </p:sp>
      <p:sp>
        <p:nvSpPr>
          <p:cNvPr id="5" name="文本框 4"/>
          <p:cNvSpPr txBox="1"/>
          <p:nvPr/>
        </p:nvSpPr>
        <p:spPr>
          <a:xfrm>
            <a:off x="449942" y="572242"/>
            <a:ext cx="6799943" cy="5632311"/>
          </a:xfrm>
          <a:prstGeom prst="rect">
            <a:avLst/>
          </a:prstGeom>
          <a:noFill/>
        </p:spPr>
        <p:txBody>
          <a:bodyPr wrap="square" rtlCol="0">
            <a:spAutoFit/>
          </a:bodyPr>
          <a:lstStyle/>
          <a:p>
            <a:pPr>
              <a:lnSpc>
                <a:spcPct val="150000"/>
              </a:lnSpc>
            </a:pPr>
            <a:r>
              <a:rPr lang="zh-CN" altLang="en-US" dirty="0" smtClean="0">
                <a:solidFill>
                  <a:srgbClr val="C00000"/>
                </a:solidFill>
              </a:rPr>
              <a:t>总计</a:t>
            </a:r>
            <a:endParaRPr lang="en-US" altLang="zh-CN" dirty="0" smtClean="0">
              <a:solidFill>
                <a:srgbClr val="C00000"/>
              </a:solidFill>
            </a:endParaRPr>
          </a:p>
          <a:p>
            <a:pPr>
              <a:lnSpc>
                <a:spcPct val="150000"/>
              </a:lnSpc>
            </a:pPr>
            <a:r>
              <a:rPr lang="zh-CN" altLang="en-US" dirty="0" smtClean="0"/>
              <a:t>放大器：低频放大器 </a:t>
            </a:r>
            <a:r>
              <a:rPr lang="en-US" altLang="zh-CN" dirty="0" smtClean="0"/>
              <a:t>21</a:t>
            </a:r>
            <a:r>
              <a:rPr lang="zh-CN" altLang="en-US" dirty="0" smtClean="0"/>
              <a:t>、高频放大器 </a:t>
            </a:r>
            <a:r>
              <a:rPr lang="en-US" altLang="zh-CN" dirty="0" smtClean="0"/>
              <a:t>20</a:t>
            </a:r>
            <a:r>
              <a:rPr lang="zh-CN" altLang="en-US" dirty="0" smtClean="0"/>
              <a:t>（有重叠）</a:t>
            </a:r>
            <a:endParaRPr lang="en-US" altLang="zh-CN" dirty="0" smtClean="0"/>
          </a:p>
          <a:p>
            <a:pPr>
              <a:lnSpc>
                <a:spcPct val="150000"/>
              </a:lnSpc>
            </a:pPr>
            <a:r>
              <a:rPr lang="zh-CN" altLang="en-US" dirty="0" smtClean="0"/>
              <a:t>滤波器：</a:t>
            </a:r>
            <a:r>
              <a:rPr lang="en-US" altLang="zh-CN" dirty="0" smtClean="0"/>
              <a:t>LC</a:t>
            </a:r>
            <a:r>
              <a:rPr lang="zh-CN" altLang="en-US" dirty="0" smtClean="0"/>
              <a:t>滤波器 </a:t>
            </a:r>
            <a:r>
              <a:rPr lang="en-US" altLang="zh-CN" dirty="0" smtClean="0"/>
              <a:t>9</a:t>
            </a:r>
            <a:r>
              <a:rPr lang="zh-CN" altLang="en-US" dirty="0" smtClean="0"/>
              <a:t>、有源滤波器 </a:t>
            </a:r>
            <a:r>
              <a:rPr lang="en-US" altLang="zh-CN" dirty="0" smtClean="0"/>
              <a:t>15</a:t>
            </a:r>
            <a:r>
              <a:rPr lang="zh-CN" altLang="en-US" dirty="0"/>
              <a:t>（有重叠）</a:t>
            </a:r>
            <a:endParaRPr lang="en-US" altLang="zh-CN" dirty="0"/>
          </a:p>
          <a:p>
            <a:pPr>
              <a:lnSpc>
                <a:spcPct val="150000"/>
              </a:lnSpc>
            </a:pPr>
            <a:r>
              <a:rPr lang="zh-CN" altLang="en-US" dirty="0" smtClean="0"/>
              <a:t>调制与解调：</a:t>
            </a:r>
            <a:r>
              <a:rPr lang="en-US" altLang="zh-CN" dirty="0" smtClean="0"/>
              <a:t>10</a:t>
            </a:r>
            <a:r>
              <a:rPr lang="zh-CN" altLang="en-US" dirty="0" smtClean="0"/>
              <a:t>，其中绝大部分是模拟调制与解调</a:t>
            </a:r>
            <a:endParaRPr lang="en-US" altLang="zh-CN" dirty="0" smtClean="0"/>
          </a:p>
          <a:p>
            <a:pPr>
              <a:lnSpc>
                <a:spcPct val="150000"/>
              </a:lnSpc>
            </a:pPr>
            <a:r>
              <a:rPr lang="zh-CN" altLang="en-US" dirty="0" smtClean="0"/>
              <a:t>乘法器：</a:t>
            </a:r>
            <a:r>
              <a:rPr lang="en-US" altLang="zh-CN" dirty="0" smtClean="0"/>
              <a:t>7</a:t>
            </a:r>
            <a:r>
              <a:rPr lang="zh-CN" altLang="en-US" dirty="0" smtClean="0"/>
              <a:t>，混频、乘法运算</a:t>
            </a:r>
            <a:endParaRPr lang="en-US" altLang="zh-CN" dirty="0" smtClean="0"/>
          </a:p>
          <a:p>
            <a:pPr>
              <a:lnSpc>
                <a:spcPct val="150000"/>
              </a:lnSpc>
            </a:pPr>
            <a:r>
              <a:rPr lang="zh-CN" altLang="en-US" dirty="0" smtClean="0"/>
              <a:t>锁相环：</a:t>
            </a:r>
            <a:r>
              <a:rPr lang="en-US" altLang="zh-CN" dirty="0" smtClean="0"/>
              <a:t>10</a:t>
            </a:r>
            <a:r>
              <a:rPr lang="zh-CN" altLang="en-US" dirty="0" smtClean="0"/>
              <a:t>，主要是频率合成与同步信号恢复</a:t>
            </a:r>
            <a:endParaRPr lang="en-US" altLang="zh-CN" dirty="0" smtClean="0"/>
          </a:p>
          <a:p>
            <a:pPr>
              <a:lnSpc>
                <a:spcPct val="150000"/>
              </a:lnSpc>
            </a:pPr>
            <a:r>
              <a:rPr lang="zh-CN" altLang="en-US" dirty="0" smtClean="0"/>
              <a:t>振荡器：</a:t>
            </a:r>
            <a:r>
              <a:rPr lang="en-US" altLang="zh-CN" dirty="0" smtClean="0"/>
              <a:t>10</a:t>
            </a:r>
            <a:r>
              <a:rPr lang="zh-CN" altLang="en-US" dirty="0" smtClean="0"/>
              <a:t>，包含</a:t>
            </a:r>
            <a:r>
              <a:rPr lang="en-US" altLang="zh-CN" dirty="0" smtClean="0"/>
              <a:t>RC</a:t>
            </a:r>
            <a:r>
              <a:rPr lang="zh-CN" altLang="en-US" dirty="0" smtClean="0"/>
              <a:t>、</a:t>
            </a:r>
            <a:r>
              <a:rPr lang="en-US" altLang="zh-CN" dirty="0" smtClean="0"/>
              <a:t>LC</a:t>
            </a:r>
            <a:r>
              <a:rPr lang="zh-CN" altLang="en-US" dirty="0" smtClean="0"/>
              <a:t>、</a:t>
            </a:r>
            <a:r>
              <a:rPr lang="en-US" altLang="zh-CN" dirty="0" smtClean="0"/>
              <a:t>DDS</a:t>
            </a:r>
            <a:r>
              <a:rPr lang="zh-CN" altLang="en-US" dirty="0"/>
              <a:t>等</a:t>
            </a:r>
            <a:endParaRPr lang="en-US" altLang="zh-CN" dirty="0" smtClean="0"/>
          </a:p>
          <a:p>
            <a:pPr>
              <a:lnSpc>
                <a:spcPct val="150000"/>
              </a:lnSpc>
            </a:pPr>
            <a:r>
              <a:rPr lang="zh-CN" altLang="en-US" dirty="0"/>
              <a:t>微处理器（含软件）：</a:t>
            </a:r>
            <a:r>
              <a:rPr lang="en-US" altLang="zh-CN" dirty="0" smtClean="0"/>
              <a:t>31</a:t>
            </a:r>
            <a:endParaRPr lang="en-US" altLang="zh-CN" dirty="0"/>
          </a:p>
          <a:p>
            <a:pPr>
              <a:lnSpc>
                <a:spcPct val="150000"/>
              </a:lnSpc>
            </a:pPr>
            <a:r>
              <a:rPr lang="en-US" altLang="zh-CN" dirty="0" smtClean="0"/>
              <a:t>ADC &amp; DAC</a:t>
            </a:r>
            <a:r>
              <a:rPr lang="zh-CN" altLang="en-US" dirty="0" smtClean="0"/>
              <a:t>：</a:t>
            </a:r>
            <a:r>
              <a:rPr lang="en-US" altLang="zh-CN" dirty="0" smtClean="0"/>
              <a:t>16</a:t>
            </a:r>
          </a:p>
          <a:p>
            <a:pPr>
              <a:lnSpc>
                <a:spcPct val="150000"/>
              </a:lnSpc>
            </a:pPr>
            <a:r>
              <a:rPr lang="zh-CN" altLang="en-US" dirty="0" smtClean="0"/>
              <a:t>数字电路</a:t>
            </a:r>
            <a:r>
              <a:rPr lang="zh-CN" altLang="en-US" dirty="0"/>
              <a:t>：</a:t>
            </a:r>
            <a:r>
              <a:rPr lang="en-US" altLang="zh-CN" dirty="0"/>
              <a:t>8</a:t>
            </a:r>
            <a:r>
              <a:rPr lang="zh-CN" altLang="en-US" dirty="0"/>
              <a:t>，其中多数与高速数字电路相关</a:t>
            </a:r>
            <a:endParaRPr lang="en-US" altLang="zh-CN" dirty="0"/>
          </a:p>
          <a:p>
            <a:pPr>
              <a:lnSpc>
                <a:spcPct val="150000"/>
              </a:lnSpc>
            </a:pPr>
            <a:r>
              <a:rPr lang="zh-CN" altLang="en-US" dirty="0" smtClean="0"/>
              <a:t>无线传输（蓝牙、</a:t>
            </a:r>
            <a:r>
              <a:rPr lang="en-US" altLang="zh-CN" dirty="0" smtClean="0"/>
              <a:t>WIFI</a:t>
            </a:r>
            <a:r>
              <a:rPr lang="zh-CN" altLang="en-US" dirty="0" smtClean="0"/>
              <a:t>）：</a:t>
            </a:r>
            <a:r>
              <a:rPr lang="en-US" altLang="zh-CN" dirty="0" smtClean="0"/>
              <a:t>2</a:t>
            </a:r>
          </a:p>
          <a:p>
            <a:pPr>
              <a:lnSpc>
                <a:spcPct val="150000"/>
              </a:lnSpc>
            </a:pPr>
            <a:r>
              <a:rPr lang="zh-CN" altLang="en-US" dirty="0" smtClean="0"/>
              <a:t>辅助电源（开关电源）：</a:t>
            </a:r>
            <a:r>
              <a:rPr lang="en-US" altLang="zh-CN" dirty="0" smtClean="0"/>
              <a:t>1</a:t>
            </a:r>
            <a:endParaRPr lang="zh-CN" altLang="en-US" dirty="0"/>
          </a:p>
        </p:txBody>
      </p:sp>
      <p:sp>
        <p:nvSpPr>
          <p:cNvPr id="7" name="矩形 6"/>
          <p:cNvSpPr/>
          <p:nvPr/>
        </p:nvSpPr>
        <p:spPr>
          <a:xfrm>
            <a:off x="7468962" y="1214103"/>
            <a:ext cx="3265714" cy="290287"/>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468962" y="1668914"/>
            <a:ext cx="1798409" cy="29380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7468962" y="2124903"/>
            <a:ext cx="985609" cy="290287"/>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7468962" y="5719517"/>
            <a:ext cx="107495" cy="29380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7468962" y="2576875"/>
            <a:ext cx="746124" cy="290287"/>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7468962" y="3029282"/>
            <a:ext cx="985609" cy="29380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7468962" y="3491670"/>
            <a:ext cx="985609" cy="290287"/>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7468962" y="3939126"/>
            <a:ext cx="2705552" cy="29380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7468962" y="4384036"/>
            <a:ext cx="1410456" cy="290287"/>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468962" y="4828780"/>
            <a:ext cx="833209" cy="29380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7468962" y="5277039"/>
            <a:ext cx="187324" cy="290287"/>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824233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18</a:t>
            </a:fld>
            <a:endParaRPr lang="en-US" altLang="zh-CN">
              <a:solidFill>
                <a:srgbClr val="FFFFFF"/>
              </a:solidFill>
            </a:endParaRPr>
          </a:p>
        </p:txBody>
      </p:sp>
      <p:sp>
        <p:nvSpPr>
          <p:cNvPr id="5" name="矩形 4"/>
          <p:cNvSpPr/>
          <p:nvPr/>
        </p:nvSpPr>
        <p:spPr>
          <a:xfrm>
            <a:off x="449943" y="374477"/>
            <a:ext cx="11255828" cy="830997"/>
          </a:xfrm>
          <a:prstGeom prst="rect">
            <a:avLst/>
          </a:prstGeom>
        </p:spPr>
        <p:txBody>
          <a:bodyPr wrap="square">
            <a:spAutoFit/>
          </a:bodyPr>
          <a:lstStyle/>
          <a:p>
            <a:pPr algn="ctr">
              <a:lnSpc>
                <a:spcPct val="150000"/>
              </a:lnSpc>
            </a:pPr>
            <a:r>
              <a:rPr lang="zh-CN" altLang="en-US" sz="3200" dirty="0" smtClean="0">
                <a:solidFill>
                  <a:srgbClr val="FF0000"/>
                </a:solidFill>
                <a:latin typeface="隶书" panose="02010509060101010101" pitchFamily="49" charset="-122"/>
                <a:ea typeface="隶书" panose="02010509060101010101" pitchFamily="49" charset="-122"/>
              </a:rPr>
              <a:t>电子竞赛的一般参赛过程</a:t>
            </a:r>
            <a:endParaRPr lang="en-US" altLang="zh-CN" sz="3200" dirty="0">
              <a:solidFill>
                <a:srgbClr val="FF0000"/>
              </a:solidFill>
              <a:latin typeface="隶书" panose="02010509060101010101" pitchFamily="49" charset="-122"/>
              <a:ea typeface="隶书" panose="02010509060101010101" pitchFamily="49" charset="-122"/>
            </a:endParaRPr>
          </a:p>
        </p:txBody>
      </p:sp>
      <p:sp>
        <p:nvSpPr>
          <p:cNvPr id="7" name="矩形 6"/>
          <p:cNvSpPr/>
          <p:nvPr/>
        </p:nvSpPr>
        <p:spPr>
          <a:xfrm>
            <a:off x="449943" y="1113141"/>
            <a:ext cx="11255828" cy="4708981"/>
          </a:xfrm>
          <a:prstGeom prst="rect">
            <a:avLst/>
          </a:prstGeom>
        </p:spPr>
        <p:txBody>
          <a:bodyPr wrap="square">
            <a:spAutoFit/>
          </a:bodyPr>
          <a:lstStyle/>
          <a:p>
            <a:pPr>
              <a:lnSpc>
                <a:spcPct val="150000"/>
              </a:lnSpc>
            </a:pPr>
            <a:r>
              <a:rPr lang="en-US" altLang="zh-CN" dirty="0" smtClean="0"/>
              <a:t>1</a:t>
            </a:r>
            <a:r>
              <a:rPr lang="zh-CN" altLang="en-US" dirty="0" smtClean="0"/>
              <a:t>、选题与确定方案</a:t>
            </a:r>
            <a:endParaRPr lang="en-US" altLang="zh-CN" dirty="0" smtClean="0"/>
          </a:p>
          <a:p>
            <a:pPr marL="702900" indent="-342900">
              <a:lnSpc>
                <a:spcPct val="150000"/>
              </a:lnSpc>
              <a:buFont typeface="Arial" panose="020B0604020202020204" pitchFamily="34" charset="0"/>
              <a:buChar char="•"/>
            </a:pPr>
            <a:r>
              <a:rPr lang="zh-CN" altLang="en-US" dirty="0" smtClean="0"/>
              <a:t>审题，确定是否存在不确定点？若存在可能需要通过实验确认解决方案</a:t>
            </a:r>
            <a:endParaRPr lang="en-US" altLang="zh-CN" dirty="0" smtClean="0"/>
          </a:p>
          <a:p>
            <a:pPr marL="702900" indent="-342900">
              <a:lnSpc>
                <a:spcPct val="150000"/>
              </a:lnSpc>
              <a:buFont typeface="Arial" panose="020B0604020202020204" pitchFamily="34" charset="0"/>
              <a:buChar char="•"/>
            </a:pPr>
            <a:r>
              <a:rPr lang="zh-CN" altLang="en-US" dirty="0" smtClean="0"/>
              <a:t>决定设计方案</a:t>
            </a:r>
            <a:endParaRPr lang="en-US" altLang="zh-CN" dirty="0" smtClean="0"/>
          </a:p>
          <a:p>
            <a:pPr>
              <a:lnSpc>
                <a:spcPct val="150000"/>
              </a:lnSpc>
            </a:pPr>
            <a:r>
              <a:rPr lang="en-US" altLang="zh-CN" dirty="0" smtClean="0"/>
              <a:t>2</a:t>
            </a:r>
            <a:r>
              <a:rPr lang="zh-CN" altLang="en-US" dirty="0" smtClean="0"/>
              <a:t>、设计电路</a:t>
            </a:r>
            <a:endParaRPr lang="en-US" altLang="zh-CN" dirty="0" smtClean="0"/>
          </a:p>
          <a:p>
            <a:pPr marL="702900" indent="-342900">
              <a:lnSpc>
                <a:spcPct val="150000"/>
              </a:lnSpc>
              <a:buFont typeface="Arial" panose="020B0604020202020204" pitchFamily="34" charset="0"/>
              <a:buChar char="•"/>
            </a:pPr>
            <a:r>
              <a:rPr lang="zh-CN" altLang="en-US" dirty="0" smtClean="0"/>
              <a:t>选择主要器件，确认器件来源，若实验室不具备需及时采购</a:t>
            </a:r>
            <a:endParaRPr lang="en-US" altLang="zh-CN" dirty="0" smtClean="0"/>
          </a:p>
          <a:p>
            <a:pPr marL="702900" indent="-342900">
              <a:lnSpc>
                <a:spcPct val="150000"/>
              </a:lnSpc>
              <a:buFont typeface="Arial" panose="020B0604020202020204" pitchFamily="34" charset="0"/>
              <a:buChar char="•"/>
            </a:pPr>
            <a:r>
              <a:rPr lang="zh-CN" altLang="en-US" dirty="0" smtClean="0"/>
              <a:t>设计</a:t>
            </a:r>
            <a:r>
              <a:rPr lang="zh-CN" altLang="en-US" dirty="0"/>
              <a:t>实际电路，若需要制作印制板需及时制作</a:t>
            </a:r>
            <a:r>
              <a:rPr lang="zh-CN" altLang="en-US" dirty="0" smtClean="0"/>
              <a:t>（自制</a:t>
            </a:r>
            <a:r>
              <a:rPr lang="zh-CN" altLang="en-US" dirty="0"/>
              <a:t>或</a:t>
            </a:r>
            <a:r>
              <a:rPr lang="zh-CN" altLang="en-US" dirty="0" smtClean="0"/>
              <a:t>交给厂商）</a:t>
            </a:r>
            <a:endParaRPr lang="en-US" altLang="zh-CN" dirty="0" smtClean="0"/>
          </a:p>
          <a:p>
            <a:pPr marL="702900" indent="-342900">
              <a:lnSpc>
                <a:spcPct val="150000"/>
              </a:lnSpc>
              <a:buFont typeface="Arial" panose="020B0604020202020204" pitchFamily="34" charset="0"/>
              <a:buChar char="•"/>
            </a:pPr>
            <a:r>
              <a:rPr lang="zh-CN" altLang="en-US" dirty="0" smtClean="0"/>
              <a:t>软件开始编写与调试</a:t>
            </a:r>
            <a:endParaRPr lang="en-US" altLang="zh-CN" dirty="0" smtClean="0"/>
          </a:p>
          <a:p>
            <a:pPr>
              <a:lnSpc>
                <a:spcPct val="150000"/>
              </a:lnSpc>
            </a:pPr>
            <a:r>
              <a:rPr lang="en-US" altLang="zh-CN" dirty="0" smtClean="0"/>
              <a:t>3</a:t>
            </a:r>
            <a:r>
              <a:rPr lang="zh-CN" altLang="en-US" dirty="0" smtClean="0"/>
              <a:t>、制作与调试</a:t>
            </a:r>
            <a:endParaRPr lang="en-US" altLang="zh-CN" dirty="0" smtClean="0"/>
          </a:p>
          <a:p>
            <a:pPr marL="702900" indent="-342900">
              <a:lnSpc>
                <a:spcPct val="150000"/>
              </a:lnSpc>
              <a:buFont typeface="Arial" panose="020B0604020202020204" pitchFamily="34" charset="0"/>
              <a:buChar char="•"/>
            </a:pPr>
            <a:r>
              <a:rPr lang="zh-CN" altLang="en-US" dirty="0" smtClean="0"/>
              <a:t>制作电路</a:t>
            </a:r>
            <a:endParaRPr lang="en-US" altLang="zh-CN" dirty="0" smtClean="0"/>
          </a:p>
          <a:p>
            <a:pPr marL="702900" indent="-342900">
              <a:lnSpc>
                <a:spcPct val="150000"/>
              </a:lnSpc>
              <a:buFont typeface="Arial" panose="020B0604020202020204" pitchFamily="34" charset="0"/>
              <a:buChar char="•"/>
            </a:pPr>
            <a:r>
              <a:rPr lang="zh-CN" altLang="en-US" dirty="0" smtClean="0"/>
              <a:t>分块调试，一定要及时联调</a:t>
            </a:r>
            <a:endParaRPr lang="en-US" altLang="zh-CN" dirty="0" smtClean="0"/>
          </a:p>
        </p:txBody>
      </p:sp>
      <p:pic>
        <p:nvPicPr>
          <p:cNvPr id="8" name="图片 7"/>
          <p:cNvPicPr>
            <a:picLocks noChangeAspect="1"/>
          </p:cNvPicPr>
          <p:nvPr/>
        </p:nvPicPr>
        <p:blipFill>
          <a:blip r:embed="rId2"/>
          <a:stretch>
            <a:fillRect/>
          </a:stretch>
        </p:blipFill>
        <p:spPr>
          <a:xfrm>
            <a:off x="4478664" y="5097029"/>
            <a:ext cx="967522" cy="867037"/>
          </a:xfrm>
          <a:prstGeom prst="rect">
            <a:avLst/>
          </a:prstGeom>
        </p:spPr>
      </p:pic>
    </p:spTree>
    <p:extLst>
      <p:ext uri="{BB962C8B-B14F-4D97-AF65-F5344CB8AC3E}">
        <p14:creationId xmlns:p14="http://schemas.microsoft.com/office/powerpoint/2010/main" val="1399971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19</a:t>
            </a:fld>
            <a:endParaRPr lang="en-US" altLang="zh-CN">
              <a:solidFill>
                <a:srgbClr val="FFFFFF"/>
              </a:solidFill>
            </a:endParaRPr>
          </a:p>
        </p:txBody>
      </p:sp>
      <p:sp>
        <p:nvSpPr>
          <p:cNvPr id="6" name="矩形 5"/>
          <p:cNvSpPr/>
          <p:nvPr/>
        </p:nvSpPr>
        <p:spPr>
          <a:xfrm>
            <a:off x="449943" y="374477"/>
            <a:ext cx="11255828" cy="738664"/>
          </a:xfrm>
          <a:prstGeom prst="rect">
            <a:avLst/>
          </a:prstGeom>
        </p:spPr>
        <p:txBody>
          <a:bodyPr wrap="square">
            <a:spAutoFit/>
          </a:bodyPr>
          <a:lstStyle/>
          <a:p>
            <a:pPr algn="ctr">
              <a:lnSpc>
                <a:spcPct val="150000"/>
              </a:lnSpc>
            </a:pPr>
            <a:r>
              <a:rPr lang="zh-CN" altLang="en-US" sz="3200" dirty="0" smtClean="0">
                <a:solidFill>
                  <a:srgbClr val="FF0000"/>
                </a:solidFill>
                <a:latin typeface="隶书" panose="02010509060101010101" pitchFamily="49" charset="-122"/>
                <a:ea typeface="隶书" panose="02010509060101010101" pitchFamily="49" charset="-122"/>
              </a:rPr>
              <a:t>模拟电路设计与制作中的注意事项</a:t>
            </a:r>
            <a:endParaRPr lang="en-US" altLang="zh-CN" sz="3200" dirty="0">
              <a:solidFill>
                <a:srgbClr val="FF0000"/>
              </a:solidFill>
              <a:latin typeface="隶书" panose="02010509060101010101" pitchFamily="49" charset="-122"/>
              <a:ea typeface="隶书" panose="02010509060101010101" pitchFamily="49" charset="-122"/>
            </a:endParaRPr>
          </a:p>
        </p:txBody>
      </p:sp>
      <p:sp>
        <p:nvSpPr>
          <p:cNvPr id="8" name="矩形 7"/>
          <p:cNvSpPr/>
          <p:nvPr/>
        </p:nvSpPr>
        <p:spPr>
          <a:xfrm>
            <a:off x="449943" y="1113141"/>
            <a:ext cx="11132457" cy="4247317"/>
          </a:xfrm>
          <a:prstGeom prst="rect">
            <a:avLst/>
          </a:prstGeom>
        </p:spPr>
        <p:txBody>
          <a:bodyPr wrap="square">
            <a:spAutoFit/>
          </a:bodyPr>
          <a:lstStyle/>
          <a:p>
            <a:pPr marL="342900" indent="-342900">
              <a:lnSpc>
                <a:spcPct val="150000"/>
              </a:lnSpc>
              <a:buFont typeface="Arial" panose="020B0604020202020204" pitchFamily="34" charset="0"/>
              <a:buChar char="•"/>
            </a:pPr>
            <a:r>
              <a:rPr lang="zh-CN" altLang="en-US" dirty="0" smtClean="0"/>
              <a:t>器件如何安装 </a:t>
            </a:r>
            <a:r>
              <a:rPr lang="en-US" altLang="zh-CN" dirty="0"/>
              <a:t>—— </a:t>
            </a:r>
            <a:r>
              <a:rPr lang="zh-CN" altLang="en-US" dirty="0"/>
              <a:t>印制板、洞洞板、还是面包板？</a:t>
            </a:r>
            <a:endParaRPr lang="zh-CN" altLang="zh-CN" dirty="0"/>
          </a:p>
          <a:p>
            <a:pPr marL="342900" indent="-342900">
              <a:lnSpc>
                <a:spcPct val="150000"/>
              </a:lnSpc>
              <a:buFont typeface="Arial" panose="020B0604020202020204" pitchFamily="34" charset="0"/>
              <a:buChar char="•"/>
            </a:pPr>
            <a:r>
              <a:rPr lang="zh-CN" altLang="en-US" dirty="0" smtClean="0"/>
              <a:t>接地 </a:t>
            </a:r>
            <a:r>
              <a:rPr lang="en-US" altLang="zh-CN" dirty="0" smtClean="0"/>
              <a:t>—— </a:t>
            </a:r>
            <a:r>
              <a:rPr lang="zh-CN" altLang="en-US" dirty="0" smtClean="0"/>
              <a:t>最简单也是最重要的问题</a:t>
            </a:r>
            <a:endParaRPr lang="en-US" altLang="zh-CN" dirty="0" smtClean="0"/>
          </a:p>
          <a:p>
            <a:pPr marL="342900" indent="-342900">
              <a:lnSpc>
                <a:spcPct val="150000"/>
              </a:lnSpc>
              <a:buFont typeface="Arial" panose="020B0604020202020204" pitchFamily="34" charset="0"/>
              <a:buChar char="•"/>
            </a:pPr>
            <a:r>
              <a:rPr lang="zh-CN" altLang="en-US" dirty="0" smtClean="0"/>
              <a:t>电源与退耦 </a:t>
            </a:r>
            <a:r>
              <a:rPr lang="en-US" altLang="zh-CN" dirty="0" smtClean="0"/>
              <a:t>—— </a:t>
            </a:r>
            <a:r>
              <a:rPr lang="zh-CN" altLang="en-US" dirty="0" smtClean="0"/>
              <a:t>容易被忽视的地方</a:t>
            </a:r>
            <a:endParaRPr lang="en-US" altLang="zh-CN" dirty="0" smtClean="0"/>
          </a:p>
          <a:p>
            <a:pPr marL="342900" indent="-342900">
              <a:lnSpc>
                <a:spcPct val="150000"/>
              </a:lnSpc>
              <a:buFont typeface="Arial" panose="020B0604020202020204" pitchFamily="34" charset="0"/>
              <a:buChar char="•"/>
            </a:pPr>
            <a:r>
              <a:rPr lang="zh-CN" altLang="en-US" dirty="0" smtClean="0"/>
              <a:t>信号的连接 </a:t>
            </a:r>
            <a:r>
              <a:rPr lang="en-US" altLang="zh-CN" dirty="0" smtClean="0"/>
              <a:t>—— </a:t>
            </a:r>
            <a:r>
              <a:rPr lang="zh-CN" altLang="en-US" dirty="0" smtClean="0"/>
              <a:t>不同的应用场合有不同的连接方法</a:t>
            </a:r>
            <a:endParaRPr lang="en-US" altLang="zh-CN" dirty="0" smtClean="0"/>
          </a:p>
          <a:p>
            <a:pPr marL="342900" indent="-342900">
              <a:lnSpc>
                <a:spcPct val="150000"/>
              </a:lnSpc>
              <a:buFont typeface="Arial" panose="020B0604020202020204" pitchFamily="34" charset="0"/>
              <a:buChar char="•"/>
            </a:pPr>
            <a:r>
              <a:rPr lang="zh-CN" altLang="en-US" dirty="0" smtClean="0"/>
              <a:t>如何正确使用集成运放？</a:t>
            </a:r>
            <a:endParaRPr lang="en-US" altLang="zh-CN" dirty="0" smtClean="0"/>
          </a:p>
          <a:p>
            <a:pPr marL="342900" indent="-342900">
              <a:lnSpc>
                <a:spcPct val="150000"/>
              </a:lnSpc>
              <a:buFont typeface="Arial" panose="020B0604020202020204" pitchFamily="34" charset="0"/>
              <a:buChar char="•"/>
            </a:pPr>
            <a:r>
              <a:rPr lang="zh-CN" altLang="en-US" dirty="0" smtClean="0"/>
              <a:t>微弱信号放大器设计与制作中的特殊技术</a:t>
            </a:r>
            <a:endParaRPr lang="en-US" altLang="zh-CN" dirty="0" smtClean="0"/>
          </a:p>
          <a:p>
            <a:pPr marL="342900" indent="-342900">
              <a:lnSpc>
                <a:spcPct val="150000"/>
              </a:lnSpc>
              <a:buFont typeface="Arial" panose="020B0604020202020204" pitchFamily="34" charset="0"/>
              <a:buChar char="•"/>
            </a:pPr>
            <a:r>
              <a:rPr lang="zh-CN" altLang="en-US" dirty="0" smtClean="0"/>
              <a:t>精密测量电路设计与制作中的特殊</a:t>
            </a:r>
            <a:r>
              <a:rPr lang="zh-CN" altLang="en-US" dirty="0"/>
              <a:t>技术</a:t>
            </a:r>
            <a:endParaRPr lang="en-US" altLang="zh-CN" dirty="0" smtClean="0"/>
          </a:p>
          <a:p>
            <a:pPr marL="342900" indent="-342900">
              <a:lnSpc>
                <a:spcPct val="150000"/>
              </a:lnSpc>
              <a:buFont typeface="Arial" panose="020B0604020202020204" pitchFamily="34" charset="0"/>
              <a:buChar char="•"/>
            </a:pPr>
            <a:r>
              <a:rPr lang="zh-CN" altLang="en-US" dirty="0" smtClean="0"/>
              <a:t>如何调试一个电子系统？</a:t>
            </a:r>
            <a:endParaRPr lang="en-US" altLang="zh-CN" dirty="0" smtClean="0"/>
          </a:p>
          <a:p>
            <a:pPr marL="342900" indent="-342900">
              <a:lnSpc>
                <a:spcPct val="150000"/>
              </a:lnSpc>
              <a:buFont typeface="Arial" panose="020B0604020202020204" pitchFamily="34" charset="0"/>
              <a:buChar char="•"/>
            </a:pPr>
            <a:r>
              <a:rPr lang="zh-CN" altLang="en-US" dirty="0" smtClean="0"/>
              <a:t>如何排除电子系统中的故障？</a:t>
            </a:r>
            <a:endParaRPr lang="en-US" altLang="zh-CN" dirty="0" smtClean="0"/>
          </a:p>
        </p:txBody>
      </p:sp>
      <p:pic>
        <p:nvPicPr>
          <p:cNvPr id="11" name="图片 10"/>
          <p:cNvPicPr>
            <a:picLocks noChangeAspect="1"/>
          </p:cNvPicPr>
          <p:nvPr/>
        </p:nvPicPr>
        <p:blipFill>
          <a:blip r:embed="rId2"/>
          <a:stretch>
            <a:fillRect/>
          </a:stretch>
        </p:blipFill>
        <p:spPr>
          <a:xfrm>
            <a:off x="8081174" y="3656470"/>
            <a:ext cx="3334312" cy="2165652"/>
          </a:xfrm>
          <a:prstGeom prst="rect">
            <a:avLst/>
          </a:prstGeom>
        </p:spPr>
      </p:pic>
    </p:spTree>
    <p:extLst>
      <p:ext uri="{BB962C8B-B14F-4D97-AF65-F5344CB8AC3E}">
        <p14:creationId xmlns:p14="http://schemas.microsoft.com/office/powerpoint/2010/main" val="12207046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20</a:t>
            </a:fld>
            <a:endParaRPr lang="en-US" altLang="zh-CN">
              <a:solidFill>
                <a:srgbClr val="FFFFFF"/>
              </a:solidFill>
            </a:endParaRPr>
          </a:p>
        </p:txBody>
      </p:sp>
      <p:pic>
        <p:nvPicPr>
          <p:cNvPr id="6" name="图片 5"/>
          <p:cNvPicPr>
            <a:picLocks noChangeAspect="1"/>
          </p:cNvPicPr>
          <p:nvPr/>
        </p:nvPicPr>
        <p:blipFill>
          <a:blip r:embed="rId2"/>
          <a:stretch>
            <a:fillRect/>
          </a:stretch>
        </p:blipFill>
        <p:spPr>
          <a:xfrm rot="16200000">
            <a:off x="8404582" y="613450"/>
            <a:ext cx="2486372" cy="4201111"/>
          </a:xfrm>
          <a:prstGeom prst="rect">
            <a:avLst/>
          </a:prstGeom>
        </p:spPr>
      </p:pic>
      <p:pic>
        <p:nvPicPr>
          <p:cNvPr id="7" name="图片 6"/>
          <p:cNvPicPr>
            <a:picLocks noChangeAspect="1"/>
          </p:cNvPicPr>
          <p:nvPr/>
        </p:nvPicPr>
        <p:blipFill>
          <a:blip r:embed="rId3"/>
          <a:stretch>
            <a:fillRect/>
          </a:stretch>
        </p:blipFill>
        <p:spPr>
          <a:xfrm rot="5400000">
            <a:off x="1165783" y="750056"/>
            <a:ext cx="2507351" cy="3948881"/>
          </a:xfrm>
          <a:prstGeom prst="rect">
            <a:avLst/>
          </a:prstGeom>
        </p:spPr>
      </p:pic>
      <p:pic>
        <p:nvPicPr>
          <p:cNvPr id="5" name="图片 4"/>
          <p:cNvPicPr>
            <a:picLocks noChangeAspect="1"/>
          </p:cNvPicPr>
          <p:nvPr/>
        </p:nvPicPr>
        <p:blipFill>
          <a:blip r:embed="rId4"/>
          <a:stretch>
            <a:fillRect/>
          </a:stretch>
        </p:blipFill>
        <p:spPr>
          <a:xfrm>
            <a:off x="4393899" y="1470820"/>
            <a:ext cx="3306168" cy="2507351"/>
          </a:xfrm>
          <a:prstGeom prst="rect">
            <a:avLst/>
          </a:prstGeom>
        </p:spPr>
      </p:pic>
      <p:sp>
        <p:nvSpPr>
          <p:cNvPr id="8" name="矩形 7"/>
          <p:cNvSpPr/>
          <p:nvPr/>
        </p:nvSpPr>
        <p:spPr>
          <a:xfrm>
            <a:off x="353697" y="416058"/>
            <a:ext cx="11386572" cy="1015663"/>
          </a:xfrm>
          <a:prstGeom prst="rect">
            <a:avLst/>
          </a:prstGeom>
        </p:spPr>
        <p:txBody>
          <a:bodyPr wrap="square">
            <a:spAutoFit/>
          </a:bodyPr>
          <a:lstStyle/>
          <a:p>
            <a:pPr>
              <a:lnSpc>
                <a:spcPct val="150000"/>
              </a:lnSpc>
            </a:pPr>
            <a:r>
              <a:rPr lang="zh-CN" altLang="en-US" dirty="0">
                <a:solidFill>
                  <a:srgbClr val="FF0000"/>
                </a:solidFill>
              </a:rPr>
              <a:t>器件如何安装 </a:t>
            </a:r>
            <a:r>
              <a:rPr lang="en-US" altLang="zh-CN" dirty="0">
                <a:solidFill>
                  <a:srgbClr val="FF0000"/>
                </a:solidFill>
              </a:rPr>
              <a:t>—— </a:t>
            </a:r>
            <a:r>
              <a:rPr lang="zh-CN" altLang="en-US" dirty="0">
                <a:solidFill>
                  <a:srgbClr val="FF0000"/>
                </a:solidFill>
              </a:rPr>
              <a:t>印制板、洞洞板、还是面包板</a:t>
            </a:r>
            <a:r>
              <a:rPr lang="zh-CN" altLang="en-US" dirty="0" smtClean="0">
                <a:solidFill>
                  <a:srgbClr val="FF0000"/>
                </a:solidFill>
              </a:rPr>
              <a:t>？</a:t>
            </a:r>
            <a:endParaRPr lang="en-US" altLang="zh-CN" dirty="0" smtClean="0">
              <a:solidFill>
                <a:srgbClr val="FF0000"/>
              </a:solidFill>
            </a:endParaRPr>
          </a:p>
          <a:p>
            <a:pPr>
              <a:lnSpc>
                <a:spcPct val="150000"/>
              </a:lnSpc>
            </a:pPr>
            <a:r>
              <a:rPr lang="zh-CN" altLang="en-US" dirty="0" smtClean="0"/>
              <a:t>                       印制板                                洞洞板</a:t>
            </a:r>
            <a:r>
              <a:rPr lang="en-US" altLang="zh-CN" dirty="0" smtClean="0"/>
              <a:t>(</a:t>
            </a:r>
            <a:r>
              <a:rPr lang="zh-CN" altLang="en-US" dirty="0" smtClean="0"/>
              <a:t>试装板</a:t>
            </a:r>
            <a:r>
              <a:rPr lang="en-US" altLang="zh-CN" dirty="0" smtClean="0"/>
              <a:t>)</a:t>
            </a:r>
            <a:r>
              <a:rPr lang="zh-CN" altLang="en-US" dirty="0" smtClean="0"/>
              <a:t>                                     面包</a:t>
            </a:r>
            <a:r>
              <a:rPr lang="zh-CN" altLang="en-US" dirty="0"/>
              <a:t>板</a:t>
            </a:r>
            <a:endParaRPr lang="zh-CN" altLang="zh-CN" dirty="0"/>
          </a:p>
        </p:txBody>
      </p:sp>
      <p:sp>
        <p:nvSpPr>
          <p:cNvPr id="9" name="文本框 8"/>
          <p:cNvSpPr txBox="1"/>
          <p:nvPr/>
        </p:nvSpPr>
        <p:spPr>
          <a:xfrm>
            <a:off x="353697" y="4071257"/>
            <a:ext cx="11386572" cy="193899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dirty="0" smtClean="0"/>
              <a:t>印制板</a:t>
            </a:r>
            <a:endParaRPr lang="en-US" altLang="zh-CN" dirty="0" smtClean="0"/>
          </a:p>
          <a:p>
            <a:pPr marL="360000">
              <a:lnSpc>
                <a:spcPct val="150000"/>
              </a:lnSpc>
            </a:pPr>
            <a:r>
              <a:rPr lang="zh-CN" altLang="en-US" dirty="0" smtClean="0"/>
              <a:t>有单面、双面、多层等多种规格。</a:t>
            </a:r>
            <a:r>
              <a:rPr lang="zh-CN" altLang="en-US" dirty="0"/>
              <a:t>规范、标准、具有最好的</a:t>
            </a:r>
            <a:r>
              <a:rPr lang="zh-CN" altLang="en-US" dirty="0" smtClean="0"/>
              <a:t>性能</a:t>
            </a:r>
            <a:endParaRPr lang="en-US" altLang="zh-CN" dirty="0" smtClean="0"/>
          </a:p>
          <a:p>
            <a:pPr marL="360000">
              <a:lnSpc>
                <a:spcPct val="150000"/>
              </a:lnSpc>
            </a:pPr>
            <a:r>
              <a:rPr lang="zh-CN" altLang="en-US" dirty="0" smtClean="0"/>
              <a:t>通常由工厂制作（实验室也可以制作，但性能稍差），时效稍差，竞赛场合有困难</a:t>
            </a:r>
            <a:endParaRPr lang="en-US" altLang="zh-CN" dirty="0" smtClean="0"/>
          </a:p>
          <a:p>
            <a:pPr marL="360000">
              <a:lnSpc>
                <a:spcPct val="150000"/>
              </a:lnSpc>
            </a:pPr>
            <a:r>
              <a:rPr lang="zh-CN" altLang="en-US" dirty="0" smtClean="0"/>
              <a:t>适合于成品以及高频电路</a:t>
            </a:r>
            <a:endParaRPr lang="zh-CN" altLang="en-US" dirty="0"/>
          </a:p>
        </p:txBody>
      </p:sp>
    </p:spTree>
    <p:extLst>
      <p:ext uri="{BB962C8B-B14F-4D97-AF65-F5344CB8AC3E}">
        <p14:creationId xmlns:p14="http://schemas.microsoft.com/office/powerpoint/2010/main" val="1204910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21</a:t>
            </a:fld>
            <a:endParaRPr lang="en-US" altLang="zh-CN">
              <a:solidFill>
                <a:srgbClr val="FFFFFF"/>
              </a:solidFill>
            </a:endParaRPr>
          </a:p>
        </p:txBody>
      </p:sp>
      <p:sp>
        <p:nvSpPr>
          <p:cNvPr id="5" name="文本框 4"/>
          <p:cNvSpPr txBox="1"/>
          <p:nvPr/>
        </p:nvSpPr>
        <p:spPr>
          <a:xfrm>
            <a:off x="331926" y="534547"/>
            <a:ext cx="11386572" cy="517064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dirty="0" smtClean="0"/>
              <a:t>洞洞板</a:t>
            </a:r>
            <a:endParaRPr lang="en-US" altLang="zh-CN" dirty="0" smtClean="0"/>
          </a:p>
          <a:p>
            <a:pPr marL="360000">
              <a:lnSpc>
                <a:spcPct val="150000"/>
              </a:lnSpc>
            </a:pPr>
            <a:r>
              <a:rPr lang="zh-CN" altLang="en-US" dirty="0" smtClean="0"/>
              <a:t>有单面、双面两种规格</a:t>
            </a:r>
            <a:endParaRPr lang="en-US" altLang="zh-CN" dirty="0" smtClean="0"/>
          </a:p>
          <a:p>
            <a:pPr marL="360000">
              <a:lnSpc>
                <a:spcPct val="150000"/>
              </a:lnSpc>
            </a:pPr>
            <a:r>
              <a:rPr lang="zh-CN" altLang="en-US" dirty="0" smtClean="0"/>
              <a:t>焊盘之间的间距大多为</a:t>
            </a:r>
            <a:r>
              <a:rPr lang="en-US" altLang="zh-CN" dirty="0" smtClean="0"/>
              <a:t>2.54mm</a:t>
            </a:r>
            <a:r>
              <a:rPr lang="zh-CN" altLang="en-US" dirty="0" smtClean="0"/>
              <a:t>（</a:t>
            </a:r>
            <a:r>
              <a:rPr lang="en-US" altLang="zh-CN" dirty="0" smtClean="0"/>
              <a:t>0.1</a:t>
            </a:r>
            <a:r>
              <a:rPr lang="zh-CN" altLang="en-US" dirty="0" smtClean="0"/>
              <a:t>英寸），可以匹配大部分直插型封装的器件，但是较难匹配贴片器件，对于小间距引脚的贴片器件则完全不能匹配（需要用转接板转接）</a:t>
            </a:r>
            <a:endParaRPr lang="en-US" altLang="zh-CN" dirty="0" smtClean="0"/>
          </a:p>
          <a:p>
            <a:pPr marL="360000">
              <a:lnSpc>
                <a:spcPct val="150000"/>
              </a:lnSpc>
            </a:pPr>
            <a:r>
              <a:rPr lang="zh-CN" altLang="en-US" dirty="0" smtClean="0"/>
              <a:t>适合于大部分电路，尤其在有竞赛时间限制的情况下可能是一个最好的（无奈的）选择</a:t>
            </a:r>
            <a:endParaRPr lang="en-US" altLang="zh-CN" dirty="0" smtClean="0"/>
          </a:p>
          <a:p>
            <a:pPr marL="360000">
              <a:lnSpc>
                <a:spcPct val="150000"/>
              </a:lnSpc>
            </a:pPr>
            <a:r>
              <a:rPr lang="zh-CN" altLang="en-US" dirty="0" smtClean="0"/>
              <a:t>在安装中要注意焊接质量！</a:t>
            </a:r>
            <a:endParaRPr lang="en-US" altLang="zh-CN" dirty="0" smtClean="0"/>
          </a:p>
          <a:p>
            <a:pPr marL="360000">
              <a:lnSpc>
                <a:spcPct val="150000"/>
              </a:lnSpc>
            </a:pPr>
            <a:endParaRPr lang="en-US" altLang="zh-CN" dirty="0"/>
          </a:p>
          <a:p>
            <a:pPr indent="-342900">
              <a:lnSpc>
                <a:spcPct val="150000"/>
              </a:lnSpc>
              <a:buFont typeface="Arial" panose="020B0604020202020204" pitchFamily="34" charset="0"/>
              <a:buChar char="•"/>
            </a:pPr>
            <a:r>
              <a:rPr lang="zh-CN" altLang="en-US" dirty="0" smtClean="0"/>
              <a:t>面包板</a:t>
            </a:r>
            <a:endParaRPr lang="en-US" altLang="zh-CN" dirty="0" smtClean="0"/>
          </a:p>
          <a:p>
            <a:pPr marL="360000">
              <a:lnSpc>
                <a:spcPct val="150000"/>
              </a:lnSpc>
            </a:pPr>
            <a:r>
              <a:rPr lang="zh-CN" altLang="en-US" dirty="0" smtClean="0"/>
              <a:t>优点是无需焊接，组装方便，在调试中便于更换器件</a:t>
            </a:r>
            <a:endParaRPr lang="en-US" altLang="zh-CN" dirty="0" smtClean="0"/>
          </a:p>
          <a:p>
            <a:pPr marL="360000">
              <a:lnSpc>
                <a:spcPct val="150000"/>
              </a:lnSpc>
            </a:pPr>
            <a:r>
              <a:rPr lang="zh-CN" altLang="en-US" dirty="0" smtClean="0"/>
              <a:t>缺点是接触很不可靠，一旦出现接触问题不可能彻底解决</a:t>
            </a:r>
            <a:endParaRPr lang="en-US" altLang="zh-CN" dirty="0" smtClean="0"/>
          </a:p>
          <a:p>
            <a:pPr marL="360000">
              <a:lnSpc>
                <a:spcPct val="150000"/>
              </a:lnSpc>
            </a:pPr>
            <a:r>
              <a:rPr lang="zh-CN" altLang="en-US" dirty="0" smtClean="0"/>
              <a:t>只能作为电路的验证性试验使用，绝对不</a:t>
            </a:r>
            <a:r>
              <a:rPr lang="zh-CN" altLang="en-US" dirty="0"/>
              <a:t>可</a:t>
            </a:r>
            <a:r>
              <a:rPr lang="zh-CN" altLang="en-US" dirty="0" smtClean="0"/>
              <a:t>在竞赛中作为最后作品使用</a:t>
            </a:r>
            <a:endParaRPr lang="zh-CN" altLang="en-US" dirty="0"/>
          </a:p>
        </p:txBody>
      </p:sp>
      <p:pic>
        <p:nvPicPr>
          <p:cNvPr id="6" name="图片 5"/>
          <p:cNvPicPr>
            <a:picLocks noChangeAspect="1"/>
          </p:cNvPicPr>
          <p:nvPr/>
        </p:nvPicPr>
        <p:blipFill>
          <a:blip r:embed="rId2"/>
          <a:stretch>
            <a:fillRect/>
          </a:stretch>
        </p:blipFill>
        <p:spPr>
          <a:xfrm>
            <a:off x="8796360" y="4925242"/>
            <a:ext cx="967522" cy="867037"/>
          </a:xfrm>
          <a:prstGeom prst="rect">
            <a:avLst/>
          </a:prstGeom>
        </p:spPr>
      </p:pic>
    </p:spTree>
    <p:extLst>
      <p:ext uri="{BB962C8B-B14F-4D97-AF65-F5344CB8AC3E}">
        <p14:creationId xmlns:p14="http://schemas.microsoft.com/office/powerpoint/2010/main" val="3803645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2024/3/8</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22</a:t>
            </a:fld>
            <a:endParaRPr lang="en-US" altLang="zh-CN"/>
          </a:p>
        </p:txBody>
      </p:sp>
      <p:sp>
        <p:nvSpPr>
          <p:cNvPr id="2" name="文本框 1"/>
          <p:cNvSpPr txBox="1"/>
          <p:nvPr/>
        </p:nvSpPr>
        <p:spPr>
          <a:xfrm>
            <a:off x="406400" y="559165"/>
            <a:ext cx="6696099" cy="400110"/>
          </a:xfrm>
          <a:prstGeom prst="rect">
            <a:avLst/>
          </a:prstGeom>
          <a:noFill/>
        </p:spPr>
        <p:txBody>
          <a:bodyPr wrap="square" rtlCol="0">
            <a:spAutoFit/>
          </a:bodyPr>
          <a:lstStyle/>
          <a:p>
            <a:r>
              <a:rPr lang="zh-CN" altLang="en-US" dirty="0">
                <a:solidFill>
                  <a:srgbClr val="FF0000"/>
                </a:solidFill>
              </a:rPr>
              <a:t>接地 </a:t>
            </a:r>
            <a:r>
              <a:rPr lang="en-US" altLang="zh-CN" dirty="0">
                <a:solidFill>
                  <a:srgbClr val="FF0000"/>
                </a:solidFill>
              </a:rPr>
              <a:t>—— </a:t>
            </a:r>
            <a:r>
              <a:rPr lang="zh-CN" altLang="en-US" dirty="0">
                <a:solidFill>
                  <a:srgbClr val="FF0000"/>
                </a:solidFill>
              </a:rPr>
              <a:t>最简单也是最重要的</a:t>
            </a:r>
            <a:r>
              <a:rPr lang="zh-CN" altLang="en-US" dirty="0" smtClean="0">
                <a:solidFill>
                  <a:srgbClr val="FF0000"/>
                </a:solidFill>
              </a:rPr>
              <a:t>问题</a:t>
            </a:r>
            <a:endParaRPr lang="zh-CN" altLang="en-US" sz="2800" dirty="0">
              <a:solidFill>
                <a:srgbClr val="FF0000"/>
              </a:solidFill>
              <a:latin typeface="隶书" panose="02010509060101010101" pitchFamily="49" charset="-122"/>
              <a:ea typeface="隶书" panose="02010509060101010101" pitchFamily="49" charset="-122"/>
            </a:endParaRPr>
          </a:p>
        </p:txBody>
      </p:sp>
      <p:sp>
        <p:nvSpPr>
          <p:cNvPr id="4" name="矩形 3"/>
          <p:cNvSpPr/>
          <p:nvPr/>
        </p:nvSpPr>
        <p:spPr>
          <a:xfrm>
            <a:off x="406400" y="1082385"/>
            <a:ext cx="11270343" cy="1015663"/>
          </a:xfrm>
          <a:prstGeom prst="rect">
            <a:avLst/>
          </a:prstGeom>
        </p:spPr>
        <p:txBody>
          <a:bodyPr wrap="square">
            <a:spAutoFit/>
          </a:bodyPr>
          <a:lstStyle/>
          <a:p>
            <a:pPr>
              <a:lnSpc>
                <a:spcPct val="150000"/>
              </a:lnSpc>
            </a:pPr>
            <a:r>
              <a:rPr lang="zh-CN" altLang="en-US" dirty="0" smtClean="0">
                <a:latin typeface="+mn-ea"/>
                <a:ea typeface="+mn-ea"/>
                <a:cs typeface="Times New Roman" panose="02020603050405020304" pitchFamily="18" charset="0"/>
              </a:rPr>
              <a:t>接地的目的：给电子系统提供一个公共参考电位</a:t>
            </a:r>
            <a:endParaRPr lang="en-US" altLang="zh-CN" dirty="0" smtClean="0">
              <a:latin typeface="+mn-ea"/>
              <a:ea typeface="+mn-ea"/>
              <a:cs typeface="Times New Roman" panose="02020603050405020304" pitchFamily="18" charset="0"/>
            </a:endParaRPr>
          </a:p>
          <a:p>
            <a:pPr>
              <a:lnSpc>
                <a:spcPct val="150000"/>
              </a:lnSpc>
            </a:pPr>
            <a:r>
              <a:rPr lang="zh-CN" altLang="en-US" dirty="0">
                <a:latin typeface="+mn-ea"/>
                <a:ea typeface="+mn-ea"/>
                <a:cs typeface="Times New Roman" panose="02020603050405020304" pitchFamily="18" charset="0"/>
              </a:rPr>
              <a:t>影响参考电位</a:t>
            </a:r>
            <a:r>
              <a:rPr lang="zh-CN" altLang="en-US" dirty="0" smtClean="0">
                <a:latin typeface="+mn-ea"/>
                <a:ea typeface="+mn-ea"/>
                <a:cs typeface="Times New Roman" panose="02020603050405020304" pitchFamily="18" charset="0"/>
              </a:rPr>
              <a:t>的因素：电流（包括信号电流、电源电流、外部干扰电流）流过</a:t>
            </a:r>
            <a:r>
              <a:rPr lang="zh-CN" altLang="en-US" dirty="0">
                <a:latin typeface="+mn-ea"/>
                <a:ea typeface="+mn-ea"/>
                <a:cs typeface="Times New Roman" panose="02020603050405020304" pitchFamily="18" charset="0"/>
              </a:rPr>
              <a:t>地线的</a:t>
            </a:r>
            <a:r>
              <a:rPr lang="zh-CN" altLang="en-US" dirty="0" smtClean="0">
                <a:latin typeface="+mn-ea"/>
                <a:ea typeface="+mn-ea"/>
                <a:cs typeface="Times New Roman" panose="02020603050405020304" pitchFamily="18" charset="0"/>
              </a:rPr>
              <a:t>压降</a:t>
            </a:r>
            <a:endParaRPr lang="zh-CN" altLang="en-US" dirty="0">
              <a:latin typeface="+mn-ea"/>
              <a:ea typeface="+mn-ea"/>
            </a:endParaRPr>
          </a:p>
        </p:txBody>
      </p:sp>
      <p:sp>
        <p:nvSpPr>
          <p:cNvPr id="9" name="矩形 8"/>
          <p:cNvSpPr/>
          <p:nvPr/>
        </p:nvSpPr>
        <p:spPr>
          <a:xfrm>
            <a:off x="406400" y="2301886"/>
            <a:ext cx="11415185" cy="494944"/>
          </a:xfrm>
          <a:prstGeom prst="rect">
            <a:avLst/>
          </a:prstGeom>
        </p:spPr>
        <p:txBody>
          <a:bodyPr wrap="square">
            <a:spAutoFit/>
          </a:bodyPr>
          <a:lstStyle/>
          <a:p>
            <a:pPr>
              <a:lnSpc>
                <a:spcPct val="150000"/>
              </a:lnSpc>
            </a:pPr>
            <a:r>
              <a:rPr lang="zh-CN" altLang="zh-CN" dirty="0" smtClean="0">
                <a:latin typeface="+mj-ea"/>
                <a:ea typeface="+mj-ea"/>
                <a:cs typeface="Times New Roman" panose="02020603050405020304" pitchFamily="18" charset="0"/>
              </a:rPr>
              <a:t>低频电路</a:t>
            </a:r>
            <a:r>
              <a:rPr lang="zh-CN" altLang="en-US" dirty="0" smtClean="0">
                <a:latin typeface="+mj-ea"/>
                <a:ea typeface="+mj-ea"/>
                <a:cs typeface="Times New Roman" panose="02020603050405020304" pitchFamily="18" charset="0"/>
              </a:rPr>
              <a:t>（信号频率从零到</a:t>
            </a:r>
            <a:r>
              <a:rPr lang="en-US" altLang="zh-CN" dirty="0" smtClean="0">
                <a:latin typeface="+mj-lt"/>
                <a:ea typeface="+mj-ea"/>
                <a:cs typeface="Times New Roman" panose="02020603050405020304" pitchFamily="18" charset="0"/>
              </a:rPr>
              <a:t>MHz</a:t>
            </a:r>
            <a:r>
              <a:rPr lang="zh-CN" altLang="en-US" dirty="0" smtClean="0">
                <a:latin typeface="+mj-ea"/>
                <a:ea typeface="+mj-ea"/>
                <a:cs typeface="Times New Roman" panose="02020603050405020304" pitchFamily="18" charset="0"/>
              </a:rPr>
              <a:t>范围）的地线，以尽可能降低地线的</a:t>
            </a:r>
            <a:r>
              <a:rPr lang="zh-CN" altLang="en-US" dirty="0" smtClean="0">
                <a:solidFill>
                  <a:srgbClr val="FF0000"/>
                </a:solidFill>
                <a:latin typeface="+mj-ea"/>
                <a:ea typeface="+mj-ea"/>
                <a:cs typeface="Times New Roman" panose="02020603050405020304" pitchFamily="18" charset="0"/>
              </a:rPr>
              <a:t>电阻</a:t>
            </a:r>
            <a:r>
              <a:rPr lang="zh-CN" altLang="en-US" dirty="0" smtClean="0">
                <a:latin typeface="+mj-ea"/>
                <a:ea typeface="+mj-ea"/>
                <a:cs typeface="Times New Roman" panose="02020603050405020304" pitchFamily="18" charset="0"/>
              </a:rPr>
              <a:t>为目标</a:t>
            </a:r>
            <a:endParaRPr lang="en-US" altLang="zh-CN" dirty="0" smtClean="0">
              <a:latin typeface="+mj-ea"/>
              <a:ea typeface="+mj-ea"/>
              <a:cs typeface="Times New Roman" panose="02020603050405020304" pitchFamily="18" charset="0"/>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506416242"/>
              </p:ext>
            </p:extLst>
          </p:nvPr>
        </p:nvGraphicFramePr>
        <p:xfrm>
          <a:off x="6212456" y="3541486"/>
          <a:ext cx="5195774" cy="1632348"/>
        </p:xfrm>
        <a:graphic>
          <a:graphicData uri="http://schemas.openxmlformats.org/presentationml/2006/ole">
            <mc:AlternateContent xmlns:mc="http://schemas.openxmlformats.org/markup-compatibility/2006">
              <mc:Choice xmlns:v="urn:schemas-microsoft-com:vml" Requires="v">
                <p:oleObj spid="_x0000_s6189" name="Visio" r:id="rId3" imgW="3092124" imgH="971492" progId="Visio.Drawing.15">
                  <p:embed/>
                </p:oleObj>
              </mc:Choice>
              <mc:Fallback>
                <p:oleObj name="Visio" r:id="rId3" imgW="3092124" imgH="971492"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2456" y="3541486"/>
                        <a:ext cx="5195774" cy="1632348"/>
                      </a:xfrm>
                      <a:prstGeom prst="rect">
                        <a:avLst/>
                      </a:prstGeom>
                      <a:noFill/>
                    </p:spPr>
                  </p:pic>
                </p:oleObj>
              </mc:Fallback>
            </mc:AlternateContent>
          </a:graphicData>
        </a:graphic>
      </p:graphicFrame>
      <p:sp>
        <p:nvSpPr>
          <p:cNvPr id="12" name="矩形 11"/>
          <p:cNvSpPr/>
          <p:nvPr/>
        </p:nvSpPr>
        <p:spPr>
          <a:xfrm>
            <a:off x="406401" y="2796830"/>
            <a:ext cx="5537200" cy="3323987"/>
          </a:xfrm>
          <a:prstGeom prst="rect">
            <a:avLst/>
          </a:prstGeom>
        </p:spPr>
        <p:txBody>
          <a:bodyPr wrap="square">
            <a:spAutoFit/>
          </a:bodyPr>
          <a:lstStyle/>
          <a:p>
            <a:pPr marL="342900" indent="-342900">
              <a:lnSpc>
                <a:spcPct val="150000"/>
              </a:lnSpc>
              <a:buFont typeface="Arial" panose="020B0604020202020204" pitchFamily="34" charset="0"/>
              <a:buChar char="•"/>
            </a:pPr>
            <a:r>
              <a:rPr lang="zh-CN" altLang="zh-CN" dirty="0" smtClean="0">
                <a:latin typeface="+mn-ea"/>
                <a:ea typeface="+mn-ea"/>
                <a:cs typeface="Times New Roman" panose="02020603050405020304" pitchFamily="18" charset="0"/>
              </a:rPr>
              <a:t>采用</a:t>
            </a:r>
            <a:r>
              <a:rPr lang="zh-CN" altLang="zh-CN" dirty="0">
                <a:latin typeface="+mn-ea"/>
                <a:ea typeface="+mn-ea"/>
                <a:cs typeface="Times New Roman" panose="02020603050405020304" pitchFamily="18" charset="0"/>
              </a:rPr>
              <a:t>粗直的导线作为地线以降低地线电阻</a:t>
            </a:r>
            <a:endParaRPr lang="en-US" altLang="zh-CN" dirty="0">
              <a:latin typeface="+mn-ea"/>
              <a:ea typeface="+mn-ea"/>
              <a:cs typeface="Times New Roman" panose="02020603050405020304" pitchFamily="18" charset="0"/>
            </a:endParaRPr>
          </a:p>
          <a:p>
            <a:pPr marL="342900" indent="-342900">
              <a:lnSpc>
                <a:spcPct val="150000"/>
              </a:lnSpc>
              <a:buFont typeface="Arial" panose="020B0604020202020204" pitchFamily="34" charset="0"/>
              <a:buChar char="•"/>
            </a:pPr>
            <a:r>
              <a:rPr lang="zh-CN" altLang="zh-CN" dirty="0">
                <a:latin typeface="+mn-ea"/>
                <a:ea typeface="+mn-ea"/>
                <a:cs typeface="Times New Roman" panose="02020603050405020304" pitchFamily="18" charset="0"/>
              </a:rPr>
              <a:t>单点接地</a:t>
            </a:r>
            <a:r>
              <a:rPr lang="zh-CN" altLang="en-US" dirty="0">
                <a:latin typeface="+mn-ea"/>
                <a:ea typeface="+mn-ea"/>
                <a:cs typeface="Times New Roman" panose="02020603050405020304" pitchFamily="18" charset="0"/>
              </a:rPr>
              <a:t>：</a:t>
            </a:r>
            <a:r>
              <a:rPr lang="zh-CN" altLang="zh-CN" dirty="0">
                <a:latin typeface="+mn-ea"/>
                <a:ea typeface="+mn-ea"/>
                <a:cs typeface="Times New Roman" panose="02020603050405020304" pitchFamily="18" charset="0"/>
              </a:rPr>
              <a:t>每级放大器或其他单元电路与其周边的相关元件（电阻电容等）形成一个接地点，然后将每级电路的接地点</a:t>
            </a:r>
            <a:r>
              <a:rPr lang="zh-CN" altLang="zh-CN" dirty="0" smtClean="0">
                <a:latin typeface="+mn-ea"/>
                <a:ea typeface="+mn-ea"/>
                <a:cs typeface="Times New Roman" panose="02020603050405020304" pitchFamily="18" charset="0"/>
              </a:rPr>
              <a:t>通过单独</a:t>
            </a:r>
            <a:r>
              <a:rPr lang="zh-CN" altLang="zh-CN" dirty="0">
                <a:latin typeface="+mn-ea"/>
                <a:ea typeface="+mn-ea"/>
                <a:cs typeface="Times New Roman" panose="02020603050405020304" pitchFamily="18" charset="0"/>
              </a:rPr>
              <a:t>的接地线接到电源输入端的储能电容引脚点</a:t>
            </a:r>
            <a:endParaRPr lang="en-US" altLang="zh-CN" dirty="0">
              <a:latin typeface="+mn-ea"/>
              <a:ea typeface="+mn-ea"/>
              <a:cs typeface="Times New Roman" panose="02020603050405020304" pitchFamily="18" charset="0"/>
            </a:endParaRPr>
          </a:p>
          <a:p>
            <a:pPr marL="342900" indent="-342900">
              <a:lnSpc>
                <a:spcPct val="150000"/>
              </a:lnSpc>
              <a:buFont typeface="Arial" panose="020B0604020202020204" pitchFamily="34" charset="0"/>
              <a:buChar char="•"/>
            </a:pPr>
            <a:r>
              <a:rPr lang="zh-CN" altLang="en-US" dirty="0">
                <a:latin typeface="+mn-ea"/>
                <a:ea typeface="+mn-ea"/>
                <a:cs typeface="Times New Roman" panose="02020603050405020304" pitchFamily="18" charset="0"/>
              </a:rPr>
              <a:t>避免地线构成</a:t>
            </a:r>
            <a:r>
              <a:rPr lang="zh-CN" altLang="en-US" dirty="0" smtClean="0">
                <a:latin typeface="+mn-ea"/>
                <a:ea typeface="+mn-ea"/>
                <a:cs typeface="Times New Roman" panose="02020603050405020304" pitchFamily="18" charset="0"/>
              </a:rPr>
              <a:t>环（避免外部磁场在地环内形成干扰电流）</a:t>
            </a:r>
            <a:endParaRPr lang="zh-CN" altLang="en-US" dirty="0">
              <a:latin typeface="+mn-ea"/>
              <a:ea typeface="+mn-ea"/>
            </a:endParaRPr>
          </a:p>
        </p:txBody>
      </p:sp>
    </p:spTree>
    <p:extLst>
      <p:ext uri="{BB962C8B-B14F-4D97-AF65-F5344CB8AC3E}">
        <p14:creationId xmlns:p14="http://schemas.microsoft.com/office/powerpoint/2010/main" val="399716346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2024/3/8</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23</a:t>
            </a:fld>
            <a:endParaRPr lang="en-US" altLang="zh-CN"/>
          </a:p>
        </p:txBody>
      </p:sp>
      <p:sp>
        <p:nvSpPr>
          <p:cNvPr id="2" name="矩形 1"/>
          <p:cNvSpPr/>
          <p:nvPr/>
        </p:nvSpPr>
        <p:spPr>
          <a:xfrm>
            <a:off x="428172" y="440998"/>
            <a:ext cx="11321142" cy="2862322"/>
          </a:xfrm>
          <a:prstGeom prst="rect">
            <a:avLst/>
          </a:prstGeom>
        </p:spPr>
        <p:txBody>
          <a:bodyPr wrap="square">
            <a:spAutoFit/>
          </a:bodyPr>
          <a:lstStyle/>
          <a:p>
            <a:pPr algn="just">
              <a:lnSpc>
                <a:spcPct val="150000"/>
              </a:lnSpc>
              <a:spcAft>
                <a:spcPts val="0"/>
              </a:spcAft>
            </a:pPr>
            <a:r>
              <a:rPr lang="zh-CN" altLang="en-US" kern="100" dirty="0">
                <a:latin typeface="+mj-ea"/>
                <a:ea typeface="+mj-ea"/>
              </a:rPr>
              <a:t>高</a:t>
            </a:r>
            <a:r>
              <a:rPr lang="zh-CN" altLang="zh-CN" kern="100" dirty="0">
                <a:latin typeface="+mj-ea"/>
                <a:ea typeface="+mj-ea"/>
              </a:rPr>
              <a:t>频</a:t>
            </a:r>
            <a:r>
              <a:rPr lang="zh-CN" altLang="zh-CN" kern="100" dirty="0" smtClean="0">
                <a:latin typeface="+mj-ea"/>
                <a:ea typeface="+mj-ea"/>
              </a:rPr>
              <a:t>电路</a:t>
            </a:r>
            <a:r>
              <a:rPr lang="zh-CN" altLang="en-US" kern="100" dirty="0" smtClean="0">
                <a:latin typeface="+mj-ea"/>
                <a:ea typeface="+mj-ea"/>
              </a:rPr>
              <a:t>（信号频率在几十</a:t>
            </a:r>
            <a:r>
              <a:rPr lang="en-US" altLang="zh-CN" kern="100" dirty="0" smtClean="0">
                <a:latin typeface="+mj-lt"/>
                <a:ea typeface="+mj-ea"/>
              </a:rPr>
              <a:t>MHz</a:t>
            </a:r>
            <a:r>
              <a:rPr lang="zh-CN" altLang="en-US" kern="100" dirty="0" smtClean="0">
                <a:latin typeface="+mj-ea"/>
                <a:ea typeface="+mj-ea"/>
              </a:rPr>
              <a:t>以上），以尽可能降低地线的</a:t>
            </a:r>
            <a:r>
              <a:rPr lang="zh-CN" altLang="en-US" kern="100" dirty="0" smtClean="0">
                <a:solidFill>
                  <a:srgbClr val="FF0000"/>
                </a:solidFill>
                <a:latin typeface="+mj-ea"/>
                <a:ea typeface="+mj-ea"/>
              </a:rPr>
              <a:t>电抗</a:t>
            </a:r>
            <a:r>
              <a:rPr lang="zh-CN" altLang="en-US" kern="100" dirty="0" smtClean="0">
                <a:latin typeface="+mj-ea"/>
                <a:ea typeface="+mj-ea"/>
              </a:rPr>
              <a:t>为目标</a:t>
            </a:r>
            <a:endParaRPr lang="en-US" altLang="zh-CN" kern="100" dirty="0" smtClean="0">
              <a:latin typeface="+mj-ea"/>
              <a:ea typeface="+mj-ea"/>
            </a:endParaRPr>
          </a:p>
          <a:p>
            <a:pPr marL="342900" indent="-342900" algn="just">
              <a:lnSpc>
                <a:spcPct val="150000"/>
              </a:lnSpc>
              <a:spcAft>
                <a:spcPts val="0"/>
              </a:spcAft>
              <a:buFont typeface="Arial" panose="020B0604020202020204" pitchFamily="34" charset="0"/>
              <a:buChar char="•"/>
            </a:pPr>
            <a:r>
              <a:rPr lang="zh-CN" altLang="en-US" kern="100" dirty="0" smtClean="0">
                <a:latin typeface="+mn-ea"/>
                <a:ea typeface="+mn-ea"/>
              </a:rPr>
              <a:t>大面积</a:t>
            </a:r>
            <a:r>
              <a:rPr lang="zh-CN" altLang="en-US" kern="100" dirty="0">
                <a:latin typeface="+mn-ea"/>
                <a:ea typeface="+mn-ea"/>
              </a:rPr>
              <a:t>接地：</a:t>
            </a:r>
            <a:r>
              <a:rPr lang="zh-CN" altLang="zh-CN" kern="100" dirty="0">
                <a:latin typeface="+mn-ea"/>
                <a:ea typeface="+mn-ea"/>
              </a:rPr>
              <a:t>在印制电路板中采用一整层铜箔作为接地平面（在</a:t>
            </a:r>
            <a:r>
              <a:rPr lang="en-US" altLang="zh-CN" kern="100" dirty="0">
                <a:latin typeface="+mn-ea"/>
                <a:ea typeface="+mn-ea"/>
              </a:rPr>
              <a:t>4</a:t>
            </a:r>
            <a:r>
              <a:rPr lang="zh-CN" altLang="zh-CN" kern="100" dirty="0">
                <a:latin typeface="+mn-ea"/>
                <a:ea typeface="+mn-ea"/>
              </a:rPr>
              <a:t>层印制板中通常将第</a:t>
            </a:r>
            <a:r>
              <a:rPr lang="en-US" altLang="zh-CN" kern="100" dirty="0">
                <a:latin typeface="+mn-ea"/>
                <a:ea typeface="+mn-ea"/>
              </a:rPr>
              <a:t>2</a:t>
            </a:r>
            <a:r>
              <a:rPr lang="zh-CN" altLang="zh-CN" kern="100" dirty="0">
                <a:latin typeface="+mn-ea"/>
                <a:ea typeface="+mn-ea"/>
              </a:rPr>
              <a:t>层作为接地层、第</a:t>
            </a:r>
            <a:r>
              <a:rPr lang="en-US" altLang="zh-CN" kern="100" dirty="0">
                <a:latin typeface="+mn-ea"/>
                <a:ea typeface="+mn-ea"/>
              </a:rPr>
              <a:t>3</a:t>
            </a:r>
            <a:r>
              <a:rPr lang="zh-CN" altLang="zh-CN" kern="100" dirty="0">
                <a:latin typeface="+mn-ea"/>
                <a:ea typeface="+mn-ea"/>
              </a:rPr>
              <a:t>层作为电源层；在双面板中将背面作为接地层，所有元件与走线都尽可能安排在元件面），所有需要接地的引脚包括集成电路引脚、退耦电容引脚等，都在尽可能短的距离内通过一个过孔连接到地平面</a:t>
            </a:r>
          </a:p>
          <a:p>
            <a:pPr marL="342900" indent="-342900" algn="just">
              <a:lnSpc>
                <a:spcPct val="150000"/>
              </a:lnSpc>
              <a:spcAft>
                <a:spcPts val="0"/>
              </a:spcAft>
              <a:buFont typeface="Arial" panose="020B0604020202020204" pitchFamily="34" charset="0"/>
              <a:buChar char="•"/>
            </a:pPr>
            <a:r>
              <a:rPr lang="zh-CN" altLang="zh-CN" kern="100" dirty="0">
                <a:latin typeface="+mn-ea"/>
                <a:ea typeface="+mn-ea"/>
              </a:rPr>
              <a:t>尽可能保持接地平面的</a:t>
            </a:r>
            <a:r>
              <a:rPr lang="zh-CN" altLang="zh-CN" kern="100" dirty="0" smtClean="0">
                <a:latin typeface="+mn-ea"/>
                <a:ea typeface="+mn-ea"/>
              </a:rPr>
              <a:t>完整性</a:t>
            </a:r>
            <a:endParaRPr lang="en-US" altLang="zh-CN" kern="100" dirty="0">
              <a:latin typeface="+mn-ea"/>
              <a:ea typeface="+mn-ea"/>
            </a:endParaRPr>
          </a:p>
        </p:txBody>
      </p:sp>
      <p:sp>
        <p:nvSpPr>
          <p:cNvPr id="6" name="矩形 5"/>
          <p:cNvSpPr/>
          <p:nvPr/>
        </p:nvSpPr>
        <p:spPr>
          <a:xfrm>
            <a:off x="428172" y="3200639"/>
            <a:ext cx="5366656" cy="3323987"/>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zh-CN" dirty="0"/>
              <a:t>大面积铺铜（</a:t>
            </a:r>
            <a:r>
              <a:rPr lang="en-US" altLang="zh-CN" dirty="0"/>
              <a:t>Polygon Plane</a:t>
            </a:r>
            <a:r>
              <a:rPr lang="zh-CN" altLang="zh-CN" dirty="0"/>
              <a:t>）接地</a:t>
            </a:r>
            <a:r>
              <a:rPr lang="zh-CN" altLang="en-US" dirty="0"/>
              <a:t>（适用于</a:t>
            </a:r>
            <a:r>
              <a:rPr lang="zh-CN" altLang="zh-CN" dirty="0"/>
              <a:t>双面板</a:t>
            </a:r>
            <a:r>
              <a:rPr lang="zh-CN" altLang="en-US" dirty="0"/>
              <a:t>）</a:t>
            </a:r>
            <a:r>
              <a:rPr lang="zh-CN" altLang="zh-CN" dirty="0"/>
              <a:t>，这种接地的效果介于星形接地与大面积接地之间。如果能小心安排走线，使得大面积铺铜接近一个完整的接地平面，或者通过足够多的通孔将印板两面的接地面连成一个完整的接地平面，则其效果将接近大面积接地</a:t>
            </a:r>
            <a:endParaRPr lang="zh-CN" altLang="zh-CN" kern="100" dirty="0">
              <a:latin typeface="+mn-ea"/>
            </a:endParaRPr>
          </a:p>
        </p:txBody>
      </p:sp>
      <p:pic>
        <p:nvPicPr>
          <p:cNvPr id="7" name="图片 6"/>
          <p:cNvPicPr>
            <a:picLocks noChangeAspect="1"/>
          </p:cNvPicPr>
          <p:nvPr/>
        </p:nvPicPr>
        <p:blipFill>
          <a:blip r:embed="rId2"/>
          <a:stretch>
            <a:fillRect/>
          </a:stretch>
        </p:blipFill>
        <p:spPr>
          <a:xfrm>
            <a:off x="6374772" y="3200639"/>
            <a:ext cx="2910765" cy="2668582"/>
          </a:xfrm>
          <a:prstGeom prst="rect">
            <a:avLst/>
          </a:prstGeom>
        </p:spPr>
      </p:pic>
      <p:sp>
        <p:nvSpPr>
          <p:cNvPr id="8" name="文本框 7"/>
          <p:cNvSpPr txBox="1"/>
          <p:nvPr/>
        </p:nvSpPr>
        <p:spPr>
          <a:xfrm>
            <a:off x="9285537" y="3450017"/>
            <a:ext cx="2594732" cy="2169825"/>
          </a:xfrm>
          <a:prstGeom prst="rect">
            <a:avLst/>
          </a:prstGeom>
          <a:noFill/>
        </p:spPr>
        <p:txBody>
          <a:bodyPr wrap="square" rtlCol="0">
            <a:spAutoFit/>
          </a:bodyPr>
          <a:lstStyle/>
          <a:p>
            <a:pPr>
              <a:lnSpc>
                <a:spcPct val="150000"/>
              </a:lnSpc>
            </a:pPr>
            <a:r>
              <a:rPr lang="zh-CN" altLang="en-US" sz="1800" dirty="0" smtClean="0"/>
              <a:t>双面板</a:t>
            </a:r>
            <a:endParaRPr lang="en-US" altLang="zh-CN" sz="1800" dirty="0" smtClean="0"/>
          </a:p>
          <a:p>
            <a:pPr>
              <a:lnSpc>
                <a:spcPct val="150000"/>
              </a:lnSpc>
            </a:pPr>
            <a:r>
              <a:rPr lang="zh-CN" altLang="en-US" sz="1800" dirty="0" smtClean="0"/>
              <a:t>底层大面积接地</a:t>
            </a:r>
            <a:endParaRPr lang="en-US" altLang="zh-CN" sz="1800" dirty="0" smtClean="0"/>
          </a:p>
          <a:p>
            <a:pPr>
              <a:lnSpc>
                <a:spcPct val="150000"/>
              </a:lnSpc>
            </a:pPr>
            <a:r>
              <a:rPr lang="zh-CN" altLang="en-US" sz="1800" dirty="0" smtClean="0"/>
              <a:t>上层大面积铺铜</a:t>
            </a:r>
            <a:endParaRPr lang="en-US" altLang="zh-CN" sz="1800" dirty="0" smtClean="0"/>
          </a:p>
          <a:p>
            <a:pPr>
              <a:lnSpc>
                <a:spcPct val="150000"/>
              </a:lnSpc>
            </a:pPr>
            <a:r>
              <a:rPr lang="zh-CN" altLang="en-US" sz="1800" dirty="0" smtClean="0"/>
              <a:t>且通过大量的通孔将上层的地与底层的地连通</a:t>
            </a:r>
            <a:endParaRPr lang="zh-CN" altLang="en-US" sz="1800" dirty="0"/>
          </a:p>
        </p:txBody>
      </p:sp>
    </p:spTree>
    <p:extLst>
      <p:ext uri="{BB962C8B-B14F-4D97-AF65-F5344CB8AC3E}">
        <p14:creationId xmlns:p14="http://schemas.microsoft.com/office/powerpoint/2010/main" val="188141151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2024/3/8</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24</a:t>
            </a:fld>
            <a:endParaRPr lang="en-US" altLang="zh-CN"/>
          </a:p>
        </p:txBody>
      </p:sp>
      <p:sp>
        <p:nvSpPr>
          <p:cNvPr id="2" name="矩形 1"/>
          <p:cNvSpPr/>
          <p:nvPr/>
        </p:nvSpPr>
        <p:spPr>
          <a:xfrm>
            <a:off x="413658" y="539930"/>
            <a:ext cx="6429828" cy="4708981"/>
          </a:xfrm>
          <a:prstGeom prst="rect">
            <a:avLst/>
          </a:prstGeom>
        </p:spPr>
        <p:txBody>
          <a:bodyPr wrap="square">
            <a:spAutoFit/>
          </a:bodyPr>
          <a:lstStyle/>
          <a:p>
            <a:pPr algn="just">
              <a:lnSpc>
                <a:spcPct val="150000"/>
              </a:lnSpc>
              <a:spcAft>
                <a:spcPts val="0"/>
              </a:spcAft>
            </a:pPr>
            <a:r>
              <a:rPr lang="zh-CN" altLang="en-US" kern="100" dirty="0">
                <a:latin typeface="+mj-ea"/>
                <a:ea typeface="+mj-ea"/>
              </a:rPr>
              <a:t>地的</a:t>
            </a:r>
            <a:r>
              <a:rPr lang="zh-CN" altLang="en-US" kern="100" dirty="0" smtClean="0">
                <a:latin typeface="+mj-ea"/>
                <a:ea typeface="+mj-ea"/>
              </a:rPr>
              <a:t>分割</a:t>
            </a:r>
            <a:endParaRPr lang="en-US" altLang="zh-CN" kern="100" dirty="0" smtClean="0">
              <a:latin typeface="+mj-ea"/>
              <a:ea typeface="+mj-ea"/>
            </a:endParaRPr>
          </a:p>
          <a:p>
            <a:pPr algn="just">
              <a:lnSpc>
                <a:spcPct val="150000"/>
              </a:lnSpc>
              <a:spcAft>
                <a:spcPts val="0"/>
              </a:spcAft>
            </a:pPr>
            <a:r>
              <a:rPr lang="zh-CN" altLang="en-US" kern="100" dirty="0" smtClean="0">
                <a:latin typeface="+mn-ea"/>
                <a:ea typeface="+mn-ea"/>
              </a:rPr>
              <a:t>以减少电子系统中不同类型电路的相互干扰为目标</a:t>
            </a:r>
            <a:endParaRPr lang="en-US" altLang="zh-CN" kern="100" dirty="0">
              <a:latin typeface="+mn-ea"/>
              <a:ea typeface="+mn-ea"/>
            </a:endParaRPr>
          </a:p>
          <a:p>
            <a:pPr marL="342900" indent="-342900" algn="just">
              <a:lnSpc>
                <a:spcPct val="150000"/>
              </a:lnSpc>
              <a:spcAft>
                <a:spcPts val="0"/>
              </a:spcAft>
              <a:buFont typeface="Arial" panose="020B0604020202020204" pitchFamily="34" charset="0"/>
              <a:buChar char="•"/>
            </a:pPr>
            <a:r>
              <a:rPr lang="zh-CN" altLang="zh-CN" kern="100" dirty="0">
                <a:latin typeface="+mn-ea"/>
                <a:ea typeface="+mn-ea"/>
              </a:rPr>
              <a:t>当一个系统中同时存在模拟信号与数字信号时，应该将两部分的地分开，然后在合适的地方连接</a:t>
            </a:r>
            <a:r>
              <a:rPr lang="zh-CN" altLang="en-US" kern="100" dirty="0">
                <a:latin typeface="+mn-ea"/>
                <a:ea typeface="+mn-ea"/>
              </a:rPr>
              <a:t>。</a:t>
            </a:r>
            <a:r>
              <a:rPr lang="zh-CN" altLang="zh-CN" kern="100" dirty="0">
                <a:latin typeface="+mn-ea"/>
                <a:ea typeface="+mn-ea"/>
              </a:rPr>
              <a:t>通常可以在模拟信号进入数字部分的位置（例如</a:t>
            </a:r>
            <a:r>
              <a:rPr lang="en-US" altLang="zh-CN" kern="100" dirty="0">
                <a:latin typeface="+mn-ea"/>
                <a:ea typeface="+mn-ea"/>
              </a:rPr>
              <a:t>ADC</a:t>
            </a:r>
            <a:r>
              <a:rPr lang="zh-CN" altLang="zh-CN" kern="100" dirty="0">
                <a:latin typeface="+mn-ea"/>
                <a:ea typeface="+mn-ea"/>
              </a:rPr>
              <a:t>输入端口）连接</a:t>
            </a:r>
          </a:p>
          <a:p>
            <a:pPr marL="342900" indent="-342900">
              <a:lnSpc>
                <a:spcPct val="150000"/>
              </a:lnSpc>
              <a:buFont typeface="Arial" panose="020B0604020202020204" pitchFamily="34" charset="0"/>
              <a:buChar char="•"/>
            </a:pPr>
            <a:r>
              <a:rPr lang="zh-CN" altLang="zh-CN" dirty="0">
                <a:latin typeface="+mn-ea"/>
                <a:ea typeface="+mn-ea"/>
                <a:cs typeface="Times New Roman" panose="02020603050405020304" pitchFamily="18" charset="0"/>
              </a:rPr>
              <a:t>若系统中存在开关电源，则最好将开关电源部分独立。如果必须设计在同一个印制板上，则电源部分应该形成一个单独的区域，它与其他部分仅仅在电源最后的输出储能电容引脚处相连通</a:t>
            </a:r>
            <a:endParaRPr lang="zh-CN" altLang="en-US" dirty="0">
              <a:latin typeface="+mn-ea"/>
              <a:ea typeface="+mn-ea"/>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833839479"/>
              </p:ext>
            </p:extLst>
          </p:nvPr>
        </p:nvGraphicFramePr>
        <p:xfrm>
          <a:off x="7278914" y="1886855"/>
          <a:ext cx="4269014" cy="2376149"/>
        </p:xfrm>
        <a:graphic>
          <a:graphicData uri="http://schemas.openxmlformats.org/presentationml/2006/ole">
            <mc:AlternateContent xmlns:mc="http://schemas.openxmlformats.org/markup-compatibility/2006">
              <mc:Choice xmlns:v="urn:schemas-microsoft-com:vml" Requires="v">
                <p:oleObj spid="_x0000_s7211" name="Visio" r:id="rId3" imgW="2012916" imgH="1117239" progId="Visio.Drawing.15">
                  <p:embed/>
                </p:oleObj>
              </mc:Choice>
              <mc:Fallback>
                <p:oleObj name="Visio" r:id="rId3" imgW="2012916" imgH="1117239"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8914" y="1886855"/>
                        <a:ext cx="4269014" cy="2376149"/>
                      </a:xfrm>
                      <a:prstGeom prst="rect">
                        <a:avLst/>
                      </a:prstGeom>
                      <a:noFill/>
                    </p:spPr>
                  </p:pic>
                </p:oleObj>
              </mc:Fallback>
            </mc:AlternateContent>
          </a:graphicData>
        </a:graphic>
      </p:graphicFrame>
    </p:spTree>
    <p:extLst>
      <p:ext uri="{BB962C8B-B14F-4D97-AF65-F5344CB8AC3E}">
        <p14:creationId xmlns:p14="http://schemas.microsoft.com/office/powerpoint/2010/main" val="62742060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25</a:t>
            </a:fld>
            <a:endParaRPr lang="en-US" altLang="zh-CN">
              <a:solidFill>
                <a:srgbClr val="FFFFFF"/>
              </a:solidFill>
            </a:endParaRPr>
          </a:p>
        </p:txBody>
      </p:sp>
      <p:sp>
        <p:nvSpPr>
          <p:cNvPr id="5" name="矩形 4"/>
          <p:cNvSpPr/>
          <p:nvPr/>
        </p:nvSpPr>
        <p:spPr>
          <a:xfrm>
            <a:off x="478972" y="563558"/>
            <a:ext cx="11226800" cy="4247317"/>
          </a:xfrm>
          <a:prstGeom prst="rect">
            <a:avLst/>
          </a:prstGeom>
        </p:spPr>
        <p:txBody>
          <a:bodyPr wrap="square">
            <a:spAutoFit/>
          </a:bodyPr>
          <a:lstStyle/>
          <a:p>
            <a:pPr algn="just">
              <a:lnSpc>
                <a:spcPct val="150000"/>
              </a:lnSpc>
              <a:spcAft>
                <a:spcPts val="0"/>
              </a:spcAft>
            </a:pPr>
            <a:r>
              <a:rPr lang="zh-CN" altLang="en-US" dirty="0" smtClean="0">
                <a:solidFill>
                  <a:srgbClr val="FF0000"/>
                </a:solidFill>
                <a:latin typeface="+mj-ea"/>
                <a:ea typeface="+mj-ea"/>
              </a:rPr>
              <a:t>电源</a:t>
            </a:r>
            <a:r>
              <a:rPr lang="zh-CN" altLang="en-US" dirty="0">
                <a:solidFill>
                  <a:srgbClr val="FF0000"/>
                </a:solidFill>
                <a:latin typeface="+mj-ea"/>
                <a:ea typeface="+mj-ea"/>
              </a:rPr>
              <a:t>与退耦 </a:t>
            </a:r>
            <a:r>
              <a:rPr lang="en-US" altLang="zh-CN" dirty="0">
                <a:solidFill>
                  <a:srgbClr val="FF0000"/>
                </a:solidFill>
                <a:latin typeface="+mj-ea"/>
                <a:ea typeface="+mj-ea"/>
              </a:rPr>
              <a:t>—— </a:t>
            </a:r>
            <a:r>
              <a:rPr lang="zh-CN" altLang="en-US" dirty="0">
                <a:solidFill>
                  <a:srgbClr val="FF0000"/>
                </a:solidFill>
                <a:latin typeface="+mj-ea"/>
                <a:ea typeface="+mj-ea"/>
              </a:rPr>
              <a:t>容易被忽视的</a:t>
            </a:r>
            <a:r>
              <a:rPr lang="zh-CN" altLang="en-US" dirty="0" smtClean="0">
                <a:solidFill>
                  <a:srgbClr val="FF0000"/>
                </a:solidFill>
                <a:latin typeface="+mj-ea"/>
                <a:ea typeface="+mj-ea"/>
              </a:rPr>
              <a:t>地方</a:t>
            </a:r>
            <a:endParaRPr lang="zh-CN" altLang="zh-CN" kern="100" dirty="0">
              <a:solidFill>
                <a:srgbClr val="FF0000"/>
              </a:solidFill>
              <a:latin typeface="+mj-ea"/>
              <a:ea typeface="+mj-ea"/>
            </a:endParaRPr>
          </a:p>
          <a:p>
            <a:pPr marL="342900" indent="-342900" algn="just">
              <a:lnSpc>
                <a:spcPct val="150000"/>
              </a:lnSpc>
              <a:spcAft>
                <a:spcPts val="0"/>
              </a:spcAft>
              <a:buFont typeface="Arial" panose="020B0604020202020204" pitchFamily="34" charset="0"/>
              <a:buChar char="•"/>
            </a:pPr>
            <a:r>
              <a:rPr lang="zh-CN" altLang="zh-CN" kern="100" dirty="0" smtClean="0">
                <a:latin typeface="+mn-ea"/>
              </a:rPr>
              <a:t>每个集成</a:t>
            </a:r>
            <a:r>
              <a:rPr lang="zh-CN" altLang="en-US" kern="100" dirty="0">
                <a:latin typeface="+mn-ea"/>
                <a:ea typeface="+mn-ea"/>
              </a:rPr>
              <a:t>运</a:t>
            </a:r>
            <a:r>
              <a:rPr lang="zh-CN" altLang="en-US" kern="100" dirty="0" smtClean="0">
                <a:latin typeface="+mn-ea"/>
                <a:ea typeface="+mn-ea"/>
              </a:rPr>
              <a:t>放</a:t>
            </a:r>
            <a:r>
              <a:rPr lang="zh-CN" altLang="zh-CN" kern="100" dirty="0" smtClean="0">
                <a:latin typeface="+mn-ea"/>
              </a:rPr>
              <a:t>芯片</a:t>
            </a:r>
            <a:r>
              <a:rPr lang="zh-CN" altLang="zh-CN" kern="100" dirty="0">
                <a:latin typeface="+mn-ea"/>
              </a:rPr>
              <a:t>都需要单独的电源退耦电容</a:t>
            </a:r>
            <a:endParaRPr lang="en-US" altLang="zh-CN" kern="100" dirty="0">
              <a:latin typeface="+mn-ea"/>
              <a:ea typeface="+mn-ea"/>
            </a:endParaRPr>
          </a:p>
          <a:p>
            <a:pPr marL="342900" indent="-342900" algn="just">
              <a:lnSpc>
                <a:spcPct val="150000"/>
              </a:lnSpc>
              <a:spcAft>
                <a:spcPts val="0"/>
              </a:spcAft>
              <a:buFont typeface="Arial" panose="020B0604020202020204" pitchFamily="34" charset="0"/>
              <a:buChar char="•"/>
            </a:pPr>
            <a:r>
              <a:rPr lang="zh-CN" altLang="zh-CN" kern="100" dirty="0" smtClean="0">
                <a:latin typeface="+mn-ea"/>
                <a:ea typeface="+mn-ea"/>
              </a:rPr>
              <a:t>高频</a:t>
            </a:r>
            <a:r>
              <a:rPr lang="zh-CN" altLang="zh-CN" kern="100" dirty="0">
                <a:latin typeface="+mn-ea"/>
                <a:ea typeface="+mn-ea"/>
              </a:rPr>
              <a:t>或高速电路</a:t>
            </a:r>
            <a:r>
              <a:rPr lang="zh-CN" altLang="en-US" kern="100" dirty="0">
                <a:latin typeface="+mn-ea"/>
                <a:ea typeface="+mn-ea"/>
              </a:rPr>
              <a:t>，</a:t>
            </a:r>
            <a:r>
              <a:rPr lang="zh-CN" altLang="zh-CN" kern="100" dirty="0">
                <a:latin typeface="+mn-ea"/>
                <a:ea typeface="+mn-ea"/>
              </a:rPr>
              <a:t>每个集成电路芯片都需要单独的电源退耦</a:t>
            </a:r>
            <a:r>
              <a:rPr lang="zh-CN" altLang="zh-CN" kern="100" dirty="0" smtClean="0">
                <a:latin typeface="+mn-ea"/>
                <a:ea typeface="+mn-ea"/>
              </a:rPr>
              <a:t>电容</a:t>
            </a:r>
            <a:endParaRPr lang="en-US" altLang="zh-CN" kern="100" dirty="0" smtClean="0">
              <a:latin typeface="+mn-ea"/>
              <a:ea typeface="+mn-ea"/>
            </a:endParaRPr>
          </a:p>
          <a:p>
            <a:pPr marL="342900" indent="-342900" algn="just">
              <a:lnSpc>
                <a:spcPct val="150000"/>
              </a:lnSpc>
              <a:spcAft>
                <a:spcPts val="0"/>
              </a:spcAft>
              <a:buFont typeface="Arial" panose="020B0604020202020204" pitchFamily="34" charset="0"/>
              <a:buChar char="•"/>
            </a:pPr>
            <a:r>
              <a:rPr lang="zh-CN" altLang="en-US" kern="100" dirty="0" smtClean="0">
                <a:latin typeface="+mn-ea"/>
                <a:ea typeface="+mn-ea"/>
              </a:rPr>
              <a:t>只有</a:t>
            </a:r>
            <a:r>
              <a:rPr lang="zh-CN" altLang="zh-CN" kern="100" dirty="0" smtClean="0">
                <a:latin typeface="+mn-ea"/>
                <a:ea typeface="+mn-ea"/>
              </a:rPr>
              <a:t>低频</a:t>
            </a:r>
            <a:r>
              <a:rPr lang="zh-CN" altLang="zh-CN" kern="100" dirty="0">
                <a:latin typeface="+mn-ea"/>
                <a:ea typeface="+mn-ea"/>
              </a:rPr>
              <a:t>数字电路</a:t>
            </a:r>
            <a:r>
              <a:rPr lang="zh-CN" altLang="en-US" kern="100" dirty="0">
                <a:latin typeface="+mn-ea"/>
                <a:ea typeface="+mn-ea"/>
              </a:rPr>
              <a:t>，可以</a:t>
            </a:r>
            <a:r>
              <a:rPr lang="zh-CN" altLang="zh-CN" kern="100" dirty="0">
                <a:latin typeface="+mn-ea"/>
                <a:ea typeface="+mn-ea"/>
              </a:rPr>
              <a:t>采用几个芯片合用一组电源退耦电容的</a:t>
            </a:r>
            <a:r>
              <a:rPr lang="zh-CN" altLang="zh-CN" kern="100" dirty="0" smtClean="0">
                <a:latin typeface="+mn-ea"/>
                <a:ea typeface="+mn-ea"/>
              </a:rPr>
              <a:t>做法</a:t>
            </a:r>
            <a:endParaRPr lang="en-US" altLang="zh-CN" kern="100" dirty="0" smtClean="0">
              <a:latin typeface="+mn-ea"/>
              <a:ea typeface="+mn-ea"/>
            </a:endParaRPr>
          </a:p>
          <a:p>
            <a:pPr marL="342900" indent="-342900" algn="just">
              <a:lnSpc>
                <a:spcPct val="150000"/>
              </a:lnSpc>
              <a:spcAft>
                <a:spcPts val="0"/>
              </a:spcAft>
              <a:buFont typeface="Arial" panose="020B0604020202020204" pitchFamily="34" charset="0"/>
              <a:buChar char="•"/>
            </a:pPr>
            <a:r>
              <a:rPr lang="zh-CN" altLang="en-US" kern="100" dirty="0" smtClean="0">
                <a:latin typeface="+mn-ea"/>
                <a:ea typeface="+mn-ea"/>
              </a:rPr>
              <a:t>每组退耦电容通常由瓷片电容与电解电容并联或单独由瓷片电容构成</a:t>
            </a:r>
            <a:endParaRPr lang="en-US" altLang="zh-CN" kern="100" dirty="0" smtClean="0">
              <a:latin typeface="+mn-ea"/>
              <a:ea typeface="+mn-ea"/>
            </a:endParaRPr>
          </a:p>
          <a:p>
            <a:pPr marL="342900" indent="-342900" algn="just">
              <a:lnSpc>
                <a:spcPct val="150000"/>
              </a:lnSpc>
              <a:spcAft>
                <a:spcPts val="0"/>
              </a:spcAft>
              <a:buFont typeface="Arial" panose="020B0604020202020204" pitchFamily="34" charset="0"/>
              <a:buChar char="•"/>
            </a:pPr>
            <a:r>
              <a:rPr lang="zh-CN" altLang="zh-CN" kern="100" dirty="0" smtClean="0">
                <a:latin typeface="+mn-ea"/>
                <a:ea typeface="+mn-ea"/>
              </a:rPr>
              <a:t>瓷</a:t>
            </a:r>
            <a:r>
              <a:rPr lang="zh-CN" altLang="zh-CN" kern="100" dirty="0">
                <a:latin typeface="+mn-ea"/>
                <a:ea typeface="+mn-ea"/>
              </a:rPr>
              <a:t>片电容具有较好的高频特性，它作为电源退耦电容的作用是给电源提供一个低阻抗的接地通道，有效降低电源噪声</a:t>
            </a:r>
            <a:endParaRPr lang="en-US" altLang="zh-CN" kern="100" dirty="0">
              <a:latin typeface="+mn-ea"/>
              <a:ea typeface="+mn-ea"/>
            </a:endParaRPr>
          </a:p>
          <a:p>
            <a:pPr marL="342900" indent="-342900" algn="just">
              <a:lnSpc>
                <a:spcPct val="150000"/>
              </a:lnSpc>
              <a:spcAft>
                <a:spcPts val="0"/>
              </a:spcAft>
              <a:buFont typeface="Arial" panose="020B0604020202020204" pitchFamily="34" charset="0"/>
              <a:buChar char="•"/>
            </a:pPr>
            <a:r>
              <a:rPr lang="zh-CN" altLang="zh-CN" dirty="0"/>
              <a:t>并联在芯片电源引脚上的电解电容是储能电容</a:t>
            </a:r>
            <a:r>
              <a:rPr lang="zh-CN" altLang="en-US" dirty="0" smtClean="0"/>
              <a:t>，其</a:t>
            </a:r>
            <a:r>
              <a:rPr lang="zh-CN" altLang="zh-CN" dirty="0" smtClean="0"/>
              <a:t>作用</a:t>
            </a:r>
            <a:r>
              <a:rPr lang="zh-CN" altLang="zh-CN" dirty="0"/>
              <a:t>是在芯片的工作电流发生变化时提供芯片一个缓冲的能量，使得芯片的工作电压不至于有太大的波动</a:t>
            </a:r>
            <a:r>
              <a:rPr lang="zh-CN" altLang="en-US" dirty="0"/>
              <a:t>，尤其在模拟电路芯片</a:t>
            </a:r>
            <a:r>
              <a:rPr lang="zh-CN" altLang="en-US" dirty="0" smtClean="0"/>
              <a:t>中十分必要</a:t>
            </a:r>
            <a:endParaRPr lang="en-US" altLang="zh-CN" dirty="0"/>
          </a:p>
        </p:txBody>
      </p:sp>
    </p:spTree>
    <p:extLst>
      <p:ext uri="{BB962C8B-B14F-4D97-AF65-F5344CB8AC3E}">
        <p14:creationId xmlns:p14="http://schemas.microsoft.com/office/powerpoint/2010/main" val="4023406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26</a:t>
            </a:fld>
            <a:endParaRPr lang="en-US" altLang="zh-CN">
              <a:solidFill>
                <a:srgbClr val="FFFFFF"/>
              </a:solidFill>
            </a:endParaRPr>
          </a:p>
        </p:txBody>
      </p:sp>
      <p:sp>
        <p:nvSpPr>
          <p:cNvPr id="5" name="矩形 4"/>
          <p:cNvSpPr/>
          <p:nvPr/>
        </p:nvSpPr>
        <p:spPr>
          <a:xfrm>
            <a:off x="457200" y="563557"/>
            <a:ext cx="11284857" cy="4708981"/>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zh-CN" kern="100" dirty="0">
                <a:latin typeface="Arial" panose="020B0604020202020204" pitchFamily="34" charset="0"/>
              </a:rPr>
              <a:t>工作频率很</a:t>
            </a:r>
            <a:r>
              <a:rPr lang="zh-CN" altLang="zh-CN" kern="100" dirty="0" smtClean="0">
                <a:latin typeface="Arial" panose="020B0604020202020204" pitchFamily="34" charset="0"/>
              </a:rPr>
              <a:t>高</a:t>
            </a:r>
            <a:r>
              <a:rPr lang="zh-CN" altLang="en-US" kern="100" dirty="0" smtClean="0">
                <a:latin typeface="Arial" panose="020B0604020202020204" pitchFamily="34" charset="0"/>
              </a:rPr>
              <a:t>（几十</a:t>
            </a:r>
            <a:r>
              <a:rPr lang="en-US" altLang="zh-CN" kern="100" dirty="0" smtClean="0">
                <a:latin typeface="Arial" panose="020B0604020202020204" pitchFamily="34" charset="0"/>
              </a:rPr>
              <a:t>MHz</a:t>
            </a:r>
            <a:r>
              <a:rPr lang="zh-CN" altLang="en-US" kern="100" dirty="0" smtClean="0">
                <a:latin typeface="Arial" panose="020B0604020202020204" pitchFamily="34" charset="0"/>
              </a:rPr>
              <a:t>以上）</a:t>
            </a:r>
            <a:r>
              <a:rPr lang="zh-CN" altLang="zh-CN" kern="100" dirty="0" smtClean="0">
                <a:latin typeface="Arial" panose="020B0604020202020204" pitchFamily="34" charset="0"/>
              </a:rPr>
              <a:t>时</a:t>
            </a:r>
            <a:r>
              <a:rPr lang="zh-CN" altLang="zh-CN" kern="100" dirty="0">
                <a:latin typeface="Arial" panose="020B0604020202020204" pitchFamily="34" charset="0"/>
              </a:rPr>
              <a:t>必须考虑电容的寄生参数影响，包括电容的等效串联电阻（</a:t>
            </a:r>
            <a:r>
              <a:rPr lang="en-US" altLang="zh-CN" kern="100" dirty="0">
                <a:latin typeface="Arial" panose="020B0604020202020204" pitchFamily="34" charset="0"/>
              </a:rPr>
              <a:t>ESR</a:t>
            </a:r>
            <a:r>
              <a:rPr lang="zh-CN" altLang="zh-CN" kern="100" dirty="0">
                <a:latin typeface="Arial" panose="020B0604020202020204" pitchFamily="34" charset="0"/>
              </a:rPr>
              <a:t>）和等效串联电感（</a:t>
            </a:r>
            <a:r>
              <a:rPr lang="en-US" altLang="zh-CN" kern="100" dirty="0">
                <a:latin typeface="Arial" panose="020B0604020202020204" pitchFamily="34" charset="0"/>
              </a:rPr>
              <a:t>ESL</a:t>
            </a:r>
            <a:r>
              <a:rPr lang="zh-CN" altLang="zh-CN" kern="100" dirty="0">
                <a:latin typeface="Arial" panose="020B0604020202020204" pitchFamily="34" charset="0"/>
              </a:rPr>
              <a:t>）</a:t>
            </a:r>
            <a:r>
              <a:rPr lang="zh-CN" altLang="en-US" kern="100" dirty="0">
                <a:latin typeface="Arial" panose="020B0604020202020204" pitchFamily="34" charset="0"/>
              </a:rPr>
              <a:t>，</a:t>
            </a:r>
            <a:r>
              <a:rPr lang="zh-CN" altLang="zh-CN" kern="100" dirty="0">
                <a:latin typeface="Arial" panose="020B0604020202020204" pitchFamily="34" charset="0"/>
              </a:rPr>
              <a:t>必须使用无引线电容，最为常见的是贴片电容</a:t>
            </a:r>
          </a:p>
          <a:p>
            <a:pPr marL="342900" indent="-342900" algn="just">
              <a:lnSpc>
                <a:spcPct val="150000"/>
              </a:lnSpc>
              <a:spcAft>
                <a:spcPts val="0"/>
              </a:spcAft>
              <a:buFont typeface="Arial" panose="020B0604020202020204" pitchFamily="34" charset="0"/>
              <a:buChar char="•"/>
            </a:pPr>
            <a:r>
              <a:rPr lang="zh-CN" altLang="en-US" kern="100" dirty="0">
                <a:latin typeface="Arial" panose="020B0604020202020204" pitchFamily="34" charset="0"/>
                <a:ea typeface="+mn-ea"/>
              </a:rPr>
              <a:t>高频电路中，</a:t>
            </a:r>
            <a:r>
              <a:rPr lang="zh-CN" altLang="zh-CN" kern="100" dirty="0">
                <a:latin typeface="Arial" panose="020B0604020202020204" pitchFamily="34" charset="0"/>
                <a:ea typeface="+mn-ea"/>
              </a:rPr>
              <a:t>即使贴片电容</a:t>
            </a:r>
            <a:r>
              <a:rPr lang="zh-CN" altLang="en-US" kern="100" dirty="0">
                <a:latin typeface="Arial" panose="020B0604020202020204" pitchFamily="34" charset="0"/>
                <a:ea typeface="+mn-ea"/>
              </a:rPr>
              <a:t>也要考虑其</a:t>
            </a:r>
            <a:r>
              <a:rPr lang="zh-CN" altLang="zh-CN" kern="100" dirty="0">
                <a:latin typeface="Arial" panose="020B0604020202020204" pitchFamily="34" charset="0"/>
                <a:ea typeface="+mn-ea"/>
              </a:rPr>
              <a:t>分布电感</a:t>
            </a:r>
            <a:r>
              <a:rPr lang="zh-CN" altLang="en-US" kern="100" dirty="0">
                <a:latin typeface="Arial" panose="020B0604020202020204" pitchFamily="34" charset="0"/>
                <a:ea typeface="+mn-ea"/>
              </a:rPr>
              <a:t>，</a:t>
            </a:r>
            <a:r>
              <a:rPr lang="zh-CN" altLang="zh-CN" kern="100" dirty="0">
                <a:latin typeface="Arial" panose="020B0604020202020204" pitchFamily="34" charset="0"/>
                <a:ea typeface="+mn-ea"/>
              </a:rPr>
              <a:t>有时候大容量电容的退耦效果反而不如较小容量的电容好</a:t>
            </a:r>
            <a:endParaRPr lang="en-US" altLang="zh-CN" kern="100" dirty="0">
              <a:latin typeface="Arial" panose="020B0604020202020204" pitchFamily="34" charset="0"/>
              <a:ea typeface="+mn-ea"/>
            </a:endParaRPr>
          </a:p>
          <a:p>
            <a:pPr marL="342900" indent="-342900" algn="just">
              <a:lnSpc>
                <a:spcPct val="150000"/>
              </a:lnSpc>
              <a:spcAft>
                <a:spcPts val="0"/>
              </a:spcAft>
              <a:buFont typeface="Arial" panose="020B0604020202020204" pitchFamily="34" charset="0"/>
              <a:buChar char="•"/>
            </a:pPr>
            <a:r>
              <a:rPr lang="zh-CN" altLang="en-US" kern="100" dirty="0">
                <a:latin typeface="Arial" panose="020B0604020202020204" pitchFamily="34" charset="0"/>
                <a:ea typeface="+mn-ea"/>
              </a:rPr>
              <a:t>采用多个相同的贴片电容并联，可以有效降低等效的</a:t>
            </a:r>
            <a:r>
              <a:rPr lang="en-US" altLang="zh-CN" kern="100" dirty="0">
                <a:latin typeface="Arial" panose="020B0604020202020204" pitchFamily="34" charset="0"/>
                <a:ea typeface="+mn-ea"/>
              </a:rPr>
              <a:t>ESR</a:t>
            </a:r>
            <a:r>
              <a:rPr lang="zh-CN" altLang="en-US" kern="100" dirty="0">
                <a:latin typeface="Arial" panose="020B0604020202020204" pitchFamily="34" charset="0"/>
                <a:ea typeface="+mn-ea"/>
              </a:rPr>
              <a:t>与</a:t>
            </a:r>
            <a:r>
              <a:rPr lang="en-US" altLang="zh-CN" kern="100" dirty="0" smtClean="0">
                <a:latin typeface="Arial" panose="020B0604020202020204" pitchFamily="34" charset="0"/>
                <a:ea typeface="+mn-ea"/>
              </a:rPr>
              <a:t>ESL</a:t>
            </a:r>
            <a:r>
              <a:rPr lang="zh-CN" altLang="en-US" kern="100" dirty="0" smtClean="0">
                <a:latin typeface="Arial" panose="020B0604020202020204" pitchFamily="34" charset="0"/>
                <a:ea typeface="+mn-ea"/>
              </a:rPr>
              <a:t>。但不</a:t>
            </a:r>
            <a:r>
              <a:rPr lang="zh-CN" altLang="en-US" kern="100" dirty="0">
                <a:latin typeface="Arial" panose="020B0604020202020204" pitchFamily="34" charset="0"/>
                <a:ea typeface="+mn-ea"/>
              </a:rPr>
              <a:t>建议不同容量</a:t>
            </a:r>
            <a:r>
              <a:rPr lang="zh-CN" altLang="en-US" kern="100" dirty="0" smtClean="0">
                <a:latin typeface="Arial" panose="020B0604020202020204" pitchFamily="34" charset="0"/>
                <a:ea typeface="+mn-ea"/>
              </a:rPr>
              <a:t>的电容</a:t>
            </a:r>
            <a:r>
              <a:rPr lang="zh-CN" altLang="en-US" kern="100" dirty="0">
                <a:latin typeface="Arial" panose="020B0604020202020204" pitchFamily="34" charset="0"/>
                <a:ea typeface="+mn-ea"/>
              </a:rPr>
              <a:t>并联（电解电容除外）</a:t>
            </a:r>
            <a:endParaRPr lang="en-US" altLang="zh-CN" kern="100" dirty="0">
              <a:latin typeface="Arial" panose="020B0604020202020204" pitchFamily="34" charset="0"/>
              <a:ea typeface="+mn-ea"/>
            </a:endParaRPr>
          </a:p>
          <a:p>
            <a:pPr marL="342900" indent="-342900" algn="just">
              <a:lnSpc>
                <a:spcPct val="150000"/>
              </a:lnSpc>
              <a:spcAft>
                <a:spcPts val="0"/>
              </a:spcAft>
              <a:buFont typeface="Arial" panose="020B0604020202020204" pitchFamily="34" charset="0"/>
              <a:buChar char="•"/>
            </a:pPr>
            <a:r>
              <a:rPr lang="zh-CN" altLang="en-US" kern="100" dirty="0">
                <a:latin typeface="Arial" panose="020B0604020202020204" pitchFamily="34" charset="0"/>
                <a:ea typeface="+mn-ea"/>
              </a:rPr>
              <a:t>所有退耦电容</a:t>
            </a:r>
            <a:r>
              <a:rPr lang="zh-CN" altLang="zh-CN" dirty="0">
                <a:latin typeface="Arial" panose="020B0604020202020204" pitchFamily="34" charset="0"/>
              </a:rPr>
              <a:t>要尽可能靠近芯片的电源引脚，同时尽可能就近接地，在高频电路中通常直接在电容接地端用一个通孔接到地平面</a:t>
            </a:r>
            <a:endParaRPr lang="en-US" altLang="zh-CN" dirty="0">
              <a:latin typeface="Arial" panose="020B0604020202020204" pitchFamily="34" charset="0"/>
            </a:endParaRPr>
          </a:p>
          <a:p>
            <a:pPr marL="342900" indent="-342900" algn="just">
              <a:lnSpc>
                <a:spcPct val="150000"/>
              </a:lnSpc>
              <a:spcAft>
                <a:spcPts val="0"/>
              </a:spcAft>
              <a:buFont typeface="Arial" panose="020B0604020202020204" pitchFamily="34" charset="0"/>
              <a:buChar char="•"/>
            </a:pPr>
            <a:r>
              <a:rPr lang="zh-CN" altLang="en-US" dirty="0" smtClean="0">
                <a:latin typeface="Arial" panose="020B0604020202020204" pitchFamily="34" charset="0"/>
              </a:rPr>
              <a:t>在精密测量电路、微弱信号电路、高频信号电路等场合，</a:t>
            </a:r>
            <a:r>
              <a:rPr lang="zh-CN" altLang="zh-CN" dirty="0" smtClean="0">
                <a:latin typeface="Arial" panose="020B0604020202020204" pitchFamily="34" charset="0"/>
              </a:rPr>
              <a:t>电源</a:t>
            </a:r>
            <a:r>
              <a:rPr lang="zh-CN" altLang="zh-CN" dirty="0">
                <a:latin typeface="Arial" panose="020B0604020202020204" pitchFamily="34" charset="0"/>
              </a:rPr>
              <a:t>线进入放大器时最好先连到退耦电容引脚，再连到芯片的电源引脚</a:t>
            </a:r>
            <a:endParaRPr lang="zh-CN" altLang="zh-CN" kern="100" dirty="0">
              <a:latin typeface="Arial" panose="020B0604020202020204" pitchFamily="34" charset="0"/>
              <a:ea typeface="+mn-ea"/>
            </a:endParaRPr>
          </a:p>
        </p:txBody>
      </p:sp>
    </p:spTree>
    <p:extLst>
      <p:ext uri="{BB962C8B-B14F-4D97-AF65-F5344CB8AC3E}">
        <p14:creationId xmlns:p14="http://schemas.microsoft.com/office/powerpoint/2010/main" val="11170383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27</a:t>
            </a:fld>
            <a:endParaRPr lang="en-US" altLang="zh-CN">
              <a:solidFill>
                <a:srgbClr val="FFFFFF"/>
              </a:solidFill>
            </a:endParaRPr>
          </a:p>
        </p:txBody>
      </p:sp>
      <p:sp>
        <p:nvSpPr>
          <p:cNvPr id="5" name="矩形 4"/>
          <p:cNvSpPr/>
          <p:nvPr/>
        </p:nvSpPr>
        <p:spPr>
          <a:xfrm>
            <a:off x="478971" y="491587"/>
            <a:ext cx="10834914" cy="400110"/>
          </a:xfrm>
          <a:prstGeom prst="rect">
            <a:avLst/>
          </a:prstGeom>
        </p:spPr>
        <p:txBody>
          <a:bodyPr wrap="square">
            <a:spAutoFit/>
          </a:bodyPr>
          <a:lstStyle/>
          <a:p>
            <a:r>
              <a:rPr lang="zh-CN" altLang="en-US" dirty="0" smtClean="0">
                <a:solidFill>
                  <a:srgbClr val="FF0000"/>
                </a:solidFill>
                <a:latin typeface="+mj-ea"/>
                <a:ea typeface="+mj-ea"/>
              </a:rPr>
              <a:t>信号</a:t>
            </a:r>
            <a:r>
              <a:rPr lang="zh-CN" altLang="en-US" dirty="0">
                <a:solidFill>
                  <a:srgbClr val="FF0000"/>
                </a:solidFill>
                <a:latin typeface="+mj-ea"/>
                <a:ea typeface="+mj-ea"/>
              </a:rPr>
              <a:t>的连接 </a:t>
            </a:r>
            <a:r>
              <a:rPr lang="en-US" altLang="zh-CN" dirty="0">
                <a:solidFill>
                  <a:srgbClr val="FF0000"/>
                </a:solidFill>
                <a:latin typeface="+mj-ea"/>
                <a:ea typeface="+mj-ea"/>
              </a:rPr>
              <a:t>—— </a:t>
            </a:r>
            <a:r>
              <a:rPr lang="zh-CN" altLang="en-US" dirty="0">
                <a:solidFill>
                  <a:srgbClr val="FF0000"/>
                </a:solidFill>
                <a:latin typeface="+mj-ea"/>
                <a:ea typeface="+mj-ea"/>
              </a:rPr>
              <a:t>不同</a:t>
            </a:r>
            <a:r>
              <a:rPr lang="zh-CN" altLang="en-US" dirty="0" smtClean="0">
                <a:solidFill>
                  <a:srgbClr val="FF0000"/>
                </a:solidFill>
                <a:latin typeface="+mj-ea"/>
                <a:ea typeface="+mj-ea"/>
              </a:rPr>
              <a:t>的应用场合有</a:t>
            </a:r>
            <a:r>
              <a:rPr lang="zh-CN" altLang="en-US" dirty="0">
                <a:solidFill>
                  <a:srgbClr val="FF0000"/>
                </a:solidFill>
                <a:latin typeface="+mj-ea"/>
                <a:ea typeface="+mj-ea"/>
              </a:rPr>
              <a:t>不同的连接</a:t>
            </a:r>
            <a:r>
              <a:rPr lang="zh-CN" altLang="en-US" dirty="0" smtClean="0">
                <a:solidFill>
                  <a:srgbClr val="FF0000"/>
                </a:solidFill>
                <a:latin typeface="+mj-ea"/>
                <a:ea typeface="+mj-ea"/>
              </a:rPr>
              <a:t>方法</a:t>
            </a:r>
            <a:endParaRPr lang="en-US" altLang="zh-CN" dirty="0">
              <a:solidFill>
                <a:srgbClr val="FF0000"/>
              </a:solidFill>
              <a:latin typeface="+mj-ea"/>
              <a:ea typeface="+mj-ea"/>
            </a:endParaRPr>
          </a:p>
        </p:txBody>
      </p:sp>
      <p:sp>
        <p:nvSpPr>
          <p:cNvPr id="6" name="矩形 5"/>
          <p:cNvSpPr/>
          <p:nvPr/>
        </p:nvSpPr>
        <p:spPr>
          <a:xfrm>
            <a:off x="478971" y="891697"/>
            <a:ext cx="11219543" cy="4862870"/>
          </a:xfrm>
          <a:prstGeom prst="rect">
            <a:avLst/>
          </a:prstGeom>
        </p:spPr>
        <p:txBody>
          <a:bodyPr wrap="square">
            <a:spAutoFit/>
          </a:bodyPr>
          <a:lstStyle/>
          <a:p>
            <a:pPr>
              <a:lnSpc>
                <a:spcPct val="150000"/>
              </a:lnSpc>
              <a:spcBef>
                <a:spcPts val="0"/>
              </a:spcBef>
              <a:spcAft>
                <a:spcPts val="0"/>
              </a:spcAft>
            </a:pPr>
            <a:r>
              <a:rPr lang="zh-CN" altLang="en-US" kern="0" dirty="0" smtClean="0">
                <a:solidFill>
                  <a:srgbClr val="444444"/>
                </a:solidFill>
                <a:latin typeface="Times New Roman" panose="02020603050405020304" pitchFamily="18" charset="0"/>
                <a:ea typeface="黑体" panose="02010609060101010101" pitchFamily="49" charset="-122"/>
                <a:cs typeface="Tahoma" panose="020B0604030504040204" pitchFamily="34" charset="0"/>
              </a:rPr>
              <a:t>同一块电路</a:t>
            </a:r>
            <a:r>
              <a:rPr lang="zh-CN" altLang="zh-CN" kern="0" dirty="0" smtClean="0">
                <a:solidFill>
                  <a:srgbClr val="444444"/>
                </a:solidFill>
                <a:latin typeface="Times New Roman" panose="02020603050405020304" pitchFamily="18" charset="0"/>
                <a:ea typeface="黑体" panose="02010609060101010101" pitchFamily="49" charset="-122"/>
                <a:cs typeface="Tahoma" panose="020B0604030504040204" pitchFamily="34" charset="0"/>
              </a:rPr>
              <a:t>板</a:t>
            </a:r>
            <a:r>
              <a:rPr lang="zh-CN" altLang="zh-CN" kern="0" dirty="0">
                <a:solidFill>
                  <a:srgbClr val="444444"/>
                </a:solidFill>
                <a:latin typeface="Times New Roman" panose="02020603050405020304" pitchFamily="18" charset="0"/>
                <a:ea typeface="黑体" panose="02010609060101010101" pitchFamily="49" charset="-122"/>
                <a:cs typeface="Tahoma" panose="020B0604030504040204" pitchFamily="34" charset="0"/>
              </a:rPr>
              <a:t>上的信号</a:t>
            </a:r>
            <a:r>
              <a:rPr lang="zh-CN" altLang="zh-CN" kern="0" dirty="0" smtClean="0">
                <a:solidFill>
                  <a:srgbClr val="444444"/>
                </a:solidFill>
                <a:latin typeface="Times New Roman" panose="02020603050405020304" pitchFamily="18" charset="0"/>
                <a:ea typeface="黑体" panose="02010609060101010101" pitchFamily="49" charset="-122"/>
                <a:cs typeface="Tahoma" panose="020B0604030504040204" pitchFamily="34" charset="0"/>
              </a:rPr>
              <a:t>线</a:t>
            </a:r>
            <a:r>
              <a:rPr lang="zh-CN" altLang="en-US" kern="0" dirty="0" smtClean="0">
                <a:solidFill>
                  <a:srgbClr val="444444"/>
                </a:solidFill>
                <a:latin typeface="Times New Roman" panose="02020603050405020304" pitchFamily="18" charset="0"/>
                <a:ea typeface="黑体" panose="02010609060101010101" pitchFamily="49" charset="-122"/>
                <a:cs typeface="Tahoma" panose="020B0604030504040204" pitchFamily="34" charset="0"/>
              </a:rPr>
              <a:t>的排布（地线与电源线已经在前面讨论过了）</a:t>
            </a:r>
            <a:endParaRPr lang="zh-CN" altLang="zh-CN" kern="100" dirty="0">
              <a:latin typeface="Times New Roman" panose="02020603050405020304" pitchFamily="18" charset="0"/>
              <a:ea typeface="宋体" panose="02010600030101010101" pitchFamily="2" charset="-122"/>
            </a:endParaRPr>
          </a:p>
          <a:p>
            <a:pPr marL="342900" indent="-342900" algn="just">
              <a:lnSpc>
                <a:spcPct val="150000"/>
              </a:lnSpc>
              <a:spcAft>
                <a:spcPts val="0"/>
              </a:spcAft>
              <a:buFont typeface="Arial" panose="020B0604020202020204" pitchFamily="34" charset="0"/>
              <a:buChar char="•"/>
            </a:pPr>
            <a:r>
              <a:rPr lang="zh-CN" altLang="zh-CN" kern="100" dirty="0">
                <a:latin typeface="+mn-ea"/>
              </a:rPr>
              <a:t>信号线以短、直为</a:t>
            </a:r>
            <a:r>
              <a:rPr lang="zh-CN" altLang="zh-CN" kern="100" dirty="0" smtClean="0">
                <a:latin typeface="+mn-ea"/>
              </a:rPr>
              <a:t>布线</a:t>
            </a:r>
            <a:r>
              <a:rPr lang="zh-CN" altLang="en-US" kern="100" dirty="0" smtClean="0">
                <a:latin typeface="+mn-ea"/>
                <a:ea typeface="+mn-ea"/>
              </a:rPr>
              <a:t>基本原则</a:t>
            </a:r>
            <a:endParaRPr lang="en-US" altLang="zh-CN" kern="100" dirty="0" smtClean="0">
              <a:latin typeface="+mn-ea"/>
              <a:ea typeface="+mn-ea"/>
            </a:endParaRPr>
          </a:p>
          <a:p>
            <a:pPr marL="342900" indent="-342900" algn="just">
              <a:lnSpc>
                <a:spcPct val="150000"/>
              </a:lnSpc>
              <a:spcAft>
                <a:spcPts val="0"/>
              </a:spcAft>
              <a:buFont typeface="Arial" panose="020B0604020202020204" pitchFamily="34" charset="0"/>
              <a:buChar char="•"/>
            </a:pPr>
            <a:r>
              <a:rPr lang="zh-CN" altLang="en-US" kern="100" dirty="0" smtClean="0">
                <a:latin typeface="+mn-ea"/>
                <a:ea typeface="+mn-ea"/>
              </a:rPr>
              <a:t>安排器件位置时就要考虑信号线的走向</a:t>
            </a:r>
            <a:endParaRPr lang="en-US" altLang="zh-CN" kern="100" dirty="0" smtClean="0">
              <a:latin typeface="+mn-ea"/>
              <a:ea typeface="+mn-ea"/>
            </a:endParaRPr>
          </a:p>
          <a:p>
            <a:pPr marL="342900" indent="-342900" algn="just">
              <a:lnSpc>
                <a:spcPct val="150000"/>
              </a:lnSpc>
              <a:spcAft>
                <a:spcPts val="0"/>
              </a:spcAft>
              <a:buFont typeface="Arial" panose="020B0604020202020204" pitchFamily="34" charset="0"/>
              <a:buChar char="•"/>
            </a:pPr>
            <a:r>
              <a:rPr lang="zh-CN" altLang="zh-CN" kern="100" dirty="0">
                <a:latin typeface="+mn-ea"/>
                <a:ea typeface="+mn-ea"/>
              </a:rPr>
              <a:t>有些特殊的集成器件对布线有特殊的要求，通常会在其数据手册中特别注明，布线时必须遵循手册的说明</a:t>
            </a:r>
            <a:endParaRPr lang="en-US" altLang="zh-CN" kern="100" dirty="0">
              <a:latin typeface="+mn-ea"/>
              <a:ea typeface="+mn-ea"/>
            </a:endParaRPr>
          </a:p>
          <a:p>
            <a:pPr marL="540000" algn="just">
              <a:lnSpc>
                <a:spcPct val="150000"/>
              </a:lnSpc>
              <a:spcAft>
                <a:spcPts val="0"/>
              </a:spcAft>
            </a:pPr>
            <a:r>
              <a:rPr lang="zh-CN" altLang="en-US" kern="100" dirty="0" smtClean="0">
                <a:latin typeface="+mn-ea"/>
                <a:ea typeface="+mn-ea"/>
              </a:rPr>
              <a:t>遵循上述原则的布线，</a:t>
            </a:r>
            <a:r>
              <a:rPr lang="zh-CN" altLang="zh-CN" kern="100" dirty="0">
                <a:latin typeface="+mn-ea"/>
                <a:ea typeface="+mn-ea"/>
              </a:rPr>
              <a:t>只要不是十分</a:t>
            </a:r>
            <a:r>
              <a:rPr lang="zh-CN" altLang="zh-CN" kern="100" dirty="0" smtClean="0">
                <a:latin typeface="+mn-ea"/>
                <a:ea typeface="+mn-ea"/>
              </a:rPr>
              <a:t>糟糕</a:t>
            </a:r>
            <a:r>
              <a:rPr lang="zh-CN" altLang="en-US" kern="100" dirty="0">
                <a:latin typeface="+mn-ea"/>
                <a:ea typeface="+mn-ea"/>
              </a:rPr>
              <a:t>（所谓糟糕的布线，例如绕大圈的连</a:t>
            </a:r>
            <a:r>
              <a:rPr lang="zh-CN" altLang="en-US" kern="100" dirty="0" smtClean="0">
                <a:latin typeface="+mn-ea"/>
                <a:ea typeface="+mn-ea"/>
              </a:rPr>
              <a:t>线），</a:t>
            </a:r>
            <a:r>
              <a:rPr lang="zh-CN" altLang="zh-CN" kern="100" dirty="0" smtClean="0">
                <a:latin typeface="+mn-ea"/>
                <a:ea typeface="+mn-ea"/>
              </a:rPr>
              <a:t>通常</a:t>
            </a:r>
            <a:r>
              <a:rPr lang="zh-CN" altLang="en-US" kern="100" dirty="0" smtClean="0">
                <a:latin typeface="+mn-ea"/>
                <a:ea typeface="+mn-ea"/>
              </a:rPr>
              <a:t>都</a:t>
            </a:r>
            <a:r>
              <a:rPr lang="zh-CN" altLang="zh-CN" kern="100" dirty="0" smtClean="0">
                <a:latin typeface="+mn-ea"/>
                <a:ea typeface="+mn-ea"/>
              </a:rPr>
              <a:t>不会</a:t>
            </a:r>
            <a:r>
              <a:rPr lang="zh-CN" altLang="zh-CN" kern="100" dirty="0">
                <a:latin typeface="+mn-ea"/>
                <a:ea typeface="+mn-ea"/>
              </a:rPr>
              <a:t>引起什么</a:t>
            </a:r>
            <a:r>
              <a:rPr lang="zh-CN" altLang="zh-CN" kern="100" dirty="0" smtClean="0">
                <a:latin typeface="+mn-ea"/>
                <a:ea typeface="+mn-ea"/>
              </a:rPr>
              <a:t>问题</a:t>
            </a:r>
            <a:r>
              <a:rPr lang="zh-CN" altLang="en-US" kern="100" dirty="0" smtClean="0">
                <a:latin typeface="+mn-ea"/>
                <a:ea typeface="+mn-ea"/>
              </a:rPr>
              <a:t>，</a:t>
            </a:r>
            <a:r>
              <a:rPr lang="zh-CN" altLang="en-US" kern="100" dirty="0" smtClean="0">
                <a:latin typeface="+mn-ea"/>
              </a:rPr>
              <a:t>基本上</a:t>
            </a:r>
            <a:r>
              <a:rPr lang="zh-CN" altLang="en-US" kern="100" dirty="0">
                <a:latin typeface="+mn-ea"/>
              </a:rPr>
              <a:t>已经可以应付竞赛的需求</a:t>
            </a:r>
            <a:endParaRPr lang="en-US" altLang="zh-CN" kern="100" dirty="0" smtClean="0">
              <a:latin typeface="+mn-ea"/>
              <a:ea typeface="+mn-ea"/>
            </a:endParaRPr>
          </a:p>
          <a:p>
            <a:pPr algn="just">
              <a:lnSpc>
                <a:spcPct val="150000"/>
              </a:lnSpc>
              <a:spcBef>
                <a:spcPts val="1200"/>
              </a:spcBef>
              <a:spcAft>
                <a:spcPts val="0"/>
              </a:spcAft>
            </a:pPr>
            <a:r>
              <a:rPr lang="zh-CN" altLang="en-US" kern="100" dirty="0" smtClean="0">
                <a:latin typeface="+mn-ea"/>
                <a:ea typeface="+mn-ea"/>
              </a:rPr>
              <a:t>对于高频</a:t>
            </a:r>
            <a:r>
              <a:rPr lang="zh-CN" altLang="en-US" kern="100" dirty="0">
                <a:latin typeface="+mn-ea"/>
                <a:ea typeface="+mn-ea"/>
              </a:rPr>
              <a:t>高速电路</a:t>
            </a:r>
            <a:r>
              <a:rPr lang="zh-CN" altLang="en-US" kern="100" dirty="0" smtClean="0">
                <a:latin typeface="+mn-ea"/>
                <a:ea typeface="+mn-ea"/>
              </a:rPr>
              <a:t>（例如在</a:t>
            </a:r>
            <a:r>
              <a:rPr lang="en-US" altLang="zh-CN" kern="100" dirty="0" smtClean="0">
                <a:latin typeface="Arial" panose="020B0604020202020204" pitchFamily="34" charset="0"/>
                <a:ea typeface="+mn-ea"/>
                <a:cs typeface="Arial" panose="020B0604020202020204" pitchFamily="34" charset="0"/>
              </a:rPr>
              <a:t>100MHz</a:t>
            </a:r>
            <a:r>
              <a:rPr lang="zh-CN" altLang="en-US" kern="100" dirty="0" smtClean="0">
                <a:latin typeface="+mn-ea"/>
                <a:ea typeface="+mn-ea"/>
              </a:rPr>
              <a:t>以上，</a:t>
            </a:r>
            <a:r>
              <a:rPr lang="zh-CN" altLang="en-US" kern="100" dirty="0">
                <a:latin typeface="+mn-ea"/>
              </a:rPr>
              <a:t>在竞赛中很难遇到</a:t>
            </a:r>
            <a:r>
              <a:rPr lang="zh-CN" altLang="en-US" kern="100" dirty="0" smtClean="0">
                <a:latin typeface="+mn-ea"/>
                <a:ea typeface="+mn-ea"/>
              </a:rPr>
              <a:t>），要注意下列两点</a:t>
            </a:r>
            <a:endParaRPr lang="zh-CN" altLang="zh-CN" kern="100" dirty="0">
              <a:latin typeface="+mn-ea"/>
              <a:ea typeface="+mn-ea"/>
            </a:endParaRPr>
          </a:p>
          <a:p>
            <a:pPr marL="342900" indent="-342900" algn="just">
              <a:lnSpc>
                <a:spcPct val="150000"/>
              </a:lnSpc>
              <a:spcAft>
                <a:spcPts val="0"/>
              </a:spcAft>
              <a:buFont typeface="Arial" panose="020B0604020202020204" pitchFamily="34" charset="0"/>
              <a:buChar char="•"/>
            </a:pPr>
            <a:r>
              <a:rPr lang="zh-CN" altLang="en-US" kern="100" dirty="0" smtClean="0">
                <a:latin typeface="+mn-ea"/>
                <a:ea typeface="+mn-ea"/>
              </a:rPr>
              <a:t>射频电路中，可能</a:t>
            </a:r>
            <a:r>
              <a:rPr lang="zh-CN" altLang="zh-CN" kern="100" dirty="0" smtClean="0">
                <a:latin typeface="+mn-ea"/>
                <a:ea typeface="+mn-ea"/>
              </a:rPr>
              <a:t>需要</a:t>
            </a:r>
            <a:r>
              <a:rPr lang="zh-CN" altLang="en-US" kern="100" dirty="0" smtClean="0">
                <a:latin typeface="+mn-ea"/>
                <a:ea typeface="+mn-ea"/>
              </a:rPr>
              <a:t>考虑</a:t>
            </a:r>
            <a:r>
              <a:rPr lang="zh-CN" altLang="zh-CN" kern="100" dirty="0" smtClean="0">
                <a:latin typeface="+mn-ea"/>
                <a:ea typeface="+mn-ea"/>
              </a:rPr>
              <a:t>传输线</a:t>
            </a:r>
            <a:r>
              <a:rPr lang="zh-CN" altLang="en-US" kern="100" dirty="0" smtClean="0">
                <a:latin typeface="+mn-ea"/>
                <a:ea typeface="+mn-ea"/>
              </a:rPr>
              <a:t>的阻抗特性</a:t>
            </a:r>
            <a:endParaRPr lang="en-US" altLang="zh-CN" kern="100" dirty="0">
              <a:latin typeface="+mn-ea"/>
              <a:ea typeface="+mn-ea"/>
            </a:endParaRPr>
          </a:p>
          <a:p>
            <a:pPr marL="342900" indent="-342900" algn="just">
              <a:lnSpc>
                <a:spcPct val="150000"/>
              </a:lnSpc>
              <a:spcAft>
                <a:spcPts val="0"/>
              </a:spcAft>
              <a:buFont typeface="Arial" panose="020B0604020202020204" pitchFamily="34" charset="0"/>
              <a:buChar char="•"/>
            </a:pPr>
            <a:r>
              <a:rPr lang="zh-CN" altLang="en-US" kern="100" dirty="0">
                <a:latin typeface="+mn-ea"/>
                <a:ea typeface="+mn-ea"/>
              </a:rPr>
              <a:t>高速</a:t>
            </a:r>
            <a:r>
              <a:rPr lang="zh-CN" altLang="en-US" kern="100" dirty="0" smtClean="0">
                <a:latin typeface="+mn-ea"/>
                <a:ea typeface="+mn-ea"/>
              </a:rPr>
              <a:t>数字电路中，可能需要考虑</a:t>
            </a:r>
            <a:r>
              <a:rPr lang="zh-CN" altLang="en-US" kern="100" dirty="0">
                <a:latin typeface="+mn-ea"/>
                <a:ea typeface="+mn-ea"/>
              </a:rPr>
              <a:t>信号线的延时</a:t>
            </a:r>
            <a:endParaRPr lang="zh-CN" altLang="zh-CN" kern="100" dirty="0">
              <a:latin typeface="+mn-ea"/>
              <a:ea typeface="+mn-ea"/>
            </a:endParaRPr>
          </a:p>
        </p:txBody>
      </p:sp>
      <p:pic>
        <p:nvPicPr>
          <p:cNvPr id="7" name="图片 6"/>
          <p:cNvPicPr>
            <a:picLocks noChangeAspect="1"/>
          </p:cNvPicPr>
          <p:nvPr/>
        </p:nvPicPr>
        <p:blipFill>
          <a:blip r:embed="rId2"/>
          <a:stretch>
            <a:fillRect/>
          </a:stretch>
        </p:blipFill>
        <p:spPr>
          <a:xfrm>
            <a:off x="322326" y="3294743"/>
            <a:ext cx="604181" cy="516898"/>
          </a:xfrm>
          <a:prstGeom prst="rect">
            <a:avLst/>
          </a:prstGeom>
        </p:spPr>
      </p:pic>
    </p:spTree>
    <p:extLst>
      <p:ext uri="{BB962C8B-B14F-4D97-AF65-F5344CB8AC3E}">
        <p14:creationId xmlns:p14="http://schemas.microsoft.com/office/powerpoint/2010/main" val="28707294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28</a:t>
            </a:fld>
            <a:endParaRPr lang="en-US" altLang="zh-CN">
              <a:solidFill>
                <a:srgbClr val="FFFFFF"/>
              </a:solidFill>
            </a:endParaRPr>
          </a:p>
        </p:txBody>
      </p:sp>
      <p:sp>
        <p:nvSpPr>
          <p:cNvPr id="5" name="矩形 4"/>
          <p:cNvSpPr/>
          <p:nvPr/>
        </p:nvSpPr>
        <p:spPr>
          <a:xfrm>
            <a:off x="406400" y="603095"/>
            <a:ext cx="11415185" cy="2400657"/>
          </a:xfrm>
          <a:prstGeom prst="rect">
            <a:avLst/>
          </a:prstGeom>
        </p:spPr>
        <p:txBody>
          <a:bodyPr wrap="square">
            <a:spAutoFit/>
          </a:bodyPr>
          <a:lstStyle/>
          <a:p>
            <a:pPr algn="just">
              <a:lnSpc>
                <a:spcPct val="150000"/>
              </a:lnSpc>
              <a:spcAft>
                <a:spcPts val="0"/>
              </a:spcAft>
            </a:pPr>
            <a:r>
              <a:rPr lang="zh-CN" altLang="en-US" kern="100" dirty="0" smtClean="0">
                <a:latin typeface="+mj-ea"/>
                <a:ea typeface="+mj-ea"/>
              </a:rPr>
              <a:t>两块电路板之间的信号线连接</a:t>
            </a:r>
            <a:endParaRPr lang="en-US" altLang="zh-CN" kern="100" dirty="0" smtClean="0">
              <a:latin typeface="+mj-ea"/>
              <a:ea typeface="+mj-ea"/>
            </a:endParaRPr>
          </a:p>
          <a:p>
            <a:pPr algn="just">
              <a:lnSpc>
                <a:spcPct val="150000"/>
              </a:lnSpc>
              <a:spcAft>
                <a:spcPts val="0"/>
              </a:spcAft>
            </a:pPr>
            <a:r>
              <a:rPr lang="zh-CN" altLang="en-US" kern="100" dirty="0" smtClean="0">
                <a:latin typeface="+mj-ea"/>
                <a:ea typeface="+mj-ea"/>
              </a:rPr>
              <a:t>同轴电缆与</a:t>
            </a:r>
            <a:r>
              <a:rPr lang="zh-CN" altLang="zh-CN" kern="100" dirty="0" smtClean="0">
                <a:latin typeface="+mj-ea"/>
                <a:ea typeface="+mj-ea"/>
              </a:rPr>
              <a:t>屏蔽电缆</a:t>
            </a:r>
            <a:endParaRPr lang="en-US" altLang="zh-CN" kern="100" dirty="0">
              <a:latin typeface="+mj-ea"/>
              <a:ea typeface="+mj-ea"/>
            </a:endParaRPr>
          </a:p>
          <a:p>
            <a:pPr marL="342900" indent="-342900" algn="just">
              <a:lnSpc>
                <a:spcPct val="150000"/>
              </a:lnSpc>
              <a:spcAft>
                <a:spcPts val="0"/>
              </a:spcAft>
              <a:buFont typeface="Arial" panose="020B0604020202020204" pitchFamily="34" charset="0"/>
              <a:buChar char="•"/>
            </a:pPr>
            <a:r>
              <a:rPr lang="zh-CN" altLang="zh-CN" kern="100" dirty="0">
                <a:latin typeface="+mn-ea"/>
                <a:ea typeface="+mn-ea"/>
              </a:rPr>
              <a:t>常常</a:t>
            </a:r>
            <a:r>
              <a:rPr lang="zh-CN" altLang="zh-CN" kern="100" dirty="0" smtClean="0">
                <a:latin typeface="+mn-ea"/>
                <a:ea typeface="+mn-ea"/>
              </a:rPr>
              <a:t>用于</a:t>
            </a:r>
            <a:r>
              <a:rPr lang="zh-CN" altLang="en-US" kern="100" dirty="0" smtClean="0">
                <a:latin typeface="+mn-ea"/>
                <a:ea typeface="+mn-ea"/>
              </a:rPr>
              <a:t>两块电路板之间的微弱</a:t>
            </a:r>
            <a:r>
              <a:rPr lang="zh-CN" altLang="zh-CN" kern="100" dirty="0" smtClean="0">
                <a:latin typeface="+mn-ea"/>
                <a:ea typeface="+mn-ea"/>
              </a:rPr>
              <a:t>信号</a:t>
            </a:r>
            <a:r>
              <a:rPr lang="zh-CN" altLang="zh-CN" kern="100" dirty="0">
                <a:latin typeface="+mn-ea"/>
                <a:ea typeface="+mn-ea"/>
              </a:rPr>
              <a:t>传递</a:t>
            </a:r>
            <a:endParaRPr lang="en-US" altLang="zh-CN" kern="100" dirty="0">
              <a:latin typeface="+mn-ea"/>
              <a:ea typeface="+mn-ea"/>
            </a:endParaRPr>
          </a:p>
          <a:p>
            <a:pPr marL="342900" indent="-342900" algn="just">
              <a:lnSpc>
                <a:spcPct val="150000"/>
              </a:lnSpc>
              <a:spcAft>
                <a:spcPts val="0"/>
              </a:spcAft>
              <a:buFont typeface="Arial" panose="020B0604020202020204" pitchFamily="34" charset="0"/>
              <a:buChar char="•"/>
            </a:pPr>
            <a:r>
              <a:rPr lang="zh-CN" altLang="zh-CN" kern="100" dirty="0">
                <a:latin typeface="+mn-ea"/>
                <a:ea typeface="+mn-ea"/>
              </a:rPr>
              <a:t>屏蔽层接地可以很大程度上降低由分布电容引入的干扰</a:t>
            </a:r>
            <a:endParaRPr lang="en-US" altLang="zh-CN" kern="100" dirty="0">
              <a:latin typeface="+mn-ea"/>
              <a:ea typeface="+mn-ea"/>
            </a:endParaRPr>
          </a:p>
          <a:p>
            <a:pPr marL="342900" indent="-342900" algn="just">
              <a:lnSpc>
                <a:spcPct val="150000"/>
              </a:lnSpc>
              <a:spcAft>
                <a:spcPts val="0"/>
              </a:spcAft>
              <a:buFont typeface="Arial" panose="020B0604020202020204" pitchFamily="34" charset="0"/>
              <a:buChar char="•"/>
            </a:pPr>
            <a:r>
              <a:rPr lang="zh-CN" altLang="zh-CN" kern="100" dirty="0">
                <a:latin typeface="+mn-ea"/>
                <a:ea typeface="+mn-ea"/>
              </a:rPr>
              <a:t>屏蔽层接地方式对屏蔽效果有很大影响</a:t>
            </a:r>
            <a:endParaRPr lang="zh-CN" altLang="en-US" dirty="0">
              <a:latin typeface="+mn-ea"/>
              <a:ea typeface="+mn-ea"/>
            </a:endParaRPr>
          </a:p>
        </p:txBody>
      </p:sp>
      <p:sp>
        <p:nvSpPr>
          <p:cNvPr id="13" name="文本框 12"/>
          <p:cNvSpPr txBox="1"/>
          <p:nvPr/>
        </p:nvSpPr>
        <p:spPr>
          <a:xfrm>
            <a:off x="6828552" y="5898034"/>
            <a:ext cx="2724873" cy="338554"/>
          </a:xfrm>
          <a:prstGeom prst="rect">
            <a:avLst/>
          </a:prstGeom>
          <a:noFill/>
        </p:spPr>
        <p:txBody>
          <a:bodyPr wrap="square" rtlCol="0">
            <a:spAutoFit/>
          </a:bodyPr>
          <a:lstStyle/>
          <a:p>
            <a:r>
              <a:rPr lang="zh-CN" altLang="en-US" sz="1600" dirty="0" smtClean="0">
                <a:solidFill>
                  <a:srgbClr val="C00000"/>
                </a:solidFill>
              </a:rPr>
              <a:t>屏蔽</a:t>
            </a:r>
            <a:r>
              <a:rPr lang="zh-CN" altLang="en-US" sz="1600" dirty="0">
                <a:solidFill>
                  <a:srgbClr val="C00000"/>
                </a:solidFill>
              </a:rPr>
              <a:t>层与电源地构成接地环</a:t>
            </a:r>
          </a:p>
        </p:txBody>
      </p:sp>
      <p:graphicFrame>
        <p:nvGraphicFramePr>
          <p:cNvPr id="11" name="对象 10"/>
          <p:cNvGraphicFramePr>
            <a:graphicFrameLocks noChangeAspect="1"/>
          </p:cNvGraphicFramePr>
          <p:nvPr>
            <p:extLst>
              <p:ext uri="{D42A27DB-BD31-4B8C-83A1-F6EECF244321}">
                <p14:modId xmlns:p14="http://schemas.microsoft.com/office/powerpoint/2010/main" val="886168081"/>
              </p:ext>
            </p:extLst>
          </p:nvPr>
        </p:nvGraphicFramePr>
        <p:xfrm>
          <a:off x="1939235" y="3277126"/>
          <a:ext cx="8349513" cy="2476889"/>
        </p:xfrm>
        <a:graphic>
          <a:graphicData uri="http://schemas.openxmlformats.org/presentationml/2006/ole">
            <mc:AlternateContent xmlns:mc="http://schemas.openxmlformats.org/markup-compatibility/2006">
              <mc:Choice xmlns:v="urn:schemas-microsoft-com:vml" Requires="v">
                <p:oleObj spid="_x0000_s3141" name="Visio" r:id="rId4" imgW="3739927" imgH="1111205" progId="Visio.Drawing.15">
                  <p:embed/>
                </p:oleObj>
              </mc:Choice>
              <mc:Fallback>
                <p:oleObj name="Visio" r:id="rId4" imgW="3739927" imgH="1111205" progId="Visio.Drawing.15">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9235" y="3277126"/>
                        <a:ext cx="8349513" cy="2476889"/>
                      </a:xfrm>
                      <a:prstGeom prst="rect">
                        <a:avLst/>
                      </a:prstGeom>
                      <a:noFill/>
                    </p:spPr>
                  </p:pic>
                </p:oleObj>
              </mc:Fallback>
            </mc:AlternateContent>
          </a:graphicData>
        </a:graphic>
      </p:graphicFrame>
    </p:spTree>
    <p:extLst>
      <p:ext uri="{BB962C8B-B14F-4D97-AF65-F5344CB8AC3E}">
        <p14:creationId xmlns:p14="http://schemas.microsoft.com/office/powerpoint/2010/main" val="12220662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29</a:t>
            </a:fld>
            <a:endParaRPr lang="en-US" altLang="zh-CN">
              <a:solidFill>
                <a:srgbClr val="FFFFFF"/>
              </a:solidFill>
            </a:endParaRPr>
          </a:p>
        </p:txBody>
      </p:sp>
      <p:pic>
        <p:nvPicPr>
          <p:cNvPr id="8195" name="图片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5836" y="1443264"/>
            <a:ext cx="2496852" cy="1851479"/>
          </a:xfrm>
          <a:prstGeom prst="rect">
            <a:avLst/>
          </a:prstGeom>
          <a:noFill/>
          <a:extLst>
            <a:ext uri="{909E8E84-426E-40DD-AFC4-6F175D3DCCD1}">
              <a14:hiddenFill xmlns:a14="http://schemas.microsoft.com/office/drawing/2010/main">
                <a:solidFill>
                  <a:srgbClr val="FFFFFF"/>
                </a:solidFill>
              </a14:hiddenFill>
            </a:ext>
          </a:extLst>
        </p:spPr>
      </p:pic>
      <p:pic>
        <p:nvPicPr>
          <p:cNvPr id="8194" name="图片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6515" y="1446624"/>
            <a:ext cx="2400430" cy="1848119"/>
          </a:xfrm>
          <a:prstGeom prst="rect">
            <a:avLst/>
          </a:prstGeom>
          <a:noFill/>
          <a:extLst>
            <a:ext uri="{909E8E84-426E-40DD-AFC4-6F175D3DCCD1}">
              <a14:hiddenFill xmlns:a14="http://schemas.microsoft.com/office/drawing/2010/main">
                <a:solidFill>
                  <a:srgbClr val="FFFFFF"/>
                </a:solidFill>
              </a14:hiddenFill>
            </a:ext>
          </a:extLst>
        </p:spPr>
      </p:pic>
      <p:pic>
        <p:nvPicPr>
          <p:cNvPr id="8193" name="图片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0772" y="1446624"/>
            <a:ext cx="2397291" cy="1851479"/>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406400" y="603095"/>
            <a:ext cx="11415185" cy="4708981"/>
          </a:xfrm>
          <a:prstGeom prst="rect">
            <a:avLst/>
          </a:prstGeom>
        </p:spPr>
        <p:txBody>
          <a:bodyPr wrap="square">
            <a:spAutoFit/>
          </a:bodyPr>
          <a:lstStyle/>
          <a:p>
            <a:pPr algn="just">
              <a:lnSpc>
                <a:spcPct val="150000"/>
              </a:lnSpc>
              <a:spcAft>
                <a:spcPts val="0"/>
              </a:spcAft>
            </a:pPr>
            <a:r>
              <a:rPr lang="zh-CN" altLang="en-US" kern="100" dirty="0" smtClean="0">
                <a:latin typeface="Arial" panose="020B0604020202020204" pitchFamily="34" charset="0"/>
                <a:ea typeface="+mj-ea"/>
              </a:rPr>
              <a:t>用于同轴电缆与</a:t>
            </a:r>
            <a:r>
              <a:rPr lang="zh-CN" altLang="zh-CN" kern="100" dirty="0" smtClean="0">
                <a:latin typeface="Arial" panose="020B0604020202020204" pitchFamily="34" charset="0"/>
                <a:ea typeface="+mj-ea"/>
              </a:rPr>
              <a:t>屏蔽电缆</a:t>
            </a:r>
            <a:r>
              <a:rPr lang="zh-CN" altLang="en-US" kern="100" dirty="0" smtClean="0">
                <a:latin typeface="Arial" panose="020B0604020202020204" pitchFamily="34" charset="0"/>
                <a:ea typeface="+mj-ea"/>
              </a:rPr>
              <a:t>的接插件</a:t>
            </a:r>
            <a:endParaRPr lang="en-US" altLang="zh-CN" kern="100" dirty="0">
              <a:latin typeface="Arial" panose="020B0604020202020204" pitchFamily="34" charset="0"/>
              <a:ea typeface="+mj-ea"/>
            </a:endParaRPr>
          </a:p>
          <a:p>
            <a:pPr marL="342900" indent="-342900" algn="just">
              <a:lnSpc>
                <a:spcPct val="150000"/>
              </a:lnSpc>
              <a:spcAft>
                <a:spcPts val="0"/>
              </a:spcAft>
              <a:buFont typeface="Arial" panose="020B0604020202020204" pitchFamily="34" charset="0"/>
              <a:buChar char="•"/>
            </a:pPr>
            <a:endParaRPr lang="en-US" altLang="zh-CN" kern="100" dirty="0" smtClean="0">
              <a:latin typeface="Arial" panose="020B0604020202020204" pitchFamily="34" charset="0"/>
              <a:ea typeface="+mn-ea"/>
            </a:endParaRPr>
          </a:p>
          <a:p>
            <a:pPr marL="342900" indent="-342900" algn="just">
              <a:lnSpc>
                <a:spcPct val="150000"/>
              </a:lnSpc>
              <a:spcAft>
                <a:spcPts val="0"/>
              </a:spcAft>
              <a:buFont typeface="Arial" panose="020B0604020202020204" pitchFamily="34" charset="0"/>
              <a:buChar char="•"/>
            </a:pPr>
            <a:endParaRPr lang="en-US" altLang="zh-CN" kern="100" dirty="0">
              <a:latin typeface="Arial" panose="020B0604020202020204" pitchFamily="34" charset="0"/>
              <a:ea typeface="+mn-ea"/>
            </a:endParaRPr>
          </a:p>
          <a:p>
            <a:pPr marL="342900" indent="-342900" algn="just">
              <a:lnSpc>
                <a:spcPct val="150000"/>
              </a:lnSpc>
              <a:spcAft>
                <a:spcPts val="0"/>
              </a:spcAft>
              <a:buFont typeface="Arial" panose="020B0604020202020204" pitchFamily="34" charset="0"/>
              <a:buChar char="•"/>
            </a:pPr>
            <a:endParaRPr lang="en-US" altLang="zh-CN" kern="100" dirty="0" smtClean="0">
              <a:latin typeface="Arial" panose="020B0604020202020204" pitchFamily="34" charset="0"/>
              <a:ea typeface="+mn-ea"/>
            </a:endParaRPr>
          </a:p>
          <a:p>
            <a:pPr marL="342900" indent="-342900" algn="just">
              <a:lnSpc>
                <a:spcPct val="150000"/>
              </a:lnSpc>
              <a:spcAft>
                <a:spcPts val="0"/>
              </a:spcAft>
              <a:buFont typeface="Arial" panose="020B0604020202020204" pitchFamily="34" charset="0"/>
              <a:buChar char="•"/>
            </a:pPr>
            <a:endParaRPr lang="en-US" altLang="zh-CN" kern="100" dirty="0">
              <a:latin typeface="Arial" panose="020B0604020202020204" pitchFamily="34" charset="0"/>
              <a:ea typeface="+mn-ea"/>
            </a:endParaRPr>
          </a:p>
          <a:p>
            <a:pPr marL="342900" indent="-342900" algn="just">
              <a:lnSpc>
                <a:spcPct val="150000"/>
              </a:lnSpc>
              <a:spcAft>
                <a:spcPts val="0"/>
              </a:spcAft>
              <a:buFont typeface="Arial" panose="020B0604020202020204" pitchFamily="34" charset="0"/>
              <a:buChar char="•"/>
            </a:pPr>
            <a:endParaRPr lang="en-US" altLang="zh-CN" kern="100" dirty="0" smtClean="0">
              <a:latin typeface="Arial" panose="020B0604020202020204" pitchFamily="34" charset="0"/>
              <a:ea typeface="+mn-ea"/>
            </a:endParaRPr>
          </a:p>
          <a:p>
            <a:pPr algn="just">
              <a:lnSpc>
                <a:spcPct val="150000"/>
              </a:lnSpc>
              <a:spcAft>
                <a:spcPts val="0"/>
              </a:spcAft>
            </a:pPr>
            <a:r>
              <a:rPr lang="en-US" altLang="zh-CN" kern="100" dirty="0" smtClean="0">
                <a:latin typeface="Arial" panose="020B0604020202020204" pitchFamily="34" charset="0"/>
                <a:ea typeface="+mn-ea"/>
              </a:rPr>
              <a:t>                        BNC                                        SMA                                   </a:t>
            </a:r>
            <a:r>
              <a:rPr lang="zh-CN" altLang="en-US" kern="100" dirty="0" smtClean="0">
                <a:latin typeface="Arial" panose="020B0604020202020204" pitchFamily="34" charset="0"/>
                <a:ea typeface="+mn-ea"/>
              </a:rPr>
              <a:t>莲花座</a:t>
            </a:r>
            <a:endParaRPr lang="en-US" altLang="zh-CN" kern="100" dirty="0">
              <a:latin typeface="Arial" panose="020B0604020202020204" pitchFamily="34" charset="0"/>
              <a:ea typeface="+mn-ea"/>
            </a:endParaRPr>
          </a:p>
          <a:p>
            <a:pPr marL="342900" indent="-342900" algn="just">
              <a:lnSpc>
                <a:spcPct val="150000"/>
              </a:lnSpc>
              <a:spcAft>
                <a:spcPts val="0"/>
              </a:spcAft>
              <a:buFont typeface="Arial" panose="020B0604020202020204" pitchFamily="34" charset="0"/>
              <a:buChar char="•"/>
            </a:pPr>
            <a:r>
              <a:rPr lang="en-US" altLang="zh-CN" kern="100" dirty="0" smtClean="0">
                <a:latin typeface="Arial" panose="020B0604020202020204" pitchFamily="34" charset="0"/>
                <a:ea typeface="+mn-ea"/>
              </a:rPr>
              <a:t>BNC</a:t>
            </a:r>
            <a:r>
              <a:rPr lang="zh-CN" altLang="en-US" kern="100" dirty="0" smtClean="0">
                <a:latin typeface="Arial" panose="020B0604020202020204" pitchFamily="34" charset="0"/>
                <a:ea typeface="+mn-ea"/>
              </a:rPr>
              <a:t>与</a:t>
            </a:r>
            <a:r>
              <a:rPr lang="en-US" altLang="zh-CN" kern="100" dirty="0" smtClean="0">
                <a:latin typeface="Arial" panose="020B0604020202020204" pitchFamily="34" charset="0"/>
                <a:ea typeface="+mn-ea"/>
              </a:rPr>
              <a:t>SMA</a:t>
            </a:r>
            <a:r>
              <a:rPr lang="zh-CN" altLang="en-US" kern="100" dirty="0" smtClean="0">
                <a:latin typeface="Arial" panose="020B0604020202020204" pitchFamily="34" charset="0"/>
                <a:ea typeface="+mn-ea"/>
              </a:rPr>
              <a:t>常常用于同轴电缆连接，有固定的特性阻抗与较高的频响，可用于射频电路</a:t>
            </a:r>
            <a:endParaRPr lang="en-US" altLang="zh-CN" kern="100" dirty="0">
              <a:latin typeface="Arial" panose="020B0604020202020204" pitchFamily="34" charset="0"/>
              <a:ea typeface="+mn-ea"/>
            </a:endParaRPr>
          </a:p>
          <a:p>
            <a:pPr marL="342900" indent="-342900" algn="just">
              <a:lnSpc>
                <a:spcPct val="150000"/>
              </a:lnSpc>
              <a:spcAft>
                <a:spcPts val="0"/>
              </a:spcAft>
              <a:buFont typeface="Arial" panose="020B0604020202020204" pitchFamily="34" charset="0"/>
              <a:buChar char="•"/>
            </a:pPr>
            <a:r>
              <a:rPr lang="zh-CN" altLang="en-US" kern="100" dirty="0" smtClean="0">
                <a:latin typeface="Arial" panose="020B0604020202020204" pitchFamily="34" charset="0"/>
                <a:ea typeface="+mn-ea"/>
              </a:rPr>
              <a:t>莲花座常常用于音频信号</a:t>
            </a:r>
            <a:endParaRPr lang="en-US" altLang="zh-CN" kern="100" dirty="0" smtClean="0">
              <a:latin typeface="Arial" panose="020B0604020202020204" pitchFamily="34" charset="0"/>
              <a:ea typeface="+mn-ea"/>
            </a:endParaRPr>
          </a:p>
          <a:p>
            <a:pPr marL="342900" indent="-342900" algn="just">
              <a:lnSpc>
                <a:spcPct val="150000"/>
              </a:lnSpc>
              <a:spcAft>
                <a:spcPts val="0"/>
              </a:spcAft>
              <a:buFont typeface="Arial" panose="020B0604020202020204" pitchFamily="34" charset="0"/>
              <a:buChar char="•"/>
            </a:pPr>
            <a:endParaRPr lang="zh-CN" altLang="en-US" dirty="0">
              <a:latin typeface="Arial" panose="020B0604020202020204" pitchFamily="34" charset="0"/>
              <a:ea typeface="+mn-ea"/>
            </a:endParaRPr>
          </a:p>
        </p:txBody>
      </p:sp>
    </p:spTree>
    <p:extLst>
      <p:ext uri="{BB962C8B-B14F-4D97-AF65-F5344CB8AC3E}">
        <p14:creationId xmlns:p14="http://schemas.microsoft.com/office/powerpoint/2010/main" val="34060686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30</a:t>
            </a:fld>
            <a:endParaRPr lang="en-US" altLang="zh-CN">
              <a:solidFill>
                <a:srgbClr val="FFFFFF"/>
              </a:solidFill>
            </a:endParaRPr>
          </a:p>
        </p:txBody>
      </p:sp>
      <p:sp>
        <p:nvSpPr>
          <p:cNvPr id="5" name="矩形 4"/>
          <p:cNvSpPr/>
          <p:nvPr/>
        </p:nvSpPr>
        <p:spPr>
          <a:xfrm>
            <a:off x="428172" y="439295"/>
            <a:ext cx="11393413" cy="2862322"/>
          </a:xfrm>
          <a:prstGeom prst="rect">
            <a:avLst/>
          </a:prstGeom>
        </p:spPr>
        <p:txBody>
          <a:bodyPr wrap="square">
            <a:spAutoFit/>
          </a:bodyPr>
          <a:lstStyle/>
          <a:p>
            <a:pPr algn="just">
              <a:lnSpc>
                <a:spcPct val="150000"/>
              </a:lnSpc>
              <a:spcAft>
                <a:spcPts val="0"/>
              </a:spcAft>
            </a:pPr>
            <a:r>
              <a:rPr lang="zh-CN" altLang="en-US" kern="100" dirty="0">
                <a:latin typeface="+mj-ea"/>
                <a:ea typeface="+mj-ea"/>
              </a:rPr>
              <a:t>双绞线</a:t>
            </a:r>
            <a:endParaRPr lang="en-US" altLang="zh-CN" kern="100" dirty="0">
              <a:latin typeface="+mj-ea"/>
              <a:ea typeface="+mj-ea"/>
            </a:endParaRPr>
          </a:p>
          <a:p>
            <a:pPr marL="342900" indent="-342900" algn="just">
              <a:lnSpc>
                <a:spcPct val="150000"/>
              </a:lnSpc>
              <a:spcAft>
                <a:spcPts val="0"/>
              </a:spcAft>
              <a:buFont typeface="Arial" panose="020B0604020202020204" pitchFamily="34" charset="0"/>
              <a:buChar char="•"/>
            </a:pPr>
            <a:r>
              <a:rPr lang="zh-CN" altLang="zh-CN" kern="100" dirty="0">
                <a:latin typeface="+mn-ea"/>
                <a:ea typeface="+mn-ea"/>
              </a:rPr>
              <a:t>双绞线传输差分信号</a:t>
            </a:r>
          </a:p>
          <a:p>
            <a:pPr marL="342900" indent="-342900" algn="just">
              <a:lnSpc>
                <a:spcPct val="150000"/>
              </a:lnSpc>
              <a:spcAft>
                <a:spcPts val="0"/>
              </a:spcAft>
              <a:buFont typeface="Arial" panose="020B0604020202020204" pitchFamily="34" charset="0"/>
              <a:buChar char="•"/>
            </a:pPr>
            <a:r>
              <a:rPr lang="zh-CN" altLang="zh-CN" kern="100" dirty="0">
                <a:latin typeface="+mn-ea"/>
                <a:ea typeface="+mn-ea"/>
              </a:rPr>
              <a:t>由于双绞线中两根导线的空间位置相互交替，电场干扰信号在双绞线的两根导线上的感应电压总是正负交替，磁场干扰信号在双绞线中的感应电流同样也是正负交替，在总体效应上相互抵消，所以双绞线的抗干扰能力比其他连接方式更为有效</a:t>
            </a:r>
          </a:p>
          <a:p>
            <a:pPr marL="342900" indent="-342900">
              <a:lnSpc>
                <a:spcPct val="150000"/>
              </a:lnSpc>
              <a:buFont typeface="Arial" panose="020B0604020202020204" pitchFamily="34" charset="0"/>
              <a:buChar char="•"/>
            </a:pPr>
            <a:r>
              <a:rPr lang="zh-CN" altLang="zh-CN" dirty="0">
                <a:latin typeface="+mn-ea"/>
                <a:ea typeface="+mn-ea"/>
                <a:cs typeface="Times New Roman" panose="02020603050405020304" pitchFamily="18" charset="0"/>
              </a:rPr>
              <a:t>在距离较长的情况下，用双绞线传输差分信号是极为有效的防止干扰的手段</a:t>
            </a:r>
            <a:endParaRPr lang="zh-CN" altLang="en-US" dirty="0">
              <a:latin typeface="+mn-ea"/>
              <a:ea typeface="+mn-ea"/>
            </a:endParaRPr>
          </a:p>
        </p:txBody>
      </p:sp>
      <p:pic>
        <p:nvPicPr>
          <p:cNvPr id="6" name="图片 5"/>
          <p:cNvPicPr>
            <a:picLocks noChangeAspect="1"/>
          </p:cNvPicPr>
          <p:nvPr/>
        </p:nvPicPr>
        <p:blipFill>
          <a:blip r:embed="rId2"/>
          <a:stretch>
            <a:fillRect/>
          </a:stretch>
        </p:blipFill>
        <p:spPr>
          <a:xfrm>
            <a:off x="6527801" y="3574142"/>
            <a:ext cx="2851747" cy="2677957"/>
          </a:xfrm>
          <a:prstGeom prst="rect">
            <a:avLst/>
          </a:prstGeom>
        </p:spPr>
      </p:pic>
      <p:pic>
        <p:nvPicPr>
          <p:cNvPr id="7" name="图片 6"/>
          <p:cNvPicPr>
            <a:picLocks noChangeAspect="1"/>
          </p:cNvPicPr>
          <p:nvPr/>
        </p:nvPicPr>
        <p:blipFill>
          <a:blip r:embed="rId3"/>
          <a:stretch>
            <a:fillRect/>
          </a:stretch>
        </p:blipFill>
        <p:spPr>
          <a:xfrm>
            <a:off x="3033788" y="3574141"/>
            <a:ext cx="2683643" cy="2677958"/>
          </a:xfrm>
          <a:prstGeom prst="rect">
            <a:avLst/>
          </a:prstGeom>
        </p:spPr>
      </p:pic>
    </p:spTree>
    <p:extLst>
      <p:ext uri="{BB962C8B-B14F-4D97-AF65-F5344CB8AC3E}">
        <p14:creationId xmlns:p14="http://schemas.microsoft.com/office/powerpoint/2010/main" val="22620631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31</a:t>
            </a:fld>
            <a:endParaRPr lang="en-US" altLang="zh-CN">
              <a:solidFill>
                <a:srgbClr val="FFFFFF"/>
              </a:solidFill>
            </a:endParaRPr>
          </a:p>
        </p:txBody>
      </p:sp>
      <p:sp>
        <p:nvSpPr>
          <p:cNvPr id="10" name="矩形 9"/>
          <p:cNvSpPr/>
          <p:nvPr/>
        </p:nvSpPr>
        <p:spPr>
          <a:xfrm>
            <a:off x="406400" y="603095"/>
            <a:ext cx="11415185" cy="5170646"/>
          </a:xfrm>
          <a:prstGeom prst="rect">
            <a:avLst/>
          </a:prstGeom>
        </p:spPr>
        <p:txBody>
          <a:bodyPr wrap="square">
            <a:spAutoFit/>
          </a:bodyPr>
          <a:lstStyle/>
          <a:p>
            <a:pPr algn="just">
              <a:lnSpc>
                <a:spcPct val="150000"/>
              </a:lnSpc>
              <a:spcAft>
                <a:spcPts val="0"/>
              </a:spcAft>
            </a:pPr>
            <a:r>
              <a:rPr lang="zh-CN" altLang="en-US" kern="100" dirty="0" smtClean="0">
                <a:latin typeface="Arial" panose="020B0604020202020204" pitchFamily="34" charset="0"/>
                <a:ea typeface="+mj-ea"/>
              </a:rPr>
              <a:t>用于双绞线以及其他导线的接插件</a:t>
            </a:r>
            <a:endParaRPr lang="en-US" altLang="zh-CN" kern="100" dirty="0">
              <a:latin typeface="Arial" panose="020B0604020202020204" pitchFamily="34" charset="0"/>
              <a:ea typeface="+mj-ea"/>
            </a:endParaRPr>
          </a:p>
          <a:p>
            <a:pPr marL="342900" indent="-342900" algn="just">
              <a:lnSpc>
                <a:spcPct val="150000"/>
              </a:lnSpc>
              <a:spcAft>
                <a:spcPts val="0"/>
              </a:spcAft>
              <a:buFont typeface="Arial" panose="020B0604020202020204" pitchFamily="34" charset="0"/>
              <a:buChar char="•"/>
            </a:pPr>
            <a:endParaRPr lang="en-US" altLang="zh-CN" kern="100" dirty="0" smtClean="0">
              <a:latin typeface="Arial" panose="020B0604020202020204" pitchFamily="34" charset="0"/>
              <a:ea typeface="+mn-ea"/>
            </a:endParaRPr>
          </a:p>
          <a:p>
            <a:pPr marL="342900" indent="-342900" algn="just">
              <a:lnSpc>
                <a:spcPct val="150000"/>
              </a:lnSpc>
              <a:spcAft>
                <a:spcPts val="0"/>
              </a:spcAft>
              <a:buFont typeface="Arial" panose="020B0604020202020204" pitchFamily="34" charset="0"/>
              <a:buChar char="•"/>
            </a:pPr>
            <a:endParaRPr lang="en-US" altLang="zh-CN" kern="100" dirty="0">
              <a:latin typeface="Arial" panose="020B0604020202020204" pitchFamily="34" charset="0"/>
              <a:ea typeface="+mn-ea"/>
            </a:endParaRPr>
          </a:p>
          <a:p>
            <a:pPr marL="342900" indent="-342900" algn="just">
              <a:lnSpc>
                <a:spcPct val="150000"/>
              </a:lnSpc>
              <a:spcAft>
                <a:spcPts val="0"/>
              </a:spcAft>
              <a:buFont typeface="Arial" panose="020B0604020202020204" pitchFamily="34" charset="0"/>
              <a:buChar char="•"/>
            </a:pPr>
            <a:endParaRPr lang="en-US" altLang="zh-CN" kern="100" dirty="0" smtClean="0">
              <a:latin typeface="Arial" panose="020B0604020202020204" pitchFamily="34" charset="0"/>
              <a:ea typeface="+mn-ea"/>
            </a:endParaRPr>
          </a:p>
          <a:p>
            <a:pPr marL="342900" indent="-342900" algn="just">
              <a:lnSpc>
                <a:spcPct val="150000"/>
              </a:lnSpc>
              <a:spcAft>
                <a:spcPts val="0"/>
              </a:spcAft>
              <a:buFont typeface="Arial" panose="020B0604020202020204" pitchFamily="34" charset="0"/>
              <a:buChar char="•"/>
            </a:pPr>
            <a:endParaRPr lang="en-US" altLang="zh-CN" kern="100" dirty="0">
              <a:latin typeface="Arial" panose="020B0604020202020204" pitchFamily="34" charset="0"/>
              <a:ea typeface="+mn-ea"/>
            </a:endParaRPr>
          </a:p>
          <a:p>
            <a:pPr marL="342900" indent="-342900" algn="just">
              <a:lnSpc>
                <a:spcPct val="150000"/>
              </a:lnSpc>
              <a:spcAft>
                <a:spcPts val="0"/>
              </a:spcAft>
              <a:buFont typeface="Arial" panose="020B0604020202020204" pitchFamily="34" charset="0"/>
              <a:buChar char="•"/>
            </a:pPr>
            <a:endParaRPr lang="en-US" altLang="zh-CN" kern="100" dirty="0" smtClean="0">
              <a:latin typeface="Arial" panose="020B0604020202020204" pitchFamily="34" charset="0"/>
              <a:ea typeface="+mn-ea"/>
            </a:endParaRPr>
          </a:p>
          <a:p>
            <a:pPr marL="342900" indent="-342900" algn="just">
              <a:lnSpc>
                <a:spcPct val="150000"/>
              </a:lnSpc>
              <a:spcAft>
                <a:spcPts val="0"/>
              </a:spcAft>
              <a:buFont typeface="Arial" panose="020B0604020202020204" pitchFamily="34" charset="0"/>
              <a:buChar char="•"/>
            </a:pPr>
            <a:r>
              <a:rPr lang="zh-CN" altLang="en-US" kern="100" dirty="0" smtClean="0">
                <a:latin typeface="Arial" panose="020B0604020202020204" pitchFamily="34" charset="0"/>
                <a:ea typeface="+mn-ea"/>
              </a:rPr>
              <a:t>常用的导线接插件是图中的</a:t>
            </a:r>
            <a:r>
              <a:rPr lang="en-US" altLang="zh-CN" kern="100" dirty="0" smtClean="0">
                <a:latin typeface="Arial" panose="020B0604020202020204" pitchFamily="34" charset="0"/>
                <a:ea typeface="+mn-ea"/>
              </a:rPr>
              <a:t>CH2.54</a:t>
            </a:r>
            <a:r>
              <a:rPr lang="zh-CN" altLang="en-US" kern="100" dirty="0" smtClean="0">
                <a:latin typeface="Arial" panose="020B0604020202020204" pitchFamily="34" charset="0"/>
                <a:ea typeface="+mn-ea"/>
              </a:rPr>
              <a:t>（针间距</a:t>
            </a:r>
            <a:r>
              <a:rPr lang="en-US" altLang="zh-CN" kern="100" dirty="0" smtClean="0">
                <a:latin typeface="Arial" panose="020B0604020202020204" pitchFamily="34" charset="0"/>
                <a:ea typeface="+mn-ea"/>
              </a:rPr>
              <a:t>2.54mm</a:t>
            </a:r>
            <a:r>
              <a:rPr lang="zh-CN" altLang="en-US" kern="100" dirty="0" smtClean="0">
                <a:latin typeface="Arial" panose="020B0604020202020204" pitchFamily="34" charset="0"/>
                <a:ea typeface="+mn-ea"/>
              </a:rPr>
              <a:t>）与</a:t>
            </a:r>
            <a:r>
              <a:rPr lang="en-US" altLang="zh-CN" kern="100" dirty="0" smtClean="0">
                <a:latin typeface="Arial" panose="020B0604020202020204" pitchFamily="34" charset="0"/>
                <a:ea typeface="+mn-ea"/>
              </a:rPr>
              <a:t>CH3.96</a:t>
            </a:r>
            <a:r>
              <a:rPr lang="zh-CN" altLang="en-US" kern="100" dirty="0" smtClean="0">
                <a:latin typeface="Arial" panose="020B0604020202020204" pitchFamily="34" charset="0"/>
                <a:ea typeface="+mn-ea"/>
              </a:rPr>
              <a:t>（针间距</a:t>
            </a:r>
            <a:r>
              <a:rPr lang="en-US" altLang="zh-CN" kern="100" dirty="0" smtClean="0">
                <a:latin typeface="Arial" panose="020B0604020202020204" pitchFamily="34" charset="0"/>
                <a:ea typeface="+mn-ea"/>
              </a:rPr>
              <a:t>3.96mm</a:t>
            </a:r>
            <a:r>
              <a:rPr lang="zh-CN" altLang="en-US" kern="100" dirty="0" smtClean="0">
                <a:latin typeface="Arial" panose="020B0604020202020204" pitchFamily="34" charset="0"/>
                <a:ea typeface="+mn-ea"/>
              </a:rPr>
              <a:t>），针脚数从</a:t>
            </a:r>
            <a:r>
              <a:rPr lang="en-US" altLang="zh-CN" kern="100" dirty="0" smtClean="0">
                <a:latin typeface="Arial" panose="020B0604020202020204" pitchFamily="34" charset="0"/>
                <a:ea typeface="+mn-ea"/>
              </a:rPr>
              <a:t>2</a:t>
            </a:r>
            <a:r>
              <a:rPr lang="zh-CN" altLang="en-US" kern="100" dirty="0" smtClean="0">
                <a:latin typeface="Arial" panose="020B0604020202020204" pitchFamily="34" charset="0"/>
                <a:ea typeface="+mn-ea"/>
              </a:rPr>
              <a:t>到</a:t>
            </a:r>
            <a:r>
              <a:rPr lang="en-US" altLang="zh-CN" kern="100" dirty="0" smtClean="0">
                <a:latin typeface="Arial" panose="020B0604020202020204" pitchFamily="34" charset="0"/>
                <a:ea typeface="+mn-ea"/>
              </a:rPr>
              <a:t>16</a:t>
            </a:r>
            <a:endParaRPr lang="en-US" altLang="zh-CN" kern="100" dirty="0">
              <a:latin typeface="Arial" panose="020B0604020202020204" pitchFamily="34" charset="0"/>
              <a:ea typeface="+mn-ea"/>
            </a:endParaRPr>
          </a:p>
          <a:p>
            <a:pPr marL="342900" indent="-342900" algn="just">
              <a:lnSpc>
                <a:spcPct val="150000"/>
              </a:lnSpc>
              <a:spcAft>
                <a:spcPts val="0"/>
              </a:spcAft>
              <a:buFont typeface="Arial" panose="020B0604020202020204" pitchFamily="34" charset="0"/>
              <a:buChar char="•"/>
            </a:pPr>
            <a:r>
              <a:rPr lang="zh-CN" altLang="en-US" kern="100" dirty="0" smtClean="0">
                <a:latin typeface="Arial" panose="020B0604020202020204" pitchFamily="34" charset="0"/>
                <a:ea typeface="+mn-ea"/>
              </a:rPr>
              <a:t>类似的接插件还有</a:t>
            </a:r>
            <a:r>
              <a:rPr lang="en-US" altLang="zh-CN" kern="100" dirty="0" smtClean="0">
                <a:latin typeface="Arial" panose="020B0604020202020204" pitchFamily="34" charset="0"/>
                <a:ea typeface="+mn-ea"/>
              </a:rPr>
              <a:t>PH</a:t>
            </a:r>
            <a:r>
              <a:rPr lang="zh-CN" altLang="en-US" kern="100" dirty="0" smtClean="0">
                <a:latin typeface="Arial" panose="020B0604020202020204" pitchFamily="34" charset="0"/>
                <a:ea typeface="+mn-ea"/>
              </a:rPr>
              <a:t>型、</a:t>
            </a:r>
            <a:r>
              <a:rPr lang="en-US" altLang="zh-CN" kern="100" dirty="0" smtClean="0">
                <a:latin typeface="Arial" panose="020B0604020202020204" pitchFamily="34" charset="0"/>
                <a:ea typeface="+mn-ea"/>
              </a:rPr>
              <a:t>VH</a:t>
            </a:r>
            <a:r>
              <a:rPr lang="zh-CN" altLang="en-US" kern="100" dirty="0" smtClean="0">
                <a:latin typeface="Arial" panose="020B0604020202020204" pitchFamily="34" charset="0"/>
                <a:ea typeface="+mn-ea"/>
              </a:rPr>
              <a:t>型等</a:t>
            </a:r>
            <a:endParaRPr lang="en-US" altLang="zh-CN" kern="100" dirty="0" smtClean="0">
              <a:latin typeface="Arial" panose="020B0604020202020204" pitchFamily="34" charset="0"/>
              <a:ea typeface="+mn-ea"/>
            </a:endParaRPr>
          </a:p>
          <a:p>
            <a:pPr marL="342900" indent="-342900" algn="just">
              <a:lnSpc>
                <a:spcPct val="150000"/>
              </a:lnSpc>
              <a:spcAft>
                <a:spcPts val="0"/>
              </a:spcAft>
              <a:buFont typeface="Arial" panose="020B0604020202020204" pitchFamily="34" charset="0"/>
              <a:buChar char="•"/>
            </a:pPr>
            <a:r>
              <a:rPr lang="zh-CN" altLang="en-US" kern="100" dirty="0" smtClean="0">
                <a:latin typeface="Arial" panose="020B0604020202020204" pitchFamily="34" charset="0"/>
                <a:ea typeface="+mn-ea"/>
              </a:rPr>
              <a:t>与导线的连接采用压接方式，在实验室条件下也可用焊接方式</a:t>
            </a:r>
            <a:endParaRPr lang="en-US" altLang="zh-CN" kern="100" dirty="0" smtClean="0">
              <a:latin typeface="Arial" panose="020B0604020202020204" pitchFamily="34" charset="0"/>
              <a:ea typeface="+mn-ea"/>
            </a:endParaRPr>
          </a:p>
          <a:p>
            <a:pPr marL="342900" indent="-342900" algn="just">
              <a:lnSpc>
                <a:spcPct val="150000"/>
              </a:lnSpc>
              <a:spcAft>
                <a:spcPts val="0"/>
              </a:spcAft>
              <a:buFont typeface="Arial" panose="020B0604020202020204" pitchFamily="34" charset="0"/>
              <a:buChar char="•"/>
            </a:pPr>
            <a:r>
              <a:rPr lang="zh-CN" altLang="en-US" dirty="0" smtClean="0">
                <a:latin typeface="Arial" panose="020B0604020202020204" pitchFamily="34" charset="0"/>
                <a:ea typeface="+mn-ea"/>
              </a:rPr>
              <a:t>不建议使用实验室的杜邦线等单根导线的接插件，原因是其接触不很可靠</a:t>
            </a:r>
            <a:endParaRPr lang="zh-CN" altLang="en-US" dirty="0">
              <a:latin typeface="Arial" panose="020B0604020202020204" pitchFamily="34" charset="0"/>
              <a:ea typeface="+mn-ea"/>
            </a:endParaRPr>
          </a:p>
        </p:txBody>
      </p:sp>
      <p:pic>
        <p:nvPicPr>
          <p:cNvPr id="9218" name="图片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62170" y="1312634"/>
            <a:ext cx="2578983" cy="2003879"/>
          </a:xfrm>
          <a:prstGeom prst="rect">
            <a:avLst/>
          </a:prstGeom>
          <a:noFill/>
          <a:extLst>
            <a:ext uri="{909E8E84-426E-40DD-AFC4-6F175D3DCCD1}">
              <a14:hiddenFill xmlns:a14="http://schemas.microsoft.com/office/drawing/2010/main">
                <a:solidFill>
                  <a:srgbClr val="FFFFFF"/>
                </a:solidFill>
              </a14:hiddenFill>
            </a:ext>
          </a:extLst>
        </p:spPr>
      </p:pic>
      <p:pic>
        <p:nvPicPr>
          <p:cNvPr id="9217" name="图片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94670" y="1312635"/>
            <a:ext cx="2246501" cy="20038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09356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32</a:t>
            </a:fld>
            <a:endParaRPr lang="en-US" altLang="zh-CN">
              <a:solidFill>
                <a:srgbClr val="FFFFFF"/>
              </a:solidFill>
            </a:endParaRPr>
          </a:p>
        </p:txBody>
      </p:sp>
      <p:sp>
        <p:nvSpPr>
          <p:cNvPr id="5" name="矩形 4"/>
          <p:cNvSpPr/>
          <p:nvPr/>
        </p:nvSpPr>
        <p:spPr>
          <a:xfrm>
            <a:off x="377372" y="505124"/>
            <a:ext cx="11306628" cy="3862596"/>
          </a:xfrm>
          <a:prstGeom prst="rect">
            <a:avLst/>
          </a:prstGeom>
        </p:spPr>
        <p:txBody>
          <a:bodyPr wrap="square">
            <a:spAutoFit/>
          </a:bodyPr>
          <a:lstStyle/>
          <a:p>
            <a:pPr>
              <a:lnSpc>
                <a:spcPct val="150000"/>
              </a:lnSpc>
              <a:spcBef>
                <a:spcPts val="600"/>
              </a:spcBef>
              <a:spcAft>
                <a:spcPts val="600"/>
              </a:spcAft>
            </a:pPr>
            <a:r>
              <a:rPr lang="zh-CN" altLang="zh-CN" kern="0" dirty="0">
                <a:solidFill>
                  <a:srgbClr val="444444"/>
                </a:solidFill>
                <a:latin typeface="Times New Roman" panose="02020603050405020304" pitchFamily="18" charset="0"/>
                <a:ea typeface="黑体" panose="02010609060101010101" pitchFamily="49" charset="-122"/>
                <a:cs typeface="Tahoma" panose="020B0604030504040204" pitchFamily="34" charset="0"/>
              </a:rPr>
              <a:t> 排线</a:t>
            </a:r>
            <a:endParaRPr lang="zh-CN" altLang="zh-CN" kern="100" dirty="0">
              <a:latin typeface="Times New Roman" panose="02020603050405020304" pitchFamily="18" charset="0"/>
              <a:ea typeface="宋体" panose="02010600030101010101" pitchFamily="2" charset="-122"/>
            </a:endParaRPr>
          </a:p>
          <a:p>
            <a:pPr marL="0" lvl="1" indent="-342900" algn="just">
              <a:lnSpc>
                <a:spcPct val="150000"/>
              </a:lnSpc>
              <a:spcAft>
                <a:spcPts val="0"/>
              </a:spcAft>
              <a:buFont typeface="Arial" panose="020B0604020202020204" pitchFamily="34" charset="0"/>
              <a:buChar char="•"/>
            </a:pPr>
            <a:r>
              <a:rPr lang="zh-CN" altLang="zh-CN" kern="100" dirty="0" smtClean="0">
                <a:latin typeface="+mn-ea"/>
                <a:ea typeface="+mn-ea"/>
              </a:rPr>
              <a:t>模拟信号</a:t>
            </a:r>
            <a:r>
              <a:rPr lang="zh-CN" altLang="en-US" kern="100" dirty="0">
                <a:latin typeface="+mn-ea"/>
                <a:ea typeface="+mn-ea"/>
              </a:rPr>
              <a:t>很</a:t>
            </a:r>
            <a:r>
              <a:rPr lang="zh-CN" altLang="zh-CN" kern="100" dirty="0">
                <a:latin typeface="+mn-ea"/>
                <a:ea typeface="+mn-ea"/>
              </a:rPr>
              <a:t>少使用排线，</a:t>
            </a:r>
            <a:r>
              <a:rPr lang="zh-CN" altLang="en-US" kern="100" dirty="0">
                <a:latin typeface="+mn-ea"/>
                <a:ea typeface="+mn-ea"/>
              </a:rPr>
              <a:t>数字</a:t>
            </a:r>
            <a:r>
              <a:rPr lang="zh-CN" altLang="zh-CN" kern="100" dirty="0">
                <a:latin typeface="+mn-ea"/>
                <a:ea typeface="+mn-ea"/>
              </a:rPr>
              <a:t>信号常常使用排线</a:t>
            </a:r>
            <a:r>
              <a:rPr lang="zh-CN" altLang="zh-CN" kern="100" dirty="0" smtClean="0">
                <a:latin typeface="+mn-ea"/>
                <a:ea typeface="+mn-ea"/>
              </a:rPr>
              <a:t>传输</a:t>
            </a:r>
            <a:r>
              <a:rPr lang="zh-CN" altLang="en-US" kern="100" dirty="0" smtClean="0">
                <a:latin typeface="+mn-ea"/>
                <a:ea typeface="+mn-ea"/>
              </a:rPr>
              <a:t>，其特点是</a:t>
            </a:r>
            <a:r>
              <a:rPr lang="zh-CN" altLang="zh-CN" kern="100" dirty="0">
                <a:latin typeface="+mn-ea"/>
                <a:ea typeface="+mn-ea"/>
              </a:rPr>
              <a:t>同时传输多个</a:t>
            </a:r>
            <a:r>
              <a:rPr lang="zh-CN" altLang="zh-CN" kern="100" dirty="0" smtClean="0">
                <a:latin typeface="+mn-ea"/>
                <a:ea typeface="+mn-ea"/>
              </a:rPr>
              <a:t>信号</a:t>
            </a:r>
            <a:endParaRPr lang="en-US" altLang="zh-CN" kern="100" dirty="0" smtClean="0">
              <a:latin typeface="+mn-ea"/>
              <a:ea typeface="+mn-ea"/>
            </a:endParaRPr>
          </a:p>
          <a:p>
            <a:pPr marL="0" lvl="1" indent="-342900" algn="just">
              <a:lnSpc>
                <a:spcPct val="150000"/>
              </a:lnSpc>
              <a:spcAft>
                <a:spcPts val="0"/>
              </a:spcAft>
              <a:buFont typeface="Arial" panose="020B0604020202020204" pitchFamily="34" charset="0"/>
              <a:buChar char="•"/>
            </a:pPr>
            <a:r>
              <a:rPr lang="zh-CN" altLang="zh-CN" dirty="0">
                <a:latin typeface="+mn-ea"/>
                <a:ea typeface="+mn-ea"/>
                <a:cs typeface="Times New Roman" panose="02020603050405020304" pitchFamily="18" charset="0"/>
              </a:rPr>
              <a:t>排线中地线的</a:t>
            </a:r>
            <a:r>
              <a:rPr lang="zh-CN" altLang="zh-CN" dirty="0" smtClean="0">
                <a:latin typeface="+mn-ea"/>
                <a:ea typeface="+mn-ea"/>
                <a:cs typeface="Times New Roman" panose="02020603050405020304" pitchFamily="18" charset="0"/>
              </a:rPr>
              <a:t>安排</a:t>
            </a:r>
            <a:endParaRPr lang="zh-CN" altLang="zh-CN" kern="100" dirty="0">
              <a:latin typeface="+mn-ea"/>
              <a:ea typeface="+mn-ea"/>
            </a:endParaRPr>
          </a:p>
          <a:p>
            <a:pPr marL="800100" lvl="1" indent="-342900">
              <a:lnSpc>
                <a:spcPct val="150000"/>
              </a:lnSpc>
              <a:buFont typeface="Arial" panose="020B0604020202020204" pitchFamily="34" charset="0"/>
              <a:buChar char="•"/>
            </a:pPr>
            <a:r>
              <a:rPr lang="zh-CN" altLang="zh-CN" dirty="0" smtClean="0">
                <a:latin typeface="+mn-ea"/>
                <a:ea typeface="+mn-ea"/>
                <a:cs typeface="Times New Roman" panose="02020603050405020304" pitchFamily="18" charset="0"/>
              </a:rPr>
              <a:t>第一</a:t>
            </a:r>
            <a:r>
              <a:rPr lang="zh-CN" altLang="zh-CN" dirty="0">
                <a:latin typeface="+mn-ea"/>
                <a:ea typeface="+mn-ea"/>
                <a:cs typeface="Times New Roman" panose="02020603050405020304" pitchFamily="18" charset="0"/>
              </a:rPr>
              <a:t>个原则与使用屏蔽电缆的屏蔽层相同，就是要避免排线中的地线与电源地线构成一个环</a:t>
            </a:r>
            <a:endParaRPr lang="en-US" altLang="zh-CN" dirty="0">
              <a:latin typeface="+mn-ea"/>
              <a:ea typeface="+mn-ea"/>
              <a:cs typeface="Times New Roman" panose="02020603050405020304" pitchFamily="18" charset="0"/>
            </a:endParaRPr>
          </a:p>
          <a:p>
            <a:pPr marL="800100" lvl="1" indent="-342900">
              <a:lnSpc>
                <a:spcPct val="150000"/>
              </a:lnSpc>
              <a:buFont typeface="Arial" panose="020B0604020202020204" pitchFamily="34" charset="0"/>
              <a:buChar char="•"/>
            </a:pPr>
            <a:r>
              <a:rPr lang="zh-CN" altLang="zh-CN" dirty="0">
                <a:latin typeface="+mn-ea"/>
                <a:ea typeface="+mn-ea"/>
                <a:cs typeface="Times New Roman" panose="02020603050405020304" pitchFamily="18" charset="0"/>
              </a:rPr>
              <a:t>第二个原则是</a:t>
            </a:r>
            <a:r>
              <a:rPr lang="zh-CN" altLang="zh-CN" dirty="0" smtClean="0">
                <a:latin typeface="+mn-ea"/>
                <a:ea typeface="+mn-ea"/>
                <a:cs typeface="Times New Roman" panose="02020603050405020304" pitchFamily="18" charset="0"/>
              </a:rPr>
              <a:t>针对高速</a:t>
            </a:r>
            <a:r>
              <a:rPr lang="zh-CN" altLang="zh-CN" dirty="0">
                <a:latin typeface="+mn-ea"/>
                <a:ea typeface="+mn-ea"/>
                <a:cs typeface="Times New Roman" panose="02020603050405020304" pitchFamily="18" charset="0"/>
              </a:rPr>
              <a:t>信号的：要尽量减小信号回路的电抗。常常看到一些高速数字信号通过排线传输时采用一根信号线隔一根地线的排列结构，此结构的特点就是每根信号线都可以找到一根与它构成最小回路面积的地线以返回信号电流。有一种特殊的排线，在其背面有一片金属网作为地线，具有极好的高频传输特性，可惜现在市场上几乎见不到这种排线</a:t>
            </a:r>
            <a:endParaRPr lang="zh-CN" altLang="en-US" dirty="0">
              <a:latin typeface="+mn-ea"/>
              <a:ea typeface="+mn-ea"/>
            </a:endParaRPr>
          </a:p>
        </p:txBody>
      </p:sp>
      <p:pic>
        <p:nvPicPr>
          <p:cNvPr id="6" name="图片 5"/>
          <p:cNvPicPr>
            <a:picLocks noChangeAspect="1"/>
          </p:cNvPicPr>
          <p:nvPr/>
        </p:nvPicPr>
        <p:blipFill>
          <a:blip r:embed="rId2"/>
          <a:stretch>
            <a:fillRect/>
          </a:stretch>
        </p:blipFill>
        <p:spPr>
          <a:xfrm>
            <a:off x="2024303" y="4422979"/>
            <a:ext cx="3012154" cy="1964449"/>
          </a:xfrm>
          <a:prstGeom prst="rect">
            <a:avLst/>
          </a:prstGeom>
        </p:spPr>
      </p:pic>
      <p:pic>
        <p:nvPicPr>
          <p:cNvPr id="7" name="图片 6"/>
          <p:cNvPicPr>
            <a:picLocks noChangeAspect="1"/>
          </p:cNvPicPr>
          <p:nvPr/>
        </p:nvPicPr>
        <p:blipFill>
          <a:blip r:embed="rId3"/>
          <a:stretch>
            <a:fillRect/>
          </a:stretch>
        </p:blipFill>
        <p:spPr>
          <a:xfrm>
            <a:off x="6386285" y="4397048"/>
            <a:ext cx="2430401" cy="1990379"/>
          </a:xfrm>
          <a:prstGeom prst="rect">
            <a:avLst/>
          </a:prstGeom>
        </p:spPr>
      </p:pic>
    </p:spTree>
    <p:extLst>
      <p:ext uri="{BB962C8B-B14F-4D97-AF65-F5344CB8AC3E}">
        <p14:creationId xmlns:p14="http://schemas.microsoft.com/office/powerpoint/2010/main" val="35790971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33</a:t>
            </a:fld>
            <a:endParaRPr lang="en-US" altLang="zh-CN">
              <a:solidFill>
                <a:srgbClr val="FFFFFF"/>
              </a:solidFill>
            </a:endParaRPr>
          </a:p>
        </p:txBody>
      </p:sp>
      <p:sp>
        <p:nvSpPr>
          <p:cNvPr id="5" name="文本框 4"/>
          <p:cNvSpPr txBox="1"/>
          <p:nvPr/>
        </p:nvSpPr>
        <p:spPr>
          <a:xfrm>
            <a:off x="399144" y="544286"/>
            <a:ext cx="11422441" cy="1477328"/>
          </a:xfrm>
          <a:prstGeom prst="rect">
            <a:avLst/>
          </a:prstGeom>
          <a:noFill/>
        </p:spPr>
        <p:txBody>
          <a:bodyPr wrap="square" rtlCol="0">
            <a:spAutoFit/>
          </a:bodyPr>
          <a:lstStyle/>
          <a:p>
            <a:pPr>
              <a:lnSpc>
                <a:spcPct val="150000"/>
              </a:lnSpc>
            </a:pPr>
            <a:r>
              <a:rPr lang="zh-CN" altLang="en-US" dirty="0" smtClean="0">
                <a:latin typeface="+mj-ea"/>
                <a:ea typeface="+mj-ea"/>
              </a:rPr>
              <a:t>用于排线的接插件</a:t>
            </a:r>
            <a:endParaRPr lang="en-US" altLang="zh-CN" dirty="0" smtClean="0">
              <a:latin typeface="+mj-ea"/>
              <a:ea typeface="+mj-ea"/>
            </a:endParaRPr>
          </a:p>
          <a:p>
            <a:pPr marL="342900" indent="-342900">
              <a:lnSpc>
                <a:spcPct val="150000"/>
              </a:lnSpc>
              <a:buFont typeface="Arial" panose="020B0604020202020204" pitchFamily="34" charset="0"/>
              <a:buChar char="•"/>
            </a:pPr>
            <a:r>
              <a:rPr lang="zh-CN" altLang="en-US" dirty="0" smtClean="0">
                <a:latin typeface="+mj-ea"/>
                <a:ea typeface="+mj-ea"/>
              </a:rPr>
              <a:t>使用压接方式与排线连接，方便可靠</a:t>
            </a:r>
            <a:endParaRPr lang="en-US" altLang="zh-CN" dirty="0" smtClean="0">
              <a:latin typeface="+mj-ea"/>
              <a:ea typeface="+mj-ea"/>
            </a:endParaRPr>
          </a:p>
          <a:p>
            <a:pPr marL="342900" indent="-342900">
              <a:lnSpc>
                <a:spcPct val="150000"/>
              </a:lnSpc>
              <a:buFont typeface="Arial" panose="020B0604020202020204" pitchFamily="34" charset="0"/>
              <a:buChar char="•"/>
            </a:pPr>
            <a:r>
              <a:rPr lang="zh-CN" altLang="en-US" dirty="0" smtClean="0">
                <a:latin typeface="+mj-ea"/>
                <a:ea typeface="+mj-ea"/>
              </a:rPr>
              <a:t>有</a:t>
            </a:r>
            <a:r>
              <a:rPr lang="en-US" altLang="zh-CN" dirty="0" smtClean="0">
                <a:latin typeface="+mj-ea"/>
                <a:ea typeface="+mj-ea"/>
              </a:rPr>
              <a:t>10P</a:t>
            </a:r>
            <a:r>
              <a:rPr lang="zh-CN" altLang="en-US" dirty="0" smtClean="0">
                <a:latin typeface="+mj-ea"/>
                <a:ea typeface="+mj-ea"/>
              </a:rPr>
              <a:t>、</a:t>
            </a:r>
            <a:r>
              <a:rPr lang="en-US" altLang="zh-CN" dirty="0" smtClean="0">
                <a:latin typeface="+mj-ea"/>
                <a:ea typeface="+mj-ea"/>
              </a:rPr>
              <a:t>16P</a:t>
            </a:r>
            <a:r>
              <a:rPr lang="zh-CN" altLang="en-US" dirty="0" smtClean="0">
                <a:latin typeface="+mj-ea"/>
                <a:ea typeface="+mj-ea"/>
              </a:rPr>
              <a:t>、</a:t>
            </a:r>
            <a:r>
              <a:rPr lang="en-US" altLang="zh-CN" dirty="0" smtClean="0">
                <a:latin typeface="+mj-ea"/>
                <a:ea typeface="+mj-ea"/>
              </a:rPr>
              <a:t>20P</a:t>
            </a:r>
            <a:r>
              <a:rPr lang="zh-CN" altLang="en-US" dirty="0" smtClean="0">
                <a:latin typeface="+mj-ea"/>
                <a:ea typeface="+mj-ea"/>
              </a:rPr>
              <a:t>、</a:t>
            </a:r>
            <a:r>
              <a:rPr lang="en-US" altLang="zh-CN" dirty="0" smtClean="0">
                <a:latin typeface="+mj-ea"/>
                <a:ea typeface="+mj-ea"/>
              </a:rPr>
              <a:t>26P</a:t>
            </a:r>
            <a:r>
              <a:rPr lang="zh-CN" altLang="en-US" dirty="0" smtClean="0">
                <a:latin typeface="+mj-ea"/>
                <a:ea typeface="+mj-ea"/>
              </a:rPr>
              <a:t>、</a:t>
            </a:r>
            <a:r>
              <a:rPr lang="en-US" altLang="zh-CN" dirty="0" smtClean="0">
                <a:latin typeface="+mj-ea"/>
                <a:ea typeface="+mj-ea"/>
              </a:rPr>
              <a:t>34P</a:t>
            </a:r>
            <a:r>
              <a:rPr lang="zh-CN" altLang="en-US" dirty="0" smtClean="0">
                <a:latin typeface="+mj-ea"/>
                <a:ea typeface="+mj-ea"/>
              </a:rPr>
              <a:t>、</a:t>
            </a:r>
            <a:r>
              <a:rPr lang="en-US" altLang="zh-CN" dirty="0" smtClean="0">
                <a:latin typeface="+mj-ea"/>
                <a:ea typeface="+mj-ea"/>
              </a:rPr>
              <a:t>40P </a:t>
            </a:r>
            <a:r>
              <a:rPr lang="zh-CN" altLang="en-US" dirty="0" smtClean="0">
                <a:latin typeface="+mj-ea"/>
                <a:ea typeface="+mj-ea"/>
              </a:rPr>
              <a:t>等多种规格</a:t>
            </a:r>
            <a:endParaRPr lang="zh-CN" altLang="en-US" dirty="0">
              <a:latin typeface="+mj-ea"/>
              <a:ea typeface="+mj-ea"/>
            </a:endParaRPr>
          </a:p>
        </p:txBody>
      </p:sp>
      <p:pic>
        <p:nvPicPr>
          <p:cNvPr id="6" name="图片 5"/>
          <p:cNvPicPr>
            <a:picLocks noChangeAspect="1"/>
          </p:cNvPicPr>
          <p:nvPr/>
        </p:nvPicPr>
        <p:blipFill>
          <a:blip r:embed="rId2"/>
          <a:stretch>
            <a:fillRect/>
          </a:stretch>
        </p:blipFill>
        <p:spPr>
          <a:xfrm>
            <a:off x="2692750" y="2282170"/>
            <a:ext cx="3628475" cy="1990949"/>
          </a:xfrm>
          <a:prstGeom prst="rect">
            <a:avLst/>
          </a:prstGeom>
        </p:spPr>
      </p:pic>
      <p:pic>
        <p:nvPicPr>
          <p:cNvPr id="7" name="图片 6"/>
          <p:cNvPicPr>
            <a:picLocks noChangeAspect="1"/>
          </p:cNvPicPr>
          <p:nvPr/>
        </p:nvPicPr>
        <p:blipFill>
          <a:blip r:embed="rId3"/>
          <a:stretch>
            <a:fillRect/>
          </a:stretch>
        </p:blipFill>
        <p:spPr>
          <a:xfrm>
            <a:off x="6781106" y="2282170"/>
            <a:ext cx="2394430" cy="1990949"/>
          </a:xfrm>
          <a:prstGeom prst="rect">
            <a:avLst/>
          </a:prstGeom>
        </p:spPr>
      </p:pic>
    </p:spTree>
    <p:extLst>
      <p:ext uri="{BB962C8B-B14F-4D97-AF65-F5344CB8AC3E}">
        <p14:creationId xmlns:p14="http://schemas.microsoft.com/office/powerpoint/2010/main" val="37220889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34</a:t>
            </a:fld>
            <a:endParaRPr lang="en-US" altLang="zh-CN">
              <a:solidFill>
                <a:srgbClr val="FFFFFF"/>
              </a:solidFill>
            </a:endParaRPr>
          </a:p>
        </p:txBody>
      </p:sp>
      <p:sp>
        <p:nvSpPr>
          <p:cNvPr id="5" name="矩形 4"/>
          <p:cNvSpPr/>
          <p:nvPr/>
        </p:nvSpPr>
        <p:spPr>
          <a:xfrm>
            <a:off x="478972" y="600715"/>
            <a:ext cx="11183257" cy="5170646"/>
          </a:xfrm>
          <a:prstGeom prst="rect">
            <a:avLst/>
          </a:prstGeom>
        </p:spPr>
        <p:txBody>
          <a:bodyPr wrap="square">
            <a:spAutoFit/>
          </a:bodyPr>
          <a:lstStyle/>
          <a:p>
            <a:pPr>
              <a:lnSpc>
                <a:spcPct val="150000"/>
              </a:lnSpc>
            </a:pPr>
            <a:r>
              <a:rPr lang="zh-CN" altLang="en-US" dirty="0" smtClean="0">
                <a:solidFill>
                  <a:srgbClr val="FF0000"/>
                </a:solidFill>
                <a:latin typeface="+mj-ea"/>
                <a:ea typeface="+mj-ea"/>
              </a:rPr>
              <a:t>如何正确使用</a:t>
            </a:r>
            <a:r>
              <a:rPr lang="zh-CN" altLang="en-US" dirty="0">
                <a:solidFill>
                  <a:srgbClr val="FF0000"/>
                </a:solidFill>
                <a:latin typeface="+mj-ea"/>
                <a:ea typeface="+mj-ea"/>
              </a:rPr>
              <a:t>集成运</a:t>
            </a:r>
            <a:r>
              <a:rPr lang="zh-CN" altLang="en-US" dirty="0" smtClean="0">
                <a:solidFill>
                  <a:srgbClr val="FF0000"/>
                </a:solidFill>
                <a:latin typeface="+mj-ea"/>
                <a:ea typeface="+mj-ea"/>
              </a:rPr>
              <a:t>放？</a:t>
            </a:r>
            <a:endParaRPr lang="en-US" altLang="zh-CN" dirty="0" smtClean="0">
              <a:solidFill>
                <a:srgbClr val="FF0000"/>
              </a:solidFill>
              <a:latin typeface="+mj-ea"/>
              <a:ea typeface="+mj-ea"/>
            </a:endParaRPr>
          </a:p>
          <a:p>
            <a:pPr>
              <a:lnSpc>
                <a:spcPct val="150000"/>
              </a:lnSpc>
            </a:pPr>
            <a:endParaRPr lang="en-US" altLang="zh-CN" dirty="0" smtClean="0">
              <a:solidFill>
                <a:srgbClr val="FF0000"/>
              </a:solidFill>
              <a:latin typeface="+mj-ea"/>
              <a:ea typeface="+mj-ea"/>
            </a:endParaRPr>
          </a:p>
          <a:p>
            <a:pPr algn="just">
              <a:lnSpc>
                <a:spcPct val="150000"/>
              </a:lnSpc>
              <a:spcAft>
                <a:spcPts val="0"/>
              </a:spcAft>
            </a:pPr>
            <a:r>
              <a:rPr lang="en-US" altLang="zh-CN" dirty="0" smtClean="0">
                <a:latin typeface="+mj-ea"/>
                <a:ea typeface="+mj-ea"/>
                <a:cs typeface="宋体" panose="02010600030101010101" pitchFamily="2" charset="-122"/>
              </a:rPr>
              <a:t>1</a:t>
            </a:r>
            <a:r>
              <a:rPr lang="zh-CN" altLang="en-US" dirty="0" smtClean="0">
                <a:latin typeface="+mj-ea"/>
                <a:ea typeface="+mj-ea"/>
                <a:cs typeface="宋体" panose="02010600030101010101" pitchFamily="2" charset="-122"/>
              </a:rPr>
              <a:t>、如何选择运放</a:t>
            </a:r>
            <a:endParaRPr lang="zh-CN" altLang="zh-CN" dirty="0">
              <a:latin typeface="+mj-ea"/>
              <a:ea typeface="+mj-ea"/>
              <a:cs typeface="宋体" panose="02010600030101010101" pitchFamily="2" charset="-122"/>
            </a:endParaRPr>
          </a:p>
          <a:p>
            <a:pPr marL="720000" indent="-342900" algn="just">
              <a:lnSpc>
                <a:spcPct val="150000"/>
              </a:lnSpc>
              <a:spcAft>
                <a:spcPts val="0"/>
              </a:spcAft>
              <a:buFont typeface="Arial" panose="020B0604020202020204" pitchFamily="34" charset="0"/>
              <a:buChar char="•"/>
            </a:pPr>
            <a:r>
              <a:rPr lang="zh-CN" altLang="en-US" dirty="0">
                <a:latin typeface="+mn-ea"/>
                <a:ea typeface="+mn-ea"/>
                <a:cs typeface="宋体" panose="02010600030101010101" pitchFamily="2" charset="-122"/>
              </a:rPr>
              <a:t>运放的</a:t>
            </a:r>
            <a:r>
              <a:rPr lang="zh-CN" altLang="zh-CN" dirty="0">
                <a:solidFill>
                  <a:srgbClr val="FF0000"/>
                </a:solidFill>
                <a:latin typeface="+mn-ea"/>
                <a:ea typeface="+mn-ea"/>
                <a:cs typeface="宋体" panose="02010600030101010101" pitchFamily="2" charset="-122"/>
              </a:rPr>
              <a:t>频率特性</a:t>
            </a:r>
            <a:r>
              <a:rPr lang="zh-CN" altLang="en-US" dirty="0">
                <a:latin typeface="+mn-ea"/>
                <a:ea typeface="+mn-ea"/>
                <a:cs typeface="宋体" panose="02010600030101010101" pitchFamily="2" charset="-122"/>
              </a:rPr>
              <a:t>必须满足电路系统的需求</a:t>
            </a:r>
            <a:r>
              <a:rPr lang="zh-CN" altLang="zh-CN" dirty="0">
                <a:latin typeface="+mn-ea"/>
                <a:ea typeface="+mn-ea"/>
                <a:cs typeface="宋体" panose="02010600030101010101" pitchFamily="2" charset="-122"/>
              </a:rPr>
              <a:t>，尤其对高频放大器必须仔细核查</a:t>
            </a:r>
          </a:p>
          <a:p>
            <a:pPr marL="720000" indent="-342900" algn="just">
              <a:lnSpc>
                <a:spcPct val="150000"/>
              </a:lnSpc>
              <a:spcAft>
                <a:spcPts val="0"/>
              </a:spcAft>
              <a:buFont typeface="Arial" panose="020B0604020202020204" pitchFamily="34" charset="0"/>
              <a:buChar char="•"/>
            </a:pPr>
            <a:r>
              <a:rPr lang="zh-CN" altLang="zh-CN" dirty="0" smtClean="0">
                <a:latin typeface="+mn-ea"/>
                <a:ea typeface="+mn-ea"/>
                <a:cs typeface="宋体" panose="02010600030101010101" pitchFamily="2" charset="-122"/>
              </a:rPr>
              <a:t>运</a:t>
            </a:r>
            <a:r>
              <a:rPr lang="zh-CN" altLang="zh-CN" dirty="0">
                <a:latin typeface="+mn-ea"/>
                <a:ea typeface="+mn-ea"/>
                <a:cs typeface="宋体" panose="02010600030101010101" pitchFamily="2" charset="-122"/>
              </a:rPr>
              <a:t>放</a:t>
            </a:r>
            <a:r>
              <a:rPr lang="zh-CN" altLang="zh-CN" dirty="0" smtClean="0">
                <a:latin typeface="+mn-ea"/>
                <a:ea typeface="+mn-ea"/>
                <a:cs typeface="宋体" panose="02010600030101010101" pitchFamily="2" charset="-122"/>
              </a:rPr>
              <a:t>的输入输出</a:t>
            </a:r>
            <a:r>
              <a:rPr lang="zh-CN" altLang="zh-CN" dirty="0" smtClean="0">
                <a:solidFill>
                  <a:srgbClr val="FF0000"/>
                </a:solidFill>
                <a:latin typeface="+mn-ea"/>
                <a:ea typeface="+mn-ea"/>
                <a:cs typeface="宋体" panose="02010600030101010101" pitchFamily="2" charset="-122"/>
              </a:rPr>
              <a:t>动态范围</a:t>
            </a:r>
            <a:r>
              <a:rPr lang="zh-CN" altLang="en-US" dirty="0" smtClean="0">
                <a:latin typeface="+mn-ea"/>
                <a:ea typeface="+mn-ea"/>
                <a:cs typeface="宋体" panose="02010600030101010101" pitchFamily="2" charset="-122"/>
              </a:rPr>
              <a:t>必须满足电路系统的需求。由于此项特性与</a:t>
            </a:r>
            <a:r>
              <a:rPr lang="zh-CN" altLang="zh-CN" dirty="0" smtClean="0">
                <a:latin typeface="+mn-ea"/>
                <a:ea typeface="+mn-ea"/>
                <a:cs typeface="宋体" panose="02010600030101010101" pitchFamily="2" charset="-122"/>
              </a:rPr>
              <a:t>电源电压</a:t>
            </a:r>
            <a:r>
              <a:rPr lang="zh-CN" altLang="en-US" dirty="0" smtClean="0">
                <a:latin typeface="+mn-ea"/>
                <a:ea typeface="+mn-ea"/>
                <a:cs typeface="宋体" panose="02010600030101010101" pitchFamily="2" charset="-122"/>
              </a:rPr>
              <a:t>有关，所以须同时核查</a:t>
            </a:r>
            <a:r>
              <a:rPr lang="zh-CN" altLang="en-US" dirty="0" smtClean="0">
                <a:solidFill>
                  <a:srgbClr val="FF0000"/>
                </a:solidFill>
                <a:latin typeface="+mn-ea"/>
                <a:ea typeface="+mn-ea"/>
                <a:cs typeface="宋体" panose="02010600030101010101" pitchFamily="2" charset="-122"/>
              </a:rPr>
              <a:t>电源电压</a:t>
            </a:r>
            <a:endParaRPr lang="en-US" altLang="zh-CN" dirty="0">
              <a:solidFill>
                <a:srgbClr val="FF0000"/>
              </a:solidFill>
              <a:latin typeface="+mn-ea"/>
              <a:ea typeface="+mn-ea"/>
              <a:cs typeface="宋体" panose="02010600030101010101" pitchFamily="2" charset="-122"/>
            </a:endParaRPr>
          </a:p>
          <a:p>
            <a:pPr marL="720000" indent="-342900" algn="just">
              <a:lnSpc>
                <a:spcPct val="150000"/>
              </a:lnSpc>
              <a:spcAft>
                <a:spcPts val="0"/>
              </a:spcAft>
              <a:buFont typeface="Arial" panose="020B0604020202020204" pitchFamily="34" charset="0"/>
              <a:buChar char="•"/>
            </a:pPr>
            <a:r>
              <a:rPr lang="zh-CN" altLang="en-US" dirty="0" smtClean="0">
                <a:latin typeface="+mn-ea"/>
                <a:ea typeface="+mn-ea"/>
                <a:cs typeface="宋体" panose="02010600030101010101" pitchFamily="2" charset="-122"/>
              </a:rPr>
              <a:t>运放的</a:t>
            </a:r>
            <a:r>
              <a:rPr lang="zh-CN" altLang="zh-CN" dirty="0" smtClean="0">
                <a:solidFill>
                  <a:srgbClr val="FF0000"/>
                </a:solidFill>
                <a:latin typeface="+mn-ea"/>
                <a:ea typeface="+mn-ea"/>
                <a:cs typeface="宋体" panose="02010600030101010101" pitchFamily="2" charset="-122"/>
              </a:rPr>
              <a:t>封装</a:t>
            </a:r>
            <a:r>
              <a:rPr lang="zh-CN" altLang="en-US" dirty="0" smtClean="0">
                <a:latin typeface="+mn-ea"/>
                <a:ea typeface="+mn-ea"/>
                <a:cs typeface="宋体" panose="02010600030101010101" pitchFamily="2" charset="-122"/>
              </a:rPr>
              <a:t>是否合适</a:t>
            </a:r>
            <a:r>
              <a:rPr lang="zh-CN" altLang="zh-CN" dirty="0" smtClean="0">
                <a:latin typeface="+mn-ea"/>
                <a:ea typeface="+mn-ea"/>
                <a:cs typeface="宋体" panose="02010600030101010101" pitchFamily="2" charset="-122"/>
              </a:rPr>
              <a:t>，</a:t>
            </a:r>
            <a:r>
              <a:rPr lang="zh-CN" altLang="zh-CN" dirty="0">
                <a:latin typeface="+mn-ea"/>
                <a:ea typeface="+mn-ea"/>
                <a:cs typeface="宋体" panose="02010600030101010101" pitchFamily="2" charset="-122"/>
              </a:rPr>
              <a:t>尤其在制作印制板时</a:t>
            </a:r>
            <a:r>
              <a:rPr lang="zh-CN" altLang="zh-CN" dirty="0" smtClean="0">
                <a:latin typeface="+mn-ea"/>
                <a:ea typeface="+mn-ea"/>
                <a:cs typeface="宋体" panose="02010600030101010101" pitchFamily="2" charset="-122"/>
              </a:rPr>
              <a:t>必须</a:t>
            </a:r>
            <a:r>
              <a:rPr lang="zh-CN" altLang="en-US" dirty="0" smtClean="0">
                <a:latin typeface="+mn-ea"/>
                <a:ea typeface="+mn-ea"/>
                <a:cs typeface="宋体" panose="02010600030101010101" pitchFamily="2" charset="-122"/>
              </a:rPr>
              <a:t>仔细</a:t>
            </a:r>
            <a:r>
              <a:rPr lang="zh-CN" altLang="zh-CN" dirty="0" smtClean="0">
                <a:latin typeface="+mn-ea"/>
                <a:ea typeface="+mn-ea"/>
                <a:cs typeface="宋体" panose="02010600030101010101" pitchFamily="2" charset="-122"/>
              </a:rPr>
              <a:t>核对</a:t>
            </a:r>
            <a:endParaRPr lang="en-US" altLang="zh-CN" dirty="0" smtClean="0">
              <a:latin typeface="+mn-ea"/>
              <a:ea typeface="+mn-ea"/>
              <a:cs typeface="宋体" panose="02010600030101010101" pitchFamily="2" charset="-122"/>
            </a:endParaRPr>
          </a:p>
          <a:p>
            <a:pPr marL="720000" indent="-342900" algn="just">
              <a:lnSpc>
                <a:spcPct val="150000"/>
              </a:lnSpc>
              <a:spcAft>
                <a:spcPts val="0"/>
              </a:spcAft>
              <a:buFont typeface="Arial" panose="020B0604020202020204" pitchFamily="34" charset="0"/>
              <a:buChar char="•"/>
            </a:pPr>
            <a:endParaRPr lang="en-US" altLang="zh-CN" dirty="0">
              <a:latin typeface="+mn-ea"/>
              <a:ea typeface="+mn-ea"/>
              <a:cs typeface="宋体" panose="02010600030101010101" pitchFamily="2" charset="-122"/>
            </a:endParaRPr>
          </a:p>
          <a:p>
            <a:pPr marL="720000" indent="-342900" algn="just">
              <a:lnSpc>
                <a:spcPct val="150000"/>
              </a:lnSpc>
              <a:spcAft>
                <a:spcPts val="0"/>
              </a:spcAft>
              <a:buFont typeface="Arial" panose="020B0604020202020204" pitchFamily="34" charset="0"/>
              <a:buChar char="•"/>
            </a:pPr>
            <a:r>
              <a:rPr lang="zh-CN" altLang="en-US" dirty="0" smtClean="0">
                <a:latin typeface="+mn-ea"/>
                <a:ea typeface="+mn-ea"/>
                <a:cs typeface="宋体" panose="02010600030101010101" pitchFamily="2" charset="-122"/>
              </a:rPr>
              <a:t>对于</a:t>
            </a:r>
            <a:r>
              <a:rPr lang="zh-CN" altLang="zh-CN" dirty="0" smtClean="0">
                <a:latin typeface="+mn-ea"/>
                <a:ea typeface="+mn-ea"/>
                <a:cs typeface="宋体" panose="02010600030101010101" pitchFamily="2" charset="-122"/>
              </a:rPr>
              <a:t>微弱</a:t>
            </a:r>
            <a:r>
              <a:rPr lang="zh-CN" altLang="zh-CN" dirty="0">
                <a:latin typeface="+mn-ea"/>
                <a:ea typeface="+mn-ea"/>
                <a:cs typeface="宋体" panose="02010600030101010101" pitchFamily="2" charset="-122"/>
              </a:rPr>
              <a:t>信号放大器</a:t>
            </a:r>
            <a:r>
              <a:rPr lang="zh-CN" altLang="en-US" dirty="0">
                <a:latin typeface="+mn-ea"/>
                <a:ea typeface="+mn-ea"/>
                <a:cs typeface="宋体" panose="02010600030101010101" pitchFamily="2" charset="-122"/>
              </a:rPr>
              <a:t>、</a:t>
            </a:r>
            <a:r>
              <a:rPr lang="zh-CN" altLang="zh-CN" dirty="0">
                <a:latin typeface="+mn-ea"/>
                <a:ea typeface="+mn-ea"/>
                <a:cs typeface="宋体" panose="02010600030101010101" pitchFamily="2" charset="-122"/>
              </a:rPr>
              <a:t>精密放大器</a:t>
            </a:r>
            <a:r>
              <a:rPr lang="zh-CN" altLang="en-US" dirty="0">
                <a:latin typeface="+mn-ea"/>
                <a:ea typeface="+mn-ea"/>
                <a:cs typeface="宋体" panose="02010600030101010101" pitchFamily="2" charset="-122"/>
              </a:rPr>
              <a:t>以及</a:t>
            </a:r>
            <a:r>
              <a:rPr lang="zh-CN" altLang="en-US" dirty="0" smtClean="0">
                <a:latin typeface="+mn-ea"/>
                <a:ea typeface="+mn-ea"/>
                <a:cs typeface="宋体" panose="02010600030101010101" pitchFamily="2" charset="-122"/>
              </a:rPr>
              <a:t>直流放大器，</a:t>
            </a:r>
            <a:r>
              <a:rPr lang="zh-CN" altLang="zh-CN" dirty="0" smtClean="0">
                <a:latin typeface="+mn-ea"/>
                <a:ea typeface="+mn-ea"/>
                <a:cs typeface="宋体" panose="02010600030101010101" pitchFamily="2" charset="-122"/>
              </a:rPr>
              <a:t>必须考察</a:t>
            </a:r>
            <a:r>
              <a:rPr lang="zh-CN" altLang="en-US" dirty="0" smtClean="0">
                <a:latin typeface="+mn-ea"/>
                <a:ea typeface="+mn-ea"/>
                <a:cs typeface="宋体" panose="02010600030101010101" pitchFamily="2" charset="-122"/>
              </a:rPr>
              <a:t>运放的</a:t>
            </a:r>
            <a:r>
              <a:rPr lang="zh-CN" altLang="zh-CN" dirty="0" smtClean="0">
                <a:latin typeface="+mn-ea"/>
                <a:ea typeface="+mn-ea"/>
                <a:cs typeface="宋体" panose="02010600030101010101" pitchFamily="2" charset="-122"/>
              </a:rPr>
              <a:t>输入</a:t>
            </a:r>
            <a:r>
              <a:rPr lang="zh-CN" altLang="zh-CN" dirty="0">
                <a:solidFill>
                  <a:schemeClr val="accent6">
                    <a:lumMod val="60000"/>
                    <a:lumOff val="40000"/>
                  </a:schemeClr>
                </a:solidFill>
                <a:latin typeface="+mn-ea"/>
                <a:ea typeface="+mn-ea"/>
                <a:cs typeface="宋体" panose="02010600030101010101" pitchFamily="2" charset="-122"/>
              </a:rPr>
              <a:t>失调电压与失调</a:t>
            </a:r>
            <a:r>
              <a:rPr lang="zh-CN" altLang="zh-CN" dirty="0" smtClean="0">
                <a:solidFill>
                  <a:schemeClr val="accent6">
                    <a:lumMod val="60000"/>
                    <a:lumOff val="40000"/>
                  </a:schemeClr>
                </a:solidFill>
                <a:latin typeface="+mn-ea"/>
                <a:ea typeface="+mn-ea"/>
                <a:cs typeface="宋体" panose="02010600030101010101" pitchFamily="2" charset="-122"/>
              </a:rPr>
              <a:t>电流</a:t>
            </a:r>
            <a:r>
              <a:rPr lang="zh-CN" altLang="en-US" dirty="0" smtClean="0">
                <a:latin typeface="+mn-ea"/>
                <a:ea typeface="+mn-ea"/>
                <a:cs typeface="宋体" panose="02010600030101010101" pitchFamily="2" charset="-122"/>
              </a:rPr>
              <a:t>、以及</a:t>
            </a:r>
            <a:r>
              <a:rPr lang="zh-CN" altLang="zh-CN" dirty="0" smtClean="0">
                <a:latin typeface="+mn-ea"/>
                <a:ea typeface="+mn-ea"/>
                <a:cs typeface="宋体" panose="02010600030101010101" pitchFamily="2" charset="-122"/>
              </a:rPr>
              <a:t>输入</a:t>
            </a:r>
            <a:r>
              <a:rPr lang="zh-CN" altLang="zh-CN" dirty="0">
                <a:solidFill>
                  <a:schemeClr val="accent6">
                    <a:lumMod val="60000"/>
                    <a:lumOff val="40000"/>
                  </a:schemeClr>
                </a:solidFill>
                <a:latin typeface="+mn-ea"/>
                <a:ea typeface="+mn-ea"/>
                <a:cs typeface="宋体" panose="02010600030101010101" pitchFamily="2" charset="-122"/>
              </a:rPr>
              <a:t>偏置</a:t>
            </a:r>
            <a:r>
              <a:rPr lang="zh-CN" altLang="zh-CN" dirty="0" smtClean="0">
                <a:solidFill>
                  <a:schemeClr val="accent6">
                    <a:lumMod val="60000"/>
                    <a:lumOff val="40000"/>
                  </a:schemeClr>
                </a:solidFill>
                <a:latin typeface="+mn-ea"/>
                <a:ea typeface="+mn-ea"/>
                <a:cs typeface="宋体" panose="02010600030101010101" pitchFamily="2" charset="-122"/>
              </a:rPr>
              <a:t>电流</a:t>
            </a:r>
            <a:r>
              <a:rPr lang="zh-CN" altLang="en-US" dirty="0" smtClean="0">
                <a:latin typeface="+mn-ea"/>
                <a:ea typeface="+mn-ea"/>
                <a:cs typeface="宋体" panose="02010600030101010101" pitchFamily="2" charset="-122"/>
              </a:rPr>
              <a:t>等参数是否满足系统的需求。在某些情况下还要考察运放的</a:t>
            </a:r>
            <a:r>
              <a:rPr lang="zh-CN" altLang="en-US" dirty="0" smtClean="0">
                <a:solidFill>
                  <a:schemeClr val="accent6">
                    <a:lumMod val="60000"/>
                    <a:lumOff val="40000"/>
                  </a:schemeClr>
                </a:solidFill>
                <a:latin typeface="+mn-ea"/>
                <a:ea typeface="+mn-ea"/>
                <a:cs typeface="宋体" panose="02010600030101010101" pitchFamily="2" charset="-122"/>
              </a:rPr>
              <a:t>噪声</a:t>
            </a:r>
            <a:endParaRPr lang="en-US" altLang="zh-CN" dirty="0" smtClean="0">
              <a:solidFill>
                <a:schemeClr val="accent6">
                  <a:lumMod val="60000"/>
                  <a:lumOff val="40000"/>
                </a:schemeClr>
              </a:solidFill>
              <a:latin typeface="+mn-ea"/>
              <a:ea typeface="+mn-ea"/>
              <a:cs typeface="宋体" panose="02010600030101010101" pitchFamily="2" charset="-122"/>
            </a:endParaRPr>
          </a:p>
          <a:p>
            <a:pPr marL="720000" indent="-342900" algn="just">
              <a:lnSpc>
                <a:spcPct val="150000"/>
              </a:lnSpc>
              <a:spcAft>
                <a:spcPts val="0"/>
              </a:spcAft>
              <a:buFont typeface="Arial" panose="020B0604020202020204" pitchFamily="34" charset="0"/>
              <a:buChar char="•"/>
            </a:pPr>
            <a:r>
              <a:rPr lang="zh-CN" altLang="en-US" dirty="0" smtClean="0">
                <a:latin typeface="+mn-ea"/>
                <a:ea typeface="+mn-ea"/>
                <a:cs typeface="宋体" panose="02010600030101010101" pitchFamily="2" charset="-122"/>
              </a:rPr>
              <a:t>对于</a:t>
            </a:r>
            <a:r>
              <a:rPr lang="zh-CN" altLang="zh-CN" dirty="0" smtClean="0">
                <a:latin typeface="+mn-ea"/>
                <a:ea typeface="+mn-ea"/>
                <a:cs typeface="宋体" panose="02010600030101010101" pitchFamily="2" charset="-122"/>
              </a:rPr>
              <a:t>大</a:t>
            </a:r>
            <a:r>
              <a:rPr lang="zh-CN" altLang="zh-CN" dirty="0">
                <a:latin typeface="+mn-ea"/>
                <a:ea typeface="+mn-ea"/>
                <a:cs typeface="宋体" panose="02010600030101010101" pitchFamily="2" charset="-122"/>
              </a:rPr>
              <a:t>信号输出</a:t>
            </a:r>
            <a:r>
              <a:rPr lang="zh-CN" altLang="zh-CN" dirty="0" smtClean="0">
                <a:latin typeface="+mn-ea"/>
                <a:ea typeface="+mn-ea"/>
                <a:cs typeface="宋体" panose="02010600030101010101" pitchFamily="2" charset="-122"/>
              </a:rPr>
              <a:t>放大器</a:t>
            </a:r>
            <a:r>
              <a:rPr lang="zh-CN" altLang="en-US" dirty="0" smtClean="0">
                <a:latin typeface="+mn-ea"/>
                <a:ea typeface="+mn-ea"/>
                <a:cs typeface="宋体" panose="02010600030101010101" pitchFamily="2" charset="-122"/>
              </a:rPr>
              <a:t>，还</a:t>
            </a:r>
            <a:r>
              <a:rPr lang="zh-CN" altLang="zh-CN" dirty="0" smtClean="0">
                <a:latin typeface="+mn-ea"/>
                <a:ea typeface="+mn-ea"/>
                <a:cs typeface="宋体" panose="02010600030101010101" pitchFamily="2" charset="-122"/>
              </a:rPr>
              <a:t>必须考察</a:t>
            </a:r>
            <a:r>
              <a:rPr lang="zh-CN" altLang="en-US" dirty="0" smtClean="0">
                <a:latin typeface="+mn-ea"/>
                <a:ea typeface="+mn-ea"/>
                <a:cs typeface="宋体" panose="02010600030101010101" pitchFamily="2" charset="-122"/>
              </a:rPr>
              <a:t>运放的</a:t>
            </a:r>
            <a:r>
              <a:rPr lang="zh-CN" altLang="en-US" dirty="0" smtClean="0">
                <a:solidFill>
                  <a:schemeClr val="accent6">
                    <a:lumMod val="60000"/>
                    <a:lumOff val="40000"/>
                  </a:schemeClr>
                </a:solidFill>
                <a:latin typeface="+mn-ea"/>
                <a:ea typeface="+mn-ea"/>
                <a:cs typeface="宋体" panose="02010600030101010101" pitchFamily="2" charset="-122"/>
              </a:rPr>
              <a:t>输出电流</a:t>
            </a:r>
            <a:r>
              <a:rPr lang="zh-CN" altLang="zh-CN" dirty="0" smtClean="0">
                <a:latin typeface="+mn-ea"/>
                <a:ea typeface="+mn-ea"/>
                <a:cs typeface="宋体" panose="02010600030101010101" pitchFamily="2" charset="-122"/>
              </a:rPr>
              <a:t>与</a:t>
            </a:r>
            <a:r>
              <a:rPr lang="zh-CN" altLang="en-US" dirty="0">
                <a:solidFill>
                  <a:schemeClr val="accent6">
                    <a:lumMod val="60000"/>
                    <a:lumOff val="40000"/>
                  </a:schemeClr>
                </a:solidFill>
                <a:latin typeface="+mn-ea"/>
                <a:ea typeface="+mn-ea"/>
                <a:cs typeface="宋体" panose="02010600030101010101" pitchFamily="2" charset="-122"/>
              </a:rPr>
              <a:t>压摆</a:t>
            </a:r>
            <a:r>
              <a:rPr lang="zh-CN" altLang="en-US" dirty="0" smtClean="0">
                <a:solidFill>
                  <a:schemeClr val="accent6">
                    <a:lumMod val="60000"/>
                    <a:lumOff val="40000"/>
                  </a:schemeClr>
                </a:solidFill>
                <a:latin typeface="+mn-ea"/>
                <a:ea typeface="+mn-ea"/>
                <a:cs typeface="宋体" panose="02010600030101010101" pitchFamily="2" charset="-122"/>
              </a:rPr>
              <a:t>率</a:t>
            </a:r>
            <a:r>
              <a:rPr lang="zh-CN" altLang="en-US" dirty="0" smtClean="0">
                <a:latin typeface="+mn-ea"/>
                <a:ea typeface="+mn-ea"/>
                <a:cs typeface="宋体" panose="02010600030101010101" pitchFamily="2" charset="-122"/>
              </a:rPr>
              <a:t>是否满足系统的需求</a:t>
            </a:r>
            <a:endParaRPr lang="en-US" altLang="zh-CN" dirty="0" smtClean="0">
              <a:latin typeface="+mn-ea"/>
              <a:ea typeface="+mn-ea"/>
              <a:cs typeface="宋体" panose="02010600030101010101" pitchFamily="2" charset="-122"/>
            </a:endParaRPr>
          </a:p>
        </p:txBody>
      </p:sp>
    </p:spTree>
    <p:extLst>
      <p:ext uri="{BB962C8B-B14F-4D97-AF65-F5344CB8AC3E}">
        <p14:creationId xmlns:p14="http://schemas.microsoft.com/office/powerpoint/2010/main" val="41599968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35</a:t>
            </a:fld>
            <a:endParaRPr lang="en-US" altLang="zh-CN">
              <a:solidFill>
                <a:srgbClr val="FFFFFF"/>
              </a:solidFill>
            </a:endParaRPr>
          </a:p>
        </p:txBody>
      </p:sp>
      <p:sp>
        <p:nvSpPr>
          <p:cNvPr id="5" name="文本框 4"/>
          <p:cNvSpPr txBox="1"/>
          <p:nvPr/>
        </p:nvSpPr>
        <p:spPr>
          <a:xfrm>
            <a:off x="486229" y="418096"/>
            <a:ext cx="11241314" cy="5840060"/>
          </a:xfrm>
          <a:prstGeom prst="rect">
            <a:avLst/>
          </a:prstGeom>
          <a:noFill/>
        </p:spPr>
        <p:txBody>
          <a:bodyPr wrap="square" rtlCol="0">
            <a:spAutoFit/>
          </a:bodyPr>
          <a:lstStyle/>
          <a:p>
            <a:pPr>
              <a:lnSpc>
                <a:spcPct val="150000"/>
              </a:lnSpc>
            </a:pPr>
            <a:r>
              <a:rPr lang="zh-CN" altLang="zh-CN" dirty="0">
                <a:latin typeface="+mn-ea"/>
                <a:cs typeface="宋体" panose="02010600030101010101" pitchFamily="2" charset="-122"/>
              </a:rPr>
              <a:t>运放</a:t>
            </a:r>
            <a:r>
              <a:rPr lang="zh-CN" altLang="zh-CN" dirty="0" smtClean="0">
                <a:latin typeface="+mn-ea"/>
                <a:cs typeface="宋体" panose="02010600030101010101" pitchFamily="2" charset="-122"/>
              </a:rPr>
              <a:t>的</a:t>
            </a:r>
            <a:r>
              <a:rPr lang="zh-CN" altLang="en-US" dirty="0" smtClean="0">
                <a:solidFill>
                  <a:srgbClr val="FF0000"/>
                </a:solidFill>
                <a:latin typeface="+mn-ea"/>
                <a:cs typeface="宋体" panose="02010600030101010101" pitchFamily="2" charset="-122"/>
              </a:rPr>
              <a:t>频率特性</a:t>
            </a:r>
            <a:r>
              <a:rPr lang="en-US" altLang="zh-CN" dirty="0" smtClean="0">
                <a:solidFill>
                  <a:srgbClr val="FF0000"/>
                </a:solidFill>
                <a:latin typeface="+mn-ea"/>
                <a:cs typeface="宋体" panose="02010600030101010101" pitchFamily="2" charset="-122"/>
              </a:rPr>
              <a:t> </a:t>
            </a:r>
            <a:r>
              <a:rPr lang="en-US" altLang="zh-CN" dirty="0" smtClean="0">
                <a:latin typeface="+mn-ea"/>
                <a:cs typeface="宋体" panose="02010600030101010101" pitchFamily="2" charset="-122"/>
              </a:rPr>
              <a:t>—— </a:t>
            </a:r>
            <a:r>
              <a:rPr lang="zh-CN" altLang="en-US" dirty="0" smtClean="0"/>
              <a:t>电压</a:t>
            </a:r>
            <a:r>
              <a:rPr lang="zh-CN" altLang="en-US" dirty="0"/>
              <a:t>反馈型运放</a:t>
            </a:r>
            <a:endParaRPr lang="en-US" altLang="zh-CN" dirty="0"/>
          </a:p>
          <a:p>
            <a:pPr marL="360000" lvl="1" indent="-342900">
              <a:lnSpc>
                <a:spcPct val="150000"/>
              </a:lnSpc>
              <a:buFont typeface="Arial" panose="020B0604020202020204" pitchFamily="34" charset="0"/>
              <a:buChar char="•"/>
            </a:pPr>
            <a:r>
              <a:rPr lang="zh-CN" altLang="en-US" dirty="0" smtClean="0"/>
              <a:t>结构：差分放大器</a:t>
            </a:r>
            <a:r>
              <a:rPr lang="en-US" altLang="zh-CN" dirty="0"/>
              <a:t>+</a:t>
            </a:r>
            <a:r>
              <a:rPr lang="zh-CN" altLang="en-US" dirty="0"/>
              <a:t>共射</a:t>
            </a:r>
            <a:r>
              <a:rPr lang="en-US" altLang="zh-CN" dirty="0"/>
              <a:t>(</a:t>
            </a:r>
            <a:r>
              <a:rPr lang="zh-CN" altLang="en-US" dirty="0"/>
              <a:t>共源</a:t>
            </a:r>
            <a:r>
              <a:rPr lang="en-US" altLang="zh-CN" dirty="0"/>
              <a:t>)</a:t>
            </a:r>
            <a:r>
              <a:rPr lang="zh-CN" altLang="en-US" dirty="0" smtClean="0"/>
              <a:t>放大器，内部带有补偿电容</a:t>
            </a:r>
            <a:endParaRPr lang="en-US" altLang="zh-CN" dirty="0"/>
          </a:p>
          <a:p>
            <a:pPr marL="360000" lvl="1" indent="-342900">
              <a:lnSpc>
                <a:spcPct val="150000"/>
              </a:lnSpc>
              <a:buFont typeface="Arial" panose="020B0604020202020204" pitchFamily="34" charset="0"/>
              <a:buChar char="•"/>
            </a:pPr>
            <a:r>
              <a:rPr lang="zh-CN" altLang="en-US" dirty="0" smtClean="0"/>
              <a:t>大部分电压反馈型运放内部</a:t>
            </a:r>
            <a:r>
              <a:rPr lang="zh-CN" altLang="en-US" dirty="0"/>
              <a:t>有足够大的补偿电容，开环增益在</a:t>
            </a:r>
            <a:r>
              <a:rPr lang="en-US" altLang="zh-CN" dirty="0"/>
              <a:t>0dB</a:t>
            </a:r>
            <a:r>
              <a:rPr lang="zh-CN" altLang="en-US" dirty="0"/>
              <a:t>以上只有一个极点，闭环</a:t>
            </a:r>
            <a:r>
              <a:rPr lang="zh-CN" altLang="en-US" dirty="0" smtClean="0"/>
              <a:t>后的增益</a:t>
            </a:r>
            <a:r>
              <a:rPr lang="en-US" altLang="zh-CN" dirty="0" smtClean="0"/>
              <a:t>-</a:t>
            </a:r>
            <a:r>
              <a:rPr lang="zh-CN" altLang="en-US" dirty="0" smtClean="0"/>
              <a:t>带宽积（</a:t>
            </a:r>
            <a:r>
              <a:rPr lang="en-US" altLang="zh-CN" dirty="0" smtClean="0"/>
              <a:t>GBP</a:t>
            </a:r>
            <a:r>
              <a:rPr lang="zh-CN" altLang="en-US" dirty="0" smtClean="0"/>
              <a:t>）近似</a:t>
            </a:r>
            <a:r>
              <a:rPr lang="zh-CN" altLang="en-US" dirty="0"/>
              <a:t>为常数，选择运放时，须满足闭环增益与带宽的乘积</a:t>
            </a:r>
            <a:r>
              <a:rPr lang="zh-CN" altLang="en-US" dirty="0" smtClean="0"/>
              <a:t>要求</a:t>
            </a:r>
            <a:endParaRPr lang="en-US" altLang="zh-CN" dirty="0" smtClean="0"/>
          </a:p>
          <a:p>
            <a:pPr marL="360000" lvl="1" indent="-342900">
              <a:lnSpc>
                <a:spcPct val="150000"/>
              </a:lnSpc>
              <a:buFont typeface="Arial" panose="020B0604020202020204" pitchFamily="34" charset="0"/>
              <a:buChar char="•"/>
            </a:pPr>
            <a:endParaRPr lang="en-US" altLang="zh-CN" dirty="0"/>
          </a:p>
          <a:p>
            <a:pPr marL="360000" lvl="1" indent="-342900">
              <a:lnSpc>
                <a:spcPct val="150000"/>
              </a:lnSpc>
              <a:buFont typeface="Arial" panose="020B0604020202020204" pitchFamily="34" charset="0"/>
              <a:buChar char="•"/>
            </a:pPr>
            <a:endParaRPr lang="en-US" altLang="zh-CN" dirty="0" smtClean="0"/>
          </a:p>
          <a:p>
            <a:pPr marL="360000" lvl="1" indent="-342900">
              <a:lnSpc>
                <a:spcPct val="150000"/>
              </a:lnSpc>
              <a:buFont typeface="Arial" panose="020B0604020202020204" pitchFamily="34" charset="0"/>
              <a:buChar char="•"/>
            </a:pPr>
            <a:endParaRPr lang="en-US" altLang="zh-CN" dirty="0"/>
          </a:p>
          <a:p>
            <a:pPr marL="360000" lvl="1" indent="-342900">
              <a:lnSpc>
                <a:spcPct val="150000"/>
              </a:lnSpc>
              <a:buFont typeface="Arial" panose="020B0604020202020204" pitchFamily="34" charset="0"/>
              <a:buChar char="•"/>
            </a:pPr>
            <a:endParaRPr lang="en-US" altLang="zh-CN" dirty="0" smtClean="0"/>
          </a:p>
          <a:p>
            <a:pPr marL="360000" lvl="1" indent="-342900">
              <a:lnSpc>
                <a:spcPct val="150000"/>
              </a:lnSpc>
              <a:buFont typeface="Arial" panose="020B0604020202020204" pitchFamily="34" charset="0"/>
              <a:buChar char="•"/>
            </a:pPr>
            <a:endParaRPr lang="en-US" altLang="zh-CN" dirty="0"/>
          </a:p>
          <a:p>
            <a:pPr marL="360000" lvl="1" indent="-342900">
              <a:lnSpc>
                <a:spcPct val="150000"/>
              </a:lnSpc>
              <a:buFont typeface="Arial" panose="020B0604020202020204" pitchFamily="34" charset="0"/>
              <a:buChar char="•"/>
            </a:pPr>
            <a:endParaRPr lang="en-US" altLang="zh-CN" sz="900" dirty="0"/>
          </a:p>
          <a:p>
            <a:pPr marL="360000" lvl="1" indent="-342900">
              <a:lnSpc>
                <a:spcPct val="150000"/>
              </a:lnSpc>
              <a:buFont typeface="Arial" panose="020B0604020202020204" pitchFamily="34" charset="0"/>
              <a:buChar char="•"/>
            </a:pPr>
            <a:endParaRPr lang="en-US" altLang="zh-CN" dirty="0" smtClean="0"/>
          </a:p>
          <a:p>
            <a:pPr marL="360000" lvl="1" indent="-342900">
              <a:lnSpc>
                <a:spcPct val="150000"/>
              </a:lnSpc>
              <a:buFont typeface="Arial" panose="020B0604020202020204" pitchFamily="34" charset="0"/>
              <a:buChar char="•"/>
            </a:pPr>
            <a:r>
              <a:rPr lang="zh-CN" altLang="en-US" dirty="0" smtClean="0"/>
              <a:t>一</a:t>
            </a:r>
            <a:r>
              <a:rPr lang="zh-CN" altLang="en-US" dirty="0"/>
              <a:t>小部分电压反馈型运</a:t>
            </a:r>
            <a:r>
              <a:rPr lang="zh-CN" altLang="en-US" dirty="0" smtClean="0"/>
              <a:t>放为了提高</a:t>
            </a:r>
            <a:r>
              <a:rPr lang="en-US" altLang="zh-CN" dirty="0" smtClean="0"/>
              <a:t>GBP</a:t>
            </a:r>
            <a:r>
              <a:rPr lang="zh-CN" altLang="en-US" dirty="0" smtClean="0"/>
              <a:t>，故意减小内部的</a:t>
            </a:r>
            <a:r>
              <a:rPr lang="zh-CN" altLang="en-US" dirty="0"/>
              <a:t>补偿</a:t>
            </a:r>
            <a:r>
              <a:rPr lang="zh-CN" altLang="en-US" dirty="0" smtClean="0"/>
              <a:t>电容（例如</a:t>
            </a:r>
            <a:r>
              <a:rPr lang="en-US" altLang="zh-CN" dirty="0" smtClean="0"/>
              <a:t>LF357</a:t>
            </a:r>
            <a:r>
              <a:rPr lang="zh-CN" altLang="en-US" dirty="0" smtClean="0"/>
              <a:t>、</a:t>
            </a:r>
            <a:r>
              <a:rPr lang="en-US" altLang="zh-CN" dirty="0" smtClean="0"/>
              <a:t>OP37</a:t>
            </a:r>
            <a:r>
              <a:rPr lang="zh-CN" altLang="en-US" dirty="0" smtClean="0"/>
              <a:t>）</a:t>
            </a:r>
            <a:r>
              <a:rPr lang="en-US" altLang="zh-CN" dirty="0" smtClean="0"/>
              <a:t>,</a:t>
            </a:r>
            <a:r>
              <a:rPr lang="zh-CN" altLang="en-US" dirty="0" smtClean="0"/>
              <a:t>这种运放有</a:t>
            </a:r>
            <a:r>
              <a:rPr lang="zh-CN" altLang="en-US" dirty="0"/>
              <a:t>最低</a:t>
            </a:r>
            <a:r>
              <a:rPr lang="zh-CN" altLang="en-US" dirty="0" smtClean="0"/>
              <a:t>闭环增益</a:t>
            </a:r>
            <a:r>
              <a:rPr lang="zh-CN" altLang="en-US" dirty="0"/>
              <a:t>的</a:t>
            </a:r>
            <a:r>
              <a:rPr lang="zh-CN" altLang="en-US" dirty="0" smtClean="0"/>
              <a:t>限制，使用时须注意此特点</a:t>
            </a:r>
            <a:endParaRPr lang="en-US" altLang="zh-CN" dirty="0"/>
          </a:p>
        </p:txBody>
      </p:sp>
      <p:pic>
        <p:nvPicPr>
          <p:cNvPr id="6" name="图片 5"/>
          <p:cNvPicPr>
            <a:picLocks noChangeAspect="1"/>
          </p:cNvPicPr>
          <p:nvPr/>
        </p:nvPicPr>
        <p:blipFill>
          <a:blip r:embed="rId2"/>
          <a:stretch>
            <a:fillRect/>
          </a:stretch>
        </p:blipFill>
        <p:spPr>
          <a:xfrm>
            <a:off x="3946849" y="2488353"/>
            <a:ext cx="3411893" cy="2455287"/>
          </a:xfrm>
          <a:prstGeom prst="rect">
            <a:avLst/>
          </a:prstGeom>
        </p:spPr>
      </p:pic>
    </p:spTree>
    <p:extLst>
      <p:ext uri="{BB962C8B-B14F-4D97-AF65-F5344CB8AC3E}">
        <p14:creationId xmlns:p14="http://schemas.microsoft.com/office/powerpoint/2010/main" val="26003533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36</a:t>
            </a:fld>
            <a:endParaRPr lang="en-US" altLang="zh-CN">
              <a:solidFill>
                <a:srgbClr val="FFFFFF"/>
              </a:solidFill>
            </a:endParaRPr>
          </a:p>
        </p:txBody>
      </p:sp>
      <p:sp>
        <p:nvSpPr>
          <p:cNvPr id="5" name="文本框 4"/>
          <p:cNvSpPr txBox="1"/>
          <p:nvPr/>
        </p:nvSpPr>
        <p:spPr>
          <a:xfrm>
            <a:off x="500743" y="519696"/>
            <a:ext cx="11241314" cy="5170646"/>
          </a:xfrm>
          <a:prstGeom prst="rect">
            <a:avLst/>
          </a:prstGeom>
          <a:noFill/>
        </p:spPr>
        <p:txBody>
          <a:bodyPr wrap="square" rtlCol="0">
            <a:spAutoFit/>
          </a:bodyPr>
          <a:lstStyle/>
          <a:p>
            <a:pPr>
              <a:lnSpc>
                <a:spcPct val="150000"/>
              </a:lnSpc>
            </a:pPr>
            <a:r>
              <a:rPr lang="zh-CN" altLang="zh-CN" dirty="0">
                <a:latin typeface="+mn-ea"/>
                <a:cs typeface="宋体" panose="02010600030101010101" pitchFamily="2" charset="-122"/>
              </a:rPr>
              <a:t>运放的</a:t>
            </a:r>
            <a:r>
              <a:rPr lang="zh-CN" altLang="en-US" dirty="0">
                <a:solidFill>
                  <a:srgbClr val="FF0000"/>
                </a:solidFill>
                <a:latin typeface="+mn-ea"/>
                <a:cs typeface="宋体" panose="02010600030101010101" pitchFamily="2" charset="-122"/>
              </a:rPr>
              <a:t>频率特性</a:t>
            </a:r>
            <a:r>
              <a:rPr lang="en-US" altLang="zh-CN" dirty="0">
                <a:solidFill>
                  <a:srgbClr val="FF0000"/>
                </a:solidFill>
                <a:latin typeface="+mn-ea"/>
                <a:cs typeface="宋体" panose="02010600030101010101" pitchFamily="2" charset="-122"/>
              </a:rPr>
              <a:t> </a:t>
            </a:r>
            <a:r>
              <a:rPr lang="en-US" altLang="zh-CN" dirty="0" smtClean="0">
                <a:latin typeface="+mn-ea"/>
                <a:cs typeface="宋体" panose="02010600030101010101" pitchFamily="2" charset="-122"/>
              </a:rPr>
              <a:t>—— </a:t>
            </a:r>
            <a:r>
              <a:rPr lang="zh-CN" altLang="en-US" dirty="0" smtClean="0"/>
              <a:t>电流反馈</a:t>
            </a:r>
            <a:r>
              <a:rPr lang="zh-CN" altLang="en-US" dirty="0"/>
              <a:t>型运放</a:t>
            </a:r>
            <a:endParaRPr lang="en-US" altLang="zh-CN" dirty="0"/>
          </a:p>
          <a:p>
            <a:pPr marL="360000" lvl="1" indent="-342900">
              <a:lnSpc>
                <a:spcPct val="150000"/>
              </a:lnSpc>
              <a:buFont typeface="Arial" panose="020B0604020202020204" pitchFamily="34" charset="0"/>
              <a:buChar char="•"/>
            </a:pPr>
            <a:r>
              <a:rPr lang="zh-CN" altLang="en-US" dirty="0" smtClean="0"/>
              <a:t>结构：跟随</a:t>
            </a:r>
            <a:r>
              <a:rPr lang="zh-CN" altLang="en-US" dirty="0"/>
              <a:t>器</a:t>
            </a:r>
            <a:r>
              <a:rPr lang="en-US" altLang="zh-CN" dirty="0"/>
              <a:t>+</a:t>
            </a:r>
            <a:r>
              <a:rPr lang="zh-CN" altLang="en-US" dirty="0"/>
              <a:t>电流</a:t>
            </a:r>
            <a:r>
              <a:rPr lang="zh-CN" altLang="en-US" dirty="0" smtClean="0"/>
              <a:t>镜</a:t>
            </a:r>
            <a:endParaRPr lang="en-US" altLang="zh-CN" dirty="0"/>
          </a:p>
          <a:p>
            <a:pPr marL="360000" lvl="1" indent="-342900">
              <a:lnSpc>
                <a:spcPct val="150000"/>
              </a:lnSpc>
              <a:buFont typeface="Arial" panose="020B0604020202020204" pitchFamily="34" charset="0"/>
              <a:buChar char="•"/>
            </a:pPr>
            <a:r>
              <a:rPr lang="zh-CN" altLang="en-US" dirty="0" smtClean="0"/>
              <a:t>特点：带宽和</a:t>
            </a:r>
            <a:r>
              <a:rPr lang="zh-CN" altLang="en-US" dirty="0"/>
              <a:t>压摆率均很高（远高于电压反馈型运放），</a:t>
            </a:r>
            <a:r>
              <a:rPr lang="zh-CN" altLang="en-US" dirty="0" smtClean="0"/>
              <a:t>且受</a:t>
            </a:r>
            <a:r>
              <a:rPr lang="zh-CN" altLang="en-US" dirty="0"/>
              <a:t>闭环增益的</a:t>
            </a:r>
            <a:r>
              <a:rPr lang="zh-CN" altLang="en-US" dirty="0" smtClean="0"/>
              <a:t>影响很小</a:t>
            </a:r>
            <a:endParaRPr lang="en-US" altLang="zh-CN" dirty="0" smtClean="0"/>
          </a:p>
          <a:p>
            <a:pPr marL="360000" lvl="1" indent="-342900">
              <a:lnSpc>
                <a:spcPct val="150000"/>
              </a:lnSpc>
              <a:buFont typeface="Arial" panose="020B0604020202020204" pitchFamily="34" charset="0"/>
              <a:buChar char="•"/>
            </a:pPr>
            <a:endParaRPr lang="en-US" altLang="zh-CN" dirty="0" smtClean="0"/>
          </a:p>
          <a:p>
            <a:pPr marL="360000" lvl="1" indent="-342900">
              <a:lnSpc>
                <a:spcPct val="150000"/>
              </a:lnSpc>
              <a:buFont typeface="Arial" panose="020B0604020202020204" pitchFamily="34" charset="0"/>
              <a:buChar char="•"/>
            </a:pPr>
            <a:endParaRPr lang="en-US" altLang="zh-CN" dirty="0"/>
          </a:p>
          <a:p>
            <a:pPr marL="360000" lvl="1" indent="-342900">
              <a:lnSpc>
                <a:spcPct val="150000"/>
              </a:lnSpc>
              <a:buFont typeface="Arial" panose="020B0604020202020204" pitchFamily="34" charset="0"/>
              <a:buChar char="•"/>
            </a:pPr>
            <a:endParaRPr lang="en-US" altLang="zh-CN" dirty="0" smtClean="0"/>
          </a:p>
          <a:p>
            <a:pPr marL="360000" lvl="1" indent="-342900">
              <a:lnSpc>
                <a:spcPct val="150000"/>
              </a:lnSpc>
              <a:buFont typeface="Arial" panose="020B0604020202020204" pitchFamily="34" charset="0"/>
              <a:buChar char="•"/>
            </a:pPr>
            <a:endParaRPr lang="en-US" altLang="zh-CN" dirty="0"/>
          </a:p>
          <a:p>
            <a:pPr marL="360000" lvl="1" indent="-342900">
              <a:lnSpc>
                <a:spcPct val="150000"/>
              </a:lnSpc>
              <a:buFont typeface="Arial" panose="020B0604020202020204" pitchFamily="34" charset="0"/>
              <a:buChar char="•"/>
            </a:pPr>
            <a:endParaRPr lang="en-US" altLang="zh-CN" dirty="0" smtClean="0"/>
          </a:p>
          <a:p>
            <a:pPr marL="360000" lvl="1" indent="-342900">
              <a:lnSpc>
                <a:spcPct val="150000"/>
              </a:lnSpc>
              <a:buFont typeface="Arial" panose="020B0604020202020204" pitchFamily="34" charset="0"/>
              <a:buChar char="•"/>
            </a:pPr>
            <a:endParaRPr lang="en-US" altLang="zh-CN" dirty="0"/>
          </a:p>
          <a:p>
            <a:pPr marL="360000" lvl="1" indent="-342900">
              <a:lnSpc>
                <a:spcPct val="150000"/>
              </a:lnSpc>
              <a:buFont typeface="Arial" panose="020B0604020202020204" pitchFamily="34" charset="0"/>
              <a:buChar char="•"/>
            </a:pPr>
            <a:endParaRPr lang="en-US" altLang="zh-CN" dirty="0" smtClean="0"/>
          </a:p>
          <a:p>
            <a:pPr marL="360000" lvl="1" indent="-342900">
              <a:lnSpc>
                <a:spcPct val="150000"/>
              </a:lnSpc>
              <a:buFont typeface="Arial" panose="020B0604020202020204" pitchFamily="34" charset="0"/>
              <a:buChar char="•"/>
            </a:pPr>
            <a:r>
              <a:rPr lang="zh-CN" altLang="en-US" dirty="0" smtClean="0"/>
              <a:t>适用于高频场合，但要注意在应用中的限制，例如反馈电阻不能随便取值</a:t>
            </a:r>
            <a:endParaRPr lang="en-US" altLang="zh-CN" dirty="0"/>
          </a:p>
        </p:txBody>
      </p:sp>
      <p:pic>
        <p:nvPicPr>
          <p:cNvPr id="8" name="图片 7"/>
          <p:cNvPicPr/>
          <p:nvPr/>
        </p:nvPicPr>
        <p:blipFill>
          <a:blip r:embed="rId2"/>
          <a:stretch>
            <a:fillRect/>
          </a:stretch>
        </p:blipFill>
        <p:spPr>
          <a:xfrm>
            <a:off x="1233714" y="2077948"/>
            <a:ext cx="9717315" cy="2660968"/>
          </a:xfrm>
          <a:prstGeom prst="rect">
            <a:avLst/>
          </a:prstGeom>
        </p:spPr>
      </p:pic>
    </p:spTree>
    <p:extLst>
      <p:ext uri="{BB962C8B-B14F-4D97-AF65-F5344CB8AC3E}">
        <p14:creationId xmlns:p14="http://schemas.microsoft.com/office/powerpoint/2010/main" val="23950457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37</a:t>
            </a:fld>
            <a:endParaRPr lang="en-US" altLang="zh-CN">
              <a:solidFill>
                <a:srgbClr val="FFFFFF"/>
              </a:solidFill>
            </a:endParaRPr>
          </a:p>
        </p:txBody>
      </p:sp>
      <p:sp>
        <p:nvSpPr>
          <p:cNvPr id="6" name="矩形 5"/>
          <p:cNvSpPr/>
          <p:nvPr/>
        </p:nvSpPr>
        <p:spPr>
          <a:xfrm>
            <a:off x="413657" y="510066"/>
            <a:ext cx="11197772" cy="1938992"/>
          </a:xfrm>
          <a:prstGeom prst="rect">
            <a:avLst/>
          </a:prstGeom>
        </p:spPr>
        <p:txBody>
          <a:bodyPr wrap="square">
            <a:spAutoFit/>
          </a:bodyPr>
          <a:lstStyle/>
          <a:p>
            <a:pPr algn="just">
              <a:lnSpc>
                <a:spcPct val="150000"/>
              </a:lnSpc>
              <a:spcAft>
                <a:spcPts val="0"/>
              </a:spcAft>
            </a:pPr>
            <a:r>
              <a:rPr lang="zh-CN" altLang="zh-CN" dirty="0">
                <a:latin typeface="+mn-ea"/>
                <a:cs typeface="宋体" panose="02010600030101010101" pitchFamily="2" charset="-122"/>
              </a:rPr>
              <a:t>运放的输入输出</a:t>
            </a:r>
            <a:r>
              <a:rPr lang="zh-CN" altLang="zh-CN" dirty="0" smtClean="0">
                <a:solidFill>
                  <a:srgbClr val="FF0000"/>
                </a:solidFill>
                <a:latin typeface="+mn-ea"/>
                <a:cs typeface="宋体" panose="02010600030101010101" pitchFamily="2" charset="-122"/>
              </a:rPr>
              <a:t>动态范围</a:t>
            </a:r>
            <a:endParaRPr lang="en-US" altLang="zh-CN" dirty="0"/>
          </a:p>
          <a:p>
            <a:pPr marL="342900" indent="-342900">
              <a:lnSpc>
                <a:spcPct val="150000"/>
              </a:lnSpc>
              <a:buFont typeface="Arial" panose="020B0604020202020204" pitchFamily="34" charset="0"/>
              <a:buChar char="•"/>
            </a:pPr>
            <a:r>
              <a:rPr lang="zh-CN" altLang="en-US" dirty="0" smtClean="0">
                <a:latin typeface="+mn-ea"/>
                <a:ea typeface="+mn-ea"/>
              </a:rPr>
              <a:t>输入动态范围</a:t>
            </a:r>
            <a:r>
              <a:rPr lang="en-US" altLang="zh-CN" dirty="0" smtClean="0">
                <a:latin typeface="+mn-ea"/>
                <a:ea typeface="+mn-ea"/>
              </a:rPr>
              <a:t>——</a:t>
            </a:r>
            <a:r>
              <a:rPr lang="zh-CN" altLang="en-US" dirty="0" smtClean="0">
                <a:latin typeface="+mn-ea"/>
                <a:ea typeface="+mn-ea"/>
              </a:rPr>
              <a:t>共模输入范围，与运放内部结构有关，与电源电压有关</a:t>
            </a:r>
            <a:endParaRPr lang="en-US" altLang="zh-CN" dirty="0" smtClean="0">
              <a:latin typeface="+mn-ea"/>
              <a:ea typeface="+mn-ea"/>
            </a:endParaRPr>
          </a:p>
          <a:p>
            <a:pPr marL="342900" indent="-342900">
              <a:lnSpc>
                <a:spcPct val="150000"/>
              </a:lnSpc>
              <a:buFont typeface="Arial" panose="020B0604020202020204" pitchFamily="34" charset="0"/>
              <a:buChar char="•"/>
            </a:pPr>
            <a:r>
              <a:rPr lang="zh-CN" altLang="en-US" dirty="0" smtClean="0">
                <a:latin typeface="+mn-ea"/>
                <a:ea typeface="+mn-ea"/>
              </a:rPr>
              <a:t>输出动态范围</a:t>
            </a:r>
            <a:r>
              <a:rPr lang="en-US" altLang="zh-CN" dirty="0" smtClean="0">
                <a:latin typeface="+mn-ea"/>
                <a:ea typeface="+mn-ea"/>
              </a:rPr>
              <a:t>——</a:t>
            </a:r>
            <a:r>
              <a:rPr lang="zh-CN" altLang="en-US" dirty="0">
                <a:latin typeface="+mn-ea"/>
              </a:rPr>
              <a:t>与运放内部结构有关，</a:t>
            </a:r>
            <a:r>
              <a:rPr lang="zh-CN" altLang="en-US" dirty="0" smtClean="0">
                <a:latin typeface="+mn-ea"/>
                <a:ea typeface="+mn-ea"/>
              </a:rPr>
              <a:t>与电源电压有关，与负载大小有关</a:t>
            </a:r>
            <a:endParaRPr lang="en-US" altLang="zh-CN" dirty="0" smtClean="0">
              <a:latin typeface="+mn-ea"/>
              <a:ea typeface="+mn-ea"/>
            </a:endParaRPr>
          </a:p>
          <a:p>
            <a:pPr marL="342900" indent="-342900">
              <a:lnSpc>
                <a:spcPct val="150000"/>
              </a:lnSpc>
              <a:buFont typeface="Arial" panose="020B0604020202020204" pitchFamily="34" charset="0"/>
              <a:buChar char="•"/>
            </a:pPr>
            <a:endParaRPr lang="zh-CN" altLang="en-US" dirty="0">
              <a:latin typeface="+mn-ea"/>
              <a:ea typeface="+mn-ea"/>
            </a:endParaRPr>
          </a:p>
        </p:txBody>
      </p:sp>
      <p:pic>
        <p:nvPicPr>
          <p:cNvPr id="8" name="图片 7"/>
          <p:cNvPicPr>
            <a:picLocks noChangeAspect="1"/>
          </p:cNvPicPr>
          <p:nvPr/>
        </p:nvPicPr>
        <p:blipFill>
          <a:blip r:embed="rId2"/>
          <a:stretch>
            <a:fillRect/>
          </a:stretch>
        </p:blipFill>
        <p:spPr>
          <a:xfrm>
            <a:off x="2753128" y="2130046"/>
            <a:ext cx="8234188" cy="1697694"/>
          </a:xfrm>
          <a:prstGeom prst="rect">
            <a:avLst/>
          </a:prstGeom>
        </p:spPr>
      </p:pic>
      <p:pic>
        <p:nvPicPr>
          <p:cNvPr id="9" name="图片 8"/>
          <p:cNvPicPr>
            <a:picLocks noChangeAspect="1"/>
          </p:cNvPicPr>
          <p:nvPr/>
        </p:nvPicPr>
        <p:blipFill>
          <a:blip r:embed="rId3"/>
          <a:stretch>
            <a:fillRect/>
          </a:stretch>
        </p:blipFill>
        <p:spPr>
          <a:xfrm>
            <a:off x="3614909" y="4159070"/>
            <a:ext cx="7372407" cy="2034226"/>
          </a:xfrm>
          <a:prstGeom prst="rect">
            <a:avLst/>
          </a:prstGeom>
        </p:spPr>
      </p:pic>
      <p:sp>
        <p:nvSpPr>
          <p:cNvPr id="10" name="文本框 9"/>
          <p:cNvSpPr txBox="1"/>
          <p:nvPr/>
        </p:nvSpPr>
        <p:spPr>
          <a:xfrm>
            <a:off x="1523043" y="2778838"/>
            <a:ext cx="1211943" cy="400110"/>
          </a:xfrm>
          <a:prstGeom prst="rect">
            <a:avLst/>
          </a:prstGeom>
          <a:noFill/>
        </p:spPr>
        <p:txBody>
          <a:bodyPr wrap="square" rtlCol="0">
            <a:spAutoFit/>
          </a:bodyPr>
          <a:lstStyle/>
          <a:p>
            <a:r>
              <a:rPr lang="zh-CN" altLang="en-US" dirty="0" smtClean="0"/>
              <a:t>常规运放</a:t>
            </a:r>
            <a:endParaRPr lang="zh-CN" altLang="en-US" dirty="0"/>
          </a:p>
        </p:txBody>
      </p:sp>
      <p:sp>
        <p:nvSpPr>
          <p:cNvPr id="11" name="文本框 10"/>
          <p:cNvSpPr txBox="1"/>
          <p:nvPr/>
        </p:nvSpPr>
        <p:spPr>
          <a:xfrm>
            <a:off x="1523043" y="4900414"/>
            <a:ext cx="1966685" cy="400110"/>
          </a:xfrm>
          <a:prstGeom prst="rect">
            <a:avLst/>
          </a:prstGeom>
          <a:noFill/>
        </p:spPr>
        <p:txBody>
          <a:bodyPr wrap="square" rtlCol="0">
            <a:spAutoFit/>
          </a:bodyPr>
          <a:lstStyle/>
          <a:p>
            <a:r>
              <a:rPr lang="en-US" altLang="zh-CN" dirty="0" smtClean="0"/>
              <a:t>Rail-to-Rail</a:t>
            </a:r>
            <a:r>
              <a:rPr lang="zh-CN" altLang="en-US" dirty="0" smtClean="0"/>
              <a:t>运放</a:t>
            </a:r>
            <a:endParaRPr lang="zh-CN" altLang="en-US" dirty="0"/>
          </a:p>
        </p:txBody>
      </p:sp>
    </p:spTree>
    <p:extLst>
      <p:ext uri="{BB962C8B-B14F-4D97-AF65-F5344CB8AC3E}">
        <p14:creationId xmlns:p14="http://schemas.microsoft.com/office/powerpoint/2010/main" val="35055138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38</a:t>
            </a:fld>
            <a:endParaRPr lang="en-US" altLang="zh-CN">
              <a:solidFill>
                <a:srgbClr val="FFFFFF"/>
              </a:solidFill>
            </a:endParaRPr>
          </a:p>
        </p:txBody>
      </p:sp>
      <p:sp>
        <p:nvSpPr>
          <p:cNvPr id="5" name="矩形 4"/>
          <p:cNvSpPr/>
          <p:nvPr/>
        </p:nvSpPr>
        <p:spPr>
          <a:xfrm>
            <a:off x="471714" y="751236"/>
            <a:ext cx="4775200" cy="400110"/>
          </a:xfrm>
          <a:prstGeom prst="rect">
            <a:avLst/>
          </a:prstGeom>
        </p:spPr>
        <p:txBody>
          <a:bodyPr wrap="square">
            <a:spAutoFit/>
          </a:bodyPr>
          <a:lstStyle/>
          <a:p>
            <a:r>
              <a:rPr lang="en-US" altLang="zh-CN" dirty="0" smtClean="0">
                <a:latin typeface="+mj-ea"/>
                <a:ea typeface="+mj-ea"/>
              </a:rPr>
              <a:t>2</a:t>
            </a:r>
            <a:r>
              <a:rPr lang="zh-CN" altLang="en-US" dirty="0" smtClean="0">
                <a:latin typeface="+mj-ea"/>
                <a:ea typeface="+mj-ea"/>
              </a:rPr>
              <a:t>、如何防止运放自激？</a:t>
            </a:r>
            <a:endParaRPr lang="zh-CN" altLang="en-US" dirty="0">
              <a:latin typeface="+mj-ea"/>
              <a:ea typeface="+mj-ea"/>
            </a:endParaRPr>
          </a:p>
        </p:txBody>
      </p:sp>
      <p:sp>
        <p:nvSpPr>
          <p:cNvPr id="6" name="矩形 5"/>
          <p:cNvSpPr/>
          <p:nvPr/>
        </p:nvSpPr>
        <p:spPr>
          <a:xfrm>
            <a:off x="471714" y="1431723"/>
            <a:ext cx="11197772" cy="4708981"/>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zh-CN" dirty="0">
                <a:latin typeface="+mn-ea"/>
                <a:ea typeface="+mn-ea"/>
                <a:cs typeface="宋体" panose="02010600030101010101" pitchFamily="2" charset="-122"/>
              </a:rPr>
              <a:t>不完全补偿的</a:t>
            </a:r>
            <a:r>
              <a:rPr lang="zh-CN" altLang="en-US" dirty="0">
                <a:latin typeface="+mn-ea"/>
                <a:ea typeface="+mn-ea"/>
                <a:cs typeface="宋体" panose="02010600030101010101" pitchFamily="2" charset="-122"/>
              </a:rPr>
              <a:t>电压反馈型</a:t>
            </a:r>
            <a:r>
              <a:rPr lang="zh-CN" altLang="zh-CN" dirty="0">
                <a:latin typeface="+mn-ea"/>
                <a:ea typeface="+mn-ea"/>
                <a:cs typeface="宋体" panose="02010600030101010101" pitchFamily="2" charset="-122"/>
              </a:rPr>
              <a:t>运放</a:t>
            </a:r>
            <a:r>
              <a:rPr lang="zh-CN" altLang="en-US" dirty="0">
                <a:latin typeface="+mn-ea"/>
                <a:ea typeface="+mn-ea"/>
                <a:cs typeface="宋体" panose="02010600030101010101" pitchFamily="2" charset="-122"/>
              </a:rPr>
              <a:t>，</a:t>
            </a:r>
            <a:r>
              <a:rPr lang="zh-CN" altLang="zh-CN" dirty="0">
                <a:latin typeface="+mn-ea"/>
                <a:ea typeface="+mn-ea"/>
                <a:cs typeface="宋体" panose="02010600030101010101" pitchFamily="2" charset="-122"/>
              </a:rPr>
              <a:t>构成放大器时要满足最小稳定增益的限制，不可接成跟随器，也不可用电容反馈，否则就会自激</a:t>
            </a:r>
          </a:p>
          <a:p>
            <a:pPr marL="342900" indent="-342900" algn="just">
              <a:lnSpc>
                <a:spcPct val="150000"/>
              </a:lnSpc>
              <a:spcAft>
                <a:spcPts val="0"/>
              </a:spcAft>
              <a:buFont typeface="Arial" panose="020B0604020202020204" pitchFamily="34" charset="0"/>
              <a:buChar char="•"/>
            </a:pPr>
            <a:r>
              <a:rPr lang="zh-CN" altLang="zh-CN" dirty="0">
                <a:latin typeface="+mn-ea"/>
                <a:ea typeface="+mn-ea"/>
                <a:cs typeface="宋体" panose="02010600030101010101" pitchFamily="2" charset="-122"/>
              </a:rPr>
              <a:t>电流反馈型运放</a:t>
            </a:r>
            <a:r>
              <a:rPr lang="zh-CN" altLang="en-US" dirty="0">
                <a:latin typeface="+mn-ea"/>
                <a:ea typeface="+mn-ea"/>
                <a:cs typeface="宋体" panose="02010600030101010101" pitchFamily="2" charset="-122"/>
              </a:rPr>
              <a:t>，</a:t>
            </a:r>
            <a:r>
              <a:rPr lang="zh-CN" altLang="zh-CN" dirty="0">
                <a:latin typeface="+mn-ea"/>
                <a:ea typeface="+mn-ea"/>
                <a:cs typeface="宋体" panose="02010600030101010101" pitchFamily="2" charset="-122"/>
              </a:rPr>
              <a:t>反馈电阻有一个最佳值，不能随便选取，尤其不能短路或者用电容反馈，否则就会自激</a:t>
            </a:r>
          </a:p>
          <a:p>
            <a:pPr marL="342900" indent="-342900" algn="just">
              <a:lnSpc>
                <a:spcPct val="150000"/>
              </a:lnSpc>
              <a:spcAft>
                <a:spcPts val="0"/>
              </a:spcAft>
              <a:buFont typeface="Arial" panose="020B0604020202020204" pitchFamily="34" charset="0"/>
              <a:buChar char="•"/>
            </a:pPr>
            <a:r>
              <a:rPr lang="zh-CN" altLang="zh-CN" dirty="0">
                <a:latin typeface="+mn-ea"/>
                <a:ea typeface="+mn-ea"/>
                <a:cs typeface="宋体" panose="02010600030101010101" pitchFamily="2" charset="-122"/>
              </a:rPr>
              <a:t>容性负载</a:t>
            </a:r>
            <a:r>
              <a:rPr lang="zh-CN" altLang="en-US" dirty="0">
                <a:latin typeface="+mn-ea"/>
                <a:ea typeface="+mn-ea"/>
                <a:cs typeface="宋体" panose="02010600030101010101" pitchFamily="2" charset="-122"/>
              </a:rPr>
              <a:t>是</a:t>
            </a:r>
            <a:r>
              <a:rPr lang="zh-CN" altLang="zh-CN" dirty="0">
                <a:latin typeface="+mn-ea"/>
                <a:ea typeface="+mn-ea"/>
                <a:cs typeface="宋体" panose="02010600030101010101" pitchFamily="2" charset="-122"/>
              </a:rPr>
              <a:t>运放自激的重要原因</a:t>
            </a:r>
            <a:r>
              <a:rPr lang="zh-CN" altLang="en-US" dirty="0">
                <a:latin typeface="+mn-ea"/>
                <a:ea typeface="+mn-ea"/>
                <a:cs typeface="宋体" panose="02010600030101010101" pitchFamily="2" charset="-122"/>
              </a:rPr>
              <a:t>。</a:t>
            </a:r>
            <a:r>
              <a:rPr lang="zh-CN" altLang="zh-CN" dirty="0">
                <a:latin typeface="+mn-ea"/>
                <a:ea typeface="+mn-ea"/>
                <a:cs typeface="宋体" panose="02010600030101010101" pitchFamily="2" charset="-122"/>
              </a:rPr>
              <a:t>如果一定要驱动大容量的电容负载应当在运</a:t>
            </a:r>
            <a:r>
              <a:rPr lang="zh-CN" altLang="zh-CN" dirty="0" smtClean="0">
                <a:latin typeface="+mn-ea"/>
                <a:ea typeface="+mn-ea"/>
                <a:cs typeface="宋体" panose="02010600030101010101" pitchFamily="2" charset="-122"/>
              </a:rPr>
              <a:t>放</a:t>
            </a:r>
            <a:r>
              <a:rPr lang="zh-CN" altLang="en-US" dirty="0" smtClean="0">
                <a:latin typeface="+mn-ea"/>
                <a:ea typeface="+mn-ea"/>
                <a:cs typeface="宋体" panose="02010600030101010101" pitchFamily="2" charset="-122"/>
              </a:rPr>
              <a:t>电路中采取补偿措施</a:t>
            </a:r>
            <a:endParaRPr lang="en-US" altLang="zh-CN" dirty="0">
              <a:latin typeface="+mn-ea"/>
              <a:ea typeface="+mn-ea"/>
              <a:cs typeface="宋体" panose="02010600030101010101" pitchFamily="2" charset="-122"/>
            </a:endParaRPr>
          </a:p>
          <a:p>
            <a:pPr marL="342900" indent="-342900" algn="just">
              <a:lnSpc>
                <a:spcPct val="150000"/>
              </a:lnSpc>
              <a:spcAft>
                <a:spcPts val="0"/>
              </a:spcAft>
              <a:buFont typeface="Arial" panose="020B0604020202020204" pitchFamily="34" charset="0"/>
              <a:buChar char="•"/>
            </a:pPr>
            <a:r>
              <a:rPr lang="zh-CN" altLang="en-US" dirty="0">
                <a:latin typeface="+mn-ea"/>
                <a:ea typeface="+mn-ea"/>
                <a:cs typeface="宋体" panose="02010600030101010101" pitchFamily="2" charset="-122"/>
              </a:rPr>
              <a:t>反相输入端的大电容（例如微分电路）可能引起自激</a:t>
            </a:r>
            <a:endParaRPr lang="zh-CN" altLang="zh-CN" dirty="0">
              <a:latin typeface="+mn-ea"/>
              <a:ea typeface="+mn-ea"/>
              <a:cs typeface="宋体" panose="02010600030101010101" pitchFamily="2" charset="-122"/>
            </a:endParaRPr>
          </a:p>
          <a:p>
            <a:pPr marL="342900" indent="-342900">
              <a:lnSpc>
                <a:spcPct val="150000"/>
              </a:lnSpc>
              <a:spcAft>
                <a:spcPts val="0"/>
              </a:spcAft>
              <a:buFont typeface="Arial" panose="020B0604020202020204" pitchFamily="34" charset="0"/>
              <a:buChar char="•"/>
            </a:pPr>
            <a:r>
              <a:rPr lang="zh-CN" altLang="en-US" kern="100" dirty="0">
                <a:latin typeface="+mn-ea"/>
                <a:ea typeface="+mn-ea"/>
                <a:cs typeface="Times New Roman" panose="02020603050405020304" pitchFamily="18" charset="0"/>
              </a:rPr>
              <a:t>不合理的</a:t>
            </a:r>
            <a:r>
              <a:rPr lang="zh-CN" altLang="zh-CN" kern="100" dirty="0">
                <a:latin typeface="+mn-ea"/>
                <a:ea typeface="+mn-ea"/>
                <a:cs typeface="Times New Roman" panose="02020603050405020304" pitchFamily="18" charset="0"/>
              </a:rPr>
              <a:t>接地</a:t>
            </a:r>
            <a:r>
              <a:rPr lang="zh-CN" altLang="en-US" kern="100" dirty="0">
                <a:latin typeface="+mn-ea"/>
                <a:ea typeface="+mn-ea"/>
                <a:cs typeface="Times New Roman" panose="02020603050405020304" pitchFamily="18" charset="0"/>
              </a:rPr>
              <a:t>、</a:t>
            </a:r>
            <a:r>
              <a:rPr lang="zh-CN" altLang="zh-CN" dirty="0">
                <a:latin typeface="+mn-ea"/>
                <a:ea typeface="+mn-ea"/>
                <a:cs typeface="宋体" panose="02010600030101010101" pitchFamily="2" charset="-122"/>
              </a:rPr>
              <a:t>不合理的电源退耦</a:t>
            </a:r>
            <a:r>
              <a:rPr lang="zh-CN" altLang="en-US" dirty="0">
                <a:latin typeface="+mn-ea"/>
                <a:ea typeface="+mn-ea"/>
                <a:cs typeface="宋体" panose="02010600030101010101" pitchFamily="2" charset="-122"/>
              </a:rPr>
              <a:t>、</a:t>
            </a:r>
            <a:r>
              <a:rPr lang="zh-CN" altLang="en-US" kern="100" dirty="0">
                <a:latin typeface="+mn-ea"/>
                <a:ea typeface="+mn-ea"/>
                <a:cs typeface="Times New Roman" panose="02020603050405020304" pitchFamily="18" charset="0"/>
              </a:rPr>
              <a:t>以及不</a:t>
            </a:r>
            <a:r>
              <a:rPr lang="zh-CN" altLang="zh-CN" kern="100" dirty="0">
                <a:latin typeface="+mn-ea"/>
                <a:ea typeface="+mn-ea"/>
                <a:cs typeface="Times New Roman" panose="02020603050405020304" pitchFamily="18" charset="0"/>
              </a:rPr>
              <a:t>合理的印制板布局</a:t>
            </a:r>
            <a:r>
              <a:rPr lang="zh-CN" altLang="en-US" kern="100" dirty="0">
                <a:latin typeface="+mn-ea"/>
                <a:ea typeface="+mn-ea"/>
                <a:cs typeface="Times New Roman" panose="02020603050405020304" pitchFamily="18" charset="0"/>
              </a:rPr>
              <a:t>，均可能</a:t>
            </a:r>
            <a:r>
              <a:rPr lang="zh-CN" altLang="zh-CN" dirty="0">
                <a:latin typeface="+mn-ea"/>
                <a:cs typeface="宋体" panose="02010600030101010101" pitchFamily="2" charset="-122"/>
              </a:rPr>
              <a:t>引起放大器自激</a:t>
            </a:r>
            <a:endParaRPr lang="en-US" altLang="zh-CN" dirty="0">
              <a:latin typeface="+mn-ea"/>
              <a:cs typeface="宋体" panose="02010600030101010101" pitchFamily="2" charset="-122"/>
            </a:endParaRPr>
          </a:p>
          <a:p>
            <a:pPr marL="342900" indent="-342900">
              <a:lnSpc>
                <a:spcPct val="150000"/>
              </a:lnSpc>
              <a:buFont typeface="Arial" panose="020B0604020202020204" pitchFamily="34" charset="0"/>
              <a:buChar char="•"/>
            </a:pPr>
            <a:r>
              <a:rPr lang="zh-CN" altLang="zh-CN" dirty="0"/>
              <a:t>多级放大器要避免级间存在不需要的耦合</a:t>
            </a:r>
            <a:endParaRPr lang="en-US" altLang="zh-CN" dirty="0"/>
          </a:p>
          <a:p>
            <a:pPr marL="342900" indent="-342900">
              <a:lnSpc>
                <a:spcPct val="150000"/>
              </a:lnSpc>
              <a:buFont typeface="Arial" panose="020B0604020202020204" pitchFamily="34" charset="0"/>
              <a:buChar char="•"/>
            </a:pPr>
            <a:r>
              <a:rPr lang="zh-CN" altLang="en-US" dirty="0">
                <a:latin typeface="+mn-ea"/>
                <a:ea typeface="+mn-ea"/>
              </a:rPr>
              <a:t>正确的测量方法</a:t>
            </a:r>
            <a:r>
              <a:rPr lang="zh-CN" altLang="en-US" dirty="0" smtClean="0">
                <a:latin typeface="+mn-ea"/>
                <a:ea typeface="+mn-ea"/>
              </a:rPr>
              <a:t>至关重要，尤其在用示波器测量时要注意探头的影响</a:t>
            </a:r>
            <a:endParaRPr lang="zh-CN" altLang="en-US" dirty="0">
              <a:latin typeface="+mn-ea"/>
              <a:ea typeface="+mn-ea"/>
            </a:endParaRPr>
          </a:p>
        </p:txBody>
      </p:sp>
      <p:pic>
        <p:nvPicPr>
          <p:cNvPr id="7" name="图片 6"/>
          <p:cNvPicPr>
            <a:picLocks noChangeAspect="1"/>
          </p:cNvPicPr>
          <p:nvPr/>
        </p:nvPicPr>
        <p:blipFill>
          <a:blip r:embed="rId2"/>
          <a:stretch>
            <a:fillRect/>
          </a:stretch>
        </p:blipFill>
        <p:spPr>
          <a:xfrm>
            <a:off x="3288493" y="517772"/>
            <a:ext cx="967522" cy="867037"/>
          </a:xfrm>
          <a:prstGeom prst="rect">
            <a:avLst/>
          </a:prstGeom>
        </p:spPr>
      </p:pic>
    </p:spTree>
    <p:extLst>
      <p:ext uri="{BB962C8B-B14F-4D97-AF65-F5344CB8AC3E}">
        <p14:creationId xmlns:p14="http://schemas.microsoft.com/office/powerpoint/2010/main" val="22927591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39</a:t>
            </a:fld>
            <a:endParaRPr lang="en-US" altLang="zh-CN">
              <a:solidFill>
                <a:srgbClr val="FFFFFF"/>
              </a:solidFill>
            </a:endParaRPr>
          </a:p>
        </p:txBody>
      </p:sp>
      <p:sp>
        <p:nvSpPr>
          <p:cNvPr id="5" name="矩形 4"/>
          <p:cNvSpPr/>
          <p:nvPr/>
        </p:nvSpPr>
        <p:spPr>
          <a:xfrm>
            <a:off x="500743" y="472819"/>
            <a:ext cx="11320841" cy="3785652"/>
          </a:xfrm>
          <a:prstGeom prst="rect">
            <a:avLst/>
          </a:prstGeom>
        </p:spPr>
        <p:txBody>
          <a:bodyPr wrap="square">
            <a:spAutoFit/>
          </a:bodyPr>
          <a:lstStyle/>
          <a:p>
            <a:pPr marL="1270" algn="just">
              <a:lnSpc>
                <a:spcPct val="150000"/>
              </a:lnSpc>
              <a:spcAft>
                <a:spcPts val="0"/>
              </a:spcAft>
            </a:pPr>
            <a:r>
              <a:rPr lang="en-US" altLang="zh-CN" kern="100" dirty="0" smtClean="0">
                <a:latin typeface="+mj-ea"/>
                <a:ea typeface="+mj-ea"/>
              </a:rPr>
              <a:t>3</a:t>
            </a:r>
            <a:r>
              <a:rPr lang="zh-CN" altLang="en-US" kern="100" dirty="0" smtClean="0">
                <a:latin typeface="+mj-ea"/>
                <a:ea typeface="+mj-ea"/>
              </a:rPr>
              <a:t>、如何处理多余的运放</a:t>
            </a:r>
            <a:endParaRPr lang="en-US" altLang="zh-CN" kern="100" dirty="0">
              <a:latin typeface="+mj-ea"/>
              <a:ea typeface="+mj-ea"/>
            </a:endParaRPr>
          </a:p>
          <a:p>
            <a:pPr marL="344170" indent="-342900" algn="just">
              <a:lnSpc>
                <a:spcPct val="150000"/>
              </a:lnSpc>
              <a:spcAft>
                <a:spcPts val="0"/>
              </a:spcAft>
              <a:buFont typeface="Arial" panose="020B0604020202020204" pitchFamily="34" charset="0"/>
              <a:buChar char="•"/>
            </a:pPr>
            <a:r>
              <a:rPr lang="zh-CN" altLang="zh-CN" kern="100" dirty="0">
                <a:latin typeface="+mn-ea"/>
                <a:ea typeface="+mn-ea"/>
              </a:rPr>
              <a:t>在使用一个双运放或四运放时，可能只用了其中一部分，多余运放的处理主要是防止它产生自激</a:t>
            </a:r>
            <a:endParaRPr lang="en-US" altLang="zh-CN" kern="100" dirty="0">
              <a:latin typeface="+mn-ea"/>
              <a:ea typeface="+mn-ea"/>
            </a:endParaRPr>
          </a:p>
          <a:p>
            <a:pPr marL="344170" indent="-342900" algn="just">
              <a:lnSpc>
                <a:spcPct val="150000"/>
              </a:lnSpc>
              <a:spcAft>
                <a:spcPts val="0"/>
              </a:spcAft>
              <a:buFont typeface="Arial" panose="020B0604020202020204" pitchFamily="34" charset="0"/>
              <a:buChar char="•"/>
            </a:pPr>
            <a:r>
              <a:rPr lang="zh-CN" altLang="en-US" kern="100" dirty="0">
                <a:latin typeface="+mn-ea"/>
                <a:ea typeface="+mn-ea"/>
              </a:rPr>
              <a:t>对于完全补偿的电压反馈型运放，可</a:t>
            </a:r>
            <a:r>
              <a:rPr lang="zh-CN" altLang="zh-CN" kern="100" dirty="0">
                <a:latin typeface="+mn-ea"/>
                <a:ea typeface="+mn-ea"/>
              </a:rPr>
              <a:t>将它接成一个跟随器（反相输入端与输出连接），然后将同相输入端接地或</a:t>
            </a:r>
            <a:r>
              <a:rPr lang="zh-CN" altLang="en-US" kern="100" dirty="0">
                <a:latin typeface="+mn-ea"/>
                <a:ea typeface="+mn-ea"/>
              </a:rPr>
              <a:t>某个固定电位</a:t>
            </a:r>
            <a:r>
              <a:rPr lang="zh-CN" altLang="zh-CN" kern="100" dirty="0">
                <a:latin typeface="+mn-ea"/>
                <a:ea typeface="+mn-ea"/>
              </a:rPr>
              <a:t>，这样的做法能保证它不会自激</a:t>
            </a:r>
          </a:p>
          <a:p>
            <a:pPr marL="342900" indent="-342900">
              <a:lnSpc>
                <a:spcPct val="150000"/>
              </a:lnSpc>
              <a:buFont typeface="Arial" panose="020B0604020202020204" pitchFamily="34" charset="0"/>
              <a:buChar char="•"/>
            </a:pPr>
            <a:r>
              <a:rPr lang="zh-CN" altLang="en-US" dirty="0">
                <a:latin typeface="+mn-ea"/>
                <a:ea typeface="+mn-ea"/>
                <a:cs typeface="Times New Roman" panose="02020603050405020304" pitchFamily="18" charset="0"/>
              </a:rPr>
              <a:t>对于</a:t>
            </a:r>
            <a:r>
              <a:rPr lang="zh-CN" altLang="zh-CN" dirty="0">
                <a:latin typeface="+mn-ea"/>
                <a:ea typeface="+mn-ea"/>
                <a:cs typeface="Times New Roman" panose="02020603050405020304" pitchFamily="18" charset="0"/>
              </a:rPr>
              <a:t>不完全补偿</a:t>
            </a:r>
            <a:r>
              <a:rPr lang="zh-CN" altLang="en-US" dirty="0">
                <a:latin typeface="+mn-ea"/>
                <a:ea typeface="+mn-ea"/>
                <a:cs typeface="Times New Roman" panose="02020603050405020304" pitchFamily="18" charset="0"/>
              </a:rPr>
              <a:t>的运放，因为</a:t>
            </a:r>
            <a:r>
              <a:rPr lang="zh-CN" altLang="zh-CN" dirty="0">
                <a:latin typeface="+mn-ea"/>
                <a:ea typeface="+mn-ea"/>
                <a:cs typeface="Times New Roman" panose="02020603050405020304" pitchFamily="18" charset="0"/>
              </a:rPr>
              <a:t>有最小闭环增益的限制，要用两个电阻构成一个放大倍数足以保证稳定的放大器，然后将输入端接地或</a:t>
            </a:r>
            <a:r>
              <a:rPr lang="zh-CN" altLang="en-US" dirty="0">
                <a:latin typeface="+mn-ea"/>
                <a:ea typeface="+mn-ea"/>
                <a:cs typeface="Times New Roman" panose="02020603050405020304" pitchFamily="18" charset="0"/>
              </a:rPr>
              <a:t>某个固定电位</a:t>
            </a:r>
            <a:endParaRPr lang="en-US" altLang="zh-CN" dirty="0">
              <a:latin typeface="+mn-ea"/>
              <a:ea typeface="+mn-ea"/>
              <a:cs typeface="Times New Roman" panose="02020603050405020304" pitchFamily="18" charset="0"/>
            </a:endParaRPr>
          </a:p>
          <a:p>
            <a:pPr marL="342900" indent="-342900">
              <a:lnSpc>
                <a:spcPct val="150000"/>
              </a:lnSpc>
              <a:buFont typeface="Arial" panose="020B0604020202020204" pitchFamily="34" charset="0"/>
              <a:buChar char="•"/>
            </a:pPr>
            <a:r>
              <a:rPr lang="zh-CN" altLang="zh-CN" dirty="0">
                <a:latin typeface="+mn-ea"/>
                <a:ea typeface="+mn-ea"/>
                <a:cs typeface="Times New Roman" panose="02020603050405020304" pitchFamily="18" charset="0"/>
              </a:rPr>
              <a:t>对于电流反馈型运放，</a:t>
            </a:r>
            <a:r>
              <a:rPr lang="zh-CN" altLang="en-US" dirty="0">
                <a:latin typeface="+mn-ea"/>
                <a:ea typeface="+mn-ea"/>
                <a:cs typeface="Times New Roman" panose="02020603050405020304" pitchFamily="18" charset="0"/>
              </a:rPr>
              <a:t>可参照电压反馈型运放的做法，但</a:t>
            </a:r>
            <a:r>
              <a:rPr lang="zh-CN" altLang="zh-CN" dirty="0">
                <a:latin typeface="+mn-ea"/>
                <a:ea typeface="+mn-ea"/>
                <a:cs typeface="Times New Roman" panose="02020603050405020304" pitchFamily="18" charset="0"/>
              </a:rPr>
              <a:t>即使允许闭环增益为</a:t>
            </a:r>
            <a:r>
              <a:rPr lang="en-US" altLang="zh-CN" dirty="0">
                <a:latin typeface="+mn-ea"/>
                <a:ea typeface="+mn-ea"/>
              </a:rPr>
              <a:t>1</a:t>
            </a:r>
            <a:r>
              <a:rPr lang="zh-CN" altLang="zh-CN" dirty="0">
                <a:latin typeface="+mn-ea"/>
                <a:ea typeface="+mn-ea"/>
                <a:cs typeface="Times New Roman" panose="02020603050405020304" pitchFamily="18" charset="0"/>
              </a:rPr>
              <a:t>，也要接入反馈电阻，决不允许直接将输出与反相输入端直接连接</a:t>
            </a:r>
            <a:endParaRPr lang="zh-CN" altLang="en-US" dirty="0">
              <a:latin typeface="+mn-ea"/>
              <a:ea typeface="+mn-ea"/>
            </a:endParaRPr>
          </a:p>
        </p:txBody>
      </p:sp>
    </p:spTree>
    <p:extLst>
      <p:ext uri="{BB962C8B-B14F-4D97-AF65-F5344CB8AC3E}">
        <p14:creationId xmlns:p14="http://schemas.microsoft.com/office/powerpoint/2010/main" val="2816274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40</a:t>
            </a:fld>
            <a:endParaRPr lang="en-US" altLang="zh-CN">
              <a:solidFill>
                <a:srgbClr val="FFFFFF"/>
              </a:solidFill>
            </a:endParaRPr>
          </a:p>
        </p:txBody>
      </p:sp>
      <p:sp>
        <p:nvSpPr>
          <p:cNvPr id="5" name="矩形 4"/>
          <p:cNvSpPr/>
          <p:nvPr/>
        </p:nvSpPr>
        <p:spPr>
          <a:xfrm>
            <a:off x="485928" y="530500"/>
            <a:ext cx="11335657" cy="3785652"/>
          </a:xfrm>
          <a:prstGeom prst="rect">
            <a:avLst/>
          </a:prstGeom>
        </p:spPr>
        <p:txBody>
          <a:bodyPr wrap="square">
            <a:spAutoFit/>
          </a:bodyPr>
          <a:lstStyle/>
          <a:p>
            <a:pPr>
              <a:lnSpc>
                <a:spcPct val="150000"/>
              </a:lnSpc>
            </a:pPr>
            <a:r>
              <a:rPr lang="zh-CN" altLang="en-US" dirty="0">
                <a:solidFill>
                  <a:srgbClr val="FF0000"/>
                </a:solidFill>
                <a:latin typeface="+mj-ea"/>
                <a:ea typeface="+mj-ea"/>
              </a:rPr>
              <a:t>微弱信号放大器设计与制作中</a:t>
            </a:r>
            <a:r>
              <a:rPr lang="zh-CN" altLang="en-US" dirty="0" smtClean="0">
                <a:solidFill>
                  <a:srgbClr val="FF0000"/>
                </a:solidFill>
                <a:latin typeface="+mj-ea"/>
                <a:ea typeface="+mj-ea"/>
              </a:rPr>
              <a:t>的一些特殊技术</a:t>
            </a:r>
            <a:endParaRPr lang="en-US" altLang="zh-CN" dirty="0" smtClean="0">
              <a:solidFill>
                <a:srgbClr val="FF0000"/>
              </a:solidFill>
              <a:latin typeface="+mj-ea"/>
              <a:ea typeface="+mj-ea"/>
            </a:endParaRPr>
          </a:p>
          <a:p>
            <a:pPr marL="342900" indent="-342900">
              <a:lnSpc>
                <a:spcPct val="150000"/>
              </a:lnSpc>
              <a:buFont typeface="Wingdings" panose="05000000000000000000" pitchFamily="2" charset="2"/>
              <a:buChar char="l"/>
            </a:pPr>
            <a:r>
              <a:rPr lang="zh-CN" altLang="en-US" dirty="0" smtClean="0"/>
              <a:t>干扰信号的入侵途径</a:t>
            </a:r>
            <a:endParaRPr lang="en-US" altLang="zh-CN" dirty="0" smtClean="0"/>
          </a:p>
          <a:p>
            <a:pPr marL="702900" indent="-342900">
              <a:lnSpc>
                <a:spcPct val="150000"/>
              </a:lnSpc>
              <a:buFont typeface="Arial" panose="020B0604020202020204" pitchFamily="34" charset="0"/>
              <a:buChar char="•"/>
            </a:pPr>
            <a:r>
              <a:rPr lang="zh-CN" altLang="en-US" dirty="0" smtClean="0"/>
              <a:t>空间入侵（电磁波入侵、电场或磁场入侵）</a:t>
            </a:r>
            <a:endParaRPr lang="en-US" altLang="zh-CN" dirty="0" smtClean="0"/>
          </a:p>
          <a:p>
            <a:pPr marL="702900" indent="-342900">
              <a:lnSpc>
                <a:spcPct val="150000"/>
              </a:lnSpc>
              <a:buFont typeface="Arial" panose="020B0604020202020204" pitchFamily="34" charset="0"/>
              <a:buChar char="•"/>
            </a:pPr>
            <a:r>
              <a:rPr lang="zh-CN" altLang="en-US" dirty="0" smtClean="0"/>
              <a:t>电路入侵（包括电源入侵）</a:t>
            </a:r>
            <a:endParaRPr lang="en-US" altLang="zh-CN" dirty="0" smtClean="0"/>
          </a:p>
          <a:p>
            <a:pPr marL="342900" indent="-342900">
              <a:lnSpc>
                <a:spcPct val="150000"/>
              </a:lnSpc>
              <a:buFont typeface="Wingdings" panose="05000000000000000000" pitchFamily="2" charset="2"/>
              <a:buChar char="l"/>
            </a:pPr>
            <a:r>
              <a:rPr lang="zh-CN" altLang="en-US" dirty="0" smtClean="0"/>
              <a:t>抗干扰措施</a:t>
            </a:r>
            <a:endParaRPr lang="en-US" altLang="zh-CN" dirty="0" smtClean="0"/>
          </a:p>
          <a:p>
            <a:pPr marL="702900" indent="-342900">
              <a:lnSpc>
                <a:spcPct val="150000"/>
              </a:lnSpc>
              <a:buFont typeface="Arial" panose="020B0604020202020204" pitchFamily="34" charset="0"/>
              <a:buChar char="•"/>
            </a:pPr>
            <a:r>
              <a:rPr lang="zh-CN" altLang="en-US" dirty="0" smtClean="0"/>
              <a:t>屏蔽，对于空间电磁波与电场入侵有效</a:t>
            </a:r>
            <a:r>
              <a:rPr lang="en-US" altLang="zh-CN" dirty="0" smtClean="0"/>
              <a:t> </a:t>
            </a:r>
            <a:r>
              <a:rPr lang="zh-CN" altLang="en-US" dirty="0" smtClean="0"/>
              <a:t>，对于磁场入侵的效果有限</a:t>
            </a:r>
            <a:endParaRPr lang="en-US" altLang="zh-CN" dirty="0"/>
          </a:p>
          <a:p>
            <a:pPr marL="702900" indent="-342900">
              <a:lnSpc>
                <a:spcPct val="150000"/>
              </a:lnSpc>
              <a:buFont typeface="Arial" panose="020B0604020202020204" pitchFamily="34" charset="0"/>
              <a:buChar char="•"/>
            </a:pPr>
            <a:r>
              <a:rPr lang="zh-CN" altLang="en-US" dirty="0" smtClean="0"/>
              <a:t>差分传输与差分放大，对于空间电场与磁场入侵有效</a:t>
            </a:r>
            <a:endParaRPr lang="en-US" altLang="zh-CN" dirty="0"/>
          </a:p>
          <a:p>
            <a:pPr marL="702900" indent="-342900">
              <a:lnSpc>
                <a:spcPct val="150000"/>
              </a:lnSpc>
              <a:buFont typeface="Arial" panose="020B0604020202020204" pitchFamily="34" charset="0"/>
              <a:buChar char="•"/>
            </a:pPr>
            <a:r>
              <a:rPr lang="zh-CN" altLang="en-US" dirty="0"/>
              <a:t>共模</a:t>
            </a:r>
            <a:r>
              <a:rPr lang="zh-CN" altLang="en-US" dirty="0" smtClean="0"/>
              <a:t>滤波，对于电路入侵有效</a:t>
            </a:r>
            <a:endParaRPr lang="en-US" altLang="zh-CN" dirty="0"/>
          </a:p>
        </p:txBody>
      </p:sp>
      <p:graphicFrame>
        <p:nvGraphicFramePr>
          <p:cNvPr id="7" name="对象 6"/>
          <p:cNvGraphicFramePr>
            <a:graphicFrameLocks noChangeAspect="1"/>
          </p:cNvGraphicFramePr>
          <p:nvPr>
            <p:extLst>
              <p:ext uri="{D42A27DB-BD31-4B8C-83A1-F6EECF244321}">
                <p14:modId xmlns:p14="http://schemas.microsoft.com/office/powerpoint/2010/main" val="208450101"/>
              </p:ext>
            </p:extLst>
          </p:nvPr>
        </p:nvGraphicFramePr>
        <p:xfrm>
          <a:off x="1386112" y="4667460"/>
          <a:ext cx="3520822" cy="978597"/>
        </p:xfrm>
        <a:graphic>
          <a:graphicData uri="http://schemas.openxmlformats.org/presentationml/2006/ole">
            <mc:AlternateContent xmlns:mc="http://schemas.openxmlformats.org/markup-compatibility/2006">
              <mc:Choice xmlns:v="urn:schemas-microsoft-com:vml" Requires="v">
                <p:oleObj spid="_x0000_s8253" name="Visio" r:id="rId3" imgW="2101884" imgH="577882" progId="Visio.Drawing.15">
                  <p:embed/>
                </p:oleObj>
              </mc:Choice>
              <mc:Fallback>
                <p:oleObj name="Visio" r:id="rId3" imgW="2101884" imgH="577882"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6112" y="4667460"/>
                        <a:ext cx="3520822" cy="978597"/>
                      </a:xfrm>
                      <a:prstGeom prst="rect">
                        <a:avLst/>
                      </a:prstGeom>
                      <a:noFill/>
                    </p:spPr>
                  </p:pic>
                </p:oleObj>
              </mc:Fallback>
            </mc:AlternateContent>
          </a:graphicData>
        </a:graphic>
      </p:graphicFrame>
      <p:sp>
        <p:nvSpPr>
          <p:cNvPr id="8" name="文本框 7"/>
          <p:cNvSpPr txBox="1"/>
          <p:nvPr/>
        </p:nvSpPr>
        <p:spPr>
          <a:xfrm>
            <a:off x="2126343" y="5797310"/>
            <a:ext cx="1553028" cy="400110"/>
          </a:xfrm>
          <a:prstGeom prst="rect">
            <a:avLst/>
          </a:prstGeom>
          <a:noFill/>
        </p:spPr>
        <p:txBody>
          <a:bodyPr wrap="square" rtlCol="0">
            <a:spAutoFit/>
          </a:bodyPr>
          <a:lstStyle/>
          <a:p>
            <a:r>
              <a:rPr lang="zh-CN" altLang="en-US" dirty="0" smtClean="0"/>
              <a:t>电源滤波器</a:t>
            </a:r>
            <a:endParaRPr lang="zh-CN" altLang="en-US" dirty="0"/>
          </a:p>
        </p:txBody>
      </p:sp>
      <p:graphicFrame>
        <p:nvGraphicFramePr>
          <p:cNvPr id="10" name="对象 9"/>
          <p:cNvGraphicFramePr>
            <a:graphicFrameLocks noChangeAspect="1"/>
          </p:cNvGraphicFramePr>
          <p:nvPr>
            <p:extLst>
              <p:ext uri="{D42A27DB-BD31-4B8C-83A1-F6EECF244321}">
                <p14:modId xmlns:p14="http://schemas.microsoft.com/office/powerpoint/2010/main" val="2304560981"/>
              </p:ext>
            </p:extLst>
          </p:nvPr>
        </p:nvGraphicFramePr>
        <p:xfrm>
          <a:off x="6669314" y="4026110"/>
          <a:ext cx="3402107" cy="1771200"/>
        </p:xfrm>
        <a:graphic>
          <a:graphicData uri="http://schemas.openxmlformats.org/presentationml/2006/ole">
            <mc:AlternateContent xmlns:mc="http://schemas.openxmlformats.org/markup-compatibility/2006">
              <mc:Choice xmlns:v="urn:schemas-microsoft-com:vml" Requires="v">
                <p:oleObj spid="_x0000_s8254" name="Visio" r:id="rId5" imgW="2463783" imgH="1282481" progId="Visio.Drawing.15">
                  <p:embed/>
                </p:oleObj>
              </mc:Choice>
              <mc:Fallback>
                <p:oleObj name="Visio" r:id="rId5" imgW="2463783" imgH="1282481" progId="Visio.Drawing.15">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69314" y="4026110"/>
                        <a:ext cx="3402107" cy="1771200"/>
                      </a:xfrm>
                      <a:prstGeom prst="rect">
                        <a:avLst/>
                      </a:prstGeom>
                      <a:noFill/>
                    </p:spPr>
                  </p:pic>
                </p:oleObj>
              </mc:Fallback>
            </mc:AlternateContent>
          </a:graphicData>
        </a:graphic>
      </p:graphicFrame>
      <p:sp>
        <p:nvSpPr>
          <p:cNvPr id="11" name="矩形 10"/>
          <p:cNvSpPr/>
          <p:nvPr/>
        </p:nvSpPr>
        <p:spPr>
          <a:xfrm>
            <a:off x="6414475" y="5833654"/>
            <a:ext cx="3775393" cy="400110"/>
          </a:xfrm>
          <a:prstGeom prst="rect">
            <a:avLst/>
          </a:prstGeom>
        </p:spPr>
        <p:txBody>
          <a:bodyPr wrap="none">
            <a:spAutoFit/>
          </a:bodyPr>
          <a:lstStyle/>
          <a:p>
            <a:r>
              <a:rPr lang="zh-CN" altLang="zh-CN" dirty="0">
                <a:latin typeface="+mn-ea"/>
                <a:ea typeface="+mn-ea"/>
                <a:cs typeface="Times New Roman" panose="02020603050405020304" pitchFamily="18" charset="0"/>
              </a:rPr>
              <a:t>共模滤波器阻止环路干扰的例子</a:t>
            </a:r>
            <a:endParaRPr lang="zh-CN" altLang="en-US" dirty="0">
              <a:latin typeface="+mn-ea"/>
              <a:ea typeface="+mn-ea"/>
            </a:endParaRPr>
          </a:p>
        </p:txBody>
      </p:sp>
    </p:spTree>
    <p:extLst>
      <p:ext uri="{BB962C8B-B14F-4D97-AF65-F5344CB8AC3E}">
        <p14:creationId xmlns:p14="http://schemas.microsoft.com/office/powerpoint/2010/main" val="4507450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41</a:t>
            </a:fld>
            <a:endParaRPr lang="en-US" altLang="zh-CN">
              <a:solidFill>
                <a:srgbClr val="FFFFFF"/>
              </a:solidFill>
            </a:endParaRPr>
          </a:p>
        </p:txBody>
      </p:sp>
      <p:sp>
        <p:nvSpPr>
          <p:cNvPr id="5" name="矩形 4"/>
          <p:cNvSpPr/>
          <p:nvPr/>
        </p:nvSpPr>
        <p:spPr>
          <a:xfrm>
            <a:off x="406399" y="472443"/>
            <a:ext cx="11350171" cy="1015663"/>
          </a:xfrm>
          <a:prstGeom prst="rect">
            <a:avLst/>
          </a:prstGeom>
        </p:spPr>
        <p:txBody>
          <a:bodyPr wrap="square">
            <a:spAutoFit/>
          </a:bodyPr>
          <a:lstStyle/>
          <a:p>
            <a:pPr>
              <a:lnSpc>
                <a:spcPct val="150000"/>
              </a:lnSpc>
            </a:pPr>
            <a:r>
              <a:rPr lang="zh-CN" altLang="en-US" dirty="0" smtClean="0">
                <a:solidFill>
                  <a:srgbClr val="FF0000"/>
                </a:solidFill>
                <a:latin typeface="+mj-ea"/>
                <a:ea typeface="+mj-ea"/>
              </a:rPr>
              <a:t>精密</a:t>
            </a:r>
            <a:r>
              <a:rPr lang="zh-CN" altLang="en-US" dirty="0">
                <a:solidFill>
                  <a:srgbClr val="FF0000"/>
                </a:solidFill>
                <a:latin typeface="+mj-ea"/>
                <a:ea typeface="+mj-ea"/>
              </a:rPr>
              <a:t>测量电路设计与制作中</a:t>
            </a:r>
            <a:r>
              <a:rPr lang="zh-CN" altLang="en-US" dirty="0" smtClean="0">
                <a:solidFill>
                  <a:srgbClr val="FF0000"/>
                </a:solidFill>
                <a:latin typeface="+mj-ea"/>
                <a:ea typeface="+mj-ea"/>
              </a:rPr>
              <a:t>的一些特殊技术</a:t>
            </a:r>
            <a:endParaRPr lang="en-US" altLang="zh-CN" dirty="0" smtClean="0">
              <a:solidFill>
                <a:srgbClr val="FF0000"/>
              </a:solidFill>
              <a:latin typeface="+mj-ea"/>
              <a:ea typeface="+mj-ea"/>
            </a:endParaRPr>
          </a:p>
          <a:p>
            <a:pPr marL="342900" indent="-342900">
              <a:lnSpc>
                <a:spcPct val="150000"/>
              </a:lnSpc>
              <a:buFont typeface="Arial" panose="020B0604020202020204" pitchFamily="34" charset="0"/>
              <a:buChar char="•"/>
            </a:pPr>
            <a:r>
              <a:rPr lang="zh-CN" altLang="en-US" dirty="0" smtClean="0"/>
              <a:t>消除接触电阻与开关内阻的方法</a:t>
            </a:r>
            <a:endParaRPr lang="en-US" altLang="zh-CN" dirty="0"/>
          </a:p>
        </p:txBody>
      </p:sp>
      <p:graphicFrame>
        <p:nvGraphicFramePr>
          <p:cNvPr id="7" name="对象 6"/>
          <p:cNvGraphicFramePr>
            <a:graphicFrameLocks noChangeAspect="1"/>
          </p:cNvGraphicFramePr>
          <p:nvPr>
            <p:extLst>
              <p:ext uri="{D42A27DB-BD31-4B8C-83A1-F6EECF244321}">
                <p14:modId xmlns:p14="http://schemas.microsoft.com/office/powerpoint/2010/main" val="3158229929"/>
              </p:ext>
            </p:extLst>
          </p:nvPr>
        </p:nvGraphicFramePr>
        <p:xfrm>
          <a:off x="805541" y="1890909"/>
          <a:ext cx="2538479" cy="2710120"/>
        </p:xfrm>
        <a:graphic>
          <a:graphicData uri="http://schemas.openxmlformats.org/presentationml/2006/ole">
            <mc:AlternateContent xmlns:mc="http://schemas.openxmlformats.org/markup-compatibility/2006">
              <mc:Choice xmlns:v="urn:schemas-microsoft-com:vml" Requires="v">
                <p:oleObj spid="_x0000_s9249" name="Visio" r:id="rId3" imgW="1517564" imgH="1612964" progId="Visio.Drawing.15">
                  <p:embed/>
                </p:oleObj>
              </mc:Choice>
              <mc:Fallback>
                <p:oleObj name="Visio" r:id="rId3" imgW="1517564" imgH="1612964"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5541" y="1890909"/>
                        <a:ext cx="2538479" cy="2710120"/>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505487131"/>
              </p:ext>
            </p:extLst>
          </p:nvPr>
        </p:nvGraphicFramePr>
        <p:xfrm>
          <a:off x="4426253" y="1988457"/>
          <a:ext cx="6977879" cy="2492829"/>
        </p:xfrm>
        <a:graphic>
          <a:graphicData uri="http://schemas.openxmlformats.org/presentationml/2006/ole">
            <mc:AlternateContent xmlns:mc="http://schemas.openxmlformats.org/markup-compatibility/2006">
              <mc:Choice xmlns:v="urn:schemas-microsoft-com:vml" Requires="v">
                <p:oleObj spid="_x0000_s9250" name="Visio" r:id="rId5" imgW="4337222" imgH="1549374" progId="Visio.Drawing.11">
                  <p:embed/>
                </p:oleObj>
              </mc:Choice>
              <mc:Fallback>
                <p:oleObj name="Visio" r:id="rId5" imgW="4337222" imgH="1549374" progId="Visio.Drawing.11">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26253" y="1988457"/>
                        <a:ext cx="6977879" cy="2492829"/>
                      </a:xfrm>
                      <a:prstGeom prst="rect">
                        <a:avLst/>
                      </a:prstGeom>
                      <a:noFill/>
                    </p:spPr>
                  </p:pic>
                </p:oleObj>
              </mc:Fallback>
            </mc:AlternateContent>
          </a:graphicData>
        </a:graphic>
      </p:graphicFrame>
      <p:sp>
        <p:nvSpPr>
          <p:cNvPr id="10" name="文本框 9"/>
          <p:cNvSpPr txBox="1"/>
          <p:nvPr/>
        </p:nvSpPr>
        <p:spPr>
          <a:xfrm>
            <a:off x="1255486" y="4869543"/>
            <a:ext cx="10036628" cy="400110"/>
          </a:xfrm>
          <a:prstGeom prst="rect">
            <a:avLst/>
          </a:prstGeom>
          <a:noFill/>
        </p:spPr>
        <p:txBody>
          <a:bodyPr wrap="square" rtlCol="0">
            <a:spAutoFit/>
          </a:bodyPr>
          <a:lstStyle/>
          <a:p>
            <a:r>
              <a:rPr lang="zh-CN" altLang="en-US" dirty="0" smtClean="0"/>
              <a:t>     四端测量法                                                  用模拟开关改变放大器的增益</a:t>
            </a:r>
            <a:endParaRPr lang="zh-CN" altLang="en-US" dirty="0"/>
          </a:p>
        </p:txBody>
      </p:sp>
    </p:spTree>
    <p:extLst>
      <p:ext uri="{BB962C8B-B14F-4D97-AF65-F5344CB8AC3E}">
        <p14:creationId xmlns:p14="http://schemas.microsoft.com/office/powerpoint/2010/main" val="6795023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42</a:t>
            </a:fld>
            <a:endParaRPr lang="en-US" altLang="zh-CN">
              <a:solidFill>
                <a:srgbClr val="FFFFFF"/>
              </a:solidFill>
            </a:endParaRPr>
          </a:p>
        </p:txBody>
      </p:sp>
      <p:sp>
        <p:nvSpPr>
          <p:cNvPr id="5" name="矩形 4"/>
          <p:cNvSpPr/>
          <p:nvPr/>
        </p:nvSpPr>
        <p:spPr>
          <a:xfrm>
            <a:off x="457200" y="630888"/>
            <a:ext cx="4826563" cy="400110"/>
          </a:xfrm>
          <a:prstGeom prst="rect">
            <a:avLst/>
          </a:prstGeom>
        </p:spPr>
        <p:txBody>
          <a:bodyPr wrap="square">
            <a:spAutoFit/>
          </a:bodyPr>
          <a:lstStyle/>
          <a:p>
            <a:pPr marL="342900" indent="-342900">
              <a:buFont typeface="Arial" panose="020B0604020202020204" pitchFamily="34" charset="0"/>
              <a:buChar char="•"/>
            </a:pPr>
            <a:r>
              <a:rPr lang="zh-CN" altLang="zh-CN" kern="0" dirty="0">
                <a:solidFill>
                  <a:srgbClr val="444444"/>
                </a:solidFill>
                <a:ea typeface="黑体" panose="02010609060101010101" pitchFamily="49" charset="-122"/>
                <a:cs typeface="Tahoma" panose="020B0604030504040204" pitchFamily="34" charset="0"/>
              </a:rPr>
              <a:t>等电位保护</a:t>
            </a:r>
            <a:endParaRPr lang="zh-CN" altLang="en-US" dirty="0"/>
          </a:p>
        </p:txBody>
      </p:sp>
      <p:graphicFrame>
        <p:nvGraphicFramePr>
          <p:cNvPr id="7" name="对象 6"/>
          <p:cNvGraphicFramePr>
            <a:graphicFrameLocks noChangeAspect="1"/>
          </p:cNvGraphicFramePr>
          <p:nvPr>
            <p:extLst>
              <p:ext uri="{D42A27DB-BD31-4B8C-83A1-F6EECF244321}">
                <p14:modId xmlns:p14="http://schemas.microsoft.com/office/powerpoint/2010/main" val="2373916180"/>
              </p:ext>
            </p:extLst>
          </p:nvPr>
        </p:nvGraphicFramePr>
        <p:xfrm>
          <a:off x="2293256" y="1197427"/>
          <a:ext cx="5471887" cy="2193185"/>
        </p:xfrm>
        <a:graphic>
          <a:graphicData uri="http://schemas.openxmlformats.org/presentationml/2006/ole">
            <mc:AlternateContent xmlns:mc="http://schemas.openxmlformats.org/markup-compatibility/2006">
              <mc:Choice xmlns:v="urn:schemas-microsoft-com:vml" Requires="v">
                <p:oleObj spid="_x0000_s10257" name="Visio" r:id="rId3" imgW="3136608" imgH="1256952" progId="Visio.Drawing.15">
                  <p:embed/>
                </p:oleObj>
              </mc:Choice>
              <mc:Fallback>
                <p:oleObj name="Visio" r:id="rId3" imgW="3136608" imgH="1256952"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3256" y="1197427"/>
                        <a:ext cx="5471887" cy="2193185"/>
                      </a:xfrm>
                      <a:prstGeom prst="rect">
                        <a:avLst/>
                      </a:prstGeom>
                      <a:noFill/>
                    </p:spPr>
                  </p:pic>
                </p:oleObj>
              </mc:Fallback>
            </mc:AlternateContent>
          </a:graphicData>
        </a:graphic>
      </p:graphicFrame>
      <p:sp>
        <p:nvSpPr>
          <p:cNvPr id="8" name="矩形 7"/>
          <p:cNvSpPr/>
          <p:nvPr/>
        </p:nvSpPr>
        <p:spPr>
          <a:xfrm>
            <a:off x="457200" y="3896603"/>
            <a:ext cx="11255829" cy="1938992"/>
          </a:xfrm>
          <a:prstGeom prst="rect">
            <a:avLst/>
          </a:prstGeom>
        </p:spPr>
        <p:txBody>
          <a:bodyPr wrap="square">
            <a:spAutoFit/>
          </a:bodyPr>
          <a:lstStyle/>
          <a:p>
            <a:pPr marL="342900" indent="-342900">
              <a:lnSpc>
                <a:spcPct val="150000"/>
              </a:lnSpc>
              <a:buFont typeface="Arial" panose="020B0604020202020204" pitchFamily="34" charset="0"/>
              <a:buChar char="•"/>
            </a:pPr>
            <a:r>
              <a:rPr lang="zh-CN" altLang="en-US" dirty="0" smtClean="0"/>
              <a:t>电容器的介质吸收特性</a:t>
            </a:r>
            <a:endParaRPr lang="en-US" altLang="zh-CN" dirty="0" smtClean="0"/>
          </a:p>
          <a:p>
            <a:pPr marL="360000">
              <a:lnSpc>
                <a:spcPct val="150000"/>
              </a:lnSpc>
            </a:pPr>
            <a:r>
              <a:rPr lang="zh-CN" altLang="zh-CN" dirty="0"/>
              <a:t>将电容用于积分电路时，介质吸收导致积分器的输出不会</a:t>
            </a:r>
            <a:r>
              <a:rPr lang="zh-CN" altLang="zh-CN" dirty="0" smtClean="0"/>
              <a:t>归零</a:t>
            </a:r>
            <a:endParaRPr lang="en-US" altLang="zh-CN" dirty="0" smtClean="0"/>
          </a:p>
          <a:p>
            <a:pPr marL="360000">
              <a:lnSpc>
                <a:spcPct val="150000"/>
              </a:lnSpc>
            </a:pPr>
            <a:r>
              <a:rPr lang="zh-CN" altLang="zh-CN" dirty="0" smtClean="0"/>
              <a:t>将</a:t>
            </a:r>
            <a:r>
              <a:rPr lang="zh-CN" altLang="zh-CN" dirty="0"/>
              <a:t>电容用于</a:t>
            </a:r>
            <a:r>
              <a:rPr lang="en-US" altLang="zh-CN" dirty="0"/>
              <a:t>ADC</a:t>
            </a:r>
            <a:r>
              <a:rPr lang="zh-CN" altLang="zh-CN" dirty="0"/>
              <a:t>的采样保持电容时，介质吸收导致</a:t>
            </a:r>
            <a:r>
              <a:rPr lang="en-US" altLang="zh-CN" dirty="0"/>
              <a:t>ADC</a:t>
            </a:r>
            <a:r>
              <a:rPr lang="zh-CN" altLang="zh-CN" dirty="0"/>
              <a:t>的输出发生</a:t>
            </a:r>
            <a:r>
              <a:rPr lang="zh-CN" altLang="zh-CN" dirty="0" smtClean="0"/>
              <a:t>偏差</a:t>
            </a:r>
            <a:endParaRPr lang="zh-CN" altLang="zh-CN" dirty="0"/>
          </a:p>
          <a:p>
            <a:pPr marL="360000">
              <a:lnSpc>
                <a:spcPct val="150000"/>
              </a:lnSpc>
            </a:pPr>
            <a:r>
              <a:rPr lang="zh-CN" altLang="zh-CN" dirty="0" smtClean="0"/>
              <a:t>聚苯乙烯</a:t>
            </a:r>
            <a:r>
              <a:rPr lang="zh-CN" altLang="zh-CN" dirty="0"/>
              <a:t>电容有最小的介质吸收系数</a:t>
            </a:r>
            <a:r>
              <a:rPr lang="zh-CN" altLang="zh-CN" dirty="0" smtClean="0"/>
              <a:t>，是</a:t>
            </a:r>
            <a:r>
              <a:rPr lang="zh-CN" altLang="zh-CN" dirty="0"/>
              <a:t>精密测量电路中的</a:t>
            </a:r>
            <a:r>
              <a:rPr lang="zh-CN" altLang="zh-CN" dirty="0" smtClean="0"/>
              <a:t>首选</a:t>
            </a:r>
            <a:endParaRPr lang="zh-CN" altLang="en-US" dirty="0"/>
          </a:p>
        </p:txBody>
      </p:sp>
    </p:spTree>
    <p:extLst>
      <p:ext uri="{BB962C8B-B14F-4D97-AF65-F5344CB8AC3E}">
        <p14:creationId xmlns:p14="http://schemas.microsoft.com/office/powerpoint/2010/main" val="34213220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43</a:t>
            </a:fld>
            <a:endParaRPr lang="en-US" altLang="zh-CN">
              <a:solidFill>
                <a:srgbClr val="FFFFFF"/>
              </a:solidFill>
            </a:endParaRPr>
          </a:p>
        </p:txBody>
      </p:sp>
      <p:sp>
        <p:nvSpPr>
          <p:cNvPr id="5" name="矩形 4"/>
          <p:cNvSpPr/>
          <p:nvPr/>
        </p:nvSpPr>
        <p:spPr>
          <a:xfrm>
            <a:off x="362857" y="465186"/>
            <a:ext cx="11350172" cy="5632311"/>
          </a:xfrm>
          <a:prstGeom prst="rect">
            <a:avLst/>
          </a:prstGeom>
        </p:spPr>
        <p:txBody>
          <a:bodyPr wrap="square">
            <a:spAutoFit/>
          </a:bodyPr>
          <a:lstStyle/>
          <a:p>
            <a:pPr>
              <a:lnSpc>
                <a:spcPct val="150000"/>
              </a:lnSpc>
            </a:pPr>
            <a:r>
              <a:rPr lang="zh-CN" altLang="en-US" dirty="0" smtClean="0">
                <a:solidFill>
                  <a:srgbClr val="FF0000"/>
                </a:solidFill>
                <a:latin typeface="+mj-ea"/>
                <a:ea typeface="+mj-ea"/>
              </a:rPr>
              <a:t>如何</a:t>
            </a:r>
            <a:r>
              <a:rPr lang="zh-CN" altLang="en-US" dirty="0">
                <a:solidFill>
                  <a:srgbClr val="FF0000"/>
                </a:solidFill>
                <a:latin typeface="+mj-ea"/>
                <a:ea typeface="+mj-ea"/>
              </a:rPr>
              <a:t>调试一个电子系统</a:t>
            </a:r>
            <a:r>
              <a:rPr lang="zh-CN" altLang="en-US" dirty="0" smtClean="0">
                <a:solidFill>
                  <a:srgbClr val="FF0000"/>
                </a:solidFill>
                <a:latin typeface="+mj-ea"/>
                <a:ea typeface="+mj-ea"/>
              </a:rPr>
              <a:t>？</a:t>
            </a:r>
            <a:endParaRPr lang="en-US" altLang="zh-CN" dirty="0" smtClean="0">
              <a:solidFill>
                <a:srgbClr val="FF0000"/>
              </a:solidFill>
              <a:latin typeface="+mj-ea"/>
              <a:ea typeface="+mj-ea"/>
            </a:endParaRPr>
          </a:p>
          <a:p>
            <a:pPr marL="342900" indent="-342900">
              <a:lnSpc>
                <a:spcPct val="150000"/>
              </a:lnSpc>
              <a:buFont typeface="Arial" panose="020B0604020202020204" pitchFamily="34" charset="0"/>
              <a:buChar char="•"/>
            </a:pPr>
            <a:r>
              <a:rPr lang="zh-CN" altLang="en-US" dirty="0" smtClean="0"/>
              <a:t>熟悉</a:t>
            </a:r>
            <a:r>
              <a:rPr lang="zh-CN" altLang="zh-CN" dirty="0" smtClean="0"/>
              <a:t>实验室</a:t>
            </a:r>
            <a:r>
              <a:rPr lang="zh-CN" altLang="zh-CN" dirty="0"/>
              <a:t>常规的调试</a:t>
            </a:r>
            <a:r>
              <a:rPr lang="zh-CN" altLang="zh-CN" dirty="0" smtClean="0"/>
              <a:t>仪器</a:t>
            </a:r>
            <a:endParaRPr lang="en-US" altLang="zh-CN" dirty="0" smtClean="0"/>
          </a:p>
          <a:p>
            <a:pPr marL="720000" indent="-342900">
              <a:lnSpc>
                <a:spcPct val="150000"/>
              </a:lnSpc>
              <a:buFont typeface="Arial" panose="020B0604020202020204" pitchFamily="34" charset="0"/>
              <a:buChar char="•"/>
            </a:pPr>
            <a:r>
              <a:rPr lang="zh-CN" altLang="en-US" dirty="0" smtClean="0"/>
              <a:t>低频电路 </a:t>
            </a:r>
            <a:r>
              <a:rPr lang="en-US" altLang="zh-CN" dirty="0" smtClean="0"/>
              <a:t>—— </a:t>
            </a:r>
            <a:r>
              <a:rPr lang="zh-CN" altLang="zh-CN" dirty="0" smtClean="0"/>
              <a:t>信号</a:t>
            </a:r>
            <a:r>
              <a:rPr lang="zh-CN" altLang="zh-CN" dirty="0"/>
              <a:t>源（函数发生器）、示波器、万用表、直流稳压电源</a:t>
            </a:r>
            <a:r>
              <a:rPr lang="zh-CN" altLang="zh-CN" dirty="0" smtClean="0"/>
              <a:t>等</a:t>
            </a:r>
            <a:endParaRPr lang="en-US" altLang="zh-CN" dirty="0" smtClean="0"/>
          </a:p>
          <a:p>
            <a:pPr marL="720000" indent="-342900">
              <a:lnSpc>
                <a:spcPct val="150000"/>
              </a:lnSpc>
              <a:buFont typeface="Arial" panose="020B0604020202020204" pitchFamily="34" charset="0"/>
              <a:buChar char="•"/>
            </a:pPr>
            <a:r>
              <a:rPr lang="zh-CN" altLang="zh-CN" dirty="0" smtClean="0"/>
              <a:t>高频电路</a:t>
            </a:r>
            <a:r>
              <a:rPr lang="en-US" altLang="zh-CN" dirty="0" smtClean="0"/>
              <a:t> —— </a:t>
            </a:r>
            <a:r>
              <a:rPr lang="zh-CN" altLang="zh-CN" dirty="0" smtClean="0"/>
              <a:t>高频</a:t>
            </a:r>
            <a:r>
              <a:rPr lang="zh-CN" altLang="zh-CN" dirty="0"/>
              <a:t>信号源、频谱分析仪、网络分析仪</a:t>
            </a:r>
            <a:r>
              <a:rPr lang="zh-CN" altLang="zh-CN" dirty="0" smtClean="0"/>
              <a:t>等</a:t>
            </a:r>
            <a:endParaRPr lang="en-US" altLang="zh-CN" dirty="0" smtClean="0"/>
          </a:p>
          <a:p>
            <a:pPr marL="720000" indent="-342900">
              <a:lnSpc>
                <a:spcPct val="150000"/>
              </a:lnSpc>
              <a:buFont typeface="Arial" panose="020B0604020202020204" pitchFamily="34" charset="0"/>
              <a:buChar char="•"/>
            </a:pPr>
            <a:r>
              <a:rPr lang="zh-CN" altLang="zh-CN" dirty="0" smtClean="0"/>
              <a:t>精密电路</a:t>
            </a:r>
            <a:r>
              <a:rPr lang="en-US" altLang="zh-CN" dirty="0" smtClean="0"/>
              <a:t> —— </a:t>
            </a:r>
            <a:r>
              <a:rPr lang="zh-CN" altLang="zh-CN" dirty="0" smtClean="0"/>
              <a:t>高</a:t>
            </a:r>
            <a:r>
              <a:rPr lang="zh-CN" altLang="zh-CN" dirty="0"/>
              <a:t>精度的数字电压表、高稳定度的信号源等</a:t>
            </a:r>
          </a:p>
          <a:p>
            <a:pPr marL="342900" indent="-342900">
              <a:lnSpc>
                <a:spcPct val="150000"/>
              </a:lnSpc>
              <a:buFont typeface="Arial" panose="020B0604020202020204" pitchFamily="34" charset="0"/>
              <a:buChar char="•"/>
            </a:pPr>
            <a:r>
              <a:rPr lang="zh-CN" altLang="zh-CN" dirty="0" smtClean="0"/>
              <a:t>示波器</a:t>
            </a:r>
            <a:r>
              <a:rPr lang="zh-CN" altLang="zh-CN" dirty="0"/>
              <a:t>的</a:t>
            </a:r>
            <a:r>
              <a:rPr lang="zh-CN" altLang="zh-CN" dirty="0" smtClean="0"/>
              <a:t>使用</a:t>
            </a:r>
            <a:endParaRPr lang="zh-CN" altLang="zh-CN" dirty="0"/>
          </a:p>
          <a:p>
            <a:pPr marL="720000" indent="-342900">
              <a:lnSpc>
                <a:spcPct val="150000"/>
              </a:lnSpc>
              <a:buFont typeface="Arial" panose="020B0604020202020204" pitchFamily="34" charset="0"/>
              <a:buChar char="•"/>
            </a:pPr>
            <a:r>
              <a:rPr lang="zh-CN" altLang="zh-CN" dirty="0"/>
              <a:t>注意示波器的频响</a:t>
            </a:r>
          </a:p>
          <a:p>
            <a:pPr marL="720000" indent="-342900">
              <a:lnSpc>
                <a:spcPct val="150000"/>
              </a:lnSpc>
              <a:buFont typeface="Arial" panose="020B0604020202020204" pitchFamily="34" charset="0"/>
              <a:buChar char="•"/>
            </a:pPr>
            <a:r>
              <a:rPr lang="zh-CN" altLang="en-US" dirty="0"/>
              <a:t>注意</a:t>
            </a:r>
            <a:r>
              <a:rPr lang="zh-CN" altLang="zh-CN" dirty="0"/>
              <a:t>探头的频响</a:t>
            </a:r>
            <a:r>
              <a:rPr lang="zh-CN" altLang="en-US" dirty="0"/>
              <a:t>、以及探头阻抗对于被测电路的影响</a:t>
            </a:r>
            <a:endParaRPr lang="en-US" altLang="zh-CN" dirty="0"/>
          </a:p>
          <a:p>
            <a:pPr marL="720000" indent="-342900">
              <a:lnSpc>
                <a:spcPct val="150000"/>
              </a:lnSpc>
              <a:buFont typeface="Arial" panose="020B0604020202020204" pitchFamily="34" charset="0"/>
              <a:buChar char="•"/>
            </a:pPr>
            <a:r>
              <a:rPr lang="zh-CN" altLang="zh-CN" dirty="0"/>
              <a:t>探头</a:t>
            </a:r>
            <a:r>
              <a:rPr lang="zh-CN" altLang="en-US" dirty="0"/>
              <a:t>补偿电容的调节</a:t>
            </a:r>
            <a:endParaRPr lang="en-US" altLang="zh-CN" dirty="0"/>
          </a:p>
          <a:p>
            <a:pPr marL="720000" indent="-342900">
              <a:lnSpc>
                <a:spcPct val="150000"/>
              </a:lnSpc>
              <a:buFont typeface="Arial" panose="020B0604020202020204" pitchFamily="34" charset="0"/>
              <a:buChar char="•"/>
            </a:pPr>
            <a:r>
              <a:rPr lang="zh-CN" altLang="zh-CN" dirty="0"/>
              <a:t>探头的接地</a:t>
            </a:r>
            <a:endParaRPr lang="en-US" altLang="zh-CN" dirty="0"/>
          </a:p>
          <a:p>
            <a:pPr marL="720000" indent="-342900">
              <a:lnSpc>
                <a:spcPct val="150000"/>
              </a:lnSpc>
              <a:buFont typeface="Arial" panose="020B0604020202020204" pitchFamily="34" charset="0"/>
              <a:buChar char="•"/>
            </a:pPr>
            <a:r>
              <a:rPr lang="zh-CN" altLang="zh-CN" dirty="0" smtClean="0"/>
              <a:t>双</a:t>
            </a:r>
            <a:r>
              <a:rPr lang="zh-CN" altLang="zh-CN" dirty="0"/>
              <a:t>踪或四踪</a:t>
            </a:r>
            <a:r>
              <a:rPr lang="zh-CN" altLang="zh-CN" dirty="0" smtClean="0"/>
              <a:t>示波器观察</a:t>
            </a:r>
            <a:r>
              <a:rPr lang="zh-CN" altLang="zh-CN" dirty="0"/>
              <a:t>几个信号之间的相互</a:t>
            </a:r>
            <a:r>
              <a:rPr lang="zh-CN" altLang="zh-CN" dirty="0" smtClean="0"/>
              <a:t>关系</a:t>
            </a:r>
            <a:r>
              <a:rPr lang="zh-CN" altLang="en-US" dirty="0"/>
              <a:t>时</a:t>
            </a:r>
            <a:r>
              <a:rPr lang="zh-CN" altLang="zh-CN" dirty="0" smtClean="0"/>
              <a:t>，选择</a:t>
            </a:r>
            <a:r>
              <a:rPr lang="zh-CN" altLang="zh-CN" dirty="0"/>
              <a:t>其中频率最低的那个作为触发</a:t>
            </a:r>
            <a:r>
              <a:rPr lang="zh-CN" altLang="zh-CN" dirty="0" smtClean="0"/>
              <a:t>信号</a:t>
            </a:r>
            <a:endParaRPr lang="zh-CN" altLang="zh-CN" dirty="0"/>
          </a:p>
          <a:p>
            <a:pPr marL="720000" indent="-342900">
              <a:lnSpc>
                <a:spcPct val="150000"/>
              </a:lnSpc>
              <a:buFont typeface="Arial" panose="020B0604020202020204" pitchFamily="34" charset="0"/>
              <a:buChar char="•"/>
            </a:pPr>
            <a:r>
              <a:rPr lang="zh-CN" altLang="zh-CN" dirty="0" smtClean="0"/>
              <a:t>慎</a:t>
            </a:r>
            <a:r>
              <a:rPr lang="zh-CN" altLang="zh-CN" dirty="0"/>
              <a:t>用</a:t>
            </a:r>
            <a:r>
              <a:rPr lang="en-US" altLang="zh-CN" dirty="0" smtClean="0"/>
              <a:t>Auto </a:t>
            </a:r>
            <a:r>
              <a:rPr lang="en-US" altLang="zh-CN" dirty="0"/>
              <a:t>Set</a:t>
            </a:r>
            <a:r>
              <a:rPr lang="zh-CN" altLang="zh-CN" dirty="0" smtClean="0"/>
              <a:t>按钮</a:t>
            </a:r>
            <a:endParaRPr lang="zh-CN" altLang="zh-CN" dirty="0"/>
          </a:p>
        </p:txBody>
      </p:sp>
    </p:spTree>
    <p:extLst>
      <p:ext uri="{BB962C8B-B14F-4D97-AF65-F5344CB8AC3E}">
        <p14:creationId xmlns:p14="http://schemas.microsoft.com/office/powerpoint/2010/main" val="42680132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44</a:t>
            </a:fld>
            <a:endParaRPr lang="en-US" altLang="zh-CN">
              <a:solidFill>
                <a:srgbClr val="FFFFFF"/>
              </a:solidFill>
            </a:endParaRPr>
          </a:p>
        </p:txBody>
      </p:sp>
      <p:sp>
        <p:nvSpPr>
          <p:cNvPr id="5" name="矩形 4"/>
          <p:cNvSpPr/>
          <p:nvPr/>
        </p:nvSpPr>
        <p:spPr>
          <a:xfrm>
            <a:off x="362857" y="465186"/>
            <a:ext cx="11350172" cy="5632311"/>
          </a:xfrm>
          <a:prstGeom prst="rect">
            <a:avLst/>
          </a:prstGeom>
        </p:spPr>
        <p:txBody>
          <a:bodyPr wrap="square">
            <a:spAutoFit/>
          </a:bodyPr>
          <a:lstStyle/>
          <a:p>
            <a:pPr marL="342900" indent="-342900">
              <a:lnSpc>
                <a:spcPct val="150000"/>
              </a:lnSpc>
              <a:buFont typeface="Arial" panose="020B0604020202020204" pitchFamily="34" charset="0"/>
              <a:buChar char="•"/>
            </a:pPr>
            <a:r>
              <a:rPr lang="zh-CN" altLang="en-US" dirty="0" smtClean="0"/>
              <a:t>调试前的准备</a:t>
            </a:r>
            <a:endParaRPr lang="en-US" altLang="zh-CN" dirty="0" smtClean="0"/>
          </a:p>
          <a:p>
            <a:pPr marL="377100">
              <a:lnSpc>
                <a:spcPct val="150000"/>
              </a:lnSpc>
            </a:pPr>
            <a:r>
              <a:rPr lang="en-US" altLang="zh-CN" dirty="0" smtClean="0"/>
              <a:t>1</a:t>
            </a:r>
            <a:r>
              <a:rPr lang="zh-CN" altLang="en-US" dirty="0" smtClean="0"/>
              <a:t>、熟悉被调试对象的整个工作原理</a:t>
            </a:r>
            <a:endParaRPr lang="en-US" altLang="zh-CN" dirty="0" smtClean="0"/>
          </a:p>
          <a:p>
            <a:pPr marL="377100">
              <a:lnSpc>
                <a:spcPct val="150000"/>
              </a:lnSpc>
            </a:pPr>
            <a:r>
              <a:rPr lang="en-US" altLang="zh-CN" dirty="0" smtClean="0"/>
              <a:t>2</a:t>
            </a:r>
            <a:r>
              <a:rPr lang="zh-CN" altLang="en-US" dirty="0" smtClean="0"/>
              <a:t>、有</a:t>
            </a:r>
            <a:r>
              <a:rPr lang="zh-CN" altLang="en-US" dirty="0"/>
              <a:t>完整的电路图</a:t>
            </a:r>
            <a:r>
              <a:rPr lang="zh-CN" altLang="en-US" dirty="0" smtClean="0"/>
              <a:t>，在电路图上标记测试点</a:t>
            </a:r>
            <a:endParaRPr lang="en-US" altLang="zh-CN" dirty="0" smtClean="0"/>
          </a:p>
          <a:p>
            <a:pPr marL="377100">
              <a:lnSpc>
                <a:spcPct val="150000"/>
              </a:lnSpc>
            </a:pPr>
            <a:r>
              <a:rPr lang="en-US" altLang="zh-CN" dirty="0" smtClean="0"/>
              <a:t>3</a:t>
            </a:r>
            <a:r>
              <a:rPr lang="zh-CN" altLang="en-US" dirty="0" smtClean="0"/>
              <a:t>、列</a:t>
            </a:r>
            <a:r>
              <a:rPr lang="zh-CN" altLang="en-US" dirty="0"/>
              <a:t>一个简单的表格，列出测试步骤以及各测试点的期望参数值</a:t>
            </a:r>
            <a:endParaRPr lang="en-US" altLang="zh-CN" dirty="0" smtClean="0"/>
          </a:p>
          <a:p>
            <a:pPr marL="1800000">
              <a:lnSpc>
                <a:spcPct val="150000"/>
              </a:lnSpc>
              <a:spcBef>
                <a:spcPts val="1800"/>
              </a:spcBef>
              <a:spcAft>
                <a:spcPts val="1800"/>
              </a:spcAft>
            </a:pPr>
            <a:r>
              <a:rPr lang="zh-CN" altLang="en-US" dirty="0" smtClean="0"/>
              <a:t>以上三步调试前的准备工作，做好了有事半功倍的效果</a:t>
            </a:r>
            <a:endParaRPr lang="en-US" altLang="zh-CN" dirty="0" smtClean="0"/>
          </a:p>
          <a:p>
            <a:pPr indent="-342900">
              <a:lnSpc>
                <a:spcPct val="150000"/>
              </a:lnSpc>
              <a:buFont typeface="Arial" panose="020B0604020202020204" pitchFamily="34" charset="0"/>
              <a:buChar char="•"/>
            </a:pPr>
            <a:endParaRPr lang="en-US" altLang="zh-CN" dirty="0" smtClean="0"/>
          </a:p>
          <a:p>
            <a:pPr indent="-342900">
              <a:lnSpc>
                <a:spcPct val="150000"/>
              </a:lnSpc>
              <a:buFont typeface="Arial" panose="020B0604020202020204" pitchFamily="34" charset="0"/>
              <a:buChar char="•"/>
            </a:pPr>
            <a:r>
              <a:rPr lang="zh-CN" altLang="en-US" dirty="0" smtClean="0"/>
              <a:t>调试步骤</a:t>
            </a:r>
            <a:endParaRPr lang="en-US" altLang="zh-CN" dirty="0" smtClean="0"/>
          </a:p>
          <a:p>
            <a:pPr marL="377100">
              <a:lnSpc>
                <a:spcPct val="150000"/>
              </a:lnSpc>
            </a:pPr>
            <a:r>
              <a:rPr lang="en-US" altLang="zh-CN" dirty="0" smtClean="0"/>
              <a:t>1</a:t>
            </a:r>
            <a:r>
              <a:rPr lang="zh-CN" altLang="en-US" dirty="0" smtClean="0"/>
              <a:t>、检查电源是否正常。如果电路中有多个电源，必须每个都检查</a:t>
            </a:r>
            <a:endParaRPr lang="en-US" altLang="zh-CN" dirty="0" smtClean="0"/>
          </a:p>
          <a:p>
            <a:pPr marL="377100">
              <a:lnSpc>
                <a:spcPct val="150000"/>
              </a:lnSpc>
            </a:pPr>
            <a:r>
              <a:rPr lang="en-US" altLang="zh-CN" dirty="0" smtClean="0"/>
              <a:t>2</a:t>
            </a:r>
            <a:r>
              <a:rPr lang="zh-CN" altLang="en-US" dirty="0" smtClean="0"/>
              <a:t>、在不加入激励的情况下，检查电路电路是否稳定（无自激振荡）。振荡器电路忽略此步骤</a:t>
            </a:r>
            <a:endParaRPr lang="en-US" altLang="zh-CN" dirty="0" smtClean="0"/>
          </a:p>
          <a:p>
            <a:pPr marL="377100">
              <a:lnSpc>
                <a:spcPct val="150000"/>
              </a:lnSpc>
            </a:pPr>
            <a:r>
              <a:rPr lang="en-US" altLang="zh-CN" dirty="0" smtClean="0"/>
              <a:t>3</a:t>
            </a:r>
            <a:r>
              <a:rPr lang="zh-CN" altLang="en-US" dirty="0" smtClean="0"/>
              <a:t>、加入激励信号，按照</a:t>
            </a:r>
            <a:r>
              <a:rPr lang="zh-CN" altLang="en-US" dirty="0"/>
              <a:t>前面</a:t>
            </a:r>
            <a:r>
              <a:rPr lang="zh-CN" altLang="en-US" dirty="0" smtClean="0"/>
              <a:t>规划好的测试步骤，检查并记录各测试点的参数。若一切正常则通过测试，否则进入故障排除进程</a:t>
            </a:r>
            <a:endParaRPr lang="en-US" altLang="zh-CN" dirty="0" smtClean="0"/>
          </a:p>
        </p:txBody>
      </p:sp>
      <p:pic>
        <p:nvPicPr>
          <p:cNvPr id="6" name="图片 5"/>
          <p:cNvPicPr>
            <a:picLocks noChangeAspect="1"/>
          </p:cNvPicPr>
          <p:nvPr/>
        </p:nvPicPr>
        <p:blipFill>
          <a:blip r:embed="rId2"/>
          <a:stretch>
            <a:fillRect/>
          </a:stretch>
        </p:blipFill>
        <p:spPr>
          <a:xfrm>
            <a:off x="1191179" y="2386157"/>
            <a:ext cx="967522" cy="867037"/>
          </a:xfrm>
          <a:prstGeom prst="rect">
            <a:avLst/>
          </a:prstGeom>
        </p:spPr>
      </p:pic>
    </p:spTree>
    <p:extLst>
      <p:ext uri="{BB962C8B-B14F-4D97-AF65-F5344CB8AC3E}">
        <p14:creationId xmlns:p14="http://schemas.microsoft.com/office/powerpoint/2010/main" val="42460335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45</a:t>
            </a:fld>
            <a:endParaRPr lang="en-US" altLang="zh-CN">
              <a:solidFill>
                <a:srgbClr val="FFFFFF"/>
              </a:solidFill>
            </a:endParaRPr>
          </a:p>
        </p:txBody>
      </p:sp>
      <p:sp>
        <p:nvSpPr>
          <p:cNvPr id="5" name="矩形 4"/>
          <p:cNvSpPr/>
          <p:nvPr/>
        </p:nvSpPr>
        <p:spPr>
          <a:xfrm>
            <a:off x="431801" y="501472"/>
            <a:ext cx="11310256" cy="5632311"/>
          </a:xfrm>
          <a:prstGeom prst="rect">
            <a:avLst/>
          </a:prstGeom>
        </p:spPr>
        <p:txBody>
          <a:bodyPr wrap="square">
            <a:spAutoFit/>
          </a:bodyPr>
          <a:lstStyle/>
          <a:p>
            <a:pPr>
              <a:lnSpc>
                <a:spcPct val="150000"/>
              </a:lnSpc>
            </a:pPr>
            <a:r>
              <a:rPr lang="zh-CN" altLang="en-US" dirty="0" smtClean="0">
                <a:solidFill>
                  <a:srgbClr val="FF0000"/>
                </a:solidFill>
                <a:latin typeface="+mj-ea"/>
                <a:ea typeface="+mj-ea"/>
              </a:rPr>
              <a:t>如何</a:t>
            </a:r>
            <a:r>
              <a:rPr lang="zh-CN" altLang="en-US" dirty="0">
                <a:solidFill>
                  <a:srgbClr val="FF0000"/>
                </a:solidFill>
                <a:latin typeface="+mj-ea"/>
                <a:ea typeface="+mj-ea"/>
              </a:rPr>
              <a:t>排除电子系统中的故障</a:t>
            </a:r>
            <a:r>
              <a:rPr lang="zh-CN" altLang="en-US" dirty="0" smtClean="0">
                <a:solidFill>
                  <a:srgbClr val="FF0000"/>
                </a:solidFill>
                <a:latin typeface="+mj-ea"/>
                <a:ea typeface="+mj-ea"/>
              </a:rPr>
              <a:t>？</a:t>
            </a:r>
            <a:endParaRPr lang="en-US" altLang="zh-CN" dirty="0" smtClean="0">
              <a:solidFill>
                <a:srgbClr val="FF0000"/>
              </a:solidFill>
              <a:latin typeface="+mj-ea"/>
              <a:ea typeface="+mj-ea"/>
            </a:endParaRPr>
          </a:p>
          <a:p>
            <a:pPr marL="342900" indent="-342900">
              <a:lnSpc>
                <a:spcPct val="150000"/>
              </a:lnSpc>
              <a:buFont typeface="Arial" panose="020B0604020202020204" pitchFamily="34" charset="0"/>
              <a:buChar char="•"/>
            </a:pPr>
            <a:r>
              <a:rPr lang="zh-CN" altLang="en-US" dirty="0" smtClean="0"/>
              <a:t>“硬”故障</a:t>
            </a:r>
            <a:endParaRPr lang="en-US" altLang="zh-CN" dirty="0" smtClean="0"/>
          </a:p>
          <a:p>
            <a:pPr marL="360000">
              <a:lnSpc>
                <a:spcPct val="150000"/>
              </a:lnSpc>
            </a:pPr>
            <a:r>
              <a:rPr lang="zh-CN" altLang="en-US" dirty="0"/>
              <a:t>例如</a:t>
            </a:r>
            <a:r>
              <a:rPr lang="zh-CN" altLang="zh-CN" dirty="0" smtClean="0"/>
              <a:t>没有</a:t>
            </a:r>
            <a:r>
              <a:rPr lang="zh-CN" altLang="zh-CN" dirty="0"/>
              <a:t>电源、没有输出、或者放大器的指标不符合预期</a:t>
            </a:r>
            <a:r>
              <a:rPr lang="zh-CN" altLang="zh-CN" dirty="0" smtClean="0"/>
              <a:t>等</a:t>
            </a:r>
            <a:endParaRPr lang="en-US" altLang="zh-CN" dirty="0" smtClean="0"/>
          </a:p>
          <a:p>
            <a:pPr marL="360000">
              <a:lnSpc>
                <a:spcPct val="150000"/>
              </a:lnSpc>
            </a:pPr>
            <a:r>
              <a:rPr lang="zh-CN" altLang="zh-CN" dirty="0" smtClean="0"/>
              <a:t>这</a:t>
            </a:r>
            <a:r>
              <a:rPr lang="zh-CN" altLang="zh-CN" dirty="0"/>
              <a:t>类故障大多是</a:t>
            </a:r>
            <a:r>
              <a:rPr lang="zh-CN" altLang="zh-CN" dirty="0" smtClean="0"/>
              <a:t>由于连接不良</a:t>
            </a:r>
            <a:r>
              <a:rPr lang="zh-CN" altLang="en-US" dirty="0"/>
              <a:t>、</a:t>
            </a:r>
            <a:r>
              <a:rPr lang="zh-CN" altLang="zh-CN" dirty="0"/>
              <a:t>器件损坏</a:t>
            </a:r>
            <a:r>
              <a:rPr lang="zh-CN" altLang="zh-CN" dirty="0" smtClean="0"/>
              <a:t>、</a:t>
            </a:r>
            <a:r>
              <a:rPr lang="zh-CN" altLang="en-US" dirty="0"/>
              <a:t>元件参数</a:t>
            </a:r>
            <a:r>
              <a:rPr lang="zh-CN" altLang="en-US" dirty="0" smtClean="0"/>
              <a:t>错误</a:t>
            </a:r>
            <a:r>
              <a:rPr lang="zh-CN" altLang="zh-CN" dirty="0" smtClean="0"/>
              <a:t>等</a:t>
            </a:r>
            <a:r>
              <a:rPr lang="zh-CN" altLang="zh-CN" dirty="0"/>
              <a:t>原因引起，比较容易</a:t>
            </a:r>
            <a:r>
              <a:rPr lang="zh-CN" altLang="zh-CN" dirty="0" smtClean="0"/>
              <a:t>定位</a:t>
            </a:r>
            <a:endParaRPr lang="en-US" altLang="zh-CN" dirty="0" smtClean="0"/>
          </a:p>
          <a:p>
            <a:pPr marL="360000">
              <a:lnSpc>
                <a:spcPct val="150000"/>
              </a:lnSpc>
            </a:pPr>
            <a:r>
              <a:rPr lang="zh-CN" altLang="zh-CN" dirty="0" smtClean="0"/>
              <a:t>检查</a:t>
            </a:r>
            <a:r>
              <a:rPr lang="zh-CN" altLang="zh-CN" dirty="0"/>
              <a:t>方法通常是从故障点开始，向电源或信号源逐点推进测试。也可以从系统的中间部分开始，采用对分法测试以提高检查速度，直至最后定位</a:t>
            </a:r>
            <a:r>
              <a:rPr lang="zh-CN" altLang="zh-CN" dirty="0" smtClean="0"/>
              <a:t>故障</a:t>
            </a:r>
            <a:endParaRPr lang="en-US" altLang="zh-CN" dirty="0" smtClean="0"/>
          </a:p>
          <a:p>
            <a:pPr marL="342900" indent="-342900">
              <a:lnSpc>
                <a:spcPct val="150000"/>
              </a:lnSpc>
              <a:buFont typeface="Arial" panose="020B0604020202020204" pitchFamily="34" charset="0"/>
              <a:buChar char="•"/>
            </a:pPr>
            <a:r>
              <a:rPr lang="zh-CN" altLang="en-US" dirty="0" smtClean="0"/>
              <a:t>“时有时无”的故障</a:t>
            </a:r>
            <a:endParaRPr lang="en-US" altLang="zh-CN" dirty="0" smtClean="0"/>
          </a:p>
          <a:p>
            <a:pPr marL="360000">
              <a:lnSpc>
                <a:spcPct val="150000"/>
              </a:lnSpc>
            </a:pPr>
            <a:r>
              <a:rPr lang="zh-CN" altLang="en-US" dirty="0" smtClean="0"/>
              <a:t>例如信号时有时无、电源式有时无</a:t>
            </a:r>
            <a:endParaRPr lang="en-US" altLang="zh-CN" dirty="0" smtClean="0"/>
          </a:p>
          <a:p>
            <a:pPr marL="360000">
              <a:lnSpc>
                <a:spcPct val="150000"/>
              </a:lnSpc>
            </a:pPr>
            <a:r>
              <a:rPr lang="zh-CN" altLang="en-US" dirty="0" smtClean="0"/>
              <a:t>大部分原因是接线松动、接触不良、虚焊等</a:t>
            </a:r>
            <a:endParaRPr lang="en-US" altLang="zh-CN" dirty="0" smtClean="0"/>
          </a:p>
          <a:p>
            <a:pPr marL="360000">
              <a:lnSpc>
                <a:spcPct val="150000"/>
              </a:lnSpc>
            </a:pPr>
            <a:r>
              <a:rPr lang="zh-CN" altLang="en-US" dirty="0" smtClean="0"/>
              <a:t>原因简单，排查很费事</a:t>
            </a:r>
            <a:endParaRPr lang="en-US" altLang="zh-CN" dirty="0" smtClean="0"/>
          </a:p>
          <a:p>
            <a:pPr marL="360000">
              <a:lnSpc>
                <a:spcPct val="150000"/>
              </a:lnSpc>
            </a:pPr>
            <a:r>
              <a:rPr lang="zh-CN" altLang="zh-CN" dirty="0" smtClean="0"/>
              <a:t>认真</a:t>
            </a:r>
            <a:r>
              <a:rPr lang="zh-CN" altLang="zh-CN" dirty="0"/>
              <a:t>焊接、选用牢固可靠的接插件、选用焊接性能良好的</a:t>
            </a:r>
            <a:r>
              <a:rPr lang="zh-CN" altLang="zh-CN" dirty="0" smtClean="0"/>
              <a:t>元器件</a:t>
            </a:r>
            <a:r>
              <a:rPr lang="zh-CN" altLang="en-US" dirty="0" smtClean="0"/>
              <a:t>，可以大大降低此类故障出现的几率</a:t>
            </a:r>
            <a:endParaRPr lang="en-US" altLang="zh-CN" dirty="0"/>
          </a:p>
        </p:txBody>
      </p:sp>
    </p:spTree>
    <p:extLst>
      <p:ext uri="{BB962C8B-B14F-4D97-AF65-F5344CB8AC3E}">
        <p14:creationId xmlns:p14="http://schemas.microsoft.com/office/powerpoint/2010/main" val="2372080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46</a:t>
            </a:fld>
            <a:endParaRPr lang="en-US" altLang="zh-CN">
              <a:solidFill>
                <a:srgbClr val="FFFFFF"/>
              </a:solidFill>
            </a:endParaRPr>
          </a:p>
        </p:txBody>
      </p:sp>
      <p:sp>
        <p:nvSpPr>
          <p:cNvPr id="5" name="矩形 4"/>
          <p:cNvSpPr/>
          <p:nvPr/>
        </p:nvSpPr>
        <p:spPr>
          <a:xfrm>
            <a:off x="431801" y="501472"/>
            <a:ext cx="11310256" cy="5632311"/>
          </a:xfrm>
          <a:prstGeom prst="rect">
            <a:avLst/>
          </a:prstGeom>
        </p:spPr>
        <p:txBody>
          <a:bodyPr wrap="square">
            <a:spAutoFit/>
          </a:bodyPr>
          <a:lstStyle/>
          <a:p>
            <a:pPr marL="342900" indent="-342900">
              <a:lnSpc>
                <a:spcPct val="150000"/>
              </a:lnSpc>
              <a:buFont typeface="Arial" panose="020B0604020202020204" pitchFamily="34" charset="0"/>
              <a:buChar char="•"/>
            </a:pPr>
            <a:r>
              <a:rPr lang="zh-CN" altLang="en-US" dirty="0" smtClean="0"/>
              <a:t>自激振荡</a:t>
            </a:r>
            <a:endParaRPr lang="en-US" altLang="zh-CN" dirty="0" smtClean="0"/>
          </a:p>
          <a:p>
            <a:pPr marL="360000">
              <a:lnSpc>
                <a:spcPct val="150000"/>
              </a:lnSpc>
            </a:pPr>
            <a:r>
              <a:rPr lang="en-US" altLang="zh-CN" dirty="0" smtClean="0"/>
              <a:t>1</a:t>
            </a:r>
            <a:r>
              <a:rPr lang="zh-CN" altLang="en-US" dirty="0" smtClean="0"/>
              <a:t>、</a:t>
            </a:r>
            <a:r>
              <a:rPr lang="zh-CN" altLang="zh-CN" dirty="0" smtClean="0"/>
              <a:t>是否</a:t>
            </a:r>
            <a:r>
              <a:rPr lang="zh-CN" altLang="en-US" dirty="0" smtClean="0"/>
              <a:t>设计问题？例如错用非完全补偿的</a:t>
            </a:r>
            <a:r>
              <a:rPr lang="zh-CN" altLang="zh-CN" dirty="0" smtClean="0"/>
              <a:t>运放</a:t>
            </a:r>
            <a:r>
              <a:rPr lang="zh-CN" altLang="en-US" dirty="0" smtClean="0"/>
              <a:t>、</a:t>
            </a:r>
            <a:r>
              <a:rPr lang="zh-CN" altLang="zh-CN" dirty="0" smtClean="0"/>
              <a:t>运放</a:t>
            </a:r>
            <a:r>
              <a:rPr lang="zh-CN" altLang="en-US" dirty="0"/>
              <a:t>带有</a:t>
            </a:r>
            <a:r>
              <a:rPr lang="zh-CN" altLang="en-US" dirty="0" smtClean="0"/>
              <a:t>容性负载、</a:t>
            </a:r>
            <a:r>
              <a:rPr lang="zh-CN" altLang="zh-CN" dirty="0" smtClean="0"/>
              <a:t>电流</a:t>
            </a:r>
            <a:r>
              <a:rPr lang="zh-CN" altLang="zh-CN" dirty="0"/>
              <a:t>负反馈运放中</a:t>
            </a:r>
            <a:r>
              <a:rPr lang="zh-CN" altLang="zh-CN" dirty="0" smtClean="0"/>
              <a:t>接入反馈电容</a:t>
            </a:r>
            <a:r>
              <a:rPr lang="zh-CN" altLang="en-US" dirty="0" smtClean="0"/>
              <a:t>等</a:t>
            </a:r>
            <a:endParaRPr lang="en-US" altLang="zh-CN" dirty="0"/>
          </a:p>
          <a:p>
            <a:pPr marL="360000">
              <a:lnSpc>
                <a:spcPct val="150000"/>
              </a:lnSpc>
            </a:pPr>
            <a:r>
              <a:rPr lang="en-US" altLang="zh-CN" dirty="0" smtClean="0"/>
              <a:t>2</a:t>
            </a:r>
            <a:r>
              <a:rPr lang="zh-CN" altLang="en-US" dirty="0"/>
              <a:t>、电源退耦、</a:t>
            </a:r>
            <a:r>
              <a:rPr lang="zh-CN" altLang="en-US" dirty="0" smtClean="0"/>
              <a:t>接地有问题？多级放大器的杂散耦合？</a:t>
            </a:r>
            <a:endParaRPr lang="en-US" altLang="zh-CN" dirty="0" smtClean="0"/>
          </a:p>
          <a:p>
            <a:pPr marL="360000">
              <a:lnSpc>
                <a:spcPct val="150000"/>
              </a:lnSpc>
            </a:pPr>
            <a:r>
              <a:rPr lang="en-US" altLang="zh-CN" dirty="0" smtClean="0"/>
              <a:t>3</a:t>
            </a:r>
            <a:r>
              <a:rPr lang="zh-CN" altLang="en-US" dirty="0" smtClean="0"/>
              <a:t>、晶体管是否进入饱和区？（</a:t>
            </a:r>
            <a:r>
              <a:rPr lang="zh-CN" altLang="en-US" dirty="0"/>
              <a:t>表</a:t>
            </a:r>
            <a:r>
              <a:rPr lang="zh-CN" altLang="en-US" dirty="0" smtClean="0"/>
              <a:t>现为波形峰值附近的局部振荡）</a:t>
            </a:r>
            <a:endParaRPr lang="en-US" altLang="zh-CN" dirty="0" smtClean="0"/>
          </a:p>
          <a:p>
            <a:pPr marL="360000">
              <a:lnSpc>
                <a:spcPct val="150000"/>
              </a:lnSpc>
            </a:pPr>
            <a:r>
              <a:rPr lang="zh-CN" altLang="en-US" dirty="0" smtClean="0"/>
              <a:t>可以用</a:t>
            </a:r>
            <a:r>
              <a:rPr lang="en-US" altLang="zh-CN" dirty="0" smtClean="0"/>
              <a:t>spice</a:t>
            </a:r>
            <a:r>
              <a:rPr lang="zh-CN" altLang="en-US" dirty="0" smtClean="0"/>
              <a:t>仿真辅助。上述第</a:t>
            </a:r>
            <a:r>
              <a:rPr lang="en-US" altLang="zh-CN" dirty="0" smtClean="0"/>
              <a:t>1</a:t>
            </a:r>
            <a:r>
              <a:rPr lang="zh-CN" altLang="en-US" dirty="0" smtClean="0"/>
              <a:t>点问题仿真电路也会不稳定，若仿真稳定则多为上述第</a:t>
            </a:r>
            <a:r>
              <a:rPr lang="en-US" altLang="zh-CN" dirty="0" smtClean="0"/>
              <a:t>2</a:t>
            </a:r>
            <a:r>
              <a:rPr lang="zh-CN" altLang="en-US" dirty="0" smtClean="0"/>
              <a:t>点问题</a:t>
            </a:r>
            <a:endParaRPr lang="en-US" altLang="zh-CN" dirty="0" smtClean="0"/>
          </a:p>
          <a:p>
            <a:pPr marL="360000">
              <a:lnSpc>
                <a:spcPct val="150000"/>
              </a:lnSpc>
            </a:pPr>
            <a:r>
              <a:rPr lang="zh-CN" altLang="en-US" dirty="0"/>
              <a:t>查找方法大致有：切分定位</a:t>
            </a:r>
            <a:r>
              <a:rPr lang="zh-CN" altLang="en-US" dirty="0" smtClean="0"/>
              <a:t>、局部短路或开路、元件</a:t>
            </a:r>
            <a:r>
              <a:rPr lang="zh-CN" altLang="en-US" dirty="0"/>
              <a:t>替代</a:t>
            </a:r>
            <a:r>
              <a:rPr lang="zh-CN" altLang="en-US" dirty="0" smtClean="0"/>
              <a:t>等</a:t>
            </a:r>
            <a:endParaRPr lang="en-US" altLang="zh-CN" dirty="0"/>
          </a:p>
          <a:p>
            <a:pPr marL="360000">
              <a:lnSpc>
                <a:spcPct val="150000"/>
              </a:lnSpc>
            </a:pPr>
            <a:r>
              <a:rPr lang="zh-CN" altLang="en-US" dirty="0" smtClean="0"/>
              <a:t>找到自激原因后可针对性改进，应急解决办法有增加反馈电容（</a:t>
            </a:r>
            <a:r>
              <a:rPr lang="zh-CN" altLang="zh-CN" dirty="0" smtClean="0"/>
              <a:t>电</a:t>
            </a:r>
            <a:r>
              <a:rPr lang="zh-CN" altLang="en-US" dirty="0" smtClean="0"/>
              <a:t>压</a:t>
            </a:r>
            <a:r>
              <a:rPr lang="zh-CN" altLang="zh-CN" dirty="0" smtClean="0"/>
              <a:t>负反馈</a:t>
            </a:r>
            <a:r>
              <a:rPr lang="zh-CN" altLang="zh-CN" dirty="0"/>
              <a:t>运</a:t>
            </a:r>
            <a:r>
              <a:rPr lang="zh-CN" altLang="zh-CN" dirty="0" smtClean="0"/>
              <a:t>放</a:t>
            </a:r>
            <a:r>
              <a:rPr lang="zh-CN" altLang="en-US" dirty="0" smtClean="0"/>
              <a:t>）、改变电路增益等</a:t>
            </a:r>
            <a:endParaRPr lang="en-US" altLang="zh-CN" dirty="0"/>
          </a:p>
          <a:p>
            <a:pPr marL="342900" indent="-342900">
              <a:lnSpc>
                <a:spcPct val="150000"/>
              </a:lnSpc>
              <a:buFont typeface="Arial" panose="020B0604020202020204" pitchFamily="34" charset="0"/>
              <a:buChar char="•"/>
            </a:pPr>
            <a:r>
              <a:rPr lang="zh-CN" altLang="en-US" dirty="0" smtClean="0"/>
              <a:t>与发热有关的故障</a:t>
            </a:r>
            <a:endParaRPr lang="en-US" altLang="zh-CN" dirty="0" smtClean="0"/>
          </a:p>
          <a:p>
            <a:pPr marL="360000">
              <a:lnSpc>
                <a:spcPct val="150000"/>
              </a:lnSpc>
            </a:pPr>
            <a:r>
              <a:rPr lang="zh-CN" altLang="en-US" dirty="0" smtClean="0"/>
              <a:t>表现为开始电路正常，但时间长了某个元件发热后电路开始不正常</a:t>
            </a:r>
            <a:endParaRPr lang="en-US" altLang="zh-CN" dirty="0" smtClean="0"/>
          </a:p>
          <a:p>
            <a:pPr marL="360000">
              <a:lnSpc>
                <a:spcPct val="150000"/>
              </a:lnSpc>
            </a:pPr>
            <a:r>
              <a:rPr lang="zh-CN" altLang="en-US" dirty="0" smtClean="0"/>
              <a:t>可以用热像仪检查，也可直接对怀疑的元件加热观察</a:t>
            </a:r>
            <a:endParaRPr lang="en-US" altLang="zh-CN" dirty="0"/>
          </a:p>
        </p:txBody>
      </p:sp>
    </p:spTree>
    <p:extLst>
      <p:ext uri="{BB962C8B-B14F-4D97-AF65-F5344CB8AC3E}">
        <p14:creationId xmlns:p14="http://schemas.microsoft.com/office/powerpoint/2010/main" val="27882576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47</a:t>
            </a:fld>
            <a:endParaRPr lang="en-US" altLang="zh-CN">
              <a:solidFill>
                <a:srgbClr val="FFFFFF"/>
              </a:solidFill>
            </a:endParaRPr>
          </a:p>
        </p:txBody>
      </p:sp>
      <p:sp>
        <p:nvSpPr>
          <p:cNvPr id="5" name="矩形 4"/>
          <p:cNvSpPr/>
          <p:nvPr/>
        </p:nvSpPr>
        <p:spPr>
          <a:xfrm>
            <a:off x="475572" y="1183251"/>
            <a:ext cx="11186657" cy="3323987"/>
          </a:xfrm>
          <a:prstGeom prst="rect">
            <a:avLst/>
          </a:prstGeom>
        </p:spPr>
        <p:txBody>
          <a:bodyPr wrap="square">
            <a:spAutoFit/>
          </a:bodyPr>
          <a:lstStyle/>
          <a:p>
            <a:pPr>
              <a:lnSpc>
                <a:spcPct val="150000"/>
              </a:lnSpc>
            </a:pPr>
            <a:r>
              <a:rPr lang="zh-CN" altLang="en-US" kern="100" dirty="0" smtClean="0">
                <a:latin typeface="+mj-ea"/>
                <a:ea typeface="+mj-ea"/>
                <a:cs typeface="Times New Roman" panose="02020603050405020304" pitchFamily="18" charset="0"/>
              </a:rPr>
              <a:t>电阻</a:t>
            </a:r>
            <a:endParaRPr lang="en-US" altLang="zh-CN" kern="100" dirty="0">
              <a:latin typeface="+mj-ea"/>
              <a:ea typeface="+mj-ea"/>
              <a:cs typeface="Times New Roman" panose="02020603050405020304" pitchFamily="18" charset="0"/>
            </a:endParaRPr>
          </a:p>
          <a:p>
            <a:pPr marL="342900" indent="-342900">
              <a:lnSpc>
                <a:spcPct val="150000"/>
              </a:lnSpc>
              <a:buFont typeface="Arial" panose="020B0604020202020204" pitchFamily="34" charset="0"/>
              <a:buChar char="•"/>
            </a:pPr>
            <a:r>
              <a:rPr lang="zh-CN" altLang="en-US" kern="100" dirty="0">
                <a:latin typeface="+mj-ea"/>
                <a:cs typeface="Times New Roman" panose="02020603050405020304" pitchFamily="18" charset="0"/>
              </a:rPr>
              <a:t>碳膜电阻具有负的温度系数，金属膜电阻具有正的温度系数，合成膜电阻具有或正或负的温度系数</a:t>
            </a:r>
            <a:endParaRPr lang="en-US" altLang="zh-CN" kern="100" dirty="0">
              <a:latin typeface="+mj-ea"/>
              <a:cs typeface="Times New Roman" panose="02020603050405020304" pitchFamily="18" charset="0"/>
            </a:endParaRPr>
          </a:p>
          <a:p>
            <a:pPr marL="342900" indent="-342900">
              <a:lnSpc>
                <a:spcPct val="150000"/>
              </a:lnSpc>
              <a:buFont typeface="Arial" panose="020B0604020202020204" pitchFamily="34" charset="0"/>
              <a:buChar char="•"/>
            </a:pPr>
            <a:r>
              <a:rPr lang="zh-CN" altLang="en-US" kern="100" dirty="0">
                <a:latin typeface="+mj-ea"/>
                <a:cs typeface="Times New Roman" panose="02020603050405020304" pitchFamily="18" charset="0"/>
              </a:rPr>
              <a:t>贴片电阻具有很低的分布电感，适合高频应用</a:t>
            </a:r>
            <a:endParaRPr lang="en-US" altLang="zh-CN" kern="100" dirty="0">
              <a:latin typeface="+mj-ea"/>
              <a:cs typeface="Times New Roman" panose="02020603050405020304" pitchFamily="18" charset="0"/>
            </a:endParaRPr>
          </a:p>
          <a:p>
            <a:pPr marL="342900" indent="-342900">
              <a:lnSpc>
                <a:spcPct val="150000"/>
              </a:lnSpc>
              <a:buFont typeface="Arial" panose="020B0604020202020204" pitchFamily="34" charset="0"/>
              <a:buChar char="•"/>
            </a:pPr>
            <a:r>
              <a:rPr lang="zh-CN" altLang="en-US" kern="100" dirty="0">
                <a:latin typeface="+mj-ea"/>
                <a:cs typeface="Times New Roman" panose="02020603050405020304" pitchFamily="18" charset="0"/>
              </a:rPr>
              <a:t>线绕电阻、水泥电阻等适用于大功率应用，但这些电阻通常都有较大的分布电感，不能用于高频电路</a:t>
            </a:r>
            <a:endParaRPr lang="en-US" altLang="zh-CN" kern="100" dirty="0">
              <a:latin typeface="+mj-ea"/>
              <a:cs typeface="Times New Roman" panose="02020603050405020304" pitchFamily="18" charset="0"/>
            </a:endParaRPr>
          </a:p>
          <a:p>
            <a:pPr marL="342900" indent="-342900">
              <a:lnSpc>
                <a:spcPct val="150000"/>
              </a:lnSpc>
              <a:buFont typeface="Arial" panose="020B0604020202020204" pitchFamily="34" charset="0"/>
              <a:buChar char="•"/>
            </a:pPr>
            <a:endParaRPr lang="en-US" altLang="zh-CN" kern="100" dirty="0">
              <a:latin typeface="+mj-ea"/>
              <a:cs typeface="Times New Roman" panose="02020603050405020304" pitchFamily="18" charset="0"/>
            </a:endParaRPr>
          </a:p>
        </p:txBody>
      </p:sp>
      <p:sp>
        <p:nvSpPr>
          <p:cNvPr id="6" name="文本框 5"/>
          <p:cNvSpPr txBox="1"/>
          <p:nvPr/>
        </p:nvSpPr>
        <p:spPr>
          <a:xfrm>
            <a:off x="475572" y="564386"/>
            <a:ext cx="7079115" cy="400110"/>
          </a:xfrm>
          <a:prstGeom prst="rect">
            <a:avLst/>
          </a:prstGeom>
          <a:noFill/>
        </p:spPr>
        <p:txBody>
          <a:bodyPr wrap="square" rtlCol="0">
            <a:spAutoFit/>
          </a:bodyPr>
          <a:lstStyle/>
          <a:p>
            <a:r>
              <a:rPr lang="zh-CN" altLang="en-US" dirty="0" smtClean="0">
                <a:solidFill>
                  <a:srgbClr val="FF0000"/>
                </a:solidFill>
                <a:latin typeface="黑体" panose="02010609060101010101" pitchFamily="49" charset="-122"/>
                <a:ea typeface="黑体" panose="02010609060101010101" pitchFamily="49" charset="-122"/>
              </a:rPr>
              <a:t>附录：电子系统中的电阻</a:t>
            </a:r>
            <a:r>
              <a:rPr lang="zh-CN" altLang="en-US" dirty="0">
                <a:solidFill>
                  <a:srgbClr val="FF0000"/>
                </a:solidFill>
                <a:latin typeface="黑体" panose="02010609060101010101" pitchFamily="49" charset="-122"/>
                <a:ea typeface="黑体" panose="02010609060101010101" pitchFamily="49" charset="-122"/>
              </a:rPr>
              <a:t>、电容与电感</a:t>
            </a:r>
          </a:p>
        </p:txBody>
      </p:sp>
    </p:spTree>
    <p:extLst>
      <p:ext uri="{BB962C8B-B14F-4D97-AF65-F5344CB8AC3E}">
        <p14:creationId xmlns:p14="http://schemas.microsoft.com/office/powerpoint/2010/main" val="30835876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2024/3/8</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48</a:t>
            </a:fld>
            <a:endParaRPr lang="en-US" altLang="zh-CN"/>
          </a:p>
        </p:txBody>
      </p:sp>
      <p:sp>
        <p:nvSpPr>
          <p:cNvPr id="2" name="矩形 1"/>
          <p:cNvSpPr/>
          <p:nvPr/>
        </p:nvSpPr>
        <p:spPr>
          <a:xfrm>
            <a:off x="393889" y="547515"/>
            <a:ext cx="6150656" cy="400110"/>
          </a:xfrm>
          <a:prstGeom prst="rect">
            <a:avLst/>
          </a:prstGeom>
        </p:spPr>
        <p:txBody>
          <a:bodyPr wrap="square">
            <a:spAutoFit/>
          </a:bodyPr>
          <a:lstStyle/>
          <a:p>
            <a:r>
              <a:rPr lang="zh-CN" altLang="zh-CN" kern="100" dirty="0">
                <a:latin typeface="黑体" panose="02010609060101010101" pitchFamily="49" charset="-122"/>
                <a:ea typeface="黑体" panose="02010609060101010101" pitchFamily="49" charset="-122"/>
                <a:cs typeface="Times New Roman" panose="02020603050405020304" pitchFamily="18" charset="0"/>
              </a:rPr>
              <a:t>电阻的标称值系列与</a:t>
            </a:r>
            <a:r>
              <a:rPr lang="zh-CN" altLang="zh-CN" kern="100" dirty="0" smtClean="0">
                <a:latin typeface="黑体" panose="02010609060101010101" pitchFamily="49" charset="-122"/>
                <a:ea typeface="黑体" panose="02010609060101010101" pitchFamily="49" charset="-122"/>
                <a:cs typeface="Times New Roman" panose="02020603050405020304" pitchFamily="18" charset="0"/>
              </a:rPr>
              <a:t>误差</a:t>
            </a:r>
            <a:endParaRPr lang="zh-CN" altLang="en-US" dirty="0">
              <a:latin typeface="黑体" panose="02010609060101010101" pitchFamily="49" charset="-122"/>
              <a:ea typeface="黑体" panose="02010609060101010101" pitchFamily="49"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97795662"/>
              </p:ext>
            </p:extLst>
          </p:nvPr>
        </p:nvGraphicFramePr>
        <p:xfrm>
          <a:off x="624417" y="1029995"/>
          <a:ext cx="7988167" cy="1219200"/>
        </p:xfrm>
        <a:graphic>
          <a:graphicData uri="http://schemas.openxmlformats.org/drawingml/2006/table">
            <a:tbl>
              <a:tblPr firstCol="1" bandRow="1">
                <a:tableStyleId>{35758FB7-9AC5-4552-8A53-C91805E547FA}</a:tableStyleId>
              </a:tblPr>
              <a:tblGrid>
                <a:gridCol w="3155768">
                  <a:extLst>
                    <a:ext uri="{9D8B030D-6E8A-4147-A177-3AD203B41FA5}">
                      <a16:colId xmlns:a16="http://schemas.microsoft.com/office/drawing/2014/main" val="701144564"/>
                    </a:ext>
                  </a:extLst>
                </a:gridCol>
                <a:gridCol w="792429">
                  <a:extLst>
                    <a:ext uri="{9D8B030D-6E8A-4147-A177-3AD203B41FA5}">
                      <a16:colId xmlns:a16="http://schemas.microsoft.com/office/drawing/2014/main" val="3291988892"/>
                    </a:ext>
                  </a:extLst>
                </a:gridCol>
                <a:gridCol w="714601">
                  <a:extLst>
                    <a:ext uri="{9D8B030D-6E8A-4147-A177-3AD203B41FA5}">
                      <a16:colId xmlns:a16="http://schemas.microsoft.com/office/drawing/2014/main" val="150703995"/>
                    </a:ext>
                  </a:extLst>
                </a:gridCol>
                <a:gridCol w="778278">
                  <a:extLst>
                    <a:ext uri="{9D8B030D-6E8A-4147-A177-3AD203B41FA5}">
                      <a16:colId xmlns:a16="http://schemas.microsoft.com/office/drawing/2014/main" val="4174519557"/>
                    </a:ext>
                  </a:extLst>
                </a:gridCol>
                <a:gridCol w="841955">
                  <a:extLst>
                    <a:ext uri="{9D8B030D-6E8A-4147-A177-3AD203B41FA5}">
                      <a16:colId xmlns:a16="http://schemas.microsoft.com/office/drawing/2014/main" val="243996030"/>
                    </a:ext>
                  </a:extLst>
                </a:gridCol>
                <a:gridCol w="870256">
                  <a:extLst>
                    <a:ext uri="{9D8B030D-6E8A-4147-A177-3AD203B41FA5}">
                      <a16:colId xmlns:a16="http://schemas.microsoft.com/office/drawing/2014/main" val="1509725156"/>
                    </a:ext>
                  </a:extLst>
                </a:gridCol>
                <a:gridCol w="834880">
                  <a:extLst>
                    <a:ext uri="{9D8B030D-6E8A-4147-A177-3AD203B41FA5}">
                      <a16:colId xmlns:a16="http://schemas.microsoft.com/office/drawing/2014/main" val="2501159926"/>
                    </a:ext>
                  </a:extLst>
                </a:gridCol>
              </a:tblGrid>
              <a:tr h="215900">
                <a:tc>
                  <a:txBody>
                    <a:bodyPr/>
                    <a:lstStyle/>
                    <a:p>
                      <a:r>
                        <a:rPr lang="en-US" altLang="zh-CN" sz="1400" b="0" dirty="0" smtClean="0"/>
                        <a:t>E24(5%), E12(10%), E6(20%)</a:t>
                      </a:r>
                      <a:endParaRPr lang="zh-CN" altLang="en-US" sz="1400" b="0" dirty="0"/>
                    </a:p>
                  </a:txBody>
                  <a:tcPr/>
                </a:tc>
                <a:tc>
                  <a:txBody>
                    <a:bodyPr/>
                    <a:lstStyle/>
                    <a:p>
                      <a:pPr algn="ctr"/>
                      <a:r>
                        <a:rPr lang="en-US" altLang="zh-CN" sz="1400" dirty="0" smtClean="0"/>
                        <a:t>1.0</a:t>
                      </a:r>
                      <a:endParaRPr lang="zh-CN" altLang="en-US" sz="1400" dirty="0"/>
                    </a:p>
                  </a:txBody>
                  <a:tcPr/>
                </a:tc>
                <a:tc>
                  <a:txBody>
                    <a:bodyPr/>
                    <a:lstStyle/>
                    <a:p>
                      <a:pPr algn="ctr"/>
                      <a:r>
                        <a:rPr lang="en-US" altLang="zh-CN" sz="1400" dirty="0" smtClean="0"/>
                        <a:t>1.5</a:t>
                      </a:r>
                      <a:endParaRPr lang="zh-CN" altLang="en-US" sz="1400" dirty="0"/>
                    </a:p>
                  </a:txBody>
                  <a:tcPr/>
                </a:tc>
                <a:tc>
                  <a:txBody>
                    <a:bodyPr/>
                    <a:lstStyle/>
                    <a:p>
                      <a:pPr algn="ctr"/>
                      <a:r>
                        <a:rPr lang="en-US" altLang="zh-CN" sz="1400" dirty="0" smtClean="0"/>
                        <a:t>2.2</a:t>
                      </a:r>
                      <a:endParaRPr lang="zh-CN" altLang="en-US" sz="1400" dirty="0"/>
                    </a:p>
                  </a:txBody>
                  <a:tcPr/>
                </a:tc>
                <a:tc>
                  <a:txBody>
                    <a:bodyPr/>
                    <a:lstStyle/>
                    <a:p>
                      <a:pPr algn="ctr"/>
                      <a:r>
                        <a:rPr lang="en-US" altLang="zh-CN" sz="1400" dirty="0" smtClean="0"/>
                        <a:t>3.3</a:t>
                      </a:r>
                      <a:endParaRPr lang="zh-CN" altLang="en-US" sz="1400" dirty="0"/>
                    </a:p>
                  </a:txBody>
                  <a:tcPr/>
                </a:tc>
                <a:tc>
                  <a:txBody>
                    <a:bodyPr/>
                    <a:lstStyle/>
                    <a:p>
                      <a:pPr algn="ctr"/>
                      <a:r>
                        <a:rPr lang="en-US" altLang="zh-CN" sz="1400" dirty="0" smtClean="0"/>
                        <a:t>4.7</a:t>
                      </a:r>
                      <a:endParaRPr lang="zh-CN" altLang="en-US" sz="1400" dirty="0"/>
                    </a:p>
                  </a:txBody>
                  <a:tcPr/>
                </a:tc>
                <a:tc>
                  <a:txBody>
                    <a:bodyPr/>
                    <a:lstStyle/>
                    <a:p>
                      <a:pPr algn="ctr"/>
                      <a:r>
                        <a:rPr lang="en-US" altLang="zh-CN" sz="1400" dirty="0" smtClean="0"/>
                        <a:t>6.8</a:t>
                      </a:r>
                      <a:endParaRPr lang="zh-CN" altLang="en-US" sz="1400" dirty="0"/>
                    </a:p>
                  </a:txBody>
                  <a:tcPr/>
                </a:tc>
                <a:extLst>
                  <a:ext uri="{0D108BD9-81ED-4DB2-BD59-A6C34878D82A}">
                    <a16:rowId xmlns:a16="http://schemas.microsoft.com/office/drawing/2014/main" val="2376847251"/>
                  </a:ext>
                </a:extLst>
              </a:tr>
              <a:tr h="215900">
                <a:tc>
                  <a:txBody>
                    <a:bodyPr/>
                    <a:lstStyle/>
                    <a:p>
                      <a:r>
                        <a:rPr lang="en-US" altLang="zh-CN" sz="1400" b="0" dirty="0" smtClean="0"/>
                        <a:t>E24(5%)</a:t>
                      </a:r>
                      <a:endParaRPr lang="zh-CN" altLang="en-US" sz="1400" b="0" dirty="0"/>
                    </a:p>
                  </a:txBody>
                  <a:tcPr>
                    <a:solidFill>
                      <a:schemeClr val="accent5">
                        <a:lumMod val="40000"/>
                        <a:lumOff val="60000"/>
                      </a:schemeClr>
                    </a:solidFill>
                  </a:tcPr>
                </a:tc>
                <a:tc>
                  <a:txBody>
                    <a:bodyPr/>
                    <a:lstStyle/>
                    <a:p>
                      <a:pPr algn="ctr"/>
                      <a:r>
                        <a:rPr lang="en-US" altLang="zh-CN" sz="1400" dirty="0" smtClean="0"/>
                        <a:t>1.1</a:t>
                      </a:r>
                      <a:endParaRPr lang="zh-CN" altLang="en-US" sz="1400" dirty="0"/>
                    </a:p>
                  </a:txBody>
                  <a:tcPr>
                    <a:solidFill>
                      <a:schemeClr val="accent5">
                        <a:lumMod val="40000"/>
                        <a:lumOff val="60000"/>
                      </a:schemeClr>
                    </a:solidFill>
                  </a:tcPr>
                </a:tc>
                <a:tc>
                  <a:txBody>
                    <a:bodyPr/>
                    <a:lstStyle/>
                    <a:p>
                      <a:pPr algn="ctr"/>
                      <a:r>
                        <a:rPr lang="en-US" altLang="zh-CN" sz="1400" dirty="0" smtClean="0"/>
                        <a:t>1.6</a:t>
                      </a:r>
                      <a:endParaRPr lang="zh-CN" altLang="en-US" sz="1400" dirty="0"/>
                    </a:p>
                  </a:txBody>
                  <a:tcPr>
                    <a:solidFill>
                      <a:schemeClr val="accent5">
                        <a:lumMod val="40000"/>
                        <a:lumOff val="60000"/>
                      </a:schemeClr>
                    </a:solidFill>
                  </a:tcPr>
                </a:tc>
                <a:tc>
                  <a:txBody>
                    <a:bodyPr/>
                    <a:lstStyle/>
                    <a:p>
                      <a:pPr algn="ctr"/>
                      <a:r>
                        <a:rPr lang="en-US" altLang="zh-CN" sz="1400" dirty="0" smtClean="0"/>
                        <a:t>2.4</a:t>
                      </a:r>
                      <a:endParaRPr lang="zh-CN" altLang="en-US" sz="1400" dirty="0"/>
                    </a:p>
                  </a:txBody>
                  <a:tcPr>
                    <a:solidFill>
                      <a:schemeClr val="accent5">
                        <a:lumMod val="40000"/>
                        <a:lumOff val="60000"/>
                      </a:schemeClr>
                    </a:solidFill>
                  </a:tcPr>
                </a:tc>
                <a:tc>
                  <a:txBody>
                    <a:bodyPr/>
                    <a:lstStyle/>
                    <a:p>
                      <a:pPr algn="ctr"/>
                      <a:r>
                        <a:rPr lang="en-US" altLang="zh-CN" sz="1400" dirty="0" smtClean="0"/>
                        <a:t>3.6</a:t>
                      </a:r>
                      <a:endParaRPr lang="zh-CN" altLang="en-US" sz="1400" dirty="0"/>
                    </a:p>
                  </a:txBody>
                  <a:tcPr>
                    <a:solidFill>
                      <a:schemeClr val="accent5">
                        <a:lumMod val="40000"/>
                        <a:lumOff val="60000"/>
                      </a:schemeClr>
                    </a:solidFill>
                  </a:tcPr>
                </a:tc>
                <a:tc>
                  <a:txBody>
                    <a:bodyPr/>
                    <a:lstStyle/>
                    <a:p>
                      <a:pPr algn="ctr"/>
                      <a:r>
                        <a:rPr lang="en-US" altLang="zh-CN" sz="1400" dirty="0" smtClean="0"/>
                        <a:t>5.1</a:t>
                      </a:r>
                      <a:endParaRPr lang="zh-CN" altLang="en-US" sz="1400" dirty="0"/>
                    </a:p>
                  </a:txBody>
                  <a:tcPr>
                    <a:solidFill>
                      <a:schemeClr val="accent5">
                        <a:lumMod val="40000"/>
                        <a:lumOff val="60000"/>
                      </a:schemeClr>
                    </a:solidFill>
                  </a:tcPr>
                </a:tc>
                <a:tc>
                  <a:txBody>
                    <a:bodyPr/>
                    <a:lstStyle/>
                    <a:p>
                      <a:pPr algn="ctr"/>
                      <a:r>
                        <a:rPr lang="en-US" altLang="zh-CN" sz="1400" dirty="0" smtClean="0"/>
                        <a:t>7.5</a:t>
                      </a:r>
                      <a:endParaRPr lang="zh-CN" altLang="en-US" sz="1400" dirty="0"/>
                    </a:p>
                  </a:txBody>
                  <a:tcPr>
                    <a:solidFill>
                      <a:schemeClr val="accent5">
                        <a:lumMod val="40000"/>
                        <a:lumOff val="60000"/>
                      </a:schemeClr>
                    </a:solidFill>
                  </a:tcPr>
                </a:tc>
                <a:extLst>
                  <a:ext uri="{0D108BD9-81ED-4DB2-BD59-A6C34878D82A}">
                    <a16:rowId xmlns:a16="http://schemas.microsoft.com/office/drawing/2014/main" val="2363456801"/>
                  </a:ext>
                </a:extLst>
              </a:tr>
              <a:tr h="215900">
                <a:tc>
                  <a:txBody>
                    <a:bodyPr/>
                    <a:lstStyle/>
                    <a:p>
                      <a:r>
                        <a:rPr lang="en-US" altLang="zh-CN" sz="1400" b="0" dirty="0" smtClean="0"/>
                        <a:t>E24(5%), E12(10%)</a:t>
                      </a:r>
                      <a:endParaRPr lang="zh-CN" altLang="en-US" sz="1400" b="0" dirty="0"/>
                    </a:p>
                  </a:txBody>
                  <a:tcPr/>
                </a:tc>
                <a:tc>
                  <a:txBody>
                    <a:bodyPr/>
                    <a:lstStyle/>
                    <a:p>
                      <a:pPr algn="ctr"/>
                      <a:r>
                        <a:rPr lang="en-US" altLang="zh-CN" sz="1400" dirty="0" smtClean="0"/>
                        <a:t>1.2</a:t>
                      </a:r>
                      <a:endParaRPr lang="zh-CN" altLang="en-US" sz="1400" dirty="0"/>
                    </a:p>
                  </a:txBody>
                  <a:tcPr/>
                </a:tc>
                <a:tc>
                  <a:txBody>
                    <a:bodyPr/>
                    <a:lstStyle/>
                    <a:p>
                      <a:pPr algn="ctr"/>
                      <a:r>
                        <a:rPr lang="en-US" altLang="zh-CN" sz="1400" dirty="0" smtClean="0"/>
                        <a:t>1.8</a:t>
                      </a:r>
                      <a:endParaRPr lang="zh-CN" altLang="en-US" sz="1400" dirty="0"/>
                    </a:p>
                  </a:txBody>
                  <a:tcPr/>
                </a:tc>
                <a:tc>
                  <a:txBody>
                    <a:bodyPr/>
                    <a:lstStyle/>
                    <a:p>
                      <a:pPr algn="ctr"/>
                      <a:r>
                        <a:rPr lang="en-US" altLang="zh-CN" sz="1400" dirty="0" smtClean="0"/>
                        <a:t>2.7</a:t>
                      </a:r>
                      <a:endParaRPr lang="zh-CN" altLang="en-US" sz="1400" dirty="0"/>
                    </a:p>
                  </a:txBody>
                  <a:tcPr/>
                </a:tc>
                <a:tc>
                  <a:txBody>
                    <a:bodyPr/>
                    <a:lstStyle/>
                    <a:p>
                      <a:pPr algn="ctr"/>
                      <a:r>
                        <a:rPr lang="en-US" altLang="zh-CN" sz="1400" dirty="0" smtClean="0"/>
                        <a:t>3.9</a:t>
                      </a:r>
                      <a:endParaRPr lang="zh-CN" altLang="en-US" sz="1400" dirty="0"/>
                    </a:p>
                  </a:txBody>
                  <a:tcPr/>
                </a:tc>
                <a:tc>
                  <a:txBody>
                    <a:bodyPr/>
                    <a:lstStyle/>
                    <a:p>
                      <a:pPr algn="ctr"/>
                      <a:r>
                        <a:rPr lang="en-US" altLang="zh-CN" sz="1400" dirty="0" smtClean="0"/>
                        <a:t>5.6</a:t>
                      </a:r>
                      <a:endParaRPr lang="zh-CN" altLang="en-US" sz="1400" dirty="0"/>
                    </a:p>
                  </a:txBody>
                  <a:tcPr/>
                </a:tc>
                <a:tc>
                  <a:txBody>
                    <a:bodyPr/>
                    <a:lstStyle/>
                    <a:p>
                      <a:pPr algn="ctr"/>
                      <a:r>
                        <a:rPr lang="en-US" altLang="zh-CN" sz="1400" dirty="0" smtClean="0"/>
                        <a:t>8.2</a:t>
                      </a:r>
                      <a:endParaRPr lang="zh-CN" altLang="en-US" sz="1400" dirty="0"/>
                    </a:p>
                  </a:txBody>
                  <a:tcPr/>
                </a:tc>
                <a:extLst>
                  <a:ext uri="{0D108BD9-81ED-4DB2-BD59-A6C34878D82A}">
                    <a16:rowId xmlns:a16="http://schemas.microsoft.com/office/drawing/2014/main" val="300934839"/>
                  </a:ext>
                </a:extLst>
              </a:tr>
              <a:tr h="215900">
                <a:tc>
                  <a:txBody>
                    <a:bodyPr/>
                    <a:lstStyle/>
                    <a:p>
                      <a:r>
                        <a:rPr lang="en-US" altLang="zh-CN" sz="1400" b="0" dirty="0" smtClean="0"/>
                        <a:t>E24(5%)</a:t>
                      </a:r>
                      <a:endParaRPr lang="zh-CN" altLang="en-US" sz="1400" b="0" dirty="0"/>
                    </a:p>
                  </a:txBody>
                  <a:tcPr>
                    <a:solidFill>
                      <a:schemeClr val="accent5">
                        <a:lumMod val="40000"/>
                        <a:lumOff val="60000"/>
                      </a:schemeClr>
                    </a:solidFill>
                  </a:tcPr>
                </a:tc>
                <a:tc>
                  <a:txBody>
                    <a:bodyPr/>
                    <a:lstStyle/>
                    <a:p>
                      <a:pPr algn="ctr"/>
                      <a:r>
                        <a:rPr lang="en-US" altLang="zh-CN" sz="1400" dirty="0" smtClean="0"/>
                        <a:t>1.3</a:t>
                      </a:r>
                      <a:endParaRPr lang="zh-CN" altLang="en-US" sz="1400" dirty="0"/>
                    </a:p>
                  </a:txBody>
                  <a:tcPr>
                    <a:solidFill>
                      <a:schemeClr val="accent5">
                        <a:lumMod val="40000"/>
                        <a:lumOff val="60000"/>
                      </a:schemeClr>
                    </a:solidFill>
                  </a:tcPr>
                </a:tc>
                <a:tc>
                  <a:txBody>
                    <a:bodyPr/>
                    <a:lstStyle/>
                    <a:p>
                      <a:pPr algn="ctr"/>
                      <a:r>
                        <a:rPr lang="en-US" altLang="zh-CN" sz="1400" dirty="0" smtClean="0"/>
                        <a:t>2.0</a:t>
                      </a:r>
                      <a:endParaRPr lang="zh-CN" altLang="en-US" sz="1400" dirty="0"/>
                    </a:p>
                  </a:txBody>
                  <a:tcPr>
                    <a:solidFill>
                      <a:schemeClr val="accent5">
                        <a:lumMod val="40000"/>
                        <a:lumOff val="60000"/>
                      </a:schemeClr>
                    </a:solidFill>
                  </a:tcPr>
                </a:tc>
                <a:tc>
                  <a:txBody>
                    <a:bodyPr/>
                    <a:lstStyle/>
                    <a:p>
                      <a:pPr algn="ctr"/>
                      <a:r>
                        <a:rPr lang="en-US" altLang="zh-CN" sz="1400" dirty="0" smtClean="0"/>
                        <a:t>3.0</a:t>
                      </a:r>
                      <a:endParaRPr lang="zh-CN" altLang="en-US" sz="1400" dirty="0"/>
                    </a:p>
                  </a:txBody>
                  <a:tcPr>
                    <a:solidFill>
                      <a:schemeClr val="accent5">
                        <a:lumMod val="40000"/>
                        <a:lumOff val="60000"/>
                      </a:schemeClr>
                    </a:solidFill>
                  </a:tcPr>
                </a:tc>
                <a:tc>
                  <a:txBody>
                    <a:bodyPr/>
                    <a:lstStyle/>
                    <a:p>
                      <a:pPr algn="ctr"/>
                      <a:r>
                        <a:rPr lang="en-US" altLang="zh-CN" sz="1400" dirty="0" smtClean="0"/>
                        <a:t>4.3</a:t>
                      </a:r>
                      <a:endParaRPr lang="zh-CN" altLang="en-US" sz="1400" dirty="0"/>
                    </a:p>
                  </a:txBody>
                  <a:tcPr>
                    <a:solidFill>
                      <a:schemeClr val="accent5">
                        <a:lumMod val="40000"/>
                        <a:lumOff val="60000"/>
                      </a:schemeClr>
                    </a:solidFill>
                  </a:tcPr>
                </a:tc>
                <a:tc>
                  <a:txBody>
                    <a:bodyPr/>
                    <a:lstStyle/>
                    <a:p>
                      <a:pPr algn="ctr"/>
                      <a:r>
                        <a:rPr lang="en-US" altLang="zh-CN" sz="1400" dirty="0" smtClean="0"/>
                        <a:t>6.2</a:t>
                      </a:r>
                      <a:endParaRPr lang="zh-CN" altLang="en-US" sz="1400" dirty="0"/>
                    </a:p>
                  </a:txBody>
                  <a:tcPr>
                    <a:solidFill>
                      <a:schemeClr val="accent5">
                        <a:lumMod val="40000"/>
                        <a:lumOff val="60000"/>
                      </a:schemeClr>
                    </a:solidFill>
                  </a:tcPr>
                </a:tc>
                <a:tc>
                  <a:txBody>
                    <a:bodyPr/>
                    <a:lstStyle/>
                    <a:p>
                      <a:pPr algn="ctr"/>
                      <a:r>
                        <a:rPr lang="en-US" altLang="zh-CN" sz="1400" dirty="0" smtClean="0"/>
                        <a:t>9.1</a:t>
                      </a:r>
                      <a:endParaRPr lang="zh-CN" altLang="en-US" sz="1400" dirty="0"/>
                    </a:p>
                  </a:txBody>
                  <a:tcPr>
                    <a:solidFill>
                      <a:schemeClr val="accent5">
                        <a:lumMod val="40000"/>
                        <a:lumOff val="60000"/>
                      </a:schemeClr>
                    </a:solidFill>
                  </a:tcPr>
                </a:tc>
                <a:extLst>
                  <a:ext uri="{0D108BD9-81ED-4DB2-BD59-A6C34878D82A}">
                    <a16:rowId xmlns:a16="http://schemas.microsoft.com/office/drawing/2014/main" val="892794822"/>
                  </a:ext>
                </a:extLst>
              </a:tr>
            </a:tbl>
          </a:graphicData>
        </a:graphic>
      </p:graphicFrame>
      <p:sp>
        <p:nvSpPr>
          <p:cNvPr id="4" name="文本框 3"/>
          <p:cNvSpPr txBox="1"/>
          <p:nvPr/>
        </p:nvSpPr>
        <p:spPr>
          <a:xfrm>
            <a:off x="2104149" y="5805198"/>
            <a:ext cx="7762284" cy="400110"/>
          </a:xfrm>
          <a:prstGeom prst="rect">
            <a:avLst/>
          </a:prstGeom>
          <a:noFill/>
        </p:spPr>
        <p:txBody>
          <a:bodyPr wrap="square" rtlCol="0">
            <a:spAutoFit/>
          </a:bodyPr>
          <a:lstStyle/>
          <a:p>
            <a:r>
              <a:rPr lang="zh-CN" altLang="en-US" dirty="0"/>
              <a:t>电容、电感的标称值系列与电阻相同，但通常只有</a:t>
            </a:r>
            <a:r>
              <a:rPr lang="en-US" altLang="zh-CN" dirty="0"/>
              <a:t>E12</a:t>
            </a:r>
            <a:r>
              <a:rPr lang="zh-CN" altLang="en-US" dirty="0"/>
              <a:t>与</a:t>
            </a:r>
            <a:r>
              <a:rPr lang="en-US" altLang="zh-CN" dirty="0"/>
              <a:t>E6</a:t>
            </a:r>
            <a:r>
              <a:rPr lang="zh-CN" altLang="en-US" dirty="0"/>
              <a:t>系列</a:t>
            </a:r>
          </a:p>
        </p:txBody>
      </p:sp>
      <p:graphicFrame>
        <p:nvGraphicFramePr>
          <p:cNvPr id="8" name="表格 7"/>
          <p:cNvGraphicFramePr>
            <a:graphicFrameLocks noGrp="1"/>
          </p:cNvGraphicFramePr>
          <p:nvPr>
            <p:extLst>
              <p:ext uri="{D42A27DB-BD31-4B8C-83A1-F6EECF244321}">
                <p14:modId xmlns:p14="http://schemas.microsoft.com/office/powerpoint/2010/main" val="1640951843"/>
              </p:ext>
            </p:extLst>
          </p:nvPr>
        </p:nvGraphicFramePr>
        <p:xfrm>
          <a:off x="624417" y="2478281"/>
          <a:ext cx="11001511" cy="3657600"/>
        </p:xfrm>
        <a:graphic>
          <a:graphicData uri="http://schemas.openxmlformats.org/drawingml/2006/table">
            <a:tbl>
              <a:tblPr bandRow="1">
                <a:tableStyleId>{5C22544A-7EE6-4342-B048-85BDC9FD1C3A}</a:tableStyleId>
              </a:tblPr>
              <a:tblGrid>
                <a:gridCol w="1915575">
                  <a:extLst>
                    <a:ext uri="{9D8B030D-6E8A-4147-A177-3AD203B41FA5}">
                      <a16:colId xmlns:a16="http://schemas.microsoft.com/office/drawing/2014/main" val="804617811"/>
                    </a:ext>
                  </a:extLst>
                </a:gridCol>
                <a:gridCol w="567871">
                  <a:extLst>
                    <a:ext uri="{9D8B030D-6E8A-4147-A177-3AD203B41FA5}">
                      <a16:colId xmlns:a16="http://schemas.microsoft.com/office/drawing/2014/main" val="4268404077"/>
                    </a:ext>
                  </a:extLst>
                </a:gridCol>
                <a:gridCol w="567871">
                  <a:extLst>
                    <a:ext uri="{9D8B030D-6E8A-4147-A177-3AD203B41FA5}">
                      <a16:colId xmlns:a16="http://schemas.microsoft.com/office/drawing/2014/main" val="2935321735"/>
                    </a:ext>
                  </a:extLst>
                </a:gridCol>
                <a:gridCol w="567871">
                  <a:extLst>
                    <a:ext uri="{9D8B030D-6E8A-4147-A177-3AD203B41FA5}">
                      <a16:colId xmlns:a16="http://schemas.microsoft.com/office/drawing/2014/main" val="4261982915"/>
                    </a:ext>
                  </a:extLst>
                </a:gridCol>
                <a:gridCol w="567871">
                  <a:extLst>
                    <a:ext uri="{9D8B030D-6E8A-4147-A177-3AD203B41FA5}">
                      <a16:colId xmlns:a16="http://schemas.microsoft.com/office/drawing/2014/main" val="2034954157"/>
                    </a:ext>
                  </a:extLst>
                </a:gridCol>
                <a:gridCol w="567871">
                  <a:extLst>
                    <a:ext uri="{9D8B030D-6E8A-4147-A177-3AD203B41FA5}">
                      <a16:colId xmlns:a16="http://schemas.microsoft.com/office/drawing/2014/main" val="3292887957"/>
                    </a:ext>
                  </a:extLst>
                </a:gridCol>
                <a:gridCol w="567871">
                  <a:extLst>
                    <a:ext uri="{9D8B030D-6E8A-4147-A177-3AD203B41FA5}">
                      <a16:colId xmlns:a16="http://schemas.microsoft.com/office/drawing/2014/main" val="3628198017"/>
                    </a:ext>
                  </a:extLst>
                </a:gridCol>
                <a:gridCol w="567871">
                  <a:extLst>
                    <a:ext uri="{9D8B030D-6E8A-4147-A177-3AD203B41FA5}">
                      <a16:colId xmlns:a16="http://schemas.microsoft.com/office/drawing/2014/main" val="401756313"/>
                    </a:ext>
                  </a:extLst>
                </a:gridCol>
                <a:gridCol w="567871">
                  <a:extLst>
                    <a:ext uri="{9D8B030D-6E8A-4147-A177-3AD203B41FA5}">
                      <a16:colId xmlns:a16="http://schemas.microsoft.com/office/drawing/2014/main" val="2916195009"/>
                    </a:ext>
                  </a:extLst>
                </a:gridCol>
                <a:gridCol w="567871">
                  <a:extLst>
                    <a:ext uri="{9D8B030D-6E8A-4147-A177-3AD203B41FA5}">
                      <a16:colId xmlns:a16="http://schemas.microsoft.com/office/drawing/2014/main" val="3518084281"/>
                    </a:ext>
                  </a:extLst>
                </a:gridCol>
                <a:gridCol w="567871">
                  <a:extLst>
                    <a:ext uri="{9D8B030D-6E8A-4147-A177-3AD203B41FA5}">
                      <a16:colId xmlns:a16="http://schemas.microsoft.com/office/drawing/2014/main" val="549312503"/>
                    </a:ext>
                  </a:extLst>
                </a:gridCol>
                <a:gridCol w="567871">
                  <a:extLst>
                    <a:ext uri="{9D8B030D-6E8A-4147-A177-3AD203B41FA5}">
                      <a16:colId xmlns:a16="http://schemas.microsoft.com/office/drawing/2014/main" val="1776338093"/>
                    </a:ext>
                  </a:extLst>
                </a:gridCol>
                <a:gridCol w="567871">
                  <a:extLst>
                    <a:ext uri="{9D8B030D-6E8A-4147-A177-3AD203B41FA5}">
                      <a16:colId xmlns:a16="http://schemas.microsoft.com/office/drawing/2014/main" val="814237955"/>
                    </a:ext>
                  </a:extLst>
                </a:gridCol>
                <a:gridCol w="567871">
                  <a:extLst>
                    <a:ext uri="{9D8B030D-6E8A-4147-A177-3AD203B41FA5}">
                      <a16:colId xmlns:a16="http://schemas.microsoft.com/office/drawing/2014/main" val="4079133067"/>
                    </a:ext>
                  </a:extLst>
                </a:gridCol>
                <a:gridCol w="567871">
                  <a:extLst>
                    <a:ext uri="{9D8B030D-6E8A-4147-A177-3AD203B41FA5}">
                      <a16:colId xmlns:a16="http://schemas.microsoft.com/office/drawing/2014/main" val="236925193"/>
                    </a:ext>
                  </a:extLst>
                </a:gridCol>
                <a:gridCol w="567871">
                  <a:extLst>
                    <a:ext uri="{9D8B030D-6E8A-4147-A177-3AD203B41FA5}">
                      <a16:colId xmlns:a16="http://schemas.microsoft.com/office/drawing/2014/main" val="1282764507"/>
                    </a:ext>
                  </a:extLst>
                </a:gridCol>
                <a:gridCol w="567871">
                  <a:extLst>
                    <a:ext uri="{9D8B030D-6E8A-4147-A177-3AD203B41FA5}">
                      <a16:colId xmlns:a16="http://schemas.microsoft.com/office/drawing/2014/main" val="2871071617"/>
                    </a:ext>
                  </a:extLst>
                </a:gridCol>
              </a:tblGrid>
              <a:tr h="3030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mn-lt"/>
                        </a:rPr>
                        <a:t>E192(0.5%), E96(1%)</a:t>
                      </a:r>
                      <a:endParaRPr lang="zh-CN" altLang="en-US" sz="1400" dirty="0"/>
                    </a:p>
                  </a:txBody>
                  <a:tcPr/>
                </a:tc>
                <a:tc>
                  <a:txBody>
                    <a:bodyPr/>
                    <a:lstStyle/>
                    <a:p>
                      <a:r>
                        <a:rPr lang="en-US" altLang="zh-CN" sz="1400" dirty="0" smtClean="0"/>
                        <a:t>1.00</a:t>
                      </a:r>
                      <a:endParaRPr lang="zh-CN" altLang="en-US" sz="1400" dirty="0"/>
                    </a:p>
                  </a:txBody>
                  <a:tcPr/>
                </a:tc>
                <a:tc>
                  <a:txBody>
                    <a:bodyPr/>
                    <a:lstStyle/>
                    <a:p>
                      <a:r>
                        <a:rPr lang="en-US" altLang="zh-CN" sz="1400" dirty="0" smtClean="0"/>
                        <a:t>1.15</a:t>
                      </a:r>
                      <a:endParaRPr lang="zh-CN" altLang="en-US" sz="1400" dirty="0"/>
                    </a:p>
                  </a:txBody>
                  <a:tcPr/>
                </a:tc>
                <a:tc>
                  <a:txBody>
                    <a:bodyPr/>
                    <a:lstStyle/>
                    <a:p>
                      <a:r>
                        <a:rPr lang="en-US" altLang="zh-CN" sz="1400" dirty="0" smtClean="0"/>
                        <a:t>1.33</a:t>
                      </a:r>
                      <a:endParaRPr lang="zh-CN" altLang="en-US" sz="1400" dirty="0"/>
                    </a:p>
                  </a:txBody>
                  <a:tcPr/>
                </a:tc>
                <a:tc>
                  <a:txBody>
                    <a:bodyPr/>
                    <a:lstStyle/>
                    <a:p>
                      <a:r>
                        <a:rPr lang="en-US" altLang="zh-CN" sz="1400" dirty="0" smtClean="0"/>
                        <a:t>1.54</a:t>
                      </a:r>
                      <a:endParaRPr lang="zh-CN" altLang="en-US" sz="1400" dirty="0"/>
                    </a:p>
                  </a:txBody>
                  <a:tcPr/>
                </a:tc>
                <a:tc>
                  <a:txBody>
                    <a:bodyPr/>
                    <a:lstStyle/>
                    <a:p>
                      <a:r>
                        <a:rPr lang="en-US" altLang="zh-CN" sz="1400" dirty="0" smtClean="0"/>
                        <a:t>1.78</a:t>
                      </a:r>
                      <a:endParaRPr lang="zh-CN" altLang="en-US" sz="1400" dirty="0"/>
                    </a:p>
                  </a:txBody>
                  <a:tcPr/>
                </a:tc>
                <a:tc>
                  <a:txBody>
                    <a:bodyPr/>
                    <a:lstStyle/>
                    <a:p>
                      <a:r>
                        <a:rPr lang="en-US" altLang="zh-CN" sz="1400" dirty="0" smtClean="0"/>
                        <a:t>2.05</a:t>
                      </a:r>
                      <a:endParaRPr lang="zh-CN" altLang="en-US" sz="1400" dirty="0"/>
                    </a:p>
                  </a:txBody>
                  <a:tcPr/>
                </a:tc>
                <a:tc>
                  <a:txBody>
                    <a:bodyPr/>
                    <a:lstStyle/>
                    <a:p>
                      <a:r>
                        <a:rPr lang="en-US" altLang="zh-CN" sz="1400" dirty="0" smtClean="0"/>
                        <a:t>2.37</a:t>
                      </a:r>
                      <a:endParaRPr lang="zh-CN" altLang="en-US" sz="1400" dirty="0"/>
                    </a:p>
                  </a:txBody>
                  <a:tcPr/>
                </a:tc>
                <a:tc>
                  <a:txBody>
                    <a:bodyPr/>
                    <a:lstStyle/>
                    <a:p>
                      <a:r>
                        <a:rPr lang="en-US" altLang="zh-CN" sz="1400" dirty="0" smtClean="0"/>
                        <a:t>2.74</a:t>
                      </a:r>
                      <a:endParaRPr lang="zh-CN" altLang="en-US" sz="1400" dirty="0"/>
                    </a:p>
                  </a:txBody>
                  <a:tcPr/>
                </a:tc>
                <a:tc>
                  <a:txBody>
                    <a:bodyPr/>
                    <a:lstStyle/>
                    <a:p>
                      <a:r>
                        <a:rPr lang="en-US" altLang="zh-CN" sz="1400" dirty="0" smtClean="0"/>
                        <a:t>3.16</a:t>
                      </a:r>
                      <a:endParaRPr lang="zh-CN" altLang="en-US" sz="1400" dirty="0"/>
                    </a:p>
                  </a:txBody>
                  <a:tcPr/>
                </a:tc>
                <a:tc>
                  <a:txBody>
                    <a:bodyPr/>
                    <a:lstStyle/>
                    <a:p>
                      <a:r>
                        <a:rPr lang="en-US" altLang="zh-CN" sz="1400" dirty="0" smtClean="0"/>
                        <a:t>3.65</a:t>
                      </a:r>
                      <a:endParaRPr lang="zh-CN" altLang="en-US" sz="1400" dirty="0"/>
                    </a:p>
                  </a:txBody>
                  <a:tcPr/>
                </a:tc>
                <a:tc>
                  <a:txBody>
                    <a:bodyPr/>
                    <a:lstStyle/>
                    <a:p>
                      <a:r>
                        <a:rPr lang="en-US" altLang="zh-CN" sz="1400" dirty="0" smtClean="0"/>
                        <a:t>4.22</a:t>
                      </a:r>
                      <a:endParaRPr lang="zh-CN" altLang="en-US" sz="1400" dirty="0"/>
                    </a:p>
                  </a:txBody>
                  <a:tcPr/>
                </a:tc>
                <a:tc>
                  <a:txBody>
                    <a:bodyPr/>
                    <a:lstStyle/>
                    <a:p>
                      <a:r>
                        <a:rPr lang="en-US" altLang="zh-CN" sz="1400" dirty="0" smtClean="0"/>
                        <a:t>4.87</a:t>
                      </a:r>
                      <a:endParaRPr lang="zh-CN" altLang="en-US" sz="1400" dirty="0"/>
                    </a:p>
                  </a:txBody>
                  <a:tcPr/>
                </a:tc>
                <a:tc>
                  <a:txBody>
                    <a:bodyPr/>
                    <a:lstStyle/>
                    <a:p>
                      <a:r>
                        <a:rPr lang="en-US" altLang="zh-CN" sz="1400" dirty="0" smtClean="0"/>
                        <a:t>5.62</a:t>
                      </a:r>
                      <a:endParaRPr lang="zh-CN" altLang="en-US" sz="1400" dirty="0"/>
                    </a:p>
                  </a:txBody>
                  <a:tcPr/>
                </a:tc>
                <a:tc>
                  <a:txBody>
                    <a:bodyPr/>
                    <a:lstStyle/>
                    <a:p>
                      <a:r>
                        <a:rPr lang="en-US" altLang="zh-CN" sz="1400" dirty="0" smtClean="0"/>
                        <a:t>6.49</a:t>
                      </a:r>
                      <a:endParaRPr lang="zh-CN" altLang="en-US" sz="1400" dirty="0"/>
                    </a:p>
                  </a:txBody>
                  <a:tcPr/>
                </a:tc>
                <a:tc>
                  <a:txBody>
                    <a:bodyPr/>
                    <a:lstStyle/>
                    <a:p>
                      <a:r>
                        <a:rPr lang="en-US" altLang="zh-CN" sz="1400" dirty="0" smtClean="0"/>
                        <a:t>7.50</a:t>
                      </a:r>
                      <a:endParaRPr lang="zh-CN" altLang="en-US" sz="1400" dirty="0"/>
                    </a:p>
                  </a:txBody>
                  <a:tcPr/>
                </a:tc>
                <a:tc>
                  <a:txBody>
                    <a:bodyPr/>
                    <a:lstStyle/>
                    <a:p>
                      <a:r>
                        <a:rPr lang="en-US" altLang="zh-CN" sz="1400" dirty="0" smtClean="0"/>
                        <a:t>8.66</a:t>
                      </a:r>
                      <a:endParaRPr lang="zh-CN" altLang="en-US" sz="1400" dirty="0"/>
                    </a:p>
                  </a:txBody>
                  <a:tcPr/>
                </a:tc>
                <a:extLst>
                  <a:ext uri="{0D108BD9-81ED-4DB2-BD59-A6C34878D82A}">
                    <a16:rowId xmlns:a16="http://schemas.microsoft.com/office/drawing/2014/main" val="4201530643"/>
                  </a:ext>
                </a:extLst>
              </a:tr>
              <a:tr h="303081">
                <a:tc>
                  <a:txBody>
                    <a:bodyPr/>
                    <a:lstStyle/>
                    <a:p>
                      <a:r>
                        <a:rPr lang="en-US" altLang="zh-CN" sz="1400" dirty="0" smtClean="0">
                          <a:latin typeface="+mn-lt"/>
                        </a:rPr>
                        <a:t>E192(0.5%)</a:t>
                      </a:r>
                      <a:endParaRPr lang="zh-CN" altLang="en-US" sz="1400" dirty="0"/>
                    </a:p>
                  </a:txBody>
                  <a:tcPr/>
                </a:tc>
                <a:tc>
                  <a:txBody>
                    <a:bodyPr/>
                    <a:lstStyle/>
                    <a:p>
                      <a:r>
                        <a:rPr lang="en-US" altLang="zh-CN" sz="1400" dirty="0" smtClean="0"/>
                        <a:t>1.01</a:t>
                      </a:r>
                      <a:endParaRPr lang="zh-CN" altLang="en-US" sz="1400" dirty="0"/>
                    </a:p>
                  </a:txBody>
                  <a:tcPr/>
                </a:tc>
                <a:tc>
                  <a:txBody>
                    <a:bodyPr/>
                    <a:lstStyle/>
                    <a:p>
                      <a:r>
                        <a:rPr lang="en-US" altLang="zh-CN" sz="1400" dirty="0" smtClean="0"/>
                        <a:t>1.17</a:t>
                      </a:r>
                      <a:endParaRPr lang="zh-CN" altLang="en-US" sz="1400" dirty="0"/>
                    </a:p>
                  </a:txBody>
                  <a:tcPr/>
                </a:tc>
                <a:tc>
                  <a:txBody>
                    <a:bodyPr/>
                    <a:lstStyle/>
                    <a:p>
                      <a:r>
                        <a:rPr lang="en-US" altLang="zh-CN" sz="1400" dirty="0" smtClean="0"/>
                        <a:t>1.35</a:t>
                      </a:r>
                      <a:endParaRPr lang="zh-CN" altLang="en-US" sz="1400" dirty="0"/>
                    </a:p>
                  </a:txBody>
                  <a:tcPr/>
                </a:tc>
                <a:tc>
                  <a:txBody>
                    <a:bodyPr/>
                    <a:lstStyle/>
                    <a:p>
                      <a:r>
                        <a:rPr lang="en-US" altLang="zh-CN" sz="1400" dirty="0" smtClean="0"/>
                        <a:t>1.56</a:t>
                      </a:r>
                      <a:endParaRPr lang="zh-CN" altLang="en-US" sz="1400" dirty="0"/>
                    </a:p>
                  </a:txBody>
                  <a:tcPr/>
                </a:tc>
                <a:tc>
                  <a:txBody>
                    <a:bodyPr/>
                    <a:lstStyle/>
                    <a:p>
                      <a:r>
                        <a:rPr lang="en-US" altLang="zh-CN" sz="1400" dirty="0" smtClean="0"/>
                        <a:t>1.80</a:t>
                      </a:r>
                      <a:endParaRPr lang="zh-CN" altLang="en-US" sz="1400" dirty="0"/>
                    </a:p>
                  </a:txBody>
                  <a:tcPr/>
                </a:tc>
                <a:tc>
                  <a:txBody>
                    <a:bodyPr/>
                    <a:lstStyle/>
                    <a:p>
                      <a:r>
                        <a:rPr lang="en-US" altLang="zh-CN" sz="1400" dirty="0" smtClean="0"/>
                        <a:t>2.08</a:t>
                      </a:r>
                      <a:endParaRPr lang="zh-CN" altLang="en-US" sz="1400" dirty="0"/>
                    </a:p>
                  </a:txBody>
                  <a:tcPr/>
                </a:tc>
                <a:tc>
                  <a:txBody>
                    <a:bodyPr/>
                    <a:lstStyle/>
                    <a:p>
                      <a:r>
                        <a:rPr lang="en-US" altLang="zh-CN" sz="1400" dirty="0" smtClean="0"/>
                        <a:t>2.40</a:t>
                      </a:r>
                      <a:endParaRPr lang="zh-CN" altLang="en-US" sz="1400" dirty="0"/>
                    </a:p>
                  </a:txBody>
                  <a:tcPr/>
                </a:tc>
                <a:tc>
                  <a:txBody>
                    <a:bodyPr/>
                    <a:lstStyle/>
                    <a:p>
                      <a:r>
                        <a:rPr lang="en-US" altLang="zh-CN" sz="1400" dirty="0" smtClean="0"/>
                        <a:t>2.77</a:t>
                      </a:r>
                      <a:endParaRPr lang="zh-CN" altLang="en-US" sz="1400" dirty="0"/>
                    </a:p>
                  </a:txBody>
                  <a:tcPr/>
                </a:tc>
                <a:tc>
                  <a:txBody>
                    <a:bodyPr/>
                    <a:lstStyle/>
                    <a:p>
                      <a:r>
                        <a:rPr lang="en-US" altLang="zh-CN" sz="1400" dirty="0" smtClean="0"/>
                        <a:t>3.20</a:t>
                      </a:r>
                      <a:endParaRPr lang="zh-CN" altLang="en-US" sz="1400" dirty="0"/>
                    </a:p>
                  </a:txBody>
                  <a:tcPr/>
                </a:tc>
                <a:tc>
                  <a:txBody>
                    <a:bodyPr/>
                    <a:lstStyle/>
                    <a:p>
                      <a:r>
                        <a:rPr lang="en-US" altLang="zh-CN" sz="1400" dirty="0" smtClean="0"/>
                        <a:t>3.70</a:t>
                      </a:r>
                      <a:endParaRPr lang="zh-CN" altLang="en-US" sz="1400" dirty="0"/>
                    </a:p>
                  </a:txBody>
                  <a:tcPr/>
                </a:tc>
                <a:tc>
                  <a:txBody>
                    <a:bodyPr/>
                    <a:lstStyle/>
                    <a:p>
                      <a:r>
                        <a:rPr lang="en-US" altLang="zh-CN" sz="1400" dirty="0" smtClean="0"/>
                        <a:t>4.27</a:t>
                      </a:r>
                      <a:endParaRPr lang="zh-CN" altLang="en-US" sz="1400" dirty="0"/>
                    </a:p>
                  </a:txBody>
                  <a:tcPr/>
                </a:tc>
                <a:tc>
                  <a:txBody>
                    <a:bodyPr/>
                    <a:lstStyle/>
                    <a:p>
                      <a:r>
                        <a:rPr lang="en-US" altLang="zh-CN" sz="1400" dirty="0" smtClean="0"/>
                        <a:t>4.93</a:t>
                      </a:r>
                      <a:endParaRPr lang="zh-CN" altLang="en-US" sz="1400" dirty="0"/>
                    </a:p>
                  </a:txBody>
                  <a:tcPr/>
                </a:tc>
                <a:tc>
                  <a:txBody>
                    <a:bodyPr/>
                    <a:lstStyle/>
                    <a:p>
                      <a:r>
                        <a:rPr lang="en-US" altLang="zh-CN" sz="1400" dirty="0" smtClean="0"/>
                        <a:t>5.69</a:t>
                      </a:r>
                      <a:endParaRPr lang="zh-CN" altLang="en-US" sz="1400" dirty="0"/>
                    </a:p>
                  </a:txBody>
                  <a:tcPr/>
                </a:tc>
                <a:tc>
                  <a:txBody>
                    <a:bodyPr/>
                    <a:lstStyle/>
                    <a:p>
                      <a:r>
                        <a:rPr lang="en-US" altLang="zh-CN" sz="1400" dirty="0" smtClean="0"/>
                        <a:t>6.57</a:t>
                      </a:r>
                      <a:endParaRPr lang="zh-CN" altLang="en-US" sz="1400" dirty="0"/>
                    </a:p>
                  </a:txBody>
                  <a:tcPr/>
                </a:tc>
                <a:tc>
                  <a:txBody>
                    <a:bodyPr/>
                    <a:lstStyle/>
                    <a:p>
                      <a:r>
                        <a:rPr lang="en-US" altLang="zh-CN" sz="1400" dirty="0" smtClean="0"/>
                        <a:t>7.59</a:t>
                      </a:r>
                      <a:endParaRPr lang="zh-CN" altLang="en-US" sz="1400" dirty="0"/>
                    </a:p>
                  </a:txBody>
                  <a:tcPr/>
                </a:tc>
                <a:tc>
                  <a:txBody>
                    <a:bodyPr/>
                    <a:lstStyle/>
                    <a:p>
                      <a:r>
                        <a:rPr lang="en-US" altLang="zh-CN" sz="1400" dirty="0" smtClean="0"/>
                        <a:t>8.76</a:t>
                      </a:r>
                      <a:endParaRPr lang="zh-CN" altLang="en-US" sz="1400" dirty="0"/>
                    </a:p>
                  </a:txBody>
                  <a:tcPr/>
                </a:tc>
                <a:extLst>
                  <a:ext uri="{0D108BD9-81ED-4DB2-BD59-A6C34878D82A}">
                    <a16:rowId xmlns:a16="http://schemas.microsoft.com/office/drawing/2014/main" val="1647652234"/>
                  </a:ext>
                </a:extLst>
              </a:tr>
              <a:tr h="3030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mn-lt"/>
                        </a:rPr>
                        <a:t>E192(0.5%), E96(1%)</a:t>
                      </a:r>
                      <a:endParaRPr lang="zh-CN" altLang="en-US" sz="1400" dirty="0" smtClean="0"/>
                    </a:p>
                  </a:txBody>
                  <a:tcPr/>
                </a:tc>
                <a:tc>
                  <a:txBody>
                    <a:bodyPr/>
                    <a:lstStyle/>
                    <a:p>
                      <a:r>
                        <a:rPr lang="en-US" altLang="zh-CN" sz="1400" dirty="0" smtClean="0"/>
                        <a:t>1.02</a:t>
                      </a:r>
                      <a:endParaRPr lang="zh-CN" altLang="en-US" sz="1400" dirty="0"/>
                    </a:p>
                  </a:txBody>
                  <a:tcPr/>
                </a:tc>
                <a:tc>
                  <a:txBody>
                    <a:bodyPr/>
                    <a:lstStyle/>
                    <a:p>
                      <a:r>
                        <a:rPr lang="en-US" altLang="zh-CN" sz="1400" dirty="0" smtClean="0"/>
                        <a:t>1.18</a:t>
                      </a:r>
                      <a:endParaRPr lang="zh-CN" altLang="en-US" sz="1400" dirty="0"/>
                    </a:p>
                  </a:txBody>
                  <a:tcPr/>
                </a:tc>
                <a:tc>
                  <a:txBody>
                    <a:bodyPr/>
                    <a:lstStyle/>
                    <a:p>
                      <a:r>
                        <a:rPr lang="en-US" altLang="zh-CN" sz="1400" dirty="0" smtClean="0"/>
                        <a:t>1.37</a:t>
                      </a:r>
                      <a:endParaRPr lang="zh-CN" altLang="en-US" sz="1400" dirty="0"/>
                    </a:p>
                  </a:txBody>
                  <a:tcPr/>
                </a:tc>
                <a:tc>
                  <a:txBody>
                    <a:bodyPr/>
                    <a:lstStyle/>
                    <a:p>
                      <a:r>
                        <a:rPr lang="en-US" altLang="zh-CN" sz="1400" dirty="0" smtClean="0"/>
                        <a:t>1.58</a:t>
                      </a:r>
                      <a:endParaRPr lang="zh-CN" altLang="en-US" sz="1400" dirty="0"/>
                    </a:p>
                  </a:txBody>
                  <a:tcPr/>
                </a:tc>
                <a:tc>
                  <a:txBody>
                    <a:bodyPr/>
                    <a:lstStyle/>
                    <a:p>
                      <a:r>
                        <a:rPr lang="en-US" altLang="zh-CN" sz="1400" dirty="0" smtClean="0"/>
                        <a:t>1.82</a:t>
                      </a:r>
                      <a:endParaRPr lang="zh-CN" altLang="en-US" sz="1400" dirty="0"/>
                    </a:p>
                  </a:txBody>
                  <a:tcPr/>
                </a:tc>
                <a:tc>
                  <a:txBody>
                    <a:bodyPr/>
                    <a:lstStyle/>
                    <a:p>
                      <a:r>
                        <a:rPr lang="en-US" altLang="zh-CN" sz="1400" dirty="0" smtClean="0"/>
                        <a:t>2.10</a:t>
                      </a:r>
                      <a:endParaRPr lang="zh-CN" altLang="en-US" sz="1400" dirty="0"/>
                    </a:p>
                  </a:txBody>
                  <a:tcPr/>
                </a:tc>
                <a:tc>
                  <a:txBody>
                    <a:bodyPr/>
                    <a:lstStyle/>
                    <a:p>
                      <a:r>
                        <a:rPr lang="en-US" altLang="zh-CN" sz="1400" dirty="0" smtClean="0"/>
                        <a:t>2.43</a:t>
                      </a:r>
                      <a:endParaRPr lang="zh-CN" altLang="en-US" sz="1400" dirty="0"/>
                    </a:p>
                  </a:txBody>
                  <a:tcPr/>
                </a:tc>
                <a:tc>
                  <a:txBody>
                    <a:bodyPr/>
                    <a:lstStyle/>
                    <a:p>
                      <a:r>
                        <a:rPr lang="en-US" altLang="zh-CN" sz="1400" dirty="0" smtClean="0"/>
                        <a:t>2.80</a:t>
                      </a:r>
                      <a:endParaRPr lang="zh-CN" altLang="en-US" sz="1400" dirty="0"/>
                    </a:p>
                  </a:txBody>
                  <a:tcPr/>
                </a:tc>
                <a:tc>
                  <a:txBody>
                    <a:bodyPr/>
                    <a:lstStyle/>
                    <a:p>
                      <a:r>
                        <a:rPr lang="en-US" altLang="zh-CN" sz="1400" dirty="0" smtClean="0"/>
                        <a:t>3.24</a:t>
                      </a:r>
                      <a:endParaRPr lang="zh-CN" altLang="en-US" sz="1400" dirty="0"/>
                    </a:p>
                  </a:txBody>
                  <a:tcPr/>
                </a:tc>
                <a:tc>
                  <a:txBody>
                    <a:bodyPr/>
                    <a:lstStyle/>
                    <a:p>
                      <a:r>
                        <a:rPr lang="en-US" altLang="zh-CN" sz="1400" dirty="0" smtClean="0"/>
                        <a:t>3.74</a:t>
                      </a:r>
                      <a:endParaRPr lang="zh-CN" altLang="en-US" sz="1400" dirty="0"/>
                    </a:p>
                  </a:txBody>
                  <a:tcPr/>
                </a:tc>
                <a:tc>
                  <a:txBody>
                    <a:bodyPr/>
                    <a:lstStyle/>
                    <a:p>
                      <a:r>
                        <a:rPr lang="en-US" altLang="zh-CN" sz="1400" dirty="0" smtClean="0"/>
                        <a:t>4.32</a:t>
                      </a:r>
                      <a:endParaRPr lang="zh-CN" altLang="en-US" sz="1400" dirty="0"/>
                    </a:p>
                  </a:txBody>
                  <a:tcPr/>
                </a:tc>
                <a:tc>
                  <a:txBody>
                    <a:bodyPr/>
                    <a:lstStyle/>
                    <a:p>
                      <a:r>
                        <a:rPr lang="en-US" altLang="zh-CN" sz="1400" dirty="0" smtClean="0"/>
                        <a:t>4.99</a:t>
                      </a:r>
                      <a:endParaRPr lang="zh-CN" altLang="en-US" sz="1400" dirty="0"/>
                    </a:p>
                  </a:txBody>
                  <a:tcPr/>
                </a:tc>
                <a:tc>
                  <a:txBody>
                    <a:bodyPr/>
                    <a:lstStyle/>
                    <a:p>
                      <a:r>
                        <a:rPr lang="en-US" altLang="zh-CN" sz="1400" dirty="0" smtClean="0"/>
                        <a:t>5.76</a:t>
                      </a:r>
                      <a:endParaRPr lang="zh-CN" altLang="en-US" sz="1400" dirty="0"/>
                    </a:p>
                  </a:txBody>
                  <a:tcPr/>
                </a:tc>
                <a:tc>
                  <a:txBody>
                    <a:bodyPr/>
                    <a:lstStyle/>
                    <a:p>
                      <a:r>
                        <a:rPr lang="en-US" altLang="zh-CN" sz="1400" dirty="0" smtClean="0"/>
                        <a:t>6.65</a:t>
                      </a:r>
                      <a:endParaRPr lang="zh-CN" altLang="en-US" sz="1400" dirty="0"/>
                    </a:p>
                  </a:txBody>
                  <a:tcPr/>
                </a:tc>
                <a:tc>
                  <a:txBody>
                    <a:bodyPr/>
                    <a:lstStyle/>
                    <a:p>
                      <a:r>
                        <a:rPr lang="en-US" altLang="zh-CN" sz="1400" dirty="0" smtClean="0"/>
                        <a:t>7.68</a:t>
                      </a:r>
                      <a:endParaRPr lang="zh-CN" altLang="en-US" sz="1400" dirty="0"/>
                    </a:p>
                  </a:txBody>
                  <a:tcPr/>
                </a:tc>
                <a:tc>
                  <a:txBody>
                    <a:bodyPr/>
                    <a:lstStyle/>
                    <a:p>
                      <a:r>
                        <a:rPr lang="en-US" altLang="zh-CN" sz="1400" dirty="0" smtClean="0"/>
                        <a:t>8.87</a:t>
                      </a:r>
                      <a:endParaRPr lang="zh-CN" altLang="en-US" sz="1400" dirty="0"/>
                    </a:p>
                  </a:txBody>
                  <a:tcPr/>
                </a:tc>
                <a:extLst>
                  <a:ext uri="{0D108BD9-81ED-4DB2-BD59-A6C34878D82A}">
                    <a16:rowId xmlns:a16="http://schemas.microsoft.com/office/drawing/2014/main" val="267079948"/>
                  </a:ext>
                </a:extLst>
              </a:tr>
              <a:tr h="303081">
                <a:tc>
                  <a:txBody>
                    <a:bodyPr/>
                    <a:lstStyle/>
                    <a:p>
                      <a:r>
                        <a:rPr lang="en-US" altLang="zh-CN" sz="1400" dirty="0" smtClean="0">
                          <a:latin typeface="+mn-lt"/>
                        </a:rPr>
                        <a:t>E192(0.5%)</a:t>
                      </a:r>
                      <a:endParaRPr lang="zh-CN" altLang="en-US" sz="1400" dirty="0"/>
                    </a:p>
                  </a:txBody>
                  <a:tcPr/>
                </a:tc>
                <a:tc>
                  <a:txBody>
                    <a:bodyPr/>
                    <a:lstStyle/>
                    <a:p>
                      <a:r>
                        <a:rPr lang="en-US" altLang="zh-CN" sz="1400" dirty="0" smtClean="0"/>
                        <a:t>1.04</a:t>
                      </a:r>
                      <a:endParaRPr lang="zh-CN" altLang="en-US" sz="1400" dirty="0"/>
                    </a:p>
                  </a:txBody>
                  <a:tcPr/>
                </a:tc>
                <a:tc>
                  <a:txBody>
                    <a:bodyPr/>
                    <a:lstStyle/>
                    <a:p>
                      <a:r>
                        <a:rPr lang="en-US" altLang="zh-CN" sz="1400" dirty="0" smtClean="0"/>
                        <a:t>1.20</a:t>
                      </a:r>
                      <a:endParaRPr lang="zh-CN" altLang="en-US" sz="1400" dirty="0"/>
                    </a:p>
                  </a:txBody>
                  <a:tcPr/>
                </a:tc>
                <a:tc>
                  <a:txBody>
                    <a:bodyPr/>
                    <a:lstStyle/>
                    <a:p>
                      <a:r>
                        <a:rPr lang="en-US" altLang="zh-CN" sz="1400" dirty="0" smtClean="0"/>
                        <a:t>1.38</a:t>
                      </a:r>
                      <a:endParaRPr lang="zh-CN" altLang="en-US" sz="1400" dirty="0"/>
                    </a:p>
                  </a:txBody>
                  <a:tcPr/>
                </a:tc>
                <a:tc>
                  <a:txBody>
                    <a:bodyPr/>
                    <a:lstStyle/>
                    <a:p>
                      <a:r>
                        <a:rPr lang="en-US" altLang="zh-CN" sz="1400" dirty="0" smtClean="0"/>
                        <a:t>1.60</a:t>
                      </a:r>
                      <a:endParaRPr lang="zh-CN" altLang="en-US" sz="1400" dirty="0"/>
                    </a:p>
                  </a:txBody>
                  <a:tcPr/>
                </a:tc>
                <a:tc>
                  <a:txBody>
                    <a:bodyPr/>
                    <a:lstStyle/>
                    <a:p>
                      <a:r>
                        <a:rPr lang="en-US" altLang="zh-CN" sz="1400" dirty="0" smtClean="0"/>
                        <a:t>1.84</a:t>
                      </a:r>
                      <a:endParaRPr lang="zh-CN" altLang="en-US" sz="1400" dirty="0"/>
                    </a:p>
                  </a:txBody>
                  <a:tcPr/>
                </a:tc>
                <a:tc>
                  <a:txBody>
                    <a:bodyPr/>
                    <a:lstStyle/>
                    <a:p>
                      <a:r>
                        <a:rPr lang="en-US" altLang="zh-CN" sz="1400" dirty="0" smtClean="0"/>
                        <a:t>2.13</a:t>
                      </a:r>
                      <a:endParaRPr lang="zh-CN" altLang="en-US" sz="1400" dirty="0"/>
                    </a:p>
                  </a:txBody>
                  <a:tcPr/>
                </a:tc>
                <a:tc>
                  <a:txBody>
                    <a:bodyPr/>
                    <a:lstStyle/>
                    <a:p>
                      <a:r>
                        <a:rPr lang="en-US" altLang="zh-CN" sz="1400" dirty="0" smtClean="0"/>
                        <a:t>2.46</a:t>
                      </a:r>
                      <a:endParaRPr lang="zh-CN" altLang="en-US" sz="1400" dirty="0"/>
                    </a:p>
                  </a:txBody>
                  <a:tcPr/>
                </a:tc>
                <a:tc>
                  <a:txBody>
                    <a:bodyPr/>
                    <a:lstStyle/>
                    <a:p>
                      <a:r>
                        <a:rPr lang="en-US" altLang="zh-CN" sz="1400" dirty="0" smtClean="0"/>
                        <a:t>2.84</a:t>
                      </a:r>
                      <a:endParaRPr lang="zh-CN" altLang="en-US" sz="1400" dirty="0"/>
                    </a:p>
                  </a:txBody>
                  <a:tcPr/>
                </a:tc>
                <a:tc>
                  <a:txBody>
                    <a:bodyPr/>
                    <a:lstStyle/>
                    <a:p>
                      <a:r>
                        <a:rPr lang="en-US" altLang="zh-CN" sz="1400" dirty="0" smtClean="0"/>
                        <a:t>3.28</a:t>
                      </a:r>
                      <a:endParaRPr lang="zh-CN" altLang="en-US" sz="1400" dirty="0"/>
                    </a:p>
                  </a:txBody>
                  <a:tcPr/>
                </a:tc>
                <a:tc>
                  <a:txBody>
                    <a:bodyPr/>
                    <a:lstStyle/>
                    <a:p>
                      <a:r>
                        <a:rPr lang="en-US" altLang="zh-CN" sz="1400" dirty="0" smtClean="0"/>
                        <a:t>3.79</a:t>
                      </a:r>
                      <a:endParaRPr lang="zh-CN" altLang="en-US" sz="1400" dirty="0"/>
                    </a:p>
                  </a:txBody>
                  <a:tcPr/>
                </a:tc>
                <a:tc>
                  <a:txBody>
                    <a:bodyPr/>
                    <a:lstStyle/>
                    <a:p>
                      <a:r>
                        <a:rPr lang="en-US" altLang="zh-CN" sz="1400" dirty="0" smtClean="0"/>
                        <a:t>4.37</a:t>
                      </a:r>
                      <a:endParaRPr lang="zh-CN" altLang="en-US" sz="1400" dirty="0"/>
                    </a:p>
                  </a:txBody>
                  <a:tcPr/>
                </a:tc>
                <a:tc>
                  <a:txBody>
                    <a:bodyPr/>
                    <a:lstStyle/>
                    <a:p>
                      <a:r>
                        <a:rPr lang="en-US" altLang="zh-CN" sz="1400" dirty="0" smtClean="0"/>
                        <a:t>5.05</a:t>
                      </a:r>
                      <a:endParaRPr lang="zh-CN" altLang="en-US" sz="1400" dirty="0"/>
                    </a:p>
                  </a:txBody>
                  <a:tcPr/>
                </a:tc>
                <a:tc>
                  <a:txBody>
                    <a:bodyPr/>
                    <a:lstStyle/>
                    <a:p>
                      <a:r>
                        <a:rPr lang="en-US" altLang="zh-CN" sz="1400" dirty="0" smtClean="0"/>
                        <a:t>5.83</a:t>
                      </a:r>
                      <a:endParaRPr lang="zh-CN" altLang="en-US" sz="1400" dirty="0"/>
                    </a:p>
                  </a:txBody>
                  <a:tcPr/>
                </a:tc>
                <a:tc>
                  <a:txBody>
                    <a:bodyPr/>
                    <a:lstStyle/>
                    <a:p>
                      <a:r>
                        <a:rPr lang="en-US" altLang="zh-CN" sz="1400" dirty="0" smtClean="0"/>
                        <a:t>6.73</a:t>
                      </a:r>
                      <a:endParaRPr lang="zh-CN" altLang="en-US" sz="1400" dirty="0"/>
                    </a:p>
                  </a:txBody>
                  <a:tcPr/>
                </a:tc>
                <a:tc>
                  <a:txBody>
                    <a:bodyPr/>
                    <a:lstStyle/>
                    <a:p>
                      <a:r>
                        <a:rPr lang="en-US" altLang="zh-CN" sz="1400" dirty="0" smtClean="0"/>
                        <a:t>7.77</a:t>
                      </a:r>
                      <a:endParaRPr lang="zh-CN" altLang="en-US" sz="1400" dirty="0"/>
                    </a:p>
                  </a:txBody>
                  <a:tcPr/>
                </a:tc>
                <a:tc>
                  <a:txBody>
                    <a:bodyPr/>
                    <a:lstStyle/>
                    <a:p>
                      <a:r>
                        <a:rPr lang="en-US" altLang="zh-CN" sz="1400" dirty="0" smtClean="0"/>
                        <a:t>8.98</a:t>
                      </a:r>
                      <a:endParaRPr lang="zh-CN" altLang="en-US" sz="1400" dirty="0"/>
                    </a:p>
                  </a:txBody>
                  <a:tcPr/>
                </a:tc>
                <a:extLst>
                  <a:ext uri="{0D108BD9-81ED-4DB2-BD59-A6C34878D82A}">
                    <a16:rowId xmlns:a16="http://schemas.microsoft.com/office/drawing/2014/main" val="4056033725"/>
                  </a:ext>
                </a:extLst>
              </a:tr>
              <a:tr h="3030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mn-lt"/>
                        </a:rPr>
                        <a:t>E192(0.5%), E96(1%)</a:t>
                      </a:r>
                      <a:endParaRPr lang="zh-CN" altLang="en-US" sz="1400" dirty="0" smtClean="0"/>
                    </a:p>
                  </a:txBody>
                  <a:tcPr/>
                </a:tc>
                <a:tc>
                  <a:txBody>
                    <a:bodyPr/>
                    <a:lstStyle/>
                    <a:p>
                      <a:r>
                        <a:rPr lang="en-US" altLang="zh-CN" sz="1400" dirty="0" smtClean="0"/>
                        <a:t>1.05</a:t>
                      </a:r>
                      <a:endParaRPr lang="zh-CN" altLang="en-US" sz="1400" dirty="0"/>
                    </a:p>
                  </a:txBody>
                  <a:tcPr/>
                </a:tc>
                <a:tc>
                  <a:txBody>
                    <a:bodyPr/>
                    <a:lstStyle/>
                    <a:p>
                      <a:r>
                        <a:rPr lang="en-US" altLang="zh-CN" sz="1400" dirty="0" smtClean="0"/>
                        <a:t>1.21</a:t>
                      </a:r>
                      <a:endParaRPr lang="zh-CN" altLang="en-US" sz="1400" dirty="0"/>
                    </a:p>
                  </a:txBody>
                  <a:tcPr/>
                </a:tc>
                <a:tc>
                  <a:txBody>
                    <a:bodyPr/>
                    <a:lstStyle/>
                    <a:p>
                      <a:r>
                        <a:rPr lang="en-US" altLang="zh-CN" sz="1400" dirty="0" smtClean="0"/>
                        <a:t>1.40</a:t>
                      </a:r>
                      <a:endParaRPr lang="zh-CN" altLang="en-US" sz="1400" dirty="0"/>
                    </a:p>
                  </a:txBody>
                  <a:tcPr/>
                </a:tc>
                <a:tc>
                  <a:txBody>
                    <a:bodyPr/>
                    <a:lstStyle/>
                    <a:p>
                      <a:r>
                        <a:rPr lang="en-US" altLang="zh-CN" sz="1400" dirty="0" smtClean="0"/>
                        <a:t>1.62</a:t>
                      </a:r>
                      <a:endParaRPr lang="zh-CN" altLang="en-US" sz="1400" dirty="0"/>
                    </a:p>
                  </a:txBody>
                  <a:tcPr/>
                </a:tc>
                <a:tc>
                  <a:txBody>
                    <a:bodyPr/>
                    <a:lstStyle/>
                    <a:p>
                      <a:r>
                        <a:rPr lang="en-US" altLang="zh-CN" sz="1400" dirty="0" smtClean="0"/>
                        <a:t>1.87</a:t>
                      </a:r>
                      <a:endParaRPr lang="zh-CN" altLang="en-US" sz="1400" dirty="0"/>
                    </a:p>
                  </a:txBody>
                  <a:tcPr/>
                </a:tc>
                <a:tc>
                  <a:txBody>
                    <a:bodyPr/>
                    <a:lstStyle/>
                    <a:p>
                      <a:r>
                        <a:rPr lang="en-US" altLang="zh-CN" sz="1400" dirty="0" smtClean="0"/>
                        <a:t>2.15</a:t>
                      </a:r>
                      <a:endParaRPr lang="zh-CN" altLang="en-US" sz="1400" dirty="0"/>
                    </a:p>
                  </a:txBody>
                  <a:tcPr/>
                </a:tc>
                <a:tc>
                  <a:txBody>
                    <a:bodyPr/>
                    <a:lstStyle/>
                    <a:p>
                      <a:r>
                        <a:rPr lang="en-US" altLang="zh-CN" sz="1400" dirty="0" smtClean="0"/>
                        <a:t>2.49</a:t>
                      </a:r>
                      <a:endParaRPr lang="zh-CN" altLang="en-US" sz="1400" dirty="0"/>
                    </a:p>
                  </a:txBody>
                  <a:tcPr/>
                </a:tc>
                <a:tc>
                  <a:txBody>
                    <a:bodyPr/>
                    <a:lstStyle/>
                    <a:p>
                      <a:r>
                        <a:rPr lang="en-US" altLang="zh-CN" sz="1400" dirty="0" smtClean="0"/>
                        <a:t>2.87</a:t>
                      </a:r>
                      <a:endParaRPr lang="zh-CN" altLang="en-US" sz="1400" dirty="0"/>
                    </a:p>
                  </a:txBody>
                  <a:tcPr/>
                </a:tc>
                <a:tc>
                  <a:txBody>
                    <a:bodyPr/>
                    <a:lstStyle/>
                    <a:p>
                      <a:r>
                        <a:rPr lang="en-US" altLang="zh-CN" sz="1400" dirty="0" smtClean="0"/>
                        <a:t>3.32</a:t>
                      </a:r>
                      <a:endParaRPr lang="zh-CN" altLang="en-US" sz="1400" dirty="0"/>
                    </a:p>
                  </a:txBody>
                  <a:tcPr/>
                </a:tc>
                <a:tc>
                  <a:txBody>
                    <a:bodyPr/>
                    <a:lstStyle/>
                    <a:p>
                      <a:r>
                        <a:rPr lang="en-US" altLang="zh-CN" sz="1400" dirty="0" smtClean="0"/>
                        <a:t>3.83</a:t>
                      </a:r>
                      <a:endParaRPr lang="zh-CN" altLang="en-US" sz="1400" dirty="0"/>
                    </a:p>
                  </a:txBody>
                  <a:tcPr/>
                </a:tc>
                <a:tc>
                  <a:txBody>
                    <a:bodyPr/>
                    <a:lstStyle/>
                    <a:p>
                      <a:r>
                        <a:rPr lang="en-US" altLang="zh-CN" sz="1400" dirty="0" smtClean="0"/>
                        <a:t>4.42</a:t>
                      </a:r>
                      <a:endParaRPr lang="zh-CN" altLang="en-US" sz="1400" dirty="0"/>
                    </a:p>
                  </a:txBody>
                  <a:tcPr/>
                </a:tc>
                <a:tc>
                  <a:txBody>
                    <a:bodyPr/>
                    <a:lstStyle/>
                    <a:p>
                      <a:r>
                        <a:rPr lang="en-US" altLang="zh-CN" sz="1400" dirty="0" smtClean="0"/>
                        <a:t>5.11</a:t>
                      </a:r>
                      <a:endParaRPr lang="zh-CN" altLang="en-US" sz="1400" dirty="0"/>
                    </a:p>
                  </a:txBody>
                  <a:tcPr/>
                </a:tc>
                <a:tc>
                  <a:txBody>
                    <a:bodyPr/>
                    <a:lstStyle/>
                    <a:p>
                      <a:r>
                        <a:rPr lang="en-US" altLang="zh-CN" sz="1400" dirty="0" smtClean="0"/>
                        <a:t>5.90</a:t>
                      </a:r>
                      <a:endParaRPr lang="zh-CN" altLang="en-US" sz="1400" dirty="0"/>
                    </a:p>
                  </a:txBody>
                  <a:tcPr/>
                </a:tc>
                <a:tc>
                  <a:txBody>
                    <a:bodyPr/>
                    <a:lstStyle/>
                    <a:p>
                      <a:r>
                        <a:rPr lang="en-US" altLang="zh-CN" sz="1400" dirty="0" smtClean="0"/>
                        <a:t>6.81</a:t>
                      </a:r>
                      <a:endParaRPr lang="zh-CN" altLang="en-US" sz="1400" dirty="0"/>
                    </a:p>
                  </a:txBody>
                  <a:tcPr/>
                </a:tc>
                <a:tc>
                  <a:txBody>
                    <a:bodyPr/>
                    <a:lstStyle/>
                    <a:p>
                      <a:r>
                        <a:rPr lang="en-US" altLang="zh-CN" sz="1400" dirty="0" smtClean="0"/>
                        <a:t>7.87</a:t>
                      </a:r>
                      <a:endParaRPr lang="zh-CN" altLang="en-US" sz="1400" dirty="0"/>
                    </a:p>
                  </a:txBody>
                  <a:tcPr/>
                </a:tc>
                <a:tc>
                  <a:txBody>
                    <a:bodyPr/>
                    <a:lstStyle/>
                    <a:p>
                      <a:r>
                        <a:rPr lang="en-US" altLang="zh-CN" sz="1400" dirty="0" smtClean="0"/>
                        <a:t>9.09</a:t>
                      </a:r>
                      <a:endParaRPr lang="zh-CN" altLang="en-US" sz="1400" dirty="0"/>
                    </a:p>
                  </a:txBody>
                  <a:tcPr/>
                </a:tc>
                <a:extLst>
                  <a:ext uri="{0D108BD9-81ED-4DB2-BD59-A6C34878D82A}">
                    <a16:rowId xmlns:a16="http://schemas.microsoft.com/office/drawing/2014/main" val="3602564493"/>
                  </a:ext>
                </a:extLst>
              </a:tr>
              <a:tr h="303081">
                <a:tc>
                  <a:txBody>
                    <a:bodyPr/>
                    <a:lstStyle/>
                    <a:p>
                      <a:r>
                        <a:rPr lang="en-US" altLang="zh-CN" sz="1400" dirty="0" smtClean="0">
                          <a:latin typeface="+mn-lt"/>
                        </a:rPr>
                        <a:t>E192(0.5%)</a:t>
                      </a:r>
                      <a:endParaRPr lang="zh-CN" altLang="en-US" sz="1400" dirty="0"/>
                    </a:p>
                  </a:txBody>
                  <a:tcPr/>
                </a:tc>
                <a:tc>
                  <a:txBody>
                    <a:bodyPr/>
                    <a:lstStyle/>
                    <a:p>
                      <a:r>
                        <a:rPr lang="en-US" altLang="zh-CN" sz="1400" dirty="0" smtClean="0"/>
                        <a:t>1.06</a:t>
                      </a:r>
                      <a:endParaRPr lang="zh-CN" altLang="en-US" sz="1400" dirty="0"/>
                    </a:p>
                  </a:txBody>
                  <a:tcPr/>
                </a:tc>
                <a:tc>
                  <a:txBody>
                    <a:bodyPr/>
                    <a:lstStyle/>
                    <a:p>
                      <a:r>
                        <a:rPr lang="en-US" altLang="zh-CN" sz="1400" dirty="0" smtClean="0"/>
                        <a:t>1.23</a:t>
                      </a:r>
                      <a:endParaRPr lang="zh-CN" altLang="en-US" sz="1400" dirty="0"/>
                    </a:p>
                  </a:txBody>
                  <a:tcPr/>
                </a:tc>
                <a:tc>
                  <a:txBody>
                    <a:bodyPr/>
                    <a:lstStyle/>
                    <a:p>
                      <a:r>
                        <a:rPr lang="en-US" altLang="zh-CN" sz="1400" dirty="0" smtClean="0"/>
                        <a:t>1.42</a:t>
                      </a:r>
                      <a:endParaRPr lang="zh-CN" altLang="en-US" sz="1400" dirty="0"/>
                    </a:p>
                  </a:txBody>
                  <a:tcPr/>
                </a:tc>
                <a:tc>
                  <a:txBody>
                    <a:bodyPr/>
                    <a:lstStyle/>
                    <a:p>
                      <a:r>
                        <a:rPr lang="en-US" altLang="zh-CN" sz="1400" dirty="0" smtClean="0"/>
                        <a:t>1.64</a:t>
                      </a:r>
                      <a:endParaRPr lang="zh-CN" altLang="en-US" sz="1400" dirty="0"/>
                    </a:p>
                  </a:txBody>
                  <a:tcPr/>
                </a:tc>
                <a:tc>
                  <a:txBody>
                    <a:bodyPr/>
                    <a:lstStyle/>
                    <a:p>
                      <a:r>
                        <a:rPr lang="en-US" altLang="zh-CN" sz="1400" dirty="0" smtClean="0"/>
                        <a:t>1.89</a:t>
                      </a:r>
                      <a:endParaRPr lang="zh-CN" altLang="en-US" sz="1400" dirty="0"/>
                    </a:p>
                  </a:txBody>
                  <a:tcPr/>
                </a:tc>
                <a:tc>
                  <a:txBody>
                    <a:bodyPr/>
                    <a:lstStyle/>
                    <a:p>
                      <a:r>
                        <a:rPr lang="en-US" altLang="zh-CN" sz="1400" dirty="0" smtClean="0"/>
                        <a:t>2.18</a:t>
                      </a:r>
                      <a:endParaRPr lang="zh-CN" altLang="en-US" sz="1400" dirty="0"/>
                    </a:p>
                  </a:txBody>
                  <a:tcPr/>
                </a:tc>
                <a:tc>
                  <a:txBody>
                    <a:bodyPr/>
                    <a:lstStyle/>
                    <a:p>
                      <a:r>
                        <a:rPr lang="en-US" altLang="zh-CN" sz="1400" dirty="0" smtClean="0"/>
                        <a:t>2.52</a:t>
                      </a:r>
                      <a:endParaRPr lang="zh-CN" altLang="en-US" sz="1400" dirty="0"/>
                    </a:p>
                  </a:txBody>
                  <a:tcPr/>
                </a:tc>
                <a:tc>
                  <a:txBody>
                    <a:bodyPr/>
                    <a:lstStyle/>
                    <a:p>
                      <a:r>
                        <a:rPr lang="en-US" altLang="zh-CN" sz="1400" dirty="0" smtClean="0"/>
                        <a:t>2.91</a:t>
                      </a:r>
                      <a:endParaRPr lang="zh-CN" altLang="en-US" sz="1400" dirty="0"/>
                    </a:p>
                  </a:txBody>
                  <a:tcPr/>
                </a:tc>
                <a:tc>
                  <a:txBody>
                    <a:bodyPr/>
                    <a:lstStyle/>
                    <a:p>
                      <a:r>
                        <a:rPr lang="en-US" altLang="zh-CN" sz="1400" dirty="0" smtClean="0"/>
                        <a:t>3.36</a:t>
                      </a:r>
                      <a:endParaRPr lang="zh-CN" altLang="en-US" sz="1400" dirty="0"/>
                    </a:p>
                  </a:txBody>
                  <a:tcPr/>
                </a:tc>
                <a:tc>
                  <a:txBody>
                    <a:bodyPr/>
                    <a:lstStyle/>
                    <a:p>
                      <a:r>
                        <a:rPr lang="en-US" altLang="zh-CN" sz="1400" dirty="0" smtClean="0"/>
                        <a:t>3.88</a:t>
                      </a:r>
                      <a:endParaRPr lang="zh-CN" altLang="en-US" sz="1400" dirty="0"/>
                    </a:p>
                  </a:txBody>
                  <a:tcPr/>
                </a:tc>
                <a:tc>
                  <a:txBody>
                    <a:bodyPr/>
                    <a:lstStyle/>
                    <a:p>
                      <a:r>
                        <a:rPr lang="en-US" altLang="zh-CN" sz="1400" dirty="0" smtClean="0"/>
                        <a:t>4.48</a:t>
                      </a:r>
                      <a:endParaRPr lang="zh-CN" altLang="en-US" sz="1400" dirty="0"/>
                    </a:p>
                  </a:txBody>
                  <a:tcPr/>
                </a:tc>
                <a:tc>
                  <a:txBody>
                    <a:bodyPr/>
                    <a:lstStyle/>
                    <a:p>
                      <a:r>
                        <a:rPr lang="en-US" altLang="zh-CN" sz="1400" dirty="0" smtClean="0"/>
                        <a:t>5.17</a:t>
                      </a:r>
                      <a:endParaRPr lang="zh-CN" altLang="en-US" sz="1400" dirty="0"/>
                    </a:p>
                  </a:txBody>
                  <a:tcPr/>
                </a:tc>
                <a:tc>
                  <a:txBody>
                    <a:bodyPr/>
                    <a:lstStyle/>
                    <a:p>
                      <a:r>
                        <a:rPr lang="en-US" altLang="zh-CN" sz="1400" dirty="0" smtClean="0"/>
                        <a:t>5.97</a:t>
                      </a:r>
                      <a:endParaRPr lang="zh-CN" altLang="en-US" sz="1400" dirty="0"/>
                    </a:p>
                  </a:txBody>
                  <a:tcPr/>
                </a:tc>
                <a:tc>
                  <a:txBody>
                    <a:bodyPr/>
                    <a:lstStyle/>
                    <a:p>
                      <a:r>
                        <a:rPr lang="en-US" altLang="zh-CN" sz="1400" dirty="0" smtClean="0"/>
                        <a:t>6.90</a:t>
                      </a:r>
                      <a:endParaRPr lang="zh-CN" altLang="en-US" sz="1400" dirty="0"/>
                    </a:p>
                  </a:txBody>
                  <a:tcPr/>
                </a:tc>
                <a:tc>
                  <a:txBody>
                    <a:bodyPr/>
                    <a:lstStyle/>
                    <a:p>
                      <a:r>
                        <a:rPr lang="en-US" altLang="zh-CN" sz="1400" dirty="0" smtClean="0"/>
                        <a:t>7.96</a:t>
                      </a:r>
                      <a:endParaRPr lang="zh-CN" altLang="en-US" sz="1400" dirty="0"/>
                    </a:p>
                  </a:txBody>
                  <a:tcPr/>
                </a:tc>
                <a:tc>
                  <a:txBody>
                    <a:bodyPr/>
                    <a:lstStyle/>
                    <a:p>
                      <a:r>
                        <a:rPr lang="en-US" altLang="zh-CN" sz="1400" dirty="0" smtClean="0"/>
                        <a:t>9.20</a:t>
                      </a:r>
                      <a:endParaRPr lang="zh-CN" altLang="en-US" sz="1400" dirty="0"/>
                    </a:p>
                  </a:txBody>
                  <a:tcPr/>
                </a:tc>
                <a:extLst>
                  <a:ext uri="{0D108BD9-81ED-4DB2-BD59-A6C34878D82A}">
                    <a16:rowId xmlns:a16="http://schemas.microsoft.com/office/drawing/2014/main" val="1651484838"/>
                  </a:ext>
                </a:extLst>
              </a:tr>
              <a:tr h="303081">
                <a:tc>
                  <a:txBody>
                    <a:bodyPr/>
                    <a:lstStyle/>
                    <a:p>
                      <a:r>
                        <a:rPr lang="en-US" altLang="zh-CN" sz="1400" dirty="0" smtClean="0">
                          <a:latin typeface="+mn-lt"/>
                        </a:rPr>
                        <a:t>E192(0.5%), E96(1%)</a:t>
                      </a:r>
                      <a:endParaRPr lang="zh-CN" altLang="en-US" sz="1400" dirty="0"/>
                    </a:p>
                  </a:txBody>
                  <a:tcPr/>
                </a:tc>
                <a:tc>
                  <a:txBody>
                    <a:bodyPr/>
                    <a:lstStyle/>
                    <a:p>
                      <a:r>
                        <a:rPr lang="en-US" altLang="zh-CN" sz="1400" dirty="0" smtClean="0"/>
                        <a:t>1.07</a:t>
                      </a:r>
                      <a:endParaRPr lang="zh-CN" altLang="en-US" sz="1400" dirty="0"/>
                    </a:p>
                  </a:txBody>
                  <a:tcPr/>
                </a:tc>
                <a:tc>
                  <a:txBody>
                    <a:bodyPr/>
                    <a:lstStyle/>
                    <a:p>
                      <a:r>
                        <a:rPr lang="en-US" altLang="zh-CN" sz="1400" dirty="0" smtClean="0"/>
                        <a:t>1.24</a:t>
                      </a:r>
                      <a:endParaRPr lang="zh-CN" altLang="en-US" sz="1400" dirty="0"/>
                    </a:p>
                  </a:txBody>
                  <a:tcPr/>
                </a:tc>
                <a:tc>
                  <a:txBody>
                    <a:bodyPr/>
                    <a:lstStyle/>
                    <a:p>
                      <a:r>
                        <a:rPr lang="en-US" altLang="zh-CN" sz="1400" dirty="0" smtClean="0"/>
                        <a:t>1.43</a:t>
                      </a:r>
                      <a:endParaRPr lang="zh-CN" altLang="en-US" sz="1400" dirty="0"/>
                    </a:p>
                  </a:txBody>
                  <a:tcPr/>
                </a:tc>
                <a:tc>
                  <a:txBody>
                    <a:bodyPr/>
                    <a:lstStyle/>
                    <a:p>
                      <a:r>
                        <a:rPr lang="en-US" altLang="zh-CN" sz="1400" dirty="0" smtClean="0"/>
                        <a:t>1.65</a:t>
                      </a:r>
                      <a:endParaRPr lang="zh-CN" altLang="en-US" sz="1400" dirty="0"/>
                    </a:p>
                  </a:txBody>
                  <a:tcPr/>
                </a:tc>
                <a:tc>
                  <a:txBody>
                    <a:bodyPr/>
                    <a:lstStyle/>
                    <a:p>
                      <a:r>
                        <a:rPr lang="en-US" altLang="zh-CN" sz="1400" dirty="0" smtClean="0"/>
                        <a:t>1.91</a:t>
                      </a:r>
                      <a:endParaRPr lang="zh-CN" altLang="en-US" sz="1400" dirty="0"/>
                    </a:p>
                  </a:txBody>
                  <a:tcPr/>
                </a:tc>
                <a:tc>
                  <a:txBody>
                    <a:bodyPr/>
                    <a:lstStyle/>
                    <a:p>
                      <a:r>
                        <a:rPr lang="en-US" altLang="zh-CN" sz="1400" dirty="0" smtClean="0"/>
                        <a:t>2.21</a:t>
                      </a:r>
                      <a:endParaRPr lang="zh-CN" altLang="en-US" sz="1400" dirty="0"/>
                    </a:p>
                  </a:txBody>
                  <a:tcPr/>
                </a:tc>
                <a:tc>
                  <a:txBody>
                    <a:bodyPr/>
                    <a:lstStyle/>
                    <a:p>
                      <a:r>
                        <a:rPr lang="en-US" altLang="zh-CN" sz="1400" dirty="0" smtClean="0"/>
                        <a:t>2.55</a:t>
                      </a:r>
                      <a:endParaRPr lang="zh-CN" altLang="en-US" sz="1400" dirty="0"/>
                    </a:p>
                  </a:txBody>
                  <a:tcPr/>
                </a:tc>
                <a:tc>
                  <a:txBody>
                    <a:bodyPr/>
                    <a:lstStyle/>
                    <a:p>
                      <a:r>
                        <a:rPr lang="en-US" altLang="zh-CN" sz="1400" dirty="0" smtClean="0"/>
                        <a:t>2.94</a:t>
                      </a:r>
                      <a:endParaRPr lang="zh-CN" altLang="en-US" sz="1400" dirty="0"/>
                    </a:p>
                  </a:txBody>
                  <a:tcPr/>
                </a:tc>
                <a:tc>
                  <a:txBody>
                    <a:bodyPr/>
                    <a:lstStyle/>
                    <a:p>
                      <a:r>
                        <a:rPr lang="en-US" altLang="zh-CN" sz="1400" dirty="0" smtClean="0"/>
                        <a:t>3.40</a:t>
                      </a:r>
                      <a:endParaRPr lang="zh-CN" altLang="en-US" sz="1400" dirty="0"/>
                    </a:p>
                  </a:txBody>
                  <a:tcPr/>
                </a:tc>
                <a:tc>
                  <a:txBody>
                    <a:bodyPr/>
                    <a:lstStyle/>
                    <a:p>
                      <a:r>
                        <a:rPr lang="en-US" altLang="zh-CN" sz="1400" dirty="0" smtClean="0"/>
                        <a:t>3.92</a:t>
                      </a:r>
                      <a:endParaRPr lang="zh-CN" altLang="en-US" sz="1400" dirty="0"/>
                    </a:p>
                  </a:txBody>
                  <a:tcPr/>
                </a:tc>
                <a:tc>
                  <a:txBody>
                    <a:bodyPr/>
                    <a:lstStyle/>
                    <a:p>
                      <a:r>
                        <a:rPr lang="en-US" altLang="zh-CN" sz="1400" dirty="0" smtClean="0"/>
                        <a:t>4.53</a:t>
                      </a:r>
                      <a:endParaRPr lang="zh-CN" altLang="en-US" sz="1400" dirty="0"/>
                    </a:p>
                  </a:txBody>
                  <a:tcPr/>
                </a:tc>
                <a:tc>
                  <a:txBody>
                    <a:bodyPr/>
                    <a:lstStyle/>
                    <a:p>
                      <a:r>
                        <a:rPr lang="en-US" altLang="zh-CN" sz="1400" dirty="0" smtClean="0"/>
                        <a:t>5.23</a:t>
                      </a:r>
                      <a:endParaRPr lang="zh-CN" altLang="en-US" sz="1400" dirty="0"/>
                    </a:p>
                  </a:txBody>
                  <a:tcPr/>
                </a:tc>
                <a:tc>
                  <a:txBody>
                    <a:bodyPr/>
                    <a:lstStyle/>
                    <a:p>
                      <a:r>
                        <a:rPr lang="en-US" altLang="zh-CN" sz="1400" dirty="0" smtClean="0"/>
                        <a:t>6.04</a:t>
                      </a:r>
                      <a:endParaRPr lang="zh-CN" altLang="en-US" sz="1400" dirty="0"/>
                    </a:p>
                  </a:txBody>
                  <a:tcPr/>
                </a:tc>
                <a:tc>
                  <a:txBody>
                    <a:bodyPr/>
                    <a:lstStyle/>
                    <a:p>
                      <a:r>
                        <a:rPr lang="en-US" altLang="zh-CN" sz="1400" dirty="0" smtClean="0"/>
                        <a:t>6.98</a:t>
                      </a:r>
                      <a:endParaRPr lang="zh-CN" altLang="en-US" sz="1400" dirty="0"/>
                    </a:p>
                  </a:txBody>
                  <a:tcPr/>
                </a:tc>
                <a:tc>
                  <a:txBody>
                    <a:bodyPr/>
                    <a:lstStyle/>
                    <a:p>
                      <a:r>
                        <a:rPr lang="en-US" altLang="zh-CN" sz="1400" dirty="0" smtClean="0"/>
                        <a:t>8.06</a:t>
                      </a:r>
                      <a:endParaRPr lang="zh-CN" altLang="en-US" sz="1400" dirty="0"/>
                    </a:p>
                  </a:txBody>
                  <a:tcPr/>
                </a:tc>
                <a:tc>
                  <a:txBody>
                    <a:bodyPr/>
                    <a:lstStyle/>
                    <a:p>
                      <a:r>
                        <a:rPr lang="en-US" altLang="zh-CN" sz="1400" dirty="0" smtClean="0"/>
                        <a:t>9.31</a:t>
                      </a:r>
                      <a:endParaRPr lang="zh-CN" altLang="en-US" sz="1400" dirty="0"/>
                    </a:p>
                  </a:txBody>
                  <a:tcPr/>
                </a:tc>
                <a:extLst>
                  <a:ext uri="{0D108BD9-81ED-4DB2-BD59-A6C34878D82A}">
                    <a16:rowId xmlns:a16="http://schemas.microsoft.com/office/drawing/2014/main" val="785367221"/>
                  </a:ext>
                </a:extLst>
              </a:tr>
              <a:tr h="303081">
                <a:tc>
                  <a:txBody>
                    <a:bodyPr/>
                    <a:lstStyle/>
                    <a:p>
                      <a:r>
                        <a:rPr lang="en-US" altLang="zh-CN" sz="1400" dirty="0" smtClean="0">
                          <a:latin typeface="+mn-lt"/>
                        </a:rPr>
                        <a:t>E192(0.5%)</a:t>
                      </a:r>
                      <a:endParaRPr lang="zh-CN" altLang="en-US" sz="1400" dirty="0"/>
                    </a:p>
                  </a:txBody>
                  <a:tcPr/>
                </a:tc>
                <a:tc>
                  <a:txBody>
                    <a:bodyPr/>
                    <a:lstStyle/>
                    <a:p>
                      <a:r>
                        <a:rPr lang="en-US" altLang="zh-CN" sz="1400" dirty="0" smtClean="0"/>
                        <a:t>1.09</a:t>
                      </a:r>
                      <a:endParaRPr lang="zh-CN" altLang="en-US" sz="1400" dirty="0"/>
                    </a:p>
                  </a:txBody>
                  <a:tcPr/>
                </a:tc>
                <a:tc>
                  <a:txBody>
                    <a:bodyPr/>
                    <a:lstStyle/>
                    <a:p>
                      <a:r>
                        <a:rPr lang="en-US" altLang="zh-CN" sz="1400" dirty="0" smtClean="0"/>
                        <a:t>1.26</a:t>
                      </a:r>
                      <a:endParaRPr lang="zh-CN" altLang="en-US" sz="1400" dirty="0"/>
                    </a:p>
                  </a:txBody>
                  <a:tcPr/>
                </a:tc>
                <a:tc>
                  <a:txBody>
                    <a:bodyPr/>
                    <a:lstStyle/>
                    <a:p>
                      <a:r>
                        <a:rPr lang="en-US" altLang="zh-CN" sz="1400" dirty="0" smtClean="0"/>
                        <a:t>1.45</a:t>
                      </a:r>
                      <a:endParaRPr lang="zh-CN" altLang="en-US" sz="1400" dirty="0"/>
                    </a:p>
                  </a:txBody>
                  <a:tcPr/>
                </a:tc>
                <a:tc>
                  <a:txBody>
                    <a:bodyPr/>
                    <a:lstStyle/>
                    <a:p>
                      <a:r>
                        <a:rPr lang="en-US" altLang="zh-CN" sz="1400" dirty="0" smtClean="0"/>
                        <a:t>1.67</a:t>
                      </a:r>
                      <a:endParaRPr lang="zh-CN" altLang="en-US" sz="1400" dirty="0"/>
                    </a:p>
                  </a:txBody>
                  <a:tcPr/>
                </a:tc>
                <a:tc>
                  <a:txBody>
                    <a:bodyPr/>
                    <a:lstStyle/>
                    <a:p>
                      <a:r>
                        <a:rPr lang="en-US" altLang="zh-CN" sz="1400" dirty="0" smtClean="0"/>
                        <a:t>1.93</a:t>
                      </a:r>
                      <a:endParaRPr lang="zh-CN" altLang="en-US" sz="1400" dirty="0"/>
                    </a:p>
                  </a:txBody>
                  <a:tcPr/>
                </a:tc>
                <a:tc>
                  <a:txBody>
                    <a:bodyPr/>
                    <a:lstStyle/>
                    <a:p>
                      <a:r>
                        <a:rPr lang="en-US" altLang="zh-CN" sz="1400" dirty="0" smtClean="0"/>
                        <a:t>2.23</a:t>
                      </a:r>
                      <a:endParaRPr lang="zh-CN" altLang="en-US" sz="1400" dirty="0"/>
                    </a:p>
                  </a:txBody>
                  <a:tcPr/>
                </a:tc>
                <a:tc>
                  <a:txBody>
                    <a:bodyPr/>
                    <a:lstStyle/>
                    <a:p>
                      <a:r>
                        <a:rPr lang="en-US" altLang="zh-CN" sz="1400" dirty="0" smtClean="0"/>
                        <a:t>2.58</a:t>
                      </a:r>
                      <a:endParaRPr lang="zh-CN" altLang="en-US" sz="1400" dirty="0"/>
                    </a:p>
                  </a:txBody>
                  <a:tcPr/>
                </a:tc>
                <a:tc>
                  <a:txBody>
                    <a:bodyPr/>
                    <a:lstStyle/>
                    <a:p>
                      <a:r>
                        <a:rPr lang="en-US" altLang="zh-CN" sz="1400" dirty="0" smtClean="0"/>
                        <a:t>2.98</a:t>
                      </a:r>
                      <a:endParaRPr lang="zh-CN" altLang="en-US" sz="1400" dirty="0"/>
                    </a:p>
                  </a:txBody>
                  <a:tcPr/>
                </a:tc>
                <a:tc>
                  <a:txBody>
                    <a:bodyPr/>
                    <a:lstStyle/>
                    <a:p>
                      <a:r>
                        <a:rPr lang="en-US" altLang="zh-CN" sz="1400" dirty="0" smtClean="0"/>
                        <a:t>3.44</a:t>
                      </a:r>
                      <a:endParaRPr lang="zh-CN" altLang="en-US" sz="1400" dirty="0"/>
                    </a:p>
                  </a:txBody>
                  <a:tcPr/>
                </a:tc>
                <a:tc>
                  <a:txBody>
                    <a:bodyPr/>
                    <a:lstStyle/>
                    <a:p>
                      <a:r>
                        <a:rPr lang="en-US" altLang="zh-CN" sz="1400" dirty="0" smtClean="0"/>
                        <a:t>3.97</a:t>
                      </a:r>
                      <a:endParaRPr lang="zh-CN" altLang="en-US" sz="1400" dirty="0"/>
                    </a:p>
                  </a:txBody>
                  <a:tcPr/>
                </a:tc>
                <a:tc>
                  <a:txBody>
                    <a:bodyPr/>
                    <a:lstStyle/>
                    <a:p>
                      <a:r>
                        <a:rPr lang="en-US" altLang="zh-CN" sz="1400" dirty="0" smtClean="0"/>
                        <a:t>4.59</a:t>
                      </a:r>
                      <a:endParaRPr lang="zh-CN" altLang="en-US" sz="1400" dirty="0"/>
                    </a:p>
                  </a:txBody>
                  <a:tcPr/>
                </a:tc>
                <a:tc>
                  <a:txBody>
                    <a:bodyPr/>
                    <a:lstStyle/>
                    <a:p>
                      <a:r>
                        <a:rPr lang="en-US" altLang="zh-CN" sz="1400" dirty="0" smtClean="0"/>
                        <a:t>5.30</a:t>
                      </a:r>
                      <a:endParaRPr lang="zh-CN" altLang="en-US" sz="1400" dirty="0"/>
                    </a:p>
                  </a:txBody>
                  <a:tcPr/>
                </a:tc>
                <a:tc>
                  <a:txBody>
                    <a:bodyPr/>
                    <a:lstStyle/>
                    <a:p>
                      <a:r>
                        <a:rPr lang="en-US" altLang="zh-CN" sz="1400" dirty="0" smtClean="0"/>
                        <a:t>6.12</a:t>
                      </a:r>
                      <a:endParaRPr lang="zh-CN" altLang="en-US" sz="1400" dirty="0"/>
                    </a:p>
                  </a:txBody>
                  <a:tcPr/>
                </a:tc>
                <a:tc>
                  <a:txBody>
                    <a:bodyPr/>
                    <a:lstStyle/>
                    <a:p>
                      <a:r>
                        <a:rPr lang="en-US" altLang="zh-CN" sz="1400" dirty="0" smtClean="0"/>
                        <a:t>7.06</a:t>
                      </a:r>
                      <a:endParaRPr lang="zh-CN" altLang="en-US" sz="1400" dirty="0"/>
                    </a:p>
                  </a:txBody>
                  <a:tcPr/>
                </a:tc>
                <a:tc>
                  <a:txBody>
                    <a:bodyPr/>
                    <a:lstStyle/>
                    <a:p>
                      <a:r>
                        <a:rPr lang="en-US" altLang="zh-CN" sz="1400" dirty="0" smtClean="0"/>
                        <a:t>8.16</a:t>
                      </a:r>
                      <a:endParaRPr lang="zh-CN" altLang="en-US" sz="1400" dirty="0"/>
                    </a:p>
                  </a:txBody>
                  <a:tcPr/>
                </a:tc>
                <a:tc>
                  <a:txBody>
                    <a:bodyPr/>
                    <a:lstStyle/>
                    <a:p>
                      <a:r>
                        <a:rPr lang="en-US" altLang="zh-CN" sz="1400" dirty="0" smtClean="0"/>
                        <a:t>9.42</a:t>
                      </a:r>
                      <a:endParaRPr lang="zh-CN" altLang="en-US" sz="1400" dirty="0"/>
                    </a:p>
                  </a:txBody>
                  <a:tcPr/>
                </a:tc>
                <a:extLst>
                  <a:ext uri="{0D108BD9-81ED-4DB2-BD59-A6C34878D82A}">
                    <a16:rowId xmlns:a16="http://schemas.microsoft.com/office/drawing/2014/main" val="3589947442"/>
                  </a:ext>
                </a:extLst>
              </a:tr>
              <a:tr h="303081">
                <a:tc>
                  <a:txBody>
                    <a:bodyPr/>
                    <a:lstStyle/>
                    <a:p>
                      <a:r>
                        <a:rPr lang="en-US" altLang="zh-CN" sz="1400" dirty="0" smtClean="0">
                          <a:latin typeface="+mn-lt"/>
                        </a:rPr>
                        <a:t>E192(0.5%), E96(1%)</a:t>
                      </a:r>
                      <a:endParaRPr lang="zh-CN" altLang="en-US" sz="1400" dirty="0"/>
                    </a:p>
                  </a:txBody>
                  <a:tcPr/>
                </a:tc>
                <a:tc>
                  <a:txBody>
                    <a:bodyPr/>
                    <a:lstStyle/>
                    <a:p>
                      <a:r>
                        <a:rPr lang="en-US" altLang="zh-CN" sz="1400" dirty="0" smtClean="0"/>
                        <a:t>1.10</a:t>
                      </a:r>
                      <a:endParaRPr lang="zh-CN" altLang="en-US" sz="1400" dirty="0"/>
                    </a:p>
                  </a:txBody>
                  <a:tcPr/>
                </a:tc>
                <a:tc>
                  <a:txBody>
                    <a:bodyPr/>
                    <a:lstStyle/>
                    <a:p>
                      <a:r>
                        <a:rPr lang="en-US" altLang="zh-CN" sz="1400" dirty="0" smtClean="0"/>
                        <a:t>1.27</a:t>
                      </a:r>
                      <a:endParaRPr lang="zh-CN" altLang="en-US" sz="1400" dirty="0"/>
                    </a:p>
                  </a:txBody>
                  <a:tcPr/>
                </a:tc>
                <a:tc>
                  <a:txBody>
                    <a:bodyPr/>
                    <a:lstStyle/>
                    <a:p>
                      <a:r>
                        <a:rPr lang="en-US" altLang="zh-CN" sz="1400" dirty="0" smtClean="0"/>
                        <a:t>1.47</a:t>
                      </a:r>
                      <a:endParaRPr lang="zh-CN" altLang="en-US" sz="1400" dirty="0"/>
                    </a:p>
                  </a:txBody>
                  <a:tcPr/>
                </a:tc>
                <a:tc>
                  <a:txBody>
                    <a:bodyPr/>
                    <a:lstStyle/>
                    <a:p>
                      <a:r>
                        <a:rPr lang="en-US" altLang="zh-CN" sz="1400" dirty="0" smtClean="0"/>
                        <a:t>1.69</a:t>
                      </a:r>
                      <a:endParaRPr lang="zh-CN" altLang="en-US" sz="1400" dirty="0"/>
                    </a:p>
                  </a:txBody>
                  <a:tcPr/>
                </a:tc>
                <a:tc>
                  <a:txBody>
                    <a:bodyPr/>
                    <a:lstStyle/>
                    <a:p>
                      <a:r>
                        <a:rPr lang="en-US" altLang="zh-CN" sz="1400" dirty="0" smtClean="0"/>
                        <a:t>1.96</a:t>
                      </a:r>
                      <a:endParaRPr lang="zh-CN" altLang="en-US" sz="1400" dirty="0"/>
                    </a:p>
                  </a:txBody>
                  <a:tcPr/>
                </a:tc>
                <a:tc>
                  <a:txBody>
                    <a:bodyPr/>
                    <a:lstStyle/>
                    <a:p>
                      <a:r>
                        <a:rPr lang="en-US" altLang="zh-CN" sz="1400" dirty="0" smtClean="0"/>
                        <a:t>2.26</a:t>
                      </a:r>
                      <a:endParaRPr lang="zh-CN" altLang="en-US" sz="1400" dirty="0"/>
                    </a:p>
                  </a:txBody>
                  <a:tcPr/>
                </a:tc>
                <a:tc>
                  <a:txBody>
                    <a:bodyPr/>
                    <a:lstStyle/>
                    <a:p>
                      <a:r>
                        <a:rPr lang="en-US" altLang="zh-CN" sz="1400" dirty="0" smtClean="0"/>
                        <a:t>2.61</a:t>
                      </a:r>
                      <a:endParaRPr lang="zh-CN" altLang="en-US" sz="1400" dirty="0"/>
                    </a:p>
                  </a:txBody>
                  <a:tcPr/>
                </a:tc>
                <a:tc>
                  <a:txBody>
                    <a:bodyPr/>
                    <a:lstStyle/>
                    <a:p>
                      <a:r>
                        <a:rPr lang="en-US" altLang="zh-CN" sz="1400" dirty="0" smtClean="0"/>
                        <a:t>3.01</a:t>
                      </a:r>
                      <a:endParaRPr lang="zh-CN" altLang="en-US" sz="1400" dirty="0"/>
                    </a:p>
                  </a:txBody>
                  <a:tcPr/>
                </a:tc>
                <a:tc>
                  <a:txBody>
                    <a:bodyPr/>
                    <a:lstStyle/>
                    <a:p>
                      <a:r>
                        <a:rPr lang="en-US" altLang="zh-CN" sz="1400" dirty="0" smtClean="0"/>
                        <a:t>3.48</a:t>
                      </a:r>
                      <a:endParaRPr lang="zh-CN" altLang="en-US" sz="1400" dirty="0"/>
                    </a:p>
                  </a:txBody>
                  <a:tcPr/>
                </a:tc>
                <a:tc>
                  <a:txBody>
                    <a:bodyPr/>
                    <a:lstStyle/>
                    <a:p>
                      <a:r>
                        <a:rPr lang="en-US" altLang="zh-CN" sz="1400" dirty="0" smtClean="0"/>
                        <a:t>4.02</a:t>
                      </a:r>
                      <a:endParaRPr lang="zh-CN" altLang="en-US" sz="1400" dirty="0"/>
                    </a:p>
                  </a:txBody>
                  <a:tcPr/>
                </a:tc>
                <a:tc>
                  <a:txBody>
                    <a:bodyPr/>
                    <a:lstStyle/>
                    <a:p>
                      <a:r>
                        <a:rPr lang="en-US" altLang="zh-CN" sz="1400" dirty="0" smtClean="0"/>
                        <a:t>4.64</a:t>
                      </a:r>
                      <a:endParaRPr lang="zh-CN" altLang="en-US" sz="1400" dirty="0"/>
                    </a:p>
                  </a:txBody>
                  <a:tcPr/>
                </a:tc>
                <a:tc>
                  <a:txBody>
                    <a:bodyPr/>
                    <a:lstStyle/>
                    <a:p>
                      <a:r>
                        <a:rPr lang="en-US" altLang="zh-CN" sz="1400" dirty="0" smtClean="0"/>
                        <a:t>5.36</a:t>
                      </a:r>
                      <a:endParaRPr lang="zh-CN" altLang="en-US" sz="1400" dirty="0"/>
                    </a:p>
                  </a:txBody>
                  <a:tcPr/>
                </a:tc>
                <a:tc>
                  <a:txBody>
                    <a:bodyPr/>
                    <a:lstStyle/>
                    <a:p>
                      <a:r>
                        <a:rPr lang="en-US" altLang="zh-CN" sz="1400" dirty="0" smtClean="0"/>
                        <a:t>6.19</a:t>
                      </a:r>
                      <a:endParaRPr lang="zh-CN" altLang="en-US" sz="1400" dirty="0"/>
                    </a:p>
                  </a:txBody>
                  <a:tcPr/>
                </a:tc>
                <a:tc>
                  <a:txBody>
                    <a:bodyPr/>
                    <a:lstStyle/>
                    <a:p>
                      <a:r>
                        <a:rPr lang="en-US" altLang="zh-CN" sz="1400" dirty="0" smtClean="0"/>
                        <a:t>7.15</a:t>
                      </a:r>
                      <a:endParaRPr lang="zh-CN" altLang="en-US" sz="1400" dirty="0"/>
                    </a:p>
                  </a:txBody>
                  <a:tcPr/>
                </a:tc>
                <a:tc>
                  <a:txBody>
                    <a:bodyPr/>
                    <a:lstStyle/>
                    <a:p>
                      <a:r>
                        <a:rPr lang="en-US" altLang="zh-CN" sz="1400" dirty="0" smtClean="0"/>
                        <a:t>8.25</a:t>
                      </a:r>
                      <a:endParaRPr lang="zh-CN" altLang="en-US" sz="1400" dirty="0"/>
                    </a:p>
                  </a:txBody>
                  <a:tcPr/>
                </a:tc>
                <a:tc>
                  <a:txBody>
                    <a:bodyPr/>
                    <a:lstStyle/>
                    <a:p>
                      <a:r>
                        <a:rPr lang="en-US" altLang="zh-CN" sz="1400" dirty="0" smtClean="0"/>
                        <a:t>9.53</a:t>
                      </a:r>
                      <a:endParaRPr lang="zh-CN" altLang="en-US" sz="1400" dirty="0"/>
                    </a:p>
                  </a:txBody>
                  <a:tcPr/>
                </a:tc>
                <a:extLst>
                  <a:ext uri="{0D108BD9-81ED-4DB2-BD59-A6C34878D82A}">
                    <a16:rowId xmlns:a16="http://schemas.microsoft.com/office/drawing/2014/main" val="4075418078"/>
                  </a:ext>
                </a:extLst>
              </a:tr>
              <a:tr h="303081">
                <a:tc>
                  <a:txBody>
                    <a:bodyPr/>
                    <a:lstStyle/>
                    <a:p>
                      <a:r>
                        <a:rPr lang="en-US" altLang="zh-CN" sz="1400" dirty="0" smtClean="0">
                          <a:latin typeface="+mn-lt"/>
                        </a:rPr>
                        <a:t>E192(0.5%)</a:t>
                      </a:r>
                      <a:endParaRPr lang="zh-CN" altLang="en-US" sz="1400" dirty="0"/>
                    </a:p>
                  </a:txBody>
                  <a:tcPr/>
                </a:tc>
                <a:tc>
                  <a:txBody>
                    <a:bodyPr/>
                    <a:lstStyle/>
                    <a:p>
                      <a:r>
                        <a:rPr lang="en-US" altLang="zh-CN" sz="1400" dirty="0" smtClean="0"/>
                        <a:t>1.11</a:t>
                      </a:r>
                      <a:endParaRPr lang="zh-CN" altLang="en-US" sz="1400" dirty="0"/>
                    </a:p>
                  </a:txBody>
                  <a:tcPr/>
                </a:tc>
                <a:tc>
                  <a:txBody>
                    <a:bodyPr/>
                    <a:lstStyle/>
                    <a:p>
                      <a:r>
                        <a:rPr lang="en-US" altLang="zh-CN" sz="1400" dirty="0" smtClean="0"/>
                        <a:t>1.29</a:t>
                      </a:r>
                      <a:endParaRPr lang="zh-CN" altLang="en-US" sz="1400" dirty="0"/>
                    </a:p>
                  </a:txBody>
                  <a:tcPr/>
                </a:tc>
                <a:tc>
                  <a:txBody>
                    <a:bodyPr/>
                    <a:lstStyle/>
                    <a:p>
                      <a:r>
                        <a:rPr lang="en-US" altLang="zh-CN" sz="1400" dirty="0" smtClean="0"/>
                        <a:t>1.49</a:t>
                      </a:r>
                      <a:endParaRPr lang="zh-CN" altLang="en-US" sz="1400" dirty="0"/>
                    </a:p>
                  </a:txBody>
                  <a:tcPr/>
                </a:tc>
                <a:tc>
                  <a:txBody>
                    <a:bodyPr/>
                    <a:lstStyle/>
                    <a:p>
                      <a:r>
                        <a:rPr lang="en-US" altLang="zh-CN" sz="1400" dirty="0" smtClean="0"/>
                        <a:t>1.72</a:t>
                      </a:r>
                      <a:endParaRPr lang="zh-CN" altLang="en-US" sz="1400" dirty="0"/>
                    </a:p>
                  </a:txBody>
                  <a:tcPr/>
                </a:tc>
                <a:tc>
                  <a:txBody>
                    <a:bodyPr/>
                    <a:lstStyle/>
                    <a:p>
                      <a:r>
                        <a:rPr lang="en-US" altLang="zh-CN" sz="1400" dirty="0" smtClean="0"/>
                        <a:t>1.98</a:t>
                      </a:r>
                      <a:endParaRPr lang="zh-CN" altLang="en-US" dirty="0"/>
                    </a:p>
                  </a:txBody>
                  <a:tcPr/>
                </a:tc>
                <a:tc>
                  <a:txBody>
                    <a:bodyPr/>
                    <a:lstStyle/>
                    <a:p>
                      <a:r>
                        <a:rPr lang="en-US" altLang="zh-CN" sz="1400" dirty="0" smtClean="0"/>
                        <a:t>2.29</a:t>
                      </a:r>
                      <a:endParaRPr lang="zh-CN" altLang="en-US" sz="1400" dirty="0"/>
                    </a:p>
                  </a:txBody>
                  <a:tcPr/>
                </a:tc>
                <a:tc>
                  <a:txBody>
                    <a:bodyPr/>
                    <a:lstStyle/>
                    <a:p>
                      <a:r>
                        <a:rPr lang="en-US" altLang="zh-CN" sz="1400" dirty="0" smtClean="0"/>
                        <a:t>2.64</a:t>
                      </a:r>
                      <a:endParaRPr lang="zh-CN" altLang="en-US" sz="1400" dirty="0"/>
                    </a:p>
                  </a:txBody>
                  <a:tcPr/>
                </a:tc>
                <a:tc>
                  <a:txBody>
                    <a:bodyPr/>
                    <a:lstStyle/>
                    <a:p>
                      <a:r>
                        <a:rPr lang="en-US" altLang="zh-CN" sz="1400" dirty="0" smtClean="0"/>
                        <a:t>3.05</a:t>
                      </a:r>
                      <a:endParaRPr lang="zh-CN" altLang="en-US" sz="1400" dirty="0"/>
                    </a:p>
                  </a:txBody>
                  <a:tcPr/>
                </a:tc>
                <a:tc>
                  <a:txBody>
                    <a:bodyPr/>
                    <a:lstStyle/>
                    <a:p>
                      <a:r>
                        <a:rPr lang="en-US" altLang="zh-CN" sz="1400" dirty="0" smtClean="0"/>
                        <a:t>3.52</a:t>
                      </a:r>
                      <a:endParaRPr lang="zh-CN" altLang="en-US" sz="1400" dirty="0"/>
                    </a:p>
                  </a:txBody>
                  <a:tcPr/>
                </a:tc>
                <a:tc>
                  <a:txBody>
                    <a:bodyPr/>
                    <a:lstStyle/>
                    <a:p>
                      <a:r>
                        <a:rPr lang="en-US" altLang="zh-CN" sz="1400" dirty="0" smtClean="0"/>
                        <a:t>4.07</a:t>
                      </a:r>
                      <a:endParaRPr lang="zh-CN" altLang="en-US" sz="1400" dirty="0"/>
                    </a:p>
                  </a:txBody>
                  <a:tcPr/>
                </a:tc>
                <a:tc>
                  <a:txBody>
                    <a:bodyPr/>
                    <a:lstStyle/>
                    <a:p>
                      <a:r>
                        <a:rPr lang="en-US" altLang="zh-CN" sz="1400" dirty="0" smtClean="0"/>
                        <a:t>4.70</a:t>
                      </a:r>
                      <a:endParaRPr lang="zh-CN" altLang="en-US" sz="1400" dirty="0"/>
                    </a:p>
                  </a:txBody>
                  <a:tcPr/>
                </a:tc>
                <a:tc>
                  <a:txBody>
                    <a:bodyPr/>
                    <a:lstStyle/>
                    <a:p>
                      <a:r>
                        <a:rPr lang="en-US" altLang="zh-CN" sz="1400" dirty="0" smtClean="0"/>
                        <a:t>5.43</a:t>
                      </a:r>
                      <a:endParaRPr lang="zh-CN" altLang="en-US" sz="1400" dirty="0"/>
                    </a:p>
                  </a:txBody>
                  <a:tcPr/>
                </a:tc>
                <a:tc>
                  <a:txBody>
                    <a:bodyPr/>
                    <a:lstStyle/>
                    <a:p>
                      <a:r>
                        <a:rPr lang="en-US" altLang="zh-CN" sz="1400" dirty="0" smtClean="0"/>
                        <a:t>6.26</a:t>
                      </a:r>
                      <a:endParaRPr lang="zh-CN" altLang="en-US" sz="1400" dirty="0"/>
                    </a:p>
                  </a:txBody>
                  <a:tcPr/>
                </a:tc>
                <a:tc>
                  <a:txBody>
                    <a:bodyPr/>
                    <a:lstStyle/>
                    <a:p>
                      <a:r>
                        <a:rPr lang="en-US" altLang="zh-CN" sz="1400" dirty="0" smtClean="0"/>
                        <a:t>7.23</a:t>
                      </a:r>
                      <a:endParaRPr lang="zh-CN" altLang="en-US" sz="1400" dirty="0"/>
                    </a:p>
                  </a:txBody>
                  <a:tcPr/>
                </a:tc>
                <a:tc>
                  <a:txBody>
                    <a:bodyPr/>
                    <a:lstStyle/>
                    <a:p>
                      <a:r>
                        <a:rPr lang="en-US" altLang="zh-CN" sz="1400" dirty="0" smtClean="0"/>
                        <a:t>8.35</a:t>
                      </a:r>
                      <a:endParaRPr lang="zh-CN" altLang="en-US" sz="1400" dirty="0"/>
                    </a:p>
                  </a:txBody>
                  <a:tcPr/>
                </a:tc>
                <a:tc>
                  <a:txBody>
                    <a:bodyPr/>
                    <a:lstStyle/>
                    <a:p>
                      <a:r>
                        <a:rPr lang="en-US" altLang="zh-CN" sz="1400" dirty="0" smtClean="0"/>
                        <a:t>9.65</a:t>
                      </a:r>
                      <a:endParaRPr lang="zh-CN" altLang="en-US" sz="1400" dirty="0"/>
                    </a:p>
                  </a:txBody>
                  <a:tcPr/>
                </a:tc>
                <a:extLst>
                  <a:ext uri="{0D108BD9-81ED-4DB2-BD59-A6C34878D82A}">
                    <a16:rowId xmlns:a16="http://schemas.microsoft.com/office/drawing/2014/main" val="1528578500"/>
                  </a:ext>
                </a:extLst>
              </a:tr>
              <a:tr h="303081">
                <a:tc>
                  <a:txBody>
                    <a:bodyPr/>
                    <a:lstStyle/>
                    <a:p>
                      <a:r>
                        <a:rPr lang="en-US" altLang="zh-CN" sz="1400" dirty="0" smtClean="0">
                          <a:latin typeface="+mn-lt"/>
                        </a:rPr>
                        <a:t>E192(0.5%), E96(1%)</a:t>
                      </a:r>
                      <a:endParaRPr lang="zh-CN" altLang="en-US" sz="1400" dirty="0"/>
                    </a:p>
                  </a:txBody>
                  <a:tcPr/>
                </a:tc>
                <a:tc>
                  <a:txBody>
                    <a:bodyPr/>
                    <a:lstStyle/>
                    <a:p>
                      <a:r>
                        <a:rPr lang="en-US" altLang="zh-CN" sz="1400" dirty="0" smtClean="0"/>
                        <a:t>1.13</a:t>
                      </a:r>
                      <a:endParaRPr lang="zh-CN" altLang="en-US" sz="1400" dirty="0"/>
                    </a:p>
                  </a:txBody>
                  <a:tcPr/>
                </a:tc>
                <a:tc>
                  <a:txBody>
                    <a:bodyPr/>
                    <a:lstStyle/>
                    <a:p>
                      <a:r>
                        <a:rPr lang="en-US" altLang="zh-CN" sz="1400" dirty="0" smtClean="0"/>
                        <a:t>1.30</a:t>
                      </a:r>
                      <a:endParaRPr lang="zh-CN" altLang="en-US" sz="1400" dirty="0"/>
                    </a:p>
                  </a:txBody>
                  <a:tcPr/>
                </a:tc>
                <a:tc>
                  <a:txBody>
                    <a:bodyPr/>
                    <a:lstStyle/>
                    <a:p>
                      <a:r>
                        <a:rPr lang="en-US" altLang="zh-CN" sz="1400" dirty="0" smtClean="0"/>
                        <a:t>1.50</a:t>
                      </a:r>
                      <a:endParaRPr lang="zh-CN" altLang="en-US" sz="1400" dirty="0"/>
                    </a:p>
                  </a:txBody>
                  <a:tcPr/>
                </a:tc>
                <a:tc>
                  <a:txBody>
                    <a:bodyPr/>
                    <a:lstStyle/>
                    <a:p>
                      <a:r>
                        <a:rPr lang="en-US" altLang="zh-CN" sz="1400" dirty="0" smtClean="0"/>
                        <a:t>1.74</a:t>
                      </a:r>
                      <a:endParaRPr lang="zh-CN" altLang="en-US" sz="1400" dirty="0"/>
                    </a:p>
                  </a:txBody>
                  <a:tcPr/>
                </a:tc>
                <a:tc>
                  <a:txBody>
                    <a:bodyPr/>
                    <a:lstStyle/>
                    <a:p>
                      <a:r>
                        <a:rPr lang="en-US" altLang="zh-CN" sz="1400" dirty="0" smtClean="0"/>
                        <a:t>2.00</a:t>
                      </a:r>
                      <a:endParaRPr lang="zh-CN" altLang="en-US" sz="1400" dirty="0"/>
                    </a:p>
                  </a:txBody>
                  <a:tcPr/>
                </a:tc>
                <a:tc>
                  <a:txBody>
                    <a:bodyPr/>
                    <a:lstStyle/>
                    <a:p>
                      <a:r>
                        <a:rPr lang="en-US" altLang="zh-CN" sz="1400" dirty="0" smtClean="0"/>
                        <a:t>2.32</a:t>
                      </a:r>
                      <a:endParaRPr lang="zh-CN" altLang="en-US" sz="1400" dirty="0"/>
                    </a:p>
                  </a:txBody>
                  <a:tcPr/>
                </a:tc>
                <a:tc>
                  <a:txBody>
                    <a:bodyPr/>
                    <a:lstStyle/>
                    <a:p>
                      <a:r>
                        <a:rPr lang="en-US" altLang="zh-CN" sz="1400" dirty="0" smtClean="0"/>
                        <a:t>2.67</a:t>
                      </a:r>
                      <a:endParaRPr lang="zh-CN" altLang="en-US" sz="1400" dirty="0"/>
                    </a:p>
                  </a:txBody>
                  <a:tcPr/>
                </a:tc>
                <a:tc>
                  <a:txBody>
                    <a:bodyPr/>
                    <a:lstStyle/>
                    <a:p>
                      <a:r>
                        <a:rPr lang="en-US" altLang="zh-CN" sz="1400" dirty="0" smtClean="0"/>
                        <a:t>3.09</a:t>
                      </a:r>
                      <a:endParaRPr lang="zh-CN" altLang="en-US" sz="1400" dirty="0"/>
                    </a:p>
                  </a:txBody>
                  <a:tcPr/>
                </a:tc>
                <a:tc>
                  <a:txBody>
                    <a:bodyPr/>
                    <a:lstStyle/>
                    <a:p>
                      <a:r>
                        <a:rPr lang="en-US" altLang="zh-CN" sz="1400" dirty="0" smtClean="0"/>
                        <a:t>3.57</a:t>
                      </a:r>
                      <a:endParaRPr lang="zh-CN" altLang="en-US" sz="1400" dirty="0"/>
                    </a:p>
                  </a:txBody>
                  <a:tcPr/>
                </a:tc>
                <a:tc>
                  <a:txBody>
                    <a:bodyPr/>
                    <a:lstStyle/>
                    <a:p>
                      <a:r>
                        <a:rPr lang="en-US" altLang="zh-CN" sz="1400" dirty="0" smtClean="0"/>
                        <a:t>4.12</a:t>
                      </a:r>
                      <a:endParaRPr lang="zh-CN" altLang="en-US" sz="1400" dirty="0"/>
                    </a:p>
                  </a:txBody>
                  <a:tcPr/>
                </a:tc>
                <a:tc>
                  <a:txBody>
                    <a:bodyPr/>
                    <a:lstStyle/>
                    <a:p>
                      <a:r>
                        <a:rPr lang="en-US" altLang="zh-CN" sz="1400" dirty="0" smtClean="0"/>
                        <a:t>4.75</a:t>
                      </a:r>
                      <a:endParaRPr lang="zh-CN" altLang="en-US" sz="1400" dirty="0"/>
                    </a:p>
                  </a:txBody>
                  <a:tcPr/>
                </a:tc>
                <a:tc>
                  <a:txBody>
                    <a:bodyPr/>
                    <a:lstStyle/>
                    <a:p>
                      <a:r>
                        <a:rPr lang="en-US" altLang="zh-CN" sz="1400" dirty="0" smtClean="0"/>
                        <a:t>5.49</a:t>
                      </a:r>
                      <a:endParaRPr lang="zh-CN" altLang="en-US" sz="1400" dirty="0"/>
                    </a:p>
                  </a:txBody>
                  <a:tcPr/>
                </a:tc>
                <a:tc>
                  <a:txBody>
                    <a:bodyPr/>
                    <a:lstStyle/>
                    <a:p>
                      <a:r>
                        <a:rPr lang="en-US" altLang="zh-CN" sz="1400" dirty="0" smtClean="0"/>
                        <a:t>6.34</a:t>
                      </a:r>
                      <a:endParaRPr lang="zh-CN" altLang="en-US" sz="1400" dirty="0"/>
                    </a:p>
                  </a:txBody>
                  <a:tcPr/>
                </a:tc>
                <a:tc>
                  <a:txBody>
                    <a:bodyPr/>
                    <a:lstStyle/>
                    <a:p>
                      <a:r>
                        <a:rPr lang="en-US" altLang="zh-CN" sz="1400" dirty="0" smtClean="0"/>
                        <a:t>7.32</a:t>
                      </a:r>
                      <a:endParaRPr lang="zh-CN" altLang="en-US" sz="1400" dirty="0"/>
                    </a:p>
                  </a:txBody>
                  <a:tcPr/>
                </a:tc>
                <a:tc>
                  <a:txBody>
                    <a:bodyPr/>
                    <a:lstStyle/>
                    <a:p>
                      <a:r>
                        <a:rPr lang="en-US" altLang="zh-CN" sz="1400" dirty="0" smtClean="0"/>
                        <a:t>8.45</a:t>
                      </a:r>
                      <a:endParaRPr lang="zh-CN" altLang="en-US" sz="1400" dirty="0"/>
                    </a:p>
                  </a:txBody>
                  <a:tcPr/>
                </a:tc>
                <a:tc>
                  <a:txBody>
                    <a:bodyPr/>
                    <a:lstStyle/>
                    <a:p>
                      <a:r>
                        <a:rPr lang="en-US" altLang="zh-CN" sz="1400" dirty="0" smtClean="0"/>
                        <a:t>9.76</a:t>
                      </a:r>
                      <a:endParaRPr lang="zh-CN" altLang="en-US" sz="1400" dirty="0"/>
                    </a:p>
                  </a:txBody>
                  <a:tcPr/>
                </a:tc>
                <a:extLst>
                  <a:ext uri="{0D108BD9-81ED-4DB2-BD59-A6C34878D82A}">
                    <a16:rowId xmlns:a16="http://schemas.microsoft.com/office/drawing/2014/main" val="539875931"/>
                  </a:ext>
                </a:extLst>
              </a:tr>
              <a:tr h="303081">
                <a:tc>
                  <a:txBody>
                    <a:bodyPr/>
                    <a:lstStyle/>
                    <a:p>
                      <a:r>
                        <a:rPr lang="en-US" altLang="zh-CN" sz="1400" dirty="0" smtClean="0">
                          <a:latin typeface="+mn-lt"/>
                        </a:rPr>
                        <a:t>E192(0.5%)</a:t>
                      </a:r>
                      <a:endParaRPr lang="zh-CN" altLang="en-US" sz="1400" dirty="0"/>
                    </a:p>
                  </a:txBody>
                  <a:tcPr/>
                </a:tc>
                <a:tc>
                  <a:txBody>
                    <a:bodyPr/>
                    <a:lstStyle/>
                    <a:p>
                      <a:r>
                        <a:rPr lang="en-US" altLang="zh-CN" sz="1400" dirty="0" smtClean="0"/>
                        <a:t>1.14</a:t>
                      </a:r>
                      <a:endParaRPr lang="zh-CN" altLang="en-US" sz="1400" dirty="0"/>
                    </a:p>
                  </a:txBody>
                  <a:tcPr/>
                </a:tc>
                <a:tc>
                  <a:txBody>
                    <a:bodyPr/>
                    <a:lstStyle/>
                    <a:p>
                      <a:r>
                        <a:rPr lang="en-US" altLang="zh-CN" sz="1400" dirty="0" smtClean="0"/>
                        <a:t>1.32</a:t>
                      </a:r>
                      <a:endParaRPr lang="zh-CN" altLang="en-US" sz="1400" dirty="0"/>
                    </a:p>
                  </a:txBody>
                  <a:tcPr/>
                </a:tc>
                <a:tc>
                  <a:txBody>
                    <a:bodyPr/>
                    <a:lstStyle/>
                    <a:p>
                      <a:r>
                        <a:rPr lang="en-US" altLang="zh-CN" sz="1400" dirty="0" smtClean="0"/>
                        <a:t>1.52</a:t>
                      </a:r>
                      <a:endParaRPr lang="zh-CN" altLang="en-US" sz="1400" dirty="0"/>
                    </a:p>
                  </a:txBody>
                  <a:tcPr/>
                </a:tc>
                <a:tc>
                  <a:txBody>
                    <a:bodyPr/>
                    <a:lstStyle/>
                    <a:p>
                      <a:r>
                        <a:rPr lang="en-US" altLang="zh-CN" sz="1400" dirty="0" smtClean="0"/>
                        <a:t>1.76</a:t>
                      </a:r>
                      <a:endParaRPr lang="zh-CN" altLang="en-US" sz="1400" dirty="0"/>
                    </a:p>
                  </a:txBody>
                  <a:tcPr/>
                </a:tc>
                <a:tc>
                  <a:txBody>
                    <a:bodyPr/>
                    <a:lstStyle/>
                    <a:p>
                      <a:r>
                        <a:rPr lang="en-US" altLang="zh-CN" sz="1400" dirty="0" smtClean="0"/>
                        <a:t>2.03</a:t>
                      </a:r>
                      <a:endParaRPr lang="zh-CN" altLang="en-US" sz="1400" dirty="0"/>
                    </a:p>
                  </a:txBody>
                  <a:tcPr/>
                </a:tc>
                <a:tc>
                  <a:txBody>
                    <a:bodyPr/>
                    <a:lstStyle/>
                    <a:p>
                      <a:r>
                        <a:rPr lang="en-US" altLang="zh-CN" sz="1400" dirty="0" smtClean="0"/>
                        <a:t>2.34</a:t>
                      </a:r>
                      <a:endParaRPr lang="zh-CN" altLang="en-US" sz="1400" dirty="0"/>
                    </a:p>
                  </a:txBody>
                  <a:tcPr/>
                </a:tc>
                <a:tc>
                  <a:txBody>
                    <a:bodyPr/>
                    <a:lstStyle/>
                    <a:p>
                      <a:r>
                        <a:rPr lang="en-US" altLang="zh-CN" sz="1400" dirty="0" smtClean="0"/>
                        <a:t>2.71</a:t>
                      </a:r>
                      <a:endParaRPr lang="zh-CN" altLang="en-US" sz="1400" dirty="0"/>
                    </a:p>
                  </a:txBody>
                  <a:tcPr/>
                </a:tc>
                <a:tc>
                  <a:txBody>
                    <a:bodyPr/>
                    <a:lstStyle/>
                    <a:p>
                      <a:r>
                        <a:rPr lang="en-US" altLang="zh-CN" sz="1400" dirty="0" smtClean="0"/>
                        <a:t>3.12</a:t>
                      </a:r>
                      <a:endParaRPr lang="zh-CN" altLang="en-US" sz="1400" dirty="0"/>
                    </a:p>
                  </a:txBody>
                  <a:tcPr/>
                </a:tc>
                <a:tc>
                  <a:txBody>
                    <a:bodyPr/>
                    <a:lstStyle/>
                    <a:p>
                      <a:r>
                        <a:rPr lang="en-US" altLang="zh-CN" sz="1400" dirty="0" smtClean="0"/>
                        <a:t>3.61</a:t>
                      </a:r>
                      <a:endParaRPr lang="zh-CN" altLang="en-US" sz="1400" dirty="0"/>
                    </a:p>
                  </a:txBody>
                  <a:tcPr/>
                </a:tc>
                <a:tc>
                  <a:txBody>
                    <a:bodyPr/>
                    <a:lstStyle/>
                    <a:p>
                      <a:r>
                        <a:rPr lang="en-US" altLang="zh-CN" sz="1400" dirty="0" smtClean="0"/>
                        <a:t>4.17</a:t>
                      </a:r>
                      <a:endParaRPr lang="zh-CN" altLang="en-US" sz="1400" dirty="0"/>
                    </a:p>
                  </a:txBody>
                  <a:tcPr/>
                </a:tc>
                <a:tc>
                  <a:txBody>
                    <a:bodyPr/>
                    <a:lstStyle/>
                    <a:p>
                      <a:r>
                        <a:rPr lang="en-US" altLang="zh-CN" sz="1400" dirty="0" smtClean="0"/>
                        <a:t>4.81</a:t>
                      </a:r>
                      <a:endParaRPr lang="zh-CN" altLang="en-US" sz="1400" dirty="0"/>
                    </a:p>
                  </a:txBody>
                  <a:tcPr/>
                </a:tc>
                <a:tc>
                  <a:txBody>
                    <a:bodyPr/>
                    <a:lstStyle/>
                    <a:p>
                      <a:r>
                        <a:rPr lang="en-US" altLang="zh-CN" sz="1400" dirty="0" smtClean="0"/>
                        <a:t>5.56</a:t>
                      </a:r>
                      <a:endParaRPr lang="zh-CN" altLang="en-US" sz="1400" dirty="0"/>
                    </a:p>
                  </a:txBody>
                  <a:tcPr/>
                </a:tc>
                <a:tc>
                  <a:txBody>
                    <a:bodyPr/>
                    <a:lstStyle/>
                    <a:p>
                      <a:r>
                        <a:rPr lang="en-US" altLang="zh-CN" sz="1400" dirty="0" smtClean="0"/>
                        <a:t>6.42</a:t>
                      </a:r>
                      <a:endParaRPr lang="zh-CN" altLang="en-US" sz="1400" dirty="0"/>
                    </a:p>
                  </a:txBody>
                  <a:tcPr/>
                </a:tc>
                <a:tc>
                  <a:txBody>
                    <a:bodyPr/>
                    <a:lstStyle/>
                    <a:p>
                      <a:r>
                        <a:rPr lang="en-US" altLang="zh-CN" sz="1400" dirty="0" smtClean="0"/>
                        <a:t>7.41</a:t>
                      </a:r>
                      <a:endParaRPr lang="zh-CN" altLang="en-US" sz="1400" dirty="0"/>
                    </a:p>
                  </a:txBody>
                  <a:tcPr/>
                </a:tc>
                <a:tc>
                  <a:txBody>
                    <a:bodyPr/>
                    <a:lstStyle/>
                    <a:p>
                      <a:r>
                        <a:rPr lang="en-US" altLang="zh-CN" sz="1400" dirty="0" smtClean="0"/>
                        <a:t>8.56</a:t>
                      </a:r>
                      <a:endParaRPr lang="zh-CN" altLang="en-US" sz="1400" dirty="0"/>
                    </a:p>
                  </a:txBody>
                  <a:tcPr/>
                </a:tc>
                <a:tc>
                  <a:txBody>
                    <a:bodyPr/>
                    <a:lstStyle/>
                    <a:p>
                      <a:r>
                        <a:rPr lang="en-US" altLang="zh-CN" sz="1400" dirty="0" smtClean="0"/>
                        <a:t>9.88</a:t>
                      </a:r>
                      <a:endParaRPr lang="zh-CN" altLang="en-US" sz="1400" dirty="0"/>
                    </a:p>
                  </a:txBody>
                  <a:tcPr/>
                </a:tc>
                <a:extLst>
                  <a:ext uri="{0D108BD9-81ED-4DB2-BD59-A6C34878D82A}">
                    <a16:rowId xmlns:a16="http://schemas.microsoft.com/office/drawing/2014/main" val="3424356478"/>
                  </a:ext>
                </a:extLst>
              </a:tr>
            </a:tbl>
          </a:graphicData>
        </a:graphic>
      </p:graphicFrame>
    </p:spTree>
    <p:extLst>
      <p:ext uri="{BB962C8B-B14F-4D97-AF65-F5344CB8AC3E}">
        <p14:creationId xmlns:p14="http://schemas.microsoft.com/office/powerpoint/2010/main" val="282005973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49</a:t>
            </a:fld>
            <a:endParaRPr lang="en-US" altLang="zh-CN">
              <a:solidFill>
                <a:srgbClr val="FFFFFF"/>
              </a:solidFill>
            </a:endParaRPr>
          </a:p>
        </p:txBody>
      </p:sp>
      <p:sp>
        <p:nvSpPr>
          <p:cNvPr id="5" name="矩形 4"/>
          <p:cNvSpPr/>
          <p:nvPr/>
        </p:nvSpPr>
        <p:spPr>
          <a:xfrm>
            <a:off x="446542" y="603275"/>
            <a:ext cx="4572000" cy="400110"/>
          </a:xfrm>
          <a:prstGeom prst="rect">
            <a:avLst/>
          </a:prstGeom>
        </p:spPr>
        <p:txBody>
          <a:bodyPr>
            <a:spAutoFit/>
          </a:bodyPr>
          <a:lstStyle/>
          <a:p>
            <a:r>
              <a:rPr lang="zh-CN" altLang="en-US" kern="100" dirty="0">
                <a:latin typeface="黑体" panose="02010609060101010101" pitchFamily="49" charset="-122"/>
                <a:ea typeface="黑体" panose="02010609060101010101" pitchFamily="49" charset="-122"/>
                <a:cs typeface="Times New Roman" panose="02020603050405020304" pitchFamily="18" charset="0"/>
              </a:rPr>
              <a:t>贴片</a:t>
            </a:r>
            <a:r>
              <a:rPr lang="zh-CN" altLang="zh-CN" kern="100" dirty="0">
                <a:latin typeface="黑体" panose="02010609060101010101" pitchFamily="49" charset="-122"/>
                <a:ea typeface="黑体" panose="02010609060101010101" pitchFamily="49" charset="-122"/>
                <a:cs typeface="Times New Roman" panose="02020603050405020304" pitchFamily="18" charset="0"/>
              </a:rPr>
              <a:t>电阻的功耗限制</a:t>
            </a:r>
            <a:endParaRPr lang="zh-CN" altLang="en-US" dirty="0">
              <a:latin typeface="黑体" panose="02010609060101010101" pitchFamily="49" charset="-122"/>
              <a:ea typeface="黑体" panose="02010609060101010101" pitchFamily="49"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4099458846"/>
              </p:ext>
            </p:extLst>
          </p:nvPr>
        </p:nvGraphicFramePr>
        <p:xfrm>
          <a:off x="624417" y="1236600"/>
          <a:ext cx="9165771" cy="2438400"/>
        </p:xfrm>
        <a:graphic>
          <a:graphicData uri="http://schemas.openxmlformats.org/drawingml/2006/table">
            <a:tbl>
              <a:tblPr firstRow="1" firstCol="1" bandRow="1">
                <a:tableStyleId>{5C22544A-7EE6-4342-B048-85BDC9FD1C3A}</a:tableStyleId>
              </a:tblPr>
              <a:tblGrid>
                <a:gridCol w="1357710">
                  <a:extLst>
                    <a:ext uri="{9D8B030D-6E8A-4147-A177-3AD203B41FA5}">
                      <a16:colId xmlns:a16="http://schemas.microsoft.com/office/drawing/2014/main" val="527000749"/>
                    </a:ext>
                  </a:extLst>
                </a:gridCol>
                <a:gridCol w="1243513">
                  <a:extLst>
                    <a:ext uri="{9D8B030D-6E8A-4147-A177-3AD203B41FA5}">
                      <a16:colId xmlns:a16="http://schemas.microsoft.com/office/drawing/2014/main" val="2474886730"/>
                    </a:ext>
                  </a:extLst>
                </a:gridCol>
                <a:gridCol w="2165571">
                  <a:extLst>
                    <a:ext uri="{9D8B030D-6E8A-4147-A177-3AD203B41FA5}">
                      <a16:colId xmlns:a16="http://schemas.microsoft.com/office/drawing/2014/main" val="1276104181"/>
                    </a:ext>
                  </a:extLst>
                </a:gridCol>
                <a:gridCol w="1971627">
                  <a:extLst>
                    <a:ext uri="{9D8B030D-6E8A-4147-A177-3AD203B41FA5}">
                      <a16:colId xmlns:a16="http://schemas.microsoft.com/office/drawing/2014/main" val="1009216821"/>
                    </a:ext>
                  </a:extLst>
                </a:gridCol>
                <a:gridCol w="2427350">
                  <a:extLst>
                    <a:ext uri="{9D8B030D-6E8A-4147-A177-3AD203B41FA5}">
                      <a16:colId xmlns:a16="http://schemas.microsoft.com/office/drawing/2014/main" val="1225418085"/>
                    </a:ext>
                  </a:extLst>
                </a:gridCol>
              </a:tblGrid>
              <a:tr h="0">
                <a:tc>
                  <a:txBody>
                    <a:bodyPr/>
                    <a:lstStyle/>
                    <a:p>
                      <a:pPr>
                        <a:spcAft>
                          <a:spcPts val="0"/>
                        </a:spcAft>
                      </a:pPr>
                      <a:r>
                        <a:rPr lang="zh-CN" sz="1600" dirty="0">
                          <a:effectLst/>
                        </a:rPr>
                        <a:t>英制</a:t>
                      </a:r>
                      <a:r>
                        <a:rPr lang="en-US" sz="1600" dirty="0">
                          <a:effectLst/>
                        </a:rPr>
                        <a:t>(mil)</a:t>
                      </a:r>
                      <a:endParaRPr lang="zh-CN" sz="16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zh-CN" sz="1600">
                          <a:effectLst/>
                        </a:rPr>
                        <a:t>公制</a:t>
                      </a:r>
                      <a:r>
                        <a:rPr lang="en-US" sz="1600">
                          <a:effectLst/>
                        </a:rPr>
                        <a:t>(mm)</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zh-CN" sz="1600">
                          <a:effectLst/>
                        </a:rPr>
                        <a:t>额定功率</a:t>
                      </a:r>
                      <a:r>
                        <a:rPr lang="en-US" sz="1600">
                          <a:effectLst/>
                        </a:rPr>
                        <a:t>@70°C</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zh-CN" sz="1600">
                          <a:effectLst/>
                        </a:rPr>
                        <a:t>额定功率（增强系列）</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zh-CN" sz="1600">
                          <a:effectLst/>
                        </a:rPr>
                        <a:t>最大工作电压</a:t>
                      </a:r>
                      <a:r>
                        <a:rPr lang="en-US" sz="1600">
                          <a:effectLst/>
                        </a:rPr>
                        <a:t>(V)</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1925489958"/>
                  </a:ext>
                </a:extLst>
              </a:tr>
              <a:tr h="0">
                <a:tc>
                  <a:txBody>
                    <a:bodyPr/>
                    <a:lstStyle/>
                    <a:p>
                      <a:pPr marL="0" algn="l" defTabSz="914400" rtl="0" eaLnBrk="1" latinLnBrk="0" hangingPunct="1">
                        <a:spcAft>
                          <a:spcPts val="0"/>
                        </a:spcAft>
                      </a:pPr>
                      <a:r>
                        <a:rPr lang="en-US" sz="1600" kern="1200" dirty="0">
                          <a:solidFill>
                            <a:schemeClr val="dk1"/>
                          </a:solidFill>
                          <a:effectLst/>
                          <a:latin typeface="+mn-lt"/>
                          <a:ea typeface="+mn-ea"/>
                          <a:cs typeface="+mn-cs"/>
                        </a:rPr>
                        <a:t>0201</a:t>
                      </a:r>
                      <a:endParaRPr lang="zh-CN" sz="1600" kern="1200" dirty="0">
                        <a:solidFill>
                          <a:schemeClr val="dk1"/>
                        </a:solidFill>
                        <a:effectLst/>
                        <a:latin typeface="+mn-lt"/>
                        <a:ea typeface="+mn-ea"/>
                        <a:cs typeface="+mn-cs"/>
                      </a:endParaRPr>
                    </a:p>
                  </a:txBody>
                  <a:tcPr marL="68580" marR="68580" marT="0" marB="0"/>
                </a:tc>
                <a:tc>
                  <a:txBody>
                    <a:bodyPr/>
                    <a:lstStyle/>
                    <a:p>
                      <a:pPr>
                        <a:spcAft>
                          <a:spcPts val="0"/>
                        </a:spcAft>
                      </a:pPr>
                      <a:r>
                        <a:rPr lang="en-US" sz="1600" dirty="0">
                          <a:effectLst/>
                        </a:rPr>
                        <a:t>0603</a:t>
                      </a:r>
                      <a:endParaRPr lang="zh-CN" sz="16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a:effectLst/>
                        </a:rPr>
                        <a:t>1/20W</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a:effectLst/>
                        </a:rPr>
                        <a:t> </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a:effectLst/>
                        </a:rPr>
                        <a:t>25</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761251763"/>
                  </a:ext>
                </a:extLst>
              </a:tr>
              <a:tr h="0">
                <a:tc>
                  <a:txBody>
                    <a:bodyPr/>
                    <a:lstStyle/>
                    <a:p>
                      <a:pPr marL="0" algn="l" defTabSz="914400" rtl="0" eaLnBrk="1" latinLnBrk="0" hangingPunct="1">
                        <a:spcAft>
                          <a:spcPts val="0"/>
                        </a:spcAft>
                      </a:pPr>
                      <a:r>
                        <a:rPr lang="en-US" sz="1600" kern="1200" dirty="0">
                          <a:solidFill>
                            <a:schemeClr val="dk1"/>
                          </a:solidFill>
                          <a:effectLst/>
                          <a:latin typeface="+mn-lt"/>
                          <a:ea typeface="+mn-ea"/>
                          <a:cs typeface="+mn-cs"/>
                        </a:rPr>
                        <a:t>0402</a:t>
                      </a:r>
                      <a:endParaRPr lang="zh-CN" sz="1600" kern="1200" dirty="0">
                        <a:solidFill>
                          <a:schemeClr val="dk1"/>
                        </a:solidFill>
                        <a:effectLst/>
                        <a:latin typeface="+mn-lt"/>
                        <a:ea typeface="+mn-ea"/>
                        <a:cs typeface="+mn-cs"/>
                      </a:endParaRPr>
                    </a:p>
                  </a:txBody>
                  <a:tcPr marL="68580" marR="68580" marT="0" marB="0"/>
                </a:tc>
                <a:tc>
                  <a:txBody>
                    <a:bodyPr/>
                    <a:lstStyle/>
                    <a:p>
                      <a:pPr>
                        <a:spcAft>
                          <a:spcPts val="0"/>
                        </a:spcAft>
                      </a:pPr>
                      <a:r>
                        <a:rPr lang="en-US" sz="1600" dirty="0">
                          <a:effectLst/>
                        </a:rPr>
                        <a:t>1005</a:t>
                      </a:r>
                      <a:endParaRPr lang="zh-CN" sz="16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a:effectLst/>
                        </a:rPr>
                        <a:t>1/16W</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a:effectLst/>
                        </a:rPr>
                        <a:t> </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a:effectLst/>
                        </a:rPr>
                        <a:t>50</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22268691"/>
                  </a:ext>
                </a:extLst>
              </a:tr>
              <a:tr h="0">
                <a:tc>
                  <a:txBody>
                    <a:bodyPr/>
                    <a:lstStyle/>
                    <a:p>
                      <a:pPr marL="0" algn="l" defTabSz="914400" rtl="0" eaLnBrk="1" latinLnBrk="0" hangingPunct="1">
                        <a:spcAft>
                          <a:spcPts val="0"/>
                        </a:spcAft>
                      </a:pPr>
                      <a:r>
                        <a:rPr lang="en-US" sz="1600" kern="1200" dirty="0">
                          <a:solidFill>
                            <a:schemeClr val="dk1"/>
                          </a:solidFill>
                          <a:effectLst/>
                          <a:latin typeface="+mn-lt"/>
                          <a:ea typeface="+mn-ea"/>
                          <a:cs typeface="+mn-cs"/>
                        </a:rPr>
                        <a:t>0603</a:t>
                      </a:r>
                      <a:endParaRPr lang="zh-CN" sz="1600" kern="1200" dirty="0">
                        <a:solidFill>
                          <a:schemeClr val="dk1"/>
                        </a:solidFill>
                        <a:effectLst/>
                        <a:latin typeface="+mn-lt"/>
                        <a:ea typeface="+mn-ea"/>
                        <a:cs typeface="+mn-cs"/>
                      </a:endParaRPr>
                    </a:p>
                  </a:txBody>
                  <a:tcPr marL="68580" marR="68580" marT="0" marB="0"/>
                </a:tc>
                <a:tc>
                  <a:txBody>
                    <a:bodyPr/>
                    <a:lstStyle/>
                    <a:p>
                      <a:pPr>
                        <a:spcAft>
                          <a:spcPts val="0"/>
                        </a:spcAft>
                      </a:pPr>
                      <a:r>
                        <a:rPr lang="en-US" sz="1600" dirty="0">
                          <a:effectLst/>
                        </a:rPr>
                        <a:t>1608</a:t>
                      </a:r>
                      <a:endParaRPr lang="zh-CN" sz="16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a:effectLst/>
                        </a:rPr>
                        <a:t>1/16W</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a:effectLst/>
                        </a:rPr>
                        <a:t>1/10W</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a:effectLst/>
                        </a:rPr>
                        <a:t>50</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444178951"/>
                  </a:ext>
                </a:extLst>
              </a:tr>
              <a:tr h="0">
                <a:tc>
                  <a:txBody>
                    <a:bodyPr/>
                    <a:lstStyle/>
                    <a:p>
                      <a:pPr marL="0" algn="l" defTabSz="914400" rtl="0" eaLnBrk="1" latinLnBrk="0" hangingPunct="1">
                        <a:spcAft>
                          <a:spcPts val="0"/>
                        </a:spcAft>
                      </a:pPr>
                      <a:r>
                        <a:rPr lang="en-US" sz="1600" kern="1200" dirty="0">
                          <a:solidFill>
                            <a:schemeClr val="dk1"/>
                          </a:solidFill>
                          <a:effectLst/>
                          <a:latin typeface="+mn-lt"/>
                          <a:ea typeface="+mn-ea"/>
                          <a:cs typeface="+mn-cs"/>
                        </a:rPr>
                        <a:t>0805</a:t>
                      </a:r>
                      <a:endParaRPr lang="zh-CN" sz="1600" kern="1200" dirty="0">
                        <a:solidFill>
                          <a:schemeClr val="dk1"/>
                        </a:solidFill>
                        <a:effectLst/>
                        <a:latin typeface="+mn-lt"/>
                        <a:ea typeface="+mn-ea"/>
                        <a:cs typeface="+mn-cs"/>
                      </a:endParaRPr>
                    </a:p>
                  </a:txBody>
                  <a:tcPr marL="68580" marR="68580" marT="0" marB="0"/>
                </a:tc>
                <a:tc>
                  <a:txBody>
                    <a:bodyPr/>
                    <a:lstStyle/>
                    <a:p>
                      <a:pPr>
                        <a:spcAft>
                          <a:spcPts val="0"/>
                        </a:spcAft>
                      </a:pPr>
                      <a:r>
                        <a:rPr lang="en-US" sz="1600" dirty="0">
                          <a:effectLst/>
                        </a:rPr>
                        <a:t>2012</a:t>
                      </a:r>
                      <a:endParaRPr lang="zh-CN" sz="16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a:effectLst/>
                        </a:rPr>
                        <a:t>1/10W</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a:effectLst/>
                        </a:rPr>
                        <a:t>1/8W</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a:effectLst/>
                        </a:rPr>
                        <a:t>150</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1100541306"/>
                  </a:ext>
                </a:extLst>
              </a:tr>
              <a:tr h="0">
                <a:tc>
                  <a:txBody>
                    <a:bodyPr/>
                    <a:lstStyle/>
                    <a:p>
                      <a:pPr marL="0" algn="l" defTabSz="914400" rtl="0" eaLnBrk="1" latinLnBrk="0" hangingPunct="1">
                        <a:spcAft>
                          <a:spcPts val="0"/>
                        </a:spcAft>
                      </a:pPr>
                      <a:r>
                        <a:rPr lang="en-US" sz="1600" kern="1200" dirty="0">
                          <a:solidFill>
                            <a:schemeClr val="dk1"/>
                          </a:solidFill>
                          <a:effectLst/>
                          <a:latin typeface="+mn-lt"/>
                          <a:ea typeface="+mn-ea"/>
                          <a:cs typeface="+mn-cs"/>
                        </a:rPr>
                        <a:t>1206</a:t>
                      </a:r>
                      <a:endParaRPr lang="zh-CN" sz="1600" kern="1200" dirty="0">
                        <a:solidFill>
                          <a:schemeClr val="dk1"/>
                        </a:solidFill>
                        <a:effectLst/>
                        <a:latin typeface="+mn-lt"/>
                        <a:ea typeface="+mn-ea"/>
                        <a:cs typeface="+mn-cs"/>
                      </a:endParaRPr>
                    </a:p>
                  </a:txBody>
                  <a:tcPr marL="68580" marR="68580" marT="0" marB="0"/>
                </a:tc>
                <a:tc>
                  <a:txBody>
                    <a:bodyPr/>
                    <a:lstStyle/>
                    <a:p>
                      <a:pPr>
                        <a:spcAft>
                          <a:spcPts val="0"/>
                        </a:spcAft>
                      </a:pPr>
                      <a:r>
                        <a:rPr lang="en-US" sz="1600" dirty="0">
                          <a:effectLst/>
                        </a:rPr>
                        <a:t>3216</a:t>
                      </a:r>
                      <a:endParaRPr lang="zh-CN" sz="16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a:effectLst/>
                        </a:rPr>
                        <a:t>1/8W</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a:effectLst/>
                        </a:rPr>
                        <a:t>1/4W</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a:effectLst/>
                        </a:rPr>
                        <a:t>200</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4222251259"/>
                  </a:ext>
                </a:extLst>
              </a:tr>
              <a:tr h="0">
                <a:tc>
                  <a:txBody>
                    <a:bodyPr/>
                    <a:lstStyle/>
                    <a:p>
                      <a:pPr marL="0" algn="l" defTabSz="914400" rtl="0" eaLnBrk="1" latinLnBrk="0" hangingPunct="1">
                        <a:spcAft>
                          <a:spcPts val="0"/>
                        </a:spcAft>
                      </a:pPr>
                      <a:r>
                        <a:rPr lang="en-US" sz="1600" kern="1200" dirty="0">
                          <a:solidFill>
                            <a:schemeClr val="dk1"/>
                          </a:solidFill>
                          <a:effectLst/>
                          <a:latin typeface="+mn-lt"/>
                          <a:ea typeface="+mn-ea"/>
                          <a:cs typeface="+mn-cs"/>
                        </a:rPr>
                        <a:t>1210</a:t>
                      </a:r>
                      <a:endParaRPr lang="zh-CN" sz="1600" kern="1200" dirty="0">
                        <a:solidFill>
                          <a:schemeClr val="dk1"/>
                        </a:solidFill>
                        <a:effectLst/>
                        <a:latin typeface="+mn-lt"/>
                        <a:ea typeface="+mn-ea"/>
                        <a:cs typeface="+mn-cs"/>
                      </a:endParaRPr>
                    </a:p>
                  </a:txBody>
                  <a:tcPr marL="68580" marR="68580" marT="0" marB="0"/>
                </a:tc>
                <a:tc>
                  <a:txBody>
                    <a:bodyPr/>
                    <a:lstStyle/>
                    <a:p>
                      <a:pPr>
                        <a:spcAft>
                          <a:spcPts val="0"/>
                        </a:spcAft>
                      </a:pPr>
                      <a:r>
                        <a:rPr lang="en-US" sz="1600" dirty="0">
                          <a:effectLst/>
                        </a:rPr>
                        <a:t>3225</a:t>
                      </a:r>
                      <a:endParaRPr lang="zh-CN" sz="16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dirty="0">
                          <a:effectLst/>
                        </a:rPr>
                        <a:t>1/4W</a:t>
                      </a:r>
                      <a:endParaRPr lang="zh-CN" sz="16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a:effectLst/>
                        </a:rPr>
                        <a:t>1/3W</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a:effectLst/>
                        </a:rPr>
                        <a:t>200</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1599067382"/>
                  </a:ext>
                </a:extLst>
              </a:tr>
              <a:tr h="0">
                <a:tc>
                  <a:txBody>
                    <a:bodyPr/>
                    <a:lstStyle/>
                    <a:p>
                      <a:pPr marL="0" algn="l" defTabSz="914400" rtl="0" eaLnBrk="1" latinLnBrk="0" hangingPunct="1">
                        <a:spcAft>
                          <a:spcPts val="0"/>
                        </a:spcAft>
                      </a:pPr>
                      <a:r>
                        <a:rPr lang="en-US" sz="1600" kern="1200" dirty="0">
                          <a:solidFill>
                            <a:schemeClr val="dk1"/>
                          </a:solidFill>
                          <a:effectLst/>
                          <a:latin typeface="+mn-lt"/>
                          <a:ea typeface="+mn-ea"/>
                          <a:cs typeface="+mn-cs"/>
                        </a:rPr>
                        <a:t>1812</a:t>
                      </a:r>
                      <a:endParaRPr lang="zh-CN" sz="1600" kern="1200" dirty="0">
                        <a:solidFill>
                          <a:schemeClr val="dk1"/>
                        </a:solidFill>
                        <a:effectLst/>
                        <a:latin typeface="+mn-lt"/>
                        <a:ea typeface="+mn-ea"/>
                        <a:cs typeface="+mn-cs"/>
                      </a:endParaRPr>
                    </a:p>
                  </a:txBody>
                  <a:tcPr marL="68580" marR="68580" marT="0" marB="0"/>
                </a:tc>
                <a:tc>
                  <a:txBody>
                    <a:bodyPr/>
                    <a:lstStyle/>
                    <a:p>
                      <a:pPr>
                        <a:spcAft>
                          <a:spcPts val="0"/>
                        </a:spcAft>
                      </a:pPr>
                      <a:r>
                        <a:rPr lang="en-US" sz="1600" dirty="0">
                          <a:effectLst/>
                        </a:rPr>
                        <a:t>4832</a:t>
                      </a:r>
                      <a:endParaRPr lang="zh-CN" sz="16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dirty="0">
                          <a:effectLst/>
                        </a:rPr>
                        <a:t>1/2W</a:t>
                      </a:r>
                      <a:endParaRPr lang="zh-CN" sz="16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a:effectLst/>
                        </a:rPr>
                        <a:t> </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a:effectLst/>
                        </a:rPr>
                        <a:t>200</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347936816"/>
                  </a:ext>
                </a:extLst>
              </a:tr>
              <a:tr h="0">
                <a:tc>
                  <a:txBody>
                    <a:bodyPr/>
                    <a:lstStyle/>
                    <a:p>
                      <a:pPr marL="0" algn="l" defTabSz="914400" rtl="0" eaLnBrk="1" latinLnBrk="0" hangingPunct="1">
                        <a:spcAft>
                          <a:spcPts val="0"/>
                        </a:spcAft>
                      </a:pPr>
                      <a:r>
                        <a:rPr lang="en-US" sz="1600" kern="1200" dirty="0">
                          <a:solidFill>
                            <a:schemeClr val="dk1"/>
                          </a:solidFill>
                          <a:effectLst/>
                          <a:latin typeface="+mn-lt"/>
                          <a:ea typeface="+mn-ea"/>
                          <a:cs typeface="+mn-cs"/>
                        </a:rPr>
                        <a:t>2010</a:t>
                      </a:r>
                      <a:endParaRPr lang="zh-CN" sz="1600" kern="1200" dirty="0">
                        <a:solidFill>
                          <a:schemeClr val="dk1"/>
                        </a:solidFill>
                        <a:effectLst/>
                        <a:latin typeface="+mn-lt"/>
                        <a:ea typeface="+mn-ea"/>
                        <a:cs typeface="+mn-cs"/>
                      </a:endParaRPr>
                    </a:p>
                  </a:txBody>
                  <a:tcPr marL="68580" marR="68580" marT="0" marB="0"/>
                </a:tc>
                <a:tc>
                  <a:txBody>
                    <a:bodyPr/>
                    <a:lstStyle/>
                    <a:p>
                      <a:pPr>
                        <a:spcAft>
                          <a:spcPts val="0"/>
                        </a:spcAft>
                      </a:pPr>
                      <a:r>
                        <a:rPr lang="en-US" sz="1600" dirty="0">
                          <a:effectLst/>
                        </a:rPr>
                        <a:t>5025</a:t>
                      </a:r>
                      <a:endParaRPr lang="zh-CN" sz="16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dirty="0">
                          <a:effectLst/>
                        </a:rPr>
                        <a:t>1/2W</a:t>
                      </a:r>
                      <a:endParaRPr lang="zh-CN" sz="16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dirty="0">
                          <a:effectLst/>
                        </a:rPr>
                        <a:t>3/4W</a:t>
                      </a:r>
                      <a:endParaRPr lang="zh-CN" sz="16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a:effectLst/>
                        </a:rPr>
                        <a:t>200</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743531990"/>
                  </a:ext>
                </a:extLst>
              </a:tr>
              <a:tr h="0">
                <a:tc>
                  <a:txBody>
                    <a:bodyPr/>
                    <a:lstStyle/>
                    <a:p>
                      <a:pPr marL="0" algn="l" defTabSz="914400" rtl="0" eaLnBrk="1" latinLnBrk="0" hangingPunct="1">
                        <a:spcAft>
                          <a:spcPts val="0"/>
                        </a:spcAft>
                      </a:pPr>
                      <a:r>
                        <a:rPr lang="en-US" sz="1600" kern="1200" dirty="0">
                          <a:solidFill>
                            <a:schemeClr val="dk1"/>
                          </a:solidFill>
                          <a:effectLst/>
                          <a:latin typeface="+mn-lt"/>
                          <a:ea typeface="+mn-ea"/>
                          <a:cs typeface="+mn-cs"/>
                        </a:rPr>
                        <a:t>2512</a:t>
                      </a:r>
                      <a:endParaRPr lang="zh-CN" sz="1600" kern="1200" dirty="0">
                        <a:solidFill>
                          <a:schemeClr val="dk1"/>
                        </a:solidFill>
                        <a:effectLst/>
                        <a:latin typeface="+mn-lt"/>
                        <a:ea typeface="+mn-ea"/>
                        <a:cs typeface="+mn-cs"/>
                      </a:endParaRPr>
                    </a:p>
                  </a:txBody>
                  <a:tcPr marL="68580" marR="68580" marT="0" marB="0"/>
                </a:tc>
                <a:tc>
                  <a:txBody>
                    <a:bodyPr/>
                    <a:lstStyle/>
                    <a:p>
                      <a:pPr>
                        <a:spcAft>
                          <a:spcPts val="0"/>
                        </a:spcAft>
                      </a:pPr>
                      <a:r>
                        <a:rPr lang="en-US" sz="1600" dirty="0">
                          <a:effectLst/>
                        </a:rPr>
                        <a:t>6432</a:t>
                      </a:r>
                      <a:endParaRPr lang="zh-CN" sz="16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a:effectLst/>
                        </a:rPr>
                        <a:t>1W</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dirty="0">
                          <a:effectLst/>
                        </a:rPr>
                        <a:t> </a:t>
                      </a:r>
                      <a:endParaRPr lang="zh-CN" sz="16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1600" dirty="0">
                          <a:effectLst/>
                        </a:rPr>
                        <a:t>200</a:t>
                      </a:r>
                      <a:endParaRPr lang="zh-CN" sz="16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3862659964"/>
                  </a:ext>
                </a:extLst>
              </a:tr>
            </a:tbl>
          </a:graphicData>
        </a:graphic>
      </p:graphicFrame>
    </p:spTree>
    <p:extLst>
      <p:ext uri="{BB962C8B-B14F-4D97-AF65-F5344CB8AC3E}">
        <p14:creationId xmlns:p14="http://schemas.microsoft.com/office/powerpoint/2010/main" val="10419032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50</a:t>
            </a:fld>
            <a:endParaRPr lang="en-US" altLang="zh-CN">
              <a:solidFill>
                <a:srgbClr val="FFFFFF"/>
              </a:solidFill>
            </a:endParaRPr>
          </a:p>
        </p:txBody>
      </p:sp>
      <p:sp>
        <p:nvSpPr>
          <p:cNvPr id="5" name="文本框 4"/>
          <p:cNvSpPr txBox="1"/>
          <p:nvPr/>
        </p:nvSpPr>
        <p:spPr>
          <a:xfrm>
            <a:off x="493486" y="585480"/>
            <a:ext cx="11205028" cy="5170646"/>
          </a:xfrm>
          <a:prstGeom prst="rect">
            <a:avLst/>
          </a:prstGeom>
          <a:noFill/>
        </p:spPr>
        <p:txBody>
          <a:bodyPr wrap="square" rtlCol="0">
            <a:spAutoFit/>
          </a:bodyPr>
          <a:lstStyle/>
          <a:p>
            <a:pPr>
              <a:lnSpc>
                <a:spcPct val="150000"/>
              </a:lnSpc>
            </a:pPr>
            <a:r>
              <a:rPr lang="zh-CN" altLang="en-US" dirty="0" smtClean="0">
                <a:latin typeface="+mj-ea"/>
                <a:ea typeface="+mj-ea"/>
              </a:rPr>
              <a:t>电容器</a:t>
            </a:r>
            <a:endParaRPr lang="en-US" altLang="zh-CN" dirty="0" smtClean="0">
              <a:latin typeface="+mj-ea"/>
              <a:ea typeface="+mj-ea"/>
            </a:endParaRPr>
          </a:p>
          <a:p>
            <a:pPr marL="342900" indent="-342900">
              <a:lnSpc>
                <a:spcPct val="150000"/>
              </a:lnSpc>
              <a:buFont typeface="Arial" panose="020B0604020202020204" pitchFamily="34" charset="0"/>
              <a:buChar char="•"/>
            </a:pPr>
            <a:r>
              <a:rPr lang="zh-CN" altLang="en-US" dirty="0" smtClean="0"/>
              <a:t>陶瓷电容</a:t>
            </a:r>
            <a:endParaRPr lang="en-US" altLang="zh-CN" dirty="0" smtClean="0"/>
          </a:p>
          <a:p>
            <a:pPr lvl="1">
              <a:lnSpc>
                <a:spcPct val="150000"/>
              </a:lnSpc>
            </a:pPr>
            <a:r>
              <a:rPr lang="en-US" altLang="zh-CN" dirty="0" smtClean="0"/>
              <a:t>NP0</a:t>
            </a:r>
            <a:r>
              <a:rPr lang="zh-CN" altLang="en-US" dirty="0" smtClean="0"/>
              <a:t>，</a:t>
            </a:r>
            <a:r>
              <a:rPr lang="en-US" altLang="zh-CN" dirty="0" smtClean="0"/>
              <a:t>X7R</a:t>
            </a:r>
            <a:r>
              <a:rPr lang="zh-CN" altLang="en-US" dirty="0" smtClean="0"/>
              <a:t>等介质，可以是单层结构（瓷片电容）或多层结构（独石电容）</a:t>
            </a:r>
            <a:endParaRPr lang="en-US" altLang="zh-CN" dirty="0" smtClean="0"/>
          </a:p>
          <a:p>
            <a:pPr lvl="1">
              <a:lnSpc>
                <a:spcPct val="150000"/>
              </a:lnSpc>
            </a:pPr>
            <a:r>
              <a:rPr lang="en-US" altLang="zh-CN" dirty="0"/>
              <a:t>NP0 </a:t>
            </a:r>
            <a:r>
              <a:rPr lang="zh-CN" altLang="en-US" dirty="0" smtClean="0"/>
              <a:t>有较高</a:t>
            </a:r>
            <a:r>
              <a:rPr lang="en-US" altLang="zh-CN" dirty="0" smtClean="0"/>
              <a:t>Q</a:t>
            </a:r>
            <a:r>
              <a:rPr lang="zh-CN" altLang="en-US" dirty="0" smtClean="0"/>
              <a:t>值，容量不容易做大，适用于高频信号应用</a:t>
            </a:r>
            <a:endParaRPr lang="en-US" altLang="zh-CN" dirty="0" smtClean="0"/>
          </a:p>
          <a:p>
            <a:pPr lvl="1">
              <a:lnSpc>
                <a:spcPct val="150000"/>
              </a:lnSpc>
            </a:pPr>
            <a:r>
              <a:rPr lang="en-US" altLang="zh-CN" dirty="0" smtClean="0"/>
              <a:t>X7R</a:t>
            </a:r>
            <a:r>
              <a:rPr lang="zh-CN" altLang="en-US" dirty="0" smtClean="0"/>
              <a:t>的</a:t>
            </a:r>
            <a:r>
              <a:rPr lang="en-US" altLang="zh-CN" dirty="0" smtClean="0"/>
              <a:t>Q</a:t>
            </a:r>
            <a:r>
              <a:rPr lang="zh-CN" altLang="en-US" dirty="0" smtClean="0"/>
              <a:t>值较低，但可有较大容量，常常用于退耦等场合</a:t>
            </a:r>
            <a:endParaRPr lang="en-US" altLang="zh-CN" dirty="0" smtClean="0"/>
          </a:p>
          <a:p>
            <a:pPr marL="342900" indent="-342900">
              <a:lnSpc>
                <a:spcPct val="150000"/>
              </a:lnSpc>
              <a:buFont typeface="Arial" panose="020B0604020202020204" pitchFamily="34" charset="0"/>
              <a:buChar char="•"/>
            </a:pPr>
            <a:r>
              <a:rPr lang="zh-CN" altLang="en-US" dirty="0" smtClean="0"/>
              <a:t>云母电容</a:t>
            </a:r>
            <a:endParaRPr lang="en-US" altLang="zh-CN" dirty="0" smtClean="0"/>
          </a:p>
          <a:p>
            <a:pPr marL="360000">
              <a:lnSpc>
                <a:spcPct val="150000"/>
              </a:lnSpc>
            </a:pPr>
            <a:r>
              <a:rPr lang="en-US" altLang="zh-CN" dirty="0" smtClean="0"/>
              <a:t>Q</a:t>
            </a:r>
            <a:r>
              <a:rPr lang="zh-CN" altLang="en-US" dirty="0" smtClean="0"/>
              <a:t>值很高，适用于高频电路</a:t>
            </a:r>
            <a:endParaRPr lang="en-US" altLang="zh-CN" dirty="0"/>
          </a:p>
          <a:p>
            <a:pPr marL="342900" indent="-342900">
              <a:lnSpc>
                <a:spcPct val="150000"/>
              </a:lnSpc>
              <a:buFont typeface="Arial" panose="020B0604020202020204" pitchFamily="34" charset="0"/>
              <a:buChar char="•"/>
            </a:pPr>
            <a:r>
              <a:rPr lang="zh-CN" altLang="en-US" dirty="0" smtClean="0"/>
              <a:t>有机薄膜电容</a:t>
            </a:r>
            <a:endParaRPr lang="en-US" altLang="zh-CN" dirty="0"/>
          </a:p>
          <a:p>
            <a:pPr lvl="1">
              <a:lnSpc>
                <a:spcPct val="150000"/>
              </a:lnSpc>
            </a:pPr>
            <a:r>
              <a:rPr lang="zh-CN" altLang="zh-CN" dirty="0"/>
              <a:t>聚苯乙烯</a:t>
            </a:r>
            <a:r>
              <a:rPr lang="zh-CN" altLang="en-US" dirty="0"/>
              <a:t>、</a:t>
            </a:r>
            <a:r>
              <a:rPr lang="zh-CN" altLang="zh-CN" dirty="0"/>
              <a:t>聚丙烯</a:t>
            </a:r>
            <a:r>
              <a:rPr lang="zh-CN" altLang="en-US" dirty="0"/>
              <a:t>、</a:t>
            </a:r>
            <a:r>
              <a:rPr lang="zh-CN" altLang="zh-CN" dirty="0"/>
              <a:t>聚酯</a:t>
            </a:r>
            <a:r>
              <a:rPr lang="zh-CN" altLang="en-US" dirty="0"/>
              <a:t>、涤纶等介质，卷绕</a:t>
            </a:r>
            <a:r>
              <a:rPr lang="zh-CN" altLang="en-US" dirty="0" smtClean="0"/>
              <a:t>结构，</a:t>
            </a:r>
            <a:r>
              <a:rPr lang="en-US" altLang="zh-CN" dirty="0" smtClean="0"/>
              <a:t>ESR</a:t>
            </a:r>
            <a:r>
              <a:rPr lang="zh-CN" altLang="en-US" dirty="0" smtClean="0"/>
              <a:t>与</a:t>
            </a:r>
            <a:r>
              <a:rPr lang="en-US" altLang="zh-CN" dirty="0" smtClean="0"/>
              <a:t>ESL</a:t>
            </a:r>
            <a:r>
              <a:rPr lang="zh-CN" altLang="en-US" dirty="0" smtClean="0"/>
              <a:t>均较大，适合低频电路</a:t>
            </a:r>
            <a:endParaRPr lang="en-US" altLang="zh-CN" dirty="0" smtClean="0"/>
          </a:p>
          <a:p>
            <a:pPr marL="342900" indent="-342900">
              <a:lnSpc>
                <a:spcPct val="150000"/>
              </a:lnSpc>
              <a:buFont typeface="Arial" panose="020B0604020202020204" pitchFamily="34" charset="0"/>
              <a:buChar char="•"/>
            </a:pPr>
            <a:r>
              <a:rPr lang="zh-CN" altLang="en-US" dirty="0" smtClean="0"/>
              <a:t>电解</a:t>
            </a:r>
            <a:r>
              <a:rPr lang="zh-CN" altLang="en-US" dirty="0"/>
              <a:t>电容</a:t>
            </a:r>
            <a:endParaRPr lang="en-US" altLang="zh-CN" dirty="0"/>
          </a:p>
          <a:p>
            <a:pPr lvl="1">
              <a:lnSpc>
                <a:spcPct val="150000"/>
              </a:lnSpc>
            </a:pPr>
            <a:r>
              <a:rPr lang="zh-CN" altLang="en-US" dirty="0"/>
              <a:t>铝电解电容、钽电解</a:t>
            </a:r>
            <a:r>
              <a:rPr lang="zh-CN" altLang="en-US" dirty="0" smtClean="0"/>
              <a:t>电容，有极性，主要用于电源储能以及低频信号耦合</a:t>
            </a:r>
            <a:endParaRPr lang="zh-CN" altLang="en-US" dirty="0"/>
          </a:p>
        </p:txBody>
      </p:sp>
    </p:spTree>
    <p:extLst>
      <p:ext uri="{BB962C8B-B14F-4D97-AF65-F5344CB8AC3E}">
        <p14:creationId xmlns:p14="http://schemas.microsoft.com/office/powerpoint/2010/main" val="5991568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51</a:t>
            </a:fld>
            <a:endParaRPr lang="en-US" altLang="zh-CN">
              <a:solidFill>
                <a:srgbClr val="FFFFFF"/>
              </a:solidFill>
            </a:endParaRPr>
          </a:p>
        </p:txBody>
      </p:sp>
      <p:sp>
        <p:nvSpPr>
          <p:cNvPr id="5" name="矩形 4"/>
          <p:cNvSpPr/>
          <p:nvPr/>
        </p:nvSpPr>
        <p:spPr>
          <a:xfrm>
            <a:off x="457200" y="487120"/>
            <a:ext cx="11313585" cy="3785652"/>
          </a:xfrm>
          <a:prstGeom prst="rect">
            <a:avLst/>
          </a:prstGeom>
        </p:spPr>
        <p:txBody>
          <a:bodyPr wrap="square">
            <a:spAutoFit/>
          </a:bodyPr>
          <a:lstStyle/>
          <a:p>
            <a:pPr algn="just">
              <a:lnSpc>
                <a:spcPct val="150000"/>
              </a:lnSpc>
              <a:spcAft>
                <a:spcPts val="0"/>
              </a:spcAft>
            </a:pPr>
            <a:r>
              <a:rPr lang="zh-CN" altLang="zh-CN" kern="100" dirty="0">
                <a:latin typeface="Arial" panose="020B0604020202020204" pitchFamily="34" charset="0"/>
                <a:ea typeface="+mn-ea"/>
              </a:rPr>
              <a:t>电容</a:t>
            </a:r>
            <a:r>
              <a:rPr lang="zh-CN" altLang="en-US" kern="100" dirty="0">
                <a:latin typeface="Arial" panose="020B0604020202020204" pitchFamily="34" charset="0"/>
                <a:ea typeface="+mn-ea"/>
              </a:rPr>
              <a:t>器的非理想特性</a:t>
            </a:r>
            <a:endParaRPr lang="en-US" altLang="zh-CN" kern="100" dirty="0">
              <a:latin typeface="Arial" panose="020B0604020202020204" pitchFamily="34" charset="0"/>
              <a:ea typeface="+mn-ea"/>
            </a:endParaRPr>
          </a:p>
          <a:p>
            <a:pPr marL="342900" indent="-342900" algn="just">
              <a:lnSpc>
                <a:spcPct val="150000"/>
              </a:lnSpc>
              <a:spcAft>
                <a:spcPts val="0"/>
              </a:spcAft>
              <a:buFont typeface="Arial" panose="020B0604020202020204" pitchFamily="34" charset="0"/>
              <a:buChar char="•"/>
            </a:pPr>
            <a:r>
              <a:rPr lang="zh-CN" altLang="zh-CN" dirty="0">
                <a:latin typeface="Arial" panose="020B0604020202020204" pitchFamily="34" charset="0"/>
                <a:ea typeface="+mn-ea"/>
                <a:cs typeface="Times New Roman" panose="02020603050405020304" pitchFamily="18" charset="0"/>
              </a:rPr>
              <a:t>等效串联电感</a:t>
            </a:r>
            <a:r>
              <a:rPr lang="en-US" altLang="zh-CN" dirty="0">
                <a:latin typeface="Arial" panose="020B0604020202020204" pitchFamily="34" charset="0"/>
                <a:ea typeface="+mn-ea"/>
                <a:cs typeface="Times New Roman" panose="02020603050405020304" pitchFamily="18" charset="0"/>
              </a:rPr>
              <a:t>(</a:t>
            </a:r>
            <a:r>
              <a:rPr lang="en-US" altLang="zh-CN" dirty="0">
                <a:latin typeface="Arial" panose="020B0604020202020204" pitchFamily="34" charset="0"/>
                <a:ea typeface="+mn-ea"/>
              </a:rPr>
              <a:t>ESL)</a:t>
            </a:r>
            <a:r>
              <a:rPr lang="zh-CN" altLang="en-US" dirty="0">
                <a:latin typeface="Arial" panose="020B0604020202020204" pitchFamily="34" charset="0"/>
                <a:ea typeface="+mn-ea"/>
                <a:cs typeface="Times New Roman" panose="02020603050405020304" pitchFamily="18" charset="0"/>
              </a:rPr>
              <a:t>，与电容结构有关，与封装形式有关</a:t>
            </a:r>
            <a:endParaRPr lang="en-US" altLang="zh-CN" dirty="0">
              <a:latin typeface="Arial" panose="020B0604020202020204" pitchFamily="34" charset="0"/>
              <a:ea typeface="+mn-ea"/>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dirty="0">
                <a:latin typeface="Arial" panose="020B0604020202020204" pitchFamily="34" charset="0"/>
                <a:ea typeface="+mn-ea"/>
                <a:cs typeface="Times New Roman" panose="02020603050405020304" pitchFamily="18" charset="0"/>
              </a:rPr>
              <a:t>等效串联电阻</a:t>
            </a:r>
            <a:r>
              <a:rPr lang="en-US" altLang="zh-CN" dirty="0">
                <a:latin typeface="Arial" panose="020B0604020202020204" pitchFamily="34" charset="0"/>
                <a:ea typeface="+mn-ea"/>
                <a:cs typeface="Times New Roman" panose="02020603050405020304" pitchFamily="18" charset="0"/>
              </a:rPr>
              <a:t>(</a:t>
            </a:r>
            <a:r>
              <a:rPr lang="en-US" altLang="zh-CN" dirty="0">
                <a:latin typeface="Arial" panose="020B0604020202020204" pitchFamily="34" charset="0"/>
                <a:ea typeface="+mn-ea"/>
              </a:rPr>
              <a:t>ESR)</a:t>
            </a:r>
            <a:r>
              <a:rPr lang="zh-CN" altLang="zh-CN" dirty="0">
                <a:latin typeface="Arial" panose="020B0604020202020204" pitchFamily="34" charset="0"/>
                <a:ea typeface="+mn-ea"/>
                <a:cs typeface="Times New Roman" panose="02020603050405020304" pitchFamily="18" charset="0"/>
              </a:rPr>
              <a:t>，</a:t>
            </a:r>
            <a:r>
              <a:rPr lang="zh-CN" altLang="en-US" dirty="0">
                <a:latin typeface="Arial" panose="020B0604020202020204" pitchFamily="34" charset="0"/>
                <a:ea typeface="+mn-ea"/>
                <a:cs typeface="Times New Roman" panose="02020603050405020304" pitchFamily="18" charset="0"/>
              </a:rPr>
              <a:t>与电容的介质有关。表现为电容的</a:t>
            </a:r>
            <a:r>
              <a:rPr lang="en-US" altLang="zh-CN" dirty="0">
                <a:latin typeface="Arial" panose="020B0604020202020204" pitchFamily="34" charset="0"/>
                <a:ea typeface="+mn-ea"/>
                <a:cs typeface="Times New Roman" panose="02020603050405020304" pitchFamily="18" charset="0"/>
              </a:rPr>
              <a:t>Q</a:t>
            </a:r>
            <a:r>
              <a:rPr lang="zh-CN" altLang="en-US" dirty="0">
                <a:latin typeface="Arial" panose="020B0604020202020204" pitchFamily="34" charset="0"/>
                <a:ea typeface="+mn-ea"/>
                <a:cs typeface="Times New Roman" panose="02020603050405020304" pitchFamily="18" charset="0"/>
              </a:rPr>
              <a:t>值。云母电容、老式的薄膜电容、</a:t>
            </a:r>
            <a:r>
              <a:rPr lang="en-US" altLang="zh-CN" dirty="0">
                <a:latin typeface="Arial" panose="020B0604020202020204" pitchFamily="34" charset="0"/>
                <a:ea typeface="+mn-ea"/>
                <a:cs typeface="Times New Roman" panose="02020603050405020304" pitchFamily="18" charset="0"/>
              </a:rPr>
              <a:t>NP0</a:t>
            </a:r>
            <a:r>
              <a:rPr lang="zh-CN" altLang="en-US" dirty="0">
                <a:latin typeface="Arial" panose="020B0604020202020204" pitchFamily="34" charset="0"/>
                <a:ea typeface="+mn-ea"/>
                <a:cs typeface="Times New Roman" panose="02020603050405020304" pitchFamily="18" charset="0"/>
              </a:rPr>
              <a:t>瓷介电容等有较高的</a:t>
            </a:r>
            <a:r>
              <a:rPr lang="en-US" altLang="zh-CN" dirty="0">
                <a:latin typeface="Arial" panose="020B0604020202020204" pitchFamily="34" charset="0"/>
                <a:ea typeface="+mn-ea"/>
                <a:cs typeface="Times New Roman" panose="02020603050405020304" pitchFamily="18" charset="0"/>
              </a:rPr>
              <a:t>Q</a:t>
            </a:r>
            <a:r>
              <a:rPr lang="zh-CN" altLang="en-US" dirty="0">
                <a:latin typeface="Arial" panose="020B0604020202020204" pitchFamily="34" charset="0"/>
                <a:ea typeface="+mn-ea"/>
                <a:cs typeface="Times New Roman" panose="02020603050405020304" pitchFamily="18" charset="0"/>
              </a:rPr>
              <a:t>值</a:t>
            </a:r>
            <a:endParaRPr lang="zh-CN" altLang="en-US" dirty="0">
              <a:latin typeface="Arial" panose="020B0604020202020204" pitchFamily="34" charset="0"/>
              <a:ea typeface="+mn-ea"/>
            </a:endParaRPr>
          </a:p>
          <a:p>
            <a:pPr marL="342900" indent="-342900" algn="just">
              <a:lnSpc>
                <a:spcPct val="150000"/>
              </a:lnSpc>
              <a:spcAft>
                <a:spcPts val="0"/>
              </a:spcAft>
              <a:buFont typeface="Arial" panose="020B0604020202020204" pitchFamily="34" charset="0"/>
              <a:buChar char="•"/>
            </a:pPr>
            <a:r>
              <a:rPr lang="zh-CN" altLang="zh-CN" kern="100" dirty="0">
                <a:latin typeface="Arial" panose="020B0604020202020204" pitchFamily="34" charset="0"/>
                <a:ea typeface="+mn-ea"/>
              </a:rPr>
              <a:t>介质吸收</a:t>
            </a:r>
            <a:r>
              <a:rPr lang="zh-CN" altLang="en-US" kern="100" dirty="0">
                <a:latin typeface="Arial" panose="020B0604020202020204" pitchFamily="34" charset="0"/>
                <a:ea typeface="+mn-ea"/>
              </a:rPr>
              <a:t>。</a:t>
            </a:r>
            <a:r>
              <a:rPr lang="zh-CN" altLang="zh-CN" kern="100" dirty="0">
                <a:latin typeface="Arial" panose="020B0604020202020204" pitchFamily="34" charset="0"/>
                <a:ea typeface="+mn-ea"/>
              </a:rPr>
              <a:t>用一根导线将电容短路一段时间然后分开，在分开的瞬间电容两端电压为</a:t>
            </a:r>
            <a:r>
              <a:rPr lang="en-US" altLang="zh-CN" kern="100" dirty="0">
                <a:latin typeface="Arial" panose="020B0604020202020204" pitchFamily="34" charset="0"/>
                <a:ea typeface="+mn-ea"/>
              </a:rPr>
              <a:t>0</a:t>
            </a:r>
            <a:r>
              <a:rPr lang="zh-CN" altLang="zh-CN" kern="100" dirty="0">
                <a:latin typeface="Arial" panose="020B0604020202020204" pitchFamily="34" charset="0"/>
                <a:ea typeface="+mn-ea"/>
              </a:rPr>
              <a:t>，但是随即此电压将慢慢升高到某个残余值。不同的电容器的介质吸收程度是不同的，聚苯乙烯电容有最小的介质吸收系数，所以是精密测量电路中的首选</a:t>
            </a:r>
            <a:endParaRPr lang="en-US" altLang="zh-CN" kern="100" dirty="0">
              <a:latin typeface="Arial" panose="020B0604020202020204" pitchFamily="34" charset="0"/>
              <a:ea typeface="+mn-ea"/>
            </a:endParaRPr>
          </a:p>
          <a:p>
            <a:pPr marL="342900" indent="-342900" algn="just">
              <a:lnSpc>
                <a:spcPct val="150000"/>
              </a:lnSpc>
              <a:spcAft>
                <a:spcPts val="0"/>
              </a:spcAft>
              <a:buFont typeface="Arial" panose="020B0604020202020204" pitchFamily="34" charset="0"/>
              <a:buChar char="•"/>
            </a:pPr>
            <a:r>
              <a:rPr lang="zh-CN" altLang="en-US" kern="100" dirty="0">
                <a:latin typeface="Arial" panose="020B0604020202020204" pitchFamily="34" charset="0"/>
                <a:ea typeface="+mn-ea"/>
              </a:rPr>
              <a:t>压电效应。不同的电压下电容量有变化，多见于陶瓷介质电容器</a:t>
            </a:r>
            <a:endParaRPr lang="zh-CN" altLang="zh-CN" kern="100" dirty="0">
              <a:latin typeface="Arial" panose="020B0604020202020204" pitchFamily="34" charset="0"/>
              <a:ea typeface="+mn-ea"/>
            </a:endParaRPr>
          </a:p>
        </p:txBody>
      </p:sp>
    </p:spTree>
    <p:extLst>
      <p:ext uri="{BB962C8B-B14F-4D97-AF65-F5344CB8AC3E}">
        <p14:creationId xmlns:p14="http://schemas.microsoft.com/office/powerpoint/2010/main" val="25330636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52</a:t>
            </a:fld>
            <a:endParaRPr lang="en-US" altLang="zh-CN">
              <a:solidFill>
                <a:srgbClr val="FFFFFF"/>
              </a:solidFill>
            </a:endParaRPr>
          </a:p>
        </p:txBody>
      </p:sp>
      <p:sp>
        <p:nvSpPr>
          <p:cNvPr id="5" name="文本框 4"/>
          <p:cNvSpPr txBox="1"/>
          <p:nvPr/>
        </p:nvSpPr>
        <p:spPr>
          <a:xfrm>
            <a:off x="508000" y="552588"/>
            <a:ext cx="11313585" cy="4247317"/>
          </a:xfrm>
          <a:prstGeom prst="rect">
            <a:avLst/>
          </a:prstGeom>
          <a:noFill/>
        </p:spPr>
        <p:txBody>
          <a:bodyPr wrap="square" rtlCol="0">
            <a:spAutoFit/>
          </a:bodyPr>
          <a:lstStyle/>
          <a:p>
            <a:pPr>
              <a:lnSpc>
                <a:spcPct val="150000"/>
              </a:lnSpc>
            </a:pPr>
            <a:r>
              <a:rPr lang="zh-CN" altLang="en-US" dirty="0"/>
              <a:t>电容器选型的注意事项</a:t>
            </a:r>
            <a:endParaRPr lang="en-US" altLang="zh-CN" dirty="0"/>
          </a:p>
          <a:p>
            <a:pPr marL="342900" indent="-342900">
              <a:lnSpc>
                <a:spcPct val="150000"/>
              </a:lnSpc>
              <a:buFont typeface="Arial" panose="020B0604020202020204" pitchFamily="34" charset="0"/>
              <a:buChar char="•"/>
            </a:pPr>
            <a:r>
              <a:rPr lang="zh-CN" altLang="en-US" dirty="0"/>
              <a:t>常规事项</a:t>
            </a:r>
            <a:endParaRPr lang="en-US" altLang="zh-CN" dirty="0"/>
          </a:p>
          <a:p>
            <a:pPr marL="800100" lvl="1" indent="-342900">
              <a:lnSpc>
                <a:spcPct val="150000"/>
              </a:lnSpc>
              <a:buFont typeface="Arial" panose="020B0604020202020204" pitchFamily="34" charset="0"/>
              <a:buChar char="•"/>
            </a:pPr>
            <a:r>
              <a:rPr lang="zh-CN" altLang="en-US" dirty="0"/>
              <a:t>容量的标称值、容量的误差</a:t>
            </a:r>
            <a:endParaRPr lang="en-US" altLang="zh-CN" dirty="0"/>
          </a:p>
          <a:p>
            <a:pPr marL="800100" lvl="1" indent="-342900">
              <a:lnSpc>
                <a:spcPct val="150000"/>
              </a:lnSpc>
              <a:buFont typeface="Arial" panose="020B0604020202020204" pitchFamily="34" charset="0"/>
              <a:buChar char="•"/>
            </a:pPr>
            <a:r>
              <a:rPr lang="zh-CN" altLang="en-US" dirty="0"/>
              <a:t>耐压</a:t>
            </a:r>
            <a:endParaRPr lang="en-US" altLang="zh-CN" dirty="0"/>
          </a:p>
          <a:p>
            <a:pPr marL="800100" lvl="1" indent="-342900">
              <a:lnSpc>
                <a:spcPct val="150000"/>
              </a:lnSpc>
              <a:buFont typeface="Arial" panose="020B0604020202020204" pitchFamily="34" charset="0"/>
              <a:buChar char="•"/>
            </a:pPr>
            <a:r>
              <a:rPr lang="zh-CN" altLang="en-US" dirty="0"/>
              <a:t>额定电流</a:t>
            </a:r>
            <a:endParaRPr lang="en-US" altLang="zh-CN" dirty="0"/>
          </a:p>
          <a:p>
            <a:pPr marL="342900" indent="-342900">
              <a:lnSpc>
                <a:spcPct val="150000"/>
              </a:lnSpc>
              <a:buFont typeface="Arial" panose="020B0604020202020204" pitchFamily="34" charset="0"/>
              <a:buChar char="•"/>
            </a:pPr>
            <a:r>
              <a:rPr lang="zh-CN" altLang="en-US" dirty="0"/>
              <a:t>特殊要求</a:t>
            </a:r>
            <a:endParaRPr lang="en-US" altLang="zh-CN" dirty="0"/>
          </a:p>
          <a:p>
            <a:pPr marL="800100" lvl="1" indent="-342900">
              <a:lnSpc>
                <a:spcPct val="150000"/>
              </a:lnSpc>
              <a:buFont typeface="Arial" panose="020B0604020202020204" pitchFamily="34" charset="0"/>
              <a:buChar char="•"/>
            </a:pPr>
            <a:r>
              <a:rPr lang="zh-CN" altLang="en-US" dirty="0"/>
              <a:t>谐振回路与滤波器应用：</a:t>
            </a:r>
            <a:r>
              <a:rPr lang="en-US" altLang="zh-CN" dirty="0"/>
              <a:t>Q</a:t>
            </a:r>
            <a:r>
              <a:rPr lang="zh-CN" altLang="en-US" dirty="0"/>
              <a:t>值</a:t>
            </a:r>
            <a:endParaRPr lang="en-US" altLang="zh-CN" dirty="0"/>
          </a:p>
          <a:p>
            <a:pPr marL="800100" lvl="1" indent="-342900">
              <a:lnSpc>
                <a:spcPct val="150000"/>
              </a:lnSpc>
              <a:buFont typeface="Arial" panose="020B0604020202020204" pitchFamily="34" charset="0"/>
              <a:buChar char="•"/>
            </a:pPr>
            <a:r>
              <a:rPr lang="en-US" altLang="zh-CN" dirty="0"/>
              <a:t>ADC</a:t>
            </a:r>
            <a:r>
              <a:rPr lang="zh-CN" altLang="en-US" dirty="0"/>
              <a:t>采样电容与积分电容：介质吸收</a:t>
            </a:r>
            <a:endParaRPr lang="en-US" altLang="zh-CN" dirty="0"/>
          </a:p>
          <a:p>
            <a:pPr marL="800100" lvl="1" indent="-342900">
              <a:lnSpc>
                <a:spcPct val="150000"/>
              </a:lnSpc>
              <a:buFont typeface="Arial" panose="020B0604020202020204" pitchFamily="34" charset="0"/>
              <a:buChar char="•"/>
            </a:pPr>
            <a:r>
              <a:rPr lang="zh-CN" altLang="en-US" dirty="0"/>
              <a:t>极低谐波失真的应用：压电效应</a:t>
            </a:r>
          </a:p>
        </p:txBody>
      </p:sp>
    </p:spTree>
    <p:extLst>
      <p:ext uri="{BB962C8B-B14F-4D97-AF65-F5344CB8AC3E}">
        <p14:creationId xmlns:p14="http://schemas.microsoft.com/office/powerpoint/2010/main" val="34948614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53</a:t>
            </a:fld>
            <a:endParaRPr lang="en-US" altLang="zh-CN">
              <a:solidFill>
                <a:srgbClr val="FFFFFF"/>
              </a:solidFill>
            </a:endParaRPr>
          </a:p>
        </p:txBody>
      </p:sp>
      <p:sp>
        <p:nvSpPr>
          <p:cNvPr id="5" name="矩形 4"/>
          <p:cNvSpPr/>
          <p:nvPr/>
        </p:nvSpPr>
        <p:spPr>
          <a:xfrm>
            <a:off x="493487" y="588297"/>
            <a:ext cx="11263084" cy="3323987"/>
          </a:xfrm>
          <a:prstGeom prst="rect">
            <a:avLst/>
          </a:prstGeom>
        </p:spPr>
        <p:txBody>
          <a:bodyPr wrap="square">
            <a:spAutoFit/>
          </a:bodyPr>
          <a:lstStyle/>
          <a:p>
            <a:pPr algn="just">
              <a:lnSpc>
                <a:spcPct val="150000"/>
              </a:lnSpc>
              <a:spcAft>
                <a:spcPts val="0"/>
              </a:spcAft>
            </a:pPr>
            <a:r>
              <a:rPr lang="zh-CN" altLang="zh-CN" dirty="0" smtClean="0">
                <a:latin typeface="+mj-ea"/>
                <a:ea typeface="+mj-ea"/>
                <a:cs typeface="宋体" panose="02010600030101010101" pitchFamily="2" charset="-122"/>
              </a:rPr>
              <a:t>电感</a:t>
            </a:r>
            <a:endParaRPr lang="en-US" altLang="zh-CN" dirty="0">
              <a:latin typeface="+mj-ea"/>
              <a:ea typeface="+mj-ea"/>
              <a:cs typeface="宋体" panose="02010600030101010101" pitchFamily="2" charset="-122"/>
            </a:endParaRPr>
          </a:p>
          <a:p>
            <a:pPr algn="just">
              <a:lnSpc>
                <a:spcPct val="150000"/>
              </a:lnSpc>
              <a:spcAft>
                <a:spcPts val="0"/>
              </a:spcAft>
            </a:pPr>
            <a:r>
              <a:rPr lang="zh-CN" altLang="en-US" dirty="0">
                <a:latin typeface="+mn-ea"/>
                <a:ea typeface="+mn-ea"/>
                <a:cs typeface="宋体" panose="02010600030101010101" pitchFamily="2" charset="-122"/>
              </a:rPr>
              <a:t>通常可将</a:t>
            </a:r>
            <a:r>
              <a:rPr lang="zh-CN" altLang="zh-CN" dirty="0">
                <a:latin typeface="+mn-ea"/>
                <a:ea typeface="+mn-ea"/>
                <a:cs typeface="宋体" panose="02010600030101010101" pitchFamily="2" charset="-122"/>
              </a:rPr>
              <a:t>电感</a:t>
            </a:r>
            <a:r>
              <a:rPr lang="zh-CN" altLang="en-US" dirty="0">
                <a:latin typeface="+mn-ea"/>
                <a:ea typeface="+mn-ea"/>
                <a:cs typeface="宋体" panose="02010600030101010101" pitchFamily="2" charset="-122"/>
              </a:rPr>
              <a:t>分为带磁芯与不带磁芯两大类</a:t>
            </a:r>
            <a:endParaRPr lang="en-US" altLang="zh-CN" dirty="0">
              <a:latin typeface="+mn-ea"/>
              <a:ea typeface="+mn-ea"/>
              <a:cs typeface="宋体" panose="02010600030101010101" pitchFamily="2" charset="-122"/>
            </a:endParaRPr>
          </a:p>
          <a:p>
            <a:pPr marL="342900" indent="-342900" algn="just">
              <a:lnSpc>
                <a:spcPct val="150000"/>
              </a:lnSpc>
              <a:spcAft>
                <a:spcPts val="0"/>
              </a:spcAft>
              <a:buFont typeface="Arial" panose="020B0604020202020204" pitchFamily="34" charset="0"/>
              <a:buChar char="•"/>
            </a:pPr>
            <a:r>
              <a:rPr lang="zh-CN" altLang="en-US" dirty="0">
                <a:latin typeface="+mn-ea"/>
                <a:ea typeface="+mn-ea"/>
                <a:cs typeface="宋体" panose="02010600030101010101" pitchFamily="2" charset="-122"/>
              </a:rPr>
              <a:t>不带磁芯的电感（空气电感）通常电感量较小，工作频率范围很大，</a:t>
            </a:r>
            <a:r>
              <a:rPr lang="en-US" altLang="zh-CN" dirty="0">
                <a:latin typeface="+mn-ea"/>
                <a:ea typeface="+mn-ea"/>
                <a:cs typeface="宋体" panose="02010600030101010101" pitchFamily="2" charset="-122"/>
              </a:rPr>
              <a:t>Q</a:t>
            </a:r>
            <a:r>
              <a:rPr lang="zh-CN" altLang="zh-CN" dirty="0">
                <a:latin typeface="+mn-ea"/>
                <a:ea typeface="+mn-ea"/>
                <a:cs typeface="宋体" panose="02010600030101010101" pitchFamily="2" charset="-122"/>
              </a:rPr>
              <a:t>值</a:t>
            </a:r>
            <a:r>
              <a:rPr lang="zh-CN" altLang="en-US" dirty="0">
                <a:latin typeface="+mn-ea"/>
                <a:ea typeface="+mn-ea"/>
                <a:cs typeface="宋体" panose="02010600030101010101" pitchFamily="2" charset="-122"/>
              </a:rPr>
              <a:t>稳定</a:t>
            </a:r>
            <a:endParaRPr lang="en-US" altLang="zh-CN" dirty="0">
              <a:latin typeface="+mn-ea"/>
              <a:ea typeface="+mn-ea"/>
              <a:cs typeface="宋体" panose="02010600030101010101" pitchFamily="2" charset="-122"/>
            </a:endParaRPr>
          </a:p>
          <a:p>
            <a:pPr marL="342900" indent="-342900" algn="just">
              <a:lnSpc>
                <a:spcPct val="150000"/>
              </a:lnSpc>
              <a:spcAft>
                <a:spcPts val="0"/>
              </a:spcAft>
              <a:buFont typeface="Arial" panose="020B0604020202020204" pitchFamily="34" charset="0"/>
              <a:buChar char="•"/>
            </a:pPr>
            <a:r>
              <a:rPr lang="zh-CN" altLang="en-US" dirty="0">
                <a:latin typeface="+mn-ea"/>
                <a:ea typeface="+mn-ea"/>
                <a:cs typeface="宋体" panose="02010600030101010101" pitchFamily="2" charset="-122"/>
              </a:rPr>
              <a:t>带磁芯的电感可以将电感量做得很大</a:t>
            </a:r>
            <a:r>
              <a:rPr lang="zh-CN" altLang="zh-CN" dirty="0">
                <a:latin typeface="+mn-ea"/>
                <a:ea typeface="+mn-ea"/>
                <a:cs typeface="宋体" panose="02010600030101010101" pitchFamily="2" charset="-122"/>
              </a:rPr>
              <a:t>，</a:t>
            </a:r>
            <a:r>
              <a:rPr lang="zh-CN" altLang="en-US" dirty="0">
                <a:latin typeface="+mn-ea"/>
                <a:ea typeface="+mn-ea"/>
                <a:cs typeface="宋体" panose="02010600030101010101" pitchFamily="2" charset="-122"/>
              </a:rPr>
              <a:t>但是由于磁芯的非线性</a:t>
            </a:r>
            <a:r>
              <a:rPr lang="zh-CN" altLang="zh-CN" dirty="0">
                <a:latin typeface="+mn-ea"/>
                <a:ea typeface="+mn-ea"/>
                <a:cs typeface="宋体" panose="02010600030101010101" pitchFamily="2" charset="-122"/>
              </a:rPr>
              <a:t>，</a:t>
            </a:r>
            <a:r>
              <a:rPr lang="zh-CN" altLang="en-US" dirty="0">
                <a:latin typeface="+mn-ea"/>
                <a:ea typeface="+mn-ea"/>
                <a:cs typeface="宋体" panose="02010600030101010101" pitchFamily="2" charset="-122"/>
              </a:rPr>
              <a:t>存在很多非线性因素：</a:t>
            </a:r>
            <a:endParaRPr lang="en-US" altLang="zh-CN" dirty="0">
              <a:latin typeface="+mn-ea"/>
              <a:ea typeface="+mn-ea"/>
              <a:cs typeface="宋体" panose="02010600030101010101" pitchFamily="2" charset="-122"/>
            </a:endParaRPr>
          </a:p>
          <a:p>
            <a:pPr marL="914400" lvl="1" indent="-457200" algn="just">
              <a:lnSpc>
                <a:spcPct val="150000"/>
              </a:lnSpc>
              <a:spcAft>
                <a:spcPts val="0"/>
              </a:spcAft>
              <a:buFont typeface="Arial" panose="020B0604020202020204" pitchFamily="34" charset="0"/>
              <a:buChar char="•"/>
            </a:pPr>
            <a:r>
              <a:rPr lang="zh-CN" altLang="en-US" dirty="0">
                <a:latin typeface="+mn-ea"/>
                <a:ea typeface="+mn-ea"/>
                <a:cs typeface="宋体" panose="02010600030101010101" pitchFamily="2" charset="-122"/>
              </a:rPr>
              <a:t>工作频率上限受磁芯材料限制</a:t>
            </a:r>
            <a:endParaRPr lang="en-US" altLang="zh-CN" dirty="0">
              <a:latin typeface="+mn-ea"/>
              <a:ea typeface="+mn-ea"/>
              <a:cs typeface="宋体" panose="02010600030101010101" pitchFamily="2" charset="-122"/>
            </a:endParaRPr>
          </a:p>
          <a:p>
            <a:pPr marL="914400" lvl="1" indent="-457200" algn="just">
              <a:lnSpc>
                <a:spcPct val="150000"/>
              </a:lnSpc>
              <a:spcAft>
                <a:spcPts val="0"/>
              </a:spcAft>
              <a:buFont typeface="Arial" panose="020B0604020202020204" pitchFamily="34" charset="0"/>
              <a:buChar char="•"/>
            </a:pPr>
            <a:r>
              <a:rPr lang="zh-CN" altLang="en-US" dirty="0">
                <a:latin typeface="+mn-ea"/>
                <a:ea typeface="+mn-ea"/>
                <a:cs typeface="宋体" panose="02010600030101010101" pitchFamily="2" charset="-122"/>
              </a:rPr>
              <a:t>电感量有非线性，存在磁饱和现象</a:t>
            </a:r>
            <a:endParaRPr lang="en-US" altLang="zh-CN" dirty="0">
              <a:latin typeface="+mn-ea"/>
              <a:ea typeface="+mn-ea"/>
              <a:cs typeface="宋体" panose="02010600030101010101" pitchFamily="2" charset="-122"/>
            </a:endParaRPr>
          </a:p>
          <a:p>
            <a:pPr marL="914400" lvl="1" indent="-457200" algn="just">
              <a:lnSpc>
                <a:spcPct val="150000"/>
              </a:lnSpc>
              <a:spcAft>
                <a:spcPts val="0"/>
              </a:spcAft>
              <a:buFont typeface="Arial" panose="020B0604020202020204" pitchFamily="34" charset="0"/>
              <a:buChar char="•"/>
            </a:pPr>
            <a:r>
              <a:rPr lang="zh-CN" altLang="en-US" dirty="0">
                <a:latin typeface="+mn-ea"/>
                <a:ea typeface="+mn-ea"/>
                <a:cs typeface="宋体" panose="02010600030101010101" pitchFamily="2" charset="-122"/>
              </a:rPr>
              <a:t>随工作条件的变化，</a:t>
            </a:r>
            <a:r>
              <a:rPr lang="en-US" altLang="zh-CN" dirty="0">
                <a:latin typeface="+mn-ea"/>
                <a:ea typeface="+mn-ea"/>
                <a:cs typeface="宋体" panose="02010600030101010101" pitchFamily="2" charset="-122"/>
              </a:rPr>
              <a:t>Q</a:t>
            </a:r>
            <a:r>
              <a:rPr lang="zh-CN" altLang="en-US" dirty="0">
                <a:latin typeface="+mn-ea"/>
                <a:ea typeface="+mn-ea"/>
                <a:cs typeface="宋体" panose="02010600030101010101" pitchFamily="2" charset="-122"/>
              </a:rPr>
              <a:t>值可能有较大变化</a:t>
            </a:r>
            <a:endParaRPr lang="zh-CN" altLang="zh-CN" dirty="0">
              <a:latin typeface="+mn-ea"/>
              <a:ea typeface="+mn-ea"/>
              <a:cs typeface="宋体" panose="02010600030101010101" pitchFamily="2" charset="-122"/>
            </a:endParaRPr>
          </a:p>
        </p:txBody>
      </p:sp>
    </p:spTree>
    <p:extLst>
      <p:ext uri="{BB962C8B-B14F-4D97-AF65-F5344CB8AC3E}">
        <p14:creationId xmlns:p14="http://schemas.microsoft.com/office/powerpoint/2010/main" val="155334637"/>
      </p:ext>
    </p:extLst>
  </p:cSld>
  <p:clrMapOvr>
    <a:masterClrMapping/>
  </p:clrMapOvr>
</p:sld>
</file>

<file path=ppt/theme/theme1.xml><?xml version="1.0" encoding="utf-8"?>
<a:theme xmlns:a="http://schemas.openxmlformats.org/drawingml/2006/main" name="1_Network">
  <a:themeElements>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Network">
      <a:majorFont>
        <a:latin typeface="Arial"/>
        <a:ea typeface="黑体"/>
        <a:cs typeface=""/>
      </a:majorFont>
      <a:minorFont>
        <a:latin typeface="Times New Roman"/>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16382</TotalTime>
  <Words>6626</Words>
  <Application>Microsoft Office PowerPoint</Application>
  <PresentationFormat>宽屏</PresentationFormat>
  <Paragraphs>1427</Paragraphs>
  <Slides>53</Slides>
  <Notes>2</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53</vt:i4>
      </vt:variant>
    </vt:vector>
  </HeadingPairs>
  <TitlesOfParts>
    <vt:vector size="69" baseType="lpstr">
      <vt:lpstr>Arial Unicode MS</vt:lpstr>
      <vt:lpstr>Symbol Tiger</vt:lpstr>
      <vt:lpstr>黑体</vt:lpstr>
      <vt:lpstr>华文细黑</vt:lpstr>
      <vt:lpstr>楷体</vt:lpstr>
      <vt:lpstr>楷体_GB2312</vt:lpstr>
      <vt:lpstr>隶书</vt:lpstr>
      <vt:lpstr>宋体</vt:lpstr>
      <vt:lpstr>微软雅黑</vt:lpstr>
      <vt:lpstr>Arial</vt:lpstr>
      <vt:lpstr>Symbol</vt:lpstr>
      <vt:lpstr>Tahoma</vt:lpstr>
      <vt:lpstr>Times New Roman</vt:lpstr>
      <vt:lpstr>Wingdings</vt:lpstr>
      <vt:lpstr>1_Network</vt:lpstr>
      <vt:lpstr>Visio</vt:lpstr>
      <vt:lpstr>电子竞赛题目介绍 与 电路设计制作注意事项  复旦大学电子工程系  陈光梦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陈光梦</dc:creator>
  <cp:lastModifiedBy>gmchen</cp:lastModifiedBy>
  <cp:revision>350</cp:revision>
  <dcterms:created xsi:type="dcterms:W3CDTF">1601-01-01T00:00:00Z</dcterms:created>
  <dcterms:modified xsi:type="dcterms:W3CDTF">2024-03-08T01:19:58Z</dcterms:modified>
</cp:coreProperties>
</file>