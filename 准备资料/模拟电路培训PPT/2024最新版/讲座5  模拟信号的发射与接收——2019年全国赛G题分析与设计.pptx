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3" r:id="rId1"/>
  </p:sldMasterIdLst>
  <p:notesMasterIdLst>
    <p:notesMasterId r:id="rId81"/>
  </p:notesMasterIdLst>
  <p:handoutMasterIdLst>
    <p:handoutMasterId r:id="rId82"/>
  </p:handoutMasterIdLst>
  <p:sldIdLst>
    <p:sldId id="398" r:id="rId2"/>
    <p:sldId id="677" r:id="rId3"/>
    <p:sldId id="678" r:id="rId4"/>
    <p:sldId id="679" r:id="rId5"/>
    <p:sldId id="680" r:id="rId6"/>
    <p:sldId id="681" r:id="rId7"/>
    <p:sldId id="682" r:id="rId8"/>
    <p:sldId id="716" r:id="rId9"/>
    <p:sldId id="683" r:id="rId10"/>
    <p:sldId id="709" r:id="rId11"/>
    <p:sldId id="714" r:id="rId12"/>
    <p:sldId id="686" r:id="rId13"/>
    <p:sldId id="792" r:id="rId14"/>
    <p:sldId id="793" r:id="rId15"/>
    <p:sldId id="754" r:id="rId16"/>
    <p:sldId id="685" r:id="rId17"/>
    <p:sldId id="784" r:id="rId18"/>
    <p:sldId id="687" r:id="rId19"/>
    <p:sldId id="688" r:id="rId20"/>
    <p:sldId id="691" r:id="rId21"/>
    <p:sldId id="693" r:id="rId22"/>
    <p:sldId id="759" r:id="rId23"/>
    <p:sldId id="764" r:id="rId24"/>
    <p:sldId id="760" r:id="rId25"/>
    <p:sldId id="761" r:id="rId26"/>
    <p:sldId id="762" r:id="rId27"/>
    <p:sldId id="763" r:id="rId28"/>
    <p:sldId id="776" r:id="rId29"/>
    <p:sldId id="777" r:id="rId30"/>
    <p:sldId id="778" r:id="rId31"/>
    <p:sldId id="780" r:id="rId32"/>
    <p:sldId id="782" r:id="rId33"/>
    <p:sldId id="779" r:id="rId34"/>
    <p:sldId id="783" r:id="rId35"/>
    <p:sldId id="794" r:id="rId36"/>
    <p:sldId id="799" r:id="rId37"/>
    <p:sldId id="801" r:id="rId38"/>
    <p:sldId id="795" r:id="rId39"/>
    <p:sldId id="798" r:id="rId40"/>
    <p:sldId id="694" r:id="rId41"/>
    <p:sldId id="695" r:id="rId42"/>
    <p:sldId id="702" r:id="rId43"/>
    <p:sldId id="719" r:id="rId44"/>
    <p:sldId id="720" r:id="rId45"/>
    <p:sldId id="721" r:id="rId46"/>
    <p:sldId id="737" r:id="rId47"/>
    <p:sldId id="718" r:id="rId48"/>
    <p:sldId id="768" r:id="rId49"/>
    <p:sldId id="769" r:id="rId50"/>
    <p:sldId id="770" r:id="rId51"/>
    <p:sldId id="767" r:id="rId52"/>
    <p:sldId id="704" r:id="rId53"/>
    <p:sldId id="705" r:id="rId54"/>
    <p:sldId id="755" r:id="rId55"/>
    <p:sldId id="788" r:id="rId56"/>
    <p:sldId id="756" r:id="rId57"/>
    <p:sldId id="757" r:id="rId58"/>
    <p:sldId id="708" r:id="rId59"/>
    <p:sldId id="739" r:id="rId60"/>
    <p:sldId id="730" r:id="rId61"/>
    <p:sldId id="790" r:id="rId62"/>
    <p:sldId id="738" r:id="rId63"/>
    <p:sldId id="753" r:id="rId64"/>
    <p:sldId id="732" r:id="rId65"/>
    <p:sldId id="744" r:id="rId66"/>
    <p:sldId id="791" r:id="rId67"/>
    <p:sldId id="740" r:id="rId68"/>
    <p:sldId id="752" r:id="rId69"/>
    <p:sldId id="789" r:id="rId70"/>
    <p:sldId id="745" r:id="rId71"/>
    <p:sldId id="746" r:id="rId72"/>
    <p:sldId id="747" r:id="rId73"/>
    <p:sldId id="751" r:id="rId74"/>
    <p:sldId id="786" r:id="rId75"/>
    <p:sldId id="787" r:id="rId76"/>
    <p:sldId id="766" r:id="rId77"/>
    <p:sldId id="733" r:id="rId78"/>
    <p:sldId id="802" r:id="rId79"/>
    <p:sldId id="806" r:id="rId80"/>
  </p:sldIdLst>
  <p:sldSz cx="12192000" cy="6858000"/>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EDFFFF"/>
    <a:srgbClr val="CCECFF"/>
    <a:srgbClr val="99FF99"/>
    <a:srgbClr val="FFFF66"/>
    <a:srgbClr val="66FFFF"/>
    <a:srgbClr val="FFCC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7" autoAdjust="0"/>
    <p:restoredTop sz="96078" autoAdjust="0"/>
  </p:normalViewPr>
  <p:slideViewPr>
    <p:cSldViewPr snapToGrid="0">
      <p:cViewPr varScale="1">
        <p:scale>
          <a:sx n="87" d="100"/>
          <a:sy n="87" d="100"/>
        </p:scale>
        <p:origin x="64" y="27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emf"/><Relationship Id="rId4" Type="http://schemas.openxmlformats.org/officeDocument/2006/relationships/image" Target="../media/image2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emf"/><Relationship Id="rId4" Type="http://schemas.openxmlformats.org/officeDocument/2006/relationships/image" Target="../media/image51.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 Id="rId4" Type="http://schemas.openxmlformats.org/officeDocument/2006/relationships/image" Target="../media/image60.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82.wmf"/><Relationship Id="rId1" Type="http://schemas.openxmlformats.org/officeDocument/2006/relationships/image" Target="../media/image8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86.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8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77788" y="739775"/>
            <a:ext cx="658018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8" y="739775"/>
            <a:ext cx="6580187" cy="37020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25</a:t>
            </a:fld>
            <a:endParaRPr lang="en-US" altLang="zh-CN"/>
          </a:p>
        </p:txBody>
      </p:sp>
    </p:spTree>
    <p:extLst>
      <p:ext uri="{BB962C8B-B14F-4D97-AF65-F5344CB8AC3E}">
        <p14:creationId xmlns:p14="http://schemas.microsoft.com/office/powerpoint/2010/main" val="780375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已调波的调制度大约等于</a:t>
            </a:r>
            <a:r>
              <a:rPr lang="en-US" altLang="zh-CN" dirty="0" smtClean="0"/>
              <a:t>1</a:t>
            </a:r>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36</a:t>
            </a:fld>
            <a:endParaRPr lang="en-US" altLang="zh-CN"/>
          </a:p>
        </p:txBody>
      </p:sp>
    </p:spTree>
    <p:extLst>
      <p:ext uri="{BB962C8B-B14F-4D97-AF65-F5344CB8AC3E}">
        <p14:creationId xmlns:p14="http://schemas.microsoft.com/office/powerpoint/2010/main" val="20533607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1" y="5154613"/>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334433" y="1700214"/>
            <a:ext cx="7298267"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4234" y="0"/>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3601" y="228600"/>
            <a:ext cx="1682751"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2024/4/25</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2024/4/25</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68413"/>
            <a:ext cx="5522384"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335185" y="1268413"/>
            <a:ext cx="5522383"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2024/4/25</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2024/4/25</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2024/4/25</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2024/4/25</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2024/4/25</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2024/4/25</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6634" y="549275"/>
            <a:ext cx="2810933"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1" y="549275"/>
            <a:ext cx="8233833"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2024/4/25</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6"/>
            <a:ext cx="12192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609600" y="549275"/>
            <a:ext cx="1124796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609600" y="1268413"/>
            <a:ext cx="11247967"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624417" y="6524626"/>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2024/4/25</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4176185" y="6524626"/>
            <a:ext cx="470323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9647768" y="6524626"/>
            <a:ext cx="2173817"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1219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379201" y="0"/>
            <a:ext cx="495300"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863600" y="107950"/>
            <a:ext cx="480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7.wmf"/><Relationship Id="rId5" Type="http://schemas.openxmlformats.org/officeDocument/2006/relationships/oleObject" Target="../embeddings/oleObject2.bin"/><Relationship Id="rId4" Type="http://schemas.openxmlformats.org/officeDocument/2006/relationships/image" Target="../media/image6.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5.wmf"/><Relationship Id="rId5" Type="http://schemas.openxmlformats.org/officeDocument/2006/relationships/oleObject" Target="../embeddings/oleObject4.bin"/><Relationship Id="rId4" Type="http://schemas.openxmlformats.org/officeDocument/2006/relationships/image" Target="../media/image14.wmf"/></Relationships>
</file>

<file path=ppt/slides/_rels/slide2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23.emf"/><Relationship Id="rId4" Type="http://schemas.openxmlformats.org/officeDocument/2006/relationships/image" Target="../media/image22.wmf"/></Relationships>
</file>

<file path=ppt/slides/_rels/slide2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25.emf"/></Relationships>
</file>

<file path=ppt/slides/_rels/slide29.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27.wmf"/><Relationship Id="rId5" Type="http://schemas.openxmlformats.org/officeDocument/2006/relationships/oleObject" Target="../embeddings/oleObject9.bin"/><Relationship Id="rId10" Type="http://schemas.openxmlformats.org/officeDocument/2006/relationships/image" Target="../media/image29.wmf"/><Relationship Id="rId4" Type="http://schemas.openxmlformats.org/officeDocument/2006/relationships/image" Target="../media/image26.emf"/><Relationship Id="rId9" Type="http://schemas.openxmlformats.org/officeDocument/2006/relationships/oleObject" Target="../embeddings/oleObject11.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32.wmf"/><Relationship Id="rId5" Type="http://schemas.openxmlformats.org/officeDocument/2006/relationships/oleObject" Target="../embeddings/oleObject13.bin"/><Relationship Id="rId4" Type="http://schemas.openxmlformats.org/officeDocument/2006/relationships/image" Target="../media/image31.wmf"/></Relationships>
</file>

<file path=ppt/slides/_rels/slide35.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6.jpeg"/></Relationships>
</file>

<file path=ppt/slides/_rels/slide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41.emf"/></Relationships>
</file>

<file path=ppt/slides/_rels/slide41.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47.wmf"/><Relationship Id="rId5" Type="http://schemas.openxmlformats.org/officeDocument/2006/relationships/oleObject" Target="../embeddings/oleObject17.bin"/><Relationship Id="rId4" Type="http://schemas.openxmlformats.org/officeDocument/2006/relationships/image" Target="../media/image46.wmf"/></Relationships>
</file>

<file path=ppt/slides/_rels/slide45.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49.wmf"/><Relationship Id="rId5" Type="http://schemas.openxmlformats.org/officeDocument/2006/relationships/oleObject" Target="../embeddings/oleObject19.bin"/><Relationship Id="rId10" Type="http://schemas.openxmlformats.org/officeDocument/2006/relationships/image" Target="../media/image51.wmf"/><Relationship Id="rId4" Type="http://schemas.openxmlformats.org/officeDocument/2006/relationships/image" Target="../media/image48.emf"/><Relationship Id="rId9" Type="http://schemas.openxmlformats.org/officeDocument/2006/relationships/oleObject" Target="../embeddings/oleObject21.bin"/></Relationships>
</file>

<file path=ppt/slides/_rels/slide46.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image" Target="../media/image55.png"/><Relationship Id="rId7"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53.wmf"/><Relationship Id="rId5" Type="http://schemas.openxmlformats.org/officeDocument/2006/relationships/oleObject" Target="../embeddings/oleObject22.bin"/><Relationship Id="rId4" Type="http://schemas.openxmlformats.org/officeDocument/2006/relationships/image" Target="../media/image56.emf"/></Relationships>
</file>

<file path=ppt/slides/_rels/slide49.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58.wmf"/><Relationship Id="rId11" Type="http://schemas.openxmlformats.org/officeDocument/2006/relationships/image" Target="../media/image61.emf"/><Relationship Id="rId5" Type="http://schemas.openxmlformats.org/officeDocument/2006/relationships/oleObject" Target="../embeddings/oleObject25.bin"/><Relationship Id="rId10" Type="http://schemas.openxmlformats.org/officeDocument/2006/relationships/image" Target="../media/image60.wmf"/><Relationship Id="rId4" Type="http://schemas.openxmlformats.org/officeDocument/2006/relationships/image" Target="../media/image57.wmf"/><Relationship Id="rId9" Type="http://schemas.openxmlformats.org/officeDocument/2006/relationships/oleObject" Target="../embeddings/oleObject27.bin"/></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71.e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72.emf"/><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image" Target="../media/image75.wmf"/><Relationship Id="rId4" Type="http://schemas.openxmlformats.org/officeDocument/2006/relationships/oleObject" Target="../embeddings/oleObject28.bin"/></Relationships>
</file>

<file path=ppt/slides/_rels/slide67.xml.rels><?xml version="1.0" encoding="UTF-8" standalone="yes"?>
<Relationships xmlns="http://schemas.openxmlformats.org/package/2006/relationships"><Relationship Id="rId2" Type="http://schemas.openxmlformats.org/officeDocument/2006/relationships/image" Target="../media/image77.emf"/><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image" Target="../media/image78.emf"/><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80.emf"/><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83.emf"/><Relationship Id="rId7" Type="http://schemas.openxmlformats.org/officeDocument/2006/relationships/image" Target="../media/image82.w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30.bin"/><Relationship Id="rId5" Type="http://schemas.openxmlformats.org/officeDocument/2006/relationships/image" Target="../media/image81.wmf"/><Relationship Id="rId4" Type="http://schemas.openxmlformats.org/officeDocument/2006/relationships/oleObject" Target="../embeddings/oleObject29.bin"/></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84.w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85.emf"/><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15.vml"/><Relationship Id="rId4" Type="http://schemas.openxmlformats.org/officeDocument/2006/relationships/image" Target="../media/image86.em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6.vml"/><Relationship Id="rId4" Type="http://schemas.openxmlformats.org/officeDocument/2006/relationships/image" Target="../media/image8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93863" y="3899001"/>
            <a:ext cx="8596312" cy="1067703"/>
          </a:xfrm>
        </p:spPr>
        <p:txBody>
          <a:bodyPr/>
          <a:lstStyle/>
          <a:p>
            <a:pPr>
              <a:spcBef>
                <a:spcPts val="0"/>
              </a:spcBef>
            </a:pPr>
            <a:r>
              <a:rPr lang="zh-CN" altLang="en-US" sz="2400" dirty="0" smtClean="0">
                <a:solidFill>
                  <a:schemeClr val="tx1"/>
                </a:solidFill>
                <a:latin typeface="楷体" panose="02010609060101010101" pitchFamily="49" charset="-122"/>
                <a:ea typeface="楷体" panose="02010609060101010101" pitchFamily="49" charset="-122"/>
              </a:rPr>
              <a:t>复旦大学</a:t>
            </a:r>
            <a:r>
              <a:rPr lang="zh-CN" altLang="en-US" sz="2400" dirty="0">
                <a:solidFill>
                  <a:schemeClr val="tx1"/>
                </a:solidFill>
                <a:latin typeface="楷体" panose="02010609060101010101" pitchFamily="49" charset="-122"/>
                <a:ea typeface="楷体" panose="02010609060101010101" pitchFamily="49" charset="-122"/>
              </a:rPr>
              <a:t>电子工程系  陈光梦</a:t>
            </a:r>
          </a:p>
        </p:txBody>
      </p:sp>
      <p:sp>
        <p:nvSpPr>
          <p:cNvPr id="3" name="Rectangle 2"/>
          <p:cNvSpPr txBox="1">
            <a:spLocks noChangeArrowheads="1"/>
          </p:cNvSpPr>
          <p:nvPr/>
        </p:nvSpPr>
        <p:spPr bwMode="auto">
          <a:xfrm>
            <a:off x="1628026" y="1683424"/>
            <a:ext cx="8596312" cy="2046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ctr">
              <a:spcBef>
                <a:spcPct val="0"/>
              </a:spcBef>
              <a:spcAft>
                <a:spcPct val="0"/>
              </a:spcAft>
              <a:defRPr sz="6000">
                <a:solidFill>
                  <a:srgbClr val="FFFF66"/>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a:lstStyle>
          <a:p>
            <a:pPr>
              <a:lnSpc>
                <a:spcPct val="150000"/>
              </a:lnSpc>
              <a:spcBef>
                <a:spcPts val="1200"/>
              </a:spcBef>
            </a:pPr>
            <a:r>
              <a:rPr lang="zh-CN" altLang="en-US" sz="4400" kern="0" dirty="0" smtClean="0">
                <a:solidFill>
                  <a:srgbClr val="FF0000"/>
                </a:solidFill>
                <a:latin typeface="隶书" panose="02010509060101010101" pitchFamily="49" charset="-122"/>
                <a:ea typeface="隶书" panose="02010509060101010101" pitchFamily="49" charset="-122"/>
              </a:rPr>
              <a:t>模拟信号的发射与接收</a:t>
            </a:r>
            <a:r>
              <a:rPr lang="en-US" altLang="zh-CN" sz="4400" kern="0" dirty="0" smtClean="0">
                <a:solidFill>
                  <a:srgbClr val="FF0000"/>
                </a:solidFill>
                <a:latin typeface="隶书" panose="02010509060101010101" pitchFamily="49" charset="-122"/>
                <a:ea typeface="隶书" panose="02010509060101010101" pitchFamily="49" charset="-122"/>
              </a:rPr>
              <a:t/>
            </a:r>
            <a:br>
              <a:rPr lang="en-US" altLang="zh-CN" sz="4400" kern="0" dirty="0" smtClean="0">
                <a:solidFill>
                  <a:srgbClr val="FF0000"/>
                </a:solidFill>
                <a:latin typeface="隶书" panose="02010509060101010101" pitchFamily="49" charset="-122"/>
                <a:ea typeface="隶书" panose="02010509060101010101" pitchFamily="49" charset="-122"/>
              </a:rPr>
            </a:br>
            <a:r>
              <a:rPr lang="en-US" altLang="zh-CN" sz="3600" kern="0" dirty="0" smtClean="0">
                <a:solidFill>
                  <a:srgbClr val="FF0000"/>
                </a:solidFill>
                <a:latin typeface="+mj-ea"/>
              </a:rPr>
              <a:t>——</a:t>
            </a:r>
            <a:r>
              <a:rPr lang="en-US" altLang="zh-CN" sz="4400" kern="0" dirty="0" smtClean="0">
                <a:solidFill>
                  <a:srgbClr val="FF0000"/>
                </a:solidFill>
                <a:latin typeface="+mj-ea"/>
              </a:rPr>
              <a:t> </a:t>
            </a:r>
            <a:r>
              <a:rPr lang="en-US" altLang="zh-CN" sz="3600" kern="0" dirty="0" smtClean="0">
                <a:solidFill>
                  <a:srgbClr val="FF0000"/>
                </a:solidFill>
                <a:ea typeface="隶书" panose="02010509060101010101" pitchFamily="49" charset="-122"/>
              </a:rPr>
              <a:t>2019</a:t>
            </a:r>
            <a:r>
              <a:rPr lang="zh-CN" altLang="en-US" sz="4400" kern="0" dirty="0" smtClean="0">
                <a:solidFill>
                  <a:srgbClr val="FF0000"/>
                </a:solidFill>
                <a:latin typeface="隶书" panose="02010509060101010101" pitchFamily="49" charset="-122"/>
                <a:ea typeface="隶书" panose="02010509060101010101" pitchFamily="49" charset="-122"/>
              </a:rPr>
              <a:t>年全国赛</a:t>
            </a:r>
            <a:r>
              <a:rPr lang="en-US" altLang="zh-CN" sz="3200" kern="0" dirty="0" smtClean="0">
                <a:solidFill>
                  <a:srgbClr val="FF0000"/>
                </a:solidFill>
                <a:ea typeface="隶书" panose="02010509060101010101" pitchFamily="49" charset="-122"/>
              </a:rPr>
              <a:t>G</a:t>
            </a:r>
            <a:r>
              <a:rPr lang="zh-CN" altLang="en-US" sz="4400" kern="0" dirty="0" smtClean="0">
                <a:solidFill>
                  <a:srgbClr val="FF0000"/>
                </a:solidFill>
                <a:latin typeface="隶书" panose="02010509060101010101" pitchFamily="49" charset="-122"/>
                <a:ea typeface="隶书" panose="02010509060101010101" pitchFamily="49" charset="-122"/>
              </a:rPr>
              <a:t>题分析与设计</a:t>
            </a:r>
            <a:endParaRPr lang="zh-CN" altLang="en-US" sz="2400" kern="0" dirty="0">
              <a:solidFill>
                <a:schemeClr val="tx1"/>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2" name="文本框 1"/>
          <p:cNvSpPr txBox="1"/>
          <p:nvPr/>
        </p:nvSpPr>
        <p:spPr>
          <a:xfrm>
            <a:off x="416967" y="474651"/>
            <a:ext cx="11404618" cy="1877437"/>
          </a:xfrm>
          <a:prstGeom prst="rect">
            <a:avLst/>
          </a:prstGeom>
          <a:noFill/>
        </p:spPr>
        <p:txBody>
          <a:bodyPr wrap="square" rtlCol="0">
            <a:spAutoFit/>
          </a:bodyPr>
          <a:lstStyle/>
          <a:p>
            <a:pPr algn="ctr">
              <a:lnSpc>
                <a:spcPct val="135000"/>
              </a:lnSpc>
            </a:pPr>
            <a:r>
              <a:rPr lang="zh-CN" altLang="en-US" sz="3200" dirty="0">
                <a:solidFill>
                  <a:srgbClr val="FF0000"/>
                </a:solidFill>
                <a:latin typeface="隶书" panose="02010509060101010101" pitchFamily="49" charset="-122"/>
                <a:ea typeface="隶书" panose="02010509060101010101" pitchFamily="49" charset="-122"/>
              </a:rPr>
              <a:t>题目</a:t>
            </a:r>
            <a:endParaRPr lang="en-US" altLang="zh-CN" sz="3200" dirty="0">
              <a:solidFill>
                <a:srgbClr val="FF0000"/>
              </a:solidFill>
              <a:latin typeface="隶书" panose="02010509060101010101" pitchFamily="49" charset="-122"/>
              <a:ea typeface="隶书" panose="02010509060101010101" pitchFamily="49" charset="-122"/>
            </a:endParaRPr>
          </a:p>
          <a:p>
            <a:pPr>
              <a:lnSpc>
                <a:spcPct val="130000"/>
              </a:lnSpc>
            </a:pPr>
            <a:r>
              <a:rPr lang="zh-CN" altLang="zh-CN" dirty="0"/>
              <a:t>一、任务 </a:t>
            </a:r>
          </a:p>
          <a:p>
            <a:pPr indent="457200">
              <a:lnSpc>
                <a:spcPct val="130000"/>
              </a:lnSpc>
            </a:pPr>
            <a:r>
              <a:rPr lang="zh-CN" altLang="zh-CN" sz="1800" dirty="0"/>
              <a:t>设计制作一个双路语音同传的无线收发系统，实现在一个信道上同时传输两路话音信号。系统的示意图如图所示</a:t>
            </a:r>
            <a:endParaRPr lang="zh-CN" altLang="en-US" sz="1600" dirty="0"/>
          </a:p>
        </p:txBody>
      </p:sp>
      <p:pic>
        <p:nvPicPr>
          <p:cNvPr id="6" name="图片 5"/>
          <p:cNvPicPr/>
          <p:nvPr/>
        </p:nvPicPr>
        <p:blipFill>
          <a:blip r:embed="rId2"/>
          <a:stretch>
            <a:fillRect/>
          </a:stretch>
        </p:blipFill>
        <p:spPr>
          <a:xfrm>
            <a:off x="2361618" y="2419979"/>
            <a:ext cx="7482724" cy="3380528"/>
          </a:xfrm>
          <a:prstGeom prst="rect">
            <a:avLst/>
          </a:prstGeom>
        </p:spPr>
      </p:pic>
    </p:spTree>
    <p:extLst>
      <p:ext uri="{BB962C8B-B14F-4D97-AF65-F5344CB8AC3E}">
        <p14:creationId xmlns:p14="http://schemas.microsoft.com/office/powerpoint/2010/main" val="33862117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a:t>
            </a:fld>
            <a:endParaRPr lang="en-US" altLang="zh-CN"/>
          </a:p>
        </p:txBody>
      </p:sp>
      <p:sp>
        <p:nvSpPr>
          <p:cNvPr id="2" name="文本框 1"/>
          <p:cNvSpPr txBox="1"/>
          <p:nvPr/>
        </p:nvSpPr>
        <p:spPr>
          <a:xfrm>
            <a:off x="468172" y="563382"/>
            <a:ext cx="11272723" cy="3462486"/>
          </a:xfrm>
          <a:prstGeom prst="rect">
            <a:avLst/>
          </a:prstGeom>
          <a:noFill/>
        </p:spPr>
        <p:txBody>
          <a:bodyPr wrap="square" rtlCol="0">
            <a:spAutoFit/>
          </a:bodyPr>
          <a:lstStyle/>
          <a:p>
            <a:pPr>
              <a:lnSpc>
                <a:spcPct val="150000"/>
              </a:lnSpc>
            </a:pPr>
            <a:r>
              <a:rPr lang="zh-CN" altLang="zh-CN" dirty="0"/>
              <a:t>二、要求 </a:t>
            </a:r>
          </a:p>
          <a:p>
            <a:pPr indent="457200">
              <a:lnSpc>
                <a:spcPct val="150000"/>
              </a:lnSpc>
            </a:pPr>
            <a:r>
              <a:rPr lang="en-US" altLang="zh-CN" sz="1800" dirty="0"/>
              <a:t>1. </a:t>
            </a:r>
            <a:r>
              <a:rPr lang="zh-CN" altLang="zh-CN" sz="1800" dirty="0"/>
              <a:t>基本要求</a:t>
            </a:r>
          </a:p>
          <a:p>
            <a:pPr indent="457200">
              <a:lnSpc>
                <a:spcPct val="150000"/>
              </a:lnSpc>
            </a:pPr>
            <a:r>
              <a:rPr lang="zh-CN" altLang="zh-CN" sz="1800" dirty="0"/>
              <a:t>（</a:t>
            </a:r>
            <a:r>
              <a:rPr lang="en-US" altLang="zh-CN" sz="1800" dirty="0"/>
              <a:t>1</a:t>
            </a:r>
            <a:r>
              <a:rPr lang="zh-CN" altLang="zh-CN" sz="1800" dirty="0"/>
              <a:t>）制作一套</a:t>
            </a:r>
            <a:r>
              <a:rPr lang="en-US" altLang="zh-CN" sz="1800" dirty="0"/>
              <a:t>FM</a:t>
            </a:r>
            <a:r>
              <a:rPr lang="zh-CN" altLang="zh-CN" sz="1800" dirty="0"/>
              <a:t>无线收发系统。其中，</a:t>
            </a:r>
            <a:r>
              <a:rPr lang="en-US" altLang="zh-CN" sz="1800" dirty="0"/>
              <a:t>FM</a:t>
            </a:r>
            <a:r>
              <a:rPr lang="zh-CN" altLang="zh-CN" sz="1800" dirty="0"/>
              <a:t>信号的载波频率设定为</a:t>
            </a:r>
            <a:r>
              <a:rPr lang="en-US" altLang="zh-CN" sz="1800" dirty="0"/>
              <a:t>48.5MHz</a:t>
            </a:r>
            <a:r>
              <a:rPr lang="zh-CN" altLang="zh-CN" sz="1800" dirty="0"/>
              <a:t>，相对误差的绝对值不大于</a:t>
            </a:r>
            <a:r>
              <a:rPr lang="en-US" altLang="zh-CN" sz="1800" dirty="0"/>
              <a:t>1</a:t>
            </a:r>
            <a:r>
              <a:rPr lang="zh-CN" altLang="zh-CN" sz="1800" dirty="0"/>
              <a:t>‰；峰值频偏不大于</a:t>
            </a:r>
            <a:r>
              <a:rPr lang="en-US" altLang="zh-CN" sz="1800" dirty="0"/>
              <a:t>25kHz</a:t>
            </a:r>
            <a:r>
              <a:rPr lang="zh-CN" altLang="zh-CN" sz="1800" dirty="0"/>
              <a:t>；天线长度不大于</a:t>
            </a:r>
            <a:r>
              <a:rPr lang="en-US" altLang="zh-CN" sz="1800" dirty="0"/>
              <a:t>0.5m</a:t>
            </a:r>
            <a:r>
              <a:rPr lang="zh-CN" altLang="zh-CN" sz="1800" dirty="0"/>
              <a:t>。</a:t>
            </a:r>
          </a:p>
          <a:p>
            <a:pPr indent="457200">
              <a:lnSpc>
                <a:spcPct val="150000"/>
              </a:lnSpc>
            </a:pPr>
            <a:r>
              <a:rPr lang="zh-CN" altLang="zh-CN" sz="1800" dirty="0"/>
              <a:t>（</a:t>
            </a:r>
            <a:r>
              <a:rPr lang="en-US" altLang="zh-CN" sz="1800" dirty="0"/>
              <a:t>2</a:t>
            </a:r>
            <a:r>
              <a:rPr lang="zh-CN" altLang="zh-CN" sz="1800" dirty="0"/>
              <a:t>）通过</a:t>
            </a:r>
            <a:r>
              <a:rPr lang="en-US" altLang="zh-CN" sz="1800" dirty="0"/>
              <a:t>FM</a:t>
            </a:r>
            <a:r>
              <a:rPr lang="zh-CN" altLang="zh-CN" sz="1800" dirty="0"/>
              <a:t>无线收发系统任意传输一路语音信号</a:t>
            </a:r>
            <a:r>
              <a:rPr lang="en-US" altLang="zh-CN" sz="1800" dirty="0"/>
              <a:t>A</a:t>
            </a:r>
            <a:r>
              <a:rPr lang="zh-CN" altLang="zh-CN" sz="1800" dirty="0"/>
              <a:t>或者</a:t>
            </a:r>
            <a:r>
              <a:rPr lang="en-US" altLang="zh-CN" sz="1800" dirty="0"/>
              <a:t>B</a:t>
            </a:r>
            <a:r>
              <a:rPr lang="zh-CN" altLang="zh-CN" sz="1800" dirty="0"/>
              <a:t>，语音信号的带宽不大于</a:t>
            </a:r>
            <a:r>
              <a:rPr lang="en-US" altLang="zh-CN" sz="1800" dirty="0"/>
              <a:t>3400Hz</a:t>
            </a:r>
            <a:r>
              <a:rPr lang="zh-CN" altLang="zh-CN" sz="1800" dirty="0"/>
              <a:t>。要求无线通信距离不小于</a:t>
            </a:r>
            <a:r>
              <a:rPr lang="en-US" altLang="zh-CN" sz="1800" dirty="0"/>
              <a:t>2m</a:t>
            </a:r>
            <a:r>
              <a:rPr lang="zh-CN" altLang="zh-CN" sz="1800" dirty="0"/>
              <a:t>，解调输出的语音信号波形无明显失真。</a:t>
            </a:r>
          </a:p>
          <a:p>
            <a:pPr indent="457200">
              <a:lnSpc>
                <a:spcPct val="150000"/>
              </a:lnSpc>
            </a:pPr>
            <a:r>
              <a:rPr lang="zh-CN" altLang="zh-CN" sz="1800" dirty="0"/>
              <a:t>（</a:t>
            </a:r>
            <a:r>
              <a:rPr lang="en-US" altLang="zh-CN" sz="1800" dirty="0"/>
              <a:t>3</a:t>
            </a:r>
            <a:r>
              <a:rPr lang="zh-CN" altLang="zh-CN" sz="1800" dirty="0"/>
              <a:t>）通过</a:t>
            </a:r>
            <a:r>
              <a:rPr lang="en-US" altLang="zh-CN" sz="1800" dirty="0"/>
              <a:t>FM</a:t>
            </a:r>
            <a:r>
              <a:rPr lang="zh-CN" altLang="zh-CN" sz="1800" dirty="0"/>
              <a:t>无线收发系统同时传输双路语音信号</a:t>
            </a:r>
            <a:r>
              <a:rPr lang="en-US" altLang="zh-CN" sz="1800" dirty="0"/>
              <a:t>A</a:t>
            </a:r>
            <a:r>
              <a:rPr lang="zh-CN" altLang="zh-CN" sz="1800" dirty="0"/>
              <a:t>和</a:t>
            </a:r>
            <a:r>
              <a:rPr lang="en-US" altLang="zh-CN" sz="1800" dirty="0"/>
              <a:t>B</a:t>
            </a:r>
            <a:r>
              <a:rPr lang="zh-CN" altLang="zh-CN" sz="1800" dirty="0"/>
              <a:t>。要求无线通信距离不小于</a:t>
            </a:r>
            <a:r>
              <a:rPr lang="en-US" altLang="zh-CN" sz="1800" dirty="0"/>
              <a:t>2m</a:t>
            </a:r>
            <a:r>
              <a:rPr lang="zh-CN" altLang="zh-CN" sz="1800" dirty="0"/>
              <a:t>，解调输出的双路语音信号波形无明显失真。</a:t>
            </a:r>
            <a:endParaRPr lang="zh-CN" altLang="en-US" sz="1800" dirty="0"/>
          </a:p>
        </p:txBody>
      </p:sp>
    </p:spTree>
    <p:extLst>
      <p:ext uri="{BB962C8B-B14F-4D97-AF65-F5344CB8AC3E}">
        <p14:creationId xmlns:p14="http://schemas.microsoft.com/office/powerpoint/2010/main" val="41554196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a:t>
            </a:fld>
            <a:endParaRPr lang="en-US" altLang="zh-CN"/>
          </a:p>
        </p:txBody>
      </p:sp>
      <p:sp>
        <p:nvSpPr>
          <p:cNvPr id="2" name="文本框 1"/>
          <p:cNvSpPr txBox="1"/>
          <p:nvPr/>
        </p:nvSpPr>
        <p:spPr>
          <a:xfrm>
            <a:off x="424281" y="489519"/>
            <a:ext cx="11397303" cy="5493812"/>
          </a:xfrm>
          <a:prstGeom prst="rect">
            <a:avLst/>
          </a:prstGeom>
          <a:noFill/>
        </p:spPr>
        <p:txBody>
          <a:bodyPr wrap="square" rtlCol="0">
            <a:spAutoFit/>
          </a:bodyPr>
          <a:lstStyle/>
          <a:p>
            <a:pPr indent="457200">
              <a:lnSpc>
                <a:spcPct val="150000"/>
              </a:lnSpc>
            </a:pPr>
            <a:r>
              <a:rPr lang="en-US" altLang="zh-CN" sz="1800" dirty="0"/>
              <a:t>2. </a:t>
            </a:r>
            <a:r>
              <a:rPr lang="zh-CN" altLang="zh-CN" sz="1800" dirty="0"/>
              <a:t>发挥部分</a:t>
            </a:r>
          </a:p>
          <a:p>
            <a:pPr indent="457200">
              <a:lnSpc>
                <a:spcPct val="150000"/>
              </a:lnSpc>
            </a:pPr>
            <a:r>
              <a:rPr lang="zh-CN" altLang="zh-CN" sz="1800" dirty="0"/>
              <a:t>（</a:t>
            </a:r>
            <a:r>
              <a:rPr lang="en-US" altLang="zh-CN" sz="1800" dirty="0"/>
              <a:t>1</a:t>
            </a:r>
            <a:r>
              <a:rPr lang="zh-CN" altLang="zh-CN" sz="1800" dirty="0"/>
              <a:t>）要求设计制作的发射电路中</a:t>
            </a:r>
            <a:r>
              <a:rPr lang="en-US" altLang="zh-CN" sz="1800" dirty="0"/>
              <a:t>FM</a:t>
            </a:r>
            <a:r>
              <a:rPr lang="zh-CN" altLang="zh-CN" sz="1800" dirty="0"/>
              <a:t>信号的载波频率能通过一个电压信号</a:t>
            </a:r>
            <a:r>
              <a:rPr lang="en-US" altLang="zh-CN" sz="1800" i="1" dirty="0" err="1"/>
              <a:t>v</a:t>
            </a:r>
            <a:r>
              <a:rPr lang="en-US" altLang="zh-CN" sz="1800" i="1" baseline="-25000" dirty="0" err="1"/>
              <a:t>C</a:t>
            </a:r>
            <a:r>
              <a:rPr lang="en-US" altLang="zh-CN" sz="1800" i="1" dirty="0"/>
              <a:t> </a:t>
            </a:r>
            <a:r>
              <a:rPr lang="en-US" altLang="zh-CN" sz="1800" dirty="0"/>
              <a:t>(</a:t>
            </a:r>
            <a:r>
              <a:rPr lang="en-US" altLang="zh-CN" sz="1800" i="1" dirty="0"/>
              <a:t>t</a:t>
            </a:r>
            <a:r>
              <a:rPr lang="en-US" altLang="zh-CN" sz="1800" dirty="0"/>
              <a:t>)</a:t>
            </a:r>
            <a:r>
              <a:rPr lang="zh-CN" altLang="zh-CN" sz="1800" dirty="0"/>
              <a:t>进行调节，用来模拟无线通信中载波频率漂移的情况。电压信号</a:t>
            </a:r>
            <a:r>
              <a:rPr lang="en-US" altLang="zh-CN" sz="1800" i="1" dirty="0" err="1"/>
              <a:t>v</a:t>
            </a:r>
            <a:r>
              <a:rPr lang="en-US" altLang="zh-CN" sz="1800" i="1" baseline="-25000" dirty="0" err="1"/>
              <a:t>C</a:t>
            </a:r>
            <a:r>
              <a:rPr lang="en-US" altLang="zh-CN" sz="1800" i="1" dirty="0"/>
              <a:t> </a:t>
            </a:r>
            <a:r>
              <a:rPr lang="en-US" altLang="zh-CN" sz="1800" dirty="0"/>
              <a:t>(</a:t>
            </a:r>
            <a:r>
              <a:rPr lang="en-US" altLang="zh-CN" sz="1800" i="1" dirty="0"/>
              <a:t>t</a:t>
            </a:r>
            <a:r>
              <a:rPr lang="en-US" altLang="zh-CN" sz="1800" dirty="0"/>
              <a:t>)</a:t>
            </a:r>
            <a:r>
              <a:rPr lang="zh-CN" altLang="zh-CN" sz="1800" dirty="0"/>
              <a:t>单位电压调节载波频率产生的频率漂移量，由参赛者自行设计。 </a:t>
            </a:r>
          </a:p>
          <a:p>
            <a:pPr indent="457200">
              <a:lnSpc>
                <a:spcPct val="150000"/>
              </a:lnSpc>
            </a:pPr>
            <a:r>
              <a:rPr lang="zh-CN" altLang="zh-CN" sz="1800" dirty="0"/>
              <a:t>（</a:t>
            </a:r>
            <a:r>
              <a:rPr lang="en-US" altLang="zh-CN" sz="1800" dirty="0"/>
              <a:t>2</a:t>
            </a:r>
            <a:r>
              <a:rPr lang="zh-CN" altLang="zh-CN" sz="1800" dirty="0"/>
              <a:t>）在保证系统能正确进行双路语音无线传输的前提下，通过</a:t>
            </a:r>
            <a:r>
              <a:rPr lang="en-US" altLang="zh-CN" sz="1800" i="1" dirty="0" err="1"/>
              <a:t>v</a:t>
            </a:r>
            <a:r>
              <a:rPr lang="en-US" altLang="zh-CN" sz="1800" i="1" baseline="-25000" dirty="0" err="1"/>
              <a:t>C</a:t>
            </a:r>
            <a:r>
              <a:rPr lang="en-US" altLang="zh-CN" sz="1800" i="1" dirty="0"/>
              <a:t> </a:t>
            </a:r>
            <a:r>
              <a:rPr lang="en-US" altLang="zh-CN" sz="1800" dirty="0"/>
              <a:t>(</a:t>
            </a:r>
            <a:r>
              <a:rPr lang="en-US" altLang="zh-CN" sz="1800" i="1" dirty="0"/>
              <a:t>t</a:t>
            </a:r>
            <a:r>
              <a:rPr lang="en-US" altLang="zh-CN" sz="1800" dirty="0"/>
              <a:t>)</a:t>
            </a:r>
            <a:r>
              <a:rPr lang="zh-CN" altLang="zh-CN" sz="1800" dirty="0"/>
              <a:t>信号调节</a:t>
            </a:r>
            <a:r>
              <a:rPr lang="en-US" altLang="zh-CN" sz="1800" dirty="0"/>
              <a:t>FM</a:t>
            </a:r>
            <a:r>
              <a:rPr lang="zh-CN" altLang="zh-CN" sz="1800" dirty="0"/>
              <a:t>信号的载波频率产生不小于</a:t>
            </a:r>
            <a:r>
              <a:rPr lang="en-US" altLang="zh-CN" sz="1800" dirty="0"/>
              <a:t>300 kHz</a:t>
            </a:r>
            <a:r>
              <a:rPr lang="zh-CN" altLang="zh-CN" sz="1800" dirty="0"/>
              <a:t>的漂移，要求调节时间</a:t>
            </a:r>
            <a:r>
              <a:rPr lang="en-US" altLang="zh-CN" sz="1800" dirty="0"/>
              <a:t>τ </a:t>
            </a:r>
            <a:r>
              <a:rPr lang="zh-CN" altLang="zh-CN" sz="1800" dirty="0"/>
              <a:t>不超过</a:t>
            </a:r>
            <a:r>
              <a:rPr lang="en-US" altLang="zh-CN" sz="1800" dirty="0"/>
              <a:t>5s</a:t>
            </a:r>
            <a:r>
              <a:rPr lang="zh-CN" altLang="zh-CN" sz="1800" dirty="0"/>
              <a:t>（秒）。</a:t>
            </a:r>
          </a:p>
          <a:p>
            <a:pPr indent="457200">
              <a:lnSpc>
                <a:spcPct val="150000"/>
              </a:lnSpc>
            </a:pPr>
            <a:r>
              <a:rPr lang="zh-CN" altLang="zh-CN" sz="1800" dirty="0"/>
              <a:t>（</a:t>
            </a:r>
            <a:r>
              <a:rPr lang="en-US" altLang="zh-CN" sz="1800" dirty="0"/>
              <a:t>3</a:t>
            </a:r>
            <a:r>
              <a:rPr lang="zh-CN" altLang="zh-CN" sz="1800" dirty="0"/>
              <a:t>）在保证系统能正确进行双路语音无线传输的前提下，通过</a:t>
            </a:r>
            <a:r>
              <a:rPr lang="en-US" altLang="zh-CN" sz="1800" i="1" dirty="0" err="1"/>
              <a:t>v</a:t>
            </a:r>
            <a:r>
              <a:rPr lang="en-US" altLang="zh-CN" sz="1800" i="1" baseline="-25000" dirty="0" err="1"/>
              <a:t>C</a:t>
            </a:r>
            <a:r>
              <a:rPr lang="en-US" altLang="zh-CN" sz="1800" i="1" dirty="0"/>
              <a:t> </a:t>
            </a:r>
            <a:r>
              <a:rPr lang="en-US" altLang="zh-CN" sz="1800" dirty="0"/>
              <a:t>(</a:t>
            </a:r>
            <a:r>
              <a:rPr lang="en-US" altLang="zh-CN" sz="1800" i="1" dirty="0"/>
              <a:t>t</a:t>
            </a:r>
            <a:r>
              <a:rPr lang="en-US" altLang="zh-CN" sz="1800" dirty="0"/>
              <a:t>)</a:t>
            </a:r>
            <a:r>
              <a:rPr lang="zh-CN" altLang="zh-CN" sz="1800" dirty="0"/>
              <a:t>信号调节</a:t>
            </a:r>
            <a:r>
              <a:rPr lang="en-US" altLang="zh-CN" sz="1800" dirty="0"/>
              <a:t> FM </a:t>
            </a:r>
            <a:r>
              <a:rPr lang="zh-CN" altLang="zh-CN" sz="1800" dirty="0"/>
              <a:t>信号的载波频率，按照下图所示进行漂移，要求</a:t>
            </a:r>
            <a:r>
              <a:rPr lang="en-US" altLang="zh-CN" sz="1800" dirty="0"/>
              <a:t> FM</a:t>
            </a:r>
            <a:r>
              <a:rPr lang="zh-CN" altLang="zh-CN" sz="1800" dirty="0"/>
              <a:t>信号的载波频率漂移范围</a:t>
            </a:r>
            <a:r>
              <a:rPr lang="en-US" altLang="zh-CN" sz="1800" dirty="0" err="1"/>
              <a:t>Δ</a:t>
            </a:r>
            <a:r>
              <a:rPr lang="en-US" altLang="zh-CN" sz="1800" i="1" dirty="0" err="1"/>
              <a:t>f</a:t>
            </a:r>
            <a:r>
              <a:rPr lang="en-US" altLang="zh-CN" sz="1800" i="1" dirty="0"/>
              <a:t> </a:t>
            </a:r>
            <a:r>
              <a:rPr lang="en-US" altLang="zh-CN" sz="1800" baseline="-25000" dirty="0"/>
              <a:t>0</a:t>
            </a:r>
            <a:r>
              <a:rPr lang="zh-CN" altLang="zh-CN" sz="1800" dirty="0"/>
              <a:t>越大越好。</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zh-CN" sz="1800" dirty="0"/>
              <a:t>（</a:t>
            </a:r>
            <a:r>
              <a:rPr lang="en-US" altLang="zh-CN" sz="1800" dirty="0"/>
              <a:t>4</a:t>
            </a:r>
            <a:r>
              <a:rPr lang="zh-CN" altLang="zh-CN" sz="1800" dirty="0"/>
              <a:t>）</a:t>
            </a:r>
            <a:r>
              <a:rPr lang="zh-CN" altLang="en-US" sz="1800" dirty="0"/>
              <a:t>其他</a:t>
            </a:r>
            <a:endParaRPr lang="zh-CN" altLang="zh-CN" sz="1800" dirty="0"/>
          </a:p>
        </p:txBody>
      </p:sp>
      <p:pic>
        <p:nvPicPr>
          <p:cNvPr id="9" name="图片 8"/>
          <p:cNvPicPr/>
          <p:nvPr/>
        </p:nvPicPr>
        <p:blipFill>
          <a:blip r:embed="rId2"/>
          <a:stretch>
            <a:fillRect/>
          </a:stretch>
        </p:blipFill>
        <p:spPr>
          <a:xfrm>
            <a:off x="3153331" y="3523394"/>
            <a:ext cx="5189529" cy="1988526"/>
          </a:xfrm>
          <a:prstGeom prst="rect">
            <a:avLst/>
          </a:prstGeom>
        </p:spPr>
      </p:pic>
    </p:spTree>
    <p:extLst>
      <p:ext uri="{BB962C8B-B14F-4D97-AF65-F5344CB8AC3E}">
        <p14:creationId xmlns:p14="http://schemas.microsoft.com/office/powerpoint/2010/main" val="1447300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a:t>
            </a:fld>
            <a:endParaRPr lang="en-US" altLang="zh-CN"/>
          </a:p>
        </p:txBody>
      </p:sp>
      <p:sp>
        <p:nvSpPr>
          <p:cNvPr id="2" name="文本框 1"/>
          <p:cNvSpPr txBox="1"/>
          <p:nvPr/>
        </p:nvSpPr>
        <p:spPr>
          <a:xfrm>
            <a:off x="438912" y="607273"/>
            <a:ext cx="11323930" cy="2534733"/>
          </a:xfrm>
          <a:prstGeom prst="rect">
            <a:avLst/>
          </a:prstGeom>
          <a:noFill/>
        </p:spPr>
        <p:txBody>
          <a:bodyPr wrap="square" rtlCol="0">
            <a:spAutoFit/>
          </a:bodyPr>
          <a:lstStyle/>
          <a:p>
            <a:pPr indent="457200">
              <a:lnSpc>
                <a:spcPct val="150000"/>
              </a:lnSpc>
            </a:pPr>
            <a:r>
              <a:rPr lang="zh-CN" altLang="zh-CN" sz="1800" dirty="0"/>
              <a:t>三、说明 </a:t>
            </a:r>
          </a:p>
          <a:p>
            <a:pPr indent="457200">
              <a:lnSpc>
                <a:spcPct val="150000"/>
              </a:lnSpc>
            </a:pPr>
            <a:r>
              <a:rPr lang="zh-CN" altLang="zh-CN" sz="1800" dirty="0"/>
              <a:t>（</a:t>
            </a:r>
            <a:r>
              <a:rPr lang="en-US" altLang="zh-CN" sz="1800" dirty="0"/>
              <a:t>1</a:t>
            </a:r>
            <a:r>
              <a:rPr lang="zh-CN" altLang="zh-CN" sz="1800" dirty="0"/>
              <a:t>）系统输入的语音信号，可以由标准的信号源产生；解调的语音信号输出应留有测试接口，以便示波器观测。</a:t>
            </a:r>
          </a:p>
          <a:p>
            <a:pPr indent="457200">
              <a:lnSpc>
                <a:spcPct val="150000"/>
              </a:lnSpc>
            </a:pPr>
            <a:r>
              <a:rPr lang="zh-CN" altLang="zh-CN" sz="1800" dirty="0"/>
              <a:t>（</a:t>
            </a:r>
            <a:r>
              <a:rPr lang="en-US" altLang="zh-CN" sz="1800" dirty="0"/>
              <a:t>2</a:t>
            </a:r>
            <a:r>
              <a:rPr lang="zh-CN" altLang="zh-CN" sz="1800" dirty="0"/>
              <a:t>）制作的</a:t>
            </a:r>
            <a:r>
              <a:rPr lang="en-US" altLang="zh-CN" sz="1800" dirty="0"/>
              <a:t>FM</a:t>
            </a:r>
            <a:r>
              <a:rPr lang="zh-CN" altLang="zh-CN" sz="1800" dirty="0"/>
              <a:t>发射电路应在发射天线端引出测试端口，以便测试。 </a:t>
            </a:r>
          </a:p>
          <a:p>
            <a:pPr indent="457200">
              <a:lnSpc>
                <a:spcPct val="150000"/>
              </a:lnSpc>
            </a:pPr>
            <a:r>
              <a:rPr lang="zh-CN" altLang="zh-CN" sz="1800" dirty="0"/>
              <a:t>（</a:t>
            </a:r>
            <a:r>
              <a:rPr lang="en-US" altLang="zh-CN" sz="1800" dirty="0"/>
              <a:t>3</a:t>
            </a:r>
            <a:r>
              <a:rPr lang="zh-CN" altLang="zh-CN" sz="1800" dirty="0"/>
              <a:t>）控制</a:t>
            </a:r>
            <a:r>
              <a:rPr lang="en-US" altLang="zh-CN" sz="1800" dirty="0"/>
              <a:t>FM</a:t>
            </a:r>
            <a:r>
              <a:rPr lang="zh-CN" altLang="zh-CN" sz="1800" dirty="0"/>
              <a:t>信号的载波频率漂移的外加电压信号</a:t>
            </a:r>
            <a:r>
              <a:rPr lang="en-US" altLang="zh-CN" sz="1800" i="1" dirty="0" err="1"/>
              <a:t>v</a:t>
            </a:r>
            <a:r>
              <a:rPr lang="en-US" altLang="zh-CN" sz="1800" i="1" baseline="-25000" dirty="0" err="1"/>
              <a:t>C</a:t>
            </a:r>
            <a:r>
              <a:rPr lang="en-US" altLang="zh-CN" sz="1800" i="1" dirty="0"/>
              <a:t> </a:t>
            </a:r>
            <a:r>
              <a:rPr lang="en-US" altLang="zh-CN" sz="1800" dirty="0"/>
              <a:t>(</a:t>
            </a:r>
            <a:r>
              <a:rPr lang="en-US" altLang="zh-CN" sz="1800" i="1" dirty="0"/>
              <a:t>t</a:t>
            </a:r>
            <a:r>
              <a:rPr lang="en-US" altLang="zh-CN" sz="1800" dirty="0"/>
              <a:t>)</a:t>
            </a:r>
            <a:r>
              <a:rPr lang="zh-CN" altLang="zh-CN" sz="1800" dirty="0"/>
              <a:t>通过标准信号源外部输入。外加的</a:t>
            </a:r>
            <a:r>
              <a:rPr lang="en-US" altLang="zh-CN" sz="1800" i="1" dirty="0" err="1"/>
              <a:t>v</a:t>
            </a:r>
            <a:r>
              <a:rPr lang="en-US" altLang="zh-CN" sz="1800" i="1" baseline="-25000" dirty="0" err="1"/>
              <a:t>C</a:t>
            </a:r>
            <a:r>
              <a:rPr lang="en-US" altLang="zh-CN" sz="1800" i="1" dirty="0"/>
              <a:t> </a:t>
            </a:r>
            <a:r>
              <a:rPr lang="en-US" altLang="zh-CN" sz="1800" dirty="0"/>
              <a:t>(</a:t>
            </a:r>
            <a:r>
              <a:rPr lang="en-US" altLang="zh-CN" sz="1800" i="1" dirty="0"/>
              <a:t>t</a:t>
            </a:r>
            <a:r>
              <a:rPr lang="en-US" altLang="zh-CN" sz="1800" dirty="0"/>
              <a:t>)</a:t>
            </a:r>
            <a:r>
              <a:rPr lang="zh-CN" altLang="zh-CN" sz="1800" dirty="0"/>
              <a:t>信号为零时，</a:t>
            </a:r>
            <a:r>
              <a:rPr lang="en-US" altLang="zh-CN" sz="1800" dirty="0"/>
              <a:t>FM</a:t>
            </a:r>
            <a:r>
              <a:rPr lang="zh-CN" altLang="zh-CN" sz="1800" dirty="0"/>
              <a:t>信号的载波频率漂移对应为零。</a:t>
            </a:r>
          </a:p>
        </p:txBody>
      </p:sp>
    </p:spTree>
    <p:extLst>
      <p:ext uri="{BB962C8B-B14F-4D97-AF65-F5344CB8AC3E}">
        <p14:creationId xmlns:p14="http://schemas.microsoft.com/office/powerpoint/2010/main" val="9274411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6</a:t>
            </a:fld>
            <a:endParaRPr lang="en-US" altLang="zh-CN"/>
          </a:p>
        </p:txBody>
      </p:sp>
      <p:sp>
        <p:nvSpPr>
          <p:cNvPr id="2" name="文本框 1"/>
          <p:cNvSpPr txBox="1"/>
          <p:nvPr/>
        </p:nvSpPr>
        <p:spPr>
          <a:xfrm>
            <a:off x="416965" y="383908"/>
            <a:ext cx="11404619" cy="4154984"/>
          </a:xfrm>
          <a:prstGeom prst="rect">
            <a:avLst/>
          </a:prstGeom>
          <a:noFill/>
        </p:spPr>
        <p:txBody>
          <a:bodyPr wrap="square" rtlCol="0">
            <a:spAutoFit/>
          </a:bodyPr>
          <a:lstStyle/>
          <a:p>
            <a:pPr algn="ctr">
              <a:lnSpc>
                <a:spcPct val="150000"/>
              </a:lnSpc>
            </a:pPr>
            <a:r>
              <a:rPr lang="zh-CN" altLang="zh-CN" sz="3200" dirty="0">
                <a:solidFill>
                  <a:srgbClr val="FF0000"/>
                </a:solidFill>
                <a:latin typeface="隶书" panose="02010509060101010101" pitchFamily="49" charset="-122"/>
                <a:ea typeface="隶书" panose="02010509060101010101" pitchFamily="49" charset="-122"/>
              </a:rPr>
              <a:t>题目分析</a:t>
            </a:r>
          </a:p>
          <a:p>
            <a:pPr indent="457200">
              <a:lnSpc>
                <a:spcPct val="150000"/>
              </a:lnSpc>
            </a:pPr>
            <a:r>
              <a:rPr lang="en-US" altLang="zh-CN" sz="1800" dirty="0"/>
              <a:t>FM</a:t>
            </a:r>
            <a:r>
              <a:rPr lang="zh-CN" altLang="zh-CN" sz="1800" dirty="0"/>
              <a:t>调制与解调是一个基本通信电路，在大学高频电路课程中都有，所以总体方案不是问题。</a:t>
            </a:r>
            <a:endParaRPr lang="en-US" altLang="zh-CN" sz="1800" dirty="0"/>
          </a:p>
          <a:p>
            <a:pPr indent="457200">
              <a:lnSpc>
                <a:spcPct val="150000"/>
              </a:lnSpc>
            </a:pPr>
            <a:r>
              <a:rPr lang="zh-CN" altLang="zh-CN" sz="1800" dirty="0"/>
              <a:t>本题的设计难点</a:t>
            </a:r>
            <a:r>
              <a:rPr lang="zh-CN" altLang="en-US" sz="1800" dirty="0"/>
              <a:t>在于以下几点</a:t>
            </a:r>
            <a:r>
              <a:rPr lang="zh-CN" altLang="zh-CN" sz="1800" dirty="0"/>
              <a:t>：</a:t>
            </a:r>
            <a:endParaRPr lang="en-US" altLang="zh-CN" sz="1800" dirty="0"/>
          </a:p>
          <a:p>
            <a:pPr indent="457200">
              <a:lnSpc>
                <a:spcPct val="150000"/>
              </a:lnSpc>
            </a:pPr>
            <a:r>
              <a:rPr lang="zh-CN" altLang="en-US" sz="1800" dirty="0"/>
              <a:t>一、发射机部分</a:t>
            </a:r>
            <a:endParaRPr lang="en-US" altLang="zh-CN" sz="1800" dirty="0"/>
          </a:p>
          <a:p>
            <a:pPr marL="1200150" lvl="2" indent="-285750">
              <a:lnSpc>
                <a:spcPct val="150000"/>
              </a:lnSpc>
              <a:buFont typeface="Arial" panose="020B0604020202020204" pitchFamily="34" charset="0"/>
              <a:buChar char="•"/>
            </a:pPr>
            <a:r>
              <a:rPr lang="en-US" altLang="zh-CN" sz="1800" dirty="0"/>
              <a:t>FM</a:t>
            </a:r>
            <a:r>
              <a:rPr lang="zh-CN" altLang="zh-CN" sz="1800" dirty="0" smtClean="0"/>
              <a:t>信号发生器</a:t>
            </a:r>
            <a:r>
              <a:rPr lang="zh-CN" altLang="en-US" sz="1800" dirty="0" smtClean="0"/>
              <a:t>，</a:t>
            </a:r>
            <a:r>
              <a:rPr lang="zh-CN" altLang="zh-CN" sz="1800" dirty="0" smtClean="0"/>
              <a:t>载频</a:t>
            </a:r>
            <a:r>
              <a:rPr lang="zh-CN" altLang="en-US" sz="1800" dirty="0"/>
              <a:t>频率为</a:t>
            </a:r>
            <a:r>
              <a:rPr lang="en-US" altLang="zh-CN" sz="1800" dirty="0"/>
              <a:t>48.5MHz</a:t>
            </a:r>
            <a:r>
              <a:rPr lang="zh-CN" altLang="en-US" sz="1800" dirty="0" smtClean="0"/>
              <a:t>，要求</a:t>
            </a:r>
            <a:r>
              <a:rPr lang="en-US" altLang="zh-CN" sz="1800" dirty="0" smtClean="0"/>
              <a:t>1</a:t>
            </a:r>
            <a:r>
              <a:rPr lang="zh-CN" altLang="zh-CN" sz="1800" dirty="0"/>
              <a:t>‰的频率精度，同时</a:t>
            </a:r>
            <a:r>
              <a:rPr lang="zh-CN" altLang="en-US" sz="1800" dirty="0"/>
              <a:t>又可以在外加电压控制下</a:t>
            </a:r>
            <a:r>
              <a:rPr lang="zh-CN" altLang="zh-CN" sz="1800" dirty="0"/>
              <a:t>有</a:t>
            </a:r>
            <a:r>
              <a:rPr lang="en-US" altLang="zh-CN" sz="1800" dirty="0"/>
              <a:t>&gt;300kHz</a:t>
            </a:r>
            <a:r>
              <a:rPr lang="zh-CN" altLang="zh-CN" sz="1800" dirty="0"/>
              <a:t>的载频漂移。</a:t>
            </a:r>
            <a:endParaRPr lang="en-US" altLang="zh-CN" sz="1800" dirty="0"/>
          </a:p>
          <a:p>
            <a:pPr marL="1200150" lvl="2" indent="-285750">
              <a:lnSpc>
                <a:spcPct val="150000"/>
              </a:lnSpc>
              <a:buFont typeface="Arial" panose="020B0604020202020204" pitchFamily="34" charset="0"/>
              <a:buChar char="•"/>
            </a:pPr>
            <a:r>
              <a:rPr lang="zh-CN" altLang="zh-CN" sz="1800" dirty="0"/>
              <a:t>双路语音</a:t>
            </a:r>
            <a:r>
              <a:rPr lang="zh-CN" altLang="en-US" sz="1800" dirty="0"/>
              <a:t>信号</a:t>
            </a:r>
            <a:r>
              <a:rPr lang="zh-CN" altLang="zh-CN" sz="1800" dirty="0" smtClean="0"/>
              <a:t>同</a:t>
            </a:r>
            <a:r>
              <a:rPr lang="zh-CN" altLang="en-US" sz="1800" dirty="0" smtClean="0"/>
              <a:t>时</a:t>
            </a:r>
            <a:r>
              <a:rPr lang="zh-CN" altLang="zh-CN" sz="1800" dirty="0" smtClean="0"/>
              <a:t>传</a:t>
            </a:r>
            <a:r>
              <a:rPr lang="zh-CN" altLang="en-US" sz="1800" dirty="0" smtClean="0"/>
              <a:t>送，每</a:t>
            </a:r>
            <a:r>
              <a:rPr lang="zh-CN" altLang="zh-CN" sz="1800" dirty="0"/>
              <a:t>路语音信号的带宽</a:t>
            </a:r>
            <a:r>
              <a:rPr lang="en-US" altLang="zh-CN" sz="1800" dirty="0"/>
              <a:t>3400Hz</a:t>
            </a:r>
            <a:r>
              <a:rPr lang="zh-CN" altLang="en-US" sz="1800" dirty="0"/>
              <a:t>。</a:t>
            </a:r>
            <a:endParaRPr lang="en-US" altLang="zh-CN" sz="1800" dirty="0"/>
          </a:p>
          <a:p>
            <a:pPr indent="457200">
              <a:lnSpc>
                <a:spcPct val="150000"/>
              </a:lnSpc>
            </a:pPr>
            <a:r>
              <a:rPr lang="zh-CN" altLang="en-US" sz="1800" dirty="0"/>
              <a:t>二、接收机部分</a:t>
            </a:r>
            <a:endParaRPr lang="en-US" altLang="zh-CN" sz="1800" dirty="0"/>
          </a:p>
          <a:p>
            <a:pPr marL="1200150" lvl="2" indent="-285750">
              <a:lnSpc>
                <a:spcPct val="150000"/>
              </a:lnSpc>
              <a:buFont typeface="Arial" panose="020B0604020202020204" pitchFamily="34" charset="0"/>
              <a:buChar char="•"/>
            </a:pPr>
            <a:r>
              <a:rPr lang="zh-CN" altLang="zh-CN" sz="1800" dirty="0"/>
              <a:t>在载频漂移情况</a:t>
            </a:r>
            <a:r>
              <a:rPr lang="zh-CN" altLang="zh-CN" sz="1800" dirty="0" smtClean="0"/>
              <a:t>下</a:t>
            </a:r>
            <a:r>
              <a:rPr lang="zh-CN" altLang="en-US" sz="1800" dirty="0" smtClean="0"/>
              <a:t>如何做到稳定</a:t>
            </a:r>
            <a:r>
              <a:rPr lang="zh-CN" altLang="zh-CN" sz="1800" dirty="0"/>
              <a:t>接收。</a:t>
            </a:r>
          </a:p>
        </p:txBody>
      </p:sp>
    </p:spTree>
    <p:extLst>
      <p:ext uri="{BB962C8B-B14F-4D97-AF65-F5344CB8AC3E}">
        <p14:creationId xmlns:p14="http://schemas.microsoft.com/office/powerpoint/2010/main" val="17546355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7</a:t>
            </a:fld>
            <a:endParaRPr lang="en-US" altLang="zh-CN"/>
          </a:p>
        </p:txBody>
      </p:sp>
      <p:sp>
        <p:nvSpPr>
          <p:cNvPr id="2" name="文本框 1"/>
          <p:cNvSpPr txBox="1"/>
          <p:nvPr/>
        </p:nvSpPr>
        <p:spPr>
          <a:xfrm>
            <a:off x="490118" y="446339"/>
            <a:ext cx="11331467" cy="5863144"/>
          </a:xfrm>
          <a:prstGeom prst="rect">
            <a:avLst/>
          </a:prstGeom>
          <a:noFill/>
        </p:spPr>
        <p:txBody>
          <a:bodyPr wrap="square" rtlCol="0">
            <a:spAutoFit/>
          </a:bodyPr>
          <a:lstStyle/>
          <a:p>
            <a:pPr algn="ctr">
              <a:lnSpc>
                <a:spcPct val="150000"/>
              </a:lnSpc>
            </a:pPr>
            <a:r>
              <a:rPr lang="zh-CN" altLang="en-US" sz="3200" dirty="0" smtClean="0">
                <a:solidFill>
                  <a:srgbClr val="FF0000"/>
                </a:solidFill>
                <a:latin typeface="华文隶书" panose="02010800040101010101" pitchFamily="2" charset="-122"/>
                <a:ea typeface="华文隶书" panose="02010800040101010101" pitchFamily="2" charset="-122"/>
              </a:rPr>
              <a:t>一、发射机部分</a:t>
            </a:r>
            <a:endParaRPr lang="en-US" altLang="zh-CN" sz="3200" dirty="0" smtClean="0">
              <a:solidFill>
                <a:srgbClr val="FF0000"/>
              </a:solidFill>
              <a:latin typeface="华文隶书" panose="02010800040101010101" pitchFamily="2" charset="-122"/>
              <a:ea typeface="华文隶书" panose="02010800040101010101" pitchFamily="2" charset="-122"/>
            </a:endParaRPr>
          </a:p>
          <a:p>
            <a:pPr>
              <a:lnSpc>
                <a:spcPct val="150000"/>
              </a:lnSpc>
            </a:pPr>
            <a:r>
              <a:rPr lang="zh-CN" altLang="en-US" dirty="0" smtClean="0">
                <a:solidFill>
                  <a:srgbClr val="FF0000"/>
                </a:solidFill>
                <a:latin typeface="黑体" panose="02010609060101010101" pitchFamily="49" charset="-122"/>
                <a:ea typeface="黑体" panose="02010609060101010101" pitchFamily="49" charset="-122"/>
              </a:rPr>
              <a:t>模块一、高</a:t>
            </a:r>
            <a:r>
              <a:rPr lang="zh-CN" altLang="en-US" dirty="0">
                <a:solidFill>
                  <a:srgbClr val="FF0000"/>
                </a:solidFill>
                <a:latin typeface="黑体" panose="02010609060101010101" pitchFamily="49" charset="-122"/>
                <a:ea typeface="黑体" panose="02010609060101010101" pitchFamily="49" charset="-122"/>
              </a:rPr>
              <a:t>精度又带漂移的</a:t>
            </a:r>
            <a:r>
              <a:rPr lang="en-US" altLang="zh-CN" dirty="0">
                <a:solidFill>
                  <a:srgbClr val="FF0000"/>
                </a:solidFill>
                <a:latin typeface="Calibri" panose="020F0502020204030204" pitchFamily="34" charset="0"/>
                <a:ea typeface="黑体" panose="02010609060101010101" pitchFamily="49" charset="-122"/>
                <a:cs typeface="Calibri" panose="020F0502020204030204" pitchFamily="34" charset="0"/>
              </a:rPr>
              <a:t>FM</a:t>
            </a:r>
            <a:r>
              <a:rPr lang="zh-CN" altLang="zh-CN" dirty="0" smtClean="0">
                <a:solidFill>
                  <a:srgbClr val="FF0000"/>
                </a:solidFill>
                <a:latin typeface="黑体" panose="02010609060101010101" pitchFamily="49" charset="-122"/>
                <a:ea typeface="黑体" panose="02010609060101010101" pitchFamily="49" charset="-122"/>
              </a:rPr>
              <a:t>信号</a:t>
            </a:r>
            <a:r>
              <a:rPr lang="zh-CN" altLang="en-US" dirty="0" smtClean="0">
                <a:solidFill>
                  <a:srgbClr val="FF0000"/>
                </a:solidFill>
                <a:latin typeface="黑体" panose="02010609060101010101" pitchFamily="49" charset="-122"/>
                <a:ea typeface="黑体" panose="02010609060101010101" pitchFamily="49" charset="-122"/>
              </a:rPr>
              <a:t>产生模块（设计难点</a:t>
            </a:r>
            <a:r>
              <a:rPr lang="zh-CN" altLang="en-US" dirty="0">
                <a:solidFill>
                  <a:srgbClr val="FF0000"/>
                </a:solidFill>
                <a:latin typeface="黑体" panose="02010609060101010101" pitchFamily="49" charset="-122"/>
                <a:ea typeface="黑体" panose="02010609060101010101" pitchFamily="49" charset="-122"/>
              </a:rPr>
              <a:t>）</a:t>
            </a:r>
            <a:endParaRPr lang="zh-CN" altLang="zh-CN" dirty="0">
              <a:latin typeface="黑体" panose="02010609060101010101" pitchFamily="49" charset="-122"/>
              <a:ea typeface="黑体" panose="02010609060101010101" pitchFamily="49" charset="-122"/>
            </a:endParaRPr>
          </a:p>
          <a:p>
            <a:pPr indent="457200">
              <a:lnSpc>
                <a:spcPct val="150000"/>
              </a:lnSpc>
            </a:pPr>
            <a:r>
              <a:rPr lang="zh-CN" altLang="zh-CN" sz="1800" dirty="0"/>
              <a:t>常见的</a:t>
            </a:r>
            <a:r>
              <a:rPr lang="en-US" altLang="zh-CN" sz="1800" dirty="0"/>
              <a:t>FM</a:t>
            </a:r>
            <a:r>
              <a:rPr lang="zh-CN" altLang="zh-CN" sz="1800" dirty="0"/>
              <a:t>信号可以由以下几种方法产生：</a:t>
            </a:r>
            <a:endParaRPr lang="en-US" altLang="zh-CN" sz="1800" dirty="0"/>
          </a:p>
          <a:p>
            <a:pPr marL="1200150" lvl="2" indent="-285750">
              <a:lnSpc>
                <a:spcPct val="150000"/>
              </a:lnSpc>
              <a:buFont typeface="Arial" panose="020B0604020202020204" pitchFamily="34" charset="0"/>
              <a:buChar char="•"/>
            </a:pPr>
            <a:r>
              <a:rPr lang="zh-CN" altLang="zh-CN" sz="1800" dirty="0"/>
              <a:t>压控振荡器直接调频</a:t>
            </a:r>
            <a:endParaRPr lang="en-US" altLang="zh-CN" sz="1800" dirty="0"/>
          </a:p>
          <a:p>
            <a:pPr marL="1200150" lvl="2" indent="-285750">
              <a:lnSpc>
                <a:spcPct val="150000"/>
              </a:lnSpc>
              <a:buFont typeface="Arial" panose="020B0604020202020204" pitchFamily="34" charset="0"/>
              <a:buChar char="•"/>
            </a:pPr>
            <a:r>
              <a:rPr lang="zh-CN" altLang="zh-CN" sz="1800" dirty="0"/>
              <a:t>压控晶体振荡器直接调频</a:t>
            </a:r>
            <a:endParaRPr lang="en-US" altLang="zh-CN" sz="1800" dirty="0"/>
          </a:p>
          <a:p>
            <a:pPr marL="1200150" lvl="2" indent="-285750">
              <a:lnSpc>
                <a:spcPct val="150000"/>
              </a:lnSpc>
              <a:buFont typeface="Arial" panose="020B0604020202020204" pitchFamily="34" charset="0"/>
              <a:buChar char="•"/>
            </a:pPr>
            <a:r>
              <a:rPr lang="zh-CN" altLang="zh-CN" sz="1800" dirty="0"/>
              <a:t>锁相环调频</a:t>
            </a:r>
            <a:endParaRPr lang="en-US" altLang="zh-CN" sz="1800" dirty="0"/>
          </a:p>
          <a:p>
            <a:pPr marL="1200150" lvl="2" indent="-285750">
              <a:lnSpc>
                <a:spcPct val="150000"/>
              </a:lnSpc>
              <a:buFont typeface="Arial" panose="020B0604020202020204" pitchFamily="34" charset="0"/>
              <a:buChar char="•"/>
            </a:pPr>
            <a:r>
              <a:rPr lang="en-US" altLang="zh-CN" sz="1800" dirty="0"/>
              <a:t>DDS</a:t>
            </a:r>
            <a:r>
              <a:rPr lang="zh-CN" altLang="zh-CN" sz="1800" dirty="0"/>
              <a:t>产生调频信号</a:t>
            </a:r>
            <a:endParaRPr lang="en-US" altLang="zh-CN" sz="1800" dirty="0"/>
          </a:p>
          <a:p>
            <a:pPr indent="457200">
              <a:lnSpc>
                <a:spcPct val="150000"/>
              </a:lnSpc>
            </a:pPr>
            <a:endParaRPr lang="zh-CN" altLang="zh-CN" sz="1800" dirty="0"/>
          </a:p>
          <a:p>
            <a:pPr marL="285750" indent="-285750">
              <a:lnSpc>
                <a:spcPct val="150000"/>
              </a:lnSpc>
              <a:buFont typeface="Arial" panose="020B0604020202020204" pitchFamily="34" charset="0"/>
              <a:buChar char="•"/>
            </a:pPr>
            <a:r>
              <a:rPr lang="zh-CN" altLang="zh-CN" sz="1800" dirty="0" smtClean="0"/>
              <a:t>压控振荡器</a:t>
            </a:r>
            <a:r>
              <a:rPr lang="zh-CN" altLang="zh-CN" sz="1800" dirty="0"/>
              <a:t>（</a:t>
            </a:r>
            <a:r>
              <a:rPr lang="en-US" altLang="zh-CN" sz="1800" dirty="0"/>
              <a:t>VCO</a:t>
            </a:r>
            <a:r>
              <a:rPr lang="zh-CN" altLang="zh-CN" sz="1800" dirty="0"/>
              <a:t>）直接</a:t>
            </a:r>
            <a:r>
              <a:rPr lang="zh-CN" altLang="zh-CN" sz="1800" dirty="0" smtClean="0"/>
              <a:t>调频</a:t>
            </a:r>
            <a:endParaRPr lang="zh-CN" altLang="zh-CN" sz="1800" dirty="0"/>
          </a:p>
          <a:p>
            <a:pPr indent="457200">
              <a:lnSpc>
                <a:spcPct val="150000"/>
              </a:lnSpc>
            </a:pPr>
            <a:r>
              <a:rPr lang="en-US" altLang="zh-CN" sz="1800" dirty="0"/>
              <a:t>VCO</a:t>
            </a:r>
            <a:r>
              <a:rPr lang="zh-CN" altLang="zh-CN" sz="1800" dirty="0"/>
              <a:t>可以是</a:t>
            </a:r>
            <a:r>
              <a:rPr lang="en-US" altLang="zh-CN" sz="1800" dirty="0"/>
              <a:t>RC</a:t>
            </a:r>
            <a:r>
              <a:rPr lang="zh-CN" altLang="zh-CN" sz="1800" dirty="0"/>
              <a:t>振荡器，也可以是基于变容二极管的</a:t>
            </a:r>
            <a:r>
              <a:rPr lang="en-US" altLang="zh-CN" sz="1800" dirty="0"/>
              <a:t>LC</a:t>
            </a:r>
            <a:r>
              <a:rPr lang="zh-CN" altLang="zh-CN" sz="1800" dirty="0"/>
              <a:t>振荡器。这个方法是最简单的</a:t>
            </a:r>
            <a:r>
              <a:rPr lang="en-US" altLang="zh-CN" sz="1800" dirty="0"/>
              <a:t>FM</a:t>
            </a:r>
            <a:r>
              <a:rPr lang="zh-CN" altLang="zh-CN" sz="1800" dirty="0"/>
              <a:t>调制器，容易获得足够的频偏，也容易做到在外加电压下的载频漂移。问题是振荡器的频率精度和稳定度很难保证，要实现题目的</a:t>
            </a:r>
            <a:r>
              <a:rPr lang="en-US" altLang="zh-CN" sz="1800" dirty="0"/>
              <a:t>1</a:t>
            </a:r>
            <a:r>
              <a:rPr lang="zh-CN" altLang="zh-CN" sz="1800" dirty="0"/>
              <a:t>‰的频率精度很难，即使在电路设计、元件选择与安装调试等多方面非常注意，也只能做到短期稳定。所以这个方案通常只用于演示以及玩具级的应用。</a:t>
            </a:r>
          </a:p>
        </p:txBody>
      </p:sp>
    </p:spTree>
    <p:extLst>
      <p:ext uri="{BB962C8B-B14F-4D97-AF65-F5344CB8AC3E}">
        <p14:creationId xmlns:p14="http://schemas.microsoft.com/office/powerpoint/2010/main" val="16787424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8</a:t>
            </a:fld>
            <a:endParaRPr lang="en-US" altLang="zh-CN">
              <a:solidFill>
                <a:srgbClr val="FFFFFF"/>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572041252"/>
              </p:ext>
            </p:extLst>
          </p:nvPr>
        </p:nvGraphicFramePr>
        <p:xfrm>
          <a:off x="1433779" y="1506673"/>
          <a:ext cx="7566013" cy="1891503"/>
        </p:xfrm>
        <a:graphic>
          <a:graphicData uri="http://schemas.openxmlformats.org/presentationml/2006/ole">
            <mc:AlternateContent xmlns:mc="http://schemas.openxmlformats.org/markup-compatibility/2006">
              <mc:Choice xmlns:v="urn:schemas-microsoft-com:vml" Requires="v">
                <p:oleObj spid="_x0000_s13516" name="Visio" r:id="rId3" imgW="4629960" imgH="1165680" progId="Visio.Drawing.11">
                  <p:embed/>
                </p:oleObj>
              </mc:Choice>
              <mc:Fallback>
                <p:oleObj name="Visio" r:id="rId3" imgW="4629960" imgH="1165680" progId="Visio.Drawing.11">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3779" y="1506673"/>
                        <a:ext cx="7566013" cy="1891503"/>
                      </a:xfrm>
                      <a:prstGeom prst="rect">
                        <a:avLst/>
                      </a:prstGeom>
                      <a:noFill/>
                    </p:spPr>
                  </p:pic>
                </p:oleObj>
              </mc:Fallback>
            </mc:AlternateContent>
          </a:graphicData>
        </a:graphic>
      </p:graphicFrame>
      <p:sp>
        <p:nvSpPr>
          <p:cNvPr id="7" name="文本框 6"/>
          <p:cNvSpPr txBox="1"/>
          <p:nvPr/>
        </p:nvSpPr>
        <p:spPr>
          <a:xfrm>
            <a:off x="380388" y="498552"/>
            <a:ext cx="11389767"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800" dirty="0" smtClean="0"/>
              <a:t>DDS</a:t>
            </a:r>
            <a:r>
              <a:rPr lang="zh-CN" altLang="zh-CN" sz="1800" dirty="0"/>
              <a:t>产生</a:t>
            </a:r>
            <a:r>
              <a:rPr lang="en-US" altLang="zh-CN" sz="1800" dirty="0"/>
              <a:t>FM</a:t>
            </a:r>
            <a:r>
              <a:rPr lang="zh-CN" altLang="zh-CN" sz="1800" dirty="0"/>
              <a:t>信号</a:t>
            </a:r>
          </a:p>
          <a:p>
            <a:pPr indent="457200">
              <a:lnSpc>
                <a:spcPct val="150000"/>
              </a:lnSpc>
            </a:pPr>
            <a:r>
              <a:rPr lang="en-US" altLang="zh-CN" sz="1800" dirty="0"/>
              <a:t>DDS</a:t>
            </a:r>
            <a:r>
              <a:rPr lang="zh-CN" altLang="zh-CN" sz="1800" dirty="0"/>
              <a:t>的</a:t>
            </a:r>
            <a:r>
              <a:rPr lang="zh-CN" altLang="en-US" sz="1800" dirty="0"/>
              <a:t>时钟</a:t>
            </a:r>
            <a:r>
              <a:rPr lang="zh-CN" altLang="zh-CN" sz="1800" dirty="0"/>
              <a:t>频率基于石英晶体，</a:t>
            </a:r>
            <a:r>
              <a:rPr lang="zh-CN" altLang="zh-CN" sz="1800" dirty="0" smtClean="0"/>
              <a:t>所以频率</a:t>
            </a:r>
            <a:r>
              <a:rPr lang="zh-CN" altLang="zh-CN" sz="1800" dirty="0"/>
              <a:t>精度和稳定度极</a:t>
            </a:r>
            <a:r>
              <a:rPr lang="zh-CN" altLang="zh-CN" sz="1800" dirty="0" smtClean="0"/>
              <a:t>好</a:t>
            </a:r>
            <a:endParaRPr lang="en-US" altLang="zh-CN" sz="1800" dirty="0" smtClean="0"/>
          </a:p>
        </p:txBody>
      </p:sp>
      <p:sp>
        <p:nvSpPr>
          <p:cNvPr id="8" name="文本框 7"/>
          <p:cNvSpPr txBox="1"/>
          <p:nvPr/>
        </p:nvSpPr>
        <p:spPr>
          <a:xfrm>
            <a:off x="380388" y="3465489"/>
            <a:ext cx="11316615" cy="2169825"/>
          </a:xfrm>
          <a:prstGeom prst="rect">
            <a:avLst/>
          </a:prstGeom>
          <a:noFill/>
        </p:spPr>
        <p:txBody>
          <a:bodyPr wrap="square" rtlCol="0">
            <a:spAutoFit/>
          </a:bodyPr>
          <a:lstStyle/>
          <a:p>
            <a:pPr indent="457200">
              <a:lnSpc>
                <a:spcPct val="150000"/>
              </a:lnSpc>
            </a:pPr>
            <a:r>
              <a:rPr lang="zh-CN" altLang="en-US" sz="1800" dirty="0" smtClean="0"/>
              <a:t>用</a:t>
            </a:r>
            <a:r>
              <a:rPr lang="en-US" altLang="zh-CN" sz="1800" dirty="0"/>
              <a:t>DDS</a:t>
            </a:r>
            <a:r>
              <a:rPr lang="zh-CN" altLang="zh-CN" sz="1800" dirty="0"/>
              <a:t>芯片</a:t>
            </a:r>
            <a:r>
              <a:rPr lang="zh-CN" altLang="en-US" sz="1800" dirty="0"/>
              <a:t>实现</a:t>
            </a:r>
            <a:r>
              <a:rPr lang="en-US" altLang="zh-CN" sz="1800" dirty="0"/>
              <a:t>FM</a:t>
            </a:r>
            <a:r>
              <a:rPr lang="zh-CN" altLang="zh-CN" sz="1800" dirty="0"/>
              <a:t>调制是通过微处理器不断</a:t>
            </a:r>
            <a:r>
              <a:rPr lang="zh-CN" altLang="zh-CN" sz="1800" dirty="0" smtClean="0"/>
              <a:t>改变</a:t>
            </a:r>
            <a:r>
              <a:rPr lang="en-US" altLang="zh-CN" sz="1800" dirty="0" smtClean="0"/>
              <a:t>DDS</a:t>
            </a:r>
            <a:r>
              <a:rPr lang="zh-CN" altLang="en-US" sz="1800" dirty="0" smtClean="0"/>
              <a:t>的</a:t>
            </a:r>
            <a:r>
              <a:rPr lang="zh-CN" altLang="zh-CN" sz="1800" dirty="0" smtClean="0"/>
              <a:t>相位</a:t>
            </a:r>
            <a:r>
              <a:rPr lang="zh-CN" altLang="zh-CN" sz="1800" dirty="0"/>
              <a:t>增量</a:t>
            </a:r>
            <a:r>
              <a:rPr lang="zh-CN" altLang="en-US" sz="1800" dirty="0"/>
              <a:t>（调谐字）完成</a:t>
            </a:r>
            <a:r>
              <a:rPr lang="zh-CN" altLang="zh-CN" sz="1800" dirty="0" smtClean="0"/>
              <a:t>的</a:t>
            </a:r>
            <a:r>
              <a:rPr lang="zh-CN" altLang="en-US" sz="1800" dirty="0" smtClean="0"/>
              <a:t>。频率增量按照调制信号的幅度变化而改变，</a:t>
            </a:r>
            <a:r>
              <a:rPr lang="zh-CN" altLang="zh-CN" sz="1800" dirty="0" smtClean="0"/>
              <a:t>比较</a:t>
            </a:r>
            <a:r>
              <a:rPr lang="zh-CN" altLang="zh-CN" sz="1800" dirty="0"/>
              <a:t>适合于有规律</a:t>
            </a:r>
            <a:r>
              <a:rPr lang="zh-CN" altLang="zh-CN" sz="1800" dirty="0" smtClean="0"/>
              <a:t>的</a:t>
            </a:r>
            <a:r>
              <a:rPr lang="zh-CN" altLang="en-US" sz="1800" dirty="0" smtClean="0"/>
              <a:t>调制</a:t>
            </a:r>
            <a:r>
              <a:rPr lang="zh-CN" altLang="zh-CN" sz="1800" dirty="0" smtClean="0"/>
              <a:t>频率</a:t>
            </a:r>
            <a:r>
              <a:rPr lang="zh-CN" altLang="zh-CN" sz="1800" dirty="0"/>
              <a:t>变化过程，例如</a:t>
            </a:r>
            <a:r>
              <a:rPr lang="zh-CN" altLang="zh-CN" sz="1800" dirty="0" smtClean="0"/>
              <a:t>信号发生器</a:t>
            </a:r>
            <a:endParaRPr lang="en-US" altLang="zh-CN" sz="1800" dirty="0"/>
          </a:p>
          <a:p>
            <a:pPr indent="457200">
              <a:lnSpc>
                <a:spcPct val="150000"/>
              </a:lnSpc>
            </a:pPr>
            <a:r>
              <a:rPr lang="zh-CN" altLang="zh-CN" sz="1800" dirty="0"/>
              <a:t>本题</a:t>
            </a:r>
            <a:r>
              <a:rPr lang="zh-CN" altLang="zh-CN" sz="1800" dirty="0" smtClean="0"/>
              <a:t>的调制</a:t>
            </a:r>
            <a:r>
              <a:rPr lang="zh-CN" altLang="zh-CN" sz="1800" dirty="0"/>
              <a:t>信号为语音</a:t>
            </a:r>
            <a:r>
              <a:rPr lang="zh-CN" altLang="zh-CN" sz="1800" dirty="0" smtClean="0"/>
              <a:t>，</a:t>
            </a:r>
            <a:r>
              <a:rPr lang="en-US" altLang="zh-CN" sz="1800" dirty="0" smtClean="0"/>
              <a:t>FM</a:t>
            </a:r>
            <a:r>
              <a:rPr lang="zh-CN" altLang="en-US" sz="1800" dirty="0" smtClean="0"/>
              <a:t>调制后的信号频率随调制信号的幅度变化，但是语音信号的幅度变化是</a:t>
            </a:r>
            <a:r>
              <a:rPr lang="zh-CN" altLang="zh-CN" sz="1800" dirty="0" smtClean="0"/>
              <a:t>随机</a:t>
            </a:r>
            <a:r>
              <a:rPr lang="zh-CN" altLang="en-US" sz="1800" dirty="0" smtClean="0"/>
              <a:t>的</a:t>
            </a:r>
            <a:r>
              <a:rPr lang="zh-CN" altLang="zh-CN" sz="1800" dirty="0" smtClean="0"/>
              <a:t>，</a:t>
            </a:r>
            <a:r>
              <a:rPr lang="zh-CN" altLang="en-US" sz="1800" dirty="0" smtClean="0"/>
              <a:t>所以</a:t>
            </a:r>
            <a:r>
              <a:rPr lang="zh-CN" altLang="zh-CN" sz="1800" dirty="0" smtClean="0"/>
              <a:t>用</a:t>
            </a:r>
            <a:r>
              <a:rPr lang="en-US" altLang="zh-CN" sz="1800" dirty="0"/>
              <a:t>DDS</a:t>
            </a:r>
            <a:r>
              <a:rPr lang="zh-CN" altLang="zh-CN" sz="1800" dirty="0"/>
              <a:t>产生</a:t>
            </a:r>
            <a:r>
              <a:rPr lang="en-US" altLang="zh-CN" sz="1800" dirty="0"/>
              <a:t>FM</a:t>
            </a:r>
            <a:r>
              <a:rPr lang="zh-CN" altLang="zh-CN" sz="1800" dirty="0"/>
              <a:t>调制时要先用微处理器对输入的语音信号进行</a:t>
            </a:r>
            <a:r>
              <a:rPr lang="en-US" altLang="zh-CN" sz="1800" dirty="0"/>
              <a:t>ADC</a:t>
            </a:r>
            <a:r>
              <a:rPr lang="zh-CN" altLang="zh-CN" sz="1800" dirty="0"/>
              <a:t>采样，然后根据采样结果去改变</a:t>
            </a:r>
            <a:r>
              <a:rPr lang="en-US" altLang="zh-CN" sz="1800" dirty="0"/>
              <a:t>DDS</a:t>
            </a:r>
            <a:r>
              <a:rPr lang="zh-CN" altLang="zh-CN" sz="1800" dirty="0"/>
              <a:t>的相位增量，实际结构比较复杂，并非最佳</a:t>
            </a:r>
            <a:r>
              <a:rPr lang="zh-CN" altLang="zh-CN" sz="1800" dirty="0" smtClean="0"/>
              <a:t>方案</a:t>
            </a:r>
            <a:endParaRPr lang="zh-CN" altLang="zh-CN" sz="1800" dirty="0"/>
          </a:p>
        </p:txBody>
      </p:sp>
      <p:graphicFrame>
        <p:nvGraphicFramePr>
          <p:cNvPr id="9" name="对象 8"/>
          <p:cNvGraphicFramePr>
            <a:graphicFrameLocks noChangeAspect="1"/>
          </p:cNvGraphicFramePr>
          <p:nvPr>
            <p:extLst>
              <p:ext uri="{D42A27DB-BD31-4B8C-83A1-F6EECF244321}">
                <p14:modId xmlns:p14="http://schemas.microsoft.com/office/powerpoint/2010/main" val="3140563101"/>
              </p:ext>
            </p:extLst>
          </p:nvPr>
        </p:nvGraphicFramePr>
        <p:xfrm>
          <a:off x="8999792" y="2024914"/>
          <a:ext cx="1484823" cy="687191"/>
        </p:xfrm>
        <a:graphic>
          <a:graphicData uri="http://schemas.openxmlformats.org/presentationml/2006/ole">
            <mc:AlternateContent xmlns:mc="http://schemas.openxmlformats.org/markup-compatibility/2006">
              <mc:Choice xmlns:v="urn:schemas-microsoft-com:vml" Requires="v">
                <p:oleObj spid="_x0000_s13517" name="Equation" r:id="rId5" imgW="774364" imgH="355446" progId="Equation.DSMT4">
                  <p:embed/>
                </p:oleObj>
              </mc:Choice>
              <mc:Fallback>
                <p:oleObj name="Equation" r:id="rId5" imgW="774364" imgH="355446" progId="Equation.DSMT4">
                  <p:embed/>
                  <p:pic>
                    <p:nvPicPr>
                      <p:cNvPr id="9" name="对象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9792" y="2024914"/>
                        <a:ext cx="1484823" cy="687191"/>
                      </a:xfrm>
                      <a:prstGeom prst="rect">
                        <a:avLst/>
                      </a:prstGeom>
                      <a:noFill/>
                    </p:spPr>
                  </p:pic>
                </p:oleObj>
              </mc:Fallback>
            </mc:AlternateContent>
          </a:graphicData>
        </a:graphic>
      </p:graphicFrame>
      <p:sp>
        <p:nvSpPr>
          <p:cNvPr id="5" name="文本框 4"/>
          <p:cNvSpPr txBox="1"/>
          <p:nvPr/>
        </p:nvSpPr>
        <p:spPr>
          <a:xfrm>
            <a:off x="1163117" y="2052315"/>
            <a:ext cx="541325" cy="400110"/>
          </a:xfrm>
          <a:prstGeom prst="rect">
            <a:avLst/>
          </a:prstGeom>
          <a:noFill/>
        </p:spPr>
        <p:txBody>
          <a:bodyPr wrap="square" rtlCol="0">
            <a:spAutoFit/>
          </a:bodyPr>
          <a:lstStyle/>
          <a:p>
            <a:r>
              <a:rPr lang="en-US" altLang="zh-CN" dirty="0" smtClean="0"/>
              <a:t>TR</a:t>
            </a:r>
            <a:endParaRPr lang="zh-CN" altLang="en-US" dirty="0"/>
          </a:p>
        </p:txBody>
      </p:sp>
      <p:sp>
        <p:nvSpPr>
          <p:cNvPr id="10" name="椭圆 9"/>
          <p:cNvSpPr/>
          <p:nvPr/>
        </p:nvSpPr>
        <p:spPr>
          <a:xfrm>
            <a:off x="1324050" y="2339397"/>
            <a:ext cx="2443277" cy="71532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778055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9</a:t>
            </a:fld>
            <a:endParaRPr lang="en-US" altLang="zh-CN"/>
          </a:p>
        </p:txBody>
      </p:sp>
      <p:sp>
        <p:nvSpPr>
          <p:cNvPr id="2" name="文本框 1"/>
          <p:cNvSpPr txBox="1"/>
          <p:nvPr/>
        </p:nvSpPr>
        <p:spPr>
          <a:xfrm>
            <a:off x="387706" y="607273"/>
            <a:ext cx="11433879" cy="42473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zh-CN" sz="1800" dirty="0" smtClean="0"/>
              <a:t>压</a:t>
            </a:r>
            <a:r>
              <a:rPr lang="zh-CN" altLang="zh-CN" sz="1800" dirty="0"/>
              <a:t>控晶体振荡器（</a:t>
            </a:r>
            <a:r>
              <a:rPr lang="en-US" altLang="zh-CN" sz="1800" dirty="0"/>
              <a:t>VCXO</a:t>
            </a:r>
            <a:r>
              <a:rPr lang="zh-CN" altLang="zh-CN" sz="1800" dirty="0"/>
              <a:t>）直接</a:t>
            </a:r>
            <a:r>
              <a:rPr lang="zh-CN" altLang="zh-CN" sz="1800" dirty="0" smtClean="0"/>
              <a:t>调频</a:t>
            </a:r>
            <a:endParaRPr lang="zh-CN" altLang="zh-CN" sz="1800" dirty="0"/>
          </a:p>
          <a:p>
            <a:pPr indent="457200">
              <a:lnSpc>
                <a:spcPct val="150000"/>
              </a:lnSpc>
            </a:pPr>
            <a:r>
              <a:rPr lang="en-US" altLang="zh-CN" sz="1800" dirty="0"/>
              <a:t>VCXO</a:t>
            </a:r>
            <a:r>
              <a:rPr lang="zh-CN" altLang="zh-CN" sz="1800" dirty="0"/>
              <a:t>是一种商品级的器件，它通过变容二极管改变石英晶体振荡器的振荡频率，因此频率精度和稳定度极好。</a:t>
            </a:r>
            <a:r>
              <a:rPr lang="en-US" altLang="zh-CN" sz="1800" dirty="0"/>
              <a:t>VCXO</a:t>
            </a:r>
            <a:r>
              <a:rPr lang="zh-CN" altLang="zh-CN" sz="1800" dirty="0"/>
              <a:t>的主要问题是相对频偏很小，通常只有</a:t>
            </a:r>
            <a:r>
              <a:rPr lang="en-US" altLang="zh-CN" sz="1800" dirty="0"/>
              <a:t>±100ppm~±200ppm</a:t>
            </a:r>
            <a:r>
              <a:rPr lang="zh-CN" altLang="zh-CN" sz="1800" dirty="0"/>
              <a:t>。用</a:t>
            </a:r>
            <a:r>
              <a:rPr lang="en-US" altLang="zh-CN" sz="1800" dirty="0"/>
              <a:t>VCXO</a:t>
            </a:r>
            <a:r>
              <a:rPr lang="zh-CN" altLang="zh-CN" sz="1800" dirty="0"/>
              <a:t>实现调频应该将</a:t>
            </a:r>
            <a:r>
              <a:rPr lang="en-US" altLang="zh-CN" sz="1800" dirty="0"/>
              <a:t>VCXO</a:t>
            </a:r>
            <a:r>
              <a:rPr lang="zh-CN" altLang="zh-CN" sz="1800" dirty="0"/>
              <a:t>的最大频偏控制在其允许的范围</a:t>
            </a:r>
            <a:r>
              <a:rPr lang="zh-CN" altLang="zh-CN" sz="1800" dirty="0" smtClean="0"/>
              <a:t>之内。</a:t>
            </a:r>
            <a:endParaRPr lang="zh-CN" altLang="zh-CN" sz="1800" dirty="0"/>
          </a:p>
          <a:p>
            <a:pPr indent="457200">
              <a:lnSpc>
                <a:spcPct val="150000"/>
              </a:lnSpc>
            </a:pPr>
            <a:r>
              <a:rPr lang="zh-CN" altLang="zh-CN" sz="1800" dirty="0"/>
              <a:t>本题要求的载频为</a:t>
            </a:r>
            <a:r>
              <a:rPr lang="en-US" altLang="zh-CN" sz="1800" dirty="0"/>
              <a:t>48.5MHz</a:t>
            </a:r>
            <a:r>
              <a:rPr lang="zh-CN" altLang="zh-CN" sz="1800" dirty="0"/>
              <a:t>，最大频偏为</a:t>
            </a:r>
            <a:r>
              <a:rPr lang="en-US" altLang="zh-CN" sz="1800" dirty="0">
                <a:latin typeface="Arial" panose="020B0604020202020204" pitchFamily="34" charset="0"/>
                <a:cs typeface="Arial" panose="020B0604020202020204" pitchFamily="34" charset="0"/>
              </a:rPr>
              <a:t>±</a:t>
            </a:r>
            <a:r>
              <a:rPr lang="en-US" altLang="zh-CN" sz="1800" dirty="0"/>
              <a:t>25kHz</a:t>
            </a:r>
            <a:r>
              <a:rPr lang="en-US" altLang="zh-CN" sz="1800" dirty="0">
                <a:latin typeface="Arial" panose="020B0604020202020204" pitchFamily="34" charset="0"/>
                <a:cs typeface="Arial" panose="020B0604020202020204" pitchFamily="34" charset="0"/>
              </a:rPr>
              <a:t>±</a:t>
            </a:r>
            <a:r>
              <a:rPr lang="en-US" altLang="zh-CN" sz="1800" dirty="0"/>
              <a:t>150kHz</a:t>
            </a:r>
            <a:r>
              <a:rPr lang="zh-CN" altLang="zh-CN" sz="1800" dirty="0"/>
              <a:t>（其中</a:t>
            </a:r>
            <a:r>
              <a:rPr lang="en-US" altLang="zh-CN" sz="1800" dirty="0"/>
              <a:t>25kHz</a:t>
            </a:r>
            <a:r>
              <a:rPr lang="zh-CN" altLang="zh-CN" sz="1800" dirty="0"/>
              <a:t>是调制信号的最大频偏，</a:t>
            </a:r>
            <a:r>
              <a:rPr lang="en-US" altLang="zh-CN" sz="1800" dirty="0"/>
              <a:t>150kHz</a:t>
            </a:r>
            <a:r>
              <a:rPr lang="zh-CN" altLang="zh-CN" sz="1800" dirty="0"/>
              <a:t>是准直流漂移的最大频偏），相对频偏大约是</a:t>
            </a:r>
            <a:r>
              <a:rPr lang="en-US" altLang="zh-CN" sz="1800" dirty="0"/>
              <a:t>3600ppm</a:t>
            </a:r>
            <a:r>
              <a:rPr lang="zh-CN" altLang="zh-CN" sz="1800" dirty="0"/>
              <a:t>，远大于</a:t>
            </a:r>
            <a:r>
              <a:rPr lang="en-US" altLang="zh-CN" sz="1800" dirty="0"/>
              <a:t>VCXO</a:t>
            </a:r>
            <a:r>
              <a:rPr lang="zh-CN" altLang="zh-CN" sz="1800" dirty="0"/>
              <a:t>的允许</a:t>
            </a:r>
            <a:r>
              <a:rPr lang="zh-CN" altLang="zh-CN" sz="1800" dirty="0" smtClean="0"/>
              <a:t>频偏</a:t>
            </a:r>
            <a:r>
              <a:rPr lang="zh-CN" altLang="en-US" sz="1800" dirty="0" smtClean="0"/>
              <a:t>。</a:t>
            </a:r>
            <a:endParaRPr lang="en-US" altLang="zh-CN" sz="1800" dirty="0" smtClean="0"/>
          </a:p>
          <a:p>
            <a:pPr indent="457200">
              <a:lnSpc>
                <a:spcPct val="150000"/>
              </a:lnSpc>
            </a:pPr>
            <a:r>
              <a:rPr lang="zh-CN" altLang="en-US" sz="1800" dirty="0" smtClean="0"/>
              <a:t>可以采用</a:t>
            </a:r>
            <a:r>
              <a:rPr lang="zh-CN" altLang="en-US" sz="1800" dirty="0"/>
              <a:t>倍频</a:t>
            </a:r>
            <a:r>
              <a:rPr lang="en-US" altLang="zh-CN" sz="1800" dirty="0"/>
              <a:t>-</a:t>
            </a:r>
            <a:r>
              <a:rPr lang="zh-CN" altLang="en-US" sz="1800" dirty="0"/>
              <a:t>降频的</a:t>
            </a:r>
            <a:r>
              <a:rPr lang="zh-CN" altLang="en-US" sz="1800" dirty="0" smtClean="0"/>
              <a:t>组合</a:t>
            </a:r>
            <a:r>
              <a:rPr lang="zh-CN" altLang="zh-CN" sz="1800" dirty="0"/>
              <a:t>扩大频偏</a:t>
            </a:r>
            <a:r>
              <a:rPr lang="zh-CN" altLang="en-US" sz="1800" dirty="0" smtClean="0"/>
              <a:t>，</a:t>
            </a:r>
            <a:r>
              <a:rPr lang="zh-CN" altLang="en-US" sz="1800" dirty="0"/>
              <a:t>原理如下：</a:t>
            </a:r>
            <a:endParaRPr lang="en-US" altLang="zh-CN" sz="1800" dirty="0"/>
          </a:p>
          <a:p>
            <a:pPr indent="457200">
              <a:lnSpc>
                <a:spcPct val="150000"/>
              </a:lnSpc>
            </a:pPr>
            <a:r>
              <a:rPr lang="zh-CN" altLang="en-US" sz="1800" dirty="0"/>
              <a:t>一个</a:t>
            </a:r>
            <a:r>
              <a:rPr lang="en-US" altLang="zh-CN" sz="1800" dirty="0"/>
              <a:t>FM</a:t>
            </a:r>
            <a:r>
              <a:rPr lang="zh-CN" altLang="en-US" sz="1800" dirty="0"/>
              <a:t>信号经过倍频，其中心频率与最大频偏均成倍加大，此时若用混频器对它做降频处理，则其中心频率被降低但是最大频偏不变，所以经此处理后可以扩大</a:t>
            </a:r>
            <a:r>
              <a:rPr lang="en-US" altLang="zh-CN" sz="1800" dirty="0"/>
              <a:t>FM</a:t>
            </a:r>
            <a:r>
              <a:rPr lang="zh-CN" altLang="en-US" sz="1800" dirty="0"/>
              <a:t>信号的最大频偏</a:t>
            </a:r>
            <a:r>
              <a:rPr lang="zh-CN" altLang="en-US" sz="1800" dirty="0" smtClean="0"/>
              <a:t>。</a:t>
            </a:r>
            <a:endParaRPr lang="en-US" altLang="zh-CN" sz="1800" dirty="0" smtClean="0"/>
          </a:p>
          <a:p>
            <a:pPr indent="457200">
              <a:lnSpc>
                <a:spcPct val="150000"/>
              </a:lnSpc>
            </a:pPr>
            <a:r>
              <a:rPr lang="zh-CN" altLang="en-US" sz="1800" dirty="0" smtClean="0"/>
              <a:t>为了保证最后输出信号的频率准确，所有参与混频的信号都必须有与</a:t>
            </a:r>
            <a:r>
              <a:rPr lang="en-US" altLang="zh-CN" sz="1800" dirty="0" smtClean="0"/>
              <a:t>VCXO</a:t>
            </a:r>
            <a:r>
              <a:rPr lang="zh-CN" altLang="en-US" sz="1800" dirty="0" smtClean="0"/>
              <a:t>相同的精确度。</a:t>
            </a:r>
            <a:endParaRPr lang="en-US" altLang="zh-CN" sz="1800" dirty="0"/>
          </a:p>
        </p:txBody>
      </p:sp>
    </p:spTree>
    <p:extLst>
      <p:ext uri="{BB962C8B-B14F-4D97-AF65-F5344CB8AC3E}">
        <p14:creationId xmlns:p14="http://schemas.microsoft.com/office/powerpoint/2010/main" val="40901185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10</a:t>
            </a:fld>
            <a:endParaRPr lang="en-US" altLang="zh-CN"/>
          </a:p>
        </p:txBody>
      </p:sp>
      <p:sp>
        <p:nvSpPr>
          <p:cNvPr id="2" name="文本框 1"/>
          <p:cNvSpPr txBox="1"/>
          <p:nvPr/>
        </p:nvSpPr>
        <p:spPr>
          <a:xfrm>
            <a:off x="409651" y="495591"/>
            <a:ext cx="11411933" cy="5493812"/>
          </a:xfrm>
          <a:prstGeom prst="rect">
            <a:avLst/>
          </a:prstGeom>
          <a:noFill/>
        </p:spPr>
        <p:txBody>
          <a:bodyPr wrap="square" rtlCol="0">
            <a:spAutoFit/>
          </a:bodyPr>
          <a:lstStyle/>
          <a:p>
            <a:pPr indent="457200">
              <a:lnSpc>
                <a:spcPct val="150000"/>
              </a:lnSpc>
            </a:pPr>
            <a:r>
              <a:rPr lang="zh-CN" altLang="en-US" sz="1800" dirty="0"/>
              <a:t>以本题为例</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zh-CN" sz="1800" dirty="0"/>
              <a:t>先对一个</a:t>
            </a:r>
            <a:r>
              <a:rPr lang="en-US" altLang="zh-CN" sz="1800" dirty="0"/>
              <a:t>50MHz</a:t>
            </a:r>
            <a:r>
              <a:rPr lang="zh-CN" altLang="zh-CN" sz="1800" dirty="0"/>
              <a:t>的</a:t>
            </a:r>
            <a:r>
              <a:rPr lang="en-US" altLang="zh-CN" sz="1800" dirty="0"/>
              <a:t>VCXO</a:t>
            </a:r>
            <a:r>
              <a:rPr lang="zh-CN" altLang="zh-CN" sz="1800" dirty="0"/>
              <a:t>进行调频，控制</a:t>
            </a:r>
            <a:r>
              <a:rPr lang="zh-CN" altLang="en-US" sz="1800" dirty="0"/>
              <a:t>其</a:t>
            </a:r>
            <a:r>
              <a:rPr lang="zh-CN" altLang="zh-CN" sz="1800" dirty="0"/>
              <a:t>最大频偏为</a:t>
            </a:r>
            <a:r>
              <a:rPr lang="en-US" altLang="zh-CN" sz="1800" dirty="0" smtClean="0">
                <a:latin typeface="Arial" panose="020B0604020202020204" pitchFamily="34" charset="0"/>
                <a:cs typeface="Arial" panose="020B0604020202020204" pitchFamily="34" charset="0"/>
              </a:rPr>
              <a:t>±(</a:t>
            </a:r>
            <a:r>
              <a:rPr lang="en-US" altLang="zh-CN" sz="1800" dirty="0" smtClean="0"/>
              <a:t>1kHz+6kHz)</a:t>
            </a:r>
            <a:r>
              <a:rPr lang="zh-CN" altLang="zh-CN" sz="1800" dirty="0" smtClean="0"/>
              <a:t>（</a:t>
            </a:r>
            <a:r>
              <a:rPr lang="zh-CN" altLang="zh-CN" sz="1800" dirty="0"/>
              <a:t>其中</a:t>
            </a:r>
            <a:r>
              <a:rPr lang="en-US" altLang="zh-CN" sz="1800" dirty="0"/>
              <a:t>1kHz</a:t>
            </a:r>
            <a:r>
              <a:rPr lang="zh-CN" altLang="zh-CN" sz="1800" dirty="0"/>
              <a:t>为调制频偏，</a:t>
            </a:r>
            <a:r>
              <a:rPr lang="en-US" altLang="zh-CN" sz="1800" dirty="0"/>
              <a:t>6kHz</a:t>
            </a:r>
            <a:r>
              <a:rPr lang="zh-CN" altLang="zh-CN" sz="1800" dirty="0"/>
              <a:t>为漂移频偏），此时的相对频偏只有</a:t>
            </a:r>
            <a:r>
              <a:rPr lang="en-US" altLang="zh-CN" sz="1800" dirty="0"/>
              <a:t>140ppm</a:t>
            </a:r>
            <a:r>
              <a:rPr lang="zh-CN" altLang="zh-CN" sz="1800" dirty="0"/>
              <a:t>左右，在</a:t>
            </a:r>
            <a:r>
              <a:rPr lang="en-US" altLang="zh-CN" sz="1800" dirty="0"/>
              <a:t>VCXO</a:t>
            </a:r>
            <a:r>
              <a:rPr lang="zh-CN" altLang="zh-CN" sz="1800" dirty="0"/>
              <a:t>的可控频偏范围内。</a:t>
            </a:r>
            <a:endParaRPr lang="en-US" altLang="zh-CN" sz="1800" dirty="0"/>
          </a:p>
          <a:p>
            <a:pPr indent="457200">
              <a:lnSpc>
                <a:spcPct val="150000"/>
              </a:lnSpc>
            </a:pPr>
            <a:r>
              <a:rPr lang="zh-CN" altLang="zh-CN" sz="1800" dirty="0"/>
              <a:t>对此信号</a:t>
            </a:r>
            <a:r>
              <a:rPr lang="en-US" altLang="zh-CN" sz="1800" dirty="0"/>
              <a:t>5</a:t>
            </a:r>
            <a:r>
              <a:rPr lang="zh-CN" altLang="zh-CN" sz="1800" dirty="0"/>
              <a:t>倍频，得到中心频率</a:t>
            </a:r>
            <a:r>
              <a:rPr lang="en-US" altLang="zh-CN" sz="1800" dirty="0"/>
              <a:t>250MHz</a:t>
            </a:r>
            <a:r>
              <a:rPr lang="zh-CN" altLang="zh-CN" sz="1800" dirty="0"/>
              <a:t>、频偏</a:t>
            </a:r>
            <a:r>
              <a:rPr lang="en-US" altLang="zh-CN" sz="1800" dirty="0" smtClean="0">
                <a:latin typeface="Arial" panose="020B0604020202020204" pitchFamily="34" charset="0"/>
                <a:cs typeface="Arial" panose="020B0604020202020204" pitchFamily="34" charset="0"/>
              </a:rPr>
              <a:t>±</a:t>
            </a:r>
            <a:r>
              <a:rPr lang="en-US" altLang="zh-CN" sz="1800" dirty="0">
                <a:latin typeface="Arial" panose="020B0604020202020204" pitchFamily="34" charset="0"/>
                <a:cs typeface="Arial" panose="020B0604020202020204" pitchFamily="34" charset="0"/>
              </a:rPr>
              <a:t>(</a:t>
            </a:r>
            <a:r>
              <a:rPr lang="en-US" altLang="zh-CN" sz="1800" dirty="0" smtClean="0"/>
              <a:t>5kHz</a:t>
            </a:r>
            <a:r>
              <a:rPr lang="en-US" altLang="zh-CN" sz="1800" dirty="0" smtClean="0">
                <a:latin typeface="Arial" panose="020B0604020202020204" pitchFamily="34" charset="0"/>
                <a:cs typeface="Arial" panose="020B0604020202020204" pitchFamily="34" charset="0"/>
              </a:rPr>
              <a:t>+</a:t>
            </a:r>
            <a:r>
              <a:rPr lang="en-US" altLang="zh-CN" sz="1800" dirty="0" smtClean="0"/>
              <a:t>30kHz)</a:t>
            </a:r>
            <a:r>
              <a:rPr lang="zh-CN" altLang="zh-CN" sz="1800" dirty="0" smtClean="0"/>
              <a:t>的</a:t>
            </a:r>
            <a:r>
              <a:rPr lang="en-US" altLang="zh-CN" sz="1800" dirty="0"/>
              <a:t>FM</a:t>
            </a:r>
            <a:r>
              <a:rPr lang="zh-CN" altLang="zh-CN" sz="1800" dirty="0"/>
              <a:t>信号。</a:t>
            </a:r>
            <a:endParaRPr lang="en-US" altLang="zh-CN" sz="1800" dirty="0"/>
          </a:p>
          <a:p>
            <a:pPr indent="457200">
              <a:lnSpc>
                <a:spcPct val="150000"/>
              </a:lnSpc>
            </a:pPr>
            <a:r>
              <a:rPr lang="zh-CN" altLang="zh-CN" sz="1800" dirty="0"/>
              <a:t>再将此</a:t>
            </a:r>
            <a:r>
              <a:rPr lang="en-US" altLang="zh-CN" sz="1800" dirty="0"/>
              <a:t>FM</a:t>
            </a:r>
            <a:r>
              <a:rPr lang="zh-CN" altLang="zh-CN" sz="1800" dirty="0"/>
              <a:t>信号与一个</a:t>
            </a:r>
            <a:r>
              <a:rPr lang="en-US" altLang="zh-CN" sz="1800" dirty="0"/>
              <a:t>200MHz</a:t>
            </a:r>
            <a:r>
              <a:rPr lang="zh-CN" altLang="zh-CN" sz="1800" dirty="0"/>
              <a:t>的信号混频，取其下边频，则其中心频率降到</a:t>
            </a:r>
            <a:r>
              <a:rPr lang="en-US" altLang="zh-CN" sz="1800" dirty="0"/>
              <a:t>50MHz</a:t>
            </a:r>
            <a:r>
              <a:rPr lang="zh-CN" altLang="zh-CN" sz="1800" dirty="0"/>
              <a:t>，但是频偏不变。</a:t>
            </a:r>
          </a:p>
          <a:p>
            <a:pPr indent="457200">
              <a:lnSpc>
                <a:spcPct val="150000"/>
              </a:lnSpc>
            </a:pPr>
            <a:r>
              <a:rPr lang="zh-CN" altLang="zh-CN" sz="1800" dirty="0"/>
              <a:t>重复</a:t>
            </a:r>
            <a:r>
              <a:rPr lang="en-US" altLang="zh-CN" sz="1800" dirty="0"/>
              <a:t>5</a:t>
            </a:r>
            <a:r>
              <a:rPr lang="zh-CN" altLang="zh-CN" sz="1800" dirty="0"/>
              <a:t>倍频，得到中心频率</a:t>
            </a:r>
            <a:r>
              <a:rPr lang="en-US" altLang="zh-CN" sz="1800" dirty="0"/>
              <a:t>250MHz</a:t>
            </a:r>
            <a:r>
              <a:rPr lang="zh-CN" altLang="zh-CN" sz="1800" dirty="0"/>
              <a:t>、频偏</a:t>
            </a:r>
            <a:r>
              <a:rPr lang="en-US" altLang="zh-CN" sz="1800" dirty="0" smtClean="0">
                <a:latin typeface="Arial" panose="020B0604020202020204" pitchFamily="34" charset="0"/>
                <a:cs typeface="Arial" panose="020B0604020202020204" pitchFamily="34" charset="0"/>
              </a:rPr>
              <a:t>±(</a:t>
            </a:r>
            <a:r>
              <a:rPr lang="en-US" altLang="zh-CN" sz="1800" dirty="0" smtClean="0"/>
              <a:t>25kHz+150kHz)</a:t>
            </a:r>
            <a:r>
              <a:rPr lang="zh-CN" altLang="zh-CN" sz="1800" dirty="0" smtClean="0"/>
              <a:t>的</a:t>
            </a:r>
            <a:r>
              <a:rPr lang="en-US" altLang="zh-CN" sz="1800" dirty="0"/>
              <a:t>FM</a:t>
            </a:r>
            <a:r>
              <a:rPr lang="zh-CN" altLang="zh-CN" sz="1800" dirty="0"/>
              <a:t>信号。</a:t>
            </a:r>
            <a:endParaRPr lang="en-US" altLang="zh-CN" sz="1800" dirty="0"/>
          </a:p>
          <a:p>
            <a:pPr indent="457200">
              <a:lnSpc>
                <a:spcPct val="150000"/>
              </a:lnSpc>
            </a:pPr>
            <a:r>
              <a:rPr lang="zh-CN" altLang="en-US" sz="1800" dirty="0"/>
              <a:t>最后将上述信号</a:t>
            </a:r>
            <a:r>
              <a:rPr lang="zh-CN" altLang="zh-CN" sz="1800" dirty="0"/>
              <a:t>与</a:t>
            </a:r>
            <a:r>
              <a:rPr lang="en-US" altLang="zh-CN" sz="1800" dirty="0"/>
              <a:t>201.5MHz</a:t>
            </a:r>
            <a:r>
              <a:rPr lang="zh-CN" altLang="zh-CN" sz="1800" dirty="0"/>
              <a:t>的信号混频</a:t>
            </a:r>
            <a:r>
              <a:rPr lang="zh-CN" altLang="zh-CN" sz="1800" dirty="0" smtClean="0"/>
              <a:t>，</a:t>
            </a:r>
            <a:r>
              <a:rPr lang="zh-CN" altLang="en-US" sz="1800" dirty="0" smtClean="0"/>
              <a:t>取下边频，</a:t>
            </a:r>
            <a:r>
              <a:rPr lang="zh-CN" altLang="zh-CN" sz="1800" dirty="0" smtClean="0"/>
              <a:t>最终</a:t>
            </a:r>
            <a:r>
              <a:rPr lang="zh-CN" altLang="en-US" sz="1800" dirty="0"/>
              <a:t>可以</a:t>
            </a:r>
            <a:r>
              <a:rPr lang="zh-CN" altLang="zh-CN" sz="1800" dirty="0"/>
              <a:t>得到题目要求的中心频率</a:t>
            </a:r>
            <a:r>
              <a:rPr lang="en-US" altLang="zh-CN" sz="1800" dirty="0"/>
              <a:t>48.5MHz</a:t>
            </a:r>
            <a:r>
              <a:rPr lang="zh-CN" altLang="zh-CN" sz="1800" dirty="0"/>
              <a:t>、频偏</a:t>
            </a:r>
            <a:r>
              <a:rPr lang="en-US" altLang="zh-CN" sz="1800" dirty="0" smtClean="0">
                <a:latin typeface="Arial" panose="020B0604020202020204" pitchFamily="34" charset="0"/>
                <a:cs typeface="Arial" panose="020B0604020202020204" pitchFamily="34" charset="0"/>
              </a:rPr>
              <a:t>±(2</a:t>
            </a:r>
            <a:r>
              <a:rPr lang="en-US" altLang="zh-CN" sz="1800" dirty="0" smtClean="0"/>
              <a:t>5kHz+150kHz)</a:t>
            </a:r>
            <a:r>
              <a:rPr lang="zh-CN" altLang="zh-CN" sz="1800" dirty="0" smtClean="0"/>
              <a:t>的</a:t>
            </a:r>
            <a:r>
              <a:rPr lang="en-US" altLang="zh-CN" sz="1800" dirty="0"/>
              <a:t>FM</a:t>
            </a:r>
            <a:r>
              <a:rPr lang="zh-CN" altLang="zh-CN" sz="1800" dirty="0"/>
              <a:t>信号。</a:t>
            </a:r>
            <a:endParaRPr lang="en-US" altLang="zh-CN" sz="1800" dirty="0"/>
          </a:p>
        </p:txBody>
      </p:sp>
      <p:pic>
        <p:nvPicPr>
          <p:cNvPr id="4" name="图片 3"/>
          <p:cNvPicPr>
            <a:picLocks noChangeAspect="1"/>
          </p:cNvPicPr>
          <p:nvPr/>
        </p:nvPicPr>
        <p:blipFill>
          <a:blip r:embed="rId2"/>
          <a:stretch>
            <a:fillRect/>
          </a:stretch>
        </p:blipFill>
        <p:spPr>
          <a:xfrm>
            <a:off x="1417237" y="1072870"/>
            <a:ext cx="9027226" cy="1750796"/>
          </a:xfrm>
          <a:prstGeom prst="rect">
            <a:avLst/>
          </a:prstGeom>
        </p:spPr>
      </p:pic>
    </p:spTree>
    <p:extLst>
      <p:ext uri="{BB962C8B-B14F-4D97-AF65-F5344CB8AC3E}">
        <p14:creationId xmlns:p14="http://schemas.microsoft.com/office/powerpoint/2010/main" val="31790930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5" name="矩形 4"/>
          <p:cNvSpPr/>
          <p:nvPr/>
        </p:nvSpPr>
        <p:spPr>
          <a:xfrm>
            <a:off x="395021" y="577328"/>
            <a:ext cx="11426564" cy="2169825"/>
          </a:xfrm>
          <a:prstGeom prst="rect">
            <a:avLst/>
          </a:prstGeom>
        </p:spPr>
        <p:txBody>
          <a:bodyPr wrap="square">
            <a:spAutoFit/>
          </a:bodyPr>
          <a:lstStyle/>
          <a:p>
            <a:pPr indent="457200">
              <a:lnSpc>
                <a:spcPct val="150000"/>
              </a:lnSpc>
            </a:pPr>
            <a:r>
              <a:rPr lang="en-US" altLang="zh-CN" sz="1800" dirty="0"/>
              <a:t>VCXO</a:t>
            </a:r>
            <a:r>
              <a:rPr lang="zh-CN" altLang="zh-CN" sz="1800" dirty="0"/>
              <a:t>直接调频</a:t>
            </a:r>
            <a:r>
              <a:rPr lang="zh-CN" altLang="en-US" sz="1800" dirty="0"/>
              <a:t>的特点是其</a:t>
            </a:r>
            <a:r>
              <a:rPr lang="zh-CN" altLang="en-US" sz="1800" dirty="0">
                <a:solidFill>
                  <a:srgbClr val="FF0000"/>
                </a:solidFill>
              </a:rPr>
              <a:t>频率十分稳定，噪声低</a:t>
            </a:r>
            <a:r>
              <a:rPr lang="zh-CN" altLang="en-US" sz="1800" dirty="0"/>
              <a:t>，适用于</a:t>
            </a:r>
            <a:r>
              <a:rPr lang="zh-CN" altLang="zh-CN" sz="1800" dirty="0"/>
              <a:t>相对频偏较小的</a:t>
            </a:r>
            <a:r>
              <a:rPr lang="en-US" altLang="zh-CN" sz="1800" dirty="0"/>
              <a:t>FM</a:t>
            </a:r>
            <a:r>
              <a:rPr lang="zh-CN" altLang="zh-CN" sz="1800" dirty="0" smtClean="0"/>
              <a:t>调制</a:t>
            </a:r>
            <a:r>
              <a:rPr lang="zh-CN" altLang="en-US" sz="1800" dirty="0"/>
              <a:t>（</a:t>
            </a:r>
            <a:r>
              <a:rPr lang="zh-CN" altLang="en-US" sz="1800" dirty="0" smtClean="0"/>
              <a:t>例如</a:t>
            </a:r>
            <a:r>
              <a:rPr lang="zh-CN" altLang="zh-CN" sz="1800" dirty="0" smtClean="0"/>
              <a:t>数字信号</a:t>
            </a:r>
            <a:r>
              <a:rPr lang="zh-CN" altLang="zh-CN" sz="1800" dirty="0"/>
              <a:t>的</a:t>
            </a:r>
            <a:r>
              <a:rPr lang="zh-CN" altLang="zh-CN" sz="1800" dirty="0" smtClean="0"/>
              <a:t>调制</a:t>
            </a:r>
            <a:r>
              <a:rPr lang="en-US" altLang="zh-CN" sz="1800" dirty="0" smtClean="0"/>
              <a:t>FSK</a:t>
            </a:r>
            <a:r>
              <a:rPr lang="zh-CN" altLang="zh-CN" sz="1800" dirty="0" smtClean="0"/>
              <a:t>）。</a:t>
            </a:r>
            <a:endParaRPr lang="en-US" altLang="zh-CN" sz="1800" dirty="0"/>
          </a:p>
          <a:p>
            <a:pPr indent="457200">
              <a:lnSpc>
                <a:spcPct val="150000"/>
              </a:lnSpc>
            </a:pPr>
            <a:r>
              <a:rPr lang="zh-CN" altLang="zh-CN" sz="1800" dirty="0"/>
              <a:t>但是对于相对频偏较大的</a:t>
            </a:r>
            <a:r>
              <a:rPr lang="en-US" altLang="zh-CN" sz="1800" dirty="0"/>
              <a:t>FM</a:t>
            </a:r>
            <a:r>
              <a:rPr lang="zh-CN" altLang="zh-CN" sz="1800" dirty="0"/>
              <a:t>信号，可能要反复多次倍频</a:t>
            </a:r>
            <a:r>
              <a:rPr lang="en-US" altLang="zh-CN" sz="1800" dirty="0"/>
              <a:t>-</a:t>
            </a:r>
            <a:r>
              <a:rPr lang="zh-CN" altLang="zh-CN" sz="1800" dirty="0"/>
              <a:t>混频的过程，电路变得比较繁复。对于本题来说，由于要模拟载频漂移导致相对频偏较大，所以</a:t>
            </a:r>
            <a:r>
              <a:rPr lang="zh-CN" altLang="en-US" sz="1800" dirty="0"/>
              <a:t>电路有点</a:t>
            </a:r>
            <a:r>
              <a:rPr lang="zh-CN" altLang="en-US" sz="1800" dirty="0" smtClean="0"/>
              <a:t>繁复。其实</a:t>
            </a:r>
            <a:r>
              <a:rPr lang="zh-CN" altLang="en-US" sz="1800" dirty="0"/>
              <a:t>如果不要模拟载频漂移，</a:t>
            </a:r>
            <a:r>
              <a:rPr lang="zh-CN" altLang="en-US" sz="1800" dirty="0" smtClean="0"/>
              <a:t>则本题的最大</a:t>
            </a:r>
            <a:r>
              <a:rPr lang="zh-CN" altLang="en-US" sz="1800" dirty="0"/>
              <a:t>频偏只有</a:t>
            </a:r>
            <a:r>
              <a:rPr lang="en-US" altLang="zh-CN" sz="1800" dirty="0" smtClean="0"/>
              <a:t>25kHz</a:t>
            </a:r>
            <a:r>
              <a:rPr lang="zh-CN" altLang="en-US" sz="1800" dirty="0"/>
              <a:t>，只要一次</a:t>
            </a:r>
            <a:r>
              <a:rPr lang="zh-CN" altLang="en-US" sz="1800" dirty="0" smtClean="0"/>
              <a:t>倍频与一</a:t>
            </a:r>
            <a:r>
              <a:rPr lang="zh-CN" altLang="en-US" sz="1800" dirty="0"/>
              <a:t>次混频，就可以得到需要的</a:t>
            </a:r>
            <a:r>
              <a:rPr lang="en-US" altLang="zh-CN" sz="1800" dirty="0"/>
              <a:t>FM</a:t>
            </a:r>
            <a:r>
              <a:rPr lang="zh-CN" altLang="en-US" sz="1800" dirty="0"/>
              <a:t>信号，还是比较简单</a:t>
            </a:r>
            <a:r>
              <a:rPr lang="zh-CN" altLang="en-US" sz="1800" dirty="0" smtClean="0"/>
              <a:t>的。</a:t>
            </a:r>
            <a:endParaRPr lang="zh-CN" altLang="zh-CN" sz="1800" dirty="0"/>
          </a:p>
        </p:txBody>
      </p:sp>
    </p:spTree>
    <p:extLst>
      <p:ext uri="{BB962C8B-B14F-4D97-AF65-F5344CB8AC3E}">
        <p14:creationId xmlns:p14="http://schemas.microsoft.com/office/powerpoint/2010/main" val="20380081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2311603" y="2070063"/>
            <a:ext cx="8534744" cy="1427866"/>
          </a:xfrm>
          <a:prstGeom prst="rect">
            <a:avLst/>
          </a:prstGeom>
        </p:spPr>
      </p:pic>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12</a:t>
            </a:fld>
            <a:endParaRPr lang="en-US" altLang="zh-CN"/>
          </a:p>
        </p:txBody>
      </p:sp>
      <p:sp>
        <p:nvSpPr>
          <p:cNvPr id="8" name="文本框 7"/>
          <p:cNvSpPr txBox="1"/>
          <p:nvPr/>
        </p:nvSpPr>
        <p:spPr>
          <a:xfrm>
            <a:off x="395021" y="521548"/>
            <a:ext cx="11426564" cy="401648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zh-CN" sz="1800" dirty="0" smtClean="0"/>
              <a:t>锁相环</a:t>
            </a:r>
            <a:r>
              <a:rPr lang="zh-CN" altLang="en-US" sz="1800" dirty="0" smtClean="0"/>
              <a:t>构成的频率合成器</a:t>
            </a:r>
            <a:endParaRPr lang="zh-CN" altLang="zh-CN" sz="1800" dirty="0"/>
          </a:p>
          <a:p>
            <a:pPr lvl="1">
              <a:lnSpc>
                <a:spcPct val="150000"/>
              </a:lnSpc>
            </a:pPr>
            <a:r>
              <a:rPr lang="zh-CN" altLang="zh-CN" sz="1800" dirty="0" smtClean="0"/>
              <a:t>基本结构</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400" dirty="0" smtClean="0"/>
          </a:p>
          <a:p>
            <a:pPr indent="457200">
              <a:lnSpc>
                <a:spcPct val="150000"/>
              </a:lnSpc>
            </a:pPr>
            <a:endParaRPr lang="en-US" altLang="zh-CN" sz="1600" dirty="0" smtClean="0"/>
          </a:p>
          <a:p>
            <a:pPr indent="457200">
              <a:lnSpc>
                <a:spcPct val="150000"/>
              </a:lnSpc>
            </a:pPr>
            <a:endParaRPr lang="en-US" altLang="zh-CN" sz="1600" dirty="0"/>
          </a:p>
          <a:p>
            <a:pPr indent="457200">
              <a:lnSpc>
                <a:spcPct val="150000"/>
              </a:lnSpc>
            </a:pPr>
            <a:endParaRPr lang="en-US" altLang="zh-CN" sz="1600" dirty="0"/>
          </a:p>
          <a:p>
            <a:pPr lvl="1">
              <a:lnSpc>
                <a:spcPct val="150000"/>
              </a:lnSpc>
            </a:pPr>
            <a:r>
              <a:rPr lang="zh-CN" altLang="en-US" sz="1800" dirty="0" smtClean="0"/>
              <a:t>基本工作原理</a:t>
            </a:r>
            <a:endParaRPr lang="en-US" altLang="zh-CN" sz="1800" dirty="0"/>
          </a:p>
          <a:p>
            <a:pPr lvl="1" indent="457200">
              <a:lnSpc>
                <a:spcPct val="150000"/>
              </a:lnSpc>
            </a:pPr>
            <a:r>
              <a:rPr lang="zh-CN" altLang="en-US" sz="1800" dirty="0" smtClean="0"/>
              <a:t>锁相环锁定后，鉴相器的两个输入信号允许存在固定的相位差，但是频率一定相同，因此有：</a:t>
            </a:r>
            <a:endParaRPr lang="zh-CN" altLang="en-US" sz="1800" dirty="0"/>
          </a:p>
        </p:txBody>
      </p:sp>
      <p:sp>
        <p:nvSpPr>
          <p:cNvPr id="4" name="椭圆 3"/>
          <p:cNvSpPr/>
          <p:nvPr/>
        </p:nvSpPr>
        <p:spPr>
          <a:xfrm>
            <a:off x="2145166" y="1880006"/>
            <a:ext cx="2617029" cy="8778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726387" y="1704442"/>
            <a:ext cx="1302106" cy="369332"/>
          </a:xfrm>
          <a:prstGeom prst="rect">
            <a:avLst/>
          </a:prstGeom>
          <a:noFill/>
        </p:spPr>
        <p:txBody>
          <a:bodyPr wrap="square" rtlCol="0">
            <a:spAutoFit/>
          </a:bodyPr>
          <a:lstStyle/>
          <a:p>
            <a:r>
              <a:rPr lang="zh-CN" altLang="en-US" sz="1800" dirty="0" smtClean="0">
                <a:solidFill>
                  <a:srgbClr val="FF0000"/>
                </a:solidFill>
              </a:rPr>
              <a:t>参考信号</a:t>
            </a:r>
            <a:endParaRPr lang="zh-CN" altLang="en-US" sz="1800" dirty="0">
              <a:solidFill>
                <a:srgbClr val="FF0000"/>
              </a:solidFill>
            </a:endParaRPr>
          </a:p>
        </p:txBody>
      </p:sp>
      <p:sp>
        <p:nvSpPr>
          <p:cNvPr id="7" name="文本框 6"/>
          <p:cNvSpPr txBox="1"/>
          <p:nvPr/>
        </p:nvSpPr>
        <p:spPr>
          <a:xfrm>
            <a:off x="1280160" y="4559758"/>
            <a:ext cx="7377435"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sz="1800" dirty="0" smtClean="0">
                <a:solidFill>
                  <a:srgbClr val="FF0000"/>
                </a:solidFill>
              </a:rPr>
              <a:t>输出信号频率 </a:t>
            </a:r>
            <a:r>
              <a:rPr lang="en-US" altLang="zh-CN" sz="1800" dirty="0" smtClean="0">
                <a:solidFill>
                  <a:srgbClr val="FF0000"/>
                </a:solidFill>
              </a:rPr>
              <a:t>= </a:t>
            </a:r>
            <a:r>
              <a:rPr lang="zh-CN" altLang="en-US" sz="1800" dirty="0" smtClean="0">
                <a:solidFill>
                  <a:srgbClr val="FF0000"/>
                </a:solidFill>
              </a:rPr>
              <a:t>参考信号晶体振荡器频率</a:t>
            </a:r>
            <a:r>
              <a:rPr lang="en-US" altLang="zh-CN" sz="1800" dirty="0" smtClean="0">
                <a:solidFill>
                  <a:srgbClr val="FF0000"/>
                </a:solidFill>
              </a:rPr>
              <a:t>÷R×N</a:t>
            </a:r>
            <a:endParaRPr lang="zh-CN" altLang="en-US" sz="1800" dirty="0">
              <a:solidFill>
                <a:srgbClr val="FF0000"/>
              </a:solidFill>
            </a:endParaRPr>
          </a:p>
        </p:txBody>
      </p:sp>
    </p:spTree>
    <p:extLst>
      <p:ext uri="{BB962C8B-B14F-4D97-AF65-F5344CB8AC3E}">
        <p14:creationId xmlns:p14="http://schemas.microsoft.com/office/powerpoint/2010/main" val="17823763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p:sp>
        <p:nvSpPr>
          <p:cNvPr id="5" name="文本框 4"/>
          <p:cNvSpPr txBox="1"/>
          <p:nvPr/>
        </p:nvSpPr>
        <p:spPr>
          <a:xfrm>
            <a:off x="329184" y="636422"/>
            <a:ext cx="11375136" cy="549381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zh-CN" sz="1800" dirty="0" smtClean="0"/>
              <a:t>参考信号</a:t>
            </a:r>
            <a:r>
              <a:rPr lang="en-US" altLang="zh-CN" sz="1800" dirty="0" smtClean="0"/>
              <a:t> </a:t>
            </a:r>
            <a:r>
              <a:rPr lang="en-US" altLang="zh-CN" sz="1800" i="1" dirty="0" err="1" smtClean="0"/>
              <a:t>f</a:t>
            </a:r>
            <a:r>
              <a:rPr lang="en-US" altLang="zh-CN" sz="1800" i="1" baseline="-25000" dirty="0" err="1" smtClean="0"/>
              <a:t>r</a:t>
            </a:r>
            <a:r>
              <a:rPr lang="en-US" altLang="zh-CN" sz="1800" i="1" baseline="-25000" dirty="0" smtClean="0"/>
              <a:t> </a:t>
            </a:r>
            <a:r>
              <a:rPr lang="zh-CN" altLang="zh-CN" sz="1800" dirty="0" smtClean="0"/>
              <a:t>由</a:t>
            </a:r>
            <a:r>
              <a:rPr lang="zh-CN" altLang="zh-CN" sz="1800" dirty="0"/>
              <a:t>晶振</a:t>
            </a:r>
            <a:r>
              <a:rPr lang="zh-CN" altLang="zh-CN" sz="1800" dirty="0" smtClean="0"/>
              <a:t>产生</a:t>
            </a:r>
            <a:endParaRPr lang="zh-CN" altLang="zh-CN" sz="1800" dirty="0"/>
          </a:p>
          <a:p>
            <a:pPr marL="285750" indent="-285750">
              <a:lnSpc>
                <a:spcPct val="150000"/>
              </a:lnSpc>
              <a:buFont typeface="Arial" panose="020B0604020202020204" pitchFamily="34" charset="0"/>
              <a:buChar char="•"/>
            </a:pPr>
            <a:r>
              <a:rPr lang="zh-CN" altLang="zh-CN" sz="1800" dirty="0"/>
              <a:t>鉴相器采用鉴相</a:t>
            </a:r>
            <a:r>
              <a:rPr lang="en-US" altLang="zh-CN" sz="1800" dirty="0"/>
              <a:t>-</a:t>
            </a:r>
            <a:r>
              <a:rPr lang="zh-CN" altLang="zh-CN" sz="1800" dirty="0"/>
              <a:t>鉴频器（</a:t>
            </a:r>
            <a:r>
              <a:rPr lang="en-US" altLang="zh-CN" sz="1800" dirty="0"/>
              <a:t>PFD</a:t>
            </a:r>
            <a:r>
              <a:rPr lang="zh-CN" altLang="zh-CN" sz="1800" dirty="0"/>
              <a:t>），这种鉴相器具有捕捉时间短、不会误锁在倍频频率等</a:t>
            </a:r>
            <a:r>
              <a:rPr lang="zh-CN" altLang="zh-CN" sz="1800" dirty="0" smtClean="0"/>
              <a:t>优点</a:t>
            </a:r>
            <a:endParaRPr lang="zh-CN" altLang="zh-CN" sz="1800" dirty="0"/>
          </a:p>
          <a:p>
            <a:pPr marL="285750" indent="-285750">
              <a:lnSpc>
                <a:spcPct val="150000"/>
              </a:lnSpc>
              <a:buFont typeface="Arial" panose="020B0604020202020204" pitchFamily="34" charset="0"/>
              <a:buChar char="•"/>
            </a:pPr>
            <a:r>
              <a:rPr lang="zh-CN" altLang="zh-CN" sz="1800" dirty="0"/>
              <a:t>压控振荡器要满足输出频率范围，尤其在输出频率有较大变化范围时这一点尤为</a:t>
            </a:r>
            <a:r>
              <a:rPr lang="zh-CN" altLang="zh-CN" sz="1800" dirty="0" smtClean="0"/>
              <a:t>重要</a:t>
            </a:r>
            <a:endParaRPr lang="zh-CN" altLang="zh-CN" sz="1800" dirty="0"/>
          </a:p>
          <a:p>
            <a:pPr marL="285750" indent="-285750">
              <a:lnSpc>
                <a:spcPct val="150000"/>
              </a:lnSpc>
              <a:buFont typeface="Arial" panose="020B0604020202020204" pitchFamily="34" charset="0"/>
              <a:buChar char="•"/>
            </a:pPr>
            <a:r>
              <a:rPr lang="zh-CN" altLang="zh-CN" sz="1800" dirty="0"/>
              <a:t>频率合成器可以采用二阶锁相环，也可以采用三阶或更高阶锁相环。高阶锁相环可以降低输出信号的相位抖动，但阶数越高系统越</a:t>
            </a:r>
            <a:r>
              <a:rPr lang="zh-CN" altLang="zh-CN" sz="1800" dirty="0" smtClean="0"/>
              <a:t>复杂</a:t>
            </a:r>
            <a:endParaRPr lang="zh-CN" altLang="zh-CN" sz="1800" dirty="0"/>
          </a:p>
          <a:p>
            <a:pPr marL="285750" indent="-285750">
              <a:lnSpc>
                <a:spcPct val="150000"/>
              </a:lnSpc>
              <a:buFont typeface="Arial" panose="020B0604020202020204" pitchFamily="34" charset="0"/>
              <a:buChar char="•"/>
            </a:pPr>
            <a:r>
              <a:rPr lang="zh-CN" altLang="zh-CN" sz="1800" dirty="0"/>
              <a:t>采用二阶锁相环时，通常用闭环传递函数设计，自然频率</a:t>
            </a:r>
            <a:r>
              <a:rPr lang="en-US" altLang="zh-CN" sz="1800" i="1" dirty="0" err="1"/>
              <a:t>ω</a:t>
            </a:r>
            <a:r>
              <a:rPr lang="en-US" altLang="zh-CN" sz="1800" i="1" baseline="-25000" dirty="0" err="1"/>
              <a:t>n</a:t>
            </a:r>
            <a:r>
              <a:rPr lang="zh-CN" altLang="zh-CN" sz="1800" dirty="0"/>
              <a:t>低于输入鉴相器的参考频率一个数量级以上（</a:t>
            </a:r>
            <a:r>
              <a:rPr lang="en-US" altLang="zh-CN" sz="1800" dirty="0"/>
              <a:t>1/10~1/20</a:t>
            </a:r>
            <a:r>
              <a:rPr lang="zh-CN" altLang="zh-CN" sz="1800" dirty="0"/>
              <a:t>），阻尼因子</a:t>
            </a:r>
            <a:r>
              <a:rPr lang="en-US" altLang="zh-CN" sz="1800" i="1" dirty="0"/>
              <a:t>ζ</a:t>
            </a:r>
            <a:r>
              <a:rPr lang="zh-CN" altLang="zh-CN" sz="1800" dirty="0"/>
              <a:t>取</a:t>
            </a:r>
            <a:r>
              <a:rPr lang="en-US" altLang="zh-CN" sz="1800" dirty="0" smtClean="0"/>
              <a:t>0.5~1</a:t>
            </a:r>
            <a:endParaRPr lang="zh-CN" altLang="zh-CN" sz="1800" dirty="0"/>
          </a:p>
          <a:p>
            <a:pPr marL="285750" indent="-285750">
              <a:lnSpc>
                <a:spcPct val="150000"/>
              </a:lnSpc>
              <a:buFont typeface="Arial" panose="020B0604020202020204" pitchFamily="34" charset="0"/>
              <a:buChar char="•"/>
            </a:pPr>
            <a:r>
              <a:rPr lang="zh-CN" altLang="zh-CN" sz="1800" dirty="0"/>
              <a:t>采用三阶锁相环时，可采用开环频率特性设计，取穿越频率</a:t>
            </a:r>
            <a:r>
              <a:rPr lang="en-US" altLang="zh-CN" sz="1800" i="1" dirty="0" err="1"/>
              <a:t>ω</a:t>
            </a:r>
            <a:r>
              <a:rPr lang="en-US" altLang="zh-CN" sz="1800" baseline="-25000" dirty="0" err="1"/>
              <a:t>T</a:t>
            </a:r>
            <a:r>
              <a:rPr lang="zh-CN" altLang="zh-CN" sz="1800" dirty="0"/>
              <a:t>低于输入鉴相器的参考频率一个数量级以上（</a:t>
            </a:r>
            <a:r>
              <a:rPr lang="en-US" altLang="zh-CN" sz="1800" dirty="0"/>
              <a:t>1/10~1/20</a:t>
            </a:r>
            <a:r>
              <a:rPr lang="zh-CN" altLang="zh-CN" sz="1800" dirty="0"/>
              <a:t>），穿越频率两侧斜率为</a:t>
            </a:r>
            <a:r>
              <a:rPr lang="en-US" altLang="zh-CN" sz="1800" dirty="0"/>
              <a:t>-20dB/</a:t>
            </a:r>
            <a:r>
              <a:rPr lang="en-US" altLang="zh-CN" sz="1800" dirty="0" err="1"/>
              <a:t>dec</a:t>
            </a:r>
            <a:r>
              <a:rPr lang="zh-CN" altLang="zh-CN" sz="1800" dirty="0"/>
              <a:t>的区间两端的频率比</a:t>
            </a:r>
            <a:r>
              <a:rPr lang="en-US" altLang="zh-CN" sz="1800" i="1" dirty="0"/>
              <a:t>ω</a:t>
            </a:r>
            <a:r>
              <a:rPr lang="en-US" altLang="zh-CN" sz="1800" baseline="-25000" dirty="0"/>
              <a:t>3</a:t>
            </a:r>
            <a:r>
              <a:rPr lang="en-US" altLang="zh-CN" sz="1800" dirty="0"/>
              <a:t>/</a:t>
            </a:r>
            <a:r>
              <a:rPr lang="en-US" altLang="zh-CN" sz="1800" i="1" dirty="0"/>
              <a:t>ω</a:t>
            </a:r>
            <a:r>
              <a:rPr lang="en-US" altLang="zh-CN" sz="1800" baseline="-25000" dirty="0"/>
              <a:t>2</a:t>
            </a:r>
            <a:r>
              <a:rPr lang="zh-CN" altLang="zh-CN" sz="1800" dirty="0"/>
              <a:t>为</a:t>
            </a:r>
            <a:r>
              <a:rPr lang="en-US" altLang="zh-CN" sz="1800" dirty="0" smtClean="0"/>
              <a:t>4~10</a:t>
            </a:r>
            <a:endParaRPr lang="zh-CN" altLang="zh-CN" sz="1800" dirty="0"/>
          </a:p>
          <a:p>
            <a:pPr marL="285750" indent="-285750">
              <a:lnSpc>
                <a:spcPct val="150000"/>
              </a:lnSpc>
              <a:buFont typeface="Arial" panose="020B0604020202020204" pitchFamily="34" charset="0"/>
              <a:buChar char="•"/>
            </a:pPr>
            <a:r>
              <a:rPr lang="zh-CN" altLang="zh-CN" sz="1800" dirty="0"/>
              <a:t>由于频率合成器中分频系数</a:t>
            </a:r>
            <a:r>
              <a:rPr lang="en-US" altLang="zh-CN" sz="1800" i="1" dirty="0"/>
              <a:t>N</a:t>
            </a:r>
            <a:r>
              <a:rPr lang="zh-CN" altLang="zh-CN" sz="1800" dirty="0"/>
              <a:t>可能有一个较大的变化范围，导致锁相环的开环增益</a:t>
            </a:r>
            <a:r>
              <a:rPr lang="en-US" altLang="zh-CN" sz="1800" i="1" dirty="0"/>
              <a:t>K</a:t>
            </a:r>
            <a:r>
              <a:rPr lang="zh-CN" altLang="zh-CN" sz="1800" dirty="0"/>
              <a:t>有一个较大的变化范围。所以在频率变化范围较大时，无论是闭环传递函数中的</a:t>
            </a:r>
            <a:r>
              <a:rPr lang="en-US" altLang="zh-CN" sz="1800" i="1" dirty="0" err="1"/>
              <a:t>ω</a:t>
            </a:r>
            <a:r>
              <a:rPr lang="en-US" altLang="zh-CN" sz="1800" i="1" baseline="-25000" dirty="0" err="1"/>
              <a:t>n</a:t>
            </a:r>
            <a:r>
              <a:rPr lang="zh-CN" altLang="zh-CN" sz="1800" dirty="0"/>
              <a:t>与</a:t>
            </a:r>
            <a:r>
              <a:rPr lang="en-US" altLang="zh-CN" sz="1800" i="1" dirty="0"/>
              <a:t>ζ</a:t>
            </a:r>
            <a:r>
              <a:rPr lang="zh-CN" altLang="zh-CN" sz="1800" dirty="0"/>
              <a:t>，还是开环传递函数中的</a:t>
            </a:r>
            <a:r>
              <a:rPr lang="en-US" altLang="zh-CN" sz="1800" i="1" dirty="0" err="1"/>
              <a:t>ω</a:t>
            </a:r>
            <a:r>
              <a:rPr lang="en-US" altLang="zh-CN" sz="1800" baseline="-25000" dirty="0" err="1"/>
              <a:t>T</a:t>
            </a:r>
            <a:r>
              <a:rPr lang="zh-CN" altLang="zh-CN" sz="1800" dirty="0"/>
              <a:t>与</a:t>
            </a:r>
            <a:r>
              <a:rPr lang="en-US" altLang="zh-CN" sz="1800" i="1" dirty="0"/>
              <a:t>ω</a:t>
            </a:r>
            <a:r>
              <a:rPr lang="en-US" altLang="zh-CN" sz="1800" baseline="-25000" dirty="0"/>
              <a:t>3</a:t>
            </a:r>
            <a:r>
              <a:rPr lang="en-US" altLang="zh-CN" sz="1800" dirty="0"/>
              <a:t>/</a:t>
            </a:r>
            <a:r>
              <a:rPr lang="en-US" altLang="zh-CN" sz="1800" i="1" dirty="0"/>
              <a:t>ω</a:t>
            </a:r>
            <a:r>
              <a:rPr lang="en-US" altLang="zh-CN" sz="1800" baseline="-25000" dirty="0"/>
              <a:t>2</a:t>
            </a:r>
            <a:r>
              <a:rPr lang="zh-CN" altLang="zh-CN" sz="1800" dirty="0"/>
              <a:t>，都可能有较大的变化范围，必要时应该考察可能出现的最坏</a:t>
            </a:r>
            <a:r>
              <a:rPr lang="zh-CN" altLang="zh-CN" sz="1800" dirty="0" smtClean="0"/>
              <a:t>情况</a:t>
            </a:r>
            <a:endParaRPr lang="en-US" altLang="zh-CN" sz="1800" dirty="0" smtClean="0"/>
          </a:p>
          <a:p>
            <a:pPr marL="285750" indent="-285750">
              <a:lnSpc>
                <a:spcPct val="150000"/>
              </a:lnSpc>
              <a:buFont typeface="Arial" panose="020B0604020202020204" pitchFamily="34" charset="0"/>
              <a:buChar char="•"/>
            </a:pPr>
            <a:r>
              <a:rPr lang="zh-CN" altLang="en-US" sz="1800" dirty="0" smtClean="0"/>
              <a:t>若需要频繁改变输出频率，可能要考察锁定范围与锁定时间</a:t>
            </a:r>
            <a:endParaRPr lang="zh-CN" altLang="en-US" sz="1800" dirty="0"/>
          </a:p>
        </p:txBody>
      </p:sp>
    </p:spTree>
    <p:extLst>
      <p:ext uri="{BB962C8B-B14F-4D97-AF65-F5344CB8AC3E}">
        <p14:creationId xmlns:p14="http://schemas.microsoft.com/office/powerpoint/2010/main" val="35828639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14</a:t>
            </a:fld>
            <a:endParaRPr lang="en-US" altLang="zh-CN">
              <a:solidFill>
                <a:srgbClr val="FFFFFF"/>
              </a:solidFill>
            </a:endParaRPr>
          </a:p>
        </p:txBody>
      </p:sp>
      <p:sp>
        <p:nvSpPr>
          <p:cNvPr id="5" name="矩形 4"/>
          <p:cNvSpPr/>
          <p:nvPr/>
        </p:nvSpPr>
        <p:spPr>
          <a:xfrm>
            <a:off x="429080" y="515006"/>
            <a:ext cx="11194773" cy="4662815"/>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800" dirty="0" smtClean="0"/>
              <a:t>预分频器与双模工作模式</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前面讨论的频率合成器，其频率步进值是</a:t>
            </a:r>
            <a:r>
              <a:rPr lang="zh-CN" altLang="en-US" sz="1800" dirty="0"/>
              <a:t>“晶体振荡器频率</a:t>
            </a:r>
            <a:r>
              <a:rPr lang="en-US" altLang="zh-CN" sz="1800" dirty="0"/>
              <a:t>÷R</a:t>
            </a:r>
            <a:r>
              <a:rPr lang="zh-CN" altLang="en-US" sz="1800" dirty="0"/>
              <a:t>”</a:t>
            </a:r>
          </a:p>
          <a:p>
            <a:pPr marL="742950" lvl="1" indent="-285750">
              <a:lnSpc>
                <a:spcPct val="150000"/>
              </a:lnSpc>
              <a:buFont typeface="Arial" panose="020B0604020202020204" pitchFamily="34" charset="0"/>
              <a:buChar char="•"/>
            </a:pPr>
            <a:r>
              <a:rPr lang="zh-CN" altLang="en-US" sz="1800" dirty="0" smtClean="0"/>
              <a:t>由于芯片工艺的限制，通常</a:t>
            </a:r>
            <a:r>
              <a:rPr lang="en-US" altLang="zh-CN" sz="1800" dirty="0" smtClean="0"/>
              <a:t>CMOS</a:t>
            </a:r>
            <a:r>
              <a:rPr lang="zh-CN" altLang="en-US" sz="1800" dirty="0" smtClean="0"/>
              <a:t>工艺的</a:t>
            </a:r>
            <a:r>
              <a:rPr lang="en-US" altLang="zh-CN" sz="1800" dirty="0" smtClean="0"/>
              <a:t>PLL</a:t>
            </a:r>
            <a:r>
              <a:rPr lang="zh-CN" altLang="en-US" sz="1800" dirty="0" smtClean="0"/>
              <a:t>芯片的频率上限大约在</a:t>
            </a:r>
            <a:r>
              <a:rPr lang="en-US" altLang="zh-CN" sz="1800" dirty="0" smtClean="0"/>
              <a:t>20MHz</a:t>
            </a:r>
            <a:r>
              <a:rPr lang="zh-CN" altLang="en-US" sz="1800" dirty="0" smtClean="0"/>
              <a:t>左右。为了使</a:t>
            </a:r>
            <a:r>
              <a:rPr lang="en-US" altLang="zh-CN" sz="1800" dirty="0" smtClean="0"/>
              <a:t>PLL</a:t>
            </a:r>
            <a:r>
              <a:rPr lang="zh-CN" altLang="en-US" sz="1800" dirty="0" smtClean="0"/>
              <a:t>频率合成器能够在高频工作，通常在其反馈回路中插入预分频器</a:t>
            </a:r>
            <a:r>
              <a:rPr lang="en-US" altLang="zh-CN" sz="1800" dirty="0" smtClean="0"/>
              <a:t>P</a:t>
            </a:r>
            <a:r>
              <a:rPr lang="zh-CN" altLang="en-US" sz="1800" dirty="0" smtClean="0"/>
              <a:t>，将输出信号频率</a:t>
            </a:r>
            <a:r>
              <a:rPr lang="en-US" altLang="zh-CN" sz="1800" dirty="0" smtClean="0"/>
              <a:t>P</a:t>
            </a:r>
            <a:r>
              <a:rPr lang="zh-CN" altLang="en-US" sz="1800" dirty="0" smtClean="0"/>
              <a:t>分频后再送入</a:t>
            </a:r>
            <a:r>
              <a:rPr lang="en-US" altLang="zh-CN" sz="1800" dirty="0" smtClean="0"/>
              <a:t>PLL</a:t>
            </a:r>
            <a:r>
              <a:rPr lang="zh-CN" altLang="en-US" sz="1800" dirty="0" smtClean="0"/>
              <a:t>芯片。在这种情况下，输出频率 </a:t>
            </a:r>
            <a:r>
              <a:rPr lang="en-US" altLang="zh-CN" sz="1800" dirty="0"/>
              <a:t>= </a:t>
            </a:r>
            <a:r>
              <a:rPr lang="zh-CN" altLang="en-US" sz="1800" dirty="0" smtClean="0"/>
              <a:t>晶体振荡器</a:t>
            </a:r>
            <a:r>
              <a:rPr lang="zh-CN" altLang="en-US" sz="1800" dirty="0"/>
              <a:t>频率</a:t>
            </a:r>
            <a:r>
              <a:rPr lang="en-US" altLang="zh-CN" sz="1800" dirty="0"/>
              <a:t>÷</a:t>
            </a:r>
            <a:r>
              <a:rPr lang="en-US" altLang="zh-CN" sz="1800" dirty="0" smtClean="0"/>
              <a:t>R×N×P</a:t>
            </a:r>
            <a:r>
              <a:rPr lang="zh-CN" altLang="en-US" sz="1800" dirty="0" smtClean="0"/>
              <a:t>。通常情况下，频率合成器的频率步进依靠</a:t>
            </a:r>
            <a:r>
              <a:rPr lang="en-US" altLang="zh-CN" sz="1800" dirty="0" smtClean="0"/>
              <a:t>N</a:t>
            </a:r>
            <a:r>
              <a:rPr lang="zh-CN" altLang="en-US" sz="1800" dirty="0" smtClean="0"/>
              <a:t>的改变实现，此时输出频率的步进值为“晶体振荡器</a:t>
            </a:r>
            <a:r>
              <a:rPr lang="zh-CN" altLang="en-US" sz="1800" dirty="0"/>
              <a:t>频率</a:t>
            </a:r>
            <a:r>
              <a:rPr lang="en-US" altLang="zh-CN" sz="1800" dirty="0"/>
              <a:t>÷</a:t>
            </a:r>
            <a:r>
              <a:rPr lang="en-US" altLang="zh-CN" sz="1800" dirty="0" smtClean="0"/>
              <a:t>R</a:t>
            </a:r>
            <a:r>
              <a:rPr lang="en-US" altLang="zh-CN" sz="1800" dirty="0"/>
              <a:t>×P</a:t>
            </a:r>
            <a:r>
              <a:rPr lang="zh-CN" altLang="en-US" sz="1800" dirty="0" smtClean="0"/>
              <a:t>”，可能会比较粗糙</a:t>
            </a:r>
            <a:endParaRPr lang="en-US" altLang="zh-CN" sz="1800" dirty="0" smtClean="0"/>
          </a:p>
          <a:p>
            <a:pPr marL="742950" lvl="1" indent="-285750">
              <a:lnSpc>
                <a:spcPct val="150000"/>
              </a:lnSpc>
              <a:buFont typeface="Arial" panose="020B0604020202020204" pitchFamily="34" charset="0"/>
              <a:buChar char="•"/>
            </a:pPr>
            <a:r>
              <a:rPr lang="zh-CN" altLang="en-US" sz="1800" dirty="0"/>
              <a:t>频率合成器的另一种工作模式是双模工作模式。在这种模式下</a:t>
            </a:r>
            <a:r>
              <a:rPr lang="zh-CN" altLang="en-US" sz="1800" dirty="0" smtClean="0"/>
              <a:t>，预分频器是一个双模分频器，它可以有</a:t>
            </a:r>
            <a:r>
              <a:rPr lang="en-US" altLang="zh-CN" sz="1800" dirty="0" smtClean="0"/>
              <a:t>P</a:t>
            </a:r>
            <a:r>
              <a:rPr lang="zh-CN" altLang="en-US" sz="1800" dirty="0" smtClean="0"/>
              <a:t>与</a:t>
            </a:r>
            <a:r>
              <a:rPr lang="en-US" altLang="zh-CN" sz="1800" dirty="0" smtClean="0"/>
              <a:t>(P+1)</a:t>
            </a:r>
            <a:r>
              <a:rPr lang="zh-CN" altLang="en-US" sz="1800" dirty="0" smtClean="0"/>
              <a:t>两种分频模式。在锁相环芯片中，除了主分频器</a:t>
            </a:r>
            <a:r>
              <a:rPr lang="en-US" altLang="zh-CN" sz="1800" dirty="0" smtClean="0"/>
              <a:t>N</a:t>
            </a:r>
            <a:r>
              <a:rPr lang="zh-CN" altLang="en-US" sz="1800" dirty="0" smtClean="0"/>
              <a:t>外还增加一个可以设置的双模计数器</a:t>
            </a:r>
            <a:r>
              <a:rPr lang="en-US" altLang="zh-CN" sz="1800" dirty="0" smtClean="0"/>
              <a:t>A</a:t>
            </a:r>
            <a:r>
              <a:rPr lang="zh-CN" altLang="en-US" sz="1800" dirty="0" smtClean="0"/>
              <a:t>。其工作过程是：在主分频器的</a:t>
            </a:r>
            <a:r>
              <a:rPr lang="en-US" altLang="zh-CN" sz="1800" dirty="0"/>
              <a:t>N</a:t>
            </a:r>
            <a:r>
              <a:rPr lang="zh-CN" altLang="en-US" sz="1800" dirty="0"/>
              <a:t>个计数中</a:t>
            </a:r>
            <a:r>
              <a:rPr lang="zh-CN" altLang="en-US" sz="1800" dirty="0" smtClean="0"/>
              <a:t>，在</a:t>
            </a:r>
            <a:r>
              <a:rPr lang="en-US" altLang="zh-CN" sz="1800" dirty="0" smtClean="0"/>
              <a:t>A</a:t>
            </a:r>
            <a:r>
              <a:rPr lang="zh-CN" altLang="en-US" sz="1800" dirty="0"/>
              <a:t>个</a:t>
            </a:r>
            <a:r>
              <a:rPr lang="zh-CN" altLang="en-US" sz="1800" dirty="0" smtClean="0"/>
              <a:t>计数内输出</a:t>
            </a:r>
            <a:r>
              <a:rPr lang="zh-CN" altLang="en-US" sz="1800" dirty="0"/>
              <a:t>一</a:t>
            </a:r>
            <a:r>
              <a:rPr lang="zh-CN" altLang="en-US" sz="1800" dirty="0" smtClean="0"/>
              <a:t>个模式控制信号，让双模</a:t>
            </a:r>
            <a:r>
              <a:rPr lang="zh-CN" altLang="en-US" sz="1800" dirty="0"/>
              <a:t>预</a:t>
            </a:r>
            <a:r>
              <a:rPr lang="zh-CN" altLang="en-US" sz="1800" dirty="0" smtClean="0"/>
              <a:t>分频器工作在</a:t>
            </a:r>
            <a:r>
              <a:rPr lang="en-US" altLang="zh-CN" sz="1800" dirty="0" smtClean="0"/>
              <a:t>P+1</a:t>
            </a:r>
            <a:r>
              <a:rPr lang="zh-CN" altLang="en-US" sz="1800" dirty="0" smtClean="0"/>
              <a:t>分频状态，而其余的计数状态下，不输出模式控制信号，让预分频器工作在</a:t>
            </a:r>
            <a:r>
              <a:rPr lang="en-US" altLang="zh-CN" sz="1800" dirty="0" smtClean="0"/>
              <a:t>P</a:t>
            </a:r>
            <a:r>
              <a:rPr lang="zh-CN" altLang="en-US" sz="1800" dirty="0" smtClean="0"/>
              <a:t>分频状态。那样总的分频计数为</a:t>
            </a:r>
            <a:r>
              <a:rPr lang="en-US" altLang="zh-CN" sz="1800" dirty="0" smtClean="0"/>
              <a:t>N*P+A</a:t>
            </a:r>
            <a:r>
              <a:rPr lang="zh-CN" altLang="en-US" sz="1800" dirty="0" smtClean="0"/>
              <a:t>，而频率合成器的频率步进值仍然可以是“</a:t>
            </a:r>
            <a:r>
              <a:rPr lang="zh-CN" altLang="en-US" sz="1800" dirty="0"/>
              <a:t>晶体振荡器频率</a:t>
            </a:r>
            <a:r>
              <a:rPr lang="en-US" altLang="zh-CN" sz="1800" dirty="0"/>
              <a:t>÷</a:t>
            </a:r>
            <a:r>
              <a:rPr lang="en-US" altLang="zh-CN" sz="1800" dirty="0" smtClean="0"/>
              <a:t>R</a:t>
            </a:r>
            <a:r>
              <a:rPr lang="zh-CN" altLang="en-US" sz="1800" dirty="0"/>
              <a:t>”</a:t>
            </a:r>
          </a:p>
        </p:txBody>
      </p:sp>
    </p:spTree>
    <p:extLst>
      <p:ext uri="{BB962C8B-B14F-4D97-AF65-F5344CB8AC3E}">
        <p14:creationId xmlns:p14="http://schemas.microsoft.com/office/powerpoint/2010/main" val="17378622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15</a:t>
            </a:fld>
            <a:endParaRPr lang="en-US" altLang="zh-CN"/>
          </a:p>
        </p:txBody>
      </p:sp>
      <p:sp>
        <p:nvSpPr>
          <p:cNvPr id="8" name="文本框 7"/>
          <p:cNvSpPr txBox="1"/>
          <p:nvPr/>
        </p:nvSpPr>
        <p:spPr>
          <a:xfrm>
            <a:off x="395021" y="521548"/>
            <a:ext cx="11426564" cy="5493812"/>
          </a:xfrm>
          <a:prstGeom prst="rect">
            <a:avLst/>
          </a:prstGeom>
          <a:noFill/>
        </p:spPr>
        <p:txBody>
          <a:bodyPr wrap="square" rtlCol="0">
            <a:spAutoFit/>
          </a:bodyPr>
          <a:lstStyle/>
          <a:p>
            <a:pPr indent="457200">
              <a:lnSpc>
                <a:spcPct val="150000"/>
              </a:lnSpc>
            </a:pPr>
            <a:r>
              <a:rPr lang="zh-CN" altLang="zh-CN" sz="1800" dirty="0" smtClean="0"/>
              <a:t>锁相环调</a:t>
            </a:r>
            <a:r>
              <a:rPr lang="zh-CN" altLang="en-US" sz="1800" dirty="0" smtClean="0"/>
              <a:t>频</a:t>
            </a:r>
            <a:r>
              <a:rPr lang="zh-CN" altLang="zh-CN" sz="1800" dirty="0" smtClean="0"/>
              <a:t>电路</a:t>
            </a:r>
            <a:r>
              <a:rPr lang="zh-CN" altLang="zh-CN" sz="1800" dirty="0"/>
              <a:t>的基本结构。</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a:t>这个结构是在常规的</a:t>
            </a:r>
            <a:r>
              <a:rPr lang="zh-CN" altLang="en-US" sz="1800" dirty="0" smtClean="0"/>
              <a:t>锁相环频率合成器电路</a:t>
            </a:r>
            <a:r>
              <a:rPr lang="zh-CN" altLang="en-US" sz="1800" dirty="0"/>
              <a:t>中插入一个加法器，将调制信号与环路滤波器的输出叠加后作为</a:t>
            </a:r>
            <a:r>
              <a:rPr lang="en-US" altLang="zh-CN" sz="1800" dirty="0"/>
              <a:t>VCO</a:t>
            </a:r>
            <a:r>
              <a:rPr lang="zh-CN" altLang="en-US" sz="1800" dirty="0"/>
              <a:t>的</a:t>
            </a:r>
            <a:r>
              <a:rPr lang="zh-CN" altLang="en-US" sz="1800" dirty="0" smtClean="0"/>
              <a:t>控制信号</a:t>
            </a:r>
            <a:endParaRPr lang="en-US" altLang="zh-CN" sz="1800" dirty="0"/>
          </a:p>
          <a:p>
            <a:pPr indent="457200">
              <a:lnSpc>
                <a:spcPct val="150000"/>
              </a:lnSpc>
            </a:pPr>
            <a:r>
              <a:rPr lang="zh-CN" altLang="en-US" sz="1800" dirty="0"/>
              <a:t>当调制信号为</a:t>
            </a:r>
            <a:r>
              <a:rPr lang="en-US" altLang="zh-CN" sz="1800" dirty="0"/>
              <a:t>0</a:t>
            </a:r>
            <a:r>
              <a:rPr lang="zh-CN" altLang="en-US" sz="1800" dirty="0"/>
              <a:t>时，</a:t>
            </a:r>
            <a:r>
              <a:rPr lang="en-US" altLang="zh-CN" sz="1800" dirty="0"/>
              <a:t>VCO</a:t>
            </a:r>
            <a:r>
              <a:rPr lang="zh-CN" altLang="en-US" sz="1800" dirty="0"/>
              <a:t>的输出频率就是</a:t>
            </a:r>
            <a:r>
              <a:rPr lang="en-US" altLang="zh-CN" sz="1800" dirty="0"/>
              <a:t>FM</a:t>
            </a:r>
            <a:r>
              <a:rPr lang="zh-CN" altLang="en-US" sz="1800" dirty="0"/>
              <a:t>信号中心</a:t>
            </a:r>
            <a:r>
              <a:rPr lang="zh-CN" altLang="en-US" sz="1800" dirty="0" smtClean="0"/>
              <a:t>频率</a:t>
            </a:r>
            <a:endParaRPr lang="en-US" altLang="zh-CN" sz="1800" dirty="0"/>
          </a:p>
          <a:p>
            <a:pPr indent="457200">
              <a:lnSpc>
                <a:spcPct val="150000"/>
              </a:lnSpc>
            </a:pPr>
            <a:r>
              <a:rPr lang="zh-CN" altLang="en-US" sz="1800" dirty="0"/>
              <a:t>当调制信号变动时，只要</a:t>
            </a:r>
            <a:r>
              <a:rPr lang="en-US" altLang="zh-CN" sz="1800" dirty="0"/>
              <a:t>LF</a:t>
            </a:r>
            <a:r>
              <a:rPr lang="zh-CN" altLang="en-US" sz="1800" dirty="0"/>
              <a:t>的时间常数足够大，</a:t>
            </a:r>
            <a:r>
              <a:rPr lang="zh-CN" altLang="en-US" sz="1800" dirty="0" smtClean="0"/>
              <a:t>使得它来不及对调制信号作出反应</a:t>
            </a:r>
            <a:r>
              <a:rPr lang="zh-CN" altLang="en-US" sz="1800" dirty="0"/>
              <a:t>，则</a:t>
            </a:r>
            <a:r>
              <a:rPr lang="en-US" altLang="zh-CN" sz="1800" dirty="0"/>
              <a:t>VCO</a:t>
            </a:r>
            <a:r>
              <a:rPr lang="zh-CN" altLang="en-US" sz="1800" dirty="0"/>
              <a:t>的输出将随着调制信号的变化而变化，实现</a:t>
            </a:r>
            <a:r>
              <a:rPr lang="en-US" altLang="zh-CN" sz="1800" dirty="0"/>
              <a:t>FM</a:t>
            </a:r>
            <a:r>
              <a:rPr lang="zh-CN" altLang="en-US" sz="1800" dirty="0"/>
              <a:t>调制</a:t>
            </a:r>
            <a:r>
              <a:rPr lang="zh-CN" altLang="en-US" sz="1800" dirty="0" smtClean="0"/>
              <a:t>。而只要调制信号的</a:t>
            </a:r>
            <a:r>
              <a:rPr lang="zh-CN" altLang="en-US" sz="1800" dirty="0" smtClean="0">
                <a:solidFill>
                  <a:srgbClr val="FF0000"/>
                </a:solidFill>
              </a:rPr>
              <a:t>平均电平为</a:t>
            </a:r>
            <a:r>
              <a:rPr lang="en-US" altLang="zh-CN" sz="1800" dirty="0" smtClean="0">
                <a:solidFill>
                  <a:srgbClr val="FF0000"/>
                </a:solidFill>
              </a:rPr>
              <a:t>0</a:t>
            </a:r>
            <a:r>
              <a:rPr lang="zh-CN" altLang="en-US" sz="1800" dirty="0" smtClean="0"/>
              <a:t>，则</a:t>
            </a:r>
            <a:r>
              <a:rPr lang="en-US" altLang="zh-CN" sz="1800" dirty="0" smtClean="0"/>
              <a:t>FM</a:t>
            </a:r>
            <a:r>
              <a:rPr lang="zh-CN" altLang="en-US" sz="1800" dirty="0" smtClean="0"/>
              <a:t>信号的中心频率不变</a:t>
            </a:r>
            <a:endParaRPr lang="en-US" altLang="zh-CN" sz="1800" dirty="0" smtClean="0"/>
          </a:p>
          <a:p>
            <a:pPr indent="457200">
              <a:lnSpc>
                <a:spcPct val="150000"/>
              </a:lnSpc>
            </a:pPr>
            <a:r>
              <a:rPr lang="zh-CN" altLang="en-US" sz="1800" dirty="0" smtClean="0"/>
              <a:t>此中心频率就是</a:t>
            </a:r>
            <a:r>
              <a:rPr lang="en-US" altLang="zh-CN" sz="1800" dirty="0" smtClean="0"/>
              <a:t>FM</a:t>
            </a:r>
            <a:r>
              <a:rPr lang="zh-CN" altLang="en-US" sz="1800" dirty="0" smtClean="0"/>
              <a:t>信号的载频，此载频由参考信号与两个分频器决定。由于</a:t>
            </a:r>
            <a:r>
              <a:rPr lang="zh-CN" altLang="zh-CN" sz="1800" dirty="0" smtClean="0"/>
              <a:t>参考频率由</a:t>
            </a:r>
            <a:r>
              <a:rPr lang="zh-CN" altLang="zh-CN" sz="1800" dirty="0"/>
              <a:t>石英晶体</a:t>
            </a:r>
            <a:r>
              <a:rPr lang="zh-CN" altLang="zh-CN" sz="1800" dirty="0" smtClean="0"/>
              <a:t>提供，</a:t>
            </a:r>
            <a:r>
              <a:rPr lang="zh-CN" altLang="zh-CN" sz="1800" dirty="0"/>
              <a:t>所以这个方法有极好的频率精度和稳定性，也能够提供足够的</a:t>
            </a:r>
            <a:r>
              <a:rPr lang="zh-CN" altLang="zh-CN" sz="1800" dirty="0" smtClean="0"/>
              <a:t>频偏</a:t>
            </a:r>
            <a:endParaRPr lang="en-US" altLang="zh-CN" sz="1800" dirty="0" smtClean="0"/>
          </a:p>
        </p:txBody>
      </p:sp>
      <p:pic>
        <p:nvPicPr>
          <p:cNvPr id="2" name="图片 1"/>
          <p:cNvPicPr>
            <a:picLocks noChangeAspect="1"/>
          </p:cNvPicPr>
          <p:nvPr/>
        </p:nvPicPr>
        <p:blipFill>
          <a:blip r:embed="rId2"/>
          <a:stretch>
            <a:fillRect/>
          </a:stretch>
        </p:blipFill>
        <p:spPr>
          <a:xfrm>
            <a:off x="2728402" y="930819"/>
            <a:ext cx="6297240" cy="1940483"/>
          </a:xfrm>
          <a:prstGeom prst="rect">
            <a:avLst/>
          </a:prstGeom>
        </p:spPr>
      </p:pic>
    </p:spTree>
    <p:extLst>
      <p:ext uri="{BB962C8B-B14F-4D97-AF65-F5344CB8AC3E}">
        <p14:creationId xmlns:p14="http://schemas.microsoft.com/office/powerpoint/2010/main" val="17750697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16</a:t>
            </a:fld>
            <a:endParaRPr lang="en-US" altLang="zh-CN"/>
          </a:p>
        </p:txBody>
      </p:sp>
      <p:sp>
        <p:nvSpPr>
          <p:cNvPr id="2" name="文本框 1"/>
          <p:cNvSpPr txBox="1"/>
          <p:nvPr/>
        </p:nvSpPr>
        <p:spPr>
          <a:xfrm>
            <a:off x="380390" y="492577"/>
            <a:ext cx="11441195" cy="3831818"/>
          </a:xfrm>
          <a:prstGeom prst="rect">
            <a:avLst/>
          </a:prstGeom>
          <a:noFill/>
        </p:spPr>
        <p:txBody>
          <a:bodyPr wrap="square" rtlCol="0">
            <a:spAutoFit/>
          </a:bodyPr>
          <a:lstStyle/>
          <a:p>
            <a:pPr indent="457200">
              <a:lnSpc>
                <a:spcPct val="150000"/>
              </a:lnSpc>
            </a:pPr>
            <a:r>
              <a:rPr lang="zh-CN" altLang="zh-CN" sz="1800" dirty="0"/>
              <a:t>锁相环的参考频率来自石英晶体，可认为</a:t>
            </a:r>
            <a:r>
              <a:rPr lang="zh-CN" altLang="en-US" sz="1800" dirty="0"/>
              <a:t>频率</a:t>
            </a:r>
            <a:r>
              <a:rPr lang="zh-CN" altLang="zh-CN" sz="1800" dirty="0"/>
              <a:t>不变。但</a:t>
            </a:r>
            <a:r>
              <a:rPr lang="en-US" altLang="zh-CN" sz="1800" dirty="0"/>
              <a:t>VCO</a:t>
            </a:r>
            <a:r>
              <a:rPr lang="zh-CN" altLang="zh-CN" sz="1800" dirty="0"/>
              <a:t>输出的</a:t>
            </a:r>
            <a:r>
              <a:rPr lang="en-US" altLang="zh-CN" sz="1800" dirty="0"/>
              <a:t>FM</a:t>
            </a:r>
            <a:r>
              <a:rPr lang="zh-CN" altLang="zh-CN" sz="1800" dirty="0"/>
              <a:t>信号频率在不断变化，所以在大部分时间内，鉴相器的两个输入频率是不同的。换言之，</a:t>
            </a:r>
            <a:r>
              <a:rPr lang="zh-CN" altLang="zh-CN" sz="1800" dirty="0" smtClean="0"/>
              <a:t>锁相</a:t>
            </a:r>
            <a:r>
              <a:rPr lang="zh-CN" altLang="en-US" sz="1800" dirty="0" smtClean="0"/>
              <a:t>环</a:t>
            </a:r>
            <a:r>
              <a:rPr lang="en-US" altLang="zh-CN" sz="1800" dirty="0" smtClean="0"/>
              <a:t>FM</a:t>
            </a:r>
            <a:r>
              <a:rPr lang="zh-CN" altLang="zh-CN" sz="1800" dirty="0"/>
              <a:t>电路中的锁相环大部分时间都工作在失锁</a:t>
            </a:r>
            <a:r>
              <a:rPr lang="zh-CN" altLang="zh-CN" sz="1800" dirty="0" smtClean="0"/>
              <a:t>状态</a:t>
            </a:r>
            <a:r>
              <a:rPr lang="zh-CN" altLang="en-US" sz="1800" dirty="0" smtClean="0"/>
              <a:t>，所以锁相环的工作不满足稳态条件，对于这种</a:t>
            </a:r>
            <a:r>
              <a:rPr lang="zh-CN" altLang="en-US" sz="1800" dirty="0"/>
              <a:t>状态下的</a:t>
            </a:r>
            <a:r>
              <a:rPr lang="zh-CN" altLang="en-US" sz="1800" dirty="0" smtClean="0"/>
              <a:t>锁相环不能套用载波跟踪或调制跟踪这些概念来设计其环路滤波器，也就是不能用锁相环的闭环带宽这个概念来讨论环路滤波器的</a:t>
            </a:r>
            <a:r>
              <a:rPr lang="en-US" altLang="zh-CN" sz="1800" dirty="0" smtClean="0"/>
              <a:t>RC</a:t>
            </a:r>
            <a:r>
              <a:rPr lang="zh-CN" altLang="en-US" sz="1800" dirty="0" smtClean="0"/>
              <a:t>时间常数。</a:t>
            </a:r>
            <a:endParaRPr lang="en-US" altLang="zh-CN" sz="1800" dirty="0" smtClean="0"/>
          </a:p>
          <a:p>
            <a:pPr indent="457200">
              <a:lnSpc>
                <a:spcPct val="150000"/>
              </a:lnSpc>
            </a:pPr>
            <a:r>
              <a:rPr lang="zh-CN" altLang="en-US" sz="1800" dirty="0" smtClean="0"/>
              <a:t>另外，通常情况下环路</a:t>
            </a:r>
            <a:r>
              <a:rPr lang="zh-CN" altLang="en-US" sz="1800" dirty="0"/>
              <a:t>滤波器</a:t>
            </a:r>
            <a:r>
              <a:rPr lang="zh-CN" altLang="en-US" sz="1800" dirty="0" smtClean="0"/>
              <a:t>设计要</a:t>
            </a:r>
            <a:r>
              <a:rPr lang="zh-CN" altLang="zh-CN" sz="1800" dirty="0" smtClean="0"/>
              <a:t>考虑锁相环</a:t>
            </a:r>
            <a:r>
              <a:rPr lang="zh-CN" altLang="zh-CN" sz="1800" dirty="0"/>
              <a:t>的稳定性</a:t>
            </a:r>
            <a:r>
              <a:rPr lang="zh-CN" altLang="en-US" sz="1800" dirty="0" smtClean="0"/>
              <a:t>，但是阻尼</a:t>
            </a:r>
            <a:r>
              <a:rPr lang="zh-CN" altLang="en-US" sz="1800" dirty="0"/>
              <a:t>因子影响的是锁相环在锁定状态下的</a:t>
            </a:r>
            <a:r>
              <a:rPr lang="zh-CN" altLang="en-US" sz="1800" dirty="0" smtClean="0"/>
              <a:t>稳定性，而</a:t>
            </a:r>
            <a:r>
              <a:rPr lang="zh-CN" altLang="en-US" sz="1800" dirty="0"/>
              <a:t>对于频率调制电路中的锁相环来说，绝大部分时间工作在失锁状态，也就是锁相环处于开环状态，在这种情况下讨论其</a:t>
            </a:r>
            <a:r>
              <a:rPr lang="zh-CN" altLang="en-US" sz="1800" dirty="0" smtClean="0"/>
              <a:t>稳定性没有</a:t>
            </a:r>
            <a:r>
              <a:rPr lang="zh-CN" altLang="en-US" sz="1800" dirty="0"/>
              <a:t>意义</a:t>
            </a:r>
            <a:r>
              <a:rPr lang="zh-CN" altLang="en-US" sz="1800" dirty="0" smtClean="0"/>
              <a:t>。另外，阻尼因子与超前</a:t>
            </a:r>
            <a:r>
              <a:rPr lang="en-US" altLang="zh-CN" sz="1800" dirty="0" smtClean="0"/>
              <a:t>-</a:t>
            </a:r>
            <a:r>
              <a:rPr lang="zh-CN" altLang="en-US" sz="1800" dirty="0" smtClean="0"/>
              <a:t>滞后型环路滤波器中的</a:t>
            </a:r>
            <a:r>
              <a:rPr lang="en-US" altLang="zh-CN" sz="1800" dirty="0" smtClean="0"/>
              <a:t>R2</a:t>
            </a:r>
            <a:r>
              <a:rPr lang="zh-CN" altLang="en-US" sz="1800" dirty="0" smtClean="0"/>
              <a:t>有关，而</a:t>
            </a:r>
            <a:r>
              <a:rPr lang="en-US" altLang="zh-CN" sz="1800" dirty="0" smtClean="0"/>
              <a:t>R2</a:t>
            </a:r>
            <a:r>
              <a:rPr lang="zh-CN" altLang="en-US" sz="1800" dirty="0" smtClean="0"/>
              <a:t>的存在实际上会导致鉴相器输出中的高频成分不能完全衰减，所以</a:t>
            </a:r>
            <a:r>
              <a:rPr lang="zh-CN" altLang="en-US" sz="1800" dirty="0"/>
              <a:t>在锁相环</a:t>
            </a:r>
            <a:r>
              <a:rPr lang="en-US" altLang="zh-CN" sz="1800" dirty="0"/>
              <a:t>FM</a:t>
            </a:r>
            <a:r>
              <a:rPr lang="zh-CN" altLang="en-US" sz="1800" dirty="0"/>
              <a:t>电路中</a:t>
            </a:r>
            <a:r>
              <a:rPr lang="zh-CN" altLang="en-US" sz="1800" dirty="0" smtClean="0"/>
              <a:t>，环路</a:t>
            </a:r>
            <a:r>
              <a:rPr lang="zh-CN" altLang="en-US" sz="1800" dirty="0"/>
              <a:t>滤波器中的</a:t>
            </a:r>
            <a:r>
              <a:rPr lang="en-US" altLang="zh-CN" sz="1800" dirty="0"/>
              <a:t>R2</a:t>
            </a:r>
            <a:r>
              <a:rPr lang="zh-CN" altLang="en-US" sz="1800" dirty="0"/>
              <a:t>被</a:t>
            </a:r>
            <a:r>
              <a:rPr lang="zh-CN" altLang="en-US" sz="1800" dirty="0" smtClean="0"/>
              <a:t>短路，环路滤波器蜕变为简单的</a:t>
            </a:r>
            <a:r>
              <a:rPr lang="en-US" altLang="zh-CN" sz="1800" dirty="0" smtClean="0"/>
              <a:t>RC</a:t>
            </a:r>
            <a:r>
              <a:rPr lang="zh-CN" altLang="en-US" sz="1800" dirty="0" smtClean="0"/>
              <a:t>电路。</a:t>
            </a:r>
            <a:endParaRPr lang="zh-CN" altLang="en-US" sz="1800" dirty="0"/>
          </a:p>
        </p:txBody>
      </p:sp>
      <p:pic>
        <p:nvPicPr>
          <p:cNvPr id="4" name="图片 3"/>
          <p:cNvPicPr>
            <a:picLocks noChangeAspect="1"/>
          </p:cNvPicPr>
          <p:nvPr/>
        </p:nvPicPr>
        <p:blipFill>
          <a:blip r:embed="rId2"/>
          <a:stretch>
            <a:fillRect/>
          </a:stretch>
        </p:blipFill>
        <p:spPr>
          <a:xfrm>
            <a:off x="4176185" y="4543229"/>
            <a:ext cx="1910061" cy="1155469"/>
          </a:xfrm>
          <a:prstGeom prst="rect">
            <a:avLst/>
          </a:prstGeom>
        </p:spPr>
      </p:pic>
    </p:spTree>
    <p:extLst>
      <p:ext uri="{BB962C8B-B14F-4D97-AF65-F5344CB8AC3E}">
        <p14:creationId xmlns:p14="http://schemas.microsoft.com/office/powerpoint/2010/main" val="40551831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17</a:t>
            </a:fld>
            <a:endParaRPr lang="en-US" altLang="zh-CN"/>
          </a:p>
        </p:txBody>
      </p:sp>
      <p:sp>
        <p:nvSpPr>
          <p:cNvPr id="2" name="文本框 1"/>
          <p:cNvSpPr txBox="1"/>
          <p:nvPr/>
        </p:nvSpPr>
        <p:spPr>
          <a:xfrm>
            <a:off x="380390" y="492577"/>
            <a:ext cx="11441195" cy="2585323"/>
          </a:xfrm>
          <a:prstGeom prst="rect">
            <a:avLst/>
          </a:prstGeom>
          <a:noFill/>
        </p:spPr>
        <p:txBody>
          <a:bodyPr wrap="square" rtlCol="0">
            <a:spAutoFit/>
          </a:bodyPr>
          <a:lstStyle/>
          <a:p>
            <a:pPr indent="457200">
              <a:lnSpc>
                <a:spcPct val="150000"/>
              </a:lnSpc>
            </a:pPr>
            <a:r>
              <a:rPr lang="zh-CN" altLang="en-US" sz="1800" dirty="0" smtClean="0"/>
              <a:t>下面讨论在锁相环</a:t>
            </a:r>
            <a:r>
              <a:rPr lang="en-US" altLang="zh-CN" sz="1800" dirty="0" smtClean="0"/>
              <a:t>FM</a:t>
            </a:r>
            <a:r>
              <a:rPr lang="zh-CN" altLang="en-US" sz="1800" dirty="0" smtClean="0"/>
              <a:t>调制电路中的环路滤波器设计。</a:t>
            </a:r>
            <a:endParaRPr lang="zh-CN" altLang="en-US" sz="1800" dirty="0"/>
          </a:p>
          <a:p>
            <a:pPr indent="457200">
              <a:lnSpc>
                <a:spcPct val="150000"/>
              </a:lnSpc>
            </a:pPr>
            <a:r>
              <a:rPr lang="zh-CN" altLang="zh-CN" sz="1800" dirty="0" smtClean="0"/>
              <a:t>当</a:t>
            </a:r>
            <a:r>
              <a:rPr lang="zh-CN" altLang="zh-CN" sz="1800" dirty="0"/>
              <a:t>采用鉴相</a:t>
            </a:r>
            <a:r>
              <a:rPr lang="en-US" altLang="zh-CN" sz="1800" dirty="0"/>
              <a:t>-</a:t>
            </a:r>
            <a:r>
              <a:rPr lang="zh-CN" altLang="zh-CN" sz="1800" dirty="0"/>
              <a:t>鉴频器（</a:t>
            </a:r>
            <a:r>
              <a:rPr lang="en-US" altLang="zh-CN" sz="1800" dirty="0"/>
              <a:t>PFD</a:t>
            </a:r>
            <a:r>
              <a:rPr lang="zh-CN" altLang="zh-CN" sz="1800" dirty="0" smtClean="0"/>
              <a:t>）时</a:t>
            </a:r>
            <a:r>
              <a:rPr lang="zh-CN" altLang="zh-CN" sz="1800" dirty="0"/>
              <a:t>，仅在</a:t>
            </a:r>
            <a:r>
              <a:rPr lang="en-US" altLang="zh-CN" sz="1800" dirty="0"/>
              <a:t>FM</a:t>
            </a:r>
            <a:r>
              <a:rPr lang="zh-CN" altLang="zh-CN" sz="1800" dirty="0"/>
              <a:t>信号频率接近载频附近的几个周期内</a:t>
            </a:r>
            <a:r>
              <a:rPr lang="en-US" altLang="zh-CN" sz="1800" dirty="0"/>
              <a:t>PFD</a:t>
            </a:r>
            <a:r>
              <a:rPr lang="zh-CN" altLang="zh-CN" sz="1800" dirty="0"/>
              <a:t>工作在鉴相状态，而在其余的大部分时间内</a:t>
            </a:r>
            <a:r>
              <a:rPr lang="en-US" altLang="zh-CN" sz="1800" dirty="0"/>
              <a:t>PFD</a:t>
            </a:r>
            <a:r>
              <a:rPr lang="zh-CN" altLang="zh-CN" sz="1800" dirty="0"/>
              <a:t>都工作在</a:t>
            </a:r>
            <a:r>
              <a:rPr lang="zh-CN" altLang="zh-CN" sz="1800" dirty="0">
                <a:solidFill>
                  <a:srgbClr val="FF0000"/>
                </a:solidFill>
              </a:rPr>
              <a:t>鉴频</a:t>
            </a:r>
            <a:r>
              <a:rPr lang="zh-CN" altLang="zh-CN" sz="1800" dirty="0"/>
              <a:t>状态，其输出</a:t>
            </a:r>
            <a:r>
              <a:rPr lang="zh-CN" altLang="en-US" sz="1800" dirty="0"/>
              <a:t>平均电平</a:t>
            </a:r>
            <a:r>
              <a:rPr lang="zh-CN" altLang="zh-CN" sz="1800" dirty="0"/>
              <a:t>是高电平或低电平，所以</a:t>
            </a:r>
            <a:r>
              <a:rPr lang="en-US" altLang="zh-CN" sz="1800" dirty="0"/>
              <a:t>PFD</a:t>
            </a:r>
            <a:r>
              <a:rPr lang="zh-CN" altLang="zh-CN" sz="1800" dirty="0"/>
              <a:t>的</a:t>
            </a:r>
            <a:r>
              <a:rPr lang="zh-CN" altLang="en-US" sz="1800" dirty="0"/>
              <a:t>平均</a:t>
            </a:r>
            <a:r>
              <a:rPr lang="zh-CN" altLang="zh-CN" sz="1800" dirty="0"/>
              <a:t>输出近似为一个频率与调制信号频率相同的方波。</a:t>
            </a:r>
            <a:endParaRPr lang="en-US" altLang="zh-CN" sz="1800" dirty="0"/>
          </a:p>
          <a:p>
            <a:pPr indent="457200">
              <a:lnSpc>
                <a:spcPct val="150000"/>
              </a:lnSpc>
            </a:pPr>
            <a:r>
              <a:rPr lang="zh-CN" altLang="zh-CN" sz="1800" dirty="0"/>
              <a:t>环路滤波器的目的是取出这个近似方波的平均值作为</a:t>
            </a:r>
            <a:r>
              <a:rPr lang="en-US" altLang="zh-CN" sz="1800" dirty="0"/>
              <a:t>VCO</a:t>
            </a:r>
            <a:r>
              <a:rPr lang="zh-CN" altLang="zh-CN" sz="1800" dirty="0"/>
              <a:t>的中心控制电压，从而保证</a:t>
            </a:r>
            <a:r>
              <a:rPr lang="en-US" altLang="zh-CN" sz="1800" dirty="0"/>
              <a:t>FM</a:t>
            </a:r>
            <a:r>
              <a:rPr lang="zh-CN" altLang="zh-CN" sz="1800" dirty="0"/>
              <a:t>信号的中心频率始终与参考频率同步。从这个意义上看，此时的</a:t>
            </a:r>
            <a:r>
              <a:rPr lang="zh-CN" altLang="zh-CN" sz="1800" dirty="0" smtClean="0"/>
              <a:t>锁相环称为</a:t>
            </a:r>
            <a:r>
              <a:rPr lang="zh-CN" altLang="zh-CN" sz="1800" dirty="0"/>
              <a:t>“锁频环”似乎更加恰当一些</a:t>
            </a:r>
            <a:r>
              <a:rPr lang="zh-CN" altLang="zh-CN" sz="1800" dirty="0" smtClean="0"/>
              <a:t>。</a:t>
            </a:r>
            <a:endParaRPr lang="en-US" altLang="zh-CN" sz="1800" dirty="0" smtClean="0"/>
          </a:p>
        </p:txBody>
      </p:sp>
      <p:sp>
        <p:nvSpPr>
          <p:cNvPr id="8" name="文本框 7"/>
          <p:cNvSpPr txBox="1"/>
          <p:nvPr/>
        </p:nvSpPr>
        <p:spPr>
          <a:xfrm>
            <a:off x="7241529" y="3535398"/>
            <a:ext cx="3914152" cy="2308324"/>
          </a:xfrm>
          <a:prstGeom prst="rect">
            <a:avLst/>
          </a:prstGeom>
          <a:noFill/>
        </p:spPr>
        <p:txBody>
          <a:bodyPr wrap="square" rtlCol="0">
            <a:spAutoFit/>
          </a:bodyPr>
          <a:lstStyle/>
          <a:p>
            <a:pPr marL="432000" indent="-457200">
              <a:lnSpc>
                <a:spcPct val="150000"/>
              </a:lnSpc>
            </a:pPr>
            <a:r>
              <a:rPr lang="zh-CN" altLang="en-US" sz="1600" dirty="0"/>
              <a:t>灰色：</a:t>
            </a:r>
            <a:r>
              <a:rPr lang="en-US" altLang="zh-CN" sz="1600" dirty="0"/>
              <a:t>PFD</a:t>
            </a:r>
            <a:r>
              <a:rPr lang="zh-CN" altLang="en-US" sz="1600" dirty="0"/>
              <a:t>的实际输出，密集的窄脉冲</a:t>
            </a:r>
            <a:endParaRPr lang="en-US" altLang="zh-CN" sz="1600" dirty="0"/>
          </a:p>
          <a:p>
            <a:pPr marL="432000" indent="-457200">
              <a:lnSpc>
                <a:spcPct val="150000"/>
              </a:lnSpc>
            </a:pPr>
            <a:r>
              <a:rPr lang="zh-CN" altLang="en-US" sz="1600" dirty="0"/>
              <a:t>黑线：常规</a:t>
            </a:r>
            <a:r>
              <a:rPr lang="en-US" altLang="zh-CN" sz="1600" dirty="0"/>
              <a:t>PLL</a:t>
            </a:r>
            <a:r>
              <a:rPr lang="zh-CN" altLang="en-US" sz="1600" dirty="0"/>
              <a:t>电路中，</a:t>
            </a:r>
            <a:r>
              <a:rPr lang="en-US" altLang="zh-CN" sz="1600" dirty="0" smtClean="0"/>
              <a:t>PFD</a:t>
            </a:r>
            <a:r>
              <a:rPr lang="zh-CN" altLang="en-US" sz="1600" dirty="0" smtClean="0"/>
              <a:t>输出的窄脉冲被</a:t>
            </a:r>
            <a:r>
              <a:rPr lang="zh-CN" altLang="en-US" sz="1600" dirty="0"/>
              <a:t>环路滤波器</a:t>
            </a:r>
            <a:r>
              <a:rPr lang="zh-CN" altLang="en-US" sz="1600" dirty="0" smtClean="0"/>
              <a:t>平均，</a:t>
            </a:r>
            <a:r>
              <a:rPr lang="en-US" altLang="zh-CN" sz="1600" dirty="0" smtClean="0"/>
              <a:t>-2</a:t>
            </a:r>
            <a:r>
              <a:rPr lang="el-GR" altLang="zh-CN" sz="1600" dirty="0" smtClean="0"/>
              <a:t>π</a:t>
            </a:r>
            <a:r>
              <a:rPr lang="zh-CN" altLang="en-US" sz="1600" dirty="0" smtClean="0"/>
              <a:t>到</a:t>
            </a:r>
            <a:r>
              <a:rPr lang="en-US" altLang="zh-CN" sz="1600" dirty="0" smtClean="0"/>
              <a:t>+2</a:t>
            </a:r>
            <a:r>
              <a:rPr lang="el-GR" altLang="zh-CN" sz="1600" dirty="0" smtClean="0"/>
              <a:t>π</a:t>
            </a:r>
            <a:r>
              <a:rPr lang="zh-CN" altLang="en-US" sz="1600" dirty="0" smtClean="0"/>
              <a:t>范围内为鉴相工作状态</a:t>
            </a:r>
            <a:endParaRPr lang="en-US" altLang="zh-CN" sz="1600" dirty="0"/>
          </a:p>
          <a:p>
            <a:pPr marL="432000" indent="-457200">
              <a:lnSpc>
                <a:spcPct val="150000"/>
              </a:lnSpc>
            </a:pPr>
            <a:r>
              <a:rPr lang="zh-CN" altLang="en-US" sz="1600" dirty="0"/>
              <a:t>红线：</a:t>
            </a:r>
            <a:r>
              <a:rPr lang="zh-CN" altLang="en-US" sz="1600" dirty="0" smtClean="0"/>
              <a:t>在</a:t>
            </a:r>
            <a:r>
              <a:rPr lang="en-US" altLang="zh-CN" sz="1600" dirty="0" smtClean="0"/>
              <a:t>FM</a:t>
            </a:r>
            <a:r>
              <a:rPr lang="zh-CN" altLang="en-US" sz="1600" dirty="0" smtClean="0"/>
              <a:t>调制电路中，</a:t>
            </a:r>
            <a:r>
              <a:rPr lang="en-US" altLang="zh-CN" sz="1600" dirty="0"/>
              <a:t>PFD</a:t>
            </a:r>
            <a:r>
              <a:rPr lang="zh-CN" altLang="en-US" sz="1600" dirty="0"/>
              <a:t>输出被进一步</a:t>
            </a:r>
            <a:r>
              <a:rPr lang="zh-CN" altLang="en-US" sz="1600" dirty="0" smtClean="0"/>
              <a:t>平均，工作在鉴频状态</a:t>
            </a:r>
            <a:endParaRPr lang="zh-CN" altLang="en-US" sz="1600" dirty="0"/>
          </a:p>
        </p:txBody>
      </p:sp>
      <p:pic>
        <p:nvPicPr>
          <p:cNvPr id="6" name="图片 5"/>
          <p:cNvPicPr>
            <a:picLocks noChangeAspect="1"/>
          </p:cNvPicPr>
          <p:nvPr/>
        </p:nvPicPr>
        <p:blipFill>
          <a:blip r:embed="rId2"/>
          <a:stretch>
            <a:fillRect/>
          </a:stretch>
        </p:blipFill>
        <p:spPr>
          <a:xfrm>
            <a:off x="1499781" y="3673825"/>
            <a:ext cx="5352807" cy="1768122"/>
          </a:xfrm>
          <a:prstGeom prst="rect">
            <a:avLst/>
          </a:prstGeom>
        </p:spPr>
      </p:pic>
    </p:spTree>
    <p:extLst>
      <p:ext uri="{BB962C8B-B14F-4D97-AF65-F5344CB8AC3E}">
        <p14:creationId xmlns:p14="http://schemas.microsoft.com/office/powerpoint/2010/main" val="35005246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18</a:t>
            </a:fld>
            <a:endParaRPr lang="en-US" altLang="zh-CN"/>
          </a:p>
        </p:txBody>
      </p:sp>
      <p:sp>
        <p:nvSpPr>
          <p:cNvPr id="2" name="文本框 1"/>
          <p:cNvSpPr txBox="1"/>
          <p:nvPr/>
        </p:nvSpPr>
        <p:spPr>
          <a:xfrm>
            <a:off x="460858" y="607274"/>
            <a:ext cx="11309299" cy="5027723"/>
          </a:xfrm>
          <a:prstGeom prst="rect">
            <a:avLst/>
          </a:prstGeom>
          <a:noFill/>
        </p:spPr>
        <p:txBody>
          <a:bodyPr wrap="square" rtlCol="0">
            <a:spAutoFit/>
          </a:bodyPr>
          <a:lstStyle/>
          <a:p>
            <a:pPr indent="457200">
              <a:lnSpc>
                <a:spcPct val="150000"/>
              </a:lnSpc>
            </a:pPr>
            <a:r>
              <a:rPr lang="zh-CN" altLang="zh-CN" sz="1800" dirty="0"/>
              <a:t>下图</a:t>
            </a:r>
            <a:r>
              <a:rPr lang="zh-CN" altLang="en-US" sz="1800" dirty="0"/>
              <a:t>是</a:t>
            </a:r>
            <a:r>
              <a:rPr lang="zh-CN" altLang="zh-CN" sz="1800" dirty="0"/>
              <a:t>鉴相器</a:t>
            </a:r>
            <a:r>
              <a:rPr lang="en-US" altLang="zh-CN" sz="1800" dirty="0"/>
              <a:t>PFD</a:t>
            </a:r>
            <a:r>
              <a:rPr lang="zh-CN" altLang="zh-CN" sz="1800" dirty="0"/>
              <a:t>输出与环路滤波器</a:t>
            </a:r>
            <a:r>
              <a:rPr lang="en-US" altLang="zh-CN" sz="1800" dirty="0"/>
              <a:t>LF</a:t>
            </a:r>
            <a:r>
              <a:rPr lang="zh-CN" altLang="zh-CN" sz="1800" dirty="0"/>
              <a:t>输出之间的关系。</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zh-CN" sz="1800" dirty="0"/>
              <a:t>在调制信号的一个周期中，</a:t>
            </a:r>
            <a:r>
              <a:rPr lang="en-US" altLang="zh-CN" sz="1800" dirty="0"/>
              <a:t>FM</a:t>
            </a:r>
            <a:r>
              <a:rPr lang="zh-CN" altLang="zh-CN" sz="1800" dirty="0"/>
              <a:t>信号的频率围绕载波频率作周期变化，灰色是</a:t>
            </a:r>
            <a:r>
              <a:rPr lang="en-US" altLang="zh-CN" sz="1800" dirty="0"/>
              <a:t>PFD</a:t>
            </a:r>
            <a:r>
              <a:rPr lang="zh-CN" altLang="zh-CN" sz="1800" dirty="0"/>
              <a:t>的输出（密集的正脉冲或负脉冲），</a:t>
            </a:r>
            <a:r>
              <a:rPr lang="zh-CN" altLang="en-US" sz="1800" dirty="0"/>
              <a:t>黑色</a:t>
            </a:r>
            <a:r>
              <a:rPr lang="zh-CN" altLang="zh-CN" sz="1800" dirty="0"/>
              <a:t>虚线是其平均值，为一个幅度为</a:t>
            </a:r>
            <a:r>
              <a:rPr lang="en-US" altLang="zh-CN" sz="1800" dirty="0"/>
              <a:t>VH/4</a:t>
            </a:r>
            <a:r>
              <a:rPr lang="zh-CN" altLang="zh-CN" sz="1800" dirty="0"/>
              <a:t>的近似方波。由于环路滤波器的</a:t>
            </a:r>
            <a:r>
              <a:rPr lang="en-US" altLang="zh-CN" sz="1800" dirty="0"/>
              <a:t>RC</a:t>
            </a:r>
            <a:r>
              <a:rPr lang="zh-CN" altLang="zh-CN" sz="1800" dirty="0"/>
              <a:t>时间常数通常总是远大于调制信号周期，所以上述虚线方波经过</a:t>
            </a:r>
            <a:r>
              <a:rPr lang="en-US" altLang="zh-CN" sz="1800" dirty="0"/>
              <a:t>LF</a:t>
            </a:r>
            <a:r>
              <a:rPr lang="zh-CN" altLang="zh-CN" sz="1800" dirty="0"/>
              <a:t>后的输出电压近似为一个三角波，其平均值</a:t>
            </a:r>
            <a:r>
              <a:rPr lang="zh-CN" altLang="en-US" sz="1800" dirty="0"/>
              <a:t>（红色虚线）</a:t>
            </a:r>
            <a:r>
              <a:rPr lang="zh-CN" altLang="zh-CN" sz="1800" dirty="0"/>
              <a:t>对应的是</a:t>
            </a:r>
            <a:r>
              <a:rPr lang="en-US" altLang="zh-CN" sz="1800" dirty="0"/>
              <a:t>FM</a:t>
            </a:r>
            <a:r>
              <a:rPr lang="zh-CN" altLang="zh-CN" sz="1800" dirty="0"/>
              <a:t>信号的载波频率，而</a:t>
            </a:r>
            <a:r>
              <a:rPr lang="en-US" altLang="zh-CN" sz="1800" dirty="0"/>
              <a:t>LF</a:t>
            </a:r>
            <a:r>
              <a:rPr lang="zh-CN" altLang="zh-CN" sz="1800" dirty="0"/>
              <a:t>输出电压波动就对应着</a:t>
            </a:r>
            <a:r>
              <a:rPr lang="en-US" altLang="zh-CN" sz="1800" dirty="0"/>
              <a:t>FM</a:t>
            </a:r>
            <a:r>
              <a:rPr lang="zh-CN" altLang="zh-CN" sz="1800" dirty="0"/>
              <a:t>信号中载波频率的波动。</a:t>
            </a:r>
          </a:p>
        </p:txBody>
      </p:sp>
      <p:sp>
        <p:nvSpPr>
          <p:cNvPr id="4" name="Rectangle 2"/>
          <p:cNvSpPr>
            <a:spLocks noChangeArrowheads="1"/>
          </p:cNvSpPr>
          <p:nvPr/>
        </p:nvSpPr>
        <p:spPr bwMode="auto">
          <a:xfrm>
            <a:off x="1524001" y="-20005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7" name="图片 6"/>
          <p:cNvPicPr>
            <a:picLocks noChangeAspect="1"/>
          </p:cNvPicPr>
          <p:nvPr/>
        </p:nvPicPr>
        <p:blipFill>
          <a:blip r:embed="rId2"/>
          <a:stretch>
            <a:fillRect/>
          </a:stretch>
        </p:blipFill>
        <p:spPr>
          <a:xfrm>
            <a:off x="723087" y="1228953"/>
            <a:ext cx="8603794" cy="2334698"/>
          </a:xfrm>
          <a:prstGeom prst="rect">
            <a:avLst/>
          </a:prstGeom>
        </p:spPr>
      </p:pic>
    </p:spTree>
    <p:extLst>
      <p:ext uri="{BB962C8B-B14F-4D97-AF65-F5344CB8AC3E}">
        <p14:creationId xmlns:p14="http://schemas.microsoft.com/office/powerpoint/2010/main" val="30295964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176185" y="3855111"/>
            <a:ext cx="3328416" cy="1024128"/>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19</a:t>
            </a:fld>
            <a:endParaRPr lang="en-US" altLang="zh-CN"/>
          </a:p>
        </p:txBody>
      </p:sp>
      <p:sp>
        <p:nvSpPr>
          <p:cNvPr id="2" name="文本框 1"/>
          <p:cNvSpPr txBox="1"/>
          <p:nvPr/>
        </p:nvSpPr>
        <p:spPr>
          <a:xfrm>
            <a:off x="468173" y="530492"/>
            <a:ext cx="11353412" cy="5201424"/>
          </a:xfrm>
          <a:prstGeom prst="rect">
            <a:avLst/>
          </a:prstGeom>
          <a:noFill/>
        </p:spPr>
        <p:txBody>
          <a:bodyPr wrap="square" rtlCol="0">
            <a:spAutoFit/>
          </a:bodyPr>
          <a:lstStyle/>
          <a:p>
            <a:pPr indent="457200">
              <a:lnSpc>
                <a:spcPct val="150000"/>
              </a:lnSpc>
            </a:pPr>
            <a:r>
              <a:rPr lang="zh-CN" altLang="zh-CN" sz="1800" dirty="0"/>
              <a:t>将</a:t>
            </a:r>
            <a:r>
              <a:rPr lang="en-US" altLang="zh-CN" sz="1800" dirty="0"/>
              <a:t>LF</a:t>
            </a:r>
            <a:r>
              <a:rPr lang="zh-CN" altLang="zh-CN" sz="1800" dirty="0"/>
              <a:t>输出电压近似为三角波后，可写出它偏离平均电压的最大值为</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zh-CN" sz="1800" dirty="0"/>
              <a:t>此值对应着输出</a:t>
            </a:r>
            <a:r>
              <a:rPr lang="en-US" altLang="zh-CN" sz="1800" dirty="0"/>
              <a:t>FM</a:t>
            </a:r>
            <a:r>
              <a:rPr lang="zh-CN" altLang="zh-CN" sz="1800" dirty="0"/>
              <a:t>信号中载波频率波动的最大值（注意是载波的波动，不是调制引起的最大频偏）</a:t>
            </a:r>
            <a:r>
              <a:rPr lang="zh-CN" altLang="zh-CN" sz="1800" dirty="0" smtClean="0"/>
              <a:t>。</a:t>
            </a:r>
            <a:r>
              <a:rPr lang="zh-CN" altLang="en-US" sz="1800" dirty="0" smtClean="0"/>
              <a:t>通常</a:t>
            </a:r>
            <a:r>
              <a:rPr lang="zh-CN" altLang="zh-CN" sz="1800" dirty="0" smtClean="0"/>
              <a:t>输出</a:t>
            </a:r>
            <a:r>
              <a:rPr lang="zh-CN" altLang="zh-CN" sz="1800" dirty="0"/>
              <a:t>电压的平均值</a:t>
            </a:r>
            <a:r>
              <a:rPr lang="en-US" altLang="zh-CN" sz="1800" i="1" dirty="0"/>
              <a:t>V</a:t>
            </a:r>
            <a:r>
              <a:rPr lang="en-US" altLang="zh-CN" sz="1800" i="1" baseline="-25000" dirty="0"/>
              <a:t>H</a:t>
            </a:r>
            <a:r>
              <a:rPr lang="en-US" altLang="zh-CN" sz="1800" dirty="0"/>
              <a:t>/2</a:t>
            </a:r>
            <a:r>
              <a:rPr lang="zh-CN" altLang="zh-CN" sz="1800" dirty="0"/>
              <a:t>对应着载波频率，所以载波频率波动的最大相对误差就是</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smtClean="0"/>
              <a:t>将载频波动误差作为自变量，就是</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r>
              <a:rPr lang="zh-CN" altLang="en-US" sz="1800" dirty="0" smtClean="0"/>
              <a:t>这就是用锁相环构成</a:t>
            </a:r>
            <a:r>
              <a:rPr lang="en-US" altLang="zh-CN" sz="1800" dirty="0" smtClean="0"/>
              <a:t>FM</a:t>
            </a:r>
            <a:r>
              <a:rPr lang="zh-CN" altLang="en-US" sz="1800" dirty="0" smtClean="0"/>
              <a:t>电路中的环路滤波器的时间常数要求</a:t>
            </a:r>
            <a:r>
              <a:rPr lang="en-US" altLang="zh-CN" sz="1000" dirty="0"/>
              <a:t>	</a:t>
            </a:r>
            <a:r>
              <a:rPr lang="en-US" altLang="zh-CN" sz="1800" dirty="0"/>
              <a:t>		 </a:t>
            </a:r>
            <a:r>
              <a:rPr lang="en-US" altLang="zh-CN" sz="1800" dirty="0" smtClean="0"/>
              <a:t>                      </a:t>
            </a:r>
            <a:endParaRPr lang="en-US" altLang="zh-CN" dirty="0">
              <a:latin typeface="+mn-lt"/>
            </a:endParaRPr>
          </a:p>
          <a:p>
            <a:pPr indent="457200">
              <a:lnSpc>
                <a:spcPct val="150000"/>
              </a:lnSpc>
              <a:spcBef>
                <a:spcPts val="600"/>
              </a:spcBef>
              <a:spcAft>
                <a:spcPts val="600"/>
              </a:spcAft>
            </a:pPr>
            <a:endParaRPr lang="en-US" altLang="zh-CN" sz="200" dirty="0" smtClean="0"/>
          </a:p>
        </p:txBody>
      </p:sp>
      <p:graphicFrame>
        <p:nvGraphicFramePr>
          <p:cNvPr id="6" name="对象 5"/>
          <p:cNvGraphicFramePr>
            <a:graphicFrameLocks noChangeAspect="1"/>
          </p:cNvGraphicFramePr>
          <p:nvPr>
            <p:extLst>
              <p:ext uri="{D42A27DB-BD31-4B8C-83A1-F6EECF244321}">
                <p14:modId xmlns:p14="http://schemas.microsoft.com/office/powerpoint/2010/main" val="3492946597"/>
              </p:ext>
            </p:extLst>
          </p:nvPr>
        </p:nvGraphicFramePr>
        <p:xfrm>
          <a:off x="4968875" y="1081087"/>
          <a:ext cx="1761109" cy="645385"/>
        </p:xfrm>
        <a:graphic>
          <a:graphicData uri="http://schemas.openxmlformats.org/presentationml/2006/ole">
            <mc:AlternateContent xmlns:mc="http://schemas.openxmlformats.org/markup-compatibility/2006">
              <mc:Choice xmlns:v="urn:schemas-microsoft-com:vml" Requires="v">
                <p:oleObj spid="_x0000_s5529" name="Equation" r:id="rId3" imgW="965160" imgH="355320" progId="Equation.DSMT4">
                  <p:embed/>
                </p:oleObj>
              </mc:Choice>
              <mc:Fallback>
                <p:oleObj name="Equation" r:id="rId3" imgW="965160" imgH="355320" progId="Equation.DSMT4">
                  <p:embed/>
                  <p:pic>
                    <p:nvPicPr>
                      <p:cNvPr id="0" name="Object 1"/>
                      <p:cNvPicPr>
                        <a:picLocks noChangeAspect="1" noChangeArrowheads="1"/>
                      </p:cNvPicPr>
                      <p:nvPr/>
                    </p:nvPicPr>
                    <p:blipFill>
                      <a:blip r:embed="rId4"/>
                      <a:srcRect/>
                      <a:stretch>
                        <a:fillRect/>
                      </a:stretch>
                    </p:blipFill>
                    <p:spPr bwMode="auto">
                      <a:xfrm>
                        <a:off x="4968875" y="1081087"/>
                        <a:ext cx="1761109" cy="645385"/>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86010077"/>
              </p:ext>
            </p:extLst>
          </p:nvPr>
        </p:nvGraphicFramePr>
        <p:xfrm>
          <a:off x="4758023" y="2720316"/>
          <a:ext cx="2182812" cy="742950"/>
        </p:xfrm>
        <a:graphic>
          <a:graphicData uri="http://schemas.openxmlformats.org/presentationml/2006/ole">
            <mc:AlternateContent xmlns:mc="http://schemas.openxmlformats.org/markup-compatibility/2006">
              <mc:Choice xmlns:v="urn:schemas-microsoft-com:vml" Requires="v">
                <p:oleObj spid="_x0000_s5530" name="Equation" r:id="rId5" imgW="1117440" imgH="380880" progId="Equation.DSMT4">
                  <p:embed/>
                </p:oleObj>
              </mc:Choice>
              <mc:Fallback>
                <p:oleObj name="Equation" r:id="rId5" imgW="1117440" imgH="380880" progId="Equation.DSMT4">
                  <p:embed/>
                  <p:pic>
                    <p:nvPicPr>
                      <p:cNvPr id="0" name="Object 3"/>
                      <p:cNvPicPr>
                        <a:picLocks noChangeAspect="1" noChangeArrowheads="1"/>
                      </p:cNvPicPr>
                      <p:nvPr/>
                    </p:nvPicPr>
                    <p:blipFill>
                      <a:blip r:embed="rId6"/>
                      <a:srcRect/>
                      <a:stretch>
                        <a:fillRect/>
                      </a:stretch>
                    </p:blipFill>
                    <p:spPr bwMode="auto">
                      <a:xfrm>
                        <a:off x="4758023" y="2720316"/>
                        <a:ext cx="2182812" cy="742950"/>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103049710"/>
              </p:ext>
            </p:extLst>
          </p:nvPr>
        </p:nvGraphicFramePr>
        <p:xfrm>
          <a:off x="4944046" y="3995700"/>
          <a:ext cx="1785938" cy="742950"/>
        </p:xfrm>
        <a:graphic>
          <a:graphicData uri="http://schemas.openxmlformats.org/presentationml/2006/ole">
            <mc:AlternateContent xmlns:mc="http://schemas.openxmlformats.org/markup-compatibility/2006">
              <mc:Choice xmlns:v="urn:schemas-microsoft-com:vml" Requires="v">
                <p:oleObj spid="_x0000_s5531" name="Equation" r:id="rId7" imgW="914400" imgH="380880" progId="Equation.DSMT4">
                  <p:embed/>
                </p:oleObj>
              </mc:Choice>
              <mc:Fallback>
                <p:oleObj name="Equation" r:id="rId7" imgW="914400" imgH="380880" progId="Equation.DSMT4">
                  <p:embed/>
                  <p:pic>
                    <p:nvPicPr>
                      <p:cNvPr id="8" name="对象 7"/>
                      <p:cNvPicPr>
                        <a:picLocks noChangeAspect="1" noChangeArrowheads="1"/>
                      </p:cNvPicPr>
                      <p:nvPr/>
                    </p:nvPicPr>
                    <p:blipFill>
                      <a:blip r:embed="rId8"/>
                      <a:srcRect/>
                      <a:stretch>
                        <a:fillRect/>
                      </a:stretch>
                    </p:blipFill>
                    <p:spPr bwMode="auto">
                      <a:xfrm>
                        <a:off x="4944046" y="3995700"/>
                        <a:ext cx="1785938" cy="742950"/>
                      </a:xfrm>
                      <a:prstGeom prst="rect">
                        <a:avLst/>
                      </a:prstGeom>
                      <a:noFill/>
                    </p:spPr>
                  </p:pic>
                </p:oleObj>
              </mc:Fallback>
            </mc:AlternateContent>
          </a:graphicData>
        </a:graphic>
      </p:graphicFrame>
    </p:spTree>
    <p:extLst>
      <p:ext uri="{BB962C8B-B14F-4D97-AF65-F5344CB8AC3E}">
        <p14:creationId xmlns:p14="http://schemas.microsoft.com/office/powerpoint/2010/main" val="29848620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20</a:t>
            </a:fld>
            <a:endParaRPr lang="en-US" altLang="zh-CN"/>
          </a:p>
        </p:txBody>
      </p:sp>
      <p:sp>
        <p:nvSpPr>
          <p:cNvPr id="2" name="文本框 1"/>
          <p:cNvSpPr txBox="1"/>
          <p:nvPr/>
        </p:nvSpPr>
        <p:spPr>
          <a:xfrm>
            <a:off x="424282" y="523511"/>
            <a:ext cx="11316614" cy="3000821"/>
          </a:xfrm>
          <a:prstGeom prst="rect">
            <a:avLst/>
          </a:prstGeom>
          <a:noFill/>
        </p:spPr>
        <p:txBody>
          <a:bodyPr wrap="square" rtlCol="0">
            <a:spAutoFit/>
          </a:bodyPr>
          <a:lstStyle/>
          <a:p>
            <a:pPr indent="457200">
              <a:lnSpc>
                <a:spcPct val="150000"/>
              </a:lnSpc>
            </a:pPr>
            <a:r>
              <a:rPr lang="zh-CN" altLang="zh-CN" sz="1800" dirty="0"/>
              <a:t>题目中</a:t>
            </a:r>
            <a:r>
              <a:rPr lang="zh-CN" altLang="en-US" sz="1800" dirty="0"/>
              <a:t>还有</a:t>
            </a:r>
            <a:r>
              <a:rPr lang="zh-CN" altLang="zh-CN" sz="1800" dirty="0"/>
              <a:t>模拟无线通信中载波频率漂移的要求，其指标概括如下：通过一个标准信号源外部输入一个电压信号</a:t>
            </a:r>
            <a:r>
              <a:rPr lang="en-US" altLang="zh-CN" sz="1800" i="1" dirty="0" err="1"/>
              <a:t>v</a:t>
            </a:r>
            <a:r>
              <a:rPr lang="en-US" altLang="zh-CN" sz="1800" i="1" baseline="-25000" dirty="0" err="1"/>
              <a:t>C</a:t>
            </a:r>
            <a:r>
              <a:rPr lang="en-US" altLang="zh-CN" sz="1800" i="1" dirty="0"/>
              <a:t> </a:t>
            </a:r>
            <a:r>
              <a:rPr lang="en-US" altLang="zh-CN" sz="1800" dirty="0"/>
              <a:t>(</a:t>
            </a:r>
            <a:r>
              <a:rPr lang="en-US" altLang="zh-CN" sz="1800" i="1" dirty="0"/>
              <a:t>t</a:t>
            </a:r>
            <a:r>
              <a:rPr lang="en-US" altLang="zh-CN" sz="1800" dirty="0"/>
              <a:t>)</a:t>
            </a:r>
            <a:r>
              <a:rPr lang="zh-CN" altLang="zh-CN" sz="1800" dirty="0"/>
              <a:t>使得载波频率发生变化（漂移），最大变化量为</a:t>
            </a:r>
            <a:r>
              <a:rPr lang="en-US" altLang="zh-CN" sz="1800" dirty="0"/>
              <a:t>±150kHz</a:t>
            </a:r>
            <a:r>
              <a:rPr lang="zh-CN" altLang="zh-CN" sz="1800" dirty="0"/>
              <a:t>。外加的</a:t>
            </a:r>
            <a:r>
              <a:rPr lang="en-US" altLang="zh-CN" sz="1800" i="1" dirty="0" err="1" smtClean="0"/>
              <a:t>v</a:t>
            </a:r>
            <a:r>
              <a:rPr lang="en-US" altLang="zh-CN" sz="1800" i="1" baseline="-25000" dirty="0" err="1" smtClean="0"/>
              <a:t>C</a:t>
            </a:r>
            <a:r>
              <a:rPr lang="en-US" altLang="zh-CN" sz="1800" i="1" dirty="0" smtClean="0"/>
              <a:t> </a:t>
            </a:r>
            <a:r>
              <a:rPr lang="en-US" altLang="zh-CN" sz="1800" dirty="0"/>
              <a:t>(</a:t>
            </a:r>
            <a:r>
              <a:rPr lang="en-US" altLang="zh-CN" sz="1800" i="1" dirty="0" smtClean="0"/>
              <a:t>t</a:t>
            </a:r>
            <a:r>
              <a:rPr lang="en-US" altLang="zh-CN" sz="1800" dirty="0" smtClean="0"/>
              <a:t>)</a:t>
            </a:r>
            <a:r>
              <a:rPr lang="zh-CN" altLang="en-US" sz="1800" dirty="0" smtClean="0"/>
              <a:t>是一个周期为</a:t>
            </a:r>
            <a:r>
              <a:rPr lang="en-US" altLang="zh-CN" sz="1800" dirty="0" smtClean="0"/>
              <a:t>2</a:t>
            </a:r>
            <a:r>
              <a:rPr lang="zh-CN" altLang="en-US" sz="1800" dirty="0" smtClean="0"/>
              <a:t>秒的三角波，</a:t>
            </a:r>
            <a:r>
              <a:rPr lang="en-US" altLang="zh-CN" sz="1800" i="1" dirty="0" err="1" smtClean="0"/>
              <a:t>v</a:t>
            </a:r>
            <a:r>
              <a:rPr lang="en-US" altLang="zh-CN" sz="1800" i="1" baseline="-25000" dirty="0" err="1" smtClean="0"/>
              <a:t>C</a:t>
            </a:r>
            <a:r>
              <a:rPr lang="en-US" altLang="zh-CN" sz="1800" i="1" dirty="0" smtClean="0"/>
              <a:t> </a:t>
            </a:r>
            <a:r>
              <a:rPr lang="en-US" altLang="zh-CN" sz="1800" dirty="0"/>
              <a:t>(</a:t>
            </a:r>
            <a:r>
              <a:rPr lang="en-US" altLang="zh-CN" sz="1800" i="1" dirty="0"/>
              <a:t>t</a:t>
            </a:r>
            <a:r>
              <a:rPr lang="en-US" altLang="zh-CN" sz="1800" dirty="0"/>
              <a:t>)</a:t>
            </a:r>
            <a:r>
              <a:rPr lang="zh-CN" altLang="zh-CN" sz="1800" dirty="0"/>
              <a:t>信号为零时，</a:t>
            </a:r>
            <a:r>
              <a:rPr lang="en-US" altLang="zh-CN" sz="1800" dirty="0"/>
              <a:t>FM</a:t>
            </a:r>
            <a:r>
              <a:rPr lang="zh-CN" altLang="zh-CN" sz="1800" dirty="0"/>
              <a:t>信号的载波频率漂移对应为零。</a:t>
            </a:r>
            <a:endParaRPr lang="en-US" altLang="zh-CN" sz="1800" dirty="0"/>
          </a:p>
          <a:p>
            <a:pPr indent="457200">
              <a:lnSpc>
                <a:spcPct val="150000"/>
              </a:lnSpc>
            </a:pPr>
            <a:r>
              <a:rPr lang="zh-CN" altLang="zh-CN" sz="1800" dirty="0"/>
              <a:t>下面分析实现这个要求的电路及其注意点。</a:t>
            </a:r>
          </a:p>
          <a:p>
            <a:pPr indent="457200">
              <a:lnSpc>
                <a:spcPct val="150000"/>
              </a:lnSpc>
            </a:pPr>
            <a:r>
              <a:rPr lang="zh-CN" altLang="en-US" sz="1800" dirty="0"/>
              <a:t>通常情况下，改变载波频率的做法是直接改变反馈分频系数</a:t>
            </a:r>
            <a:r>
              <a:rPr lang="en-US" altLang="zh-CN" sz="1800" dirty="0" smtClean="0"/>
              <a:t>N</a:t>
            </a:r>
            <a:r>
              <a:rPr lang="zh-CN" altLang="en-US" sz="1800" dirty="0"/>
              <a:t> （采用双模分频</a:t>
            </a:r>
            <a:r>
              <a:rPr lang="zh-CN" altLang="en-US" sz="1800" dirty="0" smtClean="0"/>
              <a:t>后是</a:t>
            </a:r>
            <a:r>
              <a:rPr lang="en-US" altLang="zh-CN" sz="1800" dirty="0" smtClean="0"/>
              <a:t>N</a:t>
            </a:r>
            <a:r>
              <a:rPr lang="zh-CN" altLang="en-US" sz="1800" dirty="0" smtClean="0"/>
              <a:t>与</a:t>
            </a:r>
            <a:r>
              <a:rPr lang="en-US" altLang="zh-CN" sz="1800" dirty="0" smtClean="0"/>
              <a:t>A</a:t>
            </a:r>
            <a:r>
              <a:rPr lang="zh-CN" altLang="en-US" sz="1800" dirty="0" smtClean="0"/>
              <a:t>），但无论哪种，其载频</a:t>
            </a:r>
            <a:r>
              <a:rPr lang="zh-CN" altLang="en-US" sz="1800" dirty="0"/>
              <a:t>改变量只能是某个整数步进</a:t>
            </a:r>
            <a:r>
              <a:rPr lang="zh-CN" altLang="en-US" sz="1800" dirty="0" smtClean="0"/>
              <a:t>值，这与</a:t>
            </a:r>
            <a:r>
              <a:rPr lang="zh-CN" altLang="en-US" sz="1800" dirty="0"/>
              <a:t>题目的要求</a:t>
            </a:r>
            <a:r>
              <a:rPr lang="zh-CN" altLang="en-US" sz="1800" dirty="0" smtClean="0"/>
              <a:t>不太符合</a:t>
            </a:r>
            <a:r>
              <a:rPr lang="zh-CN" altLang="en-US" sz="1800" dirty="0"/>
              <a:t>。</a:t>
            </a:r>
            <a:endParaRPr lang="en-US" altLang="zh-CN" sz="1800" dirty="0"/>
          </a:p>
          <a:p>
            <a:pPr indent="457200">
              <a:lnSpc>
                <a:spcPct val="150000"/>
              </a:lnSpc>
            </a:pPr>
            <a:r>
              <a:rPr lang="zh-CN" altLang="en-US" sz="1800" dirty="0"/>
              <a:t>符合题目要求的做法是</a:t>
            </a:r>
            <a:r>
              <a:rPr lang="zh-CN" altLang="zh-CN" sz="1800" dirty="0"/>
              <a:t>将漂移电压与音频信号电压叠加后作为</a:t>
            </a:r>
            <a:r>
              <a:rPr lang="en-US" altLang="zh-CN" sz="1800" dirty="0"/>
              <a:t>VCO</a:t>
            </a:r>
            <a:r>
              <a:rPr lang="zh-CN" altLang="zh-CN" sz="1800" dirty="0"/>
              <a:t>的调制电压实现输出频率的漂移。</a:t>
            </a:r>
          </a:p>
        </p:txBody>
      </p:sp>
      <p:pic>
        <p:nvPicPr>
          <p:cNvPr id="4" name="图片 3"/>
          <p:cNvPicPr>
            <a:picLocks noChangeAspect="1"/>
          </p:cNvPicPr>
          <p:nvPr/>
        </p:nvPicPr>
        <p:blipFill>
          <a:blip r:embed="rId2"/>
          <a:stretch>
            <a:fillRect/>
          </a:stretch>
        </p:blipFill>
        <p:spPr>
          <a:xfrm>
            <a:off x="3341828" y="3749573"/>
            <a:ext cx="4380112" cy="1855464"/>
          </a:xfrm>
          <a:prstGeom prst="rect">
            <a:avLst/>
          </a:prstGeom>
        </p:spPr>
      </p:pic>
    </p:spTree>
    <p:extLst>
      <p:ext uri="{BB962C8B-B14F-4D97-AF65-F5344CB8AC3E}">
        <p14:creationId xmlns:p14="http://schemas.microsoft.com/office/powerpoint/2010/main" val="8585648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21</a:t>
            </a:fld>
            <a:endParaRPr lang="en-US" altLang="zh-CN"/>
          </a:p>
        </p:txBody>
      </p:sp>
      <p:sp>
        <p:nvSpPr>
          <p:cNvPr id="2" name="文本框 1"/>
          <p:cNvSpPr txBox="1"/>
          <p:nvPr/>
        </p:nvSpPr>
        <p:spPr>
          <a:xfrm>
            <a:off x="416966" y="607273"/>
            <a:ext cx="11338560" cy="5493812"/>
          </a:xfrm>
          <a:prstGeom prst="rect">
            <a:avLst/>
          </a:prstGeom>
          <a:noFill/>
        </p:spPr>
        <p:txBody>
          <a:bodyPr wrap="square" rtlCol="0">
            <a:spAutoFit/>
          </a:bodyPr>
          <a:lstStyle/>
          <a:p>
            <a:pPr indent="457200">
              <a:lnSpc>
                <a:spcPct val="150000"/>
              </a:lnSpc>
            </a:pPr>
            <a:r>
              <a:rPr lang="zh-CN" altLang="zh-CN" sz="1800" dirty="0"/>
              <a:t>输入一个漂移电压</a:t>
            </a:r>
            <a:r>
              <a:rPr lang="zh-CN" altLang="en-US" sz="1800" dirty="0"/>
              <a:t>后</a:t>
            </a:r>
            <a:r>
              <a:rPr lang="zh-CN" altLang="zh-CN" sz="1800" dirty="0"/>
              <a:t>，</a:t>
            </a:r>
            <a:r>
              <a:rPr lang="en-US" altLang="zh-CN" sz="1800" dirty="0"/>
              <a:t>VCO</a:t>
            </a:r>
            <a:r>
              <a:rPr lang="zh-CN" altLang="zh-CN" sz="1800" dirty="0"/>
              <a:t>在此输入下其输出频率发生变化。由于锁相环的负反馈作用，</a:t>
            </a:r>
            <a:r>
              <a:rPr lang="en-US" altLang="zh-CN" sz="1800" dirty="0"/>
              <a:t>PFD</a:t>
            </a:r>
            <a:r>
              <a:rPr lang="zh-CN" altLang="zh-CN" sz="1800" dirty="0"/>
              <a:t>会输出一个与漂移电压反相的电平（</a:t>
            </a:r>
            <a:r>
              <a:rPr lang="en-US" altLang="zh-CN" sz="1800" dirty="0"/>
              <a:t>VH</a:t>
            </a:r>
            <a:r>
              <a:rPr lang="zh-CN" altLang="zh-CN" sz="1800" dirty="0"/>
              <a:t>或者</a:t>
            </a:r>
            <a:r>
              <a:rPr lang="en-US" altLang="zh-CN" sz="1800" dirty="0"/>
              <a:t>0</a:t>
            </a:r>
            <a:r>
              <a:rPr lang="zh-CN" altLang="zh-CN" sz="1800" dirty="0"/>
              <a:t>）</a:t>
            </a:r>
            <a:r>
              <a:rPr lang="zh-CN" altLang="en-US" sz="1800" dirty="0"/>
              <a:t>。</a:t>
            </a:r>
            <a:endParaRPr lang="en-US" altLang="zh-CN" sz="1800" dirty="0"/>
          </a:p>
          <a:p>
            <a:pPr indent="457200">
              <a:lnSpc>
                <a:spcPct val="150000"/>
              </a:lnSpc>
            </a:pPr>
            <a:r>
              <a:rPr lang="zh-CN" altLang="en-US" sz="1800" dirty="0"/>
              <a:t>若输入漂移电压很小，</a:t>
            </a:r>
            <a:r>
              <a:rPr lang="zh-CN" altLang="zh-CN" sz="1800" dirty="0"/>
              <a:t>由于锁相环的负反馈，环路滤波器的输出电压与输入的漂移电压抵消，锁相环仍然处于锁定状态，其输出的中心频率保持不变（频率牵引现象）。</a:t>
            </a:r>
            <a:endParaRPr lang="zh-CN" altLang="en-US" sz="1800" dirty="0"/>
          </a:p>
          <a:p>
            <a:pPr indent="457200">
              <a:lnSpc>
                <a:spcPct val="150000"/>
              </a:lnSpc>
            </a:pPr>
            <a:r>
              <a:rPr lang="zh-CN" altLang="en-US" sz="1800" dirty="0"/>
              <a:t>若输入漂移电压较大</a:t>
            </a:r>
            <a:r>
              <a:rPr lang="zh-CN" altLang="en-US" sz="1800" dirty="0" smtClean="0"/>
              <a:t>，由于</a:t>
            </a:r>
            <a:r>
              <a:rPr lang="zh-CN" altLang="en-US" sz="1800" dirty="0"/>
              <a:t>电源电压的限制</a:t>
            </a:r>
            <a:r>
              <a:rPr lang="zh-CN" altLang="en-US" sz="1800" dirty="0" smtClean="0"/>
              <a:t>，</a:t>
            </a:r>
            <a:r>
              <a:rPr lang="zh-CN" altLang="zh-CN" sz="1800" dirty="0"/>
              <a:t>环路</a:t>
            </a:r>
            <a:r>
              <a:rPr lang="zh-CN" altLang="zh-CN" sz="1800" dirty="0" smtClean="0"/>
              <a:t>滤波器最后</a:t>
            </a:r>
            <a:r>
              <a:rPr lang="zh-CN" altLang="en-US" sz="1800" dirty="0"/>
              <a:t>将</a:t>
            </a:r>
            <a:r>
              <a:rPr lang="zh-CN" altLang="zh-CN" sz="1800" dirty="0"/>
              <a:t>处于输出饱和状态（输出一直维持在高电平或一直维持在低电平），实际上锁相环已经处于开环状态，整个电路蜕变为</a:t>
            </a:r>
            <a:r>
              <a:rPr lang="en-US" altLang="zh-CN" sz="1800" dirty="0"/>
              <a:t>VCO</a:t>
            </a:r>
            <a:r>
              <a:rPr lang="zh-CN" altLang="zh-CN" sz="1800" dirty="0"/>
              <a:t>直接调频电路。</a:t>
            </a:r>
            <a:endParaRPr lang="zh-CN" altLang="en-US" sz="1800" dirty="0"/>
          </a:p>
          <a:p>
            <a:pPr indent="457200">
              <a:lnSpc>
                <a:spcPct val="150000"/>
              </a:lnSpc>
            </a:pPr>
            <a:r>
              <a:rPr lang="zh-CN" altLang="en-US" sz="1800" dirty="0"/>
              <a:t>所以在</a:t>
            </a:r>
            <a:r>
              <a:rPr lang="zh-CN" altLang="zh-CN" sz="1800" dirty="0"/>
              <a:t>输入一个题目要求</a:t>
            </a:r>
            <a:r>
              <a:rPr lang="zh-CN" altLang="en-US" sz="1800" dirty="0"/>
              <a:t>的</a:t>
            </a:r>
            <a:r>
              <a:rPr lang="zh-CN" altLang="zh-CN" sz="1800" dirty="0"/>
              <a:t>三角波的偏移电压信号时，由于上述锁相环的频率牵引作用，锁相环的输出在中心频率</a:t>
            </a:r>
            <a:r>
              <a:rPr lang="en-US" altLang="zh-CN" sz="1800" dirty="0"/>
              <a:t>48.5MHz</a:t>
            </a:r>
            <a:r>
              <a:rPr lang="zh-CN" altLang="zh-CN" sz="1800" dirty="0"/>
              <a:t>附近会</a:t>
            </a:r>
            <a:r>
              <a:rPr lang="zh-CN" altLang="zh-CN" sz="1800" dirty="0" smtClean="0"/>
              <a:t>出现一</a:t>
            </a:r>
            <a:r>
              <a:rPr lang="zh-CN" altLang="en-US" sz="1800" dirty="0" smtClean="0"/>
              <a:t>小</a:t>
            </a:r>
            <a:r>
              <a:rPr lang="zh-CN" altLang="zh-CN" sz="1800" dirty="0" smtClean="0"/>
              <a:t>段</a:t>
            </a:r>
            <a:r>
              <a:rPr lang="zh-CN" altLang="zh-CN" sz="1800" dirty="0"/>
              <a:t>频率不变的锁定过程，当外加</a:t>
            </a:r>
            <a:r>
              <a:rPr lang="zh-CN" altLang="zh-CN" sz="1800" dirty="0" smtClean="0"/>
              <a:t>偏移</a:t>
            </a:r>
            <a:r>
              <a:rPr lang="zh-CN" altLang="en-US" sz="1800" dirty="0" smtClean="0"/>
              <a:t>大</a:t>
            </a:r>
            <a:r>
              <a:rPr lang="zh-CN" altLang="zh-CN" sz="1800" dirty="0" smtClean="0"/>
              <a:t>到</a:t>
            </a:r>
            <a:r>
              <a:rPr lang="zh-CN" altLang="zh-CN" sz="1800" dirty="0"/>
              <a:t>锁相环无法锁定时，输出频率将跳变到某个频率后开始变化，其</a:t>
            </a:r>
            <a:r>
              <a:rPr lang="zh-CN" altLang="en-US" sz="1800" dirty="0"/>
              <a:t>输出</a:t>
            </a:r>
            <a:r>
              <a:rPr lang="zh-CN" altLang="zh-CN" sz="1800" dirty="0"/>
              <a:t>频率</a:t>
            </a:r>
            <a:r>
              <a:rPr lang="en-US" altLang="zh-CN" sz="1800" dirty="0"/>
              <a:t>-</a:t>
            </a:r>
            <a:r>
              <a:rPr lang="zh-CN" altLang="en-US" sz="1800" dirty="0"/>
              <a:t>输入偏移电压的关系</a:t>
            </a:r>
            <a:r>
              <a:rPr lang="zh-CN" altLang="zh-CN" sz="1800" dirty="0"/>
              <a:t>曲线有点类似</a:t>
            </a:r>
            <a:r>
              <a:rPr lang="en-US" altLang="zh-CN" sz="1800" dirty="0"/>
              <a:t>B</a:t>
            </a:r>
            <a:r>
              <a:rPr lang="zh-CN" altLang="zh-CN" sz="1800" dirty="0"/>
              <a:t>类推挽放大器的交越失真</a:t>
            </a:r>
            <a:r>
              <a:rPr lang="zh-CN" altLang="en-US" sz="1800" dirty="0"/>
              <a:t>曲线</a:t>
            </a:r>
            <a:r>
              <a:rPr lang="zh-CN" altLang="zh-CN" sz="1800" dirty="0" smtClean="0"/>
              <a:t>。</a:t>
            </a:r>
            <a:r>
              <a:rPr lang="zh-CN" altLang="en-US" sz="1800" dirty="0"/>
              <a:t>只要</a:t>
            </a:r>
            <a:r>
              <a:rPr lang="zh-CN" altLang="en-US" sz="1800" dirty="0" smtClean="0"/>
              <a:t>锁相环的开环增益足够大，那么这个中间点的“失真”就足够小，可以满足题目要求。</a:t>
            </a:r>
            <a:endParaRPr lang="en-US" altLang="zh-CN" sz="1800" dirty="0" smtClean="0"/>
          </a:p>
          <a:p>
            <a:pPr indent="457200">
              <a:lnSpc>
                <a:spcPct val="150000"/>
              </a:lnSpc>
            </a:pPr>
            <a:r>
              <a:rPr lang="zh-CN" altLang="en-US" sz="1800" dirty="0" smtClean="0"/>
              <a:t>如果一定不能容忍这个“失真”，还有第二个选项，就是用</a:t>
            </a:r>
            <a:r>
              <a:rPr lang="en-US" altLang="zh-CN" sz="1800" dirty="0" smtClean="0"/>
              <a:t>DDS</a:t>
            </a:r>
            <a:r>
              <a:rPr lang="zh-CN" altLang="en-US" sz="1800" dirty="0" smtClean="0"/>
              <a:t>产生锁相环的参考频率</a:t>
            </a:r>
            <a:r>
              <a:rPr lang="en-US" altLang="zh-CN" sz="1800" i="1" dirty="0" err="1" smtClean="0">
                <a:latin typeface="+mn-lt"/>
              </a:rPr>
              <a:t>f</a:t>
            </a:r>
            <a:r>
              <a:rPr lang="en-US" altLang="zh-CN" sz="1800" i="1" baseline="-25000" dirty="0" err="1" smtClean="0">
                <a:latin typeface="+mn-lt"/>
              </a:rPr>
              <a:t>r</a:t>
            </a:r>
            <a:r>
              <a:rPr lang="zh-CN" altLang="en-US" sz="1800" dirty="0" smtClean="0"/>
              <a:t>。只要令</a:t>
            </a:r>
            <a:r>
              <a:rPr lang="en-US" altLang="zh-CN" sz="1800" dirty="0" smtClean="0"/>
              <a:t>DDS</a:t>
            </a:r>
            <a:r>
              <a:rPr lang="zh-CN" altLang="en-US" sz="1800" dirty="0" smtClean="0"/>
              <a:t>按照三角波改变</a:t>
            </a:r>
            <a:r>
              <a:rPr lang="en-US" altLang="zh-CN" sz="1800" i="1" dirty="0" err="1"/>
              <a:t>f</a:t>
            </a:r>
            <a:r>
              <a:rPr lang="en-US" altLang="zh-CN" sz="1800" i="1" baseline="-25000" dirty="0" err="1"/>
              <a:t>r</a:t>
            </a:r>
            <a:r>
              <a:rPr lang="zh-CN" altLang="en-US" sz="1800" dirty="0" smtClean="0"/>
              <a:t>，就得到了三角波形状的载频漂移。三角波是一个规律的变化，用</a:t>
            </a:r>
            <a:r>
              <a:rPr lang="en-US" altLang="zh-CN" sz="1800" dirty="0" smtClean="0"/>
              <a:t>DDS</a:t>
            </a:r>
            <a:r>
              <a:rPr lang="zh-CN" altLang="en-US" sz="1800" dirty="0" smtClean="0"/>
              <a:t>很容易实现。</a:t>
            </a:r>
            <a:r>
              <a:rPr lang="zh-CN" altLang="zh-CN" sz="1800" dirty="0" smtClean="0"/>
              <a:t> </a:t>
            </a:r>
            <a:r>
              <a:rPr lang="zh-CN" altLang="en-US" sz="1800" dirty="0" smtClean="0"/>
              <a:t>这个选项的电路更为复杂，这里就不再深入讨论了。</a:t>
            </a:r>
            <a:endParaRPr lang="zh-CN" altLang="en-US" sz="1600" dirty="0"/>
          </a:p>
        </p:txBody>
      </p:sp>
    </p:spTree>
    <p:extLst>
      <p:ext uri="{BB962C8B-B14F-4D97-AF65-F5344CB8AC3E}">
        <p14:creationId xmlns:p14="http://schemas.microsoft.com/office/powerpoint/2010/main" val="336882924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22</a:t>
            </a:fld>
            <a:endParaRPr lang="en-US" altLang="zh-CN">
              <a:solidFill>
                <a:srgbClr val="FFFFFF"/>
              </a:solidFill>
            </a:endParaRPr>
          </a:p>
        </p:txBody>
      </p:sp>
      <p:sp>
        <p:nvSpPr>
          <p:cNvPr id="5" name="文本框 4"/>
          <p:cNvSpPr txBox="1"/>
          <p:nvPr/>
        </p:nvSpPr>
        <p:spPr>
          <a:xfrm>
            <a:off x="416965" y="434632"/>
            <a:ext cx="11404619" cy="549381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b="1" dirty="0" smtClean="0">
                <a:solidFill>
                  <a:srgbClr val="FF0000"/>
                </a:solidFill>
              </a:rPr>
              <a:t>本题目中锁相环</a:t>
            </a:r>
            <a:r>
              <a:rPr lang="zh-CN" altLang="en-US" sz="1800" b="1" dirty="0">
                <a:solidFill>
                  <a:srgbClr val="FF0000"/>
                </a:solidFill>
              </a:rPr>
              <a:t>调频</a:t>
            </a:r>
            <a:r>
              <a:rPr lang="zh-CN" altLang="en-US" sz="1800" b="1" dirty="0" smtClean="0">
                <a:solidFill>
                  <a:srgbClr val="FF0000"/>
                </a:solidFill>
              </a:rPr>
              <a:t>电路的设计</a:t>
            </a:r>
            <a:endParaRPr lang="en-US" altLang="zh-CN" sz="1800" b="1" dirty="0">
              <a:solidFill>
                <a:srgbClr val="FF0000"/>
              </a:solidFill>
            </a:endParaRPr>
          </a:p>
          <a:p>
            <a:pPr indent="457200">
              <a:lnSpc>
                <a:spcPct val="150000"/>
              </a:lnSpc>
            </a:pPr>
            <a:r>
              <a:rPr lang="zh-CN" altLang="en-US" sz="1800" dirty="0" smtClean="0"/>
              <a:t>实验室常用</a:t>
            </a:r>
            <a:r>
              <a:rPr lang="zh-CN" altLang="en-US" sz="1800" dirty="0"/>
              <a:t>的集成锁相环</a:t>
            </a:r>
            <a:r>
              <a:rPr lang="zh-CN" altLang="en-US" sz="1800" dirty="0" smtClean="0"/>
              <a:t>电路：</a:t>
            </a:r>
            <a:endParaRPr lang="en-US" altLang="zh-CN" sz="1800" dirty="0" smtClean="0"/>
          </a:p>
          <a:p>
            <a:pPr marL="742950" lvl="1" indent="-285750">
              <a:lnSpc>
                <a:spcPct val="150000"/>
              </a:lnSpc>
              <a:buFont typeface="Arial" panose="020B0604020202020204" pitchFamily="34" charset="0"/>
              <a:buChar char="•"/>
            </a:pPr>
            <a:r>
              <a:rPr lang="en-US" altLang="zh-CN" sz="1800" dirty="0" smtClean="0"/>
              <a:t>74HC4046</a:t>
            </a:r>
            <a:r>
              <a:rPr lang="zh-CN" altLang="en-US" sz="1800" dirty="0" smtClean="0"/>
              <a:t>，内含</a:t>
            </a:r>
            <a:r>
              <a:rPr lang="en-US" altLang="zh-CN" sz="1800" dirty="0" smtClean="0"/>
              <a:t>3</a:t>
            </a:r>
            <a:r>
              <a:rPr lang="zh-CN" altLang="en-US" sz="1800" dirty="0" smtClean="0"/>
              <a:t>个鉴相器（</a:t>
            </a:r>
            <a:r>
              <a:rPr lang="en-US" altLang="zh-CN" sz="1800" dirty="0" smtClean="0"/>
              <a:t>XOR</a:t>
            </a:r>
            <a:r>
              <a:rPr lang="zh-CN" altLang="en-US" sz="1800" dirty="0" smtClean="0"/>
              <a:t>、</a:t>
            </a:r>
            <a:r>
              <a:rPr lang="en-US" altLang="zh-CN" sz="1800" dirty="0" smtClean="0"/>
              <a:t>JK</a:t>
            </a:r>
            <a:r>
              <a:rPr lang="zh-CN" altLang="en-US" sz="1800" dirty="0" smtClean="0"/>
              <a:t>、</a:t>
            </a:r>
            <a:r>
              <a:rPr lang="en-US" altLang="zh-CN" sz="1800" dirty="0" smtClean="0"/>
              <a:t>PFD</a:t>
            </a:r>
            <a:r>
              <a:rPr lang="zh-CN" altLang="en-US" sz="1800" dirty="0" smtClean="0"/>
              <a:t>）与压控振荡器，最高工作频率约为</a:t>
            </a:r>
            <a:r>
              <a:rPr lang="en-US" altLang="zh-CN" sz="1800" dirty="0" smtClean="0"/>
              <a:t>20MHz</a:t>
            </a:r>
            <a:r>
              <a:rPr lang="zh-CN" altLang="en-US" sz="1800" dirty="0" smtClean="0"/>
              <a:t>。组成频率合成器时需要外部提供分频器</a:t>
            </a:r>
            <a:endParaRPr lang="en-US" altLang="zh-CN" sz="1800" dirty="0" smtClean="0"/>
          </a:p>
          <a:p>
            <a:pPr marL="742950" lvl="1" indent="-285750">
              <a:lnSpc>
                <a:spcPct val="150000"/>
              </a:lnSpc>
              <a:buFont typeface="Arial" panose="020B0604020202020204" pitchFamily="34" charset="0"/>
              <a:buChar char="•"/>
            </a:pPr>
            <a:r>
              <a:rPr lang="en-US" altLang="zh-CN" sz="1800" dirty="0" smtClean="0"/>
              <a:t>MC14515x</a:t>
            </a:r>
            <a:r>
              <a:rPr lang="zh-CN" altLang="en-US" sz="1800" dirty="0"/>
              <a:t>系列</a:t>
            </a:r>
            <a:r>
              <a:rPr lang="zh-CN" altLang="en-US" sz="1800" dirty="0" smtClean="0"/>
              <a:t>，内含鉴</a:t>
            </a:r>
            <a:r>
              <a:rPr lang="zh-CN" altLang="en-US" sz="1800" dirty="0"/>
              <a:t>相</a:t>
            </a:r>
            <a:r>
              <a:rPr lang="en-US" altLang="zh-CN" sz="1800" dirty="0"/>
              <a:t>-</a:t>
            </a:r>
            <a:r>
              <a:rPr lang="zh-CN" altLang="en-US" sz="1800" dirty="0"/>
              <a:t>鉴频器（</a:t>
            </a:r>
            <a:r>
              <a:rPr lang="en-US" altLang="zh-CN" sz="1800" dirty="0"/>
              <a:t>PFD</a:t>
            </a:r>
            <a:r>
              <a:rPr lang="zh-CN" altLang="en-US" sz="1800" dirty="0" smtClean="0"/>
              <a:t>），</a:t>
            </a:r>
            <a:r>
              <a:rPr lang="en-US" altLang="zh-CN" sz="1800" dirty="0" smtClean="0"/>
              <a:t>2</a:t>
            </a:r>
            <a:r>
              <a:rPr lang="zh-CN" altLang="en-US" sz="1800" dirty="0" smtClean="0"/>
              <a:t>个</a:t>
            </a:r>
            <a:r>
              <a:rPr lang="zh-CN" altLang="en-US" sz="1800" dirty="0"/>
              <a:t>分频器（</a:t>
            </a:r>
            <a:r>
              <a:rPr lang="en-US" altLang="zh-CN" sz="1800" dirty="0"/>
              <a:t>R</a:t>
            </a:r>
            <a:r>
              <a:rPr lang="zh-CN" altLang="en-US" sz="1800" dirty="0"/>
              <a:t>分频、</a:t>
            </a:r>
            <a:r>
              <a:rPr lang="en-US" altLang="zh-CN" sz="1800" dirty="0"/>
              <a:t>N</a:t>
            </a:r>
            <a:r>
              <a:rPr lang="zh-CN" altLang="en-US" sz="1800" dirty="0" smtClean="0"/>
              <a:t>分频），最高工作频率约为</a:t>
            </a:r>
            <a:r>
              <a:rPr lang="en-US" altLang="zh-CN" sz="1800" dirty="0" smtClean="0"/>
              <a:t>20MHz</a:t>
            </a:r>
            <a:r>
              <a:rPr lang="zh-CN" altLang="en-US" sz="1800" dirty="0" smtClean="0"/>
              <a:t>，需要外部提供</a:t>
            </a:r>
            <a:r>
              <a:rPr lang="en-US" altLang="zh-CN" sz="1800" dirty="0" smtClean="0"/>
              <a:t>VCO</a:t>
            </a:r>
          </a:p>
          <a:p>
            <a:pPr marL="742950" lvl="1" indent="-285750">
              <a:lnSpc>
                <a:spcPct val="150000"/>
              </a:lnSpc>
              <a:buFont typeface="Arial" panose="020B0604020202020204" pitchFamily="34" charset="0"/>
              <a:buChar char="•"/>
            </a:pPr>
            <a:r>
              <a:rPr lang="en-US" altLang="zh-CN" sz="1800" dirty="0" smtClean="0"/>
              <a:t>ADF4001</a:t>
            </a:r>
            <a:r>
              <a:rPr lang="zh-CN" altLang="en-US" sz="1800" dirty="0"/>
              <a:t>、</a:t>
            </a:r>
            <a:r>
              <a:rPr lang="en-US" altLang="zh-CN" sz="1800" dirty="0" smtClean="0"/>
              <a:t>ADF4002</a:t>
            </a:r>
            <a:r>
              <a:rPr lang="zh-CN" altLang="en-US" sz="1800" dirty="0" smtClean="0"/>
              <a:t>，</a:t>
            </a:r>
            <a:r>
              <a:rPr lang="zh-CN" altLang="en-US" sz="1800" dirty="0"/>
              <a:t>内含鉴相</a:t>
            </a:r>
            <a:r>
              <a:rPr lang="en-US" altLang="zh-CN" sz="1800" dirty="0"/>
              <a:t>-</a:t>
            </a:r>
            <a:r>
              <a:rPr lang="zh-CN" altLang="en-US" sz="1800" dirty="0"/>
              <a:t>鉴频器（</a:t>
            </a:r>
            <a:r>
              <a:rPr lang="en-US" altLang="zh-CN" sz="1800" dirty="0"/>
              <a:t>PFD</a:t>
            </a:r>
            <a:r>
              <a:rPr lang="zh-CN" altLang="en-US" sz="1800" dirty="0"/>
              <a:t>），</a:t>
            </a:r>
            <a:r>
              <a:rPr lang="en-US" altLang="zh-CN" sz="1800" dirty="0"/>
              <a:t>2</a:t>
            </a:r>
            <a:r>
              <a:rPr lang="zh-CN" altLang="en-US" sz="1800" dirty="0"/>
              <a:t>个分频器（</a:t>
            </a:r>
            <a:r>
              <a:rPr lang="en-US" altLang="zh-CN" sz="1800" dirty="0"/>
              <a:t>R</a:t>
            </a:r>
            <a:r>
              <a:rPr lang="zh-CN" altLang="en-US" sz="1800" dirty="0"/>
              <a:t>分频、</a:t>
            </a:r>
            <a:r>
              <a:rPr lang="en-US" altLang="zh-CN" sz="1800" dirty="0"/>
              <a:t>N</a:t>
            </a:r>
            <a:r>
              <a:rPr lang="zh-CN" altLang="en-US" sz="1800" dirty="0" smtClean="0"/>
              <a:t>分频），</a:t>
            </a:r>
            <a:r>
              <a:rPr lang="en-US" altLang="zh-CN" sz="1800" dirty="0" smtClean="0"/>
              <a:t>ADF4001</a:t>
            </a:r>
            <a:r>
              <a:rPr lang="zh-CN" altLang="en-US" sz="1800" dirty="0" smtClean="0"/>
              <a:t>的工作频率为</a:t>
            </a:r>
            <a:r>
              <a:rPr lang="en-US" altLang="zh-CN" sz="1800" dirty="0" smtClean="0"/>
              <a:t>10~200MHz</a:t>
            </a:r>
            <a:r>
              <a:rPr lang="zh-CN" altLang="en-US" sz="1800" dirty="0" smtClean="0"/>
              <a:t>，</a:t>
            </a:r>
            <a:r>
              <a:rPr lang="en-US" altLang="zh-CN" sz="1800" dirty="0" smtClean="0"/>
              <a:t>ADF4002</a:t>
            </a:r>
            <a:r>
              <a:rPr lang="zh-CN" altLang="en-US" sz="1800" dirty="0" smtClean="0"/>
              <a:t>的工作频率为</a:t>
            </a:r>
            <a:r>
              <a:rPr lang="en-US" altLang="zh-CN" sz="1800" dirty="0" smtClean="0"/>
              <a:t>5~400MHz</a:t>
            </a:r>
            <a:r>
              <a:rPr lang="zh-CN" altLang="en-US" sz="1800" dirty="0"/>
              <a:t> </a:t>
            </a:r>
            <a:r>
              <a:rPr lang="zh-CN" altLang="en-US" sz="1800" dirty="0" smtClean="0"/>
              <a:t>，</a:t>
            </a:r>
            <a:r>
              <a:rPr lang="zh-CN" altLang="en-US" sz="1800" dirty="0"/>
              <a:t>需要外部提供</a:t>
            </a:r>
            <a:r>
              <a:rPr lang="en-US" altLang="zh-CN" sz="1800" dirty="0"/>
              <a:t>VCO</a:t>
            </a:r>
          </a:p>
          <a:p>
            <a:pPr indent="457200">
              <a:lnSpc>
                <a:spcPct val="150000"/>
              </a:lnSpc>
            </a:pPr>
            <a:r>
              <a:rPr lang="zh-CN" altLang="en-US" sz="1800" dirty="0"/>
              <a:t>由于本题的</a:t>
            </a:r>
            <a:r>
              <a:rPr lang="en-US" altLang="zh-CN" sz="1800" dirty="0"/>
              <a:t>FM</a:t>
            </a:r>
            <a:r>
              <a:rPr lang="zh-CN" altLang="en-US" sz="1800" dirty="0"/>
              <a:t>信号频率较高，集成锁相环</a:t>
            </a:r>
            <a:r>
              <a:rPr lang="zh-CN" altLang="en-US" sz="1800" dirty="0" smtClean="0"/>
              <a:t>电路</a:t>
            </a:r>
            <a:r>
              <a:rPr lang="en-US" altLang="zh-CN" sz="1800" dirty="0" smtClean="0"/>
              <a:t>74HC4046</a:t>
            </a:r>
            <a:r>
              <a:rPr lang="zh-CN" altLang="en-US" sz="1800" dirty="0" smtClean="0"/>
              <a:t>不适用</a:t>
            </a:r>
            <a:endParaRPr lang="en-US" altLang="zh-CN" sz="1800" dirty="0" smtClean="0"/>
          </a:p>
          <a:p>
            <a:pPr indent="457200">
              <a:lnSpc>
                <a:spcPct val="150000"/>
              </a:lnSpc>
            </a:pPr>
            <a:r>
              <a:rPr lang="en-US" altLang="zh-CN" sz="1800" dirty="0" smtClean="0"/>
              <a:t>MC14515x</a:t>
            </a:r>
            <a:r>
              <a:rPr lang="zh-CN" altLang="en-US" sz="1800" dirty="0" smtClean="0"/>
              <a:t>系列的分频器控制比较简单，直接用单片机的并口或串口即可设置（并口情况下，若无需改变设置值也可直接接入逻辑电平设置），由于其鉴相器的工作频率限制，需要外接预分频器</a:t>
            </a:r>
            <a:endParaRPr lang="en-US" altLang="zh-CN" sz="1800" dirty="0" smtClean="0"/>
          </a:p>
          <a:p>
            <a:pPr indent="457200">
              <a:lnSpc>
                <a:spcPct val="150000"/>
              </a:lnSpc>
            </a:pPr>
            <a:r>
              <a:rPr lang="en-US" altLang="zh-CN" sz="1800" dirty="0" smtClean="0"/>
              <a:t>ADF4001</a:t>
            </a:r>
            <a:r>
              <a:rPr lang="zh-CN" altLang="en-US" sz="1800" dirty="0" smtClean="0"/>
              <a:t>或</a:t>
            </a:r>
            <a:r>
              <a:rPr lang="en-US" altLang="zh-CN" sz="1800" dirty="0" smtClean="0"/>
              <a:t>ADF4002</a:t>
            </a:r>
            <a:r>
              <a:rPr lang="zh-CN" altLang="en-US" sz="1800" dirty="0" smtClean="0"/>
              <a:t>的全部分频器均在芯片内部，还有许多其他功能，均通过内部寄存器进行参数设置，功能强大，但其设置也变得较为复杂</a:t>
            </a:r>
            <a:endParaRPr lang="en-US" altLang="zh-CN" sz="1800" dirty="0"/>
          </a:p>
        </p:txBody>
      </p:sp>
    </p:spTree>
    <p:extLst>
      <p:ext uri="{BB962C8B-B14F-4D97-AF65-F5344CB8AC3E}">
        <p14:creationId xmlns:p14="http://schemas.microsoft.com/office/powerpoint/2010/main" val="306625480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23</a:t>
            </a:fld>
            <a:endParaRPr lang="en-US" altLang="zh-CN">
              <a:solidFill>
                <a:srgbClr val="FFFFFF"/>
              </a:solidFill>
            </a:endParaRPr>
          </a:p>
        </p:txBody>
      </p:sp>
      <p:sp>
        <p:nvSpPr>
          <p:cNvPr id="5" name="文本框 4"/>
          <p:cNvSpPr txBox="1"/>
          <p:nvPr/>
        </p:nvSpPr>
        <p:spPr>
          <a:xfrm>
            <a:off x="416965" y="434632"/>
            <a:ext cx="11404619" cy="923330"/>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solidFill>
                  <a:srgbClr val="FF0000"/>
                </a:solidFill>
                <a:latin typeface="黑体" panose="02010609060101010101" pitchFamily="49" charset="-122"/>
                <a:ea typeface="黑体" panose="02010609060101010101" pitchFamily="49" charset="-122"/>
              </a:rPr>
              <a:t>采用</a:t>
            </a:r>
            <a:r>
              <a:rPr lang="en-US" altLang="zh-CN" sz="1800" dirty="0" smtClean="0">
                <a:solidFill>
                  <a:srgbClr val="FF0000"/>
                </a:solidFill>
              </a:rPr>
              <a:t>MC145151-2</a:t>
            </a:r>
            <a:r>
              <a:rPr lang="zh-CN" altLang="en-US" sz="1800" dirty="0">
                <a:solidFill>
                  <a:srgbClr val="FF0000"/>
                </a:solidFill>
                <a:latin typeface="黑体" panose="02010609060101010101" pitchFamily="49" charset="-122"/>
                <a:ea typeface="黑体" panose="02010609060101010101" pitchFamily="49" charset="-122"/>
              </a:rPr>
              <a:t>的锁相环调频</a:t>
            </a:r>
            <a:r>
              <a:rPr lang="zh-CN" altLang="en-US" sz="1800" dirty="0" smtClean="0">
                <a:solidFill>
                  <a:srgbClr val="FF0000"/>
                </a:solidFill>
                <a:latin typeface="黑体" panose="02010609060101010101" pitchFamily="49" charset="-122"/>
                <a:ea typeface="黑体" panose="02010609060101010101" pitchFamily="49" charset="-122"/>
              </a:rPr>
              <a:t>电路设计方案</a:t>
            </a:r>
            <a:endParaRPr lang="en-US" altLang="zh-CN" sz="1800" dirty="0">
              <a:solidFill>
                <a:srgbClr val="FF0000"/>
              </a:solidFill>
              <a:latin typeface="黑体" panose="02010609060101010101" pitchFamily="49" charset="-122"/>
              <a:ea typeface="黑体" panose="02010609060101010101" pitchFamily="49" charset="-122"/>
            </a:endParaRPr>
          </a:p>
          <a:p>
            <a:pPr lvl="1">
              <a:lnSpc>
                <a:spcPct val="150000"/>
              </a:lnSpc>
            </a:pPr>
            <a:r>
              <a:rPr lang="en-US" altLang="zh-CN" sz="1800" dirty="0" smtClean="0"/>
              <a:t>MC145151-2</a:t>
            </a:r>
            <a:r>
              <a:rPr lang="zh-CN" altLang="en-US" sz="1800" dirty="0" smtClean="0"/>
              <a:t>锁相环内部结构</a:t>
            </a:r>
            <a:endParaRPr lang="en-US" altLang="zh-CN" sz="1800" dirty="0"/>
          </a:p>
        </p:txBody>
      </p:sp>
      <p:pic>
        <p:nvPicPr>
          <p:cNvPr id="7" name="图片 6"/>
          <p:cNvPicPr>
            <a:picLocks noChangeAspect="1"/>
          </p:cNvPicPr>
          <p:nvPr/>
        </p:nvPicPr>
        <p:blipFill>
          <a:blip r:embed="rId2"/>
          <a:stretch>
            <a:fillRect/>
          </a:stretch>
        </p:blipFill>
        <p:spPr>
          <a:xfrm>
            <a:off x="2430398" y="2005690"/>
            <a:ext cx="7509423" cy="3732219"/>
          </a:xfrm>
          <a:prstGeom prst="rect">
            <a:avLst/>
          </a:prstGeom>
        </p:spPr>
      </p:pic>
      <p:sp>
        <p:nvSpPr>
          <p:cNvPr id="9" name="椭圆 8"/>
          <p:cNvSpPr/>
          <p:nvPr/>
        </p:nvSpPr>
        <p:spPr>
          <a:xfrm>
            <a:off x="8383216" y="2574617"/>
            <a:ext cx="1631292" cy="262196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882207" y="2160777"/>
            <a:ext cx="3442489" cy="156835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138926" y="3938370"/>
            <a:ext cx="3244291" cy="193852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2277998" y="2533852"/>
            <a:ext cx="2323262" cy="119527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700617" y="2592881"/>
            <a:ext cx="1729781" cy="923330"/>
          </a:xfrm>
          <a:prstGeom prst="rect">
            <a:avLst/>
          </a:prstGeom>
          <a:noFill/>
        </p:spPr>
        <p:txBody>
          <a:bodyPr wrap="square" rtlCol="0">
            <a:spAutoFit/>
          </a:bodyPr>
          <a:lstStyle/>
          <a:p>
            <a:r>
              <a:rPr lang="zh-CN" altLang="en-US" sz="1800" dirty="0" smtClean="0"/>
              <a:t>参考输入</a:t>
            </a:r>
            <a:endParaRPr lang="en-US" altLang="zh-CN" sz="1800" dirty="0" smtClean="0"/>
          </a:p>
          <a:p>
            <a:r>
              <a:rPr lang="zh-CN" altLang="en-US" sz="1800" dirty="0" smtClean="0"/>
              <a:t>支持直接接入晶体谐振器</a:t>
            </a:r>
            <a:endParaRPr lang="zh-CN" altLang="en-US" sz="1800" dirty="0"/>
          </a:p>
        </p:txBody>
      </p:sp>
      <p:sp>
        <p:nvSpPr>
          <p:cNvPr id="14" name="文本框 13"/>
          <p:cNvSpPr txBox="1"/>
          <p:nvPr/>
        </p:nvSpPr>
        <p:spPr>
          <a:xfrm>
            <a:off x="5103165" y="1500960"/>
            <a:ext cx="2849272" cy="369332"/>
          </a:xfrm>
          <a:prstGeom prst="rect">
            <a:avLst/>
          </a:prstGeom>
          <a:noFill/>
        </p:spPr>
        <p:txBody>
          <a:bodyPr wrap="square" rtlCol="0">
            <a:spAutoFit/>
          </a:bodyPr>
          <a:lstStyle/>
          <a:p>
            <a:r>
              <a:rPr lang="en-US" altLang="zh-CN" sz="1800" dirty="0"/>
              <a:t>14bit</a:t>
            </a:r>
            <a:r>
              <a:rPr lang="zh-CN" altLang="en-US" sz="1800" dirty="0" smtClean="0"/>
              <a:t>参考分频器（</a:t>
            </a:r>
            <a:r>
              <a:rPr lang="en-US" altLang="zh-CN" sz="1800" dirty="0" smtClean="0"/>
              <a:t>÷R</a:t>
            </a:r>
            <a:r>
              <a:rPr lang="zh-CN" altLang="en-US" sz="1800" dirty="0" smtClean="0"/>
              <a:t>）</a:t>
            </a:r>
            <a:endParaRPr lang="zh-CN" altLang="en-US" sz="1800" dirty="0"/>
          </a:p>
        </p:txBody>
      </p:sp>
      <p:sp>
        <p:nvSpPr>
          <p:cNvPr id="15" name="文本框 14"/>
          <p:cNvSpPr txBox="1"/>
          <p:nvPr/>
        </p:nvSpPr>
        <p:spPr>
          <a:xfrm>
            <a:off x="5208826" y="5985527"/>
            <a:ext cx="3104489" cy="369332"/>
          </a:xfrm>
          <a:prstGeom prst="rect">
            <a:avLst/>
          </a:prstGeom>
          <a:noFill/>
        </p:spPr>
        <p:txBody>
          <a:bodyPr wrap="square" rtlCol="0">
            <a:spAutoFit/>
          </a:bodyPr>
          <a:lstStyle/>
          <a:p>
            <a:r>
              <a:rPr lang="en-US" altLang="zh-CN" sz="1800" dirty="0" smtClean="0"/>
              <a:t>14bit </a:t>
            </a:r>
            <a:r>
              <a:rPr lang="zh-CN" altLang="en-US" sz="1800" dirty="0" smtClean="0"/>
              <a:t>反馈分频器（</a:t>
            </a:r>
            <a:r>
              <a:rPr lang="en-US" altLang="zh-CN" sz="1800" dirty="0" smtClean="0"/>
              <a:t>÷N</a:t>
            </a:r>
            <a:r>
              <a:rPr lang="zh-CN" altLang="en-US" sz="1800" dirty="0" smtClean="0"/>
              <a:t>）</a:t>
            </a:r>
            <a:endParaRPr lang="zh-CN" altLang="en-US" sz="1800" dirty="0"/>
          </a:p>
        </p:txBody>
      </p:sp>
      <p:sp>
        <p:nvSpPr>
          <p:cNvPr id="16" name="文本框 15"/>
          <p:cNvSpPr txBox="1"/>
          <p:nvPr/>
        </p:nvSpPr>
        <p:spPr>
          <a:xfrm>
            <a:off x="10083467" y="3687133"/>
            <a:ext cx="848563" cy="369332"/>
          </a:xfrm>
          <a:prstGeom prst="rect">
            <a:avLst/>
          </a:prstGeom>
          <a:noFill/>
        </p:spPr>
        <p:txBody>
          <a:bodyPr wrap="square" rtlCol="0">
            <a:spAutoFit/>
          </a:bodyPr>
          <a:lstStyle/>
          <a:p>
            <a:r>
              <a:rPr lang="en-US" altLang="zh-CN" sz="1800" dirty="0" smtClean="0"/>
              <a:t>PFD</a:t>
            </a:r>
            <a:endParaRPr lang="zh-CN" altLang="en-US" sz="1800" dirty="0"/>
          </a:p>
        </p:txBody>
      </p:sp>
      <p:sp>
        <p:nvSpPr>
          <p:cNvPr id="17" name="文本框 16"/>
          <p:cNvSpPr txBox="1"/>
          <p:nvPr/>
        </p:nvSpPr>
        <p:spPr>
          <a:xfrm>
            <a:off x="801811" y="3937756"/>
            <a:ext cx="1729781" cy="1200329"/>
          </a:xfrm>
          <a:prstGeom prst="rect">
            <a:avLst/>
          </a:prstGeom>
          <a:noFill/>
        </p:spPr>
        <p:txBody>
          <a:bodyPr wrap="square" rtlCol="0">
            <a:spAutoFit/>
          </a:bodyPr>
          <a:lstStyle/>
          <a:p>
            <a:r>
              <a:rPr lang="zh-CN" altLang="en-US" sz="1800" dirty="0" smtClean="0"/>
              <a:t>信号输入</a:t>
            </a:r>
            <a:endParaRPr lang="en-US" altLang="zh-CN" sz="1800" dirty="0" smtClean="0"/>
          </a:p>
          <a:p>
            <a:r>
              <a:rPr lang="zh-CN" altLang="en-US" sz="1800" dirty="0" smtClean="0"/>
              <a:t>带有输入整形支持接入信号为正弦波</a:t>
            </a:r>
            <a:endParaRPr lang="zh-CN" altLang="en-US" sz="1800" dirty="0"/>
          </a:p>
        </p:txBody>
      </p:sp>
    </p:spTree>
    <p:extLst>
      <p:ext uri="{BB962C8B-B14F-4D97-AF65-F5344CB8AC3E}">
        <p14:creationId xmlns:p14="http://schemas.microsoft.com/office/powerpoint/2010/main" val="51014532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345690" y="1749424"/>
            <a:ext cx="7588760" cy="4490441"/>
          </a:xfrm>
          <a:prstGeom prst="rect">
            <a:avLst/>
          </a:prstGeom>
        </p:spPr>
      </p:pic>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24</a:t>
            </a:fld>
            <a:endParaRPr lang="en-US" altLang="zh-CN"/>
          </a:p>
        </p:txBody>
      </p:sp>
      <p:sp>
        <p:nvSpPr>
          <p:cNvPr id="2" name="文本框 1"/>
          <p:cNvSpPr txBox="1"/>
          <p:nvPr/>
        </p:nvSpPr>
        <p:spPr>
          <a:xfrm>
            <a:off x="409651" y="462528"/>
            <a:ext cx="11411934" cy="1338828"/>
          </a:xfrm>
          <a:prstGeom prst="rect">
            <a:avLst/>
          </a:prstGeom>
          <a:noFill/>
        </p:spPr>
        <p:txBody>
          <a:bodyPr wrap="square" rtlCol="0">
            <a:spAutoFit/>
          </a:bodyPr>
          <a:lstStyle/>
          <a:p>
            <a:pPr>
              <a:lnSpc>
                <a:spcPct val="150000"/>
              </a:lnSpc>
            </a:pPr>
            <a:r>
              <a:rPr lang="zh-CN" altLang="en-US" sz="1800" dirty="0" smtClean="0">
                <a:latin typeface="黑体" panose="02010609060101010101" pitchFamily="49" charset="-122"/>
                <a:ea typeface="黑体" panose="02010609060101010101" pitchFamily="49" charset="-122"/>
              </a:rPr>
              <a:t>采用</a:t>
            </a:r>
            <a:r>
              <a:rPr lang="en-US" altLang="zh-CN" sz="1800" dirty="0"/>
              <a:t>MC145151-2</a:t>
            </a:r>
            <a:r>
              <a:rPr lang="zh-CN" altLang="en-US" sz="1800" dirty="0">
                <a:latin typeface="黑体" panose="02010609060101010101" pitchFamily="49" charset="-122"/>
                <a:ea typeface="黑体" panose="02010609060101010101" pitchFamily="49" charset="-122"/>
              </a:rPr>
              <a:t>的锁相环调频</a:t>
            </a:r>
            <a:r>
              <a:rPr lang="zh-CN" altLang="en-US" sz="1800" dirty="0" smtClean="0">
                <a:latin typeface="黑体" panose="02010609060101010101" pitchFamily="49" charset="-122"/>
                <a:ea typeface="黑体" panose="02010609060101010101" pitchFamily="49" charset="-122"/>
              </a:rPr>
              <a:t>电路图</a:t>
            </a:r>
            <a:endParaRPr lang="en-US" altLang="zh-CN" sz="1800" dirty="0" smtClean="0"/>
          </a:p>
          <a:p>
            <a:pPr indent="457200">
              <a:lnSpc>
                <a:spcPct val="150000"/>
              </a:lnSpc>
            </a:pPr>
            <a:r>
              <a:rPr lang="zh-CN" altLang="en-US" sz="1800" dirty="0" smtClean="0"/>
              <a:t>输出信号频率</a:t>
            </a:r>
            <a:r>
              <a:rPr lang="en-US" altLang="zh-CN" sz="1800" dirty="0" err="1" smtClean="0"/>
              <a:t>f</a:t>
            </a:r>
            <a:r>
              <a:rPr lang="en-US" altLang="zh-CN" sz="1800" baseline="-25000" dirty="0" err="1" smtClean="0"/>
              <a:t>o</a:t>
            </a:r>
            <a:r>
              <a:rPr lang="en-US" altLang="zh-CN" sz="1800" dirty="0" smtClean="0"/>
              <a:t>=N*(</a:t>
            </a:r>
            <a:r>
              <a:rPr lang="en-US" altLang="zh-CN" sz="1800" dirty="0" err="1" smtClean="0"/>
              <a:t>f</a:t>
            </a:r>
            <a:r>
              <a:rPr lang="en-US" altLang="zh-CN" sz="1800" baseline="-25000" dirty="0" err="1" smtClean="0"/>
              <a:t>r</a:t>
            </a:r>
            <a:r>
              <a:rPr lang="en-US" altLang="zh-CN" sz="1800" dirty="0" smtClean="0"/>
              <a:t>/R)</a:t>
            </a:r>
            <a:r>
              <a:rPr lang="zh-CN" altLang="en-US" sz="1800" dirty="0" smtClean="0"/>
              <a:t>，选用</a:t>
            </a:r>
            <a:r>
              <a:rPr lang="en-US" altLang="zh-CN" sz="1800" dirty="0"/>
              <a:t>8MHz</a:t>
            </a:r>
            <a:r>
              <a:rPr lang="zh-CN" altLang="en-US" sz="1800" dirty="0"/>
              <a:t>的晶振作为参考</a:t>
            </a:r>
            <a:r>
              <a:rPr lang="zh-CN" altLang="en-US" sz="1800" dirty="0" smtClean="0"/>
              <a:t>频率</a:t>
            </a:r>
            <a:r>
              <a:rPr lang="en-US" altLang="zh-CN" sz="1800" dirty="0" err="1"/>
              <a:t>f</a:t>
            </a:r>
            <a:r>
              <a:rPr lang="en-US" altLang="zh-CN" sz="1800" baseline="-25000" dirty="0" err="1"/>
              <a:t>r</a:t>
            </a:r>
            <a:r>
              <a:rPr lang="zh-CN" altLang="en-US" sz="1800" dirty="0" smtClean="0"/>
              <a:t>，</a:t>
            </a:r>
            <a:r>
              <a:rPr lang="zh-CN" altLang="en-US" sz="1800" dirty="0"/>
              <a:t>设定参考分频系数</a:t>
            </a:r>
            <a:r>
              <a:rPr lang="en-US" altLang="zh-CN" sz="1800" dirty="0"/>
              <a:t>R=1024</a:t>
            </a:r>
            <a:r>
              <a:rPr lang="zh-CN" altLang="en-US" sz="1800" dirty="0"/>
              <a:t>，反馈分频系数</a:t>
            </a:r>
            <a:r>
              <a:rPr lang="en-US" altLang="zh-CN" sz="1800" dirty="0"/>
              <a:t>N=6208</a:t>
            </a:r>
            <a:r>
              <a:rPr lang="zh-CN" altLang="en-US" sz="1800" dirty="0"/>
              <a:t>，则</a:t>
            </a:r>
            <a:r>
              <a:rPr lang="en-US" altLang="zh-CN" sz="1800" dirty="0" err="1"/>
              <a:t>f</a:t>
            </a:r>
            <a:r>
              <a:rPr lang="en-US" altLang="zh-CN" sz="1800" baseline="-25000" dirty="0" err="1"/>
              <a:t>o</a:t>
            </a:r>
            <a:r>
              <a:rPr lang="en-US" altLang="zh-CN" sz="1800" dirty="0"/>
              <a:t>=48.5MHz</a:t>
            </a:r>
            <a:r>
              <a:rPr lang="zh-CN" altLang="en-US" sz="1800" dirty="0" smtClean="0"/>
              <a:t>。芯片输入频率</a:t>
            </a:r>
            <a:r>
              <a:rPr lang="zh-CN" altLang="en-US" sz="1800" dirty="0"/>
              <a:t>不得大于</a:t>
            </a:r>
            <a:r>
              <a:rPr lang="en-US" altLang="zh-CN" sz="1800" dirty="0"/>
              <a:t>20MHz</a:t>
            </a:r>
            <a:r>
              <a:rPr lang="zh-CN" altLang="en-US" sz="1800" dirty="0"/>
              <a:t>，所以将</a:t>
            </a:r>
            <a:r>
              <a:rPr lang="en-US" altLang="zh-CN" sz="1800" dirty="0"/>
              <a:t>N</a:t>
            </a:r>
            <a:r>
              <a:rPr lang="zh-CN" altLang="en-US" sz="1800" dirty="0"/>
              <a:t>分为</a:t>
            </a:r>
            <a:r>
              <a:rPr lang="en-US" altLang="zh-CN" sz="1800" dirty="0"/>
              <a:t>2</a:t>
            </a:r>
            <a:r>
              <a:rPr lang="zh-CN" altLang="en-US" sz="1800" dirty="0"/>
              <a:t>部分：主芯片</a:t>
            </a:r>
            <a:r>
              <a:rPr lang="en-US" altLang="zh-CN" sz="1800" dirty="0"/>
              <a:t>÷</a:t>
            </a:r>
            <a:r>
              <a:rPr lang="en-US" altLang="zh-CN" sz="1800" dirty="0" smtClean="0"/>
              <a:t>776</a:t>
            </a:r>
            <a:r>
              <a:rPr lang="zh-CN" altLang="en-US" sz="1800" dirty="0" smtClean="0"/>
              <a:t>，预</a:t>
            </a:r>
            <a:r>
              <a:rPr lang="zh-CN" altLang="en-US" sz="1800" dirty="0"/>
              <a:t>分频器</a:t>
            </a:r>
            <a:r>
              <a:rPr lang="en-US" altLang="zh-CN" sz="1800" dirty="0"/>
              <a:t>÷</a:t>
            </a:r>
            <a:r>
              <a:rPr lang="en-US" altLang="zh-CN" sz="1800" dirty="0" smtClean="0"/>
              <a:t>8</a:t>
            </a:r>
            <a:endParaRPr lang="en-US" altLang="zh-CN" sz="1800" dirty="0"/>
          </a:p>
        </p:txBody>
      </p:sp>
      <p:cxnSp>
        <p:nvCxnSpPr>
          <p:cNvPr id="12" name="直接箭头连接符 11"/>
          <p:cNvCxnSpPr/>
          <p:nvPr/>
        </p:nvCxnSpPr>
        <p:spPr>
          <a:xfrm flipH="1">
            <a:off x="5793638" y="1727886"/>
            <a:ext cx="4601261" cy="34000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2801722" y="1719072"/>
            <a:ext cx="6422746" cy="104607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6989674" y="4922668"/>
            <a:ext cx="4619548" cy="1200329"/>
          </a:xfrm>
          <a:prstGeom prst="rect">
            <a:avLst/>
          </a:prstGeom>
          <a:noFill/>
        </p:spPr>
        <p:txBody>
          <a:bodyPr wrap="square" rtlCol="0">
            <a:spAutoFit/>
          </a:bodyPr>
          <a:lstStyle/>
          <a:p>
            <a:r>
              <a:rPr lang="zh-CN" altLang="en-US" sz="1800" dirty="0" smtClean="0">
                <a:solidFill>
                  <a:srgbClr val="FF0000"/>
                </a:solidFill>
                <a:latin typeface="Times New Roman" panose="02020603050405020304" pitchFamily="18" charset="0"/>
                <a:ea typeface="楷体" panose="02010609060101010101" pitchFamily="49" charset="-122"/>
              </a:rPr>
              <a:t>注意：预分频电路</a:t>
            </a:r>
            <a:r>
              <a:rPr lang="en-US" altLang="zh-CN" sz="1800" dirty="0" smtClean="0">
                <a:solidFill>
                  <a:srgbClr val="FF0000"/>
                </a:solidFill>
                <a:latin typeface="Times New Roman" panose="02020603050405020304" pitchFamily="18" charset="0"/>
                <a:ea typeface="楷体" panose="02010609060101010101" pitchFamily="49" charset="-122"/>
              </a:rPr>
              <a:t>MC12026</a:t>
            </a:r>
            <a:r>
              <a:rPr lang="zh-CN" altLang="en-US" sz="1800" dirty="0" smtClean="0">
                <a:solidFill>
                  <a:srgbClr val="FF0000"/>
                </a:solidFill>
                <a:latin typeface="Times New Roman" panose="02020603050405020304" pitchFamily="18" charset="0"/>
                <a:ea typeface="楷体" panose="02010609060101010101" pitchFamily="49" charset="-122"/>
              </a:rPr>
              <a:t>是</a:t>
            </a:r>
            <a:r>
              <a:rPr lang="en-US" altLang="zh-CN" sz="1800" dirty="0" smtClean="0">
                <a:solidFill>
                  <a:srgbClr val="FF0000"/>
                </a:solidFill>
                <a:latin typeface="Times New Roman" panose="02020603050405020304" pitchFamily="18" charset="0"/>
                <a:ea typeface="楷体" panose="02010609060101010101" pitchFamily="49" charset="-122"/>
              </a:rPr>
              <a:t>PECL</a:t>
            </a:r>
            <a:r>
              <a:rPr lang="zh-CN" altLang="en-US" sz="1800" dirty="0" smtClean="0">
                <a:solidFill>
                  <a:srgbClr val="FF0000"/>
                </a:solidFill>
                <a:latin typeface="Times New Roman" panose="02020603050405020304" pitchFamily="18" charset="0"/>
                <a:ea typeface="楷体" panose="02010609060101010101" pitchFamily="49" charset="-122"/>
              </a:rPr>
              <a:t>电路，最高工作频率达</a:t>
            </a:r>
            <a:r>
              <a:rPr lang="en-US" altLang="zh-CN" sz="1800" dirty="0" smtClean="0">
                <a:solidFill>
                  <a:srgbClr val="FF0000"/>
                </a:solidFill>
                <a:latin typeface="Times New Roman" panose="02020603050405020304" pitchFamily="18" charset="0"/>
                <a:ea typeface="楷体" panose="02010609060101010101" pitchFamily="49" charset="-122"/>
              </a:rPr>
              <a:t>1.1GHz</a:t>
            </a:r>
            <a:r>
              <a:rPr lang="zh-CN" altLang="en-US" sz="1800" dirty="0" smtClean="0">
                <a:solidFill>
                  <a:srgbClr val="FF0000"/>
                </a:solidFill>
                <a:latin typeface="Times New Roman" panose="02020603050405020304" pitchFamily="18" charset="0"/>
                <a:ea typeface="楷体" panose="02010609060101010101" pitchFamily="49" charset="-122"/>
              </a:rPr>
              <a:t>，但是其逻辑电平与</a:t>
            </a:r>
            <a:r>
              <a:rPr lang="en-US" altLang="zh-CN" sz="1800" dirty="0" smtClean="0">
                <a:solidFill>
                  <a:srgbClr val="FF0000"/>
                </a:solidFill>
                <a:latin typeface="Times New Roman" panose="02020603050405020304" pitchFamily="18" charset="0"/>
                <a:ea typeface="楷体" panose="02010609060101010101" pitchFamily="49" charset="-122"/>
              </a:rPr>
              <a:t>CMOS</a:t>
            </a:r>
            <a:r>
              <a:rPr lang="zh-CN" altLang="en-US" sz="1800" dirty="0" smtClean="0">
                <a:solidFill>
                  <a:srgbClr val="FF0000"/>
                </a:solidFill>
                <a:latin typeface="Times New Roman" panose="02020603050405020304" pitchFamily="18" charset="0"/>
                <a:ea typeface="楷体" panose="02010609060101010101" pitchFamily="49" charset="-122"/>
              </a:rPr>
              <a:t>电路不匹配，因此所有的信号耦合均采用交流耦合</a:t>
            </a:r>
            <a:endParaRPr lang="zh-CN" altLang="en-US" sz="1800" dirty="0">
              <a:solidFill>
                <a:srgbClr val="FF0000"/>
              </a:solidFill>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26742477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25</a:t>
            </a:fld>
            <a:endParaRPr lang="en-US" altLang="zh-CN"/>
          </a:p>
        </p:txBody>
      </p:sp>
      <p:sp>
        <p:nvSpPr>
          <p:cNvPr id="2" name="文本框 1"/>
          <p:cNvSpPr txBox="1"/>
          <p:nvPr/>
        </p:nvSpPr>
        <p:spPr>
          <a:xfrm>
            <a:off x="460858" y="399525"/>
            <a:ext cx="11360727" cy="1754326"/>
          </a:xfrm>
          <a:prstGeom prst="rect">
            <a:avLst/>
          </a:prstGeom>
          <a:noFill/>
        </p:spPr>
        <p:txBody>
          <a:bodyPr wrap="square" rtlCol="0">
            <a:spAutoFit/>
          </a:bodyPr>
          <a:lstStyle/>
          <a:p>
            <a:pPr>
              <a:lnSpc>
                <a:spcPct val="150000"/>
              </a:lnSpc>
            </a:pPr>
            <a:r>
              <a:rPr lang="en-US" altLang="zh-CN" sz="1800" dirty="0"/>
              <a:t>VCO</a:t>
            </a:r>
            <a:r>
              <a:rPr lang="zh-CN" altLang="en-US" sz="1800" dirty="0"/>
              <a:t>设计</a:t>
            </a:r>
            <a:endParaRPr lang="en-US" altLang="zh-CN" sz="1800" dirty="0"/>
          </a:p>
          <a:p>
            <a:pPr indent="457200">
              <a:lnSpc>
                <a:spcPct val="150000"/>
              </a:lnSpc>
            </a:pPr>
            <a:r>
              <a:rPr lang="zh-CN" altLang="en-US" sz="1800" dirty="0"/>
              <a:t>选用</a:t>
            </a:r>
            <a:r>
              <a:rPr lang="en-US" altLang="zh-CN" sz="1800" dirty="0"/>
              <a:t>MC1648</a:t>
            </a:r>
            <a:r>
              <a:rPr lang="zh-CN" altLang="en-US" sz="1800" dirty="0"/>
              <a:t>作为</a:t>
            </a:r>
            <a:r>
              <a:rPr lang="en-US" altLang="zh-CN" sz="1800" dirty="0"/>
              <a:t>VCO</a:t>
            </a:r>
            <a:r>
              <a:rPr lang="zh-CN" altLang="en-US" sz="1800" dirty="0"/>
              <a:t>，选用变容二极管</a:t>
            </a:r>
            <a:r>
              <a:rPr lang="en-US" altLang="zh-CN" sz="1800" dirty="0"/>
              <a:t>BB729</a:t>
            </a:r>
            <a:r>
              <a:rPr lang="zh-CN" altLang="en-US" sz="1800" dirty="0"/>
              <a:t>作为振荡元件。查</a:t>
            </a:r>
            <a:r>
              <a:rPr lang="en-US" altLang="zh-CN" sz="1800" dirty="0"/>
              <a:t>BB729</a:t>
            </a:r>
            <a:r>
              <a:rPr lang="zh-CN" altLang="en-US" sz="1800" dirty="0"/>
              <a:t>器件手册可知，两个二极管串联后，</a:t>
            </a:r>
            <a:r>
              <a:rPr lang="zh-CN" altLang="zh-CN" sz="1800" dirty="0"/>
              <a:t>在反向电压</a:t>
            </a:r>
            <a:r>
              <a:rPr lang="en-US" altLang="zh-CN" sz="1800" dirty="0"/>
              <a:t>2.5V</a:t>
            </a:r>
            <a:r>
              <a:rPr lang="zh-CN" altLang="en-US" sz="1800" dirty="0"/>
              <a:t>（中心频率）附近的容量约为</a:t>
            </a:r>
            <a:r>
              <a:rPr lang="en-US" altLang="zh-CN" sz="1800" dirty="0" smtClean="0"/>
              <a:t>12pF</a:t>
            </a:r>
            <a:r>
              <a:rPr lang="zh-CN" altLang="en-US" sz="1800" dirty="0" smtClean="0"/>
              <a:t>。</a:t>
            </a:r>
            <a:r>
              <a:rPr lang="zh-CN" altLang="en-US" sz="1800" dirty="0"/>
              <a:t>题目要求中心频率</a:t>
            </a:r>
            <a:r>
              <a:rPr lang="en-US" altLang="zh-CN" sz="1800" dirty="0"/>
              <a:t>48.5MHz</a:t>
            </a:r>
            <a:r>
              <a:rPr lang="zh-CN" altLang="en-US" sz="1800" dirty="0"/>
              <a:t>，可算得</a:t>
            </a:r>
            <a:r>
              <a:rPr lang="en-US" altLang="zh-CN" sz="1800" dirty="0"/>
              <a:t>L</a:t>
            </a:r>
            <a:r>
              <a:rPr lang="zh-CN" altLang="en-US" sz="1800" dirty="0"/>
              <a:t>约</a:t>
            </a:r>
            <a:r>
              <a:rPr lang="zh-CN" altLang="en-US" sz="1800" dirty="0" smtClean="0"/>
              <a:t>为</a:t>
            </a:r>
            <a:r>
              <a:rPr lang="en-US" altLang="zh-CN" sz="1800" dirty="0" smtClean="0"/>
              <a:t>0.9</a:t>
            </a:r>
            <a:r>
              <a:rPr lang="el-GR" altLang="zh-CN" sz="1800" dirty="0" smtClean="0"/>
              <a:t>μ</a:t>
            </a:r>
            <a:r>
              <a:rPr lang="en-US" altLang="zh-CN" sz="1800" dirty="0" smtClean="0"/>
              <a:t>H</a:t>
            </a:r>
            <a:r>
              <a:rPr lang="zh-CN" altLang="en-US" sz="1800" dirty="0"/>
              <a:t>。 </a:t>
            </a:r>
            <a:r>
              <a:rPr lang="zh-CN" altLang="en-US" sz="1800" dirty="0" smtClean="0"/>
              <a:t>中心频率处</a:t>
            </a:r>
            <a:r>
              <a:rPr lang="zh-CN" altLang="zh-CN" sz="1800" dirty="0" smtClean="0"/>
              <a:t>容</a:t>
            </a:r>
            <a:r>
              <a:rPr lang="zh-CN" altLang="en-US" sz="1800" dirty="0" smtClean="0"/>
              <a:t>量</a:t>
            </a:r>
            <a:r>
              <a:rPr lang="zh-CN" altLang="zh-CN" sz="1800" dirty="0"/>
              <a:t>变化</a:t>
            </a:r>
            <a:r>
              <a:rPr lang="zh-CN" altLang="en-US" sz="1800" dirty="0"/>
              <a:t>率</a:t>
            </a:r>
            <a:r>
              <a:rPr lang="zh-CN" altLang="zh-CN" sz="1800" dirty="0"/>
              <a:t>大概是</a:t>
            </a:r>
            <a:r>
              <a:rPr lang="en-US" altLang="zh-CN" sz="1800" dirty="0" smtClean="0"/>
              <a:t>2.5pF/V</a:t>
            </a:r>
            <a:r>
              <a:rPr lang="zh-CN" altLang="en-US" sz="1800" dirty="0" smtClean="0"/>
              <a:t>，所以压</a:t>
            </a:r>
            <a:r>
              <a:rPr lang="zh-CN" altLang="en-US" sz="1800" dirty="0"/>
              <a:t>控增益</a:t>
            </a:r>
            <a:r>
              <a:rPr lang="en-US" altLang="zh-CN" sz="1800" dirty="0"/>
              <a:t>K</a:t>
            </a:r>
            <a:r>
              <a:rPr lang="en-US" altLang="zh-CN" sz="1800" baseline="-25000" dirty="0"/>
              <a:t>O</a:t>
            </a:r>
            <a:r>
              <a:rPr lang="en-US" altLang="zh-CN" sz="1800" dirty="0" smtClean="0"/>
              <a:t>≈6MHz/V=3.8×10</a:t>
            </a:r>
            <a:r>
              <a:rPr lang="en-US" altLang="zh-CN" sz="1800" baseline="30000" dirty="0" smtClean="0"/>
              <a:t>7 </a:t>
            </a:r>
            <a:r>
              <a:rPr lang="en-US" altLang="zh-CN" sz="1800" dirty="0" smtClean="0"/>
              <a:t>rad/sec/V</a:t>
            </a:r>
            <a:endParaRPr lang="zh-CN" altLang="en-US" sz="1800" dirty="0"/>
          </a:p>
        </p:txBody>
      </p:sp>
      <p:pic>
        <p:nvPicPr>
          <p:cNvPr id="9" name="图片 8"/>
          <p:cNvPicPr>
            <a:picLocks noChangeAspect="1"/>
          </p:cNvPicPr>
          <p:nvPr/>
        </p:nvPicPr>
        <p:blipFill>
          <a:blip r:embed="rId3"/>
          <a:stretch>
            <a:fillRect/>
          </a:stretch>
        </p:blipFill>
        <p:spPr>
          <a:xfrm>
            <a:off x="2395761" y="2312115"/>
            <a:ext cx="3166321" cy="2791492"/>
          </a:xfrm>
          <a:prstGeom prst="rect">
            <a:avLst/>
          </a:prstGeom>
        </p:spPr>
      </p:pic>
      <p:pic>
        <p:nvPicPr>
          <p:cNvPr id="10" name="图片 9"/>
          <p:cNvPicPr>
            <a:picLocks noChangeAspect="1"/>
          </p:cNvPicPr>
          <p:nvPr/>
        </p:nvPicPr>
        <p:blipFill>
          <a:blip r:embed="rId4"/>
          <a:stretch>
            <a:fillRect/>
          </a:stretch>
        </p:blipFill>
        <p:spPr>
          <a:xfrm>
            <a:off x="7238106" y="2103261"/>
            <a:ext cx="2907455" cy="3959217"/>
          </a:xfrm>
          <a:prstGeom prst="rect">
            <a:avLst/>
          </a:prstGeom>
        </p:spPr>
      </p:pic>
      <p:sp>
        <p:nvSpPr>
          <p:cNvPr id="4" name="文本框 3"/>
          <p:cNvSpPr txBox="1"/>
          <p:nvPr/>
        </p:nvSpPr>
        <p:spPr>
          <a:xfrm>
            <a:off x="541325" y="5490951"/>
            <a:ext cx="6356113" cy="646331"/>
          </a:xfrm>
          <a:prstGeom prst="rect">
            <a:avLst/>
          </a:prstGeom>
          <a:noFill/>
        </p:spPr>
        <p:txBody>
          <a:bodyPr wrap="square" rtlCol="0">
            <a:spAutoFit/>
          </a:bodyPr>
          <a:lstStyle/>
          <a:p>
            <a:pPr indent="-457200"/>
            <a:r>
              <a:rPr lang="zh-CN" altLang="en-US" sz="1800" dirty="0">
                <a:latin typeface="华文楷体" panose="02010600040101010101" pitchFamily="2" charset="-122"/>
                <a:ea typeface="华文楷体" panose="02010600040101010101" pitchFamily="2" charset="-122"/>
              </a:rPr>
              <a:t>注：为了方便调整频率，可将</a:t>
            </a:r>
            <a:r>
              <a:rPr lang="en-US" altLang="zh-CN" sz="1800" dirty="0">
                <a:latin typeface="华文楷体" panose="02010600040101010101" pitchFamily="2" charset="-122"/>
                <a:ea typeface="华文楷体" panose="02010600040101010101" pitchFamily="2" charset="-122"/>
              </a:rPr>
              <a:t>L</a:t>
            </a:r>
            <a:r>
              <a:rPr lang="zh-CN" altLang="en-US" sz="1800" dirty="0">
                <a:latin typeface="华文楷体" panose="02010600040101010101" pitchFamily="2" charset="-122"/>
                <a:ea typeface="华文楷体" panose="02010600040101010101" pitchFamily="2" charset="-122"/>
              </a:rPr>
              <a:t>制作成可调电感，或者在</a:t>
            </a:r>
            <a:r>
              <a:rPr lang="en-US" altLang="zh-CN" sz="1800" dirty="0">
                <a:latin typeface="华文楷体" panose="02010600040101010101" pitchFamily="2" charset="-122"/>
                <a:ea typeface="华文楷体" panose="02010600040101010101" pitchFamily="2" charset="-122"/>
              </a:rPr>
              <a:t>L</a:t>
            </a:r>
            <a:r>
              <a:rPr lang="zh-CN" altLang="en-US" sz="1800" dirty="0">
                <a:latin typeface="华文楷体" panose="02010600040101010101" pitchFamily="2" charset="-122"/>
                <a:ea typeface="华文楷体" panose="02010600040101010101" pitchFamily="2" charset="-122"/>
              </a:rPr>
              <a:t>两端并联一个微调电容（此时需重新计算</a:t>
            </a:r>
            <a:r>
              <a:rPr lang="en-US" altLang="zh-CN" sz="1800" dirty="0">
                <a:latin typeface="华文楷体" panose="02010600040101010101" pitchFamily="2" charset="-122"/>
                <a:ea typeface="华文楷体" panose="02010600040101010101" pitchFamily="2" charset="-122"/>
              </a:rPr>
              <a:t>L</a:t>
            </a:r>
            <a:r>
              <a:rPr lang="zh-CN" altLang="en-US" sz="1800" dirty="0">
                <a:latin typeface="华文楷体" panose="02010600040101010101" pitchFamily="2" charset="-122"/>
                <a:ea typeface="华文楷体" panose="02010600040101010101" pitchFamily="2" charset="-122"/>
              </a:rPr>
              <a:t>以及压控增益</a:t>
            </a:r>
            <a:r>
              <a:rPr lang="en-US" altLang="zh-CN" sz="1800" dirty="0">
                <a:latin typeface="华文楷体" panose="02010600040101010101" pitchFamily="2" charset="-122"/>
                <a:ea typeface="华文楷体" panose="02010600040101010101" pitchFamily="2" charset="-122"/>
              </a:rPr>
              <a:t>)</a:t>
            </a:r>
            <a:endParaRPr lang="zh-CN" altLang="en-US" sz="18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9804563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dirty="0" smtClean="0">
                <a:solidFill>
                  <a:srgbClr val="FFFFFF"/>
                </a:solidFill>
              </a:rPr>
              <a:t>大学生电子竞赛培训</a:t>
            </a:r>
            <a:endParaRPr lang="en-US" altLang="zh-CN" dirty="0">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26</a:t>
            </a:fld>
            <a:endParaRPr lang="en-US" altLang="zh-CN">
              <a:solidFill>
                <a:srgbClr val="FFFFFF"/>
              </a:solidFill>
            </a:endParaRPr>
          </a:p>
        </p:txBody>
      </p:sp>
      <p:sp>
        <p:nvSpPr>
          <p:cNvPr id="5" name="矩形 4"/>
          <p:cNvSpPr/>
          <p:nvPr/>
        </p:nvSpPr>
        <p:spPr>
          <a:xfrm>
            <a:off x="624417" y="494484"/>
            <a:ext cx="6671463" cy="3485570"/>
          </a:xfrm>
          <a:prstGeom prst="rect">
            <a:avLst/>
          </a:prstGeom>
        </p:spPr>
        <p:txBody>
          <a:bodyPr wrap="square">
            <a:spAutoFit/>
          </a:bodyPr>
          <a:lstStyle/>
          <a:p>
            <a:pPr>
              <a:lnSpc>
                <a:spcPct val="150000"/>
              </a:lnSpc>
              <a:spcBef>
                <a:spcPts val="600"/>
              </a:spcBef>
              <a:spcAft>
                <a:spcPts val="600"/>
              </a:spcAft>
            </a:pPr>
            <a:r>
              <a:rPr lang="zh-CN" altLang="en-US" sz="1800" dirty="0"/>
              <a:t>环路滤波器设计</a:t>
            </a:r>
            <a:endParaRPr lang="en-US" altLang="zh-CN" sz="1800" dirty="0"/>
          </a:p>
          <a:p>
            <a:pPr marL="285750" indent="-285750">
              <a:lnSpc>
                <a:spcPct val="150000"/>
              </a:lnSpc>
              <a:spcBef>
                <a:spcPts val="600"/>
              </a:spcBef>
              <a:spcAft>
                <a:spcPts val="600"/>
              </a:spcAft>
              <a:buFont typeface="Arial" panose="020B0604020202020204" pitchFamily="34" charset="0"/>
              <a:buChar char="•"/>
            </a:pPr>
            <a:r>
              <a:rPr lang="zh-CN" altLang="en-US" sz="1800" dirty="0" smtClean="0"/>
              <a:t>要求时间常数</a:t>
            </a:r>
            <a:endParaRPr lang="en-US" altLang="zh-CN" sz="1800" dirty="0"/>
          </a:p>
          <a:p>
            <a:pPr indent="457200">
              <a:lnSpc>
                <a:spcPct val="150000"/>
              </a:lnSpc>
              <a:spcBef>
                <a:spcPts val="1200"/>
              </a:spcBef>
              <a:spcAft>
                <a:spcPts val="600"/>
              </a:spcAft>
            </a:pPr>
            <a:endParaRPr lang="en-US" altLang="zh-CN" sz="100" dirty="0" smtClean="0"/>
          </a:p>
          <a:p>
            <a:pPr marL="285750" indent="-285750">
              <a:lnSpc>
                <a:spcPct val="150000"/>
              </a:lnSpc>
              <a:buFont typeface="Arial" panose="020B0604020202020204" pitchFamily="34" charset="0"/>
              <a:buChar char="•"/>
            </a:pPr>
            <a:r>
              <a:rPr lang="zh-CN" altLang="en-US" sz="1800" dirty="0" smtClean="0"/>
              <a:t>题目中要求</a:t>
            </a:r>
            <a:r>
              <a:rPr lang="zh-CN" altLang="zh-CN" sz="1800" dirty="0"/>
              <a:t>载波频率</a:t>
            </a:r>
            <a:r>
              <a:rPr lang="zh-CN" altLang="zh-CN" sz="1800" dirty="0" smtClean="0"/>
              <a:t>相对误差</a:t>
            </a:r>
            <a:r>
              <a:rPr lang="en-US" altLang="zh-CN" sz="1800" dirty="0" smtClean="0"/>
              <a:t> </a:t>
            </a:r>
            <a:r>
              <a:rPr lang="el-GR" altLang="zh-CN" sz="1800" dirty="0" smtClean="0">
                <a:latin typeface="+mn-lt"/>
              </a:rPr>
              <a:t>Δ</a:t>
            </a:r>
            <a:r>
              <a:rPr lang="en-US" altLang="zh-CN" sz="1800" i="1" dirty="0" smtClean="0">
                <a:latin typeface="+mn-lt"/>
              </a:rPr>
              <a:t>f </a:t>
            </a:r>
            <a:r>
              <a:rPr lang="en-US" altLang="zh-CN" sz="1800" dirty="0" smtClean="0">
                <a:latin typeface="+mn-lt"/>
              </a:rPr>
              <a:t>/ </a:t>
            </a:r>
            <a:r>
              <a:rPr lang="en-US" altLang="zh-CN" sz="1800" i="1" dirty="0" smtClean="0">
                <a:latin typeface="+mn-lt"/>
              </a:rPr>
              <a:t>f </a:t>
            </a:r>
            <a:r>
              <a:rPr lang="zh-CN" altLang="zh-CN" sz="1800" dirty="0" smtClean="0"/>
              <a:t>不</a:t>
            </a:r>
            <a:r>
              <a:rPr lang="zh-CN" altLang="zh-CN" sz="1800" dirty="0"/>
              <a:t>大于</a:t>
            </a:r>
            <a:r>
              <a:rPr lang="en-US" altLang="zh-CN" sz="1800" dirty="0"/>
              <a:t>1</a:t>
            </a:r>
            <a:r>
              <a:rPr lang="zh-CN" altLang="zh-CN" sz="1800" dirty="0"/>
              <a:t>‰</a:t>
            </a:r>
            <a:endParaRPr lang="en-US" altLang="zh-CN" sz="1800" dirty="0" smtClean="0"/>
          </a:p>
          <a:p>
            <a:pPr marL="285750" indent="-285750">
              <a:lnSpc>
                <a:spcPct val="150000"/>
              </a:lnSpc>
              <a:buFont typeface="Arial" panose="020B0604020202020204" pitchFamily="34" charset="0"/>
              <a:buChar char="•"/>
            </a:pPr>
            <a:r>
              <a:rPr lang="zh-CN" altLang="zh-CN" sz="1800" dirty="0"/>
              <a:t>题目规定调制信号为语音信号，通常语音信号的频率范围为</a:t>
            </a:r>
            <a:r>
              <a:rPr lang="en-US" altLang="zh-CN" sz="1800" dirty="0"/>
              <a:t>300Hz~3400Hz</a:t>
            </a:r>
            <a:r>
              <a:rPr lang="zh-CN" altLang="zh-CN" sz="1800" dirty="0"/>
              <a:t>，所以调制信号的最大周期为</a:t>
            </a:r>
            <a:r>
              <a:rPr lang="en-US" altLang="zh-CN" sz="1800" i="1" dirty="0" err="1" smtClean="0"/>
              <a:t>T</a:t>
            </a:r>
            <a:r>
              <a:rPr lang="en-US" altLang="zh-CN" sz="1800" i="1" baseline="-25000" dirty="0" err="1" smtClean="0"/>
              <a:t>max</a:t>
            </a:r>
            <a:r>
              <a:rPr lang="en-US" altLang="zh-CN" sz="1800" dirty="0" smtClean="0"/>
              <a:t>=3.3ms</a:t>
            </a:r>
            <a:endParaRPr lang="en-US" altLang="zh-CN" sz="1800" dirty="0"/>
          </a:p>
          <a:p>
            <a:pPr marL="285750" indent="-285750">
              <a:lnSpc>
                <a:spcPct val="150000"/>
              </a:lnSpc>
              <a:buFont typeface="Arial" panose="020B0604020202020204" pitchFamily="34" charset="0"/>
              <a:buChar char="•"/>
            </a:pPr>
            <a:r>
              <a:rPr lang="zh-CN" altLang="en-US" sz="1800" dirty="0" smtClean="0"/>
              <a:t>代入公式，得到</a:t>
            </a:r>
            <a:r>
              <a:rPr lang="en-US" altLang="zh-CN" sz="1800" dirty="0" smtClean="0"/>
              <a:t>RC&gt;0.41s</a:t>
            </a:r>
          </a:p>
          <a:p>
            <a:pPr marL="285750" indent="-285750">
              <a:lnSpc>
                <a:spcPct val="150000"/>
              </a:lnSpc>
              <a:buFont typeface="Arial" panose="020B0604020202020204" pitchFamily="34" charset="0"/>
              <a:buChar char="•"/>
            </a:pPr>
            <a:r>
              <a:rPr lang="zh-CN" altLang="en-US" sz="1800" dirty="0" smtClean="0"/>
              <a:t>取</a:t>
            </a:r>
            <a:r>
              <a:rPr lang="en-US" altLang="zh-CN" sz="1800" dirty="0" smtClean="0"/>
              <a:t>R=220k</a:t>
            </a:r>
            <a:r>
              <a:rPr lang="el-GR" altLang="zh-CN" sz="1800" dirty="0" smtClean="0"/>
              <a:t>Ω</a:t>
            </a:r>
            <a:r>
              <a:rPr lang="zh-CN" altLang="en-US" sz="1800" dirty="0" smtClean="0"/>
              <a:t>、</a:t>
            </a:r>
            <a:r>
              <a:rPr lang="en-US" altLang="zh-CN" sz="1800" dirty="0" smtClean="0"/>
              <a:t>C=2.2</a:t>
            </a:r>
            <a:r>
              <a:rPr lang="el-GR" altLang="zh-CN" sz="1800" dirty="0" smtClean="0"/>
              <a:t>μ</a:t>
            </a:r>
            <a:r>
              <a:rPr lang="en-US" altLang="zh-CN" sz="1800" dirty="0" smtClean="0"/>
              <a:t>F</a:t>
            </a:r>
            <a:r>
              <a:rPr lang="zh-CN" altLang="en-US" sz="1800" dirty="0" smtClean="0"/>
              <a:t>，可满足要求</a:t>
            </a:r>
            <a:endParaRPr lang="en-US" altLang="zh-CN" sz="1800" dirty="0" smtClean="0"/>
          </a:p>
        </p:txBody>
      </p:sp>
      <p:graphicFrame>
        <p:nvGraphicFramePr>
          <p:cNvPr id="9" name="对象 8"/>
          <p:cNvGraphicFramePr>
            <a:graphicFrameLocks noChangeAspect="1"/>
          </p:cNvGraphicFramePr>
          <p:nvPr>
            <p:extLst>
              <p:ext uri="{D42A27DB-BD31-4B8C-83A1-F6EECF244321}">
                <p14:modId xmlns:p14="http://schemas.microsoft.com/office/powerpoint/2010/main" val="2717379668"/>
              </p:ext>
            </p:extLst>
          </p:nvPr>
        </p:nvGraphicFramePr>
        <p:xfrm>
          <a:off x="2441048" y="1019708"/>
          <a:ext cx="1735137" cy="742950"/>
        </p:xfrm>
        <a:graphic>
          <a:graphicData uri="http://schemas.openxmlformats.org/presentationml/2006/ole">
            <mc:AlternateContent xmlns:mc="http://schemas.openxmlformats.org/markup-compatibility/2006">
              <mc:Choice xmlns:v="urn:schemas-microsoft-com:vml" Requires="v">
                <p:oleObj spid="_x0000_s28766" name="Equation" r:id="rId3" imgW="888840" imgH="380880" progId="Equation.DSMT4">
                  <p:embed/>
                </p:oleObj>
              </mc:Choice>
              <mc:Fallback>
                <p:oleObj name="Equation" r:id="rId3" imgW="888840" imgH="380880" progId="Equation.DSMT4">
                  <p:embed/>
                  <p:pic>
                    <p:nvPicPr>
                      <p:cNvPr id="9" name="对象 8"/>
                      <p:cNvPicPr>
                        <a:picLocks noChangeAspect="1" noChangeArrowheads="1"/>
                      </p:cNvPicPr>
                      <p:nvPr/>
                    </p:nvPicPr>
                    <p:blipFill>
                      <a:blip r:embed="rId4"/>
                      <a:srcRect/>
                      <a:stretch>
                        <a:fillRect/>
                      </a:stretch>
                    </p:blipFill>
                    <p:spPr bwMode="auto">
                      <a:xfrm>
                        <a:off x="2441048" y="1019708"/>
                        <a:ext cx="1735137" cy="742950"/>
                      </a:xfrm>
                      <a:prstGeom prst="rect">
                        <a:avLst/>
                      </a:prstGeom>
                      <a:noFill/>
                    </p:spPr>
                  </p:pic>
                </p:oleObj>
              </mc:Fallback>
            </mc:AlternateContent>
          </a:graphicData>
        </a:graphic>
      </p:graphicFrame>
      <p:pic>
        <p:nvPicPr>
          <p:cNvPr id="11" name="图片 10"/>
          <p:cNvPicPr>
            <a:picLocks noChangeAspect="1"/>
          </p:cNvPicPr>
          <p:nvPr/>
        </p:nvPicPr>
        <p:blipFill>
          <a:blip r:embed="rId5"/>
          <a:stretch>
            <a:fillRect/>
          </a:stretch>
        </p:blipFill>
        <p:spPr>
          <a:xfrm>
            <a:off x="8086750" y="1922576"/>
            <a:ext cx="2403247" cy="1201624"/>
          </a:xfrm>
          <a:prstGeom prst="rect">
            <a:avLst/>
          </a:prstGeom>
        </p:spPr>
      </p:pic>
    </p:spTree>
    <p:extLst>
      <p:ext uri="{BB962C8B-B14F-4D97-AF65-F5344CB8AC3E}">
        <p14:creationId xmlns:p14="http://schemas.microsoft.com/office/powerpoint/2010/main" val="245129606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27</a:t>
            </a:fld>
            <a:endParaRPr lang="en-US" altLang="zh-CN">
              <a:solidFill>
                <a:srgbClr val="FFFFFF"/>
              </a:solidFill>
            </a:endParaRPr>
          </a:p>
        </p:txBody>
      </p:sp>
      <p:sp>
        <p:nvSpPr>
          <p:cNvPr id="5" name="文本框 4"/>
          <p:cNvSpPr txBox="1"/>
          <p:nvPr/>
        </p:nvSpPr>
        <p:spPr>
          <a:xfrm>
            <a:off x="395021" y="501227"/>
            <a:ext cx="11426564" cy="2585323"/>
          </a:xfrm>
          <a:prstGeom prst="rect">
            <a:avLst/>
          </a:prstGeom>
          <a:noFill/>
        </p:spPr>
        <p:txBody>
          <a:bodyPr wrap="square" rtlCol="0">
            <a:spAutoFit/>
          </a:bodyPr>
          <a:lstStyle/>
          <a:p>
            <a:pPr>
              <a:lnSpc>
                <a:spcPct val="150000"/>
              </a:lnSpc>
            </a:pPr>
            <a:r>
              <a:rPr lang="zh-CN" altLang="en-US" sz="1800" dirty="0"/>
              <a:t>加法器</a:t>
            </a:r>
            <a:endParaRPr lang="en-US" altLang="zh-CN" sz="1800" dirty="0"/>
          </a:p>
          <a:p>
            <a:pPr indent="457200">
              <a:lnSpc>
                <a:spcPct val="150000"/>
              </a:lnSpc>
            </a:pPr>
            <a:r>
              <a:rPr lang="zh-CN" altLang="en-US" sz="1800" dirty="0" smtClean="0"/>
              <a:t>几个调制信号与漂移电压用</a:t>
            </a:r>
            <a:r>
              <a:rPr lang="zh-CN" altLang="en-US" sz="1800" dirty="0"/>
              <a:t>反相</a:t>
            </a:r>
            <a:r>
              <a:rPr lang="zh-CN" altLang="en-US" sz="1800" dirty="0" smtClean="0"/>
              <a:t>加法器叠加，但是</a:t>
            </a:r>
            <a:r>
              <a:rPr lang="en-US" altLang="zh-CN" sz="1800" dirty="0" smtClean="0"/>
              <a:t>PFD</a:t>
            </a:r>
            <a:r>
              <a:rPr lang="zh-CN" altLang="en-US" sz="1800" dirty="0" smtClean="0"/>
              <a:t>的输出采用同相跟随</a:t>
            </a:r>
            <a:endParaRPr lang="en-US" altLang="zh-CN" sz="1800" dirty="0" smtClean="0"/>
          </a:p>
          <a:p>
            <a:pPr indent="457200">
              <a:lnSpc>
                <a:spcPct val="150000"/>
              </a:lnSpc>
            </a:pPr>
            <a:r>
              <a:rPr lang="zh-CN" altLang="en-US" sz="1800" dirty="0" smtClean="0"/>
              <a:t>采用</a:t>
            </a:r>
            <a:r>
              <a:rPr lang="zh-CN" altLang="en-US" sz="1800" dirty="0"/>
              <a:t>反相加法器的好处是：通过</a:t>
            </a:r>
            <a:r>
              <a:rPr lang="zh-CN" altLang="en-US" sz="1800" dirty="0" smtClean="0"/>
              <a:t>改变权电</a:t>
            </a:r>
            <a:r>
              <a:rPr lang="zh-CN" altLang="en-US" sz="1800" dirty="0"/>
              <a:t>阻值，可以方便地改变几个调制信号的比例（调制灵敏度）</a:t>
            </a:r>
            <a:r>
              <a:rPr lang="zh-CN" altLang="en-US" sz="1800" dirty="0" smtClean="0"/>
              <a:t>。由于反相放大器输入端的虚地特性，自动隔离几个输入之间的相互干扰，当某个信号</a:t>
            </a:r>
            <a:r>
              <a:rPr lang="zh-CN" altLang="en-US" sz="1800" dirty="0"/>
              <a:t>为</a:t>
            </a:r>
            <a:r>
              <a:rPr lang="en-US" altLang="zh-CN" sz="1800" dirty="0"/>
              <a:t>0</a:t>
            </a:r>
            <a:r>
              <a:rPr lang="zh-CN" altLang="en-US" sz="1800" dirty="0"/>
              <a:t>时，其影响自动</a:t>
            </a:r>
            <a:r>
              <a:rPr lang="zh-CN" altLang="en-US" sz="1800" dirty="0" smtClean="0"/>
              <a:t>归零</a:t>
            </a:r>
            <a:endParaRPr lang="en-US" altLang="zh-CN" sz="1800" dirty="0" smtClean="0"/>
          </a:p>
          <a:p>
            <a:pPr indent="457200">
              <a:lnSpc>
                <a:spcPct val="150000"/>
              </a:lnSpc>
            </a:pPr>
            <a:r>
              <a:rPr lang="zh-CN" altLang="en-US" sz="1800" dirty="0" smtClean="0"/>
              <a:t>由于漂移电压的周期很大（</a:t>
            </a:r>
            <a:r>
              <a:rPr lang="en-US" altLang="zh-CN" sz="1800" dirty="0" smtClean="0"/>
              <a:t>2s</a:t>
            </a:r>
            <a:r>
              <a:rPr lang="zh-CN" altLang="en-US" sz="1800" dirty="0" smtClean="0"/>
              <a:t>），所以采用了直流耦合。但是此时的“</a:t>
            </a:r>
            <a:r>
              <a:rPr lang="en-US" altLang="zh-CN" sz="1800" dirty="0" smtClean="0"/>
              <a:t>0</a:t>
            </a:r>
            <a:r>
              <a:rPr lang="zh-CN" altLang="en-US" sz="1800" dirty="0" smtClean="0"/>
              <a:t>”电平不是电源的</a:t>
            </a:r>
            <a:r>
              <a:rPr lang="en-US" altLang="zh-CN" sz="1800" dirty="0" smtClean="0"/>
              <a:t>0</a:t>
            </a:r>
            <a:r>
              <a:rPr lang="zh-CN" altLang="en-US" sz="1800" dirty="0" smtClean="0"/>
              <a:t>，而是</a:t>
            </a:r>
            <a:r>
              <a:rPr lang="en-US" altLang="zh-CN" sz="1800" dirty="0" smtClean="0"/>
              <a:t>PFD</a:t>
            </a:r>
            <a:r>
              <a:rPr lang="zh-CN" altLang="en-US" sz="1800" dirty="0" smtClean="0"/>
              <a:t>输出的“</a:t>
            </a:r>
            <a:r>
              <a:rPr lang="en-US" altLang="zh-CN" sz="1800" dirty="0" smtClean="0"/>
              <a:t>0</a:t>
            </a:r>
            <a:r>
              <a:rPr lang="zh-CN" altLang="en-US" sz="1800" dirty="0" smtClean="0"/>
              <a:t>”电平，即大约是电源电压的一半。</a:t>
            </a:r>
            <a:endParaRPr lang="zh-CN" altLang="en-US" sz="1800" dirty="0"/>
          </a:p>
        </p:txBody>
      </p:sp>
      <p:sp>
        <p:nvSpPr>
          <p:cNvPr id="6" name="文本框 5"/>
          <p:cNvSpPr txBox="1"/>
          <p:nvPr/>
        </p:nvSpPr>
        <p:spPr>
          <a:xfrm>
            <a:off x="5669280" y="3145536"/>
            <a:ext cx="6152305" cy="2169825"/>
          </a:xfrm>
          <a:prstGeom prst="rect">
            <a:avLst/>
          </a:prstGeom>
          <a:noFill/>
        </p:spPr>
        <p:txBody>
          <a:bodyPr wrap="square" rtlCol="0">
            <a:spAutoFit/>
          </a:bodyPr>
          <a:lstStyle/>
          <a:p>
            <a:pPr>
              <a:lnSpc>
                <a:spcPct val="150000"/>
              </a:lnSpc>
            </a:pPr>
            <a:r>
              <a:rPr lang="zh-CN" altLang="en-US" sz="1800" dirty="0" smtClean="0"/>
              <a:t>调制信号的权电阻计算：</a:t>
            </a:r>
            <a:endParaRPr lang="en-US" altLang="zh-CN" sz="1800" dirty="0" smtClean="0"/>
          </a:p>
          <a:p>
            <a:pPr>
              <a:lnSpc>
                <a:spcPct val="150000"/>
              </a:lnSpc>
            </a:pPr>
            <a:r>
              <a:rPr lang="zh-CN" altLang="en-US" sz="1800" dirty="0" smtClean="0"/>
              <a:t>设调制信号的最大值为</a:t>
            </a:r>
            <a:r>
              <a:rPr lang="en-US" altLang="zh-CN" sz="1800" dirty="0" err="1" smtClean="0"/>
              <a:t>V</a:t>
            </a:r>
            <a:r>
              <a:rPr lang="en-US" altLang="zh-CN" sz="1800" baseline="-25000" dirty="0" err="1" smtClean="0"/>
              <a:t>m</a:t>
            </a:r>
            <a:r>
              <a:rPr lang="zh-CN" altLang="en-US" sz="1800" dirty="0" smtClean="0"/>
              <a:t>，需要移动的频率偏移为</a:t>
            </a:r>
            <a:r>
              <a:rPr lang="el-GR" altLang="zh-CN" sz="1800" dirty="0" smtClean="0"/>
              <a:t>Δ</a:t>
            </a:r>
            <a:r>
              <a:rPr lang="en-US" altLang="zh-CN" sz="1800" dirty="0" err="1" smtClean="0"/>
              <a:t>f</a:t>
            </a:r>
            <a:r>
              <a:rPr lang="en-US" altLang="zh-CN" sz="1800" baseline="-25000" dirty="0" err="1" smtClean="0"/>
              <a:t>m</a:t>
            </a:r>
            <a:r>
              <a:rPr lang="zh-CN" altLang="en-US" sz="1800" dirty="0" smtClean="0"/>
              <a:t>，已知</a:t>
            </a:r>
            <a:r>
              <a:rPr lang="en-US" altLang="zh-CN" sz="1800" dirty="0" smtClean="0"/>
              <a:t>VCO</a:t>
            </a:r>
            <a:r>
              <a:rPr lang="zh-CN" altLang="en-US" sz="1800" dirty="0" smtClean="0"/>
              <a:t>的压控增益</a:t>
            </a:r>
            <a:r>
              <a:rPr lang="en-US" altLang="zh-CN" sz="1800" dirty="0" smtClean="0"/>
              <a:t>K</a:t>
            </a:r>
            <a:r>
              <a:rPr lang="en-US" altLang="zh-CN" sz="1800" baseline="-25000" dirty="0" smtClean="0"/>
              <a:t>O</a:t>
            </a:r>
            <a:r>
              <a:rPr lang="zh-CN" altLang="en-US" sz="1800" dirty="0" smtClean="0"/>
              <a:t>，则有</a:t>
            </a:r>
            <a:endParaRPr lang="en-US" altLang="zh-CN" sz="1800" dirty="0" smtClean="0"/>
          </a:p>
          <a:p>
            <a:pPr algn="ctr">
              <a:lnSpc>
                <a:spcPct val="150000"/>
              </a:lnSpc>
            </a:pPr>
            <a:r>
              <a:rPr lang="el-GR" altLang="zh-CN" sz="1800" dirty="0"/>
              <a:t>Δ</a:t>
            </a:r>
            <a:r>
              <a:rPr lang="en-US" altLang="zh-CN" sz="1800" dirty="0" err="1" smtClean="0"/>
              <a:t>f</a:t>
            </a:r>
            <a:r>
              <a:rPr lang="en-US" altLang="zh-CN" sz="1800" baseline="-25000" dirty="0" err="1" smtClean="0"/>
              <a:t>m</a:t>
            </a:r>
            <a:r>
              <a:rPr lang="en-US" altLang="zh-CN" sz="1800" dirty="0" smtClean="0"/>
              <a:t>=A*K</a:t>
            </a:r>
            <a:r>
              <a:rPr lang="en-US" altLang="zh-CN" sz="1800" baseline="-25000" dirty="0" smtClean="0"/>
              <a:t>O</a:t>
            </a:r>
            <a:r>
              <a:rPr lang="en-US" altLang="zh-CN" sz="1800" dirty="0" smtClean="0"/>
              <a:t>*</a:t>
            </a:r>
            <a:r>
              <a:rPr lang="en-US" altLang="zh-CN" sz="1800" dirty="0" err="1" smtClean="0"/>
              <a:t>V</a:t>
            </a:r>
            <a:r>
              <a:rPr lang="en-US" altLang="zh-CN" sz="1800" baseline="-25000" dirty="0" err="1" smtClean="0"/>
              <a:t>m</a:t>
            </a:r>
            <a:endParaRPr lang="en-US" altLang="zh-CN" sz="1800" baseline="-25000" dirty="0" smtClean="0"/>
          </a:p>
          <a:p>
            <a:pPr>
              <a:lnSpc>
                <a:spcPct val="150000"/>
              </a:lnSpc>
            </a:pPr>
            <a:r>
              <a:rPr lang="zh-CN" altLang="en-US" sz="1800" dirty="0" smtClean="0"/>
              <a:t>其中</a:t>
            </a:r>
            <a:r>
              <a:rPr lang="en-US" altLang="zh-CN" sz="1800" dirty="0" smtClean="0"/>
              <a:t>A</a:t>
            </a:r>
            <a:r>
              <a:rPr lang="zh-CN" altLang="en-US" sz="1800" dirty="0" smtClean="0"/>
              <a:t>就是需要放大的权重系数，可据此确定权电阻的值</a:t>
            </a:r>
            <a:endParaRPr lang="zh-CN" altLang="en-US" sz="1800" dirty="0"/>
          </a:p>
        </p:txBody>
      </p:sp>
      <p:pic>
        <p:nvPicPr>
          <p:cNvPr id="8" name="图片 7"/>
          <p:cNvPicPr>
            <a:picLocks noChangeAspect="1"/>
          </p:cNvPicPr>
          <p:nvPr/>
        </p:nvPicPr>
        <p:blipFill>
          <a:blip r:embed="rId2"/>
          <a:stretch>
            <a:fillRect/>
          </a:stretch>
        </p:blipFill>
        <p:spPr>
          <a:xfrm>
            <a:off x="1329738" y="3287013"/>
            <a:ext cx="4066085" cy="2667559"/>
          </a:xfrm>
          <a:prstGeom prst="rect">
            <a:avLst/>
          </a:prstGeom>
        </p:spPr>
      </p:pic>
    </p:spTree>
    <p:extLst>
      <p:ext uri="{BB962C8B-B14F-4D97-AF65-F5344CB8AC3E}">
        <p14:creationId xmlns:p14="http://schemas.microsoft.com/office/powerpoint/2010/main" val="22546000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28</a:t>
            </a:fld>
            <a:endParaRPr lang="en-US" altLang="zh-CN">
              <a:solidFill>
                <a:srgbClr val="FFFFFF"/>
              </a:solidFill>
            </a:endParaRPr>
          </a:p>
        </p:txBody>
      </p:sp>
      <p:sp>
        <p:nvSpPr>
          <p:cNvPr id="5" name="矩形 4"/>
          <p:cNvSpPr/>
          <p:nvPr/>
        </p:nvSpPr>
        <p:spPr>
          <a:xfrm>
            <a:off x="397460" y="407212"/>
            <a:ext cx="11328805" cy="923330"/>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en-US" sz="1800" dirty="0" smtClean="0">
                <a:solidFill>
                  <a:srgbClr val="FF0000"/>
                </a:solidFill>
                <a:latin typeface="黑体" panose="02010609060101010101" pitchFamily="49" charset="-122"/>
                <a:ea typeface="黑体" panose="02010609060101010101" pitchFamily="49" charset="-122"/>
              </a:rPr>
              <a:t>采用</a:t>
            </a:r>
            <a:r>
              <a:rPr lang="en-US" altLang="zh-CN" sz="1800" dirty="0" smtClean="0">
                <a:solidFill>
                  <a:srgbClr val="FF0000"/>
                </a:solidFill>
              </a:rPr>
              <a:t>ADF4001 </a:t>
            </a:r>
            <a:r>
              <a:rPr lang="en-US" altLang="zh-CN" sz="1800" dirty="0">
                <a:solidFill>
                  <a:srgbClr val="FF0000"/>
                </a:solidFill>
              </a:rPr>
              <a:t>/ </a:t>
            </a:r>
            <a:r>
              <a:rPr lang="en-US" altLang="zh-CN" sz="1800" dirty="0" smtClean="0">
                <a:solidFill>
                  <a:srgbClr val="FF0000"/>
                </a:solidFill>
              </a:rPr>
              <a:t>ADF4002</a:t>
            </a:r>
            <a:r>
              <a:rPr lang="zh-CN" altLang="en-US" sz="1800" dirty="0" smtClean="0">
                <a:solidFill>
                  <a:srgbClr val="FF0000"/>
                </a:solidFill>
                <a:latin typeface="+mj-ea"/>
                <a:ea typeface="+mj-ea"/>
              </a:rPr>
              <a:t>的锁相环调频电路设计方案</a:t>
            </a:r>
            <a:endParaRPr lang="en-US" altLang="zh-CN" sz="1800" dirty="0">
              <a:solidFill>
                <a:srgbClr val="FF0000"/>
              </a:solidFill>
              <a:latin typeface="+mj-ea"/>
              <a:ea typeface="+mj-ea"/>
            </a:endParaRPr>
          </a:p>
          <a:p>
            <a:pPr lvl="1">
              <a:lnSpc>
                <a:spcPct val="150000"/>
              </a:lnSpc>
            </a:pPr>
            <a:r>
              <a:rPr lang="en-US" altLang="zh-CN" sz="1800" dirty="0" smtClean="0"/>
              <a:t>ADF4001/ADF4002</a:t>
            </a:r>
            <a:r>
              <a:rPr lang="zh-CN" altLang="en-US" sz="1800" dirty="0" smtClean="0"/>
              <a:t>锁相环的内部结构</a:t>
            </a:r>
            <a:endParaRPr lang="en-US" altLang="zh-CN" sz="1800" dirty="0" smtClean="0"/>
          </a:p>
        </p:txBody>
      </p:sp>
      <p:graphicFrame>
        <p:nvGraphicFramePr>
          <p:cNvPr id="7" name="对象 6"/>
          <p:cNvGraphicFramePr>
            <a:graphicFrameLocks noChangeAspect="1"/>
          </p:cNvGraphicFramePr>
          <p:nvPr>
            <p:extLst>
              <p:ext uri="{D42A27DB-BD31-4B8C-83A1-F6EECF244321}">
                <p14:modId xmlns:p14="http://schemas.microsoft.com/office/powerpoint/2010/main" val="1206418175"/>
              </p:ext>
            </p:extLst>
          </p:nvPr>
        </p:nvGraphicFramePr>
        <p:xfrm>
          <a:off x="3643736" y="1390659"/>
          <a:ext cx="8082529" cy="4396435"/>
        </p:xfrm>
        <a:graphic>
          <a:graphicData uri="http://schemas.openxmlformats.org/presentationml/2006/ole">
            <mc:AlternateContent xmlns:mc="http://schemas.openxmlformats.org/markup-compatibility/2006">
              <mc:Choice xmlns:v="urn:schemas-microsoft-com:vml" Requires="v">
                <p:oleObj spid="_x0000_s37949" name="Visio" r:id="rId3" imgW="9029391" imgH="4610061" progId="Visio.Drawing.15">
                  <p:embed/>
                </p:oleObj>
              </mc:Choice>
              <mc:Fallback>
                <p:oleObj name="Visio" r:id="rId3" imgW="9029391" imgH="4610061" progId="Visio.Drawing.15">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3736" y="1390659"/>
                        <a:ext cx="8082529" cy="4396435"/>
                      </a:xfrm>
                      <a:prstGeom prst="rect">
                        <a:avLst/>
                      </a:prstGeom>
                      <a:noFill/>
                    </p:spPr>
                  </p:pic>
                </p:oleObj>
              </mc:Fallback>
            </mc:AlternateContent>
          </a:graphicData>
        </a:graphic>
      </p:graphicFrame>
      <p:sp>
        <p:nvSpPr>
          <p:cNvPr id="8" name="文本框 7"/>
          <p:cNvSpPr txBox="1"/>
          <p:nvPr/>
        </p:nvSpPr>
        <p:spPr>
          <a:xfrm>
            <a:off x="624417" y="1229724"/>
            <a:ext cx="3116275" cy="507831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800" dirty="0" smtClean="0"/>
              <a:t>14</a:t>
            </a:r>
            <a:r>
              <a:rPr lang="zh-CN" altLang="en-US" sz="1800" dirty="0" smtClean="0"/>
              <a:t>位</a:t>
            </a:r>
            <a:r>
              <a:rPr lang="en-US" altLang="zh-CN" sz="1800" dirty="0" smtClean="0"/>
              <a:t>R</a:t>
            </a:r>
            <a:r>
              <a:rPr lang="zh-CN" altLang="en-US" sz="1800" dirty="0" smtClean="0"/>
              <a:t>分频器</a:t>
            </a:r>
            <a:endParaRPr lang="en-US" altLang="zh-CN" sz="1800" dirty="0" smtClean="0"/>
          </a:p>
          <a:p>
            <a:pPr marL="285750" indent="-285750">
              <a:lnSpc>
                <a:spcPct val="150000"/>
              </a:lnSpc>
              <a:buFont typeface="Arial" panose="020B0604020202020204" pitchFamily="34" charset="0"/>
              <a:buChar char="•"/>
            </a:pPr>
            <a:r>
              <a:rPr lang="en-US" altLang="zh-CN" sz="1800" dirty="0" smtClean="0"/>
              <a:t>13</a:t>
            </a:r>
            <a:r>
              <a:rPr lang="zh-CN" altLang="en-US" sz="1800" dirty="0" smtClean="0"/>
              <a:t>位</a:t>
            </a:r>
            <a:r>
              <a:rPr lang="en-US" altLang="zh-CN" sz="1800" dirty="0" smtClean="0"/>
              <a:t>N</a:t>
            </a:r>
            <a:r>
              <a:rPr lang="zh-CN" altLang="en-US" sz="1800" dirty="0" smtClean="0"/>
              <a:t>分频器</a:t>
            </a:r>
            <a:endParaRPr lang="en-US" altLang="zh-CN" sz="1800" dirty="0" smtClean="0"/>
          </a:p>
          <a:p>
            <a:pPr marL="285750" indent="-285750">
              <a:lnSpc>
                <a:spcPct val="150000"/>
              </a:lnSpc>
              <a:buFont typeface="Arial" panose="020B0604020202020204" pitchFamily="34" charset="0"/>
              <a:buChar char="•"/>
            </a:pPr>
            <a:r>
              <a:rPr lang="en-US" altLang="zh-CN" sz="1800" dirty="0" smtClean="0"/>
              <a:t>1</a:t>
            </a:r>
            <a:r>
              <a:rPr lang="zh-CN" altLang="en-US" sz="1800" dirty="0" smtClean="0"/>
              <a:t>个电荷泵输出的</a:t>
            </a:r>
            <a:r>
              <a:rPr lang="en-US" altLang="zh-CN" sz="1800" dirty="0" smtClean="0"/>
              <a:t>PFD</a:t>
            </a:r>
          </a:p>
          <a:p>
            <a:pPr marL="285750" indent="-285750">
              <a:lnSpc>
                <a:spcPct val="150000"/>
              </a:lnSpc>
              <a:buFont typeface="Arial" panose="020B0604020202020204" pitchFamily="34" charset="0"/>
              <a:buChar char="•"/>
            </a:pPr>
            <a:r>
              <a:rPr lang="en-US" altLang="zh-CN" sz="1800" dirty="0" smtClean="0"/>
              <a:t>1</a:t>
            </a:r>
            <a:r>
              <a:rPr lang="zh-CN" altLang="en-US" sz="1800" dirty="0" smtClean="0"/>
              <a:t>个多路信号读出端口</a:t>
            </a:r>
            <a:endParaRPr lang="en-US" altLang="zh-CN" sz="1800" dirty="0" smtClean="0"/>
          </a:p>
          <a:p>
            <a:pPr lvl="1">
              <a:lnSpc>
                <a:spcPct val="150000"/>
              </a:lnSpc>
            </a:pPr>
            <a:r>
              <a:rPr lang="zh-CN" altLang="en-US" sz="1800" dirty="0" smtClean="0"/>
              <a:t>（可用于调试等）</a:t>
            </a:r>
            <a:endParaRPr lang="en-US" altLang="zh-CN" sz="1800" dirty="0" smtClean="0"/>
          </a:p>
          <a:p>
            <a:pPr marL="285750" indent="-285750">
              <a:lnSpc>
                <a:spcPct val="150000"/>
              </a:lnSpc>
              <a:buFont typeface="Arial" panose="020B0604020202020204" pitchFamily="34" charset="0"/>
              <a:buChar char="•"/>
            </a:pPr>
            <a:r>
              <a:rPr lang="en-US" altLang="zh-CN" sz="1800" dirty="0" smtClean="0"/>
              <a:t>4</a:t>
            </a:r>
            <a:r>
              <a:rPr lang="zh-CN" altLang="en-US" sz="1800" dirty="0" smtClean="0"/>
              <a:t>个数据锁存器</a:t>
            </a:r>
            <a:endParaRPr lang="en-US" altLang="zh-CN" sz="1800" dirty="0" smtClean="0"/>
          </a:p>
          <a:p>
            <a:pPr marL="285750" indent="-285750">
              <a:lnSpc>
                <a:spcPct val="150000"/>
              </a:lnSpc>
              <a:buFont typeface="Arial" panose="020B0604020202020204" pitchFamily="34" charset="0"/>
              <a:buChar char="•"/>
            </a:pPr>
            <a:r>
              <a:rPr lang="zh-CN" altLang="en-US" sz="1800" dirty="0" smtClean="0"/>
              <a:t>工作频率</a:t>
            </a:r>
            <a:endParaRPr lang="en-US" altLang="zh-CN" sz="1800" dirty="0" smtClean="0"/>
          </a:p>
          <a:p>
            <a:pPr lvl="1">
              <a:lnSpc>
                <a:spcPct val="150000"/>
              </a:lnSpc>
            </a:pPr>
            <a:r>
              <a:rPr lang="en-US" altLang="zh-CN" sz="1800" dirty="0" smtClean="0"/>
              <a:t>4001</a:t>
            </a:r>
            <a:r>
              <a:rPr lang="zh-CN" altLang="en-US" sz="1800" dirty="0" smtClean="0"/>
              <a:t>，</a:t>
            </a:r>
            <a:r>
              <a:rPr lang="en-US" altLang="zh-CN" sz="1800" dirty="0" smtClean="0"/>
              <a:t>10~200MHz</a:t>
            </a:r>
          </a:p>
          <a:p>
            <a:pPr lvl="1">
              <a:lnSpc>
                <a:spcPct val="150000"/>
              </a:lnSpc>
            </a:pPr>
            <a:r>
              <a:rPr lang="en-US" altLang="zh-CN" sz="1800" dirty="0" smtClean="0"/>
              <a:t>4002</a:t>
            </a:r>
            <a:r>
              <a:rPr lang="zh-CN" altLang="en-US" sz="1800" dirty="0" smtClean="0"/>
              <a:t>，</a:t>
            </a:r>
            <a:r>
              <a:rPr lang="en-US" altLang="zh-CN" sz="1800" dirty="0" smtClean="0"/>
              <a:t>5~400MHz</a:t>
            </a:r>
          </a:p>
          <a:p>
            <a:pPr marL="285750" indent="-285750">
              <a:lnSpc>
                <a:spcPct val="150000"/>
              </a:lnSpc>
              <a:buFont typeface="Arial" panose="020B0604020202020204" pitchFamily="34" charset="0"/>
              <a:buChar char="•"/>
            </a:pPr>
            <a:r>
              <a:rPr lang="zh-CN" altLang="en-US" sz="1800" dirty="0" smtClean="0"/>
              <a:t>电源电压</a:t>
            </a:r>
            <a:endParaRPr lang="en-US" altLang="zh-CN" sz="1800" dirty="0" smtClean="0"/>
          </a:p>
          <a:p>
            <a:pPr lvl="1">
              <a:lnSpc>
                <a:spcPct val="150000"/>
              </a:lnSpc>
            </a:pPr>
            <a:r>
              <a:rPr lang="en-US" altLang="zh-CN" sz="1800" dirty="0" smtClean="0"/>
              <a:t>4001</a:t>
            </a:r>
            <a:r>
              <a:rPr lang="zh-CN" altLang="en-US" sz="1800" dirty="0" smtClean="0"/>
              <a:t>，</a:t>
            </a:r>
            <a:r>
              <a:rPr lang="en-US" altLang="zh-CN" sz="1800" dirty="0" smtClean="0"/>
              <a:t>2.7V~5.5V</a:t>
            </a:r>
          </a:p>
          <a:p>
            <a:pPr lvl="1">
              <a:lnSpc>
                <a:spcPct val="150000"/>
              </a:lnSpc>
            </a:pPr>
            <a:r>
              <a:rPr lang="en-US" altLang="zh-CN" sz="1800" dirty="0" smtClean="0"/>
              <a:t>4002</a:t>
            </a:r>
            <a:r>
              <a:rPr lang="zh-CN" altLang="en-US" sz="1800" dirty="0" smtClean="0"/>
              <a:t>，</a:t>
            </a:r>
            <a:r>
              <a:rPr lang="en-US" altLang="zh-CN" sz="1800" dirty="0" smtClean="0"/>
              <a:t>2.7V~3.3V</a:t>
            </a:r>
            <a:endParaRPr lang="zh-CN" altLang="en-US" sz="1800" dirty="0"/>
          </a:p>
        </p:txBody>
      </p:sp>
      <p:sp>
        <p:nvSpPr>
          <p:cNvPr id="9" name="矩形 8"/>
          <p:cNvSpPr/>
          <p:nvPr/>
        </p:nvSpPr>
        <p:spPr>
          <a:xfrm>
            <a:off x="4637836" y="5787094"/>
            <a:ext cx="6100877" cy="507831"/>
          </a:xfrm>
          <a:prstGeom prst="rect">
            <a:avLst/>
          </a:prstGeom>
        </p:spPr>
        <p:txBody>
          <a:bodyPr wrap="square">
            <a:spAutoFit/>
          </a:bodyPr>
          <a:lstStyle/>
          <a:p>
            <a:pPr algn="ctr">
              <a:lnSpc>
                <a:spcPct val="150000"/>
              </a:lnSpc>
            </a:pPr>
            <a:r>
              <a:rPr lang="en-US" altLang="zh-CN" sz="1800" dirty="0" smtClean="0"/>
              <a:t>ADF4001/ADF4002</a:t>
            </a:r>
            <a:r>
              <a:rPr lang="zh-CN" altLang="en-US" sz="1800" dirty="0" smtClean="0"/>
              <a:t>的内部</a:t>
            </a:r>
            <a:r>
              <a:rPr lang="zh-CN" altLang="en-US" sz="1800" dirty="0"/>
              <a:t>结构图</a:t>
            </a:r>
            <a:endParaRPr lang="en-US" altLang="zh-CN" sz="1800" dirty="0"/>
          </a:p>
        </p:txBody>
      </p:sp>
    </p:spTree>
    <p:extLst>
      <p:ext uri="{BB962C8B-B14F-4D97-AF65-F5344CB8AC3E}">
        <p14:creationId xmlns:p14="http://schemas.microsoft.com/office/powerpoint/2010/main" val="153589282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29</a:t>
            </a:fld>
            <a:endParaRPr lang="en-US" altLang="zh-CN">
              <a:solidFill>
                <a:srgbClr val="FFFFFF"/>
              </a:solidFill>
            </a:endParaRPr>
          </a:p>
        </p:txBody>
      </p:sp>
      <p:graphicFrame>
        <p:nvGraphicFramePr>
          <p:cNvPr id="6" name="对象 5"/>
          <p:cNvGraphicFramePr>
            <a:graphicFrameLocks noChangeAspect="1"/>
          </p:cNvGraphicFramePr>
          <p:nvPr/>
        </p:nvGraphicFramePr>
        <p:xfrm>
          <a:off x="6766753" y="2405566"/>
          <a:ext cx="4359667" cy="2970656"/>
        </p:xfrm>
        <a:graphic>
          <a:graphicData uri="http://schemas.openxmlformats.org/presentationml/2006/ole">
            <mc:AlternateContent xmlns:mc="http://schemas.openxmlformats.org/markup-compatibility/2006">
              <mc:Choice xmlns:v="urn:schemas-microsoft-com:vml" Requires="v">
                <p:oleObj spid="_x0000_s39130" name="Visio" r:id="rId3" imgW="2825681" imgH="1866861" progId="Visio.Drawing.15">
                  <p:embed/>
                </p:oleObj>
              </mc:Choice>
              <mc:Fallback>
                <p:oleObj name="Visio" r:id="rId3" imgW="2825681" imgH="1866861" progId="Visio.Drawing.15">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6753" y="2405566"/>
                        <a:ext cx="4359667" cy="2970656"/>
                      </a:xfrm>
                      <a:prstGeom prst="rect">
                        <a:avLst/>
                      </a:prstGeom>
                      <a:noFill/>
                    </p:spPr>
                  </p:pic>
                </p:oleObj>
              </mc:Fallback>
            </mc:AlternateContent>
          </a:graphicData>
        </a:graphic>
      </p:graphicFrame>
      <p:sp>
        <p:nvSpPr>
          <p:cNvPr id="7" name="文本框 6"/>
          <p:cNvSpPr txBox="1"/>
          <p:nvPr/>
        </p:nvSpPr>
        <p:spPr>
          <a:xfrm>
            <a:off x="503309" y="416052"/>
            <a:ext cx="5773132" cy="590931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电荷泵输出的</a:t>
            </a:r>
            <a:r>
              <a:rPr lang="en-US" altLang="zh-CN" sz="1800" dirty="0" smtClean="0"/>
              <a:t>PFD</a:t>
            </a:r>
            <a:r>
              <a:rPr lang="zh-CN" altLang="en-US" sz="1800" dirty="0" smtClean="0"/>
              <a:t>与环路滤波器</a:t>
            </a:r>
            <a:endParaRPr lang="en-US" altLang="zh-CN" sz="1800" dirty="0" smtClean="0"/>
          </a:p>
          <a:p>
            <a:pPr lvl="1">
              <a:lnSpc>
                <a:spcPct val="150000"/>
              </a:lnSpc>
            </a:pPr>
            <a:r>
              <a:rPr lang="zh-CN" altLang="en-US" sz="1800" dirty="0" smtClean="0"/>
              <a:t>设电荷泵的输出电流为</a:t>
            </a:r>
            <a:r>
              <a:rPr lang="en-US" altLang="zh-CN" sz="1800" i="1" dirty="0" smtClean="0"/>
              <a:t>I</a:t>
            </a:r>
            <a:r>
              <a:rPr lang="en-US" altLang="zh-CN" sz="1800" i="1" baseline="-25000" dirty="0" smtClean="0"/>
              <a:t>CP</a:t>
            </a:r>
            <a:r>
              <a:rPr lang="zh-CN" altLang="en-US" sz="1800" dirty="0" smtClean="0"/>
              <a:t>，则其鉴相增益为</a:t>
            </a:r>
            <a:endParaRPr lang="en-US" altLang="zh-CN" sz="1800" dirty="0" smtClean="0"/>
          </a:p>
          <a:p>
            <a:pPr lvl="1">
              <a:lnSpc>
                <a:spcPct val="150000"/>
              </a:lnSpc>
            </a:pPr>
            <a:endParaRPr lang="en-US" altLang="zh-CN" sz="1800" dirty="0"/>
          </a:p>
          <a:p>
            <a:pPr lvl="1">
              <a:lnSpc>
                <a:spcPct val="150000"/>
              </a:lnSpc>
            </a:pPr>
            <a:r>
              <a:rPr lang="zh-CN" altLang="en-US" sz="1800" dirty="0" smtClean="0">
                <a:latin typeface="楷体" panose="02010609060101010101" pitchFamily="49" charset="-122"/>
                <a:ea typeface="楷体" panose="02010609060101010101" pitchFamily="49" charset="-122"/>
              </a:rPr>
              <a:t>注意此鉴相增益量纲与电压输出型</a:t>
            </a:r>
            <a:r>
              <a:rPr lang="en-US" altLang="zh-CN" sz="1800" dirty="0" smtClean="0">
                <a:latin typeface="+mn-lt"/>
                <a:ea typeface="楷体" panose="02010609060101010101" pitchFamily="49" charset="-122"/>
              </a:rPr>
              <a:t>PFD</a:t>
            </a:r>
            <a:r>
              <a:rPr lang="zh-CN" altLang="en-US" sz="1800" dirty="0" smtClean="0">
                <a:latin typeface="楷体" panose="02010609060101010101" pitchFamily="49" charset="-122"/>
                <a:ea typeface="楷体" panose="02010609060101010101" pitchFamily="49" charset="-122"/>
              </a:rPr>
              <a:t>的不同</a:t>
            </a:r>
            <a:endParaRPr lang="en-US" altLang="zh-CN" sz="1800" dirty="0" smtClean="0">
              <a:latin typeface="楷体" panose="02010609060101010101" pitchFamily="49" charset="-122"/>
              <a:ea typeface="楷体" panose="02010609060101010101" pitchFamily="49" charset="-122"/>
            </a:endParaRPr>
          </a:p>
          <a:p>
            <a:pPr indent="457200">
              <a:lnSpc>
                <a:spcPct val="150000"/>
              </a:lnSpc>
            </a:pPr>
            <a:r>
              <a:rPr lang="zh-CN" altLang="en-US" sz="1800" dirty="0" smtClean="0"/>
              <a:t>当电荷泵后面接入如图</a:t>
            </a:r>
            <a:r>
              <a:rPr lang="en-US" altLang="zh-CN" sz="1800" dirty="0" smtClean="0"/>
              <a:t>RC</a:t>
            </a:r>
            <a:r>
              <a:rPr lang="zh-CN" altLang="en-US" sz="1800" dirty="0" smtClean="0"/>
              <a:t>型环路滤波器后，环路滤波器的传递函数是</a:t>
            </a:r>
            <a:endParaRPr lang="en-US" altLang="zh-CN" sz="1800" dirty="0" smtClean="0"/>
          </a:p>
          <a:p>
            <a:pPr lvl="1">
              <a:lnSpc>
                <a:spcPct val="150000"/>
              </a:lnSpc>
            </a:pPr>
            <a:endParaRPr lang="en-US" altLang="zh-CN" sz="1800" dirty="0"/>
          </a:p>
          <a:p>
            <a:pPr lvl="1">
              <a:lnSpc>
                <a:spcPct val="150000"/>
              </a:lnSpc>
            </a:pPr>
            <a:endParaRPr lang="en-US" altLang="zh-CN" sz="1800" dirty="0" smtClean="0"/>
          </a:p>
          <a:p>
            <a:pPr>
              <a:lnSpc>
                <a:spcPct val="150000"/>
              </a:lnSpc>
            </a:pPr>
            <a:r>
              <a:rPr lang="zh-CN" altLang="en-US" sz="1800" dirty="0" smtClean="0"/>
              <a:t>所以该环路滤波器是比例积分型滤波器</a:t>
            </a:r>
            <a:endParaRPr lang="en-US" altLang="zh-CN" sz="1800" dirty="0" smtClean="0"/>
          </a:p>
          <a:p>
            <a:pPr indent="457200">
              <a:lnSpc>
                <a:spcPct val="150000"/>
              </a:lnSpc>
            </a:pPr>
            <a:r>
              <a:rPr lang="zh-CN" altLang="en-US" sz="1800" dirty="0" smtClean="0"/>
              <a:t>采用上述滤波器后，采用电荷泵</a:t>
            </a:r>
            <a:r>
              <a:rPr lang="en-US" altLang="zh-CN" sz="1800" dirty="0" smtClean="0"/>
              <a:t>PFD</a:t>
            </a:r>
            <a:r>
              <a:rPr lang="zh-CN" altLang="en-US" sz="1800" dirty="0" smtClean="0"/>
              <a:t>的锁相环的自然频率与阻尼因子是（其中</a:t>
            </a:r>
            <a:r>
              <a:rPr lang="en-US" altLang="zh-CN" sz="1800" i="1" dirty="0" smtClean="0"/>
              <a:t>N</a:t>
            </a:r>
            <a:r>
              <a:rPr lang="zh-CN" altLang="en-US" sz="1800" dirty="0" smtClean="0"/>
              <a:t>是反馈分频系数）</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r>
              <a:rPr lang="zh-CN" altLang="en-US" sz="1800" dirty="0" smtClean="0"/>
              <a:t>这些参数可用于锁相环的稳定状态分析</a:t>
            </a:r>
            <a:endParaRPr lang="en-US" altLang="zh-CN" sz="1800" dirty="0" smtClean="0"/>
          </a:p>
        </p:txBody>
      </p:sp>
      <p:sp>
        <p:nvSpPr>
          <p:cNvPr id="8" name="椭圆 7"/>
          <p:cNvSpPr/>
          <p:nvPr/>
        </p:nvSpPr>
        <p:spPr>
          <a:xfrm>
            <a:off x="6627571" y="2260397"/>
            <a:ext cx="3423514" cy="3407665"/>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0109605" y="3605175"/>
            <a:ext cx="665685" cy="2062887"/>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549287" y="5830214"/>
            <a:ext cx="2018995" cy="369332"/>
          </a:xfrm>
          <a:prstGeom prst="rect">
            <a:avLst/>
          </a:prstGeom>
          <a:noFill/>
        </p:spPr>
        <p:txBody>
          <a:bodyPr wrap="square" rtlCol="0">
            <a:spAutoFit/>
          </a:bodyPr>
          <a:lstStyle/>
          <a:p>
            <a:r>
              <a:rPr lang="zh-CN" altLang="en-US" sz="1800" dirty="0" smtClean="0"/>
              <a:t>电荷泵输出的</a:t>
            </a:r>
            <a:r>
              <a:rPr lang="en-US" altLang="zh-CN" sz="1800" dirty="0" smtClean="0"/>
              <a:t>PFD</a:t>
            </a:r>
            <a:endParaRPr lang="zh-CN" altLang="en-US" sz="1800" dirty="0"/>
          </a:p>
        </p:txBody>
      </p:sp>
      <p:sp>
        <p:nvSpPr>
          <p:cNvPr id="11" name="文本框 10"/>
          <p:cNvSpPr txBox="1"/>
          <p:nvPr/>
        </p:nvSpPr>
        <p:spPr>
          <a:xfrm>
            <a:off x="10255910" y="5830214"/>
            <a:ext cx="642502" cy="369332"/>
          </a:xfrm>
          <a:prstGeom prst="rect">
            <a:avLst/>
          </a:prstGeom>
          <a:noFill/>
        </p:spPr>
        <p:txBody>
          <a:bodyPr wrap="square" rtlCol="0">
            <a:spAutoFit/>
          </a:bodyPr>
          <a:lstStyle/>
          <a:p>
            <a:r>
              <a:rPr lang="en-US" altLang="zh-CN" sz="1800" dirty="0" smtClean="0"/>
              <a:t>LF</a:t>
            </a:r>
            <a:endParaRPr lang="zh-CN" altLang="en-US" sz="1800" dirty="0"/>
          </a:p>
        </p:txBody>
      </p:sp>
      <p:graphicFrame>
        <p:nvGraphicFramePr>
          <p:cNvPr id="12" name="对象 11"/>
          <p:cNvGraphicFramePr>
            <a:graphicFrameLocks noChangeAspect="1"/>
          </p:cNvGraphicFramePr>
          <p:nvPr>
            <p:extLst>
              <p:ext uri="{D42A27DB-BD31-4B8C-83A1-F6EECF244321}">
                <p14:modId xmlns:p14="http://schemas.microsoft.com/office/powerpoint/2010/main" val="3285292544"/>
              </p:ext>
            </p:extLst>
          </p:nvPr>
        </p:nvGraphicFramePr>
        <p:xfrm>
          <a:off x="2450593" y="1372604"/>
          <a:ext cx="1331366" cy="361048"/>
        </p:xfrm>
        <a:graphic>
          <a:graphicData uri="http://schemas.openxmlformats.org/presentationml/2006/ole">
            <mc:AlternateContent xmlns:mc="http://schemas.openxmlformats.org/markup-compatibility/2006">
              <mc:Choice xmlns:v="urn:schemas-microsoft-com:vml" Requires="v">
                <p:oleObj spid="_x0000_s39131" name="Equation" r:id="rId5" imgW="748975" imgH="203112" progId="Equation.DSMT4">
                  <p:embed/>
                </p:oleObj>
              </mc:Choice>
              <mc:Fallback>
                <p:oleObj name="Equation" r:id="rId5" imgW="748975" imgH="203112" progId="Equation.DSMT4">
                  <p:embed/>
                  <p:pic>
                    <p:nvPicPr>
                      <p:cNvPr id="12" name="对象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50593" y="1372604"/>
                        <a:ext cx="1331366" cy="361048"/>
                      </a:xfrm>
                      <a:prstGeom prst="rect">
                        <a:avLst/>
                      </a:prstGeom>
                      <a:noFill/>
                    </p:spPr>
                  </p:pic>
                </p:oleObj>
              </mc:Fallback>
            </mc:AlternateContent>
          </a:graphicData>
        </a:graphic>
      </p:graphicFrame>
      <p:sp>
        <p:nvSpPr>
          <p:cNvPr id="13" name="Rectangle 7"/>
          <p:cNvSpPr>
            <a:spLocks noChangeArrowheads="1"/>
          </p:cNvSpPr>
          <p:nvPr/>
        </p:nvSpPr>
        <p:spPr bwMode="auto">
          <a:xfrm>
            <a:off x="811988" y="391269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1415527736"/>
              </p:ext>
            </p:extLst>
          </p:nvPr>
        </p:nvGraphicFramePr>
        <p:xfrm>
          <a:off x="2384755" y="2932139"/>
          <a:ext cx="1697126" cy="762477"/>
        </p:xfrm>
        <a:graphic>
          <a:graphicData uri="http://schemas.openxmlformats.org/presentationml/2006/ole">
            <mc:AlternateContent xmlns:mc="http://schemas.openxmlformats.org/markup-compatibility/2006">
              <mc:Choice xmlns:v="urn:schemas-microsoft-com:vml" Requires="v">
                <p:oleObj spid="_x0000_s39132" name="Equation" r:id="rId7" imgW="875920" imgH="393529" progId="Equation.DSMT4">
                  <p:embed/>
                </p:oleObj>
              </mc:Choice>
              <mc:Fallback>
                <p:oleObj name="Equation" r:id="rId7" imgW="875920" imgH="393529" progId="Equation.DSMT4">
                  <p:embed/>
                  <p:pic>
                    <p:nvPicPr>
                      <p:cNvPr id="14" name="对象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4755" y="2932139"/>
                        <a:ext cx="1697126" cy="762477"/>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2849305023"/>
              </p:ext>
            </p:extLst>
          </p:nvPr>
        </p:nvGraphicFramePr>
        <p:xfrm>
          <a:off x="1863837" y="5092279"/>
          <a:ext cx="3129429" cy="736336"/>
        </p:xfrm>
        <a:graphic>
          <a:graphicData uri="http://schemas.openxmlformats.org/presentationml/2006/ole">
            <mc:AlternateContent xmlns:mc="http://schemas.openxmlformats.org/markup-compatibility/2006">
              <mc:Choice xmlns:v="urn:schemas-microsoft-com:vml" Requires="v">
                <p:oleObj spid="_x0000_s39133" name="Equation" r:id="rId9" imgW="1726451" imgH="406224" progId="Equation.DSMT4">
                  <p:embed/>
                </p:oleObj>
              </mc:Choice>
              <mc:Fallback>
                <p:oleObj name="Equation" r:id="rId9" imgW="1726451" imgH="406224" progId="Equation.DSMT4">
                  <p:embed/>
                  <p:pic>
                    <p:nvPicPr>
                      <p:cNvPr id="16" name="对象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63837" y="5092279"/>
                        <a:ext cx="3129429" cy="736336"/>
                      </a:xfrm>
                      <a:prstGeom prst="rect">
                        <a:avLst/>
                      </a:prstGeom>
                      <a:noFill/>
                    </p:spPr>
                  </p:pic>
                </p:oleObj>
              </mc:Fallback>
            </mc:AlternateContent>
          </a:graphicData>
        </a:graphic>
      </p:graphicFrame>
    </p:spTree>
    <p:extLst>
      <p:ext uri="{BB962C8B-B14F-4D97-AF65-F5344CB8AC3E}">
        <p14:creationId xmlns:p14="http://schemas.microsoft.com/office/powerpoint/2010/main" val="20998131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30</a:t>
            </a:fld>
            <a:endParaRPr lang="en-US" altLang="zh-CN">
              <a:solidFill>
                <a:srgbClr val="FFFFFF"/>
              </a:solidFill>
            </a:endParaRPr>
          </a:p>
        </p:txBody>
      </p:sp>
      <p:sp>
        <p:nvSpPr>
          <p:cNvPr id="5" name="矩形 4"/>
          <p:cNvSpPr/>
          <p:nvPr/>
        </p:nvSpPr>
        <p:spPr>
          <a:xfrm>
            <a:off x="395021" y="361097"/>
            <a:ext cx="11214202" cy="5493812"/>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en-US" altLang="zh-CN" sz="1800" kern="100" dirty="0" smtClean="0">
                <a:latin typeface="Arial" panose="020B0604020202020204" pitchFamily="34" charset="0"/>
                <a:cs typeface="Times New Roman" panose="02020603050405020304" pitchFamily="18" charset="0"/>
              </a:rPr>
              <a:t>ADF4001/ADF4002</a:t>
            </a:r>
            <a:r>
              <a:rPr lang="zh-CN" altLang="en-US" sz="1800" kern="100" dirty="0" smtClean="0">
                <a:latin typeface="Arial" panose="020B0604020202020204" pitchFamily="34" charset="0"/>
                <a:cs typeface="Times New Roman" panose="02020603050405020304" pitchFamily="18" charset="0"/>
              </a:rPr>
              <a:t>的控制字（</a:t>
            </a:r>
            <a:r>
              <a:rPr lang="en-US" altLang="zh-CN" sz="1800" kern="100" dirty="0" smtClean="0">
                <a:latin typeface="Arial" panose="020B0604020202020204" pitchFamily="34" charset="0"/>
                <a:cs typeface="Times New Roman" panose="02020603050405020304" pitchFamily="18" charset="0"/>
              </a:rPr>
              <a:t>1</a:t>
            </a:r>
            <a:r>
              <a:rPr lang="zh-CN" altLang="en-US" sz="1800" kern="100" dirty="0" smtClean="0">
                <a:latin typeface="Arial" panose="020B0604020202020204" pitchFamily="34" charset="0"/>
                <a:cs typeface="Times New Roman" panose="02020603050405020304" pitchFamily="18" charset="0"/>
              </a:rPr>
              <a:t>）</a:t>
            </a:r>
            <a:endParaRPr lang="en-US" altLang="zh-CN" sz="1800" kern="100" dirty="0" smtClean="0">
              <a:latin typeface="Arial" panose="020B0604020202020204" pitchFamily="34" charset="0"/>
              <a:cs typeface="Times New Roman" panose="02020603050405020304" pitchFamily="18" charset="0"/>
            </a:endParaRPr>
          </a:p>
          <a:p>
            <a:pPr lvl="1" algn="just">
              <a:lnSpc>
                <a:spcPct val="150000"/>
              </a:lnSpc>
              <a:spcAft>
                <a:spcPts val="0"/>
              </a:spcAft>
            </a:pPr>
            <a:r>
              <a:rPr lang="zh-CN" altLang="zh-CN" sz="1800" kern="100" dirty="0" smtClean="0">
                <a:latin typeface="Arial" panose="020B0604020202020204" pitchFamily="34" charset="0"/>
                <a:cs typeface="Times New Roman" panose="02020603050405020304" pitchFamily="18" charset="0"/>
              </a:rPr>
              <a:t>控制数据以</a:t>
            </a:r>
            <a:r>
              <a:rPr lang="en-US" altLang="zh-CN" sz="1800" kern="100" dirty="0">
                <a:latin typeface="Arial" panose="020B0604020202020204" pitchFamily="34" charset="0"/>
                <a:cs typeface="Times New Roman" panose="02020603050405020304" pitchFamily="18" charset="0"/>
              </a:rPr>
              <a:t>3</a:t>
            </a:r>
            <a:r>
              <a:rPr lang="zh-CN" altLang="zh-CN" sz="1800" kern="100" dirty="0">
                <a:latin typeface="Arial" panose="020B0604020202020204" pitchFamily="34" charset="0"/>
                <a:cs typeface="Times New Roman" panose="02020603050405020304" pitchFamily="18" charset="0"/>
              </a:rPr>
              <a:t>线串行方式</a:t>
            </a:r>
            <a:r>
              <a:rPr lang="zh-CN" altLang="zh-CN" sz="1800" kern="100" dirty="0" smtClean="0">
                <a:latin typeface="Arial" panose="020B0604020202020204" pitchFamily="34" charset="0"/>
                <a:cs typeface="Times New Roman" panose="02020603050405020304" pitchFamily="18" charset="0"/>
              </a:rPr>
              <a:t>送入</a:t>
            </a:r>
            <a:endParaRPr lang="en-US" altLang="zh-CN" sz="1800" kern="100" dirty="0" smtClean="0">
              <a:latin typeface="Arial" panose="020B0604020202020204" pitchFamily="34" charset="0"/>
              <a:cs typeface="Times New Roman" panose="02020603050405020304" pitchFamily="18" charset="0"/>
            </a:endParaRPr>
          </a:p>
          <a:p>
            <a:pPr lvl="1" algn="just">
              <a:lnSpc>
                <a:spcPct val="150000"/>
              </a:lnSpc>
              <a:spcAft>
                <a:spcPts val="0"/>
              </a:spcAft>
            </a:pPr>
            <a:r>
              <a:rPr lang="en-US" altLang="zh-CN" sz="1800" kern="100" dirty="0" smtClean="0">
                <a:latin typeface="Arial" panose="020B0604020202020204" pitchFamily="34" charset="0"/>
                <a:cs typeface="Times New Roman" panose="02020603050405020304" pitchFamily="18" charset="0"/>
              </a:rPr>
              <a:t>4</a:t>
            </a:r>
            <a:r>
              <a:rPr lang="zh-CN" altLang="zh-CN" sz="1800" kern="100" dirty="0">
                <a:latin typeface="Arial" panose="020B0604020202020204" pitchFamily="34" charset="0"/>
                <a:cs typeface="Times New Roman" panose="02020603050405020304" pitchFamily="18" charset="0"/>
              </a:rPr>
              <a:t>个内部锁存器：</a:t>
            </a:r>
            <a:r>
              <a:rPr lang="en-US" altLang="zh-CN" sz="1800" kern="100" dirty="0">
                <a:latin typeface="Arial" panose="020B0604020202020204" pitchFamily="34" charset="0"/>
                <a:cs typeface="Times New Roman" panose="02020603050405020304" pitchFamily="18" charset="0"/>
              </a:rPr>
              <a:t>R</a:t>
            </a:r>
            <a:r>
              <a:rPr lang="zh-CN" altLang="zh-CN" sz="1800" kern="100" dirty="0">
                <a:latin typeface="Arial" panose="020B0604020202020204" pitchFamily="34" charset="0"/>
                <a:cs typeface="Times New Roman" panose="02020603050405020304" pitchFamily="18" charset="0"/>
              </a:rPr>
              <a:t>锁存器、</a:t>
            </a:r>
            <a:r>
              <a:rPr lang="en-US" altLang="zh-CN" sz="1800" kern="100" dirty="0">
                <a:latin typeface="Arial" panose="020B0604020202020204" pitchFamily="34" charset="0"/>
                <a:cs typeface="Times New Roman" panose="02020603050405020304" pitchFamily="18" charset="0"/>
              </a:rPr>
              <a:t>N</a:t>
            </a:r>
            <a:r>
              <a:rPr lang="zh-CN" altLang="zh-CN" sz="1800" kern="100" dirty="0">
                <a:latin typeface="Arial" panose="020B0604020202020204" pitchFamily="34" charset="0"/>
                <a:cs typeface="Times New Roman" panose="02020603050405020304" pitchFamily="18" charset="0"/>
              </a:rPr>
              <a:t>锁存器、初始化锁存器与功能</a:t>
            </a:r>
            <a:r>
              <a:rPr lang="zh-CN" altLang="zh-CN" sz="1800" kern="100" dirty="0" smtClean="0">
                <a:latin typeface="Arial" panose="020B0604020202020204" pitchFamily="34" charset="0"/>
                <a:cs typeface="Times New Roman" panose="02020603050405020304" pitchFamily="18" charset="0"/>
              </a:rPr>
              <a:t>锁存器</a:t>
            </a:r>
            <a:endParaRPr lang="en-US" altLang="zh-CN" sz="1800" kern="100" dirty="0" smtClean="0">
              <a:latin typeface="Arial" panose="020B0604020202020204" pitchFamily="34" charset="0"/>
              <a:cs typeface="Times New Roman" panose="02020603050405020304" pitchFamily="18" charset="0"/>
            </a:endParaRPr>
          </a:p>
          <a:p>
            <a:pPr lvl="1" algn="just">
              <a:lnSpc>
                <a:spcPct val="150000"/>
              </a:lnSpc>
              <a:spcAft>
                <a:spcPts val="0"/>
              </a:spcAft>
            </a:pPr>
            <a:r>
              <a:rPr lang="zh-CN" altLang="zh-CN" sz="1800" kern="100" dirty="0" smtClean="0">
                <a:latin typeface="Arial" panose="020B0604020202020204" pitchFamily="34" charset="0"/>
                <a:cs typeface="Times New Roman" panose="02020603050405020304" pitchFamily="18" charset="0"/>
              </a:rPr>
              <a:t>初始化</a:t>
            </a:r>
            <a:r>
              <a:rPr lang="zh-CN" altLang="zh-CN" sz="1800" kern="100" dirty="0">
                <a:latin typeface="Arial" panose="020B0604020202020204" pitchFamily="34" charset="0"/>
                <a:cs typeface="Times New Roman" panose="02020603050405020304" pitchFamily="18" charset="0"/>
              </a:rPr>
              <a:t>锁存器与功能</a:t>
            </a:r>
            <a:r>
              <a:rPr lang="zh-CN" altLang="zh-CN" sz="1800" kern="100" dirty="0" smtClean="0">
                <a:latin typeface="Arial" panose="020B0604020202020204" pitchFamily="34" charset="0"/>
                <a:cs typeface="Times New Roman" panose="02020603050405020304" pitchFamily="18" charset="0"/>
              </a:rPr>
              <a:t>锁存器的</a:t>
            </a:r>
            <a:r>
              <a:rPr lang="zh-CN" altLang="en-US" sz="1800" kern="100" dirty="0" smtClean="0">
                <a:latin typeface="Arial" panose="020B0604020202020204" pitchFamily="34" charset="0"/>
                <a:cs typeface="Times New Roman" panose="02020603050405020304" pitchFamily="18" charset="0"/>
              </a:rPr>
              <a:t>控制字是相同的，主要控制字的</a:t>
            </a:r>
            <a:r>
              <a:rPr lang="zh-CN" altLang="zh-CN" sz="1800" kern="100" dirty="0" smtClean="0">
                <a:latin typeface="Arial" panose="020B0604020202020204" pitchFamily="34" charset="0"/>
                <a:cs typeface="Times New Roman" panose="02020603050405020304" pitchFamily="18" charset="0"/>
              </a:rPr>
              <a:t>说明</a:t>
            </a:r>
            <a:r>
              <a:rPr lang="zh-CN" altLang="en-US" sz="1800" kern="100" dirty="0" smtClean="0">
                <a:latin typeface="Arial" panose="020B0604020202020204" pitchFamily="34" charset="0"/>
                <a:cs typeface="Times New Roman" panose="02020603050405020304" pitchFamily="18" charset="0"/>
              </a:rPr>
              <a:t>如下：</a:t>
            </a:r>
            <a:endParaRPr lang="zh-CN" altLang="zh-CN" sz="1800" kern="100" dirty="0">
              <a:latin typeface="Arial" panose="020B0604020202020204" pitchFamily="34"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en-US" altLang="zh-CN" sz="1800" kern="100" dirty="0" smtClean="0">
                <a:latin typeface="Arial" panose="020B0604020202020204" pitchFamily="34" charset="0"/>
                <a:cs typeface="Times New Roman" panose="02020603050405020304" pitchFamily="18" charset="0"/>
              </a:rPr>
              <a:t>Current setting</a:t>
            </a:r>
            <a:r>
              <a:rPr lang="zh-CN" altLang="en-US" sz="1800" kern="100" dirty="0" smtClean="0">
                <a:latin typeface="Arial" panose="020B0604020202020204" pitchFamily="34" charset="0"/>
                <a:cs typeface="Times New Roman" panose="02020603050405020304" pitchFamily="18" charset="0"/>
              </a:rPr>
              <a:t>：</a:t>
            </a:r>
            <a:r>
              <a:rPr lang="zh-CN" altLang="zh-CN" sz="1800" kern="100" dirty="0" smtClean="0">
                <a:latin typeface="Arial" panose="020B0604020202020204" pitchFamily="34" charset="0"/>
                <a:cs typeface="Times New Roman" panose="02020603050405020304" pitchFamily="18" charset="0"/>
              </a:rPr>
              <a:t>设置</a:t>
            </a:r>
            <a:r>
              <a:rPr lang="zh-CN" altLang="zh-CN" sz="1800" kern="100" dirty="0">
                <a:latin typeface="Arial" panose="020B0604020202020204" pitchFamily="34" charset="0"/>
                <a:cs typeface="Times New Roman" panose="02020603050405020304" pitchFamily="18" charset="0"/>
              </a:rPr>
              <a:t>电荷泵的输出电流</a:t>
            </a:r>
            <a:r>
              <a:rPr lang="en-US" altLang="zh-CN" sz="1800" kern="100" dirty="0">
                <a:latin typeface="Arial" panose="020B0604020202020204" pitchFamily="34" charset="0"/>
                <a:cs typeface="Times New Roman" panose="02020603050405020304" pitchFamily="18" charset="0"/>
              </a:rPr>
              <a:t>I</a:t>
            </a:r>
            <a:r>
              <a:rPr lang="en-US" altLang="zh-CN" sz="1800" kern="100" baseline="-25000" dirty="0">
                <a:latin typeface="Arial" panose="020B0604020202020204" pitchFamily="34" charset="0"/>
                <a:cs typeface="Times New Roman" panose="02020603050405020304" pitchFamily="18" charset="0"/>
              </a:rPr>
              <a:t>CP</a:t>
            </a:r>
            <a:r>
              <a:rPr lang="zh-CN" altLang="zh-CN" sz="1800" kern="100" dirty="0">
                <a:latin typeface="Arial" panose="020B0604020202020204" pitchFamily="34" charset="0"/>
                <a:cs typeface="Times New Roman" panose="02020603050405020304" pitchFamily="18" charset="0"/>
              </a:rPr>
              <a:t>，</a:t>
            </a:r>
            <a:r>
              <a:rPr lang="zh-CN" altLang="zh-CN" sz="1800" kern="100" dirty="0" smtClean="0">
                <a:latin typeface="Arial" panose="020B0604020202020204" pitchFamily="34" charset="0"/>
                <a:cs typeface="Times New Roman" panose="02020603050405020304" pitchFamily="18" charset="0"/>
              </a:rPr>
              <a:t>配合外部</a:t>
            </a:r>
            <a:r>
              <a:rPr lang="zh-CN" altLang="zh-CN" sz="1800" kern="100" dirty="0">
                <a:latin typeface="Arial" panose="020B0604020202020204" pitchFamily="34" charset="0"/>
                <a:cs typeface="Times New Roman" panose="02020603050405020304" pitchFamily="18" charset="0"/>
              </a:rPr>
              <a:t>电阻</a:t>
            </a:r>
            <a:r>
              <a:rPr lang="en-US" altLang="zh-CN" sz="1800" kern="100" dirty="0" smtClean="0">
                <a:latin typeface="Arial" panose="020B0604020202020204" pitchFamily="34" charset="0"/>
                <a:cs typeface="Times New Roman" panose="02020603050405020304" pitchFamily="18" charset="0"/>
              </a:rPr>
              <a:t>R</a:t>
            </a:r>
            <a:r>
              <a:rPr lang="en-US" altLang="zh-CN" sz="1800" kern="100" baseline="-25000" dirty="0" smtClean="0">
                <a:latin typeface="Arial" panose="020B0604020202020204" pitchFamily="34" charset="0"/>
                <a:cs typeface="Times New Roman" panose="02020603050405020304" pitchFamily="18" charset="0"/>
              </a:rPr>
              <a:t>SET</a:t>
            </a:r>
            <a:r>
              <a:rPr lang="zh-CN" altLang="en-US" sz="1800" kern="100" dirty="0" smtClean="0">
                <a:latin typeface="Arial" panose="020B0604020202020204" pitchFamily="34" charset="0"/>
                <a:cs typeface="Times New Roman" panose="02020603050405020304" pitchFamily="18" charset="0"/>
              </a:rPr>
              <a:t>，设置范围为</a:t>
            </a:r>
            <a:r>
              <a:rPr lang="zh-CN" altLang="zh-CN" sz="1800" kern="100" dirty="0" smtClean="0">
                <a:latin typeface="Arial" panose="020B0604020202020204" pitchFamily="34" charset="0"/>
                <a:cs typeface="Times New Roman" panose="02020603050405020304" pitchFamily="18" charset="0"/>
              </a:rPr>
              <a:t>几百</a:t>
            </a:r>
            <a:r>
              <a:rPr lang="zh-CN" altLang="zh-CN" sz="1800" kern="100" dirty="0">
                <a:latin typeface="Arial" panose="020B0604020202020204" pitchFamily="34" charset="0"/>
                <a:cs typeface="Times New Roman" panose="02020603050405020304" pitchFamily="18" charset="0"/>
              </a:rPr>
              <a:t>微安到几</a:t>
            </a:r>
            <a:r>
              <a:rPr lang="zh-CN" altLang="zh-CN" sz="1800" kern="100" dirty="0" smtClean="0">
                <a:latin typeface="Arial" panose="020B0604020202020204" pitchFamily="34" charset="0"/>
                <a:cs typeface="Times New Roman" panose="02020603050405020304" pitchFamily="18" charset="0"/>
              </a:rPr>
              <a:t>毫安</a:t>
            </a:r>
            <a:endParaRPr lang="zh-CN" altLang="zh-CN" sz="1800" kern="100" dirty="0">
              <a:latin typeface="Arial" panose="020B0604020202020204" pitchFamily="34" charset="0"/>
              <a:cs typeface="Times New Roman" panose="02020603050405020304" pitchFamily="18" charset="0"/>
            </a:endParaRPr>
          </a:p>
          <a:p>
            <a:pPr lvl="1" algn="just">
              <a:lnSpc>
                <a:spcPct val="150000"/>
              </a:lnSpc>
              <a:spcAft>
                <a:spcPts val="0"/>
              </a:spcAft>
            </a:pPr>
            <a:r>
              <a:rPr lang="zh-CN" altLang="zh-CN" sz="1800" kern="100" dirty="0">
                <a:latin typeface="Arial" panose="020B0604020202020204" pitchFamily="34" charset="0"/>
                <a:cs typeface="Times New Roman" panose="02020603050405020304" pitchFamily="18" charset="0"/>
              </a:rPr>
              <a:t>这个控制字又被分为</a:t>
            </a:r>
            <a:r>
              <a:rPr lang="en-US" altLang="zh-CN" sz="1800" kern="100" dirty="0">
                <a:latin typeface="Arial" panose="020B0604020202020204" pitchFamily="34" charset="0"/>
                <a:cs typeface="Times New Roman" panose="02020603050405020304" pitchFamily="18" charset="0"/>
              </a:rPr>
              <a:t>2</a:t>
            </a:r>
            <a:r>
              <a:rPr lang="zh-CN" altLang="zh-CN" sz="1800" kern="100" dirty="0">
                <a:latin typeface="Arial" panose="020B0604020202020204" pitchFamily="34" charset="0"/>
                <a:cs typeface="Times New Roman" panose="02020603050405020304" pitchFamily="18" charset="0"/>
              </a:rPr>
              <a:t>个可以独立设置的</a:t>
            </a:r>
            <a:r>
              <a:rPr lang="en-US" altLang="zh-CN" sz="1800" kern="100" dirty="0">
                <a:latin typeface="Arial" panose="020B0604020202020204" pitchFamily="34" charset="0"/>
                <a:cs typeface="Times New Roman" panose="02020603050405020304" pitchFamily="18" charset="0"/>
              </a:rPr>
              <a:t>3bit</a:t>
            </a:r>
            <a:r>
              <a:rPr lang="zh-CN" altLang="zh-CN" sz="1800" kern="100" dirty="0">
                <a:latin typeface="Arial" panose="020B0604020202020204" pitchFamily="34" charset="0"/>
                <a:cs typeface="Times New Roman" panose="02020603050405020304" pitchFamily="18" charset="0"/>
              </a:rPr>
              <a:t>数字，实际的电荷泵输出电流可以在这两个数字之间变换，控制字“</a:t>
            </a:r>
            <a:r>
              <a:rPr lang="en-US" altLang="zh-CN" sz="1800" kern="100" dirty="0">
                <a:latin typeface="Arial" panose="020B0604020202020204" pitchFamily="34" charset="0"/>
                <a:cs typeface="Times New Roman" panose="02020603050405020304" pitchFamily="18" charset="0"/>
              </a:rPr>
              <a:t>CP Gain</a:t>
            </a:r>
            <a:r>
              <a:rPr lang="zh-CN" altLang="zh-CN" sz="1800" kern="100" dirty="0" smtClean="0">
                <a:latin typeface="Arial" panose="020B0604020202020204" pitchFamily="34" charset="0"/>
                <a:cs typeface="Times New Roman" panose="02020603050405020304" pitchFamily="18" charset="0"/>
              </a:rPr>
              <a:t>”是</a:t>
            </a:r>
            <a:r>
              <a:rPr lang="zh-CN" altLang="zh-CN" sz="1800" kern="100" dirty="0">
                <a:latin typeface="Arial" panose="020B0604020202020204" pitchFamily="34" charset="0"/>
                <a:cs typeface="Times New Roman" panose="02020603050405020304" pitchFamily="18" charset="0"/>
              </a:rPr>
              <a:t>这个输出电流的转换开关。由于电荷泵的输出电流决定了鉴相增益，同时也决定了整个锁相环的动态响应速度，所以这部分的作用是：在锁相环尚未锁定时利用一个较高的鉴相增益（由</a:t>
            </a:r>
            <a:r>
              <a:rPr lang="en-US" altLang="zh-CN" sz="1800" kern="100" dirty="0">
                <a:latin typeface="Arial" panose="020B0604020202020204" pitchFamily="34" charset="0"/>
                <a:cs typeface="Times New Roman" panose="02020603050405020304" pitchFamily="18" charset="0"/>
              </a:rPr>
              <a:t>Current setting 2</a:t>
            </a:r>
            <a:r>
              <a:rPr lang="zh-CN" altLang="zh-CN" sz="1800" kern="100" dirty="0">
                <a:latin typeface="Arial" panose="020B0604020202020204" pitchFamily="34" charset="0"/>
                <a:cs typeface="Times New Roman" panose="02020603050405020304" pitchFamily="18" charset="0"/>
              </a:rPr>
              <a:t>确定）达到快速捕捉，在锁相环锁定之后恢复到常规鉴相增益（由</a:t>
            </a:r>
            <a:r>
              <a:rPr lang="en-US" altLang="zh-CN" sz="1800" kern="100" dirty="0">
                <a:latin typeface="Arial" panose="020B0604020202020204" pitchFamily="34" charset="0"/>
                <a:cs typeface="Times New Roman" panose="02020603050405020304" pitchFamily="18" charset="0"/>
              </a:rPr>
              <a:t>Current setting 1</a:t>
            </a:r>
            <a:r>
              <a:rPr lang="zh-CN" altLang="zh-CN" sz="1800" kern="100" dirty="0">
                <a:latin typeface="Arial" panose="020B0604020202020204" pitchFamily="34" charset="0"/>
                <a:cs typeface="Times New Roman" panose="02020603050405020304" pitchFamily="18" charset="0"/>
              </a:rPr>
              <a:t>确定）以提高系统的</a:t>
            </a:r>
            <a:r>
              <a:rPr lang="zh-CN" altLang="zh-CN" sz="1800" kern="100" dirty="0" smtClean="0">
                <a:latin typeface="Arial" panose="020B0604020202020204" pitchFamily="34" charset="0"/>
                <a:cs typeface="Times New Roman" panose="02020603050405020304" pitchFamily="18" charset="0"/>
              </a:rPr>
              <a:t>稳定度</a:t>
            </a:r>
            <a:endParaRPr lang="zh-CN" altLang="zh-CN" sz="1800" kern="100" dirty="0">
              <a:latin typeface="Arial" panose="020B0604020202020204" pitchFamily="34"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en-US" altLang="zh-CN" sz="1800" kern="100" dirty="0" smtClean="0">
                <a:latin typeface="Arial" panose="020B0604020202020204" pitchFamily="34" charset="0"/>
                <a:cs typeface="Times New Roman" panose="02020603050405020304" pitchFamily="18" charset="0"/>
              </a:rPr>
              <a:t>Fast </a:t>
            </a:r>
            <a:r>
              <a:rPr lang="en-US" altLang="zh-CN" sz="1800" kern="100" dirty="0">
                <a:latin typeface="Arial" panose="020B0604020202020204" pitchFamily="34" charset="0"/>
                <a:cs typeface="Times New Roman" panose="02020603050405020304" pitchFamily="18" charset="0"/>
              </a:rPr>
              <a:t>lock </a:t>
            </a:r>
            <a:r>
              <a:rPr lang="en-US" altLang="zh-CN" sz="1800" kern="100" dirty="0" smtClean="0">
                <a:latin typeface="Arial" panose="020B0604020202020204" pitchFamily="34" charset="0"/>
                <a:cs typeface="Times New Roman" panose="02020603050405020304" pitchFamily="18" charset="0"/>
              </a:rPr>
              <a:t>enable </a:t>
            </a:r>
            <a:r>
              <a:rPr lang="zh-CN" altLang="zh-CN" sz="1800" kern="100" dirty="0" smtClean="0">
                <a:latin typeface="Arial" panose="020B0604020202020204" pitchFamily="34" charset="0"/>
                <a:cs typeface="Times New Roman" panose="02020603050405020304" pitchFamily="18" charset="0"/>
              </a:rPr>
              <a:t>与</a:t>
            </a:r>
            <a:r>
              <a:rPr lang="en-US" altLang="zh-CN" sz="1800" kern="100" dirty="0" smtClean="0">
                <a:latin typeface="Arial" panose="020B0604020202020204" pitchFamily="34" charset="0"/>
                <a:cs typeface="Times New Roman" panose="02020603050405020304" pitchFamily="18" charset="0"/>
              </a:rPr>
              <a:t> Fast </a:t>
            </a:r>
            <a:r>
              <a:rPr lang="en-US" altLang="zh-CN" sz="1800" kern="100" dirty="0">
                <a:latin typeface="Arial" panose="020B0604020202020204" pitchFamily="34" charset="0"/>
                <a:cs typeface="Times New Roman" panose="02020603050405020304" pitchFamily="18" charset="0"/>
              </a:rPr>
              <a:t>lock </a:t>
            </a:r>
            <a:r>
              <a:rPr lang="en-US" altLang="zh-CN" sz="1800" kern="100" dirty="0" smtClean="0">
                <a:latin typeface="Arial" panose="020B0604020202020204" pitchFamily="34" charset="0"/>
                <a:cs typeface="Times New Roman" panose="02020603050405020304" pitchFamily="18" charset="0"/>
              </a:rPr>
              <a:t>mode</a:t>
            </a:r>
            <a:r>
              <a:rPr lang="zh-CN" altLang="en-US" sz="1800" kern="100" dirty="0" smtClean="0">
                <a:latin typeface="Arial" panose="020B0604020202020204" pitchFamily="34" charset="0"/>
                <a:cs typeface="Times New Roman" panose="02020603050405020304" pitchFamily="18" charset="0"/>
              </a:rPr>
              <a:t>：</a:t>
            </a:r>
            <a:r>
              <a:rPr lang="zh-CN" altLang="zh-CN" sz="1800" kern="100" dirty="0" smtClean="0">
                <a:latin typeface="Arial" panose="020B0604020202020204" pitchFamily="34" charset="0"/>
                <a:cs typeface="Times New Roman" panose="02020603050405020304" pitchFamily="18" charset="0"/>
              </a:rPr>
              <a:t>指定快速</a:t>
            </a:r>
            <a:r>
              <a:rPr lang="zh-CN" altLang="zh-CN" sz="1800" kern="100" dirty="0">
                <a:latin typeface="Arial" panose="020B0604020202020204" pitchFamily="34" charset="0"/>
                <a:cs typeface="Times New Roman" panose="02020603050405020304" pitchFamily="18" charset="0"/>
              </a:rPr>
              <a:t>捕捉的三种模式：禁止快捕、快捕模式</a:t>
            </a:r>
            <a:r>
              <a:rPr lang="en-US" altLang="zh-CN" sz="1800" kern="100" dirty="0">
                <a:latin typeface="Arial" panose="020B0604020202020204" pitchFamily="34" charset="0"/>
                <a:cs typeface="Times New Roman" panose="02020603050405020304" pitchFamily="18" charset="0"/>
              </a:rPr>
              <a:t>1</a:t>
            </a:r>
            <a:r>
              <a:rPr lang="zh-CN" altLang="zh-CN" sz="1800" kern="100" dirty="0">
                <a:latin typeface="Arial" panose="020B0604020202020204" pitchFamily="34" charset="0"/>
                <a:cs typeface="Times New Roman" panose="02020603050405020304" pitchFamily="18" charset="0"/>
              </a:rPr>
              <a:t>与快捕模式</a:t>
            </a:r>
            <a:r>
              <a:rPr lang="en-US" altLang="zh-CN" sz="1800" kern="100" dirty="0" smtClean="0">
                <a:latin typeface="Arial" panose="020B0604020202020204" pitchFamily="34" charset="0"/>
                <a:cs typeface="Times New Roman" panose="02020603050405020304" pitchFamily="18" charset="0"/>
              </a:rPr>
              <a:t>2</a:t>
            </a:r>
          </a:p>
          <a:p>
            <a:pPr lvl="1" algn="just">
              <a:lnSpc>
                <a:spcPct val="150000"/>
              </a:lnSpc>
              <a:spcAft>
                <a:spcPts val="0"/>
              </a:spcAft>
            </a:pPr>
            <a:r>
              <a:rPr lang="zh-CN" altLang="zh-CN" sz="1800" kern="100" dirty="0" smtClean="0">
                <a:latin typeface="Arial" panose="020B0604020202020204" pitchFamily="34" charset="0"/>
                <a:cs typeface="Times New Roman" panose="02020603050405020304" pitchFamily="18" charset="0"/>
              </a:rPr>
              <a:t>快</a:t>
            </a:r>
            <a:r>
              <a:rPr lang="zh-CN" altLang="zh-CN" sz="1800" kern="100" dirty="0">
                <a:latin typeface="Arial" panose="020B0604020202020204" pitchFamily="34" charset="0"/>
                <a:cs typeface="Times New Roman" panose="02020603050405020304" pitchFamily="18" charset="0"/>
              </a:rPr>
              <a:t>捕模式</a:t>
            </a:r>
            <a:r>
              <a:rPr lang="en-US" altLang="zh-CN" sz="1800" kern="100" dirty="0">
                <a:latin typeface="Arial" panose="020B0604020202020204" pitchFamily="34" charset="0"/>
                <a:cs typeface="Times New Roman" panose="02020603050405020304" pitchFamily="18" charset="0"/>
              </a:rPr>
              <a:t>1</a:t>
            </a:r>
            <a:r>
              <a:rPr lang="zh-CN" altLang="zh-CN" sz="1800" kern="100" dirty="0">
                <a:latin typeface="Arial" panose="020B0604020202020204" pitchFamily="34" charset="0"/>
                <a:cs typeface="Times New Roman" panose="02020603050405020304" pitchFamily="18" charset="0"/>
              </a:rPr>
              <a:t>的启动与退出均由锁存器控制，是一种人工的外部控制模式。快捕模式</a:t>
            </a:r>
            <a:r>
              <a:rPr lang="en-US" altLang="zh-CN" sz="1800" kern="100" dirty="0">
                <a:latin typeface="Arial" panose="020B0604020202020204" pitchFamily="34" charset="0"/>
                <a:cs typeface="Times New Roman" panose="02020603050405020304" pitchFamily="18" charset="0"/>
              </a:rPr>
              <a:t>2</a:t>
            </a:r>
            <a:r>
              <a:rPr lang="zh-CN" altLang="zh-CN" sz="1800" kern="100" dirty="0">
                <a:latin typeface="Arial" panose="020B0604020202020204" pitchFamily="34" charset="0"/>
                <a:cs typeface="Times New Roman" panose="02020603050405020304" pitchFamily="18" charset="0"/>
              </a:rPr>
              <a:t>由锁存器控制进入快捕模式，然后经过一个由控制字“</a:t>
            </a:r>
            <a:r>
              <a:rPr lang="en-US" altLang="zh-CN" sz="1800" kern="100" dirty="0">
                <a:latin typeface="Arial" panose="020B0604020202020204" pitchFamily="34" charset="0"/>
                <a:cs typeface="Times New Roman" panose="02020603050405020304" pitchFamily="18" charset="0"/>
              </a:rPr>
              <a:t>Timer counter control</a:t>
            </a:r>
            <a:r>
              <a:rPr lang="zh-CN" altLang="zh-CN" sz="1800" kern="100" dirty="0">
                <a:latin typeface="Arial" panose="020B0604020202020204" pitchFamily="34" charset="0"/>
                <a:cs typeface="Times New Roman" panose="02020603050405020304" pitchFamily="18" charset="0"/>
              </a:rPr>
              <a:t>”决定的时间间隔后，自动返回常规</a:t>
            </a:r>
            <a:r>
              <a:rPr lang="zh-CN" altLang="zh-CN" sz="1800" kern="100" dirty="0" smtClean="0">
                <a:latin typeface="Arial" panose="020B0604020202020204" pitchFamily="34" charset="0"/>
                <a:cs typeface="Times New Roman" panose="02020603050405020304" pitchFamily="18" charset="0"/>
              </a:rPr>
              <a:t>模式</a:t>
            </a:r>
            <a:endParaRPr lang="zh-CN" altLang="zh-CN" sz="1800" kern="100" dirty="0">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308203939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31</a:t>
            </a:fld>
            <a:endParaRPr lang="en-US" altLang="zh-CN">
              <a:solidFill>
                <a:srgbClr val="FFFFFF"/>
              </a:solidFill>
            </a:endParaRPr>
          </a:p>
        </p:txBody>
      </p:sp>
      <p:sp>
        <p:nvSpPr>
          <p:cNvPr id="5" name="矩形 4"/>
          <p:cNvSpPr/>
          <p:nvPr/>
        </p:nvSpPr>
        <p:spPr>
          <a:xfrm>
            <a:off x="365761" y="339151"/>
            <a:ext cx="11214202" cy="5493812"/>
          </a:xfrm>
          <a:prstGeom prst="rect">
            <a:avLst/>
          </a:prstGeom>
        </p:spPr>
        <p:txBody>
          <a:bodyPr wrap="square">
            <a:spAutoFit/>
          </a:bodyPr>
          <a:lstStyle/>
          <a:p>
            <a:pPr marL="342900" indent="-342900" algn="just">
              <a:lnSpc>
                <a:spcPct val="150000"/>
              </a:lnSpc>
              <a:spcAft>
                <a:spcPts val="0"/>
              </a:spcAft>
              <a:buFont typeface="Wingdings" panose="05000000000000000000" pitchFamily="2" charset="2"/>
              <a:buChar char="l"/>
            </a:pPr>
            <a:r>
              <a:rPr lang="en-US" altLang="zh-CN" sz="1800" kern="100" dirty="0" smtClean="0">
                <a:latin typeface="Arial" panose="020B0604020202020204" pitchFamily="34" charset="0"/>
                <a:cs typeface="Times New Roman" panose="02020603050405020304" pitchFamily="18" charset="0"/>
              </a:rPr>
              <a:t>ADF4001/ADF4002</a:t>
            </a:r>
            <a:r>
              <a:rPr lang="zh-CN" altLang="en-US" sz="1800" kern="100" dirty="0">
                <a:latin typeface="Arial" panose="020B0604020202020204" pitchFamily="34" charset="0"/>
                <a:cs typeface="Times New Roman" panose="02020603050405020304" pitchFamily="18" charset="0"/>
              </a:rPr>
              <a:t>的控制字</a:t>
            </a:r>
            <a:r>
              <a:rPr lang="zh-CN" altLang="en-US" sz="1800" kern="100" dirty="0" smtClean="0">
                <a:latin typeface="Arial" panose="020B0604020202020204" pitchFamily="34" charset="0"/>
                <a:cs typeface="Times New Roman" panose="02020603050405020304" pitchFamily="18" charset="0"/>
              </a:rPr>
              <a:t>（</a:t>
            </a:r>
            <a:r>
              <a:rPr lang="en-US" altLang="zh-CN" sz="1800" kern="100" dirty="0" smtClean="0">
                <a:latin typeface="Arial" panose="020B0604020202020204" pitchFamily="34" charset="0"/>
                <a:cs typeface="Times New Roman" panose="02020603050405020304" pitchFamily="18" charset="0"/>
              </a:rPr>
              <a:t>2</a:t>
            </a:r>
            <a:r>
              <a:rPr lang="zh-CN" altLang="en-US" sz="1800" kern="100" dirty="0" smtClean="0">
                <a:latin typeface="Arial" panose="020B0604020202020204" pitchFamily="34" charset="0"/>
                <a:cs typeface="Times New Roman" panose="02020603050405020304" pitchFamily="18" charset="0"/>
              </a:rPr>
              <a:t>）</a:t>
            </a:r>
            <a:endParaRPr lang="en-US" altLang="zh-CN" sz="1800" kern="100" dirty="0">
              <a:latin typeface="Arial" panose="020B0604020202020204" pitchFamily="34"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en-US" altLang="zh-CN" sz="1800" kern="100" dirty="0" smtClean="0">
                <a:latin typeface="Arial" panose="020B0604020202020204" pitchFamily="34" charset="0"/>
                <a:cs typeface="Times New Roman" panose="02020603050405020304" pitchFamily="18" charset="0"/>
              </a:rPr>
              <a:t>Anti-backlash width</a:t>
            </a:r>
            <a:r>
              <a:rPr lang="zh-CN" altLang="en-US" sz="1800" kern="100" dirty="0" smtClean="0">
                <a:latin typeface="Arial" panose="020B0604020202020204" pitchFamily="34" charset="0"/>
                <a:cs typeface="Times New Roman" panose="02020603050405020304" pitchFamily="18" charset="0"/>
              </a:rPr>
              <a:t>：</a:t>
            </a:r>
            <a:r>
              <a:rPr lang="zh-CN" altLang="zh-CN" sz="1800" kern="100" dirty="0" smtClean="0">
                <a:latin typeface="Arial" panose="020B0604020202020204" pitchFamily="34" charset="0"/>
                <a:cs typeface="Times New Roman" panose="02020603050405020304" pitchFamily="18" charset="0"/>
              </a:rPr>
              <a:t>可以</a:t>
            </a:r>
            <a:r>
              <a:rPr lang="zh-CN" altLang="zh-CN" sz="1800" kern="100" dirty="0">
                <a:latin typeface="Arial" panose="020B0604020202020204" pitchFamily="34" charset="0"/>
                <a:cs typeface="Times New Roman" panose="02020603050405020304" pitchFamily="18" charset="0"/>
              </a:rPr>
              <a:t>直译为抗间隙宽度。这个</a:t>
            </a:r>
            <a:r>
              <a:rPr lang="zh-CN" altLang="zh-CN" sz="1800" kern="100" dirty="0" smtClean="0">
                <a:latin typeface="Arial" panose="020B0604020202020204" pitchFamily="34" charset="0"/>
                <a:cs typeface="Times New Roman" panose="02020603050405020304" pitchFamily="18" charset="0"/>
              </a:rPr>
              <a:t>概念说明</a:t>
            </a:r>
            <a:r>
              <a:rPr lang="zh-CN" altLang="zh-CN" sz="1800" kern="100" dirty="0">
                <a:latin typeface="Arial" panose="020B0604020202020204" pitchFamily="34" charset="0"/>
                <a:cs typeface="Times New Roman" panose="02020603050405020304" pitchFamily="18" charset="0"/>
              </a:rPr>
              <a:t>如下：</a:t>
            </a:r>
          </a:p>
          <a:p>
            <a:pPr lvl="1" indent="457200" algn="just">
              <a:lnSpc>
                <a:spcPct val="150000"/>
              </a:lnSpc>
              <a:spcAft>
                <a:spcPts val="0"/>
              </a:spcAft>
            </a:pPr>
            <a:r>
              <a:rPr lang="zh-CN" altLang="zh-CN" sz="1800" kern="100" dirty="0">
                <a:latin typeface="Arial" panose="020B0604020202020204" pitchFamily="34" charset="0"/>
                <a:cs typeface="Times New Roman" panose="02020603050405020304" pitchFamily="18" charset="0"/>
              </a:rPr>
              <a:t>鉴相</a:t>
            </a:r>
            <a:r>
              <a:rPr lang="en-US" altLang="zh-CN" sz="1800" kern="100" dirty="0">
                <a:latin typeface="Arial" panose="020B0604020202020204" pitchFamily="34" charset="0"/>
                <a:cs typeface="Times New Roman" panose="02020603050405020304" pitchFamily="18" charset="0"/>
              </a:rPr>
              <a:t>-</a:t>
            </a:r>
            <a:r>
              <a:rPr lang="zh-CN" altLang="zh-CN" sz="1800" kern="100" dirty="0">
                <a:latin typeface="Arial" panose="020B0604020202020204" pitchFamily="34" charset="0"/>
                <a:cs typeface="Times New Roman" panose="02020603050405020304" pitchFamily="18" charset="0"/>
              </a:rPr>
              <a:t>鉴频器（</a:t>
            </a:r>
            <a:r>
              <a:rPr lang="en-US" altLang="zh-CN" sz="1800" kern="100" dirty="0">
                <a:latin typeface="Arial" panose="020B0604020202020204" pitchFamily="34" charset="0"/>
                <a:cs typeface="Times New Roman" panose="02020603050405020304" pitchFamily="18" charset="0"/>
              </a:rPr>
              <a:t>PFD</a:t>
            </a:r>
            <a:r>
              <a:rPr lang="zh-CN" altLang="zh-CN" sz="1800" kern="100" dirty="0">
                <a:latin typeface="Arial" panose="020B0604020202020204" pitchFamily="34" charset="0"/>
                <a:cs typeface="Times New Roman" panose="02020603050405020304" pitchFamily="18" charset="0"/>
              </a:rPr>
              <a:t>）在有相位误差时发出充电或放电脉冲。但是在相位误差很小（锁定）的情况下，这个脉冲会变得相当窄，在寄生电容的影响下，这个窄脉冲实际上不可能对环路滤波器的电容进行充电或放电。由于这个原因，采用普通</a:t>
            </a:r>
            <a:r>
              <a:rPr lang="en-US" altLang="zh-CN" sz="1800" kern="100" dirty="0">
                <a:latin typeface="Arial" panose="020B0604020202020204" pitchFamily="34" charset="0"/>
                <a:cs typeface="Times New Roman" panose="02020603050405020304" pitchFamily="18" charset="0"/>
              </a:rPr>
              <a:t>PFD</a:t>
            </a:r>
            <a:r>
              <a:rPr lang="zh-CN" altLang="zh-CN" sz="1800" kern="100" dirty="0">
                <a:latin typeface="Arial" panose="020B0604020202020204" pitchFamily="34" charset="0"/>
                <a:cs typeface="Times New Roman" panose="02020603050405020304" pitchFamily="18" charset="0"/>
              </a:rPr>
              <a:t>的锁相环在锁定状态下的大部分时间内，环路滤波器都处于静止状态，只有当相位误差大到一定程度才会对环路滤波器的电容进行一次较大幅度的充放电。但是那样一来，这些幅度较大而频率比输入信号频率低很多的脉冲成分可能难于被环路滤波器滤除，从而使得后面</a:t>
            </a:r>
            <a:r>
              <a:rPr lang="en-US" altLang="zh-CN" sz="1800" kern="100" dirty="0">
                <a:latin typeface="Arial" panose="020B0604020202020204" pitchFamily="34" charset="0"/>
                <a:cs typeface="Times New Roman" panose="02020603050405020304" pitchFamily="18" charset="0"/>
              </a:rPr>
              <a:t>VCO</a:t>
            </a:r>
            <a:r>
              <a:rPr lang="zh-CN" altLang="zh-CN" sz="1800" kern="100" dirty="0">
                <a:latin typeface="Arial" panose="020B0604020202020204" pitchFamily="34" charset="0"/>
                <a:cs typeface="Times New Roman" panose="02020603050405020304" pitchFamily="18" charset="0"/>
              </a:rPr>
              <a:t>的输出产生相位抖动。</a:t>
            </a:r>
          </a:p>
          <a:p>
            <a:pPr lvl="1" indent="457200" algn="just">
              <a:lnSpc>
                <a:spcPct val="150000"/>
              </a:lnSpc>
              <a:spcAft>
                <a:spcPts val="0"/>
              </a:spcAft>
            </a:pPr>
            <a:r>
              <a:rPr lang="zh-CN" altLang="zh-CN" sz="1800" kern="100" dirty="0">
                <a:latin typeface="Arial" panose="020B0604020202020204" pitchFamily="34" charset="0"/>
                <a:cs typeface="Times New Roman" panose="02020603050405020304" pitchFamily="18" charset="0"/>
              </a:rPr>
              <a:t>为了解决这个问题，</a:t>
            </a:r>
            <a:r>
              <a:rPr lang="zh-CN" altLang="zh-CN" sz="1800" kern="100" dirty="0" smtClean="0">
                <a:latin typeface="Arial" panose="020B0604020202020204" pitchFamily="34" charset="0"/>
                <a:cs typeface="Times New Roman" panose="02020603050405020304" pitchFamily="18" charset="0"/>
              </a:rPr>
              <a:t>这个</a:t>
            </a:r>
            <a:r>
              <a:rPr lang="zh-CN" altLang="zh-CN" sz="1800" kern="100" dirty="0">
                <a:latin typeface="Arial" panose="020B0604020202020204" pitchFamily="34" charset="0"/>
                <a:cs typeface="Times New Roman" panose="02020603050405020304" pitchFamily="18" charset="0"/>
              </a:rPr>
              <a:t>芯片改进了</a:t>
            </a:r>
            <a:r>
              <a:rPr lang="en-US" altLang="zh-CN" sz="1800" kern="100" dirty="0">
                <a:latin typeface="Arial" panose="020B0604020202020204" pitchFamily="34" charset="0"/>
                <a:cs typeface="Times New Roman" panose="02020603050405020304" pitchFamily="18" charset="0"/>
              </a:rPr>
              <a:t>PFD</a:t>
            </a:r>
            <a:r>
              <a:rPr lang="zh-CN" altLang="zh-CN" sz="1800" kern="100" dirty="0">
                <a:latin typeface="Arial" panose="020B0604020202020204" pitchFamily="34" charset="0"/>
                <a:cs typeface="Times New Roman" panose="02020603050405020304" pitchFamily="18" charset="0"/>
              </a:rPr>
              <a:t>：不管相位误差有多小，在两个输入信号的上升沿后面附加了一对固定宽度的充电与放电脉冲（</a:t>
            </a:r>
            <a:r>
              <a:rPr lang="zh-CN" altLang="zh-CN" sz="1800" kern="100" dirty="0" smtClean="0">
                <a:latin typeface="Arial" panose="020B0604020202020204" pitchFamily="34" charset="0"/>
                <a:cs typeface="Times New Roman" panose="02020603050405020304" pitchFamily="18" charset="0"/>
              </a:rPr>
              <a:t>就是</a:t>
            </a:r>
            <a:r>
              <a:rPr lang="zh-CN" altLang="en-US" sz="1800" kern="100" dirty="0" smtClean="0">
                <a:latin typeface="Arial" panose="020B0604020202020204" pitchFamily="34" charset="0"/>
                <a:cs typeface="Times New Roman" panose="02020603050405020304" pitchFamily="18" charset="0"/>
              </a:rPr>
              <a:t>前面电荷泵</a:t>
            </a:r>
            <a:r>
              <a:rPr lang="zh-CN" altLang="zh-CN" sz="1800" kern="100" dirty="0" smtClean="0">
                <a:latin typeface="Arial" panose="020B0604020202020204" pitchFamily="34" charset="0"/>
                <a:cs typeface="Times New Roman" panose="02020603050405020304" pitchFamily="18" charset="0"/>
              </a:rPr>
              <a:t>图中</a:t>
            </a:r>
            <a:r>
              <a:rPr lang="zh-CN" altLang="zh-CN" sz="1800" kern="100" dirty="0">
                <a:latin typeface="Arial" panose="020B0604020202020204" pitchFamily="34" charset="0"/>
                <a:cs typeface="Times New Roman" panose="02020603050405020304" pitchFamily="18" charset="0"/>
              </a:rPr>
              <a:t>与门后面的</a:t>
            </a:r>
            <a:r>
              <a:rPr lang="en-US" altLang="zh-CN" sz="1800" kern="100" dirty="0">
                <a:latin typeface="Arial" panose="020B0604020202020204" pitchFamily="34" charset="0"/>
                <a:cs typeface="Times New Roman" panose="02020603050405020304" pitchFamily="18" charset="0"/>
              </a:rPr>
              <a:t>delay</a:t>
            </a:r>
            <a:r>
              <a:rPr lang="zh-CN" altLang="zh-CN" sz="1800" kern="100" dirty="0">
                <a:latin typeface="Arial" panose="020B0604020202020204" pitchFamily="34" charset="0"/>
                <a:cs typeface="Times New Roman" panose="02020603050405020304" pitchFamily="18" charset="0"/>
              </a:rPr>
              <a:t>环节）。若两个输入没有相位差（上升沿对齐），这两个相同宽度的脉冲充放电抵消，不会对后面环路滤波器造成影响。只要有相位误差，即使误差极小，两个脉冲的宽度就会不等。这样就避免了后续的环路滤波器要将误差积累到一定程度再充放电的弊病。这个“</a:t>
            </a:r>
            <a:r>
              <a:rPr lang="en-US" altLang="zh-CN" sz="1800" kern="100" dirty="0">
                <a:latin typeface="Arial" panose="020B0604020202020204" pitchFamily="34" charset="0"/>
                <a:cs typeface="Times New Roman" panose="02020603050405020304" pitchFamily="18" charset="0"/>
              </a:rPr>
              <a:t>Anti-backlash width</a:t>
            </a:r>
            <a:r>
              <a:rPr lang="zh-CN" altLang="zh-CN" sz="1800" kern="100" dirty="0">
                <a:latin typeface="Arial" panose="020B0604020202020204" pitchFamily="34" charset="0"/>
                <a:cs typeface="Times New Roman" panose="02020603050405020304" pitchFamily="18" charset="0"/>
              </a:rPr>
              <a:t>”就是设置这个固定充放电脉冲的宽度</a:t>
            </a:r>
            <a:r>
              <a:rPr lang="zh-CN" altLang="zh-CN" sz="1800" kern="100" dirty="0" smtClean="0">
                <a:latin typeface="Arial" panose="020B0604020202020204" pitchFamily="34" charset="0"/>
                <a:cs typeface="Times New Roman" panose="02020603050405020304" pitchFamily="18" charset="0"/>
              </a:rPr>
              <a:t>。</a:t>
            </a:r>
            <a:endParaRPr lang="zh-CN" altLang="zh-CN" sz="1800" kern="100" dirty="0">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246955908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32</a:t>
            </a:fld>
            <a:endParaRPr lang="en-US" altLang="zh-CN">
              <a:solidFill>
                <a:srgbClr val="FFFFFF"/>
              </a:solidFill>
            </a:endParaRPr>
          </a:p>
        </p:txBody>
      </p:sp>
      <p:sp>
        <p:nvSpPr>
          <p:cNvPr id="5" name="矩形 4"/>
          <p:cNvSpPr/>
          <p:nvPr/>
        </p:nvSpPr>
        <p:spPr>
          <a:xfrm>
            <a:off x="365761" y="419619"/>
            <a:ext cx="11214202" cy="5493812"/>
          </a:xfrm>
          <a:prstGeom prst="rect">
            <a:avLst/>
          </a:prstGeom>
        </p:spPr>
        <p:txBody>
          <a:bodyPr wrap="square">
            <a:spAutoFit/>
          </a:bodyPr>
          <a:lstStyle/>
          <a:p>
            <a:pPr marL="342900" indent="-342900" algn="just">
              <a:lnSpc>
                <a:spcPct val="150000"/>
              </a:lnSpc>
              <a:spcAft>
                <a:spcPts val="0"/>
              </a:spcAft>
              <a:buFont typeface="Wingdings" panose="05000000000000000000" pitchFamily="2" charset="2"/>
              <a:buChar char="l"/>
            </a:pPr>
            <a:r>
              <a:rPr lang="en-US" altLang="zh-CN" sz="1800" kern="100" dirty="0" smtClean="0">
                <a:latin typeface="Arial" panose="020B0604020202020204" pitchFamily="34" charset="0"/>
                <a:cs typeface="Times New Roman" panose="02020603050405020304" pitchFamily="18" charset="0"/>
              </a:rPr>
              <a:t>ADF4001/ADF4002</a:t>
            </a:r>
            <a:r>
              <a:rPr lang="zh-CN" altLang="en-US" sz="1800" kern="100" dirty="0">
                <a:latin typeface="Arial" panose="020B0604020202020204" pitchFamily="34" charset="0"/>
                <a:cs typeface="Times New Roman" panose="02020603050405020304" pitchFamily="18" charset="0"/>
              </a:rPr>
              <a:t>的控制字</a:t>
            </a:r>
            <a:r>
              <a:rPr lang="zh-CN" altLang="en-US" sz="1800" kern="100" dirty="0" smtClean="0">
                <a:latin typeface="Arial" panose="020B0604020202020204" pitchFamily="34" charset="0"/>
                <a:cs typeface="Times New Roman" panose="02020603050405020304" pitchFamily="18" charset="0"/>
              </a:rPr>
              <a:t>（</a:t>
            </a:r>
            <a:r>
              <a:rPr lang="en-US" altLang="zh-CN" sz="1800" kern="100" dirty="0" smtClean="0">
                <a:latin typeface="Arial" panose="020B0604020202020204" pitchFamily="34" charset="0"/>
                <a:cs typeface="Times New Roman" panose="02020603050405020304" pitchFamily="18" charset="0"/>
              </a:rPr>
              <a:t>3</a:t>
            </a:r>
            <a:r>
              <a:rPr lang="zh-CN" altLang="en-US" sz="1800" kern="100" dirty="0" smtClean="0">
                <a:latin typeface="Arial" panose="020B0604020202020204" pitchFamily="34" charset="0"/>
                <a:cs typeface="Times New Roman" panose="02020603050405020304" pitchFamily="18" charset="0"/>
              </a:rPr>
              <a:t>）</a:t>
            </a:r>
            <a:endParaRPr lang="en-US" altLang="zh-CN" sz="1800" kern="100" dirty="0">
              <a:latin typeface="Arial" panose="020B0604020202020204" pitchFamily="34"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en-US" altLang="zh-CN" sz="1800" kern="100" dirty="0" smtClean="0">
                <a:latin typeface="Arial" panose="020B0604020202020204" pitchFamily="34" charset="0"/>
                <a:cs typeface="Times New Roman" panose="02020603050405020304" pitchFamily="18" charset="0"/>
              </a:rPr>
              <a:t>Phase </a:t>
            </a:r>
            <a:r>
              <a:rPr lang="en-US" altLang="zh-CN" sz="1800" kern="100" dirty="0">
                <a:latin typeface="Arial" panose="020B0604020202020204" pitchFamily="34" charset="0"/>
                <a:cs typeface="Times New Roman" panose="02020603050405020304" pitchFamily="18" charset="0"/>
              </a:rPr>
              <a:t>detector </a:t>
            </a:r>
            <a:r>
              <a:rPr lang="en-US" altLang="zh-CN" sz="1800" kern="100" dirty="0" smtClean="0">
                <a:latin typeface="Arial" panose="020B0604020202020204" pitchFamily="34" charset="0"/>
                <a:cs typeface="Times New Roman" panose="02020603050405020304" pitchFamily="18" charset="0"/>
              </a:rPr>
              <a:t>polarity</a:t>
            </a:r>
            <a:r>
              <a:rPr lang="zh-CN" altLang="en-US" sz="1800" kern="100" dirty="0" smtClean="0">
                <a:latin typeface="Arial" panose="020B0604020202020204" pitchFamily="34" charset="0"/>
                <a:cs typeface="Times New Roman" panose="02020603050405020304" pitchFamily="18" charset="0"/>
              </a:rPr>
              <a:t>：</a:t>
            </a:r>
            <a:r>
              <a:rPr lang="zh-CN" altLang="zh-CN" sz="1800" kern="100" dirty="0" smtClean="0">
                <a:latin typeface="Arial" panose="020B0604020202020204" pitchFamily="34" charset="0"/>
                <a:cs typeface="Times New Roman" panose="02020603050405020304" pitchFamily="18" charset="0"/>
              </a:rPr>
              <a:t>选择</a:t>
            </a:r>
            <a:r>
              <a:rPr lang="en-US" altLang="zh-CN" sz="1800" kern="100" dirty="0">
                <a:latin typeface="Arial" panose="020B0604020202020204" pitchFamily="34" charset="0"/>
                <a:cs typeface="Times New Roman" panose="02020603050405020304" pitchFamily="18" charset="0"/>
              </a:rPr>
              <a:t>PFD</a:t>
            </a:r>
            <a:r>
              <a:rPr lang="zh-CN" altLang="zh-CN" sz="1800" kern="100" dirty="0">
                <a:latin typeface="Arial" panose="020B0604020202020204" pitchFamily="34" charset="0"/>
                <a:cs typeface="Times New Roman" panose="02020603050405020304" pitchFamily="18" charset="0"/>
              </a:rPr>
              <a:t>的输出极性，这在采用某些反相输出的环路滤波器情况下特别</a:t>
            </a:r>
            <a:r>
              <a:rPr lang="zh-CN" altLang="zh-CN" sz="1800" kern="100" dirty="0" smtClean="0">
                <a:latin typeface="Arial" panose="020B0604020202020204" pitchFamily="34" charset="0"/>
                <a:cs typeface="Times New Roman" panose="02020603050405020304" pitchFamily="18" charset="0"/>
              </a:rPr>
              <a:t>方便</a:t>
            </a:r>
            <a:endParaRPr lang="zh-CN" altLang="zh-CN" sz="1800" kern="100" dirty="0">
              <a:latin typeface="Arial" panose="020B0604020202020204" pitchFamily="34"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en-US" altLang="zh-CN" sz="1800" kern="100" dirty="0" smtClean="0">
                <a:latin typeface="Arial" panose="020B0604020202020204" pitchFamily="34" charset="0"/>
                <a:cs typeface="Times New Roman" panose="02020603050405020304" pitchFamily="18" charset="0"/>
              </a:rPr>
              <a:t>CP three-state</a:t>
            </a:r>
            <a:r>
              <a:rPr lang="zh-CN" altLang="en-US" sz="1800" kern="100" dirty="0" smtClean="0">
                <a:latin typeface="Arial" panose="020B0604020202020204" pitchFamily="34" charset="0"/>
                <a:cs typeface="Times New Roman" panose="02020603050405020304" pitchFamily="18" charset="0"/>
              </a:rPr>
              <a:t>：</a:t>
            </a:r>
            <a:r>
              <a:rPr lang="zh-CN" altLang="zh-CN" sz="1800" kern="100" dirty="0" smtClean="0">
                <a:latin typeface="Arial" panose="020B0604020202020204" pitchFamily="34" charset="0"/>
                <a:cs typeface="Times New Roman" panose="02020603050405020304" pitchFamily="18" charset="0"/>
              </a:rPr>
              <a:t>控制</a:t>
            </a:r>
            <a:r>
              <a:rPr lang="en-US" altLang="zh-CN" sz="1800" kern="100" dirty="0">
                <a:latin typeface="Arial" panose="020B0604020202020204" pitchFamily="34" charset="0"/>
                <a:cs typeface="Times New Roman" panose="02020603050405020304" pitchFamily="18" charset="0"/>
              </a:rPr>
              <a:t>PFD</a:t>
            </a:r>
            <a:r>
              <a:rPr lang="zh-CN" altLang="zh-CN" sz="1800" kern="100" dirty="0" smtClean="0">
                <a:latin typeface="Arial" panose="020B0604020202020204" pitchFamily="34" charset="0"/>
                <a:cs typeface="Times New Roman" panose="02020603050405020304" pitchFamily="18" charset="0"/>
              </a:rPr>
              <a:t>的</a:t>
            </a:r>
            <a:r>
              <a:rPr lang="zh-CN" altLang="en-US" sz="1800" kern="100" dirty="0" smtClean="0">
                <a:latin typeface="Arial" panose="020B0604020202020204" pitchFamily="34" charset="0"/>
                <a:cs typeface="Times New Roman" panose="02020603050405020304" pitchFamily="18" charset="0"/>
              </a:rPr>
              <a:t>电荷泵</a:t>
            </a:r>
            <a:r>
              <a:rPr lang="zh-CN" altLang="zh-CN" sz="1800" kern="100" dirty="0" smtClean="0">
                <a:latin typeface="Arial" panose="020B0604020202020204" pitchFamily="34" charset="0"/>
                <a:cs typeface="Times New Roman" panose="02020603050405020304" pitchFamily="18" charset="0"/>
              </a:rPr>
              <a:t>输出</a:t>
            </a:r>
            <a:r>
              <a:rPr lang="zh-CN" altLang="zh-CN" sz="1800" kern="100" dirty="0">
                <a:latin typeface="Arial" panose="020B0604020202020204" pitchFamily="34" charset="0"/>
                <a:cs typeface="Times New Roman" panose="02020603050405020304" pitchFamily="18" charset="0"/>
              </a:rPr>
              <a:t>是常态还是</a:t>
            </a:r>
            <a:r>
              <a:rPr lang="zh-CN" altLang="zh-CN" sz="1800" kern="100" dirty="0" smtClean="0">
                <a:latin typeface="Arial" panose="020B0604020202020204" pitchFamily="34" charset="0"/>
                <a:cs typeface="Times New Roman" panose="02020603050405020304" pitchFamily="18" charset="0"/>
              </a:rPr>
              <a:t>三态</a:t>
            </a:r>
            <a:endParaRPr lang="zh-CN" altLang="zh-CN" sz="1800" kern="100" dirty="0">
              <a:latin typeface="Arial" panose="020B0604020202020204" pitchFamily="34"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en-US" altLang="zh-CN" sz="1800" kern="100" dirty="0" smtClean="0">
                <a:latin typeface="Arial" panose="020B0604020202020204" pitchFamily="34" charset="0"/>
                <a:cs typeface="Times New Roman" panose="02020603050405020304" pitchFamily="18" charset="0"/>
              </a:rPr>
              <a:t>Lock detect</a:t>
            </a:r>
            <a:r>
              <a:rPr lang="zh-CN" altLang="en-US" sz="1800" kern="100" dirty="0" smtClean="0">
                <a:latin typeface="Arial" panose="020B0604020202020204" pitchFamily="34" charset="0"/>
                <a:cs typeface="Times New Roman" panose="02020603050405020304" pitchFamily="18" charset="0"/>
              </a:rPr>
              <a:t>：</a:t>
            </a:r>
            <a:r>
              <a:rPr lang="zh-CN" altLang="zh-CN" sz="1800" kern="100" dirty="0" smtClean="0">
                <a:latin typeface="Arial" panose="020B0604020202020204" pitchFamily="34" charset="0"/>
                <a:cs typeface="Times New Roman" panose="02020603050405020304" pitchFamily="18" charset="0"/>
              </a:rPr>
              <a:t>指示</a:t>
            </a:r>
            <a:r>
              <a:rPr lang="zh-CN" altLang="zh-CN" sz="1800" kern="100" dirty="0">
                <a:latin typeface="Arial" panose="020B0604020202020204" pitchFamily="34" charset="0"/>
                <a:cs typeface="Times New Roman" panose="02020603050405020304" pitchFamily="18" charset="0"/>
              </a:rPr>
              <a:t>锁相环是否锁定，锁定的标准是输入鉴相器的两个信号相位的时间差是否在若干个循环周期内均小于</a:t>
            </a:r>
            <a:r>
              <a:rPr lang="en-US" altLang="zh-CN" sz="1800" kern="100" dirty="0">
                <a:latin typeface="Arial" panose="020B0604020202020204" pitchFamily="34" charset="0"/>
                <a:cs typeface="Times New Roman" panose="02020603050405020304" pitchFamily="18" charset="0"/>
              </a:rPr>
              <a:t>15ns</a:t>
            </a:r>
            <a:r>
              <a:rPr lang="zh-CN" altLang="zh-CN" sz="1800" kern="100" dirty="0">
                <a:latin typeface="Arial" panose="020B0604020202020204" pitchFamily="34" charset="0"/>
                <a:cs typeface="Times New Roman" panose="02020603050405020304" pitchFamily="18" charset="0"/>
              </a:rPr>
              <a:t>。控制字“</a:t>
            </a:r>
            <a:r>
              <a:rPr lang="en-US" altLang="zh-CN" sz="1800" kern="100" dirty="0">
                <a:latin typeface="Arial" panose="020B0604020202020204" pitchFamily="34" charset="0"/>
                <a:cs typeface="Times New Roman" panose="02020603050405020304" pitchFamily="18" charset="0"/>
              </a:rPr>
              <a:t>Lock detect precision</a:t>
            </a:r>
            <a:r>
              <a:rPr lang="zh-CN" altLang="zh-CN" sz="1800" kern="100" dirty="0">
                <a:latin typeface="Arial" panose="020B0604020202020204" pitchFamily="34" charset="0"/>
                <a:cs typeface="Times New Roman" panose="02020603050405020304" pitchFamily="18" charset="0"/>
              </a:rPr>
              <a:t>”是用来确定该循环周期的个数</a:t>
            </a:r>
            <a:r>
              <a:rPr lang="zh-CN" altLang="zh-CN" sz="1800" kern="100" dirty="0" smtClean="0">
                <a:latin typeface="Arial" panose="020B0604020202020204" pitchFamily="34" charset="0"/>
                <a:cs typeface="Times New Roman" panose="02020603050405020304" pitchFamily="18" charset="0"/>
              </a:rPr>
              <a:t>的</a:t>
            </a:r>
            <a:endParaRPr lang="zh-CN" altLang="zh-CN" sz="1800" kern="100" dirty="0">
              <a:latin typeface="Arial" panose="020B0604020202020204" pitchFamily="34"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en-US" altLang="zh-CN" sz="1800" kern="100" dirty="0" err="1" smtClean="0">
                <a:latin typeface="Arial" panose="020B0604020202020204" pitchFamily="34" charset="0"/>
                <a:cs typeface="Times New Roman" panose="02020603050405020304" pitchFamily="18" charset="0"/>
              </a:rPr>
              <a:t>Muxout</a:t>
            </a:r>
            <a:r>
              <a:rPr lang="en-US" altLang="zh-CN" sz="1800" kern="100" dirty="0" smtClean="0">
                <a:latin typeface="Arial" panose="020B0604020202020204" pitchFamily="34" charset="0"/>
                <a:cs typeface="Times New Roman" panose="02020603050405020304" pitchFamily="18" charset="0"/>
              </a:rPr>
              <a:t> control</a:t>
            </a:r>
            <a:r>
              <a:rPr lang="zh-CN" altLang="en-US" sz="1800" kern="100" dirty="0" smtClean="0">
                <a:latin typeface="Arial" panose="020B0604020202020204" pitchFamily="34" charset="0"/>
                <a:cs typeface="Times New Roman" panose="02020603050405020304" pitchFamily="18" charset="0"/>
              </a:rPr>
              <a:t>：</a:t>
            </a:r>
            <a:r>
              <a:rPr lang="zh-CN" altLang="zh-CN" sz="1800" kern="100" dirty="0" smtClean="0">
                <a:latin typeface="Arial" panose="020B0604020202020204" pitchFamily="34" charset="0"/>
                <a:cs typeface="Times New Roman" panose="02020603050405020304" pitchFamily="18" charset="0"/>
              </a:rPr>
              <a:t>控制</a:t>
            </a:r>
            <a:r>
              <a:rPr lang="zh-CN" altLang="zh-CN" sz="1800" kern="100" dirty="0">
                <a:latin typeface="Arial" panose="020B0604020202020204" pitchFamily="34" charset="0"/>
                <a:cs typeface="Times New Roman" panose="02020603050405020304" pitchFamily="18" charset="0"/>
              </a:rPr>
              <a:t>引脚</a:t>
            </a:r>
            <a:r>
              <a:rPr lang="en-US" altLang="zh-CN" sz="1800" kern="100" dirty="0" err="1">
                <a:latin typeface="Arial" panose="020B0604020202020204" pitchFamily="34" charset="0"/>
                <a:cs typeface="Times New Roman" panose="02020603050405020304" pitchFamily="18" charset="0"/>
              </a:rPr>
              <a:t>muxout</a:t>
            </a:r>
            <a:r>
              <a:rPr lang="zh-CN" altLang="zh-CN" sz="1800" kern="100" dirty="0">
                <a:latin typeface="Arial" panose="020B0604020202020204" pitchFamily="34" charset="0"/>
                <a:cs typeface="Times New Roman" panose="02020603050405020304" pitchFamily="18" charset="0"/>
              </a:rPr>
              <a:t>引出的是哪个内部信号，这个功能在调试的时候是非常有</a:t>
            </a:r>
            <a:r>
              <a:rPr lang="zh-CN" altLang="zh-CN" sz="1800" kern="100" dirty="0" smtClean="0">
                <a:latin typeface="Arial" panose="020B0604020202020204" pitchFamily="34" charset="0"/>
                <a:cs typeface="Times New Roman" panose="02020603050405020304" pitchFamily="18" charset="0"/>
              </a:rPr>
              <a:t>用</a:t>
            </a:r>
            <a:endParaRPr lang="zh-CN" altLang="zh-CN" sz="1800" kern="100" dirty="0">
              <a:latin typeface="Arial" panose="020B0604020202020204" pitchFamily="34" charset="0"/>
              <a:cs typeface="Times New Roman" panose="02020603050405020304" pitchFamily="18" charset="0"/>
            </a:endParaRPr>
          </a:p>
          <a:p>
            <a:pPr indent="269240" algn="just">
              <a:lnSpc>
                <a:spcPct val="150000"/>
              </a:lnSpc>
              <a:spcAft>
                <a:spcPts val="0"/>
              </a:spcAft>
            </a:pPr>
            <a:r>
              <a:rPr lang="zh-CN" altLang="zh-CN" sz="1800" kern="100" dirty="0">
                <a:latin typeface="Arial" panose="020B0604020202020204" pitchFamily="34" charset="0"/>
                <a:cs typeface="Times New Roman" panose="02020603050405020304" pitchFamily="18" charset="0"/>
              </a:rPr>
              <a:t>还有其他几个控制字都</a:t>
            </a:r>
            <a:r>
              <a:rPr lang="zh-CN" altLang="zh-CN" sz="1800" kern="100" dirty="0" smtClean="0">
                <a:latin typeface="Arial" panose="020B0604020202020204" pitchFamily="34" charset="0"/>
                <a:cs typeface="Times New Roman" panose="02020603050405020304" pitchFamily="18" charset="0"/>
              </a:rPr>
              <a:t>很</a:t>
            </a:r>
            <a:r>
              <a:rPr lang="zh-CN" altLang="en-US" sz="1800" kern="100" dirty="0" smtClean="0">
                <a:latin typeface="Arial" panose="020B0604020202020204" pitchFamily="34" charset="0"/>
                <a:cs typeface="Times New Roman" panose="02020603050405020304" pitchFamily="18" charset="0"/>
              </a:rPr>
              <a:t>直观</a:t>
            </a:r>
            <a:r>
              <a:rPr lang="zh-CN" altLang="zh-CN" sz="1800" kern="100" dirty="0" smtClean="0">
                <a:latin typeface="Arial" panose="020B0604020202020204" pitchFamily="34" charset="0"/>
                <a:cs typeface="Times New Roman" panose="02020603050405020304" pitchFamily="18" charset="0"/>
              </a:rPr>
              <a:t>，</a:t>
            </a:r>
            <a:r>
              <a:rPr lang="zh-CN" altLang="zh-CN" sz="1800" kern="100" dirty="0">
                <a:latin typeface="Arial" panose="020B0604020202020204" pitchFamily="34" charset="0"/>
                <a:cs typeface="Times New Roman" panose="02020603050405020304" pitchFamily="18" charset="0"/>
              </a:rPr>
              <a:t>这里不再</a:t>
            </a:r>
            <a:r>
              <a:rPr lang="zh-CN" altLang="zh-CN" sz="1800" kern="100" dirty="0" smtClean="0">
                <a:latin typeface="Arial" panose="020B0604020202020204" pitchFamily="34" charset="0"/>
                <a:cs typeface="Times New Roman" panose="02020603050405020304" pitchFamily="18" charset="0"/>
              </a:rPr>
              <a:t>介绍</a:t>
            </a:r>
            <a:endParaRPr lang="zh-CN" altLang="zh-CN" sz="1800" kern="100" dirty="0">
              <a:latin typeface="Arial" panose="020B0604020202020204" pitchFamily="34" charset="0"/>
              <a:cs typeface="Times New Roman" panose="02020603050405020304" pitchFamily="18" charset="0"/>
            </a:endParaRPr>
          </a:p>
          <a:p>
            <a:pPr indent="269240" algn="just">
              <a:lnSpc>
                <a:spcPct val="150000"/>
              </a:lnSpc>
              <a:spcAft>
                <a:spcPts val="0"/>
              </a:spcAft>
            </a:pPr>
            <a:endParaRPr lang="en-US" altLang="zh-CN" sz="1800" kern="100" dirty="0" smtClean="0">
              <a:latin typeface="Arial" panose="020B0604020202020204" pitchFamily="34" charset="0"/>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en-US" altLang="zh-CN" sz="1800" kern="100" dirty="0" smtClean="0">
                <a:latin typeface="Arial" panose="020B0604020202020204" pitchFamily="34" charset="0"/>
                <a:cs typeface="Times New Roman" panose="02020603050405020304" pitchFamily="18" charset="0"/>
              </a:rPr>
              <a:t>ADF4001/ADF4002</a:t>
            </a:r>
            <a:r>
              <a:rPr lang="zh-CN" altLang="zh-CN" sz="1800" kern="100" dirty="0">
                <a:latin typeface="Arial" panose="020B0604020202020204" pitchFamily="34" charset="0"/>
                <a:cs typeface="Times New Roman" panose="02020603050405020304" pitchFamily="18" charset="0"/>
              </a:rPr>
              <a:t>的</a:t>
            </a:r>
            <a:r>
              <a:rPr lang="zh-CN" altLang="zh-CN" sz="1800" kern="100" dirty="0" smtClean="0">
                <a:latin typeface="Arial" panose="020B0604020202020204" pitchFamily="34" charset="0"/>
                <a:cs typeface="Times New Roman" panose="02020603050405020304" pitchFamily="18" charset="0"/>
              </a:rPr>
              <a:t>启动模式</a:t>
            </a:r>
            <a:endParaRPr lang="en-US" altLang="zh-CN" sz="1800" kern="100" dirty="0" smtClean="0">
              <a:latin typeface="Arial" panose="020B0604020202020204" pitchFamily="34" charset="0"/>
              <a:cs typeface="Times New Roman" panose="02020603050405020304" pitchFamily="18" charset="0"/>
            </a:endParaRPr>
          </a:p>
          <a:p>
            <a:pPr lvl="1" algn="just">
              <a:lnSpc>
                <a:spcPct val="150000"/>
              </a:lnSpc>
              <a:spcAft>
                <a:spcPts val="0"/>
              </a:spcAft>
            </a:pPr>
            <a:r>
              <a:rPr lang="zh-CN" altLang="en-US" sz="1800" kern="100" dirty="0">
                <a:latin typeface="Arial" panose="020B0604020202020204" pitchFamily="34" charset="0"/>
                <a:cs typeface="Times New Roman" panose="02020603050405020304" pitchFamily="18" charset="0"/>
              </a:rPr>
              <a:t>共有</a:t>
            </a:r>
            <a:r>
              <a:rPr lang="en-US" altLang="zh-CN" sz="1800" kern="100" dirty="0">
                <a:latin typeface="Arial" panose="020B0604020202020204" pitchFamily="34" charset="0"/>
                <a:cs typeface="Times New Roman" panose="02020603050405020304" pitchFamily="18" charset="0"/>
              </a:rPr>
              <a:t>3</a:t>
            </a:r>
            <a:r>
              <a:rPr lang="zh-CN" altLang="en-US" sz="1800" kern="100" dirty="0">
                <a:latin typeface="Arial" panose="020B0604020202020204" pitchFamily="34" charset="0"/>
                <a:cs typeface="Times New Roman" panose="02020603050405020304" pitchFamily="18" charset="0"/>
              </a:rPr>
              <a:t>种启动</a:t>
            </a:r>
            <a:r>
              <a:rPr lang="zh-CN" altLang="en-US" sz="1800" kern="100" dirty="0" smtClean="0">
                <a:latin typeface="Arial" panose="020B0604020202020204" pitchFamily="34" charset="0"/>
                <a:cs typeface="Times New Roman" panose="02020603050405020304" pitchFamily="18" charset="0"/>
              </a:rPr>
              <a:t>模式</a:t>
            </a:r>
            <a:endParaRPr lang="en-US" altLang="zh-CN" sz="1800" kern="100" dirty="0">
              <a:latin typeface="Arial" panose="020B0604020202020204" pitchFamily="34" charset="0"/>
              <a:cs typeface="Times New Roman" panose="02020603050405020304" pitchFamily="18" charset="0"/>
            </a:endParaRPr>
          </a:p>
          <a:p>
            <a:pPr lvl="1" algn="just">
              <a:lnSpc>
                <a:spcPct val="150000"/>
              </a:lnSpc>
              <a:spcAft>
                <a:spcPts val="0"/>
              </a:spcAft>
            </a:pPr>
            <a:r>
              <a:rPr lang="zh-CN" altLang="zh-CN" sz="1800" kern="100" dirty="0">
                <a:latin typeface="Arial" panose="020B0604020202020204" pitchFamily="34" charset="0"/>
                <a:cs typeface="Times New Roman" panose="02020603050405020304" pitchFamily="18" charset="0"/>
              </a:rPr>
              <a:t>最简单的模式是初始化锁存器模式：器件上电以后，按照“初始化锁存器”、“</a:t>
            </a:r>
            <a:r>
              <a:rPr lang="en-US" altLang="zh-CN" sz="1800" kern="100" dirty="0">
                <a:latin typeface="Arial" panose="020B0604020202020204" pitchFamily="34" charset="0"/>
                <a:cs typeface="Times New Roman" panose="02020603050405020304" pitchFamily="18" charset="0"/>
              </a:rPr>
              <a:t>R</a:t>
            </a:r>
            <a:r>
              <a:rPr lang="zh-CN" altLang="zh-CN" sz="1800" kern="100" dirty="0">
                <a:latin typeface="Arial" panose="020B0604020202020204" pitchFamily="34" charset="0"/>
                <a:cs typeface="Times New Roman" panose="02020603050405020304" pitchFamily="18" charset="0"/>
              </a:rPr>
              <a:t>锁存器”、“</a:t>
            </a:r>
            <a:r>
              <a:rPr lang="en-US" altLang="zh-CN" sz="1800" kern="100" dirty="0">
                <a:latin typeface="Arial" panose="020B0604020202020204" pitchFamily="34" charset="0"/>
                <a:cs typeface="Times New Roman" panose="02020603050405020304" pitchFamily="18" charset="0"/>
              </a:rPr>
              <a:t>N</a:t>
            </a:r>
            <a:r>
              <a:rPr lang="zh-CN" altLang="zh-CN" sz="1800" kern="100" dirty="0">
                <a:latin typeface="Arial" panose="020B0604020202020204" pitchFamily="34" charset="0"/>
                <a:cs typeface="Times New Roman" panose="02020603050405020304" pitchFamily="18" charset="0"/>
              </a:rPr>
              <a:t>锁存器”的顺序，写入</a:t>
            </a:r>
            <a:r>
              <a:rPr lang="en-US" altLang="zh-CN" sz="1800" kern="100" dirty="0">
                <a:latin typeface="Arial" panose="020B0604020202020204" pitchFamily="34" charset="0"/>
                <a:cs typeface="Times New Roman" panose="02020603050405020304" pitchFamily="18" charset="0"/>
              </a:rPr>
              <a:t>3</a:t>
            </a:r>
            <a:r>
              <a:rPr lang="zh-CN" altLang="zh-CN" sz="1800" kern="100" dirty="0">
                <a:latin typeface="Arial" panose="020B0604020202020204" pitchFamily="34" charset="0"/>
                <a:cs typeface="Times New Roman" panose="02020603050405020304" pitchFamily="18" charset="0"/>
              </a:rPr>
              <a:t>个锁存器数据，芯片立刻启动。这种模式下“功能锁存器”</a:t>
            </a:r>
            <a:r>
              <a:rPr lang="zh-CN" altLang="zh-CN" sz="1800" kern="100" dirty="0" smtClean="0">
                <a:latin typeface="Arial" panose="020B0604020202020204" pitchFamily="34" charset="0"/>
                <a:cs typeface="Times New Roman" panose="02020603050405020304" pitchFamily="18" charset="0"/>
              </a:rPr>
              <a:t>不用</a:t>
            </a:r>
            <a:r>
              <a:rPr lang="zh-CN" altLang="en-US" sz="1800" kern="100" dirty="0">
                <a:latin typeface="Arial" panose="020B0604020202020204" pitchFamily="34" charset="0"/>
                <a:cs typeface="Times New Roman" panose="02020603050405020304" pitchFamily="18" charset="0"/>
              </a:rPr>
              <a:t>设置</a:t>
            </a:r>
            <a:endParaRPr lang="zh-CN" altLang="zh-CN" sz="1800" kern="100" dirty="0">
              <a:latin typeface="Arial" panose="020B0604020202020204" pitchFamily="34" charset="0"/>
              <a:cs typeface="Times New Roman" panose="02020603050405020304" pitchFamily="18" charset="0"/>
            </a:endParaRPr>
          </a:p>
          <a:p>
            <a:pPr indent="457200" algn="just">
              <a:lnSpc>
                <a:spcPct val="150000"/>
              </a:lnSpc>
              <a:spcAft>
                <a:spcPts val="0"/>
              </a:spcAft>
            </a:pPr>
            <a:r>
              <a:rPr lang="zh-CN" altLang="zh-CN" sz="1800" kern="100" dirty="0">
                <a:latin typeface="Arial" panose="020B0604020202020204" pitchFamily="34" charset="0"/>
                <a:cs typeface="Times New Roman" panose="02020603050405020304" pitchFamily="18" charset="0"/>
              </a:rPr>
              <a:t>还有两种启动模式，读者可以自行阅读器件</a:t>
            </a:r>
            <a:r>
              <a:rPr lang="zh-CN" altLang="zh-CN" sz="1800" kern="100" dirty="0" smtClean="0">
                <a:latin typeface="Arial" panose="020B0604020202020204" pitchFamily="34" charset="0"/>
                <a:cs typeface="Times New Roman" panose="02020603050405020304" pitchFamily="18" charset="0"/>
              </a:rPr>
              <a:t>手册</a:t>
            </a:r>
            <a:endParaRPr lang="zh-CN" altLang="zh-CN" sz="1800" kern="100" dirty="0">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360881911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33</a:t>
            </a:fld>
            <a:endParaRPr lang="en-US" altLang="zh-CN">
              <a:solidFill>
                <a:srgbClr val="FFFFFF"/>
              </a:solidFill>
            </a:endParaRPr>
          </a:p>
        </p:txBody>
      </p:sp>
      <p:sp>
        <p:nvSpPr>
          <p:cNvPr id="5" name="矩形 4"/>
          <p:cNvSpPr/>
          <p:nvPr/>
        </p:nvSpPr>
        <p:spPr>
          <a:xfrm>
            <a:off x="366166" y="372225"/>
            <a:ext cx="11265002" cy="3000821"/>
          </a:xfrm>
          <a:prstGeom prst="rect">
            <a:avLst/>
          </a:prstGeom>
        </p:spPr>
        <p:txBody>
          <a:bodyPr wrap="square">
            <a:spAutoFit/>
          </a:bodyPr>
          <a:lstStyle/>
          <a:p>
            <a:pPr>
              <a:lnSpc>
                <a:spcPct val="150000"/>
              </a:lnSpc>
            </a:pPr>
            <a:r>
              <a:rPr lang="zh-CN" altLang="en-US" sz="1800" dirty="0" smtClean="0">
                <a:latin typeface="黑体" panose="02010609060101010101" pitchFamily="49" charset="-122"/>
                <a:ea typeface="黑体" panose="02010609060101010101" pitchFamily="49" charset="-122"/>
              </a:rPr>
              <a:t>基于</a:t>
            </a:r>
            <a:r>
              <a:rPr lang="en-US" altLang="zh-CN" sz="1800" dirty="0" smtClean="0"/>
              <a:t>ADF4001</a:t>
            </a:r>
            <a:r>
              <a:rPr lang="zh-CN" altLang="en-US" sz="1800" dirty="0" smtClean="0">
                <a:latin typeface="黑体" panose="02010609060101010101" pitchFamily="49" charset="-122"/>
                <a:ea typeface="黑体" panose="02010609060101010101" pitchFamily="49" charset="-122"/>
              </a:rPr>
              <a:t>的</a:t>
            </a:r>
            <a:r>
              <a:rPr lang="zh-CN" altLang="en-US" sz="1800" dirty="0">
                <a:latin typeface="黑体" panose="02010609060101010101" pitchFamily="49" charset="-122"/>
                <a:ea typeface="黑体" panose="02010609060101010101" pitchFamily="49" charset="-122"/>
              </a:rPr>
              <a:t>锁相环调频</a:t>
            </a:r>
            <a:r>
              <a:rPr lang="zh-CN" altLang="en-US" sz="1800" dirty="0" smtClean="0">
                <a:latin typeface="黑体" panose="02010609060101010101" pitchFamily="49" charset="-122"/>
                <a:ea typeface="黑体" panose="02010609060101010101" pitchFamily="49" charset="-122"/>
              </a:rPr>
              <a:t>电路</a:t>
            </a:r>
            <a:endParaRPr lang="en-US" altLang="zh-CN" sz="1800" dirty="0" smtClean="0">
              <a:latin typeface="黑体" panose="02010609060101010101" pitchFamily="49" charset="-122"/>
              <a:ea typeface="黑体" panose="02010609060101010101" pitchFamily="49" charset="-122"/>
            </a:endParaRPr>
          </a:p>
          <a:p>
            <a:pPr indent="457200">
              <a:lnSpc>
                <a:spcPct val="150000"/>
              </a:lnSpc>
            </a:pPr>
            <a:r>
              <a:rPr lang="zh-CN" altLang="en-US" sz="1800" dirty="0">
                <a:latin typeface="Arial" panose="020B0604020202020204" pitchFamily="34" charset="0"/>
              </a:rPr>
              <a:t>下</a:t>
            </a:r>
            <a:r>
              <a:rPr lang="zh-CN" altLang="en-US" sz="1800" dirty="0" smtClean="0">
                <a:latin typeface="Arial" panose="020B0604020202020204" pitchFamily="34" charset="0"/>
              </a:rPr>
              <a:t>图是原理图，其中加法器部分、</a:t>
            </a:r>
            <a:r>
              <a:rPr lang="en-US" altLang="zh-CN" sz="1800" dirty="0" smtClean="0">
                <a:latin typeface="Arial" panose="020B0604020202020204" pitchFamily="34" charset="0"/>
              </a:rPr>
              <a:t>VCO</a:t>
            </a:r>
            <a:r>
              <a:rPr lang="zh-CN" altLang="en-US" sz="1800" dirty="0" smtClean="0">
                <a:latin typeface="Arial" panose="020B0604020202020204" pitchFamily="34" charset="0"/>
              </a:rPr>
              <a:t>部分均与前面基于</a:t>
            </a:r>
            <a:r>
              <a:rPr lang="en-US" altLang="zh-CN" sz="1800" dirty="0" smtClean="0">
                <a:latin typeface="Arial" panose="020B0604020202020204" pitchFamily="34" charset="0"/>
              </a:rPr>
              <a:t>MC145151</a:t>
            </a:r>
            <a:r>
              <a:rPr lang="zh-CN" altLang="en-US" sz="1800" dirty="0" smtClean="0">
                <a:latin typeface="Arial" panose="020B0604020202020204" pitchFamily="34" charset="0"/>
              </a:rPr>
              <a:t>的调频电路中的相同，此处省略</a:t>
            </a:r>
            <a:endParaRPr lang="en-US" altLang="zh-CN" sz="1800" dirty="0" smtClean="0">
              <a:latin typeface="Arial" panose="020B0604020202020204" pitchFamily="34" charset="0"/>
            </a:endParaRPr>
          </a:p>
          <a:p>
            <a:pPr indent="457200">
              <a:lnSpc>
                <a:spcPct val="150000"/>
              </a:lnSpc>
            </a:pPr>
            <a:r>
              <a:rPr lang="zh-CN" altLang="en-US" sz="1800" dirty="0"/>
              <a:t>由于</a:t>
            </a:r>
            <a:r>
              <a:rPr lang="en-US" altLang="zh-CN" sz="1800" dirty="0" smtClean="0"/>
              <a:t>ADF4001/ADF4002</a:t>
            </a:r>
            <a:r>
              <a:rPr lang="zh-CN" altLang="en-US" sz="1800" dirty="0"/>
              <a:t>均不带参考信号振荡器，所以需要外部提供参考</a:t>
            </a:r>
            <a:r>
              <a:rPr lang="zh-CN" altLang="en-US" sz="1800" dirty="0" smtClean="0"/>
              <a:t>信号。常见</a:t>
            </a:r>
            <a:r>
              <a:rPr lang="zh-CN" altLang="en-US" sz="1800" dirty="0"/>
              <a:t>的</a:t>
            </a:r>
            <a:r>
              <a:rPr lang="zh-CN" altLang="en-US" sz="1800" dirty="0" smtClean="0"/>
              <a:t>晶体振荡器电路如下图，在</a:t>
            </a:r>
            <a:r>
              <a:rPr lang="zh-CN" altLang="en-US" sz="1800" dirty="0"/>
              <a:t>一个</a:t>
            </a:r>
            <a:r>
              <a:rPr lang="en-US" altLang="zh-CN" sz="1800" dirty="0"/>
              <a:t>CMOS</a:t>
            </a:r>
            <a:r>
              <a:rPr lang="zh-CN" altLang="en-US" sz="1800" dirty="0"/>
              <a:t>反相器两端</a:t>
            </a:r>
            <a:r>
              <a:rPr lang="zh-CN" altLang="en-US" sz="1800" dirty="0" smtClean="0"/>
              <a:t>接上一个</a:t>
            </a:r>
            <a:r>
              <a:rPr lang="en-US" altLang="zh-CN" sz="1800" dirty="0" smtClean="0"/>
              <a:t>M</a:t>
            </a:r>
            <a:r>
              <a:rPr lang="el-GR" altLang="zh-CN" sz="1800" dirty="0" smtClean="0"/>
              <a:t>Ω</a:t>
            </a:r>
            <a:r>
              <a:rPr lang="zh-CN" altLang="en-US" sz="1800" dirty="0" smtClean="0"/>
              <a:t>数量级的电阻，然后</a:t>
            </a:r>
            <a:r>
              <a:rPr lang="zh-CN" altLang="en-US" sz="1800" dirty="0"/>
              <a:t>接入石英晶体与两个负载电容（通常为</a:t>
            </a:r>
            <a:r>
              <a:rPr lang="en-US" altLang="zh-CN" sz="1800" dirty="0"/>
              <a:t>20~30pF</a:t>
            </a:r>
            <a:r>
              <a:rPr lang="zh-CN" altLang="en-US" sz="1800" dirty="0"/>
              <a:t>）即可起振</a:t>
            </a:r>
          </a:p>
          <a:p>
            <a:pPr indent="457200">
              <a:lnSpc>
                <a:spcPct val="150000"/>
              </a:lnSpc>
            </a:pPr>
            <a:r>
              <a:rPr lang="zh-CN" altLang="en-US" sz="1800" dirty="0" smtClean="0">
                <a:latin typeface="Arial" panose="020B0604020202020204" pitchFamily="34" charset="0"/>
              </a:rPr>
              <a:t>由于</a:t>
            </a:r>
            <a:r>
              <a:rPr lang="en-US" altLang="zh-CN" sz="1800" dirty="0" smtClean="0"/>
              <a:t>ADF4001/ADF4002</a:t>
            </a:r>
            <a:r>
              <a:rPr lang="zh-CN" altLang="en-US" sz="1800" dirty="0" smtClean="0"/>
              <a:t>的鉴相器为电流输出型的</a:t>
            </a:r>
            <a:r>
              <a:rPr lang="en-US" altLang="zh-CN" sz="1800" dirty="0" smtClean="0"/>
              <a:t>PFD</a:t>
            </a:r>
            <a:r>
              <a:rPr lang="zh-CN" altLang="en-US" sz="1800" dirty="0" smtClean="0"/>
              <a:t>，所以</a:t>
            </a:r>
            <a:r>
              <a:rPr lang="zh-CN" altLang="en-US" sz="1800" dirty="0" smtClean="0">
                <a:latin typeface="Arial" panose="020B0604020202020204" pitchFamily="34" charset="0"/>
              </a:rPr>
              <a:t>与环路滤波器有关的部分（电容</a:t>
            </a:r>
            <a:r>
              <a:rPr lang="en-US" altLang="zh-CN" sz="1800" dirty="0" smtClean="0">
                <a:latin typeface="Arial" panose="020B0604020202020204" pitchFamily="34" charset="0"/>
              </a:rPr>
              <a:t>C</a:t>
            </a:r>
            <a:r>
              <a:rPr lang="zh-CN" altLang="en-US" sz="1800" dirty="0" smtClean="0">
                <a:latin typeface="Arial" panose="020B0604020202020204" pitchFamily="34" charset="0"/>
              </a:rPr>
              <a:t>以及电荷泵电流</a:t>
            </a:r>
            <a:r>
              <a:rPr lang="en-US" altLang="zh-CN" sz="1800" dirty="0" smtClean="0">
                <a:latin typeface="Arial" panose="020B0604020202020204" pitchFamily="34" charset="0"/>
              </a:rPr>
              <a:t>I</a:t>
            </a:r>
            <a:r>
              <a:rPr lang="en-US" altLang="zh-CN" sz="1800" baseline="-25000" dirty="0" smtClean="0">
                <a:latin typeface="Arial" panose="020B0604020202020204" pitchFamily="34" charset="0"/>
              </a:rPr>
              <a:t>CP</a:t>
            </a:r>
            <a:r>
              <a:rPr lang="zh-CN" altLang="en-US" sz="1800" dirty="0" smtClean="0">
                <a:latin typeface="Arial" panose="020B0604020202020204" pitchFamily="34" charset="0"/>
              </a:rPr>
              <a:t>）需重新设计</a:t>
            </a:r>
            <a:endParaRPr lang="en-US" altLang="zh-CN" sz="1800" dirty="0">
              <a:latin typeface="Arial" panose="020B0604020202020204" pitchFamily="34" charset="0"/>
            </a:endParaRPr>
          </a:p>
        </p:txBody>
      </p:sp>
      <p:pic>
        <p:nvPicPr>
          <p:cNvPr id="10" name="图片 9"/>
          <p:cNvPicPr>
            <a:picLocks noChangeAspect="1"/>
          </p:cNvPicPr>
          <p:nvPr/>
        </p:nvPicPr>
        <p:blipFill>
          <a:blip r:embed="rId2"/>
          <a:stretch>
            <a:fillRect/>
          </a:stretch>
        </p:blipFill>
        <p:spPr>
          <a:xfrm>
            <a:off x="715974" y="3291137"/>
            <a:ext cx="10806226" cy="2929536"/>
          </a:xfrm>
          <a:prstGeom prst="rect">
            <a:avLst/>
          </a:prstGeom>
        </p:spPr>
      </p:pic>
    </p:spTree>
    <p:extLst>
      <p:ext uri="{BB962C8B-B14F-4D97-AF65-F5344CB8AC3E}">
        <p14:creationId xmlns:p14="http://schemas.microsoft.com/office/powerpoint/2010/main" val="420435161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34</a:t>
            </a:fld>
            <a:endParaRPr lang="en-US" altLang="zh-CN">
              <a:solidFill>
                <a:srgbClr val="FFFFFF"/>
              </a:solidFill>
            </a:endParaRPr>
          </a:p>
        </p:txBody>
      </p:sp>
      <p:sp>
        <p:nvSpPr>
          <p:cNvPr id="6" name="文本框 5"/>
          <p:cNvSpPr txBox="1"/>
          <p:nvPr/>
        </p:nvSpPr>
        <p:spPr>
          <a:xfrm>
            <a:off x="416967" y="446228"/>
            <a:ext cx="11404618" cy="5055230"/>
          </a:xfrm>
          <a:prstGeom prst="rect">
            <a:avLst/>
          </a:prstGeom>
          <a:noFill/>
        </p:spPr>
        <p:txBody>
          <a:bodyPr wrap="square" rtlCol="0">
            <a:spAutoFit/>
          </a:bodyPr>
          <a:lstStyle/>
          <a:p>
            <a:pPr indent="457200">
              <a:lnSpc>
                <a:spcPct val="150000"/>
              </a:lnSpc>
              <a:spcBef>
                <a:spcPts val="1800"/>
              </a:spcBef>
            </a:pPr>
            <a:r>
              <a:rPr lang="zh-CN" altLang="en-US" sz="1800" dirty="0" smtClean="0"/>
              <a:t>注意到前面分析</a:t>
            </a:r>
            <a:r>
              <a:rPr lang="en-US" altLang="zh-CN" sz="1800" dirty="0" smtClean="0"/>
              <a:t>MC145151</a:t>
            </a:r>
            <a:r>
              <a:rPr lang="zh-CN" altLang="en-US" sz="1800" dirty="0" smtClean="0"/>
              <a:t>的波形图中，</a:t>
            </a:r>
            <a:r>
              <a:rPr lang="en-US" altLang="zh-CN" sz="1800" dirty="0" smtClean="0"/>
              <a:t>PFD</a:t>
            </a:r>
            <a:r>
              <a:rPr lang="zh-CN" altLang="en-US" sz="1800" dirty="0" smtClean="0"/>
              <a:t>的输出平均电压与</a:t>
            </a:r>
            <a:r>
              <a:rPr lang="en-US" altLang="zh-CN" sz="1800" dirty="0" smtClean="0"/>
              <a:t>LF</a:t>
            </a:r>
            <a:r>
              <a:rPr lang="zh-CN" altLang="en-US" sz="1800" dirty="0" smtClean="0"/>
              <a:t>的输出电压（也就是电容</a:t>
            </a:r>
            <a:r>
              <a:rPr lang="en-US" altLang="zh-CN" sz="1800" dirty="0" smtClean="0"/>
              <a:t>C</a:t>
            </a:r>
            <a:r>
              <a:rPr lang="zh-CN" altLang="en-US" sz="1800" dirty="0" smtClean="0"/>
              <a:t>上的电压）之差约为</a:t>
            </a:r>
            <a:r>
              <a:rPr lang="en-US" altLang="zh-CN" sz="1800" i="1" dirty="0" smtClean="0"/>
              <a:t>V</a:t>
            </a:r>
            <a:r>
              <a:rPr lang="en-US" altLang="zh-CN" sz="1800" i="1" baseline="-25000" dirty="0" smtClean="0"/>
              <a:t>H</a:t>
            </a:r>
            <a:r>
              <a:rPr lang="en-US" altLang="zh-CN" sz="1800" dirty="0" smtClean="0"/>
              <a:t>/4</a:t>
            </a:r>
            <a:r>
              <a:rPr lang="zh-CN" altLang="en-US" sz="1800" dirty="0" smtClean="0"/>
              <a:t>，所以它对于电容</a:t>
            </a:r>
            <a:r>
              <a:rPr lang="en-US" altLang="zh-CN" sz="1800" dirty="0" smtClean="0"/>
              <a:t>C</a:t>
            </a:r>
            <a:r>
              <a:rPr lang="zh-CN" altLang="en-US" sz="1800" dirty="0" smtClean="0"/>
              <a:t>的平均充电电流约为</a:t>
            </a:r>
            <a:r>
              <a:rPr lang="en-US" altLang="zh-CN" sz="1800" i="1" dirty="0" smtClean="0"/>
              <a:t>V</a:t>
            </a:r>
            <a:r>
              <a:rPr lang="en-US" altLang="zh-CN" sz="1800" i="1" baseline="-25000" dirty="0" smtClean="0"/>
              <a:t>H</a:t>
            </a:r>
            <a:r>
              <a:rPr lang="en-US" altLang="zh-CN" sz="1800" dirty="0" smtClean="0"/>
              <a:t>/</a:t>
            </a:r>
            <a:r>
              <a:rPr lang="en-US" altLang="zh-CN" sz="1800" dirty="0"/>
              <a:t>(</a:t>
            </a:r>
            <a:r>
              <a:rPr lang="en-US" altLang="zh-CN" sz="1800" dirty="0" smtClean="0"/>
              <a:t>4R)</a:t>
            </a:r>
          </a:p>
          <a:p>
            <a:pPr indent="457200">
              <a:lnSpc>
                <a:spcPct val="150000"/>
              </a:lnSpc>
            </a:pPr>
            <a:r>
              <a:rPr lang="en-US" altLang="zh-CN" sz="1800" dirty="0" smtClean="0"/>
              <a:t>ADF4001</a:t>
            </a:r>
            <a:r>
              <a:rPr lang="zh-CN" altLang="en-US" sz="1800" dirty="0" smtClean="0"/>
              <a:t>的</a:t>
            </a:r>
            <a:r>
              <a:rPr lang="en-US" altLang="zh-CN" sz="1800" dirty="0" smtClean="0"/>
              <a:t>PFD</a:t>
            </a:r>
            <a:r>
              <a:rPr lang="zh-CN" altLang="en-US" sz="1800" dirty="0" smtClean="0"/>
              <a:t>以恒流输出，设置的电流值为</a:t>
            </a:r>
            <a:r>
              <a:rPr lang="en-US" altLang="zh-CN" sz="1800" i="1" dirty="0" smtClean="0"/>
              <a:t>I</a:t>
            </a:r>
            <a:r>
              <a:rPr lang="en-US" altLang="zh-CN" sz="1800" i="1" baseline="-25000" dirty="0" smtClean="0"/>
              <a:t>CP</a:t>
            </a:r>
            <a:r>
              <a:rPr lang="zh-CN" altLang="en-US" sz="1800" dirty="0" smtClean="0"/>
              <a:t>，平均充电电流为</a:t>
            </a:r>
            <a:r>
              <a:rPr lang="en-US" altLang="zh-CN" sz="1800" i="1" dirty="0" smtClean="0"/>
              <a:t>I</a:t>
            </a:r>
            <a:r>
              <a:rPr lang="en-US" altLang="zh-CN" sz="1800" i="1" baseline="-25000" dirty="0" smtClean="0"/>
              <a:t>CP</a:t>
            </a:r>
            <a:r>
              <a:rPr lang="en-US" altLang="zh-CN" sz="1800" dirty="0" smtClean="0"/>
              <a:t>/2</a:t>
            </a:r>
            <a:r>
              <a:rPr lang="zh-CN" altLang="en-US" sz="1800" dirty="0" smtClean="0"/>
              <a:t>。所以只要将</a:t>
            </a:r>
            <a:r>
              <a:rPr lang="en-US" altLang="zh-CN" sz="1800" dirty="0"/>
              <a:t>MC145151</a:t>
            </a:r>
            <a:r>
              <a:rPr lang="zh-CN" altLang="en-US" sz="1800" dirty="0" smtClean="0"/>
              <a:t>的</a:t>
            </a:r>
            <a:r>
              <a:rPr lang="en-US" altLang="zh-CN" sz="1800" i="1" dirty="0"/>
              <a:t>V</a:t>
            </a:r>
            <a:r>
              <a:rPr lang="en-US" altLang="zh-CN" sz="1800" i="1" baseline="-25000" dirty="0"/>
              <a:t>H</a:t>
            </a:r>
            <a:r>
              <a:rPr lang="en-US" altLang="zh-CN" sz="1800" dirty="0"/>
              <a:t>/(4R</a:t>
            </a:r>
            <a:r>
              <a:rPr lang="en-US" altLang="zh-CN" sz="1800" dirty="0" smtClean="0"/>
              <a:t>)</a:t>
            </a:r>
            <a:r>
              <a:rPr lang="zh-CN" altLang="en-US" sz="1800" dirty="0" smtClean="0"/>
              <a:t>代换为</a:t>
            </a:r>
            <a:r>
              <a:rPr lang="en-US" altLang="zh-CN" sz="1800" dirty="0" smtClean="0"/>
              <a:t>ADF4001</a:t>
            </a:r>
            <a:r>
              <a:rPr lang="zh-CN" altLang="en-US" sz="1800" dirty="0" smtClean="0"/>
              <a:t>的</a:t>
            </a:r>
            <a:r>
              <a:rPr lang="en-US" altLang="zh-CN" sz="1800" i="1" dirty="0" smtClean="0"/>
              <a:t>I</a:t>
            </a:r>
            <a:r>
              <a:rPr lang="en-US" altLang="zh-CN" sz="1800" i="1" baseline="-25000" dirty="0" smtClean="0"/>
              <a:t>CP</a:t>
            </a:r>
            <a:r>
              <a:rPr lang="en-US" altLang="zh-CN" sz="1800" dirty="0" smtClean="0"/>
              <a:t>/2</a:t>
            </a:r>
            <a:r>
              <a:rPr lang="zh-CN" altLang="en-US" sz="1800" dirty="0" smtClean="0"/>
              <a:t>，就可以得到基于</a:t>
            </a:r>
            <a:r>
              <a:rPr lang="en-US" altLang="zh-CN" sz="1800" dirty="0" smtClean="0"/>
              <a:t>ADF4002</a:t>
            </a:r>
            <a:r>
              <a:rPr lang="zh-CN" altLang="en-US" sz="1800" dirty="0" smtClean="0"/>
              <a:t>的</a:t>
            </a:r>
            <a:r>
              <a:rPr lang="en-US" altLang="zh-CN" sz="1800" dirty="0" smtClean="0"/>
              <a:t>FM</a:t>
            </a:r>
            <a:r>
              <a:rPr lang="zh-CN" altLang="en-US" sz="1800" dirty="0"/>
              <a:t>电</a:t>
            </a:r>
            <a:r>
              <a:rPr lang="zh-CN" altLang="en-US" sz="1800" dirty="0" smtClean="0"/>
              <a:t>路中关于环路滤波器的参数</a:t>
            </a:r>
            <a:endParaRPr lang="en-US" altLang="zh-CN" sz="1800" dirty="0"/>
          </a:p>
          <a:p>
            <a:pPr indent="457200">
              <a:lnSpc>
                <a:spcPct val="150000"/>
              </a:lnSpc>
            </a:pPr>
            <a:endParaRPr lang="en-US" altLang="zh-CN" sz="800" dirty="0" smtClean="0"/>
          </a:p>
          <a:p>
            <a:pPr indent="457200">
              <a:lnSpc>
                <a:spcPct val="150000"/>
              </a:lnSpc>
            </a:pPr>
            <a:r>
              <a:rPr lang="zh-CN" altLang="en-US" sz="1800" dirty="0" smtClean="0"/>
              <a:t>在基于</a:t>
            </a:r>
            <a:r>
              <a:rPr lang="en-US" altLang="zh-CN" sz="1800" dirty="0" smtClean="0"/>
              <a:t>MC145151</a:t>
            </a:r>
            <a:r>
              <a:rPr lang="zh-CN" altLang="en-US" sz="1800" dirty="0" smtClean="0"/>
              <a:t>的</a:t>
            </a:r>
            <a:r>
              <a:rPr lang="en-US" altLang="zh-CN" sz="1800" dirty="0" smtClean="0"/>
              <a:t>FM</a:t>
            </a:r>
            <a:r>
              <a:rPr lang="zh-CN" altLang="en-US" sz="1800" dirty="0" smtClean="0"/>
              <a:t>电路中，</a:t>
            </a:r>
            <a:r>
              <a:rPr lang="en-US" altLang="zh-CN" sz="1800" dirty="0"/>
              <a:t> LF</a:t>
            </a:r>
            <a:r>
              <a:rPr lang="zh-CN" altLang="zh-CN" sz="1800" dirty="0" smtClean="0"/>
              <a:t>输出近似三</a:t>
            </a:r>
            <a:r>
              <a:rPr lang="zh-CN" altLang="zh-CN" sz="1800" dirty="0"/>
              <a:t>角</a:t>
            </a:r>
            <a:r>
              <a:rPr lang="zh-CN" altLang="zh-CN" sz="1800" dirty="0" smtClean="0"/>
              <a:t>波偏离</a:t>
            </a:r>
            <a:r>
              <a:rPr lang="zh-CN" altLang="zh-CN" sz="1800" dirty="0"/>
              <a:t>平均电压的最大</a:t>
            </a:r>
            <a:r>
              <a:rPr lang="zh-CN" altLang="zh-CN" sz="1800" dirty="0" smtClean="0"/>
              <a:t>值</a:t>
            </a:r>
            <a:r>
              <a:rPr lang="zh-CN" altLang="en-US" sz="1800" dirty="0" smtClean="0"/>
              <a:t>是</a:t>
            </a:r>
            <a:endParaRPr lang="en-US" altLang="zh-CN" sz="1800" dirty="0" smtClean="0"/>
          </a:p>
          <a:p>
            <a:pPr indent="457200">
              <a:lnSpc>
                <a:spcPct val="150000"/>
              </a:lnSpc>
            </a:pPr>
            <a:endParaRPr lang="en-US" altLang="zh-CN" sz="1600" dirty="0"/>
          </a:p>
          <a:p>
            <a:pPr indent="457200">
              <a:lnSpc>
                <a:spcPct val="150000"/>
              </a:lnSpc>
            </a:pPr>
            <a:r>
              <a:rPr lang="zh-CN" altLang="en-US" sz="1800" dirty="0" smtClean="0"/>
              <a:t>所以在</a:t>
            </a:r>
            <a:r>
              <a:rPr lang="zh-CN" altLang="en-US" sz="1800" dirty="0"/>
              <a:t>基于</a:t>
            </a:r>
            <a:r>
              <a:rPr lang="en-US" altLang="zh-CN" sz="1800" dirty="0" smtClean="0"/>
              <a:t>ADF4001</a:t>
            </a:r>
            <a:r>
              <a:rPr lang="zh-CN" altLang="en-US" sz="1800" dirty="0" smtClean="0"/>
              <a:t>的</a:t>
            </a:r>
            <a:r>
              <a:rPr lang="en-US" altLang="zh-CN" sz="1800" dirty="0"/>
              <a:t>FM</a:t>
            </a:r>
            <a:r>
              <a:rPr lang="zh-CN" altLang="en-US" sz="1800" dirty="0"/>
              <a:t>电路</a:t>
            </a:r>
            <a:r>
              <a:rPr lang="zh-CN" altLang="en-US" sz="1800" dirty="0" smtClean="0"/>
              <a:t>中，</a:t>
            </a:r>
            <a:r>
              <a:rPr lang="en-US" altLang="zh-CN" sz="1800" dirty="0"/>
              <a:t>LF</a:t>
            </a:r>
            <a:r>
              <a:rPr lang="zh-CN" altLang="zh-CN" sz="1800" dirty="0"/>
              <a:t>输出近似三角波偏离平均电压的最大值</a:t>
            </a:r>
            <a:r>
              <a:rPr lang="zh-CN" altLang="en-US" sz="1800" dirty="0"/>
              <a:t>是</a:t>
            </a:r>
            <a:endParaRPr lang="en-US" altLang="zh-CN" sz="1800" dirty="0"/>
          </a:p>
          <a:p>
            <a:pPr indent="457200">
              <a:lnSpc>
                <a:spcPct val="150000"/>
              </a:lnSpc>
            </a:pPr>
            <a:endParaRPr lang="en-US" altLang="zh-CN" sz="1100" dirty="0" smtClean="0"/>
          </a:p>
          <a:p>
            <a:pPr indent="457200">
              <a:lnSpc>
                <a:spcPct val="150000"/>
              </a:lnSpc>
            </a:pPr>
            <a:r>
              <a:rPr lang="en-US" altLang="zh-CN" sz="1800" dirty="0" smtClean="0"/>
              <a:t>PFD</a:t>
            </a:r>
            <a:r>
              <a:rPr lang="zh-CN" altLang="en-US" sz="1800" dirty="0" smtClean="0"/>
              <a:t>输出的基准电压为</a:t>
            </a:r>
            <a:r>
              <a:rPr lang="en-US" altLang="zh-CN" sz="1800" dirty="0" smtClean="0"/>
              <a:t>VDD/2</a:t>
            </a:r>
            <a:r>
              <a:rPr lang="zh-CN" altLang="en-US" sz="1800" dirty="0" smtClean="0"/>
              <a:t>，所以输出频率的相对波动为</a:t>
            </a:r>
            <a:endParaRPr lang="en-US" altLang="zh-CN" sz="1800" dirty="0" smtClean="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smtClean="0"/>
              <a:t>据此即可设置</a:t>
            </a:r>
            <a:r>
              <a:rPr lang="en-US" altLang="zh-CN" sz="1800" i="1" dirty="0" smtClean="0"/>
              <a:t>I</a:t>
            </a:r>
            <a:r>
              <a:rPr lang="en-US" altLang="zh-CN" sz="1800" i="1" baseline="-25000" dirty="0" smtClean="0"/>
              <a:t>CP</a:t>
            </a:r>
            <a:r>
              <a:rPr lang="zh-CN" altLang="en-US" sz="1800" dirty="0" smtClean="0"/>
              <a:t>以及电容</a:t>
            </a:r>
            <a:r>
              <a:rPr lang="en-US" altLang="zh-CN" sz="1800" dirty="0" smtClean="0"/>
              <a:t>C</a:t>
            </a:r>
            <a:r>
              <a:rPr lang="zh-CN" altLang="en-US" sz="1800" dirty="0" smtClean="0"/>
              <a:t>的值</a:t>
            </a:r>
            <a:endParaRPr lang="en-US" altLang="zh-CN" sz="1800" dirty="0" smtClean="0"/>
          </a:p>
        </p:txBody>
      </p:sp>
      <p:graphicFrame>
        <p:nvGraphicFramePr>
          <p:cNvPr id="7" name="对象 6"/>
          <p:cNvGraphicFramePr>
            <a:graphicFrameLocks noChangeAspect="1"/>
          </p:cNvGraphicFramePr>
          <p:nvPr>
            <p:extLst>
              <p:ext uri="{D42A27DB-BD31-4B8C-83A1-F6EECF244321}">
                <p14:modId xmlns:p14="http://schemas.microsoft.com/office/powerpoint/2010/main" val="340301213"/>
              </p:ext>
            </p:extLst>
          </p:nvPr>
        </p:nvGraphicFramePr>
        <p:xfrm>
          <a:off x="8764324" y="2217285"/>
          <a:ext cx="1766888" cy="647700"/>
        </p:xfrm>
        <a:graphic>
          <a:graphicData uri="http://schemas.openxmlformats.org/presentationml/2006/ole">
            <mc:AlternateContent xmlns:mc="http://schemas.openxmlformats.org/markup-compatibility/2006">
              <mc:Choice xmlns:v="urn:schemas-microsoft-com:vml" Requires="v">
                <p:oleObj spid="_x0000_s40097" name="Equation" r:id="rId3" imgW="965160" imgH="355320" progId="Equation.DSMT4">
                  <p:embed/>
                </p:oleObj>
              </mc:Choice>
              <mc:Fallback>
                <p:oleObj name="Equation" r:id="rId3" imgW="965160" imgH="355320" progId="Equation.DSMT4">
                  <p:embed/>
                  <p:pic>
                    <p:nvPicPr>
                      <p:cNvPr id="6" name="对象 5"/>
                      <p:cNvPicPr>
                        <a:picLocks noChangeAspect="1" noChangeArrowheads="1"/>
                      </p:cNvPicPr>
                      <p:nvPr/>
                    </p:nvPicPr>
                    <p:blipFill>
                      <a:blip r:embed="rId4"/>
                      <a:srcRect/>
                      <a:stretch>
                        <a:fillRect/>
                      </a:stretch>
                    </p:blipFill>
                    <p:spPr bwMode="auto">
                      <a:xfrm>
                        <a:off x="8764324" y="2217285"/>
                        <a:ext cx="1766888" cy="647700"/>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22317954"/>
              </p:ext>
            </p:extLst>
          </p:nvPr>
        </p:nvGraphicFramePr>
        <p:xfrm>
          <a:off x="9006753" y="3029135"/>
          <a:ext cx="1727923" cy="633771"/>
        </p:xfrm>
        <a:graphic>
          <a:graphicData uri="http://schemas.openxmlformats.org/presentationml/2006/ole">
            <mc:AlternateContent xmlns:mc="http://schemas.openxmlformats.org/markup-compatibility/2006">
              <mc:Choice xmlns:v="urn:schemas-microsoft-com:vml" Requires="v">
                <p:oleObj spid="_x0000_s40098" name="Equation" r:id="rId5" imgW="965160" imgH="355320" progId="Equation.DSMT4">
                  <p:embed/>
                </p:oleObj>
              </mc:Choice>
              <mc:Fallback>
                <p:oleObj name="Equation" r:id="rId5" imgW="965160" imgH="355320" progId="Equation.DSMT4">
                  <p:embed/>
                  <p:pic>
                    <p:nvPicPr>
                      <p:cNvPr id="7" name="对象 6"/>
                      <p:cNvPicPr>
                        <a:picLocks noChangeAspect="1" noChangeArrowheads="1"/>
                      </p:cNvPicPr>
                      <p:nvPr/>
                    </p:nvPicPr>
                    <p:blipFill>
                      <a:blip r:embed="rId6"/>
                      <a:srcRect/>
                      <a:stretch>
                        <a:fillRect/>
                      </a:stretch>
                    </p:blipFill>
                    <p:spPr bwMode="auto">
                      <a:xfrm>
                        <a:off x="9006753" y="3029135"/>
                        <a:ext cx="1727923" cy="633771"/>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892117451"/>
              </p:ext>
            </p:extLst>
          </p:nvPr>
        </p:nvGraphicFramePr>
        <p:xfrm>
          <a:off x="4568610" y="4285580"/>
          <a:ext cx="2519820" cy="706153"/>
        </p:xfrm>
        <a:graphic>
          <a:graphicData uri="http://schemas.openxmlformats.org/presentationml/2006/ole">
            <mc:AlternateContent xmlns:mc="http://schemas.openxmlformats.org/markup-compatibility/2006">
              <mc:Choice xmlns:v="urn:schemas-microsoft-com:vml" Requires="v">
                <p:oleObj spid="_x0000_s40099" name="Equation" r:id="rId7" imgW="1358640" imgH="380880" progId="Equation.DSMT4">
                  <p:embed/>
                </p:oleObj>
              </mc:Choice>
              <mc:Fallback>
                <p:oleObj name="Equation" r:id="rId7" imgW="1358640" imgH="380880" progId="Equation.DSMT4">
                  <p:embed/>
                  <p:pic>
                    <p:nvPicPr>
                      <p:cNvPr id="8" name="对象 7"/>
                      <p:cNvPicPr>
                        <a:picLocks noChangeAspect="1" noChangeArrowheads="1"/>
                      </p:cNvPicPr>
                      <p:nvPr/>
                    </p:nvPicPr>
                    <p:blipFill>
                      <a:blip r:embed="rId8"/>
                      <a:srcRect/>
                      <a:stretch>
                        <a:fillRect/>
                      </a:stretch>
                    </p:blipFill>
                    <p:spPr bwMode="auto">
                      <a:xfrm>
                        <a:off x="4568610" y="4285580"/>
                        <a:ext cx="2519820" cy="706153"/>
                      </a:xfrm>
                      <a:prstGeom prst="rect">
                        <a:avLst/>
                      </a:prstGeom>
                      <a:noFill/>
                    </p:spPr>
                  </p:pic>
                </p:oleObj>
              </mc:Fallback>
            </mc:AlternateContent>
          </a:graphicData>
        </a:graphic>
      </p:graphicFrame>
    </p:spTree>
    <p:extLst>
      <p:ext uri="{BB962C8B-B14F-4D97-AF65-F5344CB8AC3E}">
        <p14:creationId xmlns:p14="http://schemas.microsoft.com/office/powerpoint/2010/main" val="399863223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35</a:t>
            </a:fld>
            <a:endParaRPr lang="en-US" altLang="zh-CN">
              <a:solidFill>
                <a:srgbClr val="FFFFFF"/>
              </a:solidFill>
            </a:endParaRPr>
          </a:p>
        </p:txBody>
      </p:sp>
      <p:sp>
        <p:nvSpPr>
          <p:cNvPr id="5" name="文本框 4"/>
          <p:cNvSpPr txBox="1"/>
          <p:nvPr/>
        </p:nvSpPr>
        <p:spPr>
          <a:xfrm>
            <a:off x="497434" y="446227"/>
            <a:ext cx="11192256" cy="2169825"/>
          </a:xfrm>
          <a:prstGeom prst="rect">
            <a:avLst/>
          </a:prstGeom>
          <a:noFill/>
        </p:spPr>
        <p:txBody>
          <a:bodyPr wrap="square" rtlCol="0">
            <a:spAutoFit/>
          </a:bodyPr>
          <a:lstStyle/>
          <a:p>
            <a:pPr>
              <a:lnSpc>
                <a:spcPct val="150000"/>
              </a:lnSpc>
            </a:pPr>
            <a:r>
              <a:rPr lang="zh-CN" altLang="en-US" sz="1800" dirty="0" smtClean="0"/>
              <a:t>笔者做的验证性实验</a:t>
            </a:r>
            <a:endParaRPr lang="en-US" altLang="zh-CN" sz="1800" dirty="0" smtClean="0"/>
          </a:p>
          <a:p>
            <a:pPr marL="285750" indent="-285750">
              <a:lnSpc>
                <a:spcPct val="150000"/>
              </a:lnSpc>
              <a:buFont typeface="Arial" panose="020B0604020202020204" pitchFamily="34" charset="0"/>
              <a:buChar char="•"/>
            </a:pPr>
            <a:r>
              <a:rPr lang="zh-CN" altLang="en-US" sz="1800" dirty="0" smtClean="0"/>
              <a:t>采用了相对简单的</a:t>
            </a:r>
            <a:r>
              <a:rPr lang="en-US" altLang="zh-CN" sz="1800" dirty="0" smtClean="0"/>
              <a:t>74HC4046</a:t>
            </a:r>
            <a:r>
              <a:rPr lang="zh-CN" altLang="en-US" sz="1800" dirty="0" smtClean="0"/>
              <a:t>，载波频率为</a:t>
            </a:r>
            <a:r>
              <a:rPr lang="en-US" altLang="zh-CN" sz="1800" dirty="0" smtClean="0"/>
              <a:t>9.9MHz</a:t>
            </a:r>
            <a:r>
              <a:rPr lang="zh-CN" altLang="en-US" sz="1800" dirty="0"/>
              <a:t>。其余参数按照原题的要求</a:t>
            </a:r>
          </a:p>
          <a:p>
            <a:pPr marL="285750" indent="-285750">
              <a:lnSpc>
                <a:spcPct val="150000"/>
              </a:lnSpc>
              <a:buFont typeface="Arial" panose="020B0604020202020204" pitchFamily="34" charset="0"/>
              <a:buChar char="•"/>
            </a:pPr>
            <a:r>
              <a:rPr lang="zh-CN" altLang="en-US" sz="1800" dirty="0" smtClean="0"/>
              <a:t>为了减少输出信号的高次谐波，输出端插入一个</a:t>
            </a:r>
            <a:r>
              <a:rPr lang="en-US" altLang="zh-CN" sz="1800" dirty="0" smtClean="0"/>
              <a:t>LC</a:t>
            </a:r>
            <a:r>
              <a:rPr lang="zh-CN" altLang="en-US" sz="1800" dirty="0" smtClean="0"/>
              <a:t>低通滤波器</a:t>
            </a:r>
            <a:endParaRPr lang="en-US" altLang="zh-CN" sz="1800" dirty="0" smtClean="0"/>
          </a:p>
          <a:p>
            <a:pPr marL="285750" indent="-285750">
              <a:lnSpc>
                <a:spcPct val="150000"/>
              </a:lnSpc>
              <a:buFont typeface="Arial" panose="020B0604020202020204" pitchFamily="34" charset="0"/>
              <a:buChar char="•"/>
            </a:pPr>
            <a:r>
              <a:rPr lang="en-US" altLang="zh-CN" sz="1800" dirty="0" smtClean="0"/>
              <a:t>VCO</a:t>
            </a:r>
            <a:r>
              <a:rPr lang="zh-CN" altLang="en-US" sz="1800" dirty="0"/>
              <a:t>的可控频率范围约为</a:t>
            </a:r>
            <a:r>
              <a:rPr lang="en-US" altLang="zh-CN" sz="1800" dirty="0" smtClean="0"/>
              <a:t>9.7MHz~10.1MHz</a:t>
            </a:r>
            <a:r>
              <a:rPr lang="zh-CN" altLang="en-US" sz="1800" dirty="0" smtClean="0"/>
              <a:t>，对应的控制电压为</a:t>
            </a:r>
            <a:r>
              <a:rPr lang="en-US" altLang="zh-CN" sz="1800" dirty="0" smtClean="0"/>
              <a:t>1.66V~2.57V</a:t>
            </a:r>
          </a:p>
          <a:p>
            <a:pPr marL="285750" indent="-285750">
              <a:lnSpc>
                <a:spcPct val="150000"/>
              </a:lnSpc>
              <a:buFont typeface="Arial" panose="020B0604020202020204" pitchFamily="34" charset="0"/>
              <a:buChar char="•"/>
            </a:pPr>
            <a:r>
              <a:rPr lang="zh-CN" altLang="en-US" sz="1800" dirty="0" smtClean="0"/>
              <a:t>压控增益约为</a:t>
            </a:r>
            <a:r>
              <a:rPr lang="en-US" altLang="zh-CN" sz="1800" dirty="0" smtClean="0"/>
              <a:t>440kHz/V</a:t>
            </a:r>
            <a:r>
              <a:rPr lang="zh-CN" altLang="en-US" sz="1800" dirty="0" smtClean="0"/>
              <a:t>，</a:t>
            </a:r>
            <a:r>
              <a:rPr lang="en-US" altLang="zh-CN" sz="1800" dirty="0" smtClean="0"/>
              <a:t>f</a:t>
            </a:r>
            <a:r>
              <a:rPr lang="en-US" altLang="zh-CN" sz="1800" baseline="-25000" dirty="0" smtClean="0"/>
              <a:t>0</a:t>
            </a:r>
            <a:r>
              <a:rPr lang="en-US" altLang="zh-CN" sz="1800" dirty="0" smtClean="0"/>
              <a:t>=9.9MHz@Vc=2.12V</a:t>
            </a:r>
          </a:p>
        </p:txBody>
      </p:sp>
      <p:pic>
        <p:nvPicPr>
          <p:cNvPr id="6" name="图片 5"/>
          <p:cNvPicPr>
            <a:picLocks noChangeAspect="1"/>
          </p:cNvPicPr>
          <p:nvPr/>
        </p:nvPicPr>
        <p:blipFill>
          <a:blip r:embed="rId2"/>
          <a:stretch>
            <a:fillRect/>
          </a:stretch>
        </p:blipFill>
        <p:spPr>
          <a:xfrm>
            <a:off x="1666739" y="2778610"/>
            <a:ext cx="9452365" cy="3688728"/>
          </a:xfrm>
          <a:prstGeom prst="rect">
            <a:avLst/>
          </a:prstGeom>
        </p:spPr>
      </p:pic>
    </p:spTree>
    <p:extLst>
      <p:ext uri="{BB962C8B-B14F-4D97-AF65-F5344CB8AC3E}">
        <p14:creationId xmlns:p14="http://schemas.microsoft.com/office/powerpoint/2010/main" val="16411228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36</a:t>
            </a:fld>
            <a:endParaRPr lang="en-US" altLang="zh-CN">
              <a:solidFill>
                <a:srgbClr val="FFFFFF"/>
              </a:solidFill>
            </a:endParaRPr>
          </a:p>
        </p:txBody>
      </p:sp>
      <p:sp>
        <p:nvSpPr>
          <p:cNvPr id="5" name="文本框 4"/>
          <p:cNvSpPr txBox="1"/>
          <p:nvPr/>
        </p:nvSpPr>
        <p:spPr>
          <a:xfrm>
            <a:off x="490118" y="460858"/>
            <a:ext cx="11133735" cy="457241"/>
          </a:xfrm>
          <a:prstGeom prst="rect">
            <a:avLst/>
          </a:prstGeom>
          <a:noFill/>
        </p:spPr>
        <p:txBody>
          <a:bodyPr wrap="square" rtlCol="0">
            <a:spAutoFit/>
          </a:bodyPr>
          <a:lstStyle/>
          <a:p>
            <a:pPr>
              <a:lnSpc>
                <a:spcPct val="150000"/>
              </a:lnSpc>
            </a:pPr>
            <a:r>
              <a:rPr lang="zh-CN" altLang="en-US" sz="1800" dirty="0" smtClean="0"/>
              <a:t>实验</a:t>
            </a:r>
            <a:r>
              <a:rPr lang="en-US" altLang="zh-CN" sz="1800" dirty="0" smtClean="0"/>
              <a:t>1</a:t>
            </a:r>
            <a:r>
              <a:rPr lang="zh-CN" altLang="en-US" sz="1800" dirty="0" smtClean="0"/>
              <a:t>，调制实验。加入调制电压，用频谱分析仪观察输出频谱</a:t>
            </a:r>
            <a:endParaRPr lang="en-US" altLang="zh-CN" sz="1800" dirty="0" smtClean="0"/>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1307" y="1129707"/>
            <a:ext cx="5145733" cy="3859300"/>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06551" y="1129707"/>
            <a:ext cx="5145733" cy="3859300"/>
          </a:xfrm>
          <a:prstGeom prst="rect">
            <a:avLst/>
          </a:prstGeom>
        </p:spPr>
      </p:pic>
      <p:sp>
        <p:nvSpPr>
          <p:cNvPr id="8" name="文本框 7"/>
          <p:cNvSpPr txBox="1"/>
          <p:nvPr/>
        </p:nvSpPr>
        <p:spPr>
          <a:xfrm>
            <a:off x="2231136" y="5146329"/>
            <a:ext cx="3262579" cy="369332"/>
          </a:xfrm>
          <a:prstGeom prst="rect">
            <a:avLst/>
          </a:prstGeom>
          <a:noFill/>
        </p:spPr>
        <p:txBody>
          <a:bodyPr wrap="square" rtlCol="0">
            <a:spAutoFit/>
          </a:bodyPr>
          <a:lstStyle/>
          <a:p>
            <a:r>
              <a:rPr lang="zh-CN" altLang="en-US" sz="1800" dirty="0" smtClean="0"/>
              <a:t>未加调制信号</a:t>
            </a:r>
            <a:endParaRPr lang="zh-CN" altLang="en-US" sz="1800" dirty="0"/>
          </a:p>
        </p:txBody>
      </p:sp>
      <p:sp>
        <p:nvSpPr>
          <p:cNvPr id="9" name="文本框 8"/>
          <p:cNvSpPr txBox="1"/>
          <p:nvPr/>
        </p:nvSpPr>
        <p:spPr>
          <a:xfrm>
            <a:off x="6306550" y="4989007"/>
            <a:ext cx="5145733" cy="1338828"/>
          </a:xfrm>
          <a:prstGeom prst="rect">
            <a:avLst/>
          </a:prstGeom>
          <a:noFill/>
        </p:spPr>
        <p:txBody>
          <a:bodyPr wrap="square" rtlCol="0">
            <a:spAutoFit/>
          </a:bodyPr>
          <a:lstStyle/>
          <a:p>
            <a:pPr>
              <a:lnSpc>
                <a:spcPct val="150000"/>
              </a:lnSpc>
            </a:pPr>
            <a:r>
              <a:rPr lang="zh-CN" altLang="en-US" sz="1800" dirty="0" smtClean="0"/>
              <a:t>加入调制信号后的输出频谱</a:t>
            </a:r>
            <a:endParaRPr lang="en-US" altLang="zh-CN" sz="1800" dirty="0" smtClean="0"/>
          </a:p>
          <a:p>
            <a:pPr>
              <a:lnSpc>
                <a:spcPct val="150000"/>
              </a:lnSpc>
            </a:pPr>
            <a:r>
              <a:rPr lang="zh-CN" altLang="en-US" sz="1800" dirty="0" smtClean="0"/>
              <a:t>调制</a:t>
            </a:r>
            <a:r>
              <a:rPr lang="zh-CN" altLang="en-US" sz="1800" dirty="0"/>
              <a:t>信号</a:t>
            </a:r>
            <a:r>
              <a:rPr lang="zh-CN" altLang="en-US" sz="1800" dirty="0" smtClean="0"/>
              <a:t>频率</a:t>
            </a:r>
            <a:r>
              <a:rPr lang="en-US" altLang="zh-CN" sz="1800" dirty="0" smtClean="0"/>
              <a:t>10kHz</a:t>
            </a:r>
            <a:r>
              <a:rPr lang="zh-CN" altLang="en-US" sz="1800" dirty="0" smtClean="0"/>
              <a:t>，调制信号幅度</a:t>
            </a:r>
            <a:r>
              <a:rPr lang="en-US" altLang="zh-CN" sz="1800" dirty="0" smtClean="0"/>
              <a:t>4V</a:t>
            </a:r>
          </a:p>
          <a:p>
            <a:pPr>
              <a:lnSpc>
                <a:spcPct val="150000"/>
              </a:lnSpc>
            </a:pPr>
            <a:r>
              <a:rPr lang="zh-CN" altLang="en-US" sz="1800" dirty="0" smtClean="0"/>
              <a:t>能看到明显的边频谱线</a:t>
            </a:r>
            <a:endParaRPr lang="zh-CN" altLang="en-US" sz="1800" dirty="0"/>
          </a:p>
        </p:txBody>
      </p:sp>
    </p:spTree>
    <p:extLst>
      <p:ext uri="{BB962C8B-B14F-4D97-AF65-F5344CB8AC3E}">
        <p14:creationId xmlns:p14="http://schemas.microsoft.com/office/powerpoint/2010/main" val="369058496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37</a:t>
            </a:fld>
            <a:endParaRPr lang="en-US" altLang="zh-CN">
              <a:solidFill>
                <a:srgbClr val="FFFFFF"/>
              </a:solidFill>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7331" y="731518"/>
            <a:ext cx="5003599" cy="3752700"/>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68739" y="731518"/>
            <a:ext cx="5003600" cy="3752700"/>
          </a:xfrm>
          <a:prstGeom prst="rect">
            <a:avLst/>
          </a:prstGeom>
        </p:spPr>
      </p:pic>
      <p:sp>
        <p:nvSpPr>
          <p:cNvPr id="7" name="文本框 6"/>
          <p:cNvSpPr txBox="1"/>
          <p:nvPr/>
        </p:nvSpPr>
        <p:spPr>
          <a:xfrm>
            <a:off x="1770310" y="4484218"/>
            <a:ext cx="3077640" cy="1338828"/>
          </a:xfrm>
          <a:prstGeom prst="rect">
            <a:avLst/>
          </a:prstGeom>
          <a:noFill/>
        </p:spPr>
        <p:txBody>
          <a:bodyPr wrap="square" rtlCol="0">
            <a:spAutoFit/>
          </a:bodyPr>
          <a:lstStyle/>
          <a:p>
            <a:pPr>
              <a:lnSpc>
                <a:spcPct val="150000"/>
              </a:lnSpc>
            </a:pPr>
            <a:r>
              <a:rPr lang="zh-CN" altLang="en-US" sz="1800" dirty="0" smtClean="0"/>
              <a:t>加入调制信号后的输出频谱</a:t>
            </a:r>
            <a:endParaRPr lang="en-US" altLang="zh-CN" sz="1800" dirty="0" smtClean="0"/>
          </a:p>
          <a:p>
            <a:pPr>
              <a:lnSpc>
                <a:spcPct val="150000"/>
              </a:lnSpc>
            </a:pPr>
            <a:r>
              <a:rPr lang="zh-CN" altLang="en-US" sz="1800" dirty="0" smtClean="0"/>
              <a:t>调制</a:t>
            </a:r>
            <a:r>
              <a:rPr lang="zh-CN" altLang="en-US" sz="1800" dirty="0"/>
              <a:t>信号</a:t>
            </a:r>
            <a:r>
              <a:rPr lang="zh-CN" altLang="en-US" sz="1800" dirty="0" smtClean="0"/>
              <a:t>频率</a:t>
            </a:r>
            <a:r>
              <a:rPr lang="en-US" altLang="zh-CN" sz="1800" dirty="0" smtClean="0"/>
              <a:t>50kHz</a:t>
            </a:r>
          </a:p>
          <a:p>
            <a:pPr>
              <a:lnSpc>
                <a:spcPct val="150000"/>
              </a:lnSpc>
            </a:pPr>
            <a:r>
              <a:rPr lang="zh-CN" altLang="en-US" sz="1800" dirty="0" smtClean="0"/>
              <a:t>调制信号幅度</a:t>
            </a:r>
            <a:r>
              <a:rPr lang="en-US" altLang="zh-CN" sz="1800" dirty="0" smtClean="0"/>
              <a:t>4V</a:t>
            </a:r>
            <a:endParaRPr lang="zh-CN" altLang="en-US" sz="1800" dirty="0"/>
          </a:p>
        </p:txBody>
      </p:sp>
      <p:sp>
        <p:nvSpPr>
          <p:cNvPr id="8" name="文本框 7"/>
          <p:cNvSpPr txBox="1"/>
          <p:nvPr/>
        </p:nvSpPr>
        <p:spPr>
          <a:xfrm>
            <a:off x="7331719" y="4484218"/>
            <a:ext cx="3077640" cy="1338828"/>
          </a:xfrm>
          <a:prstGeom prst="rect">
            <a:avLst/>
          </a:prstGeom>
          <a:noFill/>
        </p:spPr>
        <p:txBody>
          <a:bodyPr wrap="square" rtlCol="0">
            <a:spAutoFit/>
          </a:bodyPr>
          <a:lstStyle/>
          <a:p>
            <a:pPr>
              <a:lnSpc>
                <a:spcPct val="150000"/>
              </a:lnSpc>
            </a:pPr>
            <a:r>
              <a:rPr lang="zh-CN" altLang="en-US" sz="1800" dirty="0" smtClean="0"/>
              <a:t>加入调制信号后的输出频谱</a:t>
            </a:r>
            <a:endParaRPr lang="en-US" altLang="zh-CN" sz="1800" dirty="0" smtClean="0"/>
          </a:p>
          <a:p>
            <a:pPr>
              <a:lnSpc>
                <a:spcPct val="150000"/>
              </a:lnSpc>
            </a:pPr>
            <a:r>
              <a:rPr lang="zh-CN" altLang="en-US" sz="1800" dirty="0" smtClean="0"/>
              <a:t>调制</a:t>
            </a:r>
            <a:r>
              <a:rPr lang="zh-CN" altLang="en-US" sz="1800" dirty="0"/>
              <a:t>信号</a:t>
            </a:r>
            <a:r>
              <a:rPr lang="zh-CN" altLang="en-US" sz="1800" dirty="0" smtClean="0"/>
              <a:t>频率</a:t>
            </a:r>
            <a:r>
              <a:rPr lang="en-US" altLang="zh-CN" sz="1800" dirty="0" smtClean="0"/>
              <a:t>50kHz</a:t>
            </a:r>
          </a:p>
          <a:p>
            <a:pPr>
              <a:lnSpc>
                <a:spcPct val="150000"/>
              </a:lnSpc>
            </a:pPr>
            <a:r>
              <a:rPr lang="zh-CN" altLang="en-US" sz="1800" dirty="0" smtClean="0"/>
              <a:t>调制信号幅度</a:t>
            </a:r>
            <a:r>
              <a:rPr lang="en-US" altLang="zh-CN" sz="1800" dirty="0" smtClean="0"/>
              <a:t>1.5V</a:t>
            </a:r>
            <a:endParaRPr lang="zh-CN" altLang="en-US" sz="1800" dirty="0"/>
          </a:p>
        </p:txBody>
      </p:sp>
    </p:spTree>
    <p:extLst>
      <p:ext uri="{BB962C8B-B14F-4D97-AF65-F5344CB8AC3E}">
        <p14:creationId xmlns:p14="http://schemas.microsoft.com/office/powerpoint/2010/main" val="175922656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38</a:t>
            </a:fld>
            <a:endParaRPr lang="en-US" altLang="zh-CN">
              <a:solidFill>
                <a:srgbClr val="FFFFFF"/>
              </a:solidFill>
            </a:endParaRPr>
          </a:p>
        </p:txBody>
      </p:sp>
      <p:sp>
        <p:nvSpPr>
          <p:cNvPr id="5" name="文本框 4"/>
          <p:cNvSpPr txBox="1"/>
          <p:nvPr/>
        </p:nvSpPr>
        <p:spPr>
          <a:xfrm>
            <a:off x="490118" y="460858"/>
            <a:ext cx="11133735" cy="2169825"/>
          </a:xfrm>
          <a:prstGeom prst="rect">
            <a:avLst/>
          </a:prstGeom>
          <a:noFill/>
        </p:spPr>
        <p:txBody>
          <a:bodyPr wrap="square" rtlCol="0">
            <a:spAutoFit/>
          </a:bodyPr>
          <a:lstStyle/>
          <a:p>
            <a:pPr>
              <a:lnSpc>
                <a:spcPct val="150000"/>
              </a:lnSpc>
            </a:pPr>
            <a:r>
              <a:rPr lang="zh-CN" altLang="en-US" sz="1800" dirty="0" smtClean="0"/>
              <a:t>实验</a:t>
            </a:r>
            <a:r>
              <a:rPr lang="en-US" altLang="zh-CN" sz="1800" dirty="0" smtClean="0"/>
              <a:t>2</a:t>
            </a:r>
            <a:r>
              <a:rPr lang="zh-CN" altLang="en-US" sz="1800" dirty="0" smtClean="0"/>
              <a:t>，漂移实验。加入三角波漂移电压，用示波器与频谱分析仪观察锁相环输出</a:t>
            </a:r>
            <a:endParaRPr lang="en-US" altLang="zh-CN" sz="1800" dirty="0" smtClean="0"/>
          </a:p>
          <a:p>
            <a:pPr marL="285750" indent="-285750">
              <a:lnSpc>
                <a:spcPct val="150000"/>
              </a:lnSpc>
              <a:buFont typeface="Arial" panose="020B0604020202020204" pitchFamily="34" charset="0"/>
              <a:buChar char="•"/>
            </a:pPr>
            <a:r>
              <a:rPr lang="zh-CN" altLang="en-US" sz="1800" dirty="0" smtClean="0"/>
              <a:t>为了方便演示，三角波的频率大约为</a:t>
            </a:r>
            <a:r>
              <a:rPr lang="en-US" altLang="zh-CN" sz="1800" dirty="0" smtClean="0"/>
              <a:t>0.3Hz</a:t>
            </a:r>
          </a:p>
          <a:p>
            <a:pPr marL="285750" indent="-285750">
              <a:lnSpc>
                <a:spcPct val="150000"/>
              </a:lnSpc>
              <a:buFont typeface="Arial" panose="020B0604020202020204" pitchFamily="34" charset="0"/>
              <a:buChar char="•"/>
            </a:pPr>
            <a:r>
              <a:rPr lang="zh-CN" altLang="en-US" sz="1800" dirty="0" smtClean="0"/>
              <a:t>三角波信号叠加一个直流偏置，在三角波信号为</a:t>
            </a:r>
            <a:r>
              <a:rPr lang="en-US" altLang="zh-CN" sz="1800" dirty="0" smtClean="0"/>
              <a:t>0</a:t>
            </a:r>
            <a:r>
              <a:rPr lang="zh-CN" altLang="en-US" sz="1800" dirty="0" smtClean="0"/>
              <a:t>时</a:t>
            </a:r>
            <a:r>
              <a:rPr lang="en-US" altLang="zh-CN" sz="1800" dirty="0" smtClean="0"/>
              <a:t>VCO</a:t>
            </a:r>
            <a:r>
              <a:rPr lang="zh-CN" altLang="en-US" sz="1800" dirty="0" smtClean="0"/>
              <a:t>的控制电压等于其原来的中心值（</a:t>
            </a:r>
            <a:r>
              <a:rPr lang="en-US" altLang="zh-CN" sz="1800" dirty="0" smtClean="0"/>
              <a:t>2.12V</a:t>
            </a:r>
            <a:r>
              <a:rPr lang="zh-CN" altLang="en-US" sz="1800" dirty="0" smtClean="0"/>
              <a:t>）</a:t>
            </a:r>
            <a:endParaRPr lang="en-US" altLang="zh-CN" sz="1800" dirty="0" smtClean="0"/>
          </a:p>
          <a:p>
            <a:pPr marL="285750" indent="-285750">
              <a:lnSpc>
                <a:spcPct val="150000"/>
              </a:lnSpc>
              <a:buFont typeface="Arial" panose="020B0604020202020204" pitchFamily="34" charset="0"/>
              <a:buChar char="•"/>
            </a:pPr>
            <a:r>
              <a:rPr lang="zh-CN" altLang="en-US" sz="1800" dirty="0"/>
              <a:t>三角</a:t>
            </a:r>
            <a:r>
              <a:rPr lang="zh-CN" altLang="en-US" sz="1800" dirty="0" smtClean="0"/>
              <a:t>波信号的幅度约为</a:t>
            </a:r>
            <a:r>
              <a:rPr lang="en-US" altLang="zh-CN" sz="1800" dirty="0" smtClean="0">
                <a:latin typeface="Times New Roman" panose="02020603050405020304" pitchFamily="18" charset="0"/>
                <a:cs typeface="Times New Roman" panose="02020603050405020304" pitchFamily="18" charset="0"/>
              </a:rPr>
              <a:t>±0.5V</a:t>
            </a:r>
          </a:p>
          <a:p>
            <a:pPr marL="285750" indent="-285750">
              <a:lnSpc>
                <a:spcPct val="150000"/>
              </a:lnSpc>
              <a:buFont typeface="Arial" panose="020B0604020202020204" pitchFamily="34" charset="0"/>
              <a:buChar char="•"/>
            </a:pPr>
            <a:r>
              <a:rPr lang="zh-CN" altLang="en-US" sz="1800" dirty="0"/>
              <a:t>在示波器上看到</a:t>
            </a:r>
            <a:r>
              <a:rPr lang="zh-CN" altLang="en-US" sz="1800" dirty="0" smtClean="0"/>
              <a:t>的</a:t>
            </a:r>
            <a:r>
              <a:rPr lang="zh-CN" altLang="en-US" sz="1800" dirty="0"/>
              <a:t>载频</a:t>
            </a:r>
            <a:r>
              <a:rPr lang="zh-CN" altLang="en-US" sz="1800" dirty="0" smtClean="0"/>
              <a:t>漂移现象</a:t>
            </a:r>
            <a:endParaRPr lang="zh-CN" altLang="en-US" sz="1800" dirty="0"/>
          </a:p>
        </p:txBody>
      </p:sp>
      <p:pic>
        <p:nvPicPr>
          <p:cNvPr id="6" name="48ac315c369f305e9b723139ed8313e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329159" y="2114489"/>
            <a:ext cx="7419052" cy="4204130"/>
          </a:xfrm>
          <a:prstGeom prst="rect">
            <a:avLst/>
          </a:prstGeom>
        </p:spPr>
      </p:pic>
      <p:sp>
        <p:nvSpPr>
          <p:cNvPr id="7" name="文本框 6"/>
          <p:cNvSpPr txBox="1"/>
          <p:nvPr/>
        </p:nvSpPr>
        <p:spPr>
          <a:xfrm>
            <a:off x="2614151" y="3189246"/>
            <a:ext cx="1422400" cy="369332"/>
          </a:xfrm>
          <a:prstGeom prst="rect">
            <a:avLst/>
          </a:prstGeom>
          <a:noFill/>
        </p:spPr>
        <p:txBody>
          <a:bodyPr wrap="square" rtlCol="0">
            <a:spAutoFit/>
          </a:bodyPr>
          <a:lstStyle/>
          <a:p>
            <a:r>
              <a:rPr lang="zh-CN" altLang="en-US" sz="1800" dirty="0" smtClean="0"/>
              <a:t>漂移电压</a:t>
            </a:r>
            <a:endParaRPr lang="zh-CN" altLang="en-US" sz="1800" dirty="0"/>
          </a:p>
        </p:txBody>
      </p:sp>
      <p:sp>
        <p:nvSpPr>
          <p:cNvPr id="8" name="文本框 7"/>
          <p:cNvSpPr txBox="1"/>
          <p:nvPr/>
        </p:nvSpPr>
        <p:spPr>
          <a:xfrm>
            <a:off x="2614151" y="4554636"/>
            <a:ext cx="1422400" cy="369332"/>
          </a:xfrm>
          <a:prstGeom prst="rect">
            <a:avLst/>
          </a:prstGeom>
          <a:noFill/>
        </p:spPr>
        <p:txBody>
          <a:bodyPr wrap="square" rtlCol="0">
            <a:spAutoFit/>
          </a:bodyPr>
          <a:lstStyle/>
          <a:p>
            <a:r>
              <a:rPr lang="zh-CN" altLang="en-US" sz="1800" dirty="0" smtClean="0"/>
              <a:t>漂移的载频</a:t>
            </a:r>
            <a:endParaRPr lang="zh-CN" altLang="en-US" sz="1800" dirty="0"/>
          </a:p>
        </p:txBody>
      </p:sp>
      <p:cxnSp>
        <p:nvCxnSpPr>
          <p:cNvPr id="9" name="直接箭头连接符 8"/>
          <p:cNvCxnSpPr/>
          <p:nvPr/>
        </p:nvCxnSpPr>
        <p:spPr>
          <a:xfrm>
            <a:off x="3767328" y="3373912"/>
            <a:ext cx="1708098"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3913632" y="4554636"/>
            <a:ext cx="1492300" cy="20996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583132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mute="1">
                <p:cTn id="7" fill="hold" display="0">
                  <p:stCondLst>
                    <p:cond delay="indefinite"/>
                  </p:stCondLst>
                </p:cTn>
                <p:tgtEl>
                  <p:spTgt spid="6"/>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39</a:t>
            </a:fld>
            <a:endParaRPr lang="en-US" altLang="zh-CN">
              <a:solidFill>
                <a:srgbClr val="FFFFFF"/>
              </a:solidFill>
            </a:endParaRPr>
          </a:p>
        </p:txBody>
      </p:sp>
      <p:sp>
        <p:nvSpPr>
          <p:cNvPr id="6" name="文本框 5"/>
          <p:cNvSpPr txBox="1"/>
          <p:nvPr/>
        </p:nvSpPr>
        <p:spPr>
          <a:xfrm>
            <a:off x="416967" y="578896"/>
            <a:ext cx="2772460" cy="87273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在频谱分析仪上看到的载频漂移现象</a:t>
            </a:r>
            <a:endParaRPr lang="zh-CN" altLang="en-US" sz="1800" dirty="0"/>
          </a:p>
        </p:txBody>
      </p:sp>
      <p:pic>
        <p:nvPicPr>
          <p:cNvPr id="9" name="f8e4e10ecab080a12a47948f229fef3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796590" y="578896"/>
            <a:ext cx="7344460" cy="4131259"/>
          </a:xfrm>
          <a:prstGeom prst="rect">
            <a:avLst/>
          </a:prstGeom>
        </p:spPr>
      </p:pic>
      <p:sp>
        <p:nvSpPr>
          <p:cNvPr id="12" name="文本框 11"/>
          <p:cNvSpPr txBox="1"/>
          <p:nvPr/>
        </p:nvSpPr>
        <p:spPr>
          <a:xfrm>
            <a:off x="416967" y="5076749"/>
            <a:ext cx="11316614"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能够看到明显的频率牵引现象：当漂移电压使得锁相环的输出频率进入其锁定范围之后，锁相环进入捕捉过程，捕捉成功后则进入同步状态，此状态要维持到漂移电压增大到使锁相环脱离其同步范围，才能在漂移电压控制下改变其频率。</a:t>
            </a:r>
            <a:endParaRPr lang="zh-CN" altLang="en-US" sz="1800" dirty="0"/>
          </a:p>
        </p:txBody>
      </p:sp>
    </p:spTree>
    <p:extLst>
      <p:ext uri="{BB962C8B-B14F-4D97-AF65-F5344CB8AC3E}">
        <p14:creationId xmlns:p14="http://schemas.microsoft.com/office/powerpoint/2010/main" val="351561235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9"/>
                                        </p:tgtEl>
                                      </p:cBhvr>
                                    </p:cmd>
                                  </p:childTnLst>
                                </p:cTn>
                              </p:par>
                            </p:childTnLst>
                          </p:cTn>
                        </p:par>
                      </p:childTnLst>
                    </p:cTn>
                  </p:par>
                </p:childTnLst>
              </p:cTn>
              <p:nextCondLst>
                <p:cond evt="onClick" delay="0">
                  <p:tgtEl>
                    <p:spTgt spid="9"/>
                  </p:tgtEl>
                </p:cond>
              </p:nextCondLst>
            </p:seq>
            <p:video>
              <p:cMediaNode vol="80000">
                <p:cTn id="7" fill="hold" display="0">
                  <p:stCondLst>
                    <p:cond delay="indefinite"/>
                  </p:stCondLst>
                </p:cTn>
                <p:tgtEl>
                  <p:spTgt spid="9"/>
                </p:tgtEl>
              </p:cMediaNode>
            </p:vide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40</a:t>
            </a:fld>
            <a:endParaRPr lang="en-US" altLang="zh-CN"/>
          </a:p>
        </p:txBody>
      </p:sp>
      <p:sp>
        <p:nvSpPr>
          <p:cNvPr id="2" name="文本框 1"/>
          <p:cNvSpPr txBox="1"/>
          <p:nvPr/>
        </p:nvSpPr>
        <p:spPr>
          <a:xfrm>
            <a:off x="494610" y="519491"/>
            <a:ext cx="11250778" cy="2631490"/>
          </a:xfrm>
          <a:prstGeom prst="rect">
            <a:avLst/>
          </a:prstGeom>
          <a:noFill/>
        </p:spPr>
        <p:txBody>
          <a:bodyPr wrap="square" rtlCol="0">
            <a:spAutoFit/>
          </a:bodyPr>
          <a:lstStyle/>
          <a:p>
            <a:pPr>
              <a:lnSpc>
                <a:spcPct val="150000"/>
              </a:lnSpc>
            </a:pPr>
            <a:r>
              <a:rPr lang="zh-CN" altLang="en-US" dirty="0" smtClean="0">
                <a:solidFill>
                  <a:srgbClr val="FF0000"/>
                </a:solidFill>
                <a:latin typeface="黑体" panose="02010609060101010101" pitchFamily="49" charset="-122"/>
                <a:ea typeface="黑体" panose="02010609060101010101" pitchFamily="49" charset="-122"/>
              </a:rPr>
              <a:t>模块二、用于双</a:t>
            </a:r>
            <a:r>
              <a:rPr lang="zh-CN" altLang="en-US" dirty="0">
                <a:solidFill>
                  <a:srgbClr val="FF0000"/>
                </a:solidFill>
                <a:latin typeface="黑体" panose="02010609060101010101" pitchFamily="49" charset="-122"/>
                <a:ea typeface="黑体" panose="02010609060101010101" pitchFamily="49" charset="-122"/>
              </a:rPr>
              <a:t>路语音</a:t>
            </a:r>
            <a:r>
              <a:rPr lang="zh-CN" altLang="en-US" dirty="0" smtClean="0">
                <a:solidFill>
                  <a:srgbClr val="FF0000"/>
                </a:solidFill>
                <a:latin typeface="黑体" panose="02010609060101010101" pitchFamily="49" charset="-122"/>
                <a:ea typeface="黑体" panose="02010609060101010101" pitchFamily="49" charset="-122"/>
              </a:rPr>
              <a:t>同时传输的副载波调制模块（</a:t>
            </a:r>
            <a:r>
              <a:rPr lang="zh-CN" altLang="en-US" dirty="0">
                <a:solidFill>
                  <a:srgbClr val="FF0000"/>
                </a:solidFill>
                <a:latin typeface="黑体" panose="02010609060101010101" pitchFamily="49" charset="-122"/>
                <a:ea typeface="黑体" panose="02010609060101010101" pitchFamily="49" charset="-122"/>
              </a:rPr>
              <a:t>设计</a:t>
            </a:r>
            <a:r>
              <a:rPr lang="zh-CN" altLang="en-US" dirty="0" smtClean="0">
                <a:solidFill>
                  <a:srgbClr val="FF0000"/>
                </a:solidFill>
                <a:latin typeface="黑体" panose="02010609060101010101" pitchFamily="49" charset="-122"/>
                <a:ea typeface="黑体" panose="02010609060101010101" pitchFamily="49" charset="-122"/>
              </a:rPr>
              <a:t>难点）</a:t>
            </a:r>
            <a:endParaRPr lang="zh-CN" altLang="zh-CN" dirty="0">
              <a:latin typeface="黑体" panose="02010609060101010101" pitchFamily="49" charset="-122"/>
              <a:ea typeface="黑体" panose="02010609060101010101" pitchFamily="49" charset="-122"/>
            </a:endParaRPr>
          </a:p>
          <a:p>
            <a:pPr indent="457200">
              <a:lnSpc>
                <a:spcPct val="150000"/>
              </a:lnSpc>
            </a:pPr>
            <a:r>
              <a:rPr lang="zh-CN" altLang="zh-CN" sz="1800" dirty="0"/>
              <a:t>由于双路语音的频谱重叠，所以不能将它们简单地用加法器叠加，那样两路信号将无法区分。正确的做法是先将其中一路</a:t>
            </a:r>
            <a:r>
              <a:rPr lang="zh-CN" altLang="zh-CN" sz="1800" dirty="0" smtClean="0"/>
              <a:t>信号</a:t>
            </a:r>
            <a:r>
              <a:rPr lang="zh-CN" altLang="en-US" sz="1800" dirty="0" smtClean="0"/>
              <a:t>做</a:t>
            </a:r>
            <a:r>
              <a:rPr lang="zh-CN" altLang="zh-CN" sz="1800" dirty="0" smtClean="0"/>
              <a:t>频谱</a:t>
            </a:r>
            <a:r>
              <a:rPr lang="zh-CN" altLang="zh-CN" sz="1800" dirty="0"/>
              <a:t>移动，使得两路信号的频谱不再重叠，然后将两路信号叠加。</a:t>
            </a:r>
          </a:p>
          <a:p>
            <a:pPr indent="457200">
              <a:lnSpc>
                <a:spcPct val="150000"/>
              </a:lnSpc>
            </a:pPr>
            <a:r>
              <a:rPr lang="zh-CN" altLang="zh-CN" sz="1800" dirty="0"/>
              <a:t>具体做法可以参考调频立体声广播：</a:t>
            </a:r>
            <a:r>
              <a:rPr lang="zh-CN" altLang="zh-CN" sz="1800" dirty="0" smtClean="0"/>
              <a:t>将音频</a:t>
            </a:r>
            <a:r>
              <a:rPr lang="zh-CN" altLang="zh-CN" sz="1800" dirty="0"/>
              <a:t>信号</a:t>
            </a:r>
            <a:r>
              <a:rPr lang="en-US" altLang="zh-CN" sz="1800" dirty="0"/>
              <a:t>B</a:t>
            </a:r>
            <a:r>
              <a:rPr lang="zh-CN" altLang="zh-CN" sz="1800" dirty="0"/>
              <a:t>对一个副载频进行</a:t>
            </a:r>
            <a:r>
              <a:rPr lang="en-US" altLang="zh-CN" sz="1800" dirty="0"/>
              <a:t>AM</a:t>
            </a:r>
            <a:r>
              <a:rPr lang="zh-CN" altLang="zh-CN" sz="1800" dirty="0"/>
              <a:t>调制为信号</a:t>
            </a:r>
            <a:r>
              <a:rPr lang="en-US" altLang="zh-CN" sz="1800" dirty="0" smtClean="0"/>
              <a:t>B′</a:t>
            </a:r>
            <a:r>
              <a:rPr lang="zh-CN" altLang="zh-CN" sz="1800" dirty="0" smtClean="0"/>
              <a:t>，</a:t>
            </a:r>
            <a:r>
              <a:rPr lang="zh-CN" altLang="zh-CN" sz="1800" dirty="0"/>
              <a:t>然后将它与另一路音频信号</a:t>
            </a:r>
            <a:r>
              <a:rPr lang="en-US" altLang="zh-CN" sz="1800" dirty="0"/>
              <a:t>A</a:t>
            </a:r>
            <a:r>
              <a:rPr lang="zh-CN" altLang="zh-CN" sz="1800" dirty="0"/>
              <a:t>叠加成为复合音频信号</a:t>
            </a:r>
            <a:r>
              <a:rPr lang="zh-CN" altLang="zh-CN" sz="1800" dirty="0" smtClean="0"/>
              <a:t>。</a:t>
            </a:r>
            <a:r>
              <a:rPr lang="zh-CN" altLang="zh-CN" sz="1800" dirty="0"/>
              <a:t>发送端</a:t>
            </a:r>
            <a:r>
              <a:rPr lang="zh-CN" altLang="zh-CN" sz="1800" dirty="0" smtClean="0"/>
              <a:t>用</a:t>
            </a:r>
            <a:r>
              <a:rPr lang="zh-CN" altLang="en-US" sz="1800" dirty="0" smtClean="0"/>
              <a:t>此</a:t>
            </a:r>
            <a:r>
              <a:rPr lang="zh-CN" altLang="zh-CN" sz="1800" dirty="0" smtClean="0"/>
              <a:t>复合</a:t>
            </a:r>
            <a:r>
              <a:rPr lang="zh-CN" altLang="zh-CN" sz="1800" dirty="0"/>
              <a:t>音频信号对主载波进行</a:t>
            </a:r>
            <a:r>
              <a:rPr lang="en-US" altLang="zh-CN" sz="1800" dirty="0"/>
              <a:t>FM</a:t>
            </a:r>
            <a:r>
              <a:rPr lang="zh-CN" altLang="zh-CN" sz="1800" dirty="0"/>
              <a:t>调制，就可以得到双路同传的已调波</a:t>
            </a:r>
            <a:r>
              <a:rPr lang="zh-CN" altLang="zh-CN" sz="1800" dirty="0" smtClean="0"/>
              <a:t>。</a:t>
            </a:r>
            <a:endParaRPr lang="en-US" altLang="zh-CN"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386383313"/>
              </p:ext>
            </p:extLst>
          </p:nvPr>
        </p:nvGraphicFramePr>
        <p:xfrm>
          <a:off x="2185245" y="2999232"/>
          <a:ext cx="7288288" cy="2912957"/>
        </p:xfrm>
        <a:graphic>
          <a:graphicData uri="http://schemas.openxmlformats.org/presentationml/2006/ole">
            <mc:AlternateContent xmlns:mc="http://schemas.openxmlformats.org/markup-compatibility/2006">
              <mc:Choice xmlns:v="urn:schemas-microsoft-com:vml" Requires="v">
                <p:oleObj spid="_x0000_s11417" name="Visio" r:id="rId3" imgW="4031855" imgH="1606466" progId="Visio.Drawing.15">
                  <p:embed/>
                </p:oleObj>
              </mc:Choice>
              <mc:Fallback>
                <p:oleObj name="Visio" r:id="rId3" imgW="4031855" imgH="1606466"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5245" y="2999232"/>
                        <a:ext cx="7288288" cy="2912957"/>
                      </a:xfrm>
                      <a:prstGeom prst="rect">
                        <a:avLst/>
                      </a:prstGeom>
                      <a:noFill/>
                    </p:spPr>
                  </p:pic>
                </p:oleObj>
              </mc:Fallback>
            </mc:AlternateContent>
          </a:graphicData>
        </a:graphic>
      </p:graphicFrame>
    </p:spTree>
    <p:extLst>
      <p:ext uri="{BB962C8B-B14F-4D97-AF65-F5344CB8AC3E}">
        <p14:creationId xmlns:p14="http://schemas.microsoft.com/office/powerpoint/2010/main" val="247482537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41</a:t>
            </a:fld>
            <a:endParaRPr lang="en-US" altLang="zh-CN"/>
          </a:p>
        </p:txBody>
      </p:sp>
      <p:sp>
        <p:nvSpPr>
          <p:cNvPr id="2" name="文本框 1"/>
          <p:cNvSpPr txBox="1"/>
          <p:nvPr/>
        </p:nvSpPr>
        <p:spPr>
          <a:xfrm>
            <a:off x="446227" y="516532"/>
            <a:ext cx="11272723" cy="2585323"/>
          </a:xfrm>
          <a:prstGeom prst="rect">
            <a:avLst/>
          </a:prstGeom>
          <a:noFill/>
        </p:spPr>
        <p:txBody>
          <a:bodyPr wrap="square" rtlCol="0">
            <a:spAutoFit/>
          </a:bodyPr>
          <a:lstStyle/>
          <a:p>
            <a:pPr indent="457200">
              <a:lnSpc>
                <a:spcPct val="150000"/>
              </a:lnSpc>
            </a:pPr>
            <a:r>
              <a:rPr lang="zh-CN" altLang="en-US" sz="1800" dirty="0"/>
              <a:t>接受端解调出此复合音频信号后，可以用滤波器分离两路信号，然后对</a:t>
            </a:r>
            <a:r>
              <a:rPr lang="en-US" altLang="zh-CN" sz="1800" dirty="0"/>
              <a:t>B</a:t>
            </a:r>
            <a:r>
              <a:rPr lang="zh-CN" altLang="en-US" sz="1800" dirty="0"/>
              <a:t>信号进行</a:t>
            </a:r>
            <a:r>
              <a:rPr lang="en-US" altLang="zh-CN" sz="1800" dirty="0"/>
              <a:t>AM</a:t>
            </a:r>
            <a:r>
              <a:rPr lang="zh-CN" altLang="en-US" sz="1800" dirty="0"/>
              <a:t>解调，就得到了原始的</a:t>
            </a:r>
            <a:r>
              <a:rPr lang="en-US" altLang="zh-CN" sz="1800" dirty="0"/>
              <a:t>2</a:t>
            </a:r>
            <a:r>
              <a:rPr lang="zh-CN" altLang="en-US" sz="1800" dirty="0"/>
              <a:t>路语音信号。</a:t>
            </a:r>
            <a:endParaRPr lang="en-US" altLang="zh-CN" sz="1800" dirty="0"/>
          </a:p>
          <a:p>
            <a:pPr indent="457200">
              <a:lnSpc>
                <a:spcPct val="150000"/>
              </a:lnSpc>
            </a:pPr>
            <a:r>
              <a:rPr lang="zh-CN" altLang="zh-CN" sz="1800" dirty="0" smtClean="0"/>
              <a:t>为了</a:t>
            </a:r>
            <a:r>
              <a:rPr lang="zh-CN" altLang="zh-CN" sz="1800" dirty="0"/>
              <a:t>解调时滤波方便，信号</a:t>
            </a:r>
            <a:r>
              <a:rPr lang="en-US" altLang="zh-CN" sz="1800" dirty="0" smtClean="0"/>
              <a:t>B′</a:t>
            </a:r>
            <a:r>
              <a:rPr lang="zh-CN" altLang="zh-CN" sz="1800" dirty="0" smtClean="0"/>
              <a:t>与</a:t>
            </a:r>
            <a:r>
              <a:rPr lang="zh-CN" altLang="zh-CN" sz="1800" dirty="0"/>
              <a:t>信号</a:t>
            </a:r>
            <a:r>
              <a:rPr lang="en-US" altLang="zh-CN" sz="1800" dirty="0"/>
              <a:t>A</a:t>
            </a:r>
            <a:r>
              <a:rPr lang="zh-CN" altLang="zh-CN" sz="1800" dirty="0"/>
              <a:t>之间应该保留一定的频率间隔。已知信号</a:t>
            </a:r>
            <a:r>
              <a:rPr lang="en-US" altLang="zh-CN" sz="1800" dirty="0"/>
              <a:t>A</a:t>
            </a:r>
            <a:r>
              <a:rPr lang="zh-CN" altLang="zh-CN" sz="1800" dirty="0"/>
              <a:t>与</a:t>
            </a:r>
            <a:r>
              <a:rPr lang="en-US" altLang="zh-CN" sz="1800" dirty="0"/>
              <a:t>B</a:t>
            </a:r>
            <a:r>
              <a:rPr lang="zh-CN" altLang="zh-CN" sz="1800" dirty="0"/>
              <a:t>的带宽均为</a:t>
            </a:r>
            <a:r>
              <a:rPr lang="en-US" altLang="zh-CN" sz="1800" dirty="0"/>
              <a:t>3400Hz</a:t>
            </a:r>
            <a:r>
              <a:rPr lang="zh-CN" altLang="zh-CN" sz="1800" dirty="0"/>
              <a:t>，因此副载频</a:t>
            </a:r>
            <a:r>
              <a:rPr lang="zh-CN" altLang="en-US" sz="1800" dirty="0"/>
              <a:t>至少</a:t>
            </a:r>
            <a:r>
              <a:rPr lang="zh-CN" altLang="zh-CN" sz="1800" dirty="0"/>
              <a:t>应该大于</a:t>
            </a:r>
            <a:r>
              <a:rPr lang="en-US" altLang="zh-CN" sz="1800" dirty="0"/>
              <a:t>3400Hz</a:t>
            </a:r>
            <a:r>
              <a:rPr lang="zh-CN" altLang="zh-CN" sz="1800" dirty="0"/>
              <a:t>的两倍</a:t>
            </a:r>
            <a:r>
              <a:rPr lang="zh-CN" altLang="en-US" sz="1800" dirty="0"/>
              <a:t>。</a:t>
            </a:r>
            <a:r>
              <a:rPr lang="zh-CN" altLang="zh-CN" sz="1800" dirty="0"/>
              <a:t>例如取副载频为</a:t>
            </a:r>
            <a:r>
              <a:rPr lang="en-US" altLang="zh-CN" sz="1800" dirty="0"/>
              <a:t>12kHz</a:t>
            </a:r>
            <a:r>
              <a:rPr lang="zh-CN" altLang="en-US" sz="1800" dirty="0"/>
              <a:t>左右</a:t>
            </a:r>
            <a:r>
              <a:rPr lang="zh-CN" altLang="zh-CN" sz="1800" dirty="0"/>
              <a:t>，此时复合信号的最高</a:t>
            </a:r>
            <a:r>
              <a:rPr lang="zh-CN" altLang="zh-CN" sz="1800" dirty="0" smtClean="0"/>
              <a:t>频率</a:t>
            </a:r>
            <a:r>
              <a:rPr lang="zh-CN" altLang="en-US" sz="1800" dirty="0" smtClean="0"/>
              <a:t>略大于</a:t>
            </a:r>
            <a:r>
              <a:rPr lang="en-US" altLang="zh-CN" sz="1800" dirty="0" smtClean="0"/>
              <a:t>15kHz</a:t>
            </a:r>
            <a:r>
              <a:rPr lang="zh-CN" altLang="en-US" sz="1800" dirty="0" smtClean="0"/>
              <a:t>，</a:t>
            </a:r>
            <a:r>
              <a:rPr lang="zh-CN" altLang="en-US" sz="1800" dirty="0"/>
              <a:t>两个信道之间的距离是</a:t>
            </a:r>
            <a:r>
              <a:rPr lang="en-US" altLang="zh-CN" sz="1800" dirty="0" smtClean="0"/>
              <a:t>5kHz</a:t>
            </a:r>
            <a:r>
              <a:rPr lang="zh-CN" altLang="en-US" sz="1800" dirty="0" smtClean="0"/>
              <a:t>左右。</a:t>
            </a:r>
            <a:endParaRPr lang="en-US" altLang="zh-CN" sz="1800" dirty="0" smtClean="0"/>
          </a:p>
          <a:p>
            <a:pPr indent="457200">
              <a:lnSpc>
                <a:spcPct val="150000"/>
              </a:lnSpc>
            </a:pPr>
            <a:r>
              <a:rPr lang="zh-CN" altLang="en-US" sz="1800" dirty="0"/>
              <a:t>为了避免两路信号的干扰，两路信号在相加之前均需通过滤波器限制其带宽</a:t>
            </a:r>
            <a:r>
              <a:rPr lang="zh-CN" altLang="en-US" sz="1800" dirty="0" smtClean="0"/>
              <a:t>。</a:t>
            </a:r>
            <a:endParaRPr lang="en-US" altLang="zh-CN" sz="1800" dirty="0"/>
          </a:p>
        </p:txBody>
      </p:sp>
      <p:pic>
        <p:nvPicPr>
          <p:cNvPr id="49" name="图片 48"/>
          <p:cNvPicPr>
            <a:picLocks noChangeAspect="1"/>
          </p:cNvPicPr>
          <p:nvPr/>
        </p:nvPicPr>
        <p:blipFill>
          <a:blip r:embed="rId2"/>
          <a:stretch>
            <a:fillRect/>
          </a:stretch>
        </p:blipFill>
        <p:spPr>
          <a:xfrm>
            <a:off x="2422498" y="3255518"/>
            <a:ext cx="6779125" cy="2801468"/>
          </a:xfrm>
          <a:prstGeom prst="rect">
            <a:avLst/>
          </a:prstGeom>
        </p:spPr>
      </p:pic>
    </p:spTree>
    <p:extLst>
      <p:ext uri="{BB962C8B-B14F-4D97-AF65-F5344CB8AC3E}">
        <p14:creationId xmlns:p14="http://schemas.microsoft.com/office/powerpoint/2010/main" val="380854241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42</a:t>
            </a:fld>
            <a:endParaRPr lang="en-US" altLang="zh-CN"/>
          </a:p>
        </p:txBody>
      </p:sp>
      <p:sp>
        <p:nvSpPr>
          <p:cNvPr id="2" name="文本框 1"/>
          <p:cNvSpPr txBox="1"/>
          <p:nvPr/>
        </p:nvSpPr>
        <p:spPr>
          <a:xfrm>
            <a:off x="446227" y="444713"/>
            <a:ext cx="11375358"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solidFill>
                  <a:srgbClr val="FF0000"/>
                </a:solidFill>
              </a:rPr>
              <a:t>副载波发生器与</a:t>
            </a:r>
            <a:r>
              <a:rPr lang="en-US" altLang="zh-CN" sz="1800" dirty="0">
                <a:solidFill>
                  <a:srgbClr val="FF0000"/>
                </a:solidFill>
              </a:rPr>
              <a:t>AM</a:t>
            </a:r>
            <a:r>
              <a:rPr lang="zh-CN" altLang="en-US" sz="1800" dirty="0">
                <a:solidFill>
                  <a:srgbClr val="FF0000"/>
                </a:solidFill>
              </a:rPr>
              <a:t>调制电路（信号</a:t>
            </a:r>
            <a:r>
              <a:rPr lang="en-US" altLang="zh-CN" sz="1800" dirty="0" smtClean="0">
                <a:solidFill>
                  <a:srgbClr val="FF0000"/>
                </a:solidFill>
              </a:rPr>
              <a:t>B′</a:t>
            </a:r>
            <a:r>
              <a:rPr lang="zh-CN" altLang="en-US" sz="1800" dirty="0" smtClean="0">
                <a:solidFill>
                  <a:srgbClr val="FF0000"/>
                </a:solidFill>
              </a:rPr>
              <a:t>）</a:t>
            </a:r>
            <a:endParaRPr lang="en-US" altLang="zh-CN" sz="1800" dirty="0">
              <a:solidFill>
                <a:srgbClr val="FF0000"/>
              </a:solidFill>
            </a:endParaRPr>
          </a:p>
          <a:p>
            <a:pPr indent="457200">
              <a:lnSpc>
                <a:spcPct val="150000"/>
              </a:lnSpc>
            </a:pPr>
            <a:r>
              <a:rPr lang="zh-CN" altLang="en-US" sz="1800" dirty="0"/>
              <a:t>副载波频率人为指定，必须大于两倍音频上限（</a:t>
            </a:r>
            <a:r>
              <a:rPr lang="en-US" altLang="zh-CN" sz="1800" dirty="0"/>
              <a:t>&gt;8kHz</a:t>
            </a:r>
            <a:r>
              <a:rPr lang="zh-CN" altLang="en-US" sz="1800" dirty="0"/>
              <a:t>，大些有利于后续的滤波器设计）。考虑到该频率的稳定性需求，</a:t>
            </a:r>
            <a:r>
              <a:rPr lang="zh-CN" altLang="en-US" sz="1800" dirty="0" smtClean="0"/>
              <a:t>可用</a:t>
            </a:r>
            <a:r>
              <a:rPr lang="zh-CN" altLang="en-US" sz="1800" dirty="0"/>
              <a:t>合适的晶体振荡器</a:t>
            </a:r>
            <a:r>
              <a:rPr lang="zh-CN" altLang="en-US" sz="1800" dirty="0" smtClean="0"/>
              <a:t>分频，</a:t>
            </a:r>
            <a:r>
              <a:rPr lang="zh-CN" altLang="en-US" sz="1800" dirty="0"/>
              <a:t>因此选择时要考虑容易得到该频率的晶振。常见的石英晶体最低频率大约为</a:t>
            </a:r>
            <a:r>
              <a:rPr lang="en-US" altLang="zh-CN" sz="1800" dirty="0"/>
              <a:t>3MHz</a:t>
            </a:r>
            <a:r>
              <a:rPr lang="zh-CN" altLang="en-US" sz="1800" dirty="0"/>
              <a:t>，所以一个可能的选择是选用</a:t>
            </a:r>
            <a:r>
              <a:rPr lang="en-US" altLang="zh-CN" sz="1800" dirty="0"/>
              <a:t>3.2MHz</a:t>
            </a:r>
            <a:r>
              <a:rPr lang="zh-CN" altLang="en-US" sz="1800" dirty="0"/>
              <a:t>的石英晶体，然后</a:t>
            </a:r>
            <a:r>
              <a:rPr lang="en-US" altLang="zh-CN" sz="1800" dirty="0"/>
              <a:t>256</a:t>
            </a:r>
            <a:r>
              <a:rPr lang="zh-CN" altLang="en-US" sz="1800" dirty="0"/>
              <a:t>分频，得到</a:t>
            </a:r>
            <a:r>
              <a:rPr lang="en-US" altLang="zh-CN" sz="1800" dirty="0"/>
              <a:t>12.5kHz</a:t>
            </a:r>
            <a:r>
              <a:rPr lang="zh-CN" altLang="en-US" sz="1800" dirty="0"/>
              <a:t>作为副载频。</a:t>
            </a:r>
            <a:endParaRPr lang="en-US" altLang="zh-CN" sz="1800" dirty="0"/>
          </a:p>
          <a:p>
            <a:pPr indent="457200">
              <a:lnSpc>
                <a:spcPct val="150000"/>
              </a:lnSpc>
            </a:pPr>
            <a:r>
              <a:rPr lang="zh-CN" altLang="en-US" sz="1800" dirty="0"/>
              <a:t>下图用</a:t>
            </a:r>
            <a:r>
              <a:rPr lang="en-US" altLang="zh-CN" sz="1800" dirty="0" smtClean="0"/>
              <a:t>HC4060</a:t>
            </a:r>
            <a:r>
              <a:rPr lang="zh-CN" altLang="en-US" sz="1800" dirty="0" smtClean="0"/>
              <a:t>（或</a:t>
            </a:r>
            <a:r>
              <a:rPr lang="en-US" altLang="zh-CN" sz="1800" dirty="0" smtClean="0"/>
              <a:t>CD4060</a:t>
            </a:r>
            <a:r>
              <a:rPr lang="zh-CN" altLang="en-US" sz="1800" dirty="0" smtClean="0"/>
              <a:t>）芯片</a:t>
            </a:r>
            <a:r>
              <a:rPr lang="zh-CN" altLang="en-US" sz="1800" dirty="0"/>
              <a:t>完成振荡与分频</a:t>
            </a:r>
            <a:r>
              <a:rPr lang="zh-CN" altLang="en-US" sz="1800" dirty="0" smtClean="0"/>
              <a:t>。</a:t>
            </a:r>
            <a:r>
              <a:rPr lang="en-US" altLang="zh-CN" sz="1800" dirty="0" smtClean="0"/>
              <a:t>4060</a:t>
            </a:r>
            <a:r>
              <a:rPr lang="zh-CN" altLang="en-US" sz="1800" dirty="0" smtClean="0"/>
              <a:t>是一个带晶体振荡器电路的</a:t>
            </a:r>
            <a:r>
              <a:rPr lang="en-US" altLang="zh-CN" sz="1800" dirty="0" smtClean="0"/>
              <a:t>14</a:t>
            </a:r>
            <a:r>
              <a:rPr lang="zh-CN" altLang="en-US" sz="1800" dirty="0" smtClean="0"/>
              <a:t>位二进制计数器，用来构成晶体振荡器同时对振荡频率分频电路。电路中从计数器的</a:t>
            </a:r>
            <a:r>
              <a:rPr lang="en-US" altLang="zh-CN" sz="1800" dirty="0" smtClean="0"/>
              <a:t>Q8</a:t>
            </a:r>
            <a:r>
              <a:rPr lang="zh-CN" altLang="en-US" sz="1800" dirty="0" smtClean="0"/>
              <a:t>输出就是</a:t>
            </a:r>
            <a:r>
              <a:rPr lang="en-US" altLang="zh-CN" sz="1800" dirty="0" smtClean="0"/>
              <a:t>256</a:t>
            </a:r>
            <a:r>
              <a:rPr lang="zh-CN" altLang="en-US" sz="1800" dirty="0" smtClean="0"/>
              <a:t>分频。</a:t>
            </a:r>
            <a:endParaRPr lang="zh-CN" altLang="en-US" sz="1800" dirty="0"/>
          </a:p>
        </p:txBody>
      </p:sp>
      <p:pic>
        <p:nvPicPr>
          <p:cNvPr id="6" name="图片 5"/>
          <p:cNvPicPr>
            <a:picLocks noChangeAspect="1"/>
          </p:cNvPicPr>
          <p:nvPr/>
        </p:nvPicPr>
        <p:blipFill>
          <a:blip r:embed="rId2"/>
          <a:stretch>
            <a:fillRect/>
          </a:stretch>
        </p:blipFill>
        <p:spPr>
          <a:xfrm>
            <a:off x="624417" y="3164431"/>
            <a:ext cx="5547896" cy="2643838"/>
          </a:xfrm>
          <a:prstGeom prst="rect">
            <a:avLst/>
          </a:prstGeom>
        </p:spPr>
      </p:pic>
      <p:sp>
        <p:nvSpPr>
          <p:cNvPr id="7" name="文本框 6"/>
          <p:cNvSpPr txBox="1"/>
          <p:nvPr/>
        </p:nvSpPr>
        <p:spPr>
          <a:xfrm>
            <a:off x="6386169" y="3030036"/>
            <a:ext cx="5332781" cy="3000821"/>
          </a:xfrm>
          <a:prstGeom prst="rect">
            <a:avLst/>
          </a:prstGeom>
          <a:noFill/>
        </p:spPr>
        <p:txBody>
          <a:bodyPr wrap="square" rtlCol="0">
            <a:spAutoFit/>
          </a:bodyPr>
          <a:lstStyle/>
          <a:p>
            <a:pPr indent="457200">
              <a:lnSpc>
                <a:spcPct val="150000"/>
              </a:lnSpc>
            </a:pPr>
            <a:r>
              <a:rPr lang="zh-CN" altLang="en-US" sz="1800" dirty="0" smtClean="0">
                <a:latin typeface="Times New Roman" panose="02020603050405020304" pitchFamily="18" charset="0"/>
                <a:ea typeface="楷体" panose="02010609060101010101" pitchFamily="49" charset="-122"/>
              </a:rPr>
              <a:t>关于低通滤波器的讨论：</a:t>
            </a:r>
            <a:endParaRPr lang="en-US" altLang="zh-CN" sz="1800" dirty="0" smtClean="0">
              <a:latin typeface="Times New Roman" panose="02020603050405020304" pitchFamily="18" charset="0"/>
              <a:ea typeface="楷体" panose="02010609060101010101" pitchFamily="49" charset="-122"/>
            </a:endParaRPr>
          </a:p>
          <a:p>
            <a:pPr indent="457200">
              <a:lnSpc>
                <a:spcPct val="150000"/>
              </a:lnSpc>
            </a:pPr>
            <a:r>
              <a:rPr lang="zh-CN" altLang="en-US" sz="1800" dirty="0" smtClean="0">
                <a:latin typeface="Times New Roman" panose="02020603050405020304" pitchFamily="18" charset="0"/>
                <a:ea typeface="楷体" panose="02010609060101010101" pitchFamily="49" charset="-122"/>
              </a:rPr>
              <a:t>方波只含奇次谐波。若低通滤波器的截止频率取为基频的</a:t>
            </a:r>
            <a:r>
              <a:rPr lang="en-US" altLang="zh-CN" sz="1800" dirty="0" smtClean="0">
                <a:latin typeface="Times New Roman" panose="02020603050405020304" pitchFamily="18" charset="0"/>
                <a:ea typeface="楷体" panose="02010609060101010101" pitchFamily="49" charset="-122"/>
              </a:rPr>
              <a:t>1.5</a:t>
            </a:r>
            <a:r>
              <a:rPr lang="zh-CN" altLang="en-US" sz="1800" dirty="0" smtClean="0">
                <a:latin typeface="Times New Roman" panose="02020603050405020304" pitchFamily="18" charset="0"/>
                <a:ea typeface="楷体" panose="02010609060101010101" pitchFamily="49" charset="-122"/>
              </a:rPr>
              <a:t>倍，且选用</a:t>
            </a:r>
            <a:r>
              <a:rPr lang="en-US" altLang="zh-CN" sz="1800" dirty="0" smtClean="0">
                <a:latin typeface="Times New Roman" panose="02020603050405020304" pitchFamily="18" charset="0"/>
                <a:ea typeface="楷体" panose="02010609060101010101" pitchFamily="49" charset="-122"/>
              </a:rPr>
              <a:t>4</a:t>
            </a:r>
            <a:r>
              <a:rPr lang="zh-CN" altLang="en-US" sz="1800" dirty="0" smtClean="0">
                <a:latin typeface="Times New Roman" panose="02020603050405020304" pitchFamily="18" charset="0"/>
                <a:ea typeface="楷体" panose="02010609060101010101" pitchFamily="49" charset="-122"/>
              </a:rPr>
              <a:t>阶滤波器，则方波中最低</a:t>
            </a:r>
            <a:r>
              <a:rPr lang="zh-CN" altLang="en-US" sz="1800" dirty="0">
                <a:latin typeface="Times New Roman" panose="02020603050405020304" pitchFamily="18" charset="0"/>
                <a:ea typeface="楷体" panose="02010609060101010101" pitchFamily="49" charset="-122"/>
              </a:rPr>
              <a:t>的</a:t>
            </a:r>
            <a:r>
              <a:rPr lang="en-US" altLang="zh-CN" sz="1800" dirty="0">
                <a:latin typeface="Times New Roman" panose="02020603050405020304" pitchFamily="18" charset="0"/>
                <a:ea typeface="楷体" panose="02010609060101010101" pitchFamily="49" charset="-122"/>
              </a:rPr>
              <a:t>3</a:t>
            </a:r>
            <a:r>
              <a:rPr lang="zh-CN" altLang="en-US" sz="1800" dirty="0">
                <a:latin typeface="Times New Roman" panose="02020603050405020304" pitchFamily="18" charset="0"/>
                <a:ea typeface="楷体" panose="02010609060101010101" pitchFamily="49" charset="-122"/>
              </a:rPr>
              <a:t>次</a:t>
            </a:r>
            <a:r>
              <a:rPr lang="zh-CN" altLang="en-US" sz="1800" dirty="0" smtClean="0">
                <a:latin typeface="Times New Roman" panose="02020603050405020304" pitchFamily="18" charset="0"/>
                <a:ea typeface="楷体" panose="02010609060101010101" pitchFamily="49" charset="-122"/>
              </a:rPr>
              <a:t>谐波分量被衰减</a:t>
            </a:r>
            <a:r>
              <a:rPr lang="en-US" altLang="zh-CN" sz="1800" dirty="0" smtClean="0">
                <a:latin typeface="Times New Roman" panose="02020603050405020304" pitchFamily="18" charset="0"/>
                <a:ea typeface="楷体" panose="02010609060101010101" pitchFamily="49" charset="-122"/>
              </a:rPr>
              <a:t>24dB</a:t>
            </a:r>
            <a:r>
              <a:rPr lang="zh-CN" altLang="en-US" sz="1800" dirty="0" smtClean="0">
                <a:latin typeface="Times New Roman" panose="02020603050405020304" pitchFamily="18" charset="0"/>
                <a:ea typeface="楷体" panose="02010609060101010101" pitchFamily="49" charset="-122"/>
              </a:rPr>
              <a:t>（</a:t>
            </a:r>
            <a:r>
              <a:rPr lang="en-US" altLang="zh-CN" sz="1800" dirty="0" smtClean="0">
                <a:latin typeface="Times New Roman" panose="02020603050405020304" pitchFamily="18" charset="0"/>
                <a:ea typeface="楷体" panose="02010609060101010101" pitchFamily="49" charset="-122"/>
              </a:rPr>
              <a:t>0.06</a:t>
            </a:r>
            <a:r>
              <a:rPr lang="zh-CN" altLang="en-US" sz="1800" dirty="0" smtClean="0">
                <a:latin typeface="Times New Roman" panose="02020603050405020304" pitchFamily="18" charset="0"/>
                <a:ea typeface="楷体" panose="02010609060101010101" pitchFamily="49" charset="-122"/>
              </a:rPr>
              <a:t>倍）。而方波中</a:t>
            </a:r>
            <a:r>
              <a:rPr lang="en-US" altLang="zh-CN" sz="1800" dirty="0" smtClean="0">
                <a:latin typeface="Times New Roman" panose="02020603050405020304" pitchFamily="18" charset="0"/>
                <a:ea typeface="楷体" panose="02010609060101010101" pitchFamily="49" charset="-122"/>
              </a:rPr>
              <a:t>3</a:t>
            </a:r>
            <a:r>
              <a:rPr lang="zh-CN" altLang="en-US" sz="1800" dirty="0" smtClean="0">
                <a:latin typeface="Times New Roman" panose="02020603050405020304" pitchFamily="18" charset="0"/>
                <a:ea typeface="楷体" panose="02010609060101010101" pitchFamily="49" charset="-122"/>
              </a:rPr>
              <a:t>次谐波分量为基波的</a:t>
            </a:r>
            <a:r>
              <a:rPr lang="en-US" altLang="zh-CN" sz="1800" dirty="0" smtClean="0">
                <a:latin typeface="Times New Roman" panose="02020603050405020304" pitchFamily="18" charset="0"/>
                <a:ea typeface="楷体" panose="02010609060101010101" pitchFamily="49" charset="-122"/>
              </a:rPr>
              <a:t>1/3</a:t>
            </a:r>
            <a:r>
              <a:rPr lang="zh-CN" altLang="en-US" sz="1800" dirty="0" smtClean="0">
                <a:latin typeface="Times New Roman" panose="02020603050405020304" pitchFamily="18" charset="0"/>
                <a:ea typeface="楷体" panose="02010609060101010101" pitchFamily="49" charset="-122"/>
              </a:rPr>
              <a:t>，所以滤波后的三次谐波分量为基波的</a:t>
            </a:r>
            <a:r>
              <a:rPr lang="en-US" altLang="zh-CN" sz="1800" dirty="0" smtClean="0">
                <a:latin typeface="Times New Roman" panose="02020603050405020304" pitchFamily="18" charset="0"/>
                <a:ea typeface="楷体" panose="02010609060101010101" pitchFamily="49" charset="-122"/>
              </a:rPr>
              <a:t>0.02</a:t>
            </a:r>
            <a:r>
              <a:rPr lang="zh-CN" altLang="en-US" sz="1800" dirty="0" smtClean="0">
                <a:latin typeface="Times New Roman" panose="02020603050405020304" pitchFamily="18" charset="0"/>
                <a:ea typeface="楷体" panose="02010609060101010101" pitchFamily="49" charset="-122"/>
              </a:rPr>
              <a:t>倍，其余高次谐波的成分更低，可以认为是较好的正弦波了。</a:t>
            </a:r>
            <a:endParaRPr lang="zh-CN" altLang="en-US" sz="18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92575516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p:nvPr/>
        </p:nvPicPr>
        <p:blipFill>
          <a:blip r:embed="rId2">
            <a:extLst>
              <a:ext uri="{28A0092B-C50C-407E-A947-70E740481C1C}">
                <a14:useLocalDpi xmlns:a14="http://schemas.microsoft.com/office/drawing/2010/main" val="0"/>
              </a:ext>
            </a:extLst>
          </a:blip>
          <a:srcRect/>
          <a:stretch>
            <a:fillRect/>
          </a:stretch>
        </p:blipFill>
        <p:spPr bwMode="auto">
          <a:xfrm>
            <a:off x="1272844" y="1561633"/>
            <a:ext cx="5165074" cy="3134726"/>
          </a:xfrm>
          <a:prstGeom prst="rect">
            <a:avLst/>
          </a:prstGeom>
          <a:noFill/>
        </p:spPr>
      </p:pic>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43</a:t>
            </a:fld>
            <a:endParaRPr lang="en-US" altLang="zh-CN">
              <a:solidFill>
                <a:srgbClr val="FFFFFF"/>
              </a:solidFill>
            </a:endParaRPr>
          </a:p>
        </p:txBody>
      </p:sp>
      <p:sp>
        <p:nvSpPr>
          <p:cNvPr id="5" name="文本框 4"/>
          <p:cNvSpPr txBox="1"/>
          <p:nvPr/>
        </p:nvSpPr>
        <p:spPr>
          <a:xfrm>
            <a:off x="416966" y="548641"/>
            <a:ext cx="11404619" cy="5586145"/>
          </a:xfrm>
          <a:prstGeom prst="rect">
            <a:avLst/>
          </a:prstGeom>
          <a:noFill/>
        </p:spPr>
        <p:txBody>
          <a:bodyPr wrap="square" rtlCol="0">
            <a:spAutoFit/>
          </a:bodyPr>
          <a:lstStyle/>
          <a:p>
            <a:pPr indent="457200">
              <a:lnSpc>
                <a:spcPct val="150000"/>
              </a:lnSpc>
            </a:pPr>
            <a:r>
              <a:rPr lang="en-US" altLang="zh-CN" sz="1800" dirty="0"/>
              <a:t>AM</a:t>
            </a:r>
            <a:r>
              <a:rPr lang="zh-CN" altLang="en-US" sz="1800" dirty="0"/>
              <a:t>调制器可以用调制解调芯片（例如</a:t>
            </a:r>
            <a:r>
              <a:rPr lang="en-US" altLang="zh-CN" sz="1800" dirty="0"/>
              <a:t>MC1496</a:t>
            </a:r>
            <a:r>
              <a:rPr lang="zh-CN" altLang="en-US" sz="1800" dirty="0"/>
              <a:t>）或乘法器（例如</a:t>
            </a:r>
            <a:r>
              <a:rPr lang="en-US" altLang="zh-CN" sz="1800" dirty="0"/>
              <a:t>AD835</a:t>
            </a:r>
            <a:r>
              <a:rPr lang="zh-CN" altLang="en-US" sz="1800" dirty="0"/>
              <a:t>）</a:t>
            </a:r>
          </a:p>
          <a:p>
            <a:pPr indent="457200">
              <a:lnSpc>
                <a:spcPct val="150000"/>
              </a:lnSpc>
            </a:pPr>
            <a:r>
              <a:rPr lang="zh-CN" altLang="en-US" sz="1800" dirty="0"/>
              <a:t>下图是</a:t>
            </a:r>
            <a:r>
              <a:rPr lang="en-US" altLang="zh-CN" sz="1800" dirty="0"/>
              <a:t>MC1496</a:t>
            </a:r>
            <a:r>
              <a:rPr lang="zh-CN" altLang="en-US" sz="1800" dirty="0"/>
              <a:t>手册上给出的混频应用电路与内部结构</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100" dirty="0" smtClean="0"/>
          </a:p>
          <a:p>
            <a:pPr indent="457200">
              <a:lnSpc>
                <a:spcPct val="150000"/>
              </a:lnSpc>
            </a:pPr>
            <a:endParaRPr lang="en-US" altLang="zh-CN" sz="1100" dirty="0"/>
          </a:p>
          <a:p>
            <a:pPr marL="285750" indent="-285750">
              <a:lnSpc>
                <a:spcPct val="150000"/>
              </a:lnSpc>
              <a:buFont typeface="Arial" panose="020B0604020202020204" pitchFamily="34" charset="0"/>
              <a:buChar char="•"/>
            </a:pPr>
            <a:r>
              <a:rPr lang="zh-CN" altLang="en-US" sz="1800" dirty="0" smtClean="0"/>
              <a:t>输入端（</a:t>
            </a:r>
            <a:r>
              <a:rPr lang="en-US" altLang="zh-CN" sz="1800" dirty="0" smtClean="0"/>
              <a:t>1</a:t>
            </a:r>
            <a:r>
              <a:rPr lang="zh-CN" altLang="en-US" sz="1800" dirty="0" smtClean="0"/>
              <a:t>、</a:t>
            </a:r>
            <a:r>
              <a:rPr lang="en-US" altLang="zh-CN" sz="1800" dirty="0" smtClean="0"/>
              <a:t>4</a:t>
            </a:r>
            <a:r>
              <a:rPr lang="zh-CN" altLang="en-US" sz="1800" dirty="0" smtClean="0"/>
              <a:t>、</a:t>
            </a:r>
            <a:r>
              <a:rPr lang="en-US" altLang="zh-CN" sz="1800" dirty="0" smtClean="0"/>
              <a:t>10</a:t>
            </a:r>
            <a:r>
              <a:rPr lang="zh-CN" altLang="en-US" sz="1800" dirty="0" smtClean="0"/>
              <a:t>、</a:t>
            </a:r>
            <a:r>
              <a:rPr lang="en-US" altLang="zh-CN" sz="1800" dirty="0" smtClean="0"/>
              <a:t>8</a:t>
            </a:r>
            <a:r>
              <a:rPr lang="zh-CN" altLang="en-US" sz="1800" dirty="0" smtClean="0"/>
              <a:t>各引脚）的</a:t>
            </a:r>
            <a:r>
              <a:rPr lang="en-US" altLang="zh-CN" sz="1800" dirty="0" smtClean="0"/>
              <a:t>51</a:t>
            </a:r>
            <a:r>
              <a:rPr lang="zh-CN" altLang="en-US" sz="1800" dirty="0"/>
              <a:t>欧</a:t>
            </a:r>
            <a:r>
              <a:rPr lang="zh-CN" altLang="en-US" sz="1800" dirty="0" smtClean="0"/>
              <a:t>电阻为射频</a:t>
            </a:r>
            <a:r>
              <a:rPr lang="zh-CN" altLang="en-US" sz="1800" dirty="0"/>
              <a:t>系统阻抗匹配用，本题频率很低，可改为其他合适</a:t>
            </a:r>
            <a:r>
              <a:rPr lang="zh-CN" altLang="en-US" sz="1800" dirty="0" smtClean="0"/>
              <a:t>阻值</a:t>
            </a:r>
            <a:endParaRPr lang="en-US" altLang="zh-CN" sz="1800" dirty="0" smtClean="0"/>
          </a:p>
          <a:p>
            <a:pPr marL="285750" indent="-285750">
              <a:lnSpc>
                <a:spcPct val="150000"/>
              </a:lnSpc>
              <a:buFont typeface="Arial" panose="020B0604020202020204" pitchFamily="34" charset="0"/>
              <a:buChar char="•"/>
            </a:pPr>
            <a:r>
              <a:rPr lang="zh-CN" altLang="en-US" sz="1800" dirty="0" smtClean="0"/>
              <a:t>输出端（</a:t>
            </a:r>
            <a:r>
              <a:rPr lang="en-US" altLang="zh-CN" sz="1800" dirty="0" smtClean="0"/>
              <a:t>6</a:t>
            </a:r>
            <a:r>
              <a:rPr lang="zh-CN" altLang="en-US" sz="1800" dirty="0" smtClean="0"/>
              <a:t>脚）后面的负载与</a:t>
            </a:r>
            <a:r>
              <a:rPr lang="en-US" altLang="zh-CN" sz="1800" dirty="0" smtClean="0"/>
              <a:t>LC</a:t>
            </a:r>
            <a:r>
              <a:rPr lang="zh-CN" altLang="en-US" sz="1800" dirty="0" smtClean="0"/>
              <a:t>阻抗</a:t>
            </a:r>
            <a:r>
              <a:rPr lang="zh-CN" altLang="en-US" sz="1800" dirty="0"/>
              <a:t>变换网络适合于</a:t>
            </a:r>
            <a:r>
              <a:rPr lang="zh-CN" altLang="en-US" sz="1800" dirty="0" smtClean="0"/>
              <a:t>射频（图中为</a:t>
            </a:r>
            <a:r>
              <a:rPr lang="en-US" altLang="zh-CN" sz="1800" dirty="0" smtClean="0"/>
              <a:t>9MHz</a:t>
            </a:r>
            <a:r>
              <a:rPr lang="zh-CN" altLang="en-US" sz="1800" dirty="0" smtClean="0"/>
              <a:t>），本题频率</a:t>
            </a:r>
            <a:r>
              <a:rPr lang="zh-CN" altLang="en-US" sz="1800" dirty="0"/>
              <a:t>很低，可直接输出至后续的有源</a:t>
            </a:r>
            <a:r>
              <a:rPr lang="zh-CN" altLang="en-US" sz="1800" dirty="0" smtClean="0"/>
              <a:t>滤波器</a:t>
            </a:r>
            <a:endParaRPr lang="en-US" altLang="zh-CN" sz="1800" dirty="0"/>
          </a:p>
        </p:txBody>
      </p:sp>
      <p:pic>
        <p:nvPicPr>
          <p:cNvPr id="7" name="图片 6"/>
          <p:cNvPicPr/>
          <p:nvPr/>
        </p:nvPicPr>
        <p:blipFill>
          <a:blip r:embed="rId3"/>
          <a:stretch>
            <a:fillRect/>
          </a:stretch>
        </p:blipFill>
        <p:spPr>
          <a:xfrm>
            <a:off x="6481413" y="1559234"/>
            <a:ext cx="4593681" cy="3137125"/>
          </a:xfrm>
          <a:prstGeom prst="rect">
            <a:avLst/>
          </a:prstGeom>
        </p:spPr>
      </p:pic>
      <p:sp>
        <p:nvSpPr>
          <p:cNvPr id="8" name="椭圆 7"/>
          <p:cNvSpPr/>
          <p:nvPr/>
        </p:nvSpPr>
        <p:spPr>
          <a:xfrm>
            <a:off x="3232808" y="3249663"/>
            <a:ext cx="482232" cy="6496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2750432" y="2290063"/>
            <a:ext cx="555296" cy="42774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931297" y="1559467"/>
            <a:ext cx="727687" cy="56555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3926774" y="3677125"/>
            <a:ext cx="831358" cy="3355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4272035" y="1962185"/>
            <a:ext cx="2209378" cy="234817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606704" y="3980010"/>
            <a:ext cx="1093326" cy="42774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514933" y="2080091"/>
            <a:ext cx="827011" cy="48403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2191668" y="3158223"/>
            <a:ext cx="482232" cy="6496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6131261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44</a:t>
            </a:fld>
            <a:endParaRPr lang="en-US" altLang="zh-CN">
              <a:solidFill>
                <a:srgbClr val="FFFFFF"/>
              </a:solidFill>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731566979"/>
              </p:ext>
            </p:extLst>
          </p:nvPr>
        </p:nvGraphicFramePr>
        <p:xfrm>
          <a:off x="2850132" y="3166850"/>
          <a:ext cx="3027597" cy="722407"/>
        </p:xfrm>
        <a:graphic>
          <a:graphicData uri="http://schemas.openxmlformats.org/presentationml/2006/ole">
            <mc:AlternateContent xmlns:mc="http://schemas.openxmlformats.org/markup-compatibility/2006">
              <mc:Choice xmlns:v="urn:schemas-microsoft-com:vml" Requires="v">
                <p:oleObj spid="_x0000_s16676" name="Equation" r:id="rId3" imgW="1612800" imgH="380880" progId="Equation.DSMT4">
                  <p:embed/>
                </p:oleObj>
              </mc:Choice>
              <mc:Fallback>
                <p:oleObj name="Equation" r:id="rId3" imgW="1612800" imgH="380880" progId="Equation.DSMT4">
                  <p:embed/>
                  <p:pic>
                    <p:nvPicPr>
                      <p:cNvPr id="0" name="Object 8"/>
                      <p:cNvPicPr>
                        <a:picLocks noChangeAspect="1" noChangeArrowheads="1"/>
                      </p:cNvPicPr>
                      <p:nvPr/>
                    </p:nvPicPr>
                    <p:blipFill>
                      <a:blip r:embed="rId4"/>
                      <a:srcRect/>
                      <a:stretch>
                        <a:fillRect/>
                      </a:stretch>
                    </p:blipFill>
                    <p:spPr bwMode="auto">
                      <a:xfrm>
                        <a:off x="2850132" y="3166850"/>
                        <a:ext cx="3027597" cy="722407"/>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2927159543"/>
              </p:ext>
            </p:extLst>
          </p:nvPr>
        </p:nvGraphicFramePr>
        <p:xfrm>
          <a:off x="2850132" y="1233975"/>
          <a:ext cx="1699460" cy="776896"/>
        </p:xfrm>
        <a:graphic>
          <a:graphicData uri="http://schemas.openxmlformats.org/presentationml/2006/ole">
            <mc:AlternateContent xmlns:mc="http://schemas.openxmlformats.org/markup-compatibility/2006">
              <mc:Choice xmlns:v="urn:schemas-microsoft-com:vml" Requires="v">
                <p:oleObj spid="_x0000_s16677" name="Equation" r:id="rId5" imgW="888614" imgH="406224" progId="Equation.DSMT4">
                  <p:embed/>
                </p:oleObj>
              </mc:Choice>
              <mc:Fallback>
                <p:oleObj name="Equation" r:id="rId5" imgW="888614" imgH="406224"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0132" y="1233975"/>
                        <a:ext cx="1699460" cy="776896"/>
                      </a:xfrm>
                      <a:prstGeom prst="rect">
                        <a:avLst/>
                      </a:prstGeom>
                      <a:noFill/>
                    </p:spPr>
                  </p:pic>
                </p:oleObj>
              </mc:Fallback>
            </mc:AlternateContent>
          </a:graphicData>
        </a:graphic>
      </p:graphicFrame>
      <p:sp>
        <p:nvSpPr>
          <p:cNvPr id="16" name="矩形 15"/>
          <p:cNvSpPr/>
          <p:nvPr/>
        </p:nvSpPr>
        <p:spPr>
          <a:xfrm>
            <a:off x="556177" y="473015"/>
            <a:ext cx="11265408" cy="5078313"/>
          </a:xfrm>
          <a:prstGeom prst="rect">
            <a:avLst/>
          </a:prstGeom>
        </p:spPr>
        <p:txBody>
          <a:bodyPr wrap="square">
            <a:spAutoFit/>
          </a:bodyPr>
          <a:lstStyle/>
          <a:p>
            <a:pPr indent="457200">
              <a:lnSpc>
                <a:spcPct val="150000"/>
              </a:lnSpc>
            </a:pPr>
            <a:r>
              <a:rPr lang="en-US" altLang="zh-CN" sz="1800" dirty="0" smtClean="0"/>
              <a:t>6.8k</a:t>
            </a:r>
            <a:r>
              <a:rPr lang="zh-CN" altLang="en-US" sz="1800" dirty="0"/>
              <a:t>电阻，决定静态偏置电流，</a:t>
            </a:r>
            <a:r>
              <a:rPr lang="zh-CN" altLang="en-US" sz="1800" dirty="0" smtClean="0"/>
              <a:t>可</a:t>
            </a:r>
            <a:r>
              <a:rPr lang="zh-CN" altLang="en-US" sz="1800" dirty="0"/>
              <a:t>根据需要</a:t>
            </a:r>
            <a:r>
              <a:rPr lang="zh-CN" altLang="en-US" sz="1800" dirty="0" smtClean="0"/>
              <a:t>改变</a:t>
            </a:r>
            <a:r>
              <a:rPr lang="zh-CN" altLang="en-US" sz="1800" dirty="0"/>
              <a:t>（上限</a:t>
            </a:r>
            <a:r>
              <a:rPr lang="en-US" altLang="zh-CN" sz="1800" dirty="0"/>
              <a:t>10mA</a:t>
            </a:r>
            <a:r>
              <a:rPr lang="zh-CN" altLang="en-US" sz="1800" dirty="0" smtClean="0"/>
              <a:t>）。记</a:t>
            </a:r>
            <a:r>
              <a:rPr lang="en-US" altLang="zh-CN" sz="1800" dirty="0" smtClean="0"/>
              <a:t>5</a:t>
            </a:r>
            <a:r>
              <a:rPr lang="zh-CN" altLang="en-US" sz="1800" dirty="0"/>
              <a:t>脚对地电阻（</a:t>
            </a:r>
            <a:r>
              <a:rPr lang="en-US" altLang="zh-CN" sz="1800" dirty="0"/>
              <a:t>6.8k</a:t>
            </a:r>
            <a:r>
              <a:rPr lang="zh-CN" altLang="en-US" sz="1800" dirty="0"/>
              <a:t>）为</a:t>
            </a:r>
            <a:r>
              <a:rPr lang="en-US" altLang="zh-CN" sz="1800" dirty="0"/>
              <a:t>R</a:t>
            </a:r>
            <a:r>
              <a:rPr lang="en-US" altLang="zh-CN" sz="1800" baseline="-25000" dirty="0"/>
              <a:t>5</a:t>
            </a:r>
            <a:r>
              <a:rPr lang="zh-CN" altLang="en-US" sz="1800" dirty="0" smtClean="0"/>
              <a:t>，则静态偏置电流为</a:t>
            </a:r>
            <a:endParaRPr lang="en-US" altLang="zh-CN" sz="1800" dirty="0"/>
          </a:p>
          <a:p>
            <a:pPr indent="457200">
              <a:lnSpc>
                <a:spcPct val="150000"/>
              </a:lnSpc>
            </a:pPr>
            <a:endParaRPr lang="en-US" altLang="zh-CN" sz="1800" dirty="0" smtClean="0"/>
          </a:p>
          <a:p>
            <a:pPr indent="457200">
              <a:lnSpc>
                <a:spcPct val="150000"/>
              </a:lnSpc>
            </a:pPr>
            <a:endParaRPr lang="en-US" altLang="zh-CN" sz="1800" dirty="0" smtClean="0"/>
          </a:p>
          <a:p>
            <a:pPr indent="457200">
              <a:lnSpc>
                <a:spcPct val="150000"/>
              </a:lnSpc>
            </a:pPr>
            <a:r>
              <a:rPr lang="en-US" altLang="zh-CN" sz="1800" dirty="0"/>
              <a:t>2~3</a:t>
            </a:r>
            <a:r>
              <a:rPr lang="zh-CN" altLang="en-US" sz="1800" dirty="0"/>
              <a:t>脚之间的电阻决定混频增益（图中短路），可根据需要</a:t>
            </a:r>
            <a:r>
              <a:rPr lang="zh-CN" altLang="en-US" sz="1800" dirty="0" smtClean="0"/>
              <a:t>改变。记</a:t>
            </a:r>
            <a:r>
              <a:rPr lang="en-US" altLang="zh-CN" sz="1800" dirty="0"/>
              <a:t>2~3</a:t>
            </a:r>
            <a:r>
              <a:rPr lang="zh-CN" altLang="en-US" sz="1800" dirty="0"/>
              <a:t>脚之间的电阻为</a:t>
            </a:r>
            <a:r>
              <a:rPr lang="en-US" altLang="zh-CN" sz="1800" dirty="0"/>
              <a:t>R</a:t>
            </a:r>
            <a:r>
              <a:rPr lang="en-US" altLang="zh-CN" sz="1800" baseline="-25000" dirty="0"/>
              <a:t>E</a:t>
            </a:r>
            <a:r>
              <a:rPr lang="zh-CN" altLang="en-US" sz="1800" dirty="0" smtClean="0"/>
              <a:t>，从</a:t>
            </a:r>
            <a:r>
              <a:rPr lang="en-US" altLang="zh-CN" sz="1800" dirty="0"/>
              <a:t>6</a:t>
            </a:r>
            <a:r>
              <a:rPr lang="zh-CN" altLang="en-US" sz="1800" dirty="0"/>
              <a:t>脚看出去的等效负载电阻为</a:t>
            </a:r>
            <a:r>
              <a:rPr lang="en-US" altLang="zh-CN" sz="1800" dirty="0"/>
              <a:t>R</a:t>
            </a:r>
            <a:r>
              <a:rPr lang="en-US" altLang="zh-CN" sz="1800" baseline="-25000" dirty="0"/>
              <a:t>L</a:t>
            </a:r>
            <a:r>
              <a:rPr lang="zh-CN" altLang="en-US" sz="1800" dirty="0"/>
              <a:t>，则混频</a:t>
            </a:r>
            <a:r>
              <a:rPr lang="zh-CN" altLang="en-US" sz="1800" dirty="0" smtClean="0"/>
              <a:t>增益为</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r>
              <a:rPr lang="en-US" altLang="zh-CN" sz="1800" dirty="0" smtClean="0"/>
              <a:t>VCC</a:t>
            </a:r>
            <a:r>
              <a:rPr lang="zh-CN" altLang="en-US" sz="1800" dirty="0"/>
              <a:t>与</a:t>
            </a:r>
            <a:r>
              <a:rPr lang="en-US" altLang="zh-CN" sz="1800" dirty="0"/>
              <a:t>VEE</a:t>
            </a:r>
            <a:r>
              <a:rPr lang="zh-CN" altLang="en-US" sz="1800" dirty="0"/>
              <a:t>，可根据整机的电源情况加以改变，</a:t>
            </a:r>
            <a:r>
              <a:rPr lang="zh-CN" altLang="zh-CN" sz="1800" dirty="0"/>
              <a:t>只要在设计时满足芯片内部所有的差分放大器有合理的偏置电压以及动态范围</a:t>
            </a:r>
            <a:r>
              <a:rPr lang="zh-CN" altLang="en-US" sz="1800" dirty="0"/>
              <a:t>即可</a:t>
            </a:r>
            <a:r>
              <a:rPr lang="zh-CN" altLang="zh-CN" sz="1800" dirty="0"/>
              <a:t>。具体地说，就是在设置电源与偏置时，必须满足内部晶体管均处于放大状态，即集电结始终保持反向偏置，发射结始终保持正向偏置</a:t>
            </a:r>
            <a:r>
              <a:rPr lang="zh-CN" altLang="en-US" sz="1800" dirty="0"/>
              <a:t>。</a:t>
            </a:r>
            <a:endParaRPr lang="en-US" altLang="zh-CN" sz="1800" dirty="0"/>
          </a:p>
        </p:txBody>
      </p:sp>
    </p:spTree>
    <p:extLst>
      <p:ext uri="{BB962C8B-B14F-4D97-AF65-F5344CB8AC3E}">
        <p14:creationId xmlns:p14="http://schemas.microsoft.com/office/powerpoint/2010/main" val="224301351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45</a:t>
            </a:fld>
            <a:endParaRPr lang="en-US" altLang="zh-CN">
              <a:solidFill>
                <a:srgbClr val="FFFFFF"/>
              </a:solidFill>
            </a:endParaRPr>
          </a:p>
        </p:txBody>
      </p:sp>
      <p:sp>
        <p:nvSpPr>
          <p:cNvPr id="6" name="文本框 5"/>
          <p:cNvSpPr txBox="1"/>
          <p:nvPr/>
        </p:nvSpPr>
        <p:spPr>
          <a:xfrm>
            <a:off x="409651" y="494454"/>
            <a:ext cx="11484864" cy="5724644"/>
          </a:xfrm>
          <a:prstGeom prst="rect">
            <a:avLst/>
          </a:prstGeom>
          <a:noFill/>
        </p:spPr>
        <p:txBody>
          <a:bodyPr wrap="square" rtlCol="0">
            <a:spAutoFit/>
          </a:bodyPr>
          <a:lstStyle/>
          <a:p>
            <a:pPr>
              <a:lnSpc>
                <a:spcPct val="150000"/>
              </a:lnSpc>
            </a:pPr>
            <a:r>
              <a:rPr lang="zh-CN" altLang="en-US" sz="1800" dirty="0"/>
              <a:t>乘法器电路</a:t>
            </a:r>
            <a:r>
              <a:rPr lang="en-US" altLang="zh-CN" sz="1800" dirty="0"/>
              <a:t>AD835</a:t>
            </a:r>
            <a:r>
              <a:rPr lang="zh-CN" altLang="zh-CN" sz="1800" dirty="0"/>
              <a:t>的结构框图和</a:t>
            </a:r>
            <a:r>
              <a:rPr lang="en-US" altLang="zh-CN" sz="1800" dirty="0"/>
              <a:t>AM</a:t>
            </a:r>
            <a:r>
              <a:rPr lang="zh-CN" altLang="zh-CN" sz="1800" dirty="0"/>
              <a:t>调制器电路</a:t>
            </a:r>
            <a:endParaRPr lang="en-US" altLang="zh-CN" sz="1800" dirty="0"/>
          </a:p>
          <a:p>
            <a:pPr>
              <a:lnSpc>
                <a:spcPct val="150000"/>
              </a:lnSpc>
            </a:pPr>
            <a:endParaRPr lang="en-US" altLang="zh-CN" sz="1800" dirty="0"/>
          </a:p>
          <a:p>
            <a:pPr>
              <a:lnSpc>
                <a:spcPct val="150000"/>
              </a:lnSpc>
            </a:pPr>
            <a:endParaRPr lang="en-US" altLang="zh-CN" sz="1800" dirty="0"/>
          </a:p>
          <a:p>
            <a:pPr>
              <a:lnSpc>
                <a:spcPct val="150000"/>
              </a:lnSpc>
            </a:pPr>
            <a:endParaRPr lang="en-US" altLang="zh-CN" sz="1800" dirty="0"/>
          </a:p>
          <a:p>
            <a:pPr>
              <a:lnSpc>
                <a:spcPct val="150000"/>
              </a:lnSpc>
            </a:pPr>
            <a:endParaRPr lang="en-US" altLang="zh-CN" sz="1800" dirty="0"/>
          </a:p>
          <a:p>
            <a:pPr>
              <a:lnSpc>
                <a:spcPct val="150000"/>
              </a:lnSpc>
            </a:pPr>
            <a:endParaRPr lang="en-US" altLang="zh-CN" sz="1800" dirty="0"/>
          </a:p>
          <a:p>
            <a:pPr>
              <a:lnSpc>
                <a:spcPct val="150000"/>
              </a:lnSpc>
            </a:pPr>
            <a:endParaRPr lang="en-US" altLang="zh-CN" sz="3200" dirty="0"/>
          </a:p>
          <a:p>
            <a:pPr>
              <a:lnSpc>
                <a:spcPct val="150000"/>
              </a:lnSpc>
            </a:pPr>
            <a:r>
              <a:rPr lang="zh-CN" altLang="en-US" sz="1800" dirty="0"/>
              <a:t>乘法器的输出：</a:t>
            </a:r>
            <a:endParaRPr lang="en-US" altLang="zh-CN" sz="1800" dirty="0"/>
          </a:p>
          <a:p>
            <a:pPr>
              <a:lnSpc>
                <a:spcPct val="150000"/>
              </a:lnSpc>
            </a:pPr>
            <a:endParaRPr lang="en-US" altLang="zh-CN" sz="1400" dirty="0" smtClean="0"/>
          </a:p>
          <a:p>
            <a:pPr>
              <a:lnSpc>
                <a:spcPct val="150000"/>
              </a:lnSpc>
            </a:pPr>
            <a:r>
              <a:rPr lang="en-US" altLang="zh-CN" sz="1800" dirty="0" smtClean="0"/>
              <a:t>AM</a:t>
            </a:r>
            <a:r>
              <a:rPr lang="zh-CN" altLang="en-US" sz="1800" dirty="0"/>
              <a:t>调制信号的表达式</a:t>
            </a:r>
            <a:endParaRPr lang="en-US" altLang="zh-CN" sz="1800" dirty="0"/>
          </a:p>
          <a:p>
            <a:pPr>
              <a:lnSpc>
                <a:spcPct val="150000"/>
              </a:lnSpc>
            </a:pPr>
            <a:r>
              <a:rPr lang="zh-CN" altLang="en-US" sz="1800" dirty="0" smtClean="0"/>
              <a:t>比较</a:t>
            </a:r>
            <a:r>
              <a:rPr lang="zh-CN" altLang="en-US" sz="1800" dirty="0"/>
              <a:t>上述两式，得到下面结论：</a:t>
            </a:r>
            <a:endParaRPr lang="zh-CN" altLang="zh-CN" sz="1800" dirty="0"/>
          </a:p>
          <a:p>
            <a:pPr>
              <a:lnSpc>
                <a:spcPct val="150000"/>
              </a:lnSpc>
            </a:pPr>
            <a:r>
              <a:rPr lang="zh-CN" altLang="zh-CN" sz="1800" dirty="0"/>
              <a:t>输出</a:t>
            </a:r>
            <a:r>
              <a:rPr lang="en-US" altLang="zh-CN" sz="1800" dirty="0"/>
              <a:t>AM</a:t>
            </a:r>
            <a:r>
              <a:rPr lang="zh-CN" altLang="zh-CN" sz="1800" dirty="0"/>
              <a:t>信号的调制度</a:t>
            </a:r>
            <a:r>
              <a:rPr lang="en-US" altLang="zh-CN" sz="1800" dirty="0"/>
              <a:t>                         </a:t>
            </a:r>
            <a:r>
              <a:rPr lang="zh-CN" altLang="en-US" sz="1800" dirty="0"/>
              <a:t>，</a:t>
            </a:r>
            <a:r>
              <a:rPr lang="zh-CN" altLang="zh-CN" sz="1800" dirty="0" smtClean="0"/>
              <a:t>即</a:t>
            </a:r>
            <a:r>
              <a:rPr lang="en-US" altLang="zh-CN" sz="1800" dirty="0" smtClean="0"/>
              <a:t> </a:t>
            </a:r>
            <a:r>
              <a:rPr lang="en-US" altLang="zh-CN" sz="1800" i="1" dirty="0" smtClean="0"/>
              <a:t>m</a:t>
            </a:r>
            <a:r>
              <a:rPr lang="en-US" altLang="zh-CN" sz="1800" i="1" baseline="-25000" dirty="0" smtClean="0"/>
              <a:t>a </a:t>
            </a:r>
            <a:r>
              <a:rPr lang="zh-CN" altLang="zh-CN" sz="1800" dirty="0" smtClean="0"/>
              <a:t>就是以</a:t>
            </a:r>
            <a:r>
              <a:rPr lang="en-US" altLang="zh-CN" sz="1800" dirty="0" smtClean="0"/>
              <a:t> V </a:t>
            </a:r>
            <a:r>
              <a:rPr lang="zh-CN" altLang="zh-CN" sz="1800" dirty="0" smtClean="0"/>
              <a:t>为</a:t>
            </a:r>
            <a:r>
              <a:rPr lang="zh-CN" altLang="zh-CN" sz="1800" dirty="0"/>
              <a:t>单位的调制</a:t>
            </a:r>
            <a:r>
              <a:rPr lang="zh-CN" altLang="zh-CN" sz="1800" dirty="0" smtClean="0"/>
              <a:t>信号</a:t>
            </a:r>
            <a:r>
              <a:rPr lang="en-US" altLang="zh-CN" sz="1800" i="1" dirty="0" smtClean="0"/>
              <a:t>V</a:t>
            </a:r>
            <a:r>
              <a:rPr lang="en-US" altLang="zh-CN" sz="1800" i="1" baseline="-25000" dirty="0" smtClean="0"/>
              <a:t>X </a:t>
            </a:r>
            <a:r>
              <a:rPr lang="zh-CN" altLang="zh-CN" sz="1800" dirty="0" smtClean="0"/>
              <a:t>幅度</a:t>
            </a:r>
            <a:r>
              <a:rPr lang="zh-CN" altLang="en-US" sz="1800" dirty="0" smtClean="0"/>
              <a:t>，</a:t>
            </a:r>
            <a:r>
              <a:rPr lang="zh-CN" altLang="zh-CN" sz="1800" dirty="0" smtClean="0"/>
              <a:t>此</a:t>
            </a:r>
            <a:r>
              <a:rPr lang="zh-CN" altLang="zh-CN" sz="1800" dirty="0"/>
              <a:t>调制度与载波信号的幅度无关</a:t>
            </a:r>
            <a:r>
              <a:rPr lang="zh-CN" altLang="zh-CN" sz="1800" dirty="0" smtClean="0"/>
              <a:t>。</a:t>
            </a:r>
            <a:r>
              <a:rPr lang="zh-CN" altLang="en-US" sz="1800" dirty="0" smtClean="0"/>
              <a:t>但须注意，</a:t>
            </a:r>
            <a:r>
              <a:rPr lang="en-US" altLang="zh-CN" sz="1800" dirty="0" smtClean="0"/>
              <a:t>AD835</a:t>
            </a:r>
            <a:r>
              <a:rPr lang="zh-CN" altLang="en-US" sz="1800" dirty="0" smtClean="0"/>
              <a:t>在电源电压为</a:t>
            </a:r>
            <a:r>
              <a:rPr lang="en-US" altLang="zh-CN" sz="1800" dirty="0" smtClean="0">
                <a:latin typeface="Times New Roman" panose="02020603050405020304" pitchFamily="18" charset="0"/>
                <a:cs typeface="Times New Roman" panose="02020603050405020304" pitchFamily="18" charset="0"/>
              </a:rPr>
              <a:t>±5V</a:t>
            </a:r>
            <a:r>
              <a:rPr lang="zh-CN" altLang="en-US" sz="1800" dirty="0" smtClean="0">
                <a:latin typeface="Times New Roman" panose="02020603050405020304" pitchFamily="18" charset="0"/>
                <a:cs typeface="Times New Roman" panose="02020603050405020304" pitchFamily="18" charset="0"/>
              </a:rPr>
              <a:t>时两个输入电压幅度均不能超过</a:t>
            </a:r>
            <a:r>
              <a:rPr lang="en-US" altLang="zh-CN" sz="1800" dirty="0" smtClean="0">
                <a:latin typeface="Times New Roman" panose="02020603050405020304" pitchFamily="18" charset="0"/>
                <a:cs typeface="Times New Roman" panose="02020603050405020304" pitchFamily="18" charset="0"/>
              </a:rPr>
              <a:t>1V</a:t>
            </a:r>
            <a:r>
              <a:rPr lang="zh-CN" altLang="en-US" sz="1800" dirty="0" smtClean="0">
                <a:latin typeface="Times New Roman" panose="02020603050405020304" pitchFamily="18" charset="0"/>
                <a:cs typeface="Times New Roman" panose="02020603050405020304" pitchFamily="18" charset="0"/>
              </a:rPr>
              <a:t>。</a:t>
            </a:r>
            <a:endParaRPr lang="zh-CN" altLang="en-US" sz="1400" dirty="0"/>
          </a:p>
        </p:txBody>
      </p:sp>
      <p:graphicFrame>
        <p:nvGraphicFramePr>
          <p:cNvPr id="8" name="对象 7"/>
          <p:cNvGraphicFramePr>
            <a:graphicFrameLocks noChangeAspect="1"/>
          </p:cNvGraphicFramePr>
          <p:nvPr>
            <p:extLst>
              <p:ext uri="{D42A27DB-BD31-4B8C-83A1-F6EECF244321}">
                <p14:modId xmlns:p14="http://schemas.microsoft.com/office/powerpoint/2010/main" val="3453061628"/>
              </p:ext>
            </p:extLst>
          </p:nvPr>
        </p:nvGraphicFramePr>
        <p:xfrm>
          <a:off x="1992313" y="710050"/>
          <a:ext cx="8219972" cy="3031957"/>
        </p:xfrm>
        <a:graphic>
          <a:graphicData uri="http://schemas.openxmlformats.org/presentationml/2006/ole">
            <mc:AlternateContent xmlns:mc="http://schemas.openxmlformats.org/markup-compatibility/2006">
              <mc:Choice xmlns:v="urn:schemas-microsoft-com:vml" Requires="v">
                <p:oleObj spid="_x0000_s17985" name="Visio" r:id="rId3" imgW="5740331" imgH="2120758" progId="Visio.Drawing.15">
                  <p:embed/>
                </p:oleObj>
              </mc:Choice>
              <mc:Fallback>
                <p:oleObj name="Visio" r:id="rId3" imgW="5740331" imgH="2120758"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2313" y="710050"/>
                        <a:ext cx="8219972" cy="3031957"/>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819216260"/>
              </p:ext>
            </p:extLst>
          </p:nvPr>
        </p:nvGraphicFramePr>
        <p:xfrm>
          <a:off x="2101037" y="3747304"/>
          <a:ext cx="8555038" cy="598488"/>
        </p:xfrm>
        <a:graphic>
          <a:graphicData uri="http://schemas.openxmlformats.org/presentationml/2006/ole">
            <mc:AlternateContent xmlns:mc="http://schemas.openxmlformats.org/markup-compatibility/2006">
              <mc:Choice xmlns:v="urn:schemas-microsoft-com:vml" Requires="v">
                <p:oleObj spid="_x0000_s17986" name="Equation" r:id="rId5" imgW="5194080" imgH="355320" progId="Equation.DSMT4">
                  <p:embed/>
                </p:oleObj>
              </mc:Choice>
              <mc:Fallback>
                <p:oleObj name="Equation" r:id="rId5" imgW="5194080" imgH="355320" progId="Equation.DSMT4">
                  <p:embed/>
                  <p:pic>
                    <p:nvPicPr>
                      <p:cNvPr id="0" name="Object 3"/>
                      <p:cNvPicPr>
                        <a:picLocks noChangeAspect="1" noChangeArrowheads="1"/>
                      </p:cNvPicPr>
                      <p:nvPr/>
                    </p:nvPicPr>
                    <p:blipFill>
                      <a:blip r:embed="rId6"/>
                      <a:srcRect/>
                      <a:stretch>
                        <a:fillRect/>
                      </a:stretch>
                    </p:blipFill>
                    <p:spPr bwMode="auto">
                      <a:xfrm>
                        <a:off x="2101037" y="3747304"/>
                        <a:ext cx="8555038" cy="598488"/>
                      </a:xfrm>
                      <a:prstGeom prst="rect">
                        <a:avLst/>
                      </a:prstGeom>
                      <a:noFill/>
                    </p:spPr>
                  </p:pic>
                </p:oleObj>
              </mc:Fallback>
            </mc:AlternateContent>
          </a:graphicData>
        </a:graphic>
      </p:graphicFrame>
      <p:sp>
        <p:nvSpPr>
          <p:cNvPr id="11" name="文本框 10"/>
          <p:cNvSpPr txBox="1"/>
          <p:nvPr/>
        </p:nvSpPr>
        <p:spPr>
          <a:xfrm>
            <a:off x="8570118" y="2421423"/>
            <a:ext cx="1731119" cy="954107"/>
          </a:xfrm>
          <a:prstGeom prst="rect">
            <a:avLst/>
          </a:prstGeom>
          <a:noFill/>
        </p:spPr>
        <p:txBody>
          <a:bodyPr wrap="square" rtlCol="0">
            <a:spAutoFit/>
          </a:bodyPr>
          <a:lstStyle/>
          <a:p>
            <a:r>
              <a:rPr lang="zh-CN" altLang="en-US" sz="1400" dirty="0"/>
              <a:t>注：</a:t>
            </a:r>
            <a:r>
              <a:rPr lang="en-US" altLang="zh-CN" sz="1400" dirty="0"/>
              <a:t>50</a:t>
            </a:r>
            <a:r>
              <a:rPr lang="zh-CN" altLang="en-US" sz="1400" dirty="0"/>
              <a:t>欧电阻为阻抗匹配电阻，在本题中可根据实际情况加以修改</a:t>
            </a:r>
          </a:p>
        </p:txBody>
      </p:sp>
      <p:graphicFrame>
        <p:nvGraphicFramePr>
          <p:cNvPr id="19" name="对象 18"/>
          <p:cNvGraphicFramePr>
            <a:graphicFrameLocks noChangeAspect="1"/>
          </p:cNvGraphicFramePr>
          <p:nvPr>
            <p:extLst>
              <p:ext uri="{D42A27DB-BD31-4B8C-83A1-F6EECF244321}">
                <p14:modId xmlns:p14="http://schemas.microsoft.com/office/powerpoint/2010/main" val="2931933691"/>
              </p:ext>
            </p:extLst>
          </p:nvPr>
        </p:nvGraphicFramePr>
        <p:xfrm>
          <a:off x="2820353" y="4498556"/>
          <a:ext cx="7629525" cy="382588"/>
        </p:xfrm>
        <a:graphic>
          <a:graphicData uri="http://schemas.openxmlformats.org/presentationml/2006/ole">
            <mc:AlternateContent xmlns:mc="http://schemas.openxmlformats.org/markup-compatibility/2006">
              <mc:Choice xmlns:v="urn:schemas-microsoft-com:vml" Requires="v">
                <p:oleObj spid="_x0000_s17987" name="Equation" r:id="rId7" imgW="4063680" imgH="203040" progId="Equation.DSMT4">
                  <p:embed/>
                </p:oleObj>
              </mc:Choice>
              <mc:Fallback>
                <p:oleObj name="Equation" r:id="rId7" imgW="4063680" imgH="203040" progId="Equation.DSMT4">
                  <p:embed/>
                  <p:pic>
                    <p:nvPicPr>
                      <p:cNvPr id="0" name="Object 13"/>
                      <p:cNvPicPr>
                        <a:picLocks noChangeAspect="1" noChangeArrowheads="1"/>
                      </p:cNvPicPr>
                      <p:nvPr/>
                    </p:nvPicPr>
                    <p:blipFill>
                      <a:blip r:embed="rId8"/>
                      <a:srcRect/>
                      <a:stretch>
                        <a:fillRect/>
                      </a:stretch>
                    </p:blipFill>
                    <p:spPr bwMode="auto">
                      <a:xfrm>
                        <a:off x="2820353" y="4498556"/>
                        <a:ext cx="7629525" cy="382588"/>
                      </a:xfrm>
                      <a:prstGeom prst="rect">
                        <a:avLst/>
                      </a:prstGeom>
                      <a:noFill/>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85691934"/>
              </p:ext>
            </p:extLst>
          </p:nvPr>
        </p:nvGraphicFramePr>
        <p:xfrm>
          <a:off x="2733303" y="5358899"/>
          <a:ext cx="1471828" cy="382444"/>
        </p:xfrm>
        <a:graphic>
          <a:graphicData uri="http://schemas.openxmlformats.org/presentationml/2006/ole">
            <mc:AlternateContent xmlns:mc="http://schemas.openxmlformats.org/markup-compatibility/2006">
              <mc:Choice xmlns:v="urn:schemas-microsoft-com:vml" Requires="v">
                <p:oleObj spid="_x0000_s17988" name="Equation" r:id="rId9" imgW="774364" imgH="203112" progId="Equation.DSMT4">
                  <p:embed/>
                </p:oleObj>
              </mc:Choice>
              <mc:Fallback>
                <p:oleObj name="Equation" r:id="rId9" imgW="774364" imgH="203112" progId="Equation.DSMT4">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33303" y="5358899"/>
                        <a:ext cx="1471828" cy="382444"/>
                      </a:xfrm>
                      <a:prstGeom prst="rect">
                        <a:avLst/>
                      </a:prstGeom>
                      <a:noFill/>
                    </p:spPr>
                  </p:pic>
                </p:oleObj>
              </mc:Fallback>
            </mc:AlternateContent>
          </a:graphicData>
        </a:graphic>
      </p:graphicFrame>
    </p:spTree>
    <p:extLst>
      <p:ext uri="{BB962C8B-B14F-4D97-AF65-F5344CB8AC3E}">
        <p14:creationId xmlns:p14="http://schemas.microsoft.com/office/powerpoint/2010/main" val="300480319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46</a:t>
            </a:fld>
            <a:endParaRPr lang="en-US" altLang="zh-CN">
              <a:solidFill>
                <a:srgbClr val="FFFFFF"/>
              </a:solidFill>
            </a:endParaRPr>
          </a:p>
        </p:txBody>
      </p:sp>
      <p:sp>
        <p:nvSpPr>
          <p:cNvPr id="5" name="文本框 4"/>
          <p:cNvSpPr txBox="1"/>
          <p:nvPr/>
        </p:nvSpPr>
        <p:spPr>
          <a:xfrm>
            <a:off x="446227" y="514774"/>
            <a:ext cx="11375357" cy="2585323"/>
          </a:xfrm>
          <a:prstGeom prst="rect">
            <a:avLst/>
          </a:prstGeom>
          <a:noFill/>
        </p:spPr>
        <p:txBody>
          <a:bodyPr wrap="square" rtlCol="0">
            <a:spAutoFit/>
          </a:bodyPr>
          <a:lstStyle/>
          <a:p>
            <a:pPr>
              <a:lnSpc>
                <a:spcPct val="150000"/>
              </a:lnSpc>
            </a:pPr>
            <a:r>
              <a:rPr lang="zh-CN" altLang="en-US" sz="1800" dirty="0"/>
              <a:t>关于</a:t>
            </a:r>
            <a:r>
              <a:rPr lang="en-US" altLang="zh-CN" sz="1800" dirty="0"/>
              <a:t>AM</a:t>
            </a:r>
            <a:r>
              <a:rPr lang="zh-CN" altLang="en-US" sz="1800" dirty="0"/>
              <a:t>调制的调制度</a:t>
            </a:r>
            <a:endParaRPr lang="en-US" altLang="zh-CN" sz="1800" dirty="0"/>
          </a:p>
          <a:p>
            <a:pPr indent="457200">
              <a:lnSpc>
                <a:spcPct val="150000"/>
              </a:lnSpc>
            </a:pPr>
            <a:r>
              <a:rPr lang="zh-CN" altLang="en-US" sz="1800" dirty="0"/>
              <a:t>由于在接收部分采用简单的二极管大信号检波方式解调（最简单），所以在发射端必须控制</a:t>
            </a:r>
            <a:r>
              <a:rPr lang="en-US" altLang="zh-CN" sz="1800" dirty="0"/>
              <a:t>AM</a:t>
            </a:r>
            <a:r>
              <a:rPr lang="zh-CN" altLang="en-US" sz="1800" dirty="0"/>
              <a:t>信号的调制度</a:t>
            </a:r>
            <a:r>
              <a:rPr lang="en-US" altLang="zh-CN" sz="1800" dirty="0"/>
              <a:t>m</a:t>
            </a:r>
            <a:r>
              <a:rPr lang="en-US" altLang="zh-CN" sz="1800" baseline="-25000" dirty="0"/>
              <a:t>a</a:t>
            </a:r>
            <a:r>
              <a:rPr lang="zh-CN" altLang="en-US" sz="1800" dirty="0"/>
              <a:t>。</a:t>
            </a:r>
            <a:endParaRPr lang="en-US" altLang="zh-CN" sz="1800" dirty="0"/>
          </a:p>
          <a:p>
            <a:pPr indent="457200">
              <a:lnSpc>
                <a:spcPct val="150000"/>
              </a:lnSpc>
            </a:pPr>
            <a:r>
              <a:rPr lang="zh-CN" altLang="en-US" sz="1800" dirty="0"/>
              <a:t>在商业广播电台中，通常令</a:t>
            </a:r>
            <a:r>
              <a:rPr lang="en-US" altLang="zh-CN" sz="1800" dirty="0"/>
              <a:t>m</a:t>
            </a:r>
            <a:r>
              <a:rPr lang="en-US" altLang="zh-CN" sz="1800" baseline="-25000" dirty="0"/>
              <a:t>a</a:t>
            </a:r>
            <a:r>
              <a:rPr lang="en-US" altLang="zh-CN" sz="1800" dirty="0"/>
              <a:t>=0.3</a:t>
            </a:r>
            <a:r>
              <a:rPr lang="zh-CN" altLang="en-US" sz="1800" dirty="0"/>
              <a:t>。在本题中可将</a:t>
            </a:r>
            <a:r>
              <a:rPr lang="en-US" altLang="zh-CN" sz="1800" dirty="0"/>
              <a:t>m</a:t>
            </a:r>
            <a:r>
              <a:rPr lang="en-US" altLang="zh-CN" sz="1800" baseline="-25000" dirty="0"/>
              <a:t>a</a:t>
            </a:r>
            <a:r>
              <a:rPr lang="zh-CN" altLang="en-US" sz="1800" dirty="0"/>
              <a:t>控制在</a:t>
            </a:r>
            <a:r>
              <a:rPr lang="en-US" altLang="zh-CN" sz="1800" dirty="0"/>
              <a:t>0.3~0.5</a:t>
            </a:r>
            <a:r>
              <a:rPr lang="zh-CN" altLang="en-US" sz="1800" dirty="0"/>
              <a:t>。</a:t>
            </a:r>
            <a:endParaRPr lang="en-US" altLang="zh-CN" sz="1800" dirty="0"/>
          </a:p>
          <a:p>
            <a:pPr indent="457200">
              <a:lnSpc>
                <a:spcPct val="150000"/>
              </a:lnSpc>
            </a:pPr>
            <a:r>
              <a:rPr lang="zh-CN" altLang="en-US" sz="1800" dirty="0"/>
              <a:t>采用</a:t>
            </a:r>
            <a:r>
              <a:rPr lang="en-US" altLang="zh-CN" sz="1800" dirty="0"/>
              <a:t>MC1496</a:t>
            </a:r>
            <a:r>
              <a:rPr lang="zh-CN" altLang="en-US" sz="1800" dirty="0"/>
              <a:t>芯片时，通过调节 </a:t>
            </a:r>
            <a:r>
              <a:rPr lang="en-US" altLang="zh-CN" sz="1800" dirty="0"/>
              <a:t>null adjust </a:t>
            </a:r>
            <a:r>
              <a:rPr lang="zh-CN" altLang="en-US" sz="1800" dirty="0"/>
              <a:t>电位器改变载波幅度来调节调制度。采用</a:t>
            </a:r>
            <a:r>
              <a:rPr lang="en-US" altLang="zh-CN" sz="1800" dirty="0"/>
              <a:t>AD835</a:t>
            </a:r>
            <a:r>
              <a:rPr lang="zh-CN" altLang="en-US" sz="1800" dirty="0"/>
              <a:t>芯片时，直接通过</a:t>
            </a:r>
            <a:r>
              <a:rPr lang="zh-CN" altLang="en-US" sz="1800" dirty="0" smtClean="0"/>
              <a:t>改变调制信号幅度</a:t>
            </a:r>
            <a:r>
              <a:rPr lang="zh-CN" altLang="en-US" sz="1800" dirty="0"/>
              <a:t>来调节调制度（可以</a:t>
            </a:r>
            <a:r>
              <a:rPr lang="zh-CN" altLang="en-US" sz="1800" dirty="0" smtClean="0"/>
              <a:t>在调制信号输入</a:t>
            </a:r>
            <a:r>
              <a:rPr lang="zh-CN" altLang="en-US" sz="1800" dirty="0"/>
              <a:t>处增加一个电位器）。</a:t>
            </a:r>
          </a:p>
        </p:txBody>
      </p:sp>
      <p:pic>
        <p:nvPicPr>
          <p:cNvPr id="6" name="图片 5"/>
          <p:cNvPicPr>
            <a:picLocks noChangeAspect="1"/>
          </p:cNvPicPr>
          <p:nvPr/>
        </p:nvPicPr>
        <p:blipFill>
          <a:blip r:embed="rId2"/>
          <a:stretch>
            <a:fillRect/>
          </a:stretch>
        </p:blipFill>
        <p:spPr>
          <a:xfrm>
            <a:off x="3845039" y="3346027"/>
            <a:ext cx="3947259" cy="2160482"/>
          </a:xfrm>
          <a:prstGeom prst="rect">
            <a:avLst/>
          </a:prstGeom>
        </p:spPr>
      </p:pic>
    </p:spTree>
    <p:extLst>
      <p:ext uri="{BB962C8B-B14F-4D97-AF65-F5344CB8AC3E}">
        <p14:creationId xmlns:p14="http://schemas.microsoft.com/office/powerpoint/2010/main" val="412330073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47</a:t>
            </a:fld>
            <a:endParaRPr lang="en-US" altLang="zh-CN"/>
          </a:p>
        </p:txBody>
      </p:sp>
      <p:sp>
        <p:nvSpPr>
          <p:cNvPr id="2" name="文本框 1"/>
          <p:cNvSpPr txBox="1"/>
          <p:nvPr/>
        </p:nvSpPr>
        <p:spPr>
          <a:xfrm>
            <a:off x="460858" y="444714"/>
            <a:ext cx="11360727" cy="590931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solidFill>
                  <a:srgbClr val="FF0000"/>
                </a:solidFill>
              </a:rPr>
              <a:t>音频信号滤波器</a:t>
            </a:r>
            <a:endParaRPr lang="en-US" altLang="zh-CN" sz="1800" dirty="0">
              <a:solidFill>
                <a:srgbClr val="FF0000"/>
              </a:solidFill>
            </a:endParaRPr>
          </a:p>
          <a:p>
            <a:pPr indent="457200">
              <a:lnSpc>
                <a:spcPct val="150000"/>
              </a:lnSpc>
            </a:pPr>
            <a:r>
              <a:rPr lang="zh-CN" altLang="en-US" sz="1800" dirty="0"/>
              <a:t>信号</a:t>
            </a:r>
            <a:r>
              <a:rPr lang="en-US" altLang="zh-CN" sz="1800" dirty="0"/>
              <a:t>A</a:t>
            </a:r>
            <a:r>
              <a:rPr lang="zh-CN" altLang="en-US" sz="1800" dirty="0" smtClean="0"/>
              <a:t>，频率上限为</a:t>
            </a:r>
            <a:r>
              <a:rPr lang="en-US" altLang="zh-CN" sz="1800" dirty="0" smtClean="0"/>
              <a:t>3400Hz</a:t>
            </a:r>
          </a:p>
          <a:p>
            <a:pPr indent="457200">
              <a:lnSpc>
                <a:spcPct val="150000"/>
              </a:lnSpc>
            </a:pPr>
            <a:r>
              <a:rPr lang="zh-CN" altLang="en-US" sz="1800" dirty="0"/>
              <a:t>信号</a:t>
            </a:r>
            <a:r>
              <a:rPr lang="en-US" altLang="zh-CN" sz="1800" dirty="0"/>
              <a:t>B′</a:t>
            </a:r>
            <a:r>
              <a:rPr lang="zh-CN" altLang="en-US" sz="1800" dirty="0" smtClean="0"/>
              <a:t>，频率下限为</a:t>
            </a:r>
            <a:r>
              <a:rPr lang="en-US" altLang="zh-CN" sz="1800" dirty="0"/>
              <a:t>12500-3400=9100Hz</a:t>
            </a:r>
            <a:r>
              <a:rPr lang="zh-CN" altLang="en-US" sz="1800" dirty="0" smtClean="0"/>
              <a:t>，上限为</a:t>
            </a:r>
            <a:r>
              <a:rPr lang="en-US" altLang="zh-CN" sz="1800" dirty="0"/>
              <a:t>12500+3400=15900Hz</a:t>
            </a:r>
            <a:endParaRPr lang="zh-CN" altLang="en-US" sz="1800" dirty="0"/>
          </a:p>
          <a:p>
            <a:pPr indent="457200">
              <a:lnSpc>
                <a:spcPct val="150000"/>
              </a:lnSpc>
            </a:pPr>
            <a:r>
              <a:rPr lang="zh-CN" altLang="en-US" sz="1800" dirty="0" smtClean="0"/>
              <a:t>因此得到</a:t>
            </a:r>
            <a:endParaRPr lang="en-US" altLang="zh-CN" sz="1800" dirty="0" smtClean="0"/>
          </a:p>
          <a:p>
            <a:pPr indent="457200">
              <a:lnSpc>
                <a:spcPct val="150000"/>
              </a:lnSpc>
            </a:pPr>
            <a:r>
              <a:rPr lang="zh-CN" altLang="en-US" sz="1800" dirty="0"/>
              <a:t>信号</a:t>
            </a:r>
            <a:r>
              <a:rPr lang="en-US" altLang="zh-CN" sz="1800" dirty="0" smtClean="0"/>
              <a:t>A</a:t>
            </a:r>
            <a:r>
              <a:rPr lang="zh-CN" altLang="en-US" sz="1800" dirty="0" smtClean="0"/>
              <a:t>，低通，截止频率大于等于</a:t>
            </a:r>
            <a:r>
              <a:rPr lang="en-US" altLang="zh-CN" sz="1800" dirty="0" smtClean="0"/>
              <a:t>3400Hz</a:t>
            </a:r>
            <a:r>
              <a:rPr lang="zh-CN" altLang="en-US" sz="1800" dirty="0" smtClean="0"/>
              <a:t>，阻带起始频率等于</a:t>
            </a:r>
            <a:r>
              <a:rPr lang="en-US" altLang="zh-CN" sz="1800" dirty="0" smtClean="0"/>
              <a:t>9100Hz</a:t>
            </a:r>
            <a:r>
              <a:rPr lang="zh-CN" altLang="en-US" sz="1800" dirty="0" smtClean="0"/>
              <a:t>，根据需要设置阻带衰减量</a:t>
            </a:r>
            <a:endParaRPr lang="en-US" altLang="zh-CN" sz="1800" dirty="0" smtClean="0"/>
          </a:p>
          <a:p>
            <a:pPr indent="457200">
              <a:lnSpc>
                <a:spcPct val="150000"/>
              </a:lnSpc>
            </a:pPr>
            <a:r>
              <a:rPr lang="zh-CN" altLang="en-US" sz="1800" dirty="0" smtClean="0">
                <a:latin typeface="Times New Roman" panose="02020603050405020304" pitchFamily="18" charset="0"/>
                <a:ea typeface="楷体" panose="02010609060101010101" pitchFamily="49" charset="-122"/>
              </a:rPr>
              <a:t>例如可将截止频率设置为</a:t>
            </a:r>
            <a:r>
              <a:rPr lang="en-US" altLang="zh-CN" sz="1800" dirty="0" smtClean="0">
                <a:latin typeface="Times New Roman" panose="02020603050405020304" pitchFamily="18" charset="0"/>
                <a:ea typeface="楷体" panose="02010609060101010101" pitchFamily="49" charset="-122"/>
              </a:rPr>
              <a:t>4000Hz</a:t>
            </a:r>
            <a:r>
              <a:rPr lang="zh-CN" altLang="en-US" sz="1800" dirty="0" smtClean="0">
                <a:latin typeface="Times New Roman" panose="02020603050405020304" pitchFamily="18" charset="0"/>
                <a:ea typeface="楷体" panose="02010609060101010101" pitchFamily="49" charset="-122"/>
              </a:rPr>
              <a:t>，阻带</a:t>
            </a:r>
            <a:r>
              <a:rPr lang="en-US" altLang="zh-CN" sz="1800" dirty="0" smtClean="0">
                <a:latin typeface="Times New Roman" panose="02020603050405020304" pitchFamily="18" charset="0"/>
                <a:ea typeface="楷体" panose="02010609060101010101" pitchFamily="49" charset="-122"/>
              </a:rPr>
              <a:t>9100Hz</a:t>
            </a:r>
            <a:r>
              <a:rPr lang="zh-CN" altLang="en-US" sz="1800" dirty="0" smtClean="0">
                <a:latin typeface="Times New Roman" panose="02020603050405020304" pitchFamily="18" charset="0"/>
                <a:ea typeface="楷体" panose="02010609060101010101" pitchFamily="49" charset="-122"/>
              </a:rPr>
              <a:t>的衰减设置为</a:t>
            </a:r>
            <a:r>
              <a:rPr lang="en-US" altLang="zh-CN" sz="1800" dirty="0" smtClean="0">
                <a:latin typeface="Times New Roman" panose="02020603050405020304" pitchFamily="18" charset="0"/>
                <a:ea typeface="楷体" panose="02010609060101010101" pitchFamily="49" charset="-122"/>
              </a:rPr>
              <a:t>40dB</a:t>
            </a:r>
            <a:r>
              <a:rPr lang="zh-CN" altLang="en-US" sz="1800" dirty="0" smtClean="0">
                <a:latin typeface="Times New Roman" panose="02020603050405020304" pitchFamily="18" charset="0"/>
                <a:ea typeface="楷体" panose="02010609060101010101" pitchFamily="49" charset="-122"/>
              </a:rPr>
              <a:t>，则</a:t>
            </a:r>
            <a:r>
              <a:rPr lang="en-US" altLang="zh-CN" sz="1800" dirty="0" smtClean="0">
                <a:latin typeface="Times New Roman" panose="02020603050405020304" pitchFamily="18" charset="0"/>
                <a:ea typeface="楷体" panose="02010609060101010101" pitchFamily="49" charset="-122"/>
              </a:rPr>
              <a:t>6</a:t>
            </a:r>
            <a:r>
              <a:rPr lang="zh-CN" altLang="en-US" sz="1800" dirty="0" smtClean="0">
                <a:latin typeface="Times New Roman" panose="02020603050405020304" pitchFamily="18" charset="0"/>
                <a:ea typeface="楷体" panose="02010609060101010101" pitchFamily="49" charset="-122"/>
              </a:rPr>
              <a:t>阶巴特沃斯低通滤波器或</a:t>
            </a:r>
            <a:r>
              <a:rPr lang="en-US" altLang="zh-CN" sz="1800" dirty="0" smtClean="0">
                <a:latin typeface="Times New Roman" panose="02020603050405020304" pitchFamily="18" charset="0"/>
                <a:ea typeface="楷体" panose="02010609060101010101" pitchFamily="49" charset="-122"/>
              </a:rPr>
              <a:t>5</a:t>
            </a:r>
            <a:r>
              <a:rPr lang="zh-CN" altLang="en-US" sz="1800" dirty="0" smtClean="0">
                <a:latin typeface="Times New Roman" panose="02020603050405020304" pitchFamily="18" charset="0"/>
                <a:ea typeface="楷体" panose="02010609060101010101" pitchFamily="49" charset="-122"/>
              </a:rPr>
              <a:t>阶切比雪夫型低通滤波器（纹波</a:t>
            </a:r>
            <a:r>
              <a:rPr lang="en-US" altLang="zh-CN" sz="1800" dirty="0" smtClean="0">
                <a:latin typeface="Times New Roman" panose="02020603050405020304" pitchFamily="18" charset="0"/>
                <a:ea typeface="楷体" panose="02010609060101010101" pitchFamily="49" charset="-122"/>
              </a:rPr>
              <a:t>0.1dB</a:t>
            </a:r>
            <a:r>
              <a:rPr lang="zh-CN" altLang="en-US" sz="1800" dirty="0" smtClean="0">
                <a:latin typeface="Times New Roman" panose="02020603050405020304" pitchFamily="18" charset="0"/>
                <a:ea typeface="楷体" panose="02010609060101010101" pitchFamily="49" charset="-122"/>
              </a:rPr>
              <a:t>）可以满足要求</a:t>
            </a:r>
            <a:endParaRPr lang="en-US" altLang="zh-CN" sz="1800" dirty="0" smtClean="0">
              <a:latin typeface="Times New Roman" panose="02020603050405020304" pitchFamily="18" charset="0"/>
              <a:ea typeface="楷体" panose="02010609060101010101" pitchFamily="49" charset="-122"/>
            </a:endParaRPr>
          </a:p>
          <a:p>
            <a:pPr indent="457200">
              <a:lnSpc>
                <a:spcPct val="150000"/>
              </a:lnSpc>
            </a:pPr>
            <a:r>
              <a:rPr lang="zh-CN" altLang="en-US" sz="1800" dirty="0" smtClean="0"/>
              <a:t>信号</a:t>
            </a:r>
            <a:r>
              <a:rPr lang="en-US" altLang="zh-CN" sz="1800" dirty="0" smtClean="0"/>
              <a:t>B′</a:t>
            </a:r>
            <a:r>
              <a:rPr lang="zh-CN" altLang="en-US" sz="1800" dirty="0" smtClean="0"/>
              <a:t>，带通，</a:t>
            </a:r>
            <a:r>
              <a:rPr lang="zh-CN" altLang="en-US" sz="1800" dirty="0"/>
              <a:t>下</a:t>
            </a:r>
            <a:r>
              <a:rPr lang="zh-CN" altLang="en-US" sz="1800" dirty="0" smtClean="0"/>
              <a:t>截止频率小于等于</a:t>
            </a:r>
            <a:r>
              <a:rPr lang="en-US" altLang="zh-CN" sz="1800" dirty="0" smtClean="0"/>
              <a:t>9100Hz</a:t>
            </a:r>
            <a:r>
              <a:rPr lang="zh-CN" altLang="en-US" sz="1800" dirty="0" smtClean="0"/>
              <a:t>，下阻带起始频率等于</a:t>
            </a:r>
            <a:r>
              <a:rPr lang="en-US" altLang="zh-CN" sz="1800" dirty="0" smtClean="0"/>
              <a:t>3400Hz</a:t>
            </a:r>
            <a:r>
              <a:rPr lang="zh-CN" altLang="en-US" sz="1800" dirty="0"/>
              <a:t>，根据需要设置阻带衰减</a:t>
            </a:r>
            <a:r>
              <a:rPr lang="zh-CN" altLang="en-US" sz="1800" dirty="0" smtClean="0"/>
              <a:t>量；</a:t>
            </a:r>
            <a:r>
              <a:rPr lang="zh-CN" altLang="en-US" sz="1800" dirty="0"/>
              <a:t>上截止频率大于等于</a:t>
            </a:r>
            <a:r>
              <a:rPr lang="en-US" altLang="zh-CN" sz="1800" dirty="0"/>
              <a:t>15900Hz</a:t>
            </a:r>
            <a:r>
              <a:rPr lang="zh-CN" altLang="en-US" sz="1800" dirty="0"/>
              <a:t>，上</a:t>
            </a:r>
            <a:r>
              <a:rPr lang="zh-CN" altLang="en-US" sz="1800" dirty="0" smtClean="0"/>
              <a:t>阻带大于</a:t>
            </a:r>
            <a:r>
              <a:rPr lang="en-US" altLang="zh-CN" sz="1800" dirty="0" smtClean="0"/>
              <a:t>15900</a:t>
            </a:r>
            <a:r>
              <a:rPr lang="zh-CN" altLang="en-US" sz="1800" dirty="0" smtClean="0"/>
              <a:t>即可（无严格要求）</a:t>
            </a:r>
            <a:endParaRPr lang="en-US" altLang="zh-CN" sz="1800" dirty="0"/>
          </a:p>
          <a:p>
            <a:pPr indent="457200">
              <a:lnSpc>
                <a:spcPct val="150000"/>
              </a:lnSpc>
            </a:pPr>
            <a:r>
              <a:rPr lang="zh-CN" altLang="en-US" sz="1800" dirty="0" smtClean="0"/>
              <a:t>可采用高通滤波器</a:t>
            </a:r>
            <a:r>
              <a:rPr lang="en-US" altLang="zh-CN" sz="1800" dirty="0" smtClean="0"/>
              <a:t>+</a:t>
            </a:r>
            <a:r>
              <a:rPr lang="zh-CN" altLang="en-US" sz="1800" dirty="0" smtClean="0"/>
              <a:t>低通滤波器的形式</a:t>
            </a:r>
            <a:endParaRPr lang="en-US" altLang="zh-CN" sz="1800" dirty="0" smtClean="0"/>
          </a:p>
          <a:p>
            <a:pPr indent="457200">
              <a:lnSpc>
                <a:spcPct val="150000"/>
              </a:lnSpc>
            </a:pPr>
            <a:r>
              <a:rPr lang="zh-CN" altLang="en-US" sz="1800" dirty="0" smtClean="0">
                <a:latin typeface="Times New Roman" panose="02020603050405020304" pitchFamily="18" charset="0"/>
                <a:ea typeface="楷体" panose="02010609060101010101" pitchFamily="49" charset="-122"/>
              </a:rPr>
              <a:t>例如设置高通滤波器的截止频率为</a:t>
            </a:r>
            <a:r>
              <a:rPr lang="en-US" altLang="zh-CN" sz="1800" dirty="0" smtClean="0">
                <a:latin typeface="Times New Roman" panose="02020603050405020304" pitchFamily="18" charset="0"/>
                <a:ea typeface="楷体" panose="02010609060101010101" pitchFamily="49" charset="-122"/>
              </a:rPr>
              <a:t>8500Hz</a:t>
            </a:r>
            <a:r>
              <a:rPr lang="zh-CN" altLang="en-US" sz="1800" dirty="0" smtClean="0">
                <a:latin typeface="Times New Roman" panose="02020603050405020304" pitchFamily="18" charset="0"/>
                <a:ea typeface="楷体" panose="02010609060101010101" pitchFamily="49" charset="-122"/>
              </a:rPr>
              <a:t>，阻带</a:t>
            </a:r>
            <a:r>
              <a:rPr lang="en-US" altLang="zh-CN" sz="1800" dirty="0" smtClean="0">
                <a:latin typeface="Times New Roman" panose="02020603050405020304" pitchFamily="18" charset="0"/>
                <a:ea typeface="楷体" panose="02010609060101010101" pitchFamily="49" charset="-122"/>
              </a:rPr>
              <a:t>3400Hz</a:t>
            </a:r>
            <a:r>
              <a:rPr lang="zh-CN" altLang="en-US" sz="1800" dirty="0" smtClean="0">
                <a:latin typeface="Times New Roman" panose="02020603050405020304" pitchFamily="18" charset="0"/>
                <a:ea typeface="楷体" panose="02010609060101010101" pitchFamily="49" charset="-122"/>
              </a:rPr>
              <a:t>的衰减量为</a:t>
            </a:r>
            <a:r>
              <a:rPr lang="en-US" altLang="zh-CN" sz="1800" dirty="0" smtClean="0">
                <a:latin typeface="Times New Roman" panose="02020603050405020304" pitchFamily="18" charset="0"/>
                <a:ea typeface="楷体" panose="02010609060101010101" pitchFamily="49" charset="-122"/>
              </a:rPr>
              <a:t>40dB</a:t>
            </a:r>
            <a:r>
              <a:rPr lang="zh-CN" altLang="en-US" sz="1800" dirty="0">
                <a:latin typeface="Times New Roman" panose="02020603050405020304" pitchFamily="18" charset="0"/>
                <a:ea typeface="楷体" panose="02010609060101010101" pitchFamily="49" charset="-122"/>
              </a:rPr>
              <a:t>，</a:t>
            </a:r>
            <a:r>
              <a:rPr lang="zh-CN" altLang="en-US" sz="1800" dirty="0" smtClean="0">
                <a:latin typeface="Times New Roman" panose="02020603050405020304" pitchFamily="18" charset="0"/>
                <a:ea typeface="楷体" panose="02010609060101010101" pitchFamily="49" charset="-122"/>
              </a:rPr>
              <a:t>则</a:t>
            </a:r>
            <a:r>
              <a:rPr lang="en-US" altLang="zh-CN" sz="1800" dirty="0" smtClean="0">
                <a:latin typeface="Times New Roman" panose="02020603050405020304" pitchFamily="18" charset="0"/>
                <a:ea typeface="楷体" panose="02010609060101010101" pitchFamily="49" charset="-122"/>
              </a:rPr>
              <a:t>6</a:t>
            </a:r>
            <a:r>
              <a:rPr lang="zh-CN" altLang="en-US" sz="1800" dirty="0">
                <a:latin typeface="Times New Roman" panose="02020603050405020304" pitchFamily="18" charset="0"/>
                <a:ea typeface="楷体" panose="02010609060101010101" pitchFamily="49" charset="-122"/>
              </a:rPr>
              <a:t>阶</a:t>
            </a:r>
            <a:r>
              <a:rPr lang="zh-CN" altLang="en-US" sz="1800" dirty="0" smtClean="0">
                <a:latin typeface="Times New Roman" panose="02020603050405020304" pitchFamily="18" charset="0"/>
                <a:ea typeface="楷体" panose="02010609060101010101" pitchFamily="49" charset="-122"/>
              </a:rPr>
              <a:t>巴特沃斯高通</a:t>
            </a:r>
            <a:r>
              <a:rPr lang="zh-CN" altLang="en-US" sz="1800" dirty="0">
                <a:latin typeface="Times New Roman" panose="02020603050405020304" pitchFamily="18" charset="0"/>
                <a:ea typeface="楷体" panose="02010609060101010101" pitchFamily="49" charset="-122"/>
              </a:rPr>
              <a:t>滤波器或</a:t>
            </a:r>
            <a:r>
              <a:rPr lang="en-US" altLang="zh-CN" sz="1800" dirty="0">
                <a:latin typeface="Times New Roman" panose="02020603050405020304" pitchFamily="18" charset="0"/>
                <a:ea typeface="楷体" panose="02010609060101010101" pitchFamily="49" charset="-122"/>
              </a:rPr>
              <a:t>5</a:t>
            </a:r>
            <a:r>
              <a:rPr lang="zh-CN" altLang="en-US" sz="1800" dirty="0">
                <a:latin typeface="Times New Roman" panose="02020603050405020304" pitchFamily="18" charset="0"/>
                <a:ea typeface="楷体" panose="02010609060101010101" pitchFamily="49" charset="-122"/>
              </a:rPr>
              <a:t>阶切比雪夫型</a:t>
            </a:r>
            <a:r>
              <a:rPr lang="zh-CN" altLang="en-US" sz="1800" dirty="0" smtClean="0">
                <a:latin typeface="Times New Roman" panose="02020603050405020304" pitchFamily="18" charset="0"/>
                <a:ea typeface="楷体" panose="02010609060101010101" pitchFamily="49" charset="-122"/>
              </a:rPr>
              <a:t>低高通</a:t>
            </a:r>
            <a:r>
              <a:rPr lang="zh-CN" altLang="en-US" sz="1800" dirty="0">
                <a:latin typeface="Times New Roman" panose="02020603050405020304" pitchFamily="18" charset="0"/>
                <a:ea typeface="楷体" panose="02010609060101010101" pitchFamily="49" charset="-122"/>
              </a:rPr>
              <a:t>滤波器（纹波</a:t>
            </a:r>
            <a:r>
              <a:rPr lang="en-US" altLang="zh-CN" sz="1800" dirty="0">
                <a:latin typeface="Times New Roman" panose="02020603050405020304" pitchFamily="18" charset="0"/>
                <a:ea typeface="楷体" panose="02010609060101010101" pitchFamily="49" charset="-122"/>
              </a:rPr>
              <a:t>0.1dB</a:t>
            </a:r>
            <a:r>
              <a:rPr lang="zh-CN" altLang="en-US" sz="1800" dirty="0">
                <a:latin typeface="Times New Roman" panose="02020603050405020304" pitchFamily="18" charset="0"/>
                <a:ea typeface="楷体" panose="02010609060101010101" pitchFamily="49" charset="-122"/>
              </a:rPr>
              <a:t>）可以满足</a:t>
            </a:r>
            <a:r>
              <a:rPr lang="zh-CN" altLang="en-US" sz="1800" dirty="0" smtClean="0">
                <a:latin typeface="Times New Roman" panose="02020603050405020304" pitchFamily="18" charset="0"/>
                <a:ea typeface="楷体" panose="02010609060101010101" pitchFamily="49" charset="-122"/>
              </a:rPr>
              <a:t>要求。再设计一个截止频率为</a:t>
            </a:r>
            <a:r>
              <a:rPr lang="en-US" altLang="zh-CN" sz="1800" dirty="0" smtClean="0">
                <a:latin typeface="Times New Roman" panose="02020603050405020304" pitchFamily="18" charset="0"/>
                <a:ea typeface="楷体" panose="02010609060101010101" pitchFamily="49" charset="-122"/>
              </a:rPr>
              <a:t>16500Hz</a:t>
            </a:r>
            <a:r>
              <a:rPr lang="zh-CN" altLang="en-US" sz="1800" dirty="0" smtClean="0">
                <a:latin typeface="Times New Roman" panose="02020603050405020304" pitchFamily="18" charset="0"/>
                <a:ea typeface="楷体" panose="02010609060101010101" pitchFamily="49" charset="-122"/>
              </a:rPr>
              <a:t>的</a:t>
            </a:r>
            <a:r>
              <a:rPr lang="en-US" altLang="zh-CN" sz="1800" dirty="0" smtClean="0">
                <a:latin typeface="Times New Roman" panose="02020603050405020304" pitchFamily="18" charset="0"/>
                <a:ea typeface="楷体" panose="02010609060101010101" pitchFamily="49" charset="-122"/>
              </a:rPr>
              <a:t>2</a:t>
            </a:r>
            <a:r>
              <a:rPr lang="zh-CN" altLang="en-US" sz="1800" dirty="0" smtClean="0">
                <a:latin typeface="Times New Roman" panose="02020603050405020304" pitchFamily="18" charset="0"/>
                <a:ea typeface="楷体" panose="02010609060101010101" pitchFamily="49" charset="-122"/>
              </a:rPr>
              <a:t>阶低通滤波器，两个滤波器串联即可</a:t>
            </a:r>
            <a:endParaRPr lang="en-US" altLang="zh-CN" sz="1800" dirty="0"/>
          </a:p>
          <a:p>
            <a:pPr indent="457200">
              <a:lnSpc>
                <a:spcPct val="150000"/>
              </a:lnSpc>
            </a:pPr>
            <a:r>
              <a:rPr lang="zh-CN" altLang="en-US" sz="1800" dirty="0" smtClean="0"/>
              <a:t>所有这些滤波器设计均可借助表格软件</a:t>
            </a:r>
            <a:r>
              <a:rPr lang="en-US" altLang="zh-CN" sz="1800" dirty="0" smtClean="0"/>
              <a:t>《</a:t>
            </a:r>
            <a:r>
              <a:rPr lang="zh-CN" altLang="en-US" sz="1800" dirty="0" smtClean="0"/>
              <a:t>有源滤波器参数计算</a:t>
            </a:r>
            <a:r>
              <a:rPr lang="en-US" altLang="zh-CN" sz="1800" dirty="0" smtClean="0"/>
              <a:t>》</a:t>
            </a:r>
            <a:r>
              <a:rPr lang="zh-CN" altLang="en-US" sz="1800" dirty="0" smtClean="0"/>
              <a:t>进行，此处从略</a:t>
            </a:r>
            <a:endParaRPr lang="en-US" altLang="zh-CN" sz="1800" dirty="0"/>
          </a:p>
        </p:txBody>
      </p:sp>
    </p:spTree>
    <p:extLst>
      <p:ext uri="{BB962C8B-B14F-4D97-AF65-F5344CB8AC3E}">
        <p14:creationId xmlns:p14="http://schemas.microsoft.com/office/powerpoint/2010/main" val="66871830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48</a:t>
            </a:fld>
            <a:endParaRPr lang="en-US" altLang="zh-CN"/>
          </a:p>
        </p:txBody>
      </p:sp>
      <p:sp>
        <p:nvSpPr>
          <p:cNvPr id="2" name="文本框 1"/>
          <p:cNvSpPr txBox="1"/>
          <p:nvPr/>
        </p:nvSpPr>
        <p:spPr>
          <a:xfrm>
            <a:off x="373075" y="376155"/>
            <a:ext cx="11375358" cy="6070893"/>
          </a:xfrm>
          <a:prstGeom prst="rect">
            <a:avLst/>
          </a:prstGeom>
          <a:noFill/>
        </p:spPr>
        <p:txBody>
          <a:bodyPr wrap="square" rtlCol="0">
            <a:spAutoFit/>
          </a:bodyPr>
          <a:lstStyle/>
          <a:p>
            <a:pPr>
              <a:lnSpc>
                <a:spcPct val="150000"/>
              </a:lnSpc>
            </a:pPr>
            <a:r>
              <a:rPr lang="zh-CN" altLang="en-US" dirty="0">
                <a:solidFill>
                  <a:srgbClr val="FF0000"/>
                </a:solidFill>
              </a:rPr>
              <a:t>漂移电压发生器</a:t>
            </a:r>
            <a:endParaRPr lang="en-US" altLang="zh-CN" dirty="0">
              <a:solidFill>
                <a:srgbClr val="FF0000"/>
              </a:solidFill>
            </a:endParaRPr>
          </a:p>
          <a:p>
            <a:pPr indent="457200">
              <a:lnSpc>
                <a:spcPct val="150000"/>
              </a:lnSpc>
            </a:pPr>
            <a:r>
              <a:rPr lang="zh-CN" altLang="en-US" sz="1800" dirty="0"/>
              <a:t>要求：产生一个三角波，周期</a:t>
            </a:r>
            <a:r>
              <a:rPr lang="en-US" altLang="zh-CN" sz="1800" dirty="0"/>
              <a:t>2s</a:t>
            </a:r>
            <a:r>
              <a:rPr lang="zh-CN" altLang="en-US" sz="1800" dirty="0"/>
              <a:t>，幅度能满足</a:t>
            </a:r>
            <a:r>
              <a:rPr lang="en-US" altLang="zh-CN" sz="1800" dirty="0"/>
              <a:t>VCO</a:t>
            </a:r>
            <a:r>
              <a:rPr lang="zh-CN" altLang="en-US" sz="1800" dirty="0"/>
              <a:t>频率漂移</a:t>
            </a:r>
            <a:r>
              <a:rPr lang="en-US" altLang="zh-CN" sz="1800" dirty="0"/>
              <a:t>±150Hz</a:t>
            </a:r>
            <a:r>
              <a:rPr lang="zh-CN" altLang="en-US" sz="1800" dirty="0"/>
              <a:t>以上，当它输出为</a:t>
            </a:r>
            <a:r>
              <a:rPr lang="en-US" altLang="zh-CN" sz="1800" dirty="0"/>
              <a:t>0</a:t>
            </a:r>
            <a:r>
              <a:rPr lang="zh-CN" altLang="en-US" sz="1800" dirty="0"/>
              <a:t>时应不影响</a:t>
            </a:r>
            <a:r>
              <a:rPr lang="en-US" altLang="zh-CN" sz="1800" dirty="0"/>
              <a:t>VCO</a:t>
            </a:r>
            <a:r>
              <a:rPr lang="zh-CN" altLang="en-US" sz="1800" dirty="0"/>
              <a:t>的正常控制电平</a:t>
            </a:r>
            <a:endParaRPr lang="en-US" altLang="zh-CN" sz="1800" dirty="0"/>
          </a:p>
          <a:p>
            <a:pPr indent="457200">
              <a:lnSpc>
                <a:spcPct val="150000"/>
              </a:lnSpc>
            </a:pPr>
            <a:r>
              <a:rPr lang="en-US" altLang="zh-CN" sz="1800" dirty="0"/>
              <a:t>1</a:t>
            </a:r>
            <a:r>
              <a:rPr lang="zh-CN" altLang="en-US" sz="1800" dirty="0"/>
              <a:t>、芯片</a:t>
            </a:r>
            <a:r>
              <a:rPr lang="en-US" altLang="zh-CN" sz="1800" dirty="0"/>
              <a:t>NE555</a:t>
            </a:r>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200" dirty="0"/>
          </a:p>
          <a:p>
            <a:pPr indent="457200">
              <a:lnSpc>
                <a:spcPct val="150000"/>
              </a:lnSpc>
            </a:pPr>
            <a:r>
              <a:rPr lang="zh-CN" altLang="en-US" sz="1800" dirty="0"/>
              <a:t>锯齿波的上升（充电）时间与下降（放电）</a:t>
            </a:r>
            <a:r>
              <a:rPr lang="zh-CN" altLang="en-US" sz="1800" dirty="0" smtClean="0"/>
              <a:t>时间</a:t>
            </a:r>
            <a:endParaRPr lang="en-US" altLang="zh-CN" sz="1800" dirty="0" smtClean="0"/>
          </a:p>
          <a:p>
            <a:pPr indent="457200">
              <a:lnSpc>
                <a:spcPct val="150000"/>
              </a:lnSpc>
            </a:pPr>
            <a:endParaRPr lang="en-US" altLang="zh-CN" sz="1800" dirty="0"/>
          </a:p>
          <a:p>
            <a:pPr indent="457200">
              <a:lnSpc>
                <a:spcPct val="150000"/>
              </a:lnSpc>
            </a:pPr>
            <a:endParaRPr lang="en-US" altLang="zh-CN" sz="700" dirty="0"/>
          </a:p>
          <a:p>
            <a:pPr indent="457200">
              <a:lnSpc>
                <a:spcPct val="150000"/>
              </a:lnSpc>
            </a:pPr>
            <a:r>
              <a:rPr lang="zh-CN" altLang="en-US" sz="1800" dirty="0"/>
              <a:t>峰值电平大约是</a:t>
            </a:r>
            <a:r>
              <a:rPr lang="en-US" altLang="zh-CN" sz="1800" dirty="0"/>
              <a:t>VCC</a:t>
            </a:r>
            <a:r>
              <a:rPr lang="zh-CN" altLang="en-US" sz="1800" dirty="0"/>
              <a:t>的</a:t>
            </a:r>
            <a:r>
              <a:rPr lang="en-US" altLang="zh-CN" sz="1800" dirty="0"/>
              <a:t>1/3</a:t>
            </a:r>
            <a:r>
              <a:rPr lang="zh-CN" altLang="en-US" sz="1800" dirty="0"/>
              <a:t>与</a:t>
            </a:r>
            <a:r>
              <a:rPr lang="en-US" altLang="zh-CN" sz="1800" dirty="0"/>
              <a:t>2/3</a:t>
            </a:r>
            <a:r>
              <a:rPr lang="zh-CN" altLang="en-US" sz="1800" dirty="0"/>
              <a:t>，采用</a:t>
            </a:r>
            <a:r>
              <a:rPr lang="en-US" altLang="zh-CN" sz="1800" dirty="0"/>
              <a:t>5V</a:t>
            </a:r>
            <a:r>
              <a:rPr lang="zh-CN" altLang="en-US" sz="1800" dirty="0"/>
              <a:t>供电时，输出峰峰值大约</a:t>
            </a:r>
            <a:r>
              <a:rPr lang="en-US" altLang="zh-CN" sz="1800" dirty="0"/>
              <a:t>1.6V</a:t>
            </a:r>
          </a:p>
        </p:txBody>
      </p:sp>
      <p:pic>
        <p:nvPicPr>
          <p:cNvPr id="6" name="图片 5"/>
          <p:cNvPicPr>
            <a:picLocks noChangeAspect="1"/>
          </p:cNvPicPr>
          <p:nvPr/>
        </p:nvPicPr>
        <p:blipFill>
          <a:blip r:embed="rId3"/>
          <a:stretch>
            <a:fillRect/>
          </a:stretch>
        </p:blipFill>
        <p:spPr>
          <a:xfrm>
            <a:off x="5890708" y="2066675"/>
            <a:ext cx="4038999" cy="2689855"/>
          </a:xfrm>
          <a:prstGeom prst="rect">
            <a:avLst/>
          </a:prstGeom>
        </p:spPr>
      </p:pic>
      <p:sp>
        <p:nvSpPr>
          <p:cNvPr id="7" name="文本框 6"/>
          <p:cNvSpPr txBox="1"/>
          <p:nvPr/>
        </p:nvSpPr>
        <p:spPr>
          <a:xfrm>
            <a:off x="7243843" y="4417925"/>
            <a:ext cx="2001758" cy="369332"/>
          </a:xfrm>
          <a:prstGeom prst="rect">
            <a:avLst/>
          </a:prstGeom>
          <a:noFill/>
        </p:spPr>
        <p:txBody>
          <a:bodyPr wrap="square" rtlCol="0">
            <a:spAutoFit/>
          </a:bodyPr>
          <a:lstStyle/>
          <a:p>
            <a:r>
              <a:rPr lang="en-US" altLang="zh-CN" sz="1800" dirty="0"/>
              <a:t>555</a:t>
            </a:r>
            <a:r>
              <a:rPr lang="zh-CN" altLang="en-US" sz="1800" dirty="0"/>
              <a:t>内部结构</a:t>
            </a:r>
          </a:p>
        </p:txBody>
      </p:sp>
      <p:pic>
        <p:nvPicPr>
          <p:cNvPr id="8" name="图片 7"/>
          <p:cNvPicPr>
            <a:picLocks noChangeAspect="1"/>
          </p:cNvPicPr>
          <p:nvPr/>
        </p:nvPicPr>
        <p:blipFill>
          <a:blip r:embed="rId4"/>
          <a:stretch>
            <a:fillRect/>
          </a:stretch>
        </p:blipFill>
        <p:spPr>
          <a:xfrm>
            <a:off x="2514093" y="2066674"/>
            <a:ext cx="3006175" cy="2648073"/>
          </a:xfrm>
          <a:prstGeom prst="rect">
            <a:avLst/>
          </a:prstGeom>
        </p:spPr>
      </p:pic>
      <p:graphicFrame>
        <p:nvGraphicFramePr>
          <p:cNvPr id="10" name="对象 9"/>
          <p:cNvGraphicFramePr>
            <a:graphicFrameLocks noChangeAspect="1"/>
          </p:cNvGraphicFramePr>
          <p:nvPr>
            <p:extLst/>
          </p:nvPr>
        </p:nvGraphicFramePr>
        <p:xfrm>
          <a:off x="3124784" y="5307454"/>
          <a:ext cx="1893887" cy="344488"/>
        </p:xfrm>
        <a:graphic>
          <a:graphicData uri="http://schemas.openxmlformats.org/presentationml/2006/ole">
            <mc:AlternateContent xmlns:mc="http://schemas.openxmlformats.org/markup-compatibility/2006">
              <mc:Choice xmlns:v="urn:schemas-microsoft-com:vml" Requires="v">
                <p:oleObj spid="_x0000_s31868" name="Equation" r:id="rId5" imgW="1117440" imgH="203040" progId="Equation.DSMT4">
                  <p:embed/>
                </p:oleObj>
              </mc:Choice>
              <mc:Fallback>
                <p:oleObj name="Equation" r:id="rId5" imgW="1117440" imgH="203040" progId="Equation.DSMT4">
                  <p:embed/>
                  <p:pic>
                    <p:nvPicPr>
                      <p:cNvPr id="10" name="对象 9"/>
                      <p:cNvPicPr>
                        <a:picLocks noChangeAspect="1" noChangeArrowheads="1"/>
                      </p:cNvPicPr>
                      <p:nvPr/>
                    </p:nvPicPr>
                    <p:blipFill>
                      <a:blip r:embed="rId6"/>
                      <a:srcRect/>
                      <a:stretch>
                        <a:fillRect/>
                      </a:stretch>
                    </p:blipFill>
                    <p:spPr bwMode="auto">
                      <a:xfrm>
                        <a:off x="3124784" y="5307454"/>
                        <a:ext cx="1893887" cy="344488"/>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nvPr>
        </p:nvGraphicFramePr>
        <p:xfrm>
          <a:off x="5586201" y="5310805"/>
          <a:ext cx="1917700" cy="344488"/>
        </p:xfrm>
        <a:graphic>
          <a:graphicData uri="http://schemas.openxmlformats.org/presentationml/2006/ole">
            <mc:AlternateContent xmlns:mc="http://schemas.openxmlformats.org/markup-compatibility/2006">
              <mc:Choice xmlns:v="urn:schemas-microsoft-com:vml" Requires="v">
                <p:oleObj spid="_x0000_s31869" name="Equation" r:id="rId7" imgW="1130040" imgH="203040" progId="Equation.DSMT4">
                  <p:embed/>
                </p:oleObj>
              </mc:Choice>
              <mc:Fallback>
                <p:oleObj name="Equation" r:id="rId7" imgW="1130040" imgH="203040" progId="Equation.DSMT4">
                  <p:embed/>
                  <p:pic>
                    <p:nvPicPr>
                      <p:cNvPr id="11" name="对象 10"/>
                      <p:cNvPicPr>
                        <a:picLocks noChangeAspect="1" noChangeArrowheads="1"/>
                      </p:cNvPicPr>
                      <p:nvPr/>
                    </p:nvPicPr>
                    <p:blipFill>
                      <a:blip r:embed="rId8"/>
                      <a:srcRect/>
                      <a:stretch>
                        <a:fillRect/>
                      </a:stretch>
                    </p:blipFill>
                    <p:spPr bwMode="auto">
                      <a:xfrm>
                        <a:off x="5586201" y="5310805"/>
                        <a:ext cx="1917700" cy="344488"/>
                      </a:xfrm>
                      <a:prstGeom prst="rect">
                        <a:avLst/>
                      </a:prstGeom>
                      <a:noFill/>
                    </p:spPr>
                  </p:pic>
                </p:oleObj>
              </mc:Fallback>
            </mc:AlternateContent>
          </a:graphicData>
        </a:graphic>
      </p:graphicFrame>
    </p:spTree>
    <p:extLst>
      <p:ext uri="{BB962C8B-B14F-4D97-AF65-F5344CB8AC3E}">
        <p14:creationId xmlns:p14="http://schemas.microsoft.com/office/powerpoint/2010/main" val="115650975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49</a:t>
            </a:fld>
            <a:endParaRPr lang="en-US" altLang="zh-CN"/>
          </a:p>
        </p:txBody>
      </p:sp>
      <p:sp>
        <p:nvSpPr>
          <p:cNvPr id="2" name="文本框 1"/>
          <p:cNvSpPr txBox="1"/>
          <p:nvPr/>
        </p:nvSpPr>
        <p:spPr>
          <a:xfrm>
            <a:off x="446227" y="466987"/>
            <a:ext cx="11375358" cy="4847481"/>
          </a:xfrm>
          <a:prstGeom prst="rect">
            <a:avLst/>
          </a:prstGeom>
          <a:noFill/>
        </p:spPr>
        <p:txBody>
          <a:bodyPr wrap="square" rtlCol="0">
            <a:spAutoFit/>
          </a:bodyPr>
          <a:lstStyle/>
          <a:p>
            <a:pPr indent="457200">
              <a:lnSpc>
                <a:spcPct val="150000"/>
              </a:lnSpc>
            </a:pPr>
            <a:r>
              <a:rPr lang="en-US" altLang="zh-CN" sz="1800" dirty="0"/>
              <a:t>2</a:t>
            </a:r>
            <a:r>
              <a:rPr lang="zh-CN" altLang="en-US" sz="1800" dirty="0"/>
              <a:t>、通用运放</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800" dirty="0"/>
          </a:p>
          <a:p>
            <a:pPr indent="457200">
              <a:lnSpc>
                <a:spcPct val="150000"/>
              </a:lnSpc>
            </a:pPr>
            <a:r>
              <a:rPr lang="zh-CN" altLang="en-US" sz="1800" dirty="0"/>
              <a:t>比较器输出方波的两个高低电平（</a:t>
            </a:r>
            <a:r>
              <a:rPr lang="en-US" altLang="zh-CN" sz="1800" dirty="0"/>
              <a:t>V</a:t>
            </a:r>
            <a:r>
              <a:rPr lang="en-US" altLang="zh-CN" sz="1800" baseline="-25000" dirty="0"/>
              <a:t>H</a:t>
            </a:r>
            <a:r>
              <a:rPr lang="zh-CN" altLang="en-US" sz="1800" dirty="0"/>
              <a:t>、</a:t>
            </a:r>
            <a:r>
              <a:rPr lang="en-US" altLang="zh-CN" sz="1800" dirty="0"/>
              <a:t>V</a:t>
            </a:r>
            <a:r>
              <a:rPr lang="en-US" altLang="zh-CN" sz="1800" baseline="-25000" dirty="0"/>
              <a:t>L</a:t>
            </a:r>
            <a:r>
              <a:rPr lang="zh-CN" altLang="en-US" sz="1800" dirty="0"/>
              <a:t>）由运放的电源电压以及运放的饱和输出幅度确定，积分器的输出三角波的高低峰值电平（</a:t>
            </a:r>
            <a:r>
              <a:rPr lang="en-US" altLang="zh-CN" sz="1800" dirty="0"/>
              <a:t>V</a:t>
            </a:r>
            <a:r>
              <a:rPr lang="en-US" altLang="zh-CN" sz="1800" baseline="-25000" dirty="0"/>
              <a:t>OH</a:t>
            </a:r>
            <a:r>
              <a:rPr lang="zh-CN" altLang="en-US" sz="1800" dirty="0"/>
              <a:t>、</a:t>
            </a:r>
            <a:r>
              <a:rPr lang="en-US" altLang="zh-CN" sz="1800" dirty="0"/>
              <a:t>V</a:t>
            </a:r>
            <a:r>
              <a:rPr lang="en-US" altLang="zh-CN" sz="1800" baseline="-25000" dirty="0"/>
              <a:t>OL</a:t>
            </a:r>
            <a:r>
              <a:rPr lang="zh-CN" altLang="en-US" sz="1800" dirty="0"/>
              <a:t>）由比较器的两个输出电平确定：</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a:t>三角波的上升时间与下降时间为</a:t>
            </a:r>
            <a:endParaRPr lang="en-US" altLang="zh-CN" sz="1800" dirty="0"/>
          </a:p>
        </p:txBody>
      </p:sp>
      <p:graphicFrame>
        <p:nvGraphicFramePr>
          <p:cNvPr id="9" name="对象 8"/>
          <p:cNvGraphicFramePr>
            <a:graphicFrameLocks noChangeAspect="1"/>
          </p:cNvGraphicFramePr>
          <p:nvPr>
            <p:extLst/>
          </p:nvPr>
        </p:nvGraphicFramePr>
        <p:xfrm>
          <a:off x="3205409" y="4151041"/>
          <a:ext cx="1292225" cy="644525"/>
        </p:xfrm>
        <a:graphic>
          <a:graphicData uri="http://schemas.openxmlformats.org/presentationml/2006/ole">
            <mc:AlternateContent xmlns:mc="http://schemas.openxmlformats.org/markup-compatibility/2006">
              <mc:Choice xmlns:v="urn:schemas-microsoft-com:vml" Requires="v">
                <p:oleObj spid="_x0000_s33010" name="Equation" r:id="rId3" imgW="761760" imgH="380880" progId="Equation.DSMT4">
                  <p:embed/>
                </p:oleObj>
              </mc:Choice>
              <mc:Fallback>
                <p:oleObj name="Equation" r:id="rId3" imgW="761760" imgH="380880" progId="Equation.DSMT4">
                  <p:embed/>
                  <p:pic>
                    <p:nvPicPr>
                      <p:cNvPr id="9" name="对象 8"/>
                      <p:cNvPicPr>
                        <a:picLocks noChangeAspect="1" noChangeArrowheads="1"/>
                      </p:cNvPicPr>
                      <p:nvPr/>
                    </p:nvPicPr>
                    <p:blipFill>
                      <a:blip r:embed="rId4"/>
                      <a:srcRect/>
                      <a:stretch>
                        <a:fillRect/>
                      </a:stretch>
                    </p:blipFill>
                    <p:spPr bwMode="auto">
                      <a:xfrm>
                        <a:off x="3205409" y="4151041"/>
                        <a:ext cx="1292225" cy="644525"/>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nvPr>
        </p:nvGraphicFramePr>
        <p:xfrm>
          <a:off x="4848031" y="4152629"/>
          <a:ext cx="1285875" cy="642937"/>
        </p:xfrm>
        <a:graphic>
          <a:graphicData uri="http://schemas.openxmlformats.org/presentationml/2006/ole">
            <mc:AlternateContent xmlns:mc="http://schemas.openxmlformats.org/markup-compatibility/2006">
              <mc:Choice xmlns:v="urn:schemas-microsoft-com:vml" Requires="v">
                <p:oleObj spid="_x0000_s33011" name="Equation" r:id="rId5" imgW="761760" imgH="380880" progId="Equation.DSMT4">
                  <p:embed/>
                </p:oleObj>
              </mc:Choice>
              <mc:Fallback>
                <p:oleObj name="Equation" r:id="rId5" imgW="761760" imgH="380880" progId="Equation.DSMT4">
                  <p:embed/>
                  <p:pic>
                    <p:nvPicPr>
                      <p:cNvPr id="11" name="对象 10"/>
                      <p:cNvPicPr>
                        <a:picLocks noChangeAspect="1" noChangeArrowheads="1"/>
                      </p:cNvPicPr>
                      <p:nvPr/>
                    </p:nvPicPr>
                    <p:blipFill>
                      <a:blip r:embed="rId6"/>
                      <a:srcRect/>
                      <a:stretch>
                        <a:fillRect/>
                      </a:stretch>
                    </p:blipFill>
                    <p:spPr bwMode="auto">
                      <a:xfrm>
                        <a:off x="4848031" y="4152629"/>
                        <a:ext cx="1285875" cy="642937"/>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nvPr>
        </p:nvGraphicFramePr>
        <p:xfrm>
          <a:off x="3139169" y="5400645"/>
          <a:ext cx="1765300" cy="666750"/>
        </p:xfrm>
        <a:graphic>
          <a:graphicData uri="http://schemas.openxmlformats.org/presentationml/2006/ole">
            <mc:AlternateContent xmlns:mc="http://schemas.openxmlformats.org/markup-compatibility/2006">
              <mc:Choice xmlns:v="urn:schemas-microsoft-com:vml" Requires="v">
                <p:oleObj spid="_x0000_s33012" name="Equation" r:id="rId7" imgW="1041120" imgH="393480" progId="Equation.DSMT4">
                  <p:embed/>
                </p:oleObj>
              </mc:Choice>
              <mc:Fallback>
                <p:oleObj name="Equation" r:id="rId7" imgW="1041120" imgH="393480" progId="Equation.DSMT4">
                  <p:embed/>
                  <p:pic>
                    <p:nvPicPr>
                      <p:cNvPr id="12" name="对象 11"/>
                      <p:cNvPicPr>
                        <a:picLocks noChangeAspect="1" noChangeArrowheads="1"/>
                      </p:cNvPicPr>
                      <p:nvPr/>
                    </p:nvPicPr>
                    <p:blipFill>
                      <a:blip r:embed="rId8"/>
                      <a:srcRect/>
                      <a:stretch>
                        <a:fillRect/>
                      </a:stretch>
                    </p:blipFill>
                    <p:spPr bwMode="auto">
                      <a:xfrm>
                        <a:off x="3139169" y="5400645"/>
                        <a:ext cx="1765300" cy="666750"/>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nvPr>
        </p:nvGraphicFramePr>
        <p:xfrm>
          <a:off x="5295053" y="5411758"/>
          <a:ext cx="1766888" cy="644525"/>
        </p:xfrm>
        <a:graphic>
          <a:graphicData uri="http://schemas.openxmlformats.org/presentationml/2006/ole">
            <mc:AlternateContent xmlns:mc="http://schemas.openxmlformats.org/markup-compatibility/2006">
              <mc:Choice xmlns:v="urn:schemas-microsoft-com:vml" Requires="v">
                <p:oleObj spid="_x0000_s33013" name="Equation" r:id="rId9" imgW="1041120" imgH="380880" progId="Equation.DSMT4">
                  <p:embed/>
                </p:oleObj>
              </mc:Choice>
              <mc:Fallback>
                <p:oleObj name="Equation" r:id="rId9" imgW="1041120" imgH="380880" progId="Equation.DSMT4">
                  <p:embed/>
                  <p:pic>
                    <p:nvPicPr>
                      <p:cNvPr id="13" name="对象 12"/>
                      <p:cNvPicPr>
                        <a:picLocks noChangeAspect="1" noChangeArrowheads="1"/>
                      </p:cNvPicPr>
                      <p:nvPr/>
                    </p:nvPicPr>
                    <p:blipFill>
                      <a:blip r:embed="rId10"/>
                      <a:srcRect/>
                      <a:stretch>
                        <a:fillRect/>
                      </a:stretch>
                    </p:blipFill>
                    <p:spPr bwMode="auto">
                      <a:xfrm>
                        <a:off x="5295053" y="5411758"/>
                        <a:ext cx="1766888" cy="644525"/>
                      </a:xfrm>
                      <a:prstGeom prst="rect">
                        <a:avLst/>
                      </a:prstGeom>
                      <a:noFill/>
                    </p:spPr>
                  </p:pic>
                </p:oleObj>
              </mc:Fallback>
            </mc:AlternateContent>
          </a:graphicData>
        </a:graphic>
      </p:graphicFrame>
      <p:pic>
        <p:nvPicPr>
          <p:cNvPr id="14" name="图片 13"/>
          <p:cNvPicPr>
            <a:picLocks noChangeAspect="1"/>
          </p:cNvPicPr>
          <p:nvPr/>
        </p:nvPicPr>
        <p:blipFill>
          <a:blip r:embed="rId11"/>
          <a:stretch>
            <a:fillRect/>
          </a:stretch>
        </p:blipFill>
        <p:spPr>
          <a:xfrm>
            <a:off x="2306849" y="1058757"/>
            <a:ext cx="7299469" cy="2043430"/>
          </a:xfrm>
          <a:prstGeom prst="rect">
            <a:avLst/>
          </a:prstGeom>
        </p:spPr>
      </p:pic>
    </p:spTree>
    <p:extLst>
      <p:ext uri="{BB962C8B-B14F-4D97-AF65-F5344CB8AC3E}">
        <p14:creationId xmlns:p14="http://schemas.microsoft.com/office/powerpoint/2010/main" val="258783243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50</a:t>
            </a:fld>
            <a:endParaRPr lang="en-US" altLang="zh-CN">
              <a:solidFill>
                <a:srgbClr val="FFFFFF"/>
              </a:solidFill>
            </a:endParaRPr>
          </a:p>
        </p:txBody>
      </p:sp>
      <p:sp>
        <p:nvSpPr>
          <p:cNvPr id="5" name="文本框 4"/>
          <p:cNvSpPr txBox="1"/>
          <p:nvPr/>
        </p:nvSpPr>
        <p:spPr>
          <a:xfrm>
            <a:off x="446227" y="440267"/>
            <a:ext cx="11375358" cy="5489388"/>
          </a:xfrm>
          <a:prstGeom prst="rect">
            <a:avLst/>
          </a:prstGeom>
          <a:noFill/>
        </p:spPr>
        <p:txBody>
          <a:bodyPr wrap="square" rtlCol="0">
            <a:spAutoFit/>
          </a:bodyPr>
          <a:lstStyle/>
          <a:p>
            <a:pPr indent="457200">
              <a:lnSpc>
                <a:spcPct val="150000"/>
              </a:lnSpc>
            </a:pPr>
            <a:r>
              <a:rPr lang="zh-CN" altLang="en-US" sz="1800" dirty="0"/>
              <a:t>上述计算中涉及运放的输出摆幅</a:t>
            </a:r>
            <a:r>
              <a:rPr lang="en-US" altLang="zh-CN" sz="1800" dirty="0"/>
              <a:t>V</a:t>
            </a:r>
            <a:r>
              <a:rPr lang="en-US" altLang="zh-CN" sz="1800" baseline="-25000" dirty="0"/>
              <a:t>H</a:t>
            </a:r>
            <a:r>
              <a:rPr lang="zh-CN" altLang="en-US" sz="1800" dirty="0"/>
              <a:t>和</a:t>
            </a:r>
            <a:r>
              <a:rPr lang="en-US" altLang="zh-CN" sz="1800" dirty="0"/>
              <a:t>V</a:t>
            </a:r>
            <a:r>
              <a:rPr lang="en-US" altLang="zh-CN" sz="1800" baseline="-25000" dirty="0"/>
              <a:t>L</a:t>
            </a:r>
            <a:r>
              <a:rPr lang="zh-CN" altLang="en-US" sz="1800" dirty="0"/>
              <a:t>，该参数与运放型号有关。</a:t>
            </a:r>
            <a:endParaRPr lang="en-US" altLang="zh-CN" sz="1800" dirty="0"/>
          </a:p>
          <a:p>
            <a:pPr indent="457200">
              <a:lnSpc>
                <a:spcPct val="150000"/>
              </a:lnSpc>
            </a:pPr>
            <a:r>
              <a:rPr lang="zh-CN" altLang="en-US" sz="1800" dirty="0"/>
              <a:t>例如常用的</a:t>
            </a:r>
            <a:r>
              <a:rPr lang="en-US" altLang="zh-CN" sz="1800" dirty="0"/>
              <a:t>LF353</a:t>
            </a:r>
            <a:r>
              <a:rPr lang="zh-CN" altLang="en-US" sz="1800" dirty="0"/>
              <a:t>，则查其数据手册可知输出幅度大约比电源电压小</a:t>
            </a:r>
            <a:r>
              <a:rPr lang="en-US" altLang="zh-CN" sz="1800" dirty="0"/>
              <a:t>1.5~3V</a:t>
            </a:r>
          </a:p>
          <a:p>
            <a:pPr indent="457200">
              <a:lnSpc>
                <a:spcPct val="150000"/>
              </a:lnSpc>
            </a:pPr>
            <a:endParaRPr lang="en-US" altLang="zh-CN" dirty="0"/>
          </a:p>
          <a:p>
            <a:pPr indent="457200">
              <a:lnSpc>
                <a:spcPct val="150000"/>
              </a:lnSpc>
            </a:pPr>
            <a:r>
              <a:rPr lang="zh-CN" altLang="en-US" sz="1800" dirty="0"/>
              <a:t>另一款运放</a:t>
            </a:r>
            <a:r>
              <a:rPr lang="en-US" altLang="zh-CN" sz="1800" dirty="0"/>
              <a:t>THS4052</a:t>
            </a:r>
            <a:r>
              <a:rPr lang="zh-CN" altLang="en-US" sz="1800" dirty="0"/>
              <a:t>，在</a:t>
            </a:r>
            <a:r>
              <a:rPr lang="en-US" altLang="zh-CN" sz="1800" dirty="0">
                <a:latin typeface="Times New Roman" panose="02020603050405020304" pitchFamily="18" charset="0"/>
                <a:cs typeface="Times New Roman" panose="02020603050405020304" pitchFamily="18" charset="0"/>
              </a:rPr>
              <a:t>±</a:t>
            </a:r>
            <a:r>
              <a:rPr lang="en-US" altLang="zh-CN" sz="1800" dirty="0"/>
              <a:t>5V</a:t>
            </a:r>
            <a:r>
              <a:rPr lang="zh-CN" altLang="en-US" sz="1800" dirty="0"/>
              <a:t>电源电压时的输出摆幅不低于</a:t>
            </a:r>
            <a:r>
              <a:rPr lang="en-US" altLang="zh-CN" sz="1800" dirty="0">
                <a:latin typeface="Times New Roman" panose="02020603050405020304" pitchFamily="18" charset="0"/>
                <a:cs typeface="Times New Roman" panose="02020603050405020304" pitchFamily="18" charset="0"/>
              </a:rPr>
              <a:t>±</a:t>
            </a:r>
            <a:r>
              <a:rPr lang="en-US" altLang="zh-CN" sz="1800" dirty="0"/>
              <a:t>3.2V</a:t>
            </a:r>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a:t>这是大部分通用运放的情况，输出幅度下降是由于运放内部输出晶体管的饱和压降。</a:t>
            </a:r>
            <a:endParaRPr lang="en-US" altLang="zh-CN" sz="1800" dirty="0"/>
          </a:p>
          <a:p>
            <a:pPr indent="457200">
              <a:lnSpc>
                <a:spcPct val="150000"/>
              </a:lnSpc>
            </a:pPr>
            <a:r>
              <a:rPr lang="zh-CN" altLang="en-US" sz="1800" dirty="0" smtClean="0"/>
              <a:t>另外可采用</a:t>
            </a:r>
            <a:r>
              <a:rPr lang="zh-CN" altLang="en-US" sz="1800" dirty="0"/>
              <a:t>场效应管</a:t>
            </a:r>
            <a:r>
              <a:rPr lang="zh-CN" altLang="en-US" sz="1800" dirty="0" smtClean="0"/>
              <a:t>输出的满</a:t>
            </a:r>
            <a:r>
              <a:rPr lang="zh-CN" altLang="en-US" sz="1800" dirty="0"/>
              <a:t>摆幅（</a:t>
            </a:r>
            <a:r>
              <a:rPr lang="en-US" altLang="zh-CN" sz="1800" dirty="0"/>
              <a:t>Rail to Rail</a:t>
            </a:r>
            <a:r>
              <a:rPr lang="zh-CN" altLang="en-US" sz="1800" dirty="0"/>
              <a:t>）的运放</a:t>
            </a:r>
            <a:r>
              <a:rPr lang="zh-CN" altLang="en-US" sz="1800" dirty="0" smtClean="0"/>
              <a:t>，其</a:t>
            </a:r>
            <a:r>
              <a:rPr lang="zh-CN" altLang="en-US" sz="1800" dirty="0"/>
              <a:t>输出摆幅可以很接近电源电压。例如</a:t>
            </a:r>
            <a:r>
              <a:rPr lang="en-US" altLang="zh-CN" sz="1800" dirty="0"/>
              <a:t>TLV2372</a:t>
            </a:r>
            <a:r>
              <a:rPr lang="zh-CN" altLang="en-US" sz="1800" dirty="0"/>
              <a:t>，其输出与电源电压的差值（随输出电流不同而不同）只有</a:t>
            </a:r>
            <a:r>
              <a:rPr lang="en-US" altLang="zh-CN" sz="1800" dirty="0"/>
              <a:t>0.1V~0.7V</a:t>
            </a:r>
            <a:r>
              <a:rPr lang="zh-CN" altLang="en-US" sz="1800" dirty="0"/>
              <a:t>。</a:t>
            </a:r>
            <a:endParaRPr lang="en-US" altLang="zh-CN" sz="1800" dirty="0"/>
          </a:p>
          <a:p>
            <a:pPr indent="457200">
              <a:lnSpc>
                <a:spcPct val="150000"/>
              </a:lnSpc>
            </a:pPr>
            <a:r>
              <a:rPr lang="zh-CN" altLang="en-US" sz="1800" dirty="0"/>
              <a:t>上述电路</a:t>
            </a:r>
            <a:r>
              <a:rPr lang="zh-CN" altLang="en-US" sz="1800" dirty="0" smtClean="0"/>
              <a:t>设计的大致</a:t>
            </a:r>
            <a:r>
              <a:rPr lang="zh-CN" altLang="en-US" sz="1800" dirty="0"/>
              <a:t>过程是：</a:t>
            </a:r>
            <a:endParaRPr lang="en-US" altLang="zh-CN" sz="1800" dirty="0"/>
          </a:p>
          <a:p>
            <a:pPr indent="457200">
              <a:lnSpc>
                <a:spcPct val="150000"/>
              </a:lnSpc>
            </a:pPr>
            <a:r>
              <a:rPr lang="zh-CN" altLang="en-US" sz="1800" dirty="0"/>
              <a:t>先选定运放与电源电压（此时方波输出摆幅已知），然后指定三角波输出幅度（此时可计算</a:t>
            </a:r>
            <a:r>
              <a:rPr lang="en-US" altLang="zh-CN" sz="1800" dirty="0"/>
              <a:t>R1</a:t>
            </a:r>
            <a:r>
              <a:rPr lang="zh-CN" altLang="en-US" sz="1800" dirty="0"/>
              <a:t>与</a:t>
            </a:r>
            <a:r>
              <a:rPr lang="en-US" altLang="zh-CN" sz="1800" dirty="0"/>
              <a:t>R2</a:t>
            </a:r>
            <a:r>
              <a:rPr lang="zh-CN" altLang="en-US" sz="1800" dirty="0"/>
              <a:t>），最后根据三角波频率计算</a:t>
            </a:r>
            <a:r>
              <a:rPr lang="en-US" altLang="zh-CN" sz="1800" dirty="0"/>
              <a:t>RC</a:t>
            </a:r>
            <a:r>
              <a:rPr lang="zh-CN" altLang="en-US" sz="1800" dirty="0"/>
              <a:t>（通常要指定电容</a:t>
            </a:r>
            <a:r>
              <a:rPr lang="en-US" altLang="zh-CN" sz="1800" dirty="0"/>
              <a:t>C</a:t>
            </a:r>
            <a:r>
              <a:rPr lang="zh-CN" altLang="en-US" sz="1800" dirty="0"/>
              <a:t>的值）。</a:t>
            </a:r>
          </a:p>
        </p:txBody>
      </p:sp>
      <p:pic>
        <p:nvPicPr>
          <p:cNvPr id="6" name="图片 5"/>
          <p:cNvPicPr>
            <a:picLocks noChangeAspect="1"/>
          </p:cNvPicPr>
          <p:nvPr/>
        </p:nvPicPr>
        <p:blipFill>
          <a:blip r:embed="rId2"/>
          <a:stretch>
            <a:fillRect/>
          </a:stretch>
        </p:blipFill>
        <p:spPr>
          <a:xfrm>
            <a:off x="1926477" y="1342204"/>
            <a:ext cx="8296262" cy="331574"/>
          </a:xfrm>
          <a:prstGeom prst="rect">
            <a:avLst/>
          </a:prstGeom>
        </p:spPr>
      </p:pic>
      <p:pic>
        <p:nvPicPr>
          <p:cNvPr id="7" name="图片 6"/>
          <p:cNvPicPr>
            <a:picLocks noChangeAspect="1"/>
          </p:cNvPicPr>
          <p:nvPr/>
        </p:nvPicPr>
        <p:blipFill>
          <a:blip r:embed="rId3"/>
          <a:stretch>
            <a:fillRect/>
          </a:stretch>
        </p:blipFill>
        <p:spPr>
          <a:xfrm>
            <a:off x="1926477" y="2333932"/>
            <a:ext cx="8296381" cy="941947"/>
          </a:xfrm>
          <a:prstGeom prst="rect">
            <a:avLst/>
          </a:prstGeom>
        </p:spPr>
      </p:pic>
    </p:spTree>
    <p:extLst>
      <p:ext uri="{BB962C8B-B14F-4D97-AF65-F5344CB8AC3E}">
        <p14:creationId xmlns:p14="http://schemas.microsoft.com/office/powerpoint/2010/main" val="61592436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51</a:t>
            </a:fld>
            <a:endParaRPr lang="en-US" altLang="zh-CN"/>
          </a:p>
        </p:txBody>
      </p:sp>
      <p:sp>
        <p:nvSpPr>
          <p:cNvPr id="2" name="文本框 1"/>
          <p:cNvSpPr txBox="1"/>
          <p:nvPr/>
        </p:nvSpPr>
        <p:spPr>
          <a:xfrm>
            <a:off x="446227" y="537699"/>
            <a:ext cx="11375358" cy="435697"/>
          </a:xfrm>
          <a:prstGeom prst="rect">
            <a:avLst/>
          </a:prstGeom>
          <a:noFill/>
        </p:spPr>
        <p:txBody>
          <a:bodyPr wrap="square" rtlCol="0">
            <a:spAutoFit/>
          </a:bodyPr>
          <a:lstStyle/>
          <a:p>
            <a:pPr>
              <a:lnSpc>
                <a:spcPct val="130000"/>
              </a:lnSpc>
            </a:pPr>
            <a:r>
              <a:rPr lang="zh-CN" altLang="en-US" dirty="0">
                <a:solidFill>
                  <a:srgbClr val="FF0000"/>
                </a:solidFill>
                <a:latin typeface="+mj-ea"/>
                <a:ea typeface="+mj-ea"/>
              </a:rPr>
              <a:t>发射部分</a:t>
            </a:r>
            <a:r>
              <a:rPr lang="zh-CN" altLang="en-US" dirty="0" smtClean="0">
                <a:solidFill>
                  <a:srgbClr val="FF0000"/>
                </a:solidFill>
                <a:latin typeface="+mj-ea"/>
                <a:ea typeface="+mj-ea"/>
              </a:rPr>
              <a:t>的总框图</a:t>
            </a:r>
            <a:endParaRPr lang="en-US" altLang="zh-CN" dirty="0">
              <a:solidFill>
                <a:srgbClr val="FF0000"/>
              </a:solidFill>
              <a:latin typeface="+mj-ea"/>
              <a:ea typeface="+mj-ea"/>
            </a:endParaRPr>
          </a:p>
        </p:txBody>
      </p:sp>
      <p:pic>
        <p:nvPicPr>
          <p:cNvPr id="8" name="图片 7"/>
          <p:cNvPicPr>
            <a:picLocks noChangeAspect="1"/>
          </p:cNvPicPr>
          <p:nvPr/>
        </p:nvPicPr>
        <p:blipFill>
          <a:blip r:embed="rId2"/>
          <a:stretch>
            <a:fillRect/>
          </a:stretch>
        </p:blipFill>
        <p:spPr>
          <a:xfrm>
            <a:off x="2184400" y="1660737"/>
            <a:ext cx="7882199" cy="3757930"/>
          </a:xfrm>
          <a:prstGeom prst="rect">
            <a:avLst/>
          </a:prstGeom>
        </p:spPr>
      </p:pic>
      <p:sp>
        <p:nvSpPr>
          <p:cNvPr id="4" name="椭圆 3"/>
          <p:cNvSpPr/>
          <p:nvPr/>
        </p:nvSpPr>
        <p:spPr>
          <a:xfrm>
            <a:off x="1836116" y="1660738"/>
            <a:ext cx="4359858" cy="2852740"/>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5"/>
          <p:cNvSpPr/>
          <p:nvPr/>
        </p:nvSpPr>
        <p:spPr>
          <a:xfrm>
            <a:off x="2823528" y="2553943"/>
            <a:ext cx="6552448" cy="3222380"/>
          </a:xfrm>
          <a:custGeom>
            <a:avLst/>
            <a:gdLst>
              <a:gd name="connsiteX0" fmla="*/ 4674552 w 6552448"/>
              <a:gd name="connsiteY0" fmla="*/ 72214 h 3222380"/>
              <a:gd name="connsiteX1" fmla="*/ 5881560 w 6552448"/>
              <a:gd name="connsiteY1" fmla="*/ 167311 h 3222380"/>
              <a:gd name="connsiteX2" fmla="*/ 6378994 w 6552448"/>
              <a:gd name="connsiteY2" fmla="*/ 1798601 h 3222380"/>
              <a:gd name="connsiteX3" fmla="*/ 5998603 w 6552448"/>
              <a:gd name="connsiteY3" fmla="*/ 3027555 h 3222380"/>
              <a:gd name="connsiteX4" fmla="*/ 717029 w 6552448"/>
              <a:gd name="connsiteY4" fmla="*/ 3122652 h 3222380"/>
              <a:gd name="connsiteX5" fmla="*/ 343954 w 6552448"/>
              <a:gd name="connsiteY5" fmla="*/ 2061948 h 3222380"/>
              <a:gd name="connsiteX6" fmla="*/ 3474859 w 6552448"/>
              <a:gd name="connsiteY6" fmla="*/ 1864438 h 3222380"/>
              <a:gd name="connsiteX7" fmla="*/ 4484357 w 6552448"/>
              <a:gd name="connsiteY7" fmla="*/ 335561 h 3222380"/>
              <a:gd name="connsiteX8" fmla="*/ 4674552 w 6552448"/>
              <a:gd name="connsiteY8" fmla="*/ 72214 h 3222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52448" h="3222380">
                <a:moveTo>
                  <a:pt x="4674552" y="72214"/>
                </a:moveTo>
                <a:cubicBezTo>
                  <a:pt x="4907419" y="44172"/>
                  <a:pt x="5597486" y="-120420"/>
                  <a:pt x="5881560" y="167311"/>
                </a:cubicBezTo>
                <a:cubicBezTo>
                  <a:pt x="6165634" y="455042"/>
                  <a:pt x="6359487" y="1321894"/>
                  <a:pt x="6378994" y="1798601"/>
                </a:cubicBezTo>
                <a:cubicBezTo>
                  <a:pt x="6398501" y="2275308"/>
                  <a:pt x="6942264" y="2806880"/>
                  <a:pt x="5998603" y="3027555"/>
                </a:cubicBezTo>
                <a:cubicBezTo>
                  <a:pt x="5054942" y="3248230"/>
                  <a:pt x="1659470" y="3283586"/>
                  <a:pt x="717029" y="3122652"/>
                </a:cubicBezTo>
                <a:cubicBezTo>
                  <a:pt x="-225412" y="2961718"/>
                  <a:pt x="-115684" y="2271650"/>
                  <a:pt x="343954" y="2061948"/>
                </a:cubicBezTo>
                <a:cubicBezTo>
                  <a:pt x="803592" y="1852246"/>
                  <a:pt x="2784792" y="2152169"/>
                  <a:pt x="3474859" y="1864438"/>
                </a:cubicBezTo>
                <a:cubicBezTo>
                  <a:pt x="4164926" y="1576707"/>
                  <a:pt x="4286847" y="631827"/>
                  <a:pt x="4484357" y="335561"/>
                </a:cubicBezTo>
                <a:cubicBezTo>
                  <a:pt x="4681867" y="39295"/>
                  <a:pt x="4441685" y="100256"/>
                  <a:pt x="4674552" y="72214"/>
                </a:cubicBezTo>
                <a:close/>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861754" y="2666963"/>
            <a:ext cx="1185063" cy="872739"/>
          </a:xfrm>
          <a:prstGeom prst="rect">
            <a:avLst/>
          </a:prstGeom>
          <a:noFill/>
        </p:spPr>
        <p:txBody>
          <a:bodyPr wrap="square" rtlCol="0">
            <a:spAutoFit/>
          </a:bodyPr>
          <a:lstStyle/>
          <a:p>
            <a:pPr>
              <a:lnSpc>
                <a:spcPct val="150000"/>
              </a:lnSpc>
            </a:pPr>
            <a:r>
              <a:rPr lang="zh-CN" altLang="en-US" sz="1800" dirty="0" smtClean="0"/>
              <a:t>复合音频信号处理</a:t>
            </a:r>
            <a:endParaRPr lang="zh-CN" altLang="en-US" sz="1800" dirty="0"/>
          </a:p>
        </p:txBody>
      </p:sp>
      <p:sp>
        <p:nvSpPr>
          <p:cNvPr id="10" name="文本框 9"/>
          <p:cNvSpPr txBox="1"/>
          <p:nvPr/>
        </p:nvSpPr>
        <p:spPr>
          <a:xfrm>
            <a:off x="9375976" y="4647053"/>
            <a:ext cx="1185063" cy="456535"/>
          </a:xfrm>
          <a:prstGeom prst="rect">
            <a:avLst/>
          </a:prstGeom>
          <a:noFill/>
        </p:spPr>
        <p:txBody>
          <a:bodyPr wrap="square" rtlCol="0">
            <a:spAutoFit/>
          </a:bodyPr>
          <a:lstStyle/>
          <a:p>
            <a:pPr>
              <a:lnSpc>
                <a:spcPct val="150000"/>
              </a:lnSpc>
            </a:pPr>
            <a:r>
              <a:rPr lang="zh-CN" altLang="en-US" sz="1800" dirty="0" smtClean="0"/>
              <a:t>锁相环</a:t>
            </a:r>
            <a:endParaRPr lang="zh-CN" altLang="en-US" sz="1800" dirty="0"/>
          </a:p>
        </p:txBody>
      </p:sp>
    </p:spTree>
    <p:extLst>
      <p:ext uri="{BB962C8B-B14F-4D97-AF65-F5344CB8AC3E}">
        <p14:creationId xmlns:p14="http://schemas.microsoft.com/office/powerpoint/2010/main" val="365774987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52</a:t>
            </a:fld>
            <a:endParaRPr lang="en-US" altLang="zh-CN"/>
          </a:p>
        </p:txBody>
      </p:sp>
      <p:sp>
        <p:nvSpPr>
          <p:cNvPr id="2" name="文本框 1"/>
          <p:cNvSpPr txBox="1"/>
          <p:nvPr/>
        </p:nvSpPr>
        <p:spPr>
          <a:xfrm>
            <a:off x="482803" y="444714"/>
            <a:ext cx="11338782" cy="3046988"/>
          </a:xfrm>
          <a:prstGeom prst="rect">
            <a:avLst/>
          </a:prstGeom>
          <a:noFill/>
        </p:spPr>
        <p:txBody>
          <a:bodyPr wrap="square" rtlCol="0">
            <a:spAutoFit/>
          </a:bodyPr>
          <a:lstStyle/>
          <a:p>
            <a:pPr>
              <a:lnSpc>
                <a:spcPct val="150000"/>
              </a:lnSpc>
            </a:pPr>
            <a:r>
              <a:rPr lang="zh-CN" altLang="en-US" dirty="0">
                <a:solidFill>
                  <a:srgbClr val="FF0000"/>
                </a:solidFill>
              </a:rPr>
              <a:t>射频功放与天线</a:t>
            </a:r>
            <a:endParaRPr lang="en-US" altLang="zh-CN" dirty="0">
              <a:solidFill>
                <a:srgbClr val="FF0000"/>
              </a:solidFill>
            </a:endParaRPr>
          </a:p>
          <a:p>
            <a:pPr indent="457200">
              <a:lnSpc>
                <a:spcPct val="150000"/>
              </a:lnSpc>
            </a:pPr>
            <a:r>
              <a:rPr lang="zh-CN" altLang="en-US" sz="1800" dirty="0"/>
              <a:t>实验室常见的天线是拉杆天线（单鞭天线），由于</a:t>
            </a:r>
            <a:r>
              <a:rPr lang="en-US" altLang="zh-CN" sz="1800" dirty="0"/>
              <a:t>48.5MHz</a:t>
            </a:r>
            <a:r>
              <a:rPr lang="zh-CN" altLang="en-US" sz="1800" dirty="0"/>
              <a:t>的</a:t>
            </a:r>
            <a:r>
              <a:rPr lang="en-US" altLang="zh-CN" sz="1800" dirty="0"/>
              <a:t>1/4</a:t>
            </a:r>
            <a:r>
              <a:rPr lang="zh-CN" altLang="en-US" sz="1800" dirty="0"/>
              <a:t>波长约为</a:t>
            </a:r>
            <a:r>
              <a:rPr lang="en-US" altLang="zh-CN" sz="1800" dirty="0"/>
              <a:t>15m</a:t>
            </a:r>
            <a:r>
              <a:rPr lang="zh-CN" altLang="en-US" sz="1800" dirty="0"/>
              <a:t>，所以通常要在放大器输出与天线之间接入</a:t>
            </a:r>
            <a:r>
              <a:rPr lang="en-US" altLang="zh-CN" sz="1800" dirty="0"/>
              <a:t>LC</a:t>
            </a:r>
            <a:r>
              <a:rPr lang="zh-CN" altLang="en-US" sz="1800" dirty="0"/>
              <a:t>阻抗匹配网络。</a:t>
            </a:r>
            <a:endParaRPr lang="en-US" altLang="zh-CN" sz="1800" dirty="0"/>
          </a:p>
          <a:p>
            <a:pPr indent="457200">
              <a:lnSpc>
                <a:spcPct val="150000"/>
              </a:lnSpc>
            </a:pPr>
            <a:r>
              <a:rPr lang="zh-CN" altLang="en-US" sz="1800" dirty="0"/>
              <a:t>但是题目要求传输距离大于</a:t>
            </a:r>
            <a:r>
              <a:rPr lang="en-US" altLang="zh-CN" sz="1800" dirty="0"/>
              <a:t>2m</a:t>
            </a:r>
            <a:r>
              <a:rPr lang="zh-CN" altLang="en-US" sz="1800" dirty="0"/>
              <a:t>。这个要求是很低的，实际上随便接一根导线作为天线就可以达到要求，所以下图中并没有阻抗匹配网络。</a:t>
            </a:r>
            <a:endParaRPr lang="en-US" altLang="zh-CN" sz="1800" dirty="0"/>
          </a:p>
          <a:p>
            <a:pPr indent="457200">
              <a:lnSpc>
                <a:spcPct val="150000"/>
              </a:lnSpc>
            </a:pPr>
            <a:r>
              <a:rPr lang="zh-CN" altLang="en-US" sz="1800" dirty="0"/>
              <a:t>图中的功放可以选用</a:t>
            </a:r>
            <a:r>
              <a:rPr lang="en-US" altLang="zh-CN" sz="1800" dirty="0"/>
              <a:t>MMIC</a:t>
            </a:r>
            <a:r>
              <a:rPr lang="zh-CN" altLang="en-US" sz="1800" dirty="0"/>
              <a:t>，例如</a:t>
            </a:r>
            <a:r>
              <a:rPr lang="en-US" altLang="zh-CN" sz="1800" dirty="0"/>
              <a:t>HMC580</a:t>
            </a:r>
            <a:r>
              <a:rPr lang="zh-CN" altLang="en-US" sz="1800" dirty="0"/>
              <a:t>。如果接收机灵敏度足够也可以不要这个功放（直接将</a:t>
            </a:r>
            <a:r>
              <a:rPr lang="en-US" altLang="zh-CN" sz="1800" dirty="0"/>
              <a:t>VCO</a:t>
            </a:r>
            <a:r>
              <a:rPr lang="zh-CN" altLang="en-US" sz="1800" dirty="0"/>
              <a:t>的输出串联一个几十欧电阻后接天线）。</a:t>
            </a:r>
          </a:p>
        </p:txBody>
      </p:sp>
      <p:pic>
        <p:nvPicPr>
          <p:cNvPr id="4" name="图片 3"/>
          <p:cNvPicPr>
            <a:picLocks noChangeAspect="1"/>
          </p:cNvPicPr>
          <p:nvPr/>
        </p:nvPicPr>
        <p:blipFill>
          <a:blip r:embed="rId2"/>
          <a:stretch>
            <a:fillRect/>
          </a:stretch>
        </p:blipFill>
        <p:spPr>
          <a:xfrm>
            <a:off x="3770114" y="3394945"/>
            <a:ext cx="3501774" cy="2302723"/>
          </a:xfrm>
          <a:prstGeom prst="rect">
            <a:avLst/>
          </a:prstGeom>
        </p:spPr>
      </p:pic>
    </p:spTree>
    <p:extLst>
      <p:ext uri="{BB962C8B-B14F-4D97-AF65-F5344CB8AC3E}">
        <p14:creationId xmlns:p14="http://schemas.microsoft.com/office/powerpoint/2010/main" val="313826905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53</a:t>
            </a:fld>
            <a:endParaRPr lang="en-US" altLang="zh-CN"/>
          </a:p>
        </p:txBody>
      </p:sp>
      <p:sp>
        <p:nvSpPr>
          <p:cNvPr id="2" name="文本框 1"/>
          <p:cNvSpPr txBox="1"/>
          <p:nvPr/>
        </p:nvSpPr>
        <p:spPr>
          <a:xfrm>
            <a:off x="512064" y="420599"/>
            <a:ext cx="11309521" cy="590931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solidFill>
                  <a:srgbClr val="FF0000"/>
                </a:solidFill>
              </a:rPr>
              <a:t>发射部分整机电源的考虑</a:t>
            </a:r>
            <a:endParaRPr lang="en-US" altLang="zh-CN" sz="1800" dirty="0">
              <a:solidFill>
                <a:srgbClr val="FF0000"/>
              </a:solidFill>
            </a:endParaRPr>
          </a:p>
          <a:p>
            <a:pPr indent="457200">
              <a:lnSpc>
                <a:spcPct val="150000"/>
              </a:lnSpc>
            </a:pPr>
            <a:r>
              <a:rPr lang="zh-CN" altLang="en-US" sz="1800" dirty="0"/>
              <a:t>锁相环部分，</a:t>
            </a:r>
            <a:r>
              <a:rPr lang="en-US" altLang="zh-CN" sz="1800" dirty="0"/>
              <a:t>MC145151</a:t>
            </a:r>
            <a:r>
              <a:rPr lang="zh-CN" altLang="en-US" sz="1800" dirty="0"/>
              <a:t>、</a:t>
            </a:r>
            <a:r>
              <a:rPr lang="en-US" altLang="zh-CN" sz="1800" dirty="0"/>
              <a:t>MC12026</a:t>
            </a:r>
            <a:r>
              <a:rPr lang="zh-CN" altLang="en-US" sz="1800" dirty="0"/>
              <a:t>、</a:t>
            </a:r>
            <a:r>
              <a:rPr lang="en-US" altLang="zh-CN" sz="1800" dirty="0"/>
              <a:t>MC1648</a:t>
            </a:r>
            <a:r>
              <a:rPr lang="zh-CN" altLang="en-US" sz="1800" dirty="0"/>
              <a:t>，</a:t>
            </a:r>
            <a:r>
              <a:rPr lang="en-US" altLang="zh-CN" sz="1800" dirty="0"/>
              <a:t>+5V</a:t>
            </a:r>
            <a:r>
              <a:rPr lang="zh-CN" altLang="en-US" sz="1800" dirty="0" smtClean="0"/>
              <a:t>；采用</a:t>
            </a:r>
            <a:r>
              <a:rPr lang="en-US" altLang="zh-CN" sz="1800" dirty="0" smtClean="0"/>
              <a:t>ADF4001</a:t>
            </a:r>
            <a:r>
              <a:rPr lang="zh-CN" altLang="en-US" sz="1800" dirty="0" smtClean="0"/>
              <a:t>，</a:t>
            </a:r>
            <a:r>
              <a:rPr lang="en-US" altLang="zh-CN" sz="1800" dirty="0"/>
              <a:t>+3.3V</a:t>
            </a:r>
          </a:p>
          <a:p>
            <a:pPr indent="457200">
              <a:lnSpc>
                <a:spcPct val="150000"/>
              </a:lnSpc>
            </a:pPr>
            <a:r>
              <a:rPr lang="zh-CN" altLang="en-US" sz="1800" dirty="0">
                <a:latin typeface="+mj-lt"/>
                <a:cs typeface="Times New Roman" panose="02020603050405020304" pitchFamily="18" charset="0"/>
              </a:rPr>
              <a:t>信号</a:t>
            </a:r>
            <a:r>
              <a:rPr lang="en-US" altLang="zh-CN" sz="1800" dirty="0">
                <a:latin typeface="+mj-lt"/>
                <a:cs typeface="Times New Roman" panose="02020603050405020304" pitchFamily="18" charset="0"/>
              </a:rPr>
              <a:t>B</a:t>
            </a:r>
            <a:r>
              <a:rPr lang="zh-CN" altLang="en-US" sz="1800" dirty="0">
                <a:latin typeface="+mj-lt"/>
                <a:cs typeface="Times New Roman" panose="02020603050405020304" pitchFamily="18" charset="0"/>
              </a:rPr>
              <a:t>的调制器，采用</a:t>
            </a:r>
            <a:r>
              <a:rPr lang="en-US" altLang="zh-CN" sz="1800" dirty="0">
                <a:latin typeface="+mj-lt"/>
                <a:cs typeface="Times New Roman" panose="02020603050405020304" pitchFamily="18" charset="0"/>
              </a:rPr>
              <a:t>MC1496</a:t>
            </a:r>
            <a:r>
              <a:rPr lang="zh-CN" altLang="en-US" sz="1800" dirty="0">
                <a:latin typeface="+mj-lt"/>
                <a:cs typeface="Times New Roman" panose="02020603050405020304" pitchFamily="18" charset="0"/>
              </a:rPr>
              <a:t>，</a:t>
            </a:r>
            <a:r>
              <a:rPr lang="en-US" altLang="zh-CN" sz="1800" dirty="0">
                <a:cs typeface="Times New Roman" panose="02020603050405020304" pitchFamily="18" charset="0"/>
              </a:rPr>
              <a:t>±8V</a:t>
            </a:r>
            <a:r>
              <a:rPr lang="zh-CN" altLang="en-US" sz="1800" dirty="0">
                <a:cs typeface="Times New Roman" panose="02020603050405020304" pitchFamily="18" charset="0"/>
              </a:rPr>
              <a:t>，采用</a:t>
            </a:r>
            <a:r>
              <a:rPr lang="en-US" altLang="zh-CN" sz="1800" dirty="0">
                <a:cs typeface="Times New Roman" panose="02020603050405020304" pitchFamily="18" charset="0"/>
              </a:rPr>
              <a:t>AD835</a:t>
            </a:r>
            <a:r>
              <a:rPr lang="zh-CN" altLang="en-US" sz="1800" dirty="0">
                <a:cs typeface="Times New Roman" panose="02020603050405020304" pitchFamily="18" charset="0"/>
              </a:rPr>
              <a:t>，</a:t>
            </a:r>
            <a:r>
              <a:rPr lang="en-US" altLang="zh-CN" sz="1800" dirty="0">
                <a:cs typeface="Times New Roman" panose="02020603050405020304" pitchFamily="18" charset="0"/>
              </a:rPr>
              <a:t>±5V</a:t>
            </a:r>
          </a:p>
          <a:p>
            <a:pPr indent="457200">
              <a:lnSpc>
                <a:spcPct val="150000"/>
              </a:lnSpc>
            </a:pPr>
            <a:r>
              <a:rPr lang="zh-CN" altLang="en-US" sz="1800" dirty="0"/>
              <a:t>漂移信号发生器，采用</a:t>
            </a:r>
            <a:r>
              <a:rPr lang="en-US" altLang="zh-CN" sz="1800" dirty="0"/>
              <a:t>555</a:t>
            </a:r>
            <a:r>
              <a:rPr lang="zh-CN" altLang="en-US" sz="1800" dirty="0"/>
              <a:t>，</a:t>
            </a:r>
            <a:r>
              <a:rPr lang="en-US" altLang="zh-CN" sz="1800" dirty="0"/>
              <a:t>+5V</a:t>
            </a:r>
            <a:r>
              <a:rPr lang="zh-CN" altLang="en-US" sz="1800" dirty="0"/>
              <a:t>；采用通用运放，</a:t>
            </a:r>
            <a:r>
              <a:rPr lang="en-US" altLang="zh-CN" sz="1800" dirty="0">
                <a:latin typeface="+mj-lt"/>
                <a:cs typeface="Times New Roman" panose="02020603050405020304" pitchFamily="18" charset="0"/>
              </a:rPr>
              <a:t>±5V</a:t>
            </a:r>
            <a:r>
              <a:rPr lang="zh-CN" altLang="en-US" sz="1800" dirty="0">
                <a:latin typeface="+mj-lt"/>
                <a:cs typeface="Times New Roman" panose="02020603050405020304" pitchFamily="18" charset="0"/>
              </a:rPr>
              <a:t>或更高</a:t>
            </a:r>
            <a:endParaRPr lang="en-US" altLang="zh-CN" sz="1800" dirty="0">
              <a:latin typeface="+mj-lt"/>
              <a:cs typeface="Times New Roman" panose="02020603050405020304" pitchFamily="18" charset="0"/>
            </a:endParaRPr>
          </a:p>
          <a:p>
            <a:pPr indent="457200">
              <a:lnSpc>
                <a:spcPct val="150000"/>
              </a:lnSpc>
            </a:pPr>
            <a:r>
              <a:rPr lang="zh-CN" altLang="en-US" sz="1800" dirty="0"/>
              <a:t>信号</a:t>
            </a:r>
            <a:r>
              <a:rPr lang="en-US" altLang="zh-CN" sz="1800" dirty="0"/>
              <a:t>B</a:t>
            </a:r>
            <a:r>
              <a:rPr lang="zh-CN" altLang="en-US" sz="1800" dirty="0"/>
              <a:t>的副载波发生器，采用</a:t>
            </a:r>
            <a:r>
              <a:rPr lang="en-US" altLang="zh-CN" sz="1800" dirty="0"/>
              <a:t>HC4060</a:t>
            </a:r>
            <a:r>
              <a:rPr lang="zh-CN" altLang="en-US" sz="1800" dirty="0"/>
              <a:t>，</a:t>
            </a:r>
            <a:r>
              <a:rPr lang="en-US" altLang="zh-CN" sz="1800" dirty="0"/>
              <a:t>+5V</a:t>
            </a:r>
            <a:endParaRPr lang="en-US" altLang="zh-CN" sz="1800" dirty="0">
              <a:latin typeface="+mj-lt"/>
            </a:endParaRPr>
          </a:p>
          <a:p>
            <a:pPr indent="457200">
              <a:lnSpc>
                <a:spcPct val="150000"/>
              </a:lnSpc>
            </a:pPr>
            <a:r>
              <a:rPr lang="zh-CN" altLang="en-US" sz="1800" dirty="0" smtClean="0"/>
              <a:t>锁相环</a:t>
            </a:r>
            <a:r>
              <a:rPr lang="zh-CN" altLang="en-US" sz="1800" dirty="0"/>
              <a:t>部分的环路滤波器与</a:t>
            </a:r>
            <a:r>
              <a:rPr lang="zh-CN" altLang="en-US" sz="1800" dirty="0" smtClean="0"/>
              <a:t>加法器、</a:t>
            </a:r>
            <a:r>
              <a:rPr lang="zh-CN" altLang="en-US" sz="1800" dirty="0" smtClean="0">
                <a:latin typeface="+mj-lt"/>
              </a:rPr>
              <a:t>信号</a:t>
            </a:r>
            <a:r>
              <a:rPr lang="en-US" altLang="zh-CN" sz="1800" dirty="0">
                <a:latin typeface="+mj-lt"/>
              </a:rPr>
              <a:t>A</a:t>
            </a:r>
            <a:r>
              <a:rPr lang="zh-CN" altLang="en-US" sz="1800" dirty="0">
                <a:latin typeface="+mj-lt"/>
              </a:rPr>
              <a:t>与</a:t>
            </a:r>
            <a:r>
              <a:rPr lang="en-US" altLang="zh-CN" sz="1800" dirty="0">
                <a:latin typeface="+mj-lt"/>
              </a:rPr>
              <a:t>B</a:t>
            </a:r>
            <a:r>
              <a:rPr lang="zh-CN" altLang="en-US" sz="1800" dirty="0">
                <a:latin typeface="+mj-lt"/>
              </a:rPr>
              <a:t>的滤波器，</a:t>
            </a:r>
            <a:r>
              <a:rPr lang="zh-CN" altLang="en-US" sz="1800" dirty="0" smtClean="0"/>
              <a:t>采用</a:t>
            </a:r>
            <a:r>
              <a:rPr lang="zh-CN" altLang="en-US" sz="1800" dirty="0"/>
              <a:t>通用运放，</a:t>
            </a:r>
            <a:r>
              <a:rPr lang="en-US" altLang="zh-CN" sz="1800" dirty="0">
                <a:cs typeface="Times New Roman" panose="02020603050405020304" pitchFamily="18" charset="0"/>
              </a:rPr>
              <a:t>±5V</a:t>
            </a:r>
            <a:r>
              <a:rPr lang="zh-CN" altLang="en-US" sz="1800" dirty="0">
                <a:cs typeface="Times New Roman" panose="02020603050405020304" pitchFamily="18" charset="0"/>
              </a:rPr>
              <a:t>或更高</a:t>
            </a:r>
            <a:r>
              <a:rPr lang="en-US" altLang="zh-CN" sz="1800" dirty="0">
                <a:cs typeface="Times New Roman" panose="02020603050405020304" pitchFamily="18" charset="0"/>
              </a:rPr>
              <a:t> </a:t>
            </a:r>
          </a:p>
          <a:p>
            <a:pPr indent="457200">
              <a:lnSpc>
                <a:spcPct val="150000"/>
              </a:lnSpc>
            </a:pPr>
            <a:r>
              <a:rPr lang="zh-CN" altLang="en-US" sz="1800" dirty="0" smtClean="0">
                <a:latin typeface="+mj-lt"/>
              </a:rPr>
              <a:t>功</a:t>
            </a:r>
            <a:r>
              <a:rPr lang="zh-CN" altLang="en-US" sz="1800" dirty="0">
                <a:latin typeface="+mj-lt"/>
              </a:rPr>
              <a:t>放，</a:t>
            </a:r>
            <a:r>
              <a:rPr lang="en-US" altLang="zh-CN" sz="1800" dirty="0"/>
              <a:t> </a:t>
            </a:r>
            <a:r>
              <a:rPr lang="zh-CN" altLang="en-US" sz="1800" dirty="0"/>
              <a:t>采用</a:t>
            </a:r>
            <a:r>
              <a:rPr lang="en-US" altLang="zh-CN" sz="1800" dirty="0"/>
              <a:t>HMC580</a:t>
            </a:r>
            <a:r>
              <a:rPr lang="zh-CN" altLang="en-US" sz="1800" dirty="0"/>
              <a:t>，</a:t>
            </a:r>
            <a:r>
              <a:rPr lang="en-US" altLang="zh-CN" sz="1800" dirty="0"/>
              <a:t>+5V</a:t>
            </a:r>
          </a:p>
          <a:p>
            <a:pPr>
              <a:lnSpc>
                <a:spcPct val="150000"/>
              </a:lnSpc>
            </a:pPr>
            <a:r>
              <a:rPr lang="zh-CN" altLang="en-US" sz="1800" dirty="0">
                <a:latin typeface="+mj-lt"/>
              </a:rPr>
              <a:t>上述电源中，运放的电源是灵活的，只要满足输出动态范围的需要就可以有很大的调整余地</a:t>
            </a:r>
            <a:r>
              <a:rPr lang="zh-CN" altLang="en-US" sz="1800" dirty="0" smtClean="0">
                <a:latin typeface="+mj-lt"/>
              </a:rPr>
              <a:t>。</a:t>
            </a:r>
            <a:endParaRPr lang="en-US" altLang="zh-CN" sz="1800" dirty="0" smtClean="0">
              <a:latin typeface="+mj-lt"/>
            </a:endParaRPr>
          </a:p>
          <a:p>
            <a:pPr marL="742950" lvl="1" indent="-285750">
              <a:lnSpc>
                <a:spcPct val="150000"/>
              </a:lnSpc>
              <a:buFont typeface="Arial" panose="020B0604020202020204" pitchFamily="34" charset="0"/>
              <a:buChar char="•"/>
            </a:pPr>
            <a:r>
              <a:rPr lang="zh-CN" altLang="en-US" sz="1800" dirty="0" smtClean="0">
                <a:latin typeface="+mj-lt"/>
              </a:rPr>
              <a:t>若锁相环采用</a:t>
            </a:r>
            <a:r>
              <a:rPr lang="en-US" altLang="zh-CN" sz="1800" dirty="0" smtClean="0">
                <a:latin typeface="+mj-lt"/>
              </a:rPr>
              <a:t>MC145151</a:t>
            </a:r>
            <a:r>
              <a:rPr lang="zh-CN" altLang="en-US" sz="1800" dirty="0" smtClean="0">
                <a:latin typeface="+mj-lt"/>
              </a:rPr>
              <a:t>、调制器采用</a:t>
            </a:r>
            <a:r>
              <a:rPr lang="en-US" altLang="zh-CN" sz="1800" dirty="0" smtClean="0">
                <a:latin typeface="+mj-lt"/>
              </a:rPr>
              <a:t>AD835</a:t>
            </a:r>
            <a:r>
              <a:rPr lang="zh-CN" altLang="en-US" sz="1800" dirty="0" smtClean="0">
                <a:latin typeface="+mj-lt"/>
              </a:rPr>
              <a:t>，则全部电源只要</a:t>
            </a:r>
            <a:r>
              <a:rPr lang="en-US" altLang="zh-CN" sz="1800" dirty="0">
                <a:cs typeface="Times New Roman" panose="02020603050405020304" pitchFamily="18" charset="0"/>
              </a:rPr>
              <a:t>±</a:t>
            </a:r>
            <a:r>
              <a:rPr lang="en-US" altLang="zh-CN" sz="1800" dirty="0" smtClean="0">
                <a:cs typeface="Times New Roman" panose="02020603050405020304" pitchFamily="18" charset="0"/>
              </a:rPr>
              <a:t>5V</a:t>
            </a:r>
          </a:p>
          <a:p>
            <a:pPr marL="742950" lvl="1" indent="-285750">
              <a:lnSpc>
                <a:spcPct val="150000"/>
              </a:lnSpc>
              <a:buFont typeface="Arial" panose="020B0604020202020204" pitchFamily="34" charset="0"/>
              <a:buChar char="•"/>
            </a:pPr>
            <a:r>
              <a:rPr lang="zh-CN" altLang="en-US" sz="1800" dirty="0" smtClean="0">
                <a:latin typeface="+mj-lt"/>
                <a:cs typeface="Times New Roman" panose="02020603050405020304" pitchFamily="18" charset="0"/>
              </a:rPr>
              <a:t>若锁相环采用</a:t>
            </a:r>
            <a:r>
              <a:rPr lang="en-US" altLang="zh-CN" sz="1800" dirty="0" smtClean="0">
                <a:latin typeface="+mj-lt"/>
                <a:cs typeface="Times New Roman" panose="02020603050405020304" pitchFamily="18" charset="0"/>
              </a:rPr>
              <a:t>ADF4001</a:t>
            </a:r>
            <a:r>
              <a:rPr lang="zh-CN" altLang="en-US" sz="1800" dirty="0" smtClean="0">
                <a:latin typeface="+mj-lt"/>
                <a:cs typeface="Times New Roman" panose="02020603050405020304" pitchFamily="18" charset="0"/>
              </a:rPr>
              <a:t>、调制器采用</a:t>
            </a:r>
            <a:r>
              <a:rPr lang="en-US" altLang="zh-CN" sz="1800" dirty="0" smtClean="0">
                <a:latin typeface="+mj-lt"/>
                <a:cs typeface="Times New Roman" panose="02020603050405020304" pitchFamily="18" charset="0"/>
              </a:rPr>
              <a:t>AD835</a:t>
            </a:r>
            <a:r>
              <a:rPr lang="zh-CN" altLang="en-US" sz="1800" dirty="0" smtClean="0">
                <a:latin typeface="+mj-lt"/>
                <a:cs typeface="Times New Roman" panose="02020603050405020304" pitchFamily="18" charset="0"/>
              </a:rPr>
              <a:t>，则需要</a:t>
            </a:r>
            <a:r>
              <a:rPr lang="en-US" altLang="zh-CN" sz="1800" dirty="0">
                <a:cs typeface="Times New Roman" panose="02020603050405020304" pitchFamily="18" charset="0"/>
              </a:rPr>
              <a:t>±</a:t>
            </a:r>
            <a:r>
              <a:rPr lang="en-US" altLang="zh-CN" sz="1800" dirty="0" smtClean="0">
                <a:cs typeface="Times New Roman" panose="02020603050405020304" pitchFamily="18" charset="0"/>
              </a:rPr>
              <a:t>5V</a:t>
            </a:r>
            <a:r>
              <a:rPr lang="zh-CN" altLang="en-US" sz="1800" dirty="0" smtClean="0">
                <a:cs typeface="Times New Roman" panose="02020603050405020304" pitchFamily="18" charset="0"/>
              </a:rPr>
              <a:t>与</a:t>
            </a:r>
            <a:r>
              <a:rPr lang="en-US" altLang="zh-CN" sz="1800" dirty="0" smtClean="0">
                <a:cs typeface="Times New Roman" panose="02020603050405020304" pitchFamily="18" charset="0"/>
              </a:rPr>
              <a:t>+3.3V</a:t>
            </a:r>
            <a:r>
              <a:rPr lang="zh-CN" altLang="en-US" sz="1800" dirty="0" smtClean="0">
                <a:cs typeface="Times New Roman" panose="02020603050405020304" pitchFamily="18" charset="0"/>
              </a:rPr>
              <a:t>（后者可以用低压差稳压电源芯片从</a:t>
            </a:r>
            <a:r>
              <a:rPr lang="en-US" altLang="zh-CN" sz="1800" dirty="0" smtClean="0">
                <a:cs typeface="Times New Roman" panose="02020603050405020304" pitchFamily="18" charset="0"/>
              </a:rPr>
              <a:t>+5V</a:t>
            </a:r>
            <a:r>
              <a:rPr lang="zh-CN" altLang="en-US" sz="1800" dirty="0" smtClean="0">
                <a:cs typeface="Times New Roman" panose="02020603050405020304" pitchFamily="18" charset="0"/>
              </a:rPr>
              <a:t>降压得到）</a:t>
            </a:r>
            <a:endParaRPr lang="en-US" altLang="zh-CN" sz="1800" dirty="0" smtClean="0">
              <a:cs typeface="Times New Roman" panose="02020603050405020304" pitchFamily="18" charset="0"/>
            </a:endParaRPr>
          </a:p>
          <a:p>
            <a:pPr marL="742950" lvl="1" indent="-285750">
              <a:lnSpc>
                <a:spcPct val="150000"/>
              </a:lnSpc>
              <a:buFont typeface="Arial" panose="020B0604020202020204" pitchFamily="34" charset="0"/>
              <a:buChar char="•"/>
            </a:pPr>
            <a:r>
              <a:rPr lang="zh-CN" altLang="en-US" sz="1800" dirty="0" smtClean="0">
                <a:latin typeface="+mj-lt"/>
              </a:rPr>
              <a:t>若调制器采用</a:t>
            </a:r>
            <a:r>
              <a:rPr lang="en-US" altLang="zh-CN" sz="1800" dirty="0" smtClean="0">
                <a:latin typeface="+mj-lt"/>
              </a:rPr>
              <a:t>MC1496</a:t>
            </a:r>
            <a:r>
              <a:rPr lang="zh-CN" altLang="en-US" sz="1800" dirty="0" smtClean="0">
                <a:latin typeface="+mj-lt"/>
              </a:rPr>
              <a:t>，手册</a:t>
            </a:r>
            <a:r>
              <a:rPr lang="zh-CN" altLang="en-US" sz="1800" dirty="0">
                <a:latin typeface="+mj-lt"/>
              </a:rPr>
              <a:t>上给出的是</a:t>
            </a:r>
            <a:r>
              <a:rPr lang="en-US" altLang="zh-CN" sz="1800" dirty="0">
                <a:cs typeface="Times New Roman" panose="02020603050405020304" pitchFamily="18" charset="0"/>
              </a:rPr>
              <a:t>±8V</a:t>
            </a:r>
            <a:r>
              <a:rPr lang="zh-CN" altLang="en-US" sz="1800" dirty="0">
                <a:cs typeface="Times New Roman" panose="02020603050405020304" pitchFamily="18" charset="0"/>
              </a:rPr>
              <a:t>，但通过分析可知采用</a:t>
            </a:r>
            <a:r>
              <a:rPr lang="en-US" altLang="zh-CN" sz="1800" dirty="0">
                <a:cs typeface="Times New Roman" panose="02020603050405020304" pitchFamily="18" charset="0"/>
              </a:rPr>
              <a:t>±5V</a:t>
            </a:r>
            <a:r>
              <a:rPr lang="zh-CN" altLang="en-US" sz="1800" dirty="0">
                <a:cs typeface="Times New Roman" panose="02020603050405020304" pitchFamily="18" charset="0"/>
              </a:rPr>
              <a:t>也勉强可用。所以整机电源可以</a:t>
            </a:r>
            <a:r>
              <a:rPr lang="zh-CN" altLang="en-US" sz="1800" dirty="0" smtClean="0">
                <a:cs typeface="Times New Roman" panose="02020603050405020304" pitchFamily="18" charset="0"/>
              </a:rPr>
              <a:t>是</a:t>
            </a:r>
            <a:r>
              <a:rPr lang="en-US" altLang="zh-CN" sz="1800" dirty="0">
                <a:cs typeface="Times New Roman" panose="02020603050405020304" pitchFamily="18" charset="0"/>
              </a:rPr>
              <a:t>±</a:t>
            </a:r>
            <a:r>
              <a:rPr lang="en-US" altLang="zh-CN" sz="1800" dirty="0" smtClean="0">
                <a:cs typeface="Times New Roman" panose="02020603050405020304" pitchFamily="18" charset="0"/>
              </a:rPr>
              <a:t>5V</a:t>
            </a:r>
            <a:r>
              <a:rPr lang="zh-CN" altLang="en-US" sz="1800" dirty="0" smtClean="0">
                <a:cs typeface="Times New Roman" panose="02020603050405020304" pitchFamily="18" charset="0"/>
              </a:rPr>
              <a:t>，或者</a:t>
            </a:r>
            <a:r>
              <a:rPr lang="en-US" altLang="zh-CN" sz="1800" dirty="0">
                <a:cs typeface="Times New Roman" panose="02020603050405020304" pitchFamily="18" charset="0"/>
              </a:rPr>
              <a:t>±5V</a:t>
            </a:r>
            <a:r>
              <a:rPr lang="zh-CN" altLang="en-US" sz="1800" dirty="0" smtClean="0">
                <a:cs typeface="Times New Roman" panose="02020603050405020304" pitchFamily="18" charset="0"/>
              </a:rPr>
              <a:t>与</a:t>
            </a:r>
            <a:r>
              <a:rPr lang="en-US" altLang="zh-CN" sz="1800" dirty="0">
                <a:cs typeface="Times New Roman" panose="02020603050405020304" pitchFamily="18" charset="0"/>
              </a:rPr>
              <a:t>±8V</a:t>
            </a:r>
            <a:r>
              <a:rPr lang="zh-CN" altLang="en-US" sz="1800" dirty="0">
                <a:cs typeface="Times New Roman" panose="02020603050405020304" pitchFamily="18" charset="0"/>
              </a:rPr>
              <a:t>（此时运</a:t>
            </a:r>
            <a:r>
              <a:rPr lang="zh-CN" altLang="en-US" sz="1800" dirty="0" smtClean="0">
                <a:cs typeface="Times New Roman" panose="02020603050405020304" pitchFamily="18" charset="0"/>
              </a:rPr>
              <a:t>放可以全部</a:t>
            </a:r>
            <a:r>
              <a:rPr lang="zh-CN" altLang="en-US" sz="1800" dirty="0">
                <a:cs typeface="Times New Roman" panose="02020603050405020304" pitchFamily="18" charset="0"/>
              </a:rPr>
              <a:t>用</a:t>
            </a:r>
            <a:r>
              <a:rPr lang="en-US" altLang="zh-CN" sz="1800" dirty="0">
                <a:cs typeface="Times New Roman" panose="02020603050405020304" pitchFamily="18" charset="0"/>
              </a:rPr>
              <a:t>±8V </a:t>
            </a:r>
            <a:r>
              <a:rPr lang="zh-CN" altLang="en-US" sz="1800" dirty="0" smtClean="0">
                <a:cs typeface="Times New Roman" panose="02020603050405020304" pitchFamily="18" charset="0"/>
              </a:rPr>
              <a:t>）</a:t>
            </a:r>
            <a:endParaRPr lang="en-US" altLang="zh-CN" sz="1800" dirty="0">
              <a:cs typeface="Times New Roman" panose="02020603050405020304" pitchFamily="18" charset="0"/>
            </a:endParaRPr>
          </a:p>
          <a:p>
            <a:pPr>
              <a:lnSpc>
                <a:spcPct val="150000"/>
              </a:lnSpc>
            </a:pPr>
            <a:r>
              <a:rPr lang="zh-CN" altLang="en-US" sz="1800" dirty="0" smtClean="0">
                <a:latin typeface="+mj-lt"/>
              </a:rPr>
              <a:t>注意所有芯片</a:t>
            </a:r>
            <a:r>
              <a:rPr lang="zh-CN" altLang="en-US" sz="1800" dirty="0">
                <a:latin typeface="+mj-lt"/>
              </a:rPr>
              <a:t>的</a:t>
            </a:r>
            <a:r>
              <a:rPr lang="zh-CN" altLang="en-US" sz="1800" dirty="0" smtClean="0">
                <a:latin typeface="+mj-lt"/>
              </a:rPr>
              <a:t>电源退</a:t>
            </a:r>
            <a:r>
              <a:rPr lang="zh-CN" altLang="en-US" sz="1800" dirty="0">
                <a:latin typeface="+mj-lt"/>
              </a:rPr>
              <a:t>耦</a:t>
            </a:r>
            <a:r>
              <a:rPr lang="zh-CN" altLang="en-US" sz="1800" dirty="0" smtClean="0">
                <a:latin typeface="+mj-lt"/>
              </a:rPr>
              <a:t>电容。前面在</a:t>
            </a:r>
            <a:r>
              <a:rPr lang="zh-CN" altLang="en-US" sz="1800" dirty="0">
                <a:latin typeface="+mj-lt"/>
              </a:rPr>
              <a:t>电路图中为了简洁而没有画，但是实际电路中必须有。</a:t>
            </a:r>
          </a:p>
        </p:txBody>
      </p:sp>
    </p:spTree>
    <p:extLst>
      <p:ext uri="{BB962C8B-B14F-4D97-AF65-F5344CB8AC3E}">
        <p14:creationId xmlns:p14="http://schemas.microsoft.com/office/powerpoint/2010/main" val="364848655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54</a:t>
            </a:fld>
            <a:endParaRPr lang="en-US" altLang="zh-CN"/>
          </a:p>
        </p:txBody>
      </p:sp>
      <p:sp>
        <p:nvSpPr>
          <p:cNvPr id="6" name="文本框 5"/>
          <p:cNvSpPr txBox="1"/>
          <p:nvPr/>
        </p:nvSpPr>
        <p:spPr>
          <a:xfrm>
            <a:off x="453542" y="481631"/>
            <a:ext cx="11309299" cy="5618461"/>
          </a:xfrm>
          <a:prstGeom prst="rect">
            <a:avLst/>
          </a:prstGeom>
          <a:noFill/>
        </p:spPr>
        <p:txBody>
          <a:bodyPr wrap="square" rtlCol="0">
            <a:spAutoFit/>
          </a:bodyPr>
          <a:lstStyle/>
          <a:p>
            <a:pPr algn="ctr">
              <a:lnSpc>
                <a:spcPct val="135000"/>
              </a:lnSpc>
            </a:pPr>
            <a:r>
              <a:rPr lang="zh-CN" altLang="en-US" sz="3200" dirty="0" smtClean="0">
                <a:solidFill>
                  <a:srgbClr val="FF0000"/>
                </a:solidFill>
                <a:latin typeface="华文隶书" panose="02010800040101010101" pitchFamily="2" charset="-122"/>
                <a:ea typeface="华文隶书" panose="02010800040101010101" pitchFamily="2" charset="-122"/>
              </a:rPr>
              <a:t>二、接收机部分</a:t>
            </a:r>
            <a:endParaRPr lang="en-US" altLang="zh-CN" sz="3200" dirty="0" smtClean="0">
              <a:solidFill>
                <a:srgbClr val="FF0000"/>
              </a:solidFill>
              <a:latin typeface="华文隶书" panose="02010800040101010101" pitchFamily="2" charset="-122"/>
              <a:ea typeface="华文隶书" panose="02010800040101010101" pitchFamily="2" charset="-122"/>
            </a:endParaRPr>
          </a:p>
          <a:p>
            <a:pPr indent="457200">
              <a:lnSpc>
                <a:spcPct val="135000"/>
              </a:lnSpc>
            </a:pPr>
            <a:r>
              <a:rPr lang="zh-CN" altLang="en-US" sz="1800" dirty="0" smtClean="0"/>
              <a:t>无线通信的接收机可以有以下几种方式</a:t>
            </a:r>
            <a:endParaRPr lang="en-US" altLang="zh-CN" sz="1800" dirty="0" smtClean="0"/>
          </a:p>
          <a:p>
            <a:pPr marL="285750" indent="-285750">
              <a:lnSpc>
                <a:spcPct val="135000"/>
              </a:lnSpc>
              <a:buFont typeface="Arial" panose="020B0604020202020204" pitchFamily="34" charset="0"/>
              <a:buChar char="•"/>
            </a:pPr>
            <a:r>
              <a:rPr lang="zh-CN" altLang="en-US" sz="1800" dirty="0" smtClean="0"/>
              <a:t>直接放大式接收</a:t>
            </a:r>
            <a:endParaRPr lang="en-US" altLang="zh-CN" sz="1800" dirty="0"/>
          </a:p>
          <a:p>
            <a:pPr indent="457200">
              <a:lnSpc>
                <a:spcPct val="135000"/>
              </a:lnSpc>
            </a:pPr>
            <a:r>
              <a:rPr lang="zh-CN" altLang="en-US" sz="1800" dirty="0" smtClean="0"/>
              <a:t>这种电路直接将天线接收到的信号进行放大，然后对放大后的信号解调</a:t>
            </a:r>
            <a:endParaRPr lang="en-US" altLang="zh-CN" sz="1800" dirty="0" smtClean="0"/>
          </a:p>
          <a:p>
            <a:pPr indent="457200">
              <a:lnSpc>
                <a:spcPct val="135000"/>
              </a:lnSpc>
            </a:pPr>
            <a:r>
              <a:rPr lang="zh-CN" altLang="en-US" sz="1800" dirty="0" smtClean="0"/>
              <a:t>为了提高接收信号的信噪比，必须对信号进行带通滤波。但是由于直接放大的信号频率较高，所以无论是放大器还是带通滤波器的制作难度都很高。尤其是在需要对多个频率的信号进行接收时，需要宽带的高频放大器以及频率可变的带通滤波器，大大提高了难度</a:t>
            </a:r>
            <a:endParaRPr lang="en-US" altLang="zh-CN" sz="1800" dirty="0" smtClean="0"/>
          </a:p>
          <a:p>
            <a:pPr marL="285750" indent="-285750">
              <a:lnSpc>
                <a:spcPct val="135000"/>
              </a:lnSpc>
              <a:buFont typeface="Arial" panose="020B0604020202020204" pitchFamily="34" charset="0"/>
              <a:buChar char="•"/>
            </a:pPr>
            <a:r>
              <a:rPr lang="zh-CN" altLang="zh-CN" sz="1800" dirty="0" smtClean="0"/>
              <a:t>超外差</a:t>
            </a:r>
            <a:r>
              <a:rPr lang="zh-CN" altLang="zh-CN" sz="1800" dirty="0"/>
              <a:t>式</a:t>
            </a:r>
            <a:r>
              <a:rPr lang="zh-CN" altLang="zh-CN" sz="1800" dirty="0" smtClean="0"/>
              <a:t>接收</a:t>
            </a:r>
            <a:endParaRPr lang="en-US" altLang="zh-CN" sz="1800" dirty="0" smtClean="0"/>
          </a:p>
          <a:p>
            <a:pPr indent="457200">
              <a:lnSpc>
                <a:spcPct val="135000"/>
              </a:lnSpc>
            </a:pPr>
            <a:r>
              <a:rPr lang="zh-CN" altLang="en-US" sz="1800" dirty="0" smtClean="0"/>
              <a:t>超外差式接收电路将输入信号与一个本地振荡频率进行相乘（混频），然后取出其中的差频成分（中频）进行放大，最后进行解调</a:t>
            </a:r>
            <a:endParaRPr lang="en-US" altLang="zh-CN" sz="1800" dirty="0" smtClean="0"/>
          </a:p>
          <a:p>
            <a:pPr indent="457200">
              <a:lnSpc>
                <a:spcPct val="135000"/>
              </a:lnSpc>
            </a:pPr>
            <a:r>
              <a:rPr lang="zh-CN" altLang="en-US" sz="1800" dirty="0" smtClean="0"/>
              <a:t>由于中频频率较低且保持不变，所以中频放大器比较容易制作，其带通滤波特性也容易做的较好。在需要接收多个频率的信号时，只要改变本地振荡频率即可</a:t>
            </a:r>
            <a:endParaRPr lang="en-US" altLang="zh-CN" sz="1800" dirty="0" smtClean="0"/>
          </a:p>
          <a:p>
            <a:pPr indent="457200">
              <a:lnSpc>
                <a:spcPct val="135000"/>
              </a:lnSpc>
            </a:pPr>
            <a:r>
              <a:rPr lang="zh-CN" altLang="zh-CN" sz="1800" dirty="0" smtClean="0"/>
              <a:t>这种</a:t>
            </a:r>
            <a:r>
              <a:rPr lang="zh-CN" altLang="zh-CN" sz="1800" dirty="0"/>
              <a:t>电路的选择性主要取决于中频放大器的选频特性，在满足调制信号的频谱要求前提下，中频放大器的选频特性越好则接收机的噪声越</a:t>
            </a:r>
            <a:r>
              <a:rPr lang="zh-CN" altLang="zh-CN" sz="1800" dirty="0" smtClean="0"/>
              <a:t>低</a:t>
            </a:r>
            <a:endParaRPr lang="zh-CN" altLang="zh-CN" sz="1800" dirty="0"/>
          </a:p>
        </p:txBody>
      </p:sp>
    </p:spTree>
    <p:extLst>
      <p:ext uri="{BB962C8B-B14F-4D97-AF65-F5344CB8AC3E}">
        <p14:creationId xmlns:p14="http://schemas.microsoft.com/office/powerpoint/2010/main" val="171560636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55</a:t>
            </a:fld>
            <a:endParaRPr lang="en-US" altLang="zh-CN"/>
          </a:p>
        </p:txBody>
      </p:sp>
      <p:sp>
        <p:nvSpPr>
          <p:cNvPr id="6" name="文本框 5"/>
          <p:cNvSpPr txBox="1"/>
          <p:nvPr/>
        </p:nvSpPr>
        <p:spPr>
          <a:xfrm>
            <a:off x="395243" y="467002"/>
            <a:ext cx="11309299" cy="5770811"/>
          </a:xfrm>
          <a:prstGeom prst="rect">
            <a:avLst/>
          </a:prstGeom>
          <a:noFill/>
        </p:spPr>
        <p:txBody>
          <a:bodyPr wrap="square" rtlCol="0">
            <a:spAutoFit/>
          </a:bodyPr>
          <a:lstStyle/>
          <a:p>
            <a:pPr indent="457200">
              <a:lnSpc>
                <a:spcPct val="150000"/>
              </a:lnSpc>
            </a:pPr>
            <a:r>
              <a:rPr lang="zh-CN" altLang="en-US" sz="1800" dirty="0" smtClean="0"/>
              <a:t>超外差接收机的典型结构框图如下</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200" dirty="0"/>
          </a:p>
          <a:p>
            <a:pPr indent="457200">
              <a:lnSpc>
                <a:spcPct val="150000"/>
              </a:lnSpc>
            </a:pPr>
            <a:endParaRPr lang="en-US" altLang="zh-CN" sz="1800" dirty="0"/>
          </a:p>
          <a:p>
            <a:pPr indent="457200">
              <a:lnSpc>
                <a:spcPct val="150000"/>
              </a:lnSpc>
            </a:pPr>
            <a:endParaRPr lang="en-US" altLang="zh-CN" sz="1800" dirty="0" smtClean="0"/>
          </a:p>
          <a:p>
            <a:pPr marL="285750" indent="-285750">
              <a:lnSpc>
                <a:spcPct val="150000"/>
              </a:lnSpc>
              <a:buFont typeface="Arial" panose="020B0604020202020204" pitchFamily="34" charset="0"/>
              <a:buChar char="•"/>
            </a:pPr>
            <a:r>
              <a:rPr lang="zh-CN" altLang="en-US" sz="1800" dirty="0" smtClean="0"/>
              <a:t>高频放大：选频放大器或宽带放大器，提高接收灵敏度。若接收条件良好可以不要这个放大器</a:t>
            </a:r>
            <a:endParaRPr lang="en-US" altLang="zh-CN" sz="1800" dirty="0" smtClean="0"/>
          </a:p>
          <a:p>
            <a:pPr marL="285750" indent="-285750">
              <a:lnSpc>
                <a:spcPct val="150000"/>
              </a:lnSpc>
              <a:buFont typeface="Arial" panose="020B0604020202020204" pitchFamily="34" charset="0"/>
              <a:buChar char="•"/>
            </a:pPr>
            <a:r>
              <a:rPr lang="zh-CN" altLang="en-US" sz="1800" dirty="0" smtClean="0"/>
              <a:t>本地振荡与混频：将输入的高频信号移动到一个较低的固定频率（中频），便于后续的放大与选频</a:t>
            </a:r>
            <a:endParaRPr lang="en-US" altLang="zh-CN" sz="1800" dirty="0" smtClean="0"/>
          </a:p>
          <a:p>
            <a:pPr marL="288000" lvl="1">
              <a:lnSpc>
                <a:spcPct val="150000"/>
              </a:lnSpc>
            </a:pPr>
            <a:r>
              <a:rPr lang="zh-CN" altLang="en-US" sz="1800" dirty="0" smtClean="0"/>
              <a:t>本振频率通常比输入频率高一个中频频率</a:t>
            </a:r>
            <a:endParaRPr lang="en-US" altLang="zh-CN" sz="1800" dirty="0" smtClean="0"/>
          </a:p>
          <a:p>
            <a:pPr marL="288000" lvl="1">
              <a:lnSpc>
                <a:spcPct val="150000"/>
              </a:lnSpc>
            </a:pPr>
            <a:r>
              <a:rPr lang="zh-CN" altLang="en-US" sz="1800" dirty="0" smtClean="0"/>
              <a:t>若</a:t>
            </a:r>
            <a:r>
              <a:rPr lang="zh-CN" altLang="en-US" sz="1800" dirty="0"/>
              <a:t>高频放大是选频放大器，本振频率必须与高频放大的选频频率</a:t>
            </a:r>
            <a:r>
              <a:rPr lang="zh-CN" altLang="en-US" sz="1800" dirty="0" smtClean="0"/>
              <a:t>同步</a:t>
            </a:r>
            <a:endParaRPr lang="en-US" altLang="zh-CN" sz="1800" dirty="0" smtClean="0"/>
          </a:p>
          <a:p>
            <a:pPr marL="285750" indent="-285750">
              <a:lnSpc>
                <a:spcPct val="150000"/>
              </a:lnSpc>
              <a:buFont typeface="Arial" panose="020B0604020202020204" pitchFamily="34" charset="0"/>
              <a:buChar char="•"/>
            </a:pPr>
            <a:r>
              <a:rPr lang="zh-CN" altLang="en-US" sz="1800" dirty="0" smtClean="0"/>
              <a:t>中频放大：选频放大器，完成对于信号的主要放大功能与选频功能</a:t>
            </a:r>
            <a:r>
              <a:rPr lang="zh-CN" altLang="en-US" sz="1800" dirty="0"/>
              <a:t>，</a:t>
            </a:r>
            <a:r>
              <a:rPr lang="zh-CN" altLang="en-US" sz="1800" dirty="0" smtClean="0"/>
              <a:t>通常</a:t>
            </a:r>
            <a:r>
              <a:rPr lang="zh-CN" altLang="en-US" sz="1800" dirty="0"/>
              <a:t>增益要达到</a:t>
            </a:r>
            <a:r>
              <a:rPr lang="en-US" altLang="zh-CN" sz="1800" dirty="0"/>
              <a:t>40dB</a:t>
            </a:r>
            <a:r>
              <a:rPr lang="zh-CN" altLang="en-US" sz="1800" dirty="0" smtClean="0"/>
              <a:t>以上</a:t>
            </a:r>
            <a:r>
              <a:rPr lang="zh-CN" altLang="en-US" sz="1800" dirty="0"/>
              <a:t>，</a:t>
            </a:r>
            <a:r>
              <a:rPr lang="zh-CN" altLang="en-US" sz="1800" dirty="0" smtClean="0"/>
              <a:t>选</a:t>
            </a:r>
            <a:r>
              <a:rPr lang="zh-CN" altLang="en-US" sz="1800" dirty="0"/>
              <a:t>频网络的带宽与信号带宽</a:t>
            </a:r>
            <a:r>
              <a:rPr lang="zh-CN" altLang="en-US" sz="1800" dirty="0" smtClean="0"/>
              <a:t>匹配</a:t>
            </a:r>
            <a:endParaRPr lang="en-US" altLang="zh-CN" sz="1800" dirty="0" smtClean="0"/>
          </a:p>
          <a:p>
            <a:pPr marL="288000">
              <a:lnSpc>
                <a:spcPct val="150000"/>
              </a:lnSpc>
            </a:pPr>
            <a:r>
              <a:rPr lang="zh-CN" altLang="en-US" sz="1800" dirty="0" smtClean="0"/>
              <a:t>考虑</a:t>
            </a:r>
            <a:r>
              <a:rPr lang="zh-CN" altLang="en-US" sz="1800" dirty="0"/>
              <a:t>到天线</a:t>
            </a:r>
            <a:r>
              <a:rPr lang="zh-CN" altLang="en-US" sz="1800" dirty="0" smtClean="0"/>
              <a:t>接收</a:t>
            </a:r>
            <a:r>
              <a:rPr lang="zh-CN" altLang="en-US" sz="1800" dirty="0"/>
              <a:t>的</a:t>
            </a:r>
            <a:r>
              <a:rPr lang="zh-CN" altLang="en-US" sz="1800" dirty="0" smtClean="0"/>
              <a:t>信号</a:t>
            </a:r>
            <a:r>
              <a:rPr lang="zh-CN" altLang="en-US" sz="1800" dirty="0"/>
              <a:t>有较大的动态范围，此放大器还常常带有</a:t>
            </a:r>
            <a:r>
              <a:rPr lang="en-US" altLang="zh-CN" sz="1800" dirty="0"/>
              <a:t>AGC</a:t>
            </a:r>
            <a:r>
              <a:rPr lang="zh-CN" altLang="en-US" sz="1800" dirty="0"/>
              <a:t>功能</a:t>
            </a:r>
            <a:endParaRPr lang="en-US" altLang="zh-CN" sz="1800" dirty="0"/>
          </a:p>
        </p:txBody>
      </p:sp>
      <p:pic>
        <p:nvPicPr>
          <p:cNvPr id="4" name="图片 3"/>
          <p:cNvPicPr>
            <a:picLocks noChangeAspect="1"/>
          </p:cNvPicPr>
          <p:nvPr/>
        </p:nvPicPr>
        <p:blipFill>
          <a:blip r:embed="rId2"/>
          <a:stretch>
            <a:fillRect/>
          </a:stretch>
        </p:blipFill>
        <p:spPr>
          <a:xfrm>
            <a:off x="1672396" y="1188822"/>
            <a:ext cx="8529038" cy="1898192"/>
          </a:xfrm>
          <a:prstGeom prst="rect">
            <a:avLst/>
          </a:prstGeom>
        </p:spPr>
      </p:pic>
    </p:spTree>
    <p:extLst>
      <p:ext uri="{BB962C8B-B14F-4D97-AF65-F5344CB8AC3E}">
        <p14:creationId xmlns:p14="http://schemas.microsoft.com/office/powerpoint/2010/main" val="57882269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56</a:t>
            </a:fld>
            <a:endParaRPr lang="en-US" altLang="zh-CN"/>
          </a:p>
        </p:txBody>
      </p:sp>
      <p:sp>
        <p:nvSpPr>
          <p:cNvPr id="6" name="文本框 5"/>
          <p:cNvSpPr txBox="1"/>
          <p:nvPr/>
        </p:nvSpPr>
        <p:spPr>
          <a:xfrm>
            <a:off x="453543" y="481630"/>
            <a:ext cx="11368042" cy="5078313"/>
          </a:xfrm>
          <a:prstGeom prst="rect">
            <a:avLst/>
          </a:prstGeom>
          <a:noFill/>
        </p:spPr>
        <p:txBody>
          <a:bodyPr wrap="square" rtlCol="0">
            <a:spAutoFit/>
          </a:bodyPr>
          <a:lstStyle/>
          <a:p>
            <a:pPr>
              <a:lnSpc>
                <a:spcPct val="150000"/>
              </a:lnSpc>
            </a:pPr>
            <a:r>
              <a:rPr lang="zh-CN" altLang="en-US" sz="1800" dirty="0" smtClean="0">
                <a:solidFill>
                  <a:srgbClr val="FF0000"/>
                </a:solidFill>
                <a:latin typeface="黑体" panose="02010609060101010101" pitchFamily="49" charset="-122"/>
                <a:ea typeface="黑体" panose="02010609060101010101" pitchFamily="49" charset="-122"/>
              </a:rPr>
              <a:t>本题目的设计难点，</a:t>
            </a:r>
            <a:r>
              <a:rPr lang="zh-CN" altLang="zh-CN" sz="1800" dirty="0">
                <a:solidFill>
                  <a:srgbClr val="FF0000"/>
                </a:solidFill>
                <a:latin typeface="黑体" panose="02010609060101010101" pitchFamily="49" charset="-122"/>
                <a:ea typeface="黑体" panose="02010609060101010101" pitchFamily="49" charset="-122"/>
              </a:rPr>
              <a:t>载频漂移下的接收机设计</a:t>
            </a:r>
          </a:p>
          <a:p>
            <a:pPr indent="457200">
              <a:lnSpc>
                <a:spcPct val="150000"/>
              </a:lnSpc>
            </a:pPr>
            <a:r>
              <a:rPr lang="zh-CN" altLang="zh-CN" sz="1800" dirty="0" smtClean="0"/>
              <a:t>常规</a:t>
            </a:r>
            <a:r>
              <a:rPr lang="zh-CN" altLang="zh-CN" sz="1800" dirty="0"/>
              <a:t>的超外差电路的本振频率是固定的，当输入信号的频率漂移后，送到中频放大器的信号频率也会漂移</a:t>
            </a:r>
            <a:r>
              <a:rPr lang="zh-CN" altLang="zh-CN" sz="1800" dirty="0" smtClean="0"/>
              <a:t>。</a:t>
            </a:r>
            <a:r>
              <a:rPr lang="zh-CN" altLang="en-US" sz="1800" dirty="0" smtClean="0"/>
              <a:t>但是常规情况下输入信号的漂移很小，这种情况下</a:t>
            </a:r>
            <a:r>
              <a:rPr lang="zh-CN" altLang="zh-CN" sz="1800" dirty="0" smtClean="0"/>
              <a:t>考虑</a:t>
            </a:r>
            <a:r>
              <a:rPr lang="zh-CN" altLang="zh-CN" sz="1800" dirty="0"/>
              <a:t>到</a:t>
            </a:r>
            <a:r>
              <a:rPr lang="zh-CN" altLang="zh-CN" sz="1800" dirty="0" smtClean="0"/>
              <a:t>输入可能</a:t>
            </a:r>
            <a:r>
              <a:rPr lang="zh-CN" altLang="zh-CN" sz="1800" dirty="0"/>
              <a:t>的</a:t>
            </a:r>
            <a:r>
              <a:rPr lang="zh-CN" altLang="zh-CN" sz="1800" dirty="0" smtClean="0"/>
              <a:t>漂移</a:t>
            </a:r>
            <a:r>
              <a:rPr lang="zh-CN" altLang="en-US" sz="1800" dirty="0" smtClean="0"/>
              <a:t>后</a:t>
            </a:r>
            <a:r>
              <a:rPr lang="zh-CN" altLang="zh-CN" sz="1800" dirty="0" smtClean="0"/>
              <a:t>，</a:t>
            </a:r>
            <a:r>
              <a:rPr lang="zh-CN" altLang="zh-CN" sz="1800" dirty="0"/>
              <a:t>中频放大器选频网络的</a:t>
            </a:r>
            <a:r>
              <a:rPr lang="zh-CN" altLang="zh-CN" sz="1800" dirty="0" smtClean="0"/>
              <a:t>带宽</a:t>
            </a:r>
            <a:r>
              <a:rPr lang="zh-CN" altLang="en-US" sz="1800" dirty="0" smtClean="0"/>
              <a:t>只要</a:t>
            </a:r>
            <a:r>
              <a:rPr lang="zh-CN" altLang="zh-CN" sz="1800" dirty="0" smtClean="0"/>
              <a:t>设计</a:t>
            </a:r>
            <a:r>
              <a:rPr lang="zh-CN" altLang="zh-CN" sz="1800" dirty="0"/>
              <a:t>得略大于信号</a:t>
            </a:r>
            <a:r>
              <a:rPr lang="zh-CN" altLang="zh-CN" sz="1800" dirty="0" smtClean="0"/>
              <a:t>带宽</a:t>
            </a:r>
            <a:r>
              <a:rPr lang="zh-CN" altLang="en-US" sz="1800" dirty="0" smtClean="0"/>
              <a:t>即可</a:t>
            </a:r>
            <a:r>
              <a:rPr lang="zh-CN" altLang="zh-CN" sz="1800" dirty="0" smtClean="0"/>
              <a:t>。</a:t>
            </a:r>
            <a:r>
              <a:rPr lang="zh-CN" altLang="en-US" sz="1800" dirty="0" smtClean="0"/>
              <a:t>例如</a:t>
            </a:r>
            <a:r>
              <a:rPr lang="zh-CN" altLang="zh-CN" sz="1800" dirty="0" smtClean="0"/>
              <a:t>本题</a:t>
            </a:r>
            <a:r>
              <a:rPr lang="zh-CN" altLang="zh-CN" sz="1800" dirty="0"/>
              <a:t>规定</a:t>
            </a:r>
            <a:r>
              <a:rPr lang="en-US" altLang="zh-CN" sz="1800" dirty="0"/>
              <a:t>FM</a:t>
            </a:r>
            <a:r>
              <a:rPr lang="zh-CN" altLang="zh-CN" sz="1800" dirty="0"/>
              <a:t>调制的最大频偏为</a:t>
            </a:r>
            <a:r>
              <a:rPr lang="en-US" altLang="zh-CN" sz="1800" dirty="0"/>
              <a:t>25kHz</a:t>
            </a:r>
            <a:r>
              <a:rPr lang="zh-CN" altLang="zh-CN" sz="1800" dirty="0" smtClean="0"/>
              <a:t>，</a:t>
            </a:r>
            <a:r>
              <a:rPr lang="zh-CN" altLang="en-US" sz="1800" dirty="0" smtClean="0"/>
              <a:t>即输入信号的带宽是</a:t>
            </a:r>
            <a:r>
              <a:rPr lang="en-US" altLang="zh-CN" sz="1800" dirty="0" smtClean="0"/>
              <a:t>50kHz</a:t>
            </a:r>
            <a:r>
              <a:rPr lang="zh-CN" altLang="en-US" sz="1800" dirty="0" smtClean="0"/>
              <a:t>，此时</a:t>
            </a:r>
            <a:r>
              <a:rPr lang="zh-CN" altLang="zh-CN" sz="1800" dirty="0" smtClean="0"/>
              <a:t>在</a:t>
            </a:r>
            <a:r>
              <a:rPr lang="zh-CN" altLang="zh-CN" sz="1800" dirty="0"/>
              <a:t>一般情况下中频放大器的带宽只要略大于</a:t>
            </a:r>
            <a:r>
              <a:rPr lang="en-US" altLang="zh-CN" sz="1800" dirty="0"/>
              <a:t>50kHz</a:t>
            </a:r>
            <a:r>
              <a:rPr lang="zh-CN" altLang="zh-CN" sz="1800" dirty="0"/>
              <a:t>即可正常接收。</a:t>
            </a:r>
          </a:p>
          <a:p>
            <a:pPr indent="457200">
              <a:lnSpc>
                <a:spcPct val="150000"/>
              </a:lnSpc>
            </a:pPr>
            <a:r>
              <a:rPr lang="zh-CN" altLang="zh-CN" sz="1800" dirty="0"/>
              <a:t>但在这个题目中，频率漂移的范围非常大。按照题目要求，载频漂移大于</a:t>
            </a:r>
            <a:r>
              <a:rPr lang="en-US" altLang="zh-CN" sz="1800" dirty="0"/>
              <a:t>300kHz</a:t>
            </a:r>
            <a:r>
              <a:rPr lang="zh-CN" altLang="zh-CN" sz="1800" dirty="0"/>
              <a:t>，如果采用固定的本振频率，则中频放大器要有大于</a:t>
            </a:r>
            <a:r>
              <a:rPr lang="en-US" altLang="zh-CN" sz="1800" dirty="0"/>
              <a:t>300kHz+50kHz</a:t>
            </a:r>
            <a:r>
              <a:rPr lang="zh-CN" altLang="zh-CN" sz="1800" dirty="0"/>
              <a:t>的通带</a:t>
            </a:r>
            <a:r>
              <a:rPr lang="zh-CN" altLang="zh-CN" sz="1800" dirty="0" smtClean="0"/>
              <a:t>带宽</a:t>
            </a:r>
            <a:r>
              <a:rPr lang="zh-CN" altLang="en-US" sz="1800" dirty="0" smtClean="0"/>
              <a:t>，</a:t>
            </a:r>
            <a:r>
              <a:rPr lang="zh-CN" altLang="zh-CN" sz="1800" dirty="0" smtClean="0"/>
              <a:t>如此</a:t>
            </a:r>
            <a:r>
              <a:rPr lang="zh-CN" altLang="zh-CN" sz="1800" dirty="0"/>
              <a:t>大的中频带宽将导致噪声大幅度</a:t>
            </a:r>
            <a:r>
              <a:rPr lang="zh-CN" altLang="zh-CN" sz="1800" dirty="0" smtClean="0"/>
              <a:t>增加</a:t>
            </a:r>
            <a:r>
              <a:rPr lang="zh-CN" altLang="en-US" sz="1800" dirty="0" smtClean="0"/>
              <a:t>。</a:t>
            </a:r>
            <a:endParaRPr lang="en-US" altLang="zh-CN" sz="1800" dirty="0" smtClean="0"/>
          </a:p>
          <a:p>
            <a:pPr indent="457200">
              <a:lnSpc>
                <a:spcPct val="150000"/>
              </a:lnSpc>
            </a:pPr>
            <a:r>
              <a:rPr lang="zh-CN" altLang="zh-CN" sz="1800" dirty="0" smtClean="0"/>
              <a:t>另外</a:t>
            </a:r>
            <a:r>
              <a:rPr lang="zh-CN" altLang="zh-CN" sz="1800" dirty="0"/>
              <a:t>，</a:t>
            </a:r>
            <a:r>
              <a:rPr lang="en-US" altLang="zh-CN" sz="1800" dirty="0"/>
              <a:t>FM</a:t>
            </a:r>
            <a:r>
              <a:rPr lang="zh-CN" altLang="zh-CN" sz="1800" dirty="0"/>
              <a:t>解调常采用斜率鉴频器或锁相鉴频器等电路，这些电路都有一个共性，就是解调器的工作频率范围越窄则解调灵敏度就越高</a:t>
            </a:r>
            <a:r>
              <a:rPr lang="zh-CN" altLang="zh-CN" sz="1800" dirty="0" smtClean="0"/>
              <a:t>。</a:t>
            </a:r>
            <a:endParaRPr lang="en-US" altLang="zh-CN" sz="1800" dirty="0" smtClean="0"/>
          </a:p>
          <a:p>
            <a:pPr indent="457200">
              <a:lnSpc>
                <a:spcPct val="150000"/>
              </a:lnSpc>
            </a:pPr>
            <a:r>
              <a:rPr lang="zh-CN" altLang="en-US" sz="1800" dirty="0" smtClean="0"/>
              <a:t>但是在这个题目中，如果本振频率固定</a:t>
            </a:r>
            <a:r>
              <a:rPr lang="zh-CN" altLang="zh-CN" sz="1800" dirty="0" smtClean="0"/>
              <a:t>，</a:t>
            </a:r>
            <a:r>
              <a:rPr lang="zh-CN" altLang="en-US" sz="1800" dirty="0" smtClean="0"/>
              <a:t>则</a:t>
            </a:r>
            <a:r>
              <a:rPr lang="zh-CN" altLang="zh-CN" sz="1800" dirty="0" smtClean="0"/>
              <a:t>鉴频器</a:t>
            </a:r>
            <a:r>
              <a:rPr lang="zh-CN" altLang="zh-CN" sz="1800" dirty="0"/>
              <a:t>的工作频率范围也必须大于</a:t>
            </a:r>
            <a:r>
              <a:rPr lang="en-US" altLang="zh-CN" sz="1800" dirty="0"/>
              <a:t>300kHz+50kHz</a:t>
            </a:r>
            <a:r>
              <a:rPr lang="zh-CN" altLang="zh-CN" sz="1800" dirty="0" smtClean="0"/>
              <a:t>。而</a:t>
            </a:r>
            <a:r>
              <a:rPr lang="zh-CN" altLang="zh-CN" sz="1800" dirty="0"/>
              <a:t>鉴频频率范围的</a:t>
            </a:r>
            <a:r>
              <a:rPr lang="zh-CN" altLang="zh-CN" sz="1800" dirty="0" smtClean="0"/>
              <a:t>扩大</a:t>
            </a:r>
            <a:r>
              <a:rPr lang="zh-CN" altLang="en-US" sz="1800" dirty="0" smtClean="0"/>
              <a:t>将</a:t>
            </a:r>
            <a:r>
              <a:rPr lang="zh-CN" altLang="zh-CN" sz="1800" dirty="0" smtClean="0"/>
              <a:t>使得</a:t>
            </a:r>
            <a:r>
              <a:rPr lang="zh-CN" altLang="zh-CN" sz="1800" dirty="0"/>
              <a:t>鉴频器的鉴频增益变得极低，导致输出信号幅度极度</a:t>
            </a:r>
            <a:r>
              <a:rPr lang="zh-CN" altLang="zh-CN" sz="1800" dirty="0" smtClean="0"/>
              <a:t>下降</a:t>
            </a:r>
            <a:r>
              <a:rPr lang="zh-CN" altLang="en-US" sz="1800" dirty="0" smtClean="0"/>
              <a:t>。</a:t>
            </a:r>
            <a:endParaRPr lang="en-US" altLang="zh-CN" sz="1800" dirty="0" smtClean="0"/>
          </a:p>
          <a:p>
            <a:pPr indent="457200">
              <a:lnSpc>
                <a:spcPct val="150000"/>
              </a:lnSpc>
            </a:pPr>
            <a:r>
              <a:rPr lang="zh-CN" altLang="en-US" sz="1800" dirty="0" smtClean="0"/>
              <a:t>上述两点</a:t>
            </a:r>
            <a:r>
              <a:rPr lang="zh-CN" altLang="zh-CN" sz="1800" dirty="0" smtClean="0"/>
              <a:t>的</a:t>
            </a:r>
            <a:r>
              <a:rPr lang="zh-CN" altLang="zh-CN" sz="1800" dirty="0"/>
              <a:t>最终效果就是输出信号的信噪比将变得极差。</a:t>
            </a:r>
            <a:endParaRPr lang="zh-CN" altLang="en-US" sz="1600" dirty="0"/>
          </a:p>
        </p:txBody>
      </p:sp>
    </p:spTree>
    <p:extLst>
      <p:ext uri="{BB962C8B-B14F-4D97-AF65-F5344CB8AC3E}">
        <p14:creationId xmlns:p14="http://schemas.microsoft.com/office/powerpoint/2010/main" val="225841044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57</a:t>
            </a:fld>
            <a:endParaRPr lang="en-US" altLang="zh-CN"/>
          </a:p>
        </p:txBody>
      </p:sp>
      <p:sp>
        <p:nvSpPr>
          <p:cNvPr id="2" name="文本框 1"/>
          <p:cNvSpPr txBox="1"/>
          <p:nvPr/>
        </p:nvSpPr>
        <p:spPr>
          <a:xfrm>
            <a:off x="475488" y="607274"/>
            <a:ext cx="11236147" cy="5262979"/>
          </a:xfrm>
          <a:prstGeom prst="rect">
            <a:avLst/>
          </a:prstGeom>
          <a:noFill/>
        </p:spPr>
        <p:txBody>
          <a:bodyPr wrap="square" rtlCol="0">
            <a:spAutoFit/>
          </a:bodyPr>
          <a:lstStyle/>
          <a:p>
            <a:pPr indent="457200">
              <a:lnSpc>
                <a:spcPct val="150000"/>
              </a:lnSpc>
            </a:pPr>
            <a:r>
              <a:rPr lang="zh-CN" altLang="zh-CN" sz="1800" dirty="0"/>
              <a:t>解决此问题的关键是设法让本振频率随着输入信号频率的漂移变化而变化，从而保证中频频率不变，那样的话整个中频放大器和鉴频器等就都可以按照常规的超外差电路进行设计。这种电路通常被称为自动频率控制（</a:t>
            </a:r>
            <a:r>
              <a:rPr lang="en-US" altLang="zh-CN" sz="1800" dirty="0"/>
              <a:t>AFC</a:t>
            </a:r>
            <a:r>
              <a:rPr lang="zh-CN" altLang="zh-CN" sz="1800" dirty="0"/>
              <a:t>）电路</a:t>
            </a:r>
            <a:r>
              <a:rPr lang="zh-CN" altLang="en-US" sz="1800" dirty="0"/>
              <a:t>。</a:t>
            </a:r>
            <a:endParaRPr lang="en-US" altLang="zh-CN" sz="1800" dirty="0"/>
          </a:p>
          <a:p>
            <a:pPr indent="457200">
              <a:lnSpc>
                <a:spcPct val="150000"/>
              </a:lnSpc>
            </a:pPr>
            <a:endParaRPr lang="en-US" altLang="zh-CN" sz="1600" dirty="0"/>
          </a:p>
          <a:p>
            <a:pPr indent="457200">
              <a:lnSpc>
                <a:spcPct val="150000"/>
              </a:lnSpc>
            </a:pPr>
            <a:endParaRPr lang="en-US" altLang="zh-CN" sz="1600" dirty="0"/>
          </a:p>
          <a:p>
            <a:pPr indent="457200">
              <a:lnSpc>
                <a:spcPct val="150000"/>
              </a:lnSpc>
            </a:pPr>
            <a:endParaRPr lang="en-US" altLang="zh-CN" sz="1600" dirty="0"/>
          </a:p>
          <a:p>
            <a:pPr indent="457200">
              <a:lnSpc>
                <a:spcPct val="150000"/>
              </a:lnSpc>
            </a:pPr>
            <a:endParaRPr lang="en-US" altLang="zh-CN" sz="1600" dirty="0"/>
          </a:p>
          <a:p>
            <a:pPr indent="457200">
              <a:lnSpc>
                <a:spcPct val="150000"/>
              </a:lnSpc>
            </a:pPr>
            <a:endParaRPr lang="en-US" altLang="zh-CN" sz="1600" dirty="0"/>
          </a:p>
          <a:p>
            <a:pPr indent="457200">
              <a:lnSpc>
                <a:spcPct val="150000"/>
              </a:lnSpc>
            </a:pPr>
            <a:r>
              <a:rPr lang="zh-CN" altLang="zh-CN" sz="1800" dirty="0"/>
              <a:t>此电路用一个压控振荡器（</a:t>
            </a:r>
            <a:r>
              <a:rPr lang="en-US" altLang="zh-CN" sz="1800" dirty="0"/>
              <a:t>VCO</a:t>
            </a:r>
            <a:r>
              <a:rPr lang="zh-CN" altLang="zh-CN" sz="1800" dirty="0"/>
              <a:t>）产生本振信号，鉴频器输出信号中的直流成分用于控制</a:t>
            </a:r>
            <a:r>
              <a:rPr lang="en-US" altLang="zh-CN" sz="1800" dirty="0"/>
              <a:t>VCO</a:t>
            </a:r>
            <a:r>
              <a:rPr lang="zh-CN" altLang="zh-CN" sz="1800" dirty="0"/>
              <a:t>的振荡频率。</a:t>
            </a:r>
          </a:p>
          <a:p>
            <a:pPr indent="457200">
              <a:lnSpc>
                <a:spcPct val="150000"/>
              </a:lnSpc>
            </a:pPr>
            <a:r>
              <a:rPr lang="zh-CN" altLang="zh-CN" sz="1800" dirty="0"/>
              <a:t>当输入信号的</a:t>
            </a:r>
            <a:r>
              <a:rPr lang="zh-CN" altLang="zh-CN" sz="1800" dirty="0" smtClean="0"/>
              <a:t>载频</a:t>
            </a:r>
            <a:r>
              <a:rPr lang="zh-CN" altLang="en-US" sz="1800" dirty="0" smtClean="0"/>
              <a:t>升高</a:t>
            </a:r>
            <a:r>
              <a:rPr lang="zh-CN" altLang="zh-CN" sz="1800" dirty="0" smtClean="0"/>
              <a:t>时</a:t>
            </a:r>
            <a:r>
              <a:rPr lang="zh-CN" altLang="zh-CN" sz="1800" dirty="0"/>
              <a:t>，由于</a:t>
            </a:r>
            <a:r>
              <a:rPr lang="zh-CN" altLang="zh-CN" sz="1800" dirty="0" smtClean="0"/>
              <a:t>中频</a:t>
            </a:r>
            <a:r>
              <a:rPr lang="zh-CN" altLang="en-US" sz="1800" dirty="0" smtClean="0"/>
              <a:t>信号</a:t>
            </a:r>
            <a:r>
              <a:rPr lang="zh-CN" altLang="zh-CN" sz="1800" dirty="0" smtClean="0"/>
              <a:t>频率</a:t>
            </a:r>
            <a:r>
              <a:rPr lang="zh-CN" altLang="zh-CN" sz="1800" dirty="0"/>
              <a:t>等于本振频率减去输入频率，故</a:t>
            </a:r>
            <a:r>
              <a:rPr lang="zh-CN" altLang="zh-CN" sz="1800" dirty="0" smtClean="0"/>
              <a:t>中频</a:t>
            </a:r>
            <a:r>
              <a:rPr lang="zh-CN" altLang="en-US" sz="1800" dirty="0" smtClean="0"/>
              <a:t>信号</a:t>
            </a:r>
            <a:r>
              <a:rPr lang="zh-CN" altLang="zh-CN" sz="1800" dirty="0" smtClean="0"/>
              <a:t>频率</a:t>
            </a:r>
            <a:r>
              <a:rPr lang="zh-CN" altLang="zh-CN" sz="1800" dirty="0"/>
              <a:t>将随之下降。</a:t>
            </a:r>
            <a:r>
              <a:rPr lang="zh-CN" altLang="en-US" sz="1800" dirty="0"/>
              <a:t>由于</a:t>
            </a:r>
            <a:r>
              <a:rPr lang="zh-CN" altLang="en-US" sz="1800" dirty="0" smtClean="0"/>
              <a:t>中频信号频率</a:t>
            </a:r>
            <a:r>
              <a:rPr lang="zh-CN" altLang="en-US" sz="1800" dirty="0"/>
              <a:t>变化，</a:t>
            </a:r>
            <a:r>
              <a:rPr lang="zh-CN" altLang="zh-CN" sz="1800" dirty="0"/>
              <a:t>鉴频器输出的平均电压</a:t>
            </a:r>
            <a:r>
              <a:rPr lang="zh-CN" altLang="en-US" sz="1800" dirty="0"/>
              <a:t>亦将变化</a:t>
            </a:r>
            <a:r>
              <a:rPr lang="zh-CN" altLang="en-US" sz="1800" dirty="0" smtClean="0"/>
              <a:t>，</a:t>
            </a:r>
            <a:r>
              <a:rPr lang="zh-CN" altLang="zh-CN" sz="1800" dirty="0" smtClean="0"/>
              <a:t>此电压加</a:t>
            </a:r>
            <a:r>
              <a:rPr lang="zh-CN" altLang="zh-CN" sz="1800" dirty="0"/>
              <a:t>到</a:t>
            </a:r>
            <a:r>
              <a:rPr lang="en-US" altLang="zh-CN" sz="1800" dirty="0"/>
              <a:t>VCO</a:t>
            </a:r>
            <a:r>
              <a:rPr lang="zh-CN" altLang="zh-CN" sz="1800" dirty="0"/>
              <a:t>的控制端</a:t>
            </a:r>
            <a:r>
              <a:rPr lang="zh-CN" altLang="en-US" sz="1800" dirty="0"/>
              <a:t>将</a:t>
            </a:r>
            <a:r>
              <a:rPr lang="zh-CN" altLang="zh-CN" sz="1800" dirty="0"/>
              <a:t>使得</a:t>
            </a:r>
            <a:r>
              <a:rPr lang="en-US" altLang="zh-CN" sz="1800" dirty="0"/>
              <a:t>VCO</a:t>
            </a:r>
            <a:r>
              <a:rPr lang="zh-CN" altLang="zh-CN" sz="1800" dirty="0"/>
              <a:t>的振荡</a:t>
            </a:r>
            <a:r>
              <a:rPr lang="zh-CN" altLang="zh-CN" sz="1800" dirty="0" smtClean="0"/>
              <a:t>频率</a:t>
            </a:r>
            <a:r>
              <a:rPr lang="zh-CN" altLang="en-US" sz="1800" dirty="0" smtClean="0"/>
              <a:t>变化。若反馈信号极性设计</a:t>
            </a:r>
            <a:r>
              <a:rPr lang="zh-CN" altLang="en-US" sz="1800" dirty="0"/>
              <a:t>合理</a:t>
            </a:r>
            <a:r>
              <a:rPr lang="zh-CN" altLang="en-US" sz="1800" dirty="0" smtClean="0"/>
              <a:t>，使得此情况下</a:t>
            </a:r>
            <a:r>
              <a:rPr lang="en-US" altLang="zh-CN" sz="1800" dirty="0" smtClean="0"/>
              <a:t>VCO</a:t>
            </a:r>
            <a:r>
              <a:rPr lang="zh-CN" altLang="en-US" sz="1800" dirty="0" smtClean="0"/>
              <a:t>的频率升高</a:t>
            </a:r>
            <a:r>
              <a:rPr lang="zh-CN" altLang="zh-CN" sz="1800" dirty="0" smtClean="0"/>
              <a:t>，</a:t>
            </a:r>
            <a:r>
              <a:rPr lang="zh-CN" altLang="en-US" sz="1800" dirty="0" smtClean="0"/>
              <a:t>就可以</a:t>
            </a:r>
            <a:r>
              <a:rPr lang="zh-CN" altLang="zh-CN" sz="1800" dirty="0" smtClean="0"/>
              <a:t>维持</a:t>
            </a:r>
            <a:r>
              <a:rPr lang="zh-CN" altLang="zh-CN" sz="1800" dirty="0"/>
              <a:t>中频</a:t>
            </a:r>
            <a:r>
              <a:rPr lang="zh-CN" altLang="zh-CN" sz="1800" dirty="0" smtClean="0"/>
              <a:t>频率</a:t>
            </a:r>
            <a:r>
              <a:rPr lang="zh-CN" altLang="en-US" sz="1800" dirty="0" smtClean="0"/>
              <a:t>基本</a:t>
            </a:r>
            <a:r>
              <a:rPr lang="zh-CN" altLang="zh-CN" sz="1800" dirty="0" smtClean="0"/>
              <a:t>不变。</a:t>
            </a:r>
            <a:endParaRPr lang="en-US" altLang="zh-CN" sz="1800" dirty="0" smtClean="0"/>
          </a:p>
          <a:p>
            <a:pPr indent="457200">
              <a:lnSpc>
                <a:spcPct val="150000"/>
              </a:lnSpc>
            </a:pPr>
            <a:r>
              <a:rPr lang="zh-CN" altLang="zh-CN" sz="1800" dirty="0" smtClean="0"/>
              <a:t>输入信号</a:t>
            </a:r>
            <a:r>
              <a:rPr lang="zh-CN" altLang="zh-CN" sz="1800" dirty="0"/>
              <a:t>载频频率下降的情况可以得到同样结果。</a:t>
            </a:r>
            <a:endParaRPr lang="zh-CN" altLang="en-US" sz="1800" dirty="0"/>
          </a:p>
        </p:txBody>
      </p:sp>
      <p:pic>
        <p:nvPicPr>
          <p:cNvPr id="4" name="图片 3"/>
          <p:cNvPicPr>
            <a:picLocks noChangeAspect="1"/>
          </p:cNvPicPr>
          <p:nvPr/>
        </p:nvPicPr>
        <p:blipFill>
          <a:blip r:embed="rId2"/>
          <a:stretch>
            <a:fillRect/>
          </a:stretch>
        </p:blipFill>
        <p:spPr>
          <a:xfrm>
            <a:off x="3540323" y="1938902"/>
            <a:ext cx="4926131" cy="1459232"/>
          </a:xfrm>
          <a:prstGeom prst="rect">
            <a:avLst/>
          </a:prstGeom>
        </p:spPr>
      </p:pic>
    </p:spTree>
    <p:extLst>
      <p:ext uri="{BB962C8B-B14F-4D97-AF65-F5344CB8AC3E}">
        <p14:creationId xmlns:p14="http://schemas.microsoft.com/office/powerpoint/2010/main" val="380433139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58</a:t>
            </a:fld>
            <a:endParaRPr lang="en-US" altLang="zh-CN"/>
          </a:p>
        </p:txBody>
      </p:sp>
      <p:sp>
        <p:nvSpPr>
          <p:cNvPr id="6" name="文本框 5"/>
          <p:cNvSpPr txBox="1"/>
          <p:nvPr/>
        </p:nvSpPr>
        <p:spPr>
          <a:xfrm>
            <a:off x="534009" y="463845"/>
            <a:ext cx="11287575" cy="1011239"/>
          </a:xfrm>
          <a:prstGeom prst="rect">
            <a:avLst/>
          </a:prstGeom>
          <a:noFill/>
        </p:spPr>
        <p:txBody>
          <a:bodyPr wrap="square" rtlCol="0">
            <a:spAutoFit/>
          </a:bodyPr>
          <a:lstStyle/>
          <a:p>
            <a:pPr>
              <a:lnSpc>
                <a:spcPct val="150000"/>
              </a:lnSpc>
            </a:pPr>
            <a:r>
              <a:rPr lang="zh-CN" altLang="en-US" sz="2400" dirty="0">
                <a:solidFill>
                  <a:srgbClr val="FF0000"/>
                </a:solidFill>
                <a:latin typeface="华文隶书" panose="02010800040101010101" pitchFamily="2" charset="-122"/>
                <a:ea typeface="华文隶书" panose="02010800040101010101" pitchFamily="2" charset="-122"/>
              </a:rPr>
              <a:t>接收部分的参考设计</a:t>
            </a:r>
            <a:endParaRPr lang="en-US" altLang="zh-CN" sz="2400" dirty="0">
              <a:solidFill>
                <a:srgbClr val="FF0000"/>
              </a:solidFill>
              <a:latin typeface="华文隶书" panose="02010800040101010101" pitchFamily="2" charset="-122"/>
              <a:ea typeface="华文隶书" panose="02010800040101010101" pitchFamily="2" charset="-122"/>
            </a:endParaRPr>
          </a:p>
          <a:p>
            <a:pPr indent="457200">
              <a:lnSpc>
                <a:spcPct val="150000"/>
              </a:lnSpc>
            </a:pPr>
            <a:r>
              <a:rPr lang="zh-CN" altLang="en-US" sz="1800" dirty="0"/>
              <a:t>采用带有</a:t>
            </a:r>
            <a:r>
              <a:rPr lang="en-US" altLang="zh-CN" sz="1800" dirty="0"/>
              <a:t>AFC</a:t>
            </a:r>
            <a:r>
              <a:rPr lang="zh-CN" altLang="en-US" sz="1800" dirty="0"/>
              <a:t>功能的超外差式</a:t>
            </a:r>
            <a:r>
              <a:rPr lang="en-US" altLang="zh-CN" sz="1800" dirty="0"/>
              <a:t>FM</a:t>
            </a:r>
            <a:r>
              <a:rPr lang="zh-CN" altLang="en-US" sz="1800" dirty="0"/>
              <a:t>接收机，再对解调信号进行双声道分离。整机框图如下：</a:t>
            </a:r>
          </a:p>
        </p:txBody>
      </p:sp>
      <p:pic>
        <p:nvPicPr>
          <p:cNvPr id="7" name="图片 6"/>
          <p:cNvPicPr>
            <a:picLocks noChangeAspect="1"/>
          </p:cNvPicPr>
          <p:nvPr/>
        </p:nvPicPr>
        <p:blipFill>
          <a:blip r:embed="rId2"/>
          <a:stretch>
            <a:fillRect/>
          </a:stretch>
        </p:blipFill>
        <p:spPr>
          <a:xfrm>
            <a:off x="1008072" y="1720061"/>
            <a:ext cx="9474609" cy="2164309"/>
          </a:xfrm>
          <a:prstGeom prst="rect">
            <a:avLst/>
          </a:prstGeom>
        </p:spPr>
      </p:pic>
      <p:sp>
        <p:nvSpPr>
          <p:cNvPr id="8" name="文本框 7"/>
          <p:cNvSpPr txBox="1"/>
          <p:nvPr/>
        </p:nvSpPr>
        <p:spPr>
          <a:xfrm>
            <a:off x="753466" y="4330598"/>
            <a:ext cx="10826496" cy="87203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中放的</a:t>
            </a:r>
            <a:r>
              <a:rPr lang="en-US" altLang="zh-CN" sz="1800" dirty="0" smtClean="0"/>
              <a:t>AGC</a:t>
            </a:r>
            <a:r>
              <a:rPr lang="zh-CN" altLang="en-US" sz="1800" dirty="0" smtClean="0"/>
              <a:t>功能是超外差接收机的标准配置，只有在信号幅度变化不大的情况下才能勉强不用</a:t>
            </a:r>
            <a:endParaRPr lang="en-US" altLang="zh-CN" sz="1800" dirty="0" smtClean="0"/>
          </a:p>
          <a:p>
            <a:pPr marL="285750" indent="-285750">
              <a:lnSpc>
                <a:spcPct val="150000"/>
              </a:lnSpc>
              <a:buFont typeface="Arial" panose="020B0604020202020204" pitchFamily="34" charset="0"/>
              <a:buChar char="•"/>
            </a:pPr>
            <a:r>
              <a:rPr lang="en-US" altLang="zh-CN" sz="1800" dirty="0" smtClean="0"/>
              <a:t>B</a:t>
            </a:r>
            <a:r>
              <a:rPr lang="zh-CN" altLang="en-US" sz="1800" dirty="0" smtClean="0"/>
              <a:t>信号通道中的</a:t>
            </a:r>
            <a:r>
              <a:rPr lang="en-US" altLang="zh-CN" sz="1800" dirty="0" smtClean="0"/>
              <a:t>PLL</a:t>
            </a:r>
            <a:r>
              <a:rPr lang="zh-CN" altLang="en-US" sz="1800" dirty="0" smtClean="0"/>
              <a:t>是抑制副载波信号的情况下才需要的，后面将详述</a:t>
            </a:r>
            <a:endParaRPr lang="zh-CN" altLang="en-US" sz="1800" dirty="0"/>
          </a:p>
        </p:txBody>
      </p:sp>
    </p:spTree>
    <p:extLst>
      <p:ext uri="{BB962C8B-B14F-4D97-AF65-F5344CB8AC3E}">
        <p14:creationId xmlns:p14="http://schemas.microsoft.com/office/powerpoint/2010/main" val="116345773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59</a:t>
            </a:fld>
            <a:endParaRPr lang="en-US" altLang="zh-CN">
              <a:solidFill>
                <a:srgbClr val="FFFFFF"/>
              </a:solidFill>
            </a:endParaRPr>
          </a:p>
        </p:txBody>
      </p:sp>
      <p:sp>
        <p:nvSpPr>
          <p:cNvPr id="5" name="文本框 4"/>
          <p:cNvSpPr txBox="1"/>
          <p:nvPr/>
        </p:nvSpPr>
        <p:spPr>
          <a:xfrm>
            <a:off x="519379" y="474134"/>
            <a:ext cx="11302205" cy="923330"/>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天线</a:t>
            </a:r>
            <a:r>
              <a:rPr lang="zh-CN" altLang="en-US" sz="1800" dirty="0"/>
              <a:t>与前置放大器</a:t>
            </a:r>
            <a:endParaRPr lang="en-US" altLang="zh-CN" sz="1800" dirty="0"/>
          </a:p>
          <a:p>
            <a:pPr indent="457200">
              <a:lnSpc>
                <a:spcPct val="150000"/>
              </a:lnSpc>
            </a:pPr>
            <a:r>
              <a:rPr lang="zh-CN" altLang="en-US" sz="1800" dirty="0"/>
              <a:t>为了提高接收灵敏度和降低噪声，前置放大器可以采用高频晶体管构成</a:t>
            </a:r>
            <a:r>
              <a:rPr lang="zh-CN" altLang="en-US" sz="1800" dirty="0" smtClean="0"/>
              <a:t>选频放大器</a:t>
            </a:r>
            <a:endParaRPr lang="zh-CN" altLang="en-US" sz="1800" dirty="0"/>
          </a:p>
        </p:txBody>
      </p:sp>
      <p:pic>
        <p:nvPicPr>
          <p:cNvPr id="6" name="图片 5"/>
          <p:cNvPicPr>
            <a:picLocks noChangeAspect="1"/>
          </p:cNvPicPr>
          <p:nvPr/>
        </p:nvPicPr>
        <p:blipFill>
          <a:blip r:embed="rId2"/>
          <a:stretch>
            <a:fillRect/>
          </a:stretch>
        </p:blipFill>
        <p:spPr>
          <a:xfrm>
            <a:off x="3724845" y="1812962"/>
            <a:ext cx="3202193" cy="2857653"/>
          </a:xfrm>
          <a:prstGeom prst="rect">
            <a:avLst/>
          </a:prstGeom>
        </p:spPr>
      </p:pic>
      <p:sp>
        <p:nvSpPr>
          <p:cNvPr id="9" name="椭圆 8"/>
          <p:cNvSpPr/>
          <p:nvPr/>
        </p:nvSpPr>
        <p:spPr>
          <a:xfrm>
            <a:off x="3650015" y="2910241"/>
            <a:ext cx="1083733" cy="12598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672787" y="2527183"/>
            <a:ext cx="664109" cy="23059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458495" y="2287094"/>
            <a:ext cx="1137920" cy="10585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485000" y="3174402"/>
            <a:ext cx="1239844" cy="646331"/>
          </a:xfrm>
          <a:prstGeom prst="rect">
            <a:avLst/>
          </a:prstGeom>
          <a:noFill/>
        </p:spPr>
        <p:txBody>
          <a:bodyPr wrap="square" rtlCol="0">
            <a:spAutoFit/>
          </a:bodyPr>
          <a:lstStyle/>
          <a:p>
            <a:r>
              <a:rPr lang="zh-CN" altLang="en-US" sz="1800" dirty="0"/>
              <a:t>输入选频</a:t>
            </a:r>
            <a:endParaRPr lang="en-US" altLang="zh-CN" sz="1800" dirty="0"/>
          </a:p>
          <a:p>
            <a:r>
              <a:rPr lang="en-US" altLang="zh-CN" sz="1800" dirty="0"/>
              <a:t>48.5MHz</a:t>
            </a:r>
            <a:endParaRPr lang="zh-CN" altLang="en-US" sz="1800" dirty="0"/>
          </a:p>
        </p:txBody>
      </p:sp>
      <p:sp>
        <p:nvSpPr>
          <p:cNvPr id="13" name="文本框 12"/>
          <p:cNvSpPr txBox="1"/>
          <p:nvPr/>
        </p:nvSpPr>
        <p:spPr>
          <a:xfrm>
            <a:off x="6405329" y="1950771"/>
            <a:ext cx="1239844" cy="646331"/>
          </a:xfrm>
          <a:prstGeom prst="rect">
            <a:avLst/>
          </a:prstGeom>
          <a:noFill/>
        </p:spPr>
        <p:txBody>
          <a:bodyPr wrap="square" rtlCol="0">
            <a:spAutoFit/>
          </a:bodyPr>
          <a:lstStyle/>
          <a:p>
            <a:r>
              <a:rPr lang="zh-CN" altLang="en-US" sz="1800" dirty="0"/>
              <a:t>输出选频</a:t>
            </a:r>
            <a:endParaRPr lang="en-US" altLang="zh-CN" sz="1800" dirty="0"/>
          </a:p>
          <a:p>
            <a:r>
              <a:rPr lang="en-US" altLang="zh-CN" sz="1800" dirty="0"/>
              <a:t>48.5MHz</a:t>
            </a:r>
            <a:endParaRPr lang="zh-CN" altLang="en-US" sz="1800" dirty="0"/>
          </a:p>
        </p:txBody>
      </p:sp>
      <p:sp>
        <p:nvSpPr>
          <p:cNvPr id="14" name="文本框 13"/>
          <p:cNvSpPr txBox="1"/>
          <p:nvPr/>
        </p:nvSpPr>
        <p:spPr>
          <a:xfrm>
            <a:off x="4266387" y="4771947"/>
            <a:ext cx="2275840" cy="646331"/>
          </a:xfrm>
          <a:prstGeom prst="rect">
            <a:avLst/>
          </a:prstGeom>
          <a:noFill/>
        </p:spPr>
        <p:txBody>
          <a:bodyPr wrap="square" rtlCol="0">
            <a:spAutoFit/>
          </a:bodyPr>
          <a:lstStyle/>
          <a:p>
            <a:r>
              <a:rPr lang="zh-CN" altLang="en-US" sz="1800" dirty="0"/>
              <a:t>偏置电路</a:t>
            </a:r>
            <a:endParaRPr lang="en-US" altLang="zh-CN" sz="1800" dirty="0"/>
          </a:p>
          <a:p>
            <a:r>
              <a:rPr lang="zh-CN" altLang="en-US" sz="1800" dirty="0"/>
              <a:t>静态工作点</a:t>
            </a:r>
            <a:r>
              <a:rPr lang="en-US" altLang="zh-CN" sz="1800" dirty="0"/>
              <a:t>0.5~1mA</a:t>
            </a:r>
            <a:endParaRPr lang="zh-CN" altLang="en-US" sz="1800" dirty="0"/>
          </a:p>
        </p:txBody>
      </p:sp>
      <p:sp>
        <p:nvSpPr>
          <p:cNvPr id="15" name="椭圆 14"/>
          <p:cNvSpPr/>
          <p:nvPr/>
        </p:nvSpPr>
        <p:spPr>
          <a:xfrm>
            <a:off x="5336897" y="3736587"/>
            <a:ext cx="975037" cy="10295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p:cNvCxnSpPr/>
          <p:nvPr/>
        </p:nvCxnSpPr>
        <p:spPr>
          <a:xfrm flipH="1">
            <a:off x="5824415" y="3674664"/>
            <a:ext cx="669605" cy="14606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6523624" y="3483498"/>
            <a:ext cx="1806763" cy="646331"/>
          </a:xfrm>
          <a:prstGeom prst="rect">
            <a:avLst/>
          </a:prstGeom>
          <a:noFill/>
        </p:spPr>
        <p:txBody>
          <a:bodyPr wrap="square" rtlCol="0">
            <a:spAutoFit/>
          </a:bodyPr>
          <a:lstStyle/>
          <a:p>
            <a:r>
              <a:rPr lang="zh-CN" altLang="en-US" sz="1800" dirty="0"/>
              <a:t>发射极电位选取</a:t>
            </a:r>
            <a:r>
              <a:rPr lang="en-US" altLang="zh-CN" sz="1800" dirty="0"/>
              <a:t>1V</a:t>
            </a:r>
            <a:r>
              <a:rPr lang="zh-CN" altLang="en-US" sz="1800" dirty="0"/>
              <a:t>左右即可</a:t>
            </a:r>
            <a:endParaRPr lang="en-US" altLang="zh-CN" sz="1800" dirty="0"/>
          </a:p>
        </p:txBody>
      </p:sp>
      <p:cxnSp>
        <p:nvCxnSpPr>
          <p:cNvPr id="23" name="直接箭头连接符 22"/>
          <p:cNvCxnSpPr/>
          <p:nvPr/>
        </p:nvCxnSpPr>
        <p:spPr>
          <a:xfrm flipH="1" flipV="1">
            <a:off x="6757703" y="2869337"/>
            <a:ext cx="629602" cy="1485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7482950" y="2619546"/>
            <a:ext cx="2276610" cy="646331"/>
          </a:xfrm>
          <a:prstGeom prst="rect">
            <a:avLst/>
          </a:prstGeom>
          <a:noFill/>
        </p:spPr>
        <p:txBody>
          <a:bodyPr wrap="square" rtlCol="0">
            <a:spAutoFit/>
          </a:bodyPr>
          <a:lstStyle/>
          <a:p>
            <a:r>
              <a:rPr lang="zh-CN" altLang="en-US" sz="1800" dirty="0"/>
              <a:t>与后续电路阻抗匹配，通常为</a:t>
            </a:r>
            <a:r>
              <a:rPr lang="en-US" altLang="zh-CN" sz="1800" dirty="0"/>
              <a:t>50</a:t>
            </a:r>
            <a:r>
              <a:rPr lang="zh-CN" altLang="en-US" sz="1800" dirty="0"/>
              <a:t>欧</a:t>
            </a:r>
            <a:endParaRPr lang="en-US" altLang="zh-CN" sz="1800" dirty="0"/>
          </a:p>
        </p:txBody>
      </p:sp>
      <p:sp>
        <p:nvSpPr>
          <p:cNvPr id="7" name="文本框 6"/>
          <p:cNvSpPr txBox="1"/>
          <p:nvPr/>
        </p:nvSpPr>
        <p:spPr>
          <a:xfrm>
            <a:off x="519379" y="5501486"/>
            <a:ext cx="11031322" cy="923330"/>
          </a:xfrm>
          <a:prstGeom prst="rect">
            <a:avLst/>
          </a:prstGeom>
          <a:noFill/>
        </p:spPr>
        <p:txBody>
          <a:bodyPr wrap="square" rtlCol="0">
            <a:spAutoFit/>
          </a:bodyPr>
          <a:lstStyle/>
          <a:p>
            <a:pPr>
              <a:lnSpc>
                <a:spcPct val="150000"/>
              </a:lnSpc>
            </a:pPr>
            <a:r>
              <a:rPr lang="zh-CN" altLang="en-US" sz="1800" dirty="0" smtClean="0">
                <a:solidFill>
                  <a:srgbClr val="FF0000"/>
                </a:solidFill>
                <a:latin typeface="楷体" panose="02010609060101010101" pitchFamily="49" charset="-122"/>
                <a:ea typeface="楷体" panose="02010609060101010101" pitchFamily="49" charset="-122"/>
              </a:rPr>
              <a:t>在接收条件良好的情况下，可以不要前置放大器，但最好保留输入选频网络</a:t>
            </a:r>
            <a:endParaRPr lang="en-US" altLang="zh-CN" sz="1800" dirty="0" smtClean="0">
              <a:solidFill>
                <a:srgbClr val="FF0000"/>
              </a:solidFill>
              <a:latin typeface="楷体" panose="02010609060101010101" pitchFamily="49" charset="-122"/>
              <a:ea typeface="楷体" panose="02010609060101010101" pitchFamily="49" charset="-122"/>
            </a:endParaRPr>
          </a:p>
          <a:p>
            <a:pPr>
              <a:lnSpc>
                <a:spcPct val="150000"/>
              </a:lnSpc>
            </a:pPr>
            <a:r>
              <a:rPr lang="zh-CN" altLang="en-US" sz="1800" dirty="0">
                <a:solidFill>
                  <a:srgbClr val="FF0000"/>
                </a:solidFill>
                <a:latin typeface="楷体" panose="02010609060101010101" pitchFamily="49" charset="-122"/>
                <a:ea typeface="楷体" panose="02010609060101010101" pitchFamily="49" charset="-122"/>
              </a:rPr>
              <a:t>也</a:t>
            </a:r>
            <a:r>
              <a:rPr lang="zh-CN" altLang="en-US" sz="1800" dirty="0" smtClean="0">
                <a:solidFill>
                  <a:srgbClr val="FF0000"/>
                </a:solidFill>
                <a:latin typeface="楷体" panose="02010609060101010101" pitchFamily="49" charset="-122"/>
                <a:ea typeface="楷体" panose="02010609060101010101" pitchFamily="49" charset="-122"/>
              </a:rPr>
              <a:t>可采用</a:t>
            </a:r>
            <a:r>
              <a:rPr lang="en-US" altLang="zh-CN" sz="1800" dirty="0" smtClean="0">
                <a:solidFill>
                  <a:srgbClr val="FF0000"/>
                </a:solidFill>
                <a:latin typeface="楷体" panose="02010609060101010101" pitchFamily="49" charset="-122"/>
                <a:ea typeface="楷体" panose="02010609060101010101" pitchFamily="49" charset="-122"/>
              </a:rPr>
              <a:t>MMIC</a:t>
            </a:r>
            <a:r>
              <a:rPr lang="zh-CN" altLang="en-US" sz="1800" dirty="0" smtClean="0">
                <a:solidFill>
                  <a:srgbClr val="FF0000"/>
                </a:solidFill>
                <a:latin typeface="楷体" panose="02010609060101010101" pitchFamily="49" charset="-122"/>
                <a:ea typeface="楷体" panose="02010609060101010101" pitchFamily="49" charset="-122"/>
              </a:rPr>
              <a:t>构成前置放大器，此时选频网络的输出直接作为</a:t>
            </a:r>
            <a:r>
              <a:rPr lang="en-US" altLang="zh-CN" sz="1800" dirty="0" smtClean="0">
                <a:solidFill>
                  <a:srgbClr val="FF0000"/>
                </a:solidFill>
                <a:latin typeface="楷体" panose="02010609060101010101" pitchFamily="49" charset="-122"/>
                <a:ea typeface="楷体" panose="02010609060101010101" pitchFamily="49" charset="-122"/>
              </a:rPr>
              <a:t>MMIC</a:t>
            </a:r>
            <a:r>
              <a:rPr lang="zh-CN" altLang="en-US" sz="1800" dirty="0" smtClean="0">
                <a:solidFill>
                  <a:srgbClr val="FF0000"/>
                </a:solidFill>
                <a:latin typeface="楷体" panose="02010609060101010101" pitchFamily="49" charset="-122"/>
                <a:ea typeface="楷体" panose="02010609060101010101" pitchFamily="49" charset="-122"/>
              </a:rPr>
              <a:t>的输入信号</a:t>
            </a:r>
            <a:endParaRPr lang="zh-CN" altLang="en-US" sz="1800" dirty="0">
              <a:solidFill>
                <a:srgbClr val="FF000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4186904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60</a:t>
            </a:fld>
            <a:endParaRPr lang="en-US" altLang="zh-CN">
              <a:solidFill>
                <a:srgbClr val="FFFFFF"/>
              </a:solidFill>
            </a:endParaRPr>
          </a:p>
        </p:txBody>
      </p:sp>
      <p:sp>
        <p:nvSpPr>
          <p:cNvPr id="5" name="文本框 4"/>
          <p:cNvSpPr txBox="1"/>
          <p:nvPr/>
        </p:nvSpPr>
        <p:spPr>
          <a:xfrm>
            <a:off x="409651" y="421843"/>
            <a:ext cx="11324151" cy="5493812"/>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中频放大器</a:t>
            </a:r>
            <a:endParaRPr lang="en-US" altLang="zh-CN" sz="1800" dirty="0" smtClean="0"/>
          </a:p>
          <a:p>
            <a:pPr marL="285750" indent="-285750">
              <a:lnSpc>
                <a:spcPct val="150000"/>
              </a:lnSpc>
              <a:buFont typeface="Arial" panose="020B0604020202020204" pitchFamily="34" charset="0"/>
              <a:buChar char="•"/>
            </a:pPr>
            <a:r>
              <a:rPr lang="zh-CN" altLang="en-US" sz="1800" dirty="0"/>
              <a:t>中放是一个</a:t>
            </a:r>
            <a:r>
              <a:rPr lang="zh-CN" altLang="en-US" sz="1800" dirty="0" smtClean="0"/>
              <a:t>选频放大器，其主要参数有：中频频率、带宽、增益</a:t>
            </a:r>
            <a:endParaRPr lang="en-US" altLang="zh-CN" sz="1800" dirty="0" smtClean="0"/>
          </a:p>
          <a:p>
            <a:pPr marL="285750" indent="-285750">
              <a:lnSpc>
                <a:spcPct val="150000"/>
              </a:lnSpc>
              <a:buFont typeface="Arial" panose="020B0604020202020204" pitchFamily="34" charset="0"/>
              <a:buChar char="•"/>
            </a:pPr>
            <a:r>
              <a:rPr lang="zh-CN" altLang="en-US" sz="1800" dirty="0" smtClean="0">
                <a:solidFill>
                  <a:srgbClr val="FF0000"/>
                </a:solidFill>
              </a:rPr>
              <a:t>中频频率</a:t>
            </a:r>
            <a:endParaRPr lang="en-US" altLang="zh-CN" sz="1800" dirty="0"/>
          </a:p>
          <a:p>
            <a:pPr marL="742950" lvl="1" indent="-285750">
              <a:lnSpc>
                <a:spcPct val="150000"/>
              </a:lnSpc>
              <a:buFont typeface="Arial" panose="020B0604020202020204" pitchFamily="34" charset="0"/>
              <a:buChar char="•"/>
            </a:pPr>
            <a:r>
              <a:rPr lang="zh-CN" altLang="en-US" sz="1800" dirty="0" smtClean="0"/>
              <a:t>中频</a:t>
            </a:r>
            <a:r>
              <a:rPr lang="zh-CN" altLang="en-US" sz="1800" dirty="0"/>
              <a:t>频率过低，对于抗镜像频率干扰不利；过高则加大对中频放大器的要求。但对于本题来说，因为只有一个载频，镜像干扰问题可不予</a:t>
            </a:r>
            <a:r>
              <a:rPr lang="zh-CN" altLang="en-US" sz="1800" dirty="0" smtClean="0"/>
              <a:t>考虑</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最好</a:t>
            </a:r>
            <a:r>
              <a:rPr lang="zh-CN" altLang="en-US" sz="1800" dirty="0"/>
              <a:t>有合适的商品滤波器，可以简化电路。商品</a:t>
            </a:r>
            <a:r>
              <a:rPr lang="zh-CN" altLang="en-US" sz="1800" dirty="0" smtClean="0"/>
              <a:t>收音机中</a:t>
            </a:r>
            <a:r>
              <a:rPr lang="en-US" altLang="zh-CN" sz="1800" dirty="0" smtClean="0"/>
              <a:t>AM</a:t>
            </a:r>
            <a:r>
              <a:rPr lang="zh-CN" altLang="en-US" sz="1800" dirty="0"/>
              <a:t>接收机的中频为</a:t>
            </a:r>
            <a:r>
              <a:rPr lang="en-US" altLang="zh-CN" sz="1800" dirty="0"/>
              <a:t>465kHz</a:t>
            </a:r>
            <a:r>
              <a:rPr lang="zh-CN" altLang="en-US" sz="1800" dirty="0"/>
              <a:t>（国外有</a:t>
            </a:r>
            <a:r>
              <a:rPr lang="en-US" altLang="zh-CN" sz="1800" dirty="0"/>
              <a:t>455kHz</a:t>
            </a:r>
            <a:r>
              <a:rPr lang="zh-CN" altLang="en-US" sz="1800" dirty="0"/>
              <a:t>），</a:t>
            </a:r>
            <a:r>
              <a:rPr lang="en-US" altLang="zh-CN" sz="1800" dirty="0"/>
              <a:t>FM</a:t>
            </a:r>
            <a:r>
              <a:rPr lang="zh-CN" altLang="en-US" sz="1800" dirty="0"/>
              <a:t>接收机的中频为</a:t>
            </a:r>
            <a:r>
              <a:rPr lang="en-US" altLang="zh-CN" sz="1800" dirty="0"/>
              <a:t>10.7MHz</a:t>
            </a:r>
            <a:r>
              <a:rPr lang="zh-CN" altLang="en-US" sz="1800" dirty="0"/>
              <a:t>。还有就是电视机中使用的中频</a:t>
            </a:r>
            <a:r>
              <a:rPr lang="en-US" altLang="zh-CN" sz="1800" dirty="0"/>
              <a:t>5.5MHz</a:t>
            </a:r>
            <a:r>
              <a:rPr lang="zh-CN" altLang="en-US" sz="1800" dirty="0"/>
              <a:t>或</a:t>
            </a:r>
            <a:r>
              <a:rPr lang="en-US" altLang="zh-CN" sz="1800" dirty="0"/>
              <a:t>6.5MHz</a:t>
            </a:r>
            <a:r>
              <a:rPr lang="zh-CN" altLang="en-US" sz="1800" dirty="0"/>
              <a:t>。这几个频率都有商品压电陶瓷滤波器可供选用。也有一些其他频率的，但由于使用面不广，不易</a:t>
            </a:r>
            <a:r>
              <a:rPr lang="zh-CN" altLang="en-US" sz="1800" dirty="0" smtClean="0"/>
              <a:t>购买</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综合</a:t>
            </a:r>
            <a:r>
              <a:rPr lang="zh-CN" altLang="en-US" sz="1800" dirty="0"/>
              <a:t>考虑后，本题可选</a:t>
            </a:r>
            <a:r>
              <a:rPr lang="en-US" altLang="zh-CN" sz="1800" dirty="0" smtClean="0"/>
              <a:t>5.5MHz</a:t>
            </a:r>
            <a:r>
              <a:rPr lang="zh-CN" altLang="en-US" sz="1800" dirty="0"/>
              <a:t>、</a:t>
            </a:r>
            <a:r>
              <a:rPr lang="en-US" altLang="zh-CN" sz="1800" dirty="0"/>
              <a:t>6.5MHz</a:t>
            </a:r>
            <a:r>
              <a:rPr lang="zh-CN" altLang="en-US" sz="1800" dirty="0"/>
              <a:t>或</a:t>
            </a:r>
            <a:r>
              <a:rPr lang="en-US" altLang="zh-CN" sz="1800" dirty="0"/>
              <a:t>10.7MHz</a:t>
            </a:r>
            <a:r>
              <a:rPr lang="zh-CN" altLang="en-US" sz="1800" dirty="0" smtClean="0"/>
              <a:t>作为中频</a:t>
            </a:r>
            <a:r>
              <a:rPr lang="zh-CN" altLang="en-US" sz="1800" dirty="0"/>
              <a:t>频率（根据能够得到</a:t>
            </a:r>
            <a:r>
              <a:rPr lang="zh-CN" altLang="en-US" sz="1800" dirty="0" smtClean="0"/>
              <a:t>的陶瓷滤波器确定）</a:t>
            </a:r>
            <a:endParaRPr lang="en-US" altLang="zh-CN" sz="1800" dirty="0" smtClean="0"/>
          </a:p>
          <a:p>
            <a:pPr marL="285750" indent="-285750">
              <a:lnSpc>
                <a:spcPct val="150000"/>
              </a:lnSpc>
              <a:buFont typeface="Arial" panose="020B0604020202020204" pitchFamily="34" charset="0"/>
              <a:buChar char="•"/>
            </a:pPr>
            <a:r>
              <a:rPr lang="zh-CN" altLang="en-US" sz="1800" dirty="0" smtClean="0">
                <a:solidFill>
                  <a:srgbClr val="FF0000"/>
                </a:solidFill>
              </a:rPr>
              <a:t>中频带宽</a:t>
            </a:r>
            <a:endParaRPr lang="en-US" altLang="zh-CN" sz="1800" dirty="0" smtClean="0">
              <a:solidFill>
                <a:srgbClr val="FF0000"/>
              </a:solidFill>
            </a:endParaRPr>
          </a:p>
          <a:p>
            <a:pPr marL="742950" lvl="1" indent="-285750">
              <a:lnSpc>
                <a:spcPct val="150000"/>
              </a:lnSpc>
              <a:buFont typeface="Arial" panose="020B0604020202020204" pitchFamily="34" charset="0"/>
              <a:buChar char="•"/>
            </a:pPr>
            <a:r>
              <a:rPr lang="zh-CN" altLang="en-US" sz="1800" dirty="0" smtClean="0"/>
              <a:t>中频带宽应该根据输入信号的带宽确定。而为了保证接收机的选择性，希望通带外的衰减尽量大一些</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对于本题来说，</a:t>
            </a:r>
            <a:r>
              <a:rPr lang="en-US" altLang="zh-CN" sz="1800" dirty="0" smtClean="0"/>
              <a:t>FM</a:t>
            </a:r>
            <a:r>
              <a:rPr lang="zh-CN" altLang="en-US" sz="1800" dirty="0" smtClean="0"/>
              <a:t>信号的峰值频偏是</a:t>
            </a:r>
            <a:r>
              <a:rPr lang="en-US" altLang="zh-CN" sz="1800" dirty="0" smtClean="0"/>
              <a:t>25kHz</a:t>
            </a:r>
            <a:r>
              <a:rPr lang="zh-CN" altLang="en-US" sz="1800" dirty="0" smtClean="0"/>
              <a:t>，信号带宽约为</a:t>
            </a:r>
            <a:r>
              <a:rPr lang="en-US" altLang="zh-CN" sz="1800" dirty="0" smtClean="0"/>
              <a:t>50kHz</a:t>
            </a:r>
            <a:r>
              <a:rPr lang="zh-CN" altLang="en-US" sz="1800" dirty="0" smtClean="0"/>
              <a:t>，中频带宽大于</a:t>
            </a:r>
            <a:r>
              <a:rPr lang="en-US" altLang="zh-CN" sz="1800" dirty="0" smtClean="0"/>
              <a:t>50kHz</a:t>
            </a:r>
            <a:r>
              <a:rPr lang="zh-CN" altLang="en-US" sz="1800" dirty="0" smtClean="0"/>
              <a:t>、且具有较为陡峭的边沿即可</a:t>
            </a:r>
            <a:endParaRPr lang="en-US" altLang="zh-CN" sz="1800" dirty="0" smtClean="0"/>
          </a:p>
        </p:txBody>
      </p:sp>
    </p:spTree>
    <p:extLst>
      <p:ext uri="{BB962C8B-B14F-4D97-AF65-F5344CB8AC3E}">
        <p14:creationId xmlns:p14="http://schemas.microsoft.com/office/powerpoint/2010/main" val="422887895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61</a:t>
            </a:fld>
            <a:endParaRPr lang="en-US" altLang="zh-CN">
              <a:solidFill>
                <a:srgbClr val="FFFFFF"/>
              </a:solidFill>
            </a:endParaRPr>
          </a:p>
        </p:txBody>
      </p:sp>
      <p:sp>
        <p:nvSpPr>
          <p:cNvPr id="5" name="文本框 4"/>
          <p:cNvSpPr txBox="1"/>
          <p:nvPr/>
        </p:nvSpPr>
        <p:spPr>
          <a:xfrm>
            <a:off x="409651" y="421843"/>
            <a:ext cx="11324151" cy="590931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solidFill>
                  <a:srgbClr val="FF0000"/>
                </a:solidFill>
              </a:rPr>
              <a:t>陶瓷滤波器的幅频特性</a:t>
            </a:r>
            <a:endParaRPr lang="en-US" altLang="zh-CN" sz="1800" dirty="0" smtClean="0">
              <a:solidFill>
                <a:srgbClr val="FF0000"/>
              </a:solidFill>
            </a:endParaRPr>
          </a:p>
          <a:p>
            <a:pPr lvl="1">
              <a:lnSpc>
                <a:spcPct val="150000"/>
              </a:lnSpc>
            </a:pPr>
            <a:r>
              <a:rPr lang="zh-CN" altLang="en-US" sz="1800" dirty="0" smtClean="0"/>
              <a:t>右图是一个</a:t>
            </a:r>
            <a:r>
              <a:rPr lang="en-US" altLang="zh-CN" sz="1800" dirty="0" smtClean="0"/>
              <a:t>10.7MHz</a:t>
            </a:r>
            <a:r>
              <a:rPr lang="zh-CN" altLang="en-US" sz="1800" dirty="0" smtClean="0"/>
              <a:t>的陶瓷滤波器的幅频特性</a:t>
            </a:r>
            <a:endParaRPr lang="en-US" altLang="zh-CN" sz="1800" dirty="0" smtClean="0"/>
          </a:p>
          <a:p>
            <a:pPr lvl="1">
              <a:lnSpc>
                <a:spcPct val="150000"/>
              </a:lnSpc>
            </a:pPr>
            <a:r>
              <a:rPr lang="zh-CN" altLang="en-US" sz="1800" dirty="0" smtClean="0"/>
              <a:t>可见其中心频率为</a:t>
            </a:r>
            <a:r>
              <a:rPr lang="en-US" altLang="zh-CN" sz="1800" dirty="0" smtClean="0"/>
              <a:t>10.7MHz</a:t>
            </a:r>
          </a:p>
          <a:p>
            <a:pPr lvl="1">
              <a:lnSpc>
                <a:spcPct val="150000"/>
              </a:lnSpc>
            </a:pPr>
            <a:r>
              <a:rPr lang="zh-CN" altLang="en-US" sz="1800" dirty="0"/>
              <a:t>中心</a:t>
            </a:r>
            <a:r>
              <a:rPr lang="zh-CN" altLang="en-US" sz="1800" dirty="0" smtClean="0"/>
              <a:t>频率处的插入损耗约为</a:t>
            </a:r>
            <a:r>
              <a:rPr lang="en-US" altLang="zh-CN" sz="1800" dirty="0" smtClean="0"/>
              <a:t>14dB</a:t>
            </a:r>
          </a:p>
          <a:p>
            <a:pPr lvl="1">
              <a:lnSpc>
                <a:spcPct val="150000"/>
              </a:lnSpc>
            </a:pPr>
            <a:r>
              <a:rPr lang="en-US" altLang="zh-CN" sz="1800" dirty="0" smtClean="0"/>
              <a:t>-3dB</a:t>
            </a:r>
            <a:r>
              <a:rPr lang="zh-CN" altLang="en-US" sz="1800" dirty="0" smtClean="0"/>
              <a:t>带宽约为</a:t>
            </a:r>
            <a:r>
              <a:rPr lang="en-US" altLang="zh-CN" sz="1800" dirty="0" smtClean="0"/>
              <a:t>220kHz</a:t>
            </a:r>
          </a:p>
          <a:p>
            <a:pPr lvl="1">
              <a:lnSpc>
                <a:spcPct val="150000"/>
              </a:lnSpc>
            </a:pPr>
            <a:r>
              <a:rPr lang="zh-CN" altLang="en-US" sz="1800" dirty="0" smtClean="0"/>
              <a:t>如果单个陶瓷滤波器的频率特性不能满足要求，</a:t>
            </a:r>
            <a:endParaRPr lang="en-US" altLang="zh-CN" sz="1800" dirty="0" smtClean="0"/>
          </a:p>
          <a:p>
            <a:pPr lvl="1">
              <a:lnSpc>
                <a:spcPct val="150000"/>
              </a:lnSpc>
            </a:pPr>
            <a:r>
              <a:rPr lang="zh-CN" altLang="en-US" sz="1800" dirty="0" smtClean="0"/>
              <a:t>可以考虑两个串联使用</a:t>
            </a:r>
            <a:endParaRPr lang="en-US" altLang="zh-CN" sz="1800" dirty="0"/>
          </a:p>
          <a:p>
            <a:pPr lvl="1">
              <a:lnSpc>
                <a:spcPct val="150000"/>
              </a:lnSpc>
            </a:pPr>
            <a:endParaRPr lang="en-US" altLang="zh-CN" sz="1800" dirty="0"/>
          </a:p>
          <a:p>
            <a:pPr marL="285750" indent="-285750">
              <a:lnSpc>
                <a:spcPct val="150000"/>
              </a:lnSpc>
              <a:buFont typeface="Arial" panose="020B0604020202020204" pitchFamily="34" charset="0"/>
              <a:buChar char="•"/>
            </a:pPr>
            <a:r>
              <a:rPr lang="zh-CN" altLang="en-US" sz="1800" dirty="0" smtClean="0">
                <a:solidFill>
                  <a:srgbClr val="FF0000"/>
                </a:solidFill>
              </a:rPr>
              <a:t>中频放大器的增益</a:t>
            </a:r>
            <a:endParaRPr lang="en-US" altLang="zh-CN" sz="1800" dirty="0" smtClean="0">
              <a:solidFill>
                <a:srgbClr val="FF0000"/>
              </a:solidFill>
            </a:endParaRPr>
          </a:p>
          <a:p>
            <a:pPr marL="742950" lvl="1" indent="-285750">
              <a:lnSpc>
                <a:spcPct val="150000"/>
              </a:lnSpc>
              <a:buFont typeface="Arial" panose="020B0604020202020204" pitchFamily="34" charset="0"/>
              <a:buChar char="•"/>
            </a:pPr>
            <a:r>
              <a:rPr lang="zh-CN" altLang="en-US" sz="1800" dirty="0" smtClean="0"/>
              <a:t>由于超外差接收机的射频增益大部分落实在中放，所以中频放大器的增益必须按照接收信号的强度以及解调电路需要的信号幅度进行估算</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类似题目要求的实验室情况下，由于接收距离很近，天线获得的信号幅度可能在</a:t>
            </a:r>
            <a:r>
              <a:rPr lang="en-US" altLang="zh-CN" sz="1800" dirty="0" smtClean="0"/>
              <a:t>10</a:t>
            </a:r>
            <a:r>
              <a:rPr lang="en-US" altLang="zh-CN" sz="1800" baseline="30000" dirty="0" smtClean="0"/>
              <a:t>-4</a:t>
            </a:r>
            <a:r>
              <a:rPr lang="en-US" altLang="zh-CN" sz="1800" dirty="0" smtClean="0"/>
              <a:t>~10</a:t>
            </a:r>
            <a:r>
              <a:rPr lang="en-US" altLang="zh-CN" sz="1800" baseline="30000" dirty="0" smtClean="0"/>
              <a:t>-2</a:t>
            </a:r>
            <a:r>
              <a:rPr lang="en-US" altLang="zh-CN" sz="1800" dirty="0" smtClean="0"/>
              <a:t>V</a:t>
            </a:r>
            <a:r>
              <a:rPr lang="zh-CN" altLang="en-US" sz="1800" dirty="0" smtClean="0"/>
              <a:t>之间，而解调器通常要求输入信号幅度在</a:t>
            </a:r>
            <a:r>
              <a:rPr lang="en-US" altLang="zh-CN" sz="1800" dirty="0" smtClean="0"/>
              <a:t>V</a:t>
            </a:r>
            <a:r>
              <a:rPr lang="zh-CN" altLang="en-US" sz="1800" dirty="0" smtClean="0"/>
              <a:t>数量级，所以中频放大器的增益可能要</a:t>
            </a:r>
            <a:r>
              <a:rPr lang="en-US" altLang="zh-CN" sz="1800" dirty="0" smtClean="0"/>
              <a:t>40~80dB</a:t>
            </a:r>
          </a:p>
          <a:p>
            <a:pPr marL="742950" lvl="1" indent="-285750">
              <a:lnSpc>
                <a:spcPct val="150000"/>
              </a:lnSpc>
              <a:buFont typeface="Arial" panose="020B0604020202020204" pitchFamily="34" charset="0"/>
              <a:buChar char="•"/>
            </a:pPr>
            <a:r>
              <a:rPr lang="zh-CN" altLang="en-US" sz="1800" dirty="0" smtClean="0"/>
              <a:t>如果要求拉远接收距离以及在不同接收距离上接收，除了提高增益外，还要考虑具有</a:t>
            </a:r>
            <a:r>
              <a:rPr lang="en-US" altLang="zh-CN" sz="1800" dirty="0" smtClean="0"/>
              <a:t>AGC</a:t>
            </a:r>
            <a:r>
              <a:rPr lang="zh-CN" altLang="en-US" sz="1800" dirty="0" smtClean="0"/>
              <a:t>功能</a:t>
            </a:r>
            <a:endParaRPr lang="zh-CN" altLang="en-US" sz="1800" dirty="0"/>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53570" y="703919"/>
            <a:ext cx="4593730" cy="3304811"/>
          </a:xfrm>
          <a:prstGeom prst="rect">
            <a:avLst/>
          </a:prstGeom>
        </p:spPr>
      </p:pic>
    </p:spTree>
    <p:extLst>
      <p:ext uri="{BB962C8B-B14F-4D97-AF65-F5344CB8AC3E}">
        <p14:creationId xmlns:p14="http://schemas.microsoft.com/office/powerpoint/2010/main" val="266193312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62</a:t>
            </a:fld>
            <a:endParaRPr lang="en-US" altLang="zh-CN">
              <a:solidFill>
                <a:srgbClr val="FFFFFF"/>
              </a:solidFill>
            </a:endParaRPr>
          </a:p>
        </p:txBody>
      </p:sp>
      <p:sp>
        <p:nvSpPr>
          <p:cNvPr id="5" name="文本框 4"/>
          <p:cNvSpPr txBox="1"/>
          <p:nvPr/>
        </p:nvSpPr>
        <p:spPr>
          <a:xfrm>
            <a:off x="387928" y="386224"/>
            <a:ext cx="11433657" cy="1588127"/>
          </a:xfrm>
          <a:prstGeom prst="rect">
            <a:avLst/>
          </a:prstGeom>
          <a:noFill/>
        </p:spPr>
        <p:txBody>
          <a:bodyPr wrap="square" rtlCol="0">
            <a:spAutoFit/>
          </a:bodyPr>
          <a:lstStyle/>
          <a:p>
            <a:pPr marL="285750" indent="-285750">
              <a:lnSpc>
                <a:spcPct val="135000"/>
              </a:lnSpc>
              <a:buFont typeface="Arial" panose="020B0604020202020204" pitchFamily="34" charset="0"/>
              <a:buChar char="•"/>
            </a:pPr>
            <a:r>
              <a:rPr lang="zh-CN" altLang="en-US" sz="1800" dirty="0" smtClean="0">
                <a:solidFill>
                  <a:srgbClr val="FF0000"/>
                </a:solidFill>
              </a:rPr>
              <a:t>中频放大器电路</a:t>
            </a:r>
            <a:endParaRPr lang="en-US" altLang="zh-CN" sz="1800" dirty="0">
              <a:solidFill>
                <a:srgbClr val="FF0000"/>
              </a:solidFill>
            </a:endParaRPr>
          </a:p>
          <a:p>
            <a:pPr marL="285750" indent="-285750">
              <a:lnSpc>
                <a:spcPct val="135000"/>
              </a:lnSpc>
              <a:buFont typeface="Arial" panose="020B0604020202020204" pitchFamily="34" charset="0"/>
              <a:buChar char="•"/>
            </a:pPr>
            <a:r>
              <a:rPr lang="zh-CN" altLang="en-US" sz="1800" dirty="0" smtClean="0"/>
              <a:t>采用</a:t>
            </a:r>
            <a:r>
              <a:rPr lang="en-US" altLang="zh-CN" sz="1800" dirty="0" smtClean="0"/>
              <a:t>MMIC+</a:t>
            </a:r>
            <a:r>
              <a:rPr lang="zh-CN" altLang="en-US" sz="1800" dirty="0" smtClean="0"/>
              <a:t>陶瓷滤波器的</a:t>
            </a:r>
            <a:r>
              <a:rPr lang="zh-CN" altLang="en-US" sz="1800" dirty="0"/>
              <a:t>电路</a:t>
            </a:r>
            <a:r>
              <a:rPr lang="zh-CN" altLang="en-US" sz="1800" dirty="0" smtClean="0"/>
              <a:t>例子（两级</a:t>
            </a:r>
            <a:r>
              <a:rPr lang="en-US" altLang="zh-CN" sz="1800" dirty="0" smtClean="0"/>
              <a:t>MMIC</a:t>
            </a:r>
            <a:r>
              <a:rPr lang="zh-CN" altLang="en-US" sz="1800" dirty="0" smtClean="0"/>
              <a:t>放大</a:t>
            </a:r>
            <a:r>
              <a:rPr lang="zh-CN" altLang="en-US" sz="1800" dirty="0"/>
              <a:t>、一</a:t>
            </a:r>
            <a:r>
              <a:rPr lang="zh-CN" altLang="en-US" sz="1800" dirty="0" smtClean="0"/>
              <a:t>个陶瓷滤波器）</a:t>
            </a:r>
            <a:endParaRPr lang="en-US" altLang="zh-CN" sz="1800" dirty="0" smtClean="0"/>
          </a:p>
          <a:p>
            <a:pPr lvl="1">
              <a:lnSpc>
                <a:spcPct val="135000"/>
              </a:lnSpc>
            </a:pPr>
            <a:r>
              <a:rPr lang="zh-CN" altLang="en-US" sz="1800" dirty="0" smtClean="0"/>
              <a:t>其中</a:t>
            </a:r>
            <a:r>
              <a:rPr lang="zh-CN" altLang="en-US" sz="1800" dirty="0"/>
              <a:t>放大器是</a:t>
            </a:r>
            <a:r>
              <a:rPr lang="en-US" altLang="zh-CN" sz="1800" dirty="0"/>
              <a:t>MMIC</a:t>
            </a:r>
            <a:r>
              <a:rPr lang="zh-CN" altLang="en-US" sz="1800" dirty="0"/>
              <a:t>芯片</a:t>
            </a:r>
            <a:r>
              <a:rPr lang="en-US" altLang="zh-CN" sz="1800" dirty="0"/>
              <a:t>HMC580</a:t>
            </a:r>
            <a:r>
              <a:rPr lang="zh-CN" altLang="en-US" sz="1800" dirty="0"/>
              <a:t>。由于</a:t>
            </a:r>
            <a:r>
              <a:rPr lang="en-US" altLang="zh-CN" sz="1800" dirty="0"/>
              <a:t>MMIC</a:t>
            </a:r>
            <a:r>
              <a:rPr lang="zh-CN" altLang="en-US" sz="1800" dirty="0"/>
              <a:t>的输入输出阻抗为</a:t>
            </a:r>
            <a:r>
              <a:rPr lang="en-US" altLang="zh-CN" sz="1800" dirty="0"/>
              <a:t>50</a:t>
            </a:r>
            <a:r>
              <a:rPr lang="zh-CN" altLang="en-US" sz="1800" dirty="0"/>
              <a:t>欧，陶瓷滤波器的匹配阻抗在</a:t>
            </a:r>
            <a:r>
              <a:rPr lang="en-US" altLang="zh-CN" sz="1800" dirty="0"/>
              <a:t>200</a:t>
            </a:r>
            <a:r>
              <a:rPr lang="zh-CN" altLang="en-US" sz="1800" dirty="0"/>
              <a:t>欧左右，所以在陶瓷滤波器两侧插入</a:t>
            </a:r>
            <a:r>
              <a:rPr lang="en-US" altLang="zh-CN" sz="1800" dirty="0"/>
              <a:t>1:4</a:t>
            </a:r>
            <a:r>
              <a:rPr lang="zh-CN" altLang="en-US" sz="1800" dirty="0"/>
              <a:t>传输线变压器进行阻抗变换</a:t>
            </a:r>
            <a:r>
              <a:rPr lang="en-US" altLang="zh-CN" sz="1800" dirty="0"/>
              <a:t>(</a:t>
            </a:r>
            <a:r>
              <a:rPr lang="zh-CN" altLang="en-US" sz="1800" dirty="0"/>
              <a:t>可不用，不用的幅频特性略差些</a:t>
            </a:r>
            <a:r>
              <a:rPr lang="en-US" altLang="zh-CN" sz="1800" dirty="0" smtClean="0"/>
              <a:t>)</a:t>
            </a:r>
          </a:p>
        </p:txBody>
      </p:sp>
      <p:pic>
        <p:nvPicPr>
          <p:cNvPr id="9" name="图片 8"/>
          <p:cNvPicPr>
            <a:picLocks noChangeAspect="1"/>
          </p:cNvPicPr>
          <p:nvPr/>
        </p:nvPicPr>
        <p:blipFill>
          <a:blip r:embed="rId2"/>
          <a:stretch>
            <a:fillRect/>
          </a:stretch>
        </p:blipFill>
        <p:spPr>
          <a:xfrm>
            <a:off x="2658043" y="2222237"/>
            <a:ext cx="5754437" cy="2027251"/>
          </a:xfrm>
          <a:prstGeom prst="rect">
            <a:avLst/>
          </a:prstGeom>
        </p:spPr>
      </p:pic>
    </p:spTree>
    <p:extLst>
      <p:ext uri="{BB962C8B-B14F-4D97-AF65-F5344CB8AC3E}">
        <p14:creationId xmlns:p14="http://schemas.microsoft.com/office/powerpoint/2010/main" val="278284989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63</a:t>
            </a:fld>
            <a:endParaRPr lang="en-US" altLang="zh-CN">
              <a:solidFill>
                <a:srgbClr val="FFFFFF"/>
              </a:solidFill>
            </a:endParaRPr>
          </a:p>
        </p:txBody>
      </p:sp>
      <p:sp>
        <p:nvSpPr>
          <p:cNvPr id="5" name="文本框 4"/>
          <p:cNvSpPr txBox="1"/>
          <p:nvPr/>
        </p:nvSpPr>
        <p:spPr>
          <a:xfrm>
            <a:off x="395021" y="467361"/>
            <a:ext cx="11426563" cy="549381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t>采用</a:t>
            </a:r>
            <a:r>
              <a:rPr lang="zh-CN" altLang="en-US" sz="1800" dirty="0" smtClean="0"/>
              <a:t>晶体管</a:t>
            </a:r>
            <a:r>
              <a:rPr lang="en-US" altLang="zh-CN" sz="1800" dirty="0" smtClean="0"/>
              <a:t>+LC</a:t>
            </a:r>
            <a:r>
              <a:rPr lang="zh-CN" altLang="en-US" sz="1800" dirty="0" smtClean="0"/>
              <a:t>谐振回路的电路例子</a:t>
            </a:r>
            <a:endParaRPr lang="en-US" altLang="zh-CN" sz="1800" dirty="0" smtClean="0"/>
          </a:p>
          <a:p>
            <a:pPr indent="457200">
              <a:lnSpc>
                <a:spcPct val="150000"/>
              </a:lnSpc>
            </a:pPr>
            <a:r>
              <a:rPr lang="zh-CN" altLang="en-US" sz="1800" dirty="0" smtClean="0"/>
              <a:t>以</a:t>
            </a:r>
            <a:r>
              <a:rPr lang="en-US" altLang="zh-CN" sz="1800" dirty="0"/>
              <a:t>LC</a:t>
            </a:r>
            <a:r>
              <a:rPr lang="zh-CN" altLang="en-US" sz="1800" dirty="0"/>
              <a:t>选频网络居多，下图是一级放大器的电路，</a:t>
            </a:r>
            <a:r>
              <a:rPr lang="en-US" altLang="zh-CN" sz="1800" dirty="0"/>
              <a:t>RB</a:t>
            </a:r>
            <a:r>
              <a:rPr lang="zh-CN" altLang="en-US" sz="1800" dirty="0"/>
              <a:t>与</a:t>
            </a:r>
            <a:r>
              <a:rPr lang="en-US" altLang="zh-CN" sz="1800" dirty="0"/>
              <a:t>RE</a:t>
            </a:r>
            <a:r>
              <a:rPr lang="zh-CN" altLang="en-US" sz="1800" dirty="0"/>
              <a:t>确定了晶体管的静态工作点，通常在</a:t>
            </a:r>
            <a:r>
              <a:rPr lang="en-US" altLang="zh-CN" sz="1800" dirty="0"/>
              <a:t>1mA</a:t>
            </a:r>
            <a:r>
              <a:rPr lang="zh-CN" altLang="en-US" sz="1800" dirty="0"/>
              <a:t>左右即可。</a:t>
            </a:r>
            <a:endParaRPr lang="en-US" altLang="zh-CN" sz="1800" dirty="0"/>
          </a:p>
          <a:p>
            <a:pPr indent="457200">
              <a:lnSpc>
                <a:spcPct val="150000"/>
              </a:lnSpc>
            </a:pPr>
            <a:r>
              <a:rPr lang="zh-CN" altLang="en-US" sz="1800" dirty="0"/>
              <a:t>高频变压器</a:t>
            </a:r>
            <a:r>
              <a:rPr lang="en-US" altLang="zh-CN" sz="1800" dirty="0"/>
              <a:t>T</a:t>
            </a:r>
            <a:r>
              <a:rPr lang="zh-CN" altLang="en-US" sz="1800" dirty="0"/>
              <a:t>除了耦合前后级（阻抗匹配）以外，更重要的功能是与</a:t>
            </a:r>
            <a:r>
              <a:rPr lang="en-US" altLang="zh-CN" sz="1800" dirty="0"/>
              <a:t>C</a:t>
            </a:r>
            <a:r>
              <a:rPr lang="zh-CN" altLang="en-US" sz="1800" dirty="0"/>
              <a:t>构成</a:t>
            </a:r>
            <a:r>
              <a:rPr lang="en-US" altLang="zh-CN" sz="1800" dirty="0"/>
              <a:t>LC</a:t>
            </a:r>
            <a:r>
              <a:rPr lang="zh-CN" altLang="en-US" sz="1800" dirty="0"/>
              <a:t>谐振回路，完成中频选频功能。</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smtClean="0"/>
              <a:t>晶体管</a:t>
            </a:r>
            <a:r>
              <a:rPr lang="zh-CN" altLang="en-US" sz="1800" dirty="0"/>
              <a:t>放大器的优点是电源电压比较自由，在很低电压下还能工作。主要缺点就是要制作高频变压器</a:t>
            </a:r>
            <a:r>
              <a:rPr lang="zh-CN" altLang="en-US" sz="1800" dirty="0" smtClean="0"/>
              <a:t>，而且由于</a:t>
            </a:r>
            <a:r>
              <a:rPr lang="en-US" altLang="zh-CN" sz="1800" dirty="0" smtClean="0"/>
              <a:t>LC</a:t>
            </a:r>
            <a:r>
              <a:rPr lang="zh-CN" altLang="en-US" sz="1800" dirty="0" smtClean="0"/>
              <a:t>选频网络的选频特性不如陶瓷滤波器好，所以一</a:t>
            </a:r>
            <a:r>
              <a:rPr lang="zh-CN" altLang="en-US" sz="1800" dirty="0"/>
              <a:t>个接收机通常要</a:t>
            </a:r>
            <a:r>
              <a:rPr lang="en-US" altLang="zh-CN" sz="1800" dirty="0"/>
              <a:t>2~3</a:t>
            </a:r>
            <a:r>
              <a:rPr lang="zh-CN" altLang="en-US" sz="1800" dirty="0"/>
              <a:t>个</a:t>
            </a:r>
            <a:r>
              <a:rPr lang="zh-CN" altLang="en-US" sz="1800" dirty="0" smtClean="0"/>
              <a:t>变压器构成多级选频放大器来满足整机的频率特性要求。</a:t>
            </a:r>
            <a:endParaRPr lang="zh-CN" altLang="en-US" sz="1800" dirty="0"/>
          </a:p>
        </p:txBody>
      </p:sp>
      <p:pic>
        <p:nvPicPr>
          <p:cNvPr id="6" name="图片 5"/>
          <p:cNvPicPr>
            <a:picLocks noChangeAspect="1"/>
          </p:cNvPicPr>
          <p:nvPr/>
        </p:nvPicPr>
        <p:blipFill>
          <a:blip r:embed="rId2"/>
          <a:stretch>
            <a:fillRect/>
          </a:stretch>
        </p:blipFill>
        <p:spPr>
          <a:xfrm>
            <a:off x="4342660" y="1956954"/>
            <a:ext cx="2984288" cy="2541823"/>
          </a:xfrm>
          <a:prstGeom prst="rect">
            <a:avLst/>
          </a:prstGeom>
        </p:spPr>
      </p:pic>
    </p:spTree>
    <p:extLst>
      <p:ext uri="{BB962C8B-B14F-4D97-AF65-F5344CB8AC3E}">
        <p14:creationId xmlns:p14="http://schemas.microsoft.com/office/powerpoint/2010/main" val="143149985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64</a:t>
            </a:fld>
            <a:endParaRPr lang="en-US" altLang="zh-CN">
              <a:solidFill>
                <a:srgbClr val="FFFFFF"/>
              </a:solidFill>
            </a:endParaRPr>
          </a:p>
        </p:txBody>
      </p:sp>
      <p:sp>
        <p:nvSpPr>
          <p:cNvPr id="5" name="文本框 4"/>
          <p:cNvSpPr txBox="1"/>
          <p:nvPr/>
        </p:nvSpPr>
        <p:spPr>
          <a:xfrm>
            <a:off x="409652" y="474133"/>
            <a:ext cx="11345874" cy="1754326"/>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混频器与本地振荡器</a:t>
            </a:r>
            <a:endParaRPr lang="en-US" altLang="zh-CN" sz="1800" dirty="0"/>
          </a:p>
          <a:p>
            <a:pPr indent="457200">
              <a:lnSpc>
                <a:spcPct val="150000"/>
              </a:lnSpc>
            </a:pPr>
            <a:r>
              <a:rPr lang="zh-CN" altLang="en-US" sz="1800" dirty="0"/>
              <a:t>混频器可采用乘法器芯片（例如</a:t>
            </a:r>
            <a:r>
              <a:rPr lang="en-US" altLang="zh-CN" sz="1800" dirty="0"/>
              <a:t>AD835</a:t>
            </a:r>
            <a:r>
              <a:rPr lang="zh-CN" altLang="en-US" sz="1800" dirty="0"/>
              <a:t>）</a:t>
            </a:r>
            <a:r>
              <a:rPr lang="zh-CN" altLang="en-US" sz="1800" dirty="0" smtClean="0"/>
              <a:t>完成，与发射部分不同的是，这里的</a:t>
            </a:r>
            <a:r>
              <a:rPr lang="en-US" altLang="zh-CN" sz="1800" dirty="0" smtClean="0"/>
              <a:t>Z</a:t>
            </a:r>
            <a:r>
              <a:rPr lang="zh-CN" altLang="en-US" sz="1800" dirty="0" smtClean="0"/>
              <a:t>输入必须接地。</a:t>
            </a:r>
            <a:endParaRPr lang="en-US" altLang="zh-CN" sz="1800" dirty="0" smtClean="0"/>
          </a:p>
          <a:p>
            <a:pPr indent="457200">
              <a:lnSpc>
                <a:spcPct val="150000"/>
              </a:lnSpc>
            </a:pPr>
            <a:r>
              <a:rPr lang="en-US" altLang="zh-CN" sz="1800" dirty="0" smtClean="0"/>
              <a:t>AD835</a:t>
            </a:r>
            <a:r>
              <a:rPr lang="zh-CN" altLang="en-US" sz="1800" dirty="0" smtClean="0"/>
              <a:t>的输入幅度通常不能大于</a:t>
            </a:r>
            <a:r>
              <a:rPr lang="en-US" altLang="zh-CN" sz="1800" dirty="0" smtClean="0"/>
              <a:t>1V</a:t>
            </a:r>
            <a:r>
              <a:rPr lang="zh-CN" altLang="en-US" sz="1800" dirty="0" smtClean="0"/>
              <a:t>。信号输入通常都是很小的，所以不会有问题。但是本地振荡的信号幅度有可能很大，必须注意加以限制。</a:t>
            </a:r>
            <a:endParaRPr lang="zh-CN" altLang="en-US" sz="1800" dirty="0"/>
          </a:p>
        </p:txBody>
      </p:sp>
      <p:pic>
        <p:nvPicPr>
          <p:cNvPr id="6" name="图片 5"/>
          <p:cNvPicPr>
            <a:picLocks noChangeAspect="1"/>
          </p:cNvPicPr>
          <p:nvPr/>
        </p:nvPicPr>
        <p:blipFill>
          <a:blip r:embed="rId2"/>
          <a:stretch>
            <a:fillRect/>
          </a:stretch>
        </p:blipFill>
        <p:spPr>
          <a:xfrm>
            <a:off x="3310268" y="2513990"/>
            <a:ext cx="4755837" cy="2749974"/>
          </a:xfrm>
          <a:prstGeom prst="rect">
            <a:avLst/>
          </a:prstGeom>
        </p:spPr>
      </p:pic>
    </p:spTree>
    <p:extLst>
      <p:ext uri="{BB962C8B-B14F-4D97-AF65-F5344CB8AC3E}">
        <p14:creationId xmlns:p14="http://schemas.microsoft.com/office/powerpoint/2010/main" val="1078213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65</a:t>
            </a:fld>
            <a:endParaRPr lang="en-US" altLang="zh-CN">
              <a:solidFill>
                <a:srgbClr val="FFFFFF"/>
              </a:solidFill>
            </a:endParaRPr>
          </a:p>
        </p:txBody>
      </p:sp>
      <p:sp>
        <p:nvSpPr>
          <p:cNvPr id="5" name="文本框 4"/>
          <p:cNvSpPr txBox="1"/>
          <p:nvPr/>
        </p:nvSpPr>
        <p:spPr>
          <a:xfrm>
            <a:off x="482803" y="474134"/>
            <a:ext cx="11272723" cy="1338828"/>
          </a:xfrm>
          <a:prstGeom prst="rect">
            <a:avLst/>
          </a:prstGeom>
          <a:noFill/>
        </p:spPr>
        <p:txBody>
          <a:bodyPr wrap="square" rtlCol="0">
            <a:spAutoFit/>
          </a:bodyPr>
          <a:lstStyle/>
          <a:p>
            <a:pPr indent="457200">
              <a:lnSpc>
                <a:spcPct val="150000"/>
              </a:lnSpc>
            </a:pPr>
            <a:r>
              <a:rPr lang="zh-CN" altLang="en-US" sz="1800" dirty="0" smtClean="0"/>
              <a:t>如果采用了前置高频放大器，也可将它改为</a:t>
            </a:r>
            <a:r>
              <a:rPr lang="zh-CN" altLang="en-US" sz="1800" dirty="0"/>
              <a:t>晶体管混频器。</a:t>
            </a:r>
            <a:endParaRPr lang="en-US" altLang="zh-CN" sz="1800" dirty="0"/>
          </a:p>
          <a:p>
            <a:pPr indent="457200">
              <a:lnSpc>
                <a:spcPct val="150000"/>
              </a:lnSpc>
            </a:pPr>
            <a:r>
              <a:rPr lang="zh-CN" altLang="en-US" sz="1800" dirty="0" smtClean="0"/>
              <a:t>晶体管混频器利用</a:t>
            </a:r>
            <a:r>
              <a:rPr lang="zh-CN" altLang="en-US" sz="1800" dirty="0"/>
              <a:t>晶体管发射结的非线性进行混频，所以此时晶体管的静态工作点不宜过高，否则混频效率很低。</a:t>
            </a:r>
          </a:p>
        </p:txBody>
      </p:sp>
      <p:sp>
        <p:nvSpPr>
          <p:cNvPr id="9" name="椭圆 8"/>
          <p:cNvSpPr/>
          <p:nvPr/>
        </p:nvSpPr>
        <p:spPr>
          <a:xfrm>
            <a:off x="3549228" y="2876500"/>
            <a:ext cx="1083733" cy="12598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572000" y="2493442"/>
            <a:ext cx="664109" cy="23059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357708" y="2253353"/>
            <a:ext cx="1137920" cy="10585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384213" y="3140661"/>
            <a:ext cx="1239844" cy="646331"/>
          </a:xfrm>
          <a:prstGeom prst="rect">
            <a:avLst/>
          </a:prstGeom>
          <a:noFill/>
        </p:spPr>
        <p:txBody>
          <a:bodyPr wrap="square" rtlCol="0">
            <a:spAutoFit/>
          </a:bodyPr>
          <a:lstStyle/>
          <a:p>
            <a:r>
              <a:rPr lang="zh-CN" altLang="en-US" sz="1800" dirty="0"/>
              <a:t>输入选频</a:t>
            </a:r>
            <a:endParaRPr lang="en-US" altLang="zh-CN" sz="1800" dirty="0"/>
          </a:p>
          <a:p>
            <a:r>
              <a:rPr lang="en-US" altLang="zh-CN" sz="1800" dirty="0"/>
              <a:t>48.5MHz</a:t>
            </a:r>
            <a:endParaRPr lang="zh-CN" altLang="en-US" sz="1800" dirty="0"/>
          </a:p>
        </p:txBody>
      </p:sp>
      <p:sp>
        <p:nvSpPr>
          <p:cNvPr id="13" name="文本框 12"/>
          <p:cNvSpPr txBox="1"/>
          <p:nvPr/>
        </p:nvSpPr>
        <p:spPr>
          <a:xfrm>
            <a:off x="6304542" y="1917030"/>
            <a:ext cx="2026658" cy="646331"/>
          </a:xfrm>
          <a:prstGeom prst="rect">
            <a:avLst/>
          </a:prstGeom>
          <a:noFill/>
        </p:spPr>
        <p:txBody>
          <a:bodyPr wrap="square" rtlCol="0">
            <a:spAutoFit/>
          </a:bodyPr>
          <a:lstStyle/>
          <a:p>
            <a:r>
              <a:rPr lang="zh-CN" altLang="en-US" sz="1800" dirty="0"/>
              <a:t>输出选频（中频）</a:t>
            </a:r>
            <a:endParaRPr lang="en-US" altLang="zh-CN" sz="1800" dirty="0"/>
          </a:p>
          <a:p>
            <a:r>
              <a:rPr lang="en-US" altLang="zh-CN" sz="1800" dirty="0"/>
              <a:t>10.7MHz</a:t>
            </a:r>
            <a:endParaRPr lang="zh-CN" altLang="en-US" sz="1800" dirty="0"/>
          </a:p>
        </p:txBody>
      </p:sp>
      <p:sp>
        <p:nvSpPr>
          <p:cNvPr id="14" name="文本框 13"/>
          <p:cNvSpPr txBox="1"/>
          <p:nvPr/>
        </p:nvSpPr>
        <p:spPr>
          <a:xfrm>
            <a:off x="4165600" y="4738206"/>
            <a:ext cx="2491316" cy="646331"/>
          </a:xfrm>
          <a:prstGeom prst="rect">
            <a:avLst/>
          </a:prstGeom>
          <a:noFill/>
        </p:spPr>
        <p:txBody>
          <a:bodyPr wrap="square" rtlCol="0">
            <a:spAutoFit/>
          </a:bodyPr>
          <a:lstStyle/>
          <a:p>
            <a:r>
              <a:rPr lang="zh-CN" altLang="en-US" sz="1800" dirty="0"/>
              <a:t>偏置电路</a:t>
            </a:r>
            <a:endParaRPr lang="en-US" altLang="zh-CN" sz="1800" dirty="0"/>
          </a:p>
          <a:p>
            <a:r>
              <a:rPr lang="zh-CN" altLang="en-US" sz="1800" dirty="0"/>
              <a:t>静态工作点</a:t>
            </a:r>
            <a:r>
              <a:rPr lang="en-US" altLang="zh-CN" sz="1800" dirty="0"/>
              <a:t>0.5mA</a:t>
            </a:r>
            <a:r>
              <a:rPr lang="zh-CN" altLang="en-US" sz="1800" dirty="0"/>
              <a:t>左右</a:t>
            </a:r>
          </a:p>
        </p:txBody>
      </p:sp>
      <p:cxnSp>
        <p:nvCxnSpPr>
          <p:cNvPr id="17" name="直接箭头连接符 16"/>
          <p:cNvCxnSpPr/>
          <p:nvPr/>
        </p:nvCxnSpPr>
        <p:spPr>
          <a:xfrm flipH="1" flipV="1">
            <a:off x="5779988" y="3917901"/>
            <a:ext cx="652986" cy="34209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6383137" y="4058070"/>
            <a:ext cx="2010929" cy="646331"/>
          </a:xfrm>
          <a:prstGeom prst="rect">
            <a:avLst/>
          </a:prstGeom>
          <a:noFill/>
        </p:spPr>
        <p:txBody>
          <a:bodyPr wrap="square" rtlCol="0">
            <a:spAutoFit/>
          </a:bodyPr>
          <a:lstStyle/>
          <a:p>
            <a:r>
              <a:rPr lang="zh-CN" altLang="en-US" sz="1800" dirty="0"/>
              <a:t>发射极静态电位选取</a:t>
            </a:r>
            <a:r>
              <a:rPr lang="en-US" altLang="zh-CN" sz="1800" dirty="0"/>
              <a:t>1V</a:t>
            </a:r>
            <a:r>
              <a:rPr lang="zh-CN" altLang="en-US" sz="1800" dirty="0"/>
              <a:t>左右即可</a:t>
            </a:r>
            <a:endParaRPr lang="en-US" altLang="zh-CN" sz="1800" dirty="0"/>
          </a:p>
        </p:txBody>
      </p:sp>
      <p:cxnSp>
        <p:nvCxnSpPr>
          <p:cNvPr id="23" name="直接箭头连接符 22"/>
          <p:cNvCxnSpPr/>
          <p:nvPr/>
        </p:nvCxnSpPr>
        <p:spPr>
          <a:xfrm flipH="1" flipV="1">
            <a:off x="6656917" y="2835597"/>
            <a:ext cx="660955" cy="34128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7317871" y="2950524"/>
            <a:ext cx="2276610" cy="646331"/>
          </a:xfrm>
          <a:prstGeom prst="rect">
            <a:avLst/>
          </a:prstGeom>
          <a:noFill/>
        </p:spPr>
        <p:txBody>
          <a:bodyPr wrap="square" rtlCol="0">
            <a:spAutoFit/>
          </a:bodyPr>
          <a:lstStyle/>
          <a:p>
            <a:r>
              <a:rPr lang="zh-CN" altLang="en-US" sz="1800" dirty="0"/>
              <a:t>与后续电路阻抗匹配，通常为</a:t>
            </a:r>
            <a:r>
              <a:rPr lang="en-US" altLang="zh-CN" sz="1800" dirty="0"/>
              <a:t>50</a:t>
            </a:r>
            <a:r>
              <a:rPr lang="zh-CN" altLang="en-US" sz="1800" dirty="0"/>
              <a:t>欧</a:t>
            </a:r>
            <a:endParaRPr lang="en-US" altLang="zh-CN" sz="1800" dirty="0"/>
          </a:p>
        </p:txBody>
      </p:sp>
      <p:pic>
        <p:nvPicPr>
          <p:cNvPr id="7" name="图片 6"/>
          <p:cNvPicPr>
            <a:picLocks noChangeAspect="1"/>
          </p:cNvPicPr>
          <p:nvPr/>
        </p:nvPicPr>
        <p:blipFill>
          <a:blip r:embed="rId2"/>
          <a:stretch>
            <a:fillRect/>
          </a:stretch>
        </p:blipFill>
        <p:spPr>
          <a:xfrm>
            <a:off x="3653662" y="1810097"/>
            <a:ext cx="3966151" cy="2860498"/>
          </a:xfrm>
          <a:prstGeom prst="rect">
            <a:avLst/>
          </a:prstGeom>
        </p:spPr>
      </p:pic>
    </p:spTree>
    <p:extLst>
      <p:ext uri="{BB962C8B-B14F-4D97-AF65-F5344CB8AC3E}">
        <p14:creationId xmlns:p14="http://schemas.microsoft.com/office/powerpoint/2010/main" val="224828074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dirty="0" smtClean="0">
                <a:solidFill>
                  <a:srgbClr val="FFFFFF"/>
                </a:solidFill>
              </a:rPr>
              <a:t>大学生电子竞赛培训</a:t>
            </a:r>
            <a:endParaRPr lang="en-US" altLang="zh-CN" dirty="0">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66</a:t>
            </a:fld>
            <a:endParaRPr lang="en-US" altLang="zh-CN">
              <a:solidFill>
                <a:srgbClr val="FFFFFF"/>
              </a:solidFill>
            </a:endParaRPr>
          </a:p>
        </p:txBody>
      </p:sp>
      <p:sp>
        <p:nvSpPr>
          <p:cNvPr id="5" name="文本框 4"/>
          <p:cNvSpPr txBox="1"/>
          <p:nvPr/>
        </p:nvSpPr>
        <p:spPr>
          <a:xfrm>
            <a:off x="512065" y="413173"/>
            <a:ext cx="11309520" cy="2585323"/>
          </a:xfrm>
          <a:prstGeom prst="rect">
            <a:avLst/>
          </a:prstGeom>
          <a:noFill/>
        </p:spPr>
        <p:txBody>
          <a:bodyPr wrap="square" rtlCol="0">
            <a:spAutoFit/>
          </a:bodyPr>
          <a:lstStyle/>
          <a:p>
            <a:pPr>
              <a:lnSpc>
                <a:spcPct val="150000"/>
              </a:lnSpc>
            </a:pPr>
            <a:r>
              <a:rPr lang="zh-CN" altLang="en-US" sz="1800" dirty="0" smtClean="0"/>
              <a:t>本地振荡器（</a:t>
            </a:r>
            <a:r>
              <a:rPr lang="en-US" altLang="zh-CN" sz="1800" dirty="0"/>
              <a:t>VCO</a:t>
            </a:r>
            <a:r>
              <a:rPr lang="zh-CN" altLang="en-US" sz="1800" dirty="0"/>
              <a:t>）</a:t>
            </a:r>
            <a:endParaRPr lang="en-US" altLang="zh-CN" sz="1800" dirty="0"/>
          </a:p>
          <a:p>
            <a:pPr indent="457200">
              <a:lnSpc>
                <a:spcPct val="150000"/>
              </a:lnSpc>
            </a:pPr>
            <a:r>
              <a:rPr lang="zh-CN" altLang="en-US" sz="1800" dirty="0"/>
              <a:t>本振频率应该比</a:t>
            </a:r>
            <a:r>
              <a:rPr lang="zh-CN" altLang="en-US" sz="1800" dirty="0" smtClean="0"/>
              <a:t>输入信号高</a:t>
            </a:r>
            <a:r>
              <a:rPr lang="zh-CN" altLang="en-US" sz="1800" dirty="0"/>
              <a:t>一个中频</a:t>
            </a:r>
            <a:r>
              <a:rPr lang="zh-CN" altLang="en-US" sz="1800" dirty="0" smtClean="0"/>
              <a:t>。已知本题的输入信号载频为</a:t>
            </a:r>
            <a:r>
              <a:rPr lang="en-US" altLang="zh-CN" sz="1800" dirty="0" smtClean="0">
                <a:latin typeface="+mj-lt"/>
              </a:rPr>
              <a:t>48.5MHz</a:t>
            </a:r>
            <a:r>
              <a:rPr lang="zh-CN" altLang="en-US" sz="1800" dirty="0" smtClean="0">
                <a:latin typeface="+mj-lt"/>
              </a:rPr>
              <a:t>，频率变化</a:t>
            </a:r>
            <a:r>
              <a:rPr lang="en-US" altLang="zh-CN" sz="1800" dirty="0" smtClean="0">
                <a:latin typeface="+mj-lt"/>
                <a:cs typeface="Times New Roman" panose="02020603050405020304" pitchFamily="18" charset="0"/>
              </a:rPr>
              <a:t>±0.15MHz</a:t>
            </a:r>
            <a:r>
              <a:rPr lang="zh-CN" altLang="en-US" sz="1800" dirty="0" smtClean="0">
                <a:latin typeface="+mj-lt"/>
                <a:cs typeface="Times New Roman" panose="02020603050405020304" pitchFamily="18" charset="0"/>
              </a:rPr>
              <a:t>（载频</a:t>
            </a:r>
            <a:r>
              <a:rPr lang="zh-CN" altLang="en-US" sz="1800" dirty="0">
                <a:latin typeface="+mj-lt"/>
                <a:cs typeface="Times New Roman" panose="02020603050405020304" pitchFamily="18" charset="0"/>
              </a:rPr>
              <a:t>漂移），中频</a:t>
            </a:r>
            <a:r>
              <a:rPr lang="zh-CN" altLang="en-US" sz="1800" dirty="0" smtClean="0">
                <a:latin typeface="+mj-lt"/>
                <a:cs typeface="Times New Roman" panose="02020603050405020304" pitchFamily="18" charset="0"/>
              </a:rPr>
              <a:t>频率为</a:t>
            </a:r>
            <a:r>
              <a:rPr lang="en-US" altLang="zh-CN" sz="1800" dirty="0">
                <a:latin typeface="+mj-lt"/>
                <a:cs typeface="Times New Roman" panose="02020603050405020304" pitchFamily="18" charset="0"/>
              </a:rPr>
              <a:t>10.7MHz</a:t>
            </a:r>
            <a:r>
              <a:rPr lang="zh-CN" altLang="en-US" sz="1800" dirty="0">
                <a:latin typeface="+mj-lt"/>
                <a:cs typeface="Times New Roman" panose="02020603050405020304" pitchFamily="18" charset="0"/>
              </a:rPr>
              <a:t>，所以本</a:t>
            </a:r>
            <a:r>
              <a:rPr lang="zh-CN" altLang="en-US" sz="1800" dirty="0" smtClean="0">
                <a:latin typeface="+mj-lt"/>
                <a:cs typeface="Times New Roman" panose="02020603050405020304" pitchFamily="18" charset="0"/>
              </a:rPr>
              <a:t>振中心频率为</a:t>
            </a:r>
            <a:r>
              <a:rPr lang="en-US" altLang="zh-CN" sz="1800" dirty="0" smtClean="0"/>
              <a:t>48.5MHz</a:t>
            </a:r>
            <a:r>
              <a:rPr lang="en-US" altLang="zh-CN" sz="1800" dirty="0" smtClean="0">
                <a:cs typeface="Times New Roman" panose="02020603050405020304" pitchFamily="18" charset="0"/>
              </a:rPr>
              <a:t>+10.7MHz=59.2MHz</a:t>
            </a:r>
            <a:r>
              <a:rPr lang="zh-CN" altLang="en-US" sz="1800" dirty="0" smtClean="0">
                <a:cs typeface="Times New Roman" panose="02020603050405020304" pitchFamily="18" charset="0"/>
              </a:rPr>
              <a:t>，本振频率变化</a:t>
            </a:r>
            <a:r>
              <a:rPr lang="zh-CN" altLang="en-US" sz="1800" dirty="0" smtClean="0">
                <a:latin typeface="+mj-lt"/>
                <a:cs typeface="Times New Roman" panose="02020603050405020304" pitchFamily="18" charset="0"/>
              </a:rPr>
              <a:t>范围</a:t>
            </a:r>
            <a:r>
              <a:rPr lang="zh-CN" altLang="en-US" sz="1800" dirty="0">
                <a:latin typeface="+mj-lt"/>
                <a:cs typeface="Times New Roman" panose="02020603050405020304" pitchFamily="18" charset="0"/>
              </a:rPr>
              <a:t>应该略</a:t>
            </a:r>
            <a:r>
              <a:rPr lang="zh-CN" altLang="en-US" sz="1800" dirty="0" smtClean="0">
                <a:latin typeface="+mj-lt"/>
                <a:cs typeface="Times New Roman" panose="02020603050405020304" pitchFamily="18" charset="0"/>
              </a:rPr>
              <a:t>大于</a:t>
            </a:r>
            <a:r>
              <a:rPr lang="en-US" altLang="zh-CN" sz="1800" dirty="0" smtClean="0">
                <a:cs typeface="Times New Roman" panose="02020603050405020304" pitchFamily="18" charset="0"/>
              </a:rPr>
              <a:t>±0.15MHz</a:t>
            </a:r>
            <a:r>
              <a:rPr lang="zh-CN" altLang="en-US" sz="1800" dirty="0">
                <a:cs typeface="Times New Roman" panose="02020603050405020304" pitchFamily="18" charset="0"/>
              </a:rPr>
              <a:t>，</a:t>
            </a:r>
            <a:r>
              <a:rPr lang="zh-CN" altLang="en-US" sz="1800" dirty="0" smtClean="0">
                <a:cs typeface="Times New Roman" panose="02020603050405020304" pitchFamily="18" charset="0"/>
              </a:rPr>
              <a:t>例如取</a:t>
            </a:r>
            <a:r>
              <a:rPr lang="en-US" altLang="zh-CN" sz="1800" dirty="0" smtClean="0">
                <a:cs typeface="Times New Roman" panose="02020603050405020304" pitchFamily="18" charset="0"/>
              </a:rPr>
              <a:t>±(0.5~1)MHz</a:t>
            </a:r>
            <a:r>
              <a:rPr lang="zh-CN" altLang="en-US" sz="1800" dirty="0" smtClean="0">
                <a:cs typeface="Times New Roman" panose="02020603050405020304" pitchFamily="18" charset="0"/>
              </a:rPr>
              <a:t>（此频率变化范围过小与过大都容易引起</a:t>
            </a:r>
            <a:r>
              <a:rPr lang="en-US" altLang="zh-CN" sz="1800" dirty="0" smtClean="0">
                <a:cs typeface="Times New Roman" panose="02020603050405020304" pitchFamily="18" charset="0"/>
              </a:rPr>
              <a:t>AFC</a:t>
            </a:r>
            <a:r>
              <a:rPr lang="zh-CN" altLang="en-US" sz="1800" dirty="0" smtClean="0">
                <a:cs typeface="Times New Roman" panose="02020603050405020304" pitchFamily="18" charset="0"/>
              </a:rPr>
              <a:t>失控）。</a:t>
            </a:r>
            <a:endParaRPr lang="en-US" altLang="zh-CN" sz="1800" dirty="0">
              <a:cs typeface="Times New Roman" panose="02020603050405020304" pitchFamily="18" charset="0"/>
            </a:endParaRPr>
          </a:p>
          <a:p>
            <a:pPr indent="457200">
              <a:lnSpc>
                <a:spcPct val="150000"/>
              </a:lnSpc>
            </a:pPr>
            <a:r>
              <a:rPr lang="zh-CN" altLang="en-US" sz="1800" dirty="0">
                <a:latin typeface="+mj-lt"/>
              </a:rPr>
              <a:t>本振电路可参照前面锁相环电路中</a:t>
            </a:r>
            <a:r>
              <a:rPr lang="en-US" altLang="zh-CN" sz="1800" dirty="0">
                <a:latin typeface="+mj-lt"/>
              </a:rPr>
              <a:t>VCO</a:t>
            </a:r>
            <a:r>
              <a:rPr lang="zh-CN" altLang="en-US" sz="1800" dirty="0" smtClean="0">
                <a:latin typeface="+mj-lt"/>
              </a:rPr>
              <a:t>，为了得到</a:t>
            </a:r>
            <a:r>
              <a:rPr lang="zh-CN" altLang="en-US" sz="1800" dirty="0">
                <a:latin typeface="+mj-lt"/>
              </a:rPr>
              <a:t>希望的振荡频率</a:t>
            </a:r>
            <a:r>
              <a:rPr lang="zh-CN" altLang="en-US" sz="1800" dirty="0" smtClean="0">
                <a:latin typeface="+mj-lt"/>
              </a:rPr>
              <a:t>控制范围，可以在</a:t>
            </a:r>
            <a:r>
              <a:rPr lang="en-US" altLang="zh-CN" sz="1800" dirty="0" smtClean="0">
                <a:latin typeface="+mj-lt"/>
              </a:rPr>
              <a:t>LC</a:t>
            </a:r>
            <a:r>
              <a:rPr lang="zh-CN" altLang="en-US" sz="1800" dirty="0">
                <a:latin typeface="+mj-lt"/>
              </a:rPr>
              <a:t>谐振回路中采取措施降低其压控灵敏度</a:t>
            </a:r>
            <a:r>
              <a:rPr lang="zh-CN" altLang="en-US" sz="1800" dirty="0" smtClean="0">
                <a:latin typeface="+mj-lt"/>
              </a:rPr>
              <a:t>。</a:t>
            </a:r>
            <a:r>
              <a:rPr lang="zh-CN" altLang="en-US" sz="1800" dirty="0"/>
              <a:t>例如在右图电路中，将变容二极管</a:t>
            </a:r>
            <a:r>
              <a:rPr lang="en-US" altLang="zh-CN" sz="1800" dirty="0"/>
              <a:t>C</a:t>
            </a:r>
            <a:r>
              <a:rPr lang="en-US" altLang="zh-CN" sz="1800" baseline="-25000" dirty="0"/>
              <a:t>D</a:t>
            </a:r>
            <a:r>
              <a:rPr lang="zh-CN" altLang="en-US" sz="1800" dirty="0"/>
              <a:t>与电容</a:t>
            </a:r>
            <a:r>
              <a:rPr lang="en-US" altLang="zh-CN" sz="1800" dirty="0"/>
              <a:t>C1</a:t>
            </a:r>
            <a:r>
              <a:rPr lang="zh-CN" altLang="en-US" sz="1800" dirty="0"/>
              <a:t>串联后再与</a:t>
            </a:r>
            <a:r>
              <a:rPr lang="en-US" altLang="zh-CN" sz="1800" dirty="0"/>
              <a:t>C2</a:t>
            </a:r>
            <a:r>
              <a:rPr lang="zh-CN" altLang="en-US" sz="1800" dirty="0"/>
              <a:t>并联，总谐振电容</a:t>
            </a:r>
            <a:r>
              <a:rPr lang="zh-CN" altLang="en-US" sz="1800" dirty="0" smtClean="0"/>
              <a:t>为</a:t>
            </a:r>
            <a:endParaRPr lang="en-US" altLang="zh-CN" sz="1800" dirty="0">
              <a:latin typeface="+mj-lt"/>
            </a:endParaRPr>
          </a:p>
        </p:txBody>
      </p:sp>
      <p:sp>
        <p:nvSpPr>
          <p:cNvPr id="7" name="文本框 6"/>
          <p:cNvSpPr txBox="1"/>
          <p:nvPr/>
        </p:nvSpPr>
        <p:spPr>
          <a:xfrm>
            <a:off x="502647" y="3629476"/>
            <a:ext cx="6900335" cy="2412968"/>
          </a:xfrm>
          <a:prstGeom prst="rect">
            <a:avLst/>
          </a:prstGeom>
          <a:noFill/>
        </p:spPr>
        <p:txBody>
          <a:bodyPr wrap="square" rtlCol="0">
            <a:spAutoFit/>
          </a:bodyPr>
          <a:lstStyle/>
          <a:p>
            <a:pPr indent="457200">
              <a:lnSpc>
                <a:spcPct val="130000"/>
              </a:lnSpc>
            </a:pPr>
            <a:r>
              <a:rPr lang="zh-CN" altLang="en-US" sz="1800" dirty="0" smtClean="0"/>
              <a:t>此时总谐振电容的变化量将小于</a:t>
            </a:r>
            <a:r>
              <a:rPr lang="en-US" altLang="zh-CN" sz="1800" dirty="0" smtClean="0"/>
              <a:t>C</a:t>
            </a:r>
            <a:r>
              <a:rPr lang="en-US" altLang="zh-CN" sz="1800" baseline="-25000" dirty="0" smtClean="0"/>
              <a:t>D</a:t>
            </a:r>
            <a:r>
              <a:rPr lang="zh-CN" altLang="en-US" sz="1800" dirty="0" smtClean="0"/>
              <a:t>的变化量，选择</a:t>
            </a:r>
            <a:r>
              <a:rPr lang="zh-CN" altLang="en-US" sz="1800" dirty="0"/>
              <a:t>合适的</a:t>
            </a:r>
            <a:r>
              <a:rPr lang="en-US" altLang="zh-CN" sz="1800" dirty="0"/>
              <a:t>C1</a:t>
            </a:r>
            <a:r>
              <a:rPr lang="zh-CN" altLang="en-US" sz="1800" dirty="0"/>
              <a:t>与</a:t>
            </a:r>
            <a:r>
              <a:rPr lang="en-US" altLang="zh-CN" sz="1800" dirty="0"/>
              <a:t>C2</a:t>
            </a:r>
            <a:r>
              <a:rPr lang="zh-CN" altLang="en-US" sz="1800" dirty="0"/>
              <a:t>，可以使得在控制电压范围内的谐振频率满足</a:t>
            </a:r>
            <a:r>
              <a:rPr lang="zh-CN" altLang="en-US" sz="1800" dirty="0" smtClean="0"/>
              <a:t>要求。</a:t>
            </a:r>
            <a:endParaRPr lang="en-US" altLang="zh-CN" sz="1600" dirty="0" smtClean="0"/>
          </a:p>
          <a:p>
            <a:pPr indent="457200">
              <a:lnSpc>
                <a:spcPct val="130000"/>
              </a:lnSpc>
            </a:pPr>
            <a:endParaRPr lang="en-US" altLang="zh-CN" sz="1600" dirty="0" smtClean="0">
              <a:latin typeface="Times New Roman" panose="02020603050405020304" pitchFamily="18" charset="0"/>
              <a:ea typeface="楷体" panose="02010609060101010101" pitchFamily="49" charset="-122"/>
            </a:endParaRPr>
          </a:p>
          <a:p>
            <a:pPr indent="457200">
              <a:lnSpc>
                <a:spcPct val="130000"/>
              </a:lnSpc>
            </a:pPr>
            <a:r>
              <a:rPr lang="zh-CN" altLang="en-US" sz="1600" dirty="0" smtClean="0">
                <a:latin typeface="Times New Roman" panose="02020603050405020304" pitchFamily="18" charset="0"/>
                <a:ea typeface="楷体" panose="02010609060101010101" pitchFamily="49" charset="-122"/>
              </a:rPr>
              <a:t>例如采用变容二极管</a:t>
            </a:r>
            <a:r>
              <a:rPr lang="en-US" altLang="zh-CN" sz="1600" dirty="0" smtClean="0">
                <a:latin typeface="Times New Roman" panose="02020603050405020304" pitchFamily="18" charset="0"/>
                <a:ea typeface="楷体" panose="02010609060101010101" pitchFamily="49" charset="-122"/>
              </a:rPr>
              <a:t>BB729</a:t>
            </a:r>
            <a:r>
              <a:rPr lang="zh-CN" altLang="en-US" sz="1600" dirty="0" smtClean="0">
                <a:latin typeface="Times New Roman" panose="02020603050405020304" pitchFamily="18" charset="0"/>
                <a:ea typeface="楷体" panose="02010609060101010101" pitchFamily="49" charset="-122"/>
              </a:rPr>
              <a:t>，控制电压</a:t>
            </a:r>
            <a:r>
              <a:rPr lang="en-US" altLang="zh-CN" sz="1600" dirty="0" smtClean="0">
                <a:latin typeface="Times New Roman" panose="02020603050405020304" pitchFamily="18" charset="0"/>
                <a:ea typeface="楷体" panose="02010609060101010101" pitchFamily="49" charset="-122"/>
              </a:rPr>
              <a:t>1V</a:t>
            </a:r>
            <a:r>
              <a:rPr lang="zh-CN" altLang="en-US" sz="1600" dirty="0" smtClean="0">
                <a:latin typeface="Times New Roman" panose="02020603050405020304" pitchFamily="18" charset="0"/>
                <a:ea typeface="楷体" panose="02010609060101010101" pitchFamily="49" charset="-122"/>
              </a:rPr>
              <a:t>时其容量为</a:t>
            </a:r>
            <a:r>
              <a:rPr lang="en-US" altLang="zh-CN" sz="1600" dirty="0" smtClean="0">
                <a:latin typeface="Times New Roman" panose="02020603050405020304" pitchFamily="18" charset="0"/>
                <a:ea typeface="楷体" panose="02010609060101010101" pitchFamily="49" charset="-122"/>
              </a:rPr>
              <a:t>40pF</a:t>
            </a:r>
            <a:r>
              <a:rPr lang="zh-CN" altLang="en-US" sz="1600" dirty="0" smtClean="0">
                <a:latin typeface="Times New Roman" panose="02020603050405020304" pitchFamily="18" charset="0"/>
                <a:ea typeface="楷体" panose="02010609060101010101" pitchFamily="49" charset="-122"/>
              </a:rPr>
              <a:t>，</a:t>
            </a:r>
            <a:r>
              <a:rPr lang="en-US" altLang="zh-CN" sz="1600" dirty="0" smtClean="0">
                <a:latin typeface="Times New Roman" panose="02020603050405020304" pitchFamily="18" charset="0"/>
                <a:ea typeface="楷体" panose="02010609060101010101" pitchFamily="49" charset="-122"/>
              </a:rPr>
              <a:t>4V</a:t>
            </a:r>
            <a:r>
              <a:rPr lang="zh-CN" altLang="en-US" sz="1600" dirty="0" smtClean="0">
                <a:latin typeface="Times New Roman" panose="02020603050405020304" pitchFamily="18" charset="0"/>
                <a:ea typeface="楷体" panose="02010609060101010101" pitchFamily="49" charset="-122"/>
              </a:rPr>
              <a:t>时容量为</a:t>
            </a:r>
            <a:r>
              <a:rPr lang="en-US" altLang="zh-CN" sz="1600" dirty="0">
                <a:latin typeface="Times New Roman" panose="02020603050405020304" pitchFamily="18" charset="0"/>
                <a:ea typeface="楷体" panose="02010609060101010101" pitchFamily="49" charset="-122"/>
              </a:rPr>
              <a:t>20pF</a:t>
            </a:r>
            <a:r>
              <a:rPr lang="zh-CN" altLang="en-US" sz="1600" dirty="0">
                <a:latin typeface="Times New Roman" panose="02020603050405020304" pitchFamily="18" charset="0"/>
                <a:ea typeface="楷体" panose="02010609060101010101" pitchFamily="49" charset="-122"/>
              </a:rPr>
              <a:t>，取</a:t>
            </a:r>
            <a:r>
              <a:rPr lang="en-US" altLang="zh-CN" sz="1600" dirty="0" smtClean="0">
                <a:latin typeface="Times New Roman" panose="02020603050405020304" pitchFamily="18" charset="0"/>
                <a:ea typeface="楷体" panose="02010609060101010101" pitchFamily="49" charset="-122"/>
              </a:rPr>
              <a:t>C1=20pF</a:t>
            </a:r>
            <a:r>
              <a:rPr lang="zh-CN" altLang="en-US" sz="1600" dirty="0">
                <a:latin typeface="Times New Roman" panose="02020603050405020304" pitchFamily="18" charset="0"/>
                <a:ea typeface="楷体" panose="02010609060101010101" pitchFamily="49" charset="-122"/>
              </a:rPr>
              <a:t>，则</a:t>
            </a:r>
            <a:r>
              <a:rPr lang="en-US" altLang="zh-CN" sz="1600" dirty="0">
                <a:latin typeface="Times New Roman" panose="02020603050405020304" pitchFamily="18" charset="0"/>
                <a:ea typeface="楷体" panose="02010609060101010101" pitchFamily="49" charset="-122"/>
              </a:rPr>
              <a:t>C</a:t>
            </a:r>
            <a:r>
              <a:rPr lang="en-US" altLang="zh-CN" sz="1600" baseline="-25000" dirty="0">
                <a:latin typeface="Times New Roman" panose="02020603050405020304" pitchFamily="18" charset="0"/>
                <a:ea typeface="楷体" panose="02010609060101010101" pitchFamily="49" charset="-122"/>
              </a:rPr>
              <a:t>D</a:t>
            </a:r>
            <a:r>
              <a:rPr lang="zh-CN" altLang="en-US" sz="1600" dirty="0">
                <a:latin typeface="Times New Roman" panose="02020603050405020304" pitchFamily="18" charset="0"/>
                <a:ea typeface="楷体" panose="02010609060101010101" pitchFamily="49" charset="-122"/>
              </a:rPr>
              <a:t>与</a:t>
            </a:r>
            <a:r>
              <a:rPr lang="en-US" altLang="zh-CN" sz="1600" dirty="0">
                <a:latin typeface="Times New Roman" panose="02020603050405020304" pitchFamily="18" charset="0"/>
                <a:ea typeface="楷体" panose="02010609060101010101" pitchFamily="49" charset="-122"/>
              </a:rPr>
              <a:t>C1</a:t>
            </a:r>
            <a:r>
              <a:rPr lang="zh-CN" altLang="en-US" sz="1600" dirty="0">
                <a:latin typeface="Times New Roman" panose="02020603050405020304" pitchFamily="18" charset="0"/>
                <a:ea typeface="楷体" panose="02010609060101010101" pitchFamily="49" charset="-122"/>
              </a:rPr>
              <a:t>串联的容量在</a:t>
            </a:r>
            <a:r>
              <a:rPr lang="en-US" altLang="zh-CN" sz="1600" dirty="0" smtClean="0">
                <a:latin typeface="Times New Roman" panose="02020603050405020304" pitchFamily="18" charset="0"/>
                <a:ea typeface="楷体" panose="02010609060101010101" pitchFamily="49" charset="-122"/>
              </a:rPr>
              <a:t>1V</a:t>
            </a:r>
            <a:r>
              <a:rPr lang="zh-CN" altLang="en-US" sz="1600" dirty="0" smtClean="0">
                <a:latin typeface="Times New Roman" panose="02020603050405020304" pitchFamily="18" charset="0"/>
                <a:ea typeface="楷体" panose="02010609060101010101" pitchFamily="49" charset="-122"/>
              </a:rPr>
              <a:t>时为</a:t>
            </a:r>
            <a:r>
              <a:rPr lang="en-US" altLang="zh-CN" sz="1600" dirty="0" smtClean="0">
                <a:latin typeface="Times New Roman" panose="02020603050405020304" pitchFamily="18" charset="0"/>
                <a:ea typeface="楷体" panose="02010609060101010101" pitchFamily="49" charset="-122"/>
              </a:rPr>
              <a:t>13.33pF</a:t>
            </a:r>
            <a:r>
              <a:rPr lang="zh-CN" altLang="en-US" sz="1600" dirty="0" smtClean="0">
                <a:latin typeface="Times New Roman" panose="02020603050405020304" pitchFamily="18" charset="0"/>
                <a:ea typeface="楷体" panose="02010609060101010101" pitchFamily="49" charset="-122"/>
              </a:rPr>
              <a:t>，在</a:t>
            </a:r>
            <a:r>
              <a:rPr lang="en-US" altLang="zh-CN" sz="1600" dirty="0" smtClean="0">
                <a:latin typeface="Times New Roman" panose="02020603050405020304" pitchFamily="18" charset="0"/>
                <a:ea typeface="楷体" panose="02010609060101010101" pitchFamily="49" charset="-122"/>
              </a:rPr>
              <a:t>4V</a:t>
            </a:r>
            <a:r>
              <a:rPr lang="zh-CN" altLang="en-US" sz="1600" dirty="0" smtClean="0">
                <a:latin typeface="Times New Roman" panose="02020603050405020304" pitchFamily="18" charset="0"/>
                <a:ea typeface="楷体" panose="02010609060101010101" pitchFamily="49" charset="-122"/>
              </a:rPr>
              <a:t>时为</a:t>
            </a:r>
            <a:r>
              <a:rPr lang="en-US" altLang="zh-CN" sz="1600" dirty="0" smtClean="0">
                <a:latin typeface="Times New Roman" panose="02020603050405020304" pitchFamily="18" charset="0"/>
                <a:ea typeface="楷体" panose="02010609060101010101" pitchFamily="49" charset="-122"/>
              </a:rPr>
              <a:t>10pF</a:t>
            </a:r>
            <a:r>
              <a:rPr lang="zh-CN" altLang="en-US" sz="1600" dirty="0" smtClean="0">
                <a:latin typeface="Times New Roman" panose="02020603050405020304" pitchFamily="18" charset="0"/>
                <a:ea typeface="楷体" panose="02010609060101010101" pitchFamily="49" charset="-122"/>
              </a:rPr>
              <a:t>；再取</a:t>
            </a:r>
            <a:r>
              <a:rPr lang="en-US" altLang="zh-CN" sz="1600" dirty="0" smtClean="0">
                <a:latin typeface="Times New Roman" panose="02020603050405020304" pitchFamily="18" charset="0"/>
                <a:ea typeface="楷体" panose="02010609060101010101" pitchFamily="49" charset="-122"/>
              </a:rPr>
              <a:t>C2=30pF</a:t>
            </a:r>
            <a:r>
              <a:rPr lang="zh-CN" altLang="en-US" sz="1600" dirty="0" smtClean="0">
                <a:latin typeface="Times New Roman" panose="02020603050405020304" pitchFamily="18" charset="0"/>
                <a:ea typeface="楷体" panose="02010609060101010101" pitchFamily="49" charset="-122"/>
              </a:rPr>
              <a:t>，</a:t>
            </a:r>
            <a:r>
              <a:rPr lang="en-US" altLang="zh-CN" sz="1600" dirty="0" smtClean="0">
                <a:latin typeface="Times New Roman" panose="02020603050405020304" pitchFamily="18" charset="0"/>
                <a:ea typeface="楷体" panose="02010609060101010101" pitchFamily="49" charset="-122"/>
              </a:rPr>
              <a:t>L=174nH</a:t>
            </a:r>
            <a:r>
              <a:rPr lang="zh-CN" altLang="en-US" sz="1600" dirty="0" smtClean="0">
                <a:latin typeface="Times New Roman" panose="02020603050405020304" pitchFamily="18" charset="0"/>
                <a:ea typeface="楷体" panose="02010609060101010101" pitchFamily="49" charset="-122"/>
              </a:rPr>
              <a:t>，则</a:t>
            </a:r>
            <a:r>
              <a:rPr lang="en-US" altLang="zh-CN" sz="1600" dirty="0" smtClean="0">
                <a:latin typeface="Times New Roman" panose="02020603050405020304" pitchFamily="18" charset="0"/>
                <a:ea typeface="楷体" panose="02010609060101010101" pitchFamily="49" charset="-122"/>
              </a:rPr>
              <a:t>1V</a:t>
            </a:r>
            <a:r>
              <a:rPr lang="zh-CN" altLang="en-US" sz="1600" dirty="0" smtClean="0">
                <a:latin typeface="Times New Roman" panose="02020603050405020304" pitchFamily="18" charset="0"/>
                <a:ea typeface="楷体" panose="02010609060101010101" pitchFamily="49" charset="-122"/>
              </a:rPr>
              <a:t>时的振荡频率为</a:t>
            </a:r>
            <a:r>
              <a:rPr lang="en-US" altLang="zh-CN" sz="1600" dirty="0" smtClean="0">
                <a:latin typeface="Times New Roman" panose="02020603050405020304" pitchFamily="18" charset="0"/>
                <a:ea typeface="楷体" panose="02010609060101010101" pitchFamily="49" charset="-122"/>
              </a:rPr>
              <a:t>58MHz</a:t>
            </a:r>
            <a:r>
              <a:rPr lang="zh-CN" altLang="en-US" sz="1600" dirty="0" smtClean="0">
                <a:latin typeface="Times New Roman" panose="02020603050405020304" pitchFamily="18" charset="0"/>
                <a:ea typeface="楷体" panose="02010609060101010101" pitchFamily="49" charset="-122"/>
              </a:rPr>
              <a:t>，在</a:t>
            </a:r>
            <a:r>
              <a:rPr lang="en-US" altLang="zh-CN" sz="1600" dirty="0" smtClean="0">
                <a:latin typeface="Times New Roman" panose="02020603050405020304" pitchFamily="18" charset="0"/>
                <a:ea typeface="楷体" panose="02010609060101010101" pitchFamily="49" charset="-122"/>
              </a:rPr>
              <a:t>4V</a:t>
            </a:r>
            <a:r>
              <a:rPr lang="zh-CN" altLang="en-US" sz="1600" dirty="0" smtClean="0">
                <a:latin typeface="Times New Roman" panose="02020603050405020304" pitchFamily="18" charset="0"/>
                <a:ea typeface="楷体" panose="02010609060101010101" pitchFamily="49" charset="-122"/>
              </a:rPr>
              <a:t>时的振荡频率为</a:t>
            </a:r>
            <a:r>
              <a:rPr lang="en-US" altLang="zh-CN" sz="1600" dirty="0" smtClean="0">
                <a:latin typeface="Times New Roman" panose="02020603050405020304" pitchFamily="18" charset="0"/>
                <a:ea typeface="楷体" panose="02010609060101010101" pitchFamily="49" charset="-122"/>
              </a:rPr>
              <a:t>60.3MHz</a:t>
            </a:r>
            <a:r>
              <a:rPr lang="zh-CN" altLang="en-US" sz="1600" dirty="0" smtClean="0">
                <a:latin typeface="Times New Roman" panose="02020603050405020304" pitchFamily="18" charset="0"/>
                <a:ea typeface="楷体" panose="02010609060101010101" pitchFamily="49" charset="-122"/>
              </a:rPr>
              <a:t>，基本满足本题的要求。</a:t>
            </a:r>
            <a:endParaRPr lang="zh-CN" altLang="en-US" sz="1600" dirty="0">
              <a:latin typeface="Times New Roman" panose="02020603050405020304" pitchFamily="18" charset="0"/>
              <a:ea typeface="楷体" panose="02010609060101010101" pitchFamily="49" charset="-122"/>
            </a:endParaRPr>
          </a:p>
        </p:txBody>
      </p:sp>
      <p:pic>
        <p:nvPicPr>
          <p:cNvPr id="8" name="图片 7"/>
          <p:cNvPicPr>
            <a:picLocks noChangeAspect="1"/>
          </p:cNvPicPr>
          <p:nvPr/>
        </p:nvPicPr>
        <p:blipFill>
          <a:blip r:embed="rId3"/>
          <a:stretch>
            <a:fillRect/>
          </a:stretch>
        </p:blipFill>
        <p:spPr>
          <a:xfrm>
            <a:off x="8148890" y="3157954"/>
            <a:ext cx="3672695" cy="2547482"/>
          </a:xfrm>
          <a:prstGeom prst="rect">
            <a:avLst/>
          </a:prstGeom>
        </p:spPr>
      </p:pic>
      <p:graphicFrame>
        <p:nvGraphicFramePr>
          <p:cNvPr id="9" name="对象 8"/>
          <p:cNvGraphicFramePr>
            <a:graphicFrameLocks noChangeAspect="1"/>
          </p:cNvGraphicFramePr>
          <p:nvPr>
            <p:extLst>
              <p:ext uri="{D42A27DB-BD31-4B8C-83A1-F6EECF244321}">
                <p14:modId xmlns:p14="http://schemas.microsoft.com/office/powerpoint/2010/main" val="3826568267"/>
              </p:ext>
            </p:extLst>
          </p:nvPr>
        </p:nvGraphicFramePr>
        <p:xfrm>
          <a:off x="2922670" y="2984501"/>
          <a:ext cx="1787525" cy="714375"/>
        </p:xfrm>
        <a:graphic>
          <a:graphicData uri="http://schemas.openxmlformats.org/presentationml/2006/ole">
            <mc:AlternateContent xmlns:mc="http://schemas.openxmlformats.org/markup-compatibility/2006">
              <mc:Choice xmlns:v="urn:schemas-microsoft-com:vml" Requires="v">
                <p:oleObj spid="_x0000_s42026" name="Equation" r:id="rId4" imgW="1002960" imgH="406080" progId="Equation.DSMT4">
                  <p:embed/>
                </p:oleObj>
              </mc:Choice>
              <mc:Fallback>
                <p:oleObj name="Equation" r:id="rId4" imgW="1002960" imgH="406080" progId="Equation.DSMT4">
                  <p:embed/>
                  <p:pic>
                    <p:nvPicPr>
                      <p:cNvPr id="9" name="对象 8"/>
                      <p:cNvPicPr>
                        <a:picLocks noChangeAspect="1" noChangeArrowheads="1"/>
                      </p:cNvPicPr>
                      <p:nvPr/>
                    </p:nvPicPr>
                    <p:blipFill>
                      <a:blip r:embed="rId5"/>
                      <a:srcRect/>
                      <a:stretch>
                        <a:fillRect/>
                      </a:stretch>
                    </p:blipFill>
                    <p:spPr bwMode="auto">
                      <a:xfrm>
                        <a:off x="2922670" y="2984501"/>
                        <a:ext cx="1787525" cy="714375"/>
                      </a:xfrm>
                      <a:prstGeom prst="rect">
                        <a:avLst/>
                      </a:prstGeom>
                      <a:noFill/>
                    </p:spPr>
                  </p:pic>
                </p:oleObj>
              </mc:Fallback>
            </mc:AlternateContent>
          </a:graphicData>
        </a:graphic>
      </p:graphicFrame>
    </p:spTree>
    <p:extLst>
      <p:ext uri="{BB962C8B-B14F-4D97-AF65-F5344CB8AC3E}">
        <p14:creationId xmlns:p14="http://schemas.microsoft.com/office/powerpoint/2010/main" val="102698370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67</a:t>
            </a:fld>
            <a:endParaRPr lang="en-US" altLang="zh-CN">
              <a:solidFill>
                <a:srgbClr val="FFFFFF"/>
              </a:solidFill>
            </a:endParaRPr>
          </a:p>
        </p:txBody>
      </p:sp>
      <p:sp>
        <p:nvSpPr>
          <p:cNvPr id="5" name="文本框 4"/>
          <p:cNvSpPr txBox="1"/>
          <p:nvPr/>
        </p:nvSpPr>
        <p:spPr>
          <a:xfrm>
            <a:off x="460858" y="430242"/>
            <a:ext cx="11360727" cy="2585323"/>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a:t>鉴频</a:t>
            </a:r>
            <a:r>
              <a:rPr lang="zh-CN" altLang="en-US" sz="1800" dirty="0" smtClean="0"/>
              <a:t>模块与</a:t>
            </a:r>
            <a:r>
              <a:rPr lang="en-US" altLang="zh-CN" sz="1800" dirty="0" smtClean="0"/>
              <a:t>AFC</a:t>
            </a:r>
            <a:r>
              <a:rPr lang="zh-CN" altLang="en-US" sz="1800" dirty="0" smtClean="0"/>
              <a:t>控制电压产生</a:t>
            </a:r>
            <a:endParaRPr lang="en-US" altLang="zh-CN" sz="1800" dirty="0"/>
          </a:p>
          <a:p>
            <a:pPr indent="457200">
              <a:lnSpc>
                <a:spcPct val="150000"/>
              </a:lnSpc>
            </a:pPr>
            <a:r>
              <a:rPr lang="zh-CN" altLang="en-US" sz="1800" dirty="0"/>
              <a:t>鉴频模块包含鉴频器与低通滤波器两部分，其中低通滤波器是为</a:t>
            </a:r>
            <a:r>
              <a:rPr lang="en-US" altLang="zh-CN" sz="1800" dirty="0"/>
              <a:t>AFC</a:t>
            </a:r>
            <a:r>
              <a:rPr lang="zh-CN" altLang="en-US" sz="1800" dirty="0"/>
              <a:t>控制信号设置的，应该将鉴频输出信号中的交流成分滤除，取出准直流成分</a:t>
            </a:r>
            <a:endParaRPr lang="en-US" altLang="zh-CN" sz="1800" dirty="0"/>
          </a:p>
          <a:p>
            <a:pPr indent="457200">
              <a:lnSpc>
                <a:spcPct val="150000"/>
              </a:lnSpc>
            </a:pPr>
            <a:r>
              <a:rPr lang="zh-CN" altLang="en-US" sz="1800" dirty="0"/>
              <a:t>常见的鉴频器有比例鉴频器</a:t>
            </a:r>
            <a:r>
              <a:rPr lang="zh-CN" altLang="en-US" sz="1800" dirty="0" smtClean="0"/>
              <a:t>与差分峰值鉴频器</a:t>
            </a:r>
            <a:r>
              <a:rPr lang="zh-CN" altLang="en-US" sz="1800" dirty="0"/>
              <a:t>。</a:t>
            </a:r>
            <a:endParaRPr lang="en-US" altLang="zh-CN" sz="1800" dirty="0"/>
          </a:p>
          <a:p>
            <a:pPr marL="285750" indent="-285750">
              <a:lnSpc>
                <a:spcPct val="150000"/>
              </a:lnSpc>
              <a:buFont typeface="Arial" panose="020B0604020202020204" pitchFamily="34" charset="0"/>
              <a:buChar char="•"/>
            </a:pPr>
            <a:r>
              <a:rPr lang="zh-CN" altLang="en-US" sz="1800" dirty="0"/>
              <a:t>比例</a:t>
            </a:r>
            <a:r>
              <a:rPr lang="zh-CN" altLang="en-US" sz="1800" dirty="0" smtClean="0"/>
              <a:t>鉴频器</a:t>
            </a:r>
            <a:endParaRPr lang="en-US" altLang="zh-CN" sz="1800" dirty="0" smtClean="0"/>
          </a:p>
          <a:p>
            <a:pPr lvl="1">
              <a:lnSpc>
                <a:spcPct val="150000"/>
              </a:lnSpc>
            </a:pPr>
            <a:r>
              <a:rPr lang="zh-CN" altLang="en-US" sz="1800" dirty="0" smtClean="0"/>
              <a:t>下</a:t>
            </a:r>
            <a:r>
              <a:rPr lang="zh-CN" altLang="en-US" sz="1800" dirty="0"/>
              <a:t>图是一个</a:t>
            </a:r>
            <a:r>
              <a:rPr lang="en-US" altLang="zh-CN" sz="1800" dirty="0"/>
              <a:t>10.7MHz</a:t>
            </a:r>
            <a:r>
              <a:rPr lang="zh-CN" altLang="en-US" sz="1800" dirty="0"/>
              <a:t>的比例</a:t>
            </a:r>
            <a:r>
              <a:rPr lang="zh-CN" altLang="en-US" sz="1800" dirty="0" smtClean="0"/>
              <a:t>鉴频器</a:t>
            </a:r>
            <a:endParaRPr lang="zh-CN" altLang="en-US" sz="1800" dirty="0"/>
          </a:p>
        </p:txBody>
      </p:sp>
      <p:pic>
        <p:nvPicPr>
          <p:cNvPr id="7" name="图片 6"/>
          <p:cNvPicPr>
            <a:picLocks noChangeAspect="1"/>
          </p:cNvPicPr>
          <p:nvPr/>
        </p:nvPicPr>
        <p:blipFill>
          <a:blip r:embed="rId2"/>
          <a:stretch>
            <a:fillRect/>
          </a:stretch>
        </p:blipFill>
        <p:spPr>
          <a:xfrm>
            <a:off x="3005785" y="2953558"/>
            <a:ext cx="5819933" cy="3429903"/>
          </a:xfrm>
          <a:prstGeom prst="rect">
            <a:avLst/>
          </a:prstGeom>
        </p:spPr>
      </p:pic>
    </p:spTree>
    <p:extLst>
      <p:ext uri="{BB962C8B-B14F-4D97-AF65-F5344CB8AC3E}">
        <p14:creationId xmlns:p14="http://schemas.microsoft.com/office/powerpoint/2010/main" val="211998455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68</a:t>
            </a:fld>
            <a:endParaRPr lang="en-US" altLang="zh-CN">
              <a:solidFill>
                <a:srgbClr val="FFFFFF"/>
              </a:solidFill>
            </a:endParaRPr>
          </a:p>
        </p:txBody>
      </p:sp>
      <p:sp>
        <p:nvSpPr>
          <p:cNvPr id="5" name="文本框 4"/>
          <p:cNvSpPr txBox="1"/>
          <p:nvPr/>
        </p:nvSpPr>
        <p:spPr>
          <a:xfrm>
            <a:off x="468173" y="487680"/>
            <a:ext cx="11353412" cy="3416320"/>
          </a:xfrm>
          <a:prstGeom prst="rect">
            <a:avLst/>
          </a:prstGeom>
          <a:noFill/>
        </p:spPr>
        <p:txBody>
          <a:bodyPr wrap="square" rtlCol="0">
            <a:spAutoFit/>
          </a:bodyPr>
          <a:lstStyle/>
          <a:p>
            <a:pPr indent="457200">
              <a:lnSpc>
                <a:spcPct val="150000"/>
              </a:lnSpc>
            </a:pPr>
            <a:r>
              <a:rPr lang="zh-CN" altLang="en-US" sz="1800" dirty="0"/>
              <a:t>比例鉴频器的工作</a:t>
            </a:r>
            <a:r>
              <a:rPr lang="zh-CN" altLang="en-US" sz="1800" dirty="0" smtClean="0"/>
              <a:t>原理：</a:t>
            </a:r>
            <a:endParaRPr lang="en-US" altLang="zh-CN" sz="1800" dirty="0" smtClean="0"/>
          </a:p>
          <a:p>
            <a:pPr marL="285750" indent="-285750">
              <a:lnSpc>
                <a:spcPct val="150000"/>
              </a:lnSpc>
              <a:buFont typeface="Arial" panose="020B0604020202020204" pitchFamily="34" charset="0"/>
              <a:buChar char="•"/>
            </a:pPr>
            <a:r>
              <a:rPr lang="en-US" altLang="zh-CN" sz="1800" dirty="0" smtClean="0"/>
              <a:t>47p</a:t>
            </a:r>
            <a:r>
              <a:rPr lang="zh-CN" altLang="en-US" sz="1800" dirty="0"/>
              <a:t>电容与</a:t>
            </a:r>
            <a:r>
              <a:rPr lang="en-US" altLang="zh-CN" sz="1800" dirty="0"/>
              <a:t>T1</a:t>
            </a:r>
            <a:r>
              <a:rPr lang="zh-CN" altLang="en-US" sz="1800" dirty="0"/>
              <a:t>、</a:t>
            </a:r>
            <a:r>
              <a:rPr lang="en-US" altLang="zh-CN" sz="1800" dirty="0"/>
              <a:t>T2</a:t>
            </a:r>
            <a:r>
              <a:rPr lang="zh-CN" altLang="en-US" sz="1800" dirty="0"/>
              <a:t>的初级电感</a:t>
            </a:r>
            <a:r>
              <a:rPr lang="zh-CN" altLang="en-US" sz="1800" dirty="0" smtClean="0"/>
              <a:t>构成谐振回路</a:t>
            </a:r>
            <a:r>
              <a:rPr lang="en-US" altLang="zh-CN" sz="1800" dirty="0" smtClean="0"/>
              <a:t>1</a:t>
            </a:r>
            <a:r>
              <a:rPr lang="zh-CN" altLang="en-US" sz="1800" dirty="0" smtClean="0"/>
              <a:t>，</a:t>
            </a:r>
            <a:r>
              <a:rPr lang="en-US" altLang="zh-CN" sz="1800" dirty="0"/>
              <a:t>100p</a:t>
            </a:r>
            <a:r>
              <a:rPr lang="zh-CN" altLang="en-US" sz="1800" dirty="0"/>
              <a:t>电容与</a:t>
            </a:r>
            <a:r>
              <a:rPr lang="en-US" altLang="zh-CN" sz="1800" dirty="0"/>
              <a:t>T2</a:t>
            </a:r>
            <a:r>
              <a:rPr lang="zh-CN" altLang="en-US" sz="1800" dirty="0"/>
              <a:t>次级</a:t>
            </a:r>
            <a:r>
              <a:rPr lang="zh-CN" altLang="en-US" sz="1800" dirty="0" smtClean="0"/>
              <a:t>电感构成谐振回路</a:t>
            </a:r>
            <a:r>
              <a:rPr lang="en-US" altLang="zh-CN" sz="1800" dirty="0" smtClean="0"/>
              <a:t>2</a:t>
            </a:r>
            <a:r>
              <a:rPr lang="zh-CN" altLang="en-US" sz="1800" dirty="0" smtClean="0"/>
              <a:t>，两个谐振回路均谐振在中心频率</a:t>
            </a:r>
            <a:r>
              <a:rPr lang="en-US" altLang="zh-CN" sz="1800" i="1" dirty="0" smtClean="0"/>
              <a:t>f</a:t>
            </a:r>
            <a:r>
              <a:rPr lang="en-US" altLang="zh-CN" sz="1800" baseline="-25000" dirty="0" smtClean="0"/>
              <a:t>0</a:t>
            </a:r>
          </a:p>
          <a:p>
            <a:pPr marL="285750" indent="-285750">
              <a:lnSpc>
                <a:spcPct val="150000"/>
              </a:lnSpc>
              <a:buFont typeface="Arial" panose="020B0604020202020204" pitchFamily="34" charset="0"/>
              <a:buChar char="•"/>
            </a:pPr>
            <a:r>
              <a:rPr lang="zh-CN" altLang="en-US" sz="1800" dirty="0" smtClean="0"/>
              <a:t>由于</a:t>
            </a:r>
            <a:r>
              <a:rPr lang="en-US" altLang="zh-CN" sz="1800" dirty="0"/>
              <a:t>T2</a:t>
            </a:r>
            <a:r>
              <a:rPr lang="zh-CN" altLang="en-US" sz="1800" dirty="0"/>
              <a:t>初级只有</a:t>
            </a:r>
            <a:r>
              <a:rPr lang="en-US" altLang="zh-CN" sz="1800" dirty="0"/>
              <a:t>1</a:t>
            </a:r>
            <a:r>
              <a:rPr lang="zh-CN" altLang="en-US" sz="1800" dirty="0"/>
              <a:t>匝，所以两个谐振回路之间为松耦合，</a:t>
            </a:r>
            <a:r>
              <a:rPr lang="en-US" altLang="zh-CN" sz="1800" dirty="0"/>
              <a:t>T2</a:t>
            </a:r>
            <a:r>
              <a:rPr lang="zh-CN" altLang="en-US" sz="1800" dirty="0"/>
              <a:t>次级电压与初级谐振回路的电压有</a:t>
            </a:r>
            <a:r>
              <a:rPr lang="en-US" altLang="zh-CN" sz="1800" dirty="0"/>
              <a:t>90°</a:t>
            </a:r>
            <a:r>
              <a:rPr lang="zh-CN" altLang="en-US" sz="1800" dirty="0"/>
              <a:t>的固定相移以及一个与频偏有关的附加</a:t>
            </a:r>
            <a:r>
              <a:rPr lang="zh-CN" altLang="en-US" sz="1800" dirty="0" smtClean="0"/>
              <a:t>相移</a:t>
            </a:r>
            <a:endParaRPr lang="en-US" altLang="zh-CN" sz="1800" dirty="0" smtClean="0"/>
          </a:p>
          <a:p>
            <a:pPr marL="285750" indent="-285750">
              <a:lnSpc>
                <a:spcPct val="150000"/>
              </a:lnSpc>
              <a:buFont typeface="Arial" panose="020B0604020202020204" pitchFamily="34" charset="0"/>
              <a:buChar char="•"/>
            </a:pPr>
            <a:r>
              <a:rPr lang="en-US" altLang="zh-CN" sz="1800" dirty="0" smtClean="0"/>
              <a:t>T1</a:t>
            </a:r>
            <a:r>
              <a:rPr lang="zh-CN" altLang="en-US" sz="1800" dirty="0"/>
              <a:t>初次级之间为紧耦合，所以</a:t>
            </a:r>
            <a:r>
              <a:rPr lang="en-US" altLang="zh-CN" sz="1800" dirty="0"/>
              <a:t>T1</a:t>
            </a:r>
            <a:r>
              <a:rPr lang="zh-CN" altLang="en-US" sz="1800" dirty="0"/>
              <a:t>次级电压与初级谐振回路电压</a:t>
            </a:r>
            <a:r>
              <a:rPr lang="zh-CN" altLang="en-US" sz="1800" dirty="0" smtClean="0"/>
              <a:t>同相</a:t>
            </a:r>
            <a:endParaRPr lang="en-US" altLang="zh-CN" sz="1800" dirty="0"/>
          </a:p>
          <a:p>
            <a:pPr marL="285750" indent="-285750">
              <a:lnSpc>
                <a:spcPct val="150000"/>
              </a:lnSpc>
              <a:buFont typeface="Arial" panose="020B0604020202020204" pitchFamily="34" charset="0"/>
              <a:buChar char="•"/>
            </a:pPr>
            <a:r>
              <a:rPr lang="en-US" altLang="zh-CN" sz="1800" dirty="0"/>
              <a:t>T1</a:t>
            </a:r>
            <a:r>
              <a:rPr lang="zh-CN" altLang="en-US" sz="1800" dirty="0"/>
              <a:t>次级电压与</a:t>
            </a:r>
            <a:r>
              <a:rPr lang="en-US" altLang="zh-CN" sz="1800" dirty="0"/>
              <a:t>T2</a:t>
            </a:r>
            <a:r>
              <a:rPr lang="zh-CN" altLang="en-US" sz="1800" dirty="0"/>
              <a:t>次级电压叠加后，</a:t>
            </a:r>
            <a:r>
              <a:rPr lang="zh-CN" altLang="en-US" sz="1800" dirty="0" smtClean="0"/>
              <a:t>取它们</a:t>
            </a:r>
            <a:r>
              <a:rPr lang="zh-CN" altLang="en-US" sz="1800" dirty="0"/>
              <a:t>的差值，该差值即与输入信号的频偏成正比，也就是</a:t>
            </a:r>
            <a:r>
              <a:rPr lang="en-US" altLang="zh-CN" sz="1800" dirty="0"/>
              <a:t>FM</a:t>
            </a:r>
            <a:r>
              <a:rPr lang="zh-CN" altLang="en-US" sz="1800" dirty="0"/>
              <a:t>解调</a:t>
            </a:r>
            <a:r>
              <a:rPr lang="zh-CN" altLang="en-US" sz="1800" dirty="0" smtClean="0"/>
              <a:t>输出，在中心频率附近，解调输出电压与频偏的关系曲线呈</a:t>
            </a:r>
            <a:r>
              <a:rPr lang="en-US" altLang="zh-CN" sz="1800" dirty="0" smtClean="0"/>
              <a:t>S</a:t>
            </a:r>
            <a:r>
              <a:rPr lang="zh-CN" altLang="en-US" sz="1800" dirty="0" smtClean="0"/>
              <a:t>形，故称为</a:t>
            </a:r>
            <a:r>
              <a:rPr lang="en-US" altLang="zh-CN" sz="1800" dirty="0" smtClean="0"/>
              <a:t>S</a:t>
            </a:r>
            <a:r>
              <a:rPr lang="zh-CN" altLang="en-US" sz="1800" dirty="0" smtClean="0"/>
              <a:t>曲线</a:t>
            </a:r>
            <a:endParaRPr lang="en-US" altLang="zh-CN" sz="1800" dirty="0"/>
          </a:p>
        </p:txBody>
      </p:sp>
      <p:pic>
        <p:nvPicPr>
          <p:cNvPr id="8" name="图片 7"/>
          <p:cNvPicPr>
            <a:picLocks noChangeAspect="1"/>
          </p:cNvPicPr>
          <p:nvPr/>
        </p:nvPicPr>
        <p:blipFill>
          <a:blip r:embed="rId2"/>
          <a:stretch>
            <a:fillRect/>
          </a:stretch>
        </p:blipFill>
        <p:spPr>
          <a:xfrm>
            <a:off x="6384757" y="4040375"/>
            <a:ext cx="3829542" cy="2236724"/>
          </a:xfrm>
          <a:prstGeom prst="rect">
            <a:avLst/>
          </a:prstGeom>
        </p:spPr>
      </p:pic>
      <p:pic>
        <p:nvPicPr>
          <p:cNvPr id="9" name="图片 8"/>
          <p:cNvPicPr>
            <a:picLocks noChangeAspect="1"/>
          </p:cNvPicPr>
          <p:nvPr/>
        </p:nvPicPr>
        <p:blipFill>
          <a:blip r:embed="rId3"/>
          <a:stretch>
            <a:fillRect/>
          </a:stretch>
        </p:blipFill>
        <p:spPr>
          <a:xfrm>
            <a:off x="1818106" y="4040375"/>
            <a:ext cx="3438702" cy="2236724"/>
          </a:xfrm>
          <a:prstGeom prst="rect">
            <a:avLst/>
          </a:prstGeom>
        </p:spPr>
      </p:pic>
    </p:spTree>
    <p:extLst>
      <p:ext uri="{BB962C8B-B14F-4D97-AF65-F5344CB8AC3E}">
        <p14:creationId xmlns:p14="http://schemas.microsoft.com/office/powerpoint/2010/main" val="106018166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69</a:t>
            </a:fld>
            <a:endParaRPr lang="en-US" altLang="zh-CN">
              <a:solidFill>
                <a:srgbClr val="FFFFFF"/>
              </a:solidFill>
            </a:endParaRPr>
          </a:p>
        </p:txBody>
      </p:sp>
      <p:sp>
        <p:nvSpPr>
          <p:cNvPr id="5" name="文本框 4"/>
          <p:cNvSpPr txBox="1"/>
          <p:nvPr/>
        </p:nvSpPr>
        <p:spPr>
          <a:xfrm>
            <a:off x="468173" y="487680"/>
            <a:ext cx="11353412" cy="4247317"/>
          </a:xfrm>
          <a:prstGeom prst="rect">
            <a:avLst/>
          </a:prstGeom>
          <a:noFill/>
        </p:spPr>
        <p:txBody>
          <a:bodyPr wrap="square" rtlCol="0">
            <a:spAutoFit/>
          </a:bodyPr>
          <a:lstStyle/>
          <a:p>
            <a:pPr indent="457200">
              <a:lnSpc>
                <a:spcPct val="150000"/>
              </a:lnSpc>
            </a:pPr>
            <a:r>
              <a:rPr lang="zh-CN" altLang="en-US" sz="1800" dirty="0" smtClean="0"/>
              <a:t>比例鉴频器的鉴频增益：</a:t>
            </a:r>
            <a:endParaRPr lang="en-US" altLang="zh-CN" sz="1800" dirty="0" smtClean="0"/>
          </a:p>
          <a:p>
            <a:pPr indent="457200">
              <a:lnSpc>
                <a:spcPct val="150000"/>
              </a:lnSpc>
            </a:pPr>
            <a:r>
              <a:rPr lang="zh-CN" altLang="en-US" sz="1800" dirty="0" smtClean="0"/>
              <a:t>在</a:t>
            </a:r>
            <a:r>
              <a:rPr lang="zh-CN" altLang="en-US" sz="1800" dirty="0"/>
              <a:t>谐振频率附近</a:t>
            </a:r>
            <a:r>
              <a:rPr lang="zh-CN" altLang="en-US" sz="1800" dirty="0" smtClean="0"/>
              <a:t>，</a:t>
            </a:r>
            <a:r>
              <a:rPr lang="en-US" altLang="zh-CN" sz="1800" dirty="0" smtClean="0"/>
              <a:t>T2</a:t>
            </a:r>
            <a:r>
              <a:rPr lang="zh-CN" altLang="en-US" sz="1800" dirty="0" smtClean="0"/>
              <a:t>次级电压的附加</a:t>
            </a:r>
            <a:r>
              <a:rPr lang="zh-CN" altLang="en-US" sz="1800" dirty="0"/>
              <a:t>相移</a:t>
            </a:r>
            <a:r>
              <a:rPr lang="el-GR" altLang="zh-CN" sz="1800" i="1" dirty="0">
                <a:latin typeface="Arial" panose="020B0604020202020204" pitchFamily="34" charset="0"/>
                <a:cs typeface="Arial" panose="020B0604020202020204" pitchFamily="34" charset="0"/>
              </a:rPr>
              <a:t>θ</a:t>
            </a:r>
            <a:r>
              <a:rPr lang="el-GR" altLang="zh-CN" sz="1800" dirty="0">
                <a:latin typeface="Arial" panose="020B0604020202020204" pitchFamily="34" charset="0"/>
                <a:cs typeface="Arial" panose="020B0604020202020204" pitchFamily="34" charset="0"/>
              </a:rPr>
              <a:t>≈</a:t>
            </a:r>
            <a:r>
              <a:rPr lang="en-US" altLang="zh-CN" sz="1800" dirty="0">
                <a:latin typeface="Arial" panose="020B0604020202020204" pitchFamily="34" charset="0"/>
                <a:cs typeface="Arial" panose="020B0604020202020204" pitchFamily="34" charset="0"/>
              </a:rPr>
              <a:t>2</a:t>
            </a:r>
            <a:r>
              <a:rPr lang="en-US" altLang="zh-CN" sz="1800" i="1" dirty="0">
                <a:latin typeface="Arial" panose="020B0604020202020204" pitchFamily="34" charset="0"/>
                <a:cs typeface="Arial" panose="020B0604020202020204" pitchFamily="34" charset="0"/>
              </a:rPr>
              <a:t>Q</a:t>
            </a:r>
            <a:r>
              <a:rPr lang="en-US" altLang="zh-CN" sz="1800" baseline="-25000" dirty="0">
                <a:latin typeface="Arial" panose="020B0604020202020204" pitchFamily="34" charset="0"/>
                <a:cs typeface="Arial" panose="020B0604020202020204" pitchFamily="34" charset="0"/>
              </a:rPr>
              <a:t>2</a:t>
            </a:r>
            <a:r>
              <a:rPr lang="en-US" altLang="zh-CN" sz="1800" dirty="0">
                <a:latin typeface="Arial" panose="020B0604020202020204" pitchFamily="34" charset="0"/>
                <a:cs typeface="Arial" panose="020B0604020202020204" pitchFamily="34" charset="0"/>
              </a:rPr>
              <a:t>(</a:t>
            </a:r>
            <a:r>
              <a:rPr lang="el-GR" altLang="zh-CN" sz="1800" dirty="0">
                <a:latin typeface="Arial" panose="020B0604020202020204" pitchFamily="34" charset="0"/>
                <a:cs typeface="Arial" panose="020B0604020202020204" pitchFamily="34" charset="0"/>
              </a:rPr>
              <a:t>Δ</a:t>
            </a:r>
            <a:r>
              <a:rPr lang="en-US" altLang="zh-CN" sz="1800" i="1" dirty="0">
                <a:latin typeface="Arial" panose="020B0604020202020204" pitchFamily="34" charset="0"/>
                <a:cs typeface="Arial" panose="020B0604020202020204" pitchFamily="34" charset="0"/>
              </a:rPr>
              <a:t>f/f</a:t>
            </a:r>
            <a:r>
              <a:rPr lang="en-US" altLang="zh-CN" sz="1800" baseline="-25000" dirty="0">
                <a:latin typeface="Arial" panose="020B0604020202020204" pitchFamily="34" charset="0"/>
                <a:cs typeface="Arial" panose="020B0604020202020204" pitchFamily="34" charset="0"/>
              </a:rPr>
              <a:t>0</a:t>
            </a:r>
            <a:r>
              <a:rPr lang="en-US" altLang="zh-CN" sz="1800" dirty="0">
                <a:latin typeface="Arial" panose="020B0604020202020204" pitchFamily="34" charset="0"/>
                <a:cs typeface="Arial" panose="020B0604020202020204" pitchFamily="34" charset="0"/>
              </a:rPr>
              <a:t>)</a:t>
            </a:r>
            <a:r>
              <a:rPr lang="zh-CN" altLang="en-US" sz="1800" dirty="0">
                <a:latin typeface="Arial" panose="020B0604020202020204" pitchFamily="34" charset="0"/>
                <a:cs typeface="Arial" panose="020B0604020202020204" pitchFamily="34" charset="0"/>
              </a:rPr>
              <a:t>，其中</a:t>
            </a:r>
            <a:r>
              <a:rPr lang="en-US" altLang="zh-CN" sz="1800" i="1" dirty="0">
                <a:latin typeface="Arial" panose="020B0604020202020204" pitchFamily="34" charset="0"/>
                <a:cs typeface="Arial" panose="020B0604020202020204" pitchFamily="34" charset="0"/>
              </a:rPr>
              <a:t>Q</a:t>
            </a:r>
            <a:r>
              <a:rPr lang="en-US" altLang="zh-CN" sz="1800" baseline="-25000" dirty="0">
                <a:latin typeface="Arial" panose="020B0604020202020204" pitchFamily="34" charset="0"/>
                <a:cs typeface="Arial" panose="020B0604020202020204" pitchFamily="34" charset="0"/>
              </a:rPr>
              <a:t>2</a:t>
            </a:r>
            <a:r>
              <a:rPr lang="zh-CN" altLang="en-US" sz="1800" dirty="0">
                <a:latin typeface="Arial" panose="020B0604020202020204" pitchFamily="34" charset="0"/>
                <a:cs typeface="Arial" panose="020B0604020202020204" pitchFamily="34" charset="0"/>
              </a:rPr>
              <a:t>是</a:t>
            </a:r>
            <a:r>
              <a:rPr lang="en-US" altLang="zh-CN" sz="1800" dirty="0"/>
              <a:t>T2</a:t>
            </a:r>
            <a:r>
              <a:rPr lang="zh-CN" altLang="en-US" sz="1800" dirty="0"/>
              <a:t>次级与</a:t>
            </a:r>
            <a:r>
              <a:rPr lang="en-US" altLang="zh-CN" sz="1800" dirty="0"/>
              <a:t>100pF</a:t>
            </a:r>
            <a:r>
              <a:rPr lang="zh-CN" altLang="en-US" sz="1800" dirty="0"/>
              <a:t>电容构成的谐振回路的有载</a:t>
            </a:r>
            <a:r>
              <a:rPr lang="en-US" altLang="zh-CN" sz="1800" dirty="0"/>
              <a:t>Q</a:t>
            </a:r>
            <a:r>
              <a:rPr lang="zh-CN" altLang="en-US" sz="1800" dirty="0"/>
              <a:t>值，</a:t>
            </a:r>
            <a:r>
              <a:rPr lang="el-GR" altLang="zh-CN" sz="1800" dirty="0">
                <a:latin typeface="Arial" panose="020B0604020202020204" pitchFamily="34" charset="0"/>
                <a:cs typeface="Arial" panose="020B0604020202020204" pitchFamily="34" charset="0"/>
              </a:rPr>
              <a:t>Δ</a:t>
            </a:r>
            <a:r>
              <a:rPr lang="en-US" altLang="zh-CN" sz="1800" i="1" dirty="0">
                <a:latin typeface="Arial" panose="020B0604020202020204" pitchFamily="34" charset="0"/>
                <a:cs typeface="Arial" panose="020B0604020202020204" pitchFamily="34" charset="0"/>
              </a:rPr>
              <a:t>f/f</a:t>
            </a:r>
            <a:r>
              <a:rPr lang="en-US" altLang="zh-CN" sz="1800" baseline="-25000" dirty="0">
                <a:latin typeface="Arial" panose="020B0604020202020204" pitchFamily="34" charset="0"/>
                <a:cs typeface="Arial" panose="020B0604020202020204" pitchFamily="34" charset="0"/>
              </a:rPr>
              <a:t>0</a:t>
            </a:r>
            <a:r>
              <a:rPr lang="zh-CN" altLang="en-US" sz="1800" dirty="0">
                <a:latin typeface="Arial" panose="020B0604020202020204" pitchFamily="34" charset="0"/>
                <a:cs typeface="Arial" panose="020B0604020202020204" pitchFamily="34" charset="0"/>
              </a:rPr>
              <a:t>是中心频率附近的相对</a:t>
            </a:r>
            <a:r>
              <a:rPr lang="zh-CN" altLang="en-US" sz="1800" dirty="0" smtClean="0">
                <a:latin typeface="Arial" panose="020B0604020202020204" pitchFamily="34" charset="0"/>
                <a:cs typeface="Arial" panose="020B0604020202020204" pitchFamily="34" charset="0"/>
              </a:rPr>
              <a:t>频偏</a:t>
            </a:r>
            <a:endParaRPr lang="en-US" altLang="zh-CN" sz="1800" dirty="0" smtClean="0">
              <a:latin typeface="Arial" panose="020B0604020202020204" pitchFamily="34" charset="0"/>
              <a:cs typeface="Arial" panose="020B0604020202020204" pitchFamily="34" charset="0"/>
            </a:endParaRPr>
          </a:p>
          <a:p>
            <a:pPr indent="457200">
              <a:lnSpc>
                <a:spcPct val="150000"/>
              </a:lnSpc>
            </a:pPr>
            <a:r>
              <a:rPr lang="zh-CN" altLang="en-US" sz="1800" dirty="0" smtClean="0"/>
              <a:t>设</a:t>
            </a:r>
            <a:r>
              <a:rPr lang="en-US" altLang="zh-CN" sz="1800" dirty="0" smtClean="0"/>
              <a:t>T2</a:t>
            </a:r>
            <a:r>
              <a:rPr lang="zh-CN" altLang="en-US" sz="1800" dirty="0" smtClean="0"/>
              <a:t>次级电压为</a:t>
            </a:r>
            <a:r>
              <a:rPr lang="en-US" altLang="zh-CN" sz="1800" dirty="0" smtClean="0"/>
              <a:t>v</a:t>
            </a:r>
            <a:r>
              <a:rPr lang="en-US" altLang="zh-CN" sz="1800" baseline="-25000" dirty="0" smtClean="0"/>
              <a:t>2</a:t>
            </a:r>
            <a:r>
              <a:rPr lang="zh-CN" altLang="en-US" sz="1800" dirty="0" smtClean="0"/>
              <a:t>。在附加相移</a:t>
            </a:r>
            <a:r>
              <a:rPr lang="el-GR" altLang="zh-CN" sz="1800" i="1" dirty="0">
                <a:latin typeface="Arial" panose="020B0604020202020204" pitchFamily="34" charset="0"/>
                <a:cs typeface="Arial" panose="020B0604020202020204" pitchFamily="34" charset="0"/>
              </a:rPr>
              <a:t>θ</a:t>
            </a:r>
            <a:r>
              <a:rPr lang="zh-CN" altLang="en-US" sz="1800" dirty="0" smtClean="0"/>
              <a:t>很小的条件下，</a:t>
            </a:r>
            <a:r>
              <a:rPr lang="el-GR" altLang="zh-CN" sz="1800" dirty="0" smtClean="0"/>
              <a:t>Δ</a:t>
            </a:r>
            <a:r>
              <a:rPr lang="en-US" altLang="zh-CN" sz="1800" dirty="0" smtClean="0"/>
              <a:t>v</a:t>
            </a:r>
            <a:r>
              <a:rPr lang="en-US" altLang="zh-CN" sz="1800" baseline="-25000" dirty="0"/>
              <a:t>2</a:t>
            </a:r>
            <a:r>
              <a:rPr lang="en-US" altLang="zh-CN" sz="1800" dirty="0" smtClean="0"/>
              <a:t>≈v</a:t>
            </a:r>
            <a:r>
              <a:rPr lang="en-US" altLang="zh-CN" sz="1800" baseline="-25000" dirty="0"/>
              <a:t>2</a:t>
            </a:r>
            <a:r>
              <a:rPr lang="en-US" altLang="zh-CN" sz="1800" dirty="0" smtClean="0"/>
              <a:t>*sin</a:t>
            </a:r>
            <a:r>
              <a:rPr lang="el-GR" altLang="zh-CN" sz="1800" i="1" dirty="0" smtClean="0">
                <a:latin typeface="Arial" panose="020B0604020202020204" pitchFamily="34" charset="0"/>
                <a:cs typeface="Arial" panose="020B0604020202020204" pitchFamily="34" charset="0"/>
              </a:rPr>
              <a:t>θ</a:t>
            </a:r>
            <a:r>
              <a:rPr lang="zh-CN" altLang="en-US" sz="1800" dirty="0" smtClean="0">
                <a:latin typeface="Arial" panose="020B0604020202020204" pitchFamily="34" charset="0"/>
                <a:cs typeface="Arial" panose="020B0604020202020204" pitchFamily="34" charset="0"/>
              </a:rPr>
              <a:t>，</a:t>
            </a:r>
            <a:r>
              <a:rPr lang="zh-CN" altLang="en-US" sz="1800" dirty="0" smtClean="0"/>
              <a:t>为了保证鉴频特性的线性，附加相移不能太大，通常认为在</a:t>
            </a:r>
            <a:r>
              <a:rPr lang="en-US" altLang="zh-CN" sz="1800" dirty="0" smtClean="0">
                <a:latin typeface="Times New Roman" panose="02020603050405020304" pitchFamily="18" charset="0"/>
                <a:cs typeface="Times New Roman" panose="02020603050405020304" pitchFamily="18" charset="0"/>
              </a:rPr>
              <a:t>±</a:t>
            </a:r>
            <a:r>
              <a:rPr lang="en-US" altLang="zh-CN" sz="1800" dirty="0" smtClean="0">
                <a:latin typeface="+mj-lt"/>
                <a:cs typeface="Times New Roman" panose="02020603050405020304" pitchFamily="18" charset="0"/>
              </a:rPr>
              <a:t>30°</a:t>
            </a:r>
            <a:r>
              <a:rPr lang="zh-CN" altLang="en-US" sz="1800" dirty="0" smtClean="0">
                <a:latin typeface="+mj-lt"/>
                <a:cs typeface="Times New Roman" panose="02020603050405020304" pitchFamily="18" charset="0"/>
              </a:rPr>
              <a:t>之内是合适的，此时</a:t>
            </a:r>
            <a:r>
              <a:rPr lang="el-GR" altLang="zh-CN" sz="1800" dirty="0"/>
              <a:t>Δ</a:t>
            </a:r>
            <a:r>
              <a:rPr lang="en-US" altLang="zh-CN" sz="1800" dirty="0"/>
              <a:t>v</a:t>
            </a:r>
            <a:r>
              <a:rPr lang="en-US" altLang="zh-CN" sz="1800" baseline="-25000" dirty="0"/>
              <a:t>2</a:t>
            </a:r>
            <a:r>
              <a:rPr lang="en-US" altLang="zh-CN" sz="1800" dirty="0"/>
              <a:t>≈</a:t>
            </a:r>
            <a:r>
              <a:rPr lang="en-US" altLang="zh-CN" sz="1800" dirty="0" smtClean="0"/>
              <a:t>v</a:t>
            </a:r>
            <a:r>
              <a:rPr lang="en-US" altLang="zh-CN" sz="1800" baseline="-25000" dirty="0"/>
              <a:t>2</a:t>
            </a:r>
            <a:r>
              <a:rPr lang="en-US" altLang="zh-CN" sz="1800" dirty="0" smtClean="0"/>
              <a:t>*</a:t>
            </a:r>
            <a:r>
              <a:rPr lang="el-GR" altLang="zh-CN" sz="1800" i="1" dirty="0" smtClean="0">
                <a:latin typeface="Arial" panose="020B0604020202020204" pitchFamily="34" charset="0"/>
                <a:cs typeface="Arial" panose="020B0604020202020204" pitchFamily="34" charset="0"/>
              </a:rPr>
              <a:t>θ</a:t>
            </a:r>
            <a:r>
              <a:rPr lang="el-GR" altLang="zh-CN" sz="1800" dirty="0">
                <a:latin typeface="Arial" panose="020B0604020202020204" pitchFamily="34" charset="0"/>
                <a:cs typeface="Arial" panose="020B0604020202020204" pitchFamily="34" charset="0"/>
              </a:rPr>
              <a:t> ≈</a:t>
            </a:r>
            <a:r>
              <a:rPr lang="en-US" altLang="zh-CN" sz="1800" dirty="0" smtClean="0">
                <a:latin typeface="Arial" panose="020B0604020202020204" pitchFamily="34" charset="0"/>
                <a:cs typeface="Arial" panose="020B0604020202020204" pitchFamily="34" charset="0"/>
              </a:rPr>
              <a:t>2*v</a:t>
            </a:r>
            <a:r>
              <a:rPr lang="en-US" altLang="zh-CN" sz="1800" baseline="-25000" dirty="0"/>
              <a:t>2</a:t>
            </a:r>
            <a:r>
              <a:rPr lang="en-US" altLang="zh-CN" sz="1800" dirty="0" smtClean="0">
                <a:latin typeface="Arial" panose="020B0604020202020204" pitchFamily="34" charset="0"/>
                <a:cs typeface="Arial" panose="020B0604020202020204" pitchFamily="34" charset="0"/>
              </a:rPr>
              <a:t>*</a:t>
            </a:r>
            <a:r>
              <a:rPr lang="en-US" altLang="zh-CN" sz="1800" i="1" dirty="0" smtClean="0">
                <a:latin typeface="Arial" panose="020B0604020202020204" pitchFamily="34" charset="0"/>
                <a:cs typeface="Arial" panose="020B0604020202020204" pitchFamily="34" charset="0"/>
              </a:rPr>
              <a:t>Q</a:t>
            </a:r>
            <a:r>
              <a:rPr lang="en-US" altLang="zh-CN" sz="1800" baseline="-25000" dirty="0" smtClean="0">
                <a:latin typeface="Arial" panose="020B0604020202020204" pitchFamily="34" charset="0"/>
                <a:cs typeface="Arial" panose="020B0604020202020204" pitchFamily="34" charset="0"/>
              </a:rPr>
              <a:t>2</a:t>
            </a:r>
            <a:r>
              <a:rPr lang="en-US" altLang="zh-CN" sz="1800" dirty="0" smtClean="0">
                <a:latin typeface="Arial" panose="020B0604020202020204" pitchFamily="34" charset="0"/>
                <a:cs typeface="Arial" panose="020B0604020202020204" pitchFamily="34" charset="0"/>
              </a:rPr>
              <a:t>(</a:t>
            </a:r>
            <a:r>
              <a:rPr lang="el-GR" altLang="zh-CN" sz="1800" dirty="0">
                <a:latin typeface="Arial" panose="020B0604020202020204" pitchFamily="34" charset="0"/>
                <a:cs typeface="Arial" panose="020B0604020202020204" pitchFamily="34" charset="0"/>
              </a:rPr>
              <a:t>Δ</a:t>
            </a:r>
            <a:r>
              <a:rPr lang="en-US" altLang="zh-CN" sz="1800" i="1" dirty="0">
                <a:latin typeface="Arial" panose="020B0604020202020204" pitchFamily="34" charset="0"/>
                <a:cs typeface="Arial" panose="020B0604020202020204" pitchFamily="34" charset="0"/>
              </a:rPr>
              <a:t>f/f</a:t>
            </a:r>
            <a:r>
              <a:rPr lang="en-US" altLang="zh-CN" sz="1800" baseline="-25000" dirty="0">
                <a:latin typeface="Arial" panose="020B0604020202020204" pitchFamily="34" charset="0"/>
                <a:cs typeface="Arial" panose="020B0604020202020204" pitchFamily="34" charset="0"/>
              </a:rPr>
              <a:t>0</a:t>
            </a:r>
            <a:r>
              <a:rPr lang="en-US" altLang="zh-CN" sz="1800" dirty="0">
                <a:latin typeface="Arial" panose="020B0604020202020204" pitchFamily="34" charset="0"/>
                <a:cs typeface="Arial" panose="020B0604020202020204" pitchFamily="34" charset="0"/>
              </a:rPr>
              <a:t>)</a:t>
            </a:r>
            <a:endParaRPr lang="en-US" altLang="zh-CN" sz="1800" dirty="0">
              <a:latin typeface="+mj-lt"/>
            </a:endParaRPr>
          </a:p>
          <a:p>
            <a:pPr indent="457200">
              <a:lnSpc>
                <a:spcPct val="150000"/>
              </a:lnSpc>
            </a:pPr>
            <a:r>
              <a:rPr lang="zh-CN" altLang="en-US" sz="1800" dirty="0" smtClean="0"/>
              <a:t>因为鉴频增益</a:t>
            </a:r>
            <a:r>
              <a:rPr lang="en-US" altLang="zh-CN" sz="1800" dirty="0" smtClean="0"/>
              <a:t>=</a:t>
            </a:r>
            <a:r>
              <a:rPr lang="el-GR" altLang="zh-CN" sz="1800" dirty="0"/>
              <a:t> </a:t>
            </a:r>
            <a:r>
              <a:rPr lang="en-US" altLang="zh-CN" sz="1800" dirty="0" smtClean="0"/>
              <a:t>2</a:t>
            </a:r>
            <a:r>
              <a:rPr lang="el-GR" altLang="zh-CN" sz="1800" dirty="0" smtClean="0"/>
              <a:t>Δ</a:t>
            </a:r>
            <a:r>
              <a:rPr lang="en-US" altLang="zh-CN" sz="1800" dirty="0" smtClean="0"/>
              <a:t>v</a:t>
            </a:r>
            <a:r>
              <a:rPr lang="en-US" altLang="zh-CN" sz="1800" baseline="-25000" dirty="0" smtClean="0"/>
              <a:t>2</a:t>
            </a:r>
            <a:r>
              <a:rPr lang="en-US" altLang="zh-CN" sz="1800" dirty="0" smtClean="0"/>
              <a:t>/</a:t>
            </a:r>
            <a:r>
              <a:rPr lang="el-GR" altLang="zh-CN" sz="1800" dirty="0" smtClean="0">
                <a:latin typeface="Arial" panose="020B0604020202020204" pitchFamily="34" charset="0"/>
                <a:cs typeface="Arial" panose="020B0604020202020204" pitchFamily="34" charset="0"/>
              </a:rPr>
              <a:t>Δ</a:t>
            </a:r>
            <a:r>
              <a:rPr lang="en-US" altLang="zh-CN" sz="1800" i="1" dirty="0" smtClean="0">
                <a:latin typeface="Arial" panose="020B0604020202020204" pitchFamily="34" charset="0"/>
                <a:cs typeface="Arial" panose="020B0604020202020204" pitchFamily="34" charset="0"/>
              </a:rPr>
              <a:t>f</a:t>
            </a:r>
            <a:r>
              <a:rPr lang="zh-CN" altLang="en-US" sz="1800" dirty="0" smtClean="0">
                <a:latin typeface="Arial" panose="020B0604020202020204" pitchFamily="34" charset="0"/>
                <a:cs typeface="Arial" panose="020B0604020202020204" pitchFamily="34" charset="0"/>
              </a:rPr>
              <a:t>，所以鉴频增益与</a:t>
            </a:r>
            <a:r>
              <a:rPr lang="en-US" altLang="zh-CN" sz="1800" dirty="0" smtClean="0">
                <a:latin typeface="Arial" panose="020B0604020202020204" pitchFamily="34" charset="0"/>
                <a:cs typeface="Arial" panose="020B0604020202020204" pitchFamily="34" charset="0"/>
              </a:rPr>
              <a:t>Q2</a:t>
            </a:r>
            <a:r>
              <a:rPr lang="zh-CN" altLang="en-US" sz="1800" dirty="0" smtClean="0">
                <a:latin typeface="Arial" panose="020B0604020202020204" pitchFamily="34" charset="0"/>
                <a:cs typeface="Arial" panose="020B0604020202020204" pitchFamily="34" charset="0"/>
              </a:rPr>
              <a:t>成正比。但是由于</a:t>
            </a:r>
            <a:r>
              <a:rPr lang="zh-CN" altLang="en-US" sz="1800" dirty="0"/>
              <a:t>附加相移</a:t>
            </a:r>
            <a:r>
              <a:rPr lang="el-GR" altLang="zh-CN" sz="1800" i="1" dirty="0" smtClean="0">
                <a:latin typeface="Arial" panose="020B0604020202020204" pitchFamily="34" charset="0"/>
                <a:cs typeface="Arial" panose="020B0604020202020204" pitchFamily="34" charset="0"/>
              </a:rPr>
              <a:t>θ</a:t>
            </a:r>
            <a:r>
              <a:rPr lang="zh-CN" altLang="en-US" sz="1800" dirty="0" smtClean="0">
                <a:latin typeface="Arial" panose="020B0604020202020204" pitchFamily="34" charset="0"/>
                <a:cs typeface="Arial" panose="020B0604020202020204" pitchFamily="34" charset="0"/>
              </a:rPr>
              <a:t>被限制在</a:t>
            </a:r>
            <a:r>
              <a:rPr lang="en-US" altLang="zh-CN" sz="1800" dirty="0" smtClean="0">
                <a:latin typeface="Arial" panose="020B0604020202020204" pitchFamily="34" charset="0"/>
                <a:cs typeface="Arial" panose="020B0604020202020204" pitchFamily="34" charset="0"/>
              </a:rPr>
              <a:t>30°</a:t>
            </a:r>
            <a:r>
              <a:rPr lang="zh-CN" altLang="en-US" sz="1800" dirty="0" smtClean="0">
                <a:latin typeface="Arial" panose="020B0604020202020204" pitchFamily="34" charset="0"/>
                <a:cs typeface="Arial" panose="020B0604020202020204" pitchFamily="34" charset="0"/>
              </a:rPr>
              <a:t>以内，为了保证有足够的</a:t>
            </a:r>
            <a:r>
              <a:rPr lang="el-GR" altLang="zh-CN" sz="1800" dirty="0">
                <a:latin typeface="Arial" panose="020B0604020202020204" pitchFamily="34" charset="0"/>
                <a:cs typeface="Arial" panose="020B0604020202020204" pitchFamily="34" charset="0"/>
              </a:rPr>
              <a:t>Δ</a:t>
            </a:r>
            <a:r>
              <a:rPr lang="en-US" altLang="zh-CN" sz="1800" i="1" dirty="0" smtClean="0">
                <a:latin typeface="Arial" panose="020B0604020202020204" pitchFamily="34" charset="0"/>
                <a:cs typeface="Arial" panose="020B0604020202020204" pitchFamily="34" charset="0"/>
              </a:rPr>
              <a:t>f</a:t>
            </a:r>
            <a:r>
              <a:rPr lang="zh-CN" altLang="en-US" sz="1800" dirty="0" smtClean="0">
                <a:latin typeface="Arial" panose="020B0604020202020204" pitchFamily="34" charset="0"/>
                <a:cs typeface="Arial" panose="020B0604020202020204" pitchFamily="34" charset="0"/>
              </a:rPr>
              <a:t>范围，</a:t>
            </a:r>
            <a:r>
              <a:rPr lang="en-US" altLang="zh-CN" sz="1800" dirty="0" smtClean="0">
                <a:latin typeface="Arial" panose="020B0604020202020204" pitchFamily="34" charset="0"/>
                <a:cs typeface="Arial" panose="020B0604020202020204" pitchFamily="34" charset="0"/>
              </a:rPr>
              <a:t>Q2</a:t>
            </a:r>
            <a:r>
              <a:rPr lang="zh-CN" altLang="en-US" sz="1800" dirty="0" smtClean="0">
                <a:latin typeface="Arial" panose="020B0604020202020204" pitchFamily="34" charset="0"/>
                <a:cs typeface="Arial" panose="020B0604020202020204" pitchFamily="34" charset="0"/>
              </a:rPr>
              <a:t>也不能太高。另外由于实际电感的限制，通常的</a:t>
            </a:r>
            <a:r>
              <a:rPr lang="en-US" altLang="zh-CN" sz="1800" dirty="0" smtClean="0">
                <a:latin typeface="Arial" panose="020B0604020202020204" pitchFamily="34" charset="0"/>
                <a:cs typeface="Arial" panose="020B0604020202020204" pitchFamily="34" charset="0"/>
              </a:rPr>
              <a:t>Q2</a:t>
            </a:r>
            <a:r>
              <a:rPr lang="zh-CN" altLang="en-US" sz="1800" dirty="0" smtClean="0">
                <a:latin typeface="Arial" panose="020B0604020202020204" pitchFamily="34" charset="0"/>
                <a:cs typeface="Arial" panose="020B0604020202020204" pitchFamily="34" charset="0"/>
              </a:rPr>
              <a:t>只能做到几十</a:t>
            </a:r>
            <a:endParaRPr lang="en-US" altLang="zh-CN" sz="1800" dirty="0" smtClean="0">
              <a:latin typeface="Arial" panose="020B0604020202020204" pitchFamily="34" charset="0"/>
              <a:cs typeface="Arial" panose="020B0604020202020204" pitchFamily="34" charset="0"/>
            </a:endParaRPr>
          </a:p>
          <a:p>
            <a:pPr indent="457200">
              <a:lnSpc>
                <a:spcPct val="150000"/>
              </a:lnSpc>
            </a:pPr>
            <a:r>
              <a:rPr lang="zh-CN" altLang="en-US" sz="1800" dirty="0" smtClean="0">
                <a:latin typeface="Arial" panose="020B0604020202020204" pitchFamily="34" charset="0"/>
                <a:cs typeface="Arial" panose="020B0604020202020204" pitchFamily="34" charset="0"/>
              </a:rPr>
              <a:t>由于影响鉴频增益的因素过多，直接计算电路的鉴频增益比较困难。</a:t>
            </a:r>
            <a:r>
              <a:rPr lang="zh-CN" altLang="en-US" sz="1800" dirty="0" smtClean="0"/>
              <a:t>按</a:t>
            </a:r>
            <a:r>
              <a:rPr lang="zh-CN" altLang="en-US" sz="1800" dirty="0"/>
              <a:t>前</a:t>
            </a:r>
            <a:r>
              <a:rPr lang="zh-CN" altLang="en-US" sz="1800" dirty="0" smtClean="0"/>
              <a:t>一页电路</a:t>
            </a:r>
            <a:r>
              <a:rPr lang="zh-CN" altLang="en-US" sz="1800" dirty="0"/>
              <a:t>制作的比例鉴频器</a:t>
            </a:r>
            <a:r>
              <a:rPr lang="zh-CN" altLang="en-US" sz="1800" dirty="0" smtClean="0"/>
              <a:t>，晶体管</a:t>
            </a:r>
            <a:r>
              <a:rPr lang="zh-CN" altLang="en-US" sz="1800" dirty="0"/>
              <a:t>静态工作点</a:t>
            </a:r>
            <a:r>
              <a:rPr lang="zh-CN" altLang="en-US" sz="1800" dirty="0" smtClean="0"/>
              <a:t>电流约为</a:t>
            </a:r>
            <a:r>
              <a:rPr lang="en-US" altLang="zh-CN" sz="1800" dirty="0" smtClean="0"/>
              <a:t>1.5mA</a:t>
            </a:r>
            <a:r>
              <a:rPr lang="zh-CN" altLang="en-US" sz="1800" dirty="0" smtClean="0"/>
              <a:t>，实测</a:t>
            </a:r>
            <a:r>
              <a:rPr lang="zh-CN" altLang="en-US" sz="1800" dirty="0"/>
              <a:t>其鉴频</a:t>
            </a:r>
            <a:r>
              <a:rPr lang="zh-CN" altLang="en-US" sz="1800" dirty="0" smtClean="0"/>
              <a:t>增益约</a:t>
            </a:r>
            <a:r>
              <a:rPr lang="zh-CN" altLang="en-US" sz="1800" dirty="0"/>
              <a:t>为 </a:t>
            </a:r>
            <a:r>
              <a:rPr lang="en-US" altLang="zh-CN" sz="1800" dirty="0"/>
              <a:t>(</a:t>
            </a:r>
            <a:r>
              <a:rPr lang="en-US" altLang="zh-CN" sz="1800" dirty="0" smtClean="0"/>
              <a:t>50~100)mV/kHz</a:t>
            </a:r>
          </a:p>
          <a:p>
            <a:pPr indent="457200">
              <a:lnSpc>
                <a:spcPct val="150000"/>
              </a:lnSpc>
            </a:pPr>
            <a:r>
              <a:rPr lang="zh-CN" altLang="en-US" sz="1800" dirty="0" smtClean="0"/>
              <a:t>比例鉴频器的优点</a:t>
            </a:r>
            <a:r>
              <a:rPr lang="zh-CN" altLang="en-US" sz="1800" dirty="0"/>
              <a:t>是受输入信号幅度变化的影响小，缺点是电路稍复杂，调试稍</a:t>
            </a:r>
            <a:r>
              <a:rPr lang="zh-CN" altLang="en-US" sz="1800" dirty="0" smtClean="0"/>
              <a:t>困难</a:t>
            </a:r>
            <a:endParaRPr lang="zh-CN" altLang="en-US" sz="1800" dirty="0"/>
          </a:p>
        </p:txBody>
      </p:sp>
    </p:spTree>
    <p:extLst>
      <p:ext uri="{BB962C8B-B14F-4D97-AF65-F5344CB8AC3E}">
        <p14:creationId xmlns:p14="http://schemas.microsoft.com/office/powerpoint/2010/main" val="415326701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70</a:t>
            </a:fld>
            <a:endParaRPr lang="en-US" altLang="zh-CN">
              <a:solidFill>
                <a:srgbClr val="FFFFFF"/>
              </a:solidFill>
            </a:endParaRPr>
          </a:p>
        </p:txBody>
      </p:sp>
      <p:sp>
        <p:nvSpPr>
          <p:cNvPr id="6" name="文本框 5"/>
          <p:cNvSpPr txBox="1"/>
          <p:nvPr/>
        </p:nvSpPr>
        <p:spPr>
          <a:xfrm>
            <a:off x="431598" y="474133"/>
            <a:ext cx="11331244" cy="549381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差分峰值鉴频器</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en-US" altLang="zh-CN" sz="1800" i="1" dirty="0" smtClean="0"/>
              <a:t>L</a:t>
            </a:r>
            <a:r>
              <a:rPr lang="zh-CN" altLang="zh-CN" sz="1800" dirty="0"/>
              <a:t>、</a:t>
            </a:r>
            <a:r>
              <a:rPr lang="en-US" altLang="zh-CN" sz="1800" i="1" dirty="0"/>
              <a:t>C</a:t>
            </a:r>
            <a:r>
              <a:rPr lang="en-US" altLang="zh-CN" sz="1800" baseline="-25000" dirty="0"/>
              <a:t>1</a:t>
            </a:r>
            <a:r>
              <a:rPr lang="zh-CN" altLang="zh-CN" sz="1800" dirty="0"/>
              <a:t>与</a:t>
            </a:r>
            <a:r>
              <a:rPr lang="en-US" altLang="zh-CN" sz="1800" i="1" dirty="0"/>
              <a:t>C</a:t>
            </a:r>
            <a:r>
              <a:rPr lang="en-US" altLang="zh-CN" sz="1800" baseline="-25000" dirty="0"/>
              <a:t>2</a:t>
            </a:r>
            <a:r>
              <a:rPr lang="zh-CN" altLang="zh-CN" sz="1800" dirty="0"/>
              <a:t>构成</a:t>
            </a:r>
            <a:r>
              <a:rPr lang="zh-CN" altLang="en-US" sz="1800" dirty="0"/>
              <a:t>串并联</a:t>
            </a:r>
            <a:r>
              <a:rPr lang="zh-CN" altLang="zh-CN" sz="1800" dirty="0"/>
              <a:t>谐振回路。</a:t>
            </a:r>
            <a:endParaRPr lang="en-US" altLang="zh-CN" sz="1800" dirty="0"/>
          </a:p>
          <a:p>
            <a:pPr indent="457200">
              <a:lnSpc>
                <a:spcPct val="150000"/>
              </a:lnSpc>
            </a:pPr>
            <a:r>
              <a:rPr lang="zh-CN" altLang="zh-CN" sz="1800" dirty="0"/>
              <a:t>第一个运放跟随器为谐振回路提供低输出阻抗的信号源。</a:t>
            </a:r>
            <a:endParaRPr lang="en-US" altLang="zh-CN" sz="1800" dirty="0"/>
          </a:p>
          <a:p>
            <a:pPr indent="457200">
              <a:lnSpc>
                <a:spcPct val="150000"/>
              </a:lnSpc>
            </a:pPr>
            <a:r>
              <a:rPr lang="zh-CN" altLang="zh-CN" sz="1800" dirty="0"/>
              <a:t>谐振回路后面的两个运放跟随器起到隔离作用，避免其后的检波电路影响谐振回路的工作状态。</a:t>
            </a:r>
            <a:endParaRPr lang="en-US" altLang="zh-CN" sz="1800" dirty="0"/>
          </a:p>
          <a:p>
            <a:pPr indent="457200">
              <a:lnSpc>
                <a:spcPct val="150000"/>
              </a:lnSpc>
            </a:pPr>
            <a:r>
              <a:rPr lang="zh-CN" altLang="zh-CN" sz="1800" dirty="0"/>
              <a:t>最后的运放为带有低通滤波的减法器</a:t>
            </a:r>
            <a:r>
              <a:rPr lang="zh-CN" altLang="en-US" sz="1800" dirty="0"/>
              <a:t>。改变</a:t>
            </a:r>
            <a:r>
              <a:rPr lang="en-US" altLang="zh-CN" sz="1800" dirty="0"/>
              <a:t>RG</a:t>
            </a:r>
            <a:r>
              <a:rPr lang="zh-CN" altLang="en-US" sz="1800" dirty="0"/>
              <a:t>与</a:t>
            </a:r>
            <a:r>
              <a:rPr lang="en-US" altLang="zh-CN" sz="1800" dirty="0"/>
              <a:t>RF</a:t>
            </a:r>
            <a:r>
              <a:rPr lang="zh-CN" altLang="en-US" sz="1800" dirty="0"/>
              <a:t>的值可以改变鉴频增益，低通滤波的截止频率为</a:t>
            </a:r>
            <a:r>
              <a:rPr lang="en-US" altLang="zh-CN" sz="1800" dirty="0">
                <a:latin typeface="+mn-lt"/>
              </a:rPr>
              <a:t>1/2</a:t>
            </a:r>
            <a:r>
              <a:rPr lang="el-GR" altLang="zh-CN" sz="1800" dirty="0">
                <a:latin typeface="+mn-lt"/>
              </a:rPr>
              <a:t>π</a:t>
            </a:r>
            <a:r>
              <a:rPr lang="en-US" altLang="zh-CN" sz="1800" dirty="0">
                <a:latin typeface="+mn-lt"/>
              </a:rPr>
              <a:t>*[(R</a:t>
            </a:r>
            <a:r>
              <a:rPr lang="en-US" altLang="zh-CN" sz="1800" baseline="-25000" dirty="0">
                <a:latin typeface="+mn-lt"/>
              </a:rPr>
              <a:t>G</a:t>
            </a:r>
            <a:r>
              <a:rPr lang="en-US" altLang="zh-CN" sz="1800" dirty="0">
                <a:latin typeface="+mn-lt"/>
              </a:rPr>
              <a:t>||R</a:t>
            </a:r>
            <a:r>
              <a:rPr lang="en-US" altLang="zh-CN" sz="1800" baseline="-25000" dirty="0">
                <a:latin typeface="+mn-lt"/>
              </a:rPr>
              <a:t>F</a:t>
            </a:r>
            <a:r>
              <a:rPr lang="en-US" altLang="zh-CN" sz="1800" dirty="0">
                <a:latin typeface="+mn-lt"/>
              </a:rPr>
              <a:t>)*C</a:t>
            </a:r>
            <a:r>
              <a:rPr lang="en-US" altLang="zh-CN" sz="1800" baseline="-25000" dirty="0">
                <a:latin typeface="+mn-lt"/>
              </a:rPr>
              <a:t>F</a:t>
            </a:r>
            <a:r>
              <a:rPr lang="en-US" altLang="zh-CN" sz="1800" dirty="0">
                <a:latin typeface="+mn-lt"/>
              </a:rPr>
              <a:t>]</a:t>
            </a:r>
            <a:r>
              <a:rPr lang="zh-CN" altLang="en-US" sz="1800" dirty="0"/>
              <a:t>，应该远低于中频，远高于音频</a:t>
            </a:r>
            <a:r>
              <a:rPr lang="zh-CN" altLang="en-US" sz="1800" dirty="0" smtClean="0"/>
              <a:t>。</a:t>
            </a:r>
            <a:endParaRPr lang="en-US" altLang="zh-CN" sz="1800" dirty="0" smtClean="0"/>
          </a:p>
          <a:p>
            <a:pPr indent="457200">
              <a:lnSpc>
                <a:spcPct val="150000"/>
              </a:lnSpc>
            </a:pPr>
            <a:r>
              <a:rPr lang="zh-CN" altLang="en-US" sz="1800" dirty="0" smtClean="0"/>
              <a:t>如果前级中频放大器带有</a:t>
            </a:r>
            <a:r>
              <a:rPr lang="en-US" altLang="zh-CN" sz="1800" dirty="0" smtClean="0"/>
              <a:t>AGC</a:t>
            </a:r>
            <a:r>
              <a:rPr lang="zh-CN" altLang="en-US" sz="1800" dirty="0" smtClean="0"/>
              <a:t>功能，则</a:t>
            </a:r>
            <a:r>
              <a:rPr lang="zh-CN" altLang="en-US" sz="1800" dirty="0"/>
              <a:t>不再</a:t>
            </a:r>
            <a:r>
              <a:rPr lang="zh-CN" altLang="en-US" sz="1800" dirty="0" smtClean="0"/>
              <a:t>需要本电路第一级（限幅电路）</a:t>
            </a:r>
            <a:endParaRPr lang="zh-CN" altLang="en-US" sz="1600" dirty="0"/>
          </a:p>
        </p:txBody>
      </p:sp>
      <p:pic>
        <p:nvPicPr>
          <p:cNvPr id="5" name="图片 4"/>
          <p:cNvPicPr>
            <a:picLocks noChangeAspect="1"/>
          </p:cNvPicPr>
          <p:nvPr/>
        </p:nvPicPr>
        <p:blipFill>
          <a:blip r:embed="rId2"/>
          <a:stretch>
            <a:fillRect/>
          </a:stretch>
        </p:blipFill>
        <p:spPr>
          <a:xfrm>
            <a:off x="2189798" y="1112943"/>
            <a:ext cx="7732187" cy="2287270"/>
          </a:xfrm>
          <a:prstGeom prst="rect">
            <a:avLst/>
          </a:prstGeom>
        </p:spPr>
      </p:pic>
    </p:spTree>
    <p:extLst>
      <p:ext uri="{BB962C8B-B14F-4D97-AF65-F5344CB8AC3E}">
        <p14:creationId xmlns:p14="http://schemas.microsoft.com/office/powerpoint/2010/main" val="72008948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71</a:t>
            </a:fld>
            <a:endParaRPr lang="en-US" altLang="zh-CN">
              <a:solidFill>
                <a:srgbClr val="FFFFFF"/>
              </a:solidFill>
            </a:endParaRPr>
          </a:p>
        </p:txBody>
      </p:sp>
      <p:pic>
        <p:nvPicPr>
          <p:cNvPr id="8" name="图片 7"/>
          <p:cNvPicPr>
            <a:picLocks noChangeAspect="1"/>
          </p:cNvPicPr>
          <p:nvPr/>
        </p:nvPicPr>
        <p:blipFill>
          <a:blip r:embed="rId3"/>
          <a:stretch>
            <a:fillRect/>
          </a:stretch>
        </p:blipFill>
        <p:spPr>
          <a:xfrm>
            <a:off x="3286974" y="3316248"/>
            <a:ext cx="4380441" cy="2831609"/>
          </a:xfrm>
          <a:prstGeom prst="rect">
            <a:avLst/>
          </a:prstGeom>
        </p:spPr>
      </p:pic>
      <p:sp>
        <p:nvSpPr>
          <p:cNvPr id="9" name="文本框 8"/>
          <p:cNvSpPr txBox="1"/>
          <p:nvPr/>
        </p:nvSpPr>
        <p:spPr>
          <a:xfrm>
            <a:off x="431597" y="554990"/>
            <a:ext cx="11389988" cy="2677656"/>
          </a:xfrm>
          <a:prstGeom prst="rect">
            <a:avLst/>
          </a:prstGeom>
          <a:noFill/>
        </p:spPr>
        <p:txBody>
          <a:bodyPr wrap="square" rtlCol="0">
            <a:spAutoFit/>
          </a:bodyPr>
          <a:lstStyle/>
          <a:p>
            <a:pPr indent="457200">
              <a:lnSpc>
                <a:spcPct val="150000"/>
              </a:lnSpc>
            </a:pPr>
            <a:r>
              <a:rPr lang="zh-CN" altLang="zh-CN" sz="1800" dirty="0"/>
              <a:t>电路的核心是</a:t>
            </a:r>
            <a:r>
              <a:rPr lang="en-US" altLang="zh-CN" sz="1800" dirty="0"/>
              <a:t>L</a:t>
            </a:r>
            <a:r>
              <a:rPr lang="zh-CN" altLang="zh-CN" sz="1800" dirty="0"/>
              <a:t>、</a:t>
            </a:r>
            <a:r>
              <a:rPr lang="en-US" altLang="zh-CN" sz="1800" dirty="0"/>
              <a:t>C1</a:t>
            </a:r>
            <a:r>
              <a:rPr lang="zh-CN" altLang="zh-CN" sz="1800" dirty="0"/>
              <a:t>与</a:t>
            </a:r>
            <a:r>
              <a:rPr lang="en-US" altLang="zh-CN" sz="1800" dirty="0"/>
              <a:t>C2</a:t>
            </a:r>
            <a:r>
              <a:rPr lang="zh-CN" altLang="zh-CN" sz="1800" dirty="0"/>
              <a:t>构成的谐振回路</a:t>
            </a:r>
            <a:r>
              <a:rPr lang="zh-CN" altLang="en-US" sz="1800" dirty="0"/>
              <a:t>，</a:t>
            </a:r>
            <a:r>
              <a:rPr lang="zh-CN" altLang="zh-CN" sz="1800" dirty="0"/>
              <a:t>具有两个谐振点：</a:t>
            </a:r>
            <a:endParaRPr lang="en-US" altLang="zh-CN" sz="1800" dirty="0"/>
          </a:p>
          <a:p>
            <a:pPr>
              <a:lnSpc>
                <a:spcPct val="150000"/>
              </a:lnSpc>
            </a:pPr>
            <a:endParaRPr lang="en-US" altLang="zh-CN" sz="1000" dirty="0" smtClean="0"/>
          </a:p>
          <a:p>
            <a:pPr>
              <a:lnSpc>
                <a:spcPct val="150000"/>
              </a:lnSpc>
            </a:pPr>
            <a:r>
              <a:rPr lang="zh-CN" altLang="zh-CN" sz="1800" dirty="0" smtClean="0"/>
              <a:t>并联</a:t>
            </a:r>
            <a:r>
              <a:rPr lang="zh-CN" altLang="zh-CN" sz="1800" dirty="0"/>
              <a:t>谐振频</a:t>
            </a:r>
            <a:r>
              <a:rPr lang="zh-CN" altLang="en-US" sz="1800" dirty="0"/>
              <a:t>率                       ，串联谐振频率                               </a:t>
            </a:r>
            <a:r>
              <a:rPr lang="zh-CN" altLang="en-US" sz="1800" dirty="0" smtClean="0"/>
              <a:t>，它们</a:t>
            </a:r>
            <a:r>
              <a:rPr lang="zh-CN" altLang="en-US" sz="1800" dirty="0"/>
              <a:t>对称分布于中频频率两侧。</a:t>
            </a:r>
            <a:r>
              <a:rPr lang="zh-CN" altLang="zh-CN" sz="1800" dirty="0"/>
              <a:t>当输入</a:t>
            </a:r>
            <a:r>
              <a:rPr lang="en-US" altLang="zh-CN" sz="1800" dirty="0"/>
              <a:t>FM</a:t>
            </a:r>
            <a:r>
              <a:rPr lang="zh-CN" altLang="zh-CN" sz="1800" dirty="0" smtClean="0"/>
              <a:t>已</a:t>
            </a:r>
            <a:endParaRPr lang="en-US" altLang="zh-CN" sz="1800" dirty="0" smtClean="0"/>
          </a:p>
          <a:p>
            <a:pPr>
              <a:lnSpc>
                <a:spcPct val="150000"/>
              </a:lnSpc>
            </a:pPr>
            <a:endParaRPr lang="en-US" altLang="zh-CN" sz="1050" dirty="0" smtClean="0"/>
          </a:p>
          <a:p>
            <a:pPr>
              <a:lnSpc>
                <a:spcPct val="150000"/>
              </a:lnSpc>
            </a:pPr>
            <a:r>
              <a:rPr lang="zh-CN" altLang="zh-CN" sz="1800" dirty="0" smtClean="0"/>
              <a:t>调</a:t>
            </a:r>
            <a:r>
              <a:rPr lang="zh-CN" altLang="zh-CN" sz="1800" dirty="0"/>
              <a:t>信号的频率高于中频时，趋向于并联谐振频率，</a:t>
            </a:r>
            <a:r>
              <a:rPr lang="zh-CN" altLang="zh-CN" sz="1800" dirty="0" smtClean="0"/>
              <a:t>所以</a:t>
            </a:r>
            <a:r>
              <a:rPr lang="en-US" altLang="zh-CN" sz="1800" i="1" dirty="0" err="1"/>
              <a:t>v</a:t>
            </a:r>
            <a:r>
              <a:rPr lang="en-US" altLang="zh-CN" sz="1800" i="1" baseline="-25000" dirty="0" err="1"/>
              <a:t>p</a:t>
            </a:r>
            <a:r>
              <a:rPr lang="zh-CN" altLang="zh-CN" sz="1800" dirty="0"/>
              <a:t>幅度加大；当已调信号的频率低于中频时，趋向于串联谐振频率，</a:t>
            </a:r>
            <a:r>
              <a:rPr lang="en-US" altLang="zh-CN" sz="1800" i="1" dirty="0"/>
              <a:t>v</a:t>
            </a:r>
            <a:r>
              <a:rPr lang="en-US" altLang="zh-CN" sz="1800" i="1" baseline="-25000" dirty="0"/>
              <a:t>s</a:t>
            </a:r>
            <a:r>
              <a:rPr lang="zh-CN" altLang="zh-CN" sz="1800" dirty="0"/>
              <a:t>幅度加大。</a:t>
            </a:r>
            <a:r>
              <a:rPr lang="en-US" altLang="zh-CN" sz="1800" i="1" dirty="0" err="1"/>
              <a:t>v</a:t>
            </a:r>
            <a:r>
              <a:rPr lang="en-US" altLang="zh-CN" sz="1800" i="1" baseline="-25000" dirty="0" err="1"/>
              <a:t>p</a:t>
            </a:r>
            <a:r>
              <a:rPr lang="zh-CN" altLang="zh-CN" sz="1800" dirty="0"/>
              <a:t>与</a:t>
            </a:r>
            <a:r>
              <a:rPr lang="en-US" altLang="zh-CN" sz="1800" i="1" dirty="0"/>
              <a:t>v</a:t>
            </a:r>
            <a:r>
              <a:rPr lang="en-US" altLang="zh-CN" sz="1800" i="1" baseline="-25000" dirty="0"/>
              <a:t>s</a:t>
            </a:r>
            <a:r>
              <a:rPr lang="zh-CN" altLang="zh-CN" sz="1800" dirty="0"/>
              <a:t>通过二极管检波取出其直流分量，由减法器相减并滤除其中的中频成分后成为</a:t>
            </a:r>
            <a:r>
              <a:rPr lang="en-US" altLang="zh-CN" sz="1800" dirty="0"/>
              <a:t>FM</a:t>
            </a:r>
            <a:r>
              <a:rPr lang="zh-CN" altLang="zh-CN" sz="1800" dirty="0"/>
              <a:t>信号的解调输出。</a:t>
            </a:r>
            <a:endParaRPr lang="zh-CN" altLang="en-US" sz="1600" dirty="0"/>
          </a:p>
        </p:txBody>
      </p:sp>
      <p:graphicFrame>
        <p:nvGraphicFramePr>
          <p:cNvPr id="10" name="对象 9"/>
          <p:cNvGraphicFramePr>
            <a:graphicFrameLocks noChangeAspect="1"/>
          </p:cNvGraphicFramePr>
          <p:nvPr>
            <p:extLst>
              <p:ext uri="{D42A27DB-BD31-4B8C-83A1-F6EECF244321}">
                <p14:modId xmlns:p14="http://schemas.microsoft.com/office/powerpoint/2010/main" val="3513829725"/>
              </p:ext>
            </p:extLst>
          </p:nvPr>
        </p:nvGraphicFramePr>
        <p:xfrm>
          <a:off x="1993961" y="1167778"/>
          <a:ext cx="1293013" cy="651597"/>
        </p:xfrm>
        <a:graphic>
          <a:graphicData uri="http://schemas.openxmlformats.org/presentationml/2006/ole">
            <mc:AlternateContent xmlns:mc="http://schemas.openxmlformats.org/markup-compatibility/2006">
              <mc:Choice xmlns:v="urn:schemas-microsoft-com:vml" Requires="v">
                <p:oleObj spid="_x0000_s24790" name="Equation" r:id="rId4" imgW="799753" imgH="406224" progId="Equation.DSMT4">
                  <p:embed/>
                </p:oleObj>
              </mc:Choice>
              <mc:Fallback>
                <p:oleObj name="Equation" r:id="rId4" imgW="799753" imgH="406224" progId="Equation.DSMT4">
                  <p:embed/>
                  <p:pic>
                    <p:nvPicPr>
                      <p:cNvPr id="11" name="对象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3961" y="1167778"/>
                        <a:ext cx="1293013" cy="651597"/>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662211920"/>
              </p:ext>
            </p:extLst>
          </p:nvPr>
        </p:nvGraphicFramePr>
        <p:xfrm>
          <a:off x="5008560" y="1160129"/>
          <a:ext cx="1875637" cy="666893"/>
        </p:xfrm>
        <a:graphic>
          <a:graphicData uri="http://schemas.openxmlformats.org/presentationml/2006/ole">
            <mc:AlternateContent xmlns:mc="http://schemas.openxmlformats.org/markup-compatibility/2006">
              <mc:Choice xmlns:v="urn:schemas-microsoft-com:vml" Requires="v">
                <p:oleObj spid="_x0000_s24791" name="Equation" r:id="rId6" imgW="1143000" imgH="406400" progId="Equation.DSMT4">
                  <p:embed/>
                </p:oleObj>
              </mc:Choice>
              <mc:Fallback>
                <p:oleObj name="Equation" r:id="rId6" imgW="1143000" imgH="406400" progId="Equation.DSMT4">
                  <p:embed/>
                  <p:pic>
                    <p:nvPicPr>
                      <p:cNvPr id="13" name="对象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08560" y="1160129"/>
                        <a:ext cx="1875637" cy="666893"/>
                      </a:xfrm>
                      <a:prstGeom prst="rect">
                        <a:avLst/>
                      </a:prstGeom>
                      <a:noFill/>
                    </p:spPr>
                  </p:pic>
                </p:oleObj>
              </mc:Fallback>
            </mc:AlternateContent>
          </a:graphicData>
        </a:graphic>
      </p:graphicFrame>
    </p:spTree>
    <p:extLst>
      <p:ext uri="{BB962C8B-B14F-4D97-AF65-F5344CB8AC3E}">
        <p14:creationId xmlns:p14="http://schemas.microsoft.com/office/powerpoint/2010/main" val="257219840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72</a:t>
            </a:fld>
            <a:endParaRPr lang="en-US" altLang="zh-CN">
              <a:solidFill>
                <a:srgbClr val="FFFFFF"/>
              </a:solidFill>
            </a:endParaRPr>
          </a:p>
        </p:txBody>
      </p:sp>
      <p:sp>
        <p:nvSpPr>
          <p:cNvPr id="5" name="文本框 4"/>
          <p:cNvSpPr txBox="1"/>
          <p:nvPr/>
        </p:nvSpPr>
        <p:spPr>
          <a:xfrm>
            <a:off x="475488" y="453202"/>
            <a:ext cx="11346097" cy="5066772"/>
          </a:xfrm>
          <a:prstGeom prst="rect">
            <a:avLst/>
          </a:prstGeom>
          <a:noFill/>
        </p:spPr>
        <p:txBody>
          <a:bodyPr wrap="square" rtlCol="0">
            <a:spAutoFit/>
          </a:bodyPr>
          <a:lstStyle/>
          <a:p>
            <a:pPr indent="457200">
              <a:lnSpc>
                <a:spcPct val="150000"/>
              </a:lnSpc>
            </a:pPr>
            <a:r>
              <a:rPr lang="zh-CN" altLang="en-US" sz="1800" dirty="0"/>
              <a:t>影响此</a:t>
            </a:r>
            <a:r>
              <a:rPr lang="zh-CN" altLang="zh-CN" sz="1800" dirty="0"/>
              <a:t>鉴频器的鉴频增益与线性度的因素</a:t>
            </a:r>
            <a:r>
              <a:rPr lang="zh-CN" altLang="en-US" sz="1800" dirty="0"/>
              <a:t>有：</a:t>
            </a:r>
            <a:endParaRPr lang="en-US" altLang="zh-CN" sz="1800" dirty="0"/>
          </a:p>
          <a:p>
            <a:pPr marL="285750" indent="-285750">
              <a:lnSpc>
                <a:spcPct val="150000"/>
              </a:lnSpc>
              <a:buFont typeface="Arial" panose="020B0604020202020204" pitchFamily="34" charset="0"/>
              <a:buChar char="•"/>
            </a:pPr>
            <a:r>
              <a:rPr lang="zh-CN" altLang="en-US" sz="1800" dirty="0"/>
              <a:t>最大频偏</a:t>
            </a:r>
            <a:r>
              <a:rPr lang="zh-CN" altLang="zh-CN" sz="1800" dirty="0"/>
              <a:t>与中心频率的比值</a:t>
            </a:r>
            <a:r>
              <a:rPr lang="el-GR" altLang="zh-CN" sz="1800" dirty="0"/>
              <a:t>Δ</a:t>
            </a:r>
            <a:r>
              <a:rPr lang="en-US" altLang="zh-CN" sz="1800" dirty="0" err="1"/>
              <a:t>f</a:t>
            </a:r>
            <a:r>
              <a:rPr lang="en-US" altLang="zh-CN" sz="1800" baseline="-25000" dirty="0" err="1"/>
              <a:t>m</a:t>
            </a:r>
            <a:r>
              <a:rPr lang="en-US" altLang="zh-CN" sz="1800" dirty="0"/>
              <a:t>/f</a:t>
            </a:r>
            <a:r>
              <a:rPr lang="en-US" altLang="zh-CN" sz="1800" baseline="-25000" dirty="0"/>
              <a:t>0</a:t>
            </a:r>
            <a:endParaRPr lang="en-US" altLang="zh-CN" sz="1800" dirty="0"/>
          </a:p>
          <a:p>
            <a:pPr marL="285750" indent="-285750">
              <a:lnSpc>
                <a:spcPct val="150000"/>
              </a:lnSpc>
              <a:buFont typeface="Arial" panose="020B0604020202020204" pitchFamily="34" charset="0"/>
              <a:buChar char="•"/>
            </a:pPr>
            <a:r>
              <a:rPr lang="zh-CN" altLang="zh-CN" sz="1800" dirty="0"/>
              <a:t>谐振频率</a:t>
            </a:r>
            <a:r>
              <a:rPr lang="zh-CN" altLang="en-US" sz="1800" dirty="0"/>
              <a:t>与中心频率的差值</a:t>
            </a:r>
            <a:r>
              <a:rPr lang="zh-CN" altLang="zh-CN" sz="1800" dirty="0"/>
              <a:t>与</a:t>
            </a:r>
            <a:r>
              <a:rPr lang="zh-CN" altLang="en-US" sz="1800" dirty="0"/>
              <a:t>最大频偏</a:t>
            </a:r>
            <a:r>
              <a:rPr lang="zh-CN" altLang="zh-CN" sz="1800" dirty="0"/>
              <a:t>的比值</a:t>
            </a:r>
            <a:r>
              <a:rPr lang="el-GR" altLang="zh-CN" sz="1800" dirty="0"/>
              <a:t>Δ</a:t>
            </a:r>
            <a:r>
              <a:rPr lang="en-US" altLang="zh-CN" sz="1800" dirty="0"/>
              <a:t>f/</a:t>
            </a:r>
            <a:r>
              <a:rPr lang="el-GR" altLang="zh-CN" sz="1800" dirty="0"/>
              <a:t>Δ</a:t>
            </a:r>
            <a:r>
              <a:rPr lang="en-US" altLang="zh-CN" sz="1800" dirty="0" err="1"/>
              <a:t>f</a:t>
            </a:r>
            <a:r>
              <a:rPr lang="en-US" altLang="zh-CN" sz="1800" baseline="-25000" dirty="0" err="1"/>
              <a:t>m</a:t>
            </a:r>
            <a:endParaRPr lang="en-US" altLang="zh-CN" sz="1800" dirty="0"/>
          </a:p>
          <a:p>
            <a:pPr marL="285750" indent="-285750">
              <a:lnSpc>
                <a:spcPct val="150000"/>
              </a:lnSpc>
              <a:buFont typeface="Arial" panose="020B0604020202020204" pitchFamily="34" charset="0"/>
              <a:buChar char="•"/>
            </a:pPr>
            <a:r>
              <a:rPr lang="zh-CN" altLang="zh-CN" sz="1800" dirty="0"/>
              <a:t>电感</a:t>
            </a:r>
            <a:r>
              <a:rPr lang="en-US" altLang="zh-CN" sz="1800" dirty="0"/>
              <a:t>Q</a:t>
            </a:r>
            <a:r>
              <a:rPr lang="zh-CN" altLang="zh-CN" sz="1800" dirty="0"/>
              <a:t>值以及电阻</a:t>
            </a:r>
            <a:r>
              <a:rPr lang="en-US" altLang="zh-CN" sz="1800" i="1" dirty="0"/>
              <a:t>R</a:t>
            </a:r>
            <a:r>
              <a:rPr lang="zh-CN" altLang="zh-CN" sz="1800" dirty="0"/>
              <a:t>的值</a:t>
            </a:r>
            <a:endParaRPr lang="en-US" altLang="zh-CN" sz="1800" dirty="0"/>
          </a:p>
          <a:p>
            <a:pPr indent="457200">
              <a:lnSpc>
                <a:spcPct val="150000"/>
              </a:lnSpc>
            </a:pPr>
            <a:r>
              <a:rPr lang="zh-CN" altLang="en-US" sz="1800" dirty="0"/>
              <a:t>通过计算机分析，可知在最大频偏与中心频率的比值很小（</a:t>
            </a:r>
            <a:r>
              <a:rPr lang="en-US" altLang="zh-CN" sz="1800" dirty="0"/>
              <a:t>&lt;1%</a:t>
            </a:r>
            <a:r>
              <a:rPr lang="zh-CN" altLang="en-US" sz="1800" dirty="0"/>
              <a:t>，大部分</a:t>
            </a:r>
            <a:r>
              <a:rPr lang="en-US" altLang="zh-CN" sz="1800" dirty="0"/>
              <a:t>FM</a:t>
            </a:r>
            <a:r>
              <a:rPr lang="zh-CN" altLang="en-US" sz="1800" dirty="0"/>
              <a:t>信号都是如此）的情况下：</a:t>
            </a:r>
            <a:endParaRPr lang="en-US" altLang="zh-CN" sz="1800" dirty="0"/>
          </a:p>
          <a:p>
            <a:pPr marL="285750" indent="-285750">
              <a:lnSpc>
                <a:spcPct val="150000"/>
              </a:lnSpc>
              <a:buFont typeface="Arial" panose="020B0604020202020204" pitchFamily="34" charset="0"/>
              <a:buChar char="•"/>
            </a:pPr>
            <a:r>
              <a:rPr lang="zh-CN" altLang="en-US" sz="1800" dirty="0"/>
              <a:t>两个谐振频率的差值与鉴频范围的比值越大则鉴频线性越好但增益越低，合适的</a:t>
            </a:r>
            <a:r>
              <a:rPr lang="zh-CN" altLang="en-US" sz="1800" dirty="0" smtClean="0"/>
              <a:t>比值 </a:t>
            </a:r>
            <a:r>
              <a:rPr lang="en-US" altLang="zh-CN" sz="1800" dirty="0" smtClean="0"/>
              <a:t>≥3</a:t>
            </a:r>
            <a:endParaRPr lang="en-US" altLang="zh-CN" sz="1800" dirty="0"/>
          </a:p>
          <a:p>
            <a:pPr marL="285750" indent="-285750">
              <a:lnSpc>
                <a:spcPct val="150000"/>
              </a:lnSpc>
              <a:buFont typeface="Arial" panose="020B0604020202020204" pitchFamily="34" charset="0"/>
              <a:buChar char="•"/>
            </a:pPr>
            <a:r>
              <a:rPr lang="zh-CN" altLang="en-US" sz="1800" dirty="0"/>
              <a:t>电感的</a:t>
            </a:r>
            <a:r>
              <a:rPr lang="en-US" altLang="zh-CN" sz="1800" dirty="0"/>
              <a:t>Q</a:t>
            </a:r>
            <a:r>
              <a:rPr lang="zh-CN" altLang="en-US" sz="1800" dirty="0"/>
              <a:t>值越大鉴频增益越高但非线性越强，合适的</a:t>
            </a:r>
            <a:r>
              <a:rPr lang="en-US" altLang="zh-CN" sz="1800" dirty="0"/>
              <a:t>Q</a:t>
            </a:r>
            <a:r>
              <a:rPr lang="zh-CN" altLang="en-US" sz="1800" dirty="0" smtClean="0"/>
              <a:t>值 ≤</a:t>
            </a:r>
            <a:r>
              <a:rPr lang="en-US" altLang="zh-CN" sz="1800" dirty="0" smtClean="0"/>
              <a:t>60</a:t>
            </a:r>
            <a:endParaRPr lang="en-US" altLang="zh-CN" sz="1800" dirty="0"/>
          </a:p>
          <a:p>
            <a:pPr marL="285750" indent="-285750">
              <a:lnSpc>
                <a:spcPct val="150000"/>
              </a:lnSpc>
              <a:buFont typeface="Arial" panose="020B0604020202020204" pitchFamily="34" charset="0"/>
              <a:buChar char="•"/>
            </a:pPr>
            <a:endParaRPr lang="en-US" altLang="zh-CN" sz="700" dirty="0" smtClean="0"/>
          </a:p>
          <a:p>
            <a:pPr marL="285750" indent="-285750">
              <a:lnSpc>
                <a:spcPct val="150000"/>
              </a:lnSpc>
              <a:buFont typeface="Arial" panose="020B0604020202020204" pitchFamily="34" charset="0"/>
              <a:buChar char="•"/>
            </a:pPr>
            <a:r>
              <a:rPr lang="zh-CN" altLang="en-US" sz="1800" dirty="0" smtClean="0"/>
              <a:t>合适</a:t>
            </a:r>
            <a:r>
              <a:rPr lang="zh-CN" altLang="en-US" sz="1800" dirty="0"/>
              <a:t>的电</a:t>
            </a:r>
            <a:r>
              <a:rPr lang="zh-CN" altLang="en-US" sz="1800" dirty="0" smtClean="0"/>
              <a:t>阻值</a:t>
            </a:r>
            <a:endParaRPr lang="en-US" altLang="zh-CN" sz="1800" dirty="0"/>
          </a:p>
          <a:p>
            <a:pPr indent="457200">
              <a:lnSpc>
                <a:spcPct val="150000"/>
              </a:lnSpc>
            </a:pPr>
            <a:endParaRPr lang="en-US" altLang="zh-CN" sz="1050" dirty="0"/>
          </a:p>
          <a:p>
            <a:pPr indent="457200">
              <a:lnSpc>
                <a:spcPct val="150000"/>
              </a:lnSpc>
            </a:pPr>
            <a:r>
              <a:rPr lang="zh-CN" altLang="en-US" sz="1800" dirty="0"/>
              <a:t>在本题中，中心频率为</a:t>
            </a:r>
            <a:r>
              <a:rPr lang="en-US" altLang="zh-CN" sz="1800" dirty="0"/>
              <a:t>10.7MHz</a:t>
            </a:r>
            <a:r>
              <a:rPr lang="zh-CN" altLang="en-US" sz="1800" dirty="0"/>
              <a:t>，</a:t>
            </a:r>
            <a:r>
              <a:rPr lang="zh-CN" altLang="zh-CN" sz="1800" dirty="0"/>
              <a:t>最大频偏</a:t>
            </a:r>
            <a:r>
              <a:rPr lang="zh-CN" altLang="en-US" sz="1800" dirty="0"/>
              <a:t>（即有效鉴频范围）</a:t>
            </a:r>
            <a:r>
              <a:rPr lang="en-US" altLang="zh-CN" sz="1800" i="1" dirty="0" err="1"/>
              <a:t>Δf</a:t>
            </a:r>
            <a:r>
              <a:rPr lang="en-US" altLang="zh-CN" sz="1800" i="1" baseline="-25000" dirty="0" err="1"/>
              <a:t>m</a:t>
            </a:r>
            <a:r>
              <a:rPr lang="zh-CN" altLang="zh-CN" sz="1800" dirty="0"/>
              <a:t>为</a:t>
            </a:r>
            <a:r>
              <a:rPr lang="en-US" altLang="zh-CN" sz="1800" dirty="0"/>
              <a:t>25kHz</a:t>
            </a:r>
            <a:r>
              <a:rPr lang="zh-CN" altLang="en-US" sz="1800" dirty="0"/>
              <a:t>，满足相对频偏很小条件。若取两个谐振频率与中心频率的</a:t>
            </a:r>
            <a:r>
              <a:rPr lang="zh-CN" altLang="en-US" sz="1800" dirty="0" smtClean="0"/>
              <a:t>差值</a:t>
            </a:r>
            <a:r>
              <a:rPr lang="en-US" altLang="zh-CN" sz="1800" dirty="0" smtClean="0"/>
              <a:t>4</a:t>
            </a:r>
            <a:r>
              <a:rPr lang="zh-CN" altLang="en-US" sz="1800" dirty="0" smtClean="0"/>
              <a:t>倍</a:t>
            </a:r>
            <a:r>
              <a:rPr lang="zh-CN" altLang="en-US" sz="1800" dirty="0"/>
              <a:t>于最大频偏，则分别为</a:t>
            </a:r>
            <a:r>
              <a:rPr lang="en-US" altLang="zh-CN" sz="1800" dirty="0" smtClean="0"/>
              <a:t>10.8MHz</a:t>
            </a:r>
            <a:r>
              <a:rPr lang="zh-CN" altLang="en-US" sz="1800" dirty="0"/>
              <a:t>与</a:t>
            </a:r>
            <a:r>
              <a:rPr lang="en-US" altLang="zh-CN" sz="1800" dirty="0" smtClean="0"/>
              <a:t>10.6MHz</a:t>
            </a:r>
            <a:r>
              <a:rPr lang="zh-CN" altLang="en-US" sz="1800" dirty="0"/>
              <a:t>，据此可以计算谐振回路中的</a:t>
            </a:r>
            <a:r>
              <a:rPr lang="en-US" altLang="zh-CN" sz="1800" dirty="0"/>
              <a:t>LC</a:t>
            </a:r>
            <a:r>
              <a:rPr lang="zh-CN" altLang="en-US" sz="1800" dirty="0"/>
              <a:t>参数，以及</a:t>
            </a:r>
            <a:r>
              <a:rPr lang="en-US" altLang="zh-CN" sz="1800" dirty="0"/>
              <a:t>R</a:t>
            </a:r>
            <a:r>
              <a:rPr lang="zh-CN" altLang="en-US" sz="1800" dirty="0"/>
              <a:t>的值。例如取</a:t>
            </a:r>
            <a:r>
              <a:rPr lang="en-US" altLang="zh-CN" sz="1800" dirty="0"/>
              <a:t>C1=2.2nF</a:t>
            </a:r>
            <a:r>
              <a:rPr lang="zh-CN" altLang="en-US" sz="1800" dirty="0"/>
              <a:t>，则</a:t>
            </a:r>
            <a:r>
              <a:rPr lang="en-US" altLang="zh-CN" sz="1800" dirty="0"/>
              <a:t>L=99nH</a:t>
            </a:r>
            <a:r>
              <a:rPr lang="zh-CN" altLang="en-US" sz="1800" dirty="0"/>
              <a:t>，</a:t>
            </a:r>
            <a:r>
              <a:rPr lang="en-US" altLang="zh-CN" sz="1800" dirty="0"/>
              <a:t>C2=62pF</a:t>
            </a:r>
            <a:r>
              <a:rPr lang="zh-CN" altLang="en-US" sz="1800" dirty="0"/>
              <a:t>，</a:t>
            </a:r>
            <a:r>
              <a:rPr lang="en-US" altLang="zh-CN" sz="1800" dirty="0"/>
              <a:t>R=240</a:t>
            </a:r>
            <a:r>
              <a:rPr lang="el-GR" altLang="zh-CN" sz="1800" dirty="0">
                <a:latin typeface="Times New Roman" panose="02020603050405020304" pitchFamily="18" charset="0"/>
                <a:cs typeface="Times New Roman" panose="02020603050405020304" pitchFamily="18" charset="0"/>
              </a:rPr>
              <a:t>Ω</a:t>
            </a:r>
            <a:r>
              <a:rPr lang="zh-CN" altLang="en-US" sz="1800" dirty="0">
                <a:latin typeface="Times New Roman" panose="02020603050405020304" pitchFamily="18" charset="0"/>
                <a:cs typeface="Times New Roman" panose="02020603050405020304" pitchFamily="18" charset="0"/>
              </a:rPr>
              <a:t>，</a:t>
            </a:r>
            <a:r>
              <a:rPr lang="en-US" altLang="zh-CN" sz="1800" dirty="0" smtClean="0">
                <a:latin typeface="Times New Roman" panose="02020603050405020304" pitchFamily="18" charset="0"/>
                <a:cs typeface="Times New Roman" panose="02020603050405020304" pitchFamily="18" charset="0"/>
              </a:rPr>
              <a:t>Q</a:t>
            </a:r>
            <a:r>
              <a:rPr lang="zh-CN" altLang="en-US" sz="1800" dirty="0" smtClean="0">
                <a:latin typeface="Times New Roman" panose="02020603050405020304" pitchFamily="18" charset="0"/>
                <a:cs typeface="Times New Roman" panose="02020603050405020304" pitchFamily="18" charset="0"/>
              </a:rPr>
              <a:t>取</a:t>
            </a:r>
            <a:r>
              <a:rPr lang="en-US" altLang="zh-CN" sz="1800" dirty="0" smtClean="0">
                <a:latin typeface="+mj-lt"/>
                <a:cs typeface="Times New Roman" panose="02020603050405020304" pitchFamily="18" charset="0"/>
              </a:rPr>
              <a:t>30</a:t>
            </a:r>
            <a:endParaRPr lang="en-US" altLang="zh-CN" sz="1800" dirty="0">
              <a:latin typeface="+mj-lt"/>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566527472"/>
              </p:ext>
            </p:extLst>
          </p:nvPr>
        </p:nvGraphicFramePr>
        <p:xfrm>
          <a:off x="2298355" y="3461630"/>
          <a:ext cx="1680320" cy="712541"/>
        </p:xfrm>
        <a:graphic>
          <a:graphicData uri="http://schemas.openxmlformats.org/presentationml/2006/ole">
            <mc:AlternateContent xmlns:mc="http://schemas.openxmlformats.org/markup-compatibility/2006">
              <mc:Choice xmlns:v="urn:schemas-microsoft-com:vml" Requires="v">
                <p:oleObj spid="_x0000_s25721" name="Equation" r:id="rId3" imgW="1002865" imgH="418918" progId="Equation.DSMT4">
                  <p:embed/>
                </p:oleObj>
              </mc:Choice>
              <mc:Fallback>
                <p:oleObj name="Equation" r:id="rId3" imgW="1002865" imgH="418918"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8355" y="3461630"/>
                        <a:ext cx="1680320" cy="712541"/>
                      </a:xfrm>
                      <a:prstGeom prst="rect">
                        <a:avLst/>
                      </a:prstGeom>
                      <a:noFill/>
                    </p:spPr>
                  </p:pic>
                </p:oleObj>
              </mc:Fallback>
            </mc:AlternateContent>
          </a:graphicData>
        </a:graphic>
      </p:graphicFrame>
    </p:spTree>
    <p:extLst>
      <p:ext uri="{BB962C8B-B14F-4D97-AF65-F5344CB8AC3E}">
        <p14:creationId xmlns:p14="http://schemas.microsoft.com/office/powerpoint/2010/main" val="335982051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73</a:t>
            </a:fld>
            <a:endParaRPr lang="en-US" altLang="zh-CN">
              <a:solidFill>
                <a:srgbClr val="FFFFFF"/>
              </a:solidFill>
            </a:endParaRPr>
          </a:p>
        </p:txBody>
      </p:sp>
      <p:sp>
        <p:nvSpPr>
          <p:cNvPr id="5" name="文本框 4"/>
          <p:cNvSpPr txBox="1"/>
          <p:nvPr/>
        </p:nvSpPr>
        <p:spPr>
          <a:xfrm>
            <a:off x="490118" y="521547"/>
            <a:ext cx="11331467" cy="2585323"/>
          </a:xfrm>
          <a:prstGeom prst="rect">
            <a:avLst/>
          </a:prstGeom>
          <a:noFill/>
        </p:spPr>
        <p:txBody>
          <a:bodyPr wrap="square" rtlCol="0">
            <a:spAutoFit/>
          </a:bodyPr>
          <a:lstStyle/>
          <a:p>
            <a:pPr indent="457200">
              <a:lnSpc>
                <a:spcPct val="150000"/>
              </a:lnSpc>
            </a:pPr>
            <a:r>
              <a:rPr lang="zh-CN" altLang="en-US" sz="1800" dirty="0" smtClean="0"/>
              <a:t>差分峰值鉴频器</a:t>
            </a:r>
            <a:r>
              <a:rPr lang="zh-CN" altLang="en-US" sz="1800" dirty="0"/>
              <a:t>由于需要的</a:t>
            </a:r>
            <a:r>
              <a:rPr lang="en-US" altLang="zh-CN" sz="1800" dirty="0"/>
              <a:t>LC</a:t>
            </a:r>
            <a:r>
              <a:rPr lang="zh-CN" altLang="en-US" sz="1800" dirty="0"/>
              <a:t>元件比较少且调整简单，在集成</a:t>
            </a:r>
            <a:r>
              <a:rPr lang="en-US" altLang="zh-CN" sz="1800" dirty="0"/>
              <a:t>FM</a:t>
            </a:r>
            <a:r>
              <a:rPr lang="zh-CN" altLang="en-US" sz="1800" dirty="0"/>
              <a:t>接收电路中得到广泛应用。</a:t>
            </a:r>
            <a:endParaRPr lang="en-US" altLang="zh-CN" sz="1800" dirty="0"/>
          </a:p>
          <a:p>
            <a:pPr indent="457200">
              <a:lnSpc>
                <a:spcPct val="150000"/>
              </a:lnSpc>
            </a:pPr>
            <a:r>
              <a:rPr lang="zh-CN" altLang="en-US" sz="1800" dirty="0"/>
              <a:t>此电路的最大问题是输出电压受输入幅度的影响很大，或者说其鉴频增益受到输入幅度的影响（寄生调幅）。为了得到一个稳定的鉴频增益，需要在其输入端插入一个限幅电路，前面电路中</a:t>
            </a:r>
            <a:r>
              <a:rPr lang="en-US" altLang="zh-CN" sz="1800" dirty="0"/>
              <a:t>200</a:t>
            </a:r>
            <a:r>
              <a:rPr lang="zh-CN" altLang="en-US" sz="1800" dirty="0"/>
              <a:t>欧的电阻与两个正反向并联的硅二极管就是一个限幅电路，将输入第一个运放的信号幅度钳位在</a:t>
            </a:r>
            <a:r>
              <a:rPr lang="en-US" altLang="zh-CN" sz="1800" dirty="0">
                <a:latin typeface="Times New Roman" panose="02020603050405020304" pitchFamily="18" charset="0"/>
                <a:cs typeface="Times New Roman" panose="02020603050405020304" pitchFamily="18" charset="0"/>
              </a:rPr>
              <a:t>±</a:t>
            </a:r>
            <a:r>
              <a:rPr lang="en-US" altLang="zh-CN" sz="1800" dirty="0">
                <a:latin typeface="+mj-lt"/>
                <a:cs typeface="Times New Roman" panose="02020603050405020304" pitchFamily="18" charset="0"/>
              </a:rPr>
              <a:t>0.7V</a:t>
            </a:r>
            <a:r>
              <a:rPr lang="zh-CN" altLang="en-US" sz="1800" dirty="0">
                <a:latin typeface="+mj-lt"/>
                <a:cs typeface="Times New Roman" panose="02020603050405020304" pitchFamily="18" charset="0"/>
              </a:rPr>
              <a:t>。但正是这个限幅电路的存在，需要</a:t>
            </a:r>
            <a:r>
              <a:rPr lang="zh-CN" altLang="en-US" sz="1800" dirty="0"/>
              <a:t>中放的输出大于二极管的导通阈值</a:t>
            </a:r>
            <a:r>
              <a:rPr lang="en-US" altLang="zh-CN" sz="1800" dirty="0"/>
              <a:t>0.7V</a:t>
            </a:r>
            <a:r>
              <a:rPr lang="zh-CN" altLang="en-US" sz="1800" dirty="0"/>
              <a:t>，大约至少需要</a:t>
            </a:r>
            <a:r>
              <a:rPr lang="en-US" altLang="zh-CN" sz="1800" dirty="0"/>
              <a:t>1V</a:t>
            </a:r>
            <a:r>
              <a:rPr lang="zh-CN" altLang="en-US" sz="1800" dirty="0"/>
              <a:t>峰值，中频放大器的增益应该按照这个参数进行设计。</a:t>
            </a:r>
            <a:endParaRPr lang="en-US" altLang="zh-CN" sz="1800" dirty="0"/>
          </a:p>
        </p:txBody>
      </p:sp>
    </p:spTree>
    <p:extLst>
      <p:ext uri="{BB962C8B-B14F-4D97-AF65-F5344CB8AC3E}">
        <p14:creationId xmlns:p14="http://schemas.microsoft.com/office/powerpoint/2010/main" val="7111595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74</a:t>
            </a:fld>
            <a:endParaRPr lang="en-US" altLang="zh-CN">
              <a:solidFill>
                <a:srgbClr val="FFFFFF"/>
              </a:solidFill>
            </a:endParaRPr>
          </a:p>
        </p:txBody>
      </p:sp>
      <p:sp>
        <p:nvSpPr>
          <p:cNvPr id="5" name="文本框 4"/>
          <p:cNvSpPr txBox="1"/>
          <p:nvPr/>
        </p:nvSpPr>
        <p:spPr>
          <a:xfrm>
            <a:off x="475488" y="474133"/>
            <a:ext cx="11346097" cy="590931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t>用于</a:t>
            </a:r>
            <a:r>
              <a:rPr lang="en-US" altLang="zh-CN" sz="1800" dirty="0"/>
              <a:t>AFC</a:t>
            </a:r>
            <a:r>
              <a:rPr lang="zh-CN" altLang="en-US" sz="1800" dirty="0"/>
              <a:t>控制信号的低通滤波器</a:t>
            </a:r>
            <a:endParaRPr lang="en-US" altLang="zh-CN" sz="1800" dirty="0"/>
          </a:p>
          <a:p>
            <a:pPr marL="742950" lvl="1" indent="-285750">
              <a:lnSpc>
                <a:spcPct val="150000"/>
              </a:lnSpc>
              <a:buFont typeface="Arial" panose="020B0604020202020204" pitchFamily="34" charset="0"/>
              <a:buChar char="•"/>
            </a:pPr>
            <a:r>
              <a:rPr lang="zh-CN" altLang="en-US" sz="1800" dirty="0"/>
              <a:t>截止频率</a:t>
            </a:r>
            <a:endParaRPr lang="en-US" altLang="zh-CN" sz="1800" dirty="0"/>
          </a:p>
          <a:p>
            <a:pPr indent="457200">
              <a:lnSpc>
                <a:spcPct val="150000"/>
              </a:lnSpc>
            </a:pPr>
            <a:r>
              <a:rPr lang="zh-CN" altLang="en-US" sz="1800" dirty="0"/>
              <a:t>滤波的目的是滤除调制信号，保留漂移信号，所以其截止频率应该远低于调制信号的最低频率（本题调制信号的最低频率为</a:t>
            </a:r>
            <a:r>
              <a:rPr lang="en-US" altLang="zh-CN" sz="1800" dirty="0"/>
              <a:t>300Hz</a:t>
            </a:r>
            <a:r>
              <a:rPr lang="zh-CN" altLang="en-US" sz="1800" dirty="0"/>
              <a:t>），高于漂移频率（本题的漂移频率为</a:t>
            </a:r>
            <a:r>
              <a:rPr lang="en-US" altLang="zh-CN" sz="1800" dirty="0"/>
              <a:t>0.5Hz</a:t>
            </a:r>
            <a:r>
              <a:rPr lang="zh-CN" altLang="en-US" sz="1800" dirty="0"/>
              <a:t>）。综上所述，可以取截止频率为</a:t>
            </a:r>
            <a:r>
              <a:rPr lang="en-US" altLang="zh-CN" sz="1800" dirty="0"/>
              <a:t>5~10Hz</a:t>
            </a:r>
            <a:r>
              <a:rPr lang="zh-CN" altLang="en-US" sz="1800" dirty="0"/>
              <a:t>。</a:t>
            </a:r>
            <a:endParaRPr lang="en-US" altLang="zh-CN" sz="1800" dirty="0"/>
          </a:p>
          <a:p>
            <a:pPr marL="742950" lvl="1" indent="-285750">
              <a:lnSpc>
                <a:spcPct val="150000"/>
              </a:lnSpc>
              <a:buFont typeface="Arial" panose="020B0604020202020204" pitchFamily="34" charset="0"/>
              <a:buChar char="•"/>
            </a:pPr>
            <a:r>
              <a:rPr lang="zh-CN" altLang="en-US" sz="1800" dirty="0" smtClean="0"/>
              <a:t>反馈环的开环增益</a:t>
            </a:r>
            <a:endParaRPr lang="en-US" altLang="zh-CN" sz="1800" dirty="0"/>
          </a:p>
          <a:p>
            <a:pPr indent="457200">
              <a:lnSpc>
                <a:spcPct val="150000"/>
              </a:lnSpc>
            </a:pPr>
            <a:r>
              <a:rPr lang="zh-CN" altLang="en-US" sz="1800" dirty="0" smtClean="0"/>
              <a:t>设鉴频器</a:t>
            </a:r>
            <a:r>
              <a:rPr lang="zh-CN" altLang="en-US" sz="1800" dirty="0"/>
              <a:t>的增益为</a:t>
            </a:r>
            <a:r>
              <a:rPr lang="en-US" altLang="zh-CN" sz="1800" dirty="0" smtClean="0"/>
              <a:t>K</a:t>
            </a:r>
            <a:r>
              <a:rPr lang="en-US" altLang="zh-CN" sz="1800" baseline="-25000" dirty="0" smtClean="0"/>
              <a:t>D</a:t>
            </a:r>
            <a:r>
              <a:rPr lang="en-US" altLang="zh-CN" sz="1800" dirty="0" smtClean="0"/>
              <a:t>=</a:t>
            </a:r>
            <a:r>
              <a:rPr lang="el-GR" altLang="zh-CN" sz="1800" dirty="0" smtClean="0"/>
              <a:t>Δ</a:t>
            </a:r>
            <a:r>
              <a:rPr lang="en-US" altLang="zh-CN" sz="1800" dirty="0" smtClean="0"/>
              <a:t>V</a:t>
            </a:r>
            <a:r>
              <a:rPr lang="en-US" altLang="zh-CN" sz="1800" baseline="-25000" dirty="0" smtClean="0"/>
              <a:t>D</a:t>
            </a:r>
            <a:r>
              <a:rPr lang="en-US" altLang="zh-CN" sz="1800" dirty="0" smtClean="0"/>
              <a:t>/</a:t>
            </a:r>
            <a:r>
              <a:rPr lang="el-GR" altLang="zh-CN" sz="1800" dirty="0" smtClean="0"/>
              <a:t>Δ</a:t>
            </a:r>
            <a:r>
              <a:rPr lang="en-US" altLang="zh-CN" sz="1800" dirty="0" smtClean="0"/>
              <a:t>f </a:t>
            </a:r>
            <a:r>
              <a:rPr lang="zh-CN" altLang="en-US" sz="1800" dirty="0"/>
              <a:t>，</a:t>
            </a:r>
            <a:r>
              <a:rPr lang="en-US" altLang="zh-CN" sz="1800" dirty="0"/>
              <a:t>VCO</a:t>
            </a:r>
            <a:r>
              <a:rPr lang="zh-CN" altLang="en-US" sz="1800" dirty="0"/>
              <a:t>的增益为</a:t>
            </a:r>
            <a:r>
              <a:rPr lang="en-US" altLang="zh-CN" sz="1800" dirty="0"/>
              <a:t>K</a:t>
            </a:r>
            <a:r>
              <a:rPr lang="en-US" altLang="zh-CN" sz="1800" baseline="-25000" dirty="0"/>
              <a:t>O</a:t>
            </a:r>
            <a:r>
              <a:rPr lang="en-US" altLang="zh-CN" sz="1800" dirty="0"/>
              <a:t>=</a:t>
            </a:r>
            <a:r>
              <a:rPr lang="el-GR" altLang="zh-CN" sz="1800" dirty="0"/>
              <a:t>Δ</a:t>
            </a:r>
            <a:r>
              <a:rPr lang="en-US" altLang="zh-CN" sz="1800" dirty="0"/>
              <a:t>f/</a:t>
            </a:r>
            <a:r>
              <a:rPr lang="el-GR" altLang="zh-CN" sz="1800" dirty="0"/>
              <a:t>Δ</a:t>
            </a:r>
            <a:r>
              <a:rPr lang="en-US" altLang="zh-CN" sz="1800" dirty="0"/>
              <a:t>V</a:t>
            </a:r>
            <a:r>
              <a:rPr lang="en-US" altLang="zh-CN" sz="1800" baseline="-25000" dirty="0"/>
              <a:t>C</a:t>
            </a:r>
            <a:r>
              <a:rPr lang="zh-CN" altLang="en-US" sz="1800" dirty="0"/>
              <a:t>，滤波器的增益为</a:t>
            </a:r>
            <a:r>
              <a:rPr lang="en-US" altLang="zh-CN" sz="1800" dirty="0" smtClean="0"/>
              <a:t>A</a:t>
            </a:r>
            <a:r>
              <a:rPr lang="zh-CN" altLang="en-US" sz="1800" dirty="0" smtClean="0"/>
              <a:t>。它们三者构成负反馈环，由</a:t>
            </a:r>
            <a:r>
              <a:rPr lang="zh-CN" altLang="en-US" sz="1800" dirty="0"/>
              <a:t>负反馈理论可知，漂移引起的中频频率变化将被减小</a:t>
            </a:r>
            <a:r>
              <a:rPr lang="zh-CN" altLang="en-US" sz="1800" dirty="0" smtClean="0"/>
              <a:t>到原来的</a:t>
            </a:r>
            <a:r>
              <a:rPr lang="en-US" altLang="zh-CN" sz="1800" dirty="0" smtClean="0"/>
              <a:t>1</a:t>
            </a:r>
            <a:r>
              <a:rPr lang="en-US" altLang="zh-CN" sz="1800" dirty="0"/>
              <a:t>/[1+(K</a:t>
            </a:r>
            <a:r>
              <a:rPr lang="en-US" altLang="zh-CN" sz="1800" baseline="-25000" dirty="0"/>
              <a:t>D</a:t>
            </a:r>
            <a:r>
              <a:rPr lang="en-US" altLang="zh-CN" sz="1800" dirty="0"/>
              <a:t>K</a:t>
            </a:r>
            <a:r>
              <a:rPr lang="en-US" altLang="zh-CN" sz="1800" baseline="-25000" dirty="0"/>
              <a:t>O</a:t>
            </a:r>
            <a:r>
              <a:rPr lang="en-US" altLang="zh-CN" sz="1800" dirty="0"/>
              <a:t>A</a:t>
            </a:r>
            <a:r>
              <a:rPr lang="en-US" altLang="zh-CN" sz="1800" dirty="0" smtClean="0"/>
              <a:t>)]</a:t>
            </a:r>
            <a:r>
              <a:rPr lang="zh-CN" altLang="en-US" sz="1800" dirty="0" smtClean="0"/>
              <a:t>。若知道接入负反馈之前的中频频率变化以及系统允许的中频频率变化，则由此可知对于反馈环开环增益</a:t>
            </a:r>
            <a:r>
              <a:rPr lang="en-US" altLang="zh-CN" sz="1800" dirty="0"/>
              <a:t>K</a:t>
            </a:r>
            <a:r>
              <a:rPr lang="en-US" altLang="zh-CN" sz="1800" baseline="-25000" dirty="0"/>
              <a:t>D</a:t>
            </a:r>
            <a:r>
              <a:rPr lang="en-US" altLang="zh-CN" sz="1800" dirty="0"/>
              <a:t>K</a:t>
            </a:r>
            <a:r>
              <a:rPr lang="en-US" altLang="zh-CN" sz="1800" baseline="-25000" dirty="0"/>
              <a:t>O</a:t>
            </a:r>
            <a:r>
              <a:rPr lang="en-US" altLang="zh-CN" sz="1800" dirty="0"/>
              <a:t>A</a:t>
            </a:r>
            <a:r>
              <a:rPr lang="zh-CN" altLang="en-US" sz="1800" dirty="0" smtClean="0"/>
              <a:t>的要求。</a:t>
            </a:r>
            <a:endParaRPr lang="en-US" altLang="zh-CN" sz="1800" dirty="0"/>
          </a:p>
          <a:p>
            <a:pPr indent="457200">
              <a:lnSpc>
                <a:spcPct val="150000"/>
              </a:lnSpc>
            </a:pPr>
            <a:r>
              <a:rPr lang="zh-CN" altLang="en-US" sz="1800" dirty="0"/>
              <a:t>例如本题中</a:t>
            </a:r>
            <a:r>
              <a:rPr lang="zh-CN" altLang="en-US" sz="1800" dirty="0" smtClean="0"/>
              <a:t>，已知漂移引起的中频频率</a:t>
            </a:r>
            <a:r>
              <a:rPr lang="zh-CN" altLang="en-US" sz="1800" dirty="0"/>
              <a:t>的</a:t>
            </a:r>
            <a:r>
              <a:rPr lang="zh-CN" altLang="en-US" sz="1800" dirty="0" smtClean="0"/>
              <a:t>最大偏移为</a:t>
            </a:r>
            <a:r>
              <a:rPr lang="en-US" altLang="zh-CN" sz="1800" dirty="0" smtClean="0"/>
              <a:t>150kHz</a:t>
            </a:r>
            <a:r>
              <a:rPr lang="zh-CN" altLang="en-US" sz="1800" dirty="0" smtClean="0"/>
              <a:t>。假设</a:t>
            </a:r>
            <a:r>
              <a:rPr lang="zh-CN" altLang="en-US" sz="1800" dirty="0"/>
              <a:t>中频放大器（含陶瓷滤波器）的总带宽</a:t>
            </a:r>
            <a:r>
              <a:rPr lang="zh-CN" altLang="en-US" sz="1800" dirty="0" smtClean="0"/>
              <a:t>为</a:t>
            </a:r>
            <a:r>
              <a:rPr lang="en-US" altLang="zh-CN" sz="1800" dirty="0" smtClean="0"/>
              <a:t>150kHz</a:t>
            </a:r>
            <a:r>
              <a:rPr lang="zh-CN" altLang="en-US" sz="1800" dirty="0"/>
              <a:t>，则允许中频</a:t>
            </a:r>
            <a:r>
              <a:rPr lang="zh-CN" altLang="en-US" sz="1800" dirty="0" smtClean="0"/>
              <a:t>偏移</a:t>
            </a:r>
            <a:r>
              <a:rPr lang="en-US" altLang="zh-CN" sz="1800" dirty="0" smtClean="0"/>
              <a:t>50kHz</a:t>
            </a:r>
            <a:r>
              <a:rPr lang="zh-CN" altLang="en-US" sz="1800" dirty="0"/>
              <a:t>（</a:t>
            </a:r>
            <a:r>
              <a:rPr lang="en-US" altLang="zh-CN" sz="1800" dirty="0" smtClean="0"/>
              <a:t>150÷2</a:t>
            </a:r>
            <a:r>
              <a:rPr lang="zh-CN" altLang="en-US" sz="1800" dirty="0" smtClean="0"/>
              <a:t>再减去</a:t>
            </a:r>
            <a:r>
              <a:rPr lang="zh-CN" altLang="en-US" sz="1800" dirty="0"/>
              <a:t>信号频偏</a:t>
            </a:r>
            <a:r>
              <a:rPr lang="en-US" altLang="zh-CN" sz="1800" dirty="0"/>
              <a:t>25</a:t>
            </a:r>
            <a:r>
              <a:rPr lang="zh-CN" altLang="en-US" sz="1800" dirty="0"/>
              <a:t>）。再假定鉴频器在中心频率</a:t>
            </a:r>
            <a:r>
              <a:rPr lang="zh-CN" altLang="en-US" sz="1800" dirty="0" smtClean="0"/>
              <a:t>偏移</a:t>
            </a:r>
            <a:r>
              <a:rPr lang="en-US" altLang="zh-CN" sz="1800" dirty="0" smtClean="0"/>
              <a:t>5kHz</a:t>
            </a:r>
            <a:r>
              <a:rPr lang="zh-CN" altLang="en-US" sz="1800" dirty="0"/>
              <a:t>后还能满足线性</a:t>
            </a:r>
            <a:r>
              <a:rPr lang="zh-CN" altLang="en-US" sz="1800" dirty="0" smtClean="0"/>
              <a:t>鉴频。系统允许的最大频率偏移是其中较小者（苛刻者）即</a:t>
            </a:r>
            <a:r>
              <a:rPr lang="en-US" altLang="zh-CN" sz="1800" dirty="0" smtClean="0"/>
              <a:t>5kHz</a:t>
            </a:r>
            <a:r>
              <a:rPr lang="zh-CN" altLang="en-US" sz="1800" dirty="0" smtClean="0"/>
              <a:t>。需要将</a:t>
            </a:r>
            <a:r>
              <a:rPr lang="en-US" altLang="zh-CN" sz="1800" dirty="0" smtClean="0"/>
              <a:t>150kHz</a:t>
            </a:r>
            <a:r>
              <a:rPr lang="zh-CN" altLang="en-US" sz="1800" dirty="0" smtClean="0"/>
              <a:t>减小到</a:t>
            </a:r>
            <a:r>
              <a:rPr lang="en-US" altLang="zh-CN" sz="1800" dirty="0" smtClean="0"/>
              <a:t>5kHz</a:t>
            </a:r>
            <a:r>
              <a:rPr lang="zh-CN" altLang="en-US" sz="1800" dirty="0" smtClean="0"/>
              <a:t>以下，所以</a:t>
            </a:r>
            <a:r>
              <a:rPr lang="en-US" altLang="zh-CN" sz="1800" dirty="0"/>
              <a:t>K</a:t>
            </a:r>
            <a:r>
              <a:rPr lang="en-US" altLang="zh-CN" sz="1800" baseline="-25000" dirty="0"/>
              <a:t>D</a:t>
            </a:r>
            <a:r>
              <a:rPr lang="en-US" altLang="zh-CN" sz="1800" dirty="0"/>
              <a:t>K</a:t>
            </a:r>
            <a:r>
              <a:rPr lang="en-US" altLang="zh-CN" sz="1800" baseline="-25000" dirty="0"/>
              <a:t>O</a:t>
            </a:r>
            <a:r>
              <a:rPr lang="en-US" altLang="zh-CN" sz="1800" dirty="0"/>
              <a:t>A</a:t>
            </a:r>
            <a:r>
              <a:rPr lang="zh-CN" altLang="en-US" sz="1800" dirty="0"/>
              <a:t>应该</a:t>
            </a:r>
            <a:r>
              <a:rPr lang="zh-CN" altLang="en-US" sz="1800" dirty="0" smtClean="0"/>
              <a:t>大于</a:t>
            </a:r>
            <a:r>
              <a:rPr lang="en-US" altLang="zh-CN" sz="1800" dirty="0" smtClean="0"/>
              <a:t>30</a:t>
            </a:r>
            <a:r>
              <a:rPr lang="zh-CN" altLang="en-US" sz="1800" dirty="0" smtClean="0"/>
              <a:t>。</a:t>
            </a:r>
            <a:endParaRPr lang="en-US" altLang="zh-CN" sz="1800" dirty="0" smtClean="0"/>
          </a:p>
          <a:p>
            <a:pPr indent="457200">
              <a:lnSpc>
                <a:spcPct val="150000"/>
              </a:lnSpc>
            </a:pPr>
            <a:r>
              <a:rPr lang="zh-CN" altLang="en-US" sz="1800" dirty="0" smtClean="0"/>
              <a:t>注意，中频放大器的增益与此无关。</a:t>
            </a:r>
            <a:endParaRPr lang="en-US" altLang="zh-CN" sz="1800" dirty="0"/>
          </a:p>
        </p:txBody>
      </p:sp>
    </p:spTree>
    <p:extLst>
      <p:ext uri="{BB962C8B-B14F-4D97-AF65-F5344CB8AC3E}">
        <p14:creationId xmlns:p14="http://schemas.microsoft.com/office/powerpoint/2010/main" val="4758812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75</a:t>
            </a:fld>
            <a:endParaRPr lang="en-US" altLang="zh-CN">
              <a:solidFill>
                <a:srgbClr val="FFFFFF"/>
              </a:solidFill>
            </a:endParaRPr>
          </a:p>
        </p:txBody>
      </p:sp>
      <p:sp>
        <p:nvSpPr>
          <p:cNvPr id="5" name="文本框 4"/>
          <p:cNvSpPr txBox="1"/>
          <p:nvPr/>
        </p:nvSpPr>
        <p:spPr>
          <a:xfrm>
            <a:off x="497434" y="474134"/>
            <a:ext cx="11258092" cy="5078313"/>
          </a:xfrm>
          <a:prstGeom prst="rect">
            <a:avLst/>
          </a:prstGeom>
          <a:noFill/>
        </p:spPr>
        <p:txBody>
          <a:bodyPr wrap="square" rtlCol="0">
            <a:spAutoFit/>
          </a:bodyPr>
          <a:lstStyle/>
          <a:p>
            <a:pPr marL="742950" lvl="1" indent="-285750">
              <a:lnSpc>
                <a:spcPct val="150000"/>
              </a:lnSpc>
              <a:buFont typeface="Arial" panose="020B0604020202020204" pitchFamily="34" charset="0"/>
              <a:buChar char="•"/>
            </a:pPr>
            <a:r>
              <a:rPr lang="zh-CN" altLang="en-US" sz="1800" dirty="0"/>
              <a:t>反馈极性</a:t>
            </a:r>
            <a:endParaRPr lang="en-US" altLang="zh-CN" sz="1800" dirty="0"/>
          </a:p>
          <a:p>
            <a:pPr indent="457200">
              <a:lnSpc>
                <a:spcPct val="150000"/>
              </a:lnSpc>
            </a:pPr>
            <a:r>
              <a:rPr lang="zh-CN" altLang="en-US" sz="1800" dirty="0"/>
              <a:t>当输入频率由于漂移而升高时，中频频率下降。此时如果鉴频器的</a:t>
            </a:r>
            <a:r>
              <a:rPr lang="en-US" altLang="zh-CN" sz="1800" dirty="0"/>
              <a:t>S</a:t>
            </a:r>
            <a:r>
              <a:rPr lang="zh-CN" altLang="en-US" sz="1800" dirty="0"/>
              <a:t>曲线如前面图中那样，那么鉴频输出电压将下降。而为了维持中频不变，</a:t>
            </a:r>
            <a:r>
              <a:rPr lang="en-US" altLang="zh-CN" sz="1800" dirty="0"/>
              <a:t>VCO</a:t>
            </a:r>
            <a:r>
              <a:rPr lang="zh-CN" altLang="en-US" sz="1800" dirty="0"/>
              <a:t>的输出频率应该上升，即其控制电压应该上升。所以此滤波器应该是一个反相放大器。</a:t>
            </a:r>
            <a:endParaRPr lang="en-US" altLang="zh-CN" sz="1800" dirty="0"/>
          </a:p>
          <a:p>
            <a:pPr indent="457200">
              <a:lnSpc>
                <a:spcPct val="150000"/>
              </a:lnSpc>
            </a:pPr>
            <a:r>
              <a:rPr lang="zh-CN" altLang="en-US" sz="1800" dirty="0"/>
              <a:t>实际上</a:t>
            </a:r>
            <a:r>
              <a:rPr lang="en-US" altLang="zh-CN" sz="1800" dirty="0"/>
              <a:t>S</a:t>
            </a:r>
            <a:r>
              <a:rPr lang="zh-CN" altLang="en-US" sz="1800" dirty="0"/>
              <a:t>曲线的极性随电路可变，例如将前面两个鉴频器电路中所有二极管的方向逆转，则</a:t>
            </a:r>
            <a:r>
              <a:rPr lang="en-US" altLang="zh-CN" sz="1800" dirty="0"/>
              <a:t>S</a:t>
            </a:r>
            <a:r>
              <a:rPr lang="zh-CN" altLang="en-US" sz="1800" dirty="0"/>
              <a:t>曲线的极性就反转，所以在制作时需注意</a:t>
            </a:r>
            <a:r>
              <a:rPr lang="en-US" altLang="zh-CN" sz="1800" dirty="0"/>
              <a:t>S</a:t>
            </a:r>
            <a:r>
              <a:rPr lang="zh-CN" altLang="en-US" sz="1800" dirty="0"/>
              <a:t>曲线的极性。</a:t>
            </a:r>
            <a:endParaRPr lang="en-US" altLang="zh-CN" sz="1800" dirty="0"/>
          </a:p>
          <a:p>
            <a:pPr marL="742950" lvl="1" indent="-285750">
              <a:lnSpc>
                <a:spcPct val="150000"/>
              </a:lnSpc>
              <a:buFont typeface="Arial" panose="020B0604020202020204" pitchFamily="34" charset="0"/>
              <a:buChar char="•"/>
            </a:pPr>
            <a:r>
              <a:rPr lang="zh-CN" altLang="en-US" sz="1800" dirty="0"/>
              <a:t>偏置</a:t>
            </a:r>
            <a:endParaRPr lang="en-US" altLang="zh-CN" sz="1800" dirty="0"/>
          </a:p>
          <a:p>
            <a:pPr indent="457200">
              <a:lnSpc>
                <a:spcPct val="150000"/>
              </a:lnSpc>
            </a:pPr>
            <a:r>
              <a:rPr lang="zh-CN" altLang="en-US" sz="1800" dirty="0"/>
              <a:t>没有漂移时，鉴频器输出信号的直流分量为</a:t>
            </a:r>
            <a:r>
              <a:rPr lang="en-US" altLang="zh-CN" sz="1800" dirty="0"/>
              <a:t>0</a:t>
            </a:r>
            <a:r>
              <a:rPr lang="zh-CN" altLang="en-US" sz="1800" dirty="0"/>
              <a:t>，但是</a:t>
            </a:r>
            <a:r>
              <a:rPr lang="en-US" altLang="zh-CN" sz="1800" dirty="0"/>
              <a:t>VCO</a:t>
            </a:r>
            <a:r>
              <a:rPr lang="zh-CN" altLang="en-US" sz="1800" dirty="0"/>
              <a:t>此时的控制电压并非为</a:t>
            </a:r>
            <a:r>
              <a:rPr lang="en-US" altLang="zh-CN" sz="1800" dirty="0"/>
              <a:t>0</a:t>
            </a:r>
            <a:r>
              <a:rPr lang="zh-CN" altLang="en-US" sz="1800" dirty="0"/>
              <a:t>而是一个特定值，所以这个滤波器的输出要叠加一个偏置电压。</a:t>
            </a:r>
            <a:endParaRPr lang="en-US" altLang="zh-CN" sz="1800" dirty="0"/>
          </a:p>
          <a:p>
            <a:pPr marL="742950" lvl="1" indent="-285750">
              <a:lnSpc>
                <a:spcPct val="150000"/>
              </a:lnSpc>
              <a:buFont typeface="Arial" panose="020B0604020202020204" pitchFamily="34" charset="0"/>
              <a:buChar char="•"/>
            </a:pPr>
            <a:r>
              <a:rPr lang="zh-CN" altLang="en-US" sz="1800" dirty="0" smtClean="0"/>
              <a:t>参考电路</a:t>
            </a:r>
            <a:endParaRPr lang="en-US" altLang="zh-CN" sz="1800" dirty="0" smtClean="0"/>
          </a:p>
          <a:p>
            <a:pPr lvl="2">
              <a:lnSpc>
                <a:spcPct val="150000"/>
              </a:lnSpc>
            </a:pPr>
            <a:r>
              <a:rPr lang="zh-CN" altLang="en-US" sz="1800" dirty="0" smtClean="0"/>
              <a:t>截止频率 </a:t>
            </a:r>
            <a:r>
              <a:rPr lang="en-US" altLang="zh-CN" sz="1800" dirty="0" smtClean="0"/>
              <a:t>1/(2</a:t>
            </a:r>
            <a:r>
              <a:rPr lang="el-GR" altLang="zh-CN" sz="1800" dirty="0" smtClean="0"/>
              <a:t>π</a:t>
            </a:r>
            <a:r>
              <a:rPr lang="en-US" altLang="zh-CN" sz="1800" dirty="0" smtClean="0"/>
              <a:t>R</a:t>
            </a:r>
            <a:r>
              <a:rPr lang="en-US" altLang="zh-CN" sz="1800" baseline="-25000" dirty="0" smtClean="0"/>
              <a:t>3</a:t>
            </a:r>
            <a:r>
              <a:rPr lang="en-US" altLang="zh-CN" sz="1800" dirty="0" smtClean="0"/>
              <a:t>C)</a:t>
            </a:r>
          </a:p>
          <a:p>
            <a:pPr lvl="2">
              <a:lnSpc>
                <a:spcPct val="150000"/>
              </a:lnSpc>
            </a:pPr>
            <a:r>
              <a:rPr lang="zh-CN" altLang="en-US" sz="1800" dirty="0" smtClean="0"/>
              <a:t>通带增益 </a:t>
            </a:r>
            <a:r>
              <a:rPr lang="en-US" altLang="zh-CN" sz="1800" dirty="0" smtClean="0"/>
              <a:t>R</a:t>
            </a:r>
            <a:r>
              <a:rPr lang="en-US" altLang="zh-CN" sz="1800" baseline="-25000" dirty="0" smtClean="0"/>
              <a:t>3</a:t>
            </a:r>
            <a:r>
              <a:rPr lang="en-US" altLang="zh-CN" sz="1800" dirty="0" smtClean="0"/>
              <a:t>/R</a:t>
            </a:r>
            <a:r>
              <a:rPr lang="en-US" altLang="zh-CN" sz="1800" baseline="-25000" dirty="0" smtClean="0"/>
              <a:t>1</a:t>
            </a:r>
            <a:endParaRPr lang="en-US" altLang="zh-CN" sz="1800" baseline="-25000" dirty="0"/>
          </a:p>
        </p:txBody>
      </p:sp>
      <p:pic>
        <p:nvPicPr>
          <p:cNvPr id="6" name="图片 5"/>
          <p:cNvPicPr>
            <a:picLocks noChangeAspect="1"/>
          </p:cNvPicPr>
          <p:nvPr/>
        </p:nvPicPr>
        <p:blipFill>
          <a:blip r:embed="rId2"/>
          <a:stretch>
            <a:fillRect/>
          </a:stretch>
        </p:blipFill>
        <p:spPr>
          <a:xfrm>
            <a:off x="5046650" y="4308888"/>
            <a:ext cx="4997958" cy="1860815"/>
          </a:xfrm>
          <a:prstGeom prst="rect">
            <a:avLst/>
          </a:prstGeom>
        </p:spPr>
      </p:pic>
    </p:spTree>
    <p:extLst>
      <p:ext uri="{BB962C8B-B14F-4D97-AF65-F5344CB8AC3E}">
        <p14:creationId xmlns:p14="http://schemas.microsoft.com/office/powerpoint/2010/main" val="299959750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2024/4/25</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76</a:t>
            </a:fld>
            <a:endParaRPr lang="en-US" altLang="zh-CN"/>
          </a:p>
        </p:txBody>
      </p:sp>
      <p:sp>
        <p:nvSpPr>
          <p:cNvPr id="2" name="文本框 1"/>
          <p:cNvSpPr txBox="1"/>
          <p:nvPr/>
        </p:nvSpPr>
        <p:spPr>
          <a:xfrm>
            <a:off x="466700" y="460059"/>
            <a:ext cx="11354885" cy="1754326"/>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a:latin typeface="黑体" panose="02010609060101010101" pitchFamily="49" charset="-122"/>
                <a:ea typeface="黑体" panose="02010609060101010101" pitchFamily="49" charset="-122"/>
              </a:rPr>
              <a:t>双通道分离电路与音频放大电路</a:t>
            </a:r>
            <a:endParaRPr lang="en-US" altLang="zh-CN" sz="1800" dirty="0">
              <a:latin typeface="黑体" panose="02010609060101010101" pitchFamily="49" charset="-122"/>
              <a:ea typeface="黑体" panose="02010609060101010101" pitchFamily="49" charset="-122"/>
            </a:endParaRPr>
          </a:p>
          <a:p>
            <a:pPr indent="457200">
              <a:lnSpc>
                <a:spcPct val="150000"/>
              </a:lnSpc>
            </a:pPr>
            <a:r>
              <a:rPr lang="en-US" altLang="zh-CN" sz="1800" dirty="0" smtClean="0"/>
              <a:t>FM</a:t>
            </a:r>
            <a:r>
              <a:rPr lang="zh-CN" altLang="zh-CN" sz="1800" dirty="0"/>
              <a:t>解调（鉴频</a:t>
            </a:r>
            <a:r>
              <a:rPr lang="zh-CN" altLang="zh-CN" sz="1800" dirty="0" smtClean="0"/>
              <a:t>）</a:t>
            </a:r>
            <a:r>
              <a:rPr lang="zh-CN" altLang="en-US" sz="1800" dirty="0" smtClean="0"/>
              <a:t>后</a:t>
            </a:r>
            <a:r>
              <a:rPr lang="zh-CN" altLang="zh-CN" sz="1800" dirty="0" smtClean="0"/>
              <a:t>得到</a:t>
            </a:r>
            <a:r>
              <a:rPr lang="zh-CN" altLang="en-US" sz="1800" dirty="0" smtClean="0"/>
              <a:t>的是</a:t>
            </a:r>
            <a:r>
              <a:rPr lang="zh-CN" altLang="zh-CN" sz="1800" dirty="0" smtClean="0"/>
              <a:t>复合</a:t>
            </a:r>
            <a:r>
              <a:rPr lang="zh-CN" altLang="zh-CN" sz="1800" dirty="0"/>
              <a:t>音频</a:t>
            </a:r>
            <a:r>
              <a:rPr lang="zh-CN" altLang="zh-CN" sz="1800" dirty="0" smtClean="0"/>
              <a:t>信号</a:t>
            </a:r>
            <a:r>
              <a:rPr lang="en-US" altLang="zh-CN" sz="1800" dirty="0" smtClean="0"/>
              <a:t>A+B′</a:t>
            </a:r>
          </a:p>
          <a:p>
            <a:pPr marL="742950" lvl="1" indent="-285750">
              <a:lnSpc>
                <a:spcPct val="150000"/>
              </a:lnSpc>
              <a:buFont typeface="Arial" panose="020B0604020202020204" pitchFamily="34" charset="0"/>
              <a:buChar char="•"/>
            </a:pPr>
            <a:r>
              <a:rPr lang="zh-CN" altLang="zh-CN" sz="1800" dirty="0" smtClean="0"/>
              <a:t>用</a:t>
            </a:r>
            <a:r>
              <a:rPr lang="zh-CN" altLang="zh-CN" sz="1800" dirty="0"/>
              <a:t>一个低通滤波器可以直接得到信号</a:t>
            </a:r>
            <a:r>
              <a:rPr lang="en-US" altLang="zh-CN" sz="1800" dirty="0" smtClean="0"/>
              <a:t>A</a:t>
            </a:r>
          </a:p>
          <a:p>
            <a:pPr marL="742950" lvl="1" indent="-285750">
              <a:lnSpc>
                <a:spcPct val="150000"/>
              </a:lnSpc>
              <a:buFont typeface="Arial" panose="020B0604020202020204" pitchFamily="34" charset="0"/>
              <a:buChar char="•"/>
            </a:pPr>
            <a:r>
              <a:rPr lang="zh-CN" altLang="zh-CN" sz="1800" dirty="0" smtClean="0"/>
              <a:t>用</a:t>
            </a:r>
            <a:r>
              <a:rPr lang="zh-CN" altLang="zh-CN" sz="1800" dirty="0"/>
              <a:t>一个带通滤波器可以得到被副载波调制后的信号</a:t>
            </a:r>
            <a:r>
              <a:rPr lang="en-US" altLang="zh-CN" sz="1800" dirty="0"/>
              <a:t>B'</a:t>
            </a:r>
            <a:r>
              <a:rPr lang="zh-CN" altLang="zh-CN" sz="1800" dirty="0"/>
              <a:t>，</a:t>
            </a:r>
            <a:r>
              <a:rPr lang="zh-CN" altLang="zh-CN" sz="1800" dirty="0" smtClean="0"/>
              <a:t>再进行</a:t>
            </a:r>
            <a:r>
              <a:rPr lang="en-US" altLang="zh-CN" sz="1800" dirty="0"/>
              <a:t>AM</a:t>
            </a:r>
            <a:r>
              <a:rPr lang="zh-CN" altLang="zh-CN" sz="1800" dirty="0"/>
              <a:t>解调（检波）</a:t>
            </a:r>
            <a:r>
              <a:rPr lang="zh-CN" altLang="zh-CN" sz="1800" dirty="0" smtClean="0"/>
              <a:t>就得到</a:t>
            </a:r>
            <a:r>
              <a:rPr lang="zh-CN" altLang="zh-CN" sz="1800" dirty="0"/>
              <a:t>信号</a:t>
            </a:r>
            <a:r>
              <a:rPr lang="en-US" altLang="zh-CN" sz="1800" dirty="0" smtClean="0"/>
              <a:t>B</a:t>
            </a:r>
            <a:endParaRPr lang="en-US" altLang="zh-CN"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2056110856"/>
              </p:ext>
            </p:extLst>
          </p:nvPr>
        </p:nvGraphicFramePr>
        <p:xfrm>
          <a:off x="2435146" y="2609355"/>
          <a:ext cx="6693693" cy="1180620"/>
        </p:xfrm>
        <a:graphic>
          <a:graphicData uri="http://schemas.openxmlformats.org/presentationml/2006/ole">
            <mc:AlternateContent xmlns:mc="http://schemas.openxmlformats.org/markup-compatibility/2006">
              <mc:Choice xmlns:v="urn:schemas-microsoft-com:vml" Requires="v">
                <p:oleObj spid="_x0000_s30786" name="Visio" r:id="rId3" imgW="4031855" imgH="711097" progId="Visio.Drawing.15">
                  <p:embed/>
                </p:oleObj>
              </mc:Choice>
              <mc:Fallback>
                <p:oleObj name="Visio" r:id="rId3" imgW="4031855" imgH="711097" progId="Visio.Drawing.15">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5146" y="2609355"/>
                        <a:ext cx="6693693" cy="1180620"/>
                      </a:xfrm>
                      <a:prstGeom prst="rect">
                        <a:avLst/>
                      </a:prstGeom>
                      <a:noFill/>
                    </p:spPr>
                  </p:pic>
                </p:oleObj>
              </mc:Fallback>
            </mc:AlternateContent>
          </a:graphicData>
        </a:graphic>
      </p:graphicFrame>
      <p:sp>
        <p:nvSpPr>
          <p:cNvPr id="4" name="文本框 3"/>
          <p:cNvSpPr txBox="1"/>
          <p:nvPr/>
        </p:nvSpPr>
        <p:spPr>
          <a:xfrm>
            <a:off x="4718305" y="2526837"/>
            <a:ext cx="848563" cy="369332"/>
          </a:xfrm>
          <a:prstGeom prst="rect">
            <a:avLst/>
          </a:prstGeom>
          <a:noFill/>
        </p:spPr>
        <p:txBody>
          <a:bodyPr wrap="square" rtlCol="0">
            <a:spAutoFit/>
          </a:bodyPr>
          <a:lstStyle/>
          <a:p>
            <a:r>
              <a:rPr lang="en-US" altLang="zh-CN" sz="1800" dirty="0" smtClean="0">
                <a:solidFill>
                  <a:srgbClr val="FF0000"/>
                </a:solidFill>
              </a:rPr>
              <a:t>A+B′</a:t>
            </a:r>
            <a:endParaRPr lang="zh-CN" altLang="en-US" sz="1800" dirty="0">
              <a:solidFill>
                <a:srgbClr val="FF0000"/>
              </a:solidFill>
            </a:endParaRPr>
          </a:p>
        </p:txBody>
      </p:sp>
      <p:sp>
        <p:nvSpPr>
          <p:cNvPr id="8" name="文本框 7"/>
          <p:cNvSpPr txBox="1"/>
          <p:nvPr/>
        </p:nvSpPr>
        <p:spPr>
          <a:xfrm>
            <a:off x="6458104" y="3199665"/>
            <a:ext cx="848563" cy="369332"/>
          </a:xfrm>
          <a:prstGeom prst="rect">
            <a:avLst/>
          </a:prstGeom>
          <a:noFill/>
        </p:spPr>
        <p:txBody>
          <a:bodyPr wrap="square" rtlCol="0">
            <a:spAutoFit/>
          </a:bodyPr>
          <a:lstStyle/>
          <a:p>
            <a:r>
              <a:rPr lang="en-US" altLang="zh-CN" sz="1800" dirty="0" smtClean="0">
                <a:solidFill>
                  <a:srgbClr val="FF0000"/>
                </a:solidFill>
              </a:rPr>
              <a:t>B′</a:t>
            </a:r>
            <a:endParaRPr lang="zh-CN" altLang="en-US" sz="1800" dirty="0">
              <a:solidFill>
                <a:srgbClr val="FF0000"/>
              </a:solidFill>
            </a:endParaRPr>
          </a:p>
        </p:txBody>
      </p:sp>
      <p:sp>
        <p:nvSpPr>
          <p:cNvPr id="9" name="文本框 8"/>
          <p:cNvSpPr txBox="1"/>
          <p:nvPr/>
        </p:nvSpPr>
        <p:spPr>
          <a:xfrm>
            <a:off x="6564517" y="2526837"/>
            <a:ext cx="848563" cy="369332"/>
          </a:xfrm>
          <a:prstGeom prst="rect">
            <a:avLst/>
          </a:prstGeom>
          <a:noFill/>
        </p:spPr>
        <p:txBody>
          <a:bodyPr wrap="square" rtlCol="0">
            <a:spAutoFit/>
          </a:bodyPr>
          <a:lstStyle/>
          <a:p>
            <a:r>
              <a:rPr lang="en-US" altLang="zh-CN" sz="1800" dirty="0" smtClean="0">
                <a:solidFill>
                  <a:srgbClr val="FF0000"/>
                </a:solidFill>
              </a:rPr>
              <a:t>A</a:t>
            </a:r>
            <a:endParaRPr lang="zh-CN" altLang="en-US" sz="1800" dirty="0">
              <a:solidFill>
                <a:srgbClr val="FF0000"/>
              </a:solidFill>
            </a:endParaRPr>
          </a:p>
        </p:txBody>
      </p:sp>
      <p:sp>
        <p:nvSpPr>
          <p:cNvPr id="10" name="文本框 9"/>
          <p:cNvSpPr txBox="1"/>
          <p:nvPr/>
        </p:nvSpPr>
        <p:spPr>
          <a:xfrm>
            <a:off x="7782498" y="3221012"/>
            <a:ext cx="848563" cy="369332"/>
          </a:xfrm>
          <a:prstGeom prst="rect">
            <a:avLst/>
          </a:prstGeom>
          <a:noFill/>
        </p:spPr>
        <p:txBody>
          <a:bodyPr wrap="square" rtlCol="0">
            <a:spAutoFit/>
          </a:bodyPr>
          <a:lstStyle/>
          <a:p>
            <a:r>
              <a:rPr lang="en-US" altLang="zh-CN" sz="1800" dirty="0" smtClean="0">
                <a:solidFill>
                  <a:srgbClr val="FF0000"/>
                </a:solidFill>
              </a:rPr>
              <a:t>B</a:t>
            </a:r>
            <a:endParaRPr lang="zh-CN" altLang="en-US" sz="1800" dirty="0">
              <a:solidFill>
                <a:srgbClr val="FF0000"/>
              </a:solidFill>
            </a:endParaRPr>
          </a:p>
        </p:txBody>
      </p:sp>
      <p:sp>
        <p:nvSpPr>
          <p:cNvPr id="7" name="矩形 6"/>
          <p:cNvSpPr/>
          <p:nvPr/>
        </p:nvSpPr>
        <p:spPr>
          <a:xfrm>
            <a:off x="466700" y="4267464"/>
            <a:ext cx="11208359" cy="1338828"/>
          </a:xfrm>
          <a:prstGeom prst="rect">
            <a:avLst/>
          </a:prstGeom>
        </p:spPr>
        <p:txBody>
          <a:bodyPr wrap="square">
            <a:spAutoFit/>
          </a:bodyPr>
          <a:lstStyle/>
          <a:p>
            <a:pPr marL="742950" lvl="1" indent="-285750">
              <a:lnSpc>
                <a:spcPct val="150000"/>
              </a:lnSpc>
              <a:buFont typeface="Arial" panose="020B0604020202020204" pitchFamily="34" charset="0"/>
              <a:buChar char="•"/>
            </a:pPr>
            <a:r>
              <a:rPr lang="zh-CN" altLang="en-US" sz="1800" dirty="0"/>
              <a:t>双声道分离</a:t>
            </a:r>
            <a:r>
              <a:rPr lang="zh-CN" altLang="en-US" sz="1800" dirty="0" smtClean="0"/>
              <a:t>的两个滤波器与发射</a:t>
            </a:r>
            <a:r>
              <a:rPr lang="zh-CN" altLang="en-US" sz="1800" dirty="0"/>
              <a:t>部分的双声道分离</a:t>
            </a:r>
            <a:r>
              <a:rPr lang="zh-CN" altLang="en-US" sz="1800" dirty="0" smtClean="0"/>
              <a:t>滤波器相同</a:t>
            </a:r>
            <a:endParaRPr lang="en-US" altLang="zh-CN" sz="1800" dirty="0" smtClean="0"/>
          </a:p>
          <a:p>
            <a:pPr marL="742950" lvl="1" indent="-285750">
              <a:lnSpc>
                <a:spcPct val="150000"/>
              </a:lnSpc>
              <a:buFont typeface="Arial" panose="020B0604020202020204" pitchFamily="34" charset="0"/>
              <a:buChar char="•"/>
            </a:pPr>
            <a:r>
              <a:rPr lang="zh-CN" altLang="en-US" sz="1800" dirty="0"/>
              <a:t>检波器可采用二极管峰值包络检波</a:t>
            </a:r>
            <a:r>
              <a:rPr lang="zh-CN" altLang="en-US" sz="1800" dirty="0" smtClean="0"/>
              <a:t>电路，但是要求其输入幅度大于二极管的导通阈值，如果幅度不够，可提高带通滤波器的通带增益或者增加一级放大器</a:t>
            </a:r>
            <a:endParaRPr lang="zh-CN" altLang="en-US" sz="1800" dirty="0"/>
          </a:p>
        </p:txBody>
      </p:sp>
    </p:spTree>
    <p:extLst>
      <p:ext uri="{BB962C8B-B14F-4D97-AF65-F5344CB8AC3E}">
        <p14:creationId xmlns:p14="http://schemas.microsoft.com/office/powerpoint/2010/main" val="277683785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77</a:t>
            </a:fld>
            <a:endParaRPr lang="en-US" altLang="zh-CN">
              <a:solidFill>
                <a:srgbClr val="FFFFFF"/>
              </a:solidFill>
            </a:endParaRPr>
          </a:p>
        </p:txBody>
      </p:sp>
      <p:sp>
        <p:nvSpPr>
          <p:cNvPr id="5" name="文本框 4"/>
          <p:cNvSpPr txBox="1"/>
          <p:nvPr/>
        </p:nvSpPr>
        <p:spPr>
          <a:xfrm>
            <a:off x="504749" y="521548"/>
            <a:ext cx="11316836" cy="4247317"/>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a:t>其他注意事项</a:t>
            </a:r>
            <a:endParaRPr lang="en-US" altLang="zh-CN" sz="1800" dirty="0"/>
          </a:p>
          <a:p>
            <a:pPr indent="457200">
              <a:lnSpc>
                <a:spcPct val="150000"/>
              </a:lnSpc>
            </a:pPr>
            <a:r>
              <a:rPr lang="zh-CN" altLang="en-US" sz="1800" dirty="0"/>
              <a:t>本题涉及高频电路。尽管频率不算很高，但是在制作时还是必须遵循高频电路的一些基本规则。</a:t>
            </a:r>
            <a:endParaRPr lang="en-US" altLang="zh-CN" sz="1800" dirty="0"/>
          </a:p>
          <a:p>
            <a:pPr marL="742950" lvl="1" indent="-285750">
              <a:lnSpc>
                <a:spcPct val="150000"/>
              </a:lnSpc>
              <a:buFont typeface="Arial" panose="020B0604020202020204" pitchFamily="34" charset="0"/>
              <a:buChar char="•"/>
            </a:pPr>
            <a:r>
              <a:rPr lang="zh-CN" altLang="en-US" sz="1800" dirty="0"/>
              <a:t>接地</a:t>
            </a:r>
            <a:endParaRPr lang="en-US" altLang="zh-CN" sz="1800" dirty="0"/>
          </a:p>
          <a:p>
            <a:pPr lvl="1" indent="457200">
              <a:lnSpc>
                <a:spcPct val="150000"/>
              </a:lnSpc>
            </a:pPr>
            <a:r>
              <a:rPr lang="zh-CN" altLang="en-US" sz="1800" dirty="0"/>
              <a:t>高频电路的接地规则是大面积接地。所以最好将涉及高频部分的电路</a:t>
            </a:r>
            <a:r>
              <a:rPr lang="zh-CN" altLang="en-US" sz="1800" dirty="0" smtClean="0"/>
              <a:t>制作成印制板</a:t>
            </a:r>
            <a:r>
              <a:rPr lang="zh-CN" altLang="en-US" sz="1800" dirty="0"/>
              <a:t>。在印制板上要用大量通孔将各层的地联通，频率越高通孔越多。在自制印板（例如用雕刻机制作的双面板）时要注意打孔用导线将两面的地短接。如果实在没有条件而采用洞洞板，那么要尽可能缩短连线。</a:t>
            </a:r>
            <a:endParaRPr lang="en-US" altLang="zh-CN" sz="1800" dirty="0"/>
          </a:p>
          <a:p>
            <a:pPr marL="742950" lvl="1" indent="-285750">
              <a:lnSpc>
                <a:spcPct val="150000"/>
              </a:lnSpc>
              <a:buFont typeface="Arial" panose="020B0604020202020204" pitchFamily="34" charset="0"/>
              <a:buChar char="•"/>
            </a:pPr>
            <a:r>
              <a:rPr lang="zh-CN" altLang="en-US" sz="1800" dirty="0"/>
              <a:t>退耦</a:t>
            </a:r>
            <a:endParaRPr lang="en-US" altLang="zh-CN" sz="1800" dirty="0"/>
          </a:p>
          <a:p>
            <a:pPr lvl="1" indent="457200">
              <a:lnSpc>
                <a:spcPct val="150000"/>
              </a:lnSpc>
            </a:pPr>
            <a:r>
              <a:rPr lang="zh-CN" altLang="en-US" sz="1800" dirty="0"/>
              <a:t>所有芯片的电源要有退耦电容且就近接地，退耦电容可以由多个并联。</a:t>
            </a:r>
            <a:endParaRPr lang="en-US" altLang="zh-CN" sz="1800" dirty="0"/>
          </a:p>
          <a:p>
            <a:pPr marL="742950" lvl="1" indent="-285750">
              <a:lnSpc>
                <a:spcPct val="150000"/>
              </a:lnSpc>
              <a:buFont typeface="Arial" panose="020B0604020202020204" pitchFamily="34" charset="0"/>
              <a:buChar char="•"/>
            </a:pPr>
            <a:r>
              <a:rPr lang="zh-CN" altLang="en-US" sz="1800" dirty="0" smtClean="0"/>
              <a:t>高频</a:t>
            </a:r>
            <a:r>
              <a:rPr lang="zh-CN" altLang="en-US" sz="1800" dirty="0"/>
              <a:t>测试仪器的</a:t>
            </a:r>
            <a:r>
              <a:rPr lang="zh-CN" altLang="en-US" sz="1800" dirty="0" smtClean="0"/>
              <a:t>使用</a:t>
            </a:r>
            <a:endParaRPr lang="en-US" altLang="zh-CN" sz="1800" dirty="0" smtClean="0"/>
          </a:p>
          <a:p>
            <a:pPr lvl="2">
              <a:lnSpc>
                <a:spcPct val="150000"/>
              </a:lnSpc>
            </a:pPr>
            <a:r>
              <a:rPr lang="zh-CN" altLang="en-US" sz="1800" dirty="0" smtClean="0"/>
              <a:t>频谱分析仪</a:t>
            </a:r>
            <a:r>
              <a:rPr lang="zh-CN" altLang="en-US" sz="1800" dirty="0"/>
              <a:t>、网络分析仪等，示波器在高频领域的效用很有限。</a:t>
            </a:r>
          </a:p>
        </p:txBody>
      </p:sp>
    </p:spTree>
    <p:extLst>
      <p:ext uri="{BB962C8B-B14F-4D97-AF65-F5344CB8AC3E}">
        <p14:creationId xmlns:p14="http://schemas.microsoft.com/office/powerpoint/2010/main" val="302212206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78</a:t>
            </a:fld>
            <a:endParaRPr lang="en-US" altLang="zh-CN">
              <a:solidFill>
                <a:srgbClr val="FFFFFF"/>
              </a:solidFill>
            </a:endParaRPr>
          </a:p>
        </p:txBody>
      </p:sp>
      <p:sp>
        <p:nvSpPr>
          <p:cNvPr id="5" name="文本框 4"/>
          <p:cNvSpPr txBox="1"/>
          <p:nvPr/>
        </p:nvSpPr>
        <p:spPr>
          <a:xfrm>
            <a:off x="446227" y="416966"/>
            <a:ext cx="11287354" cy="5909310"/>
          </a:xfrm>
          <a:prstGeom prst="rect">
            <a:avLst/>
          </a:prstGeom>
          <a:noFill/>
        </p:spPr>
        <p:txBody>
          <a:bodyPr wrap="square" rtlCol="0">
            <a:spAutoFit/>
          </a:bodyPr>
          <a:lstStyle/>
          <a:p>
            <a:pPr>
              <a:lnSpc>
                <a:spcPct val="150000"/>
              </a:lnSpc>
            </a:pPr>
            <a:r>
              <a:rPr lang="zh-CN" altLang="en-US" sz="1800" dirty="0" smtClean="0">
                <a:solidFill>
                  <a:srgbClr val="FF0000"/>
                </a:solidFill>
                <a:latin typeface="+mj-ea"/>
                <a:ea typeface="+mj-ea"/>
              </a:rPr>
              <a:t>关于双路信号同传的进一步讨论</a:t>
            </a:r>
            <a:endParaRPr lang="en-US" altLang="zh-CN" sz="1800" dirty="0" smtClean="0">
              <a:solidFill>
                <a:srgbClr val="FF0000"/>
              </a:solidFill>
              <a:latin typeface="+mj-ea"/>
              <a:ea typeface="+mj-ea"/>
            </a:endParaRPr>
          </a:p>
          <a:p>
            <a:pPr indent="457200">
              <a:lnSpc>
                <a:spcPct val="150000"/>
              </a:lnSpc>
            </a:pPr>
            <a:r>
              <a:rPr lang="zh-CN" altLang="en-US" sz="1800" dirty="0" smtClean="0"/>
              <a:t>前面讨论的双路同传，</a:t>
            </a:r>
            <a:r>
              <a:rPr lang="en-US" altLang="zh-CN" sz="1800" dirty="0" smtClean="0"/>
              <a:t>A</a:t>
            </a:r>
            <a:r>
              <a:rPr lang="zh-CN" altLang="en-US" sz="1800" dirty="0" smtClean="0"/>
              <a:t>信号直接进入</a:t>
            </a:r>
            <a:r>
              <a:rPr lang="en-US" altLang="zh-CN" sz="1800" dirty="0" smtClean="0"/>
              <a:t>FM</a:t>
            </a:r>
            <a:r>
              <a:rPr lang="zh-CN" altLang="en-US" sz="1800" dirty="0" smtClean="0"/>
              <a:t>调制，</a:t>
            </a:r>
            <a:r>
              <a:rPr lang="en-US" altLang="zh-CN" sz="1800" dirty="0" smtClean="0"/>
              <a:t>B</a:t>
            </a:r>
            <a:r>
              <a:rPr lang="zh-CN" altLang="en-US" sz="1800" dirty="0" smtClean="0"/>
              <a:t>信号通过</a:t>
            </a:r>
            <a:r>
              <a:rPr lang="en-US" altLang="zh-CN" sz="1800" dirty="0" smtClean="0"/>
              <a:t>AM</a:t>
            </a:r>
            <a:r>
              <a:rPr lang="zh-CN" altLang="en-US" sz="1800" dirty="0" smtClean="0"/>
              <a:t>调制移动到较高的频率上，然后以此已调信号</a:t>
            </a:r>
            <a:r>
              <a:rPr lang="en-US" altLang="zh-CN" sz="1800" dirty="0" smtClean="0"/>
              <a:t>B’</a:t>
            </a:r>
            <a:r>
              <a:rPr lang="zh-CN" altLang="en-US" sz="1800" dirty="0" smtClean="0"/>
              <a:t>作为</a:t>
            </a:r>
            <a:r>
              <a:rPr lang="en-US" altLang="zh-CN" sz="1800" dirty="0" smtClean="0"/>
              <a:t>FM</a:t>
            </a:r>
            <a:r>
              <a:rPr lang="zh-CN" altLang="en-US" sz="1800" dirty="0" smtClean="0"/>
              <a:t>调制信号</a:t>
            </a:r>
            <a:endParaRPr lang="en-US" altLang="zh-CN" sz="1800" dirty="0" smtClean="0"/>
          </a:p>
          <a:p>
            <a:pPr indent="457200">
              <a:lnSpc>
                <a:spcPct val="150000"/>
              </a:lnSpc>
            </a:pPr>
            <a:r>
              <a:rPr lang="zh-CN" altLang="en-US" sz="1800" dirty="0"/>
              <a:t>这样</a:t>
            </a:r>
            <a:r>
              <a:rPr lang="zh-CN" altLang="en-US" sz="1800" dirty="0" smtClean="0"/>
              <a:t>做的好处是</a:t>
            </a:r>
            <a:r>
              <a:rPr lang="en-US" altLang="zh-CN" sz="1800" dirty="0" smtClean="0"/>
              <a:t>B</a:t>
            </a:r>
            <a:r>
              <a:rPr lang="zh-CN" altLang="en-US" sz="1800" dirty="0" smtClean="0"/>
              <a:t>信号的解调比较方便。因为通过</a:t>
            </a:r>
            <a:r>
              <a:rPr lang="en-US" altLang="zh-CN" sz="1800" dirty="0" smtClean="0"/>
              <a:t>FM</a:t>
            </a:r>
            <a:r>
              <a:rPr lang="zh-CN" altLang="en-US" sz="1800" dirty="0" smtClean="0"/>
              <a:t>解调得到的是</a:t>
            </a:r>
            <a:r>
              <a:rPr lang="en-US" altLang="zh-CN" sz="1800" dirty="0" smtClean="0"/>
              <a:t>A</a:t>
            </a:r>
            <a:r>
              <a:rPr lang="zh-CN" altLang="en-US" sz="1800" dirty="0" smtClean="0"/>
              <a:t>与</a:t>
            </a:r>
            <a:r>
              <a:rPr lang="en-US" altLang="zh-CN" sz="1800" dirty="0" smtClean="0"/>
              <a:t>B’</a:t>
            </a:r>
            <a:r>
              <a:rPr lang="zh-CN" altLang="en-US" sz="1800" dirty="0" smtClean="0"/>
              <a:t>，而</a:t>
            </a:r>
            <a:r>
              <a:rPr lang="en-US" altLang="zh-CN" sz="1800" dirty="0" smtClean="0"/>
              <a:t>B’</a:t>
            </a:r>
            <a:r>
              <a:rPr lang="zh-CN" altLang="en-US" sz="1800" dirty="0" smtClean="0"/>
              <a:t>是</a:t>
            </a:r>
            <a:r>
              <a:rPr lang="en-US" altLang="zh-CN" sz="1800" dirty="0" smtClean="0"/>
              <a:t>B</a:t>
            </a:r>
            <a:r>
              <a:rPr lang="zh-CN" altLang="en-US" sz="1800" dirty="0" smtClean="0"/>
              <a:t>的</a:t>
            </a:r>
            <a:r>
              <a:rPr lang="en-US" altLang="zh-CN" sz="1800" dirty="0" smtClean="0"/>
              <a:t>AM</a:t>
            </a:r>
            <a:r>
              <a:rPr lang="zh-CN" altLang="en-US" sz="1800" dirty="0" smtClean="0"/>
              <a:t>信号，所以只要一个简单的检波电路就可以从</a:t>
            </a:r>
            <a:r>
              <a:rPr lang="en-US" altLang="zh-CN" sz="1800" dirty="0" smtClean="0"/>
              <a:t>B’</a:t>
            </a:r>
            <a:r>
              <a:rPr lang="zh-CN" altLang="en-US" sz="1800" dirty="0" smtClean="0"/>
              <a:t>得到</a:t>
            </a:r>
            <a:r>
              <a:rPr lang="en-US" altLang="zh-CN" sz="1800" dirty="0" smtClean="0"/>
              <a:t>B</a:t>
            </a:r>
            <a:endParaRPr lang="en-US" altLang="zh-CN" sz="1800" dirty="0"/>
          </a:p>
          <a:p>
            <a:pPr indent="457200">
              <a:lnSpc>
                <a:spcPct val="150000"/>
              </a:lnSpc>
            </a:pPr>
            <a:r>
              <a:rPr lang="zh-CN" altLang="en-US" sz="1800" dirty="0" smtClean="0"/>
              <a:t>这样做的缺点是：在</a:t>
            </a:r>
            <a:r>
              <a:rPr lang="en-US" altLang="zh-CN" sz="1800" dirty="0" smtClean="0"/>
              <a:t>B’</a:t>
            </a:r>
            <a:r>
              <a:rPr lang="zh-CN" altLang="en-US" sz="1800" dirty="0" smtClean="0"/>
              <a:t>信号中，能量大部分落在那个副载波上。在</a:t>
            </a:r>
            <a:r>
              <a:rPr lang="en-US" altLang="zh-CN" sz="1800" dirty="0" smtClean="0"/>
              <a:t>AM</a:t>
            </a:r>
            <a:r>
              <a:rPr lang="zh-CN" altLang="en-US" sz="1800" dirty="0" smtClean="0"/>
              <a:t>已调波中，载波与调制信号的功率比是</a:t>
            </a:r>
            <a:r>
              <a:rPr lang="en-US" altLang="zh-CN" sz="1800" dirty="0" smtClean="0"/>
              <a:t>1</a:t>
            </a:r>
            <a:r>
              <a:rPr lang="zh-CN" altLang="en-US" sz="1800" dirty="0" smtClean="0"/>
              <a:t>：</a:t>
            </a:r>
            <a:r>
              <a:rPr lang="en-US" altLang="zh-CN" sz="1800" i="1" dirty="0" smtClean="0"/>
              <a:t>m</a:t>
            </a:r>
            <a:r>
              <a:rPr lang="en-US" altLang="zh-CN" sz="1800" i="1" baseline="-25000" dirty="0" smtClean="0"/>
              <a:t>a</a:t>
            </a:r>
            <a:r>
              <a:rPr lang="en-US" altLang="zh-CN" sz="1800" baseline="30000" dirty="0" smtClean="0"/>
              <a:t>2</a:t>
            </a:r>
            <a:r>
              <a:rPr lang="zh-CN" altLang="en-US" sz="1800" dirty="0" smtClean="0"/>
              <a:t>，若</a:t>
            </a:r>
            <a:r>
              <a:rPr lang="en-US" altLang="zh-CN" sz="1800" dirty="0" smtClean="0"/>
              <a:t>B’</a:t>
            </a:r>
            <a:r>
              <a:rPr lang="zh-CN" altLang="en-US" sz="1800" dirty="0" smtClean="0"/>
              <a:t>信号中的</a:t>
            </a:r>
            <a:r>
              <a:rPr lang="en-US" altLang="zh-CN" sz="1800" i="1" dirty="0" smtClean="0"/>
              <a:t>m</a:t>
            </a:r>
            <a:r>
              <a:rPr lang="en-US" altLang="zh-CN" sz="1800" i="1" baseline="-25000" dirty="0" smtClean="0"/>
              <a:t>a</a:t>
            </a:r>
            <a:r>
              <a:rPr lang="zh-CN" altLang="en-US" sz="1800" dirty="0" smtClean="0"/>
              <a:t>取常规的</a:t>
            </a:r>
            <a:r>
              <a:rPr lang="en-US" altLang="zh-CN" sz="1800" dirty="0" smtClean="0"/>
              <a:t>0.3</a:t>
            </a:r>
            <a:r>
              <a:rPr lang="zh-CN" altLang="en-US" sz="1800" dirty="0" smtClean="0"/>
              <a:t>左右，那么</a:t>
            </a:r>
            <a:r>
              <a:rPr lang="en-US" altLang="zh-CN" sz="1800" dirty="0" smtClean="0"/>
              <a:t>B’</a:t>
            </a:r>
            <a:r>
              <a:rPr lang="zh-CN" altLang="en-US" sz="1800" dirty="0" smtClean="0"/>
              <a:t>中调制信号的功率只占总功率的</a:t>
            </a:r>
            <a:r>
              <a:rPr lang="en-US" altLang="zh-CN" sz="1800" dirty="0" smtClean="0"/>
              <a:t>10%</a:t>
            </a:r>
            <a:r>
              <a:rPr lang="zh-CN" altLang="en-US" sz="1800" dirty="0" smtClean="0"/>
              <a:t>左右</a:t>
            </a:r>
            <a:endParaRPr lang="en-US" altLang="zh-CN" sz="1800" dirty="0" smtClean="0"/>
          </a:p>
          <a:p>
            <a:pPr indent="457200">
              <a:lnSpc>
                <a:spcPct val="150000"/>
              </a:lnSpc>
            </a:pPr>
            <a:r>
              <a:rPr lang="zh-CN" altLang="en-US" sz="1800" dirty="0" smtClean="0"/>
              <a:t>由于</a:t>
            </a:r>
            <a:r>
              <a:rPr lang="en-US" altLang="zh-CN" sz="1800" dirty="0" smtClean="0"/>
              <a:t>A</a:t>
            </a:r>
            <a:r>
              <a:rPr lang="zh-CN" altLang="en-US" sz="1800" dirty="0" smtClean="0"/>
              <a:t>信号与</a:t>
            </a:r>
            <a:r>
              <a:rPr lang="en-US" altLang="zh-CN" sz="1800" dirty="0" smtClean="0"/>
              <a:t>B’</a:t>
            </a:r>
            <a:r>
              <a:rPr lang="zh-CN" altLang="en-US" sz="1800" dirty="0" smtClean="0"/>
              <a:t>信号叠加后共同作为</a:t>
            </a:r>
            <a:r>
              <a:rPr lang="en-US" altLang="zh-CN" sz="1800" dirty="0" smtClean="0"/>
              <a:t>FM</a:t>
            </a:r>
            <a:r>
              <a:rPr lang="zh-CN" altLang="en-US" sz="1800" dirty="0" smtClean="0"/>
              <a:t>的调制信号，所以按照上述方案构成的同传电路中，</a:t>
            </a:r>
            <a:r>
              <a:rPr lang="en-US" altLang="zh-CN" sz="1800" dirty="0" smtClean="0"/>
              <a:t>A</a:t>
            </a:r>
            <a:r>
              <a:rPr lang="zh-CN" altLang="en-US" sz="1800" dirty="0" smtClean="0"/>
              <a:t>信号的功率将比</a:t>
            </a:r>
            <a:r>
              <a:rPr lang="en-US" altLang="zh-CN" sz="1800" dirty="0" smtClean="0"/>
              <a:t>B</a:t>
            </a:r>
            <a:r>
              <a:rPr lang="zh-CN" altLang="en-US" sz="1800" dirty="0" smtClean="0"/>
              <a:t>信号的功率大许多，这两路信号的信噪比将有较大的差别</a:t>
            </a:r>
            <a:endParaRPr lang="en-US" altLang="zh-CN" sz="1800" dirty="0" smtClean="0"/>
          </a:p>
          <a:p>
            <a:pPr indent="457200">
              <a:lnSpc>
                <a:spcPct val="150000"/>
              </a:lnSpc>
            </a:pPr>
            <a:r>
              <a:rPr lang="zh-CN" altLang="en-US" sz="1800" dirty="0" smtClean="0"/>
              <a:t>改善上述现象的方法是：将</a:t>
            </a:r>
            <a:r>
              <a:rPr lang="en-US" altLang="zh-CN" sz="1800" dirty="0" smtClean="0"/>
              <a:t>B</a:t>
            </a:r>
            <a:r>
              <a:rPr lang="zh-CN" altLang="en-US" sz="1800" dirty="0" smtClean="0"/>
              <a:t>信号做</a:t>
            </a:r>
            <a:r>
              <a:rPr lang="en-US" altLang="zh-CN" sz="1800" dirty="0" smtClean="0"/>
              <a:t>DSB</a:t>
            </a:r>
            <a:r>
              <a:rPr lang="zh-CN" altLang="en-US" sz="1800" dirty="0" smtClean="0"/>
              <a:t>调制。由于</a:t>
            </a:r>
            <a:r>
              <a:rPr lang="en-US" altLang="zh-CN" sz="1800" dirty="0" smtClean="0"/>
              <a:t>DSB</a:t>
            </a:r>
            <a:r>
              <a:rPr lang="zh-CN" altLang="en-US" sz="1800" dirty="0" smtClean="0"/>
              <a:t>调制没有载频成分，所以</a:t>
            </a:r>
            <a:r>
              <a:rPr lang="en-US" altLang="zh-CN" sz="1800" dirty="0" smtClean="0"/>
              <a:t>AB</a:t>
            </a:r>
            <a:r>
              <a:rPr lang="zh-CN" altLang="en-US" sz="1800" dirty="0" smtClean="0"/>
              <a:t>两路信号的功率将得到平衡</a:t>
            </a:r>
            <a:endParaRPr lang="en-US" altLang="zh-CN" sz="1800" dirty="0" smtClean="0"/>
          </a:p>
          <a:p>
            <a:pPr indent="457200">
              <a:lnSpc>
                <a:spcPct val="150000"/>
              </a:lnSpc>
            </a:pPr>
            <a:r>
              <a:rPr lang="zh-CN" altLang="en-US" sz="1800" dirty="0" smtClean="0"/>
              <a:t>但是</a:t>
            </a:r>
            <a:r>
              <a:rPr lang="en-US" altLang="zh-CN" sz="1800" dirty="0" smtClean="0"/>
              <a:t>DSB</a:t>
            </a:r>
            <a:r>
              <a:rPr lang="zh-CN" altLang="en-US" sz="1800" dirty="0" smtClean="0"/>
              <a:t>信号的</a:t>
            </a:r>
            <a:r>
              <a:rPr lang="zh-CN" altLang="en-US" sz="1800" dirty="0" smtClean="0"/>
              <a:t>解调需要同步信号，</a:t>
            </a:r>
            <a:r>
              <a:rPr lang="zh-CN" altLang="en-US" sz="1800" dirty="0" smtClean="0"/>
              <a:t>所以实际的系统中，还要插入一个副载频同步参考信号，这个参考信号的频率通常是副载频的</a:t>
            </a:r>
            <a:r>
              <a:rPr lang="en-US" altLang="zh-CN" sz="1800" dirty="0" smtClean="0"/>
              <a:t>1/2</a:t>
            </a:r>
            <a:r>
              <a:rPr lang="zh-CN" altLang="en-US" sz="1800" dirty="0" smtClean="0"/>
              <a:t>，在接收端用锁相环锁定此参考信号，倍频得到副载频，最后将副载频与</a:t>
            </a:r>
            <a:r>
              <a:rPr lang="en-US" altLang="zh-CN" sz="1800" dirty="0" smtClean="0"/>
              <a:t>B’</a:t>
            </a:r>
            <a:r>
              <a:rPr lang="zh-CN" altLang="en-US" sz="1800" dirty="0" smtClean="0"/>
              <a:t>的</a:t>
            </a:r>
            <a:r>
              <a:rPr lang="en-US" altLang="zh-CN" sz="1800" dirty="0" smtClean="0"/>
              <a:t>DSB</a:t>
            </a:r>
            <a:r>
              <a:rPr lang="zh-CN" altLang="en-US" sz="1800" dirty="0" smtClean="0"/>
              <a:t>信号叠加，就得到了</a:t>
            </a:r>
            <a:r>
              <a:rPr lang="en-US" altLang="zh-CN" sz="1800" dirty="0" smtClean="0"/>
              <a:t>AM</a:t>
            </a:r>
            <a:r>
              <a:rPr lang="zh-CN" altLang="en-US" sz="1800" dirty="0" smtClean="0"/>
              <a:t>信号，可以简单检波恢复原始的</a:t>
            </a:r>
            <a:r>
              <a:rPr lang="en-US" altLang="zh-CN" sz="1800" dirty="0" smtClean="0"/>
              <a:t>B</a:t>
            </a:r>
            <a:r>
              <a:rPr lang="zh-CN" altLang="en-US" sz="1800" dirty="0" smtClean="0"/>
              <a:t>信号</a:t>
            </a:r>
            <a:endParaRPr lang="zh-CN" altLang="en-US" sz="1800" dirty="0"/>
          </a:p>
        </p:txBody>
      </p:sp>
    </p:spTree>
    <p:extLst>
      <p:ext uri="{BB962C8B-B14F-4D97-AF65-F5344CB8AC3E}">
        <p14:creationId xmlns:p14="http://schemas.microsoft.com/office/powerpoint/2010/main" val="187957576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3029852" y="1331516"/>
            <a:ext cx="2036968" cy="1203674"/>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2024/4/25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79</a:t>
            </a:fld>
            <a:endParaRPr lang="en-US" altLang="zh-CN">
              <a:solidFill>
                <a:srgbClr val="FFFFFF"/>
              </a:solidFill>
            </a:endParaRPr>
          </a:p>
        </p:txBody>
      </p:sp>
      <p:sp>
        <p:nvSpPr>
          <p:cNvPr id="5" name="矩形 4"/>
          <p:cNvSpPr/>
          <p:nvPr/>
        </p:nvSpPr>
        <p:spPr>
          <a:xfrm>
            <a:off x="408374" y="472282"/>
            <a:ext cx="11310150" cy="457241"/>
          </a:xfrm>
          <a:prstGeom prst="rect">
            <a:avLst/>
          </a:prstGeom>
        </p:spPr>
        <p:txBody>
          <a:bodyPr wrap="square">
            <a:spAutoFit/>
          </a:bodyPr>
          <a:lstStyle/>
          <a:p>
            <a:pPr marL="342900" indent="-342900">
              <a:lnSpc>
                <a:spcPct val="150000"/>
              </a:lnSpc>
              <a:buFont typeface="Wingdings" panose="05000000000000000000" pitchFamily="2" charset="2"/>
              <a:buChar char="l"/>
            </a:pPr>
            <a:r>
              <a:rPr lang="zh-CN" altLang="en-US" sz="1800" dirty="0" smtClean="0"/>
              <a:t>调频立体声广播中的实际做法：</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3951832409"/>
              </p:ext>
            </p:extLst>
          </p:nvPr>
        </p:nvGraphicFramePr>
        <p:xfrm>
          <a:off x="2964976" y="1295335"/>
          <a:ext cx="6460304" cy="1276035"/>
        </p:xfrm>
        <a:graphic>
          <a:graphicData uri="http://schemas.openxmlformats.org/presentationml/2006/ole">
            <mc:AlternateContent xmlns:mc="http://schemas.openxmlformats.org/markup-compatibility/2006">
              <mc:Choice xmlns:v="urn:schemas-microsoft-com:vml" Requires="v">
                <p:oleObj spid="_x0000_s44040" name="Visio" r:id="rId3" imgW="3441511" imgH="660503" progId="Visio.Drawing.15">
                  <p:embed/>
                </p:oleObj>
              </mc:Choice>
              <mc:Fallback>
                <p:oleObj name="Visio" r:id="rId3" imgW="3441511" imgH="660503" progId="Visio.Drawing.15">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4976" y="1295335"/>
                        <a:ext cx="6460304" cy="1276035"/>
                      </a:xfrm>
                      <a:prstGeom prst="rect">
                        <a:avLst/>
                      </a:prstGeom>
                      <a:noFill/>
                    </p:spPr>
                  </p:pic>
                </p:oleObj>
              </mc:Fallback>
            </mc:AlternateContent>
          </a:graphicData>
        </a:graphic>
      </p:graphicFrame>
      <p:sp>
        <p:nvSpPr>
          <p:cNvPr id="8" name="矩形 7"/>
          <p:cNvSpPr/>
          <p:nvPr/>
        </p:nvSpPr>
        <p:spPr>
          <a:xfrm>
            <a:off x="408374" y="2857029"/>
            <a:ext cx="11413211" cy="3416320"/>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en-US" sz="1800" dirty="0">
                <a:latin typeface="华文细黑" panose="02010600040101010101" pitchFamily="2" charset="-122"/>
                <a:cs typeface="Times New Roman" panose="02020603050405020304" pitchFamily="18" charset="0"/>
              </a:rPr>
              <a:t>为了与单声道接收机兼容，将左右声道变换为主副声道，</a:t>
            </a:r>
            <a:r>
              <a:rPr lang="zh-CN" altLang="zh-CN" sz="1800" dirty="0">
                <a:latin typeface="华文细黑" panose="02010600040101010101" pitchFamily="2" charset="-122"/>
                <a:cs typeface="Times New Roman" panose="02020603050405020304" pitchFamily="18" charset="0"/>
              </a:rPr>
              <a:t>主声道</a:t>
            </a:r>
            <a:r>
              <a:rPr lang="en-US" altLang="zh-CN" sz="1800" dirty="0">
                <a:latin typeface="Times New Roman" panose="02020603050405020304" pitchFamily="18" charset="0"/>
                <a:ea typeface="宋体" panose="02010600030101010101" pitchFamily="2" charset="-122"/>
              </a:rPr>
              <a:t>M=L+R</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latin typeface="华文细黑" panose="02010600040101010101" pitchFamily="2" charset="-122"/>
                <a:cs typeface="Times New Roman" panose="02020603050405020304" pitchFamily="18" charset="0"/>
              </a:rPr>
              <a:t>副声道</a:t>
            </a:r>
            <a:r>
              <a:rPr lang="en-US" altLang="zh-CN" sz="1800" dirty="0">
                <a:latin typeface="Times New Roman" panose="02020603050405020304" pitchFamily="18" charset="0"/>
                <a:ea typeface="宋体" panose="02010600030101010101" pitchFamily="2" charset="-122"/>
              </a:rPr>
              <a:t>S=L-R</a:t>
            </a:r>
            <a:r>
              <a:rPr lang="zh-CN" altLang="en-US" sz="1800" dirty="0">
                <a:latin typeface="Times New Roman" panose="02020603050405020304" pitchFamily="18" charset="0"/>
                <a:ea typeface="宋体" panose="02010600030101010101" pitchFamily="2" charset="-122"/>
              </a:rPr>
              <a:t>，</a:t>
            </a:r>
            <a:r>
              <a:rPr lang="zh-CN" altLang="en-US" sz="1800" dirty="0">
                <a:latin typeface="+mn-ea"/>
                <a:ea typeface="+mn-ea"/>
              </a:rPr>
              <a:t>单声道接收机只接收主声道，立体声接收机接收全部声道</a:t>
            </a:r>
            <a:endParaRPr lang="en-US" altLang="zh-CN" sz="1800" dirty="0">
              <a:latin typeface="+mn-ea"/>
              <a:ea typeface="+mn-ea"/>
            </a:endParaRPr>
          </a:p>
          <a:p>
            <a:pPr marL="342900" indent="-342900">
              <a:lnSpc>
                <a:spcPct val="150000"/>
              </a:lnSpc>
              <a:buFont typeface="Arial" panose="020B0604020202020204" pitchFamily="34" charset="0"/>
              <a:buChar char="•"/>
            </a:pPr>
            <a:r>
              <a:rPr lang="zh-CN" altLang="en-US" sz="1800" dirty="0"/>
              <a:t>副声道</a:t>
            </a:r>
            <a:r>
              <a:rPr lang="zh-CN" altLang="zh-CN" sz="1800" dirty="0"/>
              <a:t>信号用</a:t>
            </a:r>
            <a:r>
              <a:rPr lang="en-US" altLang="zh-CN" sz="1800" dirty="0"/>
              <a:t>DSB</a:t>
            </a:r>
            <a:r>
              <a:rPr lang="zh-CN" altLang="zh-CN" sz="1800" dirty="0"/>
              <a:t>方式调制到</a:t>
            </a:r>
            <a:r>
              <a:rPr lang="en-US" altLang="zh-CN" sz="1800" dirty="0"/>
              <a:t>38kHz</a:t>
            </a:r>
            <a:r>
              <a:rPr lang="zh-CN" altLang="zh-CN" sz="1800" dirty="0"/>
              <a:t>的副载频</a:t>
            </a:r>
            <a:r>
              <a:rPr lang="zh-CN" altLang="zh-CN" sz="1800" dirty="0" smtClean="0"/>
              <a:t>上后</a:t>
            </a:r>
            <a:r>
              <a:rPr lang="zh-CN" altLang="zh-CN" sz="1800" dirty="0"/>
              <a:t>与</a:t>
            </a:r>
            <a:r>
              <a:rPr lang="zh-CN" altLang="en-US" sz="1800" dirty="0"/>
              <a:t>主声道</a:t>
            </a:r>
            <a:r>
              <a:rPr lang="zh-CN" altLang="zh-CN" sz="1800" dirty="0"/>
              <a:t>信号叠加，叠加后的信号称为复合立体声信号</a:t>
            </a:r>
            <a:endParaRPr lang="en-US" altLang="zh-CN" sz="1800" dirty="0"/>
          </a:p>
          <a:p>
            <a:pPr marL="342900" indent="-342900">
              <a:lnSpc>
                <a:spcPct val="150000"/>
              </a:lnSpc>
              <a:buFont typeface="Arial" panose="020B0604020202020204" pitchFamily="34" charset="0"/>
              <a:buChar char="•"/>
            </a:pPr>
            <a:r>
              <a:rPr lang="zh-CN" altLang="zh-CN" sz="1800" dirty="0"/>
              <a:t>复合立体声信号中插入一个</a:t>
            </a:r>
            <a:r>
              <a:rPr lang="en-US" altLang="zh-CN" sz="1800" dirty="0"/>
              <a:t>19kHz</a:t>
            </a:r>
            <a:r>
              <a:rPr lang="zh-CN" altLang="zh-CN" sz="1800" dirty="0"/>
              <a:t>的导频信号</a:t>
            </a:r>
            <a:endParaRPr lang="en-US" altLang="zh-CN" sz="1800" dirty="0"/>
          </a:p>
          <a:p>
            <a:pPr marL="342900" indent="-342900">
              <a:lnSpc>
                <a:spcPct val="150000"/>
              </a:lnSpc>
              <a:buFont typeface="Arial" panose="020B0604020202020204" pitchFamily="34" charset="0"/>
              <a:buChar char="•"/>
            </a:pPr>
            <a:r>
              <a:rPr lang="zh-CN" altLang="zh-CN" sz="1800" dirty="0"/>
              <a:t>接收机用锁相环锁定</a:t>
            </a:r>
            <a:r>
              <a:rPr lang="zh-CN" altLang="zh-CN" sz="1800" dirty="0" smtClean="0"/>
              <a:t>导频信号</a:t>
            </a:r>
            <a:r>
              <a:rPr lang="zh-CN" altLang="en-US" sz="1800" dirty="0" smtClean="0"/>
              <a:t>，</a:t>
            </a:r>
            <a:r>
              <a:rPr lang="zh-CN" altLang="zh-CN" sz="1800" dirty="0"/>
              <a:t>倍频得到</a:t>
            </a:r>
            <a:r>
              <a:rPr lang="en-US" altLang="zh-CN" sz="1800" dirty="0"/>
              <a:t>38kHz</a:t>
            </a:r>
            <a:r>
              <a:rPr lang="zh-CN" altLang="zh-CN" sz="1800" dirty="0"/>
              <a:t>的副载频，然后将副载频与抑制载频的</a:t>
            </a:r>
            <a:r>
              <a:rPr lang="en-US" altLang="zh-CN" sz="1800" dirty="0"/>
              <a:t>S</a:t>
            </a:r>
            <a:r>
              <a:rPr lang="zh-CN" altLang="zh-CN" sz="1800" dirty="0"/>
              <a:t>信号叠加就得到普通</a:t>
            </a:r>
            <a:r>
              <a:rPr lang="en-US" altLang="zh-CN" sz="1800" dirty="0"/>
              <a:t>AM</a:t>
            </a:r>
            <a:r>
              <a:rPr lang="zh-CN" altLang="zh-CN" sz="1800" dirty="0"/>
              <a:t>方式的已调波</a:t>
            </a:r>
            <a:endParaRPr lang="en-US" altLang="zh-CN" sz="1800" dirty="0"/>
          </a:p>
          <a:p>
            <a:pPr marL="342900" indent="-342900">
              <a:lnSpc>
                <a:spcPct val="150000"/>
              </a:lnSpc>
              <a:buFont typeface="Arial" panose="020B0604020202020204" pitchFamily="34" charset="0"/>
              <a:buChar char="•"/>
            </a:pPr>
            <a:r>
              <a:rPr lang="zh-CN" altLang="en-US" sz="1800" dirty="0"/>
              <a:t>检波即可解调</a:t>
            </a:r>
            <a:r>
              <a:rPr lang="en-US" altLang="zh-CN" sz="1800" dirty="0"/>
              <a:t>S</a:t>
            </a:r>
            <a:r>
              <a:rPr lang="zh-CN" altLang="en-US" sz="1800" dirty="0" smtClean="0"/>
              <a:t>信号。由于检波是非相干解调，所以在采用检波方案解调时，此“副载波同步”只要</a:t>
            </a:r>
            <a:r>
              <a:rPr lang="zh-CN" altLang="en-US" sz="1800" dirty="0"/>
              <a:t>频率同步即</a:t>
            </a:r>
            <a:r>
              <a:rPr lang="zh-CN" altLang="en-US" sz="1800" dirty="0" smtClean="0"/>
              <a:t>可（实际的调频广播中要考虑各种解调方式都可以用，所以发送端</a:t>
            </a:r>
            <a:r>
              <a:rPr lang="zh-CN" altLang="en-US" sz="1800" dirty="0" smtClean="0"/>
              <a:t>是做到严格</a:t>
            </a:r>
            <a:r>
              <a:rPr lang="zh-CN" altLang="en-US" sz="1800" dirty="0" smtClean="0"/>
              <a:t>相位同步的）</a:t>
            </a:r>
            <a:endParaRPr lang="zh-CN" altLang="en-US" sz="1800" dirty="0"/>
          </a:p>
        </p:txBody>
      </p:sp>
      <p:sp>
        <p:nvSpPr>
          <p:cNvPr id="9" name="椭圆 8"/>
          <p:cNvSpPr/>
          <p:nvPr/>
        </p:nvSpPr>
        <p:spPr>
          <a:xfrm>
            <a:off x="3080138" y="1208901"/>
            <a:ext cx="5710065" cy="1428435"/>
          </a:xfrm>
          <a:prstGeom prst="ellipse">
            <a:avLst/>
          </a:prstGeom>
          <a:noFill/>
          <a:ln>
            <a:solidFill>
              <a:schemeClr val="accent3">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818588" y="1458240"/>
            <a:ext cx="1424742" cy="584775"/>
          </a:xfrm>
          <a:prstGeom prst="rect">
            <a:avLst/>
          </a:prstGeom>
          <a:noFill/>
        </p:spPr>
        <p:txBody>
          <a:bodyPr wrap="square" rtlCol="0">
            <a:spAutoFit/>
          </a:bodyPr>
          <a:lstStyle/>
          <a:p>
            <a:r>
              <a:rPr lang="zh-CN" altLang="en-US" sz="1600" dirty="0">
                <a:solidFill>
                  <a:srgbClr val="006C31"/>
                </a:solidFill>
              </a:rPr>
              <a:t>单声道接收</a:t>
            </a:r>
            <a:endParaRPr lang="en-US" altLang="zh-CN" sz="1600" dirty="0">
              <a:solidFill>
                <a:srgbClr val="006C31"/>
              </a:solidFill>
            </a:endParaRPr>
          </a:p>
          <a:p>
            <a:r>
              <a:rPr lang="zh-CN" altLang="en-US" sz="1600" dirty="0">
                <a:solidFill>
                  <a:srgbClr val="006C31"/>
                </a:solidFill>
              </a:rPr>
              <a:t>主声道</a:t>
            </a:r>
          </a:p>
        </p:txBody>
      </p:sp>
      <p:sp>
        <p:nvSpPr>
          <p:cNvPr id="11" name="文本框 10"/>
          <p:cNvSpPr txBox="1"/>
          <p:nvPr/>
        </p:nvSpPr>
        <p:spPr>
          <a:xfrm>
            <a:off x="8523129" y="1165852"/>
            <a:ext cx="1263056" cy="584775"/>
          </a:xfrm>
          <a:prstGeom prst="rect">
            <a:avLst/>
          </a:prstGeom>
          <a:noFill/>
        </p:spPr>
        <p:txBody>
          <a:bodyPr wrap="square" rtlCol="0">
            <a:spAutoFit/>
          </a:bodyPr>
          <a:lstStyle/>
          <a:p>
            <a:r>
              <a:rPr lang="zh-CN" altLang="en-US" sz="1600" dirty="0">
                <a:solidFill>
                  <a:schemeClr val="accent3">
                    <a:lumMod val="50000"/>
                  </a:schemeClr>
                </a:solidFill>
                <a:latin typeface="黑体" panose="02010609060101010101" pitchFamily="49" charset="-122"/>
                <a:ea typeface="黑体" panose="02010609060101010101" pitchFamily="49" charset="-122"/>
              </a:rPr>
              <a:t>立体声接收</a:t>
            </a:r>
            <a:endParaRPr lang="en-US" altLang="zh-CN" sz="1600" dirty="0">
              <a:solidFill>
                <a:schemeClr val="accent3">
                  <a:lumMod val="50000"/>
                </a:schemeClr>
              </a:solidFill>
              <a:latin typeface="黑体" panose="02010609060101010101" pitchFamily="49" charset="-122"/>
              <a:ea typeface="黑体" panose="02010609060101010101" pitchFamily="49" charset="-122"/>
            </a:endParaRPr>
          </a:p>
          <a:p>
            <a:r>
              <a:rPr lang="zh-CN" altLang="en-US" sz="1600" dirty="0">
                <a:solidFill>
                  <a:schemeClr val="accent3">
                    <a:lumMod val="50000"/>
                  </a:schemeClr>
                </a:solidFill>
                <a:latin typeface="黑体" panose="02010609060101010101" pitchFamily="49" charset="-122"/>
                <a:ea typeface="黑体" panose="02010609060101010101" pitchFamily="49" charset="-122"/>
              </a:rPr>
              <a:t>全部声道</a:t>
            </a:r>
          </a:p>
        </p:txBody>
      </p:sp>
    </p:spTree>
    <p:extLst>
      <p:ext uri="{BB962C8B-B14F-4D97-AF65-F5344CB8AC3E}">
        <p14:creationId xmlns:p14="http://schemas.microsoft.com/office/powerpoint/2010/main" val="1297995694"/>
      </p:ext>
    </p:extLst>
  </p:cSld>
  <p:clrMapOvr>
    <a:masterClrMapping/>
  </p:clrMapOvr>
  <p:timing>
    <p:tnLst>
      <p:par>
        <p:cTn id="1" dur="indefinite" restart="never" nodeType="tmRoot"/>
      </p:par>
    </p:tnLst>
  </p:timing>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29742</TotalTime>
  <Words>11621</Words>
  <Application>Microsoft Office PowerPoint</Application>
  <PresentationFormat>宽屏</PresentationFormat>
  <Paragraphs>822</Paragraphs>
  <Slides>79</Slides>
  <Notes>2</Notes>
  <HiddenSlides>0</HiddenSlides>
  <MMClips>2</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79</vt:i4>
      </vt:variant>
    </vt:vector>
  </HeadingPairs>
  <TitlesOfParts>
    <vt:vector size="94" baseType="lpstr">
      <vt:lpstr>黑体</vt:lpstr>
      <vt:lpstr>华文楷体</vt:lpstr>
      <vt:lpstr>华文隶书</vt:lpstr>
      <vt:lpstr>华文细黑</vt:lpstr>
      <vt:lpstr>楷体</vt:lpstr>
      <vt:lpstr>楷体_GB2312</vt:lpstr>
      <vt:lpstr>隶书</vt:lpstr>
      <vt:lpstr>宋体</vt:lpstr>
      <vt:lpstr>Arial</vt:lpstr>
      <vt:lpstr>Calibri</vt:lpstr>
      <vt:lpstr>Times New Roman</vt:lpstr>
      <vt:lpstr>Wingdings</vt:lpstr>
      <vt:lpstr>1_Network</vt:lpstr>
      <vt:lpstr>Visio</vt:lpstr>
      <vt:lpstr>Equation</vt:lpstr>
      <vt:lpstr>复旦大学电子工程系  陈光梦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669</cp:revision>
  <dcterms:created xsi:type="dcterms:W3CDTF">1601-01-01T00:00:00Z</dcterms:created>
  <dcterms:modified xsi:type="dcterms:W3CDTF">2024-04-25T06:12:54Z</dcterms:modified>
</cp:coreProperties>
</file>