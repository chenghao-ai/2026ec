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70"/>
  </p:notesMasterIdLst>
  <p:handoutMasterIdLst>
    <p:handoutMasterId r:id="rId71"/>
  </p:handoutMasterIdLst>
  <p:sldIdLst>
    <p:sldId id="398" r:id="rId2"/>
    <p:sldId id="694" r:id="rId3"/>
    <p:sldId id="695" r:id="rId4"/>
    <p:sldId id="660" r:id="rId5"/>
    <p:sldId id="696" r:id="rId6"/>
    <p:sldId id="677" r:id="rId7"/>
    <p:sldId id="679" r:id="rId8"/>
    <p:sldId id="680" r:id="rId9"/>
    <p:sldId id="697" r:id="rId10"/>
    <p:sldId id="693" r:id="rId11"/>
    <p:sldId id="698" r:id="rId12"/>
    <p:sldId id="699" r:id="rId13"/>
    <p:sldId id="700" r:id="rId14"/>
    <p:sldId id="701" r:id="rId15"/>
    <p:sldId id="702" r:id="rId16"/>
    <p:sldId id="703" r:id="rId17"/>
    <p:sldId id="704" r:id="rId18"/>
    <p:sldId id="722" r:id="rId19"/>
    <p:sldId id="727" r:id="rId20"/>
    <p:sldId id="705" r:id="rId21"/>
    <p:sldId id="706" r:id="rId22"/>
    <p:sldId id="707" r:id="rId23"/>
    <p:sldId id="728" r:id="rId24"/>
    <p:sldId id="729" r:id="rId25"/>
    <p:sldId id="735" r:id="rId26"/>
    <p:sldId id="731" r:id="rId27"/>
    <p:sldId id="732" r:id="rId28"/>
    <p:sldId id="762" r:id="rId29"/>
    <p:sldId id="723" r:id="rId30"/>
    <p:sldId id="708" r:id="rId31"/>
    <p:sldId id="709" r:id="rId32"/>
    <p:sldId id="739" r:id="rId33"/>
    <p:sldId id="740" r:id="rId34"/>
    <p:sldId id="741" r:id="rId35"/>
    <p:sldId id="747" r:id="rId36"/>
    <p:sldId id="748" r:id="rId37"/>
    <p:sldId id="749" r:id="rId38"/>
    <p:sldId id="710" r:id="rId39"/>
    <p:sldId id="754" r:id="rId40"/>
    <p:sldId id="742" r:id="rId41"/>
    <p:sldId id="736" r:id="rId42"/>
    <p:sldId id="737" r:id="rId43"/>
    <p:sldId id="755" r:id="rId44"/>
    <p:sldId id="756" r:id="rId45"/>
    <p:sldId id="724" r:id="rId46"/>
    <p:sldId id="712" r:id="rId47"/>
    <p:sldId id="750" r:id="rId48"/>
    <p:sldId id="751" r:id="rId49"/>
    <p:sldId id="743" r:id="rId50"/>
    <p:sldId id="711" r:id="rId51"/>
    <p:sldId id="752" r:id="rId52"/>
    <p:sldId id="713" r:id="rId53"/>
    <p:sldId id="753" r:id="rId54"/>
    <p:sldId id="744" r:id="rId55"/>
    <p:sldId id="738" r:id="rId56"/>
    <p:sldId id="725" r:id="rId57"/>
    <p:sldId id="714" r:id="rId58"/>
    <p:sldId id="757" r:id="rId59"/>
    <p:sldId id="745" r:id="rId60"/>
    <p:sldId id="760" r:id="rId61"/>
    <p:sldId id="761" r:id="rId62"/>
    <p:sldId id="763" r:id="rId63"/>
    <p:sldId id="716" r:id="rId64"/>
    <p:sldId id="758" r:id="rId65"/>
    <p:sldId id="759" r:id="rId66"/>
    <p:sldId id="746" r:id="rId67"/>
    <p:sldId id="717" r:id="rId68"/>
    <p:sldId id="718" r:id="rId69"/>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FF"/>
    <a:srgbClr val="EDFFFF"/>
    <a:srgbClr val="CCECFF"/>
    <a:srgbClr val="99FF99"/>
    <a:srgbClr val="FFFF66"/>
    <a:srgbClr val="FFCC00"/>
    <a:srgbClr val="FF33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56" autoAdjust="0"/>
    <p:restoredTop sz="93147" autoAdjust="0"/>
  </p:normalViewPr>
  <p:slideViewPr>
    <p:cSldViewPr snapToGrid="0">
      <p:cViewPr varScale="1">
        <p:scale>
          <a:sx n="97" d="100"/>
          <a:sy n="97" d="100"/>
        </p:scale>
        <p:origin x="80" y="16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6</a:t>
            </a:fld>
            <a:endParaRPr lang="en-US" altLang="zh-CN"/>
          </a:p>
        </p:txBody>
      </p:sp>
    </p:spTree>
    <p:extLst>
      <p:ext uri="{BB962C8B-B14F-4D97-AF65-F5344CB8AC3E}">
        <p14:creationId xmlns:p14="http://schemas.microsoft.com/office/powerpoint/2010/main" val="19063537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2024/6/30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2024/6/30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2024/6/30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2024/6/30</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2024/6/30</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2024/6/30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2024/6/30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2024/6/30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2024/6/30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2024/6/30</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78114" y="1712685"/>
            <a:ext cx="10247085" cy="2046515"/>
          </a:xfrm>
        </p:spPr>
        <p:txBody>
          <a:bodyPr/>
          <a:lstStyle/>
          <a:p>
            <a:pPr>
              <a:lnSpc>
                <a:spcPct val="150000"/>
              </a:lnSpc>
              <a:spcBef>
                <a:spcPts val="1200"/>
              </a:spcBef>
            </a:pPr>
            <a:r>
              <a:rPr lang="zh-CN" altLang="en-US" sz="4400" dirty="0" smtClean="0">
                <a:solidFill>
                  <a:srgbClr val="FF0000"/>
                </a:solidFill>
                <a:ea typeface="隶书" panose="02010509060101010101" pitchFamily="49" charset="-122"/>
              </a:rPr>
              <a:t>仪器仪表相关赛题的</a:t>
            </a:r>
            <a:r>
              <a:rPr lang="zh-CN" altLang="en-US" sz="4400" dirty="0" smtClean="0">
                <a:solidFill>
                  <a:srgbClr val="FF0000"/>
                </a:solidFill>
                <a:latin typeface="隶书" panose="02010509060101010101" pitchFamily="49" charset="-122"/>
                <a:ea typeface="隶书" panose="02010509060101010101" pitchFamily="49" charset="-122"/>
              </a:rPr>
              <a:t>分析</a:t>
            </a:r>
            <a:r>
              <a:rPr lang="zh-CN" altLang="en-US" sz="4400" dirty="0">
                <a:solidFill>
                  <a:srgbClr val="FF0000"/>
                </a:solidFill>
                <a:latin typeface="隶书" panose="02010509060101010101" pitchFamily="49" charset="-122"/>
                <a:ea typeface="隶书" panose="02010509060101010101" pitchFamily="49" charset="-122"/>
              </a:rPr>
              <a:t>与</a:t>
            </a:r>
            <a:r>
              <a:rPr lang="zh-CN" altLang="en-US" sz="4400" dirty="0" smtClean="0">
                <a:solidFill>
                  <a:srgbClr val="FF0000"/>
                </a:solidFill>
                <a:latin typeface="隶书" panose="02010509060101010101" pitchFamily="49" charset="-122"/>
                <a:ea typeface="隶书" panose="02010509060101010101" pitchFamily="49" charset="-122"/>
              </a:rPr>
              <a:t>设计</a:t>
            </a:r>
            <a:endParaRPr lang="zh-CN" altLang="en-US" sz="2400" dirty="0">
              <a:solidFill>
                <a:schemeClr val="tx1"/>
              </a:solidFill>
              <a:latin typeface="楷体" panose="02010609060101010101" pitchFamily="49" charset="-122"/>
              <a:ea typeface="楷体" panose="02010609060101010101" pitchFamily="49" charset="-122"/>
            </a:endParaRPr>
          </a:p>
        </p:txBody>
      </p:sp>
      <p:sp>
        <p:nvSpPr>
          <p:cNvPr id="3" name="Rectangle 2"/>
          <p:cNvSpPr txBox="1">
            <a:spLocks noChangeArrowheads="1"/>
          </p:cNvSpPr>
          <p:nvPr/>
        </p:nvSpPr>
        <p:spPr bwMode="auto">
          <a:xfrm>
            <a:off x="1703500" y="3468915"/>
            <a:ext cx="8596312" cy="1364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ctr">
              <a:spcBef>
                <a:spcPct val="0"/>
              </a:spcBef>
              <a:spcAft>
                <a:spcPct val="0"/>
              </a:spcAft>
              <a:defRPr sz="6000">
                <a:solidFill>
                  <a:srgbClr val="FFFF66"/>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a:lstStyle>
          <a:p>
            <a:pPr>
              <a:lnSpc>
                <a:spcPct val="150000"/>
              </a:lnSpc>
              <a:spcBef>
                <a:spcPts val="1200"/>
              </a:spcBef>
            </a:pPr>
            <a:r>
              <a:rPr lang="zh-CN" altLang="en-US" sz="2400" kern="0" dirty="0" smtClean="0">
                <a:solidFill>
                  <a:schemeClr val="tx1"/>
                </a:solidFill>
                <a:latin typeface="楷体" panose="02010609060101010101" pitchFamily="49" charset="-122"/>
                <a:ea typeface="楷体" panose="02010609060101010101" pitchFamily="49" charset="-122"/>
              </a:rPr>
              <a:t>复旦大学电子工程系  陈光梦</a:t>
            </a:r>
            <a:endParaRPr lang="zh-CN" altLang="en-US" sz="2400" kern="0" dirty="0">
              <a:solidFill>
                <a:schemeClr val="tx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a:t>
            </a:fld>
            <a:endParaRPr lang="en-US" altLang="zh-CN">
              <a:solidFill>
                <a:srgbClr val="FFFFFF"/>
              </a:solidFill>
            </a:endParaRPr>
          </a:p>
        </p:txBody>
      </p:sp>
      <p:sp>
        <p:nvSpPr>
          <p:cNvPr id="5" name="文本框 4"/>
          <p:cNvSpPr txBox="1"/>
          <p:nvPr/>
        </p:nvSpPr>
        <p:spPr>
          <a:xfrm>
            <a:off x="384629" y="362307"/>
            <a:ext cx="11321142" cy="5872377"/>
          </a:xfrm>
          <a:prstGeom prst="rect">
            <a:avLst/>
          </a:prstGeom>
          <a:noFill/>
        </p:spPr>
        <p:txBody>
          <a:bodyPr wrap="square" rtlCol="0">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仪器仪表类竞赛题的大致分类与举例</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40000"/>
              </a:lnSpc>
              <a:spcAft>
                <a:spcPts val="0"/>
              </a:spcAft>
            </a:pPr>
            <a:r>
              <a:rPr lang="zh-CN" altLang="zh-CN" sz="1800" kern="100" dirty="0">
                <a:latin typeface="+mn-ea"/>
                <a:ea typeface="+mn-ea"/>
              </a:rPr>
              <a:t>一</a:t>
            </a:r>
            <a:r>
              <a:rPr lang="zh-CN" altLang="zh-CN" sz="1800" kern="100" dirty="0" smtClean="0">
                <a:latin typeface="+mn-ea"/>
                <a:ea typeface="+mn-ea"/>
              </a:rPr>
              <a:t>、</a:t>
            </a:r>
            <a:r>
              <a:rPr lang="zh-CN" altLang="en-US" sz="1800" kern="100" dirty="0" smtClean="0">
                <a:latin typeface="Arial" panose="020B0604020202020204" pitchFamily="34" charset="0"/>
                <a:ea typeface="+mn-ea"/>
              </a:rPr>
              <a:t>频谱分析仪</a:t>
            </a:r>
            <a:endParaRPr lang="en-US" altLang="zh-CN" sz="1800" kern="100" dirty="0" smtClean="0">
              <a:latin typeface="Arial" panose="020B0604020202020204" pitchFamily="34" charset="0"/>
              <a:ea typeface="+mn-ea"/>
            </a:endParaRPr>
          </a:p>
          <a:p>
            <a:pPr lvl="1" algn="just">
              <a:lnSpc>
                <a:spcPct val="140000"/>
              </a:lnSpc>
              <a:spcAft>
                <a:spcPts val="0"/>
              </a:spcAft>
            </a:pPr>
            <a:r>
              <a:rPr lang="en-US" altLang="zh-CN" sz="1800" dirty="0">
                <a:latin typeface="Arial" panose="020B0604020202020204" pitchFamily="34" charset="0"/>
                <a:ea typeface="+mn-ea"/>
              </a:rPr>
              <a:t>2015</a:t>
            </a:r>
            <a:r>
              <a:rPr lang="zh-CN" altLang="en-US" sz="1800" dirty="0">
                <a:latin typeface="Arial" panose="020B0604020202020204" pitchFamily="34" charset="0"/>
                <a:ea typeface="+mn-ea"/>
              </a:rPr>
              <a:t>年全国赛</a:t>
            </a:r>
            <a:r>
              <a:rPr lang="en-US" altLang="zh-CN" sz="1800" dirty="0">
                <a:latin typeface="Arial" panose="020B0604020202020204" pitchFamily="34" charset="0"/>
                <a:ea typeface="+mn-ea"/>
              </a:rPr>
              <a:t>E</a:t>
            </a:r>
            <a:r>
              <a:rPr lang="zh-CN" altLang="en-US" sz="1800" dirty="0">
                <a:latin typeface="Arial" panose="020B0604020202020204" pitchFamily="34" charset="0"/>
                <a:ea typeface="+mn-ea"/>
              </a:rPr>
              <a:t>题 </a:t>
            </a:r>
            <a:r>
              <a:rPr lang="en-US" altLang="zh-CN" sz="1800" dirty="0">
                <a:latin typeface="Arial" panose="020B0604020202020204" pitchFamily="34" charset="0"/>
                <a:ea typeface="+mn-ea"/>
              </a:rPr>
              <a:t>80MHz~100MHz</a:t>
            </a:r>
            <a:r>
              <a:rPr lang="zh-CN" altLang="en-US" sz="1800" dirty="0">
                <a:latin typeface="Arial" panose="020B0604020202020204" pitchFamily="34" charset="0"/>
                <a:ea typeface="+mn-ea"/>
              </a:rPr>
              <a:t>频谱分析仪 </a:t>
            </a:r>
            <a:endParaRPr lang="en-US" altLang="zh-CN" sz="1800" dirty="0" smtClean="0">
              <a:latin typeface="Arial" panose="020B0604020202020204" pitchFamily="34" charset="0"/>
              <a:ea typeface="+mn-ea"/>
            </a:endParaRPr>
          </a:p>
          <a:p>
            <a:pPr lvl="1" algn="just">
              <a:lnSpc>
                <a:spcPct val="140000"/>
              </a:lnSpc>
              <a:spcAft>
                <a:spcPts val="0"/>
              </a:spcAft>
            </a:pPr>
            <a:r>
              <a:rPr lang="en-US" altLang="zh-CN" sz="1800" dirty="0">
                <a:latin typeface="Arial" panose="020B0604020202020204" pitchFamily="34" charset="0"/>
                <a:ea typeface="+mn-ea"/>
              </a:rPr>
              <a:t>2021</a:t>
            </a:r>
            <a:r>
              <a:rPr lang="zh-CN" altLang="en-US" sz="1800" dirty="0">
                <a:latin typeface="Arial" panose="020B0604020202020204" pitchFamily="34" charset="0"/>
                <a:ea typeface="+mn-ea"/>
              </a:rPr>
              <a:t>年全国赛</a:t>
            </a:r>
            <a:r>
              <a:rPr lang="en-US" altLang="zh-CN" sz="1800" dirty="0">
                <a:latin typeface="Arial" panose="020B0604020202020204" pitchFamily="34" charset="0"/>
                <a:ea typeface="+mn-ea"/>
              </a:rPr>
              <a:t>A</a:t>
            </a:r>
            <a:r>
              <a:rPr lang="zh-CN" altLang="en-US" sz="1800" dirty="0">
                <a:latin typeface="Arial" panose="020B0604020202020204" pitchFamily="34" charset="0"/>
                <a:ea typeface="+mn-ea"/>
              </a:rPr>
              <a:t>题 信号失真度测量装置 </a:t>
            </a:r>
            <a:endParaRPr lang="en-US" altLang="zh-CN" sz="1800" kern="100" dirty="0" smtClean="0">
              <a:latin typeface="Arial" panose="020B0604020202020204" pitchFamily="34" charset="0"/>
              <a:ea typeface="+mn-ea"/>
            </a:endParaRPr>
          </a:p>
          <a:p>
            <a:pPr algn="just">
              <a:lnSpc>
                <a:spcPct val="140000"/>
              </a:lnSpc>
              <a:spcAft>
                <a:spcPts val="0"/>
              </a:spcAft>
            </a:pPr>
            <a:r>
              <a:rPr lang="zh-CN" altLang="en-US" sz="1800" kern="100" dirty="0" smtClean="0">
                <a:latin typeface="Arial" panose="020B0604020202020204" pitchFamily="34" charset="0"/>
                <a:ea typeface="+mn-ea"/>
              </a:rPr>
              <a:t>二、频率特性测试仪</a:t>
            </a:r>
            <a:endParaRPr lang="en-US" altLang="zh-CN" sz="1800" kern="100" dirty="0" smtClean="0">
              <a:latin typeface="Arial" panose="020B0604020202020204" pitchFamily="34" charset="0"/>
              <a:ea typeface="+mn-ea"/>
            </a:endParaRPr>
          </a:p>
          <a:p>
            <a:pPr lvl="1" algn="just">
              <a:lnSpc>
                <a:spcPct val="140000"/>
              </a:lnSpc>
              <a:spcAft>
                <a:spcPts val="0"/>
              </a:spcAft>
            </a:pPr>
            <a:r>
              <a:rPr lang="en-US" altLang="zh-CN" sz="1800" dirty="0">
                <a:latin typeface="Arial" panose="020B0604020202020204" pitchFamily="34" charset="0"/>
                <a:ea typeface="+mn-ea"/>
              </a:rPr>
              <a:t>2013</a:t>
            </a:r>
            <a:r>
              <a:rPr lang="zh-CN" altLang="en-US" sz="1800" dirty="0">
                <a:latin typeface="Arial" panose="020B0604020202020204" pitchFamily="34" charset="0"/>
                <a:ea typeface="+mn-ea"/>
              </a:rPr>
              <a:t>年全国赛</a:t>
            </a:r>
            <a:r>
              <a:rPr lang="en-US" altLang="zh-CN" sz="1800" dirty="0">
                <a:latin typeface="Arial" panose="020B0604020202020204" pitchFamily="34" charset="0"/>
                <a:ea typeface="+mn-ea"/>
              </a:rPr>
              <a:t>E</a:t>
            </a:r>
            <a:r>
              <a:rPr lang="zh-CN" altLang="en-US" sz="1800" dirty="0">
                <a:latin typeface="Arial" panose="020B0604020202020204" pitchFamily="34" charset="0"/>
                <a:ea typeface="+mn-ea"/>
              </a:rPr>
              <a:t>题 简易频率特性测试仪 </a:t>
            </a:r>
            <a:endParaRPr lang="en-US" altLang="zh-CN" sz="1800" dirty="0">
              <a:latin typeface="Arial" panose="020B0604020202020204" pitchFamily="34" charset="0"/>
              <a:ea typeface="+mn-ea"/>
            </a:endParaRPr>
          </a:p>
          <a:p>
            <a:pPr lvl="1" algn="just">
              <a:lnSpc>
                <a:spcPct val="140000"/>
              </a:lnSpc>
              <a:spcAft>
                <a:spcPts val="0"/>
              </a:spcAft>
            </a:pPr>
            <a:r>
              <a:rPr lang="en-US" altLang="zh-CN" sz="1800" dirty="0">
                <a:latin typeface="Arial" panose="020B0604020202020204" pitchFamily="34" charset="0"/>
                <a:ea typeface="+mn-ea"/>
              </a:rPr>
              <a:t>2016</a:t>
            </a:r>
            <a:r>
              <a:rPr lang="zh-CN" altLang="en-US" sz="1800" dirty="0">
                <a:latin typeface="Arial" panose="020B0604020202020204" pitchFamily="34" charset="0"/>
                <a:ea typeface="+mn-ea"/>
              </a:rPr>
              <a:t>年</a:t>
            </a:r>
            <a:r>
              <a:rPr lang="en-US" altLang="zh-CN" sz="1800" dirty="0">
                <a:latin typeface="Arial" panose="020B0604020202020204" pitchFamily="34" charset="0"/>
                <a:ea typeface="+mn-ea"/>
              </a:rPr>
              <a:t>TI</a:t>
            </a:r>
            <a:r>
              <a:rPr lang="zh-CN" altLang="en-US" sz="1800" dirty="0">
                <a:latin typeface="Arial" panose="020B0604020202020204" pitchFamily="34" charset="0"/>
                <a:ea typeface="+mn-ea"/>
              </a:rPr>
              <a:t>杯模拟电路邀请赛</a:t>
            </a:r>
            <a:r>
              <a:rPr lang="en-US" altLang="zh-CN" sz="1800" dirty="0">
                <a:latin typeface="Arial" panose="020B0604020202020204" pitchFamily="34" charset="0"/>
                <a:ea typeface="+mn-ea"/>
              </a:rPr>
              <a:t>C</a:t>
            </a:r>
            <a:r>
              <a:rPr lang="zh-CN" altLang="en-US" sz="1800" dirty="0">
                <a:latin typeface="Arial" panose="020B0604020202020204" pitchFamily="34" charset="0"/>
                <a:ea typeface="+mn-ea"/>
              </a:rPr>
              <a:t>题 频率特性测试仪 </a:t>
            </a:r>
            <a:endParaRPr lang="en-US" altLang="zh-CN" sz="1800" kern="100" dirty="0">
              <a:latin typeface="Arial" panose="020B0604020202020204" pitchFamily="34" charset="0"/>
              <a:ea typeface="+mn-ea"/>
            </a:endParaRPr>
          </a:p>
          <a:p>
            <a:pPr algn="just">
              <a:lnSpc>
                <a:spcPct val="140000"/>
              </a:lnSpc>
              <a:spcAft>
                <a:spcPts val="0"/>
              </a:spcAft>
            </a:pPr>
            <a:r>
              <a:rPr lang="zh-CN" altLang="en-US" sz="1800" kern="100" dirty="0" smtClean="0">
                <a:latin typeface="Arial" panose="020B0604020202020204" pitchFamily="34" charset="0"/>
                <a:ea typeface="+mn-ea"/>
              </a:rPr>
              <a:t>三、电参数测量仪器</a:t>
            </a:r>
            <a:endParaRPr lang="en-US" altLang="zh-CN" sz="1800" kern="100" dirty="0" smtClean="0">
              <a:latin typeface="Arial" panose="020B0604020202020204" pitchFamily="34" charset="0"/>
              <a:ea typeface="+mn-ea"/>
            </a:endParaRPr>
          </a:p>
          <a:p>
            <a:pPr lvl="1" algn="just">
              <a:lnSpc>
                <a:spcPct val="140000"/>
              </a:lnSpc>
              <a:spcAft>
                <a:spcPts val="0"/>
              </a:spcAft>
            </a:pPr>
            <a:r>
              <a:rPr lang="en-US" altLang="zh-CN" sz="1800" dirty="0">
                <a:latin typeface="Arial" panose="020B0604020202020204" pitchFamily="34" charset="0"/>
                <a:ea typeface="+mn-ea"/>
              </a:rPr>
              <a:t>2023</a:t>
            </a:r>
            <a:r>
              <a:rPr lang="zh-CN" altLang="en-US" sz="1800" dirty="0">
                <a:latin typeface="Arial" panose="020B0604020202020204" pitchFamily="34" charset="0"/>
                <a:ea typeface="+mn-ea"/>
              </a:rPr>
              <a:t>年全国赛</a:t>
            </a:r>
            <a:r>
              <a:rPr lang="en-US" altLang="zh-CN" sz="1800" dirty="0">
                <a:latin typeface="Arial" panose="020B0604020202020204" pitchFamily="34" charset="0"/>
                <a:ea typeface="+mn-ea"/>
              </a:rPr>
              <a:t>C</a:t>
            </a:r>
            <a:r>
              <a:rPr lang="zh-CN" altLang="en-US" sz="1800" dirty="0">
                <a:latin typeface="Arial" panose="020B0604020202020204" pitchFamily="34" charset="0"/>
                <a:ea typeface="+mn-ea"/>
              </a:rPr>
              <a:t>题 电容电感测量装置 </a:t>
            </a:r>
            <a:endParaRPr lang="en-US" altLang="zh-CN" sz="1800" kern="100" dirty="0">
              <a:latin typeface="Arial" panose="020B0604020202020204" pitchFamily="34" charset="0"/>
              <a:ea typeface="+mn-ea"/>
            </a:endParaRPr>
          </a:p>
          <a:p>
            <a:pPr lvl="1" algn="just">
              <a:lnSpc>
                <a:spcPct val="140000"/>
              </a:lnSpc>
              <a:spcAft>
                <a:spcPts val="0"/>
              </a:spcAft>
            </a:pPr>
            <a:r>
              <a:rPr lang="en-US" altLang="zh-CN" sz="1800" dirty="0" smtClean="0">
                <a:latin typeface="Arial" panose="020B0604020202020204" pitchFamily="34" charset="0"/>
                <a:ea typeface="+mn-ea"/>
              </a:rPr>
              <a:t>2019</a:t>
            </a:r>
            <a:r>
              <a:rPr lang="zh-CN" altLang="en-US" sz="1800" dirty="0">
                <a:latin typeface="Arial" panose="020B0604020202020204" pitchFamily="34" charset="0"/>
                <a:ea typeface="+mn-ea"/>
              </a:rPr>
              <a:t>年全国</a:t>
            </a:r>
            <a:r>
              <a:rPr lang="zh-CN" altLang="en-US" sz="1800" dirty="0" smtClean="0">
                <a:latin typeface="Arial" panose="020B0604020202020204" pitchFamily="34" charset="0"/>
                <a:ea typeface="+mn-ea"/>
              </a:rPr>
              <a:t>赛</a:t>
            </a:r>
            <a:r>
              <a:rPr lang="en-US" altLang="zh-CN" sz="1800" dirty="0" smtClean="0">
                <a:latin typeface="Arial" panose="020B0604020202020204" pitchFamily="34" charset="0"/>
                <a:ea typeface="+mn-ea"/>
              </a:rPr>
              <a:t>D</a:t>
            </a:r>
            <a:r>
              <a:rPr lang="zh-CN" altLang="en-US" sz="1800" dirty="0" smtClean="0">
                <a:latin typeface="Arial" panose="020B0604020202020204" pitchFamily="34" charset="0"/>
                <a:ea typeface="+mn-ea"/>
              </a:rPr>
              <a:t>题 简易电路特性测试仪 </a:t>
            </a:r>
            <a:endParaRPr lang="en-US" altLang="zh-CN" sz="1800" dirty="0" smtClean="0">
              <a:latin typeface="Arial" panose="020B0604020202020204" pitchFamily="34" charset="0"/>
              <a:ea typeface="+mn-ea"/>
            </a:endParaRPr>
          </a:p>
          <a:p>
            <a:pPr algn="just">
              <a:lnSpc>
                <a:spcPct val="140000"/>
              </a:lnSpc>
              <a:spcAft>
                <a:spcPts val="0"/>
              </a:spcAft>
            </a:pPr>
            <a:r>
              <a:rPr lang="zh-CN" altLang="en-US" sz="1800" kern="100" dirty="0" smtClean="0">
                <a:latin typeface="Arial" panose="020B0604020202020204" pitchFamily="34" charset="0"/>
                <a:ea typeface="+mn-ea"/>
              </a:rPr>
              <a:t>四、频率与周期的测量仪器</a:t>
            </a:r>
            <a:endParaRPr lang="en-US" altLang="zh-CN" sz="1800" kern="100" dirty="0" smtClean="0">
              <a:latin typeface="Arial" panose="020B0604020202020204" pitchFamily="34" charset="0"/>
              <a:ea typeface="+mn-ea"/>
            </a:endParaRPr>
          </a:p>
          <a:p>
            <a:pPr lvl="1" algn="just">
              <a:lnSpc>
                <a:spcPct val="140000"/>
              </a:lnSpc>
              <a:spcAft>
                <a:spcPts val="0"/>
              </a:spcAft>
            </a:pPr>
            <a:r>
              <a:rPr lang="en-US" altLang="zh-CN" sz="1800" dirty="0">
                <a:latin typeface="Arial" panose="020B0604020202020204" pitchFamily="34" charset="0"/>
                <a:ea typeface="+mn-ea"/>
              </a:rPr>
              <a:t>2015</a:t>
            </a:r>
            <a:r>
              <a:rPr lang="zh-CN" altLang="en-US" sz="1800" dirty="0">
                <a:latin typeface="Arial" panose="020B0604020202020204" pitchFamily="34" charset="0"/>
                <a:ea typeface="+mn-ea"/>
              </a:rPr>
              <a:t>年全国赛</a:t>
            </a:r>
            <a:r>
              <a:rPr lang="en-US" altLang="zh-CN" sz="1800" dirty="0">
                <a:latin typeface="Arial" panose="020B0604020202020204" pitchFamily="34" charset="0"/>
                <a:ea typeface="+mn-ea"/>
              </a:rPr>
              <a:t>F</a:t>
            </a:r>
            <a:r>
              <a:rPr lang="zh-CN" altLang="en-US" sz="1800" dirty="0">
                <a:latin typeface="Arial" panose="020B0604020202020204" pitchFamily="34" charset="0"/>
                <a:ea typeface="+mn-ea"/>
              </a:rPr>
              <a:t>题 数字频率计 </a:t>
            </a:r>
            <a:endParaRPr lang="en-US" altLang="zh-CN" sz="1800" dirty="0" smtClean="0">
              <a:latin typeface="Arial" panose="020B0604020202020204" pitchFamily="34" charset="0"/>
              <a:ea typeface="+mn-ea"/>
            </a:endParaRPr>
          </a:p>
          <a:p>
            <a:pPr lvl="1" algn="just">
              <a:lnSpc>
                <a:spcPct val="140000"/>
              </a:lnSpc>
              <a:spcAft>
                <a:spcPts val="0"/>
              </a:spcAft>
            </a:pPr>
            <a:r>
              <a:rPr lang="en-US" altLang="zh-CN" sz="1800" dirty="0">
                <a:latin typeface="Arial" panose="020B0604020202020204" pitchFamily="34" charset="0"/>
                <a:ea typeface="+mn-ea"/>
              </a:rPr>
              <a:t>2016</a:t>
            </a:r>
            <a:r>
              <a:rPr lang="zh-CN" altLang="en-US" sz="1800" dirty="0">
                <a:latin typeface="Arial" panose="020B0604020202020204" pitchFamily="34" charset="0"/>
                <a:ea typeface="+mn-ea"/>
              </a:rPr>
              <a:t>年上海市</a:t>
            </a:r>
            <a:r>
              <a:rPr lang="en-US" altLang="zh-CN" sz="1800" dirty="0">
                <a:latin typeface="Arial" panose="020B0604020202020204" pitchFamily="34" charset="0"/>
                <a:ea typeface="+mn-ea"/>
              </a:rPr>
              <a:t>TI</a:t>
            </a:r>
            <a:r>
              <a:rPr lang="zh-CN" altLang="en-US" sz="1800" dirty="0">
                <a:latin typeface="Arial" panose="020B0604020202020204" pitchFamily="34" charset="0"/>
                <a:ea typeface="+mn-ea"/>
              </a:rPr>
              <a:t>杯</a:t>
            </a:r>
            <a:r>
              <a:rPr lang="en-US" altLang="zh-CN" sz="1800" dirty="0">
                <a:latin typeface="Arial" panose="020B0604020202020204" pitchFamily="34" charset="0"/>
                <a:ea typeface="+mn-ea"/>
              </a:rPr>
              <a:t>C</a:t>
            </a:r>
            <a:r>
              <a:rPr lang="zh-CN" altLang="en-US" sz="1800" dirty="0">
                <a:latin typeface="Arial" panose="020B0604020202020204" pitchFamily="34" charset="0"/>
                <a:ea typeface="+mn-ea"/>
              </a:rPr>
              <a:t>题 脉冲信号参数测量仪 </a:t>
            </a:r>
            <a:endParaRPr lang="en-US" altLang="zh-CN" sz="1800" dirty="0">
              <a:latin typeface="Arial" panose="020B0604020202020204" pitchFamily="34" charset="0"/>
              <a:ea typeface="+mn-ea"/>
            </a:endParaRPr>
          </a:p>
          <a:p>
            <a:pPr algn="just">
              <a:lnSpc>
                <a:spcPct val="140000"/>
              </a:lnSpc>
              <a:spcAft>
                <a:spcPts val="0"/>
              </a:spcAft>
            </a:pPr>
            <a:r>
              <a:rPr lang="zh-CN" altLang="en-US" sz="1800" dirty="0" smtClean="0">
                <a:latin typeface="Arial" panose="020B0604020202020204" pitchFamily="34" charset="0"/>
                <a:ea typeface="+mn-ea"/>
              </a:rPr>
              <a:t>五</a:t>
            </a:r>
            <a:r>
              <a:rPr lang="zh-CN" altLang="en-US" sz="1800" dirty="0" smtClean="0">
                <a:latin typeface="Arial" panose="020B0604020202020204" pitchFamily="34" charset="0"/>
                <a:ea typeface="+mn-ea"/>
              </a:rPr>
              <a:t>、其他不在上述讨论范围内的仪器</a:t>
            </a:r>
            <a:endParaRPr lang="en-US" altLang="zh-CN" sz="1800" dirty="0" smtClean="0">
              <a:latin typeface="Arial" panose="020B0604020202020204" pitchFamily="34" charset="0"/>
              <a:ea typeface="+mn-ea"/>
            </a:endParaRPr>
          </a:p>
        </p:txBody>
      </p:sp>
    </p:spTree>
    <p:extLst>
      <p:ext uri="{BB962C8B-B14F-4D97-AF65-F5344CB8AC3E}">
        <p14:creationId xmlns:p14="http://schemas.microsoft.com/office/powerpoint/2010/main" val="3149272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a:t>
            </a:fld>
            <a:endParaRPr lang="en-US" altLang="zh-CN">
              <a:solidFill>
                <a:srgbClr val="FFFFFF"/>
              </a:solidFill>
            </a:endParaRPr>
          </a:p>
        </p:txBody>
      </p:sp>
      <p:sp>
        <p:nvSpPr>
          <p:cNvPr id="5" name="文本框 4"/>
          <p:cNvSpPr txBox="1"/>
          <p:nvPr/>
        </p:nvSpPr>
        <p:spPr>
          <a:xfrm>
            <a:off x="399143" y="362307"/>
            <a:ext cx="11321142" cy="2077492"/>
          </a:xfrm>
          <a:prstGeom prst="rect">
            <a:avLst/>
          </a:prstGeom>
          <a:noFill/>
        </p:spPr>
        <p:txBody>
          <a:bodyPr wrap="square" rtlCol="0">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仪器仪表类竞赛题的特点</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50000"/>
              </a:lnSpc>
              <a:spcAft>
                <a:spcPts val="0"/>
              </a:spcAft>
            </a:pPr>
            <a:r>
              <a:rPr lang="zh-CN" altLang="zh-CN" sz="1800" kern="100" dirty="0">
                <a:latin typeface="+mn-ea"/>
                <a:ea typeface="+mn-ea"/>
              </a:rPr>
              <a:t>一</a:t>
            </a:r>
            <a:r>
              <a:rPr lang="zh-CN" altLang="zh-CN" sz="1800" kern="100" dirty="0" smtClean="0">
                <a:latin typeface="+mn-ea"/>
                <a:ea typeface="+mn-ea"/>
              </a:rPr>
              <a:t>、</a:t>
            </a:r>
            <a:r>
              <a:rPr lang="zh-CN" altLang="en-US" sz="1800" kern="100" dirty="0" smtClean="0">
                <a:latin typeface="+mn-ea"/>
                <a:ea typeface="+mn-ea"/>
              </a:rPr>
              <a:t>包含的知识点比较广泛</a:t>
            </a:r>
            <a:endParaRPr lang="en-US" altLang="zh-CN" sz="1800" kern="100" dirty="0" smtClean="0">
              <a:latin typeface="+mn-ea"/>
              <a:ea typeface="+mn-ea"/>
            </a:endParaRPr>
          </a:p>
          <a:p>
            <a:pPr algn="just">
              <a:lnSpc>
                <a:spcPct val="150000"/>
              </a:lnSpc>
              <a:spcAft>
                <a:spcPts val="0"/>
              </a:spcAft>
            </a:pPr>
            <a:r>
              <a:rPr lang="zh-CN" altLang="en-US" sz="1800" kern="100" dirty="0" smtClean="0">
                <a:latin typeface="+mn-ea"/>
                <a:ea typeface="+mn-ea"/>
              </a:rPr>
              <a:t>二、可能涉及高频信号或者微弱信号</a:t>
            </a:r>
            <a:r>
              <a:rPr lang="zh-CN" altLang="en-US" sz="1800" kern="100" dirty="0">
                <a:latin typeface="+mn-ea"/>
                <a:ea typeface="+mn-ea"/>
              </a:rPr>
              <a:t>的</a:t>
            </a:r>
            <a:r>
              <a:rPr lang="zh-CN" altLang="en-US" sz="1800" kern="100" dirty="0" smtClean="0">
                <a:latin typeface="+mn-ea"/>
                <a:ea typeface="+mn-ea"/>
              </a:rPr>
              <a:t>测量</a:t>
            </a:r>
            <a:endParaRPr lang="en-US" altLang="zh-CN" sz="1800" kern="100" dirty="0">
              <a:latin typeface="+mn-ea"/>
              <a:ea typeface="+mn-ea"/>
            </a:endParaRPr>
          </a:p>
          <a:p>
            <a:pPr algn="just">
              <a:lnSpc>
                <a:spcPct val="150000"/>
              </a:lnSpc>
              <a:spcAft>
                <a:spcPts val="0"/>
              </a:spcAft>
            </a:pPr>
            <a:r>
              <a:rPr lang="zh-CN" altLang="en-US" sz="1800" kern="100" dirty="0">
                <a:latin typeface="+mn-ea"/>
              </a:rPr>
              <a:t>三</a:t>
            </a:r>
            <a:r>
              <a:rPr lang="zh-CN" altLang="en-US" sz="1800" kern="100" dirty="0" smtClean="0">
                <a:latin typeface="+mn-ea"/>
              </a:rPr>
              <a:t>、</a:t>
            </a:r>
            <a:r>
              <a:rPr lang="zh-CN" altLang="en-US" sz="1800" kern="100" dirty="0">
                <a:latin typeface="+mn-ea"/>
              </a:rPr>
              <a:t>对于测量结果通常有准确度的要求</a:t>
            </a:r>
            <a:endParaRPr lang="en-US" altLang="zh-CN" sz="1800" kern="100" dirty="0" smtClean="0">
              <a:latin typeface="+mn-ea"/>
              <a:ea typeface="+mn-ea"/>
            </a:endParaRPr>
          </a:p>
        </p:txBody>
      </p:sp>
    </p:spTree>
    <p:extLst>
      <p:ext uri="{BB962C8B-B14F-4D97-AF65-F5344CB8AC3E}">
        <p14:creationId xmlns:p14="http://schemas.microsoft.com/office/powerpoint/2010/main" val="3992337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sp>
        <p:nvSpPr>
          <p:cNvPr id="2" name="文本框 1"/>
          <p:cNvSpPr txBox="1"/>
          <p:nvPr/>
        </p:nvSpPr>
        <p:spPr>
          <a:xfrm>
            <a:off x="500443" y="501501"/>
            <a:ext cx="11321142" cy="5632311"/>
          </a:xfrm>
          <a:prstGeom prst="rect">
            <a:avLst/>
          </a:prstGeom>
          <a:noFill/>
        </p:spPr>
        <p:txBody>
          <a:bodyPr wrap="square" rtlCol="0">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频谱分析仪类</a:t>
            </a:r>
            <a:r>
              <a:rPr lang="zh-CN" altLang="en-US" sz="3200" dirty="0" smtClean="0">
                <a:solidFill>
                  <a:srgbClr val="FF0000"/>
                </a:solidFill>
                <a:latin typeface="隶书" panose="02010509060101010101" pitchFamily="49" charset="-122"/>
                <a:ea typeface="隶书" panose="02010509060101010101" pitchFamily="49" charset="-122"/>
              </a:rPr>
              <a:t>题目</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50000"/>
              </a:lnSpc>
              <a:spcAft>
                <a:spcPts val="0"/>
              </a:spcAft>
            </a:pPr>
            <a:r>
              <a:rPr lang="zh-CN" altLang="en-US" sz="1800" kern="100" dirty="0" smtClean="0">
                <a:latin typeface="+mj-ea"/>
                <a:ea typeface="+mj-ea"/>
              </a:rPr>
              <a:t>频谱分析仪的</a:t>
            </a:r>
            <a:r>
              <a:rPr lang="zh-CN" altLang="en-US" sz="1800" dirty="0" smtClean="0">
                <a:latin typeface="+mj-ea"/>
                <a:ea typeface="+mj-ea"/>
              </a:rPr>
              <a:t>两种主流设计方案</a:t>
            </a:r>
            <a:endParaRPr lang="en-US" altLang="zh-CN" sz="1800" dirty="0" smtClean="0">
              <a:latin typeface="+mj-ea"/>
              <a:ea typeface="+mj-ea"/>
            </a:endParaRPr>
          </a:p>
          <a:p>
            <a:pPr indent="432000">
              <a:lnSpc>
                <a:spcPct val="150000"/>
              </a:lnSpc>
            </a:pPr>
            <a:r>
              <a:rPr lang="en-US" altLang="zh-CN" sz="1800" dirty="0" smtClean="0"/>
              <a:t>1</a:t>
            </a:r>
            <a:r>
              <a:rPr lang="zh-CN" altLang="en-US" sz="1800" dirty="0" smtClean="0"/>
              <a:t>、超外差接收机方案（扫描调谐式频谱分析仪）</a:t>
            </a:r>
            <a:endParaRPr lang="en-US" altLang="zh-CN" sz="1800" dirty="0" smtClean="0"/>
          </a:p>
          <a:p>
            <a:pPr indent="432000">
              <a:lnSpc>
                <a:spcPct val="150000"/>
              </a:lnSpc>
            </a:pPr>
            <a:endParaRPr lang="en-US" altLang="zh-CN" sz="1800" dirty="0"/>
          </a:p>
          <a:p>
            <a:pPr indent="432000">
              <a:lnSpc>
                <a:spcPct val="150000"/>
              </a:lnSpc>
            </a:pPr>
            <a:endParaRPr lang="en-US" altLang="zh-CN" sz="1800" dirty="0" smtClean="0"/>
          </a:p>
          <a:p>
            <a:pPr indent="432000">
              <a:lnSpc>
                <a:spcPct val="150000"/>
              </a:lnSpc>
            </a:pPr>
            <a:endParaRPr lang="en-US" altLang="zh-CN" sz="1800" dirty="0"/>
          </a:p>
          <a:p>
            <a:pPr indent="432000">
              <a:lnSpc>
                <a:spcPct val="150000"/>
              </a:lnSpc>
            </a:pPr>
            <a:endParaRPr lang="en-US" altLang="zh-CN" sz="2800" dirty="0" smtClean="0"/>
          </a:p>
          <a:p>
            <a:pPr lvl="1" indent="432000">
              <a:lnSpc>
                <a:spcPct val="150000"/>
              </a:lnSpc>
            </a:pPr>
            <a:r>
              <a:rPr lang="zh-CN" altLang="en-US" sz="1800" dirty="0"/>
              <a:t>不需要高速</a:t>
            </a:r>
            <a:r>
              <a:rPr lang="en-US" altLang="zh-CN" sz="1800" dirty="0" smtClean="0"/>
              <a:t>ADC</a:t>
            </a:r>
            <a:r>
              <a:rPr lang="zh-CN" altLang="en-US" sz="1800" dirty="0" smtClean="0"/>
              <a:t>，分辨率较好。硬件复杂，需要克服镜像频率干扰</a:t>
            </a:r>
            <a:endParaRPr lang="en-US" altLang="zh-CN" sz="1800" dirty="0" smtClean="0"/>
          </a:p>
          <a:p>
            <a:pPr indent="432000">
              <a:lnSpc>
                <a:spcPct val="150000"/>
              </a:lnSpc>
            </a:pPr>
            <a:r>
              <a:rPr lang="en-US" altLang="zh-CN" sz="1800" dirty="0" smtClean="0"/>
              <a:t>2</a:t>
            </a:r>
            <a:r>
              <a:rPr lang="zh-CN" altLang="en-US" sz="1800" dirty="0" smtClean="0"/>
              <a:t>、</a:t>
            </a:r>
            <a:r>
              <a:rPr lang="en-US" altLang="zh-CN" sz="1800" dirty="0" smtClean="0"/>
              <a:t>FFT</a:t>
            </a:r>
            <a:r>
              <a:rPr lang="zh-CN" altLang="en-US" sz="1800" dirty="0" smtClean="0"/>
              <a:t>方案</a:t>
            </a:r>
            <a:endParaRPr lang="en-US" altLang="zh-CN" sz="1800" dirty="0" smtClean="0"/>
          </a:p>
          <a:p>
            <a:pPr indent="432000">
              <a:lnSpc>
                <a:spcPct val="150000"/>
              </a:lnSpc>
            </a:pPr>
            <a:endParaRPr lang="en-US" altLang="zh-CN" sz="1800" dirty="0"/>
          </a:p>
          <a:p>
            <a:pPr indent="432000">
              <a:lnSpc>
                <a:spcPct val="150000"/>
              </a:lnSpc>
            </a:pPr>
            <a:endParaRPr lang="en-US" altLang="zh-CN" sz="1800" dirty="0" smtClean="0"/>
          </a:p>
          <a:p>
            <a:pPr indent="432000">
              <a:lnSpc>
                <a:spcPct val="150000"/>
              </a:lnSpc>
            </a:pPr>
            <a:r>
              <a:rPr lang="en-US" altLang="zh-CN" sz="1800" dirty="0"/>
              <a:t>	</a:t>
            </a:r>
            <a:r>
              <a:rPr lang="zh-CN" altLang="en-US" sz="1800" dirty="0" smtClean="0"/>
              <a:t>硬件简单。需要高速</a:t>
            </a:r>
            <a:r>
              <a:rPr lang="en-US" altLang="zh-CN" sz="1800" dirty="0" smtClean="0"/>
              <a:t>ADC</a:t>
            </a:r>
            <a:r>
              <a:rPr lang="zh-CN" altLang="en-US" sz="1800" dirty="0" smtClean="0"/>
              <a:t>，需要选择合适的算法以避免数据截断产生的假谱线</a:t>
            </a:r>
            <a:endParaRPr lang="zh-CN" altLang="zh-CN" sz="1800" dirty="0"/>
          </a:p>
        </p:txBody>
      </p:sp>
      <p:sp>
        <p:nvSpPr>
          <p:cNvPr id="4" name="矩形 3"/>
          <p:cNvSpPr/>
          <p:nvPr/>
        </p:nvSpPr>
        <p:spPr>
          <a:xfrm>
            <a:off x="1378858" y="2293257"/>
            <a:ext cx="1357085"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前置放大</a:t>
            </a:r>
            <a:endParaRPr lang="zh-CN" altLang="en-US" dirty="0"/>
          </a:p>
        </p:txBody>
      </p:sp>
      <p:sp>
        <p:nvSpPr>
          <p:cNvPr id="7" name="矩形 6"/>
          <p:cNvSpPr/>
          <p:nvPr/>
        </p:nvSpPr>
        <p:spPr>
          <a:xfrm>
            <a:off x="3026229" y="2293257"/>
            <a:ext cx="1357085"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混频</a:t>
            </a:r>
            <a:endParaRPr lang="zh-CN" altLang="en-US" dirty="0"/>
          </a:p>
        </p:txBody>
      </p:sp>
      <p:sp>
        <p:nvSpPr>
          <p:cNvPr id="8" name="矩形 7"/>
          <p:cNvSpPr/>
          <p:nvPr/>
        </p:nvSpPr>
        <p:spPr>
          <a:xfrm>
            <a:off x="3026228" y="3206623"/>
            <a:ext cx="1357085"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扫频本振</a:t>
            </a:r>
            <a:endParaRPr lang="zh-CN" altLang="en-US" dirty="0"/>
          </a:p>
        </p:txBody>
      </p:sp>
      <p:sp>
        <p:nvSpPr>
          <p:cNvPr id="9" name="矩形 8"/>
          <p:cNvSpPr/>
          <p:nvPr/>
        </p:nvSpPr>
        <p:spPr>
          <a:xfrm>
            <a:off x="4673600" y="2293257"/>
            <a:ext cx="1357085"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窄带中放</a:t>
            </a:r>
            <a:endParaRPr lang="zh-CN" altLang="en-US" dirty="0"/>
          </a:p>
        </p:txBody>
      </p:sp>
      <p:sp>
        <p:nvSpPr>
          <p:cNvPr id="10" name="矩形 9"/>
          <p:cNvSpPr/>
          <p:nvPr/>
        </p:nvSpPr>
        <p:spPr>
          <a:xfrm>
            <a:off x="6335485" y="2293257"/>
            <a:ext cx="950687"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检波</a:t>
            </a:r>
            <a:endParaRPr lang="zh-CN" altLang="en-US" dirty="0"/>
          </a:p>
        </p:txBody>
      </p:sp>
      <p:sp>
        <p:nvSpPr>
          <p:cNvPr id="11" name="矩形 10"/>
          <p:cNvSpPr/>
          <p:nvPr/>
        </p:nvSpPr>
        <p:spPr>
          <a:xfrm>
            <a:off x="7590972" y="2293257"/>
            <a:ext cx="856343"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A/D</a:t>
            </a:r>
            <a:endParaRPr lang="zh-CN" altLang="en-US" dirty="0"/>
          </a:p>
        </p:txBody>
      </p:sp>
      <p:sp>
        <p:nvSpPr>
          <p:cNvPr id="12" name="矩形 11"/>
          <p:cNvSpPr/>
          <p:nvPr/>
        </p:nvSpPr>
        <p:spPr>
          <a:xfrm>
            <a:off x="8737600" y="2293257"/>
            <a:ext cx="2191658"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数据处理与显示</a:t>
            </a:r>
            <a:endParaRPr lang="zh-CN" altLang="en-US" dirty="0"/>
          </a:p>
        </p:txBody>
      </p:sp>
      <p:cxnSp>
        <p:nvCxnSpPr>
          <p:cNvPr id="13" name="直接箭头连接符 12"/>
          <p:cNvCxnSpPr>
            <a:stCxn id="4" idx="3"/>
            <a:endCxn id="7" idx="1"/>
          </p:cNvCxnSpPr>
          <p:nvPr/>
        </p:nvCxnSpPr>
        <p:spPr>
          <a:xfrm>
            <a:off x="2735943" y="2590800"/>
            <a:ext cx="2902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p:cNvCxnSpPr/>
          <p:nvPr/>
        </p:nvCxnSpPr>
        <p:spPr>
          <a:xfrm>
            <a:off x="4383314" y="2590800"/>
            <a:ext cx="2902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p:cNvCxnSpPr/>
          <p:nvPr/>
        </p:nvCxnSpPr>
        <p:spPr>
          <a:xfrm>
            <a:off x="8447314" y="2569028"/>
            <a:ext cx="2902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p:cNvCxnSpPr/>
          <p:nvPr/>
        </p:nvCxnSpPr>
        <p:spPr>
          <a:xfrm>
            <a:off x="6045199" y="2590800"/>
            <a:ext cx="2902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a:xfrm>
            <a:off x="7286172" y="2605314"/>
            <a:ext cx="2902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接箭头连接符 18"/>
          <p:cNvCxnSpPr>
            <a:stCxn id="8" idx="0"/>
            <a:endCxn id="7" idx="2"/>
          </p:cNvCxnSpPr>
          <p:nvPr/>
        </p:nvCxnSpPr>
        <p:spPr>
          <a:xfrm flipV="1">
            <a:off x="3704771" y="2888343"/>
            <a:ext cx="1" cy="3182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矩形 24"/>
          <p:cNvSpPr/>
          <p:nvPr/>
        </p:nvSpPr>
        <p:spPr>
          <a:xfrm>
            <a:off x="3106056" y="4846132"/>
            <a:ext cx="1357085"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前置放大</a:t>
            </a:r>
            <a:endParaRPr lang="zh-CN" altLang="en-US" dirty="0"/>
          </a:p>
        </p:txBody>
      </p:sp>
      <p:sp>
        <p:nvSpPr>
          <p:cNvPr id="30" name="矩形 29"/>
          <p:cNvSpPr/>
          <p:nvPr/>
        </p:nvSpPr>
        <p:spPr>
          <a:xfrm>
            <a:off x="4753427" y="4844492"/>
            <a:ext cx="856343"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A/D</a:t>
            </a:r>
            <a:endParaRPr lang="zh-CN" altLang="en-US" dirty="0"/>
          </a:p>
        </p:txBody>
      </p:sp>
      <p:sp>
        <p:nvSpPr>
          <p:cNvPr id="31" name="矩形 30"/>
          <p:cNvSpPr/>
          <p:nvPr/>
        </p:nvSpPr>
        <p:spPr>
          <a:xfrm>
            <a:off x="5900056" y="4844492"/>
            <a:ext cx="2191658"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数据处理与显示</a:t>
            </a:r>
            <a:endParaRPr lang="zh-CN" altLang="en-US" dirty="0"/>
          </a:p>
        </p:txBody>
      </p:sp>
      <p:cxnSp>
        <p:nvCxnSpPr>
          <p:cNvPr id="33" name="直接箭头连接符 32"/>
          <p:cNvCxnSpPr/>
          <p:nvPr/>
        </p:nvCxnSpPr>
        <p:spPr>
          <a:xfrm>
            <a:off x="4463142" y="5143675"/>
            <a:ext cx="2902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p:nvPr/>
        </p:nvCxnSpPr>
        <p:spPr>
          <a:xfrm>
            <a:off x="5609770" y="5142035"/>
            <a:ext cx="2902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6" name="文本框 5"/>
          <p:cNvSpPr txBox="1"/>
          <p:nvPr/>
        </p:nvSpPr>
        <p:spPr>
          <a:xfrm>
            <a:off x="449942" y="376134"/>
            <a:ext cx="11190514" cy="1585049"/>
          </a:xfrm>
          <a:prstGeom prst="rect">
            <a:avLst/>
          </a:prstGeom>
          <a:noFill/>
        </p:spPr>
        <p:txBody>
          <a:bodyPr wrap="square" rtlCol="0">
            <a:spAutoFit/>
          </a:bodyPr>
          <a:lstStyle/>
          <a:p>
            <a:pPr algn="ctr">
              <a:lnSpc>
                <a:spcPct val="150000"/>
              </a:lnSpc>
              <a:spcAft>
                <a:spcPts val="1200"/>
              </a:spcAft>
            </a:pPr>
            <a:r>
              <a:rPr lang="en-US" altLang="zh-CN" sz="2400" dirty="0" smtClean="0">
                <a:solidFill>
                  <a:schemeClr val="accent6">
                    <a:lumMod val="75000"/>
                  </a:schemeClr>
                </a:solidFill>
              </a:rPr>
              <a:t>2015</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年</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全国赛</a:t>
            </a:r>
            <a:r>
              <a:rPr lang="en-US" altLang="zh-CN" sz="2400" dirty="0" smtClean="0">
                <a:solidFill>
                  <a:schemeClr val="accent6">
                    <a:lumMod val="75000"/>
                  </a:schemeClr>
                </a:solidFill>
              </a:rPr>
              <a:t>E</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题</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en-US" altLang="zh-CN" sz="2400" dirty="0" smtClean="0">
                <a:solidFill>
                  <a:schemeClr val="accent6">
                    <a:lumMod val="75000"/>
                  </a:schemeClr>
                </a:solidFill>
              </a:rPr>
              <a:t>80MHz~100MHz</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频谱分析仪</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1800" dirty="0" smtClean="0">
                <a:solidFill>
                  <a:srgbClr val="0070C0"/>
                </a:solidFill>
              </a:rPr>
              <a:t> </a:t>
            </a:r>
            <a:endParaRPr lang="zh-CN" altLang="zh-CN" sz="2800" dirty="0">
              <a:solidFill>
                <a:srgbClr val="0070C0"/>
              </a:solidFill>
              <a:latin typeface="隶书" panose="02010509060101010101" pitchFamily="49" charset="-122"/>
              <a:ea typeface="隶书" panose="02010509060101010101" pitchFamily="49" charset="-122"/>
            </a:endParaRPr>
          </a:p>
          <a:p>
            <a:pPr>
              <a:lnSpc>
                <a:spcPct val="150000"/>
              </a:lnSpc>
            </a:pPr>
            <a:r>
              <a:rPr lang="zh-CN" altLang="zh-CN" sz="1800" dirty="0">
                <a:latin typeface="黑体" panose="02010609060101010101" pitchFamily="49" charset="-122"/>
                <a:ea typeface="黑体" panose="02010609060101010101" pitchFamily="49" charset="-122"/>
              </a:rPr>
              <a:t>一、任务</a:t>
            </a:r>
          </a:p>
          <a:p>
            <a:pPr lvl="1"/>
            <a:r>
              <a:rPr lang="zh-CN" altLang="en-US" sz="1800" dirty="0" smtClean="0"/>
              <a:t>设计</a:t>
            </a:r>
            <a:r>
              <a:rPr lang="zh-CN" altLang="en-US" sz="1800" dirty="0"/>
              <a:t>制作一个简易频谱仪。频谱仪的本振源用锁相环制作。频谱仪的基本结构图如图所示</a:t>
            </a:r>
            <a:r>
              <a:rPr lang="zh-CN" altLang="en-US" sz="1800" dirty="0" smtClean="0"/>
              <a:t>。</a:t>
            </a:r>
            <a:endParaRPr lang="zh-CN" altLang="en-US" sz="1800" dirty="0"/>
          </a:p>
        </p:txBody>
      </p:sp>
      <p:pic>
        <p:nvPicPr>
          <p:cNvPr id="7" name="图片 6"/>
          <p:cNvPicPr>
            <a:picLocks noChangeAspect="1"/>
          </p:cNvPicPr>
          <p:nvPr/>
        </p:nvPicPr>
        <p:blipFill>
          <a:blip r:embed="rId2"/>
          <a:stretch>
            <a:fillRect/>
          </a:stretch>
        </p:blipFill>
        <p:spPr>
          <a:xfrm>
            <a:off x="3312626" y="2194934"/>
            <a:ext cx="4947218" cy="2377066"/>
          </a:xfrm>
          <a:prstGeom prst="rect">
            <a:avLst/>
          </a:prstGeom>
        </p:spPr>
      </p:pic>
    </p:spTree>
    <p:extLst>
      <p:ext uri="{BB962C8B-B14F-4D97-AF65-F5344CB8AC3E}">
        <p14:creationId xmlns:p14="http://schemas.microsoft.com/office/powerpoint/2010/main" val="21490310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6</a:t>
            </a:fld>
            <a:endParaRPr lang="en-US" altLang="zh-CN"/>
          </a:p>
        </p:txBody>
      </p:sp>
      <p:sp>
        <p:nvSpPr>
          <p:cNvPr id="2" name="矩形 1"/>
          <p:cNvSpPr/>
          <p:nvPr/>
        </p:nvSpPr>
        <p:spPr>
          <a:xfrm>
            <a:off x="544285" y="497577"/>
            <a:ext cx="11197772" cy="5747727"/>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二、要求</a:t>
            </a:r>
            <a:endParaRPr lang="zh-CN" altLang="zh-CN" kern="100" dirty="0">
              <a:latin typeface="Times New Roman" panose="02020603050405020304" pitchFamily="18" charset="0"/>
              <a:ea typeface="宋体" panose="02010600030101010101" pitchFamily="2" charset="-122"/>
            </a:endParaRPr>
          </a:p>
          <a:p>
            <a:pPr>
              <a:lnSpc>
                <a:spcPct val="125000"/>
              </a:lnSpc>
            </a:pPr>
            <a:r>
              <a:rPr lang="en-US" altLang="zh-CN" sz="1800" dirty="0"/>
              <a:t>1</a:t>
            </a:r>
            <a:r>
              <a:rPr lang="zh-CN" altLang="en-US" sz="1800" dirty="0" smtClean="0"/>
              <a:t>、</a:t>
            </a:r>
            <a:r>
              <a:rPr lang="zh-CN" altLang="en-US" sz="1800" dirty="0"/>
              <a:t>基本</a:t>
            </a:r>
            <a:r>
              <a:rPr lang="zh-CN" altLang="en-US" sz="1800" dirty="0" smtClean="0"/>
              <a:t>要求，制作</a:t>
            </a:r>
            <a:r>
              <a:rPr lang="zh-CN" altLang="en-US" sz="1800" dirty="0"/>
              <a:t>一个基于锁相环的</a:t>
            </a:r>
            <a:r>
              <a:rPr lang="zh-CN" altLang="en-US" sz="1800" dirty="0">
                <a:solidFill>
                  <a:srgbClr val="FF0000"/>
                </a:solidFill>
              </a:rPr>
              <a:t>本振源</a:t>
            </a:r>
            <a:r>
              <a:rPr lang="zh-CN" altLang="en-US" sz="1800" dirty="0"/>
              <a:t>：</a:t>
            </a:r>
          </a:p>
          <a:p>
            <a:pPr>
              <a:lnSpc>
                <a:spcPct val="125000"/>
              </a:lnSpc>
            </a:pPr>
            <a:r>
              <a:rPr lang="zh-CN" altLang="en-US" sz="1800" dirty="0"/>
              <a:t>（</a:t>
            </a:r>
            <a:r>
              <a:rPr lang="en-US" altLang="zh-CN" sz="1800" dirty="0"/>
              <a:t>1</a:t>
            </a:r>
            <a:r>
              <a:rPr lang="zh-CN" altLang="en-US" sz="1800" dirty="0"/>
              <a:t>）频率范围</a:t>
            </a:r>
            <a:r>
              <a:rPr lang="en-US" altLang="zh-CN" sz="1800" dirty="0"/>
              <a:t>90MHz~110MHz</a:t>
            </a:r>
            <a:r>
              <a:rPr lang="zh-CN" altLang="en-US" sz="1800" dirty="0"/>
              <a:t>；</a:t>
            </a:r>
          </a:p>
          <a:p>
            <a:pPr>
              <a:lnSpc>
                <a:spcPct val="125000"/>
              </a:lnSpc>
            </a:pPr>
            <a:r>
              <a:rPr lang="zh-CN" altLang="en-US" sz="1800" dirty="0"/>
              <a:t>（</a:t>
            </a:r>
            <a:r>
              <a:rPr lang="en-US" altLang="zh-CN" sz="1800" dirty="0"/>
              <a:t>2</a:t>
            </a:r>
            <a:r>
              <a:rPr lang="zh-CN" altLang="en-US" sz="1800" dirty="0"/>
              <a:t>）频率步进</a:t>
            </a:r>
            <a:r>
              <a:rPr lang="en-US" altLang="zh-CN" sz="1800" dirty="0"/>
              <a:t>100kHz</a:t>
            </a:r>
            <a:r>
              <a:rPr lang="zh-CN" altLang="en-US" sz="1800" dirty="0"/>
              <a:t>；</a:t>
            </a:r>
          </a:p>
          <a:p>
            <a:pPr>
              <a:lnSpc>
                <a:spcPct val="125000"/>
              </a:lnSpc>
            </a:pPr>
            <a:r>
              <a:rPr lang="zh-CN" altLang="en-US" sz="1800" dirty="0"/>
              <a:t>（</a:t>
            </a:r>
            <a:r>
              <a:rPr lang="en-US" altLang="zh-CN" sz="1800" dirty="0"/>
              <a:t>3</a:t>
            </a:r>
            <a:r>
              <a:rPr lang="zh-CN" altLang="en-US" sz="1800" dirty="0"/>
              <a:t>）输出电压幅度</a:t>
            </a:r>
            <a:r>
              <a:rPr lang="en-US" altLang="zh-CN" sz="1800" dirty="0"/>
              <a:t>10~100mV</a:t>
            </a:r>
            <a:r>
              <a:rPr lang="zh-CN" altLang="en-US" sz="1800" dirty="0"/>
              <a:t>，可调；</a:t>
            </a:r>
          </a:p>
          <a:p>
            <a:pPr>
              <a:lnSpc>
                <a:spcPct val="125000"/>
              </a:lnSpc>
            </a:pPr>
            <a:r>
              <a:rPr lang="zh-CN" altLang="en-US" sz="1800" dirty="0"/>
              <a:t>（</a:t>
            </a:r>
            <a:r>
              <a:rPr lang="en-US" altLang="zh-CN" sz="1800" dirty="0"/>
              <a:t>4</a:t>
            </a:r>
            <a:r>
              <a:rPr lang="zh-CN" altLang="en-US" sz="1800" dirty="0"/>
              <a:t>）在整个频率范围内可自动扫描；扫描时间在</a:t>
            </a:r>
            <a:r>
              <a:rPr lang="en-US" altLang="zh-CN" sz="1800" dirty="0"/>
              <a:t>1~5s</a:t>
            </a:r>
            <a:r>
              <a:rPr lang="zh-CN" altLang="en-US" sz="1800" dirty="0"/>
              <a:t>之间可调；可手动扫描；还可预置在某一特定频率；</a:t>
            </a:r>
          </a:p>
          <a:p>
            <a:pPr>
              <a:lnSpc>
                <a:spcPct val="125000"/>
              </a:lnSpc>
            </a:pPr>
            <a:r>
              <a:rPr lang="zh-CN" altLang="en-US" sz="1800" dirty="0"/>
              <a:t>（</a:t>
            </a:r>
            <a:r>
              <a:rPr lang="en-US" altLang="zh-CN" sz="1800" dirty="0"/>
              <a:t>5</a:t>
            </a:r>
            <a:r>
              <a:rPr lang="zh-CN" altLang="en-US" sz="1800" dirty="0"/>
              <a:t>）显示频率；</a:t>
            </a:r>
          </a:p>
          <a:p>
            <a:pPr>
              <a:lnSpc>
                <a:spcPct val="125000"/>
              </a:lnSpc>
            </a:pPr>
            <a:r>
              <a:rPr lang="zh-CN" altLang="en-US" sz="1800" dirty="0"/>
              <a:t>（</a:t>
            </a:r>
            <a:r>
              <a:rPr lang="en-US" altLang="zh-CN" sz="1800" dirty="0"/>
              <a:t>6</a:t>
            </a:r>
            <a:r>
              <a:rPr lang="zh-CN" altLang="en-US" sz="1800" dirty="0"/>
              <a:t>）制作一个附加电路，用于观测整个锁定过程；</a:t>
            </a:r>
          </a:p>
          <a:p>
            <a:pPr>
              <a:lnSpc>
                <a:spcPct val="125000"/>
              </a:lnSpc>
            </a:pPr>
            <a:r>
              <a:rPr lang="zh-CN" altLang="en-US" sz="1800" dirty="0"/>
              <a:t>（</a:t>
            </a:r>
            <a:r>
              <a:rPr lang="en-US" altLang="zh-CN" sz="1800" dirty="0"/>
              <a:t>7</a:t>
            </a:r>
            <a:r>
              <a:rPr lang="zh-CN" altLang="en-US" sz="1800" dirty="0"/>
              <a:t>）锁定时间小于</a:t>
            </a:r>
            <a:r>
              <a:rPr lang="en-US" altLang="zh-CN" sz="1800" dirty="0"/>
              <a:t>1ms</a:t>
            </a:r>
            <a:r>
              <a:rPr lang="zh-CN" altLang="en-US" sz="1800" dirty="0"/>
              <a:t>。</a:t>
            </a:r>
          </a:p>
          <a:p>
            <a:pPr>
              <a:lnSpc>
                <a:spcPct val="125000"/>
              </a:lnSpc>
            </a:pPr>
            <a:endParaRPr lang="en-US" altLang="zh-CN" sz="1100" dirty="0" smtClean="0"/>
          </a:p>
          <a:p>
            <a:pPr>
              <a:lnSpc>
                <a:spcPct val="125000"/>
              </a:lnSpc>
            </a:pPr>
            <a:r>
              <a:rPr lang="en-US" altLang="zh-CN" sz="1800" dirty="0" smtClean="0"/>
              <a:t>2</a:t>
            </a:r>
            <a:r>
              <a:rPr lang="zh-CN" altLang="en-US" sz="1800" dirty="0"/>
              <a:t>、发挥</a:t>
            </a:r>
            <a:r>
              <a:rPr lang="zh-CN" altLang="en-US" sz="1800" dirty="0" smtClean="0"/>
              <a:t>部分</a:t>
            </a:r>
            <a:r>
              <a:rPr lang="zh-CN" altLang="en-US" sz="1800" dirty="0"/>
              <a:t>，</a:t>
            </a:r>
            <a:r>
              <a:rPr lang="zh-CN" altLang="en-US" sz="1800" dirty="0" smtClean="0"/>
              <a:t>制作</a:t>
            </a:r>
            <a:r>
              <a:rPr lang="zh-CN" altLang="en-US" sz="1800" dirty="0"/>
              <a:t>一个</a:t>
            </a:r>
            <a:r>
              <a:rPr lang="en-US" altLang="zh-CN" sz="1800" dirty="0"/>
              <a:t>80MHz~100MHz </a:t>
            </a:r>
            <a:r>
              <a:rPr lang="zh-CN" altLang="en-US" sz="1800" dirty="0">
                <a:solidFill>
                  <a:srgbClr val="FF0000"/>
                </a:solidFill>
              </a:rPr>
              <a:t>频谱分析仪</a:t>
            </a:r>
            <a:r>
              <a:rPr lang="zh-CN" altLang="en-US" sz="1800" dirty="0"/>
              <a:t>：</a:t>
            </a:r>
          </a:p>
          <a:p>
            <a:pPr>
              <a:lnSpc>
                <a:spcPct val="125000"/>
              </a:lnSpc>
            </a:pPr>
            <a:r>
              <a:rPr lang="zh-CN" altLang="en-US" sz="1800" dirty="0"/>
              <a:t>（</a:t>
            </a:r>
            <a:r>
              <a:rPr lang="en-US" altLang="zh-CN" sz="1800" dirty="0"/>
              <a:t>1</a:t>
            </a:r>
            <a:r>
              <a:rPr lang="zh-CN" altLang="en-US" sz="1800" dirty="0"/>
              <a:t>）</a:t>
            </a:r>
            <a:r>
              <a:rPr lang="zh-CN" altLang="en-US" sz="1800" dirty="0">
                <a:solidFill>
                  <a:srgbClr val="FF0000"/>
                </a:solidFill>
              </a:rPr>
              <a:t>频率范围</a:t>
            </a:r>
            <a:r>
              <a:rPr lang="en-US" altLang="zh-CN" sz="1800" dirty="0"/>
              <a:t>80MHz~100MHz</a:t>
            </a:r>
            <a:r>
              <a:rPr lang="zh-CN" altLang="en-US" sz="1800" dirty="0"/>
              <a:t>；</a:t>
            </a:r>
          </a:p>
          <a:p>
            <a:pPr>
              <a:lnSpc>
                <a:spcPct val="125000"/>
              </a:lnSpc>
            </a:pPr>
            <a:r>
              <a:rPr lang="zh-CN" altLang="en-US" sz="1800" dirty="0"/>
              <a:t>（</a:t>
            </a:r>
            <a:r>
              <a:rPr lang="en-US" altLang="zh-CN" sz="1800" dirty="0"/>
              <a:t>2</a:t>
            </a:r>
            <a:r>
              <a:rPr lang="zh-CN" altLang="en-US" sz="1800" dirty="0"/>
              <a:t>）</a:t>
            </a:r>
            <a:r>
              <a:rPr lang="zh-CN" altLang="en-US" sz="1800" dirty="0">
                <a:solidFill>
                  <a:srgbClr val="FF0000"/>
                </a:solidFill>
              </a:rPr>
              <a:t>分辨率</a:t>
            </a:r>
            <a:r>
              <a:rPr lang="en-US" altLang="zh-CN" sz="1800" dirty="0"/>
              <a:t>100kHz</a:t>
            </a:r>
            <a:r>
              <a:rPr lang="zh-CN" altLang="en-US" sz="1800" dirty="0"/>
              <a:t>；</a:t>
            </a:r>
          </a:p>
          <a:p>
            <a:pPr>
              <a:lnSpc>
                <a:spcPct val="125000"/>
              </a:lnSpc>
            </a:pPr>
            <a:r>
              <a:rPr lang="zh-CN" altLang="en-US" sz="1800" dirty="0"/>
              <a:t>（</a:t>
            </a:r>
            <a:r>
              <a:rPr lang="en-US" altLang="zh-CN" sz="1800" dirty="0"/>
              <a:t>3</a:t>
            </a:r>
            <a:r>
              <a:rPr lang="zh-CN" altLang="en-US" sz="1800" dirty="0"/>
              <a:t>）可在频段内扫描并能显示信号频谱和对应幅度最大的信号频率；</a:t>
            </a:r>
          </a:p>
          <a:p>
            <a:pPr>
              <a:lnSpc>
                <a:spcPct val="125000"/>
              </a:lnSpc>
            </a:pPr>
            <a:r>
              <a:rPr lang="zh-CN" altLang="en-US" sz="1800" dirty="0"/>
              <a:t>（</a:t>
            </a:r>
            <a:r>
              <a:rPr lang="en-US" altLang="zh-CN" sz="1800" dirty="0"/>
              <a:t>4</a:t>
            </a:r>
            <a:r>
              <a:rPr lang="zh-CN" altLang="en-US" sz="1800" dirty="0"/>
              <a:t>）测试在全频段内的杂散频率</a:t>
            </a:r>
            <a:r>
              <a:rPr lang="en-US" altLang="zh-CN" sz="1800" dirty="0"/>
              <a:t>(</a:t>
            </a:r>
            <a:r>
              <a:rPr lang="zh-CN" altLang="en-US" sz="1800" dirty="0"/>
              <a:t>大于主频分量幅度的</a:t>
            </a:r>
            <a:r>
              <a:rPr lang="en-US" altLang="zh-CN" sz="1800" dirty="0"/>
              <a:t>2%</a:t>
            </a:r>
            <a:r>
              <a:rPr lang="zh-CN" altLang="en-US" sz="1800" dirty="0"/>
              <a:t>为杂散频率</a:t>
            </a:r>
            <a:r>
              <a:rPr lang="en-US" altLang="zh-CN" sz="1800" dirty="0"/>
              <a:t>)</a:t>
            </a:r>
            <a:r>
              <a:rPr lang="zh-CN" altLang="en-US" sz="1800" dirty="0"/>
              <a:t>个数；</a:t>
            </a:r>
          </a:p>
          <a:p>
            <a:pPr>
              <a:lnSpc>
                <a:spcPct val="125000"/>
              </a:lnSpc>
            </a:pPr>
            <a:r>
              <a:rPr lang="zh-CN" altLang="en-US" sz="1800" dirty="0"/>
              <a:t>（</a:t>
            </a:r>
            <a:r>
              <a:rPr lang="en-US" altLang="zh-CN" sz="1800" dirty="0"/>
              <a:t>5</a:t>
            </a:r>
            <a:r>
              <a:rPr lang="zh-CN" altLang="en-US" sz="1800" dirty="0"/>
              <a:t>）</a:t>
            </a:r>
            <a:r>
              <a:rPr lang="zh-CN" altLang="en-US" sz="1800" dirty="0" smtClean="0"/>
              <a:t>其他</a:t>
            </a:r>
            <a:endParaRPr lang="zh-CN" altLang="zh-CN" sz="1800" kern="100" dirty="0">
              <a:latin typeface="Times New Roman" panose="02020603050405020304" pitchFamily="18" charset="0"/>
              <a:ea typeface="宋体" panose="02010600030101010101" pitchFamily="2" charset="-122"/>
            </a:endParaRPr>
          </a:p>
        </p:txBody>
      </p:sp>
      <p:sp>
        <p:nvSpPr>
          <p:cNvPr id="4" name="文本框 3"/>
          <p:cNvSpPr txBox="1"/>
          <p:nvPr/>
        </p:nvSpPr>
        <p:spPr>
          <a:xfrm>
            <a:off x="4435011" y="4259943"/>
            <a:ext cx="3416320" cy="646331"/>
          </a:xfrm>
          <a:prstGeom prst="rect">
            <a:avLst/>
          </a:prstGeom>
          <a:noFill/>
        </p:spPr>
        <p:txBody>
          <a:bodyPr wrap="none" rtlCol="0">
            <a:spAutoFit/>
          </a:bodyPr>
          <a:lstStyle/>
          <a:p>
            <a:r>
              <a:rPr lang="en-US" altLang="zh-CN" sz="3600" dirty="0" smtClean="0">
                <a:solidFill>
                  <a:srgbClr val="FF0000"/>
                </a:solidFill>
              </a:rPr>
              <a:t>}</a:t>
            </a:r>
            <a:r>
              <a:rPr lang="zh-CN" altLang="en-US" dirty="0" smtClean="0">
                <a:solidFill>
                  <a:srgbClr val="FF0000"/>
                </a:solidFill>
              </a:rPr>
              <a:t>频谱分析仪的两个主要指标</a:t>
            </a:r>
            <a:endParaRPr lang="zh-CN" altLang="en-US" dirty="0">
              <a:solidFill>
                <a:srgbClr val="FF0000"/>
              </a:solidFill>
            </a:endParaRPr>
          </a:p>
        </p:txBody>
      </p:sp>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428173" y="340202"/>
            <a:ext cx="11255828" cy="6024726"/>
          </a:xfrm>
          <a:prstGeom prst="rect">
            <a:avLst/>
          </a:prstGeom>
        </p:spPr>
        <p:txBody>
          <a:bodyPr wrap="square">
            <a:spAutoFit/>
          </a:bodyPr>
          <a:lstStyle/>
          <a:p>
            <a:pPr algn="ctr">
              <a:lnSpc>
                <a:spcPct val="150000"/>
              </a:lnSpc>
            </a:pPr>
            <a:r>
              <a:rPr lang="zh-CN" altLang="zh-CN" sz="2800" dirty="0">
                <a:solidFill>
                  <a:schemeClr val="accent6">
                    <a:lumMod val="75000"/>
                  </a:schemeClr>
                </a:solidFill>
                <a:latin typeface="隶书" panose="02010509060101010101" pitchFamily="49" charset="-122"/>
                <a:ea typeface="隶书" panose="02010509060101010101" pitchFamily="49" charset="-122"/>
              </a:rPr>
              <a:t>题目</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分析</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与解决方案</a:t>
            </a:r>
            <a:endParaRPr lang="zh-CN" altLang="zh-CN" sz="2400" dirty="0">
              <a:solidFill>
                <a:schemeClr val="accent6">
                  <a:lumMod val="75000"/>
                </a:schemeClr>
              </a:solidFill>
              <a:latin typeface="隶书" panose="02010509060101010101" pitchFamily="49" charset="-122"/>
              <a:ea typeface="隶书" panose="02010509060101010101" pitchFamily="49" charset="-122"/>
            </a:endParaRPr>
          </a:p>
          <a:p>
            <a:pPr indent="457200">
              <a:lnSpc>
                <a:spcPct val="150000"/>
              </a:lnSpc>
            </a:pPr>
            <a:r>
              <a:rPr lang="zh-CN" altLang="zh-CN" sz="1800" dirty="0" smtClean="0"/>
              <a:t>题目</a:t>
            </a:r>
            <a:r>
              <a:rPr lang="zh-CN" altLang="en-US" sz="1800" dirty="0" smtClean="0"/>
              <a:t>第一部分是一个</a:t>
            </a:r>
            <a:r>
              <a:rPr lang="zh-CN" altLang="en-US" sz="1800" dirty="0" smtClean="0"/>
              <a:t>基于锁相环的</a:t>
            </a:r>
            <a:r>
              <a:rPr lang="zh-CN" altLang="en-US" sz="1800" dirty="0" smtClean="0"/>
              <a:t>频率合成器，前面的培训中已经介绍过，此处从略。</a:t>
            </a:r>
            <a:endParaRPr lang="en-US" altLang="zh-CN" sz="1800" dirty="0" smtClean="0"/>
          </a:p>
          <a:p>
            <a:pPr indent="457200">
              <a:lnSpc>
                <a:spcPct val="150000"/>
              </a:lnSpc>
            </a:pPr>
            <a:r>
              <a:rPr lang="zh-CN" altLang="en-US" sz="1800" dirty="0" smtClean="0"/>
              <a:t>题目第二部分是本文的重点。根据题目要求，采用超外差结构（扫描调谐式）</a:t>
            </a:r>
            <a:endParaRPr lang="en-US" altLang="zh-CN" sz="1800" dirty="0" smtClean="0"/>
          </a:p>
          <a:p>
            <a:pPr>
              <a:lnSpc>
                <a:spcPct val="150000"/>
              </a:lnSpc>
            </a:pPr>
            <a:endParaRPr lang="en-US" altLang="zh-CN" sz="900" dirty="0" smtClean="0"/>
          </a:p>
          <a:p>
            <a:pPr>
              <a:lnSpc>
                <a:spcPct val="150000"/>
              </a:lnSpc>
            </a:pPr>
            <a:r>
              <a:rPr lang="zh-CN" altLang="en-US" sz="1800" dirty="0" smtClean="0"/>
              <a:t>扫描</a:t>
            </a:r>
            <a:r>
              <a:rPr lang="zh-CN" altLang="en-US" sz="1800" dirty="0"/>
              <a:t>调谐式</a:t>
            </a:r>
            <a:r>
              <a:rPr lang="zh-CN" altLang="en-US" sz="1800" dirty="0" smtClean="0"/>
              <a:t>频谱分析仪的设计要点之一：</a:t>
            </a:r>
            <a:r>
              <a:rPr lang="zh-CN" altLang="en-US" sz="1800" dirty="0" smtClean="0">
                <a:latin typeface="+mj-ea"/>
                <a:ea typeface="+mj-ea"/>
              </a:rPr>
              <a:t>镜像</a:t>
            </a:r>
            <a:r>
              <a:rPr lang="zh-CN" altLang="en-US" sz="1800" dirty="0">
                <a:latin typeface="+mj-ea"/>
                <a:ea typeface="+mj-ea"/>
              </a:rPr>
              <a:t>频率干扰</a:t>
            </a:r>
            <a:r>
              <a:rPr lang="zh-CN" altLang="en-US" sz="1800" dirty="0" smtClean="0">
                <a:latin typeface="+mj-ea"/>
                <a:ea typeface="+mj-ea"/>
              </a:rPr>
              <a:t>问题</a:t>
            </a:r>
            <a:endParaRPr lang="en-US" altLang="zh-CN" sz="1800" dirty="0" smtClean="0">
              <a:latin typeface="+mj-ea"/>
              <a:ea typeface="+mj-ea"/>
            </a:endParaRPr>
          </a:p>
          <a:p>
            <a:pPr lvl="1">
              <a:lnSpc>
                <a:spcPct val="150000"/>
              </a:lnSpc>
            </a:pPr>
            <a:r>
              <a:rPr lang="zh-CN" altLang="en-US" sz="1800" dirty="0" smtClean="0"/>
              <a:t>题目规定频率范围为</a:t>
            </a:r>
            <a:r>
              <a:rPr lang="en-US" altLang="zh-CN" sz="1800" dirty="0" smtClean="0"/>
              <a:t>80MHz~100MHz</a:t>
            </a:r>
            <a:r>
              <a:rPr lang="zh-CN" altLang="en-US" sz="1800" dirty="0" smtClean="0"/>
              <a:t>，就是考虑到这一点。当采用</a:t>
            </a:r>
            <a:r>
              <a:rPr lang="en-US" altLang="zh-CN" sz="1800" dirty="0" smtClean="0"/>
              <a:t>90MHz~110MHz</a:t>
            </a:r>
            <a:r>
              <a:rPr lang="zh-CN" altLang="en-US" sz="1800" dirty="0" smtClean="0"/>
              <a:t>本振（题目的要求）时，勉强可以避免镜像频率的干扰</a:t>
            </a:r>
            <a:endParaRPr lang="en-US" altLang="zh-CN" sz="1800" dirty="0" smtClean="0"/>
          </a:p>
          <a:p>
            <a:pPr lvl="1">
              <a:lnSpc>
                <a:spcPct val="150000"/>
              </a:lnSpc>
            </a:pPr>
            <a:r>
              <a:rPr lang="zh-CN" altLang="en-US" sz="1800" dirty="0" smtClean="0"/>
              <a:t>对于更宽频率范围的频谱分析仪，解决方法有：</a:t>
            </a:r>
            <a:endParaRPr lang="en-US" altLang="zh-CN" sz="1800" dirty="0" smtClean="0"/>
          </a:p>
          <a:p>
            <a:pPr marL="800100" lvl="1" indent="-342900">
              <a:lnSpc>
                <a:spcPct val="150000"/>
              </a:lnSpc>
              <a:buAutoNum type="alphaLcParenR"/>
            </a:pPr>
            <a:r>
              <a:rPr lang="zh-CN" altLang="en-US" sz="1800" dirty="0" smtClean="0"/>
              <a:t>前置调谐放大器，将镜像频率衰减到不影响测量的程度。</a:t>
            </a:r>
            <a:endParaRPr lang="en-US" altLang="zh-CN" sz="1800" dirty="0" smtClean="0"/>
          </a:p>
          <a:p>
            <a:pPr lvl="2">
              <a:lnSpc>
                <a:spcPct val="150000"/>
              </a:lnSpc>
            </a:pPr>
            <a:r>
              <a:rPr lang="zh-CN" altLang="en-US" sz="1800" dirty="0"/>
              <a:t>这</a:t>
            </a:r>
            <a:r>
              <a:rPr lang="zh-CN" altLang="en-US" sz="1800" dirty="0" smtClean="0"/>
              <a:t>是商品频谱分析仪采用的方案，它们采用的是固体调谐器。</a:t>
            </a:r>
            <a:endParaRPr lang="en-US" altLang="zh-CN" sz="1800" dirty="0" smtClean="0"/>
          </a:p>
          <a:p>
            <a:pPr lvl="2">
              <a:lnSpc>
                <a:spcPct val="150000"/>
              </a:lnSpc>
            </a:pPr>
            <a:r>
              <a:rPr lang="zh-CN" altLang="en-US" sz="1800" dirty="0" smtClean="0"/>
              <a:t>在学生实验中可以采用变容二极管与电感构成压控调谐回路。需要注意的是此调谐回路的频率必须与本振频率同步变化</a:t>
            </a:r>
            <a:endParaRPr lang="en-US" altLang="zh-CN" sz="1800" dirty="0" smtClean="0"/>
          </a:p>
          <a:p>
            <a:pPr marL="800100" lvl="1" indent="-342900">
              <a:lnSpc>
                <a:spcPct val="150000"/>
              </a:lnSpc>
              <a:buAutoNum type="alphaLcParenR"/>
            </a:pPr>
            <a:r>
              <a:rPr lang="zh-CN" altLang="en-US" sz="1800" dirty="0" smtClean="0"/>
              <a:t>采用二次混频，其中第一中频取得较高以避免镜像频率干扰，第二中频取得较低以获得足够的分辨率</a:t>
            </a:r>
            <a:endParaRPr lang="en-US" altLang="zh-CN" sz="1800" dirty="0" smtClean="0"/>
          </a:p>
          <a:p>
            <a:pPr lvl="2">
              <a:lnSpc>
                <a:spcPct val="150000"/>
              </a:lnSpc>
            </a:pPr>
            <a:r>
              <a:rPr lang="zh-CN" altLang="en-US" sz="1800" dirty="0" smtClean="0"/>
              <a:t>由于第一中频较高，对中频放大器的要求随之增高（</a:t>
            </a:r>
            <a:r>
              <a:rPr lang="zh-CN" altLang="en-US" sz="1800" dirty="0" smtClean="0">
                <a:solidFill>
                  <a:schemeClr val="accent6">
                    <a:lumMod val="40000"/>
                    <a:lumOff val="60000"/>
                  </a:schemeClr>
                </a:solidFill>
              </a:rPr>
              <a:t>本题由于规定了本振频率，此方案无法应用</a:t>
            </a:r>
            <a:r>
              <a:rPr lang="zh-CN" altLang="en-US" sz="1800" dirty="0" smtClean="0"/>
              <a:t>）</a:t>
            </a:r>
            <a:endParaRPr lang="zh-CN" altLang="en-US" sz="1800" dirty="0"/>
          </a:p>
        </p:txBody>
      </p:sp>
    </p:spTree>
    <p:extLst>
      <p:ext uri="{BB962C8B-B14F-4D97-AF65-F5344CB8AC3E}">
        <p14:creationId xmlns:p14="http://schemas.microsoft.com/office/powerpoint/2010/main" val="16577141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7" name="矩形 6"/>
          <p:cNvSpPr/>
          <p:nvPr/>
        </p:nvSpPr>
        <p:spPr>
          <a:xfrm>
            <a:off x="457201" y="456317"/>
            <a:ext cx="11255828" cy="3416320"/>
          </a:xfrm>
          <a:prstGeom prst="rect">
            <a:avLst/>
          </a:prstGeom>
        </p:spPr>
        <p:txBody>
          <a:bodyPr wrap="square">
            <a:spAutoFit/>
          </a:bodyPr>
          <a:lstStyle/>
          <a:p>
            <a:pPr>
              <a:lnSpc>
                <a:spcPct val="150000"/>
              </a:lnSpc>
            </a:pPr>
            <a:r>
              <a:rPr lang="zh-CN" altLang="en-US" sz="1800" dirty="0" smtClean="0"/>
              <a:t>扫描</a:t>
            </a:r>
            <a:r>
              <a:rPr lang="zh-CN" altLang="en-US" sz="1800" dirty="0"/>
              <a:t>调谐式</a:t>
            </a:r>
            <a:r>
              <a:rPr lang="zh-CN" altLang="en-US" sz="1800" dirty="0" smtClean="0"/>
              <a:t>频谱分析仪的设计要点之二：</a:t>
            </a:r>
            <a:r>
              <a:rPr lang="zh-CN" altLang="en-US" sz="1800" dirty="0" smtClean="0">
                <a:latin typeface="黑体" panose="02010609060101010101" pitchFamily="49" charset="-122"/>
                <a:ea typeface="黑体" panose="02010609060101010101" pitchFamily="49" charset="-122"/>
              </a:rPr>
              <a:t>分辨率</a:t>
            </a:r>
            <a:endParaRPr lang="zh-CN" altLang="en-US" sz="1800" dirty="0">
              <a:latin typeface="黑体" panose="02010609060101010101" pitchFamily="49" charset="-122"/>
              <a:ea typeface="黑体" panose="02010609060101010101" pitchFamily="49" charset="-122"/>
            </a:endParaRPr>
          </a:p>
          <a:p>
            <a:pPr lvl="1">
              <a:lnSpc>
                <a:spcPct val="150000"/>
              </a:lnSpc>
            </a:pPr>
            <a:r>
              <a:rPr lang="zh-CN" altLang="en-US" sz="1800" dirty="0" smtClean="0"/>
              <a:t>题目规定分辨率为</a:t>
            </a:r>
            <a:r>
              <a:rPr lang="en-US" altLang="zh-CN" sz="1800" dirty="0" smtClean="0"/>
              <a:t>100kHz</a:t>
            </a:r>
            <a:r>
              <a:rPr lang="zh-CN" altLang="en-US" sz="1800" dirty="0" smtClean="0"/>
              <a:t>，这实际上是中频放大器的带宽。</a:t>
            </a:r>
            <a:endParaRPr lang="en-US" altLang="zh-CN" sz="1800" dirty="0" smtClean="0"/>
          </a:p>
          <a:p>
            <a:pPr lvl="1">
              <a:lnSpc>
                <a:spcPct val="150000"/>
              </a:lnSpc>
            </a:pPr>
            <a:r>
              <a:rPr lang="zh-CN" altLang="en-US" sz="1800" dirty="0" smtClean="0"/>
              <a:t>由于选频网络的</a:t>
            </a:r>
            <a:r>
              <a:rPr lang="en-US" altLang="zh-CN" sz="1800" dirty="0" smtClean="0"/>
              <a:t>Q</a:t>
            </a:r>
            <a:r>
              <a:rPr lang="zh-CN" altLang="en-US" sz="1800" dirty="0" smtClean="0"/>
              <a:t>值限制，所以中频频率不可能取得很高。例如采用的选频网络的</a:t>
            </a:r>
            <a:r>
              <a:rPr lang="en-US" altLang="zh-CN" sz="1800" dirty="0" smtClean="0"/>
              <a:t>Q</a:t>
            </a:r>
            <a:r>
              <a:rPr lang="zh-CN" altLang="en-US" sz="1800" dirty="0" smtClean="0"/>
              <a:t>值为</a:t>
            </a:r>
            <a:r>
              <a:rPr lang="en-US" altLang="zh-CN" sz="1800" dirty="0" smtClean="0"/>
              <a:t>50</a:t>
            </a:r>
            <a:r>
              <a:rPr lang="zh-CN" altLang="en-US" sz="1800" dirty="0" smtClean="0"/>
              <a:t>，则中频频率为</a:t>
            </a:r>
            <a:r>
              <a:rPr lang="en-US" altLang="zh-CN" sz="1800" dirty="0" smtClean="0"/>
              <a:t>100kHz</a:t>
            </a:r>
            <a:r>
              <a:rPr lang="zh-CN" altLang="en-US" sz="1800" dirty="0" smtClean="0"/>
              <a:t>*</a:t>
            </a:r>
            <a:r>
              <a:rPr lang="en-US" altLang="zh-CN" sz="1800" dirty="0" smtClean="0"/>
              <a:t>50=5MHz</a:t>
            </a:r>
            <a:r>
              <a:rPr lang="zh-CN" altLang="en-US" sz="1800" dirty="0" smtClean="0"/>
              <a:t>。</a:t>
            </a:r>
            <a:endParaRPr lang="en-US" altLang="zh-CN" sz="1800" dirty="0" smtClean="0"/>
          </a:p>
          <a:p>
            <a:pPr lvl="1">
              <a:lnSpc>
                <a:spcPct val="150000"/>
              </a:lnSpc>
            </a:pPr>
            <a:r>
              <a:rPr lang="zh-CN" altLang="en-US" sz="1800" dirty="0" smtClean="0"/>
              <a:t>题目要求本振</a:t>
            </a:r>
            <a:r>
              <a:rPr lang="en-US" altLang="zh-CN" sz="1800" dirty="0" smtClean="0"/>
              <a:t>90MHz~110MHz</a:t>
            </a:r>
            <a:r>
              <a:rPr lang="zh-CN" altLang="en-US" sz="1800" dirty="0" smtClean="0"/>
              <a:t>，实际上隐含了中频频率是</a:t>
            </a:r>
            <a:r>
              <a:rPr lang="en-US" altLang="zh-CN" sz="1800" dirty="0" smtClean="0"/>
              <a:t>10MHz</a:t>
            </a:r>
            <a:r>
              <a:rPr lang="zh-CN" altLang="en-US" sz="1800" dirty="0" smtClean="0"/>
              <a:t>，此时要求中频放大器的带宽为</a:t>
            </a:r>
            <a:r>
              <a:rPr lang="en-US" altLang="zh-CN" sz="1800" dirty="0" smtClean="0"/>
              <a:t>100kHz</a:t>
            </a:r>
            <a:r>
              <a:rPr lang="zh-CN" altLang="en-US" sz="1800" dirty="0" smtClean="0"/>
              <a:t>，则选频网络需要的</a:t>
            </a:r>
            <a:r>
              <a:rPr lang="en-US" altLang="zh-CN" sz="1800" dirty="0" smtClean="0"/>
              <a:t>Q=100</a:t>
            </a:r>
          </a:p>
          <a:p>
            <a:pPr lvl="1">
              <a:lnSpc>
                <a:spcPct val="150000"/>
              </a:lnSpc>
            </a:pPr>
            <a:r>
              <a:rPr lang="zh-CN" altLang="en-US" sz="1800" dirty="0" smtClean="0"/>
              <a:t>高</a:t>
            </a:r>
            <a:r>
              <a:rPr lang="en-US" altLang="zh-CN" sz="1800" dirty="0" smtClean="0"/>
              <a:t>Q</a:t>
            </a:r>
            <a:r>
              <a:rPr lang="zh-CN" altLang="en-US" sz="1800" dirty="0" smtClean="0"/>
              <a:t>值选频网络的问题：</a:t>
            </a:r>
            <a:r>
              <a:rPr lang="en-US" altLang="zh-CN" sz="1800" dirty="0" smtClean="0"/>
              <a:t>1</a:t>
            </a:r>
            <a:r>
              <a:rPr lang="zh-CN" altLang="en-US" sz="1800" dirty="0" smtClean="0"/>
              <a:t>、物理实现困难；</a:t>
            </a:r>
            <a:r>
              <a:rPr lang="en-US" altLang="zh-CN" sz="1800" dirty="0" smtClean="0"/>
              <a:t>2</a:t>
            </a:r>
            <a:r>
              <a:rPr lang="zh-CN" altLang="en-US" sz="1800" dirty="0" smtClean="0"/>
              <a:t>、相频特性较差</a:t>
            </a:r>
            <a:endParaRPr lang="en-US" altLang="zh-CN" sz="1800" dirty="0" smtClean="0"/>
          </a:p>
          <a:p>
            <a:pPr lvl="1">
              <a:lnSpc>
                <a:spcPct val="150000"/>
              </a:lnSpc>
            </a:pPr>
            <a:r>
              <a:rPr lang="zh-CN" altLang="en-US" sz="1800" dirty="0" smtClean="0"/>
              <a:t>解决的方法</a:t>
            </a:r>
            <a:r>
              <a:rPr lang="zh-CN" altLang="en-US" sz="1800" dirty="0" smtClean="0"/>
              <a:t>，二次降</a:t>
            </a:r>
            <a:r>
              <a:rPr lang="zh-CN" altLang="en-US" sz="1800" dirty="0" smtClean="0"/>
              <a:t>频（二中频），将二中频降到足够低，则很低</a:t>
            </a:r>
            <a:r>
              <a:rPr lang="en-US" altLang="zh-CN" sz="1800" dirty="0" smtClean="0"/>
              <a:t>Q</a:t>
            </a:r>
            <a:r>
              <a:rPr lang="zh-CN" altLang="en-US" sz="1800" dirty="0" smtClean="0"/>
              <a:t>值的选频网络也可达到要求的带宽</a:t>
            </a:r>
            <a:endParaRPr lang="en-US" altLang="zh-CN" sz="1800" dirty="0" smtClean="0"/>
          </a:p>
        </p:txBody>
      </p:sp>
      <p:pic>
        <p:nvPicPr>
          <p:cNvPr id="8" name="图片 7"/>
          <p:cNvPicPr>
            <a:picLocks noChangeAspect="1"/>
          </p:cNvPicPr>
          <p:nvPr/>
        </p:nvPicPr>
        <p:blipFill>
          <a:blip r:embed="rId2"/>
          <a:stretch>
            <a:fillRect/>
          </a:stretch>
        </p:blipFill>
        <p:spPr>
          <a:xfrm>
            <a:off x="2132159" y="3990391"/>
            <a:ext cx="7659169" cy="1867161"/>
          </a:xfrm>
          <a:prstGeom prst="rect">
            <a:avLst/>
          </a:prstGeom>
        </p:spPr>
      </p:pic>
    </p:spTree>
    <p:extLst>
      <p:ext uri="{BB962C8B-B14F-4D97-AF65-F5344CB8AC3E}">
        <p14:creationId xmlns:p14="http://schemas.microsoft.com/office/powerpoint/2010/main" val="30867158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6" name="文本框 5"/>
          <p:cNvSpPr txBox="1"/>
          <p:nvPr/>
        </p:nvSpPr>
        <p:spPr>
          <a:xfrm>
            <a:off x="449942" y="376134"/>
            <a:ext cx="11190514" cy="2554545"/>
          </a:xfrm>
          <a:prstGeom prst="rect">
            <a:avLst/>
          </a:prstGeom>
          <a:noFill/>
        </p:spPr>
        <p:txBody>
          <a:bodyPr wrap="square" rtlCol="0">
            <a:spAutoFit/>
          </a:bodyPr>
          <a:lstStyle/>
          <a:p>
            <a:pPr algn="ctr">
              <a:lnSpc>
                <a:spcPct val="150000"/>
              </a:lnSpc>
              <a:spcAft>
                <a:spcPts val="1200"/>
              </a:spcAft>
            </a:pPr>
            <a:r>
              <a:rPr lang="en-US" altLang="zh-CN" sz="2400" dirty="0" smtClean="0">
                <a:solidFill>
                  <a:schemeClr val="accent6">
                    <a:lumMod val="75000"/>
                  </a:schemeClr>
                </a:solidFill>
              </a:rPr>
              <a:t>2021</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年</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全国赛</a:t>
            </a:r>
            <a:r>
              <a:rPr lang="en-US" altLang="zh-CN" sz="2400" dirty="0" smtClean="0">
                <a:solidFill>
                  <a:schemeClr val="accent6">
                    <a:lumMod val="75000"/>
                  </a:schemeClr>
                </a:solidFill>
              </a:rPr>
              <a:t>A</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题</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信号失真度测量装置</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1800" dirty="0" smtClean="0">
                <a:solidFill>
                  <a:schemeClr val="accent6">
                    <a:lumMod val="75000"/>
                  </a:schemeClr>
                </a:solidFill>
              </a:rPr>
              <a:t> </a:t>
            </a:r>
            <a:endParaRPr lang="zh-CN" altLang="zh-CN" sz="2800" dirty="0">
              <a:solidFill>
                <a:schemeClr val="accent6">
                  <a:lumMod val="75000"/>
                </a:schemeClr>
              </a:solidFill>
              <a:latin typeface="隶书" panose="02010509060101010101" pitchFamily="49" charset="-122"/>
              <a:ea typeface="隶书" panose="02010509060101010101" pitchFamily="49" charset="-122"/>
            </a:endParaRPr>
          </a:p>
          <a:p>
            <a:pPr>
              <a:lnSpc>
                <a:spcPct val="150000"/>
              </a:lnSpc>
            </a:pPr>
            <a:r>
              <a:rPr lang="zh-CN" altLang="zh-CN" sz="1800" dirty="0" smtClean="0">
                <a:latin typeface="黑体" panose="02010609060101010101" pitchFamily="49" charset="-122"/>
                <a:ea typeface="黑体" panose="02010609060101010101" pitchFamily="49" charset="-122"/>
              </a:rPr>
              <a:t>一</a:t>
            </a:r>
            <a:r>
              <a:rPr lang="zh-CN" altLang="zh-CN" sz="1800" dirty="0">
                <a:latin typeface="黑体" panose="02010609060101010101" pitchFamily="49" charset="-122"/>
                <a:ea typeface="黑体" panose="02010609060101010101" pitchFamily="49" charset="-122"/>
              </a:rPr>
              <a:t>、任务</a:t>
            </a:r>
          </a:p>
          <a:p>
            <a:pPr lvl="1">
              <a:lnSpc>
                <a:spcPct val="150000"/>
              </a:lnSpc>
            </a:pPr>
            <a:r>
              <a:rPr lang="zh-CN" altLang="en-US" sz="1800" dirty="0"/>
              <a:t>设计制作信号失真度测量装置，对来自函数</a:t>
            </a:r>
            <a:r>
              <a:rPr lang="en-US" altLang="zh-CN" sz="1800" dirty="0"/>
              <a:t>/</a:t>
            </a:r>
            <a:r>
              <a:rPr lang="zh-CN" altLang="en-US" sz="1800" dirty="0"/>
              <a:t>任意波形发生器的周期信号（以下简称为输入信号）进行采集分析，测得输入信号的总谐波失真</a:t>
            </a:r>
            <a:r>
              <a:rPr lang="en-US" altLang="zh-CN" sz="1800" dirty="0"/>
              <a:t>THD</a:t>
            </a:r>
            <a:r>
              <a:rPr lang="zh-CN" altLang="en-US" sz="1800" dirty="0"/>
              <a:t>（以下简称为失真度），并可在手机上显示测量信息。测量装置系统组成示意图如图所示</a:t>
            </a:r>
            <a:r>
              <a:rPr lang="zh-CN" altLang="en-US" sz="1800" dirty="0" smtClean="0"/>
              <a:t>。</a:t>
            </a:r>
            <a:endParaRPr lang="zh-CN" altLang="en-US" sz="1800" dirty="0"/>
          </a:p>
        </p:txBody>
      </p:sp>
      <p:pic>
        <p:nvPicPr>
          <p:cNvPr id="5" name="图片 4"/>
          <p:cNvPicPr>
            <a:picLocks noChangeAspect="1"/>
          </p:cNvPicPr>
          <p:nvPr/>
        </p:nvPicPr>
        <p:blipFill>
          <a:blip r:embed="rId2"/>
          <a:stretch>
            <a:fillRect/>
          </a:stretch>
        </p:blipFill>
        <p:spPr>
          <a:xfrm>
            <a:off x="2919037" y="3023012"/>
            <a:ext cx="6043613" cy="1813700"/>
          </a:xfrm>
          <a:prstGeom prst="rect">
            <a:avLst/>
          </a:prstGeom>
        </p:spPr>
      </p:pic>
    </p:spTree>
    <p:extLst>
      <p:ext uri="{BB962C8B-B14F-4D97-AF65-F5344CB8AC3E}">
        <p14:creationId xmlns:p14="http://schemas.microsoft.com/office/powerpoint/2010/main" val="1287940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9" name="文本框 8"/>
          <p:cNvSpPr txBox="1"/>
          <p:nvPr/>
        </p:nvSpPr>
        <p:spPr>
          <a:xfrm>
            <a:off x="486230" y="494495"/>
            <a:ext cx="11335356" cy="5978560"/>
          </a:xfrm>
          <a:prstGeom prst="rect">
            <a:avLst/>
          </a:prstGeom>
          <a:noFill/>
        </p:spPr>
        <p:txBody>
          <a:bodyPr wrap="square" rtlCol="0">
            <a:spAutoFit/>
          </a:bodyPr>
          <a:lstStyle/>
          <a:p>
            <a:pPr>
              <a:lnSpc>
                <a:spcPct val="125000"/>
              </a:lnSpc>
            </a:pPr>
            <a:r>
              <a:rPr lang="zh-CN" altLang="en-US" sz="1800" dirty="0">
                <a:latin typeface="黑体" panose="02010609060101010101" pitchFamily="49" charset="-122"/>
                <a:ea typeface="黑体" panose="02010609060101010101" pitchFamily="49" charset="-122"/>
              </a:rPr>
              <a:t>二、要求</a:t>
            </a:r>
          </a:p>
          <a:p>
            <a:pPr>
              <a:lnSpc>
                <a:spcPct val="125000"/>
              </a:lnSpc>
            </a:pPr>
            <a:r>
              <a:rPr lang="en-US" altLang="zh-CN" sz="1800" dirty="0"/>
              <a:t>1. </a:t>
            </a:r>
            <a:r>
              <a:rPr lang="zh-CN" altLang="en-US" sz="1800" dirty="0"/>
              <a:t>基本要求</a:t>
            </a:r>
          </a:p>
          <a:p>
            <a:pPr lvl="1">
              <a:lnSpc>
                <a:spcPct val="125000"/>
              </a:lnSpc>
            </a:pPr>
            <a:r>
              <a:rPr lang="zh-CN" altLang="en-US" sz="1800" dirty="0"/>
              <a:t>（</a:t>
            </a:r>
            <a:r>
              <a:rPr lang="en-US" altLang="zh-CN" sz="1800" dirty="0"/>
              <a:t>1</a:t>
            </a:r>
            <a:r>
              <a:rPr lang="zh-CN" altLang="en-US" sz="1800" dirty="0"/>
              <a:t>）输入信号的峰峰值电压范围：</a:t>
            </a:r>
            <a:r>
              <a:rPr lang="en-US" altLang="zh-CN" sz="1800" dirty="0"/>
              <a:t>300mV~600mV</a:t>
            </a:r>
            <a:r>
              <a:rPr lang="zh-CN" altLang="en-US" sz="1800" dirty="0"/>
              <a:t>。</a:t>
            </a:r>
          </a:p>
          <a:p>
            <a:pPr lvl="1">
              <a:lnSpc>
                <a:spcPct val="125000"/>
              </a:lnSpc>
            </a:pPr>
            <a:r>
              <a:rPr lang="zh-CN" altLang="en-US" sz="1800" dirty="0"/>
              <a:t>（</a:t>
            </a:r>
            <a:r>
              <a:rPr lang="en-US" altLang="zh-CN" sz="1800" dirty="0"/>
              <a:t>2</a:t>
            </a:r>
            <a:r>
              <a:rPr lang="zh-CN" altLang="en-US" sz="1800" dirty="0"/>
              <a:t>）输入信号基频：</a:t>
            </a:r>
            <a:r>
              <a:rPr lang="en-US" altLang="zh-CN" sz="1800" dirty="0"/>
              <a:t>1kHz</a:t>
            </a:r>
            <a:r>
              <a:rPr lang="zh-CN" altLang="en-US" sz="1800" dirty="0"/>
              <a:t>。</a:t>
            </a:r>
          </a:p>
          <a:p>
            <a:pPr lvl="1">
              <a:lnSpc>
                <a:spcPct val="125000"/>
              </a:lnSpc>
            </a:pPr>
            <a:r>
              <a:rPr lang="zh-CN" altLang="en-US" sz="1800" dirty="0"/>
              <a:t>（</a:t>
            </a:r>
            <a:r>
              <a:rPr lang="en-US" altLang="zh-CN" sz="1800" dirty="0"/>
              <a:t>3</a:t>
            </a:r>
            <a:r>
              <a:rPr lang="zh-CN" altLang="en-US" sz="1800" dirty="0"/>
              <a:t>）输入信号失真度范围：</a:t>
            </a:r>
            <a:r>
              <a:rPr lang="en-US" altLang="zh-CN" sz="1800" dirty="0"/>
              <a:t>5% ~ 50%</a:t>
            </a:r>
            <a:r>
              <a:rPr lang="zh-CN" altLang="en-US" sz="1800" dirty="0"/>
              <a:t>。</a:t>
            </a:r>
          </a:p>
          <a:p>
            <a:pPr lvl="1">
              <a:lnSpc>
                <a:spcPct val="125000"/>
              </a:lnSpc>
            </a:pPr>
            <a:r>
              <a:rPr lang="zh-CN" altLang="en-US" sz="1800" dirty="0"/>
              <a:t>（</a:t>
            </a:r>
            <a:r>
              <a:rPr lang="en-US" altLang="zh-CN" sz="1800" dirty="0"/>
              <a:t>4</a:t>
            </a:r>
            <a:r>
              <a:rPr lang="zh-CN" altLang="en-US" sz="1800" dirty="0"/>
              <a:t>）要求对输入信号失真度测量误差绝对值</a:t>
            </a:r>
            <a:r>
              <a:rPr lang="en-US" altLang="zh-CN" sz="1800" i="1" dirty="0"/>
              <a:t>Δ</a:t>
            </a:r>
            <a:r>
              <a:rPr lang="en-US" altLang="zh-CN" sz="1800" dirty="0"/>
              <a:t>=|</a:t>
            </a:r>
            <a:r>
              <a:rPr lang="en-US" altLang="zh-CN" sz="1800" i="1" dirty="0" err="1"/>
              <a:t>THDx</a:t>
            </a:r>
            <a:r>
              <a:rPr lang="en-US" altLang="zh-CN" sz="1800" i="1" dirty="0"/>
              <a:t> </a:t>
            </a:r>
            <a:r>
              <a:rPr lang="en-US" altLang="zh-CN" sz="1800" dirty="0"/>
              <a:t>-</a:t>
            </a:r>
            <a:r>
              <a:rPr lang="en-US" altLang="zh-CN" sz="1800" i="1" dirty="0" err="1"/>
              <a:t>THDo</a:t>
            </a:r>
            <a:r>
              <a:rPr lang="en-US" altLang="zh-CN" sz="1800" dirty="0"/>
              <a:t>|</a:t>
            </a:r>
            <a:r>
              <a:rPr lang="zh-CN" altLang="en-US" sz="1800" dirty="0"/>
              <a:t>≤</a:t>
            </a:r>
            <a:r>
              <a:rPr lang="en-US" altLang="zh-CN" sz="1800" dirty="0"/>
              <a:t>5%</a:t>
            </a:r>
            <a:r>
              <a:rPr lang="zh-CN" altLang="en-US" sz="1800" dirty="0"/>
              <a:t>，</a:t>
            </a:r>
            <a:r>
              <a:rPr lang="en-US" altLang="zh-CN" sz="1800" i="1" dirty="0" err="1"/>
              <a:t>THDx</a:t>
            </a:r>
            <a:r>
              <a:rPr lang="en-US" altLang="zh-CN" sz="1800" i="1" dirty="0"/>
              <a:t> </a:t>
            </a:r>
            <a:r>
              <a:rPr lang="zh-CN" altLang="en-US" sz="1800" dirty="0"/>
              <a:t>和</a:t>
            </a:r>
            <a:r>
              <a:rPr lang="en-US" altLang="zh-CN" sz="1800" i="1" dirty="0" err="1"/>
              <a:t>THDo</a:t>
            </a:r>
            <a:r>
              <a:rPr lang="en-US" altLang="zh-CN" sz="1800" i="1" dirty="0"/>
              <a:t> </a:t>
            </a:r>
            <a:r>
              <a:rPr lang="zh-CN" altLang="en-US" sz="1800" dirty="0"/>
              <a:t>分别为失真度的测量值与标称值。</a:t>
            </a:r>
          </a:p>
          <a:p>
            <a:pPr lvl="1">
              <a:lnSpc>
                <a:spcPct val="125000"/>
              </a:lnSpc>
            </a:pPr>
            <a:r>
              <a:rPr lang="zh-CN" altLang="en-US" sz="1800" dirty="0"/>
              <a:t>（</a:t>
            </a:r>
            <a:r>
              <a:rPr lang="en-US" altLang="zh-CN" sz="1800" dirty="0"/>
              <a:t>5</a:t>
            </a:r>
            <a:r>
              <a:rPr lang="zh-CN" altLang="en-US" sz="1800" dirty="0"/>
              <a:t>）显示失真度测量值</a:t>
            </a:r>
            <a:r>
              <a:rPr lang="en-US" altLang="zh-CN" sz="1800" i="1" dirty="0" err="1"/>
              <a:t>THDx</a:t>
            </a:r>
            <a:r>
              <a:rPr lang="zh-CN" altLang="en-US" sz="1800" dirty="0"/>
              <a:t>。</a:t>
            </a:r>
          </a:p>
          <a:p>
            <a:pPr lvl="1">
              <a:lnSpc>
                <a:spcPct val="125000"/>
              </a:lnSpc>
            </a:pPr>
            <a:r>
              <a:rPr lang="zh-CN" altLang="en-US" sz="1800" dirty="0"/>
              <a:t>（</a:t>
            </a:r>
            <a:r>
              <a:rPr lang="en-US" altLang="zh-CN" sz="1800" dirty="0"/>
              <a:t>6</a:t>
            </a:r>
            <a:r>
              <a:rPr lang="zh-CN" altLang="en-US" sz="1800" dirty="0"/>
              <a:t>）失真度测量与显示用时不超过</a:t>
            </a:r>
            <a:r>
              <a:rPr lang="en-US" altLang="zh-CN" sz="1800" dirty="0"/>
              <a:t>10 </a:t>
            </a:r>
            <a:r>
              <a:rPr lang="zh-CN" altLang="en-US" sz="1800" dirty="0"/>
              <a:t>秒。</a:t>
            </a:r>
          </a:p>
          <a:p>
            <a:pPr>
              <a:lnSpc>
                <a:spcPct val="125000"/>
              </a:lnSpc>
            </a:pPr>
            <a:r>
              <a:rPr lang="en-US" altLang="zh-CN" sz="1800" dirty="0"/>
              <a:t>2. </a:t>
            </a:r>
            <a:r>
              <a:rPr lang="zh-CN" altLang="en-US" sz="1800" dirty="0"/>
              <a:t>发挥部分</a:t>
            </a:r>
          </a:p>
          <a:p>
            <a:pPr lvl="1">
              <a:lnSpc>
                <a:spcPct val="125000"/>
              </a:lnSpc>
            </a:pPr>
            <a:r>
              <a:rPr lang="zh-CN" altLang="en-US" sz="1800" dirty="0"/>
              <a:t>（</a:t>
            </a:r>
            <a:r>
              <a:rPr lang="en-US" altLang="zh-CN" sz="1800" dirty="0"/>
              <a:t>1</a:t>
            </a:r>
            <a:r>
              <a:rPr lang="zh-CN" altLang="en-US" sz="1800" dirty="0"/>
              <a:t>）输入信号的峰峰值电压范围：</a:t>
            </a:r>
            <a:r>
              <a:rPr lang="en-US" altLang="zh-CN" sz="1800" dirty="0"/>
              <a:t>30mV ~ 600mV</a:t>
            </a:r>
            <a:r>
              <a:rPr lang="zh-CN" altLang="en-US" sz="1800" dirty="0"/>
              <a:t>。。</a:t>
            </a:r>
          </a:p>
          <a:p>
            <a:pPr lvl="1">
              <a:lnSpc>
                <a:spcPct val="125000"/>
              </a:lnSpc>
            </a:pPr>
            <a:r>
              <a:rPr lang="zh-CN" altLang="en-US" sz="1800" dirty="0"/>
              <a:t>（</a:t>
            </a:r>
            <a:r>
              <a:rPr lang="en-US" altLang="zh-CN" sz="1800" dirty="0"/>
              <a:t>2</a:t>
            </a:r>
            <a:r>
              <a:rPr lang="zh-CN" altLang="en-US" sz="1800" dirty="0"/>
              <a:t>）输入信号基频范围：</a:t>
            </a:r>
            <a:r>
              <a:rPr lang="en-US" altLang="zh-CN" sz="1800" dirty="0"/>
              <a:t>1kHz ~100kHz</a:t>
            </a:r>
            <a:r>
              <a:rPr lang="zh-CN" altLang="en-US" sz="1800" dirty="0"/>
              <a:t>。</a:t>
            </a:r>
          </a:p>
          <a:p>
            <a:pPr lvl="1">
              <a:lnSpc>
                <a:spcPct val="125000"/>
              </a:lnSpc>
            </a:pPr>
            <a:r>
              <a:rPr lang="zh-CN" altLang="en-US" sz="1800" dirty="0"/>
              <a:t>（</a:t>
            </a:r>
            <a:r>
              <a:rPr lang="en-US" altLang="zh-CN" sz="1800" dirty="0"/>
              <a:t>3</a:t>
            </a:r>
            <a:r>
              <a:rPr lang="zh-CN" altLang="en-US" sz="1800" dirty="0"/>
              <a:t>）测量并显示输入信号失真度</a:t>
            </a:r>
            <a:r>
              <a:rPr lang="en-US" altLang="zh-CN" sz="1800" i="1" dirty="0" err="1"/>
              <a:t>THDx</a:t>
            </a:r>
            <a:r>
              <a:rPr lang="en-US" altLang="zh-CN" sz="1800" i="1" dirty="0"/>
              <a:t> </a:t>
            </a:r>
            <a:r>
              <a:rPr lang="zh-CN" altLang="en-US" sz="1800" dirty="0"/>
              <a:t>值，要求</a:t>
            </a:r>
            <a:r>
              <a:rPr lang="en-US" altLang="zh-CN" sz="1800" i="1" dirty="0"/>
              <a:t>Δ</a:t>
            </a:r>
            <a:r>
              <a:rPr lang="en-US" altLang="zh-CN" sz="1800" dirty="0"/>
              <a:t>=|</a:t>
            </a:r>
            <a:r>
              <a:rPr lang="en-US" altLang="zh-CN" sz="1800" i="1" dirty="0" err="1"/>
              <a:t>THDx</a:t>
            </a:r>
            <a:r>
              <a:rPr lang="en-US" altLang="zh-CN" sz="1800" i="1" dirty="0"/>
              <a:t> </a:t>
            </a:r>
            <a:r>
              <a:rPr lang="en-US" altLang="zh-CN" sz="1800" dirty="0"/>
              <a:t>-</a:t>
            </a:r>
            <a:r>
              <a:rPr lang="en-US" altLang="zh-CN" sz="1800" i="1" dirty="0" err="1"/>
              <a:t>THDo</a:t>
            </a:r>
            <a:r>
              <a:rPr lang="en-US" altLang="zh-CN" sz="1800" dirty="0"/>
              <a:t>|</a:t>
            </a:r>
            <a:r>
              <a:rPr lang="zh-CN" altLang="en-US" sz="1800" dirty="0"/>
              <a:t>≤</a:t>
            </a:r>
            <a:r>
              <a:rPr lang="en-US" altLang="zh-CN" sz="1800" dirty="0"/>
              <a:t>3%</a:t>
            </a:r>
            <a:r>
              <a:rPr lang="zh-CN" altLang="en-US" sz="1800" dirty="0"/>
              <a:t>。</a:t>
            </a:r>
          </a:p>
          <a:p>
            <a:pPr lvl="1">
              <a:lnSpc>
                <a:spcPct val="125000"/>
              </a:lnSpc>
            </a:pPr>
            <a:r>
              <a:rPr lang="zh-CN" altLang="en-US" sz="1800" dirty="0"/>
              <a:t>（</a:t>
            </a:r>
            <a:r>
              <a:rPr lang="en-US" altLang="zh-CN" sz="1800" dirty="0"/>
              <a:t>4</a:t>
            </a:r>
            <a:r>
              <a:rPr lang="zh-CN" altLang="en-US" sz="1800" dirty="0"/>
              <a:t>）测量并显示输入信号的一个周期波形。</a:t>
            </a:r>
          </a:p>
          <a:p>
            <a:pPr lvl="1">
              <a:lnSpc>
                <a:spcPct val="125000"/>
              </a:lnSpc>
            </a:pPr>
            <a:r>
              <a:rPr lang="zh-CN" altLang="en-US" sz="1800" dirty="0"/>
              <a:t>（</a:t>
            </a:r>
            <a:r>
              <a:rPr lang="en-US" altLang="zh-CN" sz="1800" dirty="0"/>
              <a:t>5</a:t>
            </a:r>
            <a:r>
              <a:rPr lang="zh-CN" altLang="en-US" sz="1800" dirty="0"/>
              <a:t>）显示输入信号基波与谐波的归一化幅值，只显示到</a:t>
            </a:r>
            <a:r>
              <a:rPr lang="en-US" altLang="zh-CN" sz="1800" dirty="0"/>
              <a:t>5 </a:t>
            </a:r>
            <a:r>
              <a:rPr lang="zh-CN" altLang="en-US" sz="1800" dirty="0"/>
              <a:t>次谐波。</a:t>
            </a:r>
          </a:p>
          <a:p>
            <a:pPr lvl="1">
              <a:lnSpc>
                <a:spcPct val="125000"/>
              </a:lnSpc>
            </a:pPr>
            <a:r>
              <a:rPr lang="zh-CN" altLang="en-US" sz="1800" dirty="0"/>
              <a:t>（</a:t>
            </a:r>
            <a:r>
              <a:rPr lang="en-US" altLang="zh-CN" sz="1800" dirty="0"/>
              <a:t>6</a:t>
            </a:r>
            <a:r>
              <a:rPr lang="zh-CN" altLang="en-US" sz="1800" dirty="0"/>
              <a:t>）在手机上显示测量装置测得并显示的输入信号</a:t>
            </a:r>
            <a:r>
              <a:rPr lang="en-US" altLang="zh-CN" sz="1800" i="1" dirty="0" err="1"/>
              <a:t>THDx</a:t>
            </a:r>
            <a:r>
              <a:rPr lang="en-US" altLang="zh-CN" sz="1800" i="1" dirty="0"/>
              <a:t> </a:t>
            </a:r>
            <a:r>
              <a:rPr lang="zh-CN" altLang="en-US" sz="1800" dirty="0"/>
              <a:t>值、一个周期波形、基波与谐波的归一化幅值。</a:t>
            </a:r>
          </a:p>
          <a:p>
            <a:pPr lvl="1">
              <a:lnSpc>
                <a:spcPct val="125000"/>
              </a:lnSpc>
            </a:pPr>
            <a:r>
              <a:rPr lang="zh-CN" altLang="en-US" sz="1800" dirty="0"/>
              <a:t>（</a:t>
            </a:r>
            <a:r>
              <a:rPr lang="en-US" altLang="zh-CN" sz="1800" dirty="0"/>
              <a:t>7</a:t>
            </a:r>
            <a:r>
              <a:rPr lang="zh-CN" altLang="en-US" sz="1800" dirty="0"/>
              <a:t>）其他。</a:t>
            </a:r>
            <a:endParaRPr lang="zh-CN" altLang="en-US" sz="1800" dirty="0">
              <a:solidFill>
                <a:srgbClr val="FF0000"/>
              </a:solidFill>
            </a:endParaRPr>
          </a:p>
        </p:txBody>
      </p:sp>
    </p:spTree>
    <p:extLst>
      <p:ext uri="{BB962C8B-B14F-4D97-AF65-F5344CB8AC3E}">
        <p14:creationId xmlns:p14="http://schemas.microsoft.com/office/powerpoint/2010/main" val="6664928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矩形 4"/>
          <p:cNvSpPr/>
          <p:nvPr/>
        </p:nvSpPr>
        <p:spPr>
          <a:xfrm>
            <a:off x="399141" y="512626"/>
            <a:ext cx="11292115" cy="5663089"/>
          </a:xfrm>
          <a:prstGeom prst="rect">
            <a:avLst/>
          </a:prstGeom>
        </p:spPr>
        <p:txBody>
          <a:bodyPr wrap="square">
            <a:spAutoFit/>
          </a:bodyPr>
          <a:lstStyle/>
          <a:p>
            <a:r>
              <a:rPr lang="zh-CN" altLang="en-US" dirty="0">
                <a:solidFill>
                  <a:srgbClr val="000000"/>
                </a:solidFill>
                <a:latin typeface="黑体" panose="02010609060101010101" pitchFamily="49" charset="-122"/>
                <a:ea typeface="黑体" panose="02010609060101010101" pitchFamily="49" charset="-122"/>
              </a:rPr>
              <a:t>三、说明</a:t>
            </a:r>
          </a:p>
          <a:p>
            <a:pPr indent="-792000">
              <a:lnSpc>
                <a:spcPct val="150000"/>
              </a:lnSpc>
            </a:pPr>
            <a:r>
              <a:rPr lang="zh-CN" altLang="en-US" sz="1800" dirty="0">
                <a:solidFill>
                  <a:srgbClr val="000000"/>
                </a:solidFill>
                <a:latin typeface="Arial" panose="020B0604020202020204" pitchFamily="34" charset="0"/>
              </a:rPr>
              <a:t>（</a:t>
            </a:r>
            <a:r>
              <a:rPr lang="en-US" altLang="zh-CN" sz="1800" dirty="0">
                <a:solidFill>
                  <a:srgbClr val="000000"/>
                </a:solidFill>
                <a:latin typeface="Arial" panose="020B0604020202020204" pitchFamily="34" charset="0"/>
              </a:rPr>
              <a:t>1</a:t>
            </a:r>
            <a:r>
              <a:rPr lang="zh-CN" altLang="en-US" sz="1800" dirty="0">
                <a:solidFill>
                  <a:srgbClr val="000000"/>
                </a:solidFill>
                <a:latin typeface="Arial" panose="020B0604020202020204" pitchFamily="34" charset="0"/>
              </a:rPr>
              <a:t>）本题用于信号失真度测量的主控制器和数据采集器必须使用</a:t>
            </a:r>
            <a:r>
              <a:rPr lang="en-US" altLang="zh-CN" sz="1800" dirty="0">
                <a:solidFill>
                  <a:srgbClr val="000000"/>
                </a:solidFill>
                <a:latin typeface="Arial" panose="020B0604020202020204" pitchFamily="34" charset="0"/>
              </a:rPr>
              <a:t>TI </a:t>
            </a:r>
            <a:r>
              <a:rPr lang="zh-CN" altLang="en-US" sz="1800" dirty="0">
                <a:solidFill>
                  <a:srgbClr val="000000"/>
                </a:solidFill>
                <a:latin typeface="Arial" panose="020B0604020202020204" pitchFamily="34" charset="0"/>
              </a:rPr>
              <a:t>公司的</a:t>
            </a:r>
            <a:r>
              <a:rPr lang="en-US" altLang="zh-CN" sz="1800" dirty="0">
                <a:solidFill>
                  <a:srgbClr val="000000"/>
                </a:solidFill>
                <a:latin typeface="Arial" panose="020B0604020202020204" pitchFamily="34" charset="0"/>
              </a:rPr>
              <a:t>MCU </a:t>
            </a:r>
            <a:r>
              <a:rPr lang="zh-CN" altLang="en-US" sz="1800" dirty="0">
                <a:solidFill>
                  <a:srgbClr val="000000"/>
                </a:solidFill>
                <a:latin typeface="Arial" panose="020B0604020202020204" pitchFamily="34" charset="0"/>
              </a:rPr>
              <a:t>及其片内</a:t>
            </a:r>
            <a:r>
              <a:rPr lang="en-US" altLang="zh-CN" sz="1800" dirty="0">
                <a:solidFill>
                  <a:srgbClr val="000000"/>
                </a:solidFill>
                <a:latin typeface="Arial" panose="020B0604020202020204" pitchFamily="34" charset="0"/>
              </a:rPr>
              <a:t>ADC</a:t>
            </a:r>
            <a:r>
              <a:rPr lang="zh-CN" altLang="en-US" sz="1800" dirty="0">
                <a:solidFill>
                  <a:srgbClr val="000000"/>
                </a:solidFill>
                <a:latin typeface="Arial" panose="020B0604020202020204" pitchFamily="34" charset="0"/>
              </a:rPr>
              <a:t>，不得使用其他片外</a:t>
            </a:r>
            <a:r>
              <a:rPr lang="en-US" altLang="zh-CN" sz="1800" dirty="0">
                <a:solidFill>
                  <a:srgbClr val="000000"/>
                </a:solidFill>
                <a:latin typeface="Arial" panose="020B0604020202020204" pitchFamily="34" charset="0"/>
              </a:rPr>
              <a:t>ADC </a:t>
            </a:r>
            <a:r>
              <a:rPr lang="zh-CN" altLang="en-US" sz="1800" dirty="0">
                <a:solidFill>
                  <a:srgbClr val="000000"/>
                </a:solidFill>
                <a:latin typeface="Arial" panose="020B0604020202020204" pitchFamily="34" charset="0"/>
              </a:rPr>
              <a:t>和数据采集模块（卡）成品。</a:t>
            </a:r>
          </a:p>
          <a:p>
            <a:pPr indent="-792000">
              <a:lnSpc>
                <a:spcPct val="150000"/>
              </a:lnSpc>
            </a:pPr>
            <a:r>
              <a:rPr lang="zh-CN" altLang="en-US" sz="1800" dirty="0">
                <a:solidFill>
                  <a:srgbClr val="000000"/>
                </a:solidFill>
                <a:latin typeface="Arial" panose="020B0604020202020204" pitchFamily="34" charset="0"/>
              </a:rPr>
              <a:t>（</a:t>
            </a:r>
            <a:r>
              <a:rPr lang="en-US" altLang="zh-CN" sz="1800" dirty="0">
                <a:solidFill>
                  <a:srgbClr val="000000"/>
                </a:solidFill>
                <a:latin typeface="Arial" panose="020B0604020202020204" pitchFamily="34" charset="0"/>
              </a:rPr>
              <a:t>2</a:t>
            </a:r>
            <a:r>
              <a:rPr lang="zh-CN" altLang="en-US" sz="1800" dirty="0">
                <a:solidFill>
                  <a:srgbClr val="000000"/>
                </a:solidFill>
                <a:latin typeface="Arial" panose="020B0604020202020204" pitchFamily="34" charset="0"/>
              </a:rPr>
              <a:t>）关于</a:t>
            </a:r>
            <a:r>
              <a:rPr lang="en-US" altLang="zh-CN" sz="1800" dirty="0">
                <a:solidFill>
                  <a:srgbClr val="000000"/>
                </a:solidFill>
                <a:latin typeface="Arial" panose="020B0604020202020204" pitchFamily="34" charset="0"/>
              </a:rPr>
              <a:t>THD </a:t>
            </a:r>
            <a:r>
              <a:rPr lang="zh-CN" altLang="en-US" sz="1800" dirty="0">
                <a:solidFill>
                  <a:srgbClr val="000000"/>
                </a:solidFill>
                <a:latin typeface="Arial" panose="020B0604020202020204" pitchFamily="34" charset="0"/>
              </a:rPr>
              <a:t>的说明：当放大器输入为正弦信号时，放大器的非线性失真表现为输出信号中出现谐波分量，即出现谐波失真，通常用“总谐波失真</a:t>
            </a:r>
            <a:r>
              <a:rPr lang="en-US" altLang="zh-CN" sz="1800" dirty="0">
                <a:solidFill>
                  <a:srgbClr val="000000"/>
                </a:solidFill>
                <a:latin typeface="Arial" panose="020B0604020202020204" pitchFamily="34" charset="0"/>
              </a:rPr>
              <a:t>THD</a:t>
            </a:r>
            <a:r>
              <a:rPr lang="zh-CN" altLang="en-US" sz="1800" dirty="0">
                <a:solidFill>
                  <a:srgbClr val="000000"/>
                </a:solidFill>
                <a:latin typeface="Arial" panose="020B0604020202020204" pitchFamily="34" charset="0"/>
              </a:rPr>
              <a:t>（</a:t>
            </a:r>
            <a:r>
              <a:rPr lang="en-US" altLang="zh-CN" sz="1800" dirty="0">
                <a:solidFill>
                  <a:srgbClr val="000000"/>
                </a:solidFill>
                <a:latin typeface="Arial" panose="020B0604020202020204" pitchFamily="34" charset="0"/>
              </a:rPr>
              <a:t>total harmonic distortion</a:t>
            </a:r>
            <a:r>
              <a:rPr lang="zh-CN" altLang="en-US" sz="1800" dirty="0">
                <a:solidFill>
                  <a:srgbClr val="000000"/>
                </a:solidFill>
                <a:latin typeface="Arial" panose="020B0604020202020204" pitchFamily="34" charset="0"/>
              </a:rPr>
              <a:t>）”定量分析放大器的非线性失真程度。</a:t>
            </a:r>
          </a:p>
          <a:p>
            <a:pPr indent="-792000">
              <a:lnSpc>
                <a:spcPct val="150000"/>
              </a:lnSpc>
            </a:pPr>
            <a:r>
              <a:rPr lang="zh-CN" altLang="en-US" sz="1800" dirty="0">
                <a:solidFill>
                  <a:srgbClr val="000000"/>
                </a:solidFill>
                <a:latin typeface="Arial" panose="020B0604020202020204" pitchFamily="34" charset="0"/>
              </a:rPr>
              <a:t>若放大器的输入交流电压</a:t>
            </a:r>
            <a:r>
              <a:rPr lang="zh-CN" altLang="en-US" sz="1800" dirty="0" smtClean="0">
                <a:solidFill>
                  <a:srgbClr val="000000"/>
                </a:solidFill>
                <a:latin typeface="Arial" panose="020B0604020202020204" pitchFamily="34" charset="0"/>
              </a:rPr>
              <a:t>为</a:t>
            </a:r>
            <a:r>
              <a:rPr lang="en-US" altLang="zh-CN" sz="1800" i="1" dirty="0" err="1" smtClean="0">
                <a:solidFill>
                  <a:srgbClr val="000000"/>
                </a:solidFill>
                <a:latin typeface="Arial" panose="020B0604020202020204" pitchFamily="34" charset="0"/>
              </a:rPr>
              <a:t>u</a:t>
            </a:r>
            <a:r>
              <a:rPr lang="en-US" altLang="zh-CN" sz="1800" baseline="-25000" dirty="0" err="1" smtClean="0">
                <a:solidFill>
                  <a:srgbClr val="000000"/>
                </a:solidFill>
                <a:latin typeface="Arial" panose="020B0604020202020204" pitchFamily="34" charset="0"/>
              </a:rPr>
              <a:t>i</a:t>
            </a:r>
            <a:r>
              <a:rPr lang="en-US" altLang="zh-CN" sz="1800" dirty="0" smtClean="0">
                <a:solidFill>
                  <a:srgbClr val="000000"/>
                </a:solidFill>
                <a:latin typeface="Arial" panose="020B0604020202020204" pitchFamily="34" charset="0"/>
              </a:rPr>
              <a:t>=</a:t>
            </a:r>
            <a:r>
              <a:rPr lang="en-US" altLang="zh-CN" sz="1800" i="1" dirty="0" err="1" smtClean="0">
                <a:solidFill>
                  <a:srgbClr val="000000"/>
                </a:solidFill>
                <a:latin typeface="Arial" panose="020B0604020202020204" pitchFamily="34" charset="0"/>
              </a:rPr>
              <a:t>U</a:t>
            </a:r>
            <a:r>
              <a:rPr lang="en-US" altLang="zh-CN" sz="1800" baseline="-25000" dirty="0" err="1" smtClean="0">
                <a:solidFill>
                  <a:srgbClr val="000000"/>
                </a:solidFill>
                <a:latin typeface="Arial" panose="020B0604020202020204" pitchFamily="34" charset="0"/>
              </a:rPr>
              <a:t>i</a:t>
            </a:r>
            <a:r>
              <a:rPr lang="en-US" altLang="zh-CN" sz="1800" dirty="0" err="1" smtClean="0">
                <a:solidFill>
                  <a:srgbClr val="000000"/>
                </a:solidFill>
                <a:latin typeface="Arial" panose="020B0604020202020204" pitchFamily="34" charset="0"/>
              </a:rPr>
              <a:t>cos</a:t>
            </a:r>
            <a:r>
              <a:rPr lang="en-US" altLang="zh-CN" sz="1800" dirty="0" smtClean="0">
                <a:solidFill>
                  <a:srgbClr val="000000"/>
                </a:solidFill>
                <a:latin typeface="Arial" panose="020B0604020202020204" pitchFamily="34" charset="0"/>
              </a:rPr>
              <a:t>(</a:t>
            </a:r>
            <a:r>
              <a:rPr lang="el-GR" altLang="zh-CN" sz="1800" i="1" dirty="0" smtClean="0">
                <a:solidFill>
                  <a:srgbClr val="000000"/>
                </a:solidFill>
                <a:latin typeface="Arial" panose="020B0604020202020204" pitchFamily="34" charset="0"/>
              </a:rPr>
              <a:t>ω</a:t>
            </a:r>
            <a:r>
              <a:rPr lang="en-US" altLang="zh-CN" sz="1800" i="1" dirty="0" smtClean="0">
                <a:solidFill>
                  <a:srgbClr val="000000"/>
                </a:solidFill>
                <a:latin typeface="Arial" panose="020B0604020202020204" pitchFamily="34" charset="0"/>
              </a:rPr>
              <a:t>t</a:t>
            </a:r>
            <a:r>
              <a:rPr lang="en-US" altLang="zh-CN" sz="1800" dirty="0" smtClean="0">
                <a:solidFill>
                  <a:srgbClr val="000000"/>
                </a:solidFill>
                <a:latin typeface="Arial" panose="020B0604020202020204" pitchFamily="34" charset="0"/>
              </a:rPr>
              <a:t>)</a:t>
            </a:r>
            <a:r>
              <a:rPr lang="zh-CN" altLang="en-US" sz="1800" dirty="0" smtClean="0">
                <a:solidFill>
                  <a:srgbClr val="000000"/>
                </a:solidFill>
                <a:latin typeface="Arial" panose="020B0604020202020204" pitchFamily="34" charset="0"/>
              </a:rPr>
              <a:t>，</a:t>
            </a:r>
            <a:r>
              <a:rPr lang="zh-CN" altLang="en-US" sz="1800" dirty="0">
                <a:solidFill>
                  <a:srgbClr val="000000"/>
                </a:solidFill>
                <a:latin typeface="Arial" panose="020B0604020202020204" pitchFamily="34" charset="0"/>
              </a:rPr>
              <a:t>出现谐波失真的放大器输出交流电压</a:t>
            </a:r>
            <a:r>
              <a:rPr lang="zh-CN" altLang="en-US" sz="1800" dirty="0" smtClean="0">
                <a:solidFill>
                  <a:srgbClr val="000000"/>
                </a:solidFill>
                <a:latin typeface="Arial" panose="020B0604020202020204" pitchFamily="34" charset="0"/>
              </a:rPr>
              <a:t>为</a:t>
            </a:r>
            <a:endParaRPr lang="en-US" altLang="zh-CN" sz="1800" dirty="0" smtClean="0">
              <a:solidFill>
                <a:srgbClr val="000000"/>
              </a:solidFill>
              <a:latin typeface="Arial" panose="020B0604020202020204" pitchFamily="34" charset="0"/>
            </a:endParaRPr>
          </a:p>
          <a:p>
            <a:pPr indent="-792000">
              <a:lnSpc>
                <a:spcPct val="150000"/>
              </a:lnSpc>
            </a:pPr>
            <a:r>
              <a:rPr lang="en-US" altLang="zh-CN" sz="1800" i="1" dirty="0" err="1" smtClean="0">
                <a:solidFill>
                  <a:srgbClr val="000000"/>
                </a:solidFill>
                <a:latin typeface="Arial" panose="020B0604020202020204" pitchFamily="34" charset="0"/>
              </a:rPr>
              <a:t>u</a:t>
            </a:r>
            <a:r>
              <a:rPr lang="en-US" altLang="zh-CN" sz="1800" baseline="-25000" dirty="0" err="1" smtClean="0">
                <a:solidFill>
                  <a:srgbClr val="000000"/>
                </a:solidFill>
                <a:latin typeface="Arial" panose="020B0604020202020204" pitchFamily="34" charset="0"/>
              </a:rPr>
              <a:t>o</a:t>
            </a:r>
            <a:r>
              <a:rPr lang="en-US" altLang="zh-CN" sz="1800" dirty="0" smtClean="0">
                <a:solidFill>
                  <a:srgbClr val="000000"/>
                </a:solidFill>
                <a:latin typeface="Arial" panose="020B0604020202020204" pitchFamily="34" charset="0"/>
              </a:rPr>
              <a:t>=</a:t>
            </a:r>
            <a:r>
              <a:rPr lang="en-US" altLang="zh-CN" sz="1800" i="1" dirty="0" smtClean="0">
                <a:solidFill>
                  <a:srgbClr val="000000"/>
                </a:solidFill>
                <a:latin typeface="Arial" panose="020B0604020202020204" pitchFamily="34" charset="0"/>
              </a:rPr>
              <a:t>U</a:t>
            </a:r>
            <a:r>
              <a:rPr lang="en-US" altLang="zh-CN" sz="1800" baseline="-25000" dirty="0" smtClean="0">
                <a:solidFill>
                  <a:srgbClr val="000000"/>
                </a:solidFill>
                <a:latin typeface="Arial" panose="020B0604020202020204" pitchFamily="34" charset="0"/>
              </a:rPr>
              <a:t>o1</a:t>
            </a:r>
            <a:r>
              <a:rPr lang="en-US" altLang="zh-CN" sz="1800" dirty="0" smtClean="0">
                <a:solidFill>
                  <a:srgbClr val="000000"/>
                </a:solidFill>
                <a:latin typeface="Arial" panose="020B0604020202020204" pitchFamily="34" charset="0"/>
              </a:rPr>
              <a:t>cos(</a:t>
            </a:r>
            <a:r>
              <a:rPr lang="el-GR" altLang="zh-CN" sz="1800" i="1" dirty="0">
                <a:solidFill>
                  <a:srgbClr val="000000"/>
                </a:solidFill>
                <a:latin typeface="Arial" panose="020B0604020202020204" pitchFamily="34" charset="0"/>
              </a:rPr>
              <a:t>ω</a:t>
            </a:r>
            <a:r>
              <a:rPr lang="en-US" altLang="zh-CN" sz="1800" i="1" dirty="0" smtClean="0">
                <a:solidFill>
                  <a:srgbClr val="000000"/>
                </a:solidFill>
                <a:latin typeface="Arial" panose="020B0604020202020204" pitchFamily="34" charset="0"/>
              </a:rPr>
              <a:t>t+</a:t>
            </a:r>
            <a:r>
              <a:rPr lang="el-GR" altLang="zh-CN" sz="1800" i="1" dirty="0" smtClean="0">
                <a:solidFill>
                  <a:srgbClr val="000000"/>
                </a:solidFill>
                <a:latin typeface="Arial" panose="020B0604020202020204" pitchFamily="34" charset="0"/>
              </a:rPr>
              <a:t>φ</a:t>
            </a:r>
            <a:r>
              <a:rPr lang="en-US" altLang="zh-CN" sz="1800" baseline="-25000" dirty="0">
                <a:solidFill>
                  <a:srgbClr val="000000"/>
                </a:solidFill>
                <a:latin typeface="Arial" panose="020B0604020202020204" pitchFamily="34" charset="0"/>
              </a:rPr>
              <a:t>1</a:t>
            </a:r>
            <a:r>
              <a:rPr lang="en-US" altLang="zh-CN" sz="1800" dirty="0" smtClean="0">
                <a:solidFill>
                  <a:srgbClr val="000000"/>
                </a:solidFill>
                <a:latin typeface="Arial" panose="020B0604020202020204" pitchFamily="34" charset="0"/>
              </a:rPr>
              <a:t>)+</a:t>
            </a:r>
            <a:r>
              <a:rPr lang="en-US" altLang="zh-CN" sz="1800" i="1" dirty="0" smtClean="0">
                <a:solidFill>
                  <a:srgbClr val="000000"/>
                </a:solidFill>
                <a:latin typeface="Arial" panose="020B0604020202020204" pitchFamily="34" charset="0"/>
              </a:rPr>
              <a:t>U</a:t>
            </a:r>
            <a:r>
              <a:rPr lang="en-US" altLang="zh-CN" sz="1800" baseline="-25000" dirty="0" smtClean="0">
                <a:solidFill>
                  <a:srgbClr val="000000"/>
                </a:solidFill>
                <a:latin typeface="Arial" panose="020B0604020202020204" pitchFamily="34" charset="0"/>
              </a:rPr>
              <a:t>o2</a:t>
            </a:r>
            <a:r>
              <a:rPr lang="en-US" altLang="zh-CN" sz="1800" dirty="0" smtClean="0">
                <a:solidFill>
                  <a:srgbClr val="000000"/>
                </a:solidFill>
                <a:latin typeface="Arial" panose="020B0604020202020204" pitchFamily="34" charset="0"/>
              </a:rPr>
              <a:t>cos(2</a:t>
            </a:r>
            <a:r>
              <a:rPr lang="el-GR" altLang="zh-CN" sz="1800" i="1" dirty="0" smtClean="0">
                <a:solidFill>
                  <a:srgbClr val="000000"/>
                </a:solidFill>
                <a:latin typeface="Arial" panose="020B0604020202020204" pitchFamily="34" charset="0"/>
              </a:rPr>
              <a:t>ω</a:t>
            </a:r>
            <a:r>
              <a:rPr lang="en-US" altLang="zh-CN" sz="1800" i="1" dirty="0">
                <a:solidFill>
                  <a:srgbClr val="000000"/>
                </a:solidFill>
                <a:latin typeface="Arial" panose="020B0604020202020204" pitchFamily="34" charset="0"/>
              </a:rPr>
              <a:t>t+</a:t>
            </a:r>
            <a:r>
              <a:rPr lang="el-GR" altLang="zh-CN" sz="1800" i="1" dirty="0" smtClean="0">
                <a:solidFill>
                  <a:srgbClr val="000000"/>
                </a:solidFill>
                <a:latin typeface="Arial" panose="020B0604020202020204" pitchFamily="34" charset="0"/>
              </a:rPr>
              <a:t>φ</a:t>
            </a:r>
            <a:r>
              <a:rPr lang="en-US" altLang="zh-CN" sz="1800" baseline="-25000" dirty="0" smtClean="0">
                <a:solidFill>
                  <a:srgbClr val="000000"/>
                </a:solidFill>
                <a:latin typeface="Arial" panose="020B0604020202020204" pitchFamily="34" charset="0"/>
              </a:rPr>
              <a:t>2</a:t>
            </a:r>
            <a:r>
              <a:rPr lang="en-US" altLang="zh-CN" sz="1800" dirty="0" smtClean="0">
                <a:solidFill>
                  <a:srgbClr val="000000"/>
                </a:solidFill>
                <a:latin typeface="Arial" panose="020B0604020202020204" pitchFamily="34" charset="0"/>
              </a:rPr>
              <a:t>)+</a:t>
            </a:r>
            <a:r>
              <a:rPr lang="en-US" altLang="zh-CN" sz="1800" i="1" dirty="0" smtClean="0">
                <a:solidFill>
                  <a:srgbClr val="000000"/>
                </a:solidFill>
                <a:latin typeface="Arial" panose="020B0604020202020204" pitchFamily="34" charset="0"/>
              </a:rPr>
              <a:t>U</a:t>
            </a:r>
            <a:r>
              <a:rPr lang="en-US" altLang="zh-CN" sz="1800" baseline="-25000" dirty="0" smtClean="0">
                <a:solidFill>
                  <a:srgbClr val="000000"/>
                </a:solidFill>
                <a:latin typeface="Arial" panose="020B0604020202020204" pitchFamily="34" charset="0"/>
              </a:rPr>
              <a:t>o3</a:t>
            </a:r>
            <a:r>
              <a:rPr lang="en-US" altLang="zh-CN" sz="1800" dirty="0" smtClean="0">
                <a:solidFill>
                  <a:srgbClr val="000000"/>
                </a:solidFill>
                <a:latin typeface="Arial" panose="020B0604020202020204" pitchFamily="34" charset="0"/>
              </a:rPr>
              <a:t>cos(3</a:t>
            </a:r>
            <a:r>
              <a:rPr lang="el-GR" altLang="zh-CN" sz="1800" i="1" dirty="0" smtClean="0">
                <a:solidFill>
                  <a:srgbClr val="000000"/>
                </a:solidFill>
                <a:latin typeface="Arial" panose="020B0604020202020204" pitchFamily="34" charset="0"/>
              </a:rPr>
              <a:t>ω</a:t>
            </a:r>
            <a:r>
              <a:rPr lang="en-US" altLang="zh-CN" sz="1800" i="1" dirty="0">
                <a:solidFill>
                  <a:srgbClr val="000000"/>
                </a:solidFill>
                <a:latin typeface="Arial" panose="020B0604020202020204" pitchFamily="34" charset="0"/>
              </a:rPr>
              <a:t>t+</a:t>
            </a:r>
            <a:r>
              <a:rPr lang="el-GR" altLang="zh-CN" sz="1800" i="1" dirty="0" smtClean="0">
                <a:solidFill>
                  <a:srgbClr val="000000"/>
                </a:solidFill>
                <a:latin typeface="Arial" panose="020B0604020202020204" pitchFamily="34" charset="0"/>
              </a:rPr>
              <a:t>φ</a:t>
            </a:r>
            <a:r>
              <a:rPr lang="en-US" altLang="zh-CN" sz="1800" baseline="-25000" dirty="0" smtClean="0">
                <a:solidFill>
                  <a:srgbClr val="000000"/>
                </a:solidFill>
                <a:latin typeface="Arial" panose="020B0604020202020204" pitchFamily="34" charset="0"/>
              </a:rPr>
              <a:t>3</a:t>
            </a:r>
            <a:r>
              <a:rPr lang="en-US" altLang="zh-CN" sz="1800" dirty="0" smtClean="0">
                <a:solidFill>
                  <a:srgbClr val="000000"/>
                </a:solidFill>
                <a:latin typeface="Arial" panose="020B0604020202020204" pitchFamily="34" charset="0"/>
              </a:rPr>
              <a:t>)+… </a:t>
            </a:r>
            <a:r>
              <a:rPr lang="zh-CN" altLang="en-US" sz="1800" dirty="0" smtClean="0">
                <a:solidFill>
                  <a:srgbClr val="000000"/>
                </a:solidFill>
                <a:latin typeface="Arial" panose="020B0604020202020204" pitchFamily="34" charset="0"/>
              </a:rPr>
              <a:t>，</a:t>
            </a:r>
            <a:r>
              <a:rPr lang="zh-CN" altLang="en-US" sz="1800" dirty="0">
                <a:solidFill>
                  <a:srgbClr val="000000"/>
                </a:solidFill>
                <a:latin typeface="Arial" panose="020B0604020202020204" pitchFamily="34" charset="0"/>
              </a:rPr>
              <a:t>则</a:t>
            </a:r>
            <a:r>
              <a:rPr lang="en-US" altLang="zh-CN" sz="1800" i="1" dirty="0" err="1">
                <a:solidFill>
                  <a:srgbClr val="000000"/>
                </a:solidFill>
                <a:latin typeface="Arial" panose="020B0604020202020204" pitchFamily="34" charset="0"/>
              </a:rPr>
              <a:t>u</a:t>
            </a:r>
            <a:r>
              <a:rPr lang="en-US" altLang="zh-CN" sz="1800" i="1" baseline="-25000" dirty="0" err="1">
                <a:solidFill>
                  <a:srgbClr val="000000"/>
                </a:solidFill>
                <a:latin typeface="Arial" panose="020B0604020202020204" pitchFamily="34" charset="0"/>
              </a:rPr>
              <a:t>o</a:t>
            </a:r>
            <a:r>
              <a:rPr lang="zh-CN" altLang="en-US" sz="1800" dirty="0">
                <a:solidFill>
                  <a:srgbClr val="000000"/>
                </a:solidFill>
                <a:latin typeface="Arial" panose="020B0604020202020204" pitchFamily="34" charset="0"/>
              </a:rPr>
              <a:t>的总谐波失真（失真度）定义</a:t>
            </a:r>
            <a:r>
              <a:rPr lang="zh-CN" altLang="en-US" sz="1800" dirty="0" smtClean="0">
                <a:solidFill>
                  <a:srgbClr val="000000"/>
                </a:solidFill>
                <a:latin typeface="Arial" panose="020B0604020202020204" pitchFamily="34" charset="0"/>
              </a:rPr>
              <a:t>为</a:t>
            </a:r>
            <a:endParaRPr lang="en-US" altLang="zh-CN" sz="1800" dirty="0" smtClean="0">
              <a:solidFill>
                <a:srgbClr val="000000"/>
              </a:solidFill>
              <a:latin typeface="Arial" panose="020B0604020202020204" pitchFamily="34" charset="0"/>
            </a:endParaRPr>
          </a:p>
          <a:p>
            <a:pPr indent="-792000">
              <a:lnSpc>
                <a:spcPct val="125000"/>
              </a:lnSpc>
            </a:pPr>
            <a:endParaRPr lang="en-US" altLang="zh-CN" sz="1800" dirty="0">
              <a:solidFill>
                <a:srgbClr val="000000"/>
              </a:solidFill>
              <a:latin typeface="黑体" panose="02010609060101010101" pitchFamily="49" charset="-122"/>
              <a:ea typeface="黑体" panose="02010609060101010101" pitchFamily="49" charset="-122"/>
            </a:endParaRPr>
          </a:p>
          <a:p>
            <a:pPr>
              <a:lnSpc>
                <a:spcPct val="125000"/>
              </a:lnSpc>
            </a:pPr>
            <a:endParaRPr lang="en-US" altLang="zh-CN" sz="1800" dirty="0" smtClean="0">
              <a:solidFill>
                <a:srgbClr val="000000"/>
              </a:solidFill>
              <a:latin typeface="黑体" panose="02010609060101010101" pitchFamily="49" charset="-122"/>
              <a:ea typeface="黑体" panose="02010609060101010101" pitchFamily="49" charset="-122"/>
            </a:endParaRPr>
          </a:p>
          <a:p>
            <a:pPr>
              <a:lnSpc>
                <a:spcPct val="125000"/>
              </a:lnSpc>
            </a:pPr>
            <a:endParaRPr lang="pl-PL" altLang="zh-CN" sz="1800" dirty="0">
              <a:solidFill>
                <a:srgbClr val="000000"/>
              </a:solidFill>
              <a:latin typeface="黑体" panose="02010609060101010101" pitchFamily="49" charset="-122"/>
              <a:ea typeface="黑体" panose="02010609060101010101" pitchFamily="49" charset="-122"/>
            </a:endParaRPr>
          </a:p>
          <a:p>
            <a:pPr>
              <a:lnSpc>
                <a:spcPct val="125000"/>
              </a:lnSpc>
            </a:pPr>
            <a:r>
              <a:rPr lang="zh-CN" altLang="en-US" sz="1800" dirty="0">
                <a:solidFill>
                  <a:srgbClr val="000000"/>
                </a:solidFill>
                <a:latin typeface="宋体" panose="02010600030101010101" pitchFamily="2" charset="-122"/>
                <a:ea typeface="宋体" panose="02010600030101010101" pitchFamily="2" charset="-122"/>
              </a:rPr>
              <a:t>本题信号失真度测量采用近似方式，测量和分析输入信号谐波成分时，限定只处理到</a:t>
            </a:r>
            <a:r>
              <a:rPr lang="en-US" altLang="zh-CN" sz="1800" dirty="0">
                <a:solidFill>
                  <a:srgbClr val="000000"/>
                </a:solidFill>
                <a:latin typeface="Times New Roman" panose="02020603050405020304" pitchFamily="18" charset="0"/>
                <a:ea typeface="宋体" panose="02010600030101010101" pitchFamily="2" charset="-122"/>
              </a:rPr>
              <a:t>5 </a:t>
            </a:r>
            <a:r>
              <a:rPr lang="zh-CN" altLang="en-US" sz="1800" dirty="0">
                <a:solidFill>
                  <a:srgbClr val="000000"/>
                </a:solidFill>
                <a:latin typeface="宋体" panose="02010600030101010101" pitchFamily="2" charset="-122"/>
                <a:ea typeface="宋体" panose="02010600030101010101" pitchFamily="2" charset="-122"/>
              </a:rPr>
              <a:t>次谐波。定义</a:t>
            </a:r>
          </a:p>
          <a:p>
            <a:pPr>
              <a:lnSpc>
                <a:spcPct val="125000"/>
              </a:lnSpc>
            </a:pPr>
            <a:endParaRPr lang="en-US" altLang="zh-CN" sz="1800" dirty="0" smtClean="0">
              <a:solidFill>
                <a:srgbClr val="000000"/>
              </a:solidFill>
              <a:latin typeface="黑体" panose="02010609060101010101" pitchFamily="49" charset="-122"/>
              <a:ea typeface="黑体" panose="02010609060101010101" pitchFamily="49" charset="-122"/>
            </a:endParaRPr>
          </a:p>
          <a:p>
            <a:pPr>
              <a:lnSpc>
                <a:spcPct val="125000"/>
              </a:lnSpc>
            </a:pPr>
            <a:endParaRPr lang="en-US" altLang="zh-CN" sz="1800" dirty="0">
              <a:solidFill>
                <a:srgbClr val="000000"/>
              </a:solidFill>
              <a:latin typeface="黑体" panose="02010609060101010101" pitchFamily="49" charset="-122"/>
              <a:ea typeface="黑体" panose="02010609060101010101" pitchFamily="49" charset="-122"/>
            </a:endParaRPr>
          </a:p>
          <a:p>
            <a:pPr>
              <a:lnSpc>
                <a:spcPct val="125000"/>
              </a:lnSpc>
            </a:pPr>
            <a:r>
              <a:rPr lang="pl-PL" altLang="zh-CN" sz="1800" dirty="0" smtClean="0">
                <a:solidFill>
                  <a:srgbClr val="000000"/>
                </a:solidFill>
                <a:latin typeface="黑体" panose="02010609060101010101" pitchFamily="49" charset="-122"/>
                <a:ea typeface="黑体" panose="02010609060101010101" pitchFamily="49" charset="-122"/>
              </a:rPr>
              <a:t> </a:t>
            </a:r>
            <a:endParaRPr lang="pl-PL" altLang="zh-CN" sz="1800" dirty="0">
              <a:solidFill>
                <a:srgbClr val="000000"/>
              </a:solidFill>
              <a:latin typeface="黑体" panose="02010609060101010101" pitchFamily="49" charset="-122"/>
              <a:ea typeface="黑体" panose="02010609060101010101" pitchFamily="49" charset="-122"/>
            </a:endParaRPr>
          </a:p>
          <a:p>
            <a:pPr>
              <a:lnSpc>
                <a:spcPct val="125000"/>
              </a:lnSpc>
            </a:pPr>
            <a:r>
              <a:rPr lang="zh-CN" altLang="en-US" sz="1800" dirty="0">
                <a:solidFill>
                  <a:srgbClr val="000000"/>
                </a:solidFill>
                <a:latin typeface="宋体" panose="02010600030101010101" pitchFamily="2" charset="-122"/>
                <a:ea typeface="宋体" panose="02010600030101010101" pitchFamily="2" charset="-122"/>
              </a:rPr>
              <a:t>为本题失真度的标称值</a:t>
            </a:r>
            <a:r>
              <a:rPr lang="zh-CN" altLang="en-US" sz="1800" dirty="0" smtClean="0">
                <a:solidFill>
                  <a:srgbClr val="000000"/>
                </a:solidFill>
                <a:latin typeface="宋体" panose="02010600030101010101" pitchFamily="2" charset="-122"/>
                <a:ea typeface="宋体" panose="02010600030101010101" pitchFamily="2" charset="-122"/>
              </a:rPr>
              <a:t>。</a:t>
            </a:r>
            <a:endParaRPr lang="zh-CN" altLang="en-US" sz="1800" dirty="0"/>
          </a:p>
        </p:txBody>
      </p:sp>
      <p:pic>
        <p:nvPicPr>
          <p:cNvPr id="6" name="图片 5"/>
          <p:cNvPicPr>
            <a:picLocks noChangeAspect="1"/>
          </p:cNvPicPr>
          <p:nvPr/>
        </p:nvPicPr>
        <p:blipFill>
          <a:blip r:embed="rId2"/>
          <a:stretch>
            <a:fillRect/>
          </a:stretch>
        </p:blipFill>
        <p:spPr>
          <a:xfrm>
            <a:off x="4244721" y="3512571"/>
            <a:ext cx="3600953" cy="752580"/>
          </a:xfrm>
          <a:prstGeom prst="rect">
            <a:avLst/>
          </a:prstGeom>
        </p:spPr>
      </p:pic>
      <p:pic>
        <p:nvPicPr>
          <p:cNvPr id="7" name="图片 6"/>
          <p:cNvPicPr>
            <a:picLocks noChangeAspect="1"/>
          </p:cNvPicPr>
          <p:nvPr/>
        </p:nvPicPr>
        <p:blipFill>
          <a:blip r:embed="rId3"/>
          <a:stretch>
            <a:fillRect/>
          </a:stretch>
        </p:blipFill>
        <p:spPr>
          <a:xfrm>
            <a:off x="4176185" y="4820327"/>
            <a:ext cx="3905795" cy="800212"/>
          </a:xfrm>
          <a:prstGeom prst="rect">
            <a:avLst/>
          </a:prstGeom>
        </p:spPr>
      </p:pic>
    </p:spTree>
    <p:extLst>
      <p:ext uri="{BB962C8B-B14F-4D97-AF65-F5344CB8AC3E}">
        <p14:creationId xmlns:p14="http://schemas.microsoft.com/office/powerpoint/2010/main" val="951607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sp>
        <p:nvSpPr>
          <p:cNvPr id="5" name="矩形 4"/>
          <p:cNvSpPr/>
          <p:nvPr/>
        </p:nvSpPr>
        <p:spPr>
          <a:xfrm>
            <a:off x="428173" y="340202"/>
            <a:ext cx="11255828" cy="1985159"/>
          </a:xfrm>
          <a:prstGeom prst="rect">
            <a:avLst/>
          </a:prstGeom>
        </p:spPr>
        <p:txBody>
          <a:bodyPr wrap="square">
            <a:spAutoFit/>
          </a:bodyPr>
          <a:lstStyle/>
          <a:p>
            <a:pPr algn="ctr">
              <a:lnSpc>
                <a:spcPct val="150000"/>
              </a:lnSpc>
            </a:pPr>
            <a:r>
              <a:rPr lang="zh-CN" altLang="zh-CN" sz="2800" dirty="0">
                <a:solidFill>
                  <a:schemeClr val="accent6">
                    <a:lumMod val="75000"/>
                  </a:schemeClr>
                </a:solidFill>
                <a:latin typeface="隶书" panose="02010509060101010101" pitchFamily="49" charset="-122"/>
                <a:ea typeface="隶书" panose="02010509060101010101" pitchFamily="49" charset="-122"/>
              </a:rPr>
              <a:t>题目</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分析</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与解决方案</a:t>
            </a:r>
            <a:endParaRPr lang="zh-CN" altLang="zh-CN" sz="2400" dirty="0">
              <a:solidFill>
                <a:schemeClr val="accent6">
                  <a:lumMod val="75000"/>
                </a:schemeClr>
              </a:solidFill>
              <a:latin typeface="隶书" panose="02010509060101010101" pitchFamily="49" charset="-122"/>
              <a:ea typeface="隶书" panose="02010509060101010101" pitchFamily="49" charset="-122"/>
            </a:endParaRPr>
          </a:p>
          <a:p>
            <a:pPr>
              <a:lnSpc>
                <a:spcPct val="150000"/>
              </a:lnSpc>
            </a:pPr>
            <a:r>
              <a:rPr lang="zh-CN" altLang="en-US" sz="1800" dirty="0"/>
              <a:t>尽管此题的题目是失真度测量装置，但实际上是对输入信号进行</a:t>
            </a:r>
            <a:r>
              <a:rPr lang="zh-CN" altLang="en-US" sz="1800" dirty="0">
                <a:latin typeface="+mj-ea"/>
                <a:ea typeface="+mj-ea"/>
              </a:rPr>
              <a:t>频谱</a:t>
            </a:r>
            <a:r>
              <a:rPr lang="zh-CN" altLang="en-US" sz="1800" dirty="0" smtClean="0">
                <a:latin typeface="+mj-ea"/>
                <a:ea typeface="+mj-ea"/>
              </a:rPr>
              <a:t>分析</a:t>
            </a:r>
            <a:endParaRPr lang="en-US" altLang="zh-CN" sz="1800" dirty="0" smtClean="0">
              <a:latin typeface="+mj-ea"/>
              <a:ea typeface="+mj-ea"/>
            </a:endParaRPr>
          </a:p>
          <a:p>
            <a:pPr>
              <a:lnSpc>
                <a:spcPct val="150000"/>
              </a:lnSpc>
            </a:pPr>
            <a:r>
              <a:rPr lang="zh-CN" altLang="en-US" sz="1800" dirty="0"/>
              <a:t>由于题目要求显示一个信号周期波形，显然需要对信号进行采集，所以本题的解决方案一定是用</a:t>
            </a:r>
            <a:r>
              <a:rPr lang="en-US" altLang="zh-CN" sz="1800" dirty="0"/>
              <a:t>FFT </a:t>
            </a:r>
            <a:r>
              <a:rPr lang="zh-CN" altLang="en-US" sz="1800" dirty="0"/>
              <a:t>实现频谱分析的方案，其结构如下：</a:t>
            </a:r>
            <a:endParaRPr lang="en-US" altLang="zh-CN" sz="1600" dirty="0" smtClean="0">
              <a:latin typeface="+mj-ea"/>
              <a:ea typeface="+mj-ea"/>
            </a:endParaRPr>
          </a:p>
        </p:txBody>
      </p:sp>
      <p:pic>
        <p:nvPicPr>
          <p:cNvPr id="7" name="图片 6"/>
          <p:cNvPicPr>
            <a:picLocks noChangeAspect="1"/>
          </p:cNvPicPr>
          <p:nvPr/>
        </p:nvPicPr>
        <p:blipFill>
          <a:blip r:embed="rId2"/>
          <a:stretch>
            <a:fillRect/>
          </a:stretch>
        </p:blipFill>
        <p:spPr>
          <a:xfrm>
            <a:off x="1924707" y="2619507"/>
            <a:ext cx="7723061" cy="1531577"/>
          </a:xfrm>
          <a:prstGeom prst="rect">
            <a:avLst/>
          </a:prstGeom>
        </p:spPr>
      </p:pic>
      <p:sp>
        <p:nvSpPr>
          <p:cNvPr id="8" name="文本框 7"/>
          <p:cNvSpPr txBox="1"/>
          <p:nvPr/>
        </p:nvSpPr>
        <p:spPr>
          <a:xfrm>
            <a:off x="428172" y="4513943"/>
            <a:ext cx="11328399" cy="1338828"/>
          </a:xfrm>
          <a:prstGeom prst="rect">
            <a:avLst/>
          </a:prstGeom>
          <a:noFill/>
        </p:spPr>
        <p:txBody>
          <a:bodyPr wrap="square" rtlCol="0">
            <a:spAutoFit/>
          </a:bodyPr>
          <a:lstStyle/>
          <a:p>
            <a:pPr>
              <a:lnSpc>
                <a:spcPct val="150000"/>
              </a:lnSpc>
            </a:pPr>
            <a:r>
              <a:rPr lang="zh-CN" altLang="en-US" sz="1800" dirty="0">
                <a:latin typeface="+mn-ea"/>
                <a:ea typeface="+mn-ea"/>
              </a:rPr>
              <a:t>题目给定的输入信号幅度范围较大（峰峰值</a:t>
            </a:r>
            <a:r>
              <a:rPr lang="en-US" altLang="zh-CN" sz="1800" dirty="0">
                <a:latin typeface="+mn-ea"/>
                <a:ea typeface="+mn-ea"/>
              </a:rPr>
              <a:t>30mV ~ 600mV</a:t>
            </a:r>
            <a:r>
              <a:rPr lang="zh-CN" altLang="en-US" sz="1800" dirty="0">
                <a:latin typeface="+mn-ea"/>
                <a:ea typeface="+mn-ea"/>
              </a:rPr>
              <a:t>），为了保证足够的采样精度，前置放大器必须增益可变。由于题目只要求测量归一化</a:t>
            </a:r>
            <a:r>
              <a:rPr lang="zh-CN" altLang="en-US" sz="1800" dirty="0" smtClean="0">
                <a:latin typeface="+mn-ea"/>
                <a:ea typeface="+mn-ea"/>
              </a:rPr>
              <a:t>幅度（相对幅度），</a:t>
            </a:r>
            <a:r>
              <a:rPr lang="zh-CN" altLang="en-US" sz="1800" dirty="0">
                <a:latin typeface="+mn-ea"/>
                <a:ea typeface="+mn-ea"/>
              </a:rPr>
              <a:t>所以放大器</a:t>
            </a:r>
            <a:r>
              <a:rPr lang="zh-CN" altLang="en-US" sz="1800" dirty="0" smtClean="0">
                <a:latin typeface="+mn-ea"/>
                <a:ea typeface="+mn-ea"/>
              </a:rPr>
              <a:t>只要带有</a:t>
            </a:r>
            <a:r>
              <a:rPr lang="en-US" altLang="zh-CN" sz="1800" dirty="0">
                <a:latin typeface="+mn-ea"/>
                <a:ea typeface="+mn-ea"/>
              </a:rPr>
              <a:t>AGC </a:t>
            </a:r>
            <a:r>
              <a:rPr lang="zh-CN" altLang="en-US" sz="1800" dirty="0">
                <a:latin typeface="+mn-ea"/>
                <a:ea typeface="+mn-ea"/>
              </a:rPr>
              <a:t>功能即可（如果要求测量信号的绝对幅度，那就需要用单片机控制放大器的增益，使得其增益精确可控）。</a:t>
            </a:r>
            <a:endParaRPr lang="zh-CN" altLang="en-US" sz="1600" dirty="0">
              <a:latin typeface="+mn-ea"/>
              <a:ea typeface="+mn-ea"/>
            </a:endParaRPr>
          </a:p>
        </p:txBody>
      </p:sp>
    </p:spTree>
    <p:extLst>
      <p:ext uri="{BB962C8B-B14F-4D97-AF65-F5344CB8AC3E}">
        <p14:creationId xmlns:p14="http://schemas.microsoft.com/office/powerpoint/2010/main" val="2174846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文本框 4"/>
          <p:cNvSpPr txBox="1"/>
          <p:nvPr/>
        </p:nvSpPr>
        <p:spPr>
          <a:xfrm>
            <a:off x="326571" y="464457"/>
            <a:ext cx="11546115" cy="5493812"/>
          </a:xfrm>
          <a:prstGeom prst="rect">
            <a:avLst/>
          </a:prstGeom>
          <a:noFill/>
        </p:spPr>
        <p:txBody>
          <a:bodyPr wrap="square" rtlCol="0">
            <a:spAutoFit/>
          </a:bodyPr>
          <a:lstStyle/>
          <a:p>
            <a:pPr>
              <a:lnSpc>
                <a:spcPct val="150000"/>
              </a:lnSpc>
            </a:pPr>
            <a:r>
              <a:rPr lang="en-US" altLang="zh-CN" sz="1800" dirty="0"/>
              <a:t>FFT </a:t>
            </a:r>
            <a:r>
              <a:rPr lang="zh-CN" altLang="en-US" sz="1800" dirty="0"/>
              <a:t>分析中的一些注意点。</a:t>
            </a:r>
          </a:p>
          <a:p>
            <a:pPr>
              <a:lnSpc>
                <a:spcPct val="150000"/>
              </a:lnSpc>
            </a:pPr>
            <a:r>
              <a:rPr lang="en-US" altLang="zh-CN" sz="1800" dirty="0" smtClean="0"/>
              <a:t>1</a:t>
            </a:r>
            <a:r>
              <a:rPr lang="zh-CN" altLang="en-US" sz="1800" dirty="0" smtClean="0"/>
              <a:t>、采样</a:t>
            </a:r>
            <a:r>
              <a:rPr lang="zh-CN" altLang="en-US" sz="1800" dirty="0"/>
              <a:t>窗口的</a:t>
            </a:r>
            <a:r>
              <a:rPr lang="zh-CN" altLang="en-US" sz="1800" dirty="0" smtClean="0"/>
              <a:t>选择</a:t>
            </a:r>
            <a:endParaRPr lang="en-US" altLang="zh-CN" sz="1800" dirty="0" smtClean="0"/>
          </a:p>
          <a:p>
            <a:pPr indent="457200">
              <a:lnSpc>
                <a:spcPct val="150000"/>
              </a:lnSpc>
            </a:pPr>
            <a:r>
              <a:rPr lang="zh-CN" altLang="en-US" sz="1800" dirty="0" smtClean="0"/>
              <a:t>根据</a:t>
            </a:r>
            <a:r>
              <a:rPr lang="zh-CN" altLang="en-US" sz="1800" dirty="0"/>
              <a:t>傅里叶变换的原理，如果采样时间正好等于被采样信号基波周期的整数倍，那么</a:t>
            </a:r>
            <a:r>
              <a:rPr lang="en-US" altLang="zh-CN" sz="1800" dirty="0"/>
              <a:t>FFT </a:t>
            </a:r>
            <a:r>
              <a:rPr lang="zh-CN" altLang="en-US" sz="1800" dirty="0"/>
              <a:t>的变换结果是正确的。但若是采样时间不等于被测信号基波周期的整数倍，</a:t>
            </a:r>
            <a:r>
              <a:rPr lang="zh-CN" altLang="en-US" sz="1800" dirty="0" smtClean="0"/>
              <a:t>那么分析</a:t>
            </a:r>
            <a:r>
              <a:rPr lang="zh-CN" altLang="en-US" sz="1800" dirty="0"/>
              <a:t>结果中出现原始信号中没有的虚假分量。</a:t>
            </a:r>
          </a:p>
          <a:p>
            <a:pPr indent="457200">
              <a:lnSpc>
                <a:spcPct val="150000"/>
              </a:lnSpc>
            </a:pPr>
            <a:r>
              <a:rPr lang="zh-CN" altLang="en-US" sz="1800" dirty="0"/>
              <a:t>解决这个问题的方法有下面</a:t>
            </a:r>
            <a:r>
              <a:rPr lang="zh-CN" altLang="en-US" sz="1800" dirty="0" smtClean="0"/>
              <a:t>几种：</a:t>
            </a:r>
            <a:endParaRPr lang="en-US" altLang="zh-CN" sz="1800" dirty="0" smtClean="0"/>
          </a:p>
          <a:p>
            <a:pPr indent="457200">
              <a:lnSpc>
                <a:spcPct val="150000"/>
              </a:lnSpc>
            </a:pPr>
            <a:r>
              <a:rPr lang="en-US" altLang="zh-CN" sz="1800" dirty="0" smtClean="0"/>
              <a:t>1</a:t>
            </a:r>
            <a:r>
              <a:rPr lang="zh-CN" altLang="en-US" sz="1800" dirty="0" smtClean="0"/>
              <a:t>、加</a:t>
            </a:r>
            <a:r>
              <a:rPr lang="zh-CN" altLang="en-US" sz="1800" dirty="0"/>
              <a:t>窗，常见的有</a:t>
            </a:r>
            <a:r>
              <a:rPr lang="en-US" altLang="zh-CN" sz="1800" dirty="0"/>
              <a:t>Hamming </a:t>
            </a:r>
            <a:r>
              <a:rPr lang="zh-CN" altLang="en-US" sz="1800" dirty="0"/>
              <a:t>窗和</a:t>
            </a:r>
            <a:r>
              <a:rPr lang="en-US" altLang="zh-CN" sz="1800" dirty="0" err="1"/>
              <a:t>Hanning</a:t>
            </a:r>
            <a:r>
              <a:rPr lang="en-US" altLang="zh-CN" sz="1800" dirty="0"/>
              <a:t> </a:t>
            </a:r>
            <a:r>
              <a:rPr lang="zh-CN" altLang="en-US" sz="1800" dirty="0" smtClean="0"/>
              <a:t>窗。</a:t>
            </a:r>
            <a:r>
              <a:rPr lang="zh-CN" altLang="en-US" sz="1800" dirty="0"/>
              <a:t>在不能确定信号的周期或者非周期信号的情况下这是唯一的办法，例如在带</a:t>
            </a:r>
            <a:r>
              <a:rPr lang="en-US" altLang="zh-CN" sz="1800" dirty="0" smtClean="0"/>
              <a:t>FFT</a:t>
            </a:r>
            <a:r>
              <a:rPr lang="zh-CN" altLang="en-US" sz="1800" dirty="0" smtClean="0"/>
              <a:t>功能</a:t>
            </a:r>
            <a:r>
              <a:rPr lang="zh-CN" altLang="en-US" sz="1800" dirty="0"/>
              <a:t>的示波器中就是如此</a:t>
            </a:r>
            <a:r>
              <a:rPr lang="zh-CN" altLang="en-US" sz="1800" dirty="0" smtClean="0"/>
              <a:t>。</a:t>
            </a:r>
            <a:endParaRPr lang="zh-CN" altLang="en-US" sz="1800" dirty="0"/>
          </a:p>
          <a:p>
            <a:pPr indent="457200">
              <a:lnSpc>
                <a:spcPct val="150000"/>
              </a:lnSpc>
            </a:pPr>
            <a:r>
              <a:rPr lang="en-US" altLang="zh-CN" sz="1800" dirty="0" smtClean="0"/>
              <a:t>2</a:t>
            </a:r>
            <a:r>
              <a:rPr lang="zh-CN" altLang="en-US" sz="1800" dirty="0" smtClean="0"/>
              <a:t>、在</a:t>
            </a:r>
            <a:r>
              <a:rPr lang="zh-CN" altLang="en-US" sz="1800" dirty="0"/>
              <a:t>测量具有确定周期的信号</a:t>
            </a:r>
            <a:r>
              <a:rPr lang="zh-CN" altLang="en-US" sz="1800" dirty="0" smtClean="0"/>
              <a:t>时，令</a:t>
            </a:r>
            <a:r>
              <a:rPr lang="zh-CN" altLang="en-US" sz="1800" dirty="0"/>
              <a:t>测量时间等于被采样信号基波周期的整数倍，可以完全解决频谱泄漏问题。对于本题来说，输入信号具有确定的周期，所以完全可以实现整数周期采样。题目规定了输入信号的频率为</a:t>
            </a:r>
            <a:r>
              <a:rPr lang="en-US" altLang="zh-CN" sz="1800" dirty="0"/>
              <a:t>1kHz~100kHz</a:t>
            </a:r>
            <a:r>
              <a:rPr lang="zh-CN" altLang="en-US" sz="1800" dirty="0"/>
              <a:t>，我们可以先测量输入信号的周期，然后根据测得的周期进行整周期采样。测量输入信号的周期的方法可以是先用随机的采样率采样，然后对采样结果进行分析得到输入信号的周期。也可以在电路中增加一个专门用来测量输入信号频率的硬件（例如将输入信号经过一个过零比较器产生过零脉冲，然后进入微处理机进行定时计数）。由于题目还要求显示输入信号的周期波形，所以在本题的解决方案中，这个周期测量功能是必须的。</a:t>
            </a:r>
          </a:p>
        </p:txBody>
      </p:sp>
    </p:spTree>
    <p:extLst>
      <p:ext uri="{BB962C8B-B14F-4D97-AF65-F5344CB8AC3E}">
        <p14:creationId xmlns:p14="http://schemas.microsoft.com/office/powerpoint/2010/main" val="3585527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文本框 4"/>
          <p:cNvSpPr txBox="1"/>
          <p:nvPr/>
        </p:nvSpPr>
        <p:spPr>
          <a:xfrm>
            <a:off x="275771" y="471714"/>
            <a:ext cx="11545814" cy="2585323"/>
          </a:xfrm>
          <a:prstGeom prst="rect">
            <a:avLst/>
          </a:prstGeom>
          <a:noFill/>
        </p:spPr>
        <p:txBody>
          <a:bodyPr wrap="square" rtlCol="0">
            <a:spAutoFit/>
          </a:bodyPr>
          <a:lstStyle/>
          <a:p>
            <a:pPr indent="457200">
              <a:lnSpc>
                <a:spcPct val="150000"/>
              </a:lnSpc>
            </a:pPr>
            <a:r>
              <a:rPr lang="en-US" altLang="zh-CN" sz="1800" dirty="0" smtClean="0"/>
              <a:t>2</a:t>
            </a:r>
            <a:r>
              <a:rPr lang="zh-CN" altLang="en-US" sz="1800" dirty="0" smtClean="0"/>
              <a:t>、题目</a:t>
            </a:r>
            <a:r>
              <a:rPr lang="zh-CN" altLang="en-US" sz="1800" dirty="0"/>
              <a:t>要求被测信号的频率为</a:t>
            </a:r>
            <a:r>
              <a:rPr lang="en-US" altLang="zh-CN" sz="1800" dirty="0"/>
              <a:t>1kHz~100kHz</a:t>
            </a:r>
            <a:r>
              <a:rPr lang="zh-CN" altLang="en-US" sz="1800" dirty="0"/>
              <a:t>。由于</a:t>
            </a:r>
            <a:r>
              <a:rPr lang="en-US" altLang="zh-CN" sz="1800" dirty="0"/>
              <a:t>MCU </a:t>
            </a:r>
            <a:r>
              <a:rPr lang="zh-CN" altLang="en-US" sz="1800" dirty="0"/>
              <a:t>的工作频率有限，对于</a:t>
            </a:r>
            <a:r>
              <a:rPr lang="zh-CN" altLang="en-US" sz="1800" dirty="0" smtClean="0"/>
              <a:t>频率较高</a:t>
            </a:r>
            <a:r>
              <a:rPr lang="zh-CN" altLang="en-US" sz="1800" dirty="0"/>
              <a:t>的信号，在一个信号周期内可能来不及采集到满足</a:t>
            </a:r>
            <a:r>
              <a:rPr lang="en-US" altLang="zh-CN" sz="1800" dirty="0"/>
              <a:t>FFT </a:t>
            </a:r>
            <a:r>
              <a:rPr lang="zh-CN" altLang="en-US" sz="1800" dirty="0"/>
              <a:t>需要的足够点数。为此可以根据输入信号的频率高低分为两种情况：</a:t>
            </a:r>
          </a:p>
          <a:p>
            <a:pPr indent="457200">
              <a:lnSpc>
                <a:spcPct val="150000"/>
              </a:lnSpc>
            </a:pPr>
            <a:r>
              <a:rPr lang="zh-CN" altLang="en-US" sz="1800" dirty="0"/>
              <a:t>在频率较低的情况下，一个信号周期内直接采样</a:t>
            </a:r>
            <a:r>
              <a:rPr lang="en-US" altLang="zh-CN" sz="1800" dirty="0"/>
              <a:t>n </a:t>
            </a:r>
            <a:r>
              <a:rPr lang="zh-CN" altLang="en-US" sz="1800" dirty="0"/>
              <a:t>点，采样时间间隔为</a:t>
            </a:r>
            <a:r>
              <a:rPr lang="en-US" altLang="zh-CN" sz="1800" i="1" dirty="0"/>
              <a:t>T/n</a:t>
            </a:r>
            <a:r>
              <a:rPr lang="zh-CN" altLang="en-US" sz="1800" dirty="0"/>
              <a:t>。</a:t>
            </a:r>
          </a:p>
          <a:p>
            <a:pPr indent="457200">
              <a:lnSpc>
                <a:spcPct val="150000"/>
              </a:lnSpc>
            </a:pPr>
            <a:r>
              <a:rPr lang="zh-CN" altLang="en-US" sz="1800" dirty="0"/>
              <a:t>在输入频率较高的情况下，每个信号周期只采一个</a:t>
            </a:r>
            <a:r>
              <a:rPr lang="zh-CN" altLang="en-US" sz="1800" dirty="0" smtClean="0"/>
              <a:t>点（或几个点），</a:t>
            </a:r>
            <a:r>
              <a:rPr lang="zh-CN" altLang="en-US" sz="1800" dirty="0"/>
              <a:t>但每个采样点在信号周期内的位置都延迟</a:t>
            </a:r>
            <a:r>
              <a:rPr lang="en-US" altLang="zh-CN" sz="1800" dirty="0"/>
              <a:t>1/n </a:t>
            </a:r>
            <a:r>
              <a:rPr lang="zh-CN" altLang="en-US" sz="1800" dirty="0" smtClean="0"/>
              <a:t>周期</a:t>
            </a:r>
            <a:r>
              <a:rPr lang="zh-CN" altLang="en-US" sz="1800" dirty="0" smtClean="0"/>
              <a:t>的整数</a:t>
            </a:r>
            <a:r>
              <a:rPr lang="zh-CN" altLang="en-US" sz="1800" dirty="0" smtClean="0"/>
              <a:t>倍，经过多次</a:t>
            </a:r>
            <a:r>
              <a:rPr lang="zh-CN" altLang="en-US" sz="1800" dirty="0"/>
              <a:t>采样就得到了一个完整的信号周期</a:t>
            </a:r>
            <a:r>
              <a:rPr lang="zh-CN" altLang="en-US" sz="1800" dirty="0" smtClean="0"/>
              <a:t>波形。这个方法在采集高速信号时很有效，但必须保证信号是周期的。</a:t>
            </a:r>
            <a:endParaRPr lang="en-US" altLang="zh-CN" sz="1800" dirty="0" smtClean="0"/>
          </a:p>
        </p:txBody>
      </p:sp>
    </p:spTree>
    <p:extLst>
      <p:ext uri="{BB962C8B-B14F-4D97-AF65-F5344CB8AC3E}">
        <p14:creationId xmlns:p14="http://schemas.microsoft.com/office/powerpoint/2010/main" val="2742228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5" name="文本框 4"/>
          <p:cNvSpPr txBox="1"/>
          <p:nvPr/>
        </p:nvSpPr>
        <p:spPr>
          <a:xfrm>
            <a:off x="333829" y="428171"/>
            <a:ext cx="11422742" cy="4662815"/>
          </a:xfrm>
          <a:prstGeom prst="rect">
            <a:avLst/>
          </a:prstGeom>
          <a:noFill/>
        </p:spPr>
        <p:txBody>
          <a:bodyPr wrap="square" rtlCol="0">
            <a:spAutoFit/>
          </a:bodyPr>
          <a:lstStyle/>
          <a:p>
            <a:pPr indent="457200">
              <a:lnSpc>
                <a:spcPct val="150000"/>
              </a:lnSpc>
            </a:pPr>
            <a:r>
              <a:rPr lang="en-US" altLang="zh-CN" sz="1800" dirty="0"/>
              <a:t>3</a:t>
            </a:r>
            <a:r>
              <a:rPr lang="zh-CN" altLang="en-US" sz="1800" dirty="0"/>
              <a:t>、如何保证采样时间间隔的准确度。</a:t>
            </a:r>
            <a:endParaRPr lang="en-US" altLang="zh-CN" sz="1800" dirty="0"/>
          </a:p>
          <a:p>
            <a:pPr indent="457200">
              <a:lnSpc>
                <a:spcPct val="150000"/>
              </a:lnSpc>
            </a:pPr>
            <a:r>
              <a:rPr lang="zh-CN" altLang="en-US" sz="1800" dirty="0"/>
              <a:t>当信号频率升高以后，其采样周期可能会变得很短，随之而来的是对于采样时间的精确度也越来越高，此时由单片机定时采样可能产生很大的定时误差。例如每个信号周期采样</a:t>
            </a:r>
            <a:r>
              <a:rPr lang="en-US" altLang="zh-CN" sz="1800" dirty="0"/>
              <a:t>512 </a:t>
            </a:r>
            <a:r>
              <a:rPr lang="zh-CN" altLang="en-US" sz="1800" dirty="0"/>
              <a:t>点，在信号频率为</a:t>
            </a:r>
            <a:r>
              <a:rPr lang="en-US" altLang="zh-CN" sz="1800" dirty="0"/>
              <a:t>1kHz </a:t>
            </a:r>
            <a:r>
              <a:rPr lang="zh-CN" altLang="en-US" sz="1800" dirty="0"/>
              <a:t>时采样时间间隔为</a:t>
            </a:r>
            <a:r>
              <a:rPr lang="en-US" altLang="zh-CN" sz="1800" dirty="0"/>
              <a:t>1.953μs</a:t>
            </a:r>
            <a:r>
              <a:rPr lang="zh-CN" altLang="en-US" sz="1800" dirty="0"/>
              <a:t>，假设由于单片机时钟频率的限制导致定时误差为</a:t>
            </a:r>
            <a:r>
              <a:rPr lang="en-US" altLang="zh-CN" sz="1800" dirty="0"/>
              <a:t>10ns</a:t>
            </a:r>
            <a:r>
              <a:rPr lang="zh-CN" altLang="en-US" sz="1800" dirty="0"/>
              <a:t>，则此情况下的相对误差大约为</a:t>
            </a:r>
            <a:r>
              <a:rPr lang="en-US" altLang="zh-CN" sz="1800" dirty="0"/>
              <a:t>0.5%</a:t>
            </a:r>
            <a:r>
              <a:rPr lang="zh-CN" altLang="en-US" sz="1800" dirty="0"/>
              <a:t>。但当信号频率升高到</a:t>
            </a:r>
            <a:r>
              <a:rPr lang="en-US" altLang="zh-CN" sz="1800" dirty="0"/>
              <a:t>100kHz </a:t>
            </a:r>
            <a:r>
              <a:rPr lang="zh-CN" altLang="en-US" sz="1800" dirty="0"/>
              <a:t>时，同样采样</a:t>
            </a:r>
            <a:r>
              <a:rPr lang="en-US" altLang="zh-CN" sz="1800" dirty="0"/>
              <a:t>512 </a:t>
            </a:r>
            <a:r>
              <a:rPr lang="zh-CN" altLang="en-US" sz="1800" dirty="0"/>
              <a:t>点的采样时间间隔缩短为</a:t>
            </a:r>
            <a:r>
              <a:rPr lang="en-US" altLang="zh-CN" sz="1800" dirty="0"/>
              <a:t>19.53ns</a:t>
            </a:r>
            <a:r>
              <a:rPr lang="zh-CN" altLang="en-US" sz="1800" dirty="0"/>
              <a:t>，此时定时误差</a:t>
            </a:r>
            <a:r>
              <a:rPr lang="en-US" altLang="zh-CN" sz="1800" dirty="0"/>
              <a:t>10ns </a:t>
            </a:r>
            <a:r>
              <a:rPr lang="zh-CN" altLang="en-US" sz="1800" dirty="0"/>
              <a:t>导致的相对误差将高达</a:t>
            </a:r>
            <a:r>
              <a:rPr lang="en-US" altLang="zh-CN" sz="1800" dirty="0"/>
              <a:t>50%</a:t>
            </a:r>
            <a:r>
              <a:rPr lang="zh-CN" altLang="en-US" sz="1800" dirty="0"/>
              <a:t>。必须注意，前面介绍的每个周期只采样一个点的方法在每个采样时间间隔中增加了一个信号周期</a:t>
            </a:r>
            <a:r>
              <a:rPr lang="en-US" altLang="zh-CN" sz="1800" i="1" dirty="0"/>
              <a:t>T</a:t>
            </a:r>
            <a:r>
              <a:rPr lang="zh-CN" altLang="en-US" sz="1800" dirty="0"/>
              <a:t>，但是决定采样时间准确度的是</a:t>
            </a:r>
            <a:r>
              <a:rPr lang="en-US" altLang="zh-CN" sz="1800" i="1" dirty="0"/>
              <a:t>T/n</a:t>
            </a:r>
            <a:r>
              <a:rPr lang="zh-CN" altLang="en-US" sz="1800" dirty="0"/>
              <a:t>，所以那个方法只能改善对于</a:t>
            </a:r>
            <a:r>
              <a:rPr lang="en-US" altLang="zh-CN" sz="1800" dirty="0"/>
              <a:t>ADC </a:t>
            </a:r>
            <a:r>
              <a:rPr lang="zh-CN" altLang="en-US" sz="1800" dirty="0"/>
              <a:t>转换时间的要求，而不能改变对于采样时间精度的要求。</a:t>
            </a:r>
            <a:endParaRPr lang="zh-CN" altLang="en-US" sz="1600" dirty="0"/>
          </a:p>
          <a:p>
            <a:pPr indent="457200">
              <a:lnSpc>
                <a:spcPct val="150000"/>
              </a:lnSpc>
            </a:pPr>
            <a:r>
              <a:rPr lang="zh-CN" altLang="en-US" sz="1800" dirty="0" smtClean="0"/>
              <a:t>解决</a:t>
            </a:r>
            <a:r>
              <a:rPr lang="zh-CN" altLang="en-US" sz="1800" dirty="0"/>
              <a:t>这个问题的方法是设计一个外部的采样时钟信号，要求该时钟信号频率能够精确地等于被测信号基频的</a:t>
            </a:r>
            <a:r>
              <a:rPr lang="en-US" altLang="zh-CN" sz="1800" i="1" dirty="0"/>
              <a:t>n </a:t>
            </a:r>
            <a:r>
              <a:rPr lang="zh-CN" altLang="en-US" sz="1800" dirty="0" smtClean="0"/>
              <a:t>倍</a:t>
            </a:r>
            <a:r>
              <a:rPr lang="zh-CN" altLang="en-US" sz="1800" dirty="0"/>
              <a:t>（如果是每个周期</a:t>
            </a:r>
            <a:r>
              <a:rPr lang="zh-CN" altLang="en-US" sz="1800" dirty="0" smtClean="0"/>
              <a:t>采样</a:t>
            </a:r>
            <a:r>
              <a:rPr lang="en-US" altLang="zh-CN" sz="1800" dirty="0" smtClean="0"/>
              <a:t>1</a:t>
            </a:r>
            <a:r>
              <a:rPr lang="zh-CN" altLang="en-US" sz="1800" dirty="0" smtClean="0"/>
              <a:t>次</a:t>
            </a:r>
            <a:r>
              <a:rPr lang="zh-CN" altLang="en-US" sz="1800" dirty="0"/>
              <a:t>的情况则为被测信号基频</a:t>
            </a:r>
            <a:r>
              <a:rPr lang="zh-CN" altLang="en-US" sz="1800" dirty="0" smtClean="0"/>
              <a:t>的</a:t>
            </a:r>
            <a:r>
              <a:rPr lang="en-US" altLang="zh-CN" sz="1800" dirty="0" smtClean="0"/>
              <a:t>n/(n+1)</a:t>
            </a:r>
            <a:r>
              <a:rPr lang="zh-CN" altLang="en-US" sz="1800" dirty="0" smtClean="0"/>
              <a:t>倍），</a:t>
            </a:r>
            <a:r>
              <a:rPr lang="zh-CN" altLang="en-US" sz="1800" dirty="0"/>
              <a:t>然后用该信号作为采样</a:t>
            </a:r>
            <a:r>
              <a:rPr lang="en-US" altLang="zh-CN" sz="1800" dirty="0"/>
              <a:t>-</a:t>
            </a:r>
            <a:r>
              <a:rPr lang="zh-CN" altLang="en-US" sz="1800" dirty="0"/>
              <a:t>保持电路的保持信号，同时送单片机作为采样启动信号。</a:t>
            </a:r>
          </a:p>
        </p:txBody>
      </p:sp>
    </p:spTree>
    <p:extLst>
      <p:ext uri="{BB962C8B-B14F-4D97-AF65-F5344CB8AC3E}">
        <p14:creationId xmlns:p14="http://schemas.microsoft.com/office/powerpoint/2010/main" val="3131100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5" name="文本框 4"/>
          <p:cNvSpPr txBox="1"/>
          <p:nvPr/>
        </p:nvSpPr>
        <p:spPr>
          <a:xfrm>
            <a:off x="319314" y="449943"/>
            <a:ext cx="11502271" cy="872739"/>
          </a:xfrm>
          <a:prstGeom prst="rect">
            <a:avLst/>
          </a:prstGeom>
          <a:noFill/>
        </p:spPr>
        <p:txBody>
          <a:bodyPr wrap="square" rtlCol="0">
            <a:spAutoFit/>
          </a:bodyPr>
          <a:lstStyle/>
          <a:p>
            <a:pPr indent="457200">
              <a:lnSpc>
                <a:spcPct val="150000"/>
              </a:lnSpc>
            </a:pPr>
            <a:r>
              <a:rPr lang="zh-CN" altLang="en-US" sz="1800" dirty="0"/>
              <a:t>用锁相环实现的电路如下图所示，先将被测信号整形成方波，然后用锁相环锁定在</a:t>
            </a:r>
            <a:r>
              <a:rPr lang="en-US" altLang="zh-CN" sz="1800" dirty="0"/>
              <a:t>n </a:t>
            </a:r>
            <a:r>
              <a:rPr lang="zh-CN" altLang="en-US" sz="1800" dirty="0"/>
              <a:t>倍频。该电路的特点是可以精确地产生基频</a:t>
            </a:r>
            <a:r>
              <a:rPr lang="en-US" altLang="zh-CN" sz="1800" i="1" dirty="0"/>
              <a:t>n </a:t>
            </a:r>
            <a:r>
              <a:rPr lang="zh-CN" altLang="en-US" sz="1800" dirty="0"/>
              <a:t>倍（或</a:t>
            </a:r>
            <a:r>
              <a:rPr lang="en-US" altLang="zh-CN" sz="1800" i="1" dirty="0"/>
              <a:t>n/(n+1)</a:t>
            </a:r>
            <a:r>
              <a:rPr lang="zh-CN" altLang="en-US" sz="1800" dirty="0"/>
              <a:t>倍）的脉冲信号，缺点是电路稍稍复杂一些。</a:t>
            </a:r>
          </a:p>
        </p:txBody>
      </p:sp>
      <p:pic>
        <p:nvPicPr>
          <p:cNvPr id="6" name="图片 5"/>
          <p:cNvPicPr>
            <a:picLocks noChangeAspect="1"/>
          </p:cNvPicPr>
          <p:nvPr/>
        </p:nvPicPr>
        <p:blipFill>
          <a:blip r:embed="rId2"/>
          <a:stretch>
            <a:fillRect/>
          </a:stretch>
        </p:blipFill>
        <p:spPr>
          <a:xfrm>
            <a:off x="1787176" y="1551597"/>
            <a:ext cx="8240275" cy="1581371"/>
          </a:xfrm>
          <a:prstGeom prst="rect">
            <a:avLst/>
          </a:prstGeom>
        </p:spPr>
      </p:pic>
      <p:sp>
        <p:nvSpPr>
          <p:cNvPr id="7" name="文本框 6"/>
          <p:cNvSpPr txBox="1"/>
          <p:nvPr/>
        </p:nvSpPr>
        <p:spPr>
          <a:xfrm>
            <a:off x="319313" y="3769180"/>
            <a:ext cx="11502271" cy="2119234"/>
          </a:xfrm>
          <a:prstGeom prst="rect">
            <a:avLst/>
          </a:prstGeom>
          <a:noFill/>
        </p:spPr>
        <p:txBody>
          <a:bodyPr wrap="square" rtlCol="0">
            <a:spAutoFit/>
          </a:bodyPr>
          <a:lstStyle/>
          <a:p>
            <a:pPr>
              <a:lnSpc>
                <a:spcPct val="150000"/>
              </a:lnSpc>
            </a:pPr>
            <a:r>
              <a:rPr lang="zh-CN" altLang="en-US" sz="1800" dirty="0" smtClean="0">
                <a:solidFill>
                  <a:srgbClr val="FF0000"/>
                </a:solidFill>
              </a:rPr>
              <a:t>说明一</a:t>
            </a:r>
            <a:endParaRPr lang="en-US" altLang="zh-CN" sz="1800" dirty="0" smtClean="0">
              <a:solidFill>
                <a:srgbClr val="FF0000"/>
              </a:solidFill>
            </a:endParaRPr>
          </a:p>
          <a:p>
            <a:pPr indent="457200">
              <a:lnSpc>
                <a:spcPct val="150000"/>
              </a:lnSpc>
            </a:pPr>
            <a:r>
              <a:rPr lang="zh-CN" altLang="en-US" sz="1800" dirty="0" smtClean="0"/>
              <a:t>因为</a:t>
            </a:r>
            <a:r>
              <a:rPr lang="zh-CN" altLang="en-US" sz="1800" dirty="0"/>
              <a:t>题目只要求分析到</a:t>
            </a:r>
            <a:r>
              <a:rPr lang="en-US" altLang="zh-CN" sz="1800" dirty="0"/>
              <a:t>5 </a:t>
            </a:r>
            <a:r>
              <a:rPr lang="zh-CN" altLang="en-US" sz="1800" dirty="0"/>
              <a:t>次谐波，最高信号基频为</a:t>
            </a:r>
            <a:r>
              <a:rPr lang="en-US" altLang="zh-CN" sz="1800" dirty="0"/>
              <a:t>100kHz</a:t>
            </a:r>
            <a:r>
              <a:rPr lang="zh-CN" altLang="en-US" sz="1800" dirty="0"/>
              <a:t>，要分析的最高频率为</a:t>
            </a:r>
            <a:r>
              <a:rPr lang="en-US" altLang="zh-CN" sz="1800" dirty="0"/>
              <a:t>500kHz</a:t>
            </a:r>
            <a:r>
              <a:rPr lang="zh-CN" altLang="en-US" sz="1800" dirty="0"/>
              <a:t>。在满足采样频率严格等于输入信号基频的整数倍条件下，根据奈奎斯特定理，采样频率只要高于</a:t>
            </a:r>
            <a:r>
              <a:rPr lang="en-US" altLang="zh-CN" sz="1800" dirty="0"/>
              <a:t>1MHz </a:t>
            </a:r>
            <a:r>
              <a:rPr lang="zh-CN" altLang="en-US" sz="1800" dirty="0"/>
              <a:t>即可，所以采样点数</a:t>
            </a:r>
            <a:r>
              <a:rPr lang="en-US" altLang="zh-CN" sz="1800" dirty="0"/>
              <a:t>n </a:t>
            </a:r>
            <a:r>
              <a:rPr lang="zh-CN" altLang="en-US" sz="1800" dirty="0"/>
              <a:t>并不需要</a:t>
            </a:r>
            <a:r>
              <a:rPr lang="en-US" altLang="zh-CN" sz="1800" dirty="0"/>
              <a:t>512 </a:t>
            </a:r>
            <a:r>
              <a:rPr lang="zh-CN" altLang="en-US" sz="1800" dirty="0"/>
              <a:t>这样大。但是若不能满足采样频率严格等于输入信号基频的整数倍情况下（不采用前述的锁相环方案），则采样点数越多分析结果的误差将越小。所以具体采用何种方案，要根据</a:t>
            </a:r>
            <a:r>
              <a:rPr lang="en-US" altLang="zh-CN" sz="1800" dirty="0"/>
              <a:t>MCU </a:t>
            </a:r>
            <a:r>
              <a:rPr lang="zh-CN" altLang="en-US" sz="1800" dirty="0"/>
              <a:t>速度等条件作合理的选择。</a:t>
            </a:r>
          </a:p>
        </p:txBody>
      </p:sp>
    </p:spTree>
    <p:extLst>
      <p:ext uri="{BB962C8B-B14F-4D97-AF65-F5344CB8AC3E}">
        <p14:creationId xmlns:p14="http://schemas.microsoft.com/office/powerpoint/2010/main" val="2288255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5" name="文本框 4"/>
          <p:cNvSpPr txBox="1"/>
          <p:nvPr/>
        </p:nvSpPr>
        <p:spPr>
          <a:xfrm>
            <a:off x="355600" y="500743"/>
            <a:ext cx="11465985" cy="5909310"/>
          </a:xfrm>
          <a:prstGeom prst="rect">
            <a:avLst/>
          </a:prstGeom>
          <a:noFill/>
        </p:spPr>
        <p:txBody>
          <a:bodyPr wrap="square" rtlCol="0">
            <a:spAutoFit/>
          </a:bodyPr>
          <a:lstStyle/>
          <a:p>
            <a:pPr>
              <a:lnSpc>
                <a:spcPct val="150000"/>
              </a:lnSpc>
            </a:pPr>
            <a:r>
              <a:rPr lang="zh-CN" altLang="en-US" sz="1800" dirty="0" smtClean="0">
                <a:solidFill>
                  <a:srgbClr val="FF0000"/>
                </a:solidFill>
              </a:rPr>
              <a:t>说明二</a:t>
            </a:r>
            <a:endParaRPr lang="en-US" altLang="zh-CN" sz="1800" dirty="0" smtClean="0">
              <a:solidFill>
                <a:srgbClr val="FF0000"/>
              </a:solidFill>
            </a:endParaRPr>
          </a:p>
          <a:p>
            <a:pPr indent="457200">
              <a:lnSpc>
                <a:spcPct val="150000"/>
              </a:lnSpc>
            </a:pPr>
            <a:r>
              <a:rPr lang="zh-CN" altLang="en-US" sz="1800" dirty="0" smtClean="0"/>
              <a:t>此</a:t>
            </a:r>
            <a:r>
              <a:rPr lang="zh-CN" altLang="en-US" sz="1800" dirty="0"/>
              <a:t>题的题目是失真度测量装置，但并非失真度测量仪</a:t>
            </a:r>
            <a:r>
              <a:rPr lang="zh-CN" altLang="en-US" sz="1800" dirty="0" smtClean="0"/>
              <a:t>。</a:t>
            </a:r>
            <a:endParaRPr lang="en-US" altLang="zh-CN" sz="1800" dirty="0" smtClean="0"/>
          </a:p>
          <a:p>
            <a:pPr indent="457200">
              <a:lnSpc>
                <a:spcPct val="150000"/>
              </a:lnSpc>
            </a:pPr>
            <a:r>
              <a:rPr lang="zh-CN" altLang="en-US" sz="1800" dirty="0" smtClean="0"/>
              <a:t>商品</a:t>
            </a:r>
            <a:r>
              <a:rPr lang="zh-CN" altLang="en-US" sz="1800" dirty="0"/>
              <a:t>的失真度仪是测量一个被测网络（例如一个放大器）对于输入信号的失真程度，其基本结构与工作原理如下</a:t>
            </a:r>
            <a:r>
              <a:rPr lang="zh-CN" altLang="en-US" sz="1800" dirty="0" smtClean="0"/>
              <a:t>：失真度</a:t>
            </a:r>
            <a:r>
              <a:rPr lang="zh-CN" altLang="en-US" sz="1800" dirty="0"/>
              <a:t>仪通常都带有一个极低失真的信号源，将此信号源的输出送入被测网络，然后测量被测网络的输出，该输出中包含了信号源的频率（基频）以及通过被测网络后产生的各种谐波分量。将被测网络的输出通过一个点阻滤波器后进行测量，由于该点阻滤波器的中心频率与信号源频率相同，所以这次测量的输出信号将仅有被测网络后产生的各种谐波分量。将上述两个测量结果比较就得到了被测网络对于该测量频率的失真度</a:t>
            </a:r>
            <a:r>
              <a:rPr lang="zh-CN" altLang="en-US" sz="1800" dirty="0" smtClean="0"/>
              <a:t>。</a:t>
            </a:r>
            <a:endParaRPr lang="en-US" altLang="zh-CN" sz="1800" dirty="0" smtClean="0"/>
          </a:p>
          <a:p>
            <a:pPr>
              <a:lnSpc>
                <a:spcPct val="150000"/>
              </a:lnSpc>
            </a:pPr>
            <a:r>
              <a:rPr lang="zh-CN" altLang="en-US" sz="1800" dirty="0" smtClean="0">
                <a:solidFill>
                  <a:srgbClr val="FF0000"/>
                </a:solidFill>
              </a:rPr>
              <a:t>说明三</a:t>
            </a:r>
            <a:endParaRPr lang="en-US" altLang="zh-CN" sz="1800" dirty="0" smtClean="0">
              <a:solidFill>
                <a:srgbClr val="FF0000"/>
              </a:solidFill>
            </a:endParaRPr>
          </a:p>
          <a:p>
            <a:pPr indent="457200">
              <a:lnSpc>
                <a:spcPct val="150000"/>
              </a:lnSpc>
            </a:pPr>
            <a:r>
              <a:rPr lang="zh-CN" altLang="en-US" sz="1800" dirty="0" smtClean="0"/>
              <a:t>本题</a:t>
            </a:r>
            <a:r>
              <a:rPr lang="zh-CN" altLang="en-US" sz="1800" dirty="0"/>
              <a:t>的数据采集部分相当于一个数字存储示波器。</a:t>
            </a:r>
          </a:p>
          <a:p>
            <a:pPr indent="457200">
              <a:lnSpc>
                <a:spcPct val="150000"/>
              </a:lnSpc>
            </a:pPr>
            <a:r>
              <a:rPr lang="zh-CN" altLang="en-US" sz="1800" dirty="0"/>
              <a:t>通常示波器的数据采集有两种方式：实时采集与非实时采集，前面介绍的采集方式为非实时采集，仅对周期信号有效。是早期高速示波器的首选方式，采用这种方式的示波器被称为采样示波器。</a:t>
            </a:r>
          </a:p>
          <a:p>
            <a:pPr indent="457200">
              <a:lnSpc>
                <a:spcPct val="150000"/>
              </a:lnSpc>
            </a:pPr>
            <a:r>
              <a:rPr lang="zh-CN" altLang="en-US" sz="1800" dirty="0"/>
              <a:t>对于非周期信号，必须采用实时采集方式。在实时采集方式中为了提高数据采集速度，通常采用硬件采集模式，即</a:t>
            </a:r>
            <a:r>
              <a:rPr lang="en-US" altLang="zh-CN" sz="1800" dirty="0"/>
              <a:t>ADC</a:t>
            </a:r>
            <a:r>
              <a:rPr lang="zh-CN" altLang="en-US" sz="1800" dirty="0"/>
              <a:t>用硬件进行周期启动与采集、数据传输与存储采用</a:t>
            </a:r>
            <a:r>
              <a:rPr lang="en-US" altLang="zh-CN" sz="1800" dirty="0"/>
              <a:t>DMA</a:t>
            </a:r>
            <a:r>
              <a:rPr lang="zh-CN" altLang="en-US" sz="1800" dirty="0"/>
              <a:t>方式，等采完一帧信号后微处理器才介入进行分析、显示等。还可以用</a:t>
            </a:r>
            <a:r>
              <a:rPr lang="en-US" altLang="zh-CN" sz="1800" dirty="0"/>
              <a:t>n</a:t>
            </a:r>
            <a:r>
              <a:rPr lang="zh-CN" altLang="en-US" sz="1800" dirty="0"/>
              <a:t>个</a:t>
            </a:r>
            <a:r>
              <a:rPr lang="en-US" altLang="zh-CN" sz="1800" dirty="0"/>
              <a:t>ADC</a:t>
            </a:r>
            <a:r>
              <a:rPr lang="zh-CN" altLang="en-US" sz="1800" dirty="0"/>
              <a:t>并联采样，每个</a:t>
            </a:r>
            <a:r>
              <a:rPr lang="en-US" altLang="zh-CN" sz="1800" dirty="0"/>
              <a:t>ADC</a:t>
            </a:r>
            <a:r>
              <a:rPr lang="zh-CN" altLang="en-US" sz="1800" dirty="0"/>
              <a:t>的采样时间错开一点，那样可以将采样速率提高</a:t>
            </a:r>
            <a:r>
              <a:rPr lang="en-US" altLang="zh-CN" sz="1800" dirty="0"/>
              <a:t>n</a:t>
            </a:r>
            <a:r>
              <a:rPr lang="zh-CN" altLang="en-US" sz="1800" dirty="0"/>
              <a:t>倍。</a:t>
            </a:r>
          </a:p>
        </p:txBody>
      </p:sp>
    </p:spTree>
    <p:extLst>
      <p:ext uri="{BB962C8B-B14F-4D97-AF65-F5344CB8AC3E}">
        <p14:creationId xmlns:p14="http://schemas.microsoft.com/office/powerpoint/2010/main" val="4287607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18</a:t>
            </a:fld>
            <a:endParaRPr lang="en-US" altLang="zh-CN"/>
          </a:p>
        </p:txBody>
      </p:sp>
      <p:sp>
        <p:nvSpPr>
          <p:cNvPr id="2" name="文本框 1"/>
          <p:cNvSpPr txBox="1"/>
          <p:nvPr/>
        </p:nvSpPr>
        <p:spPr>
          <a:xfrm>
            <a:off x="500443" y="501501"/>
            <a:ext cx="11321142" cy="5816977"/>
          </a:xfrm>
          <a:prstGeom prst="rect">
            <a:avLst/>
          </a:prstGeom>
          <a:noFill/>
        </p:spPr>
        <p:txBody>
          <a:bodyPr wrap="square" rtlCol="0">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频率特性测试仪类题目</a:t>
            </a:r>
            <a:endParaRPr lang="en-US" altLang="zh-CN" sz="3200" dirty="0">
              <a:solidFill>
                <a:srgbClr val="FF0000"/>
              </a:solidFill>
              <a:latin typeface="隶书" panose="02010509060101010101" pitchFamily="49" charset="-122"/>
              <a:ea typeface="隶书" panose="02010509060101010101" pitchFamily="49" charset="-122"/>
            </a:endParaRPr>
          </a:p>
          <a:p>
            <a:pPr indent="457200" algn="just">
              <a:lnSpc>
                <a:spcPct val="150000"/>
              </a:lnSpc>
              <a:spcAft>
                <a:spcPts val="0"/>
              </a:spcAft>
            </a:pPr>
            <a:r>
              <a:rPr lang="zh-CN" altLang="en-US" sz="1800" kern="100" dirty="0" smtClean="0">
                <a:latin typeface="+mn-ea"/>
                <a:ea typeface="+mn-ea"/>
              </a:rPr>
              <a:t>频率特性测试仪的测试对象是一个有源网络（例如放大器）或无源网络（例如</a:t>
            </a:r>
            <a:r>
              <a:rPr lang="en-US" altLang="zh-CN" sz="1800" kern="100" dirty="0" smtClean="0">
                <a:latin typeface="+mn-ea"/>
                <a:ea typeface="+mn-ea"/>
              </a:rPr>
              <a:t>RLC</a:t>
            </a:r>
            <a:r>
              <a:rPr lang="zh-CN" altLang="en-US" sz="1800" kern="100" dirty="0" smtClean="0">
                <a:latin typeface="+mn-ea"/>
                <a:ea typeface="+mn-ea"/>
              </a:rPr>
              <a:t>网络），测试结果是该被测网络的频率特性。</a:t>
            </a:r>
            <a:endParaRPr lang="en-US" altLang="zh-CN" sz="1800" kern="100" dirty="0" smtClean="0">
              <a:latin typeface="+mn-ea"/>
              <a:ea typeface="+mn-ea"/>
            </a:endParaRPr>
          </a:p>
          <a:p>
            <a:pPr indent="457200" algn="just">
              <a:lnSpc>
                <a:spcPct val="150000"/>
              </a:lnSpc>
              <a:spcAft>
                <a:spcPts val="0"/>
              </a:spcAft>
            </a:pPr>
            <a:r>
              <a:rPr lang="zh-CN" altLang="en-US" sz="1800" kern="100" dirty="0" smtClean="0">
                <a:latin typeface="+mn-ea"/>
                <a:ea typeface="+mn-ea"/>
              </a:rPr>
              <a:t>如果测试结果仅仅是网络的幅频特性，通常将这种仪器称为扫频仪。扫频仪一般以波德图形式输出。</a:t>
            </a:r>
            <a:endParaRPr lang="en-US" altLang="zh-CN" sz="1800" kern="100" dirty="0" smtClean="0">
              <a:latin typeface="+mn-ea"/>
              <a:ea typeface="+mn-ea"/>
            </a:endParaRPr>
          </a:p>
          <a:p>
            <a:pPr indent="457200" algn="just">
              <a:lnSpc>
                <a:spcPct val="150000"/>
              </a:lnSpc>
              <a:spcAft>
                <a:spcPts val="0"/>
              </a:spcAft>
            </a:pPr>
            <a:r>
              <a:rPr lang="zh-CN" altLang="en-US" sz="1800" kern="100" dirty="0" smtClean="0">
                <a:latin typeface="+mn-ea"/>
                <a:ea typeface="+mn-ea"/>
              </a:rPr>
              <a:t>如果测试结果包含了网络的幅频特性与相频特性</a:t>
            </a:r>
            <a:r>
              <a:rPr lang="zh-CN" altLang="en-US" sz="1800" kern="100" dirty="0" smtClean="0">
                <a:latin typeface="+mn-ea"/>
                <a:ea typeface="+mn-ea"/>
              </a:rPr>
              <a:t>，则称为频率特性分析仪。</a:t>
            </a:r>
            <a:endParaRPr lang="en-US" altLang="zh-CN" sz="1800" kern="100" dirty="0" smtClean="0">
              <a:latin typeface="+mn-ea"/>
              <a:ea typeface="+mn-ea"/>
            </a:endParaRPr>
          </a:p>
          <a:p>
            <a:pPr indent="457200" algn="just">
              <a:lnSpc>
                <a:spcPct val="150000"/>
              </a:lnSpc>
              <a:spcAft>
                <a:spcPts val="0"/>
              </a:spcAft>
            </a:pPr>
            <a:r>
              <a:rPr lang="zh-CN" altLang="en-US" sz="1800" kern="100" dirty="0" smtClean="0">
                <a:latin typeface="+mn-ea"/>
                <a:ea typeface="+mn-ea"/>
              </a:rPr>
              <a:t>如果仪器内置了单向耦合器，可以将输入信号与发射信号分开，则称为</a:t>
            </a:r>
            <a:r>
              <a:rPr lang="zh-CN" altLang="en-US" sz="1800" kern="100" dirty="0" smtClean="0">
                <a:latin typeface="+mn-ea"/>
                <a:ea typeface="+mn-ea"/>
              </a:rPr>
              <a:t>网络分析仪或矢量分析仪。这种仪器的输出可以有各种形式，例如波德图、矢量图、</a:t>
            </a:r>
            <a:r>
              <a:rPr lang="en-US" altLang="zh-CN" sz="1800" kern="100" dirty="0" smtClean="0">
                <a:latin typeface="+mn-ea"/>
                <a:ea typeface="+mn-ea"/>
              </a:rPr>
              <a:t>Smith</a:t>
            </a:r>
            <a:r>
              <a:rPr lang="zh-CN" altLang="en-US" sz="1800" kern="100" dirty="0" smtClean="0">
                <a:latin typeface="+mn-ea"/>
                <a:ea typeface="+mn-ea"/>
              </a:rPr>
              <a:t>圆图等。</a:t>
            </a:r>
            <a:endParaRPr lang="en-US" altLang="zh-CN" sz="1800" kern="100" dirty="0" smtClean="0">
              <a:latin typeface="+mn-ea"/>
              <a:ea typeface="+mn-ea"/>
            </a:endParaRPr>
          </a:p>
          <a:p>
            <a:pPr indent="457200" algn="just">
              <a:lnSpc>
                <a:spcPct val="150000"/>
              </a:lnSpc>
              <a:spcAft>
                <a:spcPts val="0"/>
              </a:spcAft>
            </a:pPr>
            <a:r>
              <a:rPr lang="zh-CN" altLang="en-US" sz="1800" kern="100" dirty="0" smtClean="0">
                <a:latin typeface="+mn-ea"/>
                <a:ea typeface="+mn-ea"/>
              </a:rPr>
              <a:t>频率特性测试仪包含两个主要构件：扫频信号源与测试部件。结构如下图：</a:t>
            </a:r>
            <a:endParaRPr lang="en-US" altLang="zh-CN" sz="1800" kern="100" dirty="0" smtClean="0">
              <a:latin typeface="+mn-ea"/>
              <a:ea typeface="+mn-ea"/>
            </a:endParaRPr>
          </a:p>
          <a:p>
            <a:pPr indent="457200" algn="just">
              <a:lnSpc>
                <a:spcPct val="150000"/>
              </a:lnSpc>
              <a:spcAft>
                <a:spcPts val="0"/>
              </a:spcAft>
            </a:pPr>
            <a:endParaRPr lang="en-US" altLang="zh-CN" sz="1800" kern="100" dirty="0">
              <a:latin typeface="+mn-ea"/>
              <a:ea typeface="+mn-ea"/>
            </a:endParaRPr>
          </a:p>
          <a:p>
            <a:pPr indent="457200" algn="just">
              <a:lnSpc>
                <a:spcPct val="150000"/>
              </a:lnSpc>
              <a:spcAft>
                <a:spcPts val="0"/>
              </a:spcAft>
            </a:pPr>
            <a:endParaRPr lang="en-US" altLang="zh-CN" sz="1800" kern="100" dirty="0" smtClean="0">
              <a:latin typeface="+mn-ea"/>
              <a:ea typeface="+mn-ea"/>
            </a:endParaRPr>
          </a:p>
          <a:p>
            <a:pPr indent="457200" algn="just">
              <a:lnSpc>
                <a:spcPct val="150000"/>
              </a:lnSpc>
              <a:spcAft>
                <a:spcPts val="0"/>
              </a:spcAft>
            </a:pPr>
            <a:endParaRPr lang="en-US" altLang="zh-CN" sz="1800" kern="100" dirty="0" smtClean="0">
              <a:latin typeface="+mn-ea"/>
              <a:ea typeface="+mn-ea"/>
            </a:endParaRPr>
          </a:p>
          <a:p>
            <a:pPr indent="457200" algn="just">
              <a:lnSpc>
                <a:spcPct val="150000"/>
              </a:lnSpc>
              <a:spcAft>
                <a:spcPts val="0"/>
              </a:spcAft>
            </a:pPr>
            <a:r>
              <a:rPr lang="zh-CN" altLang="en-US" sz="1800" kern="100" dirty="0" smtClean="0">
                <a:latin typeface="+mn-ea"/>
                <a:ea typeface="+mn-ea"/>
              </a:rPr>
              <a:t>扫频信号源应该可以设置其扫频频率范围、以及输出信号幅度。数据采集、处理与显示部分采集视频信号源的信号与经过被测网络后的信号，比较两个信号的幅度与相位，完成网络频率特性的测试。</a:t>
            </a:r>
            <a:endParaRPr lang="en-US" altLang="zh-CN" sz="1800" dirty="0" smtClean="0">
              <a:latin typeface="+mn-ea"/>
              <a:ea typeface="+mn-ea"/>
            </a:endParaRPr>
          </a:p>
        </p:txBody>
      </p:sp>
      <p:sp>
        <p:nvSpPr>
          <p:cNvPr id="25" name="矩形 24"/>
          <p:cNvSpPr/>
          <p:nvPr/>
        </p:nvSpPr>
        <p:spPr>
          <a:xfrm>
            <a:off x="2309807" y="4669652"/>
            <a:ext cx="2213427"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扫频信号源</a:t>
            </a:r>
            <a:endParaRPr lang="zh-CN" altLang="en-US" dirty="0"/>
          </a:p>
        </p:txBody>
      </p:sp>
      <p:sp>
        <p:nvSpPr>
          <p:cNvPr id="30" name="矩形 29"/>
          <p:cNvSpPr/>
          <p:nvPr/>
        </p:nvSpPr>
        <p:spPr>
          <a:xfrm>
            <a:off x="4813519" y="4669652"/>
            <a:ext cx="1937656"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被测网络</a:t>
            </a:r>
            <a:endParaRPr lang="zh-CN" altLang="en-US" dirty="0"/>
          </a:p>
        </p:txBody>
      </p:sp>
      <p:sp>
        <p:nvSpPr>
          <p:cNvPr id="31" name="矩形 30"/>
          <p:cNvSpPr/>
          <p:nvPr/>
        </p:nvSpPr>
        <p:spPr>
          <a:xfrm>
            <a:off x="7048714" y="4651858"/>
            <a:ext cx="3280231" cy="59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数据采集、处理与显示</a:t>
            </a:r>
            <a:endParaRPr lang="zh-CN" altLang="en-US" dirty="0"/>
          </a:p>
        </p:txBody>
      </p:sp>
      <p:cxnSp>
        <p:nvCxnSpPr>
          <p:cNvPr id="33" name="直接箭头连接符 32"/>
          <p:cNvCxnSpPr/>
          <p:nvPr/>
        </p:nvCxnSpPr>
        <p:spPr>
          <a:xfrm>
            <a:off x="4523234" y="4967195"/>
            <a:ext cx="2902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p:nvPr/>
        </p:nvCxnSpPr>
        <p:spPr>
          <a:xfrm>
            <a:off x="6751175" y="4967195"/>
            <a:ext cx="2902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接连接符 25"/>
          <p:cNvCxnSpPr>
            <a:stCxn id="25" idx="0"/>
          </p:cNvCxnSpPr>
          <p:nvPr/>
        </p:nvCxnSpPr>
        <p:spPr>
          <a:xfrm flipH="1" flipV="1">
            <a:off x="3416520" y="4364154"/>
            <a:ext cx="1" cy="305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3416520" y="4364154"/>
            <a:ext cx="52723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endCxn id="31" idx="0"/>
          </p:cNvCxnSpPr>
          <p:nvPr/>
        </p:nvCxnSpPr>
        <p:spPr>
          <a:xfrm>
            <a:off x="8688829" y="4364154"/>
            <a:ext cx="1" cy="2877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0381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6" name="文本框 5"/>
          <p:cNvSpPr txBox="1"/>
          <p:nvPr/>
        </p:nvSpPr>
        <p:spPr>
          <a:xfrm>
            <a:off x="449942" y="376134"/>
            <a:ext cx="11190514" cy="2139047"/>
          </a:xfrm>
          <a:prstGeom prst="rect">
            <a:avLst/>
          </a:prstGeom>
          <a:noFill/>
        </p:spPr>
        <p:txBody>
          <a:bodyPr wrap="square" rtlCol="0">
            <a:spAutoFit/>
          </a:bodyPr>
          <a:lstStyle/>
          <a:p>
            <a:pPr algn="ctr">
              <a:lnSpc>
                <a:spcPct val="150000"/>
              </a:lnSpc>
              <a:spcAft>
                <a:spcPts val="1200"/>
              </a:spcAft>
            </a:pPr>
            <a:r>
              <a:rPr lang="en-US" altLang="zh-CN" sz="2400" dirty="0" smtClean="0">
                <a:solidFill>
                  <a:schemeClr val="accent6">
                    <a:lumMod val="75000"/>
                  </a:schemeClr>
                </a:solidFill>
              </a:rPr>
              <a:t>2013</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年</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全国赛</a:t>
            </a:r>
            <a:r>
              <a:rPr lang="en-US" altLang="zh-CN" sz="2400" dirty="0" smtClean="0">
                <a:solidFill>
                  <a:schemeClr val="accent6">
                    <a:lumMod val="75000"/>
                  </a:schemeClr>
                </a:solidFill>
              </a:rPr>
              <a:t>E</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题</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简易频率特性测试仪</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1800" dirty="0" smtClean="0">
                <a:solidFill>
                  <a:schemeClr val="accent6">
                    <a:lumMod val="75000"/>
                  </a:schemeClr>
                </a:solidFill>
              </a:rPr>
              <a:t> </a:t>
            </a:r>
            <a:endParaRPr lang="zh-CN" altLang="zh-CN" sz="2800" dirty="0">
              <a:solidFill>
                <a:schemeClr val="accent6">
                  <a:lumMod val="75000"/>
                </a:schemeClr>
              </a:solidFill>
              <a:latin typeface="隶书" panose="02010509060101010101" pitchFamily="49" charset="-122"/>
              <a:ea typeface="隶书" panose="02010509060101010101" pitchFamily="49" charset="-122"/>
            </a:endParaRPr>
          </a:p>
          <a:p>
            <a:pPr>
              <a:lnSpc>
                <a:spcPct val="150000"/>
              </a:lnSpc>
            </a:pPr>
            <a:r>
              <a:rPr lang="zh-CN" altLang="zh-CN" sz="1800" dirty="0" smtClean="0">
                <a:latin typeface="黑体" panose="02010609060101010101" pitchFamily="49" charset="-122"/>
                <a:ea typeface="黑体" panose="02010609060101010101" pitchFamily="49" charset="-122"/>
              </a:rPr>
              <a:t>一</a:t>
            </a:r>
            <a:r>
              <a:rPr lang="zh-CN" altLang="zh-CN" sz="1800" dirty="0">
                <a:latin typeface="黑体" panose="02010609060101010101" pitchFamily="49" charset="-122"/>
                <a:ea typeface="黑体" panose="02010609060101010101" pitchFamily="49" charset="-122"/>
              </a:rPr>
              <a:t>、任务</a:t>
            </a:r>
          </a:p>
          <a:p>
            <a:pPr lvl="1">
              <a:lnSpc>
                <a:spcPct val="150000"/>
              </a:lnSpc>
            </a:pPr>
            <a:r>
              <a:rPr lang="zh-CN" altLang="en-US" sz="1800" dirty="0"/>
              <a:t>根据零中频正交解调原理，设计并制作一个双端口网络频率特性测试仪，包括幅频特性和相频特性，其示意图如图所示</a:t>
            </a:r>
            <a:r>
              <a:rPr lang="zh-CN" altLang="en-US" sz="1800" dirty="0" smtClean="0"/>
              <a:t>。</a:t>
            </a:r>
            <a:endParaRPr lang="zh-CN" altLang="en-US" sz="1800" dirty="0"/>
          </a:p>
        </p:txBody>
      </p:sp>
      <p:pic>
        <p:nvPicPr>
          <p:cNvPr id="7" name="图片 6"/>
          <p:cNvPicPr>
            <a:picLocks noChangeAspect="1"/>
          </p:cNvPicPr>
          <p:nvPr/>
        </p:nvPicPr>
        <p:blipFill>
          <a:blip r:embed="rId2"/>
          <a:stretch>
            <a:fillRect/>
          </a:stretch>
        </p:blipFill>
        <p:spPr>
          <a:xfrm>
            <a:off x="1964915" y="2713118"/>
            <a:ext cx="7682853" cy="2178197"/>
          </a:xfrm>
          <a:prstGeom prst="rect">
            <a:avLst/>
          </a:prstGeom>
        </p:spPr>
      </p:pic>
    </p:spTree>
    <p:extLst>
      <p:ext uri="{BB962C8B-B14F-4D97-AF65-F5344CB8AC3E}">
        <p14:creationId xmlns:p14="http://schemas.microsoft.com/office/powerpoint/2010/main" val="1906518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5" name="文本框 4"/>
          <p:cNvSpPr txBox="1"/>
          <p:nvPr/>
        </p:nvSpPr>
        <p:spPr>
          <a:xfrm>
            <a:off x="333829" y="420914"/>
            <a:ext cx="11487756" cy="5678478"/>
          </a:xfrm>
          <a:prstGeom prst="rect">
            <a:avLst/>
          </a:prstGeom>
          <a:noFill/>
        </p:spPr>
        <p:txBody>
          <a:bodyPr wrap="square" rtlCol="0">
            <a:spAutoFit/>
          </a:bodyPr>
          <a:lstStyle/>
          <a:p>
            <a:pPr>
              <a:lnSpc>
                <a:spcPct val="150000"/>
              </a:lnSpc>
            </a:pPr>
            <a:r>
              <a:rPr lang="zh-CN" altLang="en-US" sz="1800" dirty="0">
                <a:latin typeface="黑体" panose="02010609060101010101" pitchFamily="49" charset="-122"/>
                <a:ea typeface="黑体" panose="02010609060101010101" pitchFamily="49" charset="-122"/>
              </a:rPr>
              <a:t>二、要求</a:t>
            </a:r>
          </a:p>
          <a:p>
            <a:pPr>
              <a:lnSpc>
                <a:spcPct val="150000"/>
              </a:lnSpc>
            </a:pPr>
            <a:r>
              <a:rPr lang="en-US" altLang="zh-CN" sz="1800" dirty="0"/>
              <a:t>1</a:t>
            </a:r>
            <a:r>
              <a:rPr lang="zh-CN" altLang="en-US" sz="1800" dirty="0"/>
              <a:t>．基本要求</a:t>
            </a:r>
          </a:p>
          <a:p>
            <a:pPr lvl="1">
              <a:lnSpc>
                <a:spcPct val="150000"/>
              </a:lnSpc>
            </a:pPr>
            <a:r>
              <a:rPr lang="zh-CN" altLang="en-US" sz="1800" dirty="0"/>
              <a:t>制作一个正交扫频信号源。</a:t>
            </a:r>
          </a:p>
          <a:p>
            <a:pPr lvl="1">
              <a:lnSpc>
                <a:spcPct val="150000"/>
              </a:lnSpc>
            </a:pPr>
            <a:r>
              <a:rPr lang="zh-CN" altLang="en-US" sz="1800" dirty="0"/>
              <a:t>（</a:t>
            </a:r>
            <a:r>
              <a:rPr lang="en-US" altLang="zh-CN" sz="1800" dirty="0"/>
              <a:t>1</a:t>
            </a:r>
            <a:r>
              <a:rPr lang="zh-CN" altLang="en-US" sz="1800" dirty="0"/>
              <a:t>）频率范围为</a:t>
            </a:r>
            <a:r>
              <a:rPr lang="en-US" altLang="zh-CN" sz="1800" dirty="0"/>
              <a:t>1MHz~40MHz</a:t>
            </a:r>
            <a:r>
              <a:rPr lang="zh-CN" altLang="en-US" sz="1800" dirty="0"/>
              <a:t>，频率稳定度≤</a:t>
            </a:r>
            <a:r>
              <a:rPr lang="en-US" altLang="zh-CN" sz="1800" dirty="0"/>
              <a:t>10</a:t>
            </a:r>
            <a:r>
              <a:rPr lang="en-US" altLang="zh-CN" sz="1800" baseline="30000" dirty="0"/>
              <a:t>-4</a:t>
            </a:r>
            <a:r>
              <a:rPr lang="zh-CN" altLang="en-US" sz="1800" dirty="0"/>
              <a:t>；频率可设置，最小设置单位</a:t>
            </a:r>
            <a:r>
              <a:rPr lang="en-US" altLang="zh-CN" sz="1800" dirty="0"/>
              <a:t>100kHz</a:t>
            </a:r>
            <a:r>
              <a:rPr lang="zh-CN" altLang="en-US" sz="1800" dirty="0"/>
              <a:t>。</a:t>
            </a:r>
          </a:p>
          <a:p>
            <a:pPr lvl="1">
              <a:lnSpc>
                <a:spcPct val="150000"/>
              </a:lnSpc>
            </a:pPr>
            <a:r>
              <a:rPr lang="zh-CN" altLang="en-US" sz="1800" dirty="0"/>
              <a:t>（</a:t>
            </a:r>
            <a:r>
              <a:rPr lang="en-US" altLang="zh-CN" sz="1800" dirty="0"/>
              <a:t>2</a:t>
            </a:r>
            <a:r>
              <a:rPr lang="zh-CN" altLang="en-US" sz="1800" dirty="0"/>
              <a:t>）正交信号相位差误差的绝对值≤</a:t>
            </a:r>
            <a:r>
              <a:rPr lang="en-US" altLang="zh-CN" sz="1800" dirty="0"/>
              <a:t>5º</a:t>
            </a:r>
            <a:r>
              <a:rPr lang="zh-CN" altLang="en-US" sz="1800" dirty="0"/>
              <a:t>，幅度平衡误差的绝对值≤</a:t>
            </a:r>
            <a:r>
              <a:rPr lang="en-US" altLang="zh-CN" sz="1800" dirty="0"/>
              <a:t>5%</a:t>
            </a:r>
            <a:r>
              <a:rPr lang="zh-CN" altLang="en-US" sz="1800" dirty="0"/>
              <a:t>。</a:t>
            </a:r>
          </a:p>
          <a:p>
            <a:pPr lvl="1">
              <a:lnSpc>
                <a:spcPct val="150000"/>
              </a:lnSpc>
            </a:pPr>
            <a:r>
              <a:rPr lang="zh-CN" altLang="en-US" sz="1800" dirty="0"/>
              <a:t>（</a:t>
            </a:r>
            <a:r>
              <a:rPr lang="en-US" altLang="zh-CN" sz="1800" dirty="0"/>
              <a:t>3</a:t>
            </a:r>
            <a:r>
              <a:rPr lang="zh-CN" altLang="en-US" sz="1800" dirty="0"/>
              <a:t>）信号电压的峰峰值≥</a:t>
            </a:r>
            <a:r>
              <a:rPr lang="en-US" altLang="zh-CN" sz="1800" dirty="0"/>
              <a:t>1V</a:t>
            </a:r>
            <a:r>
              <a:rPr lang="zh-CN" altLang="en-US" sz="1800" dirty="0"/>
              <a:t>，幅度平坦度≤</a:t>
            </a:r>
            <a:r>
              <a:rPr lang="en-US" altLang="zh-CN" sz="1800" dirty="0"/>
              <a:t>5%</a:t>
            </a:r>
            <a:r>
              <a:rPr lang="zh-CN" altLang="en-US" sz="1800" dirty="0"/>
              <a:t>。</a:t>
            </a:r>
          </a:p>
          <a:p>
            <a:pPr lvl="1">
              <a:lnSpc>
                <a:spcPct val="150000"/>
              </a:lnSpc>
            </a:pPr>
            <a:r>
              <a:rPr lang="zh-CN" altLang="en-US" sz="1800" dirty="0"/>
              <a:t>（</a:t>
            </a:r>
            <a:r>
              <a:rPr lang="en-US" altLang="zh-CN" sz="1800" dirty="0"/>
              <a:t>4</a:t>
            </a:r>
            <a:r>
              <a:rPr lang="zh-CN" altLang="en-US" sz="1800" dirty="0"/>
              <a:t>）可扫频输出，扫频范围及频率步进值可设置，最小步进</a:t>
            </a:r>
            <a:r>
              <a:rPr lang="en-US" altLang="zh-CN" sz="1800" dirty="0"/>
              <a:t>100kHz</a:t>
            </a:r>
            <a:r>
              <a:rPr lang="zh-CN" altLang="en-US" sz="1800" dirty="0"/>
              <a:t>；要求连续扫频输出，一次扫频时间≤</a:t>
            </a:r>
            <a:r>
              <a:rPr lang="en-US" altLang="zh-CN" sz="1800" dirty="0"/>
              <a:t>2s</a:t>
            </a:r>
            <a:r>
              <a:rPr lang="zh-CN" altLang="en-US" sz="1800" dirty="0"/>
              <a:t>。</a:t>
            </a:r>
          </a:p>
          <a:p>
            <a:pPr>
              <a:lnSpc>
                <a:spcPct val="150000"/>
              </a:lnSpc>
            </a:pPr>
            <a:r>
              <a:rPr lang="en-US" altLang="zh-CN" sz="1800" dirty="0"/>
              <a:t>2</a:t>
            </a:r>
            <a:r>
              <a:rPr lang="zh-CN" altLang="en-US" sz="1800" dirty="0"/>
              <a:t>．发挥</a:t>
            </a:r>
            <a:r>
              <a:rPr lang="zh-CN" altLang="en-US" sz="1800" dirty="0" smtClean="0"/>
              <a:t>部分</a:t>
            </a:r>
            <a:endParaRPr lang="en-US" altLang="zh-CN" sz="1800" dirty="0" smtClean="0"/>
          </a:p>
          <a:p>
            <a:pPr lvl="1">
              <a:lnSpc>
                <a:spcPct val="150000"/>
              </a:lnSpc>
            </a:pPr>
            <a:r>
              <a:rPr lang="zh-CN" altLang="en-US" sz="1800" dirty="0"/>
              <a:t>（</a:t>
            </a:r>
            <a:r>
              <a:rPr lang="en-US" altLang="zh-CN" sz="1800" dirty="0"/>
              <a:t>1</a:t>
            </a:r>
            <a:r>
              <a:rPr lang="zh-CN" altLang="en-US" sz="1800" dirty="0"/>
              <a:t>）使用基本要求中完成的正交扫频信号源，制作频率特性测试仪。</a:t>
            </a:r>
          </a:p>
          <a:p>
            <a:pPr lvl="2">
              <a:lnSpc>
                <a:spcPct val="150000"/>
              </a:lnSpc>
            </a:pPr>
            <a:r>
              <a:rPr lang="en-US" altLang="zh-CN" sz="1800" dirty="0"/>
              <a:t>a. </a:t>
            </a:r>
            <a:r>
              <a:rPr lang="zh-CN" altLang="en-US" sz="1800" dirty="0"/>
              <a:t>输入阻抗为</a:t>
            </a:r>
            <a:r>
              <a:rPr lang="en-US" altLang="zh-CN" sz="1800" dirty="0"/>
              <a:t>50Ω</a:t>
            </a:r>
            <a:r>
              <a:rPr lang="zh-CN" altLang="en-US" sz="1800" dirty="0"/>
              <a:t>，输出阻抗为</a:t>
            </a:r>
            <a:r>
              <a:rPr lang="en-US" altLang="zh-CN" sz="1800" dirty="0"/>
              <a:t>50Ω</a:t>
            </a:r>
            <a:r>
              <a:rPr lang="zh-CN" altLang="en-US" sz="1800" dirty="0"/>
              <a:t>；</a:t>
            </a:r>
          </a:p>
          <a:p>
            <a:pPr lvl="2">
              <a:lnSpc>
                <a:spcPct val="150000"/>
              </a:lnSpc>
            </a:pPr>
            <a:r>
              <a:rPr lang="en-US" altLang="zh-CN" sz="1800" dirty="0"/>
              <a:t>b. </a:t>
            </a:r>
            <a:r>
              <a:rPr lang="zh-CN" altLang="en-US" sz="1800" dirty="0"/>
              <a:t>可进行点频测量；幅频测量误差的绝对值≤</a:t>
            </a:r>
            <a:r>
              <a:rPr lang="en-US" altLang="zh-CN" sz="1800" dirty="0"/>
              <a:t>0.5dB</a:t>
            </a:r>
            <a:r>
              <a:rPr lang="zh-CN" altLang="en-US" sz="1800" dirty="0"/>
              <a:t>，相频测量误差的绝对值≤</a:t>
            </a:r>
            <a:r>
              <a:rPr lang="en-US" altLang="zh-CN" sz="1800" dirty="0"/>
              <a:t>5º</a:t>
            </a:r>
            <a:r>
              <a:rPr lang="zh-CN" altLang="en-US" sz="1800" dirty="0"/>
              <a:t>；数据显示的分辨率：电压增益</a:t>
            </a:r>
            <a:r>
              <a:rPr lang="en-US" altLang="zh-CN" sz="1800" dirty="0"/>
              <a:t>0.1dB</a:t>
            </a:r>
            <a:r>
              <a:rPr lang="zh-CN" altLang="en-US" sz="1800" dirty="0"/>
              <a:t>，相移</a:t>
            </a:r>
            <a:r>
              <a:rPr lang="en-US" altLang="zh-CN" sz="1800" dirty="0"/>
              <a:t>0.1º</a:t>
            </a:r>
            <a:r>
              <a:rPr lang="zh-CN" altLang="en-US" sz="1800" dirty="0"/>
              <a:t>。</a:t>
            </a:r>
            <a:endParaRPr lang="zh-CN" altLang="en-US" sz="1600" dirty="0"/>
          </a:p>
        </p:txBody>
      </p:sp>
    </p:spTree>
    <p:extLst>
      <p:ext uri="{BB962C8B-B14F-4D97-AF65-F5344CB8AC3E}">
        <p14:creationId xmlns:p14="http://schemas.microsoft.com/office/powerpoint/2010/main" val="2230054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文本框 4"/>
          <p:cNvSpPr txBox="1"/>
          <p:nvPr/>
        </p:nvSpPr>
        <p:spPr>
          <a:xfrm>
            <a:off x="333829" y="420914"/>
            <a:ext cx="11487756" cy="2534733"/>
          </a:xfrm>
          <a:prstGeom prst="rect">
            <a:avLst/>
          </a:prstGeom>
          <a:noFill/>
        </p:spPr>
        <p:txBody>
          <a:bodyPr wrap="square" rtlCol="0">
            <a:spAutoFit/>
          </a:bodyPr>
          <a:lstStyle/>
          <a:p>
            <a:pPr lvl="1">
              <a:lnSpc>
                <a:spcPct val="150000"/>
              </a:lnSpc>
            </a:pPr>
            <a:r>
              <a:rPr lang="zh-CN" altLang="en-US" sz="1800" dirty="0" smtClean="0"/>
              <a:t>（</a:t>
            </a:r>
            <a:r>
              <a:rPr lang="en-US" altLang="zh-CN" sz="1800" dirty="0"/>
              <a:t>2</a:t>
            </a:r>
            <a:r>
              <a:rPr lang="zh-CN" altLang="en-US" sz="1800" dirty="0"/>
              <a:t>）制作一个</a:t>
            </a:r>
            <a:r>
              <a:rPr lang="en-US" altLang="zh-CN" sz="1800" dirty="0"/>
              <a:t>RLC </a:t>
            </a:r>
            <a:r>
              <a:rPr lang="zh-CN" altLang="en-US" sz="1800" dirty="0"/>
              <a:t>串联谐振电路作为被测网络，如下图所示，其中</a:t>
            </a:r>
            <a:r>
              <a:rPr lang="en-US" altLang="zh-CN" sz="1800" dirty="0" err="1"/>
              <a:t>Ri</a:t>
            </a:r>
            <a:r>
              <a:rPr lang="en-US" altLang="zh-CN" sz="1800" dirty="0"/>
              <a:t> </a:t>
            </a:r>
            <a:r>
              <a:rPr lang="zh-CN" altLang="en-US" sz="1800" dirty="0"/>
              <a:t>和</a:t>
            </a:r>
            <a:r>
              <a:rPr lang="en-US" altLang="zh-CN" sz="1800" dirty="0"/>
              <a:t>Ro </a:t>
            </a:r>
            <a:r>
              <a:rPr lang="zh-CN" altLang="en-US" sz="1800" dirty="0"/>
              <a:t>分别为频率特性测试仪的输入阻抗和输出阻抗；制作的频率特性测试仪可对其进行线性扫频测量。</a:t>
            </a:r>
          </a:p>
          <a:p>
            <a:pPr lvl="2">
              <a:lnSpc>
                <a:spcPct val="150000"/>
              </a:lnSpc>
            </a:pPr>
            <a:r>
              <a:rPr lang="en-US" altLang="zh-CN" sz="1800" dirty="0"/>
              <a:t>a. </a:t>
            </a:r>
            <a:r>
              <a:rPr lang="zh-CN" altLang="en-US" sz="1800" dirty="0"/>
              <a:t>要求被测网络通带中心频率为</a:t>
            </a:r>
            <a:r>
              <a:rPr lang="en-US" altLang="zh-CN" sz="1800" dirty="0"/>
              <a:t>20MHz</a:t>
            </a:r>
            <a:r>
              <a:rPr lang="zh-CN" altLang="en-US" sz="1800" dirty="0"/>
              <a:t>，误差的绝对值≤</a:t>
            </a:r>
            <a:r>
              <a:rPr lang="en-US" altLang="zh-CN" sz="1800" dirty="0"/>
              <a:t>5%</a:t>
            </a:r>
            <a:r>
              <a:rPr lang="zh-CN" altLang="en-US" sz="1800" dirty="0"/>
              <a:t>；有载品质因数为</a:t>
            </a:r>
            <a:r>
              <a:rPr lang="en-US" altLang="zh-CN" sz="1800" dirty="0"/>
              <a:t>4</a:t>
            </a:r>
            <a:r>
              <a:rPr lang="zh-CN" altLang="en-US" sz="1800" dirty="0"/>
              <a:t>，误差的绝对值≤</a:t>
            </a:r>
            <a:r>
              <a:rPr lang="en-US" altLang="zh-CN" sz="1800" dirty="0"/>
              <a:t>5%</a:t>
            </a:r>
            <a:r>
              <a:rPr lang="zh-CN" altLang="en-US" sz="1800" dirty="0"/>
              <a:t>；有载最大电压增益≥</a:t>
            </a:r>
            <a:r>
              <a:rPr lang="en-US" altLang="zh-CN" sz="1800" dirty="0"/>
              <a:t>-1dB</a:t>
            </a:r>
            <a:r>
              <a:rPr lang="zh-CN" altLang="en-US" sz="1800" dirty="0"/>
              <a:t>；</a:t>
            </a:r>
          </a:p>
          <a:p>
            <a:pPr lvl="2">
              <a:lnSpc>
                <a:spcPct val="150000"/>
              </a:lnSpc>
            </a:pPr>
            <a:r>
              <a:rPr lang="en-US" altLang="zh-CN" sz="1800" dirty="0"/>
              <a:t>b. </a:t>
            </a:r>
            <a:r>
              <a:rPr lang="zh-CN" altLang="en-US" sz="1800" dirty="0"/>
              <a:t>扫频测量制作的被测网络，显示其中心频率和</a:t>
            </a:r>
            <a:r>
              <a:rPr lang="en-US" altLang="zh-CN" sz="1800" dirty="0"/>
              <a:t>-3dB </a:t>
            </a:r>
            <a:r>
              <a:rPr lang="zh-CN" altLang="en-US" sz="1800" dirty="0"/>
              <a:t>带宽，频率数据显示的分辨率为</a:t>
            </a:r>
            <a:r>
              <a:rPr lang="en-US" altLang="zh-CN" sz="1800" dirty="0"/>
              <a:t>100kHz</a:t>
            </a:r>
            <a:r>
              <a:rPr lang="zh-CN" altLang="en-US" sz="1800" dirty="0"/>
              <a:t>；</a:t>
            </a:r>
          </a:p>
          <a:p>
            <a:pPr lvl="2">
              <a:lnSpc>
                <a:spcPct val="150000"/>
              </a:lnSpc>
            </a:pPr>
            <a:r>
              <a:rPr lang="en-US" altLang="zh-CN" sz="1800" dirty="0"/>
              <a:t>c. </a:t>
            </a:r>
            <a:r>
              <a:rPr lang="zh-CN" altLang="en-US" sz="1800" dirty="0"/>
              <a:t>扫频测量并显示幅频特性曲线和相频特性曲线，要求具有电压增益、相移和频率坐标刻度。</a:t>
            </a:r>
            <a:endParaRPr lang="zh-CN" altLang="en-US" sz="3600" dirty="0"/>
          </a:p>
        </p:txBody>
      </p:sp>
      <p:pic>
        <p:nvPicPr>
          <p:cNvPr id="6" name="图片 5"/>
          <p:cNvPicPr>
            <a:picLocks noChangeAspect="1"/>
          </p:cNvPicPr>
          <p:nvPr/>
        </p:nvPicPr>
        <p:blipFill>
          <a:blip r:embed="rId2"/>
          <a:stretch>
            <a:fillRect/>
          </a:stretch>
        </p:blipFill>
        <p:spPr>
          <a:xfrm>
            <a:off x="3324909" y="3092714"/>
            <a:ext cx="4665205" cy="1880355"/>
          </a:xfrm>
          <a:prstGeom prst="rect">
            <a:avLst/>
          </a:prstGeom>
        </p:spPr>
      </p:pic>
    </p:spTree>
    <p:extLst>
      <p:ext uri="{BB962C8B-B14F-4D97-AF65-F5344CB8AC3E}">
        <p14:creationId xmlns:p14="http://schemas.microsoft.com/office/powerpoint/2010/main" val="2578259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矩形 4"/>
          <p:cNvSpPr/>
          <p:nvPr/>
        </p:nvSpPr>
        <p:spPr>
          <a:xfrm>
            <a:off x="348345" y="463574"/>
            <a:ext cx="11255828" cy="4985980"/>
          </a:xfrm>
          <a:prstGeom prst="rect">
            <a:avLst/>
          </a:prstGeom>
        </p:spPr>
        <p:txBody>
          <a:bodyPr wrap="square">
            <a:spAutoFit/>
          </a:bodyPr>
          <a:lstStyle/>
          <a:p>
            <a:pPr algn="ctr">
              <a:lnSpc>
                <a:spcPct val="150000"/>
              </a:lnSpc>
            </a:pPr>
            <a:r>
              <a:rPr lang="zh-CN" altLang="zh-CN" sz="2800" dirty="0">
                <a:solidFill>
                  <a:schemeClr val="accent6">
                    <a:lumMod val="75000"/>
                  </a:schemeClr>
                </a:solidFill>
                <a:latin typeface="隶书" panose="02010509060101010101" pitchFamily="49" charset="-122"/>
                <a:ea typeface="隶书" panose="02010509060101010101" pitchFamily="49" charset="-122"/>
              </a:rPr>
              <a:t>题目</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分析</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与解决方案</a:t>
            </a:r>
            <a:endParaRPr lang="zh-CN" altLang="zh-CN" sz="2400" dirty="0">
              <a:solidFill>
                <a:schemeClr val="accent6">
                  <a:lumMod val="75000"/>
                </a:schemeClr>
              </a:solidFill>
              <a:latin typeface="隶书" panose="02010509060101010101" pitchFamily="49" charset="-122"/>
              <a:ea typeface="隶书" panose="02010509060101010101" pitchFamily="49" charset="-122"/>
            </a:endParaRPr>
          </a:p>
          <a:p>
            <a:pPr>
              <a:lnSpc>
                <a:spcPct val="150000"/>
              </a:lnSpc>
            </a:pPr>
            <a:r>
              <a:rPr lang="zh-CN" altLang="en-US" sz="1800" dirty="0" smtClean="0"/>
              <a:t>一、此</a:t>
            </a:r>
            <a:r>
              <a:rPr lang="zh-CN" altLang="en-US" sz="1800" dirty="0"/>
              <a:t>题</a:t>
            </a:r>
            <a:r>
              <a:rPr lang="zh-CN" altLang="en-US" sz="1800" dirty="0" smtClean="0"/>
              <a:t>的基本要求是一个正交扫频信号源，要求</a:t>
            </a:r>
            <a:r>
              <a:rPr lang="zh-CN" altLang="en-US" sz="1800" dirty="0"/>
              <a:t>如下</a:t>
            </a:r>
            <a:r>
              <a:rPr lang="zh-CN" altLang="en-US" sz="1800" dirty="0" smtClean="0"/>
              <a:t>：</a:t>
            </a:r>
            <a:endParaRPr lang="en-US" altLang="zh-CN" sz="1800" dirty="0" smtClean="0"/>
          </a:p>
          <a:p>
            <a:pPr indent="457200">
              <a:lnSpc>
                <a:spcPct val="150000"/>
              </a:lnSpc>
            </a:pPr>
            <a:r>
              <a:rPr lang="zh-CN" altLang="en-US" sz="1800" dirty="0" smtClean="0"/>
              <a:t>频率</a:t>
            </a:r>
            <a:r>
              <a:rPr lang="zh-CN" altLang="en-US" sz="1800" dirty="0"/>
              <a:t>范围为</a:t>
            </a:r>
            <a:r>
              <a:rPr lang="en-US" altLang="zh-CN" sz="1800" dirty="0"/>
              <a:t>1MHz~40MHz</a:t>
            </a:r>
            <a:r>
              <a:rPr lang="zh-CN" altLang="en-US" sz="1800" dirty="0"/>
              <a:t>，频率稳定度≤</a:t>
            </a:r>
            <a:r>
              <a:rPr lang="en-US" altLang="zh-CN" sz="1800" dirty="0" smtClean="0"/>
              <a:t>10-4</a:t>
            </a:r>
          </a:p>
          <a:p>
            <a:pPr indent="457200">
              <a:lnSpc>
                <a:spcPct val="150000"/>
              </a:lnSpc>
            </a:pPr>
            <a:r>
              <a:rPr lang="zh-CN" altLang="en-US" sz="1800" dirty="0" smtClean="0"/>
              <a:t>信号</a:t>
            </a:r>
            <a:r>
              <a:rPr lang="zh-CN" altLang="en-US" sz="1800" dirty="0"/>
              <a:t>电压的峰峰值≥</a:t>
            </a:r>
            <a:r>
              <a:rPr lang="en-US" altLang="zh-CN" sz="1800" dirty="0"/>
              <a:t>1V</a:t>
            </a:r>
            <a:r>
              <a:rPr lang="zh-CN" altLang="en-US" sz="1800" dirty="0"/>
              <a:t>，幅度平坦度≤</a:t>
            </a:r>
            <a:r>
              <a:rPr lang="en-US" altLang="zh-CN" sz="1800" dirty="0"/>
              <a:t>5</a:t>
            </a:r>
            <a:r>
              <a:rPr lang="en-US" altLang="zh-CN" sz="1800" dirty="0" smtClean="0"/>
              <a:t>%</a:t>
            </a:r>
          </a:p>
          <a:p>
            <a:pPr indent="457200">
              <a:lnSpc>
                <a:spcPct val="150000"/>
              </a:lnSpc>
            </a:pPr>
            <a:r>
              <a:rPr lang="zh-CN" altLang="en-US" sz="1800" dirty="0" smtClean="0"/>
              <a:t>正交信号</a:t>
            </a:r>
            <a:r>
              <a:rPr lang="zh-CN" altLang="en-US" sz="1800" dirty="0"/>
              <a:t>相位差误差的绝对值≤</a:t>
            </a:r>
            <a:r>
              <a:rPr lang="en-US" altLang="zh-CN" sz="1800" dirty="0"/>
              <a:t>5º</a:t>
            </a:r>
            <a:r>
              <a:rPr lang="zh-CN" altLang="en-US" sz="1800" dirty="0"/>
              <a:t>，幅度平衡误差的绝对值≤</a:t>
            </a:r>
            <a:r>
              <a:rPr lang="en-US" altLang="zh-CN" sz="1800" dirty="0"/>
              <a:t>5</a:t>
            </a:r>
            <a:r>
              <a:rPr lang="en-US" altLang="zh-CN" sz="1800" dirty="0" smtClean="0"/>
              <a:t>%</a:t>
            </a:r>
          </a:p>
          <a:p>
            <a:pPr indent="457200">
              <a:lnSpc>
                <a:spcPct val="150000"/>
              </a:lnSpc>
            </a:pPr>
            <a:r>
              <a:rPr lang="zh-CN" altLang="en-US" sz="1800" dirty="0" smtClean="0"/>
              <a:t>扫频</a:t>
            </a:r>
            <a:r>
              <a:rPr lang="zh-CN" altLang="en-US" sz="1800" dirty="0"/>
              <a:t>范围及频率步进值可设置，最小步进</a:t>
            </a:r>
            <a:r>
              <a:rPr lang="en-US" altLang="zh-CN" sz="1800" dirty="0" smtClean="0"/>
              <a:t>100kHz</a:t>
            </a:r>
          </a:p>
          <a:p>
            <a:pPr indent="457200">
              <a:lnSpc>
                <a:spcPct val="150000"/>
              </a:lnSpc>
            </a:pPr>
            <a:r>
              <a:rPr lang="zh-CN" altLang="en-US" sz="1800" dirty="0"/>
              <a:t>所有的测量仪器都要求信号源有很高的频率准确度与稳定度，一般都用晶体振荡器作为它的基准参考频率，常见的有基于锁相环的频率合成器与直接数字合成器（</a:t>
            </a:r>
            <a:r>
              <a:rPr lang="en-US" altLang="zh-CN" sz="1800" dirty="0"/>
              <a:t>DDS</a:t>
            </a:r>
            <a:r>
              <a:rPr lang="zh-CN" altLang="en-US" sz="1800" dirty="0"/>
              <a:t>）。</a:t>
            </a:r>
          </a:p>
          <a:p>
            <a:pPr indent="457200">
              <a:lnSpc>
                <a:spcPct val="150000"/>
              </a:lnSpc>
            </a:pPr>
            <a:r>
              <a:rPr lang="zh-CN" altLang="en-US" sz="1800" dirty="0"/>
              <a:t>对于本题目来说，锁相环频率合成器不是一个合适的选择，主要原因在于本题目要求的输出频率范围较大且为一对正交的正弦波</a:t>
            </a:r>
            <a:r>
              <a:rPr lang="zh-CN" altLang="en-US" sz="1800" dirty="0" smtClean="0"/>
              <a:t>。所以合适的选择就是采用</a:t>
            </a:r>
            <a:r>
              <a:rPr lang="en-US" altLang="zh-CN" sz="1800" dirty="0" smtClean="0"/>
              <a:t>DDS</a:t>
            </a:r>
            <a:r>
              <a:rPr lang="zh-CN" altLang="en-US" sz="1800" dirty="0" smtClean="0"/>
              <a:t>。关于</a:t>
            </a:r>
            <a:r>
              <a:rPr lang="en-US" altLang="zh-CN" sz="1800" dirty="0" smtClean="0"/>
              <a:t>DDS</a:t>
            </a:r>
            <a:r>
              <a:rPr lang="zh-CN" altLang="en-US" sz="1800" dirty="0" smtClean="0"/>
              <a:t>的原理与设计等，以前的培训中已经介绍过，此处从略。</a:t>
            </a:r>
            <a:endParaRPr lang="en-US" altLang="zh-CN" sz="1800" dirty="0"/>
          </a:p>
        </p:txBody>
      </p:sp>
    </p:spTree>
    <p:extLst>
      <p:ext uri="{BB962C8B-B14F-4D97-AF65-F5344CB8AC3E}">
        <p14:creationId xmlns:p14="http://schemas.microsoft.com/office/powerpoint/2010/main" val="584441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sp>
        <p:nvSpPr>
          <p:cNvPr id="5" name="矩形 4"/>
          <p:cNvSpPr/>
          <p:nvPr/>
        </p:nvSpPr>
        <p:spPr>
          <a:xfrm>
            <a:off x="348345" y="463574"/>
            <a:ext cx="11255828" cy="5032147"/>
          </a:xfrm>
          <a:prstGeom prst="rect">
            <a:avLst/>
          </a:prstGeom>
        </p:spPr>
        <p:txBody>
          <a:bodyPr wrap="square">
            <a:spAutoFit/>
          </a:bodyPr>
          <a:lstStyle/>
          <a:p>
            <a:pPr>
              <a:lnSpc>
                <a:spcPct val="150000"/>
              </a:lnSpc>
            </a:pPr>
            <a:r>
              <a:rPr lang="zh-CN" altLang="en-US" sz="1800" dirty="0" smtClean="0"/>
              <a:t>二、此</a:t>
            </a:r>
            <a:r>
              <a:rPr lang="zh-CN" altLang="en-US" sz="1800" dirty="0"/>
              <a:t>题</a:t>
            </a:r>
            <a:r>
              <a:rPr lang="zh-CN" altLang="en-US" sz="1800" dirty="0" smtClean="0"/>
              <a:t>的提高要求是频率特性测试仪，采用的测试方法是零中频正交解调，其原理如下：</a:t>
            </a:r>
            <a:endParaRPr lang="en-US" altLang="zh-CN" sz="1800" dirty="0" smtClean="0"/>
          </a:p>
          <a:p>
            <a:pPr indent="457200">
              <a:lnSpc>
                <a:spcPct val="150000"/>
              </a:lnSpc>
            </a:pPr>
            <a:r>
              <a:rPr lang="zh-CN" altLang="en-US" sz="1800" dirty="0" smtClean="0"/>
              <a:t>记正交信号源的输出为</a:t>
            </a:r>
            <a:r>
              <a:rPr lang="en-US" altLang="zh-CN" sz="1800" i="1" dirty="0" err="1" smtClean="0"/>
              <a:t>A</a:t>
            </a:r>
            <a:r>
              <a:rPr lang="en-US" altLang="zh-CN" sz="1800" dirty="0" err="1" smtClean="0"/>
              <a:t>cos</a:t>
            </a:r>
            <a:r>
              <a:rPr lang="en-US" altLang="zh-CN" sz="1800" dirty="0" smtClean="0"/>
              <a:t>(</a:t>
            </a:r>
            <a:r>
              <a:rPr lang="el-GR" altLang="zh-CN" sz="1800" i="1" dirty="0" smtClean="0"/>
              <a:t>ω</a:t>
            </a:r>
            <a:r>
              <a:rPr lang="en-US" altLang="zh-CN" sz="1800" i="1" dirty="0" smtClean="0"/>
              <a:t>t</a:t>
            </a:r>
            <a:r>
              <a:rPr lang="en-US" altLang="zh-CN" sz="1800" dirty="0" smtClean="0"/>
              <a:t>)</a:t>
            </a:r>
            <a:r>
              <a:rPr lang="zh-CN" altLang="en-US" sz="1800" dirty="0" smtClean="0"/>
              <a:t>与</a:t>
            </a:r>
            <a:r>
              <a:rPr lang="en-US" altLang="zh-CN" sz="1800" i="1" dirty="0" err="1" smtClean="0"/>
              <a:t>A</a:t>
            </a:r>
            <a:r>
              <a:rPr lang="en-US" altLang="zh-CN" sz="1800" dirty="0" err="1" smtClean="0"/>
              <a:t>sin</a:t>
            </a:r>
            <a:r>
              <a:rPr lang="en-US" altLang="zh-CN" sz="1800" dirty="0" smtClean="0"/>
              <a:t>(</a:t>
            </a:r>
            <a:r>
              <a:rPr lang="el-GR" altLang="zh-CN" sz="1800" i="1" dirty="0"/>
              <a:t>ω</a:t>
            </a:r>
            <a:r>
              <a:rPr lang="en-US" altLang="zh-CN" sz="1800" i="1" dirty="0"/>
              <a:t>t</a:t>
            </a:r>
            <a:r>
              <a:rPr lang="en-US" altLang="zh-CN" sz="1800" dirty="0" smtClean="0"/>
              <a:t>)</a:t>
            </a:r>
            <a:r>
              <a:rPr lang="zh-CN" altLang="en-US" sz="1800" dirty="0" smtClean="0"/>
              <a:t>，经过</a:t>
            </a:r>
            <a:r>
              <a:rPr lang="zh-CN" altLang="en-US" sz="1800" dirty="0"/>
              <a:t>被测网络后的信号</a:t>
            </a:r>
            <a:r>
              <a:rPr lang="zh-CN" altLang="en-US" sz="1800" dirty="0" smtClean="0"/>
              <a:t>为</a:t>
            </a:r>
            <a:r>
              <a:rPr lang="en-US" altLang="zh-CN" sz="1800" i="1" dirty="0" smtClean="0"/>
              <a:t>K</a:t>
            </a:r>
            <a:r>
              <a:rPr lang="en-US" altLang="zh-CN" sz="1800" dirty="0" smtClean="0"/>
              <a:t>(</a:t>
            </a:r>
            <a:r>
              <a:rPr lang="en-US" altLang="zh-CN" sz="1800" i="1" dirty="0" smtClean="0"/>
              <a:t>ω</a:t>
            </a:r>
            <a:r>
              <a:rPr lang="en-US" altLang="zh-CN" sz="1800" dirty="0" smtClean="0"/>
              <a:t>)</a:t>
            </a:r>
            <a:r>
              <a:rPr lang="en-US" altLang="zh-CN" sz="1800" i="1" dirty="0" err="1" smtClean="0"/>
              <a:t>A</a:t>
            </a:r>
            <a:r>
              <a:rPr lang="en-US" altLang="zh-CN" sz="1800" dirty="0" err="1" smtClean="0"/>
              <a:t>cos</a:t>
            </a:r>
            <a:r>
              <a:rPr lang="en-US" altLang="zh-CN" sz="1800" dirty="0" smtClean="0"/>
              <a:t>(</a:t>
            </a:r>
            <a:r>
              <a:rPr lang="el-GR" altLang="zh-CN" sz="1800" i="1" dirty="0"/>
              <a:t>ω</a:t>
            </a:r>
            <a:r>
              <a:rPr lang="en-US" altLang="zh-CN" sz="1800" i="1" dirty="0" smtClean="0"/>
              <a:t>t+</a:t>
            </a:r>
            <a:r>
              <a:rPr lang="el-GR" altLang="zh-CN" sz="1800" i="1" dirty="0" smtClean="0"/>
              <a:t>φ</a:t>
            </a:r>
            <a:r>
              <a:rPr lang="en-US" altLang="zh-CN" sz="1800" dirty="0" smtClean="0"/>
              <a:t>)</a:t>
            </a:r>
            <a:r>
              <a:rPr lang="zh-CN" altLang="en-US" sz="1800" dirty="0" smtClean="0"/>
              <a:t>，</a:t>
            </a:r>
            <a:r>
              <a:rPr lang="zh-CN" altLang="en-US" sz="1800" dirty="0"/>
              <a:t>其中</a:t>
            </a:r>
            <a:r>
              <a:rPr lang="en-US" altLang="zh-CN" sz="1800" i="1" dirty="0"/>
              <a:t>K(ω) </a:t>
            </a:r>
            <a:r>
              <a:rPr lang="zh-CN" altLang="en-US" sz="1800" dirty="0"/>
              <a:t>是被测网络的电压增益，</a:t>
            </a:r>
            <a:r>
              <a:rPr lang="en-US" altLang="zh-CN" sz="1800" i="1" dirty="0"/>
              <a:t>φ(ω) </a:t>
            </a:r>
            <a:r>
              <a:rPr lang="zh-CN" altLang="en-US" sz="1800" dirty="0"/>
              <a:t>是被测网络的相移</a:t>
            </a:r>
            <a:r>
              <a:rPr lang="zh-CN" altLang="en-US" sz="1800" dirty="0" smtClean="0"/>
              <a:t>。</a:t>
            </a:r>
            <a:endParaRPr lang="en-US" altLang="zh-CN" sz="1800" dirty="0" smtClean="0"/>
          </a:p>
          <a:p>
            <a:pPr indent="457200">
              <a:lnSpc>
                <a:spcPct val="150000"/>
              </a:lnSpc>
            </a:pPr>
            <a:r>
              <a:rPr lang="zh-CN" altLang="en-US" sz="1800" dirty="0"/>
              <a:t>经过乘法器后的两路信号</a:t>
            </a:r>
            <a:r>
              <a:rPr lang="zh-CN" altLang="en-US" sz="1800" dirty="0" smtClean="0"/>
              <a:t>为</a:t>
            </a:r>
            <a:endParaRPr lang="en-US" altLang="zh-CN" sz="1800" dirty="0" smtClean="0"/>
          </a:p>
          <a:p>
            <a:pPr indent="457200">
              <a:lnSpc>
                <a:spcPct val="150000"/>
              </a:lnSpc>
            </a:pPr>
            <a:endParaRPr lang="en-US" altLang="zh-CN" sz="1800" dirty="0"/>
          </a:p>
          <a:p>
            <a:pPr indent="457200">
              <a:lnSpc>
                <a:spcPct val="150000"/>
              </a:lnSpc>
            </a:pPr>
            <a:endParaRPr lang="en-US" altLang="zh-CN" sz="1400" dirty="0" smtClean="0"/>
          </a:p>
          <a:p>
            <a:pPr indent="457200">
              <a:lnSpc>
                <a:spcPct val="150000"/>
              </a:lnSpc>
            </a:pPr>
            <a:endParaRPr lang="en-US" altLang="zh-CN" sz="1100" dirty="0"/>
          </a:p>
          <a:p>
            <a:pPr indent="457200">
              <a:lnSpc>
                <a:spcPct val="150000"/>
              </a:lnSpc>
            </a:pPr>
            <a:endParaRPr lang="en-US" altLang="zh-CN" sz="1800" dirty="0" smtClean="0"/>
          </a:p>
          <a:p>
            <a:pPr indent="457200">
              <a:lnSpc>
                <a:spcPct val="150000"/>
              </a:lnSpc>
            </a:pPr>
            <a:r>
              <a:rPr lang="zh-CN" altLang="en-US" sz="1800" dirty="0"/>
              <a:t>经过低通滤波器滤除其中</a:t>
            </a:r>
            <a:r>
              <a:rPr lang="en-US" altLang="zh-CN" sz="1800" dirty="0"/>
              <a:t>2 </a:t>
            </a:r>
            <a:r>
              <a:rPr lang="zh-CN" altLang="en-US" sz="1800" dirty="0"/>
              <a:t>倍频成分后，送入</a:t>
            </a:r>
            <a:r>
              <a:rPr lang="en-US" altLang="zh-CN" sz="1800" dirty="0"/>
              <a:t>ADC </a:t>
            </a:r>
            <a:r>
              <a:rPr lang="zh-CN" altLang="en-US" sz="1800" dirty="0"/>
              <a:t>的两路</a:t>
            </a:r>
            <a:r>
              <a:rPr lang="zh-CN" altLang="en-US" sz="1800" dirty="0" smtClean="0"/>
              <a:t>信号可以写为</a:t>
            </a:r>
            <a:endParaRPr lang="en-US" altLang="zh-CN" sz="1800" dirty="0" smtClean="0"/>
          </a:p>
          <a:p>
            <a:pPr indent="457200">
              <a:lnSpc>
                <a:spcPct val="150000"/>
              </a:lnSpc>
            </a:pPr>
            <a:endParaRPr lang="en-US" altLang="zh-CN" sz="1600" dirty="0"/>
          </a:p>
          <a:p>
            <a:pPr indent="457200">
              <a:lnSpc>
                <a:spcPct val="150000"/>
              </a:lnSpc>
            </a:pPr>
            <a:endParaRPr lang="en-US" altLang="zh-CN" sz="1100" dirty="0" smtClean="0"/>
          </a:p>
          <a:p>
            <a:pPr>
              <a:lnSpc>
                <a:spcPct val="150000"/>
              </a:lnSpc>
            </a:pPr>
            <a:r>
              <a:rPr lang="zh-CN" altLang="en-US" sz="1800" dirty="0" smtClean="0"/>
              <a:t>其中</a:t>
            </a:r>
            <a:r>
              <a:rPr lang="en-US" altLang="zh-CN" sz="1800" i="1" dirty="0" smtClean="0"/>
              <a:t>A‘</a:t>
            </a:r>
            <a:r>
              <a:rPr lang="zh-CN" altLang="en-US" sz="1800" dirty="0" smtClean="0"/>
              <a:t>是</a:t>
            </a:r>
            <a:r>
              <a:rPr lang="zh-CN" altLang="en-US" sz="1800" dirty="0"/>
              <a:t>一个确定值</a:t>
            </a:r>
            <a:r>
              <a:rPr lang="zh-CN" altLang="en-US" sz="1800" dirty="0" smtClean="0"/>
              <a:t>。</a:t>
            </a:r>
            <a:endParaRPr lang="en-US" altLang="zh-CN" sz="1800" dirty="0" smtClean="0"/>
          </a:p>
          <a:p>
            <a:pPr indent="457200">
              <a:lnSpc>
                <a:spcPct val="150000"/>
              </a:lnSpc>
            </a:pPr>
            <a:r>
              <a:rPr lang="zh-CN" altLang="en-US" sz="1800" dirty="0" smtClean="0"/>
              <a:t>由这两</a:t>
            </a:r>
            <a:r>
              <a:rPr lang="zh-CN" altLang="en-US" sz="1800" dirty="0"/>
              <a:t>个</a:t>
            </a:r>
            <a:r>
              <a:rPr lang="zh-CN" altLang="en-US" sz="1800" dirty="0" smtClean="0"/>
              <a:t>信号可以</a:t>
            </a:r>
            <a:r>
              <a:rPr lang="zh-CN" altLang="en-US" sz="1800" dirty="0"/>
              <a:t>得到被测网络的幅频特性和相频特性：</a:t>
            </a:r>
            <a:endParaRPr lang="en-US" altLang="zh-CN" sz="1800" dirty="0"/>
          </a:p>
        </p:txBody>
      </p:sp>
      <p:pic>
        <p:nvPicPr>
          <p:cNvPr id="6" name="图片 5"/>
          <p:cNvPicPr>
            <a:picLocks noChangeAspect="1"/>
          </p:cNvPicPr>
          <p:nvPr/>
        </p:nvPicPr>
        <p:blipFill>
          <a:blip r:embed="rId2"/>
          <a:stretch>
            <a:fillRect/>
          </a:stretch>
        </p:blipFill>
        <p:spPr>
          <a:xfrm>
            <a:off x="2269851" y="2264067"/>
            <a:ext cx="7173326" cy="1295581"/>
          </a:xfrm>
          <a:prstGeom prst="rect">
            <a:avLst/>
          </a:prstGeom>
        </p:spPr>
      </p:pic>
      <p:pic>
        <p:nvPicPr>
          <p:cNvPr id="7" name="图片 6"/>
          <p:cNvPicPr>
            <a:picLocks noChangeAspect="1"/>
          </p:cNvPicPr>
          <p:nvPr/>
        </p:nvPicPr>
        <p:blipFill>
          <a:blip r:embed="rId3"/>
          <a:stretch>
            <a:fillRect/>
          </a:stretch>
        </p:blipFill>
        <p:spPr>
          <a:xfrm>
            <a:off x="2917663" y="4040917"/>
            <a:ext cx="5572903" cy="495369"/>
          </a:xfrm>
          <a:prstGeom prst="rect">
            <a:avLst/>
          </a:prstGeom>
        </p:spPr>
      </p:pic>
      <p:pic>
        <p:nvPicPr>
          <p:cNvPr id="8" name="图片 7"/>
          <p:cNvPicPr>
            <a:picLocks noChangeAspect="1"/>
          </p:cNvPicPr>
          <p:nvPr/>
        </p:nvPicPr>
        <p:blipFill>
          <a:blip r:embed="rId4"/>
          <a:stretch>
            <a:fillRect/>
          </a:stretch>
        </p:blipFill>
        <p:spPr>
          <a:xfrm>
            <a:off x="3279642" y="5549392"/>
            <a:ext cx="5153744" cy="781159"/>
          </a:xfrm>
          <a:prstGeom prst="rect">
            <a:avLst/>
          </a:prstGeom>
        </p:spPr>
      </p:pic>
    </p:spTree>
    <p:extLst>
      <p:ext uri="{BB962C8B-B14F-4D97-AF65-F5344CB8AC3E}">
        <p14:creationId xmlns:p14="http://schemas.microsoft.com/office/powerpoint/2010/main" val="4093309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文本框 4"/>
          <p:cNvSpPr txBox="1"/>
          <p:nvPr/>
        </p:nvSpPr>
        <p:spPr>
          <a:xfrm>
            <a:off x="471714" y="464457"/>
            <a:ext cx="11349871" cy="3000821"/>
          </a:xfrm>
          <a:prstGeom prst="rect">
            <a:avLst/>
          </a:prstGeom>
          <a:noFill/>
        </p:spPr>
        <p:txBody>
          <a:bodyPr wrap="square" rtlCol="0">
            <a:spAutoFit/>
          </a:bodyPr>
          <a:lstStyle/>
          <a:p>
            <a:pPr>
              <a:lnSpc>
                <a:spcPct val="150000"/>
              </a:lnSpc>
            </a:pPr>
            <a:r>
              <a:rPr lang="zh-CN" altLang="en-US" sz="1800" dirty="0" smtClean="0"/>
              <a:t>注意事项：</a:t>
            </a:r>
            <a:endParaRPr lang="en-US" altLang="zh-CN" sz="1800" dirty="0" smtClean="0"/>
          </a:p>
          <a:p>
            <a:pPr marL="285750" indent="-285750">
              <a:lnSpc>
                <a:spcPct val="150000"/>
              </a:lnSpc>
              <a:buFont typeface="Arial" panose="020B0604020202020204" pitchFamily="34" charset="0"/>
              <a:buChar char="•"/>
            </a:pPr>
            <a:r>
              <a:rPr lang="zh-CN" altLang="en-US" sz="1800" dirty="0" smtClean="0"/>
              <a:t>由于省略了对于信号源的采样，所以最后结果的准确度与</a:t>
            </a:r>
            <a:r>
              <a:rPr lang="en-US" altLang="zh-CN" sz="1800" dirty="0" smtClean="0"/>
              <a:t>DDS</a:t>
            </a:r>
            <a:r>
              <a:rPr lang="zh-CN" altLang="en-US" sz="1800" dirty="0" smtClean="0"/>
              <a:t>的输出稳定性、以及数据采集链路中各部件（乘法器、检波器、低通滤波器、直流放大器）的准确性与稳定性有关，尤其是检波后的直流放大器，应该采用低漂移的运放</a:t>
            </a:r>
            <a:endParaRPr lang="en-US" altLang="zh-CN" sz="1800" dirty="0" smtClean="0"/>
          </a:p>
          <a:p>
            <a:pPr marL="285750" indent="-285750">
              <a:lnSpc>
                <a:spcPct val="150000"/>
              </a:lnSpc>
              <a:buFont typeface="Arial" panose="020B0604020202020204" pitchFamily="34" charset="0"/>
              <a:buChar char="•"/>
            </a:pPr>
            <a:r>
              <a:rPr lang="zh-CN" altLang="en-US" sz="1800" dirty="0" smtClean="0"/>
              <a:t>信号频率高达</a:t>
            </a:r>
            <a:r>
              <a:rPr lang="en-US" altLang="zh-CN" sz="1800" dirty="0" smtClean="0"/>
              <a:t>40MHz</a:t>
            </a:r>
            <a:r>
              <a:rPr lang="zh-CN" altLang="en-US" sz="1800" dirty="0" smtClean="0"/>
              <a:t>，所以必须采用高速乘法器（例如</a:t>
            </a:r>
            <a:r>
              <a:rPr lang="en-US" altLang="zh-CN" sz="1800" dirty="0" smtClean="0"/>
              <a:t>AD835</a:t>
            </a:r>
            <a:r>
              <a:rPr lang="zh-CN" altLang="en-US" sz="1800" dirty="0" smtClean="0"/>
              <a:t>）</a:t>
            </a:r>
            <a:endParaRPr lang="en-US" altLang="zh-CN" sz="1800" dirty="0" smtClean="0"/>
          </a:p>
          <a:p>
            <a:pPr marL="285750" indent="-285750">
              <a:lnSpc>
                <a:spcPct val="150000"/>
              </a:lnSpc>
              <a:buFont typeface="Arial" panose="020B0604020202020204" pitchFamily="34" charset="0"/>
              <a:buChar char="•"/>
            </a:pPr>
            <a:r>
              <a:rPr lang="zh-CN" altLang="en-US" sz="1800" dirty="0" smtClean="0"/>
              <a:t>同样的理由，低通滤波器应该采用</a:t>
            </a:r>
            <a:r>
              <a:rPr lang="en-US" altLang="zh-CN" sz="1800" dirty="0" smtClean="0"/>
              <a:t>LC</a:t>
            </a:r>
            <a:r>
              <a:rPr lang="zh-CN" altLang="en-US" sz="1800" dirty="0" smtClean="0"/>
              <a:t>滤波器</a:t>
            </a:r>
            <a:endParaRPr lang="en-US" altLang="zh-CN" sz="1800" dirty="0" smtClean="0"/>
          </a:p>
          <a:p>
            <a:pPr marL="285750" indent="-285750">
              <a:lnSpc>
                <a:spcPct val="150000"/>
              </a:lnSpc>
              <a:buFont typeface="Arial" panose="020B0604020202020204" pitchFamily="34" charset="0"/>
              <a:buChar char="•"/>
            </a:pPr>
            <a:r>
              <a:rPr lang="zh-CN" altLang="en-US" sz="1800" dirty="0" smtClean="0"/>
              <a:t>为了</a:t>
            </a:r>
            <a:r>
              <a:rPr lang="zh-CN" altLang="en-US" sz="1800" dirty="0" smtClean="0"/>
              <a:t>保证结果的</a:t>
            </a:r>
            <a:r>
              <a:rPr lang="zh-CN" altLang="en-US" sz="1800" dirty="0" smtClean="0"/>
              <a:t>误差</a:t>
            </a:r>
            <a:r>
              <a:rPr lang="zh-CN" altLang="en-US" sz="1800" dirty="0" smtClean="0"/>
              <a:t>满足题目要求</a:t>
            </a:r>
            <a:r>
              <a:rPr lang="zh-CN" altLang="en-US" sz="1800" dirty="0" smtClean="0"/>
              <a:t>，</a:t>
            </a:r>
            <a:r>
              <a:rPr lang="en-US" altLang="zh-CN" sz="1800" dirty="0" smtClean="0"/>
              <a:t>ADC</a:t>
            </a:r>
            <a:r>
              <a:rPr lang="zh-CN" altLang="en-US" sz="1800" dirty="0" smtClean="0"/>
              <a:t>必须具有足够的分辨率（经分析不能低于</a:t>
            </a:r>
            <a:r>
              <a:rPr lang="en-US" altLang="zh-CN" sz="1800" dirty="0" smtClean="0"/>
              <a:t>8bit</a:t>
            </a:r>
            <a:r>
              <a:rPr lang="zh-CN" altLang="en-US" sz="1800" dirty="0" smtClean="0"/>
              <a:t>）</a:t>
            </a:r>
            <a:endParaRPr lang="zh-CN" altLang="en-US" sz="1800" dirty="0"/>
          </a:p>
        </p:txBody>
      </p:sp>
    </p:spTree>
    <p:extLst>
      <p:ext uri="{BB962C8B-B14F-4D97-AF65-F5344CB8AC3E}">
        <p14:creationId xmlns:p14="http://schemas.microsoft.com/office/powerpoint/2010/main" val="175634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6" name="文本框 5"/>
          <p:cNvSpPr txBox="1"/>
          <p:nvPr/>
        </p:nvSpPr>
        <p:spPr>
          <a:xfrm>
            <a:off x="449942" y="376134"/>
            <a:ext cx="11190514" cy="1723549"/>
          </a:xfrm>
          <a:prstGeom prst="rect">
            <a:avLst/>
          </a:prstGeom>
          <a:noFill/>
        </p:spPr>
        <p:txBody>
          <a:bodyPr wrap="square" rtlCol="0">
            <a:spAutoFit/>
          </a:bodyPr>
          <a:lstStyle/>
          <a:p>
            <a:pPr algn="ctr">
              <a:lnSpc>
                <a:spcPct val="150000"/>
              </a:lnSpc>
              <a:spcAft>
                <a:spcPts val="1200"/>
              </a:spcAft>
            </a:pPr>
            <a:r>
              <a:rPr lang="en-US" altLang="zh-CN" sz="2400" dirty="0" smtClean="0">
                <a:solidFill>
                  <a:schemeClr val="accent6">
                    <a:lumMod val="75000"/>
                  </a:schemeClr>
                </a:solidFill>
              </a:rPr>
              <a:t>2016</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年</a:t>
            </a:r>
            <a:r>
              <a:rPr lang="en-US" altLang="zh-CN" sz="2400" dirty="0" smtClean="0">
                <a:solidFill>
                  <a:schemeClr val="accent6">
                    <a:lumMod val="75000"/>
                  </a:schemeClr>
                </a:solidFill>
              </a:rPr>
              <a:t>TI</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杯模拟电路邀请赛</a:t>
            </a:r>
            <a:r>
              <a:rPr lang="en-US" altLang="zh-CN" sz="2400" dirty="0" smtClean="0">
                <a:solidFill>
                  <a:schemeClr val="accent6">
                    <a:lumMod val="75000"/>
                  </a:schemeClr>
                </a:solidFill>
              </a:rPr>
              <a:t>C</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题</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频率特性测试仪</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1800" dirty="0" smtClean="0">
                <a:solidFill>
                  <a:schemeClr val="accent6">
                    <a:lumMod val="75000"/>
                  </a:schemeClr>
                </a:solidFill>
              </a:rPr>
              <a:t> </a:t>
            </a:r>
            <a:endParaRPr lang="zh-CN" altLang="zh-CN" sz="2800" dirty="0">
              <a:solidFill>
                <a:schemeClr val="accent6">
                  <a:lumMod val="75000"/>
                </a:schemeClr>
              </a:solidFill>
              <a:latin typeface="隶书" panose="02010509060101010101" pitchFamily="49" charset="-122"/>
              <a:ea typeface="隶书" panose="02010509060101010101" pitchFamily="49" charset="-122"/>
            </a:endParaRPr>
          </a:p>
          <a:p>
            <a:pPr>
              <a:lnSpc>
                <a:spcPct val="150000"/>
              </a:lnSpc>
            </a:pPr>
            <a:r>
              <a:rPr lang="zh-CN" altLang="zh-CN" sz="1800" dirty="0" smtClean="0">
                <a:latin typeface="黑体" panose="02010609060101010101" pitchFamily="49" charset="-122"/>
                <a:ea typeface="黑体" panose="02010609060101010101" pitchFamily="49" charset="-122"/>
              </a:rPr>
              <a:t>一</a:t>
            </a:r>
            <a:r>
              <a:rPr lang="zh-CN" altLang="zh-CN" sz="1800" dirty="0">
                <a:latin typeface="黑体" panose="02010609060101010101" pitchFamily="49" charset="-122"/>
                <a:ea typeface="黑体" panose="02010609060101010101" pitchFamily="49" charset="-122"/>
              </a:rPr>
              <a:t>、任务</a:t>
            </a:r>
          </a:p>
          <a:p>
            <a:pPr lvl="1">
              <a:lnSpc>
                <a:spcPct val="150000"/>
              </a:lnSpc>
            </a:pPr>
            <a:r>
              <a:rPr lang="zh-CN" altLang="en-US" sz="1800" dirty="0"/>
              <a:t>设计制作一台频率特性测试仪，用于测量并显示“被测网络”的频率特性，系统组成框图如下</a:t>
            </a:r>
            <a:r>
              <a:rPr lang="zh-CN" altLang="en-US" sz="1800" dirty="0" smtClean="0"/>
              <a:t>：</a:t>
            </a:r>
            <a:endParaRPr lang="zh-CN" altLang="en-US" sz="1600" dirty="0"/>
          </a:p>
        </p:txBody>
      </p:sp>
      <p:pic>
        <p:nvPicPr>
          <p:cNvPr id="8" name="图片 7"/>
          <p:cNvPicPr>
            <a:picLocks noChangeAspect="1"/>
          </p:cNvPicPr>
          <p:nvPr/>
        </p:nvPicPr>
        <p:blipFill>
          <a:blip r:embed="rId2"/>
          <a:stretch>
            <a:fillRect/>
          </a:stretch>
        </p:blipFill>
        <p:spPr>
          <a:xfrm>
            <a:off x="2923529" y="2355200"/>
            <a:ext cx="6011114" cy="2800741"/>
          </a:xfrm>
          <a:prstGeom prst="rect">
            <a:avLst/>
          </a:prstGeom>
        </p:spPr>
      </p:pic>
    </p:spTree>
    <p:extLst>
      <p:ext uri="{BB962C8B-B14F-4D97-AF65-F5344CB8AC3E}">
        <p14:creationId xmlns:p14="http://schemas.microsoft.com/office/powerpoint/2010/main" val="3206286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5" name="文本框 4"/>
          <p:cNvSpPr txBox="1"/>
          <p:nvPr/>
        </p:nvSpPr>
        <p:spPr>
          <a:xfrm>
            <a:off x="370114" y="406400"/>
            <a:ext cx="11328400" cy="5909310"/>
          </a:xfrm>
          <a:prstGeom prst="rect">
            <a:avLst/>
          </a:prstGeom>
          <a:noFill/>
        </p:spPr>
        <p:txBody>
          <a:bodyPr wrap="square" rtlCol="0">
            <a:spAutoFit/>
          </a:bodyPr>
          <a:lstStyle/>
          <a:p>
            <a:pPr>
              <a:lnSpc>
                <a:spcPct val="150000"/>
              </a:lnSpc>
            </a:pPr>
            <a:r>
              <a:rPr lang="zh-CN" altLang="en-US" sz="1800" dirty="0"/>
              <a:t>二、要求</a:t>
            </a:r>
          </a:p>
          <a:p>
            <a:pPr marL="800100" lvl="1" indent="-342900">
              <a:lnSpc>
                <a:spcPct val="150000"/>
              </a:lnSpc>
              <a:buFont typeface="+mj-lt"/>
              <a:buAutoNum type="arabicPeriod"/>
            </a:pPr>
            <a:r>
              <a:rPr lang="zh-CN" altLang="en-US" sz="1800" dirty="0" smtClean="0"/>
              <a:t>设计</a:t>
            </a:r>
            <a:r>
              <a:rPr lang="zh-CN" altLang="en-US" sz="1800" dirty="0"/>
              <a:t>制作“被测网络”，其输入、输出阻抗均为</a:t>
            </a:r>
            <a:r>
              <a:rPr lang="en-US" altLang="zh-CN" sz="1800" dirty="0"/>
              <a:t>50Ω</a:t>
            </a:r>
            <a:r>
              <a:rPr lang="zh-CN" altLang="en-US" sz="1800" dirty="0"/>
              <a:t>，该网络由截止频率</a:t>
            </a:r>
            <a:r>
              <a:rPr lang="en-US" altLang="zh-CN" sz="1800" dirty="0"/>
              <a:t>10kHz</a:t>
            </a:r>
            <a:r>
              <a:rPr lang="zh-CN" altLang="en-US" sz="1800" dirty="0"/>
              <a:t>的二阶有源高通滤波器与截止频率</a:t>
            </a:r>
            <a:r>
              <a:rPr lang="en-US" altLang="zh-CN" sz="1800" dirty="0"/>
              <a:t>100kHz</a:t>
            </a:r>
            <a:r>
              <a:rPr lang="zh-CN" altLang="en-US" sz="1800" dirty="0"/>
              <a:t>的二阶有源低通滤波器串联而成，两个有源滤波器通带电压增益均为</a:t>
            </a:r>
            <a:r>
              <a:rPr lang="en-US" altLang="zh-CN" sz="1800" dirty="0"/>
              <a:t>1</a:t>
            </a:r>
            <a:r>
              <a:rPr lang="zh-CN" altLang="en-US" sz="1800" dirty="0"/>
              <a:t>。</a:t>
            </a:r>
          </a:p>
          <a:p>
            <a:pPr marL="800100" lvl="1" indent="-342900">
              <a:lnSpc>
                <a:spcPct val="150000"/>
              </a:lnSpc>
              <a:buFont typeface="+mj-lt"/>
              <a:buAutoNum type="arabicPeriod"/>
            </a:pPr>
            <a:r>
              <a:rPr lang="zh-CN" altLang="en-US" sz="1800" dirty="0" smtClean="0"/>
              <a:t>频率特性</a:t>
            </a:r>
            <a:r>
              <a:rPr lang="zh-CN" altLang="en-US" sz="1800" dirty="0"/>
              <a:t>测试仪中，“采样调理”电路的输入阻抗</a:t>
            </a:r>
            <a:r>
              <a:rPr lang="en-US" altLang="zh-CN" sz="1800" dirty="0"/>
              <a:t>50Ω</a:t>
            </a:r>
            <a:r>
              <a:rPr lang="zh-CN" altLang="en-US" sz="1800" dirty="0"/>
              <a:t>。“扫频信号发生器”输出振幅为</a:t>
            </a:r>
            <a:r>
              <a:rPr lang="en-US" altLang="zh-CN" sz="1800" dirty="0"/>
              <a:t>1V</a:t>
            </a:r>
            <a:r>
              <a:rPr lang="zh-CN" altLang="en-US" sz="1800" dirty="0"/>
              <a:t>的正弦电压，其扫频范围</a:t>
            </a:r>
            <a:r>
              <a:rPr lang="en-US" altLang="zh-CN" sz="1800" dirty="0"/>
              <a:t>1kHz~1MHz</a:t>
            </a:r>
            <a:r>
              <a:rPr lang="zh-CN" altLang="en-US" sz="1800" dirty="0"/>
              <a:t>，频率步进</a:t>
            </a:r>
            <a:r>
              <a:rPr lang="en-US" altLang="zh-CN" sz="1800" dirty="0"/>
              <a:t>10Hz</a:t>
            </a:r>
            <a:r>
              <a:rPr lang="zh-CN" altLang="en-US" sz="1800" dirty="0"/>
              <a:t>或</a:t>
            </a:r>
            <a:r>
              <a:rPr lang="en-US" altLang="zh-CN" sz="1800" dirty="0"/>
              <a:t>1kHz</a:t>
            </a:r>
            <a:r>
              <a:rPr lang="zh-CN" altLang="en-US" sz="1800" dirty="0"/>
              <a:t>可选，输出阻抗</a:t>
            </a:r>
            <a:r>
              <a:rPr lang="en-US" altLang="zh-CN" sz="1800" dirty="0"/>
              <a:t>50Ω</a:t>
            </a:r>
            <a:r>
              <a:rPr lang="zh-CN" altLang="en-US" sz="1800" dirty="0"/>
              <a:t>，并可用键盘设定点频输出。</a:t>
            </a:r>
          </a:p>
          <a:p>
            <a:pPr marL="800100" lvl="1" indent="-342900">
              <a:lnSpc>
                <a:spcPct val="150000"/>
              </a:lnSpc>
              <a:buFont typeface="+mj-lt"/>
              <a:buAutoNum type="arabicPeriod"/>
            </a:pPr>
            <a:r>
              <a:rPr lang="zh-CN" altLang="en-US" sz="1800" dirty="0" smtClean="0"/>
              <a:t>用</a:t>
            </a:r>
            <a:r>
              <a:rPr lang="zh-CN" altLang="en-US" sz="1800" dirty="0"/>
              <a:t>“扫频法”测量扫频范围内“被测网络”的幅频特性，并在</a:t>
            </a:r>
            <a:r>
              <a:rPr lang="en-US" altLang="zh-CN" sz="1800" dirty="0"/>
              <a:t>LCD</a:t>
            </a:r>
            <a:r>
              <a:rPr lang="zh-CN" altLang="en-US" sz="1800" dirty="0"/>
              <a:t>上显示幅频特性曲线、截止频率值，测量时间≤</a:t>
            </a:r>
            <a:r>
              <a:rPr lang="en-US" altLang="zh-CN" sz="1800" dirty="0"/>
              <a:t>10</a:t>
            </a:r>
            <a:r>
              <a:rPr lang="zh-CN" altLang="en-US" sz="1800" dirty="0"/>
              <a:t>秒。</a:t>
            </a:r>
          </a:p>
          <a:p>
            <a:pPr marL="800100" lvl="1" indent="-342900">
              <a:lnSpc>
                <a:spcPct val="150000"/>
              </a:lnSpc>
              <a:buFont typeface="+mj-lt"/>
              <a:buAutoNum type="arabicPeriod"/>
            </a:pPr>
            <a:r>
              <a:rPr lang="zh-CN" altLang="en-US" sz="1800" dirty="0" smtClean="0"/>
              <a:t>采用</a:t>
            </a:r>
            <a:r>
              <a:rPr lang="zh-CN" altLang="en-US" sz="1800" dirty="0"/>
              <a:t>“点频法”测量“被测网络”的电压增益，以数字方式显示被测网络增益与频率，并用示波器标定，测量相对误差≤</a:t>
            </a:r>
            <a:r>
              <a:rPr lang="en-US" altLang="zh-CN" sz="1800" dirty="0"/>
              <a:t>5%</a:t>
            </a:r>
            <a:r>
              <a:rPr lang="zh-CN" altLang="en-US" sz="1800" dirty="0"/>
              <a:t>；测量频率由键盘设定。</a:t>
            </a:r>
          </a:p>
          <a:p>
            <a:pPr marL="800100" lvl="1" indent="-342900">
              <a:lnSpc>
                <a:spcPct val="150000"/>
              </a:lnSpc>
              <a:buFont typeface="+mj-lt"/>
              <a:buAutoNum type="arabicPeriod"/>
            </a:pPr>
            <a:r>
              <a:rPr lang="zh-CN" altLang="en-US" sz="1800" dirty="0" smtClean="0"/>
              <a:t>用</a:t>
            </a:r>
            <a:r>
              <a:rPr lang="zh-CN" altLang="en-US" sz="1800" dirty="0"/>
              <a:t>“扫频法”测量扫频范围内“被测网络”的相频特性，并在</a:t>
            </a:r>
            <a:r>
              <a:rPr lang="en-US" altLang="zh-CN" sz="1800" dirty="0"/>
              <a:t>LCD</a:t>
            </a:r>
            <a:r>
              <a:rPr lang="zh-CN" altLang="en-US" sz="1800" dirty="0"/>
              <a:t>上显示相频特性曲线，测量时间≤</a:t>
            </a:r>
            <a:r>
              <a:rPr lang="en-US" altLang="zh-CN" sz="1800" dirty="0"/>
              <a:t>10</a:t>
            </a:r>
            <a:r>
              <a:rPr lang="zh-CN" altLang="en-US" sz="1800" dirty="0"/>
              <a:t>秒。</a:t>
            </a:r>
          </a:p>
          <a:p>
            <a:pPr marL="800100" lvl="1" indent="-342900">
              <a:lnSpc>
                <a:spcPct val="150000"/>
              </a:lnSpc>
              <a:buFont typeface="+mj-lt"/>
              <a:buAutoNum type="arabicPeriod"/>
            </a:pPr>
            <a:r>
              <a:rPr lang="zh-CN" altLang="en-US" sz="1800" dirty="0" smtClean="0"/>
              <a:t>用</a:t>
            </a:r>
            <a:r>
              <a:rPr lang="zh-CN" altLang="en-US" sz="1800" dirty="0"/>
              <a:t>“点频法”测量“被测网络”的相移，以数字方式显示被测网络相移与频率，并用示波器标定，测量相对误差≤</a:t>
            </a:r>
            <a:r>
              <a:rPr lang="en-US" altLang="zh-CN" sz="1800" dirty="0"/>
              <a:t>5%</a:t>
            </a:r>
            <a:r>
              <a:rPr lang="zh-CN" altLang="en-US" sz="1800" dirty="0"/>
              <a:t>；测量频率由键盘设定。</a:t>
            </a:r>
          </a:p>
          <a:p>
            <a:pPr marL="800100" lvl="1" indent="-342900">
              <a:lnSpc>
                <a:spcPct val="150000"/>
              </a:lnSpc>
              <a:buFont typeface="+mj-lt"/>
              <a:buAutoNum type="arabicPeriod"/>
            </a:pPr>
            <a:r>
              <a:rPr lang="zh-CN" altLang="en-US" sz="1800" dirty="0" smtClean="0"/>
              <a:t>其他</a:t>
            </a:r>
            <a:r>
              <a:rPr lang="zh-CN" altLang="en-US" sz="1800" dirty="0"/>
              <a:t>自主</a:t>
            </a:r>
            <a:r>
              <a:rPr lang="zh-CN" altLang="en-US" sz="1800" dirty="0" smtClean="0"/>
              <a:t>发挥</a:t>
            </a:r>
            <a:endParaRPr lang="zh-CN" altLang="en-US" sz="1800" dirty="0"/>
          </a:p>
        </p:txBody>
      </p:sp>
    </p:spTree>
    <p:extLst>
      <p:ext uri="{BB962C8B-B14F-4D97-AF65-F5344CB8AC3E}">
        <p14:creationId xmlns:p14="http://schemas.microsoft.com/office/powerpoint/2010/main" val="3169538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矩形 4"/>
          <p:cNvSpPr/>
          <p:nvPr/>
        </p:nvSpPr>
        <p:spPr>
          <a:xfrm>
            <a:off x="348345" y="463574"/>
            <a:ext cx="11255828" cy="5401479"/>
          </a:xfrm>
          <a:prstGeom prst="rect">
            <a:avLst/>
          </a:prstGeom>
        </p:spPr>
        <p:txBody>
          <a:bodyPr wrap="square">
            <a:spAutoFit/>
          </a:bodyPr>
          <a:lstStyle/>
          <a:p>
            <a:pPr algn="ctr">
              <a:lnSpc>
                <a:spcPct val="150000"/>
              </a:lnSpc>
            </a:pPr>
            <a:r>
              <a:rPr lang="zh-CN" altLang="zh-CN" sz="2800" dirty="0">
                <a:solidFill>
                  <a:schemeClr val="accent6">
                    <a:lumMod val="75000"/>
                  </a:schemeClr>
                </a:solidFill>
                <a:latin typeface="隶书" panose="02010509060101010101" pitchFamily="49" charset="-122"/>
                <a:ea typeface="隶书" panose="02010509060101010101" pitchFamily="49" charset="-122"/>
              </a:rPr>
              <a:t>题目</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分析</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与解决方案</a:t>
            </a:r>
          </a:p>
          <a:p>
            <a:pPr indent="457200">
              <a:lnSpc>
                <a:spcPct val="150000"/>
              </a:lnSpc>
            </a:pPr>
            <a:r>
              <a:rPr lang="zh-CN" altLang="en-US" sz="1800" dirty="0" smtClean="0"/>
              <a:t>本题</a:t>
            </a:r>
            <a:r>
              <a:rPr lang="zh-CN" altLang="en-US" sz="1800" dirty="0"/>
              <a:t>可以与</a:t>
            </a:r>
            <a:r>
              <a:rPr lang="en-US" altLang="zh-CN" sz="1800" dirty="0"/>
              <a:t>2013</a:t>
            </a:r>
            <a:r>
              <a:rPr lang="zh-CN" altLang="en-US" sz="1800" dirty="0"/>
              <a:t>年全国赛</a:t>
            </a:r>
            <a:r>
              <a:rPr lang="en-US" altLang="zh-CN" sz="1800" dirty="0"/>
              <a:t>E</a:t>
            </a:r>
            <a:r>
              <a:rPr lang="zh-CN" altLang="en-US" sz="1800" dirty="0"/>
              <a:t>题</a:t>
            </a:r>
            <a:r>
              <a:rPr lang="en-US" altLang="zh-CN" sz="1800" dirty="0"/>
              <a:t>《</a:t>
            </a:r>
            <a:r>
              <a:rPr lang="zh-CN" altLang="en-US" sz="1800" dirty="0"/>
              <a:t>简易频率特性测试仪</a:t>
            </a:r>
            <a:r>
              <a:rPr lang="en-US" altLang="zh-CN" sz="1800" dirty="0"/>
              <a:t>》</a:t>
            </a:r>
            <a:r>
              <a:rPr lang="zh-CN" altLang="en-US" sz="1800" dirty="0"/>
              <a:t>相互参照。</a:t>
            </a:r>
          </a:p>
          <a:p>
            <a:pPr indent="457200">
              <a:lnSpc>
                <a:spcPct val="150000"/>
              </a:lnSpc>
            </a:pPr>
            <a:r>
              <a:rPr lang="zh-CN" altLang="en-US" sz="1800" dirty="0"/>
              <a:t>频率特性测量可以有几种不同的方法。</a:t>
            </a:r>
            <a:r>
              <a:rPr lang="en-US" altLang="zh-CN" sz="1800" dirty="0"/>
              <a:t>2013</a:t>
            </a:r>
            <a:r>
              <a:rPr lang="zh-CN" altLang="en-US" sz="1800" dirty="0"/>
              <a:t>年全国赛</a:t>
            </a:r>
            <a:r>
              <a:rPr lang="en-US" altLang="zh-CN" sz="1800" dirty="0"/>
              <a:t>E</a:t>
            </a:r>
            <a:r>
              <a:rPr lang="zh-CN" altLang="en-US" sz="1800" dirty="0"/>
              <a:t>题</a:t>
            </a:r>
            <a:r>
              <a:rPr lang="en-US" altLang="zh-CN" sz="1800" dirty="0"/>
              <a:t>《</a:t>
            </a:r>
            <a:r>
              <a:rPr lang="zh-CN" altLang="en-US" sz="1800" dirty="0"/>
              <a:t>简易频率特性测试仪</a:t>
            </a:r>
            <a:r>
              <a:rPr lang="en-US" altLang="zh-CN" sz="1800" dirty="0"/>
              <a:t>》</a:t>
            </a:r>
            <a:r>
              <a:rPr lang="zh-CN" altLang="en-US" sz="1800" dirty="0"/>
              <a:t>指定的是用零中频正交解调原理，那个方法需要两路相互正交的信号源以及高速乘法器等部件。本题目中画出的框图是另一种测量方法，它只用一路信号源直接测量，</a:t>
            </a:r>
            <a:r>
              <a:rPr lang="zh-CN" altLang="en-US" sz="1800" dirty="0" smtClean="0"/>
              <a:t>其工作原理</a:t>
            </a:r>
            <a:r>
              <a:rPr lang="zh-CN" altLang="en-US" sz="1800" dirty="0"/>
              <a:t>如下</a:t>
            </a:r>
            <a:r>
              <a:rPr lang="zh-CN" altLang="en-US" sz="1800" dirty="0" smtClean="0"/>
              <a:t>：</a:t>
            </a:r>
            <a:endParaRPr lang="en-US" altLang="zh-CN" sz="1800" dirty="0" smtClean="0"/>
          </a:p>
          <a:p>
            <a:pPr indent="457200">
              <a:lnSpc>
                <a:spcPct val="150000"/>
              </a:lnSpc>
            </a:pPr>
            <a:r>
              <a:rPr lang="en-US" altLang="zh-CN" sz="1800" dirty="0"/>
              <a:t>1</a:t>
            </a:r>
            <a:r>
              <a:rPr lang="zh-CN" altLang="en-US" sz="1800" dirty="0"/>
              <a:t>、扫频信号发生器产生频率线性变化的测试信号输出</a:t>
            </a:r>
            <a:r>
              <a:rPr lang="zh-CN" altLang="en-US" sz="1800" dirty="0" smtClean="0"/>
              <a:t>。</a:t>
            </a:r>
            <a:endParaRPr lang="zh-CN" altLang="en-US" sz="1800" dirty="0"/>
          </a:p>
          <a:p>
            <a:pPr indent="457200">
              <a:lnSpc>
                <a:spcPct val="150000"/>
              </a:lnSpc>
            </a:pPr>
            <a:r>
              <a:rPr lang="en-US" altLang="zh-CN" sz="1800" dirty="0"/>
              <a:t>2</a:t>
            </a:r>
            <a:r>
              <a:rPr lang="zh-CN" altLang="en-US" sz="1800" dirty="0"/>
              <a:t>、用检波电路检测被测网络的输入电压和输出电压的峰值（或有效值、平均值），比较这两个电压可以得到被测网络的增益，结合扫频就得到其幅频特性。由于是两个信号的相对比较，所以此方法对于扫频信号源的输出幅度平坦度要求可以适当降低。如果扫频信号源有足够的幅度稳定度与平坦度，那么也可以直接由输出电压得到被测系统的幅频特性。</a:t>
            </a:r>
          </a:p>
          <a:p>
            <a:pPr indent="457200">
              <a:lnSpc>
                <a:spcPct val="150000"/>
              </a:lnSpc>
            </a:pPr>
            <a:r>
              <a:rPr lang="en-US" altLang="zh-CN" sz="1800" dirty="0"/>
              <a:t>3</a:t>
            </a:r>
            <a:r>
              <a:rPr lang="zh-CN" altLang="en-US" sz="1800" dirty="0"/>
              <a:t>、用鉴相器检测被测网络的输入信号和输出信号的相位差，结合扫频可以得到相频特性。</a:t>
            </a:r>
          </a:p>
          <a:p>
            <a:pPr indent="457200">
              <a:lnSpc>
                <a:spcPct val="150000"/>
              </a:lnSpc>
            </a:pPr>
            <a:r>
              <a:rPr lang="zh-CN" altLang="en-US" sz="1800" dirty="0"/>
              <a:t>这是一种非同步检测方法（零中频正交解调是一种同步检测方法），电路相对简单一些</a:t>
            </a:r>
            <a:r>
              <a:rPr lang="zh-CN" altLang="en-US" sz="1800" dirty="0" smtClean="0"/>
              <a:t>。</a:t>
            </a:r>
            <a:endParaRPr lang="en-US" altLang="zh-CN" sz="1400" dirty="0"/>
          </a:p>
        </p:txBody>
      </p:sp>
    </p:spTree>
    <p:extLst>
      <p:ext uri="{BB962C8B-B14F-4D97-AF65-F5344CB8AC3E}">
        <p14:creationId xmlns:p14="http://schemas.microsoft.com/office/powerpoint/2010/main" val="2061011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文本框 4"/>
          <p:cNvSpPr txBox="1"/>
          <p:nvPr/>
        </p:nvSpPr>
        <p:spPr>
          <a:xfrm>
            <a:off x="355235" y="453911"/>
            <a:ext cx="11400397" cy="5078313"/>
          </a:xfrm>
          <a:prstGeom prst="rect">
            <a:avLst/>
          </a:prstGeom>
          <a:noFill/>
        </p:spPr>
        <p:txBody>
          <a:bodyPr wrap="square" rtlCol="0">
            <a:spAutoFit/>
          </a:bodyPr>
          <a:lstStyle/>
          <a:p>
            <a:pPr>
              <a:lnSpc>
                <a:spcPct val="150000"/>
              </a:lnSpc>
            </a:pPr>
            <a:r>
              <a:rPr lang="zh-CN" altLang="en-US" sz="1800" dirty="0" smtClean="0"/>
              <a:t>主要模块：</a:t>
            </a:r>
            <a:endParaRPr lang="en-US" altLang="zh-CN" sz="1800" dirty="0" smtClean="0"/>
          </a:p>
          <a:p>
            <a:pPr marL="342900" indent="-342900">
              <a:lnSpc>
                <a:spcPct val="150000"/>
              </a:lnSpc>
              <a:buFont typeface="Arial" panose="020B0604020202020204" pitchFamily="34" charset="0"/>
              <a:buChar char="•"/>
            </a:pPr>
            <a:r>
              <a:rPr lang="zh-CN" altLang="en-US" sz="1800" dirty="0" smtClean="0"/>
              <a:t>扫频信号源</a:t>
            </a:r>
            <a:endParaRPr lang="en-US" altLang="zh-CN" sz="1800" dirty="0" smtClean="0"/>
          </a:p>
          <a:p>
            <a:pPr lvl="1">
              <a:lnSpc>
                <a:spcPct val="150000"/>
              </a:lnSpc>
            </a:pPr>
            <a:r>
              <a:rPr lang="zh-CN" altLang="en-US" sz="1800" dirty="0" smtClean="0"/>
              <a:t>可采用</a:t>
            </a:r>
            <a:r>
              <a:rPr lang="en-US" altLang="zh-CN" sz="1800" dirty="0" smtClean="0"/>
              <a:t>DDS</a:t>
            </a:r>
            <a:endParaRPr lang="en-US" altLang="zh-CN" sz="1800" dirty="0"/>
          </a:p>
          <a:p>
            <a:pPr marL="342900" indent="-342900">
              <a:lnSpc>
                <a:spcPct val="150000"/>
              </a:lnSpc>
              <a:buFont typeface="Arial" panose="020B0604020202020204" pitchFamily="34" charset="0"/>
              <a:buChar char="•"/>
            </a:pPr>
            <a:r>
              <a:rPr lang="zh-CN" altLang="en-US" sz="1800" dirty="0" smtClean="0"/>
              <a:t>信号调理与采样，包含三个部分：放大器</a:t>
            </a:r>
            <a:r>
              <a:rPr lang="zh-CN" altLang="en-US" sz="1800" dirty="0"/>
              <a:t>、检波器和鉴相</a:t>
            </a:r>
            <a:r>
              <a:rPr lang="zh-CN" altLang="en-US" sz="1800" dirty="0" smtClean="0"/>
              <a:t>器</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放大器</a:t>
            </a:r>
            <a:endParaRPr lang="en-US" altLang="zh-CN" sz="1800" dirty="0" smtClean="0"/>
          </a:p>
          <a:p>
            <a:pPr lvl="2">
              <a:lnSpc>
                <a:spcPct val="150000"/>
              </a:lnSpc>
            </a:pPr>
            <a:r>
              <a:rPr lang="zh-CN" altLang="en-US" sz="1800" dirty="0" smtClean="0"/>
              <a:t>采用</a:t>
            </a:r>
            <a:r>
              <a:rPr lang="zh-CN" altLang="en-US" sz="1800" dirty="0"/>
              <a:t>高速运放构成，通过切换电阻的方式改变增益（量程分档）</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检波器</a:t>
            </a:r>
            <a:endParaRPr lang="en-US" altLang="zh-CN" sz="1800" dirty="0" smtClean="0"/>
          </a:p>
          <a:p>
            <a:pPr lvl="2">
              <a:lnSpc>
                <a:spcPct val="150000"/>
              </a:lnSpc>
            </a:pPr>
            <a:r>
              <a:rPr lang="zh-CN" altLang="en-US" sz="1800" dirty="0" smtClean="0"/>
              <a:t>精密检波电路（例如</a:t>
            </a:r>
            <a:r>
              <a:rPr lang="en-US" altLang="zh-CN" sz="1800" dirty="0" smtClean="0"/>
              <a:t>AD637</a:t>
            </a:r>
            <a:r>
              <a:rPr lang="zh-CN" altLang="en-US" sz="1800" dirty="0" smtClean="0"/>
              <a:t>）</a:t>
            </a:r>
            <a:endParaRPr lang="en-US" altLang="zh-CN" sz="1800" dirty="0" smtClean="0"/>
          </a:p>
          <a:p>
            <a:pPr lvl="2">
              <a:lnSpc>
                <a:spcPct val="150000"/>
              </a:lnSpc>
            </a:pPr>
            <a:r>
              <a:rPr lang="zh-CN" altLang="en-US" sz="1800" dirty="0" smtClean="0"/>
              <a:t>乘法器（例如</a:t>
            </a:r>
            <a:r>
              <a:rPr lang="en-US" altLang="zh-CN" sz="1800" dirty="0" smtClean="0"/>
              <a:t>AD835</a:t>
            </a:r>
            <a:r>
              <a:rPr lang="zh-CN" altLang="en-US" sz="1800" dirty="0" smtClean="0"/>
              <a:t>），自乘</a:t>
            </a:r>
            <a:r>
              <a:rPr lang="en-US" altLang="zh-CN" sz="1800" dirty="0" smtClean="0"/>
              <a:t>+</a:t>
            </a:r>
            <a:r>
              <a:rPr lang="zh-CN" altLang="en-US" sz="1800" dirty="0" smtClean="0"/>
              <a:t>低通滤波，进入单片机后开方</a:t>
            </a:r>
            <a:endParaRPr lang="en-US" altLang="zh-CN" sz="1800" dirty="0" smtClean="0"/>
          </a:p>
          <a:p>
            <a:pPr marL="800100" lvl="1" indent="-342900">
              <a:lnSpc>
                <a:spcPct val="150000"/>
              </a:lnSpc>
              <a:buFont typeface="Arial" panose="020B0604020202020204" pitchFamily="34" charset="0"/>
              <a:buChar char="•"/>
            </a:pPr>
            <a:r>
              <a:rPr lang="zh-CN" altLang="en-US" sz="1800" dirty="0"/>
              <a:t>鉴相</a:t>
            </a:r>
            <a:r>
              <a:rPr lang="zh-CN" altLang="en-US" sz="1800" dirty="0" smtClean="0"/>
              <a:t>器</a:t>
            </a:r>
            <a:endParaRPr lang="en-US" altLang="zh-CN" sz="1800" dirty="0" smtClean="0"/>
          </a:p>
          <a:p>
            <a:pPr lvl="2">
              <a:lnSpc>
                <a:spcPct val="150000"/>
              </a:lnSpc>
            </a:pPr>
            <a:r>
              <a:rPr lang="zh-CN" altLang="en-US" sz="1800" dirty="0" smtClean="0"/>
              <a:t>直接利用鉴相器芯片</a:t>
            </a:r>
            <a:endParaRPr lang="en-US" altLang="zh-CN" sz="1800" dirty="0" smtClean="0"/>
          </a:p>
          <a:p>
            <a:pPr lvl="2">
              <a:lnSpc>
                <a:spcPct val="150000"/>
              </a:lnSpc>
            </a:pPr>
            <a:r>
              <a:rPr lang="zh-CN" altLang="en-US" sz="1800" dirty="0" smtClean="0"/>
              <a:t>利用单片机鉴相（比较两个信号之间的时间差）</a:t>
            </a:r>
            <a:endParaRPr lang="zh-CN" altLang="en-US" sz="1800" dirty="0"/>
          </a:p>
        </p:txBody>
      </p:sp>
    </p:spTree>
    <p:extLst>
      <p:ext uri="{BB962C8B-B14F-4D97-AF65-F5344CB8AC3E}">
        <p14:creationId xmlns:p14="http://schemas.microsoft.com/office/powerpoint/2010/main" val="5296267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29</a:t>
            </a:fld>
            <a:endParaRPr lang="en-US" altLang="zh-CN"/>
          </a:p>
        </p:txBody>
      </p:sp>
      <p:sp>
        <p:nvSpPr>
          <p:cNvPr id="2" name="文本框 1"/>
          <p:cNvSpPr txBox="1"/>
          <p:nvPr/>
        </p:nvSpPr>
        <p:spPr>
          <a:xfrm>
            <a:off x="500443" y="501501"/>
            <a:ext cx="11321142" cy="4501232"/>
          </a:xfrm>
          <a:prstGeom prst="rect">
            <a:avLst/>
          </a:prstGeom>
          <a:noFill/>
        </p:spPr>
        <p:txBody>
          <a:bodyPr wrap="square" rtlCol="0">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电参数测量仪器类题目</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25000"/>
              </a:lnSpc>
              <a:spcAft>
                <a:spcPts val="0"/>
              </a:spcAft>
            </a:pPr>
            <a:r>
              <a:rPr lang="zh-CN" altLang="en-US" sz="1800" kern="100" dirty="0" smtClean="0">
                <a:latin typeface="Arial" panose="020B0604020202020204" pitchFamily="34" charset="0"/>
              </a:rPr>
              <a:t>电</a:t>
            </a:r>
            <a:r>
              <a:rPr lang="zh-CN" altLang="en-US" sz="1800" kern="100" dirty="0">
                <a:latin typeface="Arial" panose="020B0604020202020204" pitchFamily="34" charset="0"/>
              </a:rPr>
              <a:t>参数测量仪器</a:t>
            </a:r>
            <a:endParaRPr lang="en-US" altLang="zh-CN" sz="1800" kern="100" dirty="0">
              <a:latin typeface="Arial" panose="020B0604020202020204" pitchFamily="34" charset="0"/>
            </a:endParaRPr>
          </a:p>
          <a:p>
            <a:pPr indent="432000">
              <a:lnSpc>
                <a:spcPct val="150000"/>
              </a:lnSpc>
            </a:pPr>
            <a:r>
              <a:rPr lang="zh-CN" altLang="en-US" sz="1800" dirty="0" smtClean="0"/>
              <a:t>这类仪器是实验室里最常见的，从手持式万用表到各种电桥、晶体管特性测试仪</a:t>
            </a:r>
            <a:r>
              <a:rPr lang="zh-CN" altLang="en-US" sz="1800" dirty="0"/>
              <a:t>等等，</a:t>
            </a:r>
            <a:r>
              <a:rPr lang="zh-CN" altLang="en-US" sz="1800" dirty="0" smtClean="0"/>
              <a:t>种类繁多。测试信号的频率从直流、低频交流直到高频、以及各种脉冲波形都有。基本结构大致是：</a:t>
            </a:r>
            <a:endParaRPr lang="en-US" altLang="zh-CN" sz="1800" dirty="0" smtClean="0"/>
          </a:p>
          <a:p>
            <a:pPr indent="432000">
              <a:lnSpc>
                <a:spcPct val="150000"/>
              </a:lnSpc>
            </a:pPr>
            <a:endParaRPr lang="en-US" altLang="zh-CN" sz="1800" dirty="0"/>
          </a:p>
          <a:p>
            <a:pPr indent="432000">
              <a:lnSpc>
                <a:spcPct val="150000"/>
              </a:lnSpc>
            </a:pPr>
            <a:endParaRPr lang="en-US" altLang="zh-CN" sz="1800" dirty="0" smtClean="0"/>
          </a:p>
          <a:p>
            <a:pPr indent="432000">
              <a:lnSpc>
                <a:spcPct val="150000"/>
              </a:lnSpc>
            </a:pPr>
            <a:endParaRPr lang="en-US" altLang="zh-CN" sz="1800" dirty="0"/>
          </a:p>
          <a:p>
            <a:pPr indent="432000">
              <a:lnSpc>
                <a:spcPct val="150000"/>
              </a:lnSpc>
            </a:pPr>
            <a:r>
              <a:rPr lang="zh-CN" altLang="en-US" sz="1800" dirty="0" smtClean="0"/>
              <a:t>它与前一类频率特性测试的最大区别是：频率特性测试仪关心测试信号经过待测网络后的幅度与相位变化，而电参数测试需要从信号变化中获得待测元件的电参数，所以其测试信号可以有各种不同的波形，数据采集部分可能直接采集电压电流，也可能通过其他物理量间接采集电压电流</a:t>
            </a:r>
            <a:endParaRPr lang="zh-CN" altLang="zh-CN" sz="1800" dirty="0"/>
          </a:p>
        </p:txBody>
      </p:sp>
      <p:sp>
        <p:nvSpPr>
          <p:cNvPr id="4" name="矩形 3"/>
          <p:cNvSpPr/>
          <p:nvPr/>
        </p:nvSpPr>
        <p:spPr>
          <a:xfrm>
            <a:off x="2194560" y="2743200"/>
            <a:ext cx="1704441" cy="848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测试信号</a:t>
            </a:r>
            <a:endParaRPr lang="zh-CN" altLang="en-US" dirty="0"/>
          </a:p>
        </p:txBody>
      </p:sp>
      <p:sp>
        <p:nvSpPr>
          <p:cNvPr id="7" name="矩形 6"/>
          <p:cNvSpPr/>
          <p:nvPr/>
        </p:nvSpPr>
        <p:spPr>
          <a:xfrm>
            <a:off x="6578802" y="2735885"/>
            <a:ext cx="2930958" cy="848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数据采集与分析显示</a:t>
            </a:r>
            <a:endParaRPr lang="zh-CN" altLang="en-US" dirty="0"/>
          </a:p>
        </p:txBody>
      </p:sp>
      <p:sp>
        <p:nvSpPr>
          <p:cNvPr id="8" name="矩形 7"/>
          <p:cNvSpPr/>
          <p:nvPr/>
        </p:nvSpPr>
        <p:spPr>
          <a:xfrm>
            <a:off x="4386681" y="2743200"/>
            <a:ext cx="1704441" cy="848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待测元件</a:t>
            </a:r>
            <a:endParaRPr lang="zh-CN" altLang="en-US" dirty="0"/>
          </a:p>
        </p:txBody>
      </p:sp>
      <p:cxnSp>
        <p:nvCxnSpPr>
          <p:cNvPr id="9" name="直接箭头连接符 8"/>
          <p:cNvCxnSpPr>
            <a:stCxn id="4" idx="3"/>
            <a:endCxn id="8" idx="1"/>
          </p:cNvCxnSpPr>
          <p:nvPr/>
        </p:nvCxnSpPr>
        <p:spPr>
          <a:xfrm>
            <a:off x="3899001" y="3167482"/>
            <a:ext cx="4876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8" idx="3"/>
            <a:endCxn id="7" idx="1"/>
          </p:cNvCxnSpPr>
          <p:nvPr/>
        </p:nvCxnSpPr>
        <p:spPr>
          <a:xfrm flipV="1">
            <a:off x="6091122" y="3160167"/>
            <a:ext cx="487680" cy="7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475657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6" name="文本框 5"/>
          <p:cNvSpPr txBox="1"/>
          <p:nvPr/>
        </p:nvSpPr>
        <p:spPr>
          <a:xfrm>
            <a:off x="449942" y="376134"/>
            <a:ext cx="11190514" cy="2554545"/>
          </a:xfrm>
          <a:prstGeom prst="rect">
            <a:avLst/>
          </a:prstGeom>
          <a:noFill/>
        </p:spPr>
        <p:txBody>
          <a:bodyPr wrap="square" rtlCol="0">
            <a:spAutoFit/>
          </a:bodyPr>
          <a:lstStyle/>
          <a:p>
            <a:pPr algn="ctr">
              <a:lnSpc>
                <a:spcPct val="150000"/>
              </a:lnSpc>
              <a:spcAft>
                <a:spcPts val="1200"/>
              </a:spcAft>
            </a:pPr>
            <a:r>
              <a:rPr lang="en-US" altLang="zh-CN" sz="2400" dirty="0" smtClean="0">
                <a:solidFill>
                  <a:schemeClr val="accent6">
                    <a:lumMod val="75000"/>
                  </a:schemeClr>
                </a:solidFill>
              </a:rPr>
              <a:t>2023</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年</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全国赛</a:t>
            </a:r>
            <a:r>
              <a:rPr lang="en-US" altLang="zh-CN" sz="2400" dirty="0" smtClean="0">
                <a:solidFill>
                  <a:schemeClr val="accent6">
                    <a:lumMod val="75000"/>
                  </a:schemeClr>
                </a:solidFill>
              </a:rPr>
              <a:t>C</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题</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电容电感测量装置</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1800" dirty="0" smtClean="0">
                <a:solidFill>
                  <a:schemeClr val="accent6">
                    <a:lumMod val="75000"/>
                  </a:schemeClr>
                </a:solidFill>
              </a:rPr>
              <a:t> </a:t>
            </a:r>
            <a:endParaRPr lang="zh-CN" altLang="zh-CN" sz="2800" dirty="0">
              <a:solidFill>
                <a:schemeClr val="accent6">
                  <a:lumMod val="75000"/>
                </a:schemeClr>
              </a:solidFill>
              <a:latin typeface="隶书" panose="02010509060101010101" pitchFamily="49" charset="-122"/>
              <a:ea typeface="隶书" panose="02010509060101010101" pitchFamily="49" charset="-122"/>
            </a:endParaRPr>
          </a:p>
          <a:p>
            <a:pPr>
              <a:lnSpc>
                <a:spcPct val="150000"/>
              </a:lnSpc>
            </a:pPr>
            <a:r>
              <a:rPr lang="zh-CN" altLang="zh-CN" sz="1800" dirty="0" smtClean="0">
                <a:latin typeface="黑体" panose="02010609060101010101" pitchFamily="49" charset="-122"/>
                <a:ea typeface="黑体" panose="02010609060101010101" pitchFamily="49" charset="-122"/>
              </a:rPr>
              <a:t>一</a:t>
            </a:r>
            <a:r>
              <a:rPr lang="zh-CN" altLang="zh-CN" sz="1800" dirty="0">
                <a:latin typeface="黑体" panose="02010609060101010101" pitchFamily="49" charset="-122"/>
                <a:ea typeface="黑体" panose="02010609060101010101" pitchFamily="49" charset="-122"/>
              </a:rPr>
              <a:t>、任务</a:t>
            </a:r>
          </a:p>
          <a:p>
            <a:pPr lvl="1">
              <a:lnSpc>
                <a:spcPct val="150000"/>
              </a:lnSpc>
            </a:pPr>
            <a:r>
              <a:rPr lang="zh-CN" altLang="en-US" sz="1800" dirty="0"/>
              <a:t>基于</a:t>
            </a:r>
            <a:r>
              <a:rPr lang="en-US" altLang="zh-CN" sz="1800" dirty="0"/>
              <a:t>TI </a:t>
            </a:r>
            <a:r>
              <a:rPr lang="zh-CN" altLang="en-US" sz="1800" dirty="0"/>
              <a:t>公司的</a:t>
            </a:r>
            <a:r>
              <a:rPr lang="en-US" altLang="zh-CN" sz="1800" dirty="0"/>
              <a:t>MCU</a:t>
            </a:r>
            <a:r>
              <a:rPr lang="zh-CN" altLang="en-US" sz="1800" dirty="0"/>
              <a:t>，设计并制作电感及其品质因数</a:t>
            </a:r>
            <a:r>
              <a:rPr lang="en-US" altLang="zh-CN" sz="1800" dirty="0"/>
              <a:t>Q</a:t>
            </a:r>
            <a:r>
              <a:rPr lang="zh-CN" altLang="en-US" sz="1800" dirty="0"/>
              <a:t>、电容及其损耗角正切</a:t>
            </a:r>
            <a:r>
              <a:rPr lang="en-US" altLang="zh-CN" sz="1800" dirty="0"/>
              <a:t>D </a:t>
            </a:r>
            <a:r>
              <a:rPr lang="zh-CN" altLang="en-US" sz="1800" dirty="0"/>
              <a:t>的测量装置。被测元件接入，一键启动后，在规定时间内自动完成测量。测量装置要提供专用于监测测试频率的信号输出接口，用于实时监测装置的测试频率，如图所</a:t>
            </a:r>
            <a:r>
              <a:rPr lang="zh-CN" altLang="en-US" sz="1800" dirty="0" smtClean="0"/>
              <a:t>示</a:t>
            </a:r>
            <a:endParaRPr lang="zh-CN" altLang="en-US" sz="1600" dirty="0"/>
          </a:p>
        </p:txBody>
      </p:sp>
      <p:pic>
        <p:nvPicPr>
          <p:cNvPr id="7" name="图片 6"/>
          <p:cNvPicPr>
            <a:picLocks noChangeAspect="1"/>
          </p:cNvPicPr>
          <p:nvPr/>
        </p:nvPicPr>
        <p:blipFill>
          <a:blip r:embed="rId2"/>
          <a:stretch>
            <a:fillRect/>
          </a:stretch>
        </p:blipFill>
        <p:spPr>
          <a:xfrm>
            <a:off x="3248304" y="3052798"/>
            <a:ext cx="4754526" cy="1740522"/>
          </a:xfrm>
          <a:prstGeom prst="rect">
            <a:avLst/>
          </a:prstGeom>
        </p:spPr>
      </p:pic>
    </p:spTree>
    <p:extLst>
      <p:ext uri="{BB962C8B-B14F-4D97-AF65-F5344CB8AC3E}">
        <p14:creationId xmlns:p14="http://schemas.microsoft.com/office/powerpoint/2010/main" val="1272111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5" name="文本框 4"/>
          <p:cNvSpPr txBox="1"/>
          <p:nvPr/>
        </p:nvSpPr>
        <p:spPr>
          <a:xfrm>
            <a:off x="373075" y="446227"/>
            <a:ext cx="11448510" cy="5858720"/>
          </a:xfrm>
          <a:prstGeom prst="rect">
            <a:avLst/>
          </a:prstGeom>
          <a:noFill/>
        </p:spPr>
        <p:txBody>
          <a:bodyPr wrap="square" rtlCol="0">
            <a:spAutoFit/>
          </a:bodyPr>
          <a:lstStyle/>
          <a:p>
            <a:pPr>
              <a:lnSpc>
                <a:spcPct val="150000"/>
              </a:lnSpc>
            </a:pPr>
            <a:r>
              <a:rPr lang="zh-CN" altLang="en-US" sz="1800" dirty="0">
                <a:latin typeface="黑体" panose="02010609060101010101" pitchFamily="49" charset="-122"/>
                <a:ea typeface="黑体" panose="02010609060101010101" pitchFamily="49" charset="-122"/>
              </a:rPr>
              <a:t>二、要求</a:t>
            </a:r>
          </a:p>
          <a:p>
            <a:pPr>
              <a:lnSpc>
                <a:spcPct val="150000"/>
              </a:lnSpc>
            </a:pPr>
            <a:r>
              <a:rPr lang="en-US" altLang="zh-CN" sz="1800" dirty="0"/>
              <a:t>1. </a:t>
            </a:r>
            <a:r>
              <a:rPr lang="zh-CN" altLang="en-US" sz="1800" dirty="0"/>
              <a:t>基本要求</a:t>
            </a:r>
          </a:p>
          <a:p>
            <a:pPr lvl="1">
              <a:lnSpc>
                <a:spcPct val="150000"/>
              </a:lnSpc>
            </a:pPr>
            <a:r>
              <a:rPr lang="zh-CN" altLang="en-US" sz="1800" dirty="0"/>
              <a:t>完成电容量及其损耗角正切</a:t>
            </a:r>
            <a:r>
              <a:rPr lang="en-US" altLang="zh-CN" sz="1800" dirty="0"/>
              <a:t>D </a:t>
            </a:r>
            <a:r>
              <a:rPr lang="zh-CN" altLang="en-US" sz="1800" dirty="0"/>
              <a:t>的测量。</a:t>
            </a:r>
          </a:p>
          <a:p>
            <a:pPr lvl="1">
              <a:lnSpc>
                <a:spcPct val="150000"/>
              </a:lnSpc>
            </a:pPr>
            <a:r>
              <a:rPr lang="zh-CN" altLang="en-US" sz="1800" dirty="0"/>
              <a:t>（</a:t>
            </a:r>
            <a:r>
              <a:rPr lang="en-US" altLang="zh-CN" sz="1800" dirty="0"/>
              <a:t>1</a:t>
            </a:r>
            <a:r>
              <a:rPr lang="zh-CN" altLang="en-US" sz="1800" dirty="0"/>
              <a:t>）电容量测量范围：</a:t>
            </a:r>
            <a:r>
              <a:rPr lang="en-US" altLang="zh-CN" sz="1800" dirty="0"/>
              <a:t>1nF</a:t>
            </a:r>
            <a:r>
              <a:rPr lang="zh-CN" altLang="en-US" sz="1800" dirty="0"/>
              <a:t>～</a:t>
            </a:r>
            <a:r>
              <a:rPr lang="en-US" altLang="zh-CN" sz="1800" dirty="0"/>
              <a:t>100nF</a:t>
            </a:r>
            <a:r>
              <a:rPr lang="zh-CN" altLang="en-US" sz="1800" dirty="0"/>
              <a:t>，测量相对误差的绝对值不大于</a:t>
            </a:r>
            <a:r>
              <a:rPr lang="en-US" altLang="zh-CN" sz="1800" dirty="0"/>
              <a:t>5%</a:t>
            </a:r>
            <a:r>
              <a:rPr lang="zh-CN" altLang="en-US" sz="1800" dirty="0"/>
              <a:t>。</a:t>
            </a:r>
          </a:p>
          <a:p>
            <a:pPr lvl="1">
              <a:lnSpc>
                <a:spcPct val="150000"/>
              </a:lnSpc>
            </a:pPr>
            <a:r>
              <a:rPr lang="zh-CN" altLang="en-US" sz="1800" dirty="0"/>
              <a:t>（</a:t>
            </a:r>
            <a:r>
              <a:rPr lang="en-US" altLang="zh-CN" sz="1800" dirty="0"/>
              <a:t>2</a:t>
            </a:r>
            <a:r>
              <a:rPr lang="zh-CN" altLang="en-US" sz="1800" dirty="0"/>
              <a:t>）电容</a:t>
            </a:r>
            <a:r>
              <a:rPr lang="en-US" altLang="zh-CN" sz="1800" dirty="0"/>
              <a:t>D </a:t>
            </a:r>
            <a:r>
              <a:rPr lang="zh-CN" altLang="en-US" sz="1800" dirty="0"/>
              <a:t>值测量范围：</a:t>
            </a:r>
            <a:r>
              <a:rPr lang="en-US" altLang="zh-CN" sz="1800" dirty="0"/>
              <a:t>0.005</a:t>
            </a:r>
            <a:r>
              <a:rPr lang="zh-CN" altLang="en-US" sz="1800" dirty="0"/>
              <a:t>～</a:t>
            </a:r>
            <a:r>
              <a:rPr lang="en-US" altLang="zh-CN" sz="1800" dirty="0"/>
              <a:t>1</a:t>
            </a:r>
            <a:r>
              <a:rPr lang="zh-CN" altLang="en-US" sz="1800" dirty="0"/>
              <a:t>，测量相对误差的绝对值不大于</a:t>
            </a:r>
            <a:r>
              <a:rPr lang="en-US" altLang="zh-CN" sz="1800" dirty="0"/>
              <a:t>5%</a:t>
            </a:r>
            <a:r>
              <a:rPr lang="zh-CN" altLang="en-US" sz="1800" dirty="0"/>
              <a:t>。</a:t>
            </a:r>
          </a:p>
          <a:p>
            <a:pPr lvl="1">
              <a:lnSpc>
                <a:spcPct val="150000"/>
              </a:lnSpc>
            </a:pPr>
            <a:r>
              <a:rPr lang="zh-CN" altLang="en-US" sz="1800" dirty="0"/>
              <a:t>（</a:t>
            </a:r>
            <a:r>
              <a:rPr lang="en-US" altLang="zh-CN" sz="1800" dirty="0"/>
              <a:t>3</a:t>
            </a:r>
            <a:r>
              <a:rPr lang="zh-CN" altLang="en-US" sz="1800" dirty="0"/>
              <a:t>）在</a:t>
            </a:r>
            <a:r>
              <a:rPr lang="en-US" altLang="zh-CN" sz="1800" dirty="0"/>
              <a:t>1kHz</a:t>
            </a:r>
            <a:r>
              <a:rPr lang="zh-CN" altLang="en-US" sz="1800" dirty="0"/>
              <a:t>～</a:t>
            </a:r>
            <a:r>
              <a:rPr lang="en-US" altLang="zh-CN" sz="1800" dirty="0"/>
              <a:t>100kHz </a:t>
            </a:r>
            <a:r>
              <a:rPr lang="zh-CN" altLang="en-US" sz="1800" dirty="0"/>
              <a:t>范围内，自定某一固定测量频率。</a:t>
            </a:r>
          </a:p>
          <a:p>
            <a:pPr lvl="1">
              <a:lnSpc>
                <a:spcPct val="150000"/>
              </a:lnSpc>
            </a:pPr>
            <a:r>
              <a:rPr lang="zh-CN" altLang="en-US" sz="1800" dirty="0"/>
              <a:t>（</a:t>
            </a:r>
            <a:r>
              <a:rPr lang="en-US" altLang="zh-CN" sz="1800" dirty="0"/>
              <a:t>4</a:t>
            </a:r>
            <a:r>
              <a:rPr lang="zh-CN" altLang="en-US" sz="1800" dirty="0"/>
              <a:t>）测量时间不大于</a:t>
            </a:r>
            <a:r>
              <a:rPr lang="en-US" altLang="zh-CN" sz="1800" dirty="0"/>
              <a:t>1 </a:t>
            </a:r>
            <a:r>
              <a:rPr lang="zh-CN" altLang="en-US" sz="1800" dirty="0"/>
              <a:t>秒。</a:t>
            </a:r>
          </a:p>
          <a:p>
            <a:pPr>
              <a:lnSpc>
                <a:spcPct val="150000"/>
              </a:lnSpc>
            </a:pPr>
            <a:r>
              <a:rPr lang="en-US" altLang="zh-CN" sz="1800" dirty="0"/>
              <a:t>2. </a:t>
            </a:r>
            <a:r>
              <a:rPr lang="zh-CN" altLang="en-US" sz="1800" dirty="0"/>
              <a:t>发挥部分</a:t>
            </a:r>
          </a:p>
          <a:p>
            <a:pPr lvl="1">
              <a:lnSpc>
                <a:spcPct val="150000"/>
              </a:lnSpc>
            </a:pPr>
            <a:r>
              <a:rPr lang="zh-CN" altLang="en-US" sz="1800" dirty="0"/>
              <a:t>完成电感量及其品质因数</a:t>
            </a:r>
            <a:r>
              <a:rPr lang="en-US" altLang="zh-CN" sz="1800" dirty="0"/>
              <a:t>Q </a:t>
            </a:r>
            <a:r>
              <a:rPr lang="zh-CN" altLang="en-US" sz="1800" dirty="0"/>
              <a:t>的测量。</a:t>
            </a:r>
          </a:p>
          <a:p>
            <a:pPr lvl="1">
              <a:lnSpc>
                <a:spcPct val="150000"/>
              </a:lnSpc>
            </a:pPr>
            <a:r>
              <a:rPr lang="zh-CN" altLang="en-US" sz="1800" dirty="0"/>
              <a:t>（</a:t>
            </a:r>
            <a:r>
              <a:rPr lang="en-US" altLang="zh-CN" sz="1800" dirty="0"/>
              <a:t>1</a:t>
            </a:r>
            <a:r>
              <a:rPr lang="zh-CN" altLang="en-US" sz="1800" dirty="0"/>
              <a:t>）电感量测量范围：</a:t>
            </a:r>
            <a:r>
              <a:rPr lang="en-US" altLang="zh-CN" sz="1800" dirty="0"/>
              <a:t>10μH</a:t>
            </a:r>
            <a:r>
              <a:rPr lang="zh-CN" altLang="en-US" sz="1800" dirty="0"/>
              <a:t>～</a:t>
            </a:r>
            <a:r>
              <a:rPr lang="en-US" altLang="zh-CN" sz="1800" dirty="0"/>
              <a:t>100μH</a:t>
            </a:r>
            <a:r>
              <a:rPr lang="zh-CN" altLang="en-US" sz="1800" dirty="0"/>
              <a:t>，测量相对误差的绝对值不大于</a:t>
            </a:r>
            <a:r>
              <a:rPr lang="en-US" altLang="zh-CN" sz="1800" dirty="0"/>
              <a:t>5%</a:t>
            </a:r>
            <a:r>
              <a:rPr lang="zh-CN" altLang="en-US" sz="1800" dirty="0"/>
              <a:t>。</a:t>
            </a:r>
          </a:p>
          <a:p>
            <a:pPr lvl="1">
              <a:lnSpc>
                <a:spcPct val="150000"/>
              </a:lnSpc>
            </a:pPr>
            <a:r>
              <a:rPr lang="zh-CN" altLang="en-US" sz="1800" dirty="0"/>
              <a:t>（</a:t>
            </a:r>
            <a:r>
              <a:rPr lang="en-US" altLang="zh-CN" sz="1800" dirty="0"/>
              <a:t>2</a:t>
            </a:r>
            <a:r>
              <a:rPr lang="zh-CN" altLang="en-US" sz="1800" dirty="0"/>
              <a:t>）电感</a:t>
            </a:r>
            <a:r>
              <a:rPr lang="en-US" altLang="zh-CN" sz="1800" dirty="0"/>
              <a:t>Q </a:t>
            </a:r>
            <a:r>
              <a:rPr lang="zh-CN" altLang="en-US" sz="1800" dirty="0"/>
              <a:t>值测量范围：</a:t>
            </a:r>
            <a:r>
              <a:rPr lang="en-US" altLang="zh-CN" sz="1800" dirty="0"/>
              <a:t>1</a:t>
            </a:r>
            <a:r>
              <a:rPr lang="zh-CN" altLang="en-US" sz="1800" dirty="0"/>
              <a:t>～</a:t>
            </a:r>
            <a:r>
              <a:rPr lang="en-US" altLang="zh-CN" sz="1800" dirty="0"/>
              <a:t>200</a:t>
            </a:r>
            <a:r>
              <a:rPr lang="zh-CN" altLang="en-US" sz="1800" dirty="0"/>
              <a:t>，测量相对误差的绝对值不大于</a:t>
            </a:r>
            <a:r>
              <a:rPr lang="en-US" altLang="zh-CN" sz="1800" dirty="0"/>
              <a:t>5%</a:t>
            </a:r>
            <a:r>
              <a:rPr lang="zh-CN" altLang="en-US" sz="1800" dirty="0"/>
              <a:t>。</a:t>
            </a:r>
          </a:p>
          <a:p>
            <a:pPr lvl="1">
              <a:lnSpc>
                <a:spcPct val="150000"/>
              </a:lnSpc>
            </a:pPr>
            <a:r>
              <a:rPr lang="zh-CN" altLang="en-US" sz="1800" dirty="0"/>
              <a:t>（</a:t>
            </a:r>
            <a:r>
              <a:rPr lang="en-US" altLang="zh-CN" sz="1800" dirty="0"/>
              <a:t>3</a:t>
            </a:r>
            <a:r>
              <a:rPr lang="zh-CN" altLang="en-US" sz="1800" dirty="0"/>
              <a:t>）装置可分别在不高于</a:t>
            </a:r>
            <a:r>
              <a:rPr lang="en-US" altLang="zh-CN" sz="1800" dirty="0"/>
              <a:t>2MHz </a:t>
            </a:r>
            <a:r>
              <a:rPr lang="zh-CN" altLang="en-US" sz="1800" dirty="0"/>
              <a:t>和不低于</a:t>
            </a:r>
            <a:r>
              <a:rPr lang="en-US" altLang="zh-CN" sz="1800" dirty="0"/>
              <a:t>20MHz </a:t>
            </a:r>
            <a:r>
              <a:rPr lang="zh-CN" altLang="en-US" sz="1800" dirty="0"/>
              <a:t>的两个频率范围内测量，测量频率自定。</a:t>
            </a:r>
          </a:p>
          <a:p>
            <a:pPr lvl="1">
              <a:lnSpc>
                <a:spcPct val="150000"/>
              </a:lnSpc>
            </a:pPr>
            <a:r>
              <a:rPr lang="zh-CN" altLang="en-US" sz="1800" dirty="0"/>
              <a:t>（</a:t>
            </a:r>
            <a:r>
              <a:rPr lang="en-US" altLang="zh-CN" sz="1800" dirty="0"/>
              <a:t>4</a:t>
            </a:r>
            <a:r>
              <a:rPr lang="zh-CN" altLang="en-US" sz="1800" dirty="0"/>
              <a:t>）测量时间不大于</a:t>
            </a:r>
            <a:r>
              <a:rPr lang="en-US" altLang="zh-CN" sz="1800" dirty="0"/>
              <a:t>5 </a:t>
            </a:r>
            <a:r>
              <a:rPr lang="zh-CN" altLang="en-US" sz="1800" dirty="0"/>
              <a:t>秒。</a:t>
            </a:r>
          </a:p>
          <a:p>
            <a:pPr lvl="1">
              <a:lnSpc>
                <a:spcPct val="150000"/>
              </a:lnSpc>
            </a:pPr>
            <a:r>
              <a:rPr lang="zh-CN" altLang="en-US" sz="1800" dirty="0"/>
              <a:t>（</a:t>
            </a:r>
            <a:r>
              <a:rPr lang="en-US" altLang="zh-CN" sz="1800" dirty="0"/>
              <a:t>5</a:t>
            </a:r>
            <a:r>
              <a:rPr lang="zh-CN" altLang="en-US" sz="1800" dirty="0"/>
              <a:t>）其他。</a:t>
            </a:r>
            <a:endParaRPr lang="zh-CN" altLang="en-US" sz="1800" dirty="0"/>
          </a:p>
        </p:txBody>
      </p:sp>
    </p:spTree>
    <p:extLst>
      <p:ext uri="{BB962C8B-B14F-4D97-AF65-F5344CB8AC3E}">
        <p14:creationId xmlns:p14="http://schemas.microsoft.com/office/powerpoint/2010/main" val="3399793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sp>
        <p:nvSpPr>
          <p:cNvPr id="5" name="矩形 4"/>
          <p:cNvSpPr/>
          <p:nvPr/>
        </p:nvSpPr>
        <p:spPr>
          <a:xfrm>
            <a:off x="348345" y="463574"/>
            <a:ext cx="11255828" cy="1985159"/>
          </a:xfrm>
          <a:prstGeom prst="rect">
            <a:avLst/>
          </a:prstGeom>
        </p:spPr>
        <p:txBody>
          <a:bodyPr wrap="square">
            <a:spAutoFit/>
          </a:bodyPr>
          <a:lstStyle/>
          <a:p>
            <a:pPr algn="ctr">
              <a:lnSpc>
                <a:spcPct val="150000"/>
              </a:lnSpc>
            </a:pPr>
            <a:r>
              <a:rPr lang="zh-CN" altLang="zh-CN" sz="2800" dirty="0">
                <a:solidFill>
                  <a:schemeClr val="accent6">
                    <a:lumMod val="75000"/>
                  </a:schemeClr>
                </a:solidFill>
                <a:latin typeface="隶书" panose="02010509060101010101" pitchFamily="49" charset="-122"/>
                <a:ea typeface="隶书" panose="02010509060101010101" pitchFamily="49" charset="-122"/>
              </a:rPr>
              <a:t>题目</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分析</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与解决方案</a:t>
            </a:r>
          </a:p>
          <a:p>
            <a:pPr indent="457200">
              <a:lnSpc>
                <a:spcPct val="150000"/>
              </a:lnSpc>
            </a:pPr>
            <a:r>
              <a:rPr lang="zh-CN" altLang="en-US" sz="1800" dirty="0" smtClean="0"/>
              <a:t>可</a:t>
            </a:r>
            <a:r>
              <a:rPr lang="zh-CN" altLang="en-US" sz="1800" dirty="0"/>
              <a:t>参考商品</a:t>
            </a:r>
            <a:r>
              <a:rPr lang="en-US" altLang="zh-CN" sz="1800" dirty="0"/>
              <a:t>LCR </a:t>
            </a:r>
            <a:r>
              <a:rPr lang="zh-CN" altLang="en-US" sz="1800" dirty="0"/>
              <a:t>测试仪</a:t>
            </a:r>
            <a:r>
              <a:rPr lang="zh-CN" altLang="en-US" sz="1800" dirty="0" smtClean="0"/>
              <a:t>。</a:t>
            </a:r>
            <a:endParaRPr lang="en-US" altLang="zh-CN" sz="1800" dirty="0" smtClean="0"/>
          </a:p>
          <a:p>
            <a:pPr indent="457200">
              <a:lnSpc>
                <a:spcPct val="150000"/>
              </a:lnSpc>
            </a:pPr>
            <a:r>
              <a:rPr lang="en-US" altLang="zh-CN" sz="1800" dirty="0" smtClean="0"/>
              <a:t>LCR </a:t>
            </a:r>
            <a:r>
              <a:rPr lang="zh-CN" altLang="en-US" sz="1800" dirty="0"/>
              <a:t>测试仪又称</a:t>
            </a:r>
            <a:r>
              <a:rPr lang="en-US" altLang="zh-CN" sz="1800" dirty="0"/>
              <a:t>LCR </a:t>
            </a:r>
            <a:r>
              <a:rPr lang="zh-CN" altLang="en-US" sz="1800" dirty="0"/>
              <a:t>数字电桥，可以测量电感、电容或电阻的电感值、电容值、电阻值，以及电感与电容的损耗情况（</a:t>
            </a:r>
            <a:r>
              <a:rPr lang="en-US" altLang="zh-CN" sz="1800" dirty="0"/>
              <a:t>Q </a:t>
            </a:r>
            <a:r>
              <a:rPr lang="zh-CN" altLang="en-US" sz="1800" dirty="0"/>
              <a:t>值、</a:t>
            </a:r>
            <a:r>
              <a:rPr lang="en-US" altLang="zh-CN" sz="1800" dirty="0"/>
              <a:t>D </a:t>
            </a:r>
            <a:r>
              <a:rPr lang="zh-CN" altLang="en-US" sz="1800" dirty="0"/>
              <a:t>值等），其基本结构如下：</a:t>
            </a:r>
            <a:endParaRPr lang="en-US" altLang="zh-CN" sz="1200" dirty="0"/>
          </a:p>
        </p:txBody>
      </p:sp>
      <p:pic>
        <p:nvPicPr>
          <p:cNvPr id="6" name="图片 5"/>
          <p:cNvPicPr>
            <a:picLocks noChangeAspect="1"/>
          </p:cNvPicPr>
          <p:nvPr/>
        </p:nvPicPr>
        <p:blipFill>
          <a:blip r:embed="rId2"/>
          <a:stretch>
            <a:fillRect/>
          </a:stretch>
        </p:blipFill>
        <p:spPr>
          <a:xfrm>
            <a:off x="2956412" y="2524795"/>
            <a:ext cx="6039693" cy="3553321"/>
          </a:xfrm>
          <a:prstGeom prst="rect">
            <a:avLst/>
          </a:prstGeom>
        </p:spPr>
      </p:pic>
    </p:spTree>
    <p:extLst>
      <p:ext uri="{BB962C8B-B14F-4D97-AF65-F5344CB8AC3E}">
        <p14:creationId xmlns:p14="http://schemas.microsoft.com/office/powerpoint/2010/main" val="3169903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sp>
        <p:nvSpPr>
          <p:cNvPr id="5" name="文本框 4"/>
          <p:cNvSpPr txBox="1"/>
          <p:nvPr/>
        </p:nvSpPr>
        <p:spPr>
          <a:xfrm>
            <a:off x="314554" y="424282"/>
            <a:ext cx="11565331"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基本</a:t>
            </a:r>
            <a:r>
              <a:rPr lang="zh-CN" altLang="en-US" sz="1800" dirty="0"/>
              <a:t>工作</a:t>
            </a:r>
            <a:r>
              <a:rPr lang="zh-CN" altLang="en-US" sz="1800" dirty="0" smtClean="0"/>
              <a:t>原理：</a:t>
            </a:r>
            <a:r>
              <a:rPr lang="zh-CN" altLang="en-US" sz="1800" dirty="0"/>
              <a:t>给待测元件（</a:t>
            </a:r>
            <a:r>
              <a:rPr lang="en-US" altLang="zh-CN" sz="1800" dirty="0"/>
              <a:t>DUT</a:t>
            </a:r>
            <a:r>
              <a:rPr lang="zh-CN" altLang="en-US" sz="1800" dirty="0"/>
              <a:t>）加上正弦激励信号，然后测得该</a:t>
            </a:r>
            <a:r>
              <a:rPr lang="en-US" altLang="zh-CN" sz="1800" dirty="0"/>
              <a:t>DUT </a:t>
            </a:r>
            <a:r>
              <a:rPr lang="zh-CN" altLang="en-US" sz="1800" dirty="0"/>
              <a:t>两端的</a:t>
            </a:r>
            <a:r>
              <a:rPr lang="zh-CN" altLang="en-US" sz="1800" dirty="0" smtClean="0"/>
              <a:t>电压（矢量）和</a:t>
            </a:r>
            <a:r>
              <a:rPr lang="zh-CN" altLang="en-US" sz="1800" dirty="0"/>
              <a:t>流过</a:t>
            </a:r>
            <a:r>
              <a:rPr lang="en-US" altLang="zh-CN" sz="1800" dirty="0"/>
              <a:t>DUT </a:t>
            </a:r>
            <a:r>
              <a:rPr lang="zh-CN" altLang="en-US" sz="1800" dirty="0"/>
              <a:t>的</a:t>
            </a:r>
            <a:r>
              <a:rPr lang="zh-CN" altLang="en-US" sz="1800" dirty="0" smtClean="0"/>
              <a:t>电流（矢量），</a:t>
            </a:r>
            <a:r>
              <a:rPr lang="zh-CN" altLang="en-US" sz="1800" dirty="0"/>
              <a:t>可以得到</a:t>
            </a:r>
            <a:r>
              <a:rPr lang="en-US" altLang="zh-CN" sz="1800" dirty="0"/>
              <a:t>DUT </a:t>
            </a:r>
            <a:r>
              <a:rPr lang="zh-CN" altLang="en-US" sz="1800" dirty="0"/>
              <a:t>的性质与参数</a:t>
            </a:r>
            <a:r>
              <a:rPr lang="zh-CN" altLang="en-US" sz="1800" dirty="0" smtClean="0"/>
              <a:t>。</a:t>
            </a:r>
            <a:r>
              <a:rPr lang="en-US" altLang="zh-CN" sz="1800" dirty="0" smtClean="0"/>
              <a:t> </a:t>
            </a:r>
            <a:endParaRPr lang="en-US" altLang="zh-CN" sz="1800" dirty="0"/>
          </a:p>
          <a:p>
            <a:pPr marL="285750" indent="-285750">
              <a:lnSpc>
                <a:spcPct val="150000"/>
              </a:lnSpc>
              <a:buFont typeface="Arial" panose="020B0604020202020204" pitchFamily="34" charset="0"/>
              <a:buChar char="•"/>
            </a:pPr>
            <a:r>
              <a:rPr lang="zh-CN" altLang="en-US" sz="1800" dirty="0" smtClean="0"/>
              <a:t>以电容</a:t>
            </a:r>
            <a:r>
              <a:rPr lang="zh-CN" altLang="en-US" sz="1800" dirty="0"/>
              <a:t>测量为</a:t>
            </a:r>
            <a:r>
              <a:rPr lang="zh-CN" altLang="en-US" sz="1800" dirty="0" smtClean="0"/>
              <a:t>例：</a:t>
            </a:r>
            <a:endParaRPr lang="zh-CN" altLang="en-US" sz="1800" dirty="0"/>
          </a:p>
          <a:p>
            <a:pPr lvl="1">
              <a:lnSpc>
                <a:spcPct val="150000"/>
              </a:lnSpc>
            </a:pPr>
            <a:r>
              <a:rPr lang="zh-CN" altLang="en-US" sz="1800" dirty="0"/>
              <a:t>对于一个理想电容，流过电容的电流将超前其两端电压</a:t>
            </a:r>
            <a:r>
              <a:rPr lang="en-US" altLang="zh-CN" sz="1800" dirty="0"/>
              <a:t>90°</a:t>
            </a:r>
            <a:r>
              <a:rPr lang="zh-CN" altLang="en-US" sz="1800" dirty="0"/>
              <a:t>。然而实际的电容器存在损耗，可以将它等效为一个理想电容</a:t>
            </a:r>
            <a:r>
              <a:rPr lang="en-US" altLang="zh-CN" sz="1800" i="1" dirty="0" err="1"/>
              <a:t>Cp</a:t>
            </a:r>
            <a:r>
              <a:rPr lang="en-US" altLang="zh-CN" sz="1800" i="1" dirty="0"/>
              <a:t> </a:t>
            </a:r>
            <a:r>
              <a:rPr lang="zh-CN" altLang="en-US" sz="1800" dirty="0"/>
              <a:t>与一个理想电阻</a:t>
            </a:r>
            <a:r>
              <a:rPr lang="en-US" altLang="zh-CN" sz="1800" i="1" dirty="0" err="1"/>
              <a:t>Rp</a:t>
            </a:r>
            <a:r>
              <a:rPr lang="en-US" altLang="zh-CN" sz="1800" i="1" dirty="0"/>
              <a:t> </a:t>
            </a:r>
            <a:r>
              <a:rPr lang="zh-CN" altLang="en-US" sz="1800" dirty="0"/>
              <a:t>的并联，故流过实际电容器的电流超前其两端电压的角度将小于</a:t>
            </a:r>
            <a:r>
              <a:rPr lang="en-US" altLang="zh-CN" sz="1800" dirty="0"/>
              <a:t>90°</a:t>
            </a:r>
            <a:r>
              <a:rPr lang="zh-CN" altLang="en-US" sz="1800" dirty="0"/>
              <a:t>，这个减小的角度就是损耗角</a:t>
            </a:r>
            <a:r>
              <a:rPr lang="zh-CN" altLang="en-US" sz="1800" dirty="0" smtClean="0"/>
              <a:t>。</a:t>
            </a:r>
            <a:endParaRPr lang="zh-CN" altLang="en-US" sz="1800" dirty="0"/>
          </a:p>
        </p:txBody>
      </p:sp>
      <p:pic>
        <p:nvPicPr>
          <p:cNvPr id="6" name="图片 5"/>
          <p:cNvPicPr>
            <a:picLocks noChangeAspect="1"/>
          </p:cNvPicPr>
          <p:nvPr/>
        </p:nvPicPr>
        <p:blipFill>
          <a:blip r:embed="rId2"/>
          <a:stretch>
            <a:fillRect/>
          </a:stretch>
        </p:blipFill>
        <p:spPr>
          <a:xfrm>
            <a:off x="801518" y="3542185"/>
            <a:ext cx="2667699" cy="1795567"/>
          </a:xfrm>
          <a:prstGeom prst="rect">
            <a:avLst/>
          </a:prstGeom>
        </p:spPr>
      </p:pic>
      <p:sp>
        <p:nvSpPr>
          <p:cNvPr id="7" name="文本框 6"/>
          <p:cNvSpPr txBox="1"/>
          <p:nvPr/>
        </p:nvSpPr>
        <p:spPr>
          <a:xfrm>
            <a:off x="4279393" y="3162695"/>
            <a:ext cx="4535424" cy="2585323"/>
          </a:xfrm>
          <a:prstGeom prst="rect">
            <a:avLst/>
          </a:prstGeom>
          <a:noFill/>
        </p:spPr>
        <p:txBody>
          <a:bodyPr wrap="square" rtlCol="0">
            <a:spAutoFit/>
          </a:bodyPr>
          <a:lstStyle/>
          <a:p>
            <a:r>
              <a:rPr lang="zh-CN" altLang="en-US" sz="1800" dirty="0" smtClean="0"/>
              <a:t>并联</a:t>
            </a:r>
            <a:r>
              <a:rPr lang="zh-CN" altLang="en-US" sz="1800" dirty="0"/>
              <a:t>的理想电容的</a:t>
            </a:r>
            <a:r>
              <a:rPr lang="zh-CN" altLang="en-US" sz="1800" dirty="0" smtClean="0"/>
              <a:t>容抗</a:t>
            </a:r>
            <a:endParaRPr lang="en-US" altLang="zh-CN" sz="1800" dirty="0" smtClean="0"/>
          </a:p>
          <a:p>
            <a:endParaRPr lang="en-US" altLang="zh-CN" sz="1800" dirty="0"/>
          </a:p>
          <a:p>
            <a:endParaRPr lang="en-US" altLang="zh-CN" sz="1800" dirty="0" smtClean="0"/>
          </a:p>
          <a:p>
            <a:endParaRPr lang="en-US" altLang="zh-CN" sz="1800" dirty="0" smtClean="0"/>
          </a:p>
          <a:p>
            <a:r>
              <a:rPr lang="zh-CN" altLang="en-US" sz="1800" dirty="0" smtClean="0"/>
              <a:t>在</a:t>
            </a:r>
            <a:r>
              <a:rPr lang="zh-CN" altLang="en-US" sz="1800" dirty="0"/>
              <a:t>已知测试频率的条件下待测电容的</a:t>
            </a:r>
            <a:r>
              <a:rPr lang="zh-CN" altLang="en-US" sz="1800" dirty="0" smtClean="0"/>
              <a:t>容量</a:t>
            </a:r>
            <a:endParaRPr lang="en-US" altLang="zh-CN" sz="1800" dirty="0" smtClean="0"/>
          </a:p>
          <a:p>
            <a:endParaRPr lang="en-US" altLang="zh-CN" sz="1800" dirty="0"/>
          </a:p>
          <a:p>
            <a:endParaRPr lang="en-US" altLang="zh-CN" sz="1800" dirty="0" smtClean="0"/>
          </a:p>
          <a:p>
            <a:endParaRPr lang="en-US" altLang="zh-CN" sz="1800" dirty="0"/>
          </a:p>
          <a:p>
            <a:r>
              <a:rPr lang="zh-CN" altLang="en-US" sz="1800" dirty="0" smtClean="0"/>
              <a:t>损耗</a:t>
            </a:r>
            <a:r>
              <a:rPr lang="zh-CN" altLang="en-US" sz="1800" dirty="0"/>
              <a:t>电阻的</a:t>
            </a:r>
            <a:r>
              <a:rPr lang="zh-CN" altLang="en-US" sz="1800" dirty="0" smtClean="0"/>
              <a:t>阻值</a:t>
            </a:r>
            <a:endParaRPr lang="zh-CN" altLang="en-US" sz="1800" dirty="0"/>
          </a:p>
        </p:txBody>
      </p:sp>
      <p:pic>
        <p:nvPicPr>
          <p:cNvPr id="8" name="图片 7"/>
          <p:cNvPicPr>
            <a:picLocks noChangeAspect="1"/>
          </p:cNvPicPr>
          <p:nvPr/>
        </p:nvPicPr>
        <p:blipFill>
          <a:blip r:embed="rId3"/>
          <a:stretch>
            <a:fillRect/>
          </a:stretch>
        </p:blipFill>
        <p:spPr>
          <a:xfrm>
            <a:off x="6838448" y="3009605"/>
            <a:ext cx="1515511" cy="716120"/>
          </a:xfrm>
          <a:prstGeom prst="rect">
            <a:avLst/>
          </a:prstGeom>
        </p:spPr>
      </p:pic>
      <p:pic>
        <p:nvPicPr>
          <p:cNvPr id="9" name="图片 8"/>
          <p:cNvPicPr>
            <a:picLocks noChangeAspect="1"/>
          </p:cNvPicPr>
          <p:nvPr/>
        </p:nvPicPr>
        <p:blipFill>
          <a:blip r:embed="rId4"/>
          <a:stretch>
            <a:fillRect/>
          </a:stretch>
        </p:blipFill>
        <p:spPr>
          <a:xfrm>
            <a:off x="8670842" y="4040778"/>
            <a:ext cx="2316588" cy="874971"/>
          </a:xfrm>
          <a:prstGeom prst="rect">
            <a:avLst/>
          </a:prstGeom>
        </p:spPr>
      </p:pic>
      <p:pic>
        <p:nvPicPr>
          <p:cNvPr id="10" name="图片 9"/>
          <p:cNvPicPr>
            <a:picLocks noChangeAspect="1"/>
          </p:cNvPicPr>
          <p:nvPr/>
        </p:nvPicPr>
        <p:blipFill>
          <a:blip r:embed="rId5"/>
          <a:stretch>
            <a:fillRect/>
          </a:stretch>
        </p:blipFill>
        <p:spPr>
          <a:xfrm>
            <a:off x="6097219" y="5134571"/>
            <a:ext cx="1402187" cy="920713"/>
          </a:xfrm>
          <a:prstGeom prst="rect">
            <a:avLst/>
          </a:prstGeom>
        </p:spPr>
      </p:pic>
    </p:spTree>
    <p:extLst>
      <p:ext uri="{BB962C8B-B14F-4D97-AF65-F5344CB8AC3E}">
        <p14:creationId xmlns:p14="http://schemas.microsoft.com/office/powerpoint/2010/main" val="15648031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5" name="文本框 4"/>
          <p:cNvSpPr txBox="1"/>
          <p:nvPr/>
        </p:nvSpPr>
        <p:spPr>
          <a:xfrm>
            <a:off x="446227" y="760781"/>
            <a:ext cx="11272723" cy="4247317"/>
          </a:xfrm>
          <a:prstGeom prst="rect">
            <a:avLst/>
          </a:prstGeom>
          <a:noFill/>
        </p:spPr>
        <p:txBody>
          <a:bodyPr wrap="square" rtlCol="0">
            <a:spAutoFit/>
          </a:bodyPr>
          <a:lstStyle/>
          <a:p>
            <a:pPr>
              <a:lnSpc>
                <a:spcPct val="150000"/>
              </a:lnSpc>
            </a:pPr>
            <a:r>
              <a:rPr lang="zh-CN" altLang="en-US" sz="1800" dirty="0"/>
              <a:t>定义元件消耗的无功功率与有功功率之比为元件的</a:t>
            </a:r>
            <a:r>
              <a:rPr lang="en-US" altLang="zh-CN" sz="1800" dirty="0"/>
              <a:t>Q </a:t>
            </a:r>
            <a:r>
              <a:rPr lang="zh-CN" altLang="en-US" sz="1800" dirty="0" smtClean="0"/>
              <a:t>值</a:t>
            </a:r>
            <a:endParaRPr lang="en-US" altLang="zh-CN" sz="1800" dirty="0" smtClean="0"/>
          </a:p>
          <a:p>
            <a:pPr>
              <a:lnSpc>
                <a:spcPct val="150000"/>
              </a:lnSpc>
            </a:pPr>
            <a:endParaRPr lang="en-US" altLang="zh-CN" sz="1800" dirty="0" smtClean="0"/>
          </a:p>
          <a:p>
            <a:pPr>
              <a:lnSpc>
                <a:spcPct val="150000"/>
              </a:lnSpc>
            </a:pPr>
            <a:r>
              <a:rPr lang="zh-CN" altLang="en-US" sz="1800" dirty="0"/>
              <a:t>定义</a:t>
            </a:r>
            <a:r>
              <a:rPr lang="en-US" altLang="zh-CN" sz="1800" dirty="0"/>
              <a:t>Q </a:t>
            </a:r>
            <a:r>
              <a:rPr lang="zh-CN" altLang="en-US" sz="1800" dirty="0"/>
              <a:t>值的倒数为</a:t>
            </a:r>
            <a:r>
              <a:rPr lang="en-US" altLang="zh-CN" sz="1800" dirty="0"/>
              <a:t>D </a:t>
            </a:r>
            <a:r>
              <a:rPr lang="zh-CN" altLang="en-US" sz="1800" dirty="0"/>
              <a:t>值（损耗角正切</a:t>
            </a:r>
            <a:r>
              <a:rPr lang="zh-CN" altLang="en-US" sz="1800" dirty="0" smtClean="0"/>
              <a:t>）</a:t>
            </a:r>
            <a:endParaRPr lang="en-US" altLang="zh-CN" sz="1800" dirty="0" smtClean="0"/>
          </a:p>
          <a:p>
            <a:pPr>
              <a:lnSpc>
                <a:spcPct val="150000"/>
              </a:lnSpc>
            </a:pPr>
            <a:endParaRPr lang="en-US" altLang="zh-CN" sz="1800" dirty="0" smtClean="0"/>
          </a:p>
          <a:p>
            <a:pPr>
              <a:lnSpc>
                <a:spcPct val="150000"/>
              </a:lnSpc>
            </a:pPr>
            <a:r>
              <a:rPr lang="zh-CN" altLang="en-US" sz="1800" dirty="0"/>
              <a:t>另外，在商品</a:t>
            </a:r>
            <a:r>
              <a:rPr lang="en-US" altLang="zh-CN" sz="1800" dirty="0"/>
              <a:t>LCR </a:t>
            </a:r>
            <a:r>
              <a:rPr lang="zh-CN" altLang="en-US" sz="1800" dirty="0"/>
              <a:t>测试仪中通常都可以选择将实际电容等效为电容电阻并联形式或串联形式。上述并联形式的理想电容与损耗电阻变换为串联形式的关系</a:t>
            </a:r>
            <a:r>
              <a:rPr lang="zh-CN" altLang="en-US" sz="1800" dirty="0" smtClean="0"/>
              <a:t>是</a:t>
            </a:r>
            <a:endParaRPr lang="en-US" altLang="zh-CN" sz="1800" dirty="0" smtClean="0"/>
          </a:p>
          <a:p>
            <a:pPr>
              <a:lnSpc>
                <a:spcPct val="150000"/>
              </a:lnSpc>
            </a:pPr>
            <a:endParaRPr lang="en-US" altLang="zh-CN" sz="1800" dirty="0"/>
          </a:p>
          <a:p>
            <a:pPr>
              <a:lnSpc>
                <a:spcPct val="150000"/>
              </a:lnSpc>
            </a:pPr>
            <a:endParaRPr lang="en-US" altLang="zh-CN" sz="1800" dirty="0" smtClean="0"/>
          </a:p>
          <a:p>
            <a:pPr>
              <a:lnSpc>
                <a:spcPct val="150000"/>
              </a:lnSpc>
            </a:pPr>
            <a:endParaRPr lang="en-US" altLang="zh-CN" sz="1800" dirty="0"/>
          </a:p>
          <a:p>
            <a:pPr>
              <a:lnSpc>
                <a:spcPct val="150000"/>
              </a:lnSpc>
            </a:pPr>
            <a:endParaRPr lang="zh-CN" altLang="en-US" sz="1800" dirty="0"/>
          </a:p>
        </p:txBody>
      </p:sp>
      <p:pic>
        <p:nvPicPr>
          <p:cNvPr id="6" name="图片 5"/>
          <p:cNvPicPr>
            <a:picLocks noChangeAspect="1"/>
          </p:cNvPicPr>
          <p:nvPr/>
        </p:nvPicPr>
        <p:blipFill>
          <a:blip r:embed="rId2"/>
          <a:stretch>
            <a:fillRect/>
          </a:stretch>
        </p:blipFill>
        <p:spPr>
          <a:xfrm>
            <a:off x="6150995" y="616924"/>
            <a:ext cx="1727476" cy="859525"/>
          </a:xfrm>
          <a:prstGeom prst="rect">
            <a:avLst/>
          </a:prstGeom>
        </p:spPr>
      </p:pic>
      <p:pic>
        <p:nvPicPr>
          <p:cNvPr id="7" name="图片 6"/>
          <p:cNvPicPr>
            <a:picLocks noChangeAspect="1"/>
          </p:cNvPicPr>
          <p:nvPr/>
        </p:nvPicPr>
        <p:blipFill>
          <a:blip r:embed="rId3"/>
          <a:stretch>
            <a:fillRect/>
          </a:stretch>
        </p:blipFill>
        <p:spPr>
          <a:xfrm>
            <a:off x="4493778" y="1476449"/>
            <a:ext cx="1657217" cy="816242"/>
          </a:xfrm>
          <a:prstGeom prst="rect">
            <a:avLst/>
          </a:prstGeom>
        </p:spPr>
      </p:pic>
      <p:pic>
        <p:nvPicPr>
          <p:cNvPr id="8" name="图片 7"/>
          <p:cNvPicPr>
            <a:picLocks noChangeAspect="1"/>
          </p:cNvPicPr>
          <p:nvPr/>
        </p:nvPicPr>
        <p:blipFill>
          <a:blip r:embed="rId4"/>
          <a:stretch>
            <a:fillRect/>
          </a:stretch>
        </p:blipFill>
        <p:spPr>
          <a:xfrm>
            <a:off x="3523671" y="3551921"/>
            <a:ext cx="3840645" cy="785993"/>
          </a:xfrm>
          <a:prstGeom prst="rect">
            <a:avLst/>
          </a:prstGeom>
        </p:spPr>
      </p:pic>
    </p:spTree>
    <p:extLst>
      <p:ext uri="{BB962C8B-B14F-4D97-AF65-F5344CB8AC3E}">
        <p14:creationId xmlns:p14="http://schemas.microsoft.com/office/powerpoint/2010/main" val="3356603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文本框 4"/>
          <p:cNvSpPr txBox="1"/>
          <p:nvPr/>
        </p:nvSpPr>
        <p:spPr>
          <a:xfrm>
            <a:off x="382811" y="525506"/>
            <a:ext cx="11338560" cy="923330"/>
          </a:xfrm>
          <a:prstGeom prst="rect">
            <a:avLst/>
          </a:prstGeom>
          <a:noFill/>
        </p:spPr>
        <p:txBody>
          <a:bodyPr wrap="square" rtlCol="0">
            <a:spAutoFit/>
          </a:bodyPr>
          <a:lstStyle/>
          <a:p>
            <a:pPr>
              <a:lnSpc>
                <a:spcPct val="150000"/>
              </a:lnSpc>
            </a:pPr>
            <a:r>
              <a:rPr lang="zh-CN" altLang="en-US" sz="1800" dirty="0" smtClean="0"/>
              <a:t>借助</a:t>
            </a:r>
            <a:r>
              <a:rPr lang="zh-CN" altLang="en-US" sz="1800" dirty="0"/>
              <a:t>下列正交算法</a:t>
            </a:r>
            <a:r>
              <a:rPr lang="zh-CN" altLang="en-US" sz="1800" dirty="0" smtClean="0"/>
              <a:t>得到</a:t>
            </a:r>
            <a:r>
              <a:rPr lang="zh-CN" altLang="en-US" sz="1800" dirty="0"/>
              <a:t>上述</a:t>
            </a:r>
            <a:r>
              <a:rPr lang="zh-CN" altLang="en-US" sz="1800" dirty="0" smtClean="0"/>
              <a:t>参数：</a:t>
            </a:r>
            <a:r>
              <a:rPr lang="zh-CN" altLang="en-US" sz="1800" dirty="0"/>
              <a:t>将流过</a:t>
            </a:r>
            <a:r>
              <a:rPr lang="en-US" altLang="zh-CN" sz="1800" dirty="0"/>
              <a:t>DUT</a:t>
            </a:r>
            <a:r>
              <a:rPr lang="zh-CN" altLang="en-US" sz="1800" dirty="0"/>
              <a:t>的电流与</a:t>
            </a:r>
            <a:r>
              <a:rPr lang="en-US" altLang="zh-CN" sz="1800" dirty="0"/>
              <a:t>DUT</a:t>
            </a:r>
            <a:r>
              <a:rPr lang="zh-CN" altLang="en-US" sz="1800" dirty="0"/>
              <a:t>两端的</a:t>
            </a:r>
            <a:r>
              <a:rPr lang="zh-CN" altLang="en-US" sz="1800" dirty="0" smtClean="0"/>
              <a:t>电压（两个正交分量）分别相乘，通过低通滤波获得其中的直流分量</a:t>
            </a:r>
            <a:endParaRPr lang="zh-CN" altLang="en-US" sz="1800" dirty="0"/>
          </a:p>
        </p:txBody>
      </p:sp>
      <p:pic>
        <p:nvPicPr>
          <p:cNvPr id="6" name="图片 5"/>
          <p:cNvPicPr>
            <a:picLocks noChangeAspect="1"/>
          </p:cNvPicPr>
          <p:nvPr/>
        </p:nvPicPr>
        <p:blipFill>
          <a:blip r:embed="rId2"/>
          <a:stretch>
            <a:fillRect/>
          </a:stretch>
        </p:blipFill>
        <p:spPr>
          <a:xfrm>
            <a:off x="2046817" y="1791016"/>
            <a:ext cx="5574825" cy="1293425"/>
          </a:xfrm>
          <a:prstGeom prst="rect">
            <a:avLst/>
          </a:prstGeom>
        </p:spPr>
      </p:pic>
      <p:sp>
        <p:nvSpPr>
          <p:cNvPr id="7" name="椭圆 6"/>
          <p:cNvSpPr/>
          <p:nvPr/>
        </p:nvSpPr>
        <p:spPr>
          <a:xfrm>
            <a:off x="6101335" y="1532342"/>
            <a:ext cx="1762963" cy="186229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415778" y="3094871"/>
            <a:ext cx="1185062" cy="369332"/>
          </a:xfrm>
          <a:prstGeom prst="rect">
            <a:avLst/>
          </a:prstGeom>
          <a:noFill/>
        </p:spPr>
        <p:txBody>
          <a:bodyPr wrap="square" rtlCol="0">
            <a:spAutoFit/>
          </a:bodyPr>
          <a:lstStyle/>
          <a:p>
            <a:r>
              <a:rPr lang="zh-CN" altLang="en-US" sz="1800" dirty="0" smtClean="0"/>
              <a:t>直流分量</a:t>
            </a:r>
            <a:endParaRPr lang="zh-CN" altLang="en-US" sz="1800" dirty="0"/>
          </a:p>
        </p:txBody>
      </p:sp>
      <p:cxnSp>
        <p:nvCxnSpPr>
          <p:cNvPr id="10" name="直接箭头连接符 9"/>
          <p:cNvCxnSpPr>
            <a:stCxn id="7" idx="6"/>
            <a:endCxn id="11" idx="1"/>
          </p:cNvCxnSpPr>
          <p:nvPr/>
        </p:nvCxnSpPr>
        <p:spPr>
          <a:xfrm>
            <a:off x="7864298" y="2463489"/>
            <a:ext cx="1126528" cy="2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tretch>
            <a:fillRect/>
          </a:stretch>
        </p:blipFill>
        <p:spPr>
          <a:xfrm>
            <a:off x="8990826" y="2048895"/>
            <a:ext cx="1875309" cy="871623"/>
          </a:xfrm>
          <a:prstGeom prst="rect">
            <a:avLst/>
          </a:prstGeom>
        </p:spPr>
      </p:pic>
      <p:pic>
        <p:nvPicPr>
          <p:cNvPr id="17" name="图片 16"/>
          <p:cNvPicPr>
            <a:picLocks noChangeAspect="1"/>
          </p:cNvPicPr>
          <p:nvPr/>
        </p:nvPicPr>
        <p:blipFill>
          <a:blip r:embed="rId4"/>
          <a:stretch>
            <a:fillRect/>
          </a:stretch>
        </p:blipFill>
        <p:spPr>
          <a:xfrm>
            <a:off x="2928994" y="3796353"/>
            <a:ext cx="2501305" cy="822798"/>
          </a:xfrm>
          <a:prstGeom prst="rect">
            <a:avLst/>
          </a:prstGeom>
        </p:spPr>
      </p:pic>
      <p:pic>
        <p:nvPicPr>
          <p:cNvPr id="18" name="图片 17"/>
          <p:cNvPicPr>
            <a:picLocks noChangeAspect="1"/>
          </p:cNvPicPr>
          <p:nvPr/>
        </p:nvPicPr>
        <p:blipFill>
          <a:blip r:embed="rId5"/>
          <a:stretch>
            <a:fillRect/>
          </a:stretch>
        </p:blipFill>
        <p:spPr>
          <a:xfrm>
            <a:off x="6244929" y="3796353"/>
            <a:ext cx="1305566" cy="946316"/>
          </a:xfrm>
          <a:prstGeom prst="rect">
            <a:avLst/>
          </a:prstGeom>
        </p:spPr>
      </p:pic>
      <p:pic>
        <p:nvPicPr>
          <p:cNvPr id="19" name="图片 18"/>
          <p:cNvPicPr>
            <a:picLocks noChangeAspect="1"/>
          </p:cNvPicPr>
          <p:nvPr/>
        </p:nvPicPr>
        <p:blipFill>
          <a:blip r:embed="rId6"/>
          <a:stretch>
            <a:fillRect/>
          </a:stretch>
        </p:blipFill>
        <p:spPr>
          <a:xfrm>
            <a:off x="2928995" y="4893038"/>
            <a:ext cx="2413524" cy="827743"/>
          </a:xfrm>
          <a:prstGeom prst="rect">
            <a:avLst/>
          </a:prstGeom>
        </p:spPr>
      </p:pic>
      <p:cxnSp>
        <p:nvCxnSpPr>
          <p:cNvPr id="21" name="直接箭头连接符 20"/>
          <p:cNvCxnSpPr/>
          <p:nvPr/>
        </p:nvCxnSpPr>
        <p:spPr>
          <a:xfrm flipH="1">
            <a:off x="5430299" y="3308575"/>
            <a:ext cx="1128384" cy="1039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5430299" y="3394636"/>
            <a:ext cx="1243585" cy="2074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098546" y="5099955"/>
            <a:ext cx="4884671" cy="369332"/>
          </a:xfrm>
          <a:prstGeom prst="rect">
            <a:avLst/>
          </a:prstGeom>
        </p:spPr>
        <p:txBody>
          <a:bodyPr wrap="none">
            <a:spAutoFit/>
          </a:bodyPr>
          <a:lstStyle/>
          <a:p>
            <a:r>
              <a:rPr lang="en-US" altLang="zh-CN" sz="1800" i="1" dirty="0">
                <a:solidFill>
                  <a:srgbClr val="000000"/>
                </a:solidFill>
                <a:latin typeface="Times New Roman" panose="02020603050405020304" pitchFamily="18" charset="0"/>
              </a:rPr>
              <a:t>V</a:t>
            </a:r>
            <a:r>
              <a:rPr lang="en-US" altLang="zh-CN" sz="1800" baseline="30000" dirty="0">
                <a:solidFill>
                  <a:srgbClr val="000000"/>
                </a:solidFill>
                <a:latin typeface="Times New Roman" panose="02020603050405020304" pitchFamily="18" charset="0"/>
              </a:rPr>
              <a:t>2</a:t>
            </a:r>
            <a:r>
              <a:rPr lang="en-US" altLang="zh-CN" sz="1800" i="1" dirty="0">
                <a:solidFill>
                  <a:srgbClr val="000000"/>
                </a:solidFill>
                <a:latin typeface="Times New Roman" panose="02020603050405020304" pitchFamily="18" charset="0"/>
              </a:rPr>
              <a:t> </a:t>
            </a:r>
            <a:r>
              <a:rPr lang="zh-CN" altLang="en-US" sz="1800" dirty="0">
                <a:solidFill>
                  <a:srgbClr val="000000"/>
                </a:solidFill>
                <a:latin typeface="宋体" panose="02010600030101010101" pitchFamily="2" charset="-122"/>
                <a:ea typeface="宋体" panose="02010600030101010101" pitchFamily="2" charset="-122"/>
              </a:rPr>
              <a:t>可以通过电压自乘后滤除高频成分后得到。</a:t>
            </a:r>
            <a:endParaRPr lang="zh-CN" altLang="en-US" sz="1800" dirty="0"/>
          </a:p>
        </p:txBody>
      </p:sp>
      <p:sp>
        <p:nvSpPr>
          <p:cNvPr id="28" name="椭圆 27"/>
          <p:cNvSpPr/>
          <p:nvPr/>
        </p:nvSpPr>
        <p:spPr>
          <a:xfrm>
            <a:off x="1993260" y="1791016"/>
            <a:ext cx="1422742" cy="1386360"/>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3391616" y="1791016"/>
            <a:ext cx="1042599" cy="1386360"/>
          </a:xfrm>
          <a:prstGeom prst="ellipse">
            <a:avLst/>
          </a:prstGeom>
          <a:noFill/>
          <a:ln>
            <a:solidFill>
              <a:srgbClr val="66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箭头连接符 30"/>
          <p:cNvCxnSpPr/>
          <p:nvPr/>
        </p:nvCxnSpPr>
        <p:spPr>
          <a:xfrm flipH="1">
            <a:off x="3026073" y="947905"/>
            <a:ext cx="2404226" cy="9401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H="1">
            <a:off x="4176186" y="987171"/>
            <a:ext cx="3499013" cy="908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81976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5" name="文本框 4"/>
          <p:cNvSpPr txBox="1"/>
          <p:nvPr/>
        </p:nvSpPr>
        <p:spPr>
          <a:xfrm>
            <a:off x="329184" y="438912"/>
            <a:ext cx="11404397" cy="5493812"/>
          </a:xfrm>
          <a:prstGeom prst="rect">
            <a:avLst/>
          </a:prstGeom>
          <a:noFill/>
        </p:spPr>
        <p:txBody>
          <a:bodyPr wrap="square" rtlCol="0">
            <a:spAutoFit/>
          </a:bodyPr>
          <a:lstStyle/>
          <a:p>
            <a:pPr>
              <a:lnSpc>
                <a:spcPct val="150000"/>
              </a:lnSpc>
            </a:pPr>
            <a:r>
              <a:rPr lang="zh-CN" altLang="en-US" sz="1800" dirty="0" smtClean="0"/>
              <a:t>具体实现方法：</a:t>
            </a:r>
            <a:endParaRPr lang="en-US" altLang="zh-CN" sz="1800" dirty="0" smtClean="0"/>
          </a:p>
          <a:p>
            <a:pPr>
              <a:lnSpc>
                <a:spcPct val="150000"/>
              </a:lnSpc>
            </a:pPr>
            <a:r>
              <a:rPr lang="en-US" altLang="zh-CN" sz="1800" dirty="0"/>
              <a:t>1</a:t>
            </a:r>
            <a:r>
              <a:rPr lang="zh-CN" altLang="en-US" sz="1800" dirty="0" smtClean="0"/>
              <a:t>、</a:t>
            </a:r>
            <a:r>
              <a:rPr lang="zh-CN" altLang="en-US" sz="1800" dirty="0"/>
              <a:t>激励</a:t>
            </a:r>
            <a:r>
              <a:rPr lang="zh-CN" altLang="en-US" sz="1800" dirty="0" smtClean="0"/>
              <a:t>信号：利用</a:t>
            </a:r>
            <a:r>
              <a:rPr lang="en-US" altLang="zh-CN" sz="1800" dirty="0"/>
              <a:t>MCU </a:t>
            </a:r>
            <a:r>
              <a:rPr lang="zh-CN" altLang="en-US" sz="1800" dirty="0"/>
              <a:t>的定时</a:t>
            </a:r>
            <a:r>
              <a:rPr lang="zh-CN" altLang="en-US" sz="1800" dirty="0" smtClean="0"/>
              <a:t>功能产生。</a:t>
            </a:r>
            <a:endParaRPr lang="zh-CN" altLang="en-US" sz="1800" dirty="0"/>
          </a:p>
          <a:p>
            <a:pPr lvl="1">
              <a:lnSpc>
                <a:spcPct val="150000"/>
              </a:lnSpc>
            </a:pPr>
            <a:r>
              <a:rPr lang="zh-CN" altLang="en-US" sz="1800" dirty="0"/>
              <a:t>指定一个激励信号周期有</a:t>
            </a:r>
            <a:r>
              <a:rPr lang="en-US" altLang="zh-CN" sz="1800" dirty="0"/>
              <a:t>n </a:t>
            </a:r>
            <a:r>
              <a:rPr lang="zh-CN" altLang="en-US" sz="1800" dirty="0"/>
              <a:t>点，每个点按照正弦函数值由</a:t>
            </a:r>
            <a:r>
              <a:rPr lang="en-US" altLang="zh-CN" sz="1800" dirty="0"/>
              <a:t>DAC </a:t>
            </a:r>
            <a:r>
              <a:rPr lang="zh-CN" altLang="en-US" sz="1800" dirty="0"/>
              <a:t>输出，输出信号经过一个低通滤波器滤除</a:t>
            </a:r>
            <a:r>
              <a:rPr lang="zh-CN" altLang="en-US" sz="1800" dirty="0" smtClean="0"/>
              <a:t>量化噪声，得到</a:t>
            </a:r>
            <a:r>
              <a:rPr lang="zh-CN" altLang="en-US" sz="1800" dirty="0"/>
              <a:t>稳定的正弦激励信号（如果没有</a:t>
            </a:r>
            <a:r>
              <a:rPr lang="en-US" altLang="zh-CN" sz="1800" dirty="0"/>
              <a:t>DAC </a:t>
            </a:r>
            <a:r>
              <a:rPr lang="zh-CN" altLang="en-US" sz="1800" dirty="0"/>
              <a:t>也可以直接输出方波，但是需要更高阶数的低通滤波器）。</a:t>
            </a:r>
          </a:p>
          <a:p>
            <a:pPr>
              <a:lnSpc>
                <a:spcPct val="150000"/>
              </a:lnSpc>
            </a:pPr>
            <a:r>
              <a:rPr lang="en-US" altLang="zh-CN" sz="1800" dirty="0"/>
              <a:t>2</a:t>
            </a:r>
            <a:r>
              <a:rPr lang="zh-CN" altLang="en-US" sz="1800" dirty="0"/>
              <a:t>、在每个定时时刻，采样</a:t>
            </a:r>
            <a:r>
              <a:rPr lang="en-US" altLang="zh-CN" sz="1800" dirty="0"/>
              <a:t>DUT </a:t>
            </a:r>
            <a:r>
              <a:rPr lang="zh-CN" altLang="en-US" sz="1800" dirty="0"/>
              <a:t>两端的电压信号与流过</a:t>
            </a:r>
            <a:r>
              <a:rPr lang="en-US" altLang="zh-CN" sz="1800" dirty="0"/>
              <a:t>DUT </a:t>
            </a:r>
            <a:r>
              <a:rPr lang="zh-CN" altLang="en-US" sz="1800" dirty="0"/>
              <a:t>的电流信号，共采样</a:t>
            </a:r>
            <a:r>
              <a:rPr lang="en-US" altLang="zh-CN" sz="1800" dirty="0"/>
              <a:t>n </a:t>
            </a:r>
            <a:r>
              <a:rPr lang="zh-CN" altLang="en-US" sz="1800" dirty="0"/>
              <a:t>点以完成一个信号周期。</a:t>
            </a:r>
          </a:p>
          <a:p>
            <a:pPr lvl="1">
              <a:lnSpc>
                <a:spcPct val="150000"/>
              </a:lnSpc>
            </a:pPr>
            <a:r>
              <a:rPr lang="zh-CN" altLang="en-US" sz="1800" dirty="0"/>
              <a:t>由于后续的运算与两个信号的相位差有关，这里需要注意两个信号采样应该具有严格的同步性，必要时应该采用采样</a:t>
            </a:r>
            <a:r>
              <a:rPr lang="en-US" altLang="zh-CN" sz="1800" dirty="0"/>
              <a:t>-</a:t>
            </a:r>
            <a:r>
              <a:rPr lang="zh-CN" altLang="en-US" sz="1800" dirty="0"/>
              <a:t>保持电路进行</a:t>
            </a:r>
            <a:r>
              <a:rPr lang="en-US" altLang="zh-CN" sz="1800" dirty="0"/>
              <a:t>ADC </a:t>
            </a:r>
            <a:r>
              <a:rPr lang="zh-CN" altLang="en-US" sz="1800" dirty="0"/>
              <a:t>采样。另外，后续的运算是按照有符号数进行的，所以还必须将采样值（通常是无符号数）转换为有符号数。</a:t>
            </a:r>
          </a:p>
          <a:p>
            <a:pPr>
              <a:lnSpc>
                <a:spcPct val="150000"/>
              </a:lnSpc>
            </a:pPr>
            <a:r>
              <a:rPr lang="en-US" altLang="zh-CN" sz="1800" dirty="0"/>
              <a:t>3</a:t>
            </a:r>
            <a:r>
              <a:rPr lang="zh-CN" altLang="en-US" sz="1800" dirty="0"/>
              <a:t>、将每个时刻采样</a:t>
            </a:r>
            <a:r>
              <a:rPr lang="zh-CN" altLang="en-US" sz="1800" dirty="0" smtClean="0"/>
              <a:t>的电压</a:t>
            </a:r>
            <a:r>
              <a:rPr lang="zh-CN" altLang="en-US" sz="1800" dirty="0"/>
              <a:t>信号与电流信号相乘，然后将</a:t>
            </a:r>
            <a:r>
              <a:rPr lang="zh-CN" altLang="en-US" sz="1800" dirty="0" smtClean="0"/>
              <a:t>整个周期</a:t>
            </a:r>
            <a:r>
              <a:rPr lang="zh-CN" altLang="en-US" sz="1800" dirty="0"/>
              <a:t>内的</a:t>
            </a:r>
            <a:r>
              <a:rPr lang="en-US" altLang="zh-CN" sz="1800" dirty="0"/>
              <a:t>n </a:t>
            </a:r>
            <a:r>
              <a:rPr lang="zh-CN" altLang="en-US" sz="1800" dirty="0"/>
              <a:t>个点的乘积累加</a:t>
            </a:r>
            <a:r>
              <a:rPr lang="zh-CN" altLang="en-US" sz="1800" dirty="0" smtClean="0"/>
              <a:t>，得到</a:t>
            </a:r>
            <a:r>
              <a:rPr lang="en-US" altLang="zh-CN" sz="1800" i="1" dirty="0" smtClean="0"/>
              <a:t>VI </a:t>
            </a:r>
            <a:r>
              <a:rPr lang="en-US" altLang="zh-CN" sz="1800" dirty="0" smtClean="0"/>
              <a:t>cos </a:t>
            </a:r>
            <a:r>
              <a:rPr lang="el-GR" altLang="zh-CN" sz="1800" dirty="0" smtClean="0"/>
              <a:t>φ</a:t>
            </a:r>
            <a:r>
              <a:rPr lang="en-US" altLang="zh-CN" sz="1800" dirty="0" smtClean="0"/>
              <a:t> </a:t>
            </a:r>
            <a:endParaRPr lang="en-US" altLang="zh-CN" sz="1800" dirty="0"/>
          </a:p>
          <a:p>
            <a:pPr lvl="1">
              <a:lnSpc>
                <a:spcPct val="150000"/>
              </a:lnSpc>
            </a:pPr>
            <a:r>
              <a:rPr lang="zh-CN" altLang="en-US" sz="1800" dirty="0"/>
              <a:t>同样的方法，将电压信号自乘</a:t>
            </a:r>
            <a:r>
              <a:rPr lang="zh-CN" altLang="en-US" sz="1800" dirty="0" smtClean="0"/>
              <a:t>累加得到</a:t>
            </a:r>
            <a:r>
              <a:rPr lang="zh-CN" altLang="en-US" sz="1800" dirty="0"/>
              <a:t> </a:t>
            </a:r>
            <a:r>
              <a:rPr lang="en-US" altLang="zh-CN" sz="1800" i="1" dirty="0" smtClean="0"/>
              <a:t>V</a:t>
            </a:r>
            <a:r>
              <a:rPr lang="en-US" altLang="zh-CN" sz="1800" baseline="30000" dirty="0" smtClean="0"/>
              <a:t>2</a:t>
            </a:r>
            <a:endParaRPr lang="zh-CN" altLang="en-US" sz="1800" dirty="0"/>
          </a:p>
          <a:p>
            <a:pPr lvl="1">
              <a:lnSpc>
                <a:spcPct val="150000"/>
              </a:lnSpc>
            </a:pPr>
            <a:r>
              <a:rPr lang="zh-CN" altLang="en-US" sz="1800" dirty="0"/>
              <a:t>将每个时刻的电流信号与相差</a:t>
            </a:r>
            <a:r>
              <a:rPr lang="en-US" altLang="zh-CN" sz="1800" dirty="0"/>
              <a:t>n/4 </a:t>
            </a:r>
            <a:r>
              <a:rPr lang="zh-CN" altLang="en-US" sz="1800" dirty="0"/>
              <a:t>个点的电压信号相乘并累加</a:t>
            </a:r>
            <a:r>
              <a:rPr lang="zh-CN" altLang="en-US" sz="1800" dirty="0" smtClean="0"/>
              <a:t>，得到 </a:t>
            </a:r>
            <a:r>
              <a:rPr lang="en-US" altLang="zh-CN" sz="1800" i="1" dirty="0" smtClean="0"/>
              <a:t>VI </a:t>
            </a:r>
            <a:r>
              <a:rPr lang="en-US" altLang="zh-CN" sz="1800" dirty="0" smtClean="0"/>
              <a:t>sin </a:t>
            </a:r>
            <a:r>
              <a:rPr lang="el-GR" altLang="zh-CN" sz="1800" dirty="0" smtClean="0"/>
              <a:t>φ</a:t>
            </a:r>
            <a:endParaRPr lang="en-US" altLang="zh-CN" sz="1800" dirty="0"/>
          </a:p>
          <a:p>
            <a:pPr>
              <a:lnSpc>
                <a:spcPct val="150000"/>
              </a:lnSpc>
            </a:pPr>
            <a:r>
              <a:rPr lang="en-US" altLang="zh-CN" sz="1800" dirty="0"/>
              <a:t>4</a:t>
            </a:r>
            <a:r>
              <a:rPr lang="zh-CN" altLang="en-US" sz="1800" dirty="0"/>
              <a:t>、按照前面给出的公式计算电容值与损耗角</a:t>
            </a:r>
            <a:r>
              <a:rPr lang="zh-CN" altLang="en-US" sz="1800" dirty="0" smtClean="0"/>
              <a:t>正切</a:t>
            </a:r>
            <a:endParaRPr lang="zh-CN" altLang="en-US" sz="1800" dirty="0"/>
          </a:p>
        </p:txBody>
      </p:sp>
    </p:spTree>
    <p:extLst>
      <p:ext uri="{BB962C8B-B14F-4D97-AF65-F5344CB8AC3E}">
        <p14:creationId xmlns:p14="http://schemas.microsoft.com/office/powerpoint/2010/main" val="3981008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sp>
        <p:nvSpPr>
          <p:cNvPr id="5" name="文本框 4"/>
          <p:cNvSpPr txBox="1"/>
          <p:nvPr/>
        </p:nvSpPr>
        <p:spPr>
          <a:xfrm>
            <a:off x="380390" y="431597"/>
            <a:ext cx="11441195" cy="1754326"/>
          </a:xfrm>
          <a:prstGeom prst="rect">
            <a:avLst/>
          </a:prstGeom>
          <a:noFill/>
        </p:spPr>
        <p:txBody>
          <a:bodyPr wrap="square" rtlCol="0">
            <a:spAutoFit/>
          </a:bodyPr>
          <a:lstStyle/>
          <a:p>
            <a:pPr>
              <a:lnSpc>
                <a:spcPct val="150000"/>
              </a:lnSpc>
            </a:pPr>
            <a:r>
              <a:rPr lang="zh-CN" altLang="en-US" sz="1800" dirty="0" smtClean="0"/>
              <a:t>注意事项</a:t>
            </a:r>
            <a:endParaRPr lang="en-US" altLang="zh-CN" sz="1800" dirty="0" smtClean="0"/>
          </a:p>
          <a:p>
            <a:pPr marL="285750" indent="-285750">
              <a:lnSpc>
                <a:spcPct val="150000"/>
              </a:lnSpc>
              <a:buFont typeface="Arial" panose="020B0604020202020204" pitchFamily="34" charset="0"/>
              <a:buChar char="•"/>
            </a:pPr>
            <a:r>
              <a:rPr lang="en-US" altLang="zh-CN" sz="1800" dirty="0"/>
              <a:t>DUT</a:t>
            </a:r>
            <a:r>
              <a:rPr lang="zh-CN" altLang="en-US" sz="1800" dirty="0"/>
              <a:t>应该采用四端测量法接入</a:t>
            </a:r>
          </a:p>
          <a:p>
            <a:pPr marL="285750" indent="-285750">
              <a:lnSpc>
                <a:spcPct val="150000"/>
              </a:lnSpc>
              <a:buFont typeface="Arial" panose="020B0604020202020204" pitchFamily="34" charset="0"/>
              <a:buChar char="•"/>
            </a:pPr>
            <a:r>
              <a:rPr lang="zh-CN" altLang="en-US" sz="1800" dirty="0" smtClean="0"/>
              <a:t>接上</a:t>
            </a:r>
            <a:r>
              <a:rPr lang="en-US" altLang="zh-CN" sz="1800" dirty="0" smtClean="0"/>
              <a:t>DUT</a:t>
            </a:r>
            <a:r>
              <a:rPr lang="zh-CN" altLang="en-US" sz="1800" dirty="0" smtClean="0"/>
              <a:t>后必须给予一定的稳定时间</a:t>
            </a:r>
            <a:endParaRPr lang="en-US" altLang="zh-CN" sz="1800" dirty="0" smtClean="0"/>
          </a:p>
          <a:p>
            <a:pPr marL="285750" indent="-285750">
              <a:lnSpc>
                <a:spcPct val="150000"/>
              </a:lnSpc>
              <a:buFont typeface="Arial" panose="020B0604020202020204" pitchFamily="34" charset="0"/>
              <a:buChar char="•"/>
            </a:pPr>
            <a:r>
              <a:rPr lang="zh-CN" altLang="en-US" sz="1800" dirty="0" smtClean="0"/>
              <a:t>电压与电流检测放大器可能要改变量程，必须保证其测量精度</a:t>
            </a:r>
            <a:endParaRPr lang="en-US" altLang="zh-CN" sz="1800" dirty="0" smtClean="0"/>
          </a:p>
        </p:txBody>
      </p:sp>
      <p:pic>
        <p:nvPicPr>
          <p:cNvPr id="6" name="图片 5"/>
          <p:cNvPicPr>
            <a:picLocks noChangeAspect="1"/>
          </p:cNvPicPr>
          <p:nvPr/>
        </p:nvPicPr>
        <p:blipFill>
          <a:blip r:embed="rId2"/>
          <a:stretch>
            <a:fillRect/>
          </a:stretch>
        </p:blipFill>
        <p:spPr>
          <a:xfrm>
            <a:off x="4095718" y="2386446"/>
            <a:ext cx="3892750" cy="3086259"/>
          </a:xfrm>
          <a:prstGeom prst="rect">
            <a:avLst/>
          </a:prstGeom>
        </p:spPr>
      </p:pic>
      <p:pic>
        <p:nvPicPr>
          <p:cNvPr id="7" name="图片 6"/>
          <p:cNvPicPr>
            <a:picLocks noChangeAspect="1"/>
          </p:cNvPicPr>
          <p:nvPr/>
        </p:nvPicPr>
        <p:blipFill>
          <a:blip r:embed="rId3"/>
          <a:stretch>
            <a:fillRect/>
          </a:stretch>
        </p:blipFill>
        <p:spPr>
          <a:xfrm>
            <a:off x="8425235" y="3258760"/>
            <a:ext cx="3102135" cy="2213945"/>
          </a:xfrm>
          <a:prstGeom prst="rect">
            <a:avLst/>
          </a:prstGeom>
        </p:spPr>
      </p:pic>
      <p:pic>
        <p:nvPicPr>
          <p:cNvPr id="8" name="图片 7"/>
          <p:cNvPicPr>
            <a:picLocks noChangeAspect="1"/>
          </p:cNvPicPr>
          <p:nvPr/>
        </p:nvPicPr>
        <p:blipFill>
          <a:blip r:embed="rId4"/>
          <a:stretch>
            <a:fillRect/>
          </a:stretch>
        </p:blipFill>
        <p:spPr>
          <a:xfrm>
            <a:off x="713297" y="2386446"/>
            <a:ext cx="2945654" cy="3086259"/>
          </a:xfrm>
          <a:prstGeom prst="rect">
            <a:avLst/>
          </a:prstGeom>
        </p:spPr>
      </p:pic>
    </p:spTree>
    <p:extLst>
      <p:ext uri="{BB962C8B-B14F-4D97-AF65-F5344CB8AC3E}">
        <p14:creationId xmlns:p14="http://schemas.microsoft.com/office/powerpoint/2010/main" val="4101005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6" name="文本框 5"/>
          <p:cNvSpPr txBox="1"/>
          <p:nvPr/>
        </p:nvSpPr>
        <p:spPr>
          <a:xfrm>
            <a:off x="449942" y="376134"/>
            <a:ext cx="11190514" cy="645626"/>
          </a:xfrm>
          <a:prstGeom prst="rect">
            <a:avLst/>
          </a:prstGeom>
          <a:noFill/>
        </p:spPr>
        <p:txBody>
          <a:bodyPr wrap="square" rtlCol="0">
            <a:spAutoFit/>
          </a:bodyPr>
          <a:lstStyle/>
          <a:p>
            <a:pPr algn="ctr">
              <a:lnSpc>
                <a:spcPct val="150000"/>
              </a:lnSpc>
              <a:spcAft>
                <a:spcPts val="1200"/>
              </a:spcAft>
            </a:pPr>
            <a:r>
              <a:rPr lang="en-US" altLang="zh-CN" sz="2400" dirty="0" smtClean="0">
                <a:solidFill>
                  <a:schemeClr val="accent6">
                    <a:lumMod val="75000"/>
                  </a:schemeClr>
                </a:solidFill>
              </a:rPr>
              <a:t>2019</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年</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全国赛</a:t>
            </a:r>
            <a:r>
              <a:rPr lang="en-US" altLang="zh-CN" sz="2400" dirty="0" smtClean="0">
                <a:solidFill>
                  <a:schemeClr val="accent6">
                    <a:lumMod val="75000"/>
                  </a:schemeClr>
                </a:solidFill>
              </a:rPr>
              <a:t>D</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题</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简易电路特性测试仪</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1800" dirty="0" smtClean="0">
                <a:solidFill>
                  <a:schemeClr val="accent6">
                    <a:lumMod val="75000"/>
                  </a:schemeClr>
                </a:solidFill>
              </a:rPr>
              <a:t> </a:t>
            </a:r>
            <a:endParaRPr lang="zh-CN" altLang="zh-CN" sz="2800" dirty="0">
              <a:solidFill>
                <a:schemeClr val="accent6">
                  <a:lumMod val="75000"/>
                </a:schemeClr>
              </a:solidFill>
              <a:latin typeface="隶书" panose="02010509060101010101" pitchFamily="49" charset="-122"/>
              <a:ea typeface="隶书" panose="02010509060101010101" pitchFamily="49" charset="-122"/>
            </a:endParaRPr>
          </a:p>
        </p:txBody>
      </p:sp>
      <p:pic>
        <p:nvPicPr>
          <p:cNvPr id="8" name="图片 7"/>
          <p:cNvPicPr>
            <a:picLocks noChangeAspect="1"/>
          </p:cNvPicPr>
          <p:nvPr/>
        </p:nvPicPr>
        <p:blipFill>
          <a:blip r:embed="rId2"/>
          <a:stretch>
            <a:fillRect/>
          </a:stretch>
        </p:blipFill>
        <p:spPr>
          <a:xfrm>
            <a:off x="7374775" y="1092222"/>
            <a:ext cx="4334623" cy="5023285"/>
          </a:xfrm>
          <a:prstGeom prst="rect">
            <a:avLst/>
          </a:prstGeom>
        </p:spPr>
      </p:pic>
      <p:sp>
        <p:nvSpPr>
          <p:cNvPr id="9" name="文本框 8"/>
          <p:cNvSpPr txBox="1"/>
          <p:nvPr/>
        </p:nvSpPr>
        <p:spPr>
          <a:xfrm>
            <a:off x="449942" y="1021760"/>
            <a:ext cx="6667748" cy="4247317"/>
          </a:xfrm>
          <a:prstGeom prst="rect">
            <a:avLst/>
          </a:prstGeom>
          <a:noFill/>
        </p:spPr>
        <p:txBody>
          <a:bodyPr wrap="square" rtlCol="0">
            <a:spAutoFit/>
          </a:bodyPr>
          <a:lstStyle/>
          <a:p>
            <a:pPr>
              <a:lnSpc>
                <a:spcPct val="150000"/>
              </a:lnSpc>
            </a:pPr>
            <a:r>
              <a:rPr lang="zh-CN" altLang="zh-CN" sz="1800" dirty="0" smtClean="0">
                <a:latin typeface="黑体" panose="02010609060101010101" pitchFamily="49" charset="-122"/>
                <a:ea typeface="黑体" panose="02010609060101010101" pitchFamily="49" charset="-122"/>
              </a:rPr>
              <a:t>一</a:t>
            </a:r>
            <a:r>
              <a:rPr lang="zh-CN" altLang="zh-CN" sz="1800" dirty="0">
                <a:latin typeface="黑体" panose="02010609060101010101" pitchFamily="49" charset="-122"/>
                <a:ea typeface="黑体" panose="02010609060101010101" pitchFamily="49" charset="-122"/>
              </a:rPr>
              <a:t>、任务</a:t>
            </a:r>
          </a:p>
          <a:p>
            <a:pPr indent="457200">
              <a:lnSpc>
                <a:spcPct val="150000"/>
              </a:lnSpc>
            </a:pPr>
            <a:r>
              <a:rPr lang="zh-CN" altLang="en-US" sz="1800" dirty="0"/>
              <a:t>设计并制作一个简易电路特性测试仪。用来测量特定放大器电路的特性，进而判断该放大器由于元器件变化而引起故障或变化的原因。该测试仪仅有一个输入端口和一个输出端口，与特定放大器电路连接</a:t>
            </a:r>
            <a:r>
              <a:rPr lang="zh-CN" altLang="en-US" sz="1800" dirty="0" smtClean="0"/>
              <a:t>如图</a:t>
            </a:r>
            <a:r>
              <a:rPr lang="zh-CN" altLang="en-US" sz="1800" dirty="0"/>
              <a:t>所</a:t>
            </a:r>
            <a:r>
              <a:rPr lang="zh-CN" altLang="en-US" sz="1800" dirty="0" smtClean="0"/>
              <a:t>示</a:t>
            </a:r>
            <a:endParaRPr lang="en-US" altLang="zh-CN" sz="1800" dirty="0" smtClean="0"/>
          </a:p>
          <a:p>
            <a:pPr indent="457200">
              <a:lnSpc>
                <a:spcPct val="150000"/>
              </a:lnSpc>
            </a:pPr>
            <a:r>
              <a:rPr lang="zh-CN" altLang="en-US" sz="1800" dirty="0" smtClean="0"/>
              <a:t>图</a:t>
            </a:r>
            <a:r>
              <a:rPr lang="zh-CN" altLang="en-US" sz="1800" dirty="0"/>
              <a:t>中被测放大器</a:t>
            </a:r>
            <a:r>
              <a:rPr lang="zh-CN" altLang="en-US" sz="1800" dirty="0" smtClean="0"/>
              <a:t>电路</a:t>
            </a:r>
            <a:r>
              <a:rPr lang="zh-CN" altLang="en-US" sz="1800" dirty="0"/>
              <a:t>中</a:t>
            </a:r>
            <a:r>
              <a:rPr lang="zh-CN" altLang="en-US" sz="1800" dirty="0" smtClean="0"/>
              <a:t>，元件</a:t>
            </a:r>
            <a:r>
              <a:rPr lang="zh-CN" altLang="en-US" sz="1800" dirty="0"/>
              <a:t>按电路图布局</a:t>
            </a:r>
            <a:r>
              <a:rPr lang="zh-CN" altLang="en-US" sz="1800" dirty="0" smtClean="0"/>
              <a:t>，确保</a:t>
            </a:r>
            <a:r>
              <a:rPr lang="zh-CN" altLang="en-US" sz="1800" dirty="0"/>
              <a:t>每个元件可以容易替换。电路中采用的电阻相对误差的绝对值不超过</a:t>
            </a:r>
            <a:r>
              <a:rPr lang="en-US" altLang="zh-CN" sz="1800" dirty="0"/>
              <a:t>5%</a:t>
            </a:r>
            <a:r>
              <a:rPr lang="zh-CN" altLang="en-US" sz="1800" dirty="0"/>
              <a:t>，电容相对误差的绝对值不超过</a:t>
            </a:r>
            <a:r>
              <a:rPr lang="en-US" altLang="zh-CN" sz="1800" dirty="0"/>
              <a:t>20%</a:t>
            </a:r>
            <a:r>
              <a:rPr lang="zh-CN" altLang="en-US" sz="1800" dirty="0"/>
              <a:t>。晶体管型号为</a:t>
            </a:r>
            <a:r>
              <a:rPr lang="en-US" altLang="zh-CN" sz="1800" dirty="0"/>
              <a:t>9013</a:t>
            </a:r>
            <a:r>
              <a:rPr lang="zh-CN" altLang="en-US" sz="1800" dirty="0"/>
              <a:t>，其</a:t>
            </a:r>
            <a:r>
              <a:rPr lang="en-US" altLang="zh-CN" sz="1800" dirty="0"/>
              <a:t>β</a:t>
            </a:r>
            <a:r>
              <a:rPr lang="zh-CN" altLang="en-US" sz="1800" dirty="0"/>
              <a:t>在</a:t>
            </a:r>
            <a:r>
              <a:rPr lang="en-US" altLang="zh-CN" sz="1800" dirty="0"/>
              <a:t>60~300</a:t>
            </a:r>
            <a:r>
              <a:rPr lang="zh-CN" altLang="en-US" sz="1800" dirty="0"/>
              <a:t>之间皆可。电路特性测试仪的输出端口接放大器的输入端</a:t>
            </a:r>
            <a:r>
              <a:rPr lang="en-US" altLang="zh-CN" sz="1800" i="1" dirty="0" err="1"/>
              <a:t>U</a:t>
            </a:r>
            <a:r>
              <a:rPr lang="en-US" altLang="zh-CN" sz="1800" i="1" baseline="-25000" dirty="0" err="1"/>
              <a:t>i</a:t>
            </a:r>
            <a:r>
              <a:rPr lang="zh-CN" altLang="en-US" sz="1800" dirty="0"/>
              <a:t>，电路特性测试仪的输入端口接放大器的输出端</a:t>
            </a:r>
            <a:r>
              <a:rPr lang="en-US" altLang="zh-CN" sz="1800" i="1" dirty="0" err="1"/>
              <a:t>U</a:t>
            </a:r>
            <a:r>
              <a:rPr lang="en-US" altLang="zh-CN" sz="1800" i="1" baseline="-25000" dirty="0" err="1"/>
              <a:t>o</a:t>
            </a:r>
            <a:endParaRPr lang="zh-CN" altLang="en-US" sz="1800" i="1" baseline="-25000" dirty="0"/>
          </a:p>
        </p:txBody>
      </p:sp>
    </p:spTree>
    <p:extLst>
      <p:ext uri="{BB962C8B-B14F-4D97-AF65-F5344CB8AC3E}">
        <p14:creationId xmlns:p14="http://schemas.microsoft.com/office/powerpoint/2010/main" val="18835763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文本框 4"/>
          <p:cNvSpPr txBox="1"/>
          <p:nvPr/>
        </p:nvSpPr>
        <p:spPr>
          <a:xfrm>
            <a:off x="351130" y="380390"/>
            <a:ext cx="11470455" cy="5945282"/>
          </a:xfrm>
          <a:prstGeom prst="rect">
            <a:avLst/>
          </a:prstGeom>
          <a:noFill/>
        </p:spPr>
        <p:txBody>
          <a:bodyPr wrap="square" rtlCol="0">
            <a:spAutoFit/>
          </a:bodyPr>
          <a:lstStyle/>
          <a:p>
            <a:pPr>
              <a:lnSpc>
                <a:spcPct val="125000"/>
              </a:lnSpc>
            </a:pPr>
            <a:r>
              <a:rPr lang="zh-CN" altLang="en-US" sz="1800" dirty="0"/>
              <a:t>二、要求</a:t>
            </a:r>
          </a:p>
          <a:p>
            <a:pPr>
              <a:lnSpc>
                <a:spcPct val="125000"/>
              </a:lnSpc>
            </a:pPr>
            <a:r>
              <a:rPr lang="en-US" altLang="zh-CN" sz="1800" dirty="0"/>
              <a:t>1. </a:t>
            </a:r>
            <a:r>
              <a:rPr lang="zh-CN" altLang="en-US" sz="1800" dirty="0"/>
              <a:t>基本要求</a:t>
            </a:r>
          </a:p>
          <a:p>
            <a:pPr lvl="1">
              <a:lnSpc>
                <a:spcPct val="125000"/>
              </a:lnSpc>
            </a:pPr>
            <a:r>
              <a:rPr lang="zh-CN" altLang="en-US" sz="1800" dirty="0"/>
              <a:t>（</a:t>
            </a:r>
            <a:r>
              <a:rPr lang="en-US" altLang="zh-CN" sz="1800" dirty="0"/>
              <a:t>1</a:t>
            </a:r>
            <a:r>
              <a:rPr lang="zh-CN" altLang="en-US" sz="1800" dirty="0"/>
              <a:t>）电路特性测试仪输出</a:t>
            </a:r>
            <a:r>
              <a:rPr lang="en-US" altLang="zh-CN" sz="1800" dirty="0"/>
              <a:t>1kHz</a:t>
            </a:r>
            <a:r>
              <a:rPr lang="zh-CN" altLang="en-US" sz="1800" dirty="0"/>
              <a:t>正弦波信号，自动测量并显示该放大器的输入电阻。输入电阻测量范围</a:t>
            </a:r>
            <a:r>
              <a:rPr lang="en-US" altLang="zh-CN" sz="1800" dirty="0"/>
              <a:t>1kΩ~50kΩ</a:t>
            </a:r>
            <a:r>
              <a:rPr lang="zh-CN" altLang="en-US" sz="1800" dirty="0"/>
              <a:t>，相对误差的绝对值不超过</a:t>
            </a:r>
            <a:r>
              <a:rPr lang="en-US" altLang="zh-CN" sz="1800" dirty="0"/>
              <a:t>10%</a:t>
            </a:r>
            <a:r>
              <a:rPr lang="zh-CN" altLang="en-US" sz="1800" dirty="0"/>
              <a:t>。</a:t>
            </a:r>
          </a:p>
          <a:p>
            <a:pPr lvl="1">
              <a:lnSpc>
                <a:spcPct val="125000"/>
              </a:lnSpc>
            </a:pPr>
            <a:r>
              <a:rPr lang="zh-CN" altLang="en-US" sz="1800" dirty="0"/>
              <a:t>（</a:t>
            </a:r>
            <a:r>
              <a:rPr lang="en-US" altLang="zh-CN" sz="1800" dirty="0"/>
              <a:t>2</a:t>
            </a:r>
            <a:r>
              <a:rPr lang="zh-CN" altLang="en-US" sz="1800" dirty="0"/>
              <a:t>）电路特性测试仪输出</a:t>
            </a:r>
            <a:r>
              <a:rPr lang="en-US" altLang="zh-CN" sz="1800" dirty="0"/>
              <a:t>1kHz</a:t>
            </a:r>
            <a:r>
              <a:rPr lang="zh-CN" altLang="en-US" sz="1800" dirty="0"/>
              <a:t>正弦波信号，自动测量并显示该放大器的输出电阻。输出电阻测量范围</a:t>
            </a:r>
            <a:r>
              <a:rPr lang="en-US" altLang="zh-CN" sz="1800" dirty="0"/>
              <a:t>500Ω~5kΩ</a:t>
            </a:r>
            <a:r>
              <a:rPr lang="zh-CN" altLang="en-US" sz="1800" dirty="0"/>
              <a:t>，相对误差的绝对值不超过</a:t>
            </a:r>
            <a:r>
              <a:rPr lang="en-US" altLang="zh-CN" sz="1800" dirty="0"/>
              <a:t>10%</a:t>
            </a:r>
            <a:r>
              <a:rPr lang="zh-CN" altLang="en-US" sz="1800" dirty="0"/>
              <a:t>。</a:t>
            </a:r>
          </a:p>
          <a:p>
            <a:pPr lvl="1">
              <a:lnSpc>
                <a:spcPct val="125000"/>
              </a:lnSpc>
            </a:pPr>
            <a:r>
              <a:rPr lang="zh-CN" altLang="en-US" sz="1800" dirty="0"/>
              <a:t>（</a:t>
            </a:r>
            <a:r>
              <a:rPr lang="en-US" altLang="zh-CN" sz="1800" dirty="0"/>
              <a:t>3</a:t>
            </a:r>
            <a:r>
              <a:rPr lang="zh-CN" altLang="en-US" sz="1800" dirty="0"/>
              <a:t>）自动测量并显示该放大器在输入</a:t>
            </a:r>
            <a:r>
              <a:rPr lang="en-US" altLang="zh-CN" sz="1800" dirty="0"/>
              <a:t>1kHz </a:t>
            </a:r>
            <a:r>
              <a:rPr lang="zh-CN" altLang="en-US" sz="1800" dirty="0"/>
              <a:t>频率时的增益。相对误差的绝对值不超过</a:t>
            </a:r>
            <a:r>
              <a:rPr lang="en-US" altLang="zh-CN" sz="1800" dirty="0"/>
              <a:t>10%</a:t>
            </a:r>
            <a:r>
              <a:rPr lang="zh-CN" altLang="en-US" sz="1800" dirty="0"/>
              <a:t>。</a:t>
            </a:r>
          </a:p>
          <a:p>
            <a:pPr lvl="1">
              <a:lnSpc>
                <a:spcPct val="125000"/>
              </a:lnSpc>
            </a:pPr>
            <a:r>
              <a:rPr lang="zh-CN" altLang="en-US" sz="1800" dirty="0"/>
              <a:t>（</a:t>
            </a:r>
            <a:r>
              <a:rPr lang="en-US" altLang="zh-CN" sz="1800" dirty="0"/>
              <a:t>4</a:t>
            </a:r>
            <a:r>
              <a:rPr lang="zh-CN" altLang="en-US" sz="1800" dirty="0"/>
              <a:t>）自动测量并显示该放大器的频幅特性曲线。显示上限频率值，相对误差的绝对值不超过</a:t>
            </a:r>
            <a:r>
              <a:rPr lang="en-US" altLang="zh-CN" sz="1800" dirty="0"/>
              <a:t>25%</a:t>
            </a:r>
            <a:r>
              <a:rPr lang="zh-CN" altLang="en-US" sz="1800" dirty="0"/>
              <a:t>。</a:t>
            </a:r>
          </a:p>
          <a:p>
            <a:pPr>
              <a:lnSpc>
                <a:spcPct val="125000"/>
              </a:lnSpc>
            </a:pPr>
            <a:r>
              <a:rPr lang="en-US" altLang="zh-CN" sz="1800" dirty="0"/>
              <a:t>2. </a:t>
            </a:r>
            <a:r>
              <a:rPr lang="zh-CN" altLang="en-US" sz="1800" dirty="0"/>
              <a:t>发挥部分</a:t>
            </a:r>
          </a:p>
          <a:p>
            <a:pPr lvl="1">
              <a:lnSpc>
                <a:spcPct val="125000"/>
              </a:lnSpc>
            </a:pPr>
            <a:r>
              <a:rPr lang="zh-CN" altLang="en-US" sz="1800" dirty="0"/>
              <a:t>（</a:t>
            </a:r>
            <a:r>
              <a:rPr lang="en-US" altLang="zh-CN" sz="1800" dirty="0"/>
              <a:t>1</a:t>
            </a:r>
            <a:r>
              <a:rPr lang="zh-CN" altLang="en-US" sz="1800" dirty="0"/>
              <a:t>）该电路特性测试仪能判断放大器电路元器件变化而引起故障或变化的原因。任意开路或短路</a:t>
            </a:r>
            <a:r>
              <a:rPr lang="en-US" altLang="zh-CN" sz="1800" dirty="0"/>
              <a:t>R1~R4</a:t>
            </a:r>
            <a:r>
              <a:rPr lang="zh-CN" altLang="en-US" sz="1800" dirty="0"/>
              <a:t>中的一个电阻，电路特性测试仪能够判断并显示故障原因。</a:t>
            </a:r>
          </a:p>
          <a:p>
            <a:pPr lvl="1">
              <a:lnSpc>
                <a:spcPct val="125000"/>
              </a:lnSpc>
            </a:pPr>
            <a:r>
              <a:rPr lang="zh-CN" altLang="en-US" sz="1800" dirty="0"/>
              <a:t>（</a:t>
            </a:r>
            <a:r>
              <a:rPr lang="en-US" altLang="zh-CN" sz="1800" dirty="0"/>
              <a:t>2</a:t>
            </a:r>
            <a:r>
              <a:rPr lang="zh-CN" altLang="en-US" sz="1800" dirty="0"/>
              <a:t>）任意开路</a:t>
            </a:r>
            <a:r>
              <a:rPr lang="en-US" altLang="zh-CN" sz="1800" dirty="0"/>
              <a:t>C1~C3</a:t>
            </a:r>
            <a:r>
              <a:rPr lang="zh-CN" altLang="en-US" sz="1800" dirty="0"/>
              <a:t>中的一个电容，电路特性测试仪能够判断并显示故障原因。</a:t>
            </a:r>
          </a:p>
          <a:p>
            <a:pPr lvl="1">
              <a:lnSpc>
                <a:spcPct val="125000"/>
              </a:lnSpc>
            </a:pPr>
            <a:r>
              <a:rPr lang="zh-CN" altLang="en-US" sz="1800" dirty="0"/>
              <a:t>（</a:t>
            </a:r>
            <a:r>
              <a:rPr lang="en-US" altLang="zh-CN" sz="1800" dirty="0"/>
              <a:t>3</a:t>
            </a:r>
            <a:r>
              <a:rPr lang="zh-CN" altLang="en-US" sz="1800" dirty="0"/>
              <a:t>）任意增大</a:t>
            </a:r>
            <a:r>
              <a:rPr lang="en-US" altLang="zh-CN" sz="1800" dirty="0"/>
              <a:t>C1~C3</a:t>
            </a:r>
            <a:r>
              <a:rPr lang="zh-CN" altLang="en-US" sz="1800" dirty="0"/>
              <a:t>中的一个电容的容量，使其达到原来值的两倍。电路特性测试仪能够判断并显示该变化的原因。</a:t>
            </a:r>
          </a:p>
          <a:p>
            <a:pPr lvl="1">
              <a:lnSpc>
                <a:spcPct val="125000"/>
              </a:lnSpc>
            </a:pPr>
            <a:r>
              <a:rPr lang="zh-CN" altLang="en-US" sz="1800" dirty="0"/>
              <a:t>（</a:t>
            </a:r>
            <a:r>
              <a:rPr lang="en-US" altLang="zh-CN" sz="1800" dirty="0"/>
              <a:t>4</a:t>
            </a:r>
            <a:r>
              <a:rPr lang="zh-CN" altLang="en-US" sz="1800" dirty="0"/>
              <a:t>）在判断准确的前提下，提高判断速度，每项判断时间不超过</a:t>
            </a:r>
            <a:r>
              <a:rPr lang="en-US" altLang="zh-CN" sz="1800" dirty="0"/>
              <a:t>2</a:t>
            </a:r>
            <a:r>
              <a:rPr lang="zh-CN" altLang="en-US" sz="1800" dirty="0"/>
              <a:t>秒。</a:t>
            </a:r>
          </a:p>
          <a:p>
            <a:pPr lvl="1">
              <a:lnSpc>
                <a:spcPct val="125000"/>
              </a:lnSpc>
            </a:pPr>
            <a:r>
              <a:rPr lang="zh-CN" altLang="en-US" sz="1800" dirty="0"/>
              <a:t>（</a:t>
            </a:r>
            <a:r>
              <a:rPr lang="en-US" altLang="zh-CN" sz="1800" dirty="0"/>
              <a:t>5</a:t>
            </a:r>
            <a:r>
              <a:rPr lang="zh-CN" altLang="en-US" sz="1800" dirty="0"/>
              <a:t>）其他</a:t>
            </a:r>
            <a:r>
              <a:rPr lang="zh-CN" altLang="en-US" sz="1800" dirty="0" smtClean="0"/>
              <a:t>。</a:t>
            </a:r>
            <a:endParaRPr lang="en-US" altLang="zh-CN" sz="1800" dirty="0" smtClean="0"/>
          </a:p>
          <a:p>
            <a:pPr>
              <a:lnSpc>
                <a:spcPct val="125000"/>
              </a:lnSpc>
            </a:pPr>
            <a:r>
              <a:rPr lang="zh-CN" altLang="en-US" sz="1800" dirty="0" smtClean="0"/>
              <a:t>电路</a:t>
            </a:r>
            <a:r>
              <a:rPr lang="zh-CN" altLang="en-US" sz="1800" dirty="0"/>
              <a:t>特性测试仪能全程自动完成，中途不得人工介入设置测试仪。</a:t>
            </a:r>
            <a:endParaRPr lang="zh-CN" altLang="en-US" sz="1600" dirty="0"/>
          </a:p>
        </p:txBody>
      </p:sp>
    </p:spTree>
    <p:extLst>
      <p:ext uri="{BB962C8B-B14F-4D97-AF65-F5344CB8AC3E}">
        <p14:creationId xmlns:p14="http://schemas.microsoft.com/office/powerpoint/2010/main" val="28184974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40</a:t>
            </a:fld>
            <a:endParaRPr lang="en-US" altLang="zh-CN">
              <a:solidFill>
                <a:srgbClr val="FFFFFF"/>
              </a:solidFill>
            </a:endParaRPr>
          </a:p>
        </p:txBody>
      </p:sp>
      <p:sp>
        <p:nvSpPr>
          <p:cNvPr id="5" name="矩形 4"/>
          <p:cNvSpPr/>
          <p:nvPr/>
        </p:nvSpPr>
        <p:spPr>
          <a:xfrm>
            <a:off x="348345" y="463574"/>
            <a:ext cx="11473240" cy="5724644"/>
          </a:xfrm>
          <a:prstGeom prst="rect">
            <a:avLst/>
          </a:prstGeom>
        </p:spPr>
        <p:txBody>
          <a:bodyPr wrap="square">
            <a:spAutoFit/>
          </a:bodyPr>
          <a:lstStyle/>
          <a:p>
            <a:pPr algn="ctr">
              <a:lnSpc>
                <a:spcPct val="150000"/>
              </a:lnSpc>
            </a:pPr>
            <a:r>
              <a:rPr lang="zh-CN" altLang="zh-CN" sz="2800" dirty="0">
                <a:solidFill>
                  <a:schemeClr val="accent6">
                    <a:lumMod val="75000"/>
                  </a:schemeClr>
                </a:solidFill>
                <a:latin typeface="隶书" panose="02010509060101010101" pitchFamily="49" charset="-122"/>
                <a:ea typeface="隶书" panose="02010509060101010101" pitchFamily="49" charset="-122"/>
              </a:rPr>
              <a:t>题目</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分析</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与解决方案</a:t>
            </a:r>
          </a:p>
          <a:p>
            <a:pPr indent="457200">
              <a:lnSpc>
                <a:spcPct val="150000"/>
              </a:lnSpc>
            </a:pPr>
            <a:r>
              <a:rPr lang="zh-CN" altLang="en-US" sz="1800" dirty="0" smtClean="0"/>
              <a:t>本题</a:t>
            </a:r>
            <a:r>
              <a:rPr lang="zh-CN" altLang="en-US" sz="1800" dirty="0" smtClean="0"/>
              <a:t>目</a:t>
            </a:r>
            <a:r>
              <a:rPr lang="zh-CN" altLang="en-US" sz="1800" dirty="0"/>
              <a:t>基本要求是：输入电阻、输出电阻、增益、幅频特性曲线</a:t>
            </a:r>
            <a:r>
              <a:rPr lang="zh-CN" altLang="en-US" sz="1800" dirty="0" smtClean="0"/>
              <a:t>。</a:t>
            </a:r>
            <a:endParaRPr lang="en-US" altLang="zh-CN" sz="1800" dirty="0" smtClean="0"/>
          </a:p>
          <a:p>
            <a:pPr marL="285750" indent="-285750">
              <a:lnSpc>
                <a:spcPct val="150000"/>
              </a:lnSpc>
              <a:buFont typeface="Arial" panose="020B0604020202020204" pitchFamily="34" charset="0"/>
              <a:buChar char="•"/>
            </a:pPr>
            <a:r>
              <a:rPr lang="zh-CN" altLang="en-US" sz="1800" dirty="0" smtClean="0"/>
              <a:t>放大器</a:t>
            </a:r>
            <a:r>
              <a:rPr lang="zh-CN" altLang="en-US" sz="1800" dirty="0"/>
              <a:t>的输入电阻和</a:t>
            </a:r>
            <a:r>
              <a:rPr lang="zh-CN" altLang="en-US" sz="1800" dirty="0" smtClean="0"/>
              <a:t>增益：</a:t>
            </a:r>
            <a:endParaRPr lang="en-US" altLang="zh-CN" sz="1800" dirty="0" smtClean="0"/>
          </a:p>
          <a:p>
            <a:pPr lvl="1">
              <a:lnSpc>
                <a:spcPct val="150000"/>
              </a:lnSpc>
            </a:pPr>
            <a:r>
              <a:rPr lang="zh-CN" altLang="en-US" sz="1800" dirty="0" smtClean="0"/>
              <a:t>测</a:t>
            </a:r>
            <a:r>
              <a:rPr lang="zh-CN" altLang="en-US" sz="1800" dirty="0"/>
              <a:t>得放大器输入端的信号电压、流进放大器的信号电流以及放大器输出端的信号电压即</a:t>
            </a:r>
            <a:r>
              <a:rPr lang="zh-CN" altLang="en-US" sz="1800" dirty="0" smtClean="0"/>
              <a:t>可</a:t>
            </a:r>
            <a:endParaRPr lang="zh-CN" altLang="en-US" sz="1800" dirty="0"/>
          </a:p>
          <a:p>
            <a:pPr marL="285750" indent="-285750">
              <a:lnSpc>
                <a:spcPct val="150000"/>
              </a:lnSpc>
              <a:buFont typeface="Arial" panose="020B0604020202020204" pitchFamily="34" charset="0"/>
              <a:buChar char="•"/>
            </a:pPr>
            <a:r>
              <a:rPr lang="zh-CN" altLang="en-US" sz="1800" dirty="0" smtClean="0"/>
              <a:t>放大器</a:t>
            </a:r>
            <a:r>
              <a:rPr lang="zh-CN" altLang="en-US" sz="1800" dirty="0"/>
              <a:t>的</a:t>
            </a:r>
            <a:r>
              <a:rPr lang="zh-CN" altLang="en-US" sz="1800" dirty="0" smtClean="0"/>
              <a:t>输出电阻：</a:t>
            </a:r>
            <a:endParaRPr lang="en-US" altLang="zh-CN" sz="1800" dirty="0" smtClean="0"/>
          </a:p>
          <a:p>
            <a:pPr lvl="1">
              <a:lnSpc>
                <a:spcPct val="150000"/>
              </a:lnSpc>
            </a:pPr>
            <a:r>
              <a:rPr lang="zh-CN" altLang="en-US" sz="1800" dirty="0" smtClean="0"/>
              <a:t>在</a:t>
            </a:r>
            <a:r>
              <a:rPr lang="zh-CN" altLang="en-US" sz="1800" dirty="0"/>
              <a:t>放大器输出端并联一个假负载电阻</a:t>
            </a:r>
            <a:r>
              <a:rPr lang="zh-CN" altLang="en-US" sz="1800" dirty="0" smtClean="0"/>
              <a:t>，测试变脸假负载前后的输出电压变化，可以计算输出电阻</a:t>
            </a:r>
            <a:endParaRPr lang="en-US" altLang="zh-CN" sz="1800" dirty="0" smtClean="0"/>
          </a:p>
          <a:p>
            <a:pPr lvl="1">
              <a:lnSpc>
                <a:spcPct val="150000"/>
              </a:lnSpc>
            </a:pPr>
            <a:r>
              <a:rPr lang="zh-CN" altLang="en-US" sz="1800" dirty="0" smtClean="0"/>
              <a:t>为了避免模拟</a:t>
            </a:r>
            <a:r>
              <a:rPr lang="zh-CN" altLang="en-US" sz="1800" dirty="0"/>
              <a:t>开关内阻可能影响测试精确度，可同时测量输出电压和流过假负载的电流，则可将模拟开关的内阻纳入</a:t>
            </a:r>
            <a:r>
              <a:rPr lang="zh-CN" altLang="en-US" sz="1800" dirty="0" smtClean="0"/>
              <a:t>假负载之内</a:t>
            </a:r>
            <a:endParaRPr lang="zh-CN" altLang="en-US" sz="1800" dirty="0"/>
          </a:p>
          <a:p>
            <a:pPr marL="285750" indent="-285750">
              <a:lnSpc>
                <a:spcPct val="150000"/>
              </a:lnSpc>
              <a:buFont typeface="Arial" panose="020B0604020202020204" pitchFamily="34" charset="0"/>
              <a:buChar char="•"/>
            </a:pPr>
            <a:r>
              <a:rPr lang="zh-CN" altLang="en-US" sz="1800" dirty="0" smtClean="0"/>
              <a:t>测试信号源：</a:t>
            </a:r>
            <a:endParaRPr lang="en-US" altLang="zh-CN" sz="1800" dirty="0" smtClean="0"/>
          </a:p>
          <a:p>
            <a:pPr lvl="1">
              <a:lnSpc>
                <a:spcPct val="150000"/>
              </a:lnSpc>
            </a:pPr>
            <a:r>
              <a:rPr lang="zh-CN" altLang="en-US" sz="1800" dirty="0" smtClean="0"/>
              <a:t>信号</a:t>
            </a:r>
            <a:r>
              <a:rPr lang="zh-CN" altLang="en-US" sz="1800" dirty="0"/>
              <a:t>源输出正弦波测试信号，波形</a:t>
            </a:r>
            <a:r>
              <a:rPr lang="zh-CN" altLang="en-US" sz="1800" dirty="0" smtClean="0"/>
              <a:t>越纯越好，其</a:t>
            </a:r>
            <a:r>
              <a:rPr lang="zh-CN" altLang="en-US" sz="1800" dirty="0"/>
              <a:t>频率范围应该满足幅频特性测试的</a:t>
            </a:r>
            <a:r>
              <a:rPr lang="zh-CN" altLang="en-US" sz="1800" dirty="0" smtClean="0"/>
              <a:t>要求</a:t>
            </a:r>
            <a:endParaRPr lang="en-US" altLang="zh-CN" sz="1800" dirty="0" smtClean="0"/>
          </a:p>
          <a:p>
            <a:pPr lvl="1">
              <a:lnSpc>
                <a:spcPct val="150000"/>
              </a:lnSpc>
            </a:pPr>
            <a:r>
              <a:rPr lang="zh-CN" altLang="en-US" sz="1800" dirty="0" smtClean="0"/>
              <a:t>由于</a:t>
            </a:r>
            <a:r>
              <a:rPr lang="zh-CN" altLang="en-US" sz="1800" dirty="0"/>
              <a:t>同时测试待测放大器的输入输出，所以该信号源的幅度平坦度没有很高要求。可采用</a:t>
            </a:r>
            <a:r>
              <a:rPr lang="en-US" altLang="zh-CN" sz="1800" dirty="0"/>
              <a:t>DDS </a:t>
            </a:r>
            <a:r>
              <a:rPr lang="zh-CN" altLang="en-US" sz="1800" dirty="0"/>
              <a:t>信号发生器，也可以采用通过变换电阻改变频率的</a:t>
            </a:r>
            <a:r>
              <a:rPr lang="en-US" altLang="zh-CN" sz="1800" dirty="0"/>
              <a:t>RC </a:t>
            </a:r>
            <a:r>
              <a:rPr lang="zh-CN" altLang="en-US" sz="1800" dirty="0"/>
              <a:t>正弦振荡器。前者可以有极小的频率步进值，后者只能有限的多个频率值。</a:t>
            </a:r>
            <a:endParaRPr lang="en-US" altLang="zh-CN" sz="1100" dirty="0"/>
          </a:p>
        </p:txBody>
      </p:sp>
    </p:spTree>
    <p:extLst>
      <p:ext uri="{BB962C8B-B14F-4D97-AF65-F5344CB8AC3E}">
        <p14:creationId xmlns:p14="http://schemas.microsoft.com/office/powerpoint/2010/main" val="26008481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41</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1512335" y="558469"/>
            <a:ext cx="8853303" cy="3246480"/>
          </a:xfrm>
          <a:prstGeom prst="rect">
            <a:avLst/>
          </a:prstGeom>
        </p:spPr>
      </p:pic>
      <p:sp>
        <p:nvSpPr>
          <p:cNvPr id="6" name="文本框 5"/>
          <p:cNvSpPr txBox="1"/>
          <p:nvPr/>
        </p:nvSpPr>
        <p:spPr>
          <a:xfrm>
            <a:off x="445271" y="3804949"/>
            <a:ext cx="11376313"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800" dirty="0"/>
              <a:t>A1 </a:t>
            </a:r>
            <a:r>
              <a:rPr lang="zh-CN" altLang="en-US" sz="1800" dirty="0" smtClean="0"/>
              <a:t>，检测</a:t>
            </a:r>
            <a:r>
              <a:rPr lang="zh-CN" altLang="en-US" sz="1800" dirty="0"/>
              <a:t>信号源输出电压</a:t>
            </a:r>
            <a:r>
              <a:rPr lang="en-US" altLang="zh-CN" sz="1800" i="1" dirty="0"/>
              <a:t>V1</a:t>
            </a:r>
            <a:r>
              <a:rPr lang="zh-CN" altLang="en-US" sz="1800" dirty="0"/>
              <a:t>（若能保证信号源的输出电压稳定，例如用</a:t>
            </a:r>
            <a:r>
              <a:rPr lang="en-US" altLang="zh-CN" sz="1800" dirty="0"/>
              <a:t>DDS </a:t>
            </a:r>
            <a:r>
              <a:rPr lang="zh-CN" altLang="en-US" sz="1800" dirty="0"/>
              <a:t>信号源</a:t>
            </a:r>
            <a:r>
              <a:rPr lang="zh-CN" altLang="en-US" sz="1800" dirty="0" smtClean="0"/>
              <a:t>，可</a:t>
            </a:r>
            <a:r>
              <a:rPr lang="zh-CN" altLang="en-US" sz="1800" dirty="0"/>
              <a:t>省略此放大器</a:t>
            </a:r>
            <a:r>
              <a:rPr lang="zh-CN" altLang="en-US" sz="1800" dirty="0" smtClean="0"/>
              <a:t>）</a:t>
            </a:r>
            <a:endParaRPr lang="en-US" altLang="zh-CN" sz="1800" dirty="0" smtClean="0"/>
          </a:p>
          <a:p>
            <a:pPr marL="285750" indent="-285750">
              <a:lnSpc>
                <a:spcPct val="150000"/>
              </a:lnSpc>
              <a:buFont typeface="Arial" panose="020B0604020202020204" pitchFamily="34" charset="0"/>
              <a:buChar char="•"/>
            </a:pPr>
            <a:r>
              <a:rPr lang="en-US" altLang="zh-CN" sz="1800" dirty="0" smtClean="0"/>
              <a:t>A2</a:t>
            </a:r>
            <a:r>
              <a:rPr lang="zh-CN" altLang="en-US" sz="1800" dirty="0" smtClean="0"/>
              <a:t>，</a:t>
            </a:r>
            <a:r>
              <a:rPr lang="en-US" altLang="zh-CN" sz="1800" dirty="0" smtClean="0"/>
              <a:t> </a:t>
            </a:r>
            <a:r>
              <a:rPr lang="zh-CN" altLang="en-US" sz="1800" dirty="0"/>
              <a:t>检测被测放大器输入电压</a:t>
            </a:r>
            <a:r>
              <a:rPr lang="en-US" altLang="zh-CN" sz="1800" i="1" dirty="0" smtClean="0"/>
              <a:t>V2</a:t>
            </a:r>
            <a:r>
              <a:rPr lang="zh-CN" altLang="en-US" sz="1800" dirty="0"/>
              <a:t>。</a:t>
            </a:r>
            <a:r>
              <a:rPr lang="en-US" altLang="zh-CN" sz="1800" dirty="0" smtClean="0"/>
              <a:t>V1-V2/R</a:t>
            </a:r>
            <a:r>
              <a:rPr lang="en-US" altLang="zh-CN" sz="1800" baseline="-25000" dirty="0" smtClean="0"/>
              <a:t>CL</a:t>
            </a:r>
            <a:r>
              <a:rPr lang="en-US" altLang="zh-CN" sz="1800" dirty="0" smtClean="0"/>
              <a:t> </a:t>
            </a:r>
            <a:r>
              <a:rPr lang="zh-CN" altLang="en-US" sz="1800" dirty="0"/>
              <a:t>就是被测放大器的输入</a:t>
            </a:r>
            <a:r>
              <a:rPr lang="zh-CN" altLang="en-US" sz="1800" dirty="0" smtClean="0"/>
              <a:t>电流</a:t>
            </a:r>
            <a:endParaRPr lang="en-US" altLang="zh-CN" sz="1800" dirty="0" smtClean="0"/>
          </a:p>
          <a:p>
            <a:pPr marL="285750" indent="-285750">
              <a:lnSpc>
                <a:spcPct val="150000"/>
              </a:lnSpc>
              <a:buFont typeface="Arial" panose="020B0604020202020204" pitchFamily="34" charset="0"/>
              <a:buChar char="•"/>
            </a:pPr>
            <a:r>
              <a:rPr lang="en-US" altLang="zh-CN" sz="1800" dirty="0" smtClean="0"/>
              <a:t>A3</a:t>
            </a:r>
            <a:r>
              <a:rPr lang="zh-CN" altLang="en-US" sz="1800" dirty="0" smtClean="0"/>
              <a:t>，</a:t>
            </a:r>
            <a:r>
              <a:rPr lang="en-US" altLang="zh-CN" sz="1800" dirty="0" smtClean="0"/>
              <a:t> </a:t>
            </a:r>
            <a:r>
              <a:rPr lang="zh-CN" altLang="en-US" sz="1800" dirty="0"/>
              <a:t>测试被测放大器输出电压</a:t>
            </a:r>
            <a:r>
              <a:rPr lang="en-US" altLang="zh-CN" sz="1800" i="1" dirty="0" smtClean="0"/>
              <a:t>V3</a:t>
            </a:r>
            <a:endParaRPr lang="en-US" altLang="zh-CN" sz="1800" dirty="0" smtClean="0"/>
          </a:p>
          <a:p>
            <a:pPr marL="285750" indent="-285750">
              <a:lnSpc>
                <a:spcPct val="150000"/>
              </a:lnSpc>
              <a:buFont typeface="Arial" panose="020B0604020202020204" pitchFamily="34" charset="0"/>
              <a:buChar char="•"/>
            </a:pPr>
            <a:r>
              <a:rPr lang="en-US" altLang="zh-CN" sz="1800" dirty="0" smtClean="0"/>
              <a:t>A4</a:t>
            </a:r>
            <a:r>
              <a:rPr lang="zh-CN" altLang="en-US" sz="1800" dirty="0" smtClean="0"/>
              <a:t>，</a:t>
            </a:r>
            <a:r>
              <a:rPr lang="en-US" altLang="zh-CN" sz="1800" dirty="0" smtClean="0"/>
              <a:t> </a:t>
            </a:r>
            <a:r>
              <a:rPr lang="zh-CN" altLang="en-US" sz="1800" dirty="0"/>
              <a:t>检测假负载上的压降</a:t>
            </a:r>
            <a:r>
              <a:rPr lang="en-US" altLang="zh-CN" sz="1800" i="1" dirty="0"/>
              <a:t>V4</a:t>
            </a:r>
            <a:r>
              <a:rPr lang="zh-CN" altLang="en-US" sz="1800" dirty="0"/>
              <a:t>，将它除以</a:t>
            </a:r>
            <a:r>
              <a:rPr lang="en-US" altLang="zh-CN" sz="1800" dirty="0"/>
              <a:t>R</a:t>
            </a:r>
            <a:r>
              <a:rPr lang="en-US" altLang="zh-CN" sz="1800" baseline="-25000" dirty="0"/>
              <a:t>FL</a:t>
            </a:r>
            <a:r>
              <a:rPr lang="en-US" altLang="zh-CN" sz="1800" dirty="0"/>
              <a:t> </a:t>
            </a:r>
            <a:r>
              <a:rPr lang="zh-CN" altLang="en-US" sz="1800" dirty="0"/>
              <a:t>就是流过包括模拟开关在内的假负载的</a:t>
            </a:r>
            <a:r>
              <a:rPr lang="zh-CN" altLang="en-US" sz="1800" dirty="0" smtClean="0"/>
              <a:t>电流</a:t>
            </a:r>
            <a:endParaRPr lang="en-US" altLang="zh-CN" sz="1800" dirty="0" smtClean="0"/>
          </a:p>
          <a:p>
            <a:pPr lvl="1">
              <a:lnSpc>
                <a:spcPct val="150000"/>
              </a:lnSpc>
            </a:pPr>
            <a:r>
              <a:rPr lang="zh-CN" altLang="en-US" sz="1800" dirty="0" smtClean="0"/>
              <a:t>以上</a:t>
            </a:r>
            <a:r>
              <a:rPr lang="en-US" altLang="zh-CN" sz="1800" dirty="0"/>
              <a:t>4 </a:t>
            </a:r>
            <a:r>
              <a:rPr lang="zh-CN" altLang="en-US" sz="1800" dirty="0"/>
              <a:t>个放大器都是交流放大器，实际检测的是交流信号的峰值，所以还应该有检波</a:t>
            </a:r>
            <a:r>
              <a:rPr lang="zh-CN" altLang="en-US" sz="1800" dirty="0" smtClean="0"/>
              <a:t>电路</a:t>
            </a:r>
            <a:endParaRPr lang="en-US" altLang="zh-CN" sz="1800" dirty="0" smtClean="0"/>
          </a:p>
          <a:p>
            <a:pPr marL="285750" indent="-285750">
              <a:lnSpc>
                <a:spcPct val="150000"/>
              </a:lnSpc>
              <a:buFont typeface="Arial" panose="020B0604020202020204" pitchFamily="34" charset="0"/>
              <a:buChar char="•"/>
            </a:pPr>
            <a:r>
              <a:rPr lang="en-US" altLang="zh-CN" sz="1800" dirty="0" smtClean="0"/>
              <a:t>A5 </a:t>
            </a:r>
            <a:r>
              <a:rPr lang="zh-CN" altLang="en-US" sz="1800" dirty="0" smtClean="0"/>
              <a:t>，检测</a:t>
            </a:r>
            <a:r>
              <a:rPr lang="zh-CN" altLang="en-US" sz="1800" dirty="0"/>
              <a:t>被测放大器中晶体管的集电极电压</a:t>
            </a:r>
            <a:r>
              <a:rPr lang="en-US" altLang="zh-CN" sz="1800" i="1" dirty="0"/>
              <a:t>V5</a:t>
            </a:r>
            <a:r>
              <a:rPr lang="zh-CN" altLang="en-US" sz="1800" dirty="0" smtClean="0"/>
              <a:t>，直流放大器</a:t>
            </a:r>
            <a:endParaRPr lang="zh-CN" altLang="en-US" sz="1800" dirty="0"/>
          </a:p>
        </p:txBody>
      </p:sp>
    </p:spTree>
    <p:extLst>
      <p:ext uri="{BB962C8B-B14F-4D97-AF65-F5344CB8AC3E}">
        <p14:creationId xmlns:p14="http://schemas.microsoft.com/office/powerpoint/2010/main" val="20290062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42</a:t>
            </a:fld>
            <a:endParaRPr lang="en-US" altLang="zh-CN">
              <a:solidFill>
                <a:srgbClr val="FFFFFF"/>
              </a:solidFill>
            </a:endParaRPr>
          </a:p>
        </p:txBody>
      </p:sp>
      <p:sp>
        <p:nvSpPr>
          <p:cNvPr id="5" name="文本框 4"/>
          <p:cNvSpPr txBox="1"/>
          <p:nvPr/>
        </p:nvSpPr>
        <p:spPr>
          <a:xfrm>
            <a:off x="336498" y="438912"/>
            <a:ext cx="11587277" cy="632480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电路中限流电阻</a:t>
            </a:r>
            <a:r>
              <a:rPr lang="en-US" altLang="zh-CN" sz="1800" dirty="0" smtClean="0"/>
              <a:t>R</a:t>
            </a:r>
            <a:r>
              <a:rPr lang="en-US" altLang="zh-CN" sz="1800" baseline="-25000" dirty="0" smtClean="0"/>
              <a:t>C</a:t>
            </a:r>
            <a:r>
              <a:rPr lang="en-US" altLang="zh-CN" sz="1800" baseline="-25000" dirty="0"/>
              <a:t>L</a:t>
            </a:r>
            <a:r>
              <a:rPr lang="zh-CN" altLang="en-US" sz="1800" dirty="0" smtClean="0"/>
              <a:t>与假负载电阻</a:t>
            </a:r>
            <a:r>
              <a:rPr lang="en-US" altLang="zh-CN" sz="1800" dirty="0" smtClean="0"/>
              <a:t>R</a:t>
            </a:r>
            <a:r>
              <a:rPr lang="en-US" altLang="zh-CN" sz="1800" baseline="-25000" dirty="0"/>
              <a:t>FL</a:t>
            </a:r>
            <a:r>
              <a:rPr lang="zh-CN" altLang="en-US" sz="1800" dirty="0" smtClean="0"/>
              <a:t>应该根据题目给定的参数估算</a:t>
            </a:r>
            <a:endParaRPr lang="en-US" altLang="zh-CN" sz="1800" dirty="0" smtClean="0"/>
          </a:p>
          <a:p>
            <a:pPr lvl="1">
              <a:lnSpc>
                <a:spcPct val="150000"/>
              </a:lnSpc>
            </a:pPr>
            <a:r>
              <a:rPr lang="zh-CN" altLang="en-US" sz="1800" dirty="0"/>
              <a:t>静态参数</a:t>
            </a:r>
            <a:r>
              <a:rPr lang="zh-CN" altLang="en-US" sz="1800" dirty="0" smtClean="0"/>
              <a:t>：静态基极电位≈</a:t>
            </a:r>
            <a:r>
              <a:rPr lang="en-US" altLang="zh-CN" sz="1800" dirty="0" smtClean="0"/>
              <a:t>3.1V</a:t>
            </a:r>
            <a:r>
              <a:rPr lang="zh-CN" altLang="en-US" sz="1800" dirty="0" smtClean="0"/>
              <a:t>，静态发射极电位≈</a:t>
            </a:r>
            <a:r>
              <a:rPr lang="en-US" altLang="zh-CN" sz="1800" dirty="0" smtClean="0"/>
              <a:t>2.4V</a:t>
            </a:r>
            <a:r>
              <a:rPr lang="zh-CN" altLang="en-US" sz="1800" dirty="0"/>
              <a:t>，静态工作点</a:t>
            </a:r>
            <a:r>
              <a:rPr lang="zh-CN" altLang="en-US" sz="1800" dirty="0" smtClean="0"/>
              <a:t>电流≈</a:t>
            </a:r>
            <a:r>
              <a:rPr lang="en-US" altLang="zh-CN" sz="1800" dirty="0" smtClean="0"/>
              <a:t>2.4mA</a:t>
            </a:r>
            <a:r>
              <a:rPr lang="zh-CN" altLang="en-US" sz="1800" dirty="0"/>
              <a:t>，静态集电极</a:t>
            </a:r>
            <a:r>
              <a:rPr lang="zh-CN" altLang="en-US" sz="1800" dirty="0" smtClean="0"/>
              <a:t>电位≈</a:t>
            </a:r>
            <a:r>
              <a:rPr lang="en-US" altLang="zh-CN" sz="1800" dirty="0" smtClean="0"/>
              <a:t>7.2V</a:t>
            </a:r>
          </a:p>
          <a:p>
            <a:pPr lvl="1">
              <a:lnSpc>
                <a:spcPct val="150000"/>
              </a:lnSpc>
            </a:pPr>
            <a:r>
              <a:rPr lang="zh-CN" altLang="en-US" sz="1800" dirty="0"/>
              <a:t>交流参数</a:t>
            </a:r>
            <a:r>
              <a:rPr lang="zh-CN" altLang="en-US" sz="1800" dirty="0" smtClean="0"/>
              <a:t>：按</a:t>
            </a:r>
            <a:r>
              <a:rPr lang="zh-CN" altLang="en-US" sz="1800" dirty="0"/>
              <a:t>晶体管</a:t>
            </a:r>
            <a:r>
              <a:rPr lang="en-US" altLang="zh-CN" sz="1800" dirty="0" smtClean="0"/>
              <a:t>β=60~300</a:t>
            </a:r>
            <a:r>
              <a:rPr lang="zh-CN" altLang="en-US" sz="1800" dirty="0" smtClean="0"/>
              <a:t>计算，</a:t>
            </a:r>
            <a:r>
              <a:rPr lang="en-US" altLang="zh-CN" sz="1800" i="1" dirty="0" err="1" smtClean="0"/>
              <a:t>r</a:t>
            </a:r>
            <a:r>
              <a:rPr lang="en-US" altLang="zh-CN" sz="1800" i="1" baseline="-25000" dirty="0" err="1" smtClean="0"/>
              <a:t>b'e</a:t>
            </a:r>
            <a:r>
              <a:rPr lang="en-US" altLang="zh-CN" sz="1800" i="1" baseline="-25000" dirty="0" smtClean="0"/>
              <a:t> </a:t>
            </a:r>
            <a:r>
              <a:rPr lang="zh-CN" altLang="en-US" sz="1800" dirty="0"/>
              <a:t>在</a:t>
            </a:r>
            <a:r>
              <a:rPr lang="en-US" altLang="zh-CN" sz="1800" dirty="0"/>
              <a:t>660Ω~3.3kΩ </a:t>
            </a:r>
            <a:r>
              <a:rPr lang="zh-CN" altLang="en-US" sz="1800" dirty="0"/>
              <a:t>之间，</a:t>
            </a:r>
            <a:r>
              <a:rPr lang="zh-CN" altLang="en-US" sz="1800" dirty="0" smtClean="0"/>
              <a:t>通常小</a:t>
            </a:r>
            <a:r>
              <a:rPr lang="zh-CN" altLang="en-US" sz="1800" dirty="0"/>
              <a:t>功率晶体管的</a:t>
            </a:r>
            <a:r>
              <a:rPr lang="en-US" altLang="zh-CN" sz="1800" i="1" dirty="0" err="1"/>
              <a:t>r</a:t>
            </a:r>
            <a:r>
              <a:rPr lang="en-US" altLang="zh-CN" sz="1800" i="1" baseline="-25000" dirty="0" err="1"/>
              <a:t>bb</a:t>
            </a:r>
            <a:r>
              <a:rPr lang="en-US" altLang="zh-CN" sz="1800" i="1" baseline="-25000" dirty="0"/>
              <a:t>'</a:t>
            </a:r>
            <a:r>
              <a:rPr lang="zh-CN" altLang="en-US" sz="1800" dirty="0"/>
              <a:t>在几十欧姆到一百欧姆之间，所以晶体管的输入电阻大约在</a:t>
            </a:r>
            <a:r>
              <a:rPr lang="en-US" altLang="zh-CN" sz="1800" dirty="0"/>
              <a:t>700Ω~3.4kΩ </a:t>
            </a:r>
            <a:r>
              <a:rPr lang="zh-CN" altLang="en-US" sz="1800" dirty="0" smtClean="0"/>
              <a:t>之间。</a:t>
            </a:r>
            <a:endParaRPr lang="en-US" altLang="zh-CN" sz="1800" dirty="0" smtClean="0"/>
          </a:p>
          <a:p>
            <a:pPr lvl="1">
              <a:lnSpc>
                <a:spcPct val="150000"/>
              </a:lnSpc>
            </a:pPr>
            <a:r>
              <a:rPr lang="zh-CN" altLang="en-US" sz="1800" dirty="0" smtClean="0"/>
              <a:t>被测</a:t>
            </a:r>
            <a:r>
              <a:rPr lang="zh-CN" altLang="en-US" sz="1800" dirty="0"/>
              <a:t>电路的输入电阻</a:t>
            </a:r>
            <a:r>
              <a:rPr lang="zh-CN" altLang="en-US" sz="1800" dirty="0" smtClean="0"/>
              <a:t>为晶体管</a:t>
            </a:r>
            <a:r>
              <a:rPr lang="zh-CN" altLang="en-US" sz="1800" dirty="0"/>
              <a:t>输入电阻与</a:t>
            </a:r>
            <a:r>
              <a:rPr lang="en-US" altLang="zh-CN" sz="1800" dirty="0"/>
              <a:t>R1</a:t>
            </a:r>
            <a:r>
              <a:rPr lang="zh-CN" altLang="en-US" sz="1800" dirty="0"/>
              <a:t>、</a:t>
            </a:r>
            <a:r>
              <a:rPr lang="en-US" altLang="zh-CN" sz="1800" dirty="0"/>
              <a:t>R2 </a:t>
            </a:r>
            <a:r>
              <a:rPr lang="zh-CN" altLang="en-US" sz="1800" dirty="0"/>
              <a:t>的并联，大约在</a:t>
            </a:r>
            <a:r>
              <a:rPr lang="en-US" altLang="zh-CN" sz="1800" dirty="0"/>
              <a:t>660Ω~2.6kΩ </a:t>
            </a:r>
            <a:r>
              <a:rPr lang="zh-CN" altLang="en-US" sz="1800" dirty="0" smtClean="0"/>
              <a:t>之间</a:t>
            </a:r>
            <a:endParaRPr lang="en-US" altLang="zh-CN" sz="1800" dirty="0" smtClean="0"/>
          </a:p>
          <a:p>
            <a:pPr lvl="1">
              <a:lnSpc>
                <a:spcPct val="150000"/>
              </a:lnSpc>
            </a:pPr>
            <a:r>
              <a:rPr lang="zh-CN" altLang="en-US" sz="1800" dirty="0" smtClean="0"/>
              <a:t>待</a:t>
            </a:r>
            <a:r>
              <a:rPr lang="zh-CN" altLang="en-US" sz="1800" dirty="0"/>
              <a:t>测放大器的电压增益约为</a:t>
            </a:r>
            <a:r>
              <a:rPr lang="en-US" altLang="zh-CN" sz="1800" dirty="0"/>
              <a:t>185 </a:t>
            </a:r>
            <a:r>
              <a:rPr lang="zh-CN" altLang="en-US" sz="1800" dirty="0" smtClean="0"/>
              <a:t>倍</a:t>
            </a:r>
            <a:endParaRPr lang="en-US" altLang="zh-CN" sz="1800" dirty="0" smtClean="0"/>
          </a:p>
          <a:p>
            <a:pPr lvl="1">
              <a:lnSpc>
                <a:spcPct val="150000"/>
              </a:lnSpc>
            </a:pPr>
            <a:r>
              <a:rPr lang="zh-CN" altLang="en-US" sz="1800" dirty="0" smtClean="0"/>
              <a:t>晶体管</a:t>
            </a:r>
            <a:r>
              <a:rPr lang="zh-CN" altLang="en-US" sz="1800" dirty="0"/>
              <a:t>的输出电阻远大于</a:t>
            </a:r>
            <a:r>
              <a:rPr lang="en-US" altLang="zh-CN" sz="1800" dirty="0"/>
              <a:t>R3</a:t>
            </a:r>
            <a:r>
              <a:rPr lang="zh-CN" altLang="en-US" sz="1800" dirty="0"/>
              <a:t>，所以整个待测放大器的输出电阻大致就是</a:t>
            </a:r>
            <a:r>
              <a:rPr lang="en-US" altLang="zh-CN" sz="1800" dirty="0"/>
              <a:t>R3</a:t>
            </a:r>
            <a:r>
              <a:rPr lang="zh-CN" altLang="en-US" sz="1800" dirty="0"/>
              <a:t>，即</a:t>
            </a:r>
            <a:r>
              <a:rPr lang="en-US" altLang="zh-CN" sz="1800" dirty="0"/>
              <a:t>2kΩ </a:t>
            </a:r>
            <a:r>
              <a:rPr lang="zh-CN" altLang="en-US" sz="1800" dirty="0"/>
              <a:t>左右</a:t>
            </a:r>
            <a:endParaRPr lang="en-US" altLang="zh-CN" sz="1600" dirty="0"/>
          </a:p>
          <a:p>
            <a:pPr lvl="1">
              <a:lnSpc>
                <a:spcPct val="150000"/>
              </a:lnSpc>
            </a:pPr>
            <a:r>
              <a:rPr lang="zh-CN" altLang="en-US" sz="1800" dirty="0" smtClean="0"/>
              <a:t>为保证晶体管不饱和，设定最大</a:t>
            </a:r>
            <a:r>
              <a:rPr lang="zh-CN" altLang="en-US" sz="1800" dirty="0"/>
              <a:t>输出幅度不得超过</a:t>
            </a:r>
            <a:r>
              <a:rPr lang="en-US" altLang="zh-CN" sz="1800" dirty="0" smtClean="0"/>
              <a:t>3V</a:t>
            </a:r>
            <a:r>
              <a:rPr lang="zh-CN" altLang="en-US" sz="1800" dirty="0" smtClean="0"/>
              <a:t>，除</a:t>
            </a:r>
            <a:r>
              <a:rPr lang="zh-CN" altLang="en-US" sz="1800" dirty="0"/>
              <a:t>以增益</a:t>
            </a:r>
            <a:r>
              <a:rPr lang="en-US" altLang="zh-CN" sz="1800" dirty="0"/>
              <a:t>185 </a:t>
            </a:r>
            <a:r>
              <a:rPr lang="zh-CN" altLang="en-US" sz="1800" dirty="0"/>
              <a:t>可得到待测放大器的最大输入电压幅度不应超过</a:t>
            </a:r>
            <a:r>
              <a:rPr lang="en-US" altLang="zh-CN" sz="1800" dirty="0" smtClean="0"/>
              <a:t>16mV</a:t>
            </a:r>
            <a:r>
              <a:rPr lang="zh-CN" altLang="en-US" sz="1800" dirty="0" smtClean="0"/>
              <a:t>。晶体管输入测试</a:t>
            </a:r>
            <a:r>
              <a:rPr lang="zh-CN" altLang="en-US" sz="1800" dirty="0"/>
              <a:t>电流应该按被测放大器可能的最大输入电阻</a:t>
            </a:r>
            <a:r>
              <a:rPr lang="en-US" altLang="zh-CN" sz="1800" dirty="0"/>
              <a:t>2.6kΩ </a:t>
            </a:r>
            <a:r>
              <a:rPr lang="zh-CN" altLang="en-US" sz="1800" dirty="0"/>
              <a:t>计算，得到的测试电流设定值为</a:t>
            </a:r>
            <a:r>
              <a:rPr lang="en-US" altLang="zh-CN" sz="1800" dirty="0"/>
              <a:t>16mV/2.6kΩ≈6μA</a:t>
            </a:r>
            <a:r>
              <a:rPr lang="zh-CN" altLang="en-US" sz="1800" dirty="0"/>
              <a:t>。</a:t>
            </a:r>
            <a:endParaRPr lang="en-US" altLang="zh-CN" sz="1600" dirty="0" smtClean="0"/>
          </a:p>
          <a:p>
            <a:pPr lvl="1">
              <a:lnSpc>
                <a:spcPct val="150000"/>
              </a:lnSpc>
            </a:pPr>
            <a:r>
              <a:rPr lang="zh-CN" altLang="en-US" sz="1800" dirty="0" smtClean="0"/>
              <a:t>由此得到估算结果：</a:t>
            </a:r>
            <a:r>
              <a:rPr lang="en-US" altLang="zh-CN" sz="1800" dirty="0" smtClean="0"/>
              <a:t>R</a:t>
            </a:r>
            <a:r>
              <a:rPr lang="en-US" altLang="zh-CN" sz="1800" baseline="-25000" dirty="0" smtClean="0"/>
              <a:t>CL</a:t>
            </a:r>
            <a:r>
              <a:rPr lang="en-US" altLang="zh-CN" sz="1800" dirty="0" smtClean="0"/>
              <a:t>≈V</a:t>
            </a:r>
            <a:r>
              <a:rPr lang="en-US" altLang="zh-CN" sz="1800" baseline="-25000" dirty="0" smtClean="0"/>
              <a:t>1</a:t>
            </a:r>
            <a:r>
              <a:rPr lang="en-US" altLang="zh-CN" sz="1800" dirty="0" smtClean="0"/>
              <a:t>/6</a:t>
            </a:r>
            <a:r>
              <a:rPr lang="el-GR" altLang="zh-CN" sz="1800" dirty="0" smtClean="0"/>
              <a:t>μ</a:t>
            </a:r>
            <a:r>
              <a:rPr lang="en-US" altLang="zh-CN" sz="1800" dirty="0" smtClean="0"/>
              <a:t>A</a:t>
            </a:r>
            <a:r>
              <a:rPr lang="zh-CN" altLang="en-US" sz="1800" dirty="0" smtClean="0"/>
              <a:t>，</a:t>
            </a:r>
            <a:r>
              <a:rPr lang="en-US" altLang="zh-CN" sz="1800" dirty="0"/>
              <a:t> </a:t>
            </a:r>
            <a:r>
              <a:rPr lang="en-US" altLang="zh-CN" sz="1800" dirty="0" smtClean="0"/>
              <a:t>R</a:t>
            </a:r>
            <a:r>
              <a:rPr lang="en-US" altLang="zh-CN" sz="1800" baseline="-25000" dirty="0" smtClean="0"/>
              <a:t>FL</a:t>
            </a:r>
            <a:r>
              <a:rPr lang="en-US" altLang="zh-CN" sz="1800" dirty="0" smtClean="0"/>
              <a:t>≈2k</a:t>
            </a:r>
            <a:r>
              <a:rPr lang="el-GR" altLang="zh-CN" sz="1800" dirty="0" smtClean="0"/>
              <a:t>Ω</a:t>
            </a:r>
            <a:endParaRPr lang="en-US" altLang="zh-CN" sz="1800" dirty="0" smtClean="0"/>
          </a:p>
          <a:p>
            <a:pPr marL="285750" indent="-285750">
              <a:lnSpc>
                <a:spcPct val="150000"/>
              </a:lnSpc>
              <a:buFont typeface="Arial" panose="020B0604020202020204" pitchFamily="34" charset="0"/>
              <a:buChar char="•"/>
            </a:pPr>
            <a:r>
              <a:rPr lang="zh-CN" altLang="en-US" sz="1800" dirty="0" smtClean="0"/>
              <a:t>放大器增益、输入电阻与输出电阻</a:t>
            </a:r>
            <a:endParaRPr lang="en-US" altLang="zh-CN" sz="1800" dirty="0" smtClean="0"/>
          </a:p>
          <a:p>
            <a:pPr>
              <a:lnSpc>
                <a:spcPct val="150000"/>
              </a:lnSpc>
            </a:pPr>
            <a:endParaRPr lang="en-US" altLang="zh-CN" sz="1800" dirty="0"/>
          </a:p>
          <a:p>
            <a:pPr>
              <a:lnSpc>
                <a:spcPct val="150000"/>
              </a:lnSpc>
            </a:pPr>
            <a:endParaRPr lang="en-US" altLang="zh-CN" sz="1800" dirty="0" smtClean="0"/>
          </a:p>
          <a:p>
            <a:pPr>
              <a:lnSpc>
                <a:spcPct val="150000"/>
              </a:lnSpc>
            </a:pPr>
            <a:endParaRPr lang="zh-CN" altLang="en-US" sz="1800" dirty="0"/>
          </a:p>
        </p:txBody>
      </p:sp>
      <p:pic>
        <p:nvPicPr>
          <p:cNvPr id="6" name="图片 5"/>
          <p:cNvPicPr>
            <a:picLocks noChangeAspect="1"/>
          </p:cNvPicPr>
          <p:nvPr/>
        </p:nvPicPr>
        <p:blipFill>
          <a:blip r:embed="rId2"/>
          <a:stretch>
            <a:fillRect/>
          </a:stretch>
        </p:blipFill>
        <p:spPr>
          <a:xfrm>
            <a:off x="3387261" y="5472918"/>
            <a:ext cx="5492157" cy="777192"/>
          </a:xfrm>
          <a:prstGeom prst="rect">
            <a:avLst/>
          </a:prstGeom>
        </p:spPr>
      </p:pic>
    </p:spTree>
    <p:extLst>
      <p:ext uri="{BB962C8B-B14F-4D97-AF65-F5344CB8AC3E}">
        <p14:creationId xmlns:p14="http://schemas.microsoft.com/office/powerpoint/2010/main" val="16790640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43</a:t>
            </a:fld>
            <a:endParaRPr lang="en-US" altLang="zh-CN">
              <a:solidFill>
                <a:srgbClr val="FFFFFF"/>
              </a:solidFill>
            </a:endParaRPr>
          </a:p>
        </p:txBody>
      </p:sp>
      <p:sp>
        <p:nvSpPr>
          <p:cNvPr id="5" name="文本框 4"/>
          <p:cNvSpPr txBox="1"/>
          <p:nvPr/>
        </p:nvSpPr>
        <p:spPr>
          <a:xfrm>
            <a:off x="424282" y="431597"/>
            <a:ext cx="11397303" cy="5443221"/>
          </a:xfrm>
          <a:prstGeom prst="rect">
            <a:avLst/>
          </a:prstGeom>
          <a:noFill/>
        </p:spPr>
        <p:txBody>
          <a:bodyPr wrap="square" rtlCol="0">
            <a:spAutoFit/>
          </a:bodyPr>
          <a:lstStyle/>
          <a:p>
            <a:pPr>
              <a:lnSpc>
                <a:spcPct val="150000"/>
              </a:lnSpc>
            </a:pPr>
            <a:r>
              <a:rPr lang="zh-CN" altLang="en-US" sz="1800" dirty="0"/>
              <a:t>各种故障</a:t>
            </a:r>
            <a:r>
              <a:rPr lang="zh-CN" altLang="en-US" sz="1800" dirty="0" smtClean="0"/>
              <a:t>情况的判据</a:t>
            </a:r>
            <a:endParaRPr lang="zh-CN" altLang="en-US" sz="1800" dirty="0"/>
          </a:p>
          <a:p>
            <a:pPr>
              <a:lnSpc>
                <a:spcPct val="150000"/>
              </a:lnSpc>
            </a:pPr>
            <a:r>
              <a:rPr lang="zh-CN" altLang="en-US" sz="1800" dirty="0"/>
              <a:t>（</a:t>
            </a:r>
            <a:r>
              <a:rPr lang="en-US" altLang="zh-CN" sz="1800" dirty="0"/>
              <a:t>1</a:t>
            </a:r>
            <a:r>
              <a:rPr lang="zh-CN" altLang="en-US" sz="1800" dirty="0"/>
              <a:t>）开路或短路</a:t>
            </a:r>
            <a:r>
              <a:rPr lang="en-US" altLang="zh-CN" sz="1800" dirty="0"/>
              <a:t>R1~R4 </a:t>
            </a:r>
            <a:r>
              <a:rPr lang="zh-CN" altLang="en-US" sz="1800" dirty="0"/>
              <a:t>中的一个电阻。</a:t>
            </a:r>
          </a:p>
          <a:p>
            <a:pPr lvl="1">
              <a:lnSpc>
                <a:spcPct val="150000"/>
              </a:lnSpc>
            </a:pPr>
            <a:r>
              <a:rPr lang="zh-CN" altLang="en-US" sz="1800" dirty="0" smtClean="0"/>
              <a:t>这</a:t>
            </a:r>
            <a:r>
              <a:rPr lang="en-US" altLang="zh-CN" sz="1800" dirty="0"/>
              <a:t>8 </a:t>
            </a:r>
            <a:r>
              <a:rPr lang="zh-CN" altLang="en-US" sz="1800" dirty="0"/>
              <a:t>种情况下有</a:t>
            </a:r>
            <a:r>
              <a:rPr lang="en-US" altLang="zh-CN" sz="1800" dirty="0"/>
              <a:t>7 </a:t>
            </a:r>
            <a:r>
              <a:rPr lang="zh-CN" altLang="en-US" sz="1800" dirty="0"/>
              <a:t>种情况其晶体管的工作状态为饱和、截止或开路（集电极开路或者发射极开路），放大器的增益都是</a:t>
            </a:r>
            <a:r>
              <a:rPr lang="en-US" altLang="zh-CN" sz="1800" dirty="0"/>
              <a:t>0</a:t>
            </a:r>
            <a:r>
              <a:rPr lang="zh-CN" altLang="en-US" sz="1800" dirty="0"/>
              <a:t>，无输出交流信号，无法通过输出电压和输出电阻判断。所以对这</a:t>
            </a:r>
            <a:r>
              <a:rPr lang="en-US" altLang="zh-CN" sz="1800" dirty="0"/>
              <a:t>8 </a:t>
            </a:r>
            <a:r>
              <a:rPr lang="zh-CN" altLang="en-US" sz="1800" dirty="0"/>
              <a:t>种故障判断的依据是晶体管静态工作点（通过集电极静态电压</a:t>
            </a:r>
            <a:r>
              <a:rPr lang="en-US" altLang="zh-CN" sz="1800" i="1" dirty="0"/>
              <a:t>V5 </a:t>
            </a:r>
            <a:r>
              <a:rPr lang="zh-CN" altLang="en-US" sz="1800" dirty="0"/>
              <a:t>测量）以及输入电阻</a:t>
            </a:r>
            <a:r>
              <a:rPr lang="en-US" altLang="zh-CN" sz="1800" i="1" dirty="0" err="1"/>
              <a:t>ri</a:t>
            </a:r>
            <a:r>
              <a:rPr lang="zh-CN" altLang="en-US" sz="1800" dirty="0"/>
              <a:t>，分列如下：</a:t>
            </a:r>
          </a:p>
          <a:p>
            <a:pPr lvl="2">
              <a:lnSpc>
                <a:spcPct val="150000"/>
              </a:lnSpc>
            </a:pPr>
            <a:r>
              <a:rPr lang="en-US" altLang="zh-CN" sz="1800" dirty="0"/>
              <a:t>R1 </a:t>
            </a:r>
            <a:r>
              <a:rPr lang="zh-CN" altLang="en-US" sz="1800" dirty="0"/>
              <a:t>开路，晶体管截止，</a:t>
            </a:r>
            <a:r>
              <a:rPr lang="en-US" altLang="zh-CN" sz="1800" i="1" dirty="0"/>
              <a:t>I</a:t>
            </a:r>
            <a:r>
              <a:rPr lang="en-US" altLang="zh-CN" sz="1800" i="1" baseline="-25000" dirty="0"/>
              <a:t>C</a:t>
            </a:r>
            <a:r>
              <a:rPr lang="en-US" altLang="zh-CN" sz="1800" dirty="0"/>
              <a:t>=0 → </a:t>
            </a:r>
            <a:r>
              <a:rPr lang="en-US" altLang="zh-CN" sz="1800" i="1" dirty="0"/>
              <a:t>V</a:t>
            </a:r>
            <a:r>
              <a:rPr lang="en-US" altLang="zh-CN" sz="1800" i="1" baseline="-25000" dirty="0"/>
              <a:t>5</a:t>
            </a:r>
            <a:r>
              <a:rPr lang="en-US" altLang="zh-CN" sz="1800" dirty="0"/>
              <a:t>=12V</a:t>
            </a:r>
            <a:r>
              <a:rPr lang="zh-CN" altLang="en-US" sz="1800" dirty="0"/>
              <a:t>，</a:t>
            </a:r>
            <a:r>
              <a:rPr lang="en-US" altLang="zh-CN" sz="1800" i="1" dirty="0"/>
              <a:t>r</a:t>
            </a:r>
            <a:r>
              <a:rPr lang="en-US" altLang="zh-CN" sz="1800" i="1" baseline="-25000" dirty="0"/>
              <a:t>i</a:t>
            </a:r>
            <a:r>
              <a:rPr lang="en-US" altLang="zh-CN" sz="1800" i="1" dirty="0"/>
              <a:t>≈R</a:t>
            </a:r>
            <a:r>
              <a:rPr lang="en-US" altLang="zh-CN" sz="1800" i="1" baseline="-25000" dirty="0"/>
              <a:t>2</a:t>
            </a:r>
            <a:r>
              <a:rPr lang="en-US" altLang="zh-CN" sz="1800" i="1" dirty="0"/>
              <a:t>=15k</a:t>
            </a:r>
            <a:r>
              <a:rPr lang="el-GR" altLang="zh-CN" sz="1800" i="1" dirty="0" smtClean="0"/>
              <a:t>Ω</a:t>
            </a:r>
            <a:endParaRPr lang="zh-CN" altLang="el-GR" sz="1800" dirty="0"/>
          </a:p>
          <a:p>
            <a:pPr lvl="2">
              <a:lnSpc>
                <a:spcPct val="150000"/>
              </a:lnSpc>
            </a:pPr>
            <a:r>
              <a:rPr lang="en-US" altLang="zh-CN" sz="1800" dirty="0"/>
              <a:t>R1 </a:t>
            </a:r>
            <a:r>
              <a:rPr lang="zh-CN" altLang="en-US" sz="1800" dirty="0"/>
              <a:t>短路，晶体管饱和，</a:t>
            </a:r>
            <a:r>
              <a:rPr lang="en-US" altLang="zh-CN" sz="1800" i="1" dirty="0"/>
              <a:t>V</a:t>
            </a:r>
            <a:r>
              <a:rPr lang="en-US" altLang="zh-CN" sz="1800" i="1" baseline="-25000" dirty="0"/>
              <a:t>E</a:t>
            </a:r>
            <a:r>
              <a:rPr lang="en-US" altLang="zh-CN" sz="1800" dirty="0"/>
              <a:t>=12-0.7=11.3V</a:t>
            </a:r>
            <a:r>
              <a:rPr lang="zh-CN" altLang="en-US" sz="1800" dirty="0"/>
              <a:t>，</a:t>
            </a:r>
            <a:r>
              <a:rPr lang="en-US" altLang="zh-CN" sz="1800" i="1" dirty="0"/>
              <a:t>V</a:t>
            </a:r>
            <a:r>
              <a:rPr lang="en-US" altLang="zh-CN" sz="1800" i="1" baseline="-25000" dirty="0"/>
              <a:t>CE</a:t>
            </a:r>
            <a:r>
              <a:rPr lang="en-US" altLang="zh-CN" sz="1800" dirty="0"/>
              <a:t>=0.2V → </a:t>
            </a:r>
            <a:r>
              <a:rPr lang="en-US" altLang="zh-CN" sz="1800" i="1" dirty="0"/>
              <a:t>V</a:t>
            </a:r>
            <a:r>
              <a:rPr lang="en-US" altLang="zh-CN" sz="1800" i="1" baseline="-25000" dirty="0"/>
              <a:t>5</a:t>
            </a:r>
            <a:r>
              <a:rPr lang="en-US" altLang="zh-CN" sz="1800" dirty="0"/>
              <a:t>≈11.5V</a:t>
            </a:r>
            <a:r>
              <a:rPr lang="zh-CN" altLang="en-US" sz="1800" dirty="0"/>
              <a:t>，</a:t>
            </a:r>
            <a:r>
              <a:rPr lang="en-US" altLang="zh-CN" sz="1800" i="1" dirty="0" err="1" smtClean="0"/>
              <a:t>r</a:t>
            </a:r>
            <a:r>
              <a:rPr lang="en-US" altLang="zh-CN" sz="1800" i="1" baseline="-25000" dirty="0" err="1" smtClean="0"/>
              <a:t>i</a:t>
            </a:r>
            <a:r>
              <a:rPr lang="en-US" altLang="zh-CN" sz="1800" i="1" dirty="0" smtClean="0"/>
              <a:t>=0</a:t>
            </a:r>
            <a:endParaRPr lang="zh-CN" altLang="en-US" sz="1800" dirty="0"/>
          </a:p>
          <a:p>
            <a:pPr lvl="2">
              <a:lnSpc>
                <a:spcPct val="150000"/>
              </a:lnSpc>
            </a:pPr>
            <a:r>
              <a:rPr lang="en-US" altLang="zh-CN" sz="1800" dirty="0"/>
              <a:t>R2 </a:t>
            </a:r>
            <a:r>
              <a:rPr lang="zh-CN" altLang="en-US" sz="1800" dirty="0"/>
              <a:t>开路，晶体管饱和，</a:t>
            </a:r>
            <a:r>
              <a:rPr lang="en-US" altLang="zh-CN" sz="1800" i="1" dirty="0"/>
              <a:t>V</a:t>
            </a:r>
            <a:r>
              <a:rPr lang="en-US" altLang="zh-CN" sz="1800" i="1" baseline="-25000" dirty="0"/>
              <a:t>BE</a:t>
            </a:r>
            <a:r>
              <a:rPr lang="en-US" altLang="zh-CN" sz="1800" i="1" dirty="0"/>
              <a:t>=0.7V</a:t>
            </a:r>
            <a:r>
              <a:rPr lang="zh-CN" altLang="en-US" sz="1800" dirty="0"/>
              <a:t>，</a:t>
            </a:r>
            <a:r>
              <a:rPr lang="en-US" altLang="zh-CN" sz="1800" i="1" dirty="0"/>
              <a:t>V</a:t>
            </a:r>
            <a:r>
              <a:rPr lang="en-US" altLang="zh-CN" sz="1800" i="1" baseline="-25000" dirty="0"/>
              <a:t>CE</a:t>
            </a:r>
            <a:r>
              <a:rPr lang="en-US" altLang="zh-CN" sz="1800" i="1" dirty="0"/>
              <a:t>=0.2V</a:t>
            </a:r>
            <a:r>
              <a:rPr lang="zh-CN" altLang="en-US" sz="1800" dirty="0"/>
              <a:t>，</a:t>
            </a:r>
            <a:r>
              <a:rPr lang="en-US" altLang="zh-CN" sz="1800" i="1" dirty="0"/>
              <a:t>r</a:t>
            </a:r>
            <a:r>
              <a:rPr lang="en-US" altLang="zh-CN" sz="1800" i="1" baseline="-25000" dirty="0"/>
              <a:t>be</a:t>
            </a:r>
            <a:r>
              <a:rPr lang="en-US" altLang="zh-CN" sz="1800" i="1" dirty="0"/>
              <a:t>≈0 → V</a:t>
            </a:r>
            <a:r>
              <a:rPr lang="en-US" altLang="zh-CN" sz="1800" i="1" baseline="-25000" dirty="0"/>
              <a:t>5</a:t>
            </a:r>
            <a:r>
              <a:rPr lang="en-US" altLang="zh-CN" sz="1800" i="1" dirty="0"/>
              <a:t>≈4V</a:t>
            </a:r>
            <a:r>
              <a:rPr lang="zh-CN" altLang="en-US" sz="1800" dirty="0"/>
              <a:t>，</a:t>
            </a:r>
            <a:r>
              <a:rPr lang="en-US" altLang="zh-CN" sz="1800" i="1" dirty="0"/>
              <a:t>r</a:t>
            </a:r>
            <a:r>
              <a:rPr lang="en-US" altLang="zh-CN" sz="1800" i="1" baseline="-25000" dirty="0"/>
              <a:t>i</a:t>
            </a:r>
            <a:r>
              <a:rPr lang="en-US" altLang="zh-CN" sz="1800" i="1" dirty="0"/>
              <a:t>≈</a:t>
            </a:r>
            <a:r>
              <a:rPr lang="en-US" altLang="zh-CN" sz="1800" i="1" dirty="0" smtClean="0"/>
              <a:t>0</a:t>
            </a:r>
            <a:endParaRPr lang="zh-CN" altLang="en-US" sz="1800" dirty="0"/>
          </a:p>
          <a:p>
            <a:pPr lvl="2">
              <a:lnSpc>
                <a:spcPct val="150000"/>
              </a:lnSpc>
            </a:pPr>
            <a:r>
              <a:rPr lang="en-US" altLang="zh-CN" sz="1800" dirty="0"/>
              <a:t>R2 </a:t>
            </a:r>
            <a:r>
              <a:rPr lang="zh-CN" altLang="en-US" sz="1800" dirty="0"/>
              <a:t>短路，晶体管截止，</a:t>
            </a:r>
            <a:r>
              <a:rPr lang="en-US" altLang="zh-CN" sz="1800" i="1" dirty="0"/>
              <a:t>I</a:t>
            </a:r>
            <a:r>
              <a:rPr lang="en-US" altLang="zh-CN" sz="1800" i="1" baseline="-25000" dirty="0"/>
              <a:t>C</a:t>
            </a:r>
            <a:r>
              <a:rPr lang="en-US" altLang="zh-CN" sz="1800" dirty="0"/>
              <a:t>=0 → </a:t>
            </a:r>
            <a:r>
              <a:rPr lang="en-US" altLang="zh-CN" sz="1800" i="1" dirty="0"/>
              <a:t>V</a:t>
            </a:r>
            <a:r>
              <a:rPr lang="en-US" altLang="zh-CN" sz="1800" i="1" baseline="-25000" dirty="0"/>
              <a:t>5</a:t>
            </a:r>
            <a:r>
              <a:rPr lang="en-US" altLang="zh-CN" sz="1800" dirty="0"/>
              <a:t>=12V</a:t>
            </a:r>
            <a:r>
              <a:rPr lang="zh-CN" altLang="en-US" sz="1800" dirty="0"/>
              <a:t>，</a:t>
            </a:r>
            <a:r>
              <a:rPr lang="en-US" altLang="zh-CN" sz="1800" i="1" dirty="0" err="1" smtClean="0"/>
              <a:t>r</a:t>
            </a:r>
            <a:r>
              <a:rPr lang="en-US" altLang="zh-CN" sz="1800" i="1" baseline="-25000" dirty="0" err="1" smtClean="0"/>
              <a:t>i</a:t>
            </a:r>
            <a:r>
              <a:rPr lang="en-US" altLang="zh-CN" sz="1800" i="1" dirty="0" smtClean="0"/>
              <a:t>=0</a:t>
            </a:r>
            <a:endParaRPr lang="zh-CN" altLang="en-US" sz="1800" dirty="0"/>
          </a:p>
          <a:p>
            <a:pPr lvl="2">
              <a:lnSpc>
                <a:spcPct val="150000"/>
              </a:lnSpc>
            </a:pPr>
            <a:r>
              <a:rPr lang="en-US" altLang="zh-CN" sz="1800" dirty="0"/>
              <a:t>R3 </a:t>
            </a:r>
            <a:r>
              <a:rPr lang="zh-CN" altLang="en-US" sz="1800" dirty="0"/>
              <a:t>开路，晶体管集电极开路，发射结导通→ </a:t>
            </a:r>
            <a:r>
              <a:rPr lang="en-US" altLang="zh-CN" sz="1800" dirty="0"/>
              <a:t>V</a:t>
            </a:r>
            <a:r>
              <a:rPr lang="en-US" altLang="zh-CN" sz="1800" i="1" baseline="-25000" dirty="0"/>
              <a:t>5</a:t>
            </a:r>
            <a:r>
              <a:rPr lang="en-US" altLang="zh-CN" sz="1800" dirty="0"/>
              <a:t>≈2.4V</a:t>
            </a:r>
            <a:r>
              <a:rPr lang="zh-CN" altLang="en-US" sz="1800" dirty="0"/>
              <a:t>，</a:t>
            </a:r>
            <a:r>
              <a:rPr lang="en-US" altLang="zh-CN" sz="1800" i="1" dirty="0" err="1"/>
              <a:t>r</a:t>
            </a:r>
            <a:r>
              <a:rPr lang="en-US" altLang="zh-CN" sz="1800" i="1" baseline="-25000" dirty="0" err="1"/>
              <a:t>i</a:t>
            </a:r>
            <a:r>
              <a:rPr lang="zh-CN" altLang="en-US" sz="1800" dirty="0"/>
              <a:t>≈</a:t>
            </a:r>
            <a:r>
              <a:rPr lang="en-US" altLang="zh-CN" sz="1800" dirty="0"/>
              <a:t>R1||R2||</a:t>
            </a:r>
            <a:r>
              <a:rPr lang="en-US" altLang="zh-CN" sz="1800" dirty="0" smtClean="0"/>
              <a:t>R4=1kΩ</a:t>
            </a:r>
            <a:endParaRPr lang="zh-CN" altLang="en-US" sz="1800" dirty="0"/>
          </a:p>
          <a:p>
            <a:pPr lvl="2">
              <a:lnSpc>
                <a:spcPct val="150000"/>
              </a:lnSpc>
            </a:pPr>
            <a:r>
              <a:rPr lang="en-US" altLang="zh-CN" sz="1800" dirty="0"/>
              <a:t>R3 </a:t>
            </a:r>
            <a:r>
              <a:rPr lang="zh-CN" altLang="en-US" sz="1800" dirty="0"/>
              <a:t>短路，晶体管正常放大，</a:t>
            </a:r>
            <a:r>
              <a:rPr lang="en-US" altLang="zh-CN" sz="1800" i="1" dirty="0" err="1"/>
              <a:t>r</a:t>
            </a:r>
            <a:r>
              <a:rPr lang="en-US" altLang="zh-CN" sz="1800" i="1" baseline="-25000" dirty="0" err="1"/>
              <a:t>i</a:t>
            </a:r>
            <a:r>
              <a:rPr lang="en-US" altLang="zh-CN" sz="1800" i="1" dirty="0"/>
              <a:t> </a:t>
            </a:r>
            <a:r>
              <a:rPr lang="zh-CN" altLang="en-US" sz="1800" dirty="0"/>
              <a:t>正常→ </a:t>
            </a:r>
            <a:r>
              <a:rPr lang="en-US" altLang="zh-CN" sz="1800" dirty="0"/>
              <a:t>V</a:t>
            </a:r>
            <a:r>
              <a:rPr lang="en-US" altLang="zh-CN" sz="1800" i="1" baseline="-25000" dirty="0"/>
              <a:t>5</a:t>
            </a:r>
            <a:r>
              <a:rPr lang="en-US" altLang="zh-CN" sz="1800" dirty="0"/>
              <a:t>=12V</a:t>
            </a:r>
            <a:r>
              <a:rPr lang="zh-CN" altLang="en-US" sz="1800" dirty="0"/>
              <a:t>，</a:t>
            </a:r>
            <a:r>
              <a:rPr lang="en-US" altLang="zh-CN" sz="1800" i="1" dirty="0" err="1"/>
              <a:t>r</a:t>
            </a:r>
            <a:r>
              <a:rPr lang="en-US" altLang="zh-CN" sz="1800" i="1" baseline="-25000" dirty="0" err="1"/>
              <a:t>i</a:t>
            </a:r>
            <a:r>
              <a:rPr lang="en-US" altLang="zh-CN" sz="1800" i="1" dirty="0"/>
              <a:t>=660~3300</a:t>
            </a:r>
            <a:r>
              <a:rPr lang="el-GR" altLang="zh-CN" sz="1800" i="1" dirty="0" smtClean="0"/>
              <a:t>Ω</a:t>
            </a:r>
            <a:endParaRPr lang="zh-CN" altLang="el-GR" sz="1800" dirty="0"/>
          </a:p>
          <a:p>
            <a:pPr lvl="2">
              <a:lnSpc>
                <a:spcPct val="150000"/>
              </a:lnSpc>
            </a:pPr>
            <a:r>
              <a:rPr lang="en-US" altLang="zh-CN" sz="1800" dirty="0"/>
              <a:t>R4 </a:t>
            </a:r>
            <a:r>
              <a:rPr lang="zh-CN" altLang="en-US" sz="1800" dirty="0"/>
              <a:t>开路，晶体管发射极开路，集电极反偏，</a:t>
            </a:r>
            <a:r>
              <a:rPr lang="en-US" altLang="zh-CN" sz="1800" i="1" dirty="0"/>
              <a:t>I</a:t>
            </a:r>
            <a:r>
              <a:rPr lang="en-US" altLang="zh-CN" sz="1800" i="1" baseline="-25000" dirty="0"/>
              <a:t>C</a:t>
            </a:r>
            <a:r>
              <a:rPr lang="en-US" altLang="zh-CN" sz="1800" i="1" dirty="0"/>
              <a:t>=</a:t>
            </a:r>
            <a:r>
              <a:rPr lang="en-US" altLang="zh-CN" sz="1800" i="1" dirty="0"/>
              <a:t>0 → V</a:t>
            </a:r>
            <a:r>
              <a:rPr lang="en-US" altLang="zh-CN" sz="1800" i="1" baseline="-25000" dirty="0"/>
              <a:t>5</a:t>
            </a:r>
            <a:r>
              <a:rPr lang="en-US" altLang="zh-CN" sz="1800" i="1" dirty="0"/>
              <a:t>=12V</a:t>
            </a:r>
            <a:r>
              <a:rPr lang="zh-CN" altLang="en-US" sz="1800" dirty="0"/>
              <a:t>，</a:t>
            </a:r>
            <a:r>
              <a:rPr lang="en-US" altLang="zh-CN" sz="1800" i="1" dirty="0" err="1"/>
              <a:t>r</a:t>
            </a:r>
            <a:r>
              <a:rPr lang="en-US" altLang="zh-CN" sz="1800" i="1" baseline="-25000" dirty="0" err="1"/>
              <a:t>i</a:t>
            </a:r>
            <a:r>
              <a:rPr lang="zh-CN" altLang="en-US" sz="1800" dirty="0"/>
              <a:t>≈</a:t>
            </a:r>
            <a:r>
              <a:rPr lang="en-US" altLang="zh-CN" sz="1800" dirty="0"/>
              <a:t>R1||</a:t>
            </a:r>
            <a:r>
              <a:rPr lang="en-US" altLang="zh-CN" sz="1800" dirty="0" smtClean="0"/>
              <a:t>R2=11kΩ</a:t>
            </a:r>
            <a:endParaRPr lang="zh-CN" altLang="en-US" sz="1800" dirty="0"/>
          </a:p>
          <a:p>
            <a:pPr lvl="2">
              <a:lnSpc>
                <a:spcPct val="150000"/>
              </a:lnSpc>
            </a:pPr>
            <a:r>
              <a:rPr lang="en-US" altLang="zh-CN" sz="1800" dirty="0"/>
              <a:t>R4 </a:t>
            </a:r>
            <a:r>
              <a:rPr lang="zh-CN" altLang="en-US" sz="1800" dirty="0"/>
              <a:t>短路，晶体管饱和，</a:t>
            </a:r>
            <a:r>
              <a:rPr lang="en-US" altLang="zh-CN" sz="1800" i="1" dirty="0"/>
              <a:t>V</a:t>
            </a:r>
            <a:r>
              <a:rPr lang="en-US" altLang="zh-CN" sz="1800" i="1" baseline="-25000" dirty="0"/>
              <a:t>E</a:t>
            </a:r>
            <a:r>
              <a:rPr lang="en-US" altLang="zh-CN" sz="1800" i="1" dirty="0"/>
              <a:t>=0</a:t>
            </a:r>
            <a:r>
              <a:rPr lang="zh-CN" altLang="en-US" sz="1800" dirty="0"/>
              <a:t>，</a:t>
            </a:r>
            <a:r>
              <a:rPr lang="en-US" altLang="zh-CN" sz="1800" i="1" dirty="0"/>
              <a:t>V</a:t>
            </a:r>
            <a:r>
              <a:rPr lang="en-US" altLang="zh-CN" sz="1800" i="1" baseline="-25000" dirty="0"/>
              <a:t>CE</a:t>
            </a:r>
            <a:r>
              <a:rPr lang="en-US" altLang="zh-CN" sz="1800" dirty="0"/>
              <a:t>=0.2V → </a:t>
            </a:r>
            <a:r>
              <a:rPr lang="en-US" altLang="zh-CN" sz="1800" i="1" dirty="0"/>
              <a:t>V</a:t>
            </a:r>
            <a:r>
              <a:rPr lang="en-US" altLang="zh-CN" sz="1800" i="1" baseline="-25000" dirty="0"/>
              <a:t>5</a:t>
            </a:r>
            <a:r>
              <a:rPr lang="en-US" altLang="zh-CN" sz="1800" dirty="0"/>
              <a:t>≈0.2V</a:t>
            </a:r>
            <a:r>
              <a:rPr lang="zh-CN" altLang="en-US" sz="1800" dirty="0"/>
              <a:t>，</a:t>
            </a:r>
            <a:r>
              <a:rPr lang="en-US" altLang="zh-CN" sz="1800" i="1" dirty="0"/>
              <a:t>r</a:t>
            </a:r>
            <a:r>
              <a:rPr lang="en-US" altLang="zh-CN" sz="1800" i="1" baseline="-25000" dirty="0"/>
              <a:t>i</a:t>
            </a:r>
            <a:r>
              <a:rPr lang="en-US" altLang="zh-CN" sz="1800" i="1" dirty="0"/>
              <a:t>≈</a:t>
            </a:r>
            <a:r>
              <a:rPr lang="en-US" altLang="zh-CN" sz="1800" i="1" dirty="0" smtClean="0"/>
              <a:t>0</a:t>
            </a:r>
            <a:endParaRPr lang="zh-CN" altLang="en-US" sz="1800" dirty="0"/>
          </a:p>
        </p:txBody>
      </p:sp>
    </p:spTree>
    <p:extLst>
      <p:ext uri="{BB962C8B-B14F-4D97-AF65-F5344CB8AC3E}">
        <p14:creationId xmlns:p14="http://schemas.microsoft.com/office/powerpoint/2010/main" val="808550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44</a:t>
            </a:fld>
            <a:endParaRPr lang="en-US" altLang="zh-CN">
              <a:solidFill>
                <a:srgbClr val="FFFFFF"/>
              </a:solidFill>
            </a:endParaRPr>
          </a:p>
        </p:txBody>
      </p:sp>
      <p:sp>
        <p:nvSpPr>
          <p:cNvPr id="5" name="文本框 4"/>
          <p:cNvSpPr txBox="1"/>
          <p:nvPr/>
        </p:nvSpPr>
        <p:spPr>
          <a:xfrm>
            <a:off x="424282" y="431597"/>
            <a:ext cx="11397303" cy="5078313"/>
          </a:xfrm>
          <a:prstGeom prst="rect">
            <a:avLst/>
          </a:prstGeom>
          <a:noFill/>
        </p:spPr>
        <p:txBody>
          <a:bodyPr wrap="square" rtlCol="0">
            <a:spAutoFit/>
          </a:bodyPr>
          <a:lstStyle/>
          <a:p>
            <a:pPr>
              <a:lnSpc>
                <a:spcPct val="150000"/>
              </a:lnSpc>
            </a:pPr>
            <a:r>
              <a:rPr lang="zh-CN" altLang="en-US" sz="1800" dirty="0" smtClean="0"/>
              <a:t>（</a:t>
            </a:r>
            <a:r>
              <a:rPr lang="en-US" altLang="zh-CN" sz="1800" dirty="0"/>
              <a:t>2</a:t>
            </a:r>
            <a:r>
              <a:rPr lang="zh-CN" altLang="en-US" sz="1800" dirty="0"/>
              <a:t>）任意开路</a:t>
            </a:r>
            <a:r>
              <a:rPr lang="en-US" altLang="zh-CN" sz="1800" dirty="0"/>
              <a:t>C1~C3 </a:t>
            </a:r>
            <a:r>
              <a:rPr lang="zh-CN" altLang="en-US" sz="1800" dirty="0"/>
              <a:t>中的一个电容。</a:t>
            </a:r>
          </a:p>
          <a:p>
            <a:pPr lvl="1">
              <a:lnSpc>
                <a:spcPct val="150000"/>
              </a:lnSpc>
            </a:pPr>
            <a:r>
              <a:rPr lang="zh-CN" altLang="en-US" sz="1800" dirty="0"/>
              <a:t>这种情况下晶体管的工作点不变，影响的是增益与频响。</a:t>
            </a:r>
          </a:p>
          <a:p>
            <a:pPr lvl="2">
              <a:lnSpc>
                <a:spcPct val="150000"/>
              </a:lnSpc>
            </a:pPr>
            <a:r>
              <a:rPr lang="en-US" altLang="zh-CN" sz="1800" dirty="0"/>
              <a:t>C1 </a:t>
            </a:r>
            <a:r>
              <a:rPr lang="zh-CN" altLang="en-US" sz="1800" dirty="0"/>
              <a:t>开路，输入电阻</a:t>
            </a:r>
            <a:r>
              <a:rPr lang="en-US" altLang="zh-CN" sz="1800" i="1" dirty="0" err="1"/>
              <a:t>r</a:t>
            </a:r>
            <a:r>
              <a:rPr lang="en-US" altLang="zh-CN" sz="1800" baseline="-25000" dirty="0" err="1"/>
              <a:t>i</a:t>
            </a:r>
            <a:r>
              <a:rPr lang="en-US" altLang="zh-CN" sz="1800" i="1" dirty="0"/>
              <a:t>=∞</a:t>
            </a:r>
            <a:r>
              <a:rPr lang="zh-CN" altLang="en-US" sz="1800" dirty="0"/>
              <a:t>，输出电压</a:t>
            </a:r>
            <a:r>
              <a:rPr lang="en-US" altLang="zh-CN" sz="1800" i="1" dirty="0"/>
              <a:t>V3=0</a:t>
            </a:r>
            <a:r>
              <a:rPr lang="zh-CN" altLang="en-US" sz="1800" dirty="0"/>
              <a:t>。</a:t>
            </a:r>
          </a:p>
          <a:p>
            <a:pPr lvl="2">
              <a:lnSpc>
                <a:spcPct val="150000"/>
              </a:lnSpc>
            </a:pPr>
            <a:r>
              <a:rPr lang="en-US" altLang="zh-CN" sz="1800" dirty="0"/>
              <a:t>C2 </a:t>
            </a:r>
            <a:r>
              <a:rPr lang="zh-CN" altLang="en-US" sz="1800" dirty="0"/>
              <a:t>开路，输入阻抗增大到</a:t>
            </a:r>
            <a:r>
              <a:rPr lang="en-US" altLang="zh-CN" sz="1800" dirty="0"/>
              <a:t>R1||R2||(βR4)</a:t>
            </a:r>
            <a:r>
              <a:rPr lang="zh-CN" altLang="en-US" sz="1800" dirty="0"/>
              <a:t>，</a:t>
            </a:r>
            <a:r>
              <a:rPr lang="en-US" altLang="zh-CN" sz="1800" i="1" dirty="0"/>
              <a:t>r</a:t>
            </a:r>
            <a:r>
              <a:rPr lang="en-US" altLang="zh-CN" sz="1800" baseline="-25000" dirty="0"/>
              <a:t>i</a:t>
            </a:r>
            <a:r>
              <a:rPr lang="en-US" altLang="zh-CN" sz="1800" i="1" dirty="0"/>
              <a:t>≈10kΩ</a:t>
            </a:r>
            <a:r>
              <a:rPr lang="zh-CN" altLang="en-US" sz="1800" dirty="0"/>
              <a:t>，增益</a:t>
            </a:r>
            <a:r>
              <a:rPr lang="en-US" altLang="zh-CN" sz="1800" i="1" dirty="0"/>
              <a:t>A</a:t>
            </a:r>
            <a:r>
              <a:rPr lang="en-US" altLang="zh-CN" sz="1800" baseline="-25000" dirty="0"/>
              <a:t>V</a:t>
            </a:r>
            <a:r>
              <a:rPr lang="en-US" altLang="zh-CN" sz="1800" i="1" dirty="0"/>
              <a:t>≈2</a:t>
            </a:r>
            <a:r>
              <a:rPr lang="zh-CN" altLang="en-US" sz="1800" dirty="0"/>
              <a:t>。</a:t>
            </a:r>
          </a:p>
          <a:p>
            <a:pPr lvl="2">
              <a:lnSpc>
                <a:spcPct val="150000"/>
              </a:lnSpc>
            </a:pPr>
            <a:r>
              <a:rPr lang="en-US" altLang="zh-CN" sz="1800" dirty="0"/>
              <a:t>C3 </a:t>
            </a:r>
            <a:r>
              <a:rPr lang="zh-CN" altLang="en-US" sz="1800" dirty="0"/>
              <a:t>开路，高频截止频率大幅度升高。该被测电路原来的高频截止频率可以按照</a:t>
            </a:r>
            <a:r>
              <a:rPr lang="en-US" altLang="zh-CN" sz="1800" dirty="0"/>
              <a:t>1/(2πR</a:t>
            </a:r>
            <a:r>
              <a:rPr lang="en-US" altLang="zh-CN" sz="1800" baseline="-25000" dirty="0"/>
              <a:t>3</a:t>
            </a:r>
            <a:r>
              <a:rPr lang="en-US" altLang="zh-CN" sz="1800" dirty="0"/>
              <a:t>C</a:t>
            </a:r>
            <a:r>
              <a:rPr lang="en-US" altLang="zh-CN" sz="1800" baseline="-25000" dirty="0"/>
              <a:t>3</a:t>
            </a:r>
            <a:r>
              <a:rPr lang="en-US" altLang="zh-CN" sz="1800" dirty="0"/>
              <a:t>)</a:t>
            </a:r>
            <a:r>
              <a:rPr lang="zh-CN" altLang="en-US" sz="1800" dirty="0"/>
              <a:t>估算，大约等于</a:t>
            </a:r>
            <a:r>
              <a:rPr lang="en-US" altLang="zh-CN" sz="1800" dirty="0"/>
              <a:t>170kHz</a:t>
            </a:r>
            <a:r>
              <a:rPr lang="zh-CN" altLang="en-US" sz="1800" dirty="0"/>
              <a:t>，</a:t>
            </a:r>
            <a:r>
              <a:rPr lang="en-US" altLang="zh-CN" sz="1800" dirty="0"/>
              <a:t>C3 </a:t>
            </a:r>
            <a:r>
              <a:rPr lang="zh-CN" altLang="en-US" sz="1800" dirty="0"/>
              <a:t>开路后的高频截止频率将与晶体管的频响有关，但肯定高于</a:t>
            </a:r>
            <a:r>
              <a:rPr lang="en-US" altLang="zh-CN" sz="1800" dirty="0"/>
              <a:t>170kHz</a:t>
            </a:r>
            <a:r>
              <a:rPr lang="zh-CN" altLang="en-US" sz="1800" dirty="0"/>
              <a:t>。</a:t>
            </a:r>
          </a:p>
          <a:p>
            <a:pPr>
              <a:lnSpc>
                <a:spcPct val="150000"/>
              </a:lnSpc>
            </a:pPr>
            <a:r>
              <a:rPr lang="zh-CN" altLang="en-US" sz="1800" dirty="0"/>
              <a:t>（</a:t>
            </a:r>
            <a:r>
              <a:rPr lang="en-US" altLang="zh-CN" sz="1800" dirty="0"/>
              <a:t>3</a:t>
            </a:r>
            <a:r>
              <a:rPr lang="zh-CN" altLang="en-US" sz="1800" dirty="0"/>
              <a:t>）任意增大</a:t>
            </a:r>
            <a:r>
              <a:rPr lang="en-US" altLang="zh-CN" sz="1800" dirty="0"/>
              <a:t>C1~C3 </a:t>
            </a:r>
            <a:r>
              <a:rPr lang="zh-CN" altLang="en-US" sz="1800" dirty="0"/>
              <a:t>中的一个电容的容量到</a:t>
            </a:r>
            <a:r>
              <a:rPr lang="en-US" altLang="zh-CN" sz="1800" dirty="0"/>
              <a:t>2 </a:t>
            </a:r>
            <a:r>
              <a:rPr lang="zh-CN" altLang="en-US" sz="1800" dirty="0"/>
              <a:t>倍。</a:t>
            </a:r>
          </a:p>
          <a:p>
            <a:pPr lvl="1">
              <a:lnSpc>
                <a:spcPct val="150000"/>
              </a:lnSpc>
            </a:pPr>
            <a:r>
              <a:rPr lang="zh-CN" altLang="en-US" sz="1800" dirty="0"/>
              <a:t>此时影响的仅仅是频响，</a:t>
            </a:r>
            <a:r>
              <a:rPr lang="en-US" altLang="zh-CN" sz="1800" dirty="0"/>
              <a:t>C1</a:t>
            </a:r>
            <a:r>
              <a:rPr lang="zh-CN" altLang="en-US" sz="1800" dirty="0"/>
              <a:t>、</a:t>
            </a:r>
            <a:r>
              <a:rPr lang="en-US" altLang="zh-CN" sz="1800" dirty="0"/>
              <a:t>C2 </a:t>
            </a:r>
            <a:r>
              <a:rPr lang="zh-CN" altLang="en-US" sz="1800" dirty="0"/>
              <a:t>影响低频截止频率，</a:t>
            </a:r>
            <a:r>
              <a:rPr lang="en-US" altLang="zh-CN" sz="1800" dirty="0"/>
              <a:t>C3 </a:t>
            </a:r>
            <a:r>
              <a:rPr lang="zh-CN" altLang="en-US" sz="1800" dirty="0"/>
              <a:t>影响高频截止频率。</a:t>
            </a:r>
          </a:p>
          <a:p>
            <a:pPr lvl="2">
              <a:lnSpc>
                <a:spcPct val="150000"/>
              </a:lnSpc>
            </a:pPr>
            <a:r>
              <a:rPr lang="zh-CN" altLang="en-US" sz="1800" dirty="0"/>
              <a:t>增大</a:t>
            </a:r>
            <a:r>
              <a:rPr lang="en-US" altLang="zh-CN" sz="1800" dirty="0"/>
              <a:t>C3 </a:t>
            </a:r>
            <a:r>
              <a:rPr lang="zh-CN" altLang="en-US" sz="1800" dirty="0"/>
              <a:t>后，高频</a:t>
            </a:r>
            <a:r>
              <a:rPr lang="en-US" altLang="zh-CN" sz="1800" dirty="0"/>
              <a:t>-3dB </a:t>
            </a:r>
            <a:r>
              <a:rPr lang="zh-CN" altLang="en-US" sz="1800" dirty="0"/>
              <a:t>截止频率下降大约一半，直接测放大器高频响应就可判断。</a:t>
            </a:r>
          </a:p>
          <a:p>
            <a:pPr lvl="2">
              <a:lnSpc>
                <a:spcPct val="150000"/>
              </a:lnSpc>
            </a:pPr>
            <a:r>
              <a:rPr lang="zh-CN" altLang="en-US" sz="1800" dirty="0"/>
              <a:t>与</a:t>
            </a:r>
            <a:r>
              <a:rPr lang="en-US" altLang="zh-CN" sz="1800" dirty="0"/>
              <a:t>C1 </a:t>
            </a:r>
            <a:r>
              <a:rPr lang="zh-CN" altLang="en-US" sz="1800" dirty="0"/>
              <a:t>相关转折频率可以</a:t>
            </a:r>
            <a:r>
              <a:rPr lang="en-US" altLang="zh-CN" sz="1800" dirty="0"/>
              <a:t>1/(2πr</a:t>
            </a:r>
            <a:r>
              <a:rPr lang="en-US" altLang="zh-CN" sz="1800" baseline="-25000" dirty="0"/>
              <a:t>i</a:t>
            </a:r>
            <a:r>
              <a:rPr lang="en-US" altLang="zh-CN" sz="1800" dirty="0"/>
              <a:t>C</a:t>
            </a:r>
            <a:r>
              <a:rPr lang="en-US" altLang="zh-CN" sz="1800" baseline="-25000" dirty="0"/>
              <a:t>1</a:t>
            </a:r>
            <a:r>
              <a:rPr lang="en-US" altLang="zh-CN" sz="1800" dirty="0"/>
              <a:t>)</a:t>
            </a:r>
            <a:r>
              <a:rPr lang="zh-CN" altLang="en-US" sz="1800" dirty="0"/>
              <a:t>估算，其中</a:t>
            </a:r>
            <a:r>
              <a:rPr lang="en-US" altLang="zh-CN" sz="1800" i="1" dirty="0" err="1"/>
              <a:t>r</a:t>
            </a:r>
            <a:r>
              <a:rPr lang="en-US" altLang="zh-CN" sz="1800" baseline="-25000" dirty="0" err="1"/>
              <a:t>i</a:t>
            </a:r>
            <a:r>
              <a:rPr lang="en-US" altLang="zh-CN" sz="1800" baseline="-25000" dirty="0"/>
              <a:t> </a:t>
            </a:r>
            <a:r>
              <a:rPr lang="zh-CN" altLang="en-US" sz="1800" dirty="0"/>
              <a:t>是放大器的输入电阻，约为</a:t>
            </a:r>
            <a:r>
              <a:rPr lang="en-US" altLang="zh-CN" sz="1800" dirty="0"/>
              <a:t>660~3300Ω</a:t>
            </a:r>
            <a:r>
              <a:rPr lang="zh-CN" altLang="en-US" sz="1800" dirty="0"/>
              <a:t>，计算得到的转折频率大约在</a:t>
            </a:r>
            <a:r>
              <a:rPr lang="en-US" altLang="zh-CN" sz="1800" dirty="0"/>
              <a:t>5~27Hz</a:t>
            </a:r>
            <a:r>
              <a:rPr lang="zh-CN" altLang="en-US" sz="1800" dirty="0"/>
              <a:t>。与</a:t>
            </a:r>
            <a:r>
              <a:rPr lang="en-US" altLang="zh-CN" sz="1800" dirty="0"/>
              <a:t>C</a:t>
            </a:r>
            <a:r>
              <a:rPr lang="en-US" altLang="zh-CN" sz="1800" baseline="-25000" dirty="0"/>
              <a:t>2 </a:t>
            </a:r>
            <a:r>
              <a:rPr lang="zh-CN" altLang="en-US" sz="1800" dirty="0"/>
              <a:t>相关的转折频率可以</a:t>
            </a:r>
            <a:r>
              <a:rPr lang="en-US" altLang="zh-CN" sz="1800" dirty="0"/>
              <a:t>1/(2πR</a:t>
            </a:r>
            <a:r>
              <a:rPr lang="en-US" altLang="zh-CN" sz="1800" baseline="-25000" dirty="0"/>
              <a:t>4</a:t>
            </a:r>
            <a:r>
              <a:rPr lang="en-US" altLang="zh-CN" sz="1800" dirty="0"/>
              <a:t>C</a:t>
            </a:r>
            <a:r>
              <a:rPr lang="en-US" altLang="zh-CN" sz="1800" baseline="-25000" dirty="0"/>
              <a:t>2</a:t>
            </a:r>
            <a:r>
              <a:rPr lang="en-US" altLang="zh-CN" sz="1800" dirty="0"/>
              <a:t>)</a:t>
            </a:r>
            <a:r>
              <a:rPr lang="zh-CN" altLang="en-US" sz="1800" dirty="0"/>
              <a:t>估算，约为</a:t>
            </a:r>
            <a:r>
              <a:rPr lang="en-US" altLang="zh-CN" sz="1800" dirty="0"/>
              <a:t>3.3Hz</a:t>
            </a:r>
            <a:r>
              <a:rPr lang="zh-CN" altLang="en-US" sz="1800" dirty="0"/>
              <a:t>。电容加大一倍后转折频率降低到原来的</a:t>
            </a:r>
            <a:r>
              <a:rPr lang="en-US" altLang="zh-CN" sz="1800" dirty="0"/>
              <a:t>1/2</a:t>
            </a:r>
            <a:r>
              <a:rPr lang="zh-CN" altLang="en-US" sz="1800" dirty="0" smtClean="0"/>
              <a:t>。</a:t>
            </a:r>
            <a:endParaRPr lang="zh-CN" altLang="en-US" sz="1800" dirty="0"/>
          </a:p>
        </p:txBody>
      </p:sp>
    </p:spTree>
    <p:extLst>
      <p:ext uri="{BB962C8B-B14F-4D97-AF65-F5344CB8AC3E}">
        <p14:creationId xmlns:p14="http://schemas.microsoft.com/office/powerpoint/2010/main" val="20137064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45</a:t>
            </a:fld>
            <a:endParaRPr lang="en-US" altLang="zh-CN"/>
          </a:p>
        </p:txBody>
      </p:sp>
      <p:sp>
        <p:nvSpPr>
          <p:cNvPr id="2" name="文本框 1"/>
          <p:cNvSpPr txBox="1"/>
          <p:nvPr/>
        </p:nvSpPr>
        <p:spPr>
          <a:xfrm>
            <a:off x="500443" y="501501"/>
            <a:ext cx="11321142" cy="2492990"/>
          </a:xfrm>
          <a:prstGeom prst="rect">
            <a:avLst/>
          </a:prstGeom>
          <a:noFill/>
        </p:spPr>
        <p:txBody>
          <a:bodyPr wrap="square" rtlCol="0">
            <a:spAutoFit/>
          </a:bodyPr>
          <a:lstStyle/>
          <a:p>
            <a:pPr indent="457200"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频率与周期测量仪器类题目</a:t>
            </a:r>
            <a:endParaRPr lang="en-US" altLang="zh-CN" sz="3200" dirty="0">
              <a:solidFill>
                <a:srgbClr val="FF0000"/>
              </a:solidFill>
              <a:latin typeface="隶书" panose="02010509060101010101" pitchFamily="49" charset="-122"/>
              <a:ea typeface="隶书" panose="02010509060101010101" pitchFamily="49" charset="-122"/>
            </a:endParaRPr>
          </a:p>
          <a:p>
            <a:pPr indent="457200" algn="just">
              <a:lnSpc>
                <a:spcPct val="150000"/>
              </a:lnSpc>
              <a:spcAft>
                <a:spcPts val="0"/>
              </a:spcAft>
            </a:pPr>
            <a:r>
              <a:rPr lang="zh-CN" altLang="en-US" sz="1800" kern="100" dirty="0" smtClean="0">
                <a:latin typeface="Arial" panose="020B0604020202020204" pitchFamily="34" charset="0"/>
              </a:rPr>
              <a:t>实验室最常见的频率</a:t>
            </a:r>
            <a:r>
              <a:rPr lang="zh-CN" altLang="en-US" sz="1800" kern="100" dirty="0">
                <a:latin typeface="Arial" panose="020B0604020202020204" pitchFamily="34" charset="0"/>
              </a:rPr>
              <a:t>与</a:t>
            </a:r>
            <a:r>
              <a:rPr lang="zh-CN" altLang="en-US" sz="1800" kern="100" dirty="0" smtClean="0">
                <a:latin typeface="Arial" panose="020B0604020202020204" pitchFamily="34" charset="0"/>
              </a:rPr>
              <a:t>周期测量仪器就是频率计，一些万用表也带有频率测试功能</a:t>
            </a:r>
            <a:endParaRPr lang="en-US" altLang="zh-CN" sz="1800" kern="100" dirty="0" smtClean="0">
              <a:latin typeface="Arial" panose="020B0604020202020204" pitchFamily="34" charset="0"/>
            </a:endParaRPr>
          </a:p>
          <a:p>
            <a:pPr indent="457200" algn="just">
              <a:lnSpc>
                <a:spcPct val="150000"/>
              </a:lnSpc>
              <a:spcAft>
                <a:spcPts val="0"/>
              </a:spcAft>
            </a:pPr>
            <a:r>
              <a:rPr lang="zh-CN" altLang="en-US" sz="1800" kern="100" dirty="0" smtClean="0">
                <a:latin typeface="Arial" panose="020B0604020202020204" pitchFamily="34" charset="0"/>
              </a:rPr>
              <a:t>基本的频率与周期测试方案是计数法，也就是用一个标准的时钟脉冲对被测信号计数。在一些万用表中以及一些简易测试装置中，也有将频率转换为电压（</a:t>
            </a:r>
            <a:r>
              <a:rPr lang="en-US" altLang="zh-CN" sz="1800" kern="100" dirty="0" smtClean="0">
                <a:latin typeface="Arial" panose="020B0604020202020204" pitchFamily="34" charset="0"/>
              </a:rPr>
              <a:t>FVC</a:t>
            </a:r>
            <a:r>
              <a:rPr lang="zh-CN" altLang="en-US" sz="1800" kern="100" dirty="0" smtClean="0">
                <a:latin typeface="Arial" panose="020B0604020202020204" pitchFamily="34" charset="0"/>
              </a:rPr>
              <a:t>）</a:t>
            </a:r>
            <a:r>
              <a:rPr lang="zh-CN" altLang="en-US" sz="1800" kern="100" dirty="0" smtClean="0">
                <a:latin typeface="Arial" panose="020B0604020202020204" pitchFamily="34" charset="0"/>
              </a:rPr>
              <a:t>后间接测量的</a:t>
            </a:r>
            <a:endParaRPr lang="en-US" altLang="zh-CN" sz="1800" kern="100" dirty="0">
              <a:latin typeface="Arial" panose="020B0604020202020204" pitchFamily="34" charset="0"/>
            </a:endParaRPr>
          </a:p>
          <a:p>
            <a:pPr indent="457200">
              <a:lnSpc>
                <a:spcPct val="150000"/>
              </a:lnSpc>
            </a:pPr>
            <a:endParaRPr lang="zh-CN" altLang="zh-CN" sz="1800" dirty="0"/>
          </a:p>
        </p:txBody>
      </p:sp>
    </p:spTree>
    <p:extLst>
      <p:ext uri="{BB962C8B-B14F-4D97-AF65-F5344CB8AC3E}">
        <p14:creationId xmlns:p14="http://schemas.microsoft.com/office/powerpoint/2010/main" val="192964847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46</a:t>
            </a:fld>
            <a:endParaRPr lang="en-US" altLang="zh-CN">
              <a:solidFill>
                <a:srgbClr val="FFFFFF"/>
              </a:solidFill>
            </a:endParaRPr>
          </a:p>
        </p:txBody>
      </p:sp>
      <p:sp>
        <p:nvSpPr>
          <p:cNvPr id="6" name="文本框 5"/>
          <p:cNvSpPr txBox="1"/>
          <p:nvPr/>
        </p:nvSpPr>
        <p:spPr>
          <a:xfrm>
            <a:off x="449942" y="376134"/>
            <a:ext cx="11190514" cy="5740033"/>
          </a:xfrm>
          <a:prstGeom prst="rect">
            <a:avLst/>
          </a:prstGeom>
          <a:noFill/>
        </p:spPr>
        <p:txBody>
          <a:bodyPr wrap="square" rtlCol="0">
            <a:spAutoFit/>
          </a:bodyPr>
          <a:lstStyle/>
          <a:p>
            <a:pPr algn="ctr">
              <a:lnSpc>
                <a:spcPct val="150000"/>
              </a:lnSpc>
              <a:spcAft>
                <a:spcPts val="1200"/>
              </a:spcAft>
            </a:pPr>
            <a:r>
              <a:rPr lang="en-US" altLang="zh-CN" sz="2400" dirty="0" smtClean="0">
                <a:solidFill>
                  <a:schemeClr val="accent6">
                    <a:lumMod val="75000"/>
                  </a:schemeClr>
                </a:solidFill>
              </a:rPr>
              <a:t>2015</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年</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全国赛</a:t>
            </a:r>
            <a:r>
              <a:rPr lang="en-US" altLang="zh-CN" sz="2400" dirty="0" smtClean="0">
                <a:solidFill>
                  <a:schemeClr val="accent6">
                    <a:lumMod val="75000"/>
                  </a:schemeClr>
                </a:solidFill>
              </a:rPr>
              <a:t>F</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题</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数字频率计</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1800" dirty="0" smtClean="0">
                <a:solidFill>
                  <a:schemeClr val="accent6">
                    <a:lumMod val="75000"/>
                  </a:schemeClr>
                </a:solidFill>
              </a:rPr>
              <a:t> </a:t>
            </a:r>
            <a:endParaRPr lang="zh-CN" altLang="zh-CN" sz="2800" dirty="0">
              <a:solidFill>
                <a:schemeClr val="accent6">
                  <a:lumMod val="75000"/>
                </a:schemeClr>
              </a:solidFill>
              <a:latin typeface="隶书" panose="02010509060101010101" pitchFamily="49" charset="-122"/>
              <a:ea typeface="隶书" panose="02010509060101010101" pitchFamily="49" charset="-122"/>
            </a:endParaRPr>
          </a:p>
          <a:p>
            <a:pPr>
              <a:lnSpc>
                <a:spcPct val="125000"/>
              </a:lnSpc>
            </a:pPr>
            <a:r>
              <a:rPr lang="zh-CN" altLang="zh-CN" sz="1800" dirty="0" smtClean="0">
                <a:latin typeface="黑体" panose="02010609060101010101" pitchFamily="49" charset="-122"/>
                <a:ea typeface="黑体" panose="02010609060101010101" pitchFamily="49" charset="-122"/>
              </a:rPr>
              <a:t>一</a:t>
            </a:r>
            <a:r>
              <a:rPr lang="zh-CN" altLang="zh-CN" sz="1800" dirty="0">
                <a:latin typeface="黑体" panose="02010609060101010101" pitchFamily="49" charset="-122"/>
                <a:ea typeface="黑体" panose="02010609060101010101" pitchFamily="49" charset="-122"/>
              </a:rPr>
              <a:t>、任务</a:t>
            </a:r>
          </a:p>
          <a:p>
            <a:pPr lvl="1">
              <a:lnSpc>
                <a:spcPct val="125000"/>
              </a:lnSpc>
            </a:pPr>
            <a:r>
              <a:rPr lang="zh-CN" altLang="en-US" sz="1800" dirty="0"/>
              <a:t>设计并制作一台闸门时间为</a:t>
            </a:r>
            <a:r>
              <a:rPr lang="en-US" altLang="zh-CN" sz="1800" dirty="0"/>
              <a:t>1s </a:t>
            </a:r>
            <a:r>
              <a:rPr lang="zh-CN" altLang="en-US" sz="1800" dirty="0"/>
              <a:t>的</a:t>
            </a:r>
            <a:r>
              <a:rPr lang="zh-CN" altLang="en-US" sz="1800" dirty="0" smtClean="0"/>
              <a:t>数字频率计</a:t>
            </a:r>
            <a:endParaRPr lang="en-US" altLang="zh-CN" sz="1400" dirty="0"/>
          </a:p>
          <a:p>
            <a:pPr>
              <a:lnSpc>
                <a:spcPct val="125000"/>
              </a:lnSpc>
            </a:pPr>
            <a:r>
              <a:rPr lang="zh-CN" altLang="en-US" sz="1800" dirty="0">
                <a:latin typeface="黑体" panose="02010609060101010101" pitchFamily="49" charset="-122"/>
                <a:ea typeface="黑体" panose="02010609060101010101" pitchFamily="49" charset="-122"/>
              </a:rPr>
              <a:t>二、要求</a:t>
            </a:r>
          </a:p>
          <a:p>
            <a:pPr>
              <a:lnSpc>
                <a:spcPct val="125000"/>
              </a:lnSpc>
            </a:pPr>
            <a:r>
              <a:rPr lang="en-US" altLang="zh-CN" sz="1800" dirty="0"/>
              <a:t>1</a:t>
            </a:r>
            <a:r>
              <a:rPr lang="zh-CN" altLang="en-US" sz="1800" dirty="0"/>
              <a:t>、基本要求</a:t>
            </a:r>
          </a:p>
          <a:p>
            <a:pPr lvl="1">
              <a:lnSpc>
                <a:spcPct val="125000"/>
              </a:lnSpc>
            </a:pPr>
            <a:r>
              <a:rPr lang="en-US" altLang="zh-CN" sz="1800" dirty="0"/>
              <a:t>(1) </a:t>
            </a:r>
            <a:r>
              <a:rPr lang="zh-CN" altLang="en-US" sz="1800" dirty="0"/>
              <a:t>频率和周期测量功能</a:t>
            </a:r>
          </a:p>
          <a:p>
            <a:pPr lvl="2">
              <a:lnSpc>
                <a:spcPct val="125000"/>
              </a:lnSpc>
            </a:pPr>
            <a:r>
              <a:rPr lang="en-US" altLang="zh-CN" sz="1800" dirty="0"/>
              <a:t>a</a:t>
            </a:r>
            <a:r>
              <a:rPr lang="zh-CN" altLang="en-US" sz="1800" dirty="0"/>
              <a:t>．被测信号为正弦波，频率范围为</a:t>
            </a:r>
            <a:r>
              <a:rPr lang="en-US" altLang="zh-CN" sz="1800" dirty="0"/>
              <a:t>1Hz</a:t>
            </a:r>
            <a:r>
              <a:rPr lang="zh-CN" altLang="en-US" sz="1800" dirty="0"/>
              <a:t>～</a:t>
            </a:r>
            <a:r>
              <a:rPr lang="en-US" altLang="zh-CN" sz="1800" dirty="0"/>
              <a:t>10MHz</a:t>
            </a:r>
            <a:r>
              <a:rPr lang="zh-CN" altLang="en-US" sz="1800" dirty="0"/>
              <a:t>；</a:t>
            </a:r>
          </a:p>
          <a:p>
            <a:pPr lvl="2">
              <a:lnSpc>
                <a:spcPct val="125000"/>
              </a:lnSpc>
            </a:pPr>
            <a:r>
              <a:rPr lang="en-US" altLang="zh-CN" sz="1800" dirty="0"/>
              <a:t>b</a:t>
            </a:r>
            <a:r>
              <a:rPr lang="zh-CN" altLang="en-US" sz="1800" dirty="0"/>
              <a:t>．被测信号有效值电压范围为</a:t>
            </a:r>
            <a:r>
              <a:rPr lang="en-US" altLang="zh-CN" sz="1800" dirty="0"/>
              <a:t>50mV</a:t>
            </a:r>
            <a:r>
              <a:rPr lang="zh-CN" altLang="en-US" sz="1800" dirty="0"/>
              <a:t>～</a:t>
            </a:r>
            <a:r>
              <a:rPr lang="en-US" altLang="zh-CN" sz="1800" dirty="0"/>
              <a:t>1V</a:t>
            </a:r>
            <a:r>
              <a:rPr lang="zh-CN" altLang="en-US" sz="1800" dirty="0"/>
              <a:t>；</a:t>
            </a:r>
          </a:p>
          <a:p>
            <a:pPr lvl="2">
              <a:lnSpc>
                <a:spcPct val="125000"/>
              </a:lnSpc>
            </a:pPr>
            <a:r>
              <a:rPr lang="en-US" altLang="zh-CN" sz="1800" dirty="0"/>
              <a:t>c</a:t>
            </a:r>
            <a:r>
              <a:rPr lang="zh-CN" altLang="en-US" sz="1800" dirty="0"/>
              <a:t>．测量相对误差的绝对值不大于</a:t>
            </a:r>
            <a:r>
              <a:rPr lang="en-US" altLang="zh-CN" sz="1800" dirty="0"/>
              <a:t>10</a:t>
            </a:r>
            <a:r>
              <a:rPr lang="en-US" altLang="zh-CN" sz="1800" baseline="30000" dirty="0"/>
              <a:t>-4</a:t>
            </a:r>
            <a:r>
              <a:rPr lang="zh-CN" altLang="en-US" sz="1800" dirty="0"/>
              <a:t>。</a:t>
            </a:r>
          </a:p>
          <a:p>
            <a:pPr lvl="1">
              <a:lnSpc>
                <a:spcPct val="125000"/>
              </a:lnSpc>
            </a:pPr>
            <a:r>
              <a:rPr lang="en-US" altLang="zh-CN" sz="1800" dirty="0"/>
              <a:t>(2) </a:t>
            </a:r>
            <a:r>
              <a:rPr lang="zh-CN" altLang="en-US" sz="1800" dirty="0"/>
              <a:t>时间间隔测量功能</a:t>
            </a:r>
          </a:p>
          <a:p>
            <a:pPr lvl="2">
              <a:lnSpc>
                <a:spcPct val="125000"/>
              </a:lnSpc>
            </a:pPr>
            <a:r>
              <a:rPr lang="en-US" altLang="zh-CN" sz="1800" dirty="0"/>
              <a:t>a</a:t>
            </a:r>
            <a:r>
              <a:rPr lang="zh-CN" altLang="en-US" sz="1800" dirty="0"/>
              <a:t>．被测信号为方波，频率范围为</a:t>
            </a:r>
            <a:r>
              <a:rPr lang="en-US" altLang="zh-CN" sz="1800" dirty="0"/>
              <a:t>100Hz</a:t>
            </a:r>
            <a:r>
              <a:rPr lang="zh-CN" altLang="en-US" sz="1800" dirty="0"/>
              <a:t>～</a:t>
            </a:r>
            <a:r>
              <a:rPr lang="en-US" altLang="zh-CN" sz="1800" dirty="0"/>
              <a:t>1MHz</a:t>
            </a:r>
            <a:r>
              <a:rPr lang="zh-CN" altLang="en-US" sz="1800" dirty="0"/>
              <a:t>；</a:t>
            </a:r>
          </a:p>
          <a:p>
            <a:pPr lvl="2">
              <a:lnSpc>
                <a:spcPct val="125000"/>
              </a:lnSpc>
            </a:pPr>
            <a:r>
              <a:rPr lang="en-US" altLang="zh-CN" sz="1800" dirty="0"/>
              <a:t>b</a:t>
            </a:r>
            <a:r>
              <a:rPr lang="zh-CN" altLang="en-US" sz="1800" dirty="0"/>
              <a:t>．被测信号峰峰值电压范围为</a:t>
            </a:r>
            <a:r>
              <a:rPr lang="en-US" altLang="zh-CN" sz="1800" dirty="0"/>
              <a:t>50mV</a:t>
            </a:r>
            <a:r>
              <a:rPr lang="zh-CN" altLang="en-US" sz="1800" dirty="0"/>
              <a:t>～</a:t>
            </a:r>
            <a:r>
              <a:rPr lang="en-US" altLang="zh-CN" sz="1800" dirty="0"/>
              <a:t>1V</a:t>
            </a:r>
            <a:r>
              <a:rPr lang="zh-CN" altLang="en-US" sz="1800" dirty="0"/>
              <a:t>；</a:t>
            </a:r>
          </a:p>
          <a:p>
            <a:pPr lvl="2">
              <a:lnSpc>
                <a:spcPct val="125000"/>
              </a:lnSpc>
            </a:pPr>
            <a:r>
              <a:rPr lang="en-US" altLang="zh-CN" sz="1800" dirty="0"/>
              <a:t>c</a:t>
            </a:r>
            <a:r>
              <a:rPr lang="zh-CN" altLang="en-US" sz="1800" dirty="0"/>
              <a:t>．被测时间间隔的范围为</a:t>
            </a:r>
            <a:r>
              <a:rPr lang="en-US" altLang="zh-CN" sz="1800" dirty="0"/>
              <a:t>0.1μs</a:t>
            </a:r>
            <a:r>
              <a:rPr lang="zh-CN" altLang="en-US" sz="1800" dirty="0"/>
              <a:t>～</a:t>
            </a:r>
            <a:r>
              <a:rPr lang="en-US" altLang="zh-CN" sz="1800" dirty="0"/>
              <a:t>100ms</a:t>
            </a:r>
            <a:r>
              <a:rPr lang="zh-CN" altLang="en-US" sz="1800" dirty="0"/>
              <a:t>；</a:t>
            </a:r>
          </a:p>
          <a:p>
            <a:pPr lvl="2">
              <a:lnSpc>
                <a:spcPct val="125000"/>
              </a:lnSpc>
            </a:pPr>
            <a:r>
              <a:rPr lang="en-US" altLang="zh-CN" sz="1800" dirty="0"/>
              <a:t>d</a:t>
            </a:r>
            <a:r>
              <a:rPr lang="zh-CN" altLang="en-US" sz="1800" dirty="0"/>
              <a:t>．测量相对误差的绝对值不大于</a:t>
            </a:r>
            <a:r>
              <a:rPr lang="en-US" altLang="zh-CN" sz="1800" dirty="0"/>
              <a:t>10</a:t>
            </a:r>
            <a:r>
              <a:rPr lang="en-US" altLang="zh-CN" sz="1800" baseline="30000" dirty="0"/>
              <a:t>-2</a:t>
            </a:r>
            <a:r>
              <a:rPr lang="zh-CN" altLang="en-US" sz="1800" dirty="0"/>
              <a:t>。</a:t>
            </a:r>
          </a:p>
          <a:p>
            <a:pPr lvl="1">
              <a:lnSpc>
                <a:spcPct val="125000"/>
              </a:lnSpc>
            </a:pPr>
            <a:r>
              <a:rPr lang="en-US" altLang="zh-CN" sz="1800" dirty="0"/>
              <a:t>(3) </a:t>
            </a:r>
            <a:r>
              <a:rPr lang="zh-CN" altLang="en-US" sz="1800" dirty="0"/>
              <a:t>测量数据刷新时间不大于</a:t>
            </a:r>
            <a:r>
              <a:rPr lang="en-US" altLang="zh-CN" sz="1800" dirty="0"/>
              <a:t>2s</a:t>
            </a:r>
            <a:r>
              <a:rPr lang="zh-CN" altLang="en-US" sz="1800" dirty="0"/>
              <a:t>，测量结果稳定，并能自动显示单位。</a:t>
            </a:r>
            <a:endParaRPr lang="en-US" altLang="zh-CN" sz="4000" dirty="0" smtClean="0"/>
          </a:p>
        </p:txBody>
      </p:sp>
    </p:spTree>
    <p:extLst>
      <p:ext uri="{BB962C8B-B14F-4D97-AF65-F5344CB8AC3E}">
        <p14:creationId xmlns:p14="http://schemas.microsoft.com/office/powerpoint/2010/main" val="28075905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47</a:t>
            </a:fld>
            <a:endParaRPr lang="en-US" altLang="zh-CN">
              <a:solidFill>
                <a:srgbClr val="FFFFFF"/>
              </a:solidFill>
            </a:endParaRPr>
          </a:p>
        </p:txBody>
      </p:sp>
      <p:sp>
        <p:nvSpPr>
          <p:cNvPr id="5" name="文本框 4"/>
          <p:cNvSpPr txBox="1"/>
          <p:nvPr/>
        </p:nvSpPr>
        <p:spPr>
          <a:xfrm>
            <a:off x="380390" y="431597"/>
            <a:ext cx="11441195" cy="3831818"/>
          </a:xfrm>
          <a:prstGeom prst="rect">
            <a:avLst/>
          </a:prstGeom>
          <a:noFill/>
        </p:spPr>
        <p:txBody>
          <a:bodyPr wrap="square" rtlCol="0">
            <a:spAutoFit/>
          </a:bodyPr>
          <a:lstStyle/>
          <a:p>
            <a:pPr>
              <a:lnSpc>
                <a:spcPct val="150000"/>
              </a:lnSpc>
            </a:pPr>
            <a:r>
              <a:rPr lang="en-US" altLang="zh-CN" sz="1800" dirty="0"/>
              <a:t>2</a:t>
            </a:r>
            <a:r>
              <a:rPr lang="zh-CN" altLang="en-US" sz="1800" dirty="0"/>
              <a:t>．发挥部分</a:t>
            </a:r>
          </a:p>
          <a:p>
            <a:pPr lvl="1">
              <a:lnSpc>
                <a:spcPct val="150000"/>
              </a:lnSpc>
            </a:pPr>
            <a:r>
              <a:rPr lang="en-US" altLang="zh-CN" sz="1800" dirty="0"/>
              <a:t>(1) </a:t>
            </a:r>
            <a:r>
              <a:rPr lang="zh-CN" altLang="en-US" sz="1800" dirty="0"/>
              <a:t>频率和周期测量的正弦信号频率范围为</a:t>
            </a:r>
            <a:r>
              <a:rPr lang="en-US" altLang="zh-CN" sz="1800" dirty="0"/>
              <a:t>1Hz</a:t>
            </a:r>
            <a:r>
              <a:rPr lang="zh-CN" altLang="en-US" sz="1800" dirty="0"/>
              <a:t>～</a:t>
            </a:r>
            <a:r>
              <a:rPr lang="en-US" altLang="zh-CN" sz="1800" dirty="0"/>
              <a:t>100MHz</a:t>
            </a:r>
            <a:r>
              <a:rPr lang="zh-CN" altLang="en-US" sz="1800" dirty="0"/>
              <a:t>，其他要求同基本要求（</a:t>
            </a:r>
            <a:r>
              <a:rPr lang="en-US" altLang="zh-CN" sz="1800" dirty="0"/>
              <a:t>1</a:t>
            </a:r>
            <a:r>
              <a:rPr lang="zh-CN" altLang="en-US" sz="1800" dirty="0"/>
              <a:t>）和（</a:t>
            </a:r>
            <a:r>
              <a:rPr lang="en-US" altLang="zh-CN" sz="1800" dirty="0"/>
              <a:t>3</a:t>
            </a:r>
            <a:r>
              <a:rPr lang="zh-CN" altLang="en-US" sz="1800" dirty="0"/>
              <a:t>）。</a:t>
            </a:r>
          </a:p>
          <a:p>
            <a:pPr lvl="1">
              <a:lnSpc>
                <a:spcPct val="150000"/>
              </a:lnSpc>
            </a:pPr>
            <a:r>
              <a:rPr lang="en-US" altLang="zh-CN" sz="1800" dirty="0"/>
              <a:t>(2) </a:t>
            </a:r>
            <a:r>
              <a:rPr lang="zh-CN" altLang="en-US" sz="1800" dirty="0"/>
              <a:t>频率和周期测量时被测正弦信号的最小有效值电压为</a:t>
            </a:r>
            <a:r>
              <a:rPr lang="en-US" altLang="zh-CN" sz="1800" dirty="0"/>
              <a:t>10mV</a:t>
            </a:r>
            <a:r>
              <a:rPr lang="zh-CN" altLang="en-US" sz="1800" dirty="0"/>
              <a:t>，其他要求同基本要求（</a:t>
            </a:r>
            <a:r>
              <a:rPr lang="en-US" altLang="zh-CN" sz="1800" dirty="0"/>
              <a:t>1</a:t>
            </a:r>
            <a:r>
              <a:rPr lang="zh-CN" altLang="en-US" sz="1800" dirty="0"/>
              <a:t>）和（</a:t>
            </a:r>
            <a:r>
              <a:rPr lang="en-US" altLang="zh-CN" sz="1800" dirty="0"/>
              <a:t>3</a:t>
            </a:r>
            <a:r>
              <a:rPr lang="zh-CN" altLang="en-US" sz="1800" dirty="0"/>
              <a:t>）。</a:t>
            </a:r>
          </a:p>
          <a:p>
            <a:pPr lvl="1">
              <a:lnSpc>
                <a:spcPct val="150000"/>
              </a:lnSpc>
            </a:pPr>
            <a:r>
              <a:rPr lang="en-US" altLang="zh-CN" sz="1800" dirty="0"/>
              <a:t>(3) </a:t>
            </a:r>
            <a:r>
              <a:rPr lang="zh-CN" altLang="en-US" sz="1800" dirty="0"/>
              <a:t>增加脉冲信号占空比的测量功能，要求：</a:t>
            </a:r>
          </a:p>
          <a:p>
            <a:pPr lvl="2">
              <a:lnSpc>
                <a:spcPct val="150000"/>
              </a:lnSpc>
            </a:pPr>
            <a:r>
              <a:rPr lang="en-US" altLang="zh-CN" sz="1800" dirty="0"/>
              <a:t>a</a:t>
            </a:r>
            <a:r>
              <a:rPr lang="zh-CN" altLang="en-US" sz="1800" dirty="0"/>
              <a:t>．被测信号为矩形波，频率范围为</a:t>
            </a:r>
            <a:r>
              <a:rPr lang="en-US" altLang="zh-CN" sz="1800" dirty="0"/>
              <a:t>1Hz</a:t>
            </a:r>
            <a:r>
              <a:rPr lang="zh-CN" altLang="en-US" sz="1800" dirty="0"/>
              <a:t>～</a:t>
            </a:r>
            <a:r>
              <a:rPr lang="en-US" altLang="zh-CN" sz="1800" dirty="0"/>
              <a:t>5MHz</a:t>
            </a:r>
            <a:r>
              <a:rPr lang="zh-CN" altLang="en-US" sz="1800" dirty="0"/>
              <a:t>；</a:t>
            </a:r>
          </a:p>
          <a:p>
            <a:pPr lvl="2">
              <a:lnSpc>
                <a:spcPct val="150000"/>
              </a:lnSpc>
            </a:pPr>
            <a:r>
              <a:rPr lang="en-US" altLang="zh-CN" sz="1800" dirty="0"/>
              <a:t>b</a:t>
            </a:r>
            <a:r>
              <a:rPr lang="zh-CN" altLang="en-US" sz="1800" dirty="0"/>
              <a:t>．被测信号峰峰值电压范围为</a:t>
            </a:r>
            <a:r>
              <a:rPr lang="en-US" altLang="zh-CN" sz="1800" dirty="0"/>
              <a:t>50mV</a:t>
            </a:r>
            <a:r>
              <a:rPr lang="zh-CN" altLang="en-US" sz="1800" dirty="0"/>
              <a:t>～</a:t>
            </a:r>
            <a:r>
              <a:rPr lang="en-US" altLang="zh-CN" sz="1800" dirty="0"/>
              <a:t>1V</a:t>
            </a:r>
            <a:r>
              <a:rPr lang="zh-CN" altLang="en-US" sz="1800" dirty="0"/>
              <a:t>；</a:t>
            </a:r>
          </a:p>
          <a:p>
            <a:pPr lvl="2">
              <a:lnSpc>
                <a:spcPct val="150000"/>
              </a:lnSpc>
            </a:pPr>
            <a:r>
              <a:rPr lang="en-US" altLang="zh-CN" sz="1800" dirty="0"/>
              <a:t>c</a:t>
            </a:r>
            <a:r>
              <a:rPr lang="zh-CN" altLang="en-US" sz="1800" dirty="0"/>
              <a:t>．被测脉冲信号占空比的范围为</a:t>
            </a:r>
            <a:r>
              <a:rPr lang="en-US" altLang="zh-CN" sz="1800" dirty="0"/>
              <a:t>10%</a:t>
            </a:r>
            <a:r>
              <a:rPr lang="zh-CN" altLang="en-US" sz="1800" dirty="0"/>
              <a:t>～</a:t>
            </a:r>
            <a:r>
              <a:rPr lang="en-US" altLang="zh-CN" sz="1800" dirty="0"/>
              <a:t>90%</a:t>
            </a:r>
            <a:r>
              <a:rPr lang="zh-CN" altLang="en-US" sz="1800" dirty="0"/>
              <a:t>；</a:t>
            </a:r>
          </a:p>
          <a:p>
            <a:pPr lvl="2">
              <a:lnSpc>
                <a:spcPct val="150000"/>
              </a:lnSpc>
            </a:pPr>
            <a:r>
              <a:rPr lang="en-US" altLang="zh-CN" sz="1800" dirty="0"/>
              <a:t>d</a:t>
            </a:r>
            <a:r>
              <a:rPr lang="zh-CN" altLang="en-US" sz="1800" dirty="0"/>
              <a:t>．显示的分辨率为</a:t>
            </a:r>
            <a:r>
              <a:rPr lang="en-US" altLang="zh-CN" sz="1800" dirty="0"/>
              <a:t>0.1%</a:t>
            </a:r>
            <a:r>
              <a:rPr lang="zh-CN" altLang="en-US" sz="1800" dirty="0"/>
              <a:t>，测量相对误差的绝对值不大于</a:t>
            </a:r>
            <a:r>
              <a:rPr lang="en-US" altLang="zh-CN" sz="1800" dirty="0"/>
              <a:t>10</a:t>
            </a:r>
            <a:r>
              <a:rPr lang="en-US" altLang="zh-CN" sz="1800" baseline="30000" dirty="0"/>
              <a:t>-2</a:t>
            </a:r>
            <a:r>
              <a:rPr lang="zh-CN" altLang="en-US" sz="1800" dirty="0"/>
              <a:t>。</a:t>
            </a:r>
          </a:p>
          <a:p>
            <a:pPr lvl="1">
              <a:lnSpc>
                <a:spcPct val="150000"/>
              </a:lnSpc>
            </a:pPr>
            <a:r>
              <a:rPr lang="en-US" altLang="zh-CN" sz="1800" dirty="0"/>
              <a:t>(4) </a:t>
            </a:r>
            <a:r>
              <a:rPr lang="zh-CN" altLang="en-US" sz="1800" dirty="0"/>
              <a:t>其他（例如，进一步降低被测信号电压的幅度等）。</a:t>
            </a:r>
            <a:endParaRPr lang="zh-CN" altLang="en-US" sz="1800" dirty="0"/>
          </a:p>
        </p:txBody>
      </p:sp>
    </p:spTree>
    <p:extLst>
      <p:ext uri="{BB962C8B-B14F-4D97-AF65-F5344CB8AC3E}">
        <p14:creationId xmlns:p14="http://schemas.microsoft.com/office/powerpoint/2010/main" val="35354310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48</a:t>
            </a:fld>
            <a:endParaRPr lang="en-US" altLang="zh-CN">
              <a:solidFill>
                <a:srgbClr val="FFFFFF"/>
              </a:solidFill>
            </a:endParaRPr>
          </a:p>
        </p:txBody>
      </p:sp>
      <p:sp>
        <p:nvSpPr>
          <p:cNvPr id="5" name="矩形 4"/>
          <p:cNvSpPr/>
          <p:nvPr/>
        </p:nvSpPr>
        <p:spPr>
          <a:xfrm>
            <a:off x="348345" y="463574"/>
            <a:ext cx="11255828" cy="4478149"/>
          </a:xfrm>
          <a:prstGeom prst="rect">
            <a:avLst/>
          </a:prstGeom>
        </p:spPr>
        <p:txBody>
          <a:bodyPr wrap="square">
            <a:spAutoFit/>
          </a:bodyPr>
          <a:lstStyle/>
          <a:p>
            <a:pPr algn="ctr">
              <a:lnSpc>
                <a:spcPct val="150000"/>
              </a:lnSpc>
            </a:pPr>
            <a:r>
              <a:rPr lang="zh-CN" altLang="zh-CN" sz="2800" dirty="0">
                <a:solidFill>
                  <a:schemeClr val="accent6">
                    <a:lumMod val="75000"/>
                  </a:schemeClr>
                </a:solidFill>
                <a:latin typeface="隶书" panose="02010509060101010101" pitchFamily="49" charset="-122"/>
                <a:ea typeface="隶书" panose="02010509060101010101" pitchFamily="49" charset="-122"/>
              </a:rPr>
              <a:t>题目</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分析</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与解决</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方案</a:t>
            </a:r>
            <a:endParaRPr lang="en-US" altLang="zh-CN" sz="1800" dirty="0" smtClean="0"/>
          </a:p>
          <a:p>
            <a:pPr lvl="1">
              <a:lnSpc>
                <a:spcPct val="150000"/>
              </a:lnSpc>
            </a:pPr>
            <a:r>
              <a:rPr lang="zh-CN" altLang="en-US" sz="1800" dirty="0"/>
              <a:t>题目要求测量频率、时间间隔与矩形波</a:t>
            </a:r>
            <a:r>
              <a:rPr lang="zh-CN" altLang="en-US" sz="1800" dirty="0" smtClean="0"/>
              <a:t>占空比</a:t>
            </a:r>
            <a:endParaRPr lang="en-US" altLang="zh-CN" sz="1800" dirty="0" smtClean="0"/>
          </a:p>
          <a:p>
            <a:pPr lvl="1">
              <a:lnSpc>
                <a:spcPct val="150000"/>
              </a:lnSpc>
            </a:pPr>
            <a:endParaRPr lang="en-US" altLang="zh-CN" sz="1800" dirty="0" smtClean="0"/>
          </a:p>
          <a:p>
            <a:pPr>
              <a:lnSpc>
                <a:spcPct val="150000"/>
              </a:lnSpc>
            </a:pPr>
            <a:r>
              <a:rPr lang="en-US" altLang="zh-CN" sz="1800" dirty="0" smtClean="0"/>
              <a:t>A) </a:t>
            </a:r>
            <a:r>
              <a:rPr lang="zh-CN" altLang="en-US" sz="1800" dirty="0" smtClean="0">
                <a:latin typeface="黑体" panose="02010609060101010101" pitchFamily="49" charset="-122"/>
                <a:ea typeface="黑体" panose="02010609060101010101" pitchFamily="49" charset="-122"/>
              </a:rPr>
              <a:t>测量频率</a:t>
            </a:r>
            <a:endParaRPr lang="zh-CN" altLang="en-US" sz="1800" dirty="0">
              <a:latin typeface="黑体" panose="02010609060101010101" pitchFamily="49" charset="-122"/>
              <a:ea typeface="黑体" panose="02010609060101010101" pitchFamily="49" charset="-122"/>
            </a:endParaRPr>
          </a:p>
          <a:p>
            <a:pPr indent="457200">
              <a:lnSpc>
                <a:spcPct val="150000"/>
              </a:lnSpc>
            </a:pPr>
            <a:r>
              <a:rPr lang="zh-CN" altLang="en-US" sz="1800" dirty="0"/>
              <a:t>第一种为测频率模式。方法是固定闸门时间</a:t>
            </a:r>
            <a:r>
              <a:rPr lang="en-US" altLang="zh-CN" sz="1800" i="1" dirty="0"/>
              <a:t>T</a:t>
            </a:r>
            <a:r>
              <a:rPr lang="en-US" altLang="zh-CN" sz="1800" i="1" baseline="-25000" dirty="0"/>
              <a:t>G</a:t>
            </a:r>
            <a:r>
              <a:rPr lang="zh-CN" altLang="en-US" sz="1800" dirty="0"/>
              <a:t>，然后计数该段时间内的输入脉冲个数</a:t>
            </a:r>
            <a:r>
              <a:rPr lang="en-US" altLang="zh-CN" sz="1800" i="1" dirty="0"/>
              <a:t>n</a:t>
            </a:r>
            <a:r>
              <a:rPr lang="zh-CN" altLang="en-US" sz="1800" dirty="0"/>
              <a:t>，则信号频率</a:t>
            </a:r>
            <a:r>
              <a:rPr lang="en-US" altLang="zh-CN" sz="1800" i="1" dirty="0" err="1"/>
              <a:t>f</a:t>
            </a:r>
            <a:r>
              <a:rPr lang="en-US" altLang="zh-CN" sz="1800" i="1" baseline="-25000" dirty="0" err="1"/>
              <a:t>S</a:t>
            </a:r>
            <a:r>
              <a:rPr lang="en-US" altLang="zh-CN" sz="1800" i="1" dirty="0"/>
              <a:t>=n/T</a:t>
            </a:r>
            <a:r>
              <a:rPr lang="en-US" altLang="zh-CN" sz="1800" i="1" baseline="-25000" dirty="0"/>
              <a:t>G</a:t>
            </a:r>
            <a:r>
              <a:rPr lang="zh-CN" altLang="en-US" sz="1800" dirty="0"/>
              <a:t>。这种模式很直观，但是由于被测脉冲不可能与闸门时间同步，存在多计或少计一个脉冲的误差，相对误差</a:t>
            </a:r>
            <a:r>
              <a:rPr lang="zh-CN" altLang="en-US" sz="1800" dirty="0" smtClean="0"/>
              <a:t>是</a:t>
            </a:r>
            <a:r>
              <a:rPr lang="en-US" altLang="zh-CN" sz="1800" dirty="0"/>
              <a:t>1</a:t>
            </a:r>
            <a:r>
              <a:rPr lang="en-US" altLang="zh-CN" sz="1800" dirty="0" smtClean="0"/>
              <a:t>/(</a:t>
            </a:r>
            <a:r>
              <a:rPr lang="en-US" altLang="zh-CN" sz="1800" i="1" dirty="0" err="1" smtClean="0"/>
              <a:t>f</a:t>
            </a:r>
            <a:r>
              <a:rPr lang="en-US" altLang="zh-CN" sz="1800" i="1" baseline="-25000" dirty="0" err="1" smtClean="0"/>
              <a:t>S</a:t>
            </a:r>
            <a:r>
              <a:rPr lang="en-US" altLang="zh-CN" sz="1800" i="1" dirty="0" err="1" smtClean="0"/>
              <a:t>T</a:t>
            </a:r>
            <a:r>
              <a:rPr lang="en-US" altLang="zh-CN" sz="1800" i="1" baseline="-25000" dirty="0" err="1" smtClean="0"/>
              <a:t>G</a:t>
            </a:r>
            <a:r>
              <a:rPr lang="en-US" altLang="zh-CN" sz="1800" dirty="0" smtClean="0"/>
              <a:t>) </a:t>
            </a:r>
            <a:r>
              <a:rPr lang="zh-CN" altLang="en-US" sz="1800" dirty="0" smtClean="0"/>
              <a:t>。</a:t>
            </a:r>
            <a:r>
              <a:rPr lang="zh-CN" altLang="en-US" sz="1800" dirty="0"/>
              <a:t>显然输入信号频率越高相对误差越小</a:t>
            </a:r>
            <a:r>
              <a:rPr lang="zh-CN" altLang="en-US" sz="1800" dirty="0" smtClean="0"/>
              <a:t>。</a:t>
            </a:r>
            <a:endParaRPr lang="en-US" altLang="zh-CN" sz="1800" dirty="0"/>
          </a:p>
          <a:p>
            <a:pPr indent="457200">
              <a:lnSpc>
                <a:spcPct val="150000"/>
              </a:lnSpc>
            </a:pPr>
            <a:r>
              <a:rPr lang="zh-CN" altLang="en-US" sz="1800" dirty="0"/>
              <a:t>第二种为测周期模式。方法是将输入脉冲周期</a:t>
            </a:r>
            <a:r>
              <a:rPr lang="en-US" altLang="zh-CN" sz="1800" i="1" dirty="0"/>
              <a:t>T</a:t>
            </a:r>
            <a:r>
              <a:rPr lang="en-US" altLang="zh-CN" sz="1800" i="1" baseline="-25000" dirty="0"/>
              <a:t>S</a:t>
            </a:r>
            <a:r>
              <a:rPr lang="en-US" altLang="zh-CN" sz="1800" i="1" dirty="0"/>
              <a:t> </a:t>
            </a:r>
            <a:r>
              <a:rPr lang="zh-CN" altLang="en-US" sz="1800" dirty="0"/>
              <a:t>作为闸门，对一个频率为</a:t>
            </a:r>
            <a:r>
              <a:rPr lang="en-US" altLang="zh-CN" sz="1800" i="1" dirty="0" err="1"/>
              <a:t>f</a:t>
            </a:r>
            <a:r>
              <a:rPr lang="en-US" altLang="zh-CN" sz="1800" i="1" baseline="-25000" dirty="0" err="1"/>
              <a:t>CLK</a:t>
            </a:r>
            <a:r>
              <a:rPr lang="en-US" altLang="zh-CN" sz="1800" i="1" dirty="0"/>
              <a:t> </a:t>
            </a:r>
            <a:r>
              <a:rPr lang="zh-CN" altLang="en-US" sz="1800" dirty="0"/>
              <a:t>的高速内部时钟信号计数，得到的是输入信号的周期，取倒数就得到了输入信号的频率。这种方法同样存在多计或少计一个时钟脉冲的误差，相对误差</a:t>
            </a:r>
            <a:r>
              <a:rPr lang="zh-CN" altLang="en-US" sz="1800" dirty="0" smtClean="0"/>
              <a:t>为</a:t>
            </a:r>
            <a:r>
              <a:rPr lang="en-US" altLang="zh-CN" sz="1800" dirty="0"/>
              <a:t>1</a:t>
            </a:r>
            <a:r>
              <a:rPr lang="en-US" altLang="zh-CN" sz="1800" dirty="0" smtClean="0"/>
              <a:t>/(</a:t>
            </a:r>
            <a:r>
              <a:rPr lang="en-US" altLang="zh-CN" sz="1800" i="1" dirty="0" err="1" smtClean="0"/>
              <a:t>f</a:t>
            </a:r>
            <a:r>
              <a:rPr lang="en-US" altLang="zh-CN" sz="1800" i="1" baseline="-25000" dirty="0" err="1" smtClean="0"/>
              <a:t>CLK</a:t>
            </a:r>
            <a:r>
              <a:rPr lang="en-US" altLang="zh-CN" sz="1800" i="1" dirty="0"/>
              <a:t> T</a:t>
            </a:r>
            <a:r>
              <a:rPr lang="en-US" altLang="zh-CN" sz="1800" i="1" baseline="-25000" dirty="0"/>
              <a:t>S</a:t>
            </a:r>
            <a:r>
              <a:rPr lang="en-US" altLang="zh-CN" sz="1800" dirty="0" smtClean="0"/>
              <a:t>) </a:t>
            </a:r>
            <a:r>
              <a:rPr lang="zh-CN" altLang="en-US" sz="1800" dirty="0" smtClean="0"/>
              <a:t>。</a:t>
            </a:r>
            <a:r>
              <a:rPr lang="zh-CN" altLang="en-US" sz="1800" dirty="0"/>
              <a:t>可见输入信号频率越低相对误差越小</a:t>
            </a:r>
            <a:r>
              <a:rPr lang="zh-CN" altLang="en-US" sz="1800" dirty="0" smtClean="0"/>
              <a:t>。</a:t>
            </a:r>
            <a:endParaRPr lang="en-US" altLang="zh-CN" sz="1800" dirty="0"/>
          </a:p>
        </p:txBody>
      </p:sp>
    </p:spTree>
    <p:extLst>
      <p:ext uri="{BB962C8B-B14F-4D97-AF65-F5344CB8AC3E}">
        <p14:creationId xmlns:p14="http://schemas.microsoft.com/office/powerpoint/2010/main" val="39649094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49</a:t>
            </a:fld>
            <a:endParaRPr lang="en-US" altLang="zh-CN">
              <a:solidFill>
                <a:srgbClr val="FFFFFF"/>
              </a:solidFill>
            </a:endParaRPr>
          </a:p>
        </p:txBody>
      </p:sp>
      <p:sp>
        <p:nvSpPr>
          <p:cNvPr id="5" name="矩形 4"/>
          <p:cNvSpPr/>
          <p:nvPr/>
        </p:nvSpPr>
        <p:spPr>
          <a:xfrm>
            <a:off x="348345" y="463574"/>
            <a:ext cx="11255828" cy="3000821"/>
          </a:xfrm>
          <a:prstGeom prst="rect">
            <a:avLst/>
          </a:prstGeom>
        </p:spPr>
        <p:txBody>
          <a:bodyPr wrap="square">
            <a:spAutoFit/>
          </a:bodyPr>
          <a:lstStyle/>
          <a:p>
            <a:pPr indent="457200">
              <a:lnSpc>
                <a:spcPct val="150000"/>
              </a:lnSpc>
            </a:pPr>
            <a:r>
              <a:rPr lang="zh-CN" altLang="en-US" sz="1800" dirty="0" smtClean="0"/>
              <a:t>第三</a:t>
            </a:r>
            <a:r>
              <a:rPr lang="zh-CN" altLang="en-US" sz="1800" dirty="0"/>
              <a:t>种模式</a:t>
            </a:r>
            <a:r>
              <a:rPr lang="zh-CN" altLang="en-US" sz="1800" dirty="0" smtClean="0"/>
              <a:t>是第二</a:t>
            </a:r>
            <a:r>
              <a:rPr lang="zh-CN" altLang="en-US" sz="1800" dirty="0"/>
              <a:t>种模式的变形。具体来说就是不再以固定的一个输入信号周期</a:t>
            </a:r>
            <a:r>
              <a:rPr lang="en-US" altLang="zh-CN" sz="1800" i="1" dirty="0"/>
              <a:t>T</a:t>
            </a:r>
            <a:r>
              <a:rPr lang="en-US" altLang="zh-CN" sz="1800" i="1" baseline="-25000" dirty="0"/>
              <a:t>S </a:t>
            </a:r>
            <a:r>
              <a:rPr lang="zh-CN" altLang="en-US" sz="1800" dirty="0"/>
              <a:t>作为测量周期，而是将</a:t>
            </a:r>
            <a:r>
              <a:rPr lang="en-US" altLang="zh-CN" sz="1800" i="1" dirty="0"/>
              <a:t>m </a:t>
            </a:r>
            <a:r>
              <a:rPr lang="zh-CN" altLang="en-US" sz="1800" dirty="0"/>
              <a:t>个输入信号周期</a:t>
            </a:r>
            <a:r>
              <a:rPr lang="en-US" altLang="zh-CN" sz="1800" i="1" dirty="0" err="1"/>
              <a:t>mT</a:t>
            </a:r>
            <a:r>
              <a:rPr lang="en-US" altLang="zh-CN" sz="1800" i="1" baseline="-25000" dirty="0" err="1"/>
              <a:t>S</a:t>
            </a:r>
            <a:r>
              <a:rPr lang="en-US" altLang="zh-CN" sz="1800" i="1" baseline="-25000" dirty="0"/>
              <a:t> </a:t>
            </a:r>
            <a:r>
              <a:rPr lang="zh-CN" altLang="en-US" sz="1800" dirty="0"/>
              <a:t>作为测量周期，对高速内部时钟信号计数。这样得到的得到的计数值</a:t>
            </a:r>
            <a:r>
              <a:rPr lang="en-US" altLang="zh-CN" sz="1800" i="1" dirty="0"/>
              <a:t>n </a:t>
            </a:r>
            <a:r>
              <a:rPr lang="zh-CN" altLang="en-US" sz="1800" dirty="0"/>
              <a:t>与输入信号频率</a:t>
            </a:r>
            <a:r>
              <a:rPr lang="en-US" altLang="zh-CN" sz="1800" i="1" dirty="0" err="1"/>
              <a:t>f</a:t>
            </a:r>
            <a:r>
              <a:rPr lang="en-US" altLang="zh-CN" sz="1800" i="1" baseline="-25000" dirty="0" err="1"/>
              <a:t>S</a:t>
            </a:r>
            <a:r>
              <a:rPr lang="en-US" altLang="zh-CN" sz="1800" i="1" baseline="-25000" dirty="0"/>
              <a:t> </a:t>
            </a:r>
            <a:r>
              <a:rPr lang="zh-CN" altLang="en-US" sz="1800" dirty="0"/>
              <a:t>的关系是</a:t>
            </a:r>
            <a:r>
              <a:rPr lang="zh-CN" altLang="en-US" sz="1800" dirty="0" smtClean="0"/>
              <a:t>：</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r>
              <a:rPr lang="zh-CN" altLang="en-US" sz="1800" dirty="0"/>
              <a:t>这个模式中</a:t>
            </a:r>
            <a:r>
              <a:rPr lang="en-US" altLang="zh-CN" sz="1800" i="1" dirty="0"/>
              <a:t>m </a:t>
            </a:r>
            <a:r>
              <a:rPr lang="zh-CN" altLang="en-US" sz="1800" dirty="0"/>
              <a:t>的取值以实际闸门开启时间</a:t>
            </a:r>
            <a:r>
              <a:rPr lang="en-US" altLang="zh-CN" sz="1800" i="1" dirty="0" err="1"/>
              <a:t>mT</a:t>
            </a:r>
            <a:r>
              <a:rPr lang="en-US" altLang="zh-CN" sz="1800" i="1" baseline="-25000" dirty="0" err="1"/>
              <a:t>S</a:t>
            </a:r>
            <a:r>
              <a:rPr lang="en-US" altLang="zh-CN" sz="1800" i="1" dirty="0"/>
              <a:t> </a:t>
            </a:r>
            <a:r>
              <a:rPr lang="zh-CN" altLang="en-US" sz="1800" dirty="0"/>
              <a:t>等于或略大于预设闸门时间为准。令</a:t>
            </a:r>
            <a:r>
              <a:rPr lang="en-US" altLang="zh-CN" sz="1800" i="1" dirty="0" err="1"/>
              <a:t>mT</a:t>
            </a:r>
            <a:r>
              <a:rPr lang="en-US" altLang="zh-CN" sz="1800" i="1" baseline="-25000" dirty="0" err="1"/>
              <a:t>S</a:t>
            </a:r>
            <a:r>
              <a:rPr lang="en-US" altLang="zh-CN" sz="1800" i="1" dirty="0"/>
              <a:t>=T</a:t>
            </a:r>
            <a:r>
              <a:rPr lang="en-US" altLang="zh-CN" sz="1800" i="1" baseline="-25000" dirty="0"/>
              <a:t>G</a:t>
            </a:r>
            <a:r>
              <a:rPr lang="zh-CN" altLang="en-US" sz="1800" dirty="0"/>
              <a:t>，则</a:t>
            </a:r>
            <a:r>
              <a:rPr lang="zh-CN" altLang="en-US" sz="1800" dirty="0" smtClean="0"/>
              <a:t>最大</a:t>
            </a:r>
            <a:r>
              <a:rPr lang="zh-CN" altLang="en-US" sz="1800" dirty="0"/>
              <a:t>相对误差</a:t>
            </a:r>
            <a:r>
              <a:rPr lang="zh-CN" altLang="en-US" sz="1800" dirty="0" smtClean="0"/>
              <a:t>为</a:t>
            </a:r>
            <a:r>
              <a:rPr lang="en-US" altLang="zh-CN" sz="1800" dirty="0"/>
              <a:t>1</a:t>
            </a:r>
            <a:r>
              <a:rPr lang="en-US" altLang="zh-CN" sz="1800" dirty="0" smtClean="0"/>
              <a:t>/(</a:t>
            </a:r>
            <a:r>
              <a:rPr lang="en-US" altLang="zh-CN" sz="1800" i="1" dirty="0" err="1"/>
              <a:t>f</a:t>
            </a:r>
            <a:r>
              <a:rPr lang="en-US" altLang="zh-CN" sz="1800" i="1" baseline="-25000" dirty="0" err="1"/>
              <a:t>CLK</a:t>
            </a:r>
            <a:r>
              <a:rPr lang="en-US" altLang="zh-CN" sz="1800" i="1" dirty="0"/>
              <a:t> </a:t>
            </a:r>
            <a:r>
              <a:rPr lang="en-US" altLang="zh-CN" sz="1800" i="1" dirty="0" smtClean="0"/>
              <a:t>T</a:t>
            </a:r>
            <a:r>
              <a:rPr lang="en-US" altLang="zh-CN" sz="1800" i="1" baseline="-25000" dirty="0" smtClean="0"/>
              <a:t>G</a:t>
            </a:r>
            <a:r>
              <a:rPr lang="en-US" altLang="zh-CN" sz="1800" dirty="0" smtClean="0"/>
              <a:t>)</a:t>
            </a:r>
            <a:r>
              <a:rPr lang="zh-CN" altLang="en-US" sz="1800" dirty="0" smtClean="0"/>
              <a:t>。</a:t>
            </a:r>
            <a:r>
              <a:rPr lang="zh-CN" altLang="en-US" sz="1800" dirty="0"/>
              <a:t>可见这种方法具有比较稳定的相对误差，所以这个模式也被称为等精度模式</a:t>
            </a:r>
            <a:r>
              <a:rPr lang="zh-CN" altLang="en-US" sz="1800" dirty="0" smtClean="0"/>
              <a:t>。</a:t>
            </a:r>
            <a:endParaRPr lang="en-US" altLang="zh-CN" sz="1800" dirty="0"/>
          </a:p>
        </p:txBody>
      </p:sp>
      <p:pic>
        <p:nvPicPr>
          <p:cNvPr id="6" name="图片 5"/>
          <p:cNvPicPr>
            <a:picLocks noChangeAspect="1"/>
          </p:cNvPicPr>
          <p:nvPr/>
        </p:nvPicPr>
        <p:blipFill>
          <a:blip r:embed="rId2"/>
          <a:stretch>
            <a:fillRect/>
          </a:stretch>
        </p:blipFill>
        <p:spPr>
          <a:xfrm>
            <a:off x="4584850" y="1640876"/>
            <a:ext cx="1347777" cy="682528"/>
          </a:xfrm>
          <a:prstGeom prst="rect">
            <a:avLst/>
          </a:prstGeom>
        </p:spPr>
      </p:pic>
      <p:pic>
        <p:nvPicPr>
          <p:cNvPr id="8" name="图片 7"/>
          <p:cNvPicPr>
            <a:picLocks noChangeAspect="1"/>
          </p:cNvPicPr>
          <p:nvPr/>
        </p:nvPicPr>
        <p:blipFill>
          <a:blip r:embed="rId3"/>
          <a:stretch>
            <a:fillRect/>
          </a:stretch>
        </p:blipFill>
        <p:spPr>
          <a:xfrm>
            <a:off x="2216104" y="3595283"/>
            <a:ext cx="7103461" cy="2608137"/>
          </a:xfrm>
          <a:prstGeom prst="rect">
            <a:avLst/>
          </a:prstGeom>
        </p:spPr>
      </p:pic>
    </p:spTree>
    <p:extLst>
      <p:ext uri="{BB962C8B-B14F-4D97-AF65-F5344CB8AC3E}">
        <p14:creationId xmlns:p14="http://schemas.microsoft.com/office/powerpoint/2010/main" val="33054535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50</a:t>
            </a:fld>
            <a:endParaRPr lang="en-US" altLang="zh-CN">
              <a:solidFill>
                <a:srgbClr val="FFFFFF"/>
              </a:solidFill>
            </a:endParaRPr>
          </a:p>
        </p:txBody>
      </p:sp>
      <p:sp>
        <p:nvSpPr>
          <p:cNvPr id="5" name="文本框 4"/>
          <p:cNvSpPr txBox="1"/>
          <p:nvPr/>
        </p:nvSpPr>
        <p:spPr>
          <a:xfrm>
            <a:off x="351130" y="438912"/>
            <a:ext cx="11411712" cy="4662815"/>
          </a:xfrm>
          <a:prstGeom prst="rect">
            <a:avLst/>
          </a:prstGeom>
          <a:noFill/>
        </p:spPr>
        <p:txBody>
          <a:bodyPr wrap="square" rtlCol="0">
            <a:spAutoFit/>
          </a:bodyPr>
          <a:lstStyle/>
          <a:p>
            <a:pPr>
              <a:lnSpc>
                <a:spcPct val="150000"/>
              </a:lnSpc>
            </a:pPr>
            <a:r>
              <a:rPr lang="en-US" altLang="zh-CN" sz="1800" dirty="0"/>
              <a:t>B) </a:t>
            </a:r>
            <a:r>
              <a:rPr lang="zh-CN" altLang="en-US" sz="1800" dirty="0">
                <a:latin typeface="黑体" panose="02010609060101010101" pitchFamily="49" charset="-122"/>
                <a:ea typeface="黑体" panose="02010609060101010101" pitchFamily="49" charset="-122"/>
              </a:rPr>
              <a:t>时间间隔</a:t>
            </a:r>
            <a:r>
              <a:rPr lang="zh-CN" altLang="en-US" sz="1800" dirty="0" smtClean="0">
                <a:latin typeface="黑体" panose="02010609060101010101" pitchFamily="49" charset="-122"/>
                <a:ea typeface="黑体" panose="02010609060101010101" pitchFamily="49" charset="-122"/>
              </a:rPr>
              <a:t>测量</a:t>
            </a:r>
            <a:endParaRPr lang="zh-CN" altLang="en-US" sz="1800" dirty="0">
              <a:latin typeface="黑体" panose="02010609060101010101" pitchFamily="49" charset="-122"/>
              <a:ea typeface="黑体" panose="02010609060101010101" pitchFamily="49" charset="-122"/>
            </a:endParaRPr>
          </a:p>
          <a:p>
            <a:pPr indent="457200">
              <a:lnSpc>
                <a:spcPct val="150000"/>
              </a:lnSpc>
            </a:pPr>
            <a:r>
              <a:rPr lang="zh-CN" altLang="en-US" sz="1800" dirty="0"/>
              <a:t>时间间隔是指两路同频信号的时间间隔，也就是两个方波前沿之间的时间。设计一个逻辑电路，由第一个输入信号前沿置位一个触发器、第二个输入信号的前沿复位该触发器，则两个脉冲序列就转换为一个矩形波输入信号，时间间隔测量就转化为该输入信号高电平时间的测量。</a:t>
            </a:r>
          </a:p>
          <a:p>
            <a:pPr indent="457200">
              <a:lnSpc>
                <a:spcPct val="150000"/>
              </a:lnSpc>
            </a:pPr>
            <a:r>
              <a:rPr lang="zh-CN" altLang="en-US" sz="1800" dirty="0"/>
              <a:t>将此矩形波脉冲作为内部时钟计数器的闸门，则内部计数器的计数值</a:t>
            </a:r>
            <a:r>
              <a:rPr lang="en-US" altLang="zh-CN" sz="1800" i="1" dirty="0"/>
              <a:t>n </a:t>
            </a:r>
            <a:r>
              <a:rPr lang="zh-CN" altLang="en-US" sz="1800" dirty="0"/>
              <a:t>就反映了该脉冲的宽度，需要测量的时间间隔</a:t>
            </a:r>
            <a:r>
              <a:rPr lang="zh-CN" altLang="en-US" sz="1800" dirty="0" smtClean="0"/>
              <a:t>是</a:t>
            </a:r>
            <a:endParaRPr lang="en-US" altLang="zh-CN" sz="1800" dirty="0" smtClean="0"/>
          </a:p>
          <a:p>
            <a:pPr indent="457200">
              <a:lnSpc>
                <a:spcPct val="150000"/>
              </a:lnSpc>
            </a:pPr>
            <a:endParaRPr lang="en-US" altLang="zh-CN" sz="1800" dirty="0"/>
          </a:p>
          <a:p>
            <a:pPr indent="457200">
              <a:lnSpc>
                <a:spcPct val="150000"/>
              </a:lnSpc>
            </a:pPr>
            <a:r>
              <a:rPr lang="zh-CN" altLang="en-US" sz="1800" dirty="0" smtClean="0"/>
              <a:t>由于</a:t>
            </a:r>
            <a:r>
              <a:rPr lang="en-US" altLang="zh-CN" sz="1800" i="1" dirty="0"/>
              <a:t>n </a:t>
            </a:r>
            <a:r>
              <a:rPr lang="zh-CN" altLang="en-US" sz="1800" dirty="0"/>
              <a:t>可能出现的计数误差为</a:t>
            </a:r>
            <a:r>
              <a:rPr lang="en-US" altLang="zh-CN" sz="1800" dirty="0"/>
              <a:t>±1</a:t>
            </a:r>
            <a:r>
              <a:rPr lang="zh-CN" altLang="en-US" sz="1800" dirty="0"/>
              <a:t>，</a:t>
            </a:r>
            <a:r>
              <a:rPr lang="zh-CN" altLang="en-US" sz="1800" dirty="0" smtClean="0"/>
              <a:t>所以</a:t>
            </a:r>
            <a:r>
              <a:rPr lang="el-GR" altLang="zh-CN" sz="1800" dirty="0" smtClean="0"/>
              <a:t>Δ</a:t>
            </a:r>
            <a:r>
              <a:rPr lang="en-US" altLang="zh-CN" sz="1800" i="1" dirty="0" smtClean="0"/>
              <a:t>t </a:t>
            </a:r>
            <a:r>
              <a:rPr lang="zh-CN" altLang="en-US" sz="1800" dirty="0"/>
              <a:t>的最大相对误差</a:t>
            </a:r>
            <a:r>
              <a:rPr lang="zh-CN" altLang="en-US" sz="1800" dirty="0" smtClean="0"/>
              <a:t>为</a:t>
            </a:r>
            <a:r>
              <a:rPr lang="en-US" altLang="zh-CN" sz="1800" dirty="0" smtClean="0"/>
              <a:t>1/n=1/(</a:t>
            </a:r>
            <a:r>
              <a:rPr lang="el-GR" altLang="zh-CN" sz="1800" dirty="0"/>
              <a:t>Δ</a:t>
            </a:r>
            <a:r>
              <a:rPr lang="en-US" altLang="zh-CN" sz="1800" i="1" dirty="0"/>
              <a:t>t </a:t>
            </a:r>
            <a:r>
              <a:rPr lang="en-US" altLang="zh-CN" sz="1800" i="1" dirty="0" smtClean="0"/>
              <a:t>*</a:t>
            </a:r>
            <a:r>
              <a:rPr lang="en-US" altLang="zh-CN" sz="1800" i="1" dirty="0" err="1" smtClean="0"/>
              <a:t>f</a:t>
            </a:r>
            <a:r>
              <a:rPr lang="en-US" altLang="zh-CN" sz="1800" i="1" baseline="-25000" dirty="0" err="1" smtClean="0"/>
              <a:t>CLK</a:t>
            </a:r>
            <a:r>
              <a:rPr lang="en-US" altLang="zh-CN" sz="1800" dirty="0" smtClean="0"/>
              <a:t>)</a:t>
            </a:r>
            <a:r>
              <a:rPr lang="zh-CN" altLang="en-US" sz="1800" dirty="0" smtClean="0"/>
              <a:t>，此</a:t>
            </a:r>
            <a:r>
              <a:rPr lang="zh-CN" altLang="en-US" sz="1800" dirty="0"/>
              <a:t>误差随着两个信号的间隔时间缩短而升高，在间隔时间接近内部时钟周期时，其误差将急剧上升</a:t>
            </a:r>
            <a:r>
              <a:rPr lang="zh-CN" altLang="en-US" sz="1800" dirty="0" smtClean="0"/>
              <a:t>。</a:t>
            </a:r>
            <a:endParaRPr lang="en-US" altLang="zh-CN" sz="1800" dirty="0" smtClean="0"/>
          </a:p>
          <a:p>
            <a:pPr indent="457200">
              <a:lnSpc>
                <a:spcPct val="150000"/>
              </a:lnSpc>
            </a:pPr>
            <a:r>
              <a:rPr lang="zh-CN" altLang="en-US" sz="1800" dirty="0" smtClean="0"/>
              <a:t>采用</a:t>
            </a:r>
            <a:r>
              <a:rPr lang="zh-CN" altLang="en-US" sz="1800" dirty="0"/>
              <a:t>多个周期测量累加的</a:t>
            </a:r>
            <a:r>
              <a:rPr lang="zh-CN" altLang="en-US" sz="1800" dirty="0" smtClean="0"/>
              <a:t>方法，大部分情况下可以降低测量误差，但</a:t>
            </a:r>
            <a:r>
              <a:rPr lang="zh-CN" altLang="en-US" sz="1800" dirty="0"/>
              <a:t>不能保证在所有情况下都</a:t>
            </a:r>
            <a:r>
              <a:rPr lang="zh-CN" altLang="en-US" sz="1800" dirty="0" smtClean="0"/>
              <a:t>可以降低误差。其原因是两个输入脉冲是独立的，与时钟不相关</a:t>
            </a:r>
            <a:endParaRPr lang="zh-CN" altLang="en-US" sz="1200" dirty="0"/>
          </a:p>
        </p:txBody>
      </p:sp>
      <p:pic>
        <p:nvPicPr>
          <p:cNvPr id="6" name="图片 5"/>
          <p:cNvPicPr>
            <a:picLocks noChangeAspect="1"/>
          </p:cNvPicPr>
          <p:nvPr/>
        </p:nvPicPr>
        <p:blipFill>
          <a:blip r:embed="rId2"/>
          <a:stretch>
            <a:fillRect/>
          </a:stretch>
        </p:blipFill>
        <p:spPr>
          <a:xfrm>
            <a:off x="4998418" y="2847158"/>
            <a:ext cx="1387753" cy="418789"/>
          </a:xfrm>
          <a:prstGeom prst="rect">
            <a:avLst/>
          </a:prstGeom>
        </p:spPr>
      </p:pic>
    </p:spTree>
    <p:extLst>
      <p:ext uri="{BB962C8B-B14F-4D97-AF65-F5344CB8AC3E}">
        <p14:creationId xmlns:p14="http://schemas.microsoft.com/office/powerpoint/2010/main" val="4711506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51</a:t>
            </a:fld>
            <a:endParaRPr lang="en-US" altLang="zh-CN">
              <a:solidFill>
                <a:srgbClr val="FFFFFF"/>
              </a:solidFill>
            </a:endParaRPr>
          </a:p>
        </p:txBody>
      </p:sp>
      <p:sp>
        <p:nvSpPr>
          <p:cNvPr id="5" name="文本框 4"/>
          <p:cNvSpPr txBox="1"/>
          <p:nvPr/>
        </p:nvSpPr>
        <p:spPr>
          <a:xfrm>
            <a:off x="351130" y="431597"/>
            <a:ext cx="11536070" cy="4570482"/>
          </a:xfrm>
          <a:prstGeom prst="rect">
            <a:avLst/>
          </a:prstGeom>
          <a:noFill/>
        </p:spPr>
        <p:txBody>
          <a:bodyPr wrap="square" rtlCol="0">
            <a:spAutoFit/>
          </a:bodyPr>
          <a:lstStyle/>
          <a:p>
            <a:pPr>
              <a:lnSpc>
                <a:spcPct val="150000"/>
              </a:lnSpc>
            </a:pPr>
            <a:r>
              <a:rPr lang="en-US" altLang="zh-CN" sz="1800" dirty="0"/>
              <a:t>C) </a:t>
            </a:r>
            <a:r>
              <a:rPr lang="zh-CN" altLang="en-US" sz="1800" dirty="0">
                <a:latin typeface="黑体" panose="02010609060101010101" pitchFamily="49" charset="-122"/>
                <a:ea typeface="黑体" panose="02010609060101010101" pitchFamily="49" charset="-122"/>
              </a:rPr>
              <a:t>占空比</a:t>
            </a:r>
            <a:r>
              <a:rPr lang="zh-CN" altLang="en-US" sz="1800" dirty="0" smtClean="0">
                <a:latin typeface="黑体" panose="02010609060101010101" pitchFamily="49" charset="-122"/>
                <a:ea typeface="黑体" panose="02010609060101010101" pitchFamily="49" charset="-122"/>
              </a:rPr>
              <a:t>测量</a:t>
            </a:r>
            <a:endParaRPr lang="zh-CN" altLang="en-US" sz="1800" dirty="0">
              <a:latin typeface="黑体" panose="02010609060101010101" pitchFamily="49" charset="-122"/>
              <a:ea typeface="黑体" panose="02010609060101010101" pitchFamily="49" charset="-122"/>
            </a:endParaRPr>
          </a:p>
          <a:p>
            <a:pPr indent="457200">
              <a:lnSpc>
                <a:spcPct val="150000"/>
              </a:lnSpc>
            </a:pPr>
            <a:r>
              <a:rPr lang="zh-CN" altLang="en-US" sz="1800" dirty="0" smtClean="0"/>
              <a:t>将</a:t>
            </a:r>
            <a:r>
              <a:rPr lang="zh-CN" altLang="en-US" sz="1800" dirty="0"/>
              <a:t>矩形波的高电平时间除以信号周期即可得到输入信号的占空比。所以只要在等精度测频的电路中增加一个测高电平时间的电路，就可得到</a:t>
            </a:r>
            <a:r>
              <a:rPr lang="zh-CN" altLang="en-US" sz="1800" dirty="0" smtClean="0"/>
              <a:t>占空比</a:t>
            </a:r>
            <a:endParaRPr lang="en-US" altLang="zh-CN" sz="1800" dirty="0" smtClean="0"/>
          </a:p>
          <a:p>
            <a:pPr indent="457200">
              <a:lnSpc>
                <a:spcPct val="150000"/>
              </a:lnSpc>
            </a:pPr>
            <a:endParaRPr lang="en-US" altLang="zh-CN" sz="1800" dirty="0"/>
          </a:p>
          <a:p>
            <a:pPr indent="457200">
              <a:lnSpc>
                <a:spcPct val="150000"/>
              </a:lnSpc>
            </a:pPr>
            <a:endParaRPr lang="en-US" altLang="zh-CN" sz="1200" dirty="0" smtClean="0"/>
          </a:p>
          <a:p>
            <a:pPr indent="457200">
              <a:lnSpc>
                <a:spcPct val="150000"/>
              </a:lnSpc>
            </a:pPr>
            <a:endParaRPr lang="en-US" altLang="zh-CN" sz="1800" dirty="0"/>
          </a:p>
          <a:p>
            <a:pPr indent="457200">
              <a:lnSpc>
                <a:spcPct val="150000"/>
              </a:lnSpc>
            </a:pPr>
            <a:r>
              <a:rPr lang="zh-CN" altLang="en-US" sz="1800" dirty="0"/>
              <a:t>误差</a:t>
            </a:r>
            <a:r>
              <a:rPr lang="zh-CN" altLang="en-US" sz="1800" dirty="0" smtClean="0"/>
              <a:t>来源主要是</a:t>
            </a:r>
            <a:r>
              <a:rPr lang="zh-CN" altLang="en-US" sz="1800" dirty="0"/>
              <a:t>高电平测量的误差，所以占空比测量的最大</a:t>
            </a:r>
            <a:r>
              <a:rPr lang="zh-CN" altLang="en-US" sz="1800" dirty="0" smtClean="0"/>
              <a:t>相对误差</a:t>
            </a:r>
            <a:endParaRPr lang="en-US" altLang="zh-CN" sz="1800" dirty="0" smtClean="0"/>
          </a:p>
          <a:p>
            <a:pPr indent="457200">
              <a:lnSpc>
                <a:spcPct val="150000"/>
              </a:lnSpc>
            </a:pPr>
            <a:endParaRPr lang="en-US" altLang="zh-CN" sz="1800" dirty="0"/>
          </a:p>
          <a:p>
            <a:pPr indent="457200">
              <a:lnSpc>
                <a:spcPct val="150000"/>
              </a:lnSpc>
            </a:pPr>
            <a:endParaRPr lang="en-US" altLang="zh-CN" sz="1400" dirty="0" smtClean="0"/>
          </a:p>
          <a:p>
            <a:pPr indent="457200">
              <a:lnSpc>
                <a:spcPct val="150000"/>
              </a:lnSpc>
            </a:pPr>
            <a:endParaRPr lang="en-US" altLang="zh-CN" sz="1800" dirty="0"/>
          </a:p>
          <a:p>
            <a:pPr>
              <a:lnSpc>
                <a:spcPct val="150000"/>
              </a:lnSpc>
            </a:pPr>
            <a:r>
              <a:rPr lang="zh-CN" altLang="en-US" sz="1800" dirty="0"/>
              <a:t>其中</a:t>
            </a:r>
            <a:r>
              <a:rPr lang="en-US" altLang="zh-CN" sz="1800" i="1" dirty="0" err="1"/>
              <a:t>f</a:t>
            </a:r>
            <a:r>
              <a:rPr lang="en-US" altLang="zh-CN" sz="1800" i="1" baseline="-25000" dirty="0" err="1"/>
              <a:t>S</a:t>
            </a:r>
            <a:r>
              <a:rPr lang="en-US" altLang="zh-CN" sz="1800" i="1" baseline="-25000" dirty="0"/>
              <a:t> </a:t>
            </a:r>
            <a:r>
              <a:rPr lang="zh-CN" altLang="en-US" sz="1800" dirty="0"/>
              <a:t>是输入脉冲频率，</a:t>
            </a:r>
            <a:r>
              <a:rPr lang="en-US" altLang="zh-CN" sz="1800" i="1" dirty="0" err="1"/>
              <a:t>f</a:t>
            </a:r>
            <a:r>
              <a:rPr lang="en-US" altLang="zh-CN" sz="1800" i="1" baseline="-25000" dirty="0" err="1"/>
              <a:t>CLK</a:t>
            </a:r>
            <a:r>
              <a:rPr lang="en-US" altLang="zh-CN" sz="1800" i="1" dirty="0"/>
              <a:t> </a:t>
            </a:r>
            <a:r>
              <a:rPr lang="zh-CN" altLang="en-US" sz="1800" dirty="0"/>
              <a:t>是计数时钟频率</a:t>
            </a:r>
            <a:r>
              <a:rPr lang="zh-CN" altLang="en-US" sz="1800" dirty="0" smtClean="0"/>
              <a:t>，</a:t>
            </a:r>
            <a:r>
              <a:rPr lang="el-GR" altLang="zh-CN" sz="1800" dirty="0" smtClean="0"/>
              <a:t>δ</a:t>
            </a:r>
            <a:r>
              <a:rPr lang="zh-CN" altLang="en-US" sz="1800" dirty="0" smtClean="0"/>
              <a:t>是</a:t>
            </a:r>
            <a:r>
              <a:rPr lang="zh-CN" altLang="en-US" sz="1800" dirty="0"/>
              <a:t>输入脉冲</a:t>
            </a:r>
            <a:r>
              <a:rPr lang="zh-CN" altLang="en-US" sz="1800" dirty="0" smtClean="0"/>
              <a:t>占空比</a:t>
            </a:r>
            <a:endParaRPr lang="zh-CN" altLang="en-US" sz="1400" dirty="0"/>
          </a:p>
        </p:txBody>
      </p:sp>
      <p:pic>
        <p:nvPicPr>
          <p:cNvPr id="6" name="图片 5"/>
          <p:cNvPicPr>
            <a:picLocks noChangeAspect="1"/>
          </p:cNvPicPr>
          <p:nvPr/>
        </p:nvPicPr>
        <p:blipFill>
          <a:blip r:embed="rId2"/>
          <a:stretch>
            <a:fillRect/>
          </a:stretch>
        </p:blipFill>
        <p:spPr>
          <a:xfrm>
            <a:off x="4176185" y="1902694"/>
            <a:ext cx="2563260" cy="753391"/>
          </a:xfrm>
          <a:prstGeom prst="rect">
            <a:avLst/>
          </a:prstGeom>
        </p:spPr>
      </p:pic>
      <p:pic>
        <p:nvPicPr>
          <p:cNvPr id="7" name="图片 6"/>
          <p:cNvPicPr>
            <a:picLocks noChangeAspect="1"/>
          </p:cNvPicPr>
          <p:nvPr/>
        </p:nvPicPr>
        <p:blipFill>
          <a:blip r:embed="rId3"/>
          <a:stretch>
            <a:fillRect/>
          </a:stretch>
        </p:blipFill>
        <p:spPr>
          <a:xfrm>
            <a:off x="4176185" y="3523435"/>
            <a:ext cx="2563260" cy="663627"/>
          </a:xfrm>
          <a:prstGeom prst="rect">
            <a:avLst/>
          </a:prstGeom>
        </p:spPr>
      </p:pic>
    </p:spTree>
    <p:extLst>
      <p:ext uri="{BB962C8B-B14F-4D97-AF65-F5344CB8AC3E}">
        <p14:creationId xmlns:p14="http://schemas.microsoft.com/office/powerpoint/2010/main" val="28046112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52</a:t>
            </a:fld>
            <a:endParaRPr lang="en-US" altLang="zh-CN">
              <a:solidFill>
                <a:srgbClr val="FFFFFF"/>
              </a:solidFill>
            </a:endParaRPr>
          </a:p>
        </p:txBody>
      </p:sp>
      <p:sp>
        <p:nvSpPr>
          <p:cNvPr id="6" name="文本框 5"/>
          <p:cNvSpPr txBox="1"/>
          <p:nvPr/>
        </p:nvSpPr>
        <p:spPr>
          <a:xfrm>
            <a:off x="449942" y="376134"/>
            <a:ext cx="11190514" cy="5740033"/>
          </a:xfrm>
          <a:prstGeom prst="rect">
            <a:avLst/>
          </a:prstGeom>
          <a:noFill/>
        </p:spPr>
        <p:txBody>
          <a:bodyPr wrap="square" rtlCol="0">
            <a:spAutoFit/>
          </a:bodyPr>
          <a:lstStyle/>
          <a:p>
            <a:pPr algn="ctr">
              <a:lnSpc>
                <a:spcPct val="150000"/>
              </a:lnSpc>
              <a:spcAft>
                <a:spcPts val="1200"/>
              </a:spcAft>
            </a:pPr>
            <a:r>
              <a:rPr lang="en-US" altLang="zh-CN" sz="2400" dirty="0" smtClean="0">
                <a:solidFill>
                  <a:schemeClr val="accent6">
                    <a:lumMod val="75000"/>
                  </a:schemeClr>
                </a:solidFill>
              </a:rPr>
              <a:t>2016</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年</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上海市</a:t>
            </a:r>
            <a:r>
              <a:rPr lang="en-US" altLang="zh-CN" sz="2400" dirty="0" smtClean="0">
                <a:solidFill>
                  <a:schemeClr val="accent6">
                    <a:lumMod val="75000"/>
                  </a:schemeClr>
                </a:solidFill>
              </a:rPr>
              <a:t>TI</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杯</a:t>
            </a:r>
            <a:r>
              <a:rPr lang="en-US" altLang="zh-CN" sz="2400" dirty="0" smtClean="0">
                <a:solidFill>
                  <a:schemeClr val="accent6">
                    <a:lumMod val="75000"/>
                  </a:schemeClr>
                </a:solidFill>
              </a:rPr>
              <a:t>C</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题</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脉冲信号参数测试仪</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1800" dirty="0" smtClean="0">
                <a:solidFill>
                  <a:schemeClr val="accent6">
                    <a:lumMod val="75000"/>
                  </a:schemeClr>
                </a:solidFill>
              </a:rPr>
              <a:t> </a:t>
            </a:r>
            <a:endParaRPr lang="zh-CN" altLang="zh-CN" sz="2800" dirty="0">
              <a:solidFill>
                <a:schemeClr val="accent6">
                  <a:lumMod val="75000"/>
                </a:schemeClr>
              </a:solidFill>
              <a:latin typeface="隶书" panose="02010509060101010101" pitchFamily="49" charset="-122"/>
              <a:ea typeface="隶书" panose="02010509060101010101" pitchFamily="49" charset="-122"/>
            </a:endParaRPr>
          </a:p>
          <a:p>
            <a:pPr>
              <a:lnSpc>
                <a:spcPct val="125000"/>
              </a:lnSpc>
            </a:pPr>
            <a:r>
              <a:rPr lang="zh-CN" altLang="zh-CN" sz="1800" dirty="0" smtClean="0">
                <a:latin typeface="黑体" panose="02010609060101010101" pitchFamily="49" charset="-122"/>
                <a:ea typeface="黑体" panose="02010609060101010101" pitchFamily="49" charset="-122"/>
              </a:rPr>
              <a:t>一</a:t>
            </a:r>
            <a:r>
              <a:rPr lang="zh-CN" altLang="zh-CN" sz="1800" dirty="0">
                <a:latin typeface="黑体" panose="02010609060101010101" pitchFamily="49" charset="-122"/>
                <a:ea typeface="黑体" panose="02010609060101010101" pitchFamily="49" charset="-122"/>
              </a:rPr>
              <a:t>、任务</a:t>
            </a:r>
          </a:p>
          <a:p>
            <a:pPr lvl="1">
              <a:lnSpc>
                <a:spcPct val="125000"/>
              </a:lnSpc>
            </a:pPr>
            <a:r>
              <a:rPr lang="zh-CN" altLang="en-US" sz="1800" dirty="0"/>
              <a:t>设计并制作一个数字显示的周期性矩形脉冲信号参数测量仪，其输入阻抗为</a:t>
            </a:r>
            <a:r>
              <a:rPr lang="en-US" altLang="zh-CN" sz="1800" dirty="0"/>
              <a:t>50Ω</a:t>
            </a:r>
            <a:r>
              <a:rPr lang="zh-CN" altLang="en-US" sz="1800" dirty="0"/>
              <a:t>。同时设计并制作一个标准矩形脉冲信号发生器，作为测试仪的附加功能</a:t>
            </a:r>
            <a:r>
              <a:rPr lang="zh-CN" altLang="en-US" sz="1800" dirty="0" smtClean="0"/>
              <a:t>。</a:t>
            </a:r>
            <a:endParaRPr lang="en-US" altLang="zh-CN" sz="1800" dirty="0" smtClean="0"/>
          </a:p>
          <a:p>
            <a:pPr>
              <a:lnSpc>
                <a:spcPct val="125000"/>
              </a:lnSpc>
            </a:pPr>
            <a:r>
              <a:rPr lang="zh-CN" altLang="en-US" sz="1800" dirty="0">
                <a:latin typeface="黑体" panose="02010609060101010101" pitchFamily="49" charset="-122"/>
                <a:ea typeface="黑体" panose="02010609060101010101" pitchFamily="49" charset="-122"/>
              </a:rPr>
              <a:t>二、要求</a:t>
            </a:r>
          </a:p>
          <a:p>
            <a:pPr lvl="1">
              <a:lnSpc>
                <a:spcPct val="125000"/>
              </a:lnSpc>
            </a:pPr>
            <a:r>
              <a:rPr lang="zh-CN" altLang="en-US" sz="1800" dirty="0"/>
              <a:t>（</a:t>
            </a:r>
            <a:r>
              <a:rPr lang="en-US" altLang="zh-CN" sz="1800" dirty="0"/>
              <a:t>1</a:t>
            </a:r>
            <a:r>
              <a:rPr lang="zh-CN" altLang="en-US" sz="1800" dirty="0"/>
              <a:t>）测量脉冲信号频率𝑓</a:t>
            </a:r>
            <a:r>
              <a:rPr lang="en-US" altLang="zh-CN" sz="1800" baseline="-25000" dirty="0"/>
              <a:t>O</a:t>
            </a:r>
            <a:r>
              <a:rPr lang="zh-CN" altLang="en-US" sz="1800" dirty="0"/>
              <a:t>，频率范围为</a:t>
            </a:r>
            <a:r>
              <a:rPr lang="en-US" altLang="zh-CN" sz="1800" dirty="0"/>
              <a:t>10Hz</a:t>
            </a:r>
            <a:r>
              <a:rPr lang="zh-CN" altLang="en-US" sz="1800" dirty="0"/>
              <a:t>～</a:t>
            </a:r>
            <a:r>
              <a:rPr lang="en-US" altLang="zh-CN" sz="1800" dirty="0"/>
              <a:t>2MHz</a:t>
            </a:r>
            <a:r>
              <a:rPr lang="zh-CN" altLang="en-US" sz="1800" dirty="0"/>
              <a:t>，测量误差的绝对值不大于</a:t>
            </a:r>
            <a:r>
              <a:rPr lang="en-US" altLang="zh-CN" sz="1800" dirty="0"/>
              <a:t>0.1%</a:t>
            </a:r>
            <a:r>
              <a:rPr lang="zh-CN" altLang="en-US" sz="1800" dirty="0"/>
              <a:t>。</a:t>
            </a:r>
          </a:p>
          <a:p>
            <a:pPr lvl="1">
              <a:lnSpc>
                <a:spcPct val="125000"/>
              </a:lnSpc>
            </a:pPr>
            <a:r>
              <a:rPr lang="zh-CN" altLang="en-US" sz="1800" dirty="0"/>
              <a:t>（</a:t>
            </a:r>
            <a:r>
              <a:rPr lang="en-US" altLang="zh-CN" sz="1800" dirty="0"/>
              <a:t>2</a:t>
            </a:r>
            <a:r>
              <a:rPr lang="zh-CN" altLang="en-US" sz="1800" dirty="0"/>
              <a:t>）测量脉冲信号占空比</a:t>
            </a:r>
            <a:r>
              <a:rPr lang="en-US" altLang="zh-CN" sz="1800" dirty="0"/>
              <a:t>D</a:t>
            </a:r>
            <a:r>
              <a:rPr lang="zh-CN" altLang="en-US" sz="1800" dirty="0"/>
              <a:t>，测量范围为</a:t>
            </a:r>
            <a:r>
              <a:rPr lang="en-US" altLang="zh-CN" sz="1800" dirty="0"/>
              <a:t>10</a:t>
            </a:r>
            <a:r>
              <a:rPr lang="zh-CN" altLang="en-US" sz="1800" dirty="0"/>
              <a:t>％～</a:t>
            </a:r>
            <a:r>
              <a:rPr lang="en-US" altLang="zh-CN" sz="1800" dirty="0"/>
              <a:t>90</a:t>
            </a:r>
            <a:r>
              <a:rPr lang="zh-CN" altLang="en-US" sz="1800" dirty="0"/>
              <a:t>％，测量误差的绝对值不大于</a:t>
            </a:r>
            <a:r>
              <a:rPr lang="en-US" altLang="zh-CN" sz="1800" dirty="0"/>
              <a:t>2%</a:t>
            </a:r>
            <a:r>
              <a:rPr lang="zh-CN" altLang="en-US" sz="1800" dirty="0"/>
              <a:t>。</a:t>
            </a:r>
          </a:p>
          <a:p>
            <a:pPr lvl="1">
              <a:lnSpc>
                <a:spcPct val="125000"/>
              </a:lnSpc>
            </a:pPr>
            <a:r>
              <a:rPr lang="zh-CN" altLang="en-US" sz="1800" dirty="0"/>
              <a:t>（</a:t>
            </a:r>
            <a:r>
              <a:rPr lang="en-US" altLang="zh-CN" sz="1800" dirty="0"/>
              <a:t>3</a:t>
            </a:r>
            <a:r>
              <a:rPr lang="zh-CN" altLang="en-US" sz="1800" dirty="0"/>
              <a:t>）测量脉冲信号幅度𝑉</a:t>
            </a:r>
            <a:r>
              <a:rPr lang="zh-CN" altLang="en-US" sz="1800" baseline="-25000" dirty="0"/>
              <a:t>𝑚</a:t>
            </a:r>
            <a:r>
              <a:rPr lang="zh-CN" altLang="en-US" sz="1800" dirty="0"/>
              <a:t>，幅度范围为</a:t>
            </a:r>
            <a:r>
              <a:rPr lang="en-US" altLang="zh-CN" sz="1800" dirty="0"/>
              <a:t>0.1</a:t>
            </a:r>
            <a:r>
              <a:rPr lang="zh-CN" altLang="en-US" sz="1800" dirty="0"/>
              <a:t>～</a:t>
            </a:r>
            <a:r>
              <a:rPr lang="en-US" altLang="zh-CN" sz="1800" dirty="0"/>
              <a:t>10V</a:t>
            </a:r>
            <a:r>
              <a:rPr lang="zh-CN" altLang="en-US" sz="1800" dirty="0"/>
              <a:t>，测量误差的绝对值不大于</a:t>
            </a:r>
            <a:r>
              <a:rPr lang="en-US" altLang="zh-CN" sz="1800" dirty="0"/>
              <a:t>2%</a:t>
            </a:r>
            <a:r>
              <a:rPr lang="zh-CN" altLang="en-US" sz="1800" dirty="0"/>
              <a:t>。</a:t>
            </a:r>
          </a:p>
          <a:p>
            <a:pPr lvl="1">
              <a:lnSpc>
                <a:spcPct val="125000"/>
              </a:lnSpc>
            </a:pPr>
            <a:r>
              <a:rPr lang="zh-CN" altLang="en-US" sz="1800" dirty="0"/>
              <a:t>（</a:t>
            </a:r>
            <a:r>
              <a:rPr lang="en-US" altLang="zh-CN" sz="1800" dirty="0"/>
              <a:t>4</a:t>
            </a:r>
            <a:r>
              <a:rPr lang="zh-CN" altLang="en-US" sz="1800" dirty="0"/>
              <a:t>）测量脉冲信号上升时间𝑡</a:t>
            </a:r>
            <a:r>
              <a:rPr lang="zh-CN" altLang="en-US" sz="1800" baseline="-25000" dirty="0"/>
              <a:t>𝑟</a:t>
            </a:r>
            <a:r>
              <a:rPr lang="zh-CN" altLang="en-US" sz="1800" dirty="0"/>
              <a:t>，测量范围为</a:t>
            </a:r>
            <a:r>
              <a:rPr lang="en-US" altLang="zh-CN" sz="1800" dirty="0"/>
              <a:t>50.0</a:t>
            </a:r>
            <a:r>
              <a:rPr lang="zh-CN" altLang="en-US" sz="1800" dirty="0"/>
              <a:t>～</a:t>
            </a:r>
            <a:r>
              <a:rPr lang="en-US" altLang="zh-CN" sz="1800" dirty="0"/>
              <a:t>999ns</a:t>
            </a:r>
            <a:r>
              <a:rPr lang="zh-CN" altLang="en-US" sz="1800" dirty="0"/>
              <a:t>，测量误差的绝对值不大于</a:t>
            </a:r>
            <a:r>
              <a:rPr lang="en-US" altLang="zh-CN" sz="1800" dirty="0"/>
              <a:t>5%</a:t>
            </a:r>
            <a:r>
              <a:rPr lang="zh-CN" altLang="en-US" sz="1800" dirty="0"/>
              <a:t>。</a:t>
            </a:r>
          </a:p>
          <a:p>
            <a:pPr lvl="1">
              <a:lnSpc>
                <a:spcPct val="125000"/>
              </a:lnSpc>
            </a:pPr>
            <a:r>
              <a:rPr lang="zh-CN" altLang="en-US" sz="1800" dirty="0"/>
              <a:t>（</a:t>
            </a:r>
            <a:r>
              <a:rPr lang="en-US" altLang="zh-CN" sz="1800" dirty="0"/>
              <a:t>5</a:t>
            </a:r>
            <a:r>
              <a:rPr lang="zh-CN" altLang="en-US" sz="1800" dirty="0"/>
              <a:t>）提供一个标准矩形脉冲信号发生器，要求</a:t>
            </a:r>
          </a:p>
          <a:p>
            <a:pPr lvl="2">
              <a:lnSpc>
                <a:spcPct val="125000"/>
              </a:lnSpc>
            </a:pPr>
            <a:r>
              <a:rPr lang="en-US" altLang="zh-CN" sz="1800" dirty="0"/>
              <a:t>a) </a:t>
            </a:r>
            <a:r>
              <a:rPr lang="zh-CN" altLang="en-US" sz="1800" dirty="0"/>
              <a:t>频率𝑓</a:t>
            </a:r>
            <a:r>
              <a:rPr lang="en-US" altLang="zh-CN" sz="1800" baseline="-25000" dirty="0"/>
              <a:t>O</a:t>
            </a:r>
            <a:r>
              <a:rPr lang="en-US" altLang="zh-CN" sz="1800" dirty="0"/>
              <a:t> </a:t>
            </a:r>
            <a:r>
              <a:rPr lang="zh-CN" altLang="en-US" sz="1800" dirty="0"/>
              <a:t>为</a:t>
            </a:r>
            <a:r>
              <a:rPr lang="en-US" altLang="zh-CN" sz="1800" dirty="0"/>
              <a:t>1MHz</a:t>
            </a:r>
            <a:r>
              <a:rPr lang="zh-CN" altLang="en-US" sz="1800" dirty="0"/>
              <a:t>，误差的绝对值不大于</a:t>
            </a:r>
            <a:r>
              <a:rPr lang="en-US" altLang="zh-CN" sz="1800" dirty="0"/>
              <a:t>0.1%</a:t>
            </a:r>
            <a:r>
              <a:rPr lang="zh-CN" altLang="en-US" sz="1800" dirty="0"/>
              <a:t>；</a:t>
            </a:r>
          </a:p>
          <a:p>
            <a:pPr lvl="2">
              <a:lnSpc>
                <a:spcPct val="125000"/>
              </a:lnSpc>
            </a:pPr>
            <a:r>
              <a:rPr lang="en-US" altLang="zh-CN" sz="1800" dirty="0"/>
              <a:t>b) </a:t>
            </a:r>
            <a:r>
              <a:rPr lang="zh-CN" altLang="en-US" sz="1800" dirty="0"/>
              <a:t>脉宽𝑡</a:t>
            </a:r>
            <a:r>
              <a:rPr lang="zh-CN" altLang="en-US" sz="1800" baseline="-25000" dirty="0"/>
              <a:t>𝑤</a:t>
            </a:r>
            <a:r>
              <a:rPr lang="zh-CN" altLang="en-US" sz="1800" dirty="0"/>
              <a:t>为</a:t>
            </a:r>
            <a:r>
              <a:rPr lang="en-US" altLang="zh-CN" sz="1800" dirty="0"/>
              <a:t>100ns</a:t>
            </a:r>
            <a:r>
              <a:rPr lang="zh-CN" altLang="en-US" sz="1800" dirty="0"/>
              <a:t>，误差的绝对值不大于</a:t>
            </a:r>
            <a:r>
              <a:rPr lang="en-US" altLang="zh-CN" sz="1800" dirty="0"/>
              <a:t>1%</a:t>
            </a:r>
            <a:r>
              <a:rPr lang="zh-CN" altLang="en-US" sz="1800" dirty="0"/>
              <a:t>；</a:t>
            </a:r>
          </a:p>
          <a:p>
            <a:pPr lvl="2">
              <a:lnSpc>
                <a:spcPct val="125000"/>
              </a:lnSpc>
            </a:pPr>
            <a:r>
              <a:rPr lang="en-US" altLang="zh-CN" sz="1800" dirty="0"/>
              <a:t>c) </a:t>
            </a:r>
            <a:r>
              <a:rPr lang="zh-CN" altLang="en-US" sz="1800" dirty="0"/>
              <a:t>幅度𝑉</a:t>
            </a:r>
            <a:r>
              <a:rPr lang="zh-CN" altLang="en-US" sz="1800" baseline="-25000" dirty="0"/>
              <a:t>𝑚</a:t>
            </a:r>
            <a:r>
              <a:rPr lang="zh-CN" altLang="en-US" sz="1800" dirty="0"/>
              <a:t>为</a:t>
            </a:r>
            <a:r>
              <a:rPr lang="en-US" altLang="zh-CN" sz="1800" dirty="0"/>
              <a:t>5±0.1V</a:t>
            </a:r>
            <a:r>
              <a:rPr lang="zh-CN" altLang="en-US" sz="1800" dirty="0"/>
              <a:t>（负载电阻为</a:t>
            </a:r>
            <a:r>
              <a:rPr lang="en-US" altLang="zh-CN" sz="1800" dirty="0"/>
              <a:t>50Ω</a:t>
            </a:r>
            <a:r>
              <a:rPr lang="zh-CN" altLang="en-US" sz="1800" dirty="0"/>
              <a:t>）；</a:t>
            </a:r>
          </a:p>
          <a:p>
            <a:pPr lvl="2">
              <a:lnSpc>
                <a:spcPct val="125000"/>
              </a:lnSpc>
            </a:pPr>
            <a:r>
              <a:rPr lang="en-US" altLang="zh-CN" sz="1800" dirty="0"/>
              <a:t>d) </a:t>
            </a:r>
            <a:r>
              <a:rPr lang="zh-CN" altLang="en-US" sz="1800" dirty="0"/>
              <a:t>上升时间𝑡</a:t>
            </a:r>
            <a:r>
              <a:rPr lang="zh-CN" altLang="en-US" sz="1800" baseline="-25000" dirty="0"/>
              <a:t>𝑟</a:t>
            </a:r>
            <a:r>
              <a:rPr lang="zh-CN" altLang="en-US" sz="1800" dirty="0"/>
              <a:t>不大于</a:t>
            </a:r>
            <a:r>
              <a:rPr lang="en-US" altLang="zh-CN" sz="1800" dirty="0"/>
              <a:t>30ns</a:t>
            </a:r>
            <a:r>
              <a:rPr lang="zh-CN" altLang="en-US" sz="1800" dirty="0"/>
              <a:t>，过冲</a:t>
            </a:r>
            <a:r>
              <a:rPr lang="en-US" altLang="zh-CN" sz="1800" dirty="0"/>
              <a:t>σ</a:t>
            </a:r>
            <a:r>
              <a:rPr lang="zh-CN" altLang="en-US" sz="1800" dirty="0"/>
              <a:t>不大于</a:t>
            </a:r>
            <a:r>
              <a:rPr lang="en-US" altLang="zh-CN" sz="1800" dirty="0"/>
              <a:t>5%</a:t>
            </a:r>
            <a:r>
              <a:rPr lang="zh-CN" altLang="en-US" sz="1800" dirty="0"/>
              <a:t>。</a:t>
            </a:r>
          </a:p>
          <a:p>
            <a:pPr lvl="1">
              <a:lnSpc>
                <a:spcPct val="125000"/>
              </a:lnSpc>
            </a:pPr>
            <a:r>
              <a:rPr lang="zh-CN" altLang="en-US" sz="1800" dirty="0"/>
              <a:t>（</a:t>
            </a:r>
            <a:r>
              <a:rPr lang="en-US" altLang="zh-CN" sz="1800" dirty="0"/>
              <a:t>6</a:t>
            </a:r>
            <a:r>
              <a:rPr lang="zh-CN" altLang="en-US" sz="1800" dirty="0"/>
              <a:t>）其他。</a:t>
            </a:r>
            <a:endParaRPr lang="zh-CN" altLang="en-US" sz="3600" dirty="0"/>
          </a:p>
        </p:txBody>
      </p:sp>
    </p:spTree>
    <p:extLst>
      <p:ext uri="{BB962C8B-B14F-4D97-AF65-F5344CB8AC3E}">
        <p14:creationId xmlns:p14="http://schemas.microsoft.com/office/powerpoint/2010/main" val="18673507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53</a:t>
            </a:fld>
            <a:endParaRPr lang="en-US" altLang="zh-CN">
              <a:solidFill>
                <a:srgbClr val="FFFFFF"/>
              </a:solidFill>
            </a:endParaRPr>
          </a:p>
        </p:txBody>
      </p:sp>
      <p:sp>
        <p:nvSpPr>
          <p:cNvPr id="6" name="文本框 5"/>
          <p:cNvSpPr txBox="1"/>
          <p:nvPr/>
        </p:nvSpPr>
        <p:spPr>
          <a:xfrm>
            <a:off x="416966" y="512064"/>
            <a:ext cx="11404619" cy="923330"/>
          </a:xfrm>
          <a:prstGeom prst="rect">
            <a:avLst/>
          </a:prstGeom>
          <a:noFill/>
        </p:spPr>
        <p:txBody>
          <a:bodyPr wrap="square" rtlCol="0">
            <a:spAutoFit/>
          </a:bodyPr>
          <a:lstStyle/>
          <a:p>
            <a:pPr indent="457200">
              <a:lnSpc>
                <a:spcPct val="150000"/>
              </a:lnSpc>
            </a:pPr>
            <a:r>
              <a:rPr lang="zh-CN" altLang="en-US" sz="1800" dirty="0"/>
              <a:t>脉冲信号参数的定义如下图所示。其中，上升时间𝑡</a:t>
            </a:r>
            <a:r>
              <a:rPr lang="zh-CN" altLang="en-US" sz="1800" baseline="-25000" dirty="0"/>
              <a:t>𝑟</a:t>
            </a:r>
            <a:r>
              <a:rPr lang="zh-CN" altLang="en-US" sz="1800" dirty="0"/>
              <a:t>是指输出电压从</a:t>
            </a:r>
            <a:r>
              <a:rPr lang="en-US" altLang="zh-CN" sz="1800" dirty="0"/>
              <a:t>0.1</a:t>
            </a:r>
            <a:r>
              <a:rPr lang="zh-CN" altLang="en-US" sz="1800" dirty="0"/>
              <a:t>𝑉</a:t>
            </a:r>
            <a:r>
              <a:rPr lang="zh-CN" altLang="en-US" sz="1800" baseline="-25000" dirty="0"/>
              <a:t>𝑚</a:t>
            </a:r>
            <a:r>
              <a:rPr lang="zh-CN" altLang="en-US" sz="1800" dirty="0"/>
              <a:t>上升到</a:t>
            </a:r>
            <a:r>
              <a:rPr lang="en-US" altLang="zh-CN" sz="1800" dirty="0"/>
              <a:t>0.9</a:t>
            </a:r>
            <a:r>
              <a:rPr lang="zh-CN" altLang="en-US" sz="1800" dirty="0"/>
              <a:t>𝑉</a:t>
            </a:r>
            <a:r>
              <a:rPr lang="zh-CN" altLang="en-US" sz="1800" baseline="-25000" dirty="0"/>
              <a:t>𝑚</a:t>
            </a:r>
            <a:r>
              <a:rPr lang="zh-CN" altLang="en-US" sz="1800" dirty="0"/>
              <a:t>所需要的时间；过冲</a:t>
            </a:r>
            <a:r>
              <a:rPr lang="en-US" altLang="zh-CN" sz="1800" dirty="0"/>
              <a:t>σ</a:t>
            </a:r>
            <a:r>
              <a:rPr lang="zh-CN" altLang="en-US" sz="1800" dirty="0"/>
              <a:t>是指脉冲峰值电压超过脉冲电压幅度𝑉</a:t>
            </a:r>
            <a:r>
              <a:rPr lang="zh-CN" altLang="en-US" sz="1800" baseline="-25000" dirty="0"/>
              <a:t>𝑚</a:t>
            </a:r>
            <a:r>
              <a:rPr lang="zh-CN" altLang="en-US" sz="1800" dirty="0"/>
              <a:t>的程度，其定义为</a:t>
            </a:r>
            <a:endParaRPr lang="zh-CN" altLang="en-US" sz="1800" dirty="0"/>
          </a:p>
        </p:txBody>
      </p:sp>
      <p:pic>
        <p:nvPicPr>
          <p:cNvPr id="7" name="图片 6"/>
          <p:cNvPicPr>
            <a:picLocks noChangeAspect="1"/>
          </p:cNvPicPr>
          <p:nvPr/>
        </p:nvPicPr>
        <p:blipFill>
          <a:blip r:embed="rId2"/>
          <a:stretch>
            <a:fillRect/>
          </a:stretch>
        </p:blipFill>
        <p:spPr>
          <a:xfrm>
            <a:off x="4698504" y="1638666"/>
            <a:ext cx="1812024" cy="692330"/>
          </a:xfrm>
          <a:prstGeom prst="rect">
            <a:avLst/>
          </a:prstGeom>
        </p:spPr>
      </p:pic>
      <p:pic>
        <p:nvPicPr>
          <p:cNvPr id="8" name="图片 7"/>
          <p:cNvPicPr>
            <a:picLocks noChangeAspect="1"/>
          </p:cNvPicPr>
          <p:nvPr/>
        </p:nvPicPr>
        <p:blipFill>
          <a:blip r:embed="rId3"/>
          <a:stretch>
            <a:fillRect/>
          </a:stretch>
        </p:blipFill>
        <p:spPr>
          <a:xfrm>
            <a:off x="2800544" y="2584923"/>
            <a:ext cx="6545435" cy="3036898"/>
          </a:xfrm>
          <a:prstGeom prst="rect">
            <a:avLst/>
          </a:prstGeom>
        </p:spPr>
      </p:pic>
    </p:spTree>
    <p:extLst>
      <p:ext uri="{BB962C8B-B14F-4D97-AF65-F5344CB8AC3E}">
        <p14:creationId xmlns:p14="http://schemas.microsoft.com/office/powerpoint/2010/main" val="39120292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54</a:t>
            </a:fld>
            <a:endParaRPr lang="en-US" altLang="zh-CN">
              <a:solidFill>
                <a:srgbClr val="FFFFFF"/>
              </a:solidFill>
            </a:endParaRPr>
          </a:p>
        </p:txBody>
      </p:sp>
      <p:sp>
        <p:nvSpPr>
          <p:cNvPr id="5" name="矩形 4"/>
          <p:cNvSpPr/>
          <p:nvPr/>
        </p:nvSpPr>
        <p:spPr>
          <a:xfrm>
            <a:off x="348345" y="463574"/>
            <a:ext cx="11255828" cy="5724644"/>
          </a:xfrm>
          <a:prstGeom prst="rect">
            <a:avLst/>
          </a:prstGeom>
        </p:spPr>
        <p:txBody>
          <a:bodyPr wrap="square">
            <a:spAutoFit/>
          </a:bodyPr>
          <a:lstStyle/>
          <a:p>
            <a:pPr algn="ctr">
              <a:lnSpc>
                <a:spcPct val="150000"/>
              </a:lnSpc>
            </a:pPr>
            <a:r>
              <a:rPr lang="zh-CN" altLang="zh-CN" sz="2800" dirty="0">
                <a:solidFill>
                  <a:schemeClr val="accent6">
                    <a:lumMod val="75000"/>
                  </a:schemeClr>
                </a:solidFill>
                <a:latin typeface="隶书" panose="02010509060101010101" pitchFamily="49" charset="-122"/>
                <a:ea typeface="隶书" panose="02010509060101010101" pitchFamily="49" charset="-122"/>
              </a:rPr>
              <a:t>题目</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分析</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与解决方案</a:t>
            </a:r>
          </a:p>
          <a:p>
            <a:pPr indent="457200">
              <a:lnSpc>
                <a:spcPct val="150000"/>
              </a:lnSpc>
            </a:pPr>
            <a:r>
              <a:rPr lang="zh-CN" altLang="en-US" sz="1800" dirty="0" smtClean="0"/>
              <a:t>本题</a:t>
            </a:r>
            <a:r>
              <a:rPr lang="zh-CN" altLang="en-US" sz="1800" dirty="0" smtClean="0"/>
              <a:t>的难点在于脉冲</a:t>
            </a:r>
            <a:r>
              <a:rPr lang="zh-CN" altLang="en-US" sz="1800" dirty="0"/>
              <a:t>参数</a:t>
            </a:r>
            <a:r>
              <a:rPr lang="zh-CN" altLang="en-US" sz="1800" dirty="0" smtClean="0"/>
              <a:t>测量。</a:t>
            </a:r>
            <a:endParaRPr lang="en-US" altLang="zh-CN" sz="1800" dirty="0" smtClean="0"/>
          </a:p>
          <a:p>
            <a:pPr indent="457200">
              <a:lnSpc>
                <a:spcPct val="150000"/>
              </a:lnSpc>
            </a:pPr>
            <a:r>
              <a:rPr lang="zh-CN" altLang="en-US" sz="1800" dirty="0" smtClean="0"/>
              <a:t>硬件方案</a:t>
            </a:r>
            <a:endParaRPr lang="en-US" altLang="zh-CN" sz="1800" dirty="0" smtClean="0"/>
          </a:p>
          <a:p>
            <a:pPr indent="457200">
              <a:lnSpc>
                <a:spcPct val="150000"/>
              </a:lnSpc>
            </a:pPr>
            <a:r>
              <a:rPr lang="zh-CN" altLang="en-US" sz="1800" dirty="0" smtClean="0"/>
              <a:t>可参照前一个题目</a:t>
            </a:r>
            <a:endParaRPr lang="en-US" altLang="zh-CN" sz="1800" dirty="0" smtClean="0"/>
          </a:p>
          <a:p>
            <a:pPr indent="457200">
              <a:lnSpc>
                <a:spcPct val="150000"/>
              </a:lnSpc>
            </a:pPr>
            <a:r>
              <a:rPr lang="zh-CN" altLang="en-US" sz="1800" dirty="0" smtClean="0"/>
              <a:t>测试</a:t>
            </a:r>
            <a:r>
              <a:rPr lang="zh-CN" altLang="en-US" sz="1800" dirty="0"/>
              <a:t>脉冲</a:t>
            </a:r>
            <a:r>
              <a:rPr lang="zh-CN" altLang="en-US" sz="1800" dirty="0" smtClean="0"/>
              <a:t>频率与占空比</a:t>
            </a:r>
            <a:r>
              <a:rPr lang="zh-CN" altLang="en-US" sz="1800" dirty="0"/>
              <a:t>，实际上就是一个可以测量占空比的</a:t>
            </a:r>
            <a:r>
              <a:rPr lang="zh-CN" altLang="en-US" sz="1800" dirty="0" smtClean="0"/>
              <a:t>频率计。</a:t>
            </a:r>
            <a:endParaRPr lang="en-US" altLang="zh-CN" sz="1800" dirty="0" smtClean="0"/>
          </a:p>
          <a:p>
            <a:pPr indent="457200">
              <a:lnSpc>
                <a:spcPct val="150000"/>
              </a:lnSpc>
            </a:pPr>
            <a:r>
              <a:rPr lang="zh-CN" altLang="en-US" sz="1800" dirty="0" smtClean="0"/>
              <a:t>用</a:t>
            </a:r>
            <a:r>
              <a:rPr lang="zh-CN" altLang="en-US" sz="1800" dirty="0"/>
              <a:t>比较器在脉冲上升边沿</a:t>
            </a:r>
            <a:r>
              <a:rPr lang="en-US" altLang="zh-CN" sz="1800" dirty="0"/>
              <a:t>10%</a:t>
            </a:r>
            <a:r>
              <a:rPr lang="zh-CN" altLang="en-US" sz="1800" dirty="0"/>
              <a:t>与</a:t>
            </a:r>
            <a:r>
              <a:rPr lang="en-US" altLang="zh-CN" sz="1800" dirty="0"/>
              <a:t>90%</a:t>
            </a:r>
            <a:r>
              <a:rPr lang="zh-CN" altLang="en-US" sz="1800" dirty="0"/>
              <a:t>幅度的位置分别触发两个触发器，使它们形成两个有时间间隔的脉冲，</a:t>
            </a:r>
            <a:r>
              <a:rPr lang="zh-CN" altLang="en-US" sz="1800" dirty="0" smtClean="0"/>
              <a:t>那么</a:t>
            </a:r>
            <a:r>
              <a:rPr lang="zh-CN" altLang="en-US" sz="1800" dirty="0"/>
              <a:t>测量脉冲信号上升时间</a:t>
            </a:r>
            <a:r>
              <a:rPr lang="zh-CN" altLang="en-US" sz="1800" dirty="0" smtClean="0"/>
              <a:t>就</a:t>
            </a:r>
            <a:r>
              <a:rPr lang="zh-CN" altLang="en-US" sz="1800" dirty="0"/>
              <a:t>转化</a:t>
            </a:r>
            <a:r>
              <a:rPr lang="zh-CN" altLang="en-US" sz="1800" dirty="0" smtClean="0"/>
              <a:t>为测量</a:t>
            </a:r>
            <a:r>
              <a:rPr lang="zh-CN" altLang="en-US" sz="1800" dirty="0"/>
              <a:t>时间间隔的问题</a:t>
            </a:r>
            <a:r>
              <a:rPr lang="zh-CN" altLang="en-US" sz="1800" dirty="0" smtClean="0"/>
              <a:t>。</a:t>
            </a:r>
            <a:endParaRPr lang="en-US" altLang="zh-CN" sz="1800" dirty="0" smtClean="0"/>
          </a:p>
          <a:p>
            <a:pPr indent="457200">
              <a:lnSpc>
                <a:spcPct val="150000"/>
              </a:lnSpc>
            </a:pPr>
            <a:r>
              <a:rPr lang="zh-CN" altLang="en-US" sz="1800" dirty="0"/>
              <a:t>此题目中比较困难的是输入脉冲信号幅度可变，幅度变化范围为</a:t>
            </a:r>
            <a:r>
              <a:rPr lang="en-US" altLang="zh-CN" sz="1800" dirty="0"/>
              <a:t>0.1</a:t>
            </a:r>
            <a:r>
              <a:rPr lang="zh-CN" altLang="en-US" sz="1800" dirty="0"/>
              <a:t>～</a:t>
            </a:r>
            <a:r>
              <a:rPr lang="en-US" altLang="zh-CN" sz="1800" dirty="0"/>
              <a:t>10V</a:t>
            </a:r>
            <a:r>
              <a:rPr lang="zh-CN" altLang="en-US" sz="1800" dirty="0"/>
              <a:t>。占空比测试要求在输入幅度</a:t>
            </a:r>
            <a:r>
              <a:rPr lang="en-US" altLang="zh-CN" sz="1800" dirty="0"/>
              <a:t>50%</a:t>
            </a:r>
            <a:r>
              <a:rPr lang="zh-CN" altLang="en-US" sz="1800" dirty="0"/>
              <a:t>处将输入信号通过比较器整形为方波，上升时间测试要求在幅度</a:t>
            </a:r>
            <a:r>
              <a:rPr lang="en-US" altLang="zh-CN" sz="1800" dirty="0"/>
              <a:t>10%</a:t>
            </a:r>
            <a:r>
              <a:rPr lang="zh-CN" altLang="en-US" sz="1800" dirty="0"/>
              <a:t>和</a:t>
            </a:r>
            <a:r>
              <a:rPr lang="en-US" altLang="zh-CN" sz="1800" dirty="0"/>
              <a:t>90%</a:t>
            </a:r>
            <a:r>
              <a:rPr lang="zh-CN" altLang="en-US" sz="1800" dirty="0"/>
              <a:t>处通过比较器整形为两个脉冲，而可变的输入幅度使得这个幅度比较成为难点。</a:t>
            </a:r>
          </a:p>
          <a:p>
            <a:pPr indent="457200">
              <a:lnSpc>
                <a:spcPct val="150000"/>
              </a:lnSpc>
            </a:pPr>
            <a:r>
              <a:rPr lang="zh-CN" altLang="en-US" sz="1800" dirty="0"/>
              <a:t>为了解决上述难点，应该对输入信号进行</a:t>
            </a:r>
            <a:r>
              <a:rPr lang="en-US" altLang="zh-CN" sz="1800" dirty="0"/>
              <a:t>AGC </a:t>
            </a:r>
            <a:r>
              <a:rPr lang="zh-CN" altLang="en-US" sz="1800" dirty="0"/>
              <a:t>放大，使得最后到达比较器的信号幅度恒定不变。该</a:t>
            </a:r>
            <a:r>
              <a:rPr lang="en-US" altLang="zh-CN" sz="1800" dirty="0"/>
              <a:t>AGC </a:t>
            </a:r>
            <a:r>
              <a:rPr lang="zh-CN" altLang="en-US" sz="1800" dirty="0"/>
              <a:t>放大器应该具有较大的起控范围以获得基本不变的输出幅度，很宽的频率响应以避免输入波形产生变形，很低的噪声以避免比较器的误触发。</a:t>
            </a:r>
            <a:endParaRPr lang="en-US" altLang="zh-CN" sz="1800" dirty="0"/>
          </a:p>
        </p:txBody>
      </p:sp>
    </p:spTree>
    <p:extLst>
      <p:ext uri="{BB962C8B-B14F-4D97-AF65-F5344CB8AC3E}">
        <p14:creationId xmlns:p14="http://schemas.microsoft.com/office/powerpoint/2010/main" val="39514926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55</a:t>
            </a:fld>
            <a:endParaRPr lang="en-US" altLang="zh-CN">
              <a:solidFill>
                <a:srgbClr val="FFFFFF"/>
              </a:solidFill>
            </a:endParaRPr>
          </a:p>
        </p:txBody>
      </p:sp>
      <p:sp>
        <p:nvSpPr>
          <p:cNvPr id="5" name="文本框 4"/>
          <p:cNvSpPr txBox="1"/>
          <p:nvPr/>
        </p:nvSpPr>
        <p:spPr>
          <a:xfrm>
            <a:off x="380390" y="395021"/>
            <a:ext cx="11441195" cy="4247317"/>
          </a:xfrm>
          <a:prstGeom prst="rect">
            <a:avLst/>
          </a:prstGeom>
          <a:noFill/>
        </p:spPr>
        <p:txBody>
          <a:bodyPr wrap="square" rtlCol="0">
            <a:spAutoFit/>
          </a:bodyPr>
          <a:lstStyle/>
          <a:p>
            <a:pPr>
              <a:lnSpc>
                <a:spcPct val="150000"/>
              </a:lnSpc>
            </a:pPr>
            <a:r>
              <a:rPr lang="zh-CN" altLang="en-US" sz="1800" dirty="0" smtClean="0"/>
              <a:t>软件方案</a:t>
            </a:r>
            <a:endParaRPr lang="en-US" altLang="zh-CN" sz="1800" dirty="0" smtClean="0"/>
          </a:p>
          <a:p>
            <a:pPr indent="457200">
              <a:lnSpc>
                <a:spcPct val="150000"/>
              </a:lnSpc>
            </a:pPr>
            <a:r>
              <a:rPr lang="zh-CN" altLang="en-US" sz="1800" dirty="0" smtClean="0"/>
              <a:t>用</a:t>
            </a:r>
            <a:r>
              <a:rPr lang="zh-CN" altLang="en-US" sz="1800" dirty="0"/>
              <a:t>高速</a:t>
            </a:r>
            <a:r>
              <a:rPr lang="en-US" altLang="zh-CN" sz="1800" dirty="0"/>
              <a:t>ADC </a:t>
            </a:r>
            <a:r>
              <a:rPr lang="zh-CN" altLang="en-US" sz="1800" dirty="0"/>
              <a:t>直接读出输入信号的波形，然后用软件计算所有要求测试的参数。这个方案具有最大的灵活性，可以满足题目的所有测试要求。</a:t>
            </a:r>
          </a:p>
          <a:p>
            <a:pPr indent="457200">
              <a:lnSpc>
                <a:spcPct val="150000"/>
              </a:lnSpc>
            </a:pPr>
            <a:r>
              <a:rPr lang="zh-CN" altLang="en-US" sz="1800" dirty="0"/>
              <a:t>为了提高测量精度，软件方案中的前置放大器还是必须的，不过可以不用</a:t>
            </a:r>
            <a:r>
              <a:rPr lang="en-US" altLang="zh-CN" sz="1800" dirty="0"/>
              <a:t>AGC </a:t>
            </a:r>
            <a:r>
              <a:rPr lang="zh-CN" altLang="en-US" sz="1800" dirty="0"/>
              <a:t>控制而直接采用数控增益放大器，那样更容易精确测量输入信号的幅度。</a:t>
            </a:r>
          </a:p>
          <a:p>
            <a:pPr indent="457200">
              <a:lnSpc>
                <a:spcPct val="150000"/>
              </a:lnSpc>
            </a:pPr>
            <a:r>
              <a:rPr lang="zh-CN" altLang="en-US" sz="1800" dirty="0"/>
              <a:t>由于输入信号是一个周期重复信号，所以还可以用周期采样的方式，</a:t>
            </a:r>
            <a:r>
              <a:rPr lang="zh-CN" altLang="en-US" sz="1800" dirty="0" smtClean="0"/>
              <a:t>那样可以大大降低对于</a:t>
            </a:r>
            <a:r>
              <a:rPr lang="en-US" altLang="zh-CN" sz="1800" dirty="0"/>
              <a:t>ADC </a:t>
            </a:r>
            <a:r>
              <a:rPr lang="zh-CN" altLang="en-US" sz="1800" dirty="0"/>
              <a:t>的采样速度</a:t>
            </a:r>
            <a:r>
              <a:rPr lang="zh-CN" altLang="en-US" sz="1800" dirty="0" smtClean="0"/>
              <a:t>要求。</a:t>
            </a:r>
            <a:r>
              <a:rPr lang="zh-CN" altLang="en-US" sz="1800" dirty="0"/>
              <a:t>具体的做法如下</a:t>
            </a:r>
            <a:r>
              <a:rPr lang="zh-CN" altLang="en-US" sz="1800" dirty="0" smtClean="0"/>
              <a:t>：</a:t>
            </a:r>
            <a:endParaRPr lang="en-US" altLang="zh-CN" sz="1800" dirty="0" smtClean="0"/>
          </a:p>
          <a:p>
            <a:pPr indent="457200">
              <a:lnSpc>
                <a:spcPct val="150000"/>
              </a:lnSpc>
            </a:pPr>
            <a:r>
              <a:rPr lang="zh-CN" altLang="en-US" sz="1800" dirty="0" smtClean="0"/>
              <a:t>令</a:t>
            </a:r>
            <a:r>
              <a:rPr lang="zh-CN" altLang="en-US" sz="1800" dirty="0"/>
              <a:t>总采样点数为</a:t>
            </a:r>
            <a:r>
              <a:rPr lang="en-US" altLang="zh-CN" sz="1800" dirty="0" smtClean="0"/>
              <a:t>n</a:t>
            </a:r>
            <a:r>
              <a:rPr lang="zh-CN" altLang="en-US" sz="1800" dirty="0" smtClean="0"/>
              <a:t>，总</a:t>
            </a:r>
            <a:r>
              <a:rPr lang="zh-CN" altLang="en-US" sz="1800" dirty="0"/>
              <a:t>采样时间等于</a:t>
            </a:r>
            <a:r>
              <a:rPr lang="en-US" altLang="zh-CN" sz="1800" dirty="0"/>
              <a:t>p </a:t>
            </a:r>
            <a:r>
              <a:rPr lang="zh-CN" altLang="en-US" sz="1800" dirty="0"/>
              <a:t>个信号基波周期（</a:t>
            </a:r>
            <a:r>
              <a:rPr lang="en-US" altLang="zh-CN" sz="1800" dirty="0"/>
              <a:t>p </a:t>
            </a:r>
            <a:r>
              <a:rPr lang="zh-CN" altLang="en-US" sz="1800" dirty="0"/>
              <a:t>为大于</a:t>
            </a:r>
            <a:r>
              <a:rPr lang="en-US" altLang="zh-CN" sz="1800" dirty="0"/>
              <a:t>1 </a:t>
            </a:r>
            <a:r>
              <a:rPr lang="zh-CN" altLang="en-US" sz="1800" dirty="0"/>
              <a:t>的整数</a:t>
            </a:r>
            <a:r>
              <a:rPr lang="zh-CN" altLang="en-US" sz="1800" dirty="0" smtClean="0"/>
              <a:t>）</a:t>
            </a:r>
            <a:endParaRPr lang="en-US" altLang="zh-CN" sz="1800" dirty="0" smtClean="0"/>
          </a:p>
          <a:p>
            <a:pPr indent="457200">
              <a:lnSpc>
                <a:spcPct val="150000"/>
              </a:lnSpc>
            </a:pPr>
            <a:r>
              <a:rPr lang="zh-CN" altLang="en-US" sz="1800" dirty="0" smtClean="0"/>
              <a:t>令</a:t>
            </a:r>
            <a:r>
              <a:rPr lang="zh-CN" altLang="en-US" sz="1800" dirty="0"/>
              <a:t>采样的信号周期数</a:t>
            </a:r>
            <a:r>
              <a:rPr lang="en-US" altLang="zh-CN" sz="1800" dirty="0"/>
              <a:t>p </a:t>
            </a:r>
            <a:r>
              <a:rPr lang="zh-CN" altLang="en-US" sz="1800" dirty="0"/>
              <a:t>与总采样点数</a:t>
            </a:r>
            <a:r>
              <a:rPr lang="en-US" altLang="zh-CN" sz="1800" dirty="0"/>
              <a:t>n </a:t>
            </a:r>
            <a:r>
              <a:rPr lang="zh-CN" altLang="en-US" sz="1800" dirty="0"/>
              <a:t>互质，那样就相当于在一个信号周期内均匀采集了</a:t>
            </a:r>
            <a:r>
              <a:rPr lang="en-US" altLang="zh-CN" sz="1800" dirty="0"/>
              <a:t>n </a:t>
            </a:r>
            <a:r>
              <a:rPr lang="zh-CN" altLang="en-US" sz="1800" dirty="0"/>
              <a:t>个信号。要注意的是这</a:t>
            </a:r>
            <a:r>
              <a:rPr lang="en-US" altLang="zh-CN" sz="1800" dirty="0"/>
              <a:t>n </a:t>
            </a:r>
            <a:r>
              <a:rPr lang="zh-CN" altLang="en-US" sz="1800" dirty="0"/>
              <a:t>个信号散布在</a:t>
            </a:r>
            <a:r>
              <a:rPr lang="en-US" altLang="zh-CN" sz="1800" dirty="0"/>
              <a:t>p </a:t>
            </a:r>
            <a:r>
              <a:rPr lang="zh-CN" altLang="en-US" sz="1800" dirty="0"/>
              <a:t>个信号周期内，在分析的时候必须整理它们的前后顺序。</a:t>
            </a:r>
            <a:endParaRPr lang="zh-CN" altLang="en-US" sz="1800" dirty="0"/>
          </a:p>
        </p:txBody>
      </p:sp>
    </p:spTree>
    <p:extLst>
      <p:ext uri="{BB962C8B-B14F-4D97-AF65-F5344CB8AC3E}">
        <p14:creationId xmlns:p14="http://schemas.microsoft.com/office/powerpoint/2010/main" val="28118863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2024/6/30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56</a:t>
            </a:fld>
            <a:endParaRPr lang="en-US" altLang="zh-CN"/>
          </a:p>
        </p:txBody>
      </p:sp>
      <p:sp>
        <p:nvSpPr>
          <p:cNvPr id="2" name="文本框 1"/>
          <p:cNvSpPr txBox="1"/>
          <p:nvPr/>
        </p:nvSpPr>
        <p:spPr>
          <a:xfrm>
            <a:off x="500443" y="501501"/>
            <a:ext cx="11321142" cy="2492990"/>
          </a:xfrm>
          <a:prstGeom prst="rect">
            <a:avLst/>
          </a:prstGeom>
          <a:noFill/>
        </p:spPr>
        <p:txBody>
          <a:bodyPr wrap="square" rtlCol="0">
            <a:spAutoFit/>
          </a:bodyPr>
          <a:lstStyle/>
          <a:p>
            <a:pPr algn="ctr">
              <a:lnSpc>
                <a:spcPct val="150000"/>
              </a:lnSpc>
            </a:pPr>
            <a:r>
              <a:rPr lang="zh-CN" altLang="en-US" sz="3200" dirty="0" smtClean="0">
                <a:solidFill>
                  <a:srgbClr val="FF0000"/>
                </a:solidFill>
                <a:latin typeface="隶书" panose="02010509060101010101" pitchFamily="49" charset="-122"/>
                <a:ea typeface="隶书" panose="02010509060101010101" pitchFamily="49" charset="-122"/>
              </a:rPr>
              <a:t>其他类型的测试仪器</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50000"/>
              </a:lnSpc>
              <a:spcAft>
                <a:spcPts val="0"/>
              </a:spcAft>
            </a:pPr>
            <a:r>
              <a:rPr lang="zh-CN" altLang="en-US" sz="1800" dirty="0" smtClean="0">
                <a:latin typeface="Arial" panose="020B0604020202020204" pitchFamily="34" charset="0"/>
              </a:rPr>
              <a:t>除了前面讨论的测试仪器，还有一些</a:t>
            </a:r>
            <a:r>
              <a:rPr lang="zh-CN" altLang="en-US" sz="1800" dirty="0" smtClean="0">
                <a:latin typeface="Arial" panose="020B0604020202020204" pitchFamily="34" charset="0"/>
              </a:rPr>
              <a:t>其他仪器，例如</a:t>
            </a:r>
            <a:endParaRPr lang="en-US" altLang="zh-CN" sz="1800" dirty="0" smtClean="0">
              <a:latin typeface="Arial" panose="020B0604020202020204" pitchFamily="34" charset="0"/>
            </a:endParaRPr>
          </a:p>
          <a:p>
            <a:pPr marL="285750" indent="-285750">
              <a:lnSpc>
                <a:spcPct val="150000"/>
              </a:lnSpc>
              <a:buFont typeface="Arial" panose="020B0604020202020204" pitchFamily="34" charset="0"/>
              <a:buChar char="•"/>
            </a:pPr>
            <a:r>
              <a:rPr lang="zh-CN" altLang="en-US" sz="1800" dirty="0" smtClean="0"/>
              <a:t>测量电压、电流。例如</a:t>
            </a:r>
            <a:r>
              <a:rPr lang="en-US" altLang="zh-CN" sz="1800" dirty="0"/>
              <a:t>2018</a:t>
            </a:r>
            <a:r>
              <a:rPr lang="zh-CN" altLang="en-US" sz="1800" dirty="0"/>
              <a:t>年</a:t>
            </a:r>
            <a:r>
              <a:rPr lang="en-US" altLang="zh-CN" sz="1800" dirty="0"/>
              <a:t>TI</a:t>
            </a:r>
            <a:r>
              <a:rPr lang="zh-CN" altLang="en-US" sz="1800" dirty="0"/>
              <a:t>杯</a:t>
            </a:r>
            <a:r>
              <a:rPr lang="en-US" altLang="zh-CN" sz="1800" dirty="0"/>
              <a:t>A</a:t>
            </a:r>
            <a:r>
              <a:rPr lang="zh-CN" altLang="en-US" sz="1800" dirty="0" smtClean="0"/>
              <a:t>题</a:t>
            </a:r>
            <a:r>
              <a:rPr lang="en-US" altLang="zh-CN" sz="1800" dirty="0" smtClean="0"/>
              <a:t>《</a:t>
            </a:r>
            <a:r>
              <a:rPr lang="zh-CN" altLang="en-US" sz="1800" dirty="0" smtClean="0"/>
              <a:t>电流</a:t>
            </a:r>
            <a:r>
              <a:rPr lang="zh-CN" altLang="en-US" sz="1800" dirty="0"/>
              <a:t>信号检测</a:t>
            </a:r>
            <a:r>
              <a:rPr lang="zh-CN" altLang="en-US" sz="1800" dirty="0" smtClean="0"/>
              <a:t>装置</a:t>
            </a:r>
            <a:r>
              <a:rPr lang="en-US" altLang="zh-CN" sz="1800" dirty="0" smtClean="0"/>
              <a:t>》</a:t>
            </a:r>
          </a:p>
          <a:p>
            <a:pPr marL="285750" indent="-285750">
              <a:lnSpc>
                <a:spcPct val="150000"/>
              </a:lnSpc>
              <a:buFont typeface="Arial" panose="020B0604020202020204" pitchFamily="34" charset="0"/>
              <a:buChar char="•"/>
            </a:pPr>
            <a:r>
              <a:rPr lang="zh-CN" altLang="en-US" sz="1800" dirty="0"/>
              <a:t>测量微弱信号。例如 </a:t>
            </a:r>
            <a:r>
              <a:rPr lang="en-US" altLang="zh-CN" sz="1800" dirty="0"/>
              <a:t>2014</a:t>
            </a:r>
            <a:r>
              <a:rPr lang="zh-CN" altLang="en-US" sz="1800" dirty="0"/>
              <a:t>年</a:t>
            </a:r>
            <a:r>
              <a:rPr lang="en-US" altLang="zh-CN" sz="1800" dirty="0"/>
              <a:t>TI</a:t>
            </a:r>
            <a:r>
              <a:rPr lang="zh-CN" altLang="en-US" sz="1800" dirty="0"/>
              <a:t>杯</a:t>
            </a:r>
            <a:r>
              <a:rPr lang="en-US" altLang="zh-CN" sz="1800" dirty="0"/>
              <a:t>C</a:t>
            </a:r>
            <a:r>
              <a:rPr lang="zh-CN" altLang="en-US" sz="1800" dirty="0"/>
              <a:t>题</a:t>
            </a:r>
            <a:r>
              <a:rPr lang="en-US" altLang="zh-CN" sz="1800" dirty="0"/>
              <a:t>《</a:t>
            </a:r>
            <a:r>
              <a:rPr lang="zh-CN" altLang="en-US" sz="1800" dirty="0"/>
              <a:t>锁定放大器</a:t>
            </a:r>
            <a:r>
              <a:rPr lang="zh-CN" altLang="en-US" sz="1800" dirty="0"/>
              <a:t>的</a:t>
            </a:r>
            <a:r>
              <a:rPr lang="zh-CN" altLang="en-US" sz="1800" dirty="0"/>
              <a:t>设计</a:t>
            </a:r>
            <a:r>
              <a:rPr lang="en-US" altLang="zh-CN" sz="1800" dirty="0"/>
              <a:t>》</a:t>
            </a:r>
            <a:r>
              <a:rPr lang="zh-CN" altLang="en-US" sz="1800" dirty="0"/>
              <a:t>、</a:t>
            </a:r>
            <a:r>
              <a:rPr lang="en-US" altLang="zh-CN" sz="1800" dirty="0"/>
              <a:t>2013</a:t>
            </a:r>
            <a:r>
              <a:rPr lang="zh-CN" altLang="en-US" sz="1800" dirty="0"/>
              <a:t>年全国赛</a:t>
            </a:r>
            <a:r>
              <a:rPr lang="en-US" altLang="zh-CN" sz="1800" dirty="0"/>
              <a:t>G</a:t>
            </a:r>
            <a:r>
              <a:rPr lang="zh-CN" altLang="en-US" sz="1800" dirty="0"/>
              <a:t>题</a:t>
            </a:r>
            <a:r>
              <a:rPr lang="en-US" altLang="zh-CN" sz="1800" dirty="0"/>
              <a:t>《</a:t>
            </a:r>
            <a:r>
              <a:rPr lang="zh-CN" altLang="en-US" sz="1800" dirty="0"/>
              <a:t>手写绘图板</a:t>
            </a:r>
            <a:r>
              <a:rPr lang="en-US" altLang="zh-CN" sz="1800" dirty="0" smtClean="0"/>
              <a:t>》</a:t>
            </a:r>
          </a:p>
          <a:p>
            <a:pPr marL="285750" indent="-285750">
              <a:lnSpc>
                <a:spcPct val="150000"/>
              </a:lnSpc>
              <a:buFont typeface="Arial" panose="020B0604020202020204" pitchFamily="34" charset="0"/>
              <a:buChar char="•"/>
            </a:pPr>
            <a:r>
              <a:rPr lang="zh-CN" altLang="en-US" sz="1800" dirty="0" smtClean="0"/>
              <a:t>信号发生器。例如</a:t>
            </a:r>
            <a:r>
              <a:rPr lang="en-US" altLang="zh-CN" sz="1800" dirty="0" smtClean="0"/>
              <a:t>2015</a:t>
            </a:r>
            <a:r>
              <a:rPr lang="zh-CN" altLang="en-US" sz="1800" dirty="0" smtClean="0"/>
              <a:t>年与</a:t>
            </a:r>
            <a:r>
              <a:rPr lang="en-US" altLang="zh-CN" sz="1800" dirty="0" smtClean="0"/>
              <a:t>2019</a:t>
            </a:r>
            <a:r>
              <a:rPr lang="zh-CN" altLang="en-US" sz="1800" dirty="0" smtClean="0"/>
              <a:t>年全国赛的复测题、</a:t>
            </a:r>
            <a:r>
              <a:rPr lang="en-US" altLang="zh-CN" sz="1800" dirty="0" smtClean="0"/>
              <a:t>2022</a:t>
            </a:r>
            <a:r>
              <a:rPr lang="zh-CN" altLang="en-US" sz="1800" dirty="0" smtClean="0"/>
              <a:t>年</a:t>
            </a:r>
            <a:r>
              <a:rPr lang="en-US" altLang="zh-CN" sz="1800" dirty="0"/>
              <a:t>TI</a:t>
            </a:r>
            <a:r>
              <a:rPr lang="zh-CN" altLang="en-US" sz="1800" dirty="0" smtClean="0"/>
              <a:t>杯</a:t>
            </a:r>
            <a:r>
              <a:rPr lang="en-US" altLang="zh-CN" sz="1800" dirty="0" smtClean="0"/>
              <a:t>X</a:t>
            </a:r>
            <a:r>
              <a:rPr lang="zh-CN" altLang="en-US" sz="1800" dirty="0" smtClean="0"/>
              <a:t>题</a:t>
            </a:r>
            <a:r>
              <a:rPr lang="en-US" altLang="zh-CN" sz="1800" dirty="0" smtClean="0"/>
              <a:t>《</a:t>
            </a:r>
            <a:r>
              <a:rPr lang="zh-CN" altLang="en-US" sz="1800" dirty="0" smtClean="0"/>
              <a:t>李萨如图形演示装置</a:t>
            </a:r>
            <a:r>
              <a:rPr lang="en-US" altLang="zh-CN" sz="1800" dirty="0" smtClean="0"/>
              <a:t>》</a:t>
            </a:r>
            <a:endParaRPr lang="en-US" altLang="zh-CN" sz="1800" dirty="0"/>
          </a:p>
        </p:txBody>
      </p:sp>
    </p:spTree>
    <p:extLst>
      <p:ext uri="{BB962C8B-B14F-4D97-AF65-F5344CB8AC3E}">
        <p14:creationId xmlns:p14="http://schemas.microsoft.com/office/powerpoint/2010/main" val="381882398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57</a:t>
            </a:fld>
            <a:endParaRPr lang="en-US" altLang="zh-CN">
              <a:solidFill>
                <a:srgbClr val="FFFFFF"/>
              </a:solidFill>
            </a:endParaRPr>
          </a:p>
        </p:txBody>
      </p:sp>
      <p:sp>
        <p:nvSpPr>
          <p:cNvPr id="6" name="文本框 5"/>
          <p:cNvSpPr txBox="1"/>
          <p:nvPr/>
        </p:nvSpPr>
        <p:spPr>
          <a:xfrm>
            <a:off x="449942" y="376134"/>
            <a:ext cx="11190514" cy="2139047"/>
          </a:xfrm>
          <a:prstGeom prst="rect">
            <a:avLst/>
          </a:prstGeom>
          <a:noFill/>
        </p:spPr>
        <p:txBody>
          <a:bodyPr wrap="square" rtlCol="0">
            <a:spAutoFit/>
          </a:bodyPr>
          <a:lstStyle/>
          <a:p>
            <a:pPr algn="ctr">
              <a:lnSpc>
                <a:spcPct val="150000"/>
              </a:lnSpc>
              <a:spcAft>
                <a:spcPts val="1200"/>
              </a:spcAft>
            </a:pPr>
            <a:r>
              <a:rPr lang="en-US" altLang="zh-CN" sz="2400" dirty="0" smtClean="0">
                <a:solidFill>
                  <a:schemeClr val="accent6">
                    <a:lumMod val="75000"/>
                  </a:schemeClr>
                </a:solidFill>
              </a:rPr>
              <a:t>2019</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年</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全国赛复测</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题</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多信号发生器</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1800" dirty="0" smtClean="0">
                <a:solidFill>
                  <a:schemeClr val="accent6">
                    <a:lumMod val="75000"/>
                  </a:schemeClr>
                </a:solidFill>
              </a:rPr>
              <a:t> </a:t>
            </a:r>
            <a:endParaRPr lang="zh-CN" altLang="zh-CN" sz="2800" dirty="0">
              <a:solidFill>
                <a:schemeClr val="accent6">
                  <a:lumMod val="75000"/>
                </a:schemeClr>
              </a:solidFill>
              <a:latin typeface="隶书" panose="02010509060101010101" pitchFamily="49" charset="-122"/>
              <a:ea typeface="隶书" panose="02010509060101010101" pitchFamily="49" charset="-122"/>
            </a:endParaRPr>
          </a:p>
          <a:p>
            <a:pPr>
              <a:lnSpc>
                <a:spcPct val="150000"/>
              </a:lnSpc>
            </a:pPr>
            <a:r>
              <a:rPr lang="zh-CN" altLang="zh-CN" sz="1800" dirty="0" smtClean="0">
                <a:latin typeface="黑体" panose="02010609060101010101" pitchFamily="49" charset="-122"/>
                <a:ea typeface="黑体" panose="02010609060101010101" pitchFamily="49" charset="-122"/>
              </a:rPr>
              <a:t>一</a:t>
            </a:r>
            <a:r>
              <a:rPr lang="zh-CN" altLang="zh-CN" sz="1800" dirty="0">
                <a:latin typeface="黑体" panose="02010609060101010101" pitchFamily="49" charset="-122"/>
                <a:ea typeface="黑体" panose="02010609060101010101" pitchFamily="49" charset="-122"/>
              </a:rPr>
              <a:t>、任务</a:t>
            </a:r>
          </a:p>
          <a:p>
            <a:pPr indent="457200">
              <a:lnSpc>
                <a:spcPct val="150000"/>
              </a:lnSpc>
            </a:pPr>
            <a:r>
              <a:rPr lang="zh-CN" altLang="en-US" sz="1800" dirty="0"/>
              <a:t>使用题目指定综合测评板上的一片</a:t>
            </a:r>
            <a:r>
              <a:rPr lang="en-US" altLang="zh-CN" sz="1800" dirty="0"/>
              <a:t>LM324AD</a:t>
            </a:r>
            <a:r>
              <a:rPr lang="zh-CN" altLang="en-US" sz="1800" dirty="0"/>
              <a:t>（四运放）和一片</a:t>
            </a:r>
            <a:r>
              <a:rPr lang="en-US" altLang="zh-CN" sz="1800" dirty="0"/>
              <a:t>SN74LS00D</a:t>
            </a:r>
            <a:r>
              <a:rPr lang="zh-CN" altLang="en-US" sz="1800" dirty="0"/>
              <a:t>（四与非门）芯片设计制作一个多路信号发生器，如下图所</a:t>
            </a:r>
            <a:r>
              <a:rPr lang="zh-CN" altLang="en-US" sz="1800" dirty="0" smtClean="0"/>
              <a:t>示</a:t>
            </a:r>
            <a:endParaRPr lang="zh-CN" altLang="en-US" sz="1600" dirty="0"/>
          </a:p>
        </p:txBody>
      </p:sp>
      <p:pic>
        <p:nvPicPr>
          <p:cNvPr id="7" name="图片 6"/>
          <p:cNvPicPr>
            <a:picLocks noChangeAspect="1"/>
          </p:cNvPicPr>
          <p:nvPr/>
        </p:nvPicPr>
        <p:blipFill>
          <a:blip r:embed="rId2"/>
          <a:stretch>
            <a:fillRect/>
          </a:stretch>
        </p:blipFill>
        <p:spPr>
          <a:xfrm>
            <a:off x="2538550" y="2628476"/>
            <a:ext cx="7404593" cy="3282205"/>
          </a:xfrm>
          <a:prstGeom prst="rect">
            <a:avLst/>
          </a:prstGeom>
        </p:spPr>
      </p:pic>
    </p:spTree>
    <p:extLst>
      <p:ext uri="{BB962C8B-B14F-4D97-AF65-F5344CB8AC3E}">
        <p14:creationId xmlns:p14="http://schemas.microsoft.com/office/powerpoint/2010/main" val="21185990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58</a:t>
            </a:fld>
            <a:endParaRPr lang="en-US" altLang="zh-CN">
              <a:solidFill>
                <a:srgbClr val="FFFFFF"/>
              </a:solidFill>
            </a:endParaRPr>
          </a:p>
        </p:txBody>
      </p:sp>
      <p:sp>
        <p:nvSpPr>
          <p:cNvPr id="8" name="文本框 7"/>
          <p:cNvSpPr txBox="1"/>
          <p:nvPr/>
        </p:nvSpPr>
        <p:spPr>
          <a:xfrm>
            <a:off x="387706" y="431597"/>
            <a:ext cx="11280038" cy="5443221"/>
          </a:xfrm>
          <a:prstGeom prst="rect">
            <a:avLst/>
          </a:prstGeom>
          <a:noFill/>
        </p:spPr>
        <p:txBody>
          <a:bodyPr wrap="square" rtlCol="0">
            <a:spAutoFit/>
          </a:bodyPr>
          <a:lstStyle/>
          <a:p>
            <a:pPr>
              <a:lnSpc>
                <a:spcPct val="150000"/>
              </a:lnSpc>
            </a:pPr>
            <a:r>
              <a:rPr lang="zh-CN" altLang="en-US" sz="1800" dirty="0" smtClean="0"/>
              <a:t>约束条件</a:t>
            </a:r>
            <a:endParaRPr lang="zh-CN" altLang="en-US" sz="1800" dirty="0"/>
          </a:p>
          <a:p>
            <a:pPr lvl="1">
              <a:lnSpc>
                <a:spcPct val="150000"/>
              </a:lnSpc>
            </a:pPr>
            <a:r>
              <a:rPr lang="en-US" altLang="zh-CN" sz="1800" dirty="0"/>
              <a:t>1</a:t>
            </a:r>
            <a:r>
              <a:rPr lang="zh-CN" altLang="en-US" sz="1800" dirty="0"/>
              <a:t>、一片</a:t>
            </a:r>
            <a:r>
              <a:rPr lang="en-US" altLang="zh-CN" sz="1800" dirty="0"/>
              <a:t>SN74LS00D </a:t>
            </a:r>
            <a:r>
              <a:rPr lang="zh-CN" altLang="en-US" sz="1800" dirty="0"/>
              <a:t>四与非门芯片（综合测评板上自带）；</a:t>
            </a:r>
          </a:p>
          <a:p>
            <a:pPr lvl="1">
              <a:lnSpc>
                <a:spcPct val="150000"/>
              </a:lnSpc>
            </a:pPr>
            <a:r>
              <a:rPr lang="en-US" altLang="zh-CN" sz="1800" dirty="0"/>
              <a:t>2</a:t>
            </a:r>
            <a:r>
              <a:rPr lang="zh-CN" altLang="en-US" sz="1800" dirty="0"/>
              <a:t>、一片</a:t>
            </a:r>
            <a:r>
              <a:rPr lang="en-US" altLang="zh-CN" sz="1800" dirty="0"/>
              <a:t>LM324AD </a:t>
            </a:r>
            <a:r>
              <a:rPr lang="zh-CN" altLang="en-US" sz="1800" dirty="0"/>
              <a:t>四运算放大器芯片（综合测评板上自带）；</a:t>
            </a:r>
          </a:p>
          <a:p>
            <a:pPr lvl="1">
              <a:lnSpc>
                <a:spcPct val="150000"/>
              </a:lnSpc>
            </a:pPr>
            <a:r>
              <a:rPr lang="en-US" altLang="zh-CN" sz="1800" dirty="0"/>
              <a:t>3</a:t>
            </a:r>
            <a:r>
              <a:rPr lang="zh-CN" altLang="en-US" sz="1800" dirty="0"/>
              <a:t>、赛区提供固定电阻、固定电容器、可变电阻元件（数量不限、参数不限）；</a:t>
            </a:r>
          </a:p>
          <a:p>
            <a:pPr lvl="1">
              <a:lnSpc>
                <a:spcPct val="150000"/>
              </a:lnSpc>
            </a:pPr>
            <a:r>
              <a:rPr lang="en-US" altLang="zh-CN" sz="1800" dirty="0"/>
              <a:t>4</a:t>
            </a:r>
            <a:r>
              <a:rPr lang="zh-CN" altLang="en-US" sz="1800" dirty="0"/>
              <a:t>、赛区提供直流电源。</a:t>
            </a:r>
          </a:p>
          <a:p>
            <a:pPr>
              <a:lnSpc>
                <a:spcPct val="150000"/>
              </a:lnSpc>
            </a:pPr>
            <a:r>
              <a:rPr lang="zh-CN" altLang="en-US" sz="1800" dirty="0" smtClean="0"/>
              <a:t>指标</a:t>
            </a:r>
            <a:r>
              <a:rPr lang="zh-CN" altLang="en-US" sz="1800" dirty="0"/>
              <a:t>要求</a:t>
            </a:r>
          </a:p>
          <a:p>
            <a:pPr>
              <a:lnSpc>
                <a:spcPct val="150000"/>
              </a:lnSpc>
            </a:pPr>
            <a:r>
              <a:rPr lang="zh-CN" altLang="en-US" sz="1800" dirty="0"/>
              <a:t>利用综合测评板和若干电阻、电容元件，设计制作多路产生下列四路信号：</a:t>
            </a:r>
          </a:p>
          <a:p>
            <a:pPr lvl="1">
              <a:lnSpc>
                <a:spcPct val="150000"/>
              </a:lnSpc>
            </a:pPr>
            <a:r>
              <a:rPr lang="en-US" altLang="zh-CN" sz="1800" dirty="0"/>
              <a:t>1</a:t>
            </a:r>
            <a:r>
              <a:rPr lang="zh-CN" altLang="en-US" sz="1800" dirty="0"/>
              <a:t>、频率为</a:t>
            </a:r>
            <a:r>
              <a:rPr lang="en-US" altLang="zh-CN" sz="1800" dirty="0"/>
              <a:t>19kHz~21kHz </a:t>
            </a:r>
            <a:r>
              <a:rPr lang="zh-CN" altLang="en-US" sz="1800" dirty="0"/>
              <a:t>连续可调的方波脉冲信号，幅度不小于</a:t>
            </a:r>
            <a:r>
              <a:rPr lang="en-US" altLang="zh-CN" sz="1800" dirty="0"/>
              <a:t>3.2V</a:t>
            </a:r>
            <a:r>
              <a:rPr lang="zh-CN" altLang="en-US" sz="1800" dirty="0"/>
              <a:t>；</a:t>
            </a:r>
          </a:p>
          <a:p>
            <a:pPr lvl="1">
              <a:lnSpc>
                <a:spcPct val="150000"/>
              </a:lnSpc>
            </a:pPr>
            <a:r>
              <a:rPr lang="en-US" altLang="zh-CN" sz="1800" dirty="0"/>
              <a:t>2</a:t>
            </a:r>
            <a:r>
              <a:rPr lang="zh-CN" altLang="en-US" sz="1800" dirty="0"/>
              <a:t>、与方波同频率的正弦波信号，输出电压失真度不大于</a:t>
            </a:r>
            <a:r>
              <a:rPr lang="en-US" altLang="zh-CN" sz="1800" dirty="0"/>
              <a:t>5%</a:t>
            </a:r>
            <a:r>
              <a:rPr lang="zh-CN" altLang="en-US" sz="1800" dirty="0"/>
              <a:t>，峰</a:t>
            </a:r>
            <a:r>
              <a:rPr lang="en-US" altLang="zh-CN" sz="1800" dirty="0"/>
              <a:t>-</a:t>
            </a:r>
            <a:r>
              <a:rPr lang="zh-CN" altLang="en-US" sz="1800" dirty="0"/>
              <a:t>峰值（</a:t>
            </a:r>
            <a:r>
              <a:rPr lang="en-US" altLang="zh-CN" sz="1800" i="1" dirty="0" err="1"/>
              <a:t>Vpp</a:t>
            </a:r>
            <a:r>
              <a:rPr lang="zh-CN" altLang="en-US" sz="1800" dirty="0"/>
              <a:t>）不小于</a:t>
            </a:r>
            <a:r>
              <a:rPr lang="en-US" altLang="zh-CN" sz="1800" dirty="0"/>
              <a:t>1V</a:t>
            </a:r>
            <a:r>
              <a:rPr lang="zh-CN" altLang="en-US" sz="1800" dirty="0"/>
              <a:t>；</a:t>
            </a:r>
          </a:p>
          <a:p>
            <a:pPr lvl="1">
              <a:lnSpc>
                <a:spcPct val="150000"/>
              </a:lnSpc>
            </a:pPr>
            <a:r>
              <a:rPr lang="en-US" altLang="zh-CN" sz="1800" dirty="0"/>
              <a:t>3</a:t>
            </a:r>
            <a:r>
              <a:rPr lang="zh-CN" altLang="en-US" sz="1800" dirty="0"/>
              <a:t>、与方波同频率占空比</a:t>
            </a:r>
            <a:r>
              <a:rPr lang="en-US" altLang="zh-CN" sz="1800" dirty="0"/>
              <a:t>5%~15%</a:t>
            </a:r>
            <a:r>
              <a:rPr lang="zh-CN" altLang="en-US" sz="1800" dirty="0"/>
              <a:t>连续可调的窄脉冲信号，幅度不小于</a:t>
            </a:r>
            <a:r>
              <a:rPr lang="en-US" altLang="zh-CN" sz="1800" dirty="0"/>
              <a:t>3.2V</a:t>
            </a:r>
            <a:r>
              <a:rPr lang="zh-CN" altLang="en-US" sz="1800" dirty="0"/>
              <a:t>；</a:t>
            </a:r>
          </a:p>
          <a:p>
            <a:pPr lvl="1">
              <a:lnSpc>
                <a:spcPct val="150000"/>
              </a:lnSpc>
            </a:pPr>
            <a:r>
              <a:rPr lang="en-US" altLang="zh-CN" sz="1800" dirty="0"/>
              <a:t>4</a:t>
            </a:r>
            <a:r>
              <a:rPr lang="zh-CN" altLang="en-US" sz="1800" dirty="0"/>
              <a:t>、与正弦波正交的余弦波信号，相位误差不大于</a:t>
            </a:r>
            <a:r>
              <a:rPr lang="en-US" altLang="zh-CN" sz="1800" dirty="0"/>
              <a:t>5˚</a:t>
            </a:r>
            <a:r>
              <a:rPr lang="zh-CN" altLang="en-US" sz="1800" dirty="0"/>
              <a:t>，输出电压峰</a:t>
            </a:r>
            <a:r>
              <a:rPr lang="en-US" altLang="zh-CN" sz="1800" dirty="0"/>
              <a:t>-</a:t>
            </a:r>
            <a:r>
              <a:rPr lang="zh-CN" altLang="en-US" sz="1800" dirty="0"/>
              <a:t>峰值（</a:t>
            </a:r>
            <a:r>
              <a:rPr lang="en-US" altLang="zh-CN" sz="1800" i="1" dirty="0" err="1"/>
              <a:t>Vpp</a:t>
            </a:r>
            <a:r>
              <a:rPr lang="zh-CN" altLang="en-US" sz="1800" dirty="0"/>
              <a:t>）不小于</a:t>
            </a:r>
            <a:r>
              <a:rPr lang="en-US" altLang="zh-CN" sz="1800" dirty="0"/>
              <a:t>1V</a:t>
            </a:r>
            <a:r>
              <a:rPr lang="zh-CN" altLang="en-US" sz="1800" dirty="0"/>
              <a:t>。</a:t>
            </a:r>
          </a:p>
          <a:p>
            <a:pPr>
              <a:lnSpc>
                <a:spcPct val="150000"/>
              </a:lnSpc>
            </a:pPr>
            <a:r>
              <a:rPr lang="zh-CN" altLang="en-US" sz="1800" dirty="0"/>
              <a:t>各路信号输出必须引至测评板的标注位置并均需接</a:t>
            </a:r>
            <a:r>
              <a:rPr lang="en-US" altLang="zh-CN" sz="1800" dirty="0"/>
              <a:t>1kΩ </a:t>
            </a:r>
            <a:r>
              <a:rPr lang="zh-CN" altLang="en-US" sz="1800" dirty="0"/>
              <a:t>负载电阻（</a:t>
            </a:r>
            <a:r>
              <a:rPr lang="en-US" altLang="zh-CN" sz="1800" i="1" dirty="0"/>
              <a:t>RL</a:t>
            </a:r>
            <a:r>
              <a:rPr lang="zh-CN" altLang="en-US" sz="1800" dirty="0"/>
              <a:t>），要求在引线贴上所属输出信号的标签，以便测试。</a:t>
            </a:r>
            <a:endParaRPr lang="zh-CN" altLang="en-US" sz="1800" dirty="0"/>
          </a:p>
        </p:txBody>
      </p:sp>
    </p:spTree>
    <p:extLst>
      <p:ext uri="{BB962C8B-B14F-4D97-AF65-F5344CB8AC3E}">
        <p14:creationId xmlns:p14="http://schemas.microsoft.com/office/powerpoint/2010/main" val="42448920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59</a:t>
            </a:fld>
            <a:endParaRPr lang="en-US" altLang="zh-CN">
              <a:solidFill>
                <a:srgbClr val="FFFFFF"/>
              </a:solidFill>
            </a:endParaRPr>
          </a:p>
        </p:txBody>
      </p:sp>
      <p:sp>
        <p:nvSpPr>
          <p:cNvPr id="5" name="矩形 4"/>
          <p:cNvSpPr/>
          <p:nvPr/>
        </p:nvSpPr>
        <p:spPr>
          <a:xfrm>
            <a:off x="348345" y="463574"/>
            <a:ext cx="11255828" cy="4478149"/>
          </a:xfrm>
          <a:prstGeom prst="rect">
            <a:avLst/>
          </a:prstGeom>
        </p:spPr>
        <p:txBody>
          <a:bodyPr wrap="square">
            <a:spAutoFit/>
          </a:bodyPr>
          <a:lstStyle/>
          <a:p>
            <a:pPr algn="ctr">
              <a:lnSpc>
                <a:spcPct val="150000"/>
              </a:lnSpc>
            </a:pPr>
            <a:r>
              <a:rPr lang="zh-CN" altLang="zh-CN" sz="2800" dirty="0">
                <a:solidFill>
                  <a:schemeClr val="accent6">
                    <a:lumMod val="75000"/>
                  </a:schemeClr>
                </a:solidFill>
                <a:latin typeface="隶书" panose="02010509060101010101" pitchFamily="49" charset="-122"/>
                <a:ea typeface="隶书" panose="02010509060101010101" pitchFamily="49" charset="-122"/>
              </a:rPr>
              <a:t>题目</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分析</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与解决方案</a:t>
            </a:r>
          </a:p>
          <a:p>
            <a:pPr marL="285750" indent="-285750">
              <a:lnSpc>
                <a:spcPct val="150000"/>
              </a:lnSpc>
              <a:buFont typeface="Arial" panose="020B0604020202020204" pitchFamily="34" charset="0"/>
              <a:buChar char="•"/>
            </a:pPr>
            <a:r>
              <a:rPr lang="zh-CN" altLang="en-US" sz="1800" dirty="0" smtClean="0"/>
              <a:t>方波</a:t>
            </a:r>
            <a:endParaRPr lang="en-US" altLang="zh-CN" sz="1800" dirty="0" smtClean="0"/>
          </a:p>
          <a:p>
            <a:pPr lvl="1">
              <a:lnSpc>
                <a:spcPct val="150000"/>
              </a:lnSpc>
            </a:pPr>
            <a:r>
              <a:rPr lang="en-US" altLang="zh-CN" sz="1800" dirty="0"/>
              <a:t>1</a:t>
            </a:r>
            <a:r>
              <a:rPr lang="zh-CN" altLang="en-US" sz="1800" dirty="0"/>
              <a:t>、将正弦波或其他非矩形波通过比较器整形为矩形</a:t>
            </a:r>
            <a:r>
              <a:rPr lang="zh-CN" altLang="en-US" sz="1800" dirty="0" smtClean="0"/>
              <a:t>波</a:t>
            </a:r>
            <a:endParaRPr lang="en-US" altLang="zh-CN" sz="1800" dirty="0" smtClean="0"/>
          </a:p>
          <a:p>
            <a:pPr lvl="1">
              <a:lnSpc>
                <a:spcPct val="150000"/>
              </a:lnSpc>
            </a:pPr>
            <a:r>
              <a:rPr lang="en-US" altLang="zh-CN" sz="1800" dirty="0"/>
              <a:t>2</a:t>
            </a:r>
            <a:r>
              <a:rPr lang="zh-CN" altLang="en-US" sz="1800" dirty="0"/>
              <a:t>、由若干个非门与</a:t>
            </a:r>
            <a:r>
              <a:rPr lang="en-US" altLang="zh-CN" sz="1800" dirty="0"/>
              <a:t>RC </a:t>
            </a:r>
            <a:r>
              <a:rPr lang="zh-CN" altLang="en-US" sz="1800" dirty="0"/>
              <a:t>网络构成</a:t>
            </a:r>
            <a:r>
              <a:rPr lang="zh-CN" altLang="en-US" sz="1800" dirty="0" smtClean="0"/>
              <a:t>多谐振荡器</a:t>
            </a:r>
            <a:endParaRPr lang="en-US" altLang="zh-CN" sz="1800" dirty="0"/>
          </a:p>
          <a:p>
            <a:pPr lvl="1">
              <a:lnSpc>
                <a:spcPct val="150000"/>
              </a:lnSpc>
            </a:pPr>
            <a:r>
              <a:rPr lang="en-US" altLang="zh-CN" sz="1800" dirty="0"/>
              <a:t>3</a:t>
            </a:r>
            <a:r>
              <a:rPr lang="zh-CN" altLang="en-US" sz="1800" dirty="0"/>
              <a:t>、由积分器加滞回比较器构成振荡电路</a:t>
            </a:r>
            <a:r>
              <a:rPr lang="zh-CN" altLang="en-US" sz="1800" dirty="0" smtClean="0"/>
              <a:t>，结构</a:t>
            </a:r>
            <a:r>
              <a:rPr lang="zh-CN" altLang="en-US" sz="1800" dirty="0"/>
              <a:t>如下</a:t>
            </a:r>
            <a:r>
              <a:rPr lang="zh-CN" altLang="en-US" sz="1800" dirty="0" smtClean="0"/>
              <a:t>图</a:t>
            </a:r>
            <a:endParaRPr lang="en-US" altLang="zh-CN" sz="1800" dirty="0" smtClean="0"/>
          </a:p>
          <a:p>
            <a:pPr>
              <a:lnSpc>
                <a:spcPct val="150000"/>
              </a:lnSpc>
            </a:pPr>
            <a:endParaRPr lang="en-US" altLang="zh-CN" sz="1800" dirty="0"/>
          </a:p>
          <a:p>
            <a:pPr>
              <a:lnSpc>
                <a:spcPct val="150000"/>
              </a:lnSpc>
            </a:pPr>
            <a:endParaRPr lang="en-US" altLang="zh-CN" sz="1800" dirty="0" smtClean="0"/>
          </a:p>
          <a:p>
            <a:pPr>
              <a:lnSpc>
                <a:spcPct val="150000"/>
              </a:lnSpc>
            </a:pPr>
            <a:endParaRPr lang="en-US" altLang="zh-CN" sz="1800" dirty="0"/>
          </a:p>
          <a:p>
            <a:pPr>
              <a:lnSpc>
                <a:spcPct val="150000"/>
              </a:lnSpc>
            </a:pPr>
            <a:endParaRPr lang="en-US" altLang="zh-CN" sz="1800" dirty="0" smtClean="0"/>
          </a:p>
          <a:p>
            <a:pPr lvl="1">
              <a:lnSpc>
                <a:spcPct val="150000"/>
              </a:lnSpc>
            </a:pPr>
            <a:r>
              <a:rPr lang="zh-CN" altLang="en-US" sz="1800" dirty="0" smtClean="0"/>
              <a:t>由于题目对于器件型号与数量的限制，方案</a:t>
            </a:r>
            <a:r>
              <a:rPr lang="en-US" altLang="zh-CN" sz="1800" dirty="0" smtClean="0"/>
              <a:t>3</a:t>
            </a:r>
            <a:r>
              <a:rPr lang="zh-CN" altLang="en-US" sz="1800" dirty="0" smtClean="0"/>
              <a:t>可能是最优解</a:t>
            </a:r>
            <a:endParaRPr lang="en-US" altLang="zh-CN" sz="1800" dirty="0"/>
          </a:p>
        </p:txBody>
      </p:sp>
      <p:pic>
        <p:nvPicPr>
          <p:cNvPr id="6" name="图片 5"/>
          <p:cNvPicPr>
            <a:picLocks noChangeAspect="1"/>
          </p:cNvPicPr>
          <p:nvPr/>
        </p:nvPicPr>
        <p:blipFill>
          <a:blip r:embed="rId2"/>
          <a:stretch>
            <a:fillRect/>
          </a:stretch>
        </p:blipFill>
        <p:spPr>
          <a:xfrm>
            <a:off x="3609962" y="2994373"/>
            <a:ext cx="4901283" cy="1204553"/>
          </a:xfrm>
          <a:prstGeom prst="rect">
            <a:avLst/>
          </a:prstGeom>
        </p:spPr>
      </p:pic>
    </p:spTree>
    <p:extLst>
      <p:ext uri="{BB962C8B-B14F-4D97-AF65-F5344CB8AC3E}">
        <p14:creationId xmlns:p14="http://schemas.microsoft.com/office/powerpoint/2010/main" val="40877020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60</a:t>
            </a:fld>
            <a:endParaRPr lang="en-US" altLang="zh-CN">
              <a:solidFill>
                <a:srgbClr val="FFFFFF"/>
              </a:solidFill>
            </a:endParaRPr>
          </a:p>
        </p:txBody>
      </p:sp>
      <p:sp>
        <p:nvSpPr>
          <p:cNvPr id="5" name="矩形 4"/>
          <p:cNvSpPr/>
          <p:nvPr/>
        </p:nvSpPr>
        <p:spPr>
          <a:xfrm>
            <a:off x="348345" y="463574"/>
            <a:ext cx="11255828" cy="3000821"/>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t>占空比</a:t>
            </a:r>
            <a:r>
              <a:rPr lang="zh-CN" altLang="en-US" sz="1800" dirty="0"/>
              <a:t>可调的窄</a:t>
            </a:r>
            <a:r>
              <a:rPr lang="zh-CN" altLang="en-US" sz="1800" dirty="0" smtClean="0"/>
              <a:t>脉冲</a:t>
            </a:r>
            <a:endParaRPr lang="zh-CN" altLang="en-US" sz="1800" dirty="0"/>
          </a:p>
          <a:p>
            <a:pPr lvl="1">
              <a:lnSpc>
                <a:spcPct val="150000"/>
              </a:lnSpc>
            </a:pPr>
            <a:r>
              <a:rPr lang="en-US" altLang="zh-CN" sz="1800" dirty="0" smtClean="0"/>
              <a:t>1</a:t>
            </a:r>
            <a:r>
              <a:rPr lang="zh-CN" altLang="en-US" sz="1800" dirty="0"/>
              <a:t>、将方波通过</a:t>
            </a:r>
            <a:r>
              <a:rPr lang="en-US" altLang="zh-CN" sz="1800" dirty="0"/>
              <a:t>RC </a:t>
            </a:r>
            <a:r>
              <a:rPr lang="zh-CN" altLang="en-US" sz="1800" dirty="0"/>
              <a:t>网络延时后与原来的方波进行逻辑“与”，电路如下：</a:t>
            </a:r>
            <a:endParaRPr lang="en-US" altLang="zh-CN" sz="1800" dirty="0" smtClean="0"/>
          </a:p>
          <a:p>
            <a:pPr>
              <a:lnSpc>
                <a:spcPct val="150000"/>
              </a:lnSpc>
            </a:pPr>
            <a:endParaRPr lang="en-US" altLang="zh-CN" sz="1800" dirty="0" smtClean="0"/>
          </a:p>
          <a:p>
            <a:pPr>
              <a:lnSpc>
                <a:spcPct val="150000"/>
              </a:lnSpc>
            </a:pPr>
            <a:endParaRPr lang="en-US" altLang="zh-CN" sz="1800" dirty="0"/>
          </a:p>
          <a:p>
            <a:pPr>
              <a:lnSpc>
                <a:spcPct val="150000"/>
              </a:lnSpc>
            </a:pPr>
            <a:endParaRPr lang="en-US" altLang="zh-CN" sz="1800" dirty="0" smtClean="0"/>
          </a:p>
          <a:p>
            <a:pPr>
              <a:lnSpc>
                <a:spcPct val="150000"/>
              </a:lnSpc>
            </a:pPr>
            <a:endParaRPr lang="en-US" altLang="zh-CN" sz="1800" dirty="0"/>
          </a:p>
          <a:p>
            <a:pPr lvl="1">
              <a:lnSpc>
                <a:spcPct val="150000"/>
              </a:lnSpc>
            </a:pPr>
            <a:r>
              <a:rPr lang="en-US" altLang="zh-CN" sz="1800" dirty="0" smtClean="0"/>
              <a:t>2</a:t>
            </a:r>
            <a:r>
              <a:rPr lang="zh-CN" altLang="en-US" sz="1800" dirty="0" smtClean="0"/>
              <a:t>、</a:t>
            </a:r>
            <a:r>
              <a:rPr lang="zh-CN" altLang="en-US" sz="1800" dirty="0"/>
              <a:t>将三角波通过比较器整形，电路如下，其中运放的正反馈构成滞回</a:t>
            </a:r>
            <a:r>
              <a:rPr lang="zh-CN" altLang="en-US" sz="1800" dirty="0" smtClean="0"/>
              <a:t>比较器</a:t>
            </a:r>
            <a:endParaRPr lang="en-US" altLang="zh-CN" sz="1800" dirty="0"/>
          </a:p>
        </p:txBody>
      </p:sp>
      <p:pic>
        <p:nvPicPr>
          <p:cNvPr id="6" name="图片 5"/>
          <p:cNvPicPr>
            <a:picLocks noChangeAspect="1"/>
          </p:cNvPicPr>
          <p:nvPr/>
        </p:nvPicPr>
        <p:blipFill>
          <a:blip r:embed="rId2"/>
          <a:stretch>
            <a:fillRect/>
          </a:stretch>
        </p:blipFill>
        <p:spPr>
          <a:xfrm>
            <a:off x="1746577" y="1509904"/>
            <a:ext cx="7718057" cy="1273926"/>
          </a:xfrm>
          <a:prstGeom prst="rect">
            <a:avLst/>
          </a:prstGeom>
        </p:spPr>
      </p:pic>
      <p:pic>
        <p:nvPicPr>
          <p:cNvPr id="7" name="图片 6"/>
          <p:cNvPicPr>
            <a:picLocks noChangeAspect="1"/>
          </p:cNvPicPr>
          <p:nvPr/>
        </p:nvPicPr>
        <p:blipFill>
          <a:blip r:embed="rId3"/>
          <a:stretch>
            <a:fillRect/>
          </a:stretch>
        </p:blipFill>
        <p:spPr>
          <a:xfrm>
            <a:off x="2689288" y="3701215"/>
            <a:ext cx="5496421" cy="1761673"/>
          </a:xfrm>
          <a:prstGeom prst="rect">
            <a:avLst/>
          </a:prstGeom>
        </p:spPr>
      </p:pic>
    </p:spTree>
    <p:extLst>
      <p:ext uri="{BB962C8B-B14F-4D97-AF65-F5344CB8AC3E}">
        <p14:creationId xmlns:p14="http://schemas.microsoft.com/office/powerpoint/2010/main" val="33023694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61</a:t>
            </a:fld>
            <a:endParaRPr lang="en-US" altLang="zh-CN">
              <a:solidFill>
                <a:srgbClr val="FFFFFF"/>
              </a:solidFill>
            </a:endParaRPr>
          </a:p>
        </p:txBody>
      </p:sp>
      <p:sp>
        <p:nvSpPr>
          <p:cNvPr id="5" name="文本框 4"/>
          <p:cNvSpPr txBox="1"/>
          <p:nvPr/>
        </p:nvSpPr>
        <p:spPr>
          <a:xfrm>
            <a:off x="358445" y="416966"/>
            <a:ext cx="11397081" cy="46628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正弦波</a:t>
            </a:r>
            <a:endParaRPr lang="en-US" altLang="zh-CN" sz="1800" dirty="0" smtClean="0"/>
          </a:p>
          <a:p>
            <a:pPr lvl="1">
              <a:lnSpc>
                <a:spcPct val="150000"/>
              </a:lnSpc>
            </a:pPr>
            <a:r>
              <a:rPr lang="en-US" altLang="zh-CN" sz="1800" dirty="0"/>
              <a:t>1</a:t>
            </a:r>
            <a:r>
              <a:rPr lang="zh-CN" altLang="en-US" sz="1800" dirty="0"/>
              <a:t>、直接由运放构成正弦振荡电路，例如文氏</a:t>
            </a:r>
            <a:r>
              <a:rPr lang="zh-CN" altLang="en-US" sz="1800" dirty="0" smtClean="0"/>
              <a:t>振荡器</a:t>
            </a:r>
            <a:endParaRPr lang="en-US" altLang="zh-CN" sz="1800" dirty="0" smtClean="0"/>
          </a:p>
          <a:p>
            <a:pPr lvl="2">
              <a:lnSpc>
                <a:spcPct val="150000"/>
              </a:lnSpc>
            </a:pPr>
            <a:r>
              <a:rPr lang="zh-CN" altLang="en-US" sz="1800" dirty="0" smtClean="0"/>
              <a:t>但是由于题目限制使用二极管、三极管等非线性器件，所以难以构成限幅电路，若依靠运放进入非线性进行限幅则容易出现大幅度失真或者停振，所以此方案对于本题不合适</a:t>
            </a:r>
            <a:endParaRPr lang="en-US" altLang="zh-CN" sz="1800" dirty="0" smtClean="0"/>
          </a:p>
          <a:p>
            <a:pPr lvl="1">
              <a:lnSpc>
                <a:spcPct val="150000"/>
              </a:lnSpc>
            </a:pPr>
            <a:r>
              <a:rPr lang="en-US" altLang="zh-CN" sz="1800" dirty="0" smtClean="0"/>
              <a:t>2</a:t>
            </a:r>
            <a:r>
              <a:rPr lang="zh-CN" altLang="en-US" sz="1800" dirty="0"/>
              <a:t>、</a:t>
            </a:r>
            <a:r>
              <a:rPr lang="zh-CN" altLang="en-US" sz="1800" dirty="0" smtClean="0"/>
              <a:t>将三</a:t>
            </a:r>
            <a:r>
              <a:rPr lang="zh-CN" altLang="en-US" sz="1800" dirty="0"/>
              <a:t>角波通过合适的滤波网络得到</a:t>
            </a:r>
            <a:r>
              <a:rPr lang="zh-CN" altLang="en-US" sz="1800" dirty="0" smtClean="0"/>
              <a:t>正弦波</a:t>
            </a:r>
            <a:endParaRPr lang="en-US" altLang="zh-CN" sz="1800" dirty="0" smtClean="0"/>
          </a:p>
          <a:p>
            <a:pPr lvl="2">
              <a:lnSpc>
                <a:spcPct val="150000"/>
              </a:lnSpc>
            </a:pPr>
            <a:r>
              <a:rPr lang="zh-CN" altLang="en-US" sz="1800" dirty="0" smtClean="0"/>
              <a:t>由于三角波的高次谐波衰减很快（</a:t>
            </a:r>
            <a:r>
              <a:rPr lang="en-US" altLang="zh-CN" sz="1800" dirty="0" smtClean="0"/>
              <a:t>3</a:t>
            </a:r>
            <a:r>
              <a:rPr lang="zh-CN" altLang="en-US" sz="1800" dirty="0" smtClean="0"/>
              <a:t>次谐波为</a:t>
            </a:r>
            <a:r>
              <a:rPr lang="en-US" altLang="zh-CN" sz="1800" dirty="0" smtClean="0"/>
              <a:t>1/9</a:t>
            </a:r>
            <a:r>
              <a:rPr lang="zh-CN" altLang="en-US" sz="1800" dirty="0" smtClean="0"/>
              <a:t>，</a:t>
            </a:r>
            <a:r>
              <a:rPr lang="en-US" altLang="zh-CN" sz="1800" dirty="0" smtClean="0"/>
              <a:t>5</a:t>
            </a:r>
            <a:r>
              <a:rPr lang="zh-CN" altLang="en-US" sz="1800" dirty="0" smtClean="0"/>
              <a:t>次谐波为</a:t>
            </a:r>
            <a:r>
              <a:rPr lang="en-US" altLang="zh-CN" sz="1800" dirty="0" smtClean="0"/>
              <a:t>1/25</a:t>
            </a:r>
            <a:r>
              <a:rPr lang="zh-CN" altLang="en-US" sz="1800" dirty="0" smtClean="0"/>
              <a:t>），所以经计算，用一个</a:t>
            </a:r>
            <a:r>
              <a:rPr lang="en-US" altLang="zh-CN" sz="1800" dirty="0" smtClean="0"/>
              <a:t>2</a:t>
            </a:r>
            <a:r>
              <a:rPr lang="zh-CN" altLang="en-US" sz="1800" dirty="0" smtClean="0"/>
              <a:t>阶低通滤波器已经可以满足题目要求</a:t>
            </a:r>
            <a:endParaRPr lang="en-US" altLang="zh-CN" sz="1800" dirty="0" smtClean="0"/>
          </a:p>
          <a:p>
            <a:pPr marL="285750" indent="-285750">
              <a:lnSpc>
                <a:spcPct val="150000"/>
              </a:lnSpc>
              <a:buFont typeface="Arial" panose="020B0604020202020204" pitchFamily="34" charset="0"/>
              <a:buChar char="•"/>
            </a:pPr>
            <a:r>
              <a:rPr lang="zh-CN" altLang="en-US" sz="1800" dirty="0"/>
              <a:t>余弦</a:t>
            </a:r>
            <a:r>
              <a:rPr lang="zh-CN" altLang="en-US" sz="1800" dirty="0" smtClean="0"/>
              <a:t>波</a:t>
            </a:r>
            <a:endParaRPr lang="en-US" altLang="zh-CN" sz="1800" dirty="0" smtClean="0"/>
          </a:p>
          <a:p>
            <a:pPr lvl="1">
              <a:lnSpc>
                <a:spcPct val="150000"/>
              </a:lnSpc>
            </a:pPr>
            <a:r>
              <a:rPr lang="zh-CN" altLang="en-US" sz="1800" dirty="0" smtClean="0"/>
              <a:t>将正弦波通过一个积分电路就得到余弦波</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该余弦波的幅度随频率变化而改变，但能满足本题目要求</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注意避免积分器的积分饱和（需要在积分电容上并联泄流电阻）</a:t>
            </a:r>
            <a:endParaRPr lang="zh-CN" altLang="en-US" sz="1800" dirty="0"/>
          </a:p>
        </p:txBody>
      </p:sp>
    </p:spTree>
    <p:extLst>
      <p:ext uri="{BB962C8B-B14F-4D97-AF65-F5344CB8AC3E}">
        <p14:creationId xmlns:p14="http://schemas.microsoft.com/office/powerpoint/2010/main" val="9083624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62</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541992" y="1095258"/>
            <a:ext cx="11088649" cy="4614584"/>
          </a:xfrm>
          <a:prstGeom prst="rect">
            <a:avLst/>
          </a:prstGeom>
        </p:spPr>
      </p:pic>
      <p:sp>
        <p:nvSpPr>
          <p:cNvPr id="6" name="文本框 5"/>
          <p:cNvSpPr txBox="1"/>
          <p:nvPr/>
        </p:nvSpPr>
        <p:spPr>
          <a:xfrm>
            <a:off x="460489" y="565744"/>
            <a:ext cx="3715696" cy="369332"/>
          </a:xfrm>
          <a:prstGeom prst="rect">
            <a:avLst/>
          </a:prstGeom>
          <a:noFill/>
        </p:spPr>
        <p:txBody>
          <a:bodyPr wrap="square" rtlCol="0">
            <a:spAutoFit/>
          </a:bodyPr>
          <a:lstStyle/>
          <a:p>
            <a:r>
              <a:rPr lang="zh-CN" altLang="en-US" sz="1800" dirty="0" smtClean="0"/>
              <a:t>笔者的方案</a:t>
            </a:r>
            <a:endParaRPr lang="zh-CN" altLang="en-US" sz="1800" dirty="0"/>
          </a:p>
        </p:txBody>
      </p:sp>
    </p:spTree>
    <p:extLst>
      <p:ext uri="{BB962C8B-B14F-4D97-AF65-F5344CB8AC3E}">
        <p14:creationId xmlns:p14="http://schemas.microsoft.com/office/powerpoint/2010/main" val="19429663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63</a:t>
            </a:fld>
            <a:endParaRPr lang="en-US" altLang="zh-CN">
              <a:solidFill>
                <a:srgbClr val="FFFFFF"/>
              </a:solidFill>
            </a:endParaRPr>
          </a:p>
        </p:txBody>
      </p:sp>
      <p:sp>
        <p:nvSpPr>
          <p:cNvPr id="6" name="文本框 5"/>
          <p:cNvSpPr txBox="1"/>
          <p:nvPr/>
        </p:nvSpPr>
        <p:spPr>
          <a:xfrm>
            <a:off x="449942" y="376134"/>
            <a:ext cx="11190514" cy="1769715"/>
          </a:xfrm>
          <a:prstGeom prst="rect">
            <a:avLst/>
          </a:prstGeom>
          <a:noFill/>
        </p:spPr>
        <p:txBody>
          <a:bodyPr wrap="square" rtlCol="0">
            <a:spAutoFit/>
          </a:bodyPr>
          <a:lstStyle/>
          <a:p>
            <a:pPr algn="ctr">
              <a:lnSpc>
                <a:spcPct val="150000"/>
              </a:lnSpc>
              <a:spcAft>
                <a:spcPts val="1200"/>
              </a:spcAft>
            </a:pPr>
            <a:r>
              <a:rPr lang="en-US" altLang="zh-CN" sz="2400" dirty="0" smtClean="0">
                <a:solidFill>
                  <a:schemeClr val="accent6">
                    <a:lumMod val="75000"/>
                  </a:schemeClr>
                </a:solidFill>
              </a:rPr>
              <a:t>2014</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年</a:t>
            </a:r>
            <a:r>
              <a:rPr lang="en-US" altLang="zh-CN" sz="2400" dirty="0" smtClean="0">
                <a:solidFill>
                  <a:schemeClr val="accent6">
                    <a:lumMod val="75000"/>
                  </a:schemeClr>
                </a:solidFill>
              </a:rPr>
              <a:t>TI</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杯</a:t>
            </a:r>
            <a:r>
              <a:rPr lang="en-US" altLang="zh-CN" sz="2400" dirty="0" smtClean="0">
                <a:solidFill>
                  <a:schemeClr val="accent6">
                    <a:lumMod val="75000"/>
                  </a:schemeClr>
                </a:solidFill>
              </a:rPr>
              <a:t>C</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题</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锁定放大器的设计</a:t>
            </a:r>
            <a:r>
              <a:rPr lang="en-US" altLang="zh-CN" sz="2800" dirty="0" smtClean="0">
                <a:solidFill>
                  <a:schemeClr val="accent6">
                    <a:lumMod val="75000"/>
                  </a:schemeClr>
                </a:solidFill>
                <a:latin typeface="隶书" panose="02010509060101010101" pitchFamily="49" charset="-122"/>
                <a:ea typeface="隶书" panose="02010509060101010101" pitchFamily="49" charset="-122"/>
              </a:rPr>
              <a:t>》</a:t>
            </a:r>
            <a:r>
              <a:rPr lang="zh-CN" altLang="en-US" sz="1800" dirty="0" smtClean="0">
                <a:solidFill>
                  <a:schemeClr val="accent6">
                    <a:lumMod val="75000"/>
                  </a:schemeClr>
                </a:solidFill>
              </a:rPr>
              <a:t> </a:t>
            </a:r>
            <a:endParaRPr lang="zh-CN" altLang="zh-CN" sz="2800" dirty="0">
              <a:solidFill>
                <a:schemeClr val="accent6">
                  <a:lumMod val="75000"/>
                </a:schemeClr>
              </a:solidFill>
              <a:latin typeface="隶书" panose="02010509060101010101" pitchFamily="49" charset="-122"/>
              <a:ea typeface="隶书" panose="02010509060101010101" pitchFamily="49" charset="-122"/>
            </a:endParaRPr>
          </a:p>
          <a:p>
            <a:pPr>
              <a:lnSpc>
                <a:spcPct val="150000"/>
              </a:lnSpc>
            </a:pPr>
            <a:r>
              <a:rPr lang="zh-CN" altLang="zh-CN" sz="1800" dirty="0" smtClean="0">
                <a:latin typeface="黑体" panose="02010609060101010101" pitchFamily="49" charset="-122"/>
                <a:ea typeface="黑体" panose="02010609060101010101" pitchFamily="49" charset="-122"/>
              </a:rPr>
              <a:t>一</a:t>
            </a:r>
            <a:r>
              <a:rPr lang="zh-CN" altLang="zh-CN" sz="1800" dirty="0">
                <a:latin typeface="黑体" panose="02010609060101010101" pitchFamily="49" charset="-122"/>
                <a:ea typeface="黑体" panose="02010609060101010101" pitchFamily="49" charset="-122"/>
              </a:rPr>
              <a:t>、任务</a:t>
            </a:r>
          </a:p>
          <a:p>
            <a:pPr lvl="1">
              <a:lnSpc>
                <a:spcPct val="150000"/>
              </a:lnSpc>
            </a:pPr>
            <a:r>
              <a:rPr lang="zh-CN" altLang="en-US" sz="1800" dirty="0"/>
              <a:t>设计制作一个用来检测微弱信号的锁定放大器（</a:t>
            </a:r>
            <a:r>
              <a:rPr lang="en-US" altLang="zh-CN" sz="1800" dirty="0"/>
              <a:t>LIA</a:t>
            </a:r>
            <a:r>
              <a:rPr lang="zh-CN" altLang="en-US" sz="1800" dirty="0"/>
              <a:t>）。锁定放大器基本组成框图见</a:t>
            </a:r>
            <a:r>
              <a:rPr lang="zh-CN" altLang="en-US" sz="1800" dirty="0" smtClean="0"/>
              <a:t>图</a:t>
            </a:r>
            <a:endParaRPr lang="zh-CN" altLang="en-US" sz="1400" dirty="0"/>
          </a:p>
        </p:txBody>
      </p:sp>
      <p:pic>
        <p:nvPicPr>
          <p:cNvPr id="7" name="图片 6"/>
          <p:cNvPicPr>
            <a:picLocks noChangeAspect="1"/>
          </p:cNvPicPr>
          <p:nvPr/>
        </p:nvPicPr>
        <p:blipFill>
          <a:blip r:embed="rId2"/>
          <a:stretch>
            <a:fillRect/>
          </a:stretch>
        </p:blipFill>
        <p:spPr>
          <a:xfrm>
            <a:off x="1678188" y="2145849"/>
            <a:ext cx="8674692" cy="3327394"/>
          </a:xfrm>
          <a:prstGeom prst="rect">
            <a:avLst/>
          </a:prstGeom>
        </p:spPr>
      </p:pic>
    </p:spTree>
    <p:extLst>
      <p:ext uri="{BB962C8B-B14F-4D97-AF65-F5344CB8AC3E}">
        <p14:creationId xmlns:p14="http://schemas.microsoft.com/office/powerpoint/2010/main" val="9565345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64</a:t>
            </a:fld>
            <a:endParaRPr lang="en-US" altLang="zh-CN">
              <a:solidFill>
                <a:srgbClr val="FFFFFF"/>
              </a:solidFill>
            </a:endParaRPr>
          </a:p>
        </p:txBody>
      </p:sp>
      <p:sp>
        <p:nvSpPr>
          <p:cNvPr id="5" name="文本框 4"/>
          <p:cNvSpPr txBox="1"/>
          <p:nvPr/>
        </p:nvSpPr>
        <p:spPr>
          <a:xfrm>
            <a:off x="299923" y="380390"/>
            <a:ext cx="11426343" cy="3416320"/>
          </a:xfrm>
          <a:prstGeom prst="rect">
            <a:avLst/>
          </a:prstGeom>
          <a:noFill/>
        </p:spPr>
        <p:txBody>
          <a:bodyPr wrap="square" rtlCol="0">
            <a:spAutoFit/>
          </a:bodyPr>
          <a:lstStyle/>
          <a:p>
            <a:pPr>
              <a:lnSpc>
                <a:spcPct val="150000"/>
              </a:lnSpc>
            </a:pPr>
            <a:r>
              <a:rPr lang="zh-CN" altLang="en-US" sz="1800" dirty="0"/>
              <a:t>二、要求</a:t>
            </a:r>
          </a:p>
          <a:p>
            <a:pPr lvl="1">
              <a:lnSpc>
                <a:spcPct val="150000"/>
              </a:lnSpc>
            </a:pPr>
            <a:r>
              <a:rPr lang="zh-CN" altLang="en-US" sz="1800" dirty="0"/>
              <a:t>（</a:t>
            </a:r>
            <a:r>
              <a:rPr lang="en-US" altLang="zh-CN" sz="1800" dirty="0"/>
              <a:t>1</a:t>
            </a:r>
            <a:r>
              <a:rPr lang="zh-CN" altLang="en-US" sz="1800" dirty="0"/>
              <a:t>）外接信号源提供频率为</a:t>
            </a:r>
            <a:r>
              <a:rPr lang="en-US" altLang="zh-CN" sz="1800" dirty="0"/>
              <a:t>1kHz</a:t>
            </a:r>
            <a:r>
              <a:rPr lang="zh-CN" altLang="en-US" sz="1800" dirty="0"/>
              <a:t>的正弦波信号，幅度自定，输入至参考信号</a:t>
            </a:r>
            <a:r>
              <a:rPr lang="en-US" altLang="zh-CN" sz="1800" i="1" dirty="0"/>
              <a:t>R(t)</a:t>
            </a:r>
            <a:r>
              <a:rPr lang="zh-CN" altLang="en-US" sz="1800" dirty="0"/>
              <a:t>端。</a:t>
            </a:r>
            <a:r>
              <a:rPr lang="en-US" altLang="zh-CN" sz="1800" i="1" dirty="0"/>
              <a:t>R(t)</a:t>
            </a:r>
            <a:r>
              <a:rPr lang="zh-CN" altLang="en-US" sz="1800" dirty="0"/>
              <a:t>通过自制电阻分压网络降压接至被测信号</a:t>
            </a:r>
            <a:r>
              <a:rPr lang="en-US" altLang="zh-CN" sz="1800" i="1" dirty="0"/>
              <a:t>S(t)</a:t>
            </a:r>
            <a:r>
              <a:rPr lang="zh-CN" altLang="en-US" sz="1800" dirty="0"/>
              <a:t>端，</a:t>
            </a:r>
            <a:r>
              <a:rPr lang="en-US" altLang="zh-CN" sz="1800" i="1" dirty="0"/>
              <a:t>S(t)</a:t>
            </a:r>
            <a:r>
              <a:rPr lang="zh-CN" altLang="en-US" sz="1800" dirty="0"/>
              <a:t>端幅度有效值为</a:t>
            </a:r>
            <a:r>
              <a:rPr lang="en-US" altLang="zh-CN" sz="1800" dirty="0"/>
              <a:t>10μV~177mV</a:t>
            </a:r>
            <a:r>
              <a:rPr lang="zh-CN" altLang="en-US" sz="1800" dirty="0"/>
              <a:t>。</a:t>
            </a:r>
          </a:p>
          <a:p>
            <a:pPr lvl="1">
              <a:lnSpc>
                <a:spcPct val="150000"/>
              </a:lnSpc>
            </a:pPr>
            <a:r>
              <a:rPr lang="zh-CN" altLang="en-US" sz="1800" dirty="0"/>
              <a:t>（</a:t>
            </a:r>
            <a:r>
              <a:rPr lang="en-US" altLang="zh-CN" sz="1800" dirty="0"/>
              <a:t>2</a:t>
            </a:r>
            <a:r>
              <a:rPr lang="zh-CN" altLang="en-US" sz="1800" dirty="0"/>
              <a:t>）参考通道的输出</a:t>
            </a:r>
            <a:r>
              <a:rPr lang="en-US" altLang="zh-CN" sz="1800" i="1" dirty="0"/>
              <a:t>r(t)</a:t>
            </a:r>
            <a:r>
              <a:rPr lang="zh-CN" altLang="en-US" sz="1800" dirty="0"/>
              <a:t>为方波信号，</a:t>
            </a:r>
            <a:r>
              <a:rPr lang="en-US" altLang="zh-CN" sz="1800" i="1" dirty="0"/>
              <a:t>r(t)</a:t>
            </a:r>
            <a:r>
              <a:rPr lang="zh-CN" altLang="en-US" sz="1800" dirty="0"/>
              <a:t>的相位相对参考信号</a:t>
            </a:r>
            <a:r>
              <a:rPr lang="en-US" altLang="zh-CN" sz="1800" i="1" dirty="0"/>
              <a:t>R(t)</a:t>
            </a:r>
            <a:r>
              <a:rPr lang="zh-CN" altLang="en-US" sz="1800" dirty="0"/>
              <a:t>可连续或步进移相</a:t>
            </a:r>
            <a:r>
              <a:rPr lang="en-US" altLang="zh-CN" sz="1800" dirty="0"/>
              <a:t>180</a:t>
            </a:r>
            <a:r>
              <a:rPr lang="zh-CN" altLang="en-US" sz="1800" dirty="0"/>
              <a:t>度，步进间距小于</a:t>
            </a:r>
            <a:r>
              <a:rPr lang="en-US" altLang="zh-CN" sz="1800" dirty="0"/>
              <a:t>10</a:t>
            </a:r>
            <a:r>
              <a:rPr lang="zh-CN" altLang="en-US" sz="1800" dirty="0"/>
              <a:t>度。</a:t>
            </a:r>
          </a:p>
          <a:p>
            <a:pPr lvl="1">
              <a:lnSpc>
                <a:spcPct val="150000"/>
              </a:lnSpc>
            </a:pPr>
            <a:r>
              <a:rPr lang="zh-CN" altLang="en-US" sz="1800" dirty="0"/>
              <a:t>（</a:t>
            </a:r>
            <a:r>
              <a:rPr lang="en-US" altLang="zh-CN" sz="1800" dirty="0"/>
              <a:t>3</a:t>
            </a:r>
            <a:r>
              <a:rPr lang="zh-CN" altLang="en-US" sz="1800" dirty="0"/>
              <a:t>）信号通道的</a:t>
            </a:r>
            <a:r>
              <a:rPr lang="en-US" altLang="zh-CN" sz="1800" dirty="0"/>
              <a:t>3dB</a:t>
            </a:r>
            <a:r>
              <a:rPr lang="zh-CN" altLang="en-US" sz="1800" dirty="0"/>
              <a:t>频带范围为</a:t>
            </a:r>
            <a:r>
              <a:rPr lang="en-US" altLang="zh-CN" sz="1800" dirty="0"/>
              <a:t>900Hz~1100Hz</a:t>
            </a:r>
            <a:r>
              <a:rPr lang="zh-CN" altLang="en-US" sz="1800" dirty="0"/>
              <a:t>。误差小于</a:t>
            </a:r>
            <a:r>
              <a:rPr lang="en-US" altLang="zh-CN" sz="1800" dirty="0"/>
              <a:t>20%</a:t>
            </a:r>
            <a:r>
              <a:rPr lang="zh-CN" altLang="en-US" sz="1800" dirty="0"/>
              <a:t>。</a:t>
            </a:r>
          </a:p>
          <a:p>
            <a:pPr lvl="1">
              <a:lnSpc>
                <a:spcPct val="150000"/>
              </a:lnSpc>
            </a:pPr>
            <a:r>
              <a:rPr lang="zh-CN" altLang="en-US" sz="1800" dirty="0"/>
              <a:t>（</a:t>
            </a:r>
            <a:r>
              <a:rPr lang="en-US" altLang="zh-CN" sz="1800" dirty="0"/>
              <a:t>4</a:t>
            </a:r>
            <a:r>
              <a:rPr lang="zh-CN" altLang="en-US" sz="1800" dirty="0"/>
              <a:t>）在锁定放大器输出端，设计一个能测量并显示被测信号</a:t>
            </a:r>
            <a:r>
              <a:rPr lang="en-US" altLang="zh-CN" sz="1800" i="1" dirty="0"/>
              <a:t>S(t)</a:t>
            </a:r>
            <a:r>
              <a:rPr lang="zh-CN" altLang="en-US" sz="1800" dirty="0"/>
              <a:t>幅度有效值的电路。所测量的显示值与</a:t>
            </a:r>
            <a:r>
              <a:rPr lang="en-US" altLang="zh-CN" sz="1800" i="1" dirty="0"/>
              <a:t>S(t)</a:t>
            </a:r>
            <a:r>
              <a:rPr lang="zh-CN" altLang="en-US" sz="1800" dirty="0"/>
              <a:t>有效值的误差小于</a:t>
            </a:r>
            <a:r>
              <a:rPr lang="en-US" altLang="zh-CN" sz="1800" dirty="0"/>
              <a:t>10%</a:t>
            </a:r>
            <a:r>
              <a:rPr lang="zh-CN" altLang="en-US" sz="1800" dirty="0" smtClean="0"/>
              <a:t>。</a:t>
            </a:r>
            <a:endParaRPr lang="zh-CN" altLang="en-US" sz="1800" dirty="0"/>
          </a:p>
        </p:txBody>
      </p:sp>
    </p:spTree>
    <p:extLst>
      <p:ext uri="{BB962C8B-B14F-4D97-AF65-F5344CB8AC3E}">
        <p14:creationId xmlns:p14="http://schemas.microsoft.com/office/powerpoint/2010/main" val="6793995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65</a:t>
            </a:fld>
            <a:endParaRPr lang="en-US" altLang="zh-CN">
              <a:solidFill>
                <a:srgbClr val="FFFFFF"/>
              </a:solidFill>
            </a:endParaRPr>
          </a:p>
        </p:txBody>
      </p:sp>
      <p:sp>
        <p:nvSpPr>
          <p:cNvPr id="5" name="文本框 4"/>
          <p:cNvSpPr txBox="1"/>
          <p:nvPr/>
        </p:nvSpPr>
        <p:spPr>
          <a:xfrm>
            <a:off x="365760" y="468173"/>
            <a:ext cx="11455825" cy="5493812"/>
          </a:xfrm>
          <a:prstGeom prst="rect">
            <a:avLst/>
          </a:prstGeom>
          <a:noFill/>
        </p:spPr>
        <p:txBody>
          <a:bodyPr wrap="square" rtlCol="0">
            <a:spAutoFit/>
          </a:bodyPr>
          <a:lstStyle/>
          <a:p>
            <a:pPr>
              <a:lnSpc>
                <a:spcPct val="150000"/>
              </a:lnSpc>
            </a:pPr>
            <a:r>
              <a:rPr lang="en-US" altLang="zh-CN" sz="1800" dirty="0" smtClean="0"/>
              <a:t>(5)  </a:t>
            </a:r>
            <a:r>
              <a:rPr lang="zh-CN" altLang="en-US" sz="1800" dirty="0" smtClean="0"/>
              <a:t>在</a:t>
            </a:r>
            <a:r>
              <a:rPr lang="zh-CN" altLang="en-US" sz="1800" dirty="0"/>
              <a:t>锁定放大器信号</a:t>
            </a:r>
            <a:r>
              <a:rPr lang="en-US" altLang="zh-CN" sz="1800" i="1" dirty="0"/>
              <a:t>S(t)</a:t>
            </a:r>
            <a:r>
              <a:rPr lang="zh-CN" altLang="en-US" sz="1800" dirty="0"/>
              <a:t>输入端增加一个运放构成的加法器电路，实现</a:t>
            </a:r>
            <a:r>
              <a:rPr lang="en-US" altLang="zh-CN" sz="1800" i="1" dirty="0"/>
              <a:t>S(t)</a:t>
            </a:r>
            <a:r>
              <a:rPr lang="zh-CN" altLang="en-US" sz="1800" dirty="0"/>
              <a:t>与干扰信号</a:t>
            </a:r>
            <a:r>
              <a:rPr lang="en-US" altLang="zh-CN" sz="1800" i="1" dirty="0"/>
              <a:t>n(t)</a:t>
            </a:r>
            <a:r>
              <a:rPr lang="zh-CN" altLang="en-US" sz="1800" dirty="0"/>
              <a:t>的</a:t>
            </a:r>
            <a:r>
              <a:rPr lang="en-US" altLang="zh-CN" sz="1800" dirty="0"/>
              <a:t>1:1</a:t>
            </a:r>
            <a:r>
              <a:rPr lang="zh-CN" altLang="en-US" sz="1800" dirty="0"/>
              <a:t>叠加，如下图所示。</a:t>
            </a:r>
          </a:p>
          <a:p>
            <a:pPr>
              <a:lnSpc>
                <a:spcPct val="150000"/>
              </a:lnSpc>
            </a:pPr>
            <a:endParaRPr lang="en-US" altLang="zh-CN" sz="1800" dirty="0" smtClean="0"/>
          </a:p>
          <a:p>
            <a:pPr>
              <a:lnSpc>
                <a:spcPct val="150000"/>
              </a:lnSpc>
            </a:pPr>
            <a:endParaRPr lang="en-US" altLang="zh-CN" sz="1800" dirty="0"/>
          </a:p>
          <a:p>
            <a:pPr>
              <a:lnSpc>
                <a:spcPct val="150000"/>
              </a:lnSpc>
            </a:pPr>
            <a:endParaRPr lang="en-US" altLang="zh-CN" sz="1800" dirty="0" smtClean="0"/>
          </a:p>
          <a:p>
            <a:pPr>
              <a:lnSpc>
                <a:spcPct val="150000"/>
              </a:lnSpc>
            </a:pPr>
            <a:endParaRPr lang="en-US" altLang="zh-CN" sz="1800" dirty="0"/>
          </a:p>
          <a:p>
            <a:pPr>
              <a:lnSpc>
                <a:spcPct val="150000"/>
              </a:lnSpc>
            </a:pPr>
            <a:endParaRPr lang="en-US" altLang="zh-CN" sz="1800" dirty="0" smtClean="0"/>
          </a:p>
          <a:p>
            <a:pPr>
              <a:lnSpc>
                <a:spcPct val="150000"/>
              </a:lnSpc>
            </a:pPr>
            <a:endParaRPr lang="en-US" altLang="zh-CN" sz="1800" dirty="0"/>
          </a:p>
          <a:p>
            <a:pPr>
              <a:lnSpc>
                <a:spcPct val="150000"/>
              </a:lnSpc>
            </a:pPr>
            <a:r>
              <a:rPr lang="zh-CN" altLang="en-US" sz="1800" dirty="0" smtClean="0"/>
              <a:t>（</a:t>
            </a:r>
            <a:r>
              <a:rPr lang="en-US" altLang="zh-CN" sz="1800" dirty="0"/>
              <a:t>6</a:t>
            </a:r>
            <a:r>
              <a:rPr lang="zh-CN" altLang="en-US" sz="1800" dirty="0"/>
              <a:t>）用另一信号源产生一个频率为</a:t>
            </a:r>
            <a:r>
              <a:rPr lang="en-US" altLang="zh-CN" sz="1800" dirty="0"/>
              <a:t>1050~2100Hz</a:t>
            </a:r>
            <a:r>
              <a:rPr lang="zh-CN" altLang="en-US" sz="1800" dirty="0"/>
              <a:t>的正弦波信号作为</a:t>
            </a:r>
            <a:r>
              <a:rPr lang="en-US" altLang="zh-CN" sz="1800" i="1" dirty="0"/>
              <a:t>n(t)</a:t>
            </a:r>
            <a:r>
              <a:rPr lang="zh-CN" altLang="en-US" sz="1800" dirty="0"/>
              <a:t>，将其叠加在锁定放大器的输入端，信号幅度等于</a:t>
            </a:r>
            <a:r>
              <a:rPr lang="en-US" altLang="zh-CN" sz="1800" i="1" dirty="0"/>
              <a:t>S(t)</a:t>
            </a:r>
            <a:r>
              <a:rPr lang="zh-CN" altLang="en-US" sz="1800" dirty="0"/>
              <a:t>。</a:t>
            </a:r>
            <a:r>
              <a:rPr lang="en-US" altLang="zh-CN" sz="1800" i="1" dirty="0"/>
              <a:t>n(t)</a:t>
            </a:r>
            <a:r>
              <a:rPr lang="zh-CN" altLang="en-US" sz="1800" dirty="0"/>
              <a:t>亦可由与获得</a:t>
            </a:r>
            <a:r>
              <a:rPr lang="en-US" altLang="zh-CN" sz="1800" i="1" dirty="0"/>
              <a:t>S(t)</a:t>
            </a:r>
            <a:r>
              <a:rPr lang="zh-CN" altLang="en-US" sz="1800" dirty="0"/>
              <a:t>同样结构的电阻分压网络得到。锁定放大器应尽量降低</a:t>
            </a:r>
            <a:r>
              <a:rPr lang="en-US" altLang="zh-CN" sz="1800" i="1" dirty="0"/>
              <a:t>n(t)</a:t>
            </a:r>
            <a:r>
              <a:rPr lang="zh-CN" altLang="en-US" sz="1800" dirty="0"/>
              <a:t>对</a:t>
            </a:r>
            <a:r>
              <a:rPr lang="en-US" altLang="zh-CN" sz="1800" i="1" dirty="0"/>
              <a:t>S(t)</a:t>
            </a:r>
            <a:r>
              <a:rPr lang="zh-CN" altLang="en-US" sz="1800" dirty="0"/>
              <a:t>信号有效值测量的影响，测量误差小于</a:t>
            </a:r>
            <a:r>
              <a:rPr lang="en-US" altLang="zh-CN" sz="1800" dirty="0"/>
              <a:t>10%</a:t>
            </a:r>
            <a:r>
              <a:rPr lang="zh-CN" altLang="en-US" sz="1800" dirty="0"/>
              <a:t>。</a:t>
            </a:r>
          </a:p>
          <a:p>
            <a:pPr>
              <a:lnSpc>
                <a:spcPct val="150000"/>
              </a:lnSpc>
            </a:pPr>
            <a:r>
              <a:rPr lang="zh-CN" altLang="en-US" sz="1800" dirty="0"/>
              <a:t>（</a:t>
            </a:r>
            <a:r>
              <a:rPr lang="en-US" altLang="zh-CN" sz="1800" dirty="0"/>
              <a:t>7</a:t>
            </a:r>
            <a:r>
              <a:rPr lang="zh-CN" altLang="en-US" sz="1800" dirty="0"/>
              <a:t>）增加</a:t>
            </a:r>
            <a:r>
              <a:rPr lang="en-US" altLang="zh-CN" sz="1800" i="1" dirty="0"/>
              <a:t>n(t)</a:t>
            </a:r>
            <a:r>
              <a:rPr lang="zh-CN" altLang="en-US" sz="1800" dirty="0"/>
              <a:t>幅度，使之等于</a:t>
            </a:r>
            <a:r>
              <a:rPr lang="en-US" altLang="zh-CN" sz="1800" dirty="0"/>
              <a:t>10 S(t)</a:t>
            </a:r>
            <a:r>
              <a:rPr lang="zh-CN" altLang="en-US" sz="1800" dirty="0"/>
              <a:t>，锁定放大器对</a:t>
            </a:r>
            <a:r>
              <a:rPr lang="en-US" altLang="zh-CN" sz="1800" i="1" dirty="0"/>
              <a:t>S(t)</a:t>
            </a:r>
            <a:r>
              <a:rPr lang="zh-CN" altLang="en-US" sz="1800" dirty="0"/>
              <a:t>信号有效值的测量误差小于</a:t>
            </a:r>
            <a:r>
              <a:rPr lang="en-US" altLang="zh-CN" sz="1800" dirty="0"/>
              <a:t>10%</a:t>
            </a:r>
            <a:r>
              <a:rPr lang="zh-CN" altLang="en-US" sz="1800" dirty="0"/>
              <a:t>。</a:t>
            </a:r>
          </a:p>
          <a:p>
            <a:pPr>
              <a:lnSpc>
                <a:spcPct val="150000"/>
              </a:lnSpc>
            </a:pPr>
            <a:r>
              <a:rPr lang="zh-CN" altLang="en-US" sz="1800" dirty="0"/>
              <a:t>（</a:t>
            </a:r>
            <a:r>
              <a:rPr lang="en-US" altLang="zh-CN" sz="1800" dirty="0"/>
              <a:t>8</a:t>
            </a:r>
            <a:r>
              <a:rPr lang="zh-CN" altLang="en-US" sz="1800" dirty="0"/>
              <a:t>）其他自主发挥。</a:t>
            </a:r>
            <a:endParaRPr lang="zh-CN" altLang="en-US" sz="1800" dirty="0"/>
          </a:p>
        </p:txBody>
      </p:sp>
      <p:pic>
        <p:nvPicPr>
          <p:cNvPr id="6" name="图片 5"/>
          <p:cNvPicPr>
            <a:picLocks noChangeAspect="1"/>
          </p:cNvPicPr>
          <p:nvPr/>
        </p:nvPicPr>
        <p:blipFill>
          <a:blip r:embed="rId2"/>
          <a:stretch>
            <a:fillRect/>
          </a:stretch>
        </p:blipFill>
        <p:spPr>
          <a:xfrm>
            <a:off x="2210742" y="1213355"/>
            <a:ext cx="7108576" cy="2341832"/>
          </a:xfrm>
          <a:prstGeom prst="rect">
            <a:avLst/>
          </a:prstGeom>
        </p:spPr>
      </p:pic>
    </p:spTree>
    <p:extLst>
      <p:ext uri="{BB962C8B-B14F-4D97-AF65-F5344CB8AC3E}">
        <p14:creationId xmlns:p14="http://schemas.microsoft.com/office/powerpoint/2010/main" val="23222894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66</a:t>
            </a:fld>
            <a:endParaRPr lang="en-US" altLang="zh-CN">
              <a:solidFill>
                <a:srgbClr val="FFFFFF"/>
              </a:solidFill>
            </a:endParaRPr>
          </a:p>
        </p:txBody>
      </p:sp>
      <p:sp>
        <p:nvSpPr>
          <p:cNvPr id="5" name="矩形 4"/>
          <p:cNvSpPr/>
          <p:nvPr/>
        </p:nvSpPr>
        <p:spPr>
          <a:xfrm>
            <a:off x="348345" y="463574"/>
            <a:ext cx="11255828" cy="4062651"/>
          </a:xfrm>
          <a:prstGeom prst="rect">
            <a:avLst/>
          </a:prstGeom>
        </p:spPr>
        <p:txBody>
          <a:bodyPr wrap="square">
            <a:spAutoFit/>
          </a:bodyPr>
          <a:lstStyle/>
          <a:p>
            <a:pPr algn="ctr">
              <a:lnSpc>
                <a:spcPct val="150000"/>
              </a:lnSpc>
            </a:pPr>
            <a:r>
              <a:rPr lang="zh-CN" altLang="zh-CN" sz="2800" dirty="0">
                <a:solidFill>
                  <a:schemeClr val="accent6">
                    <a:lumMod val="75000"/>
                  </a:schemeClr>
                </a:solidFill>
                <a:latin typeface="隶书" panose="02010509060101010101" pitchFamily="49" charset="-122"/>
                <a:ea typeface="隶书" panose="02010509060101010101" pitchFamily="49" charset="-122"/>
              </a:rPr>
              <a:t>题目</a:t>
            </a:r>
            <a:r>
              <a:rPr lang="zh-CN" altLang="zh-CN" sz="2800" dirty="0" smtClean="0">
                <a:solidFill>
                  <a:schemeClr val="accent6">
                    <a:lumMod val="75000"/>
                  </a:schemeClr>
                </a:solidFill>
                <a:latin typeface="隶书" panose="02010509060101010101" pitchFamily="49" charset="-122"/>
                <a:ea typeface="隶书" panose="02010509060101010101" pitchFamily="49" charset="-122"/>
              </a:rPr>
              <a:t>分析</a:t>
            </a:r>
            <a:r>
              <a:rPr lang="zh-CN" altLang="en-US" sz="2800" dirty="0" smtClean="0">
                <a:solidFill>
                  <a:schemeClr val="accent6">
                    <a:lumMod val="75000"/>
                  </a:schemeClr>
                </a:solidFill>
                <a:latin typeface="隶书" panose="02010509060101010101" pitchFamily="49" charset="-122"/>
                <a:ea typeface="隶书" panose="02010509060101010101" pitchFamily="49" charset="-122"/>
              </a:rPr>
              <a:t>与解决方案</a:t>
            </a:r>
          </a:p>
          <a:p>
            <a:pPr marL="285750" indent="-285750">
              <a:lnSpc>
                <a:spcPct val="150000"/>
              </a:lnSpc>
              <a:buFont typeface="Arial" panose="020B0604020202020204" pitchFamily="34" charset="0"/>
              <a:buChar char="•"/>
            </a:pPr>
            <a:r>
              <a:rPr lang="zh-CN" altLang="en-US" sz="1800" dirty="0" smtClean="0"/>
              <a:t>锁定放大器的原理</a:t>
            </a:r>
            <a:endParaRPr lang="en-US" altLang="zh-CN" sz="1800" dirty="0" smtClean="0"/>
          </a:p>
          <a:p>
            <a:pPr lvl="1">
              <a:lnSpc>
                <a:spcPct val="150000"/>
              </a:lnSpc>
            </a:pPr>
            <a:r>
              <a:rPr lang="zh-CN" altLang="en-US" sz="1800" dirty="0" smtClean="0"/>
              <a:t>同步检波</a:t>
            </a:r>
            <a:endParaRPr lang="en-US" altLang="zh-CN" sz="1800" dirty="0" smtClean="0"/>
          </a:p>
          <a:p>
            <a:pPr lvl="1">
              <a:lnSpc>
                <a:spcPct val="150000"/>
              </a:lnSpc>
            </a:pPr>
            <a:r>
              <a:rPr lang="zh-CN" altLang="en-US" sz="1800" dirty="0" smtClean="0"/>
              <a:t>若参考信号与输入信号完全同步（频率相等、相位同步），则两者相乘后的平均值与输入信号的幅度成正比。而不同步的信号（例如噪声）则平均值趋于</a:t>
            </a:r>
            <a:r>
              <a:rPr lang="zh-CN" altLang="en-US" sz="1800" dirty="0" smtClean="0"/>
              <a:t>零。所以锁定放大器是一种检测</a:t>
            </a:r>
            <a:r>
              <a:rPr lang="zh-CN" altLang="en-US" sz="1800" dirty="0"/>
              <a:t>微弱信号</a:t>
            </a:r>
            <a:r>
              <a:rPr lang="zh-CN" altLang="en-US" sz="1800" dirty="0" smtClean="0"/>
              <a:t>的重要手段</a:t>
            </a:r>
            <a:endParaRPr lang="en-US" altLang="zh-CN" sz="1800" dirty="0" smtClean="0"/>
          </a:p>
          <a:p>
            <a:pPr marL="285750" indent="-285750">
              <a:lnSpc>
                <a:spcPct val="150000"/>
              </a:lnSpc>
              <a:buFont typeface="Arial" panose="020B0604020202020204" pitchFamily="34" charset="0"/>
              <a:buChar char="•"/>
            </a:pPr>
            <a:r>
              <a:rPr lang="zh-CN" altLang="en-US" sz="1800" dirty="0"/>
              <a:t>本题</a:t>
            </a:r>
            <a:r>
              <a:rPr lang="zh-CN" altLang="en-US" sz="1800" dirty="0" smtClean="0"/>
              <a:t>中，参考信号</a:t>
            </a:r>
            <a:r>
              <a:rPr lang="en-US" altLang="zh-CN" sz="1800" dirty="0" smtClean="0"/>
              <a:t>R(t)</a:t>
            </a:r>
            <a:r>
              <a:rPr lang="zh-CN" altLang="en-US" sz="1800" dirty="0" smtClean="0"/>
              <a:t>与输入信号来自同一个信号源（</a:t>
            </a:r>
            <a:r>
              <a:rPr lang="en-US" altLang="zh-CN" sz="1800" dirty="0" smtClean="0"/>
              <a:t>R(t)</a:t>
            </a:r>
            <a:r>
              <a:rPr lang="zh-CN" altLang="en-US" sz="1800" dirty="0" smtClean="0"/>
              <a:t>分压得到</a:t>
            </a:r>
            <a:r>
              <a:rPr lang="en-US" altLang="zh-CN" sz="1800" dirty="0" smtClean="0"/>
              <a:t>S(t)</a:t>
            </a:r>
            <a:r>
              <a:rPr lang="zh-CN" altLang="en-US" sz="1800" dirty="0" smtClean="0"/>
              <a:t>，噪声叠加在</a:t>
            </a:r>
            <a:r>
              <a:rPr lang="en-US" altLang="zh-CN" sz="1800" dirty="0" smtClean="0"/>
              <a:t>S(t)</a:t>
            </a:r>
            <a:r>
              <a:rPr lang="zh-CN" altLang="en-US" sz="1800" dirty="0" smtClean="0"/>
              <a:t>上），所以同步检波只要解决相位同步（题目中要求的移相网络）即可</a:t>
            </a:r>
            <a:endParaRPr lang="en-US" altLang="zh-CN" sz="1800" dirty="0" smtClean="0"/>
          </a:p>
          <a:p>
            <a:pPr marL="285750" indent="-285750">
              <a:lnSpc>
                <a:spcPct val="150000"/>
              </a:lnSpc>
              <a:buFont typeface="Arial" panose="020B0604020202020204" pitchFamily="34" charset="0"/>
              <a:buChar char="•"/>
            </a:pPr>
            <a:r>
              <a:rPr lang="zh-CN" altLang="en-US" sz="1800" dirty="0" smtClean="0"/>
              <a:t>若输入的信号已经叠加了噪声，而参考信号又只能从叠加噪声的输入中获得，则通常要在参考通道中加入锁相环，利用锁相环恢复参考同步信号（所以锁定放大器也常常被称为锁相放大器）</a:t>
            </a:r>
            <a:endParaRPr lang="en-US" altLang="zh-CN" sz="1800" dirty="0"/>
          </a:p>
        </p:txBody>
      </p:sp>
    </p:spTree>
    <p:extLst>
      <p:ext uri="{BB962C8B-B14F-4D97-AF65-F5344CB8AC3E}">
        <p14:creationId xmlns:p14="http://schemas.microsoft.com/office/powerpoint/2010/main" val="40126762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67</a:t>
            </a:fld>
            <a:endParaRPr lang="en-US" altLang="zh-CN">
              <a:solidFill>
                <a:srgbClr val="FFFFFF"/>
              </a:solidFill>
            </a:endParaRPr>
          </a:p>
        </p:txBody>
      </p:sp>
      <p:sp>
        <p:nvSpPr>
          <p:cNvPr id="5" name="文本框 4"/>
          <p:cNvSpPr txBox="1"/>
          <p:nvPr/>
        </p:nvSpPr>
        <p:spPr>
          <a:xfrm>
            <a:off x="453542" y="475488"/>
            <a:ext cx="11287354" cy="1754326"/>
          </a:xfrm>
          <a:prstGeom prst="rect">
            <a:avLst/>
          </a:prstGeom>
          <a:noFill/>
        </p:spPr>
        <p:txBody>
          <a:bodyPr wrap="square" rtlCol="0">
            <a:spAutoFit/>
          </a:bodyPr>
          <a:lstStyle/>
          <a:p>
            <a:pPr>
              <a:lnSpc>
                <a:spcPct val="150000"/>
              </a:lnSpc>
            </a:pPr>
            <a:r>
              <a:rPr lang="zh-CN" altLang="en-US" sz="1800" dirty="0" smtClean="0"/>
              <a:t>由于题目已经给出了结构框图，所以设计的主要任务是确定器件与参数</a:t>
            </a:r>
            <a:endParaRPr lang="en-US" altLang="zh-CN" sz="1800" dirty="0" smtClean="0"/>
          </a:p>
          <a:p>
            <a:pPr marL="285750" indent="-285750">
              <a:lnSpc>
                <a:spcPct val="150000"/>
              </a:lnSpc>
              <a:buFont typeface="Arial" panose="020B0604020202020204" pitchFamily="34" charset="0"/>
              <a:buChar char="•"/>
            </a:pPr>
            <a:r>
              <a:rPr lang="zh-CN" altLang="en-US" sz="1800" dirty="0" smtClean="0"/>
              <a:t>核心器件</a:t>
            </a:r>
            <a:r>
              <a:rPr lang="en-US" altLang="zh-CN" sz="1800" dirty="0" smtClean="0"/>
              <a:t>——</a:t>
            </a:r>
            <a:r>
              <a:rPr lang="zh-CN" altLang="en-US" sz="1800" dirty="0" smtClean="0"/>
              <a:t>相敏检波器（</a:t>
            </a:r>
            <a:r>
              <a:rPr lang="en-US" altLang="zh-CN" sz="1800" dirty="0" smtClean="0"/>
              <a:t>PSD</a:t>
            </a:r>
            <a:r>
              <a:rPr lang="zh-CN" altLang="en-US" sz="1800" dirty="0" smtClean="0"/>
              <a:t>）</a:t>
            </a:r>
            <a:endParaRPr lang="en-US" altLang="zh-CN" sz="1800" dirty="0" smtClean="0"/>
          </a:p>
          <a:p>
            <a:pPr lvl="1">
              <a:lnSpc>
                <a:spcPct val="150000"/>
              </a:lnSpc>
            </a:pPr>
            <a:r>
              <a:rPr lang="zh-CN" altLang="en-US" sz="1800" dirty="0" smtClean="0"/>
              <a:t>可以采用乘法器，但是更合适的是</a:t>
            </a:r>
            <a:r>
              <a:rPr lang="en-US" altLang="zh-CN" sz="1800" dirty="0" smtClean="0"/>
              <a:t>AD630</a:t>
            </a:r>
            <a:r>
              <a:rPr lang="zh-CN" altLang="en-US" sz="1800" dirty="0" smtClean="0"/>
              <a:t>（平衡调制解调器）。其结构是两个相同的放大器，一个接成同相放大器，另一个接成反相放大器，在参考信号的驱动下轮流切换工作</a:t>
            </a:r>
            <a:endParaRPr lang="zh-CN" altLang="en-US" sz="1800" dirty="0"/>
          </a:p>
        </p:txBody>
      </p:sp>
      <p:pic>
        <p:nvPicPr>
          <p:cNvPr id="6" name="图片 5"/>
          <p:cNvPicPr>
            <a:picLocks noChangeAspect="1"/>
          </p:cNvPicPr>
          <p:nvPr/>
        </p:nvPicPr>
        <p:blipFill>
          <a:blip r:embed="rId2"/>
          <a:stretch>
            <a:fillRect/>
          </a:stretch>
        </p:blipFill>
        <p:spPr>
          <a:xfrm>
            <a:off x="3038070" y="2382316"/>
            <a:ext cx="5052544" cy="3546497"/>
          </a:xfrm>
          <a:prstGeom prst="rect">
            <a:avLst/>
          </a:prstGeom>
        </p:spPr>
      </p:pic>
    </p:spTree>
    <p:extLst>
      <p:ext uri="{BB962C8B-B14F-4D97-AF65-F5344CB8AC3E}">
        <p14:creationId xmlns:p14="http://schemas.microsoft.com/office/powerpoint/2010/main" val="9151385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2024/6/30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68</a:t>
            </a:fld>
            <a:endParaRPr lang="en-US" altLang="zh-CN">
              <a:solidFill>
                <a:srgbClr val="FFFFFF"/>
              </a:solidFill>
            </a:endParaRPr>
          </a:p>
        </p:txBody>
      </p:sp>
      <p:sp>
        <p:nvSpPr>
          <p:cNvPr id="5" name="文本框 4"/>
          <p:cNvSpPr txBox="1"/>
          <p:nvPr/>
        </p:nvSpPr>
        <p:spPr>
          <a:xfrm>
            <a:off x="395021" y="468173"/>
            <a:ext cx="11426564" cy="46628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交流放大器与带通滤波器</a:t>
            </a:r>
            <a:endParaRPr lang="en-US" altLang="zh-CN" sz="1800" dirty="0" smtClean="0"/>
          </a:p>
          <a:p>
            <a:pPr lvl="1">
              <a:lnSpc>
                <a:spcPct val="150000"/>
              </a:lnSpc>
            </a:pPr>
            <a:r>
              <a:rPr lang="zh-CN" altLang="en-US" sz="1800" dirty="0" smtClean="0"/>
              <a:t>将输入信号放大到合理的幅度，对噪声作前置粗略滤波</a:t>
            </a:r>
            <a:endParaRPr lang="en-US" altLang="zh-CN" sz="1800" dirty="0" smtClean="0"/>
          </a:p>
          <a:p>
            <a:pPr lvl="1">
              <a:lnSpc>
                <a:spcPct val="150000"/>
              </a:lnSpc>
            </a:pPr>
            <a:r>
              <a:rPr lang="zh-CN" altLang="en-US" sz="1800" dirty="0" smtClean="0"/>
              <a:t>注意其增益，不能使后续的</a:t>
            </a:r>
            <a:r>
              <a:rPr lang="en-US" altLang="zh-CN" sz="1800" dirty="0" smtClean="0"/>
              <a:t>PSD</a:t>
            </a:r>
            <a:r>
              <a:rPr lang="zh-CN" altLang="en-US" sz="1800" dirty="0" smtClean="0"/>
              <a:t>进入饱和状态（需考虑噪声的幅度）</a:t>
            </a:r>
            <a:endParaRPr lang="en-US" altLang="zh-CN" sz="1800" dirty="0" smtClean="0"/>
          </a:p>
          <a:p>
            <a:pPr marL="285750" indent="-285750">
              <a:lnSpc>
                <a:spcPct val="150000"/>
              </a:lnSpc>
              <a:buFont typeface="Arial" panose="020B0604020202020204" pitchFamily="34" charset="0"/>
              <a:buChar char="•"/>
            </a:pPr>
            <a:r>
              <a:rPr lang="zh-CN" altLang="en-US" sz="1800" dirty="0" smtClean="0"/>
              <a:t>直流放大器与低通滤波器</a:t>
            </a:r>
            <a:endParaRPr lang="en-US" altLang="zh-CN" sz="1800" dirty="0" smtClean="0"/>
          </a:p>
          <a:p>
            <a:pPr lvl="1">
              <a:lnSpc>
                <a:spcPct val="150000"/>
              </a:lnSpc>
            </a:pPr>
            <a:r>
              <a:rPr lang="zh-CN" altLang="en-US" sz="1800" dirty="0" smtClean="0"/>
              <a:t>将检波后的信号放大到适合</a:t>
            </a:r>
            <a:r>
              <a:rPr lang="en-US" altLang="zh-CN" sz="1800" dirty="0" smtClean="0"/>
              <a:t>ADC</a:t>
            </a:r>
            <a:r>
              <a:rPr lang="zh-CN" altLang="en-US" sz="1800" dirty="0" smtClean="0"/>
              <a:t>的幅度</a:t>
            </a:r>
            <a:endParaRPr lang="en-US" altLang="zh-CN" sz="1800" dirty="0" smtClean="0"/>
          </a:p>
          <a:p>
            <a:pPr lvl="1">
              <a:lnSpc>
                <a:spcPct val="150000"/>
              </a:lnSpc>
            </a:pPr>
            <a:r>
              <a:rPr lang="zh-CN" altLang="en-US" sz="1800" dirty="0" smtClean="0"/>
              <a:t>为了保证响应速度，通常不用高阶滤波器（一般用</a:t>
            </a:r>
            <a:r>
              <a:rPr lang="en-US" altLang="zh-CN" sz="1800" dirty="0" smtClean="0"/>
              <a:t>2</a:t>
            </a:r>
            <a:r>
              <a:rPr lang="zh-CN" altLang="en-US" sz="1800" dirty="0" smtClean="0"/>
              <a:t>阶，或两个</a:t>
            </a:r>
            <a:r>
              <a:rPr lang="en-US" altLang="zh-CN" sz="1800" dirty="0" smtClean="0"/>
              <a:t>1</a:t>
            </a:r>
            <a:r>
              <a:rPr lang="zh-CN" altLang="en-US" sz="1800" dirty="0" smtClean="0"/>
              <a:t>阶串联）</a:t>
            </a:r>
            <a:endParaRPr lang="en-US" altLang="zh-CN" sz="1800" dirty="0" smtClean="0"/>
          </a:p>
          <a:p>
            <a:pPr lvl="1">
              <a:lnSpc>
                <a:spcPct val="150000"/>
              </a:lnSpc>
            </a:pPr>
            <a:r>
              <a:rPr lang="zh-CN" altLang="en-US" sz="1800" dirty="0" smtClean="0"/>
              <a:t>采用具有低漂移的集成运放（例如</a:t>
            </a:r>
            <a:r>
              <a:rPr lang="en-US" altLang="zh-CN" sz="1800" dirty="0" smtClean="0"/>
              <a:t>OP27</a:t>
            </a:r>
            <a:r>
              <a:rPr lang="zh-CN" altLang="en-US" sz="1800" dirty="0" smtClean="0"/>
              <a:t>）</a:t>
            </a:r>
            <a:endParaRPr lang="en-US" altLang="zh-CN" sz="1800" dirty="0" smtClean="0"/>
          </a:p>
          <a:p>
            <a:pPr marL="285750" indent="-285750">
              <a:lnSpc>
                <a:spcPct val="150000"/>
              </a:lnSpc>
              <a:buFont typeface="Arial" panose="020B0604020202020204" pitchFamily="34" charset="0"/>
              <a:buChar char="•"/>
            </a:pPr>
            <a:r>
              <a:rPr lang="zh-CN" altLang="en-US" sz="1800" dirty="0" smtClean="0"/>
              <a:t>参考通道</a:t>
            </a:r>
            <a:endParaRPr lang="en-US" altLang="zh-CN" sz="1800" dirty="0" smtClean="0"/>
          </a:p>
          <a:p>
            <a:pPr lvl="1">
              <a:lnSpc>
                <a:spcPct val="150000"/>
              </a:lnSpc>
            </a:pPr>
            <a:r>
              <a:rPr lang="zh-CN" altLang="en-US" sz="1800" dirty="0" smtClean="0"/>
              <a:t>输出方波，需保证输出方波的对称性。可以采用先通过一个带通滤波，然后过零比较得到方波的形式</a:t>
            </a:r>
            <a:endParaRPr lang="en-US" altLang="zh-CN" sz="1800" dirty="0" smtClean="0"/>
          </a:p>
          <a:p>
            <a:pPr lvl="1">
              <a:lnSpc>
                <a:spcPct val="150000"/>
              </a:lnSpc>
            </a:pPr>
            <a:r>
              <a:rPr lang="zh-CN" altLang="en-US" sz="1800" dirty="0" smtClean="0"/>
              <a:t>相位调节。可以采用全通滤波器构成的移相电路，通常一节电路的移相范围不超过</a:t>
            </a:r>
            <a:r>
              <a:rPr lang="en-US" altLang="zh-CN" sz="1800" dirty="0" smtClean="0"/>
              <a:t>90</a:t>
            </a:r>
            <a:r>
              <a:rPr lang="zh-CN" altLang="en-US" sz="1800" dirty="0" smtClean="0"/>
              <a:t>度，所以需要</a:t>
            </a:r>
            <a:r>
              <a:rPr lang="en-US" altLang="zh-CN" sz="1800" dirty="0" smtClean="0"/>
              <a:t>3</a:t>
            </a:r>
            <a:r>
              <a:rPr lang="zh-CN" altLang="en-US" sz="1800" dirty="0" smtClean="0"/>
              <a:t>节移相电路串联</a:t>
            </a:r>
            <a:endParaRPr lang="zh-CN" altLang="en-US" sz="1800" dirty="0"/>
          </a:p>
        </p:txBody>
      </p:sp>
    </p:spTree>
    <p:extLst>
      <p:ext uri="{BB962C8B-B14F-4D97-AF65-F5344CB8AC3E}">
        <p14:creationId xmlns:p14="http://schemas.microsoft.com/office/powerpoint/2010/main" val="2679030759"/>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12832</TotalTime>
  <Words>9900</Words>
  <Application>Microsoft Office PowerPoint</Application>
  <PresentationFormat>宽屏</PresentationFormat>
  <Paragraphs>720</Paragraphs>
  <Slides>68</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68</vt:i4>
      </vt:variant>
    </vt:vector>
  </HeadingPairs>
  <TitlesOfParts>
    <vt:vector size="78" baseType="lpstr">
      <vt:lpstr>黑体</vt:lpstr>
      <vt:lpstr>华文细黑</vt:lpstr>
      <vt:lpstr>楷体</vt:lpstr>
      <vt:lpstr>楷体_GB2312</vt:lpstr>
      <vt:lpstr>隶书</vt:lpstr>
      <vt:lpstr>宋体</vt:lpstr>
      <vt:lpstr>Arial</vt:lpstr>
      <vt:lpstr>Times New Roman</vt:lpstr>
      <vt:lpstr>Wingdings</vt:lpstr>
      <vt:lpstr>1_Network</vt:lpstr>
      <vt:lpstr>仪器仪表相关赛题的分析与设计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381</cp:revision>
  <dcterms:created xsi:type="dcterms:W3CDTF">1601-01-01T00:00:00Z</dcterms:created>
  <dcterms:modified xsi:type="dcterms:W3CDTF">2024-06-30T08:50:03Z</dcterms:modified>
</cp:coreProperties>
</file>