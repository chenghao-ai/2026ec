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62"/>
  </p:notesMasterIdLst>
  <p:handoutMasterIdLst>
    <p:handoutMasterId r:id="rId63"/>
  </p:handoutMasterIdLst>
  <p:sldIdLst>
    <p:sldId id="398" r:id="rId2"/>
    <p:sldId id="660" r:id="rId3"/>
    <p:sldId id="694" r:id="rId4"/>
    <p:sldId id="679" r:id="rId5"/>
    <p:sldId id="757" r:id="rId6"/>
    <p:sldId id="741" r:id="rId7"/>
    <p:sldId id="742" r:id="rId8"/>
    <p:sldId id="743" r:id="rId9"/>
    <p:sldId id="749" r:id="rId10"/>
    <p:sldId id="751" r:id="rId11"/>
    <p:sldId id="754" r:id="rId12"/>
    <p:sldId id="759" r:id="rId13"/>
    <p:sldId id="760" r:id="rId14"/>
    <p:sldId id="761" r:id="rId15"/>
    <p:sldId id="755" r:id="rId16"/>
    <p:sldId id="766" r:id="rId17"/>
    <p:sldId id="698" r:id="rId18"/>
    <p:sldId id="765" r:id="rId19"/>
    <p:sldId id="699" r:id="rId20"/>
    <p:sldId id="701" r:id="rId21"/>
    <p:sldId id="700" r:id="rId22"/>
    <p:sldId id="703" r:id="rId23"/>
    <p:sldId id="702" r:id="rId24"/>
    <p:sldId id="704" r:id="rId25"/>
    <p:sldId id="705" r:id="rId26"/>
    <p:sldId id="706" r:id="rId27"/>
    <p:sldId id="707" r:id="rId28"/>
    <p:sldId id="734" r:id="rId29"/>
    <p:sldId id="677" r:id="rId30"/>
    <p:sldId id="678" r:id="rId31"/>
    <p:sldId id="712" r:id="rId32"/>
    <p:sldId id="713" r:id="rId33"/>
    <p:sldId id="697" r:id="rId34"/>
    <p:sldId id="717" r:id="rId35"/>
    <p:sldId id="718" r:id="rId36"/>
    <p:sldId id="719" r:id="rId37"/>
    <p:sldId id="714" r:id="rId38"/>
    <p:sldId id="737" r:id="rId39"/>
    <p:sldId id="735" r:id="rId40"/>
    <p:sldId id="715" r:id="rId41"/>
    <p:sldId id="768" r:id="rId42"/>
    <p:sldId id="736" r:id="rId43"/>
    <p:sldId id="732" r:id="rId44"/>
    <p:sldId id="716" r:id="rId45"/>
    <p:sldId id="728" r:id="rId46"/>
    <p:sldId id="729" r:id="rId47"/>
    <p:sldId id="731" r:id="rId48"/>
    <p:sldId id="720" r:id="rId49"/>
    <p:sldId id="726" r:id="rId50"/>
    <p:sldId id="725" r:id="rId51"/>
    <p:sldId id="739" r:id="rId52"/>
    <p:sldId id="693" r:id="rId53"/>
    <p:sldId id="733" r:id="rId54"/>
    <p:sldId id="738" r:id="rId55"/>
    <p:sldId id="762" r:id="rId56"/>
    <p:sldId id="769" r:id="rId57"/>
    <p:sldId id="770" r:id="rId58"/>
    <p:sldId id="771" r:id="rId59"/>
    <p:sldId id="763" r:id="rId60"/>
    <p:sldId id="764" r:id="rId61"/>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EDFFFF"/>
    <a:srgbClr val="CCECFF"/>
    <a:srgbClr val="99FF99"/>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42" autoAdjust="0"/>
    <p:restoredTop sz="93137" autoAdjust="0"/>
  </p:normalViewPr>
  <p:slideViewPr>
    <p:cSldViewPr snapToGrid="0">
      <p:cViewPr varScale="1">
        <p:scale>
          <a:sx n="88" d="100"/>
          <a:sy n="88" d="100"/>
        </p:scale>
        <p:origin x="80" y="20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4" Type="http://schemas.openxmlformats.org/officeDocument/2006/relationships/image" Target="../media/image4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1.wmf"/><Relationship Id="rId4"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a:t>
            </a:fld>
            <a:endParaRPr lang="en-US" altLang="zh-CN"/>
          </a:p>
        </p:txBody>
      </p:sp>
    </p:spTree>
    <p:extLst>
      <p:ext uri="{BB962C8B-B14F-4D97-AF65-F5344CB8AC3E}">
        <p14:creationId xmlns:p14="http://schemas.microsoft.com/office/powerpoint/2010/main" val="641098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7</a:t>
            </a:fld>
            <a:endParaRPr lang="en-US" altLang="zh-CN"/>
          </a:p>
        </p:txBody>
      </p:sp>
    </p:spTree>
    <p:extLst>
      <p:ext uri="{BB962C8B-B14F-4D97-AF65-F5344CB8AC3E}">
        <p14:creationId xmlns:p14="http://schemas.microsoft.com/office/powerpoint/2010/main" val="496283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14</a:t>
            </a:fld>
            <a:endParaRPr lang="en-US" altLang="zh-CN"/>
          </a:p>
        </p:txBody>
      </p:sp>
    </p:spTree>
    <p:extLst>
      <p:ext uri="{BB962C8B-B14F-4D97-AF65-F5344CB8AC3E}">
        <p14:creationId xmlns:p14="http://schemas.microsoft.com/office/powerpoint/2010/main" val="1275192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17</a:t>
            </a:fld>
            <a:endParaRPr lang="en-US" altLang="zh-CN"/>
          </a:p>
        </p:txBody>
      </p:sp>
    </p:spTree>
    <p:extLst>
      <p:ext uri="{BB962C8B-B14F-4D97-AF65-F5344CB8AC3E}">
        <p14:creationId xmlns:p14="http://schemas.microsoft.com/office/powerpoint/2010/main" val="1311382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18</a:t>
            </a:fld>
            <a:endParaRPr lang="en-US" altLang="zh-CN"/>
          </a:p>
        </p:txBody>
      </p:sp>
    </p:spTree>
    <p:extLst>
      <p:ext uri="{BB962C8B-B14F-4D97-AF65-F5344CB8AC3E}">
        <p14:creationId xmlns:p14="http://schemas.microsoft.com/office/powerpoint/2010/main" val="1781981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20</a:t>
            </a:fld>
            <a:endParaRPr lang="en-US" altLang="zh-CN"/>
          </a:p>
        </p:txBody>
      </p:sp>
    </p:spTree>
    <p:extLst>
      <p:ext uri="{BB962C8B-B14F-4D97-AF65-F5344CB8AC3E}">
        <p14:creationId xmlns:p14="http://schemas.microsoft.com/office/powerpoint/2010/main" val="3879963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22</a:t>
            </a:fld>
            <a:endParaRPr lang="en-US" altLang="zh-CN"/>
          </a:p>
        </p:txBody>
      </p:sp>
    </p:spTree>
    <p:extLst>
      <p:ext uri="{BB962C8B-B14F-4D97-AF65-F5344CB8AC3E}">
        <p14:creationId xmlns:p14="http://schemas.microsoft.com/office/powerpoint/2010/main" val="3414730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27</a:t>
            </a:fld>
            <a:endParaRPr lang="en-US" altLang="zh-CN"/>
          </a:p>
        </p:txBody>
      </p:sp>
    </p:spTree>
    <p:extLst>
      <p:ext uri="{BB962C8B-B14F-4D97-AF65-F5344CB8AC3E}">
        <p14:creationId xmlns:p14="http://schemas.microsoft.com/office/powerpoint/2010/main" val="4069218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28</a:t>
            </a:fld>
            <a:endParaRPr lang="en-US" altLang="zh-CN"/>
          </a:p>
        </p:txBody>
      </p:sp>
    </p:spTree>
    <p:extLst>
      <p:ext uri="{BB962C8B-B14F-4D97-AF65-F5344CB8AC3E}">
        <p14:creationId xmlns:p14="http://schemas.microsoft.com/office/powerpoint/2010/main" val="2486016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34</a:t>
            </a:fld>
            <a:endParaRPr lang="en-US" altLang="zh-CN"/>
          </a:p>
        </p:txBody>
      </p:sp>
    </p:spTree>
    <p:extLst>
      <p:ext uri="{BB962C8B-B14F-4D97-AF65-F5344CB8AC3E}">
        <p14:creationId xmlns:p14="http://schemas.microsoft.com/office/powerpoint/2010/main" val="3315487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35</a:t>
            </a:fld>
            <a:endParaRPr lang="en-US" altLang="zh-CN"/>
          </a:p>
        </p:txBody>
      </p:sp>
    </p:spTree>
    <p:extLst>
      <p:ext uri="{BB962C8B-B14F-4D97-AF65-F5344CB8AC3E}">
        <p14:creationId xmlns:p14="http://schemas.microsoft.com/office/powerpoint/2010/main" val="3523798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36</a:t>
            </a:fld>
            <a:endParaRPr lang="en-US" altLang="zh-CN"/>
          </a:p>
        </p:txBody>
      </p:sp>
    </p:spTree>
    <p:extLst>
      <p:ext uri="{BB962C8B-B14F-4D97-AF65-F5344CB8AC3E}">
        <p14:creationId xmlns:p14="http://schemas.microsoft.com/office/powerpoint/2010/main" val="2742358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37</a:t>
            </a:fld>
            <a:endParaRPr lang="en-US" altLang="zh-CN"/>
          </a:p>
        </p:txBody>
      </p:sp>
    </p:spTree>
    <p:extLst>
      <p:ext uri="{BB962C8B-B14F-4D97-AF65-F5344CB8AC3E}">
        <p14:creationId xmlns:p14="http://schemas.microsoft.com/office/powerpoint/2010/main" val="2000119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39</a:t>
            </a:fld>
            <a:endParaRPr lang="en-US" altLang="zh-CN"/>
          </a:p>
        </p:txBody>
      </p:sp>
    </p:spTree>
    <p:extLst>
      <p:ext uri="{BB962C8B-B14F-4D97-AF65-F5344CB8AC3E}">
        <p14:creationId xmlns:p14="http://schemas.microsoft.com/office/powerpoint/2010/main" val="2165069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53</a:t>
            </a:fld>
            <a:endParaRPr lang="en-US" altLang="zh-CN"/>
          </a:p>
        </p:txBody>
      </p:sp>
    </p:spTree>
    <p:extLst>
      <p:ext uri="{BB962C8B-B14F-4D97-AF65-F5344CB8AC3E}">
        <p14:creationId xmlns:p14="http://schemas.microsoft.com/office/powerpoint/2010/main" val="21109688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55</a:t>
            </a:fld>
            <a:endParaRPr lang="en-US" altLang="zh-CN"/>
          </a:p>
        </p:txBody>
      </p:sp>
    </p:spTree>
    <p:extLst>
      <p:ext uri="{BB962C8B-B14F-4D97-AF65-F5344CB8AC3E}">
        <p14:creationId xmlns:p14="http://schemas.microsoft.com/office/powerpoint/2010/main" val="1303553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59</a:t>
            </a:fld>
            <a:endParaRPr lang="en-US" altLang="zh-CN"/>
          </a:p>
        </p:txBody>
      </p:sp>
    </p:spTree>
    <p:extLst>
      <p:ext uri="{BB962C8B-B14F-4D97-AF65-F5344CB8AC3E}">
        <p14:creationId xmlns:p14="http://schemas.microsoft.com/office/powerpoint/2010/main" val="22008899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2024/3/30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2024/3/30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2024/3/30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2024/3/30</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2024/3/30</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2024/3/30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2024/3/30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2024/3/30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2024/3/30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2024/3/30</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jp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24.emf"/></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0.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31.wmf"/><Relationship Id="rId4" Type="http://schemas.openxmlformats.org/officeDocument/2006/relationships/oleObject" Target="../embeddings/oleObject3.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11.xml"/><Relationship Id="rId7" Type="http://schemas.openxmlformats.org/officeDocument/2006/relationships/image" Target="../media/image3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34.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7.emf"/><Relationship Id="rId5" Type="http://schemas.openxmlformats.org/officeDocument/2006/relationships/image" Target="../media/image36.wmf"/><Relationship Id="rId4"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9.jpeg"/></Relationships>
</file>

<file path=ppt/slides/_rels/slide38.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2.wmf"/><Relationship Id="rId5" Type="http://schemas.openxmlformats.org/officeDocument/2006/relationships/oleObject" Target="../embeddings/oleObject10.bin"/><Relationship Id="rId4" Type="http://schemas.openxmlformats.org/officeDocument/2006/relationships/image" Target="../media/image41.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oleObject" Target="../embeddings/oleObject12.bin"/><Relationship Id="rId7" Type="http://schemas.openxmlformats.org/officeDocument/2006/relationships/image" Target="../media/image48.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45.wmf"/><Relationship Id="rId11" Type="http://schemas.openxmlformats.org/officeDocument/2006/relationships/image" Target="../media/image47.wmf"/><Relationship Id="rId5" Type="http://schemas.openxmlformats.org/officeDocument/2006/relationships/oleObject" Target="../embeddings/oleObject13.bin"/><Relationship Id="rId10" Type="http://schemas.openxmlformats.org/officeDocument/2006/relationships/oleObject" Target="../embeddings/oleObject15.bin"/><Relationship Id="rId4" Type="http://schemas.openxmlformats.org/officeDocument/2006/relationships/image" Target="../media/image44.wmf"/><Relationship Id="rId9" Type="http://schemas.openxmlformats.org/officeDocument/2006/relationships/image" Target="../media/image46.wmf"/></Relationships>
</file>

<file path=ppt/slides/_rels/slide42.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image" Target="../media/image52.e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51.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7.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50.wmf"/><Relationship Id="rId4" Type="http://schemas.openxmlformats.org/officeDocument/2006/relationships/image" Target="../media/image46.wmf"/><Relationship Id="rId9" Type="http://schemas.openxmlformats.org/officeDocument/2006/relationships/oleObject" Target="../embeddings/oleObject17.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4.wmf"/><Relationship Id="rId5" Type="http://schemas.openxmlformats.org/officeDocument/2006/relationships/oleObject" Target="../embeddings/oleObject20.bin"/><Relationship Id="rId4" Type="http://schemas.openxmlformats.org/officeDocument/2006/relationships/image" Target="../media/image53.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6.wmf"/><Relationship Id="rId5" Type="http://schemas.openxmlformats.org/officeDocument/2006/relationships/oleObject" Target="../embeddings/oleObject22.bin"/><Relationship Id="rId4" Type="http://schemas.openxmlformats.org/officeDocument/2006/relationships/image" Target="../media/image55.emf"/></Relationships>
</file>

<file path=ppt/slides/_rels/slide4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2.wmf"/><Relationship Id="rId5" Type="http://schemas.openxmlformats.org/officeDocument/2006/relationships/oleObject" Target="../embeddings/oleObject23.bin"/><Relationship Id="rId4" Type="http://schemas.openxmlformats.org/officeDocument/2006/relationships/image" Target="../media/image64.emf"/></Relationships>
</file>

<file path=ppt/slides/_rels/slide53.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8.emf"/><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69.emf"/><Relationship Id="rId5" Type="http://schemas.openxmlformats.org/officeDocument/2006/relationships/image" Target="../media/image66.wmf"/><Relationship Id="rId4" Type="http://schemas.openxmlformats.org/officeDocument/2006/relationships/oleObject" Target="../embeddings/oleObject24.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70.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71.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72.emf"/></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7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91029" y="1712685"/>
            <a:ext cx="10399485" cy="2046515"/>
          </a:xfrm>
        </p:spPr>
        <p:txBody>
          <a:bodyPr/>
          <a:lstStyle/>
          <a:p>
            <a:pPr>
              <a:lnSpc>
                <a:spcPct val="150000"/>
              </a:lnSpc>
              <a:spcBef>
                <a:spcPts val="1200"/>
              </a:spcBef>
            </a:pPr>
            <a:r>
              <a:rPr lang="zh-CN" altLang="en-US" sz="4400" dirty="0">
                <a:solidFill>
                  <a:srgbClr val="FF0000"/>
                </a:solidFill>
                <a:latin typeface="隶书" panose="02010509060101010101" pitchFamily="49" charset="-122"/>
                <a:ea typeface="隶书" panose="02010509060101010101" pitchFamily="49" charset="-122"/>
              </a:rPr>
              <a:t>高</a:t>
            </a:r>
            <a:r>
              <a:rPr lang="zh-CN" altLang="en-US" sz="4400" dirty="0" smtClean="0">
                <a:solidFill>
                  <a:srgbClr val="FF0000"/>
                </a:solidFill>
                <a:latin typeface="隶书" panose="02010509060101010101" pitchFamily="49" charset="-122"/>
                <a:ea typeface="隶书" panose="02010509060101010101" pitchFamily="49" charset="-122"/>
              </a:rPr>
              <a:t>频放大器与</a:t>
            </a:r>
            <a:r>
              <a:rPr lang="en-US" altLang="zh-CN" sz="3600" dirty="0" smtClean="0">
                <a:solidFill>
                  <a:srgbClr val="FF0000"/>
                </a:solidFill>
                <a:ea typeface="隶书" panose="02010509060101010101" pitchFamily="49" charset="-122"/>
              </a:rPr>
              <a:t>LC</a:t>
            </a:r>
            <a:r>
              <a:rPr lang="zh-CN" altLang="en-US" sz="4400" dirty="0" smtClean="0">
                <a:solidFill>
                  <a:srgbClr val="FF0000"/>
                </a:solidFill>
                <a:latin typeface="隶书" panose="02010509060101010101" pitchFamily="49" charset="-122"/>
                <a:ea typeface="隶书" panose="02010509060101010101" pitchFamily="49" charset="-122"/>
              </a:rPr>
              <a:t>滤波器</a:t>
            </a:r>
            <a:r>
              <a:rPr lang="en-US" altLang="zh-CN" sz="4400" dirty="0" smtClean="0">
                <a:solidFill>
                  <a:srgbClr val="FF0000"/>
                </a:solidFill>
                <a:latin typeface="隶书" panose="02010509060101010101" pitchFamily="49" charset="-122"/>
                <a:ea typeface="隶书" panose="02010509060101010101" pitchFamily="49" charset="-122"/>
              </a:rPr>
              <a:t/>
            </a:r>
            <a:br>
              <a:rPr lang="en-US" altLang="zh-CN" sz="4400" dirty="0" smtClean="0">
                <a:solidFill>
                  <a:srgbClr val="FF0000"/>
                </a:solidFill>
                <a:latin typeface="隶书" panose="02010509060101010101" pitchFamily="49" charset="-122"/>
                <a:ea typeface="隶书" panose="02010509060101010101" pitchFamily="49" charset="-122"/>
              </a:rPr>
            </a:br>
            <a:r>
              <a:rPr lang="en-US" altLang="zh-CN" sz="4400" dirty="0" smtClean="0">
                <a:solidFill>
                  <a:srgbClr val="FF0000"/>
                </a:solidFill>
                <a:ea typeface="隶书" panose="02010509060101010101" pitchFamily="49" charset="-122"/>
              </a:rPr>
              <a:t>—— </a:t>
            </a:r>
            <a:r>
              <a:rPr lang="zh-CN" altLang="en-US" sz="4400" dirty="0" smtClean="0">
                <a:solidFill>
                  <a:srgbClr val="FF0000"/>
                </a:solidFill>
                <a:ea typeface="隶书" panose="02010509060101010101" pitchFamily="49" charset="-122"/>
              </a:rPr>
              <a:t>两个高频电路竞赛</a:t>
            </a:r>
            <a:r>
              <a:rPr lang="zh-CN" altLang="en-US" sz="4400" dirty="0" smtClean="0">
                <a:solidFill>
                  <a:srgbClr val="FF0000"/>
                </a:solidFill>
                <a:latin typeface="隶书" panose="02010509060101010101" pitchFamily="49" charset="-122"/>
                <a:ea typeface="隶书" panose="02010509060101010101" pitchFamily="49" charset="-122"/>
              </a:rPr>
              <a:t>题的分析</a:t>
            </a:r>
            <a:r>
              <a:rPr lang="zh-CN" altLang="en-US" sz="4400" dirty="0">
                <a:solidFill>
                  <a:srgbClr val="FF0000"/>
                </a:solidFill>
                <a:latin typeface="隶书" panose="02010509060101010101" pitchFamily="49" charset="-122"/>
                <a:ea typeface="隶书" panose="02010509060101010101" pitchFamily="49" charset="-122"/>
              </a:rPr>
              <a:t>与</a:t>
            </a:r>
            <a:r>
              <a:rPr lang="zh-CN" altLang="en-US" sz="4400" dirty="0" smtClean="0">
                <a:solidFill>
                  <a:srgbClr val="FF0000"/>
                </a:solidFill>
                <a:latin typeface="隶书" panose="02010509060101010101" pitchFamily="49" charset="-122"/>
                <a:ea typeface="隶书" panose="02010509060101010101" pitchFamily="49" charset="-122"/>
              </a:rPr>
              <a:t>设计</a:t>
            </a:r>
            <a:endParaRPr lang="zh-CN" altLang="en-US" sz="2400" dirty="0">
              <a:solidFill>
                <a:schemeClr val="tx1"/>
              </a:solidFill>
              <a:latin typeface="楷体" panose="02010609060101010101" pitchFamily="49" charset="-122"/>
              <a:ea typeface="楷体" panose="02010609060101010101" pitchFamily="49" charset="-122"/>
            </a:endParaRPr>
          </a:p>
        </p:txBody>
      </p:sp>
      <p:sp>
        <p:nvSpPr>
          <p:cNvPr id="3" name="Rectangle 2"/>
          <p:cNvSpPr txBox="1">
            <a:spLocks noChangeArrowheads="1"/>
          </p:cNvSpPr>
          <p:nvPr/>
        </p:nvSpPr>
        <p:spPr bwMode="auto">
          <a:xfrm>
            <a:off x="1693864" y="3759201"/>
            <a:ext cx="8596312" cy="136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ctr">
              <a:spcBef>
                <a:spcPct val="0"/>
              </a:spcBef>
              <a:spcAft>
                <a:spcPct val="0"/>
              </a:spcAft>
              <a:defRPr sz="6000">
                <a:solidFill>
                  <a:srgbClr val="FFFF66"/>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a:lstStyle>
          <a:p>
            <a:pPr>
              <a:lnSpc>
                <a:spcPct val="150000"/>
              </a:lnSpc>
              <a:spcBef>
                <a:spcPts val="1200"/>
              </a:spcBef>
            </a:pPr>
            <a:r>
              <a:rPr lang="zh-CN" altLang="en-US" sz="2400" kern="0" dirty="0" smtClean="0">
                <a:solidFill>
                  <a:schemeClr val="tx1"/>
                </a:solidFill>
                <a:latin typeface="楷体" panose="02010609060101010101" pitchFamily="49" charset="-122"/>
                <a:ea typeface="楷体" panose="02010609060101010101" pitchFamily="49" charset="-122"/>
              </a:rPr>
              <a:t>复旦大学电子工程系  陈光梦</a:t>
            </a:r>
            <a:endParaRPr lang="zh-CN" altLang="en-US" sz="2400" kern="0" dirty="0">
              <a:solidFill>
                <a:schemeClr val="tx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99143" y="362307"/>
            <a:ext cx="11321142" cy="5863144"/>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题目一  </a:t>
            </a:r>
            <a:r>
              <a:rPr lang="en-US" altLang="zh-CN" sz="2800" dirty="0" smtClean="0">
                <a:solidFill>
                  <a:srgbClr val="FF0000"/>
                </a:solidFill>
                <a:latin typeface="+mj-lt"/>
                <a:ea typeface="隶书" panose="02010509060101010101" pitchFamily="49" charset="-122"/>
              </a:rPr>
              <a:t>2015</a:t>
            </a:r>
            <a:r>
              <a:rPr lang="zh-CN" altLang="zh-CN" sz="3200" dirty="0">
                <a:solidFill>
                  <a:srgbClr val="FF0000"/>
                </a:solidFill>
                <a:latin typeface="隶书" panose="02010509060101010101" pitchFamily="49" charset="-122"/>
                <a:ea typeface="隶书" panose="02010509060101010101" pitchFamily="49" charset="-122"/>
              </a:rPr>
              <a:t>年全国赛</a:t>
            </a:r>
            <a:r>
              <a:rPr lang="en-US" altLang="zh-CN" sz="2800" dirty="0">
                <a:solidFill>
                  <a:srgbClr val="FF0000"/>
                </a:solidFill>
                <a:latin typeface="+mj-lt"/>
                <a:ea typeface="隶书" panose="02010509060101010101" pitchFamily="49" charset="-122"/>
              </a:rPr>
              <a:t>D</a:t>
            </a:r>
            <a:r>
              <a:rPr lang="zh-CN" altLang="zh-CN" sz="3200" dirty="0">
                <a:solidFill>
                  <a:srgbClr val="FF0000"/>
                </a:solidFill>
                <a:latin typeface="隶书" panose="02010509060101010101" pitchFamily="49" charset="-122"/>
                <a:ea typeface="隶书" panose="02010509060101010101" pitchFamily="49" charset="-122"/>
              </a:rPr>
              <a:t>题</a:t>
            </a:r>
            <a:r>
              <a:rPr lang="en-US" altLang="zh-CN" sz="3200" dirty="0">
                <a:solidFill>
                  <a:srgbClr val="FF0000"/>
                </a:solidFill>
                <a:latin typeface="隶书" panose="02010509060101010101" pitchFamily="49" charset="-122"/>
                <a:ea typeface="隶书" panose="02010509060101010101" pitchFamily="49" charset="-122"/>
              </a:rPr>
              <a:t>《</a:t>
            </a:r>
            <a:r>
              <a:rPr lang="zh-CN" altLang="en-US" sz="3200" dirty="0">
                <a:solidFill>
                  <a:srgbClr val="FF0000"/>
                </a:solidFill>
                <a:latin typeface="隶书" panose="02010509060101010101" pitchFamily="49" charset="-122"/>
                <a:ea typeface="隶书" panose="02010509060101010101" pitchFamily="49" charset="-122"/>
              </a:rPr>
              <a:t>增益可控射频放大器</a:t>
            </a:r>
            <a:r>
              <a:rPr lang="en-US" altLang="zh-CN" sz="3200" dirty="0">
                <a:solidFill>
                  <a:srgbClr val="FF0000"/>
                </a:solidFill>
                <a:latin typeface="隶书" panose="02010509060101010101" pitchFamily="49" charset="-122"/>
                <a:ea typeface="隶书" panose="02010509060101010101" pitchFamily="49" charset="-122"/>
              </a:rPr>
              <a:t>》</a:t>
            </a:r>
          </a:p>
          <a:p>
            <a:pPr algn="just">
              <a:lnSpc>
                <a:spcPct val="150000"/>
              </a:lnSpc>
              <a:spcAft>
                <a:spcPts val="0"/>
              </a:spcAft>
            </a:pPr>
            <a:r>
              <a:rPr lang="zh-CN" altLang="zh-CN" kern="100" dirty="0" smtClean="0">
                <a:latin typeface="Times New Roman" panose="02020603050405020304" pitchFamily="18" charset="0"/>
                <a:ea typeface="黑体" panose="02010609060101010101" pitchFamily="49" charset="-122"/>
              </a:rPr>
              <a:t>一、任务</a:t>
            </a:r>
            <a:endParaRPr lang="zh-CN" altLang="zh-CN" kern="100" dirty="0">
              <a:latin typeface="Times New Roman" panose="02020603050405020304" pitchFamily="18" charset="0"/>
              <a:ea typeface="黑体" panose="02010609060101010101" pitchFamily="49" charset="-122"/>
            </a:endParaRPr>
          </a:p>
          <a:p>
            <a:pPr lvl="1">
              <a:lnSpc>
                <a:spcPct val="150000"/>
              </a:lnSpc>
            </a:pPr>
            <a:r>
              <a:rPr lang="zh-CN" altLang="zh-CN" dirty="0" smtClean="0"/>
              <a:t>设计</a:t>
            </a:r>
            <a:r>
              <a:rPr lang="zh-CN" altLang="zh-CN" dirty="0"/>
              <a:t>并制作一个增益可控射频放大器。 </a:t>
            </a: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二、要求 </a:t>
            </a:r>
          </a:p>
          <a:p>
            <a:pPr>
              <a:lnSpc>
                <a:spcPct val="150000"/>
              </a:lnSpc>
            </a:pPr>
            <a:r>
              <a:rPr lang="en-US" altLang="zh-CN" dirty="0" smtClean="0"/>
              <a:t>1</a:t>
            </a:r>
            <a:r>
              <a:rPr lang="zh-CN" altLang="zh-CN" dirty="0"/>
              <a:t>．基本要求 </a:t>
            </a:r>
          </a:p>
          <a:p>
            <a:pPr lvl="1">
              <a:lnSpc>
                <a:spcPct val="150000"/>
              </a:lnSpc>
            </a:pPr>
            <a:r>
              <a:rPr lang="zh-CN" altLang="zh-CN" dirty="0"/>
              <a:t>（</a:t>
            </a:r>
            <a:r>
              <a:rPr lang="en-US" altLang="zh-CN" dirty="0"/>
              <a:t>1</a:t>
            </a:r>
            <a:r>
              <a:rPr lang="zh-CN" altLang="zh-CN" dirty="0"/>
              <a:t>）放大器的电压增益</a:t>
            </a:r>
            <a:r>
              <a:rPr lang="en-US" altLang="zh-CN" i="1" dirty="0"/>
              <a:t>A</a:t>
            </a:r>
            <a:r>
              <a:rPr lang="en-US" altLang="zh-CN" i="1" baseline="-25000" dirty="0"/>
              <a:t>V</a:t>
            </a:r>
            <a:r>
              <a:rPr lang="zh-CN" altLang="zh-CN" dirty="0"/>
              <a:t>≥</a:t>
            </a:r>
            <a:r>
              <a:rPr lang="en-US" altLang="zh-CN" dirty="0"/>
              <a:t>40dB</a:t>
            </a:r>
            <a:r>
              <a:rPr lang="zh-CN" altLang="zh-CN" dirty="0"/>
              <a:t>，输入电压有效值</a:t>
            </a:r>
            <a:r>
              <a:rPr lang="en-US" altLang="zh-CN" i="1" dirty="0"/>
              <a:t>V</a:t>
            </a:r>
            <a:r>
              <a:rPr lang="en-US" altLang="zh-CN" i="1" baseline="-25000" dirty="0"/>
              <a:t>i</a:t>
            </a:r>
            <a:r>
              <a:rPr lang="zh-CN" altLang="zh-CN" dirty="0"/>
              <a:t>≤</a:t>
            </a:r>
            <a:r>
              <a:rPr lang="en-US" altLang="zh-CN" dirty="0"/>
              <a:t>20mV</a:t>
            </a:r>
            <a:r>
              <a:rPr lang="zh-CN" altLang="zh-CN" dirty="0"/>
              <a:t>，其输入阻抗、 输出阻抗均为</a:t>
            </a:r>
            <a:r>
              <a:rPr lang="en-US" altLang="zh-CN" dirty="0"/>
              <a:t>50Ω</a:t>
            </a:r>
            <a:r>
              <a:rPr lang="zh-CN" altLang="zh-CN" dirty="0"/>
              <a:t>，负载电阻</a:t>
            </a:r>
            <a:r>
              <a:rPr lang="en-US" altLang="zh-CN" dirty="0"/>
              <a:t>50Ω</a:t>
            </a:r>
            <a:r>
              <a:rPr lang="zh-CN" altLang="zh-CN" dirty="0"/>
              <a:t>，且输出电压有效值 </a:t>
            </a:r>
            <a:r>
              <a:rPr lang="en-US" altLang="zh-CN" i="1" dirty="0"/>
              <a:t>V</a:t>
            </a:r>
            <a:r>
              <a:rPr lang="en-US" altLang="zh-CN" i="1" baseline="-25000" dirty="0"/>
              <a:t>o</a:t>
            </a:r>
            <a:r>
              <a:rPr lang="zh-CN" altLang="zh-CN" dirty="0"/>
              <a:t>≥</a:t>
            </a:r>
            <a:r>
              <a:rPr lang="en-US" altLang="zh-CN" dirty="0"/>
              <a:t>2V</a:t>
            </a:r>
            <a:r>
              <a:rPr lang="zh-CN" altLang="zh-CN" dirty="0"/>
              <a:t>，波形无明显失真； </a:t>
            </a:r>
          </a:p>
          <a:p>
            <a:pPr lvl="1">
              <a:lnSpc>
                <a:spcPct val="150000"/>
              </a:lnSpc>
            </a:pPr>
            <a:r>
              <a:rPr lang="zh-CN" altLang="zh-CN" dirty="0"/>
              <a:t>（</a:t>
            </a:r>
            <a:r>
              <a:rPr lang="en-US" altLang="zh-CN" dirty="0"/>
              <a:t>2</a:t>
            </a:r>
            <a:r>
              <a:rPr lang="zh-CN" altLang="zh-CN" dirty="0"/>
              <a:t>）在</a:t>
            </a:r>
            <a:r>
              <a:rPr lang="en-US" altLang="zh-CN" dirty="0"/>
              <a:t>75MHz</a:t>
            </a:r>
            <a:r>
              <a:rPr lang="zh-CN" altLang="zh-CN" dirty="0"/>
              <a:t>～</a:t>
            </a:r>
            <a:r>
              <a:rPr lang="en-US" altLang="zh-CN" dirty="0"/>
              <a:t>108MHz</a:t>
            </a:r>
            <a:r>
              <a:rPr lang="zh-CN" altLang="zh-CN" dirty="0"/>
              <a:t>频率范围内增益波动不大于</a:t>
            </a:r>
            <a:r>
              <a:rPr lang="en-US" altLang="zh-CN" dirty="0"/>
              <a:t>2dB</a:t>
            </a:r>
            <a:r>
              <a:rPr lang="zh-CN" altLang="zh-CN" dirty="0"/>
              <a:t>；</a:t>
            </a:r>
            <a:r>
              <a:rPr lang="en-US" altLang="zh-CN" dirty="0"/>
              <a:t>  </a:t>
            </a:r>
            <a:endParaRPr lang="zh-CN" altLang="zh-CN" dirty="0"/>
          </a:p>
          <a:p>
            <a:pPr lvl="1">
              <a:lnSpc>
                <a:spcPct val="150000"/>
              </a:lnSpc>
            </a:pPr>
            <a:r>
              <a:rPr lang="zh-CN" altLang="zh-CN" dirty="0"/>
              <a:t>（</a:t>
            </a:r>
            <a:r>
              <a:rPr lang="en-US" altLang="zh-CN" dirty="0"/>
              <a:t>3</a:t>
            </a:r>
            <a:r>
              <a:rPr lang="zh-CN" altLang="zh-CN" dirty="0"/>
              <a:t>）－</a:t>
            </a:r>
            <a:r>
              <a:rPr lang="en-US" altLang="zh-CN" dirty="0"/>
              <a:t>3dB</a:t>
            </a:r>
            <a:r>
              <a:rPr lang="zh-CN" altLang="zh-CN" dirty="0"/>
              <a:t>的通频带不窄于</a:t>
            </a:r>
            <a:r>
              <a:rPr lang="en-US" altLang="zh-CN" dirty="0"/>
              <a:t>60MHz</a:t>
            </a:r>
            <a:r>
              <a:rPr lang="zh-CN" altLang="zh-CN" dirty="0"/>
              <a:t>～</a:t>
            </a:r>
            <a:r>
              <a:rPr lang="en-US" altLang="zh-CN" dirty="0"/>
              <a:t>130MHz</a:t>
            </a:r>
            <a:r>
              <a:rPr lang="zh-CN" altLang="zh-CN" dirty="0"/>
              <a:t>，即</a:t>
            </a:r>
            <a:r>
              <a:rPr lang="en-US" altLang="zh-CN" i="1" dirty="0" err="1"/>
              <a:t>f</a:t>
            </a:r>
            <a:r>
              <a:rPr lang="en-US" altLang="zh-CN" i="1" baseline="-25000" dirty="0" err="1"/>
              <a:t>L</a:t>
            </a:r>
            <a:r>
              <a:rPr lang="zh-CN" altLang="zh-CN" dirty="0"/>
              <a:t>≤</a:t>
            </a:r>
            <a:r>
              <a:rPr lang="en-US" altLang="zh-CN" dirty="0"/>
              <a:t>60MHz</a:t>
            </a:r>
            <a:r>
              <a:rPr lang="zh-CN" altLang="zh-CN" dirty="0"/>
              <a:t>、</a:t>
            </a:r>
            <a:r>
              <a:rPr lang="en-US" altLang="zh-CN" i="1" dirty="0" err="1"/>
              <a:t>f</a:t>
            </a:r>
            <a:r>
              <a:rPr lang="en-US" altLang="zh-CN" i="1" baseline="-25000" dirty="0" err="1"/>
              <a:t>H</a:t>
            </a:r>
            <a:r>
              <a:rPr lang="zh-CN" altLang="zh-CN" dirty="0"/>
              <a:t>≥</a:t>
            </a:r>
            <a:r>
              <a:rPr lang="en-US" altLang="zh-CN" dirty="0"/>
              <a:t>130MHz</a:t>
            </a:r>
            <a:r>
              <a:rPr lang="zh-CN" altLang="zh-CN" dirty="0"/>
              <a:t>；</a:t>
            </a:r>
          </a:p>
          <a:p>
            <a:pPr lvl="1">
              <a:lnSpc>
                <a:spcPct val="150000"/>
              </a:lnSpc>
            </a:pPr>
            <a:r>
              <a:rPr lang="zh-CN" altLang="zh-CN" dirty="0"/>
              <a:t>（</a:t>
            </a:r>
            <a:r>
              <a:rPr lang="en-US" altLang="zh-CN" dirty="0"/>
              <a:t>4</a:t>
            </a:r>
            <a:r>
              <a:rPr lang="zh-CN" altLang="zh-CN" dirty="0"/>
              <a:t>）实现</a:t>
            </a:r>
            <a:r>
              <a:rPr lang="en-US" altLang="zh-CN" i="1" dirty="0"/>
              <a:t>A</a:t>
            </a:r>
            <a:r>
              <a:rPr lang="en-US" altLang="zh-CN" i="1" baseline="-25000" dirty="0"/>
              <a:t>V</a:t>
            </a:r>
            <a:r>
              <a:rPr lang="zh-CN" altLang="zh-CN" dirty="0"/>
              <a:t>增益步进控制，增益控制范围为</a:t>
            </a:r>
            <a:r>
              <a:rPr lang="en-US" altLang="zh-CN" dirty="0"/>
              <a:t> 12dB</a:t>
            </a:r>
            <a:r>
              <a:rPr lang="zh-CN" altLang="zh-CN" dirty="0"/>
              <a:t>～</a:t>
            </a:r>
            <a:r>
              <a:rPr lang="en-US" altLang="zh-CN" dirty="0"/>
              <a:t>40dB</a:t>
            </a:r>
            <a:r>
              <a:rPr lang="zh-CN" altLang="zh-CN" dirty="0"/>
              <a:t>，增益控制步长为</a:t>
            </a:r>
            <a:r>
              <a:rPr lang="en-US" altLang="zh-CN" dirty="0"/>
              <a:t> 4dB</a:t>
            </a:r>
            <a:r>
              <a:rPr lang="zh-CN" altLang="zh-CN" dirty="0"/>
              <a:t>，增益绝对误差不大于</a:t>
            </a:r>
            <a:r>
              <a:rPr lang="en-US" altLang="zh-CN" dirty="0"/>
              <a:t>2dB</a:t>
            </a:r>
            <a:r>
              <a:rPr lang="zh-CN" altLang="zh-CN" dirty="0"/>
              <a:t>，并能显示设定的增益值。 </a:t>
            </a:r>
          </a:p>
          <a:p>
            <a:pPr indent="432000">
              <a:lnSpc>
                <a:spcPct val="150000"/>
              </a:lnSpc>
            </a:pPr>
            <a:endParaRPr lang="zh-CN" altLang="zh-CN" sz="1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a:t>
            </a:fld>
            <a:endParaRPr lang="en-US" altLang="zh-CN">
              <a:solidFill>
                <a:srgbClr val="FFFFFF"/>
              </a:solidFill>
            </a:endParaRPr>
          </a:p>
        </p:txBody>
      </p:sp>
      <p:sp>
        <p:nvSpPr>
          <p:cNvPr id="5" name="矩形 4"/>
          <p:cNvSpPr/>
          <p:nvPr/>
        </p:nvSpPr>
        <p:spPr>
          <a:xfrm>
            <a:off x="529771" y="566325"/>
            <a:ext cx="11103429" cy="5170646"/>
          </a:xfrm>
          <a:prstGeom prst="rect">
            <a:avLst/>
          </a:prstGeom>
        </p:spPr>
        <p:txBody>
          <a:bodyPr wrap="square">
            <a:spAutoFit/>
          </a:bodyPr>
          <a:lstStyle/>
          <a:p>
            <a:pPr>
              <a:lnSpc>
                <a:spcPct val="150000"/>
              </a:lnSpc>
            </a:pPr>
            <a:r>
              <a:rPr lang="en-US" altLang="zh-CN" dirty="0"/>
              <a:t>2</a:t>
            </a:r>
            <a:r>
              <a:rPr lang="zh-CN" altLang="zh-CN" dirty="0"/>
              <a:t>．发挥部分 </a:t>
            </a:r>
          </a:p>
          <a:p>
            <a:pPr lvl="1">
              <a:lnSpc>
                <a:spcPct val="150000"/>
              </a:lnSpc>
            </a:pPr>
            <a:r>
              <a:rPr lang="zh-CN" altLang="zh-CN" dirty="0"/>
              <a:t>（</a:t>
            </a:r>
            <a:r>
              <a:rPr lang="en-US" altLang="zh-CN" dirty="0"/>
              <a:t>1</a:t>
            </a:r>
            <a:r>
              <a:rPr lang="zh-CN" altLang="zh-CN" dirty="0"/>
              <a:t>）放大器</a:t>
            </a:r>
            <a:r>
              <a:rPr lang="zh-CN" altLang="zh-CN" dirty="0" smtClean="0"/>
              <a:t>的增益≥</a:t>
            </a:r>
            <a:r>
              <a:rPr lang="en-US" altLang="zh-CN" dirty="0"/>
              <a:t>52dB</a:t>
            </a:r>
            <a:r>
              <a:rPr lang="zh-CN" altLang="zh-CN" dirty="0"/>
              <a:t>，增益控制扩展至</a:t>
            </a:r>
            <a:r>
              <a:rPr lang="en-US" altLang="zh-CN" dirty="0"/>
              <a:t>52dB</a:t>
            </a:r>
            <a:r>
              <a:rPr lang="zh-CN" altLang="zh-CN" dirty="0"/>
              <a:t>，增益控制步长不变，输入电压有效值 </a:t>
            </a:r>
            <a:r>
              <a:rPr lang="en-US" altLang="zh-CN" i="1" dirty="0"/>
              <a:t>V</a:t>
            </a:r>
            <a:r>
              <a:rPr lang="en-US" altLang="zh-CN" i="1" baseline="-25000" dirty="0"/>
              <a:t>i</a:t>
            </a:r>
            <a:r>
              <a:rPr lang="zh-CN" altLang="zh-CN" dirty="0"/>
              <a:t>≤</a:t>
            </a:r>
            <a:r>
              <a:rPr lang="en-US" altLang="zh-CN" dirty="0"/>
              <a:t>5mV</a:t>
            </a:r>
            <a:r>
              <a:rPr lang="zh-CN" altLang="zh-CN" dirty="0"/>
              <a:t>，其输入阻抗、输出阻抗均为</a:t>
            </a:r>
            <a:r>
              <a:rPr lang="en-US" altLang="zh-CN" dirty="0"/>
              <a:t>50Ω</a:t>
            </a:r>
            <a:r>
              <a:rPr lang="zh-CN" altLang="zh-CN" dirty="0"/>
              <a:t>，负载电阻</a:t>
            </a:r>
            <a:r>
              <a:rPr lang="en-US" altLang="zh-CN" dirty="0"/>
              <a:t>50Ω</a:t>
            </a:r>
            <a:r>
              <a:rPr lang="zh-CN" altLang="zh-CN" dirty="0"/>
              <a:t>，且输出电压有效值</a:t>
            </a:r>
            <a:r>
              <a:rPr lang="en-US" altLang="zh-CN" i="1" dirty="0"/>
              <a:t>V</a:t>
            </a:r>
            <a:r>
              <a:rPr lang="en-US" altLang="zh-CN" i="1" baseline="-25000" dirty="0"/>
              <a:t>o</a:t>
            </a:r>
            <a:r>
              <a:rPr lang="zh-CN" altLang="zh-CN" dirty="0"/>
              <a:t>≥</a:t>
            </a:r>
            <a:r>
              <a:rPr lang="en-US" altLang="zh-CN" dirty="0"/>
              <a:t>2V</a:t>
            </a:r>
            <a:r>
              <a:rPr lang="zh-CN" altLang="zh-CN" dirty="0"/>
              <a:t>，波形无明显失真； </a:t>
            </a:r>
          </a:p>
          <a:p>
            <a:pPr lvl="1">
              <a:lnSpc>
                <a:spcPct val="150000"/>
              </a:lnSpc>
            </a:pPr>
            <a:r>
              <a:rPr lang="zh-CN" altLang="zh-CN" dirty="0"/>
              <a:t>（</a:t>
            </a:r>
            <a:r>
              <a:rPr lang="en-US" altLang="zh-CN" dirty="0"/>
              <a:t>2</a:t>
            </a:r>
            <a:r>
              <a:rPr lang="zh-CN" altLang="zh-CN" dirty="0"/>
              <a:t>）在</a:t>
            </a:r>
            <a:r>
              <a:rPr lang="en-US" altLang="zh-CN" dirty="0"/>
              <a:t>50MHz</a:t>
            </a:r>
            <a:r>
              <a:rPr lang="zh-CN" altLang="zh-CN" dirty="0"/>
              <a:t>～</a:t>
            </a:r>
            <a:r>
              <a:rPr lang="en-US" altLang="zh-CN" dirty="0"/>
              <a:t>160MHz </a:t>
            </a:r>
            <a:r>
              <a:rPr lang="zh-CN" altLang="zh-CN" dirty="0"/>
              <a:t>频率范围内增益波动不大于</a:t>
            </a:r>
            <a:r>
              <a:rPr lang="en-US" altLang="zh-CN" dirty="0"/>
              <a:t>2dB</a:t>
            </a:r>
            <a:r>
              <a:rPr lang="zh-CN" altLang="zh-CN" dirty="0"/>
              <a:t>；</a:t>
            </a:r>
            <a:r>
              <a:rPr lang="en-US" altLang="zh-CN" dirty="0"/>
              <a:t>  </a:t>
            </a:r>
            <a:endParaRPr lang="zh-CN" altLang="zh-CN" dirty="0"/>
          </a:p>
          <a:p>
            <a:pPr lvl="1">
              <a:lnSpc>
                <a:spcPct val="150000"/>
              </a:lnSpc>
            </a:pPr>
            <a:r>
              <a:rPr lang="zh-CN" altLang="zh-CN" dirty="0"/>
              <a:t>（</a:t>
            </a:r>
            <a:r>
              <a:rPr lang="en-US" altLang="zh-CN" dirty="0"/>
              <a:t>3</a:t>
            </a:r>
            <a:r>
              <a:rPr lang="zh-CN" altLang="zh-CN" dirty="0"/>
              <a:t>）－</a:t>
            </a:r>
            <a:r>
              <a:rPr lang="en-US" altLang="zh-CN" dirty="0"/>
              <a:t>3dB</a:t>
            </a:r>
            <a:r>
              <a:rPr lang="zh-CN" altLang="zh-CN" dirty="0"/>
              <a:t>的通频带不窄于</a:t>
            </a:r>
            <a:r>
              <a:rPr lang="en-US" altLang="zh-CN" dirty="0"/>
              <a:t>40MHz</a:t>
            </a:r>
            <a:r>
              <a:rPr lang="zh-CN" altLang="zh-CN" dirty="0"/>
              <a:t>～</a:t>
            </a:r>
            <a:r>
              <a:rPr lang="en-US" altLang="zh-CN" dirty="0"/>
              <a:t>200MHz</a:t>
            </a:r>
            <a:r>
              <a:rPr lang="zh-CN" altLang="zh-CN" dirty="0"/>
              <a:t>，即</a:t>
            </a:r>
            <a:r>
              <a:rPr lang="en-US" altLang="zh-CN" i="1" dirty="0" err="1"/>
              <a:t>f</a:t>
            </a:r>
            <a:r>
              <a:rPr lang="en-US" altLang="zh-CN" i="1" baseline="-25000" dirty="0" err="1"/>
              <a:t>L</a:t>
            </a:r>
            <a:r>
              <a:rPr lang="zh-CN" altLang="zh-CN" dirty="0"/>
              <a:t>≤</a:t>
            </a:r>
            <a:r>
              <a:rPr lang="en-US" altLang="zh-CN" dirty="0"/>
              <a:t>40MHz </a:t>
            </a:r>
            <a:r>
              <a:rPr lang="zh-CN" altLang="zh-CN" dirty="0"/>
              <a:t>和 </a:t>
            </a:r>
            <a:r>
              <a:rPr lang="en-US" altLang="zh-CN" i="1" dirty="0" err="1"/>
              <a:t>f</a:t>
            </a:r>
            <a:r>
              <a:rPr lang="en-US" altLang="zh-CN" i="1" baseline="-25000" dirty="0" err="1"/>
              <a:t>H</a:t>
            </a:r>
            <a:r>
              <a:rPr lang="zh-CN" altLang="zh-CN" dirty="0"/>
              <a:t>≥</a:t>
            </a:r>
            <a:r>
              <a:rPr lang="en-US" altLang="zh-CN" dirty="0"/>
              <a:t> 200MHz</a:t>
            </a:r>
            <a:r>
              <a:rPr lang="zh-CN" altLang="zh-CN" dirty="0"/>
              <a:t>； </a:t>
            </a:r>
          </a:p>
          <a:p>
            <a:pPr lvl="1">
              <a:lnSpc>
                <a:spcPct val="150000"/>
              </a:lnSpc>
            </a:pPr>
            <a:r>
              <a:rPr lang="zh-CN" altLang="zh-CN" dirty="0"/>
              <a:t>（</a:t>
            </a:r>
            <a:r>
              <a:rPr lang="en-US" altLang="zh-CN" dirty="0"/>
              <a:t>4</a:t>
            </a:r>
            <a:r>
              <a:rPr lang="zh-CN" altLang="zh-CN" dirty="0"/>
              <a:t>）电压增益</a:t>
            </a:r>
            <a:r>
              <a:rPr lang="en-US" altLang="zh-CN" i="1" dirty="0"/>
              <a:t>A</a:t>
            </a:r>
            <a:r>
              <a:rPr lang="en-US" altLang="zh-CN" i="1" baseline="-25000" dirty="0"/>
              <a:t>V</a:t>
            </a:r>
            <a:r>
              <a:rPr lang="zh-CN" altLang="zh-CN" dirty="0"/>
              <a:t>≥</a:t>
            </a:r>
            <a:r>
              <a:rPr lang="en-US" altLang="zh-CN" dirty="0"/>
              <a:t>52dB</a:t>
            </a:r>
            <a:r>
              <a:rPr lang="zh-CN" altLang="zh-CN" dirty="0"/>
              <a:t>，当输入信号频率</a:t>
            </a:r>
            <a:r>
              <a:rPr lang="en-US" altLang="zh-CN" i="1" dirty="0"/>
              <a:t>f</a:t>
            </a:r>
            <a:r>
              <a:rPr lang="zh-CN" altLang="zh-CN" dirty="0"/>
              <a:t>≤</a:t>
            </a:r>
            <a:r>
              <a:rPr lang="en-US" altLang="zh-CN" dirty="0"/>
              <a:t>20MHz </a:t>
            </a:r>
            <a:r>
              <a:rPr lang="zh-CN" altLang="zh-CN" dirty="0"/>
              <a:t>或输入信号频率</a:t>
            </a:r>
            <a:r>
              <a:rPr lang="en-US" altLang="zh-CN" i="1" dirty="0"/>
              <a:t>f</a:t>
            </a:r>
            <a:r>
              <a:rPr lang="zh-CN" altLang="zh-CN" dirty="0"/>
              <a:t>≥</a:t>
            </a:r>
            <a:r>
              <a:rPr lang="en-US" altLang="zh-CN" dirty="0"/>
              <a:t> 270MHz </a:t>
            </a:r>
            <a:r>
              <a:rPr lang="zh-CN" altLang="zh-CN" dirty="0"/>
              <a:t>时，实测电压增益</a:t>
            </a:r>
            <a:r>
              <a:rPr lang="en-US" altLang="zh-CN" i="1" dirty="0"/>
              <a:t>A</a:t>
            </a:r>
            <a:r>
              <a:rPr lang="en-US" altLang="zh-CN" i="1" baseline="-25000" dirty="0"/>
              <a:t>V</a:t>
            </a:r>
            <a:r>
              <a:rPr lang="zh-CN" altLang="zh-CN" dirty="0"/>
              <a:t>均不大于</a:t>
            </a:r>
            <a:r>
              <a:rPr lang="en-US" altLang="zh-CN" dirty="0"/>
              <a:t>20dB</a:t>
            </a:r>
            <a:r>
              <a:rPr lang="zh-CN" altLang="zh-CN" dirty="0"/>
              <a:t>； </a:t>
            </a:r>
          </a:p>
          <a:p>
            <a:pPr lvl="1">
              <a:lnSpc>
                <a:spcPct val="150000"/>
              </a:lnSpc>
            </a:pPr>
            <a:r>
              <a:rPr lang="zh-CN" altLang="zh-CN" dirty="0"/>
              <a:t>（</a:t>
            </a:r>
            <a:r>
              <a:rPr lang="en-US" altLang="zh-CN" dirty="0"/>
              <a:t>5</a:t>
            </a:r>
            <a:r>
              <a:rPr lang="zh-CN" altLang="zh-CN" dirty="0"/>
              <a:t>）其他。</a:t>
            </a: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 </a:t>
            </a:r>
          </a:p>
          <a:p>
            <a:pPr lvl="1">
              <a:lnSpc>
                <a:spcPct val="150000"/>
              </a:lnSpc>
            </a:pPr>
            <a:r>
              <a:rPr lang="zh-CN" altLang="zh-CN" dirty="0" smtClean="0"/>
              <a:t>放大器</a:t>
            </a:r>
            <a:r>
              <a:rPr lang="zh-CN" altLang="zh-CN" dirty="0"/>
              <a:t>采用</a:t>
            </a:r>
            <a:r>
              <a:rPr lang="en-US" altLang="zh-CN" dirty="0"/>
              <a:t>+12V</a:t>
            </a:r>
            <a:r>
              <a:rPr lang="zh-CN" altLang="zh-CN" dirty="0"/>
              <a:t>单电源供电，所需其它电源电压自行转换。</a:t>
            </a:r>
          </a:p>
        </p:txBody>
      </p:sp>
    </p:spTree>
    <p:extLst>
      <p:ext uri="{BB962C8B-B14F-4D97-AF65-F5344CB8AC3E}">
        <p14:creationId xmlns:p14="http://schemas.microsoft.com/office/powerpoint/2010/main" val="12050679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矩形 4"/>
          <p:cNvSpPr/>
          <p:nvPr/>
        </p:nvSpPr>
        <p:spPr>
          <a:xfrm>
            <a:off x="377371" y="325689"/>
            <a:ext cx="11444214" cy="6070893"/>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endParaRPr lang="zh-CN" altLang="zh-CN" sz="2800" dirty="0">
              <a:solidFill>
                <a:srgbClr val="FF0000"/>
              </a:solidFill>
              <a:latin typeface="隶书" panose="02010509060101010101" pitchFamily="49" charset="-122"/>
              <a:ea typeface="隶书" panose="02010509060101010101" pitchFamily="49" charset="-122"/>
            </a:endParaRPr>
          </a:p>
          <a:p>
            <a:pPr>
              <a:lnSpc>
                <a:spcPct val="135000"/>
              </a:lnSpc>
            </a:pPr>
            <a:r>
              <a:rPr lang="zh-CN" altLang="en-US" dirty="0" smtClean="0"/>
              <a:t>本题的</a:t>
            </a:r>
            <a:r>
              <a:rPr lang="zh-CN" altLang="zh-CN" dirty="0" smtClean="0"/>
              <a:t>综合</a:t>
            </a:r>
            <a:r>
              <a:rPr lang="zh-CN" altLang="zh-CN" dirty="0"/>
              <a:t>要求</a:t>
            </a:r>
            <a:r>
              <a:rPr lang="zh-CN" altLang="zh-CN" dirty="0" smtClean="0"/>
              <a:t>如下</a:t>
            </a:r>
            <a:endParaRPr lang="zh-CN" altLang="zh-CN" dirty="0"/>
          </a:p>
          <a:p>
            <a:pPr marL="800100" lvl="1" indent="-342900">
              <a:lnSpc>
                <a:spcPct val="135000"/>
              </a:lnSpc>
              <a:buFont typeface="Arial" panose="020B0604020202020204" pitchFamily="34" charset="0"/>
              <a:buChar char="•"/>
            </a:pPr>
            <a:r>
              <a:rPr lang="zh-CN" altLang="zh-CN" dirty="0" smtClean="0"/>
              <a:t>增益</a:t>
            </a:r>
            <a:r>
              <a:rPr lang="zh-CN" altLang="zh-CN" dirty="0"/>
              <a:t>：最大≥</a:t>
            </a:r>
            <a:r>
              <a:rPr lang="en-US" altLang="zh-CN" dirty="0" smtClean="0"/>
              <a:t>52dB</a:t>
            </a:r>
            <a:r>
              <a:rPr lang="zh-CN" altLang="en-US" dirty="0" smtClean="0"/>
              <a:t>（</a:t>
            </a:r>
            <a:r>
              <a:rPr lang="en-US" altLang="zh-CN" i="1" dirty="0" err="1" smtClean="0"/>
              <a:t>G</a:t>
            </a:r>
            <a:r>
              <a:rPr lang="en-US" altLang="zh-CN" baseline="-25000" dirty="0" err="1" smtClean="0"/>
              <a:t>v</a:t>
            </a:r>
            <a:r>
              <a:rPr lang="en-US" altLang="zh-CN" dirty="0" smtClean="0"/>
              <a:t>=400</a:t>
            </a:r>
            <a:r>
              <a:rPr lang="zh-CN" altLang="en-US" dirty="0" smtClean="0"/>
              <a:t>），可在</a:t>
            </a:r>
            <a:r>
              <a:rPr lang="en-US" altLang="zh-CN" dirty="0" smtClean="0"/>
              <a:t>12dB</a:t>
            </a:r>
            <a:r>
              <a:rPr lang="zh-CN" altLang="zh-CN" dirty="0"/>
              <a:t>～</a:t>
            </a:r>
            <a:r>
              <a:rPr lang="en-US" altLang="zh-CN" dirty="0" smtClean="0"/>
              <a:t>52dB</a:t>
            </a:r>
            <a:r>
              <a:rPr lang="zh-CN" altLang="en-US" dirty="0" smtClean="0"/>
              <a:t>（</a:t>
            </a:r>
            <a:r>
              <a:rPr lang="en-US" altLang="zh-CN" dirty="0" smtClean="0"/>
              <a:t>4~400</a:t>
            </a:r>
            <a:r>
              <a:rPr lang="zh-CN" altLang="en-US" dirty="0" smtClean="0"/>
              <a:t>倍）范围内</a:t>
            </a:r>
            <a:r>
              <a:rPr lang="zh-CN" altLang="zh-CN" dirty="0" smtClean="0"/>
              <a:t>步进控制</a:t>
            </a:r>
            <a:r>
              <a:rPr lang="zh-CN" altLang="en-US" dirty="0"/>
              <a:t>，</a:t>
            </a:r>
            <a:r>
              <a:rPr lang="zh-CN" altLang="zh-CN" dirty="0" smtClean="0"/>
              <a:t>步长</a:t>
            </a:r>
            <a:r>
              <a:rPr lang="en-US" altLang="zh-CN" dirty="0" smtClean="0"/>
              <a:t>4dB</a:t>
            </a:r>
          </a:p>
          <a:p>
            <a:pPr marL="800100" lvl="1" indent="-342900">
              <a:lnSpc>
                <a:spcPct val="135000"/>
              </a:lnSpc>
              <a:buFont typeface="Arial" panose="020B0604020202020204" pitchFamily="34" charset="0"/>
              <a:buChar char="•"/>
            </a:pPr>
            <a:r>
              <a:rPr lang="zh-CN" altLang="zh-CN" dirty="0" smtClean="0"/>
              <a:t>频响</a:t>
            </a:r>
            <a:r>
              <a:rPr lang="zh-CN" altLang="zh-CN" dirty="0"/>
              <a:t>：</a:t>
            </a:r>
            <a:r>
              <a:rPr lang="en-US" altLang="zh-CN" dirty="0"/>
              <a:t>-3dB</a:t>
            </a:r>
            <a:r>
              <a:rPr lang="zh-CN" altLang="zh-CN" dirty="0"/>
              <a:t>通频带不窄于</a:t>
            </a:r>
            <a:r>
              <a:rPr lang="en-US" altLang="zh-CN" dirty="0"/>
              <a:t>40MHz</a:t>
            </a:r>
            <a:r>
              <a:rPr lang="zh-CN" altLang="zh-CN" dirty="0"/>
              <a:t>～</a:t>
            </a:r>
            <a:r>
              <a:rPr lang="en-US" altLang="zh-CN" dirty="0" smtClean="0"/>
              <a:t>200MHz</a:t>
            </a:r>
          </a:p>
          <a:p>
            <a:pPr lvl="3">
              <a:lnSpc>
                <a:spcPct val="135000"/>
              </a:lnSpc>
            </a:pPr>
            <a:r>
              <a:rPr lang="en-US" altLang="zh-CN" dirty="0" smtClean="0"/>
              <a:t>50MHz</a:t>
            </a:r>
            <a:r>
              <a:rPr lang="zh-CN" altLang="zh-CN" dirty="0"/>
              <a:t>～</a:t>
            </a:r>
            <a:r>
              <a:rPr lang="en-US" altLang="zh-CN" dirty="0"/>
              <a:t>160MHz </a:t>
            </a:r>
            <a:r>
              <a:rPr lang="zh-CN" altLang="zh-CN" dirty="0"/>
              <a:t>频率范围内增益波动不大于</a:t>
            </a:r>
            <a:r>
              <a:rPr lang="en-US" altLang="zh-CN" dirty="0" smtClean="0"/>
              <a:t>2dB</a:t>
            </a:r>
          </a:p>
          <a:p>
            <a:pPr lvl="3">
              <a:lnSpc>
                <a:spcPct val="135000"/>
              </a:lnSpc>
            </a:pPr>
            <a:r>
              <a:rPr lang="zh-CN" altLang="zh-CN" dirty="0" smtClean="0"/>
              <a:t>在</a:t>
            </a:r>
            <a:r>
              <a:rPr lang="en-US" altLang="zh-CN" dirty="0"/>
              <a:t>20MHz</a:t>
            </a:r>
            <a:r>
              <a:rPr lang="zh-CN" altLang="zh-CN" dirty="0"/>
              <a:t>与</a:t>
            </a:r>
            <a:r>
              <a:rPr lang="en-US" altLang="zh-CN" dirty="0"/>
              <a:t>270MHz</a:t>
            </a:r>
            <a:r>
              <a:rPr lang="zh-CN" altLang="zh-CN" dirty="0"/>
              <a:t>要求衰减</a:t>
            </a:r>
            <a:r>
              <a:rPr lang="en-US" altLang="zh-CN" dirty="0"/>
              <a:t>32dB</a:t>
            </a:r>
            <a:r>
              <a:rPr lang="zh-CN" altLang="zh-CN" dirty="0" smtClean="0"/>
              <a:t>以上</a:t>
            </a:r>
            <a:endParaRPr lang="en-US" altLang="zh-CN" dirty="0" smtClean="0"/>
          </a:p>
          <a:p>
            <a:pPr marL="800100" lvl="1" indent="-342900">
              <a:lnSpc>
                <a:spcPct val="135000"/>
              </a:lnSpc>
              <a:buFont typeface="Arial" panose="020B0604020202020204" pitchFamily="34" charset="0"/>
              <a:buChar char="•"/>
            </a:pPr>
            <a:r>
              <a:rPr lang="zh-CN" altLang="zh-CN" dirty="0" smtClean="0"/>
              <a:t>输入输出阻抗</a:t>
            </a:r>
            <a:r>
              <a:rPr lang="zh-CN" altLang="en-US" dirty="0" smtClean="0"/>
              <a:t>：</a:t>
            </a:r>
            <a:r>
              <a:rPr lang="en-US" altLang="zh-CN" dirty="0" smtClean="0"/>
              <a:t>50Ω</a:t>
            </a:r>
          </a:p>
          <a:p>
            <a:pPr marL="800100" lvl="1" indent="-342900">
              <a:lnSpc>
                <a:spcPct val="135000"/>
              </a:lnSpc>
              <a:buFont typeface="Arial" panose="020B0604020202020204" pitchFamily="34" charset="0"/>
              <a:buChar char="•"/>
            </a:pPr>
            <a:r>
              <a:rPr lang="zh-CN" altLang="zh-CN" dirty="0" smtClean="0"/>
              <a:t>负载电阻</a:t>
            </a:r>
            <a:r>
              <a:rPr lang="zh-CN" altLang="en-US" dirty="0" smtClean="0"/>
              <a:t>：</a:t>
            </a:r>
            <a:r>
              <a:rPr lang="en-US" altLang="zh-CN" dirty="0" smtClean="0"/>
              <a:t>50Ω</a:t>
            </a:r>
          </a:p>
          <a:p>
            <a:pPr marL="800100" lvl="1" indent="-342900">
              <a:lnSpc>
                <a:spcPct val="135000"/>
              </a:lnSpc>
              <a:buFont typeface="Arial" panose="020B0604020202020204" pitchFamily="34" charset="0"/>
              <a:buChar char="•"/>
            </a:pPr>
            <a:r>
              <a:rPr lang="zh-CN" altLang="en-US" dirty="0" smtClean="0"/>
              <a:t>输入电压有效值：</a:t>
            </a:r>
            <a:r>
              <a:rPr lang="zh-CN" altLang="en-US" dirty="0"/>
              <a:t>≤</a:t>
            </a:r>
            <a:r>
              <a:rPr lang="en-US" altLang="zh-CN" dirty="0"/>
              <a:t>5mV</a:t>
            </a:r>
          </a:p>
          <a:p>
            <a:pPr marL="800100" lvl="1" indent="-342900">
              <a:lnSpc>
                <a:spcPct val="135000"/>
              </a:lnSpc>
              <a:buFont typeface="Arial" panose="020B0604020202020204" pitchFamily="34" charset="0"/>
              <a:buChar char="•"/>
            </a:pPr>
            <a:r>
              <a:rPr lang="zh-CN" altLang="zh-CN" dirty="0" smtClean="0"/>
              <a:t>输出</a:t>
            </a:r>
            <a:r>
              <a:rPr lang="zh-CN" altLang="zh-CN" dirty="0"/>
              <a:t>电压</a:t>
            </a:r>
            <a:r>
              <a:rPr lang="zh-CN" altLang="zh-CN" dirty="0" smtClean="0"/>
              <a:t>有效值</a:t>
            </a:r>
            <a:r>
              <a:rPr lang="zh-CN" altLang="en-US" dirty="0" smtClean="0"/>
              <a:t>：</a:t>
            </a:r>
            <a:r>
              <a:rPr lang="zh-CN" altLang="zh-CN" dirty="0" smtClean="0"/>
              <a:t>≥</a:t>
            </a:r>
            <a:r>
              <a:rPr lang="en-US" altLang="zh-CN" dirty="0" smtClean="0"/>
              <a:t>2V@50Ω</a:t>
            </a:r>
            <a:r>
              <a:rPr lang="zh-CN" altLang="zh-CN" dirty="0" smtClean="0"/>
              <a:t>（</a:t>
            </a:r>
            <a:r>
              <a:rPr lang="en-US" altLang="zh-CN" dirty="0"/>
              <a:t>80mW</a:t>
            </a:r>
            <a:r>
              <a:rPr lang="zh-CN" altLang="zh-CN" dirty="0"/>
              <a:t>，</a:t>
            </a:r>
            <a:r>
              <a:rPr lang="en-US" altLang="zh-CN" dirty="0"/>
              <a:t>19dBm</a:t>
            </a:r>
            <a:r>
              <a:rPr lang="zh-CN" altLang="zh-CN" dirty="0" smtClean="0"/>
              <a:t>）</a:t>
            </a:r>
            <a:endParaRPr lang="en-US" altLang="zh-CN" dirty="0" smtClean="0"/>
          </a:p>
          <a:p>
            <a:pPr marL="800100" lvl="1" indent="-342900">
              <a:lnSpc>
                <a:spcPct val="150000"/>
              </a:lnSpc>
              <a:buFont typeface="Arial" panose="020B0604020202020204" pitchFamily="34" charset="0"/>
              <a:buChar char="•"/>
            </a:pPr>
            <a:endParaRPr lang="en-US" altLang="zh-CN" sz="1100" dirty="0" smtClean="0"/>
          </a:p>
          <a:p>
            <a:pPr lvl="1">
              <a:lnSpc>
                <a:spcPct val="150000"/>
              </a:lnSpc>
            </a:pPr>
            <a:r>
              <a:rPr lang="zh-CN" altLang="en-US" sz="1800" dirty="0" smtClean="0">
                <a:latin typeface="Times New Roman" panose="02020603050405020304" pitchFamily="18" charset="0"/>
                <a:ea typeface="楷体" panose="02010609060101010101" pitchFamily="49" charset="-122"/>
              </a:rPr>
              <a:t>注意：在高频电路中通常用</a:t>
            </a:r>
            <a:r>
              <a:rPr lang="en-US" altLang="zh-CN" sz="1800" dirty="0" smtClean="0">
                <a:latin typeface="Times New Roman" panose="02020603050405020304" pitchFamily="18" charset="0"/>
                <a:ea typeface="楷体" panose="02010609060101010101" pitchFamily="49" charset="-122"/>
              </a:rPr>
              <a:t>dB</a:t>
            </a:r>
            <a:r>
              <a:rPr lang="zh-CN" altLang="en-US" sz="1800" dirty="0" smtClean="0">
                <a:latin typeface="Times New Roman" panose="02020603050405020304" pitchFamily="18" charset="0"/>
                <a:ea typeface="楷体" panose="02010609060101010101" pitchFamily="49" charset="-122"/>
              </a:rPr>
              <a:t>表示增益，</a:t>
            </a:r>
            <a:r>
              <a:rPr lang="en-US" altLang="zh-CN" sz="1800" i="1" dirty="0" smtClean="0">
                <a:latin typeface="Times New Roman" panose="02020603050405020304" pitchFamily="18" charset="0"/>
                <a:ea typeface="楷体" panose="02010609060101010101" pitchFamily="49" charset="-122"/>
              </a:rPr>
              <a:t>G</a:t>
            </a:r>
            <a:r>
              <a:rPr lang="en-US" altLang="zh-CN" sz="1800" dirty="0" smtClean="0">
                <a:latin typeface="Times New Roman" panose="02020603050405020304" pitchFamily="18" charset="0"/>
                <a:ea typeface="楷体" panose="02010609060101010101" pitchFamily="49" charset="-122"/>
              </a:rPr>
              <a:t>(dB)=20log</a:t>
            </a:r>
            <a:r>
              <a:rPr lang="en-US" altLang="zh-CN" sz="1800" baseline="-25000" dirty="0" smtClean="0">
                <a:latin typeface="Times New Roman" panose="02020603050405020304" pitchFamily="18" charset="0"/>
                <a:ea typeface="楷体" panose="02010609060101010101" pitchFamily="49" charset="-122"/>
              </a:rPr>
              <a:t>10</a:t>
            </a:r>
            <a:r>
              <a:rPr lang="en-US" altLang="zh-CN" sz="1800" i="1" dirty="0" smtClean="0">
                <a:latin typeface="Times New Roman" panose="02020603050405020304" pitchFamily="18" charset="0"/>
                <a:ea typeface="楷体" panose="02010609060101010101" pitchFamily="49" charset="-122"/>
              </a:rPr>
              <a:t>G</a:t>
            </a:r>
            <a:r>
              <a:rPr lang="en-US" altLang="zh-CN" sz="1800" baseline="-25000" dirty="0" smtClean="0">
                <a:latin typeface="Times New Roman" panose="02020603050405020304" pitchFamily="18" charset="0"/>
                <a:ea typeface="楷体" panose="02010609060101010101" pitchFamily="49" charset="-122"/>
              </a:rPr>
              <a:t>v</a:t>
            </a:r>
            <a:r>
              <a:rPr lang="en-US" altLang="zh-CN" sz="1800" dirty="0" smtClean="0">
                <a:latin typeface="Times New Roman" panose="02020603050405020304" pitchFamily="18" charset="0"/>
                <a:ea typeface="楷体" panose="02010609060101010101" pitchFamily="49" charset="-122"/>
              </a:rPr>
              <a:t>=10log</a:t>
            </a:r>
            <a:r>
              <a:rPr lang="en-US" altLang="zh-CN" sz="1800" baseline="-25000" dirty="0" smtClean="0">
                <a:latin typeface="Times New Roman" panose="02020603050405020304" pitchFamily="18" charset="0"/>
                <a:ea typeface="楷体" panose="02010609060101010101" pitchFamily="49" charset="-122"/>
              </a:rPr>
              <a:t>10</a:t>
            </a:r>
            <a:r>
              <a:rPr lang="en-US" altLang="zh-CN" sz="1800" i="1" dirty="0" smtClean="0">
                <a:latin typeface="Times New Roman" panose="02020603050405020304" pitchFamily="18" charset="0"/>
                <a:ea typeface="楷体" panose="02010609060101010101" pitchFamily="49" charset="-122"/>
              </a:rPr>
              <a:t>G</a:t>
            </a:r>
            <a:r>
              <a:rPr lang="en-US" altLang="zh-CN" sz="1800" baseline="-25000" dirty="0" smtClean="0">
                <a:latin typeface="Times New Roman" panose="02020603050405020304" pitchFamily="18" charset="0"/>
                <a:ea typeface="楷体" panose="02010609060101010101" pitchFamily="49" charset="-122"/>
              </a:rPr>
              <a:t>P</a:t>
            </a:r>
            <a:endParaRPr lang="en-US" altLang="zh-CN" sz="1800" dirty="0" smtClean="0">
              <a:latin typeface="Times New Roman" panose="02020603050405020304" pitchFamily="18" charset="0"/>
              <a:ea typeface="楷体" panose="02010609060101010101" pitchFamily="49" charset="-122"/>
            </a:endParaRPr>
          </a:p>
          <a:p>
            <a:pPr lvl="1">
              <a:lnSpc>
                <a:spcPct val="150000"/>
              </a:lnSpc>
            </a:pPr>
            <a:r>
              <a:rPr lang="zh-CN" altLang="en-US" sz="1800" dirty="0" smtClean="0">
                <a:latin typeface="Times New Roman" panose="02020603050405020304" pitchFamily="18" charset="0"/>
                <a:ea typeface="楷体" panose="02010609060101010101" pitchFamily="49" charset="-122"/>
              </a:rPr>
              <a:t>用</a:t>
            </a:r>
            <a:r>
              <a:rPr lang="en-US" altLang="zh-CN" sz="1800" dirty="0" err="1" smtClean="0">
                <a:latin typeface="Times New Roman" panose="02020603050405020304" pitchFamily="18" charset="0"/>
                <a:ea typeface="楷体" panose="02010609060101010101" pitchFamily="49" charset="-122"/>
              </a:rPr>
              <a:t>dBm</a:t>
            </a:r>
            <a:r>
              <a:rPr lang="zh-CN" altLang="en-US" sz="1800" dirty="0" smtClean="0">
                <a:latin typeface="Times New Roman" panose="02020603050405020304" pitchFamily="18" charset="0"/>
                <a:ea typeface="楷体" panose="02010609060101010101" pitchFamily="49" charset="-122"/>
              </a:rPr>
              <a:t>表示功率，</a:t>
            </a:r>
            <a:r>
              <a:rPr lang="en-US" altLang="zh-CN" sz="1800" dirty="0" smtClean="0">
                <a:latin typeface="Times New Roman" panose="02020603050405020304" pitchFamily="18" charset="0"/>
                <a:ea typeface="楷体" panose="02010609060101010101" pitchFamily="49" charset="-122"/>
              </a:rPr>
              <a:t>0dBm=1mW=224mV</a:t>
            </a:r>
            <a:r>
              <a:rPr lang="en-US" altLang="zh-CN" sz="1800" baseline="-25000" dirty="0" smtClean="0">
                <a:latin typeface="Times New Roman" panose="02020603050405020304" pitchFamily="18" charset="0"/>
                <a:ea typeface="楷体" panose="02010609060101010101" pitchFamily="49" charset="-122"/>
              </a:rPr>
              <a:t>rms</a:t>
            </a: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dirty="0" smtClean="0">
                <a:latin typeface="Times New Roman" panose="02020603050405020304" pitchFamily="18" charset="0"/>
                <a:ea typeface="楷体" panose="02010609060101010101" pitchFamily="49" charset="-122"/>
                <a:cs typeface="Times New Roman" panose="02020603050405020304" pitchFamily="18" charset="0"/>
              </a:rPr>
              <a:t>P</a:t>
            </a:r>
            <a:r>
              <a:rPr lang="en-US" altLang="zh-CN" sz="18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dirty="0" err="1" smtClean="0">
                <a:latin typeface="Times New Roman" panose="02020603050405020304" pitchFamily="18" charset="0"/>
                <a:ea typeface="楷体" panose="02010609060101010101" pitchFamily="49" charset="-122"/>
                <a:cs typeface="Times New Roman" panose="02020603050405020304" pitchFamily="18" charset="0"/>
              </a:rPr>
              <a:t>dBm</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)=20log</a:t>
            </a:r>
            <a:r>
              <a:rPr lang="en-US" altLang="zh-CN" sz="1800" baseline="-25000" dirty="0">
                <a:latin typeface="Times New Roman" panose="02020603050405020304" pitchFamily="18" charset="0"/>
                <a:ea typeface="楷体" panose="02010609060101010101" pitchFamily="49" charset="-122"/>
                <a:cs typeface="Times New Roman" panose="02020603050405020304" pitchFamily="18" charset="0"/>
              </a:rPr>
              <a:t>10</a:t>
            </a:r>
            <a:r>
              <a:rPr lang="en-US" altLang="zh-CN" sz="1800" i="1" dirty="0">
                <a:latin typeface="Times New Roman" panose="02020603050405020304" pitchFamily="18" charset="0"/>
                <a:ea typeface="楷体" panose="02010609060101010101" pitchFamily="49" charset="-122"/>
                <a:cs typeface="Times New Roman" panose="02020603050405020304" pitchFamily="18" charset="0"/>
              </a:rPr>
              <a:t>V</a:t>
            </a:r>
            <a:r>
              <a:rPr lang="en-US" altLang="zh-CN" sz="1800" baseline="-25000" dirty="0">
                <a:latin typeface="Times New Roman" panose="02020603050405020304" pitchFamily="18" charset="0"/>
                <a:ea typeface="楷体" panose="02010609060101010101" pitchFamily="49" charset="-122"/>
                <a:cs typeface="Times New Roman" panose="02020603050405020304" pitchFamily="18" charset="0"/>
              </a:rPr>
              <a:t>rms</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(V)+13dBm</a:t>
            </a:r>
            <a:r>
              <a:rPr lang="zh-CN" altLang="en-US" sz="18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i="1" dirty="0" err="1">
                <a:latin typeface="Times New Roman" panose="02020603050405020304" pitchFamily="18" charset="0"/>
                <a:ea typeface="楷体" panose="02010609060101010101" pitchFamily="49" charset="-122"/>
                <a:cs typeface="Times New Roman" panose="02020603050405020304" pitchFamily="18" charset="0"/>
              </a:rPr>
              <a:t>V</a:t>
            </a:r>
            <a:r>
              <a:rPr lang="en-US" altLang="zh-CN" sz="1800" baseline="-25000" dirty="0" err="1">
                <a:latin typeface="Times New Roman" panose="02020603050405020304" pitchFamily="18" charset="0"/>
                <a:ea typeface="楷体" panose="02010609060101010101" pitchFamily="49" charset="-122"/>
                <a:cs typeface="Times New Roman" panose="02020603050405020304" pitchFamily="18" charset="0"/>
              </a:rPr>
              <a:t>rms</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(V)=10^[(</a:t>
            </a:r>
            <a:r>
              <a:rPr lang="en-US" altLang="zh-CN" sz="1800" i="1" dirty="0">
                <a:latin typeface="Times New Roman" panose="02020603050405020304" pitchFamily="18" charset="0"/>
                <a:ea typeface="楷体" panose="02010609060101010101" pitchFamily="49" charset="-122"/>
                <a:cs typeface="Times New Roman" panose="02020603050405020304" pitchFamily="18" charset="0"/>
              </a:rPr>
              <a:t>P</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800" dirty="0" err="1">
                <a:latin typeface="Times New Roman" panose="02020603050405020304" pitchFamily="18" charset="0"/>
                <a:ea typeface="楷体" panose="02010609060101010101" pitchFamily="49" charset="-122"/>
                <a:cs typeface="Times New Roman" panose="02020603050405020304" pitchFamily="18" charset="0"/>
              </a:rPr>
              <a:t>dBm</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)-13dBm)/20]</a:t>
            </a:r>
            <a:endParaRPr lang="en-US" altLang="zh-CN" sz="1800" dirty="0" smtClean="0">
              <a:latin typeface="Times New Roman" panose="02020603050405020304" pitchFamily="18" charset="0"/>
              <a:ea typeface="楷体" panose="02010609060101010101" pitchFamily="49" charset="-122"/>
              <a:cs typeface="Times New Roman" panose="02020603050405020304" pitchFamily="18" charset="0"/>
            </a:endParaRPr>
          </a:p>
          <a:p>
            <a:pPr lvl="1">
              <a:lnSpc>
                <a:spcPct val="150000"/>
              </a:lnSpc>
            </a:pPr>
            <a:r>
              <a:rPr lang="zh-CN" altLang="en-US" sz="1800" dirty="0" smtClean="0">
                <a:latin typeface="Times New Roman" panose="02020603050405020304" pitchFamily="18" charset="0"/>
                <a:ea typeface="楷体" panose="02010609060101010101" pitchFamily="49" charset="-122"/>
                <a:cs typeface="Times New Roman" panose="02020603050405020304" pitchFamily="18" charset="0"/>
              </a:rPr>
              <a:t>其中的电压都是在</a:t>
            </a:r>
            <a:r>
              <a:rPr lang="en-US" altLang="zh-CN" sz="1800" dirty="0" smtClean="0">
                <a:latin typeface="Times New Roman" panose="02020603050405020304" pitchFamily="18" charset="0"/>
                <a:ea typeface="楷体" panose="02010609060101010101" pitchFamily="49" charset="-122"/>
                <a:cs typeface="Times New Roman" panose="02020603050405020304" pitchFamily="18" charset="0"/>
              </a:rPr>
              <a:t>50</a:t>
            </a:r>
            <a:r>
              <a:rPr lang="el-GR" altLang="zh-CN" sz="1800" dirty="0" smtClean="0">
                <a:latin typeface="Times New Roman" panose="02020603050405020304" pitchFamily="18" charset="0"/>
                <a:ea typeface="楷体" panose="02010609060101010101" pitchFamily="49" charset="-122"/>
                <a:cs typeface="Times New Roman" panose="02020603050405020304" pitchFamily="18" charset="0"/>
              </a:rPr>
              <a:t>Ω</a:t>
            </a:r>
            <a:r>
              <a:rPr lang="zh-CN" altLang="en-US" sz="1800" dirty="0" smtClean="0">
                <a:latin typeface="Times New Roman" panose="02020603050405020304" pitchFamily="18" charset="0"/>
                <a:ea typeface="楷体" panose="02010609060101010101" pitchFamily="49" charset="-122"/>
                <a:cs typeface="Times New Roman" panose="02020603050405020304" pitchFamily="18" charset="0"/>
              </a:rPr>
              <a:t>负载上的有效值</a:t>
            </a:r>
            <a:endParaRPr lang="zh-CN" altLang="en-US" sz="18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71716" y="358592"/>
            <a:ext cx="11248570" cy="5170646"/>
          </a:xfrm>
          <a:prstGeom prst="rect">
            <a:avLst/>
          </a:prstGeom>
        </p:spPr>
        <p:txBody>
          <a:bodyPr wrap="square">
            <a:spAutoFit/>
          </a:bodyPr>
          <a:lstStyle/>
          <a:p>
            <a:pPr marL="342900" indent="-342900" algn="just">
              <a:lnSpc>
                <a:spcPct val="150000"/>
              </a:lnSpc>
              <a:spcAft>
                <a:spcPts val="0"/>
              </a:spcAft>
              <a:buFont typeface="Wingdings" panose="05000000000000000000" pitchFamily="2" charset="2"/>
              <a:buChar char="l"/>
            </a:pPr>
            <a:r>
              <a:rPr lang="zh-CN" altLang="en-US" kern="100" dirty="0" smtClean="0">
                <a:latin typeface="Arial" panose="020B0604020202020204" pitchFamily="34" charset="0"/>
              </a:rPr>
              <a:t>电路结构：</a:t>
            </a:r>
            <a:endParaRPr lang="en-US" altLang="zh-CN" kern="100" dirty="0" smtClean="0">
              <a:latin typeface="Arial" panose="020B0604020202020204" pitchFamily="34" charset="0"/>
            </a:endParaRPr>
          </a:p>
          <a:p>
            <a:pPr algn="just">
              <a:lnSpc>
                <a:spcPct val="150000"/>
              </a:lnSpc>
              <a:spcAft>
                <a:spcPts val="0"/>
              </a:spcAft>
            </a:pPr>
            <a:r>
              <a:rPr lang="zh-CN" altLang="en-US" kern="100" dirty="0" smtClean="0">
                <a:latin typeface="Arial" panose="020B0604020202020204" pitchFamily="34" charset="0"/>
              </a:rPr>
              <a:t>根据上述分析，此题的放大器应该包含如下几个部分</a:t>
            </a:r>
            <a:endParaRPr lang="en-US" altLang="zh-CN" kern="100" dirty="0" smtClean="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r>
              <a:rPr lang="zh-CN" altLang="en-US" kern="100" dirty="0" smtClean="0">
                <a:latin typeface="Arial" panose="020B0604020202020204" pitchFamily="34" charset="0"/>
              </a:rPr>
              <a:t>高频放大器</a:t>
            </a:r>
            <a:endParaRPr lang="en-US" altLang="zh-CN" kern="100" dirty="0" smtClean="0">
              <a:latin typeface="Arial" panose="020B0604020202020204" pitchFamily="34" charset="0"/>
            </a:endParaRPr>
          </a:p>
          <a:p>
            <a:pPr lvl="1" algn="just">
              <a:lnSpc>
                <a:spcPct val="150000"/>
              </a:lnSpc>
              <a:spcAft>
                <a:spcPts val="0"/>
              </a:spcAft>
            </a:pPr>
            <a:r>
              <a:rPr lang="zh-CN" altLang="zh-CN" dirty="0"/>
              <a:t>最大≥</a:t>
            </a:r>
            <a:r>
              <a:rPr lang="en-US" altLang="zh-CN" dirty="0" smtClean="0"/>
              <a:t>52dB</a:t>
            </a:r>
            <a:r>
              <a:rPr lang="zh-CN" altLang="en-US" dirty="0" smtClean="0"/>
              <a:t>，频响</a:t>
            </a:r>
            <a:r>
              <a:rPr lang="zh-CN" altLang="zh-CN" dirty="0"/>
              <a:t>不窄于</a:t>
            </a:r>
            <a:r>
              <a:rPr lang="en-US" altLang="zh-CN" dirty="0"/>
              <a:t>40MHz</a:t>
            </a:r>
            <a:r>
              <a:rPr lang="zh-CN" altLang="zh-CN" dirty="0"/>
              <a:t>～</a:t>
            </a:r>
            <a:r>
              <a:rPr lang="en-US" altLang="zh-CN" dirty="0" smtClean="0"/>
              <a:t>200MHz</a:t>
            </a:r>
            <a:r>
              <a:rPr lang="zh-CN" altLang="en-US" dirty="0" smtClean="0"/>
              <a:t>，带内波动</a:t>
            </a:r>
            <a:r>
              <a:rPr lang="en-US" altLang="zh-CN" dirty="0" smtClean="0"/>
              <a:t>&lt;&lt;2dB</a:t>
            </a:r>
          </a:p>
          <a:p>
            <a:pPr lvl="1" algn="just">
              <a:lnSpc>
                <a:spcPct val="150000"/>
              </a:lnSpc>
              <a:spcAft>
                <a:spcPts val="0"/>
              </a:spcAft>
            </a:pPr>
            <a:r>
              <a:rPr lang="zh-CN" altLang="en-US" dirty="0" smtClean="0">
                <a:latin typeface="Arial" panose="020B0604020202020204" pitchFamily="34" charset="0"/>
                <a:cs typeface="Times New Roman" panose="02020603050405020304" pitchFamily="18" charset="0"/>
              </a:rPr>
              <a:t>输入输出阻抗均为</a:t>
            </a:r>
            <a:r>
              <a:rPr lang="en-US" altLang="zh-CN" dirty="0" smtClean="0">
                <a:latin typeface="Arial" panose="020B0604020202020204" pitchFamily="34" charset="0"/>
                <a:cs typeface="Times New Roman" panose="02020603050405020304" pitchFamily="18" charset="0"/>
              </a:rPr>
              <a:t>50</a:t>
            </a:r>
            <a:r>
              <a:rPr lang="zh-CN" altLang="en-US" dirty="0" smtClean="0">
                <a:latin typeface="Arial" panose="020B0604020202020204" pitchFamily="34" charset="0"/>
                <a:cs typeface="Times New Roman" panose="02020603050405020304" pitchFamily="18" charset="0"/>
              </a:rPr>
              <a:t>欧，</a:t>
            </a:r>
            <a:r>
              <a:rPr lang="zh-CN" altLang="zh-CN" dirty="0"/>
              <a:t>输出电压有效值</a:t>
            </a:r>
            <a:r>
              <a:rPr lang="zh-CN" altLang="en-US" dirty="0"/>
              <a:t>：</a:t>
            </a:r>
            <a:r>
              <a:rPr lang="zh-CN" altLang="zh-CN" dirty="0"/>
              <a:t>≥</a:t>
            </a:r>
            <a:r>
              <a:rPr lang="en-US" altLang="zh-CN" dirty="0"/>
              <a:t>2V@50Ω</a:t>
            </a:r>
            <a:endParaRPr lang="en-US" altLang="zh-CN" dirty="0" smtClean="0">
              <a:latin typeface="Arial" panose="020B0604020202020204" pitchFamily="34"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zh-CN" dirty="0" smtClean="0">
                <a:latin typeface="Arial" panose="020B0604020202020204" pitchFamily="34" charset="0"/>
                <a:cs typeface="Times New Roman" panose="02020603050405020304" pitchFamily="18" charset="0"/>
              </a:rPr>
              <a:t>可变增益</a:t>
            </a:r>
            <a:r>
              <a:rPr lang="zh-CN" altLang="en-US" dirty="0" smtClean="0">
                <a:latin typeface="Arial" panose="020B0604020202020204" pitchFamily="34" charset="0"/>
                <a:cs typeface="Times New Roman" panose="02020603050405020304" pitchFamily="18" charset="0"/>
              </a:rPr>
              <a:t>部</a:t>
            </a:r>
            <a:r>
              <a:rPr lang="zh-CN" altLang="en-US" dirty="0">
                <a:latin typeface="Arial" panose="020B0604020202020204" pitchFamily="34" charset="0"/>
                <a:cs typeface="Times New Roman" panose="02020603050405020304" pitchFamily="18" charset="0"/>
              </a:rPr>
              <a:t>件</a:t>
            </a:r>
            <a:endParaRPr lang="en-US" altLang="zh-CN" dirty="0" smtClean="0">
              <a:latin typeface="Arial" panose="020B0604020202020204" pitchFamily="34" charset="0"/>
              <a:cs typeface="Times New Roman" panose="02020603050405020304" pitchFamily="18" charset="0"/>
            </a:endParaRPr>
          </a:p>
          <a:p>
            <a:pPr lvl="1">
              <a:lnSpc>
                <a:spcPct val="150000"/>
              </a:lnSpc>
            </a:pPr>
            <a:r>
              <a:rPr lang="zh-CN" altLang="en-US" dirty="0" smtClean="0">
                <a:latin typeface="Arial" panose="020B0604020202020204" pitchFamily="34" charset="0"/>
                <a:cs typeface="Times New Roman" panose="02020603050405020304" pitchFamily="18" charset="0"/>
              </a:rPr>
              <a:t>增益改变范围大于</a:t>
            </a:r>
            <a:r>
              <a:rPr lang="en-US" altLang="zh-CN" dirty="0" smtClean="0">
                <a:latin typeface="Arial" panose="020B0604020202020204" pitchFamily="34" charset="0"/>
                <a:cs typeface="Times New Roman" panose="02020603050405020304" pitchFamily="18" charset="0"/>
              </a:rPr>
              <a:t>40dB</a:t>
            </a:r>
            <a:r>
              <a:rPr lang="zh-CN" altLang="en-US" dirty="0" smtClean="0">
                <a:latin typeface="Arial" panose="020B0604020202020204" pitchFamily="34" charset="0"/>
                <a:cs typeface="Times New Roman" panose="02020603050405020304" pitchFamily="18" charset="0"/>
              </a:rPr>
              <a:t>，可以按</a:t>
            </a:r>
            <a:r>
              <a:rPr lang="en-US" altLang="zh-CN" dirty="0" smtClean="0">
                <a:latin typeface="Arial" panose="020B0604020202020204" pitchFamily="34" charset="0"/>
                <a:cs typeface="Times New Roman" panose="02020603050405020304" pitchFamily="18" charset="0"/>
              </a:rPr>
              <a:t>4dB</a:t>
            </a:r>
            <a:r>
              <a:rPr lang="zh-CN" altLang="en-US" dirty="0" smtClean="0">
                <a:latin typeface="Arial" panose="020B0604020202020204" pitchFamily="34" charset="0"/>
                <a:cs typeface="Times New Roman" panose="02020603050405020304" pitchFamily="18" charset="0"/>
              </a:rPr>
              <a:t>步进，</a:t>
            </a:r>
            <a:r>
              <a:rPr lang="zh-CN" altLang="en-US" dirty="0" smtClean="0"/>
              <a:t>频响</a:t>
            </a:r>
            <a:r>
              <a:rPr lang="zh-CN" altLang="zh-CN" dirty="0"/>
              <a:t>不窄于</a:t>
            </a:r>
            <a:r>
              <a:rPr lang="en-US" altLang="zh-CN" dirty="0"/>
              <a:t>40MHz</a:t>
            </a:r>
            <a:r>
              <a:rPr lang="zh-CN" altLang="zh-CN" dirty="0"/>
              <a:t>～</a:t>
            </a:r>
            <a:r>
              <a:rPr lang="en-US" altLang="zh-CN" dirty="0" smtClean="0"/>
              <a:t>200MHz</a:t>
            </a:r>
            <a:r>
              <a:rPr lang="zh-CN" altLang="en-US" dirty="0" smtClean="0"/>
              <a:t>，</a:t>
            </a:r>
            <a:r>
              <a:rPr lang="zh-CN" altLang="en-US" dirty="0"/>
              <a:t>带内波动</a:t>
            </a:r>
            <a:r>
              <a:rPr lang="en-US" altLang="zh-CN" dirty="0" smtClean="0"/>
              <a:t>&lt;&lt;2dB</a:t>
            </a:r>
            <a:endParaRPr lang="en-US" altLang="zh-CN" dirty="0" smtClean="0">
              <a:latin typeface="Arial" panose="020B0604020202020204" pitchFamily="34"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smtClean="0">
                <a:latin typeface="Arial" panose="020B0604020202020204" pitchFamily="34" charset="0"/>
                <a:cs typeface="Times New Roman" panose="02020603050405020304" pitchFamily="18" charset="0"/>
              </a:rPr>
              <a:t>带通滤波器</a:t>
            </a:r>
            <a:endParaRPr lang="en-US" altLang="zh-CN" dirty="0" smtClean="0">
              <a:latin typeface="Arial" panose="020B0604020202020204" pitchFamily="34" charset="0"/>
              <a:cs typeface="Times New Roman" panose="02020603050405020304" pitchFamily="18" charset="0"/>
            </a:endParaRPr>
          </a:p>
          <a:p>
            <a:pPr lvl="1">
              <a:lnSpc>
                <a:spcPct val="150000"/>
              </a:lnSpc>
            </a:pPr>
            <a:r>
              <a:rPr lang="zh-CN" altLang="en-US" dirty="0" smtClean="0">
                <a:latin typeface="Arial" panose="020B0604020202020204" pitchFamily="34" charset="0"/>
              </a:rPr>
              <a:t>通带，</a:t>
            </a:r>
            <a:r>
              <a:rPr lang="en-US" altLang="zh-CN" dirty="0" smtClean="0">
                <a:latin typeface="Arial" panose="020B0604020202020204" pitchFamily="34" charset="0"/>
              </a:rPr>
              <a:t>-3dB</a:t>
            </a:r>
            <a:r>
              <a:rPr lang="zh-CN" altLang="en-US" dirty="0" smtClean="0">
                <a:latin typeface="Arial" panose="020B0604020202020204" pitchFamily="34" charset="0"/>
              </a:rPr>
              <a:t>截止频率范围</a:t>
            </a:r>
            <a:r>
              <a:rPr lang="zh-CN" altLang="zh-CN" dirty="0"/>
              <a:t>不窄于</a:t>
            </a:r>
            <a:r>
              <a:rPr lang="en-US" altLang="zh-CN" dirty="0"/>
              <a:t>40MHz</a:t>
            </a:r>
            <a:r>
              <a:rPr lang="zh-CN" altLang="zh-CN" dirty="0"/>
              <a:t>～</a:t>
            </a:r>
            <a:r>
              <a:rPr lang="en-US" altLang="zh-CN" dirty="0" smtClean="0"/>
              <a:t>200MHz</a:t>
            </a:r>
          </a:p>
          <a:p>
            <a:pPr lvl="1">
              <a:lnSpc>
                <a:spcPct val="150000"/>
              </a:lnSpc>
            </a:pPr>
            <a:r>
              <a:rPr lang="zh-CN" altLang="en-US" dirty="0"/>
              <a:t>带</a:t>
            </a:r>
            <a:r>
              <a:rPr lang="zh-CN" altLang="en-US" dirty="0" smtClean="0"/>
              <a:t>内波动</a:t>
            </a:r>
            <a:r>
              <a:rPr lang="en-US" altLang="zh-CN" dirty="0" smtClean="0"/>
              <a:t>&lt;2dB</a:t>
            </a:r>
          </a:p>
          <a:p>
            <a:pPr lvl="1">
              <a:lnSpc>
                <a:spcPct val="150000"/>
              </a:lnSpc>
            </a:pPr>
            <a:r>
              <a:rPr lang="zh-CN" altLang="en-US" dirty="0" smtClean="0"/>
              <a:t>阻带，</a:t>
            </a:r>
            <a:r>
              <a:rPr lang="zh-CN" altLang="zh-CN" dirty="0" smtClean="0"/>
              <a:t>在</a:t>
            </a:r>
            <a:r>
              <a:rPr lang="en-US" altLang="zh-CN" dirty="0"/>
              <a:t>20MHz</a:t>
            </a:r>
            <a:r>
              <a:rPr lang="zh-CN" altLang="zh-CN" dirty="0"/>
              <a:t>与</a:t>
            </a:r>
            <a:r>
              <a:rPr lang="en-US" altLang="zh-CN" dirty="0"/>
              <a:t>270MHz</a:t>
            </a:r>
            <a:r>
              <a:rPr lang="zh-CN" altLang="zh-CN" dirty="0"/>
              <a:t>要求衰减</a:t>
            </a:r>
            <a:r>
              <a:rPr lang="en-US" altLang="zh-CN" dirty="0"/>
              <a:t>32dB</a:t>
            </a:r>
            <a:r>
              <a:rPr lang="zh-CN" altLang="zh-CN" dirty="0" smtClean="0"/>
              <a:t>以上</a:t>
            </a:r>
            <a:endParaRPr lang="en-US" altLang="zh-CN" dirty="0" smtClean="0"/>
          </a:p>
        </p:txBody>
      </p:sp>
    </p:spTree>
    <p:extLst>
      <p:ext uri="{BB962C8B-B14F-4D97-AF65-F5344CB8AC3E}">
        <p14:creationId xmlns:p14="http://schemas.microsoft.com/office/powerpoint/2010/main" val="1325654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a:t>
            </a:fld>
            <a:endParaRPr lang="en-US" altLang="zh-CN"/>
          </a:p>
        </p:txBody>
      </p:sp>
      <p:sp>
        <p:nvSpPr>
          <p:cNvPr id="4" name="文本框 3"/>
          <p:cNvSpPr txBox="1"/>
          <p:nvPr/>
        </p:nvSpPr>
        <p:spPr>
          <a:xfrm>
            <a:off x="449943" y="321870"/>
            <a:ext cx="11277600" cy="5447645"/>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高频放大器</a:t>
            </a:r>
            <a:endParaRPr lang="en-US" altLang="zh-CN" sz="2800" dirty="0">
              <a:solidFill>
                <a:srgbClr val="FF0000"/>
              </a:solidFill>
              <a:latin typeface="隶书" panose="02010509060101010101" pitchFamily="49" charset="-122"/>
              <a:ea typeface="隶书" panose="02010509060101010101" pitchFamily="49" charset="-122"/>
            </a:endParaRPr>
          </a:p>
          <a:p>
            <a:pPr lvl="1">
              <a:lnSpc>
                <a:spcPct val="125000"/>
              </a:lnSpc>
            </a:pPr>
            <a:r>
              <a:rPr lang="zh-CN" altLang="en-US" sz="1800" dirty="0" smtClean="0"/>
              <a:t>实用的高频放大器大致有三类：</a:t>
            </a:r>
            <a:endParaRPr lang="en-US" altLang="zh-CN" sz="1800" dirty="0" smtClean="0"/>
          </a:p>
          <a:p>
            <a:pPr marL="800100" lvl="1" indent="-342900">
              <a:lnSpc>
                <a:spcPct val="125000"/>
              </a:lnSpc>
              <a:buFont typeface="Arial" panose="020B0604020202020204" pitchFamily="34" charset="0"/>
              <a:buChar char="•"/>
            </a:pPr>
            <a:r>
              <a:rPr lang="zh-CN" altLang="zh-CN" sz="1800" dirty="0"/>
              <a:t>单片</a:t>
            </a:r>
            <a:r>
              <a:rPr lang="zh-CN" altLang="zh-CN" sz="1800" dirty="0" smtClean="0"/>
              <a:t>微波集成电路</a:t>
            </a:r>
            <a:r>
              <a:rPr lang="zh-CN" altLang="en-US" sz="1800" dirty="0" smtClean="0"/>
              <a:t>（</a:t>
            </a:r>
            <a:r>
              <a:rPr lang="en-US" altLang="zh-CN" sz="1800" dirty="0" smtClean="0"/>
              <a:t>MMIC</a:t>
            </a:r>
            <a:r>
              <a:rPr lang="zh-CN" altLang="en-US" sz="1800" dirty="0" smtClean="0"/>
              <a:t>）</a:t>
            </a:r>
            <a:endParaRPr lang="en-US" altLang="zh-CN" sz="1800" dirty="0" smtClean="0"/>
          </a:p>
          <a:p>
            <a:pPr marL="800100" lvl="1" indent="-342900">
              <a:lnSpc>
                <a:spcPct val="125000"/>
              </a:lnSpc>
              <a:buFont typeface="Arial" panose="020B0604020202020204" pitchFamily="34" charset="0"/>
              <a:buChar char="•"/>
            </a:pPr>
            <a:r>
              <a:rPr lang="zh-CN" altLang="en-US" sz="1800" dirty="0" smtClean="0"/>
              <a:t>高速运放</a:t>
            </a:r>
            <a:endParaRPr lang="en-US" altLang="zh-CN" sz="1800" dirty="0" smtClean="0"/>
          </a:p>
          <a:p>
            <a:pPr marL="800100" lvl="1" indent="-342900">
              <a:lnSpc>
                <a:spcPct val="125000"/>
              </a:lnSpc>
              <a:buFont typeface="Arial" panose="020B0604020202020204" pitchFamily="34" charset="0"/>
              <a:buChar char="•"/>
            </a:pPr>
            <a:r>
              <a:rPr lang="zh-CN" altLang="en-US" sz="1800" dirty="0" smtClean="0"/>
              <a:t>高频晶体管</a:t>
            </a:r>
            <a:endParaRPr lang="en-US" altLang="zh-CN" sz="1800" dirty="0" smtClean="0"/>
          </a:p>
          <a:p>
            <a:pPr lvl="1">
              <a:lnSpc>
                <a:spcPct val="150000"/>
              </a:lnSpc>
            </a:pPr>
            <a:endParaRPr lang="en-US" altLang="zh-CN" sz="1800" dirty="0" smtClean="0"/>
          </a:p>
          <a:p>
            <a:pPr marL="342900" indent="-342900">
              <a:lnSpc>
                <a:spcPct val="150000"/>
              </a:lnSpc>
              <a:buFont typeface="Wingdings" panose="05000000000000000000" pitchFamily="2" charset="2"/>
              <a:buChar char="Ø"/>
            </a:pPr>
            <a:r>
              <a:rPr lang="zh-CN" altLang="zh-CN" sz="1800" b="1" dirty="0" smtClean="0"/>
              <a:t>单</a:t>
            </a:r>
            <a:r>
              <a:rPr lang="zh-CN" altLang="zh-CN" sz="1800" b="1" dirty="0"/>
              <a:t>片微波集成电路（</a:t>
            </a:r>
            <a:r>
              <a:rPr lang="en-US" altLang="zh-CN" sz="1800" dirty="0"/>
              <a:t>MMIC</a:t>
            </a:r>
            <a:r>
              <a:rPr lang="zh-CN" altLang="zh-CN" sz="1800" b="1" dirty="0"/>
              <a:t>）</a:t>
            </a:r>
            <a:endParaRPr lang="zh-CN" altLang="zh-CN" sz="1800" dirty="0"/>
          </a:p>
          <a:p>
            <a:pPr marL="342900" indent="-342900">
              <a:lnSpc>
                <a:spcPct val="150000"/>
              </a:lnSpc>
              <a:buFont typeface="Arial" panose="020B0604020202020204" pitchFamily="34" charset="0"/>
              <a:buChar char="•"/>
            </a:pPr>
            <a:r>
              <a:rPr lang="en-US" altLang="zh-CN" sz="1800" dirty="0"/>
              <a:t>MMIC</a:t>
            </a:r>
            <a:r>
              <a:rPr lang="zh-CN" altLang="zh-CN" sz="1800" dirty="0"/>
              <a:t>的种类繁多，包括多种无线电通信功能模块电路，如低噪声放大、功率放大、混频、调制解调、压控振荡等，有些集成度高的甚至包括整个收发系统</a:t>
            </a:r>
            <a:endParaRPr lang="en-US" altLang="zh-CN" sz="1800" dirty="0"/>
          </a:p>
          <a:p>
            <a:pPr marL="342900" indent="-342900">
              <a:lnSpc>
                <a:spcPct val="150000"/>
              </a:lnSpc>
              <a:buFont typeface="Arial" panose="020B0604020202020204" pitchFamily="34" charset="0"/>
              <a:buChar char="•"/>
            </a:pPr>
            <a:r>
              <a:rPr lang="zh-CN" altLang="zh-CN" sz="1800" dirty="0"/>
              <a:t>由于</a:t>
            </a:r>
            <a:r>
              <a:rPr lang="en-US" altLang="zh-CN" sz="1800" dirty="0"/>
              <a:t>MMIC</a:t>
            </a:r>
            <a:r>
              <a:rPr lang="zh-CN" altLang="zh-CN" sz="1800" dirty="0"/>
              <a:t>电路功能</a:t>
            </a:r>
            <a:r>
              <a:rPr lang="zh-CN" altLang="en-US" sz="1800" dirty="0"/>
              <a:t>单一、</a:t>
            </a:r>
            <a:r>
              <a:rPr lang="zh-CN" altLang="zh-CN" sz="1800" dirty="0"/>
              <a:t>要求明确，所以其设计针对实际需要进行</a:t>
            </a:r>
            <a:r>
              <a:rPr lang="zh-CN" altLang="en-US" sz="1800" dirty="0"/>
              <a:t>。</a:t>
            </a:r>
            <a:r>
              <a:rPr lang="zh-CN" altLang="zh-CN" sz="1800" dirty="0"/>
              <a:t>具有电路损耗小、噪声低、频带宽、动态范围大等优点</a:t>
            </a:r>
          </a:p>
          <a:p>
            <a:pPr marL="342900" indent="-342900">
              <a:lnSpc>
                <a:spcPct val="150000"/>
              </a:lnSpc>
              <a:buFont typeface="Arial" panose="020B0604020202020204" pitchFamily="34" charset="0"/>
              <a:buChar char="•"/>
            </a:pPr>
            <a:r>
              <a:rPr lang="zh-CN" altLang="zh-CN" sz="1800" dirty="0"/>
              <a:t>通常用于放大的</a:t>
            </a:r>
            <a:r>
              <a:rPr lang="en-US" altLang="zh-CN" sz="1800" dirty="0"/>
              <a:t>MMIC</a:t>
            </a:r>
            <a:r>
              <a:rPr lang="zh-CN" altLang="zh-CN" sz="1800" dirty="0"/>
              <a:t>具有固定的最大增益（有些</a:t>
            </a:r>
            <a:r>
              <a:rPr lang="en-US" altLang="zh-CN" sz="1800" dirty="0"/>
              <a:t>MMIC</a:t>
            </a:r>
            <a:r>
              <a:rPr lang="zh-CN" altLang="zh-CN" sz="1800" dirty="0"/>
              <a:t>允许通过外接元件降低增益），大部分</a:t>
            </a:r>
            <a:r>
              <a:rPr lang="en-US" altLang="zh-CN" sz="1800" dirty="0"/>
              <a:t>MMIC</a:t>
            </a:r>
            <a:r>
              <a:rPr lang="zh-CN" altLang="zh-CN" sz="1800" dirty="0"/>
              <a:t>放大器输入阻抗和输出阻抗都被设计得与</a:t>
            </a:r>
            <a:r>
              <a:rPr lang="en-US" altLang="zh-CN" sz="1800" dirty="0"/>
              <a:t>50</a:t>
            </a:r>
            <a:r>
              <a:rPr lang="en-US" altLang="zh-CN" sz="1800" dirty="0">
                <a:sym typeface="Symbol" panose="05050102010706020507" pitchFamily="18" charset="2"/>
              </a:rPr>
              <a:t></a:t>
            </a:r>
            <a:r>
              <a:rPr lang="zh-CN" altLang="zh-CN" sz="1800" dirty="0"/>
              <a:t>匹配</a:t>
            </a:r>
            <a:endParaRPr lang="zh-CN" altLang="en-US" sz="1800" dirty="0"/>
          </a:p>
        </p:txBody>
      </p:sp>
    </p:spTree>
    <p:extLst>
      <p:ext uri="{BB962C8B-B14F-4D97-AF65-F5344CB8AC3E}">
        <p14:creationId xmlns:p14="http://schemas.microsoft.com/office/powerpoint/2010/main" val="26530222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a:t>
            </a:fld>
            <a:endParaRPr lang="en-US" altLang="zh-CN"/>
          </a:p>
        </p:txBody>
      </p:sp>
      <p:sp>
        <p:nvSpPr>
          <p:cNvPr id="2" name="文本框 1"/>
          <p:cNvSpPr txBox="1"/>
          <p:nvPr/>
        </p:nvSpPr>
        <p:spPr>
          <a:xfrm>
            <a:off x="500743" y="482804"/>
            <a:ext cx="11190514" cy="2585323"/>
          </a:xfrm>
          <a:prstGeom prst="rect">
            <a:avLst/>
          </a:prstGeom>
          <a:noFill/>
        </p:spPr>
        <p:txBody>
          <a:bodyPr wrap="square" rtlCol="0">
            <a:spAutoFit/>
          </a:bodyPr>
          <a:lstStyle/>
          <a:p>
            <a:pPr>
              <a:lnSpc>
                <a:spcPct val="150000"/>
              </a:lnSpc>
            </a:pPr>
            <a:r>
              <a:rPr lang="en-US" altLang="zh-CN" sz="1800" dirty="0" smtClean="0"/>
              <a:t>MMIC</a:t>
            </a:r>
            <a:r>
              <a:rPr lang="zh-CN" altLang="en-US" sz="1800" dirty="0" smtClean="0"/>
              <a:t>小信号放大器</a:t>
            </a:r>
            <a:r>
              <a:rPr lang="zh-CN" altLang="en-US" sz="1800" dirty="0"/>
              <a:t>举例</a:t>
            </a:r>
            <a:endParaRPr lang="en-US" altLang="zh-CN" sz="1800" dirty="0"/>
          </a:p>
          <a:p>
            <a:pPr marL="800100" lvl="1" indent="-342900">
              <a:lnSpc>
                <a:spcPct val="150000"/>
              </a:lnSpc>
              <a:buFont typeface="Arial" panose="020B0604020202020204" pitchFamily="34" charset="0"/>
              <a:buChar char="•"/>
            </a:pPr>
            <a:r>
              <a:rPr lang="en-US" altLang="zh-CN" sz="1800" dirty="0"/>
              <a:t>AD5530</a:t>
            </a:r>
            <a:r>
              <a:rPr lang="zh-CN" altLang="en-US" sz="1800" dirty="0"/>
              <a:t>，</a:t>
            </a:r>
            <a:r>
              <a:rPr lang="en-US" altLang="zh-CN" sz="1800" dirty="0"/>
              <a:t>DC~1GHz</a:t>
            </a:r>
            <a:r>
              <a:rPr lang="zh-CN" altLang="en-US" sz="1800" dirty="0"/>
              <a:t>，增益</a:t>
            </a:r>
            <a:r>
              <a:rPr lang="en-US" altLang="zh-CN" sz="1800" dirty="0"/>
              <a:t>16.5dB</a:t>
            </a:r>
            <a:r>
              <a:rPr lang="zh-CN" altLang="en-US" sz="1800" dirty="0"/>
              <a:t>，噪声指数</a:t>
            </a:r>
            <a:r>
              <a:rPr lang="en-US" altLang="zh-CN" sz="1800" dirty="0"/>
              <a:t>3dB</a:t>
            </a:r>
            <a:r>
              <a:rPr lang="zh-CN" altLang="en-US" sz="1800" dirty="0" smtClean="0"/>
              <a:t>，</a:t>
            </a:r>
            <a:r>
              <a:rPr lang="en-US" altLang="zh-CN" sz="1800" dirty="0" smtClean="0"/>
              <a:t>1dB</a:t>
            </a:r>
            <a:r>
              <a:rPr lang="zh-CN" altLang="en-US" sz="1800" dirty="0"/>
              <a:t>压缩</a:t>
            </a:r>
            <a:r>
              <a:rPr lang="zh-CN" altLang="en-US" sz="1800" dirty="0" smtClean="0"/>
              <a:t>点</a:t>
            </a:r>
            <a:r>
              <a:rPr lang="en-US" altLang="zh-CN" sz="1800" dirty="0" smtClean="0"/>
              <a:t>22dBm</a:t>
            </a:r>
            <a:r>
              <a:rPr lang="zh-CN" altLang="en-US" sz="1800" dirty="0"/>
              <a:t>，</a:t>
            </a:r>
            <a:r>
              <a:rPr lang="zh-CN" altLang="en-US" sz="1800" dirty="0" smtClean="0"/>
              <a:t>电源电压</a:t>
            </a:r>
            <a:r>
              <a:rPr lang="en-US" altLang="zh-CN" sz="1800" dirty="0"/>
              <a:t>3~5V</a:t>
            </a:r>
          </a:p>
          <a:p>
            <a:pPr marL="800100" lvl="1" indent="-342900">
              <a:lnSpc>
                <a:spcPct val="150000"/>
              </a:lnSpc>
              <a:buFont typeface="Arial" panose="020B0604020202020204" pitchFamily="34" charset="0"/>
              <a:buChar char="•"/>
            </a:pPr>
            <a:r>
              <a:rPr lang="en-US" altLang="zh-CN" sz="1800" dirty="0"/>
              <a:t>HMC480</a:t>
            </a:r>
            <a:r>
              <a:rPr lang="zh-CN" altLang="en-US" sz="1800" dirty="0"/>
              <a:t>，</a:t>
            </a:r>
            <a:r>
              <a:rPr lang="en-US" altLang="zh-CN" sz="1800" dirty="0"/>
              <a:t>DC~5GHz</a:t>
            </a:r>
            <a:r>
              <a:rPr lang="zh-CN" altLang="en-US" sz="1800" dirty="0"/>
              <a:t>，增益</a:t>
            </a:r>
            <a:r>
              <a:rPr lang="en-US" altLang="zh-CN" sz="1800" dirty="0"/>
              <a:t>19dB@1GHz</a:t>
            </a:r>
            <a:r>
              <a:rPr lang="zh-CN" altLang="en-US" sz="1800" dirty="0"/>
              <a:t>、</a:t>
            </a:r>
            <a:r>
              <a:rPr lang="en-US" altLang="zh-CN" sz="1800" dirty="0"/>
              <a:t>11dB@5GHz</a:t>
            </a:r>
            <a:r>
              <a:rPr lang="zh-CN" altLang="en-US" sz="1800" dirty="0"/>
              <a:t>，噪声指数</a:t>
            </a:r>
            <a:r>
              <a:rPr lang="en-US" altLang="zh-CN" sz="1800" dirty="0"/>
              <a:t>3.25dB@0~4GHz</a:t>
            </a:r>
            <a:r>
              <a:rPr lang="zh-CN" altLang="en-US" sz="1800" dirty="0"/>
              <a:t>，</a:t>
            </a:r>
            <a:r>
              <a:rPr lang="en-US" altLang="zh-CN" sz="1800" dirty="0"/>
              <a:t>1dB</a:t>
            </a:r>
            <a:r>
              <a:rPr lang="zh-CN" altLang="en-US" sz="1800" dirty="0"/>
              <a:t>压缩点</a:t>
            </a:r>
            <a:r>
              <a:rPr lang="en-US" altLang="zh-CN" sz="1800" dirty="0"/>
              <a:t>19dBm</a:t>
            </a:r>
            <a:r>
              <a:rPr lang="zh-CN" altLang="en-US" sz="1800" dirty="0"/>
              <a:t>，电源电压</a:t>
            </a:r>
            <a:r>
              <a:rPr lang="en-US" altLang="zh-CN" sz="1800" dirty="0"/>
              <a:t>6~8V</a:t>
            </a:r>
          </a:p>
          <a:p>
            <a:pPr marL="800100" lvl="1" indent="-342900">
              <a:lnSpc>
                <a:spcPct val="150000"/>
              </a:lnSpc>
              <a:buFont typeface="Arial" panose="020B0604020202020204" pitchFamily="34" charset="0"/>
              <a:buChar char="•"/>
            </a:pPr>
            <a:r>
              <a:rPr lang="en-US" altLang="zh-CN" sz="1800" dirty="0"/>
              <a:t>HMC580</a:t>
            </a:r>
            <a:r>
              <a:rPr lang="zh-CN" altLang="en-US" sz="1800" dirty="0"/>
              <a:t>，</a:t>
            </a:r>
            <a:r>
              <a:rPr lang="en-US" altLang="zh-CN" sz="1800" dirty="0"/>
              <a:t>DC~1GHz</a:t>
            </a:r>
            <a:r>
              <a:rPr lang="zh-CN" altLang="en-US" sz="1800" dirty="0"/>
              <a:t>，增益</a:t>
            </a:r>
            <a:r>
              <a:rPr lang="en-US" altLang="zh-CN" sz="1800" dirty="0"/>
              <a:t>22dB@0.25GHz</a:t>
            </a:r>
            <a:r>
              <a:rPr lang="zh-CN" altLang="en-US" sz="1800" dirty="0"/>
              <a:t>、</a:t>
            </a:r>
            <a:r>
              <a:rPr lang="en-US" altLang="zh-CN" sz="1800" dirty="0"/>
              <a:t>17dB@1GHz</a:t>
            </a:r>
            <a:r>
              <a:rPr lang="zh-CN" altLang="en-US" sz="1800" dirty="0"/>
              <a:t>，噪声指数</a:t>
            </a:r>
            <a:r>
              <a:rPr lang="en-US" altLang="zh-CN" sz="1800" dirty="0"/>
              <a:t>2.8dB@1GHz</a:t>
            </a:r>
            <a:r>
              <a:rPr lang="zh-CN" altLang="en-US" sz="1800" dirty="0"/>
              <a:t>，</a:t>
            </a:r>
            <a:r>
              <a:rPr lang="en-US" altLang="zh-CN" sz="1800" dirty="0"/>
              <a:t>1dB</a:t>
            </a:r>
            <a:r>
              <a:rPr lang="zh-CN" altLang="en-US" sz="1800" dirty="0"/>
              <a:t>压缩点</a:t>
            </a:r>
            <a:r>
              <a:rPr lang="en-US" altLang="zh-CN" sz="1800" dirty="0"/>
              <a:t>19dBm</a:t>
            </a:r>
            <a:r>
              <a:rPr lang="zh-CN" altLang="en-US" sz="1800" dirty="0"/>
              <a:t>，电源电压</a:t>
            </a:r>
            <a:r>
              <a:rPr lang="en-US" altLang="zh-CN" sz="1800" dirty="0"/>
              <a:t>5V</a:t>
            </a:r>
          </a:p>
        </p:txBody>
      </p:sp>
      <p:pic>
        <p:nvPicPr>
          <p:cNvPr id="6" name="图片 5"/>
          <p:cNvPicPr/>
          <p:nvPr/>
        </p:nvPicPr>
        <p:blipFill>
          <a:blip r:embed="rId3"/>
          <a:stretch>
            <a:fillRect/>
          </a:stretch>
        </p:blipFill>
        <p:spPr>
          <a:xfrm>
            <a:off x="5896234" y="3487326"/>
            <a:ext cx="5413172" cy="2667968"/>
          </a:xfrm>
          <a:prstGeom prst="rect">
            <a:avLst/>
          </a:prstGeom>
        </p:spPr>
      </p:pic>
      <p:sp>
        <p:nvSpPr>
          <p:cNvPr id="4" name="文本框 3"/>
          <p:cNvSpPr txBox="1"/>
          <p:nvPr/>
        </p:nvSpPr>
        <p:spPr>
          <a:xfrm>
            <a:off x="4984090" y="6013094"/>
            <a:ext cx="3618730" cy="369332"/>
          </a:xfrm>
          <a:prstGeom prst="rect">
            <a:avLst/>
          </a:prstGeom>
          <a:noFill/>
        </p:spPr>
        <p:txBody>
          <a:bodyPr wrap="square" rtlCol="0">
            <a:spAutoFit/>
          </a:bodyPr>
          <a:lstStyle/>
          <a:p>
            <a:r>
              <a:rPr lang="zh-CN" altLang="en-US" sz="1800" dirty="0"/>
              <a:t>基本应用电路</a:t>
            </a:r>
          </a:p>
        </p:txBody>
      </p:sp>
      <p:pic>
        <p:nvPicPr>
          <p:cNvPr id="9" name="图片 8"/>
          <p:cNvPicPr>
            <a:picLocks noChangeAspect="1"/>
          </p:cNvPicPr>
          <p:nvPr/>
        </p:nvPicPr>
        <p:blipFill>
          <a:blip r:embed="rId4"/>
          <a:stretch>
            <a:fillRect/>
          </a:stretch>
        </p:blipFill>
        <p:spPr>
          <a:xfrm>
            <a:off x="1249182" y="3742452"/>
            <a:ext cx="4015721" cy="1807383"/>
          </a:xfrm>
          <a:prstGeom prst="rect">
            <a:avLst/>
          </a:prstGeom>
        </p:spPr>
      </p:pic>
    </p:spTree>
    <p:extLst>
      <p:ext uri="{BB962C8B-B14F-4D97-AF65-F5344CB8AC3E}">
        <p14:creationId xmlns:p14="http://schemas.microsoft.com/office/powerpoint/2010/main" val="1903849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12" name="文本框 11"/>
          <p:cNvSpPr txBox="1"/>
          <p:nvPr/>
        </p:nvSpPr>
        <p:spPr>
          <a:xfrm>
            <a:off x="464457" y="392076"/>
            <a:ext cx="11197772" cy="2631490"/>
          </a:xfrm>
          <a:prstGeom prst="rect">
            <a:avLst/>
          </a:prstGeom>
          <a:noFill/>
        </p:spPr>
        <p:txBody>
          <a:bodyPr wrap="square" rtlCol="0">
            <a:spAutoFit/>
          </a:bodyPr>
          <a:lstStyle/>
          <a:p>
            <a:pPr>
              <a:lnSpc>
                <a:spcPct val="150000"/>
              </a:lnSpc>
            </a:pPr>
            <a:r>
              <a:rPr lang="en-US" altLang="zh-CN" sz="1800" dirty="0"/>
              <a:t>MMIC</a:t>
            </a:r>
            <a:r>
              <a:rPr lang="zh-CN" altLang="en-US" sz="1800" dirty="0"/>
              <a:t>放大器的性能</a:t>
            </a:r>
            <a:r>
              <a:rPr lang="zh-CN" altLang="en-US" sz="1800" dirty="0" smtClean="0"/>
              <a:t>参数</a:t>
            </a:r>
            <a:endParaRPr lang="en-US" altLang="zh-CN" sz="1800" dirty="0"/>
          </a:p>
          <a:p>
            <a:pPr marL="342900" indent="-342900">
              <a:lnSpc>
                <a:spcPct val="150000"/>
              </a:lnSpc>
              <a:buFont typeface="Arial" panose="020B0604020202020204" pitchFamily="34" charset="0"/>
              <a:buChar char="•"/>
            </a:pPr>
            <a:r>
              <a:rPr lang="zh-CN" altLang="en-US" sz="1800" dirty="0">
                <a:solidFill>
                  <a:srgbClr val="FF0000"/>
                </a:solidFill>
              </a:rPr>
              <a:t>增益</a:t>
            </a:r>
            <a:r>
              <a:rPr lang="zh-CN" altLang="en-US" sz="1800" dirty="0"/>
              <a:t>：输出功率与输入功率之比（在输入阻抗与负载阻抗相等的情况下，电压增益与功率增益的</a:t>
            </a:r>
            <a:r>
              <a:rPr lang="en-US" altLang="zh-CN" sz="1800" dirty="0"/>
              <a:t>dB</a:t>
            </a:r>
            <a:r>
              <a:rPr lang="zh-CN" altLang="en-US" sz="1800" dirty="0"/>
              <a:t>值相同）</a:t>
            </a:r>
            <a:endParaRPr lang="en-US" altLang="zh-CN" sz="1800" dirty="0"/>
          </a:p>
          <a:p>
            <a:pPr marL="285750" indent="-285750">
              <a:lnSpc>
                <a:spcPct val="150000"/>
              </a:lnSpc>
              <a:buFont typeface="Arial" panose="020B0604020202020204" pitchFamily="34" charset="0"/>
              <a:buChar char="•"/>
            </a:pPr>
            <a:r>
              <a:rPr lang="en-US" altLang="zh-CN" sz="1800" kern="100" dirty="0">
                <a:solidFill>
                  <a:srgbClr val="FF0000"/>
                </a:solidFill>
                <a:latin typeface="Arial" panose="020B0604020202020204" pitchFamily="34" charset="0"/>
              </a:rPr>
              <a:t>1dB</a:t>
            </a:r>
            <a:r>
              <a:rPr lang="zh-CN" altLang="zh-CN" sz="1800" kern="100" dirty="0">
                <a:solidFill>
                  <a:srgbClr val="FF0000"/>
                </a:solidFill>
                <a:latin typeface="Arial" panose="020B0604020202020204" pitchFamily="34" charset="0"/>
                <a:cs typeface="Times New Roman" panose="02020603050405020304" pitchFamily="18" charset="0"/>
              </a:rPr>
              <a:t>压缩点</a:t>
            </a:r>
            <a:r>
              <a:rPr lang="zh-CN" altLang="en-US" sz="1800" kern="100" dirty="0">
                <a:latin typeface="Arial" panose="020B0604020202020204" pitchFamily="34" charset="0"/>
              </a:rPr>
              <a:t>：</a:t>
            </a:r>
            <a:r>
              <a:rPr lang="zh-CN" altLang="zh-CN" sz="1800" kern="100" dirty="0">
                <a:latin typeface="Arial" panose="020B0604020202020204" pitchFamily="34" charset="0"/>
                <a:cs typeface="Times New Roman" panose="02020603050405020304" pitchFamily="18" charset="0"/>
              </a:rPr>
              <a:t>增益下降</a:t>
            </a:r>
            <a:r>
              <a:rPr lang="en-US" altLang="zh-CN" sz="1800" kern="100" dirty="0">
                <a:latin typeface="Arial" panose="020B0604020202020204" pitchFamily="34" charset="0"/>
              </a:rPr>
              <a:t>1dB</a:t>
            </a:r>
            <a:r>
              <a:rPr lang="zh-CN" altLang="en-US" sz="1800" kern="100" dirty="0">
                <a:latin typeface="Arial" panose="020B0604020202020204" pitchFamily="34" charset="0"/>
              </a:rPr>
              <a:t>时对应的输出功率，此参数与放大器的最大允许输出功率相关</a:t>
            </a:r>
            <a:endParaRPr lang="en-US" altLang="zh-CN" sz="1800" kern="100" dirty="0">
              <a:latin typeface="Arial" panose="020B060402020202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dirty="0">
                <a:solidFill>
                  <a:srgbClr val="FF0000"/>
                </a:solidFill>
              </a:rPr>
              <a:t>输出</a:t>
            </a:r>
            <a:r>
              <a:rPr lang="zh-CN" altLang="zh-CN" sz="1800" dirty="0">
                <a:solidFill>
                  <a:srgbClr val="FF0000"/>
                </a:solidFill>
              </a:rPr>
              <a:t>三阶截点</a:t>
            </a:r>
            <a:r>
              <a:rPr lang="zh-CN" altLang="en-US" sz="1800" dirty="0"/>
              <a:t>：</a:t>
            </a:r>
            <a:r>
              <a:rPr lang="zh-CN" altLang="zh-CN" sz="1800" dirty="0"/>
              <a:t>输出信号中三阶</a:t>
            </a:r>
            <a:r>
              <a:rPr lang="zh-CN" altLang="en-US" sz="1800" dirty="0"/>
              <a:t>互调失真</a:t>
            </a:r>
            <a:r>
              <a:rPr lang="zh-CN" altLang="zh-CN" sz="1800" dirty="0"/>
              <a:t>成分与基频成分相等时对应的</a:t>
            </a:r>
            <a:r>
              <a:rPr lang="zh-CN" altLang="en-US" sz="1800" dirty="0"/>
              <a:t>输出</a:t>
            </a:r>
            <a:r>
              <a:rPr lang="zh-CN" altLang="zh-CN" sz="1800" dirty="0"/>
              <a:t>功率</a:t>
            </a:r>
            <a:r>
              <a:rPr lang="zh-CN" altLang="en-US" sz="1800" dirty="0"/>
              <a:t>（通常以输出功率为某个参考值条件下的测量结果进行外推得到此参数值</a:t>
            </a:r>
            <a:r>
              <a:rPr lang="zh-CN" altLang="en-US" sz="1800" dirty="0" smtClean="0"/>
              <a:t>），此参数与放大器的输出失真有关</a:t>
            </a:r>
            <a:endParaRPr lang="en-US" altLang="zh-CN" sz="1800" dirty="0"/>
          </a:p>
          <a:p>
            <a:pPr marL="285750" indent="-285750">
              <a:lnSpc>
                <a:spcPct val="150000"/>
              </a:lnSpc>
              <a:buFont typeface="Arial" panose="020B0604020202020204" pitchFamily="34" charset="0"/>
              <a:buChar char="•"/>
            </a:pPr>
            <a:r>
              <a:rPr lang="zh-CN" altLang="en-US" sz="1800" dirty="0">
                <a:solidFill>
                  <a:srgbClr val="FF0000"/>
                </a:solidFill>
              </a:rPr>
              <a:t>噪声指数</a:t>
            </a:r>
            <a:r>
              <a:rPr lang="zh-CN" altLang="en-US" sz="1800" dirty="0"/>
              <a:t>：</a:t>
            </a:r>
            <a:r>
              <a:rPr lang="zh-CN" altLang="zh-CN" sz="1800" dirty="0"/>
              <a:t>输入端的信噪比</a:t>
            </a:r>
            <a:r>
              <a:rPr lang="zh-CN" altLang="en-US" sz="1800" dirty="0"/>
              <a:t>与</a:t>
            </a:r>
            <a:r>
              <a:rPr lang="zh-CN" altLang="zh-CN" sz="1800" dirty="0"/>
              <a:t>输出端信噪比</a:t>
            </a:r>
            <a:r>
              <a:rPr lang="zh-CN" altLang="en-US" sz="1800" dirty="0"/>
              <a:t>的</a:t>
            </a:r>
            <a:r>
              <a:rPr lang="zh-CN" altLang="en-US" sz="1800" dirty="0" smtClean="0"/>
              <a:t>比值</a:t>
            </a:r>
            <a:endParaRPr lang="en-US" altLang="zh-CN" sz="1800" dirty="0"/>
          </a:p>
        </p:txBody>
      </p:sp>
      <p:pic>
        <p:nvPicPr>
          <p:cNvPr id="6" name="图片 5"/>
          <p:cNvPicPr>
            <a:picLocks noChangeAspect="1"/>
          </p:cNvPicPr>
          <p:nvPr/>
        </p:nvPicPr>
        <p:blipFill>
          <a:blip r:embed="rId2"/>
          <a:stretch>
            <a:fillRect/>
          </a:stretch>
        </p:blipFill>
        <p:spPr>
          <a:xfrm>
            <a:off x="6817616" y="2816131"/>
            <a:ext cx="4268746" cy="3360466"/>
          </a:xfrm>
          <a:prstGeom prst="rect">
            <a:avLst/>
          </a:prstGeom>
        </p:spPr>
      </p:pic>
      <p:sp>
        <p:nvSpPr>
          <p:cNvPr id="7" name="文本框 6"/>
          <p:cNvSpPr txBox="1"/>
          <p:nvPr/>
        </p:nvSpPr>
        <p:spPr>
          <a:xfrm>
            <a:off x="743858" y="3755471"/>
            <a:ext cx="5918199" cy="1754326"/>
          </a:xfrm>
          <a:prstGeom prst="rect">
            <a:avLst/>
          </a:prstGeom>
          <a:noFill/>
        </p:spPr>
        <p:txBody>
          <a:bodyPr wrap="square" rtlCol="0">
            <a:spAutoFit/>
          </a:bodyPr>
          <a:lstStyle/>
          <a:p>
            <a:pPr>
              <a:lnSpc>
                <a:spcPct val="150000"/>
              </a:lnSpc>
            </a:pPr>
            <a:r>
              <a:rPr lang="zh-CN" altLang="en-US" sz="1800" dirty="0"/>
              <a:t>例：</a:t>
            </a:r>
            <a:r>
              <a:rPr lang="en-US" altLang="zh-CN" sz="1800" dirty="0"/>
              <a:t>ADL5530</a:t>
            </a:r>
            <a:r>
              <a:rPr lang="zh-CN" altLang="en-US" sz="1800" dirty="0"/>
              <a:t>的增益</a:t>
            </a:r>
            <a:r>
              <a:rPr lang="en-US" altLang="zh-CN" sz="1800" dirty="0"/>
              <a:t>(Gain)</a:t>
            </a:r>
            <a:r>
              <a:rPr lang="zh-CN" altLang="en-US" sz="1800" dirty="0"/>
              <a:t>、</a:t>
            </a:r>
            <a:r>
              <a:rPr lang="en-US" altLang="zh-CN" sz="1800" dirty="0"/>
              <a:t>1dB</a:t>
            </a:r>
            <a:r>
              <a:rPr lang="zh-CN" altLang="en-US" sz="1800" dirty="0"/>
              <a:t>压缩点</a:t>
            </a:r>
            <a:r>
              <a:rPr lang="en-US" altLang="zh-CN" sz="1800" dirty="0"/>
              <a:t>(P1dB)</a:t>
            </a:r>
            <a:r>
              <a:rPr lang="zh-CN" altLang="en-US" sz="1800" dirty="0"/>
              <a:t>、输出三阶截点</a:t>
            </a:r>
            <a:r>
              <a:rPr lang="en-US" altLang="zh-CN" sz="1800" dirty="0"/>
              <a:t>(OIP3)</a:t>
            </a:r>
            <a:r>
              <a:rPr lang="zh-CN" altLang="en-US" sz="1800" dirty="0"/>
              <a:t>、噪声指数</a:t>
            </a:r>
            <a:r>
              <a:rPr lang="en-US" altLang="zh-CN" sz="1800" dirty="0"/>
              <a:t>(NF)</a:t>
            </a:r>
            <a:r>
              <a:rPr lang="zh-CN" altLang="en-US" sz="1800" dirty="0"/>
              <a:t>等参数对于频率的</a:t>
            </a:r>
            <a:r>
              <a:rPr lang="zh-CN" altLang="en-US" sz="1800" dirty="0" smtClean="0"/>
              <a:t>曲线图（图</a:t>
            </a:r>
            <a:r>
              <a:rPr lang="zh-CN" altLang="en-US" sz="1800" dirty="0"/>
              <a:t>中</a:t>
            </a:r>
            <a:r>
              <a:rPr lang="en-US" altLang="zh-CN" sz="1800" dirty="0"/>
              <a:t>OIP3</a:t>
            </a:r>
            <a:r>
              <a:rPr lang="zh-CN" altLang="en-US" sz="1800" dirty="0"/>
              <a:t>后面括号中的</a:t>
            </a:r>
            <a:r>
              <a:rPr lang="en-US" altLang="zh-CN" sz="1800" dirty="0"/>
              <a:t>10dBm</a:t>
            </a:r>
            <a:r>
              <a:rPr lang="zh-CN" altLang="en-US" sz="1800" dirty="0"/>
              <a:t>表示该参数以输出功率为</a:t>
            </a:r>
            <a:r>
              <a:rPr lang="en-US" altLang="zh-CN" sz="1800" dirty="0"/>
              <a:t>10dBm</a:t>
            </a:r>
            <a:r>
              <a:rPr lang="zh-CN" altLang="en-US" sz="1800" dirty="0"/>
              <a:t>条件下的测量结果进行外推</a:t>
            </a:r>
            <a:r>
              <a:rPr lang="zh-CN" altLang="en-US" sz="1800" dirty="0" smtClean="0"/>
              <a:t>得到）</a:t>
            </a:r>
            <a:endParaRPr lang="zh-CN" altLang="en-US" sz="1800" dirty="0"/>
          </a:p>
        </p:txBody>
      </p:sp>
    </p:spTree>
    <p:extLst>
      <p:ext uri="{BB962C8B-B14F-4D97-AF65-F5344CB8AC3E}">
        <p14:creationId xmlns:p14="http://schemas.microsoft.com/office/powerpoint/2010/main" val="1530848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346230" y="402800"/>
            <a:ext cx="11540970" cy="46628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smtClean="0"/>
              <a:t>高速运放</a:t>
            </a:r>
            <a:endParaRPr lang="en-US" altLang="zh-CN" dirty="0" smtClean="0"/>
          </a:p>
          <a:p>
            <a:pPr marL="342900" indent="-342900">
              <a:lnSpc>
                <a:spcPct val="150000"/>
              </a:lnSpc>
              <a:buFont typeface="Arial" panose="020B0604020202020204" pitchFamily="34" charset="0"/>
              <a:buChar char="•"/>
            </a:pPr>
            <a:r>
              <a:rPr lang="zh-CN" altLang="en-US" sz="1800" dirty="0" smtClean="0"/>
              <a:t>实验室</a:t>
            </a:r>
            <a:r>
              <a:rPr lang="zh-CN" altLang="en-US" sz="1800" dirty="0"/>
              <a:t>常用的高速运放举例</a:t>
            </a:r>
            <a:endParaRPr lang="en-US" altLang="zh-CN" sz="1800" dirty="0"/>
          </a:p>
          <a:p>
            <a:pPr lvl="1">
              <a:lnSpc>
                <a:spcPct val="150000"/>
              </a:lnSpc>
            </a:pPr>
            <a:r>
              <a:rPr lang="zh-CN" altLang="en-US" sz="1800" dirty="0"/>
              <a:t>电压反馈</a:t>
            </a:r>
            <a:r>
              <a:rPr lang="zh-CN" altLang="en-US" sz="1800" dirty="0" smtClean="0"/>
              <a:t>型</a:t>
            </a:r>
            <a:endParaRPr lang="en-US" altLang="zh-CN" sz="1800" dirty="0"/>
          </a:p>
          <a:p>
            <a:pPr lvl="1">
              <a:lnSpc>
                <a:spcPct val="150000"/>
              </a:lnSpc>
            </a:pPr>
            <a:r>
              <a:rPr lang="en-US" altLang="zh-CN" sz="1800" dirty="0" smtClean="0"/>
              <a:t>OPA690</a:t>
            </a:r>
            <a:r>
              <a:rPr lang="zh-CN" altLang="en-US" sz="1800" dirty="0" smtClean="0"/>
              <a:t>，</a:t>
            </a:r>
            <a:r>
              <a:rPr lang="en-US" altLang="zh-CN" sz="1800" dirty="0"/>
              <a:t>GBP=500MHz</a:t>
            </a:r>
            <a:r>
              <a:rPr lang="zh-CN" altLang="en-US" sz="1800" dirty="0"/>
              <a:t>，</a:t>
            </a:r>
            <a:r>
              <a:rPr lang="en-US" altLang="zh-CN" sz="1800" dirty="0"/>
              <a:t>SR=1800V/us</a:t>
            </a:r>
            <a:r>
              <a:rPr lang="zh-CN" altLang="en-US" sz="1800" dirty="0"/>
              <a:t>，电源</a:t>
            </a:r>
            <a:r>
              <a:rPr lang="en-US" altLang="zh-CN" sz="1800" dirty="0"/>
              <a:t>±</a:t>
            </a:r>
            <a:r>
              <a:rPr lang="en-US" altLang="zh-CN" sz="1800" dirty="0" smtClean="0"/>
              <a:t>5V</a:t>
            </a:r>
          </a:p>
          <a:p>
            <a:pPr lvl="1">
              <a:lnSpc>
                <a:spcPct val="150000"/>
              </a:lnSpc>
            </a:pPr>
            <a:r>
              <a:rPr lang="en-US" altLang="zh-CN" sz="1800" dirty="0" smtClean="0"/>
              <a:t>OPA846</a:t>
            </a:r>
            <a:r>
              <a:rPr lang="zh-CN" altLang="en-US" sz="1800" dirty="0" smtClean="0"/>
              <a:t>，</a:t>
            </a:r>
            <a:r>
              <a:rPr lang="en-US" altLang="zh-CN" sz="1800" dirty="0"/>
              <a:t>GBP=1.75GHz</a:t>
            </a:r>
            <a:r>
              <a:rPr lang="zh-CN" altLang="en-US" sz="1800" dirty="0"/>
              <a:t>，</a:t>
            </a:r>
            <a:r>
              <a:rPr lang="en-US" altLang="zh-CN" sz="1800" dirty="0"/>
              <a:t>SR=625V/us</a:t>
            </a:r>
            <a:r>
              <a:rPr lang="zh-CN" altLang="en-US" sz="1800" dirty="0"/>
              <a:t>，电源</a:t>
            </a:r>
            <a:r>
              <a:rPr lang="en-US" altLang="zh-CN" sz="1800" dirty="0"/>
              <a:t>±</a:t>
            </a:r>
            <a:r>
              <a:rPr lang="en-US" altLang="zh-CN" sz="1800" dirty="0" smtClean="0"/>
              <a:t>5V</a:t>
            </a:r>
            <a:endParaRPr lang="en-US" altLang="zh-CN" sz="1800" dirty="0"/>
          </a:p>
          <a:p>
            <a:pPr lvl="1">
              <a:lnSpc>
                <a:spcPct val="150000"/>
              </a:lnSpc>
            </a:pPr>
            <a:endParaRPr lang="en-US" altLang="zh-CN" sz="1800" dirty="0" smtClean="0"/>
          </a:p>
          <a:p>
            <a:pPr lvl="1">
              <a:lnSpc>
                <a:spcPct val="150000"/>
              </a:lnSpc>
            </a:pPr>
            <a:r>
              <a:rPr lang="zh-CN" altLang="en-US" sz="1800" dirty="0" smtClean="0"/>
              <a:t>电流反馈型</a:t>
            </a:r>
            <a:endParaRPr lang="en-US" altLang="zh-CN" sz="1800" dirty="0" smtClean="0"/>
          </a:p>
          <a:p>
            <a:pPr lvl="1">
              <a:lnSpc>
                <a:spcPct val="150000"/>
              </a:lnSpc>
            </a:pPr>
            <a:r>
              <a:rPr lang="en-US" altLang="zh-CN" sz="1800" dirty="0" smtClean="0"/>
              <a:t>OPA695</a:t>
            </a:r>
            <a:r>
              <a:rPr lang="zh-CN" altLang="en-US" sz="1800" dirty="0" smtClean="0"/>
              <a:t>，</a:t>
            </a:r>
            <a:r>
              <a:rPr lang="en-US" altLang="zh-CN" sz="1800" dirty="0"/>
              <a:t>BW=850MHz@G=2</a:t>
            </a:r>
            <a:r>
              <a:rPr lang="zh-CN" altLang="en-US" sz="1800" dirty="0"/>
              <a:t>，</a:t>
            </a:r>
            <a:r>
              <a:rPr lang="en-US" altLang="zh-CN" sz="1800" dirty="0"/>
              <a:t>BW=350MHz@G=16</a:t>
            </a:r>
            <a:r>
              <a:rPr lang="zh-CN" altLang="en-US" sz="1800" dirty="0" smtClean="0"/>
              <a:t>，</a:t>
            </a:r>
            <a:r>
              <a:rPr lang="en-US" altLang="zh-CN" sz="1800" dirty="0" smtClean="0"/>
              <a:t>SR=2900V/us</a:t>
            </a:r>
            <a:r>
              <a:rPr lang="zh-CN" altLang="en-US" sz="1800" dirty="0"/>
              <a:t>，电源</a:t>
            </a:r>
            <a:r>
              <a:rPr lang="en-US" altLang="zh-CN" sz="1800" dirty="0"/>
              <a:t>±</a:t>
            </a:r>
            <a:r>
              <a:rPr lang="en-US" altLang="zh-CN" sz="1800" dirty="0" smtClean="0"/>
              <a:t>5V</a:t>
            </a:r>
            <a:endParaRPr lang="en-US" altLang="zh-CN" sz="1800" dirty="0"/>
          </a:p>
          <a:p>
            <a:pPr lvl="1">
              <a:lnSpc>
                <a:spcPct val="150000"/>
              </a:lnSpc>
            </a:pPr>
            <a:r>
              <a:rPr lang="en-US" altLang="zh-CN" sz="1800" dirty="0" smtClean="0"/>
              <a:t>THS3091</a:t>
            </a:r>
            <a:r>
              <a:rPr lang="zh-CN" altLang="en-US" sz="1800" dirty="0" smtClean="0"/>
              <a:t>，</a:t>
            </a:r>
            <a:r>
              <a:rPr lang="en-US" altLang="zh-CN" sz="1800" dirty="0"/>
              <a:t>BW=210MHz@G=2</a:t>
            </a:r>
            <a:r>
              <a:rPr lang="zh-CN" altLang="en-US" sz="1800" dirty="0"/>
              <a:t>，</a:t>
            </a:r>
            <a:r>
              <a:rPr lang="en-US" altLang="zh-CN" sz="1800" dirty="0"/>
              <a:t>BW=180MHz@G=10</a:t>
            </a:r>
            <a:r>
              <a:rPr lang="zh-CN" altLang="en-US" sz="1800" dirty="0" smtClean="0"/>
              <a:t>，</a:t>
            </a:r>
            <a:r>
              <a:rPr lang="en-US" altLang="zh-CN" sz="1800" dirty="0" smtClean="0"/>
              <a:t>SR=7300V/</a:t>
            </a:r>
            <a:r>
              <a:rPr lang="en-US" altLang="zh-CN" sz="1800" dirty="0" err="1" smtClean="0"/>
              <a:t>us@G</a:t>
            </a:r>
            <a:r>
              <a:rPr lang="en-US" altLang="zh-CN" sz="1800" dirty="0" smtClean="0"/>
              <a:t>=5</a:t>
            </a:r>
            <a:r>
              <a:rPr lang="zh-CN" altLang="en-US" sz="1800" dirty="0"/>
              <a:t>，电源</a:t>
            </a:r>
            <a:r>
              <a:rPr lang="en-US" altLang="zh-CN" sz="1800" dirty="0"/>
              <a:t>±5~±</a:t>
            </a:r>
            <a:r>
              <a:rPr lang="en-US" altLang="zh-CN" sz="1800" dirty="0" smtClean="0"/>
              <a:t>15V</a:t>
            </a:r>
            <a:endParaRPr lang="en-US" altLang="zh-CN" sz="1800" dirty="0"/>
          </a:p>
          <a:p>
            <a:pPr lvl="1">
              <a:lnSpc>
                <a:spcPct val="150000"/>
              </a:lnSpc>
            </a:pPr>
            <a:r>
              <a:rPr lang="en-US" altLang="zh-CN" sz="1800" dirty="0" smtClean="0"/>
              <a:t>THS3201</a:t>
            </a:r>
            <a:r>
              <a:rPr lang="zh-CN" altLang="en-US" sz="1800" dirty="0" smtClean="0"/>
              <a:t>，</a:t>
            </a:r>
            <a:r>
              <a:rPr lang="en-US" altLang="zh-CN" sz="1800" dirty="0"/>
              <a:t>BW=1.8GHz@G=1</a:t>
            </a:r>
            <a:r>
              <a:rPr lang="zh-CN" altLang="en-US" sz="1800" dirty="0"/>
              <a:t>，</a:t>
            </a:r>
            <a:r>
              <a:rPr lang="en-US" altLang="zh-CN" sz="1800" dirty="0"/>
              <a:t>BW=520MHz@G=10</a:t>
            </a:r>
            <a:r>
              <a:rPr lang="zh-CN" altLang="en-US" sz="1800" dirty="0" smtClean="0"/>
              <a:t>，</a:t>
            </a:r>
            <a:r>
              <a:rPr lang="en-US" altLang="zh-CN" sz="1800" dirty="0" smtClean="0"/>
              <a:t>SR=6700V/</a:t>
            </a:r>
            <a:r>
              <a:rPr lang="en-US" altLang="zh-CN" sz="1800" dirty="0" err="1" smtClean="0"/>
              <a:t>us@G</a:t>
            </a:r>
            <a:r>
              <a:rPr lang="en-US" altLang="zh-CN" sz="1800" dirty="0" smtClean="0"/>
              <a:t>=2</a:t>
            </a:r>
            <a:r>
              <a:rPr lang="zh-CN" altLang="en-US" sz="1800" dirty="0"/>
              <a:t>，电源</a:t>
            </a:r>
            <a:r>
              <a:rPr lang="en-US" altLang="zh-CN" sz="1800" dirty="0"/>
              <a:t>±3.3~±</a:t>
            </a:r>
            <a:r>
              <a:rPr lang="en-US" altLang="zh-CN" sz="1800" dirty="0" smtClean="0"/>
              <a:t>7.5V</a:t>
            </a:r>
            <a:endParaRPr lang="en-US" altLang="zh-CN" sz="1800" dirty="0"/>
          </a:p>
          <a:p>
            <a:pPr lvl="1">
              <a:lnSpc>
                <a:spcPct val="150000"/>
              </a:lnSpc>
            </a:pPr>
            <a:r>
              <a:rPr lang="en-US" altLang="zh-CN" sz="1800" dirty="0" smtClean="0"/>
              <a:t>ADA4870</a:t>
            </a:r>
            <a:r>
              <a:rPr lang="zh-CN" altLang="en-US" sz="1800" dirty="0" smtClean="0"/>
              <a:t>，</a:t>
            </a:r>
            <a:r>
              <a:rPr lang="en-US" altLang="zh-CN" sz="1800" dirty="0"/>
              <a:t>BW=52MHz(</a:t>
            </a:r>
            <a:r>
              <a:rPr lang="zh-CN" altLang="en-US" sz="1800" dirty="0"/>
              <a:t>大信号</a:t>
            </a:r>
            <a:r>
              <a:rPr lang="en-US" altLang="zh-CN" sz="1800" dirty="0"/>
              <a:t>)</a:t>
            </a:r>
            <a:r>
              <a:rPr lang="zh-CN" altLang="en-US" sz="1800" dirty="0" smtClean="0"/>
              <a:t>，</a:t>
            </a:r>
            <a:r>
              <a:rPr lang="en-US" altLang="zh-CN" sz="1800" dirty="0" smtClean="0"/>
              <a:t>BW=70MHz(</a:t>
            </a:r>
            <a:r>
              <a:rPr lang="zh-CN" altLang="en-US" sz="1800" dirty="0" smtClean="0"/>
              <a:t>小信号</a:t>
            </a:r>
            <a:r>
              <a:rPr lang="en-US" altLang="zh-CN" sz="1800" dirty="0" smtClean="0"/>
              <a:t>)</a:t>
            </a:r>
            <a:r>
              <a:rPr lang="zh-CN" altLang="en-US" sz="1800" dirty="0" smtClean="0"/>
              <a:t>，最大</a:t>
            </a:r>
            <a:r>
              <a:rPr lang="zh-CN" altLang="en-US" sz="1800" dirty="0"/>
              <a:t>输出电流</a:t>
            </a:r>
            <a:r>
              <a:rPr lang="en-US" altLang="zh-CN" sz="1800" dirty="0" smtClean="0"/>
              <a:t>1A</a:t>
            </a:r>
            <a:r>
              <a:rPr lang="zh-CN" altLang="en-US" sz="1800" dirty="0" smtClean="0"/>
              <a:t>，</a:t>
            </a:r>
            <a:r>
              <a:rPr lang="en-US" altLang="zh-CN" sz="1800" dirty="0" smtClean="0"/>
              <a:t> </a:t>
            </a:r>
            <a:r>
              <a:rPr lang="zh-CN" altLang="en-US" sz="1800" dirty="0"/>
              <a:t>最大输出摆幅</a:t>
            </a:r>
            <a:r>
              <a:rPr lang="en-US" altLang="zh-CN" sz="1800" dirty="0"/>
              <a:t>37V@</a:t>
            </a:r>
            <a:r>
              <a:rPr lang="zh-CN" altLang="en-US" sz="1800" dirty="0"/>
              <a:t>电源</a:t>
            </a:r>
            <a:r>
              <a:rPr lang="en-US" altLang="zh-CN" sz="1800" dirty="0"/>
              <a:t>40V                    </a:t>
            </a:r>
          </a:p>
        </p:txBody>
      </p:sp>
    </p:spTree>
    <p:extLst>
      <p:ext uri="{BB962C8B-B14F-4D97-AF65-F5344CB8AC3E}">
        <p14:creationId xmlns:p14="http://schemas.microsoft.com/office/powerpoint/2010/main" val="7810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文本框 4"/>
          <p:cNvSpPr txBox="1"/>
          <p:nvPr/>
        </p:nvSpPr>
        <p:spPr>
          <a:xfrm>
            <a:off x="464457" y="380391"/>
            <a:ext cx="11197772" cy="346248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b="1" dirty="0"/>
              <a:t>高频晶体管</a:t>
            </a:r>
            <a:endParaRPr lang="en-US" altLang="zh-CN" sz="1800" b="1" dirty="0"/>
          </a:p>
          <a:p>
            <a:pPr marL="800100" lvl="1" indent="-342900">
              <a:lnSpc>
                <a:spcPct val="150000"/>
              </a:lnSpc>
              <a:buFont typeface="Arial" panose="020B0604020202020204" pitchFamily="34" charset="0"/>
              <a:buChar char="•"/>
            </a:pPr>
            <a:r>
              <a:rPr lang="zh-CN" altLang="en-US" sz="1800" dirty="0"/>
              <a:t>频率响应可以从几百</a:t>
            </a:r>
            <a:r>
              <a:rPr lang="en-US" altLang="zh-CN" sz="1800" dirty="0"/>
              <a:t>MHz</a:t>
            </a:r>
            <a:r>
              <a:rPr lang="zh-CN" altLang="en-US" sz="1800" dirty="0"/>
              <a:t>到几十</a:t>
            </a:r>
            <a:r>
              <a:rPr lang="en-US" altLang="zh-CN" sz="1800" dirty="0"/>
              <a:t>GHz</a:t>
            </a:r>
          </a:p>
          <a:p>
            <a:pPr marL="800100" lvl="1" indent="-342900">
              <a:lnSpc>
                <a:spcPct val="150000"/>
              </a:lnSpc>
              <a:buFont typeface="Arial" panose="020B0604020202020204" pitchFamily="34" charset="0"/>
              <a:buChar char="•"/>
            </a:pPr>
            <a:r>
              <a:rPr lang="zh-CN" altLang="en-US" sz="1800" dirty="0"/>
              <a:t>输出功率可以从几十</a:t>
            </a:r>
            <a:r>
              <a:rPr lang="en-US" altLang="zh-CN" sz="1800" dirty="0" err="1"/>
              <a:t>mW</a:t>
            </a:r>
            <a:r>
              <a:rPr lang="zh-CN" altLang="en-US" sz="1800" dirty="0"/>
              <a:t>到几十</a:t>
            </a:r>
            <a:r>
              <a:rPr lang="en-US" altLang="zh-CN" sz="1800" dirty="0"/>
              <a:t>W</a:t>
            </a:r>
            <a:r>
              <a:rPr lang="zh-CN" altLang="en-US" sz="1800" dirty="0"/>
              <a:t>甚至几百</a:t>
            </a:r>
            <a:r>
              <a:rPr lang="en-US" altLang="zh-CN" sz="1800" dirty="0"/>
              <a:t>W</a:t>
            </a:r>
          </a:p>
          <a:p>
            <a:pPr marL="800100" lvl="1" indent="-342900">
              <a:lnSpc>
                <a:spcPct val="150000"/>
              </a:lnSpc>
              <a:buFont typeface="Arial" panose="020B0604020202020204" pitchFamily="34" charset="0"/>
              <a:buChar char="•"/>
            </a:pPr>
            <a:r>
              <a:rPr lang="zh-CN" altLang="en-US" sz="1800" dirty="0"/>
              <a:t>为了获得较大的功率增益，常采用共射（共源）放大器形式</a:t>
            </a:r>
            <a:endParaRPr lang="en-US" altLang="zh-CN" sz="1800" dirty="0"/>
          </a:p>
          <a:p>
            <a:pPr marL="800100" lvl="1" indent="-342900">
              <a:lnSpc>
                <a:spcPct val="150000"/>
              </a:lnSpc>
              <a:buFont typeface="Arial" panose="020B0604020202020204" pitchFamily="34" charset="0"/>
              <a:buChar char="•"/>
            </a:pPr>
            <a:r>
              <a:rPr lang="zh-CN" altLang="en-US" sz="1800" dirty="0"/>
              <a:t>增益、输入输出电阻等参数与工作点有关，且有很大的变化范围</a:t>
            </a:r>
            <a:endParaRPr lang="en-US" altLang="zh-CN" sz="1800" dirty="0"/>
          </a:p>
          <a:p>
            <a:pPr marL="800100" lvl="1" indent="-342900">
              <a:lnSpc>
                <a:spcPct val="150000"/>
              </a:lnSpc>
              <a:buFont typeface="Arial" panose="020B0604020202020204" pitchFamily="34" charset="0"/>
              <a:buChar char="•"/>
            </a:pPr>
            <a:r>
              <a:rPr lang="zh-CN" altLang="en-US" sz="1800" dirty="0"/>
              <a:t>通常需要外接阻抗匹配网络方可稳定工作</a:t>
            </a:r>
            <a:endParaRPr lang="en-US" altLang="zh-CN" sz="1800" dirty="0"/>
          </a:p>
          <a:p>
            <a:pPr marL="800100" lvl="1" indent="-342900">
              <a:lnSpc>
                <a:spcPct val="150000"/>
              </a:lnSpc>
              <a:buFont typeface="Arial" panose="020B0604020202020204" pitchFamily="34" charset="0"/>
              <a:buChar char="•"/>
            </a:pPr>
            <a:r>
              <a:rPr lang="zh-CN" altLang="en-US" sz="1800" dirty="0"/>
              <a:t>设计与制作调整比较困难</a:t>
            </a:r>
            <a:endParaRPr lang="en-US" altLang="zh-CN" sz="1800" dirty="0"/>
          </a:p>
          <a:p>
            <a:pPr marL="800100" lvl="1" indent="-342900">
              <a:lnSpc>
                <a:spcPct val="150000"/>
              </a:lnSpc>
              <a:buFont typeface="Arial" panose="020B0604020202020204" pitchFamily="34" charset="0"/>
              <a:buChar char="•"/>
            </a:pPr>
            <a:r>
              <a:rPr lang="zh-CN" altLang="en-US" sz="1800" dirty="0"/>
              <a:t>适用于窄频带放大器以及大功率放大器</a:t>
            </a:r>
          </a:p>
        </p:txBody>
      </p:sp>
    </p:spTree>
    <p:extLst>
      <p:ext uri="{BB962C8B-B14F-4D97-AF65-F5344CB8AC3E}">
        <p14:creationId xmlns:p14="http://schemas.microsoft.com/office/powerpoint/2010/main" val="34739535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435429" y="460858"/>
            <a:ext cx="11183257" cy="553997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t>几种高频放大器的比较</a:t>
            </a:r>
            <a:endParaRPr lang="en-US" altLang="zh-CN" dirty="0"/>
          </a:p>
          <a:p>
            <a:pPr marL="742950" lvl="1" indent="-285750">
              <a:lnSpc>
                <a:spcPct val="150000"/>
              </a:lnSpc>
              <a:buFont typeface="Arial" panose="020B0604020202020204" pitchFamily="34" charset="0"/>
              <a:buChar char="•"/>
            </a:pPr>
            <a:r>
              <a:rPr lang="en-US" altLang="zh-CN" sz="1800" dirty="0"/>
              <a:t>MMIC</a:t>
            </a:r>
            <a:r>
              <a:rPr lang="zh-CN" altLang="en-US" sz="1800" dirty="0"/>
              <a:t>：高频响应好，增益通常基本固定，输入输出电阻通常为</a:t>
            </a:r>
            <a:r>
              <a:rPr lang="en-US" altLang="zh-CN" sz="1800" dirty="0"/>
              <a:t>50</a:t>
            </a:r>
            <a:r>
              <a:rPr lang="zh-CN" altLang="en-US" sz="1800" dirty="0"/>
              <a:t>欧（随着频率的变化上述参数有变化），电路设计与调试最简单</a:t>
            </a:r>
            <a:endParaRPr lang="en-US" altLang="zh-CN" sz="1800" dirty="0"/>
          </a:p>
          <a:p>
            <a:pPr lvl="2">
              <a:lnSpc>
                <a:spcPct val="150000"/>
              </a:lnSpc>
            </a:pPr>
            <a:r>
              <a:rPr lang="zh-CN" altLang="en-US" sz="1800" dirty="0"/>
              <a:t>适用场合：频率范围较大，增益、输入输出阻抗等参数大致稳定的放大器（例如无线通信中的射频与中频放大器）</a:t>
            </a:r>
            <a:endParaRPr lang="en-US" altLang="zh-CN" sz="1800" dirty="0"/>
          </a:p>
          <a:p>
            <a:pPr marL="742950" lvl="1" indent="-285750">
              <a:lnSpc>
                <a:spcPct val="150000"/>
              </a:lnSpc>
              <a:buFont typeface="Arial" panose="020B0604020202020204" pitchFamily="34" charset="0"/>
              <a:buChar char="•"/>
            </a:pPr>
            <a:r>
              <a:rPr lang="zh-CN" altLang="en-US" sz="1800" dirty="0"/>
              <a:t>运放：增益、输入输出电阻等参数均由外部电阻确定，自由度较大，高频频响远不如</a:t>
            </a:r>
            <a:r>
              <a:rPr lang="en-US" altLang="zh-CN" sz="1800" dirty="0"/>
              <a:t>MMIC</a:t>
            </a:r>
            <a:r>
              <a:rPr lang="zh-CN" altLang="en-US" sz="1800" dirty="0"/>
              <a:t>，但低频可以到直流，电路设计与调试较简单</a:t>
            </a:r>
            <a:endParaRPr lang="en-US" altLang="zh-CN" sz="1800" dirty="0"/>
          </a:p>
          <a:p>
            <a:pPr lvl="2">
              <a:lnSpc>
                <a:spcPct val="150000"/>
              </a:lnSpc>
            </a:pPr>
            <a:r>
              <a:rPr lang="zh-CN" altLang="en-US" sz="1800" dirty="0"/>
              <a:t>适用场合：频率不很高，对于增益、输入输出阻抗等参数</a:t>
            </a:r>
            <a:r>
              <a:rPr lang="zh-CN" altLang="en-US" sz="1800" dirty="0" smtClean="0"/>
              <a:t>的精确性、稳定性</a:t>
            </a:r>
            <a:r>
              <a:rPr lang="zh-CN" altLang="en-US" sz="1800" dirty="0"/>
              <a:t>要求较高的放大器（例如频率范围为</a:t>
            </a:r>
            <a:r>
              <a:rPr lang="en-US" altLang="zh-CN" sz="1800" dirty="0"/>
              <a:t>DC</a:t>
            </a:r>
            <a:r>
              <a:rPr lang="zh-CN" altLang="en-US" sz="1800" dirty="0"/>
              <a:t>到几百</a:t>
            </a:r>
            <a:r>
              <a:rPr lang="en-US" altLang="zh-CN" sz="1800" dirty="0"/>
              <a:t>MHz</a:t>
            </a:r>
            <a:r>
              <a:rPr lang="zh-CN" altLang="en-US" sz="1800" dirty="0"/>
              <a:t>的测量仪器）</a:t>
            </a:r>
            <a:endParaRPr lang="en-US" altLang="zh-CN" sz="1800" dirty="0"/>
          </a:p>
          <a:p>
            <a:pPr marL="742950" lvl="1" indent="-285750">
              <a:lnSpc>
                <a:spcPct val="150000"/>
              </a:lnSpc>
              <a:buFont typeface="Arial" panose="020B0604020202020204" pitchFamily="34" charset="0"/>
              <a:buChar char="•"/>
            </a:pPr>
            <a:r>
              <a:rPr lang="zh-CN" altLang="en-US" sz="1800" dirty="0"/>
              <a:t>晶体管：增益、输入输出阻抗均由外电路确定，频响范围可以较宽，输出功率可以较大，电路设计与调试复杂</a:t>
            </a:r>
            <a:endParaRPr lang="en-US" altLang="zh-CN" sz="1800" dirty="0"/>
          </a:p>
          <a:p>
            <a:pPr lvl="2">
              <a:lnSpc>
                <a:spcPct val="150000"/>
              </a:lnSpc>
            </a:pPr>
            <a:r>
              <a:rPr lang="zh-CN" altLang="en-US" sz="1800" dirty="0"/>
              <a:t>适用场合：小信号谐振放大器（例如中频放大器）、大功率高频放大器</a:t>
            </a:r>
            <a:endParaRPr lang="en-US" altLang="zh-CN" sz="1800" dirty="0"/>
          </a:p>
          <a:p>
            <a:pPr marL="800100" lvl="1" indent="-342900">
              <a:lnSpc>
                <a:spcPct val="150000"/>
              </a:lnSpc>
              <a:buFont typeface="Wingdings" panose="05000000000000000000" pitchFamily="2" charset="2"/>
              <a:buChar char="l"/>
            </a:pPr>
            <a:r>
              <a:rPr lang="zh-CN" altLang="en-US" sz="1800" dirty="0"/>
              <a:t>对于竞赛学生的建议：尽可能采用</a:t>
            </a:r>
            <a:r>
              <a:rPr lang="en-US" altLang="zh-CN" sz="1800" dirty="0"/>
              <a:t>MMIC</a:t>
            </a:r>
            <a:r>
              <a:rPr lang="zh-CN" altLang="en-US" sz="1800" dirty="0"/>
              <a:t>与运放</a:t>
            </a:r>
            <a:endParaRPr lang="en-US" altLang="zh-CN" sz="1800" dirty="0"/>
          </a:p>
        </p:txBody>
      </p:sp>
    </p:spTree>
    <p:extLst>
      <p:ext uri="{BB962C8B-B14F-4D97-AF65-F5344CB8AC3E}">
        <p14:creationId xmlns:p14="http://schemas.microsoft.com/office/powerpoint/2010/main" val="5280038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12</a:t>
            </a:fld>
            <a:endParaRPr lang="en-US" altLang="zh-CN"/>
          </a:p>
        </p:txBody>
      </p:sp>
      <p:sp>
        <p:nvSpPr>
          <p:cNvPr id="4" name="文本框 3"/>
          <p:cNvSpPr txBox="1"/>
          <p:nvPr/>
        </p:nvSpPr>
        <p:spPr>
          <a:xfrm>
            <a:off x="449943" y="321870"/>
            <a:ext cx="11277600" cy="4062651"/>
          </a:xfrm>
          <a:prstGeom prst="rect">
            <a:avLst/>
          </a:prstGeom>
          <a:noFill/>
        </p:spPr>
        <p:txBody>
          <a:bodyPr wrap="square" rtlCol="0">
            <a:spAutoFit/>
          </a:bodyPr>
          <a:lstStyle/>
          <a:p>
            <a:pP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可变增益元件</a:t>
            </a:r>
            <a:endParaRPr lang="en-US" altLang="zh-CN" sz="2800" dirty="0" smtClean="0">
              <a:solidFill>
                <a:srgbClr val="FF0000"/>
              </a:solidFill>
              <a:latin typeface="隶书" panose="02010509060101010101" pitchFamily="49" charset="-122"/>
              <a:ea typeface="隶书" panose="02010509060101010101" pitchFamily="49" charset="-122"/>
            </a:endParaRPr>
          </a:p>
          <a:p>
            <a:pPr>
              <a:lnSpc>
                <a:spcPct val="150000"/>
              </a:lnSpc>
            </a:pPr>
            <a:r>
              <a:rPr lang="zh-CN" altLang="en-US" sz="1800" dirty="0"/>
              <a:t>根据题目要求</a:t>
            </a:r>
            <a:r>
              <a:rPr lang="zh-CN" altLang="en-US" sz="1800" dirty="0" smtClean="0"/>
              <a:t>，可变增益部分的频响必须大于</a:t>
            </a:r>
            <a:r>
              <a:rPr lang="en-US" altLang="zh-CN" sz="1800" dirty="0" smtClean="0"/>
              <a:t>200MHz</a:t>
            </a:r>
            <a:r>
              <a:rPr lang="zh-CN" altLang="en-US" sz="1800" dirty="0" smtClean="0"/>
              <a:t>，增益变化大于</a:t>
            </a:r>
            <a:r>
              <a:rPr lang="en-US" altLang="zh-CN" sz="1800" dirty="0" smtClean="0"/>
              <a:t>40dB</a:t>
            </a:r>
            <a:r>
              <a:rPr lang="zh-CN" altLang="en-US" sz="1800" dirty="0"/>
              <a:t>，</a:t>
            </a:r>
            <a:endParaRPr lang="en-US" altLang="zh-CN" sz="1800" dirty="0"/>
          </a:p>
          <a:p>
            <a:pPr>
              <a:lnSpc>
                <a:spcPct val="150000"/>
              </a:lnSpc>
            </a:pPr>
            <a:r>
              <a:rPr lang="zh-CN" altLang="en-US" sz="1800" dirty="0" smtClean="0"/>
              <a:t>实验室</a:t>
            </a:r>
            <a:r>
              <a:rPr lang="zh-CN" altLang="en-US" sz="1800" dirty="0"/>
              <a:t>满足本题频响要求</a:t>
            </a:r>
            <a:r>
              <a:rPr lang="zh-CN" altLang="en-US" sz="1800" dirty="0" smtClean="0"/>
              <a:t>的芯片不多，有</a:t>
            </a:r>
            <a:endParaRPr lang="en-US" altLang="zh-CN" sz="1800" dirty="0" smtClean="0"/>
          </a:p>
          <a:p>
            <a:pPr marL="285750" indent="-285750">
              <a:lnSpc>
                <a:spcPct val="150000"/>
              </a:lnSpc>
              <a:buFont typeface="Arial" panose="020B0604020202020204" pitchFamily="34" charset="0"/>
              <a:buChar char="•"/>
            </a:pPr>
            <a:r>
              <a:rPr lang="zh-CN" altLang="en-US" sz="1800" dirty="0"/>
              <a:t>压</a:t>
            </a:r>
            <a:r>
              <a:rPr lang="zh-CN" altLang="en-US" sz="1800" dirty="0" smtClean="0"/>
              <a:t>控增益放大器</a:t>
            </a:r>
            <a:endParaRPr lang="en-US" altLang="zh-CN" sz="1800" dirty="0" smtClean="0"/>
          </a:p>
          <a:p>
            <a:pPr lvl="1">
              <a:lnSpc>
                <a:spcPct val="150000"/>
              </a:lnSpc>
            </a:pPr>
            <a:r>
              <a:rPr lang="en-US" altLang="zh-CN" sz="1800" dirty="0" smtClean="0"/>
              <a:t>AD8367</a:t>
            </a:r>
            <a:r>
              <a:rPr lang="zh-CN" altLang="en-US" sz="1800" dirty="0" smtClean="0"/>
              <a:t>，带宽</a:t>
            </a:r>
            <a:r>
              <a:rPr lang="en-US" altLang="zh-CN" sz="1800" dirty="0" smtClean="0"/>
              <a:t>500MHz</a:t>
            </a:r>
            <a:r>
              <a:rPr lang="zh-CN" altLang="en-US" sz="1800" dirty="0" smtClean="0"/>
              <a:t>，</a:t>
            </a:r>
            <a:r>
              <a:rPr lang="en-US" altLang="zh-CN" sz="1800" dirty="0" smtClean="0"/>
              <a:t>-</a:t>
            </a:r>
            <a:r>
              <a:rPr lang="en-US" altLang="zh-CN" sz="1800" dirty="0"/>
              <a:t>2.5</a:t>
            </a:r>
            <a:r>
              <a:rPr lang="zh-CN" altLang="en-US" sz="1800" dirty="0"/>
              <a:t>～</a:t>
            </a:r>
            <a:r>
              <a:rPr lang="en-US" altLang="zh-CN" sz="1800" dirty="0"/>
              <a:t>+</a:t>
            </a:r>
            <a:r>
              <a:rPr lang="en-US" altLang="zh-CN" sz="1800" dirty="0" smtClean="0"/>
              <a:t>42.5dB</a:t>
            </a:r>
            <a:r>
              <a:rPr lang="zh-CN" altLang="en-US" sz="1800" dirty="0" smtClean="0"/>
              <a:t>（</a:t>
            </a:r>
            <a:r>
              <a:rPr lang="en-US" altLang="zh-CN" sz="1800" dirty="0" smtClean="0"/>
              <a:t>45dB</a:t>
            </a:r>
            <a:r>
              <a:rPr lang="zh-CN" altLang="en-US" sz="1800" dirty="0" smtClean="0"/>
              <a:t>）</a:t>
            </a:r>
            <a:endParaRPr lang="en-US" altLang="zh-CN" sz="1800" dirty="0" smtClean="0"/>
          </a:p>
          <a:p>
            <a:pPr lvl="1">
              <a:lnSpc>
                <a:spcPct val="150000"/>
              </a:lnSpc>
            </a:pPr>
            <a:r>
              <a:rPr lang="en-US" altLang="zh-CN" sz="1800" dirty="0" smtClean="0"/>
              <a:t>AD8368</a:t>
            </a:r>
            <a:r>
              <a:rPr lang="zh-CN" altLang="en-US" sz="1800" dirty="0" smtClean="0"/>
              <a:t>，带宽</a:t>
            </a:r>
            <a:r>
              <a:rPr lang="en-US" altLang="zh-CN" sz="1800" dirty="0" smtClean="0"/>
              <a:t>800MHz</a:t>
            </a:r>
            <a:r>
              <a:rPr lang="zh-CN" altLang="en-US" sz="1800" dirty="0" smtClean="0"/>
              <a:t>，</a:t>
            </a:r>
            <a:r>
              <a:rPr lang="zh-CN" altLang="en-US" sz="1800" dirty="0"/>
              <a:t>电压增益</a:t>
            </a:r>
            <a:r>
              <a:rPr lang="en-US" altLang="zh-CN" sz="1800" dirty="0"/>
              <a:t>-12</a:t>
            </a:r>
            <a:r>
              <a:rPr lang="zh-CN" altLang="en-US" sz="1800" dirty="0"/>
              <a:t>～</a:t>
            </a:r>
            <a:r>
              <a:rPr lang="en-US" altLang="zh-CN" sz="1800" dirty="0"/>
              <a:t>+</a:t>
            </a:r>
            <a:r>
              <a:rPr lang="en-US" altLang="zh-CN" sz="1800" dirty="0" smtClean="0"/>
              <a:t>22dB</a:t>
            </a:r>
            <a:r>
              <a:rPr lang="zh-CN" altLang="en-US" sz="1800" dirty="0" smtClean="0"/>
              <a:t>（</a:t>
            </a:r>
            <a:r>
              <a:rPr lang="en-US" altLang="zh-CN" sz="1800" dirty="0" smtClean="0"/>
              <a:t>34dB)</a:t>
            </a:r>
          </a:p>
          <a:p>
            <a:pPr marL="285750" indent="-285750">
              <a:lnSpc>
                <a:spcPct val="150000"/>
              </a:lnSpc>
              <a:buFont typeface="Arial" panose="020B0604020202020204" pitchFamily="34" charset="0"/>
              <a:buChar char="•"/>
            </a:pPr>
            <a:r>
              <a:rPr lang="zh-CN" altLang="en-US" sz="1800" dirty="0" smtClean="0"/>
              <a:t>数控衰减器</a:t>
            </a:r>
            <a:endParaRPr lang="en-US" altLang="zh-CN" sz="1800" dirty="0" smtClean="0"/>
          </a:p>
          <a:p>
            <a:pPr lvl="1">
              <a:lnSpc>
                <a:spcPct val="150000"/>
              </a:lnSpc>
            </a:pPr>
            <a:r>
              <a:rPr lang="en-US" altLang="zh-CN" sz="1800" dirty="0" smtClean="0">
                <a:latin typeface="Arial" panose="020B0604020202020204" pitchFamily="34" charset="0"/>
              </a:rPr>
              <a:t>HMC307</a:t>
            </a:r>
            <a:r>
              <a:rPr lang="zh-CN" altLang="en-US" sz="1800" dirty="0" smtClean="0">
                <a:latin typeface="Arial" panose="020B0604020202020204" pitchFamily="34" charset="0"/>
              </a:rPr>
              <a:t>，</a:t>
            </a:r>
            <a:r>
              <a:rPr lang="zh-CN" altLang="zh-CN" sz="1800" dirty="0">
                <a:latin typeface="Arial" panose="020B0604020202020204" pitchFamily="34" charset="0"/>
                <a:cs typeface="Times New Roman" panose="02020603050405020304" pitchFamily="18" charset="0"/>
              </a:rPr>
              <a:t>频响</a:t>
            </a:r>
            <a:r>
              <a:rPr lang="en-US" altLang="zh-CN" sz="1800" dirty="0" smtClean="0">
                <a:latin typeface="Arial" panose="020B0604020202020204" pitchFamily="34" charset="0"/>
              </a:rPr>
              <a:t>DC~4GHz</a:t>
            </a:r>
            <a:r>
              <a:rPr lang="zh-CN" altLang="en-US" sz="1800" dirty="0" smtClean="0">
                <a:latin typeface="Arial" panose="020B0604020202020204" pitchFamily="34" charset="0"/>
              </a:rPr>
              <a:t>，</a:t>
            </a:r>
            <a:r>
              <a:rPr lang="en-US" altLang="zh-CN" sz="1800" dirty="0" smtClean="0">
                <a:latin typeface="Arial" panose="020B0604020202020204" pitchFamily="34" charset="0"/>
              </a:rPr>
              <a:t>5bit</a:t>
            </a:r>
            <a:r>
              <a:rPr lang="zh-CN" altLang="zh-CN" sz="1800" dirty="0">
                <a:latin typeface="Arial" panose="020B0604020202020204" pitchFamily="34" charset="0"/>
                <a:cs typeface="Times New Roman" panose="02020603050405020304" pitchFamily="18" charset="0"/>
              </a:rPr>
              <a:t>数字控制，控制范围从</a:t>
            </a:r>
            <a:r>
              <a:rPr lang="en-US" altLang="zh-CN" sz="1800" dirty="0">
                <a:latin typeface="Arial" panose="020B0604020202020204" pitchFamily="34" charset="0"/>
              </a:rPr>
              <a:t>0dB</a:t>
            </a:r>
            <a:r>
              <a:rPr lang="zh-CN" altLang="zh-CN" sz="1800" dirty="0">
                <a:latin typeface="Arial" panose="020B0604020202020204" pitchFamily="34" charset="0"/>
                <a:cs typeface="Times New Roman" panose="02020603050405020304" pitchFamily="18" charset="0"/>
              </a:rPr>
              <a:t>到</a:t>
            </a:r>
            <a:r>
              <a:rPr lang="en-US" altLang="zh-CN" sz="1800" dirty="0">
                <a:latin typeface="Arial" panose="020B0604020202020204" pitchFamily="34" charset="0"/>
              </a:rPr>
              <a:t>-31dB</a:t>
            </a:r>
            <a:r>
              <a:rPr lang="zh-CN" altLang="zh-CN" sz="1800" dirty="0">
                <a:latin typeface="Arial" panose="020B0604020202020204" pitchFamily="34" charset="0"/>
                <a:cs typeface="Times New Roman" panose="02020603050405020304" pitchFamily="18" charset="0"/>
              </a:rPr>
              <a:t>以</a:t>
            </a:r>
            <a:r>
              <a:rPr lang="en-US" altLang="zh-CN" sz="1800" dirty="0">
                <a:latin typeface="Arial" panose="020B0604020202020204" pitchFamily="34" charset="0"/>
              </a:rPr>
              <a:t>1dB</a:t>
            </a:r>
            <a:r>
              <a:rPr lang="zh-CN" altLang="zh-CN" sz="1800" dirty="0">
                <a:latin typeface="Arial" panose="020B0604020202020204" pitchFamily="34" charset="0"/>
                <a:cs typeface="Times New Roman" panose="02020603050405020304" pitchFamily="18" charset="0"/>
              </a:rPr>
              <a:t>步</a:t>
            </a:r>
            <a:r>
              <a:rPr lang="zh-CN" altLang="zh-CN" sz="1800" dirty="0" smtClean="0">
                <a:latin typeface="Arial" panose="020B0604020202020204" pitchFamily="34" charset="0"/>
                <a:cs typeface="Times New Roman" panose="02020603050405020304" pitchFamily="18" charset="0"/>
              </a:rPr>
              <a:t>进</a:t>
            </a:r>
            <a:r>
              <a:rPr lang="zh-CN" altLang="en-US" sz="1800" dirty="0" smtClean="0">
                <a:latin typeface="Arial" panose="020B0604020202020204" pitchFamily="34" charset="0"/>
                <a:cs typeface="Times New Roman" panose="02020603050405020304" pitchFamily="18" charset="0"/>
              </a:rPr>
              <a:t>，</a:t>
            </a:r>
            <a:r>
              <a:rPr lang="zh-CN" altLang="zh-CN" sz="1800" dirty="0" smtClean="0">
                <a:latin typeface="Arial" panose="020B0604020202020204" pitchFamily="34" charset="0"/>
                <a:cs typeface="Times New Roman" panose="02020603050405020304" pitchFamily="18" charset="0"/>
              </a:rPr>
              <a:t>插入损耗</a:t>
            </a:r>
            <a:r>
              <a:rPr lang="zh-CN" altLang="zh-CN" sz="1800" dirty="0">
                <a:latin typeface="Arial" panose="020B0604020202020204" pitchFamily="34" charset="0"/>
                <a:cs typeface="Times New Roman" panose="02020603050405020304" pitchFamily="18" charset="0"/>
              </a:rPr>
              <a:t>大约</a:t>
            </a:r>
            <a:r>
              <a:rPr lang="en-US" altLang="zh-CN" sz="1800" dirty="0" smtClean="0">
                <a:latin typeface="Arial" panose="020B0604020202020204" pitchFamily="34" charset="0"/>
              </a:rPr>
              <a:t>2dB</a:t>
            </a:r>
            <a:endParaRPr lang="en-US" altLang="zh-CN" sz="1800" dirty="0" smtClean="0">
              <a:latin typeface="Arial" panose="020B0604020202020204" pitchFamily="34" charset="0"/>
              <a:cs typeface="Times New Roman" panose="02020603050405020304" pitchFamily="18" charset="0"/>
            </a:endParaRPr>
          </a:p>
          <a:p>
            <a:pPr>
              <a:lnSpc>
                <a:spcPct val="150000"/>
              </a:lnSpc>
            </a:pPr>
            <a:r>
              <a:rPr lang="zh-CN" altLang="en-US" sz="1800" dirty="0" smtClean="0">
                <a:latin typeface="Arial" panose="020B0604020202020204" pitchFamily="34" charset="0"/>
                <a:cs typeface="Times New Roman" panose="02020603050405020304" pitchFamily="18" charset="0"/>
              </a:rPr>
              <a:t>考虑到压控增益放大器的控制不如数控衰减器方便，确定采用</a:t>
            </a:r>
            <a:r>
              <a:rPr lang="en-US" altLang="zh-CN" sz="1800" dirty="0" smtClean="0">
                <a:latin typeface="Arial" panose="020B0604020202020204" pitchFamily="34" charset="0"/>
                <a:cs typeface="Times New Roman" panose="02020603050405020304" pitchFamily="18" charset="0"/>
              </a:rPr>
              <a:t>HMC307</a:t>
            </a:r>
            <a:r>
              <a:rPr lang="zh-CN" altLang="en-US" sz="1800" dirty="0" smtClean="0">
                <a:latin typeface="Arial" panose="020B0604020202020204" pitchFamily="34" charset="0"/>
                <a:cs typeface="Times New Roman" panose="02020603050405020304" pitchFamily="18" charset="0"/>
              </a:rPr>
              <a:t>，两片串联</a:t>
            </a:r>
            <a:endParaRPr lang="en-US" altLang="zh-CN" sz="1800" dirty="0" smtClean="0">
              <a:latin typeface="Arial" panose="020B0604020202020204" pitchFamily="34" charset="0"/>
            </a:endParaRPr>
          </a:p>
        </p:txBody>
      </p:sp>
    </p:spTree>
    <p:extLst>
      <p:ext uri="{BB962C8B-B14F-4D97-AF65-F5344CB8AC3E}">
        <p14:creationId xmlns:p14="http://schemas.microsoft.com/office/powerpoint/2010/main" val="3921974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文本框 4"/>
          <p:cNvSpPr txBox="1"/>
          <p:nvPr/>
        </p:nvSpPr>
        <p:spPr>
          <a:xfrm>
            <a:off x="493486" y="522514"/>
            <a:ext cx="11255828" cy="9233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smtClean="0"/>
              <a:t>数控高频衰减器</a:t>
            </a:r>
            <a:r>
              <a:rPr lang="en-US" altLang="zh-CN" sz="1800" dirty="0" smtClean="0"/>
              <a:t>HMC307</a:t>
            </a:r>
          </a:p>
          <a:p>
            <a:pPr lvl="1">
              <a:lnSpc>
                <a:spcPct val="150000"/>
              </a:lnSpc>
            </a:pPr>
            <a:r>
              <a:rPr lang="zh-CN" altLang="en-US" sz="1800" dirty="0" smtClean="0"/>
              <a:t>注意它采用负逻辑，电源电压 </a:t>
            </a:r>
            <a:r>
              <a:rPr lang="en-US" altLang="zh-CN" sz="1800" dirty="0" smtClean="0"/>
              <a:t>-5V</a:t>
            </a:r>
            <a:r>
              <a:rPr lang="zh-CN" altLang="en-US" sz="1800" dirty="0" smtClean="0"/>
              <a:t>，逻辑</a:t>
            </a:r>
            <a:r>
              <a:rPr lang="zh-CN" altLang="en-US" sz="1800" dirty="0"/>
              <a:t>高</a:t>
            </a:r>
            <a:r>
              <a:rPr lang="zh-CN" altLang="en-US" sz="1800" dirty="0" smtClean="0"/>
              <a:t>电平 </a:t>
            </a:r>
            <a:r>
              <a:rPr lang="en-US" altLang="zh-CN" sz="1800" dirty="0" smtClean="0"/>
              <a:t>= -5V</a:t>
            </a:r>
            <a:r>
              <a:rPr lang="zh-CN" altLang="en-US" sz="1800" dirty="0" smtClean="0"/>
              <a:t>，逻辑低电平 </a:t>
            </a:r>
            <a:r>
              <a:rPr lang="en-US" altLang="zh-CN" sz="1800" dirty="0" smtClean="0"/>
              <a:t>= </a:t>
            </a:r>
            <a:r>
              <a:rPr lang="en-US" altLang="zh-CN" sz="1800" dirty="0" err="1" smtClean="0"/>
              <a:t>Gnd</a:t>
            </a:r>
            <a:endParaRPr lang="en-US" altLang="zh-CN" sz="1800" dirty="0" smtClean="0"/>
          </a:p>
        </p:txBody>
      </p:sp>
      <p:pic>
        <p:nvPicPr>
          <p:cNvPr id="6" name="图片 5"/>
          <p:cNvPicPr>
            <a:picLocks noChangeAspect="1"/>
          </p:cNvPicPr>
          <p:nvPr/>
        </p:nvPicPr>
        <p:blipFill>
          <a:blip r:embed="rId2"/>
          <a:stretch>
            <a:fillRect/>
          </a:stretch>
        </p:blipFill>
        <p:spPr>
          <a:xfrm>
            <a:off x="4108528" y="1713494"/>
            <a:ext cx="7605787" cy="3060441"/>
          </a:xfrm>
          <a:prstGeom prst="rect">
            <a:avLst/>
          </a:prstGeom>
        </p:spPr>
      </p:pic>
      <p:pic>
        <p:nvPicPr>
          <p:cNvPr id="7" name="图片 6"/>
          <p:cNvPicPr>
            <a:picLocks noChangeAspect="1"/>
          </p:cNvPicPr>
          <p:nvPr/>
        </p:nvPicPr>
        <p:blipFill>
          <a:blip r:embed="rId3"/>
          <a:stretch>
            <a:fillRect/>
          </a:stretch>
        </p:blipFill>
        <p:spPr>
          <a:xfrm>
            <a:off x="517146" y="1709601"/>
            <a:ext cx="3591382" cy="3068229"/>
          </a:xfrm>
          <a:prstGeom prst="rect">
            <a:avLst/>
          </a:prstGeom>
        </p:spPr>
      </p:pic>
      <p:pic>
        <p:nvPicPr>
          <p:cNvPr id="8" name="图片 7"/>
          <p:cNvPicPr>
            <a:picLocks noChangeAspect="1"/>
          </p:cNvPicPr>
          <p:nvPr/>
        </p:nvPicPr>
        <p:blipFill>
          <a:blip r:embed="rId4"/>
          <a:stretch>
            <a:fillRect/>
          </a:stretch>
        </p:blipFill>
        <p:spPr>
          <a:xfrm>
            <a:off x="493486" y="4777830"/>
            <a:ext cx="3615042" cy="1465942"/>
          </a:xfrm>
          <a:prstGeom prst="rect">
            <a:avLst/>
          </a:prstGeom>
        </p:spPr>
      </p:pic>
    </p:spTree>
    <p:extLst>
      <p:ext uri="{BB962C8B-B14F-4D97-AF65-F5344CB8AC3E}">
        <p14:creationId xmlns:p14="http://schemas.microsoft.com/office/powerpoint/2010/main" val="2898806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493486" y="522514"/>
            <a:ext cx="11219543" cy="3046988"/>
          </a:xfrm>
          <a:prstGeom prst="rect">
            <a:avLst/>
          </a:prstGeom>
          <a:noFill/>
        </p:spPr>
        <p:txBody>
          <a:bodyPr wrap="square" rtlCol="0">
            <a:spAutoFit/>
          </a:bodyPr>
          <a:lstStyle/>
          <a:p>
            <a:pPr>
              <a:lnSpc>
                <a:spcPct val="150000"/>
              </a:lnSpc>
            </a:pPr>
            <a:r>
              <a:rPr lang="zh-CN" altLang="en-US" sz="1800" dirty="0" smtClean="0"/>
              <a:t>为了将</a:t>
            </a:r>
            <a:r>
              <a:rPr lang="en-US" altLang="zh-CN" sz="1800" dirty="0" smtClean="0"/>
              <a:t>HMC307</a:t>
            </a:r>
            <a:r>
              <a:rPr lang="zh-CN" altLang="en-US" sz="1800" dirty="0" smtClean="0"/>
              <a:t>与单片机匹配，可以有两种办法：</a:t>
            </a:r>
            <a:endParaRPr lang="en-US" altLang="zh-CN" sz="1800" dirty="0" smtClean="0"/>
          </a:p>
          <a:p>
            <a:pPr marL="800100" lvl="1" indent="-342900">
              <a:lnSpc>
                <a:spcPct val="150000"/>
              </a:lnSpc>
              <a:buFont typeface="Arial" panose="020B0604020202020204" pitchFamily="34" charset="0"/>
              <a:buChar char="•"/>
            </a:pPr>
            <a:r>
              <a:rPr lang="en-US" altLang="zh-CN" sz="1800" dirty="0" smtClean="0"/>
              <a:t>HMC307</a:t>
            </a:r>
            <a:r>
              <a:rPr lang="zh-CN" altLang="en-US" sz="1800" dirty="0" smtClean="0"/>
              <a:t>采用负电源供电，单片机的输出通过电平移动电路下移（</a:t>
            </a:r>
            <a:r>
              <a:rPr lang="en-US" altLang="zh-CN" sz="1800" dirty="0" smtClean="0"/>
              <a:t>datasheet</a:t>
            </a:r>
            <a:r>
              <a:rPr lang="zh-CN" altLang="en-US" sz="1800" dirty="0" smtClean="0"/>
              <a:t>中提供了电平移动电路，可以参考）</a:t>
            </a:r>
            <a:endParaRPr lang="en-US" altLang="zh-CN" sz="1800" dirty="0" smtClean="0"/>
          </a:p>
          <a:p>
            <a:pPr marL="800100" lvl="1" indent="-342900">
              <a:lnSpc>
                <a:spcPct val="150000"/>
              </a:lnSpc>
              <a:buFont typeface="Arial" panose="020B0604020202020204" pitchFamily="34" charset="0"/>
              <a:buChar char="•"/>
            </a:pPr>
            <a:r>
              <a:rPr lang="en-US" altLang="zh-CN" sz="1800" dirty="0" smtClean="0"/>
              <a:t>HMC307</a:t>
            </a:r>
            <a:r>
              <a:rPr lang="zh-CN" altLang="en-US" sz="1800" dirty="0" smtClean="0"/>
              <a:t>直接采用</a:t>
            </a:r>
            <a:r>
              <a:rPr lang="en-US" altLang="zh-CN" sz="1800" dirty="0" smtClean="0"/>
              <a:t>+5V</a:t>
            </a:r>
            <a:r>
              <a:rPr lang="zh-CN" altLang="en-US" sz="1800" dirty="0" smtClean="0"/>
              <a:t>供电：将芯片的</a:t>
            </a:r>
            <a:r>
              <a:rPr lang="en-US" altLang="zh-CN" sz="1800" dirty="0" smtClean="0"/>
              <a:t>VEE</a:t>
            </a:r>
            <a:r>
              <a:rPr lang="zh-CN" altLang="en-US" sz="1800" dirty="0" smtClean="0"/>
              <a:t>接地、</a:t>
            </a:r>
            <a:r>
              <a:rPr lang="en-US" altLang="zh-CN" sz="1800" dirty="0" smtClean="0"/>
              <a:t>GND</a:t>
            </a:r>
            <a:r>
              <a:rPr lang="zh-CN" altLang="en-US" sz="1800" dirty="0" smtClean="0"/>
              <a:t>接</a:t>
            </a:r>
            <a:r>
              <a:rPr lang="en-US" altLang="zh-CN" sz="1800" dirty="0" smtClean="0"/>
              <a:t>+5V</a:t>
            </a:r>
            <a:r>
              <a:rPr lang="zh-CN" altLang="en-US" sz="1800" dirty="0" smtClean="0"/>
              <a:t>，此时控制电平</a:t>
            </a:r>
            <a:r>
              <a:rPr lang="en-US" altLang="zh-CN" sz="1800" dirty="0" smtClean="0"/>
              <a:t>high</a:t>
            </a:r>
            <a:r>
              <a:rPr lang="zh-CN" altLang="en-US" sz="1800" dirty="0" smtClean="0"/>
              <a:t>对应单片机的逻辑</a:t>
            </a:r>
            <a:r>
              <a:rPr lang="en-US" altLang="zh-CN" sz="1800" dirty="0" smtClean="0"/>
              <a:t>0</a:t>
            </a:r>
            <a:r>
              <a:rPr lang="zh-CN" altLang="en-US" sz="1800" dirty="0" smtClean="0"/>
              <a:t>，</a:t>
            </a:r>
            <a:r>
              <a:rPr lang="en-US" altLang="zh-CN" sz="1800" dirty="0" smtClean="0"/>
              <a:t>low</a:t>
            </a:r>
            <a:r>
              <a:rPr lang="zh-CN" altLang="en-US" sz="1800" dirty="0" smtClean="0"/>
              <a:t>对应单片机的逻辑</a:t>
            </a:r>
            <a:r>
              <a:rPr lang="en-US" altLang="zh-CN" sz="1800" dirty="0" smtClean="0"/>
              <a:t>1</a:t>
            </a:r>
            <a:r>
              <a:rPr lang="zh-CN" altLang="en-US" sz="1800" dirty="0" smtClean="0"/>
              <a:t>，需要在控制程序中做一个变换。由于高频信号通过电容耦合，所以对于信号没有影响</a:t>
            </a:r>
            <a:endParaRPr lang="en-US" altLang="zh-CN" sz="1800" dirty="0"/>
          </a:p>
          <a:p>
            <a:pPr>
              <a:lnSpc>
                <a:spcPct val="150000"/>
              </a:lnSpc>
            </a:pPr>
            <a:r>
              <a:rPr lang="zh-CN" altLang="en-US" sz="1800" dirty="0" smtClean="0"/>
              <a:t>只要处理好电源退耦，第二种方法更方便</a:t>
            </a:r>
            <a:endParaRPr lang="en-US" altLang="zh-CN" sz="1800" dirty="0" smtClean="0"/>
          </a:p>
        </p:txBody>
      </p:sp>
    </p:spTree>
    <p:extLst>
      <p:ext uri="{BB962C8B-B14F-4D97-AF65-F5344CB8AC3E}">
        <p14:creationId xmlns:p14="http://schemas.microsoft.com/office/powerpoint/2010/main" val="2440500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矩形 4"/>
          <p:cNvSpPr/>
          <p:nvPr/>
        </p:nvSpPr>
        <p:spPr>
          <a:xfrm>
            <a:off x="406402" y="429856"/>
            <a:ext cx="11248570" cy="5539978"/>
          </a:xfrm>
          <a:prstGeom prst="rect">
            <a:avLst/>
          </a:prstGeom>
        </p:spPr>
        <p:txBody>
          <a:bodyPr wrap="square">
            <a:spAutoFit/>
          </a:bodyPr>
          <a:lstStyle/>
          <a:p>
            <a:pPr algn="just">
              <a:lnSpc>
                <a:spcPct val="150000"/>
              </a:lnSpc>
              <a:spcAft>
                <a:spcPts val="0"/>
              </a:spcAft>
            </a:pPr>
            <a:r>
              <a:rPr lang="zh-CN" altLang="en-US" kern="100" dirty="0" smtClean="0">
                <a:solidFill>
                  <a:srgbClr val="FF0000"/>
                </a:solidFill>
                <a:latin typeface="Arial" panose="020B0604020202020204" pitchFamily="34" charset="0"/>
              </a:rPr>
              <a:t>本题的设计方案</a:t>
            </a:r>
            <a:endParaRPr lang="en-US" altLang="zh-CN" kern="100" dirty="0" smtClean="0">
              <a:latin typeface="Arial" panose="020B0604020202020204" pitchFamily="34" charset="0"/>
            </a:endParaRPr>
          </a:p>
          <a:p>
            <a:pPr algn="just">
              <a:lnSpc>
                <a:spcPct val="150000"/>
              </a:lnSpc>
              <a:spcAft>
                <a:spcPts val="0"/>
              </a:spcAft>
            </a:pPr>
            <a:r>
              <a:rPr lang="zh-CN" altLang="en-US" sz="1800" kern="100" dirty="0" smtClean="0">
                <a:latin typeface="Arial" panose="020B0604020202020204" pitchFamily="34" charset="0"/>
              </a:rPr>
              <a:t>主要选择依据：</a:t>
            </a:r>
            <a:r>
              <a:rPr lang="zh-CN" altLang="zh-CN" sz="1800" kern="100" dirty="0" smtClean="0">
                <a:latin typeface="Arial" panose="020B0604020202020204" pitchFamily="34" charset="0"/>
              </a:rPr>
              <a:t>频响</a:t>
            </a:r>
            <a:r>
              <a:rPr lang="zh-CN" altLang="en-US" sz="1800" kern="100" dirty="0" smtClean="0">
                <a:latin typeface="Arial" panose="020B0604020202020204" pitchFamily="34" charset="0"/>
              </a:rPr>
              <a:t>、增益、输出功率</a:t>
            </a:r>
            <a:endParaRPr lang="en-US" altLang="zh-CN" sz="1800" kern="100" dirty="0" smtClean="0">
              <a:latin typeface="Arial" panose="020B0604020202020204" pitchFamily="34" charset="0"/>
            </a:endParaRPr>
          </a:p>
          <a:p>
            <a:pPr marL="285750" indent="-285750" algn="just">
              <a:lnSpc>
                <a:spcPct val="150000"/>
              </a:lnSpc>
              <a:spcAft>
                <a:spcPts val="0"/>
              </a:spcAft>
              <a:buFont typeface="Arial" panose="020B0604020202020204" pitchFamily="34" charset="0"/>
              <a:buChar char="•"/>
            </a:pPr>
            <a:r>
              <a:rPr lang="zh-CN" altLang="en-US" sz="1800" dirty="0">
                <a:latin typeface="Arial" panose="020B0604020202020204" pitchFamily="34" charset="0"/>
                <a:cs typeface="Times New Roman" panose="02020603050405020304" pitchFamily="18" charset="0"/>
              </a:rPr>
              <a:t>选</a:t>
            </a:r>
            <a:r>
              <a:rPr lang="zh-CN" altLang="zh-CN" sz="1800" dirty="0">
                <a:latin typeface="Arial" panose="020B0604020202020204" pitchFamily="34" charset="0"/>
                <a:cs typeface="Times New Roman" panose="02020603050405020304" pitchFamily="18" charset="0"/>
              </a:rPr>
              <a:t>用</a:t>
            </a:r>
            <a:r>
              <a:rPr lang="en-US" altLang="zh-CN" sz="1800" dirty="0">
                <a:latin typeface="Arial" panose="020B0604020202020204" pitchFamily="34" charset="0"/>
              </a:rPr>
              <a:t>HMC307</a:t>
            </a:r>
            <a:r>
              <a:rPr lang="zh-CN" altLang="zh-CN" sz="1800" dirty="0">
                <a:latin typeface="Arial" panose="020B0604020202020204" pitchFamily="34" charset="0"/>
                <a:cs typeface="Times New Roman" panose="02020603050405020304" pitchFamily="18" charset="0"/>
              </a:rPr>
              <a:t>数控高频衰减器</a:t>
            </a:r>
            <a:r>
              <a:rPr lang="zh-CN" altLang="en-US" sz="1800" dirty="0">
                <a:latin typeface="Arial" panose="020B0604020202020204" pitchFamily="34" charset="0"/>
                <a:cs typeface="Times New Roman" panose="02020603050405020304" pitchFamily="18" charset="0"/>
              </a:rPr>
              <a:t>，</a:t>
            </a:r>
            <a:r>
              <a:rPr lang="zh-CN" altLang="zh-CN" sz="1800" dirty="0">
                <a:latin typeface="Arial" panose="020B0604020202020204" pitchFamily="34" charset="0"/>
                <a:cs typeface="Times New Roman" panose="02020603050405020304" pitchFamily="18" charset="0"/>
              </a:rPr>
              <a:t>两片串联后可以实现</a:t>
            </a:r>
            <a:r>
              <a:rPr lang="en-US" altLang="zh-CN" sz="1800" dirty="0">
                <a:latin typeface="Arial" panose="020B0604020202020204" pitchFamily="34" charset="0"/>
              </a:rPr>
              <a:t>62dB</a:t>
            </a:r>
            <a:r>
              <a:rPr lang="zh-CN" altLang="zh-CN" sz="1800" dirty="0">
                <a:latin typeface="Arial" panose="020B0604020202020204" pitchFamily="34" charset="0"/>
                <a:cs typeface="Times New Roman" panose="02020603050405020304" pitchFamily="18" charset="0"/>
              </a:rPr>
              <a:t>的可控衰减范围</a:t>
            </a:r>
            <a:r>
              <a:rPr lang="zh-CN" altLang="en-US" sz="1800" dirty="0">
                <a:latin typeface="Arial" panose="020B0604020202020204" pitchFamily="34" charset="0"/>
                <a:cs typeface="Times New Roman" panose="02020603050405020304" pitchFamily="18" charset="0"/>
              </a:rPr>
              <a:t>，</a:t>
            </a:r>
            <a:r>
              <a:rPr lang="zh-CN" altLang="zh-CN" sz="1800" dirty="0">
                <a:latin typeface="Arial" panose="020B0604020202020204" pitchFamily="34" charset="0"/>
                <a:cs typeface="Times New Roman" panose="02020603050405020304" pitchFamily="18" charset="0"/>
              </a:rPr>
              <a:t>远大于题目要求</a:t>
            </a:r>
            <a:r>
              <a:rPr lang="zh-CN" altLang="en-US" sz="1800" dirty="0">
                <a:latin typeface="Arial" panose="020B0604020202020204" pitchFamily="34" charset="0"/>
                <a:cs typeface="Times New Roman" panose="02020603050405020304" pitchFamily="18" charset="0"/>
              </a:rPr>
              <a:t>的衰减控制范围（</a:t>
            </a:r>
            <a:r>
              <a:rPr lang="en-US" altLang="zh-CN" sz="1800" dirty="0">
                <a:latin typeface="Arial" panose="020B0604020202020204" pitchFamily="34" charset="0"/>
                <a:cs typeface="Times New Roman" panose="02020603050405020304" pitchFamily="18" charset="0"/>
              </a:rPr>
              <a:t>40dB</a:t>
            </a:r>
            <a:r>
              <a:rPr lang="zh-CN" altLang="en-US" sz="1800" dirty="0">
                <a:latin typeface="Arial" panose="020B0604020202020204" pitchFamily="34" charset="0"/>
                <a:cs typeface="Times New Roman" panose="02020603050405020304" pitchFamily="18" charset="0"/>
              </a:rPr>
              <a:t>），总</a:t>
            </a:r>
            <a:r>
              <a:rPr lang="zh-CN" altLang="zh-CN" sz="1800" dirty="0">
                <a:latin typeface="Arial" panose="020B0604020202020204" pitchFamily="34" charset="0"/>
                <a:cs typeface="Times New Roman" panose="02020603050405020304" pitchFamily="18" charset="0"/>
              </a:rPr>
              <a:t>插入损耗大约</a:t>
            </a:r>
            <a:r>
              <a:rPr lang="en-US" altLang="zh-CN" sz="1800" dirty="0">
                <a:latin typeface="Arial" panose="020B0604020202020204" pitchFamily="34" charset="0"/>
              </a:rPr>
              <a:t>4dB</a:t>
            </a:r>
            <a:endParaRPr lang="en-US" altLang="zh-CN" sz="18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zh-CN" sz="1800" dirty="0">
                <a:latin typeface="Arial" panose="020B0604020202020204" pitchFamily="34" charset="0"/>
                <a:cs typeface="Times New Roman" panose="02020603050405020304" pitchFamily="18" charset="0"/>
              </a:rPr>
              <a:t>在放大器中插入</a:t>
            </a:r>
            <a:r>
              <a:rPr lang="en-US" altLang="zh-CN" sz="1800" dirty="0">
                <a:latin typeface="Arial" panose="020B0604020202020204" pitchFamily="34" charset="0"/>
              </a:rPr>
              <a:t>LC</a:t>
            </a:r>
            <a:r>
              <a:rPr lang="zh-CN" altLang="zh-CN" sz="1800" dirty="0">
                <a:latin typeface="Arial" panose="020B0604020202020204" pitchFamily="34" charset="0"/>
                <a:cs typeface="Times New Roman" panose="02020603050405020304" pitchFamily="18" charset="0"/>
              </a:rPr>
              <a:t>滤波器</a:t>
            </a:r>
            <a:r>
              <a:rPr lang="zh-CN" altLang="en-US" sz="1800" dirty="0">
                <a:latin typeface="Arial" panose="020B0604020202020204" pitchFamily="34" charset="0"/>
                <a:cs typeface="Times New Roman" panose="02020603050405020304" pitchFamily="18" charset="0"/>
              </a:rPr>
              <a:t>以</a:t>
            </a:r>
            <a:r>
              <a:rPr lang="zh-CN" altLang="zh-CN" sz="1800" dirty="0">
                <a:latin typeface="Arial" panose="020B0604020202020204" pitchFamily="34" charset="0"/>
                <a:cs typeface="Times New Roman" panose="02020603050405020304" pitchFamily="18" charset="0"/>
              </a:rPr>
              <a:t>满足</a:t>
            </a:r>
            <a:r>
              <a:rPr lang="zh-CN" altLang="en-US" sz="1800" dirty="0">
                <a:latin typeface="Arial" panose="020B0604020202020204" pitchFamily="34" charset="0"/>
                <a:cs typeface="Times New Roman" panose="02020603050405020304" pitchFamily="18" charset="0"/>
              </a:rPr>
              <a:t>题目要求的</a:t>
            </a:r>
            <a:r>
              <a:rPr lang="zh-CN" altLang="zh-CN" sz="1800" dirty="0">
                <a:latin typeface="Arial" panose="020B0604020202020204" pitchFamily="34" charset="0"/>
                <a:cs typeface="Times New Roman" panose="02020603050405020304" pitchFamily="18" charset="0"/>
              </a:rPr>
              <a:t>频率特性。采用一个低通滤波器和一个高通滤波器相结合的做法，将两个滤波器分别插入不同的放大器</a:t>
            </a:r>
            <a:r>
              <a:rPr lang="zh-CN" altLang="zh-CN" sz="1800" dirty="0" smtClean="0">
                <a:latin typeface="Arial" panose="020B0604020202020204" pitchFamily="34" charset="0"/>
                <a:cs typeface="Times New Roman" panose="02020603050405020304" pitchFamily="18" charset="0"/>
              </a:rPr>
              <a:t>之间</a:t>
            </a:r>
            <a:r>
              <a:rPr lang="zh-CN" altLang="en-US" sz="1800" dirty="0" smtClean="0">
                <a:latin typeface="Arial" panose="020B0604020202020204" pitchFamily="34" charset="0"/>
                <a:cs typeface="Times New Roman" panose="02020603050405020304" pitchFamily="18" charset="0"/>
              </a:rPr>
              <a:t>。此滤波器会引入一定的插入损耗</a:t>
            </a:r>
            <a:endParaRPr lang="en-US" altLang="zh-CN" sz="1800" dirty="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en-US" sz="1800" kern="100" dirty="0" smtClean="0">
                <a:latin typeface="Arial" panose="020B0604020202020204" pitchFamily="34" charset="0"/>
              </a:rPr>
              <a:t>从整机的增益考虑，</a:t>
            </a:r>
            <a:r>
              <a:rPr lang="zh-CN" altLang="en-US" sz="1800" dirty="0" smtClean="0">
                <a:latin typeface="Arial" panose="020B0604020202020204" pitchFamily="34" charset="0"/>
                <a:cs typeface="Times New Roman" panose="02020603050405020304" pitchFamily="18" charset="0"/>
              </a:rPr>
              <a:t>数控衰减器与</a:t>
            </a:r>
            <a:r>
              <a:rPr lang="en-US" altLang="zh-CN" sz="1800" dirty="0" smtClean="0">
                <a:latin typeface="Arial" panose="020B0604020202020204" pitchFamily="34" charset="0"/>
                <a:cs typeface="Times New Roman" panose="02020603050405020304" pitchFamily="18" charset="0"/>
              </a:rPr>
              <a:t>LC</a:t>
            </a:r>
            <a:r>
              <a:rPr lang="zh-CN" altLang="en-US" sz="1800" dirty="0" smtClean="0">
                <a:latin typeface="Arial" panose="020B0604020202020204" pitchFamily="34" charset="0"/>
                <a:cs typeface="Times New Roman" panose="02020603050405020304" pitchFamily="18" charset="0"/>
              </a:rPr>
              <a:t>滤波器的插入损耗大概有</a:t>
            </a:r>
            <a:r>
              <a:rPr lang="en-US" altLang="zh-CN" sz="1800" dirty="0" smtClean="0">
                <a:latin typeface="Arial" panose="020B0604020202020204" pitchFamily="34" charset="0"/>
                <a:cs typeface="Times New Roman" panose="02020603050405020304" pitchFamily="18" charset="0"/>
              </a:rPr>
              <a:t>6dB</a:t>
            </a:r>
            <a:r>
              <a:rPr lang="zh-CN" altLang="en-US" sz="1800" dirty="0" smtClean="0">
                <a:latin typeface="Arial" panose="020B0604020202020204" pitchFamily="34" charset="0"/>
                <a:cs typeface="Times New Roman" panose="02020603050405020304" pitchFamily="18" charset="0"/>
              </a:rPr>
              <a:t>，整机要求大于</a:t>
            </a:r>
            <a:r>
              <a:rPr lang="en-US" altLang="zh-CN" sz="1800" dirty="0" smtClean="0">
                <a:latin typeface="Arial" panose="020B0604020202020204" pitchFamily="34" charset="0"/>
                <a:cs typeface="Times New Roman" panose="02020603050405020304" pitchFamily="18" charset="0"/>
              </a:rPr>
              <a:t>52dB</a:t>
            </a:r>
            <a:r>
              <a:rPr lang="zh-CN" altLang="en-US" sz="1800" dirty="0" smtClean="0">
                <a:latin typeface="Arial" panose="020B0604020202020204" pitchFamily="34" charset="0"/>
                <a:cs typeface="Times New Roman" panose="02020603050405020304" pitchFamily="18" charset="0"/>
              </a:rPr>
              <a:t>，选用</a:t>
            </a:r>
            <a:r>
              <a:rPr lang="en-US" altLang="zh-CN" sz="1800" dirty="0" smtClean="0">
                <a:latin typeface="Arial" panose="020B0604020202020204" pitchFamily="34" charset="0"/>
                <a:cs typeface="Times New Roman" panose="02020603050405020304" pitchFamily="18" charset="0"/>
              </a:rPr>
              <a:t>HMC580</a:t>
            </a:r>
            <a:r>
              <a:rPr lang="zh-CN" altLang="en-US" sz="1800" dirty="0" smtClean="0">
                <a:latin typeface="Arial" panose="020B0604020202020204" pitchFamily="34" charset="0"/>
                <a:cs typeface="Times New Roman" panose="02020603050405020304" pitchFamily="18" charset="0"/>
              </a:rPr>
              <a:t>（增益</a:t>
            </a:r>
            <a:r>
              <a:rPr lang="en-US" altLang="zh-CN" sz="1800" dirty="0" smtClean="0">
                <a:latin typeface="Arial" panose="020B0604020202020204" pitchFamily="34" charset="0"/>
                <a:cs typeface="Times New Roman" panose="02020603050405020304" pitchFamily="18" charset="0"/>
              </a:rPr>
              <a:t>22dB</a:t>
            </a:r>
            <a:r>
              <a:rPr lang="zh-CN" altLang="en-US" sz="1800" dirty="0" smtClean="0">
                <a:latin typeface="Arial" panose="020B0604020202020204" pitchFamily="34" charset="0"/>
                <a:cs typeface="Times New Roman" panose="02020603050405020304" pitchFamily="18" charset="0"/>
              </a:rPr>
              <a:t>）需要</a:t>
            </a:r>
            <a:r>
              <a:rPr lang="en-US" altLang="zh-CN" sz="1800" dirty="0" smtClean="0">
                <a:latin typeface="Arial" panose="020B0604020202020204" pitchFamily="34" charset="0"/>
                <a:cs typeface="Times New Roman" panose="02020603050405020304" pitchFamily="18" charset="0"/>
              </a:rPr>
              <a:t>3</a:t>
            </a:r>
            <a:r>
              <a:rPr lang="zh-CN" altLang="en-US" sz="1800" dirty="0" smtClean="0">
                <a:latin typeface="Arial" panose="020B0604020202020204" pitchFamily="34" charset="0"/>
                <a:cs typeface="Times New Roman" panose="02020603050405020304" pitchFamily="18" charset="0"/>
              </a:rPr>
              <a:t>级放大；选用</a:t>
            </a:r>
            <a:r>
              <a:rPr lang="en-US" altLang="zh-CN" sz="1800" dirty="0" smtClean="0">
                <a:latin typeface="Arial" panose="020B0604020202020204" pitchFamily="34" charset="0"/>
                <a:cs typeface="Times New Roman" panose="02020603050405020304" pitchFamily="18" charset="0"/>
              </a:rPr>
              <a:t>HMC480</a:t>
            </a:r>
            <a:r>
              <a:rPr lang="zh-CN" altLang="en-US" sz="1800" dirty="0">
                <a:latin typeface="Arial" panose="020B0604020202020204" pitchFamily="34" charset="0"/>
                <a:cs typeface="Times New Roman" panose="02020603050405020304" pitchFamily="18" charset="0"/>
              </a:rPr>
              <a:t> （</a:t>
            </a:r>
            <a:r>
              <a:rPr lang="zh-CN" altLang="en-US" sz="1800" dirty="0" smtClean="0">
                <a:latin typeface="Arial" panose="020B0604020202020204" pitchFamily="34" charset="0"/>
                <a:cs typeface="Times New Roman" panose="02020603050405020304" pitchFamily="18" charset="0"/>
              </a:rPr>
              <a:t>增益</a:t>
            </a:r>
            <a:r>
              <a:rPr lang="en-US" altLang="zh-CN" sz="1800" dirty="0" smtClean="0">
                <a:latin typeface="Arial" panose="020B0604020202020204" pitchFamily="34" charset="0"/>
                <a:cs typeface="Times New Roman" panose="02020603050405020304" pitchFamily="18" charset="0"/>
              </a:rPr>
              <a:t>19dB</a:t>
            </a:r>
            <a:r>
              <a:rPr lang="zh-CN" altLang="en-US" sz="1800" dirty="0" smtClean="0">
                <a:latin typeface="Arial" panose="020B0604020202020204" pitchFamily="34" charset="0"/>
                <a:cs typeface="Times New Roman" panose="02020603050405020304" pitchFamily="18" charset="0"/>
              </a:rPr>
              <a:t>）可能需要</a:t>
            </a:r>
            <a:r>
              <a:rPr lang="en-US" altLang="zh-CN" sz="1800" dirty="0" smtClean="0">
                <a:latin typeface="Arial" panose="020B0604020202020204" pitchFamily="34" charset="0"/>
                <a:cs typeface="Times New Roman" panose="02020603050405020304" pitchFamily="18" charset="0"/>
              </a:rPr>
              <a:t>4</a:t>
            </a:r>
            <a:r>
              <a:rPr lang="zh-CN" altLang="en-US" sz="1800" dirty="0" smtClean="0">
                <a:latin typeface="Arial" panose="020B0604020202020204" pitchFamily="34" charset="0"/>
                <a:cs typeface="Times New Roman" panose="02020603050405020304" pitchFamily="18" charset="0"/>
              </a:rPr>
              <a:t>级放大；选用</a:t>
            </a:r>
            <a:r>
              <a:rPr lang="en-US" altLang="zh-CN" sz="1800" dirty="0" smtClean="0">
                <a:latin typeface="Arial" panose="020B0604020202020204" pitchFamily="34" charset="0"/>
                <a:cs typeface="Times New Roman" panose="02020603050405020304" pitchFamily="18" charset="0"/>
              </a:rPr>
              <a:t>ADL5530</a:t>
            </a:r>
            <a:r>
              <a:rPr lang="zh-CN" altLang="en-US" sz="1800" dirty="0" smtClean="0">
                <a:latin typeface="Arial" panose="020B0604020202020204" pitchFamily="34" charset="0"/>
                <a:cs typeface="Times New Roman" panose="02020603050405020304" pitchFamily="18" charset="0"/>
              </a:rPr>
              <a:t> </a:t>
            </a:r>
            <a:r>
              <a:rPr lang="zh-CN" altLang="en-US" sz="1800" dirty="0">
                <a:latin typeface="Arial" panose="020B0604020202020204" pitchFamily="34" charset="0"/>
                <a:cs typeface="Times New Roman" panose="02020603050405020304" pitchFamily="18" charset="0"/>
              </a:rPr>
              <a:t>（增益</a:t>
            </a:r>
            <a:r>
              <a:rPr lang="en-US" altLang="zh-CN" sz="1800" dirty="0">
                <a:latin typeface="Arial" panose="020B0604020202020204" pitchFamily="34" charset="0"/>
                <a:cs typeface="Times New Roman" panose="02020603050405020304" pitchFamily="18" charset="0"/>
              </a:rPr>
              <a:t>16.5dB</a:t>
            </a:r>
            <a:r>
              <a:rPr lang="zh-CN" altLang="en-US" sz="1800" dirty="0" smtClean="0">
                <a:latin typeface="Arial" panose="020B0604020202020204" pitchFamily="34" charset="0"/>
                <a:cs typeface="Times New Roman" panose="02020603050405020304" pitchFamily="18" charset="0"/>
              </a:rPr>
              <a:t>）肯定需要</a:t>
            </a:r>
            <a:r>
              <a:rPr lang="en-US" altLang="zh-CN" sz="1800" dirty="0" smtClean="0">
                <a:latin typeface="Arial" panose="020B0604020202020204" pitchFamily="34" charset="0"/>
                <a:cs typeface="Times New Roman" panose="02020603050405020304" pitchFamily="18" charset="0"/>
              </a:rPr>
              <a:t>4</a:t>
            </a:r>
            <a:r>
              <a:rPr lang="zh-CN" altLang="en-US" sz="1800" dirty="0" smtClean="0">
                <a:latin typeface="Arial" panose="020B0604020202020204" pitchFamily="34" charset="0"/>
                <a:cs typeface="Times New Roman" panose="02020603050405020304" pitchFamily="18" charset="0"/>
              </a:rPr>
              <a:t>级放大</a:t>
            </a:r>
            <a:endParaRPr lang="en-US" altLang="zh-CN" sz="1800" dirty="0" smtClean="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en-US" sz="1800" dirty="0" smtClean="0">
                <a:latin typeface="Arial" panose="020B0604020202020204" pitchFamily="34" charset="0"/>
                <a:cs typeface="Times New Roman" panose="02020603050405020304" pitchFamily="18" charset="0"/>
              </a:rPr>
              <a:t>从输出功率要求考虑，题目要求不低于</a:t>
            </a:r>
            <a:r>
              <a:rPr lang="en-US" altLang="zh-CN" sz="1800" dirty="0" smtClean="0">
                <a:latin typeface="Arial" panose="020B0604020202020204" pitchFamily="34" charset="0"/>
                <a:cs typeface="Times New Roman" panose="02020603050405020304" pitchFamily="18" charset="0"/>
              </a:rPr>
              <a:t>19dBm</a:t>
            </a:r>
            <a:r>
              <a:rPr lang="zh-CN" altLang="en-US" sz="1800" dirty="0" smtClean="0">
                <a:latin typeface="Arial" panose="020B0604020202020204" pitchFamily="34" charset="0"/>
                <a:cs typeface="Times New Roman" panose="02020603050405020304" pitchFamily="18" charset="0"/>
              </a:rPr>
              <a:t>，</a:t>
            </a:r>
            <a:r>
              <a:rPr lang="en-US" altLang="zh-CN" sz="1800" dirty="0" smtClean="0">
                <a:latin typeface="Arial" panose="020B0604020202020204" pitchFamily="34" charset="0"/>
                <a:cs typeface="Times New Roman" panose="02020603050405020304" pitchFamily="18" charset="0"/>
              </a:rPr>
              <a:t>HMC580</a:t>
            </a:r>
            <a:r>
              <a:rPr lang="zh-CN" altLang="en-US" sz="1800" dirty="0" smtClean="0">
                <a:latin typeface="Arial" panose="020B0604020202020204" pitchFamily="34" charset="0"/>
                <a:cs typeface="Times New Roman" panose="02020603050405020304" pitchFamily="18" charset="0"/>
              </a:rPr>
              <a:t>与</a:t>
            </a:r>
            <a:r>
              <a:rPr lang="en-US" altLang="zh-CN" sz="1800" dirty="0" smtClean="0">
                <a:latin typeface="Arial" panose="020B0604020202020204" pitchFamily="34" charset="0"/>
                <a:cs typeface="Times New Roman" panose="02020603050405020304" pitchFamily="18" charset="0"/>
              </a:rPr>
              <a:t>HMC480</a:t>
            </a:r>
            <a:r>
              <a:rPr lang="zh-CN" altLang="en-US" sz="1800" dirty="0" smtClean="0">
                <a:latin typeface="Arial" panose="020B0604020202020204" pitchFamily="34" charset="0"/>
                <a:cs typeface="Times New Roman" panose="02020603050405020304" pitchFamily="18" charset="0"/>
              </a:rPr>
              <a:t>的</a:t>
            </a:r>
            <a:r>
              <a:rPr lang="en-US" altLang="zh-CN" sz="1800" dirty="0" smtClean="0">
                <a:latin typeface="Arial" panose="020B0604020202020204" pitchFamily="34" charset="0"/>
                <a:cs typeface="Times New Roman" panose="02020603050405020304" pitchFamily="18" charset="0"/>
              </a:rPr>
              <a:t>1dB</a:t>
            </a:r>
            <a:r>
              <a:rPr lang="zh-CN" altLang="en-US" sz="1800" dirty="0" smtClean="0">
                <a:latin typeface="Arial" panose="020B0604020202020204" pitchFamily="34" charset="0"/>
                <a:cs typeface="Times New Roman" panose="02020603050405020304" pitchFamily="18" charset="0"/>
              </a:rPr>
              <a:t>压缩点均为</a:t>
            </a:r>
            <a:r>
              <a:rPr lang="en-US" altLang="zh-CN" sz="1800" dirty="0" smtClean="0">
                <a:latin typeface="Arial" panose="020B0604020202020204" pitchFamily="34" charset="0"/>
                <a:cs typeface="Times New Roman" panose="02020603050405020304" pitchFamily="18" charset="0"/>
              </a:rPr>
              <a:t>19dBm</a:t>
            </a:r>
            <a:r>
              <a:rPr lang="zh-CN" altLang="en-US" sz="1800" dirty="0" smtClean="0">
                <a:latin typeface="Arial" panose="020B0604020202020204" pitchFamily="34" charset="0"/>
                <a:cs typeface="Times New Roman" panose="02020603050405020304" pitchFamily="18" charset="0"/>
              </a:rPr>
              <a:t>，勉强够用；</a:t>
            </a:r>
            <a:r>
              <a:rPr lang="en-US" altLang="zh-CN" sz="1800" dirty="0" smtClean="0">
                <a:latin typeface="Arial" panose="020B0604020202020204" pitchFamily="34" charset="0"/>
                <a:cs typeface="Times New Roman" panose="02020603050405020304" pitchFamily="18" charset="0"/>
              </a:rPr>
              <a:t>ADL5530</a:t>
            </a:r>
            <a:r>
              <a:rPr lang="zh-CN" altLang="en-US" sz="1800" dirty="0" smtClean="0">
                <a:latin typeface="Arial" panose="020B0604020202020204" pitchFamily="34" charset="0"/>
                <a:cs typeface="Times New Roman" panose="02020603050405020304" pitchFamily="18" charset="0"/>
              </a:rPr>
              <a:t>的</a:t>
            </a:r>
            <a:r>
              <a:rPr lang="en-US" altLang="zh-CN" sz="1800" dirty="0" smtClean="0">
                <a:latin typeface="Arial" panose="020B0604020202020204" pitchFamily="34" charset="0"/>
                <a:cs typeface="Times New Roman" panose="02020603050405020304" pitchFamily="18" charset="0"/>
              </a:rPr>
              <a:t>1dB</a:t>
            </a:r>
            <a:r>
              <a:rPr lang="zh-CN" altLang="en-US" sz="1800" dirty="0" smtClean="0">
                <a:latin typeface="Arial" panose="020B0604020202020204" pitchFamily="34" charset="0"/>
                <a:cs typeface="Times New Roman" panose="02020603050405020304" pitchFamily="18" charset="0"/>
              </a:rPr>
              <a:t>压缩点是</a:t>
            </a:r>
            <a:r>
              <a:rPr lang="en-US" altLang="zh-CN" sz="1800" dirty="0" smtClean="0">
                <a:latin typeface="Arial" panose="020B0604020202020204" pitchFamily="34" charset="0"/>
                <a:cs typeface="Times New Roman" panose="02020603050405020304" pitchFamily="18" charset="0"/>
              </a:rPr>
              <a:t>22dBm</a:t>
            </a:r>
            <a:r>
              <a:rPr lang="zh-CN" altLang="en-US" sz="1800" dirty="0" smtClean="0">
                <a:latin typeface="Arial" panose="020B0604020202020204" pitchFamily="34" charset="0"/>
                <a:cs typeface="Times New Roman" panose="02020603050405020304" pitchFamily="18" charset="0"/>
              </a:rPr>
              <a:t>，比要求的</a:t>
            </a:r>
            <a:r>
              <a:rPr lang="en-US" altLang="zh-CN" sz="1800" dirty="0" smtClean="0">
                <a:latin typeface="Arial" panose="020B0604020202020204" pitchFamily="34" charset="0"/>
                <a:cs typeface="Times New Roman" panose="02020603050405020304" pitchFamily="18" charset="0"/>
              </a:rPr>
              <a:t>19dBm</a:t>
            </a:r>
            <a:r>
              <a:rPr lang="zh-CN" altLang="en-US" sz="1800" dirty="0" smtClean="0">
                <a:latin typeface="Arial" panose="020B0604020202020204" pitchFamily="34" charset="0"/>
                <a:cs typeface="Times New Roman" panose="02020603050405020304" pitchFamily="18" charset="0"/>
              </a:rPr>
              <a:t>大了</a:t>
            </a:r>
            <a:r>
              <a:rPr lang="en-US" altLang="zh-CN" sz="1800" dirty="0" smtClean="0">
                <a:latin typeface="Arial" panose="020B0604020202020204" pitchFamily="34" charset="0"/>
                <a:cs typeface="Times New Roman" panose="02020603050405020304" pitchFamily="18" charset="0"/>
              </a:rPr>
              <a:t>3dB</a:t>
            </a:r>
            <a:r>
              <a:rPr lang="zh-CN" altLang="en-US" sz="1800" dirty="0" smtClean="0">
                <a:latin typeface="Arial" panose="020B0604020202020204" pitchFamily="34" charset="0"/>
                <a:cs typeface="Times New Roman" panose="02020603050405020304" pitchFamily="18" charset="0"/>
              </a:rPr>
              <a:t>，显然更合适</a:t>
            </a:r>
            <a:endParaRPr lang="en-US" altLang="zh-CN" sz="1800" dirty="0" smtClean="0">
              <a:latin typeface="Arial" panose="020B0604020202020204" pitchFamily="34"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zh-CN" altLang="en-US" sz="1800" dirty="0" smtClean="0">
                <a:latin typeface="Arial" panose="020B0604020202020204" pitchFamily="34" charset="0"/>
                <a:cs typeface="Times New Roman" panose="02020603050405020304" pitchFamily="18" charset="0"/>
              </a:rPr>
              <a:t>综上所述，一个比较合适的安排是前面用</a:t>
            </a:r>
            <a:r>
              <a:rPr lang="en-US" altLang="zh-CN" sz="1800" dirty="0" smtClean="0">
                <a:latin typeface="Arial" panose="020B0604020202020204" pitchFamily="34" charset="0"/>
                <a:cs typeface="Times New Roman" panose="02020603050405020304" pitchFamily="18" charset="0"/>
              </a:rPr>
              <a:t>2</a:t>
            </a:r>
            <a:r>
              <a:rPr lang="zh-CN" altLang="en-US" sz="1800" dirty="0" smtClean="0">
                <a:latin typeface="Arial" panose="020B0604020202020204" pitchFamily="34" charset="0"/>
                <a:cs typeface="Times New Roman" panose="02020603050405020304" pitchFamily="18" charset="0"/>
              </a:rPr>
              <a:t>级</a:t>
            </a:r>
            <a:r>
              <a:rPr lang="en-US" altLang="zh-CN" sz="1800" dirty="0" smtClean="0">
                <a:latin typeface="Arial" panose="020B0604020202020204" pitchFamily="34" charset="0"/>
                <a:cs typeface="Times New Roman" panose="02020603050405020304" pitchFamily="18" charset="0"/>
              </a:rPr>
              <a:t>HMC580</a:t>
            </a:r>
            <a:r>
              <a:rPr lang="zh-CN" altLang="en-US" sz="1800" dirty="0" smtClean="0">
                <a:latin typeface="Arial" panose="020B0604020202020204" pitchFamily="34" charset="0"/>
                <a:cs typeface="Times New Roman" panose="02020603050405020304" pitchFamily="18" charset="0"/>
              </a:rPr>
              <a:t>（</a:t>
            </a:r>
            <a:r>
              <a:rPr lang="en-US" altLang="zh-CN" sz="1800" dirty="0" smtClean="0">
                <a:latin typeface="Arial" panose="020B0604020202020204" pitchFamily="34" charset="0"/>
                <a:cs typeface="Times New Roman" panose="02020603050405020304" pitchFamily="18" charset="0"/>
              </a:rPr>
              <a:t>HMC580</a:t>
            </a:r>
            <a:r>
              <a:rPr lang="zh-CN" altLang="en-US" sz="1800" dirty="0" smtClean="0">
                <a:latin typeface="Arial" panose="020B0604020202020204" pitchFamily="34" charset="0"/>
                <a:cs typeface="Times New Roman" panose="02020603050405020304" pitchFamily="18" charset="0"/>
              </a:rPr>
              <a:t>的噪声系数最低，放在最前面是合理的），后面用一级</a:t>
            </a:r>
            <a:r>
              <a:rPr lang="en-US" altLang="zh-CN" sz="1800" dirty="0" smtClean="0">
                <a:latin typeface="Arial" panose="020B0604020202020204" pitchFamily="34" charset="0"/>
                <a:cs typeface="Times New Roman" panose="02020603050405020304" pitchFamily="18" charset="0"/>
              </a:rPr>
              <a:t>ADL5530</a:t>
            </a:r>
            <a:r>
              <a:rPr lang="zh-CN" altLang="en-US" sz="1800" dirty="0" smtClean="0">
                <a:latin typeface="Arial" panose="020B0604020202020204" pitchFamily="34" charset="0"/>
                <a:cs typeface="Times New Roman" panose="02020603050405020304" pitchFamily="18" charset="0"/>
              </a:rPr>
              <a:t>做输出。</a:t>
            </a:r>
            <a:endParaRPr lang="en-US" altLang="zh-CN" sz="1800" dirty="0" smtClean="0">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6565136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矩形 4"/>
          <p:cNvSpPr/>
          <p:nvPr/>
        </p:nvSpPr>
        <p:spPr>
          <a:xfrm>
            <a:off x="406402" y="458884"/>
            <a:ext cx="11248570" cy="456535"/>
          </a:xfrm>
          <a:prstGeom prst="rect">
            <a:avLst/>
          </a:prstGeom>
        </p:spPr>
        <p:txBody>
          <a:bodyPr wrap="square">
            <a:spAutoFit/>
          </a:bodyPr>
          <a:lstStyle/>
          <a:p>
            <a:pPr algn="just">
              <a:lnSpc>
                <a:spcPct val="150000"/>
              </a:lnSpc>
              <a:spcAft>
                <a:spcPts val="0"/>
              </a:spcAft>
            </a:pPr>
            <a:r>
              <a:rPr lang="zh-CN" altLang="en-US" sz="1800" kern="100" dirty="0" smtClean="0">
                <a:latin typeface="Arial" panose="020B0604020202020204" pitchFamily="34" charset="0"/>
              </a:rPr>
              <a:t>结构框图</a:t>
            </a:r>
            <a:endParaRPr lang="en-US" altLang="zh-CN" sz="1800" dirty="0" smtClean="0">
              <a:latin typeface="Arial" panose="020B0604020202020204" pitchFamily="34" charset="0"/>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091650381"/>
              </p:ext>
            </p:extLst>
          </p:nvPr>
        </p:nvGraphicFramePr>
        <p:xfrm>
          <a:off x="1437081" y="1408207"/>
          <a:ext cx="9187211" cy="1398286"/>
        </p:xfrm>
        <a:graphic>
          <a:graphicData uri="http://schemas.openxmlformats.org/presentationml/2006/ole">
            <mc:AlternateContent xmlns:mc="http://schemas.openxmlformats.org/markup-compatibility/2006">
              <mc:Choice xmlns:v="urn:schemas-microsoft-com:vml" Requires="v">
                <p:oleObj spid="_x0000_s27660" name="Visio" r:id="rId3" imgW="4895593" imgH="755656" progId="Visio.Drawing.15">
                  <p:embed/>
                </p:oleObj>
              </mc:Choice>
              <mc:Fallback>
                <p:oleObj name="Visio" r:id="rId3" imgW="4895593" imgH="755656" progId="Visio.Drawing.15">
                  <p:embed/>
                  <p:pic>
                    <p:nvPicPr>
                      <p:cNvPr id="8" name="对象 7"/>
                      <p:cNvPicPr>
                        <a:picLocks noChangeAspect="1" noChangeArrowheads="1"/>
                      </p:cNvPicPr>
                      <p:nvPr/>
                    </p:nvPicPr>
                    <p:blipFill>
                      <a:blip r:embed="rId4"/>
                      <a:srcRect/>
                      <a:stretch>
                        <a:fillRect/>
                      </a:stretch>
                    </p:blipFill>
                    <p:spPr bwMode="auto">
                      <a:xfrm>
                        <a:off x="1437081" y="1408207"/>
                        <a:ext cx="9187211" cy="1398286"/>
                      </a:xfrm>
                      <a:prstGeom prst="rect">
                        <a:avLst/>
                      </a:prstGeom>
                      <a:noFill/>
                    </p:spPr>
                  </p:pic>
                </p:oleObj>
              </mc:Fallback>
            </mc:AlternateContent>
          </a:graphicData>
        </a:graphic>
      </p:graphicFrame>
      <p:sp>
        <p:nvSpPr>
          <p:cNvPr id="6" name="矩形 5"/>
          <p:cNvSpPr/>
          <p:nvPr/>
        </p:nvSpPr>
        <p:spPr>
          <a:xfrm>
            <a:off x="406402" y="3158035"/>
            <a:ext cx="11248570" cy="2003625"/>
          </a:xfrm>
          <a:prstGeom prst="rect">
            <a:avLst/>
          </a:prstGeom>
        </p:spPr>
        <p:txBody>
          <a:bodyPr wrap="square">
            <a:spAutoFit/>
          </a:bodyPr>
          <a:lstStyle/>
          <a:p>
            <a:pPr marL="285750" indent="-285750">
              <a:lnSpc>
                <a:spcPct val="135000"/>
              </a:lnSpc>
              <a:buFont typeface="Arial" panose="020B0604020202020204" pitchFamily="34" charset="0"/>
              <a:buChar char="•"/>
            </a:pPr>
            <a:r>
              <a:rPr lang="zh-CN" altLang="en-US" sz="1800" dirty="0"/>
              <a:t>理论上说</a:t>
            </a:r>
            <a:r>
              <a:rPr lang="zh-CN" altLang="en-US" sz="1800" dirty="0" smtClean="0"/>
              <a:t>，</a:t>
            </a:r>
            <a:r>
              <a:rPr lang="zh-CN" altLang="en-US" sz="1800" dirty="0"/>
              <a:t>上述</a:t>
            </a:r>
            <a:r>
              <a:rPr lang="zh-CN" altLang="en-US" sz="1800" dirty="0" smtClean="0"/>
              <a:t>结构图</a:t>
            </a:r>
            <a:r>
              <a:rPr lang="zh-CN" altLang="en-US" sz="1800" dirty="0"/>
              <a:t>中放大器与衰减器的前后次序可以任意交换。但实际上要考虑放大器的中途饱和，所以衰减器前面的放大器增益不宜</a:t>
            </a:r>
            <a:r>
              <a:rPr lang="zh-CN" altLang="en-US" sz="1800" dirty="0" smtClean="0"/>
              <a:t>过高。</a:t>
            </a:r>
            <a:r>
              <a:rPr lang="zh-CN" altLang="en-US" sz="1800" dirty="0"/>
              <a:t>中途饱和是指：当衰减量很大时，尽管最后一级的输出仍然不变，但是实际上此时整个放大器的输入很大，所以在衰减器前面的放大器可能由于输出过大而导致饱和</a:t>
            </a:r>
            <a:endParaRPr lang="en-US" altLang="zh-CN" sz="1800" dirty="0"/>
          </a:p>
          <a:p>
            <a:pPr marL="285750" indent="-285750">
              <a:lnSpc>
                <a:spcPct val="135000"/>
              </a:lnSpc>
              <a:buFont typeface="Arial" panose="020B0604020202020204" pitchFamily="34" charset="0"/>
              <a:buChar char="•"/>
            </a:pPr>
            <a:r>
              <a:rPr lang="zh-CN" altLang="en-US" sz="1800" dirty="0" smtClean="0"/>
              <a:t>但</a:t>
            </a:r>
            <a:r>
              <a:rPr lang="zh-CN" altLang="en-US" sz="1800" dirty="0"/>
              <a:t>完全没有第一级放大器也不合适，因为那样可能导致信噪比变</a:t>
            </a:r>
            <a:r>
              <a:rPr lang="zh-CN" altLang="en-US" sz="1800" dirty="0" smtClean="0"/>
              <a:t>差</a:t>
            </a:r>
            <a:endParaRPr lang="en-US" altLang="zh-CN" sz="1800" dirty="0" smtClean="0"/>
          </a:p>
          <a:p>
            <a:pPr marL="285750" indent="-285750">
              <a:lnSpc>
                <a:spcPct val="150000"/>
              </a:lnSpc>
              <a:buFont typeface="Arial" panose="020B0604020202020204" pitchFamily="34" charset="0"/>
              <a:buChar char="•"/>
            </a:pPr>
            <a:r>
              <a:rPr lang="zh-CN" altLang="en-US" sz="1800" dirty="0" smtClean="0"/>
              <a:t>两个</a:t>
            </a:r>
            <a:r>
              <a:rPr lang="en-US" altLang="zh-CN" sz="1800" dirty="0" smtClean="0"/>
              <a:t>LC</a:t>
            </a:r>
            <a:r>
              <a:rPr lang="zh-CN" altLang="en-US" sz="1800" dirty="0" smtClean="0"/>
              <a:t>滤波器必须用放大器隔离，不能直接串联，避免相互影响</a:t>
            </a:r>
            <a:endParaRPr lang="en-US" altLang="zh-CN" sz="1800" dirty="0"/>
          </a:p>
        </p:txBody>
      </p:sp>
    </p:spTree>
    <p:extLst>
      <p:ext uri="{BB962C8B-B14F-4D97-AF65-F5344CB8AC3E}">
        <p14:creationId xmlns:p14="http://schemas.microsoft.com/office/powerpoint/2010/main" val="10582308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矩形 4"/>
          <p:cNvSpPr/>
          <p:nvPr/>
        </p:nvSpPr>
        <p:spPr>
          <a:xfrm>
            <a:off x="389970" y="370092"/>
            <a:ext cx="7253704" cy="5539978"/>
          </a:xfrm>
          <a:prstGeom prst="rect">
            <a:avLst/>
          </a:prstGeom>
        </p:spPr>
        <p:txBody>
          <a:bodyPr wrap="square">
            <a:spAutoFit/>
          </a:bodyPr>
          <a:lstStyle/>
          <a:p>
            <a:pPr algn="just">
              <a:lnSpc>
                <a:spcPct val="150000"/>
              </a:lnSpc>
              <a:spcAft>
                <a:spcPts val="0"/>
              </a:spcAft>
            </a:pPr>
            <a:r>
              <a:rPr lang="zh-CN" altLang="en-US" kern="100" dirty="0" smtClean="0">
                <a:solidFill>
                  <a:srgbClr val="FF0000"/>
                </a:solidFill>
                <a:latin typeface="Arial" panose="020B0604020202020204" pitchFamily="34" charset="0"/>
              </a:rPr>
              <a:t>电路设计</a:t>
            </a:r>
            <a:endParaRPr lang="en-US" altLang="zh-CN" kern="100" dirty="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r>
              <a:rPr lang="en-US" altLang="zh-CN" sz="1800" kern="100" dirty="0" smtClean="0">
                <a:latin typeface="Arial" panose="020B0604020202020204" pitchFamily="34" charset="0"/>
              </a:rPr>
              <a:t>MMIC</a:t>
            </a:r>
            <a:r>
              <a:rPr lang="zh-CN" altLang="en-US" sz="1800" kern="100" dirty="0" smtClean="0">
                <a:latin typeface="Arial" panose="020B0604020202020204" pitchFamily="34" charset="0"/>
              </a:rPr>
              <a:t>放大器</a:t>
            </a:r>
            <a:endParaRPr lang="en-US" altLang="zh-CN" sz="1800" kern="100" dirty="0" smtClean="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endParaRPr lang="en-US" altLang="zh-CN" sz="1800" kern="100" dirty="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endParaRPr lang="en-US" altLang="zh-CN" sz="1800" kern="100" dirty="0" smtClean="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endParaRPr lang="en-US" altLang="zh-CN" sz="1800" kern="100" dirty="0" smtClean="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endParaRPr lang="en-US" altLang="zh-CN" sz="1800" kern="100" dirty="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endParaRPr lang="en-US" altLang="zh-CN" sz="1800" kern="100" dirty="0" smtClean="0">
              <a:latin typeface="Arial" panose="020B0604020202020204" pitchFamily="34" charset="0"/>
            </a:endParaRPr>
          </a:p>
          <a:p>
            <a:pPr marL="342900" indent="-342900" algn="just">
              <a:lnSpc>
                <a:spcPct val="150000"/>
              </a:lnSpc>
              <a:spcAft>
                <a:spcPts val="0"/>
              </a:spcAft>
              <a:buFont typeface="Arial" panose="020B0604020202020204" pitchFamily="34" charset="0"/>
              <a:buChar char="•"/>
            </a:pPr>
            <a:endParaRPr lang="en-US" altLang="zh-CN" sz="1800" kern="100" dirty="0" smtClean="0">
              <a:latin typeface="Arial" panose="020B0604020202020204" pitchFamily="34" charset="0"/>
            </a:endParaRPr>
          </a:p>
          <a:p>
            <a:pPr marL="285750" indent="-285750">
              <a:lnSpc>
                <a:spcPct val="150000"/>
              </a:lnSpc>
              <a:buFont typeface="Arial" panose="020B0604020202020204" pitchFamily="34" charset="0"/>
              <a:buChar char="•"/>
            </a:pPr>
            <a:r>
              <a:rPr lang="zh-CN" altLang="en-US" sz="1800" kern="100" dirty="0" smtClean="0">
                <a:latin typeface="Arial" panose="020B0604020202020204" pitchFamily="34" charset="0"/>
              </a:rPr>
              <a:t>耦合</a:t>
            </a:r>
            <a:r>
              <a:rPr lang="zh-CN" altLang="en-US" sz="1800" kern="100" dirty="0">
                <a:latin typeface="Arial" panose="020B0604020202020204" pitchFamily="34" charset="0"/>
              </a:rPr>
              <a:t>电容、负载电感、偏置</a:t>
            </a:r>
            <a:r>
              <a:rPr lang="zh-CN" altLang="en-US" sz="1800" kern="100" dirty="0" smtClean="0">
                <a:latin typeface="Arial" panose="020B0604020202020204" pitchFamily="34" charset="0"/>
              </a:rPr>
              <a:t>电阻与电源电压及信号</a:t>
            </a:r>
            <a:r>
              <a:rPr lang="zh-CN" altLang="en-US" sz="1800" kern="100" dirty="0">
                <a:latin typeface="Arial" panose="020B0604020202020204" pitchFamily="34" charset="0"/>
              </a:rPr>
              <a:t>频率有关</a:t>
            </a:r>
            <a:r>
              <a:rPr lang="zh-CN" altLang="en-US" sz="1800" kern="100" dirty="0" smtClean="0">
                <a:latin typeface="Arial" panose="020B0604020202020204" pitchFamily="34" charset="0"/>
              </a:rPr>
              <a:t>，可参考</a:t>
            </a:r>
            <a:r>
              <a:rPr lang="zh-CN" altLang="en-US" sz="1800" kern="100" dirty="0">
                <a:latin typeface="Arial" panose="020B0604020202020204" pitchFamily="34" charset="0"/>
              </a:rPr>
              <a:t>数据手册给出的</a:t>
            </a:r>
            <a:r>
              <a:rPr lang="zh-CN" altLang="en-US" sz="1800" kern="100" dirty="0" smtClean="0">
                <a:latin typeface="Arial" panose="020B0604020202020204" pitchFamily="34" charset="0"/>
              </a:rPr>
              <a:t>参数</a:t>
            </a:r>
            <a:endParaRPr lang="en-US" altLang="zh-CN" sz="1800" kern="100" dirty="0" smtClean="0">
              <a:latin typeface="Arial" panose="020B0604020202020204" pitchFamily="34" charset="0"/>
            </a:endParaRPr>
          </a:p>
          <a:p>
            <a:pPr marL="285750" indent="-285750">
              <a:lnSpc>
                <a:spcPct val="150000"/>
              </a:lnSpc>
              <a:buFont typeface="Arial" panose="020B0604020202020204" pitchFamily="34" charset="0"/>
              <a:buChar char="•"/>
            </a:pPr>
            <a:r>
              <a:rPr lang="zh-CN" altLang="en-US" sz="1800" dirty="0" smtClean="0"/>
              <a:t>适合</a:t>
            </a:r>
            <a:r>
              <a:rPr lang="zh-CN" altLang="en-US" sz="1800" dirty="0"/>
              <a:t>本题的元件参数</a:t>
            </a:r>
            <a:endParaRPr lang="en-US" altLang="zh-CN" sz="1800" dirty="0"/>
          </a:p>
          <a:p>
            <a:pPr lvl="1">
              <a:lnSpc>
                <a:spcPct val="150000"/>
              </a:lnSpc>
            </a:pPr>
            <a:r>
              <a:rPr lang="en-US" altLang="zh-CN" sz="1800" dirty="0" smtClean="0"/>
              <a:t>HMC480 </a:t>
            </a:r>
            <a:r>
              <a:rPr lang="zh-CN" altLang="en-US" sz="1800" dirty="0"/>
              <a:t>或 </a:t>
            </a:r>
            <a:r>
              <a:rPr lang="en-US" altLang="zh-CN" sz="1800" dirty="0" smtClean="0"/>
              <a:t>HMC580</a:t>
            </a:r>
            <a:r>
              <a:rPr lang="zh-CN" altLang="en-US" sz="1800" dirty="0" smtClean="0"/>
              <a:t>，在</a:t>
            </a:r>
            <a:r>
              <a:rPr lang="en-US" altLang="zh-CN" sz="1800" dirty="0" smtClean="0"/>
              <a:t>V</a:t>
            </a:r>
            <a:r>
              <a:rPr lang="en-US" altLang="zh-CN" sz="1800" baseline="-25000" dirty="0" smtClean="0"/>
              <a:t>S</a:t>
            </a:r>
            <a:r>
              <a:rPr lang="en-US" altLang="zh-CN" sz="1800" dirty="0" smtClean="0"/>
              <a:t>=5V</a:t>
            </a:r>
            <a:r>
              <a:rPr lang="zh-CN" altLang="en-US" sz="1800" dirty="0"/>
              <a:t>，</a:t>
            </a:r>
            <a:r>
              <a:rPr lang="en-US" altLang="zh-CN" sz="1800" dirty="0" smtClean="0"/>
              <a:t>40~200MHz</a:t>
            </a:r>
            <a:r>
              <a:rPr lang="zh-CN" altLang="en-US" sz="1800" dirty="0" smtClean="0"/>
              <a:t>条件下</a:t>
            </a:r>
            <a:endParaRPr lang="en-US" altLang="zh-CN" sz="1800" dirty="0"/>
          </a:p>
          <a:p>
            <a:pPr lvl="1">
              <a:lnSpc>
                <a:spcPct val="150000"/>
              </a:lnSpc>
            </a:pPr>
            <a:r>
              <a:rPr lang="en-US" altLang="zh-CN" sz="1800" dirty="0" smtClean="0"/>
              <a:t>L=270nH</a:t>
            </a:r>
            <a:r>
              <a:rPr lang="zh-CN" altLang="en-US" sz="1800" dirty="0"/>
              <a:t>，</a:t>
            </a:r>
            <a:r>
              <a:rPr lang="en-US" altLang="zh-CN" sz="1800" dirty="0"/>
              <a:t>C=10nF</a:t>
            </a:r>
            <a:r>
              <a:rPr lang="zh-CN" altLang="en-US" sz="1800" dirty="0"/>
              <a:t>，</a:t>
            </a:r>
            <a:r>
              <a:rPr lang="en-US" altLang="zh-CN" sz="1800" dirty="0" err="1"/>
              <a:t>R</a:t>
            </a:r>
            <a:r>
              <a:rPr lang="en-US" altLang="zh-CN" sz="1800" baseline="-25000" dirty="0" err="1"/>
              <a:t>bias</a:t>
            </a:r>
            <a:r>
              <a:rPr lang="en-US" altLang="zh-CN" sz="1800" dirty="0"/>
              <a:t>=1.2</a:t>
            </a:r>
            <a:r>
              <a:rPr lang="el-GR" altLang="zh-CN" sz="1800" dirty="0" smtClean="0">
                <a:latin typeface="Arial" panose="020B0604020202020204" pitchFamily="34" charset="0"/>
                <a:cs typeface="Arial" panose="020B0604020202020204" pitchFamily="34" charset="0"/>
              </a:rPr>
              <a:t>Ω</a:t>
            </a:r>
            <a:endParaRPr lang="en-US" altLang="zh-CN" sz="1800" kern="100" dirty="0">
              <a:latin typeface="Arial" panose="020B0604020202020204" pitchFamily="34" charset="0"/>
            </a:endParaRPr>
          </a:p>
        </p:txBody>
      </p:sp>
      <p:pic>
        <p:nvPicPr>
          <p:cNvPr id="6" name="图片 5"/>
          <p:cNvPicPr>
            <a:picLocks noChangeAspect="1"/>
          </p:cNvPicPr>
          <p:nvPr/>
        </p:nvPicPr>
        <p:blipFill>
          <a:blip r:embed="rId3"/>
          <a:stretch>
            <a:fillRect/>
          </a:stretch>
        </p:blipFill>
        <p:spPr>
          <a:xfrm>
            <a:off x="8125994" y="1452335"/>
            <a:ext cx="2143424" cy="1952898"/>
          </a:xfrm>
          <a:prstGeom prst="rect">
            <a:avLst/>
          </a:prstGeom>
        </p:spPr>
      </p:pic>
      <p:sp>
        <p:nvSpPr>
          <p:cNvPr id="9" name="文本框 8"/>
          <p:cNvSpPr txBox="1"/>
          <p:nvPr/>
        </p:nvSpPr>
        <p:spPr>
          <a:xfrm>
            <a:off x="8204289" y="1083003"/>
            <a:ext cx="2173211" cy="369332"/>
          </a:xfrm>
          <a:prstGeom prst="rect">
            <a:avLst/>
          </a:prstGeom>
          <a:noFill/>
        </p:spPr>
        <p:txBody>
          <a:bodyPr wrap="square" rtlCol="0">
            <a:spAutoFit/>
          </a:bodyPr>
          <a:lstStyle/>
          <a:p>
            <a:r>
              <a:rPr lang="en-US" altLang="zh-CN" sz="1800" dirty="0" smtClean="0"/>
              <a:t>MMIC</a:t>
            </a:r>
            <a:r>
              <a:rPr lang="zh-CN" altLang="en-US" sz="1800" dirty="0" smtClean="0"/>
              <a:t>的内部结构</a:t>
            </a:r>
            <a:endParaRPr lang="zh-CN" altLang="en-US" sz="1800" dirty="0"/>
          </a:p>
        </p:txBody>
      </p:sp>
      <p:pic>
        <p:nvPicPr>
          <p:cNvPr id="7" name="图片 6"/>
          <p:cNvPicPr>
            <a:picLocks noChangeAspect="1"/>
          </p:cNvPicPr>
          <p:nvPr/>
        </p:nvPicPr>
        <p:blipFill>
          <a:blip r:embed="rId4"/>
          <a:stretch>
            <a:fillRect/>
          </a:stretch>
        </p:blipFill>
        <p:spPr>
          <a:xfrm>
            <a:off x="1466396" y="1452335"/>
            <a:ext cx="5219148" cy="1952898"/>
          </a:xfrm>
          <a:prstGeom prst="rect">
            <a:avLst/>
          </a:prstGeom>
        </p:spPr>
      </p:pic>
    </p:spTree>
    <p:extLst>
      <p:ext uri="{BB962C8B-B14F-4D97-AF65-F5344CB8AC3E}">
        <p14:creationId xmlns:p14="http://schemas.microsoft.com/office/powerpoint/2010/main" val="11036439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pic>
        <p:nvPicPr>
          <p:cNvPr id="6" name="图片 5"/>
          <p:cNvPicPr>
            <a:picLocks noChangeAspect="1"/>
          </p:cNvPicPr>
          <p:nvPr/>
        </p:nvPicPr>
        <p:blipFill>
          <a:blip r:embed="rId3"/>
          <a:stretch>
            <a:fillRect/>
          </a:stretch>
        </p:blipFill>
        <p:spPr>
          <a:xfrm>
            <a:off x="6773808" y="857765"/>
            <a:ext cx="3840633" cy="1649148"/>
          </a:xfrm>
          <a:prstGeom prst="rect">
            <a:avLst/>
          </a:prstGeom>
        </p:spPr>
      </p:pic>
      <p:cxnSp>
        <p:nvCxnSpPr>
          <p:cNvPr id="7" name="直接连接符 6"/>
          <p:cNvCxnSpPr>
            <a:endCxn id="9" idx="2"/>
          </p:cNvCxnSpPr>
          <p:nvPr/>
        </p:nvCxnSpPr>
        <p:spPr>
          <a:xfrm>
            <a:off x="4040571" y="1088572"/>
            <a:ext cx="3091542" cy="805507"/>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22" idx="0"/>
          </p:cNvCxnSpPr>
          <p:nvPr/>
        </p:nvCxnSpPr>
        <p:spPr>
          <a:xfrm flipV="1">
            <a:off x="9152458" y="1470900"/>
            <a:ext cx="75000" cy="1689670"/>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7132113" y="1302657"/>
            <a:ext cx="1397001" cy="11828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8489437" y="868650"/>
            <a:ext cx="1318297" cy="6022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9" name="文本框 18"/>
              <p:cNvSpPr txBox="1"/>
              <p:nvPr/>
            </p:nvSpPr>
            <p:spPr>
              <a:xfrm>
                <a:off x="577246" y="665722"/>
                <a:ext cx="5444262"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有些电路在</a:t>
                </a:r>
                <a:r>
                  <a:rPr lang="zh-CN" altLang="zh-CN" sz="1800" dirty="0" smtClean="0"/>
                  <a:t>放大器</a:t>
                </a:r>
                <a:r>
                  <a:rPr lang="zh-CN" altLang="en-US" sz="1800" dirty="0" smtClean="0"/>
                  <a:t>前</a:t>
                </a:r>
                <a:r>
                  <a:rPr lang="zh-CN" altLang="zh-CN" sz="1800" dirty="0" smtClean="0"/>
                  <a:t>插入</a:t>
                </a:r>
                <a14:m>
                  <m:oMath xmlns:m="http://schemas.openxmlformats.org/officeDocument/2006/math">
                    <m:r>
                      <m:rPr>
                        <m:sty m:val="p"/>
                      </m:rPr>
                      <a:rPr lang="en-US" altLang="zh-CN" sz="1800">
                        <a:solidFill>
                          <a:srgbClr val="FF0000"/>
                        </a:solidFill>
                        <a:latin typeface="Cambria Math" panose="02040503050406030204" pitchFamily="18" charset="0"/>
                      </a:rPr>
                      <m:t>π</m:t>
                    </m:r>
                  </m:oMath>
                </a14:m>
                <a:r>
                  <a:rPr lang="zh-CN" altLang="zh-CN" sz="1800" dirty="0">
                    <a:solidFill>
                      <a:srgbClr val="FF0000"/>
                    </a:solidFill>
                  </a:rPr>
                  <a:t>形电阻</a:t>
                </a:r>
                <a:r>
                  <a:rPr lang="zh-CN" altLang="zh-CN" sz="1800" dirty="0" smtClean="0">
                    <a:solidFill>
                      <a:srgbClr val="FF0000"/>
                    </a:solidFill>
                  </a:rPr>
                  <a:t>网络</a:t>
                </a:r>
                <a:r>
                  <a:rPr lang="zh-CN" altLang="en-US" sz="1800" dirty="0" smtClean="0"/>
                  <a:t>，用以</a:t>
                </a:r>
                <a:r>
                  <a:rPr lang="zh-CN" altLang="en-US" sz="1800" dirty="0"/>
                  <a:t>隔离两个</a:t>
                </a:r>
                <a:r>
                  <a:rPr lang="zh-CN" altLang="en-US" sz="1800" dirty="0" smtClean="0"/>
                  <a:t>放大器。</a:t>
                </a:r>
                <a:r>
                  <a:rPr lang="zh-CN" altLang="zh-CN" sz="1800" dirty="0"/>
                  <a:t>那样的话整体稳定性可以提高</a:t>
                </a:r>
                <a:r>
                  <a:rPr lang="zh-CN" altLang="en-US" sz="1800" dirty="0"/>
                  <a:t>（对于宽带放大器这一点很重要），但</a:t>
                </a:r>
                <a:r>
                  <a:rPr lang="zh-CN" altLang="zh-CN" sz="1800" dirty="0"/>
                  <a:t>会引入额外的衰减</a:t>
                </a:r>
                <a:r>
                  <a:rPr lang="zh-CN" altLang="en-US" sz="1800" dirty="0"/>
                  <a:t>，</a:t>
                </a:r>
                <a:r>
                  <a:rPr lang="zh-CN" altLang="zh-CN" sz="1800" dirty="0"/>
                  <a:t>若因此导致整机最大增益不足则可以再增加一级放大器</a:t>
                </a:r>
                <a:endParaRPr lang="en-US" altLang="zh-CN" sz="1800" dirty="0"/>
              </a:p>
              <a:p>
                <a:pPr marL="288000">
                  <a:lnSpc>
                    <a:spcPct val="150000"/>
                  </a:lnSpc>
                </a:pPr>
                <a14:m>
                  <m:oMath xmlns:m="http://schemas.openxmlformats.org/officeDocument/2006/math">
                    <m:r>
                      <m:rPr>
                        <m:sty m:val="p"/>
                      </m:rPr>
                      <a:rPr lang="en-US" altLang="zh-CN" sz="1800" smtClean="0">
                        <a:solidFill>
                          <a:schemeClr val="tx1"/>
                        </a:solidFill>
                        <a:latin typeface="Cambria Math" panose="02040503050406030204" pitchFamily="18" charset="0"/>
                      </a:rPr>
                      <m:t>π</m:t>
                    </m:r>
                  </m:oMath>
                </a14:m>
                <a:r>
                  <a:rPr lang="zh-CN" altLang="zh-CN" sz="1800" dirty="0">
                    <a:solidFill>
                      <a:schemeClr val="tx1"/>
                    </a:solidFill>
                  </a:rPr>
                  <a:t>形</a:t>
                </a:r>
                <a:r>
                  <a:rPr lang="zh-CN" altLang="zh-CN" sz="1800" dirty="0" smtClean="0">
                    <a:solidFill>
                      <a:schemeClr val="tx1"/>
                    </a:solidFill>
                  </a:rPr>
                  <a:t>电阻网络</a:t>
                </a:r>
                <a:r>
                  <a:rPr lang="zh-CN" altLang="en-US" sz="1800" dirty="0" smtClean="0">
                    <a:solidFill>
                      <a:schemeClr val="tx1"/>
                    </a:solidFill>
                  </a:rPr>
                  <a:t>要求从两侧看过去的阻抗都与放大器匹配。对于</a:t>
                </a:r>
                <a:r>
                  <a:rPr lang="zh-CN" altLang="en-US" sz="1800" dirty="0"/>
                  <a:t>常见的</a:t>
                </a:r>
                <a:r>
                  <a:rPr lang="en-US" altLang="zh-CN" sz="1800" dirty="0" smtClean="0">
                    <a:solidFill>
                      <a:schemeClr val="tx1"/>
                    </a:solidFill>
                  </a:rPr>
                  <a:t>50</a:t>
                </a:r>
                <a:r>
                  <a:rPr lang="el-GR" altLang="zh-CN" sz="1800" dirty="0" smtClean="0">
                    <a:solidFill>
                      <a:schemeClr val="tx1"/>
                    </a:solidFill>
                  </a:rPr>
                  <a:t>Ω</a:t>
                </a:r>
                <a:r>
                  <a:rPr lang="zh-CN" altLang="en-US" sz="1800" dirty="0" smtClean="0">
                    <a:solidFill>
                      <a:schemeClr val="tx1"/>
                    </a:solidFill>
                  </a:rPr>
                  <a:t>输入输出阻抗来说，</a:t>
                </a:r>
                <a14:m>
                  <m:oMath xmlns:m="http://schemas.openxmlformats.org/officeDocument/2006/math">
                    <m:r>
                      <m:rPr>
                        <m:sty m:val="p"/>
                      </m:rPr>
                      <a:rPr lang="en-US" altLang="zh-CN" sz="1800">
                        <a:latin typeface="Cambria Math" panose="02040503050406030204" pitchFamily="18" charset="0"/>
                      </a:rPr>
                      <m:t>π</m:t>
                    </m:r>
                  </m:oMath>
                </a14:m>
                <a:r>
                  <a:rPr lang="zh-CN" altLang="zh-CN" sz="1800" dirty="0"/>
                  <a:t>形</a:t>
                </a:r>
                <a:r>
                  <a:rPr lang="zh-CN" altLang="en-US" sz="1800" dirty="0" smtClean="0">
                    <a:solidFill>
                      <a:schemeClr val="tx1"/>
                    </a:solidFill>
                  </a:rPr>
                  <a:t>网络的</a:t>
                </a:r>
                <a:r>
                  <a:rPr lang="en-US" altLang="zh-CN" sz="1800" dirty="0" smtClean="0">
                    <a:solidFill>
                      <a:schemeClr val="tx1"/>
                    </a:solidFill>
                  </a:rPr>
                  <a:t>3</a:t>
                </a:r>
                <a:r>
                  <a:rPr lang="zh-CN" altLang="en-US" sz="1800" dirty="0" smtClean="0">
                    <a:solidFill>
                      <a:schemeClr val="tx1"/>
                    </a:solidFill>
                  </a:rPr>
                  <a:t>个电</a:t>
                </a:r>
                <a:r>
                  <a:rPr lang="zh-CN" altLang="en-US" sz="1800" dirty="0" smtClean="0">
                    <a:solidFill>
                      <a:schemeClr val="tx1"/>
                    </a:solidFill>
                  </a:rPr>
                  <a:t>阻值（欧姆）如下：</a:t>
                </a:r>
                <a:endParaRPr lang="en-US" altLang="zh-CN" sz="1800" dirty="0" smtClean="0">
                  <a:solidFill>
                    <a:schemeClr val="tx1"/>
                  </a:solidFill>
                </a:endParaRPr>
              </a:p>
              <a:p>
                <a:pPr marL="288000">
                  <a:lnSpc>
                    <a:spcPct val="150000"/>
                  </a:lnSpc>
                </a:pPr>
                <a:r>
                  <a:rPr lang="zh-CN" altLang="en-US" sz="1800" dirty="0" smtClean="0"/>
                  <a:t>衰减</a:t>
                </a:r>
                <a:r>
                  <a:rPr lang="en-US" altLang="zh-CN" sz="1800" dirty="0" smtClean="0"/>
                  <a:t>1dB</a:t>
                </a:r>
                <a:r>
                  <a:rPr lang="zh-CN" altLang="en-US" sz="1800" dirty="0" smtClean="0"/>
                  <a:t>：</a:t>
                </a:r>
                <a:r>
                  <a:rPr lang="en-US" altLang="zh-CN" sz="1800" dirty="0" smtClean="0"/>
                  <a:t>870</a:t>
                </a:r>
                <a:r>
                  <a:rPr lang="zh-CN" altLang="en-US" sz="1800" dirty="0" smtClean="0"/>
                  <a:t>，</a:t>
                </a:r>
                <a:r>
                  <a:rPr lang="en-US" altLang="zh-CN" sz="1800" dirty="0" smtClean="0"/>
                  <a:t>5.8</a:t>
                </a:r>
                <a:r>
                  <a:rPr lang="zh-CN" altLang="en-US" sz="1800" dirty="0" smtClean="0"/>
                  <a:t>，</a:t>
                </a:r>
                <a:r>
                  <a:rPr lang="en-US" altLang="zh-CN" sz="1800" dirty="0" smtClean="0"/>
                  <a:t>870</a:t>
                </a:r>
                <a:endParaRPr lang="en-US" altLang="zh-CN" sz="1800" dirty="0" smtClean="0"/>
              </a:p>
              <a:p>
                <a:pPr marL="288000">
                  <a:lnSpc>
                    <a:spcPct val="150000"/>
                  </a:lnSpc>
                </a:pPr>
                <a:r>
                  <a:rPr lang="zh-CN" altLang="en-US" sz="1800" dirty="0" smtClean="0">
                    <a:solidFill>
                      <a:schemeClr val="tx1"/>
                    </a:solidFill>
                  </a:rPr>
                  <a:t>衰减</a:t>
                </a:r>
                <a:r>
                  <a:rPr lang="en-US" altLang="zh-CN" sz="1800" dirty="0" smtClean="0">
                    <a:solidFill>
                      <a:schemeClr val="tx1"/>
                    </a:solidFill>
                  </a:rPr>
                  <a:t>2dB</a:t>
                </a:r>
                <a:r>
                  <a:rPr lang="zh-CN" altLang="en-US" sz="1800" dirty="0" smtClean="0">
                    <a:solidFill>
                      <a:schemeClr val="tx1"/>
                    </a:solidFill>
                  </a:rPr>
                  <a:t>：</a:t>
                </a:r>
                <a:r>
                  <a:rPr lang="en-US" altLang="zh-CN" sz="1800" dirty="0" smtClean="0">
                    <a:solidFill>
                      <a:schemeClr val="tx1"/>
                    </a:solidFill>
                  </a:rPr>
                  <a:t>436</a:t>
                </a:r>
                <a:r>
                  <a:rPr lang="zh-CN" altLang="en-US" sz="1800" dirty="0" smtClean="0">
                    <a:solidFill>
                      <a:schemeClr val="tx1"/>
                    </a:solidFill>
                  </a:rPr>
                  <a:t>，</a:t>
                </a:r>
                <a:r>
                  <a:rPr lang="en-US" altLang="zh-CN" sz="1800" dirty="0" smtClean="0">
                    <a:solidFill>
                      <a:schemeClr val="tx1"/>
                    </a:solidFill>
                  </a:rPr>
                  <a:t>11.6</a:t>
                </a:r>
                <a:r>
                  <a:rPr lang="zh-CN" altLang="en-US" sz="1800" dirty="0" smtClean="0">
                    <a:solidFill>
                      <a:schemeClr val="tx1"/>
                    </a:solidFill>
                  </a:rPr>
                  <a:t>，</a:t>
                </a:r>
                <a:r>
                  <a:rPr lang="en-US" altLang="zh-CN" sz="1800" dirty="0" smtClean="0">
                    <a:solidFill>
                      <a:schemeClr val="tx1"/>
                    </a:solidFill>
                  </a:rPr>
                  <a:t>436</a:t>
                </a:r>
                <a:endParaRPr lang="en-US" altLang="zh-CN" sz="1800" dirty="0" smtClean="0">
                  <a:solidFill>
                    <a:schemeClr val="tx1"/>
                  </a:solidFill>
                </a:endParaRPr>
              </a:p>
              <a:p>
                <a:pPr marL="288000">
                  <a:lnSpc>
                    <a:spcPct val="150000"/>
                  </a:lnSpc>
                </a:pPr>
                <a:r>
                  <a:rPr lang="zh-CN" altLang="en-US" sz="1800" dirty="0" smtClean="0"/>
                  <a:t>衰减</a:t>
                </a:r>
                <a:r>
                  <a:rPr lang="en-US" altLang="zh-CN" sz="1800" dirty="0" smtClean="0"/>
                  <a:t>3dB</a:t>
                </a:r>
                <a:r>
                  <a:rPr lang="zh-CN" altLang="en-US" sz="1800" dirty="0" smtClean="0"/>
                  <a:t>：</a:t>
                </a:r>
                <a:r>
                  <a:rPr lang="en-US" altLang="zh-CN" sz="1800" dirty="0" smtClean="0"/>
                  <a:t>292</a:t>
                </a:r>
                <a:r>
                  <a:rPr lang="zh-CN" altLang="en-US" sz="1800" dirty="0" smtClean="0"/>
                  <a:t>，</a:t>
                </a:r>
                <a:r>
                  <a:rPr lang="en-US" altLang="zh-CN" sz="1800" dirty="0" smtClean="0"/>
                  <a:t>17.6</a:t>
                </a:r>
                <a:r>
                  <a:rPr lang="zh-CN" altLang="en-US" sz="1800" dirty="0" smtClean="0"/>
                  <a:t>，</a:t>
                </a:r>
                <a:r>
                  <a:rPr lang="en-US" altLang="zh-CN" sz="1800" dirty="0" smtClean="0"/>
                  <a:t>292</a:t>
                </a:r>
                <a:endParaRPr lang="zh-CN" altLang="en-US" sz="1800" dirty="0">
                  <a:solidFill>
                    <a:schemeClr val="tx1"/>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577246" y="665722"/>
                <a:ext cx="5444262" cy="4662815"/>
              </a:xfrm>
              <a:prstGeom prst="rect">
                <a:avLst/>
              </a:prstGeom>
              <a:blipFill>
                <a:blip r:embed="rId4"/>
                <a:stretch>
                  <a:fillRect l="-784" r="-560" b="-131"/>
                </a:stretch>
              </a:blipFill>
            </p:spPr>
            <p:txBody>
              <a:bodyPr/>
              <a:lstStyle/>
              <a:p>
                <a:r>
                  <a:rPr lang="zh-CN" altLang="en-US">
                    <a:noFill/>
                  </a:rPr>
                  <a:t> </a:t>
                </a:r>
              </a:p>
            </p:txBody>
          </p:sp>
        </mc:Fallback>
      </mc:AlternateContent>
      <p:sp>
        <p:nvSpPr>
          <p:cNvPr id="22" name="文本框 21"/>
          <p:cNvSpPr txBox="1"/>
          <p:nvPr/>
        </p:nvSpPr>
        <p:spPr>
          <a:xfrm>
            <a:off x="6585786" y="3160570"/>
            <a:ext cx="5133343"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也</a:t>
            </a:r>
            <a:r>
              <a:rPr lang="zh-CN" altLang="en-US" sz="1800" dirty="0" smtClean="0"/>
              <a:t>有些电路</a:t>
            </a:r>
            <a:r>
              <a:rPr lang="zh-CN" altLang="en-US" sz="1800" dirty="0" smtClean="0"/>
              <a:t>采用</a:t>
            </a:r>
            <a:r>
              <a:rPr lang="zh-CN" altLang="en-US" sz="1800" dirty="0" smtClean="0">
                <a:solidFill>
                  <a:srgbClr val="FF0000"/>
                </a:solidFill>
              </a:rPr>
              <a:t>负反馈网络</a:t>
            </a:r>
            <a:r>
              <a:rPr lang="zh-CN" altLang="en-US" sz="1800" dirty="0" smtClean="0"/>
              <a:t>降低放大器的增益以换取系统稳定。</a:t>
            </a:r>
            <a:r>
              <a:rPr lang="zh-CN" altLang="en-US" sz="1800" dirty="0"/>
              <a:t>但是这个网络会影响放大器的输入输出阻抗，</a:t>
            </a:r>
            <a:r>
              <a:rPr lang="zh-CN" altLang="en-US" sz="1800" dirty="0" smtClean="0"/>
              <a:t>所以通常这个电阻不会很小，大致在几百欧到一千欧，电容以容抗远低于电阻为准</a:t>
            </a:r>
            <a:endParaRPr lang="zh-CN" altLang="en-US" sz="1800" dirty="0">
              <a:solidFill>
                <a:schemeClr val="tx1"/>
              </a:solidFill>
            </a:endParaRPr>
          </a:p>
        </p:txBody>
      </p:sp>
      <p:sp>
        <p:nvSpPr>
          <p:cNvPr id="31" name="文本框 30"/>
          <p:cNvSpPr txBox="1"/>
          <p:nvPr/>
        </p:nvSpPr>
        <p:spPr>
          <a:xfrm>
            <a:off x="3828143" y="5889272"/>
            <a:ext cx="5399315" cy="369332"/>
          </a:xfrm>
          <a:prstGeom prst="rect">
            <a:avLst/>
          </a:prstGeom>
          <a:noFill/>
        </p:spPr>
        <p:txBody>
          <a:bodyPr wrap="square" rtlCol="0">
            <a:spAutoFit/>
          </a:bodyPr>
          <a:lstStyle/>
          <a:p>
            <a:r>
              <a:rPr lang="zh-CN" altLang="en-US" sz="1800" dirty="0" smtClean="0">
                <a:latin typeface="楷体" panose="02010609060101010101" pitchFamily="49" charset="-122"/>
                <a:ea typeface="楷体" panose="02010609060101010101" pitchFamily="49" charset="-122"/>
              </a:rPr>
              <a:t>如果电路稳定，上述措施都不是必须的</a:t>
            </a:r>
            <a:endParaRPr lang="zh-CN" altLang="en-US"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15757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矩形 4"/>
          <p:cNvSpPr/>
          <p:nvPr/>
        </p:nvSpPr>
        <p:spPr>
          <a:xfrm>
            <a:off x="290151" y="619336"/>
            <a:ext cx="4474501" cy="2900794"/>
          </a:xfrm>
          <a:prstGeom prst="rect">
            <a:avLst/>
          </a:prstGeom>
        </p:spPr>
        <p:txBody>
          <a:bodyPr wrap="square">
            <a:spAutoFit/>
          </a:bodyPr>
          <a:lstStyle/>
          <a:p>
            <a:pPr marL="342900" indent="-342900" algn="just">
              <a:lnSpc>
                <a:spcPct val="125000"/>
              </a:lnSpc>
              <a:spcAft>
                <a:spcPts val="0"/>
              </a:spcAft>
              <a:buFont typeface="Arial" panose="020B0604020202020204" pitchFamily="34" charset="0"/>
              <a:buChar char="•"/>
            </a:pPr>
            <a:r>
              <a:rPr lang="zh-CN" altLang="en-US" sz="1800" dirty="0" smtClean="0"/>
              <a:t>实测</a:t>
            </a:r>
            <a:r>
              <a:rPr lang="en-US" altLang="zh-CN" sz="1800" kern="100" dirty="0" smtClean="0">
                <a:latin typeface="Arial" panose="020B0604020202020204" pitchFamily="34" charset="0"/>
              </a:rPr>
              <a:t>MMIC</a:t>
            </a:r>
            <a:r>
              <a:rPr lang="zh-CN" altLang="en-US" sz="1800" kern="100" dirty="0" smtClean="0">
                <a:latin typeface="Arial" panose="020B0604020202020204" pitchFamily="34" charset="0"/>
              </a:rPr>
              <a:t>放大器</a:t>
            </a:r>
            <a:r>
              <a:rPr lang="zh-CN" altLang="en-US" sz="1800" dirty="0" smtClean="0"/>
              <a:t>幅频特性曲线</a:t>
            </a:r>
            <a:endParaRPr lang="en-US" altLang="zh-CN" sz="1800" dirty="0" smtClean="0"/>
          </a:p>
          <a:p>
            <a:pPr lvl="1" algn="just">
              <a:lnSpc>
                <a:spcPct val="125000"/>
              </a:lnSpc>
              <a:spcAft>
                <a:spcPts val="0"/>
              </a:spcAft>
            </a:pPr>
            <a:r>
              <a:rPr lang="en-US" altLang="zh-CN" sz="1800" dirty="0" smtClean="0"/>
              <a:t>HMC580</a:t>
            </a:r>
          </a:p>
          <a:p>
            <a:pPr lvl="1" algn="just">
              <a:lnSpc>
                <a:spcPct val="125000"/>
              </a:lnSpc>
              <a:spcAft>
                <a:spcPts val="0"/>
              </a:spcAft>
            </a:pPr>
            <a:r>
              <a:rPr lang="zh-CN" altLang="en-US" sz="1800" dirty="0" smtClean="0"/>
              <a:t>曲线起始频率：</a:t>
            </a:r>
            <a:r>
              <a:rPr lang="en-US" altLang="zh-CN" sz="1800" dirty="0" smtClean="0"/>
              <a:t>10MHz</a:t>
            </a:r>
          </a:p>
          <a:p>
            <a:pPr lvl="1" algn="just">
              <a:lnSpc>
                <a:spcPct val="125000"/>
              </a:lnSpc>
              <a:spcAft>
                <a:spcPts val="0"/>
              </a:spcAft>
            </a:pPr>
            <a:r>
              <a:rPr lang="zh-CN" altLang="en-US" sz="1800" dirty="0" smtClean="0"/>
              <a:t>曲线结束频率：</a:t>
            </a:r>
            <a:r>
              <a:rPr lang="en-US" altLang="zh-CN" sz="1800" dirty="0" smtClean="0"/>
              <a:t>300MHz</a:t>
            </a:r>
          </a:p>
          <a:p>
            <a:pPr lvl="1" algn="just">
              <a:lnSpc>
                <a:spcPct val="125000"/>
              </a:lnSpc>
              <a:spcAft>
                <a:spcPts val="0"/>
              </a:spcAft>
            </a:pPr>
            <a:r>
              <a:rPr lang="zh-CN" altLang="en-US" sz="1800" dirty="0" smtClean="0"/>
              <a:t>激励功率：</a:t>
            </a:r>
            <a:r>
              <a:rPr lang="en-US" altLang="zh-CN" sz="1800" dirty="0" smtClean="0"/>
              <a:t>-20dBm</a:t>
            </a:r>
          </a:p>
          <a:p>
            <a:pPr lvl="1" algn="just">
              <a:lnSpc>
                <a:spcPct val="125000"/>
              </a:lnSpc>
              <a:spcAft>
                <a:spcPts val="0"/>
              </a:spcAft>
            </a:pPr>
            <a:r>
              <a:rPr lang="zh-CN" altLang="en-US" sz="1800" dirty="0" smtClean="0"/>
              <a:t>增益：</a:t>
            </a:r>
            <a:endParaRPr lang="en-US" altLang="zh-CN" sz="1800" dirty="0" smtClean="0"/>
          </a:p>
          <a:p>
            <a:pPr lvl="1" algn="just">
              <a:lnSpc>
                <a:spcPct val="125000"/>
              </a:lnSpc>
              <a:spcAft>
                <a:spcPts val="0"/>
              </a:spcAft>
            </a:pPr>
            <a:r>
              <a:rPr lang="en-US" altLang="zh-CN" sz="1800" dirty="0" smtClean="0"/>
              <a:t>22.1dB @ 50MHz</a:t>
            </a:r>
          </a:p>
          <a:p>
            <a:pPr lvl="1" algn="just">
              <a:lnSpc>
                <a:spcPct val="125000"/>
              </a:lnSpc>
              <a:spcAft>
                <a:spcPts val="0"/>
              </a:spcAft>
            </a:pPr>
            <a:r>
              <a:rPr lang="en-US" altLang="zh-CN" sz="1800" dirty="0" smtClean="0"/>
              <a:t>22.2dB @ 200MHz</a:t>
            </a:r>
            <a:endParaRPr lang="zh-CN" altLang="en-US" sz="1800"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1087" y="3955033"/>
            <a:ext cx="4673600" cy="2238398"/>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0637" y="651953"/>
            <a:ext cx="7190948" cy="5541478"/>
          </a:xfrm>
          <a:prstGeom prst="rect">
            <a:avLst/>
          </a:prstGeom>
        </p:spPr>
      </p:pic>
    </p:spTree>
    <p:extLst>
      <p:ext uri="{BB962C8B-B14F-4D97-AF65-F5344CB8AC3E}">
        <p14:creationId xmlns:p14="http://schemas.microsoft.com/office/powerpoint/2010/main" val="13068438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文本框 4"/>
          <p:cNvSpPr txBox="1"/>
          <p:nvPr/>
        </p:nvSpPr>
        <p:spPr>
          <a:xfrm>
            <a:off x="317522" y="1066800"/>
            <a:ext cx="3565200" cy="4247317"/>
          </a:xfrm>
          <a:prstGeom prst="rect">
            <a:avLst/>
          </a:prstGeom>
          <a:noFill/>
        </p:spPr>
        <p:txBody>
          <a:bodyPr wrap="square" rtlCol="0">
            <a:spAutoFit/>
          </a:bodyPr>
          <a:lstStyle/>
          <a:p>
            <a:pPr marL="457200" lvl="2">
              <a:lnSpc>
                <a:spcPct val="150000"/>
              </a:lnSpc>
            </a:pPr>
            <a:r>
              <a:rPr lang="zh-CN" altLang="en-US" sz="1800" dirty="0" smtClean="0">
                <a:solidFill>
                  <a:srgbClr val="FF0000"/>
                </a:solidFill>
              </a:rPr>
              <a:t>低频端，高通滤波器    </a:t>
            </a:r>
            <a:endParaRPr lang="en-US" altLang="zh-CN" sz="1800" dirty="0" smtClean="0">
              <a:solidFill>
                <a:srgbClr val="FF0000"/>
              </a:solidFill>
            </a:endParaRPr>
          </a:p>
          <a:p>
            <a:pPr marL="457200" lvl="2">
              <a:lnSpc>
                <a:spcPct val="150000"/>
              </a:lnSpc>
            </a:pPr>
            <a:r>
              <a:rPr lang="zh-CN" altLang="en-US" sz="1800" dirty="0" smtClean="0">
                <a:solidFill>
                  <a:srgbClr val="FF0000"/>
                </a:solidFill>
              </a:rPr>
              <a:t> </a:t>
            </a:r>
            <a:r>
              <a:rPr lang="en-US" altLang="zh-CN" sz="1800" dirty="0" smtClean="0"/>
              <a:t>-3dB</a:t>
            </a:r>
            <a:r>
              <a:rPr lang="zh-CN" altLang="en-US" sz="1800" dirty="0" smtClean="0"/>
              <a:t>截止频率</a:t>
            </a:r>
            <a:r>
              <a:rPr lang="en-US" altLang="zh-CN" sz="1800" dirty="0" smtClean="0"/>
              <a:t>40MHz</a:t>
            </a:r>
          </a:p>
          <a:p>
            <a:pPr marL="457200" lvl="2">
              <a:lnSpc>
                <a:spcPct val="150000"/>
              </a:lnSpc>
            </a:pPr>
            <a:r>
              <a:rPr lang="zh-CN" altLang="en-US" sz="1800" dirty="0" smtClean="0"/>
              <a:t>阻带起始频率</a:t>
            </a:r>
            <a:r>
              <a:rPr lang="en-US" altLang="zh-CN" sz="1800" dirty="0" smtClean="0"/>
              <a:t>20MHz</a:t>
            </a:r>
          </a:p>
          <a:p>
            <a:pPr marL="457200" lvl="2">
              <a:lnSpc>
                <a:spcPct val="150000"/>
              </a:lnSpc>
            </a:pPr>
            <a:r>
              <a:rPr lang="zh-CN" altLang="en-US" sz="1800" dirty="0"/>
              <a:t>阻带</a:t>
            </a:r>
            <a:r>
              <a:rPr lang="zh-CN" altLang="zh-CN" sz="1800" dirty="0" smtClean="0"/>
              <a:t>衰减</a:t>
            </a:r>
            <a:r>
              <a:rPr lang="en-US" altLang="zh-CN" sz="1800" dirty="0"/>
              <a:t>32dB</a:t>
            </a:r>
            <a:endParaRPr lang="en-US" altLang="zh-CN" sz="1800" dirty="0" smtClean="0"/>
          </a:p>
          <a:p>
            <a:pPr marL="457200" lvl="2">
              <a:lnSpc>
                <a:spcPct val="150000"/>
              </a:lnSpc>
            </a:pPr>
            <a:r>
              <a:rPr lang="zh-CN" altLang="en-US" sz="1800" dirty="0" smtClean="0"/>
              <a:t>通带</a:t>
            </a:r>
            <a:r>
              <a:rPr lang="zh-CN" altLang="zh-CN" sz="1800" dirty="0" smtClean="0"/>
              <a:t>内</a:t>
            </a:r>
            <a:r>
              <a:rPr lang="zh-CN" altLang="zh-CN" sz="1800" dirty="0"/>
              <a:t>增益</a:t>
            </a:r>
            <a:r>
              <a:rPr lang="zh-CN" altLang="zh-CN" sz="1800" dirty="0" smtClean="0"/>
              <a:t>波动</a:t>
            </a:r>
            <a:r>
              <a:rPr lang="en-US" altLang="zh-CN" sz="1800" dirty="0" smtClean="0"/>
              <a:t>0.4dB</a:t>
            </a:r>
          </a:p>
          <a:p>
            <a:pPr marL="457200" lvl="2">
              <a:lnSpc>
                <a:spcPct val="150000"/>
              </a:lnSpc>
            </a:pPr>
            <a:endParaRPr lang="en-US" altLang="zh-CN" sz="1800" dirty="0" smtClean="0"/>
          </a:p>
          <a:p>
            <a:pPr marL="457200" lvl="2">
              <a:lnSpc>
                <a:spcPct val="150000"/>
              </a:lnSpc>
            </a:pPr>
            <a:r>
              <a:rPr lang="zh-CN" altLang="en-US" sz="1800" dirty="0" smtClean="0"/>
              <a:t>端阻抗</a:t>
            </a:r>
            <a:r>
              <a:rPr lang="en-US" altLang="zh-CN" sz="1800" dirty="0" smtClean="0"/>
              <a:t>50</a:t>
            </a:r>
            <a:r>
              <a:rPr lang="el-GR" altLang="zh-CN" sz="1800" dirty="0" smtClean="0">
                <a:latin typeface="Times New Roman" panose="02020603050405020304" pitchFamily="18" charset="0"/>
                <a:cs typeface="Times New Roman" panose="02020603050405020304" pitchFamily="18" charset="0"/>
              </a:rPr>
              <a:t>Ω</a:t>
            </a:r>
            <a:endParaRPr lang="en-US" altLang="zh-CN" sz="1800" dirty="0" smtClean="0"/>
          </a:p>
          <a:p>
            <a:pPr marL="457200" lvl="2">
              <a:lnSpc>
                <a:spcPct val="150000"/>
              </a:lnSpc>
            </a:pPr>
            <a:endParaRPr lang="en-US" altLang="zh-CN" sz="1800" dirty="0" smtClean="0"/>
          </a:p>
          <a:p>
            <a:pPr marL="457200" lvl="2">
              <a:lnSpc>
                <a:spcPct val="150000"/>
              </a:lnSpc>
            </a:pPr>
            <a:r>
              <a:rPr lang="zh-CN" altLang="en-US" sz="1800" dirty="0" smtClean="0"/>
              <a:t>设计结果</a:t>
            </a:r>
            <a:endParaRPr lang="en-US" altLang="zh-CN" sz="1800" dirty="0" smtClean="0"/>
          </a:p>
          <a:p>
            <a:pPr marL="457200" lvl="2">
              <a:lnSpc>
                <a:spcPct val="150000"/>
              </a:lnSpc>
            </a:pPr>
            <a:endParaRPr lang="en-US" altLang="zh-CN" sz="1800" dirty="0"/>
          </a:p>
        </p:txBody>
      </p:sp>
      <p:pic>
        <p:nvPicPr>
          <p:cNvPr id="6" name="图片 5"/>
          <p:cNvPicPr>
            <a:picLocks noChangeAspect="1"/>
          </p:cNvPicPr>
          <p:nvPr/>
        </p:nvPicPr>
        <p:blipFill>
          <a:blip r:embed="rId3"/>
          <a:stretch>
            <a:fillRect/>
          </a:stretch>
        </p:blipFill>
        <p:spPr>
          <a:xfrm>
            <a:off x="4012258" y="1066800"/>
            <a:ext cx="7714985" cy="5239656"/>
          </a:xfrm>
          <a:prstGeom prst="rect">
            <a:avLst/>
          </a:prstGeom>
        </p:spPr>
      </p:pic>
      <p:sp>
        <p:nvSpPr>
          <p:cNvPr id="7" name="椭圆 6"/>
          <p:cNvSpPr/>
          <p:nvPr/>
        </p:nvSpPr>
        <p:spPr>
          <a:xfrm>
            <a:off x="6125029" y="1944914"/>
            <a:ext cx="558800" cy="616856"/>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138057" y="1865085"/>
            <a:ext cx="558800" cy="69668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053792" y="1944914"/>
            <a:ext cx="558800" cy="62411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252685" y="1865086"/>
            <a:ext cx="558800" cy="69668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0892971" y="1944914"/>
            <a:ext cx="696686" cy="740228"/>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976258" y="4579257"/>
            <a:ext cx="983342" cy="1509486"/>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p:nvPr/>
        </p:nvCxnSpPr>
        <p:spPr>
          <a:xfrm>
            <a:off x="3135086" y="1756229"/>
            <a:ext cx="1182914" cy="18868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033486" y="2191657"/>
            <a:ext cx="2104571" cy="1016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2460171" y="2264684"/>
            <a:ext cx="3722915" cy="2970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3135086" y="2472839"/>
            <a:ext cx="3918706" cy="5098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6280906" y="2823028"/>
            <a:ext cx="3374119" cy="569161"/>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4012258" y="3439885"/>
            <a:ext cx="3099742" cy="1030516"/>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458562" y="548547"/>
            <a:ext cx="10276114" cy="400110"/>
          </a:xfrm>
          <a:prstGeom prst="rect">
            <a:avLst/>
          </a:prstGeom>
          <a:noFill/>
        </p:spPr>
        <p:txBody>
          <a:bodyPr wrap="square" rtlCol="0">
            <a:spAutoFit/>
          </a:bodyPr>
          <a:lstStyle/>
          <a:p>
            <a:pPr marL="342900" indent="-342900">
              <a:buFont typeface="Arial" panose="020B0604020202020204" pitchFamily="34" charset="0"/>
              <a:buChar char="•"/>
            </a:pPr>
            <a:r>
              <a:rPr lang="zh-CN" altLang="en-US" dirty="0" smtClean="0"/>
              <a:t>用</a:t>
            </a:r>
            <a:r>
              <a:rPr lang="zh-CN" altLang="en-US" dirty="0"/>
              <a:t>辅助设计表格</a:t>
            </a:r>
            <a:r>
              <a:rPr lang="en-US" altLang="zh-CN" dirty="0"/>
              <a:t>《LC</a:t>
            </a:r>
            <a:r>
              <a:rPr lang="zh-CN" altLang="en-US" dirty="0"/>
              <a:t>滤波器参数计算</a:t>
            </a:r>
            <a:r>
              <a:rPr lang="en-US" altLang="zh-CN" dirty="0"/>
              <a:t>》</a:t>
            </a:r>
            <a:r>
              <a:rPr lang="zh-CN" altLang="en-US" dirty="0" smtClean="0"/>
              <a:t>设计</a:t>
            </a:r>
            <a:r>
              <a:rPr lang="en-US" altLang="zh-CN" dirty="0" smtClean="0"/>
              <a:t>LC</a:t>
            </a:r>
            <a:r>
              <a:rPr lang="zh-CN" altLang="en-US" dirty="0" smtClean="0"/>
              <a:t>滤波器</a:t>
            </a:r>
            <a:endParaRPr lang="zh-CN" altLang="en-US" dirty="0"/>
          </a:p>
        </p:txBody>
      </p:sp>
      <p:cxnSp>
        <p:nvCxnSpPr>
          <p:cNvPr id="35" name="直接箭头连接符 34"/>
          <p:cNvCxnSpPr>
            <a:endCxn id="27" idx="2"/>
          </p:cNvCxnSpPr>
          <p:nvPr/>
        </p:nvCxnSpPr>
        <p:spPr>
          <a:xfrm flipV="1">
            <a:off x="2097314" y="3107609"/>
            <a:ext cx="4183592" cy="6951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V="1">
            <a:off x="1847243" y="2627087"/>
            <a:ext cx="9103786" cy="1952170"/>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1984829" y="4207293"/>
            <a:ext cx="2191356" cy="37196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1908629" y="4579257"/>
            <a:ext cx="4067629" cy="812505"/>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7927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a:xfrm>
            <a:off x="9647768" y="6605587"/>
            <a:ext cx="2173817" cy="252413"/>
          </a:xfrm>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7" name="文本框 6"/>
          <p:cNvSpPr txBox="1"/>
          <p:nvPr/>
        </p:nvSpPr>
        <p:spPr>
          <a:xfrm>
            <a:off x="353512" y="2779486"/>
            <a:ext cx="3822673" cy="2877711"/>
          </a:xfrm>
          <a:prstGeom prst="rect">
            <a:avLst/>
          </a:prstGeom>
          <a:noFill/>
        </p:spPr>
        <p:txBody>
          <a:bodyPr wrap="square" rtlCol="0">
            <a:spAutoFit/>
          </a:bodyPr>
          <a:lstStyle/>
          <a:p>
            <a:r>
              <a:rPr lang="zh-CN" altLang="en-US" sz="1800" dirty="0" smtClean="0"/>
              <a:t>实际元件参数取最靠近设计值的商品标称值（括号内）</a:t>
            </a:r>
            <a:endParaRPr lang="en-US" altLang="zh-CN" sz="1800" dirty="0"/>
          </a:p>
          <a:p>
            <a:endParaRPr lang="en-US" altLang="zh-CN" sz="1600" dirty="0" smtClean="0"/>
          </a:p>
          <a:p>
            <a:r>
              <a:rPr lang="zh-CN" altLang="en-US" sz="1800" dirty="0" smtClean="0"/>
              <a:t>实测频率特性</a:t>
            </a:r>
            <a:endParaRPr lang="en-US" altLang="zh-CN" sz="100" dirty="0"/>
          </a:p>
          <a:p>
            <a:pPr>
              <a:lnSpc>
                <a:spcPct val="150000"/>
              </a:lnSpc>
            </a:pPr>
            <a:r>
              <a:rPr lang="zh-CN" altLang="en-US" sz="1800" dirty="0" smtClean="0"/>
              <a:t>截止频率  </a:t>
            </a:r>
            <a:r>
              <a:rPr lang="zh-CN" altLang="en-US" sz="1800" dirty="0" smtClean="0">
                <a:latin typeface="Times New Roman" panose="02020603050405020304" pitchFamily="18" charset="0"/>
                <a:cs typeface="Times New Roman" panose="02020603050405020304" pitchFamily="18" charset="0"/>
              </a:rPr>
              <a:t>约</a:t>
            </a:r>
            <a:r>
              <a:rPr lang="en-US" altLang="zh-CN" sz="1800" dirty="0" smtClean="0"/>
              <a:t>39.3MHz</a:t>
            </a:r>
          </a:p>
          <a:p>
            <a:pPr>
              <a:lnSpc>
                <a:spcPct val="150000"/>
              </a:lnSpc>
            </a:pPr>
            <a:r>
              <a:rPr lang="zh-CN" altLang="en-US" sz="1800" dirty="0" smtClean="0"/>
              <a:t>阻带衰减  </a:t>
            </a:r>
            <a:r>
              <a:rPr lang="en-US" altLang="zh-CN" sz="1800" dirty="0" smtClean="0"/>
              <a:t>43.8dB@20MHz</a:t>
            </a:r>
          </a:p>
          <a:p>
            <a:pPr>
              <a:lnSpc>
                <a:spcPct val="150000"/>
              </a:lnSpc>
            </a:pPr>
            <a:r>
              <a:rPr lang="zh-CN" altLang="en-US" sz="1800" dirty="0" smtClean="0"/>
              <a:t>带内波动  </a:t>
            </a:r>
            <a:r>
              <a:rPr lang="en-US" altLang="zh-CN" sz="1800" dirty="0"/>
              <a:t>&lt;</a:t>
            </a:r>
            <a:r>
              <a:rPr lang="en-US" altLang="zh-CN" sz="1800" dirty="0" smtClean="0"/>
              <a:t>2dB</a:t>
            </a:r>
          </a:p>
          <a:p>
            <a:pPr>
              <a:lnSpc>
                <a:spcPct val="150000"/>
              </a:lnSpc>
            </a:pPr>
            <a:r>
              <a:rPr lang="zh-CN" altLang="en-US" sz="1800" dirty="0" smtClean="0"/>
              <a:t>插入损耗  平均</a:t>
            </a:r>
            <a:r>
              <a:rPr lang="en-US" altLang="zh-CN" sz="1800" dirty="0" smtClean="0"/>
              <a:t>1.5dB</a:t>
            </a:r>
            <a:endParaRPr lang="zh-CN" altLang="en-US" sz="1800"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72743" y="1602525"/>
            <a:ext cx="6381423" cy="4784197"/>
          </a:xfrm>
          <a:prstGeom prst="rect">
            <a:avLst/>
          </a:prstGeom>
        </p:spPr>
      </p:pic>
      <p:sp>
        <p:nvSpPr>
          <p:cNvPr id="8" name="文本框 7"/>
          <p:cNvSpPr txBox="1"/>
          <p:nvPr/>
        </p:nvSpPr>
        <p:spPr>
          <a:xfrm>
            <a:off x="6687761" y="4542109"/>
            <a:ext cx="4031040" cy="369332"/>
          </a:xfrm>
          <a:prstGeom prst="rect">
            <a:avLst/>
          </a:prstGeom>
          <a:solidFill>
            <a:schemeClr val="bg1"/>
          </a:solidFill>
        </p:spPr>
        <p:txBody>
          <a:bodyPr wrap="square" rtlCol="0">
            <a:spAutoFit/>
          </a:bodyPr>
          <a:lstStyle/>
          <a:p>
            <a:r>
              <a:rPr lang="zh-CN" altLang="en-US" sz="1800" dirty="0" smtClean="0"/>
              <a:t>显示的频率范围约为</a:t>
            </a:r>
            <a:r>
              <a:rPr lang="en-US" altLang="zh-CN" sz="1800" dirty="0" smtClean="0"/>
              <a:t>10MHz~100MHz</a:t>
            </a:r>
            <a:endParaRPr lang="zh-CN" altLang="en-US" sz="1800" dirty="0"/>
          </a:p>
        </p:txBody>
      </p:sp>
      <p:sp>
        <p:nvSpPr>
          <p:cNvPr id="9" name="椭圆 8"/>
          <p:cNvSpPr/>
          <p:nvPr/>
        </p:nvSpPr>
        <p:spPr>
          <a:xfrm>
            <a:off x="7307943" y="2902990"/>
            <a:ext cx="384629" cy="377371"/>
          </a:xfrm>
          <a:prstGeom prst="ellipse">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6246132" y="4164738"/>
            <a:ext cx="384629" cy="377371"/>
          </a:xfrm>
          <a:prstGeom prst="ellipse">
            <a:avLst/>
          </a:prstGeom>
          <a:no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3"/>
          <a:stretch>
            <a:fillRect/>
          </a:stretch>
        </p:blipFill>
        <p:spPr>
          <a:xfrm>
            <a:off x="491698" y="699914"/>
            <a:ext cx="3258462" cy="1952724"/>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92800" y="430395"/>
            <a:ext cx="4920343" cy="1092693"/>
          </a:xfrm>
          <a:prstGeom prst="rect">
            <a:avLst/>
          </a:prstGeom>
        </p:spPr>
      </p:pic>
    </p:spTree>
    <p:extLst>
      <p:ext uri="{BB962C8B-B14F-4D97-AF65-F5344CB8AC3E}">
        <p14:creationId xmlns:p14="http://schemas.microsoft.com/office/powerpoint/2010/main" val="32620149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4094843" y="1086256"/>
            <a:ext cx="7413403" cy="5174822"/>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文本框 4"/>
          <p:cNvSpPr txBox="1"/>
          <p:nvPr/>
        </p:nvSpPr>
        <p:spPr>
          <a:xfrm>
            <a:off x="317522" y="1066800"/>
            <a:ext cx="3266563" cy="4247317"/>
          </a:xfrm>
          <a:prstGeom prst="rect">
            <a:avLst/>
          </a:prstGeom>
          <a:noFill/>
        </p:spPr>
        <p:txBody>
          <a:bodyPr wrap="square" rtlCol="0">
            <a:spAutoFit/>
          </a:bodyPr>
          <a:lstStyle/>
          <a:p>
            <a:pPr marL="457200" lvl="2">
              <a:lnSpc>
                <a:spcPct val="150000"/>
              </a:lnSpc>
            </a:pPr>
            <a:r>
              <a:rPr lang="zh-CN" altLang="en-US" sz="1800" dirty="0" smtClean="0">
                <a:solidFill>
                  <a:srgbClr val="FF0000"/>
                </a:solidFill>
              </a:rPr>
              <a:t>高频端，低通滤波器</a:t>
            </a:r>
            <a:endParaRPr lang="en-US" altLang="zh-CN" sz="1800" dirty="0" smtClean="0">
              <a:solidFill>
                <a:srgbClr val="FF0000"/>
              </a:solidFill>
            </a:endParaRPr>
          </a:p>
          <a:p>
            <a:pPr marL="457200" lvl="2">
              <a:lnSpc>
                <a:spcPct val="150000"/>
              </a:lnSpc>
            </a:pPr>
            <a:r>
              <a:rPr lang="en-US" altLang="zh-CN" sz="1800" dirty="0" smtClean="0"/>
              <a:t>-3dB</a:t>
            </a:r>
            <a:r>
              <a:rPr lang="zh-CN" altLang="en-US" sz="1800" dirty="0" smtClean="0"/>
              <a:t>截止频率</a:t>
            </a:r>
            <a:r>
              <a:rPr lang="en-US" altLang="zh-CN" sz="1800" dirty="0" smtClean="0"/>
              <a:t>200MHz</a:t>
            </a:r>
          </a:p>
          <a:p>
            <a:pPr marL="457200" lvl="2">
              <a:lnSpc>
                <a:spcPct val="150000"/>
              </a:lnSpc>
            </a:pPr>
            <a:r>
              <a:rPr lang="zh-CN" altLang="en-US" sz="1800" dirty="0" smtClean="0"/>
              <a:t>阻带起始频率</a:t>
            </a:r>
            <a:r>
              <a:rPr lang="en-US" altLang="zh-CN" sz="1800" dirty="0" smtClean="0"/>
              <a:t>270MHz</a:t>
            </a:r>
          </a:p>
          <a:p>
            <a:pPr marL="457200" lvl="2">
              <a:lnSpc>
                <a:spcPct val="150000"/>
              </a:lnSpc>
            </a:pPr>
            <a:r>
              <a:rPr lang="zh-CN" altLang="en-US" sz="1800" dirty="0"/>
              <a:t>阻带</a:t>
            </a:r>
            <a:r>
              <a:rPr lang="zh-CN" altLang="zh-CN" sz="1800" dirty="0" smtClean="0"/>
              <a:t>衰减</a:t>
            </a:r>
            <a:r>
              <a:rPr lang="en-US" altLang="zh-CN" sz="1800" dirty="0"/>
              <a:t>32dB</a:t>
            </a:r>
            <a:endParaRPr lang="en-US" altLang="zh-CN" sz="1800" dirty="0" smtClean="0"/>
          </a:p>
          <a:p>
            <a:pPr marL="457200" lvl="2">
              <a:lnSpc>
                <a:spcPct val="150000"/>
              </a:lnSpc>
            </a:pPr>
            <a:r>
              <a:rPr lang="zh-CN" altLang="en-US" sz="1800" dirty="0" smtClean="0"/>
              <a:t>通带</a:t>
            </a:r>
            <a:r>
              <a:rPr lang="zh-CN" altLang="zh-CN" sz="1800" dirty="0" smtClean="0"/>
              <a:t>内</a:t>
            </a:r>
            <a:r>
              <a:rPr lang="zh-CN" altLang="zh-CN" sz="1800" dirty="0"/>
              <a:t>增益</a:t>
            </a:r>
            <a:r>
              <a:rPr lang="zh-CN" altLang="zh-CN" sz="1800" dirty="0" smtClean="0"/>
              <a:t>波动</a:t>
            </a:r>
            <a:r>
              <a:rPr lang="en-US" altLang="zh-CN" sz="1800" dirty="0" smtClean="0"/>
              <a:t>0.4dB</a:t>
            </a:r>
          </a:p>
          <a:p>
            <a:pPr marL="457200" lvl="2">
              <a:lnSpc>
                <a:spcPct val="150000"/>
              </a:lnSpc>
            </a:pPr>
            <a:endParaRPr lang="en-US" altLang="zh-CN" sz="1800" dirty="0" smtClean="0"/>
          </a:p>
          <a:p>
            <a:pPr marL="457200" lvl="2">
              <a:lnSpc>
                <a:spcPct val="150000"/>
              </a:lnSpc>
            </a:pPr>
            <a:r>
              <a:rPr lang="zh-CN" altLang="en-US" sz="1800" dirty="0" smtClean="0"/>
              <a:t>端阻抗</a:t>
            </a:r>
            <a:r>
              <a:rPr lang="en-US" altLang="zh-CN" sz="1800" dirty="0" smtClean="0"/>
              <a:t>50</a:t>
            </a:r>
            <a:r>
              <a:rPr lang="el-GR" altLang="zh-CN" sz="1800" dirty="0" smtClean="0">
                <a:latin typeface="Times New Roman" panose="02020603050405020304" pitchFamily="18" charset="0"/>
                <a:cs typeface="Times New Roman" panose="02020603050405020304" pitchFamily="18" charset="0"/>
              </a:rPr>
              <a:t>Ω</a:t>
            </a:r>
            <a:endParaRPr lang="en-US" altLang="zh-CN" sz="1800" dirty="0" smtClean="0">
              <a:latin typeface="Times New Roman" panose="02020603050405020304" pitchFamily="18" charset="0"/>
              <a:cs typeface="Times New Roman" panose="02020603050405020304" pitchFamily="18" charset="0"/>
            </a:endParaRPr>
          </a:p>
          <a:p>
            <a:pPr marL="457200" lvl="2">
              <a:lnSpc>
                <a:spcPct val="150000"/>
              </a:lnSpc>
            </a:pPr>
            <a:endParaRPr lang="en-US" altLang="zh-CN" sz="1800" dirty="0">
              <a:latin typeface="Times New Roman" panose="02020603050405020304" pitchFamily="18" charset="0"/>
              <a:cs typeface="Times New Roman" panose="02020603050405020304" pitchFamily="18" charset="0"/>
            </a:endParaRPr>
          </a:p>
          <a:p>
            <a:pPr marL="457200" lvl="2">
              <a:lnSpc>
                <a:spcPct val="150000"/>
              </a:lnSpc>
            </a:pPr>
            <a:r>
              <a:rPr lang="zh-CN" altLang="en-US" sz="1800" dirty="0" smtClean="0"/>
              <a:t>切比雪夫型设计结果</a:t>
            </a:r>
            <a:endParaRPr lang="en-US" altLang="zh-CN" sz="1800" dirty="0" smtClean="0"/>
          </a:p>
          <a:p>
            <a:pPr marL="457200" lvl="2">
              <a:lnSpc>
                <a:spcPct val="150000"/>
              </a:lnSpc>
            </a:pPr>
            <a:endParaRPr lang="en-US" altLang="zh-CN" sz="1800" dirty="0"/>
          </a:p>
        </p:txBody>
      </p:sp>
      <p:sp>
        <p:nvSpPr>
          <p:cNvPr id="10" name="椭圆 9"/>
          <p:cNvSpPr/>
          <p:nvPr/>
        </p:nvSpPr>
        <p:spPr>
          <a:xfrm>
            <a:off x="10734676" y="1958415"/>
            <a:ext cx="558800" cy="696685"/>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5976258" y="4579256"/>
            <a:ext cx="1135742" cy="1681821"/>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a:endCxn id="10" idx="2"/>
          </p:cNvCxnSpPr>
          <p:nvPr/>
        </p:nvCxnSpPr>
        <p:spPr>
          <a:xfrm flipV="1">
            <a:off x="2982686" y="2306758"/>
            <a:ext cx="7751990" cy="2272498"/>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4012258" y="3439885"/>
            <a:ext cx="3099742" cy="1030516"/>
          </a:xfrm>
          <a:prstGeom prst="ellipse">
            <a:avLst/>
          </a:prstGeom>
          <a:no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458562" y="548547"/>
            <a:ext cx="10276114" cy="400110"/>
          </a:xfrm>
          <a:prstGeom prst="rect">
            <a:avLst/>
          </a:prstGeom>
          <a:noFill/>
        </p:spPr>
        <p:txBody>
          <a:bodyPr wrap="square" rtlCol="0">
            <a:spAutoFit/>
          </a:bodyPr>
          <a:lstStyle/>
          <a:p>
            <a:pPr marL="342900" indent="-342900">
              <a:buFont typeface="Arial" panose="020B0604020202020204" pitchFamily="34" charset="0"/>
              <a:buChar char="•"/>
            </a:pPr>
            <a:r>
              <a:rPr lang="zh-CN" altLang="en-US" dirty="0" smtClean="0"/>
              <a:t>用</a:t>
            </a:r>
            <a:r>
              <a:rPr lang="zh-CN" altLang="en-US" dirty="0"/>
              <a:t>辅助设计表格</a:t>
            </a:r>
            <a:r>
              <a:rPr lang="en-US" altLang="zh-CN" dirty="0"/>
              <a:t>《LC</a:t>
            </a:r>
            <a:r>
              <a:rPr lang="zh-CN" altLang="en-US" dirty="0"/>
              <a:t>滤波器参数计算</a:t>
            </a:r>
            <a:r>
              <a:rPr lang="en-US" altLang="zh-CN" dirty="0"/>
              <a:t>》</a:t>
            </a:r>
            <a:r>
              <a:rPr lang="zh-CN" altLang="en-US" dirty="0"/>
              <a:t>设计滤波器</a:t>
            </a:r>
          </a:p>
        </p:txBody>
      </p:sp>
      <p:cxnSp>
        <p:nvCxnSpPr>
          <p:cNvPr id="42" name="直接箭头连接符 41"/>
          <p:cNvCxnSpPr>
            <a:endCxn id="28" idx="3"/>
          </p:cNvCxnSpPr>
          <p:nvPr/>
        </p:nvCxnSpPr>
        <p:spPr>
          <a:xfrm flipV="1">
            <a:off x="2982686" y="4319485"/>
            <a:ext cx="1483519" cy="310572"/>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2982686" y="4702629"/>
            <a:ext cx="2993572" cy="689133"/>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91577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8" name="文本框 7"/>
          <p:cNvSpPr txBox="1"/>
          <p:nvPr/>
        </p:nvSpPr>
        <p:spPr>
          <a:xfrm>
            <a:off x="362251" y="488040"/>
            <a:ext cx="5124149" cy="304698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smtClean="0">
                <a:latin typeface="+mn-ea"/>
                <a:ea typeface="+mn-ea"/>
              </a:rPr>
              <a:t>实际电路中电感用了临近的标称值</a:t>
            </a:r>
            <a:r>
              <a:rPr lang="en-US" altLang="zh-CN" sz="1800" dirty="0" smtClean="0">
                <a:latin typeface="+mn-ea"/>
                <a:ea typeface="+mn-ea"/>
              </a:rPr>
              <a:t>56nH</a:t>
            </a:r>
            <a:r>
              <a:rPr lang="zh-CN" altLang="en-US" sz="1800" dirty="0" smtClean="0">
                <a:latin typeface="+mn-ea"/>
                <a:ea typeface="+mn-ea"/>
              </a:rPr>
              <a:t>，电容经实测后用了</a:t>
            </a:r>
            <a:r>
              <a:rPr lang="en-US" altLang="zh-CN" sz="1800" dirty="0" smtClean="0">
                <a:latin typeface="+mn-ea"/>
                <a:ea typeface="+mn-ea"/>
              </a:rPr>
              <a:t>24pF</a:t>
            </a:r>
            <a:r>
              <a:rPr lang="zh-CN" altLang="en-US" sz="1800" dirty="0" smtClean="0">
                <a:latin typeface="+mn-ea"/>
                <a:ea typeface="+mn-ea"/>
              </a:rPr>
              <a:t>与</a:t>
            </a:r>
            <a:r>
              <a:rPr lang="en-US" altLang="zh-CN" sz="1800" dirty="0" smtClean="0">
                <a:latin typeface="+mn-ea"/>
                <a:ea typeface="+mn-ea"/>
              </a:rPr>
              <a:t>33pF</a:t>
            </a:r>
          </a:p>
          <a:p>
            <a:pPr marL="342900" indent="-342900">
              <a:lnSpc>
                <a:spcPct val="150000"/>
              </a:lnSpc>
              <a:buFont typeface="Arial" panose="020B0604020202020204" pitchFamily="34" charset="0"/>
              <a:buChar char="•"/>
            </a:pPr>
            <a:r>
              <a:rPr lang="zh-CN" altLang="en-US" sz="1800" dirty="0" smtClean="0"/>
              <a:t>实测频率特性</a:t>
            </a:r>
            <a:endParaRPr lang="en-US" altLang="zh-CN" sz="1800" dirty="0" smtClean="0"/>
          </a:p>
          <a:p>
            <a:pPr lvl="1">
              <a:lnSpc>
                <a:spcPct val="150000"/>
              </a:lnSpc>
            </a:pPr>
            <a:r>
              <a:rPr lang="zh-CN" altLang="en-US" sz="1800" dirty="0" smtClean="0"/>
              <a:t>截止频率  </a:t>
            </a:r>
            <a:r>
              <a:rPr lang="en-US" altLang="zh-CN" sz="1800" dirty="0" smtClean="0"/>
              <a:t>199MHz</a:t>
            </a:r>
          </a:p>
          <a:p>
            <a:pPr lvl="1">
              <a:lnSpc>
                <a:spcPct val="150000"/>
              </a:lnSpc>
            </a:pPr>
            <a:r>
              <a:rPr lang="zh-CN" altLang="en-US" sz="1800" dirty="0" smtClean="0"/>
              <a:t>阻带衰减  </a:t>
            </a:r>
            <a:r>
              <a:rPr lang="en-US" altLang="zh-CN" sz="1800" dirty="0" smtClean="0"/>
              <a:t>-36dB@270MHz</a:t>
            </a:r>
            <a:r>
              <a:rPr lang="zh-CN" altLang="en-US" sz="1800" dirty="0" smtClean="0"/>
              <a:t> </a:t>
            </a:r>
            <a:endParaRPr lang="en-US" altLang="zh-CN" sz="1800" dirty="0" smtClean="0"/>
          </a:p>
          <a:p>
            <a:pPr lvl="1">
              <a:lnSpc>
                <a:spcPct val="150000"/>
              </a:lnSpc>
            </a:pPr>
            <a:r>
              <a:rPr lang="zh-CN" altLang="en-US" sz="1800" dirty="0" smtClean="0"/>
              <a:t>带内波动  </a:t>
            </a:r>
            <a:r>
              <a:rPr lang="en-US" altLang="zh-CN" sz="1800" dirty="0" smtClean="0">
                <a:latin typeface="Times New Roman" panose="02020603050405020304" pitchFamily="18" charset="0"/>
                <a:cs typeface="Times New Roman" panose="02020603050405020304" pitchFamily="18" charset="0"/>
              </a:rPr>
              <a:t>&lt; ±</a:t>
            </a:r>
            <a:r>
              <a:rPr lang="en-US" altLang="zh-CN" sz="1800" dirty="0" smtClean="0"/>
              <a:t>1dB</a:t>
            </a:r>
          </a:p>
          <a:p>
            <a:pPr lvl="1">
              <a:lnSpc>
                <a:spcPct val="150000"/>
              </a:lnSpc>
            </a:pPr>
            <a:r>
              <a:rPr lang="zh-CN" altLang="en-US" sz="1800" dirty="0"/>
              <a:t>滤波器</a:t>
            </a:r>
            <a:r>
              <a:rPr lang="zh-CN" altLang="en-US" sz="1800" dirty="0" smtClean="0"/>
              <a:t>插入损耗  </a:t>
            </a:r>
            <a:r>
              <a:rPr lang="en-US" altLang="zh-CN" sz="1800" dirty="0" smtClean="0">
                <a:latin typeface="Times New Roman" panose="02020603050405020304" pitchFamily="18" charset="0"/>
                <a:cs typeface="Times New Roman" panose="02020603050405020304" pitchFamily="18" charset="0"/>
              </a:rPr>
              <a:t>≈ </a:t>
            </a:r>
            <a:r>
              <a:rPr lang="en-US" altLang="zh-CN" sz="1800" dirty="0" smtClean="0"/>
              <a:t>1dB</a:t>
            </a:r>
            <a:endParaRPr lang="zh-CN" altLang="en-US" sz="1800" dirty="0">
              <a:latin typeface="+mn-ea"/>
              <a:ea typeface="+mn-ea"/>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799" y="3867167"/>
            <a:ext cx="5631541" cy="2441860"/>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0826" y="2227053"/>
            <a:ext cx="5517183" cy="4088341"/>
          </a:xfrm>
          <a:prstGeom prst="rect">
            <a:avLst/>
          </a:prstGeom>
        </p:spPr>
      </p:pic>
      <p:sp>
        <p:nvSpPr>
          <p:cNvPr id="12" name="文本框 11"/>
          <p:cNvSpPr txBox="1"/>
          <p:nvPr/>
        </p:nvSpPr>
        <p:spPr>
          <a:xfrm>
            <a:off x="7086903" y="4200835"/>
            <a:ext cx="2702983" cy="1477328"/>
          </a:xfrm>
          <a:prstGeom prst="rect">
            <a:avLst/>
          </a:prstGeom>
          <a:solidFill>
            <a:srgbClr val="EDFFFF"/>
          </a:solidFill>
        </p:spPr>
        <p:txBody>
          <a:bodyPr wrap="square" rtlCol="0">
            <a:spAutoFit/>
          </a:bodyPr>
          <a:lstStyle/>
          <a:p>
            <a:pPr>
              <a:lnSpc>
                <a:spcPct val="125000"/>
              </a:lnSpc>
            </a:pPr>
            <a:r>
              <a:rPr lang="zh-CN" altLang="en-US" sz="1800" dirty="0" smtClean="0"/>
              <a:t>实测频响曲线</a:t>
            </a:r>
            <a:r>
              <a:rPr lang="en-US" altLang="zh-CN" sz="1800" dirty="0" smtClean="0"/>
              <a:t>:</a:t>
            </a:r>
          </a:p>
          <a:p>
            <a:pPr>
              <a:lnSpc>
                <a:spcPct val="125000"/>
              </a:lnSpc>
            </a:pPr>
            <a:r>
              <a:rPr lang="zh-CN" altLang="en-US" sz="1800" dirty="0" smtClean="0">
                <a:latin typeface="+mn-ea"/>
              </a:rPr>
              <a:t>带</a:t>
            </a:r>
            <a:r>
              <a:rPr lang="en-US" altLang="zh-CN" sz="1800" dirty="0" smtClean="0">
                <a:latin typeface="+mn-ea"/>
              </a:rPr>
              <a:t>2</a:t>
            </a:r>
            <a:r>
              <a:rPr lang="zh-CN" altLang="en-US" sz="1800" dirty="0" smtClean="0">
                <a:latin typeface="+mn-ea"/>
              </a:rPr>
              <a:t>级放大器</a:t>
            </a:r>
            <a:r>
              <a:rPr lang="en-US" altLang="zh-CN" sz="1800" dirty="0" smtClean="0">
                <a:latin typeface="+mn-ea"/>
              </a:rPr>
              <a:t>(HMC480)</a:t>
            </a:r>
          </a:p>
          <a:p>
            <a:pPr>
              <a:lnSpc>
                <a:spcPct val="125000"/>
              </a:lnSpc>
            </a:pPr>
            <a:r>
              <a:rPr lang="zh-CN" altLang="en-US" sz="1800" dirty="0" smtClean="0">
                <a:latin typeface="+mn-ea"/>
              </a:rPr>
              <a:t>输入端接有</a:t>
            </a:r>
            <a:r>
              <a:rPr lang="en-US" altLang="zh-CN" sz="1800" dirty="0" smtClean="0">
                <a:latin typeface="+mn-ea"/>
              </a:rPr>
              <a:t>20dB</a:t>
            </a:r>
            <a:r>
              <a:rPr lang="zh-CN" altLang="en-US" sz="1800" dirty="0" smtClean="0">
                <a:latin typeface="+mn-ea"/>
              </a:rPr>
              <a:t>衰减器</a:t>
            </a:r>
            <a:endParaRPr lang="en-US" altLang="zh-CN" sz="1800" dirty="0" smtClean="0">
              <a:latin typeface="+mn-ea"/>
            </a:endParaRPr>
          </a:p>
          <a:p>
            <a:pPr>
              <a:lnSpc>
                <a:spcPct val="125000"/>
              </a:lnSpc>
            </a:pPr>
            <a:r>
              <a:rPr lang="zh-CN" altLang="en-US" sz="1800" dirty="0" smtClean="0">
                <a:latin typeface="+mn-ea"/>
              </a:rPr>
              <a:t>带内增益</a:t>
            </a:r>
            <a:r>
              <a:rPr lang="en-US" altLang="zh-CN" sz="1800" dirty="0" smtClean="0">
                <a:latin typeface="+mn-ea"/>
              </a:rPr>
              <a:t>38dB</a:t>
            </a:r>
            <a:endParaRPr lang="zh-CN" altLang="en-US" sz="1800" dirty="0">
              <a:latin typeface="+mn-ea"/>
            </a:endParaRPr>
          </a:p>
        </p:txBody>
      </p:sp>
      <p:pic>
        <p:nvPicPr>
          <p:cNvPr id="13" name="图片 12"/>
          <p:cNvPicPr>
            <a:picLocks noChangeAspect="1"/>
          </p:cNvPicPr>
          <p:nvPr/>
        </p:nvPicPr>
        <p:blipFill>
          <a:blip r:embed="rId4"/>
          <a:stretch>
            <a:fillRect/>
          </a:stretch>
        </p:blipFill>
        <p:spPr>
          <a:xfrm>
            <a:off x="6349996" y="661038"/>
            <a:ext cx="4695649" cy="1356783"/>
          </a:xfrm>
          <a:prstGeom prst="rect">
            <a:avLst/>
          </a:prstGeom>
        </p:spPr>
      </p:pic>
    </p:spTree>
    <p:extLst>
      <p:ext uri="{BB962C8B-B14F-4D97-AF65-F5344CB8AC3E}">
        <p14:creationId xmlns:p14="http://schemas.microsoft.com/office/powerpoint/2010/main" val="10216277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558800" y="508000"/>
            <a:ext cx="11074400"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t>应用</a:t>
            </a:r>
            <a:r>
              <a:rPr lang="en-US" altLang="zh-CN" dirty="0" smtClean="0"/>
              <a:t>《Filter Solutions Book》</a:t>
            </a:r>
            <a:r>
              <a:rPr lang="zh-CN" altLang="en-US" dirty="0" smtClean="0"/>
              <a:t>设计椭圆低通滤波器</a:t>
            </a:r>
            <a:endParaRPr lang="en-US" altLang="zh-CN" dirty="0" smtClean="0"/>
          </a:p>
          <a:p>
            <a:pPr>
              <a:lnSpc>
                <a:spcPct val="150000"/>
              </a:lnSpc>
            </a:pPr>
            <a:r>
              <a:rPr lang="en-US" altLang="zh-CN" dirty="0" smtClean="0"/>
              <a:t>Step 1  </a:t>
            </a:r>
            <a:r>
              <a:rPr lang="zh-CN" altLang="en-US" dirty="0" smtClean="0"/>
              <a:t>填入截止频率、阻带频率、通带纹波</a:t>
            </a:r>
            <a:endParaRPr lang="en-US" altLang="zh-CN" dirty="0" smtClean="0"/>
          </a:p>
          <a:p>
            <a:pPr>
              <a:lnSpc>
                <a:spcPct val="150000"/>
              </a:lnSpc>
            </a:pPr>
            <a:r>
              <a:rPr lang="en-US" altLang="zh-CN" dirty="0" smtClean="0"/>
              <a:t>Step 2  </a:t>
            </a:r>
            <a:r>
              <a:rPr lang="zh-CN" altLang="en-US" dirty="0" smtClean="0"/>
              <a:t>点击</a:t>
            </a:r>
            <a:r>
              <a:rPr lang="en-US" altLang="zh-CN" dirty="0"/>
              <a:t> </a:t>
            </a:r>
            <a:r>
              <a:rPr lang="en-US" altLang="zh-CN" dirty="0" smtClean="0"/>
              <a:t>Set Order</a:t>
            </a:r>
            <a:endParaRPr lang="zh-CN" altLang="en-US" dirty="0"/>
          </a:p>
        </p:txBody>
      </p:sp>
      <p:pic>
        <p:nvPicPr>
          <p:cNvPr id="7" name="图片 6"/>
          <p:cNvPicPr>
            <a:picLocks noChangeAspect="1"/>
          </p:cNvPicPr>
          <p:nvPr/>
        </p:nvPicPr>
        <p:blipFill>
          <a:blip r:embed="rId2"/>
          <a:stretch>
            <a:fillRect/>
          </a:stretch>
        </p:blipFill>
        <p:spPr>
          <a:xfrm>
            <a:off x="2123261" y="2141332"/>
            <a:ext cx="8464910" cy="3658433"/>
          </a:xfrm>
          <a:prstGeom prst="rect">
            <a:avLst/>
          </a:prstGeom>
        </p:spPr>
      </p:pic>
      <p:sp>
        <p:nvSpPr>
          <p:cNvPr id="11" name="椭圆 10"/>
          <p:cNvSpPr/>
          <p:nvPr/>
        </p:nvSpPr>
        <p:spPr>
          <a:xfrm>
            <a:off x="3885769" y="4299743"/>
            <a:ext cx="566058" cy="703943"/>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4176185" y="2730075"/>
            <a:ext cx="860272" cy="40253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91543" y="3054825"/>
            <a:ext cx="1320800" cy="84324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6146799" y="2890771"/>
            <a:ext cx="566058" cy="795859"/>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p:nvPr/>
        </p:nvCxnSpPr>
        <p:spPr>
          <a:xfrm>
            <a:off x="3274721" y="1514612"/>
            <a:ext cx="498993" cy="154021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endCxn id="12" idx="0"/>
          </p:cNvCxnSpPr>
          <p:nvPr/>
        </p:nvCxnSpPr>
        <p:spPr>
          <a:xfrm flipH="1">
            <a:off x="4606321" y="1538514"/>
            <a:ext cx="248708" cy="119156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245429" y="5862649"/>
            <a:ext cx="3384780" cy="400110"/>
          </a:xfrm>
          <a:prstGeom prst="rect">
            <a:avLst/>
          </a:prstGeom>
        </p:spPr>
        <p:txBody>
          <a:bodyPr wrap="square">
            <a:spAutoFit/>
          </a:bodyPr>
          <a:lstStyle/>
          <a:p>
            <a:r>
              <a:rPr lang="zh-CN" altLang="en-US" dirty="0" smtClean="0"/>
              <a:t>注意选用频率单位</a:t>
            </a:r>
            <a:endParaRPr lang="zh-CN" altLang="en-US" dirty="0"/>
          </a:p>
        </p:txBody>
      </p:sp>
      <p:cxnSp>
        <p:nvCxnSpPr>
          <p:cNvPr id="26" name="直接箭头连接符 25"/>
          <p:cNvCxnSpPr>
            <a:endCxn id="11" idx="5"/>
          </p:cNvCxnSpPr>
          <p:nvPr/>
        </p:nvCxnSpPr>
        <p:spPr>
          <a:xfrm flipH="1" flipV="1">
            <a:off x="4368930" y="4900596"/>
            <a:ext cx="486100" cy="9804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5196114" y="3554996"/>
            <a:ext cx="1040969" cy="23260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3033486" y="1932484"/>
            <a:ext cx="362857" cy="7777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104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219815" y="1705428"/>
            <a:ext cx="8233026" cy="3984171"/>
          </a:xfrm>
          <a:prstGeom prst="rect">
            <a:avLst/>
          </a:prstGeom>
        </p:spPr>
      </p:pic>
      <p:sp>
        <p:nvSpPr>
          <p:cNvPr id="6" name="文本框 5"/>
          <p:cNvSpPr txBox="1"/>
          <p:nvPr/>
        </p:nvSpPr>
        <p:spPr>
          <a:xfrm>
            <a:off x="558800" y="508000"/>
            <a:ext cx="11074400" cy="553998"/>
          </a:xfrm>
          <a:prstGeom prst="rect">
            <a:avLst/>
          </a:prstGeom>
          <a:noFill/>
        </p:spPr>
        <p:txBody>
          <a:bodyPr wrap="square" rtlCol="0">
            <a:spAutoFit/>
          </a:bodyPr>
          <a:lstStyle/>
          <a:p>
            <a:pPr>
              <a:lnSpc>
                <a:spcPct val="150000"/>
              </a:lnSpc>
            </a:pPr>
            <a:r>
              <a:rPr lang="en-US" altLang="zh-CN" dirty="0" smtClean="0"/>
              <a:t>Step 3  </a:t>
            </a:r>
            <a:r>
              <a:rPr lang="zh-CN" altLang="en-US" dirty="0" smtClean="0"/>
              <a:t>在弹出的窗口中填入阻带衰减，点击 </a:t>
            </a:r>
            <a:r>
              <a:rPr lang="en-US" altLang="zh-CN" dirty="0" smtClean="0"/>
              <a:t>Set Minimum Order</a:t>
            </a:r>
            <a:r>
              <a:rPr lang="zh-CN" altLang="en-US" dirty="0" smtClean="0"/>
              <a:t>，在原窗口中出现阶数</a:t>
            </a:r>
            <a:endParaRPr lang="zh-CN" altLang="en-US" dirty="0"/>
          </a:p>
        </p:txBody>
      </p:sp>
      <p:cxnSp>
        <p:nvCxnSpPr>
          <p:cNvPr id="8" name="直接箭头连接符 7"/>
          <p:cNvCxnSpPr/>
          <p:nvPr/>
        </p:nvCxnSpPr>
        <p:spPr>
          <a:xfrm flipH="1">
            <a:off x="2873829" y="1061998"/>
            <a:ext cx="370114" cy="292943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4176185" y="1061998"/>
            <a:ext cx="4989586" cy="14126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3469217" y="1061998"/>
            <a:ext cx="2626783" cy="346645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2116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040148" y="1542142"/>
            <a:ext cx="8648732" cy="4575498"/>
          </a:xfrm>
          <a:prstGeom prst="rect">
            <a:avLst/>
          </a:prstGeom>
        </p:spPr>
      </p:pic>
      <p:sp>
        <p:nvSpPr>
          <p:cNvPr id="6" name="文本框 5"/>
          <p:cNvSpPr txBox="1"/>
          <p:nvPr/>
        </p:nvSpPr>
        <p:spPr>
          <a:xfrm>
            <a:off x="558800" y="449943"/>
            <a:ext cx="11074400" cy="1015663"/>
          </a:xfrm>
          <a:prstGeom prst="rect">
            <a:avLst/>
          </a:prstGeom>
          <a:noFill/>
        </p:spPr>
        <p:txBody>
          <a:bodyPr wrap="square" rtlCol="0">
            <a:spAutoFit/>
          </a:bodyPr>
          <a:lstStyle/>
          <a:p>
            <a:pPr>
              <a:lnSpc>
                <a:spcPct val="150000"/>
              </a:lnSpc>
            </a:pPr>
            <a:r>
              <a:rPr lang="en-US" altLang="zh-CN" dirty="0" smtClean="0"/>
              <a:t>Step 4  </a:t>
            </a:r>
            <a:r>
              <a:rPr lang="zh-CN" altLang="en-US" dirty="0" smtClean="0"/>
              <a:t>回到原窗口，填入终端阻抗等电路参数</a:t>
            </a:r>
            <a:endParaRPr lang="en-US" altLang="zh-CN" dirty="0" smtClean="0"/>
          </a:p>
          <a:p>
            <a:pPr>
              <a:lnSpc>
                <a:spcPct val="150000"/>
              </a:lnSpc>
            </a:pPr>
            <a:r>
              <a:rPr lang="en-US" altLang="zh-CN" dirty="0" smtClean="0"/>
              <a:t>Step 5  </a:t>
            </a:r>
            <a:r>
              <a:rPr lang="zh-CN" altLang="en-US" dirty="0" smtClean="0"/>
              <a:t>点击 </a:t>
            </a:r>
            <a:r>
              <a:rPr lang="en-US" altLang="zh-CN" dirty="0" smtClean="0"/>
              <a:t>Frequency Response</a:t>
            </a:r>
            <a:r>
              <a:rPr lang="zh-CN" altLang="en-US" dirty="0" smtClean="0"/>
              <a:t>，可以检查滤波器的频响</a:t>
            </a:r>
            <a:endParaRPr lang="zh-CN" altLang="en-US" dirty="0"/>
          </a:p>
        </p:txBody>
      </p:sp>
      <p:cxnSp>
        <p:nvCxnSpPr>
          <p:cNvPr id="7" name="直接箭头连接符 6"/>
          <p:cNvCxnSpPr/>
          <p:nvPr/>
        </p:nvCxnSpPr>
        <p:spPr>
          <a:xfrm>
            <a:off x="6001657" y="805543"/>
            <a:ext cx="2438400" cy="19666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8345715" y="2634343"/>
            <a:ext cx="1937656" cy="72571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a:off x="7336971" y="1226457"/>
            <a:ext cx="2162629" cy="116114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573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pic>
        <p:nvPicPr>
          <p:cNvPr id="5" name="图片 4"/>
          <p:cNvPicPr>
            <a:picLocks noChangeAspect="1"/>
          </p:cNvPicPr>
          <p:nvPr/>
        </p:nvPicPr>
        <p:blipFill>
          <a:blip r:embed="rId3"/>
          <a:stretch>
            <a:fillRect/>
          </a:stretch>
        </p:blipFill>
        <p:spPr>
          <a:xfrm>
            <a:off x="823686" y="1074058"/>
            <a:ext cx="9194800" cy="4889500"/>
          </a:xfrm>
          <a:prstGeom prst="rect">
            <a:avLst/>
          </a:prstGeom>
        </p:spPr>
      </p:pic>
      <p:sp>
        <p:nvSpPr>
          <p:cNvPr id="6" name="文本框 5"/>
          <p:cNvSpPr txBox="1"/>
          <p:nvPr/>
        </p:nvSpPr>
        <p:spPr>
          <a:xfrm>
            <a:off x="558800" y="449943"/>
            <a:ext cx="11074400" cy="553998"/>
          </a:xfrm>
          <a:prstGeom prst="rect">
            <a:avLst/>
          </a:prstGeom>
          <a:noFill/>
        </p:spPr>
        <p:txBody>
          <a:bodyPr wrap="square" rtlCol="0">
            <a:spAutoFit/>
          </a:bodyPr>
          <a:lstStyle/>
          <a:p>
            <a:pPr>
              <a:lnSpc>
                <a:spcPct val="150000"/>
              </a:lnSpc>
            </a:pPr>
            <a:r>
              <a:rPr lang="en-US" altLang="zh-CN" dirty="0" smtClean="0"/>
              <a:t>Step 6  </a:t>
            </a:r>
            <a:r>
              <a:rPr lang="zh-CN" altLang="en-US" dirty="0" smtClean="0"/>
              <a:t>点击 </a:t>
            </a:r>
            <a:r>
              <a:rPr lang="en-US" altLang="zh-CN" dirty="0" smtClean="0"/>
              <a:t>Circuits</a:t>
            </a:r>
            <a:r>
              <a:rPr lang="zh-CN" altLang="en-US" dirty="0" smtClean="0"/>
              <a:t>，得到最后的电路图</a:t>
            </a:r>
            <a:endParaRPr lang="zh-CN" altLang="en-US" dirty="0"/>
          </a:p>
        </p:txBody>
      </p:sp>
      <p:cxnSp>
        <p:nvCxnSpPr>
          <p:cNvPr id="7" name="直接箭头连接符 6"/>
          <p:cNvCxnSpPr/>
          <p:nvPr/>
        </p:nvCxnSpPr>
        <p:spPr>
          <a:xfrm>
            <a:off x="5421086" y="827314"/>
            <a:ext cx="2525485" cy="26270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7387318" y="4528457"/>
            <a:ext cx="4520899" cy="1015663"/>
          </a:xfrm>
          <a:prstGeom prst="rect">
            <a:avLst/>
          </a:prstGeom>
          <a:noFill/>
        </p:spPr>
        <p:txBody>
          <a:bodyPr wrap="square" rtlCol="0">
            <a:spAutoFit/>
          </a:bodyPr>
          <a:lstStyle/>
          <a:p>
            <a:pPr>
              <a:lnSpc>
                <a:spcPct val="150000"/>
              </a:lnSpc>
            </a:pPr>
            <a:r>
              <a:rPr lang="zh-CN" altLang="en-US" dirty="0" smtClean="0"/>
              <a:t>与切比雪夫型电路相比，元件数相同，但电感少了一个，相对容易制作一些</a:t>
            </a:r>
            <a:endParaRPr lang="zh-CN" altLang="en-US" dirty="0"/>
          </a:p>
        </p:txBody>
      </p:sp>
    </p:spTree>
    <p:extLst>
      <p:ext uri="{BB962C8B-B14F-4D97-AF65-F5344CB8AC3E}">
        <p14:creationId xmlns:p14="http://schemas.microsoft.com/office/powerpoint/2010/main" val="16558425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377372" y="522514"/>
            <a:ext cx="11444214" cy="4662815"/>
          </a:xfrm>
          <a:prstGeom prst="rect">
            <a:avLst/>
          </a:prstGeom>
          <a:noFill/>
        </p:spPr>
        <p:txBody>
          <a:bodyPr wrap="square" rtlCol="0">
            <a:spAutoFit/>
          </a:bodyPr>
          <a:lstStyle/>
          <a:p>
            <a:pPr marL="342900" indent="-342900">
              <a:lnSpc>
                <a:spcPct val="150000"/>
              </a:lnSpc>
              <a:spcBef>
                <a:spcPts val="1200"/>
              </a:spcBef>
              <a:buFont typeface="Arial" panose="020B0604020202020204" pitchFamily="34" charset="0"/>
              <a:buChar char="•"/>
            </a:pPr>
            <a:r>
              <a:rPr lang="zh-CN" altLang="en-US" sz="1800" dirty="0" smtClean="0"/>
              <a:t>电源处理</a:t>
            </a:r>
            <a:endParaRPr lang="en-US" altLang="zh-CN" sz="1800" dirty="0" smtClean="0"/>
          </a:p>
          <a:p>
            <a:pPr lvl="1">
              <a:lnSpc>
                <a:spcPct val="150000"/>
              </a:lnSpc>
              <a:spcBef>
                <a:spcPts val="0"/>
              </a:spcBef>
            </a:pPr>
            <a:r>
              <a:rPr lang="zh-CN" altLang="en-US" sz="1800" dirty="0"/>
              <a:t>题目要求单电源</a:t>
            </a:r>
            <a:r>
              <a:rPr lang="en-US" altLang="zh-CN" sz="1800" dirty="0"/>
              <a:t>+12V</a:t>
            </a:r>
            <a:r>
              <a:rPr lang="zh-CN" altLang="en-US" sz="1800" dirty="0"/>
              <a:t>供电</a:t>
            </a:r>
            <a:endParaRPr lang="en-US" altLang="zh-CN" sz="1800" dirty="0"/>
          </a:p>
          <a:p>
            <a:pPr lvl="1">
              <a:lnSpc>
                <a:spcPct val="150000"/>
              </a:lnSpc>
              <a:spcBef>
                <a:spcPts val="0"/>
              </a:spcBef>
            </a:pPr>
            <a:r>
              <a:rPr lang="zh-CN" altLang="en-US" sz="1800" dirty="0" smtClean="0"/>
              <a:t>实际的电源需求</a:t>
            </a:r>
            <a:r>
              <a:rPr lang="zh-CN" altLang="en-US" sz="1800" dirty="0"/>
              <a:t>是</a:t>
            </a:r>
            <a:r>
              <a:rPr lang="zh-CN" altLang="en-US" sz="1800" dirty="0" smtClean="0"/>
              <a:t>：</a:t>
            </a:r>
            <a:endParaRPr lang="en-US" altLang="zh-CN" sz="1800" dirty="0" smtClean="0"/>
          </a:p>
          <a:p>
            <a:pPr lvl="2">
              <a:lnSpc>
                <a:spcPct val="150000"/>
              </a:lnSpc>
              <a:spcBef>
                <a:spcPts val="0"/>
              </a:spcBef>
            </a:pPr>
            <a:r>
              <a:rPr lang="en-US" altLang="zh-CN" sz="1800" dirty="0" smtClean="0"/>
              <a:t>HMC580</a:t>
            </a:r>
            <a:r>
              <a:rPr lang="zh-CN" altLang="en-US" sz="1800" dirty="0"/>
              <a:t>，电压</a:t>
            </a:r>
            <a:r>
              <a:rPr lang="en-US" altLang="zh-CN" sz="1800" dirty="0"/>
              <a:t>+5V</a:t>
            </a:r>
            <a:r>
              <a:rPr lang="zh-CN" altLang="en-US" sz="1800" dirty="0"/>
              <a:t>，电流</a:t>
            </a:r>
            <a:r>
              <a:rPr lang="en-US" altLang="zh-CN" sz="1800" dirty="0"/>
              <a:t>110mA(max</a:t>
            </a:r>
            <a:r>
              <a:rPr lang="en-US" altLang="zh-CN" sz="1800" dirty="0" smtClean="0"/>
              <a:t>)</a:t>
            </a:r>
            <a:r>
              <a:rPr lang="zh-CN" altLang="en-US" sz="1800" dirty="0" smtClean="0"/>
              <a:t>，</a:t>
            </a:r>
            <a:r>
              <a:rPr lang="en-US" altLang="zh-CN" sz="1800" dirty="0" smtClean="0"/>
              <a:t>330mA</a:t>
            </a:r>
            <a:r>
              <a:rPr lang="zh-CN" altLang="en-US" sz="1800" dirty="0" smtClean="0"/>
              <a:t>或</a:t>
            </a:r>
            <a:r>
              <a:rPr lang="en-US" altLang="zh-CN" sz="1800" dirty="0" smtClean="0"/>
              <a:t>440mA</a:t>
            </a:r>
            <a:r>
              <a:rPr lang="zh-CN" altLang="en-US" sz="1800" dirty="0" smtClean="0"/>
              <a:t>（</a:t>
            </a:r>
            <a:r>
              <a:rPr lang="en-US" altLang="zh-CN" sz="1800" dirty="0" smtClean="0"/>
              <a:t>3</a:t>
            </a:r>
            <a:r>
              <a:rPr lang="zh-CN" altLang="en-US" sz="1800" dirty="0" smtClean="0"/>
              <a:t>级放大或</a:t>
            </a:r>
            <a:r>
              <a:rPr lang="en-US" altLang="zh-CN" sz="1800" dirty="0" smtClean="0"/>
              <a:t>4</a:t>
            </a:r>
            <a:r>
              <a:rPr lang="zh-CN" altLang="en-US" sz="1800" dirty="0" smtClean="0"/>
              <a:t>级放大）</a:t>
            </a:r>
            <a:endParaRPr lang="en-US" altLang="zh-CN" sz="1800" dirty="0" smtClean="0"/>
          </a:p>
          <a:p>
            <a:pPr lvl="2">
              <a:lnSpc>
                <a:spcPct val="150000"/>
              </a:lnSpc>
              <a:spcBef>
                <a:spcPts val="0"/>
              </a:spcBef>
            </a:pPr>
            <a:r>
              <a:rPr lang="en-US" altLang="zh-CN" sz="1800" dirty="0" smtClean="0"/>
              <a:t>HMC307</a:t>
            </a:r>
            <a:r>
              <a:rPr lang="zh-CN" altLang="en-US" sz="1800" dirty="0"/>
              <a:t>，电压</a:t>
            </a:r>
            <a:r>
              <a:rPr lang="en-US" altLang="zh-CN" sz="1800" dirty="0"/>
              <a:t>+5V</a:t>
            </a:r>
            <a:r>
              <a:rPr lang="zh-CN" altLang="en-US" sz="1800" dirty="0"/>
              <a:t>，电流</a:t>
            </a:r>
            <a:r>
              <a:rPr lang="en-US" altLang="zh-CN" sz="1800" dirty="0"/>
              <a:t>6mA(max</a:t>
            </a:r>
            <a:r>
              <a:rPr lang="en-US" altLang="zh-CN" sz="1800" dirty="0" smtClean="0"/>
              <a:t>)</a:t>
            </a:r>
            <a:r>
              <a:rPr lang="zh-CN" altLang="en-US" sz="1800" dirty="0" smtClean="0"/>
              <a:t>，</a:t>
            </a:r>
            <a:r>
              <a:rPr lang="en-US" altLang="zh-CN" sz="1800" dirty="0" smtClean="0"/>
              <a:t>12mA</a:t>
            </a:r>
          </a:p>
          <a:p>
            <a:pPr lvl="2">
              <a:lnSpc>
                <a:spcPct val="150000"/>
              </a:lnSpc>
              <a:spcBef>
                <a:spcPts val="0"/>
              </a:spcBef>
            </a:pPr>
            <a:r>
              <a:rPr lang="zh-CN" altLang="en-US" sz="1800" dirty="0" smtClean="0"/>
              <a:t>单片机，</a:t>
            </a:r>
            <a:r>
              <a:rPr lang="zh-CN" altLang="en-US" sz="1800" dirty="0"/>
              <a:t>电压</a:t>
            </a:r>
            <a:r>
              <a:rPr lang="en-US" altLang="zh-CN" sz="1800" dirty="0"/>
              <a:t>+5V </a:t>
            </a:r>
            <a:r>
              <a:rPr lang="zh-CN" altLang="en-US" sz="1800" dirty="0"/>
              <a:t>或</a:t>
            </a:r>
            <a:r>
              <a:rPr lang="en-US" altLang="zh-CN" sz="1800" dirty="0"/>
              <a:t>+3.3V</a:t>
            </a:r>
            <a:r>
              <a:rPr lang="zh-CN" altLang="en-US" sz="1800" dirty="0"/>
              <a:t>，电流</a:t>
            </a:r>
            <a:r>
              <a:rPr lang="zh-CN" altLang="en-US" sz="1800" dirty="0" smtClean="0"/>
              <a:t>未知</a:t>
            </a:r>
            <a:endParaRPr lang="en-US" altLang="zh-CN" sz="1800" dirty="0" smtClean="0"/>
          </a:p>
          <a:p>
            <a:pPr lvl="1">
              <a:lnSpc>
                <a:spcPct val="150000"/>
              </a:lnSpc>
            </a:pPr>
            <a:r>
              <a:rPr lang="zh-CN" altLang="en-US" sz="1800" dirty="0" smtClean="0"/>
              <a:t>最简单的做法是用线性稳压电源芯片，例如</a:t>
            </a:r>
            <a:r>
              <a:rPr lang="en-US" altLang="zh-CN" sz="1800" dirty="0" smtClean="0"/>
              <a:t>7805</a:t>
            </a:r>
            <a:r>
              <a:rPr lang="zh-CN" altLang="en-US" sz="1800" dirty="0" smtClean="0"/>
              <a:t>，可以将</a:t>
            </a:r>
            <a:r>
              <a:rPr lang="en-US" altLang="zh-CN" sz="1800" dirty="0" smtClean="0"/>
              <a:t>+12V</a:t>
            </a:r>
            <a:r>
              <a:rPr lang="zh-CN" altLang="en-US" sz="1800" dirty="0" smtClean="0"/>
              <a:t>降到</a:t>
            </a:r>
            <a:r>
              <a:rPr lang="en-US" altLang="zh-CN" sz="1800" dirty="0" smtClean="0"/>
              <a:t>+5V</a:t>
            </a:r>
          </a:p>
          <a:p>
            <a:pPr lvl="1">
              <a:lnSpc>
                <a:spcPct val="150000"/>
              </a:lnSpc>
            </a:pPr>
            <a:r>
              <a:rPr lang="zh-CN" altLang="en-US" sz="1800" dirty="0" smtClean="0"/>
              <a:t>注意：总电流可能达</a:t>
            </a:r>
            <a:r>
              <a:rPr lang="en-US" altLang="zh-CN" sz="1800" dirty="0" smtClean="0"/>
              <a:t>500mA</a:t>
            </a:r>
            <a:r>
              <a:rPr lang="zh-CN" altLang="en-US" sz="1800" dirty="0" smtClean="0"/>
              <a:t>，所以降压芯片上的功耗可能达</a:t>
            </a:r>
            <a:r>
              <a:rPr lang="zh-CN" altLang="en-US" sz="1800" dirty="0"/>
              <a:t>到</a:t>
            </a:r>
            <a:r>
              <a:rPr lang="en-US" altLang="zh-CN" sz="1800" dirty="0" smtClean="0"/>
              <a:t>(12-5)*0.5=3.5W</a:t>
            </a:r>
            <a:r>
              <a:rPr lang="zh-CN" altLang="en-US" sz="1800" dirty="0" smtClean="0"/>
              <a:t>，需要加散热片。例如</a:t>
            </a:r>
            <a:r>
              <a:rPr lang="en-US" altLang="zh-CN" sz="1800" dirty="0" smtClean="0"/>
              <a:t>TO220</a:t>
            </a:r>
            <a:r>
              <a:rPr lang="zh-CN" altLang="en-US" sz="1800" dirty="0" smtClean="0"/>
              <a:t>封装的</a:t>
            </a:r>
            <a:r>
              <a:rPr lang="en-US" altLang="zh-CN" sz="1800" dirty="0" smtClean="0"/>
              <a:t>7805</a:t>
            </a:r>
            <a:r>
              <a:rPr lang="zh-CN" altLang="en-US" sz="1800" dirty="0" smtClean="0"/>
              <a:t>，输出电压</a:t>
            </a:r>
            <a:r>
              <a:rPr lang="en-US" altLang="zh-CN" sz="1800" dirty="0" smtClean="0"/>
              <a:t>+5V</a:t>
            </a:r>
            <a:r>
              <a:rPr lang="zh-CN" altLang="en-US" sz="1800" dirty="0" smtClean="0"/>
              <a:t>，最大输出电流</a:t>
            </a:r>
            <a:r>
              <a:rPr lang="en-US" altLang="zh-CN" sz="1800" dirty="0" smtClean="0"/>
              <a:t>1A</a:t>
            </a:r>
            <a:r>
              <a:rPr lang="zh-CN" altLang="en-US" sz="1800" dirty="0" smtClean="0"/>
              <a:t>，无散热片时的允许耗散功率约为</a:t>
            </a:r>
            <a:r>
              <a:rPr lang="en-US" altLang="zh-CN" sz="1800" dirty="0" smtClean="0"/>
              <a:t>2W</a:t>
            </a:r>
          </a:p>
          <a:p>
            <a:pPr lvl="1">
              <a:lnSpc>
                <a:spcPct val="150000"/>
              </a:lnSpc>
            </a:pPr>
            <a:r>
              <a:rPr lang="zh-CN" altLang="en-US" sz="1800" dirty="0" smtClean="0"/>
              <a:t>如果单片机的电源电压是</a:t>
            </a:r>
            <a:r>
              <a:rPr lang="en-US" altLang="zh-CN" sz="1800" dirty="0" smtClean="0"/>
              <a:t>+3.3V</a:t>
            </a:r>
            <a:r>
              <a:rPr lang="zh-CN" altLang="en-US" sz="1800" dirty="0" smtClean="0"/>
              <a:t>，可以用</a:t>
            </a:r>
            <a:r>
              <a:rPr lang="en-US" altLang="zh-CN" sz="1800" dirty="0" smtClean="0"/>
              <a:t>3.3V</a:t>
            </a:r>
            <a:r>
              <a:rPr lang="zh-CN" altLang="en-US" sz="1800" dirty="0" smtClean="0"/>
              <a:t>输出的线性稳压电源芯片从</a:t>
            </a:r>
            <a:r>
              <a:rPr lang="en-US" altLang="zh-CN" sz="1800" dirty="0" smtClean="0"/>
              <a:t>12V</a:t>
            </a:r>
            <a:r>
              <a:rPr lang="zh-CN" altLang="en-US" sz="1800" dirty="0" smtClean="0"/>
              <a:t>取得，也可以用低压差线性稳压芯片从</a:t>
            </a:r>
            <a:r>
              <a:rPr lang="en-US" altLang="zh-CN" sz="1800" dirty="0" smtClean="0"/>
              <a:t>+5V</a:t>
            </a:r>
            <a:r>
              <a:rPr lang="zh-CN" altLang="en-US" sz="1800" dirty="0" smtClean="0"/>
              <a:t>获得</a:t>
            </a:r>
            <a:endParaRPr lang="zh-CN" altLang="en-US" sz="1800" dirty="0"/>
          </a:p>
        </p:txBody>
      </p:sp>
    </p:spTree>
    <p:extLst>
      <p:ext uri="{BB962C8B-B14F-4D97-AF65-F5344CB8AC3E}">
        <p14:creationId xmlns:p14="http://schemas.microsoft.com/office/powerpoint/2010/main" val="401096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29</a:t>
            </a:fld>
            <a:endParaRPr lang="en-US" altLang="zh-CN"/>
          </a:p>
        </p:txBody>
      </p:sp>
      <p:sp>
        <p:nvSpPr>
          <p:cNvPr id="2" name="矩形 1"/>
          <p:cNvSpPr/>
          <p:nvPr/>
        </p:nvSpPr>
        <p:spPr>
          <a:xfrm>
            <a:off x="471714" y="425005"/>
            <a:ext cx="11197772" cy="3139321"/>
          </a:xfrm>
          <a:prstGeom prst="rect">
            <a:avLst/>
          </a:prstGeom>
        </p:spPr>
        <p:txBody>
          <a:bodyPr wrap="square">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题目二 </a:t>
            </a:r>
            <a:r>
              <a:rPr lang="en-US" altLang="zh-CN" sz="2800" dirty="0" smtClean="0">
                <a:solidFill>
                  <a:srgbClr val="FF0000"/>
                </a:solidFill>
                <a:latin typeface="+mj-lt"/>
                <a:ea typeface="隶书" panose="02010509060101010101" pitchFamily="49" charset="-122"/>
              </a:rPr>
              <a:t>2023</a:t>
            </a:r>
            <a:r>
              <a:rPr lang="zh-CN" altLang="zh-CN" sz="3200" dirty="0">
                <a:solidFill>
                  <a:srgbClr val="FF0000"/>
                </a:solidFill>
                <a:latin typeface="隶书" panose="02010509060101010101" pitchFamily="49" charset="-122"/>
                <a:ea typeface="隶书" panose="02010509060101010101" pitchFamily="49" charset="-122"/>
              </a:rPr>
              <a:t>年全国赛</a:t>
            </a:r>
            <a:r>
              <a:rPr lang="en-US" altLang="zh-CN" sz="2800" dirty="0">
                <a:solidFill>
                  <a:srgbClr val="FF0000"/>
                </a:solidFill>
                <a:latin typeface="+mj-lt"/>
                <a:ea typeface="隶书" panose="02010509060101010101" pitchFamily="49" charset="-122"/>
              </a:rPr>
              <a:t>B</a:t>
            </a:r>
            <a:r>
              <a:rPr lang="zh-CN" altLang="zh-CN" sz="3200" dirty="0">
                <a:solidFill>
                  <a:srgbClr val="FF0000"/>
                </a:solidFill>
                <a:latin typeface="隶书" panose="02010509060101010101" pitchFamily="49" charset="-122"/>
                <a:ea typeface="隶书" panose="02010509060101010101" pitchFamily="49" charset="-122"/>
              </a:rPr>
              <a:t>题</a:t>
            </a:r>
            <a:r>
              <a:rPr lang="en-US" altLang="zh-CN" sz="3200" dirty="0">
                <a:solidFill>
                  <a:srgbClr val="FF0000"/>
                </a:solidFill>
                <a:latin typeface="隶书" panose="02010509060101010101" pitchFamily="49" charset="-122"/>
                <a:ea typeface="隶书" panose="02010509060101010101" pitchFamily="49" charset="-122"/>
              </a:rPr>
              <a:t>《</a:t>
            </a:r>
            <a:r>
              <a:rPr lang="zh-CN" altLang="en-US" sz="3200" dirty="0">
                <a:solidFill>
                  <a:srgbClr val="FF0000"/>
                </a:solidFill>
                <a:latin typeface="隶书" panose="02010509060101010101" pitchFamily="49" charset="-122"/>
                <a:ea typeface="隶书" panose="02010509060101010101" pitchFamily="49" charset="-122"/>
              </a:rPr>
              <a:t>同轴电缆长度与终端负载检测装置</a:t>
            </a:r>
            <a:r>
              <a:rPr lang="en-US" altLang="zh-CN" sz="3200" dirty="0">
                <a:solidFill>
                  <a:srgbClr val="FF0000"/>
                </a:solidFill>
                <a:latin typeface="隶书" panose="02010509060101010101" pitchFamily="49" charset="-122"/>
                <a:ea typeface="隶书" panose="02010509060101010101" pitchFamily="49" charset="-122"/>
              </a:rPr>
              <a:t>》</a:t>
            </a: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lvl="1">
              <a:lnSpc>
                <a:spcPct val="150000"/>
              </a:lnSpc>
            </a:pPr>
            <a:r>
              <a:rPr lang="zh-CN" altLang="zh-CN" dirty="0"/>
              <a:t>设计并制作一个同轴电缆长度与终端负载检测装置（以下简称</a:t>
            </a:r>
            <a:r>
              <a:rPr lang="en-US" altLang="zh-CN" dirty="0"/>
              <a:t>“</a:t>
            </a:r>
            <a:r>
              <a:rPr lang="zh-CN" altLang="zh-CN" dirty="0"/>
              <a:t>装置</a:t>
            </a:r>
            <a:r>
              <a:rPr lang="en-US" altLang="zh-CN" dirty="0"/>
              <a:t>”</a:t>
            </a:r>
            <a:r>
              <a:rPr lang="zh-CN" altLang="zh-CN" dirty="0"/>
              <a:t>），如下图所示。待测电缆始端通过电缆连接头与装置连接，电缆终端可开路或接入电阻、电容负载。设置</a:t>
            </a:r>
            <a:r>
              <a:rPr lang="en-US" altLang="zh-CN" dirty="0"/>
              <a:t>“</a:t>
            </a:r>
            <a:r>
              <a:rPr lang="zh-CN" altLang="zh-CN" dirty="0"/>
              <a:t>长度检测</a:t>
            </a:r>
            <a:r>
              <a:rPr lang="en-US" altLang="zh-CN" dirty="0"/>
              <a:t>”</a:t>
            </a:r>
            <a:r>
              <a:rPr lang="zh-CN" altLang="zh-CN" dirty="0"/>
              <a:t>和</a:t>
            </a:r>
            <a:r>
              <a:rPr lang="en-US" altLang="zh-CN" dirty="0"/>
              <a:t>“</a:t>
            </a:r>
            <a:r>
              <a:rPr lang="zh-CN" altLang="zh-CN" dirty="0"/>
              <a:t>负载检测</a:t>
            </a:r>
            <a:r>
              <a:rPr lang="en-US" altLang="zh-CN" dirty="0"/>
              <a:t>”</a:t>
            </a:r>
            <a:r>
              <a:rPr lang="zh-CN" altLang="zh-CN" dirty="0"/>
              <a:t>两个按键，用以选择和启动相应功能。负载电阻值范围：</a:t>
            </a:r>
            <a:r>
              <a:rPr lang="en-US" altLang="zh-CN" dirty="0"/>
              <a:t>10Ω~30Ω</a:t>
            </a:r>
            <a:r>
              <a:rPr lang="zh-CN" altLang="zh-CN" dirty="0"/>
              <a:t>，电容值范围：</a:t>
            </a:r>
            <a:r>
              <a:rPr lang="en-US" altLang="zh-CN" dirty="0"/>
              <a:t>100pF~300pF</a:t>
            </a:r>
            <a:r>
              <a:rPr lang="zh-CN" altLang="zh-CN" dirty="0"/>
              <a:t>。装置由不大于</a:t>
            </a:r>
            <a:r>
              <a:rPr lang="en-US" altLang="zh-CN" dirty="0"/>
              <a:t>6V</a:t>
            </a:r>
            <a:r>
              <a:rPr lang="zh-CN" altLang="zh-CN" dirty="0"/>
              <a:t>的单电源供电</a:t>
            </a:r>
            <a:r>
              <a:rPr lang="zh-CN" altLang="zh-CN" dirty="0" smtClean="0"/>
              <a:t>。</a:t>
            </a:r>
            <a:endParaRPr lang="zh-CN" altLang="zh-CN" dirty="0"/>
          </a:p>
        </p:txBody>
      </p:sp>
      <p:pic>
        <p:nvPicPr>
          <p:cNvPr id="6" name="图片 5"/>
          <p:cNvPicPr/>
          <p:nvPr/>
        </p:nvPicPr>
        <p:blipFill>
          <a:blip r:embed="rId2"/>
          <a:stretch>
            <a:fillRect/>
          </a:stretch>
        </p:blipFill>
        <p:spPr>
          <a:xfrm>
            <a:off x="1742093" y="3738925"/>
            <a:ext cx="8846078" cy="1921646"/>
          </a:xfrm>
          <a:prstGeom prst="rect">
            <a:avLst/>
          </a:prstGeom>
        </p:spPr>
      </p:pic>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30</a:t>
            </a:fld>
            <a:endParaRPr lang="en-US" altLang="zh-CN"/>
          </a:p>
        </p:txBody>
      </p:sp>
      <p:sp>
        <p:nvSpPr>
          <p:cNvPr id="6" name="矩形 5"/>
          <p:cNvSpPr/>
          <p:nvPr/>
        </p:nvSpPr>
        <p:spPr>
          <a:xfrm>
            <a:off x="442686" y="454947"/>
            <a:ext cx="11270341" cy="1477328"/>
          </a:xfrm>
          <a:prstGeom prst="rect">
            <a:avLst/>
          </a:prstGeom>
        </p:spPr>
        <p:txBody>
          <a:bodyPr wrap="square">
            <a:spAutoFit/>
          </a:bodyPr>
          <a:lstStyle/>
          <a:p>
            <a:pPr algn="just">
              <a:lnSpc>
                <a:spcPct val="150000"/>
              </a:lnSpc>
              <a:spcAft>
                <a:spcPts val="0"/>
              </a:spcAft>
            </a:pPr>
            <a:r>
              <a:rPr lang="zh-CN" altLang="en-US" kern="100" dirty="0" smtClean="0">
                <a:latin typeface="Times New Roman" panose="02020603050405020304" pitchFamily="18" charset="0"/>
                <a:ea typeface="黑体" panose="02010609060101010101" pitchFamily="49" charset="-122"/>
              </a:rPr>
              <a:t>二</a:t>
            </a:r>
            <a:r>
              <a:rPr lang="zh-CN" altLang="zh-CN" kern="100" dirty="0" smtClean="0">
                <a:latin typeface="Times New Roman" panose="02020603050405020304" pitchFamily="18" charset="0"/>
                <a:ea typeface="黑体" panose="02010609060101010101" pitchFamily="49" charset="-122"/>
              </a:rPr>
              <a:t>、</a:t>
            </a:r>
            <a:r>
              <a:rPr lang="zh-CN" altLang="en-US" kern="100" dirty="0" smtClean="0">
                <a:latin typeface="Times New Roman" panose="02020603050405020304" pitchFamily="18" charset="0"/>
                <a:ea typeface="黑体" panose="02010609060101010101" pitchFamily="49" charset="-122"/>
              </a:rPr>
              <a:t>要求</a:t>
            </a:r>
            <a:endParaRPr lang="zh-CN" altLang="zh-CN" kern="100" dirty="0">
              <a:latin typeface="Times New Roman" panose="02020603050405020304" pitchFamily="18" charset="0"/>
              <a:ea typeface="宋体" panose="02010600030101010101" pitchFamily="2" charset="-122"/>
            </a:endParaRPr>
          </a:p>
          <a:p>
            <a:pPr>
              <a:lnSpc>
                <a:spcPct val="150000"/>
              </a:lnSpc>
            </a:pPr>
            <a:r>
              <a:rPr lang="en-US" altLang="zh-CN" dirty="0"/>
              <a:t>1. </a:t>
            </a:r>
            <a:r>
              <a:rPr lang="zh-CN" altLang="zh-CN" dirty="0"/>
              <a:t>基本要求</a:t>
            </a:r>
          </a:p>
          <a:p>
            <a:pPr>
              <a:lnSpc>
                <a:spcPct val="150000"/>
              </a:lnSpc>
            </a:pPr>
            <a:r>
              <a:rPr lang="zh-CN" altLang="zh-CN" dirty="0"/>
              <a:t>（</a:t>
            </a:r>
            <a:r>
              <a:rPr lang="en-US" altLang="zh-CN" dirty="0"/>
              <a:t>1</a:t>
            </a:r>
            <a:r>
              <a:rPr lang="zh-CN" altLang="zh-CN" dirty="0"/>
              <a:t>）装置能够显示工作状态、电缆长度、负载类型、负载参数，显示格式见下</a:t>
            </a:r>
            <a:r>
              <a:rPr lang="zh-CN" altLang="zh-CN" dirty="0" smtClean="0"/>
              <a:t>表</a:t>
            </a:r>
            <a:endParaRPr lang="zh-CN" altLang="zh-CN" sz="1800" dirty="0"/>
          </a:p>
        </p:txBody>
      </p:sp>
      <p:sp>
        <p:nvSpPr>
          <p:cNvPr id="8" name="矩形 7"/>
          <p:cNvSpPr/>
          <p:nvPr/>
        </p:nvSpPr>
        <p:spPr>
          <a:xfrm>
            <a:off x="442685" y="3865804"/>
            <a:ext cx="11270341" cy="1938992"/>
          </a:xfrm>
          <a:prstGeom prst="rect">
            <a:avLst/>
          </a:prstGeom>
        </p:spPr>
        <p:txBody>
          <a:bodyPr wrap="square">
            <a:spAutoFit/>
          </a:bodyPr>
          <a:lstStyle/>
          <a:p>
            <a:pPr>
              <a:lnSpc>
                <a:spcPct val="150000"/>
              </a:lnSpc>
            </a:pPr>
            <a:r>
              <a:rPr lang="zh-CN" altLang="zh-CN" dirty="0"/>
              <a:t>（</a:t>
            </a:r>
            <a:r>
              <a:rPr lang="en-US" altLang="zh-CN" dirty="0"/>
              <a:t>2</a:t>
            </a:r>
            <a:r>
              <a:rPr lang="zh-CN" altLang="zh-CN" dirty="0"/>
              <a:t>）电缆长度</a:t>
            </a:r>
            <a:r>
              <a:rPr lang="en-US" altLang="zh-CN" dirty="0"/>
              <a:t>1000cm</a:t>
            </a:r>
            <a:r>
              <a:rPr lang="zh-CN" altLang="zh-CN" dirty="0"/>
              <a:t>≤</a:t>
            </a:r>
            <a:r>
              <a:rPr lang="en-US" altLang="zh-CN" dirty="0"/>
              <a:t>L</a:t>
            </a:r>
            <a:r>
              <a:rPr lang="zh-CN" altLang="zh-CN" dirty="0"/>
              <a:t>≤</a:t>
            </a:r>
            <a:r>
              <a:rPr lang="en-US" altLang="zh-CN" dirty="0"/>
              <a:t>2000cm</a:t>
            </a:r>
            <a:r>
              <a:rPr lang="zh-CN" altLang="zh-CN" dirty="0"/>
              <a:t>、终端开路，按</a:t>
            </a:r>
            <a:r>
              <a:rPr lang="en-US" altLang="zh-CN" dirty="0"/>
              <a:t>“</a:t>
            </a:r>
            <a:r>
              <a:rPr lang="zh-CN" altLang="zh-CN" dirty="0"/>
              <a:t>长度检测</a:t>
            </a:r>
            <a:r>
              <a:rPr lang="en-US" altLang="zh-CN" dirty="0"/>
              <a:t>”</a:t>
            </a:r>
            <a:r>
              <a:rPr lang="zh-CN" altLang="zh-CN" dirty="0"/>
              <a:t>键启动检测，装置能够检测并显示电缆长度</a:t>
            </a:r>
            <a:r>
              <a:rPr lang="en-US" altLang="zh-CN" dirty="0"/>
              <a:t>L</a:t>
            </a:r>
            <a:r>
              <a:rPr lang="zh-CN" altLang="zh-CN" dirty="0"/>
              <a:t>，相对误差的绝对值不大于</a:t>
            </a:r>
            <a:r>
              <a:rPr lang="en-US" altLang="zh-CN" dirty="0"/>
              <a:t>5%</a:t>
            </a:r>
            <a:r>
              <a:rPr lang="zh-CN" altLang="zh-CN" dirty="0"/>
              <a:t>，一次检测时间不超过</a:t>
            </a:r>
            <a:r>
              <a:rPr lang="en-US" altLang="zh-CN" dirty="0"/>
              <a:t>5s</a:t>
            </a:r>
            <a:r>
              <a:rPr lang="zh-CN" altLang="zh-CN" dirty="0"/>
              <a:t>。</a:t>
            </a:r>
          </a:p>
          <a:p>
            <a:pPr>
              <a:lnSpc>
                <a:spcPct val="150000"/>
              </a:lnSpc>
            </a:pPr>
            <a:r>
              <a:rPr lang="zh-CN" altLang="zh-CN" dirty="0"/>
              <a:t>（</a:t>
            </a:r>
            <a:r>
              <a:rPr lang="en-US" altLang="zh-CN" dirty="0"/>
              <a:t>3</a:t>
            </a:r>
            <a:r>
              <a:rPr lang="zh-CN" altLang="zh-CN" dirty="0"/>
              <a:t>）终端开路条件下完成电缆长度检测后，保持</a:t>
            </a:r>
            <a:r>
              <a:rPr lang="en-US" altLang="zh-CN" dirty="0"/>
              <a:t>L</a:t>
            </a:r>
            <a:r>
              <a:rPr lang="zh-CN" altLang="zh-CN" dirty="0"/>
              <a:t>不变，在终端接入电阻、电容中的一种负载，按</a:t>
            </a:r>
            <a:r>
              <a:rPr lang="en-US" altLang="zh-CN" dirty="0"/>
              <a:t>“</a:t>
            </a:r>
            <a:r>
              <a:rPr lang="zh-CN" altLang="zh-CN" dirty="0"/>
              <a:t>负载检测</a:t>
            </a:r>
            <a:r>
              <a:rPr lang="en-US" altLang="zh-CN" dirty="0"/>
              <a:t>”</a:t>
            </a:r>
            <a:r>
              <a:rPr lang="zh-CN" altLang="zh-CN" dirty="0"/>
              <a:t>键启动检测，装置能够正确判断并显示负载类型，一次检测时间不超过</a:t>
            </a:r>
            <a:r>
              <a:rPr lang="en-US" altLang="zh-CN" dirty="0"/>
              <a:t>5s</a:t>
            </a:r>
            <a:r>
              <a:rPr lang="zh-CN" altLang="zh-CN" dirty="0" smtClean="0"/>
              <a:t>。</a:t>
            </a:r>
            <a:endParaRPr lang="zh-CN" altLang="zh-CN" dirty="0"/>
          </a:p>
        </p:txBody>
      </p:sp>
      <p:graphicFrame>
        <p:nvGraphicFramePr>
          <p:cNvPr id="7" name="表格 6"/>
          <p:cNvGraphicFramePr>
            <a:graphicFrameLocks noGrp="1"/>
          </p:cNvGraphicFramePr>
          <p:nvPr>
            <p:extLst>
              <p:ext uri="{D42A27DB-BD31-4B8C-83A1-F6EECF244321}">
                <p14:modId xmlns:p14="http://schemas.microsoft.com/office/powerpoint/2010/main" val="154970397"/>
              </p:ext>
            </p:extLst>
          </p:nvPr>
        </p:nvGraphicFramePr>
        <p:xfrm>
          <a:off x="1939402" y="1932275"/>
          <a:ext cx="6863511" cy="1776124"/>
        </p:xfrm>
        <a:graphic>
          <a:graphicData uri="http://schemas.openxmlformats.org/drawingml/2006/table">
            <a:tbl>
              <a:tblPr>
                <a:tableStyleId>{5C22544A-7EE6-4342-B048-85BDC9FD1C3A}</a:tableStyleId>
              </a:tblPr>
              <a:tblGrid>
                <a:gridCol w="1649944">
                  <a:extLst>
                    <a:ext uri="{9D8B030D-6E8A-4147-A177-3AD203B41FA5}">
                      <a16:colId xmlns:a16="http://schemas.microsoft.com/office/drawing/2014/main" val="3648089920"/>
                    </a:ext>
                  </a:extLst>
                </a:gridCol>
                <a:gridCol w="5213567">
                  <a:extLst>
                    <a:ext uri="{9D8B030D-6E8A-4147-A177-3AD203B41FA5}">
                      <a16:colId xmlns:a16="http://schemas.microsoft.com/office/drawing/2014/main" val="3950152611"/>
                    </a:ext>
                  </a:extLst>
                </a:gridCol>
              </a:tblGrid>
              <a:tr h="444031">
                <a:tc>
                  <a:txBody>
                    <a:bodyPr/>
                    <a:lstStyle/>
                    <a:p>
                      <a:pPr algn="l">
                        <a:lnSpc>
                          <a:spcPct val="115000"/>
                        </a:lnSpc>
                        <a:spcAft>
                          <a:spcPts val="0"/>
                        </a:spcAft>
                      </a:pPr>
                      <a:r>
                        <a:rPr lang="zh-CN" sz="2000" kern="0">
                          <a:effectLst/>
                        </a:rPr>
                        <a:t>工作状态</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15000"/>
                        </a:lnSpc>
                        <a:spcAft>
                          <a:spcPts val="0"/>
                        </a:spcAft>
                      </a:pPr>
                      <a:r>
                        <a:rPr lang="zh-CN" sz="2000" kern="0">
                          <a:effectLst/>
                        </a:rPr>
                        <a:t>显示</a:t>
                      </a:r>
                      <a:r>
                        <a:rPr lang="en-US" sz="2000" kern="0">
                          <a:effectLst/>
                        </a:rPr>
                        <a:t>“</a:t>
                      </a:r>
                      <a:r>
                        <a:rPr lang="zh-CN" sz="2000" kern="0">
                          <a:effectLst/>
                        </a:rPr>
                        <a:t>正在检测</a:t>
                      </a:r>
                      <a:r>
                        <a:rPr lang="en-US" sz="2000" kern="0">
                          <a:effectLst/>
                        </a:rPr>
                        <a:t>”</a:t>
                      </a:r>
                      <a:r>
                        <a:rPr lang="zh-CN" sz="2000" kern="0">
                          <a:effectLst/>
                        </a:rPr>
                        <a:t>或</a:t>
                      </a:r>
                      <a:r>
                        <a:rPr lang="en-US" sz="2000" kern="0">
                          <a:effectLst/>
                        </a:rPr>
                        <a:t>“</a:t>
                      </a:r>
                      <a:r>
                        <a:rPr lang="zh-CN" sz="2000" kern="0">
                          <a:effectLst/>
                        </a:rPr>
                        <a:t>结果保持</a:t>
                      </a:r>
                      <a:r>
                        <a:rPr lang="en-US" sz="2000" kern="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03568473"/>
                  </a:ext>
                </a:extLst>
              </a:tr>
              <a:tr h="444031">
                <a:tc>
                  <a:txBody>
                    <a:bodyPr/>
                    <a:lstStyle/>
                    <a:p>
                      <a:pPr algn="l">
                        <a:lnSpc>
                          <a:spcPct val="115000"/>
                        </a:lnSpc>
                        <a:spcAft>
                          <a:spcPts val="0"/>
                        </a:spcAft>
                      </a:pPr>
                      <a:r>
                        <a:rPr lang="zh-CN" sz="2000" kern="0">
                          <a:effectLst/>
                        </a:rPr>
                        <a:t>电缆长度</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15000"/>
                        </a:lnSpc>
                        <a:spcAft>
                          <a:spcPts val="0"/>
                        </a:spcAft>
                      </a:pPr>
                      <a:r>
                        <a:rPr lang="zh-CN" sz="2000" kern="0">
                          <a:effectLst/>
                        </a:rPr>
                        <a:t>显示</a:t>
                      </a:r>
                      <a:r>
                        <a:rPr lang="en-US" sz="2000" kern="0">
                          <a:effectLst/>
                        </a:rPr>
                        <a:t>“XXXX cm”</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05141544"/>
                  </a:ext>
                </a:extLst>
              </a:tr>
              <a:tr h="444031">
                <a:tc>
                  <a:txBody>
                    <a:bodyPr/>
                    <a:lstStyle/>
                    <a:p>
                      <a:pPr algn="l">
                        <a:lnSpc>
                          <a:spcPct val="115000"/>
                        </a:lnSpc>
                        <a:spcAft>
                          <a:spcPts val="0"/>
                        </a:spcAft>
                      </a:pPr>
                      <a:r>
                        <a:rPr lang="zh-CN" sz="2000" kern="0" dirty="0">
                          <a:effectLst/>
                        </a:rPr>
                        <a:t>负载类型</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15000"/>
                        </a:lnSpc>
                        <a:spcAft>
                          <a:spcPts val="0"/>
                        </a:spcAft>
                      </a:pPr>
                      <a:r>
                        <a:rPr lang="zh-CN" sz="2000" kern="0">
                          <a:effectLst/>
                        </a:rPr>
                        <a:t>显示</a:t>
                      </a:r>
                      <a:r>
                        <a:rPr lang="en-US" sz="2000" kern="0">
                          <a:effectLst/>
                        </a:rPr>
                        <a:t>“</a:t>
                      </a:r>
                      <a:r>
                        <a:rPr lang="zh-CN" sz="2000" kern="0">
                          <a:effectLst/>
                        </a:rPr>
                        <a:t>开路</a:t>
                      </a:r>
                      <a:r>
                        <a:rPr lang="en-US" sz="2000" kern="0">
                          <a:effectLst/>
                        </a:rPr>
                        <a:t>”</a:t>
                      </a:r>
                      <a:r>
                        <a:rPr lang="zh-CN" sz="2000" kern="0">
                          <a:effectLst/>
                        </a:rPr>
                        <a:t>、</a:t>
                      </a:r>
                      <a:r>
                        <a:rPr lang="en-US" sz="2000" kern="0">
                          <a:effectLst/>
                        </a:rPr>
                        <a:t>“</a:t>
                      </a:r>
                      <a:r>
                        <a:rPr lang="zh-CN" sz="2000" kern="0">
                          <a:effectLst/>
                        </a:rPr>
                        <a:t>电阻</a:t>
                      </a:r>
                      <a:r>
                        <a:rPr lang="en-US" sz="2000" kern="0">
                          <a:effectLst/>
                        </a:rPr>
                        <a:t>”</a:t>
                      </a:r>
                      <a:r>
                        <a:rPr lang="zh-CN" sz="2000" kern="0">
                          <a:effectLst/>
                        </a:rPr>
                        <a:t>、</a:t>
                      </a:r>
                      <a:r>
                        <a:rPr lang="en-US" sz="2000" kern="0">
                          <a:effectLst/>
                        </a:rPr>
                        <a:t>“</a:t>
                      </a:r>
                      <a:r>
                        <a:rPr lang="zh-CN" sz="2000" kern="0">
                          <a:effectLst/>
                        </a:rPr>
                        <a:t>电容</a:t>
                      </a:r>
                      <a:r>
                        <a:rPr lang="en-US" sz="2000" kern="0">
                          <a:effectLst/>
                        </a:rPr>
                        <a:t>”</a:t>
                      </a:r>
                      <a:r>
                        <a:rPr lang="zh-CN" sz="2000" kern="0">
                          <a:effectLst/>
                        </a:rPr>
                        <a:t>中的一种</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61238343"/>
                  </a:ext>
                </a:extLst>
              </a:tr>
              <a:tr h="444031">
                <a:tc>
                  <a:txBody>
                    <a:bodyPr/>
                    <a:lstStyle/>
                    <a:p>
                      <a:pPr algn="l">
                        <a:lnSpc>
                          <a:spcPct val="115000"/>
                        </a:lnSpc>
                        <a:spcAft>
                          <a:spcPts val="0"/>
                        </a:spcAft>
                      </a:pPr>
                      <a:r>
                        <a:rPr lang="zh-CN" sz="2000" kern="0">
                          <a:effectLst/>
                        </a:rPr>
                        <a:t>负载参数</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15000"/>
                        </a:lnSpc>
                        <a:spcAft>
                          <a:spcPts val="0"/>
                        </a:spcAft>
                      </a:pPr>
                      <a:r>
                        <a:rPr lang="zh-CN" sz="2000" kern="0" dirty="0">
                          <a:effectLst/>
                        </a:rPr>
                        <a:t>显示电阻或电容的数值及单位</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09693525"/>
                  </a:ext>
                </a:extLst>
              </a:tr>
            </a:tbl>
          </a:graphicData>
        </a:graphic>
      </p:graphicFrame>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31</a:t>
            </a:fld>
            <a:endParaRPr lang="en-US" altLang="zh-CN"/>
          </a:p>
        </p:txBody>
      </p:sp>
      <p:sp>
        <p:nvSpPr>
          <p:cNvPr id="8" name="矩形 7"/>
          <p:cNvSpPr/>
          <p:nvPr/>
        </p:nvSpPr>
        <p:spPr>
          <a:xfrm>
            <a:off x="471713" y="563804"/>
            <a:ext cx="11270341" cy="4191019"/>
          </a:xfrm>
          <a:prstGeom prst="rect">
            <a:avLst/>
          </a:prstGeom>
        </p:spPr>
        <p:txBody>
          <a:bodyPr wrap="square">
            <a:spAutoFit/>
          </a:bodyPr>
          <a:lstStyle/>
          <a:p>
            <a:pPr>
              <a:lnSpc>
                <a:spcPct val="150000"/>
              </a:lnSpc>
            </a:pPr>
            <a:r>
              <a:rPr lang="en-US" altLang="zh-CN" dirty="0"/>
              <a:t>2. </a:t>
            </a:r>
            <a:r>
              <a:rPr lang="zh-CN" altLang="zh-CN" dirty="0"/>
              <a:t>发挥部分</a:t>
            </a:r>
          </a:p>
          <a:p>
            <a:pPr>
              <a:lnSpc>
                <a:spcPct val="150000"/>
              </a:lnSpc>
            </a:pPr>
            <a:r>
              <a:rPr lang="zh-CN" altLang="zh-CN" dirty="0"/>
              <a:t>（</a:t>
            </a:r>
            <a:r>
              <a:rPr lang="en-US" altLang="zh-CN" dirty="0"/>
              <a:t>1</a:t>
            </a:r>
            <a:r>
              <a:rPr lang="zh-CN" altLang="zh-CN" dirty="0"/>
              <a:t>）提高电缆长度检测精度：电缆长度</a:t>
            </a:r>
            <a:r>
              <a:rPr lang="en-US" altLang="zh-CN" dirty="0"/>
              <a:t>1000cm</a:t>
            </a:r>
            <a:r>
              <a:rPr lang="zh-CN" altLang="zh-CN" dirty="0"/>
              <a:t>≤</a:t>
            </a:r>
            <a:r>
              <a:rPr lang="en-US" altLang="zh-CN" dirty="0"/>
              <a:t>L</a:t>
            </a:r>
            <a:r>
              <a:rPr lang="zh-CN" altLang="zh-CN" dirty="0"/>
              <a:t>≤</a:t>
            </a:r>
            <a:r>
              <a:rPr lang="en-US" altLang="zh-CN" dirty="0"/>
              <a:t>2000cm</a:t>
            </a:r>
            <a:r>
              <a:rPr lang="zh-CN" altLang="zh-CN" dirty="0"/>
              <a:t>、终端开路，电缆长度检测相对误差的绝对值不大于</a:t>
            </a:r>
            <a:r>
              <a:rPr lang="en-US" altLang="zh-CN" dirty="0"/>
              <a:t>1%</a:t>
            </a:r>
            <a:r>
              <a:rPr lang="zh-CN" altLang="zh-CN" dirty="0"/>
              <a:t>，一次检测时间不超过</a:t>
            </a:r>
            <a:r>
              <a:rPr lang="en-US" altLang="zh-CN" dirty="0"/>
              <a:t>5s</a:t>
            </a:r>
            <a:r>
              <a:rPr lang="zh-CN" altLang="zh-CN" dirty="0"/>
              <a:t>。 </a:t>
            </a:r>
          </a:p>
          <a:p>
            <a:pPr>
              <a:lnSpc>
                <a:spcPct val="150000"/>
              </a:lnSpc>
            </a:pPr>
            <a:r>
              <a:rPr lang="zh-CN" altLang="zh-CN" dirty="0"/>
              <a:t>（</a:t>
            </a:r>
            <a:r>
              <a:rPr lang="en-US" altLang="zh-CN" dirty="0"/>
              <a:t>2</a:t>
            </a:r>
            <a:r>
              <a:rPr lang="zh-CN" altLang="zh-CN" dirty="0"/>
              <a:t>）终端开路条件下完成长度检测后，保持</a:t>
            </a:r>
            <a:r>
              <a:rPr lang="en-US" altLang="zh-CN" dirty="0"/>
              <a:t>L</a:t>
            </a:r>
            <a:r>
              <a:rPr lang="zh-CN" altLang="zh-CN" dirty="0"/>
              <a:t>不变，在终端接入电阻、电容中的一种负载，按</a:t>
            </a:r>
            <a:r>
              <a:rPr lang="en-US" altLang="zh-CN" dirty="0"/>
              <a:t>“</a:t>
            </a:r>
            <a:r>
              <a:rPr lang="zh-CN" altLang="zh-CN" dirty="0"/>
              <a:t>负载检测</a:t>
            </a:r>
            <a:r>
              <a:rPr lang="en-US" altLang="zh-CN" dirty="0"/>
              <a:t>”</a:t>
            </a:r>
            <a:r>
              <a:rPr lang="zh-CN" altLang="zh-CN" dirty="0"/>
              <a:t>键启动检测，装置在正确判断负载类型的基础上检测并显示负载的电阻、电容值，相对误差的绝对值不大于</a:t>
            </a:r>
            <a:r>
              <a:rPr lang="en-US" altLang="zh-CN" dirty="0"/>
              <a:t>10%</a:t>
            </a:r>
            <a:r>
              <a:rPr lang="zh-CN" altLang="zh-CN" dirty="0"/>
              <a:t>，一次检测时间不超过</a:t>
            </a:r>
            <a:r>
              <a:rPr lang="en-US" altLang="zh-CN" dirty="0"/>
              <a:t>5s</a:t>
            </a:r>
            <a:r>
              <a:rPr lang="zh-CN" altLang="zh-CN" dirty="0"/>
              <a:t>。</a:t>
            </a:r>
          </a:p>
          <a:p>
            <a:pPr>
              <a:lnSpc>
                <a:spcPct val="150000"/>
              </a:lnSpc>
            </a:pPr>
            <a:r>
              <a:rPr lang="zh-CN" altLang="zh-CN" dirty="0"/>
              <a:t>（</a:t>
            </a:r>
            <a:r>
              <a:rPr lang="en-US" altLang="zh-CN" dirty="0"/>
              <a:t>3</a:t>
            </a:r>
            <a:r>
              <a:rPr lang="zh-CN" altLang="zh-CN" dirty="0"/>
              <a:t>）减小电缆长度检测盲区：终端开路时，在满足电缆长度检测相对误差的绝对值不大于</a:t>
            </a:r>
            <a:r>
              <a:rPr lang="en-US" altLang="zh-CN" dirty="0"/>
              <a:t>1%</a:t>
            </a:r>
            <a:r>
              <a:rPr lang="zh-CN" altLang="zh-CN" dirty="0"/>
              <a:t>、一次检测时间不超过</a:t>
            </a:r>
            <a:r>
              <a:rPr lang="en-US" altLang="zh-CN" dirty="0"/>
              <a:t>5s</a:t>
            </a:r>
            <a:r>
              <a:rPr lang="zh-CN" altLang="zh-CN" dirty="0"/>
              <a:t>的条件下，减小能够检测的电缆长度至</a:t>
            </a:r>
            <a:r>
              <a:rPr lang="en-US" altLang="zh-CN" dirty="0"/>
              <a:t>L</a:t>
            </a:r>
            <a:r>
              <a:rPr lang="zh-CN" altLang="zh-CN" dirty="0"/>
              <a:t>≤</a:t>
            </a:r>
            <a:r>
              <a:rPr lang="en-US" altLang="zh-CN" dirty="0"/>
              <a:t>100cm</a:t>
            </a:r>
            <a:r>
              <a:rPr lang="zh-CN" altLang="zh-CN" dirty="0"/>
              <a:t>。</a:t>
            </a:r>
          </a:p>
          <a:p>
            <a:pPr>
              <a:lnSpc>
                <a:spcPct val="150000"/>
              </a:lnSpc>
            </a:pPr>
            <a:r>
              <a:rPr lang="zh-CN" altLang="zh-CN" dirty="0"/>
              <a:t>（</a:t>
            </a:r>
            <a:r>
              <a:rPr lang="en-US" altLang="zh-CN" dirty="0"/>
              <a:t>4</a:t>
            </a:r>
            <a:r>
              <a:rPr lang="zh-CN" altLang="zh-CN" dirty="0"/>
              <a:t>）其他</a:t>
            </a:r>
            <a:r>
              <a:rPr lang="zh-CN" altLang="zh-CN" dirty="0" smtClean="0"/>
              <a:t>。</a:t>
            </a:r>
            <a:endParaRPr lang="zh-CN" altLang="zh-CN" dirty="0"/>
          </a:p>
        </p:txBody>
      </p:sp>
    </p:spTree>
    <p:extLst>
      <p:ext uri="{BB962C8B-B14F-4D97-AF65-F5344CB8AC3E}">
        <p14:creationId xmlns:p14="http://schemas.microsoft.com/office/powerpoint/2010/main" val="6033631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32</a:t>
            </a:fld>
            <a:endParaRPr lang="en-US" altLang="zh-CN"/>
          </a:p>
        </p:txBody>
      </p:sp>
      <p:sp>
        <p:nvSpPr>
          <p:cNvPr id="6" name="矩形 5"/>
          <p:cNvSpPr/>
          <p:nvPr/>
        </p:nvSpPr>
        <p:spPr>
          <a:xfrm>
            <a:off x="406101" y="497311"/>
            <a:ext cx="11270341" cy="5702908"/>
          </a:xfrm>
          <a:prstGeom prst="rect">
            <a:avLst/>
          </a:prstGeom>
        </p:spPr>
        <p:txBody>
          <a:bodyPr wrap="square">
            <a:spAutoFit/>
          </a:bodyPr>
          <a:lstStyle/>
          <a:p>
            <a:pPr algn="just">
              <a:lnSpc>
                <a:spcPct val="135000"/>
              </a:lnSpc>
              <a:spcAft>
                <a:spcPts val="0"/>
              </a:spcAft>
            </a:pPr>
            <a:r>
              <a:rPr lang="zh-CN" altLang="en-US" kern="100" dirty="0" smtClean="0">
                <a:latin typeface="Times New Roman" panose="02020603050405020304" pitchFamily="18" charset="0"/>
                <a:ea typeface="黑体" panose="02010609060101010101" pitchFamily="49" charset="-122"/>
              </a:rPr>
              <a:t>三</a:t>
            </a:r>
            <a:r>
              <a:rPr lang="zh-CN" altLang="zh-CN" kern="100" dirty="0" smtClean="0">
                <a:latin typeface="Times New Roman" panose="02020603050405020304" pitchFamily="18" charset="0"/>
                <a:ea typeface="黑体" panose="02010609060101010101" pitchFamily="49" charset="-122"/>
              </a:rPr>
              <a:t>、</a:t>
            </a:r>
            <a:r>
              <a:rPr lang="zh-CN" altLang="en-US" kern="100" dirty="0" smtClean="0">
                <a:latin typeface="Times New Roman" panose="02020603050405020304" pitchFamily="18" charset="0"/>
                <a:ea typeface="黑体" panose="02010609060101010101" pitchFamily="49" charset="-122"/>
              </a:rPr>
              <a:t>说明</a:t>
            </a:r>
            <a:endParaRPr lang="zh-CN" altLang="zh-CN" kern="100" dirty="0">
              <a:latin typeface="Times New Roman" panose="02020603050405020304" pitchFamily="18" charset="0"/>
              <a:ea typeface="宋体" panose="02010600030101010101" pitchFamily="2" charset="-122"/>
            </a:endParaRPr>
          </a:p>
          <a:p>
            <a:pPr>
              <a:lnSpc>
                <a:spcPct val="135000"/>
              </a:lnSpc>
            </a:pPr>
            <a:r>
              <a:rPr lang="zh-CN" altLang="zh-CN" sz="1800" dirty="0" smtClean="0"/>
              <a:t>（</a:t>
            </a:r>
            <a:r>
              <a:rPr lang="en-US" altLang="zh-CN" sz="1800" dirty="0"/>
              <a:t>1</a:t>
            </a:r>
            <a:r>
              <a:rPr lang="zh-CN" altLang="zh-CN" sz="1800" dirty="0"/>
              <a:t>） 装置应包括信号源和测量处理电路两部分。根据测量方法采用合适的激励信号，在电缆始端测量入射、反射等信号并进行处理，计算所需检测的参数。 </a:t>
            </a:r>
          </a:p>
          <a:p>
            <a:pPr>
              <a:lnSpc>
                <a:spcPct val="135000"/>
              </a:lnSpc>
            </a:pPr>
            <a:r>
              <a:rPr lang="zh-CN" altLang="zh-CN" sz="1800" dirty="0"/>
              <a:t>（</a:t>
            </a:r>
            <a:r>
              <a:rPr lang="en-US" altLang="zh-CN" sz="1800" dirty="0"/>
              <a:t>2</a:t>
            </a:r>
            <a:r>
              <a:rPr lang="zh-CN" altLang="zh-CN" sz="1800" dirty="0"/>
              <a:t>） 被测同轴电缆由参赛队自备并在参加测试时带入现场，事先需自行测量电缆总长度，至少一根电缆长度不小于</a:t>
            </a:r>
            <a:r>
              <a:rPr lang="en-US" altLang="zh-CN" sz="1800" dirty="0"/>
              <a:t>2000cm</a:t>
            </a:r>
            <a:r>
              <a:rPr lang="zh-CN" altLang="zh-CN" sz="1800" dirty="0"/>
              <a:t>。电缆始端所接插头类型自定，终端可在芯线和屏蔽层间方便地接入负载。电缆应允许盘绕，测试过程中除按指定长度截短电缆和接入指定负载外，不允许再改变电缆的其他状态。 </a:t>
            </a:r>
          </a:p>
          <a:p>
            <a:pPr>
              <a:lnSpc>
                <a:spcPct val="135000"/>
              </a:lnSpc>
            </a:pPr>
            <a:r>
              <a:rPr lang="zh-CN" altLang="zh-CN" sz="1800" dirty="0"/>
              <a:t>（</a:t>
            </a:r>
            <a:r>
              <a:rPr lang="en-US" altLang="zh-CN" sz="1800" dirty="0"/>
              <a:t>3</a:t>
            </a:r>
            <a:r>
              <a:rPr lang="zh-CN" altLang="zh-CN" sz="1800" dirty="0"/>
              <a:t>） 作品测评过程中，除按</a:t>
            </a:r>
            <a:r>
              <a:rPr lang="en-US" altLang="zh-CN" sz="1800" dirty="0"/>
              <a:t>“</a:t>
            </a:r>
            <a:r>
              <a:rPr lang="zh-CN" altLang="zh-CN" sz="1800" dirty="0"/>
              <a:t>长度检测</a:t>
            </a:r>
            <a:r>
              <a:rPr lang="en-US" altLang="zh-CN" sz="1800" dirty="0"/>
              <a:t>”</a:t>
            </a:r>
            <a:r>
              <a:rPr lang="zh-CN" altLang="zh-CN" sz="1800" dirty="0"/>
              <a:t>、</a:t>
            </a:r>
            <a:r>
              <a:rPr lang="en-US" altLang="zh-CN" sz="1800" dirty="0"/>
              <a:t>“</a:t>
            </a:r>
            <a:r>
              <a:rPr lang="zh-CN" altLang="zh-CN" sz="1800" dirty="0"/>
              <a:t>负载检测</a:t>
            </a:r>
            <a:r>
              <a:rPr lang="en-US" altLang="zh-CN" sz="1800" dirty="0"/>
              <a:t>”</a:t>
            </a:r>
            <a:r>
              <a:rPr lang="zh-CN" altLang="zh-CN" sz="1800" dirty="0"/>
              <a:t>一键启动相应功能外，不允许对装置进行其他任何调整和操作</a:t>
            </a:r>
            <a:r>
              <a:rPr lang="zh-CN" altLang="zh-CN" sz="1800" dirty="0" smtClean="0"/>
              <a:t>。</a:t>
            </a:r>
            <a:endParaRPr lang="en-US" altLang="zh-CN" sz="1800" dirty="0" smtClean="0"/>
          </a:p>
          <a:p>
            <a:pPr>
              <a:lnSpc>
                <a:spcPct val="135000"/>
              </a:lnSpc>
            </a:pPr>
            <a:endParaRPr lang="en-US" altLang="zh-CN" sz="1800" dirty="0" smtClean="0"/>
          </a:p>
          <a:p>
            <a:pPr>
              <a:lnSpc>
                <a:spcPct val="135000"/>
              </a:lnSpc>
            </a:pPr>
            <a:r>
              <a:rPr lang="zh-CN" altLang="zh-CN" sz="1800" dirty="0" smtClean="0"/>
              <a:t>（</a:t>
            </a:r>
            <a:r>
              <a:rPr lang="en-US" altLang="zh-CN" sz="1800" dirty="0"/>
              <a:t>4</a:t>
            </a:r>
            <a:r>
              <a:rPr lang="zh-CN" altLang="zh-CN" sz="1800" dirty="0"/>
              <a:t>） 题目中检测相对误差的</a:t>
            </a:r>
            <a:r>
              <a:rPr lang="zh-CN" altLang="zh-CN" sz="1800" dirty="0" smtClean="0"/>
              <a:t>绝对值</a:t>
            </a:r>
            <a:r>
              <a:rPr lang="en-US" altLang="zh-CN" sz="1800" dirty="0" smtClean="0"/>
              <a:t>                                             </a:t>
            </a:r>
            <a:r>
              <a:rPr lang="zh-CN" altLang="en-US" sz="1800" dirty="0" smtClean="0"/>
              <a:t>，</a:t>
            </a:r>
            <a:r>
              <a:rPr lang="zh-CN" altLang="zh-CN" sz="1800" dirty="0" smtClean="0"/>
              <a:t>电阻</a:t>
            </a:r>
            <a:r>
              <a:rPr lang="zh-CN" altLang="zh-CN" sz="1800" dirty="0"/>
              <a:t>、电容的实际值使用</a:t>
            </a:r>
            <a:r>
              <a:rPr lang="en-US" altLang="zh-CN" sz="1800" dirty="0"/>
              <a:t>LCR</a:t>
            </a:r>
            <a:r>
              <a:rPr lang="zh-CN" altLang="zh-CN" sz="1800" dirty="0"/>
              <a:t>测试仪测定</a:t>
            </a:r>
            <a:r>
              <a:rPr lang="zh-CN" altLang="zh-CN" sz="1800" dirty="0" smtClean="0"/>
              <a:t>。</a:t>
            </a:r>
            <a:endParaRPr lang="en-US" altLang="zh-CN" sz="1800" dirty="0" smtClean="0"/>
          </a:p>
          <a:p>
            <a:pPr>
              <a:lnSpc>
                <a:spcPct val="135000"/>
              </a:lnSpc>
            </a:pPr>
            <a:endParaRPr lang="en-US" altLang="zh-CN" sz="1800" dirty="0" smtClean="0"/>
          </a:p>
          <a:p>
            <a:pPr>
              <a:lnSpc>
                <a:spcPct val="135000"/>
              </a:lnSpc>
            </a:pPr>
            <a:r>
              <a:rPr lang="zh-CN" altLang="zh-CN" sz="1800" dirty="0" smtClean="0"/>
              <a:t>（</a:t>
            </a:r>
            <a:r>
              <a:rPr lang="en-US" altLang="zh-CN" sz="1800" dirty="0" smtClean="0"/>
              <a:t>5</a:t>
            </a:r>
            <a:r>
              <a:rPr lang="zh-CN" altLang="zh-CN" sz="1800" dirty="0"/>
              <a:t>） 发挥部分（</a:t>
            </a:r>
            <a:r>
              <a:rPr lang="en-US" altLang="zh-CN" sz="1800" dirty="0"/>
              <a:t>3</a:t>
            </a:r>
            <a:r>
              <a:rPr lang="zh-CN" altLang="zh-CN" sz="1800" dirty="0"/>
              <a:t>）能检测的最小长度</a:t>
            </a:r>
            <a:r>
              <a:rPr lang="en-US" altLang="zh-CN" sz="1800" dirty="0"/>
              <a:t>L</a:t>
            </a:r>
            <a:r>
              <a:rPr lang="zh-CN" altLang="zh-CN" sz="1800" dirty="0"/>
              <a:t>≤</a:t>
            </a:r>
            <a:r>
              <a:rPr lang="en-US" altLang="zh-CN" sz="1800" dirty="0"/>
              <a:t>100cm</a:t>
            </a:r>
            <a:r>
              <a:rPr lang="zh-CN" altLang="zh-CN" sz="1800" dirty="0"/>
              <a:t>得满分，</a:t>
            </a:r>
            <a:r>
              <a:rPr lang="en-US" altLang="zh-CN" sz="1800" dirty="0"/>
              <a:t>L</a:t>
            </a:r>
            <a:r>
              <a:rPr lang="zh-CN" altLang="zh-CN" sz="1800" dirty="0"/>
              <a:t>≥</a:t>
            </a:r>
            <a:r>
              <a:rPr lang="en-US" altLang="zh-CN" sz="1800" dirty="0"/>
              <a:t>1000cm</a:t>
            </a:r>
            <a:r>
              <a:rPr lang="zh-CN" altLang="zh-CN" sz="1800" dirty="0"/>
              <a:t>本项不得分。测试时由参赛队指定测试长度，在此长度附近测量并进行精度验证，电缆长度测量相对误差的绝对值不大于</a:t>
            </a:r>
            <a:r>
              <a:rPr lang="en-US" altLang="zh-CN" sz="1800" dirty="0"/>
              <a:t>1%</a:t>
            </a:r>
            <a:r>
              <a:rPr lang="zh-CN" altLang="zh-CN" sz="1800" dirty="0"/>
              <a:t>、一次检测时间不超过</a:t>
            </a:r>
            <a:r>
              <a:rPr lang="en-US" altLang="zh-CN" sz="1800" dirty="0"/>
              <a:t>5s</a:t>
            </a:r>
            <a:r>
              <a:rPr lang="zh-CN" altLang="zh-CN" sz="1800" dirty="0"/>
              <a:t>认为满足要求，并认定该长度有效。 </a:t>
            </a:r>
          </a:p>
          <a:p>
            <a:pPr>
              <a:lnSpc>
                <a:spcPct val="135000"/>
              </a:lnSpc>
            </a:pPr>
            <a:r>
              <a:rPr lang="zh-CN" altLang="zh-CN" sz="1800" dirty="0"/>
              <a:t>（</a:t>
            </a:r>
            <a:r>
              <a:rPr lang="en-US" altLang="zh-CN" sz="1800" dirty="0"/>
              <a:t>6</a:t>
            </a:r>
            <a:r>
              <a:rPr lang="zh-CN" altLang="zh-CN" sz="1800" dirty="0"/>
              <a:t>） 作品中不得使用测距传感器及摄像头。</a:t>
            </a:r>
            <a:endParaRPr lang="zh-CN" altLang="zh-CN" sz="1600" dirty="0"/>
          </a:p>
        </p:txBody>
      </p:sp>
      <p:graphicFrame>
        <p:nvGraphicFramePr>
          <p:cNvPr id="11" name="对象 10"/>
          <p:cNvGraphicFramePr>
            <a:graphicFrameLocks noChangeAspect="1"/>
          </p:cNvGraphicFramePr>
          <p:nvPr>
            <p:extLst>
              <p:ext uri="{D42A27DB-BD31-4B8C-83A1-F6EECF244321}">
                <p14:modId xmlns:p14="http://schemas.microsoft.com/office/powerpoint/2010/main" val="3235104349"/>
              </p:ext>
            </p:extLst>
          </p:nvPr>
        </p:nvGraphicFramePr>
        <p:xfrm>
          <a:off x="4176185" y="3780970"/>
          <a:ext cx="2784028" cy="718459"/>
        </p:xfrm>
        <a:graphic>
          <a:graphicData uri="http://schemas.openxmlformats.org/presentationml/2006/ole">
            <mc:AlternateContent xmlns:mc="http://schemas.openxmlformats.org/markup-compatibility/2006">
              <mc:Choice xmlns:v="urn:schemas-microsoft-com:vml" Requires="v">
                <p:oleObj spid="_x0000_s6220" name="Equation" r:id="rId3" imgW="1574117" imgH="406224" progId="Equation.DSMT4">
                  <p:embed/>
                </p:oleObj>
              </mc:Choice>
              <mc:Fallback>
                <p:oleObj name="Equation" r:id="rId3" imgW="1574117" imgH="406224"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6185" y="3780970"/>
                        <a:ext cx="2784028" cy="718459"/>
                      </a:xfrm>
                      <a:prstGeom prst="rect">
                        <a:avLst/>
                      </a:prstGeom>
                      <a:noFill/>
                    </p:spPr>
                  </p:pic>
                </p:oleObj>
              </mc:Fallback>
            </mc:AlternateContent>
          </a:graphicData>
        </a:graphic>
      </p:graphicFrame>
    </p:spTree>
    <p:extLst>
      <p:ext uri="{BB962C8B-B14F-4D97-AF65-F5344CB8AC3E}">
        <p14:creationId xmlns:p14="http://schemas.microsoft.com/office/powerpoint/2010/main" val="28906400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矩形 4"/>
          <p:cNvSpPr/>
          <p:nvPr/>
        </p:nvSpPr>
        <p:spPr>
          <a:xfrm>
            <a:off x="565757" y="365574"/>
            <a:ext cx="11255828" cy="2539157"/>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a:t>
            </a:r>
            <a:r>
              <a:rPr lang="zh-CN" altLang="zh-CN" sz="3200" dirty="0" smtClean="0">
                <a:solidFill>
                  <a:srgbClr val="FF0000"/>
                </a:solidFill>
                <a:latin typeface="隶书" panose="02010509060101010101" pitchFamily="49" charset="-122"/>
                <a:ea typeface="隶书" panose="02010509060101010101" pitchFamily="49" charset="-122"/>
              </a:rPr>
              <a:t>分析</a:t>
            </a:r>
            <a:endParaRPr lang="zh-CN" altLang="zh-CN" sz="2800" dirty="0" smtClean="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smtClean="0"/>
              <a:t>题目</a:t>
            </a:r>
            <a:r>
              <a:rPr lang="zh-CN" altLang="en-US" sz="1800" dirty="0"/>
              <a:t>综合</a:t>
            </a:r>
            <a:r>
              <a:rPr lang="zh-CN" altLang="en-US" sz="1800" dirty="0" smtClean="0"/>
              <a:t>要求：</a:t>
            </a:r>
            <a:endParaRPr lang="en-US" altLang="zh-CN" sz="1800" dirty="0" smtClean="0"/>
          </a:p>
          <a:p>
            <a:pPr indent="457200">
              <a:lnSpc>
                <a:spcPct val="150000"/>
              </a:lnSpc>
            </a:pPr>
            <a:r>
              <a:rPr lang="en-US" altLang="zh-CN" sz="1800" dirty="0" smtClean="0"/>
              <a:t>1</a:t>
            </a:r>
            <a:r>
              <a:rPr lang="zh-CN" altLang="en-US" sz="1800" dirty="0" smtClean="0"/>
              <a:t>、检测终端开路的电缆长度，</a:t>
            </a:r>
            <a:r>
              <a:rPr lang="en-US" altLang="zh-CN" sz="1800" dirty="0" smtClean="0"/>
              <a:t>L=1m~20m</a:t>
            </a:r>
            <a:r>
              <a:rPr lang="zh-CN" altLang="en-US" sz="1800" dirty="0" smtClean="0"/>
              <a:t>，</a:t>
            </a:r>
            <a:r>
              <a:rPr lang="zh-CN" altLang="zh-CN" sz="1800" dirty="0" smtClean="0"/>
              <a:t>相对误差不</a:t>
            </a:r>
            <a:r>
              <a:rPr lang="zh-CN" altLang="zh-CN" sz="1800" dirty="0"/>
              <a:t>大于</a:t>
            </a:r>
            <a:r>
              <a:rPr lang="en-US" altLang="zh-CN" sz="1800" dirty="0"/>
              <a:t>1%</a:t>
            </a:r>
            <a:r>
              <a:rPr lang="zh-CN" altLang="zh-CN" sz="1800" dirty="0" smtClean="0"/>
              <a:t>，检测</a:t>
            </a:r>
            <a:r>
              <a:rPr lang="zh-CN" altLang="zh-CN" sz="1800" dirty="0"/>
              <a:t>时间不超过</a:t>
            </a:r>
            <a:r>
              <a:rPr lang="en-US" altLang="zh-CN" sz="1800" dirty="0" smtClean="0"/>
              <a:t>5s</a:t>
            </a:r>
          </a:p>
          <a:p>
            <a:pPr indent="457200">
              <a:lnSpc>
                <a:spcPct val="150000"/>
              </a:lnSpc>
            </a:pPr>
            <a:r>
              <a:rPr lang="en-US" altLang="zh-CN" sz="1800" dirty="0" smtClean="0"/>
              <a:t>2</a:t>
            </a:r>
            <a:r>
              <a:rPr lang="zh-CN" altLang="en-US" sz="1800" dirty="0" smtClean="0"/>
              <a:t>、</a:t>
            </a:r>
            <a:r>
              <a:rPr lang="zh-CN" altLang="zh-CN" sz="1800" dirty="0"/>
              <a:t>保持</a:t>
            </a:r>
            <a:r>
              <a:rPr lang="en-US" altLang="zh-CN" sz="1800" dirty="0"/>
              <a:t>L</a:t>
            </a:r>
            <a:r>
              <a:rPr lang="zh-CN" altLang="zh-CN" sz="1800" dirty="0"/>
              <a:t>不变，在终端接入</a:t>
            </a:r>
            <a:r>
              <a:rPr lang="zh-CN" altLang="zh-CN" sz="1800" dirty="0" smtClean="0"/>
              <a:t>电阻</a:t>
            </a:r>
            <a:r>
              <a:rPr lang="zh-CN" altLang="en-US" sz="1800" dirty="0" smtClean="0"/>
              <a:t>或</a:t>
            </a:r>
            <a:r>
              <a:rPr lang="zh-CN" altLang="zh-CN" sz="1800" dirty="0" smtClean="0"/>
              <a:t>电容，检测电阻</a:t>
            </a:r>
            <a:r>
              <a:rPr lang="zh-CN" altLang="zh-CN" sz="1800" dirty="0"/>
              <a:t>、电容值，</a:t>
            </a:r>
            <a:r>
              <a:rPr lang="zh-CN" altLang="zh-CN" sz="1800" dirty="0" smtClean="0"/>
              <a:t>相对误差不</a:t>
            </a:r>
            <a:r>
              <a:rPr lang="zh-CN" altLang="zh-CN" sz="1800" dirty="0"/>
              <a:t>大于</a:t>
            </a:r>
            <a:r>
              <a:rPr lang="en-US" altLang="zh-CN" sz="1800" dirty="0"/>
              <a:t>10%</a:t>
            </a:r>
            <a:r>
              <a:rPr lang="zh-CN" altLang="zh-CN" sz="1800" dirty="0" smtClean="0"/>
              <a:t>，检测</a:t>
            </a:r>
            <a:r>
              <a:rPr lang="zh-CN" altLang="zh-CN" sz="1800" dirty="0"/>
              <a:t>时间不超过</a:t>
            </a:r>
            <a:r>
              <a:rPr lang="en-US" altLang="zh-CN" sz="1800" dirty="0" smtClean="0"/>
              <a:t>5s</a:t>
            </a:r>
          </a:p>
          <a:p>
            <a:pPr indent="457200">
              <a:lnSpc>
                <a:spcPct val="150000"/>
              </a:lnSpc>
            </a:pPr>
            <a:r>
              <a:rPr lang="en-US" altLang="zh-CN" sz="1800" dirty="0" smtClean="0"/>
              <a:t>3</a:t>
            </a:r>
            <a:r>
              <a:rPr lang="zh-CN" altLang="en-US" sz="1800" dirty="0" smtClean="0"/>
              <a:t>、只能在始端通过电参数测量，不能有其他测量手段</a:t>
            </a:r>
            <a:endParaRPr lang="en-US" altLang="zh-CN" sz="800" dirty="0"/>
          </a:p>
        </p:txBody>
      </p:sp>
    </p:spTree>
    <p:extLst>
      <p:ext uri="{BB962C8B-B14F-4D97-AF65-F5344CB8AC3E}">
        <p14:creationId xmlns:p14="http://schemas.microsoft.com/office/powerpoint/2010/main" val="5184323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矩形 4"/>
          <p:cNvSpPr/>
          <p:nvPr/>
        </p:nvSpPr>
        <p:spPr>
          <a:xfrm>
            <a:off x="362857" y="953403"/>
            <a:ext cx="11386156" cy="5078313"/>
          </a:xfrm>
          <a:prstGeom prst="rect">
            <a:avLst/>
          </a:prstGeom>
        </p:spPr>
        <p:txBody>
          <a:bodyPr wrap="square">
            <a:spAutoFit/>
          </a:bodyPr>
          <a:lstStyle/>
          <a:p>
            <a:pPr indent="457200">
              <a:lnSpc>
                <a:spcPct val="150000"/>
              </a:lnSpc>
            </a:pPr>
            <a:r>
              <a:rPr lang="zh-CN" altLang="zh-CN" sz="1800" dirty="0" smtClean="0"/>
              <a:t>根据</a:t>
            </a:r>
            <a:r>
              <a:rPr lang="zh-CN" altLang="zh-CN" sz="1800" dirty="0"/>
              <a:t>传输线理论，在电信号的波长与传输信号的导线长度可以比较的情况下，由于导线内存在电磁波的反射，导线内不同距离上的电压与电流将与导线终端接入的负载（开路、短路也可以认为是一种负载）有关，与输入电信号的频率</a:t>
            </a:r>
            <a:r>
              <a:rPr lang="zh-CN" altLang="zh-CN" sz="1800" dirty="0" smtClean="0"/>
              <a:t>有关</a:t>
            </a:r>
            <a:r>
              <a:rPr lang="zh-CN" altLang="en-US" sz="1800" dirty="0" smtClean="0"/>
              <a:t>。</a:t>
            </a:r>
            <a:r>
              <a:rPr lang="zh-CN" altLang="zh-CN" sz="1800" dirty="0"/>
              <a:t>在传输线始端看到的输入阻抗为</a:t>
            </a:r>
            <a:endParaRPr lang="en-US" altLang="zh-CN" sz="1800" dirty="0" smtClean="0"/>
          </a:p>
          <a:p>
            <a:pPr lvl="1">
              <a:lnSpc>
                <a:spcPct val="150000"/>
              </a:lnSpc>
            </a:pPr>
            <a:endParaRPr lang="en-US" altLang="zh-CN" sz="1800" dirty="0"/>
          </a:p>
          <a:p>
            <a:pPr lvl="1">
              <a:lnSpc>
                <a:spcPct val="150000"/>
              </a:lnSpc>
            </a:pPr>
            <a:endParaRPr lang="en-US" altLang="zh-CN" sz="1800" dirty="0" smtClean="0"/>
          </a:p>
          <a:p>
            <a:pPr lvl="1">
              <a:lnSpc>
                <a:spcPct val="150000"/>
              </a:lnSpc>
            </a:pPr>
            <a:endParaRPr lang="en-US" altLang="zh-CN" sz="1800" dirty="0" smtClean="0"/>
          </a:p>
          <a:p>
            <a:pPr>
              <a:lnSpc>
                <a:spcPct val="150000"/>
              </a:lnSpc>
            </a:pPr>
            <a:r>
              <a:rPr lang="zh-CN" altLang="en-US" sz="1800" dirty="0" smtClean="0"/>
              <a:t>其中，</a:t>
            </a:r>
            <a:r>
              <a:rPr lang="en-US" altLang="zh-CN" sz="1800" i="1" dirty="0" smtClean="0"/>
              <a:t>l</a:t>
            </a:r>
            <a:r>
              <a:rPr lang="zh-CN" altLang="en-US" sz="1800" dirty="0" smtClean="0"/>
              <a:t>是</a:t>
            </a:r>
            <a:r>
              <a:rPr lang="zh-CN" altLang="zh-CN" sz="1800" dirty="0" smtClean="0"/>
              <a:t>传输线</a:t>
            </a:r>
            <a:r>
              <a:rPr lang="zh-CN" altLang="zh-CN" sz="1800" dirty="0"/>
              <a:t>的</a:t>
            </a:r>
            <a:r>
              <a:rPr lang="zh-CN" altLang="zh-CN" sz="1800" dirty="0" smtClean="0"/>
              <a:t>长度，</a:t>
            </a:r>
            <a:r>
              <a:rPr lang="en-US" altLang="zh-CN" sz="1800" i="1" dirty="0"/>
              <a:t>z</a:t>
            </a:r>
            <a:r>
              <a:rPr lang="en-US" altLang="zh-CN" sz="1800" baseline="-25000" dirty="0"/>
              <a:t>0</a:t>
            </a:r>
            <a:r>
              <a:rPr lang="zh-CN" altLang="en-US" sz="1800" dirty="0" smtClean="0"/>
              <a:t>是</a:t>
            </a:r>
            <a:r>
              <a:rPr lang="zh-CN" altLang="zh-CN" sz="1800" dirty="0" smtClean="0"/>
              <a:t>传输线</a:t>
            </a:r>
            <a:r>
              <a:rPr lang="zh-CN" altLang="zh-CN" sz="1800" dirty="0"/>
              <a:t>的</a:t>
            </a:r>
            <a:r>
              <a:rPr lang="zh-CN" altLang="zh-CN" sz="1800" dirty="0" smtClean="0"/>
              <a:t>特性阻抗，</a:t>
            </a:r>
            <a:r>
              <a:rPr lang="en-US" altLang="zh-CN" sz="1800" i="1" dirty="0" err="1"/>
              <a:t>z</a:t>
            </a:r>
            <a:r>
              <a:rPr lang="en-US" altLang="zh-CN" sz="1800" i="1" baseline="-25000" dirty="0" err="1"/>
              <a:t>L</a:t>
            </a:r>
            <a:r>
              <a:rPr lang="zh-CN" altLang="en-US" sz="1800" dirty="0" smtClean="0"/>
              <a:t>是</a:t>
            </a:r>
            <a:r>
              <a:rPr lang="zh-CN" altLang="zh-CN" sz="1800" dirty="0" smtClean="0"/>
              <a:t>传输线</a:t>
            </a:r>
            <a:r>
              <a:rPr lang="zh-CN" altLang="zh-CN" sz="1800" dirty="0"/>
              <a:t>终端负载</a:t>
            </a:r>
            <a:r>
              <a:rPr lang="zh-CN" altLang="zh-CN" sz="1800" dirty="0" smtClean="0"/>
              <a:t>阻抗</a:t>
            </a:r>
            <a:endParaRPr lang="en-US" altLang="zh-CN" sz="1800" dirty="0" smtClean="0"/>
          </a:p>
          <a:p>
            <a:pPr>
              <a:lnSpc>
                <a:spcPct val="150000"/>
              </a:lnSpc>
            </a:pPr>
            <a:r>
              <a:rPr lang="en-US" altLang="zh-CN" sz="1800" i="1" dirty="0" smtClean="0"/>
              <a:t> </a:t>
            </a:r>
            <a:r>
              <a:rPr lang="en-US" altLang="zh-CN" sz="1800" i="1" dirty="0"/>
              <a:t>β</a:t>
            </a:r>
            <a:r>
              <a:rPr lang="zh-CN" altLang="zh-CN" sz="1800" dirty="0"/>
              <a:t>是传输线中电磁波的相位系数，</a:t>
            </a:r>
            <a:r>
              <a:rPr lang="en-US" altLang="zh-CN" sz="1800" i="1" dirty="0"/>
              <a:t>β</a:t>
            </a:r>
            <a:r>
              <a:rPr lang="en-US" altLang="zh-CN" sz="1800" dirty="0"/>
              <a:t>=</a:t>
            </a:r>
            <a:r>
              <a:rPr lang="en-US" altLang="zh-CN" sz="1800" i="1" dirty="0"/>
              <a:t>ω</a:t>
            </a:r>
            <a:r>
              <a:rPr lang="en-US" altLang="zh-CN" sz="1800" dirty="0"/>
              <a:t>/</a:t>
            </a:r>
            <a:r>
              <a:rPr lang="en-US" altLang="zh-CN" sz="1800" i="1" dirty="0" err="1"/>
              <a:t>v</a:t>
            </a:r>
            <a:r>
              <a:rPr lang="en-US" altLang="zh-CN" sz="1800" i="1" baseline="-25000" dirty="0" err="1"/>
              <a:t>p</a:t>
            </a:r>
            <a:r>
              <a:rPr lang="en-US" altLang="zh-CN" sz="1800" dirty="0"/>
              <a:t>=2π/</a:t>
            </a:r>
            <a:r>
              <a:rPr lang="en-US" altLang="zh-CN" sz="1800" i="1" dirty="0"/>
              <a:t>λ</a:t>
            </a:r>
            <a:r>
              <a:rPr lang="zh-CN" altLang="zh-CN" sz="1800" dirty="0"/>
              <a:t>，其中</a:t>
            </a:r>
            <a:r>
              <a:rPr lang="en-US" altLang="zh-CN" sz="1800" i="1" dirty="0"/>
              <a:t>ω</a:t>
            </a:r>
            <a:r>
              <a:rPr lang="zh-CN" altLang="zh-CN" sz="1800" dirty="0"/>
              <a:t>、</a:t>
            </a:r>
            <a:r>
              <a:rPr lang="en-US" altLang="zh-CN" sz="1800" i="1" dirty="0"/>
              <a:t>λ</a:t>
            </a:r>
            <a:r>
              <a:rPr lang="zh-CN" altLang="zh-CN" sz="1800" dirty="0"/>
              <a:t>、</a:t>
            </a:r>
            <a:r>
              <a:rPr lang="en-US" altLang="zh-CN" sz="1800" i="1" dirty="0" err="1"/>
              <a:t>v</a:t>
            </a:r>
            <a:r>
              <a:rPr lang="en-US" altLang="zh-CN" sz="1800" i="1" baseline="-25000" dirty="0" err="1"/>
              <a:t>p</a:t>
            </a:r>
            <a:r>
              <a:rPr lang="en-US" altLang="zh-CN" sz="1800" dirty="0"/>
              <a:t> </a:t>
            </a:r>
            <a:r>
              <a:rPr lang="zh-CN" altLang="zh-CN" sz="1800" dirty="0"/>
              <a:t>分别是传输线中信号的角频率、波长和传播速度（相速度</a:t>
            </a:r>
            <a:r>
              <a:rPr lang="zh-CN" altLang="zh-CN" sz="1800" dirty="0" smtClean="0"/>
              <a:t>）</a:t>
            </a:r>
            <a:r>
              <a:rPr lang="zh-CN" altLang="en-US" sz="1800" dirty="0" smtClean="0"/>
              <a:t>，</a:t>
            </a:r>
            <a:r>
              <a:rPr lang="en-US" altLang="zh-CN" sz="1800" i="1" dirty="0" smtClean="0"/>
              <a:t>βl</a:t>
            </a:r>
            <a:r>
              <a:rPr lang="en-US" altLang="zh-CN" sz="1800" dirty="0"/>
              <a:t>= 2π</a:t>
            </a:r>
            <a:r>
              <a:rPr lang="en-US" altLang="zh-CN" sz="1800" i="1" dirty="0"/>
              <a:t>l</a:t>
            </a:r>
            <a:r>
              <a:rPr lang="en-US" altLang="zh-CN" sz="1800" dirty="0"/>
              <a:t>/</a:t>
            </a:r>
            <a:r>
              <a:rPr lang="en-US" altLang="zh-CN" sz="1800" i="1" dirty="0"/>
              <a:t>λ</a:t>
            </a:r>
            <a:r>
              <a:rPr lang="zh-CN" altLang="zh-CN" sz="1800" dirty="0"/>
              <a:t>表示传输线内关于信号周期的空间距离，即空间</a:t>
            </a:r>
            <a:r>
              <a:rPr lang="zh-CN" altLang="zh-CN" sz="1800" dirty="0" smtClean="0"/>
              <a:t>相位</a:t>
            </a:r>
            <a:endParaRPr lang="en-US" altLang="zh-CN" sz="1800" dirty="0" smtClean="0"/>
          </a:p>
          <a:p>
            <a:pPr lvl="1">
              <a:lnSpc>
                <a:spcPct val="150000"/>
              </a:lnSpc>
            </a:pPr>
            <a:r>
              <a:rPr lang="zh-CN" altLang="en-US" sz="1800" dirty="0" smtClean="0"/>
              <a:t>结论：</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已知</a:t>
            </a:r>
            <a:r>
              <a:rPr lang="en-US" altLang="zh-CN" sz="1800" i="1" dirty="0" smtClean="0"/>
              <a:t>z</a:t>
            </a:r>
            <a:r>
              <a:rPr lang="en-US" altLang="zh-CN" sz="1800" i="1" baseline="-25000" dirty="0" smtClean="0"/>
              <a:t>in</a:t>
            </a:r>
            <a:r>
              <a:rPr lang="zh-CN" altLang="en-US" sz="1800" dirty="0" smtClean="0"/>
              <a:t>、</a:t>
            </a:r>
            <a:r>
              <a:rPr lang="en-US" altLang="zh-CN" sz="1800" i="1" dirty="0" smtClean="0"/>
              <a:t>z</a:t>
            </a:r>
            <a:r>
              <a:rPr lang="en-US" altLang="zh-CN" sz="1800" baseline="-25000" dirty="0"/>
              <a:t>0</a:t>
            </a:r>
            <a:r>
              <a:rPr lang="zh-CN" altLang="en-US" sz="1800" dirty="0" smtClean="0"/>
              <a:t>、</a:t>
            </a:r>
            <a:r>
              <a:rPr lang="en-US" altLang="zh-CN" sz="1800" i="1" dirty="0" err="1" smtClean="0"/>
              <a:t>z</a:t>
            </a:r>
            <a:r>
              <a:rPr lang="en-US" altLang="zh-CN" sz="1800" i="1" baseline="-25000" dirty="0" err="1"/>
              <a:t>L</a:t>
            </a:r>
            <a:r>
              <a:rPr lang="zh-CN" altLang="en-US" sz="1800" dirty="0" smtClean="0"/>
              <a:t>、</a:t>
            </a:r>
            <a:r>
              <a:rPr lang="en-US" altLang="zh-CN" sz="1800" i="1" dirty="0" smtClean="0"/>
              <a:t>β</a:t>
            </a:r>
            <a:r>
              <a:rPr lang="zh-CN" altLang="en-US" sz="1800" dirty="0" smtClean="0"/>
              <a:t>，可得传输线长度 </a:t>
            </a:r>
            <a:r>
              <a:rPr lang="en-US" altLang="zh-CN" sz="1800" i="1" dirty="0" smtClean="0"/>
              <a:t>l</a:t>
            </a:r>
          </a:p>
          <a:p>
            <a:pPr marL="800100" lvl="1" indent="-342900">
              <a:lnSpc>
                <a:spcPct val="150000"/>
              </a:lnSpc>
              <a:buFont typeface="Arial" panose="020B0604020202020204" pitchFamily="34" charset="0"/>
              <a:buChar char="•"/>
            </a:pPr>
            <a:r>
              <a:rPr lang="zh-CN" altLang="en-US" sz="1800" dirty="0" smtClean="0"/>
              <a:t>已知</a:t>
            </a:r>
            <a:r>
              <a:rPr lang="en-US" altLang="zh-CN" sz="1800" i="1" dirty="0" smtClean="0"/>
              <a:t>z</a:t>
            </a:r>
            <a:r>
              <a:rPr lang="en-US" altLang="zh-CN" sz="1800" i="1" baseline="-25000" dirty="0"/>
              <a:t>in</a:t>
            </a:r>
            <a:r>
              <a:rPr lang="zh-CN" altLang="en-US" sz="1800" dirty="0"/>
              <a:t>、</a:t>
            </a:r>
            <a:r>
              <a:rPr lang="en-US" altLang="zh-CN" sz="1800" i="1" dirty="0"/>
              <a:t>z</a:t>
            </a:r>
            <a:r>
              <a:rPr lang="en-US" altLang="zh-CN" sz="1800" baseline="-25000" dirty="0"/>
              <a:t>0</a:t>
            </a:r>
            <a:r>
              <a:rPr lang="zh-CN" altLang="en-US" sz="1800" dirty="0" smtClean="0"/>
              <a:t>、</a:t>
            </a:r>
            <a:r>
              <a:rPr lang="en-US" altLang="zh-CN" sz="1800" i="1" dirty="0" smtClean="0"/>
              <a:t>β</a:t>
            </a:r>
            <a:r>
              <a:rPr lang="zh-CN" altLang="en-US" sz="1800" dirty="0" smtClean="0"/>
              <a:t>、</a:t>
            </a:r>
            <a:r>
              <a:rPr lang="en-US" altLang="zh-CN" sz="1800" i="1" dirty="0" smtClean="0"/>
              <a:t>l</a:t>
            </a:r>
            <a:r>
              <a:rPr lang="zh-CN" altLang="en-US" sz="1800" dirty="0" smtClean="0"/>
              <a:t>，可得终端阻抗 </a:t>
            </a:r>
            <a:r>
              <a:rPr lang="en-US" altLang="zh-CN" sz="1800" i="1" dirty="0" err="1" smtClean="0"/>
              <a:t>z</a:t>
            </a:r>
            <a:r>
              <a:rPr lang="en-US" altLang="zh-CN" sz="1800" i="1" baseline="-25000" dirty="0" err="1" smtClean="0"/>
              <a:t>L</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643179064"/>
              </p:ext>
            </p:extLst>
          </p:nvPr>
        </p:nvGraphicFramePr>
        <p:xfrm>
          <a:off x="4460878" y="2483562"/>
          <a:ext cx="2885014" cy="765933"/>
        </p:xfrm>
        <a:graphic>
          <a:graphicData uri="http://schemas.openxmlformats.org/presentationml/2006/ole">
            <mc:AlternateContent xmlns:mc="http://schemas.openxmlformats.org/markup-compatibility/2006">
              <mc:Choice xmlns:v="urn:schemas-microsoft-com:vml" Requires="v">
                <p:oleObj spid="_x0000_s9288" name="Equation" r:id="rId4" imgW="1435100" imgH="381000" progId="Equation.DSMT4">
                  <p:embed/>
                </p:oleObj>
              </mc:Choice>
              <mc:Fallback>
                <p:oleObj name="Equation" r:id="rId4" imgW="1435100" imgH="381000" progId="Equation.DSMT4">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0878" y="2483562"/>
                        <a:ext cx="2885014" cy="765933"/>
                      </a:xfrm>
                      <a:prstGeom prst="rect">
                        <a:avLst/>
                      </a:prstGeom>
                      <a:noFill/>
                    </p:spPr>
                  </p:pic>
                </p:oleObj>
              </mc:Fallback>
            </mc:AlternateContent>
          </a:graphicData>
        </a:graphic>
      </p:graphicFrame>
      <p:sp>
        <p:nvSpPr>
          <p:cNvPr id="8" name="矩形 7"/>
          <p:cNvSpPr/>
          <p:nvPr/>
        </p:nvSpPr>
        <p:spPr>
          <a:xfrm>
            <a:off x="326571" y="307517"/>
            <a:ext cx="11458728" cy="715581"/>
          </a:xfrm>
          <a:prstGeom prst="rect">
            <a:avLst/>
          </a:prstGeom>
        </p:spPr>
        <p:txBody>
          <a:bodyPr wrap="square">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测试原理</a:t>
            </a:r>
          </a:p>
        </p:txBody>
      </p:sp>
    </p:spTree>
    <p:extLst>
      <p:ext uri="{BB962C8B-B14F-4D97-AF65-F5344CB8AC3E}">
        <p14:creationId xmlns:p14="http://schemas.microsoft.com/office/powerpoint/2010/main" val="4107652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矩形 4"/>
          <p:cNvSpPr/>
          <p:nvPr/>
        </p:nvSpPr>
        <p:spPr>
          <a:xfrm>
            <a:off x="500216" y="648603"/>
            <a:ext cx="7808685" cy="4555093"/>
          </a:xfrm>
          <a:prstGeom prst="rect">
            <a:avLst/>
          </a:prstGeom>
        </p:spPr>
        <p:txBody>
          <a:bodyPr wrap="square">
            <a:spAutoFit/>
          </a:bodyPr>
          <a:lstStyle/>
          <a:p>
            <a:pPr indent="457200">
              <a:lnSpc>
                <a:spcPct val="150000"/>
              </a:lnSpc>
            </a:pPr>
            <a:r>
              <a:rPr lang="zh-CN" altLang="zh-CN" dirty="0"/>
              <a:t>一</a:t>
            </a:r>
            <a:r>
              <a:rPr lang="zh-CN" altLang="zh-CN" dirty="0" smtClean="0"/>
              <a:t>个特例：</a:t>
            </a:r>
            <a:r>
              <a:rPr lang="zh-CN" altLang="zh-CN" dirty="0"/>
              <a:t>当传输线长度等于信号波长的</a:t>
            </a:r>
            <a:r>
              <a:rPr lang="en-US" altLang="zh-CN" dirty="0"/>
              <a:t>1/4</a:t>
            </a:r>
            <a:r>
              <a:rPr lang="zh-CN" altLang="zh-CN" dirty="0"/>
              <a:t>即</a:t>
            </a:r>
            <a:r>
              <a:rPr lang="en-US" altLang="zh-CN" i="1" dirty="0"/>
              <a:t>βl</a:t>
            </a:r>
            <a:r>
              <a:rPr lang="en-US" altLang="zh-CN" dirty="0"/>
              <a:t>= π/2</a:t>
            </a:r>
            <a:r>
              <a:rPr lang="zh-CN" altLang="zh-CN" dirty="0" smtClean="0"/>
              <a:t>时</a:t>
            </a:r>
            <a:endParaRPr lang="en-US" altLang="zh-CN" dirty="0" smtClean="0"/>
          </a:p>
          <a:p>
            <a:pPr lvl="1">
              <a:lnSpc>
                <a:spcPct val="150000"/>
              </a:lnSpc>
            </a:pPr>
            <a:endParaRPr lang="en-US" altLang="zh-CN" dirty="0" smtClean="0"/>
          </a:p>
          <a:p>
            <a:pPr lvl="1">
              <a:lnSpc>
                <a:spcPct val="150000"/>
              </a:lnSpc>
            </a:pPr>
            <a:endParaRPr lang="en-US" altLang="zh-CN" dirty="0"/>
          </a:p>
          <a:p>
            <a:pPr lvl="1">
              <a:lnSpc>
                <a:spcPct val="150000"/>
              </a:lnSpc>
            </a:pPr>
            <a:endParaRPr lang="en-US" altLang="zh-CN" dirty="0" smtClean="0"/>
          </a:p>
          <a:p>
            <a:pPr marL="800100" lvl="1" indent="-342900">
              <a:lnSpc>
                <a:spcPct val="150000"/>
              </a:lnSpc>
              <a:buFont typeface="Arial" panose="020B0604020202020204" pitchFamily="34" charset="0"/>
              <a:buChar char="•"/>
            </a:pPr>
            <a:r>
              <a:rPr lang="zh-CN" altLang="zh-CN" dirty="0" smtClean="0"/>
              <a:t>终端</a:t>
            </a:r>
            <a:r>
              <a:rPr lang="zh-CN" altLang="zh-CN" dirty="0"/>
              <a:t>开路（</a:t>
            </a:r>
            <a:r>
              <a:rPr lang="en-US" altLang="zh-CN" i="1" dirty="0" err="1"/>
              <a:t>z</a:t>
            </a:r>
            <a:r>
              <a:rPr lang="en-US" altLang="zh-CN" i="1" baseline="-25000" dirty="0" err="1"/>
              <a:t>L</a:t>
            </a:r>
            <a:r>
              <a:rPr lang="en-US" altLang="zh-CN" dirty="0"/>
              <a:t>=∞</a:t>
            </a:r>
            <a:r>
              <a:rPr lang="zh-CN" altLang="zh-CN" dirty="0" smtClean="0"/>
              <a:t>），</a:t>
            </a:r>
            <a:r>
              <a:rPr lang="en-US" altLang="zh-CN" i="1" dirty="0" smtClean="0"/>
              <a:t>z</a:t>
            </a:r>
            <a:r>
              <a:rPr lang="en-US" altLang="zh-CN" i="1" baseline="-25000" dirty="0" smtClean="0"/>
              <a:t>in</a:t>
            </a:r>
            <a:r>
              <a:rPr lang="en-US" altLang="zh-CN" dirty="0" smtClean="0"/>
              <a:t>=0</a:t>
            </a:r>
          </a:p>
          <a:p>
            <a:pPr marL="800100" lvl="1" indent="-342900">
              <a:lnSpc>
                <a:spcPct val="200000"/>
              </a:lnSpc>
              <a:buFont typeface="Arial" panose="020B0604020202020204" pitchFamily="34" charset="0"/>
              <a:buChar char="•"/>
            </a:pPr>
            <a:r>
              <a:rPr lang="zh-CN" altLang="en-US" dirty="0" smtClean="0"/>
              <a:t>终端接入电阻</a:t>
            </a:r>
            <a:endParaRPr lang="en-US" altLang="zh-CN" dirty="0" smtClean="0"/>
          </a:p>
          <a:p>
            <a:pPr marL="800100" lvl="1" indent="-342900">
              <a:lnSpc>
                <a:spcPct val="250000"/>
              </a:lnSpc>
              <a:buFont typeface="Arial" panose="020B0604020202020204" pitchFamily="34" charset="0"/>
              <a:buChar char="•"/>
            </a:pPr>
            <a:r>
              <a:rPr lang="zh-CN" altLang="zh-CN" dirty="0" smtClean="0"/>
              <a:t>终端</a:t>
            </a:r>
            <a:r>
              <a:rPr lang="zh-CN" altLang="en-US" dirty="0" smtClean="0"/>
              <a:t>接入电感</a:t>
            </a:r>
            <a:endParaRPr lang="en-US" altLang="zh-CN" dirty="0" smtClean="0"/>
          </a:p>
          <a:p>
            <a:pPr marL="800100" lvl="1" indent="-342900">
              <a:lnSpc>
                <a:spcPct val="250000"/>
              </a:lnSpc>
              <a:buFont typeface="Arial" panose="020B0604020202020204" pitchFamily="34" charset="0"/>
              <a:buChar char="•"/>
            </a:pPr>
            <a:r>
              <a:rPr lang="zh-CN" altLang="en-US" dirty="0" smtClean="0"/>
              <a:t>终端接入电容</a:t>
            </a:r>
            <a:endParaRPr lang="en-US" altLang="zh-CN" dirty="0"/>
          </a:p>
        </p:txBody>
      </p:sp>
      <p:graphicFrame>
        <p:nvGraphicFramePr>
          <p:cNvPr id="8" name="对象 7"/>
          <p:cNvGraphicFramePr>
            <a:graphicFrameLocks noChangeAspect="1"/>
          </p:cNvGraphicFramePr>
          <p:nvPr>
            <p:extLst>
              <p:ext uri="{D42A27DB-BD31-4B8C-83A1-F6EECF244321}">
                <p14:modId xmlns:p14="http://schemas.microsoft.com/office/powerpoint/2010/main" val="296594542"/>
              </p:ext>
            </p:extLst>
          </p:nvPr>
        </p:nvGraphicFramePr>
        <p:xfrm>
          <a:off x="3534004" y="1331622"/>
          <a:ext cx="1603829" cy="959300"/>
        </p:xfrm>
        <a:graphic>
          <a:graphicData uri="http://schemas.openxmlformats.org/presentationml/2006/ole">
            <mc:AlternateContent xmlns:mc="http://schemas.openxmlformats.org/markup-compatibility/2006">
              <mc:Choice xmlns:v="urn:schemas-microsoft-com:vml" Requires="v">
                <p:oleObj spid="_x0000_s11541" name="Equation" r:id="rId4" imgW="685502" imgH="406224" progId="Equation.DSMT4">
                  <p:embed/>
                </p:oleObj>
              </mc:Choice>
              <mc:Fallback>
                <p:oleObj name="Equation" r:id="rId4" imgW="685502" imgH="406224"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4004" y="1331622"/>
                        <a:ext cx="1603829" cy="95930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559350851"/>
              </p:ext>
            </p:extLst>
          </p:nvPr>
        </p:nvGraphicFramePr>
        <p:xfrm>
          <a:off x="3045316" y="3649577"/>
          <a:ext cx="2433827" cy="844846"/>
        </p:xfrm>
        <a:graphic>
          <a:graphicData uri="http://schemas.openxmlformats.org/presentationml/2006/ole">
            <mc:AlternateContent xmlns:mc="http://schemas.openxmlformats.org/markup-compatibility/2006">
              <mc:Choice xmlns:v="urn:schemas-microsoft-com:vml" Requires="v">
                <p:oleObj spid="_x0000_s11542" name="Equation" r:id="rId6" imgW="1180800" imgH="406080" progId="Equation.DSMT4">
                  <p:embed/>
                </p:oleObj>
              </mc:Choice>
              <mc:Fallback>
                <p:oleObj name="Equation" r:id="rId6" imgW="1180800" imgH="406080" progId="Equation.DSMT4">
                  <p:embed/>
                  <p:pic>
                    <p:nvPicPr>
                      <p:cNvPr id="8" name="对象 7"/>
                      <p:cNvPicPr>
                        <a:picLocks noChangeAspect="1" noChangeArrowheads="1"/>
                      </p:cNvPicPr>
                      <p:nvPr/>
                    </p:nvPicPr>
                    <p:blipFill>
                      <a:blip r:embed="rId7"/>
                      <a:srcRect/>
                      <a:stretch>
                        <a:fillRect/>
                      </a:stretch>
                    </p:blipFill>
                    <p:spPr bwMode="auto">
                      <a:xfrm>
                        <a:off x="3045316" y="3649577"/>
                        <a:ext cx="2433827" cy="84484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594238546"/>
              </p:ext>
            </p:extLst>
          </p:nvPr>
        </p:nvGraphicFramePr>
        <p:xfrm>
          <a:off x="2994516" y="4494423"/>
          <a:ext cx="2807381" cy="744950"/>
        </p:xfrm>
        <a:graphic>
          <a:graphicData uri="http://schemas.openxmlformats.org/presentationml/2006/ole">
            <mc:AlternateContent xmlns:mc="http://schemas.openxmlformats.org/markup-compatibility/2006">
              <mc:Choice xmlns:v="urn:schemas-microsoft-com:vml" Requires="v">
                <p:oleObj spid="_x0000_s11543" name="Equation" r:id="rId8" imgW="1447560" imgH="380880" progId="Equation.DSMT4">
                  <p:embed/>
                </p:oleObj>
              </mc:Choice>
              <mc:Fallback>
                <p:oleObj name="Equation" r:id="rId8" imgW="1447560" imgH="380880" progId="Equation.DSMT4">
                  <p:embed/>
                  <p:pic>
                    <p:nvPicPr>
                      <p:cNvPr id="9" name="对象 8"/>
                      <p:cNvPicPr>
                        <a:picLocks noChangeAspect="1" noChangeArrowheads="1"/>
                      </p:cNvPicPr>
                      <p:nvPr/>
                    </p:nvPicPr>
                    <p:blipFill>
                      <a:blip r:embed="rId9"/>
                      <a:srcRect/>
                      <a:stretch>
                        <a:fillRect/>
                      </a:stretch>
                    </p:blipFill>
                    <p:spPr bwMode="auto">
                      <a:xfrm>
                        <a:off x="2994516" y="4494423"/>
                        <a:ext cx="2807381" cy="744950"/>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43150859"/>
              </p:ext>
            </p:extLst>
          </p:nvPr>
        </p:nvGraphicFramePr>
        <p:xfrm>
          <a:off x="2994516" y="2926149"/>
          <a:ext cx="1939814" cy="782563"/>
        </p:xfrm>
        <a:graphic>
          <a:graphicData uri="http://schemas.openxmlformats.org/presentationml/2006/ole">
            <mc:AlternateContent xmlns:mc="http://schemas.openxmlformats.org/markup-compatibility/2006">
              <mc:Choice xmlns:v="urn:schemas-microsoft-com:vml" Requires="v">
                <p:oleObj spid="_x0000_s11544" name="Equation" r:id="rId10" imgW="952200" imgH="380880" progId="Equation.DSMT4">
                  <p:embed/>
                </p:oleObj>
              </mc:Choice>
              <mc:Fallback>
                <p:oleObj name="Equation" r:id="rId10" imgW="952200" imgH="380880" progId="Equation.DSMT4">
                  <p:embed/>
                  <p:pic>
                    <p:nvPicPr>
                      <p:cNvPr id="9" name="对象 8"/>
                      <p:cNvPicPr>
                        <a:picLocks noChangeAspect="1" noChangeArrowheads="1"/>
                      </p:cNvPicPr>
                      <p:nvPr/>
                    </p:nvPicPr>
                    <p:blipFill>
                      <a:blip r:embed="rId11"/>
                      <a:srcRect/>
                      <a:stretch>
                        <a:fillRect/>
                      </a:stretch>
                    </p:blipFill>
                    <p:spPr bwMode="auto">
                      <a:xfrm>
                        <a:off x="2994516" y="2926149"/>
                        <a:ext cx="1939814" cy="782563"/>
                      </a:xfrm>
                      <a:prstGeom prst="rect">
                        <a:avLst/>
                      </a:prstGeom>
                      <a:noFill/>
                    </p:spPr>
                  </p:pic>
                </p:oleObj>
              </mc:Fallback>
            </mc:AlternateContent>
          </a:graphicData>
        </a:graphic>
      </p:graphicFrame>
    </p:spTree>
    <p:extLst>
      <p:ext uri="{BB962C8B-B14F-4D97-AF65-F5344CB8AC3E}">
        <p14:creationId xmlns:p14="http://schemas.microsoft.com/office/powerpoint/2010/main" val="129193823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矩形 4"/>
          <p:cNvSpPr/>
          <p:nvPr/>
        </p:nvSpPr>
        <p:spPr>
          <a:xfrm>
            <a:off x="449943" y="339633"/>
            <a:ext cx="11371642" cy="715581"/>
          </a:xfrm>
          <a:prstGeom prst="rect">
            <a:avLst/>
          </a:prstGeom>
        </p:spPr>
        <p:txBody>
          <a:bodyPr wrap="square">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解决</a:t>
            </a:r>
            <a:r>
              <a:rPr lang="zh-CN" altLang="zh-CN" sz="3200" dirty="0" smtClean="0">
                <a:solidFill>
                  <a:srgbClr val="FF0000"/>
                </a:solidFill>
                <a:latin typeface="隶书" panose="02010509060101010101" pitchFamily="49" charset="-122"/>
                <a:ea typeface="隶书" panose="02010509060101010101" pitchFamily="49" charset="-122"/>
              </a:rPr>
              <a:t>方案</a:t>
            </a:r>
            <a:endParaRPr lang="en-US" altLang="zh-CN" sz="3200" dirty="0">
              <a:solidFill>
                <a:srgbClr val="FF0000"/>
              </a:solidFill>
              <a:latin typeface="隶书" panose="02010509060101010101" pitchFamily="49" charset="-122"/>
              <a:ea typeface="隶书" panose="02010509060101010101" pitchFamily="49" charset="-122"/>
            </a:endParaRPr>
          </a:p>
        </p:txBody>
      </p:sp>
      <p:sp>
        <p:nvSpPr>
          <p:cNvPr id="8" name="矩形 7"/>
          <p:cNvSpPr/>
          <p:nvPr/>
        </p:nvSpPr>
        <p:spPr>
          <a:xfrm>
            <a:off x="449943" y="3128439"/>
            <a:ext cx="11371642" cy="1754326"/>
          </a:xfrm>
          <a:prstGeom prst="rect">
            <a:avLst/>
          </a:prstGeom>
        </p:spPr>
        <p:txBody>
          <a:bodyPr wrap="square">
            <a:spAutoFit/>
          </a:bodyPr>
          <a:lstStyle/>
          <a:p>
            <a:pPr>
              <a:lnSpc>
                <a:spcPct val="150000"/>
              </a:lnSpc>
            </a:pPr>
            <a:r>
              <a:rPr lang="en-US" altLang="zh-CN" sz="1800" dirty="0" smtClean="0"/>
              <a:t>1</a:t>
            </a:r>
            <a:r>
              <a:rPr lang="zh-CN" altLang="en-US" sz="1800" dirty="0" smtClean="0"/>
              <a:t>、测试电缆长度</a:t>
            </a:r>
          </a:p>
          <a:p>
            <a:pPr lvl="1">
              <a:lnSpc>
                <a:spcPct val="150000"/>
              </a:lnSpc>
            </a:pPr>
            <a:r>
              <a:rPr lang="zh-CN" altLang="en-US" sz="1800" dirty="0" smtClean="0"/>
              <a:t>负载开路，</a:t>
            </a:r>
            <a:r>
              <a:rPr lang="zh-CN" altLang="zh-CN" sz="1800" dirty="0" smtClean="0"/>
              <a:t>信号源从低频开始扫频，同步读取</a:t>
            </a:r>
            <a:r>
              <a:rPr lang="en-US" altLang="zh-CN" sz="1800" i="1" dirty="0" smtClean="0"/>
              <a:t>u</a:t>
            </a:r>
            <a:r>
              <a:rPr lang="en-US" altLang="zh-CN" sz="1800" baseline="-25000" dirty="0" smtClean="0"/>
              <a:t>2</a:t>
            </a:r>
            <a:r>
              <a:rPr lang="zh-CN" altLang="zh-CN" sz="1800" dirty="0" smtClean="0"/>
              <a:t>，记下出现第一个极小值时的测试频率</a:t>
            </a:r>
            <a:r>
              <a:rPr lang="en-US" altLang="zh-CN" sz="1800" i="1" dirty="0" err="1" smtClean="0"/>
              <a:t>f</a:t>
            </a:r>
            <a:r>
              <a:rPr lang="en-US" altLang="zh-CN" sz="1800" baseline="-25000" dirty="0" err="1" smtClean="0"/>
              <a:t>test</a:t>
            </a:r>
            <a:r>
              <a:rPr lang="zh-CN" altLang="zh-CN" sz="1800" dirty="0" smtClean="0"/>
              <a:t>（由于电缆</a:t>
            </a:r>
            <a:r>
              <a:rPr lang="zh-CN" altLang="en-US" sz="1800" dirty="0" smtClean="0"/>
              <a:t>存在损耗</a:t>
            </a:r>
            <a:r>
              <a:rPr lang="zh-CN" altLang="zh-CN" sz="1800" dirty="0" smtClean="0"/>
              <a:t>，</a:t>
            </a:r>
            <a:r>
              <a:rPr lang="zh-CN" altLang="en-US" sz="1800" dirty="0" smtClean="0"/>
              <a:t>其</a:t>
            </a:r>
            <a:r>
              <a:rPr lang="zh-CN" altLang="zh-CN" sz="1800" dirty="0" smtClean="0"/>
              <a:t>输入端的阻抗不可能达到</a:t>
            </a:r>
            <a:r>
              <a:rPr lang="en-US" altLang="zh-CN" sz="1800" dirty="0" smtClean="0"/>
              <a:t>0</a:t>
            </a:r>
            <a:r>
              <a:rPr lang="zh-CN" altLang="zh-CN" sz="1800" dirty="0" smtClean="0"/>
              <a:t>，只要观察到一个极小值即可），此时电缆的长度就是该频率的四分之一波长，根据下列公式计算电缆长度</a:t>
            </a:r>
            <a:r>
              <a:rPr lang="zh-CN" altLang="en-US" sz="1800" dirty="0" smtClean="0"/>
              <a:t>（其中</a:t>
            </a:r>
            <a:r>
              <a:rPr lang="en-US" altLang="zh-CN" sz="1800" i="1" dirty="0" err="1" smtClean="0"/>
              <a:t>v</a:t>
            </a:r>
            <a:r>
              <a:rPr lang="en-US" altLang="zh-CN" sz="1800" i="1" baseline="-25000" dirty="0" err="1" smtClean="0"/>
              <a:t>p</a:t>
            </a:r>
            <a:r>
              <a:rPr lang="zh-CN" altLang="en-US" sz="1800" dirty="0" smtClean="0"/>
              <a:t>是该电缆内信号的相速度）</a:t>
            </a:r>
            <a:r>
              <a:rPr lang="zh-CN" altLang="zh-CN" sz="1800" dirty="0" smtClean="0"/>
              <a:t>：</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1175853178"/>
              </p:ext>
            </p:extLst>
          </p:nvPr>
        </p:nvGraphicFramePr>
        <p:xfrm>
          <a:off x="4840512" y="5152713"/>
          <a:ext cx="1603829" cy="777614"/>
        </p:xfrm>
        <a:graphic>
          <a:graphicData uri="http://schemas.openxmlformats.org/presentationml/2006/ole">
            <mc:AlternateContent xmlns:mc="http://schemas.openxmlformats.org/markup-compatibility/2006">
              <mc:Choice xmlns:v="urn:schemas-microsoft-com:vml" Requires="v">
                <p:oleObj spid="_x0000_s10381" name="Equation" r:id="rId4" imgW="837836" imgH="406224" progId="Equation.DSMT4">
                  <p:embed/>
                </p:oleObj>
              </mc:Choice>
              <mc:Fallback>
                <p:oleObj name="Equation" r:id="rId4" imgW="837836" imgH="406224"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0512" y="5152713"/>
                        <a:ext cx="1603829" cy="777614"/>
                      </a:xfrm>
                      <a:prstGeom prst="rect">
                        <a:avLst/>
                      </a:prstGeom>
                      <a:noFill/>
                    </p:spPr>
                  </p:pic>
                </p:oleObj>
              </mc:Fallback>
            </mc:AlternateContent>
          </a:graphicData>
        </a:graphic>
      </p:graphicFrame>
      <p:pic>
        <p:nvPicPr>
          <p:cNvPr id="12" name="图片 11"/>
          <p:cNvPicPr>
            <a:picLocks noChangeAspect="1"/>
          </p:cNvPicPr>
          <p:nvPr/>
        </p:nvPicPr>
        <p:blipFill>
          <a:blip r:embed="rId6"/>
          <a:stretch>
            <a:fillRect/>
          </a:stretch>
        </p:blipFill>
        <p:spPr>
          <a:xfrm>
            <a:off x="1954182" y="1220729"/>
            <a:ext cx="8744171" cy="1713858"/>
          </a:xfrm>
          <a:prstGeom prst="rect">
            <a:avLst/>
          </a:prstGeom>
        </p:spPr>
      </p:pic>
    </p:spTree>
    <p:extLst>
      <p:ext uri="{BB962C8B-B14F-4D97-AF65-F5344CB8AC3E}">
        <p14:creationId xmlns:p14="http://schemas.microsoft.com/office/powerpoint/2010/main" val="28354819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6" name="矩形 5"/>
          <p:cNvSpPr/>
          <p:nvPr/>
        </p:nvSpPr>
        <p:spPr>
          <a:xfrm>
            <a:off x="449943" y="474432"/>
            <a:ext cx="11371642" cy="2585323"/>
          </a:xfrm>
          <a:prstGeom prst="rect">
            <a:avLst/>
          </a:prstGeom>
        </p:spPr>
        <p:txBody>
          <a:bodyPr wrap="square">
            <a:spAutoFit/>
          </a:bodyPr>
          <a:lstStyle/>
          <a:p>
            <a:pPr indent="457200">
              <a:lnSpc>
                <a:spcPct val="150000"/>
              </a:lnSpc>
            </a:pPr>
            <a:r>
              <a:rPr lang="zh-CN" altLang="en-US" sz="1800" dirty="0" smtClean="0"/>
              <a:t>笔者实测了</a:t>
            </a:r>
            <a:r>
              <a:rPr lang="en-US" altLang="zh-CN" sz="1800" dirty="0" smtClean="0"/>
              <a:t>2</a:t>
            </a:r>
            <a:r>
              <a:rPr lang="zh-CN" altLang="en-US" sz="1800" dirty="0" smtClean="0"/>
              <a:t>根同轴电缆在终端开路时的输入端电压与频率的关系</a:t>
            </a:r>
            <a:endParaRPr lang="en-US" altLang="zh-CN" sz="1800" dirty="0" smtClean="0"/>
          </a:p>
          <a:p>
            <a:pPr indent="457200">
              <a:lnSpc>
                <a:spcPct val="150000"/>
              </a:lnSpc>
            </a:pPr>
            <a:r>
              <a:rPr lang="zh-CN" altLang="en-US" sz="1800" dirty="0"/>
              <a:t>测试电路</a:t>
            </a:r>
            <a:r>
              <a:rPr lang="zh-CN" altLang="en-US" sz="1800" dirty="0" smtClean="0"/>
              <a:t>中用高速运放</a:t>
            </a:r>
            <a:r>
              <a:rPr lang="en-US" altLang="zh-CN" sz="1800" dirty="0" smtClean="0"/>
              <a:t>OPA695</a:t>
            </a:r>
            <a:r>
              <a:rPr lang="zh-CN" altLang="en-US" sz="1800" dirty="0" smtClean="0"/>
              <a:t>作为缓冲放大器。该运放具有极高的带宽与很强的驱动能力（</a:t>
            </a:r>
            <a:r>
              <a:rPr lang="en-US" altLang="zh-CN" sz="1800" dirty="0" smtClean="0"/>
              <a:t>G=+2</a:t>
            </a:r>
            <a:r>
              <a:rPr lang="zh-CN" altLang="en-US" sz="1800" dirty="0" smtClean="0"/>
              <a:t>时的带宽为</a:t>
            </a:r>
            <a:r>
              <a:rPr lang="en-US" altLang="zh-CN" sz="1800" dirty="0" smtClean="0"/>
              <a:t>1400MHz</a:t>
            </a:r>
            <a:r>
              <a:rPr lang="zh-CN" altLang="en-US" sz="1800" dirty="0" smtClean="0"/>
              <a:t>，在</a:t>
            </a:r>
            <a:r>
              <a:rPr lang="en-US" altLang="zh-CN" sz="1800" dirty="0" smtClean="0"/>
              <a:t>100</a:t>
            </a:r>
            <a:r>
              <a:rPr lang="el-GR" altLang="zh-CN" sz="1800" dirty="0" smtClean="0">
                <a:latin typeface="Arial" panose="020B0604020202020204" pitchFamily="34" charset="0"/>
                <a:cs typeface="Times New Roman" panose="02020603050405020304" pitchFamily="18" charset="0"/>
              </a:rPr>
              <a:t>Ω</a:t>
            </a:r>
            <a:r>
              <a:rPr lang="zh-CN" altLang="en-US" sz="1800" dirty="0" smtClean="0">
                <a:latin typeface="Arial" panose="020B0604020202020204" pitchFamily="34" charset="0"/>
                <a:cs typeface="Times New Roman" panose="02020603050405020304" pitchFamily="18" charset="0"/>
              </a:rPr>
              <a:t>负载上的输出幅度可达</a:t>
            </a:r>
            <a:r>
              <a:rPr lang="en-US" altLang="zh-CN" sz="1800" dirty="0" smtClean="0">
                <a:latin typeface="Arial" panose="020B0604020202020204" pitchFamily="34" charset="0"/>
                <a:cs typeface="Times New Roman" panose="02020603050405020304" pitchFamily="18" charset="0"/>
              </a:rPr>
              <a:t>3</a:t>
            </a:r>
            <a:r>
              <a:rPr lang="en-US" altLang="zh-CN" sz="1800" dirty="0" smtClean="0">
                <a:latin typeface="Arial" panose="020B0604020202020204" pitchFamily="34" charset="0"/>
              </a:rPr>
              <a:t>.7V</a:t>
            </a:r>
            <a:r>
              <a:rPr lang="zh-CN" altLang="en-US" sz="1800" dirty="0" smtClean="0">
                <a:latin typeface="Arial" panose="020B0604020202020204" pitchFamily="34" charset="0"/>
              </a:rPr>
              <a:t>），适合本题的驱动需求。</a:t>
            </a:r>
            <a:endParaRPr lang="en-US" altLang="zh-CN" sz="1800" dirty="0">
              <a:latin typeface="Arial" panose="020B0604020202020204" pitchFamily="34" charset="0"/>
            </a:endParaRPr>
          </a:p>
          <a:p>
            <a:pPr indent="457200">
              <a:lnSpc>
                <a:spcPct val="150000"/>
              </a:lnSpc>
            </a:pPr>
            <a:r>
              <a:rPr lang="zh-CN" altLang="en-US" sz="1800" dirty="0" smtClean="0"/>
              <a:t>采用缓冲放大器的</a:t>
            </a:r>
            <a:r>
              <a:rPr lang="zh-CN" altLang="en-US" sz="1800" dirty="0"/>
              <a:t>原因是</a:t>
            </a:r>
            <a:r>
              <a:rPr lang="zh-CN" altLang="en-US" sz="1800" dirty="0" smtClean="0"/>
              <a:t>：通常射频信号发生器</a:t>
            </a:r>
            <a:r>
              <a:rPr lang="zh-CN" altLang="en-US" sz="1800" dirty="0"/>
              <a:t>的输出阻抗均为</a:t>
            </a:r>
            <a:r>
              <a:rPr lang="en-US" altLang="zh-CN" sz="1800" dirty="0"/>
              <a:t>50</a:t>
            </a:r>
            <a:r>
              <a:rPr lang="zh-CN" altLang="en-US" sz="1800" dirty="0"/>
              <a:t>欧</a:t>
            </a:r>
            <a:r>
              <a:rPr lang="zh-CN" altLang="en-US" sz="1800" dirty="0" smtClean="0"/>
              <a:t>，若直接与电缆连接，则在考虑</a:t>
            </a:r>
            <a:r>
              <a:rPr lang="zh-CN" altLang="en-US" sz="1800" dirty="0"/>
              <a:t>与电缆的阻抗匹配问题后</a:t>
            </a:r>
            <a:r>
              <a:rPr lang="zh-CN" altLang="en-US" sz="1800" dirty="0" smtClean="0"/>
              <a:t>无法在连接处增加</a:t>
            </a:r>
            <a:r>
              <a:rPr lang="zh-CN" altLang="en-US" sz="1800" dirty="0"/>
              <a:t>一个采样电阻</a:t>
            </a:r>
            <a:r>
              <a:rPr lang="zh-CN" altLang="en-US" sz="1800" dirty="0" smtClean="0"/>
              <a:t>。而采用的缓冲放大器</a:t>
            </a:r>
            <a:r>
              <a:rPr lang="zh-CN" altLang="en-US" sz="1800" dirty="0"/>
              <a:t>输出阻抗极低，串入</a:t>
            </a:r>
            <a:r>
              <a:rPr lang="en-US" altLang="zh-CN" sz="1800" dirty="0"/>
              <a:t>50</a:t>
            </a:r>
            <a:r>
              <a:rPr lang="zh-CN" altLang="en-US" sz="1800" dirty="0"/>
              <a:t>欧电阻后正好满足阻抗匹配</a:t>
            </a:r>
            <a:r>
              <a:rPr lang="zh-CN" altLang="en-US" sz="1800" dirty="0" smtClean="0"/>
              <a:t>。</a:t>
            </a:r>
            <a:endParaRPr lang="en-US" altLang="zh-CN" sz="1800" dirty="0" smtClean="0"/>
          </a:p>
        </p:txBody>
      </p:sp>
      <p:pic>
        <p:nvPicPr>
          <p:cNvPr id="8" name="图片 7"/>
          <p:cNvPicPr>
            <a:picLocks noChangeAspect="1"/>
          </p:cNvPicPr>
          <p:nvPr/>
        </p:nvPicPr>
        <p:blipFill>
          <a:blip r:embed="rId3"/>
          <a:stretch>
            <a:fillRect/>
          </a:stretch>
        </p:blipFill>
        <p:spPr>
          <a:xfrm>
            <a:off x="449943" y="3210417"/>
            <a:ext cx="6153754" cy="2838564"/>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8113" y="3210417"/>
            <a:ext cx="5562609" cy="2869135"/>
          </a:xfrm>
          <a:prstGeom prst="rect">
            <a:avLst/>
          </a:prstGeom>
        </p:spPr>
      </p:pic>
    </p:spTree>
    <p:extLst>
      <p:ext uri="{BB962C8B-B14F-4D97-AF65-F5344CB8AC3E}">
        <p14:creationId xmlns:p14="http://schemas.microsoft.com/office/powerpoint/2010/main" val="4128672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矩形 4"/>
          <p:cNvSpPr/>
          <p:nvPr/>
        </p:nvSpPr>
        <p:spPr>
          <a:xfrm>
            <a:off x="435429" y="369515"/>
            <a:ext cx="11502874" cy="923330"/>
          </a:xfrm>
          <a:prstGeom prst="rect">
            <a:avLst/>
          </a:prstGeom>
        </p:spPr>
        <p:txBody>
          <a:bodyPr wrap="square">
            <a:spAutoFit/>
          </a:bodyPr>
          <a:lstStyle/>
          <a:p>
            <a:pPr indent="457200">
              <a:lnSpc>
                <a:spcPct val="150000"/>
              </a:lnSpc>
            </a:pPr>
            <a:r>
              <a:rPr lang="zh-CN" altLang="en-US" sz="1800" dirty="0" smtClean="0">
                <a:latin typeface="Arial" panose="020B0604020202020204" pitchFamily="34" charset="0"/>
              </a:rPr>
              <a:t>测试过程：用信号发生器提供激励，用示波器测量</a:t>
            </a:r>
            <a:r>
              <a:rPr lang="en-US" altLang="zh-CN" sz="1800" dirty="0" smtClean="0">
                <a:latin typeface="Arial" panose="020B0604020202020204" pitchFamily="34" charset="0"/>
              </a:rPr>
              <a:t>V1</a:t>
            </a:r>
            <a:r>
              <a:rPr lang="zh-CN" altLang="en-US" sz="1800" dirty="0" smtClean="0">
                <a:latin typeface="Arial" panose="020B0604020202020204" pitchFamily="34" charset="0"/>
              </a:rPr>
              <a:t>与</a:t>
            </a:r>
            <a:r>
              <a:rPr lang="en-US" altLang="zh-CN" sz="1800" dirty="0" smtClean="0">
                <a:latin typeface="Arial" panose="020B0604020202020204" pitchFamily="34" charset="0"/>
              </a:rPr>
              <a:t>V2</a:t>
            </a:r>
            <a:r>
              <a:rPr lang="zh-CN" altLang="en-US" sz="1800" dirty="0">
                <a:latin typeface="Arial" panose="020B0604020202020204" pitchFamily="34" charset="0"/>
              </a:rPr>
              <a:t>。</a:t>
            </a:r>
            <a:r>
              <a:rPr lang="zh-CN" altLang="en-US" sz="1800" dirty="0" smtClean="0">
                <a:latin typeface="Arial" panose="020B0604020202020204" pitchFamily="34" charset="0"/>
              </a:rPr>
              <a:t>从低频开始逐渐提高激励信号频率，观察到</a:t>
            </a:r>
            <a:r>
              <a:rPr lang="en-US" altLang="zh-CN" sz="1800" dirty="0" smtClean="0">
                <a:latin typeface="Arial" panose="020B0604020202020204" pitchFamily="34" charset="0"/>
              </a:rPr>
              <a:t>V1</a:t>
            </a:r>
            <a:r>
              <a:rPr lang="zh-CN" altLang="en-US" sz="1800" dirty="0" smtClean="0">
                <a:latin typeface="Arial" panose="020B0604020202020204" pitchFamily="34" charset="0"/>
              </a:rPr>
              <a:t>基本不变，</a:t>
            </a:r>
            <a:r>
              <a:rPr lang="en-US" altLang="zh-CN" sz="1800" dirty="0" smtClean="0">
                <a:latin typeface="Arial" panose="020B0604020202020204" pitchFamily="34" charset="0"/>
              </a:rPr>
              <a:t>V2</a:t>
            </a:r>
            <a:r>
              <a:rPr lang="zh-CN" altLang="en-US" sz="1800" dirty="0" smtClean="0">
                <a:latin typeface="Arial" panose="020B0604020202020204" pitchFamily="34" charset="0"/>
              </a:rPr>
              <a:t>有很大的变化，最大的幅度接近</a:t>
            </a:r>
            <a:r>
              <a:rPr lang="en-US" altLang="zh-CN" sz="1800" dirty="0" smtClean="0">
                <a:latin typeface="Arial" panose="020B0604020202020204" pitchFamily="34" charset="0"/>
              </a:rPr>
              <a:t>V1</a:t>
            </a:r>
            <a:r>
              <a:rPr lang="zh-CN" altLang="en-US" sz="1800" dirty="0" smtClean="0">
                <a:latin typeface="Arial" panose="020B0604020202020204" pitchFamily="34" charset="0"/>
              </a:rPr>
              <a:t>，最小的幅度仅几百毫伏</a:t>
            </a:r>
            <a:endParaRPr lang="en-US" altLang="zh-CN" sz="1800" dirty="0">
              <a:latin typeface="Arial" panose="020B0604020202020204" pitchFamily="34"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1683453131"/>
              </p:ext>
            </p:extLst>
          </p:nvPr>
        </p:nvGraphicFramePr>
        <p:xfrm>
          <a:off x="493487" y="1356110"/>
          <a:ext cx="8128002" cy="1119149"/>
        </p:xfrm>
        <a:graphic>
          <a:graphicData uri="http://schemas.openxmlformats.org/drawingml/2006/table">
            <a:tbl>
              <a:tblPr firstRow="1" bandRow="1">
                <a:tableStyleId>{5C22544A-7EE6-4342-B048-85BDC9FD1C3A}</a:tableStyleId>
              </a:tblPr>
              <a:tblGrid>
                <a:gridCol w="718456">
                  <a:extLst>
                    <a:ext uri="{9D8B030D-6E8A-4147-A177-3AD203B41FA5}">
                      <a16:colId xmlns:a16="http://schemas.microsoft.com/office/drawing/2014/main" val="762427598"/>
                    </a:ext>
                  </a:extLst>
                </a:gridCol>
                <a:gridCol w="1770743">
                  <a:extLst>
                    <a:ext uri="{9D8B030D-6E8A-4147-A177-3AD203B41FA5}">
                      <a16:colId xmlns:a16="http://schemas.microsoft.com/office/drawing/2014/main" val="4111673287"/>
                    </a:ext>
                  </a:extLst>
                </a:gridCol>
                <a:gridCol w="1574802">
                  <a:extLst>
                    <a:ext uri="{9D8B030D-6E8A-4147-A177-3AD203B41FA5}">
                      <a16:colId xmlns:a16="http://schemas.microsoft.com/office/drawing/2014/main" val="3927922739"/>
                    </a:ext>
                  </a:extLst>
                </a:gridCol>
                <a:gridCol w="1354667">
                  <a:extLst>
                    <a:ext uri="{9D8B030D-6E8A-4147-A177-3AD203B41FA5}">
                      <a16:colId xmlns:a16="http://schemas.microsoft.com/office/drawing/2014/main" val="2752824403"/>
                    </a:ext>
                  </a:extLst>
                </a:gridCol>
                <a:gridCol w="1354667">
                  <a:extLst>
                    <a:ext uri="{9D8B030D-6E8A-4147-A177-3AD203B41FA5}">
                      <a16:colId xmlns:a16="http://schemas.microsoft.com/office/drawing/2014/main" val="3498350952"/>
                    </a:ext>
                  </a:extLst>
                </a:gridCol>
                <a:gridCol w="1354667">
                  <a:extLst>
                    <a:ext uri="{9D8B030D-6E8A-4147-A177-3AD203B41FA5}">
                      <a16:colId xmlns:a16="http://schemas.microsoft.com/office/drawing/2014/main" val="1409733322"/>
                    </a:ext>
                  </a:extLst>
                </a:gridCol>
              </a:tblGrid>
              <a:tr h="370840">
                <a:tc>
                  <a:txBody>
                    <a:bodyPr/>
                    <a:lstStyle/>
                    <a:p>
                      <a:pPr algn="ctr"/>
                      <a:r>
                        <a:rPr lang="zh-CN" altLang="en-US" dirty="0" smtClean="0"/>
                        <a:t>编号</a:t>
                      </a:r>
                      <a:endParaRPr lang="zh-CN" altLang="en-US" dirty="0"/>
                    </a:p>
                  </a:txBody>
                  <a:tcPr/>
                </a:tc>
                <a:tc>
                  <a:txBody>
                    <a:bodyPr/>
                    <a:lstStyle/>
                    <a:p>
                      <a:pPr algn="ctr"/>
                      <a:r>
                        <a:rPr lang="zh-CN" altLang="en-US" dirty="0" smtClean="0"/>
                        <a:t>电缆长度</a:t>
                      </a:r>
                      <a:r>
                        <a:rPr lang="en-US" altLang="zh-CN" dirty="0" smtClean="0"/>
                        <a:t>(m)</a:t>
                      </a:r>
                      <a:endParaRPr lang="zh-CN" altLang="en-US" dirty="0"/>
                    </a:p>
                  </a:txBody>
                  <a:tcPr/>
                </a:tc>
                <a:tc>
                  <a:txBody>
                    <a:bodyPr/>
                    <a:lstStyle/>
                    <a:p>
                      <a:pPr algn="ctr"/>
                      <a:r>
                        <a:rPr lang="en-US" altLang="zh-CN" i="1" dirty="0" smtClean="0"/>
                        <a:t>V</a:t>
                      </a:r>
                      <a:r>
                        <a:rPr lang="en-US" altLang="zh-CN" baseline="-25000" dirty="0" smtClean="0"/>
                        <a:t>1</a:t>
                      </a:r>
                      <a:r>
                        <a:rPr lang="zh-CN" altLang="en-US" dirty="0" smtClean="0"/>
                        <a:t>（</a:t>
                      </a:r>
                      <a:r>
                        <a:rPr lang="en-US" altLang="zh-CN" dirty="0" err="1" smtClean="0"/>
                        <a:t>Vp</a:t>
                      </a:r>
                      <a:r>
                        <a:rPr lang="en-US" altLang="zh-CN" dirty="0" smtClean="0"/>
                        <a:t>-p</a:t>
                      </a:r>
                      <a:r>
                        <a:rPr lang="zh-CN" altLang="en-US" dirty="0" smtClean="0"/>
                        <a:t>）</a:t>
                      </a:r>
                      <a:endParaRPr lang="zh-CN" altLang="en-US" dirty="0"/>
                    </a:p>
                  </a:txBody>
                  <a:tcPr/>
                </a:tc>
                <a:tc>
                  <a:txBody>
                    <a:bodyPr/>
                    <a:lstStyle/>
                    <a:p>
                      <a:pPr algn="ctr"/>
                      <a:r>
                        <a:rPr lang="en-US" altLang="zh-CN" i="1" dirty="0" smtClean="0"/>
                        <a:t>V</a:t>
                      </a:r>
                      <a:r>
                        <a:rPr lang="en-US" altLang="zh-CN" baseline="-25000" dirty="0" smtClean="0"/>
                        <a:t>2</a:t>
                      </a:r>
                      <a:r>
                        <a:rPr lang="zh-CN" altLang="en-US" dirty="0" smtClean="0"/>
                        <a:t>（</a:t>
                      </a:r>
                      <a:r>
                        <a:rPr lang="en-US" altLang="zh-CN" dirty="0" err="1" smtClean="0"/>
                        <a:t>mVp</a:t>
                      </a:r>
                      <a:r>
                        <a:rPr lang="en-US" altLang="zh-CN" dirty="0" smtClean="0"/>
                        <a:t>-p)</a:t>
                      </a:r>
                      <a:endParaRPr lang="zh-CN" altLang="en-US" dirty="0"/>
                    </a:p>
                  </a:txBody>
                  <a:tcPr/>
                </a:tc>
                <a:tc>
                  <a:txBody>
                    <a:bodyPr/>
                    <a:lstStyle/>
                    <a:p>
                      <a:pPr algn="ctr"/>
                      <a:r>
                        <a:rPr lang="en-US" altLang="zh-CN" i="1" dirty="0" smtClean="0"/>
                        <a:t>f </a:t>
                      </a:r>
                      <a:r>
                        <a:rPr lang="en-US" altLang="zh-CN" dirty="0" smtClean="0"/>
                        <a:t>(MHz)</a:t>
                      </a:r>
                      <a:endParaRPr lang="zh-CN" altLang="en-US" dirty="0"/>
                    </a:p>
                  </a:txBody>
                  <a:tcPr/>
                </a:tc>
                <a:tc>
                  <a:txBody>
                    <a:bodyPr/>
                    <a:lstStyle/>
                    <a:p>
                      <a:pPr algn="ctr"/>
                      <a:r>
                        <a:rPr lang="en-US" altLang="zh-CN" i="1" dirty="0" err="1" smtClean="0"/>
                        <a:t>v</a:t>
                      </a:r>
                      <a:r>
                        <a:rPr lang="en-US" altLang="zh-CN" i="1" baseline="-25000" dirty="0" err="1" smtClean="0"/>
                        <a:t>p</a:t>
                      </a:r>
                      <a:r>
                        <a:rPr lang="en-US" altLang="zh-CN" dirty="0" smtClean="0"/>
                        <a:t>(m/s)</a:t>
                      </a:r>
                      <a:endParaRPr lang="zh-CN" altLang="en-US" dirty="0"/>
                    </a:p>
                  </a:txBody>
                  <a:tcPr/>
                </a:tc>
                <a:extLst>
                  <a:ext uri="{0D108BD9-81ED-4DB2-BD59-A6C34878D82A}">
                    <a16:rowId xmlns:a16="http://schemas.microsoft.com/office/drawing/2014/main" val="1640142499"/>
                  </a:ext>
                </a:extLst>
              </a:tr>
              <a:tr h="370840">
                <a:tc>
                  <a:txBody>
                    <a:bodyPr/>
                    <a:lstStyle/>
                    <a:p>
                      <a:r>
                        <a:rPr lang="en-US" altLang="zh-CN" dirty="0" smtClean="0"/>
                        <a:t>1</a:t>
                      </a:r>
                      <a:endParaRPr lang="zh-CN" altLang="en-US" dirty="0"/>
                    </a:p>
                  </a:txBody>
                  <a:tcPr/>
                </a:tc>
                <a:tc>
                  <a:txBody>
                    <a:bodyPr/>
                    <a:lstStyle/>
                    <a:p>
                      <a:r>
                        <a:rPr lang="en-US" altLang="zh-CN" dirty="0" smtClean="0"/>
                        <a:t>1.57</a:t>
                      </a:r>
                      <a:endParaRPr lang="zh-CN" altLang="en-US" dirty="0"/>
                    </a:p>
                  </a:txBody>
                  <a:tcPr/>
                </a:tc>
                <a:tc>
                  <a:txBody>
                    <a:bodyPr/>
                    <a:lstStyle/>
                    <a:p>
                      <a:r>
                        <a:rPr lang="en-US" altLang="zh-CN" dirty="0" smtClean="0"/>
                        <a:t>4.5</a:t>
                      </a:r>
                      <a:endParaRPr lang="zh-CN" altLang="en-US" dirty="0"/>
                    </a:p>
                  </a:txBody>
                  <a:tcPr/>
                </a:tc>
                <a:tc>
                  <a:txBody>
                    <a:bodyPr/>
                    <a:lstStyle/>
                    <a:p>
                      <a:r>
                        <a:rPr lang="en-US" altLang="zh-CN" dirty="0" smtClean="0"/>
                        <a:t>150</a:t>
                      </a:r>
                      <a:endParaRPr lang="zh-CN" altLang="en-US" dirty="0"/>
                    </a:p>
                  </a:txBody>
                  <a:tcPr/>
                </a:tc>
                <a:tc>
                  <a:txBody>
                    <a:bodyPr/>
                    <a:lstStyle/>
                    <a:p>
                      <a:r>
                        <a:rPr lang="en-US" altLang="zh-CN" dirty="0" smtClean="0"/>
                        <a:t>28.9</a:t>
                      </a:r>
                      <a:endParaRPr lang="zh-CN" altLang="en-US" dirty="0"/>
                    </a:p>
                  </a:txBody>
                  <a:tcPr/>
                </a:tc>
                <a:tc>
                  <a:txBody>
                    <a:bodyPr/>
                    <a:lstStyle/>
                    <a:p>
                      <a:r>
                        <a:rPr lang="en-US" altLang="zh-CN" dirty="0" smtClean="0"/>
                        <a:t>1.81*10^8</a:t>
                      </a:r>
                      <a:endParaRPr lang="zh-CN" altLang="en-US" dirty="0"/>
                    </a:p>
                  </a:txBody>
                  <a:tcPr/>
                </a:tc>
                <a:extLst>
                  <a:ext uri="{0D108BD9-81ED-4DB2-BD59-A6C34878D82A}">
                    <a16:rowId xmlns:a16="http://schemas.microsoft.com/office/drawing/2014/main" val="2631778269"/>
                  </a:ext>
                </a:extLst>
              </a:tr>
              <a:tr h="377469">
                <a:tc>
                  <a:txBody>
                    <a:bodyPr/>
                    <a:lstStyle/>
                    <a:p>
                      <a:r>
                        <a:rPr lang="en-US" altLang="zh-CN" dirty="0" smtClean="0"/>
                        <a:t>2</a:t>
                      </a:r>
                      <a:endParaRPr lang="zh-CN" altLang="en-US" dirty="0"/>
                    </a:p>
                  </a:txBody>
                  <a:tcPr/>
                </a:tc>
                <a:tc>
                  <a:txBody>
                    <a:bodyPr/>
                    <a:lstStyle/>
                    <a:p>
                      <a:r>
                        <a:rPr lang="en-US" altLang="zh-CN" dirty="0" smtClean="0"/>
                        <a:t>2.01</a:t>
                      </a:r>
                      <a:endParaRPr lang="zh-CN" altLang="en-US" dirty="0"/>
                    </a:p>
                  </a:txBody>
                  <a:tcPr/>
                </a:tc>
                <a:tc>
                  <a:txBody>
                    <a:bodyPr/>
                    <a:lstStyle/>
                    <a:p>
                      <a:r>
                        <a:rPr lang="en-US" altLang="zh-CN" dirty="0" smtClean="0"/>
                        <a:t>4.5</a:t>
                      </a:r>
                      <a:endParaRPr lang="zh-CN" altLang="en-US" dirty="0"/>
                    </a:p>
                  </a:txBody>
                  <a:tcPr/>
                </a:tc>
                <a:tc>
                  <a:txBody>
                    <a:bodyPr/>
                    <a:lstStyle/>
                    <a:p>
                      <a:r>
                        <a:rPr lang="en-US" altLang="zh-CN" dirty="0" smtClean="0"/>
                        <a:t>150</a:t>
                      </a:r>
                      <a:endParaRPr lang="zh-CN" altLang="en-US" dirty="0"/>
                    </a:p>
                  </a:txBody>
                  <a:tcPr/>
                </a:tc>
                <a:tc>
                  <a:txBody>
                    <a:bodyPr/>
                    <a:lstStyle/>
                    <a:p>
                      <a:r>
                        <a:rPr lang="en-US" altLang="zh-CN" dirty="0" smtClean="0"/>
                        <a:t>23.4</a:t>
                      </a:r>
                      <a:endParaRPr lang="zh-CN" altLang="en-US" dirty="0"/>
                    </a:p>
                  </a:txBody>
                  <a:tcPr/>
                </a:tc>
                <a:tc>
                  <a:txBody>
                    <a:bodyPr/>
                    <a:lstStyle/>
                    <a:p>
                      <a:r>
                        <a:rPr lang="en-US" altLang="zh-CN" dirty="0" smtClean="0"/>
                        <a:t>1.88*10^8</a:t>
                      </a:r>
                      <a:endParaRPr lang="zh-CN" altLang="en-US" dirty="0"/>
                    </a:p>
                  </a:txBody>
                  <a:tcPr/>
                </a:tc>
                <a:extLst>
                  <a:ext uri="{0D108BD9-81ED-4DB2-BD59-A6C34878D82A}">
                    <a16:rowId xmlns:a16="http://schemas.microsoft.com/office/drawing/2014/main" val="2321282327"/>
                  </a:ext>
                </a:extLst>
              </a:tr>
            </a:tbl>
          </a:graphicData>
        </a:graphic>
      </p:graphicFrame>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99245" y="2612570"/>
            <a:ext cx="4933717" cy="3698841"/>
          </a:xfrm>
          <a:prstGeom prst="rect">
            <a:avLst/>
          </a:prstGeom>
        </p:spPr>
      </p:pic>
      <p:sp>
        <p:nvSpPr>
          <p:cNvPr id="8" name="文本框 7"/>
          <p:cNvSpPr txBox="1"/>
          <p:nvPr/>
        </p:nvSpPr>
        <p:spPr>
          <a:xfrm>
            <a:off x="493487" y="2475259"/>
            <a:ext cx="5979884" cy="3416320"/>
          </a:xfrm>
          <a:prstGeom prst="rect">
            <a:avLst/>
          </a:prstGeom>
          <a:noFill/>
        </p:spPr>
        <p:txBody>
          <a:bodyPr wrap="square" rtlCol="0">
            <a:spAutoFit/>
          </a:bodyPr>
          <a:lstStyle/>
          <a:p>
            <a:pPr indent="457200">
              <a:lnSpc>
                <a:spcPct val="150000"/>
              </a:lnSpc>
            </a:pPr>
            <a:r>
              <a:rPr lang="zh-CN" altLang="en-US" sz="1800" dirty="0" smtClean="0">
                <a:latin typeface="Arial" panose="020B0604020202020204" pitchFamily="34" charset="0"/>
              </a:rPr>
              <a:t>上表记录</a:t>
            </a:r>
            <a:r>
              <a:rPr lang="zh-CN" altLang="en-US" sz="1800" dirty="0">
                <a:latin typeface="Arial" panose="020B0604020202020204" pitchFamily="34" charset="0"/>
              </a:rPr>
              <a:t>了出现第一个</a:t>
            </a:r>
            <a:r>
              <a:rPr lang="en-US" altLang="zh-CN" sz="1800" dirty="0">
                <a:latin typeface="Arial" panose="020B0604020202020204" pitchFamily="34" charset="0"/>
              </a:rPr>
              <a:t>V2</a:t>
            </a:r>
            <a:r>
              <a:rPr lang="zh-CN" altLang="en-US" sz="1800" dirty="0">
                <a:latin typeface="Arial" panose="020B0604020202020204" pitchFamily="34" charset="0"/>
              </a:rPr>
              <a:t>极小值</a:t>
            </a:r>
            <a:r>
              <a:rPr lang="zh-CN" altLang="en-US" sz="1800" dirty="0" smtClean="0">
                <a:latin typeface="Arial" panose="020B0604020202020204" pitchFamily="34" charset="0"/>
              </a:rPr>
              <a:t>的信号频率</a:t>
            </a:r>
            <a:r>
              <a:rPr lang="zh-CN" altLang="en-US" sz="1800" dirty="0">
                <a:latin typeface="Arial" panose="020B0604020202020204" pitchFamily="34" charset="0"/>
              </a:rPr>
              <a:t>，</a:t>
            </a:r>
            <a:r>
              <a:rPr lang="zh-CN" altLang="en-US" sz="1800" dirty="0" smtClean="0">
                <a:latin typeface="Arial" panose="020B0604020202020204" pitchFamily="34" charset="0"/>
              </a:rPr>
              <a:t>然后</a:t>
            </a:r>
            <a:r>
              <a:rPr lang="zh-CN" altLang="en-US" sz="1800" dirty="0">
                <a:latin typeface="Arial" panose="020B0604020202020204" pitchFamily="34" charset="0"/>
              </a:rPr>
              <a:t>推</a:t>
            </a:r>
            <a:r>
              <a:rPr lang="zh-CN" altLang="en-US" sz="1800" dirty="0" smtClean="0">
                <a:latin typeface="Arial" panose="020B0604020202020204" pitchFamily="34" charset="0"/>
              </a:rPr>
              <a:t>算</a:t>
            </a:r>
            <a:r>
              <a:rPr lang="zh-CN" altLang="en-US" sz="1800" dirty="0">
                <a:latin typeface="Arial" panose="020B0604020202020204" pitchFamily="34" charset="0"/>
              </a:rPr>
              <a:t>该电缆内信号的</a:t>
            </a:r>
            <a:r>
              <a:rPr lang="zh-CN" altLang="en-US" sz="1800" dirty="0" smtClean="0">
                <a:latin typeface="Arial" panose="020B0604020202020204" pitchFamily="34" charset="0"/>
              </a:rPr>
              <a:t>相速度</a:t>
            </a:r>
            <a:endParaRPr lang="en-US" altLang="zh-CN" sz="1800" dirty="0" smtClean="0">
              <a:latin typeface="Arial" panose="020B0604020202020204" pitchFamily="34" charset="0"/>
            </a:endParaRPr>
          </a:p>
          <a:p>
            <a:pPr indent="457200">
              <a:lnSpc>
                <a:spcPct val="150000"/>
              </a:lnSpc>
            </a:pPr>
            <a:endParaRPr lang="en-US" altLang="zh-CN" sz="1800" dirty="0" smtClean="0">
              <a:latin typeface="Arial" panose="020B0604020202020204" pitchFamily="34" charset="0"/>
            </a:endParaRPr>
          </a:p>
          <a:p>
            <a:pPr indent="457200">
              <a:lnSpc>
                <a:spcPct val="150000"/>
              </a:lnSpc>
            </a:pPr>
            <a:r>
              <a:rPr lang="zh-CN" altLang="en-US" sz="1800" dirty="0" smtClean="0">
                <a:latin typeface="Arial" panose="020B0604020202020204" pitchFamily="34" charset="0"/>
              </a:rPr>
              <a:t>作为对比，对</a:t>
            </a:r>
            <a:r>
              <a:rPr lang="zh-CN" altLang="en-US" sz="1800" dirty="0">
                <a:latin typeface="Arial" panose="020B0604020202020204" pitchFamily="34" charset="0"/>
              </a:rPr>
              <a:t>其中</a:t>
            </a:r>
            <a:r>
              <a:rPr lang="en-US" altLang="zh-CN" sz="1800" dirty="0">
                <a:latin typeface="Arial" panose="020B0604020202020204" pitchFamily="34" charset="0"/>
              </a:rPr>
              <a:t>1</a:t>
            </a:r>
            <a:r>
              <a:rPr lang="zh-CN" altLang="en-US" sz="1800" dirty="0">
                <a:latin typeface="Arial" panose="020B0604020202020204" pitchFamily="34" charset="0"/>
              </a:rPr>
              <a:t>号电缆用</a:t>
            </a:r>
            <a:r>
              <a:rPr lang="zh-CN" altLang="en-US" sz="1800" dirty="0" smtClean="0">
                <a:latin typeface="Arial" panose="020B0604020202020204" pitchFamily="34" charset="0"/>
              </a:rPr>
              <a:t>网络分析仪测试</a:t>
            </a:r>
            <a:r>
              <a:rPr lang="en-US" altLang="zh-CN" sz="1800" dirty="0" smtClean="0">
                <a:latin typeface="Arial" panose="020B0604020202020204" pitchFamily="34" charset="0"/>
              </a:rPr>
              <a:t>S11</a:t>
            </a:r>
            <a:r>
              <a:rPr lang="zh-CN" altLang="en-US" sz="1800" dirty="0" smtClean="0">
                <a:latin typeface="Arial" panose="020B0604020202020204" pitchFamily="34" charset="0"/>
              </a:rPr>
              <a:t>，得到如右的</a:t>
            </a:r>
            <a:r>
              <a:rPr lang="en-US" altLang="zh-CN" sz="1800" dirty="0">
                <a:latin typeface="Arial" panose="020B0604020202020204" pitchFamily="34" charset="0"/>
              </a:rPr>
              <a:t>Smith</a:t>
            </a:r>
            <a:r>
              <a:rPr lang="zh-CN" altLang="en-US" sz="1800" dirty="0" smtClean="0">
                <a:latin typeface="Arial" panose="020B0604020202020204" pitchFamily="34" charset="0"/>
              </a:rPr>
              <a:t>圆图。其中起始</a:t>
            </a:r>
            <a:r>
              <a:rPr lang="zh-CN" altLang="en-US" sz="1800" dirty="0">
                <a:latin typeface="Arial" panose="020B0604020202020204" pitchFamily="34" charset="0"/>
              </a:rPr>
              <a:t>频率接近</a:t>
            </a:r>
            <a:r>
              <a:rPr lang="en-US" altLang="zh-CN" sz="1800" dirty="0">
                <a:latin typeface="Arial" panose="020B0604020202020204" pitchFamily="34" charset="0"/>
              </a:rPr>
              <a:t>0</a:t>
            </a:r>
            <a:r>
              <a:rPr lang="zh-CN" altLang="en-US" sz="1800" dirty="0">
                <a:latin typeface="Arial" panose="020B0604020202020204" pitchFamily="34" charset="0"/>
              </a:rPr>
              <a:t>，结束频率为</a:t>
            </a:r>
            <a:r>
              <a:rPr lang="en-US" altLang="zh-CN" sz="1800" dirty="0">
                <a:latin typeface="Arial" panose="020B0604020202020204" pitchFamily="34" charset="0"/>
              </a:rPr>
              <a:t>61.7MHz</a:t>
            </a:r>
            <a:r>
              <a:rPr lang="zh-CN" altLang="en-US" sz="1800" dirty="0" smtClean="0">
                <a:latin typeface="Arial" panose="020B0604020202020204" pitchFamily="34" charset="0"/>
              </a:rPr>
              <a:t>，曲线与横轴交点位置</a:t>
            </a:r>
            <a:r>
              <a:rPr lang="zh-CN" altLang="en-US" sz="1800" dirty="0">
                <a:latin typeface="Arial" panose="020B0604020202020204" pitchFamily="34" charset="0"/>
              </a:rPr>
              <a:t>就是四分之一波长</a:t>
            </a:r>
            <a:r>
              <a:rPr lang="zh-CN" altLang="en-US" sz="1800" dirty="0" smtClean="0">
                <a:latin typeface="Arial" panose="020B0604020202020204" pitchFamily="34" charset="0"/>
              </a:rPr>
              <a:t>，阻抗</a:t>
            </a:r>
            <a:r>
              <a:rPr lang="zh-CN" altLang="en-US" sz="1800" dirty="0">
                <a:latin typeface="Arial" panose="020B0604020202020204" pitchFamily="34" charset="0"/>
              </a:rPr>
              <a:t>接近</a:t>
            </a:r>
            <a:r>
              <a:rPr lang="en-US" altLang="zh-CN" sz="1800" dirty="0">
                <a:latin typeface="Arial" panose="020B0604020202020204" pitchFamily="34" charset="0"/>
              </a:rPr>
              <a:t>0</a:t>
            </a:r>
            <a:r>
              <a:rPr lang="zh-CN" altLang="en-US" sz="1800" dirty="0">
                <a:latin typeface="Arial" panose="020B0604020202020204" pitchFamily="34" charset="0"/>
              </a:rPr>
              <a:t>，</a:t>
            </a:r>
            <a:r>
              <a:rPr lang="zh-CN" altLang="en-US" sz="1800" dirty="0" smtClean="0">
                <a:latin typeface="Arial" panose="020B0604020202020204" pitchFamily="34" charset="0"/>
              </a:rPr>
              <a:t>频率为</a:t>
            </a:r>
            <a:r>
              <a:rPr lang="en-US" altLang="zh-CN" sz="1800" dirty="0" smtClean="0">
                <a:latin typeface="Arial" panose="020B0604020202020204" pitchFamily="34" charset="0"/>
              </a:rPr>
              <a:t>30.7MHz</a:t>
            </a:r>
            <a:r>
              <a:rPr lang="zh-CN" altLang="en-US" sz="1800" dirty="0" smtClean="0">
                <a:latin typeface="Arial" panose="020B0604020202020204" pitchFamily="34" charset="0"/>
              </a:rPr>
              <a:t>，推算相速度为</a:t>
            </a:r>
            <a:r>
              <a:rPr lang="en-US" altLang="zh-CN" sz="1800" dirty="0" smtClean="0">
                <a:latin typeface="Arial" panose="020B0604020202020204" pitchFamily="34" charset="0"/>
              </a:rPr>
              <a:t>1.93</a:t>
            </a:r>
            <a:r>
              <a:rPr lang="zh-CN" altLang="en-US" sz="1800" dirty="0" smtClean="0">
                <a:latin typeface="Arial" panose="020B0604020202020204" pitchFamily="34" charset="0"/>
              </a:rPr>
              <a:t>*</a:t>
            </a:r>
            <a:r>
              <a:rPr lang="en-US" altLang="zh-CN" sz="1800" dirty="0" smtClean="0">
                <a:latin typeface="Arial" panose="020B0604020202020204" pitchFamily="34" charset="0"/>
              </a:rPr>
              <a:t>10^8m/s</a:t>
            </a:r>
          </a:p>
          <a:p>
            <a:pPr indent="457200">
              <a:lnSpc>
                <a:spcPct val="150000"/>
              </a:lnSpc>
            </a:pPr>
            <a:r>
              <a:rPr lang="zh-CN" altLang="en-US" sz="1800" dirty="0" smtClean="0">
                <a:latin typeface="Arial" panose="020B0604020202020204" pitchFamily="34" charset="0"/>
              </a:rPr>
              <a:t>它</a:t>
            </a:r>
            <a:r>
              <a:rPr lang="zh-CN" altLang="en-US" sz="1800" dirty="0">
                <a:latin typeface="Arial" panose="020B0604020202020204" pitchFamily="34" charset="0"/>
              </a:rPr>
              <a:t>与我们的测试结果存在一定的</a:t>
            </a:r>
            <a:r>
              <a:rPr lang="zh-CN" altLang="en-US" sz="1800" dirty="0" smtClean="0">
                <a:latin typeface="Arial" panose="020B0604020202020204" pitchFamily="34" charset="0"/>
              </a:rPr>
              <a:t>偏差</a:t>
            </a:r>
            <a:endParaRPr lang="zh-CN" altLang="en-US" sz="1800" dirty="0">
              <a:latin typeface="Arial" panose="020B0604020202020204" pitchFamily="34" charset="0"/>
            </a:endParaRPr>
          </a:p>
        </p:txBody>
      </p:sp>
      <p:sp>
        <p:nvSpPr>
          <p:cNvPr id="9" name="椭圆 8"/>
          <p:cNvSpPr/>
          <p:nvPr/>
        </p:nvSpPr>
        <p:spPr>
          <a:xfrm>
            <a:off x="7699829" y="4210730"/>
            <a:ext cx="283028" cy="2892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82976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矩形 4"/>
          <p:cNvSpPr/>
          <p:nvPr/>
        </p:nvSpPr>
        <p:spPr>
          <a:xfrm>
            <a:off x="391886" y="536366"/>
            <a:ext cx="11306627" cy="341632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由实际测试结果得到几点重要信息</a:t>
            </a:r>
            <a:endParaRPr lang="en-US" altLang="zh-CN" sz="1800" dirty="0" smtClean="0"/>
          </a:p>
          <a:p>
            <a:pPr indent="457200">
              <a:lnSpc>
                <a:spcPct val="150000"/>
              </a:lnSpc>
            </a:pPr>
            <a:r>
              <a:rPr lang="en-US" altLang="zh-CN" sz="1800" dirty="0" smtClean="0"/>
              <a:t>1</a:t>
            </a:r>
            <a:r>
              <a:rPr lang="zh-CN" altLang="en-US" sz="1800" dirty="0" smtClean="0"/>
              <a:t>、市售同轴电缆的信号相速度大约在</a:t>
            </a:r>
            <a:r>
              <a:rPr lang="en-US" altLang="zh-CN" sz="1800" dirty="0" smtClean="0"/>
              <a:t>0.6c</a:t>
            </a:r>
            <a:r>
              <a:rPr lang="zh-CN" altLang="en-US" sz="1800" dirty="0" smtClean="0"/>
              <a:t>左右</a:t>
            </a:r>
            <a:endParaRPr lang="en-US" altLang="zh-CN" sz="1800" dirty="0" smtClean="0"/>
          </a:p>
          <a:p>
            <a:pPr indent="457200">
              <a:lnSpc>
                <a:spcPct val="150000"/>
              </a:lnSpc>
            </a:pPr>
            <a:r>
              <a:rPr lang="zh-CN" altLang="en-US" sz="1800" dirty="0" smtClean="0"/>
              <a:t>按照题目的要求，待测的同轴电缆长度为</a:t>
            </a:r>
            <a:r>
              <a:rPr lang="en-US" altLang="zh-CN" sz="1800" dirty="0" smtClean="0"/>
              <a:t>1m~20m</a:t>
            </a:r>
            <a:r>
              <a:rPr lang="zh-CN" altLang="en-US" sz="1800" dirty="0" smtClean="0"/>
              <a:t>，所以可以推算：按照我们测</a:t>
            </a:r>
            <a:r>
              <a:rPr lang="el-GR" altLang="zh-CN" sz="1800" dirty="0" smtClean="0">
                <a:latin typeface="+mj-lt"/>
                <a:cs typeface="Times New Roman" panose="02020603050405020304" pitchFamily="18" charset="0"/>
              </a:rPr>
              <a:t>λ</a:t>
            </a:r>
            <a:r>
              <a:rPr lang="en-US" altLang="zh-CN" sz="1800" dirty="0" smtClean="0">
                <a:latin typeface="+mj-lt"/>
                <a:cs typeface="Times New Roman" panose="02020603050405020304" pitchFamily="18" charset="0"/>
              </a:rPr>
              <a:t>/4</a:t>
            </a:r>
            <a:r>
              <a:rPr lang="zh-CN" altLang="en-US" sz="1800" dirty="0" smtClean="0">
                <a:latin typeface="+mj-lt"/>
                <a:cs typeface="Times New Roman" panose="02020603050405020304" pitchFamily="18" charset="0"/>
              </a:rPr>
              <a:t>的方法，需要的测试频率大致是</a:t>
            </a:r>
            <a:r>
              <a:rPr lang="en-US" altLang="zh-CN" sz="1800" dirty="0" smtClean="0">
                <a:latin typeface="+mj-lt"/>
                <a:cs typeface="Times New Roman" panose="02020603050405020304" pitchFamily="18" charset="0"/>
              </a:rPr>
              <a:t>2.25MHz~45MHz</a:t>
            </a:r>
            <a:r>
              <a:rPr lang="zh-CN" altLang="en-US" sz="1800" dirty="0" smtClean="0">
                <a:latin typeface="+mj-lt"/>
                <a:cs typeface="Times New Roman" panose="02020603050405020304" pitchFamily="18" charset="0"/>
              </a:rPr>
              <a:t>，实际可按</a:t>
            </a:r>
            <a:r>
              <a:rPr lang="en-US" altLang="zh-CN" sz="1800" dirty="0" smtClean="0">
                <a:latin typeface="+mj-lt"/>
                <a:cs typeface="Times New Roman" panose="02020603050405020304" pitchFamily="18" charset="0"/>
              </a:rPr>
              <a:t>2MHz~50MHz</a:t>
            </a:r>
            <a:r>
              <a:rPr lang="zh-CN" altLang="en-US" sz="1800" dirty="0" smtClean="0">
                <a:latin typeface="+mj-lt"/>
                <a:cs typeface="Times New Roman" panose="02020603050405020304" pitchFamily="18" charset="0"/>
              </a:rPr>
              <a:t>进行设计</a:t>
            </a:r>
            <a:endParaRPr lang="en-US" altLang="zh-CN" sz="1800" dirty="0" smtClean="0">
              <a:latin typeface="+mj-lt"/>
            </a:endParaRPr>
          </a:p>
          <a:p>
            <a:pPr indent="457200">
              <a:lnSpc>
                <a:spcPct val="150000"/>
              </a:lnSpc>
            </a:pPr>
            <a:r>
              <a:rPr lang="en-US" altLang="zh-CN" sz="1800" dirty="0" smtClean="0"/>
              <a:t>2</a:t>
            </a:r>
            <a:r>
              <a:rPr lang="zh-CN" altLang="en-US" sz="1800" dirty="0" smtClean="0"/>
              <a:t>、不同的电缆相速度有差异，而且我们的测量可能存在偏差，所以应该对特定电缆预先定标，才可能得到比较准确的测试结果</a:t>
            </a:r>
            <a:endParaRPr lang="en-US" altLang="zh-CN" sz="1800" dirty="0" smtClean="0">
              <a:latin typeface="+mn-ea"/>
            </a:endParaRPr>
          </a:p>
          <a:p>
            <a:pPr indent="457200">
              <a:lnSpc>
                <a:spcPct val="150000"/>
              </a:lnSpc>
            </a:pPr>
            <a:r>
              <a:rPr lang="en-US" altLang="zh-CN" sz="1800" dirty="0" smtClean="0">
                <a:latin typeface="+mn-ea"/>
              </a:rPr>
              <a:t>3</a:t>
            </a:r>
            <a:r>
              <a:rPr lang="zh-CN" altLang="en-US" sz="1800" dirty="0" smtClean="0">
                <a:latin typeface="+mn-ea"/>
              </a:rPr>
              <a:t>、待测电压</a:t>
            </a:r>
            <a:r>
              <a:rPr lang="en-US" altLang="zh-CN" sz="1800" dirty="0">
                <a:latin typeface="+mj-lt"/>
                <a:cs typeface="Times New Roman" panose="02020603050405020304" pitchFamily="18" charset="0"/>
              </a:rPr>
              <a:t>V2</a:t>
            </a:r>
            <a:r>
              <a:rPr lang="zh-CN" altLang="en-US" sz="1800" dirty="0">
                <a:latin typeface="+mj-lt"/>
                <a:cs typeface="Times New Roman" panose="02020603050405020304" pitchFamily="18" charset="0"/>
              </a:rPr>
              <a:t>的变化范围相当大，最大值近似等于</a:t>
            </a:r>
            <a:r>
              <a:rPr lang="en-US" altLang="zh-CN" sz="1800" dirty="0">
                <a:latin typeface="+mj-lt"/>
                <a:cs typeface="Times New Roman" panose="02020603050405020304" pitchFamily="18" charset="0"/>
              </a:rPr>
              <a:t>V1</a:t>
            </a:r>
            <a:r>
              <a:rPr lang="zh-CN" altLang="en-US" sz="1800" dirty="0">
                <a:latin typeface="+mj-lt"/>
                <a:cs typeface="Times New Roman" panose="02020603050405020304" pitchFamily="18" charset="0"/>
              </a:rPr>
              <a:t>，最小值仅为</a:t>
            </a:r>
            <a:r>
              <a:rPr lang="en-US" altLang="zh-CN" sz="1800" dirty="0">
                <a:latin typeface="+mj-lt"/>
                <a:cs typeface="Times New Roman" panose="02020603050405020304" pitchFamily="18" charset="0"/>
              </a:rPr>
              <a:t>V1</a:t>
            </a:r>
            <a:r>
              <a:rPr lang="zh-CN" altLang="en-US" sz="1800" dirty="0">
                <a:latin typeface="+mj-lt"/>
                <a:cs typeface="Times New Roman" panose="02020603050405020304" pitchFamily="18" charset="0"/>
              </a:rPr>
              <a:t>的</a:t>
            </a:r>
            <a:r>
              <a:rPr lang="en-US" altLang="zh-CN" sz="1800" dirty="0">
                <a:latin typeface="+mj-lt"/>
                <a:cs typeface="Times New Roman" panose="02020603050405020304" pitchFamily="18" charset="0"/>
              </a:rPr>
              <a:t>1/30</a:t>
            </a:r>
            <a:r>
              <a:rPr lang="zh-CN" altLang="en-US" sz="1800" dirty="0">
                <a:latin typeface="+mj-lt"/>
                <a:cs typeface="Times New Roman" panose="02020603050405020304" pitchFamily="18" charset="0"/>
              </a:rPr>
              <a:t>。所以想要获得比较精确的测试结果，除了所用的</a:t>
            </a:r>
            <a:r>
              <a:rPr lang="en-US" altLang="zh-CN" sz="1800" dirty="0">
                <a:latin typeface="+mj-lt"/>
                <a:cs typeface="Times New Roman" panose="02020603050405020304" pitchFamily="18" charset="0"/>
              </a:rPr>
              <a:t>ADC</a:t>
            </a:r>
            <a:r>
              <a:rPr lang="zh-CN" altLang="en-US" sz="1800" dirty="0" smtClean="0">
                <a:latin typeface="+mn-ea"/>
              </a:rPr>
              <a:t>必须具有较高的分辨率外，还可以在测试过程中适当改变测量</a:t>
            </a:r>
            <a:r>
              <a:rPr lang="en-US" altLang="zh-CN" sz="1800" dirty="0">
                <a:latin typeface="+mj-lt"/>
                <a:cs typeface="Times New Roman" panose="02020603050405020304" pitchFamily="18" charset="0"/>
              </a:rPr>
              <a:t>V2</a:t>
            </a:r>
            <a:r>
              <a:rPr lang="zh-CN" altLang="en-US" sz="1800" dirty="0" smtClean="0">
                <a:latin typeface="+mn-ea"/>
              </a:rPr>
              <a:t>的放大器增益</a:t>
            </a:r>
            <a:endParaRPr lang="en-US" altLang="zh-CN" sz="1800" dirty="0"/>
          </a:p>
        </p:txBody>
      </p:sp>
    </p:spTree>
    <p:extLst>
      <p:ext uri="{BB962C8B-B14F-4D97-AF65-F5344CB8AC3E}">
        <p14:creationId xmlns:p14="http://schemas.microsoft.com/office/powerpoint/2010/main" val="4086262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矩形 4"/>
          <p:cNvSpPr/>
          <p:nvPr/>
        </p:nvSpPr>
        <p:spPr>
          <a:xfrm>
            <a:off x="449943" y="463588"/>
            <a:ext cx="11371642" cy="5078313"/>
          </a:xfrm>
          <a:prstGeom prst="rect">
            <a:avLst/>
          </a:prstGeom>
        </p:spPr>
        <p:txBody>
          <a:bodyPr wrap="square">
            <a:spAutoFit/>
          </a:bodyPr>
          <a:lstStyle/>
          <a:p>
            <a:pPr>
              <a:lnSpc>
                <a:spcPct val="150000"/>
              </a:lnSpc>
            </a:pPr>
            <a:r>
              <a:rPr lang="en-US" altLang="zh-CN" sz="1800" dirty="0"/>
              <a:t>2</a:t>
            </a:r>
            <a:r>
              <a:rPr lang="zh-CN" altLang="en-US" sz="1800" dirty="0" smtClean="0"/>
              <a:t>、测试终端负载</a:t>
            </a:r>
          </a:p>
          <a:p>
            <a:pPr lvl="1">
              <a:lnSpc>
                <a:spcPct val="150000"/>
              </a:lnSpc>
            </a:pPr>
            <a:r>
              <a:rPr lang="zh-CN" altLang="en-US" sz="1800" dirty="0" smtClean="0"/>
              <a:t>保持电缆长度与</a:t>
            </a:r>
            <a:r>
              <a:rPr lang="zh-CN" altLang="zh-CN" sz="1800" dirty="0" smtClean="0"/>
              <a:t>测试频率</a:t>
            </a:r>
            <a:r>
              <a:rPr lang="en-US" altLang="zh-CN" sz="1800" i="1" dirty="0" err="1" smtClean="0"/>
              <a:t>f</a:t>
            </a:r>
            <a:r>
              <a:rPr lang="en-US" altLang="zh-CN" sz="1800" baseline="-25000" dirty="0" err="1" smtClean="0"/>
              <a:t>test</a:t>
            </a:r>
            <a:r>
              <a:rPr lang="zh-CN" altLang="en-US" sz="1800" dirty="0" smtClean="0"/>
              <a:t>不变，接入终端负载，根据两个电压 </a:t>
            </a:r>
            <a:r>
              <a:rPr lang="en-US" altLang="zh-CN" sz="1800" dirty="0" smtClean="0"/>
              <a:t>u1</a:t>
            </a:r>
            <a:r>
              <a:rPr lang="zh-CN" altLang="en-US" sz="1800" dirty="0" smtClean="0"/>
              <a:t>、</a:t>
            </a:r>
            <a:r>
              <a:rPr lang="en-US" altLang="zh-CN" sz="1800" dirty="0" smtClean="0"/>
              <a:t>u2 </a:t>
            </a:r>
            <a:r>
              <a:rPr lang="zh-CN" altLang="en-US" sz="1800" dirty="0" smtClean="0"/>
              <a:t>计算负载</a:t>
            </a:r>
            <a:endParaRPr lang="en-US" altLang="zh-CN" sz="1800" dirty="0" smtClean="0"/>
          </a:p>
          <a:p>
            <a:pPr lvl="1">
              <a:lnSpc>
                <a:spcPct val="150000"/>
              </a:lnSpc>
            </a:pPr>
            <a:endParaRPr lang="en-US" altLang="zh-CN" sz="1800" dirty="0" smtClean="0"/>
          </a:p>
          <a:p>
            <a:pPr lvl="1">
              <a:lnSpc>
                <a:spcPct val="150000"/>
              </a:lnSpc>
            </a:pPr>
            <a:r>
              <a:rPr lang="zh-CN" altLang="en-US" sz="1800" dirty="0" smtClean="0"/>
              <a:t>电缆输入端的复阻抗</a:t>
            </a:r>
            <a:endParaRPr lang="en-US" altLang="zh-CN" sz="1800" dirty="0" smtClean="0"/>
          </a:p>
          <a:p>
            <a:pPr lvl="1">
              <a:lnSpc>
                <a:spcPct val="150000"/>
              </a:lnSpc>
            </a:pPr>
            <a:endParaRPr lang="en-US" altLang="zh-CN" sz="1800" dirty="0"/>
          </a:p>
          <a:p>
            <a:pPr lvl="1">
              <a:lnSpc>
                <a:spcPct val="150000"/>
              </a:lnSpc>
            </a:pPr>
            <a:r>
              <a:rPr lang="el-GR" altLang="zh-CN" sz="1800" dirty="0" smtClean="0"/>
              <a:t>λ</a:t>
            </a:r>
            <a:r>
              <a:rPr lang="en-US" altLang="zh-CN" sz="1800" dirty="0" smtClean="0"/>
              <a:t>/4</a:t>
            </a:r>
            <a:r>
              <a:rPr lang="zh-CN" altLang="en-US" sz="1800" dirty="0" smtClean="0"/>
              <a:t>传输线的终端</a:t>
            </a:r>
            <a:r>
              <a:rPr lang="zh-CN" altLang="en-US" sz="1800" dirty="0" smtClean="0"/>
              <a:t>负载阻抗</a:t>
            </a:r>
            <a:endParaRPr lang="en-US" altLang="zh-CN" sz="1800" dirty="0" smtClean="0"/>
          </a:p>
          <a:p>
            <a:pPr lvl="1">
              <a:lnSpc>
                <a:spcPct val="150000"/>
              </a:lnSpc>
            </a:pPr>
            <a:endParaRPr lang="en-US" altLang="zh-CN" sz="1800" dirty="0"/>
          </a:p>
          <a:p>
            <a:pPr lvl="1">
              <a:lnSpc>
                <a:spcPct val="150000"/>
              </a:lnSpc>
            </a:pPr>
            <a:r>
              <a:rPr lang="zh-CN" altLang="en-US" sz="1800" dirty="0" smtClean="0"/>
              <a:t>设计中令 </a:t>
            </a:r>
            <a:r>
              <a:rPr lang="en-US" altLang="zh-CN" sz="1800" dirty="0" smtClean="0"/>
              <a:t>R=z</a:t>
            </a:r>
            <a:r>
              <a:rPr lang="en-US" altLang="zh-CN" sz="1800" baseline="-25000" dirty="0" smtClean="0"/>
              <a:t>0</a:t>
            </a:r>
            <a:r>
              <a:rPr lang="zh-CN" altLang="en-US" sz="1800" dirty="0" smtClean="0"/>
              <a:t>，则</a:t>
            </a:r>
            <a:endParaRPr lang="en-US" altLang="zh-CN" sz="1800" dirty="0" smtClean="0"/>
          </a:p>
          <a:p>
            <a:pPr lvl="1">
              <a:lnSpc>
                <a:spcPct val="150000"/>
              </a:lnSpc>
            </a:pPr>
            <a:endParaRPr lang="en-US" altLang="zh-CN" sz="1800" dirty="0"/>
          </a:p>
          <a:p>
            <a:pPr lvl="1">
              <a:lnSpc>
                <a:spcPct val="150000"/>
              </a:lnSpc>
            </a:pPr>
            <a:r>
              <a:rPr lang="zh-CN" altLang="en-US" sz="1800" dirty="0" smtClean="0"/>
              <a:t>若能测得此复阻抗，则可据此计算</a:t>
            </a:r>
            <a:r>
              <a:rPr lang="zh-CN" altLang="en-US" sz="1800" dirty="0" smtClean="0"/>
              <a:t>负载的</a:t>
            </a:r>
            <a:r>
              <a:rPr lang="zh-CN" altLang="en-US" sz="1800" dirty="0" smtClean="0"/>
              <a:t>电阻值、电容值或电感值</a:t>
            </a:r>
            <a:endParaRPr lang="en-US" altLang="zh-CN" sz="1800" dirty="0" smtClean="0"/>
          </a:p>
          <a:p>
            <a:pPr lvl="1">
              <a:lnSpc>
                <a:spcPct val="150000"/>
              </a:lnSpc>
            </a:pPr>
            <a:r>
              <a:rPr lang="zh-CN" altLang="en-US" sz="1800" dirty="0" smtClean="0">
                <a:solidFill>
                  <a:srgbClr val="FF0000"/>
                </a:solidFill>
              </a:rPr>
              <a:t>难点</a:t>
            </a:r>
            <a:endParaRPr lang="en-US" altLang="zh-CN" sz="1800" dirty="0" smtClean="0"/>
          </a:p>
          <a:p>
            <a:pPr lvl="1">
              <a:lnSpc>
                <a:spcPct val="150000"/>
              </a:lnSpc>
            </a:pPr>
            <a:r>
              <a:rPr lang="zh-CN" altLang="zh-CN" sz="1800" dirty="0" smtClean="0"/>
              <a:t>电压</a:t>
            </a:r>
            <a:r>
              <a:rPr lang="en-US" altLang="zh-CN" sz="1800" i="1" dirty="0"/>
              <a:t>u</a:t>
            </a:r>
            <a:r>
              <a:rPr lang="en-US" altLang="zh-CN" sz="1800" baseline="-25000" dirty="0"/>
              <a:t>1</a:t>
            </a:r>
            <a:r>
              <a:rPr lang="zh-CN" altLang="zh-CN" sz="1800" dirty="0"/>
              <a:t>、</a:t>
            </a:r>
            <a:r>
              <a:rPr lang="en-US" altLang="zh-CN" sz="1800" i="1" dirty="0"/>
              <a:t>u</a:t>
            </a:r>
            <a:r>
              <a:rPr lang="en-US" altLang="zh-CN" sz="1800" baseline="-25000" dirty="0"/>
              <a:t>2</a:t>
            </a:r>
            <a:r>
              <a:rPr lang="zh-CN" altLang="zh-CN" sz="1800" dirty="0"/>
              <a:t>都是复数</a:t>
            </a:r>
            <a:r>
              <a:rPr lang="zh-CN" altLang="zh-CN" sz="1800" dirty="0" smtClean="0"/>
              <a:t>，</a:t>
            </a:r>
            <a:r>
              <a:rPr lang="zh-CN" altLang="en-US" sz="1800" dirty="0" smtClean="0"/>
              <a:t>需要</a:t>
            </a:r>
            <a:r>
              <a:rPr lang="zh-CN" altLang="zh-CN" sz="1800" dirty="0" smtClean="0"/>
              <a:t>读取</a:t>
            </a:r>
            <a:r>
              <a:rPr lang="zh-CN" altLang="zh-CN" sz="1800" dirty="0"/>
              <a:t>它们的</a:t>
            </a:r>
            <a:r>
              <a:rPr lang="zh-CN" altLang="zh-CN" sz="1800" dirty="0" smtClean="0"/>
              <a:t>幅度</a:t>
            </a:r>
            <a:r>
              <a:rPr lang="zh-CN" altLang="en-US" sz="1800" dirty="0"/>
              <a:t>与</a:t>
            </a:r>
            <a:r>
              <a:rPr lang="zh-CN" altLang="zh-CN" sz="1800" dirty="0" smtClean="0"/>
              <a:t>相位</a:t>
            </a:r>
            <a:r>
              <a:rPr lang="zh-CN" altLang="en-US" sz="1800" dirty="0" smtClean="0"/>
              <a:t>，但是</a:t>
            </a:r>
            <a:r>
              <a:rPr lang="zh-CN" altLang="zh-CN" sz="1800" dirty="0" smtClean="0"/>
              <a:t>信号</a:t>
            </a:r>
            <a:r>
              <a:rPr lang="zh-CN" altLang="zh-CN" sz="1800" dirty="0"/>
              <a:t>频率比较高</a:t>
            </a:r>
            <a:r>
              <a:rPr lang="zh-CN" altLang="zh-CN" sz="1800" dirty="0" smtClean="0"/>
              <a:t>，</a:t>
            </a:r>
            <a:r>
              <a:rPr lang="zh-CN" altLang="en-US" sz="1800" dirty="0" smtClean="0"/>
              <a:t>难以</a:t>
            </a:r>
            <a:r>
              <a:rPr lang="zh-CN" altLang="zh-CN" sz="1800" dirty="0" smtClean="0"/>
              <a:t>直接</a:t>
            </a:r>
            <a:r>
              <a:rPr lang="en-US" altLang="zh-CN" sz="1800" dirty="0" smtClean="0"/>
              <a:t>ADC</a:t>
            </a:r>
            <a:r>
              <a:rPr lang="zh-CN" altLang="zh-CN" sz="1800" dirty="0" smtClean="0"/>
              <a:t>采样</a:t>
            </a:r>
            <a:endParaRPr lang="en-US" altLang="zh-CN" sz="1800" dirty="0"/>
          </a:p>
        </p:txBody>
      </p:sp>
      <p:sp>
        <p:nvSpPr>
          <p:cNvPr id="9" name="Rectangle 4"/>
          <p:cNvSpPr>
            <a:spLocks noChangeArrowheads="1"/>
          </p:cNvSpPr>
          <p:nvPr/>
        </p:nvSpPr>
        <p:spPr bwMode="auto">
          <a:xfrm>
            <a:off x="0" y="203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2135914005"/>
              </p:ext>
            </p:extLst>
          </p:nvPr>
        </p:nvGraphicFramePr>
        <p:xfrm>
          <a:off x="3298825" y="1613843"/>
          <a:ext cx="3559175" cy="746125"/>
        </p:xfrm>
        <a:graphic>
          <a:graphicData uri="http://schemas.openxmlformats.org/presentationml/2006/ole">
            <mc:AlternateContent xmlns:mc="http://schemas.openxmlformats.org/markup-compatibility/2006">
              <mc:Choice xmlns:v="urn:schemas-microsoft-com:vml" Requires="v">
                <p:oleObj spid="_x0000_s12524" name="Equation" r:id="rId3" imgW="1828800" imgH="380880" progId="Equation.DSMT4">
                  <p:embed/>
                </p:oleObj>
              </mc:Choice>
              <mc:Fallback>
                <p:oleObj name="Equation" r:id="rId3" imgW="1828800" imgH="380880" progId="Equation.DSMT4">
                  <p:embed/>
                  <p:pic>
                    <p:nvPicPr>
                      <p:cNvPr id="0" name="Object 11"/>
                      <p:cNvPicPr>
                        <a:picLocks noChangeAspect="1" noChangeArrowheads="1"/>
                      </p:cNvPicPr>
                      <p:nvPr/>
                    </p:nvPicPr>
                    <p:blipFill>
                      <a:blip r:embed="rId4"/>
                      <a:srcRect/>
                      <a:stretch>
                        <a:fillRect/>
                      </a:stretch>
                    </p:blipFill>
                    <p:spPr bwMode="auto">
                      <a:xfrm>
                        <a:off x="3298825" y="1613843"/>
                        <a:ext cx="3559175" cy="746125"/>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318929922"/>
              </p:ext>
            </p:extLst>
          </p:nvPr>
        </p:nvGraphicFramePr>
        <p:xfrm>
          <a:off x="3747865" y="2382264"/>
          <a:ext cx="2661094" cy="819832"/>
        </p:xfrm>
        <a:graphic>
          <a:graphicData uri="http://schemas.openxmlformats.org/presentationml/2006/ole">
            <mc:AlternateContent xmlns:mc="http://schemas.openxmlformats.org/markup-compatibility/2006">
              <mc:Choice xmlns:v="urn:schemas-microsoft-com:vml" Requires="v">
                <p:oleObj spid="_x0000_s12525" name="Equation" r:id="rId5" imgW="1244060" imgH="406224" progId="Equation.DSMT4">
                  <p:embed/>
                </p:oleObj>
              </mc:Choice>
              <mc:Fallback>
                <p:oleObj name="Equation" r:id="rId5" imgW="1244060" imgH="406224"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7865" y="2382264"/>
                        <a:ext cx="2661094" cy="819832"/>
                      </a:xfrm>
                      <a:prstGeom prst="rect">
                        <a:avLst/>
                      </a:prstGeom>
                      <a:no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743285045"/>
              </p:ext>
            </p:extLst>
          </p:nvPr>
        </p:nvGraphicFramePr>
        <p:xfrm>
          <a:off x="3481388" y="3230563"/>
          <a:ext cx="1793875" cy="768350"/>
        </p:xfrm>
        <a:graphic>
          <a:graphicData uri="http://schemas.openxmlformats.org/presentationml/2006/ole">
            <mc:AlternateContent xmlns:mc="http://schemas.openxmlformats.org/markup-compatibility/2006">
              <mc:Choice xmlns:v="urn:schemas-microsoft-com:vml" Requires="v">
                <p:oleObj spid="_x0000_s12526" name="Equation" r:id="rId7" imgW="838080" imgH="380880" progId="Equation.DSMT4">
                  <p:embed/>
                </p:oleObj>
              </mc:Choice>
              <mc:Fallback>
                <p:oleObj name="Equation" r:id="rId7" imgW="838080" imgH="380880" progId="Equation.DSMT4">
                  <p:embed/>
                  <p:pic>
                    <p:nvPicPr>
                      <p:cNvPr id="19" name="对象 18"/>
                      <p:cNvPicPr>
                        <a:picLocks noChangeAspect="1" noChangeArrowheads="1"/>
                      </p:cNvPicPr>
                      <p:nvPr/>
                    </p:nvPicPr>
                    <p:blipFill>
                      <a:blip r:embed="rId8"/>
                      <a:srcRect/>
                      <a:stretch>
                        <a:fillRect/>
                      </a:stretch>
                    </p:blipFill>
                    <p:spPr bwMode="auto">
                      <a:xfrm>
                        <a:off x="3481388" y="3230563"/>
                        <a:ext cx="1793875" cy="768350"/>
                      </a:xfrm>
                      <a:prstGeom prst="rect">
                        <a:avLst/>
                      </a:prstGeom>
                      <a:noFill/>
                    </p:spPr>
                  </p:pic>
                </p:oleObj>
              </mc:Fallback>
            </mc:AlternateContent>
          </a:graphicData>
        </a:graphic>
      </p:graphicFrame>
      <p:sp>
        <p:nvSpPr>
          <p:cNvPr id="6" name="矩形 5"/>
          <p:cNvSpPr/>
          <p:nvPr/>
        </p:nvSpPr>
        <p:spPr>
          <a:xfrm>
            <a:off x="3410857" y="3224393"/>
            <a:ext cx="1966686" cy="77457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650513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928705792"/>
              </p:ext>
            </p:extLst>
          </p:nvPr>
        </p:nvGraphicFramePr>
        <p:xfrm>
          <a:off x="1669028" y="2449739"/>
          <a:ext cx="6027597" cy="910318"/>
        </p:xfrm>
        <a:graphic>
          <a:graphicData uri="http://schemas.openxmlformats.org/presentationml/2006/ole">
            <mc:AlternateContent xmlns:mc="http://schemas.openxmlformats.org/markup-compatibility/2006">
              <mc:Choice xmlns:v="urn:schemas-microsoft-com:vml" Requires="v">
                <p:oleObj spid="_x0000_s29716" name="Equation" r:id="rId3" imgW="2958840" imgH="444240" progId="Equation.DSMT4">
                  <p:embed/>
                </p:oleObj>
              </mc:Choice>
              <mc:Fallback>
                <p:oleObj name="Equation" r:id="rId3" imgW="2958840" imgH="444240" progId="Equation.DSMT4">
                  <p:embed/>
                  <p:pic>
                    <p:nvPicPr>
                      <p:cNvPr id="16" name="对象 15"/>
                      <p:cNvPicPr>
                        <a:picLocks noChangeAspect="1" noChangeArrowheads="1"/>
                      </p:cNvPicPr>
                      <p:nvPr/>
                    </p:nvPicPr>
                    <p:blipFill>
                      <a:blip r:embed="rId4"/>
                      <a:srcRect/>
                      <a:stretch>
                        <a:fillRect/>
                      </a:stretch>
                    </p:blipFill>
                    <p:spPr bwMode="auto">
                      <a:xfrm>
                        <a:off x="1669028" y="2449739"/>
                        <a:ext cx="6027597" cy="910318"/>
                      </a:xfrm>
                      <a:prstGeom prst="rect">
                        <a:avLst/>
                      </a:prstGeom>
                      <a:noFill/>
                    </p:spPr>
                  </p:pic>
                </p:oleObj>
              </mc:Fallback>
            </mc:AlternateContent>
          </a:graphicData>
        </a:graphic>
      </p:graphicFrame>
      <p:sp>
        <p:nvSpPr>
          <p:cNvPr id="20" name="文本框 19"/>
          <p:cNvSpPr txBox="1"/>
          <p:nvPr/>
        </p:nvSpPr>
        <p:spPr>
          <a:xfrm>
            <a:off x="366484" y="635659"/>
            <a:ext cx="8102602" cy="1996700"/>
          </a:xfrm>
          <a:prstGeom prst="rect">
            <a:avLst/>
          </a:prstGeom>
          <a:noFill/>
        </p:spPr>
        <p:txBody>
          <a:bodyPr wrap="square" rtlCol="0">
            <a:spAutoFit/>
          </a:bodyPr>
          <a:lstStyle/>
          <a:p>
            <a:pPr>
              <a:lnSpc>
                <a:spcPct val="150000"/>
              </a:lnSpc>
            </a:pPr>
            <a:r>
              <a:rPr lang="zh-CN" altLang="en-US" sz="1800" dirty="0"/>
              <a:t>解决方法：作</a:t>
            </a:r>
            <a:r>
              <a:rPr lang="zh-CN" altLang="zh-CN" sz="1800" dirty="0"/>
              <a:t>信号变换</a:t>
            </a:r>
            <a:r>
              <a:rPr lang="zh-CN" altLang="en-US" sz="1800" dirty="0"/>
              <a:t>，将</a:t>
            </a:r>
            <a:r>
              <a:rPr lang="en-US" altLang="zh-CN" sz="1800" i="1" dirty="0"/>
              <a:t>u</a:t>
            </a:r>
            <a:r>
              <a:rPr lang="en-US" altLang="zh-CN" sz="1800" baseline="-25000" dirty="0"/>
              <a:t>2</a:t>
            </a:r>
            <a:r>
              <a:rPr lang="zh-CN" altLang="en-US" sz="1800" dirty="0"/>
              <a:t>投影到</a:t>
            </a:r>
            <a:r>
              <a:rPr lang="en-US" altLang="zh-CN" sz="1800" i="1" dirty="0"/>
              <a:t>u</a:t>
            </a:r>
            <a:r>
              <a:rPr lang="en-US" altLang="zh-CN" sz="1800" baseline="-25000" dirty="0"/>
              <a:t>1</a:t>
            </a:r>
          </a:p>
          <a:p>
            <a:pPr>
              <a:lnSpc>
                <a:spcPct val="150000"/>
              </a:lnSpc>
            </a:pPr>
            <a:r>
              <a:rPr lang="zh-CN" altLang="en-US" sz="1800" dirty="0" smtClean="0"/>
              <a:t>以</a:t>
            </a:r>
            <a:r>
              <a:rPr lang="en-US" altLang="zh-CN" sz="1800" i="1" dirty="0" smtClean="0"/>
              <a:t>u</a:t>
            </a:r>
            <a:r>
              <a:rPr lang="en-US" altLang="zh-CN" sz="1800" baseline="-25000" dirty="0" smtClean="0"/>
              <a:t>1</a:t>
            </a:r>
            <a:r>
              <a:rPr lang="zh-CN" altLang="en-US" sz="1800" dirty="0" smtClean="0"/>
              <a:t>为参照作坐标，</a:t>
            </a:r>
            <a:r>
              <a:rPr lang="zh-CN" altLang="en-US" sz="1800" dirty="0"/>
              <a:t>将</a:t>
            </a:r>
            <a:r>
              <a:rPr lang="en-US" altLang="zh-CN" sz="1800" i="1" dirty="0" smtClean="0"/>
              <a:t>u</a:t>
            </a:r>
            <a:r>
              <a:rPr lang="en-US" altLang="zh-CN" sz="1800" baseline="-25000" dirty="0" smtClean="0"/>
              <a:t>2</a:t>
            </a:r>
            <a:r>
              <a:rPr lang="zh-CN" altLang="en-US" sz="1800" dirty="0" smtClean="0"/>
              <a:t>按照</a:t>
            </a:r>
            <a:r>
              <a:rPr lang="zh-CN" altLang="en-US" sz="1800" dirty="0" smtClean="0"/>
              <a:t>上述坐标系展开为实部与虚部的</a:t>
            </a:r>
            <a:r>
              <a:rPr lang="zh-CN" altLang="en-US" sz="1800" dirty="0" smtClean="0"/>
              <a:t>形式</a:t>
            </a:r>
            <a:endParaRPr lang="en-US" altLang="zh-CN" sz="1800" dirty="0" smtClean="0"/>
          </a:p>
          <a:p>
            <a:pPr>
              <a:lnSpc>
                <a:spcPct val="150000"/>
              </a:lnSpc>
            </a:pPr>
            <a:endParaRPr lang="en-US" altLang="zh-CN" sz="1800" dirty="0"/>
          </a:p>
          <a:p>
            <a:pPr>
              <a:lnSpc>
                <a:spcPct val="150000"/>
              </a:lnSpc>
            </a:pPr>
            <a:endParaRPr lang="en-US" altLang="zh-CN" sz="1050" dirty="0" smtClean="0"/>
          </a:p>
          <a:p>
            <a:pPr>
              <a:lnSpc>
                <a:spcPct val="150000"/>
              </a:lnSpc>
            </a:pPr>
            <a:r>
              <a:rPr lang="zh-CN" altLang="en-US" sz="1800" dirty="0"/>
              <a:t>则</a:t>
            </a:r>
            <a:r>
              <a:rPr lang="zh-CN" altLang="en-US" sz="1800" dirty="0" smtClean="0"/>
              <a:t>有</a:t>
            </a:r>
            <a:endParaRPr lang="en-US" altLang="zh-CN" sz="1800" dirty="0" smtClean="0"/>
          </a:p>
        </p:txBody>
      </p:sp>
      <p:graphicFrame>
        <p:nvGraphicFramePr>
          <p:cNvPr id="22" name="对象 21"/>
          <p:cNvGraphicFramePr>
            <a:graphicFrameLocks noChangeAspect="1"/>
          </p:cNvGraphicFramePr>
          <p:nvPr>
            <p:extLst>
              <p:ext uri="{D42A27DB-BD31-4B8C-83A1-F6EECF244321}">
                <p14:modId xmlns:p14="http://schemas.microsoft.com/office/powerpoint/2010/main" val="641419741"/>
              </p:ext>
            </p:extLst>
          </p:nvPr>
        </p:nvGraphicFramePr>
        <p:xfrm>
          <a:off x="2706915" y="1657245"/>
          <a:ext cx="2825750" cy="409575"/>
        </p:xfrm>
        <a:graphic>
          <a:graphicData uri="http://schemas.openxmlformats.org/presentationml/2006/ole">
            <mc:AlternateContent xmlns:mc="http://schemas.openxmlformats.org/markup-compatibility/2006">
              <mc:Choice xmlns:v="urn:schemas-microsoft-com:vml" Requires="v">
                <p:oleObj spid="_x0000_s29717" name="Equation" r:id="rId5" imgW="1320480" imgH="203040" progId="Equation.DSMT4">
                  <p:embed/>
                </p:oleObj>
              </mc:Choice>
              <mc:Fallback>
                <p:oleObj name="Equation" r:id="rId5" imgW="1320480" imgH="203040" progId="Equation.DSMT4">
                  <p:embed/>
                  <p:pic>
                    <p:nvPicPr>
                      <p:cNvPr id="22" name="对象 21"/>
                      <p:cNvPicPr>
                        <a:picLocks noChangeAspect="1" noChangeArrowheads="1"/>
                      </p:cNvPicPr>
                      <p:nvPr/>
                    </p:nvPicPr>
                    <p:blipFill>
                      <a:blip r:embed="rId6"/>
                      <a:srcRect/>
                      <a:stretch>
                        <a:fillRect/>
                      </a:stretch>
                    </p:blipFill>
                    <p:spPr bwMode="auto">
                      <a:xfrm>
                        <a:off x="2706915" y="1657245"/>
                        <a:ext cx="2825750" cy="409575"/>
                      </a:xfrm>
                      <a:prstGeom prst="rect">
                        <a:avLst/>
                      </a:prstGeom>
                      <a:noFill/>
                    </p:spPr>
                  </p:pic>
                </p:oleObj>
              </mc:Fallback>
            </mc:AlternateContent>
          </a:graphicData>
        </a:graphic>
      </p:graphicFrame>
      <p:pic>
        <p:nvPicPr>
          <p:cNvPr id="11" name="图片 10"/>
          <p:cNvPicPr>
            <a:picLocks noChangeAspect="1"/>
          </p:cNvPicPr>
          <p:nvPr/>
        </p:nvPicPr>
        <p:blipFill>
          <a:blip r:embed="rId7"/>
          <a:stretch>
            <a:fillRect/>
          </a:stretch>
        </p:blipFill>
        <p:spPr>
          <a:xfrm>
            <a:off x="8738052" y="723815"/>
            <a:ext cx="2934505" cy="2141055"/>
          </a:xfrm>
          <a:prstGeom prst="rect">
            <a:avLst/>
          </a:prstGeom>
        </p:spPr>
      </p:pic>
      <p:sp>
        <p:nvSpPr>
          <p:cNvPr id="5" name="矩形 4"/>
          <p:cNvSpPr/>
          <p:nvPr/>
        </p:nvSpPr>
        <p:spPr>
          <a:xfrm>
            <a:off x="366484" y="3653945"/>
            <a:ext cx="6800057" cy="1477328"/>
          </a:xfrm>
          <a:prstGeom prst="rect">
            <a:avLst/>
          </a:prstGeom>
        </p:spPr>
        <p:txBody>
          <a:bodyPr wrap="square">
            <a:spAutoFit/>
          </a:bodyPr>
          <a:lstStyle/>
          <a:p>
            <a:r>
              <a:rPr lang="zh-CN" altLang="en-US" sz="1800" dirty="0" smtClean="0"/>
              <a:t>令信号发生器</a:t>
            </a:r>
            <a:r>
              <a:rPr lang="zh-CN" altLang="en-US" sz="1800" dirty="0"/>
              <a:t>产生</a:t>
            </a:r>
            <a:r>
              <a:rPr lang="zh-CN" altLang="en-US" sz="1800" dirty="0" smtClean="0"/>
              <a:t>正交信号</a:t>
            </a:r>
            <a:endParaRPr lang="en-US" altLang="zh-CN" sz="1800" dirty="0" smtClean="0"/>
          </a:p>
          <a:p>
            <a:endParaRPr lang="en-US" altLang="zh-CN" sz="1800" dirty="0"/>
          </a:p>
          <a:p>
            <a:endParaRPr lang="en-US" altLang="zh-CN" sz="1800" dirty="0" smtClean="0"/>
          </a:p>
          <a:p>
            <a:endParaRPr lang="en-US" altLang="zh-CN" sz="1800" dirty="0"/>
          </a:p>
          <a:p>
            <a:r>
              <a:rPr lang="zh-CN" altLang="en-US" sz="1800" dirty="0" smtClean="0"/>
              <a:t>将</a:t>
            </a:r>
            <a:r>
              <a:rPr lang="en-US" altLang="zh-CN" sz="1800" i="1" dirty="0"/>
              <a:t>u</a:t>
            </a:r>
            <a:r>
              <a:rPr lang="en-US" altLang="zh-CN" sz="1800" baseline="-25000" dirty="0"/>
              <a:t>2</a:t>
            </a:r>
            <a:r>
              <a:rPr lang="zh-CN" altLang="en-US" sz="1800" dirty="0" smtClean="0"/>
              <a:t>与此</a:t>
            </a:r>
            <a:r>
              <a:rPr lang="zh-CN" altLang="en-US" sz="1800" dirty="0"/>
              <a:t>信号</a:t>
            </a:r>
            <a:r>
              <a:rPr lang="zh-CN" altLang="en-US" sz="1800" dirty="0" smtClean="0"/>
              <a:t>正交相乘，即可得到需要的</a:t>
            </a:r>
            <a:r>
              <a:rPr lang="en-US" altLang="zh-CN" sz="1800" i="1" dirty="0"/>
              <a:t>u</a:t>
            </a:r>
            <a:r>
              <a:rPr lang="en-US" altLang="zh-CN" sz="1800" baseline="-25000" dirty="0"/>
              <a:t>2</a:t>
            </a:r>
            <a:r>
              <a:rPr lang="zh-CN" altLang="en-US" sz="1800" dirty="0" smtClean="0"/>
              <a:t>的实部与虚部</a:t>
            </a:r>
            <a:endParaRPr lang="zh-CN" altLang="en-US" sz="1800" dirty="0"/>
          </a:p>
        </p:txBody>
      </p:sp>
      <p:graphicFrame>
        <p:nvGraphicFramePr>
          <p:cNvPr id="14" name="对象 13"/>
          <p:cNvGraphicFramePr>
            <a:graphicFrameLocks noChangeAspect="1"/>
          </p:cNvGraphicFramePr>
          <p:nvPr>
            <p:extLst>
              <p:ext uri="{D42A27DB-BD31-4B8C-83A1-F6EECF244321}">
                <p14:modId xmlns:p14="http://schemas.microsoft.com/office/powerpoint/2010/main" val="2717421807"/>
              </p:ext>
            </p:extLst>
          </p:nvPr>
        </p:nvGraphicFramePr>
        <p:xfrm>
          <a:off x="2216262" y="4209550"/>
          <a:ext cx="1644538" cy="397430"/>
        </p:xfrm>
        <a:graphic>
          <a:graphicData uri="http://schemas.openxmlformats.org/presentationml/2006/ole">
            <mc:AlternateContent xmlns:mc="http://schemas.openxmlformats.org/markup-compatibility/2006">
              <mc:Choice xmlns:v="urn:schemas-microsoft-com:vml" Requires="v">
                <p:oleObj spid="_x0000_s29718" name="Equation" r:id="rId8" imgW="838080" imgH="203040" progId="Equation.DSMT4">
                  <p:embed/>
                </p:oleObj>
              </mc:Choice>
              <mc:Fallback>
                <p:oleObj name="Equation" r:id="rId8" imgW="838080" imgH="203040" progId="Equation.DSMT4">
                  <p:embed/>
                  <p:pic>
                    <p:nvPicPr>
                      <p:cNvPr id="19" name="对象 18"/>
                      <p:cNvPicPr>
                        <a:picLocks noChangeAspect="1" noChangeArrowheads="1"/>
                      </p:cNvPicPr>
                      <p:nvPr/>
                    </p:nvPicPr>
                    <p:blipFill>
                      <a:blip r:embed="rId9"/>
                      <a:srcRect/>
                      <a:stretch>
                        <a:fillRect/>
                      </a:stretch>
                    </p:blipFill>
                    <p:spPr bwMode="auto">
                      <a:xfrm>
                        <a:off x="2216262" y="4209550"/>
                        <a:ext cx="1644538" cy="397430"/>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68338002"/>
              </p:ext>
            </p:extLst>
          </p:nvPr>
        </p:nvGraphicFramePr>
        <p:xfrm>
          <a:off x="4417784" y="4023277"/>
          <a:ext cx="3437792" cy="671471"/>
        </p:xfrm>
        <a:graphic>
          <a:graphicData uri="http://schemas.openxmlformats.org/presentationml/2006/ole">
            <mc:AlternateContent xmlns:mc="http://schemas.openxmlformats.org/markup-compatibility/2006">
              <mc:Choice xmlns:v="urn:schemas-microsoft-com:vml" Requires="v">
                <p:oleObj spid="_x0000_s29719" name="Equation" r:id="rId10" imgW="1866600" imgH="355320" progId="Equation.DSMT4">
                  <p:embed/>
                </p:oleObj>
              </mc:Choice>
              <mc:Fallback>
                <p:oleObj name="Equation" r:id="rId10" imgW="1866600" imgH="355320" progId="Equation.DSMT4">
                  <p:embed/>
                  <p:pic>
                    <p:nvPicPr>
                      <p:cNvPr id="20" name="对象 19"/>
                      <p:cNvPicPr>
                        <a:picLocks noChangeAspect="1" noChangeArrowheads="1"/>
                      </p:cNvPicPr>
                      <p:nvPr/>
                    </p:nvPicPr>
                    <p:blipFill>
                      <a:blip r:embed="rId11"/>
                      <a:srcRect/>
                      <a:stretch>
                        <a:fillRect/>
                      </a:stretch>
                    </p:blipFill>
                    <p:spPr bwMode="auto">
                      <a:xfrm>
                        <a:off x="4417784" y="4023277"/>
                        <a:ext cx="3437792" cy="671471"/>
                      </a:xfrm>
                      <a:prstGeom prst="rect">
                        <a:avLst/>
                      </a:prstGeom>
                      <a:noFill/>
                    </p:spPr>
                  </p:pic>
                </p:oleObj>
              </mc:Fallback>
            </mc:AlternateContent>
          </a:graphicData>
        </a:graphic>
      </p:graphicFrame>
    </p:spTree>
    <p:extLst>
      <p:ext uri="{BB962C8B-B14F-4D97-AF65-F5344CB8AC3E}">
        <p14:creationId xmlns:p14="http://schemas.microsoft.com/office/powerpoint/2010/main" val="2296560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文本框 4"/>
          <p:cNvSpPr txBox="1"/>
          <p:nvPr/>
        </p:nvSpPr>
        <p:spPr>
          <a:xfrm>
            <a:off x="453571" y="619973"/>
            <a:ext cx="11284858" cy="1615827"/>
          </a:xfrm>
          <a:prstGeom prst="rect">
            <a:avLst/>
          </a:prstGeom>
          <a:noFill/>
        </p:spPr>
        <p:txBody>
          <a:bodyPr wrap="square" rtlCol="0">
            <a:spAutoFit/>
          </a:bodyPr>
          <a:lstStyle/>
          <a:p>
            <a:pPr>
              <a:lnSpc>
                <a:spcPct val="200000"/>
              </a:lnSpc>
            </a:pPr>
            <a:r>
              <a:rPr lang="zh-CN" altLang="en-US" sz="1800" dirty="0" smtClean="0"/>
              <a:t>信号发生器</a:t>
            </a:r>
            <a:r>
              <a:rPr lang="zh-CN" altLang="en-US" sz="1800" dirty="0"/>
              <a:t>产生正交信号</a:t>
            </a:r>
            <a:r>
              <a:rPr lang="zh-CN" altLang="en-US" sz="1800" dirty="0" smtClean="0"/>
              <a:t>：                         </a:t>
            </a:r>
            <a:r>
              <a:rPr lang="en-US" altLang="zh-CN" sz="1800" dirty="0" smtClean="0"/>
              <a:t>,</a:t>
            </a:r>
            <a:endParaRPr lang="en-US" altLang="zh-CN" sz="1800" dirty="0"/>
          </a:p>
          <a:p>
            <a:pPr>
              <a:lnSpc>
                <a:spcPct val="200000"/>
              </a:lnSpc>
            </a:pPr>
            <a:r>
              <a:rPr lang="zh-CN" altLang="en-US" sz="1800" dirty="0" smtClean="0"/>
              <a:t>电缆</a:t>
            </a:r>
            <a:r>
              <a:rPr lang="zh-CN" altLang="en-US" sz="1800" dirty="0"/>
              <a:t>输入端采样信号</a:t>
            </a:r>
            <a:r>
              <a:rPr lang="zh-CN" altLang="en-US" sz="1800" dirty="0" smtClean="0"/>
              <a:t>：</a:t>
            </a:r>
            <a:endParaRPr lang="en-US" altLang="zh-CN" sz="1800" dirty="0" smtClean="0"/>
          </a:p>
          <a:p>
            <a:pPr>
              <a:lnSpc>
                <a:spcPct val="150000"/>
              </a:lnSpc>
            </a:pPr>
            <a:r>
              <a:rPr lang="zh-CN" altLang="en-US" sz="1800" dirty="0" smtClean="0"/>
              <a:t>正交相乘</a:t>
            </a:r>
            <a:endParaRPr lang="zh-CN" altLang="en-US" sz="1800" dirty="0"/>
          </a:p>
        </p:txBody>
      </p:sp>
      <p:sp>
        <p:nvSpPr>
          <p:cNvPr id="13" name="Rectangle 7"/>
          <p:cNvSpPr>
            <a:spLocks noChangeArrowheads="1"/>
          </p:cNvSpPr>
          <p:nvPr/>
        </p:nvSpPr>
        <p:spPr bwMode="auto">
          <a:xfrm>
            <a:off x="0" y="406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700" b="0" i="0" u="none" strike="noStrike" cap="none" normalizeH="0" baseline="0" smtClean="0">
                <a:ln>
                  <a:noFill/>
                </a:ln>
                <a:solidFill>
                  <a:schemeClr val="tx1"/>
                </a:solidFill>
                <a:effectLst/>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9" name="对象 18"/>
          <p:cNvGraphicFramePr>
            <a:graphicFrameLocks noChangeAspect="1"/>
          </p:cNvGraphicFramePr>
          <p:nvPr>
            <p:extLst>
              <p:ext uri="{D42A27DB-BD31-4B8C-83A1-F6EECF244321}">
                <p14:modId xmlns:p14="http://schemas.microsoft.com/office/powerpoint/2010/main" val="1861910783"/>
              </p:ext>
            </p:extLst>
          </p:nvPr>
        </p:nvGraphicFramePr>
        <p:xfrm>
          <a:off x="3344636" y="832532"/>
          <a:ext cx="1524000" cy="368300"/>
        </p:xfrm>
        <a:graphic>
          <a:graphicData uri="http://schemas.openxmlformats.org/presentationml/2006/ole">
            <mc:AlternateContent xmlns:mc="http://schemas.openxmlformats.org/markup-compatibility/2006">
              <mc:Choice xmlns:v="urn:schemas-microsoft-com:vml" Requires="v">
                <p:oleObj spid="_x0000_s21691" name="Equation" r:id="rId3" imgW="838080" imgH="203040" progId="Equation.DSMT4">
                  <p:embed/>
                </p:oleObj>
              </mc:Choice>
              <mc:Fallback>
                <p:oleObj name="Equation" r:id="rId3" imgW="838080" imgH="203040" progId="Equation.DSMT4">
                  <p:embed/>
                  <p:pic>
                    <p:nvPicPr>
                      <p:cNvPr id="19" name="对象 18"/>
                      <p:cNvPicPr>
                        <a:picLocks noChangeAspect="1" noChangeArrowheads="1"/>
                      </p:cNvPicPr>
                      <p:nvPr/>
                    </p:nvPicPr>
                    <p:blipFill>
                      <a:blip r:embed="rId4"/>
                      <a:srcRect/>
                      <a:stretch>
                        <a:fillRect/>
                      </a:stretch>
                    </p:blipFill>
                    <p:spPr bwMode="auto">
                      <a:xfrm>
                        <a:off x="3344636" y="832532"/>
                        <a:ext cx="1524000" cy="368300"/>
                      </a:xfrm>
                      <a:prstGeom prst="rect">
                        <a:avLst/>
                      </a:prstGeom>
                      <a:noFill/>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4033903332"/>
              </p:ext>
            </p:extLst>
          </p:nvPr>
        </p:nvGraphicFramePr>
        <p:xfrm>
          <a:off x="5210175" y="723127"/>
          <a:ext cx="3121025" cy="609600"/>
        </p:xfrm>
        <a:graphic>
          <a:graphicData uri="http://schemas.openxmlformats.org/presentationml/2006/ole">
            <mc:AlternateContent xmlns:mc="http://schemas.openxmlformats.org/markup-compatibility/2006">
              <mc:Choice xmlns:v="urn:schemas-microsoft-com:vml" Requires="v">
                <p:oleObj spid="_x0000_s21692" name="Equation" r:id="rId5" imgW="1866600" imgH="355320" progId="Equation.DSMT4">
                  <p:embed/>
                </p:oleObj>
              </mc:Choice>
              <mc:Fallback>
                <p:oleObj name="Equation" r:id="rId5" imgW="1866600" imgH="355320" progId="Equation.DSMT4">
                  <p:embed/>
                  <p:pic>
                    <p:nvPicPr>
                      <p:cNvPr id="20" name="对象 19"/>
                      <p:cNvPicPr>
                        <a:picLocks noChangeAspect="1" noChangeArrowheads="1"/>
                      </p:cNvPicPr>
                      <p:nvPr/>
                    </p:nvPicPr>
                    <p:blipFill>
                      <a:blip r:embed="rId6"/>
                      <a:srcRect/>
                      <a:stretch>
                        <a:fillRect/>
                      </a:stretch>
                    </p:blipFill>
                    <p:spPr bwMode="auto">
                      <a:xfrm>
                        <a:off x="5210175" y="723127"/>
                        <a:ext cx="3121025" cy="609600"/>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977965054"/>
              </p:ext>
            </p:extLst>
          </p:nvPr>
        </p:nvGraphicFramePr>
        <p:xfrm>
          <a:off x="2908859" y="1395554"/>
          <a:ext cx="1865028" cy="351064"/>
        </p:xfrm>
        <a:graphic>
          <a:graphicData uri="http://schemas.openxmlformats.org/presentationml/2006/ole">
            <mc:AlternateContent xmlns:mc="http://schemas.openxmlformats.org/markup-compatibility/2006">
              <mc:Choice xmlns:v="urn:schemas-microsoft-com:vml" Requires="v">
                <p:oleObj spid="_x0000_s21693" name="Equation" r:id="rId7" imgW="1079032" imgH="203112" progId="Equation.DSMT4">
                  <p:embed/>
                </p:oleObj>
              </mc:Choice>
              <mc:Fallback>
                <p:oleObj name="Equation" r:id="rId7" imgW="1079032" imgH="203112" progId="Equation.DSMT4">
                  <p:embed/>
                  <p:pic>
                    <p:nvPicPr>
                      <p:cNvPr id="21" name="对象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8859" y="1395554"/>
                        <a:ext cx="1865028" cy="351064"/>
                      </a:xfrm>
                      <a:prstGeom prst="rect">
                        <a:avLst/>
                      </a:prstGeom>
                      <a:no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335662716"/>
              </p:ext>
            </p:extLst>
          </p:nvPr>
        </p:nvGraphicFramePr>
        <p:xfrm>
          <a:off x="905811" y="2289985"/>
          <a:ext cx="6276975" cy="1916112"/>
        </p:xfrm>
        <a:graphic>
          <a:graphicData uri="http://schemas.openxmlformats.org/presentationml/2006/ole">
            <mc:AlternateContent xmlns:mc="http://schemas.openxmlformats.org/markup-compatibility/2006">
              <mc:Choice xmlns:v="urn:schemas-microsoft-com:vml" Requires="v">
                <p:oleObj spid="_x0000_s21694" name="Equation" r:id="rId9" imgW="3517560" imgH="1066680" progId="Equation.DSMT4">
                  <p:embed/>
                </p:oleObj>
              </mc:Choice>
              <mc:Fallback>
                <p:oleObj name="Equation" r:id="rId9" imgW="3517560" imgH="1066680" progId="Equation.DSMT4">
                  <p:embed/>
                  <p:pic>
                    <p:nvPicPr>
                      <p:cNvPr id="22" name="对象 21"/>
                      <p:cNvPicPr>
                        <a:picLocks noChangeAspect="1" noChangeArrowheads="1"/>
                      </p:cNvPicPr>
                      <p:nvPr/>
                    </p:nvPicPr>
                    <p:blipFill>
                      <a:blip r:embed="rId10"/>
                      <a:srcRect/>
                      <a:stretch>
                        <a:fillRect/>
                      </a:stretch>
                    </p:blipFill>
                    <p:spPr bwMode="auto">
                      <a:xfrm>
                        <a:off x="905811" y="2289985"/>
                        <a:ext cx="6276975" cy="1916112"/>
                      </a:xfrm>
                      <a:prstGeom prst="rect">
                        <a:avLst/>
                      </a:prstGeom>
                      <a:noFill/>
                    </p:spPr>
                  </p:pic>
                </p:oleObj>
              </mc:Fallback>
            </mc:AlternateContent>
          </a:graphicData>
        </a:graphic>
      </p:graphicFrame>
      <p:sp>
        <p:nvSpPr>
          <p:cNvPr id="24" name="文本框 23"/>
          <p:cNvSpPr txBox="1"/>
          <p:nvPr/>
        </p:nvSpPr>
        <p:spPr>
          <a:xfrm>
            <a:off x="473830" y="4357838"/>
            <a:ext cx="2053771" cy="369332"/>
          </a:xfrm>
          <a:prstGeom prst="rect">
            <a:avLst/>
          </a:prstGeom>
          <a:noFill/>
        </p:spPr>
        <p:txBody>
          <a:bodyPr wrap="square" rtlCol="0">
            <a:spAutoFit/>
          </a:bodyPr>
          <a:lstStyle/>
          <a:p>
            <a:r>
              <a:rPr lang="zh-CN" altLang="en-US" sz="1800" dirty="0" smtClean="0"/>
              <a:t>其中的直流分量：</a:t>
            </a:r>
            <a:endParaRPr lang="zh-CN" altLang="en-US" sz="1800" dirty="0"/>
          </a:p>
        </p:txBody>
      </p:sp>
      <p:graphicFrame>
        <p:nvGraphicFramePr>
          <p:cNvPr id="25" name="对象 24"/>
          <p:cNvGraphicFramePr>
            <a:graphicFrameLocks noChangeAspect="1"/>
          </p:cNvGraphicFramePr>
          <p:nvPr>
            <p:extLst>
              <p:ext uri="{D42A27DB-BD31-4B8C-83A1-F6EECF244321}">
                <p14:modId xmlns:p14="http://schemas.microsoft.com/office/powerpoint/2010/main" val="2298888540"/>
              </p:ext>
            </p:extLst>
          </p:nvPr>
        </p:nvGraphicFramePr>
        <p:xfrm>
          <a:off x="887148" y="5049316"/>
          <a:ext cx="5164137" cy="639762"/>
        </p:xfrm>
        <a:graphic>
          <a:graphicData uri="http://schemas.openxmlformats.org/presentationml/2006/ole">
            <mc:AlternateContent xmlns:mc="http://schemas.openxmlformats.org/markup-compatibility/2006">
              <mc:Choice xmlns:v="urn:schemas-microsoft-com:vml" Requires="v">
                <p:oleObj spid="_x0000_s21695" name="Equation" r:id="rId11" imgW="2895480" imgH="355320" progId="Equation.DSMT4">
                  <p:embed/>
                </p:oleObj>
              </mc:Choice>
              <mc:Fallback>
                <p:oleObj name="Equation" r:id="rId11" imgW="2895480" imgH="355320" progId="Equation.DSMT4">
                  <p:embed/>
                  <p:pic>
                    <p:nvPicPr>
                      <p:cNvPr id="22" name="对象 21"/>
                      <p:cNvPicPr>
                        <a:picLocks noChangeAspect="1" noChangeArrowheads="1"/>
                      </p:cNvPicPr>
                      <p:nvPr/>
                    </p:nvPicPr>
                    <p:blipFill>
                      <a:blip r:embed="rId12"/>
                      <a:srcRect/>
                      <a:stretch>
                        <a:fillRect/>
                      </a:stretch>
                    </p:blipFill>
                    <p:spPr bwMode="auto">
                      <a:xfrm>
                        <a:off x="887148" y="5049316"/>
                        <a:ext cx="5164137" cy="639762"/>
                      </a:xfrm>
                      <a:prstGeom prst="rect">
                        <a:avLst/>
                      </a:prstGeom>
                      <a:noFill/>
                    </p:spPr>
                  </p:pic>
                </p:oleObj>
              </mc:Fallback>
            </mc:AlternateContent>
          </a:graphicData>
        </a:graphic>
      </p:graphicFrame>
      <p:sp>
        <p:nvSpPr>
          <p:cNvPr id="7" name="椭圆 6"/>
          <p:cNvSpPr/>
          <p:nvPr/>
        </p:nvSpPr>
        <p:spPr>
          <a:xfrm>
            <a:off x="1707026" y="5069739"/>
            <a:ext cx="801913" cy="581848"/>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627196" y="5737390"/>
            <a:ext cx="961571" cy="307777"/>
          </a:xfrm>
          <a:prstGeom prst="rect">
            <a:avLst/>
          </a:prstGeom>
          <a:noFill/>
        </p:spPr>
        <p:txBody>
          <a:bodyPr wrap="square" rtlCol="0">
            <a:spAutoFit/>
          </a:bodyPr>
          <a:lstStyle/>
          <a:p>
            <a:r>
              <a:rPr lang="en-US" altLang="zh-CN" sz="1400" dirty="0" smtClean="0">
                <a:solidFill>
                  <a:srgbClr val="FF0000"/>
                </a:solidFill>
              </a:rPr>
              <a:t>U2</a:t>
            </a:r>
            <a:r>
              <a:rPr lang="zh-CN" altLang="en-US" sz="1400" dirty="0" smtClean="0">
                <a:solidFill>
                  <a:srgbClr val="FF0000"/>
                </a:solidFill>
              </a:rPr>
              <a:t>实部</a:t>
            </a:r>
            <a:endParaRPr lang="zh-CN" altLang="en-US" sz="1400" dirty="0">
              <a:solidFill>
                <a:srgbClr val="FF0000"/>
              </a:solidFill>
            </a:endParaRPr>
          </a:p>
        </p:txBody>
      </p:sp>
      <p:sp>
        <p:nvSpPr>
          <p:cNvPr id="27" name="椭圆 26"/>
          <p:cNvSpPr/>
          <p:nvPr/>
        </p:nvSpPr>
        <p:spPr>
          <a:xfrm>
            <a:off x="3836395" y="5069739"/>
            <a:ext cx="801913" cy="581848"/>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3756565" y="5737390"/>
            <a:ext cx="961571" cy="307777"/>
          </a:xfrm>
          <a:prstGeom prst="rect">
            <a:avLst/>
          </a:prstGeom>
          <a:noFill/>
        </p:spPr>
        <p:txBody>
          <a:bodyPr wrap="square" rtlCol="0">
            <a:spAutoFit/>
          </a:bodyPr>
          <a:lstStyle/>
          <a:p>
            <a:r>
              <a:rPr lang="en-US" altLang="zh-CN" sz="1400" dirty="0" smtClean="0">
                <a:solidFill>
                  <a:srgbClr val="FF0000"/>
                </a:solidFill>
              </a:rPr>
              <a:t>U2</a:t>
            </a:r>
            <a:r>
              <a:rPr lang="zh-CN" altLang="en-US" sz="1400" dirty="0" smtClean="0">
                <a:solidFill>
                  <a:srgbClr val="FF0000"/>
                </a:solidFill>
              </a:rPr>
              <a:t>虚部</a:t>
            </a:r>
            <a:endParaRPr lang="zh-CN" altLang="en-US" sz="1400" dirty="0">
              <a:solidFill>
                <a:srgbClr val="FF0000"/>
              </a:solidFill>
            </a:endParaRPr>
          </a:p>
        </p:txBody>
      </p:sp>
      <p:pic>
        <p:nvPicPr>
          <p:cNvPr id="14" name="图片 13"/>
          <p:cNvPicPr>
            <a:picLocks noChangeAspect="1"/>
          </p:cNvPicPr>
          <p:nvPr/>
        </p:nvPicPr>
        <p:blipFill>
          <a:blip r:embed="rId13"/>
          <a:stretch>
            <a:fillRect/>
          </a:stretch>
        </p:blipFill>
        <p:spPr>
          <a:xfrm>
            <a:off x="7797129" y="1972427"/>
            <a:ext cx="4024456" cy="2343221"/>
          </a:xfrm>
          <a:prstGeom prst="rect">
            <a:avLst/>
          </a:prstGeom>
        </p:spPr>
      </p:pic>
      <p:sp>
        <p:nvSpPr>
          <p:cNvPr id="29" name="椭圆 28"/>
          <p:cNvSpPr/>
          <p:nvPr/>
        </p:nvSpPr>
        <p:spPr>
          <a:xfrm>
            <a:off x="5650329" y="5078273"/>
            <a:ext cx="456038" cy="581848"/>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405148" y="5737390"/>
            <a:ext cx="1310818" cy="307777"/>
          </a:xfrm>
          <a:prstGeom prst="rect">
            <a:avLst/>
          </a:prstGeom>
          <a:noFill/>
        </p:spPr>
        <p:txBody>
          <a:bodyPr wrap="square" rtlCol="0">
            <a:spAutoFit/>
          </a:bodyPr>
          <a:lstStyle/>
          <a:p>
            <a:r>
              <a:rPr lang="en-US" altLang="zh-CN" sz="1400" dirty="0" smtClean="0">
                <a:solidFill>
                  <a:srgbClr val="FF0000"/>
                </a:solidFill>
              </a:rPr>
              <a:t>U2</a:t>
            </a:r>
            <a:r>
              <a:rPr lang="zh-CN" altLang="en-US" sz="1400" dirty="0" smtClean="0">
                <a:solidFill>
                  <a:srgbClr val="FF0000"/>
                </a:solidFill>
              </a:rPr>
              <a:t>模的平方</a:t>
            </a:r>
            <a:endParaRPr lang="zh-CN" altLang="en-US" sz="1400" dirty="0">
              <a:solidFill>
                <a:srgbClr val="FF0000"/>
              </a:solidFill>
            </a:endParaRPr>
          </a:p>
        </p:txBody>
      </p:sp>
    </p:spTree>
    <p:extLst>
      <p:ext uri="{BB962C8B-B14F-4D97-AF65-F5344CB8AC3E}">
        <p14:creationId xmlns:p14="http://schemas.microsoft.com/office/powerpoint/2010/main" val="12379462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1494218400"/>
              </p:ext>
            </p:extLst>
          </p:nvPr>
        </p:nvGraphicFramePr>
        <p:xfrm>
          <a:off x="3737429" y="946585"/>
          <a:ext cx="2856367" cy="798286"/>
        </p:xfrm>
        <a:graphic>
          <a:graphicData uri="http://schemas.openxmlformats.org/presentationml/2006/ole">
            <mc:AlternateContent xmlns:mc="http://schemas.openxmlformats.org/markup-compatibility/2006">
              <mc:Choice xmlns:v="urn:schemas-microsoft-com:vml" Requires="v">
                <p:oleObj spid="_x0000_s20727" name="Equation" r:id="rId3" imgW="1447172" imgH="406224" progId="Equation.DSMT4">
                  <p:embed/>
                </p:oleObj>
              </mc:Choice>
              <mc:Fallback>
                <p:oleObj name="Equation" r:id="rId3" imgW="1447172" imgH="406224"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7429" y="946585"/>
                        <a:ext cx="2856367" cy="798286"/>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599120202"/>
              </p:ext>
            </p:extLst>
          </p:nvPr>
        </p:nvGraphicFramePr>
        <p:xfrm>
          <a:off x="2596016" y="1962555"/>
          <a:ext cx="5449887" cy="830263"/>
        </p:xfrm>
        <a:graphic>
          <a:graphicData uri="http://schemas.openxmlformats.org/presentationml/2006/ole">
            <mc:AlternateContent xmlns:mc="http://schemas.openxmlformats.org/markup-compatibility/2006">
              <mc:Choice xmlns:v="urn:schemas-microsoft-com:vml" Requires="v">
                <p:oleObj spid="_x0000_s20728" name="Equation" r:id="rId5" imgW="2933640" imgH="444240" progId="Equation.DSMT4">
                  <p:embed/>
                </p:oleObj>
              </mc:Choice>
              <mc:Fallback>
                <p:oleObj name="Equation" r:id="rId5" imgW="2933640" imgH="444240" progId="Equation.DSMT4">
                  <p:embed/>
                  <p:pic>
                    <p:nvPicPr>
                      <p:cNvPr id="15" name="对象 14"/>
                      <p:cNvPicPr>
                        <a:picLocks noChangeAspect="1" noChangeArrowheads="1"/>
                      </p:cNvPicPr>
                      <p:nvPr/>
                    </p:nvPicPr>
                    <p:blipFill>
                      <a:blip r:embed="rId6"/>
                      <a:srcRect/>
                      <a:stretch>
                        <a:fillRect/>
                      </a:stretch>
                    </p:blipFill>
                    <p:spPr bwMode="auto">
                      <a:xfrm>
                        <a:off x="2596016" y="1962555"/>
                        <a:ext cx="5449887" cy="830263"/>
                      </a:xfrm>
                      <a:prstGeom prst="rect">
                        <a:avLst/>
                      </a:prstGeom>
                      <a:noFill/>
                    </p:spPr>
                  </p:pic>
                </p:oleObj>
              </mc:Fallback>
            </mc:AlternateContent>
          </a:graphicData>
        </a:graphic>
      </p:graphicFrame>
      <p:sp>
        <p:nvSpPr>
          <p:cNvPr id="19" name="文本框 18"/>
          <p:cNvSpPr txBox="1"/>
          <p:nvPr/>
        </p:nvSpPr>
        <p:spPr>
          <a:xfrm>
            <a:off x="359228" y="489344"/>
            <a:ext cx="11284858" cy="457241"/>
          </a:xfrm>
          <a:prstGeom prst="rect">
            <a:avLst/>
          </a:prstGeom>
          <a:noFill/>
        </p:spPr>
        <p:txBody>
          <a:bodyPr wrap="square" rtlCol="0">
            <a:spAutoFit/>
          </a:bodyPr>
          <a:lstStyle/>
          <a:p>
            <a:pPr>
              <a:lnSpc>
                <a:spcPct val="150000"/>
              </a:lnSpc>
            </a:pPr>
            <a:r>
              <a:rPr lang="zh-CN" altLang="en-US" sz="1800" dirty="0" smtClean="0"/>
              <a:t>由此可得：</a:t>
            </a:r>
            <a:endParaRPr lang="zh-CN" altLang="en-US" sz="1800" dirty="0"/>
          </a:p>
        </p:txBody>
      </p:sp>
      <p:sp>
        <p:nvSpPr>
          <p:cNvPr id="11" name="文本框 10"/>
          <p:cNvSpPr txBox="1"/>
          <p:nvPr/>
        </p:nvSpPr>
        <p:spPr>
          <a:xfrm>
            <a:off x="381000" y="2950929"/>
            <a:ext cx="11263086" cy="2585323"/>
          </a:xfrm>
          <a:prstGeom prst="rect">
            <a:avLst/>
          </a:prstGeom>
          <a:noFill/>
        </p:spPr>
        <p:txBody>
          <a:bodyPr wrap="square" rtlCol="0">
            <a:spAutoFit/>
          </a:bodyPr>
          <a:lstStyle/>
          <a:p>
            <a:pPr>
              <a:lnSpc>
                <a:spcPct val="150000"/>
              </a:lnSpc>
            </a:pPr>
            <a:r>
              <a:rPr lang="zh-CN" altLang="en-US" sz="1800" dirty="0" smtClean="0"/>
              <a:t>题目要求的负载有电阻与电容两种，电阻</a:t>
            </a:r>
            <a:r>
              <a:rPr lang="en-US" altLang="zh-CN" sz="1800" dirty="0" smtClean="0"/>
              <a:t>10</a:t>
            </a:r>
            <a:r>
              <a:rPr lang="el-GR" altLang="zh-CN" sz="1800" dirty="0"/>
              <a:t>Ω</a:t>
            </a:r>
            <a:r>
              <a:rPr lang="en-US" altLang="zh-CN" sz="1800" dirty="0" smtClean="0"/>
              <a:t>~30</a:t>
            </a:r>
            <a:r>
              <a:rPr lang="el-GR" altLang="zh-CN" sz="1800" dirty="0" smtClean="0"/>
              <a:t>Ω</a:t>
            </a:r>
            <a:r>
              <a:rPr lang="zh-CN" altLang="en-US" sz="1800" dirty="0" smtClean="0"/>
              <a:t>，电容</a:t>
            </a:r>
            <a:r>
              <a:rPr lang="en-US" altLang="zh-CN" sz="1800" dirty="0" smtClean="0"/>
              <a:t>100pF~300pF</a:t>
            </a:r>
          </a:p>
          <a:p>
            <a:pPr>
              <a:lnSpc>
                <a:spcPct val="150000"/>
              </a:lnSpc>
            </a:pPr>
            <a:r>
              <a:rPr lang="zh-CN" altLang="en-US" sz="1800" dirty="0" smtClean="0"/>
              <a:t>前面已经讨论，测试频率范围为</a:t>
            </a:r>
            <a:r>
              <a:rPr lang="en-US" altLang="zh-CN" sz="1800" dirty="0" smtClean="0"/>
              <a:t>2MHz~50MHz</a:t>
            </a:r>
            <a:r>
              <a:rPr lang="zh-CN" altLang="en-US" sz="1800" dirty="0" smtClean="0"/>
              <a:t>，据此推算，电容的容抗的可能变化范围是</a:t>
            </a:r>
            <a:r>
              <a:rPr lang="en-US" altLang="zh-CN" sz="1800" dirty="0" smtClean="0"/>
              <a:t>10</a:t>
            </a:r>
            <a:r>
              <a:rPr lang="el-GR" altLang="zh-CN" sz="1800" dirty="0" smtClean="0"/>
              <a:t>Ω</a:t>
            </a:r>
            <a:r>
              <a:rPr lang="en-US" altLang="zh-CN" sz="1800" dirty="0" smtClean="0"/>
              <a:t>~800</a:t>
            </a:r>
            <a:r>
              <a:rPr lang="el-GR" altLang="zh-CN" sz="1800" dirty="0" smtClean="0"/>
              <a:t>Ω</a:t>
            </a:r>
            <a:endParaRPr lang="en-US" altLang="zh-CN" sz="1800" dirty="0" smtClean="0"/>
          </a:p>
          <a:p>
            <a:pPr>
              <a:lnSpc>
                <a:spcPct val="150000"/>
              </a:lnSpc>
            </a:pPr>
            <a:r>
              <a:rPr lang="zh-CN" altLang="en-US" sz="1800" dirty="0" smtClean="0"/>
              <a:t>将这些具体数值代入前面的公式，结果如下：</a:t>
            </a:r>
            <a:endParaRPr lang="en-US" altLang="zh-CN" sz="1800" dirty="0" smtClean="0"/>
          </a:p>
          <a:p>
            <a:pPr>
              <a:lnSpc>
                <a:spcPct val="150000"/>
              </a:lnSpc>
            </a:pPr>
            <a:r>
              <a:rPr lang="zh-CN" altLang="en-US" sz="1800" dirty="0" smtClean="0"/>
              <a:t>当被测负载是电阻时，</a:t>
            </a:r>
            <a:r>
              <a:rPr lang="en-US" altLang="zh-CN" sz="1800" dirty="0" smtClean="0"/>
              <a:t>I/S</a:t>
            </a:r>
            <a:r>
              <a:rPr lang="zh-CN" altLang="en-US" sz="1800" dirty="0" smtClean="0"/>
              <a:t> 的可能范围是</a:t>
            </a:r>
            <a:r>
              <a:rPr lang="en-US" altLang="zh-CN" sz="1800" dirty="0" smtClean="0"/>
              <a:t>1.2~1.6</a:t>
            </a:r>
            <a:r>
              <a:rPr lang="zh-CN" altLang="en-US" sz="1800" dirty="0" smtClean="0"/>
              <a:t>，</a:t>
            </a:r>
            <a:r>
              <a:rPr lang="en-US" altLang="zh-CN" sz="1800" dirty="0" smtClean="0"/>
              <a:t>Q/S</a:t>
            </a:r>
            <a:r>
              <a:rPr lang="zh-CN" altLang="en-US" sz="1800" dirty="0" smtClean="0"/>
              <a:t>近似为</a:t>
            </a:r>
            <a:r>
              <a:rPr lang="en-US" altLang="zh-CN" sz="1800" dirty="0" smtClean="0"/>
              <a:t>0</a:t>
            </a:r>
          </a:p>
          <a:p>
            <a:pPr>
              <a:lnSpc>
                <a:spcPct val="150000"/>
              </a:lnSpc>
            </a:pPr>
            <a:r>
              <a:rPr lang="zh-CN" altLang="en-US" sz="1800" dirty="0" smtClean="0"/>
              <a:t>当被测负载是电容时，</a:t>
            </a:r>
            <a:r>
              <a:rPr lang="en-US" altLang="zh-CN" sz="1800" dirty="0" smtClean="0"/>
              <a:t>I/S</a:t>
            </a:r>
            <a:r>
              <a:rPr lang="zh-CN" altLang="en-US" sz="1800" dirty="0" smtClean="0"/>
              <a:t> 近似为</a:t>
            </a:r>
            <a:r>
              <a:rPr lang="en-US" altLang="zh-CN" sz="1800" dirty="0" smtClean="0"/>
              <a:t>0</a:t>
            </a:r>
            <a:r>
              <a:rPr lang="zh-CN" altLang="en-US" sz="1800" dirty="0" smtClean="0"/>
              <a:t>，</a:t>
            </a:r>
            <a:r>
              <a:rPr lang="en-US" altLang="zh-CN" sz="1800" dirty="0" smtClean="0"/>
              <a:t>Q/S</a:t>
            </a:r>
            <a:r>
              <a:rPr lang="zh-CN" altLang="en-US" sz="1800" dirty="0" smtClean="0"/>
              <a:t> 的可能范围是</a:t>
            </a:r>
            <a:r>
              <a:rPr lang="en-US" altLang="zh-CN" sz="1800" dirty="0" smtClean="0"/>
              <a:t>0.2~16</a:t>
            </a:r>
          </a:p>
          <a:p>
            <a:pPr>
              <a:lnSpc>
                <a:spcPct val="150000"/>
              </a:lnSpc>
            </a:pPr>
            <a:r>
              <a:rPr lang="zh-CN" altLang="en-US" sz="1800" dirty="0" smtClean="0"/>
              <a:t>这些参数可以为后面的</a:t>
            </a:r>
            <a:r>
              <a:rPr lang="en-US" altLang="zh-CN" sz="1800" dirty="0" smtClean="0"/>
              <a:t>ADC</a:t>
            </a:r>
            <a:r>
              <a:rPr lang="zh-CN" altLang="en-US" sz="1800" dirty="0" smtClean="0"/>
              <a:t>等设计提供参考</a:t>
            </a:r>
            <a:endParaRPr lang="zh-CN" altLang="en-US" sz="1800" dirty="0"/>
          </a:p>
        </p:txBody>
      </p:sp>
    </p:spTree>
    <p:extLst>
      <p:ext uri="{BB962C8B-B14F-4D97-AF65-F5344CB8AC3E}">
        <p14:creationId xmlns:p14="http://schemas.microsoft.com/office/powerpoint/2010/main" val="23869256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sp>
        <p:nvSpPr>
          <p:cNvPr id="5" name="文本框 4"/>
          <p:cNvSpPr txBox="1"/>
          <p:nvPr/>
        </p:nvSpPr>
        <p:spPr>
          <a:xfrm>
            <a:off x="428171" y="471715"/>
            <a:ext cx="11284858" cy="4708981"/>
          </a:xfrm>
          <a:prstGeom prst="rect">
            <a:avLst/>
          </a:prstGeom>
          <a:noFill/>
        </p:spPr>
        <p:txBody>
          <a:bodyPr wrap="square" rtlCol="0">
            <a:spAutoFit/>
          </a:bodyPr>
          <a:lstStyle/>
          <a:p>
            <a:pPr>
              <a:lnSpc>
                <a:spcPct val="150000"/>
              </a:lnSpc>
            </a:pPr>
            <a:r>
              <a:rPr lang="zh-CN" altLang="en-US" sz="1800" dirty="0" smtClean="0">
                <a:solidFill>
                  <a:srgbClr val="FF0000"/>
                </a:solidFill>
              </a:rPr>
              <a:t>电路设计与制作：</a:t>
            </a:r>
            <a:endParaRPr lang="en-US" altLang="zh-CN" sz="1800" dirty="0" smtClean="0">
              <a:solidFill>
                <a:srgbClr val="FF0000"/>
              </a:solidFill>
            </a:endParaRPr>
          </a:p>
          <a:p>
            <a:pPr>
              <a:lnSpc>
                <a:spcPct val="150000"/>
              </a:lnSpc>
            </a:pPr>
            <a:r>
              <a:rPr lang="zh-CN" altLang="en-US" sz="1800" dirty="0" smtClean="0">
                <a:solidFill>
                  <a:srgbClr val="FF0000"/>
                </a:solidFill>
              </a:rPr>
              <a:t>模块一，高频扫频信号源</a:t>
            </a:r>
            <a:endParaRPr lang="en-US" altLang="zh-CN" sz="1800" dirty="0" smtClean="0">
              <a:solidFill>
                <a:srgbClr val="FF0000"/>
              </a:solidFill>
            </a:endParaRPr>
          </a:p>
          <a:p>
            <a:pPr marL="342900" indent="-342900">
              <a:lnSpc>
                <a:spcPct val="150000"/>
              </a:lnSpc>
              <a:buFont typeface="Arial" panose="020B0604020202020204" pitchFamily="34" charset="0"/>
              <a:buChar char="•"/>
            </a:pPr>
            <a:r>
              <a:rPr lang="zh-CN" altLang="en-US" sz="1800" dirty="0" smtClean="0"/>
              <a:t>频率要求</a:t>
            </a:r>
            <a:endParaRPr lang="en-US" altLang="zh-CN" sz="1800" dirty="0" smtClean="0"/>
          </a:p>
          <a:p>
            <a:pPr lvl="1">
              <a:lnSpc>
                <a:spcPct val="150000"/>
              </a:lnSpc>
            </a:pPr>
            <a:r>
              <a:rPr lang="zh-CN" altLang="en-US" sz="1800" dirty="0" smtClean="0">
                <a:latin typeface="+mn-ea"/>
                <a:ea typeface="+mn-ea"/>
              </a:rPr>
              <a:t>测试频率：</a:t>
            </a:r>
            <a:r>
              <a:rPr lang="en-US" altLang="zh-CN" sz="1800" dirty="0" smtClean="0">
                <a:latin typeface="+mj-lt"/>
                <a:ea typeface="+mn-ea"/>
              </a:rPr>
              <a:t>2MHz~50MHz</a:t>
            </a:r>
            <a:endParaRPr lang="en-US" altLang="zh-CN" sz="1800" dirty="0">
              <a:latin typeface="+mn-lt"/>
              <a:ea typeface="+mn-ea"/>
            </a:endParaRPr>
          </a:p>
          <a:p>
            <a:pPr marL="342900" indent="-342900">
              <a:lnSpc>
                <a:spcPct val="150000"/>
              </a:lnSpc>
              <a:buFont typeface="Arial" panose="020B0604020202020204" pitchFamily="34" charset="0"/>
              <a:buChar char="•"/>
            </a:pPr>
            <a:r>
              <a:rPr lang="zh-CN" altLang="en-US" sz="1800" dirty="0" smtClean="0"/>
              <a:t>精度要求</a:t>
            </a:r>
            <a:endParaRPr lang="en-US" altLang="zh-CN" sz="1800" dirty="0" smtClean="0"/>
          </a:p>
          <a:p>
            <a:pPr lvl="1">
              <a:lnSpc>
                <a:spcPct val="150000"/>
              </a:lnSpc>
            </a:pPr>
            <a:r>
              <a:rPr lang="zh-CN" altLang="en-US" sz="1800" dirty="0" smtClean="0"/>
              <a:t>题目要求电缆长度误差小于</a:t>
            </a:r>
            <a:r>
              <a:rPr lang="en-US" altLang="zh-CN" sz="1800" dirty="0" smtClean="0"/>
              <a:t>1%</a:t>
            </a:r>
            <a:r>
              <a:rPr lang="zh-CN" altLang="en-US" sz="1800" dirty="0" smtClean="0"/>
              <a:t>，长度与频率呈线性关系，所以要求频率精度优于</a:t>
            </a:r>
            <a:r>
              <a:rPr lang="en-US" altLang="zh-CN" sz="1800" dirty="0" smtClean="0"/>
              <a:t>1%</a:t>
            </a:r>
          </a:p>
          <a:p>
            <a:pPr marL="342900" indent="-342900">
              <a:lnSpc>
                <a:spcPct val="150000"/>
              </a:lnSpc>
              <a:buFont typeface="Arial" panose="020B0604020202020204" pitchFamily="34" charset="0"/>
              <a:buChar char="•"/>
            </a:pPr>
            <a:r>
              <a:rPr lang="zh-CN" altLang="en-US" sz="1800" dirty="0" smtClean="0"/>
              <a:t>幅度要求</a:t>
            </a:r>
            <a:endParaRPr lang="en-US" altLang="zh-CN" sz="1800" dirty="0" smtClean="0"/>
          </a:p>
          <a:p>
            <a:pPr lvl="1">
              <a:lnSpc>
                <a:spcPct val="150000"/>
              </a:lnSpc>
            </a:pPr>
            <a:r>
              <a:rPr lang="zh-CN" altLang="en-US" sz="1800" dirty="0" smtClean="0"/>
              <a:t>无严格要求，但要求是正弦波（谐波失真越小越好），且应该有正交输出</a:t>
            </a:r>
            <a:endParaRPr lang="en-US" altLang="zh-CN" sz="1800" dirty="0" smtClean="0"/>
          </a:p>
          <a:p>
            <a:pPr marL="342900" indent="-342900">
              <a:lnSpc>
                <a:spcPct val="150000"/>
              </a:lnSpc>
              <a:buFont typeface="Arial" panose="020B0604020202020204" pitchFamily="34" charset="0"/>
              <a:buChar char="•"/>
            </a:pPr>
            <a:r>
              <a:rPr lang="zh-CN" altLang="en-US" sz="1800" dirty="0" smtClean="0"/>
              <a:t>电路选择</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数字直接合成（</a:t>
            </a:r>
            <a:r>
              <a:rPr lang="en-US" altLang="zh-CN" sz="1800" dirty="0" smtClean="0"/>
              <a:t>DDS</a:t>
            </a:r>
            <a:r>
              <a:rPr lang="zh-CN" altLang="en-US" sz="1800" dirty="0" smtClean="0"/>
              <a:t>）：频率准确、步距极小、谐波失真极低，可以有正交输出</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锁相环频率合成器：频率准确、步距稍大、需要作一些处理才能得到正交信号输出</a:t>
            </a:r>
            <a:endParaRPr lang="en-US" altLang="zh-CN" sz="1800" dirty="0" smtClean="0"/>
          </a:p>
        </p:txBody>
      </p:sp>
    </p:spTree>
    <p:extLst>
      <p:ext uri="{BB962C8B-B14F-4D97-AF65-F5344CB8AC3E}">
        <p14:creationId xmlns:p14="http://schemas.microsoft.com/office/powerpoint/2010/main" val="3526567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45</a:t>
            </a:fld>
            <a:endParaRPr lang="en-US" altLang="zh-CN"/>
          </a:p>
        </p:txBody>
      </p:sp>
      <p:sp>
        <p:nvSpPr>
          <p:cNvPr id="2" name="文本框 1"/>
          <p:cNvSpPr txBox="1"/>
          <p:nvPr/>
        </p:nvSpPr>
        <p:spPr>
          <a:xfrm>
            <a:off x="424282" y="607274"/>
            <a:ext cx="11397303" cy="4662815"/>
          </a:xfrm>
          <a:prstGeom prst="rect">
            <a:avLst/>
          </a:prstGeom>
          <a:noFill/>
        </p:spPr>
        <p:txBody>
          <a:bodyPr wrap="square" rtlCol="0">
            <a:spAutoFit/>
          </a:bodyPr>
          <a:lstStyle/>
          <a:p>
            <a:pPr indent="457200">
              <a:lnSpc>
                <a:spcPct val="150000"/>
              </a:lnSpc>
            </a:pPr>
            <a:r>
              <a:rPr lang="en-US" altLang="zh-CN" sz="1800" dirty="0" smtClean="0"/>
              <a:t>DDS</a:t>
            </a:r>
            <a:r>
              <a:rPr lang="zh-CN" altLang="en-US" sz="1800" dirty="0" smtClean="0"/>
              <a:t>简介</a:t>
            </a:r>
            <a:endParaRPr lang="zh-CN" altLang="zh-CN" sz="1800" dirty="0"/>
          </a:p>
          <a:p>
            <a:pPr indent="457200">
              <a:lnSpc>
                <a:spcPct val="150000"/>
              </a:lnSpc>
            </a:pPr>
            <a:r>
              <a:rPr lang="en-US" altLang="zh-CN" sz="1800" dirty="0"/>
              <a:t>DDS</a:t>
            </a:r>
            <a:r>
              <a:rPr lang="zh-CN" altLang="en-US" sz="1800" dirty="0"/>
              <a:t>（数字直接合成，</a:t>
            </a:r>
            <a:r>
              <a:rPr lang="en-US" altLang="zh-CN" sz="1800" dirty="0"/>
              <a:t>digital direct synthesis</a:t>
            </a:r>
            <a:r>
              <a:rPr lang="zh-CN" altLang="en-US" sz="1800" dirty="0"/>
              <a:t>）的工作原理</a:t>
            </a:r>
            <a:endParaRPr lang="en-US" altLang="zh-CN" sz="1800" dirty="0"/>
          </a:p>
          <a:p>
            <a:pPr indent="457200">
              <a:lnSpc>
                <a:spcPct val="150000"/>
              </a:lnSpc>
            </a:pPr>
            <a:r>
              <a:rPr lang="zh-CN" altLang="zh-CN" sz="1800" dirty="0"/>
              <a:t>在一个数字存储器内预先存储了一个</a:t>
            </a:r>
            <a:r>
              <a:rPr lang="zh-CN" altLang="en-US" sz="1800" dirty="0"/>
              <a:t>正弦</a:t>
            </a:r>
            <a:r>
              <a:rPr lang="zh-CN" altLang="zh-CN" sz="1800" dirty="0"/>
              <a:t>信号周期的数字序列，然后通过频率十分精确的时钟</a:t>
            </a:r>
            <a:r>
              <a:rPr lang="zh-CN" altLang="en-US" sz="1800" dirty="0"/>
              <a:t>（石英晶体振荡器）</a:t>
            </a:r>
            <a:r>
              <a:rPr lang="zh-CN" altLang="zh-CN" sz="1800" dirty="0"/>
              <a:t>将它按顺序周而复始地重复读出，并通过</a:t>
            </a:r>
            <a:r>
              <a:rPr lang="en-US" altLang="zh-CN" sz="1800" dirty="0"/>
              <a:t>DAC</a:t>
            </a:r>
            <a:r>
              <a:rPr lang="zh-CN" altLang="zh-CN" sz="1800" dirty="0"/>
              <a:t>还原为模拟信号</a:t>
            </a:r>
            <a:r>
              <a:rPr lang="zh-CN" altLang="zh-CN" sz="1800" dirty="0" smtClean="0"/>
              <a:t>，可以</a:t>
            </a:r>
            <a:r>
              <a:rPr lang="zh-CN" altLang="zh-CN" sz="1800" dirty="0"/>
              <a:t>得到一个正弦波输出。由于时钟频率十分精确，所以此正弦波的频率亦十分精确。</a:t>
            </a:r>
          </a:p>
          <a:p>
            <a:pPr indent="457200">
              <a:lnSpc>
                <a:spcPct val="150000"/>
              </a:lnSpc>
            </a:pPr>
            <a:r>
              <a:rPr lang="zh-CN" altLang="zh-CN" sz="1800" dirty="0"/>
              <a:t>如果对预先存储的正弦信号不是完全按顺序</a:t>
            </a:r>
            <a:r>
              <a:rPr lang="zh-CN" altLang="en-US" sz="1800" dirty="0"/>
              <a:t>（即每个时钟</a:t>
            </a:r>
            <a:r>
              <a:rPr lang="en-US" altLang="zh-CN" sz="1800" dirty="0"/>
              <a:t>+1</a:t>
            </a:r>
            <a:r>
              <a:rPr lang="zh-CN" altLang="en-US" sz="1800" dirty="0"/>
              <a:t>）</a:t>
            </a:r>
            <a:r>
              <a:rPr lang="zh-CN" altLang="zh-CN" sz="1800" dirty="0"/>
              <a:t>读出，而是</a:t>
            </a:r>
            <a:r>
              <a:rPr lang="zh-CN" altLang="en-US" sz="1800" dirty="0"/>
              <a:t>每个时钟</a:t>
            </a:r>
            <a:r>
              <a:rPr lang="en-US" altLang="zh-CN" sz="1800" dirty="0"/>
              <a:t>+n</a:t>
            </a:r>
            <a:r>
              <a:rPr lang="zh-CN" altLang="zh-CN" sz="1800" dirty="0"/>
              <a:t>，则输出的正弦信号周期将改变。例如，按照每次</a:t>
            </a:r>
            <a:r>
              <a:rPr lang="en-US" altLang="zh-CN" sz="1800" dirty="0"/>
              <a:t>+2</a:t>
            </a:r>
            <a:r>
              <a:rPr lang="zh-CN" altLang="zh-CN" sz="1800" dirty="0"/>
              <a:t>（即按照</a:t>
            </a:r>
            <a:r>
              <a:rPr lang="en-US" altLang="zh-CN" sz="1800" dirty="0"/>
              <a:t>1</a:t>
            </a:r>
            <a:r>
              <a:rPr lang="zh-CN" altLang="zh-CN" sz="1800" dirty="0"/>
              <a:t>、</a:t>
            </a:r>
            <a:r>
              <a:rPr lang="en-US" altLang="zh-CN" sz="1800" dirty="0"/>
              <a:t>3</a:t>
            </a:r>
            <a:r>
              <a:rPr lang="zh-CN" altLang="zh-CN" sz="1800" dirty="0"/>
              <a:t>、</a:t>
            </a:r>
            <a:r>
              <a:rPr lang="en-US" altLang="zh-CN" sz="1800" dirty="0"/>
              <a:t>5</a:t>
            </a:r>
            <a:r>
              <a:rPr lang="zh-CN" altLang="zh-CN" sz="1800" dirty="0"/>
              <a:t>、</a:t>
            </a:r>
            <a:r>
              <a:rPr lang="en-US" altLang="zh-CN" sz="1800" dirty="0"/>
              <a:t>7</a:t>
            </a:r>
            <a:r>
              <a:rPr lang="zh-CN" altLang="zh-CN" sz="1800" dirty="0"/>
              <a:t>、</a:t>
            </a:r>
            <a:r>
              <a:rPr lang="en-US" altLang="zh-CN" sz="1800" dirty="0"/>
              <a:t>9……</a:t>
            </a:r>
            <a:r>
              <a:rPr lang="zh-CN" altLang="zh-CN" sz="1800" dirty="0"/>
              <a:t>的顺序）读出数据，则输出正弦信号的周期将是原来的一半，也就是正弦信号的频率将提高一倍。然而由于时钟信号的准确度和稳定度不变，所以此时正弦输出的频率依然十分精确。</a:t>
            </a:r>
          </a:p>
          <a:p>
            <a:pPr indent="457200">
              <a:lnSpc>
                <a:spcPct val="150000"/>
              </a:lnSpc>
            </a:pPr>
            <a:r>
              <a:rPr lang="zh-CN" altLang="zh-CN" sz="1800" dirty="0"/>
              <a:t>按照以上想法就可以在保证具有足够高的频率准确度和稳定度条件下输出各种不同频率的信号，这就是数字直接合成技术的原理。</a:t>
            </a:r>
          </a:p>
        </p:txBody>
      </p:sp>
    </p:spTree>
    <p:extLst>
      <p:ext uri="{BB962C8B-B14F-4D97-AF65-F5344CB8AC3E}">
        <p14:creationId xmlns:p14="http://schemas.microsoft.com/office/powerpoint/2010/main" val="191398294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757865661"/>
              </p:ext>
            </p:extLst>
          </p:nvPr>
        </p:nvGraphicFramePr>
        <p:xfrm>
          <a:off x="1739211" y="962313"/>
          <a:ext cx="8907018" cy="2226755"/>
        </p:xfrm>
        <a:graphic>
          <a:graphicData uri="http://schemas.openxmlformats.org/presentationml/2006/ole">
            <mc:AlternateContent xmlns:mc="http://schemas.openxmlformats.org/markup-compatibility/2006">
              <mc:Choice xmlns:v="urn:schemas-microsoft-com:vml" Requires="v">
                <p:oleObj spid="_x0000_s16492" name="Visio" r:id="rId3" imgW="4629960" imgH="1165680" progId="Visio.Drawing.11">
                  <p:embed/>
                </p:oleObj>
              </mc:Choice>
              <mc:Fallback>
                <p:oleObj name="Visio" r:id="rId3" imgW="4629960" imgH="1165680" progId="Visio.Drawing.11">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9211" y="962313"/>
                        <a:ext cx="8907018" cy="2226755"/>
                      </a:xfrm>
                      <a:prstGeom prst="rect">
                        <a:avLst/>
                      </a:prstGeom>
                      <a:noFill/>
                    </p:spPr>
                  </p:pic>
                </p:oleObj>
              </mc:Fallback>
            </mc:AlternateContent>
          </a:graphicData>
        </a:graphic>
      </p:graphicFrame>
      <p:sp>
        <p:nvSpPr>
          <p:cNvPr id="7" name="文本框 6"/>
          <p:cNvSpPr txBox="1"/>
          <p:nvPr/>
        </p:nvSpPr>
        <p:spPr>
          <a:xfrm>
            <a:off x="431818" y="3335077"/>
            <a:ext cx="11389767" cy="1338828"/>
          </a:xfrm>
          <a:prstGeom prst="rect">
            <a:avLst/>
          </a:prstGeom>
          <a:noFill/>
        </p:spPr>
        <p:txBody>
          <a:bodyPr wrap="square" rtlCol="0">
            <a:spAutoFit/>
          </a:bodyPr>
          <a:lstStyle/>
          <a:p>
            <a:pPr indent="457200">
              <a:lnSpc>
                <a:spcPct val="150000"/>
              </a:lnSpc>
            </a:pPr>
            <a:r>
              <a:rPr lang="zh-CN" altLang="en-US" sz="1800" dirty="0" smtClean="0"/>
              <a:t>调谐字是</a:t>
            </a:r>
            <a:r>
              <a:rPr lang="zh-CN" altLang="en-US" sz="1800" dirty="0"/>
              <a:t>每个时钟要增加的步长，相位</a:t>
            </a:r>
            <a:r>
              <a:rPr lang="zh-CN" altLang="en-US" sz="1800" dirty="0" smtClean="0"/>
              <a:t>累加器使</a:t>
            </a:r>
            <a:r>
              <a:rPr lang="en-US" altLang="zh-CN" sz="1800" dirty="0"/>
              <a:t>ROM</a:t>
            </a:r>
            <a:r>
              <a:rPr lang="zh-CN" altLang="en-US" sz="1800" dirty="0"/>
              <a:t>的</a:t>
            </a:r>
            <a:r>
              <a:rPr lang="zh-CN" altLang="en-US" sz="1800" dirty="0" smtClean="0"/>
              <a:t>地址每个</a:t>
            </a:r>
            <a:r>
              <a:rPr lang="en-US" altLang="zh-CN" sz="1800" dirty="0"/>
              <a:t>CLK</a:t>
            </a:r>
            <a:r>
              <a:rPr lang="zh-CN" altLang="en-US" sz="1800" dirty="0"/>
              <a:t>增加一个调谐</a:t>
            </a:r>
            <a:r>
              <a:rPr lang="zh-CN" altLang="en-US" sz="1800" dirty="0" smtClean="0"/>
              <a:t>字</a:t>
            </a:r>
            <a:endParaRPr lang="en-US" altLang="zh-CN" sz="1800" dirty="0" smtClean="0"/>
          </a:p>
          <a:p>
            <a:pPr indent="457200">
              <a:lnSpc>
                <a:spcPct val="150000"/>
              </a:lnSpc>
            </a:pPr>
            <a:r>
              <a:rPr lang="zh-CN" altLang="en-US" sz="1800" dirty="0" smtClean="0"/>
              <a:t>设</a:t>
            </a:r>
            <a:r>
              <a:rPr lang="zh-CN" altLang="zh-CN" sz="1800" dirty="0" smtClean="0"/>
              <a:t>调谐</a:t>
            </a:r>
            <a:r>
              <a:rPr lang="zh-CN" altLang="zh-CN" sz="1800" dirty="0"/>
              <a:t>字寄存器</a:t>
            </a:r>
            <a:r>
              <a:rPr lang="zh-CN" altLang="zh-CN" sz="1800" dirty="0" smtClean="0"/>
              <a:t>内容</a:t>
            </a:r>
            <a:r>
              <a:rPr lang="zh-CN" altLang="en-US" sz="1800" dirty="0"/>
              <a:t>为</a:t>
            </a:r>
            <a:r>
              <a:rPr lang="en-US" altLang="zh-CN" sz="1800" i="1" dirty="0" smtClean="0"/>
              <a:t>TR</a:t>
            </a:r>
            <a:r>
              <a:rPr lang="zh-CN" altLang="en-US" sz="1800" i="1" dirty="0" smtClean="0"/>
              <a:t>、</a:t>
            </a:r>
            <a:r>
              <a:rPr lang="zh-CN" altLang="zh-CN" sz="1800" dirty="0" smtClean="0"/>
              <a:t>相位</a:t>
            </a:r>
            <a:r>
              <a:rPr lang="zh-CN" altLang="zh-CN" sz="1800" dirty="0"/>
              <a:t>累加器的二进制数据位数（字长</a:t>
            </a:r>
            <a:r>
              <a:rPr lang="zh-CN" altLang="zh-CN" sz="1800" dirty="0" smtClean="0"/>
              <a:t>）</a:t>
            </a:r>
            <a:r>
              <a:rPr lang="zh-CN" altLang="en-US" sz="1800" dirty="0" smtClean="0"/>
              <a:t>为</a:t>
            </a:r>
            <a:r>
              <a:rPr lang="en-US" altLang="zh-CN" sz="1800" i="1" dirty="0" smtClean="0"/>
              <a:t>N</a:t>
            </a:r>
            <a:r>
              <a:rPr lang="zh-CN" altLang="zh-CN" sz="1800" dirty="0" smtClean="0"/>
              <a:t>，</a:t>
            </a:r>
            <a:r>
              <a:rPr lang="en-US" altLang="zh-CN" sz="1800" dirty="0"/>
              <a:t>2</a:t>
            </a:r>
            <a:r>
              <a:rPr lang="en-US" altLang="zh-CN" sz="1800" i="1" baseline="30000" dirty="0"/>
              <a:t>N</a:t>
            </a:r>
            <a:r>
              <a:rPr lang="zh-CN" altLang="zh-CN" sz="1800" dirty="0"/>
              <a:t>为其最大计</a:t>
            </a:r>
            <a:r>
              <a:rPr lang="zh-CN" altLang="zh-CN" sz="1800" dirty="0" smtClean="0"/>
              <a:t>数值</a:t>
            </a:r>
            <a:r>
              <a:rPr lang="zh-CN" altLang="en-US" sz="1800" dirty="0" smtClean="0"/>
              <a:t>，则输出频率为</a:t>
            </a:r>
            <a:endParaRPr lang="en-US" altLang="zh-CN" sz="1800" dirty="0" smtClean="0"/>
          </a:p>
        </p:txBody>
      </p:sp>
      <p:sp>
        <p:nvSpPr>
          <p:cNvPr id="5" name="矩形 4"/>
          <p:cNvSpPr/>
          <p:nvPr/>
        </p:nvSpPr>
        <p:spPr>
          <a:xfrm>
            <a:off x="341389" y="531819"/>
            <a:ext cx="6096000" cy="497700"/>
          </a:xfrm>
          <a:prstGeom prst="rect">
            <a:avLst/>
          </a:prstGeom>
        </p:spPr>
        <p:txBody>
          <a:bodyPr>
            <a:spAutoFit/>
          </a:bodyPr>
          <a:lstStyle/>
          <a:p>
            <a:pPr indent="457200">
              <a:lnSpc>
                <a:spcPct val="150000"/>
              </a:lnSpc>
            </a:pPr>
            <a:r>
              <a:rPr lang="en-US" altLang="zh-CN" dirty="0"/>
              <a:t>DDS</a:t>
            </a:r>
            <a:r>
              <a:rPr lang="zh-CN" altLang="en-US" dirty="0"/>
              <a:t>的结构</a:t>
            </a:r>
            <a:r>
              <a:rPr lang="zh-CN" altLang="en-US" dirty="0" smtClean="0"/>
              <a:t>框图</a:t>
            </a:r>
            <a:endParaRPr lang="en-US" altLang="zh-CN" dirty="0"/>
          </a:p>
        </p:txBody>
      </p:sp>
      <p:graphicFrame>
        <p:nvGraphicFramePr>
          <p:cNvPr id="9" name="对象 8"/>
          <p:cNvGraphicFramePr>
            <a:graphicFrameLocks noChangeAspect="1"/>
          </p:cNvGraphicFramePr>
          <p:nvPr>
            <p:extLst>
              <p:ext uri="{D42A27DB-BD31-4B8C-83A1-F6EECF244321}">
                <p14:modId xmlns:p14="http://schemas.microsoft.com/office/powerpoint/2010/main" val="2784269770"/>
              </p:ext>
            </p:extLst>
          </p:nvPr>
        </p:nvGraphicFramePr>
        <p:xfrm>
          <a:off x="4205515" y="4479895"/>
          <a:ext cx="1484823" cy="687191"/>
        </p:xfrm>
        <a:graphic>
          <a:graphicData uri="http://schemas.openxmlformats.org/presentationml/2006/ole">
            <mc:AlternateContent xmlns:mc="http://schemas.openxmlformats.org/markup-compatibility/2006">
              <mc:Choice xmlns:v="urn:schemas-microsoft-com:vml" Requires="v">
                <p:oleObj spid="_x0000_s16493" name="Equation" r:id="rId5" imgW="774364" imgH="355446" progId="Equation.DSMT4">
                  <p:embed/>
                </p:oleObj>
              </mc:Choice>
              <mc:Fallback>
                <p:oleObj name="Equation" r:id="rId5" imgW="774364" imgH="355446"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05515" y="4479895"/>
                        <a:ext cx="1484823" cy="687191"/>
                      </a:xfrm>
                      <a:prstGeom prst="rect">
                        <a:avLst/>
                      </a:prstGeom>
                      <a:noFill/>
                    </p:spPr>
                  </p:pic>
                </p:oleObj>
              </mc:Fallback>
            </mc:AlternateContent>
          </a:graphicData>
        </a:graphic>
      </p:graphicFrame>
      <p:sp>
        <p:nvSpPr>
          <p:cNvPr id="10" name="文本框 9"/>
          <p:cNvSpPr txBox="1"/>
          <p:nvPr/>
        </p:nvSpPr>
        <p:spPr>
          <a:xfrm>
            <a:off x="431817" y="5167086"/>
            <a:ext cx="11389767" cy="457241"/>
          </a:xfrm>
          <a:prstGeom prst="rect">
            <a:avLst/>
          </a:prstGeom>
          <a:noFill/>
        </p:spPr>
        <p:txBody>
          <a:bodyPr wrap="square" rtlCol="0">
            <a:spAutoFit/>
          </a:bodyPr>
          <a:lstStyle/>
          <a:p>
            <a:pPr indent="457200">
              <a:lnSpc>
                <a:spcPct val="150000"/>
              </a:lnSpc>
            </a:pPr>
            <a:r>
              <a:rPr lang="zh-CN" altLang="en-US" sz="1800" dirty="0" smtClean="0"/>
              <a:t>显然，相位累加器的字长越大，输出频率的增量越小，也就是频率分辨率越高</a:t>
            </a:r>
            <a:endParaRPr lang="en-US" altLang="zh-CN" sz="1800" dirty="0" smtClean="0"/>
          </a:p>
        </p:txBody>
      </p:sp>
    </p:spTree>
    <p:extLst>
      <p:ext uri="{BB962C8B-B14F-4D97-AF65-F5344CB8AC3E}">
        <p14:creationId xmlns:p14="http://schemas.microsoft.com/office/powerpoint/2010/main" val="660575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236593" y="1738305"/>
            <a:ext cx="7654892" cy="4093857"/>
          </a:xfrm>
          <a:prstGeom prst="rect">
            <a:avLst/>
          </a:prstGeom>
        </p:spPr>
      </p:pic>
      <p:sp>
        <p:nvSpPr>
          <p:cNvPr id="7" name="矩形 6"/>
          <p:cNvSpPr/>
          <p:nvPr/>
        </p:nvSpPr>
        <p:spPr>
          <a:xfrm>
            <a:off x="370715" y="528325"/>
            <a:ext cx="4027715" cy="553998"/>
          </a:xfrm>
          <a:prstGeom prst="rect">
            <a:avLst/>
          </a:prstGeom>
        </p:spPr>
        <p:txBody>
          <a:bodyPr wrap="square">
            <a:spAutoFit/>
          </a:bodyPr>
          <a:lstStyle/>
          <a:p>
            <a:pPr>
              <a:lnSpc>
                <a:spcPct val="150000"/>
              </a:lnSpc>
            </a:pPr>
            <a:r>
              <a:rPr lang="en-US" altLang="zh-CN" dirty="0" smtClean="0"/>
              <a:t>DDS</a:t>
            </a:r>
            <a:r>
              <a:rPr lang="zh-CN" altLang="en-US" dirty="0" smtClean="0"/>
              <a:t>芯片</a:t>
            </a:r>
            <a:r>
              <a:rPr lang="en-US" altLang="zh-CN" dirty="0" smtClean="0"/>
              <a:t>AD9854</a:t>
            </a:r>
            <a:r>
              <a:rPr lang="zh-CN" altLang="en-US" dirty="0" smtClean="0"/>
              <a:t>的内部结构</a:t>
            </a:r>
            <a:endParaRPr lang="en-US" altLang="zh-CN" dirty="0"/>
          </a:p>
        </p:txBody>
      </p:sp>
      <p:sp>
        <p:nvSpPr>
          <p:cNvPr id="8" name="椭圆 7"/>
          <p:cNvSpPr/>
          <p:nvPr/>
        </p:nvSpPr>
        <p:spPr>
          <a:xfrm>
            <a:off x="5581346" y="4746172"/>
            <a:ext cx="3944256" cy="10859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3319351" y="3693886"/>
            <a:ext cx="5284594" cy="10698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432573" y="1499106"/>
            <a:ext cx="1422399" cy="21003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6854972" y="1966686"/>
            <a:ext cx="3127829" cy="15820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384573" y="1865085"/>
            <a:ext cx="2394857" cy="126463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779430" y="5795212"/>
            <a:ext cx="6454627" cy="553998"/>
          </a:xfrm>
          <a:prstGeom prst="rect">
            <a:avLst/>
          </a:prstGeom>
        </p:spPr>
        <p:txBody>
          <a:bodyPr wrap="square">
            <a:spAutoFit/>
          </a:bodyPr>
          <a:lstStyle/>
          <a:p>
            <a:pPr>
              <a:lnSpc>
                <a:spcPct val="150000"/>
              </a:lnSpc>
            </a:pPr>
            <a:r>
              <a:rPr lang="zh-CN" altLang="en-US" dirty="0" smtClean="0"/>
              <a:t>控制信号输入接口，串行（</a:t>
            </a:r>
            <a:r>
              <a:rPr lang="en-US" altLang="zh-CN" dirty="0" smtClean="0"/>
              <a:t>SPI</a:t>
            </a:r>
            <a:r>
              <a:rPr lang="zh-CN" altLang="en-US" dirty="0" smtClean="0"/>
              <a:t>） 或 并行</a:t>
            </a:r>
            <a:r>
              <a:rPr lang="zh-CN" altLang="en-US" dirty="0"/>
              <a:t>（</a:t>
            </a:r>
            <a:r>
              <a:rPr lang="en-US" altLang="zh-CN" dirty="0" smtClean="0"/>
              <a:t>8</a:t>
            </a:r>
            <a:r>
              <a:rPr lang="zh-CN" altLang="en-US" dirty="0" smtClean="0"/>
              <a:t>位）</a:t>
            </a:r>
            <a:endParaRPr lang="en-US" altLang="zh-CN" dirty="0"/>
          </a:p>
        </p:txBody>
      </p:sp>
      <p:sp>
        <p:nvSpPr>
          <p:cNvPr id="14" name="矩形 13"/>
          <p:cNvSpPr/>
          <p:nvPr/>
        </p:nvSpPr>
        <p:spPr>
          <a:xfrm>
            <a:off x="9982801" y="2278384"/>
            <a:ext cx="2072518" cy="958660"/>
          </a:xfrm>
          <a:prstGeom prst="rect">
            <a:avLst/>
          </a:prstGeom>
        </p:spPr>
        <p:txBody>
          <a:bodyPr wrap="square">
            <a:spAutoFit/>
          </a:bodyPr>
          <a:lstStyle/>
          <a:p>
            <a:pPr>
              <a:lnSpc>
                <a:spcPct val="150000"/>
              </a:lnSpc>
            </a:pPr>
            <a:r>
              <a:rPr lang="en-US" altLang="zh-CN" dirty="0" smtClean="0"/>
              <a:t>IQ</a:t>
            </a:r>
            <a:r>
              <a:rPr lang="zh-CN" altLang="en-US" dirty="0" smtClean="0"/>
              <a:t>正交输出</a:t>
            </a:r>
            <a:endParaRPr lang="en-US" altLang="zh-CN" dirty="0" smtClean="0"/>
          </a:p>
          <a:p>
            <a:pPr>
              <a:lnSpc>
                <a:spcPct val="150000"/>
              </a:lnSpc>
            </a:pPr>
            <a:r>
              <a:rPr lang="en-US" altLang="zh-CN" dirty="0" smtClean="0"/>
              <a:t>12</a:t>
            </a:r>
            <a:r>
              <a:rPr lang="zh-CN" altLang="en-US" dirty="0" smtClean="0"/>
              <a:t>位</a:t>
            </a:r>
            <a:r>
              <a:rPr lang="en-US" altLang="zh-CN" dirty="0" smtClean="0"/>
              <a:t>DAC</a:t>
            </a:r>
            <a:endParaRPr lang="en-US" altLang="zh-CN" dirty="0"/>
          </a:p>
        </p:txBody>
      </p:sp>
      <p:sp>
        <p:nvSpPr>
          <p:cNvPr id="15" name="矩形 14"/>
          <p:cNvSpPr/>
          <p:nvPr/>
        </p:nvSpPr>
        <p:spPr>
          <a:xfrm>
            <a:off x="4841114" y="919184"/>
            <a:ext cx="3577772" cy="497700"/>
          </a:xfrm>
          <a:prstGeom prst="rect">
            <a:avLst/>
          </a:prstGeom>
        </p:spPr>
        <p:txBody>
          <a:bodyPr wrap="square">
            <a:spAutoFit/>
          </a:bodyPr>
          <a:lstStyle/>
          <a:p>
            <a:pPr>
              <a:lnSpc>
                <a:spcPct val="150000"/>
              </a:lnSpc>
            </a:pPr>
            <a:r>
              <a:rPr lang="en-US" altLang="zh-CN" dirty="0" smtClean="0"/>
              <a:t>DDS</a:t>
            </a:r>
            <a:r>
              <a:rPr lang="zh-CN" altLang="en-US" dirty="0" smtClean="0"/>
              <a:t>核心，调谐字</a:t>
            </a:r>
            <a:r>
              <a:rPr lang="en-US" altLang="zh-CN" dirty="0" smtClean="0"/>
              <a:t>48bit</a:t>
            </a:r>
            <a:endParaRPr lang="en-US" altLang="zh-CN" dirty="0"/>
          </a:p>
        </p:txBody>
      </p:sp>
      <p:sp>
        <p:nvSpPr>
          <p:cNvPr id="16" name="矩形 15"/>
          <p:cNvSpPr/>
          <p:nvPr/>
        </p:nvSpPr>
        <p:spPr>
          <a:xfrm>
            <a:off x="715733" y="2076053"/>
            <a:ext cx="2336801" cy="1015663"/>
          </a:xfrm>
          <a:prstGeom prst="rect">
            <a:avLst/>
          </a:prstGeom>
        </p:spPr>
        <p:txBody>
          <a:bodyPr wrap="square">
            <a:spAutoFit/>
          </a:bodyPr>
          <a:lstStyle/>
          <a:p>
            <a:pPr>
              <a:lnSpc>
                <a:spcPct val="150000"/>
              </a:lnSpc>
            </a:pPr>
            <a:r>
              <a:rPr lang="zh-CN" altLang="en-US" dirty="0" smtClean="0"/>
              <a:t>系统时钟产生</a:t>
            </a:r>
            <a:endParaRPr lang="en-US" altLang="zh-CN" dirty="0" smtClean="0"/>
          </a:p>
          <a:p>
            <a:pPr>
              <a:lnSpc>
                <a:spcPct val="150000"/>
              </a:lnSpc>
            </a:pPr>
            <a:r>
              <a:rPr lang="zh-CN" altLang="en-US" dirty="0" smtClean="0"/>
              <a:t>倍频</a:t>
            </a:r>
            <a:r>
              <a:rPr lang="en-US" altLang="zh-CN" dirty="0" smtClean="0"/>
              <a:t>4x~20x</a:t>
            </a:r>
            <a:endParaRPr lang="en-US" altLang="zh-CN" dirty="0"/>
          </a:p>
        </p:txBody>
      </p:sp>
      <p:sp>
        <p:nvSpPr>
          <p:cNvPr id="17" name="矩形 16"/>
          <p:cNvSpPr/>
          <p:nvPr/>
        </p:nvSpPr>
        <p:spPr>
          <a:xfrm>
            <a:off x="1564516" y="3926941"/>
            <a:ext cx="1952474" cy="553998"/>
          </a:xfrm>
          <a:prstGeom prst="rect">
            <a:avLst/>
          </a:prstGeom>
        </p:spPr>
        <p:txBody>
          <a:bodyPr wrap="square">
            <a:spAutoFit/>
          </a:bodyPr>
          <a:lstStyle/>
          <a:p>
            <a:pPr>
              <a:lnSpc>
                <a:spcPct val="150000"/>
              </a:lnSpc>
            </a:pPr>
            <a:r>
              <a:rPr lang="zh-CN" altLang="en-US" dirty="0" smtClean="0"/>
              <a:t>控制字寄存器</a:t>
            </a:r>
            <a:endParaRPr lang="en-US" altLang="zh-CN" dirty="0"/>
          </a:p>
        </p:txBody>
      </p:sp>
    </p:spTree>
    <p:extLst>
      <p:ext uri="{BB962C8B-B14F-4D97-AF65-F5344CB8AC3E}">
        <p14:creationId xmlns:p14="http://schemas.microsoft.com/office/powerpoint/2010/main" val="63136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3218242" y="1156676"/>
            <a:ext cx="8020037" cy="3363567"/>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a:xfrm>
            <a:off x="9647768" y="6524626"/>
            <a:ext cx="2173817" cy="252413"/>
          </a:xfrm>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6" name="矩形 5"/>
          <p:cNvSpPr/>
          <p:nvPr/>
        </p:nvSpPr>
        <p:spPr>
          <a:xfrm>
            <a:off x="449943" y="474432"/>
            <a:ext cx="11371642" cy="553998"/>
          </a:xfrm>
          <a:prstGeom prst="rect">
            <a:avLst/>
          </a:prstGeom>
        </p:spPr>
        <p:txBody>
          <a:bodyPr wrap="square">
            <a:spAutoFit/>
          </a:bodyPr>
          <a:lstStyle/>
          <a:p>
            <a:pPr>
              <a:lnSpc>
                <a:spcPct val="150000"/>
              </a:lnSpc>
            </a:pPr>
            <a:r>
              <a:rPr lang="zh-CN" altLang="en-US" dirty="0" smtClean="0"/>
              <a:t>用</a:t>
            </a:r>
            <a:r>
              <a:rPr lang="en-US" altLang="zh-CN" dirty="0" smtClean="0"/>
              <a:t>DDS</a:t>
            </a:r>
            <a:r>
              <a:rPr lang="zh-CN" altLang="en-US" dirty="0" smtClean="0"/>
              <a:t>芯片</a:t>
            </a:r>
            <a:r>
              <a:rPr lang="en-US" altLang="zh-CN" dirty="0" smtClean="0"/>
              <a:t>AD9854</a:t>
            </a:r>
            <a:r>
              <a:rPr lang="zh-CN" altLang="en-US" dirty="0" smtClean="0"/>
              <a:t>构成的正交信号发生器电路</a:t>
            </a:r>
            <a:endParaRPr lang="zh-CN" altLang="en-US" dirty="0"/>
          </a:p>
        </p:txBody>
      </p:sp>
      <p:sp>
        <p:nvSpPr>
          <p:cNvPr id="9" name="矩形 8"/>
          <p:cNvSpPr/>
          <p:nvPr/>
        </p:nvSpPr>
        <p:spPr>
          <a:xfrm>
            <a:off x="6527801" y="4152979"/>
            <a:ext cx="2235200" cy="1097801"/>
          </a:xfrm>
          <a:prstGeom prst="rect">
            <a:avLst/>
          </a:prstGeom>
        </p:spPr>
        <p:txBody>
          <a:bodyPr wrap="square">
            <a:spAutoFit/>
          </a:bodyPr>
          <a:lstStyle/>
          <a:p>
            <a:pPr>
              <a:lnSpc>
                <a:spcPct val="125000"/>
              </a:lnSpc>
            </a:pPr>
            <a:r>
              <a:rPr lang="en-US" altLang="zh-CN" sz="1800" dirty="0" smtClean="0"/>
              <a:t>7</a:t>
            </a:r>
            <a:r>
              <a:rPr lang="zh-CN" altLang="en-US" sz="1800" dirty="0" smtClean="0"/>
              <a:t>阶椭圆低通滤波器</a:t>
            </a:r>
            <a:endParaRPr lang="en-US" altLang="zh-CN" sz="1800" dirty="0" smtClean="0"/>
          </a:p>
          <a:p>
            <a:pPr>
              <a:lnSpc>
                <a:spcPct val="125000"/>
              </a:lnSpc>
            </a:pPr>
            <a:r>
              <a:rPr lang="zh-CN" altLang="en-US" sz="1800" dirty="0" smtClean="0"/>
              <a:t>截止频率</a:t>
            </a:r>
            <a:r>
              <a:rPr lang="en-US" altLang="zh-CN" sz="1800" dirty="0" smtClean="0"/>
              <a:t>120MHz</a:t>
            </a:r>
          </a:p>
          <a:p>
            <a:pPr>
              <a:lnSpc>
                <a:spcPct val="125000"/>
              </a:lnSpc>
            </a:pPr>
            <a:r>
              <a:rPr lang="zh-CN" altLang="en-US" sz="1800" dirty="0"/>
              <a:t>滤</a:t>
            </a:r>
            <a:r>
              <a:rPr lang="zh-CN" altLang="en-US" sz="1800" dirty="0" smtClean="0"/>
              <a:t>除时钟噪声</a:t>
            </a:r>
            <a:endParaRPr lang="zh-CN" altLang="en-US" sz="1800" dirty="0"/>
          </a:p>
        </p:txBody>
      </p:sp>
      <p:sp>
        <p:nvSpPr>
          <p:cNvPr id="11" name="矩形 10"/>
          <p:cNvSpPr/>
          <p:nvPr/>
        </p:nvSpPr>
        <p:spPr>
          <a:xfrm>
            <a:off x="537029" y="1508195"/>
            <a:ext cx="2569028" cy="1097801"/>
          </a:xfrm>
          <a:prstGeom prst="rect">
            <a:avLst/>
          </a:prstGeom>
        </p:spPr>
        <p:txBody>
          <a:bodyPr wrap="square">
            <a:spAutoFit/>
          </a:bodyPr>
          <a:lstStyle/>
          <a:p>
            <a:pPr>
              <a:lnSpc>
                <a:spcPct val="125000"/>
              </a:lnSpc>
            </a:pPr>
            <a:r>
              <a:rPr lang="en-US" altLang="zh-CN" sz="1800" dirty="0" smtClean="0"/>
              <a:t>30MHz</a:t>
            </a:r>
            <a:r>
              <a:rPr lang="zh-CN" altLang="en-US" sz="1800" dirty="0" smtClean="0"/>
              <a:t>有源晶振</a:t>
            </a:r>
            <a:endParaRPr lang="en-US" altLang="zh-CN" sz="1800" dirty="0" smtClean="0"/>
          </a:p>
          <a:p>
            <a:pPr>
              <a:lnSpc>
                <a:spcPct val="125000"/>
              </a:lnSpc>
            </a:pPr>
            <a:r>
              <a:rPr lang="zh-CN" altLang="en-US" sz="1800" dirty="0" smtClean="0"/>
              <a:t>在</a:t>
            </a:r>
            <a:r>
              <a:rPr lang="en-US" altLang="zh-CN" sz="1800" dirty="0" smtClean="0"/>
              <a:t>DDS</a:t>
            </a:r>
            <a:r>
              <a:rPr lang="zh-CN" altLang="en-US" sz="1800" dirty="0" smtClean="0"/>
              <a:t>芯片内部</a:t>
            </a:r>
            <a:r>
              <a:rPr lang="en-US" altLang="zh-CN" sz="1800" dirty="0" smtClean="0"/>
              <a:t>10</a:t>
            </a:r>
            <a:r>
              <a:rPr lang="zh-CN" altLang="en-US" sz="1800" dirty="0" smtClean="0"/>
              <a:t>倍频成</a:t>
            </a:r>
            <a:r>
              <a:rPr lang="en-US" altLang="zh-CN" sz="1800" dirty="0" smtClean="0"/>
              <a:t>300MHz</a:t>
            </a:r>
            <a:r>
              <a:rPr lang="zh-CN" altLang="en-US" sz="1800" dirty="0" smtClean="0"/>
              <a:t>时钟</a:t>
            </a:r>
            <a:endParaRPr lang="zh-CN" altLang="en-US" sz="1800" dirty="0"/>
          </a:p>
        </p:txBody>
      </p:sp>
      <p:sp>
        <p:nvSpPr>
          <p:cNvPr id="12" name="矩形 11"/>
          <p:cNvSpPr/>
          <p:nvPr/>
        </p:nvSpPr>
        <p:spPr>
          <a:xfrm>
            <a:off x="8879417" y="4648489"/>
            <a:ext cx="2441725" cy="1131079"/>
          </a:xfrm>
          <a:prstGeom prst="rect">
            <a:avLst/>
          </a:prstGeom>
        </p:spPr>
        <p:txBody>
          <a:bodyPr wrap="square">
            <a:spAutoFit/>
          </a:bodyPr>
          <a:lstStyle/>
          <a:p>
            <a:pPr>
              <a:lnSpc>
                <a:spcPct val="125000"/>
              </a:lnSpc>
            </a:pPr>
            <a:r>
              <a:rPr lang="zh-CN" altLang="en-US" sz="1800" dirty="0" smtClean="0"/>
              <a:t>缓冲放大器</a:t>
            </a:r>
            <a:endParaRPr lang="en-US" altLang="zh-CN" sz="1800" dirty="0" smtClean="0"/>
          </a:p>
          <a:p>
            <a:pPr>
              <a:lnSpc>
                <a:spcPct val="125000"/>
              </a:lnSpc>
            </a:pPr>
            <a:r>
              <a:rPr lang="zh-CN" altLang="en-US" sz="1800" dirty="0" smtClean="0"/>
              <a:t>提供后续的测量系统足够的驱动能力</a:t>
            </a:r>
            <a:endParaRPr lang="zh-CN" altLang="en-US" sz="1800" dirty="0"/>
          </a:p>
        </p:txBody>
      </p:sp>
      <p:sp>
        <p:nvSpPr>
          <p:cNvPr id="13" name="矩形 12"/>
          <p:cNvSpPr/>
          <p:nvPr/>
        </p:nvSpPr>
        <p:spPr>
          <a:xfrm>
            <a:off x="593122" y="3293452"/>
            <a:ext cx="2569028" cy="404598"/>
          </a:xfrm>
          <a:prstGeom prst="rect">
            <a:avLst/>
          </a:prstGeom>
        </p:spPr>
        <p:txBody>
          <a:bodyPr wrap="square">
            <a:spAutoFit/>
          </a:bodyPr>
          <a:lstStyle/>
          <a:p>
            <a:pPr>
              <a:lnSpc>
                <a:spcPct val="125000"/>
              </a:lnSpc>
            </a:pPr>
            <a:r>
              <a:rPr lang="zh-CN" altLang="en-US" sz="1800" dirty="0" smtClean="0"/>
              <a:t>控制信号来自单片机</a:t>
            </a:r>
            <a:endParaRPr lang="zh-CN" altLang="en-US" sz="1800" dirty="0"/>
          </a:p>
        </p:txBody>
      </p:sp>
      <p:sp>
        <p:nvSpPr>
          <p:cNvPr id="14" name="矩形 13"/>
          <p:cNvSpPr/>
          <p:nvPr/>
        </p:nvSpPr>
        <p:spPr>
          <a:xfrm>
            <a:off x="1217236" y="4802395"/>
            <a:ext cx="4617507" cy="405304"/>
          </a:xfrm>
          <a:prstGeom prst="rect">
            <a:avLst/>
          </a:prstGeom>
        </p:spPr>
        <p:txBody>
          <a:bodyPr wrap="square">
            <a:spAutoFit/>
          </a:bodyPr>
          <a:lstStyle/>
          <a:p>
            <a:pPr>
              <a:lnSpc>
                <a:spcPct val="125000"/>
              </a:lnSpc>
            </a:pPr>
            <a:r>
              <a:rPr lang="zh-CN" altLang="en-US" sz="1800" dirty="0" smtClean="0"/>
              <a:t>此电路可输出的信号频率接近</a:t>
            </a:r>
            <a:r>
              <a:rPr lang="en-US" altLang="zh-CN" sz="1800" dirty="0" smtClean="0"/>
              <a:t>100MHz</a:t>
            </a:r>
          </a:p>
        </p:txBody>
      </p:sp>
    </p:spTree>
    <p:extLst>
      <p:ext uri="{BB962C8B-B14F-4D97-AF65-F5344CB8AC3E}">
        <p14:creationId xmlns:p14="http://schemas.microsoft.com/office/powerpoint/2010/main" val="9169719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文本框 4"/>
          <p:cNvSpPr txBox="1"/>
          <p:nvPr/>
        </p:nvSpPr>
        <p:spPr>
          <a:xfrm>
            <a:off x="428171" y="471715"/>
            <a:ext cx="11284858" cy="553998"/>
          </a:xfrm>
          <a:prstGeom prst="rect">
            <a:avLst/>
          </a:prstGeom>
          <a:noFill/>
        </p:spPr>
        <p:txBody>
          <a:bodyPr wrap="square" rtlCol="0">
            <a:spAutoFit/>
          </a:bodyPr>
          <a:lstStyle/>
          <a:p>
            <a:pPr>
              <a:lnSpc>
                <a:spcPct val="150000"/>
              </a:lnSpc>
            </a:pPr>
            <a:r>
              <a:rPr lang="zh-CN" altLang="en-US" dirty="0" smtClean="0">
                <a:solidFill>
                  <a:srgbClr val="FF0000"/>
                </a:solidFill>
              </a:rPr>
              <a:t>模块二，预处理电路</a:t>
            </a:r>
            <a:endParaRPr lang="en-US" altLang="zh-CN" dirty="0" smtClean="0">
              <a:solidFill>
                <a:srgbClr val="FF0000"/>
              </a:solidFill>
            </a:endParaRPr>
          </a:p>
        </p:txBody>
      </p:sp>
      <p:sp>
        <p:nvSpPr>
          <p:cNvPr id="13" name="Rectangle 7"/>
          <p:cNvSpPr>
            <a:spLocks noChangeArrowheads="1"/>
          </p:cNvSpPr>
          <p:nvPr/>
        </p:nvSpPr>
        <p:spPr bwMode="auto">
          <a:xfrm>
            <a:off x="0" y="406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700" b="0" i="0" u="none" strike="noStrike" cap="none" normalizeH="0" baseline="0" smtClean="0">
                <a:ln>
                  <a:noFill/>
                </a:ln>
                <a:solidFill>
                  <a:schemeClr val="tx1"/>
                </a:solidFill>
                <a:effectLst/>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6" name="文本框 15"/>
          <p:cNvSpPr txBox="1"/>
          <p:nvPr/>
        </p:nvSpPr>
        <p:spPr>
          <a:xfrm>
            <a:off x="3116643" y="1463377"/>
            <a:ext cx="1390044" cy="507831"/>
          </a:xfrm>
          <a:prstGeom prst="rect">
            <a:avLst/>
          </a:prstGeom>
          <a:noFill/>
        </p:spPr>
        <p:txBody>
          <a:bodyPr wrap="square" rtlCol="0">
            <a:spAutoFit/>
          </a:bodyPr>
          <a:lstStyle/>
          <a:p>
            <a:pPr>
              <a:lnSpc>
                <a:spcPct val="150000"/>
              </a:lnSpc>
            </a:pPr>
            <a:r>
              <a:rPr lang="zh-CN" altLang="en-US" sz="1800" dirty="0"/>
              <a:t>采样</a:t>
            </a:r>
            <a:r>
              <a:rPr lang="zh-CN" altLang="en-US" sz="1800" dirty="0" smtClean="0"/>
              <a:t>放大器</a:t>
            </a:r>
            <a:endParaRPr lang="zh-CN" altLang="en-US" sz="1800" dirty="0"/>
          </a:p>
        </p:txBody>
      </p:sp>
      <p:sp>
        <p:nvSpPr>
          <p:cNvPr id="17" name="文本框 16"/>
          <p:cNvSpPr txBox="1"/>
          <p:nvPr/>
        </p:nvSpPr>
        <p:spPr>
          <a:xfrm>
            <a:off x="1465943" y="1443508"/>
            <a:ext cx="1240971" cy="507831"/>
          </a:xfrm>
          <a:prstGeom prst="rect">
            <a:avLst/>
          </a:prstGeom>
          <a:noFill/>
        </p:spPr>
        <p:txBody>
          <a:bodyPr wrap="square" rtlCol="0">
            <a:spAutoFit/>
          </a:bodyPr>
          <a:lstStyle/>
          <a:p>
            <a:pPr>
              <a:lnSpc>
                <a:spcPct val="150000"/>
              </a:lnSpc>
            </a:pPr>
            <a:r>
              <a:rPr lang="zh-CN" altLang="en-US" sz="1800" dirty="0" smtClean="0"/>
              <a:t>采样电阻</a:t>
            </a:r>
            <a:endParaRPr lang="en-US" altLang="zh-CN" sz="1800" dirty="0" smtClean="0"/>
          </a:p>
        </p:txBody>
      </p:sp>
      <p:sp>
        <p:nvSpPr>
          <p:cNvPr id="18" name="文本框 17"/>
          <p:cNvSpPr txBox="1"/>
          <p:nvPr/>
        </p:nvSpPr>
        <p:spPr>
          <a:xfrm>
            <a:off x="6125030" y="1463377"/>
            <a:ext cx="5587999" cy="3831818"/>
          </a:xfrm>
          <a:prstGeom prst="rect">
            <a:avLst/>
          </a:prstGeom>
          <a:noFill/>
        </p:spPr>
        <p:txBody>
          <a:bodyPr wrap="square" rtlCol="0">
            <a:spAutoFit/>
          </a:bodyPr>
          <a:lstStyle/>
          <a:p>
            <a:pPr>
              <a:lnSpc>
                <a:spcPct val="150000"/>
              </a:lnSpc>
            </a:pPr>
            <a:r>
              <a:rPr lang="zh-CN" altLang="en-US" sz="1800" dirty="0" smtClean="0"/>
              <a:t>要求：</a:t>
            </a:r>
            <a:endParaRPr lang="en-US" altLang="zh-CN" sz="1800" dirty="0" smtClean="0"/>
          </a:p>
          <a:p>
            <a:pPr marL="342900" indent="-342900">
              <a:lnSpc>
                <a:spcPct val="150000"/>
              </a:lnSpc>
              <a:buFont typeface="Arial" panose="020B0604020202020204" pitchFamily="34" charset="0"/>
              <a:buChar char="•"/>
            </a:pPr>
            <a:r>
              <a:rPr lang="zh-CN" altLang="en-US" sz="1800" dirty="0" smtClean="0"/>
              <a:t>采样电阻，应该与电缆阻抗匹配，通常就是</a:t>
            </a:r>
            <a:r>
              <a:rPr lang="en-US" altLang="zh-CN" sz="1800" dirty="0" smtClean="0"/>
              <a:t>50</a:t>
            </a:r>
            <a:r>
              <a:rPr lang="zh-CN" altLang="en-US" sz="1800" dirty="0" smtClean="0"/>
              <a:t>欧，分布参数要小，须采用贴片电阻</a:t>
            </a:r>
            <a:endParaRPr lang="en-US" altLang="zh-CN" sz="1800" dirty="0" smtClean="0"/>
          </a:p>
          <a:p>
            <a:pPr marL="342900" indent="-342900">
              <a:lnSpc>
                <a:spcPct val="150000"/>
              </a:lnSpc>
              <a:buFont typeface="Arial" panose="020B0604020202020204" pitchFamily="34" charset="0"/>
              <a:buChar char="•"/>
            </a:pPr>
            <a:r>
              <a:rPr lang="zh-CN" altLang="en-US" sz="1800" dirty="0"/>
              <a:t>采样</a:t>
            </a:r>
            <a:r>
              <a:rPr lang="zh-CN" altLang="en-US" sz="1800" dirty="0" smtClean="0"/>
              <a:t>放大器，</a:t>
            </a:r>
            <a:r>
              <a:rPr lang="zh-CN" altLang="en-US" sz="1800" dirty="0"/>
              <a:t>频响</a:t>
            </a:r>
            <a:r>
              <a:rPr lang="en-US" altLang="zh-CN" sz="1800" dirty="0"/>
              <a:t>50MHz</a:t>
            </a:r>
            <a:r>
              <a:rPr lang="zh-CN" altLang="en-US" sz="1800" dirty="0" smtClean="0"/>
              <a:t>以上，高输入阻抗以减小对于信号的影响。由于</a:t>
            </a:r>
            <a:r>
              <a:rPr lang="en-US" altLang="zh-CN" sz="1800" dirty="0" smtClean="0"/>
              <a:t>U2</a:t>
            </a:r>
            <a:r>
              <a:rPr lang="zh-CN" altLang="en-US" sz="1800" dirty="0" smtClean="0"/>
              <a:t>信号幅度可能变化几十倍，所以采样放大器应该是增益可变的</a:t>
            </a:r>
            <a:endParaRPr lang="en-US" altLang="zh-CN" sz="1800" dirty="0" smtClean="0"/>
          </a:p>
          <a:p>
            <a:pPr marL="342900" indent="-342900">
              <a:lnSpc>
                <a:spcPct val="150000"/>
              </a:lnSpc>
              <a:buFont typeface="Arial" panose="020B0604020202020204" pitchFamily="34" charset="0"/>
              <a:buChar char="•"/>
            </a:pPr>
            <a:r>
              <a:rPr lang="zh-CN" altLang="en-US" sz="1800" dirty="0" smtClean="0"/>
              <a:t>乘法器，频响</a:t>
            </a:r>
            <a:r>
              <a:rPr lang="en-US" altLang="zh-CN" sz="1800" dirty="0" smtClean="0"/>
              <a:t>50MHz</a:t>
            </a:r>
            <a:r>
              <a:rPr lang="zh-CN" altLang="en-US" sz="1800" dirty="0" smtClean="0"/>
              <a:t>以上</a:t>
            </a:r>
            <a:endParaRPr lang="en-US" altLang="zh-CN" sz="1800" dirty="0" smtClean="0"/>
          </a:p>
          <a:p>
            <a:pPr marL="342900" indent="-342900">
              <a:lnSpc>
                <a:spcPct val="150000"/>
              </a:lnSpc>
              <a:buFont typeface="Arial" panose="020B0604020202020204" pitchFamily="34" charset="0"/>
              <a:buChar char="•"/>
            </a:pPr>
            <a:r>
              <a:rPr lang="zh-CN" altLang="en-US" sz="1800" dirty="0" smtClean="0"/>
              <a:t>低通滤波器，截止频率远低于最低信号频率</a:t>
            </a:r>
            <a:r>
              <a:rPr lang="en-US" altLang="zh-CN" sz="1800" dirty="0" smtClean="0"/>
              <a:t>2.5MHz</a:t>
            </a:r>
            <a:endParaRPr lang="zh-CN" altLang="en-US" sz="1800" dirty="0"/>
          </a:p>
        </p:txBody>
      </p:sp>
      <p:pic>
        <p:nvPicPr>
          <p:cNvPr id="7" name="图片 6"/>
          <p:cNvPicPr>
            <a:picLocks noChangeAspect="1"/>
          </p:cNvPicPr>
          <p:nvPr/>
        </p:nvPicPr>
        <p:blipFill>
          <a:blip r:embed="rId2"/>
          <a:stretch>
            <a:fillRect/>
          </a:stretch>
        </p:blipFill>
        <p:spPr>
          <a:xfrm>
            <a:off x="978080" y="2082689"/>
            <a:ext cx="4412469" cy="2569140"/>
          </a:xfrm>
          <a:prstGeom prst="rect">
            <a:avLst/>
          </a:prstGeom>
        </p:spPr>
      </p:pic>
      <p:cxnSp>
        <p:nvCxnSpPr>
          <p:cNvPr id="9" name="直接箭头连接符 8"/>
          <p:cNvCxnSpPr/>
          <p:nvPr/>
        </p:nvCxnSpPr>
        <p:spPr>
          <a:xfrm flipH="1">
            <a:off x="2917371" y="1908966"/>
            <a:ext cx="537331" cy="6745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2046817" y="1920618"/>
            <a:ext cx="130326" cy="394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1965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6" name="矩形 5"/>
          <p:cNvSpPr/>
          <p:nvPr/>
        </p:nvSpPr>
        <p:spPr>
          <a:xfrm>
            <a:off x="449943" y="474432"/>
            <a:ext cx="11205028" cy="5216813"/>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sz="1800" dirty="0" smtClean="0"/>
              <a:t>采样放大器</a:t>
            </a:r>
            <a:endParaRPr lang="en-US" altLang="zh-CN" sz="1800" dirty="0" smtClean="0"/>
          </a:p>
          <a:p>
            <a:pPr marL="285750" indent="-285750">
              <a:lnSpc>
                <a:spcPct val="150000"/>
              </a:lnSpc>
              <a:buFont typeface="Arial" panose="020B0604020202020204" pitchFamily="34" charset="0"/>
              <a:buChar char="•"/>
            </a:pPr>
            <a:r>
              <a:rPr lang="zh-CN" altLang="en-US" sz="1800" dirty="0" smtClean="0"/>
              <a:t>第一级必须采用具</a:t>
            </a:r>
            <a:r>
              <a:rPr lang="zh-CN" altLang="en-US" sz="1800" dirty="0"/>
              <a:t>有高</a:t>
            </a:r>
            <a:r>
              <a:rPr lang="zh-CN" altLang="en-US" sz="1800" dirty="0" smtClean="0"/>
              <a:t>输入阻抗的高速</a:t>
            </a:r>
            <a:r>
              <a:rPr lang="zh-CN" altLang="en-US" sz="1800" dirty="0"/>
              <a:t>运</a:t>
            </a:r>
            <a:r>
              <a:rPr lang="zh-CN" altLang="en-US" sz="1800" dirty="0" smtClean="0"/>
              <a:t>放构成同相放大器，例如：</a:t>
            </a:r>
            <a:endParaRPr lang="en-US" altLang="zh-CN" sz="1800" dirty="0" smtClean="0"/>
          </a:p>
          <a:p>
            <a:pPr marL="800100" lvl="1" indent="-342900">
              <a:lnSpc>
                <a:spcPct val="150000"/>
              </a:lnSpc>
              <a:buFont typeface="Arial" panose="020B0604020202020204" pitchFamily="34" charset="0"/>
              <a:buChar char="•"/>
            </a:pPr>
            <a:r>
              <a:rPr lang="en-US" altLang="zh-CN" sz="1800" dirty="0" smtClean="0"/>
              <a:t>OPA690</a:t>
            </a:r>
            <a:r>
              <a:rPr lang="zh-CN" altLang="en-US" sz="1800" dirty="0" smtClean="0"/>
              <a:t>，</a:t>
            </a:r>
            <a:r>
              <a:rPr lang="en-US" altLang="zh-CN" sz="1800" dirty="0" smtClean="0"/>
              <a:t>500MHz</a:t>
            </a:r>
            <a:r>
              <a:rPr lang="zh-CN" altLang="en-US" sz="1800" dirty="0" smtClean="0"/>
              <a:t>，输入阻抗</a:t>
            </a:r>
            <a:r>
              <a:rPr lang="en-US" altLang="zh-CN" sz="1800" dirty="0" smtClean="0"/>
              <a:t>3.2M</a:t>
            </a:r>
            <a:r>
              <a:rPr lang="el-GR" altLang="zh-CN" sz="1800" dirty="0" smtClean="0">
                <a:latin typeface="Arial" panose="020B0604020202020204" pitchFamily="34" charset="0"/>
                <a:cs typeface="Arial" panose="020B0604020202020204" pitchFamily="34" charset="0"/>
              </a:rPr>
              <a:t>Ω</a:t>
            </a:r>
            <a:r>
              <a:rPr lang="en-US" altLang="zh-CN" sz="1800" dirty="0" smtClean="0">
                <a:latin typeface="Arial" panose="020B0604020202020204" pitchFamily="34" charset="0"/>
                <a:cs typeface="Arial" panose="020B0604020202020204" pitchFamily="34" charset="0"/>
              </a:rPr>
              <a:t>||0.9pF</a:t>
            </a:r>
            <a:r>
              <a:rPr lang="zh-CN" altLang="en-US" sz="1800" dirty="0" smtClean="0">
                <a:latin typeface="Arial" panose="020B0604020202020204" pitchFamily="34" charset="0"/>
                <a:cs typeface="Arial" panose="020B0604020202020204" pitchFamily="34" charset="0"/>
              </a:rPr>
              <a:t>（带关断端）</a:t>
            </a:r>
            <a:endParaRPr lang="en-US" altLang="zh-CN" sz="1800" dirty="0" smtClean="0">
              <a:latin typeface="Arial" panose="020B0604020202020204" pitchFamily="34" charset="0"/>
              <a:cs typeface="Arial" panose="020B0604020202020204" pitchFamily="34" charset="0"/>
            </a:endParaRPr>
          </a:p>
          <a:p>
            <a:pPr marL="800100" lvl="1" indent="-342900">
              <a:lnSpc>
                <a:spcPct val="150000"/>
              </a:lnSpc>
              <a:buFont typeface="Arial" panose="020B0604020202020204" pitchFamily="34" charset="0"/>
              <a:buChar char="•"/>
            </a:pPr>
            <a:r>
              <a:rPr lang="en-US" altLang="zh-CN" sz="1800" dirty="0" smtClean="0"/>
              <a:t>AD8047</a:t>
            </a:r>
            <a:r>
              <a:rPr lang="zh-CN" altLang="en-US" sz="1800" dirty="0" smtClean="0"/>
              <a:t>，</a:t>
            </a:r>
            <a:r>
              <a:rPr lang="en-US" altLang="zh-CN" sz="1800" dirty="0" smtClean="0"/>
              <a:t>250MHz</a:t>
            </a:r>
            <a:r>
              <a:rPr lang="zh-CN" altLang="en-US" sz="1800" dirty="0"/>
              <a:t>，</a:t>
            </a:r>
            <a:r>
              <a:rPr lang="zh-CN" altLang="en-US" sz="1800" dirty="0" smtClean="0"/>
              <a:t>输入阻抗</a:t>
            </a:r>
            <a:r>
              <a:rPr lang="en-US" altLang="zh-CN" sz="1800" dirty="0" smtClean="0"/>
              <a:t>500k</a:t>
            </a:r>
            <a:r>
              <a:rPr lang="el-GR" altLang="zh-CN" sz="1800" dirty="0" smtClean="0">
                <a:latin typeface="Arial" panose="020B0604020202020204" pitchFamily="34" charset="0"/>
                <a:cs typeface="Arial" panose="020B0604020202020204" pitchFamily="34" charset="0"/>
              </a:rPr>
              <a:t>Ω</a:t>
            </a:r>
            <a:r>
              <a:rPr lang="en-US" altLang="zh-CN" sz="1800" dirty="0" smtClean="0">
                <a:latin typeface="Arial" panose="020B0604020202020204" pitchFamily="34" charset="0"/>
                <a:cs typeface="Arial" panose="020B0604020202020204" pitchFamily="34" charset="0"/>
              </a:rPr>
              <a:t>||1.5pF</a:t>
            </a:r>
          </a:p>
          <a:p>
            <a:pPr marL="800100" lvl="1" indent="-342900">
              <a:lnSpc>
                <a:spcPct val="150000"/>
              </a:lnSpc>
              <a:buFont typeface="Arial" panose="020B0604020202020204" pitchFamily="34" charset="0"/>
              <a:buChar char="•"/>
            </a:pPr>
            <a:r>
              <a:rPr lang="en-US" altLang="zh-CN" sz="1800" dirty="0" smtClean="0"/>
              <a:t>THS3201</a:t>
            </a:r>
            <a:r>
              <a:rPr lang="zh-CN" altLang="en-US" sz="1800" dirty="0" smtClean="0"/>
              <a:t>，</a:t>
            </a:r>
            <a:r>
              <a:rPr lang="en-US" altLang="zh-CN" sz="1800" dirty="0" smtClean="0"/>
              <a:t>1.8GHz</a:t>
            </a:r>
            <a:r>
              <a:rPr lang="zh-CN" altLang="en-US" sz="1800" dirty="0"/>
              <a:t>，</a:t>
            </a:r>
            <a:r>
              <a:rPr lang="zh-CN" altLang="en-US" sz="1800" dirty="0" smtClean="0"/>
              <a:t>输入阻抗</a:t>
            </a:r>
            <a:r>
              <a:rPr lang="en-US" altLang="zh-CN" sz="1800" dirty="0" smtClean="0"/>
              <a:t>780k</a:t>
            </a:r>
            <a:r>
              <a:rPr lang="el-GR" altLang="zh-CN" sz="1800" dirty="0">
                <a:latin typeface="Arial" panose="020B0604020202020204" pitchFamily="34" charset="0"/>
                <a:cs typeface="Arial" panose="020B0604020202020204" pitchFamily="34" charset="0"/>
              </a:rPr>
              <a:t>Ω</a:t>
            </a:r>
            <a:r>
              <a:rPr lang="en-US" altLang="zh-CN" sz="1800" dirty="0">
                <a:latin typeface="Arial" panose="020B0604020202020204" pitchFamily="34" charset="0"/>
                <a:cs typeface="Arial" panose="020B0604020202020204" pitchFamily="34" charset="0"/>
              </a:rPr>
              <a:t>||</a:t>
            </a:r>
            <a:r>
              <a:rPr lang="en-US" altLang="zh-CN" sz="1800" dirty="0" smtClean="0">
                <a:latin typeface="Arial" panose="020B0604020202020204" pitchFamily="34" charset="0"/>
                <a:cs typeface="Arial" panose="020B0604020202020204" pitchFamily="34" charset="0"/>
              </a:rPr>
              <a:t>1pF</a:t>
            </a:r>
            <a:r>
              <a:rPr lang="zh-CN" altLang="en-US" sz="1800" dirty="0" smtClean="0">
                <a:latin typeface="Arial" panose="020B0604020202020204" pitchFamily="34" charset="0"/>
                <a:cs typeface="Arial" panose="020B0604020202020204" pitchFamily="34" charset="0"/>
              </a:rPr>
              <a:t>（电流反馈型运放，注意反馈电阻不能为</a:t>
            </a:r>
            <a:r>
              <a:rPr lang="en-US" altLang="zh-CN" sz="1800" dirty="0" smtClean="0">
                <a:latin typeface="Arial" panose="020B0604020202020204" pitchFamily="34" charset="0"/>
                <a:cs typeface="Arial" panose="020B0604020202020204" pitchFamily="34" charset="0"/>
              </a:rPr>
              <a:t>0</a:t>
            </a:r>
            <a:r>
              <a:rPr lang="zh-CN" altLang="en-US" sz="1800" dirty="0" smtClean="0">
                <a:latin typeface="Arial" panose="020B0604020202020204" pitchFamily="34" charset="0"/>
                <a:cs typeface="Arial" panose="020B0604020202020204" pitchFamily="34" charset="0"/>
              </a:rPr>
              <a:t>）</a:t>
            </a:r>
            <a:endParaRPr lang="en-US" altLang="zh-CN" sz="1800" dirty="0">
              <a:latin typeface="Arial" panose="020B0604020202020204" pitchFamily="34" charset="0"/>
              <a:cs typeface="Arial" panose="020B0604020202020204" pitchFamily="34" charset="0"/>
            </a:endParaRPr>
          </a:p>
          <a:p>
            <a:pPr marL="742950" lvl="1" indent="-285750">
              <a:lnSpc>
                <a:spcPct val="150000"/>
              </a:lnSpc>
              <a:buFont typeface="Arial" panose="020B0604020202020204" pitchFamily="34" charset="0"/>
              <a:buChar char="•"/>
            </a:pPr>
            <a:r>
              <a:rPr lang="zh-CN" altLang="en-US" sz="1800" dirty="0"/>
              <a:t>采用贴片器件，注意安装时尽量靠近采样电阻</a:t>
            </a:r>
            <a:endParaRPr lang="en-US" altLang="zh-CN" sz="1800" dirty="0"/>
          </a:p>
          <a:p>
            <a:pPr marL="285750" indent="-285750">
              <a:lnSpc>
                <a:spcPct val="200000"/>
              </a:lnSpc>
              <a:buFont typeface="Arial" panose="020B0604020202020204" pitchFamily="34" charset="0"/>
              <a:buChar char="•"/>
            </a:pPr>
            <a:r>
              <a:rPr lang="zh-CN" altLang="en-US" sz="1800" dirty="0" smtClean="0"/>
              <a:t>为了提高测量精度，考虑放大器的增益可变</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在放大器中插入</a:t>
            </a:r>
            <a:r>
              <a:rPr lang="en-US" altLang="zh-CN" sz="1800" dirty="0" smtClean="0"/>
              <a:t>VGA</a:t>
            </a:r>
            <a:r>
              <a:rPr lang="zh-CN" altLang="en-US" sz="1800" dirty="0" smtClean="0"/>
              <a:t>（用单片机的</a:t>
            </a:r>
            <a:r>
              <a:rPr lang="en-US" altLang="zh-CN" sz="1800" dirty="0" smtClean="0"/>
              <a:t>DAC</a:t>
            </a:r>
            <a:r>
              <a:rPr lang="zh-CN" altLang="en-US" sz="1800" dirty="0" smtClean="0"/>
              <a:t>输出控制增益），或者数控衰减器</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采用改变反馈系数（反馈电阻）的方法，但需考虑模拟开关的频响</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采用多个带关断功能的放大器</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注意保证在大信号输入情况下放大器不会饱和</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不可采用</a:t>
            </a:r>
            <a:r>
              <a:rPr lang="en-US" altLang="zh-CN" sz="1800" dirty="0" smtClean="0"/>
              <a:t>AGC</a:t>
            </a:r>
            <a:r>
              <a:rPr lang="zh-CN" altLang="en-US" sz="1800" dirty="0" smtClean="0"/>
              <a:t>电路，因为</a:t>
            </a:r>
            <a:r>
              <a:rPr lang="en-US" altLang="zh-CN" sz="1800" dirty="0" smtClean="0"/>
              <a:t>AGC</a:t>
            </a:r>
            <a:r>
              <a:rPr lang="zh-CN" altLang="en-US" sz="1800" dirty="0" smtClean="0"/>
              <a:t>电路的增益不可知，导致无法计算</a:t>
            </a:r>
            <a:endParaRPr lang="en-US" altLang="zh-CN" sz="1800" dirty="0"/>
          </a:p>
        </p:txBody>
      </p:sp>
    </p:spTree>
    <p:extLst>
      <p:ext uri="{BB962C8B-B14F-4D97-AF65-F5344CB8AC3E}">
        <p14:creationId xmlns:p14="http://schemas.microsoft.com/office/powerpoint/2010/main" val="42767637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5" name="矩形 4"/>
          <p:cNvSpPr/>
          <p:nvPr/>
        </p:nvSpPr>
        <p:spPr>
          <a:xfrm>
            <a:off x="449943" y="474432"/>
            <a:ext cx="4528457" cy="50783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改变反馈系数的电路</a:t>
            </a:r>
            <a:endParaRPr lang="en-US" altLang="zh-CN" sz="1800" dirty="0" smtClean="0"/>
          </a:p>
        </p:txBody>
      </p:sp>
      <p:sp>
        <p:nvSpPr>
          <p:cNvPr id="6" name="矩形 5"/>
          <p:cNvSpPr/>
          <p:nvPr/>
        </p:nvSpPr>
        <p:spPr>
          <a:xfrm>
            <a:off x="6589485" y="474432"/>
            <a:ext cx="4085771" cy="50783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多个带关断功能放大器的电路</a:t>
            </a:r>
            <a:endParaRPr lang="en-US" altLang="zh-CN" sz="1800" dirty="0" smtClean="0"/>
          </a:p>
        </p:txBody>
      </p:sp>
      <p:pic>
        <p:nvPicPr>
          <p:cNvPr id="7" name="图片 6"/>
          <p:cNvPicPr>
            <a:picLocks noChangeAspect="1"/>
          </p:cNvPicPr>
          <p:nvPr/>
        </p:nvPicPr>
        <p:blipFill>
          <a:blip r:embed="rId2"/>
          <a:stretch>
            <a:fillRect/>
          </a:stretch>
        </p:blipFill>
        <p:spPr>
          <a:xfrm>
            <a:off x="824592" y="1218292"/>
            <a:ext cx="3998042" cy="2011136"/>
          </a:xfrm>
          <a:prstGeom prst="rect">
            <a:avLst/>
          </a:prstGeom>
        </p:spPr>
      </p:pic>
      <p:sp>
        <p:nvSpPr>
          <p:cNvPr id="8" name="矩形 7"/>
          <p:cNvSpPr/>
          <p:nvPr/>
        </p:nvSpPr>
        <p:spPr>
          <a:xfrm>
            <a:off x="769257" y="3297460"/>
            <a:ext cx="4296229"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增益稳定可靠</a:t>
            </a:r>
            <a:endParaRPr lang="en-US" altLang="zh-CN" sz="1800" dirty="0" smtClean="0"/>
          </a:p>
          <a:p>
            <a:pPr marL="285750" indent="-285750">
              <a:lnSpc>
                <a:spcPct val="150000"/>
              </a:lnSpc>
              <a:buFont typeface="Arial" panose="020B0604020202020204" pitchFamily="34" charset="0"/>
              <a:buChar char="•"/>
            </a:pPr>
            <a:r>
              <a:rPr lang="zh-CN" altLang="en-US" sz="1800" dirty="0" smtClean="0"/>
              <a:t>在低频应用中常见</a:t>
            </a:r>
            <a:endParaRPr lang="en-US" altLang="zh-CN" sz="1800" dirty="0" smtClean="0"/>
          </a:p>
          <a:p>
            <a:pPr marL="285750" indent="-285750">
              <a:lnSpc>
                <a:spcPct val="150000"/>
              </a:lnSpc>
              <a:buFont typeface="Arial" panose="020B0604020202020204" pitchFamily="34" charset="0"/>
              <a:buChar char="•"/>
            </a:pPr>
            <a:r>
              <a:rPr lang="zh-CN" altLang="en-US" sz="1800" dirty="0" smtClean="0"/>
              <a:t>高频应用中需注意模拟开关的频响。常用的</a:t>
            </a:r>
            <a:r>
              <a:rPr lang="en-US" altLang="zh-CN" sz="1800" dirty="0" smtClean="0"/>
              <a:t>HC4051\HC4052\HC4053</a:t>
            </a:r>
            <a:r>
              <a:rPr lang="zh-CN" altLang="en-US" sz="1800" dirty="0" smtClean="0"/>
              <a:t>系列模拟开关的频响大约是几十</a:t>
            </a:r>
            <a:r>
              <a:rPr lang="en-US" altLang="zh-CN" sz="1800" dirty="0" smtClean="0"/>
              <a:t>MHz</a:t>
            </a:r>
            <a:r>
              <a:rPr lang="zh-CN" altLang="en-US" sz="1800" dirty="0" smtClean="0"/>
              <a:t>，对于本题来说大致上是用到极限了</a:t>
            </a:r>
            <a:endParaRPr lang="en-US" altLang="zh-CN" sz="1800" dirty="0" smtClean="0"/>
          </a:p>
        </p:txBody>
      </p:sp>
      <p:pic>
        <p:nvPicPr>
          <p:cNvPr id="9" name="图片 8"/>
          <p:cNvPicPr>
            <a:picLocks noChangeAspect="1"/>
          </p:cNvPicPr>
          <p:nvPr/>
        </p:nvPicPr>
        <p:blipFill>
          <a:blip r:embed="rId3"/>
          <a:stretch>
            <a:fillRect/>
          </a:stretch>
        </p:blipFill>
        <p:spPr>
          <a:xfrm>
            <a:off x="6694565" y="1100277"/>
            <a:ext cx="3625093" cy="3637993"/>
          </a:xfrm>
          <a:prstGeom prst="rect">
            <a:avLst/>
          </a:prstGeom>
        </p:spPr>
      </p:pic>
      <p:sp>
        <p:nvSpPr>
          <p:cNvPr id="10" name="矩形 9"/>
          <p:cNvSpPr/>
          <p:nvPr/>
        </p:nvSpPr>
        <p:spPr>
          <a:xfrm>
            <a:off x="6774846" y="4856285"/>
            <a:ext cx="4807554" cy="1338828"/>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增益稳定可靠</a:t>
            </a:r>
            <a:endParaRPr lang="en-US" altLang="zh-CN" sz="1800" dirty="0" smtClean="0"/>
          </a:p>
          <a:p>
            <a:pPr marL="285750" indent="-285750">
              <a:lnSpc>
                <a:spcPct val="150000"/>
              </a:lnSpc>
              <a:buFont typeface="Arial" panose="020B0604020202020204" pitchFamily="34" charset="0"/>
              <a:buChar char="•"/>
            </a:pPr>
            <a:r>
              <a:rPr lang="zh-CN" altLang="en-US" sz="1800" dirty="0" smtClean="0"/>
              <a:t>可应用于高频电路</a:t>
            </a:r>
            <a:endParaRPr lang="en-US" altLang="zh-CN" sz="1800" dirty="0" smtClean="0"/>
          </a:p>
          <a:p>
            <a:pPr marL="285750" indent="-285750">
              <a:lnSpc>
                <a:spcPct val="150000"/>
              </a:lnSpc>
              <a:buFont typeface="Arial" panose="020B0604020202020204" pitchFamily="34" charset="0"/>
              <a:buChar char="•"/>
            </a:pPr>
            <a:r>
              <a:rPr lang="zh-CN" altLang="en-US" sz="1800" dirty="0" smtClean="0"/>
              <a:t>使用放大器多，不适合增益档位多的场合</a:t>
            </a:r>
            <a:endParaRPr lang="en-US" altLang="zh-CN" sz="1800" dirty="0" smtClean="0"/>
          </a:p>
        </p:txBody>
      </p:sp>
    </p:spTree>
    <p:extLst>
      <p:ext uri="{BB962C8B-B14F-4D97-AF65-F5344CB8AC3E}">
        <p14:creationId xmlns:p14="http://schemas.microsoft.com/office/powerpoint/2010/main" val="1502440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9" name="文本框 8"/>
          <p:cNvSpPr txBox="1"/>
          <p:nvPr/>
        </p:nvSpPr>
        <p:spPr>
          <a:xfrm>
            <a:off x="421917" y="458210"/>
            <a:ext cx="7320005" cy="969496"/>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smtClean="0"/>
              <a:t>乘法器</a:t>
            </a:r>
            <a:endParaRPr lang="en-US" altLang="zh-CN" dirty="0" smtClean="0"/>
          </a:p>
          <a:p>
            <a:pPr>
              <a:lnSpc>
                <a:spcPct val="150000"/>
              </a:lnSpc>
            </a:pPr>
            <a:r>
              <a:rPr lang="zh-CN" altLang="en-US" sz="1800" dirty="0" smtClean="0"/>
              <a:t>采用高频乘法器芯片，例如</a:t>
            </a:r>
            <a:r>
              <a:rPr lang="en-US" altLang="zh-CN" sz="1800" dirty="0" smtClean="0"/>
              <a:t>AD835</a:t>
            </a:r>
            <a:endParaRPr lang="zh-CN" altLang="en-US" sz="1800" dirty="0"/>
          </a:p>
        </p:txBody>
      </p:sp>
      <p:pic>
        <p:nvPicPr>
          <p:cNvPr id="5" name="图片 4"/>
          <p:cNvPicPr>
            <a:picLocks noChangeAspect="1"/>
          </p:cNvPicPr>
          <p:nvPr/>
        </p:nvPicPr>
        <p:blipFill>
          <a:blip r:embed="rId3"/>
          <a:stretch>
            <a:fillRect/>
          </a:stretch>
        </p:blipFill>
        <p:spPr>
          <a:xfrm>
            <a:off x="1002488" y="1584856"/>
            <a:ext cx="3960429" cy="2193331"/>
          </a:xfrm>
          <a:prstGeom prst="rect">
            <a:avLst/>
          </a:prstGeom>
        </p:spPr>
      </p:pic>
      <p:pic>
        <p:nvPicPr>
          <p:cNvPr id="6" name="图片 5"/>
          <p:cNvPicPr>
            <a:picLocks noChangeAspect="1"/>
          </p:cNvPicPr>
          <p:nvPr/>
        </p:nvPicPr>
        <p:blipFill>
          <a:blip r:embed="rId4"/>
          <a:stretch>
            <a:fillRect/>
          </a:stretch>
        </p:blipFill>
        <p:spPr>
          <a:xfrm>
            <a:off x="7467600" y="1368547"/>
            <a:ext cx="4046687" cy="4468735"/>
          </a:xfrm>
          <a:prstGeom prst="rect">
            <a:avLst/>
          </a:prstGeom>
        </p:spPr>
      </p:pic>
      <p:graphicFrame>
        <p:nvGraphicFramePr>
          <p:cNvPr id="10" name="对象 9"/>
          <p:cNvGraphicFramePr>
            <a:graphicFrameLocks noChangeAspect="1"/>
          </p:cNvGraphicFramePr>
          <p:nvPr>
            <p:extLst>
              <p:ext uri="{D42A27DB-BD31-4B8C-83A1-F6EECF244321}">
                <p14:modId xmlns:p14="http://schemas.microsoft.com/office/powerpoint/2010/main" val="1083023655"/>
              </p:ext>
            </p:extLst>
          </p:nvPr>
        </p:nvGraphicFramePr>
        <p:xfrm>
          <a:off x="4407806" y="1729022"/>
          <a:ext cx="2468563" cy="598488"/>
        </p:xfrm>
        <a:graphic>
          <a:graphicData uri="http://schemas.openxmlformats.org/presentationml/2006/ole">
            <mc:AlternateContent xmlns:mc="http://schemas.openxmlformats.org/markup-compatibility/2006">
              <mc:Choice xmlns:v="urn:schemas-microsoft-com:vml" Requires="v">
                <p:oleObj spid="_x0000_s22556" name="Equation" r:id="rId5" imgW="1498320" imgH="355320" progId="Equation.DSMT4">
                  <p:embed/>
                </p:oleObj>
              </mc:Choice>
              <mc:Fallback>
                <p:oleObj name="Equation" r:id="rId5" imgW="1498320" imgH="355320" progId="Equation.DSMT4">
                  <p:embed/>
                  <p:pic>
                    <p:nvPicPr>
                      <p:cNvPr id="10" name="对象 9"/>
                      <p:cNvPicPr>
                        <a:picLocks noChangeAspect="1" noChangeArrowheads="1"/>
                      </p:cNvPicPr>
                      <p:nvPr/>
                    </p:nvPicPr>
                    <p:blipFill>
                      <a:blip r:embed="rId6"/>
                      <a:srcRect/>
                      <a:stretch>
                        <a:fillRect/>
                      </a:stretch>
                    </p:blipFill>
                    <p:spPr bwMode="auto">
                      <a:xfrm>
                        <a:off x="4407806" y="1729022"/>
                        <a:ext cx="2468563" cy="598488"/>
                      </a:xfrm>
                      <a:prstGeom prst="rect">
                        <a:avLst/>
                      </a:prstGeom>
                      <a:solidFill>
                        <a:srgbClr val="FFFF66"/>
                      </a:solidFill>
                    </p:spPr>
                  </p:pic>
                </p:oleObj>
              </mc:Fallback>
            </mc:AlternateContent>
          </a:graphicData>
        </a:graphic>
      </p:graphicFrame>
      <p:sp>
        <p:nvSpPr>
          <p:cNvPr id="11" name="文本框 10"/>
          <p:cNvSpPr txBox="1"/>
          <p:nvPr/>
        </p:nvSpPr>
        <p:spPr>
          <a:xfrm>
            <a:off x="769257" y="3853543"/>
            <a:ext cx="6698343"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电源电压：</a:t>
            </a:r>
            <a:r>
              <a:rPr lang="en-US" altLang="zh-CN" sz="1800" dirty="0" smtClean="0">
                <a:latin typeface="Arial" panose="020B0604020202020204" pitchFamily="34" charset="0"/>
                <a:cs typeface="Arial" panose="020B0604020202020204" pitchFamily="34" charset="0"/>
              </a:rPr>
              <a:t>±5V</a:t>
            </a:r>
          </a:p>
          <a:p>
            <a:pPr marL="285750" indent="-285750">
              <a:lnSpc>
                <a:spcPct val="150000"/>
              </a:lnSpc>
              <a:buFont typeface="Arial" panose="020B0604020202020204" pitchFamily="34" charset="0"/>
              <a:buChar char="•"/>
            </a:pPr>
            <a:r>
              <a:rPr lang="en-US" altLang="zh-CN" sz="1800" dirty="0" smtClean="0"/>
              <a:t>-3dB</a:t>
            </a:r>
            <a:r>
              <a:rPr lang="zh-CN" altLang="en-US" sz="1800" dirty="0" smtClean="0"/>
              <a:t>带宽：</a:t>
            </a:r>
            <a:r>
              <a:rPr lang="en-US" altLang="zh-CN" sz="1800" dirty="0" smtClean="0"/>
              <a:t>250MHz</a:t>
            </a:r>
            <a:r>
              <a:rPr lang="zh-CN" altLang="en-US" sz="1800" dirty="0" smtClean="0">
                <a:latin typeface="+mj-lt"/>
              </a:rPr>
              <a:t>（</a:t>
            </a:r>
            <a:r>
              <a:rPr lang="en-US" altLang="zh-CN" sz="1800" dirty="0" smtClean="0"/>
              <a:t>0.1dB</a:t>
            </a:r>
            <a:r>
              <a:rPr lang="zh-CN" altLang="en-US" sz="1800" dirty="0" smtClean="0"/>
              <a:t>平坦</a:t>
            </a:r>
            <a:r>
              <a:rPr lang="zh-CN" altLang="en-US" sz="1800" dirty="0"/>
              <a:t>带宽</a:t>
            </a:r>
            <a:r>
              <a:rPr lang="en-US" altLang="zh-CN" sz="1800" dirty="0" smtClean="0"/>
              <a:t>15MHz)</a:t>
            </a:r>
          </a:p>
          <a:p>
            <a:pPr marL="285750" indent="-285750">
              <a:lnSpc>
                <a:spcPct val="150000"/>
              </a:lnSpc>
              <a:buFont typeface="Arial" panose="020B0604020202020204" pitchFamily="34" charset="0"/>
              <a:buChar char="•"/>
            </a:pPr>
            <a:r>
              <a:rPr lang="zh-CN" altLang="en-US" sz="1800" dirty="0"/>
              <a:t>最大</a:t>
            </a:r>
            <a:r>
              <a:rPr lang="zh-CN" altLang="en-US" sz="1800" dirty="0" smtClean="0"/>
              <a:t>输出电压摆幅：</a:t>
            </a:r>
            <a:r>
              <a:rPr lang="en-US" altLang="zh-CN" sz="1800" dirty="0" smtClean="0">
                <a:latin typeface="Arial" panose="020B0604020202020204" pitchFamily="34" charset="0"/>
                <a:cs typeface="Arial" panose="020B0604020202020204" pitchFamily="34" charset="0"/>
              </a:rPr>
              <a:t>±2.5V</a:t>
            </a:r>
            <a:r>
              <a:rPr lang="zh-CN" altLang="en-US" sz="1800" dirty="0" smtClean="0">
                <a:latin typeface="Arial" panose="020B0604020202020204" pitchFamily="34" charset="0"/>
                <a:cs typeface="Arial" panose="020B0604020202020204" pitchFamily="34" charset="0"/>
              </a:rPr>
              <a:t>（</a:t>
            </a:r>
            <a:r>
              <a:rPr lang="en-US" altLang="zh-CN" sz="1800" dirty="0" err="1" smtClean="0">
                <a:latin typeface="Arial" panose="020B0604020202020204" pitchFamily="34" charset="0"/>
                <a:cs typeface="Arial" panose="020B0604020202020204" pitchFamily="34" charset="0"/>
              </a:rPr>
              <a:t>Typ</a:t>
            </a:r>
            <a:r>
              <a:rPr lang="en-US" altLang="zh-CN" sz="1800" dirty="0" smtClean="0">
                <a:latin typeface="Arial" panose="020B0604020202020204" pitchFamily="34" charset="0"/>
                <a:cs typeface="Arial" panose="020B0604020202020204" pitchFamily="34" charset="0"/>
              </a:rPr>
              <a:t>)</a:t>
            </a:r>
            <a:r>
              <a:rPr lang="zh-CN" altLang="en-US" sz="1800" dirty="0" smtClean="0">
                <a:latin typeface="Arial" panose="020B0604020202020204" pitchFamily="34" charset="0"/>
                <a:cs typeface="Arial" panose="020B0604020202020204" pitchFamily="34" charset="0"/>
              </a:rPr>
              <a:t>，</a:t>
            </a:r>
            <a:r>
              <a:rPr lang="en-US" altLang="zh-CN" sz="1800" dirty="0">
                <a:latin typeface="Arial" panose="020B0604020202020204" pitchFamily="34" charset="0"/>
                <a:cs typeface="Arial" panose="020B0604020202020204" pitchFamily="34" charset="0"/>
              </a:rPr>
              <a:t> ±</a:t>
            </a:r>
            <a:r>
              <a:rPr lang="en-US" altLang="zh-CN" sz="1800" dirty="0" smtClean="0">
                <a:latin typeface="Arial" panose="020B0604020202020204" pitchFamily="34" charset="0"/>
                <a:cs typeface="Arial" panose="020B0604020202020204" pitchFamily="34" charset="0"/>
              </a:rPr>
              <a:t>2V</a:t>
            </a:r>
            <a:r>
              <a:rPr lang="zh-CN" altLang="en-US" sz="1800" dirty="0" smtClean="0">
                <a:latin typeface="Arial" panose="020B0604020202020204" pitchFamily="34" charset="0"/>
                <a:cs typeface="Arial" panose="020B0604020202020204" pitchFamily="34" charset="0"/>
              </a:rPr>
              <a:t>（</a:t>
            </a:r>
            <a:r>
              <a:rPr lang="en-US" altLang="zh-CN" sz="1800" dirty="0" smtClean="0">
                <a:latin typeface="Arial" panose="020B0604020202020204" pitchFamily="34" charset="0"/>
                <a:cs typeface="Arial" panose="020B0604020202020204" pitchFamily="34" charset="0"/>
              </a:rPr>
              <a:t>Min)</a:t>
            </a:r>
            <a:endParaRPr lang="en-US" altLang="zh-CN" sz="18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zh-CN" altLang="en-US" sz="1800" dirty="0" smtClean="0"/>
              <a:t>典型输入电压最大值：</a:t>
            </a:r>
            <a:r>
              <a:rPr lang="en-US" altLang="zh-CN" sz="1800" dirty="0">
                <a:latin typeface="Arial" panose="020B0604020202020204" pitchFamily="34" charset="0"/>
                <a:cs typeface="Arial" panose="020B0604020202020204" pitchFamily="34" charset="0"/>
              </a:rPr>
              <a:t> </a:t>
            </a:r>
            <a:r>
              <a:rPr lang="en-US" altLang="zh-CN" sz="1800" dirty="0" smtClean="0">
                <a:latin typeface="Arial" panose="020B0604020202020204" pitchFamily="34" charset="0"/>
                <a:cs typeface="Arial" panose="020B0604020202020204" pitchFamily="34" charset="0"/>
              </a:rPr>
              <a:t>±1V</a:t>
            </a: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cs typeface="Arial" panose="020B0604020202020204" pitchFamily="34" charset="0"/>
              </a:rPr>
              <a:t>负载能力：短路输出电流</a:t>
            </a:r>
            <a:r>
              <a:rPr lang="en-US" altLang="zh-CN" sz="1800" dirty="0" smtClean="0">
                <a:latin typeface="Arial" panose="020B0604020202020204" pitchFamily="34" charset="0"/>
                <a:cs typeface="Arial" panose="020B0604020202020204" pitchFamily="34" charset="0"/>
              </a:rPr>
              <a:t>75mA</a:t>
            </a:r>
            <a:endParaRPr lang="zh-CN" altLang="en-US" sz="1800" dirty="0"/>
          </a:p>
        </p:txBody>
      </p:sp>
    </p:spTree>
    <p:extLst>
      <p:ext uri="{BB962C8B-B14F-4D97-AF65-F5344CB8AC3E}">
        <p14:creationId xmlns:p14="http://schemas.microsoft.com/office/powerpoint/2010/main" val="6664928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文本框 4"/>
          <p:cNvSpPr txBox="1"/>
          <p:nvPr/>
        </p:nvSpPr>
        <p:spPr>
          <a:xfrm>
            <a:off x="421917" y="458210"/>
            <a:ext cx="11189512" cy="2215991"/>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a:t>低</a:t>
            </a:r>
            <a:r>
              <a:rPr lang="zh-CN" altLang="en-US" dirty="0" smtClean="0"/>
              <a:t>通滤波器</a:t>
            </a:r>
            <a:endParaRPr lang="en-US" altLang="zh-CN" dirty="0" smtClean="0"/>
          </a:p>
          <a:p>
            <a:pPr marL="800100" lvl="1" indent="-342900">
              <a:lnSpc>
                <a:spcPct val="150000"/>
              </a:lnSpc>
              <a:buFont typeface="Arial" panose="020B0604020202020204" pitchFamily="34" charset="0"/>
              <a:buChar char="•"/>
            </a:pPr>
            <a:r>
              <a:rPr lang="zh-CN" altLang="en-US" sz="1800" dirty="0" smtClean="0"/>
              <a:t>对于最低频率信号（</a:t>
            </a:r>
            <a:r>
              <a:rPr lang="en-US" altLang="zh-CN" sz="1800" dirty="0" smtClean="0"/>
              <a:t>2MHz</a:t>
            </a:r>
            <a:r>
              <a:rPr lang="zh-CN" altLang="en-US" sz="1800" dirty="0" smtClean="0"/>
              <a:t>）有足够大的衰减</a:t>
            </a:r>
            <a:endParaRPr lang="en-US" altLang="zh-CN" sz="1800" dirty="0" smtClean="0"/>
          </a:p>
          <a:p>
            <a:pPr lvl="2">
              <a:lnSpc>
                <a:spcPct val="150000"/>
              </a:lnSpc>
            </a:pPr>
            <a:r>
              <a:rPr lang="zh-CN" altLang="en-US" sz="1800" dirty="0" smtClean="0"/>
              <a:t>采用</a:t>
            </a:r>
            <a:r>
              <a:rPr lang="en-US" altLang="zh-CN" sz="1800" dirty="0" smtClean="0"/>
              <a:t>2</a:t>
            </a:r>
            <a:r>
              <a:rPr lang="zh-CN" altLang="en-US" sz="1800" dirty="0" smtClean="0"/>
              <a:t>阶低通滤波器，截止频率</a:t>
            </a:r>
            <a:r>
              <a:rPr lang="en-US" altLang="zh-CN" sz="1800" dirty="0" smtClean="0"/>
              <a:t>20kHz</a:t>
            </a:r>
            <a:r>
              <a:rPr lang="zh-CN" altLang="en-US" sz="1800" dirty="0" smtClean="0"/>
              <a:t>，按</a:t>
            </a:r>
            <a:r>
              <a:rPr lang="en-US" altLang="zh-CN" sz="1800" dirty="0" smtClean="0"/>
              <a:t>40dB/</a:t>
            </a:r>
            <a:r>
              <a:rPr lang="en-US" altLang="zh-CN" sz="1800" dirty="0" err="1" smtClean="0"/>
              <a:t>dec</a:t>
            </a:r>
            <a:r>
              <a:rPr lang="zh-CN" altLang="en-US" sz="1800" dirty="0" smtClean="0"/>
              <a:t>计算，对于</a:t>
            </a:r>
            <a:r>
              <a:rPr lang="en-US" altLang="zh-CN" sz="1800" dirty="0" smtClean="0"/>
              <a:t>2MHz</a:t>
            </a:r>
            <a:r>
              <a:rPr lang="zh-CN" altLang="en-US" sz="1800" dirty="0" smtClean="0"/>
              <a:t>信号的衰减大约是</a:t>
            </a:r>
            <a:r>
              <a:rPr lang="en-US" altLang="zh-CN" sz="1800" dirty="0" smtClean="0"/>
              <a:t>80dB</a:t>
            </a:r>
          </a:p>
          <a:p>
            <a:pPr marL="742950" lvl="1" indent="-285750">
              <a:lnSpc>
                <a:spcPct val="150000"/>
              </a:lnSpc>
              <a:buFont typeface="Arial" panose="020B0604020202020204" pitchFamily="34" charset="0"/>
              <a:buChar char="•"/>
            </a:pPr>
            <a:r>
              <a:rPr lang="zh-CN" altLang="en-US" sz="1800" dirty="0"/>
              <a:t>采用有源滤波器</a:t>
            </a:r>
            <a:endParaRPr lang="en-US" altLang="zh-CN" sz="1800" dirty="0"/>
          </a:p>
          <a:p>
            <a:pPr lvl="2">
              <a:lnSpc>
                <a:spcPct val="150000"/>
              </a:lnSpc>
            </a:pPr>
            <a:r>
              <a:rPr lang="zh-CN" altLang="en-US" sz="1800" dirty="0" smtClean="0"/>
              <a:t>应用</a:t>
            </a:r>
            <a:r>
              <a:rPr lang="en-US" altLang="zh-CN" sz="1800" dirty="0"/>
              <a:t>《</a:t>
            </a:r>
            <a:r>
              <a:rPr lang="zh-CN" altLang="en-US" sz="1800" dirty="0"/>
              <a:t>有源滤波器参数计算</a:t>
            </a:r>
            <a:r>
              <a:rPr lang="en-US" altLang="zh-CN" sz="1800" dirty="0"/>
              <a:t>》</a:t>
            </a:r>
            <a:r>
              <a:rPr lang="zh-CN" altLang="en-US" sz="1800" dirty="0"/>
              <a:t>设计，可得到</a:t>
            </a:r>
            <a:r>
              <a:rPr lang="zh-CN" altLang="en-US" sz="1800" dirty="0" smtClean="0"/>
              <a:t>下列电路</a:t>
            </a:r>
            <a:endParaRPr lang="zh-CN" altLang="en-US" sz="1800" dirty="0"/>
          </a:p>
        </p:txBody>
      </p:sp>
      <p:pic>
        <p:nvPicPr>
          <p:cNvPr id="6" name="图片 5"/>
          <p:cNvPicPr>
            <a:picLocks noChangeAspect="1"/>
          </p:cNvPicPr>
          <p:nvPr/>
        </p:nvPicPr>
        <p:blipFill>
          <a:blip r:embed="rId3"/>
          <a:stretch>
            <a:fillRect/>
          </a:stretch>
        </p:blipFill>
        <p:spPr>
          <a:xfrm>
            <a:off x="3120077" y="3002190"/>
            <a:ext cx="4826495" cy="1648361"/>
          </a:xfrm>
          <a:prstGeom prst="rect">
            <a:avLst/>
          </a:prstGeom>
        </p:spPr>
      </p:pic>
    </p:spTree>
    <p:extLst>
      <p:ext uri="{BB962C8B-B14F-4D97-AF65-F5344CB8AC3E}">
        <p14:creationId xmlns:p14="http://schemas.microsoft.com/office/powerpoint/2010/main" val="16472244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文本框 4"/>
          <p:cNvSpPr txBox="1"/>
          <p:nvPr/>
        </p:nvSpPr>
        <p:spPr>
          <a:xfrm>
            <a:off x="420765" y="399143"/>
            <a:ext cx="11234206" cy="3046988"/>
          </a:xfrm>
          <a:prstGeom prst="rect">
            <a:avLst/>
          </a:prstGeom>
          <a:noFill/>
        </p:spPr>
        <p:txBody>
          <a:bodyPr wrap="square" rtlCol="0">
            <a:spAutoFit/>
          </a:bodyPr>
          <a:lstStyle/>
          <a:p>
            <a:pPr>
              <a:lnSpc>
                <a:spcPct val="150000"/>
              </a:lnSpc>
            </a:pPr>
            <a:r>
              <a:rPr lang="zh-CN" altLang="en-US" dirty="0" smtClean="0"/>
              <a:t>总体电路的电平匹配</a:t>
            </a:r>
            <a:endParaRPr lang="en-US" altLang="zh-CN" dirty="0" smtClean="0"/>
          </a:p>
          <a:p>
            <a:pPr marL="285750" indent="-285750">
              <a:lnSpc>
                <a:spcPct val="150000"/>
              </a:lnSpc>
              <a:buFont typeface="Arial" panose="020B0604020202020204" pitchFamily="34" charset="0"/>
              <a:buChar char="•"/>
            </a:pPr>
            <a:r>
              <a:rPr lang="zh-CN" altLang="en-US" sz="1800" dirty="0"/>
              <a:t>单片机的</a:t>
            </a:r>
            <a:r>
              <a:rPr lang="zh-CN" altLang="en-US" sz="1800" dirty="0" smtClean="0"/>
              <a:t>电源电压</a:t>
            </a:r>
            <a:r>
              <a:rPr lang="en-US" altLang="zh-CN" sz="1800" dirty="0" smtClean="0"/>
              <a:t>+5V</a:t>
            </a:r>
            <a:r>
              <a:rPr lang="zh-CN" altLang="en-US" sz="1800" dirty="0"/>
              <a:t>或</a:t>
            </a:r>
            <a:r>
              <a:rPr lang="en-US" altLang="zh-CN" sz="1800" dirty="0"/>
              <a:t>+3.3V</a:t>
            </a:r>
            <a:r>
              <a:rPr lang="zh-CN" altLang="en-US" sz="1800" dirty="0"/>
              <a:t>，</a:t>
            </a:r>
            <a:r>
              <a:rPr lang="en-US" altLang="zh-CN" sz="1800" dirty="0" smtClean="0"/>
              <a:t>DDS</a:t>
            </a:r>
            <a:r>
              <a:rPr lang="zh-CN" altLang="en-US" sz="1800" dirty="0" smtClean="0"/>
              <a:t>芯片的</a:t>
            </a:r>
            <a:r>
              <a:rPr lang="zh-CN" altLang="en-US" sz="1800" dirty="0"/>
              <a:t>电源电压</a:t>
            </a:r>
            <a:r>
              <a:rPr lang="en-US" altLang="zh-CN" sz="1800" dirty="0"/>
              <a:t>+3.3V</a:t>
            </a:r>
            <a:r>
              <a:rPr lang="zh-CN" altLang="en-US" sz="1800" dirty="0" smtClean="0"/>
              <a:t>，运放与乘法器的电源电压均</a:t>
            </a:r>
            <a:r>
              <a:rPr lang="zh-CN" altLang="en-US" sz="1800" dirty="0"/>
              <a:t>为</a:t>
            </a:r>
            <a:r>
              <a:rPr lang="en-US" altLang="zh-CN" sz="1800" dirty="0">
                <a:latin typeface="Arial" panose="020B0604020202020204" pitchFamily="34" charset="0"/>
                <a:cs typeface="Arial" panose="020B0604020202020204" pitchFamily="34" charset="0"/>
              </a:rPr>
              <a:t>±5V</a:t>
            </a:r>
            <a:endParaRPr lang="zh-CN" altLang="en-US" sz="1800" dirty="0"/>
          </a:p>
          <a:p>
            <a:pPr marL="285750" indent="-285750">
              <a:lnSpc>
                <a:spcPct val="150000"/>
              </a:lnSpc>
              <a:buFont typeface="Arial" panose="020B0604020202020204" pitchFamily="34" charset="0"/>
              <a:buChar char="•"/>
            </a:pPr>
            <a:r>
              <a:rPr lang="zh-CN" altLang="en-US" sz="1800" dirty="0" smtClean="0"/>
              <a:t>乘法器要求输入电平不大于</a:t>
            </a:r>
            <a:r>
              <a:rPr lang="en-US" altLang="zh-CN" sz="1800" dirty="0" smtClean="0">
                <a:latin typeface="Arial" panose="020B0604020202020204" pitchFamily="34" charset="0"/>
                <a:cs typeface="Arial" panose="020B0604020202020204" pitchFamily="34" charset="0"/>
              </a:rPr>
              <a:t>±1V</a:t>
            </a:r>
            <a:r>
              <a:rPr lang="zh-CN" altLang="en-US" sz="1800" dirty="0" smtClean="0">
                <a:latin typeface="Arial" panose="020B0604020202020204" pitchFamily="34" charset="0"/>
                <a:cs typeface="Arial" panose="020B0604020202020204" pitchFamily="34" charset="0"/>
              </a:rPr>
              <a:t>，</a:t>
            </a:r>
            <a:r>
              <a:rPr lang="en-US" altLang="zh-CN" sz="1800" dirty="0" smtClean="0">
                <a:latin typeface="Arial" panose="020B0604020202020204" pitchFamily="34" charset="0"/>
                <a:cs typeface="Arial" panose="020B0604020202020204" pitchFamily="34" charset="0"/>
              </a:rPr>
              <a:t>DDS</a:t>
            </a:r>
            <a:r>
              <a:rPr lang="zh-CN" altLang="en-US" sz="1800" dirty="0" smtClean="0">
                <a:latin typeface="Arial" panose="020B0604020202020204" pitchFamily="34" charset="0"/>
                <a:cs typeface="Arial" panose="020B0604020202020204" pitchFamily="34" charset="0"/>
              </a:rPr>
              <a:t>的输出缓冲放大器应该按照这个要求设计其增益，采样放大器也应该按照这个要求设计其增益</a:t>
            </a:r>
            <a:endParaRPr lang="en-US" altLang="zh-CN" sz="1800" dirty="0" smtClean="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cs typeface="Arial" panose="020B0604020202020204" pitchFamily="34" charset="0"/>
              </a:rPr>
              <a:t>按照上述设计，乘法器的最大输出电压幅度为</a:t>
            </a:r>
            <a:r>
              <a:rPr lang="en-US" altLang="zh-CN" sz="1800" dirty="0">
                <a:latin typeface="Arial" panose="020B0604020202020204" pitchFamily="34" charset="0"/>
                <a:cs typeface="Arial" panose="020B0604020202020204" pitchFamily="34" charset="0"/>
              </a:rPr>
              <a:t>±1V</a:t>
            </a:r>
            <a:r>
              <a:rPr lang="zh-CN" altLang="en-US" sz="1800" dirty="0" smtClean="0">
                <a:latin typeface="Arial" panose="020B0604020202020204" pitchFamily="34" charset="0"/>
                <a:cs typeface="Arial" panose="020B0604020202020204" pitchFamily="34" charset="0"/>
              </a:rPr>
              <a:t>，后续的低通滤波器增益</a:t>
            </a:r>
            <a:r>
              <a:rPr lang="en-US" altLang="zh-CN" sz="1800" dirty="0" smtClean="0">
                <a:latin typeface="Arial" panose="020B0604020202020204" pitchFamily="34" charset="0"/>
                <a:cs typeface="Arial" panose="020B0604020202020204" pitchFamily="34" charset="0"/>
              </a:rPr>
              <a:t>=1</a:t>
            </a:r>
            <a:r>
              <a:rPr lang="zh-CN" altLang="en-US" sz="1800" dirty="0" smtClean="0">
                <a:latin typeface="Arial" panose="020B0604020202020204" pitchFamily="34" charset="0"/>
                <a:cs typeface="Arial" panose="020B0604020202020204" pitchFamily="34" charset="0"/>
              </a:rPr>
              <a:t>。单片机的</a:t>
            </a:r>
            <a:r>
              <a:rPr lang="en-US" altLang="zh-CN" sz="1800" dirty="0" smtClean="0">
                <a:latin typeface="Arial" panose="020B0604020202020204" pitchFamily="34" charset="0"/>
                <a:cs typeface="Arial" panose="020B0604020202020204" pitchFamily="34" charset="0"/>
              </a:rPr>
              <a:t>ADC</a:t>
            </a:r>
            <a:r>
              <a:rPr lang="zh-CN" altLang="en-US" sz="1800" dirty="0" smtClean="0">
                <a:latin typeface="Arial" panose="020B0604020202020204" pitchFamily="34" charset="0"/>
                <a:cs typeface="Arial" panose="020B0604020202020204" pitchFamily="34" charset="0"/>
              </a:rPr>
              <a:t>的输入电平与单片机的电源电压有关，通常是</a:t>
            </a:r>
            <a:r>
              <a:rPr lang="en-US" altLang="zh-CN" sz="1800" dirty="0" smtClean="0">
                <a:latin typeface="Arial" panose="020B0604020202020204" pitchFamily="34" charset="0"/>
                <a:cs typeface="Arial" panose="020B0604020202020204" pitchFamily="34" charset="0"/>
              </a:rPr>
              <a:t>0~+5V</a:t>
            </a:r>
            <a:r>
              <a:rPr lang="zh-CN" altLang="en-US" sz="1800" dirty="0" smtClean="0">
                <a:latin typeface="Arial" panose="020B0604020202020204" pitchFamily="34" charset="0"/>
                <a:cs typeface="Arial" panose="020B0604020202020204" pitchFamily="34" charset="0"/>
              </a:rPr>
              <a:t>或</a:t>
            </a:r>
            <a:r>
              <a:rPr lang="en-US" altLang="zh-CN" sz="1800" dirty="0" smtClean="0">
                <a:latin typeface="Arial" panose="020B0604020202020204" pitchFamily="34" charset="0"/>
                <a:cs typeface="Arial" panose="020B0604020202020204" pitchFamily="34" charset="0"/>
              </a:rPr>
              <a:t>0~+3.3V</a:t>
            </a:r>
            <a:r>
              <a:rPr lang="zh-CN" altLang="en-US" sz="1800" dirty="0" smtClean="0">
                <a:latin typeface="Arial" panose="020B0604020202020204" pitchFamily="34" charset="0"/>
                <a:cs typeface="Arial" panose="020B0604020202020204" pitchFamily="34" charset="0"/>
              </a:rPr>
              <a:t>。所以应该增设一个电平变换电路，将低通滤波器的输出电平变换到单片机</a:t>
            </a:r>
            <a:r>
              <a:rPr lang="en-US" altLang="zh-CN" sz="1800" dirty="0" smtClean="0">
                <a:latin typeface="Arial" panose="020B0604020202020204" pitchFamily="34" charset="0"/>
                <a:cs typeface="Arial" panose="020B0604020202020204" pitchFamily="34" charset="0"/>
              </a:rPr>
              <a:t>ADC</a:t>
            </a:r>
            <a:r>
              <a:rPr lang="zh-CN" altLang="en-US" sz="1800" dirty="0" smtClean="0">
                <a:latin typeface="Arial" panose="020B0604020202020204" pitchFamily="34" charset="0"/>
                <a:cs typeface="Arial" panose="020B0604020202020204" pitchFamily="34" charset="0"/>
              </a:rPr>
              <a:t>的输入电平范围内</a:t>
            </a:r>
            <a:endParaRPr lang="en-US" altLang="zh-CN" sz="1800" dirty="0" smtClean="0">
              <a:latin typeface="Arial" panose="020B0604020202020204" pitchFamily="34" charset="0"/>
              <a:cs typeface="Arial" panose="020B0604020202020204" pitchFamily="34" charset="0"/>
            </a:endParaRPr>
          </a:p>
        </p:txBody>
      </p:sp>
      <p:pic>
        <p:nvPicPr>
          <p:cNvPr id="8" name="图片 7"/>
          <p:cNvPicPr>
            <a:picLocks noChangeAspect="1"/>
          </p:cNvPicPr>
          <p:nvPr/>
        </p:nvPicPr>
        <p:blipFill>
          <a:blip r:embed="rId3"/>
          <a:stretch>
            <a:fillRect/>
          </a:stretch>
        </p:blipFill>
        <p:spPr>
          <a:xfrm>
            <a:off x="449943" y="3446131"/>
            <a:ext cx="3818166" cy="2002535"/>
          </a:xfrm>
          <a:prstGeom prst="rect">
            <a:avLst/>
          </a:prstGeom>
        </p:spPr>
      </p:pic>
      <p:graphicFrame>
        <p:nvGraphicFramePr>
          <p:cNvPr id="9" name="对象 8"/>
          <p:cNvGraphicFramePr>
            <a:graphicFrameLocks noChangeAspect="1"/>
          </p:cNvGraphicFramePr>
          <p:nvPr>
            <p:extLst>
              <p:ext uri="{D42A27DB-BD31-4B8C-83A1-F6EECF244321}">
                <p14:modId xmlns:p14="http://schemas.microsoft.com/office/powerpoint/2010/main" val="621042378"/>
              </p:ext>
            </p:extLst>
          </p:nvPr>
        </p:nvGraphicFramePr>
        <p:xfrm>
          <a:off x="1248834" y="5545663"/>
          <a:ext cx="2220383" cy="664352"/>
        </p:xfrm>
        <a:graphic>
          <a:graphicData uri="http://schemas.openxmlformats.org/presentationml/2006/ole">
            <mc:AlternateContent xmlns:mc="http://schemas.openxmlformats.org/markup-compatibility/2006">
              <mc:Choice xmlns:v="urn:schemas-microsoft-com:vml" Requires="v">
                <p:oleObj spid="_x0000_s23592" name="Equation" r:id="rId4" imgW="1218960" imgH="355320" progId="Equation.DSMT4">
                  <p:embed/>
                </p:oleObj>
              </mc:Choice>
              <mc:Fallback>
                <p:oleObj name="Equation" r:id="rId4" imgW="1218960" imgH="355320" progId="Equation.DSMT4">
                  <p:embed/>
                  <p:pic>
                    <p:nvPicPr>
                      <p:cNvPr id="10" name="对象 9"/>
                      <p:cNvPicPr>
                        <a:picLocks noChangeAspect="1" noChangeArrowheads="1"/>
                      </p:cNvPicPr>
                      <p:nvPr/>
                    </p:nvPicPr>
                    <p:blipFill>
                      <a:blip r:embed="rId5"/>
                      <a:srcRect/>
                      <a:stretch>
                        <a:fillRect/>
                      </a:stretch>
                    </p:blipFill>
                    <p:spPr bwMode="auto">
                      <a:xfrm>
                        <a:off x="1248834" y="5545663"/>
                        <a:ext cx="2220383" cy="664352"/>
                      </a:xfrm>
                      <a:prstGeom prst="rect">
                        <a:avLst/>
                      </a:prstGeom>
                      <a:solidFill>
                        <a:srgbClr val="FFFF66"/>
                      </a:solidFill>
                    </p:spPr>
                  </p:pic>
                </p:oleObj>
              </mc:Fallback>
            </mc:AlternateContent>
          </a:graphicData>
        </a:graphic>
      </p:graphicFrame>
      <p:pic>
        <p:nvPicPr>
          <p:cNvPr id="10" name="图片 9"/>
          <p:cNvPicPr>
            <a:picLocks noChangeAspect="1"/>
          </p:cNvPicPr>
          <p:nvPr/>
        </p:nvPicPr>
        <p:blipFill>
          <a:blip r:embed="rId6"/>
          <a:stretch>
            <a:fillRect/>
          </a:stretch>
        </p:blipFill>
        <p:spPr>
          <a:xfrm>
            <a:off x="4268109" y="3446131"/>
            <a:ext cx="3295523" cy="2708321"/>
          </a:xfrm>
          <a:prstGeom prst="rect">
            <a:avLst/>
          </a:prstGeom>
        </p:spPr>
      </p:pic>
      <p:graphicFrame>
        <p:nvGraphicFramePr>
          <p:cNvPr id="11" name="对象 10"/>
          <p:cNvGraphicFramePr>
            <a:graphicFrameLocks noChangeAspect="1"/>
          </p:cNvGraphicFramePr>
          <p:nvPr>
            <p:extLst>
              <p:ext uri="{D42A27DB-BD31-4B8C-83A1-F6EECF244321}">
                <p14:modId xmlns:p14="http://schemas.microsoft.com/office/powerpoint/2010/main" val="2093129099"/>
              </p:ext>
            </p:extLst>
          </p:nvPr>
        </p:nvGraphicFramePr>
        <p:xfrm>
          <a:off x="7367919" y="3779887"/>
          <a:ext cx="4071937" cy="712787"/>
        </p:xfrm>
        <a:graphic>
          <a:graphicData uri="http://schemas.openxmlformats.org/presentationml/2006/ole">
            <mc:AlternateContent xmlns:mc="http://schemas.openxmlformats.org/markup-compatibility/2006">
              <mc:Choice xmlns:v="urn:schemas-microsoft-com:vml" Requires="v">
                <p:oleObj spid="_x0000_s23593" name="Equation" r:id="rId7" imgW="2234880" imgH="380880" progId="Equation.DSMT4">
                  <p:embed/>
                </p:oleObj>
              </mc:Choice>
              <mc:Fallback>
                <p:oleObj name="Equation" r:id="rId7" imgW="2234880" imgH="380880" progId="Equation.DSMT4">
                  <p:embed/>
                  <p:pic>
                    <p:nvPicPr>
                      <p:cNvPr id="9" name="对象 8"/>
                      <p:cNvPicPr>
                        <a:picLocks noChangeAspect="1" noChangeArrowheads="1"/>
                      </p:cNvPicPr>
                      <p:nvPr/>
                    </p:nvPicPr>
                    <p:blipFill>
                      <a:blip r:embed="rId8"/>
                      <a:srcRect/>
                      <a:stretch>
                        <a:fillRect/>
                      </a:stretch>
                    </p:blipFill>
                    <p:spPr bwMode="auto">
                      <a:xfrm>
                        <a:off x="7367919" y="3779887"/>
                        <a:ext cx="4071937" cy="712787"/>
                      </a:xfrm>
                      <a:prstGeom prst="rect">
                        <a:avLst/>
                      </a:prstGeom>
                      <a:solidFill>
                        <a:srgbClr val="FFFF66"/>
                      </a:solidFill>
                    </p:spPr>
                  </p:pic>
                </p:oleObj>
              </mc:Fallback>
            </mc:AlternateContent>
          </a:graphicData>
        </a:graphic>
      </p:graphicFrame>
      <p:sp>
        <p:nvSpPr>
          <p:cNvPr id="6" name="文本框 5"/>
          <p:cNvSpPr txBox="1"/>
          <p:nvPr/>
        </p:nvSpPr>
        <p:spPr>
          <a:xfrm>
            <a:off x="7814136" y="4785285"/>
            <a:ext cx="3375216" cy="1273875"/>
          </a:xfrm>
          <a:prstGeom prst="rect">
            <a:avLst/>
          </a:prstGeom>
          <a:noFill/>
        </p:spPr>
        <p:txBody>
          <a:bodyPr wrap="square" rtlCol="0">
            <a:spAutoFit/>
          </a:bodyPr>
          <a:lstStyle/>
          <a:p>
            <a:pPr>
              <a:lnSpc>
                <a:spcPct val="150000"/>
              </a:lnSpc>
            </a:pPr>
            <a:r>
              <a:rPr lang="zh-CN" altLang="en-US" sz="1800" dirty="0">
                <a:latin typeface="楷体" panose="02010609060101010101" pitchFamily="49" charset="-122"/>
                <a:ea typeface="楷体" panose="02010609060101010101" pitchFamily="49" charset="-122"/>
              </a:rPr>
              <a:t>令</a:t>
            </a:r>
            <a:r>
              <a:rPr lang="en-US" altLang="zh-CN" sz="1800" dirty="0">
                <a:latin typeface="楷体" panose="02010609060101010101" pitchFamily="49" charset="-122"/>
                <a:ea typeface="楷体" panose="02010609060101010101" pitchFamily="49" charset="-122"/>
              </a:rPr>
              <a:t>(R3+R4)/(R1+R2)=</a:t>
            </a:r>
            <a:r>
              <a:rPr lang="en-US" altLang="zh-CN" sz="1800" dirty="0" smtClean="0">
                <a:latin typeface="楷体" panose="02010609060101010101" pitchFamily="49" charset="-122"/>
                <a:ea typeface="楷体" panose="02010609060101010101" pitchFamily="49" charset="-122"/>
              </a:rPr>
              <a:t>1</a:t>
            </a:r>
          </a:p>
          <a:p>
            <a:pPr>
              <a:lnSpc>
                <a:spcPct val="150000"/>
              </a:lnSpc>
            </a:pPr>
            <a:r>
              <a:rPr lang="zh-CN" altLang="en-US" sz="1800" dirty="0" smtClean="0">
                <a:latin typeface="楷体" panose="02010609060101010101" pitchFamily="49" charset="-122"/>
                <a:ea typeface="楷体" panose="02010609060101010101" pitchFamily="49" charset="-122"/>
              </a:rPr>
              <a:t>根据要求确定</a:t>
            </a:r>
            <a:r>
              <a:rPr lang="en-US" altLang="zh-CN" sz="1800" dirty="0" smtClean="0">
                <a:latin typeface="楷体" panose="02010609060101010101" pitchFamily="49" charset="-122"/>
                <a:ea typeface="楷体" panose="02010609060101010101" pitchFamily="49" charset="-122"/>
              </a:rPr>
              <a:t>R2/R3</a:t>
            </a:r>
            <a:r>
              <a:rPr lang="zh-CN" altLang="en-US" sz="1800" dirty="0" smtClean="0">
                <a:latin typeface="楷体" panose="02010609060101010101" pitchFamily="49" charset="-122"/>
                <a:ea typeface="楷体" panose="02010609060101010101" pitchFamily="49" charset="-122"/>
              </a:rPr>
              <a:t>与</a:t>
            </a:r>
            <a:r>
              <a:rPr lang="en-US" altLang="zh-CN" sz="1800" dirty="0" smtClean="0">
                <a:latin typeface="楷体" panose="02010609060101010101" pitchFamily="49" charset="-122"/>
                <a:ea typeface="楷体" panose="02010609060101010101" pitchFamily="49" charset="-122"/>
              </a:rPr>
              <a:t>R1/R3</a:t>
            </a:r>
          </a:p>
          <a:p>
            <a:pPr>
              <a:lnSpc>
                <a:spcPct val="150000"/>
              </a:lnSpc>
            </a:pPr>
            <a:r>
              <a:rPr lang="zh-CN" altLang="en-US" sz="1800" dirty="0" smtClean="0">
                <a:latin typeface="楷体" panose="02010609060101010101" pitchFamily="49" charset="-122"/>
                <a:ea typeface="楷体" panose="02010609060101010101" pitchFamily="49" charset="-122"/>
              </a:rPr>
              <a:t>计算</a:t>
            </a:r>
            <a:r>
              <a:rPr lang="en-US" altLang="zh-CN" sz="1800" dirty="0" smtClean="0">
                <a:latin typeface="楷体" panose="02010609060101010101" pitchFamily="49" charset="-122"/>
                <a:ea typeface="楷体" panose="02010609060101010101" pitchFamily="49" charset="-122"/>
              </a:rPr>
              <a:t>R4</a:t>
            </a:r>
          </a:p>
        </p:txBody>
      </p:sp>
    </p:spTree>
    <p:extLst>
      <p:ext uri="{BB962C8B-B14F-4D97-AF65-F5344CB8AC3E}">
        <p14:creationId xmlns:p14="http://schemas.microsoft.com/office/powerpoint/2010/main" val="16135145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5" name="文本框 4"/>
          <p:cNvSpPr txBox="1"/>
          <p:nvPr/>
        </p:nvSpPr>
        <p:spPr>
          <a:xfrm>
            <a:off x="420765" y="399143"/>
            <a:ext cx="11234206" cy="5124480"/>
          </a:xfrm>
          <a:prstGeom prst="rect">
            <a:avLst/>
          </a:prstGeom>
          <a:noFill/>
        </p:spPr>
        <p:txBody>
          <a:bodyPr wrap="square" rtlCol="0">
            <a:spAutoFit/>
          </a:bodyPr>
          <a:lstStyle/>
          <a:p>
            <a:pPr>
              <a:lnSpc>
                <a:spcPct val="150000"/>
              </a:lnSpc>
            </a:pPr>
            <a:r>
              <a:rPr lang="zh-CN" altLang="en-US" dirty="0" smtClean="0"/>
              <a:t>总体电路的电源设计</a:t>
            </a:r>
            <a:endParaRPr lang="en-US" altLang="zh-CN" dirty="0" smtClean="0"/>
          </a:p>
          <a:p>
            <a:pPr marL="285750" indent="-285750">
              <a:lnSpc>
                <a:spcPct val="150000"/>
              </a:lnSpc>
              <a:buFont typeface="Arial" panose="020B0604020202020204" pitchFamily="34" charset="0"/>
              <a:buChar char="•"/>
            </a:pPr>
            <a:r>
              <a:rPr lang="zh-CN" altLang="en-US" sz="1800" dirty="0" smtClean="0"/>
              <a:t>整机的电源要求有</a:t>
            </a:r>
            <a:endParaRPr lang="en-US" altLang="zh-CN" sz="1800" dirty="0" smtClean="0"/>
          </a:p>
          <a:p>
            <a:pPr lvl="1">
              <a:lnSpc>
                <a:spcPct val="150000"/>
              </a:lnSpc>
            </a:pPr>
            <a:r>
              <a:rPr lang="en-US" altLang="zh-CN" sz="1800" dirty="0">
                <a:latin typeface="Arial" panose="020B0604020202020204" pitchFamily="34" charset="0"/>
                <a:cs typeface="Arial" panose="020B0604020202020204" pitchFamily="34" charset="0"/>
              </a:rPr>
              <a:t>±</a:t>
            </a:r>
            <a:r>
              <a:rPr lang="en-US" altLang="zh-CN" sz="1800" dirty="0" smtClean="0">
                <a:latin typeface="Arial" panose="020B0604020202020204" pitchFamily="34" charset="0"/>
                <a:cs typeface="Arial" panose="020B0604020202020204" pitchFamily="34" charset="0"/>
              </a:rPr>
              <a:t>5V</a:t>
            </a:r>
            <a:r>
              <a:rPr lang="zh-CN" altLang="en-US" sz="1800" dirty="0" smtClean="0">
                <a:latin typeface="Arial" panose="020B0604020202020204" pitchFamily="34" charset="0"/>
                <a:cs typeface="Arial" panose="020B0604020202020204" pitchFamily="34" charset="0"/>
              </a:rPr>
              <a:t>，</a:t>
            </a:r>
            <a:r>
              <a:rPr lang="zh-CN" altLang="en-US" sz="1800" dirty="0" smtClean="0"/>
              <a:t>乘法器与运放。其中乘法器</a:t>
            </a:r>
            <a:r>
              <a:rPr lang="en-US" altLang="zh-CN" sz="1800" dirty="0" smtClean="0"/>
              <a:t>3</a:t>
            </a:r>
            <a:r>
              <a:rPr lang="zh-CN" altLang="en-US" sz="1800" dirty="0" smtClean="0"/>
              <a:t>个，运放</a:t>
            </a:r>
            <a:r>
              <a:rPr lang="en-US" altLang="zh-CN" sz="1800" dirty="0" smtClean="0"/>
              <a:t>6~7</a:t>
            </a:r>
            <a:r>
              <a:rPr lang="zh-CN" altLang="en-US" sz="1800" dirty="0" smtClean="0"/>
              <a:t>片，总电流约</a:t>
            </a:r>
            <a:r>
              <a:rPr lang="en-US" altLang="zh-CN" sz="1800" dirty="0" smtClean="0"/>
              <a:t>150mA</a:t>
            </a:r>
            <a:endParaRPr lang="zh-CN" altLang="en-US" sz="1800" dirty="0"/>
          </a:p>
          <a:p>
            <a:pPr lvl="1">
              <a:lnSpc>
                <a:spcPct val="150000"/>
              </a:lnSpc>
            </a:pPr>
            <a:r>
              <a:rPr lang="en-US" altLang="zh-CN" sz="1800" dirty="0"/>
              <a:t>+</a:t>
            </a:r>
            <a:r>
              <a:rPr lang="en-US" altLang="zh-CN" sz="1800" dirty="0" smtClean="0"/>
              <a:t>3.3V</a:t>
            </a:r>
            <a:r>
              <a:rPr lang="zh-CN" altLang="en-US" sz="1800" dirty="0" smtClean="0"/>
              <a:t>，</a:t>
            </a:r>
            <a:r>
              <a:rPr lang="en-US" altLang="zh-CN" sz="1800" dirty="0"/>
              <a:t>DDS</a:t>
            </a:r>
            <a:r>
              <a:rPr lang="zh-CN" altLang="en-US" sz="1800" dirty="0" smtClean="0"/>
              <a:t>芯片，约</a:t>
            </a:r>
            <a:r>
              <a:rPr lang="en-US" altLang="zh-CN" sz="1800" dirty="0" smtClean="0"/>
              <a:t>1A</a:t>
            </a:r>
            <a:r>
              <a:rPr lang="zh-CN" altLang="en-US" sz="1800" dirty="0" smtClean="0"/>
              <a:t>；单片机，电流未知</a:t>
            </a:r>
            <a:endParaRPr lang="en-US" altLang="zh-CN" sz="18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cs typeface="Arial" panose="020B0604020202020204" pitchFamily="34" charset="0"/>
              </a:rPr>
              <a:t>外部供电：题目规定</a:t>
            </a:r>
            <a:r>
              <a:rPr lang="zh-CN" altLang="zh-CN" sz="1800" dirty="0" smtClean="0"/>
              <a:t>由</a:t>
            </a:r>
            <a:r>
              <a:rPr lang="zh-CN" altLang="zh-CN" sz="1800" dirty="0"/>
              <a:t>不大于</a:t>
            </a:r>
            <a:r>
              <a:rPr lang="en-US" altLang="zh-CN" sz="1800" dirty="0"/>
              <a:t>6V</a:t>
            </a:r>
            <a:r>
              <a:rPr lang="zh-CN" altLang="zh-CN" sz="1800" dirty="0"/>
              <a:t>的单电源</a:t>
            </a:r>
            <a:r>
              <a:rPr lang="zh-CN" altLang="zh-CN" sz="1800" dirty="0" smtClean="0"/>
              <a:t>供电</a:t>
            </a:r>
            <a:endParaRPr lang="en-US" altLang="zh-CN" sz="1800" dirty="0" smtClean="0"/>
          </a:p>
          <a:p>
            <a:pPr marL="285750" indent="-285750">
              <a:lnSpc>
                <a:spcPct val="150000"/>
              </a:lnSpc>
              <a:buFont typeface="Arial" panose="020B0604020202020204" pitchFamily="34" charset="0"/>
              <a:buChar char="•"/>
            </a:pPr>
            <a:r>
              <a:rPr lang="zh-CN" altLang="en-US" sz="1800" dirty="0" smtClean="0"/>
              <a:t>解决方案</a:t>
            </a:r>
            <a:endParaRPr lang="en-US" altLang="zh-CN" sz="1800" dirty="0" smtClean="0"/>
          </a:p>
          <a:p>
            <a:pPr lvl="1">
              <a:lnSpc>
                <a:spcPct val="150000"/>
              </a:lnSpc>
            </a:pPr>
            <a:r>
              <a:rPr lang="en-US" altLang="zh-CN" sz="1800" dirty="0" smtClean="0"/>
              <a:t>+5V</a:t>
            </a:r>
            <a:r>
              <a:rPr lang="zh-CN" altLang="en-US" sz="1800" dirty="0" smtClean="0"/>
              <a:t>，直接由外部供电</a:t>
            </a:r>
            <a:endParaRPr lang="en-US" altLang="zh-CN" sz="1800" dirty="0" smtClean="0"/>
          </a:p>
          <a:p>
            <a:pPr lvl="1">
              <a:lnSpc>
                <a:spcPct val="150000"/>
              </a:lnSpc>
            </a:pPr>
            <a:r>
              <a:rPr lang="en-US" altLang="zh-CN" sz="1800" dirty="0" smtClean="0"/>
              <a:t>+3.3V</a:t>
            </a:r>
            <a:r>
              <a:rPr lang="zh-CN" altLang="en-US" sz="1800" dirty="0" smtClean="0"/>
              <a:t>，用</a:t>
            </a:r>
            <a:r>
              <a:rPr lang="zh-CN" altLang="en-US" sz="1800" dirty="0" smtClean="0">
                <a:solidFill>
                  <a:srgbClr val="FF0000"/>
                </a:solidFill>
              </a:rPr>
              <a:t>低压差线性稳压电源</a:t>
            </a:r>
            <a:r>
              <a:rPr lang="zh-CN" altLang="en-US" sz="1800" dirty="0" smtClean="0"/>
              <a:t>从</a:t>
            </a:r>
            <a:r>
              <a:rPr lang="en-US" altLang="zh-CN" sz="1800" dirty="0" smtClean="0"/>
              <a:t>+5V</a:t>
            </a:r>
            <a:r>
              <a:rPr lang="zh-CN" altLang="en-US" sz="1800" dirty="0" smtClean="0"/>
              <a:t>获得</a:t>
            </a:r>
            <a:endParaRPr lang="en-US" altLang="zh-CN" sz="1800" dirty="0" smtClean="0"/>
          </a:p>
          <a:p>
            <a:pPr lvl="2">
              <a:lnSpc>
                <a:spcPct val="150000"/>
              </a:lnSpc>
            </a:pPr>
            <a:r>
              <a:rPr lang="zh-CN" altLang="en-US" sz="1800" dirty="0" smtClean="0"/>
              <a:t>例如：</a:t>
            </a:r>
            <a:r>
              <a:rPr lang="en-US" altLang="zh-CN" sz="1800" dirty="0" smtClean="0"/>
              <a:t>LP3872-3.3</a:t>
            </a:r>
            <a:r>
              <a:rPr lang="zh-CN" altLang="en-US" sz="1800" dirty="0" smtClean="0"/>
              <a:t>，输入</a:t>
            </a:r>
            <a:r>
              <a:rPr lang="en-US" altLang="zh-CN" sz="1800" dirty="0" smtClean="0"/>
              <a:t>+5V</a:t>
            </a:r>
            <a:r>
              <a:rPr lang="zh-CN" altLang="en-US" sz="1800" dirty="0" smtClean="0"/>
              <a:t>，输出</a:t>
            </a:r>
            <a:r>
              <a:rPr lang="en-US" altLang="zh-CN" sz="1800" dirty="0" smtClean="0"/>
              <a:t>+3.3V</a:t>
            </a:r>
            <a:r>
              <a:rPr lang="zh-CN" altLang="en-US" sz="1800" dirty="0" smtClean="0"/>
              <a:t>，最大输出电流</a:t>
            </a:r>
            <a:r>
              <a:rPr lang="en-US" altLang="zh-CN" sz="1800" dirty="0" smtClean="0"/>
              <a:t>1.5A</a:t>
            </a:r>
          </a:p>
          <a:p>
            <a:pPr lvl="1">
              <a:lnSpc>
                <a:spcPct val="150000"/>
              </a:lnSpc>
            </a:pPr>
            <a:r>
              <a:rPr lang="en-US" altLang="zh-CN" sz="1800" dirty="0" smtClean="0"/>
              <a:t>-5V</a:t>
            </a:r>
            <a:r>
              <a:rPr lang="zh-CN" altLang="en-US" sz="1800" dirty="0" smtClean="0"/>
              <a:t>，用</a:t>
            </a:r>
            <a:r>
              <a:rPr lang="zh-CN" altLang="en-US" sz="1800" dirty="0" smtClean="0">
                <a:solidFill>
                  <a:srgbClr val="FF0000"/>
                </a:solidFill>
              </a:rPr>
              <a:t>小功率开关电源</a:t>
            </a:r>
            <a:r>
              <a:rPr lang="zh-CN" altLang="en-US" sz="1800" dirty="0" smtClean="0"/>
              <a:t>从</a:t>
            </a:r>
            <a:r>
              <a:rPr lang="en-US" altLang="zh-CN" sz="1800" dirty="0" smtClean="0"/>
              <a:t>+5V</a:t>
            </a:r>
            <a:r>
              <a:rPr lang="zh-CN" altLang="en-US" sz="1800" dirty="0" smtClean="0"/>
              <a:t>转换</a:t>
            </a:r>
            <a:endParaRPr lang="en-US" altLang="zh-CN" sz="1800" dirty="0" smtClean="0"/>
          </a:p>
          <a:p>
            <a:pPr lvl="2">
              <a:lnSpc>
                <a:spcPct val="150000"/>
              </a:lnSpc>
            </a:pPr>
            <a:r>
              <a:rPr lang="zh-CN" altLang="en-US" sz="1800" dirty="0" smtClean="0"/>
              <a:t>例如：</a:t>
            </a:r>
            <a:r>
              <a:rPr lang="en-US" altLang="zh-CN" sz="1800" dirty="0" smtClean="0"/>
              <a:t>MC34063A</a:t>
            </a:r>
            <a:r>
              <a:rPr lang="zh-CN" altLang="en-US" sz="1800" dirty="0" smtClean="0"/>
              <a:t>，配合外部的电感等元件，可以构成开关式降压、升压、以及电压反转电路，最大开关电流为</a:t>
            </a:r>
            <a:r>
              <a:rPr lang="en-US" altLang="zh-CN" sz="1800" dirty="0" smtClean="0"/>
              <a:t>1.5A</a:t>
            </a:r>
          </a:p>
        </p:txBody>
      </p:sp>
    </p:spTree>
    <p:extLst>
      <p:ext uri="{BB962C8B-B14F-4D97-AF65-F5344CB8AC3E}">
        <p14:creationId xmlns:p14="http://schemas.microsoft.com/office/powerpoint/2010/main" val="5127970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sp>
        <p:nvSpPr>
          <p:cNvPr id="5" name="文本框 4"/>
          <p:cNvSpPr txBox="1"/>
          <p:nvPr/>
        </p:nvSpPr>
        <p:spPr>
          <a:xfrm>
            <a:off x="428171" y="291755"/>
            <a:ext cx="11248572" cy="1323439"/>
          </a:xfrm>
          <a:prstGeom prst="rect">
            <a:avLst/>
          </a:prstGeom>
          <a:noFill/>
        </p:spPr>
        <p:txBody>
          <a:bodyPr wrap="square" rtlCol="0">
            <a:spAutoFit/>
          </a:bodyPr>
          <a:lstStyle/>
          <a:p>
            <a:pPr>
              <a:lnSpc>
                <a:spcPct val="200000"/>
              </a:lnSpc>
            </a:pPr>
            <a:r>
              <a:rPr lang="zh-CN" altLang="en-US" dirty="0" smtClean="0">
                <a:solidFill>
                  <a:srgbClr val="FF0000"/>
                </a:solidFill>
              </a:rPr>
              <a:t>开关电源原理简介</a:t>
            </a:r>
            <a:endParaRPr lang="en-US" altLang="zh-CN" dirty="0" smtClean="0">
              <a:solidFill>
                <a:srgbClr val="FF0000"/>
              </a:solidFill>
            </a:endParaRPr>
          </a:p>
          <a:p>
            <a:pPr marL="342900" indent="-342900">
              <a:lnSpc>
                <a:spcPct val="200000"/>
              </a:lnSpc>
              <a:buFont typeface="Arial" panose="020B0604020202020204" pitchFamily="34" charset="0"/>
              <a:buChar char="•"/>
            </a:pPr>
            <a:r>
              <a:rPr lang="zh-CN" altLang="zh-CN" dirty="0" smtClean="0"/>
              <a:t>降压</a:t>
            </a:r>
            <a:r>
              <a:rPr lang="zh-CN" altLang="zh-CN" dirty="0"/>
              <a:t>型</a:t>
            </a:r>
            <a:r>
              <a:rPr lang="en-US" altLang="zh-CN" dirty="0"/>
              <a:t>DC-DC</a:t>
            </a:r>
            <a:r>
              <a:rPr lang="zh-CN" altLang="zh-CN" dirty="0"/>
              <a:t>变换器（</a:t>
            </a:r>
            <a:r>
              <a:rPr lang="en-US" altLang="zh-CN" dirty="0"/>
              <a:t>Buck</a:t>
            </a:r>
            <a:r>
              <a:rPr lang="zh-CN" altLang="zh-CN" dirty="0"/>
              <a:t>变换器）</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733869482"/>
              </p:ext>
            </p:extLst>
          </p:nvPr>
        </p:nvGraphicFramePr>
        <p:xfrm>
          <a:off x="2920157" y="1615194"/>
          <a:ext cx="5143864" cy="1509486"/>
        </p:xfrm>
        <a:graphic>
          <a:graphicData uri="http://schemas.openxmlformats.org/presentationml/2006/ole">
            <mc:AlternateContent xmlns:mc="http://schemas.openxmlformats.org/markup-compatibility/2006">
              <mc:Choice xmlns:v="urn:schemas-microsoft-com:vml" Requires="v">
                <p:oleObj spid="_x0000_s30726" name="Visio" r:id="rId3" imgW="2806683" imgH="818783" progId="Visio.Drawing.15">
                  <p:embed/>
                </p:oleObj>
              </mc:Choice>
              <mc:Fallback>
                <p:oleObj name="Visio" r:id="rId3" imgW="2806683" imgH="81878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0157" y="1615194"/>
                        <a:ext cx="5143864" cy="1509486"/>
                      </a:xfrm>
                      <a:prstGeom prst="rect">
                        <a:avLst/>
                      </a:prstGeom>
                      <a:noFill/>
                    </p:spPr>
                  </p:pic>
                </p:oleObj>
              </mc:Fallback>
            </mc:AlternateContent>
          </a:graphicData>
        </a:graphic>
      </p:graphicFrame>
      <p:sp>
        <p:nvSpPr>
          <p:cNvPr id="9" name="文本框 8"/>
          <p:cNvSpPr txBox="1"/>
          <p:nvPr/>
        </p:nvSpPr>
        <p:spPr>
          <a:xfrm>
            <a:off x="624417" y="3400496"/>
            <a:ext cx="10805583"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zh-CN" sz="1800" dirty="0"/>
              <a:t>晶体管</a:t>
            </a:r>
            <a:r>
              <a:rPr lang="en-US" altLang="zh-CN" sz="1800" dirty="0"/>
              <a:t>Q</a:t>
            </a:r>
            <a:r>
              <a:rPr lang="zh-CN" altLang="zh-CN" sz="1800" dirty="0"/>
              <a:t>（双极型或场效应管）是一个</a:t>
            </a:r>
            <a:r>
              <a:rPr lang="zh-CN" altLang="zh-CN" sz="1800" dirty="0" smtClean="0"/>
              <a:t>电子开关</a:t>
            </a:r>
            <a:endParaRPr lang="en-US" altLang="zh-CN" sz="1800" dirty="0" smtClean="0"/>
          </a:p>
          <a:p>
            <a:pPr marL="285750" indent="-285750">
              <a:lnSpc>
                <a:spcPct val="150000"/>
              </a:lnSpc>
              <a:buFont typeface="Arial" panose="020B0604020202020204" pitchFamily="34" charset="0"/>
              <a:buChar char="•"/>
            </a:pPr>
            <a:r>
              <a:rPr lang="en-US" altLang="zh-CN" sz="1800" dirty="0" smtClean="0"/>
              <a:t>Q</a:t>
            </a:r>
            <a:r>
              <a:rPr lang="zh-CN" altLang="zh-CN" sz="1800" dirty="0" smtClean="0"/>
              <a:t>导</a:t>
            </a:r>
            <a:r>
              <a:rPr lang="zh-CN" altLang="zh-CN" sz="1800" dirty="0"/>
              <a:t>通时，电源电流流过电感</a:t>
            </a:r>
            <a:r>
              <a:rPr lang="en-US" altLang="zh-CN" sz="1800" dirty="0"/>
              <a:t>L</a:t>
            </a:r>
            <a:r>
              <a:rPr lang="zh-CN" altLang="zh-CN" sz="1800" dirty="0"/>
              <a:t>以及</a:t>
            </a:r>
            <a:r>
              <a:rPr lang="zh-CN" altLang="zh-CN" sz="1800" dirty="0" smtClean="0"/>
              <a:t>负载</a:t>
            </a:r>
            <a:r>
              <a:rPr lang="zh-CN" altLang="en-US" sz="1800" dirty="0" smtClean="0"/>
              <a:t>，部分能量储存在电感内</a:t>
            </a:r>
            <a:endParaRPr lang="en-US" altLang="zh-CN" sz="1800" dirty="0" smtClean="0"/>
          </a:p>
          <a:p>
            <a:pPr marL="285750" indent="-285750">
              <a:lnSpc>
                <a:spcPct val="150000"/>
              </a:lnSpc>
              <a:buFont typeface="Arial" panose="020B0604020202020204" pitchFamily="34" charset="0"/>
              <a:buChar char="•"/>
            </a:pPr>
            <a:r>
              <a:rPr lang="en-US" altLang="zh-CN" sz="1800" dirty="0" smtClean="0"/>
              <a:t>Q</a:t>
            </a:r>
            <a:r>
              <a:rPr lang="zh-CN" altLang="zh-CN" sz="1800" dirty="0" smtClean="0"/>
              <a:t>关</a:t>
            </a:r>
            <a:r>
              <a:rPr lang="zh-CN" altLang="zh-CN" sz="1800" dirty="0"/>
              <a:t>断时，电感中的电流不能突变，此电流经过二极管</a:t>
            </a:r>
            <a:r>
              <a:rPr lang="en-US" altLang="zh-CN" sz="1800" dirty="0"/>
              <a:t>D</a:t>
            </a:r>
            <a:r>
              <a:rPr lang="zh-CN" altLang="zh-CN" sz="1800" dirty="0"/>
              <a:t>继续给负载</a:t>
            </a:r>
            <a:r>
              <a:rPr lang="zh-CN" altLang="zh-CN" sz="1800" dirty="0" smtClean="0"/>
              <a:t>供电</a:t>
            </a:r>
            <a:r>
              <a:rPr lang="zh-CN" altLang="en-US" sz="1800" dirty="0" smtClean="0"/>
              <a:t>（电感内的能量释放）</a:t>
            </a:r>
            <a:endParaRPr lang="en-US" altLang="zh-CN" sz="1800" dirty="0" smtClean="0"/>
          </a:p>
          <a:p>
            <a:pPr marL="285750" indent="-285750">
              <a:lnSpc>
                <a:spcPct val="150000"/>
              </a:lnSpc>
              <a:buFont typeface="Arial" panose="020B0604020202020204" pitchFamily="34" charset="0"/>
              <a:buChar char="•"/>
            </a:pPr>
            <a:r>
              <a:rPr lang="zh-CN" altLang="zh-CN" sz="1800" dirty="0" smtClean="0"/>
              <a:t>改变</a:t>
            </a:r>
            <a:r>
              <a:rPr lang="zh-CN" altLang="zh-CN" sz="1800" dirty="0"/>
              <a:t>电子开关的导通与关断（占空比</a:t>
            </a:r>
            <a:r>
              <a:rPr lang="zh-CN" altLang="zh-CN" sz="1800" dirty="0" smtClean="0"/>
              <a:t>）可以</a:t>
            </a:r>
            <a:r>
              <a:rPr lang="zh-CN" altLang="zh-CN" sz="1800" dirty="0"/>
              <a:t>控制输出电压的</a:t>
            </a:r>
            <a:r>
              <a:rPr lang="zh-CN" altLang="zh-CN" sz="1800" dirty="0" smtClean="0"/>
              <a:t>大小</a:t>
            </a:r>
            <a:endParaRPr lang="zh-CN" altLang="en-US" sz="1800" dirty="0"/>
          </a:p>
        </p:txBody>
      </p:sp>
    </p:spTree>
    <p:extLst>
      <p:ext uri="{BB962C8B-B14F-4D97-AF65-F5344CB8AC3E}">
        <p14:creationId xmlns:p14="http://schemas.microsoft.com/office/powerpoint/2010/main" val="5742059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sp>
        <p:nvSpPr>
          <p:cNvPr id="5" name="矩形 4"/>
          <p:cNvSpPr/>
          <p:nvPr/>
        </p:nvSpPr>
        <p:spPr>
          <a:xfrm>
            <a:off x="458073" y="572347"/>
            <a:ext cx="4836580" cy="400110"/>
          </a:xfrm>
          <a:prstGeom prst="rect">
            <a:avLst/>
          </a:prstGeom>
        </p:spPr>
        <p:txBody>
          <a:bodyPr wrap="none">
            <a:spAutoFit/>
          </a:bodyPr>
          <a:lstStyle/>
          <a:p>
            <a:pPr marL="342900" indent="-342900">
              <a:buFont typeface="Arial" panose="020B0604020202020204" pitchFamily="34" charset="0"/>
              <a:buChar char="•"/>
            </a:pPr>
            <a:r>
              <a:rPr lang="zh-CN" altLang="zh-CN" dirty="0" smtClean="0">
                <a:ea typeface="黑体" panose="02010609060101010101" pitchFamily="49" charset="-122"/>
                <a:cs typeface="Times New Roman" panose="02020603050405020304" pitchFamily="18" charset="0"/>
              </a:rPr>
              <a:t>升压</a:t>
            </a:r>
            <a:r>
              <a:rPr lang="zh-CN" altLang="zh-CN" dirty="0">
                <a:ea typeface="黑体" panose="02010609060101010101" pitchFamily="49" charset="-122"/>
                <a:cs typeface="Times New Roman" panose="02020603050405020304" pitchFamily="18" charset="0"/>
              </a:rPr>
              <a:t>型</a:t>
            </a:r>
            <a:r>
              <a:rPr lang="en-US" altLang="zh-CN" dirty="0">
                <a:latin typeface="Arial" panose="020B0604020202020204" pitchFamily="34" charset="0"/>
                <a:ea typeface="黑体" panose="02010609060101010101" pitchFamily="49" charset="-122"/>
              </a:rPr>
              <a:t>DC-DC</a:t>
            </a:r>
            <a:r>
              <a:rPr lang="zh-CN" altLang="zh-CN" dirty="0">
                <a:ea typeface="黑体" panose="02010609060101010101" pitchFamily="49" charset="-122"/>
                <a:cs typeface="Times New Roman" panose="02020603050405020304" pitchFamily="18" charset="0"/>
              </a:rPr>
              <a:t>变换器（</a:t>
            </a:r>
            <a:r>
              <a:rPr lang="en-US" altLang="zh-CN" dirty="0">
                <a:ea typeface="黑体" panose="02010609060101010101" pitchFamily="49" charset="-122"/>
                <a:cs typeface="Times New Roman" panose="02020603050405020304" pitchFamily="18" charset="0"/>
              </a:rPr>
              <a:t>Boost</a:t>
            </a:r>
            <a:r>
              <a:rPr lang="zh-CN" altLang="zh-CN" dirty="0">
                <a:ea typeface="黑体" panose="02010609060101010101" pitchFamily="49" charset="-122"/>
                <a:cs typeface="Times New Roman" panose="02020603050405020304" pitchFamily="18" charset="0"/>
              </a:rPr>
              <a:t>变换器）</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3296364247"/>
              </p:ext>
            </p:extLst>
          </p:nvPr>
        </p:nvGraphicFramePr>
        <p:xfrm>
          <a:off x="2876364" y="1222570"/>
          <a:ext cx="5171808" cy="1803016"/>
        </p:xfrm>
        <a:graphic>
          <a:graphicData uri="http://schemas.openxmlformats.org/presentationml/2006/ole">
            <mc:AlternateContent xmlns:mc="http://schemas.openxmlformats.org/markup-compatibility/2006">
              <mc:Choice xmlns:v="urn:schemas-microsoft-com:vml" Requires="v">
                <p:oleObj spid="_x0000_s31750" name="Visio" r:id="rId3" imgW="2768222" imgH="971492" progId="Visio.Drawing.15">
                  <p:embed/>
                </p:oleObj>
              </mc:Choice>
              <mc:Fallback>
                <p:oleObj name="Visio" r:id="rId3" imgW="2768222" imgH="971492"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6364" y="1222570"/>
                        <a:ext cx="5171808" cy="1803016"/>
                      </a:xfrm>
                      <a:prstGeom prst="rect">
                        <a:avLst/>
                      </a:prstGeom>
                      <a:noFill/>
                    </p:spPr>
                  </p:pic>
                </p:oleObj>
              </mc:Fallback>
            </mc:AlternateContent>
          </a:graphicData>
        </a:graphic>
      </p:graphicFrame>
      <p:sp>
        <p:nvSpPr>
          <p:cNvPr id="9" name="文本框 8"/>
          <p:cNvSpPr txBox="1"/>
          <p:nvPr/>
        </p:nvSpPr>
        <p:spPr>
          <a:xfrm>
            <a:off x="689429" y="3275699"/>
            <a:ext cx="10509215"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smtClean="0"/>
              <a:t>Q</a:t>
            </a:r>
            <a:r>
              <a:rPr lang="zh-CN" altLang="zh-CN" sz="1800" dirty="0" smtClean="0"/>
              <a:t>导</a:t>
            </a:r>
            <a:r>
              <a:rPr lang="zh-CN" altLang="zh-CN" sz="1800" dirty="0"/>
              <a:t>通时，电源电流流过电感</a:t>
            </a:r>
            <a:r>
              <a:rPr lang="en-US" altLang="zh-CN" sz="1800" dirty="0"/>
              <a:t>L</a:t>
            </a:r>
            <a:r>
              <a:rPr lang="zh-CN" altLang="zh-CN" sz="1800" dirty="0"/>
              <a:t>以及开关晶体管，此时二极管反向，所以此电流并不流向负载，电源的能量存储于电感</a:t>
            </a:r>
            <a:r>
              <a:rPr lang="zh-CN" altLang="zh-CN" sz="1800" dirty="0" smtClean="0"/>
              <a:t>内</a:t>
            </a:r>
            <a:endParaRPr lang="en-US" altLang="zh-CN" sz="1800" dirty="0" smtClean="0"/>
          </a:p>
          <a:p>
            <a:pPr marL="285750" indent="-285750">
              <a:lnSpc>
                <a:spcPct val="150000"/>
              </a:lnSpc>
              <a:buFont typeface="Arial" panose="020B0604020202020204" pitchFamily="34" charset="0"/>
              <a:buChar char="•"/>
            </a:pPr>
            <a:r>
              <a:rPr lang="en-US" altLang="zh-CN" sz="1800" dirty="0" smtClean="0"/>
              <a:t>Q</a:t>
            </a:r>
            <a:r>
              <a:rPr lang="zh-CN" altLang="zh-CN" sz="1800" dirty="0" smtClean="0"/>
              <a:t>关</a:t>
            </a:r>
            <a:r>
              <a:rPr lang="zh-CN" altLang="zh-CN" sz="1800" dirty="0"/>
              <a:t>断时，电感中的电流不能突变，此电流经过二极管</a:t>
            </a:r>
            <a:r>
              <a:rPr lang="en-US" altLang="zh-CN" sz="1800" dirty="0"/>
              <a:t>D</a:t>
            </a:r>
            <a:r>
              <a:rPr lang="zh-CN" altLang="zh-CN" sz="1800" dirty="0"/>
              <a:t>给负载供电</a:t>
            </a:r>
            <a:r>
              <a:rPr lang="zh-CN" altLang="zh-CN" sz="1800" dirty="0" smtClean="0"/>
              <a:t>。</a:t>
            </a:r>
            <a:r>
              <a:rPr lang="zh-CN" altLang="en-US" sz="1800" dirty="0" smtClean="0"/>
              <a:t>由于电感上的电压与电源电压叠加，</a:t>
            </a:r>
            <a:r>
              <a:rPr lang="zh-CN" altLang="zh-CN" sz="1800" dirty="0" smtClean="0"/>
              <a:t>所以</a:t>
            </a:r>
            <a:r>
              <a:rPr lang="zh-CN" altLang="en-US" sz="1800" dirty="0" smtClean="0"/>
              <a:t>负载上的电压高于电源电压</a:t>
            </a:r>
            <a:endParaRPr lang="en-US" altLang="zh-CN" sz="1800" dirty="0" smtClean="0"/>
          </a:p>
          <a:p>
            <a:pPr marL="285750" indent="-285750">
              <a:lnSpc>
                <a:spcPct val="150000"/>
              </a:lnSpc>
              <a:buFont typeface="Arial" panose="020B0604020202020204" pitchFamily="34" charset="0"/>
              <a:buChar char="•"/>
            </a:pPr>
            <a:r>
              <a:rPr lang="zh-CN" altLang="en-US" sz="1800" dirty="0" smtClean="0"/>
              <a:t>改变开关的占空比可以改变输出电压</a:t>
            </a:r>
            <a:endParaRPr lang="zh-CN" altLang="en-US" sz="1800" dirty="0"/>
          </a:p>
        </p:txBody>
      </p:sp>
    </p:spTree>
    <p:extLst>
      <p:ext uri="{BB962C8B-B14F-4D97-AF65-F5344CB8AC3E}">
        <p14:creationId xmlns:p14="http://schemas.microsoft.com/office/powerpoint/2010/main" val="2234488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sp>
        <p:nvSpPr>
          <p:cNvPr id="5" name="矩形 4"/>
          <p:cNvSpPr/>
          <p:nvPr/>
        </p:nvSpPr>
        <p:spPr>
          <a:xfrm>
            <a:off x="360007" y="616373"/>
            <a:ext cx="6005170" cy="400110"/>
          </a:xfrm>
          <a:prstGeom prst="rect">
            <a:avLst/>
          </a:prstGeom>
        </p:spPr>
        <p:txBody>
          <a:bodyPr wrap="none">
            <a:spAutoFit/>
          </a:bodyPr>
          <a:lstStyle/>
          <a:p>
            <a:pPr marL="342900" indent="-342900">
              <a:buFont typeface="Arial" panose="020B0604020202020204" pitchFamily="34" charset="0"/>
              <a:buChar char="•"/>
            </a:pPr>
            <a:r>
              <a:rPr lang="zh-CN" altLang="zh-CN" dirty="0" smtClean="0">
                <a:ea typeface="黑体" panose="02010609060101010101" pitchFamily="49" charset="-122"/>
                <a:cs typeface="Times New Roman" panose="02020603050405020304" pitchFamily="18" charset="0"/>
              </a:rPr>
              <a:t>极性反转</a:t>
            </a:r>
            <a:r>
              <a:rPr lang="zh-CN" altLang="zh-CN" dirty="0">
                <a:ea typeface="黑体" panose="02010609060101010101" pitchFamily="49" charset="-122"/>
                <a:cs typeface="Times New Roman" panose="02020603050405020304" pitchFamily="18" charset="0"/>
              </a:rPr>
              <a:t>型</a:t>
            </a:r>
            <a:r>
              <a:rPr lang="en-US" altLang="zh-CN" dirty="0">
                <a:latin typeface="Arial" panose="020B0604020202020204" pitchFamily="34" charset="0"/>
                <a:ea typeface="黑体" panose="02010609060101010101" pitchFamily="49" charset="-122"/>
              </a:rPr>
              <a:t>DC-DC</a:t>
            </a:r>
            <a:r>
              <a:rPr lang="zh-CN" altLang="zh-CN" dirty="0">
                <a:ea typeface="黑体" panose="02010609060101010101" pitchFamily="49" charset="-122"/>
                <a:cs typeface="Times New Roman" panose="02020603050405020304" pitchFamily="18" charset="0"/>
              </a:rPr>
              <a:t>变换器（</a:t>
            </a:r>
            <a:r>
              <a:rPr lang="en-US" altLang="zh-CN" dirty="0">
                <a:ea typeface="黑体" panose="02010609060101010101" pitchFamily="49" charset="-122"/>
                <a:cs typeface="Times New Roman" panose="02020603050405020304" pitchFamily="18" charset="0"/>
              </a:rPr>
              <a:t>Buck-Boost</a:t>
            </a:r>
            <a:r>
              <a:rPr lang="zh-CN" altLang="zh-CN" dirty="0">
                <a:ea typeface="黑体" panose="02010609060101010101" pitchFamily="49" charset="-122"/>
                <a:cs typeface="Times New Roman" panose="02020603050405020304" pitchFamily="18" charset="0"/>
              </a:rPr>
              <a:t>变换器）</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295474328"/>
              </p:ext>
            </p:extLst>
          </p:nvPr>
        </p:nvGraphicFramePr>
        <p:xfrm>
          <a:off x="2598056" y="1191548"/>
          <a:ext cx="4940599" cy="1762110"/>
        </p:xfrm>
        <a:graphic>
          <a:graphicData uri="http://schemas.openxmlformats.org/presentationml/2006/ole">
            <mc:AlternateContent xmlns:mc="http://schemas.openxmlformats.org/markup-compatibility/2006">
              <mc:Choice xmlns:v="urn:schemas-microsoft-com:vml" Requires="v">
                <p:oleObj spid="_x0000_s32772" name="Visio" r:id="rId3" imgW="2806683" imgH="1003055" progId="Visio.Drawing.15">
                  <p:embed/>
                </p:oleObj>
              </mc:Choice>
              <mc:Fallback>
                <p:oleObj name="Visio" r:id="rId3" imgW="2806683" imgH="100305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8056" y="1191548"/>
                        <a:ext cx="4940599" cy="1762110"/>
                      </a:xfrm>
                      <a:prstGeom prst="rect">
                        <a:avLst/>
                      </a:prstGeom>
                      <a:noFill/>
                    </p:spPr>
                  </p:pic>
                </p:oleObj>
              </mc:Fallback>
            </mc:AlternateContent>
          </a:graphicData>
        </a:graphic>
      </p:graphicFrame>
      <p:sp>
        <p:nvSpPr>
          <p:cNvPr id="8" name="文本框 7"/>
          <p:cNvSpPr txBox="1"/>
          <p:nvPr/>
        </p:nvSpPr>
        <p:spPr>
          <a:xfrm>
            <a:off x="711200" y="3251200"/>
            <a:ext cx="10921999"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smtClean="0"/>
              <a:t>Q</a:t>
            </a:r>
            <a:r>
              <a:rPr lang="zh-CN" altLang="zh-CN" sz="1800" dirty="0" smtClean="0"/>
              <a:t>导</a:t>
            </a:r>
            <a:r>
              <a:rPr lang="zh-CN" altLang="zh-CN" sz="1800" dirty="0"/>
              <a:t>通时，电源电流流过开关晶体管以及电感</a:t>
            </a:r>
            <a:r>
              <a:rPr lang="en-US" altLang="zh-CN" sz="1800" dirty="0"/>
              <a:t>L</a:t>
            </a:r>
            <a:r>
              <a:rPr lang="zh-CN" altLang="zh-CN" sz="1800" dirty="0"/>
              <a:t>，此时二极管反向，电流并不流向负载，电源的能量存储于电感</a:t>
            </a:r>
            <a:r>
              <a:rPr lang="zh-CN" altLang="zh-CN" sz="1800" dirty="0" smtClean="0"/>
              <a:t>内</a:t>
            </a:r>
            <a:endParaRPr lang="en-US" altLang="zh-CN" sz="1800" dirty="0" smtClean="0"/>
          </a:p>
          <a:p>
            <a:pPr marL="285750" indent="-285750">
              <a:lnSpc>
                <a:spcPct val="150000"/>
              </a:lnSpc>
              <a:buFont typeface="Arial" panose="020B0604020202020204" pitchFamily="34" charset="0"/>
              <a:buChar char="•"/>
            </a:pPr>
            <a:r>
              <a:rPr lang="en-US" altLang="zh-CN" sz="1800" dirty="0" smtClean="0"/>
              <a:t>Q</a:t>
            </a:r>
            <a:r>
              <a:rPr lang="zh-CN" altLang="zh-CN" sz="1800" dirty="0" smtClean="0"/>
              <a:t>关</a:t>
            </a:r>
            <a:r>
              <a:rPr lang="zh-CN" altLang="zh-CN" sz="1800" dirty="0"/>
              <a:t>断时，电感中的电流不能突变，此电流经过二极管</a:t>
            </a:r>
            <a:r>
              <a:rPr lang="en-US" altLang="zh-CN" sz="1800" dirty="0"/>
              <a:t>D</a:t>
            </a:r>
            <a:r>
              <a:rPr lang="zh-CN" altLang="zh-CN" sz="1800" dirty="0"/>
              <a:t>给负载供电，由于电流方向从负载流向电感，所以负载上得到的电压是负</a:t>
            </a:r>
            <a:r>
              <a:rPr lang="zh-CN" altLang="zh-CN" sz="1800" dirty="0" smtClean="0"/>
              <a:t>的</a:t>
            </a:r>
            <a:endParaRPr lang="en-US" altLang="zh-CN" sz="1800" dirty="0" smtClean="0"/>
          </a:p>
          <a:p>
            <a:pPr marL="285750" indent="-285750">
              <a:lnSpc>
                <a:spcPct val="150000"/>
              </a:lnSpc>
              <a:buFont typeface="Arial" panose="020B0604020202020204" pitchFamily="34" charset="0"/>
              <a:buChar char="•"/>
            </a:pPr>
            <a:r>
              <a:rPr lang="zh-CN" altLang="en-US" sz="1800" dirty="0"/>
              <a:t>改变开关的占空比可以改变输出</a:t>
            </a:r>
            <a:r>
              <a:rPr lang="zh-CN" altLang="en-US" sz="1800" dirty="0" smtClean="0"/>
              <a:t>电压</a:t>
            </a:r>
            <a:endParaRPr lang="zh-CN" altLang="en-US" sz="1800" dirty="0"/>
          </a:p>
        </p:txBody>
      </p:sp>
    </p:spTree>
    <p:extLst>
      <p:ext uri="{BB962C8B-B14F-4D97-AF65-F5344CB8AC3E}">
        <p14:creationId xmlns:p14="http://schemas.microsoft.com/office/powerpoint/2010/main" val="14811824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pic>
        <p:nvPicPr>
          <p:cNvPr id="5" name="图片 4"/>
          <p:cNvPicPr>
            <a:picLocks noChangeAspect="1"/>
          </p:cNvPicPr>
          <p:nvPr/>
        </p:nvPicPr>
        <p:blipFill>
          <a:blip r:embed="rId3"/>
          <a:stretch>
            <a:fillRect/>
          </a:stretch>
        </p:blipFill>
        <p:spPr>
          <a:xfrm>
            <a:off x="2287814" y="1356501"/>
            <a:ext cx="7821388" cy="4723355"/>
          </a:xfrm>
          <a:prstGeom prst="rect">
            <a:avLst/>
          </a:prstGeom>
        </p:spPr>
      </p:pic>
      <p:sp>
        <p:nvSpPr>
          <p:cNvPr id="6" name="文本框 5"/>
          <p:cNvSpPr txBox="1"/>
          <p:nvPr/>
        </p:nvSpPr>
        <p:spPr>
          <a:xfrm>
            <a:off x="471714" y="500743"/>
            <a:ext cx="11168743" cy="369332"/>
          </a:xfrm>
          <a:prstGeom prst="rect">
            <a:avLst/>
          </a:prstGeom>
          <a:noFill/>
        </p:spPr>
        <p:txBody>
          <a:bodyPr wrap="square" rtlCol="0">
            <a:spAutoFit/>
          </a:bodyPr>
          <a:lstStyle/>
          <a:p>
            <a:r>
              <a:rPr lang="en-US" altLang="zh-CN" sz="1800" dirty="0" smtClean="0"/>
              <a:t>MC34063A </a:t>
            </a:r>
            <a:r>
              <a:rPr lang="zh-CN" altLang="en-US" sz="1800" dirty="0" smtClean="0"/>
              <a:t>的 </a:t>
            </a:r>
            <a:r>
              <a:rPr lang="en-US" altLang="zh-CN" sz="1800" dirty="0" smtClean="0"/>
              <a:t>datasheet </a:t>
            </a:r>
            <a:r>
              <a:rPr lang="zh-CN" altLang="en-US" sz="1800" dirty="0" smtClean="0"/>
              <a:t>提供的电压反转电路例子（</a:t>
            </a:r>
            <a:r>
              <a:rPr lang="en-US" altLang="zh-CN" sz="1800" dirty="0" smtClean="0"/>
              <a:t>+5V </a:t>
            </a:r>
            <a:r>
              <a:rPr lang="zh-CN" altLang="en-US" sz="1800" dirty="0" smtClean="0">
                <a:latin typeface="Times New Roman" panose="02020603050405020304" pitchFamily="18" charset="0"/>
                <a:cs typeface="Times New Roman" panose="02020603050405020304" pitchFamily="18" charset="0"/>
              </a:rPr>
              <a:t>转</a:t>
            </a:r>
            <a:r>
              <a:rPr lang="en-US" altLang="zh-CN" sz="1800" dirty="0" smtClean="0">
                <a:latin typeface="Times New Roman" panose="02020603050405020304" pitchFamily="18" charset="0"/>
                <a:cs typeface="Times New Roman" panose="02020603050405020304" pitchFamily="18" charset="0"/>
              </a:rPr>
              <a:t> </a:t>
            </a:r>
            <a:r>
              <a:rPr lang="en-US" altLang="zh-CN" sz="1800" dirty="0" smtClean="0">
                <a:latin typeface="+mj-lt"/>
                <a:ea typeface="+mj-ea"/>
                <a:cs typeface="Times New Roman" panose="02020603050405020304" pitchFamily="18" charset="0"/>
              </a:rPr>
              <a:t>-12V</a:t>
            </a:r>
            <a:r>
              <a:rPr lang="zh-CN" altLang="en-US" sz="1800" dirty="0" smtClean="0"/>
              <a:t>）</a:t>
            </a:r>
            <a:endParaRPr lang="zh-CN" altLang="en-US" sz="1800" dirty="0"/>
          </a:p>
        </p:txBody>
      </p:sp>
      <p:sp>
        <p:nvSpPr>
          <p:cNvPr id="7" name="椭圆 6"/>
          <p:cNvSpPr/>
          <p:nvPr/>
        </p:nvSpPr>
        <p:spPr>
          <a:xfrm>
            <a:off x="6263822" y="2866571"/>
            <a:ext cx="783772" cy="7614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741886" y="2421801"/>
            <a:ext cx="2322286" cy="369332"/>
          </a:xfrm>
          <a:prstGeom prst="rect">
            <a:avLst/>
          </a:prstGeom>
          <a:noFill/>
        </p:spPr>
        <p:txBody>
          <a:bodyPr wrap="square" rtlCol="0">
            <a:spAutoFit/>
          </a:bodyPr>
          <a:lstStyle/>
          <a:p>
            <a:r>
              <a:rPr lang="zh-CN" altLang="en-US" sz="1800" dirty="0" smtClean="0"/>
              <a:t>储能电感</a:t>
            </a:r>
            <a:endParaRPr lang="zh-CN" altLang="en-US" sz="1800" dirty="0"/>
          </a:p>
        </p:txBody>
      </p:sp>
      <p:sp>
        <p:nvSpPr>
          <p:cNvPr id="9" name="椭圆 8"/>
          <p:cNvSpPr/>
          <p:nvPr/>
        </p:nvSpPr>
        <p:spPr>
          <a:xfrm>
            <a:off x="8549822" y="4775199"/>
            <a:ext cx="1254578" cy="13046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9502173" y="4590533"/>
            <a:ext cx="2322286" cy="369332"/>
          </a:xfrm>
          <a:prstGeom prst="rect">
            <a:avLst/>
          </a:prstGeom>
          <a:noFill/>
        </p:spPr>
        <p:txBody>
          <a:bodyPr wrap="square" rtlCol="0">
            <a:spAutoFit/>
          </a:bodyPr>
          <a:lstStyle/>
          <a:p>
            <a:r>
              <a:rPr lang="zh-CN" altLang="en-US" sz="1800" dirty="0" smtClean="0"/>
              <a:t>可选的滤波网络</a:t>
            </a:r>
            <a:endParaRPr lang="zh-CN" altLang="en-US" sz="1800" dirty="0"/>
          </a:p>
        </p:txBody>
      </p:sp>
      <p:sp>
        <p:nvSpPr>
          <p:cNvPr id="11" name="椭圆 10"/>
          <p:cNvSpPr/>
          <p:nvPr/>
        </p:nvSpPr>
        <p:spPr>
          <a:xfrm>
            <a:off x="2841928" y="4847770"/>
            <a:ext cx="2506586" cy="13046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772935" y="5315432"/>
            <a:ext cx="2322286" cy="369332"/>
          </a:xfrm>
          <a:prstGeom prst="rect">
            <a:avLst/>
          </a:prstGeom>
          <a:noFill/>
        </p:spPr>
        <p:txBody>
          <a:bodyPr wrap="square" rtlCol="0">
            <a:spAutoFit/>
          </a:bodyPr>
          <a:lstStyle/>
          <a:p>
            <a:r>
              <a:rPr lang="zh-CN" altLang="en-US" sz="1800" dirty="0" smtClean="0"/>
              <a:t>反馈网络</a:t>
            </a:r>
            <a:endParaRPr lang="zh-CN" altLang="en-US" sz="1800" dirty="0"/>
          </a:p>
        </p:txBody>
      </p:sp>
      <p:sp>
        <p:nvSpPr>
          <p:cNvPr id="13" name="椭圆 12"/>
          <p:cNvSpPr/>
          <p:nvPr/>
        </p:nvSpPr>
        <p:spPr>
          <a:xfrm>
            <a:off x="2841928" y="2960915"/>
            <a:ext cx="902758" cy="6670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118886" y="3109785"/>
            <a:ext cx="2322286" cy="369332"/>
          </a:xfrm>
          <a:prstGeom prst="rect">
            <a:avLst/>
          </a:prstGeom>
          <a:noFill/>
        </p:spPr>
        <p:txBody>
          <a:bodyPr wrap="square" rtlCol="0">
            <a:spAutoFit/>
          </a:bodyPr>
          <a:lstStyle/>
          <a:p>
            <a:r>
              <a:rPr lang="zh-CN" altLang="en-US" sz="1800" dirty="0" smtClean="0"/>
              <a:t>限流采样电阻</a:t>
            </a:r>
            <a:endParaRPr lang="zh-CN" altLang="en-US" sz="1800" dirty="0"/>
          </a:p>
        </p:txBody>
      </p:sp>
      <p:sp>
        <p:nvSpPr>
          <p:cNvPr id="15" name="椭圆 14"/>
          <p:cNvSpPr/>
          <p:nvPr/>
        </p:nvSpPr>
        <p:spPr>
          <a:xfrm>
            <a:off x="6963229" y="3795486"/>
            <a:ext cx="599244" cy="61685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7562473" y="3586616"/>
            <a:ext cx="2322286" cy="369332"/>
          </a:xfrm>
          <a:prstGeom prst="rect">
            <a:avLst/>
          </a:prstGeom>
          <a:noFill/>
        </p:spPr>
        <p:txBody>
          <a:bodyPr wrap="square" rtlCol="0">
            <a:spAutoFit/>
          </a:bodyPr>
          <a:lstStyle/>
          <a:p>
            <a:r>
              <a:rPr lang="zh-CN" altLang="en-US" sz="1800" dirty="0" smtClean="0"/>
              <a:t>快恢复整流二极管</a:t>
            </a:r>
            <a:endParaRPr lang="zh-CN" altLang="en-US" sz="1800" dirty="0"/>
          </a:p>
        </p:txBody>
      </p:sp>
    </p:spTree>
    <p:extLst>
      <p:ext uri="{BB962C8B-B14F-4D97-AF65-F5344CB8AC3E}">
        <p14:creationId xmlns:p14="http://schemas.microsoft.com/office/powerpoint/2010/main" val="33085830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文本框 4"/>
          <p:cNvSpPr txBox="1"/>
          <p:nvPr/>
        </p:nvSpPr>
        <p:spPr>
          <a:xfrm>
            <a:off x="471713" y="500743"/>
            <a:ext cx="6313715" cy="5493812"/>
          </a:xfrm>
          <a:prstGeom prst="rect">
            <a:avLst/>
          </a:prstGeom>
          <a:noFill/>
        </p:spPr>
        <p:txBody>
          <a:bodyPr wrap="square" rtlCol="0">
            <a:spAutoFit/>
          </a:bodyPr>
          <a:lstStyle/>
          <a:p>
            <a:pPr>
              <a:lnSpc>
                <a:spcPct val="150000"/>
              </a:lnSpc>
            </a:pPr>
            <a:r>
              <a:rPr lang="zh-CN" altLang="en-US" sz="1800" dirty="0" smtClean="0"/>
              <a:t>本题目中用</a:t>
            </a:r>
            <a:r>
              <a:rPr lang="en-US" altLang="zh-CN" sz="1800" dirty="0" smtClean="0"/>
              <a:t>MC34063A </a:t>
            </a:r>
            <a:r>
              <a:rPr lang="zh-CN" altLang="en-US" sz="1800" dirty="0" smtClean="0"/>
              <a:t>设计的电压反转电路（</a:t>
            </a:r>
            <a:r>
              <a:rPr lang="en-US" altLang="zh-CN" sz="1800" dirty="0" smtClean="0"/>
              <a:t>+5V </a:t>
            </a:r>
            <a:r>
              <a:rPr lang="zh-CN" altLang="en-US" sz="1800" dirty="0" smtClean="0">
                <a:latin typeface="Times New Roman" panose="02020603050405020304" pitchFamily="18" charset="0"/>
                <a:cs typeface="Times New Roman" panose="02020603050405020304" pitchFamily="18" charset="0"/>
              </a:rPr>
              <a:t>转</a:t>
            </a:r>
            <a:r>
              <a:rPr lang="en-US" altLang="zh-CN" sz="1800" dirty="0" smtClean="0">
                <a:latin typeface="Times New Roman" panose="02020603050405020304" pitchFamily="18" charset="0"/>
                <a:cs typeface="Times New Roman" panose="02020603050405020304" pitchFamily="18" charset="0"/>
              </a:rPr>
              <a:t> </a:t>
            </a:r>
            <a:r>
              <a:rPr lang="en-US" altLang="zh-CN" sz="1800" dirty="0" smtClean="0">
                <a:latin typeface="+mj-lt"/>
                <a:ea typeface="+mj-ea"/>
                <a:cs typeface="Times New Roman" panose="02020603050405020304" pitchFamily="18" charset="0"/>
              </a:rPr>
              <a:t>-5V</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smtClean="0"/>
              <a:t>设计参数</a:t>
            </a:r>
            <a:endParaRPr lang="en-US" altLang="zh-CN" sz="1800" dirty="0" smtClean="0"/>
          </a:p>
          <a:p>
            <a:pPr lvl="1">
              <a:lnSpc>
                <a:spcPct val="150000"/>
              </a:lnSpc>
            </a:pPr>
            <a:r>
              <a:rPr lang="zh-CN" altLang="zh-CN" sz="1800" dirty="0" smtClean="0"/>
              <a:t>输入</a:t>
            </a:r>
            <a:r>
              <a:rPr lang="zh-CN" altLang="zh-CN" sz="1800" dirty="0"/>
              <a:t>电压</a:t>
            </a:r>
            <a:r>
              <a:rPr lang="en-US" altLang="zh-CN" sz="1800" dirty="0"/>
              <a:t>5V</a:t>
            </a:r>
            <a:r>
              <a:rPr lang="zh-CN" altLang="zh-CN" sz="1800" dirty="0"/>
              <a:t>，输出电压</a:t>
            </a:r>
            <a:r>
              <a:rPr lang="en-US" altLang="zh-CN" sz="1800" dirty="0"/>
              <a:t>-</a:t>
            </a:r>
            <a:r>
              <a:rPr lang="en-US" altLang="zh-CN" sz="1800" dirty="0" smtClean="0"/>
              <a:t>5V</a:t>
            </a:r>
          </a:p>
          <a:p>
            <a:pPr lvl="1">
              <a:lnSpc>
                <a:spcPct val="150000"/>
              </a:lnSpc>
            </a:pPr>
            <a:r>
              <a:rPr lang="zh-CN" altLang="zh-CN" sz="1800" dirty="0" smtClean="0"/>
              <a:t>额定</a:t>
            </a:r>
            <a:r>
              <a:rPr lang="zh-CN" altLang="zh-CN" sz="1800" dirty="0"/>
              <a:t>输出电流</a:t>
            </a:r>
            <a:r>
              <a:rPr lang="en-US" altLang="zh-CN" sz="1800" dirty="0"/>
              <a:t>200mA</a:t>
            </a:r>
            <a:r>
              <a:rPr lang="zh-CN" altLang="zh-CN" sz="1800" dirty="0"/>
              <a:t>，纹波电压不大于</a:t>
            </a:r>
            <a:r>
              <a:rPr lang="en-US" altLang="zh-CN" sz="1800" dirty="0" smtClean="0"/>
              <a:t>50mV</a:t>
            </a:r>
          </a:p>
          <a:p>
            <a:pPr marL="285750" indent="-285750">
              <a:lnSpc>
                <a:spcPct val="150000"/>
              </a:lnSpc>
              <a:buFont typeface="Arial" panose="020B0604020202020204" pitchFamily="34" charset="0"/>
              <a:buChar char="•"/>
            </a:pPr>
            <a:r>
              <a:rPr lang="zh-CN" altLang="en-US" sz="1800" dirty="0" smtClean="0"/>
              <a:t>定时电容</a:t>
            </a:r>
            <a:r>
              <a:rPr lang="en-US" altLang="zh-CN" sz="1800" dirty="0" smtClean="0"/>
              <a:t>C</a:t>
            </a:r>
            <a:r>
              <a:rPr lang="en-US" altLang="zh-CN" sz="1800" baseline="-25000" dirty="0" smtClean="0"/>
              <a:t>T</a:t>
            </a:r>
            <a:r>
              <a:rPr lang="en-US" altLang="zh-CN" sz="1800" dirty="0" smtClean="0"/>
              <a:t>=510pF</a:t>
            </a:r>
          </a:p>
          <a:p>
            <a:pPr marL="285750" indent="-285750">
              <a:lnSpc>
                <a:spcPct val="150000"/>
              </a:lnSpc>
              <a:buFont typeface="Arial" panose="020B0604020202020204" pitchFamily="34" charset="0"/>
              <a:buChar char="•"/>
            </a:pPr>
            <a:r>
              <a:rPr lang="zh-CN" altLang="en-US" sz="1800" dirty="0" smtClean="0"/>
              <a:t>整流二极管</a:t>
            </a:r>
            <a:r>
              <a:rPr lang="en-US" altLang="zh-CN" sz="1800" dirty="0" smtClean="0"/>
              <a:t>D</a:t>
            </a:r>
            <a:r>
              <a:rPr lang="zh-CN" altLang="en-US" sz="1800" dirty="0" smtClean="0"/>
              <a:t>采用</a:t>
            </a:r>
            <a:r>
              <a:rPr lang="en-US" altLang="zh-CN" sz="1800" dirty="0" smtClean="0"/>
              <a:t>1n5819</a:t>
            </a:r>
          </a:p>
          <a:p>
            <a:pPr marL="285750" indent="-285750">
              <a:lnSpc>
                <a:spcPct val="150000"/>
              </a:lnSpc>
              <a:buFont typeface="Arial" panose="020B0604020202020204" pitchFamily="34" charset="0"/>
              <a:buChar char="•"/>
            </a:pPr>
            <a:r>
              <a:rPr lang="zh-CN" altLang="zh-CN" sz="1800" dirty="0" smtClean="0"/>
              <a:t>电感用直径</a:t>
            </a:r>
            <a:r>
              <a:rPr lang="en-US" altLang="zh-CN" sz="1800" dirty="0" smtClean="0"/>
              <a:t>0.62mm</a:t>
            </a:r>
            <a:r>
              <a:rPr lang="zh-CN" altLang="zh-CN" sz="1800" dirty="0" smtClean="0"/>
              <a:t>漆包线在工字磁芯上绕</a:t>
            </a:r>
            <a:r>
              <a:rPr lang="en-US" altLang="zh-CN" sz="1800" dirty="0" smtClean="0"/>
              <a:t>53</a:t>
            </a:r>
            <a:r>
              <a:rPr lang="zh-CN" altLang="zh-CN" sz="1800" dirty="0" smtClean="0"/>
              <a:t>匝</a:t>
            </a:r>
            <a:endParaRPr lang="en-US" altLang="zh-CN" sz="1800" dirty="0" smtClean="0"/>
          </a:p>
          <a:p>
            <a:pPr marL="324000" lvl="1">
              <a:lnSpc>
                <a:spcPct val="150000"/>
              </a:lnSpc>
            </a:pPr>
            <a:r>
              <a:rPr lang="zh-CN" altLang="zh-CN" sz="1800" dirty="0" smtClean="0"/>
              <a:t>实测电感量为</a:t>
            </a:r>
            <a:r>
              <a:rPr lang="en-US" altLang="zh-CN" sz="1800" dirty="0" smtClean="0"/>
              <a:t>157μH</a:t>
            </a:r>
            <a:endParaRPr lang="zh-CN" altLang="en-US" sz="1800" dirty="0" smtClean="0"/>
          </a:p>
          <a:p>
            <a:pPr marL="342900" indent="-342900">
              <a:lnSpc>
                <a:spcPct val="150000"/>
              </a:lnSpc>
              <a:buFont typeface="Arial" panose="020B0604020202020204" pitchFamily="34" charset="0"/>
              <a:buChar char="•"/>
            </a:pPr>
            <a:r>
              <a:rPr lang="zh-CN" altLang="en-US" sz="1800" dirty="0"/>
              <a:t>限</a:t>
            </a:r>
            <a:r>
              <a:rPr lang="zh-CN" altLang="en-US" sz="1800" dirty="0" smtClean="0"/>
              <a:t>流电阻</a:t>
            </a:r>
            <a:r>
              <a:rPr lang="en-US" altLang="zh-CN" sz="1800" dirty="0" smtClean="0"/>
              <a:t>R</a:t>
            </a:r>
            <a:r>
              <a:rPr lang="en-US" altLang="zh-CN" sz="1800" baseline="-25000" dirty="0" smtClean="0"/>
              <a:t>SC</a:t>
            </a:r>
            <a:r>
              <a:rPr lang="en-US" altLang="zh-CN" sz="1800" dirty="0" smtClean="0"/>
              <a:t>=0.33</a:t>
            </a:r>
            <a:r>
              <a:rPr lang="el-GR" altLang="zh-CN" sz="1800" dirty="0" smtClean="0"/>
              <a:t>Ω</a:t>
            </a:r>
            <a:r>
              <a:rPr lang="zh-CN" altLang="en-US" sz="1800" dirty="0" smtClean="0"/>
              <a:t>，</a:t>
            </a:r>
            <a:r>
              <a:rPr lang="zh-CN" altLang="zh-CN" sz="1800" dirty="0" smtClean="0"/>
              <a:t>限流值</a:t>
            </a:r>
            <a:r>
              <a:rPr lang="zh-CN" altLang="en-US" sz="1800" dirty="0" smtClean="0"/>
              <a:t>大约</a:t>
            </a:r>
            <a:r>
              <a:rPr lang="en-US" altLang="zh-CN" sz="1800" dirty="0" smtClean="0"/>
              <a:t>800mA</a:t>
            </a:r>
          </a:p>
          <a:p>
            <a:pPr marL="342900" indent="-342900">
              <a:lnSpc>
                <a:spcPct val="150000"/>
              </a:lnSpc>
              <a:buFont typeface="Arial" panose="020B0604020202020204" pitchFamily="34" charset="0"/>
              <a:buChar char="•"/>
            </a:pPr>
            <a:r>
              <a:rPr lang="zh-CN" altLang="en-US" sz="1800" dirty="0" smtClean="0"/>
              <a:t>滤波电容</a:t>
            </a:r>
            <a:r>
              <a:rPr lang="en-US" altLang="zh-CN" sz="1800" dirty="0" smtClean="0"/>
              <a:t>C=100</a:t>
            </a:r>
            <a:r>
              <a:rPr lang="el-GR" altLang="zh-CN" sz="1800" dirty="0" smtClean="0"/>
              <a:t>μ</a:t>
            </a:r>
            <a:r>
              <a:rPr lang="en-US" altLang="zh-CN" sz="1800" dirty="0" smtClean="0"/>
              <a:t>F</a:t>
            </a:r>
          </a:p>
          <a:p>
            <a:pPr marL="342900" indent="-342900">
              <a:lnSpc>
                <a:spcPct val="150000"/>
              </a:lnSpc>
              <a:buFont typeface="Arial" panose="020B0604020202020204" pitchFamily="34" charset="0"/>
              <a:buChar char="•"/>
            </a:pPr>
            <a:r>
              <a:rPr lang="zh-CN" altLang="en-US" sz="1800" dirty="0" smtClean="0"/>
              <a:t>取样电阻</a:t>
            </a:r>
            <a:r>
              <a:rPr lang="en-US" altLang="zh-CN" sz="1800" dirty="0" smtClean="0"/>
              <a:t>R1=1k</a:t>
            </a:r>
            <a:r>
              <a:rPr lang="el-GR" altLang="zh-CN" sz="1800" dirty="0"/>
              <a:t>Ω</a:t>
            </a:r>
            <a:r>
              <a:rPr lang="zh-CN" altLang="en-US" sz="1800" dirty="0" smtClean="0"/>
              <a:t>，</a:t>
            </a:r>
            <a:r>
              <a:rPr lang="en-US" altLang="zh-CN" sz="1800" dirty="0" smtClean="0"/>
              <a:t>R2=3k</a:t>
            </a:r>
            <a:r>
              <a:rPr lang="el-GR" altLang="zh-CN" sz="1800" dirty="0" smtClean="0"/>
              <a:t>Ω</a:t>
            </a:r>
            <a:endParaRPr lang="en-US" altLang="zh-CN" sz="1800" dirty="0" smtClean="0"/>
          </a:p>
          <a:p>
            <a:pPr marL="342900" indent="-342900">
              <a:lnSpc>
                <a:spcPct val="150000"/>
              </a:lnSpc>
              <a:buFont typeface="Arial" panose="020B0604020202020204" pitchFamily="34" charset="0"/>
              <a:buChar char="•"/>
            </a:pPr>
            <a:endParaRPr lang="en-US" altLang="zh-CN" sz="1800" dirty="0"/>
          </a:p>
          <a:p>
            <a:pPr lvl="1">
              <a:lnSpc>
                <a:spcPct val="150000"/>
              </a:lnSpc>
            </a:pPr>
            <a:r>
              <a:rPr lang="zh-CN" altLang="en-US" sz="1800" dirty="0" smtClean="0">
                <a:latin typeface="楷体" panose="02010609060101010101" pitchFamily="49" charset="-122"/>
                <a:ea typeface="楷体" panose="02010609060101010101" pitchFamily="49" charset="-122"/>
              </a:rPr>
              <a:t>具体设计过程可参见培训材料</a:t>
            </a:r>
            <a:r>
              <a:rPr lang="en-US" altLang="zh-CN" sz="1800" dirty="0" smtClean="0">
                <a:latin typeface="楷体" panose="02010609060101010101" pitchFamily="49" charset="-122"/>
                <a:ea typeface="楷体" panose="02010609060101010101" pitchFamily="49" charset="-122"/>
              </a:rPr>
              <a:t>《</a:t>
            </a:r>
            <a:r>
              <a:rPr lang="zh-CN" altLang="en-US" sz="1800" dirty="0" smtClean="0">
                <a:latin typeface="楷体" panose="02010609060101010101" pitchFamily="49" charset="-122"/>
                <a:ea typeface="楷体" panose="02010609060101010101" pitchFamily="49" charset="-122"/>
              </a:rPr>
              <a:t>电源电路</a:t>
            </a:r>
            <a:r>
              <a:rPr lang="en-US" altLang="zh-CN" sz="1800" dirty="0" smtClean="0">
                <a:latin typeface="楷体" panose="02010609060101010101" pitchFamily="49" charset="-122"/>
                <a:ea typeface="楷体" panose="02010609060101010101" pitchFamily="49" charset="-122"/>
              </a:rPr>
              <a:t>》</a:t>
            </a:r>
            <a:endParaRPr lang="zh-CN" altLang="en-US" sz="1800" dirty="0">
              <a:latin typeface="楷体" panose="02010609060101010101" pitchFamily="49" charset="-122"/>
              <a:ea typeface="楷体" panose="02010609060101010101" pitchFamily="49"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229523092"/>
              </p:ext>
            </p:extLst>
          </p:nvPr>
        </p:nvGraphicFramePr>
        <p:xfrm>
          <a:off x="5972629" y="1240971"/>
          <a:ext cx="5596008" cy="2740259"/>
        </p:xfrm>
        <a:graphic>
          <a:graphicData uri="http://schemas.openxmlformats.org/presentationml/2006/ole">
            <mc:AlternateContent xmlns:mc="http://schemas.openxmlformats.org/markup-compatibility/2006">
              <mc:Choice xmlns:v="urn:schemas-microsoft-com:vml" Requires="v">
                <p:oleObj spid="_x0000_s26641" name="Visio" r:id="rId3" imgW="3384516" imgH="1657060" progId="Visio.Drawing.15">
                  <p:embed/>
                </p:oleObj>
              </mc:Choice>
              <mc:Fallback>
                <p:oleObj name="Visio" r:id="rId3" imgW="3384516" imgH="1657060"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2629" y="1240971"/>
                        <a:ext cx="5596008" cy="2740259"/>
                      </a:xfrm>
                      <a:prstGeom prst="rect">
                        <a:avLst/>
                      </a:prstGeom>
                      <a:noFill/>
                    </p:spPr>
                  </p:pic>
                </p:oleObj>
              </mc:Fallback>
            </mc:AlternateContent>
          </a:graphicData>
        </a:graphic>
      </p:graphicFrame>
    </p:spTree>
    <p:extLst>
      <p:ext uri="{BB962C8B-B14F-4D97-AF65-F5344CB8AC3E}">
        <p14:creationId xmlns:p14="http://schemas.microsoft.com/office/powerpoint/2010/main" val="1988191489"/>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16318</TotalTime>
  <Words>6317</Words>
  <Application>Microsoft Office PowerPoint</Application>
  <PresentationFormat>宽屏</PresentationFormat>
  <Paragraphs>651</Paragraphs>
  <Slides>60</Slides>
  <Notes>17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60</vt:i4>
      </vt:variant>
    </vt:vector>
  </HeadingPairs>
  <TitlesOfParts>
    <vt:vector size="76" baseType="lpstr">
      <vt:lpstr>黑体</vt:lpstr>
      <vt:lpstr>华文细黑</vt:lpstr>
      <vt:lpstr>楷体</vt:lpstr>
      <vt:lpstr>楷体_GB2312</vt:lpstr>
      <vt:lpstr>隶书</vt:lpstr>
      <vt:lpstr>宋体</vt:lpstr>
      <vt:lpstr>Arial</vt:lpstr>
      <vt:lpstr>Cambria Math</vt:lpstr>
      <vt:lpstr>Symbol</vt:lpstr>
      <vt:lpstr>Times New Roman</vt:lpstr>
      <vt:lpstr>Wingdings</vt:lpstr>
      <vt:lpstr>1_Network</vt:lpstr>
      <vt:lpstr>Visio</vt:lpstr>
      <vt:lpstr>Equation</vt:lpstr>
      <vt:lpstr>MathType 4.0 Equation</vt:lpstr>
      <vt:lpstr>Microsoft Visio 绘图</vt:lpstr>
      <vt:lpstr>高频放大器与LC滤波器 —— 两个高频电路竞赛题的分析与设计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538</cp:revision>
  <dcterms:created xsi:type="dcterms:W3CDTF">1601-01-01T00:00:00Z</dcterms:created>
  <dcterms:modified xsi:type="dcterms:W3CDTF">2024-03-31T01:58:15Z</dcterms:modified>
</cp:coreProperties>
</file>