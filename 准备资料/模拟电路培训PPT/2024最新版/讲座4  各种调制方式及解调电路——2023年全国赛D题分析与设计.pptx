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83" r:id="rId1"/>
  </p:sldMasterIdLst>
  <p:notesMasterIdLst>
    <p:notesMasterId r:id="rId71"/>
  </p:notesMasterIdLst>
  <p:handoutMasterIdLst>
    <p:handoutMasterId r:id="rId72"/>
  </p:handoutMasterIdLst>
  <p:sldIdLst>
    <p:sldId id="398" r:id="rId2"/>
    <p:sldId id="660" r:id="rId3"/>
    <p:sldId id="677" r:id="rId4"/>
    <p:sldId id="694" r:id="rId5"/>
    <p:sldId id="678" r:id="rId6"/>
    <p:sldId id="679" r:id="rId7"/>
    <p:sldId id="697" r:id="rId8"/>
    <p:sldId id="741" r:id="rId9"/>
    <p:sldId id="698" r:id="rId10"/>
    <p:sldId id="699" r:id="rId11"/>
    <p:sldId id="701" r:id="rId12"/>
    <p:sldId id="700" r:id="rId13"/>
    <p:sldId id="739" r:id="rId14"/>
    <p:sldId id="742" r:id="rId15"/>
    <p:sldId id="702" r:id="rId16"/>
    <p:sldId id="703" r:id="rId17"/>
    <p:sldId id="704" r:id="rId18"/>
    <p:sldId id="740" r:id="rId19"/>
    <p:sldId id="706" r:id="rId20"/>
    <p:sldId id="707" r:id="rId21"/>
    <p:sldId id="768" r:id="rId22"/>
    <p:sldId id="708" r:id="rId23"/>
    <p:sldId id="743" r:id="rId24"/>
    <p:sldId id="744" r:id="rId25"/>
    <p:sldId id="762" r:id="rId26"/>
    <p:sldId id="759" r:id="rId27"/>
    <p:sldId id="748" r:id="rId28"/>
    <p:sldId id="746" r:id="rId29"/>
    <p:sldId id="763" r:id="rId30"/>
    <p:sldId id="749" r:id="rId31"/>
    <p:sldId id="750" r:id="rId32"/>
    <p:sldId id="751" r:id="rId33"/>
    <p:sldId id="757" r:id="rId34"/>
    <p:sldId id="752" r:id="rId35"/>
    <p:sldId id="753" r:id="rId36"/>
    <p:sldId id="754" r:id="rId37"/>
    <p:sldId id="755" r:id="rId38"/>
    <p:sldId id="756" r:id="rId39"/>
    <p:sldId id="769" r:id="rId40"/>
    <p:sldId id="764" r:id="rId41"/>
    <p:sldId id="767" r:id="rId42"/>
    <p:sldId id="765" r:id="rId43"/>
    <p:sldId id="766" r:id="rId44"/>
    <p:sldId id="775" r:id="rId45"/>
    <p:sldId id="716" r:id="rId46"/>
    <p:sldId id="784" r:id="rId47"/>
    <p:sldId id="712" r:id="rId48"/>
    <p:sldId id="772" r:id="rId49"/>
    <p:sldId id="771" r:id="rId50"/>
    <p:sldId id="773" r:id="rId51"/>
    <p:sldId id="774" r:id="rId52"/>
    <p:sldId id="713" r:id="rId53"/>
    <p:sldId id="714" r:id="rId54"/>
    <p:sldId id="715" r:id="rId55"/>
    <p:sldId id="770" r:id="rId56"/>
    <p:sldId id="777" r:id="rId57"/>
    <p:sldId id="760" r:id="rId58"/>
    <p:sldId id="718" r:id="rId59"/>
    <p:sldId id="721" r:id="rId60"/>
    <p:sldId id="783" r:id="rId61"/>
    <p:sldId id="786" r:id="rId62"/>
    <p:sldId id="787" r:id="rId63"/>
    <p:sldId id="789" r:id="rId64"/>
    <p:sldId id="788" r:id="rId65"/>
    <p:sldId id="780" r:id="rId66"/>
    <p:sldId id="782" r:id="rId67"/>
    <p:sldId id="791" r:id="rId68"/>
    <p:sldId id="790" r:id="rId69"/>
    <p:sldId id="785" r:id="rId70"/>
  </p:sldIdLst>
  <p:sldSz cx="12192000" cy="6858000"/>
  <p:notesSz cx="6735763" cy="9869488"/>
  <p:defaultTextStyle>
    <a:defPPr>
      <a:defRPr lang="en-US"/>
    </a:defPPr>
    <a:lvl1pPr algn="l" rtl="0" fontAlgn="base">
      <a:spcBef>
        <a:spcPct val="0"/>
      </a:spcBef>
      <a:spcAft>
        <a:spcPct val="0"/>
      </a:spcAft>
      <a:defRPr sz="2000" kern="1200">
        <a:solidFill>
          <a:schemeClr val="tx1"/>
        </a:solidFill>
        <a:latin typeface="Arial" charset="0"/>
        <a:ea typeface="华文细黑" pitchFamily="2" charset="-122"/>
        <a:cs typeface="+mn-cs"/>
      </a:defRPr>
    </a:lvl1pPr>
    <a:lvl2pPr marL="457200" algn="l" rtl="0" fontAlgn="base">
      <a:spcBef>
        <a:spcPct val="0"/>
      </a:spcBef>
      <a:spcAft>
        <a:spcPct val="0"/>
      </a:spcAft>
      <a:defRPr sz="2000" kern="1200">
        <a:solidFill>
          <a:schemeClr val="tx1"/>
        </a:solidFill>
        <a:latin typeface="Arial" charset="0"/>
        <a:ea typeface="华文细黑" pitchFamily="2" charset="-122"/>
        <a:cs typeface="+mn-cs"/>
      </a:defRPr>
    </a:lvl2pPr>
    <a:lvl3pPr marL="914400" algn="l" rtl="0" fontAlgn="base">
      <a:spcBef>
        <a:spcPct val="0"/>
      </a:spcBef>
      <a:spcAft>
        <a:spcPct val="0"/>
      </a:spcAft>
      <a:defRPr sz="2000" kern="1200">
        <a:solidFill>
          <a:schemeClr val="tx1"/>
        </a:solidFill>
        <a:latin typeface="Arial" charset="0"/>
        <a:ea typeface="华文细黑" pitchFamily="2" charset="-122"/>
        <a:cs typeface="+mn-cs"/>
      </a:defRPr>
    </a:lvl3pPr>
    <a:lvl4pPr marL="1371600" algn="l" rtl="0" fontAlgn="base">
      <a:spcBef>
        <a:spcPct val="0"/>
      </a:spcBef>
      <a:spcAft>
        <a:spcPct val="0"/>
      </a:spcAft>
      <a:defRPr sz="2000" kern="1200">
        <a:solidFill>
          <a:schemeClr val="tx1"/>
        </a:solidFill>
        <a:latin typeface="Arial" charset="0"/>
        <a:ea typeface="华文细黑" pitchFamily="2" charset="-122"/>
        <a:cs typeface="+mn-cs"/>
      </a:defRPr>
    </a:lvl4pPr>
    <a:lvl5pPr marL="1828800" algn="l" rtl="0" fontAlgn="base">
      <a:spcBef>
        <a:spcPct val="0"/>
      </a:spcBef>
      <a:spcAft>
        <a:spcPct val="0"/>
      </a:spcAft>
      <a:defRPr sz="2000" kern="1200">
        <a:solidFill>
          <a:schemeClr val="tx1"/>
        </a:solidFill>
        <a:latin typeface="Arial" charset="0"/>
        <a:ea typeface="华文细黑" pitchFamily="2" charset="-122"/>
        <a:cs typeface="+mn-cs"/>
      </a:defRPr>
    </a:lvl5pPr>
    <a:lvl6pPr marL="2286000" algn="l" defTabSz="914400" rtl="0" eaLnBrk="1" latinLnBrk="0" hangingPunct="1">
      <a:defRPr sz="2000" kern="1200">
        <a:solidFill>
          <a:schemeClr val="tx1"/>
        </a:solidFill>
        <a:latin typeface="Arial" charset="0"/>
        <a:ea typeface="华文细黑" pitchFamily="2" charset="-122"/>
        <a:cs typeface="+mn-cs"/>
      </a:defRPr>
    </a:lvl6pPr>
    <a:lvl7pPr marL="2743200" algn="l" defTabSz="914400" rtl="0" eaLnBrk="1" latinLnBrk="0" hangingPunct="1">
      <a:defRPr sz="2000" kern="1200">
        <a:solidFill>
          <a:schemeClr val="tx1"/>
        </a:solidFill>
        <a:latin typeface="Arial" charset="0"/>
        <a:ea typeface="华文细黑" pitchFamily="2" charset="-122"/>
        <a:cs typeface="+mn-cs"/>
      </a:defRPr>
    </a:lvl7pPr>
    <a:lvl8pPr marL="3200400" algn="l" defTabSz="914400" rtl="0" eaLnBrk="1" latinLnBrk="0" hangingPunct="1">
      <a:defRPr sz="2000" kern="1200">
        <a:solidFill>
          <a:schemeClr val="tx1"/>
        </a:solidFill>
        <a:latin typeface="Arial" charset="0"/>
        <a:ea typeface="华文细黑" pitchFamily="2" charset="-122"/>
        <a:cs typeface="+mn-cs"/>
      </a:defRPr>
    </a:lvl8pPr>
    <a:lvl9pPr marL="3657600" algn="l" defTabSz="914400" rtl="0" eaLnBrk="1" latinLnBrk="0" hangingPunct="1">
      <a:defRPr sz="2000"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09">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E7FFFF"/>
    <a:srgbClr val="EDFFFF"/>
    <a:srgbClr val="CCECFF"/>
    <a:srgbClr val="99FF99"/>
    <a:srgbClr val="FFFF66"/>
    <a:srgbClr val="66FFFF"/>
    <a:srgbClr val="FFCC00"/>
    <a:srgbClr val="FF3300"/>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93147" autoAdjust="0"/>
  </p:normalViewPr>
  <p:slideViewPr>
    <p:cSldViewPr snapToGrid="0">
      <p:cViewPr varScale="1">
        <p:scale>
          <a:sx n="88" d="100"/>
          <a:sy n="88" d="100"/>
        </p:scale>
        <p:origin x="80" y="20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71" d="100"/>
          <a:sy n="71" d="100"/>
        </p:scale>
        <p:origin x="2768" y="56"/>
      </p:cViewPr>
      <p:guideLst>
        <p:guide orient="horz" pos="3109"/>
        <p:guide pos="212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emf"/><Relationship Id="rId4"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image" Target="../media/image1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7.wmf"/><Relationship Id="rId1" Type="http://schemas.openxmlformats.org/officeDocument/2006/relationships/image" Target="../media/image6.wmf"/><Relationship Id="rId5" Type="http://schemas.openxmlformats.org/officeDocument/2006/relationships/image" Target="../media/image23.wmf"/><Relationship Id="rId4"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7.wmf"/><Relationship Id="rId1" Type="http://schemas.openxmlformats.org/officeDocument/2006/relationships/image" Target="../media/image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emf"/><Relationship Id="rId4"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emf"/><Relationship Id="rId1" Type="http://schemas.openxmlformats.org/officeDocument/2006/relationships/image" Target="../media/image44.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image" Target="../media/image4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image" Target="../media/image50.emf"/><Relationship Id="rId4" Type="http://schemas.openxmlformats.org/officeDocument/2006/relationships/image" Target="../media/image53.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emf"/><Relationship Id="rId4" Type="http://schemas.openxmlformats.org/officeDocument/2006/relationships/image" Target="../media/image62.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5" Type="http://schemas.openxmlformats.org/officeDocument/2006/relationships/image" Target="../media/image74.wmf"/><Relationship Id="rId4" Type="http://schemas.openxmlformats.org/officeDocument/2006/relationships/image" Target="../media/image73.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83.wmf"/><Relationship Id="rId3" Type="http://schemas.openxmlformats.org/officeDocument/2006/relationships/image" Target="../media/image78.wmf"/><Relationship Id="rId7" Type="http://schemas.openxmlformats.org/officeDocument/2006/relationships/image" Target="../media/image82.wmf"/><Relationship Id="rId2" Type="http://schemas.openxmlformats.org/officeDocument/2006/relationships/image" Target="../media/image77.wmf"/><Relationship Id="rId1" Type="http://schemas.openxmlformats.org/officeDocument/2006/relationships/image" Target="../media/image76.wmf"/><Relationship Id="rId6" Type="http://schemas.openxmlformats.org/officeDocument/2006/relationships/image" Target="../media/image81.wmf"/><Relationship Id="rId5" Type="http://schemas.openxmlformats.org/officeDocument/2006/relationships/image" Target="../media/image80.wmf"/><Relationship Id="rId10" Type="http://schemas.openxmlformats.org/officeDocument/2006/relationships/image" Target="../media/image75.wmf"/><Relationship Id="rId4" Type="http://schemas.openxmlformats.org/officeDocument/2006/relationships/image" Target="../media/image79.wmf"/><Relationship Id="rId9" Type="http://schemas.openxmlformats.org/officeDocument/2006/relationships/image" Target="../media/image84.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5.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92.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97283"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97284" name="Rectangle 4"/>
          <p:cNvSpPr>
            <a:spLocks noGrp="1" noChangeArrowheads="1"/>
          </p:cNvSpPr>
          <p:nvPr>
            <p:ph type="ftr" sz="quarter" idx="2"/>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97285" name="Rectangle 5"/>
          <p:cNvSpPr>
            <a:spLocks noGrp="1" noChangeArrowheads="1"/>
          </p:cNvSpPr>
          <p:nvPr>
            <p:ph type="sldNum" sz="quarter" idx="3"/>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E6372099-F593-43F9-841D-2A8A1DB37ACA}" type="slidenum">
              <a:rPr lang="zh-CN" altLang="en-US"/>
              <a:pPr>
                <a:defRPr/>
              </a:pPr>
              <a:t>‹#›</a:t>
            </a:fld>
            <a:endParaRPr lang="en-US" altLang="zh-CN"/>
          </a:p>
        </p:txBody>
      </p:sp>
    </p:spTree>
    <p:extLst>
      <p:ext uri="{BB962C8B-B14F-4D97-AF65-F5344CB8AC3E}">
        <p14:creationId xmlns:p14="http://schemas.microsoft.com/office/powerpoint/2010/main" val="3352001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宋体" pitchFamily="2" charset="-122"/>
              </a:defRPr>
            </a:lvl1pPr>
          </a:lstStyle>
          <a:p>
            <a:pPr>
              <a:defRPr/>
            </a:pPr>
            <a:endParaRPr lang="zh-CN" altLang="en-US"/>
          </a:p>
        </p:txBody>
      </p:sp>
      <p:sp>
        <p:nvSpPr>
          <p:cNvPr id="47107"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宋体" pitchFamily="2" charset="-122"/>
              </a:defRPr>
            </a:lvl1pPr>
          </a:lstStyle>
          <a:p>
            <a:pPr>
              <a:defRPr/>
            </a:pPr>
            <a:endParaRPr lang="en-US" altLang="zh-CN"/>
          </a:p>
        </p:txBody>
      </p:sp>
      <p:sp>
        <p:nvSpPr>
          <p:cNvPr id="33796" name="Rectangle 4"/>
          <p:cNvSpPr>
            <a:spLocks noGrp="1" noRot="1" noChangeAspect="1" noChangeArrowheads="1" noTextEdit="1"/>
          </p:cNvSpPr>
          <p:nvPr>
            <p:ph type="sldImg" idx="2"/>
          </p:nvPr>
        </p:nvSpPr>
        <p:spPr bwMode="auto">
          <a:xfrm>
            <a:off x="77788" y="739775"/>
            <a:ext cx="658018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9" name="Rectangle 5"/>
          <p:cNvSpPr>
            <a:spLocks noGrp="1" noChangeArrowheads="1"/>
          </p:cNvSpPr>
          <p:nvPr>
            <p:ph type="body" sz="quarter" idx="3"/>
          </p:nvPr>
        </p:nvSpPr>
        <p:spPr bwMode="auto">
          <a:xfrm>
            <a:off x="673100" y="4687888"/>
            <a:ext cx="5389563" cy="44418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7110" name="Rectangle 6"/>
          <p:cNvSpPr>
            <a:spLocks noGrp="1" noChangeArrowheads="1"/>
          </p:cNvSpPr>
          <p:nvPr>
            <p:ph type="ftr" sz="quarter" idx="4"/>
          </p:nvPr>
        </p:nvSpPr>
        <p:spPr bwMode="auto">
          <a:xfrm>
            <a:off x="0" y="9374188"/>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宋体" pitchFamily="2" charset="-122"/>
              </a:defRPr>
            </a:lvl1pPr>
          </a:lstStyle>
          <a:p>
            <a:pPr>
              <a:defRPr/>
            </a:pPr>
            <a:endParaRPr lang="en-US" altLang="zh-CN"/>
          </a:p>
        </p:txBody>
      </p:sp>
      <p:sp>
        <p:nvSpPr>
          <p:cNvPr id="47111" name="Rectangle 7"/>
          <p:cNvSpPr>
            <a:spLocks noGrp="1" noChangeArrowheads="1"/>
          </p:cNvSpPr>
          <p:nvPr>
            <p:ph type="sldNum" sz="quarter" idx="5"/>
          </p:nvPr>
        </p:nvSpPr>
        <p:spPr bwMode="auto">
          <a:xfrm>
            <a:off x="3814763" y="9374188"/>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宋体" pitchFamily="2" charset="-122"/>
              </a:defRPr>
            </a:lvl1pPr>
          </a:lstStyle>
          <a:p>
            <a:pPr>
              <a:defRPr/>
            </a:pPr>
            <a:fld id="{C6010409-D5FA-46F9-8871-2961FD40B879}" type="slidenum">
              <a:rPr lang="zh-CN" altLang="en-US"/>
              <a:pPr>
                <a:defRPr/>
              </a:pPr>
              <a:t>‹#›</a:t>
            </a:fld>
            <a:endParaRPr lang="en-US" altLang="zh-CN"/>
          </a:p>
        </p:txBody>
      </p:sp>
    </p:spTree>
    <p:extLst>
      <p:ext uri="{BB962C8B-B14F-4D97-AF65-F5344CB8AC3E}">
        <p14:creationId xmlns:p14="http://schemas.microsoft.com/office/powerpoint/2010/main" val="3112795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a:t>
            </a:fld>
            <a:endParaRPr lang="en-US" altLang="zh-CN"/>
          </a:p>
        </p:txBody>
      </p:sp>
    </p:spTree>
    <p:extLst>
      <p:ext uri="{BB962C8B-B14F-4D97-AF65-F5344CB8AC3E}">
        <p14:creationId xmlns:p14="http://schemas.microsoft.com/office/powerpoint/2010/main" val="1006416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15</a:t>
            </a:fld>
            <a:endParaRPr lang="en-US" altLang="zh-CN"/>
          </a:p>
        </p:txBody>
      </p:sp>
    </p:spTree>
    <p:extLst>
      <p:ext uri="{BB962C8B-B14F-4D97-AF65-F5344CB8AC3E}">
        <p14:creationId xmlns:p14="http://schemas.microsoft.com/office/powerpoint/2010/main" val="3456085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相位同步信号的例子：模拟电视信号中的色同步信号</a:t>
            </a:r>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18</a:t>
            </a:fld>
            <a:endParaRPr lang="en-US" altLang="zh-CN"/>
          </a:p>
        </p:txBody>
      </p:sp>
    </p:spTree>
    <p:extLst>
      <p:ext uri="{BB962C8B-B14F-4D97-AF65-F5344CB8AC3E}">
        <p14:creationId xmlns:p14="http://schemas.microsoft.com/office/powerpoint/2010/main" val="2284339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若传送的</a:t>
            </a:r>
            <a:r>
              <a:rPr lang="en-US" altLang="zh-CN" dirty="0" smtClean="0"/>
              <a:t>PM</a:t>
            </a:r>
            <a:r>
              <a:rPr lang="zh-CN" altLang="en-US" dirty="0" smtClean="0"/>
              <a:t>信号具有非</a:t>
            </a:r>
            <a:r>
              <a:rPr lang="en-US" altLang="zh-CN" dirty="0" smtClean="0"/>
              <a:t>0</a:t>
            </a:r>
            <a:r>
              <a:rPr lang="zh-CN" altLang="en-US" dirty="0" smtClean="0"/>
              <a:t>的平均矢量，可以直接获得参考相位。但是</a:t>
            </a:r>
            <a:r>
              <a:rPr lang="en-US" altLang="zh-CN" dirty="0" smtClean="0"/>
              <a:t>2PSK</a:t>
            </a:r>
            <a:r>
              <a:rPr lang="zh-CN" altLang="en-US" dirty="0" smtClean="0"/>
              <a:t>的平均矢量为</a:t>
            </a:r>
            <a:r>
              <a:rPr lang="en-US" altLang="zh-CN" dirty="0" smtClean="0"/>
              <a:t>0</a:t>
            </a:r>
            <a:r>
              <a:rPr lang="zh-CN" altLang="en-US" dirty="0" smtClean="0"/>
              <a:t>，所以无法得到参考矢量</a:t>
            </a:r>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19</a:t>
            </a:fld>
            <a:endParaRPr lang="en-US" altLang="zh-CN"/>
          </a:p>
        </p:txBody>
      </p:sp>
    </p:spTree>
    <p:extLst>
      <p:ext uri="{BB962C8B-B14F-4D97-AF65-F5344CB8AC3E}">
        <p14:creationId xmlns:p14="http://schemas.microsoft.com/office/powerpoint/2010/main" val="149499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52</a:t>
            </a:fld>
            <a:endParaRPr lang="en-US" altLang="zh-CN"/>
          </a:p>
        </p:txBody>
      </p:sp>
    </p:spTree>
    <p:extLst>
      <p:ext uri="{BB962C8B-B14F-4D97-AF65-F5344CB8AC3E}">
        <p14:creationId xmlns:p14="http://schemas.microsoft.com/office/powerpoint/2010/main" val="3325691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54</a:t>
            </a:fld>
            <a:endParaRPr lang="en-US" altLang="zh-CN"/>
          </a:p>
        </p:txBody>
      </p:sp>
    </p:spTree>
    <p:extLst>
      <p:ext uri="{BB962C8B-B14F-4D97-AF65-F5344CB8AC3E}">
        <p14:creationId xmlns:p14="http://schemas.microsoft.com/office/powerpoint/2010/main" val="1083138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57</a:t>
            </a:fld>
            <a:endParaRPr lang="en-US" altLang="zh-CN"/>
          </a:p>
        </p:txBody>
      </p:sp>
    </p:spTree>
    <p:extLst>
      <p:ext uri="{BB962C8B-B14F-4D97-AF65-F5344CB8AC3E}">
        <p14:creationId xmlns:p14="http://schemas.microsoft.com/office/powerpoint/2010/main" val="10578174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6010409-D5FA-46F9-8871-2961FD40B879}" type="slidenum">
              <a:rPr lang="zh-CN" altLang="en-US" smtClean="0"/>
              <a:pPr>
                <a:defRPr/>
              </a:pPr>
              <a:t>58</a:t>
            </a:fld>
            <a:endParaRPr lang="en-US" altLang="zh-CN"/>
          </a:p>
        </p:txBody>
      </p:sp>
    </p:spTree>
    <p:extLst>
      <p:ext uri="{BB962C8B-B14F-4D97-AF65-F5344CB8AC3E}">
        <p14:creationId xmlns:p14="http://schemas.microsoft.com/office/powerpoint/2010/main" val="13604809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85418" name="Picture 42"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1" y="5154613"/>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5379" name="Rectangle 3"/>
          <p:cNvSpPr>
            <a:spLocks noGrp="1" noChangeArrowheads="1"/>
          </p:cNvSpPr>
          <p:nvPr>
            <p:ph type="ctrTitle"/>
          </p:nvPr>
        </p:nvSpPr>
        <p:spPr>
          <a:xfrm>
            <a:off x="334433" y="1700214"/>
            <a:ext cx="7298267" cy="3457575"/>
          </a:xfrm>
        </p:spPr>
        <p:txBody>
          <a:bodyPr/>
          <a:lstStyle>
            <a:lvl1pPr algn="ctr" fontAlgn="ctr">
              <a:defRPr sz="6000">
                <a:solidFill>
                  <a:srgbClr val="FFFF66"/>
                </a:solidFill>
              </a:defRPr>
            </a:lvl1pPr>
          </a:lstStyle>
          <a:p>
            <a:pPr lvl="0"/>
            <a:r>
              <a:rPr lang="en-US" altLang="zh-CN" noProof="0" smtClean="0"/>
              <a:t>单击此处编辑母版标题样式</a:t>
            </a:r>
          </a:p>
        </p:txBody>
      </p:sp>
      <p:pic>
        <p:nvPicPr>
          <p:cNvPr id="485417" name="Picture 41" descr="crop_of_DM04_12_2_blu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blackWhite">
          <a:xfrm>
            <a:off x="4234" y="0"/>
            <a:ext cx="12187767"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5419" name="Picture 43" descr="fudan霓虹"/>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3601" y="228600"/>
            <a:ext cx="1682751" cy="129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670524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34C533E4-840F-457A-BDC6-00E847894365}" type="datetime1">
              <a:rPr lang="zh-CN" altLang="en-US" smtClean="0">
                <a:solidFill>
                  <a:srgbClr val="FFFFFF"/>
                </a:solidFill>
              </a:rPr>
              <a:t>2024/4/16</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7546952B-77A4-4ED1-9C66-997228AEE54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73544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8B3CDC7C-FE39-44BC-8776-62C7CBA3FD29}" type="datetime1">
              <a:rPr lang="zh-CN" altLang="en-US" smtClean="0">
                <a:solidFill>
                  <a:srgbClr val="FFFFFF"/>
                </a:solidFill>
              </a:rPr>
              <a:t>2024/4/16</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3BBB1522-67C6-4B5B-9E93-199C4BD5AAAF}"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64665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268413"/>
            <a:ext cx="5522384"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335185" y="1268413"/>
            <a:ext cx="5522383" cy="4862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1EE9AC11-FFD8-425F-85DD-52C90D8403ED}" type="datetime1">
              <a:rPr lang="zh-CN" altLang="en-US" smtClean="0">
                <a:solidFill>
                  <a:srgbClr val="FFFFFF"/>
                </a:solidFill>
              </a:rPr>
              <a:t>2024/4/16</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5BF1C3F-A99D-4E0C-9142-4E955F3C5B6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803266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934FE2D1-6C68-423F-A557-EEF096E28FFE}" type="datetime1">
              <a:rPr lang="zh-CN" altLang="en-US" smtClean="0">
                <a:solidFill>
                  <a:srgbClr val="FFFFFF"/>
                </a:solidFill>
              </a:rPr>
              <a:t>2024/4/16</a:t>
            </a:fld>
            <a:endParaRPr lang="en-US" altLang="zh-CN">
              <a:solidFill>
                <a:srgbClr val="FFFFFF"/>
              </a:solidFill>
            </a:endParaRPr>
          </a:p>
        </p:txBody>
      </p:sp>
      <p:sp>
        <p:nvSpPr>
          <p:cNvPr id="8" name="页脚占位符 7"/>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9" name="灯片编号占位符 8"/>
          <p:cNvSpPr>
            <a:spLocks noGrp="1"/>
          </p:cNvSpPr>
          <p:nvPr>
            <p:ph type="sldNum" sz="quarter" idx="12"/>
          </p:nvPr>
        </p:nvSpPr>
        <p:spPr/>
        <p:txBody>
          <a:bodyPr/>
          <a:lstStyle>
            <a:lvl1pPr>
              <a:defRPr/>
            </a:lvl1pPr>
          </a:lstStyle>
          <a:p>
            <a:fld id="{9F023302-31F7-4957-AA9A-06F65D93711D}"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426798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89CBE490-D6F5-4CE8-B6AB-4A7BEA66CF67}" type="datetime1">
              <a:rPr lang="zh-CN" altLang="en-US" smtClean="0">
                <a:solidFill>
                  <a:srgbClr val="FFFFFF"/>
                </a:solidFill>
              </a:rPr>
              <a:t>2024/4/16</a:t>
            </a:fld>
            <a:endParaRPr lang="en-US" altLang="zh-CN">
              <a:solidFill>
                <a:srgbClr val="FFFFFF"/>
              </a:solidFill>
            </a:endParaRPr>
          </a:p>
        </p:txBody>
      </p:sp>
      <p:sp>
        <p:nvSpPr>
          <p:cNvPr id="4" name="页脚占位符 3"/>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5" name="灯片编号占位符 4"/>
          <p:cNvSpPr>
            <a:spLocks noGrp="1"/>
          </p:cNvSpPr>
          <p:nvPr>
            <p:ph type="sldNum" sz="quarter" idx="12"/>
          </p:nvPr>
        </p:nvSpPr>
        <p:spPr/>
        <p:txBody>
          <a:bodyPr/>
          <a:lstStyle>
            <a:lvl1pPr>
              <a:defRPr/>
            </a:lvl1pPr>
          </a:lstStyle>
          <a:p>
            <a:fld id="{F9C52ED8-7AEC-4CBB-934D-9F20D978842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2269992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lvl1pPr>
              <a:defRPr/>
            </a:lvl1pPr>
          </a:lstStyle>
          <a:p>
            <a:fld id="{EE1EA6D7-BBFA-44A4-BBD4-7DDF74B48E18}"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305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AE8E4429-EF20-4367-A18B-946A02232E72}" type="datetime1">
              <a:rPr lang="zh-CN" altLang="en-US" smtClean="0">
                <a:solidFill>
                  <a:srgbClr val="FFFFFF"/>
                </a:solidFill>
              </a:rPr>
              <a:t>2024/4/16</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16585F4E-703D-4DDA-A04C-5275EF0B4349}"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0096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22C09A3A-CC11-4C77-93F0-0867CCE43CB2}" type="datetime1">
              <a:rPr lang="zh-CN" altLang="en-US" smtClean="0">
                <a:solidFill>
                  <a:srgbClr val="FFFFFF"/>
                </a:solidFill>
              </a:rPr>
              <a:t>2024/4/16</a:t>
            </a:fld>
            <a:endParaRPr lang="en-US" altLang="zh-CN">
              <a:solidFill>
                <a:srgbClr val="FFFFFF"/>
              </a:solidFill>
            </a:endParaRPr>
          </a:p>
        </p:txBody>
      </p:sp>
      <p:sp>
        <p:nvSpPr>
          <p:cNvPr id="6" name="页脚占位符 5"/>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7" name="灯片编号占位符 6"/>
          <p:cNvSpPr>
            <a:spLocks noGrp="1"/>
          </p:cNvSpPr>
          <p:nvPr>
            <p:ph type="sldNum" sz="quarter" idx="12"/>
          </p:nvPr>
        </p:nvSpPr>
        <p:spPr/>
        <p:txBody>
          <a:bodyPr/>
          <a:lstStyle>
            <a:lvl1pPr>
              <a:defRPr/>
            </a:lvl1pPr>
          </a:lstStyle>
          <a:p>
            <a:fld id="{8F07C10B-5957-44A4-AE21-D398C1EA64F2}"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946512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72DEDBB5-E1BC-4480-B5BD-C5E9E70D6D95}" type="datetime1">
              <a:rPr lang="zh-CN" altLang="en-US" smtClean="0">
                <a:solidFill>
                  <a:srgbClr val="FFFFFF"/>
                </a:solidFill>
              </a:rPr>
              <a:t>2024/4/16</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CB66BF2F-8EAE-4947-A6AE-705CB6B016DB}"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3246930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046634" y="549275"/>
            <a:ext cx="2810933" cy="55816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1" y="549275"/>
            <a:ext cx="8233833" cy="55816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A882F663-C0B2-4D7A-9086-04AE7939ADA5}" type="datetime1">
              <a:rPr lang="zh-CN" altLang="en-US" smtClean="0">
                <a:solidFill>
                  <a:srgbClr val="FFFFFF"/>
                </a:solidFill>
              </a:rPr>
              <a:t>2024/4/16</a:t>
            </a:fld>
            <a:endParaRPr lang="en-US" altLang="zh-CN">
              <a:solidFill>
                <a:srgbClr val="FFFFFF"/>
              </a:solidFill>
            </a:endParaRPr>
          </a:p>
        </p:txBody>
      </p:sp>
      <p:sp>
        <p:nvSpPr>
          <p:cNvPr id="5" name="页脚占位符 4"/>
          <p:cNvSpPr>
            <a:spLocks noGrp="1"/>
          </p:cNvSpPr>
          <p:nvPr>
            <p:ph type="ftr" sz="quarter" idx="11"/>
          </p:nvPr>
        </p:nvSpPr>
        <p:spPr/>
        <p:txBody>
          <a:bodyPr/>
          <a:lstStyle>
            <a:lvl1pPr>
              <a:defRPr/>
            </a:lvl1pPr>
          </a:lstStyle>
          <a:p>
            <a:r>
              <a:rPr lang="zh-CN" altLang="en-US" smtClean="0">
                <a:solidFill>
                  <a:srgbClr val="FFFFFF"/>
                </a:solidFill>
              </a:rPr>
              <a:t>大学生电子竞赛培训</a:t>
            </a:r>
            <a:endParaRPr lang="en-US" altLang="zh-CN">
              <a:solidFill>
                <a:srgbClr val="FFFFFF"/>
              </a:solidFill>
            </a:endParaRPr>
          </a:p>
        </p:txBody>
      </p:sp>
      <p:sp>
        <p:nvSpPr>
          <p:cNvPr id="6" name="灯片编号占位符 5"/>
          <p:cNvSpPr>
            <a:spLocks noGrp="1"/>
          </p:cNvSpPr>
          <p:nvPr>
            <p:ph type="sldNum" sz="quarter" idx="12"/>
          </p:nvPr>
        </p:nvSpPr>
        <p:spPr/>
        <p:txBody>
          <a:bodyPr/>
          <a:lstStyle>
            <a:lvl1pPr>
              <a:defRPr/>
            </a:lvl1pPr>
          </a:lstStyle>
          <a:p>
            <a:fld id="{6F944636-8C9F-4429-B41D-0C113918A764}" type="slidenum">
              <a:rPr lang="en-US" altLang="zh-CN">
                <a:solidFill>
                  <a:srgbClr val="FFFFFF"/>
                </a:solidFill>
              </a:rPr>
              <a:pPr/>
              <a:t>‹#›</a:t>
            </a:fld>
            <a:endParaRPr lang="en-US" altLang="zh-CN">
              <a:solidFill>
                <a:srgbClr val="FFFFFF"/>
              </a:solidFill>
            </a:endParaRPr>
          </a:p>
        </p:txBody>
      </p:sp>
    </p:spTree>
    <p:extLst>
      <p:ext uri="{BB962C8B-B14F-4D97-AF65-F5344CB8AC3E}">
        <p14:creationId xmlns:p14="http://schemas.microsoft.com/office/powerpoint/2010/main" val="1540510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CCFFFF"/>
            </a:gs>
            <a:gs pos="100000">
              <a:srgbClr val="CCFFFF">
                <a:gamma/>
                <a:tint val="41569"/>
                <a:invGamma/>
              </a:srgbClr>
            </a:gs>
          </a:gsLst>
          <a:lin ang="5400000" scaled="1"/>
        </a:gradFill>
        <a:effectLst/>
      </p:bgPr>
    </p:bg>
    <p:spTree>
      <p:nvGrpSpPr>
        <p:cNvPr id="1" name=""/>
        <p:cNvGrpSpPr/>
        <p:nvPr/>
      </p:nvGrpSpPr>
      <p:grpSpPr>
        <a:xfrm>
          <a:off x="0" y="0"/>
          <a:ext cx="0" cy="0"/>
          <a:chOff x="0" y="0"/>
          <a:chExt cx="0" cy="0"/>
        </a:xfrm>
      </p:grpSpPr>
      <p:pic>
        <p:nvPicPr>
          <p:cNvPr id="484392" name="Picture 40"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54021" b="23820"/>
          <a:stretch>
            <a:fillRect/>
          </a:stretch>
        </p:blipFill>
        <p:spPr bwMode="blackWhite">
          <a:xfrm>
            <a:off x="0" y="6480176"/>
            <a:ext cx="12192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sp>
        <p:nvSpPr>
          <p:cNvPr id="484355" name="Rectangle 3"/>
          <p:cNvSpPr>
            <a:spLocks noGrp="1" noChangeArrowheads="1"/>
          </p:cNvSpPr>
          <p:nvPr>
            <p:ph type="title"/>
          </p:nvPr>
        </p:nvSpPr>
        <p:spPr bwMode="auto">
          <a:xfrm>
            <a:off x="609600" y="549275"/>
            <a:ext cx="11247967"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smtClean="0"/>
              <a:t>单击此处编辑母版标题样式</a:t>
            </a:r>
          </a:p>
        </p:txBody>
      </p:sp>
      <p:sp>
        <p:nvSpPr>
          <p:cNvPr id="484356" name="Rectangle 4"/>
          <p:cNvSpPr>
            <a:spLocks noGrp="1" noChangeArrowheads="1"/>
          </p:cNvSpPr>
          <p:nvPr>
            <p:ph type="body" idx="1"/>
          </p:nvPr>
        </p:nvSpPr>
        <p:spPr bwMode="auto">
          <a:xfrm>
            <a:off x="609600" y="1268413"/>
            <a:ext cx="11247967" cy="4862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smtClean="0"/>
              <a:t>单击此处编辑母版文本样式</a:t>
            </a:r>
          </a:p>
          <a:p>
            <a:pPr lvl="1"/>
            <a:r>
              <a:rPr lang="en-US" altLang="zh-CN" smtClean="0"/>
              <a:t>第二级</a:t>
            </a:r>
          </a:p>
          <a:p>
            <a:pPr lvl="2"/>
            <a:r>
              <a:rPr lang="en-US" altLang="zh-CN" smtClean="0"/>
              <a:t>第三级</a:t>
            </a:r>
          </a:p>
          <a:p>
            <a:pPr lvl="3"/>
            <a:r>
              <a:rPr lang="en-US" altLang="zh-CN" smtClean="0"/>
              <a:t>第四级</a:t>
            </a:r>
          </a:p>
          <a:p>
            <a:pPr lvl="4"/>
            <a:r>
              <a:rPr lang="en-US" altLang="zh-CN" smtClean="0"/>
              <a:t>第五级</a:t>
            </a:r>
          </a:p>
        </p:txBody>
      </p:sp>
      <p:sp>
        <p:nvSpPr>
          <p:cNvPr id="484357" name="Rectangle 5"/>
          <p:cNvSpPr>
            <a:spLocks noGrp="1" noChangeArrowheads="1"/>
          </p:cNvSpPr>
          <p:nvPr>
            <p:ph type="dt" sz="half" idx="2"/>
          </p:nvPr>
        </p:nvSpPr>
        <p:spPr bwMode="auto">
          <a:xfrm>
            <a:off x="624417" y="6524626"/>
            <a:ext cx="2844800"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solidFill>
                  <a:schemeClr val="bg1"/>
                </a:solidFill>
                <a:latin typeface="+mn-lt"/>
                <a:ea typeface="宋体" charset="-122"/>
              </a:defRPr>
            </a:lvl1pPr>
          </a:lstStyle>
          <a:p>
            <a:fld id="{8F7001E2-937F-4764-916A-4BB9B06FB241}" type="datetime1">
              <a:rPr lang="zh-CN" altLang="en-US" smtClean="0">
                <a:solidFill>
                  <a:srgbClr val="FFFFFF"/>
                </a:solidFill>
              </a:rPr>
              <a:t>2024/4/16</a:t>
            </a:fld>
            <a:endParaRPr lang="en-US" altLang="zh-CN" smtClean="0">
              <a:solidFill>
                <a:srgbClr val="FFFFFF"/>
              </a:solidFill>
            </a:endParaRPr>
          </a:p>
        </p:txBody>
      </p:sp>
      <p:sp>
        <p:nvSpPr>
          <p:cNvPr id="484358" name="Rectangle 6"/>
          <p:cNvSpPr>
            <a:spLocks noGrp="1" noChangeArrowheads="1"/>
          </p:cNvSpPr>
          <p:nvPr>
            <p:ph type="ftr" sz="quarter" idx="3"/>
          </p:nvPr>
        </p:nvSpPr>
        <p:spPr bwMode="auto">
          <a:xfrm>
            <a:off x="4176185" y="6524626"/>
            <a:ext cx="4703233"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solidFill>
                  <a:schemeClr val="bg1"/>
                </a:solidFill>
                <a:ea typeface="楷体_GB2312" pitchFamily="49" charset="-122"/>
              </a:defRPr>
            </a:lvl1pPr>
          </a:lstStyle>
          <a:p>
            <a:r>
              <a:rPr lang="zh-CN" altLang="en-US" smtClean="0">
                <a:solidFill>
                  <a:srgbClr val="FFFFFF"/>
                </a:solidFill>
              </a:rPr>
              <a:t>大学生电子竞赛培训</a:t>
            </a:r>
            <a:endParaRPr lang="en-US" altLang="zh-CN" smtClean="0">
              <a:solidFill>
                <a:srgbClr val="FFFFFF"/>
              </a:solidFill>
            </a:endParaRPr>
          </a:p>
        </p:txBody>
      </p:sp>
      <p:sp>
        <p:nvSpPr>
          <p:cNvPr id="484359" name="Rectangle 7"/>
          <p:cNvSpPr>
            <a:spLocks noGrp="1" noChangeArrowheads="1"/>
          </p:cNvSpPr>
          <p:nvPr>
            <p:ph type="sldNum" sz="quarter" idx="4"/>
          </p:nvPr>
        </p:nvSpPr>
        <p:spPr bwMode="auto">
          <a:xfrm>
            <a:off x="9647768" y="6524626"/>
            <a:ext cx="2173817"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chemeClr val="bg1"/>
                </a:solidFill>
                <a:latin typeface="+mn-lt"/>
                <a:ea typeface="宋体" charset="-122"/>
              </a:defRPr>
            </a:lvl1pPr>
          </a:lstStyle>
          <a:p>
            <a:fld id="{7854125E-C87B-484A-8700-536C00B7949E}" type="slidenum">
              <a:rPr lang="en-US" altLang="zh-CN" smtClean="0">
                <a:solidFill>
                  <a:srgbClr val="FFFFFF"/>
                </a:solidFill>
              </a:rPr>
              <a:pPr/>
              <a:t>‹#›</a:t>
            </a:fld>
            <a:endParaRPr lang="en-US" altLang="zh-CN" smtClean="0">
              <a:solidFill>
                <a:srgbClr val="FFFFFF"/>
              </a:solidFill>
            </a:endParaRPr>
          </a:p>
        </p:txBody>
      </p:sp>
      <p:pic>
        <p:nvPicPr>
          <p:cNvPr id="484393" name="Picture 41" descr="crop_of_DM04_12_2_blue"/>
          <p:cNvPicPr>
            <a:picLocks noChangeAspect="1" noChangeArrowheads="1"/>
          </p:cNvPicPr>
          <p:nvPr/>
        </p:nvPicPr>
        <p:blipFill>
          <a:blip r:embed="rId13">
            <a:extLst>
              <a:ext uri="{28A0092B-C50C-407E-A947-70E740481C1C}">
                <a14:useLocalDpi xmlns:a14="http://schemas.microsoft.com/office/drawing/2010/main" val="0"/>
              </a:ext>
            </a:extLst>
          </a:blip>
          <a:srcRect t="27010" b="52319"/>
          <a:stretch>
            <a:fillRect/>
          </a:stretch>
        </p:blipFill>
        <p:spPr bwMode="blackWhite">
          <a:xfrm>
            <a:off x="0" y="0"/>
            <a:ext cx="1219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
                <a:solidFill>
                  <a:schemeClr val="bg1"/>
                </a:solidFill>
                <a:miter lim="800000"/>
                <a:headEnd/>
                <a:tailEnd/>
              </a14:hiddenLine>
            </a:ext>
          </a:extLst>
        </p:spPr>
      </p:pic>
      <p:pic>
        <p:nvPicPr>
          <p:cNvPr id="484394" name="Picture 42" descr="fudan霓虹"/>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379201" y="0"/>
            <a:ext cx="495300" cy="381000"/>
          </a:xfrm>
          <a:prstGeom prst="rect">
            <a:avLst/>
          </a:prstGeom>
          <a:noFill/>
          <a:extLst>
            <a:ext uri="{909E8E84-426E-40DD-AFC4-6F175D3DCCD1}">
              <a14:hiddenFill xmlns:a14="http://schemas.microsoft.com/office/drawing/2010/main">
                <a:solidFill>
                  <a:srgbClr val="FFFFFF"/>
                </a:solidFill>
              </a14:hiddenFill>
            </a:ext>
          </a:extLst>
        </p:spPr>
      </p:pic>
      <p:sp>
        <p:nvSpPr>
          <p:cNvPr id="484395" name="Text Box 43"/>
          <p:cNvSpPr txBox="1">
            <a:spLocks noChangeArrowheads="1"/>
          </p:cNvSpPr>
          <p:nvPr/>
        </p:nvSpPr>
        <p:spPr bwMode="auto">
          <a:xfrm>
            <a:off x="863600" y="107950"/>
            <a:ext cx="4800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p>
            <a:pPr>
              <a:spcBef>
                <a:spcPct val="50000"/>
              </a:spcBef>
            </a:pPr>
            <a:r>
              <a:rPr lang="zh-CN" altLang="en-US" sz="1400" smtClean="0">
                <a:solidFill>
                  <a:srgbClr val="FFFFFF"/>
                </a:solidFill>
                <a:latin typeface="楷体_GB2312" pitchFamily="49" charset="-122"/>
                <a:ea typeface="楷体_GB2312" pitchFamily="49" charset="-122"/>
              </a:rPr>
              <a:t>复旦大学电子工程系   陈光梦</a:t>
            </a:r>
          </a:p>
        </p:txBody>
      </p:sp>
    </p:spTree>
    <p:extLst>
      <p:ext uri="{BB962C8B-B14F-4D97-AF65-F5344CB8AC3E}">
        <p14:creationId xmlns:p14="http://schemas.microsoft.com/office/powerpoint/2010/main" val="3754760013"/>
      </p:ext>
    </p:extLst>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 id="2147483893" r:id="rId10"/>
    <p:sldLayoutId id="2147483894" r:id="rId11"/>
  </p:sldLayoutIdLst>
  <p:timing>
    <p:tnLst>
      <p:par>
        <p:cTn id="1" dur="indefinite" restart="never" nodeType="tmRoot"/>
      </p:par>
    </p:tnLst>
  </p:timing>
  <p:hf hdr="0"/>
  <p:txStyles>
    <p:titleStyle>
      <a:lvl1pPr algn="l" rtl="0" fontAlgn="base">
        <a:spcBef>
          <a:spcPct val="0"/>
        </a:spcBef>
        <a:spcAft>
          <a:spcPct val="0"/>
        </a:spcAft>
        <a:defRPr sz="3600">
          <a:solidFill>
            <a:schemeClr val="accent2"/>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28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j-lt"/>
          <a:ea typeface="+mn-ea"/>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j-lt"/>
          <a:ea typeface="+mn-ea"/>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j-lt"/>
          <a:ea typeface="宋体" charset="-122"/>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j-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10" Type="http://schemas.openxmlformats.org/officeDocument/2006/relationships/image" Target="../media/image8.wmf"/><Relationship Id="rId4" Type="http://schemas.openxmlformats.org/officeDocument/2006/relationships/image" Target="../media/image5.emf"/><Relationship Id="rId9"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2.emf"/><Relationship Id="rId5" Type="http://schemas.openxmlformats.org/officeDocument/2006/relationships/oleObject" Target="../embeddings/oleObject8.bin"/><Relationship Id="rId4" Type="http://schemas.openxmlformats.org/officeDocument/2006/relationships/image" Target="../media/image1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emf"/><Relationship Id="rId5" Type="http://schemas.openxmlformats.org/officeDocument/2006/relationships/oleObject" Target="../embeddings/oleObject10.bin"/><Relationship Id="rId4" Type="http://schemas.openxmlformats.org/officeDocument/2006/relationships/image" Target="../media/image13.emf"/></Relationships>
</file>

<file path=ppt/slides/_rels/slide11.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6.wmf"/><Relationship Id="rId5" Type="http://schemas.openxmlformats.org/officeDocument/2006/relationships/oleObject" Target="../embeddings/oleObject12.bin"/><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9.wmf"/><Relationship Id="rId5" Type="http://schemas.openxmlformats.org/officeDocument/2006/relationships/oleObject" Target="../embeddings/oleObject15.bin"/><Relationship Id="rId4" Type="http://schemas.openxmlformats.org/officeDocument/2006/relationships/image" Target="../media/image18.emf"/></Relationships>
</file>

<file path=ppt/slides/_rels/slide13.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23.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7.wmf"/><Relationship Id="rId11" Type="http://schemas.openxmlformats.org/officeDocument/2006/relationships/oleObject" Target="../embeddings/oleObject21.bin"/><Relationship Id="rId5" Type="http://schemas.openxmlformats.org/officeDocument/2006/relationships/oleObject" Target="../embeddings/oleObject18.bin"/><Relationship Id="rId10" Type="http://schemas.openxmlformats.org/officeDocument/2006/relationships/image" Target="../media/image22.wmf"/><Relationship Id="rId4" Type="http://schemas.openxmlformats.org/officeDocument/2006/relationships/image" Target="../media/image6.wmf"/><Relationship Id="rId9" Type="http://schemas.openxmlformats.org/officeDocument/2006/relationships/oleObject" Target="../embeddings/oleObject20.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4.emf"/></Relationships>
</file>

<file path=ppt/slides/_rels/slide15.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notesSlide" Target="../notesSlides/notesSlide2.xml"/><Relationship Id="rId7"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24.bin"/><Relationship Id="rId11" Type="http://schemas.openxmlformats.org/officeDocument/2006/relationships/image" Target="../media/image29.emf"/><Relationship Id="rId5" Type="http://schemas.openxmlformats.org/officeDocument/2006/relationships/image" Target="../media/image25.wmf"/><Relationship Id="rId10" Type="http://schemas.openxmlformats.org/officeDocument/2006/relationships/image" Target="../media/image27.wmf"/><Relationship Id="rId4" Type="http://schemas.openxmlformats.org/officeDocument/2006/relationships/oleObject" Target="../embeddings/oleObject23.bin"/><Relationship Id="rId9" Type="http://schemas.openxmlformats.org/officeDocument/2006/relationships/oleObject" Target="../embeddings/oleObject25.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31.emf"/><Relationship Id="rId4" Type="http://schemas.openxmlformats.org/officeDocument/2006/relationships/image" Target="../media/image30.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32.e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notesSlide" Target="../notesSlides/notesSlide3.xml"/><Relationship Id="rId7" Type="http://schemas.openxmlformats.org/officeDocument/2006/relationships/image" Target="../media/image7.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18.bin"/><Relationship Id="rId5" Type="http://schemas.openxmlformats.org/officeDocument/2006/relationships/image" Target="../media/image6.wmf"/><Relationship Id="rId10" Type="http://schemas.openxmlformats.org/officeDocument/2006/relationships/image" Target="../media/image34.emf"/><Relationship Id="rId4" Type="http://schemas.openxmlformats.org/officeDocument/2006/relationships/oleObject" Target="../embeddings/oleObject17.bin"/><Relationship Id="rId9" Type="http://schemas.openxmlformats.org/officeDocument/2006/relationships/image" Target="../media/image33.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13.vml"/><Relationship Id="rId5" Type="http://schemas.openxmlformats.org/officeDocument/2006/relationships/image" Target="../media/image35.emf"/><Relationship Id="rId4" Type="http://schemas.openxmlformats.org/officeDocument/2006/relationships/oleObject" Target="../embeddings/oleObject29.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37.emf"/><Relationship Id="rId4" Type="http://schemas.openxmlformats.org/officeDocument/2006/relationships/image" Target="../media/image36.emf"/></Relationships>
</file>

<file path=ppt/slides/_rels/slide21.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41.wmf"/><Relationship Id="rId5" Type="http://schemas.openxmlformats.org/officeDocument/2006/relationships/oleObject" Target="../embeddings/oleObject32.bin"/><Relationship Id="rId10" Type="http://schemas.openxmlformats.org/officeDocument/2006/relationships/image" Target="../media/image43.wmf"/><Relationship Id="rId4" Type="http://schemas.openxmlformats.org/officeDocument/2006/relationships/image" Target="../media/image40.emf"/><Relationship Id="rId9" Type="http://schemas.openxmlformats.org/officeDocument/2006/relationships/oleObject" Target="../embeddings/oleObject34.bin"/></Relationships>
</file>

<file path=ppt/slides/_rels/slide24.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image" Target="../media/image45.emf"/><Relationship Id="rId5" Type="http://schemas.openxmlformats.org/officeDocument/2006/relationships/oleObject" Target="../embeddings/oleObject36.bin"/><Relationship Id="rId4" Type="http://schemas.openxmlformats.org/officeDocument/2006/relationships/image" Target="../media/image44.emf"/></Relationships>
</file>

<file path=ppt/slides/_rels/slide25.xml.rels><?xml version="1.0" encoding="UTF-8" standalone="yes"?>
<Relationships xmlns="http://schemas.openxmlformats.org/package/2006/relationships"><Relationship Id="rId8" Type="http://schemas.openxmlformats.org/officeDocument/2006/relationships/image" Target="../media/image49.e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48.emf"/><Relationship Id="rId5" Type="http://schemas.openxmlformats.org/officeDocument/2006/relationships/oleObject" Target="../embeddings/oleObject39.bin"/><Relationship Id="rId4" Type="http://schemas.openxmlformats.org/officeDocument/2006/relationships/image" Target="../media/image47.wmf"/></Relationships>
</file>

<file path=ppt/slides/_rels/slide26.xml.rels><?xml version="1.0" encoding="UTF-8" standalone="yes"?>
<Relationships xmlns="http://schemas.openxmlformats.org/package/2006/relationships"><Relationship Id="rId8" Type="http://schemas.openxmlformats.org/officeDocument/2006/relationships/image" Target="../media/image52.emf"/><Relationship Id="rId3" Type="http://schemas.openxmlformats.org/officeDocument/2006/relationships/oleObject" Target="../embeddings/oleObject41.bin"/><Relationship Id="rId7" Type="http://schemas.openxmlformats.org/officeDocument/2006/relationships/oleObject" Target="../embeddings/oleObject43.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51.emf"/><Relationship Id="rId5" Type="http://schemas.openxmlformats.org/officeDocument/2006/relationships/oleObject" Target="../embeddings/oleObject42.bin"/><Relationship Id="rId10" Type="http://schemas.openxmlformats.org/officeDocument/2006/relationships/image" Target="../media/image53.wmf"/><Relationship Id="rId4" Type="http://schemas.openxmlformats.org/officeDocument/2006/relationships/image" Target="../media/image50.emf"/><Relationship Id="rId9" Type="http://schemas.openxmlformats.org/officeDocument/2006/relationships/oleObject" Target="../embeddings/oleObject44.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55.wmf"/><Relationship Id="rId5" Type="http://schemas.openxmlformats.org/officeDocument/2006/relationships/oleObject" Target="../embeddings/oleObject46.bin"/><Relationship Id="rId10" Type="http://schemas.openxmlformats.org/officeDocument/2006/relationships/image" Target="../media/image58.emf"/><Relationship Id="rId4" Type="http://schemas.openxmlformats.org/officeDocument/2006/relationships/image" Target="../media/image54.emf"/><Relationship Id="rId9" Type="http://schemas.openxmlformats.org/officeDocument/2006/relationships/image" Target="../media/image57.emf"/></Relationships>
</file>

<file path=ppt/slides/_rels/slide29.xml.rels><?xml version="1.0" encoding="UTF-8" standalone="yes"?>
<Relationships xmlns="http://schemas.openxmlformats.org/package/2006/relationships"><Relationship Id="rId8" Type="http://schemas.openxmlformats.org/officeDocument/2006/relationships/image" Target="../media/image61.wmf"/><Relationship Id="rId3" Type="http://schemas.openxmlformats.org/officeDocument/2006/relationships/oleObject" Target="../embeddings/oleObject48.bin"/><Relationship Id="rId7" Type="http://schemas.openxmlformats.org/officeDocument/2006/relationships/oleObject" Target="../embeddings/oleObject50.bin"/><Relationship Id="rId12" Type="http://schemas.openxmlformats.org/officeDocument/2006/relationships/image" Target="../media/image64.e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60.wmf"/><Relationship Id="rId11" Type="http://schemas.openxmlformats.org/officeDocument/2006/relationships/image" Target="../media/image63.emf"/><Relationship Id="rId5" Type="http://schemas.openxmlformats.org/officeDocument/2006/relationships/oleObject" Target="../embeddings/oleObject49.bin"/><Relationship Id="rId10" Type="http://schemas.openxmlformats.org/officeDocument/2006/relationships/image" Target="../media/image62.emf"/><Relationship Id="rId4" Type="http://schemas.openxmlformats.org/officeDocument/2006/relationships/image" Target="../media/image59.emf"/><Relationship Id="rId9" Type="http://schemas.openxmlformats.org/officeDocument/2006/relationships/oleObject" Target="../embeddings/oleObject51.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66.wmf"/><Relationship Id="rId5" Type="http://schemas.openxmlformats.org/officeDocument/2006/relationships/oleObject" Target="../embeddings/oleObject53.bin"/><Relationship Id="rId4" Type="http://schemas.openxmlformats.org/officeDocument/2006/relationships/image" Target="../media/image65.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68.wmf"/><Relationship Id="rId5" Type="http://schemas.openxmlformats.org/officeDocument/2006/relationships/oleObject" Target="../embeddings/oleObject55.bin"/><Relationship Id="rId4" Type="http://schemas.openxmlformats.org/officeDocument/2006/relationships/image" Target="../media/image67.wmf"/></Relationships>
</file>

<file path=ppt/slides/_rels/slide34.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oleObject" Target="../embeddings/oleObject62.bin"/><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74.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71.wmf"/><Relationship Id="rId11" Type="http://schemas.openxmlformats.org/officeDocument/2006/relationships/oleObject" Target="../embeddings/oleObject61.bin"/><Relationship Id="rId5" Type="http://schemas.openxmlformats.org/officeDocument/2006/relationships/oleObject" Target="../embeddings/oleObject58.bin"/><Relationship Id="rId10" Type="http://schemas.openxmlformats.org/officeDocument/2006/relationships/image" Target="../media/image73.wmf"/><Relationship Id="rId4" Type="http://schemas.openxmlformats.org/officeDocument/2006/relationships/image" Target="../media/image70.wmf"/><Relationship Id="rId9" Type="http://schemas.openxmlformats.org/officeDocument/2006/relationships/oleObject" Target="../embeddings/oleObject60.bin"/><Relationship Id="rId14" Type="http://schemas.openxmlformats.org/officeDocument/2006/relationships/image" Target="../media/image75.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68.bin"/><Relationship Id="rId18" Type="http://schemas.openxmlformats.org/officeDocument/2006/relationships/image" Target="../media/image83.wmf"/><Relationship Id="rId3" Type="http://schemas.openxmlformats.org/officeDocument/2006/relationships/oleObject" Target="../embeddings/oleObject63.bin"/><Relationship Id="rId21" Type="http://schemas.openxmlformats.org/officeDocument/2006/relationships/oleObject" Target="../embeddings/oleObject72.bin"/><Relationship Id="rId7" Type="http://schemas.openxmlformats.org/officeDocument/2006/relationships/oleObject" Target="../embeddings/oleObject65.bin"/><Relationship Id="rId12" Type="http://schemas.openxmlformats.org/officeDocument/2006/relationships/image" Target="../media/image80.wmf"/><Relationship Id="rId17" Type="http://schemas.openxmlformats.org/officeDocument/2006/relationships/oleObject" Target="../embeddings/oleObject70.bin"/><Relationship Id="rId2" Type="http://schemas.openxmlformats.org/officeDocument/2006/relationships/slideLayout" Target="../slideLayouts/slideLayout7.xml"/><Relationship Id="rId16" Type="http://schemas.openxmlformats.org/officeDocument/2006/relationships/image" Target="../media/image82.wmf"/><Relationship Id="rId20" Type="http://schemas.openxmlformats.org/officeDocument/2006/relationships/image" Target="../media/image84.wmf"/><Relationship Id="rId1" Type="http://schemas.openxmlformats.org/officeDocument/2006/relationships/vmlDrawing" Target="../drawings/vmlDrawing24.vml"/><Relationship Id="rId6" Type="http://schemas.openxmlformats.org/officeDocument/2006/relationships/image" Target="../media/image77.wmf"/><Relationship Id="rId11" Type="http://schemas.openxmlformats.org/officeDocument/2006/relationships/oleObject" Target="../embeddings/oleObject67.bin"/><Relationship Id="rId5" Type="http://schemas.openxmlformats.org/officeDocument/2006/relationships/oleObject" Target="../embeddings/oleObject64.bin"/><Relationship Id="rId15" Type="http://schemas.openxmlformats.org/officeDocument/2006/relationships/oleObject" Target="../embeddings/oleObject69.bin"/><Relationship Id="rId10" Type="http://schemas.openxmlformats.org/officeDocument/2006/relationships/image" Target="../media/image79.wmf"/><Relationship Id="rId19" Type="http://schemas.openxmlformats.org/officeDocument/2006/relationships/oleObject" Target="../embeddings/oleObject71.bin"/><Relationship Id="rId4" Type="http://schemas.openxmlformats.org/officeDocument/2006/relationships/image" Target="../media/image76.wmf"/><Relationship Id="rId9" Type="http://schemas.openxmlformats.org/officeDocument/2006/relationships/oleObject" Target="../embeddings/oleObject66.bin"/><Relationship Id="rId14" Type="http://schemas.openxmlformats.org/officeDocument/2006/relationships/image" Target="../media/image81.wmf"/><Relationship Id="rId22" Type="http://schemas.openxmlformats.org/officeDocument/2006/relationships/image" Target="../media/image75.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85.emf"/></Relationships>
</file>

<file path=ppt/slides/_rels/slide41.xml.rels><?xml version="1.0" encoding="UTF-8" standalone="yes"?>
<Relationships xmlns="http://schemas.openxmlformats.org/package/2006/relationships"><Relationship Id="rId2" Type="http://schemas.openxmlformats.org/officeDocument/2006/relationships/image" Target="../media/image86.e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Layout" Target="../slideLayouts/slideLayout7.xml"/><Relationship Id="rId1" Type="http://schemas.openxmlformats.org/officeDocument/2006/relationships/vmlDrawing" Target="../drawings/vmlDrawing26.vml"/><Relationship Id="rId4" Type="http://schemas.openxmlformats.org/officeDocument/2006/relationships/image" Target="../media/image87.emf"/></Relationships>
</file>

<file path=ppt/slides/_rels/slide4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89.e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7.xml"/><Relationship Id="rId1" Type="http://schemas.openxmlformats.org/officeDocument/2006/relationships/vmlDrawing" Target="../drawings/vmlDrawing27.vml"/><Relationship Id="rId4" Type="http://schemas.openxmlformats.org/officeDocument/2006/relationships/image" Target="../media/image92.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96.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7.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57.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99.emf"/><Relationship Id="rId7" Type="http://schemas.openxmlformats.org/officeDocument/2006/relationships/image" Target="../media/image26.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24.bin"/><Relationship Id="rId5" Type="http://schemas.openxmlformats.org/officeDocument/2006/relationships/image" Target="../media/image25.wmf"/><Relationship Id="rId4" Type="http://schemas.openxmlformats.org/officeDocument/2006/relationships/oleObject" Target="../embeddings/oleObject23.bin"/><Relationship Id="rId9" Type="http://schemas.openxmlformats.org/officeDocument/2006/relationships/image" Target="../media/image27.wmf"/></Relationships>
</file>

<file path=ppt/slides/_rels/slide66.xml.rels><?xml version="1.0" encoding="UTF-8" standalone="yes"?>
<Relationships xmlns="http://schemas.openxmlformats.org/package/2006/relationships"><Relationship Id="rId2" Type="http://schemas.openxmlformats.org/officeDocument/2006/relationships/image" Target="../media/image100.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01.e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5714" y="1712685"/>
            <a:ext cx="10791372" cy="2046515"/>
          </a:xfrm>
        </p:spPr>
        <p:txBody>
          <a:bodyPr/>
          <a:lstStyle/>
          <a:p>
            <a:pPr>
              <a:lnSpc>
                <a:spcPct val="150000"/>
              </a:lnSpc>
              <a:spcBef>
                <a:spcPts val="1200"/>
              </a:spcBef>
            </a:pPr>
            <a:r>
              <a:rPr lang="zh-CN" altLang="en-US" sz="4400" dirty="0" smtClean="0">
                <a:solidFill>
                  <a:srgbClr val="FF0000"/>
                </a:solidFill>
                <a:latin typeface="隶书" panose="02010509060101010101" pitchFamily="49" charset="-122"/>
                <a:ea typeface="隶书" panose="02010509060101010101" pitchFamily="49" charset="-122"/>
              </a:rPr>
              <a:t>各种调制方式及解调电路</a:t>
            </a:r>
            <a:r>
              <a:rPr lang="en-US" altLang="zh-CN" sz="4400" dirty="0" smtClean="0">
                <a:solidFill>
                  <a:srgbClr val="FF0000"/>
                </a:solidFill>
                <a:latin typeface="隶书" panose="02010509060101010101" pitchFamily="49" charset="-122"/>
                <a:ea typeface="隶书" panose="02010509060101010101" pitchFamily="49" charset="-122"/>
              </a:rPr>
              <a:t/>
            </a:r>
            <a:br>
              <a:rPr lang="en-US" altLang="zh-CN" sz="4400" dirty="0" smtClean="0">
                <a:solidFill>
                  <a:srgbClr val="FF0000"/>
                </a:solidFill>
                <a:latin typeface="隶书" panose="02010509060101010101" pitchFamily="49" charset="-122"/>
                <a:ea typeface="隶书" panose="02010509060101010101" pitchFamily="49" charset="-122"/>
              </a:rPr>
            </a:br>
            <a:r>
              <a:rPr lang="en-US" altLang="zh-CN" sz="3600" dirty="0" smtClean="0">
                <a:solidFill>
                  <a:srgbClr val="FF0000"/>
                </a:solidFill>
                <a:latin typeface="+mj-ea"/>
              </a:rPr>
              <a:t>——</a:t>
            </a:r>
            <a:r>
              <a:rPr lang="en-US" altLang="zh-CN" sz="4400" dirty="0" smtClean="0">
                <a:solidFill>
                  <a:srgbClr val="FF0000"/>
                </a:solidFill>
                <a:latin typeface="+mj-ea"/>
              </a:rPr>
              <a:t> </a:t>
            </a:r>
            <a:r>
              <a:rPr lang="en-US" altLang="zh-CN" sz="3600" dirty="0" smtClean="0">
                <a:solidFill>
                  <a:srgbClr val="FF0000"/>
                </a:solidFill>
                <a:ea typeface="隶书" panose="02010509060101010101" pitchFamily="49" charset="-122"/>
              </a:rPr>
              <a:t>2023</a:t>
            </a:r>
            <a:r>
              <a:rPr lang="zh-CN" altLang="en-US" sz="4400" dirty="0" smtClean="0">
                <a:solidFill>
                  <a:srgbClr val="FF0000"/>
                </a:solidFill>
                <a:latin typeface="隶书" panose="02010509060101010101" pitchFamily="49" charset="-122"/>
                <a:ea typeface="隶书" panose="02010509060101010101" pitchFamily="49" charset="-122"/>
              </a:rPr>
              <a:t>年全国赛</a:t>
            </a:r>
            <a:r>
              <a:rPr lang="en-US" altLang="zh-CN" sz="3600" dirty="0" smtClean="0">
                <a:solidFill>
                  <a:srgbClr val="FF0000"/>
                </a:solidFill>
                <a:ea typeface="隶书" panose="02010509060101010101" pitchFamily="49" charset="-122"/>
              </a:rPr>
              <a:t>D</a:t>
            </a:r>
            <a:r>
              <a:rPr lang="zh-CN" altLang="en-US" sz="4400" dirty="0" smtClean="0">
                <a:solidFill>
                  <a:srgbClr val="FF0000"/>
                </a:solidFill>
                <a:latin typeface="隶书" panose="02010509060101010101" pitchFamily="49" charset="-122"/>
                <a:ea typeface="隶书" panose="02010509060101010101" pitchFamily="49" charset="-122"/>
              </a:rPr>
              <a:t>题</a:t>
            </a:r>
            <a:r>
              <a:rPr lang="zh-CN" altLang="en-US" sz="4400" dirty="0">
                <a:solidFill>
                  <a:srgbClr val="FF0000"/>
                </a:solidFill>
                <a:latin typeface="隶书" panose="02010509060101010101" pitchFamily="49" charset="-122"/>
                <a:ea typeface="隶书" panose="02010509060101010101" pitchFamily="49" charset="-122"/>
              </a:rPr>
              <a:t>分析与</a:t>
            </a:r>
            <a:r>
              <a:rPr lang="zh-CN" altLang="en-US" sz="4400" dirty="0" smtClean="0">
                <a:solidFill>
                  <a:srgbClr val="FF0000"/>
                </a:solidFill>
                <a:latin typeface="隶书" panose="02010509060101010101" pitchFamily="49" charset="-122"/>
                <a:ea typeface="隶书" panose="02010509060101010101" pitchFamily="49" charset="-122"/>
              </a:rPr>
              <a:t>设计</a:t>
            </a:r>
            <a:endParaRPr lang="zh-CN" altLang="en-US" sz="2400" dirty="0">
              <a:solidFill>
                <a:schemeClr val="tx1"/>
              </a:solidFill>
              <a:latin typeface="楷体" panose="02010609060101010101" pitchFamily="49" charset="-122"/>
              <a:ea typeface="楷体" panose="02010609060101010101" pitchFamily="49" charset="-122"/>
            </a:endParaRPr>
          </a:p>
        </p:txBody>
      </p:sp>
      <p:sp>
        <p:nvSpPr>
          <p:cNvPr id="3" name="Rectangle 2"/>
          <p:cNvSpPr txBox="1">
            <a:spLocks noChangeArrowheads="1"/>
          </p:cNvSpPr>
          <p:nvPr/>
        </p:nvSpPr>
        <p:spPr bwMode="auto">
          <a:xfrm>
            <a:off x="1693864" y="3759201"/>
            <a:ext cx="8596312" cy="1364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ctr">
              <a:spcBef>
                <a:spcPct val="0"/>
              </a:spcBef>
              <a:spcAft>
                <a:spcPct val="0"/>
              </a:spcAft>
              <a:defRPr sz="6000">
                <a:solidFill>
                  <a:srgbClr val="FFFF66"/>
                </a:solidFill>
                <a:latin typeface="+mj-lt"/>
                <a:ea typeface="+mj-ea"/>
                <a:cs typeface="+mj-cs"/>
              </a:defRPr>
            </a:lvl1pPr>
            <a:lvl2pPr algn="l" rtl="0" fontAlgn="base">
              <a:spcBef>
                <a:spcPct val="0"/>
              </a:spcBef>
              <a:spcAft>
                <a:spcPct val="0"/>
              </a:spcAft>
              <a:defRPr sz="3600">
                <a:solidFill>
                  <a:schemeClr val="accent2"/>
                </a:solidFill>
                <a:latin typeface="Arial" charset="0"/>
                <a:ea typeface="黑体" pitchFamily="2" charset="-122"/>
              </a:defRPr>
            </a:lvl2pPr>
            <a:lvl3pPr algn="l" rtl="0" fontAlgn="base">
              <a:spcBef>
                <a:spcPct val="0"/>
              </a:spcBef>
              <a:spcAft>
                <a:spcPct val="0"/>
              </a:spcAft>
              <a:defRPr sz="3600">
                <a:solidFill>
                  <a:schemeClr val="accent2"/>
                </a:solidFill>
                <a:latin typeface="Arial" charset="0"/>
                <a:ea typeface="黑体" pitchFamily="2" charset="-122"/>
              </a:defRPr>
            </a:lvl3pPr>
            <a:lvl4pPr algn="l" rtl="0" fontAlgn="base">
              <a:spcBef>
                <a:spcPct val="0"/>
              </a:spcBef>
              <a:spcAft>
                <a:spcPct val="0"/>
              </a:spcAft>
              <a:defRPr sz="3600">
                <a:solidFill>
                  <a:schemeClr val="accent2"/>
                </a:solidFill>
                <a:latin typeface="Arial" charset="0"/>
                <a:ea typeface="黑体" pitchFamily="2" charset="-122"/>
              </a:defRPr>
            </a:lvl4pPr>
            <a:lvl5pPr algn="l" rtl="0" fontAlgn="base">
              <a:spcBef>
                <a:spcPct val="0"/>
              </a:spcBef>
              <a:spcAft>
                <a:spcPct val="0"/>
              </a:spcAft>
              <a:defRPr sz="3600">
                <a:solidFill>
                  <a:schemeClr val="accent2"/>
                </a:solidFill>
                <a:latin typeface="Arial" charset="0"/>
                <a:ea typeface="黑体" pitchFamily="2" charset="-122"/>
              </a:defRPr>
            </a:lvl5pPr>
            <a:lvl6pPr marL="457200" algn="l" rtl="0" fontAlgn="base">
              <a:spcBef>
                <a:spcPct val="0"/>
              </a:spcBef>
              <a:spcAft>
                <a:spcPct val="0"/>
              </a:spcAft>
              <a:defRPr sz="3600">
                <a:solidFill>
                  <a:schemeClr val="accent2"/>
                </a:solidFill>
                <a:latin typeface="Arial" charset="0"/>
                <a:ea typeface="黑体" pitchFamily="2" charset="-122"/>
              </a:defRPr>
            </a:lvl6pPr>
            <a:lvl7pPr marL="914400" algn="l" rtl="0" fontAlgn="base">
              <a:spcBef>
                <a:spcPct val="0"/>
              </a:spcBef>
              <a:spcAft>
                <a:spcPct val="0"/>
              </a:spcAft>
              <a:defRPr sz="3600">
                <a:solidFill>
                  <a:schemeClr val="accent2"/>
                </a:solidFill>
                <a:latin typeface="Arial" charset="0"/>
                <a:ea typeface="黑体" pitchFamily="2" charset="-122"/>
              </a:defRPr>
            </a:lvl7pPr>
            <a:lvl8pPr marL="1371600" algn="l" rtl="0" fontAlgn="base">
              <a:spcBef>
                <a:spcPct val="0"/>
              </a:spcBef>
              <a:spcAft>
                <a:spcPct val="0"/>
              </a:spcAft>
              <a:defRPr sz="3600">
                <a:solidFill>
                  <a:schemeClr val="accent2"/>
                </a:solidFill>
                <a:latin typeface="Arial" charset="0"/>
                <a:ea typeface="黑体" pitchFamily="2" charset="-122"/>
              </a:defRPr>
            </a:lvl8pPr>
            <a:lvl9pPr marL="1828800" algn="l" rtl="0" fontAlgn="base">
              <a:spcBef>
                <a:spcPct val="0"/>
              </a:spcBef>
              <a:spcAft>
                <a:spcPct val="0"/>
              </a:spcAft>
              <a:defRPr sz="3600">
                <a:solidFill>
                  <a:schemeClr val="accent2"/>
                </a:solidFill>
                <a:latin typeface="Arial" charset="0"/>
                <a:ea typeface="黑体" pitchFamily="2" charset="-122"/>
              </a:defRPr>
            </a:lvl9pPr>
          </a:lstStyle>
          <a:p>
            <a:pPr>
              <a:lnSpc>
                <a:spcPct val="150000"/>
              </a:lnSpc>
              <a:spcBef>
                <a:spcPts val="1200"/>
              </a:spcBef>
            </a:pPr>
            <a:r>
              <a:rPr lang="zh-CN" altLang="en-US" sz="2400" kern="0" dirty="0" smtClean="0">
                <a:solidFill>
                  <a:schemeClr val="tx1"/>
                </a:solidFill>
                <a:latin typeface="楷体" panose="02010609060101010101" pitchFamily="49" charset="-122"/>
                <a:ea typeface="楷体" panose="02010609060101010101" pitchFamily="49" charset="-122"/>
              </a:rPr>
              <a:t>复旦大学电子工程系  陈光梦</a:t>
            </a:r>
            <a:endParaRPr lang="zh-CN" altLang="en-US" sz="2400" kern="0" dirty="0">
              <a:solidFill>
                <a:schemeClr val="tx1"/>
              </a:solidFill>
              <a:latin typeface="楷体" panose="02010609060101010101" pitchFamily="49" charset="-122"/>
              <a:ea typeface="楷体" panose="02010609060101010101" pitchFamily="49"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2024/4/16</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a:t>
            </a:fld>
            <a:endParaRPr lang="en-US" altLang="zh-CN"/>
          </a:p>
        </p:txBody>
      </p:sp>
      <p:sp>
        <p:nvSpPr>
          <p:cNvPr id="2" name="文本框 1"/>
          <p:cNvSpPr txBox="1"/>
          <p:nvPr/>
        </p:nvSpPr>
        <p:spPr>
          <a:xfrm>
            <a:off x="399143" y="362307"/>
            <a:ext cx="11321142" cy="2677656"/>
          </a:xfrm>
          <a:prstGeom prst="rect">
            <a:avLst/>
          </a:prstGeom>
          <a:noFill/>
        </p:spPr>
        <p:txBody>
          <a:bodyPr wrap="square" rtlCol="0">
            <a:spAutoFit/>
          </a:bodyPr>
          <a:lstStyle/>
          <a:p>
            <a:pPr algn="ctr">
              <a:lnSpc>
                <a:spcPct val="150000"/>
              </a:lnSpc>
            </a:pPr>
            <a:r>
              <a:rPr lang="zh-CN" altLang="en-US" sz="3200" dirty="0">
                <a:solidFill>
                  <a:srgbClr val="FF0000"/>
                </a:solidFill>
                <a:latin typeface="隶书" panose="02010509060101010101" pitchFamily="49" charset="-122"/>
                <a:ea typeface="隶书" panose="02010509060101010101" pitchFamily="49" charset="-122"/>
              </a:rPr>
              <a:t>题目</a:t>
            </a:r>
            <a:endParaRPr lang="en-US" altLang="zh-CN" sz="3200" dirty="0">
              <a:solidFill>
                <a:srgbClr val="FF0000"/>
              </a:solidFill>
              <a:latin typeface="隶书" panose="02010509060101010101" pitchFamily="49" charset="-122"/>
              <a:ea typeface="隶书" panose="02010509060101010101" pitchFamily="49" charset="-122"/>
            </a:endParaRPr>
          </a:p>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一、任务</a:t>
            </a:r>
          </a:p>
          <a:p>
            <a:pPr indent="432000">
              <a:lnSpc>
                <a:spcPct val="150000"/>
              </a:lnSpc>
            </a:pPr>
            <a:r>
              <a:rPr lang="zh-CN" altLang="zh-CN" dirty="0"/>
              <a:t>设计制作可对信号发生器输出信号进行调制方式识别与参数估计的装置（以下简称为装置）。装置既能显示调制方式识别与参数估计的结果，也能输出解调信号供示波器观测波形。装置与测量仪器组成的系统框图如图所示</a:t>
            </a:r>
            <a:r>
              <a:rPr lang="zh-CN" altLang="zh-CN" dirty="0" smtClean="0"/>
              <a:t>。</a:t>
            </a:r>
            <a:endParaRPr lang="zh-CN" altLang="zh-CN" dirty="0"/>
          </a:p>
        </p:txBody>
      </p:sp>
      <p:pic>
        <p:nvPicPr>
          <p:cNvPr id="6" name="图片 5"/>
          <p:cNvPicPr/>
          <p:nvPr/>
        </p:nvPicPr>
        <p:blipFill>
          <a:blip r:embed="rId2"/>
          <a:stretch>
            <a:fillRect/>
          </a:stretch>
        </p:blipFill>
        <p:spPr>
          <a:xfrm>
            <a:off x="1646554" y="3157718"/>
            <a:ext cx="8001213" cy="173359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2024/4/16</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a:t>
            </a:fld>
            <a:endParaRPr lang="en-US" altLang="zh-CN"/>
          </a:p>
        </p:txBody>
      </p:sp>
      <p:sp>
        <p:nvSpPr>
          <p:cNvPr id="2" name="矩形 1"/>
          <p:cNvSpPr/>
          <p:nvPr/>
        </p:nvSpPr>
        <p:spPr>
          <a:xfrm>
            <a:off x="435429" y="446777"/>
            <a:ext cx="11241314" cy="5170646"/>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二、要求</a:t>
            </a:r>
            <a:endParaRPr lang="zh-CN" altLang="zh-CN" kern="100" dirty="0">
              <a:latin typeface="Times New Roman" panose="02020603050405020304" pitchFamily="18" charset="0"/>
              <a:ea typeface="宋体" panose="02010600030101010101" pitchFamily="2" charset="-122"/>
            </a:endParaRPr>
          </a:p>
          <a:p>
            <a:pPr>
              <a:lnSpc>
                <a:spcPct val="150000"/>
              </a:lnSpc>
            </a:pPr>
            <a:r>
              <a:rPr lang="en-US" altLang="zh-CN" dirty="0"/>
              <a:t>1</a:t>
            </a:r>
            <a:r>
              <a:rPr lang="zh-CN" altLang="zh-CN" dirty="0"/>
              <a:t>．基本要求</a:t>
            </a:r>
          </a:p>
          <a:p>
            <a:pPr indent="457200">
              <a:lnSpc>
                <a:spcPct val="150000"/>
              </a:lnSpc>
            </a:pPr>
            <a:r>
              <a:rPr lang="zh-CN" altLang="zh-CN" dirty="0"/>
              <a:t>信号发生器</a:t>
            </a:r>
            <a:r>
              <a:rPr lang="zh-CN" altLang="zh-CN" dirty="0" smtClean="0"/>
              <a:t>输出</a:t>
            </a:r>
            <a:r>
              <a:rPr lang="en-US" altLang="zh-CN" i="1" dirty="0" err="1"/>
              <a:t>u</a:t>
            </a:r>
            <a:r>
              <a:rPr lang="en-US" altLang="zh-CN" baseline="-25000" dirty="0" err="1"/>
              <a:t>M</a:t>
            </a:r>
            <a:r>
              <a:rPr lang="zh-CN" altLang="zh-CN" dirty="0"/>
              <a:t>为</a:t>
            </a:r>
            <a:r>
              <a:rPr lang="en-US" altLang="zh-CN" dirty="0" smtClean="0"/>
              <a:t>AM</a:t>
            </a:r>
            <a:r>
              <a:rPr lang="zh-CN" altLang="zh-CN" dirty="0"/>
              <a:t>、</a:t>
            </a:r>
            <a:r>
              <a:rPr lang="en-US" altLang="zh-CN" dirty="0"/>
              <a:t>FM </a:t>
            </a:r>
            <a:r>
              <a:rPr lang="zh-CN" altLang="zh-CN" dirty="0"/>
              <a:t>或连续载波（</a:t>
            </a:r>
            <a:r>
              <a:rPr lang="en-US" altLang="zh-CN" dirty="0"/>
              <a:t>CW</a:t>
            </a:r>
            <a:r>
              <a:rPr lang="zh-CN" altLang="zh-CN" dirty="0"/>
              <a:t>）三种</a:t>
            </a:r>
            <a:r>
              <a:rPr lang="zh-CN" altLang="zh-CN" dirty="0" smtClean="0"/>
              <a:t>信号</a:t>
            </a:r>
            <a:r>
              <a:rPr lang="zh-CN" altLang="en-US" dirty="0" smtClean="0"/>
              <a:t>之一</a:t>
            </a:r>
            <a:r>
              <a:rPr lang="zh-CN" altLang="zh-CN" dirty="0" smtClean="0"/>
              <a:t>，</a:t>
            </a:r>
            <a:r>
              <a:rPr lang="zh-CN" altLang="zh-CN" dirty="0"/>
              <a:t>其载波电压峰峰值为</a:t>
            </a:r>
            <a:r>
              <a:rPr lang="en-US" altLang="zh-CN" dirty="0"/>
              <a:t>100mV</a:t>
            </a:r>
            <a:r>
              <a:rPr lang="zh-CN" altLang="zh-CN" dirty="0"/>
              <a:t>、载频</a:t>
            </a:r>
            <a:r>
              <a:rPr lang="en-US" altLang="zh-CN" i="1" dirty="0"/>
              <a:t>f</a:t>
            </a:r>
            <a:r>
              <a:rPr lang="en-US" altLang="zh-CN" i="1" baseline="-25000" dirty="0"/>
              <a:t>c</a:t>
            </a:r>
            <a:r>
              <a:rPr lang="en-US" altLang="zh-CN" dirty="0"/>
              <a:t> </a:t>
            </a:r>
            <a:r>
              <a:rPr lang="zh-CN" altLang="zh-CN" dirty="0"/>
              <a:t>为</a:t>
            </a:r>
            <a:r>
              <a:rPr lang="en-US" altLang="zh-CN" dirty="0" smtClean="0"/>
              <a:t>2MHz</a:t>
            </a:r>
            <a:r>
              <a:rPr lang="zh-CN" altLang="en-US" dirty="0" smtClean="0"/>
              <a:t>，</a:t>
            </a:r>
            <a:r>
              <a:rPr lang="en-US" altLang="zh-CN" dirty="0"/>
              <a:t> </a:t>
            </a:r>
            <a:r>
              <a:rPr lang="en-US" altLang="zh-CN" dirty="0" smtClean="0"/>
              <a:t>AM</a:t>
            </a:r>
            <a:r>
              <a:rPr lang="zh-CN" altLang="en-US" dirty="0" smtClean="0"/>
              <a:t>和</a:t>
            </a:r>
            <a:r>
              <a:rPr lang="en-US" altLang="zh-CN" dirty="0" smtClean="0"/>
              <a:t>FM</a:t>
            </a:r>
            <a:r>
              <a:rPr lang="zh-CN" altLang="en-US" dirty="0" smtClean="0"/>
              <a:t>信号中的</a:t>
            </a:r>
            <a:r>
              <a:rPr lang="zh-CN" altLang="zh-CN" dirty="0" smtClean="0"/>
              <a:t>正弦</a:t>
            </a:r>
            <a:r>
              <a:rPr lang="zh-CN" altLang="zh-CN" dirty="0"/>
              <a:t>调制信号频率</a:t>
            </a:r>
            <a:r>
              <a:rPr lang="en-US" altLang="zh-CN" i="1" dirty="0"/>
              <a:t>F</a:t>
            </a:r>
            <a:r>
              <a:rPr lang="en-US" altLang="zh-CN" dirty="0"/>
              <a:t> </a:t>
            </a:r>
            <a:r>
              <a:rPr lang="zh-CN" altLang="zh-CN" dirty="0" smtClean="0"/>
              <a:t>为</a:t>
            </a:r>
            <a:r>
              <a:rPr lang="en-US" altLang="zh-CN" dirty="0"/>
              <a:t>1kHz</a:t>
            </a:r>
            <a:r>
              <a:rPr lang="zh-CN" altLang="zh-CN" dirty="0"/>
              <a:t>、</a:t>
            </a:r>
            <a:r>
              <a:rPr lang="en-US" altLang="zh-CN" dirty="0"/>
              <a:t>2 kHz</a:t>
            </a:r>
            <a:r>
              <a:rPr lang="zh-CN" altLang="zh-CN" dirty="0"/>
              <a:t>、</a:t>
            </a:r>
            <a:r>
              <a:rPr lang="en-US" altLang="zh-CN" dirty="0"/>
              <a:t>3 kHz</a:t>
            </a:r>
            <a:r>
              <a:rPr lang="zh-CN" altLang="zh-CN" dirty="0"/>
              <a:t>、</a:t>
            </a:r>
            <a:r>
              <a:rPr lang="en-US" altLang="zh-CN" dirty="0"/>
              <a:t>4 kHz</a:t>
            </a:r>
            <a:r>
              <a:rPr lang="zh-CN" altLang="zh-CN" dirty="0"/>
              <a:t>、</a:t>
            </a:r>
            <a:r>
              <a:rPr lang="en-US" altLang="zh-CN" dirty="0"/>
              <a:t>5kHz </a:t>
            </a:r>
            <a:r>
              <a:rPr lang="zh-CN" altLang="zh-CN" dirty="0"/>
              <a:t>中的某一</a:t>
            </a:r>
            <a:r>
              <a:rPr lang="zh-CN" altLang="zh-CN" dirty="0" smtClean="0"/>
              <a:t>频率</a:t>
            </a:r>
            <a:endParaRPr lang="en-US" altLang="zh-CN" dirty="0" smtClean="0"/>
          </a:p>
          <a:p>
            <a:pPr indent="457200">
              <a:lnSpc>
                <a:spcPct val="150000"/>
              </a:lnSpc>
            </a:pPr>
            <a:r>
              <a:rPr lang="zh-CN" altLang="en-US" dirty="0" smtClean="0"/>
              <a:t>在</a:t>
            </a:r>
            <a:r>
              <a:rPr lang="zh-CN" altLang="zh-CN" dirty="0" smtClean="0"/>
              <a:t>未知</a:t>
            </a:r>
            <a:r>
              <a:rPr lang="en-US" altLang="zh-CN" i="1" dirty="0" err="1"/>
              <a:t>u</a:t>
            </a:r>
            <a:r>
              <a:rPr lang="en-US" altLang="zh-CN" baseline="-25000" dirty="0" err="1"/>
              <a:t>M</a:t>
            </a:r>
            <a:r>
              <a:rPr lang="zh-CN" altLang="zh-CN" dirty="0"/>
              <a:t>调制方式条件下，装置可自主识别并显示</a:t>
            </a:r>
            <a:r>
              <a:rPr lang="en-US" altLang="zh-CN" i="1" dirty="0" err="1"/>
              <a:t>u</a:t>
            </a:r>
            <a:r>
              <a:rPr lang="en-US" altLang="zh-CN" baseline="-25000" dirty="0" err="1"/>
              <a:t>M</a:t>
            </a:r>
            <a:r>
              <a:rPr lang="zh-CN" altLang="zh-CN" dirty="0"/>
              <a:t>的调制方式</a:t>
            </a:r>
          </a:p>
          <a:p>
            <a:pPr indent="457200">
              <a:lnSpc>
                <a:spcPct val="150000"/>
              </a:lnSpc>
            </a:pPr>
            <a:r>
              <a:rPr lang="zh-CN" altLang="en-US" dirty="0" smtClean="0"/>
              <a:t>（</a:t>
            </a:r>
            <a:r>
              <a:rPr lang="en-US" altLang="zh-CN" dirty="0" smtClean="0"/>
              <a:t>1</a:t>
            </a:r>
            <a:r>
              <a:rPr lang="zh-CN" altLang="en-US" dirty="0" smtClean="0"/>
              <a:t>）若</a:t>
            </a:r>
            <a:r>
              <a:rPr lang="en-US" altLang="zh-CN" i="1" dirty="0" smtClean="0"/>
              <a:t> </a:t>
            </a:r>
            <a:r>
              <a:rPr lang="en-US" altLang="zh-CN" i="1" dirty="0" err="1" smtClean="0"/>
              <a:t>u</a:t>
            </a:r>
            <a:r>
              <a:rPr lang="en-US" altLang="zh-CN" baseline="-25000" dirty="0" err="1" smtClean="0"/>
              <a:t>M</a:t>
            </a:r>
            <a:r>
              <a:rPr lang="zh-CN" altLang="zh-CN" dirty="0"/>
              <a:t>识别</a:t>
            </a:r>
            <a:r>
              <a:rPr lang="zh-CN" altLang="zh-CN" dirty="0" smtClean="0"/>
              <a:t>为</a:t>
            </a:r>
            <a:r>
              <a:rPr lang="en-US" altLang="zh-CN" dirty="0" smtClean="0"/>
              <a:t>AM </a:t>
            </a:r>
            <a:r>
              <a:rPr lang="zh-CN" altLang="zh-CN" dirty="0" smtClean="0"/>
              <a:t>信号</a:t>
            </a:r>
            <a:r>
              <a:rPr lang="zh-CN" altLang="en-US" dirty="0" smtClean="0"/>
              <a:t>，</a:t>
            </a:r>
            <a:r>
              <a:rPr lang="zh-CN" altLang="zh-CN" dirty="0"/>
              <a:t>估计并显示其正弦调制信号频率</a:t>
            </a:r>
            <a:r>
              <a:rPr lang="en-US" altLang="zh-CN" i="1" dirty="0"/>
              <a:t>F</a:t>
            </a:r>
            <a:r>
              <a:rPr lang="zh-CN" altLang="zh-CN" dirty="0"/>
              <a:t>、调幅系数</a:t>
            </a:r>
            <a:r>
              <a:rPr lang="en-US" altLang="zh-CN" i="1" dirty="0"/>
              <a:t>m</a:t>
            </a:r>
            <a:r>
              <a:rPr lang="en-US" altLang="zh-CN" i="1" baseline="-25000" dirty="0"/>
              <a:t>a</a:t>
            </a:r>
            <a:r>
              <a:rPr lang="zh-CN" altLang="zh-CN" dirty="0"/>
              <a:t>，输出解调信号</a:t>
            </a:r>
            <a:r>
              <a:rPr lang="en-US" altLang="zh-CN" i="1" dirty="0" err="1"/>
              <a:t>u</a:t>
            </a:r>
            <a:r>
              <a:rPr lang="en-US" altLang="zh-CN" baseline="-25000" dirty="0" err="1"/>
              <a:t>o</a:t>
            </a:r>
            <a:r>
              <a:rPr lang="zh-CN" altLang="zh-CN" dirty="0"/>
              <a:t>供示波器观测</a:t>
            </a:r>
            <a:r>
              <a:rPr lang="zh-CN" altLang="zh-CN" dirty="0" smtClean="0"/>
              <a:t>波形</a:t>
            </a:r>
            <a:endParaRPr lang="zh-CN" altLang="zh-CN" dirty="0"/>
          </a:p>
          <a:p>
            <a:pPr indent="457200">
              <a:lnSpc>
                <a:spcPct val="150000"/>
              </a:lnSpc>
            </a:pPr>
            <a:r>
              <a:rPr lang="zh-CN" altLang="zh-CN" dirty="0"/>
              <a:t>（</a:t>
            </a:r>
            <a:r>
              <a:rPr lang="en-US" altLang="zh-CN" dirty="0"/>
              <a:t>2</a:t>
            </a:r>
            <a:r>
              <a:rPr lang="zh-CN" altLang="zh-CN" dirty="0" smtClean="0"/>
              <a:t>）</a:t>
            </a:r>
            <a:r>
              <a:rPr lang="zh-CN" altLang="en-US" dirty="0" smtClean="0"/>
              <a:t>若</a:t>
            </a:r>
            <a:r>
              <a:rPr lang="en-US" altLang="zh-CN" i="1" dirty="0" err="1" smtClean="0"/>
              <a:t>u</a:t>
            </a:r>
            <a:r>
              <a:rPr lang="en-US" altLang="zh-CN" baseline="-25000" dirty="0" err="1" smtClean="0"/>
              <a:t>M</a:t>
            </a:r>
            <a:r>
              <a:rPr lang="zh-CN" altLang="zh-CN" dirty="0"/>
              <a:t>识别为</a:t>
            </a:r>
            <a:r>
              <a:rPr lang="en-US" altLang="zh-CN" dirty="0"/>
              <a:t>FM </a:t>
            </a:r>
            <a:r>
              <a:rPr lang="zh-CN" altLang="zh-CN" dirty="0"/>
              <a:t>信号，估计并显示其正弦调制信号频率</a:t>
            </a:r>
            <a:r>
              <a:rPr lang="en-US" altLang="zh-CN" i="1" dirty="0"/>
              <a:t>F</a:t>
            </a:r>
            <a:r>
              <a:rPr lang="zh-CN" altLang="zh-CN" dirty="0"/>
              <a:t>、调频系数</a:t>
            </a:r>
            <a:r>
              <a:rPr lang="en-US" altLang="zh-CN" i="1" dirty="0"/>
              <a:t>m</a:t>
            </a:r>
            <a:r>
              <a:rPr lang="en-US" altLang="zh-CN" i="1" baseline="-25000" dirty="0"/>
              <a:t>f </a:t>
            </a:r>
            <a:r>
              <a:rPr lang="zh-CN" altLang="zh-CN" dirty="0"/>
              <a:t>、最大频偏</a:t>
            </a:r>
            <a:r>
              <a:rPr lang="en-US" altLang="zh-CN" dirty="0" err="1"/>
              <a:t>Δ</a:t>
            </a:r>
            <a:r>
              <a:rPr lang="en-US" altLang="zh-CN" i="1" dirty="0" err="1"/>
              <a:t>f</a:t>
            </a:r>
            <a:r>
              <a:rPr lang="en-US" altLang="zh-CN" i="1" dirty="0"/>
              <a:t> </a:t>
            </a:r>
            <a:r>
              <a:rPr lang="en-US" altLang="zh-CN" baseline="-25000" dirty="0"/>
              <a:t>max</a:t>
            </a:r>
            <a:r>
              <a:rPr lang="zh-CN" altLang="zh-CN" dirty="0"/>
              <a:t>，输出解调信号</a:t>
            </a:r>
            <a:r>
              <a:rPr lang="en-US" altLang="zh-CN" i="1" dirty="0" err="1"/>
              <a:t>u</a:t>
            </a:r>
            <a:r>
              <a:rPr lang="en-US" altLang="zh-CN" baseline="-25000" dirty="0" err="1"/>
              <a:t>o</a:t>
            </a:r>
            <a:r>
              <a:rPr lang="zh-CN" altLang="zh-CN" dirty="0"/>
              <a:t>供示波器观测</a:t>
            </a:r>
            <a:r>
              <a:rPr lang="zh-CN" altLang="zh-CN" dirty="0" smtClean="0"/>
              <a:t>波形</a:t>
            </a:r>
            <a:endParaRPr lang="en-US" altLang="zh-CN" dirty="0" smtClean="0"/>
          </a:p>
          <a:p>
            <a:pPr indent="457200">
              <a:lnSpc>
                <a:spcPct val="150000"/>
              </a:lnSpc>
            </a:pPr>
            <a:r>
              <a:rPr lang="zh-CN" altLang="zh-CN" dirty="0" smtClean="0"/>
              <a:t>（</a:t>
            </a:r>
            <a:r>
              <a:rPr lang="en-US" altLang="zh-CN" dirty="0" smtClean="0"/>
              <a:t>3</a:t>
            </a:r>
            <a:r>
              <a:rPr lang="zh-CN" altLang="en-US" dirty="0" smtClean="0"/>
              <a:t>）</a:t>
            </a:r>
            <a:r>
              <a:rPr lang="zh-CN" altLang="zh-CN" dirty="0" smtClean="0"/>
              <a:t>若</a:t>
            </a:r>
            <a:r>
              <a:rPr lang="en-US" altLang="zh-CN" i="1" dirty="0" err="1"/>
              <a:t>u</a:t>
            </a:r>
            <a:r>
              <a:rPr lang="en-US" altLang="zh-CN" baseline="-25000" dirty="0" err="1"/>
              <a:t>M</a:t>
            </a:r>
            <a:r>
              <a:rPr lang="zh-CN" altLang="zh-CN" dirty="0"/>
              <a:t>识别为</a:t>
            </a:r>
            <a:r>
              <a:rPr lang="en-US" altLang="zh-CN" dirty="0"/>
              <a:t>CW</a:t>
            </a:r>
            <a:r>
              <a:rPr lang="zh-CN" altLang="zh-CN" dirty="0"/>
              <a:t>信号，则显示字符“</a:t>
            </a:r>
            <a:r>
              <a:rPr lang="en-US" altLang="zh-CN" dirty="0"/>
              <a:t>CW</a:t>
            </a:r>
            <a:r>
              <a:rPr lang="zh-CN" altLang="zh-CN" dirty="0" smtClean="0"/>
              <a:t>”</a:t>
            </a:r>
            <a:endParaRPr lang="zh-CN" altLang="zh-CN" dirty="0"/>
          </a:p>
        </p:txBody>
      </p:sp>
    </p:spTree>
    <p:extLst>
      <p:ext uri="{BB962C8B-B14F-4D97-AF65-F5344CB8AC3E}">
        <p14:creationId xmlns:p14="http://schemas.microsoft.com/office/powerpoint/2010/main" val="33862117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a:t>
            </a:fld>
            <a:endParaRPr lang="en-US" altLang="zh-CN">
              <a:solidFill>
                <a:srgbClr val="FFFFFF"/>
              </a:solidFill>
            </a:endParaRPr>
          </a:p>
        </p:txBody>
      </p:sp>
      <p:sp>
        <p:nvSpPr>
          <p:cNvPr id="5" name="矩形 4"/>
          <p:cNvSpPr/>
          <p:nvPr/>
        </p:nvSpPr>
        <p:spPr>
          <a:xfrm>
            <a:off x="449943" y="533975"/>
            <a:ext cx="11313886" cy="5112233"/>
          </a:xfrm>
          <a:prstGeom prst="rect">
            <a:avLst/>
          </a:prstGeom>
        </p:spPr>
        <p:txBody>
          <a:bodyPr wrap="square">
            <a:spAutoFit/>
          </a:bodyPr>
          <a:lstStyle/>
          <a:p>
            <a:pPr indent="266700" algn="just">
              <a:lnSpc>
                <a:spcPct val="150000"/>
              </a:lnSpc>
              <a:spcAft>
                <a:spcPts val="0"/>
              </a:spcAft>
            </a:pPr>
            <a:r>
              <a:rPr lang="en-US" altLang="zh-CN" kern="100" dirty="0">
                <a:latin typeface="Arial" panose="020B0604020202020204" pitchFamily="34" charset="0"/>
              </a:rPr>
              <a:t>2</a:t>
            </a:r>
            <a:r>
              <a:rPr lang="zh-CN" altLang="zh-CN" kern="100" dirty="0">
                <a:latin typeface="Arial" panose="020B0604020202020204" pitchFamily="34" charset="0"/>
              </a:rPr>
              <a:t>．发挥部分</a:t>
            </a:r>
          </a:p>
          <a:p>
            <a:pPr indent="266700" algn="just">
              <a:lnSpc>
                <a:spcPct val="150000"/>
              </a:lnSpc>
              <a:spcAft>
                <a:spcPts val="0"/>
              </a:spcAft>
            </a:pP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可为二进制幅度键控（</a:t>
            </a:r>
            <a:r>
              <a:rPr lang="en-US" altLang="zh-CN" kern="100" dirty="0">
                <a:latin typeface="Arial" panose="020B0604020202020204" pitchFamily="34" charset="0"/>
              </a:rPr>
              <a:t>2ASK</a:t>
            </a:r>
            <a:r>
              <a:rPr lang="zh-CN" altLang="zh-CN" kern="100" dirty="0">
                <a:latin typeface="Arial" panose="020B0604020202020204" pitchFamily="34" charset="0"/>
              </a:rPr>
              <a:t>）、移相键控（</a:t>
            </a:r>
            <a:r>
              <a:rPr lang="en-US" altLang="zh-CN" kern="100" dirty="0">
                <a:latin typeface="Arial" panose="020B0604020202020204" pitchFamily="34" charset="0"/>
              </a:rPr>
              <a:t>2PSK</a:t>
            </a:r>
            <a:r>
              <a:rPr lang="zh-CN" altLang="zh-CN" kern="100" dirty="0">
                <a:latin typeface="Arial" panose="020B0604020202020204" pitchFamily="34" charset="0"/>
              </a:rPr>
              <a:t>）或移频键控（</a:t>
            </a:r>
            <a:r>
              <a:rPr lang="en-US" altLang="zh-CN" kern="100" dirty="0">
                <a:latin typeface="Arial" panose="020B0604020202020204" pitchFamily="34" charset="0"/>
              </a:rPr>
              <a:t>2FSK</a:t>
            </a:r>
            <a:r>
              <a:rPr lang="zh-CN" altLang="zh-CN" kern="100" dirty="0">
                <a:latin typeface="Arial" panose="020B0604020202020204" pitchFamily="34" charset="0"/>
              </a:rPr>
              <a:t>）信号，三者均传输二进制不归零（</a:t>
            </a:r>
            <a:r>
              <a:rPr lang="en-US" altLang="zh-CN" kern="100" dirty="0">
                <a:latin typeface="Arial" panose="020B0604020202020204" pitchFamily="34" charset="0"/>
              </a:rPr>
              <a:t>NRZ</a:t>
            </a:r>
            <a:r>
              <a:rPr lang="zh-CN" altLang="zh-CN" kern="100" dirty="0">
                <a:latin typeface="Arial" panose="020B0604020202020204" pitchFamily="34" charset="0"/>
              </a:rPr>
              <a:t>）码，码速率</a:t>
            </a:r>
            <a:r>
              <a:rPr lang="en-US" altLang="zh-CN" i="1" kern="100" dirty="0" err="1">
                <a:latin typeface="Arial" panose="020B0604020202020204" pitchFamily="34" charset="0"/>
              </a:rPr>
              <a:t>R</a:t>
            </a:r>
            <a:r>
              <a:rPr lang="en-US" altLang="zh-CN" i="1" kern="100" baseline="-25000" dirty="0" err="1">
                <a:latin typeface="Arial" panose="020B0604020202020204" pitchFamily="34" charset="0"/>
              </a:rPr>
              <a:t>c</a:t>
            </a:r>
            <a:r>
              <a:rPr lang="zh-CN" altLang="zh-CN" kern="100" dirty="0">
                <a:latin typeface="Arial" panose="020B0604020202020204" pitchFamily="34" charset="0"/>
              </a:rPr>
              <a:t>可为</a:t>
            </a:r>
            <a:r>
              <a:rPr lang="en-US" altLang="zh-CN" kern="100" dirty="0">
                <a:latin typeface="Arial" panose="020B0604020202020204" pitchFamily="34" charset="0"/>
              </a:rPr>
              <a:t>6kbps</a:t>
            </a:r>
            <a:r>
              <a:rPr lang="zh-CN" altLang="zh-CN" kern="100" dirty="0">
                <a:latin typeface="Arial" panose="020B0604020202020204" pitchFamily="34" charset="0"/>
              </a:rPr>
              <a:t>、</a:t>
            </a:r>
            <a:r>
              <a:rPr lang="en-US" altLang="zh-CN" kern="100" dirty="0">
                <a:latin typeface="Arial" panose="020B0604020202020204" pitchFamily="34" charset="0"/>
              </a:rPr>
              <a:t>8kbps</a:t>
            </a:r>
            <a:r>
              <a:rPr lang="zh-CN" altLang="zh-CN" kern="100" dirty="0">
                <a:latin typeface="Arial" panose="020B0604020202020204" pitchFamily="34" charset="0"/>
              </a:rPr>
              <a:t>、</a:t>
            </a:r>
            <a:r>
              <a:rPr lang="en-US" altLang="zh-CN" kern="100" dirty="0">
                <a:latin typeface="Arial" panose="020B0604020202020204" pitchFamily="34" charset="0"/>
              </a:rPr>
              <a:t>10kbps</a:t>
            </a:r>
            <a:r>
              <a:rPr lang="zh-CN" altLang="zh-CN" kern="100" dirty="0">
                <a:latin typeface="Arial" panose="020B0604020202020204" pitchFamily="34" charset="0"/>
              </a:rPr>
              <a:t>中的一种； </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载波电压峰峰值为</a:t>
            </a:r>
            <a:r>
              <a:rPr lang="en-US" altLang="zh-CN" kern="100" dirty="0">
                <a:latin typeface="Arial" panose="020B0604020202020204" pitchFamily="34" charset="0"/>
              </a:rPr>
              <a:t>100mV</a:t>
            </a:r>
            <a:r>
              <a:rPr lang="zh-CN" altLang="zh-CN" kern="100" dirty="0">
                <a:latin typeface="Arial" panose="020B0604020202020204" pitchFamily="34" charset="0"/>
              </a:rPr>
              <a:t>、载频</a:t>
            </a:r>
            <a:r>
              <a:rPr lang="en-US" altLang="zh-CN" i="1" kern="100" dirty="0">
                <a:latin typeface="Arial" panose="020B0604020202020204" pitchFamily="34" charset="0"/>
              </a:rPr>
              <a:t>f</a:t>
            </a:r>
            <a:r>
              <a:rPr lang="en-US" altLang="zh-CN" i="1" kern="100" baseline="-25000" dirty="0">
                <a:latin typeface="Arial" panose="020B0604020202020204" pitchFamily="34" charset="0"/>
              </a:rPr>
              <a:t>c</a:t>
            </a:r>
            <a:r>
              <a:rPr lang="zh-CN" altLang="zh-CN" kern="100" dirty="0">
                <a:latin typeface="Arial" panose="020B0604020202020204" pitchFamily="34" charset="0"/>
              </a:rPr>
              <a:t>为</a:t>
            </a:r>
            <a:r>
              <a:rPr lang="en-US" altLang="zh-CN" kern="100" dirty="0">
                <a:latin typeface="Arial" panose="020B0604020202020204" pitchFamily="34" charset="0"/>
              </a:rPr>
              <a:t>2MHz</a:t>
            </a:r>
            <a:r>
              <a:rPr lang="zh-CN" altLang="zh-CN" kern="100" dirty="0">
                <a:latin typeface="Arial" panose="020B0604020202020204" pitchFamily="34" charset="0"/>
              </a:rPr>
              <a:t>。要求装置能够自主识别并显示</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的键控方式，并具备以下功能：</a:t>
            </a:r>
          </a:p>
          <a:p>
            <a:pPr indent="266700" algn="just">
              <a:lnSpc>
                <a:spcPct val="150000"/>
              </a:lnSpc>
              <a:spcAft>
                <a:spcPts val="0"/>
              </a:spcAft>
            </a:pPr>
            <a:r>
              <a:rPr lang="zh-CN" altLang="zh-CN" kern="100" dirty="0">
                <a:latin typeface="Arial" panose="020B0604020202020204" pitchFamily="34" charset="0"/>
              </a:rPr>
              <a:t>（</a:t>
            </a:r>
            <a:r>
              <a:rPr lang="en-US" altLang="zh-CN" kern="100" dirty="0">
                <a:latin typeface="Arial" panose="020B0604020202020204" pitchFamily="34" charset="0"/>
              </a:rPr>
              <a:t>1</a:t>
            </a:r>
            <a:r>
              <a:rPr lang="zh-CN" altLang="zh-CN" kern="100" dirty="0">
                <a:latin typeface="Arial" panose="020B0604020202020204" pitchFamily="34" charset="0"/>
              </a:rPr>
              <a:t>）若</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识别显示为</a:t>
            </a:r>
            <a:r>
              <a:rPr lang="en-US" altLang="zh-CN" kern="100" dirty="0">
                <a:latin typeface="Arial" panose="020B0604020202020204" pitchFamily="34" charset="0"/>
              </a:rPr>
              <a:t>2ASK </a:t>
            </a:r>
            <a:r>
              <a:rPr lang="zh-CN" altLang="zh-CN" kern="100" dirty="0">
                <a:latin typeface="Arial" panose="020B0604020202020204" pitchFamily="34" charset="0"/>
              </a:rPr>
              <a:t>信号，估计并显示</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传输的二进制码速率</a:t>
            </a:r>
            <a:r>
              <a:rPr lang="en-US" altLang="zh-CN" i="1" kern="100" dirty="0" err="1">
                <a:latin typeface="Arial" panose="020B0604020202020204" pitchFamily="34" charset="0"/>
              </a:rPr>
              <a:t>R</a:t>
            </a:r>
            <a:r>
              <a:rPr lang="en-US" altLang="zh-CN" i="1" kern="100" baseline="-25000" dirty="0" err="1">
                <a:latin typeface="Arial" panose="020B0604020202020204" pitchFamily="34" charset="0"/>
              </a:rPr>
              <a:t>c</a:t>
            </a:r>
            <a:r>
              <a:rPr lang="zh-CN" altLang="zh-CN" kern="100" dirty="0">
                <a:latin typeface="Arial" panose="020B0604020202020204" pitchFamily="34" charset="0"/>
              </a:rPr>
              <a:t>，在示波器上显示解调输出的二进制码序列波形。</a:t>
            </a:r>
          </a:p>
          <a:p>
            <a:pPr indent="266700" algn="just">
              <a:lnSpc>
                <a:spcPct val="150000"/>
              </a:lnSpc>
              <a:spcAft>
                <a:spcPts val="0"/>
              </a:spcAft>
            </a:pPr>
            <a:r>
              <a:rPr lang="zh-CN" altLang="zh-CN" kern="100" dirty="0">
                <a:latin typeface="Arial" panose="020B0604020202020204" pitchFamily="34" charset="0"/>
              </a:rPr>
              <a:t>（</a:t>
            </a:r>
            <a:r>
              <a:rPr lang="en-US" altLang="zh-CN" kern="100" dirty="0">
                <a:latin typeface="Arial" panose="020B0604020202020204" pitchFamily="34" charset="0"/>
              </a:rPr>
              <a:t>2</a:t>
            </a:r>
            <a:r>
              <a:rPr lang="zh-CN" altLang="zh-CN" kern="100" dirty="0">
                <a:latin typeface="Arial" panose="020B0604020202020204" pitchFamily="34" charset="0"/>
              </a:rPr>
              <a:t>）若</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识别显示为</a:t>
            </a:r>
            <a:r>
              <a:rPr lang="en-US" altLang="zh-CN" kern="100" dirty="0">
                <a:latin typeface="Arial" panose="020B0604020202020204" pitchFamily="34" charset="0"/>
              </a:rPr>
              <a:t>2FSK</a:t>
            </a:r>
            <a:r>
              <a:rPr lang="zh-CN" altLang="zh-CN" kern="100" dirty="0">
                <a:latin typeface="Arial" panose="020B0604020202020204" pitchFamily="34" charset="0"/>
              </a:rPr>
              <a:t>信号，估计并显示</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传输的二进制码速率</a:t>
            </a:r>
            <a:r>
              <a:rPr lang="en-US" altLang="zh-CN" i="1" kern="100" dirty="0" err="1">
                <a:latin typeface="Arial" panose="020B0604020202020204" pitchFamily="34" charset="0"/>
              </a:rPr>
              <a:t>R</a:t>
            </a:r>
            <a:r>
              <a:rPr lang="en-US" altLang="zh-CN" i="1" kern="100" baseline="-25000" dirty="0" err="1">
                <a:latin typeface="Arial" panose="020B0604020202020204" pitchFamily="34" charset="0"/>
              </a:rPr>
              <a:t>c</a:t>
            </a:r>
            <a:r>
              <a:rPr lang="zh-CN" altLang="zh-CN" kern="100" dirty="0">
                <a:latin typeface="Arial" panose="020B0604020202020204" pitchFamily="34" charset="0"/>
              </a:rPr>
              <a:t>、</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的移频键控系数</a:t>
            </a:r>
            <a:r>
              <a:rPr lang="en-US" altLang="zh-CN" i="1" kern="100" dirty="0">
                <a:latin typeface="Arial" panose="020B0604020202020204" pitchFamily="34" charset="0"/>
              </a:rPr>
              <a:t>h</a:t>
            </a:r>
            <a:r>
              <a:rPr lang="zh-CN" altLang="zh-CN" kern="100" dirty="0">
                <a:latin typeface="Arial" panose="020B0604020202020204" pitchFamily="34" charset="0"/>
              </a:rPr>
              <a:t>，在示波器上显示解调输出的二进制码序列波形。</a:t>
            </a:r>
          </a:p>
          <a:p>
            <a:pPr indent="266700" algn="just">
              <a:lnSpc>
                <a:spcPct val="150000"/>
              </a:lnSpc>
              <a:spcAft>
                <a:spcPts val="0"/>
              </a:spcAft>
            </a:pPr>
            <a:r>
              <a:rPr lang="zh-CN" altLang="zh-CN" kern="100" dirty="0">
                <a:latin typeface="Arial" panose="020B0604020202020204" pitchFamily="34" charset="0"/>
              </a:rPr>
              <a:t>（</a:t>
            </a:r>
            <a:r>
              <a:rPr lang="en-US" altLang="zh-CN" kern="100" dirty="0">
                <a:latin typeface="Arial" panose="020B0604020202020204" pitchFamily="34" charset="0"/>
              </a:rPr>
              <a:t>3</a:t>
            </a:r>
            <a:r>
              <a:rPr lang="zh-CN" altLang="zh-CN" kern="100" dirty="0">
                <a:latin typeface="Arial" panose="020B0604020202020204" pitchFamily="34" charset="0"/>
              </a:rPr>
              <a:t>）若</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识别显示为</a:t>
            </a:r>
            <a:r>
              <a:rPr lang="en-US" altLang="zh-CN" kern="100" dirty="0">
                <a:latin typeface="Arial" panose="020B0604020202020204" pitchFamily="34" charset="0"/>
              </a:rPr>
              <a:t>2PSK </a:t>
            </a:r>
            <a:r>
              <a:rPr lang="zh-CN" altLang="zh-CN" kern="100" dirty="0">
                <a:latin typeface="Arial" panose="020B0604020202020204" pitchFamily="34" charset="0"/>
              </a:rPr>
              <a:t>信号，估计并显示</a:t>
            </a:r>
            <a:r>
              <a:rPr lang="en-US" altLang="zh-CN" i="1" kern="100" dirty="0" err="1">
                <a:latin typeface="Arial" panose="020B0604020202020204" pitchFamily="34" charset="0"/>
              </a:rPr>
              <a:t>u</a:t>
            </a:r>
            <a:r>
              <a:rPr lang="en-US" altLang="zh-CN" kern="100" baseline="-25000" dirty="0" err="1">
                <a:latin typeface="Arial" panose="020B0604020202020204" pitchFamily="34" charset="0"/>
              </a:rPr>
              <a:t>M</a:t>
            </a:r>
            <a:r>
              <a:rPr lang="zh-CN" altLang="zh-CN" kern="100" dirty="0">
                <a:latin typeface="Arial" panose="020B0604020202020204" pitchFamily="34" charset="0"/>
              </a:rPr>
              <a:t>传输的二进制码速率</a:t>
            </a:r>
            <a:r>
              <a:rPr lang="en-US" altLang="zh-CN" i="1" kern="100" dirty="0" err="1">
                <a:latin typeface="Arial" panose="020B0604020202020204" pitchFamily="34" charset="0"/>
              </a:rPr>
              <a:t>R</a:t>
            </a:r>
            <a:r>
              <a:rPr lang="en-US" altLang="zh-CN" i="1" kern="100" baseline="-25000" dirty="0" err="1">
                <a:latin typeface="Arial" panose="020B0604020202020204" pitchFamily="34" charset="0"/>
              </a:rPr>
              <a:t>c</a:t>
            </a:r>
            <a:r>
              <a:rPr lang="zh-CN" altLang="zh-CN" kern="100" dirty="0">
                <a:latin typeface="Arial" panose="020B0604020202020204" pitchFamily="34" charset="0"/>
              </a:rPr>
              <a:t>，在示波器上显示解调输出的二进制码序列波形。</a:t>
            </a:r>
          </a:p>
          <a:p>
            <a:pPr indent="266700" algn="just">
              <a:lnSpc>
                <a:spcPct val="150000"/>
              </a:lnSpc>
              <a:spcAft>
                <a:spcPts val="0"/>
              </a:spcAft>
            </a:pPr>
            <a:r>
              <a:rPr lang="zh-CN" altLang="zh-CN" kern="100" dirty="0">
                <a:latin typeface="Arial" panose="020B0604020202020204" pitchFamily="34" charset="0"/>
              </a:rPr>
              <a:t>（</a:t>
            </a:r>
            <a:r>
              <a:rPr lang="en-US" altLang="zh-CN" kern="100" dirty="0">
                <a:latin typeface="Arial" panose="020B0604020202020204" pitchFamily="34" charset="0"/>
              </a:rPr>
              <a:t>4</a:t>
            </a:r>
            <a:r>
              <a:rPr lang="zh-CN" altLang="zh-CN" kern="100" dirty="0">
                <a:latin typeface="Arial" panose="020B0604020202020204" pitchFamily="34" charset="0"/>
              </a:rPr>
              <a:t>）其他。</a:t>
            </a:r>
          </a:p>
        </p:txBody>
      </p:sp>
    </p:spTree>
    <p:extLst>
      <p:ext uri="{BB962C8B-B14F-4D97-AF65-F5344CB8AC3E}">
        <p14:creationId xmlns:p14="http://schemas.microsoft.com/office/powerpoint/2010/main" val="4133799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0">
              <a:srgbClr val="EDFFFF"/>
            </a:gs>
            <a:gs pos="0">
              <a:srgbClr val="CCECFF"/>
            </a:gs>
            <a:gs pos="0">
              <a:srgbClr val="CCFFFF">
                <a:gamma/>
                <a:tint val="41569"/>
                <a:invGamma/>
              </a:srgbClr>
            </a:gs>
          </a:gsLst>
          <a:lin ang="5400000" scaled="1"/>
        </a:gradFill>
        <a:effectLst/>
      </p:bgPr>
    </p:bg>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2024/4/16</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5</a:t>
            </a:fld>
            <a:endParaRPr lang="en-US" altLang="zh-CN"/>
          </a:p>
        </p:txBody>
      </p:sp>
      <p:sp>
        <p:nvSpPr>
          <p:cNvPr id="6" name="矩形 5"/>
          <p:cNvSpPr/>
          <p:nvPr/>
        </p:nvSpPr>
        <p:spPr>
          <a:xfrm>
            <a:off x="442686" y="454947"/>
            <a:ext cx="11270341" cy="5586145"/>
          </a:xfrm>
          <a:prstGeom prst="rect">
            <a:avLst/>
          </a:prstGeom>
        </p:spPr>
        <p:txBody>
          <a:bodyPr wrap="square">
            <a:spAutoFit/>
          </a:bodyPr>
          <a:lstStyle/>
          <a:p>
            <a:pPr algn="just">
              <a:lnSpc>
                <a:spcPct val="150000"/>
              </a:lnSpc>
              <a:spcAft>
                <a:spcPts val="0"/>
              </a:spcAft>
            </a:pPr>
            <a:r>
              <a:rPr lang="zh-CN" altLang="zh-CN" kern="100" dirty="0">
                <a:latin typeface="Times New Roman" panose="02020603050405020304" pitchFamily="18" charset="0"/>
                <a:ea typeface="黑体" panose="02010609060101010101" pitchFamily="49" charset="-122"/>
              </a:rPr>
              <a:t>三、说明</a:t>
            </a:r>
            <a:endParaRPr lang="zh-CN" altLang="zh-CN" kern="100" dirty="0">
              <a:latin typeface="Times New Roman" panose="02020603050405020304" pitchFamily="18" charset="0"/>
              <a:ea typeface="宋体" panose="02010600030101010101" pitchFamily="2" charset="-122"/>
            </a:endParaRPr>
          </a:p>
          <a:p>
            <a:pPr>
              <a:lnSpc>
                <a:spcPct val="150000"/>
              </a:lnSpc>
            </a:pPr>
            <a:r>
              <a:rPr lang="zh-CN" altLang="zh-CN" dirty="0"/>
              <a:t>（</a:t>
            </a:r>
            <a:r>
              <a:rPr lang="en-US" altLang="zh-CN" dirty="0"/>
              <a:t>1</a:t>
            </a:r>
            <a:r>
              <a:rPr lang="zh-CN" altLang="zh-CN" dirty="0"/>
              <a:t>）本题</a:t>
            </a:r>
            <a:r>
              <a:rPr lang="en-US" altLang="zh-CN" i="1" dirty="0" err="1"/>
              <a:t>u</a:t>
            </a:r>
            <a:r>
              <a:rPr lang="en-US" altLang="zh-CN" baseline="-25000" dirty="0" err="1"/>
              <a:t>M</a:t>
            </a:r>
            <a:r>
              <a:rPr lang="zh-CN" altLang="zh-CN" dirty="0"/>
              <a:t>的载波为正弦波，</a:t>
            </a:r>
            <a:r>
              <a:rPr lang="en-US" altLang="zh-CN" i="1" dirty="0" err="1"/>
              <a:t>u</a:t>
            </a:r>
            <a:r>
              <a:rPr lang="en-US" altLang="zh-CN" baseline="-25000" dirty="0" err="1"/>
              <a:t>M</a:t>
            </a:r>
            <a:r>
              <a:rPr lang="zh-CN" altLang="zh-CN" dirty="0"/>
              <a:t>的信号类型及其参数估值范围包括：</a:t>
            </a:r>
            <a:r>
              <a:rPr lang="en-US" altLang="zh-CN" dirty="0"/>
              <a:t>AM</a:t>
            </a:r>
            <a:r>
              <a:rPr lang="zh-CN" altLang="zh-CN" dirty="0"/>
              <a:t>（调幅系数：</a:t>
            </a:r>
            <a:r>
              <a:rPr lang="en-US" altLang="zh-CN" dirty="0"/>
              <a:t>0.3</a:t>
            </a:r>
            <a:r>
              <a:rPr lang="zh-CN" altLang="zh-CN" dirty="0"/>
              <a:t>＜</a:t>
            </a:r>
            <a:r>
              <a:rPr lang="en-US" altLang="zh-CN" i="1" dirty="0"/>
              <a:t>m</a:t>
            </a:r>
            <a:r>
              <a:rPr lang="en-US" altLang="zh-CN" i="1" baseline="-25000" dirty="0"/>
              <a:t>a</a:t>
            </a:r>
            <a:r>
              <a:rPr lang="en-US" altLang="zh-CN" dirty="0"/>
              <a:t> &lt;1</a:t>
            </a:r>
            <a:r>
              <a:rPr lang="zh-CN" altLang="zh-CN" dirty="0"/>
              <a:t>）、</a:t>
            </a:r>
            <a:r>
              <a:rPr lang="en-US" altLang="zh-CN" dirty="0"/>
              <a:t>FM</a:t>
            </a:r>
            <a:r>
              <a:rPr lang="zh-CN" altLang="zh-CN" dirty="0"/>
              <a:t>（调频系数：</a:t>
            </a:r>
            <a:r>
              <a:rPr lang="en-US" altLang="zh-CN" dirty="0"/>
              <a:t>1</a:t>
            </a:r>
            <a:r>
              <a:rPr lang="zh-CN" altLang="zh-CN" dirty="0"/>
              <a:t>≤</a:t>
            </a:r>
            <a:r>
              <a:rPr lang="en-US" altLang="zh-CN" i="1" dirty="0"/>
              <a:t>m</a:t>
            </a:r>
            <a:r>
              <a:rPr lang="en-US" altLang="zh-CN" i="1" baseline="-25000" dirty="0"/>
              <a:t>f</a:t>
            </a:r>
            <a:r>
              <a:rPr lang="zh-CN" altLang="zh-CN" dirty="0"/>
              <a:t>≤</a:t>
            </a:r>
            <a:r>
              <a:rPr lang="en-US" altLang="zh-CN" dirty="0"/>
              <a:t>5</a:t>
            </a:r>
            <a:r>
              <a:rPr lang="zh-CN" altLang="zh-CN" dirty="0"/>
              <a:t>）、</a:t>
            </a:r>
            <a:r>
              <a:rPr lang="en-US" altLang="zh-CN" dirty="0"/>
              <a:t>CW</a:t>
            </a:r>
            <a:r>
              <a:rPr lang="zh-CN" altLang="zh-CN" dirty="0"/>
              <a:t>、</a:t>
            </a:r>
            <a:r>
              <a:rPr lang="en-US" altLang="zh-CN" dirty="0"/>
              <a:t>2ASK</a:t>
            </a:r>
            <a:r>
              <a:rPr lang="zh-CN" altLang="zh-CN" dirty="0"/>
              <a:t>、</a:t>
            </a:r>
            <a:r>
              <a:rPr lang="en-US" altLang="zh-CN" dirty="0"/>
              <a:t>2PSK</a:t>
            </a:r>
            <a:r>
              <a:rPr lang="zh-CN" altLang="zh-CN" dirty="0"/>
              <a:t>、</a:t>
            </a:r>
            <a:r>
              <a:rPr lang="en-US" altLang="zh-CN" dirty="0"/>
              <a:t>2FSK</a:t>
            </a:r>
            <a:r>
              <a:rPr lang="zh-CN" altLang="zh-CN" dirty="0"/>
              <a:t>（移频键控系数：</a:t>
            </a:r>
            <a:r>
              <a:rPr lang="en-US" altLang="zh-CN" dirty="0"/>
              <a:t>2</a:t>
            </a:r>
            <a:r>
              <a:rPr lang="zh-CN" altLang="zh-CN" dirty="0"/>
              <a:t>≤</a:t>
            </a:r>
            <a:r>
              <a:rPr lang="en-US" altLang="zh-CN" i="1" dirty="0"/>
              <a:t>h</a:t>
            </a:r>
            <a:r>
              <a:rPr lang="zh-CN" altLang="zh-CN" dirty="0"/>
              <a:t>≤</a:t>
            </a:r>
            <a:r>
              <a:rPr lang="en-US" altLang="zh-CN" dirty="0"/>
              <a:t>5</a:t>
            </a:r>
            <a:r>
              <a:rPr lang="zh-CN" altLang="zh-CN" dirty="0"/>
              <a:t>）信号，移频键控系数</a:t>
            </a:r>
            <a:r>
              <a:rPr lang="en-US" altLang="zh-CN" i="1" dirty="0"/>
              <a:t>h</a:t>
            </a:r>
            <a:r>
              <a:rPr lang="en-US" altLang="zh-CN" dirty="0"/>
              <a:t> =| </a:t>
            </a:r>
            <a:r>
              <a:rPr lang="en-US" altLang="zh-CN" i="1" dirty="0"/>
              <a:t>f</a:t>
            </a:r>
            <a:r>
              <a:rPr lang="en-US" altLang="zh-CN" baseline="-25000" dirty="0"/>
              <a:t>c1</a:t>
            </a:r>
            <a:r>
              <a:rPr lang="zh-CN" altLang="zh-CN" dirty="0"/>
              <a:t>−</a:t>
            </a:r>
            <a:r>
              <a:rPr lang="en-US" altLang="zh-CN" i="1" dirty="0"/>
              <a:t>f</a:t>
            </a:r>
            <a:r>
              <a:rPr lang="en-US" altLang="zh-CN" baseline="-25000" dirty="0"/>
              <a:t>c0</a:t>
            </a:r>
            <a:r>
              <a:rPr lang="en-US" altLang="zh-CN" dirty="0"/>
              <a:t> |/</a:t>
            </a:r>
            <a:r>
              <a:rPr lang="en-US" altLang="zh-CN" i="1" dirty="0" err="1"/>
              <a:t>R</a:t>
            </a:r>
            <a:r>
              <a:rPr lang="en-US" altLang="zh-CN" i="1" baseline="-25000" dirty="0" err="1"/>
              <a:t>c</a:t>
            </a:r>
            <a:r>
              <a:rPr lang="en-US" altLang="zh-CN" dirty="0"/>
              <a:t> </a:t>
            </a:r>
            <a:r>
              <a:rPr lang="zh-CN" altLang="zh-CN" dirty="0"/>
              <a:t>，其中</a:t>
            </a:r>
            <a:r>
              <a:rPr lang="en-US" altLang="zh-CN" i="1" dirty="0"/>
              <a:t>f</a:t>
            </a:r>
            <a:r>
              <a:rPr lang="en-US" altLang="zh-CN" baseline="-25000" dirty="0"/>
              <a:t>c1</a:t>
            </a:r>
            <a:r>
              <a:rPr lang="zh-CN" altLang="zh-CN" dirty="0"/>
              <a:t>和</a:t>
            </a:r>
            <a:r>
              <a:rPr lang="en-US" altLang="zh-CN" i="1" dirty="0"/>
              <a:t>f</a:t>
            </a:r>
            <a:r>
              <a:rPr lang="en-US" altLang="zh-CN" baseline="-25000" dirty="0"/>
              <a:t>c0</a:t>
            </a:r>
            <a:r>
              <a:rPr lang="zh-CN" altLang="zh-CN" dirty="0"/>
              <a:t>分别为</a:t>
            </a:r>
            <a:r>
              <a:rPr lang="en-US" altLang="zh-CN" dirty="0"/>
              <a:t>2FSK </a:t>
            </a:r>
            <a:r>
              <a:rPr lang="zh-CN" altLang="zh-CN" dirty="0"/>
              <a:t>信号发送二进制码</a:t>
            </a:r>
            <a:r>
              <a:rPr lang="en-US" altLang="zh-CN" dirty="0"/>
              <a:t>1</a:t>
            </a:r>
            <a:r>
              <a:rPr lang="zh-CN" altLang="zh-CN" dirty="0"/>
              <a:t>和</a:t>
            </a:r>
            <a:r>
              <a:rPr lang="en-US" altLang="zh-CN" dirty="0"/>
              <a:t>0 </a:t>
            </a:r>
            <a:r>
              <a:rPr lang="zh-CN" altLang="zh-CN" dirty="0"/>
              <a:t>的载频值。</a:t>
            </a:r>
          </a:p>
          <a:p>
            <a:pPr>
              <a:lnSpc>
                <a:spcPct val="150000"/>
              </a:lnSpc>
            </a:pPr>
            <a:r>
              <a:rPr lang="zh-CN" altLang="zh-CN" dirty="0"/>
              <a:t>（</a:t>
            </a:r>
            <a:r>
              <a:rPr lang="en-US" altLang="zh-CN" dirty="0"/>
              <a:t>2</a:t>
            </a:r>
            <a:r>
              <a:rPr lang="zh-CN" altLang="zh-CN" dirty="0"/>
              <a:t>）本题所指定的</a:t>
            </a:r>
            <a:r>
              <a:rPr lang="en-US" altLang="zh-CN" i="1" dirty="0" err="1"/>
              <a:t>u</a:t>
            </a:r>
            <a:r>
              <a:rPr lang="en-US" altLang="zh-CN" baseline="-25000" dirty="0" err="1"/>
              <a:t>M</a:t>
            </a:r>
            <a:r>
              <a:rPr lang="zh-CN" altLang="zh-CN" dirty="0"/>
              <a:t>参数值（如载频、调制信号频率等）是指参赛队自用信号发生器输出信号</a:t>
            </a:r>
            <a:r>
              <a:rPr lang="en-US" altLang="zh-CN" i="1" dirty="0" err="1"/>
              <a:t>u</a:t>
            </a:r>
            <a:r>
              <a:rPr lang="en-US" altLang="zh-CN" baseline="-25000" dirty="0" err="1"/>
              <a:t>M</a:t>
            </a:r>
            <a:r>
              <a:rPr lang="zh-CN" altLang="zh-CN" dirty="0"/>
              <a:t>的参数设置值，信号发生器以内调制方式产生</a:t>
            </a:r>
            <a:r>
              <a:rPr lang="en-US" altLang="zh-CN" i="1" dirty="0" err="1"/>
              <a:t>u</a:t>
            </a:r>
            <a:r>
              <a:rPr lang="en-US" altLang="zh-CN" baseline="-25000" dirty="0" err="1"/>
              <a:t>M</a:t>
            </a:r>
            <a:r>
              <a:rPr lang="zh-CN" altLang="zh-CN" dirty="0"/>
              <a:t>。</a:t>
            </a:r>
          </a:p>
          <a:p>
            <a:pPr>
              <a:lnSpc>
                <a:spcPct val="150000"/>
              </a:lnSpc>
            </a:pPr>
            <a:r>
              <a:rPr lang="zh-CN" altLang="zh-CN" dirty="0"/>
              <a:t>（</a:t>
            </a:r>
            <a:r>
              <a:rPr lang="en-US" altLang="zh-CN" dirty="0"/>
              <a:t>3</a:t>
            </a:r>
            <a:r>
              <a:rPr lang="zh-CN" altLang="zh-CN" dirty="0"/>
              <a:t>）装置的参数估计误差要求： </a:t>
            </a:r>
            <a:r>
              <a:rPr lang="en-US" altLang="zh-CN" i="1" dirty="0"/>
              <a:t>m</a:t>
            </a:r>
            <a:r>
              <a:rPr lang="en-US" altLang="zh-CN" i="1" baseline="-25000" dirty="0"/>
              <a:t>a</a:t>
            </a:r>
            <a:r>
              <a:rPr lang="zh-CN" altLang="zh-CN" dirty="0"/>
              <a:t>估计值与其信号发生器设置值误差的绝对值≤</a:t>
            </a:r>
            <a:r>
              <a:rPr lang="en-US" altLang="zh-CN" dirty="0"/>
              <a:t>0.1</a:t>
            </a:r>
            <a:r>
              <a:rPr lang="zh-CN" altLang="zh-CN" dirty="0"/>
              <a:t>； </a:t>
            </a:r>
            <a:r>
              <a:rPr lang="en-US" altLang="zh-CN" i="1" dirty="0"/>
              <a:t>m</a:t>
            </a:r>
            <a:r>
              <a:rPr lang="en-US" altLang="zh-CN" i="1" baseline="-25000" dirty="0"/>
              <a:t>f </a:t>
            </a:r>
            <a:r>
              <a:rPr lang="zh-CN" altLang="zh-CN" dirty="0"/>
              <a:t>估计值与其信号发生器设置值误差的绝对值≤</a:t>
            </a:r>
            <a:r>
              <a:rPr lang="en-US" altLang="zh-CN" dirty="0"/>
              <a:t>0.3</a:t>
            </a:r>
            <a:r>
              <a:rPr lang="zh-CN" altLang="zh-CN" dirty="0"/>
              <a:t>；</a:t>
            </a:r>
            <a:r>
              <a:rPr lang="en-US" altLang="zh-CN" i="1" dirty="0"/>
              <a:t>F</a:t>
            </a:r>
            <a:r>
              <a:rPr lang="zh-CN" altLang="zh-CN" dirty="0"/>
              <a:t>估计值与其信号发生器设置值误差的绝对值≤</a:t>
            </a:r>
            <a:r>
              <a:rPr lang="en-US" altLang="zh-CN" dirty="0"/>
              <a:t>50Hz</a:t>
            </a:r>
            <a:r>
              <a:rPr lang="zh-CN" altLang="zh-CN" dirty="0"/>
              <a:t>； </a:t>
            </a:r>
            <a:r>
              <a:rPr lang="en-US" altLang="zh-CN" dirty="0" err="1"/>
              <a:t>Δ</a:t>
            </a:r>
            <a:r>
              <a:rPr lang="en-US" altLang="zh-CN" i="1" dirty="0" err="1"/>
              <a:t>f</a:t>
            </a:r>
            <a:r>
              <a:rPr lang="en-US" altLang="zh-CN" dirty="0"/>
              <a:t> </a:t>
            </a:r>
            <a:r>
              <a:rPr lang="en-US" altLang="zh-CN" baseline="-25000" dirty="0"/>
              <a:t>max</a:t>
            </a:r>
            <a:r>
              <a:rPr lang="en-US" altLang="zh-CN" dirty="0"/>
              <a:t> </a:t>
            </a:r>
            <a:r>
              <a:rPr lang="zh-CN" altLang="zh-CN" dirty="0"/>
              <a:t>估计值与其信号发生器设置值误差的绝对值≤</a:t>
            </a:r>
            <a:r>
              <a:rPr lang="en-US" altLang="zh-CN" dirty="0"/>
              <a:t>300Hz</a:t>
            </a:r>
            <a:r>
              <a:rPr lang="zh-CN" altLang="zh-CN" dirty="0"/>
              <a:t>。</a:t>
            </a:r>
          </a:p>
          <a:p>
            <a:pPr>
              <a:lnSpc>
                <a:spcPct val="150000"/>
              </a:lnSpc>
            </a:pPr>
            <a:r>
              <a:rPr lang="zh-CN" altLang="zh-CN" dirty="0"/>
              <a:t>（</a:t>
            </a:r>
            <a:r>
              <a:rPr lang="en-US" altLang="zh-CN" dirty="0"/>
              <a:t>4</a:t>
            </a:r>
            <a:r>
              <a:rPr lang="zh-CN" altLang="zh-CN" dirty="0"/>
              <a:t>）解调信号输出必须为单一端口输出。用示波器观测解调信号</a:t>
            </a:r>
            <a:r>
              <a:rPr lang="en-US" altLang="zh-CN" i="1" dirty="0" err="1"/>
              <a:t>u</a:t>
            </a:r>
            <a:r>
              <a:rPr lang="en-US" altLang="zh-CN" i="1" baseline="-25000" dirty="0" err="1"/>
              <a:t>o</a:t>
            </a:r>
            <a:r>
              <a:rPr lang="zh-CN" altLang="zh-CN" dirty="0"/>
              <a:t>时，</a:t>
            </a:r>
            <a:r>
              <a:rPr lang="en-US" altLang="zh-CN" i="1" dirty="0" err="1"/>
              <a:t>u</a:t>
            </a:r>
            <a:r>
              <a:rPr lang="en-US" altLang="zh-CN" i="1" baseline="-25000" dirty="0" err="1"/>
              <a:t>o</a:t>
            </a:r>
            <a:r>
              <a:rPr lang="zh-CN" altLang="zh-CN" dirty="0"/>
              <a:t>应无明显的波形失真，且电压峰峰值不低于</a:t>
            </a:r>
            <a:r>
              <a:rPr lang="en-US" altLang="zh-CN" dirty="0"/>
              <a:t>1V</a:t>
            </a:r>
            <a:r>
              <a:rPr lang="zh-CN" altLang="zh-CN" dirty="0"/>
              <a:t>。</a:t>
            </a:r>
          </a:p>
          <a:p>
            <a:pPr indent="432000">
              <a:lnSpc>
                <a:spcPct val="150000"/>
              </a:lnSpc>
            </a:pPr>
            <a:endParaRPr lang="zh-CN" altLang="zh-CN" sz="1800" dirty="0"/>
          </a:p>
        </p:txBody>
      </p:sp>
    </p:spTree>
    <p:extLst>
      <p:ext uri="{BB962C8B-B14F-4D97-AF65-F5344CB8AC3E}">
        <p14:creationId xmlns:p14="http://schemas.microsoft.com/office/powerpoint/2010/main" val="1676534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a:t>
            </a:fld>
            <a:endParaRPr lang="en-US" altLang="zh-CN">
              <a:solidFill>
                <a:srgbClr val="FFFFFF"/>
              </a:solidFill>
            </a:endParaRPr>
          </a:p>
        </p:txBody>
      </p:sp>
      <p:sp>
        <p:nvSpPr>
          <p:cNvPr id="5" name="矩形 4"/>
          <p:cNvSpPr/>
          <p:nvPr/>
        </p:nvSpPr>
        <p:spPr>
          <a:xfrm>
            <a:off x="457201" y="369231"/>
            <a:ext cx="11255828" cy="3831818"/>
          </a:xfrm>
          <a:prstGeom prst="rect">
            <a:avLst/>
          </a:prstGeom>
        </p:spPr>
        <p:txBody>
          <a:bodyPr wrap="square">
            <a:spAutoFit/>
          </a:bodyPr>
          <a:lstStyle/>
          <a:p>
            <a:pPr algn="ctr">
              <a:lnSpc>
                <a:spcPct val="150000"/>
              </a:lnSpc>
            </a:pPr>
            <a:r>
              <a:rPr lang="zh-CN" altLang="zh-CN" sz="3200" dirty="0">
                <a:solidFill>
                  <a:srgbClr val="FF0000"/>
                </a:solidFill>
                <a:latin typeface="隶书" panose="02010509060101010101" pitchFamily="49" charset="-122"/>
                <a:ea typeface="隶书" panose="02010509060101010101" pitchFamily="49" charset="-122"/>
              </a:rPr>
              <a:t>题目分析</a:t>
            </a:r>
            <a:endParaRPr lang="zh-CN" altLang="zh-CN" sz="2800" dirty="0">
              <a:solidFill>
                <a:srgbClr val="FF0000"/>
              </a:solidFill>
              <a:latin typeface="隶书" panose="02010509060101010101" pitchFamily="49" charset="-122"/>
              <a:ea typeface="隶书" panose="02010509060101010101" pitchFamily="49" charset="-122"/>
            </a:endParaRPr>
          </a:p>
          <a:p>
            <a:pPr indent="457200">
              <a:lnSpc>
                <a:spcPct val="150000"/>
              </a:lnSpc>
            </a:pPr>
            <a:r>
              <a:rPr lang="zh-CN" altLang="en-US" sz="1800" dirty="0" smtClean="0"/>
              <a:t>题目给定的</a:t>
            </a:r>
            <a:r>
              <a:rPr lang="zh-CN" altLang="zh-CN" sz="1800" dirty="0" smtClean="0"/>
              <a:t>调制</a:t>
            </a:r>
            <a:r>
              <a:rPr lang="zh-CN" altLang="zh-CN" sz="1800" dirty="0"/>
              <a:t>波形包含</a:t>
            </a:r>
            <a:r>
              <a:rPr lang="zh-CN" altLang="en-US" sz="1800" dirty="0"/>
              <a:t>：</a:t>
            </a:r>
            <a:r>
              <a:rPr lang="en-US" altLang="zh-CN" sz="1800" dirty="0"/>
              <a:t>AM</a:t>
            </a:r>
            <a:r>
              <a:rPr lang="zh-CN" altLang="zh-CN" sz="1800" dirty="0"/>
              <a:t>、</a:t>
            </a:r>
            <a:r>
              <a:rPr lang="en-US" altLang="zh-CN" sz="1800" dirty="0"/>
              <a:t>FM</a:t>
            </a:r>
            <a:r>
              <a:rPr lang="zh-CN" altLang="zh-CN" sz="1800" dirty="0"/>
              <a:t>、</a:t>
            </a:r>
            <a:r>
              <a:rPr lang="en-US" altLang="zh-CN" sz="1800" dirty="0"/>
              <a:t>2ASK</a:t>
            </a:r>
            <a:r>
              <a:rPr lang="zh-CN" altLang="zh-CN" sz="1800" dirty="0"/>
              <a:t>、</a:t>
            </a:r>
            <a:r>
              <a:rPr lang="en-US" altLang="zh-CN" sz="1800" dirty="0"/>
              <a:t>2FSK</a:t>
            </a:r>
            <a:r>
              <a:rPr lang="zh-CN" altLang="zh-CN" sz="1800" dirty="0"/>
              <a:t>与</a:t>
            </a:r>
            <a:r>
              <a:rPr lang="en-US" altLang="zh-CN" sz="1800" dirty="0"/>
              <a:t>2PSK</a:t>
            </a:r>
            <a:r>
              <a:rPr lang="zh-CN" altLang="zh-CN" sz="1800" dirty="0"/>
              <a:t>，以及未加调制的连续波</a:t>
            </a:r>
            <a:r>
              <a:rPr lang="en-US" altLang="zh-CN" sz="1800" dirty="0"/>
              <a:t>CW</a:t>
            </a:r>
            <a:endParaRPr lang="en-US" altLang="zh-CN" sz="1600" dirty="0"/>
          </a:p>
          <a:p>
            <a:pPr indent="457200">
              <a:lnSpc>
                <a:spcPct val="150000"/>
              </a:lnSpc>
            </a:pPr>
            <a:r>
              <a:rPr lang="zh-CN" altLang="zh-CN" sz="1800" dirty="0" smtClean="0"/>
              <a:t>题目要求对各种</a:t>
            </a:r>
            <a:r>
              <a:rPr lang="zh-CN" altLang="en-US" sz="1800" dirty="0" smtClean="0"/>
              <a:t>已调信号进行调制方式的</a:t>
            </a:r>
            <a:r>
              <a:rPr lang="zh-CN" altLang="zh-CN" sz="1800" dirty="0" smtClean="0">
                <a:solidFill>
                  <a:srgbClr val="FF0000"/>
                </a:solidFill>
              </a:rPr>
              <a:t>识别</a:t>
            </a:r>
            <a:r>
              <a:rPr lang="zh-CN" altLang="zh-CN" sz="1800" dirty="0" smtClean="0"/>
              <a:t>以及</a:t>
            </a:r>
            <a:r>
              <a:rPr lang="zh-CN" altLang="zh-CN" sz="1800" dirty="0" smtClean="0">
                <a:solidFill>
                  <a:srgbClr val="FF0000"/>
                </a:solidFill>
              </a:rPr>
              <a:t>解调</a:t>
            </a:r>
            <a:endParaRPr lang="en-US" altLang="zh-CN" sz="1800" dirty="0" smtClean="0">
              <a:solidFill>
                <a:srgbClr val="FF0000"/>
              </a:solidFill>
            </a:endParaRPr>
          </a:p>
          <a:p>
            <a:pPr indent="457200">
              <a:lnSpc>
                <a:spcPct val="150000"/>
              </a:lnSpc>
            </a:pPr>
            <a:r>
              <a:rPr lang="zh-CN" altLang="en-US" sz="1800" dirty="0" smtClean="0">
                <a:solidFill>
                  <a:srgbClr val="FF0000"/>
                </a:solidFill>
              </a:rPr>
              <a:t>识别</a:t>
            </a:r>
            <a:r>
              <a:rPr lang="zh-CN" altLang="en-US" sz="1800" dirty="0" smtClean="0"/>
              <a:t>：可以在解调前识别，也可以在解调后识别。但是在解调前识别需要考虑对高频信号做</a:t>
            </a:r>
            <a:r>
              <a:rPr lang="en-US" altLang="zh-CN" sz="1800" dirty="0" smtClean="0"/>
              <a:t>ADC</a:t>
            </a:r>
            <a:r>
              <a:rPr lang="zh-CN" altLang="en-US" sz="1800" dirty="0" smtClean="0"/>
              <a:t>，对于</a:t>
            </a:r>
            <a:r>
              <a:rPr lang="en-US" altLang="zh-CN" sz="1800" dirty="0" smtClean="0"/>
              <a:t>ADC</a:t>
            </a:r>
            <a:r>
              <a:rPr lang="zh-CN" altLang="en-US" sz="1800" dirty="0" smtClean="0"/>
              <a:t>的要求与实现难度均较高，而解调后只要对频率较低的调制信号进行识别，难度较低，所以应该采用解调后识别的方案</a:t>
            </a:r>
            <a:endParaRPr lang="en-US" altLang="zh-CN" sz="1800" dirty="0" smtClean="0"/>
          </a:p>
          <a:p>
            <a:pPr indent="457200">
              <a:lnSpc>
                <a:spcPct val="150000"/>
              </a:lnSpc>
            </a:pPr>
            <a:r>
              <a:rPr lang="zh-CN" altLang="en-US" sz="1800" dirty="0" smtClean="0">
                <a:solidFill>
                  <a:srgbClr val="FF0000"/>
                </a:solidFill>
              </a:rPr>
              <a:t>解调</a:t>
            </a:r>
            <a:r>
              <a:rPr lang="zh-CN" altLang="en-US" sz="1800" dirty="0" smtClean="0"/>
              <a:t>：不同的已调波有不同解调方案，同一种已调波可以有不同的解调电路，但要考虑是否适合本题？所以要选择适合的电路</a:t>
            </a:r>
            <a:endParaRPr lang="en-US" altLang="zh-CN" sz="1800" dirty="0" smtClean="0"/>
          </a:p>
        </p:txBody>
      </p:sp>
      <p:sp>
        <p:nvSpPr>
          <p:cNvPr id="8" name="矩形 7"/>
          <p:cNvSpPr/>
          <p:nvPr/>
        </p:nvSpPr>
        <p:spPr>
          <a:xfrm>
            <a:off x="1161143" y="4680857"/>
            <a:ext cx="972457" cy="1110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信号源</a:t>
            </a:r>
            <a:endParaRPr lang="zh-CN" altLang="en-US" dirty="0"/>
          </a:p>
        </p:txBody>
      </p:sp>
      <p:sp>
        <p:nvSpPr>
          <p:cNvPr id="9" name="矩形 8"/>
          <p:cNvSpPr/>
          <p:nvPr/>
        </p:nvSpPr>
        <p:spPr>
          <a:xfrm>
            <a:off x="2866571" y="4680857"/>
            <a:ext cx="1309614" cy="1110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前置放大</a:t>
            </a:r>
            <a:endParaRPr lang="zh-CN" altLang="en-US" dirty="0"/>
          </a:p>
        </p:txBody>
      </p:sp>
      <p:sp>
        <p:nvSpPr>
          <p:cNvPr id="10" name="矩形 9"/>
          <p:cNvSpPr/>
          <p:nvPr/>
        </p:nvSpPr>
        <p:spPr>
          <a:xfrm>
            <a:off x="4847771" y="4680857"/>
            <a:ext cx="1814286" cy="1110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解调器</a:t>
            </a:r>
            <a:endParaRPr lang="zh-CN" altLang="en-US" dirty="0"/>
          </a:p>
        </p:txBody>
      </p:sp>
      <p:sp>
        <p:nvSpPr>
          <p:cNvPr id="11" name="矩形 10"/>
          <p:cNvSpPr/>
          <p:nvPr/>
        </p:nvSpPr>
        <p:spPr>
          <a:xfrm>
            <a:off x="7329714" y="4680857"/>
            <a:ext cx="1095829" cy="1110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ADC</a:t>
            </a:r>
            <a:endParaRPr lang="zh-CN" altLang="en-US" dirty="0"/>
          </a:p>
        </p:txBody>
      </p:sp>
      <p:sp>
        <p:nvSpPr>
          <p:cNvPr id="12" name="矩形 11"/>
          <p:cNvSpPr/>
          <p:nvPr/>
        </p:nvSpPr>
        <p:spPr>
          <a:xfrm>
            <a:off x="9071429" y="4680857"/>
            <a:ext cx="1117600" cy="11103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MPU</a:t>
            </a:r>
            <a:endParaRPr lang="zh-CN" altLang="en-US" dirty="0"/>
          </a:p>
        </p:txBody>
      </p:sp>
      <p:sp>
        <p:nvSpPr>
          <p:cNvPr id="14" name="右箭头 13"/>
          <p:cNvSpPr/>
          <p:nvPr/>
        </p:nvSpPr>
        <p:spPr>
          <a:xfrm>
            <a:off x="2133600" y="5021054"/>
            <a:ext cx="732971"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14"/>
          <p:cNvSpPr/>
          <p:nvPr/>
        </p:nvSpPr>
        <p:spPr>
          <a:xfrm>
            <a:off x="8425543" y="5007428"/>
            <a:ext cx="645886"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右箭头 15"/>
          <p:cNvSpPr/>
          <p:nvPr/>
        </p:nvSpPr>
        <p:spPr>
          <a:xfrm>
            <a:off x="6662057" y="5021054"/>
            <a:ext cx="667657"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右箭头 16"/>
          <p:cNvSpPr/>
          <p:nvPr/>
        </p:nvSpPr>
        <p:spPr>
          <a:xfrm>
            <a:off x="4176185" y="5007428"/>
            <a:ext cx="667657"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577141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7</a:t>
            </a:fld>
            <a:endParaRPr lang="en-US" altLang="zh-CN">
              <a:solidFill>
                <a:srgbClr val="FFFFFF"/>
              </a:solidFill>
            </a:endParaRPr>
          </a:p>
        </p:txBody>
      </p:sp>
      <p:sp>
        <p:nvSpPr>
          <p:cNvPr id="5" name="矩形 4"/>
          <p:cNvSpPr/>
          <p:nvPr/>
        </p:nvSpPr>
        <p:spPr>
          <a:xfrm>
            <a:off x="449943" y="819173"/>
            <a:ext cx="5791200" cy="5139869"/>
          </a:xfrm>
          <a:prstGeom prst="rect">
            <a:avLst/>
          </a:prstGeom>
        </p:spPr>
        <p:txBody>
          <a:bodyPr wrap="square">
            <a:spAutoFit/>
          </a:bodyPr>
          <a:lstStyle/>
          <a:p>
            <a:pPr marL="342900" indent="-342900">
              <a:lnSpc>
                <a:spcPct val="200000"/>
              </a:lnSpc>
              <a:buFont typeface="Wingdings" panose="05000000000000000000" pitchFamily="2" charset="2"/>
              <a:buChar char="Ø"/>
            </a:pPr>
            <a:r>
              <a:rPr lang="zh-CN" altLang="en-US" dirty="0" smtClean="0">
                <a:solidFill>
                  <a:srgbClr val="FF0000"/>
                </a:solidFill>
              </a:rPr>
              <a:t>幅度调制（</a:t>
            </a:r>
            <a:r>
              <a:rPr lang="en-US" altLang="zh-CN" dirty="0" smtClean="0">
                <a:solidFill>
                  <a:srgbClr val="FF0000"/>
                </a:solidFill>
              </a:rPr>
              <a:t>AM</a:t>
            </a:r>
            <a:r>
              <a:rPr lang="zh-CN" altLang="en-US" dirty="0" smtClean="0">
                <a:solidFill>
                  <a:srgbClr val="FF0000"/>
                </a:solidFill>
              </a:rPr>
              <a:t>）与幅移键控（</a:t>
            </a:r>
            <a:r>
              <a:rPr lang="en-US" altLang="zh-CN" dirty="0" smtClean="0">
                <a:solidFill>
                  <a:srgbClr val="FF0000"/>
                </a:solidFill>
              </a:rPr>
              <a:t>ASK</a:t>
            </a:r>
            <a:r>
              <a:rPr lang="zh-CN" altLang="en-US" dirty="0" smtClean="0">
                <a:solidFill>
                  <a:srgbClr val="FF0000"/>
                </a:solidFill>
              </a:rPr>
              <a:t>）</a:t>
            </a:r>
            <a:endParaRPr lang="en-US" altLang="zh-CN" dirty="0" smtClean="0">
              <a:solidFill>
                <a:srgbClr val="FF0000"/>
              </a:solidFill>
            </a:endParaRPr>
          </a:p>
          <a:p>
            <a:pPr marL="285750" indent="-285750">
              <a:lnSpc>
                <a:spcPct val="200000"/>
              </a:lnSpc>
              <a:buFont typeface="Arial" panose="020B0604020202020204" pitchFamily="34" charset="0"/>
              <a:buChar char="•"/>
            </a:pPr>
            <a:r>
              <a:rPr lang="en-US" altLang="zh-CN" sz="1800" dirty="0"/>
              <a:t>AM</a:t>
            </a:r>
            <a:r>
              <a:rPr lang="zh-CN" altLang="en-US" sz="1800" dirty="0" smtClean="0">
                <a:latin typeface="黑体" panose="02010609060101010101" pitchFamily="49" charset="-122"/>
                <a:ea typeface="黑体" panose="02010609060101010101" pitchFamily="49" charset="-122"/>
              </a:rPr>
              <a:t>信号的参数与特征</a:t>
            </a:r>
            <a:endParaRPr lang="en-US" altLang="zh-CN" sz="1800" dirty="0" smtClean="0">
              <a:latin typeface="黑体" panose="02010609060101010101" pitchFamily="49" charset="-122"/>
              <a:ea typeface="黑体" panose="02010609060101010101" pitchFamily="49" charset="-122"/>
            </a:endParaRPr>
          </a:p>
          <a:p>
            <a:pPr indent="457200">
              <a:lnSpc>
                <a:spcPct val="200000"/>
              </a:lnSpc>
            </a:pPr>
            <a:r>
              <a:rPr lang="zh-CN" altLang="en-US" sz="1800" dirty="0" smtClean="0"/>
              <a:t>载波：</a:t>
            </a:r>
            <a:endParaRPr lang="en-US" altLang="zh-CN" sz="1800" dirty="0" smtClean="0"/>
          </a:p>
          <a:p>
            <a:pPr indent="457200">
              <a:lnSpc>
                <a:spcPct val="200000"/>
              </a:lnSpc>
            </a:pPr>
            <a:r>
              <a:rPr lang="zh-CN" altLang="en-US" sz="1800" dirty="0" smtClean="0"/>
              <a:t>调制信号：</a:t>
            </a:r>
            <a:endParaRPr lang="en-US" altLang="zh-CN" sz="1800" dirty="0" smtClean="0"/>
          </a:p>
          <a:p>
            <a:pPr indent="457200">
              <a:lnSpc>
                <a:spcPct val="200000"/>
              </a:lnSpc>
            </a:pPr>
            <a:r>
              <a:rPr lang="zh-CN" altLang="en-US" sz="1800" dirty="0"/>
              <a:t>已调</a:t>
            </a:r>
            <a:r>
              <a:rPr lang="zh-CN" altLang="en-US" sz="1800" dirty="0" smtClean="0"/>
              <a:t>波：</a:t>
            </a:r>
            <a:endParaRPr lang="en-US" altLang="zh-CN" sz="1800" dirty="0" smtClean="0"/>
          </a:p>
          <a:p>
            <a:pPr indent="457200">
              <a:lnSpc>
                <a:spcPct val="200000"/>
              </a:lnSpc>
            </a:pPr>
            <a:r>
              <a:rPr lang="zh-CN" altLang="en-US" sz="1800" dirty="0" smtClean="0"/>
              <a:t>调制度：</a:t>
            </a:r>
            <a:r>
              <a:rPr lang="en-US" altLang="zh-CN" sz="1800" i="1" dirty="0" smtClean="0"/>
              <a:t>m</a:t>
            </a:r>
            <a:r>
              <a:rPr lang="en-US" altLang="zh-CN" sz="1800" i="1" baseline="-25000" dirty="0" smtClean="0"/>
              <a:t>a</a:t>
            </a:r>
            <a:r>
              <a:rPr lang="zh-CN" altLang="zh-CN" sz="1800" dirty="0" smtClean="0"/>
              <a:t>，</a:t>
            </a:r>
            <a:r>
              <a:rPr lang="zh-CN" altLang="zh-CN" sz="1800" dirty="0"/>
              <a:t>表示</a:t>
            </a:r>
            <a:r>
              <a:rPr lang="en-US" altLang="zh-CN" sz="1800" dirty="0"/>
              <a:t>AM</a:t>
            </a:r>
            <a:r>
              <a:rPr lang="zh-CN" altLang="zh-CN" sz="1800" dirty="0"/>
              <a:t>信号幅度的最大相对变化量</a:t>
            </a:r>
            <a:r>
              <a:rPr lang="zh-CN" altLang="zh-CN" sz="1800" dirty="0" smtClean="0"/>
              <a:t>。</a:t>
            </a:r>
            <a:r>
              <a:rPr lang="en-US" altLang="zh-CN" sz="1800" dirty="0" smtClean="0"/>
              <a:t>AM</a:t>
            </a:r>
            <a:r>
              <a:rPr lang="zh-CN" altLang="en-US" sz="1800" dirty="0" smtClean="0"/>
              <a:t>广播中通常为</a:t>
            </a:r>
            <a:r>
              <a:rPr lang="en-US" altLang="zh-CN" sz="1800" dirty="0" smtClean="0"/>
              <a:t>0.3</a:t>
            </a:r>
            <a:r>
              <a:rPr lang="zh-CN" altLang="en-US" sz="1800" dirty="0" smtClean="0"/>
              <a:t>，</a:t>
            </a:r>
            <a:r>
              <a:rPr lang="zh-CN" altLang="zh-CN" sz="1800" dirty="0" smtClean="0"/>
              <a:t>在</a:t>
            </a:r>
            <a:r>
              <a:rPr lang="zh-CN" altLang="zh-CN" sz="1800" dirty="0"/>
              <a:t>本题目</a:t>
            </a:r>
            <a:r>
              <a:rPr lang="zh-CN" altLang="zh-CN" sz="1800" dirty="0" smtClean="0"/>
              <a:t>中</a:t>
            </a:r>
            <a:r>
              <a:rPr lang="en-US" altLang="zh-CN" sz="1800" i="1" dirty="0" smtClean="0"/>
              <a:t>m</a:t>
            </a:r>
            <a:r>
              <a:rPr lang="en-US" altLang="zh-CN" sz="1800" i="1" baseline="-25000" dirty="0" smtClean="0"/>
              <a:t>a</a:t>
            </a:r>
            <a:r>
              <a:rPr lang="en-US" altLang="zh-CN" sz="1800" dirty="0" smtClean="0"/>
              <a:t> </a:t>
            </a:r>
            <a:r>
              <a:rPr lang="en-US" altLang="zh-CN" sz="1800" dirty="0"/>
              <a:t>=</a:t>
            </a:r>
            <a:r>
              <a:rPr lang="en-US" altLang="zh-CN" sz="1800" dirty="0" smtClean="0"/>
              <a:t>0.3~1</a:t>
            </a:r>
            <a:r>
              <a:rPr lang="zh-CN" altLang="en-US" sz="1800" dirty="0" smtClean="0"/>
              <a:t>。</a:t>
            </a:r>
            <a:endParaRPr lang="en-US" altLang="zh-CN" sz="1800" dirty="0" smtClean="0"/>
          </a:p>
          <a:p>
            <a:pPr indent="457200">
              <a:lnSpc>
                <a:spcPct val="200000"/>
              </a:lnSpc>
            </a:pPr>
            <a:r>
              <a:rPr lang="zh-CN" altLang="en-US" sz="1800" dirty="0" smtClean="0"/>
              <a:t>设</a:t>
            </a:r>
            <a:r>
              <a:rPr lang="en-US" altLang="zh-CN" sz="1800" dirty="0" smtClean="0"/>
              <a:t>AM</a:t>
            </a:r>
            <a:r>
              <a:rPr lang="zh-CN" altLang="en-US" sz="1800" dirty="0" smtClean="0"/>
              <a:t>信号的最大幅度为</a:t>
            </a:r>
            <a:r>
              <a:rPr lang="en-US" altLang="zh-CN" sz="1800" dirty="0" err="1" smtClean="0"/>
              <a:t>V</a:t>
            </a:r>
            <a:r>
              <a:rPr lang="en-US" altLang="zh-CN" sz="1800" baseline="-25000" dirty="0" err="1" smtClean="0"/>
              <a:t>max</a:t>
            </a:r>
            <a:r>
              <a:rPr lang="zh-CN" altLang="en-US" sz="1800" dirty="0" smtClean="0"/>
              <a:t>，最小幅度为</a:t>
            </a:r>
            <a:r>
              <a:rPr lang="en-US" altLang="zh-CN" sz="1800" dirty="0" err="1" smtClean="0"/>
              <a:t>V</a:t>
            </a:r>
            <a:r>
              <a:rPr lang="en-US" altLang="zh-CN" sz="1800" baseline="-25000" dirty="0" err="1"/>
              <a:t>min</a:t>
            </a:r>
            <a:r>
              <a:rPr lang="zh-CN" altLang="en-US" sz="1800" dirty="0" smtClean="0"/>
              <a:t>，则有</a:t>
            </a:r>
            <a:r>
              <a:rPr lang="en-US" altLang="zh-CN" sz="1800" i="1" dirty="0" smtClean="0"/>
              <a:t>m</a:t>
            </a:r>
            <a:r>
              <a:rPr lang="en-US" altLang="zh-CN" sz="1800" i="1" baseline="-25000" dirty="0"/>
              <a:t>a</a:t>
            </a:r>
            <a:r>
              <a:rPr lang="en-US" altLang="zh-CN" sz="1800" dirty="0" smtClean="0"/>
              <a:t>=(</a:t>
            </a:r>
            <a:r>
              <a:rPr lang="en-US" altLang="zh-CN" sz="1800" dirty="0" err="1" smtClean="0"/>
              <a:t>V</a:t>
            </a:r>
            <a:r>
              <a:rPr lang="en-US" altLang="zh-CN" sz="1800" baseline="-25000" dirty="0" err="1"/>
              <a:t>max</a:t>
            </a:r>
            <a:r>
              <a:rPr lang="en-US" altLang="zh-CN" sz="1800" dirty="0" err="1" smtClean="0"/>
              <a:t>-V</a:t>
            </a:r>
            <a:r>
              <a:rPr lang="en-US" altLang="zh-CN" sz="1800" baseline="-25000" dirty="0" err="1"/>
              <a:t>min</a:t>
            </a:r>
            <a:r>
              <a:rPr lang="en-US" altLang="zh-CN" sz="1800" dirty="0" smtClean="0"/>
              <a:t>)/(</a:t>
            </a:r>
            <a:r>
              <a:rPr lang="en-US" altLang="zh-CN" sz="1800" dirty="0" err="1" smtClean="0"/>
              <a:t>V</a:t>
            </a:r>
            <a:r>
              <a:rPr lang="en-US" altLang="zh-CN" sz="1800" baseline="-25000" dirty="0" err="1"/>
              <a:t>max</a:t>
            </a:r>
            <a:r>
              <a:rPr lang="en-US" altLang="zh-CN" sz="1800" dirty="0" err="1" smtClean="0"/>
              <a:t>+V</a:t>
            </a:r>
            <a:r>
              <a:rPr lang="en-US" altLang="zh-CN" sz="1800" baseline="-25000" dirty="0" err="1"/>
              <a:t>min</a:t>
            </a:r>
            <a:r>
              <a:rPr lang="en-US" altLang="zh-CN" sz="1800" dirty="0" smtClean="0"/>
              <a:t>)</a:t>
            </a:r>
            <a:endParaRPr lang="zh-CN" altLang="en-US" sz="1600" dirty="0"/>
          </a:p>
        </p:txBody>
      </p:sp>
      <p:graphicFrame>
        <p:nvGraphicFramePr>
          <p:cNvPr id="7" name="对象 6"/>
          <p:cNvGraphicFramePr>
            <a:graphicFrameLocks noChangeAspect="1"/>
          </p:cNvGraphicFramePr>
          <p:nvPr>
            <p:extLst>
              <p:ext uri="{D42A27DB-BD31-4B8C-83A1-F6EECF244321}">
                <p14:modId xmlns:p14="http://schemas.microsoft.com/office/powerpoint/2010/main" val="2427240838"/>
              </p:ext>
            </p:extLst>
          </p:nvPr>
        </p:nvGraphicFramePr>
        <p:xfrm>
          <a:off x="7068460" y="1788886"/>
          <a:ext cx="4413781" cy="3191305"/>
        </p:xfrm>
        <a:graphic>
          <a:graphicData uri="http://schemas.openxmlformats.org/presentationml/2006/ole">
            <mc:AlternateContent xmlns:mc="http://schemas.openxmlformats.org/markup-compatibility/2006">
              <mc:Choice xmlns:v="urn:schemas-microsoft-com:vml" Requires="v">
                <p:oleObj spid="_x0000_s2354" name="Visio" r:id="rId3" imgW="2331360" imgH="1692720" progId="Visio.Drawing.11">
                  <p:embed/>
                </p:oleObj>
              </mc:Choice>
              <mc:Fallback>
                <p:oleObj name="Visio" r:id="rId3" imgW="2331360" imgH="1692720"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8460" y="1788886"/>
                        <a:ext cx="4413781" cy="3191305"/>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700552964"/>
              </p:ext>
            </p:extLst>
          </p:nvPr>
        </p:nvGraphicFramePr>
        <p:xfrm>
          <a:off x="1712685" y="2117088"/>
          <a:ext cx="1687892" cy="409186"/>
        </p:xfrm>
        <a:graphic>
          <a:graphicData uri="http://schemas.openxmlformats.org/presentationml/2006/ole">
            <mc:AlternateContent xmlns:mc="http://schemas.openxmlformats.org/markup-compatibility/2006">
              <mc:Choice xmlns:v="urn:schemas-microsoft-com:vml" Requires="v">
                <p:oleObj spid="_x0000_s2355" name="Equation" r:id="rId5" imgW="837836" imgH="203112" progId="Equation.DSMT4">
                  <p:embed/>
                </p:oleObj>
              </mc:Choice>
              <mc:Fallback>
                <p:oleObj name="Equation" r:id="rId5" imgW="837836" imgH="203112"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12685" y="2117088"/>
                        <a:ext cx="1687892" cy="409186"/>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691946732"/>
              </p:ext>
            </p:extLst>
          </p:nvPr>
        </p:nvGraphicFramePr>
        <p:xfrm>
          <a:off x="2302331" y="2663372"/>
          <a:ext cx="1706332" cy="413656"/>
        </p:xfrm>
        <a:graphic>
          <a:graphicData uri="http://schemas.openxmlformats.org/presentationml/2006/ole">
            <mc:AlternateContent xmlns:mc="http://schemas.openxmlformats.org/markup-compatibility/2006">
              <mc:Choice xmlns:v="urn:schemas-microsoft-com:vml" Requires="v">
                <p:oleObj spid="_x0000_s2356" name="Equation" r:id="rId7" imgW="837836" imgH="203112" progId="Equation.DSMT4">
                  <p:embed/>
                </p:oleObj>
              </mc:Choice>
              <mc:Fallback>
                <p:oleObj name="Equation" r:id="rId7" imgW="837836" imgH="203112" progId="Equation.DSMT4">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02331" y="2663372"/>
                        <a:ext cx="1706332" cy="413656"/>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99924849"/>
              </p:ext>
            </p:extLst>
          </p:nvPr>
        </p:nvGraphicFramePr>
        <p:xfrm>
          <a:off x="2046515" y="3214126"/>
          <a:ext cx="3649440" cy="435754"/>
        </p:xfrm>
        <a:graphic>
          <a:graphicData uri="http://schemas.openxmlformats.org/presentationml/2006/ole">
            <mc:AlternateContent xmlns:mc="http://schemas.openxmlformats.org/markup-compatibility/2006">
              <mc:Choice xmlns:v="urn:schemas-microsoft-com:vml" Requires="v">
                <p:oleObj spid="_x0000_s2357" name="Equation" r:id="rId9" imgW="1701800" imgH="203200" progId="Equation.DSMT4">
                  <p:embed/>
                </p:oleObj>
              </mc:Choice>
              <mc:Fallback>
                <p:oleObj name="Equation" r:id="rId9" imgW="1701800" imgH="203200" progId="Equation.DSMT4">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46515" y="3214126"/>
                        <a:ext cx="3649440" cy="435754"/>
                      </a:xfrm>
                      <a:prstGeom prst="rect">
                        <a:avLst/>
                      </a:prstGeom>
                      <a:noFill/>
                    </p:spPr>
                  </p:pic>
                </p:oleObj>
              </mc:Fallback>
            </mc:AlternateContent>
          </a:graphicData>
        </a:graphic>
      </p:graphicFrame>
      <p:sp>
        <p:nvSpPr>
          <p:cNvPr id="6" name="文本框 5"/>
          <p:cNvSpPr txBox="1"/>
          <p:nvPr/>
        </p:nvSpPr>
        <p:spPr>
          <a:xfrm>
            <a:off x="333829" y="396392"/>
            <a:ext cx="11487756" cy="523220"/>
          </a:xfrm>
          <a:prstGeom prst="rect">
            <a:avLst/>
          </a:prstGeom>
          <a:noFill/>
        </p:spPr>
        <p:txBody>
          <a:bodyPr wrap="square" rtlCol="0">
            <a:spAutoFit/>
          </a:bodyPr>
          <a:lstStyle/>
          <a:p>
            <a:pPr algn="ctr"/>
            <a:r>
              <a:rPr lang="zh-CN" altLang="en-US" sz="2800" dirty="0" smtClean="0">
                <a:solidFill>
                  <a:srgbClr val="FF0000"/>
                </a:solidFill>
                <a:latin typeface="隶书" panose="02010509060101010101" pitchFamily="49" charset="-122"/>
                <a:ea typeface="隶书" panose="02010509060101010101" pitchFamily="49" charset="-122"/>
              </a:rPr>
              <a:t>各种调制方式与解调电路简介</a:t>
            </a:r>
            <a:endParaRPr lang="zh-CN" altLang="en-US" sz="2800" dirty="0">
              <a:solidFill>
                <a:srgbClr val="FF0000"/>
              </a:solidFill>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22439123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8</a:t>
            </a:fld>
            <a:endParaRPr lang="en-US" altLang="zh-CN">
              <a:solidFill>
                <a:srgbClr val="FFFFFF"/>
              </a:solidFill>
            </a:endParaRPr>
          </a:p>
        </p:txBody>
      </p:sp>
      <p:sp>
        <p:nvSpPr>
          <p:cNvPr id="5" name="矩形 4"/>
          <p:cNvSpPr/>
          <p:nvPr/>
        </p:nvSpPr>
        <p:spPr>
          <a:xfrm>
            <a:off x="399143" y="425056"/>
            <a:ext cx="11205027" cy="2031325"/>
          </a:xfrm>
          <a:prstGeom prst="rect">
            <a:avLst/>
          </a:prstGeom>
        </p:spPr>
        <p:txBody>
          <a:bodyPr wrap="square">
            <a:spAutoFit/>
          </a:bodyPr>
          <a:lstStyle/>
          <a:p>
            <a:pPr marL="285750" indent="-285750">
              <a:lnSpc>
                <a:spcPct val="200000"/>
              </a:lnSpc>
              <a:buFont typeface="Arial" panose="020B0604020202020204" pitchFamily="34" charset="0"/>
              <a:buChar char="•"/>
            </a:pPr>
            <a:r>
              <a:rPr lang="en-US" altLang="zh-CN" sz="1800" dirty="0" smtClean="0"/>
              <a:t>ASK</a:t>
            </a:r>
            <a:r>
              <a:rPr lang="zh-CN" altLang="en-US" sz="1800" dirty="0" smtClean="0">
                <a:latin typeface="黑体" panose="02010609060101010101" pitchFamily="49" charset="-122"/>
                <a:ea typeface="黑体" panose="02010609060101010101" pitchFamily="49" charset="-122"/>
              </a:rPr>
              <a:t>信号</a:t>
            </a:r>
            <a:endParaRPr lang="en-US" altLang="zh-CN" sz="1800" dirty="0" smtClean="0">
              <a:latin typeface="黑体" panose="02010609060101010101" pitchFamily="49" charset="-122"/>
              <a:ea typeface="黑体" panose="02010609060101010101" pitchFamily="49" charset="-122"/>
            </a:endParaRPr>
          </a:p>
          <a:p>
            <a:pPr indent="457200">
              <a:lnSpc>
                <a:spcPct val="200000"/>
              </a:lnSpc>
            </a:pPr>
            <a:endParaRPr lang="en-US" altLang="zh-CN" sz="1800" dirty="0" smtClean="0"/>
          </a:p>
          <a:p>
            <a:pPr indent="457200">
              <a:lnSpc>
                <a:spcPct val="150000"/>
              </a:lnSpc>
            </a:pPr>
            <a:r>
              <a:rPr lang="zh-CN" altLang="en-US" sz="1800" dirty="0" smtClean="0"/>
              <a:t>其中</a:t>
            </a:r>
            <a:r>
              <a:rPr lang="en-US" altLang="zh-CN" sz="1800" i="1" dirty="0" smtClean="0"/>
              <a:t>a</a:t>
            </a:r>
            <a:r>
              <a:rPr lang="en-US" altLang="zh-CN" sz="1800" dirty="0" smtClean="0"/>
              <a:t>(</a:t>
            </a:r>
            <a:r>
              <a:rPr lang="en-US" altLang="zh-CN" sz="1800" i="1" dirty="0" smtClean="0"/>
              <a:t>t</a:t>
            </a:r>
            <a:r>
              <a:rPr lang="en-US" altLang="zh-CN" sz="1800" dirty="0" smtClean="0"/>
              <a:t>)</a:t>
            </a:r>
            <a:r>
              <a:rPr lang="zh-CN" altLang="en-US" sz="1800" dirty="0" smtClean="0"/>
              <a:t>是数字基带信号。</a:t>
            </a:r>
            <a:endParaRPr lang="en-US" altLang="zh-CN" sz="1800" dirty="0" smtClean="0"/>
          </a:p>
          <a:p>
            <a:pPr indent="457200">
              <a:lnSpc>
                <a:spcPct val="150000"/>
              </a:lnSpc>
            </a:pPr>
            <a:r>
              <a:rPr lang="zh-CN" altLang="en-US" sz="1800" dirty="0" smtClean="0"/>
              <a:t>通常当数字基带为二进制信号时称为</a:t>
            </a:r>
            <a:r>
              <a:rPr lang="en-US" altLang="zh-CN" sz="1800" dirty="0" smtClean="0"/>
              <a:t>OOK</a:t>
            </a:r>
            <a:r>
              <a:rPr lang="zh-CN" altLang="en-US" sz="1800" dirty="0" smtClean="0"/>
              <a:t>（</a:t>
            </a:r>
            <a:r>
              <a:rPr lang="en-US" altLang="zh-CN" sz="1800" dirty="0" smtClean="0"/>
              <a:t>On-Off Keying</a:t>
            </a:r>
            <a:r>
              <a:rPr lang="zh-CN" altLang="en-US" sz="1800" dirty="0" smtClean="0"/>
              <a:t>）调制</a:t>
            </a:r>
            <a:endParaRPr lang="zh-CN" altLang="en-US" sz="1600" dirty="0"/>
          </a:p>
        </p:txBody>
      </p:sp>
      <p:graphicFrame>
        <p:nvGraphicFramePr>
          <p:cNvPr id="8" name="对象 7"/>
          <p:cNvGraphicFramePr>
            <a:graphicFrameLocks noChangeAspect="1"/>
          </p:cNvGraphicFramePr>
          <p:nvPr>
            <p:extLst>
              <p:ext uri="{D42A27DB-BD31-4B8C-83A1-F6EECF244321}">
                <p14:modId xmlns:p14="http://schemas.microsoft.com/office/powerpoint/2010/main" val="1942539298"/>
              </p:ext>
            </p:extLst>
          </p:nvPr>
        </p:nvGraphicFramePr>
        <p:xfrm>
          <a:off x="2503714" y="2753200"/>
          <a:ext cx="6801373" cy="2319543"/>
        </p:xfrm>
        <a:graphic>
          <a:graphicData uri="http://schemas.openxmlformats.org/presentationml/2006/ole">
            <mc:AlternateContent xmlns:mc="http://schemas.openxmlformats.org/markup-compatibility/2006">
              <mc:Choice xmlns:v="urn:schemas-microsoft-com:vml" Requires="v">
                <p:oleObj spid="_x0000_s12429" name="Visio" r:id="rId3" imgW="3292919" imgH="1126247" progId="Visio.Drawing.11">
                  <p:embed/>
                </p:oleObj>
              </mc:Choice>
              <mc:Fallback>
                <p:oleObj name="Visio" r:id="rId3" imgW="3292919" imgH="112624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3714" y="2753200"/>
                        <a:ext cx="6801373" cy="2319543"/>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523697853"/>
              </p:ext>
            </p:extLst>
          </p:nvPr>
        </p:nvGraphicFramePr>
        <p:xfrm>
          <a:off x="900566" y="1073599"/>
          <a:ext cx="2292501" cy="411957"/>
        </p:xfrm>
        <a:graphic>
          <a:graphicData uri="http://schemas.openxmlformats.org/presentationml/2006/ole">
            <mc:AlternateContent xmlns:mc="http://schemas.openxmlformats.org/markup-compatibility/2006">
              <mc:Choice xmlns:v="urn:schemas-microsoft-com:vml" Requires="v">
                <p:oleObj spid="_x0000_s12430" name="Equation" r:id="rId5" imgW="1130040" imgH="203040" progId="Equation.DSMT4">
                  <p:embed/>
                </p:oleObj>
              </mc:Choice>
              <mc:Fallback>
                <p:oleObj name="Equation" r:id="rId5" imgW="1130040" imgH="203040" progId="Equation.DSMT4">
                  <p:embed/>
                  <p:pic>
                    <p:nvPicPr>
                      <p:cNvPr id="0" name="Object 3"/>
                      <p:cNvPicPr>
                        <a:picLocks noChangeAspect="1" noChangeArrowheads="1"/>
                      </p:cNvPicPr>
                      <p:nvPr/>
                    </p:nvPicPr>
                    <p:blipFill>
                      <a:blip r:embed="rId6"/>
                      <a:srcRect/>
                      <a:stretch>
                        <a:fillRect/>
                      </a:stretch>
                    </p:blipFill>
                    <p:spPr bwMode="auto">
                      <a:xfrm>
                        <a:off x="900566" y="1073599"/>
                        <a:ext cx="2292501" cy="411957"/>
                      </a:xfrm>
                      <a:prstGeom prst="rect">
                        <a:avLst/>
                      </a:prstGeom>
                      <a:noFill/>
                    </p:spPr>
                  </p:pic>
                </p:oleObj>
              </mc:Fallback>
            </mc:AlternateContent>
          </a:graphicData>
        </a:graphic>
      </p:graphicFrame>
      <p:sp>
        <p:nvSpPr>
          <p:cNvPr id="11" name="文本框 10"/>
          <p:cNvSpPr txBox="1"/>
          <p:nvPr/>
        </p:nvSpPr>
        <p:spPr>
          <a:xfrm>
            <a:off x="900566" y="5244686"/>
            <a:ext cx="8519205" cy="369332"/>
          </a:xfrm>
          <a:prstGeom prst="rect">
            <a:avLst/>
          </a:prstGeom>
          <a:noFill/>
        </p:spPr>
        <p:txBody>
          <a:bodyPr wrap="square" rtlCol="0">
            <a:spAutoFit/>
          </a:bodyPr>
          <a:lstStyle/>
          <a:p>
            <a:r>
              <a:rPr lang="zh-CN" altLang="en-US" sz="1800" dirty="0" smtClean="0"/>
              <a:t>显然，若将基带信号看作</a:t>
            </a:r>
            <a:r>
              <a:rPr lang="zh-CN" altLang="en-US" sz="1800" dirty="0"/>
              <a:t>矩形波</a:t>
            </a:r>
            <a:r>
              <a:rPr lang="zh-CN" altLang="en-US" sz="1800" dirty="0" smtClean="0"/>
              <a:t>调制信号，则它与</a:t>
            </a:r>
            <a:r>
              <a:rPr lang="en-US" altLang="zh-CN" sz="1800" dirty="0" smtClean="0"/>
              <a:t>AM</a:t>
            </a:r>
            <a:r>
              <a:rPr lang="zh-CN" altLang="en-US" sz="1800" dirty="0" smtClean="0"/>
              <a:t>调制是一回事</a:t>
            </a:r>
            <a:endParaRPr lang="zh-CN" altLang="en-US" sz="1800" dirty="0"/>
          </a:p>
        </p:txBody>
      </p:sp>
    </p:spTree>
    <p:extLst>
      <p:ext uri="{BB962C8B-B14F-4D97-AF65-F5344CB8AC3E}">
        <p14:creationId xmlns:p14="http://schemas.microsoft.com/office/powerpoint/2010/main" val="770918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9</a:t>
            </a:fld>
            <a:endParaRPr lang="en-US" altLang="zh-CN">
              <a:solidFill>
                <a:srgbClr val="FFFFFF"/>
              </a:solidFill>
            </a:endParaRPr>
          </a:p>
        </p:txBody>
      </p:sp>
      <p:sp>
        <p:nvSpPr>
          <p:cNvPr id="5" name="文本框 4"/>
          <p:cNvSpPr txBox="1"/>
          <p:nvPr/>
        </p:nvSpPr>
        <p:spPr>
          <a:xfrm>
            <a:off x="399143" y="449942"/>
            <a:ext cx="11205028" cy="138499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smtClean="0"/>
              <a:t>常用的</a:t>
            </a:r>
            <a:r>
              <a:rPr lang="en-US" altLang="zh-CN" dirty="0" smtClean="0"/>
              <a:t>AM</a:t>
            </a:r>
            <a:r>
              <a:rPr lang="zh-CN" altLang="en-US" dirty="0" smtClean="0"/>
              <a:t>解调电路</a:t>
            </a:r>
            <a:endParaRPr lang="en-US" altLang="zh-CN" dirty="0" smtClean="0"/>
          </a:p>
          <a:p>
            <a:pPr>
              <a:lnSpc>
                <a:spcPct val="150000"/>
              </a:lnSpc>
            </a:pPr>
            <a:r>
              <a:rPr lang="zh-CN" altLang="zh-CN" sz="1800" dirty="0"/>
              <a:t>大致可分为利用</a:t>
            </a:r>
            <a:r>
              <a:rPr lang="en-US" altLang="zh-CN" sz="1800" dirty="0" err="1"/>
              <a:t>pn</a:t>
            </a:r>
            <a:r>
              <a:rPr lang="zh-CN" altLang="zh-CN" sz="1800" dirty="0"/>
              <a:t>结的非线性进行解调、以及采用乘法器进行解调等几种</a:t>
            </a:r>
            <a:r>
              <a:rPr lang="zh-CN" altLang="zh-CN" sz="1800" dirty="0" smtClean="0"/>
              <a:t>电路</a:t>
            </a:r>
            <a:endParaRPr lang="en-US" altLang="zh-CN" sz="1800" dirty="0" smtClean="0"/>
          </a:p>
          <a:p>
            <a:pPr>
              <a:lnSpc>
                <a:spcPct val="150000"/>
              </a:lnSpc>
            </a:pPr>
            <a:r>
              <a:rPr lang="en-US" altLang="zh-CN" sz="1800" dirty="0" smtClean="0"/>
              <a:t>1</a:t>
            </a:r>
            <a:r>
              <a:rPr lang="zh-CN" altLang="en-US" sz="1800" dirty="0" smtClean="0"/>
              <a:t>、二极管大信号峰值包络检波</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2416623460"/>
              </p:ext>
            </p:extLst>
          </p:nvPr>
        </p:nvGraphicFramePr>
        <p:xfrm>
          <a:off x="1300788" y="1965566"/>
          <a:ext cx="4336857" cy="1226458"/>
        </p:xfrm>
        <a:graphic>
          <a:graphicData uri="http://schemas.openxmlformats.org/presentationml/2006/ole">
            <mc:AlternateContent xmlns:mc="http://schemas.openxmlformats.org/markup-compatibility/2006">
              <mc:Choice xmlns:v="urn:schemas-microsoft-com:vml" Requires="v">
                <p:oleObj spid="_x0000_s3219" name="Visio" r:id="rId3" imgW="2184366" imgH="615944" progId="Visio.Drawing.15">
                  <p:embed/>
                </p:oleObj>
              </mc:Choice>
              <mc:Fallback>
                <p:oleObj name="Visio" r:id="rId3" imgW="2184366" imgH="615944"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0788" y="1965566"/>
                        <a:ext cx="4336857" cy="1226458"/>
                      </a:xfrm>
                      <a:prstGeom prst="rect">
                        <a:avLst/>
                      </a:prstGeom>
                      <a:noFill/>
                    </p:spPr>
                  </p:pic>
                </p:oleObj>
              </mc:Fallback>
            </mc:AlternateContent>
          </a:graphicData>
        </a:graphic>
      </p:graphicFrame>
      <p:sp>
        <p:nvSpPr>
          <p:cNvPr id="8" name="文本框 7"/>
          <p:cNvSpPr txBox="1"/>
          <p:nvPr/>
        </p:nvSpPr>
        <p:spPr>
          <a:xfrm>
            <a:off x="399143" y="3192024"/>
            <a:ext cx="5029200" cy="2585323"/>
          </a:xfrm>
          <a:prstGeom prst="rect">
            <a:avLst/>
          </a:prstGeom>
          <a:noFill/>
        </p:spPr>
        <p:txBody>
          <a:bodyPr wrap="square" rtlCol="0">
            <a:spAutoFit/>
          </a:bodyPr>
          <a:lstStyle/>
          <a:p>
            <a:pPr>
              <a:lnSpc>
                <a:spcPct val="150000"/>
              </a:lnSpc>
            </a:pPr>
            <a:r>
              <a:rPr lang="zh-CN" altLang="zh-CN" sz="1800" dirty="0" smtClean="0"/>
              <a:t>电路分析省略</a:t>
            </a:r>
            <a:endParaRPr lang="en-US" altLang="zh-CN" sz="1800" dirty="0" smtClean="0"/>
          </a:p>
          <a:p>
            <a:pPr>
              <a:lnSpc>
                <a:spcPct val="150000"/>
              </a:lnSpc>
            </a:pPr>
            <a:r>
              <a:rPr lang="zh-CN" altLang="zh-CN" sz="1800" dirty="0" smtClean="0"/>
              <a:t>存在</a:t>
            </a:r>
            <a:r>
              <a:rPr lang="zh-CN" altLang="en-US" sz="1800" dirty="0" smtClean="0"/>
              <a:t>的</a:t>
            </a:r>
            <a:r>
              <a:rPr lang="zh-CN" altLang="zh-CN" sz="1800" dirty="0" smtClean="0"/>
              <a:t>问题</a:t>
            </a:r>
            <a:r>
              <a:rPr lang="zh-CN" altLang="zh-CN" sz="1800" dirty="0"/>
              <a:t>：当调幅度</a:t>
            </a:r>
            <a:r>
              <a:rPr lang="en-US" altLang="zh-CN" sz="1800" i="1" dirty="0"/>
              <a:t>m</a:t>
            </a:r>
            <a:r>
              <a:rPr lang="en-US" altLang="zh-CN" sz="1800" i="1" baseline="-25000" dirty="0"/>
              <a:t>a</a:t>
            </a:r>
            <a:r>
              <a:rPr lang="en-US" altLang="zh-CN" sz="1800" dirty="0"/>
              <a:t> =1</a:t>
            </a:r>
            <a:r>
              <a:rPr lang="zh-CN" altLang="zh-CN" sz="1800" dirty="0"/>
              <a:t>时，每个调制信号周期中会出现已调波幅度很小的情况，由于此时幅度不能达到二极管的导通阈值，所以解调后的信号将出现很大的单向削顶</a:t>
            </a:r>
            <a:r>
              <a:rPr lang="zh-CN" altLang="zh-CN" sz="1800" dirty="0" smtClean="0"/>
              <a:t>失真</a:t>
            </a:r>
            <a:endParaRPr lang="en-US" altLang="zh-CN" sz="1800" dirty="0" smtClean="0"/>
          </a:p>
          <a:p>
            <a:pPr>
              <a:lnSpc>
                <a:spcPct val="150000"/>
              </a:lnSpc>
            </a:pPr>
            <a:r>
              <a:rPr lang="zh-CN" altLang="en-US" sz="1800" dirty="0" smtClean="0"/>
              <a:t>（</a:t>
            </a:r>
            <a:r>
              <a:rPr lang="en-US" altLang="zh-CN" sz="1800" dirty="0" smtClean="0"/>
              <a:t>AM</a:t>
            </a:r>
            <a:r>
              <a:rPr lang="zh-CN" altLang="en-US" sz="1800" dirty="0" smtClean="0"/>
              <a:t>广播中</a:t>
            </a:r>
            <a:r>
              <a:rPr lang="en-US" altLang="zh-CN" sz="1800" i="1" dirty="0" smtClean="0"/>
              <a:t>m</a:t>
            </a:r>
            <a:r>
              <a:rPr lang="en-US" altLang="zh-CN" sz="1800" i="1" baseline="-25000" dirty="0" smtClean="0"/>
              <a:t>a</a:t>
            </a:r>
            <a:r>
              <a:rPr lang="zh-CN" altLang="en-US" sz="1800" dirty="0" smtClean="0"/>
              <a:t>在</a:t>
            </a:r>
            <a:r>
              <a:rPr lang="en-US" altLang="zh-CN" sz="1800" dirty="0" smtClean="0"/>
              <a:t>0.3</a:t>
            </a:r>
            <a:r>
              <a:rPr lang="zh-CN" altLang="en-US" sz="1800" dirty="0" smtClean="0"/>
              <a:t>左右，不会出现上述问题）</a:t>
            </a:r>
            <a:endParaRPr lang="zh-CN" altLang="en-US" sz="1800" dirty="0"/>
          </a:p>
        </p:txBody>
      </p:sp>
      <p:graphicFrame>
        <p:nvGraphicFramePr>
          <p:cNvPr id="10" name="对象 9"/>
          <p:cNvGraphicFramePr>
            <a:graphicFrameLocks noChangeAspect="1"/>
          </p:cNvGraphicFramePr>
          <p:nvPr>
            <p:extLst>
              <p:ext uri="{D42A27DB-BD31-4B8C-83A1-F6EECF244321}">
                <p14:modId xmlns:p14="http://schemas.microsoft.com/office/powerpoint/2010/main" val="34579685"/>
              </p:ext>
            </p:extLst>
          </p:nvPr>
        </p:nvGraphicFramePr>
        <p:xfrm>
          <a:off x="5815582" y="2944101"/>
          <a:ext cx="5792521" cy="2417748"/>
        </p:xfrm>
        <a:graphic>
          <a:graphicData uri="http://schemas.openxmlformats.org/presentationml/2006/ole">
            <mc:AlternateContent xmlns:mc="http://schemas.openxmlformats.org/markup-compatibility/2006">
              <mc:Choice xmlns:v="urn:schemas-microsoft-com:vml" Requires="v">
                <p:oleObj spid="_x0000_s3220" name="Visio" r:id="rId5" imgW="2920674" imgH="1218891" progId="Visio.Drawing.15">
                  <p:embed/>
                </p:oleObj>
              </mc:Choice>
              <mc:Fallback>
                <p:oleObj name="Visio" r:id="rId5" imgW="2920674" imgH="1218891" progId="Visio.Drawing.15">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5582" y="2944101"/>
                        <a:ext cx="5792521" cy="2417748"/>
                      </a:xfrm>
                      <a:prstGeom prst="rect">
                        <a:avLst/>
                      </a:prstGeom>
                      <a:noFill/>
                    </p:spPr>
                  </p:pic>
                </p:oleObj>
              </mc:Fallback>
            </mc:AlternateContent>
          </a:graphicData>
        </a:graphic>
      </p:graphicFrame>
    </p:spTree>
    <p:extLst>
      <p:ext uri="{BB962C8B-B14F-4D97-AF65-F5344CB8AC3E}">
        <p14:creationId xmlns:p14="http://schemas.microsoft.com/office/powerpoint/2010/main" val="3018729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10</a:t>
            </a:fld>
            <a:endParaRPr lang="en-US" altLang="zh-CN">
              <a:solidFill>
                <a:srgbClr val="FFFFFF"/>
              </a:solidFill>
            </a:endParaRPr>
          </a:p>
        </p:txBody>
      </p:sp>
      <p:sp>
        <p:nvSpPr>
          <p:cNvPr id="5" name="文本框 4"/>
          <p:cNvSpPr txBox="1"/>
          <p:nvPr/>
        </p:nvSpPr>
        <p:spPr>
          <a:xfrm>
            <a:off x="428171" y="464457"/>
            <a:ext cx="6052457" cy="923330"/>
          </a:xfrm>
          <a:prstGeom prst="rect">
            <a:avLst/>
          </a:prstGeom>
          <a:noFill/>
        </p:spPr>
        <p:txBody>
          <a:bodyPr wrap="square" rtlCol="0">
            <a:spAutoFit/>
          </a:bodyPr>
          <a:lstStyle/>
          <a:p>
            <a:pPr>
              <a:lnSpc>
                <a:spcPct val="150000"/>
              </a:lnSpc>
            </a:pPr>
            <a:r>
              <a:rPr lang="en-US" altLang="zh-CN" sz="1800" dirty="0" smtClean="0"/>
              <a:t>2</a:t>
            </a:r>
            <a:r>
              <a:rPr lang="zh-CN" altLang="en-US" sz="1800" dirty="0" smtClean="0"/>
              <a:t>、晶体管检波</a:t>
            </a:r>
            <a:endParaRPr lang="en-US" altLang="zh-CN" sz="1800" dirty="0" smtClean="0"/>
          </a:p>
          <a:p>
            <a:pPr>
              <a:lnSpc>
                <a:spcPct val="150000"/>
              </a:lnSpc>
            </a:pPr>
            <a:r>
              <a:rPr lang="zh-CN" altLang="zh-CN" sz="1800" dirty="0"/>
              <a:t>给三极管增加了固定偏置，可以解决导通阈值的问题</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2220392981"/>
              </p:ext>
            </p:extLst>
          </p:nvPr>
        </p:nvGraphicFramePr>
        <p:xfrm>
          <a:off x="1429959" y="1433953"/>
          <a:ext cx="3619054" cy="2045999"/>
        </p:xfrm>
        <a:graphic>
          <a:graphicData uri="http://schemas.openxmlformats.org/presentationml/2006/ole">
            <mc:AlternateContent xmlns:mc="http://schemas.openxmlformats.org/markup-compatibility/2006">
              <mc:Choice xmlns:v="urn:schemas-microsoft-com:vml" Requires="v">
                <p:oleObj spid="_x0000_s4244" name="Visio" r:id="rId3" imgW="2234874" imgH="1256952" progId="Visio.Drawing.15">
                  <p:embed/>
                </p:oleObj>
              </mc:Choice>
              <mc:Fallback>
                <p:oleObj name="Visio" r:id="rId3" imgW="2234874" imgH="1256952"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9959" y="1433953"/>
                        <a:ext cx="3619054" cy="2045999"/>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295288138"/>
              </p:ext>
            </p:extLst>
          </p:nvPr>
        </p:nvGraphicFramePr>
        <p:xfrm>
          <a:off x="6605361" y="1498647"/>
          <a:ext cx="4846411" cy="4618218"/>
        </p:xfrm>
        <a:graphic>
          <a:graphicData uri="http://schemas.openxmlformats.org/presentationml/2006/ole">
            <mc:AlternateContent xmlns:mc="http://schemas.openxmlformats.org/markup-compatibility/2006">
              <mc:Choice xmlns:v="urn:schemas-microsoft-com:vml" Requires="v">
                <p:oleObj spid="_x0000_s4245" name="Visio" r:id="rId5" imgW="2831705" imgH="2698640" progId="Visio.Drawing.15">
                  <p:embed/>
                </p:oleObj>
              </mc:Choice>
              <mc:Fallback>
                <p:oleObj name="Visio" r:id="rId5" imgW="2831705" imgH="2698640" progId="Visio.Drawing.15">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5361" y="1498647"/>
                        <a:ext cx="4846411" cy="4618218"/>
                      </a:xfrm>
                      <a:prstGeom prst="rect">
                        <a:avLst/>
                      </a:prstGeom>
                      <a:noFill/>
                    </p:spPr>
                  </p:pic>
                </p:oleObj>
              </mc:Fallback>
            </mc:AlternateContent>
          </a:graphicData>
        </a:graphic>
      </p:graphicFrame>
      <p:sp>
        <p:nvSpPr>
          <p:cNvPr id="10" name="文本框 9"/>
          <p:cNvSpPr txBox="1"/>
          <p:nvPr/>
        </p:nvSpPr>
        <p:spPr>
          <a:xfrm>
            <a:off x="428171" y="3648099"/>
            <a:ext cx="5718630" cy="2585323"/>
          </a:xfrm>
          <a:prstGeom prst="rect">
            <a:avLst/>
          </a:prstGeom>
          <a:noFill/>
        </p:spPr>
        <p:txBody>
          <a:bodyPr wrap="square" rtlCol="0">
            <a:spAutoFit/>
          </a:bodyPr>
          <a:lstStyle/>
          <a:p>
            <a:pPr>
              <a:lnSpc>
                <a:spcPct val="150000"/>
              </a:lnSpc>
            </a:pPr>
            <a:r>
              <a:rPr lang="zh-CN" altLang="en-US" sz="1800" dirty="0" smtClean="0"/>
              <a:t>根据工作点不同，有大信号峰值检波与小信号平方律检波两种工作模式</a:t>
            </a:r>
            <a:endParaRPr lang="en-US" altLang="zh-CN" sz="1800" dirty="0" smtClean="0"/>
          </a:p>
          <a:p>
            <a:pPr>
              <a:lnSpc>
                <a:spcPct val="150000"/>
              </a:lnSpc>
            </a:pPr>
            <a:r>
              <a:rPr lang="zh-CN" altLang="zh-CN" sz="1800" dirty="0" smtClean="0"/>
              <a:t>由于</a:t>
            </a:r>
            <a:r>
              <a:rPr lang="zh-CN" altLang="zh-CN" sz="1800" dirty="0"/>
              <a:t>工作在晶体管特性曲线的弯曲部分，所以解调信号的失真比较</a:t>
            </a:r>
            <a:r>
              <a:rPr lang="zh-CN" altLang="zh-CN" sz="1800" dirty="0" smtClean="0"/>
              <a:t>大</a:t>
            </a:r>
            <a:endParaRPr lang="en-US" altLang="zh-CN" sz="1800" dirty="0" smtClean="0"/>
          </a:p>
          <a:p>
            <a:pPr>
              <a:lnSpc>
                <a:spcPct val="150000"/>
              </a:lnSpc>
            </a:pPr>
            <a:r>
              <a:rPr lang="zh-CN" altLang="zh-CN" sz="1800" dirty="0" smtClean="0"/>
              <a:t>由于</a:t>
            </a:r>
            <a:r>
              <a:rPr lang="zh-CN" altLang="zh-CN" sz="1800" dirty="0"/>
              <a:t>输出电平与晶体管的静态工作点有关，计算</a:t>
            </a:r>
            <a:r>
              <a:rPr lang="en-US" altLang="zh-CN" sz="1800" dirty="0"/>
              <a:t>FM</a:t>
            </a:r>
            <a:r>
              <a:rPr lang="zh-CN" altLang="zh-CN" sz="1800" dirty="0"/>
              <a:t>载波的幅度误差较大，所以较难估计调幅系数</a:t>
            </a:r>
            <a:r>
              <a:rPr lang="en-US" altLang="zh-CN" sz="1800" i="1" dirty="0" smtClean="0"/>
              <a:t>m</a:t>
            </a:r>
            <a:r>
              <a:rPr lang="en-US" altLang="zh-CN" sz="1800" i="1" baseline="-25000" dirty="0" smtClean="0"/>
              <a:t>a</a:t>
            </a:r>
            <a:endParaRPr lang="zh-CN" altLang="en-US" sz="1600" dirty="0"/>
          </a:p>
        </p:txBody>
      </p:sp>
    </p:spTree>
    <p:extLst>
      <p:ext uri="{BB962C8B-B14F-4D97-AF65-F5344CB8AC3E}">
        <p14:creationId xmlns:p14="http://schemas.microsoft.com/office/powerpoint/2010/main" val="1847643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11</a:t>
            </a:fld>
            <a:endParaRPr lang="en-US" altLang="zh-CN">
              <a:solidFill>
                <a:srgbClr val="FFFFFF"/>
              </a:solidFill>
            </a:endParaRPr>
          </a:p>
        </p:txBody>
      </p:sp>
      <p:sp>
        <p:nvSpPr>
          <p:cNvPr id="5" name="文本框 4"/>
          <p:cNvSpPr txBox="1"/>
          <p:nvPr/>
        </p:nvSpPr>
        <p:spPr>
          <a:xfrm>
            <a:off x="428171" y="464457"/>
            <a:ext cx="6052457" cy="457241"/>
          </a:xfrm>
          <a:prstGeom prst="rect">
            <a:avLst/>
          </a:prstGeom>
          <a:noFill/>
        </p:spPr>
        <p:txBody>
          <a:bodyPr wrap="square" rtlCol="0">
            <a:spAutoFit/>
          </a:bodyPr>
          <a:lstStyle/>
          <a:p>
            <a:pPr>
              <a:lnSpc>
                <a:spcPct val="150000"/>
              </a:lnSpc>
            </a:pPr>
            <a:r>
              <a:rPr lang="en-US" altLang="zh-CN" sz="1800" dirty="0" smtClean="0"/>
              <a:t>3</a:t>
            </a:r>
            <a:r>
              <a:rPr lang="zh-CN" altLang="en-US" sz="1800" dirty="0" smtClean="0"/>
              <a:t>、有效值检波</a:t>
            </a:r>
            <a:endParaRPr lang="en-US" altLang="zh-CN" sz="1800" dirty="0" smtClean="0"/>
          </a:p>
        </p:txBody>
      </p:sp>
      <p:graphicFrame>
        <p:nvGraphicFramePr>
          <p:cNvPr id="7" name="对象 6"/>
          <p:cNvGraphicFramePr>
            <a:graphicFrameLocks noChangeAspect="1"/>
          </p:cNvGraphicFramePr>
          <p:nvPr>
            <p:extLst>
              <p:ext uri="{D42A27DB-BD31-4B8C-83A1-F6EECF244321}">
                <p14:modId xmlns:p14="http://schemas.microsoft.com/office/powerpoint/2010/main" val="542985079"/>
              </p:ext>
            </p:extLst>
          </p:nvPr>
        </p:nvGraphicFramePr>
        <p:xfrm>
          <a:off x="957943" y="1146628"/>
          <a:ext cx="6571980" cy="1486519"/>
        </p:xfrm>
        <a:graphic>
          <a:graphicData uri="http://schemas.openxmlformats.org/presentationml/2006/ole">
            <mc:AlternateContent xmlns:mc="http://schemas.openxmlformats.org/markup-compatibility/2006">
              <mc:Choice xmlns:v="urn:schemas-microsoft-com:vml" Requires="v">
                <p:oleObj spid="_x0000_s6364" name="Visio" r:id="rId3" imgW="3733440" imgH="844311" progId="Visio.Drawing.15">
                  <p:embed/>
                </p:oleObj>
              </mc:Choice>
              <mc:Fallback>
                <p:oleObj name="Visio" r:id="rId3" imgW="3733440" imgH="844311"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7943" y="1146628"/>
                        <a:ext cx="6571980" cy="1486519"/>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069221957"/>
              </p:ext>
            </p:extLst>
          </p:nvPr>
        </p:nvGraphicFramePr>
        <p:xfrm>
          <a:off x="1067250" y="2835130"/>
          <a:ext cx="6217869" cy="1106468"/>
        </p:xfrm>
        <a:graphic>
          <a:graphicData uri="http://schemas.openxmlformats.org/presentationml/2006/ole">
            <mc:AlternateContent xmlns:mc="http://schemas.openxmlformats.org/markup-compatibility/2006">
              <mc:Choice xmlns:v="urn:schemas-microsoft-com:vml" Requires="v">
                <p:oleObj spid="_x0000_s6365" name="Equation" r:id="rId5" imgW="3289300" imgH="584200" progId="Equation.DSMT4">
                  <p:embed/>
                </p:oleObj>
              </mc:Choice>
              <mc:Fallback>
                <p:oleObj name="Equation" r:id="rId5" imgW="3289300" imgH="5842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7250" y="2835130"/>
                        <a:ext cx="6217869" cy="1106468"/>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006165542"/>
              </p:ext>
            </p:extLst>
          </p:nvPr>
        </p:nvGraphicFramePr>
        <p:xfrm>
          <a:off x="957943" y="4700782"/>
          <a:ext cx="5812692" cy="729528"/>
        </p:xfrm>
        <a:graphic>
          <a:graphicData uri="http://schemas.openxmlformats.org/presentationml/2006/ole">
            <mc:AlternateContent xmlns:mc="http://schemas.openxmlformats.org/markup-compatibility/2006">
              <mc:Choice xmlns:v="urn:schemas-microsoft-com:vml" Requires="v">
                <p:oleObj spid="_x0000_s6366" name="Equation" r:id="rId7" imgW="3136900" imgH="393700" progId="Equation.DSMT4">
                  <p:embed/>
                </p:oleObj>
              </mc:Choice>
              <mc:Fallback>
                <p:oleObj name="Equation" r:id="rId7" imgW="3136900" imgH="3937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7943" y="4700782"/>
                        <a:ext cx="5812692" cy="729528"/>
                      </a:xfrm>
                      <a:prstGeom prst="rect">
                        <a:avLst/>
                      </a:prstGeom>
                      <a:noFill/>
                    </p:spPr>
                  </p:pic>
                </p:oleObj>
              </mc:Fallback>
            </mc:AlternateContent>
          </a:graphicData>
        </a:graphic>
      </p:graphicFrame>
      <p:cxnSp>
        <p:nvCxnSpPr>
          <p:cNvPr id="12" name="直接连接符 11"/>
          <p:cNvCxnSpPr/>
          <p:nvPr/>
        </p:nvCxnSpPr>
        <p:spPr>
          <a:xfrm>
            <a:off x="5294721" y="3941598"/>
            <a:ext cx="180276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801510" y="3941598"/>
            <a:ext cx="301723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114780" y="3914573"/>
            <a:ext cx="4743219" cy="507831"/>
          </a:xfrm>
          <a:prstGeom prst="rect">
            <a:avLst/>
          </a:prstGeom>
          <a:noFill/>
        </p:spPr>
        <p:txBody>
          <a:bodyPr wrap="square" rtlCol="0">
            <a:spAutoFit/>
          </a:bodyPr>
          <a:lstStyle/>
          <a:p>
            <a:pPr>
              <a:lnSpc>
                <a:spcPct val="150000"/>
              </a:lnSpc>
            </a:pPr>
            <a:r>
              <a:rPr lang="zh-CN" altLang="en-US" sz="1800" dirty="0" smtClean="0"/>
              <a:t>高频项，被滤波器滤除                     低频项</a:t>
            </a:r>
            <a:endParaRPr lang="zh-CN" altLang="en-US" sz="1800" dirty="0"/>
          </a:p>
        </p:txBody>
      </p:sp>
      <p:sp>
        <p:nvSpPr>
          <p:cNvPr id="17" name="矩形 16"/>
          <p:cNvSpPr/>
          <p:nvPr/>
        </p:nvSpPr>
        <p:spPr>
          <a:xfrm>
            <a:off x="940435" y="5479811"/>
            <a:ext cx="6417022" cy="457754"/>
          </a:xfrm>
          <a:prstGeom prst="rect">
            <a:avLst/>
          </a:prstGeom>
        </p:spPr>
        <p:txBody>
          <a:bodyPr wrap="square">
            <a:spAutoFit/>
          </a:bodyPr>
          <a:lstStyle/>
          <a:p>
            <a:pPr>
              <a:lnSpc>
                <a:spcPct val="150000"/>
              </a:lnSpc>
            </a:pPr>
            <a:r>
              <a:rPr lang="zh-CN" altLang="en-US" sz="1800" dirty="0"/>
              <a:t>其中直流成分是载波</a:t>
            </a:r>
            <a:r>
              <a:rPr lang="zh-CN" altLang="en-US" sz="1800" dirty="0" smtClean="0"/>
              <a:t>分量，</a:t>
            </a:r>
            <a:r>
              <a:rPr lang="en-US" altLang="zh-CN" sz="1800" dirty="0" smtClean="0"/>
              <a:t> </a:t>
            </a:r>
            <a:r>
              <a:rPr lang="el-GR" altLang="zh-CN" sz="1800" dirty="0">
                <a:latin typeface="Times New Roman" panose="02020603050405020304" pitchFamily="18" charset="0"/>
                <a:cs typeface="Times New Roman" panose="02020603050405020304" pitchFamily="18" charset="0"/>
              </a:rPr>
              <a:t>Ω</a:t>
            </a:r>
            <a:r>
              <a:rPr lang="zh-CN" altLang="en-US" sz="1800" dirty="0">
                <a:latin typeface="Times New Roman" panose="02020603050405020304" pitchFamily="18" charset="0"/>
                <a:cs typeface="Times New Roman" panose="02020603050405020304" pitchFamily="18" charset="0"/>
              </a:rPr>
              <a:t>频率成分是调制分量</a:t>
            </a:r>
            <a:endParaRPr lang="zh-CN" altLang="en-US" sz="1800" dirty="0"/>
          </a:p>
        </p:txBody>
      </p:sp>
      <p:sp>
        <p:nvSpPr>
          <p:cNvPr id="18" name="文本框 17"/>
          <p:cNvSpPr txBox="1"/>
          <p:nvPr/>
        </p:nvSpPr>
        <p:spPr>
          <a:xfrm>
            <a:off x="7946572" y="1220473"/>
            <a:ext cx="3258457" cy="1338828"/>
          </a:xfrm>
          <a:prstGeom prst="rect">
            <a:avLst/>
          </a:prstGeom>
          <a:noFill/>
        </p:spPr>
        <p:txBody>
          <a:bodyPr wrap="square" rtlCol="0">
            <a:spAutoFit/>
          </a:bodyPr>
          <a:lstStyle/>
          <a:p>
            <a:pPr>
              <a:lnSpc>
                <a:spcPct val="150000"/>
              </a:lnSpc>
            </a:pPr>
            <a:r>
              <a:rPr lang="zh-CN" altLang="en-US" sz="1800" dirty="0" smtClean="0"/>
              <a:t>可以用乘法器、运放等元器件自行构建，也可以采用有效值检波集成电路，如</a:t>
            </a:r>
            <a:r>
              <a:rPr lang="en-US" altLang="zh-CN" sz="1800" dirty="0"/>
              <a:t>AD8361</a:t>
            </a:r>
            <a:endParaRPr lang="zh-CN" altLang="en-US" sz="1800" dirty="0"/>
          </a:p>
        </p:txBody>
      </p:sp>
    </p:spTree>
    <p:extLst>
      <p:ext uri="{BB962C8B-B14F-4D97-AF65-F5344CB8AC3E}">
        <p14:creationId xmlns:p14="http://schemas.microsoft.com/office/powerpoint/2010/main" val="923600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12</a:t>
            </a:fld>
            <a:endParaRPr lang="en-US" altLang="zh-CN">
              <a:solidFill>
                <a:srgbClr val="FFFFFF"/>
              </a:solidFill>
            </a:endParaRPr>
          </a:p>
        </p:txBody>
      </p:sp>
      <p:sp>
        <p:nvSpPr>
          <p:cNvPr id="5" name="文本框 4"/>
          <p:cNvSpPr txBox="1"/>
          <p:nvPr/>
        </p:nvSpPr>
        <p:spPr>
          <a:xfrm>
            <a:off x="428171" y="464457"/>
            <a:ext cx="6052457" cy="507831"/>
          </a:xfrm>
          <a:prstGeom prst="rect">
            <a:avLst/>
          </a:prstGeom>
          <a:noFill/>
        </p:spPr>
        <p:txBody>
          <a:bodyPr wrap="square" rtlCol="0">
            <a:spAutoFit/>
          </a:bodyPr>
          <a:lstStyle/>
          <a:p>
            <a:pPr>
              <a:lnSpc>
                <a:spcPct val="150000"/>
              </a:lnSpc>
            </a:pPr>
            <a:r>
              <a:rPr lang="en-US" altLang="zh-CN" sz="1800" dirty="0" smtClean="0"/>
              <a:t>4</a:t>
            </a:r>
            <a:r>
              <a:rPr lang="zh-CN" altLang="en-US" sz="1800" dirty="0" smtClean="0"/>
              <a:t>、同步检波</a:t>
            </a:r>
            <a:endParaRPr lang="en-US" altLang="zh-CN" sz="1800" dirty="0" smtClean="0"/>
          </a:p>
        </p:txBody>
      </p:sp>
      <p:graphicFrame>
        <p:nvGraphicFramePr>
          <p:cNvPr id="7" name="对象 6"/>
          <p:cNvGraphicFramePr>
            <a:graphicFrameLocks noChangeAspect="1"/>
          </p:cNvGraphicFramePr>
          <p:nvPr>
            <p:extLst>
              <p:ext uri="{D42A27DB-BD31-4B8C-83A1-F6EECF244321}">
                <p14:modId xmlns:p14="http://schemas.microsoft.com/office/powerpoint/2010/main" val="1536447705"/>
              </p:ext>
            </p:extLst>
          </p:nvPr>
        </p:nvGraphicFramePr>
        <p:xfrm>
          <a:off x="962759" y="1197428"/>
          <a:ext cx="5699297" cy="1197428"/>
        </p:xfrm>
        <a:graphic>
          <a:graphicData uri="http://schemas.openxmlformats.org/presentationml/2006/ole">
            <mc:AlternateContent xmlns:mc="http://schemas.openxmlformats.org/markup-compatibility/2006">
              <mc:Choice xmlns:v="urn:schemas-microsoft-com:vml" Requires="v">
                <p:oleObj spid="_x0000_s7398" name="Visio" r:id="rId3" imgW="3143096" imgH="660039" progId="Visio.Drawing.15">
                  <p:embed/>
                </p:oleObj>
              </mc:Choice>
              <mc:Fallback>
                <p:oleObj name="Visio" r:id="rId3" imgW="3143096" imgH="660039"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2759" y="1197428"/>
                        <a:ext cx="5699297" cy="1197428"/>
                      </a:xfrm>
                      <a:prstGeom prst="rect">
                        <a:avLst/>
                      </a:prstGeom>
                      <a:noFill/>
                    </p:spPr>
                  </p:pic>
                </p:oleObj>
              </mc:Fallback>
            </mc:AlternateContent>
          </a:graphicData>
        </a:graphic>
      </p:graphicFrame>
      <p:sp>
        <p:nvSpPr>
          <p:cNvPr id="15" name="文本框 14"/>
          <p:cNvSpPr txBox="1"/>
          <p:nvPr/>
        </p:nvSpPr>
        <p:spPr>
          <a:xfrm>
            <a:off x="522514" y="2670586"/>
            <a:ext cx="2140857" cy="1200329"/>
          </a:xfrm>
          <a:prstGeom prst="rect">
            <a:avLst/>
          </a:prstGeom>
          <a:noFill/>
        </p:spPr>
        <p:txBody>
          <a:bodyPr wrap="square" rtlCol="0">
            <a:spAutoFit/>
          </a:bodyPr>
          <a:lstStyle/>
          <a:p>
            <a:pPr>
              <a:lnSpc>
                <a:spcPct val="200000"/>
              </a:lnSpc>
            </a:pPr>
            <a:r>
              <a:rPr lang="zh-CN" altLang="en-US" sz="1800" dirty="0" smtClean="0"/>
              <a:t>用锁相环获得载波</a:t>
            </a:r>
            <a:endParaRPr lang="en-US" altLang="zh-CN" sz="1800" dirty="0" smtClean="0"/>
          </a:p>
          <a:p>
            <a:pPr>
              <a:lnSpc>
                <a:spcPct val="200000"/>
              </a:lnSpc>
            </a:pPr>
            <a:r>
              <a:rPr lang="zh-CN" altLang="en-US" sz="1800" dirty="0" smtClean="0"/>
              <a:t>载波与</a:t>
            </a:r>
            <a:r>
              <a:rPr lang="en-US" altLang="zh-CN" sz="1800" dirty="0" smtClean="0"/>
              <a:t>AM</a:t>
            </a:r>
            <a:r>
              <a:rPr lang="zh-CN" altLang="en-US" sz="1800" dirty="0" smtClean="0"/>
              <a:t>信号相乘</a:t>
            </a:r>
            <a:endParaRPr lang="zh-CN" altLang="en-US" sz="1800" dirty="0"/>
          </a:p>
        </p:txBody>
      </p:sp>
      <p:graphicFrame>
        <p:nvGraphicFramePr>
          <p:cNvPr id="17" name="对象 16"/>
          <p:cNvGraphicFramePr>
            <a:graphicFrameLocks noChangeAspect="1"/>
          </p:cNvGraphicFramePr>
          <p:nvPr>
            <p:extLst>
              <p:ext uri="{D42A27DB-BD31-4B8C-83A1-F6EECF244321}">
                <p14:modId xmlns:p14="http://schemas.microsoft.com/office/powerpoint/2010/main" val="1636638279"/>
              </p:ext>
            </p:extLst>
          </p:nvPr>
        </p:nvGraphicFramePr>
        <p:xfrm>
          <a:off x="2846690" y="3418386"/>
          <a:ext cx="7267876" cy="1038268"/>
        </p:xfrm>
        <a:graphic>
          <a:graphicData uri="http://schemas.openxmlformats.org/presentationml/2006/ole">
            <mc:AlternateContent xmlns:mc="http://schemas.openxmlformats.org/markup-compatibility/2006">
              <mc:Choice xmlns:v="urn:schemas-microsoft-com:vml" Requires="v">
                <p:oleObj spid="_x0000_s7399" name="Equation" r:id="rId5" imgW="3911400" imgH="558720" progId="Equation.DSMT4">
                  <p:embed/>
                </p:oleObj>
              </mc:Choice>
              <mc:Fallback>
                <p:oleObj name="Equation" r:id="rId5" imgW="3911400" imgH="558720" progId="Equation.DSMT4">
                  <p:embed/>
                  <p:pic>
                    <p:nvPicPr>
                      <p:cNvPr id="0" name="Object 10"/>
                      <p:cNvPicPr>
                        <a:picLocks noChangeAspect="1" noChangeArrowheads="1"/>
                      </p:cNvPicPr>
                      <p:nvPr/>
                    </p:nvPicPr>
                    <p:blipFill>
                      <a:blip r:embed="rId6"/>
                      <a:srcRect/>
                      <a:stretch>
                        <a:fillRect/>
                      </a:stretch>
                    </p:blipFill>
                    <p:spPr bwMode="auto">
                      <a:xfrm>
                        <a:off x="2846690" y="3418386"/>
                        <a:ext cx="7267876" cy="1038268"/>
                      </a:xfrm>
                      <a:prstGeom prst="rect">
                        <a:avLst/>
                      </a:prstGeom>
                      <a:noFill/>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3167425980"/>
              </p:ext>
            </p:extLst>
          </p:nvPr>
        </p:nvGraphicFramePr>
        <p:xfrm>
          <a:off x="2569331" y="2842842"/>
          <a:ext cx="2155069" cy="403288"/>
        </p:xfrm>
        <a:graphic>
          <a:graphicData uri="http://schemas.openxmlformats.org/presentationml/2006/ole">
            <mc:AlternateContent xmlns:mc="http://schemas.openxmlformats.org/markup-compatibility/2006">
              <mc:Choice xmlns:v="urn:schemas-microsoft-com:vml" Requires="v">
                <p:oleObj spid="_x0000_s7400" name="Equation" r:id="rId7" imgW="1079032" imgH="203112" progId="Equation.DSMT4">
                  <p:embed/>
                </p:oleObj>
              </mc:Choice>
              <mc:Fallback>
                <p:oleObj name="Equation" r:id="rId7" imgW="1079032" imgH="203112"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69331" y="2842842"/>
                        <a:ext cx="2155069" cy="403288"/>
                      </a:xfrm>
                      <a:prstGeom prst="rect">
                        <a:avLst/>
                      </a:prstGeom>
                      <a:noFill/>
                    </p:spPr>
                  </p:pic>
                </p:oleObj>
              </mc:Fallback>
            </mc:AlternateContent>
          </a:graphicData>
        </a:graphic>
      </p:graphicFrame>
      <p:cxnSp>
        <p:nvCxnSpPr>
          <p:cNvPr id="21" name="直接连接符 20"/>
          <p:cNvCxnSpPr/>
          <p:nvPr/>
        </p:nvCxnSpPr>
        <p:spPr>
          <a:xfrm>
            <a:off x="7707085" y="4445769"/>
            <a:ext cx="2235201"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920596" y="4456654"/>
            <a:ext cx="3182256"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4176185" y="4390771"/>
            <a:ext cx="6774844" cy="1338828"/>
          </a:xfrm>
          <a:prstGeom prst="rect">
            <a:avLst/>
          </a:prstGeom>
          <a:noFill/>
        </p:spPr>
        <p:txBody>
          <a:bodyPr wrap="square" rtlCol="0">
            <a:spAutoFit/>
          </a:bodyPr>
          <a:lstStyle/>
          <a:p>
            <a:pPr>
              <a:lnSpc>
                <a:spcPct val="150000"/>
              </a:lnSpc>
            </a:pPr>
            <a:r>
              <a:rPr lang="zh-CN" altLang="en-US" sz="1800" dirty="0" smtClean="0"/>
              <a:t>高频项，被滤波器滤除                     低频项，解调结果</a:t>
            </a:r>
            <a:endParaRPr lang="en-US" altLang="zh-CN" sz="1800" dirty="0" smtClean="0"/>
          </a:p>
          <a:p>
            <a:pPr>
              <a:lnSpc>
                <a:spcPct val="150000"/>
              </a:lnSpc>
            </a:pPr>
            <a:r>
              <a:rPr lang="en-US" altLang="zh-CN" sz="1800" dirty="0" smtClean="0"/>
              <a:t>                                                     </a:t>
            </a:r>
            <a:r>
              <a:rPr lang="zh-CN" altLang="en-US" sz="1800" dirty="0" smtClean="0"/>
              <a:t>其中直流成分是载波分量</a:t>
            </a:r>
            <a:endParaRPr lang="en-US" altLang="zh-CN" sz="1800" dirty="0" smtClean="0"/>
          </a:p>
          <a:p>
            <a:pPr>
              <a:lnSpc>
                <a:spcPct val="150000"/>
              </a:lnSpc>
            </a:pPr>
            <a:r>
              <a:rPr lang="en-US" altLang="zh-CN" sz="1800" dirty="0"/>
              <a:t> </a:t>
            </a:r>
            <a:r>
              <a:rPr lang="en-US" altLang="zh-CN" sz="1800" dirty="0" smtClean="0"/>
              <a:t>                                                      </a:t>
            </a:r>
            <a:r>
              <a:rPr lang="el-GR" altLang="zh-CN" sz="1800" dirty="0" smtClean="0">
                <a:latin typeface="Times New Roman" panose="02020603050405020304" pitchFamily="18" charset="0"/>
                <a:cs typeface="Times New Roman" panose="02020603050405020304" pitchFamily="18" charset="0"/>
              </a:rPr>
              <a:t>Ω</a:t>
            </a:r>
            <a:r>
              <a:rPr lang="zh-CN" altLang="en-US" sz="1800" dirty="0" smtClean="0">
                <a:latin typeface="Times New Roman" panose="02020603050405020304" pitchFamily="18" charset="0"/>
                <a:cs typeface="Times New Roman" panose="02020603050405020304" pitchFamily="18" charset="0"/>
              </a:rPr>
              <a:t>频率成分是调制分量</a:t>
            </a:r>
            <a:endParaRPr lang="zh-CN" altLang="en-US" sz="1800" dirty="0"/>
          </a:p>
        </p:txBody>
      </p:sp>
      <p:sp>
        <p:nvSpPr>
          <p:cNvPr id="32" name="文本框 31"/>
          <p:cNvSpPr txBox="1"/>
          <p:nvPr/>
        </p:nvSpPr>
        <p:spPr>
          <a:xfrm>
            <a:off x="5014686" y="2651542"/>
            <a:ext cx="5508170" cy="561629"/>
          </a:xfrm>
          <a:prstGeom prst="rect">
            <a:avLst/>
          </a:prstGeom>
          <a:noFill/>
        </p:spPr>
        <p:txBody>
          <a:bodyPr wrap="square" rtlCol="0">
            <a:spAutoFit/>
          </a:bodyPr>
          <a:lstStyle/>
          <a:p>
            <a:pPr>
              <a:lnSpc>
                <a:spcPct val="200000"/>
              </a:lnSpc>
            </a:pPr>
            <a:r>
              <a:rPr lang="zh-CN" altLang="en-US" sz="1800" dirty="0" smtClean="0"/>
              <a:t>（</a:t>
            </a:r>
            <a:r>
              <a:rPr lang="el-GR" altLang="zh-CN" sz="1800" i="1" dirty="0" smtClean="0">
                <a:latin typeface="Times New Roman" panose="02020603050405020304" pitchFamily="18" charset="0"/>
                <a:cs typeface="Times New Roman" panose="02020603050405020304" pitchFamily="18" charset="0"/>
              </a:rPr>
              <a:t>φ</a:t>
            </a:r>
            <a:r>
              <a:rPr lang="el-GR" altLang="zh-CN" sz="1800" dirty="0" smtClean="0">
                <a:latin typeface="Times New Roman" panose="02020603050405020304" pitchFamily="18" charset="0"/>
                <a:cs typeface="Times New Roman" panose="02020603050405020304" pitchFamily="18" charset="0"/>
              </a:rPr>
              <a:t>≈</a:t>
            </a:r>
            <a:r>
              <a:rPr lang="en-US" altLang="zh-CN" sz="1800" dirty="0" smtClean="0">
                <a:latin typeface="Times New Roman" panose="02020603050405020304" pitchFamily="18" charset="0"/>
                <a:cs typeface="Times New Roman" panose="02020603050405020304" pitchFamily="18" charset="0"/>
              </a:rPr>
              <a:t>0</a:t>
            </a:r>
            <a:r>
              <a:rPr lang="zh-CN" altLang="en-US" sz="1800" i="1" dirty="0" smtClean="0">
                <a:latin typeface="Times New Roman" panose="02020603050405020304" pitchFamily="18" charset="0"/>
                <a:cs typeface="Times New Roman" panose="02020603050405020304" pitchFamily="18" charset="0"/>
              </a:rPr>
              <a:t>，</a:t>
            </a:r>
            <a:r>
              <a:rPr lang="zh-CN" altLang="en-US" sz="1800" dirty="0" smtClean="0">
                <a:latin typeface="Times New Roman" panose="02020603050405020304" pitchFamily="18" charset="0"/>
                <a:cs typeface="Times New Roman" panose="02020603050405020304" pitchFamily="18" charset="0"/>
              </a:rPr>
              <a:t>是一个残余小相移）</a:t>
            </a:r>
            <a:endParaRPr lang="zh-CN" altLang="en-US" sz="1800" dirty="0"/>
          </a:p>
        </p:txBody>
      </p:sp>
    </p:spTree>
    <p:extLst>
      <p:ext uri="{BB962C8B-B14F-4D97-AF65-F5344CB8AC3E}">
        <p14:creationId xmlns:p14="http://schemas.microsoft.com/office/powerpoint/2010/main" val="3053371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13</a:t>
            </a:fld>
            <a:endParaRPr lang="en-US" altLang="zh-CN">
              <a:solidFill>
                <a:srgbClr val="FFFFFF"/>
              </a:solidFill>
            </a:endParaRPr>
          </a:p>
        </p:txBody>
      </p:sp>
      <p:sp>
        <p:nvSpPr>
          <p:cNvPr id="5" name="矩形 4"/>
          <p:cNvSpPr/>
          <p:nvPr/>
        </p:nvSpPr>
        <p:spPr>
          <a:xfrm>
            <a:off x="442685" y="332945"/>
            <a:ext cx="6545944" cy="4970591"/>
          </a:xfrm>
          <a:prstGeom prst="rect">
            <a:avLst/>
          </a:prstGeom>
        </p:spPr>
        <p:txBody>
          <a:bodyPr wrap="square">
            <a:spAutoFit/>
          </a:bodyPr>
          <a:lstStyle/>
          <a:p>
            <a:pPr marL="342900" indent="-342900">
              <a:lnSpc>
                <a:spcPct val="200000"/>
              </a:lnSpc>
              <a:buFont typeface="Wingdings" panose="05000000000000000000" pitchFamily="2" charset="2"/>
              <a:buChar char="Ø"/>
            </a:pPr>
            <a:r>
              <a:rPr lang="zh-CN" altLang="en-US" dirty="0" smtClean="0">
                <a:solidFill>
                  <a:srgbClr val="FF0000"/>
                </a:solidFill>
              </a:rPr>
              <a:t>频率调制（</a:t>
            </a:r>
            <a:r>
              <a:rPr lang="en-US" altLang="zh-CN" dirty="0" smtClean="0">
                <a:solidFill>
                  <a:srgbClr val="FF0000"/>
                </a:solidFill>
              </a:rPr>
              <a:t>FM</a:t>
            </a:r>
            <a:r>
              <a:rPr lang="zh-CN" altLang="en-US" dirty="0" smtClean="0">
                <a:solidFill>
                  <a:srgbClr val="FF0000"/>
                </a:solidFill>
              </a:rPr>
              <a:t>）与频移键控（</a:t>
            </a:r>
            <a:r>
              <a:rPr lang="en-US" altLang="zh-CN" dirty="0" smtClean="0">
                <a:solidFill>
                  <a:srgbClr val="FF0000"/>
                </a:solidFill>
              </a:rPr>
              <a:t>FSK</a:t>
            </a:r>
            <a:r>
              <a:rPr lang="zh-CN" altLang="en-US" dirty="0" smtClean="0">
                <a:solidFill>
                  <a:srgbClr val="FF0000"/>
                </a:solidFill>
              </a:rPr>
              <a:t>）</a:t>
            </a:r>
            <a:endParaRPr lang="en-US" altLang="zh-CN" dirty="0" smtClean="0">
              <a:solidFill>
                <a:srgbClr val="FF0000"/>
              </a:solidFill>
            </a:endParaRPr>
          </a:p>
          <a:p>
            <a:pPr marL="285750" indent="-285750">
              <a:lnSpc>
                <a:spcPct val="200000"/>
              </a:lnSpc>
              <a:buFont typeface="Arial" panose="020B0604020202020204" pitchFamily="34" charset="0"/>
              <a:buChar char="•"/>
            </a:pPr>
            <a:r>
              <a:rPr lang="en-US" altLang="zh-CN" sz="1800" dirty="0"/>
              <a:t>FM</a:t>
            </a:r>
            <a:r>
              <a:rPr lang="zh-CN" altLang="en-US" sz="1800" dirty="0" smtClean="0">
                <a:latin typeface="黑体" panose="02010609060101010101" pitchFamily="49" charset="-122"/>
                <a:ea typeface="黑体" panose="02010609060101010101" pitchFamily="49" charset="-122"/>
              </a:rPr>
              <a:t>信号的参数与特征</a:t>
            </a:r>
            <a:endParaRPr lang="en-US" altLang="zh-CN" sz="1800" dirty="0" smtClean="0">
              <a:latin typeface="黑体" panose="02010609060101010101" pitchFamily="49" charset="-122"/>
              <a:ea typeface="黑体" panose="02010609060101010101" pitchFamily="49" charset="-122"/>
            </a:endParaRPr>
          </a:p>
          <a:p>
            <a:pPr indent="457200">
              <a:lnSpc>
                <a:spcPct val="200000"/>
              </a:lnSpc>
            </a:pPr>
            <a:r>
              <a:rPr lang="zh-CN" altLang="en-US" sz="1800" dirty="0" smtClean="0"/>
              <a:t>载波：</a:t>
            </a:r>
            <a:endParaRPr lang="en-US" altLang="zh-CN" sz="1800" dirty="0" smtClean="0"/>
          </a:p>
          <a:p>
            <a:pPr indent="457200">
              <a:lnSpc>
                <a:spcPct val="200000"/>
              </a:lnSpc>
            </a:pPr>
            <a:r>
              <a:rPr lang="zh-CN" altLang="en-US" sz="1800" dirty="0" smtClean="0"/>
              <a:t>调制信号：</a:t>
            </a:r>
            <a:endParaRPr lang="en-US" altLang="zh-CN" sz="1800" dirty="0" smtClean="0"/>
          </a:p>
          <a:p>
            <a:pPr indent="457200">
              <a:lnSpc>
                <a:spcPct val="200000"/>
              </a:lnSpc>
            </a:pPr>
            <a:r>
              <a:rPr lang="zh-CN" altLang="en-US" sz="1800" dirty="0"/>
              <a:t>已调</a:t>
            </a:r>
            <a:r>
              <a:rPr lang="zh-CN" altLang="en-US" sz="1800" dirty="0" smtClean="0"/>
              <a:t>波：</a:t>
            </a:r>
            <a:endParaRPr lang="en-US" altLang="zh-CN" sz="1800" dirty="0" smtClean="0"/>
          </a:p>
          <a:p>
            <a:pPr indent="457200">
              <a:lnSpc>
                <a:spcPct val="200000"/>
              </a:lnSpc>
              <a:spcBef>
                <a:spcPts val="1200"/>
              </a:spcBef>
              <a:spcAft>
                <a:spcPts val="1200"/>
              </a:spcAft>
            </a:pPr>
            <a:r>
              <a:rPr lang="zh-CN" altLang="en-US" sz="1800" dirty="0"/>
              <a:t>调制度（</a:t>
            </a:r>
            <a:r>
              <a:rPr lang="zh-CN" altLang="en-US" sz="1800" dirty="0" smtClean="0"/>
              <a:t>调</a:t>
            </a:r>
            <a:r>
              <a:rPr lang="zh-CN" altLang="en-US" sz="1800" dirty="0"/>
              <a:t>频</a:t>
            </a:r>
            <a:r>
              <a:rPr lang="zh-CN" altLang="en-US" sz="1800" dirty="0" smtClean="0"/>
              <a:t>指数 </a:t>
            </a:r>
            <a:r>
              <a:rPr lang="zh-CN" altLang="en-US" sz="1800" dirty="0"/>
              <a:t>）：                               </a:t>
            </a:r>
            <a:endParaRPr lang="en-US" altLang="zh-CN" sz="1800" dirty="0"/>
          </a:p>
          <a:p>
            <a:pPr indent="457200">
              <a:lnSpc>
                <a:spcPct val="200000"/>
              </a:lnSpc>
              <a:spcBef>
                <a:spcPts val="600"/>
              </a:spcBef>
            </a:pPr>
            <a:r>
              <a:rPr lang="en-US" altLang="zh-CN" sz="1800" i="1" dirty="0" smtClean="0"/>
              <a:t>m</a:t>
            </a:r>
            <a:r>
              <a:rPr lang="en-US" altLang="zh-CN" sz="1800" i="1" baseline="-25000" dirty="0" smtClean="0"/>
              <a:t>f</a:t>
            </a:r>
            <a:r>
              <a:rPr lang="zh-CN" altLang="zh-CN" sz="1800" dirty="0" smtClean="0"/>
              <a:t>表示</a:t>
            </a:r>
            <a:r>
              <a:rPr lang="en-US" altLang="zh-CN" sz="1800" dirty="0" smtClean="0"/>
              <a:t>FM</a:t>
            </a:r>
            <a:r>
              <a:rPr lang="zh-CN" altLang="zh-CN" sz="1800" dirty="0"/>
              <a:t>信号</a:t>
            </a:r>
            <a:r>
              <a:rPr lang="zh-CN" altLang="zh-CN" sz="1800" dirty="0" smtClean="0"/>
              <a:t>瞬时</a:t>
            </a:r>
            <a:r>
              <a:rPr lang="zh-CN" altLang="en-US" sz="1800" dirty="0"/>
              <a:t>频率</a:t>
            </a:r>
            <a:r>
              <a:rPr lang="zh-CN" altLang="zh-CN" sz="1800" dirty="0" smtClean="0"/>
              <a:t>的</a:t>
            </a:r>
            <a:r>
              <a:rPr lang="zh-CN" altLang="zh-CN" sz="1800" dirty="0"/>
              <a:t>最大</a:t>
            </a:r>
            <a:r>
              <a:rPr lang="zh-CN" altLang="en-US" sz="1800" dirty="0"/>
              <a:t>相对</a:t>
            </a:r>
            <a:r>
              <a:rPr lang="zh-CN" altLang="zh-CN" sz="1800" dirty="0"/>
              <a:t>偏移量；</a:t>
            </a:r>
            <a:r>
              <a:rPr lang="en-US" altLang="zh-CN" sz="1800" i="1" dirty="0" err="1"/>
              <a:t>Δf</a:t>
            </a:r>
            <a:r>
              <a:rPr lang="en-US" altLang="zh-CN" sz="1800" i="1" baseline="-25000" dirty="0" err="1"/>
              <a:t>m</a:t>
            </a:r>
            <a:r>
              <a:rPr lang="zh-CN" altLang="zh-CN" sz="1800" dirty="0"/>
              <a:t>称为最大频偏</a:t>
            </a:r>
            <a:r>
              <a:rPr lang="zh-CN" altLang="en-US" sz="1800" dirty="0"/>
              <a:t>。与</a:t>
            </a:r>
            <a:r>
              <a:rPr lang="en-US" altLang="zh-CN" sz="1800" dirty="0"/>
              <a:t>AM</a:t>
            </a:r>
            <a:r>
              <a:rPr lang="zh-CN" altLang="en-US" sz="1800" dirty="0"/>
              <a:t>信号不同，</a:t>
            </a:r>
            <a:r>
              <a:rPr lang="en-US" altLang="zh-CN" sz="1800" dirty="0"/>
              <a:t>FM</a:t>
            </a:r>
            <a:r>
              <a:rPr lang="zh-CN" altLang="en-US" sz="1800" dirty="0"/>
              <a:t>信号中的调制度常常大于</a:t>
            </a:r>
            <a:r>
              <a:rPr lang="en-US" altLang="zh-CN" sz="1800" dirty="0"/>
              <a:t>1</a:t>
            </a:r>
          </a:p>
        </p:txBody>
      </p:sp>
      <p:graphicFrame>
        <p:nvGraphicFramePr>
          <p:cNvPr id="8" name="对象 7"/>
          <p:cNvGraphicFramePr>
            <a:graphicFrameLocks noChangeAspect="1"/>
          </p:cNvGraphicFramePr>
          <p:nvPr/>
        </p:nvGraphicFramePr>
        <p:xfrm>
          <a:off x="1705428" y="1630860"/>
          <a:ext cx="1687892" cy="409186"/>
        </p:xfrm>
        <a:graphic>
          <a:graphicData uri="http://schemas.openxmlformats.org/presentationml/2006/ole">
            <mc:AlternateContent xmlns:mc="http://schemas.openxmlformats.org/markup-compatibility/2006">
              <mc:Choice xmlns:v="urn:schemas-microsoft-com:vml" Requires="v">
                <p:oleObj spid="_x0000_s8563" name="Equation" r:id="rId3" imgW="837836" imgH="203112" progId="Equation.DSMT4">
                  <p:embed/>
                </p:oleObj>
              </mc:Choice>
              <mc:Fallback>
                <p:oleObj name="Equation" r:id="rId3" imgW="837836" imgH="203112" progId="Equation.DSMT4">
                  <p:embed/>
                  <p:pic>
                    <p:nvPicPr>
                      <p:cNvPr id="8" name="对象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5428" y="1630860"/>
                        <a:ext cx="1687892" cy="409186"/>
                      </a:xfrm>
                      <a:prstGeom prst="rect">
                        <a:avLst/>
                      </a:prstGeom>
                      <a:noFill/>
                    </p:spPr>
                  </p:pic>
                </p:oleObj>
              </mc:Fallback>
            </mc:AlternateContent>
          </a:graphicData>
        </a:graphic>
      </p:graphicFrame>
      <p:graphicFrame>
        <p:nvGraphicFramePr>
          <p:cNvPr id="10" name="对象 9"/>
          <p:cNvGraphicFramePr>
            <a:graphicFrameLocks noChangeAspect="1"/>
          </p:cNvGraphicFramePr>
          <p:nvPr/>
        </p:nvGraphicFramePr>
        <p:xfrm>
          <a:off x="2295074" y="2177144"/>
          <a:ext cx="1706332" cy="413656"/>
        </p:xfrm>
        <a:graphic>
          <a:graphicData uri="http://schemas.openxmlformats.org/presentationml/2006/ole">
            <mc:AlternateContent xmlns:mc="http://schemas.openxmlformats.org/markup-compatibility/2006">
              <mc:Choice xmlns:v="urn:schemas-microsoft-com:vml" Requires="v">
                <p:oleObj spid="_x0000_s8564" name="Equation" r:id="rId5" imgW="837836" imgH="203112" progId="Equation.DSMT4">
                  <p:embed/>
                </p:oleObj>
              </mc:Choice>
              <mc:Fallback>
                <p:oleObj name="Equation" r:id="rId5" imgW="837836" imgH="203112" progId="Equation.DSMT4">
                  <p:embed/>
                  <p:pic>
                    <p:nvPicPr>
                      <p:cNvPr id="10" name="对象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5074" y="2177144"/>
                        <a:ext cx="1706332" cy="413656"/>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800563973"/>
              </p:ext>
            </p:extLst>
          </p:nvPr>
        </p:nvGraphicFramePr>
        <p:xfrm>
          <a:off x="7411359" y="1770926"/>
          <a:ext cx="4134755" cy="2930678"/>
        </p:xfrm>
        <a:graphic>
          <a:graphicData uri="http://schemas.openxmlformats.org/presentationml/2006/ole">
            <mc:AlternateContent xmlns:mc="http://schemas.openxmlformats.org/markup-compatibility/2006">
              <mc:Choice xmlns:v="urn:schemas-microsoft-com:vml" Requires="v">
                <p:oleObj spid="_x0000_s8565" name="Visio" r:id="rId7" imgW="2304844" imgH="1638029" progId="Visio.Drawing.15">
                  <p:embed/>
                </p:oleObj>
              </mc:Choice>
              <mc:Fallback>
                <p:oleObj name="Visio" r:id="rId7" imgW="2304844" imgH="1638029" progId="Visio.Drawing.15">
                  <p:embed/>
                  <p:pic>
                    <p:nvPicPr>
                      <p:cNvPr id="0" name="Object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11359" y="1770926"/>
                        <a:ext cx="4134755" cy="2930678"/>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684413213"/>
              </p:ext>
            </p:extLst>
          </p:nvPr>
        </p:nvGraphicFramePr>
        <p:xfrm>
          <a:off x="2204055" y="2794928"/>
          <a:ext cx="3315322" cy="405471"/>
        </p:xfrm>
        <a:graphic>
          <a:graphicData uri="http://schemas.openxmlformats.org/presentationml/2006/ole">
            <mc:AlternateContent xmlns:mc="http://schemas.openxmlformats.org/markup-compatibility/2006">
              <mc:Choice xmlns:v="urn:schemas-microsoft-com:vml" Requires="v">
                <p:oleObj spid="_x0000_s8566" name="Equation" r:id="rId9" imgW="1764534" imgH="215806" progId="Equation.DSMT4">
                  <p:embed/>
                </p:oleObj>
              </mc:Choice>
              <mc:Fallback>
                <p:oleObj name="Equation" r:id="rId9" imgW="1764534" imgH="215806"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4055" y="2794928"/>
                        <a:ext cx="3315322" cy="405471"/>
                      </a:xfrm>
                      <a:prstGeom prst="rect">
                        <a:avLst/>
                      </a:prstGeom>
                      <a:noFill/>
                    </p:spPr>
                  </p:pic>
                </p:oleObj>
              </mc:Fallback>
            </mc:AlternateContent>
          </a:graphicData>
        </a:graphic>
      </p:graphicFrame>
      <p:sp>
        <p:nvSpPr>
          <p:cNvPr id="14"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2" name="对象 11"/>
          <p:cNvGraphicFramePr>
            <a:graphicFrameLocks noChangeAspect="1"/>
          </p:cNvGraphicFramePr>
          <p:nvPr>
            <p:extLst>
              <p:ext uri="{D42A27DB-BD31-4B8C-83A1-F6EECF244321}">
                <p14:modId xmlns:p14="http://schemas.microsoft.com/office/powerpoint/2010/main" val="2440848898"/>
              </p:ext>
            </p:extLst>
          </p:nvPr>
        </p:nvGraphicFramePr>
        <p:xfrm>
          <a:off x="3393320" y="3345682"/>
          <a:ext cx="1815301" cy="640010"/>
        </p:xfrm>
        <a:graphic>
          <a:graphicData uri="http://schemas.openxmlformats.org/presentationml/2006/ole">
            <mc:AlternateContent xmlns:mc="http://schemas.openxmlformats.org/markup-compatibility/2006">
              <mc:Choice xmlns:v="urn:schemas-microsoft-com:vml" Requires="v">
                <p:oleObj spid="_x0000_s8567" name="Equation" r:id="rId11" imgW="990170" imgH="355446" progId="Equation.DSMT4">
                  <p:embed/>
                </p:oleObj>
              </mc:Choice>
              <mc:Fallback>
                <p:oleObj name="Equation" r:id="rId11" imgW="990170" imgH="355446" progId="Equation.DSMT4">
                  <p:embed/>
                  <p:pic>
                    <p:nvPicPr>
                      <p:cNvPr id="15" name="对象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93320" y="3345682"/>
                        <a:ext cx="1815301" cy="640010"/>
                      </a:xfrm>
                      <a:prstGeom prst="rect">
                        <a:avLst/>
                      </a:prstGeom>
                      <a:noFill/>
                    </p:spPr>
                  </p:pic>
                </p:oleObj>
              </mc:Fallback>
            </mc:AlternateContent>
          </a:graphicData>
        </a:graphic>
      </p:graphicFrame>
    </p:spTree>
    <p:extLst>
      <p:ext uri="{BB962C8B-B14F-4D97-AF65-F5344CB8AC3E}">
        <p14:creationId xmlns:p14="http://schemas.microsoft.com/office/powerpoint/2010/main" val="36483989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14</a:t>
            </a:fld>
            <a:endParaRPr lang="en-US" altLang="zh-CN">
              <a:solidFill>
                <a:srgbClr val="FFFFFF"/>
              </a:solidFill>
            </a:endParaRPr>
          </a:p>
        </p:txBody>
      </p:sp>
      <p:sp>
        <p:nvSpPr>
          <p:cNvPr id="5" name="矩形 4"/>
          <p:cNvSpPr/>
          <p:nvPr/>
        </p:nvSpPr>
        <p:spPr>
          <a:xfrm>
            <a:off x="399143" y="425056"/>
            <a:ext cx="11350171" cy="1477328"/>
          </a:xfrm>
          <a:prstGeom prst="rect">
            <a:avLst/>
          </a:prstGeom>
        </p:spPr>
        <p:txBody>
          <a:bodyPr wrap="square">
            <a:spAutoFit/>
          </a:bodyPr>
          <a:lstStyle/>
          <a:p>
            <a:pPr marL="285750" indent="-285750">
              <a:lnSpc>
                <a:spcPct val="200000"/>
              </a:lnSpc>
              <a:buFont typeface="Arial" panose="020B0604020202020204" pitchFamily="34" charset="0"/>
              <a:buChar char="•"/>
            </a:pPr>
            <a:r>
              <a:rPr lang="en-US" altLang="zh-CN" sz="1800" dirty="0" smtClean="0"/>
              <a:t>2FSK</a:t>
            </a:r>
            <a:r>
              <a:rPr lang="zh-CN" altLang="en-US" sz="1800" dirty="0" smtClean="0">
                <a:latin typeface="黑体" panose="02010609060101010101" pitchFamily="49" charset="-122"/>
                <a:ea typeface="黑体" panose="02010609060101010101" pitchFamily="49" charset="-122"/>
              </a:rPr>
              <a:t>信号</a:t>
            </a:r>
            <a:endParaRPr lang="en-US" altLang="zh-CN" sz="1800" dirty="0" smtClean="0">
              <a:latin typeface="黑体" panose="02010609060101010101" pitchFamily="49" charset="-122"/>
              <a:ea typeface="黑体" panose="02010609060101010101" pitchFamily="49" charset="-122"/>
            </a:endParaRPr>
          </a:p>
          <a:p>
            <a:pPr indent="457200">
              <a:lnSpc>
                <a:spcPct val="150000"/>
              </a:lnSpc>
            </a:pPr>
            <a:r>
              <a:rPr lang="en-US" altLang="zh-CN" sz="1800" dirty="0" smtClean="0"/>
              <a:t>2FSK</a:t>
            </a:r>
            <a:r>
              <a:rPr lang="zh-CN" altLang="zh-CN" sz="1800" dirty="0" smtClean="0"/>
              <a:t>调制</a:t>
            </a:r>
            <a:r>
              <a:rPr lang="zh-CN" altLang="zh-CN" sz="1800" dirty="0"/>
              <a:t>使载波的频率随基带信号变化。已调波的频率有两个：频率</a:t>
            </a:r>
            <a:r>
              <a:rPr lang="en-US" altLang="zh-CN" sz="1800" i="1" dirty="0"/>
              <a:t>f</a:t>
            </a:r>
            <a:r>
              <a:rPr lang="en-US" altLang="zh-CN" sz="1800" baseline="-25000" dirty="0"/>
              <a:t>1</a:t>
            </a:r>
            <a:r>
              <a:rPr lang="zh-CN" altLang="zh-CN" sz="1800" dirty="0"/>
              <a:t>对应数字</a:t>
            </a:r>
            <a:r>
              <a:rPr lang="en-US" altLang="zh-CN" sz="1800" dirty="0"/>
              <a:t>1</a:t>
            </a:r>
            <a:r>
              <a:rPr lang="zh-CN" altLang="zh-CN" sz="1800" dirty="0"/>
              <a:t>，频率</a:t>
            </a:r>
            <a:r>
              <a:rPr lang="en-US" altLang="zh-CN" sz="1800" i="1" dirty="0"/>
              <a:t>f</a:t>
            </a:r>
            <a:r>
              <a:rPr lang="en-US" altLang="zh-CN" sz="1800" baseline="-25000" dirty="0"/>
              <a:t>2</a:t>
            </a:r>
            <a:r>
              <a:rPr lang="zh-CN" altLang="zh-CN" sz="1800" dirty="0"/>
              <a:t>对应数字</a:t>
            </a:r>
            <a:r>
              <a:rPr lang="en-US" altLang="zh-CN" sz="1800" dirty="0"/>
              <a:t>0</a:t>
            </a:r>
            <a:r>
              <a:rPr lang="zh-CN" altLang="zh-CN" sz="1800" dirty="0" smtClean="0"/>
              <a:t>。</a:t>
            </a:r>
            <a:endParaRPr lang="en-US" altLang="zh-CN" sz="1800" dirty="0" smtClean="0"/>
          </a:p>
          <a:p>
            <a:pPr indent="457200">
              <a:lnSpc>
                <a:spcPct val="150000"/>
              </a:lnSpc>
            </a:pPr>
            <a:r>
              <a:rPr lang="zh-CN" altLang="en-US" sz="1800" dirty="0" smtClean="0"/>
              <a:t>与</a:t>
            </a:r>
            <a:r>
              <a:rPr lang="en-US" altLang="zh-CN" sz="1800" dirty="0" smtClean="0"/>
              <a:t>ASK</a:t>
            </a:r>
            <a:r>
              <a:rPr lang="zh-CN" altLang="en-US" sz="1800" dirty="0" smtClean="0"/>
              <a:t>类似，将</a:t>
            </a:r>
            <a:r>
              <a:rPr lang="zh-CN" altLang="en-US" sz="1800" dirty="0"/>
              <a:t>基带信号</a:t>
            </a:r>
            <a:r>
              <a:rPr lang="zh-CN" altLang="en-US" sz="1800" dirty="0" smtClean="0"/>
              <a:t>看作方波调制信号，</a:t>
            </a:r>
            <a:r>
              <a:rPr lang="zh-CN" altLang="en-US" sz="1800" dirty="0"/>
              <a:t>则它</a:t>
            </a:r>
            <a:r>
              <a:rPr lang="zh-CN" altLang="en-US" sz="1800" dirty="0" smtClean="0"/>
              <a:t>与</a:t>
            </a:r>
            <a:r>
              <a:rPr lang="en-US" altLang="zh-CN" sz="1800" dirty="0" smtClean="0"/>
              <a:t>FM</a:t>
            </a:r>
            <a:r>
              <a:rPr lang="zh-CN" altLang="en-US" sz="1800" dirty="0"/>
              <a:t>调制是</a:t>
            </a:r>
            <a:r>
              <a:rPr lang="zh-CN" altLang="en-US" sz="1800" dirty="0" smtClean="0"/>
              <a:t>一回事</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3084479747"/>
              </p:ext>
            </p:extLst>
          </p:nvPr>
        </p:nvGraphicFramePr>
        <p:xfrm>
          <a:off x="2307770" y="2325518"/>
          <a:ext cx="5834744" cy="1397396"/>
        </p:xfrm>
        <a:graphic>
          <a:graphicData uri="http://schemas.openxmlformats.org/presentationml/2006/ole">
            <mc:AlternateContent xmlns:mc="http://schemas.openxmlformats.org/markup-compatibility/2006">
              <mc:Choice xmlns:v="urn:schemas-microsoft-com:vml" Requires="v">
                <p:oleObj spid="_x0000_s13384" name="Visio" r:id="rId3" imgW="3023640" imgH="723600" progId="Visio.Drawing.11">
                  <p:embed/>
                </p:oleObj>
              </mc:Choice>
              <mc:Fallback>
                <p:oleObj name="Visio" r:id="rId3" imgW="3023640" imgH="72360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7770" y="2325518"/>
                        <a:ext cx="5834744" cy="1397396"/>
                      </a:xfrm>
                      <a:prstGeom prst="rect">
                        <a:avLst/>
                      </a:prstGeom>
                      <a:noFill/>
                    </p:spPr>
                  </p:pic>
                </p:oleObj>
              </mc:Fallback>
            </mc:AlternateContent>
          </a:graphicData>
        </a:graphic>
      </p:graphicFrame>
      <p:sp>
        <p:nvSpPr>
          <p:cNvPr id="9" name="文本框 8"/>
          <p:cNvSpPr txBox="1"/>
          <p:nvPr/>
        </p:nvSpPr>
        <p:spPr>
          <a:xfrm>
            <a:off x="4027714" y="3722914"/>
            <a:ext cx="449943" cy="400110"/>
          </a:xfrm>
          <a:prstGeom prst="rect">
            <a:avLst/>
          </a:prstGeom>
          <a:noFill/>
        </p:spPr>
        <p:txBody>
          <a:bodyPr wrap="square" rtlCol="0">
            <a:spAutoFit/>
          </a:bodyPr>
          <a:lstStyle/>
          <a:p>
            <a:r>
              <a:rPr lang="en-US" altLang="zh-CN" dirty="0" smtClean="0"/>
              <a:t>f1</a:t>
            </a:r>
            <a:endParaRPr lang="zh-CN" altLang="en-US" dirty="0"/>
          </a:p>
        </p:txBody>
      </p:sp>
      <p:sp>
        <p:nvSpPr>
          <p:cNvPr id="12" name="文本框 11"/>
          <p:cNvSpPr txBox="1"/>
          <p:nvPr/>
        </p:nvSpPr>
        <p:spPr>
          <a:xfrm>
            <a:off x="5145314" y="3722914"/>
            <a:ext cx="449943" cy="400110"/>
          </a:xfrm>
          <a:prstGeom prst="rect">
            <a:avLst/>
          </a:prstGeom>
          <a:noFill/>
        </p:spPr>
        <p:txBody>
          <a:bodyPr wrap="square" rtlCol="0">
            <a:spAutoFit/>
          </a:bodyPr>
          <a:lstStyle/>
          <a:p>
            <a:r>
              <a:rPr lang="en-US" altLang="zh-CN" dirty="0" smtClean="0"/>
              <a:t>f2</a:t>
            </a:r>
            <a:endParaRPr lang="zh-CN" altLang="en-US" dirty="0"/>
          </a:p>
        </p:txBody>
      </p:sp>
      <p:sp>
        <p:nvSpPr>
          <p:cNvPr id="13" name="文本框 12"/>
          <p:cNvSpPr txBox="1"/>
          <p:nvPr/>
        </p:nvSpPr>
        <p:spPr>
          <a:xfrm>
            <a:off x="6429828" y="3722914"/>
            <a:ext cx="449943" cy="400110"/>
          </a:xfrm>
          <a:prstGeom prst="rect">
            <a:avLst/>
          </a:prstGeom>
          <a:noFill/>
        </p:spPr>
        <p:txBody>
          <a:bodyPr wrap="square" rtlCol="0">
            <a:spAutoFit/>
          </a:bodyPr>
          <a:lstStyle/>
          <a:p>
            <a:r>
              <a:rPr lang="en-US" altLang="zh-CN" dirty="0" smtClean="0"/>
              <a:t>f1</a:t>
            </a:r>
            <a:endParaRPr lang="zh-CN" altLang="en-US" dirty="0"/>
          </a:p>
        </p:txBody>
      </p:sp>
    </p:spTree>
    <p:extLst>
      <p:ext uri="{BB962C8B-B14F-4D97-AF65-F5344CB8AC3E}">
        <p14:creationId xmlns:p14="http://schemas.microsoft.com/office/powerpoint/2010/main" val="773423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15</a:t>
            </a:fld>
            <a:endParaRPr lang="en-US" altLang="zh-CN">
              <a:solidFill>
                <a:srgbClr val="FFFFFF"/>
              </a:solidFill>
            </a:endParaRPr>
          </a:p>
        </p:txBody>
      </p:sp>
      <p:sp>
        <p:nvSpPr>
          <p:cNvPr id="5" name="文本框 4"/>
          <p:cNvSpPr txBox="1"/>
          <p:nvPr/>
        </p:nvSpPr>
        <p:spPr>
          <a:xfrm>
            <a:off x="428171" y="464457"/>
            <a:ext cx="6052457" cy="96949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常用的</a:t>
            </a:r>
            <a:r>
              <a:rPr lang="en-US" altLang="zh-CN" dirty="0" smtClean="0"/>
              <a:t>FM</a:t>
            </a:r>
            <a:r>
              <a:rPr lang="zh-CN" altLang="en-US" dirty="0" smtClean="0"/>
              <a:t>解调电路</a:t>
            </a:r>
            <a:endParaRPr lang="en-US" altLang="zh-CN" dirty="0" smtClean="0"/>
          </a:p>
          <a:p>
            <a:pPr>
              <a:lnSpc>
                <a:spcPct val="150000"/>
              </a:lnSpc>
            </a:pPr>
            <a:r>
              <a:rPr lang="en-US" altLang="zh-CN" sz="1800" dirty="0" smtClean="0"/>
              <a:t>1</a:t>
            </a:r>
            <a:r>
              <a:rPr lang="zh-CN" altLang="en-US" sz="1800" dirty="0" smtClean="0"/>
              <a:t>、差分峰值鉴频器</a:t>
            </a:r>
            <a:endParaRPr lang="zh-CN" altLang="en-US" sz="1800" dirty="0"/>
          </a:p>
        </p:txBody>
      </p:sp>
      <p:sp>
        <p:nvSpPr>
          <p:cNvPr id="9" name="矩形 8"/>
          <p:cNvSpPr/>
          <p:nvPr/>
        </p:nvSpPr>
        <p:spPr>
          <a:xfrm>
            <a:off x="682474" y="1365084"/>
            <a:ext cx="5943297" cy="4724370"/>
          </a:xfrm>
          <a:prstGeom prst="rect">
            <a:avLst/>
          </a:prstGeom>
        </p:spPr>
        <p:txBody>
          <a:bodyPr wrap="square">
            <a:spAutoFit/>
          </a:bodyPr>
          <a:lstStyle/>
          <a:p>
            <a:pPr>
              <a:lnSpc>
                <a:spcPct val="200000"/>
              </a:lnSpc>
            </a:pPr>
            <a:r>
              <a:rPr lang="en-US" altLang="zh-CN" sz="1800" i="1" dirty="0" smtClean="0"/>
              <a:t>LC</a:t>
            </a:r>
            <a:r>
              <a:rPr lang="en-US" altLang="zh-CN" sz="1800" baseline="-25000" dirty="0" smtClean="0"/>
              <a:t>1</a:t>
            </a:r>
            <a:r>
              <a:rPr lang="zh-CN" altLang="zh-CN" sz="1800" dirty="0" smtClean="0"/>
              <a:t>构成并联谐振回路</a:t>
            </a:r>
            <a:endParaRPr lang="en-US" altLang="zh-CN" sz="1800" dirty="0" smtClean="0"/>
          </a:p>
          <a:p>
            <a:pPr>
              <a:lnSpc>
                <a:spcPct val="200000"/>
              </a:lnSpc>
            </a:pPr>
            <a:endParaRPr lang="en-US" altLang="zh-CN" sz="1800" dirty="0" smtClean="0"/>
          </a:p>
          <a:p>
            <a:pPr>
              <a:lnSpc>
                <a:spcPct val="150000"/>
              </a:lnSpc>
            </a:pPr>
            <a:r>
              <a:rPr lang="en-US" altLang="zh-CN" sz="1800" i="1" dirty="0" smtClean="0"/>
              <a:t>LC</a:t>
            </a:r>
            <a:r>
              <a:rPr lang="en-US" altLang="zh-CN" sz="1800" baseline="-25000" dirty="0" smtClean="0"/>
              <a:t>1</a:t>
            </a:r>
            <a:r>
              <a:rPr lang="en-US" altLang="zh-CN" sz="1800" i="1" dirty="0" smtClean="0"/>
              <a:t>C</a:t>
            </a:r>
            <a:r>
              <a:rPr lang="en-US" altLang="zh-CN" sz="1800" baseline="-25000" dirty="0" smtClean="0"/>
              <a:t>2</a:t>
            </a:r>
            <a:r>
              <a:rPr lang="zh-CN" altLang="zh-CN" sz="1800" dirty="0" smtClean="0"/>
              <a:t>构成串联谐振回路</a:t>
            </a:r>
            <a:endParaRPr lang="en-US" altLang="zh-CN" sz="1800" dirty="0" smtClean="0"/>
          </a:p>
          <a:p>
            <a:pPr>
              <a:lnSpc>
                <a:spcPct val="150000"/>
              </a:lnSpc>
              <a:spcAft>
                <a:spcPts val="1200"/>
              </a:spcAft>
            </a:pPr>
            <a:endParaRPr lang="en-US" altLang="zh-CN" sz="1800" dirty="0"/>
          </a:p>
          <a:p>
            <a:pPr>
              <a:lnSpc>
                <a:spcPct val="150000"/>
              </a:lnSpc>
            </a:pPr>
            <a:r>
              <a:rPr lang="zh-CN" altLang="en-US" sz="1800" dirty="0" smtClean="0"/>
              <a:t>设计要点：</a:t>
            </a:r>
            <a:endParaRPr lang="en-US" altLang="zh-CN" sz="1800" dirty="0" smtClean="0"/>
          </a:p>
          <a:p>
            <a:pPr marL="285750" indent="-285750">
              <a:lnSpc>
                <a:spcPct val="150000"/>
              </a:lnSpc>
              <a:buFont typeface="Arial" panose="020B0604020202020204" pitchFamily="34" charset="0"/>
              <a:buChar char="•"/>
            </a:pPr>
            <a:r>
              <a:rPr lang="zh-CN" altLang="en-US" sz="1800" dirty="0" smtClean="0"/>
              <a:t>有效鉴频范围不超过两个谐振频率之差的</a:t>
            </a:r>
            <a:r>
              <a:rPr lang="en-US" altLang="zh-CN" sz="1800" dirty="0" smtClean="0"/>
              <a:t>1/3</a:t>
            </a:r>
            <a:r>
              <a:rPr lang="zh-CN" altLang="en-US" sz="1800" dirty="0" smtClean="0"/>
              <a:t>为宜</a:t>
            </a:r>
            <a:endParaRPr lang="en-US" altLang="zh-CN" sz="1800" dirty="0" smtClean="0"/>
          </a:p>
          <a:p>
            <a:pPr marL="285750" indent="-285750">
              <a:lnSpc>
                <a:spcPct val="150000"/>
              </a:lnSpc>
              <a:buFont typeface="Arial" panose="020B0604020202020204" pitchFamily="34" charset="0"/>
              <a:buChar char="•"/>
            </a:pPr>
            <a:r>
              <a:rPr lang="zh-CN" altLang="en-US" sz="1800" dirty="0" smtClean="0"/>
              <a:t>回路的</a:t>
            </a:r>
            <a:r>
              <a:rPr lang="en-US" altLang="zh-CN" sz="1800" dirty="0" smtClean="0"/>
              <a:t>Q</a:t>
            </a:r>
            <a:r>
              <a:rPr lang="zh-CN" altLang="en-US" sz="1800" dirty="0" smtClean="0"/>
              <a:t>值（主要是电感）不要太高，以</a:t>
            </a:r>
            <a:r>
              <a:rPr lang="en-US" altLang="zh-CN" sz="1800" dirty="0" smtClean="0"/>
              <a:t>30~50</a:t>
            </a:r>
            <a:r>
              <a:rPr lang="zh-CN" altLang="en-US" sz="1800" dirty="0" smtClean="0"/>
              <a:t>为宜</a:t>
            </a:r>
            <a:endParaRPr lang="en-US" altLang="zh-CN" sz="1800" dirty="0" smtClean="0"/>
          </a:p>
          <a:p>
            <a:pPr marL="285750" indent="-285750">
              <a:lnSpc>
                <a:spcPct val="150000"/>
              </a:lnSpc>
              <a:spcBef>
                <a:spcPts val="1800"/>
              </a:spcBef>
              <a:spcAft>
                <a:spcPts val="1800"/>
              </a:spcAft>
              <a:buFont typeface="Arial" panose="020B0604020202020204" pitchFamily="34" charset="0"/>
              <a:buChar char="•"/>
            </a:pPr>
            <a:r>
              <a:rPr lang="zh-CN" altLang="en-US" sz="1800" dirty="0" smtClean="0"/>
              <a:t>电阻</a:t>
            </a:r>
            <a:r>
              <a:rPr lang="en-US" altLang="zh-CN" sz="1800" dirty="0" smtClean="0"/>
              <a:t>R</a:t>
            </a:r>
            <a:r>
              <a:rPr lang="zh-CN" altLang="en-US" sz="1800" dirty="0" smtClean="0"/>
              <a:t>的合适取值：</a:t>
            </a:r>
            <a:endParaRPr lang="en-US" altLang="zh-CN" sz="1800" dirty="0" smtClean="0"/>
          </a:p>
          <a:p>
            <a:pPr marL="285750" indent="-285750">
              <a:lnSpc>
                <a:spcPct val="150000"/>
              </a:lnSpc>
              <a:buFont typeface="Arial" panose="020B0604020202020204" pitchFamily="34" charset="0"/>
              <a:buChar char="•"/>
            </a:pPr>
            <a:r>
              <a:rPr lang="zh-CN" altLang="en-US" sz="1800" dirty="0" smtClean="0"/>
              <a:t>电路前端须加入限幅</a:t>
            </a:r>
            <a:r>
              <a:rPr lang="zh-CN" altLang="en-US" sz="1800" dirty="0"/>
              <a:t>环节</a:t>
            </a:r>
          </a:p>
        </p:txBody>
      </p:sp>
      <p:graphicFrame>
        <p:nvGraphicFramePr>
          <p:cNvPr id="11" name="对象 10"/>
          <p:cNvGraphicFramePr>
            <a:graphicFrameLocks noChangeAspect="1"/>
          </p:cNvGraphicFramePr>
          <p:nvPr>
            <p:extLst>
              <p:ext uri="{D42A27DB-BD31-4B8C-83A1-F6EECF244321}">
                <p14:modId xmlns:p14="http://schemas.microsoft.com/office/powerpoint/2010/main" val="140398331"/>
              </p:ext>
            </p:extLst>
          </p:nvPr>
        </p:nvGraphicFramePr>
        <p:xfrm>
          <a:off x="850900" y="1979613"/>
          <a:ext cx="1782763" cy="439737"/>
        </p:xfrm>
        <a:graphic>
          <a:graphicData uri="http://schemas.openxmlformats.org/presentationml/2006/ole">
            <mc:AlternateContent xmlns:mc="http://schemas.openxmlformats.org/markup-compatibility/2006">
              <mc:Choice xmlns:v="urn:schemas-microsoft-com:vml" Requires="v">
                <p:oleObj spid="_x0000_s5360" name="Equation" r:id="rId4" imgW="977760" imgH="241200" progId="Equation.DSMT4">
                  <p:embed/>
                </p:oleObj>
              </mc:Choice>
              <mc:Fallback>
                <p:oleObj name="Equation" r:id="rId4" imgW="977760" imgH="241200" progId="Equation.DSMT4">
                  <p:embed/>
                  <p:pic>
                    <p:nvPicPr>
                      <p:cNvPr id="0" name="Object 5"/>
                      <p:cNvPicPr>
                        <a:picLocks noChangeAspect="1" noChangeArrowheads="1"/>
                      </p:cNvPicPr>
                      <p:nvPr/>
                    </p:nvPicPr>
                    <p:blipFill>
                      <a:blip r:embed="rId5"/>
                      <a:srcRect/>
                      <a:stretch>
                        <a:fillRect/>
                      </a:stretch>
                    </p:blipFill>
                    <p:spPr bwMode="auto">
                      <a:xfrm>
                        <a:off x="850900" y="1979613"/>
                        <a:ext cx="1782763" cy="439737"/>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776865341"/>
              </p:ext>
            </p:extLst>
          </p:nvPr>
        </p:nvGraphicFramePr>
        <p:xfrm>
          <a:off x="841375" y="2952750"/>
          <a:ext cx="2532063" cy="461963"/>
        </p:xfrm>
        <a:graphic>
          <a:graphicData uri="http://schemas.openxmlformats.org/presentationml/2006/ole">
            <mc:AlternateContent xmlns:mc="http://schemas.openxmlformats.org/markup-compatibility/2006">
              <mc:Choice xmlns:v="urn:schemas-microsoft-com:vml" Requires="v">
                <p:oleObj spid="_x0000_s5361" name="Equation" r:id="rId6" imgW="1320480" imgH="241200" progId="Equation.DSMT4">
                  <p:embed/>
                </p:oleObj>
              </mc:Choice>
              <mc:Fallback>
                <p:oleObj name="Equation" r:id="rId6" imgW="1320480" imgH="241200" progId="Equation.DSMT4">
                  <p:embed/>
                  <p:pic>
                    <p:nvPicPr>
                      <p:cNvPr id="0" name="Object 7"/>
                      <p:cNvPicPr>
                        <a:picLocks noChangeAspect="1" noChangeArrowheads="1"/>
                      </p:cNvPicPr>
                      <p:nvPr/>
                    </p:nvPicPr>
                    <p:blipFill>
                      <a:blip r:embed="rId7"/>
                      <a:srcRect/>
                      <a:stretch>
                        <a:fillRect/>
                      </a:stretch>
                    </p:blipFill>
                    <p:spPr bwMode="auto">
                      <a:xfrm>
                        <a:off x="841375" y="2952750"/>
                        <a:ext cx="2532063" cy="461963"/>
                      </a:xfrm>
                      <a:prstGeom prst="rect">
                        <a:avLst/>
                      </a:prstGeom>
                      <a:noFill/>
                    </p:spPr>
                  </p:pic>
                </p:oleObj>
              </mc:Fallback>
            </mc:AlternateContent>
          </a:graphicData>
        </a:graphic>
      </p:graphicFrame>
      <p:pic>
        <p:nvPicPr>
          <p:cNvPr id="17" name="图片 16"/>
          <p:cNvPicPr>
            <a:picLocks noChangeAspect="1"/>
          </p:cNvPicPr>
          <p:nvPr/>
        </p:nvPicPr>
        <p:blipFill>
          <a:blip r:embed="rId8"/>
          <a:stretch>
            <a:fillRect/>
          </a:stretch>
        </p:blipFill>
        <p:spPr>
          <a:xfrm>
            <a:off x="6902676" y="3387921"/>
            <a:ext cx="4700360" cy="3089391"/>
          </a:xfrm>
          <a:prstGeom prst="rect">
            <a:avLst/>
          </a:prstGeom>
        </p:spPr>
      </p:pic>
      <p:graphicFrame>
        <p:nvGraphicFramePr>
          <p:cNvPr id="19" name="对象 18"/>
          <p:cNvGraphicFramePr>
            <a:graphicFrameLocks noChangeAspect="1"/>
          </p:cNvGraphicFramePr>
          <p:nvPr>
            <p:extLst>
              <p:ext uri="{D42A27DB-BD31-4B8C-83A1-F6EECF244321}">
                <p14:modId xmlns:p14="http://schemas.microsoft.com/office/powerpoint/2010/main" val="4088176311"/>
              </p:ext>
            </p:extLst>
          </p:nvPr>
        </p:nvGraphicFramePr>
        <p:xfrm>
          <a:off x="3136134" y="4799259"/>
          <a:ext cx="1901693" cy="811550"/>
        </p:xfrm>
        <a:graphic>
          <a:graphicData uri="http://schemas.openxmlformats.org/presentationml/2006/ole">
            <mc:AlternateContent xmlns:mc="http://schemas.openxmlformats.org/markup-compatibility/2006">
              <mc:Choice xmlns:v="urn:schemas-microsoft-com:vml" Requires="v">
                <p:oleObj spid="_x0000_s5362" name="Equation" r:id="rId9" imgW="1002865" imgH="418918" progId="Equation.DSMT4">
                  <p:embed/>
                </p:oleObj>
              </mc:Choice>
              <mc:Fallback>
                <p:oleObj name="Equation" r:id="rId9" imgW="1002865" imgH="418918" progId="Equation.DSMT4">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6134" y="4799259"/>
                        <a:ext cx="1901693" cy="811550"/>
                      </a:xfrm>
                      <a:prstGeom prst="rect">
                        <a:avLst/>
                      </a:prstGeom>
                      <a:noFill/>
                    </p:spPr>
                  </p:pic>
                </p:oleObj>
              </mc:Fallback>
            </mc:AlternateContent>
          </a:graphicData>
        </a:graphic>
      </p:graphicFrame>
      <p:pic>
        <p:nvPicPr>
          <p:cNvPr id="25" name="图片 24"/>
          <p:cNvPicPr>
            <a:picLocks noChangeAspect="1"/>
          </p:cNvPicPr>
          <p:nvPr/>
        </p:nvPicPr>
        <p:blipFill>
          <a:blip r:embed="rId11"/>
          <a:stretch>
            <a:fillRect/>
          </a:stretch>
        </p:blipFill>
        <p:spPr>
          <a:xfrm>
            <a:off x="4086980" y="844161"/>
            <a:ext cx="7698474" cy="2543760"/>
          </a:xfrm>
          <a:prstGeom prst="rect">
            <a:avLst/>
          </a:prstGeom>
        </p:spPr>
      </p:pic>
    </p:spTree>
    <p:extLst>
      <p:ext uri="{BB962C8B-B14F-4D97-AF65-F5344CB8AC3E}">
        <p14:creationId xmlns:p14="http://schemas.microsoft.com/office/powerpoint/2010/main" val="3068090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16</a:t>
            </a:fld>
            <a:endParaRPr lang="en-US" altLang="zh-CN">
              <a:solidFill>
                <a:srgbClr val="FFFFFF"/>
              </a:solidFill>
            </a:endParaRPr>
          </a:p>
        </p:txBody>
      </p:sp>
      <p:sp>
        <p:nvSpPr>
          <p:cNvPr id="7" name="文本框 6"/>
          <p:cNvSpPr txBox="1"/>
          <p:nvPr/>
        </p:nvSpPr>
        <p:spPr>
          <a:xfrm>
            <a:off x="478971" y="485495"/>
            <a:ext cx="11321143" cy="1754326"/>
          </a:xfrm>
          <a:prstGeom prst="rect">
            <a:avLst/>
          </a:prstGeom>
          <a:noFill/>
        </p:spPr>
        <p:txBody>
          <a:bodyPr wrap="square" rtlCol="0">
            <a:spAutoFit/>
          </a:bodyPr>
          <a:lstStyle/>
          <a:p>
            <a:pPr>
              <a:lnSpc>
                <a:spcPct val="150000"/>
              </a:lnSpc>
            </a:pPr>
            <a:r>
              <a:rPr lang="en-US" altLang="zh-CN" sz="1800" dirty="0" smtClean="0"/>
              <a:t>2</a:t>
            </a:r>
            <a:r>
              <a:rPr lang="zh-CN" altLang="en-US" sz="1800" dirty="0" smtClean="0"/>
              <a:t>、比例鉴频器</a:t>
            </a:r>
            <a:endParaRPr lang="en-US" altLang="zh-CN" sz="1800" dirty="0" smtClean="0"/>
          </a:p>
          <a:p>
            <a:pPr indent="457200">
              <a:lnSpc>
                <a:spcPct val="150000"/>
              </a:lnSpc>
            </a:pPr>
            <a:r>
              <a:rPr lang="zh-CN" altLang="en-US" sz="1800" dirty="0" smtClean="0"/>
              <a:t>工作</a:t>
            </a:r>
            <a:r>
              <a:rPr lang="zh-CN" altLang="en-US" sz="1800" dirty="0"/>
              <a:t>原理</a:t>
            </a:r>
            <a:r>
              <a:rPr lang="zh-CN" altLang="en-US" sz="1800" dirty="0" smtClean="0"/>
              <a:t>：</a:t>
            </a:r>
            <a:r>
              <a:rPr lang="en-US" altLang="zh-CN" sz="1800" dirty="0" smtClean="0"/>
              <a:t>C01</a:t>
            </a:r>
            <a:r>
              <a:rPr lang="zh-CN" altLang="en-US" sz="1800" dirty="0" smtClean="0"/>
              <a:t>与</a:t>
            </a:r>
            <a:r>
              <a:rPr lang="en-US" altLang="zh-CN" sz="1800" dirty="0"/>
              <a:t>T1</a:t>
            </a:r>
            <a:r>
              <a:rPr lang="zh-CN" altLang="en-US" sz="1800" dirty="0"/>
              <a:t>、</a:t>
            </a:r>
            <a:r>
              <a:rPr lang="en-US" altLang="zh-CN" sz="1800" dirty="0"/>
              <a:t>T2</a:t>
            </a:r>
            <a:r>
              <a:rPr lang="zh-CN" altLang="en-US" sz="1800" dirty="0"/>
              <a:t>的初级电感构成一个谐振回路</a:t>
            </a:r>
            <a:r>
              <a:rPr lang="zh-CN" altLang="en-US" sz="1800" dirty="0" smtClean="0"/>
              <a:t>，</a:t>
            </a:r>
            <a:r>
              <a:rPr lang="en-US" altLang="zh-CN" sz="1800" dirty="0" smtClean="0"/>
              <a:t>C02</a:t>
            </a:r>
            <a:r>
              <a:rPr lang="zh-CN" altLang="en-US" sz="1800" dirty="0" smtClean="0"/>
              <a:t>与</a:t>
            </a:r>
            <a:r>
              <a:rPr lang="en-US" altLang="zh-CN" sz="1800" dirty="0"/>
              <a:t>T2</a:t>
            </a:r>
            <a:r>
              <a:rPr lang="zh-CN" altLang="en-US" sz="1800" dirty="0"/>
              <a:t>次级电感也构成一个谐振</a:t>
            </a:r>
            <a:r>
              <a:rPr lang="zh-CN" altLang="en-US" sz="1800" dirty="0" smtClean="0"/>
              <a:t>回路</a:t>
            </a:r>
            <a:endParaRPr lang="en-US" altLang="zh-CN" sz="1800" dirty="0"/>
          </a:p>
          <a:p>
            <a:pPr indent="457200">
              <a:lnSpc>
                <a:spcPct val="150000"/>
              </a:lnSpc>
            </a:pPr>
            <a:r>
              <a:rPr lang="en-US" altLang="zh-CN" sz="1800" dirty="0" smtClean="0"/>
              <a:t>T2</a:t>
            </a:r>
            <a:r>
              <a:rPr lang="zh-CN" altLang="en-US" sz="1800" dirty="0"/>
              <a:t>初级只有</a:t>
            </a:r>
            <a:r>
              <a:rPr lang="en-US" altLang="zh-CN" sz="1800" dirty="0"/>
              <a:t>1</a:t>
            </a:r>
            <a:r>
              <a:rPr lang="zh-CN" altLang="en-US" sz="1800" dirty="0"/>
              <a:t>匝，所以两个谐振回路之间为松耦合，</a:t>
            </a:r>
            <a:r>
              <a:rPr lang="en-US" altLang="zh-CN" sz="1800" dirty="0"/>
              <a:t>T2</a:t>
            </a:r>
            <a:r>
              <a:rPr lang="zh-CN" altLang="en-US" sz="1800" dirty="0"/>
              <a:t>次级电压与初级谐振回路的电压有</a:t>
            </a:r>
            <a:r>
              <a:rPr lang="en-US" altLang="zh-CN" sz="1800" dirty="0"/>
              <a:t>90°</a:t>
            </a:r>
            <a:r>
              <a:rPr lang="zh-CN" altLang="en-US" sz="1800" dirty="0"/>
              <a:t>的固定相移以及一个与频偏有关的附加相移。</a:t>
            </a:r>
            <a:r>
              <a:rPr lang="en-US" altLang="zh-CN" sz="1800" dirty="0"/>
              <a:t>T1</a:t>
            </a:r>
            <a:r>
              <a:rPr lang="zh-CN" altLang="en-US" sz="1800" dirty="0"/>
              <a:t>初次级之间为紧耦合，所以</a:t>
            </a:r>
            <a:r>
              <a:rPr lang="en-US" altLang="zh-CN" sz="1800" dirty="0"/>
              <a:t>T1</a:t>
            </a:r>
            <a:r>
              <a:rPr lang="zh-CN" altLang="en-US" sz="1800" dirty="0"/>
              <a:t>次级电压与初级谐振回路电压</a:t>
            </a:r>
            <a:r>
              <a:rPr lang="zh-CN" altLang="en-US" sz="1800" dirty="0" smtClean="0"/>
              <a:t>同相</a:t>
            </a:r>
            <a:endParaRPr lang="en-US" altLang="zh-CN" sz="1800" dirty="0"/>
          </a:p>
        </p:txBody>
      </p:sp>
      <p:graphicFrame>
        <p:nvGraphicFramePr>
          <p:cNvPr id="8" name="对象 7"/>
          <p:cNvGraphicFramePr>
            <a:graphicFrameLocks noChangeAspect="1"/>
          </p:cNvGraphicFramePr>
          <p:nvPr>
            <p:extLst>
              <p:ext uri="{D42A27DB-BD31-4B8C-83A1-F6EECF244321}">
                <p14:modId xmlns:p14="http://schemas.microsoft.com/office/powerpoint/2010/main" val="2301063876"/>
              </p:ext>
            </p:extLst>
          </p:nvPr>
        </p:nvGraphicFramePr>
        <p:xfrm>
          <a:off x="4870420" y="2842658"/>
          <a:ext cx="7060321" cy="2915970"/>
        </p:xfrm>
        <a:graphic>
          <a:graphicData uri="http://schemas.openxmlformats.org/presentationml/2006/ole">
            <mc:AlternateContent xmlns:mc="http://schemas.openxmlformats.org/markup-compatibility/2006">
              <mc:Choice xmlns:v="urn:schemas-microsoft-com:vml" Requires="v">
                <p:oleObj spid="_x0000_s9293" name="Visio" r:id="rId3" imgW="3906360" imgH="1612440" progId="Visio.Drawing.11">
                  <p:embed/>
                </p:oleObj>
              </mc:Choice>
              <mc:Fallback>
                <p:oleObj name="Visio" r:id="rId3" imgW="3906360" imgH="1612440" progId="Visio.Drawing.11">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0420" y="2842658"/>
                        <a:ext cx="7060321" cy="2915970"/>
                      </a:xfrm>
                      <a:prstGeom prst="rect">
                        <a:avLst/>
                      </a:prstGeom>
                      <a:noFill/>
                    </p:spPr>
                  </p:pic>
                </p:oleObj>
              </mc:Fallback>
            </mc:AlternateContent>
          </a:graphicData>
        </a:graphic>
      </p:graphicFrame>
      <p:sp>
        <p:nvSpPr>
          <p:cNvPr id="6" name="文本框 5"/>
          <p:cNvSpPr txBox="1"/>
          <p:nvPr/>
        </p:nvSpPr>
        <p:spPr>
          <a:xfrm>
            <a:off x="6442530" y="5476053"/>
            <a:ext cx="2068286" cy="338554"/>
          </a:xfrm>
          <a:prstGeom prst="rect">
            <a:avLst/>
          </a:prstGeom>
          <a:noFill/>
        </p:spPr>
        <p:txBody>
          <a:bodyPr wrap="square" rtlCol="0">
            <a:spAutoFit/>
          </a:bodyPr>
          <a:lstStyle/>
          <a:p>
            <a:r>
              <a:rPr lang="zh-CN" altLang="en-US" sz="1600" dirty="0" smtClean="0">
                <a:solidFill>
                  <a:srgbClr val="FF0000"/>
                </a:solidFill>
              </a:rPr>
              <a:t>紧耦合的原始信号</a:t>
            </a:r>
            <a:endParaRPr lang="zh-CN" altLang="en-US" sz="1600" dirty="0">
              <a:solidFill>
                <a:srgbClr val="FF0000"/>
              </a:solidFill>
            </a:endParaRPr>
          </a:p>
        </p:txBody>
      </p:sp>
      <p:sp>
        <p:nvSpPr>
          <p:cNvPr id="9" name="椭圆 8"/>
          <p:cNvSpPr/>
          <p:nvPr/>
        </p:nvSpPr>
        <p:spPr>
          <a:xfrm>
            <a:off x="8331199" y="2703824"/>
            <a:ext cx="3490386" cy="19059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6607932" y="2448125"/>
            <a:ext cx="2068286" cy="338554"/>
          </a:xfrm>
          <a:prstGeom prst="rect">
            <a:avLst/>
          </a:prstGeom>
          <a:noFill/>
        </p:spPr>
        <p:txBody>
          <a:bodyPr wrap="square" rtlCol="0">
            <a:spAutoFit/>
          </a:bodyPr>
          <a:lstStyle/>
          <a:p>
            <a:r>
              <a:rPr lang="zh-CN" altLang="en-US" sz="1600" dirty="0">
                <a:solidFill>
                  <a:srgbClr val="FF0000"/>
                </a:solidFill>
              </a:rPr>
              <a:t>松</a:t>
            </a:r>
            <a:r>
              <a:rPr lang="zh-CN" altLang="en-US" sz="1600" dirty="0" smtClean="0">
                <a:solidFill>
                  <a:srgbClr val="FF0000"/>
                </a:solidFill>
              </a:rPr>
              <a:t>耦合的正交信号</a:t>
            </a:r>
            <a:endParaRPr lang="zh-CN" altLang="en-US" sz="1600" dirty="0">
              <a:solidFill>
                <a:srgbClr val="FF0000"/>
              </a:solidFill>
            </a:endParaRPr>
          </a:p>
        </p:txBody>
      </p:sp>
      <p:cxnSp>
        <p:nvCxnSpPr>
          <p:cNvPr id="12" name="直接箭头连接符 11"/>
          <p:cNvCxnSpPr/>
          <p:nvPr/>
        </p:nvCxnSpPr>
        <p:spPr>
          <a:xfrm flipV="1">
            <a:off x="6952342" y="4842054"/>
            <a:ext cx="326572" cy="63399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10" idx="2"/>
          </p:cNvCxnSpPr>
          <p:nvPr/>
        </p:nvCxnSpPr>
        <p:spPr>
          <a:xfrm flipH="1">
            <a:off x="7401311" y="2786679"/>
            <a:ext cx="240764" cy="46536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0" idx="2"/>
          </p:cNvCxnSpPr>
          <p:nvPr/>
        </p:nvCxnSpPr>
        <p:spPr>
          <a:xfrm flipH="1">
            <a:off x="7505565" y="2786679"/>
            <a:ext cx="136510" cy="120891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8478462" y="2295853"/>
            <a:ext cx="2937024" cy="338554"/>
          </a:xfrm>
          <a:prstGeom prst="rect">
            <a:avLst/>
          </a:prstGeom>
          <a:noFill/>
        </p:spPr>
        <p:txBody>
          <a:bodyPr wrap="square" rtlCol="0">
            <a:spAutoFit/>
          </a:bodyPr>
          <a:lstStyle/>
          <a:p>
            <a:r>
              <a:rPr lang="zh-CN" altLang="en-US" sz="1600" dirty="0" smtClean="0">
                <a:solidFill>
                  <a:srgbClr val="FF0000"/>
                </a:solidFill>
              </a:rPr>
              <a:t>检波，得到叠加后信号的幅度</a:t>
            </a:r>
            <a:endParaRPr lang="zh-CN" altLang="en-US" sz="1600" dirty="0">
              <a:solidFill>
                <a:srgbClr val="FF0000"/>
              </a:solidFill>
            </a:endParaRPr>
          </a:p>
        </p:txBody>
      </p:sp>
      <p:sp>
        <p:nvSpPr>
          <p:cNvPr id="25" name="椭圆 24"/>
          <p:cNvSpPr/>
          <p:nvPr/>
        </p:nvSpPr>
        <p:spPr>
          <a:xfrm>
            <a:off x="8196476" y="4665748"/>
            <a:ext cx="1860583" cy="8845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8764816" y="5693503"/>
            <a:ext cx="2962726" cy="338554"/>
          </a:xfrm>
          <a:prstGeom prst="rect">
            <a:avLst/>
          </a:prstGeom>
          <a:noFill/>
        </p:spPr>
        <p:txBody>
          <a:bodyPr wrap="square" rtlCol="0">
            <a:spAutoFit/>
          </a:bodyPr>
          <a:lstStyle/>
          <a:p>
            <a:r>
              <a:rPr lang="zh-CN" altLang="en-US" sz="1600" dirty="0">
                <a:solidFill>
                  <a:srgbClr val="FF0000"/>
                </a:solidFill>
              </a:rPr>
              <a:t>低</a:t>
            </a:r>
            <a:r>
              <a:rPr lang="zh-CN" altLang="en-US" sz="1600" dirty="0" smtClean="0">
                <a:solidFill>
                  <a:srgbClr val="FF0000"/>
                </a:solidFill>
              </a:rPr>
              <a:t>通滤波，滤除残余载波成分</a:t>
            </a:r>
            <a:endParaRPr lang="zh-CN" altLang="en-US" sz="1600" dirty="0">
              <a:solidFill>
                <a:srgbClr val="FF0000"/>
              </a:solidFill>
            </a:endParaRPr>
          </a:p>
        </p:txBody>
      </p:sp>
      <p:sp>
        <p:nvSpPr>
          <p:cNvPr id="5" name="文本框 4"/>
          <p:cNvSpPr txBox="1"/>
          <p:nvPr/>
        </p:nvSpPr>
        <p:spPr>
          <a:xfrm>
            <a:off x="478971" y="2151739"/>
            <a:ext cx="4492172" cy="1708160"/>
          </a:xfrm>
          <a:prstGeom prst="rect">
            <a:avLst/>
          </a:prstGeom>
          <a:noFill/>
        </p:spPr>
        <p:txBody>
          <a:bodyPr wrap="square" rtlCol="0">
            <a:spAutoFit/>
          </a:bodyPr>
          <a:lstStyle/>
          <a:p>
            <a:pPr indent="457200">
              <a:lnSpc>
                <a:spcPct val="150000"/>
              </a:lnSpc>
            </a:pPr>
            <a:r>
              <a:rPr lang="en-US" altLang="zh-CN" sz="1800" dirty="0"/>
              <a:t>T1</a:t>
            </a:r>
            <a:r>
              <a:rPr lang="zh-CN" altLang="en-US" sz="1800" dirty="0"/>
              <a:t>次级电压</a:t>
            </a:r>
            <a:r>
              <a:rPr lang="zh-CN" altLang="en-US" sz="1800" dirty="0" smtClean="0"/>
              <a:t>与</a:t>
            </a:r>
            <a:r>
              <a:rPr lang="zh-CN" altLang="en-US" sz="1800" dirty="0"/>
              <a:t>两路</a:t>
            </a:r>
            <a:r>
              <a:rPr lang="en-US" altLang="zh-CN" sz="1800" dirty="0" smtClean="0"/>
              <a:t>T2</a:t>
            </a:r>
            <a:r>
              <a:rPr lang="zh-CN" altLang="en-US" sz="1800" dirty="0"/>
              <a:t>次级电压叠加后，取它们的差值，该</a:t>
            </a:r>
            <a:r>
              <a:rPr lang="zh-CN" altLang="en-US" sz="1800" dirty="0" smtClean="0"/>
              <a:t>差值与</a:t>
            </a:r>
            <a:r>
              <a:rPr lang="zh-CN" altLang="en-US" sz="1800" dirty="0"/>
              <a:t>输入信号的频偏成正比，也就是</a:t>
            </a:r>
            <a:r>
              <a:rPr lang="en-US" altLang="zh-CN" sz="1800" dirty="0"/>
              <a:t>FM</a:t>
            </a:r>
            <a:r>
              <a:rPr lang="zh-CN" altLang="en-US" sz="1800" dirty="0"/>
              <a:t>解调输出</a:t>
            </a:r>
          </a:p>
          <a:p>
            <a:pPr>
              <a:lnSpc>
                <a:spcPct val="150000"/>
              </a:lnSpc>
            </a:pPr>
            <a:endParaRPr lang="zh-CN" altLang="en-US" sz="1600" dirty="0"/>
          </a:p>
        </p:txBody>
      </p:sp>
      <p:pic>
        <p:nvPicPr>
          <p:cNvPr id="18" name="图片 17"/>
          <p:cNvPicPr>
            <a:picLocks noChangeAspect="1"/>
          </p:cNvPicPr>
          <p:nvPr/>
        </p:nvPicPr>
        <p:blipFill>
          <a:blip r:embed="rId5"/>
          <a:stretch>
            <a:fillRect/>
          </a:stretch>
        </p:blipFill>
        <p:spPr>
          <a:xfrm>
            <a:off x="959411" y="3736465"/>
            <a:ext cx="3671117" cy="2336165"/>
          </a:xfrm>
          <a:prstGeom prst="rect">
            <a:avLst/>
          </a:prstGeom>
        </p:spPr>
      </p:pic>
    </p:spTree>
    <p:extLst>
      <p:ext uri="{BB962C8B-B14F-4D97-AF65-F5344CB8AC3E}">
        <p14:creationId xmlns:p14="http://schemas.microsoft.com/office/powerpoint/2010/main" val="1694705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17</a:t>
            </a:fld>
            <a:endParaRPr lang="en-US" altLang="zh-CN">
              <a:solidFill>
                <a:srgbClr val="FFFFFF"/>
              </a:solidFill>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171960149"/>
              </p:ext>
            </p:extLst>
          </p:nvPr>
        </p:nvGraphicFramePr>
        <p:xfrm>
          <a:off x="1952172" y="2427011"/>
          <a:ext cx="4818743" cy="1238405"/>
        </p:xfrm>
        <a:graphic>
          <a:graphicData uri="http://schemas.openxmlformats.org/presentationml/2006/ole">
            <mc:AlternateContent xmlns:mc="http://schemas.openxmlformats.org/markup-compatibility/2006">
              <mc:Choice xmlns:v="urn:schemas-microsoft-com:vml" Requires="v">
                <p:oleObj spid="_x0000_s10316" name="Visio" r:id="rId3" imgW="2495293" imgH="647507" progId="Visio.Drawing.15">
                  <p:embed/>
                </p:oleObj>
              </mc:Choice>
              <mc:Fallback>
                <p:oleObj name="Visio" r:id="rId3" imgW="2495293" imgH="647507"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2172" y="2427011"/>
                        <a:ext cx="4818743" cy="1238405"/>
                      </a:xfrm>
                      <a:prstGeom prst="rect">
                        <a:avLst/>
                      </a:prstGeom>
                      <a:noFill/>
                    </p:spPr>
                  </p:pic>
                </p:oleObj>
              </mc:Fallback>
            </mc:AlternateContent>
          </a:graphicData>
        </a:graphic>
      </p:graphicFrame>
      <p:sp>
        <p:nvSpPr>
          <p:cNvPr id="7" name="文本框 6"/>
          <p:cNvSpPr txBox="1"/>
          <p:nvPr/>
        </p:nvSpPr>
        <p:spPr>
          <a:xfrm>
            <a:off x="428171" y="464457"/>
            <a:ext cx="11292115" cy="1754326"/>
          </a:xfrm>
          <a:prstGeom prst="rect">
            <a:avLst/>
          </a:prstGeom>
          <a:noFill/>
        </p:spPr>
        <p:txBody>
          <a:bodyPr wrap="square" rtlCol="0">
            <a:spAutoFit/>
          </a:bodyPr>
          <a:lstStyle/>
          <a:p>
            <a:pPr>
              <a:lnSpc>
                <a:spcPct val="150000"/>
              </a:lnSpc>
            </a:pPr>
            <a:r>
              <a:rPr lang="en-US" altLang="zh-CN" sz="1800" dirty="0" smtClean="0"/>
              <a:t>3</a:t>
            </a:r>
            <a:r>
              <a:rPr lang="zh-CN" altLang="en-US" sz="1800" dirty="0" smtClean="0"/>
              <a:t>、锁相环鉴频器</a:t>
            </a:r>
            <a:endParaRPr lang="en-US" altLang="zh-CN" sz="1800" dirty="0" smtClean="0"/>
          </a:p>
          <a:p>
            <a:pPr marL="742950" lvl="1" indent="-285750">
              <a:lnSpc>
                <a:spcPct val="150000"/>
              </a:lnSpc>
              <a:buFont typeface="Arial" panose="020B0604020202020204" pitchFamily="34" charset="0"/>
              <a:buChar char="•"/>
            </a:pPr>
            <a:r>
              <a:rPr lang="zh-CN" altLang="zh-CN" sz="1800" dirty="0" smtClean="0"/>
              <a:t>锁相环</a:t>
            </a:r>
            <a:r>
              <a:rPr lang="zh-CN" altLang="zh-CN" sz="1800" dirty="0"/>
              <a:t>的闭环带宽远大于输入信号的</a:t>
            </a:r>
            <a:r>
              <a:rPr lang="zh-CN" altLang="zh-CN" sz="1800" dirty="0" smtClean="0"/>
              <a:t>调制频率</a:t>
            </a:r>
            <a:r>
              <a:rPr lang="zh-CN" altLang="en-US" sz="1800" dirty="0" smtClean="0"/>
              <a:t>（</a:t>
            </a:r>
            <a:r>
              <a:rPr lang="zh-CN" altLang="zh-CN" sz="1800" dirty="0" smtClean="0"/>
              <a:t>调制</a:t>
            </a:r>
            <a:r>
              <a:rPr lang="zh-CN" altLang="zh-CN" sz="1800" dirty="0"/>
              <a:t>跟踪</a:t>
            </a:r>
            <a:r>
              <a:rPr lang="zh-CN" altLang="zh-CN" sz="1800" dirty="0" smtClean="0"/>
              <a:t>状态</a:t>
            </a:r>
            <a:r>
              <a:rPr lang="zh-CN" altLang="en-US" sz="1800" dirty="0"/>
              <a:t>）</a:t>
            </a:r>
            <a:endParaRPr lang="en-US" altLang="zh-CN" sz="1800" dirty="0" smtClean="0"/>
          </a:p>
          <a:p>
            <a:pPr marL="742950" lvl="1" indent="-285750">
              <a:lnSpc>
                <a:spcPct val="150000"/>
              </a:lnSpc>
              <a:buFont typeface="Arial" panose="020B0604020202020204" pitchFamily="34" charset="0"/>
              <a:buChar char="•"/>
            </a:pPr>
            <a:r>
              <a:rPr lang="zh-CN" altLang="zh-CN" sz="1800" dirty="0" smtClean="0"/>
              <a:t>锁相环</a:t>
            </a:r>
            <a:r>
              <a:rPr lang="zh-CN" altLang="zh-CN" sz="1800" dirty="0"/>
              <a:t>锁定后，</a:t>
            </a:r>
            <a:r>
              <a:rPr lang="en-US" altLang="zh-CN" sz="1800" dirty="0"/>
              <a:t>VCO</a:t>
            </a:r>
            <a:r>
              <a:rPr lang="zh-CN" altLang="zh-CN" sz="1800" dirty="0"/>
              <a:t>输出信号频率将始终跟随输入</a:t>
            </a:r>
            <a:r>
              <a:rPr lang="en-US" altLang="zh-CN" sz="1800" dirty="0"/>
              <a:t>FM</a:t>
            </a:r>
            <a:r>
              <a:rPr lang="zh-CN" altLang="zh-CN" sz="1800" dirty="0"/>
              <a:t>信号的频率</a:t>
            </a:r>
            <a:r>
              <a:rPr lang="zh-CN" altLang="zh-CN" sz="1800" dirty="0" smtClean="0"/>
              <a:t>变化</a:t>
            </a:r>
            <a:endParaRPr lang="en-US" altLang="zh-CN" sz="1800" dirty="0" smtClean="0"/>
          </a:p>
          <a:p>
            <a:pPr marL="742950" lvl="1" indent="-285750">
              <a:lnSpc>
                <a:spcPct val="150000"/>
              </a:lnSpc>
              <a:buFont typeface="Arial" panose="020B0604020202020204" pitchFamily="34" charset="0"/>
              <a:buChar char="•"/>
            </a:pPr>
            <a:r>
              <a:rPr lang="zh-CN" altLang="en-US" sz="1800" dirty="0"/>
              <a:t>满足</a:t>
            </a:r>
            <a:r>
              <a:rPr lang="en-US" altLang="zh-CN" sz="1800" dirty="0" smtClean="0"/>
              <a:t>VCO</a:t>
            </a:r>
            <a:r>
              <a:rPr lang="zh-CN" altLang="en-US" sz="1800" dirty="0" smtClean="0"/>
              <a:t>线性</a:t>
            </a:r>
            <a:r>
              <a:rPr lang="zh-CN" altLang="zh-CN" sz="1800" dirty="0" smtClean="0"/>
              <a:t>控制</a:t>
            </a:r>
            <a:r>
              <a:rPr lang="zh-CN" altLang="en-US" sz="1800" dirty="0" smtClean="0"/>
              <a:t>条件时</a:t>
            </a:r>
            <a:r>
              <a:rPr lang="zh-CN" altLang="zh-CN" sz="1800" dirty="0" smtClean="0"/>
              <a:t>，其</a:t>
            </a:r>
            <a:r>
              <a:rPr lang="en-US" altLang="zh-CN" sz="1800" dirty="0"/>
              <a:t>VCO</a:t>
            </a:r>
            <a:r>
              <a:rPr lang="zh-CN" altLang="zh-CN" sz="1800" dirty="0"/>
              <a:t>输入端的控制电压一定与调制信号一致，也就是</a:t>
            </a:r>
            <a:r>
              <a:rPr lang="en-US" altLang="zh-CN" sz="1800" dirty="0"/>
              <a:t>FM</a:t>
            </a:r>
            <a:r>
              <a:rPr lang="zh-CN" altLang="zh-CN" sz="1800" dirty="0"/>
              <a:t>信号的解调</a:t>
            </a:r>
            <a:r>
              <a:rPr lang="zh-CN" altLang="zh-CN" sz="1800" dirty="0" smtClean="0"/>
              <a:t>输出</a:t>
            </a:r>
            <a:endParaRPr lang="zh-CN" altLang="en-US" sz="1600" dirty="0"/>
          </a:p>
        </p:txBody>
      </p:sp>
      <p:sp>
        <p:nvSpPr>
          <p:cNvPr id="5" name="文本框 4"/>
          <p:cNvSpPr txBox="1"/>
          <p:nvPr/>
        </p:nvSpPr>
        <p:spPr>
          <a:xfrm>
            <a:off x="791028" y="3873644"/>
            <a:ext cx="10283371" cy="1754326"/>
          </a:xfrm>
          <a:prstGeom prst="rect">
            <a:avLst/>
          </a:prstGeom>
          <a:noFill/>
        </p:spPr>
        <p:txBody>
          <a:bodyPr wrap="square" rtlCol="0">
            <a:spAutoFit/>
          </a:bodyPr>
          <a:lstStyle/>
          <a:p>
            <a:pPr marL="288000" lvl="1">
              <a:lnSpc>
                <a:spcPct val="150000"/>
              </a:lnSpc>
            </a:pPr>
            <a:r>
              <a:rPr lang="zh-CN" altLang="zh-CN" sz="1800" dirty="0" smtClean="0"/>
              <a:t>设</a:t>
            </a:r>
            <a:r>
              <a:rPr lang="en-US" altLang="zh-CN" sz="1800" dirty="0" smtClean="0"/>
              <a:t>VCO</a:t>
            </a:r>
            <a:r>
              <a:rPr lang="zh-CN" altLang="en-US" sz="1800" dirty="0" smtClean="0"/>
              <a:t>的压控增益为 </a:t>
            </a:r>
            <a:r>
              <a:rPr lang="en-US" altLang="zh-CN" sz="1800" i="1" dirty="0" err="1" smtClean="0"/>
              <a:t>K</a:t>
            </a:r>
            <a:r>
              <a:rPr lang="en-US" altLang="zh-CN" sz="1800" i="1" baseline="-25000" dirty="0" err="1" smtClean="0"/>
              <a:t>o</a:t>
            </a:r>
            <a:r>
              <a:rPr lang="en-US" altLang="zh-CN" sz="1800" dirty="0" smtClean="0"/>
              <a:t>(Hz/V)</a:t>
            </a:r>
            <a:r>
              <a:rPr lang="zh-CN" altLang="en-US" sz="1800" dirty="0" smtClean="0"/>
              <a:t>，则此</a:t>
            </a:r>
            <a:r>
              <a:rPr lang="zh-CN" altLang="zh-CN" sz="1800" dirty="0" smtClean="0"/>
              <a:t>解调</a:t>
            </a:r>
            <a:r>
              <a:rPr lang="zh-CN" altLang="zh-CN" sz="1800" dirty="0"/>
              <a:t>电路的解调增益</a:t>
            </a:r>
            <a:r>
              <a:rPr lang="zh-CN" altLang="zh-CN" sz="1800" dirty="0" smtClean="0"/>
              <a:t>为</a:t>
            </a:r>
            <a:r>
              <a:rPr lang="en-US" altLang="zh-CN" sz="1800" dirty="0" smtClean="0"/>
              <a:t> </a:t>
            </a:r>
            <a:r>
              <a:rPr lang="en-US" altLang="zh-CN" sz="1800" i="1" dirty="0" smtClean="0"/>
              <a:t>K=1/</a:t>
            </a:r>
            <a:r>
              <a:rPr lang="en-US" altLang="zh-CN" sz="1800" i="1" dirty="0" err="1" smtClean="0"/>
              <a:t>K</a:t>
            </a:r>
            <a:r>
              <a:rPr lang="en-US" altLang="zh-CN" sz="1800" i="1" baseline="-25000" dirty="0" err="1" smtClean="0"/>
              <a:t>o</a:t>
            </a:r>
            <a:r>
              <a:rPr lang="en-US" altLang="zh-CN" sz="1800" i="1" baseline="-25000" dirty="0" smtClean="0"/>
              <a:t> </a:t>
            </a:r>
            <a:r>
              <a:rPr lang="en-US" altLang="zh-CN" sz="1800" dirty="0" smtClean="0"/>
              <a:t>(</a:t>
            </a:r>
            <a:r>
              <a:rPr lang="en-US" altLang="zh-CN" sz="1800" dirty="0"/>
              <a:t>V/Hz</a:t>
            </a:r>
            <a:r>
              <a:rPr lang="en-US" altLang="zh-CN" sz="1800" dirty="0" smtClean="0"/>
              <a:t>)</a:t>
            </a:r>
          </a:p>
          <a:p>
            <a:pPr marL="288000" lvl="1">
              <a:lnSpc>
                <a:spcPct val="150000"/>
              </a:lnSpc>
            </a:pPr>
            <a:r>
              <a:rPr lang="zh-CN" altLang="en-US" sz="1800" dirty="0" smtClean="0"/>
              <a:t>若输入的</a:t>
            </a:r>
            <a:r>
              <a:rPr lang="en-US" altLang="zh-CN" sz="1800" dirty="0" smtClean="0"/>
              <a:t>FM</a:t>
            </a:r>
            <a:r>
              <a:rPr lang="zh-CN" altLang="en-US" sz="1800" dirty="0" smtClean="0"/>
              <a:t>信号的最大频偏为</a:t>
            </a:r>
            <a:r>
              <a:rPr lang="el-GR" altLang="zh-CN" sz="1800" dirty="0" smtClean="0"/>
              <a:t>Δ</a:t>
            </a:r>
            <a:r>
              <a:rPr lang="en-US" altLang="zh-CN" sz="1800" i="1" dirty="0" err="1" smtClean="0"/>
              <a:t>f</a:t>
            </a:r>
            <a:r>
              <a:rPr lang="en-US" altLang="zh-CN" sz="1800" baseline="-25000" dirty="0" err="1" smtClean="0"/>
              <a:t>m</a:t>
            </a:r>
            <a:r>
              <a:rPr lang="zh-CN" altLang="en-US" sz="1800" dirty="0" smtClean="0"/>
              <a:t>，则解调电路的输出电压变化量为 </a:t>
            </a:r>
            <a:r>
              <a:rPr lang="el-GR" altLang="zh-CN" sz="1800" dirty="0" smtClean="0"/>
              <a:t>Δ</a:t>
            </a:r>
            <a:r>
              <a:rPr lang="en-US" altLang="zh-CN" sz="1800" i="1" dirty="0" smtClean="0"/>
              <a:t>V</a:t>
            </a:r>
            <a:r>
              <a:rPr lang="en-US" altLang="zh-CN" sz="1800" baseline="-25000" dirty="0" smtClean="0"/>
              <a:t>O</a:t>
            </a:r>
            <a:r>
              <a:rPr lang="el-GR" altLang="zh-CN" sz="1800" dirty="0" smtClean="0"/>
              <a:t> </a:t>
            </a:r>
            <a:r>
              <a:rPr lang="en-US" altLang="zh-CN" sz="1800" dirty="0" smtClean="0"/>
              <a:t>=</a:t>
            </a:r>
            <a:r>
              <a:rPr lang="en-US" altLang="zh-CN" sz="1800" i="1" dirty="0" smtClean="0"/>
              <a:t>K</a:t>
            </a:r>
            <a:r>
              <a:rPr lang="en-US" altLang="zh-CN" sz="1800" dirty="0" smtClean="0"/>
              <a:t>*</a:t>
            </a:r>
            <a:r>
              <a:rPr lang="el-GR" altLang="zh-CN" sz="1800" dirty="0" smtClean="0"/>
              <a:t>Δ</a:t>
            </a:r>
            <a:r>
              <a:rPr lang="en-US" altLang="zh-CN" sz="1800" i="1" dirty="0" err="1"/>
              <a:t>f</a:t>
            </a:r>
            <a:r>
              <a:rPr lang="en-US" altLang="zh-CN" sz="1800" baseline="-25000" dirty="0" err="1"/>
              <a:t>m</a:t>
            </a:r>
            <a:endParaRPr lang="en-US" altLang="zh-CN" sz="1800" dirty="0" smtClean="0"/>
          </a:p>
          <a:p>
            <a:pPr marL="285750" indent="-285750">
              <a:lnSpc>
                <a:spcPct val="150000"/>
              </a:lnSpc>
              <a:buFont typeface="Arial" panose="020B0604020202020204" pitchFamily="34" charset="0"/>
              <a:buChar char="•"/>
            </a:pPr>
            <a:r>
              <a:rPr lang="zh-CN" altLang="en-US" sz="1800" dirty="0" smtClean="0"/>
              <a:t>测得</a:t>
            </a:r>
            <a:r>
              <a:rPr lang="zh-CN" altLang="zh-CN" sz="1800" dirty="0" smtClean="0"/>
              <a:t>解调</a:t>
            </a:r>
            <a:r>
              <a:rPr lang="zh-CN" altLang="zh-CN" sz="1800" dirty="0"/>
              <a:t>输出</a:t>
            </a:r>
            <a:r>
              <a:rPr lang="zh-CN" altLang="zh-CN" sz="1800" dirty="0" smtClean="0"/>
              <a:t>的电压</a:t>
            </a:r>
            <a:r>
              <a:rPr lang="zh-CN" altLang="en-US" sz="1800" dirty="0" smtClean="0"/>
              <a:t>变化量可得到</a:t>
            </a:r>
            <a:r>
              <a:rPr lang="zh-CN" altLang="zh-CN" sz="1800" dirty="0" smtClean="0"/>
              <a:t>最大频偏</a:t>
            </a:r>
            <a:r>
              <a:rPr lang="zh-CN" altLang="en-US" sz="1800" dirty="0" smtClean="0"/>
              <a:t>，再根据 </a:t>
            </a:r>
            <a:r>
              <a:rPr lang="en-US" altLang="zh-CN" sz="1800" i="1" dirty="0" smtClean="0"/>
              <a:t>m</a:t>
            </a:r>
            <a:r>
              <a:rPr lang="en-US" altLang="zh-CN" sz="1800" i="1" baseline="-25000" dirty="0" smtClean="0"/>
              <a:t>f</a:t>
            </a:r>
            <a:r>
              <a:rPr lang="en-US" altLang="zh-CN" sz="1800" dirty="0" smtClean="0"/>
              <a:t>=</a:t>
            </a:r>
            <a:r>
              <a:rPr lang="el-GR" altLang="zh-CN" sz="1800" dirty="0"/>
              <a:t> Δ</a:t>
            </a:r>
            <a:r>
              <a:rPr lang="en-US" altLang="zh-CN" sz="1800" i="1" dirty="0" err="1" smtClean="0"/>
              <a:t>f</a:t>
            </a:r>
            <a:r>
              <a:rPr lang="en-US" altLang="zh-CN" sz="1800" baseline="-25000" dirty="0" err="1" smtClean="0"/>
              <a:t>m</a:t>
            </a:r>
            <a:r>
              <a:rPr lang="en-US" altLang="zh-CN" sz="1800" dirty="0" smtClean="0"/>
              <a:t>/</a:t>
            </a:r>
            <a:r>
              <a:rPr lang="en-US" altLang="zh-CN" sz="1800" i="1" dirty="0" smtClean="0"/>
              <a:t>F </a:t>
            </a:r>
            <a:r>
              <a:rPr lang="zh-CN" altLang="en-US" sz="1800" dirty="0" smtClean="0"/>
              <a:t>可</a:t>
            </a:r>
            <a:r>
              <a:rPr lang="zh-CN" altLang="en-US" sz="1800" dirty="0"/>
              <a:t>计算</a:t>
            </a:r>
            <a:r>
              <a:rPr lang="zh-CN" altLang="en-US" sz="1800" dirty="0" smtClean="0"/>
              <a:t>调频指数</a:t>
            </a:r>
            <a:endParaRPr lang="en-US" altLang="zh-CN" sz="1800" dirty="0" smtClean="0"/>
          </a:p>
          <a:p>
            <a:pPr marL="285750" indent="-285750">
              <a:lnSpc>
                <a:spcPct val="150000"/>
              </a:lnSpc>
              <a:buFont typeface="Arial" panose="020B0604020202020204" pitchFamily="34" charset="0"/>
              <a:buChar char="•"/>
            </a:pPr>
            <a:r>
              <a:rPr lang="zh-CN" altLang="en-US" sz="1800" dirty="0" smtClean="0"/>
              <a:t>对于输入信号的幅度变化不敏感</a:t>
            </a:r>
            <a:endParaRPr lang="zh-CN" altLang="en-US" sz="1800" dirty="0"/>
          </a:p>
        </p:txBody>
      </p:sp>
    </p:spTree>
    <p:extLst>
      <p:ext uri="{BB962C8B-B14F-4D97-AF65-F5344CB8AC3E}">
        <p14:creationId xmlns:p14="http://schemas.microsoft.com/office/powerpoint/2010/main" val="16859760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18</a:t>
            </a:fld>
            <a:endParaRPr lang="en-US" altLang="zh-CN">
              <a:solidFill>
                <a:srgbClr val="FFFFFF"/>
              </a:solidFill>
            </a:endParaRPr>
          </a:p>
        </p:txBody>
      </p:sp>
      <p:sp>
        <p:nvSpPr>
          <p:cNvPr id="5" name="矩形 4"/>
          <p:cNvSpPr/>
          <p:nvPr/>
        </p:nvSpPr>
        <p:spPr>
          <a:xfrm>
            <a:off x="442685" y="332945"/>
            <a:ext cx="6386286" cy="5493812"/>
          </a:xfrm>
          <a:prstGeom prst="rect">
            <a:avLst/>
          </a:prstGeom>
        </p:spPr>
        <p:txBody>
          <a:bodyPr wrap="square">
            <a:spAutoFit/>
          </a:bodyPr>
          <a:lstStyle/>
          <a:p>
            <a:pPr marL="342900" indent="-342900">
              <a:lnSpc>
                <a:spcPct val="200000"/>
              </a:lnSpc>
              <a:buFont typeface="Wingdings" panose="05000000000000000000" pitchFamily="2" charset="2"/>
              <a:buChar char="Ø"/>
            </a:pPr>
            <a:r>
              <a:rPr lang="zh-CN" altLang="en-US" dirty="0" smtClean="0">
                <a:solidFill>
                  <a:srgbClr val="FF0000"/>
                </a:solidFill>
              </a:rPr>
              <a:t>相位调制（</a:t>
            </a:r>
            <a:r>
              <a:rPr lang="en-US" altLang="zh-CN" dirty="0" smtClean="0">
                <a:solidFill>
                  <a:srgbClr val="FF0000"/>
                </a:solidFill>
              </a:rPr>
              <a:t>PM</a:t>
            </a:r>
            <a:r>
              <a:rPr lang="zh-CN" altLang="en-US" dirty="0" smtClean="0">
                <a:solidFill>
                  <a:srgbClr val="FF0000"/>
                </a:solidFill>
              </a:rPr>
              <a:t>）与相移键控（</a:t>
            </a:r>
            <a:r>
              <a:rPr lang="en-US" altLang="zh-CN" dirty="0" smtClean="0">
                <a:solidFill>
                  <a:srgbClr val="FF0000"/>
                </a:solidFill>
              </a:rPr>
              <a:t>PSK</a:t>
            </a:r>
            <a:r>
              <a:rPr lang="zh-CN" altLang="en-US" dirty="0" smtClean="0">
                <a:solidFill>
                  <a:srgbClr val="FF0000"/>
                </a:solidFill>
              </a:rPr>
              <a:t>）</a:t>
            </a:r>
            <a:endParaRPr lang="en-US" altLang="zh-CN" dirty="0" smtClean="0">
              <a:solidFill>
                <a:srgbClr val="FF0000"/>
              </a:solidFill>
            </a:endParaRPr>
          </a:p>
          <a:p>
            <a:pPr marL="285750" indent="-285750">
              <a:lnSpc>
                <a:spcPct val="200000"/>
              </a:lnSpc>
              <a:buFont typeface="Arial" panose="020B0604020202020204" pitchFamily="34" charset="0"/>
              <a:buChar char="•"/>
            </a:pPr>
            <a:r>
              <a:rPr lang="en-US" altLang="zh-CN" sz="1800" dirty="0"/>
              <a:t>PM</a:t>
            </a:r>
            <a:r>
              <a:rPr lang="zh-CN" altLang="en-US" sz="1800" dirty="0" smtClean="0">
                <a:latin typeface="黑体" panose="02010609060101010101" pitchFamily="49" charset="-122"/>
                <a:ea typeface="黑体" panose="02010609060101010101" pitchFamily="49" charset="-122"/>
              </a:rPr>
              <a:t>信号的参数与特征</a:t>
            </a:r>
            <a:endParaRPr lang="en-US" altLang="zh-CN" sz="1800" dirty="0" smtClean="0">
              <a:latin typeface="黑体" panose="02010609060101010101" pitchFamily="49" charset="-122"/>
              <a:ea typeface="黑体" panose="02010609060101010101" pitchFamily="49" charset="-122"/>
            </a:endParaRPr>
          </a:p>
          <a:p>
            <a:pPr indent="457200">
              <a:lnSpc>
                <a:spcPct val="200000"/>
              </a:lnSpc>
            </a:pPr>
            <a:r>
              <a:rPr lang="zh-CN" altLang="en-US" sz="1800" dirty="0" smtClean="0"/>
              <a:t>载波：</a:t>
            </a:r>
            <a:endParaRPr lang="en-US" altLang="zh-CN" sz="1800" dirty="0" smtClean="0"/>
          </a:p>
          <a:p>
            <a:pPr indent="457200">
              <a:lnSpc>
                <a:spcPct val="200000"/>
              </a:lnSpc>
            </a:pPr>
            <a:r>
              <a:rPr lang="zh-CN" altLang="en-US" sz="1800" dirty="0" smtClean="0"/>
              <a:t>调制信号：</a:t>
            </a:r>
            <a:endParaRPr lang="en-US" altLang="zh-CN" sz="1800" dirty="0" smtClean="0"/>
          </a:p>
          <a:p>
            <a:pPr indent="457200">
              <a:lnSpc>
                <a:spcPct val="200000"/>
              </a:lnSpc>
            </a:pPr>
            <a:r>
              <a:rPr lang="zh-CN" altLang="en-US" sz="1800" dirty="0"/>
              <a:t>已调</a:t>
            </a:r>
            <a:r>
              <a:rPr lang="zh-CN" altLang="en-US" sz="1800" dirty="0" smtClean="0"/>
              <a:t>波：</a:t>
            </a:r>
            <a:endParaRPr lang="en-US" altLang="zh-CN" sz="1800" dirty="0" smtClean="0"/>
          </a:p>
          <a:p>
            <a:pPr indent="457200">
              <a:lnSpc>
                <a:spcPct val="150000"/>
              </a:lnSpc>
              <a:spcBef>
                <a:spcPts val="0"/>
              </a:spcBef>
              <a:spcAft>
                <a:spcPts val="600"/>
              </a:spcAft>
            </a:pPr>
            <a:r>
              <a:rPr lang="zh-CN" altLang="en-US" sz="1800" dirty="0"/>
              <a:t>其中</a:t>
            </a:r>
            <a:r>
              <a:rPr lang="zh-CN" altLang="en-US" sz="1800" dirty="0" smtClean="0"/>
              <a:t>调相指数</a:t>
            </a:r>
            <a:r>
              <a:rPr lang="en-US" altLang="zh-CN" sz="1800" i="1" dirty="0" err="1" smtClean="0"/>
              <a:t>m</a:t>
            </a:r>
            <a:r>
              <a:rPr lang="en-US" altLang="zh-CN" sz="1800" i="1" baseline="-25000" dirty="0" err="1" smtClean="0"/>
              <a:t>p</a:t>
            </a:r>
            <a:r>
              <a:rPr lang="zh-CN" altLang="zh-CN" sz="1800" dirty="0" smtClean="0"/>
              <a:t>表示</a:t>
            </a:r>
            <a:r>
              <a:rPr lang="en-US" altLang="zh-CN" sz="1800" dirty="0"/>
              <a:t>P</a:t>
            </a:r>
            <a:r>
              <a:rPr lang="en-US" altLang="zh-CN" sz="1800" dirty="0" smtClean="0"/>
              <a:t>M</a:t>
            </a:r>
            <a:r>
              <a:rPr lang="zh-CN" altLang="zh-CN" sz="1800" dirty="0" smtClean="0"/>
              <a:t>信号瞬时</a:t>
            </a:r>
            <a:r>
              <a:rPr lang="zh-CN" altLang="en-US" sz="1800" dirty="0" smtClean="0"/>
              <a:t>相位</a:t>
            </a:r>
            <a:r>
              <a:rPr lang="zh-CN" altLang="zh-CN" sz="1800" dirty="0" smtClean="0"/>
              <a:t>的最大</a:t>
            </a:r>
            <a:r>
              <a:rPr lang="zh-CN" altLang="en-US" sz="1800" dirty="0" smtClean="0"/>
              <a:t>相对</a:t>
            </a:r>
            <a:r>
              <a:rPr lang="zh-CN" altLang="zh-CN" sz="1800" dirty="0" smtClean="0"/>
              <a:t>偏移量</a:t>
            </a:r>
            <a:endParaRPr lang="en-US" altLang="zh-CN" sz="1800" dirty="0" smtClean="0"/>
          </a:p>
          <a:p>
            <a:pPr indent="457200">
              <a:lnSpc>
                <a:spcPct val="150000"/>
              </a:lnSpc>
              <a:spcBef>
                <a:spcPts val="0"/>
              </a:spcBef>
              <a:spcAft>
                <a:spcPts val="0"/>
              </a:spcAft>
            </a:pPr>
            <a:r>
              <a:rPr lang="zh-CN" altLang="en-US" sz="1800" dirty="0" smtClean="0"/>
              <a:t>与</a:t>
            </a:r>
            <a:r>
              <a:rPr lang="en-US" altLang="zh-CN" sz="1800" dirty="0" smtClean="0"/>
              <a:t>FM</a:t>
            </a:r>
            <a:r>
              <a:rPr lang="zh-CN" altLang="en-US" sz="1800" dirty="0" smtClean="0"/>
              <a:t>信号不同的是，解调</a:t>
            </a:r>
            <a:r>
              <a:rPr lang="en-US" altLang="zh-CN" sz="1800" dirty="0" smtClean="0"/>
              <a:t>PM</a:t>
            </a:r>
            <a:r>
              <a:rPr lang="zh-CN" altLang="en-US" sz="1800" dirty="0" smtClean="0"/>
              <a:t>信号必须</a:t>
            </a:r>
            <a:r>
              <a:rPr lang="zh-CN" altLang="en-US" sz="1800" dirty="0"/>
              <a:t>有</a:t>
            </a:r>
            <a:r>
              <a:rPr lang="zh-CN" altLang="en-US" sz="1800" dirty="0" smtClean="0"/>
              <a:t>参考信号相位，所以在模拟</a:t>
            </a:r>
            <a:r>
              <a:rPr lang="en-US" altLang="zh-CN" sz="1800" dirty="0" smtClean="0"/>
              <a:t>PM</a:t>
            </a:r>
            <a:r>
              <a:rPr lang="zh-CN" altLang="en-US" sz="1800" dirty="0" smtClean="0"/>
              <a:t>信号系统中，通常要发射一个相位同步信号，接收端用锁相环锁定此同步信号，然后将已调信号与同步信号送入鉴相器（可以是乘法器，也可以是其他类型的鉴相器），就可以得到解调输出</a:t>
            </a:r>
            <a:endParaRPr lang="en-US" altLang="zh-CN" sz="1800" dirty="0" smtClean="0"/>
          </a:p>
        </p:txBody>
      </p:sp>
      <p:graphicFrame>
        <p:nvGraphicFramePr>
          <p:cNvPr id="8" name="对象 7"/>
          <p:cNvGraphicFramePr>
            <a:graphicFrameLocks noChangeAspect="1"/>
          </p:cNvGraphicFramePr>
          <p:nvPr>
            <p:extLst>
              <p:ext uri="{D42A27DB-BD31-4B8C-83A1-F6EECF244321}">
                <p14:modId xmlns:p14="http://schemas.microsoft.com/office/powerpoint/2010/main" val="3735586320"/>
              </p:ext>
            </p:extLst>
          </p:nvPr>
        </p:nvGraphicFramePr>
        <p:xfrm>
          <a:off x="2298397" y="1665390"/>
          <a:ext cx="1687892" cy="409186"/>
        </p:xfrm>
        <a:graphic>
          <a:graphicData uri="http://schemas.openxmlformats.org/presentationml/2006/ole">
            <mc:AlternateContent xmlns:mc="http://schemas.openxmlformats.org/markup-compatibility/2006">
              <mc:Choice xmlns:v="urn:schemas-microsoft-com:vml" Requires="v">
                <p:oleObj spid="_x0000_s11483" name="Equation" r:id="rId4" imgW="837836" imgH="203112" progId="Equation.DSMT4">
                  <p:embed/>
                </p:oleObj>
              </mc:Choice>
              <mc:Fallback>
                <p:oleObj name="Equation" r:id="rId4" imgW="837836" imgH="203112" progId="Equation.DSMT4">
                  <p:embed/>
                  <p:pic>
                    <p:nvPicPr>
                      <p:cNvPr id="8" name="对象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8397" y="1665390"/>
                        <a:ext cx="1687892" cy="409186"/>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559636379"/>
              </p:ext>
            </p:extLst>
          </p:nvPr>
        </p:nvGraphicFramePr>
        <p:xfrm>
          <a:off x="2298397" y="2250696"/>
          <a:ext cx="1706332" cy="413656"/>
        </p:xfrm>
        <a:graphic>
          <a:graphicData uri="http://schemas.openxmlformats.org/presentationml/2006/ole">
            <mc:AlternateContent xmlns:mc="http://schemas.openxmlformats.org/markup-compatibility/2006">
              <mc:Choice xmlns:v="urn:schemas-microsoft-com:vml" Requires="v">
                <p:oleObj spid="_x0000_s11484" name="Equation" r:id="rId6" imgW="837836" imgH="203112" progId="Equation.DSMT4">
                  <p:embed/>
                </p:oleObj>
              </mc:Choice>
              <mc:Fallback>
                <p:oleObj name="Equation" r:id="rId6" imgW="837836" imgH="203112" progId="Equation.DSMT4">
                  <p:embed/>
                  <p:pic>
                    <p:nvPicPr>
                      <p:cNvPr id="10" name="对象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8397" y="2250696"/>
                        <a:ext cx="1706332" cy="413656"/>
                      </a:xfrm>
                      <a:prstGeom prst="rect">
                        <a:avLst/>
                      </a:prstGeom>
                      <a:noFill/>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721236484"/>
              </p:ext>
            </p:extLst>
          </p:nvPr>
        </p:nvGraphicFramePr>
        <p:xfrm>
          <a:off x="2298397" y="2806796"/>
          <a:ext cx="3340100" cy="381000"/>
        </p:xfrm>
        <a:graphic>
          <a:graphicData uri="http://schemas.openxmlformats.org/presentationml/2006/ole">
            <mc:AlternateContent xmlns:mc="http://schemas.openxmlformats.org/markup-compatibility/2006">
              <mc:Choice xmlns:v="urn:schemas-microsoft-com:vml" Requires="v">
                <p:oleObj spid="_x0000_s11485" name="Equation" r:id="rId8" imgW="1777680" imgH="203040" progId="Equation.DSMT4">
                  <p:embed/>
                </p:oleObj>
              </mc:Choice>
              <mc:Fallback>
                <p:oleObj name="Equation" r:id="rId8" imgW="1777680" imgH="203040" progId="Equation.DSMT4">
                  <p:embed/>
                  <p:pic>
                    <p:nvPicPr>
                      <p:cNvPr id="13" name="对象 12"/>
                      <p:cNvPicPr>
                        <a:picLocks noChangeAspect="1" noChangeArrowheads="1"/>
                      </p:cNvPicPr>
                      <p:nvPr/>
                    </p:nvPicPr>
                    <p:blipFill>
                      <a:blip r:embed="rId9"/>
                      <a:srcRect/>
                      <a:stretch>
                        <a:fillRect/>
                      </a:stretch>
                    </p:blipFill>
                    <p:spPr bwMode="auto">
                      <a:xfrm>
                        <a:off x="2298397" y="2806796"/>
                        <a:ext cx="3340100" cy="381000"/>
                      </a:xfrm>
                      <a:prstGeom prst="rect">
                        <a:avLst/>
                      </a:prstGeom>
                      <a:noFill/>
                    </p:spPr>
                  </p:pic>
                </p:oleObj>
              </mc:Fallback>
            </mc:AlternateContent>
          </a:graphicData>
        </a:graphic>
      </p:graphicFrame>
      <p:sp>
        <p:nvSpPr>
          <p:cNvPr id="14" name="Rectangle 10"/>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p:cNvPicPr>
            <a:picLocks noChangeAspect="1"/>
          </p:cNvPicPr>
          <p:nvPr/>
        </p:nvPicPr>
        <p:blipFill>
          <a:blip r:embed="rId10"/>
          <a:stretch>
            <a:fillRect/>
          </a:stretch>
        </p:blipFill>
        <p:spPr>
          <a:xfrm>
            <a:off x="7135399" y="1536336"/>
            <a:ext cx="4547112" cy="3092904"/>
          </a:xfrm>
          <a:prstGeom prst="rect">
            <a:avLst/>
          </a:prstGeom>
        </p:spPr>
      </p:pic>
    </p:spTree>
    <p:extLst>
      <p:ext uri="{BB962C8B-B14F-4D97-AF65-F5344CB8AC3E}">
        <p14:creationId xmlns:p14="http://schemas.microsoft.com/office/powerpoint/2010/main" val="421618616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19</a:t>
            </a:fld>
            <a:endParaRPr lang="en-US" altLang="zh-CN">
              <a:solidFill>
                <a:srgbClr val="FFFFFF"/>
              </a:solidFill>
            </a:endParaRPr>
          </a:p>
        </p:txBody>
      </p:sp>
      <p:sp>
        <p:nvSpPr>
          <p:cNvPr id="5" name="矩形 4"/>
          <p:cNvSpPr/>
          <p:nvPr/>
        </p:nvSpPr>
        <p:spPr>
          <a:xfrm>
            <a:off x="399143" y="425056"/>
            <a:ext cx="11350171" cy="1477328"/>
          </a:xfrm>
          <a:prstGeom prst="rect">
            <a:avLst/>
          </a:prstGeom>
        </p:spPr>
        <p:txBody>
          <a:bodyPr wrap="square">
            <a:spAutoFit/>
          </a:bodyPr>
          <a:lstStyle/>
          <a:p>
            <a:pPr marL="285750" indent="-285750">
              <a:lnSpc>
                <a:spcPct val="200000"/>
              </a:lnSpc>
              <a:buFont typeface="Arial" panose="020B0604020202020204" pitchFamily="34" charset="0"/>
              <a:buChar char="•"/>
            </a:pPr>
            <a:r>
              <a:rPr lang="en-US" altLang="zh-CN" sz="1800" dirty="0" smtClean="0"/>
              <a:t>2PSK</a:t>
            </a:r>
            <a:r>
              <a:rPr lang="zh-CN" altLang="en-US" sz="1800" dirty="0" smtClean="0">
                <a:latin typeface="黑体" panose="02010609060101010101" pitchFamily="49" charset="-122"/>
                <a:ea typeface="黑体" panose="02010609060101010101" pitchFamily="49" charset="-122"/>
              </a:rPr>
              <a:t>信号</a:t>
            </a:r>
            <a:endParaRPr lang="en-US" altLang="zh-CN" sz="1800" dirty="0" smtClean="0">
              <a:latin typeface="黑体" panose="02010609060101010101" pitchFamily="49" charset="-122"/>
              <a:ea typeface="黑体" panose="02010609060101010101" pitchFamily="49" charset="-122"/>
            </a:endParaRPr>
          </a:p>
          <a:p>
            <a:pPr indent="457200">
              <a:lnSpc>
                <a:spcPct val="150000"/>
              </a:lnSpc>
            </a:pPr>
            <a:r>
              <a:rPr lang="en-US" altLang="zh-CN" sz="1800" dirty="0"/>
              <a:t>2PSK</a:t>
            </a:r>
            <a:r>
              <a:rPr lang="zh-CN" altLang="zh-CN" sz="1800" dirty="0"/>
              <a:t>用两个相反的相位表示基带信号的两个值，例如，对应数字</a:t>
            </a:r>
            <a:r>
              <a:rPr lang="en-US" altLang="zh-CN" sz="1800" dirty="0"/>
              <a:t>1</a:t>
            </a:r>
            <a:r>
              <a:rPr lang="zh-CN" altLang="zh-CN" sz="1800" dirty="0"/>
              <a:t>，已调波相位与参考相位同相，对应数字</a:t>
            </a:r>
            <a:r>
              <a:rPr lang="en-US" altLang="zh-CN" sz="1800" dirty="0"/>
              <a:t>0</a:t>
            </a:r>
            <a:r>
              <a:rPr lang="zh-CN" altLang="zh-CN" sz="1800" dirty="0"/>
              <a:t>，已调波相位与参考相位</a:t>
            </a:r>
            <a:r>
              <a:rPr lang="zh-CN" altLang="zh-CN" sz="1800" dirty="0" smtClean="0"/>
              <a:t>反相</a:t>
            </a:r>
            <a:endParaRPr lang="zh-CN" altLang="en-US" sz="1600" dirty="0"/>
          </a:p>
        </p:txBody>
      </p:sp>
      <p:graphicFrame>
        <p:nvGraphicFramePr>
          <p:cNvPr id="7" name="对象 6"/>
          <p:cNvGraphicFramePr>
            <a:graphicFrameLocks noChangeAspect="1"/>
          </p:cNvGraphicFramePr>
          <p:nvPr>
            <p:extLst>
              <p:ext uri="{D42A27DB-BD31-4B8C-83A1-F6EECF244321}">
                <p14:modId xmlns:p14="http://schemas.microsoft.com/office/powerpoint/2010/main" val="254557243"/>
              </p:ext>
            </p:extLst>
          </p:nvPr>
        </p:nvGraphicFramePr>
        <p:xfrm>
          <a:off x="2576287" y="1995715"/>
          <a:ext cx="5246913" cy="1885783"/>
        </p:xfrm>
        <a:graphic>
          <a:graphicData uri="http://schemas.openxmlformats.org/presentationml/2006/ole">
            <mc:AlternateContent xmlns:mc="http://schemas.openxmlformats.org/markup-compatibility/2006">
              <mc:Choice xmlns:v="urn:schemas-microsoft-com:vml" Requires="v">
                <p:oleObj spid="_x0000_s14406" name="Visio" r:id="rId4" imgW="3006360" imgH="1076760" progId="Visio.Drawing.11">
                  <p:embed/>
                </p:oleObj>
              </mc:Choice>
              <mc:Fallback>
                <p:oleObj name="Visio" r:id="rId4" imgW="3006360" imgH="1076760"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6287" y="1995715"/>
                        <a:ext cx="5246913" cy="1885783"/>
                      </a:xfrm>
                      <a:prstGeom prst="rect">
                        <a:avLst/>
                      </a:prstGeom>
                      <a:noFill/>
                    </p:spPr>
                  </p:pic>
                </p:oleObj>
              </mc:Fallback>
            </mc:AlternateContent>
          </a:graphicData>
        </a:graphic>
      </p:graphicFrame>
      <p:sp>
        <p:nvSpPr>
          <p:cNvPr id="8" name="矩形 7"/>
          <p:cNvSpPr/>
          <p:nvPr/>
        </p:nvSpPr>
        <p:spPr>
          <a:xfrm>
            <a:off x="399143" y="3974829"/>
            <a:ext cx="11350171" cy="507831"/>
          </a:xfrm>
          <a:prstGeom prst="rect">
            <a:avLst/>
          </a:prstGeom>
        </p:spPr>
        <p:txBody>
          <a:bodyPr wrap="square">
            <a:spAutoFit/>
          </a:bodyPr>
          <a:lstStyle/>
          <a:p>
            <a:pPr indent="457200">
              <a:lnSpc>
                <a:spcPct val="150000"/>
              </a:lnSpc>
            </a:pPr>
            <a:r>
              <a:rPr lang="zh-CN" altLang="en-US" sz="1800" dirty="0" smtClean="0"/>
              <a:t>由于</a:t>
            </a:r>
            <a:r>
              <a:rPr lang="en-US" altLang="zh-CN" sz="1800" dirty="0" smtClean="0"/>
              <a:t>2PSK</a:t>
            </a:r>
            <a:r>
              <a:rPr lang="zh-CN" altLang="en-US" sz="1800" dirty="0" smtClean="0"/>
              <a:t>只有</a:t>
            </a:r>
            <a:r>
              <a:rPr lang="zh-CN" altLang="zh-CN" sz="1800" dirty="0" smtClean="0"/>
              <a:t>两</a:t>
            </a:r>
            <a:r>
              <a:rPr lang="zh-CN" altLang="zh-CN" sz="1800" dirty="0"/>
              <a:t>个相反</a:t>
            </a:r>
            <a:r>
              <a:rPr lang="zh-CN" altLang="zh-CN" sz="1800" dirty="0" smtClean="0"/>
              <a:t>的</a:t>
            </a:r>
            <a:r>
              <a:rPr lang="zh-CN" altLang="en-US" sz="1800" dirty="0" smtClean="0"/>
              <a:t>载波</a:t>
            </a:r>
            <a:r>
              <a:rPr lang="zh-CN" altLang="zh-CN" sz="1800" dirty="0" smtClean="0"/>
              <a:t>相位</a:t>
            </a:r>
            <a:r>
              <a:rPr lang="zh-CN" altLang="en-US" sz="1800" dirty="0" smtClean="0"/>
              <a:t>，可通过处理得到载波信号，传送中不需要另外的相位同步信号</a:t>
            </a:r>
            <a:endParaRPr lang="zh-CN" altLang="en-US" sz="1600" dirty="0"/>
          </a:p>
        </p:txBody>
      </p:sp>
    </p:spTree>
    <p:extLst>
      <p:ext uri="{BB962C8B-B14F-4D97-AF65-F5344CB8AC3E}">
        <p14:creationId xmlns:p14="http://schemas.microsoft.com/office/powerpoint/2010/main" val="808147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20</a:t>
            </a:fld>
            <a:endParaRPr lang="en-US" altLang="zh-CN">
              <a:solidFill>
                <a:srgbClr val="FFFFFF"/>
              </a:solidFill>
            </a:endParaRPr>
          </a:p>
        </p:txBody>
      </p:sp>
      <p:sp>
        <p:nvSpPr>
          <p:cNvPr id="5" name="文本框 4"/>
          <p:cNvSpPr txBox="1"/>
          <p:nvPr/>
        </p:nvSpPr>
        <p:spPr>
          <a:xfrm>
            <a:off x="464457" y="522514"/>
            <a:ext cx="11161486" cy="1338828"/>
          </a:xfrm>
          <a:prstGeom prst="rect">
            <a:avLst/>
          </a:prstGeom>
          <a:noFill/>
        </p:spPr>
        <p:txBody>
          <a:bodyPr wrap="square" rtlCol="0">
            <a:spAutoFit/>
          </a:bodyPr>
          <a:lstStyle/>
          <a:p>
            <a:pPr>
              <a:lnSpc>
                <a:spcPct val="150000"/>
              </a:lnSpc>
            </a:pPr>
            <a:r>
              <a:rPr lang="zh-CN" altLang="en-US" sz="1800" dirty="0" smtClean="0"/>
              <a:t>平方环解调</a:t>
            </a:r>
            <a:r>
              <a:rPr lang="en-US" altLang="zh-CN" sz="1800" dirty="0" smtClean="0"/>
              <a:t>2PSK</a:t>
            </a:r>
          </a:p>
          <a:p>
            <a:pPr indent="457200">
              <a:lnSpc>
                <a:spcPct val="150000"/>
              </a:lnSpc>
            </a:pPr>
            <a:r>
              <a:rPr lang="zh-CN" altLang="en-US" sz="1800" dirty="0" smtClean="0"/>
              <a:t>当调制信号中的</a:t>
            </a:r>
            <a:r>
              <a:rPr lang="en-US" altLang="zh-CN" sz="1800" dirty="0" smtClean="0"/>
              <a:t>1</a:t>
            </a:r>
            <a:r>
              <a:rPr lang="zh-CN" altLang="en-US" sz="1800" dirty="0" smtClean="0"/>
              <a:t>与</a:t>
            </a:r>
            <a:r>
              <a:rPr lang="en-US" altLang="zh-CN" sz="1800" dirty="0" smtClean="0"/>
              <a:t>0</a:t>
            </a:r>
            <a:r>
              <a:rPr lang="zh-CN" altLang="en-US" sz="1800" dirty="0" smtClean="0"/>
              <a:t>的个数相近时，已调波几乎没有载频分量，无法直接获取同步信号。</a:t>
            </a:r>
            <a:r>
              <a:rPr lang="zh-CN" altLang="zh-CN" sz="1800" dirty="0" smtClean="0"/>
              <a:t>将</a:t>
            </a:r>
            <a:r>
              <a:rPr lang="en-US" altLang="zh-CN" sz="1800" dirty="0"/>
              <a:t>2PSK</a:t>
            </a:r>
            <a:r>
              <a:rPr lang="zh-CN" altLang="zh-CN" sz="1800" dirty="0"/>
              <a:t>已调波</a:t>
            </a:r>
            <a:r>
              <a:rPr lang="zh-CN" altLang="zh-CN" sz="1800" dirty="0" smtClean="0"/>
              <a:t>平方后</a:t>
            </a:r>
            <a:r>
              <a:rPr lang="zh-CN" altLang="zh-CN" sz="1800" dirty="0"/>
              <a:t>的信号中包含载频信号的</a:t>
            </a:r>
            <a:r>
              <a:rPr lang="en-US" altLang="zh-CN" sz="1800" dirty="0"/>
              <a:t>2</a:t>
            </a:r>
            <a:r>
              <a:rPr lang="zh-CN" altLang="zh-CN" sz="1800" dirty="0"/>
              <a:t>倍频信号</a:t>
            </a:r>
            <a:r>
              <a:rPr lang="zh-CN" altLang="zh-CN" sz="1800" dirty="0" smtClean="0"/>
              <a:t>。用</a:t>
            </a:r>
            <a:r>
              <a:rPr lang="zh-CN" altLang="zh-CN" sz="1800" dirty="0"/>
              <a:t>锁相环锁定此</a:t>
            </a:r>
            <a:r>
              <a:rPr lang="en-US" altLang="zh-CN" sz="1800" dirty="0"/>
              <a:t>2</a:t>
            </a:r>
            <a:r>
              <a:rPr lang="zh-CN" altLang="zh-CN" sz="1800" dirty="0"/>
              <a:t>倍频信号，再分频即可得到载频同步信号</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2669352013"/>
              </p:ext>
            </p:extLst>
          </p:nvPr>
        </p:nvGraphicFramePr>
        <p:xfrm>
          <a:off x="4550229" y="1952416"/>
          <a:ext cx="7075714" cy="1269433"/>
        </p:xfrm>
        <a:graphic>
          <a:graphicData uri="http://schemas.openxmlformats.org/presentationml/2006/ole">
            <mc:AlternateContent xmlns:mc="http://schemas.openxmlformats.org/markup-compatibility/2006">
              <mc:Choice xmlns:v="urn:schemas-microsoft-com:vml" Requires="v">
                <p:oleObj spid="_x0000_s15429" name="Visio" r:id="rId3" imgW="4070316" imgH="730128" progId="Visio.Drawing.11">
                  <p:embed/>
                </p:oleObj>
              </mc:Choice>
              <mc:Fallback>
                <p:oleObj name="Visio" r:id="rId3" imgW="4070316" imgH="730128"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0229" y="1952416"/>
                        <a:ext cx="7075714" cy="1269433"/>
                      </a:xfrm>
                      <a:prstGeom prst="rect">
                        <a:avLst/>
                      </a:prstGeom>
                      <a:noFill/>
                    </p:spPr>
                  </p:pic>
                </p:oleObj>
              </mc:Fallback>
            </mc:AlternateContent>
          </a:graphicData>
        </a:graphic>
      </p:graphicFrame>
      <p:sp>
        <p:nvSpPr>
          <p:cNvPr id="10" name="文本框 9"/>
          <p:cNvSpPr txBox="1"/>
          <p:nvPr/>
        </p:nvSpPr>
        <p:spPr>
          <a:xfrm>
            <a:off x="464455" y="1810752"/>
            <a:ext cx="3962401" cy="4247317"/>
          </a:xfrm>
          <a:prstGeom prst="rect">
            <a:avLst/>
          </a:prstGeom>
          <a:noFill/>
        </p:spPr>
        <p:txBody>
          <a:bodyPr wrap="square" rtlCol="0">
            <a:spAutoFit/>
          </a:bodyPr>
          <a:lstStyle/>
          <a:p>
            <a:pPr indent="457200">
              <a:lnSpc>
                <a:spcPct val="150000"/>
              </a:lnSpc>
            </a:pPr>
            <a:r>
              <a:rPr lang="zh-CN" altLang="en-US" sz="1800" dirty="0" smtClean="0"/>
              <a:t>平方环</a:t>
            </a:r>
            <a:r>
              <a:rPr lang="zh-CN" altLang="zh-CN" sz="1800" dirty="0" smtClean="0"/>
              <a:t>解决</a:t>
            </a:r>
            <a:r>
              <a:rPr lang="zh-CN" altLang="zh-CN" sz="1800" dirty="0"/>
              <a:t>了载波同步问题，但是最后获得的载波同步信号可能与原始载波存在</a:t>
            </a:r>
            <a:r>
              <a:rPr lang="en-US" altLang="zh-CN" sz="1800" dirty="0"/>
              <a:t>180</a:t>
            </a:r>
            <a:r>
              <a:rPr lang="zh-CN" altLang="zh-CN" sz="1800" dirty="0"/>
              <a:t>°的相位差，所以解调输出可能与原始调制信号反相，即原始载波的高电平可能在解调后成为低电平，而原始的低电平解调后变为高电平。这种情况称为相位模糊现象，是所有</a:t>
            </a:r>
            <a:r>
              <a:rPr lang="en-US" altLang="zh-CN" sz="1800" dirty="0"/>
              <a:t>PSK</a:t>
            </a:r>
            <a:r>
              <a:rPr lang="zh-CN" altLang="zh-CN" sz="1800" dirty="0"/>
              <a:t>解调的</a:t>
            </a:r>
            <a:r>
              <a:rPr lang="zh-CN" altLang="zh-CN" sz="1800" dirty="0" smtClean="0"/>
              <a:t>通病</a:t>
            </a:r>
            <a:endParaRPr lang="en-US" altLang="zh-CN" sz="1800" dirty="0" smtClean="0"/>
          </a:p>
          <a:p>
            <a:pPr indent="457200">
              <a:lnSpc>
                <a:spcPct val="150000"/>
              </a:lnSpc>
            </a:pPr>
            <a:r>
              <a:rPr lang="zh-CN" altLang="zh-CN" sz="1800" dirty="0" smtClean="0"/>
              <a:t>这个</a:t>
            </a:r>
            <a:r>
              <a:rPr lang="zh-CN" altLang="zh-CN" sz="1800" dirty="0"/>
              <a:t>问题只能通过合适的基带编码</a:t>
            </a:r>
            <a:r>
              <a:rPr lang="zh-CN" altLang="zh-CN" sz="1800" dirty="0" smtClean="0"/>
              <a:t>解决</a:t>
            </a:r>
            <a:endParaRPr lang="zh-CN" altLang="en-US" sz="1800" dirty="0"/>
          </a:p>
        </p:txBody>
      </p:sp>
      <p:pic>
        <p:nvPicPr>
          <p:cNvPr id="11" name="图片 10"/>
          <p:cNvPicPr>
            <a:picLocks noChangeAspect="1"/>
          </p:cNvPicPr>
          <p:nvPr/>
        </p:nvPicPr>
        <p:blipFill>
          <a:blip r:embed="rId5"/>
          <a:stretch>
            <a:fillRect/>
          </a:stretch>
        </p:blipFill>
        <p:spPr>
          <a:xfrm>
            <a:off x="5066289" y="3363514"/>
            <a:ext cx="6043593" cy="2581729"/>
          </a:xfrm>
          <a:prstGeom prst="rect">
            <a:avLst/>
          </a:prstGeom>
        </p:spPr>
      </p:pic>
    </p:spTree>
    <p:extLst>
      <p:ext uri="{BB962C8B-B14F-4D97-AF65-F5344CB8AC3E}">
        <p14:creationId xmlns:p14="http://schemas.microsoft.com/office/powerpoint/2010/main" val="610309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21</a:t>
            </a:fld>
            <a:endParaRPr lang="en-US" altLang="zh-CN">
              <a:solidFill>
                <a:srgbClr val="FFFFFF"/>
              </a:solidFill>
            </a:endParaRPr>
          </a:p>
        </p:txBody>
      </p:sp>
      <p:sp>
        <p:nvSpPr>
          <p:cNvPr id="5" name="矩形 4"/>
          <p:cNvSpPr/>
          <p:nvPr/>
        </p:nvSpPr>
        <p:spPr>
          <a:xfrm>
            <a:off x="442684" y="412774"/>
            <a:ext cx="7257145" cy="4293483"/>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dirty="0" smtClean="0">
                <a:solidFill>
                  <a:srgbClr val="FF0000"/>
                </a:solidFill>
              </a:rPr>
              <a:t>4PSK</a:t>
            </a:r>
            <a:r>
              <a:rPr lang="zh-CN" altLang="en-US" dirty="0" smtClean="0">
                <a:solidFill>
                  <a:srgbClr val="FF0000"/>
                </a:solidFill>
              </a:rPr>
              <a:t>与</a:t>
            </a:r>
            <a:r>
              <a:rPr lang="en-US" altLang="zh-CN" dirty="0" smtClean="0">
                <a:solidFill>
                  <a:srgbClr val="FF0000"/>
                </a:solidFill>
              </a:rPr>
              <a:t>QAM</a:t>
            </a:r>
            <a:r>
              <a:rPr lang="zh-CN" altLang="en-US" dirty="0" smtClean="0">
                <a:solidFill>
                  <a:srgbClr val="FF0000"/>
                </a:solidFill>
              </a:rPr>
              <a:t>（正交振幅调制）（非本题目要求）</a:t>
            </a:r>
            <a:endParaRPr lang="en-US" altLang="zh-CN" dirty="0" smtClean="0">
              <a:solidFill>
                <a:srgbClr val="FF0000"/>
              </a:solidFill>
            </a:endParaRPr>
          </a:p>
          <a:p>
            <a:pPr marL="285750" indent="-285750">
              <a:lnSpc>
                <a:spcPct val="150000"/>
              </a:lnSpc>
              <a:buFont typeface="Arial" panose="020B0604020202020204" pitchFamily="34" charset="0"/>
              <a:buChar char="•"/>
            </a:pPr>
            <a:r>
              <a:rPr lang="zh-CN" altLang="en-US" sz="1800" dirty="0" smtClean="0"/>
              <a:t>这是一种数字信号调制方式，可以视为</a:t>
            </a:r>
            <a:r>
              <a:rPr lang="en-US" altLang="zh-CN" sz="1800" dirty="0" smtClean="0"/>
              <a:t>ASK</a:t>
            </a:r>
            <a:r>
              <a:rPr lang="zh-CN" altLang="en-US" sz="1800" dirty="0" smtClean="0"/>
              <a:t>与</a:t>
            </a:r>
            <a:r>
              <a:rPr lang="en-US" altLang="zh-CN" sz="1800" dirty="0" smtClean="0"/>
              <a:t>PSK</a:t>
            </a:r>
            <a:r>
              <a:rPr lang="zh-CN" altLang="en-US" sz="1800" dirty="0" smtClean="0"/>
              <a:t>的复合调制</a:t>
            </a:r>
            <a:endParaRPr lang="en-US" altLang="zh-CN" sz="1800" dirty="0" smtClean="0"/>
          </a:p>
          <a:p>
            <a:pPr marL="285750" indent="-285750">
              <a:lnSpc>
                <a:spcPct val="150000"/>
              </a:lnSpc>
              <a:buFont typeface="Arial" panose="020B0604020202020204" pitchFamily="34" charset="0"/>
              <a:buChar char="•"/>
            </a:pPr>
            <a:r>
              <a:rPr lang="en-US" altLang="zh-CN" sz="1800" dirty="0" smtClean="0"/>
              <a:t>I/Q</a:t>
            </a:r>
            <a:r>
              <a:rPr lang="zh-CN" altLang="en-US" sz="1800" dirty="0" smtClean="0"/>
              <a:t>为参考矢量</a:t>
            </a:r>
            <a:endParaRPr lang="en-US" altLang="zh-CN" sz="1800" dirty="0" smtClean="0"/>
          </a:p>
          <a:p>
            <a:pPr marL="285750" indent="-285750">
              <a:lnSpc>
                <a:spcPct val="150000"/>
              </a:lnSpc>
              <a:buFont typeface="Arial" panose="020B0604020202020204" pitchFamily="34" charset="0"/>
              <a:buChar char="•"/>
            </a:pPr>
            <a:r>
              <a:rPr lang="zh-CN" altLang="en-US" sz="1800" dirty="0" smtClean="0"/>
              <a:t>每个信号矢量表示一个符号（</a:t>
            </a:r>
            <a:r>
              <a:rPr lang="en-US" altLang="zh-CN" sz="1800" dirty="0" smtClean="0"/>
              <a:t>symbol</a:t>
            </a:r>
            <a:r>
              <a:rPr lang="zh-CN" altLang="en-US" sz="1800" dirty="0" smtClean="0"/>
              <a:t>）</a:t>
            </a:r>
            <a:endParaRPr lang="en-US" altLang="zh-CN" sz="1800" dirty="0" smtClean="0"/>
          </a:p>
          <a:p>
            <a:pPr marL="285750" indent="-285750">
              <a:lnSpc>
                <a:spcPct val="150000"/>
              </a:lnSpc>
              <a:buFont typeface="Arial" panose="020B0604020202020204" pitchFamily="34" charset="0"/>
              <a:buChar char="•"/>
            </a:pPr>
            <a:r>
              <a:rPr lang="zh-CN" altLang="en-US" sz="1800" dirty="0" smtClean="0"/>
              <a:t>每个符号包含</a:t>
            </a:r>
            <a:r>
              <a:rPr lang="en-US" altLang="zh-CN" sz="1800" dirty="0" smtClean="0"/>
              <a:t>2</a:t>
            </a:r>
            <a:r>
              <a:rPr lang="en-US" altLang="zh-CN" sz="1800" baseline="30000" dirty="0" smtClean="0"/>
              <a:t>m</a:t>
            </a:r>
            <a:r>
              <a:rPr lang="zh-CN" altLang="en-US" sz="1800" dirty="0" smtClean="0"/>
              <a:t>个</a:t>
            </a:r>
            <a:r>
              <a:rPr lang="en-US" altLang="zh-CN" sz="1800" dirty="0" smtClean="0"/>
              <a:t>bit</a:t>
            </a:r>
          </a:p>
          <a:p>
            <a:pPr>
              <a:lnSpc>
                <a:spcPct val="150000"/>
              </a:lnSpc>
            </a:pPr>
            <a:r>
              <a:rPr lang="en-US" altLang="zh-CN" sz="1800" dirty="0"/>
              <a:t>QAM</a:t>
            </a:r>
            <a:r>
              <a:rPr lang="zh-CN" altLang="en-US" sz="1800" dirty="0"/>
              <a:t>信号的解调</a:t>
            </a:r>
            <a:endParaRPr lang="en-US" altLang="zh-CN" sz="1800" dirty="0"/>
          </a:p>
          <a:p>
            <a:pPr marL="285750" indent="-285750">
              <a:lnSpc>
                <a:spcPct val="150000"/>
              </a:lnSpc>
              <a:buFont typeface="Arial" panose="020B0604020202020204" pitchFamily="34" charset="0"/>
              <a:buChar char="•"/>
            </a:pPr>
            <a:r>
              <a:rPr lang="zh-CN" altLang="en-US" sz="1800" dirty="0"/>
              <a:t>用锁相环恢复</a:t>
            </a:r>
            <a:r>
              <a:rPr lang="en-US" altLang="zh-CN" sz="1800" dirty="0" smtClean="0"/>
              <a:t>I/Q</a:t>
            </a:r>
            <a:r>
              <a:rPr lang="zh-CN" altLang="en-US" sz="1800" dirty="0" smtClean="0"/>
              <a:t>参考</a:t>
            </a:r>
            <a:r>
              <a:rPr lang="zh-CN" altLang="en-US" sz="1800" dirty="0"/>
              <a:t>矢量</a:t>
            </a:r>
            <a:endParaRPr lang="en-US" altLang="zh-CN" sz="1800" dirty="0"/>
          </a:p>
          <a:p>
            <a:pPr marL="285750" indent="-285750">
              <a:lnSpc>
                <a:spcPct val="150000"/>
              </a:lnSpc>
              <a:buFont typeface="Arial" panose="020B0604020202020204" pitchFamily="34" charset="0"/>
              <a:buChar char="•"/>
            </a:pPr>
            <a:r>
              <a:rPr lang="zh-CN" altLang="en-US" sz="1800" dirty="0" smtClean="0"/>
              <a:t>参考矢量与输入相乘（正交解调）</a:t>
            </a:r>
            <a:endParaRPr lang="en-US" altLang="zh-CN" sz="1800" dirty="0" smtClean="0"/>
          </a:p>
          <a:p>
            <a:pPr marL="285750" indent="-285750">
              <a:lnSpc>
                <a:spcPct val="150000"/>
              </a:lnSpc>
              <a:buFont typeface="Arial" panose="020B0604020202020204" pitchFamily="34" charset="0"/>
              <a:buChar char="•"/>
            </a:pPr>
            <a:r>
              <a:rPr lang="zh-CN" altLang="en-US" sz="1800" dirty="0" smtClean="0"/>
              <a:t>解调得到</a:t>
            </a:r>
            <a:r>
              <a:rPr lang="en-US" altLang="zh-CN" sz="1800" dirty="0" smtClean="0"/>
              <a:t>2</a:t>
            </a:r>
            <a:r>
              <a:rPr lang="zh-CN" altLang="en-US" sz="1800" dirty="0" smtClean="0"/>
              <a:t>个多</a:t>
            </a:r>
            <a:r>
              <a:rPr lang="zh-CN" altLang="en-US" sz="1800" dirty="0"/>
              <a:t>进制的幅度信号</a:t>
            </a:r>
            <a:endParaRPr lang="en-US" altLang="zh-CN" sz="1800" dirty="0"/>
          </a:p>
          <a:p>
            <a:pPr marL="285750" indent="-285750">
              <a:lnSpc>
                <a:spcPct val="150000"/>
              </a:lnSpc>
              <a:buFont typeface="Arial" panose="020B0604020202020204" pitchFamily="34" charset="0"/>
              <a:buChar char="•"/>
            </a:pPr>
            <a:r>
              <a:rPr lang="zh-CN" altLang="en-US" sz="1800" dirty="0"/>
              <a:t>判断多进制信号</a:t>
            </a:r>
            <a:r>
              <a:rPr lang="zh-CN" altLang="en-US" sz="1800" dirty="0" smtClean="0"/>
              <a:t>幅度</a:t>
            </a:r>
            <a:endParaRPr lang="en-US" altLang="zh-CN" sz="1800" dirty="0"/>
          </a:p>
        </p:txBody>
      </p:sp>
      <p:pic>
        <p:nvPicPr>
          <p:cNvPr id="6" name="图片 5"/>
          <p:cNvPicPr>
            <a:picLocks noChangeAspect="1"/>
          </p:cNvPicPr>
          <p:nvPr/>
        </p:nvPicPr>
        <p:blipFill>
          <a:blip r:embed="rId2"/>
          <a:stretch>
            <a:fillRect/>
          </a:stretch>
        </p:blipFill>
        <p:spPr>
          <a:xfrm>
            <a:off x="4746022" y="2645541"/>
            <a:ext cx="2159000" cy="2499331"/>
          </a:xfrm>
          <a:prstGeom prst="rect">
            <a:avLst/>
          </a:prstGeom>
        </p:spPr>
      </p:pic>
      <p:pic>
        <p:nvPicPr>
          <p:cNvPr id="7" name="图片 6"/>
          <p:cNvPicPr>
            <a:picLocks noChangeAspect="1"/>
          </p:cNvPicPr>
          <p:nvPr/>
        </p:nvPicPr>
        <p:blipFill>
          <a:blip r:embed="rId3"/>
          <a:stretch>
            <a:fillRect/>
          </a:stretch>
        </p:blipFill>
        <p:spPr>
          <a:xfrm>
            <a:off x="7295241" y="1592415"/>
            <a:ext cx="3745785" cy="3492393"/>
          </a:xfrm>
          <a:prstGeom prst="rect">
            <a:avLst/>
          </a:prstGeom>
        </p:spPr>
      </p:pic>
      <p:sp>
        <p:nvSpPr>
          <p:cNvPr id="8" name="文本框 7"/>
          <p:cNvSpPr txBox="1"/>
          <p:nvPr/>
        </p:nvSpPr>
        <p:spPr>
          <a:xfrm>
            <a:off x="4873022" y="5035717"/>
            <a:ext cx="2130422" cy="369332"/>
          </a:xfrm>
          <a:prstGeom prst="rect">
            <a:avLst/>
          </a:prstGeom>
          <a:noFill/>
        </p:spPr>
        <p:txBody>
          <a:bodyPr wrap="square" rtlCol="0">
            <a:spAutoFit/>
          </a:bodyPr>
          <a:lstStyle/>
          <a:p>
            <a:r>
              <a:rPr lang="zh-CN" altLang="en-US" sz="1800" dirty="0" smtClean="0"/>
              <a:t>每个符号包含</a:t>
            </a:r>
            <a:r>
              <a:rPr lang="en-US" altLang="zh-CN" sz="1800" dirty="0" smtClean="0"/>
              <a:t>2bit</a:t>
            </a:r>
            <a:endParaRPr lang="zh-CN" altLang="en-US" sz="1800" dirty="0"/>
          </a:p>
        </p:txBody>
      </p:sp>
      <p:sp>
        <p:nvSpPr>
          <p:cNvPr id="9" name="文本框 8"/>
          <p:cNvSpPr txBox="1"/>
          <p:nvPr/>
        </p:nvSpPr>
        <p:spPr>
          <a:xfrm>
            <a:off x="7534276" y="4925621"/>
            <a:ext cx="3599543" cy="1338828"/>
          </a:xfrm>
          <a:prstGeom prst="rect">
            <a:avLst/>
          </a:prstGeom>
          <a:noFill/>
        </p:spPr>
        <p:txBody>
          <a:bodyPr wrap="square" rtlCol="0">
            <a:spAutoFit/>
          </a:bodyPr>
          <a:lstStyle/>
          <a:p>
            <a:pPr>
              <a:lnSpc>
                <a:spcPct val="150000"/>
              </a:lnSpc>
            </a:pPr>
            <a:r>
              <a:rPr lang="zh-CN" altLang="en-US" sz="1800" dirty="0" smtClean="0"/>
              <a:t>每个符号包含</a:t>
            </a:r>
            <a:r>
              <a:rPr lang="en-US" altLang="zh-CN" sz="1800" dirty="0" smtClean="0"/>
              <a:t>4bit</a:t>
            </a:r>
            <a:r>
              <a:rPr lang="zh-CN" altLang="en-US" sz="1800" dirty="0" smtClean="0"/>
              <a:t>。</a:t>
            </a:r>
            <a:endParaRPr lang="en-US" altLang="zh-CN" sz="1800" dirty="0" smtClean="0"/>
          </a:p>
          <a:p>
            <a:pPr>
              <a:lnSpc>
                <a:spcPct val="150000"/>
              </a:lnSpc>
            </a:pPr>
            <a:r>
              <a:rPr lang="zh-CN" altLang="en-US" sz="1800" dirty="0" smtClean="0"/>
              <a:t>还有</a:t>
            </a:r>
            <a:r>
              <a:rPr lang="en-US" altLang="zh-CN" sz="1800" dirty="0" smtClean="0"/>
              <a:t>32QAM</a:t>
            </a:r>
            <a:r>
              <a:rPr lang="zh-CN" altLang="en-US" sz="1800" dirty="0" smtClean="0"/>
              <a:t>、</a:t>
            </a:r>
            <a:r>
              <a:rPr lang="en-US" altLang="zh-CN" sz="1800" dirty="0" smtClean="0"/>
              <a:t>64QAM</a:t>
            </a:r>
            <a:r>
              <a:rPr lang="zh-CN" altLang="en-US" sz="1800" dirty="0"/>
              <a:t>、</a:t>
            </a:r>
            <a:r>
              <a:rPr lang="en-US" altLang="zh-CN" sz="1800" dirty="0"/>
              <a:t>128QAM</a:t>
            </a:r>
            <a:r>
              <a:rPr lang="zh-CN" altLang="en-US" sz="1800" dirty="0"/>
              <a:t>、</a:t>
            </a:r>
            <a:r>
              <a:rPr lang="en-US" altLang="zh-CN" sz="1800" dirty="0"/>
              <a:t>256QAM</a:t>
            </a:r>
            <a:r>
              <a:rPr lang="zh-CN" altLang="en-US" sz="1800" dirty="0"/>
              <a:t>等，可</a:t>
            </a:r>
            <a:r>
              <a:rPr lang="zh-CN" altLang="en-US" sz="1800" dirty="0" smtClean="0"/>
              <a:t>类推</a:t>
            </a:r>
            <a:endParaRPr lang="zh-CN" altLang="en-US" sz="1800" dirty="0"/>
          </a:p>
        </p:txBody>
      </p:sp>
      <p:sp>
        <p:nvSpPr>
          <p:cNvPr id="11" name="文本框 10"/>
          <p:cNvSpPr txBox="1"/>
          <p:nvPr/>
        </p:nvSpPr>
        <p:spPr>
          <a:xfrm>
            <a:off x="10653073" y="2974576"/>
            <a:ext cx="428171" cy="400110"/>
          </a:xfrm>
          <a:prstGeom prst="rect">
            <a:avLst/>
          </a:prstGeom>
          <a:noFill/>
        </p:spPr>
        <p:txBody>
          <a:bodyPr wrap="square" rtlCol="0">
            <a:spAutoFit/>
          </a:bodyPr>
          <a:lstStyle/>
          <a:p>
            <a:r>
              <a:rPr lang="en-US" altLang="zh-CN" dirty="0" smtClean="0">
                <a:solidFill>
                  <a:srgbClr val="FF0000"/>
                </a:solidFill>
                <a:latin typeface="+mn-lt"/>
              </a:rPr>
              <a:t>I</a:t>
            </a:r>
            <a:endParaRPr lang="zh-CN" altLang="en-US" dirty="0">
              <a:solidFill>
                <a:srgbClr val="FF0000"/>
              </a:solidFill>
              <a:latin typeface="+mn-lt"/>
            </a:endParaRPr>
          </a:p>
        </p:txBody>
      </p:sp>
      <p:sp>
        <p:nvSpPr>
          <p:cNvPr id="12" name="文本框 11"/>
          <p:cNvSpPr txBox="1"/>
          <p:nvPr/>
        </p:nvSpPr>
        <p:spPr>
          <a:xfrm>
            <a:off x="8969827" y="1255418"/>
            <a:ext cx="428171" cy="400110"/>
          </a:xfrm>
          <a:prstGeom prst="rect">
            <a:avLst/>
          </a:prstGeom>
          <a:noFill/>
        </p:spPr>
        <p:txBody>
          <a:bodyPr wrap="square" rtlCol="0">
            <a:spAutoFit/>
          </a:bodyPr>
          <a:lstStyle/>
          <a:p>
            <a:r>
              <a:rPr lang="en-US" altLang="zh-CN" dirty="0" smtClean="0">
                <a:solidFill>
                  <a:srgbClr val="FF0000"/>
                </a:solidFill>
                <a:latin typeface="+mn-lt"/>
              </a:rPr>
              <a:t>Q</a:t>
            </a:r>
            <a:endParaRPr lang="zh-CN" altLang="en-US" dirty="0">
              <a:solidFill>
                <a:srgbClr val="FF0000"/>
              </a:solidFill>
              <a:latin typeface="+mn-lt"/>
            </a:endParaRPr>
          </a:p>
        </p:txBody>
      </p:sp>
      <p:sp>
        <p:nvSpPr>
          <p:cNvPr id="13" name="文本框 12"/>
          <p:cNvSpPr txBox="1"/>
          <p:nvPr/>
        </p:nvSpPr>
        <p:spPr>
          <a:xfrm>
            <a:off x="6780140" y="3456676"/>
            <a:ext cx="428171" cy="400110"/>
          </a:xfrm>
          <a:prstGeom prst="rect">
            <a:avLst/>
          </a:prstGeom>
          <a:noFill/>
        </p:spPr>
        <p:txBody>
          <a:bodyPr wrap="square" rtlCol="0">
            <a:spAutoFit/>
          </a:bodyPr>
          <a:lstStyle/>
          <a:p>
            <a:r>
              <a:rPr lang="en-US" altLang="zh-CN" dirty="0" smtClean="0">
                <a:solidFill>
                  <a:srgbClr val="FF0000"/>
                </a:solidFill>
                <a:latin typeface="+mn-lt"/>
              </a:rPr>
              <a:t>I</a:t>
            </a:r>
            <a:endParaRPr lang="zh-CN" altLang="en-US" dirty="0">
              <a:solidFill>
                <a:srgbClr val="FF0000"/>
              </a:solidFill>
              <a:latin typeface="+mn-lt"/>
            </a:endParaRPr>
          </a:p>
        </p:txBody>
      </p:sp>
      <p:sp>
        <p:nvSpPr>
          <p:cNvPr id="14" name="文本框 13"/>
          <p:cNvSpPr txBox="1"/>
          <p:nvPr/>
        </p:nvSpPr>
        <p:spPr>
          <a:xfrm>
            <a:off x="5655541" y="2315398"/>
            <a:ext cx="428171" cy="400110"/>
          </a:xfrm>
          <a:prstGeom prst="rect">
            <a:avLst/>
          </a:prstGeom>
          <a:noFill/>
        </p:spPr>
        <p:txBody>
          <a:bodyPr wrap="square" rtlCol="0">
            <a:spAutoFit/>
          </a:bodyPr>
          <a:lstStyle/>
          <a:p>
            <a:r>
              <a:rPr lang="en-US" altLang="zh-CN" dirty="0" smtClean="0">
                <a:solidFill>
                  <a:srgbClr val="FF0000"/>
                </a:solidFill>
                <a:latin typeface="+mn-lt"/>
              </a:rPr>
              <a:t>Q</a:t>
            </a:r>
            <a:endParaRPr lang="zh-CN" altLang="en-US" dirty="0">
              <a:solidFill>
                <a:srgbClr val="FF0000"/>
              </a:solidFill>
              <a:latin typeface="+mn-lt"/>
            </a:endParaRPr>
          </a:p>
        </p:txBody>
      </p:sp>
      <p:cxnSp>
        <p:nvCxnSpPr>
          <p:cNvPr id="16" name="直接箭头连接符 15"/>
          <p:cNvCxnSpPr/>
          <p:nvPr/>
        </p:nvCxnSpPr>
        <p:spPr>
          <a:xfrm flipH="1">
            <a:off x="10136055" y="1655528"/>
            <a:ext cx="132803" cy="49258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9738672" y="1012587"/>
            <a:ext cx="2256972" cy="584775"/>
          </a:xfrm>
          <a:prstGeom prst="rect">
            <a:avLst/>
          </a:prstGeom>
          <a:noFill/>
        </p:spPr>
        <p:txBody>
          <a:bodyPr wrap="square" rtlCol="0">
            <a:spAutoFit/>
          </a:bodyPr>
          <a:lstStyle/>
          <a:p>
            <a:r>
              <a:rPr lang="zh-CN" altLang="en-US" sz="1600" dirty="0" smtClean="0"/>
              <a:t>信号矢量的端点位置</a:t>
            </a:r>
            <a:endParaRPr lang="en-US" altLang="zh-CN" sz="1600" dirty="0" smtClean="0"/>
          </a:p>
          <a:p>
            <a:r>
              <a:rPr lang="zh-CN" altLang="en-US" sz="1600" dirty="0" smtClean="0"/>
              <a:t>（星座图）</a:t>
            </a:r>
            <a:endParaRPr lang="zh-CN" altLang="en-US" sz="1600" dirty="0"/>
          </a:p>
        </p:txBody>
      </p:sp>
    </p:spTree>
    <p:extLst>
      <p:ext uri="{BB962C8B-B14F-4D97-AF65-F5344CB8AC3E}">
        <p14:creationId xmlns:p14="http://schemas.microsoft.com/office/powerpoint/2010/main" val="2105025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22</a:t>
            </a:fld>
            <a:endParaRPr lang="en-US" altLang="zh-CN">
              <a:solidFill>
                <a:srgbClr val="FFFFFF"/>
              </a:solidFill>
            </a:endParaRPr>
          </a:p>
        </p:txBody>
      </p:sp>
      <p:sp>
        <p:nvSpPr>
          <p:cNvPr id="5" name="文本框 4"/>
          <p:cNvSpPr txBox="1"/>
          <p:nvPr/>
        </p:nvSpPr>
        <p:spPr>
          <a:xfrm>
            <a:off x="406400" y="522514"/>
            <a:ext cx="11241314" cy="5278368"/>
          </a:xfrm>
          <a:prstGeom prst="rect">
            <a:avLst/>
          </a:prstGeom>
          <a:noFill/>
        </p:spPr>
        <p:txBody>
          <a:bodyPr wrap="square" rtlCol="0">
            <a:spAutoFit/>
          </a:bodyPr>
          <a:lstStyle/>
          <a:p>
            <a:pPr>
              <a:lnSpc>
                <a:spcPct val="150000"/>
              </a:lnSpc>
            </a:pPr>
            <a:r>
              <a:rPr lang="zh-CN" altLang="en-US" dirty="0" smtClean="0">
                <a:solidFill>
                  <a:srgbClr val="FF0000"/>
                </a:solidFill>
              </a:rPr>
              <a:t>本题目的</a:t>
            </a:r>
            <a:r>
              <a:rPr lang="zh-CN" altLang="zh-CN" dirty="0" smtClean="0">
                <a:solidFill>
                  <a:srgbClr val="FF0000"/>
                </a:solidFill>
              </a:rPr>
              <a:t>解决</a:t>
            </a:r>
            <a:r>
              <a:rPr lang="zh-CN" altLang="zh-CN" dirty="0">
                <a:solidFill>
                  <a:srgbClr val="FF0000"/>
                </a:solidFill>
              </a:rPr>
              <a:t>方案：</a:t>
            </a:r>
          </a:p>
          <a:p>
            <a:pPr marL="742950" lvl="1" indent="-285750">
              <a:lnSpc>
                <a:spcPct val="150000"/>
              </a:lnSpc>
              <a:buFont typeface="Arial" panose="020B0604020202020204" pitchFamily="34" charset="0"/>
              <a:buChar char="•"/>
            </a:pPr>
            <a:r>
              <a:rPr lang="zh-CN" altLang="zh-CN" sz="1800" dirty="0" smtClean="0"/>
              <a:t>本题</a:t>
            </a:r>
            <a:r>
              <a:rPr lang="zh-CN" altLang="zh-CN" sz="1800" dirty="0"/>
              <a:t>目的解决方案可以归结为</a:t>
            </a:r>
            <a:r>
              <a:rPr lang="en-US" altLang="zh-CN" sz="1800" dirty="0"/>
              <a:t>3</a:t>
            </a:r>
            <a:r>
              <a:rPr lang="zh-CN" altLang="zh-CN" sz="1800" dirty="0"/>
              <a:t>个解调电路：</a:t>
            </a:r>
            <a:r>
              <a:rPr lang="en-US" altLang="zh-CN" sz="1800" dirty="0"/>
              <a:t>AM/2ASK</a:t>
            </a:r>
            <a:r>
              <a:rPr lang="zh-CN" altLang="zh-CN" sz="1800" dirty="0"/>
              <a:t>解调、</a:t>
            </a:r>
            <a:r>
              <a:rPr lang="en-US" altLang="zh-CN" sz="1800" dirty="0"/>
              <a:t>FM/2FSK</a:t>
            </a:r>
            <a:r>
              <a:rPr lang="zh-CN" altLang="zh-CN" sz="1800" dirty="0"/>
              <a:t>解调、</a:t>
            </a:r>
            <a:r>
              <a:rPr lang="en-US" altLang="zh-CN" sz="1800" dirty="0"/>
              <a:t>2PSK</a:t>
            </a:r>
            <a:r>
              <a:rPr lang="zh-CN" altLang="zh-CN" sz="1800" dirty="0" smtClean="0"/>
              <a:t>解调</a:t>
            </a:r>
            <a:endParaRPr lang="en-US" altLang="zh-CN" sz="1800" dirty="0" smtClean="0"/>
          </a:p>
          <a:p>
            <a:pPr marL="742950" lvl="1" indent="-285750">
              <a:lnSpc>
                <a:spcPct val="150000"/>
              </a:lnSpc>
              <a:buFont typeface="Arial" panose="020B0604020202020204" pitchFamily="34" charset="0"/>
              <a:buChar char="•"/>
            </a:pPr>
            <a:r>
              <a:rPr lang="zh-CN" altLang="zh-CN" sz="1800" dirty="0" smtClean="0"/>
              <a:t>前面给</a:t>
            </a:r>
            <a:r>
              <a:rPr lang="zh-CN" altLang="zh-CN" sz="1800" dirty="0"/>
              <a:t>出了上述三个解调电路的多种解决方案</a:t>
            </a:r>
            <a:r>
              <a:rPr lang="zh-CN" altLang="zh-CN" sz="1800" dirty="0" smtClean="0"/>
              <a:t>，选取</a:t>
            </a:r>
            <a:r>
              <a:rPr lang="zh-CN" altLang="zh-CN" sz="1800" dirty="0"/>
              <a:t>合适的</a:t>
            </a:r>
            <a:r>
              <a:rPr lang="zh-CN" altLang="zh-CN" sz="1800" dirty="0" smtClean="0"/>
              <a:t>方案综合</a:t>
            </a:r>
            <a:r>
              <a:rPr lang="zh-CN" altLang="zh-CN" sz="1800" dirty="0"/>
              <a:t>成一个完整的解决</a:t>
            </a:r>
            <a:r>
              <a:rPr lang="zh-CN" altLang="zh-CN" sz="1800" dirty="0" smtClean="0"/>
              <a:t>方案</a:t>
            </a:r>
            <a:endParaRPr lang="en-US" altLang="zh-CN" sz="1800" dirty="0" smtClean="0"/>
          </a:p>
          <a:p>
            <a:pPr marL="0" lvl="1">
              <a:lnSpc>
                <a:spcPct val="150000"/>
              </a:lnSpc>
              <a:spcBef>
                <a:spcPts val="1200"/>
              </a:spcBef>
            </a:pPr>
            <a:r>
              <a:rPr lang="zh-CN" altLang="en-US" sz="1800" dirty="0" smtClean="0"/>
              <a:t>笔者的解决方案：</a:t>
            </a:r>
            <a:endParaRPr lang="en-US" altLang="zh-CN" sz="1800" dirty="0" smtClean="0"/>
          </a:p>
          <a:p>
            <a:pPr marL="0" lvl="1" indent="457200">
              <a:lnSpc>
                <a:spcPct val="150000"/>
              </a:lnSpc>
            </a:pPr>
            <a:r>
              <a:rPr lang="zh-CN" altLang="en-US" sz="1800" dirty="0" smtClean="0"/>
              <a:t>仔细观察前述各方案，</a:t>
            </a:r>
            <a:r>
              <a:rPr lang="zh-CN" altLang="zh-CN" sz="1800" dirty="0" smtClean="0"/>
              <a:t>输入信号</a:t>
            </a:r>
            <a:r>
              <a:rPr lang="zh-CN" altLang="zh-CN" sz="1800" dirty="0"/>
              <a:t>与载波信号相乘的那个的</a:t>
            </a:r>
            <a:r>
              <a:rPr lang="en-US" altLang="zh-CN" sz="1800" dirty="0"/>
              <a:t>AM/2ASK</a:t>
            </a:r>
            <a:r>
              <a:rPr lang="zh-CN" altLang="zh-CN" sz="1800" dirty="0"/>
              <a:t>解调电路与</a:t>
            </a:r>
            <a:r>
              <a:rPr lang="en-US" altLang="zh-CN" sz="1800" dirty="0"/>
              <a:t>2PSK</a:t>
            </a:r>
            <a:r>
              <a:rPr lang="zh-CN" altLang="zh-CN" sz="1800" dirty="0"/>
              <a:t>的解调电路结构极为</a:t>
            </a:r>
            <a:r>
              <a:rPr lang="zh-CN" altLang="zh-CN" sz="1800" dirty="0" smtClean="0"/>
              <a:t>相似</a:t>
            </a:r>
            <a:r>
              <a:rPr lang="zh-CN" altLang="en-US" sz="1800" dirty="0" smtClean="0"/>
              <a:t>，</a:t>
            </a:r>
            <a:r>
              <a:rPr lang="zh-CN" altLang="zh-CN" sz="1800" dirty="0" smtClean="0"/>
              <a:t>其</a:t>
            </a:r>
            <a:r>
              <a:rPr lang="zh-CN" altLang="zh-CN" sz="1800" dirty="0"/>
              <a:t>解调原理都是将输入信号与锁相环恢复的载波信号相乘，唯一的区别是</a:t>
            </a:r>
            <a:r>
              <a:rPr lang="en-US" altLang="zh-CN" sz="1800" dirty="0"/>
              <a:t>AM/2ASK</a:t>
            </a:r>
            <a:r>
              <a:rPr lang="zh-CN" altLang="zh-CN" sz="1800" dirty="0"/>
              <a:t>信号中含有载波成分，所以可以直接用锁相环恢复载波；而</a:t>
            </a:r>
            <a:r>
              <a:rPr lang="en-US" altLang="zh-CN" sz="1800" dirty="0"/>
              <a:t>2PSK</a:t>
            </a:r>
            <a:r>
              <a:rPr lang="zh-CN" altLang="zh-CN" sz="1800" dirty="0"/>
              <a:t>信号中的平均载波分量为</a:t>
            </a:r>
            <a:r>
              <a:rPr lang="en-US" altLang="zh-CN" sz="1800" dirty="0"/>
              <a:t>0</a:t>
            </a:r>
            <a:r>
              <a:rPr lang="zh-CN" altLang="zh-CN" sz="1800" dirty="0"/>
              <a:t>，所以需要先将输入信号平方，在恢复了载波的倍频成分后再分频得到载波</a:t>
            </a:r>
            <a:r>
              <a:rPr lang="zh-CN" altLang="zh-CN" sz="1800" dirty="0" smtClean="0"/>
              <a:t>。用</a:t>
            </a:r>
            <a:r>
              <a:rPr lang="en-US" altLang="zh-CN" sz="1800" dirty="0"/>
              <a:t>2PSK</a:t>
            </a:r>
            <a:r>
              <a:rPr lang="zh-CN" altLang="zh-CN" sz="1800" dirty="0"/>
              <a:t>的解调电路同样也可以解调</a:t>
            </a:r>
            <a:r>
              <a:rPr lang="en-US" altLang="zh-CN" sz="1800" dirty="0"/>
              <a:t>AM</a:t>
            </a:r>
            <a:r>
              <a:rPr lang="zh-CN" altLang="zh-CN" sz="1800" dirty="0"/>
              <a:t>与</a:t>
            </a:r>
            <a:r>
              <a:rPr lang="en-US" altLang="zh-CN" sz="1800" dirty="0"/>
              <a:t>ASK</a:t>
            </a:r>
            <a:r>
              <a:rPr lang="zh-CN" altLang="zh-CN" sz="1800" dirty="0"/>
              <a:t>信号（有一些小区别后面会详细讨论），因此这两个解调电路实际上可以</a:t>
            </a:r>
            <a:r>
              <a:rPr lang="zh-CN" altLang="zh-CN" sz="1800" dirty="0" smtClean="0"/>
              <a:t>合并</a:t>
            </a:r>
            <a:endParaRPr lang="en-US" altLang="zh-CN" sz="1800" dirty="0" smtClean="0"/>
          </a:p>
          <a:p>
            <a:pPr marL="0" lvl="1" indent="457200">
              <a:lnSpc>
                <a:spcPct val="150000"/>
              </a:lnSpc>
            </a:pPr>
            <a:r>
              <a:rPr lang="en-US" altLang="zh-CN" sz="1800" dirty="0" smtClean="0"/>
              <a:t>FM/FSK</a:t>
            </a:r>
            <a:r>
              <a:rPr lang="zh-CN" altLang="en-US" sz="1800" dirty="0" smtClean="0"/>
              <a:t>的解调则与</a:t>
            </a:r>
            <a:r>
              <a:rPr lang="en-US" altLang="zh-CN" sz="1800" dirty="0" smtClean="0"/>
              <a:t>AM</a:t>
            </a:r>
            <a:r>
              <a:rPr lang="zh-CN" altLang="en-US" sz="1800" dirty="0" smtClean="0"/>
              <a:t>解调</a:t>
            </a:r>
            <a:r>
              <a:rPr lang="en-US" altLang="zh-CN" sz="1800" dirty="0" smtClean="0"/>
              <a:t>/PSK</a:t>
            </a:r>
            <a:r>
              <a:rPr lang="zh-CN" altLang="en-US" sz="1800" dirty="0" smtClean="0"/>
              <a:t>解调有较明显的区别，需要分开处理</a:t>
            </a:r>
            <a:endParaRPr lang="zh-CN" altLang="zh-CN" sz="1800" dirty="0"/>
          </a:p>
          <a:p>
            <a:pPr marL="0" lvl="1" indent="457200">
              <a:lnSpc>
                <a:spcPct val="150000"/>
              </a:lnSpc>
            </a:pPr>
            <a:r>
              <a:rPr lang="zh-CN" altLang="en-US" sz="1800" dirty="0" smtClean="0"/>
              <a:t>所以笔者将</a:t>
            </a:r>
            <a:r>
              <a:rPr lang="en-US" altLang="zh-CN" sz="1800" dirty="0"/>
              <a:t>AM/2ASK</a:t>
            </a:r>
            <a:r>
              <a:rPr lang="zh-CN" altLang="zh-CN" sz="1800" dirty="0"/>
              <a:t>解调电路与</a:t>
            </a:r>
            <a:r>
              <a:rPr lang="en-US" altLang="zh-CN" sz="1800" dirty="0"/>
              <a:t>2PSK</a:t>
            </a:r>
            <a:r>
              <a:rPr lang="zh-CN" altLang="zh-CN" sz="1800" dirty="0"/>
              <a:t>的解调</a:t>
            </a:r>
            <a:r>
              <a:rPr lang="zh-CN" altLang="zh-CN" sz="1800" dirty="0" smtClean="0"/>
              <a:t>电路</a:t>
            </a:r>
            <a:r>
              <a:rPr lang="zh-CN" altLang="en-US" sz="1800" dirty="0" smtClean="0"/>
              <a:t>合并为</a:t>
            </a:r>
            <a:r>
              <a:rPr lang="en-US" altLang="zh-CN" sz="1800" dirty="0" smtClean="0"/>
              <a:t>AM/2ASK/2PSK</a:t>
            </a:r>
            <a:r>
              <a:rPr lang="zh-CN" altLang="en-US" sz="1800" dirty="0" smtClean="0"/>
              <a:t>解调模块，总体结构</a:t>
            </a:r>
            <a:r>
              <a:rPr lang="zh-CN" altLang="en-US" sz="1800" dirty="0" smtClean="0"/>
              <a:t>的解调</a:t>
            </a:r>
            <a:r>
              <a:rPr lang="zh-CN" altLang="en-US" sz="1800" dirty="0" smtClean="0"/>
              <a:t>部分</a:t>
            </a:r>
            <a:r>
              <a:rPr lang="zh-CN" altLang="en-US" sz="1800" dirty="0" smtClean="0"/>
              <a:t>就是两个解调模块：</a:t>
            </a:r>
            <a:r>
              <a:rPr lang="en-US" altLang="zh-CN" sz="1800" dirty="0" smtClean="0"/>
              <a:t>AM/2ASK/2PSK</a:t>
            </a:r>
            <a:r>
              <a:rPr lang="zh-CN" altLang="en-US" sz="1800" dirty="0"/>
              <a:t>解调</a:t>
            </a:r>
            <a:r>
              <a:rPr lang="zh-CN" altLang="en-US" sz="1800" dirty="0" smtClean="0"/>
              <a:t>模块与</a:t>
            </a:r>
            <a:r>
              <a:rPr lang="en-US" altLang="zh-CN" sz="1800" dirty="0" smtClean="0"/>
              <a:t>FM/2FSK</a:t>
            </a:r>
            <a:r>
              <a:rPr lang="zh-CN" altLang="en-US" sz="1800" dirty="0" smtClean="0"/>
              <a:t>解调</a:t>
            </a:r>
            <a:r>
              <a:rPr lang="zh-CN" altLang="en-US" sz="1800" dirty="0" smtClean="0"/>
              <a:t>模块</a:t>
            </a:r>
            <a:endParaRPr lang="en-US" altLang="zh-CN" sz="1800" dirty="0" smtClean="0"/>
          </a:p>
        </p:txBody>
      </p:sp>
    </p:spTree>
    <p:extLst>
      <p:ext uri="{BB962C8B-B14F-4D97-AF65-F5344CB8AC3E}">
        <p14:creationId xmlns:p14="http://schemas.microsoft.com/office/powerpoint/2010/main" val="2736870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2024/4/16</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23</a:t>
            </a:fld>
            <a:endParaRPr lang="en-US" altLang="zh-CN"/>
          </a:p>
        </p:txBody>
      </p:sp>
      <p:sp>
        <p:nvSpPr>
          <p:cNvPr id="2" name="文本框 1"/>
          <p:cNvSpPr txBox="1"/>
          <p:nvPr/>
        </p:nvSpPr>
        <p:spPr>
          <a:xfrm>
            <a:off x="435429" y="355236"/>
            <a:ext cx="11386156" cy="1200329"/>
          </a:xfrm>
          <a:prstGeom prst="rect">
            <a:avLst/>
          </a:prstGeom>
          <a:noFill/>
        </p:spPr>
        <p:txBody>
          <a:bodyPr wrap="square" rtlCol="0">
            <a:spAutoFit/>
          </a:bodyPr>
          <a:lstStyle/>
          <a:p>
            <a:pPr algn="ctr">
              <a:lnSpc>
                <a:spcPct val="150000"/>
              </a:lnSpc>
            </a:pPr>
            <a:r>
              <a:rPr lang="zh-CN" altLang="en-US" sz="2800" dirty="0" smtClean="0">
                <a:solidFill>
                  <a:srgbClr val="FF0000"/>
                </a:solidFill>
                <a:latin typeface="隶书" panose="02010509060101010101" pitchFamily="49" charset="-122"/>
                <a:ea typeface="隶书" panose="02010509060101010101" pitchFamily="49" charset="-122"/>
              </a:rPr>
              <a:t>锁相环简介</a:t>
            </a:r>
            <a:endParaRPr lang="en-US" altLang="zh-CN" sz="2800" dirty="0">
              <a:solidFill>
                <a:srgbClr val="FF0000"/>
              </a:solidFill>
              <a:latin typeface="隶书" panose="02010509060101010101" pitchFamily="49" charset="-122"/>
              <a:ea typeface="隶书" panose="02010509060101010101" pitchFamily="49" charset="-122"/>
            </a:endParaRPr>
          </a:p>
          <a:p>
            <a:pPr marL="342900" indent="-342900">
              <a:lnSpc>
                <a:spcPct val="150000"/>
              </a:lnSpc>
              <a:buFont typeface="Wingdings" panose="05000000000000000000" pitchFamily="2" charset="2"/>
              <a:buChar char="Ø"/>
            </a:pPr>
            <a:r>
              <a:rPr lang="zh-CN" altLang="en-US" dirty="0"/>
              <a:t>锁相环的基本结构</a:t>
            </a:r>
          </a:p>
        </p:txBody>
      </p:sp>
      <p:graphicFrame>
        <p:nvGraphicFramePr>
          <p:cNvPr id="6" name="对象 5"/>
          <p:cNvGraphicFramePr>
            <a:graphicFrameLocks/>
          </p:cNvGraphicFramePr>
          <p:nvPr>
            <p:extLst/>
          </p:nvPr>
        </p:nvGraphicFramePr>
        <p:xfrm>
          <a:off x="1992314" y="1802486"/>
          <a:ext cx="8058561" cy="1848536"/>
        </p:xfrm>
        <a:graphic>
          <a:graphicData uri="http://schemas.openxmlformats.org/presentationml/2006/ole">
            <mc:AlternateContent xmlns:mc="http://schemas.openxmlformats.org/markup-compatibility/2006">
              <mc:Choice xmlns:v="urn:schemas-microsoft-com:vml" Requires="v">
                <p:oleObj spid="_x0000_s18694" name="Visio" r:id="rId3" imgW="4667147" imgH="1016052" progId="Visio.Drawing.11">
                  <p:embed/>
                </p:oleObj>
              </mc:Choice>
              <mc:Fallback>
                <p:oleObj name="Visio" r:id="rId3" imgW="4667147" imgH="1016052" progId="Visio.Drawing.11">
                  <p:embed/>
                  <p:pic>
                    <p:nvPicPr>
                      <p:cNvPr id="6" name="对象 5"/>
                      <p:cNvPicPr>
                        <a:picLocks noChangeArrowheads="1"/>
                      </p:cNvPicPr>
                      <p:nvPr/>
                    </p:nvPicPr>
                    <p:blipFill>
                      <a:blip r:embed="rId4"/>
                      <a:srcRect/>
                      <a:stretch>
                        <a:fillRect/>
                      </a:stretch>
                    </p:blipFill>
                    <p:spPr bwMode="auto">
                      <a:xfrm>
                        <a:off x="1992314" y="1802486"/>
                        <a:ext cx="8058561" cy="1848536"/>
                      </a:xfrm>
                      <a:prstGeom prst="rect">
                        <a:avLst/>
                      </a:prstGeom>
                      <a:noFill/>
                    </p:spPr>
                  </p:pic>
                </p:oleObj>
              </mc:Fallback>
            </mc:AlternateContent>
          </a:graphicData>
        </a:graphic>
      </p:graphicFrame>
      <p:sp>
        <p:nvSpPr>
          <p:cNvPr id="7" name="文本框 6"/>
          <p:cNvSpPr txBox="1"/>
          <p:nvPr/>
        </p:nvSpPr>
        <p:spPr>
          <a:xfrm>
            <a:off x="2372617" y="3999678"/>
            <a:ext cx="2381387" cy="369332"/>
          </a:xfrm>
          <a:prstGeom prst="rect">
            <a:avLst/>
          </a:prstGeom>
          <a:noFill/>
        </p:spPr>
        <p:txBody>
          <a:bodyPr wrap="square" rtlCol="0">
            <a:spAutoFit/>
          </a:bodyPr>
          <a:lstStyle/>
          <a:p>
            <a:pPr marL="342900" indent="-342900">
              <a:buFont typeface="Arial" panose="020B0604020202020204" pitchFamily="34" charset="0"/>
              <a:buChar char="•"/>
            </a:pPr>
            <a:r>
              <a:rPr lang="zh-CN" altLang="en-US" sz="1800" dirty="0"/>
              <a:t>鉴相器</a:t>
            </a:r>
          </a:p>
        </p:txBody>
      </p:sp>
      <p:sp>
        <p:nvSpPr>
          <p:cNvPr id="11" name="文本框 10"/>
          <p:cNvSpPr txBox="1"/>
          <p:nvPr/>
        </p:nvSpPr>
        <p:spPr>
          <a:xfrm>
            <a:off x="2372616" y="4687713"/>
            <a:ext cx="2381387" cy="369332"/>
          </a:xfrm>
          <a:prstGeom prst="rect">
            <a:avLst/>
          </a:prstGeom>
          <a:noFill/>
        </p:spPr>
        <p:txBody>
          <a:bodyPr wrap="square" rtlCol="0">
            <a:spAutoFit/>
          </a:bodyPr>
          <a:lstStyle/>
          <a:p>
            <a:pPr marL="342900" indent="-342900">
              <a:buFont typeface="Arial" panose="020B0604020202020204" pitchFamily="34" charset="0"/>
              <a:buChar char="•"/>
            </a:pPr>
            <a:r>
              <a:rPr lang="zh-CN" altLang="en-US" sz="1800" dirty="0"/>
              <a:t>压控振荡器</a:t>
            </a:r>
          </a:p>
        </p:txBody>
      </p:sp>
      <p:graphicFrame>
        <p:nvGraphicFramePr>
          <p:cNvPr id="12" name="Object 4"/>
          <p:cNvGraphicFramePr>
            <a:graphicFrameLocks noChangeAspect="1"/>
          </p:cNvGraphicFramePr>
          <p:nvPr>
            <p:extLst/>
          </p:nvPr>
        </p:nvGraphicFramePr>
        <p:xfrm>
          <a:off x="3911601" y="3992563"/>
          <a:ext cx="2554513" cy="397561"/>
        </p:xfrm>
        <a:graphic>
          <a:graphicData uri="http://schemas.openxmlformats.org/presentationml/2006/ole">
            <mc:AlternateContent xmlns:mc="http://schemas.openxmlformats.org/markup-compatibility/2006">
              <mc:Choice xmlns:v="urn:schemas-microsoft-com:vml" Requires="v">
                <p:oleObj spid="_x0000_s18695" name="Equation" r:id="rId5" imgW="1549080" imgH="241200" progId="Equation.DSMT4">
                  <p:embed/>
                </p:oleObj>
              </mc:Choice>
              <mc:Fallback>
                <p:oleObj name="Equation" r:id="rId5" imgW="1549080" imgH="241200" progId="Equation.DSMT4">
                  <p:embed/>
                  <p:pic>
                    <p:nvPicPr>
                      <p:cNvPr id="12" name="Object 4"/>
                      <p:cNvPicPr>
                        <a:picLocks noChangeAspect="1" noChangeArrowheads="1"/>
                      </p:cNvPicPr>
                      <p:nvPr/>
                    </p:nvPicPr>
                    <p:blipFill>
                      <a:blip r:embed="rId6"/>
                      <a:srcRect/>
                      <a:stretch>
                        <a:fillRect/>
                      </a:stretch>
                    </p:blipFill>
                    <p:spPr bwMode="auto">
                      <a:xfrm>
                        <a:off x="3911601" y="3992563"/>
                        <a:ext cx="2554513" cy="397561"/>
                      </a:xfrm>
                      <a:prstGeom prst="rect">
                        <a:avLst/>
                      </a:prstGeom>
                      <a:noFill/>
                      <a:ln>
                        <a:noFill/>
                      </a:ln>
                      <a:effectLst/>
                    </p:spPr>
                  </p:pic>
                </p:oleObj>
              </mc:Fallback>
            </mc:AlternateContent>
          </a:graphicData>
        </a:graphic>
      </p:graphicFrame>
      <p:graphicFrame>
        <p:nvGraphicFramePr>
          <p:cNvPr id="13" name="Object 6"/>
          <p:cNvGraphicFramePr>
            <a:graphicFrameLocks noChangeAspect="1"/>
          </p:cNvGraphicFramePr>
          <p:nvPr>
            <p:extLst/>
          </p:nvPr>
        </p:nvGraphicFramePr>
        <p:xfrm>
          <a:off x="4191274" y="4567351"/>
          <a:ext cx="2675920" cy="663579"/>
        </p:xfrm>
        <a:graphic>
          <a:graphicData uri="http://schemas.openxmlformats.org/presentationml/2006/ole">
            <mc:AlternateContent xmlns:mc="http://schemas.openxmlformats.org/markup-compatibility/2006">
              <mc:Choice xmlns:v="urn:schemas-microsoft-com:vml" Requires="v">
                <p:oleObj spid="_x0000_s18696" name="Equation" r:id="rId7" imgW="1587240" imgH="393480" progId="Equation.DSMT4">
                  <p:embed/>
                </p:oleObj>
              </mc:Choice>
              <mc:Fallback>
                <p:oleObj name="Equation" r:id="rId7" imgW="1587240" imgH="393480" progId="Equation.DSMT4">
                  <p:embed/>
                  <p:pic>
                    <p:nvPicPr>
                      <p:cNvPr id="13" name="Object 6"/>
                      <p:cNvPicPr>
                        <a:picLocks noChangeAspect="1" noChangeArrowheads="1"/>
                      </p:cNvPicPr>
                      <p:nvPr/>
                    </p:nvPicPr>
                    <p:blipFill>
                      <a:blip r:embed="rId8"/>
                      <a:srcRect/>
                      <a:stretch>
                        <a:fillRect/>
                      </a:stretch>
                    </p:blipFill>
                    <p:spPr bwMode="auto">
                      <a:xfrm>
                        <a:off x="4191274" y="4567351"/>
                        <a:ext cx="2675920" cy="663579"/>
                      </a:xfrm>
                      <a:prstGeom prst="rect">
                        <a:avLst/>
                      </a:prstGeom>
                      <a:noFill/>
                      <a:ln>
                        <a:noFill/>
                      </a:ln>
                      <a:effectLst/>
                    </p:spPr>
                  </p:pic>
                </p:oleObj>
              </mc:Fallback>
            </mc:AlternateContent>
          </a:graphicData>
        </a:graphic>
      </p:graphicFrame>
      <p:sp>
        <p:nvSpPr>
          <p:cNvPr id="14" name="文本框 13"/>
          <p:cNvSpPr txBox="1"/>
          <p:nvPr/>
        </p:nvSpPr>
        <p:spPr>
          <a:xfrm>
            <a:off x="2372616" y="5406114"/>
            <a:ext cx="7762533" cy="369332"/>
          </a:xfrm>
          <a:prstGeom prst="rect">
            <a:avLst/>
          </a:prstGeom>
          <a:noFill/>
        </p:spPr>
        <p:txBody>
          <a:bodyPr wrap="square" rtlCol="0">
            <a:spAutoFit/>
          </a:bodyPr>
          <a:lstStyle/>
          <a:p>
            <a:pPr marL="342900" indent="-342900">
              <a:buFont typeface="Arial" panose="020B0604020202020204" pitchFamily="34" charset="0"/>
              <a:buChar char="•"/>
            </a:pPr>
            <a:r>
              <a:rPr lang="zh-CN" altLang="en-US" sz="1800" dirty="0"/>
              <a:t>环路滤波器                        ，</a:t>
            </a:r>
            <a:r>
              <a:rPr lang="en-US" altLang="zh-CN" sz="1800" i="1" dirty="0" err="1">
                <a:latin typeface="+mn-lt"/>
              </a:rPr>
              <a:t>K</a:t>
            </a:r>
            <a:r>
              <a:rPr lang="en-US" altLang="zh-CN" sz="1800" i="1" baseline="-25000" dirty="0" err="1">
                <a:latin typeface="+mn-lt"/>
              </a:rPr>
              <a:t>f</a:t>
            </a:r>
            <a:r>
              <a:rPr lang="en-US" altLang="zh-CN" sz="1800" i="1" dirty="0">
                <a:latin typeface="+mn-lt"/>
              </a:rPr>
              <a:t>  </a:t>
            </a:r>
            <a:r>
              <a:rPr lang="zh-CN" altLang="en-US" sz="1800" dirty="0"/>
              <a:t>通常是一阶或二阶低通函数</a:t>
            </a:r>
          </a:p>
        </p:txBody>
      </p:sp>
      <p:graphicFrame>
        <p:nvGraphicFramePr>
          <p:cNvPr id="15" name="Object 6"/>
          <p:cNvGraphicFramePr>
            <a:graphicFrameLocks noChangeAspect="1"/>
          </p:cNvGraphicFramePr>
          <p:nvPr>
            <p:extLst/>
          </p:nvPr>
        </p:nvGraphicFramePr>
        <p:xfrm>
          <a:off x="4176185" y="5405701"/>
          <a:ext cx="1077912" cy="419100"/>
        </p:xfrm>
        <a:graphic>
          <a:graphicData uri="http://schemas.openxmlformats.org/presentationml/2006/ole">
            <mc:AlternateContent xmlns:mc="http://schemas.openxmlformats.org/markup-compatibility/2006">
              <mc:Choice xmlns:v="urn:schemas-microsoft-com:vml" Requires="v">
                <p:oleObj spid="_x0000_s18697" name="Equation" r:id="rId9" imgW="622080" imgH="241200" progId="Equation.DSMT4">
                  <p:embed/>
                </p:oleObj>
              </mc:Choice>
              <mc:Fallback>
                <p:oleObj name="Equation" r:id="rId9" imgW="622080" imgH="241200" progId="Equation.DSMT4">
                  <p:embed/>
                  <p:pic>
                    <p:nvPicPr>
                      <p:cNvPr id="15" name="Object 6"/>
                      <p:cNvPicPr>
                        <a:picLocks noChangeAspect="1" noChangeArrowheads="1"/>
                      </p:cNvPicPr>
                      <p:nvPr/>
                    </p:nvPicPr>
                    <p:blipFill>
                      <a:blip r:embed="rId10"/>
                      <a:srcRect/>
                      <a:stretch>
                        <a:fillRect/>
                      </a:stretch>
                    </p:blipFill>
                    <p:spPr bwMode="auto">
                      <a:xfrm>
                        <a:off x="4176185" y="5405701"/>
                        <a:ext cx="1077912" cy="4191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2520271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24</a:t>
            </a:fld>
            <a:endParaRPr lang="en-US" altLang="zh-CN">
              <a:solidFill>
                <a:srgbClr val="FFFFFF"/>
              </a:solidFill>
            </a:endParaRPr>
          </a:p>
        </p:txBody>
      </p:sp>
      <p:sp>
        <p:nvSpPr>
          <p:cNvPr id="5" name="文本框 4"/>
          <p:cNvSpPr txBox="1"/>
          <p:nvPr/>
        </p:nvSpPr>
        <p:spPr>
          <a:xfrm>
            <a:off x="464459" y="521733"/>
            <a:ext cx="6070083" cy="3046988"/>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a:t>常用的鉴相器</a:t>
            </a:r>
            <a:endParaRPr lang="en-US" altLang="zh-CN" dirty="0"/>
          </a:p>
          <a:p>
            <a:pPr lvl="1">
              <a:lnSpc>
                <a:spcPct val="150000"/>
              </a:lnSpc>
            </a:pPr>
            <a:r>
              <a:rPr lang="zh-CN" altLang="en-US" sz="1800" dirty="0"/>
              <a:t>鉴相器的主要参数是鉴相范围与鉴相增益 </a:t>
            </a:r>
            <a:r>
              <a:rPr lang="en-US" altLang="zh-CN" sz="1800" i="1" dirty="0" err="1">
                <a:latin typeface="+mn-lt"/>
              </a:rPr>
              <a:t>K</a:t>
            </a:r>
            <a:r>
              <a:rPr lang="en-US" altLang="zh-CN" sz="1800" i="1" baseline="-25000" dirty="0" err="1">
                <a:latin typeface="+mn-lt"/>
              </a:rPr>
              <a:t>d</a:t>
            </a:r>
            <a:r>
              <a:rPr lang="en-US" altLang="zh-CN" sz="1800" i="1" baseline="-25000" dirty="0">
                <a:latin typeface="+mn-lt"/>
              </a:rPr>
              <a:t> </a:t>
            </a:r>
            <a:r>
              <a:rPr lang="en-US" altLang="zh-CN" sz="1800" dirty="0">
                <a:latin typeface="+mn-lt"/>
              </a:rPr>
              <a:t>= </a:t>
            </a:r>
            <a:r>
              <a:rPr lang="en-US" altLang="zh-CN" sz="1800" i="1" dirty="0" err="1">
                <a:latin typeface="+mn-lt"/>
              </a:rPr>
              <a:t>dV</a:t>
            </a:r>
            <a:r>
              <a:rPr lang="en-US" altLang="zh-CN" sz="1800" i="1" baseline="-25000" dirty="0" err="1">
                <a:latin typeface="+mn-lt"/>
              </a:rPr>
              <a:t>d</a:t>
            </a:r>
            <a:r>
              <a:rPr lang="en-US" altLang="zh-CN" sz="1800" i="1" baseline="-25000" dirty="0">
                <a:latin typeface="+mn-lt"/>
              </a:rPr>
              <a:t> </a:t>
            </a:r>
            <a:r>
              <a:rPr lang="en-US" altLang="zh-CN" sz="1800" dirty="0">
                <a:latin typeface="+mn-lt"/>
              </a:rPr>
              <a:t>/</a:t>
            </a:r>
            <a:r>
              <a:rPr lang="en-US" altLang="zh-CN" sz="1800" i="1" dirty="0">
                <a:latin typeface="+mn-lt"/>
              </a:rPr>
              <a:t>d</a:t>
            </a:r>
            <a:r>
              <a:rPr lang="el-GR" altLang="zh-CN" sz="1800" i="1" dirty="0">
                <a:latin typeface="+mn-lt"/>
              </a:rPr>
              <a:t>θ</a:t>
            </a:r>
            <a:endParaRPr lang="en-US" altLang="zh-CN" sz="1800" dirty="0"/>
          </a:p>
          <a:p>
            <a:pPr marL="342900" indent="-342900">
              <a:lnSpc>
                <a:spcPct val="150000"/>
              </a:lnSpc>
              <a:buFont typeface="Arial" panose="020B0604020202020204" pitchFamily="34" charset="0"/>
              <a:buChar char="•"/>
            </a:pPr>
            <a:r>
              <a:rPr lang="zh-CN" altLang="en-US" sz="1800" dirty="0"/>
              <a:t>乘法器</a:t>
            </a:r>
            <a:endParaRPr lang="en-US" altLang="zh-CN" sz="1800" dirty="0"/>
          </a:p>
          <a:p>
            <a:pPr lvl="1">
              <a:lnSpc>
                <a:spcPct val="150000"/>
              </a:lnSpc>
            </a:pPr>
            <a:r>
              <a:rPr lang="zh-CN" altLang="zh-CN" sz="1800" dirty="0">
                <a:latin typeface="+mn-ea"/>
                <a:cs typeface="Times New Roman" panose="02020603050405020304" pitchFamily="18" charset="0"/>
              </a:rPr>
              <a:t>鉴相范围为</a:t>
            </a:r>
            <a:r>
              <a:rPr lang="en-US" altLang="zh-CN" sz="1800" dirty="0">
                <a:latin typeface="+mn-ea"/>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0~</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zh-CN" altLang="en-US" sz="1800" dirty="0"/>
              <a:t> </a:t>
            </a:r>
            <a:endParaRPr lang="en-US" altLang="zh-CN" sz="1800" dirty="0" smtClean="0"/>
          </a:p>
          <a:p>
            <a:pPr lvl="1">
              <a:lnSpc>
                <a:spcPct val="150000"/>
              </a:lnSpc>
            </a:pPr>
            <a:r>
              <a:rPr lang="zh-CN" altLang="en-US" sz="1800" dirty="0" smtClean="0"/>
              <a:t>输入信号</a:t>
            </a:r>
            <a:r>
              <a:rPr lang="zh-CN" altLang="en-US" sz="1800" dirty="0"/>
              <a:t>与反馈信号之间有固定的</a:t>
            </a:r>
            <a:r>
              <a:rPr lang="en-US" altLang="zh-CN" sz="1800" dirty="0"/>
              <a:t>90</a:t>
            </a:r>
            <a:r>
              <a:rPr lang="zh-CN" altLang="en-US" sz="1800" dirty="0"/>
              <a:t>度相位差</a:t>
            </a:r>
            <a:endParaRPr lang="en-US" altLang="zh-CN" sz="1800" dirty="0"/>
          </a:p>
          <a:p>
            <a:pPr lvl="1">
              <a:lnSpc>
                <a:spcPct val="150000"/>
              </a:lnSpc>
            </a:pPr>
            <a:r>
              <a:rPr lang="zh-CN" altLang="en-US" sz="1800" dirty="0" smtClean="0"/>
              <a:t>鉴</a:t>
            </a:r>
            <a:r>
              <a:rPr lang="zh-CN" altLang="en-US" sz="1800" dirty="0"/>
              <a:t>相增益 </a:t>
            </a:r>
            <a:r>
              <a:rPr lang="en-US" altLang="zh-CN" sz="1800" i="1" dirty="0" err="1">
                <a:latin typeface="+mn-lt"/>
              </a:rPr>
              <a:t>K</a:t>
            </a:r>
            <a:r>
              <a:rPr lang="en-US" altLang="zh-CN" sz="1800" i="1" baseline="-25000" dirty="0" err="1">
                <a:latin typeface="+mn-lt"/>
              </a:rPr>
              <a:t>d</a:t>
            </a:r>
            <a:r>
              <a:rPr lang="en-US" altLang="zh-CN" sz="1800" i="1" baseline="-25000" dirty="0">
                <a:latin typeface="+mn-lt"/>
              </a:rPr>
              <a:t> </a:t>
            </a:r>
            <a:r>
              <a:rPr lang="zh-CN" altLang="en-US" sz="1800" dirty="0"/>
              <a:t>与乘法器的增益</a:t>
            </a:r>
            <a:r>
              <a:rPr lang="zh-CN" altLang="en-US" sz="1800" dirty="0" smtClean="0"/>
              <a:t>有关</a:t>
            </a:r>
            <a:endParaRPr lang="en-US" altLang="zh-CN" sz="1800" dirty="0" smtClean="0"/>
          </a:p>
          <a:p>
            <a:pPr lvl="1">
              <a:lnSpc>
                <a:spcPct val="150000"/>
              </a:lnSpc>
            </a:pPr>
            <a:r>
              <a:rPr lang="zh-CN" altLang="en-US" sz="1800" dirty="0" smtClean="0"/>
              <a:t>允许</a:t>
            </a:r>
            <a:r>
              <a:rPr lang="zh-CN" altLang="en-US" sz="1800" dirty="0"/>
              <a:t>小信号输入，适用于输入为模拟信号的</a:t>
            </a:r>
            <a:r>
              <a:rPr lang="zh-CN" altLang="en-US" sz="1800" dirty="0" smtClean="0"/>
              <a:t>场合</a:t>
            </a:r>
            <a:endParaRPr lang="en-US" altLang="zh-CN" sz="1800" dirty="0" smtClean="0"/>
          </a:p>
        </p:txBody>
      </p:sp>
      <p:sp>
        <p:nvSpPr>
          <p:cNvPr id="6" name="矩形 5"/>
          <p:cNvSpPr/>
          <p:nvPr/>
        </p:nvSpPr>
        <p:spPr>
          <a:xfrm>
            <a:off x="464458" y="4454387"/>
            <a:ext cx="6741886" cy="1754326"/>
          </a:xfrm>
          <a:prstGeom prst="rect">
            <a:avLst/>
          </a:prstGeom>
        </p:spPr>
        <p:txBody>
          <a:bodyPr wrap="square">
            <a:spAutoFit/>
          </a:bodyPr>
          <a:lstStyle/>
          <a:p>
            <a:pPr>
              <a:lnSpc>
                <a:spcPct val="150000"/>
              </a:lnSpc>
            </a:pPr>
            <a:r>
              <a:rPr lang="zh-CN" altLang="en-US" sz="1800" dirty="0">
                <a:latin typeface="Times New Roman" panose="02020603050405020304" pitchFamily="18" charset="0"/>
                <a:ea typeface="楷体" panose="02010609060101010101" pitchFamily="49" charset="-122"/>
              </a:rPr>
              <a:t>实例：集成</a:t>
            </a:r>
            <a:r>
              <a:rPr lang="en-US" altLang="zh-CN" sz="1800" dirty="0">
                <a:latin typeface="Times New Roman" panose="02020603050405020304" pitchFamily="18" charset="0"/>
                <a:ea typeface="楷体" panose="02010609060101010101" pitchFamily="49" charset="-122"/>
              </a:rPr>
              <a:t>PLL</a:t>
            </a:r>
            <a:r>
              <a:rPr lang="zh-CN" altLang="en-US" sz="1800" dirty="0">
                <a:latin typeface="Times New Roman" panose="02020603050405020304" pitchFamily="18" charset="0"/>
                <a:ea typeface="楷体" panose="02010609060101010101" pitchFamily="49" charset="-122"/>
              </a:rPr>
              <a:t>芯片</a:t>
            </a:r>
            <a:r>
              <a:rPr lang="en-US" altLang="zh-CN" sz="1800" dirty="0">
                <a:latin typeface="Times New Roman" panose="02020603050405020304" pitchFamily="18" charset="0"/>
                <a:ea typeface="楷体" panose="02010609060101010101" pitchFamily="49" charset="-122"/>
              </a:rPr>
              <a:t>NE564</a:t>
            </a:r>
            <a:r>
              <a:rPr lang="zh-CN" altLang="en-US" sz="1800" dirty="0">
                <a:latin typeface="Times New Roman" panose="02020603050405020304" pitchFamily="18" charset="0"/>
                <a:ea typeface="楷体" panose="02010609060101010101" pitchFamily="49" charset="-122"/>
              </a:rPr>
              <a:t>中的鉴相器</a:t>
            </a:r>
            <a:endParaRPr lang="en-US" altLang="zh-CN" sz="1800" dirty="0">
              <a:latin typeface="Times New Roman" panose="02020603050405020304" pitchFamily="18" charset="0"/>
              <a:ea typeface="楷体" panose="02010609060101010101" pitchFamily="49" charset="-122"/>
            </a:endParaRPr>
          </a:p>
          <a:p>
            <a:pPr marL="622800">
              <a:lnSpc>
                <a:spcPct val="150000"/>
              </a:lnSpc>
            </a:pPr>
            <a:r>
              <a:rPr lang="zh-CN" altLang="en-US" sz="1800" dirty="0">
                <a:latin typeface="Times New Roman" panose="02020603050405020304" pitchFamily="18" charset="0"/>
                <a:ea typeface="楷体" panose="02010609060101010101" pitchFamily="49" charset="-122"/>
              </a:rPr>
              <a:t>乘法器芯片</a:t>
            </a:r>
            <a:r>
              <a:rPr lang="en-US" altLang="zh-CN" sz="1800" dirty="0" smtClean="0">
                <a:latin typeface="Times New Roman" panose="02020603050405020304" pitchFamily="18" charset="0"/>
                <a:ea typeface="楷体" panose="02010609060101010101" pitchFamily="49" charset="-122"/>
              </a:rPr>
              <a:t>AD835</a:t>
            </a:r>
          </a:p>
          <a:p>
            <a:pPr marL="622800">
              <a:lnSpc>
                <a:spcPct val="150000"/>
              </a:lnSpc>
            </a:pPr>
            <a:r>
              <a:rPr lang="zh-CN" altLang="en-US" sz="1800" dirty="0" smtClean="0">
                <a:latin typeface="Times New Roman" panose="02020603050405020304" pitchFamily="18" charset="0"/>
                <a:ea typeface="楷体" panose="02010609060101010101" pitchFamily="49" charset="-122"/>
              </a:rPr>
              <a:t>二极管鉴相器</a:t>
            </a:r>
            <a:endParaRPr lang="en-US" altLang="zh-CN" sz="1800" dirty="0">
              <a:latin typeface="Times New Roman" panose="02020603050405020304" pitchFamily="18" charset="0"/>
              <a:ea typeface="楷体" panose="02010609060101010101" pitchFamily="49" charset="-122"/>
            </a:endParaRPr>
          </a:p>
          <a:p>
            <a:pPr marL="622800">
              <a:lnSpc>
                <a:spcPct val="150000"/>
              </a:lnSpc>
            </a:pPr>
            <a:r>
              <a:rPr lang="zh-CN" altLang="en-US" sz="1800" dirty="0" smtClean="0">
                <a:latin typeface="Times New Roman" panose="02020603050405020304" pitchFamily="18" charset="0"/>
                <a:ea typeface="楷体" panose="02010609060101010101" pitchFamily="49" charset="-122"/>
              </a:rPr>
              <a:t>二极管双</a:t>
            </a:r>
            <a:r>
              <a:rPr lang="zh-CN" altLang="en-US" sz="1800" dirty="0">
                <a:latin typeface="Times New Roman" panose="02020603050405020304" pitchFamily="18" charset="0"/>
                <a:ea typeface="楷体" panose="02010609060101010101" pitchFamily="49" charset="-122"/>
              </a:rPr>
              <a:t>平衡</a:t>
            </a:r>
            <a:r>
              <a:rPr lang="zh-CN" altLang="en-US" sz="1800" dirty="0" smtClean="0">
                <a:latin typeface="Times New Roman" panose="02020603050405020304" pitchFamily="18" charset="0"/>
                <a:ea typeface="楷体" panose="02010609060101010101" pitchFamily="49" charset="-122"/>
              </a:rPr>
              <a:t>电路</a:t>
            </a:r>
            <a:endParaRPr lang="en-US" altLang="zh-CN" sz="1800" dirty="0">
              <a:latin typeface="Times New Roman" panose="02020603050405020304" pitchFamily="18" charset="0"/>
              <a:ea typeface="楷体" panose="02010609060101010101" pitchFamily="49" charset="-122"/>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2716122482"/>
              </p:ext>
            </p:extLst>
          </p:nvPr>
        </p:nvGraphicFramePr>
        <p:xfrm>
          <a:off x="6727371" y="4487865"/>
          <a:ext cx="3472995" cy="1741712"/>
        </p:xfrm>
        <a:graphic>
          <a:graphicData uri="http://schemas.openxmlformats.org/presentationml/2006/ole">
            <mc:AlternateContent xmlns:mc="http://schemas.openxmlformats.org/markup-compatibility/2006">
              <mc:Choice xmlns:v="urn:schemas-microsoft-com:vml" Requires="v">
                <p:oleObj spid="_x0000_s19606" name="Visio" r:id="rId3" imgW="2107908" imgH="1060147" progId="Visio.Drawing.11">
                  <p:embed/>
                </p:oleObj>
              </mc:Choice>
              <mc:Fallback>
                <p:oleObj name="Visio" r:id="rId3" imgW="2107908" imgH="1060147" progId="Visio.Drawing.11">
                  <p:embed/>
                  <p:pic>
                    <p:nvPicPr>
                      <p:cNvPr id="0" name="Object 36"/>
                      <p:cNvPicPr>
                        <a:picLocks noChangeAspect="1" noChangeArrowheads="1"/>
                      </p:cNvPicPr>
                      <p:nvPr/>
                    </p:nvPicPr>
                    <p:blipFill>
                      <a:blip r:embed="rId4"/>
                      <a:srcRect/>
                      <a:stretch>
                        <a:fillRect/>
                      </a:stretch>
                    </p:blipFill>
                    <p:spPr bwMode="auto">
                      <a:xfrm>
                        <a:off x="6727371" y="4487865"/>
                        <a:ext cx="3472995" cy="1741712"/>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743757089"/>
              </p:ext>
            </p:extLst>
          </p:nvPr>
        </p:nvGraphicFramePr>
        <p:xfrm>
          <a:off x="6511017" y="899723"/>
          <a:ext cx="3577773" cy="2866957"/>
        </p:xfrm>
        <a:graphic>
          <a:graphicData uri="http://schemas.openxmlformats.org/presentationml/2006/ole">
            <mc:AlternateContent xmlns:mc="http://schemas.openxmlformats.org/markup-compatibility/2006">
              <mc:Choice xmlns:v="urn:schemas-microsoft-com:vml" Requires="v">
                <p:oleObj spid="_x0000_s19607" name="Visio" r:id="rId5" imgW="1910972" imgH="1530344" progId="Visio.Drawing.11">
                  <p:embed/>
                </p:oleObj>
              </mc:Choice>
              <mc:Fallback>
                <p:oleObj name="Visio" r:id="rId5" imgW="1910972" imgH="1530344" progId="Visio.Drawing.11">
                  <p:embed/>
                  <p:pic>
                    <p:nvPicPr>
                      <p:cNvPr id="0" name="Object 38"/>
                      <p:cNvPicPr>
                        <a:picLocks noChangeAspect="1" noChangeArrowheads="1"/>
                      </p:cNvPicPr>
                      <p:nvPr/>
                    </p:nvPicPr>
                    <p:blipFill>
                      <a:blip r:embed="rId6"/>
                      <a:srcRect/>
                      <a:stretch>
                        <a:fillRect/>
                      </a:stretch>
                    </p:blipFill>
                    <p:spPr bwMode="auto">
                      <a:xfrm>
                        <a:off x="6511017" y="899723"/>
                        <a:ext cx="3577773" cy="2866957"/>
                      </a:xfrm>
                      <a:prstGeom prst="rect">
                        <a:avLst/>
                      </a:prstGeom>
                      <a:noFill/>
                    </p:spPr>
                  </p:pic>
                </p:oleObj>
              </mc:Fallback>
            </mc:AlternateContent>
          </a:graphicData>
        </a:graphic>
      </p:graphicFrame>
      <p:sp>
        <p:nvSpPr>
          <p:cNvPr id="14" name="文本框 13"/>
          <p:cNvSpPr txBox="1"/>
          <p:nvPr/>
        </p:nvSpPr>
        <p:spPr>
          <a:xfrm>
            <a:off x="10088790" y="1240972"/>
            <a:ext cx="1275896" cy="338554"/>
          </a:xfrm>
          <a:prstGeom prst="rect">
            <a:avLst/>
          </a:prstGeom>
          <a:noFill/>
        </p:spPr>
        <p:txBody>
          <a:bodyPr wrap="square" rtlCol="0">
            <a:spAutoFit/>
          </a:bodyPr>
          <a:lstStyle/>
          <a:p>
            <a:r>
              <a:rPr lang="zh-CN" altLang="en-US" sz="1600" dirty="0" smtClean="0"/>
              <a:t>输入信号</a:t>
            </a:r>
            <a:endParaRPr lang="zh-CN" altLang="en-US" sz="1600" dirty="0"/>
          </a:p>
        </p:txBody>
      </p:sp>
      <p:sp>
        <p:nvSpPr>
          <p:cNvPr id="15" name="文本框 14"/>
          <p:cNvSpPr txBox="1"/>
          <p:nvPr/>
        </p:nvSpPr>
        <p:spPr>
          <a:xfrm>
            <a:off x="10088790" y="2333201"/>
            <a:ext cx="1732795" cy="1601592"/>
          </a:xfrm>
          <a:prstGeom prst="rect">
            <a:avLst/>
          </a:prstGeom>
          <a:noFill/>
        </p:spPr>
        <p:txBody>
          <a:bodyPr wrap="square" rtlCol="0">
            <a:spAutoFit/>
          </a:bodyPr>
          <a:lstStyle/>
          <a:p>
            <a:pPr>
              <a:lnSpc>
                <a:spcPct val="125000"/>
              </a:lnSpc>
            </a:pPr>
            <a:r>
              <a:rPr lang="zh-CN" altLang="en-US" sz="1600" dirty="0" smtClean="0"/>
              <a:t>反馈信号</a:t>
            </a:r>
            <a:endParaRPr lang="en-US" altLang="zh-CN" sz="1600" dirty="0" smtClean="0"/>
          </a:p>
          <a:p>
            <a:pPr>
              <a:lnSpc>
                <a:spcPct val="125000"/>
              </a:lnSpc>
            </a:pPr>
            <a:r>
              <a:rPr lang="zh-CN" altLang="en-US" sz="1600" dirty="0" smtClean="0"/>
              <a:t>蓝色虚线表示没有相位误差的反馈，存在固有</a:t>
            </a:r>
            <a:r>
              <a:rPr lang="en-US" altLang="zh-CN" sz="1600" dirty="0" smtClean="0"/>
              <a:t>90</a:t>
            </a:r>
            <a:r>
              <a:rPr lang="zh-CN" altLang="en-US" sz="1600" dirty="0" smtClean="0"/>
              <a:t>度相位差</a:t>
            </a:r>
            <a:endParaRPr lang="en-US" altLang="zh-CN" sz="1600" dirty="0" smtClean="0"/>
          </a:p>
        </p:txBody>
      </p:sp>
      <p:cxnSp>
        <p:nvCxnSpPr>
          <p:cNvPr id="17" name="直接箭头连接符 16"/>
          <p:cNvCxnSpPr/>
          <p:nvPr/>
        </p:nvCxnSpPr>
        <p:spPr>
          <a:xfrm flipH="1">
            <a:off x="8879418" y="1465943"/>
            <a:ext cx="1149953" cy="17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8766629" y="2627086"/>
            <a:ext cx="1322161" cy="181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727371" y="3891288"/>
            <a:ext cx="3040743" cy="338554"/>
          </a:xfrm>
          <a:prstGeom prst="rect">
            <a:avLst/>
          </a:prstGeom>
          <a:noFill/>
        </p:spPr>
        <p:txBody>
          <a:bodyPr wrap="square" rtlCol="0">
            <a:spAutoFit/>
          </a:bodyPr>
          <a:lstStyle/>
          <a:p>
            <a:r>
              <a:rPr lang="zh-CN" altLang="en-US" sz="1600" dirty="0" smtClean="0"/>
              <a:t>反馈信号与输入信号的相位误差</a:t>
            </a:r>
            <a:endParaRPr lang="zh-CN" altLang="en-US" sz="1600" dirty="0"/>
          </a:p>
        </p:txBody>
      </p:sp>
      <p:cxnSp>
        <p:nvCxnSpPr>
          <p:cNvPr id="22" name="直接箭头连接符 21"/>
          <p:cNvCxnSpPr/>
          <p:nvPr/>
        </p:nvCxnSpPr>
        <p:spPr>
          <a:xfrm flipH="1" flipV="1">
            <a:off x="8353138" y="3568721"/>
            <a:ext cx="181428" cy="3660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9310914" y="4229842"/>
            <a:ext cx="457200" cy="922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10096728" y="4697001"/>
            <a:ext cx="1732795" cy="1323439"/>
          </a:xfrm>
          <a:prstGeom prst="rect">
            <a:avLst/>
          </a:prstGeom>
          <a:noFill/>
        </p:spPr>
        <p:txBody>
          <a:bodyPr wrap="square" rtlCol="0">
            <a:spAutoFit/>
          </a:bodyPr>
          <a:lstStyle/>
          <a:p>
            <a:pPr>
              <a:lnSpc>
                <a:spcPct val="125000"/>
              </a:lnSpc>
            </a:pPr>
            <a:r>
              <a:rPr lang="zh-CN" altLang="en-US" sz="1600" dirty="0" smtClean="0"/>
              <a:t>鉴相特性：</a:t>
            </a:r>
            <a:endParaRPr lang="en-US" altLang="zh-CN" sz="1600" dirty="0" smtClean="0"/>
          </a:p>
          <a:p>
            <a:pPr>
              <a:lnSpc>
                <a:spcPct val="125000"/>
              </a:lnSpc>
            </a:pPr>
            <a:r>
              <a:rPr lang="zh-CN" altLang="en-US" sz="1600" dirty="0" smtClean="0"/>
              <a:t>乘法器输出中的平均分量与相位误差的关系</a:t>
            </a:r>
            <a:endParaRPr lang="en-US" altLang="zh-CN" sz="1600" dirty="0" smtClean="0"/>
          </a:p>
        </p:txBody>
      </p:sp>
      <p:graphicFrame>
        <p:nvGraphicFramePr>
          <p:cNvPr id="18" name="Object 4"/>
          <p:cNvGraphicFramePr>
            <a:graphicFrameLocks noChangeAspect="1"/>
          </p:cNvGraphicFramePr>
          <p:nvPr>
            <p:extLst>
              <p:ext uri="{D42A27DB-BD31-4B8C-83A1-F6EECF244321}">
                <p14:modId xmlns:p14="http://schemas.microsoft.com/office/powerpoint/2010/main" val="2354556545"/>
              </p:ext>
            </p:extLst>
          </p:nvPr>
        </p:nvGraphicFramePr>
        <p:xfrm>
          <a:off x="961569" y="3732708"/>
          <a:ext cx="4835526" cy="377825"/>
        </p:xfrm>
        <a:graphic>
          <a:graphicData uri="http://schemas.openxmlformats.org/presentationml/2006/ole">
            <mc:AlternateContent xmlns:mc="http://schemas.openxmlformats.org/markup-compatibility/2006">
              <mc:Choice xmlns:v="urn:schemas-microsoft-com:vml" Requires="v">
                <p:oleObj spid="_x0000_s19608" name="Equation" r:id="rId7" imgW="2933640" imgH="228600" progId="Equation.DSMT4">
                  <p:embed/>
                </p:oleObj>
              </mc:Choice>
              <mc:Fallback>
                <p:oleObj name="Equation" r:id="rId7" imgW="2933640" imgH="228600" progId="Equation.DSMT4">
                  <p:embed/>
                  <p:pic>
                    <p:nvPicPr>
                      <p:cNvPr id="12" name="Object 4"/>
                      <p:cNvPicPr>
                        <a:picLocks noChangeAspect="1" noChangeArrowheads="1"/>
                      </p:cNvPicPr>
                      <p:nvPr/>
                    </p:nvPicPr>
                    <p:blipFill>
                      <a:blip r:embed="rId8"/>
                      <a:srcRect/>
                      <a:stretch>
                        <a:fillRect/>
                      </a:stretch>
                    </p:blipFill>
                    <p:spPr bwMode="auto">
                      <a:xfrm>
                        <a:off x="961569" y="3732708"/>
                        <a:ext cx="4835526" cy="377825"/>
                      </a:xfrm>
                      <a:prstGeom prst="rect">
                        <a:avLst/>
                      </a:prstGeom>
                      <a:noFill/>
                      <a:ln>
                        <a:noFill/>
                      </a:ln>
                      <a:effectLst/>
                    </p:spPr>
                  </p:pic>
                </p:oleObj>
              </mc:Fallback>
            </mc:AlternateContent>
          </a:graphicData>
        </a:graphic>
      </p:graphicFrame>
      <p:sp>
        <p:nvSpPr>
          <p:cNvPr id="7" name="椭圆 6"/>
          <p:cNvSpPr/>
          <p:nvPr/>
        </p:nvSpPr>
        <p:spPr>
          <a:xfrm>
            <a:off x="5167086" y="3650343"/>
            <a:ext cx="740228" cy="579499"/>
          </a:xfrm>
          <a:prstGeom prst="ellipse">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箭头连接符 8"/>
          <p:cNvCxnSpPr>
            <a:stCxn id="7" idx="5"/>
          </p:cNvCxnSpPr>
          <p:nvPr/>
        </p:nvCxnSpPr>
        <p:spPr>
          <a:xfrm>
            <a:off x="5798910" y="4144976"/>
            <a:ext cx="2198461" cy="782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4623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25</a:t>
            </a:fld>
            <a:endParaRPr lang="en-US" altLang="zh-CN">
              <a:solidFill>
                <a:srgbClr val="FFFFFF"/>
              </a:solidFill>
            </a:endParaRPr>
          </a:p>
        </p:txBody>
      </p:sp>
      <p:sp>
        <p:nvSpPr>
          <p:cNvPr id="5" name="文本框 4"/>
          <p:cNvSpPr txBox="1"/>
          <p:nvPr/>
        </p:nvSpPr>
        <p:spPr>
          <a:xfrm>
            <a:off x="464458" y="521733"/>
            <a:ext cx="11357127" cy="258532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1800" dirty="0" smtClean="0"/>
              <a:t>异或门</a:t>
            </a:r>
            <a:endParaRPr lang="en-US" altLang="zh-CN" sz="1800" dirty="0"/>
          </a:p>
          <a:p>
            <a:pPr lvl="1">
              <a:lnSpc>
                <a:spcPct val="150000"/>
              </a:lnSpc>
            </a:pPr>
            <a:r>
              <a:rPr lang="zh-CN" altLang="zh-CN" sz="1800" dirty="0">
                <a:latin typeface="+mn-ea"/>
                <a:ea typeface="+mn-ea"/>
                <a:cs typeface="Times New Roman" panose="02020603050405020304" pitchFamily="18" charset="0"/>
              </a:rPr>
              <a:t>鉴相范围为</a:t>
            </a:r>
            <a:r>
              <a:rPr lang="en-US" altLang="zh-CN" sz="1800" dirty="0">
                <a:latin typeface="+mn-ea"/>
                <a:ea typeface="+mn-ea"/>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0~</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zh-CN" altLang="en-US" sz="1800" dirty="0"/>
              <a:t> </a:t>
            </a:r>
            <a:endParaRPr lang="en-US" altLang="zh-CN" sz="1800" dirty="0" smtClean="0"/>
          </a:p>
          <a:p>
            <a:pPr lvl="1">
              <a:lnSpc>
                <a:spcPct val="150000"/>
              </a:lnSpc>
            </a:pPr>
            <a:r>
              <a:rPr lang="zh-CN" altLang="en-US" sz="1800" dirty="0"/>
              <a:t>输入信号与反馈信号之间有固定的</a:t>
            </a:r>
            <a:r>
              <a:rPr lang="en-US" altLang="zh-CN" sz="1800" dirty="0"/>
              <a:t>90</a:t>
            </a:r>
            <a:r>
              <a:rPr lang="zh-CN" altLang="en-US" sz="1800" dirty="0"/>
              <a:t>度相位差</a:t>
            </a:r>
            <a:endParaRPr lang="en-US" altLang="zh-CN" sz="1800" dirty="0"/>
          </a:p>
          <a:p>
            <a:pPr lvl="1">
              <a:lnSpc>
                <a:spcPct val="150000"/>
              </a:lnSpc>
            </a:pPr>
            <a:r>
              <a:rPr lang="zh-CN" altLang="en-US" sz="1800" dirty="0" smtClean="0"/>
              <a:t>鉴</a:t>
            </a:r>
            <a:r>
              <a:rPr lang="zh-CN" altLang="en-US" sz="1800" dirty="0"/>
              <a:t>相</a:t>
            </a:r>
            <a:r>
              <a:rPr lang="zh-CN" altLang="en-US" sz="1800" dirty="0" smtClean="0"/>
              <a:t>增益                   </a:t>
            </a:r>
            <a:r>
              <a:rPr lang="zh-CN" altLang="en-US" sz="1800" dirty="0">
                <a:latin typeface="+mn-ea"/>
                <a:cs typeface="Times New Roman" panose="02020603050405020304" pitchFamily="18" charset="0"/>
              </a:rPr>
              <a:t>（其中</a:t>
            </a:r>
            <a:r>
              <a:rPr lang="en-US" altLang="zh-CN" sz="1800" i="1" dirty="0">
                <a:latin typeface="+mn-lt"/>
                <a:cs typeface="Times New Roman" panose="02020603050405020304" pitchFamily="18" charset="0"/>
              </a:rPr>
              <a:t>V</a:t>
            </a:r>
            <a:r>
              <a:rPr lang="en-US" altLang="zh-CN" sz="1800" i="1" baseline="-25000" dirty="0">
                <a:latin typeface="+mn-lt"/>
                <a:cs typeface="Times New Roman" panose="02020603050405020304" pitchFamily="18" charset="0"/>
              </a:rPr>
              <a:t>H </a:t>
            </a:r>
            <a:r>
              <a:rPr lang="zh-CN" altLang="en-US" sz="1800" dirty="0">
                <a:latin typeface="+mn-ea"/>
                <a:cs typeface="Times New Roman" panose="02020603050405020304" pitchFamily="18" charset="0"/>
              </a:rPr>
              <a:t>是鉴相器的输出高电平，默认其输出低电平为</a:t>
            </a:r>
            <a:r>
              <a:rPr lang="en-US" altLang="zh-CN" sz="1800" dirty="0">
                <a:latin typeface="+mn-lt"/>
                <a:cs typeface="Times New Roman" panose="02020603050405020304" pitchFamily="18" charset="0"/>
              </a:rPr>
              <a:t>0</a:t>
            </a:r>
            <a:r>
              <a:rPr lang="zh-CN" altLang="en-US" sz="1800" dirty="0" smtClean="0">
                <a:latin typeface="+mn-ea"/>
                <a:cs typeface="Times New Roman" panose="02020603050405020304" pitchFamily="18" charset="0"/>
              </a:rPr>
              <a:t>）</a:t>
            </a:r>
            <a:endParaRPr lang="en-US" altLang="zh-CN" sz="1800" dirty="0" smtClean="0"/>
          </a:p>
          <a:p>
            <a:pPr lvl="1">
              <a:lnSpc>
                <a:spcPct val="150000"/>
              </a:lnSpc>
            </a:pPr>
            <a:r>
              <a:rPr lang="zh-CN" altLang="en-US" sz="1800" dirty="0" smtClean="0"/>
              <a:t>适用于</a:t>
            </a:r>
            <a:r>
              <a:rPr lang="zh-CN" altLang="en-US" sz="1800" dirty="0"/>
              <a:t>数字电平输入的</a:t>
            </a:r>
            <a:r>
              <a:rPr lang="zh-CN" altLang="en-US" sz="1800" dirty="0" smtClean="0"/>
              <a:t>信号</a:t>
            </a:r>
            <a:endParaRPr lang="en-US" altLang="zh-CN" sz="1800" dirty="0" smtClean="0"/>
          </a:p>
          <a:p>
            <a:pPr lvl="1">
              <a:lnSpc>
                <a:spcPct val="150000"/>
              </a:lnSpc>
            </a:pPr>
            <a:r>
              <a:rPr lang="zh-CN" altLang="en-US" sz="1800" dirty="0" smtClean="0"/>
              <a:t>对</a:t>
            </a:r>
            <a:r>
              <a:rPr lang="zh-CN" altLang="en-US" sz="1800" dirty="0"/>
              <a:t>信号噪声不敏感</a:t>
            </a:r>
            <a:r>
              <a:rPr lang="zh-CN" altLang="en-US" sz="1800" dirty="0" smtClean="0"/>
              <a:t>，</a:t>
            </a:r>
            <a:r>
              <a:rPr lang="zh-CN" altLang="en-US" sz="1800" dirty="0"/>
              <a:t>但</a:t>
            </a:r>
            <a:r>
              <a:rPr lang="zh-CN" altLang="en-US" sz="1800" dirty="0" smtClean="0">
                <a:latin typeface="+mn-ea"/>
                <a:ea typeface="+mn-ea"/>
                <a:cs typeface="Times New Roman" panose="02020603050405020304" pitchFamily="18" charset="0"/>
              </a:rPr>
              <a:t>有</a:t>
            </a:r>
            <a:r>
              <a:rPr lang="zh-CN" altLang="en-US" sz="1800" dirty="0">
                <a:latin typeface="+mn-ea"/>
                <a:ea typeface="+mn-ea"/>
                <a:cs typeface="Times New Roman" panose="02020603050405020304" pitchFamily="18" charset="0"/>
              </a:rPr>
              <a:t>可能锁定在输入信号的高次谐波</a:t>
            </a:r>
            <a:r>
              <a:rPr lang="zh-CN" altLang="en-US" sz="1800" dirty="0" smtClean="0">
                <a:latin typeface="+mn-ea"/>
                <a:ea typeface="+mn-ea"/>
                <a:cs typeface="Times New Roman" panose="02020603050405020304" pitchFamily="18" charset="0"/>
              </a:rPr>
              <a:t>上</a:t>
            </a:r>
            <a:endParaRPr lang="en-US" altLang="zh-CN" sz="1800" dirty="0" smtClean="0">
              <a:latin typeface="+mn-ea"/>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1954108839"/>
              </p:ext>
            </p:extLst>
          </p:nvPr>
        </p:nvGraphicFramePr>
        <p:xfrm>
          <a:off x="2046817" y="1879146"/>
          <a:ext cx="1085850" cy="333375"/>
        </p:xfrm>
        <a:graphic>
          <a:graphicData uri="http://schemas.openxmlformats.org/presentationml/2006/ole">
            <mc:AlternateContent xmlns:mc="http://schemas.openxmlformats.org/markup-compatibility/2006">
              <mc:Choice xmlns:v="urn:schemas-microsoft-com:vml" Requires="v">
                <p:oleObj spid="_x0000_s31897" name="Equation" r:id="rId3" imgW="685800" imgH="203040" progId="Equation.DSMT4">
                  <p:embed/>
                </p:oleObj>
              </mc:Choice>
              <mc:Fallback>
                <p:oleObj name="Equation" r:id="rId3" imgW="685800" imgH="203040" progId="Equation.DSMT4">
                  <p:embed/>
                  <p:pic>
                    <p:nvPicPr>
                      <p:cNvPr id="9" name="对象 8"/>
                      <p:cNvPicPr>
                        <a:picLocks noChangeAspect="1" noChangeArrowheads="1"/>
                      </p:cNvPicPr>
                      <p:nvPr/>
                    </p:nvPicPr>
                    <p:blipFill>
                      <a:blip r:embed="rId4"/>
                      <a:srcRect/>
                      <a:stretch>
                        <a:fillRect/>
                      </a:stretch>
                    </p:blipFill>
                    <p:spPr bwMode="auto">
                      <a:xfrm>
                        <a:off x="2046817" y="1879146"/>
                        <a:ext cx="1085850" cy="333375"/>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495553687"/>
              </p:ext>
            </p:extLst>
          </p:nvPr>
        </p:nvGraphicFramePr>
        <p:xfrm>
          <a:off x="727228" y="3292584"/>
          <a:ext cx="6798430" cy="1619689"/>
        </p:xfrm>
        <a:graphic>
          <a:graphicData uri="http://schemas.openxmlformats.org/presentationml/2006/ole">
            <mc:AlternateContent xmlns:mc="http://schemas.openxmlformats.org/markup-compatibility/2006">
              <mc:Choice xmlns:v="urn:schemas-microsoft-com:vml" Requires="v">
                <p:oleObj spid="_x0000_s31898" name="Visio" r:id="rId5" imgW="4052222" imgH="965200" progId="Visio.Drawing.11">
                  <p:embed/>
                </p:oleObj>
              </mc:Choice>
              <mc:Fallback>
                <p:oleObj name="Visio" r:id="rId5" imgW="4052222" imgH="965200"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228" y="3292584"/>
                        <a:ext cx="6798430" cy="1619689"/>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117974771"/>
              </p:ext>
            </p:extLst>
          </p:nvPr>
        </p:nvGraphicFramePr>
        <p:xfrm>
          <a:off x="8125460" y="3440912"/>
          <a:ext cx="3580311" cy="1471361"/>
        </p:xfrm>
        <a:graphic>
          <a:graphicData uri="http://schemas.openxmlformats.org/presentationml/2006/ole">
            <mc:AlternateContent xmlns:mc="http://schemas.openxmlformats.org/markup-compatibility/2006">
              <mc:Choice xmlns:v="urn:schemas-microsoft-com:vml" Requires="v">
                <p:oleObj spid="_x0000_s31899" name="Visio" r:id="rId7" imgW="2317559" imgH="951419" progId="Visio.Drawing.11">
                  <p:embed/>
                </p:oleObj>
              </mc:Choice>
              <mc:Fallback>
                <p:oleObj name="Visio" r:id="rId7" imgW="2317559" imgH="951419" progId="Visio.Drawing.11">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25460" y="3440912"/>
                        <a:ext cx="3580311" cy="1471361"/>
                      </a:xfrm>
                      <a:prstGeom prst="rect">
                        <a:avLst/>
                      </a:prstGeom>
                      <a:noFill/>
                    </p:spPr>
                  </p:pic>
                </p:oleObj>
              </mc:Fallback>
            </mc:AlternateContent>
          </a:graphicData>
        </a:graphic>
      </p:graphicFrame>
      <p:sp>
        <p:nvSpPr>
          <p:cNvPr id="6" name="文本框 5"/>
          <p:cNvSpPr txBox="1"/>
          <p:nvPr/>
        </p:nvSpPr>
        <p:spPr>
          <a:xfrm>
            <a:off x="1095829" y="5116286"/>
            <a:ext cx="2481942" cy="584775"/>
          </a:xfrm>
          <a:prstGeom prst="rect">
            <a:avLst/>
          </a:prstGeom>
          <a:noFill/>
        </p:spPr>
        <p:txBody>
          <a:bodyPr wrap="square" rtlCol="0">
            <a:spAutoFit/>
          </a:bodyPr>
          <a:lstStyle/>
          <a:p>
            <a:r>
              <a:rPr lang="zh-CN" altLang="en-US" sz="1600" dirty="0" smtClean="0"/>
              <a:t>附加相位差</a:t>
            </a:r>
            <a:r>
              <a:rPr lang="en-US" altLang="zh-CN" sz="1600" dirty="0" smtClean="0"/>
              <a:t>=0</a:t>
            </a:r>
            <a:r>
              <a:rPr lang="zh-CN" altLang="en-US" sz="1600" dirty="0" smtClean="0"/>
              <a:t>的波形图</a:t>
            </a:r>
            <a:endParaRPr lang="en-US" altLang="zh-CN" sz="1600" dirty="0" smtClean="0"/>
          </a:p>
          <a:p>
            <a:r>
              <a:rPr lang="zh-CN" altLang="en-US" sz="1600" dirty="0" smtClean="0"/>
              <a:t>输出的平均电位</a:t>
            </a:r>
            <a:r>
              <a:rPr lang="en-US" altLang="zh-CN" sz="1600" dirty="0" smtClean="0"/>
              <a:t>=VDD/2</a:t>
            </a:r>
            <a:endParaRPr lang="zh-CN" altLang="en-US" sz="1600" dirty="0"/>
          </a:p>
        </p:txBody>
      </p:sp>
      <p:sp>
        <p:nvSpPr>
          <p:cNvPr id="10" name="文本框 9"/>
          <p:cNvSpPr txBox="1"/>
          <p:nvPr/>
        </p:nvSpPr>
        <p:spPr>
          <a:xfrm>
            <a:off x="4644572" y="5116286"/>
            <a:ext cx="2409371" cy="830997"/>
          </a:xfrm>
          <a:prstGeom prst="rect">
            <a:avLst/>
          </a:prstGeom>
          <a:noFill/>
        </p:spPr>
        <p:txBody>
          <a:bodyPr wrap="square" rtlCol="0">
            <a:spAutoFit/>
          </a:bodyPr>
          <a:lstStyle/>
          <a:p>
            <a:r>
              <a:rPr lang="zh-CN" altLang="en-US" sz="1600" dirty="0" smtClean="0"/>
              <a:t>附加相位差</a:t>
            </a:r>
            <a:r>
              <a:rPr lang="en-US" altLang="zh-CN" sz="1600" dirty="0" smtClean="0"/>
              <a:t>≠0</a:t>
            </a:r>
            <a:r>
              <a:rPr lang="zh-CN" altLang="en-US" sz="1600" dirty="0" smtClean="0"/>
              <a:t>的波形图</a:t>
            </a:r>
            <a:endParaRPr lang="en-US" altLang="zh-CN" sz="1600" dirty="0" smtClean="0"/>
          </a:p>
          <a:p>
            <a:r>
              <a:rPr lang="zh-CN" altLang="en-US" sz="1600" dirty="0"/>
              <a:t>输出的平均</a:t>
            </a:r>
            <a:r>
              <a:rPr lang="zh-CN" altLang="en-US" sz="1600" dirty="0" smtClean="0"/>
              <a:t>电位</a:t>
            </a:r>
            <a:r>
              <a:rPr lang="en-US" altLang="zh-CN" sz="1600" dirty="0" smtClean="0"/>
              <a:t>≠VDD/2</a:t>
            </a:r>
            <a:endParaRPr lang="zh-CN" altLang="en-US" sz="1600" dirty="0"/>
          </a:p>
          <a:p>
            <a:endParaRPr lang="zh-CN" altLang="en-US" sz="1600" dirty="0"/>
          </a:p>
        </p:txBody>
      </p:sp>
      <p:sp>
        <p:nvSpPr>
          <p:cNvPr id="12" name="文本框 11"/>
          <p:cNvSpPr txBox="1"/>
          <p:nvPr/>
        </p:nvSpPr>
        <p:spPr>
          <a:xfrm>
            <a:off x="9289143" y="5116286"/>
            <a:ext cx="1625600" cy="338554"/>
          </a:xfrm>
          <a:prstGeom prst="rect">
            <a:avLst/>
          </a:prstGeom>
          <a:noFill/>
        </p:spPr>
        <p:txBody>
          <a:bodyPr wrap="square" rtlCol="0">
            <a:spAutoFit/>
          </a:bodyPr>
          <a:lstStyle/>
          <a:p>
            <a:r>
              <a:rPr lang="zh-CN" altLang="en-US" sz="1600" dirty="0" smtClean="0"/>
              <a:t>鉴相特性</a:t>
            </a:r>
            <a:endParaRPr lang="zh-CN" altLang="en-US" sz="1600" dirty="0"/>
          </a:p>
        </p:txBody>
      </p:sp>
    </p:spTree>
    <p:extLst>
      <p:ext uri="{BB962C8B-B14F-4D97-AF65-F5344CB8AC3E}">
        <p14:creationId xmlns:p14="http://schemas.microsoft.com/office/powerpoint/2010/main" val="38015160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26</a:t>
            </a:fld>
            <a:endParaRPr lang="en-US" altLang="zh-CN">
              <a:solidFill>
                <a:srgbClr val="FFFFFF"/>
              </a:solidFill>
            </a:endParaRPr>
          </a:p>
        </p:txBody>
      </p:sp>
      <p:sp>
        <p:nvSpPr>
          <p:cNvPr id="5" name="文本框 4"/>
          <p:cNvSpPr txBox="1"/>
          <p:nvPr/>
        </p:nvSpPr>
        <p:spPr>
          <a:xfrm>
            <a:off x="418517" y="401928"/>
            <a:ext cx="4844143"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800" dirty="0" smtClean="0"/>
              <a:t>PFD</a:t>
            </a:r>
          </a:p>
          <a:p>
            <a:pPr>
              <a:lnSpc>
                <a:spcPct val="150000"/>
              </a:lnSpc>
            </a:pPr>
            <a:r>
              <a:rPr lang="zh-CN" altLang="zh-CN" sz="1800" dirty="0">
                <a:latin typeface="+mn-ea"/>
                <a:cs typeface="Times New Roman" panose="02020603050405020304" pitchFamily="18" charset="0"/>
              </a:rPr>
              <a:t>鉴相范围为</a:t>
            </a:r>
            <a:r>
              <a:rPr lang="en-US" altLang="zh-CN" sz="1800" dirty="0">
                <a:latin typeface="+mn-ea"/>
                <a:cs typeface="Times New Roman" panose="02020603050405020304" pitchFamily="18" charset="0"/>
              </a:rPr>
              <a:t> </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en-US" altLang="zh-CN" sz="1800" dirty="0">
                <a:latin typeface="Times New Roman" panose="02020603050405020304" pitchFamily="18" charset="0"/>
                <a:ea typeface="宋体" panose="02010600030101010101" pitchFamily="2" charset="-122"/>
                <a:cs typeface="Times New Roman" panose="02020603050405020304" pitchFamily="18" charset="0"/>
              </a:rPr>
              <a:t>~+2</a:t>
            </a:r>
            <a:r>
              <a:rPr lang="el-GR" altLang="zh-CN" sz="1800" dirty="0">
                <a:latin typeface="Times New Roman" panose="02020603050405020304" pitchFamily="18" charset="0"/>
                <a:ea typeface="宋体" panose="02010600030101010101" pitchFamily="2" charset="-122"/>
                <a:cs typeface="Times New Roman" panose="02020603050405020304" pitchFamily="18" charset="0"/>
              </a:rPr>
              <a:t>π</a:t>
            </a:r>
            <a:r>
              <a:rPr lang="zh-CN" altLang="en-US" sz="1800" dirty="0"/>
              <a:t> </a:t>
            </a:r>
            <a:endParaRPr lang="en-US" altLang="zh-CN" sz="1800" dirty="0" smtClean="0"/>
          </a:p>
          <a:p>
            <a:pPr>
              <a:lnSpc>
                <a:spcPct val="150000"/>
              </a:lnSpc>
            </a:pPr>
            <a:r>
              <a:rPr lang="zh-CN" altLang="en-US" sz="1800" dirty="0" smtClean="0"/>
              <a:t>鉴</a:t>
            </a:r>
            <a:r>
              <a:rPr lang="zh-CN" altLang="en-US" sz="1800" dirty="0"/>
              <a:t>相增益                    </a:t>
            </a:r>
            <a:r>
              <a:rPr lang="zh-CN" altLang="en-US" sz="1800" dirty="0">
                <a:latin typeface="+mn-ea"/>
                <a:cs typeface="Times New Roman" panose="02020603050405020304" pitchFamily="18" charset="0"/>
              </a:rPr>
              <a:t>（其中</a:t>
            </a:r>
            <a:r>
              <a:rPr lang="en-US" altLang="zh-CN" sz="1800" i="1" dirty="0">
                <a:cs typeface="Times New Roman" panose="02020603050405020304" pitchFamily="18" charset="0"/>
              </a:rPr>
              <a:t>V</a:t>
            </a:r>
            <a:r>
              <a:rPr lang="en-US" altLang="zh-CN" sz="1800" i="1" baseline="-25000" dirty="0">
                <a:cs typeface="Times New Roman" panose="02020603050405020304" pitchFamily="18" charset="0"/>
              </a:rPr>
              <a:t>H</a:t>
            </a:r>
            <a:r>
              <a:rPr lang="zh-CN" altLang="en-US" sz="1800" dirty="0">
                <a:latin typeface="+mn-ea"/>
                <a:cs typeface="Times New Roman" panose="02020603050405020304" pitchFamily="18" charset="0"/>
              </a:rPr>
              <a:t>是鉴相器的输出高电平，默认其输出低电平为</a:t>
            </a:r>
            <a:r>
              <a:rPr lang="en-US" altLang="zh-CN" sz="1800" dirty="0">
                <a:cs typeface="Times New Roman" panose="02020603050405020304" pitchFamily="18" charset="0"/>
              </a:rPr>
              <a:t>0</a:t>
            </a:r>
            <a:r>
              <a:rPr lang="zh-CN" altLang="en-US" sz="1800" dirty="0" smtClean="0">
                <a:latin typeface="+mn-ea"/>
                <a:cs typeface="Times New Roman" panose="02020603050405020304" pitchFamily="18" charset="0"/>
              </a:rPr>
              <a:t>）</a:t>
            </a:r>
            <a:endParaRPr lang="en-US" altLang="zh-CN" sz="1800" dirty="0" smtClean="0">
              <a:latin typeface="+mn-ea"/>
              <a:cs typeface="Times New Roman" panose="02020603050405020304" pitchFamily="18" charset="0"/>
            </a:endParaRPr>
          </a:p>
          <a:p>
            <a:pPr>
              <a:lnSpc>
                <a:spcPct val="150000"/>
              </a:lnSpc>
            </a:pPr>
            <a:r>
              <a:rPr lang="zh-CN" altLang="en-US" sz="1800" dirty="0" smtClean="0"/>
              <a:t>数字</a:t>
            </a:r>
            <a:r>
              <a:rPr lang="zh-CN" altLang="en-US" sz="1800" dirty="0"/>
              <a:t>电平</a:t>
            </a:r>
            <a:r>
              <a:rPr lang="zh-CN" altLang="en-US" sz="1800" dirty="0" smtClean="0"/>
              <a:t>输入</a:t>
            </a:r>
            <a:r>
              <a:rPr lang="zh-CN" altLang="en-US" sz="1800" dirty="0"/>
              <a:t>，</a:t>
            </a:r>
            <a:r>
              <a:rPr lang="zh-CN" altLang="en-US" sz="1800" dirty="0" smtClean="0"/>
              <a:t>上升</a:t>
            </a:r>
            <a:r>
              <a:rPr lang="zh-CN" altLang="en-US" sz="1800" dirty="0"/>
              <a:t>沿</a:t>
            </a:r>
            <a:r>
              <a:rPr lang="zh-CN" altLang="en-US" sz="1800" dirty="0" smtClean="0"/>
              <a:t>触发</a:t>
            </a:r>
            <a:endParaRPr lang="en-US" altLang="zh-CN" sz="1800" dirty="0" smtClean="0"/>
          </a:p>
          <a:p>
            <a:pPr>
              <a:lnSpc>
                <a:spcPct val="150000"/>
              </a:lnSpc>
            </a:pPr>
            <a:r>
              <a:rPr lang="zh-CN" altLang="zh-CN" sz="1800" dirty="0" smtClean="0"/>
              <a:t>输出</a:t>
            </a:r>
            <a:r>
              <a:rPr lang="zh-CN" altLang="zh-CN" sz="1800" dirty="0"/>
              <a:t>大部分时间处于高阻</a:t>
            </a:r>
            <a:r>
              <a:rPr lang="zh-CN" altLang="zh-CN" sz="1800" dirty="0" smtClean="0"/>
              <a:t>态</a:t>
            </a:r>
            <a:endParaRPr lang="en-US" altLang="zh-CN" sz="1800" dirty="0" smtClean="0"/>
          </a:p>
          <a:p>
            <a:pPr>
              <a:lnSpc>
                <a:spcPct val="150000"/>
              </a:lnSpc>
            </a:pPr>
            <a:r>
              <a:rPr lang="zh-CN" altLang="zh-CN" sz="1800" dirty="0" smtClean="0"/>
              <a:t>当</a:t>
            </a:r>
            <a:r>
              <a:rPr lang="zh-CN" altLang="zh-CN" sz="1800" dirty="0"/>
              <a:t>相位差</a:t>
            </a:r>
            <a:r>
              <a:rPr lang="zh-CN" altLang="zh-CN" sz="1800" dirty="0" smtClean="0"/>
              <a:t>超出鉴</a:t>
            </a:r>
            <a:r>
              <a:rPr lang="zh-CN" altLang="zh-CN" sz="1800" dirty="0"/>
              <a:t>相范围之后</a:t>
            </a:r>
            <a:r>
              <a:rPr lang="zh-CN" altLang="zh-CN" sz="1800" dirty="0" smtClean="0"/>
              <a:t>，具有</a:t>
            </a:r>
            <a:r>
              <a:rPr lang="zh-CN" altLang="zh-CN" sz="1800" dirty="0"/>
              <a:t>鉴频</a:t>
            </a:r>
            <a:r>
              <a:rPr lang="zh-CN" altLang="zh-CN" sz="1800" dirty="0" smtClean="0"/>
              <a:t>功能</a:t>
            </a:r>
            <a:endParaRPr lang="en-US" altLang="zh-CN" sz="1800" dirty="0" smtClean="0"/>
          </a:p>
          <a:p>
            <a:pPr>
              <a:lnSpc>
                <a:spcPct val="150000"/>
              </a:lnSpc>
            </a:pPr>
            <a:r>
              <a:rPr lang="zh-CN" altLang="zh-CN" sz="1800" dirty="0" smtClean="0"/>
              <a:t>边沿</a:t>
            </a:r>
            <a:r>
              <a:rPr lang="zh-CN" altLang="zh-CN" sz="1800" dirty="0"/>
              <a:t>触发，对输入信号中的噪声</a:t>
            </a:r>
            <a:r>
              <a:rPr lang="zh-CN" altLang="zh-CN" sz="1800" dirty="0" smtClean="0"/>
              <a:t>敏感</a:t>
            </a:r>
            <a:endParaRPr lang="zh-CN" altLang="en-US"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3508349192"/>
              </p:ext>
            </p:extLst>
          </p:nvPr>
        </p:nvGraphicFramePr>
        <p:xfrm>
          <a:off x="1048249" y="3918131"/>
          <a:ext cx="3933372" cy="2305770"/>
        </p:xfrm>
        <a:graphic>
          <a:graphicData uri="http://schemas.openxmlformats.org/presentationml/2006/ole">
            <mc:AlternateContent xmlns:mc="http://schemas.openxmlformats.org/markup-compatibility/2006">
              <mc:Choice xmlns:v="urn:schemas-microsoft-com:vml" Requires="v">
                <p:oleObj spid="_x0000_s27886" name="Visio" r:id="rId3" imgW="2396591" imgH="1405647" progId="Visio.Drawing.11">
                  <p:embed/>
                </p:oleObj>
              </mc:Choice>
              <mc:Fallback>
                <p:oleObj name="Visio" r:id="rId3" imgW="2396591" imgH="1405647"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8249" y="3918131"/>
                        <a:ext cx="3933372" cy="2305770"/>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50798200"/>
              </p:ext>
            </p:extLst>
          </p:nvPr>
        </p:nvGraphicFramePr>
        <p:xfrm>
          <a:off x="5756138" y="749215"/>
          <a:ext cx="5990851" cy="2313299"/>
        </p:xfrm>
        <a:graphic>
          <a:graphicData uri="http://schemas.openxmlformats.org/presentationml/2006/ole">
            <mc:AlternateContent xmlns:mc="http://schemas.openxmlformats.org/markup-compatibility/2006">
              <mc:Choice xmlns:v="urn:schemas-microsoft-com:vml" Requires="v">
                <p:oleObj spid="_x0000_s27887" name="Visio" r:id="rId5" imgW="3844796" imgH="1486981" progId="Visio.Drawing.11">
                  <p:embed/>
                </p:oleObj>
              </mc:Choice>
              <mc:Fallback>
                <p:oleObj name="Visio" r:id="rId5" imgW="3844796" imgH="1486981"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6138" y="749215"/>
                        <a:ext cx="5990851" cy="2313299"/>
                      </a:xfrm>
                      <a:prstGeom prst="rect">
                        <a:avLst/>
                      </a:prstGeom>
                      <a:noFill/>
                    </p:spPr>
                  </p:pic>
                </p:oleObj>
              </mc:Fallback>
            </mc:AlternateContent>
          </a:graphicData>
        </a:graphic>
      </p:graphicFrame>
      <p:cxnSp>
        <p:nvCxnSpPr>
          <p:cNvPr id="11" name="直接连接符 10"/>
          <p:cNvCxnSpPr/>
          <p:nvPr/>
        </p:nvCxnSpPr>
        <p:spPr>
          <a:xfrm>
            <a:off x="6230256" y="2640356"/>
            <a:ext cx="2521307" cy="15758"/>
          </a:xfrm>
          <a:prstGeom prst="line">
            <a:avLst/>
          </a:prstGeom>
          <a:ln w="1905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221410" y="2815771"/>
            <a:ext cx="2477104" cy="7258"/>
          </a:xfrm>
          <a:prstGeom prst="line">
            <a:avLst/>
          </a:prstGeom>
          <a:ln w="19050">
            <a:solidFill>
              <a:srgbClr val="FF0000"/>
            </a:solidFill>
            <a:prstDash val="solid"/>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6041570" y="3256277"/>
            <a:ext cx="2910115" cy="751552"/>
          </a:xfrm>
          <a:prstGeom prst="rect">
            <a:avLst/>
          </a:prstGeom>
          <a:noFill/>
        </p:spPr>
        <p:txBody>
          <a:bodyPr wrap="square" rtlCol="0">
            <a:spAutoFit/>
          </a:bodyPr>
          <a:lstStyle/>
          <a:p>
            <a:pPr algn="ctr">
              <a:lnSpc>
                <a:spcPct val="125000"/>
              </a:lnSpc>
            </a:pPr>
            <a:r>
              <a:rPr lang="zh-CN" altLang="en-US" sz="1800" dirty="0" smtClean="0"/>
              <a:t>输入相位超前</a:t>
            </a:r>
            <a:endParaRPr lang="en-US" altLang="zh-CN" sz="1800" dirty="0" smtClean="0"/>
          </a:p>
          <a:p>
            <a:pPr algn="ctr">
              <a:lnSpc>
                <a:spcPct val="125000"/>
              </a:lnSpc>
            </a:pPr>
            <a:r>
              <a:rPr lang="zh-CN" altLang="en-US" sz="1800" dirty="0" smtClean="0"/>
              <a:t>平均输出电压上升</a:t>
            </a:r>
            <a:endParaRPr lang="zh-CN" altLang="en-US" sz="1800" dirty="0"/>
          </a:p>
        </p:txBody>
      </p:sp>
      <p:sp>
        <p:nvSpPr>
          <p:cNvPr id="15" name="文本框 14"/>
          <p:cNvSpPr txBox="1"/>
          <p:nvPr/>
        </p:nvSpPr>
        <p:spPr>
          <a:xfrm>
            <a:off x="8879418" y="3195357"/>
            <a:ext cx="2910115" cy="784830"/>
          </a:xfrm>
          <a:prstGeom prst="rect">
            <a:avLst/>
          </a:prstGeom>
          <a:noFill/>
        </p:spPr>
        <p:txBody>
          <a:bodyPr wrap="square" rtlCol="0">
            <a:spAutoFit/>
          </a:bodyPr>
          <a:lstStyle/>
          <a:p>
            <a:pPr algn="ctr">
              <a:lnSpc>
                <a:spcPct val="125000"/>
              </a:lnSpc>
            </a:pPr>
            <a:r>
              <a:rPr lang="zh-CN" altLang="en-US" sz="1800" dirty="0" smtClean="0"/>
              <a:t>输入相位落后</a:t>
            </a:r>
            <a:endParaRPr lang="en-US" altLang="zh-CN" sz="1800" dirty="0" smtClean="0"/>
          </a:p>
          <a:p>
            <a:pPr algn="ctr">
              <a:lnSpc>
                <a:spcPct val="125000"/>
              </a:lnSpc>
            </a:pPr>
            <a:r>
              <a:rPr lang="zh-CN" altLang="en-US" sz="1800" dirty="0" smtClean="0"/>
              <a:t>平均输出电压下降</a:t>
            </a:r>
            <a:endParaRPr lang="zh-CN" altLang="en-US" sz="1800" dirty="0"/>
          </a:p>
        </p:txBody>
      </p:sp>
      <p:graphicFrame>
        <p:nvGraphicFramePr>
          <p:cNvPr id="17" name="对象 16"/>
          <p:cNvGraphicFramePr>
            <a:graphicFrameLocks noChangeAspect="1"/>
          </p:cNvGraphicFramePr>
          <p:nvPr>
            <p:extLst>
              <p:ext uri="{D42A27DB-BD31-4B8C-83A1-F6EECF244321}">
                <p14:modId xmlns:p14="http://schemas.microsoft.com/office/powerpoint/2010/main" val="664169802"/>
              </p:ext>
            </p:extLst>
          </p:nvPr>
        </p:nvGraphicFramePr>
        <p:xfrm>
          <a:off x="6400545" y="4238863"/>
          <a:ext cx="5346444" cy="1386115"/>
        </p:xfrm>
        <a:graphic>
          <a:graphicData uri="http://schemas.openxmlformats.org/presentationml/2006/ole">
            <mc:AlternateContent xmlns:mc="http://schemas.openxmlformats.org/markup-compatibility/2006">
              <mc:Choice xmlns:v="urn:schemas-microsoft-com:vml" Requires="v">
                <p:oleObj spid="_x0000_s27888" name="Visio" r:id="rId7" imgW="3344978" imgH="864411" progId="Visio.Drawing.11">
                  <p:embed/>
                </p:oleObj>
              </mc:Choice>
              <mc:Fallback>
                <p:oleObj name="Visio" r:id="rId7" imgW="3344978" imgH="864411" progId="Visio.Drawing.11">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0545" y="4238863"/>
                        <a:ext cx="5346444" cy="1386115"/>
                      </a:xfrm>
                      <a:prstGeom prst="rect">
                        <a:avLst/>
                      </a:prstGeom>
                      <a:noFill/>
                    </p:spPr>
                  </p:pic>
                </p:oleObj>
              </mc:Fallback>
            </mc:AlternateContent>
          </a:graphicData>
        </a:graphic>
      </p:graphicFrame>
      <p:sp>
        <p:nvSpPr>
          <p:cNvPr id="18" name="文本框 17"/>
          <p:cNvSpPr txBox="1"/>
          <p:nvPr/>
        </p:nvSpPr>
        <p:spPr>
          <a:xfrm>
            <a:off x="7708144" y="5698988"/>
            <a:ext cx="3026532" cy="369332"/>
          </a:xfrm>
          <a:prstGeom prst="rect">
            <a:avLst/>
          </a:prstGeom>
          <a:noFill/>
        </p:spPr>
        <p:txBody>
          <a:bodyPr wrap="square" rtlCol="0">
            <a:spAutoFit/>
          </a:bodyPr>
          <a:lstStyle/>
          <a:p>
            <a:r>
              <a:rPr lang="en-US" altLang="zh-CN" sz="1800" dirty="0" smtClean="0"/>
              <a:t>PFD</a:t>
            </a:r>
            <a:r>
              <a:rPr lang="zh-CN" altLang="en-US" sz="1800" dirty="0" smtClean="0"/>
              <a:t>的鉴频</a:t>
            </a:r>
            <a:r>
              <a:rPr lang="en-US" altLang="zh-CN" sz="1800" dirty="0" smtClean="0"/>
              <a:t>-</a:t>
            </a:r>
            <a:r>
              <a:rPr lang="zh-CN" altLang="en-US" sz="1800" dirty="0" smtClean="0"/>
              <a:t>鉴相特性</a:t>
            </a:r>
            <a:endParaRPr lang="zh-CN" altLang="en-US" sz="1800" dirty="0"/>
          </a:p>
        </p:txBody>
      </p:sp>
      <p:graphicFrame>
        <p:nvGraphicFramePr>
          <p:cNvPr id="14" name="对象 13"/>
          <p:cNvGraphicFramePr>
            <a:graphicFrameLocks noChangeAspect="1"/>
          </p:cNvGraphicFramePr>
          <p:nvPr>
            <p:extLst>
              <p:ext uri="{D42A27DB-BD31-4B8C-83A1-F6EECF244321}">
                <p14:modId xmlns:p14="http://schemas.microsoft.com/office/powerpoint/2010/main" val="730829352"/>
              </p:ext>
            </p:extLst>
          </p:nvPr>
        </p:nvGraphicFramePr>
        <p:xfrm>
          <a:off x="1511943" y="1369288"/>
          <a:ext cx="1185862" cy="333375"/>
        </p:xfrm>
        <a:graphic>
          <a:graphicData uri="http://schemas.openxmlformats.org/presentationml/2006/ole">
            <mc:AlternateContent xmlns:mc="http://schemas.openxmlformats.org/markup-compatibility/2006">
              <mc:Choice xmlns:v="urn:schemas-microsoft-com:vml" Requires="v">
                <p:oleObj spid="_x0000_s27889" name="Equation" r:id="rId9" imgW="749160" imgH="203040" progId="Equation.DSMT4">
                  <p:embed/>
                </p:oleObj>
              </mc:Choice>
              <mc:Fallback>
                <p:oleObj name="Equation" r:id="rId9" imgW="749160" imgH="203040" progId="Equation.DSMT4">
                  <p:embed/>
                  <p:pic>
                    <p:nvPicPr>
                      <p:cNvPr id="7" name="对象 6"/>
                      <p:cNvPicPr>
                        <a:picLocks noChangeAspect="1" noChangeArrowheads="1"/>
                      </p:cNvPicPr>
                      <p:nvPr/>
                    </p:nvPicPr>
                    <p:blipFill>
                      <a:blip r:embed="rId10"/>
                      <a:srcRect/>
                      <a:stretch>
                        <a:fillRect/>
                      </a:stretch>
                    </p:blipFill>
                    <p:spPr bwMode="auto">
                      <a:xfrm>
                        <a:off x="1511943" y="1369288"/>
                        <a:ext cx="1185862" cy="333375"/>
                      </a:xfrm>
                      <a:prstGeom prst="rect">
                        <a:avLst/>
                      </a:prstGeom>
                      <a:noFill/>
                    </p:spPr>
                  </p:pic>
                </p:oleObj>
              </mc:Fallback>
            </mc:AlternateContent>
          </a:graphicData>
        </a:graphic>
      </p:graphicFrame>
    </p:spTree>
    <p:extLst>
      <p:ext uri="{BB962C8B-B14F-4D97-AF65-F5344CB8AC3E}">
        <p14:creationId xmlns:p14="http://schemas.microsoft.com/office/powerpoint/2010/main" val="40873950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27</a:t>
            </a:fld>
            <a:endParaRPr lang="en-US" altLang="zh-CN">
              <a:solidFill>
                <a:srgbClr val="FFFFFF"/>
              </a:solidFill>
            </a:endParaRPr>
          </a:p>
        </p:txBody>
      </p:sp>
      <p:sp>
        <p:nvSpPr>
          <p:cNvPr id="5" name="矩形 4"/>
          <p:cNvSpPr/>
          <p:nvPr/>
        </p:nvSpPr>
        <p:spPr>
          <a:xfrm>
            <a:off x="457201" y="511547"/>
            <a:ext cx="11364384" cy="3877985"/>
          </a:xfrm>
          <a:prstGeom prst="rect">
            <a:avLst/>
          </a:prstGeom>
        </p:spPr>
        <p:txBody>
          <a:bodyPr wrap="square">
            <a:spAutoFit/>
          </a:bodyPr>
          <a:lstStyle/>
          <a:p>
            <a:pPr marL="342900" lvl="2" indent="-342900">
              <a:lnSpc>
                <a:spcPct val="150000"/>
              </a:lnSpc>
              <a:buFont typeface="Wingdings" panose="05000000000000000000" pitchFamily="2" charset="2"/>
              <a:buChar char="l"/>
            </a:pPr>
            <a:r>
              <a:rPr lang="zh-CN" altLang="en-US" dirty="0"/>
              <a:t>常用的</a:t>
            </a:r>
            <a:r>
              <a:rPr lang="zh-CN" altLang="zh-CN" dirty="0"/>
              <a:t>压控振荡器</a:t>
            </a:r>
          </a:p>
          <a:p>
            <a:pPr lvl="1">
              <a:lnSpc>
                <a:spcPct val="150000"/>
              </a:lnSpc>
            </a:pPr>
            <a:r>
              <a:rPr lang="zh-CN" altLang="en-US" sz="1800" dirty="0">
                <a:latin typeface="+mn-lt"/>
              </a:rPr>
              <a:t>压控振荡器的主要参数是可控频率范围与压控增益 </a:t>
            </a:r>
            <a:r>
              <a:rPr lang="en-US" altLang="zh-CN" sz="1800" i="1" dirty="0" err="1">
                <a:latin typeface="+mn-lt"/>
              </a:rPr>
              <a:t>K</a:t>
            </a:r>
            <a:r>
              <a:rPr lang="en-US" altLang="zh-CN" sz="1800" i="1" baseline="-25000" dirty="0" err="1">
                <a:latin typeface="+mn-lt"/>
              </a:rPr>
              <a:t>o</a:t>
            </a:r>
            <a:r>
              <a:rPr lang="en-US" altLang="zh-CN" sz="1800" dirty="0">
                <a:latin typeface="+mn-lt"/>
              </a:rPr>
              <a:t> = </a:t>
            </a:r>
            <a:r>
              <a:rPr lang="en-US" altLang="zh-CN" sz="1800" i="1" dirty="0">
                <a:latin typeface="+mn-lt"/>
              </a:rPr>
              <a:t>d</a:t>
            </a:r>
            <a:r>
              <a:rPr lang="el-GR" altLang="zh-CN" sz="1800" i="1" dirty="0">
                <a:latin typeface="+mn-lt"/>
              </a:rPr>
              <a:t>ω</a:t>
            </a:r>
            <a:r>
              <a:rPr lang="en-US" altLang="zh-CN" sz="1800" i="1" baseline="-25000" dirty="0">
                <a:latin typeface="+mn-lt"/>
              </a:rPr>
              <a:t>o </a:t>
            </a:r>
            <a:r>
              <a:rPr lang="en-US" altLang="zh-CN" sz="1800" dirty="0">
                <a:latin typeface="+mn-lt"/>
              </a:rPr>
              <a:t>/</a:t>
            </a:r>
            <a:r>
              <a:rPr lang="en-US" altLang="zh-CN" sz="1800" i="1" dirty="0" err="1">
                <a:latin typeface="+mn-lt"/>
              </a:rPr>
              <a:t>dV</a:t>
            </a:r>
            <a:endParaRPr lang="en-US" altLang="zh-CN" sz="1800" i="1" dirty="0">
              <a:latin typeface="+mn-lt"/>
            </a:endParaRPr>
          </a:p>
          <a:p>
            <a:pPr marL="342900" indent="-342900">
              <a:lnSpc>
                <a:spcPct val="150000"/>
              </a:lnSpc>
              <a:buFont typeface="Arial" panose="020B0604020202020204" pitchFamily="34" charset="0"/>
              <a:buChar char="•"/>
            </a:pPr>
            <a:r>
              <a:rPr lang="en-US" altLang="zh-CN" sz="1800" dirty="0">
                <a:latin typeface="+mn-lt"/>
              </a:rPr>
              <a:t>RC</a:t>
            </a:r>
            <a:r>
              <a:rPr lang="zh-CN" altLang="zh-CN" sz="1800" dirty="0"/>
              <a:t>张弛振荡器</a:t>
            </a:r>
            <a:endParaRPr lang="en-US" altLang="zh-CN" sz="1800" dirty="0"/>
          </a:p>
          <a:p>
            <a:pPr lvl="1">
              <a:lnSpc>
                <a:spcPct val="150000"/>
              </a:lnSpc>
            </a:pPr>
            <a:r>
              <a:rPr lang="zh-CN" altLang="en-US" sz="1800" dirty="0"/>
              <a:t>电压或者电流控制，线性较好，频率上限一般不会很高（几十</a:t>
            </a:r>
            <a:r>
              <a:rPr lang="en-US" altLang="zh-CN" sz="1800" dirty="0"/>
              <a:t>MHz</a:t>
            </a:r>
            <a:r>
              <a:rPr lang="zh-CN" altLang="en-US" sz="1800" dirty="0"/>
              <a:t>），通常以方波形式</a:t>
            </a:r>
            <a:r>
              <a:rPr lang="zh-CN" altLang="en-US" sz="1800" dirty="0" smtClean="0"/>
              <a:t>输出</a:t>
            </a:r>
            <a:endParaRPr lang="en-US" altLang="zh-CN" sz="1800" dirty="0" smtClean="0"/>
          </a:p>
          <a:p>
            <a:pPr marL="285750" indent="-285750">
              <a:lnSpc>
                <a:spcPct val="150000"/>
              </a:lnSpc>
              <a:buFont typeface="Arial" panose="020B0604020202020204" pitchFamily="34" charset="0"/>
              <a:buChar char="•"/>
            </a:pPr>
            <a:r>
              <a:rPr lang="en-US" altLang="zh-CN" sz="1800" dirty="0" smtClean="0">
                <a:latin typeface="+mn-lt"/>
              </a:rPr>
              <a:t>LC</a:t>
            </a:r>
            <a:r>
              <a:rPr lang="zh-CN" altLang="zh-CN" sz="1800" dirty="0"/>
              <a:t>振荡器</a:t>
            </a:r>
            <a:endParaRPr lang="en-US" altLang="zh-CN" sz="1800" dirty="0"/>
          </a:p>
          <a:p>
            <a:pPr lvl="1">
              <a:lnSpc>
                <a:spcPct val="150000"/>
              </a:lnSpc>
            </a:pPr>
            <a:r>
              <a:rPr lang="zh-CN" altLang="en-US" sz="1800" dirty="0"/>
              <a:t>以变容二极管作为调谐器件，线性一般，可以有很高的频率上限，通常以简谐波输出</a:t>
            </a:r>
            <a:endParaRPr lang="en-US" altLang="zh-CN" sz="1800" dirty="0"/>
          </a:p>
          <a:p>
            <a:pPr marL="342900" indent="-342900">
              <a:lnSpc>
                <a:spcPct val="150000"/>
              </a:lnSpc>
              <a:buFont typeface="Arial" panose="020B0604020202020204" pitchFamily="34" charset="0"/>
              <a:buChar char="•"/>
            </a:pPr>
            <a:r>
              <a:rPr lang="zh-CN" altLang="zh-CN" sz="1800" dirty="0" smtClean="0"/>
              <a:t>石英晶体</a:t>
            </a:r>
            <a:r>
              <a:rPr lang="zh-CN" altLang="zh-CN" sz="1800" dirty="0"/>
              <a:t>振荡器</a:t>
            </a:r>
            <a:endParaRPr lang="en-US" altLang="zh-CN" sz="1800" dirty="0"/>
          </a:p>
          <a:p>
            <a:pPr lvl="1">
              <a:lnSpc>
                <a:spcPct val="150000"/>
              </a:lnSpc>
            </a:pPr>
            <a:r>
              <a:rPr lang="zh-CN" altLang="en-US" sz="1800" dirty="0"/>
              <a:t>以变容二极管作为频率微调器件，线性一般，极高的频率稳定性，但是频率可调范围很小。除了需要极高稳定性的特殊场合外很少使用</a:t>
            </a:r>
            <a:endParaRPr lang="zh-CN" altLang="zh-CN" sz="1800" dirty="0"/>
          </a:p>
        </p:txBody>
      </p:sp>
    </p:spTree>
    <p:extLst>
      <p:ext uri="{BB962C8B-B14F-4D97-AF65-F5344CB8AC3E}">
        <p14:creationId xmlns:p14="http://schemas.microsoft.com/office/powerpoint/2010/main" val="207542184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28</a:t>
            </a:fld>
            <a:endParaRPr lang="en-US" altLang="zh-CN">
              <a:solidFill>
                <a:srgbClr val="FFFFFF"/>
              </a:solidFill>
            </a:endParaRPr>
          </a:p>
        </p:txBody>
      </p:sp>
      <p:sp>
        <p:nvSpPr>
          <p:cNvPr id="5" name="文本框 4"/>
          <p:cNvSpPr txBox="1"/>
          <p:nvPr/>
        </p:nvSpPr>
        <p:spPr>
          <a:xfrm>
            <a:off x="486229" y="552195"/>
            <a:ext cx="9708125" cy="553998"/>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a:t>常用</a:t>
            </a:r>
            <a:r>
              <a:rPr lang="zh-CN" altLang="en-US" dirty="0" smtClean="0"/>
              <a:t>的环路滤波器（</a:t>
            </a:r>
            <a:r>
              <a:rPr lang="en-US" altLang="zh-CN" dirty="0" smtClean="0"/>
              <a:t>2</a:t>
            </a:r>
            <a:r>
              <a:rPr lang="zh-CN" altLang="en-US" dirty="0" smtClean="0"/>
              <a:t>阶锁相环）</a:t>
            </a:r>
            <a:endParaRPr lang="en-US" altLang="zh-CN" dirty="0"/>
          </a:p>
        </p:txBody>
      </p:sp>
      <p:graphicFrame>
        <p:nvGraphicFramePr>
          <p:cNvPr id="7" name="对象 6"/>
          <p:cNvGraphicFramePr>
            <a:graphicFrameLocks noChangeAspect="1"/>
          </p:cNvGraphicFramePr>
          <p:nvPr>
            <p:extLst>
              <p:ext uri="{D42A27DB-BD31-4B8C-83A1-F6EECF244321}">
                <p14:modId xmlns:p14="http://schemas.microsoft.com/office/powerpoint/2010/main" val="3624460357"/>
              </p:ext>
            </p:extLst>
          </p:nvPr>
        </p:nvGraphicFramePr>
        <p:xfrm>
          <a:off x="3469217" y="1154710"/>
          <a:ext cx="5632450" cy="1855788"/>
        </p:xfrm>
        <a:graphic>
          <a:graphicData uri="http://schemas.openxmlformats.org/presentationml/2006/ole">
            <mc:AlternateContent xmlns:mc="http://schemas.openxmlformats.org/markup-compatibility/2006">
              <mc:Choice xmlns:v="urn:schemas-microsoft-com:vml" Requires="v">
                <p:oleObj spid="_x0000_s20689" name="Visio" r:id="rId3" imgW="3365517" imgH="1104707" progId="Visio.Drawing.11">
                  <p:embed/>
                </p:oleObj>
              </mc:Choice>
              <mc:Fallback>
                <p:oleObj name="Visio" r:id="rId3" imgW="3365517" imgH="1104707" progId="Visio.Drawing.11">
                  <p:embed/>
                  <p:pic>
                    <p:nvPicPr>
                      <p:cNvPr id="7" name="对象 6"/>
                      <p:cNvPicPr>
                        <a:picLocks noChangeAspect="1" noChangeArrowheads="1"/>
                      </p:cNvPicPr>
                      <p:nvPr/>
                    </p:nvPicPr>
                    <p:blipFill>
                      <a:blip r:embed="rId4"/>
                      <a:srcRect/>
                      <a:stretch>
                        <a:fillRect/>
                      </a:stretch>
                    </p:blipFill>
                    <p:spPr bwMode="auto">
                      <a:xfrm>
                        <a:off x="3469217" y="1154710"/>
                        <a:ext cx="5632450" cy="1855788"/>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46520873"/>
              </p:ext>
            </p:extLst>
          </p:nvPr>
        </p:nvGraphicFramePr>
        <p:xfrm>
          <a:off x="2842222" y="4785428"/>
          <a:ext cx="2667925" cy="1359772"/>
        </p:xfrm>
        <a:graphic>
          <a:graphicData uri="http://schemas.openxmlformats.org/presentationml/2006/ole">
            <mc:AlternateContent xmlns:mc="http://schemas.openxmlformats.org/markup-compatibility/2006">
              <mc:Choice xmlns:v="urn:schemas-microsoft-com:vml" Requires="v">
                <p:oleObj spid="_x0000_s20690" name="Equation" r:id="rId5" imgW="1650960" imgH="812520" progId="Equation.DSMT4">
                  <p:embed/>
                </p:oleObj>
              </mc:Choice>
              <mc:Fallback>
                <p:oleObj name="Equation" r:id="rId5" imgW="1650960" imgH="812520" progId="Equation.DSMT4">
                  <p:embed/>
                  <p:pic>
                    <p:nvPicPr>
                      <p:cNvPr id="8" name="对象 7"/>
                      <p:cNvPicPr>
                        <a:picLocks noChangeAspect="1" noChangeArrowheads="1"/>
                      </p:cNvPicPr>
                      <p:nvPr/>
                    </p:nvPicPr>
                    <p:blipFill>
                      <a:blip r:embed="rId6"/>
                      <a:srcRect/>
                      <a:stretch>
                        <a:fillRect/>
                      </a:stretch>
                    </p:blipFill>
                    <p:spPr bwMode="auto">
                      <a:xfrm>
                        <a:off x="2842222" y="4785428"/>
                        <a:ext cx="2667925" cy="1359772"/>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607020524"/>
              </p:ext>
            </p:extLst>
          </p:nvPr>
        </p:nvGraphicFramePr>
        <p:xfrm>
          <a:off x="6826780" y="4785428"/>
          <a:ext cx="2052638" cy="1360488"/>
        </p:xfrm>
        <a:graphic>
          <a:graphicData uri="http://schemas.openxmlformats.org/presentationml/2006/ole">
            <mc:AlternateContent xmlns:mc="http://schemas.openxmlformats.org/markup-compatibility/2006">
              <mc:Choice xmlns:v="urn:schemas-microsoft-com:vml" Requires="v">
                <p:oleObj spid="_x0000_s20691" name="Equation" r:id="rId7" imgW="1269720" imgH="812520" progId="Equation.DSMT4">
                  <p:embed/>
                </p:oleObj>
              </mc:Choice>
              <mc:Fallback>
                <p:oleObj name="Equation" r:id="rId7" imgW="1269720" imgH="812520" progId="Equation.DSMT4">
                  <p:embed/>
                  <p:pic>
                    <p:nvPicPr>
                      <p:cNvPr id="9" name="对象 8"/>
                      <p:cNvPicPr>
                        <a:picLocks noChangeAspect="1" noChangeArrowheads="1"/>
                      </p:cNvPicPr>
                      <p:nvPr/>
                    </p:nvPicPr>
                    <p:blipFill>
                      <a:blip r:embed="rId8"/>
                      <a:srcRect/>
                      <a:stretch>
                        <a:fillRect/>
                      </a:stretch>
                    </p:blipFill>
                    <p:spPr bwMode="auto">
                      <a:xfrm>
                        <a:off x="6826780" y="4785428"/>
                        <a:ext cx="2052638" cy="1360488"/>
                      </a:xfrm>
                      <a:prstGeom prst="rect">
                        <a:avLst/>
                      </a:prstGeom>
                      <a:noFill/>
                    </p:spPr>
                  </p:pic>
                </p:oleObj>
              </mc:Fallback>
            </mc:AlternateContent>
          </a:graphicData>
        </a:graphic>
      </p:graphicFrame>
      <p:pic>
        <p:nvPicPr>
          <p:cNvPr id="17" name="图片 16"/>
          <p:cNvPicPr>
            <a:picLocks noChangeAspect="1"/>
          </p:cNvPicPr>
          <p:nvPr/>
        </p:nvPicPr>
        <p:blipFill>
          <a:blip r:embed="rId9"/>
          <a:stretch>
            <a:fillRect/>
          </a:stretch>
        </p:blipFill>
        <p:spPr>
          <a:xfrm>
            <a:off x="3097921" y="3206654"/>
            <a:ext cx="2555909" cy="1413667"/>
          </a:xfrm>
          <a:prstGeom prst="rect">
            <a:avLst/>
          </a:prstGeom>
        </p:spPr>
      </p:pic>
      <p:pic>
        <p:nvPicPr>
          <p:cNvPr id="18" name="图片 17"/>
          <p:cNvPicPr>
            <a:picLocks noChangeAspect="1"/>
          </p:cNvPicPr>
          <p:nvPr/>
        </p:nvPicPr>
        <p:blipFill>
          <a:blip r:embed="rId10"/>
          <a:stretch>
            <a:fillRect/>
          </a:stretch>
        </p:blipFill>
        <p:spPr>
          <a:xfrm>
            <a:off x="6321005" y="3041937"/>
            <a:ext cx="2484107" cy="1600123"/>
          </a:xfrm>
          <a:prstGeom prst="rect">
            <a:avLst/>
          </a:prstGeom>
        </p:spPr>
      </p:pic>
    </p:spTree>
    <p:extLst>
      <p:ext uri="{BB962C8B-B14F-4D97-AF65-F5344CB8AC3E}">
        <p14:creationId xmlns:p14="http://schemas.microsoft.com/office/powerpoint/2010/main" val="1527811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29</a:t>
            </a:fld>
            <a:endParaRPr lang="en-US" altLang="zh-CN">
              <a:solidFill>
                <a:srgbClr val="FFFFFF"/>
              </a:solidFill>
            </a:endParaRPr>
          </a:p>
        </p:txBody>
      </p:sp>
      <p:graphicFrame>
        <p:nvGraphicFramePr>
          <p:cNvPr id="10" name="对象 9"/>
          <p:cNvGraphicFramePr>
            <a:graphicFrameLocks noChangeAspect="1"/>
          </p:cNvGraphicFramePr>
          <p:nvPr>
            <p:extLst>
              <p:ext uri="{D42A27DB-BD31-4B8C-83A1-F6EECF244321}">
                <p14:modId xmlns:p14="http://schemas.microsoft.com/office/powerpoint/2010/main" val="2788641605"/>
              </p:ext>
            </p:extLst>
          </p:nvPr>
        </p:nvGraphicFramePr>
        <p:xfrm>
          <a:off x="2039560" y="853934"/>
          <a:ext cx="2619526" cy="2388392"/>
        </p:xfrm>
        <a:graphic>
          <a:graphicData uri="http://schemas.openxmlformats.org/presentationml/2006/ole">
            <mc:AlternateContent xmlns:mc="http://schemas.openxmlformats.org/markup-compatibility/2006">
              <mc:Choice xmlns:v="urn:schemas-microsoft-com:vml" Requires="v">
                <p:oleObj spid="_x0000_s32969" name="Visio" r:id="rId3" imgW="1358625" imgH="1263450" progId="Visio.Drawing.11">
                  <p:embed/>
                </p:oleObj>
              </mc:Choice>
              <mc:Fallback>
                <p:oleObj name="Visio" r:id="rId3" imgW="1358625" imgH="1263450" progId="Visio.Drawing.11">
                  <p:embed/>
                  <p:pic>
                    <p:nvPicPr>
                      <p:cNvPr id="10" name="对象 9"/>
                      <p:cNvPicPr>
                        <a:picLocks noChangeAspect="1" noChangeArrowheads="1"/>
                      </p:cNvPicPr>
                      <p:nvPr/>
                    </p:nvPicPr>
                    <p:blipFill>
                      <a:blip r:embed="rId4"/>
                      <a:srcRect/>
                      <a:stretch>
                        <a:fillRect/>
                      </a:stretch>
                    </p:blipFill>
                    <p:spPr bwMode="auto">
                      <a:xfrm>
                        <a:off x="2039560" y="853934"/>
                        <a:ext cx="2619526" cy="2388392"/>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180177438"/>
              </p:ext>
            </p:extLst>
          </p:nvPr>
        </p:nvGraphicFramePr>
        <p:xfrm>
          <a:off x="486229" y="5330030"/>
          <a:ext cx="5732463" cy="644525"/>
        </p:xfrm>
        <a:graphic>
          <a:graphicData uri="http://schemas.openxmlformats.org/presentationml/2006/ole">
            <mc:AlternateContent xmlns:mc="http://schemas.openxmlformats.org/markup-compatibility/2006">
              <mc:Choice xmlns:v="urn:schemas-microsoft-com:vml" Requires="v">
                <p:oleObj spid="_x0000_s32970" name="Equation" r:id="rId5" imgW="3454200" imgH="380880" progId="Equation.DSMT4">
                  <p:embed/>
                </p:oleObj>
              </mc:Choice>
              <mc:Fallback>
                <p:oleObj name="Equation" r:id="rId5" imgW="3454200" imgH="380880" progId="Equation.DSMT4">
                  <p:embed/>
                  <p:pic>
                    <p:nvPicPr>
                      <p:cNvPr id="12" name="对象 11"/>
                      <p:cNvPicPr>
                        <a:picLocks noChangeAspect="1" noChangeArrowheads="1"/>
                      </p:cNvPicPr>
                      <p:nvPr/>
                    </p:nvPicPr>
                    <p:blipFill>
                      <a:blip r:embed="rId6"/>
                      <a:srcRect/>
                      <a:stretch>
                        <a:fillRect/>
                      </a:stretch>
                    </p:blipFill>
                    <p:spPr bwMode="auto">
                      <a:xfrm>
                        <a:off x="486229" y="5330030"/>
                        <a:ext cx="5732463" cy="644525"/>
                      </a:xfrm>
                      <a:prstGeom prst="rect">
                        <a:avLst/>
                      </a:prstGeom>
                      <a:noFill/>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322239958"/>
              </p:ext>
            </p:extLst>
          </p:nvPr>
        </p:nvGraphicFramePr>
        <p:xfrm>
          <a:off x="7424813" y="5318917"/>
          <a:ext cx="4041775" cy="655638"/>
        </p:xfrm>
        <a:graphic>
          <a:graphicData uri="http://schemas.openxmlformats.org/presentationml/2006/ole">
            <mc:AlternateContent xmlns:mc="http://schemas.openxmlformats.org/markup-compatibility/2006">
              <mc:Choice xmlns:v="urn:schemas-microsoft-com:vml" Requires="v">
                <p:oleObj spid="_x0000_s32971" name="Equation" r:id="rId7" imgW="2387520" imgH="380880" progId="Equation.DSMT4">
                  <p:embed/>
                </p:oleObj>
              </mc:Choice>
              <mc:Fallback>
                <p:oleObj name="Equation" r:id="rId7" imgW="2387520" imgH="380880" progId="Equation.DSMT4">
                  <p:embed/>
                  <p:pic>
                    <p:nvPicPr>
                      <p:cNvPr id="14" name="对象 13"/>
                      <p:cNvPicPr>
                        <a:picLocks noChangeAspect="1" noChangeArrowheads="1"/>
                      </p:cNvPicPr>
                      <p:nvPr/>
                    </p:nvPicPr>
                    <p:blipFill>
                      <a:blip r:embed="rId8"/>
                      <a:srcRect/>
                      <a:stretch>
                        <a:fillRect/>
                      </a:stretch>
                    </p:blipFill>
                    <p:spPr bwMode="auto">
                      <a:xfrm>
                        <a:off x="7424813" y="5318917"/>
                        <a:ext cx="4041775" cy="655638"/>
                      </a:xfrm>
                      <a:prstGeom prst="rect">
                        <a:avLst/>
                      </a:prstGeom>
                      <a:noFill/>
                    </p:spPr>
                  </p:pic>
                </p:oleObj>
              </mc:Fallback>
            </mc:AlternateContent>
          </a:graphicData>
        </a:graphic>
      </p:graphicFrame>
      <p:sp>
        <p:nvSpPr>
          <p:cNvPr id="11" name="文本框 10"/>
          <p:cNvSpPr txBox="1"/>
          <p:nvPr/>
        </p:nvSpPr>
        <p:spPr>
          <a:xfrm>
            <a:off x="486229" y="552195"/>
            <a:ext cx="9708125" cy="553998"/>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a:t>常用</a:t>
            </a:r>
            <a:r>
              <a:rPr lang="zh-CN" altLang="en-US" dirty="0" smtClean="0"/>
              <a:t>的环路滤波器（</a:t>
            </a:r>
            <a:r>
              <a:rPr lang="en-US" altLang="zh-CN" dirty="0" smtClean="0"/>
              <a:t>3</a:t>
            </a:r>
            <a:r>
              <a:rPr lang="zh-CN" altLang="en-US" dirty="0" smtClean="0"/>
              <a:t>阶锁相环）</a:t>
            </a:r>
            <a:endParaRPr lang="en-US" altLang="zh-CN" dirty="0"/>
          </a:p>
        </p:txBody>
      </p:sp>
      <p:graphicFrame>
        <p:nvGraphicFramePr>
          <p:cNvPr id="13" name="对象 12"/>
          <p:cNvGraphicFramePr>
            <a:graphicFrameLocks noChangeAspect="1"/>
          </p:cNvGraphicFramePr>
          <p:nvPr>
            <p:extLst>
              <p:ext uri="{D42A27DB-BD31-4B8C-83A1-F6EECF244321}">
                <p14:modId xmlns:p14="http://schemas.microsoft.com/office/powerpoint/2010/main" val="108796307"/>
              </p:ext>
            </p:extLst>
          </p:nvPr>
        </p:nvGraphicFramePr>
        <p:xfrm>
          <a:off x="8004855" y="1064885"/>
          <a:ext cx="2763215" cy="2177441"/>
        </p:xfrm>
        <a:graphic>
          <a:graphicData uri="http://schemas.openxmlformats.org/presentationml/2006/ole">
            <mc:AlternateContent xmlns:mc="http://schemas.openxmlformats.org/markup-compatibility/2006">
              <mc:Choice xmlns:v="urn:schemas-microsoft-com:vml" Requires="v">
                <p:oleObj spid="_x0000_s32972" name="Visio" r:id="rId9" imgW="1593558" imgH="1263450" progId="Visio.Drawing.11">
                  <p:embed/>
                </p:oleObj>
              </mc:Choice>
              <mc:Fallback>
                <p:oleObj name="Visio" r:id="rId9" imgW="1593558" imgH="1263450" progId="Visio.Drawing.11">
                  <p:embed/>
                  <p:pic>
                    <p:nvPicPr>
                      <p:cNvPr id="10" name="对象 9"/>
                      <p:cNvPicPr>
                        <a:picLocks noChangeAspect="1" noChangeArrowheads="1"/>
                      </p:cNvPicPr>
                      <p:nvPr/>
                    </p:nvPicPr>
                    <p:blipFill>
                      <a:blip r:embed="rId10"/>
                      <a:srcRect/>
                      <a:stretch>
                        <a:fillRect/>
                      </a:stretch>
                    </p:blipFill>
                    <p:spPr bwMode="auto">
                      <a:xfrm>
                        <a:off x="8004855" y="1064885"/>
                        <a:ext cx="2763215" cy="2177441"/>
                      </a:xfrm>
                      <a:prstGeom prst="rect">
                        <a:avLst/>
                      </a:prstGeom>
                      <a:noFill/>
                    </p:spPr>
                  </p:pic>
                </p:oleObj>
              </mc:Fallback>
            </mc:AlternateContent>
          </a:graphicData>
        </a:graphic>
      </p:graphicFrame>
      <p:pic>
        <p:nvPicPr>
          <p:cNvPr id="6" name="图片 5"/>
          <p:cNvPicPr>
            <a:picLocks noChangeAspect="1"/>
          </p:cNvPicPr>
          <p:nvPr/>
        </p:nvPicPr>
        <p:blipFill>
          <a:blip r:embed="rId11"/>
          <a:stretch>
            <a:fillRect/>
          </a:stretch>
        </p:blipFill>
        <p:spPr>
          <a:xfrm>
            <a:off x="7415725" y="3434095"/>
            <a:ext cx="4050863" cy="1693053"/>
          </a:xfrm>
          <a:prstGeom prst="rect">
            <a:avLst/>
          </a:prstGeom>
        </p:spPr>
      </p:pic>
      <p:pic>
        <p:nvPicPr>
          <p:cNvPr id="7" name="图片 6"/>
          <p:cNvPicPr>
            <a:picLocks noChangeAspect="1"/>
          </p:cNvPicPr>
          <p:nvPr/>
        </p:nvPicPr>
        <p:blipFill>
          <a:blip r:embed="rId12"/>
          <a:stretch>
            <a:fillRect/>
          </a:stretch>
        </p:blipFill>
        <p:spPr>
          <a:xfrm>
            <a:off x="932067" y="3366894"/>
            <a:ext cx="5074300" cy="1867445"/>
          </a:xfrm>
          <a:prstGeom prst="rect">
            <a:avLst/>
          </a:prstGeom>
        </p:spPr>
      </p:pic>
    </p:spTree>
    <p:extLst>
      <p:ext uri="{BB962C8B-B14F-4D97-AF65-F5344CB8AC3E}">
        <p14:creationId xmlns:p14="http://schemas.microsoft.com/office/powerpoint/2010/main" val="17315127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2024/4/16</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30</a:t>
            </a:fld>
            <a:endParaRPr lang="en-US" altLang="zh-CN"/>
          </a:p>
        </p:txBody>
      </p:sp>
      <p:sp>
        <p:nvSpPr>
          <p:cNvPr id="6" name="文本框 5"/>
          <p:cNvSpPr txBox="1"/>
          <p:nvPr/>
        </p:nvSpPr>
        <p:spPr>
          <a:xfrm>
            <a:off x="624418" y="605955"/>
            <a:ext cx="11197167" cy="4755148"/>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dirty="0">
                <a:latin typeface="黑体" panose="02010609060101010101" pitchFamily="49" charset="-122"/>
                <a:ea typeface="黑体" panose="02010609060101010101" pitchFamily="49" charset="-122"/>
              </a:rPr>
              <a:t>锁相环电路的主要性能参数</a:t>
            </a:r>
            <a:endParaRPr lang="en-US" altLang="zh-CN" dirty="0">
              <a:latin typeface="黑体" panose="02010609060101010101" pitchFamily="49" charset="-122"/>
              <a:ea typeface="黑体" panose="02010609060101010101" pitchFamily="49" charset="-122"/>
            </a:endParaRPr>
          </a:p>
          <a:p>
            <a:pPr>
              <a:lnSpc>
                <a:spcPct val="150000"/>
              </a:lnSpc>
            </a:pPr>
            <a:r>
              <a:rPr lang="zh-CN" altLang="en-US" sz="1800" dirty="0">
                <a:latin typeface="等线" panose="02010600030101010101" pitchFamily="2" charset="-122"/>
                <a:ea typeface="等线" panose="02010600030101010101" pitchFamily="2" charset="-122"/>
              </a:rPr>
              <a:t>（仅介绍与大部分竞赛题相关的锁相环主要参数）</a:t>
            </a:r>
          </a:p>
          <a:p>
            <a:pPr marL="342900" indent="-342900">
              <a:lnSpc>
                <a:spcPct val="150000"/>
              </a:lnSpc>
              <a:buFont typeface="Arial" panose="020B0604020202020204" pitchFamily="34" charset="0"/>
              <a:buChar char="•"/>
            </a:pPr>
            <a:r>
              <a:rPr lang="zh-CN" altLang="en-US" dirty="0">
                <a:latin typeface="华文细黑" panose="02010600040101010101" pitchFamily="2" charset="-122"/>
              </a:rPr>
              <a:t>闭环相位传递函数（稳态过程）</a:t>
            </a:r>
            <a:endParaRPr lang="en-US" altLang="zh-CN" dirty="0">
              <a:latin typeface="华文细黑" panose="02010600040101010101" pitchFamily="2" charset="-122"/>
            </a:endParaRPr>
          </a:p>
          <a:p>
            <a:pPr lvl="1" indent="457200">
              <a:lnSpc>
                <a:spcPct val="150000"/>
              </a:lnSpc>
            </a:pPr>
            <a:r>
              <a:rPr lang="zh-CN" altLang="en-US" sz="1800" dirty="0">
                <a:solidFill>
                  <a:schemeClr val="tx1">
                    <a:lumMod val="95000"/>
                    <a:lumOff val="5000"/>
                  </a:schemeClr>
                </a:solidFill>
                <a:latin typeface="华文细黑" panose="02010600040101010101" pitchFamily="2" charset="-122"/>
              </a:rPr>
              <a:t>锁相环处于</a:t>
            </a:r>
            <a:r>
              <a:rPr lang="zh-CN" altLang="en-US" sz="1800" dirty="0">
                <a:solidFill>
                  <a:srgbClr val="FF0000"/>
                </a:solidFill>
                <a:latin typeface="华文细黑" panose="02010600040101010101" pitchFamily="2" charset="-122"/>
              </a:rPr>
              <a:t>锁定状态</a:t>
            </a:r>
            <a:r>
              <a:rPr lang="zh-CN" altLang="en-US" sz="1800" dirty="0">
                <a:solidFill>
                  <a:schemeClr val="tx1">
                    <a:lumMod val="95000"/>
                    <a:lumOff val="5000"/>
                  </a:schemeClr>
                </a:solidFill>
                <a:latin typeface="华文细黑" panose="02010600040101010101" pitchFamily="2" charset="-122"/>
              </a:rPr>
              <a:t>时，锁相环的输出与输入信号之间的相位差处于一个动态稳定状态</a:t>
            </a:r>
            <a:r>
              <a:rPr lang="en-US" altLang="zh-CN" sz="1800" dirty="0">
                <a:solidFill>
                  <a:schemeClr val="tx1">
                    <a:lumMod val="95000"/>
                    <a:lumOff val="5000"/>
                  </a:schemeClr>
                </a:solidFill>
                <a:latin typeface="华文细黑" panose="02010600040101010101" pitchFamily="2" charset="-122"/>
              </a:rPr>
              <a:t>——</a:t>
            </a:r>
            <a:r>
              <a:rPr lang="zh-CN" altLang="en-US" sz="1800" dirty="0">
                <a:solidFill>
                  <a:schemeClr val="tx1">
                    <a:lumMod val="95000"/>
                    <a:lumOff val="5000"/>
                  </a:schemeClr>
                </a:solidFill>
                <a:latin typeface="华文细黑" panose="02010600040101010101" pitchFamily="2" charset="-122"/>
              </a:rPr>
              <a:t>若输入信号的相位发生变化，则输出信号的相位也随之变化，力图使相位差保持不变，即相位具有跟踪特性。</a:t>
            </a:r>
            <a:endParaRPr lang="en-US" altLang="zh-CN" sz="1800" dirty="0">
              <a:solidFill>
                <a:schemeClr val="tx1">
                  <a:lumMod val="95000"/>
                  <a:lumOff val="5000"/>
                </a:schemeClr>
              </a:solidFill>
              <a:latin typeface="华文细黑" panose="02010600040101010101" pitchFamily="2" charset="-122"/>
            </a:endParaRPr>
          </a:p>
          <a:p>
            <a:pPr lvl="1" indent="457200">
              <a:lnSpc>
                <a:spcPct val="150000"/>
              </a:lnSpc>
            </a:pPr>
            <a:r>
              <a:rPr lang="zh-CN" altLang="en-US" sz="1800" dirty="0">
                <a:solidFill>
                  <a:schemeClr val="tx1">
                    <a:lumMod val="95000"/>
                    <a:lumOff val="5000"/>
                  </a:schemeClr>
                </a:solidFill>
                <a:latin typeface="华文细黑" panose="02010600040101010101" pitchFamily="2" charset="-122"/>
              </a:rPr>
              <a:t>然而此相位跟踪是通过反馈产生的，与任何实际的反馈控制系统一样，若输入变量（相位）的变化速率变得很高后，反馈系统的控制作用将减弱，导致输出相位的变化速率下降。</a:t>
            </a:r>
            <a:endParaRPr lang="en-US" altLang="zh-CN" sz="1800" dirty="0">
              <a:solidFill>
                <a:schemeClr val="tx1">
                  <a:lumMod val="95000"/>
                  <a:lumOff val="5000"/>
                </a:schemeClr>
              </a:solidFill>
              <a:latin typeface="华文细黑" panose="02010600040101010101" pitchFamily="2" charset="-122"/>
            </a:endParaRPr>
          </a:p>
          <a:p>
            <a:pPr lvl="1" indent="457200">
              <a:lnSpc>
                <a:spcPct val="150000"/>
              </a:lnSpc>
            </a:pPr>
            <a:r>
              <a:rPr lang="zh-CN" altLang="en-US" sz="1800" dirty="0">
                <a:solidFill>
                  <a:schemeClr val="tx1">
                    <a:lumMod val="95000"/>
                    <a:lumOff val="5000"/>
                  </a:schemeClr>
                </a:solidFill>
                <a:latin typeface="华文细黑" panose="02010600040101010101" pitchFamily="2" charset="-122"/>
              </a:rPr>
              <a:t>所以，锁相环的输出信号相位与输入信号相位之比值是输入信号相位变化速率的函数，这就是锁相环的闭环相位传递函数</a:t>
            </a:r>
            <a:endParaRPr lang="en-US" altLang="zh-CN" sz="1800" dirty="0">
              <a:solidFill>
                <a:schemeClr val="tx1">
                  <a:lumMod val="95000"/>
                  <a:lumOff val="5000"/>
                </a:schemeClr>
              </a:solidFill>
              <a:latin typeface="华文细黑" panose="02010600040101010101" pitchFamily="2" charset="-122"/>
            </a:endParaRPr>
          </a:p>
          <a:p>
            <a:pPr>
              <a:lnSpc>
                <a:spcPct val="150000"/>
              </a:lnSpc>
            </a:pPr>
            <a:r>
              <a:rPr lang="zh-CN" altLang="en-US" sz="1800" dirty="0">
                <a:solidFill>
                  <a:srgbClr val="FF0000"/>
                </a:solidFill>
                <a:latin typeface="华文细黑" panose="02010600040101010101" pitchFamily="2" charset="-122"/>
              </a:rPr>
              <a:t>注意</a:t>
            </a:r>
            <a:r>
              <a:rPr lang="zh-CN" altLang="en-US" sz="1800" dirty="0">
                <a:solidFill>
                  <a:schemeClr val="tx1">
                    <a:lumMod val="95000"/>
                    <a:lumOff val="5000"/>
                  </a:schemeClr>
                </a:solidFill>
                <a:latin typeface="华文细黑" panose="02010600040101010101" pitchFamily="2" charset="-122"/>
              </a:rPr>
              <a:t>：上述传递函数中的自变量（频率）并非输入信号的频率，而是输入信号相位</a:t>
            </a:r>
            <a:r>
              <a:rPr lang="zh-CN" altLang="en-US" sz="1800" dirty="0" smtClean="0">
                <a:solidFill>
                  <a:schemeClr val="tx1">
                    <a:lumMod val="95000"/>
                    <a:lumOff val="5000"/>
                  </a:schemeClr>
                </a:solidFill>
                <a:latin typeface="华文细黑" panose="02010600040101010101" pitchFamily="2" charset="-122"/>
              </a:rPr>
              <a:t>变化（频率变化）的</a:t>
            </a:r>
            <a:r>
              <a:rPr lang="zh-CN" altLang="en-US" sz="1800" dirty="0">
                <a:solidFill>
                  <a:schemeClr val="tx1">
                    <a:lumMod val="95000"/>
                    <a:lumOff val="5000"/>
                  </a:schemeClr>
                </a:solidFill>
                <a:latin typeface="华文细黑" panose="02010600040101010101" pitchFamily="2" charset="-122"/>
              </a:rPr>
              <a:t>频率</a:t>
            </a:r>
            <a:r>
              <a:rPr lang="zh-CN" altLang="en-US" sz="1800" dirty="0" smtClean="0">
                <a:solidFill>
                  <a:schemeClr val="tx1">
                    <a:lumMod val="95000"/>
                    <a:lumOff val="5000"/>
                  </a:schemeClr>
                </a:solidFill>
                <a:latin typeface="华文细黑" panose="02010600040101010101" pitchFamily="2" charset="-122"/>
              </a:rPr>
              <a:t>。也就是调频或调相信号中调制</a:t>
            </a:r>
            <a:r>
              <a:rPr lang="zh-CN" altLang="en-US" sz="1800" dirty="0">
                <a:solidFill>
                  <a:schemeClr val="tx1">
                    <a:lumMod val="95000"/>
                    <a:lumOff val="5000"/>
                  </a:schemeClr>
                </a:solidFill>
                <a:latin typeface="华文细黑" panose="02010600040101010101" pitchFamily="2" charset="-122"/>
              </a:rPr>
              <a:t>信号的频率，而不是载波的频率</a:t>
            </a:r>
          </a:p>
        </p:txBody>
      </p:sp>
    </p:spTree>
    <p:extLst>
      <p:ext uri="{BB962C8B-B14F-4D97-AF65-F5344CB8AC3E}">
        <p14:creationId xmlns:p14="http://schemas.microsoft.com/office/powerpoint/2010/main" val="131526047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31</a:t>
            </a:fld>
            <a:endParaRPr lang="en-US" altLang="zh-CN">
              <a:solidFill>
                <a:srgbClr val="FFFFFF"/>
              </a:solidFill>
            </a:endParaRPr>
          </a:p>
        </p:txBody>
      </p:sp>
      <p:sp>
        <p:nvSpPr>
          <p:cNvPr id="6" name="文本框 5"/>
          <p:cNvSpPr txBox="1"/>
          <p:nvPr/>
        </p:nvSpPr>
        <p:spPr>
          <a:xfrm>
            <a:off x="624417" y="586787"/>
            <a:ext cx="4982483" cy="400110"/>
          </a:xfrm>
          <a:prstGeom prst="rect">
            <a:avLst/>
          </a:prstGeom>
          <a:noFill/>
        </p:spPr>
        <p:txBody>
          <a:bodyPr wrap="square" rtlCol="0">
            <a:spAutoFit/>
          </a:bodyPr>
          <a:lstStyle/>
          <a:p>
            <a:r>
              <a:rPr lang="zh-CN" altLang="en-US" dirty="0"/>
              <a:t>二阶锁相环</a:t>
            </a:r>
            <a:r>
              <a:rPr lang="zh-CN" altLang="en-US" dirty="0" smtClean="0"/>
              <a:t>闭环传递函数</a:t>
            </a:r>
            <a:r>
              <a:rPr lang="zh-CN" altLang="en-US" dirty="0"/>
              <a:t>的波德图</a:t>
            </a:r>
          </a:p>
        </p:txBody>
      </p:sp>
      <p:cxnSp>
        <p:nvCxnSpPr>
          <p:cNvPr id="8" name="直接连接符 7"/>
          <p:cNvCxnSpPr/>
          <p:nvPr/>
        </p:nvCxnSpPr>
        <p:spPr>
          <a:xfrm flipV="1">
            <a:off x="4069953" y="2739440"/>
            <a:ext cx="3473405" cy="26314"/>
          </a:xfrm>
          <a:prstGeom prst="line">
            <a:avLst/>
          </a:prstGeom>
          <a:ln w="19050">
            <a:solidFill>
              <a:srgbClr val="FF3300"/>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flipH="1">
            <a:off x="5504048" y="1622206"/>
            <a:ext cx="2244688" cy="111723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H="1">
            <a:off x="5727741" y="1622206"/>
            <a:ext cx="2063552" cy="114354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H="1">
            <a:off x="5961247" y="1680316"/>
            <a:ext cx="1784618" cy="108543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6451339" y="1680316"/>
            <a:ext cx="1362118" cy="108543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762649" y="1199773"/>
            <a:ext cx="1817066" cy="646331"/>
          </a:xfrm>
          <a:prstGeom prst="rect">
            <a:avLst/>
          </a:prstGeom>
          <a:noFill/>
        </p:spPr>
        <p:txBody>
          <a:bodyPr wrap="square" rtlCol="0">
            <a:spAutoFit/>
          </a:bodyPr>
          <a:lstStyle/>
          <a:p>
            <a:r>
              <a:rPr lang="zh-CN" altLang="en-US" sz="1800" dirty="0"/>
              <a:t>不同阻尼因子条件下的闭环带宽</a:t>
            </a:r>
          </a:p>
        </p:txBody>
      </p:sp>
      <p:sp>
        <p:nvSpPr>
          <p:cNvPr id="26" name="文本框 25"/>
          <p:cNvSpPr txBox="1"/>
          <p:nvPr/>
        </p:nvSpPr>
        <p:spPr>
          <a:xfrm>
            <a:off x="3842357" y="5350050"/>
            <a:ext cx="2522158" cy="369332"/>
          </a:xfrm>
          <a:prstGeom prst="rect">
            <a:avLst/>
          </a:prstGeom>
          <a:noFill/>
        </p:spPr>
        <p:txBody>
          <a:bodyPr wrap="square" rtlCol="0">
            <a:spAutoFit/>
          </a:bodyPr>
          <a:lstStyle/>
          <a:p>
            <a:r>
              <a:rPr lang="zh-CN" altLang="en-US" sz="1800" dirty="0" smtClean="0"/>
              <a:t>调制频率</a:t>
            </a:r>
            <a:r>
              <a:rPr lang="en-US" altLang="zh-CN" sz="1800" dirty="0" smtClean="0"/>
              <a:t>/</a:t>
            </a:r>
            <a:r>
              <a:rPr lang="zh-CN" altLang="en-US" sz="1800" dirty="0" smtClean="0"/>
              <a:t>自然频率</a:t>
            </a:r>
            <a:endParaRPr lang="zh-CN" altLang="en-US" sz="1800" dirty="0"/>
          </a:p>
        </p:txBody>
      </p:sp>
      <p:cxnSp>
        <p:nvCxnSpPr>
          <p:cNvPr id="27" name="直接箭头连接符 26"/>
          <p:cNvCxnSpPr/>
          <p:nvPr/>
        </p:nvCxnSpPr>
        <p:spPr>
          <a:xfrm flipH="1">
            <a:off x="5623819" y="1680316"/>
            <a:ext cx="2138830" cy="107049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rot="16200000">
            <a:off x="-101674" y="2754218"/>
            <a:ext cx="2611634" cy="369332"/>
          </a:xfrm>
          <a:prstGeom prst="rect">
            <a:avLst/>
          </a:prstGeom>
          <a:noFill/>
        </p:spPr>
        <p:txBody>
          <a:bodyPr wrap="square" rtlCol="0">
            <a:spAutoFit/>
          </a:bodyPr>
          <a:lstStyle/>
          <a:p>
            <a:r>
              <a:rPr lang="zh-CN" altLang="en-US" sz="1800" dirty="0" smtClean="0"/>
              <a:t>闭环传递函数</a:t>
            </a:r>
            <a:r>
              <a:rPr lang="zh-CN" altLang="en-US" sz="1800" dirty="0"/>
              <a:t>的模</a:t>
            </a:r>
          </a:p>
        </p:txBody>
      </p:sp>
      <p:graphicFrame>
        <p:nvGraphicFramePr>
          <p:cNvPr id="9" name="对象 8"/>
          <p:cNvGraphicFramePr>
            <a:graphicFrameLocks noChangeAspect="1"/>
          </p:cNvGraphicFramePr>
          <p:nvPr>
            <p:extLst>
              <p:ext uri="{D42A27DB-BD31-4B8C-83A1-F6EECF244321}">
                <p14:modId xmlns:p14="http://schemas.microsoft.com/office/powerpoint/2010/main" val="3182931061"/>
              </p:ext>
            </p:extLst>
          </p:nvPr>
        </p:nvGraphicFramePr>
        <p:xfrm>
          <a:off x="1580431" y="1633067"/>
          <a:ext cx="6070372" cy="3706122"/>
        </p:xfrm>
        <a:graphic>
          <a:graphicData uri="http://schemas.openxmlformats.org/presentationml/2006/ole">
            <mc:AlternateContent xmlns:mc="http://schemas.openxmlformats.org/markup-compatibility/2006">
              <mc:Choice xmlns:v="urn:schemas-microsoft-com:vml" Requires="v">
                <p:oleObj spid="_x0000_s44060" name="Visio" r:id="rId3" imgW="3013920" imgH="1842480" progId="Visio.Drawing.11">
                  <p:embed/>
                </p:oleObj>
              </mc:Choice>
              <mc:Fallback>
                <p:oleObj name="Visio" r:id="rId3" imgW="3013920" imgH="1842480"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0431" y="1633067"/>
                        <a:ext cx="6070372" cy="3706122"/>
                      </a:xfrm>
                      <a:prstGeom prst="rect">
                        <a:avLst/>
                      </a:prstGeom>
                      <a:noFill/>
                    </p:spPr>
                  </p:pic>
                </p:oleObj>
              </mc:Fallback>
            </mc:AlternateContent>
          </a:graphicData>
        </a:graphic>
      </p:graphicFrame>
      <p:sp>
        <p:nvSpPr>
          <p:cNvPr id="20" name="页脚占位符 2"/>
          <p:cNvSpPr>
            <a:spLocks noGrp="1"/>
          </p:cNvSpPr>
          <p:nvPr>
            <p:ph type="ftr" sz="quarter" idx="11"/>
          </p:nvPr>
        </p:nvSpPr>
        <p:spPr>
          <a:xfrm>
            <a:off x="4176185" y="6524626"/>
            <a:ext cx="4703233" cy="2524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1612554305"/>
              </p:ext>
            </p:extLst>
          </p:nvPr>
        </p:nvGraphicFramePr>
        <p:xfrm>
          <a:off x="8111533" y="2934928"/>
          <a:ext cx="3340100" cy="1492250"/>
        </p:xfrm>
        <a:graphic>
          <a:graphicData uri="http://schemas.openxmlformats.org/presentationml/2006/ole">
            <mc:AlternateContent xmlns:mc="http://schemas.openxmlformats.org/markup-compatibility/2006">
              <mc:Choice xmlns:v="urn:schemas-microsoft-com:vml" Requires="v">
                <p:oleObj spid="_x0000_s44061" name="Equation" r:id="rId5" imgW="1676160" imgH="749160" progId="Equation.DSMT4">
                  <p:embed/>
                </p:oleObj>
              </mc:Choice>
              <mc:Fallback>
                <p:oleObj name="Equation" r:id="rId5" imgW="1676160" imgH="749160" progId="Equation.DSMT4">
                  <p:embed/>
                  <p:pic>
                    <p:nvPicPr>
                      <p:cNvPr id="0" name="Object 4"/>
                      <p:cNvPicPr>
                        <a:picLocks noChangeAspect="1" noChangeArrowheads="1"/>
                      </p:cNvPicPr>
                      <p:nvPr/>
                    </p:nvPicPr>
                    <p:blipFill>
                      <a:blip r:embed="rId6"/>
                      <a:srcRect/>
                      <a:stretch>
                        <a:fillRect/>
                      </a:stretch>
                    </p:blipFill>
                    <p:spPr bwMode="auto">
                      <a:xfrm>
                        <a:off x="8111533" y="2934928"/>
                        <a:ext cx="3340100" cy="1492250"/>
                      </a:xfrm>
                      <a:prstGeom prst="rect">
                        <a:avLst/>
                      </a:prstGeom>
                      <a:noFill/>
                    </p:spPr>
                  </p:pic>
                </p:oleObj>
              </mc:Fallback>
            </mc:AlternateContent>
          </a:graphicData>
        </a:graphic>
      </p:graphicFrame>
    </p:spTree>
    <p:extLst>
      <p:ext uri="{BB962C8B-B14F-4D97-AF65-F5344CB8AC3E}">
        <p14:creationId xmlns:p14="http://schemas.microsoft.com/office/powerpoint/2010/main" val="3198229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2024/4/16</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32</a:t>
            </a:fld>
            <a:endParaRPr lang="en-US" altLang="zh-CN"/>
          </a:p>
        </p:txBody>
      </p:sp>
      <p:sp>
        <p:nvSpPr>
          <p:cNvPr id="6" name="文本框 5"/>
          <p:cNvSpPr txBox="1"/>
          <p:nvPr/>
        </p:nvSpPr>
        <p:spPr>
          <a:xfrm>
            <a:off x="457201" y="529407"/>
            <a:ext cx="11306628" cy="544764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a:latin typeface="华文细黑" panose="02010600040101010101" pitchFamily="2" charset="-122"/>
              </a:rPr>
              <a:t>闭环带宽 </a:t>
            </a:r>
            <a:r>
              <a:rPr lang="el-GR" altLang="zh-CN" i="1" dirty="0">
                <a:latin typeface="Times New Roman" panose="02020603050405020304" pitchFamily="18" charset="0"/>
                <a:cs typeface="Times New Roman" panose="02020603050405020304" pitchFamily="18" charset="0"/>
              </a:rPr>
              <a:t>ω</a:t>
            </a:r>
            <a:r>
              <a:rPr lang="en-US" altLang="zh-CN" baseline="-25000" dirty="0">
                <a:latin typeface="Times New Roman" panose="02020603050405020304" pitchFamily="18" charset="0"/>
                <a:cs typeface="Times New Roman" panose="02020603050405020304" pitchFamily="18" charset="0"/>
              </a:rPr>
              <a:t>-3dB  </a:t>
            </a:r>
            <a:r>
              <a:rPr lang="zh-CN" altLang="en-US" dirty="0">
                <a:latin typeface="Times New Roman" panose="02020603050405020304" pitchFamily="18" charset="0"/>
                <a:cs typeface="Times New Roman" panose="02020603050405020304" pitchFamily="18" charset="0"/>
              </a:rPr>
              <a:t>与二阶锁相环的自然频率 </a:t>
            </a:r>
            <a:r>
              <a:rPr lang="el-GR" altLang="zh-CN" i="1" dirty="0">
                <a:latin typeface="Times New Roman" panose="02020603050405020304" pitchFamily="18" charset="0"/>
                <a:cs typeface="Times New Roman" panose="02020603050405020304" pitchFamily="18" charset="0"/>
              </a:rPr>
              <a:t>ω</a:t>
            </a:r>
            <a:r>
              <a:rPr lang="en-US" altLang="zh-CN" i="1" baseline="-25000" dirty="0">
                <a:latin typeface="Times New Roman" panose="02020603050405020304" pitchFamily="18" charset="0"/>
                <a:cs typeface="Times New Roman" panose="02020603050405020304" pitchFamily="18" charset="0"/>
              </a:rPr>
              <a:t>n</a:t>
            </a:r>
            <a:endParaRPr lang="en-US" altLang="zh-CN" dirty="0">
              <a:latin typeface="华文细黑" panose="02010600040101010101" pitchFamily="2" charset="-122"/>
            </a:endParaRPr>
          </a:p>
          <a:p>
            <a:pPr marL="800100" lvl="1" indent="-342900">
              <a:lnSpc>
                <a:spcPct val="150000"/>
              </a:lnSpc>
              <a:buFont typeface="Arial" panose="020B0604020202020204" pitchFamily="34" charset="0"/>
              <a:buChar char="•"/>
            </a:pPr>
            <a:r>
              <a:rPr lang="zh-CN" altLang="en-US" sz="1800" dirty="0">
                <a:solidFill>
                  <a:schemeClr val="tx1">
                    <a:lumMod val="95000"/>
                    <a:lumOff val="5000"/>
                  </a:schemeClr>
                </a:solidFill>
                <a:latin typeface="华文细黑" panose="02010600040101010101" pitchFamily="2" charset="-122"/>
              </a:rPr>
              <a:t>反映锁相环输出对于输入信号</a:t>
            </a:r>
            <a:r>
              <a:rPr lang="zh-CN" altLang="en-US" sz="1800" dirty="0">
                <a:latin typeface="华文细黑" panose="02010600040101010101" pitchFamily="2" charset="-122"/>
              </a:rPr>
              <a:t>相位变化</a:t>
            </a:r>
            <a:r>
              <a:rPr lang="zh-CN" altLang="en-US" sz="1800" dirty="0">
                <a:solidFill>
                  <a:schemeClr val="tx1">
                    <a:lumMod val="95000"/>
                    <a:lumOff val="5000"/>
                  </a:schemeClr>
                </a:solidFill>
                <a:latin typeface="华文细黑" panose="02010600040101010101" pitchFamily="2" charset="-122"/>
              </a:rPr>
              <a:t>的跟踪范围</a:t>
            </a:r>
            <a:endParaRPr lang="en-US" altLang="zh-CN" sz="1800" dirty="0">
              <a:solidFill>
                <a:schemeClr val="tx1">
                  <a:lumMod val="95000"/>
                  <a:lumOff val="5000"/>
                </a:schemeClr>
              </a:solidFill>
              <a:latin typeface="华文细黑" panose="02010600040101010101" pitchFamily="2" charset="-122"/>
            </a:endParaRPr>
          </a:p>
          <a:p>
            <a:pPr marL="800100" lvl="1" indent="-342900">
              <a:lnSpc>
                <a:spcPct val="150000"/>
              </a:lnSpc>
              <a:buFont typeface="Arial" panose="020B0604020202020204" pitchFamily="34" charset="0"/>
              <a:buChar char="•"/>
            </a:pPr>
            <a:r>
              <a:rPr lang="zh-CN" altLang="en-US" sz="1800" dirty="0" smtClean="0">
                <a:solidFill>
                  <a:schemeClr val="tx1">
                    <a:lumMod val="95000"/>
                    <a:lumOff val="5000"/>
                  </a:schemeClr>
                </a:solidFill>
                <a:latin typeface="华文细黑" panose="02010600040101010101" pitchFamily="2" charset="-122"/>
              </a:rPr>
              <a:t>当闭环带宽</a:t>
            </a:r>
            <a:r>
              <a:rPr lang="zh-CN" altLang="en-US" sz="1800" dirty="0" smtClean="0">
                <a:latin typeface="华文细黑" panose="02010600040101010101" pitchFamily="2" charset="-122"/>
              </a:rPr>
              <a:t>远</a:t>
            </a:r>
            <a:r>
              <a:rPr lang="zh-CN" altLang="en-US" sz="1800" dirty="0" smtClean="0">
                <a:solidFill>
                  <a:schemeClr val="tx1">
                    <a:lumMod val="95000"/>
                    <a:lumOff val="5000"/>
                  </a:schemeClr>
                </a:solidFill>
                <a:latin typeface="华文细黑" panose="02010600040101010101" pitchFamily="2" charset="-122"/>
              </a:rPr>
              <a:t>高于</a:t>
            </a:r>
            <a:r>
              <a:rPr lang="zh-CN" altLang="en-US" sz="1800" dirty="0" smtClean="0">
                <a:latin typeface="华文细黑" panose="02010600040101010101" pitchFamily="2" charset="-122"/>
              </a:rPr>
              <a:t>相位</a:t>
            </a:r>
            <a:r>
              <a:rPr lang="zh-CN" altLang="en-US" sz="1800" dirty="0">
                <a:latin typeface="华文细黑" panose="02010600040101010101" pitchFamily="2" charset="-122"/>
              </a:rPr>
              <a:t>变化</a:t>
            </a:r>
            <a:r>
              <a:rPr lang="zh-CN" altLang="en-US" sz="1800" dirty="0" smtClean="0">
                <a:latin typeface="华文细黑" panose="02010600040101010101" pitchFamily="2" charset="-122"/>
              </a:rPr>
              <a:t>频率（调制频率）</a:t>
            </a:r>
            <a:r>
              <a:rPr lang="zh-CN" altLang="en-US" sz="1800" dirty="0" smtClean="0">
                <a:solidFill>
                  <a:schemeClr val="tx1">
                    <a:lumMod val="95000"/>
                    <a:lumOff val="5000"/>
                  </a:schemeClr>
                </a:solidFill>
                <a:latin typeface="华文细黑" panose="02010600040101010101" pitchFamily="2" charset="-122"/>
              </a:rPr>
              <a:t>时</a:t>
            </a:r>
            <a:r>
              <a:rPr lang="zh-CN" altLang="en-US" sz="1800" dirty="0">
                <a:solidFill>
                  <a:schemeClr val="tx1">
                    <a:lumMod val="95000"/>
                    <a:lumOff val="5000"/>
                  </a:schemeClr>
                </a:solidFill>
                <a:latin typeface="华文细黑" panose="02010600040101010101" pitchFamily="2" charset="-122"/>
              </a:rPr>
              <a:t>，输出信号的</a:t>
            </a:r>
            <a:r>
              <a:rPr lang="zh-CN" altLang="en-US" sz="1800" dirty="0" smtClean="0">
                <a:solidFill>
                  <a:schemeClr val="tx1">
                    <a:lumMod val="95000"/>
                    <a:lumOff val="5000"/>
                  </a:schemeClr>
                </a:solidFill>
                <a:latin typeface="华文细黑" panose="02010600040101010101" pitchFamily="2" charset="-122"/>
              </a:rPr>
              <a:t>相位（频率）变化跟随</a:t>
            </a:r>
            <a:r>
              <a:rPr lang="zh-CN" altLang="en-US" sz="1800" dirty="0">
                <a:solidFill>
                  <a:schemeClr val="tx1">
                    <a:lumMod val="95000"/>
                    <a:lumOff val="5000"/>
                  </a:schemeClr>
                </a:solidFill>
                <a:latin typeface="华文细黑" panose="02010600040101010101" pitchFamily="2" charset="-122"/>
              </a:rPr>
              <a:t>输入信号</a:t>
            </a:r>
            <a:r>
              <a:rPr lang="zh-CN" altLang="en-US" sz="1800" dirty="0" smtClean="0">
                <a:solidFill>
                  <a:schemeClr val="tx1">
                    <a:lumMod val="95000"/>
                    <a:lumOff val="5000"/>
                  </a:schemeClr>
                </a:solidFill>
                <a:latin typeface="华文细黑" panose="02010600040101010101" pitchFamily="2" charset="-122"/>
              </a:rPr>
              <a:t>的变化。这种工作模式称为</a:t>
            </a:r>
            <a:r>
              <a:rPr lang="zh-CN" altLang="en-US" sz="1800" dirty="0" smtClean="0">
                <a:solidFill>
                  <a:srgbClr val="FF0000"/>
                </a:solidFill>
                <a:latin typeface="华文细黑" panose="02010600040101010101" pitchFamily="2" charset="-122"/>
              </a:rPr>
              <a:t>调制跟踪型</a:t>
            </a:r>
            <a:r>
              <a:rPr lang="zh-CN" altLang="en-US" sz="1800" dirty="0" smtClean="0">
                <a:solidFill>
                  <a:schemeClr val="tx1">
                    <a:lumMod val="95000"/>
                    <a:lumOff val="5000"/>
                  </a:schemeClr>
                </a:solidFill>
                <a:latin typeface="华文细黑" panose="02010600040101010101" pitchFamily="2" charset="-122"/>
              </a:rPr>
              <a:t>锁相环</a:t>
            </a:r>
            <a:endParaRPr lang="en-US" altLang="zh-CN" sz="1800" dirty="0" smtClean="0">
              <a:solidFill>
                <a:schemeClr val="tx1">
                  <a:lumMod val="95000"/>
                  <a:lumOff val="5000"/>
                </a:schemeClr>
              </a:solidFill>
              <a:latin typeface="华文细黑" panose="02010600040101010101" pitchFamily="2" charset="-122"/>
            </a:endParaRPr>
          </a:p>
          <a:p>
            <a:pPr marL="800100" lvl="1" indent="-342900">
              <a:lnSpc>
                <a:spcPct val="150000"/>
              </a:lnSpc>
              <a:buFont typeface="Arial" panose="020B0604020202020204" pitchFamily="34" charset="0"/>
              <a:buChar char="•"/>
            </a:pPr>
            <a:r>
              <a:rPr lang="zh-CN" altLang="en-US" sz="1800" dirty="0" smtClean="0">
                <a:latin typeface="华文细黑" panose="02010600040101010101" pitchFamily="2" charset="-122"/>
              </a:rPr>
              <a:t>当</a:t>
            </a:r>
            <a:r>
              <a:rPr lang="zh-CN" altLang="en-US" sz="1800" dirty="0">
                <a:solidFill>
                  <a:schemeClr val="tx1">
                    <a:lumMod val="95000"/>
                    <a:lumOff val="5000"/>
                  </a:schemeClr>
                </a:solidFill>
                <a:latin typeface="华文细黑" panose="02010600040101010101" pitchFamily="2" charset="-122"/>
              </a:rPr>
              <a:t>闭环</a:t>
            </a:r>
            <a:r>
              <a:rPr lang="zh-CN" altLang="en-US" sz="1800" dirty="0" smtClean="0">
                <a:solidFill>
                  <a:schemeClr val="tx1">
                    <a:lumMod val="95000"/>
                    <a:lumOff val="5000"/>
                  </a:schemeClr>
                </a:solidFill>
                <a:latin typeface="华文细黑" panose="02010600040101010101" pitchFamily="2" charset="-122"/>
              </a:rPr>
              <a:t>带宽远低于</a:t>
            </a:r>
            <a:r>
              <a:rPr lang="zh-CN" altLang="en-US" sz="1800" dirty="0" smtClean="0">
                <a:latin typeface="华文细黑" panose="02010600040101010101" pitchFamily="2" charset="-122"/>
              </a:rPr>
              <a:t>相位</a:t>
            </a:r>
            <a:r>
              <a:rPr lang="zh-CN" altLang="en-US" sz="1800" dirty="0">
                <a:latin typeface="华文细黑" panose="02010600040101010101" pitchFamily="2" charset="-122"/>
              </a:rPr>
              <a:t>变化频率（调制频率</a:t>
            </a:r>
            <a:r>
              <a:rPr lang="zh-CN" altLang="en-US" sz="1800" dirty="0" smtClean="0">
                <a:latin typeface="华文细黑" panose="02010600040101010101" pitchFamily="2" charset="-122"/>
              </a:rPr>
              <a:t>）</a:t>
            </a:r>
            <a:r>
              <a:rPr lang="zh-CN" altLang="en-US" sz="1800" dirty="0" smtClean="0">
                <a:solidFill>
                  <a:schemeClr val="tx1">
                    <a:lumMod val="95000"/>
                    <a:lumOff val="5000"/>
                  </a:schemeClr>
                </a:solidFill>
                <a:latin typeface="华文细黑" panose="02010600040101010101" pitchFamily="2" charset="-122"/>
              </a:rPr>
              <a:t>时，由于输出信号</a:t>
            </a:r>
            <a:r>
              <a:rPr lang="zh-CN" altLang="en-US" sz="1800" dirty="0">
                <a:solidFill>
                  <a:schemeClr val="tx1">
                    <a:lumMod val="95000"/>
                    <a:lumOff val="5000"/>
                  </a:schemeClr>
                </a:solidFill>
                <a:latin typeface="华文细黑" panose="02010600040101010101" pitchFamily="2" charset="-122"/>
              </a:rPr>
              <a:t>的相位</a:t>
            </a:r>
            <a:r>
              <a:rPr lang="zh-CN" altLang="en-US" sz="1800" dirty="0" smtClean="0">
                <a:solidFill>
                  <a:schemeClr val="tx1">
                    <a:lumMod val="95000"/>
                    <a:lumOff val="5000"/>
                  </a:schemeClr>
                </a:solidFill>
                <a:latin typeface="华文细黑" panose="02010600040101010101" pitchFamily="2" charset="-122"/>
              </a:rPr>
              <a:t>变化按照</a:t>
            </a:r>
            <a:r>
              <a:rPr lang="en-US" altLang="zh-CN" sz="1800" dirty="0">
                <a:solidFill>
                  <a:schemeClr val="tx1">
                    <a:lumMod val="95000"/>
                    <a:lumOff val="5000"/>
                  </a:schemeClr>
                </a:solidFill>
                <a:latin typeface="华文细黑" panose="02010600040101010101" pitchFamily="2" charset="-122"/>
              </a:rPr>
              <a:t>20dB/</a:t>
            </a:r>
            <a:r>
              <a:rPr lang="zh-CN" altLang="en-US" sz="1800" dirty="0">
                <a:solidFill>
                  <a:schemeClr val="tx1">
                    <a:lumMod val="95000"/>
                    <a:lumOff val="5000"/>
                  </a:schemeClr>
                </a:solidFill>
                <a:latin typeface="华文细黑" panose="02010600040101010101" pitchFamily="2" charset="-122"/>
              </a:rPr>
              <a:t>十</a:t>
            </a:r>
            <a:r>
              <a:rPr lang="zh-CN" altLang="en-US" sz="1800" dirty="0" smtClean="0">
                <a:solidFill>
                  <a:schemeClr val="tx1">
                    <a:lumMod val="95000"/>
                    <a:lumOff val="5000"/>
                  </a:schemeClr>
                </a:solidFill>
                <a:latin typeface="华文细黑" panose="02010600040101010101" pitchFamily="2" charset="-122"/>
              </a:rPr>
              <a:t>倍频程下降，所以实际的输出信号相位几乎保持不变。在这种模式下工作的是</a:t>
            </a:r>
            <a:r>
              <a:rPr lang="zh-CN" altLang="en-US" sz="1800" dirty="0" smtClean="0">
                <a:solidFill>
                  <a:srgbClr val="FF0000"/>
                </a:solidFill>
                <a:latin typeface="华文细黑" panose="02010600040101010101" pitchFamily="2" charset="-122"/>
              </a:rPr>
              <a:t>载波跟踪型</a:t>
            </a:r>
            <a:r>
              <a:rPr lang="zh-CN" altLang="en-US" sz="1800" dirty="0" smtClean="0">
                <a:solidFill>
                  <a:schemeClr val="tx1">
                    <a:lumMod val="95000"/>
                    <a:lumOff val="5000"/>
                  </a:schemeClr>
                </a:solidFill>
                <a:latin typeface="华文细黑" panose="02010600040101010101" pitchFamily="2" charset="-122"/>
              </a:rPr>
              <a:t>锁相环</a:t>
            </a:r>
            <a:endParaRPr lang="en-US" altLang="zh-CN" sz="1800" dirty="0">
              <a:solidFill>
                <a:schemeClr val="tx1">
                  <a:lumMod val="95000"/>
                  <a:lumOff val="5000"/>
                </a:schemeClr>
              </a:solidFill>
              <a:latin typeface="华文细黑" panose="02010600040101010101" pitchFamily="2" charset="-122"/>
            </a:endParaRPr>
          </a:p>
          <a:p>
            <a:pPr marL="742950" lvl="1" indent="-285750">
              <a:lnSpc>
                <a:spcPct val="150000"/>
              </a:lnSpc>
              <a:buFont typeface="Arial" panose="020B0604020202020204" pitchFamily="34" charset="0"/>
              <a:buChar char="•"/>
            </a:pPr>
            <a:r>
              <a:rPr lang="zh-CN" altLang="en-US" sz="1800" dirty="0">
                <a:solidFill>
                  <a:schemeClr val="tx1">
                    <a:lumMod val="95000"/>
                    <a:lumOff val="5000"/>
                  </a:schemeClr>
                </a:solidFill>
                <a:latin typeface="Times New Roman" panose="02020603050405020304" pitchFamily="18" charset="0"/>
                <a:cs typeface="Times New Roman" panose="02020603050405020304" pitchFamily="18" charset="0"/>
              </a:rPr>
              <a:t>在二阶锁相环中，当 </a:t>
            </a: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en-US" altLang="zh-CN" sz="1800" dirty="0">
                <a:latin typeface="+mn-lt"/>
              </a:rPr>
              <a:t>=0.7 </a:t>
            </a:r>
            <a:r>
              <a:rPr lang="zh-CN" altLang="en-US" sz="1800" dirty="0"/>
              <a:t>时 </a:t>
            </a:r>
            <a:r>
              <a:rPr lang="el-GR" altLang="zh-CN" sz="1800" i="1" dirty="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baseline="-25000" dirty="0">
                <a:solidFill>
                  <a:schemeClr val="tx1">
                    <a:lumMod val="95000"/>
                    <a:lumOff val="5000"/>
                  </a:schemeClr>
                </a:solidFill>
                <a:latin typeface="Times New Roman" panose="02020603050405020304" pitchFamily="18" charset="0"/>
                <a:cs typeface="Times New Roman" panose="02020603050405020304" pitchFamily="18" charset="0"/>
              </a:rPr>
              <a:t>-3dB</a:t>
            </a:r>
            <a:r>
              <a:rPr lang="zh-CN" altLang="en-US" sz="18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CN" sz="1800" dirty="0">
                <a:solidFill>
                  <a:schemeClr val="tx1">
                    <a:lumMod val="95000"/>
                    <a:lumOff val="5000"/>
                  </a:schemeClr>
                </a:solidFill>
                <a:latin typeface="Times New Roman" panose="02020603050405020304" pitchFamily="18" charset="0"/>
                <a:cs typeface="Times New Roman" panose="02020603050405020304" pitchFamily="18" charset="0"/>
              </a:rPr>
              <a:t>2</a:t>
            </a:r>
            <a:r>
              <a:rPr lang="el-GR" altLang="zh-CN" sz="1800" i="1" dirty="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i="1" baseline="-25000" dirty="0" smtClean="0">
                <a:solidFill>
                  <a:schemeClr val="tx1">
                    <a:lumMod val="95000"/>
                    <a:lumOff val="5000"/>
                  </a:schemeClr>
                </a:solidFill>
                <a:latin typeface="Times New Roman" panose="02020603050405020304" pitchFamily="18" charset="0"/>
                <a:cs typeface="Times New Roman" panose="02020603050405020304" pitchFamily="18" charset="0"/>
              </a:rPr>
              <a:t>n</a:t>
            </a:r>
          </a:p>
          <a:p>
            <a:pPr marL="742950" lvl="1" indent="-285750">
              <a:lnSpc>
                <a:spcPct val="150000"/>
              </a:lnSpc>
              <a:buFont typeface="Arial" panose="020B0604020202020204" pitchFamily="34" charset="0"/>
              <a:buChar char="•"/>
            </a:pPr>
            <a:endParaRPr lang="en-US" altLang="zh-CN" sz="1800" i="1" baseline="-250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zh-CN" altLang="en-US" dirty="0"/>
              <a:t>阻尼因子 </a:t>
            </a:r>
            <a:r>
              <a:rPr lang="el-GR" altLang="zh-CN" i="1" dirty="0">
                <a:latin typeface="Times New Roman" panose="02020603050405020304" pitchFamily="18" charset="0"/>
                <a:cs typeface="Times New Roman" panose="02020603050405020304" pitchFamily="18" charset="0"/>
              </a:rPr>
              <a:t>ζ</a:t>
            </a:r>
            <a:endParaRPr lang="en-US" altLang="zh-CN" i="1" dirty="0"/>
          </a:p>
          <a:p>
            <a:pPr marL="800100" lvl="1" indent="-342900">
              <a:lnSpc>
                <a:spcPct val="150000"/>
              </a:lnSpc>
              <a:buFont typeface="Arial" panose="020B0604020202020204" pitchFamily="34" charset="0"/>
              <a:buChar char="•"/>
            </a:pPr>
            <a:r>
              <a:rPr lang="zh-CN" altLang="en-US" sz="1800" dirty="0"/>
              <a:t>反映二阶锁相环中系统对于自由振荡（自激）的阻尼程度，即系统的稳定程度</a:t>
            </a:r>
            <a:endParaRPr lang="en-US" altLang="zh-CN" sz="1800" dirty="0"/>
          </a:p>
          <a:p>
            <a:pPr marL="800100" lvl="1" indent="-342900">
              <a:lnSpc>
                <a:spcPct val="150000"/>
              </a:lnSpc>
              <a:buFont typeface="Arial" panose="020B0604020202020204" pitchFamily="34" charset="0"/>
              <a:buChar char="•"/>
            </a:pP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zh-CN" altLang="en-US" sz="1800" dirty="0"/>
              <a:t>等于</a:t>
            </a:r>
            <a:r>
              <a:rPr lang="en-US" altLang="zh-CN" sz="1800" dirty="0"/>
              <a:t>1</a:t>
            </a:r>
            <a:r>
              <a:rPr lang="zh-CN" altLang="en-US" sz="1800" dirty="0"/>
              <a:t>时称为临界阻尼，</a:t>
            </a:r>
            <a:r>
              <a:rPr lang="el-GR" altLang="zh-CN" sz="1800" i="1" dirty="0">
                <a:latin typeface="Times New Roman" panose="02020603050405020304" pitchFamily="18" charset="0"/>
                <a:cs typeface="Times New Roman" panose="02020603050405020304" pitchFamily="18" charset="0"/>
              </a:rPr>
              <a:t> ζ</a:t>
            </a:r>
            <a:r>
              <a:rPr lang="en-US" altLang="zh-CN" sz="1800" i="1" dirty="0">
                <a:latin typeface="Times New Roman" panose="02020603050405020304" pitchFamily="18" charset="0"/>
                <a:cs typeface="Times New Roman" panose="02020603050405020304" pitchFamily="18" charset="0"/>
              </a:rPr>
              <a:t> </a:t>
            </a:r>
            <a:r>
              <a:rPr lang="zh-CN" altLang="en-US" sz="1800" dirty="0"/>
              <a:t>大于</a:t>
            </a:r>
            <a:r>
              <a:rPr lang="en-US" altLang="zh-CN" sz="1800" dirty="0"/>
              <a:t>1</a:t>
            </a:r>
            <a:r>
              <a:rPr lang="zh-CN" altLang="en-US" sz="1800" dirty="0"/>
              <a:t>时称为过阻尼，</a:t>
            </a: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zh-CN" altLang="en-US" sz="1800" dirty="0"/>
              <a:t>等于</a:t>
            </a:r>
            <a:r>
              <a:rPr lang="en-US" altLang="zh-CN" sz="1800" dirty="0"/>
              <a:t>0~1</a:t>
            </a:r>
            <a:r>
              <a:rPr lang="zh-CN" altLang="en-US" sz="1800" dirty="0"/>
              <a:t>之间时称为欠阻尼</a:t>
            </a:r>
            <a:endParaRPr lang="en-US" altLang="zh-CN" sz="1800" dirty="0"/>
          </a:p>
          <a:p>
            <a:pPr marL="800100" lvl="1" indent="-342900">
              <a:lnSpc>
                <a:spcPct val="150000"/>
              </a:lnSpc>
              <a:buFont typeface="Arial" panose="020B0604020202020204" pitchFamily="34" charset="0"/>
              <a:buChar char="•"/>
            </a:pPr>
            <a:r>
              <a:rPr lang="el-GR" altLang="zh-CN" sz="1800" i="1" dirty="0">
                <a:latin typeface="Times New Roman" panose="02020603050405020304" pitchFamily="18" charset="0"/>
                <a:cs typeface="Times New Roman" panose="02020603050405020304" pitchFamily="18" charset="0"/>
              </a:rPr>
              <a:t> </a:t>
            </a:r>
            <a:r>
              <a:rPr lang="zh-CN" altLang="en-US" sz="1800" dirty="0" smtClean="0">
                <a:latin typeface="Times New Roman" panose="02020603050405020304" pitchFamily="18" charset="0"/>
                <a:cs typeface="Times New Roman" panose="02020603050405020304" pitchFamily="18" charset="0"/>
              </a:rPr>
              <a:t>欠阻尼状态下</a:t>
            </a:r>
            <a:r>
              <a:rPr lang="zh-CN" altLang="en-US" sz="1800" dirty="0" smtClean="0"/>
              <a:t>系统稳定性较差，过阻尼</a:t>
            </a:r>
            <a:r>
              <a:rPr lang="zh-CN" altLang="en-US" sz="1800" dirty="0"/>
              <a:t>状态下系统的反应迟钝</a:t>
            </a:r>
            <a:endParaRPr lang="en-US" altLang="zh-CN" sz="1800" dirty="0"/>
          </a:p>
          <a:p>
            <a:pPr marL="800100" lvl="1" indent="-342900">
              <a:lnSpc>
                <a:spcPct val="150000"/>
              </a:lnSpc>
              <a:buFont typeface="Arial" panose="020B0604020202020204" pitchFamily="34" charset="0"/>
              <a:buChar char="•"/>
            </a:pPr>
            <a:r>
              <a:rPr lang="zh-CN" altLang="en-US" sz="1800" dirty="0"/>
              <a:t>通常令</a:t>
            </a:r>
            <a:r>
              <a:rPr lang="el-GR" altLang="zh-CN" sz="1800" i="1" dirty="0">
                <a:latin typeface="Times New Roman" panose="02020603050405020304" pitchFamily="18" charset="0"/>
                <a:cs typeface="Times New Roman" panose="02020603050405020304" pitchFamily="18" charset="0"/>
              </a:rPr>
              <a:t>ζ</a:t>
            </a:r>
            <a:r>
              <a:rPr lang="en-US" altLang="zh-CN" sz="1800" i="1" dirty="0">
                <a:latin typeface="Times New Roman" panose="02020603050405020304" pitchFamily="18" charset="0"/>
                <a:cs typeface="Times New Roman" panose="02020603050405020304" pitchFamily="18" charset="0"/>
              </a:rPr>
              <a:t> </a:t>
            </a:r>
            <a:r>
              <a:rPr lang="zh-CN" altLang="en-US" sz="1800" dirty="0" smtClean="0"/>
              <a:t>在</a:t>
            </a:r>
            <a:r>
              <a:rPr lang="en-US" altLang="zh-CN" sz="1800" dirty="0" smtClean="0"/>
              <a:t>0.5~1</a:t>
            </a:r>
            <a:r>
              <a:rPr lang="zh-CN" altLang="en-US" sz="1800" dirty="0" smtClean="0"/>
              <a:t>范围内，以</a:t>
            </a:r>
            <a:r>
              <a:rPr lang="zh-CN" altLang="en-US" sz="1800" dirty="0"/>
              <a:t>获得稳定性与快速性的</a:t>
            </a:r>
            <a:r>
              <a:rPr lang="zh-CN" altLang="en-US" sz="1800" dirty="0" smtClean="0"/>
              <a:t>平衡</a:t>
            </a:r>
            <a:endParaRPr lang="en-US" altLang="zh-CN" sz="1800" dirty="0"/>
          </a:p>
        </p:txBody>
      </p:sp>
    </p:spTree>
    <p:extLst>
      <p:ext uri="{BB962C8B-B14F-4D97-AF65-F5344CB8AC3E}">
        <p14:creationId xmlns:p14="http://schemas.microsoft.com/office/powerpoint/2010/main" val="5516048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33</a:t>
            </a:fld>
            <a:endParaRPr lang="en-US" altLang="zh-CN">
              <a:solidFill>
                <a:srgbClr val="FFFFFF"/>
              </a:solidFill>
            </a:endParaRPr>
          </a:p>
        </p:txBody>
      </p:sp>
      <p:sp>
        <p:nvSpPr>
          <p:cNvPr id="5" name="文本框 4"/>
          <p:cNvSpPr txBox="1"/>
          <p:nvPr/>
        </p:nvSpPr>
        <p:spPr>
          <a:xfrm>
            <a:off x="500443" y="591594"/>
            <a:ext cx="11321142" cy="38779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smtClean="0">
                <a:latin typeface="+mn-ea"/>
                <a:ea typeface="+mn-ea"/>
              </a:rPr>
              <a:t>二阶锁相环</a:t>
            </a:r>
            <a:r>
              <a:rPr lang="zh-CN" altLang="en-US" dirty="0">
                <a:latin typeface="+mn-ea"/>
                <a:ea typeface="+mn-ea"/>
              </a:rPr>
              <a:t>的参数与环路滤波器参数的关系</a:t>
            </a:r>
            <a:endParaRPr lang="en-US" altLang="zh-CN" sz="2800" dirty="0">
              <a:latin typeface="+mn-ea"/>
              <a:ea typeface="+mn-ea"/>
            </a:endParaRPr>
          </a:p>
          <a:p>
            <a:pPr lvl="1">
              <a:lnSpc>
                <a:spcPct val="150000"/>
              </a:lnSpc>
            </a:pPr>
            <a:endParaRPr lang="en-US" altLang="zh-CN" sz="1800" dirty="0" smtClean="0">
              <a:latin typeface="+mn-ea"/>
              <a:ea typeface="+mn-ea"/>
            </a:endParaRPr>
          </a:p>
          <a:p>
            <a:pPr lvl="1">
              <a:lnSpc>
                <a:spcPct val="150000"/>
              </a:lnSpc>
            </a:pPr>
            <a:r>
              <a:rPr lang="zh-CN" altLang="en-US" sz="1800" dirty="0" smtClean="0"/>
              <a:t>采用超前</a:t>
            </a:r>
            <a:r>
              <a:rPr lang="en-US" altLang="zh-CN" sz="1800" dirty="0" smtClean="0"/>
              <a:t>-</a:t>
            </a:r>
            <a:r>
              <a:rPr lang="zh-CN" altLang="en-US" sz="1800" dirty="0" smtClean="0"/>
              <a:t>滞后滤波器：</a:t>
            </a:r>
            <a:endParaRPr lang="en-US" altLang="zh-CN" sz="1800" dirty="0" smtClean="0"/>
          </a:p>
          <a:p>
            <a:pPr lvl="1">
              <a:lnSpc>
                <a:spcPct val="150000"/>
              </a:lnSpc>
            </a:pPr>
            <a:endParaRPr lang="en-US" altLang="zh-CN" sz="1800" dirty="0"/>
          </a:p>
          <a:p>
            <a:pPr lvl="1">
              <a:lnSpc>
                <a:spcPct val="150000"/>
              </a:lnSpc>
            </a:pPr>
            <a:endParaRPr lang="en-US" altLang="zh-CN" sz="1800" dirty="0"/>
          </a:p>
          <a:p>
            <a:pPr lvl="1">
              <a:lnSpc>
                <a:spcPct val="150000"/>
              </a:lnSpc>
            </a:pPr>
            <a:r>
              <a:rPr lang="zh-CN" altLang="en-US" sz="1800" dirty="0"/>
              <a:t>采用比例积分滤波器：</a:t>
            </a:r>
            <a:endParaRPr lang="en-US" altLang="zh-CN" sz="1800" dirty="0"/>
          </a:p>
          <a:p>
            <a:pPr lvl="1">
              <a:lnSpc>
                <a:spcPct val="150000"/>
              </a:lnSpc>
            </a:pPr>
            <a:endParaRPr lang="en-US" altLang="zh-CN" sz="1800" dirty="0"/>
          </a:p>
          <a:p>
            <a:pPr lvl="1">
              <a:lnSpc>
                <a:spcPct val="150000"/>
              </a:lnSpc>
            </a:pPr>
            <a:r>
              <a:rPr lang="zh-CN" altLang="en-US" sz="1800" dirty="0" smtClean="0"/>
              <a:t>其中</a:t>
            </a:r>
            <a:r>
              <a:rPr lang="en-US" altLang="zh-CN" sz="1800" i="1" dirty="0">
                <a:latin typeface="+mn-lt"/>
              </a:rPr>
              <a:t>K</a:t>
            </a:r>
            <a:r>
              <a:rPr lang="en-US" altLang="zh-CN" sz="1800" dirty="0">
                <a:latin typeface="+mn-lt"/>
              </a:rPr>
              <a:t>=</a:t>
            </a:r>
            <a:r>
              <a:rPr lang="en-US" altLang="zh-CN" sz="1800" i="1" dirty="0" err="1">
                <a:latin typeface="+mn-lt"/>
              </a:rPr>
              <a:t>K</a:t>
            </a:r>
            <a:r>
              <a:rPr lang="en-US" altLang="zh-CN" sz="1800" i="1" baseline="-25000" dirty="0" err="1">
                <a:latin typeface="+mn-lt"/>
              </a:rPr>
              <a:t>d</a:t>
            </a:r>
            <a:r>
              <a:rPr lang="en-US" altLang="zh-CN" sz="1800" i="1" dirty="0" err="1">
                <a:latin typeface="+mn-lt"/>
              </a:rPr>
              <a:t>K</a:t>
            </a:r>
            <a:r>
              <a:rPr lang="en-US" altLang="zh-CN" sz="1800" i="1" baseline="-25000" dirty="0" err="1">
                <a:latin typeface="+mn-lt"/>
              </a:rPr>
              <a:t>o</a:t>
            </a:r>
            <a:r>
              <a:rPr lang="en-US" altLang="zh-CN" sz="1800" dirty="0">
                <a:latin typeface="+mn-lt"/>
              </a:rPr>
              <a:t>/</a:t>
            </a:r>
            <a:r>
              <a:rPr lang="en-US" altLang="zh-CN" sz="1800" i="1" dirty="0">
                <a:latin typeface="+mn-lt"/>
              </a:rPr>
              <a:t>N</a:t>
            </a:r>
            <a:r>
              <a:rPr lang="zh-CN" altLang="en-US" sz="1800" dirty="0"/>
              <a:t>，</a:t>
            </a:r>
            <a:r>
              <a:rPr lang="en-US" altLang="zh-CN" sz="1800" i="1" dirty="0">
                <a:latin typeface="+mn-lt"/>
              </a:rPr>
              <a:t>N</a:t>
            </a:r>
            <a:r>
              <a:rPr lang="zh-CN" altLang="en-US" sz="1800" dirty="0"/>
              <a:t>为反馈回路中的分频系数（没有分频器则</a:t>
            </a:r>
            <a:r>
              <a:rPr lang="en-US" altLang="zh-CN" sz="1800" i="1" dirty="0">
                <a:latin typeface="+mn-lt"/>
              </a:rPr>
              <a:t>N</a:t>
            </a:r>
            <a:r>
              <a:rPr lang="en-US" altLang="zh-CN" sz="1800" dirty="0">
                <a:latin typeface="+mn-lt"/>
              </a:rPr>
              <a:t>=1</a:t>
            </a:r>
            <a:r>
              <a:rPr lang="zh-CN" altLang="en-US" sz="1800" dirty="0"/>
              <a:t>）</a:t>
            </a:r>
            <a:endParaRPr lang="en-US" altLang="zh-CN" sz="1800" dirty="0"/>
          </a:p>
          <a:p>
            <a:pPr lvl="1">
              <a:lnSpc>
                <a:spcPct val="150000"/>
              </a:lnSpc>
            </a:pPr>
            <a:r>
              <a:rPr lang="zh-CN" altLang="en-US" sz="1800" dirty="0"/>
              <a:t>在</a:t>
            </a:r>
            <a:r>
              <a:rPr lang="en-US" altLang="zh-CN" sz="1800" i="1" dirty="0">
                <a:latin typeface="+mn-lt"/>
              </a:rPr>
              <a:t>R</a:t>
            </a:r>
            <a:r>
              <a:rPr lang="en-US" altLang="zh-CN" sz="1800" baseline="-25000" dirty="0">
                <a:latin typeface="+mn-lt"/>
              </a:rPr>
              <a:t>2</a:t>
            </a:r>
            <a:r>
              <a:rPr lang="en-US" altLang="zh-CN" sz="1800" dirty="0">
                <a:latin typeface="+mn-lt"/>
              </a:rPr>
              <a:t>&lt;&lt;</a:t>
            </a:r>
            <a:r>
              <a:rPr lang="en-US" altLang="zh-CN" sz="1800" i="1" dirty="0">
                <a:latin typeface="+mn-lt"/>
              </a:rPr>
              <a:t>R</a:t>
            </a:r>
            <a:r>
              <a:rPr lang="en-US" altLang="zh-CN" sz="1800" baseline="-25000" dirty="0">
                <a:latin typeface="+mn-lt"/>
              </a:rPr>
              <a:t>1</a:t>
            </a:r>
            <a:r>
              <a:rPr lang="zh-CN" altLang="zh-CN" sz="1800" dirty="0">
                <a:latin typeface="+mn-lt"/>
              </a:rPr>
              <a:t>，</a:t>
            </a:r>
            <a:r>
              <a:rPr lang="en-US" altLang="zh-CN" sz="1800" i="1" dirty="0">
                <a:latin typeface="+mn-lt"/>
              </a:rPr>
              <a:t>K</a:t>
            </a:r>
            <a:r>
              <a:rPr lang="en-US" altLang="zh-CN" sz="1800" dirty="0">
                <a:latin typeface="+mn-lt"/>
              </a:rPr>
              <a:t>&gt;&gt;</a:t>
            </a:r>
            <a:r>
              <a:rPr lang="en-US" altLang="zh-CN" sz="1800" i="1" dirty="0" err="1">
                <a:latin typeface="+mn-lt"/>
              </a:rPr>
              <a:t>ω</a:t>
            </a:r>
            <a:r>
              <a:rPr lang="en-US" altLang="zh-CN" sz="1800" i="1" baseline="-25000" dirty="0" err="1">
                <a:latin typeface="+mn-lt"/>
              </a:rPr>
              <a:t>n</a:t>
            </a:r>
            <a:r>
              <a:rPr lang="zh-CN" altLang="zh-CN" sz="1800" dirty="0"/>
              <a:t>条件下</a:t>
            </a:r>
            <a:r>
              <a:rPr lang="zh-CN" altLang="en-US" sz="1800" dirty="0"/>
              <a:t>（大部分集成锁相环满足此条件）</a:t>
            </a:r>
            <a:endParaRPr lang="en-US" altLang="zh-CN" sz="1800" dirty="0"/>
          </a:p>
        </p:txBody>
      </p:sp>
      <p:graphicFrame>
        <p:nvGraphicFramePr>
          <p:cNvPr id="7" name="对象 6"/>
          <p:cNvGraphicFramePr>
            <a:graphicFrameLocks noChangeAspect="1"/>
          </p:cNvGraphicFramePr>
          <p:nvPr>
            <p:extLst>
              <p:ext uri="{D42A27DB-BD31-4B8C-83A1-F6EECF244321}">
                <p14:modId xmlns:p14="http://schemas.microsoft.com/office/powerpoint/2010/main" val="4098419482"/>
              </p:ext>
            </p:extLst>
          </p:nvPr>
        </p:nvGraphicFramePr>
        <p:xfrm>
          <a:off x="3398764" y="4593160"/>
          <a:ext cx="2762250" cy="815975"/>
        </p:xfrm>
        <a:graphic>
          <a:graphicData uri="http://schemas.openxmlformats.org/presentationml/2006/ole">
            <mc:AlternateContent xmlns:mc="http://schemas.openxmlformats.org/markup-compatibility/2006">
              <mc:Choice xmlns:v="urn:schemas-microsoft-com:vml" Requires="v">
                <p:oleObj spid="_x0000_s26821" name="Equation" r:id="rId3" imgW="1523880" imgH="444240" progId="Equation.DSMT4">
                  <p:embed/>
                </p:oleObj>
              </mc:Choice>
              <mc:Fallback>
                <p:oleObj name="Equation" r:id="rId3" imgW="1523880" imgH="444240" progId="Equation.DSMT4">
                  <p:embed/>
                  <p:pic>
                    <p:nvPicPr>
                      <p:cNvPr id="7" name="对象 6"/>
                      <p:cNvPicPr>
                        <a:picLocks noChangeAspect="1" noChangeArrowheads="1"/>
                      </p:cNvPicPr>
                      <p:nvPr/>
                    </p:nvPicPr>
                    <p:blipFill>
                      <a:blip r:embed="rId4"/>
                      <a:srcRect/>
                      <a:stretch>
                        <a:fillRect/>
                      </a:stretch>
                    </p:blipFill>
                    <p:spPr bwMode="auto">
                      <a:xfrm>
                        <a:off x="3398764" y="4593160"/>
                        <a:ext cx="2762250" cy="815975"/>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671572513"/>
              </p:ext>
            </p:extLst>
          </p:nvPr>
        </p:nvGraphicFramePr>
        <p:xfrm>
          <a:off x="3367617" y="1339512"/>
          <a:ext cx="4346144" cy="817367"/>
        </p:xfrm>
        <a:graphic>
          <a:graphicData uri="http://schemas.openxmlformats.org/presentationml/2006/ole">
            <mc:AlternateContent xmlns:mc="http://schemas.openxmlformats.org/markup-compatibility/2006">
              <mc:Choice xmlns:v="urn:schemas-microsoft-com:vml" Requires="v">
                <p:oleObj spid="_x0000_s26822" name="Equation" r:id="rId5" imgW="2361960" imgH="444240" progId="Equation.DSMT4">
                  <p:embed/>
                </p:oleObj>
              </mc:Choice>
              <mc:Fallback>
                <p:oleObj name="Equation" r:id="rId5" imgW="2361960" imgH="444240" progId="Equation.DSMT4">
                  <p:embed/>
                  <p:pic>
                    <p:nvPicPr>
                      <p:cNvPr id="8" name="对象 7"/>
                      <p:cNvPicPr>
                        <a:picLocks noChangeAspect="1" noChangeArrowheads="1"/>
                      </p:cNvPicPr>
                      <p:nvPr/>
                    </p:nvPicPr>
                    <p:blipFill>
                      <a:blip r:embed="rId6"/>
                      <a:srcRect/>
                      <a:stretch>
                        <a:fillRect/>
                      </a:stretch>
                    </p:blipFill>
                    <p:spPr bwMode="auto">
                      <a:xfrm>
                        <a:off x="3367617" y="1339512"/>
                        <a:ext cx="4346144" cy="817367"/>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233760867"/>
              </p:ext>
            </p:extLst>
          </p:nvPr>
        </p:nvGraphicFramePr>
        <p:xfrm>
          <a:off x="3367617" y="2536525"/>
          <a:ext cx="2990850" cy="817563"/>
        </p:xfrm>
        <a:graphic>
          <a:graphicData uri="http://schemas.openxmlformats.org/presentationml/2006/ole">
            <mc:AlternateContent xmlns:mc="http://schemas.openxmlformats.org/markup-compatibility/2006">
              <mc:Choice xmlns:v="urn:schemas-microsoft-com:vml" Requires="v">
                <p:oleObj spid="_x0000_s26823" name="Equation" r:id="rId7" imgW="1625400" imgH="444240" progId="Equation.DSMT4">
                  <p:embed/>
                </p:oleObj>
              </mc:Choice>
              <mc:Fallback>
                <p:oleObj name="Equation" r:id="rId7" imgW="1625400" imgH="444240" progId="Equation.DSMT4">
                  <p:embed/>
                  <p:pic>
                    <p:nvPicPr>
                      <p:cNvPr id="9" name="对象 8"/>
                      <p:cNvPicPr>
                        <a:picLocks noChangeAspect="1" noChangeArrowheads="1"/>
                      </p:cNvPicPr>
                      <p:nvPr/>
                    </p:nvPicPr>
                    <p:blipFill>
                      <a:blip r:embed="rId8"/>
                      <a:srcRect/>
                      <a:stretch>
                        <a:fillRect/>
                      </a:stretch>
                    </p:blipFill>
                    <p:spPr bwMode="auto">
                      <a:xfrm>
                        <a:off x="3367617" y="2536525"/>
                        <a:ext cx="2990850" cy="817563"/>
                      </a:xfrm>
                      <a:prstGeom prst="rect">
                        <a:avLst/>
                      </a:prstGeom>
                      <a:noFill/>
                    </p:spPr>
                  </p:pic>
                </p:oleObj>
              </mc:Fallback>
            </mc:AlternateContent>
          </a:graphicData>
        </a:graphic>
      </p:graphicFrame>
    </p:spTree>
    <p:extLst>
      <p:ext uri="{BB962C8B-B14F-4D97-AF65-F5344CB8AC3E}">
        <p14:creationId xmlns:p14="http://schemas.microsoft.com/office/powerpoint/2010/main" val="26995467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34</a:t>
            </a:fld>
            <a:endParaRPr lang="en-US" altLang="zh-CN">
              <a:solidFill>
                <a:srgbClr val="FFFFFF"/>
              </a:solidFill>
            </a:endParaRPr>
          </a:p>
        </p:txBody>
      </p:sp>
      <p:sp>
        <p:nvSpPr>
          <p:cNvPr id="5" name="文本框 4"/>
          <p:cNvSpPr txBox="1"/>
          <p:nvPr/>
        </p:nvSpPr>
        <p:spPr>
          <a:xfrm>
            <a:off x="391886" y="368792"/>
            <a:ext cx="11514427" cy="346248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a:t>锁相环由锁定状态进入失锁的瞬态过程</a:t>
            </a:r>
            <a:endParaRPr lang="en-US" altLang="zh-CN" dirty="0"/>
          </a:p>
          <a:p>
            <a:pPr marL="800100" lvl="1" indent="-342900">
              <a:lnSpc>
                <a:spcPct val="150000"/>
              </a:lnSpc>
              <a:buFont typeface="Arial" panose="020B0604020202020204" pitchFamily="34" charset="0"/>
              <a:buChar char="•"/>
            </a:pPr>
            <a:r>
              <a:rPr lang="zh-CN" altLang="en-US" sz="1800" dirty="0"/>
              <a:t>处于正常锁定状态的锁相环，输入信号的频率变化后，输出信号的频率将保持与输入相同（相位可能发生变化）。然而，当输入信号的频率变化过大或相位变化的速率过高</a:t>
            </a:r>
            <a:r>
              <a:rPr lang="zh-CN" altLang="en-US" sz="1800" dirty="0" smtClean="0"/>
              <a:t>，也</a:t>
            </a:r>
            <a:r>
              <a:rPr lang="zh-CN" altLang="en-US" sz="1800" dirty="0"/>
              <a:t>可能从锁定状态进入失锁状态</a:t>
            </a:r>
            <a:endParaRPr lang="en-US" altLang="zh-CN" sz="1800" dirty="0"/>
          </a:p>
          <a:p>
            <a:pPr marL="800100" lvl="1" indent="-342900">
              <a:lnSpc>
                <a:spcPct val="150000"/>
              </a:lnSpc>
              <a:buFont typeface="Arial" panose="020B0604020202020204" pitchFamily="34" charset="0"/>
              <a:buChar char="•"/>
            </a:pPr>
            <a:r>
              <a:rPr lang="zh-CN" altLang="en-US" sz="1800" dirty="0"/>
              <a:t>当输入信号频率以缓慢的速率变化时，输出信号能够跟踪输入信号频率变化的频率范围，称为锁相环的</a:t>
            </a:r>
            <a:r>
              <a:rPr lang="zh-CN" altLang="en-US" sz="1800" dirty="0">
                <a:solidFill>
                  <a:srgbClr val="FF0000"/>
                </a:solidFill>
              </a:rPr>
              <a:t>同步范围</a:t>
            </a:r>
            <a:r>
              <a:rPr lang="zh-CN" altLang="en-US" sz="1800" dirty="0"/>
              <a:t>（或称为保持范围）</a:t>
            </a:r>
            <a:endParaRPr lang="en-US" altLang="zh-CN" sz="1800" dirty="0"/>
          </a:p>
          <a:p>
            <a:pPr marL="800100" lvl="1" indent="-342900">
              <a:lnSpc>
                <a:spcPct val="150000"/>
              </a:lnSpc>
              <a:buFont typeface="Arial" panose="020B0604020202020204" pitchFamily="34" charset="0"/>
              <a:buChar char="•"/>
            </a:pPr>
            <a:r>
              <a:rPr lang="zh-CN" altLang="en-US" sz="1800" dirty="0"/>
              <a:t>当输入信号频率快速变化时，输出信号还能继续与输入保持频率同步的范围，称为锁相环的</a:t>
            </a:r>
            <a:r>
              <a:rPr lang="zh-CN" altLang="en-US" sz="1800" dirty="0">
                <a:solidFill>
                  <a:srgbClr val="FF0000"/>
                </a:solidFill>
              </a:rPr>
              <a:t>失锁范围</a:t>
            </a:r>
            <a:r>
              <a:rPr lang="zh-CN" altLang="en-US" sz="1800" dirty="0"/>
              <a:t>（或称为拉出范围），它小于同步范围</a:t>
            </a:r>
            <a:endParaRPr lang="en-US" altLang="zh-CN" sz="1800" dirty="0"/>
          </a:p>
          <a:p>
            <a:pPr marL="800100" lvl="1" indent="-342900">
              <a:lnSpc>
                <a:spcPct val="150000"/>
              </a:lnSpc>
              <a:buFont typeface="Arial" panose="020B0604020202020204" pitchFamily="34" charset="0"/>
              <a:buChar char="•"/>
            </a:pPr>
            <a:r>
              <a:rPr lang="zh-CN" altLang="en-US" sz="1800" dirty="0"/>
              <a:t>上述两个范围的大小与采用何种鉴相器有关，也与锁相环的闭环参数有关</a:t>
            </a:r>
          </a:p>
        </p:txBody>
      </p:sp>
      <p:graphicFrame>
        <p:nvGraphicFramePr>
          <p:cNvPr id="6" name="表格 5"/>
          <p:cNvGraphicFramePr>
            <a:graphicFrameLocks noGrp="1"/>
          </p:cNvGraphicFramePr>
          <p:nvPr>
            <p:extLst/>
          </p:nvPr>
        </p:nvGraphicFramePr>
        <p:xfrm>
          <a:off x="1976702" y="3985728"/>
          <a:ext cx="7919170" cy="1934506"/>
        </p:xfrm>
        <a:graphic>
          <a:graphicData uri="http://schemas.openxmlformats.org/drawingml/2006/table">
            <a:tbl>
              <a:tblPr firstRow="1" firstCol="1" lastCol="1" bandRow="1" bandCol="1">
                <a:tableStyleId>{69012ECD-51FC-41F1-AA8D-1B2483CD663E}</a:tableStyleId>
              </a:tblPr>
              <a:tblGrid>
                <a:gridCol w="986805">
                  <a:extLst>
                    <a:ext uri="{9D8B030D-6E8A-4147-A177-3AD203B41FA5}">
                      <a16:colId xmlns:a16="http://schemas.microsoft.com/office/drawing/2014/main" val="3244702175"/>
                    </a:ext>
                  </a:extLst>
                </a:gridCol>
                <a:gridCol w="2307737">
                  <a:extLst>
                    <a:ext uri="{9D8B030D-6E8A-4147-A177-3AD203B41FA5}">
                      <a16:colId xmlns:a16="http://schemas.microsoft.com/office/drawing/2014/main" val="3344873776"/>
                    </a:ext>
                  </a:extLst>
                </a:gridCol>
                <a:gridCol w="1420938">
                  <a:extLst>
                    <a:ext uri="{9D8B030D-6E8A-4147-A177-3AD203B41FA5}">
                      <a16:colId xmlns:a16="http://schemas.microsoft.com/office/drawing/2014/main" val="2526096691"/>
                    </a:ext>
                  </a:extLst>
                </a:gridCol>
                <a:gridCol w="1822222">
                  <a:extLst>
                    <a:ext uri="{9D8B030D-6E8A-4147-A177-3AD203B41FA5}">
                      <a16:colId xmlns:a16="http://schemas.microsoft.com/office/drawing/2014/main" val="3851541045"/>
                    </a:ext>
                  </a:extLst>
                </a:gridCol>
                <a:gridCol w="1381468">
                  <a:extLst>
                    <a:ext uri="{9D8B030D-6E8A-4147-A177-3AD203B41FA5}">
                      <a16:colId xmlns:a16="http://schemas.microsoft.com/office/drawing/2014/main" val="2429176149"/>
                    </a:ext>
                  </a:extLst>
                </a:gridCol>
              </a:tblGrid>
              <a:tr h="377850">
                <a:tc>
                  <a:txBody>
                    <a:bodyPr/>
                    <a:lstStyle/>
                    <a:p>
                      <a:pPr marL="63500" indent="-127000" algn="ctr">
                        <a:lnSpc>
                          <a:spcPct val="115000"/>
                        </a:lnSpc>
                        <a:spcAft>
                          <a:spcPts val="0"/>
                        </a:spcAft>
                      </a:pPr>
                      <a:r>
                        <a:rPr lang="en-US" sz="1600" kern="100" dirty="0">
                          <a:effectLst/>
                        </a:rPr>
                        <a:t> </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zh-CN" sz="1600" kern="100" dirty="0" smtClean="0">
                          <a:effectLst/>
                        </a:rPr>
                        <a:t>乘法器</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zh-CN" sz="1600" kern="100" dirty="0" smtClean="0">
                          <a:effectLst/>
                        </a:rPr>
                        <a:t>异或门</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zh-CN" sz="1600" kern="100" dirty="0">
                          <a:effectLst/>
                        </a:rPr>
                        <a:t>鉴相</a:t>
                      </a:r>
                      <a:r>
                        <a:rPr lang="en-US" sz="1600" kern="100" dirty="0">
                          <a:effectLst/>
                        </a:rPr>
                        <a:t>-</a:t>
                      </a:r>
                      <a:r>
                        <a:rPr lang="zh-CN" sz="1600" kern="100" dirty="0">
                          <a:effectLst/>
                        </a:rPr>
                        <a:t>鉴频器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66711961"/>
                  </a:ext>
                </a:extLst>
              </a:tr>
              <a:tr h="484374">
                <a:tc rowSpan="2">
                  <a:txBody>
                    <a:bodyPr/>
                    <a:lstStyle/>
                    <a:p>
                      <a:pPr marL="63500" indent="-127000" algn="ctr">
                        <a:lnSpc>
                          <a:spcPct val="115000"/>
                        </a:lnSpc>
                        <a:spcAft>
                          <a:spcPts val="0"/>
                        </a:spcAft>
                      </a:pPr>
                      <a:r>
                        <a:rPr lang="zh-CN" altLang="en-US" sz="1600" kern="100" dirty="0" smtClean="0">
                          <a:effectLst/>
                        </a:rPr>
                        <a:t>同步</a:t>
                      </a:r>
                      <a:r>
                        <a:rPr lang="zh-CN" sz="1600" kern="100" dirty="0" smtClean="0">
                          <a:effectLst/>
                        </a:rPr>
                        <a:t>范围</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zh-CN" sz="1600" kern="100" dirty="0" smtClean="0">
                          <a:effectLst/>
                          <a:latin typeface="宋体" panose="02010600030101010101" pitchFamily="2" charset="-122"/>
                          <a:ea typeface="宋体" panose="02010600030101010101" pitchFamily="2" charset="-122"/>
                        </a:rPr>
                        <a:t>超前</a:t>
                      </a:r>
                      <a:r>
                        <a:rPr lang="en-US" altLang="zh-CN" sz="1600" kern="100" dirty="0" smtClean="0">
                          <a:effectLst/>
                          <a:latin typeface="宋体" panose="02010600030101010101" pitchFamily="2" charset="-122"/>
                          <a:ea typeface="宋体" panose="02010600030101010101" pitchFamily="2" charset="-122"/>
                        </a:rPr>
                        <a:t>-</a:t>
                      </a:r>
                      <a:r>
                        <a:rPr lang="zh-CN" altLang="zh-CN" sz="1600" kern="100" dirty="0" smtClean="0">
                          <a:effectLst/>
                          <a:latin typeface="宋体" panose="02010600030101010101" pitchFamily="2" charset="-122"/>
                          <a:ea typeface="宋体" panose="02010600030101010101" pitchFamily="2" charset="-122"/>
                        </a:rPr>
                        <a:t>滞后</a:t>
                      </a:r>
                      <a:r>
                        <a:rPr lang="zh-CN" altLang="en-US" sz="1600" kern="100" dirty="0" smtClean="0">
                          <a:effectLst/>
                          <a:latin typeface="宋体" panose="02010600030101010101" pitchFamily="2" charset="-122"/>
                          <a:ea typeface="宋体" panose="02010600030101010101" pitchFamily="2" charset="-122"/>
                        </a:rPr>
                        <a:t>型环路滤波器</a:t>
                      </a:r>
                      <a:endParaRPr lang="en-US" sz="1600" kern="100" dirty="0">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endParaRPr lang="zh-CN" altLang="en-US" dirty="0"/>
                    </a:p>
                  </a:txBody>
                  <a:tcPr marL="68580" marR="68580" marT="0" marB="0" anchor="ctr"/>
                </a:tc>
                <a:tc>
                  <a:txBody>
                    <a:bodyPr/>
                    <a:lstStyle/>
                    <a:p>
                      <a:endParaRPr lang="zh-CN" altLang="en-US"/>
                    </a:p>
                  </a:txBody>
                  <a:tcPr marL="68580" marR="68580" marT="0" marB="0" anchor="ctr"/>
                </a:tc>
                <a:tc>
                  <a:txBody>
                    <a:bodyPr/>
                    <a:lstStyle/>
                    <a:p>
                      <a:endParaRPr lang="zh-CN" altLang="en-US"/>
                    </a:p>
                  </a:txBody>
                  <a:tcPr marL="68580" marR="68580" marT="0" marB="0" anchor="ctr"/>
                </a:tc>
                <a:extLst>
                  <a:ext uri="{0D108BD9-81ED-4DB2-BD59-A6C34878D82A}">
                    <a16:rowId xmlns:a16="http://schemas.microsoft.com/office/drawing/2014/main" val="1344693505"/>
                  </a:ext>
                </a:extLst>
              </a:tr>
              <a:tr h="394705">
                <a:tc vMerge="1">
                  <a:txBody>
                    <a:bodyPr/>
                    <a:lstStyle/>
                    <a:p>
                      <a:pPr marL="63500" indent="-127000" algn="ctr">
                        <a:lnSpc>
                          <a:spcPct val="115000"/>
                        </a:lnSpc>
                        <a:spcAft>
                          <a:spcPts val="0"/>
                        </a:spcAft>
                      </a:pP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marL="63500" indent="-127000" algn="ctr">
                        <a:lnSpc>
                          <a:spcPct val="115000"/>
                        </a:lnSpc>
                        <a:spcAft>
                          <a:spcPts val="0"/>
                        </a:spcAft>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比例积分型环路滤波器</a:t>
                      </a:r>
                      <a:endParaRPr 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600" b="0" kern="100" dirty="0" smtClean="0">
                          <a:effectLst/>
                        </a:rPr>
                        <a:t>取决于</a:t>
                      </a:r>
                      <a:r>
                        <a:rPr lang="en-US" altLang="zh-CN" sz="1600" b="0" kern="100" dirty="0" smtClean="0">
                          <a:effectLst/>
                        </a:rPr>
                        <a:t>VCO</a:t>
                      </a:r>
                      <a:r>
                        <a:rPr lang="zh-CN" altLang="zh-CN" sz="1600" b="0" kern="100" dirty="0" smtClean="0">
                          <a:effectLst/>
                        </a:rPr>
                        <a:t>的</a:t>
                      </a:r>
                      <a:r>
                        <a:rPr lang="zh-CN" altLang="en-US" sz="1600" b="0" kern="100" dirty="0" smtClean="0">
                          <a:effectLst/>
                        </a:rPr>
                        <a:t>可控</a:t>
                      </a:r>
                      <a:r>
                        <a:rPr lang="zh-CN" altLang="zh-CN" sz="1600" b="0" kern="100" dirty="0" smtClean="0">
                          <a:effectLst/>
                        </a:rPr>
                        <a:t>频率范围</a:t>
                      </a:r>
                      <a:endParaRPr lang="zh-CN" altLang="zh-CN" sz="2000" b="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898874"/>
                  </a:ext>
                </a:extLst>
              </a:tr>
              <a:tr h="677577">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rPr>
                        <a:t>失锁</a:t>
                      </a:r>
                      <a:r>
                        <a:rPr lang="zh-CN" altLang="zh-CN" sz="1600" kern="100" dirty="0" smtClean="0">
                          <a:effectLst/>
                        </a:rPr>
                        <a:t>范围</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5">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63500" indent="-127000" algn="ctr">
                        <a:lnSpc>
                          <a:spcPct val="115000"/>
                        </a:lnSpc>
                        <a:spcAft>
                          <a:spcPts val="0"/>
                        </a:spcAft>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与环路滤波器类型无关</a:t>
                      </a:r>
                      <a:endParaRPr lang="en-US"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5">
                          <a:lumMod val="75000"/>
                        </a:schemeClr>
                      </a:solidFill>
                      <a:prstDash val="solid"/>
                      <a:round/>
                      <a:headEnd type="none" w="med" len="med"/>
                      <a:tailEnd type="none" w="med" len="med"/>
                    </a:lnL>
                  </a:tcPr>
                </a:tc>
                <a:tc>
                  <a:txBody>
                    <a:bodyPr/>
                    <a:lstStyle/>
                    <a:p>
                      <a:endParaRPr lang="zh-CN" altLang="en-US" dirty="0"/>
                    </a:p>
                  </a:txBody>
                  <a:tcPr marL="68580" marR="68580" marT="0" marB="0" anchor="ctr"/>
                </a:tc>
                <a:tc>
                  <a:txBody>
                    <a:bodyPr/>
                    <a:lstStyle/>
                    <a:p>
                      <a:endParaRPr lang="zh-CN" altLang="en-US" dirty="0"/>
                    </a:p>
                  </a:txBody>
                  <a:tcPr marL="68580" marR="68580" marT="0" marB="0" anchor="ctr"/>
                </a:tc>
                <a:tc>
                  <a:txBody>
                    <a:bodyPr/>
                    <a:lstStyle/>
                    <a:p>
                      <a:endParaRPr lang="zh-CN" altLang="en-US" dirty="0"/>
                    </a:p>
                  </a:txBody>
                  <a:tcPr marL="68580" marR="68580" marT="0" marB="0" anchor="ctr"/>
                </a:tc>
                <a:extLst>
                  <a:ext uri="{0D108BD9-81ED-4DB2-BD59-A6C34878D82A}">
                    <a16:rowId xmlns:a16="http://schemas.microsoft.com/office/drawing/2014/main" val="2937190528"/>
                  </a:ext>
                </a:extLst>
              </a:tr>
            </a:tbl>
          </a:graphicData>
        </a:graphic>
      </p:graphicFrame>
      <p:graphicFrame>
        <p:nvGraphicFramePr>
          <p:cNvPr id="7" name="对象 6"/>
          <p:cNvGraphicFramePr>
            <a:graphicFrameLocks noChangeAspect="1"/>
          </p:cNvGraphicFramePr>
          <p:nvPr>
            <p:extLst/>
          </p:nvPr>
        </p:nvGraphicFramePr>
        <p:xfrm>
          <a:off x="5734842" y="4436417"/>
          <a:ext cx="615400" cy="346162"/>
        </p:xfrm>
        <a:graphic>
          <a:graphicData uri="http://schemas.openxmlformats.org/presentationml/2006/ole">
            <mc:AlternateContent xmlns:mc="http://schemas.openxmlformats.org/markup-compatibility/2006">
              <mc:Choice xmlns:v="urn:schemas-microsoft-com:vml" Requires="v">
                <p:oleObj spid="_x0000_s22920" name="Equation" r:id="rId3" imgW="304404" imgH="177569" progId="Equation.DSMT4">
                  <p:embed/>
                </p:oleObj>
              </mc:Choice>
              <mc:Fallback>
                <p:oleObj name="Equation" r:id="rId3" imgW="304404" imgH="177569"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4842" y="4436417"/>
                        <a:ext cx="615400" cy="346162"/>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nvPr>
        </p:nvGraphicFramePr>
        <p:xfrm>
          <a:off x="7137710" y="4318419"/>
          <a:ext cx="745166" cy="582161"/>
        </p:xfrm>
        <a:graphic>
          <a:graphicData uri="http://schemas.openxmlformats.org/presentationml/2006/ole">
            <mc:AlternateContent xmlns:mc="http://schemas.openxmlformats.org/markup-compatibility/2006">
              <mc:Choice xmlns:v="urn:schemas-microsoft-com:vml" Requires="v">
                <p:oleObj spid="_x0000_s22921" name="Equation" r:id="rId5" imgW="406048" imgH="317225" progId="Equation.DSMT4">
                  <p:embed/>
                </p:oleObj>
              </mc:Choice>
              <mc:Fallback>
                <p:oleObj name="Equation" r:id="rId5" imgW="406048" imgH="317225"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7710" y="4318419"/>
                        <a:ext cx="745166" cy="582161"/>
                      </a:xfrm>
                      <a:prstGeom prst="rect">
                        <a:avLst/>
                      </a:prstGeom>
                      <a:noFill/>
                    </p:spPr>
                  </p:pic>
                </p:oleObj>
              </mc:Fallback>
            </mc:AlternateContent>
          </a:graphicData>
        </a:graphic>
      </p:graphicFrame>
      <p:graphicFrame>
        <p:nvGraphicFramePr>
          <p:cNvPr id="9" name="对象 8"/>
          <p:cNvGraphicFramePr>
            <a:graphicFrameLocks noChangeAspect="1"/>
          </p:cNvGraphicFramePr>
          <p:nvPr>
            <p:extLst/>
          </p:nvPr>
        </p:nvGraphicFramePr>
        <p:xfrm>
          <a:off x="8658696" y="4495474"/>
          <a:ext cx="875363" cy="347570"/>
        </p:xfrm>
        <a:graphic>
          <a:graphicData uri="http://schemas.openxmlformats.org/presentationml/2006/ole">
            <mc:AlternateContent xmlns:mc="http://schemas.openxmlformats.org/markup-compatibility/2006">
              <mc:Choice xmlns:v="urn:schemas-microsoft-com:vml" Requires="v">
                <p:oleObj spid="_x0000_s22922" name="Equation" r:id="rId7" imgW="431425" imgH="177646" progId="Equation.DSMT4">
                  <p:embed/>
                </p:oleObj>
              </mc:Choice>
              <mc:Fallback>
                <p:oleObj name="Equation" r:id="rId7" imgW="431425" imgH="177646" progId="Equation.DSMT4">
                  <p:embed/>
                  <p:pic>
                    <p:nvPicPr>
                      <p:cNvPr id="9" name="对象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58696" y="4495474"/>
                        <a:ext cx="875363" cy="347570"/>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nvPr>
        </p:nvGraphicFramePr>
        <p:xfrm>
          <a:off x="5288335" y="5443673"/>
          <a:ext cx="1361210" cy="359565"/>
        </p:xfrm>
        <a:graphic>
          <a:graphicData uri="http://schemas.openxmlformats.org/presentationml/2006/ole">
            <mc:AlternateContent xmlns:mc="http://schemas.openxmlformats.org/markup-compatibility/2006">
              <mc:Choice xmlns:v="urn:schemas-microsoft-com:vml" Requires="v">
                <p:oleObj spid="_x0000_s22923" name="Equation" r:id="rId9" imgW="685502" imgH="177723" progId="Equation.DSMT4">
                  <p:embed/>
                </p:oleObj>
              </mc:Choice>
              <mc:Fallback>
                <p:oleObj name="Equation" r:id="rId9" imgW="685502" imgH="177723" progId="Equation.DSMT4">
                  <p:embed/>
                  <p:pic>
                    <p:nvPicPr>
                      <p:cNvPr id="10" name="对象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8335" y="5443673"/>
                        <a:ext cx="1361210" cy="359565"/>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6718496" y="5443673"/>
          <a:ext cx="1736266" cy="359565"/>
        </p:xfrm>
        <a:graphic>
          <a:graphicData uri="http://schemas.openxmlformats.org/presentationml/2006/ole">
            <mc:AlternateContent xmlns:mc="http://schemas.openxmlformats.org/markup-compatibility/2006">
              <mc:Choice xmlns:v="urn:schemas-microsoft-com:vml" Requires="v">
                <p:oleObj spid="_x0000_s22924" name="Equation" r:id="rId11" imgW="863280" imgH="177480" progId="Equation.DSMT4">
                  <p:embed/>
                </p:oleObj>
              </mc:Choice>
              <mc:Fallback>
                <p:oleObj name="Equation" r:id="rId11" imgW="863280" imgH="177480" progId="Equation.DSMT4">
                  <p:embed/>
                  <p:pic>
                    <p:nvPicPr>
                      <p:cNvPr id="11" name="对象 10"/>
                      <p:cNvPicPr>
                        <a:picLocks noChangeAspect="1" noChangeArrowheads="1"/>
                      </p:cNvPicPr>
                      <p:nvPr/>
                    </p:nvPicPr>
                    <p:blipFill>
                      <a:blip r:embed="rId12"/>
                      <a:srcRect/>
                      <a:stretch>
                        <a:fillRect/>
                      </a:stretch>
                    </p:blipFill>
                    <p:spPr bwMode="auto">
                      <a:xfrm>
                        <a:off x="6718496" y="5443673"/>
                        <a:ext cx="1736266" cy="359565"/>
                      </a:xfrm>
                      <a:prstGeom prst="rect">
                        <a:avLst/>
                      </a:prstGeom>
                      <a:noFill/>
                    </p:spPr>
                  </p:pic>
                </p:oleObj>
              </mc:Fallback>
            </mc:AlternateContent>
          </a:graphicData>
        </a:graphic>
      </p:graphicFrame>
      <p:graphicFrame>
        <p:nvGraphicFramePr>
          <p:cNvPr id="12" name="对象 11"/>
          <p:cNvGraphicFramePr>
            <a:graphicFrameLocks noChangeAspect="1"/>
          </p:cNvGraphicFramePr>
          <p:nvPr>
            <p:extLst/>
          </p:nvPr>
        </p:nvGraphicFramePr>
        <p:xfrm>
          <a:off x="8592665" y="5250944"/>
          <a:ext cx="1007422" cy="669290"/>
        </p:xfrm>
        <a:graphic>
          <a:graphicData uri="http://schemas.openxmlformats.org/presentationml/2006/ole">
            <mc:AlternateContent xmlns:mc="http://schemas.openxmlformats.org/markup-compatibility/2006">
              <mc:Choice xmlns:v="urn:schemas-microsoft-com:vml" Requires="v">
                <p:oleObj spid="_x0000_s22925" name="Equation" r:id="rId13" imgW="469696" imgH="342751" progId="Equation.DSMT4">
                  <p:embed/>
                </p:oleObj>
              </mc:Choice>
              <mc:Fallback>
                <p:oleObj name="Equation" r:id="rId13" imgW="469696" imgH="342751" progId="Equation.DSMT4">
                  <p:embed/>
                  <p:pic>
                    <p:nvPicPr>
                      <p:cNvPr id="12" name="对象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92665" y="5250944"/>
                        <a:ext cx="1007422" cy="669290"/>
                      </a:xfrm>
                      <a:prstGeom prst="rect">
                        <a:avLst/>
                      </a:prstGeom>
                      <a:noFill/>
                    </p:spPr>
                  </p:pic>
                </p:oleObj>
              </mc:Fallback>
            </mc:AlternateContent>
          </a:graphicData>
        </a:graphic>
      </p:graphicFrame>
      <p:sp>
        <p:nvSpPr>
          <p:cNvPr id="13" name="文本框 12"/>
          <p:cNvSpPr txBox="1"/>
          <p:nvPr/>
        </p:nvSpPr>
        <p:spPr>
          <a:xfrm>
            <a:off x="2047820" y="5989580"/>
            <a:ext cx="7552267" cy="338554"/>
          </a:xfrm>
          <a:prstGeom prst="rect">
            <a:avLst/>
          </a:prstGeom>
          <a:noFill/>
        </p:spPr>
        <p:txBody>
          <a:bodyPr wrap="square" rtlCol="0">
            <a:spAutoFit/>
          </a:bodyPr>
          <a:lstStyle/>
          <a:p>
            <a:r>
              <a:rPr lang="zh-CN" altLang="en-US" sz="1600" dirty="0"/>
              <a:t>表中所有频率范围公式均假定</a:t>
            </a:r>
            <a:r>
              <a:rPr lang="en-US" altLang="zh-CN" sz="1600" dirty="0"/>
              <a:t>VCO</a:t>
            </a:r>
            <a:r>
              <a:rPr lang="zh-CN" altLang="en-US" sz="1600" dirty="0"/>
              <a:t>的可控频率范围大于该公式得到的结果</a:t>
            </a:r>
          </a:p>
        </p:txBody>
      </p:sp>
    </p:spTree>
    <p:extLst>
      <p:ext uri="{BB962C8B-B14F-4D97-AF65-F5344CB8AC3E}">
        <p14:creationId xmlns:p14="http://schemas.microsoft.com/office/powerpoint/2010/main" val="37562021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35</a:t>
            </a:fld>
            <a:endParaRPr lang="en-US" altLang="zh-CN">
              <a:solidFill>
                <a:srgbClr val="FFFFFF"/>
              </a:solidFill>
            </a:endParaRPr>
          </a:p>
        </p:txBody>
      </p:sp>
      <p:sp>
        <p:nvSpPr>
          <p:cNvPr id="5" name="文本框 4"/>
          <p:cNvSpPr txBox="1"/>
          <p:nvPr/>
        </p:nvSpPr>
        <p:spPr>
          <a:xfrm>
            <a:off x="428170" y="430427"/>
            <a:ext cx="11444515" cy="429348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dirty="0"/>
              <a:t>锁相环由失锁进入锁定的瞬态过程</a:t>
            </a:r>
            <a:endParaRPr lang="en-US" altLang="zh-CN" dirty="0"/>
          </a:p>
          <a:p>
            <a:pPr marL="742950" lvl="1" indent="-285750">
              <a:lnSpc>
                <a:spcPct val="150000"/>
              </a:lnSpc>
              <a:buFont typeface="Arial" panose="020B0604020202020204" pitchFamily="34" charset="0"/>
              <a:buChar char="•"/>
            </a:pPr>
            <a:r>
              <a:rPr lang="zh-CN" altLang="en-US" sz="1800" dirty="0"/>
              <a:t>处于失锁状态的锁相环，由于锁相环的频率牵引作用，逐步缩小频差，最终进入锁定。这个过程为锁相环的捕捉过程。捕捉过程中锁相环的输出频率可能产生周期性的来回振荡，一个来回称为捕捉周期。</a:t>
            </a:r>
            <a:endParaRPr lang="en-US" altLang="zh-CN" sz="1800" dirty="0"/>
          </a:p>
          <a:p>
            <a:pPr marL="742950" lvl="1" indent="-285750">
              <a:lnSpc>
                <a:spcPct val="150000"/>
              </a:lnSpc>
              <a:buFont typeface="Arial" panose="020B0604020202020204" pitchFamily="34" charset="0"/>
              <a:buChar char="•"/>
            </a:pPr>
            <a:r>
              <a:rPr lang="zh-CN" altLang="en-US" sz="1800" dirty="0"/>
              <a:t>捕捉过程与鉴相器输入端的两个信号的初始频差有关，也与锁相环采用的鉴相器类型、环路滤波器类型有关</a:t>
            </a:r>
            <a:endParaRPr lang="en-US" altLang="zh-CN" sz="1800" dirty="0"/>
          </a:p>
          <a:p>
            <a:pPr marL="742950" lvl="1" indent="-285750">
              <a:lnSpc>
                <a:spcPct val="150000"/>
              </a:lnSpc>
              <a:buFont typeface="Arial" panose="020B0604020202020204" pitchFamily="34" charset="0"/>
              <a:buChar char="•"/>
            </a:pPr>
            <a:r>
              <a:rPr lang="zh-CN" altLang="en-US" sz="1800" dirty="0"/>
              <a:t>当初始频差较大时，锁相环要经过多个捕捉周期才能完成锁定，捕捉时间较长，对应的参数称为</a:t>
            </a:r>
            <a:r>
              <a:rPr lang="zh-CN" altLang="en-US" sz="1800" dirty="0">
                <a:solidFill>
                  <a:srgbClr val="FF0000"/>
                </a:solidFill>
              </a:rPr>
              <a:t>捕捉范围</a:t>
            </a:r>
            <a:r>
              <a:rPr lang="zh-CN" altLang="en-US" sz="1800" dirty="0"/>
              <a:t>（或称为引入范围）与</a:t>
            </a:r>
            <a:r>
              <a:rPr lang="zh-CN" altLang="en-US" sz="1800" dirty="0">
                <a:solidFill>
                  <a:srgbClr val="FF0000"/>
                </a:solidFill>
              </a:rPr>
              <a:t>捕捉时间</a:t>
            </a:r>
            <a:r>
              <a:rPr lang="zh-CN" altLang="en-US" sz="1800" dirty="0"/>
              <a:t>。若初始频差大于捕捉范围，锁相环将无法进入锁定状态</a:t>
            </a:r>
            <a:endParaRPr lang="en-US" altLang="zh-CN" sz="1800" dirty="0"/>
          </a:p>
          <a:p>
            <a:pPr marL="742950" lvl="1" indent="-285750">
              <a:lnSpc>
                <a:spcPct val="150000"/>
              </a:lnSpc>
              <a:buFont typeface="Arial" panose="020B0604020202020204" pitchFamily="34" charset="0"/>
              <a:buChar char="•"/>
            </a:pPr>
            <a:r>
              <a:rPr lang="zh-CN" altLang="en-US" sz="1800" dirty="0"/>
              <a:t>当初始频差较小时，锁相环的捕捉时间很短，捕捉过程控制在一个捕捉周期之内，也就是锁相环的输出频率不会发生来回振荡（锁相环并未进入实际意义上的失锁状态，是锁相环稳定工作时常见的情况）。满足这个捕捉过程的最大初始频差称为</a:t>
            </a:r>
            <a:r>
              <a:rPr lang="zh-CN" altLang="en-US" sz="1800" dirty="0">
                <a:solidFill>
                  <a:srgbClr val="FF0000"/>
                </a:solidFill>
              </a:rPr>
              <a:t>锁定范围</a:t>
            </a:r>
            <a:r>
              <a:rPr lang="zh-CN" altLang="en-US" sz="1800" dirty="0"/>
              <a:t>，对应的捕捉时间称为</a:t>
            </a:r>
            <a:r>
              <a:rPr lang="zh-CN" altLang="en-US" sz="1800" dirty="0">
                <a:solidFill>
                  <a:srgbClr val="FF0000"/>
                </a:solidFill>
              </a:rPr>
              <a:t>锁定时间</a:t>
            </a:r>
            <a:endParaRPr lang="en-US" altLang="zh-CN" sz="1800" dirty="0"/>
          </a:p>
        </p:txBody>
      </p:sp>
    </p:spTree>
    <p:extLst>
      <p:ext uri="{BB962C8B-B14F-4D97-AF65-F5344CB8AC3E}">
        <p14:creationId xmlns:p14="http://schemas.microsoft.com/office/powerpoint/2010/main" val="10038943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36</a:t>
            </a:fld>
            <a:endParaRPr lang="en-US" altLang="zh-CN">
              <a:solidFill>
                <a:srgbClr val="FFFFFF"/>
              </a:solidFill>
            </a:endParaRPr>
          </a:p>
        </p:txBody>
      </p:sp>
      <p:graphicFrame>
        <p:nvGraphicFramePr>
          <p:cNvPr id="6" name="表格 5"/>
          <p:cNvGraphicFramePr>
            <a:graphicFrameLocks noGrp="1"/>
          </p:cNvGraphicFramePr>
          <p:nvPr>
            <p:extLst/>
          </p:nvPr>
        </p:nvGraphicFramePr>
        <p:xfrm>
          <a:off x="1884952" y="632409"/>
          <a:ext cx="8401500" cy="4582605"/>
        </p:xfrm>
        <a:graphic>
          <a:graphicData uri="http://schemas.openxmlformats.org/drawingml/2006/table">
            <a:tbl>
              <a:tblPr firstRow="1" firstCol="1" lastCol="1" bandRow="1" bandCol="1">
                <a:tableStyleId>{69012ECD-51FC-41F1-AA8D-1B2483CD663E}</a:tableStyleId>
              </a:tblPr>
              <a:tblGrid>
                <a:gridCol w="989847">
                  <a:extLst>
                    <a:ext uri="{9D8B030D-6E8A-4147-A177-3AD203B41FA5}">
                      <a16:colId xmlns:a16="http://schemas.microsoft.com/office/drawing/2014/main" val="3244702175"/>
                    </a:ext>
                  </a:extLst>
                </a:gridCol>
                <a:gridCol w="1361733">
                  <a:extLst>
                    <a:ext uri="{9D8B030D-6E8A-4147-A177-3AD203B41FA5}">
                      <a16:colId xmlns:a16="http://schemas.microsoft.com/office/drawing/2014/main" val="2529821160"/>
                    </a:ext>
                  </a:extLst>
                </a:gridCol>
                <a:gridCol w="1918674">
                  <a:extLst>
                    <a:ext uri="{9D8B030D-6E8A-4147-A177-3AD203B41FA5}">
                      <a16:colId xmlns:a16="http://schemas.microsoft.com/office/drawing/2014/main" val="2902434667"/>
                    </a:ext>
                  </a:extLst>
                </a:gridCol>
                <a:gridCol w="1690653">
                  <a:extLst>
                    <a:ext uri="{9D8B030D-6E8A-4147-A177-3AD203B41FA5}">
                      <a16:colId xmlns:a16="http://schemas.microsoft.com/office/drawing/2014/main" val="1422124563"/>
                    </a:ext>
                  </a:extLst>
                </a:gridCol>
                <a:gridCol w="2440593">
                  <a:extLst>
                    <a:ext uri="{9D8B030D-6E8A-4147-A177-3AD203B41FA5}">
                      <a16:colId xmlns:a16="http://schemas.microsoft.com/office/drawing/2014/main" val="407878406"/>
                    </a:ext>
                  </a:extLst>
                </a:gridCol>
              </a:tblGrid>
              <a:tr h="377850">
                <a:tc>
                  <a:txBody>
                    <a:bodyPr/>
                    <a:lstStyle/>
                    <a:p>
                      <a:pPr marL="63500" indent="-127000" algn="ctr">
                        <a:lnSpc>
                          <a:spcPct val="115000"/>
                        </a:lnSpc>
                        <a:spcAft>
                          <a:spcPts val="0"/>
                        </a:spcAft>
                      </a:pPr>
                      <a:r>
                        <a:rPr lang="en-US" sz="1600" kern="100" dirty="0">
                          <a:effectLst/>
                        </a:rPr>
                        <a:t> </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zh-CN" sz="1600" kern="100" dirty="0">
                          <a:effectLst/>
                        </a:rPr>
                        <a:t>乘法器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zh-CN" sz="1600" kern="100" dirty="0">
                          <a:effectLst/>
                        </a:rPr>
                        <a:t>异或门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zh-CN" sz="1600" kern="100" dirty="0">
                          <a:effectLst/>
                        </a:rPr>
                        <a:t>鉴相</a:t>
                      </a:r>
                      <a:r>
                        <a:rPr lang="en-US" sz="1600" kern="100" dirty="0">
                          <a:effectLst/>
                        </a:rPr>
                        <a:t>-</a:t>
                      </a:r>
                      <a:r>
                        <a:rPr lang="zh-CN" sz="1600" kern="100" dirty="0">
                          <a:effectLst/>
                        </a:rPr>
                        <a:t>鉴频器</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6711961"/>
                  </a:ext>
                </a:extLst>
              </a:tr>
              <a:tr h="529917">
                <a:tc>
                  <a:txBody>
                    <a:bodyPr/>
                    <a:lstStyle/>
                    <a:p>
                      <a:pPr marL="63500" indent="-127000" algn="ctr">
                        <a:lnSpc>
                          <a:spcPct val="115000"/>
                        </a:lnSpc>
                        <a:spcAft>
                          <a:spcPts val="0"/>
                        </a:spcAft>
                      </a:pPr>
                      <a:r>
                        <a:rPr lang="zh-CN" altLang="en-US" sz="1600" kern="100" dirty="0" smtClean="0">
                          <a:effectLst/>
                        </a:rPr>
                        <a:t>锁定</a:t>
                      </a:r>
                      <a:r>
                        <a:rPr lang="zh-CN" sz="1600" kern="100" dirty="0" smtClean="0">
                          <a:effectLst/>
                        </a:rPr>
                        <a:t>范围</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63500" indent="-127000" algn="ctr">
                        <a:lnSpc>
                          <a:spcPct val="115000"/>
                        </a:lnSpc>
                        <a:spcAft>
                          <a:spcPts val="0"/>
                        </a:spcAft>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与环路滤波器类型无关</a:t>
                      </a:r>
                      <a:endParaRPr lang="zh-CN" sz="16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4693505"/>
                  </a:ext>
                </a:extLst>
              </a:tr>
              <a:tr h="500477">
                <a:tc>
                  <a:txBody>
                    <a:bodyPr/>
                    <a:lstStyle/>
                    <a:p>
                      <a:pPr marL="63500" indent="-127000" algn="ctr">
                        <a:lnSpc>
                          <a:spcPct val="115000"/>
                        </a:lnSpc>
                        <a:spcAft>
                          <a:spcPts val="0"/>
                        </a:spcAft>
                      </a:pPr>
                      <a:r>
                        <a:rPr lang="zh-CN" altLang="en-US" sz="1600" kern="100" dirty="0" smtClean="0">
                          <a:effectLst/>
                        </a:rPr>
                        <a:t>锁定</a:t>
                      </a:r>
                      <a:r>
                        <a:rPr lang="zh-CN" sz="1600" kern="100" dirty="0" smtClean="0">
                          <a:effectLst/>
                        </a:rPr>
                        <a:t>时间</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63500" indent="-127000" algn="ctr">
                        <a:lnSpc>
                          <a:spcPct val="115000"/>
                        </a:lnSpc>
                        <a:spcAft>
                          <a:spcPts val="0"/>
                        </a:spcAft>
                      </a:pP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83162973"/>
                  </a:ext>
                </a:extLst>
              </a:tr>
              <a:tr h="107954">
                <a:tc gridSpan="5">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endParaRPr lang="zh-CN" altLang="zh-CN" sz="105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accent5">
                          <a:lumMod val="75000"/>
                        </a:schemeClr>
                      </a:solidFill>
                      <a:prstDash val="solid"/>
                      <a:round/>
                      <a:headEnd type="none" w="med" len="med"/>
                      <a:tailEnd type="none" w="med" len="med"/>
                    </a:lnL>
                    <a:lnR w="12700" cap="flat" cmpd="sng" algn="ctr">
                      <a:solidFill>
                        <a:schemeClr val="accent5">
                          <a:lumMod val="75000"/>
                        </a:schemeClr>
                      </a:solidFill>
                      <a:prstDash val="solid"/>
                      <a:round/>
                      <a:headEnd type="none" w="med" len="med"/>
                      <a:tailEnd type="none" w="med" len="med"/>
                    </a:lnR>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785857923"/>
                  </a:ext>
                </a:extLst>
              </a:tr>
              <a:tr h="643515">
                <a:tc rowSpan="2">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rPr>
                        <a:t>捕捉</a:t>
                      </a:r>
                      <a:r>
                        <a:rPr lang="zh-CN" altLang="zh-CN" sz="1600" kern="100" dirty="0" smtClean="0">
                          <a:effectLst/>
                        </a:rPr>
                        <a:t>范围</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超前滞后型</a:t>
                      </a:r>
                      <a:endParaRPr lang="en-US"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环路滤波器</a:t>
                      </a:r>
                      <a:endParaRPr lang="zh-CN"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0" indent="-127000" algn="ctr">
                        <a:lnSpc>
                          <a:spcPct val="115000"/>
                        </a:lnSpc>
                        <a:spcAft>
                          <a:spcPts val="0"/>
                        </a:spcAft>
                      </a:pPr>
                      <a:r>
                        <a:rPr lang="zh-CN" altLang="en-US" sz="1600" b="0" kern="100" dirty="0" smtClean="0">
                          <a:effectLst/>
                        </a:rPr>
                        <a:t>取</a:t>
                      </a:r>
                      <a:r>
                        <a:rPr lang="zh-CN" altLang="zh-CN" sz="1600" b="0" kern="100" dirty="0" smtClean="0">
                          <a:effectLst/>
                        </a:rPr>
                        <a:t>决于</a:t>
                      </a:r>
                      <a:r>
                        <a:rPr lang="en-US" altLang="zh-CN" sz="1600" b="0" kern="100" dirty="0" smtClean="0">
                          <a:effectLst/>
                        </a:rPr>
                        <a:t>VCO</a:t>
                      </a:r>
                      <a:r>
                        <a:rPr lang="zh-CN" altLang="en-US" sz="1600" b="0" kern="100" dirty="0" smtClean="0">
                          <a:effectLst/>
                        </a:rPr>
                        <a:t>的</a:t>
                      </a:r>
                      <a:endParaRPr lang="en-US" altLang="zh-CN" sz="1600" b="0" kern="100" dirty="0" smtClean="0">
                        <a:effectLst/>
                      </a:endParaRPr>
                    </a:p>
                    <a:p>
                      <a:pPr marL="63500" indent="-127000" algn="ctr">
                        <a:lnSpc>
                          <a:spcPct val="115000"/>
                        </a:lnSpc>
                        <a:spcAft>
                          <a:spcPts val="0"/>
                        </a:spcAft>
                      </a:pPr>
                      <a:r>
                        <a:rPr lang="zh-CN" altLang="en-US" sz="1600" b="0" kern="100" dirty="0" smtClean="0">
                          <a:effectLst/>
                        </a:rPr>
                        <a:t>可控</a:t>
                      </a:r>
                      <a:r>
                        <a:rPr lang="zh-CN" altLang="zh-CN" sz="1600" b="0" kern="100" dirty="0" smtClean="0">
                          <a:effectLst/>
                        </a:rPr>
                        <a:t>频率范围</a:t>
                      </a:r>
                      <a:endParaRPr lang="zh-CN" altLang="en-US" sz="2000"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7190528"/>
                  </a:ext>
                </a:extLst>
              </a:tr>
              <a:tr h="634065">
                <a:tc vMerge="1">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5">
                          <a:lumMod val="75000"/>
                        </a:schemeClr>
                      </a:solidFill>
                      <a:prstDash val="solid"/>
                      <a:round/>
                      <a:headEnd type="none" w="med" len="med"/>
                      <a:tailEnd type="none" w="med" len="med"/>
                    </a:lnR>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比例积分型</a:t>
                      </a:r>
                      <a:endParaRPr lang="en-US"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环路滤波器</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kern="100" dirty="0" smtClean="0">
                          <a:effectLst/>
                        </a:rPr>
                        <a:t>取</a:t>
                      </a:r>
                      <a:r>
                        <a:rPr lang="zh-CN" altLang="zh-CN" sz="1600" b="0" kern="100" dirty="0" smtClean="0">
                          <a:effectLst/>
                        </a:rPr>
                        <a:t>决于</a:t>
                      </a:r>
                      <a:r>
                        <a:rPr lang="en-US" altLang="zh-CN" sz="1600" b="0" kern="100" dirty="0" smtClean="0">
                          <a:effectLst/>
                        </a:rPr>
                        <a:t>VCO</a:t>
                      </a:r>
                      <a:r>
                        <a:rPr lang="zh-CN" altLang="en-US" sz="1600" b="0" kern="100" dirty="0" smtClean="0">
                          <a:effectLst/>
                        </a:rPr>
                        <a:t>的可控</a:t>
                      </a:r>
                      <a:r>
                        <a:rPr lang="zh-CN" altLang="zh-CN" sz="1600" b="0" kern="100" dirty="0" smtClean="0">
                          <a:effectLst/>
                        </a:rPr>
                        <a:t>频率范围</a:t>
                      </a:r>
                      <a:endParaRPr lang="zh-CN" altLang="en-US" sz="1600" dirty="0" smtClean="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0739215"/>
                  </a:ext>
                </a:extLst>
              </a:tr>
              <a:tr h="938177">
                <a:tc rowSpan="2">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捕捉时间</a:t>
                      </a:r>
                      <a:endParaRPr lang="zh-CN"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超前滞后型</a:t>
                      </a:r>
                      <a:endParaRPr lang="en-US"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环路滤波器</a:t>
                      </a:r>
                      <a:endParaRPr lang="zh-CN"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14466652"/>
                  </a:ext>
                </a:extLst>
              </a:tr>
              <a:tr h="774581">
                <a:tc vMerge="1">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R w="12700" cap="flat" cmpd="sng" algn="ctr">
                      <a:solidFill>
                        <a:schemeClr val="accent5">
                          <a:lumMod val="75000"/>
                        </a:schemeClr>
                      </a:solidFill>
                      <a:prstDash val="solid"/>
                      <a:round/>
                      <a:headEnd type="none" w="med" len="med"/>
                      <a:tailEnd type="none" w="med" len="med"/>
                    </a:lnR>
                  </a:tcPr>
                </a:tc>
                <a:tc>
                  <a:txBody>
                    <a:bodyPr/>
                    <a:lstStyle/>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比例积分型</a:t>
                      </a:r>
                      <a:endParaRPr lang="en-US" altLang="zh-CN" sz="16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p>
                      <a:pPr marL="63500" marR="0" lvl="0" indent="-127000" algn="ctr" defTabSz="914400" rtl="0" eaLnBrk="1" fontAlgn="auto" latinLnBrk="0" hangingPunct="1">
                        <a:lnSpc>
                          <a:spcPct val="115000"/>
                        </a:lnSpc>
                        <a:spcBef>
                          <a:spcPts val="0"/>
                        </a:spcBef>
                        <a:spcAft>
                          <a:spcPts val="0"/>
                        </a:spcAft>
                        <a:buClrTx/>
                        <a:buSzTx/>
                        <a:buFontTx/>
                        <a:buNone/>
                        <a:tabLst/>
                        <a:defRPr/>
                      </a:pPr>
                      <a:r>
                        <a:rPr lang="zh-CN" altLang="en-US" sz="1600" kern="100" dirty="0" smtClean="0">
                          <a:effectLst/>
                          <a:latin typeface="Times New Roman" panose="02020603050405020304" pitchFamily="18" charset="0"/>
                          <a:ea typeface="宋体" panose="02010600030101010101" pitchFamily="2" charset="-122"/>
                          <a:cs typeface="Times New Roman" panose="02020603050405020304" pitchFamily="18" charset="0"/>
                        </a:rPr>
                        <a:t>环路滤波器</a:t>
                      </a:r>
                      <a:endParaRPr lang="zh-CN" altLang="zh-CN" sz="2000" kern="100" dirty="0" smtClean="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CN" altLang="en-US" dirty="0"/>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5134574"/>
                  </a:ext>
                </a:extLst>
              </a:tr>
            </a:tbl>
          </a:graphicData>
        </a:graphic>
      </p:graphicFrame>
      <p:graphicFrame>
        <p:nvGraphicFramePr>
          <p:cNvPr id="7" name="对象 6"/>
          <p:cNvGraphicFramePr>
            <a:graphicFrameLocks noChangeAspect="1"/>
          </p:cNvGraphicFramePr>
          <p:nvPr>
            <p:extLst/>
          </p:nvPr>
        </p:nvGraphicFramePr>
        <p:xfrm>
          <a:off x="4900850" y="1084999"/>
          <a:ext cx="609596" cy="398482"/>
        </p:xfrm>
        <a:graphic>
          <a:graphicData uri="http://schemas.openxmlformats.org/presentationml/2006/ole">
            <mc:AlternateContent xmlns:mc="http://schemas.openxmlformats.org/markup-compatibility/2006">
              <mc:Choice xmlns:v="urn:schemas-microsoft-com:vml" Requires="v">
                <p:oleObj spid="_x0000_s24204" name="Equation" r:id="rId3" imgW="279158" imgH="177646" progId="Equation.DSMT4">
                  <p:embed/>
                </p:oleObj>
              </mc:Choice>
              <mc:Fallback>
                <p:oleObj name="Equation" r:id="rId3" imgW="279158" imgH="177646"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0850" y="1084999"/>
                        <a:ext cx="609596" cy="398482"/>
                      </a:xfrm>
                      <a:prstGeom prst="rect">
                        <a:avLst/>
                      </a:prstGeom>
                      <a:noFill/>
                    </p:spPr>
                  </p:pic>
                </p:oleObj>
              </mc:Fallback>
            </mc:AlternateContent>
          </a:graphicData>
        </a:graphic>
      </p:graphicFrame>
      <p:graphicFrame>
        <p:nvGraphicFramePr>
          <p:cNvPr id="8" name="对象 7"/>
          <p:cNvGraphicFramePr>
            <a:graphicFrameLocks noChangeAspect="1"/>
          </p:cNvGraphicFramePr>
          <p:nvPr>
            <p:extLst/>
          </p:nvPr>
        </p:nvGraphicFramePr>
        <p:xfrm>
          <a:off x="6623602" y="1084999"/>
          <a:ext cx="609596" cy="398482"/>
        </p:xfrm>
        <a:graphic>
          <a:graphicData uri="http://schemas.openxmlformats.org/presentationml/2006/ole">
            <mc:AlternateContent xmlns:mc="http://schemas.openxmlformats.org/markup-compatibility/2006">
              <mc:Choice xmlns:v="urn:schemas-microsoft-com:vml" Requires="v">
                <p:oleObj spid="_x0000_s24205" name="Equation" r:id="rId5" imgW="279158" imgH="177646" progId="Equation.DSMT4">
                  <p:embed/>
                </p:oleObj>
              </mc:Choice>
              <mc:Fallback>
                <p:oleObj name="Equation" r:id="rId5" imgW="279158" imgH="177646" progId="Equation.DSMT4">
                  <p:embed/>
                  <p:pic>
                    <p:nvPicPr>
                      <p:cNvPr id="8" name="对象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23602" y="1084999"/>
                        <a:ext cx="609596" cy="398482"/>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nvPr>
        </p:nvGraphicFramePr>
        <p:xfrm>
          <a:off x="8385756" y="1067927"/>
          <a:ext cx="748138" cy="398481"/>
        </p:xfrm>
        <a:graphic>
          <a:graphicData uri="http://schemas.openxmlformats.org/presentationml/2006/ole">
            <mc:AlternateContent xmlns:mc="http://schemas.openxmlformats.org/markup-compatibility/2006">
              <mc:Choice xmlns:v="urn:schemas-microsoft-com:vml" Requires="v">
                <p:oleObj spid="_x0000_s24206" name="Equation" r:id="rId7" imgW="342603" imgH="177646" progId="Equation.DSMT4">
                  <p:embed/>
                </p:oleObj>
              </mc:Choice>
              <mc:Fallback>
                <p:oleObj name="Equation" r:id="rId7" imgW="342603" imgH="177646"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5756" y="1067927"/>
                        <a:ext cx="748138" cy="398481"/>
                      </a:xfrm>
                      <a:prstGeom prst="rect">
                        <a:avLst/>
                      </a:prstGeom>
                      <a:noFill/>
                    </p:spPr>
                  </p:pic>
                </p:oleObj>
              </mc:Fallback>
            </mc:AlternateContent>
          </a:graphicData>
        </a:graphic>
      </p:graphicFrame>
      <p:graphicFrame>
        <p:nvGraphicFramePr>
          <p:cNvPr id="11" name="对象 10"/>
          <p:cNvGraphicFramePr>
            <a:graphicFrameLocks noChangeAspect="1"/>
          </p:cNvGraphicFramePr>
          <p:nvPr>
            <p:extLst/>
          </p:nvPr>
        </p:nvGraphicFramePr>
        <p:xfrm>
          <a:off x="6337301" y="1582739"/>
          <a:ext cx="911225" cy="395287"/>
        </p:xfrm>
        <a:graphic>
          <a:graphicData uri="http://schemas.openxmlformats.org/presentationml/2006/ole">
            <mc:AlternateContent xmlns:mc="http://schemas.openxmlformats.org/markup-compatibility/2006">
              <mc:Choice xmlns:v="urn:schemas-microsoft-com:vml" Requires="v">
                <p:oleObj spid="_x0000_s24207" name="Equation" r:id="rId9" imgW="507960" imgH="203040" progId="Equation.DSMT4">
                  <p:embed/>
                </p:oleObj>
              </mc:Choice>
              <mc:Fallback>
                <p:oleObj name="Equation" r:id="rId9" imgW="507960" imgH="203040" progId="Equation.DSMT4">
                  <p:embed/>
                  <p:pic>
                    <p:nvPicPr>
                      <p:cNvPr id="11" name="对象 10"/>
                      <p:cNvPicPr>
                        <a:picLocks noChangeAspect="1" noChangeArrowheads="1"/>
                      </p:cNvPicPr>
                      <p:nvPr/>
                    </p:nvPicPr>
                    <p:blipFill>
                      <a:blip r:embed="rId10"/>
                      <a:srcRect/>
                      <a:stretch>
                        <a:fillRect/>
                      </a:stretch>
                    </p:blipFill>
                    <p:spPr bwMode="auto">
                      <a:xfrm>
                        <a:off x="6337301" y="1582739"/>
                        <a:ext cx="911225" cy="395287"/>
                      </a:xfrm>
                      <a:prstGeom prst="rect">
                        <a:avLst/>
                      </a:prstGeom>
                      <a:noFill/>
                    </p:spPr>
                  </p:pic>
                </p:oleObj>
              </mc:Fallback>
            </mc:AlternateContent>
          </a:graphicData>
        </a:graphic>
      </p:graphicFrame>
      <p:sp>
        <p:nvSpPr>
          <p:cNvPr id="16" name="文本框 15"/>
          <p:cNvSpPr txBox="1"/>
          <p:nvPr/>
        </p:nvSpPr>
        <p:spPr>
          <a:xfrm>
            <a:off x="1797976" y="5233986"/>
            <a:ext cx="8429270" cy="830997"/>
          </a:xfrm>
          <a:prstGeom prst="rect">
            <a:avLst/>
          </a:prstGeom>
          <a:noFill/>
        </p:spPr>
        <p:txBody>
          <a:bodyPr wrap="square" rtlCol="0">
            <a:spAutoFit/>
          </a:bodyPr>
          <a:lstStyle/>
          <a:p>
            <a:pPr>
              <a:lnSpc>
                <a:spcPct val="150000"/>
              </a:lnSpc>
            </a:pPr>
            <a:r>
              <a:rPr lang="zh-CN" altLang="en-US" sz="1600" dirty="0"/>
              <a:t>其中</a:t>
            </a:r>
            <a:r>
              <a:rPr lang="el-GR" altLang="zh-CN" sz="1600" i="1" dirty="0">
                <a:latin typeface="+mn-lt"/>
              </a:rPr>
              <a:t>Δ</a:t>
            </a:r>
            <a:r>
              <a:rPr lang="el-GR" altLang="zh-CN" sz="1600" i="1" dirty="0">
                <a:latin typeface="Times New Roman" panose="02020603050405020304" pitchFamily="18" charset="0"/>
                <a:cs typeface="Times New Roman" panose="02020603050405020304" pitchFamily="18" charset="0"/>
              </a:rPr>
              <a:t>ω</a:t>
            </a:r>
            <a:r>
              <a:rPr lang="en-US" altLang="zh-CN" sz="1600" baseline="-25000" dirty="0">
                <a:latin typeface="Times New Roman" panose="02020603050405020304" pitchFamily="18" charset="0"/>
                <a:cs typeface="Times New Roman" panose="02020603050405020304" pitchFamily="18" charset="0"/>
              </a:rPr>
              <a:t>0</a:t>
            </a:r>
            <a:r>
              <a:rPr lang="zh-CN" altLang="en-US" sz="1600" dirty="0">
                <a:latin typeface="Times New Roman" panose="02020603050405020304" pitchFamily="18" charset="0"/>
                <a:cs typeface="Times New Roman" panose="02020603050405020304" pitchFamily="18" charset="0"/>
              </a:rPr>
              <a:t>为初始频率偏差，即输入的参考频率与反馈到鉴相器的</a:t>
            </a:r>
            <a:r>
              <a:rPr lang="en-US" altLang="zh-CN" sz="1600" dirty="0">
                <a:latin typeface="Times New Roman" panose="02020603050405020304" pitchFamily="18" charset="0"/>
                <a:cs typeface="Times New Roman" panose="02020603050405020304" pitchFamily="18" charset="0"/>
              </a:rPr>
              <a:t>VCO</a:t>
            </a:r>
            <a:r>
              <a:rPr lang="zh-CN" altLang="en-US" sz="1600" dirty="0">
                <a:latin typeface="Times New Roman" panose="02020603050405020304" pitchFamily="18" charset="0"/>
                <a:cs typeface="Times New Roman" panose="02020603050405020304" pitchFamily="18" charset="0"/>
              </a:rPr>
              <a:t>初始频率的偏差，</a:t>
            </a:r>
            <a:r>
              <a:rPr lang="en-US" altLang="zh-CN" sz="1600" i="1" dirty="0">
                <a:latin typeface="Times New Roman" panose="02020603050405020304" pitchFamily="18" charset="0"/>
                <a:cs typeface="Times New Roman" panose="02020603050405020304" pitchFamily="18" charset="0"/>
              </a:rPr>
              <a:t>V</a:t>
            </a:r>
            <a:r>
              <a:rPr lang="en-US" altLang="zh-CN" sz="1600" i="1" baseline="-25000" dirty="0">
                <a:latin typeface="Times New Roman" panose="02020603050405020304" pitchFamily="18" charset="0"/>
                <a:cs typeface="Times New Roman" panose="02020603050405020304" pitchFamily="18" charset="0"/>
              </a:rPr>
              <a:t>H</a:t>
            </a:r>
            <a:r>
              <a:rPr lang="zh-CN" altLang="en-US" sz="1600" dirty="0">
                <a:latin typeface="Times New Roman" panose="02020603050405020304" pitchFamily="18" charset="0"/>
                <a:cs typeface="Times New Roman" panose="02020603050405020304" pitchFamily="18" charset="0"/>
              </a:rPr>
              <a:t>为鉴相器的输出高电平。</a:t>
            </a:r>
            <a:r>
              <a:rPr lang="el-GR" altLang="zh-CN" sz="1600" dirty="0">
                <a:latin typeface="Times New Roman" panose="02020603050405020304" pitchFamily="18" charset="0"/>
                <a:cs typeface="Times New Roman" panose="02020603050405020304" pitchFamily="18" charset="0"/>
              </a:rPr>
              <a:t>τ</a:t>
            </a:r>
            <a:r>
              <a:rPr lang="en-US" altLang="zh-CN" sz="1600" baseline="-250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与</a:t>
            </a:r>
            <a:r>
              <a:rPr lang="el-GR" altLang="zh-CN" sz="1600" dirty="0">
                <a:latin typeface="Times New Roman" panose="02020603050405020304" pitchFamily="18" charset="0"/>
                <a:cs typeface="Times New Roman" panose="02020603050405020304" pitchFamily="18" charset="0"/>
              </a:rPr>
              <a:t>τ</a:t>
            </a:r>
            <a:r>
              <a:rPr lang="en-US" altLang="zh-CN" sz="1600" baseline="-25000" dirty="0">
                <a:latin typeface="Times New Roman" panose="02020603050405020304" pitchFamily="18" charset="0"/>
                <a:cs typeface="Times New Roman" panose="02020603050405020304" pitchFamily="18" charset="0"/>
              </a:rPr>
              <a:t>2</a:t>
            </a:r>
            <a:r>
              <a:rPr lang="zh-CN" altLang="en-US" sz="1600" dirty="0">
                <a:latin typeface="Times New Roman" panose="02020603050405020304" pitchFamily="18" charset="0"/>
                <a:cs typeface="Times New Roman" panose="02020603050405020304" pitchFamily="18" charset="0"/>
              </a:rPr>
              <a:t>分别等于环路滤波器中的</a:t>
            </a:r>
            <a:r>
              <a:rPr lang="en-US" altLang="zh-CN" sz="1600" dirty="0">
                <a:latin typeface="Times New Roman" panose="02020603050405020304" pitchFamily="18" charset="0"/>
                <a:cs typeface="Times New Roman" panose="02020603050405020304" pitchFamily="18" charset="0"/>
              </a:rPr>
              <a:t>1/</a:t>
            </a:r>
            <a:r>
              <a:rPr lang="el-GR" altLang="zh-CN" sz="1600" dirty="0">
                <a:latin typeface="Times New Roman" panose="02020603050405020304" pitchFamily="18" charset="0"/>
                <a:cs typeface="Times New Roman" panose="02020603050405020304" pitchFamily="18" charset="0"/>
              </a:rPr>
              <a:t>ω</a:t>
            </a:r>
            <a:r>
              <a:rPr lang="en-US" altLang="zh-CN" sz="1600" baseline="-25000" dirty="0">
                <a:latin typeface="Times New Roman" panose="02020603050405020304" pitchFamily="18" charset="0"/>
                <a:cs typeface="Times New Roman" panose="02020603050405020304" pitchFamily="18" charset="0"/>
              </a:rPr>
              <a:t>1</a:t>
            </a:r>
            <a:r>
              <a:rPr lang="zh-CN" altLang="en-US" sz="1600" dirty="0">
                <a:latin typeface="Times New Roman" panose="02020603050405020304" pitchFamily="18" charset="0"/>
                <a:cs typeface="Times New Roman" panose="02020603050405020304" pitchFamily="18" charset="0"/>
              </a:rPr>
              <a:t>与</a:t>
            </a:r>
            <a:r>
              <a:rPr lang="en-US" altLang="zh-CN" sz="1600" dirty="0">
                <a:latin typeface="Times New Roman" panose="02020603050405020304" pitchFamily="18" charset="0"/>
                <a:cs typeface="Times New Roman" panose="02020603050405020304" pitchFamily="18" charset="0"/>
              </a:rPr>
              <a:t>1/</a:t>
            </a:r>
            <a:r>
              <a:rPr lang="el-GR" altLang="zh-CN" sz="1600" dirty="0">
                <a:latin typeface="Times New Roman" panose="02020603050405020304" pitchFamily="18" charset="0"/>
                <a:cs typeface="Times New Roman" panose="02020603050405020304" pitchFamily="18" charset="0"/>
              </a:rPr>
              <a:t>ω</a:t>
            </a:r>
            <a:r>
              <a:rPr lang="en-US" altLang="zh-CN" sz="1600" baseline="-25000" dirty="0" smtClean="0">
                <a:latin typeface="Times New Roman" panose="02020603050405020304" pitchFamily="18" charset="0"/>
                <a:cs typeface="Times New Roman" panose="02020603050405020304" pitchFamily="18" charset="0"/>
              </a:rPr>
              <a:t>2</a:t>
            </a:r>
            <a:endParaRPr lang="zh-CN" altLang="en-US" sz="1600" dirty="0"/>
          </a:p>
        </p:txBody>
      </p:sp>
      <p:graphicFrame>
        <p:nvGraphicFramePr>
          <p:cNvPr id="22" name="对象 21"/>
          <p:cNvGraphicFramePr>
            <a:graphicFrameLocks noChangeAspect="1"/>
          </p:cNvGraphicFramePr>
          <p:nvPr>
            <p:extLst/>
          </p:nvPr>
        </p:nvGraphicFramePr>
        <p:xfrm>
          <a:off x="4368771" y="2263942"/>
          <a:ext cx="1567115" cy="614791"/>
        </p:xfrm>
        <a:graphic>
          <a:graphicData uri="http://schemas.openxmlformats.org/presentationml/2006/ole">
            <mc:AlternateContent xmlns:mc="http://schemas.openxmlformats.org/markup-compatibility/2006">
              <mc:Choice xmlns:v="urn:schemas-microsoft-com:vml" Requires="v">
                <p:oleObj spid="_x0000_s24208" name="Equation" r:id="rId11" imgW="825142" imgH="317362" progId="Equation.DSMT4">
                  <p:embed/>
                </p:oleObj>
              </mc:Choice>
              <mc:Fallback>
                <p:oleObj name="Equation" r:id="rId11" imgW="825142" imgH="317362" progId="Equation.DSMT4">
                  <p:embed/>
                  <p:pic>
                    <p:nvPicPr>
                      <p:cNvPr id="22" name="对象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68771" y="2263942"/>
                        <a:ext cx="1567115" cy="614791"/>
                      </a:xfrm>
                      <a:prstGeom prst="rect">
                        <a:avLst/>
                      </a:prstGeom>
                      <a:noFill/>
                    </p:spPr>
                  </p:pic>
                </p:oleObj>
              </mc:Fallback>
            </mc:AlternateContent>
          </a:graphicData>
        </a:graphic>
      </p:graphicFrame>
      <p:graphicFrame>
        <p:nvGraphicFramePr>
          <p:cNvPr id="23" name="对象 22"/>
          <p:cNvGraphicFramePr>
            <a:graphicFrameLocks noChangeAspect="1"/>
          </p:cNvGraphicFramePr>
          <p:nvPr>
            <p:extLst/>
          </p:nvPr>
        </p:nvGraphicFramePr>
        <p:xfrm>
          <a:off x="6216102" y="2235121"/>
          <a:ext cx="1607973" cy="630820"/>
        </p:xfrm>
        <a:graphic>
          <a:graphicData uri="http://schemas.openxmlformats.org/presentationml/2006/ole">
            <mc:AlternateContent xmlns:mc="http://schemas.openxmlformats.org/markup-compatibility/2006">
              <mc:Choice xmlns:v="urn:schemas-microsoft-com:vml" Requires="v">
                <p:oleObj spid="_x0000_s24209" name="Equation" r:id="rId13" imgW="825142" imgH="317362" progId="Equation.DSMT4">
                  <p:embed/>
                </p:oleObj>
              </mc:Choice>
              <mc:Fallback>
                <p:oleObj name="Equation" r:id="rId13" imgW="825142" imgH="317362" progId="Equation.DSMT4">
                  <p:embed/>
                  <p:pic>
                    <p:nvPicPr>
                      <p:cNvPr id="23" name="对象 2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16102" y="2235121"/>
                        <a:ext cx="1607973" cy="630820"/>
                      </a:xfrm>
                      <a:prstGeom prst="rect">
                        <a:avLst/>
                      </a:prstGeom>
                      <a:noFill/>
                    </p:spPr>
                  </p:pic>
                </p:oleObj>
              </mc:Fallback>
            </mc:AlternateContent>
          </a:graphicData>
        </a:graphic>
      </p:graphicFrame>
      <p:graphicFrame>
        <p:nvGraphicFramePr>
          <p:cNvPr id="25" name="对象 24"/>
          <p:cNvGraphicFramePr>
            <a:graphicFrameLocks noChangeAspect="1"/>
          </p:cNvGraphicFramePr>
          <p:nvPr>
            <p:extLst/>
          </p:nvPr>
        </p:nvGraphicFramePr>
        <p:xfrm>
          <a:off x="8183563" y="3500439"/>
          <a:ext cx="1839912" cy="890587"/>
        </p:xfrm>
        <a:graphic>
          <a:graphicData uri="http://schemas.openxmlformats.org/presentationml/2006/ole">
            <mc:AlternateContent xmlns:mc="http://schemas.openxmlformats.org/markup-compatibility/2006">
              <mc:Choice xmlns:v="urn:schemas-microsoft-com:vml" Requires="v">
                <p:oleObj spid="_x0000_s24210" name="Equation" r:id="rId15" imgW="990360" imgH="482400" progId="Equation.DSMT4">
                  <p:embed/>
                </p:oleObj>
              </mc:Choice>
              <mc:Fallback>
                <p:oleObj name="Equation" r:id="rId15" imgW="990360" imgH="482400" progId="Equation.DSMT4">
                  <p:embed/>
                  <p:pic>
                    <p:nvPicPr>
                      <p:cNvPr id="25" name="对象 24"/>
                      <p:cNvPicPr>
                        <a:picLocks noChangeAspect="1" noChangeArrowheads="1"/>
                      </p:cNvPicPr>
                      <p:nvPr/>
                    </p:nvPicPr>
                    <p:blipFill>
                      <a:blip r:embed="rId16"/>
                      <a:srcRect/>
                      <a:stretch>
                        <a:fillRect/>
                      </a:stretch>
                    </p:blipFill>
                    <p:spPr bwMode="auto">
                      <a:xfrm>
                        <a:off x="8183563" y="3500439"/>
                        <a:ext cx="1839912" cy="890587"/>
                      </a:xfrm>
                      <a:prstGeom prst="rect">
                        <a:avLst/>
                      </a:prstGeom>
                      <a:noFill/>
                    </p:spPr>
                  </p:pic>
                </p:oleObj>
              </mc:Fallback>
            </mc:AlternateContent>
          </a:graphicData>
        </a:graphic>
      </p:graphicFrame>
      <p:graphicFrame>
        <p:nvGraphicFramePr>
          <p:cNvPr id="26" name="对象 25"/>
          <p:cNvGraphicFramePr>
            <a:graphicFrameLocks noChangeAspect="1"/>
          </p:cNvGraphicFramePr>
          <p:nvPr>
            <p:extLst/>
          </p:nvPr>
        </p:nvGraphicFramePr>
        <p:xfrm>
          <a:off x="4478678" y="3938558"/>
          <a:ext cx="1453940" cy="760317"/>
        </p:xfrm>
        <a:graphic>
          <a:graphicData uri="http://schemas.openxmlformats.org/presentationml/2006/ole">
            <mc:AlternateContent xmlns:mc="http://schemas.openxmlformats.org/markup-compatibility/2006">
              <mc:Choice xmlns:v="urn:schemas-microsoft-com:vml" Requires="v">
                <p:oleObj spid="_x0000_s24211" name="Equation" r:id="rId17" imgW="698197" imgH="355446" progId="Equation.DSMT4">
                  <p:embed/>
                </p:oleObj>
              </mc:Choice>
              <mc:Fallback>
                <p:oleObj name="Equation" r:id="rId17" imgW="698197" imgH="355446" progId="Equation.DSMT4">
                  <p:embed/>
                  <p:pic>
                    <p:nvPicPr>
                      <p:cNvPr id="26" name="对象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78678" y="3938558"/>
                        <a:ext cx="1453940" cy="760317"/>
                      </a:xfrm>
                      <a:prstGeom prst="rect">
                        <a:avLst/>
                      </a:prstGeom>
                      <a:noFill/>
                    </p:spPr>
                  </p:pic>
                </p:oleObj>
              </mc:Fallback>
            </mc:AlternateContent>
          </a:graphicData>
        </a:graphic>
      </p:graphicFrame>
      <p:graphicFrame>
        <p:nvGraphicFramePr>
          <p:cNvPr id="27" name="对象 26"/>
          <p:cNvGraphicFramePr>
            <a:graphicFrameLocks noChangeAspect="1"/>
          </p:cNvGraphicFramePr>
          <p:nvPr>
            <p:extLst/>
          </p:nvPr>
        </p:nvGraphicFramePr>
        <p:xfrm>
          <a:off x="6299476" y="3997740"/>
          <a:ext cx="1441222" cy="701135"/>
        </p:xfrm>
        <a:graphic>
          <a:graphicData uri="http://schemas.openxmlformats.org/presentationml/2006/ole">
            <mc:AlternateContent xmlns:mc="http://schemas.openxmlformats.org/markup-compatibility/2006">
              <mc:Choice xmlns:v="urn:schemas-microsoft-com:vml" Requires="v">
                <p:oleObj spid="_x0000_s24212" name="Equation" r:id="rId19" imgW="710891" imgH="342751" progId="Equation.DSMT4">
                  <p:embed/>
                </p:oleObj>
              </mc:Choice>
              <mc:Fallback>
                <p:oleObj name="Equation" r:id="rId19" imgW="710891" imgH="342751" progId="Equation.DSMT4">
                  <p:embed/>
                  <p:pic>
                    <p:nvPicPr>
                      <p:cNvPr id="27" name="对象 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299476" y="3997740"/>
                        <a:ext cx="1441222" cy="701135"/>
                      </a:xfrm>
                      <a:prstGeom prst="rect">
                        <a:avLst/>
                      </a:prstGeom>
                      <a:noFill/>
                    </p:spPr>
                  </p:pic>
                </p:oleObj>
              </mc:Fallback>
            </mc:AlternateContent>
          </a:graphicData>
        </a:graphic>
      </p:graphicFrame>
      <p:graphicFrame>
        <p:nvGraphicFramePr>
          <p:cNvPr id="29" name="对象 28"/>
          <p:cNvGraphicFramePr>
            <a:graphicFrameLocks noChangeAspect="1"/>
          </p:cNvGraphicFramePr>
          <p:nvPr>
            <p:extLst/>
          </p:nvPr>
        </p:nvGraphicFramePr>
        <p:xfrm>
          <a:off x="8623694" y="4460577"/>
          <a:ext cx="951312" cy="684945"/>
        </p:xfrm>
        <a:graphic>
          <a:graphicData uri="http://schemas.openxmlformats.org/presentationml/2006/ole">
            <mc:AlternateContent xmlns:mc="http://schemas.openxmlformats.org/markup-compatibility/2006">
              <mc:Choice xmlns:v="urn:schemas-microsoft-com:vml" Requires="v">
                <p:oleObj spid="_x0000_s24213" name="Equation" r:id="rId21" imgW="469696" imgH="342751" progId="Equation.DSMT4">
                  <p:embed/>
                </p:oleObj>
              </mc:Choice>
              <mc:Fallback>
                <p:oleObj name="Equation" r:id="rId21" imgW="469696" imgH="342751" progId="Equation.DSMT4">
                  <p:embed/>
                  <p:pic>
                    <p:nvPicPr>
                      <p:cNvPr id="29" name="对象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623694" y="4460577"/>
                        <a:ext cx="951312" cy="684945"/>
                      </a:xfrm>
                      <a:prstGeom prst="rect">
                        <a:avLst/>
                      </a:prstGeom>
                      <a:noFill/>
                    </p:spPr>
                  </p:pic>
                </p:oleObj>
              </mc:Fallback>
            </mc:AlternateContent>
          </a:graphicData>
        </a:graphic>
      </p:graphicFrame>
      <p:sp>
        <p:nvSpPr>
          <p:cNvPr id="30" name="文本框 29"/>
          <p:cNvSpPr txBox="1"/>
          <p:nvPr/>
        </p:nvSpPr>
        <p:spPr>
          <a:xfrm>
            <a:off x="1797977" y="6062751"/>
            <a:ext cx="7552267" cy="338554"/>
          </a:xfrm>
          <a:prstGeom prst="rect">
            <a:avLst/>
          </a:prstGeom>
          <a:noFill/>
        </p:spPr>
        <p:txBody>
          <a:bodyPr wrap="square" rtlCol="0">
            <a:spAutoFit/>
          </a:bodyPr>
          <a:lstStyle/>
          <a:p>
            <a:r>
              <a:rPr lang="zh-CN" altLang="en-US" sz="1600" dirty="0"/>
              <a:t>表中所有频率范围公式均假定</a:t>
            </a:r>
            <a:r>
              <a:rPr lang="en-US" altLang="zh-CN" sz="1600" dirty="0"/>
              <a:t>VCO</a:t>
            </a:r>
            <a:r>
              <a:rPr lang="zh-CN" altLang="en-US" sz="1600" dirty="0"/>
              <a:t>的可控频率范围大于该公式得到的结果</a:t>
            </a:r>
          </a:p>
        </p:txBody>
      </p:sp>
    </p:spTree>
    <p:extLst>
      <p:ext uri="{BB962C8B-B14F-4D97-AF65-F5344CB8AC3E}">
        <p14:creationId xmlns:p14="http://schemas.microsoft.com/office/powerpoint/2010/main" val="3295408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37</a:t>
            </a:fld>
            <a:endParaRPr lang="en-US" altLang="zh-CN">
              <a:solidFill>
                <a:srgbClr val="FFFFFF"/>
              </a:solidFill>
            </a:endParaRPr>
          </a:p>
        </p:txBody>
      </p:sp>
      <p:sp>
        <p:nvSpPr>
          <p:cNvPr id="5" name="文本框 4"/>
          <p:cNvSpPr txBox="1"/>
          <p:nvPr/>
        </p:nvSpPr>
        <p:spPr>
          <a:xfrm>
            <a:off x="442686" y="532853"/>
            <a:ext cx="11378899" cy="5493812"/>
          </a:xfrm>
          <a:prstGeom prst="rect">
            <a:avLst/>
          </a:prstGeom>
          <a:noFill/>
        </p:spPr>
        <p:txBody>
          <a:bodyPr wrap="square" rtlCol="0">
            <a:spAutoFit/>
          </a:bodyPr>
          <a:lstStyle/>
          <a:p>
            <a:pPr marL="285750" indent="-285750">
              <a:lnSpc>
                <a:spcPct val="150000"/>
              </a:lnSpc>
              <a:buFont typeface="Wingdings" panose="05000000000000000000" pitchFamily="2" charset="2"/>
              <a:buChar char="u"/>
            </a:pPr>
            <a:r>
              <a:rPr lang="zh-CN" altLang="en-US" sz="1800" dirty="0"/>
              <a:t>四</a:t>
            </a:r>
            <a:r>
              <a:rPr lang="zh-CN" altLang="en-US" sz="1800" dirty="0" smtClean="0"/>
              <a:t>个动态频率</a:t>
            </a:r>
            <a:r>
              <a:rPr lang="zh-CN" altLang="en-US" sz="1800" dirty="0"/>
              <a:t>范围的总结</a:t>
            </a:r>
            <a:endParaRPr lang="en-US" altLang="zh-CN" sz="1800" dirty="0"/>
          </a:p>
          <a:p>
            <a:pPr>
              <a:lnSpc>
                <a:spcPct val="150000"/>
              </a:lnSpc>
            </a:pPr>
            <a:endParaRPr lang="en-US" altLang="zh-CN" sz="800" dirty="0"/>
          </a:p>
          <a:p>
            <a:pPr marL="285750" indent="-285750">
              <a:lnSpc>
                <a:spcPct val="150000"/>
              </a:lnSpc>
              <a:buFont typeface="Arial" panose="020B0604020202020204" pitchFamily="34" charset="0"/>
              <a:buChar char="•"/>
            </a:pPr>
            <a:r>
              <a:rPr lang="zh-CN" altLang="en-US" sz="1800" dirty="0"/>
              <a:t>同步范围：准静态条件下锁相环能够跟踪输入信号的最大频率</a:t>
            </a:r>
            <a:r>
              <a:rPr lang="zh-CN" altLang="en-US" sz="1800" dirty="0" smtClean="0"/>
              <a:t>范围</a:t>
            </a:r>
            <a:endParaRPr lang="en-US" altLang="zh-CN" sz="1800" dirty="0" smtClean="0"/>
          </a:p>
          <a:p>
            <a:pPr lvl="2">
              <a:lnSpc>
                <a:spcPct val="150000"/>
              </a:lnSpc>
            </a:pPr>
            <a:r>
              <a:rPr lang="zh-CN" altLang="en-US" sz="1800" dirty="0" smtClean="0"/>
              <a:t>采用超前滞后滤波器与环路增益</a:t>
            </a:r>
            <a:r>
              <a:rPr lang="en-US" altLang="zh-CN" sz="1800" i="1" dirty="0" smtClean="0"/>
              <a:t>K</a:t>
            </a:r>
            <a:r>
              <a:rPr lang="zh-CN" altLang="en-US" sz="1800" dirty="0" smtClean="0"/>
              <a:t>成正比（采用积分型滤波器有最大同步范围）</a:t>
            </a:r>
            <a:endParaRPr lang="en-US" altLang="zh-CN" sz="1800" dirty="0"/>
          </a:p>
          <a:p>
            <a:pPr marL="285750" indent="-285750">
              <a:lnSpc>
                <a:spcPct val="150000"/>
              </a:lnSpc>
              <a:buFont typeface="Arial" panose="020B0604020202020204" pitchFamily="34" charset="0"/>
              <a:buChar char="•"/>
            </a:pPr>
            <a:r>
              <a:rPr lang="zh-CN" altLang="en-US" sz="1800" dirty="0"/>
              <a:t>捕捉范围：锁相环能够捕捉输入信号的最大频率范围</a:t>
            </a:r>
            <a:endParaRPr lang="en-US" altLang="zh-CN" sz="1800" dirty="0"/>
          </a:p>
          <a:p>
            <a:pPr lvl="2">
              <a:lnSpc>
                <a:spcPct val="150000"/>
              </a:lnSpc>
            </a:pPr>
            <a:r>
              <a:rPr lang="zh-CN" altLang="en-US" sz="1800" dirty="0" smtClean="0"/>
              <a:t>捕捉范围与</a:t>
            </a:r>
            <a:r>
              <a:rPr lang="zh-CN" altLang="en-US" sz="1800" dirty="0"/>
              <a:t>根号</a:t>
            </a:r>
            <a:r>
              <a:rPr lang="en-US" altLang="zh-CN" sz="1800" i="1" dirty="0" err="1"/>
              <a:t>Kω</a:t>
            </a:r>
            <a:r>
              <a:rPr lang="en-US" altLang="zh-CN" sz="1800" i="1" baseline="-25000" dirty="0" err="1"/>
              <a:t>n</a:t>
            </a:r>
            <a:r>
              <a:rPr lang="zh-CN" altLang="en-US" sz="1800" dirty="0" smtClean="0"/>
              <a:t>成正比（采用</a:t>
            </a:r>
            <a:r>
              <a:rPr lang="en-US" altLang="zh-CN" sz="1800" dirty="0"/>
              <a:t>PFD</a:t>
            </a:r>
            <a:r>
              <a:rPr lang="zh-CN" altLang="en-US" sz="1800" dirty="0"/>
              <a:t>和积分型滤波器有最大捕捉</a:t>
            </a:r>
            <a:r>
              <a:rPr lang="zh-CN" altLang="en-US" sz="1800" dirty="0" smtClean="0"/>
              <a:t>范围）</a:t>
            </a:r>
            <a:endParaRPr lang="en-US" altLang="zh-CN" sz="1800" dirty="0" smtClean="0"/>
          </a:p>
          <a:p>
            <a:pPr lvl="2">
              <a:lnSpc>
                <a:spcPct val="150000"/>
              </a:lnSpc>
            </a:pPr>
            <a:r>
              <a:rPr lang="zh-CN" altLang="en-US" sz="1800" dirty="0" smtClean="0"/>
              <a:t>捕捉</a:t>
            </a:r>
            <a:r>
              <a:rPr lang="zh-CN" altLang="en-US" sz="1800" dirty="0"/>
              <a:t>时间与</a:t>
            </a:r>
            <a:r>
              <a:rPr lang="en-US" altLang="zh-CN" sz="1800" i="1" dirty="0"/>
              <a:t>ω</a:t>
            </a:r>
            <a:r>
              <a:rPr lang="en-US" altLang="zh-CN" sz="1800" i="1" baseline="-25000" dirty="0"/>
              <a:t>n</a:t>
            </a:r>
            <a:r>
              <a:rPr lang="en-US" altLang="zh-CN" sz="1800" baseline="30000" dirty="0"/>
              <a:t>3</a:t>
            </a:r>
            <a:r>
              <a:rPr lang="zh-CN" altLang="en-US" sz="1800" dirty="0"/>
              <a:t>成</a:t>
            </a:r>
            <a:r>
              <a:rPr lang="zh-CN" altLang="en-US" sz="1800" dirty="0" smtClean="0"/>
              <a:t>反比，与初始频差的平方成正比（采用</a:t>
            </a:r>
            <a:r>
              <a:rPr lang="en-US" altLang="zh-CN" sz="1800" dirty="0" smtClean="0"/>
              <a:t>PFD</a:t>
            </a:r>
            <a:r>
              <a:rPr lang="zh-CN" altLang="en-US" sz="1800" dirty="0" smtClean="0"/>
              <a:t>的近似与</a:t>
            </a:r>
            <a:r>
              <a:rPr lang="en-US" altLang="zh-CN" sz="1800" i="1" dirty="0" err="1" smtClean="0"/>
              <a:t>ω</a:t>
            </a:r>
            <a:r>
              <a:rPr lang="en-US" altLang="zh-CN" sz="1800" i="1" baseline="-25000" dirty="0" err="1" smtClean="0"/>
              <a:t>n</a:t>
            </a:r>
            <a:r>
              <a:rPr lang="zh-CN" altLang="en-US" sz="1800" dirty="0" smtClean="0"/>
              <a:t>成正比）</a:t>
            </a:r>
            <a:endParaRPr lang="en-US" altLang="zh-CN" sz="1800" dirty="0" smtClean="0"/>
          </a:p>
          <a:p>
            <a:pPr marL="285750" indent="-285750">
              <a:lnSpc>
                <a:spcPct val="150000"/>
              </a:lnSpc>
              <a:buFont typeface="Arial" panose="020B0604020202020204" pitchFamily="34" charset="0"/>
              <a:buChar char="•"/>
            </a:pPr>
            <a:r>
              <a:rPr lang="zh-CN" altLang="en-US" sz="1800" dirty="0" smtClean="0"/>
              <a:t>失锁</a:t>
            </a:r>
            <a:r>
              <a:rPr lang="zh-CN" altLang="en-US" sz="1800" dirty="0"/>
              <a:t>范围：动态条件下锁相环能够跟踪输入信号的最大频率</a:t>
            </a:r>
            <a:r>
              <a:rPr lang="zh-CN" altLang="en-US" sz="1800" dirty="0" smtClean="0"/>
              <a:t>范围</a:t>
            </a:r>
            <a:endParaRPr lang="en-US" altLang="zh-CN" sz="1800" dirty="0" smtClean="0"/>
          </a:p>
          <a:p>
            <a:pPr lvl="2">
              <a:lnSpc>
                <a:spcPct val="150000"/>
              </a:lnSpc>
            </a:pPr>
            <a:r>
              <a:rPr lang="zh-CN" altLang="en-US" sz="1800" dirty="0" smtClean="0"/>
              <a:t>与自然频率</a:t>
            </a:r>
            <a:r>
              <a:rPr lang="en-US" altLang="zh-CN" sz="1800" i="1" dirty="0" err="1" smtClean="0"/>
              <a:t>ω</a:t>
            </a:r>
            <a:r>
              <a:rPr lang="en-US" altLang="zh-CN" sz="1800" i="1" baseline="-25000" dirty="0" err="1" smtClean="0"/>
              <a:t>n</a:t>
            </a:r>
            <a:r>
              <a:rPr lang="zh-CN" altLang="en-US" sz="1800" dirty="0" smtClean="0"/>
              <a:t>成正比</a:t>
            </a:r>
            <a:endParaRPr lang="en-US" altLang="zh-CN" sz="1800" dirty="0"/>
          </a:p>
          <a:p>
            <a:pPr marL="285750" indent="-285750">
              <a:lnSpc>
                <a:spcPct val="150000"/>
              </a:lnSpc>
              <a:buFont typeface="Arial" panose="020B0604020202020204" pitchFamily="34" charset="0"/>
              <a:buChar char="•"/>
            </a:pPr>
            <a:r>
              <a:rPr lang="zh-CN" altLang="en-US" sz="1800" dirty="0" smtClean="0"/>
              <a:t>锁定</a:t>
            </a:r>
            <a:r>
              <a:rPr lang="zh-CN" altLang="en-US" sz="1800" dirty="0"/>
              <a:t>范围</a:t>
            </a:r>
            <a:r>
              <a:rPr lang="zh-CN" altLang="en-US" sz="1800" dirty="0" smtClean="0"/>
              <a:t>：动态</a:t>
            </a:r>
            <a:r>
              <a:rPr lang="zh-CN" altLang="en-US" sz="1800" dirty="0"/>
              <a:t>条件下锁相环能够正常工作的最大频率</a:t>
            </a:r>
            <a:r>
              <a:rPr lang="zh-CN" altLang="en-US" sz="1800" dirty="0" smtClean="0"/>
              <a:t>范围</a:t>
            </a:r>
            <a:endParaRPr lang="en-US" altLang="zh-CN" sz="1800" dirty="0" smtClean="0"/>
          </a:p>
          <a:p>
            <a:pPr lvl="2">
              <a:lnSpc>
                <a:spcPct val="150000"/>
              </a:lnSpc>
            </a:pPr>
            <a:r>
              <a:rPr lang="zh-CN" altLang="en-US" sz="1800" dirty="0" smtClean="0"/>
              <a:t>锁定范围与</a:t>
            </a:r>
            <a:r>
              <a:rPr lang="en-US" altLang="zh-CN" sz="1800" i="1" dirty="0" err="1" smtClean="0"/>
              <a:t>ω</a:t>
            </a:r>
            <a:r>
              <a:rPr lang="en-US" altLang="zh-CN" sz="1800" i="1" baseline="-25000" dirty="0" err="1" smtClean="0"/>
              <a:t>n</a:t>
            </a:r>
            <a:r>
              <a:rPr lang="zh-CN" altLang="en-US" sz="1800" dirty="0"/>
              <a:t>成正比</a:t>
            </a:r>
            <a:r>
              <a:rPr lang="zh-CN" altLang="en-US" sz="1800" dirty="0" smtClean="0"/>
              <a:t>，锁定时间与</a:t>
            </a:r>
            <a:r>
              <a:rPr lang="en-US" altLang="zh-CN" sz="1800" i="1" dirty="0" err="1" smtClean="0"/>
              <a:t>ω</a:t>
            </a:r>
            <a:r>
              <a:rPr lang="en-US" altLang="zh-CN" sz="1800" i="1" baseline="-25000" dirty="0" err="1" smtClean="0"/>
              <a:t>n</a:t>
            </a:r>
            <a:r>
              <a:rPr lang="zh-CN" altLang="en-US" sz="1800" dirty="0" smtClean="0"/>
              <a:t>成反比</a:t>
            </a:r>
            <a:endParaRPr lang="en-US" altLang="zh-CN" sz="1800" dirty="0"/>
          </a:p>
          <a:p>
            <a:pPr>
              <a:lnSpc>
                <a:spcPct val="150000"/>
              </a:lnSpc>
            </a:pPr>
            <a:endParaRPr lang="en-US" altLang="zh-CN" sz="1000" dirty="0"/>
          </a:p>
          <a:p>
            <a:pPr>
              <a:lnSpc>
                <a:spcPct val="150000"/>
              </a:lnSpc>
            </a:pPr>
            <a:r>
              <a:rPr lang="zh-CN" altLang="en-US" sz="1800" dirty="0"/>
              <a:t>每个频率范围都是指在锁相环中心频率两侧的频率差，例如实际锁相环的正常工作频率范围为 </a:t>
            </a:r>
            <a:r>
              <a:rPr lang="en-US" altLang="zh-CN" sz="1800" i="1" dirty="0">
                <a:latin typeface="+mn-lt"/>
              </a:rPr>
              <a:t>f</a:t>
            </a:r>
            <a:r>
              <a:rPr lang="en-US" altLang="zh-CN" sz="1800" baseline="-25000" dirty="0">
                <a:latin typeface="+mn-lt"/>
              </a:rPr>
              <a:t>0</a:t>
            </a:r>
            <a:r>
              <a:rPr lang="en-US" altLang="zh-CN" sz="1800" dirty="0">
                <a:latin typeface="+mn-lt"/>
                <a:cs typeface="Times New Roman" panose="02020603050405020304" pitchFamily="18" charset="0"/>
              </a:rPr>
              <a:t>±</a:t>
            </a:r>
            <a:r>
              <a:rPr lang="zh-CN" altLang="en-US" sz="1800" dirty="0">
                <a:latin typeface="+mn-lt"/>
                <a:cs typeface="Times New Roman" panose="02020603050405020304" pitchFamily="18" charset="0"/>
              </a:rPr>
              <a:t>锁定范围</a:t>
            </a:r>
            <a:endParaRPr lang="en-US" altLang="zh-CN" sz="1800" dirty="0">
              <a:latin typeface="+mn-lt"/>
            </a:endParaRPr>
          </a:p>
          <a:p>
            <a:pPr>
              <a:lnSpc>
                <a:spcPct val="150000"/>
              </a:lnSpc>
            </a:pPr>
            <a:r>
              <a:rPr lang="zh-CN" altLang="en-US" sz="1800" dirty="0"/>
              <a:t>大小比较：同步范围</a:t>
            </a:r>
            <a:r>
              <a:rPr lang="en-US" altLang="zh-CN" sz="1800" dirty="0"/>
              <a:t>&gt;</a:t>
            </a:r>
            <a:r>
              <a:rPr lang="zh-CN" altLang="en-US" sz="1800" dirty="0"/>
              <a:t>捕捉范围</a:t>
            </a:r>
            <a:r>
              <a:rPr lang="en-US" altLang="zh-CN" sz="1800" dirty="0"/>
              <a:t>&gt;</a:t>
            </a:r>
            <a:r>
              <a:rPr lang="zh-CN" altLang="en-US" sz="1800" dirty="0"/>
              <a:t>失锁范围</a:t>
            </a:r>
            <a:r>
              <a:rPr lang="en-US" altLang="zh-CN" sz="1800" dirty="0"/>
              <a:t>&gt;</a:t>
            </a:r>
            <a:r>
              <a:rPr lang="zh-CN" altLang="en-US" sz="1800" dirty="0"/>
              <a:t>锁定</a:t>
            </a:r>
            <a:r>
              <a:rPr lang="zh-CN" altLang="en-US" sz="1800" dirty="0" smtClean="0"/>
              <a:t>范围</a:t>
            </a:r>
            <a:endParaRPr lang="en-US" altLang="zh-CN" sz="1800" dirty="0"/>
          </a:p>
        </p:txBody>
      </p:sp>
    </p:spTree>
    <p:extLst>
      <p:ext uri="{BB962C8B-B14F-4D97-AF65-F5344CB8AC3E}">
        <p14:creationId xmlns:p14="http://schemas.microsoft.com/office/powerpoint/2010/main" val="2987887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38</a:t>
            </a:fld>
            <a:endParaRPr lang="en-US" altLang="zh-CN">
              <a:solidFill>
                <a:srgbClr val="FFFFFF"/>
              </a:solidFill>
            </a:endParaRPr>
          </a:p>
        </p:txBody>
      </p:sp>
      <p:sp>
        <p:nvSpPr>
          <p:cNvPr id="5" name="文本框 4"/>
          <p:cNvSpPr txBox="1"/>
          <p:nvPr/>
        </p:nvSpPr>
        <p:spPr>
          <a:xfrm>
            <a:off x="464458" y="523609"/>
            <a:ext cx="11270343" cy="5493812"/>
          </a:xfrm>
          <a:prstGeom prst="rect">
            <a:avLst/>
          </a:prstGeom>
          <a:noFill/>
        </p:spPr>
        <p:txBody>
          <a:bodyPr wrap="square" rtlCol="0">
            <a:spAutoFit/>
          </a:bodyPr>
          <a:lstStyle/>
          <a:p>
            <a:pPr marL="342900" indent="-342900">
              <a:lnSpc>
                <a:spcPct val="150000"/>
              </a:lnSpc>
              <a:buFont typeface="Wingdings" panose="05000000000000000000" pitchFamily="2" charset="2"/>
              <a:buChar char="u"/>
            </a:pPr>
            <a:r>
              <a:rPr lang="zh-CN" altLang="en-US" sz="1800" dirty="0">
                <a:latin typeface="华文细黑" panose="02010600040101010101" pitchFamily="2" charset="-122"/>
              </a:rPr>
              <a:t>锁相环性能参数的简要</a:t>
            </a:r>
            <a:r>
              <a:rPr lang="zh-CN" altLang="en-US" sz="1800" dirty="0" smtClean="0">
                <a:latin typeface="华文细黑" panose="02010600040101010101" pitchFamily="2" charset="-122"/>
              </a:rPr>
              <a:t>总结与</a:t>
            </a:r>
            <a:r>
              <a:rPr lang="zh-CN" altLang="en-US" sz="1800" dirty="0" smtClean="0">
                <a:solidFill>
                  <a:srgbClr val="FF0000"/>
                </a:solidFill>
                <a:latin typeface="华文细黑" panose="02010600040101010101" pitchFamily="2" charset="-122"/>
              </a:rPr>
              <a:t>稳态</a:t>
            </a:r>
            <a:r>
              <a:rPr lang="zh-CN" altLang="en-US" sz="1800" dirty="0">
                <a:solidFill>
                  <a:srgbClr val="FF0000"/>
                </a:solidFill>
                <a:latin typeface="华文细黑" panose="02010600040101010101" pitchFamily="2" charset="-122"/>
              </a:rPr>
              <a:t>条件</a:t>
            </a:r>
            <a:r>
              <a:rPr lang="zh-CN" altLang="en-US" sz="1800" dirty="0" smtClean="0">
                <a:latin typeface="华文细黑" panose="02010600040101010101" pitchFamily="2" charset="-122"/>
              </a:rPr>
              <a:t>下</a:t>
            </a:r>
            <a:r>
              <a:rPr lang="zh-CN" altLang="en-US" sz="1800" dirty="0">
                <a:latin typeface="华文细黑" panose="02010600040101010101" pitchFamily="2" charset="-122"/>
              </a:rPr>
              <a:t>工作</a:t>
            </a:r>
            <a:r>
              <a:rPr lang="zh-CN" altLang="en-US" sz="1800" dirty="0" smtClean="0">
                <a:latin typeface="华文细黑" panose="02010600040101010101" pitchFamily="2" charset="-122"/>
              </a:rPr>
              <a:t>的锁相环电路设计</a:t>
            </a:r>
            <a:endParaRPr lang="en-US" altLang="zh-CN" sz="1800" dirty="0" smtClean="0">
              <a:latin typeface="华文细黑" panose="02010600040101010101" pitchFamily="2" charset="-122"/>
            </a:endParaRPr>
          </a:p>
          <a:p>
            <a:pPr marL="285750" indent="-285750">
              <a:lnSpc>
                <a:spcPct val="150000"/>
              </a:lnSpc>
              <a:buFont typeface="Arial" panose="020B0604020202020204" pitchFamily="34" charset="0"/>
              <a:buChar char="•"/>
            </a:pPr>
            <a:r>
              <a:rPr lang="zh-CN" altLang="en-US" sz="1800" dirty="0" smtClean="0"/>
              <a:t>闭环</a:t>
            </a:r>
            <a:r>
              <a:rPr lang="zh-CN" altLang="en-US" sz="1800" dirty="0" smtClean="0"/>
              <a:t>带宽</a:t>
            </a:r>
            <a:r>
              <a:rPr lang="el-GR" altLang="zh-CN" sz="1800" i="1" dirty="0" smtClean="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baseline="-25000" dirty="0" smtClean="0">
                <a:solidFill>
                  <a:schemeClr val="tx1">
                    <a:lumMod val="95000"/>
                    <a:lumOff val="5000"/>
                  </a:schemeClr>
                </a:solidFill>
                <a:latin typeface="Times New Roman" panose="02020603050405020304" pitchFamily="18" charset="0"/>
                <a:cs typeface="Times New Roman" panose="02020603050405020304" pitchFamily="18" charset="0"/>
              </a:rPr>
              <a:t>-3dB</a:t>
            </a:r>
            <a:r>
              <a:rPr lang="zh-CN" altLang="en-US" sz="1800" dirty="0" smtClean="0">
                <a:solidFill>
                  <a:schemeClr val="tx1">
                    <a:lumMod val="95000"/>
                    <a:lumOff val="5000"/>
                  </a:schemeClr>
                </a:solidFill>
                <a:latin typeface="Times New Roman" panose="02020603050405020304" pitchFamily="18" charset="0"/>
                <a:cs typeface="Times New Roman" panose="02020603050405020304" pitchFamily="18" charset="0"/>
              </a:rPr>
              <a:t>或自然频率</a:t>
            </a:r>
            <a:r>
              <a:rPr lang="el-GR" altLang="zh-CN" sz="1800" i="1" dirty="0" smtClean="0">
                <a:solidFill>
                  <a:schemeClr val="tx1">
                    <a:lumMod val="95000"/>
                    <a:lumOff val="5000"/>
                  </a:schemeClr>
                </a:solidFill>
                <a:latin typeface="Times New Roman" panose="02020603050405020304" pitchFamily="18" charset="0"/>
                <a:cs typeface="Times New Roman" panose="02020603050405020304" pitchFamily="18" charset="0"/>
              </a:rPr>
              <a:t>ω</a:t>
            </a:r>
            <a:r>
              <a:rPr lang="en-US" altLang="zh-CN" sz="1800" i="1" baseline="-25000" dirty="0" smtClean="0">
                <a:solidFill>
                  <a:schemeClr val="tx1">
                    <a:lumMod val="95000"/>
                    <a:lumOff val="5000"/>
                  </a:schemeClr>
                </a:solidFill>
                <a:latin typeface="Times New Roman" panose="02020603050405020304" pitchFamily="18" charset="0"/>
                <a:cs typeface="Times New Roman" panose="02020603050405020304" pitchFamily="18" charset="0"/>
              </a:rPr>
              <a:t>n</a:t>
            </a:r>
            <a:endParaRPr lang="en-US" altLang="zh-CN" sz="1800" i="1" dirty="0" smtClean="0"/>
          </a:p>
          <a:p>
            <a:pPr marL="800100" lvl="1" indent="-342900">
              <a:lnSpc>
                <a:spcPct val="150000"/>
              </a:lnSpc>
              <a:buFont typeface="Arial" panose="020B0604020202020204" pitchFamily="34" charset="0"/>
              <a:buChar char="•"/>
            </a:pPr>
            <a:r>
              <a:rPr lang="zh-CN" altLang="en-US" sz="1800" dirty="0" smtClean="0"/>
              <a:t>两者的数值接近，在实用中常常不加严格区分</a:t>
            </a:r>
            <a:endParaRPr lang="en-US" altLang="zh-CN" sz="1800" dirty="0" smtClean="0"/>
          </a:p>
          <a:p>
            <a:pPr marL="800100" lvl="1" indent="-342900">
              <a:lnSpc>
                <a:spcPct val="150000"/>
              </a:lnSpc>
              <a:buFont typeface="Arial" panose="020B0604020202020204" pitchFamily="34" charset="0"/>
              <a:buChar char="•"/>
            </a:pPr>
            <a:r>
              <a:rPr lang="zh-CN" altLang="en-US" sz="1800" dirty="0" smtClean="0">
                <a:solidFill>
                  <a:schemeClr val="tx1">
                    <a:lumMod val="95000"/>
                    <a:lumOff val="5000"/>
                  </a:schemeClr>
                </a:solidFill>
                <a:latin typeface="华文细黑" panose="02010600040101010101" pitchFamily="2" charset="-122"/>
              </a:rPr>
              <a:t>闭环</a:t>
            </a:r>
            <a:r>
              <a:rPr lang="zh-CN" altLang="en-US" sz="1800" dirty="0">
                <a:solidFill>
                  <a:schemeClr val="tx1">
                    <a:lumMod val="95000"/>
                    <a:lumOff val="5000"/>
                  </a:schemeClr>
                </a:solidFill>
                <a:latin typeface="华文细黑" panose="02010600040101010101" pitchFamily="2" charset="-122"/>
              </a:rPr>
              <a:t>带宽反映了对于输入信号</a:t>
            </a:r>
            <a:r>
              <a:rPr lang="zh-CN" altLang="en-US" sz="1800" dirty="0">
                <a:latin typeface="华文细黑" panose="02010600040101010101" pitchFamily="2" charset="-122"/>
              </a:rPr>
              <a:t>相位（频率）变化</a:t>
            </a:r>
            <a:r>
              <a:rPr lang="zh-CN" altLang="en-US" sz="1800" dirty="0">
                <a:solidFill>
                  <a:schemeClr val="tx1">
                    <a:lumMod val="95000"/>
                    <a:lumOff val="5000"/>
                  </a:schemeClr>
                </a:solidFill>
                <a:latin typeface="华文细黑" panose="02010600040101010101" pitchFamily="2" charset="-122"/>
              </a:rPr>
              <a:t>的跟踪</a:t>
            </a:r>
            <a:r>
              <a:rPr lang="zh-CN" altLang="en-US" sz="1800" dirty="0" smtClean="0">
                <a:solidFill>
                  <a:schemeClr val="tx1">
                    <a:lumMod val="95000"/>
                    <a:lumOff val="5000"/>
                  </a:schemeClr>
                </a:solidFill>
                <a:latin typeface="华文细黑" panose="02010600040101010101" pitchFamily="2" charset="-122"/>
              </a:rPr>
              <a:t>范围</a:t>
            </a:r>
            <a:endParaRPr lang="en-US" altLang="zh-CN" sz="1800" dirty="0" smtClean="0">
              <a:solidFill>
                <a:schemeClr val="tx1">
                  <a:lumMod val="95000"/>
                  <a:lumOff val="5000"/>
                </a:schemeClr>
              </a:solidFill>
              <a:latin typeface="华文细黑" panose="02010600040101010101" pitchFamily="2" charset="-122"/>
            </a:endParaRPr>
          </a:p>
          <a:p>
            <a:pPr marL="800100" lvl="1" indent="-342900">
              <a:lnSpc>
                <a:spcPct val="150000"/>
              </a:lnSpc>
              <a:buFont typeface="Arial" panose="020B0604020202020204" pitchFamily="34" charset="0"/>
              <a:buChar char="•"/>
            </a:pPr>
            <a:r>
              <a:rPr lang="zh-CN" altLang="en-US" sz="1800" dirty="0"/>
              <a:t>闭环带宽越大，锁相环的锁定范围越大、锁定时间越短，捕捉范围（采用</a:t>
            </a:r>
            <a:r>
              <a:rPr lang="en-US" altLang="zh-CN" sz="1800" dirty="0"/>
              <a:t>PFD</a:t>
            </a:r>
            <a:r>
              <a:rPr lang="zh-CN" altLang="en-US" sz="1800" dirty="0"/>
              <a:t>者除外）也增大，动态响应趋好。但是闭环带宽越大则锁相环对于噪声的过滤能力越弱。</a:t>
            </a:r>
            <a:endParaRPr lang="en-US" altLang="zh-CN" sz="1800" dirty="0"/>
          </a:p>
          <a:p>
            <a:pPr marL="800100" lvl="1" indent="-342900">
              <a:lnSpc>
                <a:spcPct val="150000"/>
              </a:lnSpc>
              <a:buFont typeface="Arial" panose="020B0604020202020204" pitchFamily="34" charset="0"/>
              <a:buChar char="•"/>
            </a:pPr>
            <a:r>
              <a:rPr lang="zh-CN" altLang="en-US" sz="1800" dirty="0" smtClean="0"/>
              <a:t>工作</a:t>
            </a:r>
            <a:r>
              <a:rPr lang="zh-CN" altLang="en-US" sz="1800" dirty="0"/>
              <a:t>在</a:t>
            </a:r>
            <a:r>
              <a:rPr lang="zh-CN" altLang="en-US" sz="1800" dirty="0">
                <a:solidFill>
                  <a:srgbClr val="FF0000"/>
                </a:solidFill>
              </a:rPr>
              <a:t>调制跟踪状态</a:t>
            </a:r>
            <a:r>
              <a:rPr lang="zh-CN" altLang="en-US" sz="1800" dirty="0"/>
              <a:t>的锁相环（</a:t>
            </a:r>
            <a:r>
              <a:rPr lang="zh-CN" altLang="en-US" sz="1800" dirty="0" smtClean="0"/>
              <a:t>例如希望锁相环能够跟踪</a:t>
            </a:r>
            <a:r>
              <a:rPr lang="en-US" altLang="zh-CN" sz="1800" dirty="0" smtClean="0"/>
              <a:t>FM</a:t>
            </a:r>
            <a:r>
              <a:rPr lang="zh-CN" altLang="en-US" sz="1800" dirty="0" smtClean="0"/>
              <a:t>信号的频率变化），需要将锁相环的闭环带宽设置得远大于调制信号的带宽（注意是调制信号带宽，不是已调波的带宽），兼顾动态性能</a:t>
            </a:r>
            <a:endParaRPr lang="en-US" altLang="zh-CN" sz="1800" dirty="0"/>
          </a:p>
          <a:p>
            <a:pPr marL="800100" lvl="1" indent="-342900">
              <a:lnSpc>
                <a:spcPct val="150000"/>
              </a:lnSpc>
              <a:buFont typeface="Arial" panose="020B0604020202020204" pitchFamily="34" charset="0"/>
              <a:buChar char="•"/>
            </a:pPr>
            <a:r>
              <a:rPr lang="zh-CN" altLang="en-US" sz="1800" dirty="0" smtClean="0"/>
              <a:t>工作在</a:t>
            </a:r>
            <a:r>
              <a:rPr lang="zh-CN" altLang="en-US" sz="1800" dirty="0" smtClean="0">
                <a:solidFill>
                  <a:srgbClr val="FF0000"/>
                </a:solidFill>
              </a:rPr>
              <a:t>载频跟踪状态</a:t>
            </a:r>
            <a:r>
              <a:rPr lang="zh-CN" altLang="en-US" sz="1800" dirty="0" smtClean="0"/>
              <a:t>的锁相环（例如在</a:t>
            </a:r>
            <a:r>
              <a:rPr lang="en-US" altLang="zh-CN" sz="1800" dirty="0" smtClean="0"/>
              <a:t>AM</a:t>
            </a:r>
            <a:r>
              <a:rPr lang="zh-CN" altLang="en-US" sz="1800" dirty="0" smtClean="0"/>
              <a:t>信号中将载频分离出来），需要将锁相环的闭环带宽设置得远低于调制信号的带宽，同时兼顾动态性能</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在频率合成器一类的应用中，输入信号没有调制成分，此时锁相环闭环带宽的考虑主要是噪声（相位抖动）、锁定时间等动态指标</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以上考虑都基于锁相环工作在稳态，工作在非稳态状态下另议</a:t>
            </a:r>
            <a:endParaRPr lang="en-US" altLang="zh-CN" sz="1800" dirty="0" smtClean="0"/>
          </a:p>
        </p:txBody>
      </p:sp>
    </p:spTree>
    <p:extLst>
      <p:ext uri="{BB962C8B-B14F-4D97-AF65-F5344CB8AC3E}">
        <p14:creationId xmlns:p14="http://schemas.microsoft.com/office/powerpoint/2010/main" val="21597526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39</a:t>
            </a:fld>
            <a:endParaRPr lang="en-US" altLang="zh-CN">
              <a:solidFill>
                <a:srgbClr val="FFFFFF"/>
              </a:solidFill>
            </a:endParaRPr>
          </a:p>
        </p:txBody>
      </p:sp>
      <p:sp>
        <p:nvSpPr>
          <p:cNvPr id="5" name="文本框 4"/>
          <p:cNvSpPr txBox="1"/>
          <p:nvPr/>
        </p:nvSpPr>
        <p:spPr>
          <a:xfrm>
            <a:off x="464458" y="523609"/>
            <a:ext cx="11270343" cy="38318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阻尼</a:t>
            </a:r>
            <a:r>
              <a:rPr lang="zh-CN" altLang="en-US" sz="1800" dirty="0"/>
              <a:t>因子</a:t>
            </a:r>
            <a:r>
              <a:rPr lang="en-US" altLang="zh-CN" sz="1800" i="1" dirty="0">
                <a:latin typeface="Symbol" panose="05050102010706020507" pitchFamily="18" charset="2"/>
              </a:rPr>
              <a:t>z</a:t>
            </a:r>
          </a:p>
          <a:p>
            <a:pPr marL="800100" lvl="1" indent="-342900">
              <a:lnSpc>
                <a:spcPct val="150000"/>
              </a:lnSpc>
              <a:buFont typeface="Arial" panose="020B0604020202020204" pitchFamily="34" charset="0"/>
              <a:buChar char="•"/>
            </a:pPr>
            <a:r>
              <a:rPr lang="zh-CN" altLang="en-US" sz="1800" dirty="0"/>
              <a:t>阻尼因子越大，稳定性越好</a:t>
            </a:r>
            <a:endParaRPr lang="en-US" altLang="zh-CN" sz="1800" dirty="0"/>
          </a:p>
          <a:p>
            <a:pPr marL="800100" lvl="1" indent="-342900">
              <a:lnSpc>
                <a:spcPct val="150000"/>
              </a:lnSpc>
              <a:buFont typeface="Arial" panose="020B0604020202020204" pitchFamily="34" charset="0"/>
              <a:buChar char="•"/>
            </a:pPr>
            <a:r>
              <a:rPr lang="zh-CN" altLang="en-US" sz="1800" dirty="0"/>
              <a:t>阻尼因子增大后，锁定范围与捕捉</a:t>
            </a:r>
            <a:r>
              <a:rPr lang="zh-CN" altLang="en-US" sz="1800" dirty="0" smtClean="0"/>
              <a:t>范围均</a:t>
            </a:r>
            <a:r>
              <a:rPr lang="zh-CN" altLang="en-US" sz="1800" dirty="0"/>
              <a:t>变大（采用</a:t>
            </a:r>
            <a:r>
              <a:rPr lang="en-US" altLang="zh-CN" sz="1800" dirty="0"/>
              <a:t>PFD</a:t>
            </a:r>
            <a:r>
              <a:rPr lang="zh-CN" altLang="en-US" sz="1800" dirty="0"/>
              <a:t>者除外），但是上升时间与调整时间均变长即快速性变差，需要</a:t>
            </a:r>
            <a:r>
              <a:rPr lang="zh-CN" altLang="en-US" sz="1800" dirty="0" smtClean="0"/>
              <a:t>折衷</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常规的设计中可将阻尼因子选取在</a:t>
            </a:r>
            <a:r>
              <a:rPr lang="en-US" altLang="zh-CN" sz="1800" dirty="0" smtClean="0"/>
              <a:t>0.5~1</a:t>
            </a:r>
            <a:r>
              <a:rPr lang="zh-CN" altLang="en-US" sz="1800" dirty="0" smtClean="0"/>
              <a:t>范围内，特殊情况下可以超出上述范围</a:t>
            </a:r>
            <a:endParaRPr lang="en-US" altLang="zh-CN" sz="1800" dirty="0"/>
          </a:p>
          <a:p>
            <a:pPr marL="285750" indent="-285750">
              <a:lnSpc>
                <a:spcPct val="150000"/>
              </a:lnSpc>
              <a:buFont typeface="Arial" panose="020B0604020202020204" pitchFamily="34" charset="0"/>
              <a:buChar char="•"/>
            </a:pPr>
            <a:r>
              <a:rPr lang="zh-CN" altLang="en-US" sz="1800" dirty="0"/>
              <a:t>增益</a:t>
            </a:r>
            <a:r>
              <a:rPr lang="en-US" altLang="zh-CN" sz="1800" i="1" dirty="0" err="1">
                <a:latin typeface="+mn-lt"/>
              </a:rPr>
              <a:t>K</a:t>
            </a:r>
            <a:r>
              <a:rPr lang="en-US" altLang="zh-CN" sz="1800" i="1" baseline="-25000" dirty="0" err="1">
                <a:latin typeface="+mn-lt"/>
              </a:rPr>
              <a:t>d</a:t>
            </a:r>
            <a:r>
              <a:rPr lang="en-US" altLang="zh-CN" sz="1800" i="1" dirty="0" err="1">
                <a:latin typeface="+mn-lt"/>
              </a:rPr>
              <a:t>K</a:t>
            </a:r>
            <a:r>
              <a:rPr lang="en-US" altLang="zh-CN" sz="1800" i="1" baseline="-25000" dirty="0" err="1">
                <a:latin typeface="+mn-lt"/>
              </a:rPr>
              <a:t>o</a:t>
            </a:r>
            <a:endParaRPr lang="en-US" altLang="zh-CN" sz="1800" i="1" baseline="-25000" dirty="0">
              <a:latin typeface="+mn-lt"/>
            </a:endParaRPr>
          </a:p>
          <a:p>
            <a:pPr marL="800100" lvl="1" indent="-342900">
              <a:lnSpc>
                <a:spcPct val="150000"/>
              </a:lnSpc>
              <a:buFont typeface="Arial" panose="020B0604020202020204" pitchFamily="34" charset="0"/>
              <a:buChar char="•"/>
            </a:pPr>
            <a:r>
              <a:rPr lang="zh-CN" altLang="en-US" sz="1800" dirty="0" smtClean="0"/>
              <a:t>增益</a:t>
            </a:r>
            <a:r>
              <a:rPr lang="zh-CN" altLang="en-US" sz="1800" dirty="0"/>
              <a:t>增加，捕捉范围与同步范围均</a:t>
            </a:r>
            <a:r>
              <a:rPr lang="zh-CN" altLang="en-US" sz="1800" dirty="0" smtClean="0"/>
              <a:t>增大</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在锁相环中要求增益远大于闭环带宽</a:t>
            </a:r>
            <a:endParaRPr lang="en-US" altLang="zh-CN" sz="1800" dirty="0" smtClean="0"/>
          </a:p>
          <a:p>
            <a:pPr marL="800100" lvl="1" indent="-342900">
              <a:lnSpc>
                <a:spcPct val="150000"/>
              </a:lnSpc>
              <a:buFont typeface="Arial" panose="020B0604020202020204" pitchFamily="34" charset="0"/>
              <a:buChar char="•"/>
            </a:pPr>
            <a:r>
              <a:rPr lang="zh-CN" altLang="en-US" sz="1800" dirty="0" smtClean="0"/>
              <a:t>现代锁相环大部分都是高增益锁相环</a:t>
            </a:r>
            <a:endParaRPr lang="en-US" altLang="zh-CN" sz="1800" dirty="0"/>
          </a:p>
        </p:txBody>
      </p:sp>
    </p:spTree>
    <p:extLst>
      <p:ext uri="{BB962C8B-B14F-4D97-AF65-F5344CB8AC3E}">
        <p14:creationId xmlns:p14="http://schemas.microsoft.com/office/powerpoint/2010/main" val="2007419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1"/>
          <p:cNvSpPr>
            <a:spLocks noGrp="1"/>
          </p:cNvSpPr>
          <p:nvPr>
            <p:ph type="dt" sz="half" idx="10"/>
          </p:nvPr>
        </p:nvSpPr>
        <p:spPr/>
        <p:txBody>
          <a:bodyPr/>
          <a:lstStyle/>
          <a:p>
            <a:pPr>
              <a:defRPr/>
            </a:pPr>
            <a:fld id="{9781F10D-2F5C-4697-B3DA-731DC17CB156}" type="datetime1">
              <a:rPr lang="zh-CN" altLang="en-US" smtClean="0"/>
              <a:t>2024/4/16</a:t>
            </a:fld>
            <a:endParaRPr lang="en-US" altLang="zh-CN"/>
          </a:p>
        </p:txBody>
      </p:sp>
      <p:sp>
        <p:nvSpPr>
          <p:cNvPr id="4099" name="页脚占位符 2"/>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charset="0"/>
                <a:ea typeface="华文细黑" pitchFamily="2" charset="-122"/>
              </a:defRPr>
            </a:lvl1pPr>
            <a:lvl2pPr marL="742950" indent="-285750" eaLnBrk="0" hangingPunct="0">
              <a:defRPr sz="2000">
                <a:solidFill>
                  <a:schemeClr val="tx1"/>
                </a:solidFill>
                <a:latin typeface="Arial" charset="0"/>
                <a:ea typeface="华文细黑" pitchFamily="2" charset="-122"/>
              </a:defRPr>
            </a:lvl2pPr>
            <a:lvl3pPr marL="1143000" indent="-228600" eaLnBrk="0" hangingPunct="0">
              <a:defRPr sz="2000">
                <a:solidFill>
                  <a:schemeClr val="tx1"/>
                </a:solidFill>
                <a:latin typeface="Arial" charset="0"/>
                <a:ea typeface="华文细黑" pitchFamily="2" charset="-122"/>
              </a:defRPr>
            </a:lvl3pPr>
            <a:lvl4pPr marL="1600200" indent="-228600" eaLnBrk="0" hangingPunct="0">
              <a:defRPr sz="2000">
                <a:solidFill>
                  <a:schemeClr val="tx1"/>
                </a:solidFill>
                <a:latin typeface="Arial" charset="0"/>
                <a:ea typeface="华文细黑" pitchFamily="2" charset="-122"/>
              </a:defRPr>
            </a:lvl4pPr>
            <a:lvl5pPr marL="2057400" indent="-228600" eaLnBrk="0" hangingPunct="0">
              <a:defRPr sz="2000">
                <a:solidFill>
                  <a:schemeClr val="tx1"/>
                </a:solidFill>
                <a:latin typeface="Arial" charset="0"/>
                <a:ea typeface="华文细黑" pitchFamily="2" charset="-122"/>
              </a:defRPr>
            </a:lvl5pPr>
            <a:lvl6pPr marL="2514600" indent="-228600" eaLnBrk="0" fontAlgn="base" hangingPunct="0">
              <a:spcBef>
                <a:spcPct val="0"/>
              </a:spcBef>
              <a:spcAft>
                <a:spcPct val="0"/>
              </a:spcAft>
              <a:defRPr sz="2000">
                <a:solidFill>
                  <a:schemeClr val="tx1"/>
                </a:solidFill>
                <a:latin typeface="Arial" charset="0"/>
                <a:ea typeface="华文细黑" pitchFamily="2" charset="-122"/>
              </a:defRPr>
            </a:lvl6pPr>
            <a:lvl7pPr marL="2971800" indent="-228600" eaLnBrk="0" fontAlgn="base" hangingPunct="0">
              <a:spcBef>
                <a:spcPct val="0"/>
              </a:spcBef>
              <a:spcAft>
                <a:spcPct val="0"/>
              </a:spcAft>
              <a:defRPr sz="2000">
                <a:solidFill>
                  <a:schemeClr val="tx1"/>
                </a:solidFill>
                <a:latin typeface="Arial" charset="0"/>
                <a:ea typeface="华文细黑" pitchFamily="2" charset="-122"/>
              </a:defRPr>
            </a:lvl7pPr>
            <a:lvl8pPr marL="3429000" indent="-228600" eaLnBrk="0" fontAlgn="base" hangingPunct="0">
              <a:spcBef>
                <a:spcPct val="0"/>
              </a:spcBef>
              <a:spcAft>
                <a:spcPct val="0"/>
              </a:spcAft>
              <a:defRPr sz="2000">
                <a:solidFill>
                  <a:schemeClr val="tx1"/>
                </a:solidFill>
                <a:latin typeface="Arial" charset="0"/>
                <a:ea typeface="华文细黑" pitchFamily="2" charset="-122"/>
              </a:defRPr>
            </a:lvl8pPr>
            <a:lvl9pPr marL="3886200" indent="-228600" eaLnBrk="0" fontAlgn="base" hangingPunct="0">
              <a:spcBef>
                <a:spcPct val="0"/>
              </a:spcBef>
              <a:spcAft>
                <a:spcPct val="0"/>
              </a:spcAft>
              <a:defRPr sz="2000">
                <a:solidFill>
                  <a:schemeClr val="tx1"/>
                </a:solidFill>
                <a:latin typeface="Arial" charset="0"/>
                <a:ea typeface="华文细黑" pitchFamily="2" charset="-122"/>
              </a:defRPr>
            </a:lvl9pPr>
          </a:lstStyle>
          <a:p>
            <a:pPr eaLnBrk="1" hangingPunct="1"/>
            <a:r>
              <a:rPr lang="zh-CN" altLang="en-US" sz="1400" dirty="0">
                <a:solidFill>
                  <a:schemeClr val="bg1"/>
                </a:solidFill>
                <a:latin typeface="楷体" panose="02010609060101010101" pitchFamily="49" charset="-122"/>
                <a:ea typeface="楷体" panose="02010609060101010101" pitchFamily="49" charset="-122"/>
              </a:rPr>
              <a:t>大学生电子竞赛培训</a:t>
            </a:r>
            <a:endParaRPr lang="en-US" altLang="zh-CN" sz="1400" dirty="0">
              <a:solidFill>
                <a:schemeClr val="bg1"/>
              </a:solidFill>
              <a:latin typeface="楷体" panose="02010609060101010101" pitchFamily="49" charset="-122"/>
              <a:ea typeface="楷体" panose="02010609060101010101" pitchFamily="49" charset="-122"/>
            </a:endParaRPr>
          </a:p>
        </p:txBody>
      </p:sp>
      <p:sp>
        <p:nvSpPr>
          <p:cNvPr id="5" name="灯片编号占位符 3"/>
          <p:cNvSpPr>
            <a:spLocks noGrp="1"/>
          </p:cNvSpPr>
          <p:nvPr>
            <p:ph type="sldNum" sz="quarter" idx="12"/>
          </p:nvPr>
        </p:nvSpPr>
        <p:spPr/>
        <p:txBody>
          <a:bodyPr/>
          <a:lstStyle/>
          <a:p>
            <a:pPr>
              <a:defRPr/>
            </a:pPr>
            <a:fld id="{667812F2-8E6F-42BB-A5C9-B06FB367D497}" type="slidenum">
              <a:rPr lang="en-US" altLang="zh-CN"/>
              <a:pPr>
                <a:defRPr/>
              </a:pPr>
              <a:t>40</a:t>
            </a:fld>
            <a:endParaRPr lang="en-US" altLang="zh-CN"/>
          </a:p>
        </p:txBody>
      </p:sp>
      <p:sp>
        <p:nvSpPr>
          <p:cNvPr id="6" name="文本框 5"/>
          <p:cNvSpPr txBox="1"/>
          <p:nvPr/>
        </p:nvSpPr>
        <p:spPr>
          <a:xfrm>
            <a:off x="500742" y="365774"/>
            <a:ext cx="6763657" cy="5586145"/>
          </a:xfrm>
          <a:prstGeom prst="rect">
            <a:avLst/>
          </a:prstGeom>
          <a:noFill/>
        </p:spPr>
        <p:txBody>
          <a:bodyPr wrap="square" rtlCol="0">
            <a:spAutoFit/>
          </a:bodyPr>
          <a:lstStyle/>
          <a:p>
            <a:pPr>
              <a:lnSpc>
                <a:spcPct val="150000"/>
              </a:lnSpc>
            </a:pPr>
            <a:r>
              <a:rPr lang="zh-CN" altLang="en-US" dirty="0">
                <a:solidFill>
                  <a:srgbClr val="FF0000"/>
                </a:solidFill>
                <a:latin typeface="黑体" panose="02010609060101010101" pitchFamily="49" charset="-122"/>
                <a:ea typeface="黑体" panose="02010609060101010101" pitchFamily="49" charset="-122"/>
              </a:rPr>
              <a:t>几</a:t>
            </a:r>
            <a:r>
              <a:rPr lang="zh-CN" altLang="en-US" dirty="0" smtClean="0">
                <a:solidFill>
                  <a:srgbClr val="FF0000"/>
                </a:solidFill>
                <a:latin typeface="黑体" panose="02010609060101010101" pitchFamily="49" charset="-122"/>
                <a:ea typeface="黑体" panose="02010609060101010101" pitchFamily="49" charset="-122"/>
              </a:rPr>
              <a:t>个适合本题目的</a:t>
            </a:r>
            <a:r>
              <a:rPr lang="zh-CN" altLang="en-US" dirty="0">
                <a:solidFill>
                  <a:srgbClr val="FF0000"/>
                </a:solidFill>
                <a:latin typeface="黑体" panose="02010609060101010101" pitchFamily="49" charset="-122"/>
                <a:ea typeface="黑体" panose="02010609060101010101" pitchFamily="49" charset="-122"/>
              </a:rPr>
              <a:t>锁相环电路</a:t>
            </a:r>
            <a:endParaRPr lang="en-US" altLang="zh-CN" dirty="0">
              <a:solidFill>
                <a:srgbClr val="FF0000"/>
              </a:solidFill>
              <a:latin typeface="黑体" panose="02010609060101010101" pitchFamily="49" charset="-122"/>
              <a:ea typeface="黑体" panose="02010609060101010101" pitchFamily="49" charset="-122"/>
            </a:endParaRPr>
          </a:p>
          <a:p>
            <a:pPr marL="342900" indent="-342900">
              <a:lnSpc>
                <a:spcPct val="150000"/>
              </a:lnSpc>
              <a:buFont typeface="Wingdings" panose="05000000000000000000" pitchFamily="2" charset="2"/>
              <a:buChar char="Ø"/>
            </a:pPr>
            <a:r>
              <a:rPr lang="en-US" altLang="zh-CN" dirty="0"/>
              <a:t>74HC4046</a:t>
            </a:r>
            <a:endParaRPr lang="zh-CN" altLang="en-US" sz="2200" dirty="0"/>
          </a:p>
          <a:p>
            <a:pPr marL="800100" lvl="1" indent="-342900">
              <a:lnSpc>
                <a:spcPct val="150000"/>
              </a:lnSpc>
              <a:buFont typeface="Arial" panose="020B0604020202020204" pitchFamily="34" charset="0"/>
              <a:buChar char="•"/>
            </a:pPr>
            <a:r>
              <a:rPr lang="zh-CN" altLang="en-US" sz="1800" dirty="0"/>
              <a:t>鉴相器</a:t>
            </a:r>
            <a:r>
              <a:rPr lang="en-US" altLang="zh-CN" sz="1800" dirty="0"/>
              <a:t>1</a:t>
            </a:r>
            <a:r>
              <a:rPr lang="zh-CN" altLang="en-US" sz="1800" dirty="0"/>
              <a:t>为异或门鉴相器</a:t>
            </a:r>
            <a:endParaRPr lang="en-US" altLang="zh-CN" sz="1800" dirty="0"/>
          </a:p>
          <a:p>
            <a:pPr marL="800100" lvl="1" indent="-342900">
              <a:lnSpc>
                <a:spcPct val="150000"/>
              </a:lnSpc>
              <a:buFont typeface="Arial" panose="020B0604020202020204" pitchFamily="34" charset="0"/>
              <a:buChar char="•"/>
            </a:pPr>
            <a:r>
              <a:rPr lang="zh-CN" altLang="en-US" sz="1800" dirty="0"/>
              <a:t>鉴相器</a:t>
            </a:r>
            <a:r>
              <a:rPr lang="en-US" altLang="zh-CN" sz="1800" dirty="0"/>
              <a:t>2</a:t>
            </a:r>
            <a:r>
              <a:rPr lang="zh-CN" altLang="en-US" sz="1800" dirty="0"/>
              <a:t>为边沿触发的鉴相</a:t>
            </a:r>
            <a:r>
              <a:rPr lang="en-US" altLang="zh-CN" sz="1800" dirty="0"/>
              <a:t>-</a:t>
            </a:r>
            <a:r>
              <a:rPr lang="zh-CN" altLang="en-US" sz="1800" dirty="0"/>
              <a:t>鉴频器（</a:t>
            </a:r>
            <a:r>
              <a:rPr lang="en-US" altLang="zh-CN" sz="1800" dirty="0"/>
              <a:t>PFD</a:t>
            </a:r>
            <a:r>
              <a:rPr lang="zh-CN" altLang="en-US" sz="1800" dirty="0"/>
              <a:t>）</a:t>
            </a:r>
            <a:endParaRPr lang="en-US" altLang="zh-CN" sz="1800" dirty="0"/>
          </a:p>
          <a:p>
            <a:pPr marL="800100" lvl="1" indent="-342900">
              <a:lnSpc>
                <a:spcPct val="150000"/>
              </a:lnSpc>
              <a:buFont typeface="Arial" panose="020B0604020202020204" pitchFamily="34" charset="0"/>
              <a:buChar char="•"/>
            </a:pPr>
            <a:r>
              <a:rPr lang="zh-CN" altLang="en-US" sz="1800" dirty="0"/>
              <a:t>鉴相器</a:t>
            </a:r>
            <a:r>
              <a:rPr lang="en-US" altLang="zh-CN" sz="1800" dirty="0"/>
              <a:t>3</a:t>
            </a:r>
            <a:r>
              <a:rPr lang="zh-CN" altLang="en-US" sz="1800" dirty="0"/>
              <a:t>为</a:t>
            </a:r>
            <a:r>
              <a:rPr lang="en-US" altLang="zh-CN" sz="1800" dirty="0"/>
              <a:t>JK</a:t>
            </a:r>
            <a:r>
              <a:rPr lang="zh-CN" altLang="en-US" sz="1800" dirty="0" smtClean="0"/>
              <a:t>触发器鉴</a:t>
            </a:r>
            <a:r>
              <a:rPr lang="zh-CN" altLang="en-US" sz="1800" dirty="0"/>
              <a:t>相器</a:t>
            </a:r>
            <a:endParaRPr lang="en-US" altLang="zh-CN" sz="1800" dirty="0"/>
          </a:p>
          <a:p>
            <a:pPr marL="800100" lvl="1" indent="-342900">
              <a:lnSpc>
                <a:spcPct val="150000"/>
              </a:lnSpc>
              <a:buFont typeface="Arial" panose="020B0604020202020204" pitchFamily="34" charset="0"/>
              <a:buChar char="•"/>
            </a:pPr>
            <a:r>
              <a:rPr lang="zh-CN" altLang="en-US" sz="1800" dirty="0" smtClean="0">
                <a:latin typeface="Arial" panose="020B0604020202020204" pitchFamily="34" charset="0"/>
              </a:rPr>
              <a:t>允许以</a:t>
            </a:r>
            <a:r>
              <a:rPr lang="en-US" altLang="zh-CN" sz="1800" dirty="0" smtClean="0">
                <a:latin typeface="Arial" panose="020B0604020202020204" pitchFamily="34" charset="0"/>
              </a:rPr>
              <a:t>CMOS</a:t>
            </a:r>
            <a:r>
              <a:rPr lang="zh-CN" altLang="en-US" sz="1800" dirty="0" smtClean="0">
                <a:latin typeface="Arial" panose="020B0604020202020204" pitchFamily="34" charset="0"/>
              </a:rPr>
              <a:t>逻辑电平输入</a:t>
            </a:r>
            <a:endParaRPr lang="en-US" altLang="zh-CN" sz="1800" dirty="0" smtClean="0">
              <a:latin typeface="Arial" panose="020B0604020202020204" pitchFamily="34" charset="0"/>
            </a:endParaRPr>
          </a:p>
          <a:p>
            <a:pPr marL="800100" lvl="1" indent="-342900">
              <a:lnSpc>
                <a:spcPct val="150000"/>
              </a:lnSpc>
              <a:buFont typeface="Arial" panose="020B0604020202020204" pitchFamily="34" charset="0"/>
              <a:buChar char="•"/>
            </a:pPr>
            <a:r>
              <a:rPr lang="zh-CN" altLang="en-US" sz="1800" dirty="0" smtClean="0">
                <a:latin typeface="Arial" panose="020B0604020202020204" pitchFamily="34" charset="0"/>
              </a:rPr>
              <a:t>允许</a:t>
            </a:r>
            <a:r>
              <a:rPr lang="zh-CN" altLang="en-US" sz="1800" dirty="0">
                <a:latin typeface="Arial" panose="020B0604020202020204" pitchFamily="34" charset="0"/>
              </a:rPr>
              <a:t>以交流耦合方式</a:t>
            </a:r>
            <a:r>
              <a:rPr lang="zh-CN" altLang="en-US" sz="1800" dirty="0" smtClean="0">
                <a:latin typeface="Arial" panose="020B0604020202020204" pitchFamily="34" charset="0"/>
              </a:rPr>
              <a:t>输入，但必须满足一定的幅度要求</a:t>
            </a:r>
            <a:endParaRPr lang="en-US" altLang="zh-CN" sz="1800" dirty="0">
              <a:latin typeface="Arial" panose="020B0604020202020204" pitchFamily="34" charset="0"/>
            </a:endParaRPr>
          </a:p>
          <a:p>
            <a:pPr marL="800100" lvl="1" indent="-342900">
              <a:lnSpc>
                <a:spcPct val="150000"/>
              </a:lnSpc>
              <a:buFont typeface="Arial" panose="020B0604020202020204" pitchFamily="34" charset="0"/>
              <a:buChar char="•"/>
            </a:pPr>
            <a:r>
              <a:rPr lang="en-US" altLang="zh-CN" sz="1800" dirty="0" smtClean="0"/>
              <a:t>VCO</a:t>
            </a:r>
            <a:r>
              <a:rPr lang="zh-CN" altLang="en-US" sz="1800" dirty="0"/>
              <a:t>为</a:t>
            </a:r>
            <a:r>
              <a:rPr lang="zh-CN" altLang="zh-CN" sz="1800" dirty="0"/>
              <a:t>张驰振荡器，</a:t>
            </a:r>
            <a:r>
              <a:rPr lang="en-US" altLang="zh-CN" sz="1800" dirty="0"/>
              <a:t>CAP</a:t>
            </a:r>
            <a:r>
              <a:rPr lang="zh-CN" altLang="en-US" sz="1800" dirty="0"/>
              <a:t>接</a:t>
            </a:r>
            <a:r>
              <a:rPr lang="zh-CN" altLang="zh-CN" sz="1800" dirty="0"/>
              <a:t>定时电容</a:t>
            </a:r>
            <a:r>
              <a:rPr lang="zh-CN" altLang="en-US" sz="1800" dirty="0"/>
              <a:t>，</a:t>
            </a:r>
            <a:r>
              <a:rPr lang="en-US" altLang="zh-CN" sz="1800" dirty="0"/>
              <a:t>R</a:t>
            </a:r>
            <a:r>
              <a:rPr lang="en-US" altLang="zh-CN" sz="1800" baseline="-25000" dirty="0"/>
              <a:t>1</a:t>
            </a:r>
            <a:r>
              <a:rPr lang="zh-CN" altLang="zh-CN" sz="1800" dirty="0"/>
              <a:t>确定压控灵敏度，</a:t>
            </a:r>
            <a:r>
              <a:rPr lang="en-US" altLang="zh-CN" sz="1800" dirty="0"/>
              <a:t>R</a:t>
            </a:r>
            <a:r>
              <a:rPr lang="en-US" altLang="zh-CN" sz="1800" baseline="-25000" dirty="0"/>
              <a:t>2</a:t>
            </a:r>
            <a:r>
              <a:rPr lang="zh-CN" altLang="zh-CN" sz="1800" dirty="0"/>
              <a:t>确定起始</a:t>
            </a:r>
            <a:r>
              <a:rPr lang="zh-CN" altLang="zh-CN" sz="1800" dirty="0" smtClean="0"/>
              <a:t>频率</a:t>
            </a:r>
            <a:endParaRPr lang="en-US" altLang="zh-CN" sz="1800" dirty="0" smtClean="0"/>
          </a:p>
          <a:p>
            <a:pPr marL="800100" lvl="1" indent="-342900">
              <a:lnSpc>
                <a:spcPct val="150000"/>
              </a:lnSpc>
              <a:buFont typeface="Arial" panose="020B0604020202020204" pitchFamily="34" charset="0"/>
              <a:buChar char="•"/>
            </a:pPr>
            <a:r>
              <a:rPr lang="zh-CN" altLang="en-US" sz="1800" dirty="0">
                <a:latin typeface="Arial" panose="020B0604020202020204" pitchFamily="34" charset="0"/>
              </a:rPr>
              <a:t>最高工作频率约十几</a:t>
            </a:r>
            <a:r>
              <a:rPr lang="en-US" altLang="zh-CN" sz="1800" dirty="0">
                <a:latin typeface="Arial" panose="020B0604020202020204" pitchFamily="34" charset="0"/>
              </a:rPr>
              <a:t>MHz</a:t>
            </a:r>
          </a:p>
          <a:p>
            <a:pPr lvl="1">
              <a:lnSpc>
                <a:spcPct val="150000"/>
              </a:lnSpc>
            </a:pPr>
            <a:r>
              <a:rPr lang="en-US" altLang="zh-CN" sz="1800" dirty="0">
                <a:latin typeface="Arial" panose="020B0604020202020204" pitchFamily="34" charset="0"/>
              </a:rPr>
              <a:t>     </a:t>
            </a:r>
            <a:r>
              <a:rPr lang="zh-CN" altLang="en-US" sz="1800" dirty="0">
                <a:latin typeface="Arial" panose="020B0604020202020204" pitchFamily="34" charset="0"/>
              </a:rPr>
              <a:t>（不同的生产商可能有不同的参数）</a:t>
            </a:r>
            <a:endParaRPr lang="en-US" altLang="zh-CN" sz="1800" dirty="0">
              <a:latin typeface="Arial" panose="020B0604020202020204" pitchFamily="34" charset="0"/>
            </a:endParaRPr>
          </a:p>
          <a:p>
            <a:pPr marL="800100" lvl="1" indent="-342900">
              <a:lnSpc>
                <a:spcPct val="150000"/>
              </a:lnSpc>
              <a:buFont typeface="Arial" panose="020B0604020202020204" pitchFamily="34" charset="0"/>
              <a:buChar char="•"/>
            </a:pPr>
            <a:r>
              <a:rPr lang="zh-CN" altLang="en-US" sz="1800" dirty="0" smtClean="0">
                <a:latin typeface="Arial" panose="020B0604020202020204" pitchFamily="34" charset="0"/>
              </a:rPr>
              <a:t>最高</a:t>
            </a:r>
            <a:r>
              <a:rPr lang="zh-CN" altLang="en-US" sz="1800" dirty="0">
                <a:latin typeface="Arial" panose="020B0604020202020204" pitchFamily="34" charset="0"/>
              </a:rPr>
              <a:t>工作电压</a:t>
            </a:r>
            <a:r>
              <a:rPr lang="en-US" altLang="zh-CN" sz="1800" dirty="0">
                <a:latin typeface="Arial" panose="020B0604020202020204" pitchFamily="34" charset="0"/>
              </a:rPr>
              <a:t>+</a:t>
            </a:r>
            <a:r>
              <a:rPr lang="en-US" altLang="zh-CN" sz="1800" dirty="0" smtClean="0">
                <a:latin typeface="Arial" panose="020B0604020202020204" pitchFamily="34" charset="0"/>
              </a:rPr>
              <a:t>6V</a:t>
            </a:r>
          </a:p>
          <a:p>
            <a:pPr marL="800100" lvl="1" indent="-342900">
              <a:lnSpc>
                <a:spcPct val="150000"/>
              </a:lnSpc>
              <a:buFont typeface="Arial" panose="020B0604020202020204" pitchFamily="34" charset="0"/>
              <a:buChar char="•"/>
            </a:pPr>
            <a:r>
              <a:rPr lang="zh-CN" altLang="en-US" sz="1800" dirty="0" smtClean="0">
                <a:latin typeface="Arial" panose="020B0604020202020204" pitchFamily="34" charset="0"/>
              </a:rPr>
              <a:t>使用</a:t>
            </a:r>
            <a:r>
              <a:rPr lang="zh-CN" altLang="en-US" sz="1800" dirty="0">
                <a:latin typeface="Arial" panose="020B0604020202020204" pitchFamily="34" charset="0"/>
              </a:rPr>
              <a:t>较简单，外接环路滤波器后可以直接构成锁相环</a:t>
            </a:r>
            <a:r>
              <a:rPr lang="zh-CN" altLang="en-US" sz="1800" dirty="0" smtClean="0">
                <a:latin typeface="Arial" panose="020B0604020202020204" pitchFamily="34" charset="0"/>
              </a:rPr>
              <a:t>系统</a:t>
            </a:r>
            <a:endParaRPr lang="en-US" altLang="zh-CN" dirty="0">
              <a:latin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890500347"/>
              </p:ext>
            </p:extLst>
          </p:nvPr>
        </p:nvGraphicFramePr>
        <p:xfrm>
          <a:off x="7622090" y="1619420"/>
          <a:ext cx="3749699" cy="3615093"/>
        </p:xfrm>
        <a:graphic>
          <a:graphicData uri="http://schemas.openxmlformats.org/presentationml/2006/ole">
            <mc:AlternateContent xmlns:mc="http://schemas.openxmlformats.org/markup-compatibility/2006">
              <mc:Choice xmlns:v="urn:schemas-microsoft-com:vml" Requires="v">
                <p:oleObj spid="_x0000_s33843" name="Visio" r:id="rId3" imgW="2476294" imgH="2381153" progId="Visio.Drawing.11">
                  <p:embed/>
                </p:oleObj>
              </mc:Choice>
              <mc:Fallback>
                <p:oleObj name="Visio" r:id="rId3" imgW="2476294" imgH="2381153" progId="Visio.Drawing.11">
                  <p:embed/>
                  <p:pic>
                    <p:nvPicPr>
                      <p:cNvPr id="4" name="对象 3"/>
                      <p:cNvPicPr>
                        <a:picLocks noChangeAspect="1" noChangeArrowheads="1"/>
                      </p:cNvPicPr>
                      <p:nvPr/>
                    </p:nvPicPr>
                    <p:blipFill>
                      <a:blip r:embed="rId4"/>
                      <a:srcRect/>
                      <a:stretch>
                        <a:fillRect/>
                      </a:stretch>
                    </p:blipFill>
                    <p:spPr bwMode="auto">
                      <a:xfrm>
                        <a:off x="7622090" y="1619420"/>
                        <a:ext cx="3749699" cy="3615093"/>
                      </a:xfrm>
                      <a:prstGeom prst="rect">
                        <a:avLst/>
                      </a:prstGeom>
                      <a:noFill/>
                    </p:spPr>
                  </p:pic>
                </p:oleObj>
              </mc:Fallback>
            </mc:AlternateContent>
          </a:graphicData>
        </a:graphic>
      </p:graphicFrame>
    </p:spTree>
    <p:extLst>
      <p:ext uri="{BB962C8B-B14F-4D97-AF65-F5344CB8AC3E}">
        <p14:creationId xmlns:p14="http://schemas.microsoft.com/office/powerpoint/2010/main" val="35370186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41</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4998357" y="2011214"/>
            <a:ext cx="5736319" cy="3613524"/>
          </a:xfrm>
          <a:prstGeom prst="rect">
            <a:avLst/>
          </a:prstGeom>
        </p:spPr>
      </p:pic>
      <p:sp>
        <p:nvSpPr>
          <p:cNvPr id="6" name="矩形 5"/>
          <p:cNvSpPr/>
          <p:nvPr/>
        </p:nvSpPr>
        <p:spPr>
          <a:xfrm>
            <a:off x="455906" y="474115"/>
            <a:ext cx="4166894" cy="496996"/>
          </a:xfrm>
          <a:prstGeom prst="rect">
            <a:avLst/>
          </a:prstGeom>
        </p:spPr>
        <p:txBody>
          <a:bodyPr wrap="square">
            <a:spAutoFit/>
          </a:bodyPr>
          <a:lstStyle/>
          <a:p>
            <a:pPr marL="342900" indent="-342900">
              <a:lnSpc>
                <a:spcPct val="150000"/>
              </a:lnSpc>
              <a:buFont typeface="Arial" panose="020B0604020202020204" pitchFamily="34" charset="0"/>
              <a:buChar char="•"/>
            </a:pPr>
            <a:r>
              <a:rPr lang="en-US" altLang="zh-CN" dirty="0" smtClean="0"/>
              <a:t>74HC4046</a:t>
            </a:r>
            <a:r>
              <a:rPr lang="zh-CN" altLang="en-US" dirty="0" smtClean="0"/>
              <a:t>的应用电路</a:t>
            </a:r>
            <a:endParaRPr lang="zh-CN" altLang="en-US" sz="2200" dirty="0"/>
          </a:p>
        </p:txBody>
      </p:sp>
      <p:sp>
        <p:nvSpPr>
          <p:cNvPr id="7" name="椭圆 6"/>
          <p:cNvSpPr/>
          <p:nvPr/>
        </p:nvSpPr>
        <p:spPr>
          <a:xfrm>
            <a:off x="7589157" y="2503714"/>
            <a:ext cx="740227" cy="419569"/>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98756" y="1901372"/>
            <a:ext cx="1494971" cy="2235200"/>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600700" y="3342814"/>
            <a:ext cx="1052285" cy="1526729"/>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6520316" y="903000"/>
            <a:ext cx="2590800" cy="646331"/>
          </a:xfrm>
          <a:prstGeom prst="rect">
            <a:avLst/>
          </a:prstGeom>
          <a:noFill/>
        </p:spPr>
        <p:txBody>
          <a:bodyPr wrap="square" rtlCol="0">
            <a:spAutoFit/>
          </a:bodyPr>
          <a:lstStyle/>
          <a:p>
            <a:r>
              <a:rPr lang="en-US" altLang="zh-CN" sz="1800" dirty="0" smtClean="0"/>
              <a:t>PC2</a:t>
            </a:r>
          </a:p>
          <a:p>
            <a:r>
              <a:rPr lang="zh-CN" altLang="en-US" sz="1800" dirty="0" smtClean="0"/>
              <a:t>使用</a:t>
            </a:r>
            <a:r>
              <a:rPr lang="en-US" altLang="zh-CN" sz="1800" dirty="0" smtClean="0"/>
              <a:t>PFD</a:t>
            </a:r>
            <a:r>
              <a:rPr lang="zh-CN" altLang="en-US" sz="1800" dirty="0" smtClean="0"/>
              <a:t>作为鉴相器</a:t>
            </a:r>
            <a:endParaRPr lang="zh-CN" altLang="en-US" sz="1800" dirty="0"/>
          </a:p>
        </p:txBody>
      </p:sp>
      <p:cxnSp>
        <p:nvCxnSpPr>
          <p:cNvPr id="13" name="直接箭头连接符 12"/>
          <p:cNvCxnSpPr/>
          <p:nvPr/>
        </p:nvCxnSpPr>
        <p:spPr>
          <a:xfrm>
            <a:off x="7422242" y="1518715"/>
            <a:ext cx="393474" cy="9849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9928983" y="2095642"/>
            <a:ext cx="1707619" cy="923330"/>
          </a:xfrm>
          <a:prstGeom prst="rect">
            <a:avLst/>
          </a:prstGeom>
          <a:noFill/>
        </p:spPr>
        <p:txBody>
          <a:bodyPr wrap="square" rtlCol="0">
            <a:spAutoFit/>
          </a:bodyPr>
          <a:lstStyle/>
          <a:p>
            <a:r>
              <a:rPr lang="zh-CN" altLang="en-US" sz="1800" dirty="0" smtClean="0"/>
              <a:t>环路滤波器</a:t>
            </a:r>
            <a:endParaRPr lang="en-US" altLang="zh-CN" sz="1800" dirty="0" smtClean="0"/>
          </a:p>
          <a:p>
            <a:r>
              <a:rPr lang="zh-CN" altLang="en-US" sz="1800" dirty="0" smtClean="0"/>
              <a:t>可以使用前述任意一种电路</a:t>
            </a:r>
            <a:endParaRPr lang="zh-CN" altLang="en-US" sz="1800" dirty="0"/>
          </a:p>
        </p:txBody>
      </p:sp>
      <p:cxnSp>
        <p:nvCxnSpPr>
          <p:cNvPr id="17" name="直接箭头连接符 16"/>
          <p:cNvCxnSpPr/>
          <p:nvPr/>
        </p:nvCxnSpPr>
        <p:spPr>
          <a:xfrm flipH="1">
            <a:off x="9635671" y="2409371"/>
            <a:ext cx="300568" cy="943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7487557" y="4310743"/>
            <a:ext cx="711198" cy="42091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487557" y="5700593"/>
            <a:ext cx="1843615" cy="369332"/>
          </a:xfrm>
          <a:prstGeom prst="rect">
            <a:avLst/>
          </a:prstGeom>
          <a:noFill/>
        </p:spPr>
        <p:txBody>
          <a:bodyPr wrap="square" rtlCol="0">
            <a:spAutoFit/>
          </a:bodyPr>
          <a:lstStyle/>
          <a:p>
            <a:r>
              <a:rPr lang="zh-CN" altLang="en-US" sz="1800" dirty="0" smtClean="0"/>
              <a:t>注意将</a:t>
            </a:r>
            <a:r>
              <a:rPr lang="en-US" altLang="zh-CN" sz="1800" dirty="0" smtClean="0"/>
              <a:t>INH</a:t>
            </a:r>
            <a:r>
              <a:rPr lang="zh-CN" altLang="en-US" sz="1800" dirty="0" smtClean="0"/>
              <a:t>接地</a:t>
            </a:r>
            <a:endParaRPr lang="zh-CN" altLang="en-US" sz="1800" dirty="0"/>
          </a:p>
        </p:txBody>
      </p:sp>
      <p:cxnSp>
        <p:nvCxnSpPr>
          <p:cNvPr id="22" name="直接箭头连接符 21"/>
          <p:cNvCxnSpPr/>
          <p:nvPr/>
        </p:nvCxnSpPr>
        <p:spPr>
          <a:xfrm flipH="1" flipV="1">
            <a:off x="7959270" y="4630057"/>
            <a:ext cx="166915" cy="10705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46157" y="1876584"/>
            <a:ext cx="4416671" cy="3831818"/>
          </a:xfrm>
          <a:prstGeom prst="rect">
            <a:avLst/>
          </a:prstGeom>
          <a:noFill/>
        </p:spPr>
        <p:txBody>
          <a:bodyPr wrap="square" rtlCol="0">
            <a:spAutoFit/>
          </a:bodyPr>
          <a:lstStyle/>
          <a:p>
            <a:pPr>
              <a:lnSpc>
                <a:spcPct val="150000"/>
              </a:lnSpc>
            </a:pPr>
            <a:r>
              <a:rPr lang="en-US" altLang="zh-CN" sz="1800" dirty="0" smtClean="0"/>
              <a:t>VCO</a:t>
            </a:r>
            <a:r>
              <a:rPr lang="zh-CN" altLang="en-US" sz="1800" dirty="0" smtClean="0"/>
              <a:t>的定时电阻电容</a:t>
            </a:r>
            <a:endParaRPr lang="en-US" altLang="zh-CN" sz="1800" dirty="0" smtClean="0"/>
          </a:p>
          <a:p>
            <a:pPr marL="285750" indent="-285750">
              <a:lnSpc>
                <a:spcPct val="150000"/>
              </a:lnSpc>
              <a:buFont typeface="Arial" panose="020B0604020202020204" pitchFamily="34" charset="0"/>
              <a:buChar char="•"/>
            </a:pPr>
            <a:r>
              <a:rPr lang="en-US" altLang="zh-CN" sz="1800" i="1" dirty="0" smtClean="0"/>
              <a:t>C</a:t>
            </a:r>
            <a:r>
              <a:rPr lang="en-US" altLang="zh-CN" sz="1800" baseline="-25000" dirty="0" smtClean="0"/>
              <a:t>T</a:t>
            </a:r>
            <a:r>
              <a:rPr lang="zh-CN" altLang="zh-CN" sz="1800" dirty="0" smtClean="0"/>
              <a:t>：</a:t>
            </a:r>
            <a:r>
              <a:rPr lang="zh-CN" altLang="zh-CN" sz="1800" dirty="0"/>
              <a:t>最小值</a:t>
            </a:r>
            <a:r>
              <a:rPr lang="en-US" altLang="zh-CN" sz="1800" dirty="0"/>
              <a:t>40pF</a:t>
            </a:r>
            <a:r>
              <a:rPr lang="zh-CN" altLang="zh-CN" sz="1800" dirty="0"/>
              <a:t>、最大值</a:t>
            </a:r>
            <a:r>
              <a:rPr lang="zh-CN" altLang="zh-CN" sz="1800" dirty="0" smtClean="0"/>
              <a:t>无限制</a:t>
            </a:r>
            <a:endParaRPr lang="zh-CN" altLang="zh-CN" sz="1800" dirty="0"/>
          </a:p>
          <a:p>
            <a:pPr marL="285750" indent="-285750">
              <a:lnSpc>
                <a:spcPct val="150000"/>
              </a:lnSpc>
              <a:buFont typeface="Arial" panose="020B0604020202020204" pitchFamily="34" charset="0"/>
              <a:buChar char="•"/>
            </a:pPr>
            <a:r>
              <a:rPr lang="zh-CN" altLang="zh-CN" sz="1800" dirty="0" smtClean="0"/>
              <a:t>电阻</a:t>
            </a:r>
            <a:r>
              <a:rPr lang="en-US" altLang="zh-CN" sz="1800" i="1" dirty="0" smtClean="0"/>
              <a:t>R</a:t>
            </a:r>
            <a:r>
              <a:rPr lang="en-US" altLang="zh-CN" sz="1800" baseline="-25000" dirty="0" smtClean="0"/>
              <a:t>T1</a:t>
            </a:r>
            <a:r>
              <a:rPr lang="zh-CN" altLang="zh-CN" sz="1800" dirty="0" smtClean="0"/>
              <a:t>配合控制电压</a:t>
            </a:r>
            <a:r>
              <a:rPr lang="en-US" altLang="zh-CN" sz="1800" i="1" dirty="0" smtClean="0"/>
              <a:t>VC</a:t>
            </a:r>
            <a:r>
              <a:rPr lang="zh-CN" altLang="zh-CN" sz="1800" dirty="0" smtClean="0"/>
              <a:t>产生</a:t>
            </a:r>
            <a:r>
              <a:rPr lang="zh-CN" altLang="zh-CN" sz="1800" dirty="0"/>
              <a:t>控制</a:t>
            </a:r>
            <a:r>
              <a:rPr lang="zh-CN" altLang="zh-CN" sz="1800" dirty="0" smtClean="0"/>
              <a:t>电流</a:t>
            </a:r>
            <a:endParaRPr lang="en-US" altLang="zh-CN" sz="1800" dirty="0" smtClean="0"/>
          </a:p>
          <a:p>
            <a:pPr lvl="1">
              <a:lnSpc>
                <a:spcPct val="150000"/>
              </a:lnSpc>
            </a:pPr>
            <a:r>
              <a:rPr lang="zh-CN" altLang="en-US" sz="1800" dirty="0" smtClean="0"/>
              <a:t>阻值越小，控制灵敏度越高</a:t>
            </a:r>
            <a:endParaRPr lang="en-US" altLang="zh-CN" sz="1800" dirty="0" smtClean="0"/>
          </a:p>
          <a:p>
            <a:pPr marL="285750" indent="-285750">
              <a:lnSpc>
                <a:spcPct val="150000"/>
              </a:lnSpc>
              <a:buFont typeface="Arial" panose="020B0604020202020204" pitchFamily="34" charset="0"/>
              <a:buChar char="•"/>
            </a:pPr>
            <a:r>
              <a:rPr lang="zh-CN" altLang="zh-CN" sz="1800" dirty="0" smtClean="0"/>
              <a:t>电阻</a:t>
            </a:r>
            <a:r>
              <a:rPr lang="en-US" altLang="zh-CN" sz="1800" i="1" dirty="0" smtClean="0"/>
              <a:t>R</a:t>
            </a:r>
            <a:r>
              <a:rPr lang="en-US" altLang="zh-CN" sz="1800" baseline="-25000" dirty="0" smtClean="0"/>
              <a:t>T2</a:t>
            </a:r>
            <a:r>
              <a:rPr lang="zh-CN" altLang="zh-CN" sz="1800" dirty="0" smtClean="0"/>
              <a:t>提供固定偏置电流</a:t>
            </a:r>
            <a:endParaRPr lang="en-US" altLang="zh-CN" sz="1800" dirty="0" smtClean="0"/>
          </a:p>
          <a:p>
            <a:pPr lvl="1">
              <a:lnSpc>
                <a:spcPct val="150000"/>
              </a:lnSpc>
            </a:pPr>
            <a:r>
              <a:rPr lang="zh-CN" altLang="en-US" sz="1800" dirty="0" smtClean="0"/>
              <a:t>阻值越小，振荡频率越高</a:t>
            </a:r>
            <a:endParaRPr lang="en-US" altLang="zh-CN" sz="1800" dirty="0" smtClean="0"/>
          </a:p>
          <a:p>
            <a:pPr marL="285750" indent="-285750">
              <a:lnSpc>
                <a:spcPct val="150000"/>
              </a:lnSpc>
              <a:buFont typeface="Arial" panose="020B0604020202020204" pitchFamily="34" charset="0"/>
              <a:buChar char="•"/>
            </a:pPr>
            <a:r>
              <a:rPr lang="zh-CN" altLang="en-US" sz="1800" dirty="0" smtClean="0"/>
              <a:t>两个</a:t>
            </a:r>
            <a:r>
              <a:rPr lang="zh-CN" altLang="zh-CN" sz="1800" dirty="0" smtClean="0"/>
              <a:t>电阻</a:t>
            </a:r>
            <a:r>
              <a:rPr lang="zh-CN" altLang="en-US" sz="1800" dirty="0"/>
              <a:t>值</a:t>
            </a:r>
            <a:r>
              <a:rPr lang="zh-CN" altLang="zh-CN" sz="1800" dirty="0" smtClean="0"/>
              <a:t>的</a:t>
            </a:r>
            <a:r>
              <a:rPr lang="zh-CN" altLang="zh-CN" sz="1800" dirty="0"/>
              <a:t>限制为：最小值</a:t>
            </a:r>
            <a:r>
              <a:rPr lang="en-US" altLang="zh-CN" sz="1800" dirty="0" smtClean="0"/>
              <a:t>3k</a:t>
            </a:r>
            <a:r>
              <a:rPr lang="el-GR" altLang="zh-CN" sz="1800" dirty="0" smtClean="0"/>
              <a:t>Ω</a:t>
            </a:r>
            <a:r>
              <a:rPr lang="zh-CN" altLang="zh-CN" sz="1800" dirty="0" smtClean="0"/>
              <a:t>、</a:t>
            </a:r>
            <a:r>
              <a:rPr lang="zh-CN" altLang="zh-CN" sz="1800" dirty="0"/>
              <a:t>最大值为</a:t>
            </a:r>
            <a:r>
              <a:rPr lang="en-US" altLang="zh-CN" sz="1800" dirty="0" smtClean="0"/>
              <a:t>330k</a:t>
            </a:r>
            <a:r>
              <a:rPr lang="el-GR" altLang="zh-CN" sz="1800" dirty="0" smtClean="0"/>
              <a:t>Ω</a:t>
            </a:r>
            <a:r>
              <a:rPr lang="zh-CN" altLang="zh-CN" sz="1800" dirty="0" smtClean="0"/>
              <a:t>，</a:t>
            </a:r>
            <a:r>
              <a:rPr lang="en-US" altLang="zh-CN" sz="1800" i="1" dirty="0" smtClean="0"/>
              <a:t>R</a:t>
            </a:r>
            <a:r>
              <a:rPr lang="en-US" altLang="zh-CN" sz="1800" baseline="-25000" dirty="0" smtClean="0"/>
              <a:t>T2</a:t>
            </a:r>
            <a:r>
              <a:rPr lang="zh-CN" altLang="zh-CN" sz="1800" dirty="0" smtClean="0"/>
              <a:t>允许开路</a:t>
            </a:r>
            <a:r>
              <a:rPr lang="zh-CN" altLang="en-US" sz="1800" dirty="0" smtClean="0"/>
              <a:t>。具体阻值参考数据手册并结合实验确定</a:t>
            </a:r>
            <a:endParaRPr lang="zh-CN" altLang="en-US" sz="1800" dirty="0"/>
          </a:p>
        </p:txBody>
      </p:sp>
      <p:sp>
        <p:nvSpPr>
          <p:cNvPr id="26" name="Rectangle 2"/>
          <p:cNvSpPr>
            <a:spLocks noChangeArrowheads="1"/>
          </p:cNvSpPr>
          <p:nvPr/>
        </p:nvSpPr>
        <p:spPr bwMode="auto">
          <a:xfrm>
            <a:off x="1412986" y="39247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cxnSp>
        <p:nvCxnSpPr>
          <p:cNvPr id="25" name="直接箭头连接符 24"/>
          <p:cNvCxnSpPr>
            <a:endCxn id="10" idx="1"/>
          </p:cNvCxnSpPr>
          <p:nvPr/>
        </p:nvCxnSpPr>
        <p:spPr>
          <a:xfrm>
            <a:off x="2793093" y="2224737"/>
            <a:ext cx="2961711" cy="1341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55246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42</a:t>
            </a:fld>
            <a:endParaRPr lang="en-US" altLang="zh-CN">
              <a:solidFill>
                <a:srgbClr val="FFFFFF"/>
              </a:solidFill>
            </a:endParaRPr>
          </a:p>
        </p:txBody>
      </p:sp>
      <p:sp>
        <p:nvSpPr>
          <p:cNvPr id="5" name="矩形 4"/>
          <p:cNvSpPr/>
          <p:nvPr/>
        </p:nvSpPr>
        <p:spPr>
          <a:xfrm>
            <a:off x="508001" y="383950"/>
            <a:ext cx="9882188" cy="2215991"/>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altLang="zh-CN" dirty="0"/>
              <a:t>NE564</a:t>
            </a:r>
          </a:p>
          <a:p>
            <a:pPr marL="342900" indent="-342900">
              <a:lnSpc>
                <a:spcPct val="150000"/>
              </a:lnSpc>
              <a:buFont typeface="Arial" panose="020B0604020202020204" pitchFamily="34" charset="0"/>
              <a:buChar char="•"/>
            </a:pPr>
            <a:r>
              <a:rPr lang="zh-CN" altLang="zh-CN" sz="1800" dirty="0"/>
              <a:t>乘法器鉴相</a:t>
            </a:r>
            <a:r>
              <a:rPr lang="zh-CN" altLang="en-US" sz="1800" dirty="0"/>
              <a:t>，带有</a:t>
            </a:r>
            <a:r>
              <a:rPr lang="zh-CN" altLang="zh-CN" sz="1800" dirty="0"/>
              <a:t>输入信号限幅放大电路</a:t>
            </a:r>
            <a:r>
              <a:rPr lang="zh-CN" altLang="en-US" sz="1800" dirty="0"/>
              <a:t>，最小输入幅度</a:t>
            </a:r>
            <a:r>
              <a:rPr lang="en-US" altLang="zh-CN" sz="1800" dirty="0"/>
              <a:t>10mV</a:t>
            </a:r>
          </a:p>
          <a:p>
            <a:pPr marL="342900" indent="-342900">
              <a:lnSpc>
                <a:spcPct val="150000"/>
              </a:lnSpc>
              <a:buFont typeface="Arial" panose="020B0604020202020204" pitchFamily="34" charset="0"/>
              <a:buChar char="•"/>
            </a:pPr>
            <a:r>
              <a:rPr lang="zh-CN" altLang="zh-CN" sz="1800" dirty="0"/>
              <a:t>射耦多谐振荡器结构的压控振荡器</a:t>
            </a:r>
            <a:r>
              <a:rPr lang="zh-CN" altLang="en-US" sz="1800" dirty="0"/>
              <a:t>，外接电容</a:t>
            </a:r>
            <a:r>
              <a:rPr lang="en-US" altLang="zh-CN" sz="1800" dirty="0"/>
              <a:t>CAP</a:t>
            </a:r>
            <a:r>
              <a:rPr lang="zh-CN" altLang="en-US" sz="1800" dirty="0"/>
              <a:t>与内部电阻确定振荡频率</a:t>
            </a:r>
            <a:endParaRPr lang="en-US" altLang="zh-CN" sz="1800" dirty="0"/>
          </a:p>
          <a:p>
            <a:pPr marL="342900" indent="-342900">
              <a:lnSpc>
                <a:spcPct val="150000"/>
              </a:lnSpc>
              <a:buFont typeface="Arial" panose="020B0604020202020204" pitchFamily="34" charset="0"/>
              <a:buChar char="•"/>
            </a:pPr>
            <a:r>
              <a:rPr lang="zh-CN" altLang="zh-CN" sz="1800" dirty="0"/>
              <a:t>压控振荡器控制信号通过缓冲放大器输出</a:t>
            </a:r>
            <a:r>
              <a:rPr lang="zh-CN" altLang="en-US" sz="1800" dirty="0"/>
              <a:t>，适用于频率或相位解调</a:t>
            </a:r>
            <a:endParaRPr lang="en-US" altLang="zh-CN" sz="1800" dirty="0"/>
          </a:p>
          <a:p>
            <a:pPr marL="342900" indent="-342900">
              <a:lnSpc>
                <a:spcPct val="150000"/>
              </a:lnSpc>
              <a:buFont typeface="Arial" panose="020B0604020202020204" pitchFamily="34" charset="0"/>
              <a:buChar char="•"/>
            </a:pPr>
            <a:r>
              <a:rPr lang="zh-CN" altLang="en-US" sz="1800" dirty="0"/>
              <a:t>工作电压上限</a:t>
            </a:r>
            <a:r>
              <a:rPr lang="en-US" altLang="zh-CN" sz="1800" dirty="0"/>
              <a:t>12V</a:t>
            </a:r>
            <a:r>
              <a:rPr lang="zh-CN" altLang="en-US" sz="1800" dirty="0"/>
              <a:t>，</a:t>
            </a:r>
            <a:r>
              <a:rPr lang="zh-CN" altLang="zh-CN" sz="1800" dirty="0"/>
              <a:t>使用频率上限</a:t>
            </a:r>
            <a:r>
              <a:rPr lang="zh-CN" altLang="en-US" sz="1800" dirty="0"/>
              <a:t>约</a:t>
            </a:r>
            <a:r>
              <a:rPr lang="en-US" altLang="zh-CN" sz="1800" dirty="0"/>
              <a:t>50MHz</a:t>
            </a:r>
            <a:endParaRPr lang="zh-CN" altLang="en-US" dirty="0"/>
          </a:p>
        </p:txBody>
      </p:sp>
      <p:graphicFrame>
        <p:nvGraphicFramePr>
          <p:cNvPr id="7" name="对象 6"/>
          <p:cNvGraphicFramePr>
            <a:graphicFrameLocks noChangeAspect="1"/>
          </p:cNvGraphicFramePr>
          <p:nvPr>
            <p:extLst/>
          </p:nvPr>
        </p:nvGraphicFramePr>
        <p:xfrm>
          <a:off x="2230503" y="2844591"/>
          <a:ext cx="7692768" cy="3152109"/>
        </p:xfrm>
        <a:graphic>
          <a:graphicData uri="http://schemas.openxmlformats.org/presentationml/2006/ole">
            <mc:AlternateContent xmlns:mc="http://schemas.openxmlformats.org/markup-compatibility/2006">
              <mc:Choice xmlns:v="urn:schemas-microsoft-com:vml" Requires="v">
                <p:oleObj spid="_x0000_s34865" name="Visio" r:id="rId3" imgW="4813111" imgH="1974547" progId="Visio.Drawing.11">
                  <p:embed/>
                </p:oleObj>
              </mc:Choice>
              <mc:Fallback>
                <p:oleObj name="Visio" r:id="rId3" imgW="4813111" imgH="1974547" progId="Visio.Drawing.11">
                  <p:embed/>
                  <p:pic>
                    <p:nvPicPr>
                      <p:cNvPr id="7" name="对象 6"/>
                      <p:cNvPicPr>
                        <a:picLocks noChangeAspect="1" noChangeArrowheads="1"/>
                      </p:cNvPicPr>
                      <p:nvPr/>
                    </p:nvPicPr>
                    <p:blipFill>
                      <a:blip r:embed="rId4"/>
                      <a:srcRect/>
                      <a:stretch>
                        <a:fillRect/>
                      </a:stretch>
                    </p:blipFill>
                    <p:spPr bwMode="auto">
                      <a:xfrm>
                        <a:off x="2230503" y="2844591"/>
                        <a:ext cx="7692768" cy="3152109"/>
                      </a:xfrm>
                      <a:prstGeom prst="rect">
                        <a:avLst/>
                      </a:prstGeom>
                      <a:noFill/>
                    </p:spPr>
                  </p:pic>
                </p:oleObj>
              </mc:Fallback>
            </mc:AlternateContent>
          </a:graphicData>
        </a:graphic>
      </p:graphicFrame>
    </p:spTree>
    <p:extLst>
      <p:ext uri="{BB962C8B-B14F-4D97-AF65-F5344CB8AC3E}">
        <p14:creationId xmlns:p14="http://schemas.microsoft.com/office/powerpoint/2010/main" val="606740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43</a:t>
            </a:fld>
            <a:endParaRPr lang="en-US" altLang="zh-CN">
              <a:solidFill>
                <a:srgbClr val="FFFFFF"/>
              </a:solidFill>
            </a:endParaRPr>
          </a:p>
        </p:txBody>
      </p:sp>
      <p:sp>
        <p:nvSpPr>
          <p:cNvPr id="5" name="矩形 4"/>
          <p:cNvSpPr/>
          <p:nvPr/>
        </p:nvSpPr>
        <p:spPr>
          <a:xfrm>
            <a:off x="435429" y="384485"/>
            <a:ext cx="6865257" cy="2723823"/>
          </a:xfrm>
          <a:prstGeom prst="rect">
            <a:avLst/>
          </a:prstGeom>
        </p:spPr>
        <p:txBody>
          <a:bodyPr wrap="square">
            <a:spAutoFit/>
          </a:bodyPr>
          <a:lstStyle/>
          <a:p>
            <a:pPr marL="342900" indent="-342900">
              <a:lnSpc>
                <a:spcPct val="150000"/>
              </a:lnSpc>
              <a:buFont typeface="Wingdings" panose="05000000000000000000" pitchFamily="2" charset="2"/>
              <a:buChar char="Ø"/>
            </a:pPr>
            <a:r>
              <a:rPr lang="zh-CN" altLang="zh-CN" dirty="0">
                <a:ea typeface="黑体" panose="02010609060101010101" pitchFamily="49" charset="-122"/>
                <a:cs typeface="Times New Roman" panose="02020603050405020304" pitchFamily="18" charset="0"/>
              </a:rPr>
              <a:t>频率合成器芯片</a:t>
            </a:r>
            <a:r>
              <a:rPr lang="en-US" altLang="zh-CN" dirty="0" smtClean="0">
                <a:latin typeface="Arial" panose="020B0604020202020204" pitchFamily="34" charset="0"/>
                <a:ea typeface="黑体" panose="02010609060101010101" pitchFamily="49" charset="-122"/>
              </a:rPr>
              <a:t>MC145151-2</a:t>
            </a:r>
            <a:endParaRPr lang="en-US" altLang="zh-CN" dirty="0">
              <a:latin typeface="Arial" panose="020B0604020202020204" pitchFamily="34" charset="0"/>
              <a:ea typeface="黑体" panose="02010609060101010101" pitchFamily="49" charset="-122"/>
            </a:endParaRPr>
          </a:p>
          <a:p>
            <a:pPr marL="342900" indent="-342900">
              <a:lnSpc>
                <a:spcPct val="150000"/>
              </a:lnSpc>
              <a:buFont typeface="Arial" panose="020B0604020202020204" pitchFamily="34" charset="0"/>
              <a:buChar char="•"/>
            </a:pPr>
            <a:r>
              <a:rPr lang="zh-CN" altLang="zh-CN" sz="1800" dirty="0"/>
              <a:t>内部集成鉴相</a:t>
            </a:r>
            <a:r>
              <a:rPr lang="en-US" altLang="zh-CN" sz="1800" dirty="0"/>
              <a:t>-</a:t>
            </a:r>
            <a:r>
              <a:rPr lang="zh-CN" altLang="zh-CN" sz="1800" dirty="0"/>
              <a:t>鉴频器</a:t>
            </a:r>
            <a:r>
              <a:rPr lang="zh-CN" altLang="en-US" sz="1800" dirty="0"/>
              <a:t>（</a:t>
            </a:r>
            <a:r>
              <a:rPr lang="en-US" altLang="zh-CN" sz="1800" dirty="0"/>
              <a:t>PFD</a:t>
            </a:r>
            <a:r>
              <a:rPr lang="zh-CN" altLang="en-US" sz="1800" dirty="0"/>
              <a:t>）</a:t>
            </a:r>
            <a:endParaRPr lang="en-US" altLang="zh-CN" sz="1800" dirty="0"/>
          </a:p>
          <a:p>
            <a:pPr marL="342900" indent="-342900">
              <a:lnSpc>
                <a:spcPct val="150000"/>
              </a:lnSpc>
              <a:buFont typeface="Arial" panose="020B0604020202020204" pitchFamily="34" charset="0"/>
              <a:buChar char="•"/>
            </a:pPr>
            <a:r>
              <a:rPr lang="zh-CN" altLang="zh-CN" sz="1800" dirty="0"/>
              <a:t>内部集成参考信号（石英晶体）振荡器的驱动电路</a:t>
            </a:r>
            <a:endParaRPr lang="en-US" altLang="zh-CN" sz="1800" dirty="0"/>
          </a:p>
          <a:p>
            <a:pPr marL="342900" indent="-342900">
              <a:lnSpc>
                <a:spcPct val="150000"/>
              </a:lnSpc>
              <a:buFont typeface="Arial" panose="020B0604020202020204" pitchFamily="34" charset="0"/>
              <a:buChar char="•"/>
            </a:pPr>
            <a:r>
              <a:rPr lang="zh-CN" altLang="zh-CN" sz="1800" dirty="0"/>
              <a:t>两个可控分频器（参考信号预分频</a:t>
            </a:r>
            <a:r>
              <a:rPr lang="zh-CN" altLang="en-US" sz="1800" dirty="0"/>
              <a:t>、</a:t>
            </a:r>
            <a:r>
              <a:rPr lang="zh-CN" altLang="zh-CN" sz="1800" dirty="0"/>
              <a:t>反馈信号分频）</a:t>
            </a:r>
            <a:endParaRPr lang="en-US" altLang="zh-CN" sz="1800" dirty="0"/>
          </a:p>
          <a:p>
            <a:pPr marL="342900" indent="-342900">
              <a:lnSpc>
                <a:spcPct val="150000"/>
              </a:lnSpc>
              <a:buFont typeface="Arial" panose="020B0604020202020204" pitchFamily="34" charset="0"/>
              <a:buChar char="•"/>
            </a:pPr>
            <a:r>
              <a:rPr lang="zh-CN" altLang="en-US" sz="1800" dirty="0"/>
              <a:t>电源</a:t>
            </a:r>
            <a:r>
              <a:rPr lang="en-US" altLang="zh-CN" sz="1800" dirty="0"/>
              <a:t>3~9V</a:t>
            </a:r>
          </a:p>
          <a:p>
            <a:pPr marL="342900" indent="-342900">
              <a:lnSpc>
                <a:spcPct val="150000"/>
              </a:lnSpc>
              <a:buFont typeface="Arial" panose="020B0604020202020204" pitchFamily="34" charset="0"/>
              <a:buChar char="•"/>
            </a:pPr>
            <a:r>
              <a:rPr lang="zh-CN" altLang="en-US" sz="1800" dirty="0"/>
              <a:t>最高工作频率与工作条件有关，最大值为</a:t>
            </a:r>
            <a:r>
              <a:rPr lang="en-US" altLang="zh-CN" sz="1800" dirty="0"/>
              <a:t>22MHz</a:t>
            </a:r>
            <a:endParaRPr lang="zh-CN" altLang="en-US" sz="1800" dirty="0"/>
          </a:p>
        </p:txBody>
      </p:sp>
      <p:pic>
        <p:nvPicPr>
          <p:cNvPr id="8" name="图片 7"/>
          <p:cNvPicPr>
            <a:picLocks noChangeAspect="1"/>
          </p:cNvPicPr>
          <p:nvPr/>
        </p:nvPicPr>
        <p:blipFill>
          <a:blip r:embed="rId2"/>
          <a:stretch>
            <a:fillRect/>
          </a:stretch>
        </p:blipFill>
        <p:spPr>
          <a:xfrm>
            <a:off x="2338289" y="3159109"/>
            <a:ext cx="7309479" cy="3181561"/>
          </a:xfrm>
          <a:prstGeom prst="rect">
            <a:avLst/>
          </a:prstGeom>
        </p:spPr>
      </p:pic>
    </p:spTree>
    <p:extLst>
      <p:ext uri="{BB962C8B-B14F-4D97-AF65-F5344CB8AC3E}">
        <p14:creationId xmlns:p14="http://schemas.microsoft.com/office/powerpoint/2010/main" val="2971648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44</a:t>
            </a:fld>
            <a:endParaRPr lang="en-US" altLang="zh-CN">
              <a:solidFill>
                <a:srgbClr val="FFFFFF"/>
              </a:solidFill>
            </a:endParaRPr>
          </a:p>
        </p:txBody>
      </p:sp>
      <p:sp>
        <p:nvSpPr>
          <p:cNvPr id="5" name="文本框 4"/>
          <p:cNvSpPr txBox="1"/>
          <p:nvPr/>
        </p:nvSpPr>
        <p:spPr>
          <a:xfrm>
            <a:off x="406400" y="522514"/>
            <a:ext cx="11241314" cy="553998"/>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smtClean="0">
                <a:solidFill>
                  <a:srgbClr val="FF0000"/>
                </a:solidFill>
                <a:latin typeface="黑体" panose="02010609060101010101" pitchFamily="49" charset="-122"/>
                <a:ea typeface="黑体" panose="02010609060101010101" pitchFamily="49" charset="-122"/>
              </a:rPr>
              <a:t>电路模块之一  </a:t>
            </a:r>
            <a:r>
              <a:rPr lang="en-US" altLang="zh-CN" dirty="0" smtClean="0">
                <a:solidFill>
                  <a:srgbClr val="FF0000"/>
                </a:solidFill>
              </a:rPr>
              <a:t>AM/2ASK/2PSK</a:t>
            </a:r>
            <a:r>
              <a:rPr lang="zh-CN" altLang="en-US" dirty="0">
                <a:solidFill>
                  <a:srgbClr val="FF0000"/>
                </a:solidFill>
              </a:rPr>
              <a:t>解调</a:t>
            </a:r>
            <a:r>
              <a:rPr lang="zh-CN" altLang="en-US" dirty="0" smtClean="0">
                <a:solidFill>
                  <a:srgbClr val="FF0000"/>
                </a:solidFill>
              </a:rPr>
              <a:t>模块</a:t>
            </a:r>
            <a:endParaRPr lang="zh-CN" altLang="en-US" sz="1800" dirty="0">
              <a:solidFill>
                <a:srgbClr val="FF0000"/>
              </a:solidFill>
            </a:endParaRPr>
          </a:p>
        </p:txBody>
      </p:sp>
      <p:sp>
        <p:nvSpPr>
          <p:cNvPr id="6" name="矩形 5"/>
          <p:cNvSpPr/>
          <p:nvPr/>
        </p:nvSpPr>
        <p:spPr>
          <a:xfrm>
            <a:off x="2355550" y="2749594"/>
            <a:ext cx="819754" cy="943430"/>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平方</a:t>
            </a:r>
            <a:endParaRPr lang="en-US" altLang="zh-CN" sz="1800" dirty="0" smtClean="0">
              <a:solidFill>
                <a:schemeClr val="tx1"/>
              </a:solidFill>
            </a:endParaRPr>
          </a:p>
          <a:p>
            <a:pPr algn="ctr"/>
            <a:r>
              <a:rPr lang="zh-CN" altLang="en-US" sz="1800" dirty="0" smtClean="0">
                <a:solidFill>
                  <a:schemeClr val="tx1"/>
                </a:solidFill>
              </a:rPr>
              <a:t>电路</a:t>
            </a:r>
            <a:endParaRPr lang="zh-CN" altLang="en-US" dirty="0">
              <a:solidFill>
                <a:schemeClr val="tx1"/>
              </a:solidFill>
            </a:endParaRPr>
          </a:p>
        </p:txBody>
      </p:sp>
      <p:sp>
        <p:nvSpPr>
          <p:cNvPr id="18" name="矩形 17"/>
          <p:cNvSpPr/>
          <p:nvPr/>
        </p:nvSpPr>
        <p:spPr>
          <a:xfrm>
            <a:off x="9162753" y="2325051"/>
            <a:ext cx="921657" cy="1070429"/>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低通</a:t>
            </a:r>
            <a:endParaRPr lang="en-US" altLang="zh-CN" sz="1800" dirty="0" smtClean="0">
              <a:solidFill>
                <a:schemeClr val="tx1"/>
              </a:solidFill>
            </a:endParaRPr>
          </a:p>
          <a:p>
            <a:pPr algn="ctr"/>
            <a:r>
              <a:rPr lang="zh-CN" altLang="en-US" sz="1800" dirty="0" smtClean="0">
                <a:solidFill>
                  <a:schemeClr val="tx1"/>
                </a:solidFill>
              </a:rPr>
              <a:t>滤波</a:t>
            </a:r>
            <a:endParaRPr lang="zh-CN" altLang="en-US" dirty="0">
              <a:solidFill>
                <a:schemeClr val="tx1"/>
              </a:solidFill>
            </a:endParaRPr>
          </a:p>
        </p:txBody>
      </p:sp>
      <p:sp>
        <p:nvSpPr>
          <p:cNvPr id="19" name="矩形 18"/>
          <p:cNvSpPr/>
          <p:nvPr/>
        </p:nvSpPr>
        <p:spPr>
          <a:xfrm>
            <a:off x="7929031" y="2016624"/>
            <a:ext cx="852419" cy="1676400"/>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乘法</a:t>
            </a:r>
            <a:endParaRPr lang="en-US" altLang="zh-CN" sz="1800" dirty="0" smtClean="0">
              <a:solidFill>
                <a:schemeClr val="tx1"/>
              </a:solidFill>
            </a:endParaRPr>
          </a:p>
          <a:p>
            <a:pPr algn="ctr"/>
            <a:r>
              <a:rPr lang="zh-CN" altLang="en-US" sz="1800" dirty="0">
                <a:solidFill>
                  <a:schemeClr val="tx1"/>
                </a:solidFill>
              </a:rPr>
              <a:t>器</a:t>
            </a:r>
            <a:endParaRPr lang="zh-CN" altLang="en-US" dirty="0">
              <a:solidFill>
                <a:schemeClr val="tx1"/>
              </a:solidFill>
            </a:endParaRPr>
          </a:p>
        </p:txBody>
      </p:sp>
      <p:sp>
        <p:nvSpPr>
          <p:cNvPr id="20" name="矩形 19"/>
          <p:cNvSpPr/>
          <p:nvPr/>
        </p:nvSpPr>
        <p:spPr>
          <a:xfrm>
            <a:off x="6568457" y="2749594"/>
            <a:ext cx="1030224" cy="943430"/>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smtClean="0">
                <a:solidFill>
                  <a:schemeClr val="tx1"/>
                </a:solidFill>
              </a:rPr>
              <a:t>2</a:t>
            </a:r>
            <a:r>
              <a:rPr lang="zh-CN" altLang="en-US" sz="1800" dirty="0" smtClean="0">
                <a:solidFill>
                  <a:schemeClr val="tx1"/>
                </a:solidFill>
              </a:rPr>
              <a:t>分频</a:t>
            </a:r>
            <a:endParaRPr lang="zh-CN" altLang="en-US" sz="1800" dirty="0">
              <a:solidFill>
                <a:schemeClr val="tx1"/>
              </a:solidFill>
            </a:endParaRPr>
          </a:p>
        </p:txBody>
      </p:sp>
      <p:sp>
        <p:nvSpPr>
          <p:cNvPr id="21" name="矩形 20"/>
          <p:cNvSpPr/>
          <p:nvPr/>
        </p:nvSpPr>
        <p:spPr>
          <a:xfrm>
            <a:off x="3605442" y="2749594"/>
            <a:ext cx="756101" cy="943430"/>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整形</a:t>
            </a:r>
            <a:endParaRPr lang="zh-CN" altLang="en-US" sz="1800" dirty="0">
              <a:solidFill>
                <a:schemeClr val="tx1"/>
              </a:solidFill>
            </a:endParaRPr>
          </a:p>
        </p:txBody>
      </p:sp>
      <p:sp>
        <p:nvSpPr>
          <p:cNvPr id="22" name="矩形 21"/>
          <p:cNvSpPr/>
          <p:nvPr/>
        </p:nvSpPr>
        <p:spPr>
          <a:xfrm>
            <a:off x="4790923" y="2749594"/>
            <a:ext cx="1396695" cy="943429"/>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smtClean="0">
                <a:solidFill>
                  <a:schemeClr val="tx1"/>
                </a:solidFill>
              </a:rPr>
              <a:t>锁相环</a:t>
            </a:r>
            <a:endParaRPr lang="zh-CN" altLang="en-US" sz="1800" dirty="0">
              <a:solidFill>
                <a:schemeClr val="tx1"/>
              </a:solidFill>
            </a:endParaRPr>
          </a:p>
        </p:txBody>
      </p:sp>
      <p:cxnSp>
        <p:nvCxnSpPr>
          <p:cNvPr id="9" name="直接箭头连接符 8"/>
          <p:cNvCxnSpPr>
            <a:endCxn id="6" idx="1"/>
          </p:cNvCxnSpPr>
          <p:nvPr/>
        </p:nvCxnSpPr>
        <p:spPr>
          <a:xfrm>
            <a:off x="1546074" y="3221309"/>
            <a:ext cx="809476"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V="1">
            <a:off x="1974246" y="2415767"/>
            <a:ext cx="0" cy="805542"/>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1974246" y="2415767"/>
            <a:ext cx="595478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6" idx="3"/>
            <a:endCxn id="21" idx="1"/>
          </p:cNvCxnSpPr>
          <p:nvPr/>
        </p:nvCxnSpPr>
        <p:spPr>
          <a:xfrm>
            <a:off x="3175304" y="3221309"/>
            <a:ext cx="43013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21" idx="3"/>
            <a:endCxn id="22" idx="1"/>
          </p:cNvCxnSpPr>
          <p:nvPr/>
        </p:nvCxnSpPr>
        <p:spPr>
          <a:xfrm>
            <a:off x="4361543" y="3221309"/>
            <a:ext cx="42938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22" idx="3"/>
            <a:endCxn id="20" idx="1"/>
          </p:cNvCxnSpPr>
          <p:nvPr/>
        </p:nvCxnSpPr>
        <p:spPr>
          <a:xfrm>
            <a:off x="6187618" y="3221309"/>
            <a:ext cx="38083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20" idx="3"/>
          </p:cNvCxnSpPr>
          <p:nvPr/>
        </p:nvCxnSpPr>
        <p:spPr>
          <a:xfrm>
            <a:off x="7598681" y="3221309"/>
            <a:ext cx="33035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19" idx="3"/>
            <a:endCxn id="18" idx="1"/>
          </p:cNvCxnSpPr>
          <p:nvPr/>
        </p:nvCxnSpPr>
        <p:spPr>
          <a:xfrm>
            <a:off x="8781450" y="2854824"/>
            <a:ext cx="381303" cy="54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a:stCxn id="18" idx="3"/>
          </p:cNvCxnSpPr>
          <p:nvPr/>
        </p:nvCxnSpPr>
        <p:spPr>
          <a:xfrm>
            <a:off x="10084410" y="2860266"/>
            <a:ext cx="41697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671287" y="3026148"/>
            <a:ext cx="921657" cy="369332"/>
          </a:xfrm>
          <a:prstGeom prst="rect">
            <a:avLst/>
          </a:prstGeom>
          <a:noFill/>
        </p:spPr>
        <p:txBody>
          <a:bodyPr wrap="square" rtlCol="0">
            <a:spAutoFit/>
          </a:bodyPr>
          <a:lstStyle/>
          <a:p>
            <a:r>
              <a:rPr lang="zh-CN" altLang="en-US" sz="1800" dirty="0" smtClean="0"/>
              <a:t>已调波</a:t>
            </a:r>
            <a:endParaRPr lang="zh-CN" altLang="en-US" sz="1800" dirty="0"/>
          </a:p>
        </p:txBody>
      </p:sp>
      <p:sp>
        <p:nvSpPr>
          <p:cNvPr id="47" name="文本框 46"/>
          <p:cNvSpPr txBox="1"/>
          <p:nvPr/>
        </p:nvSpPr>
        <p:spPr>
          <a:xfrm>
            <a:off x="10465249" y="2687686"/>
            <a:ext cx="1182465" cy="369332"/>
          </a:xfrm>
          <a:prstGeom prst="rect">
            <a:avLst/>
          </a:prstGeom>
          <a:noFill/>
        </p:spPr>
        <p:txBody>
          <a:bodyPr wrap="square" rtlCol="0">
            <a:spAutoFit/>
          </a:bodyPr>
          <a:lstStyle/>
          <a:p>
            <a:r>
              <a:rPr lang="zh-CN" altLang="en-US" sz="1800" dirty="0" smtClean="0"/>
              <a:t>解调输出</a:t>
            </a:r>
            <a:endParaRPr lang="zh-CN" altLang="en-US" sz="1800" dirty="0"/>
          </a:p>
        </p:txBody>
      </p:sp>
      <p:sp>
        <p:nvSpPr>
          <p:cNvPr id="48" name="文本框 47"/>
          <p:cNvSpPr txBox="1"/>
          <p:nvPr/>
        </p:nvSpPr>
        <p:spPr>
          <a:xfrm>
            <a:off x="2957287" y="4164739"/>
            <a:ext cx="921657" cy="369332"/>
          </a:xfrm>
          <a:prstGeom prst="rect">
            <a:avLst/>
          </a:prstGeom>
          <a:noFill/>
        </p:spPr>
        <p:txBody>
          <a:bodyPr wrap="square" rtlCol="0">
            <a:spAutoFit/>
          </a:bodyPr>
          <a:lstStyle/>
          <a:p>
            <a:r>
              <a:rPr lang="en-US" altLang="zh-CN" sz="1800" dirty="0" smtClean="0"/>
              <a:t>2</a:t>
            </a:r>
            <a:r>
              <a:rPr lang="zh-CN" altLang="en-US" sz="1800" dirty="0" smtClean="0"/>
              <a:t>倍频</a:t>
            </a:r>
            <a:endParaRPr lang="zh-CN" altLang="en-US" sz="1800" dirty="0"/>
          </a:p>
        </p:txBody>
      </p:sp>
      <p:sp>
        <p:nvSpPr>
          <p:cNvPr id="50" name="文本框 49"/>
          <p:cNvSpPr txBox="1"/>
          <p:nvPr/>
        </p:nvSpPr>
        <p:spPr>
          <a:xfrm>
            <a:off x="5714027" y="4164738"/>
            <a:ext cx="1328019" cy="369332"/>
          </a:xfrm>
          <a:prstGeom prst="rect">
            <a:avLst/>
          </a:prstGeom>
          <a:noFill/>
        </p:spPr>
        <p:txBody>
          <a:bodyPr wrap="square" rtlCol="0">
            <a:spAutoFit/>
          </a:bodyPr>
          <a:lstStyle/>
          <a:p>
            <a:pPr algn="ctr"/>
            <a:r>
              <a:rPr lang="en-US" altLang="zh-CN" sz="1800" dirty="0" smtClean="0"/>
              <a:t>2</a:t>
            </a:r>
            <a:r>
              <a:rPr lang="zh-CN" altLang="en-US" sz="1800" dirty="0" smtClean="0"/>
              <a:t>倍频载波</a:t>
            </a:r>
            <a:endParaRPr lang="zh-CN" altLang="en-US" sz="1800" dirty="0"/>
          </a:p>
        </p:txBody>
      </p:sp>
      <p:sp>
        <p:nvSpPr>
          <p:cNvPr id="51" name="文本框 50"/>
          <p:cNvSpPr txBox="1"/>
          <p:nvPr/>
        </p:nvSpPr>
        <p:spPr>
          <a:xfrm>
            <a:off x="7099846" y="4164738"/>
            <a:ext cx="1289411" cy="646331"/>
          </a:xfrm>
          <a:prstGeom prst="rect">
            <a:avLst/>
          </a:prstGeom>
          <a:noFill/>
        </p:spPr>
        <p:txBody>
          <a:bodyPr wrap="square" rtlCol="0">
            <a:spAutoFit/>
          </a:bodyPr>
          <a:lstStyle/>
          <a:p>
            <a:pPr algn="ctr"/>
            <a:r>
              <a:rPr lang="zh-CN" altLang="en-US" sz="1800" dirty="0" smtClean="0"/>
              <a:t>载波同步信号</a:t>
            </a:r>
            <a:endParaRPr lang="zh-CN" altLang="en-US" sz="1800" dirty="0"/>
          </a:p>
        </p:txBody>
      </p:sp>
      <p:cxnSp>
        <p:nvCxnSpPr>
          <p:cNvPr id="66" name="直接箭头连接符 65"/>
          <p:cNvCxnSpPr/>
          <p:nvPr/>
        </p:nvCxnSpPr>
        <p:spPr>
          <a:xfrm flipV="1">
            <a:off x="3390373" y="3342585"/>
            <a:ext cx="0" cy="7008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a:xfrm flipV="1">
            <a:off x="7763855" y="3395480"/>
            <a:ext cx="0" cy="7008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flipV="1">
            <a:off x="6378036" y="3395480"/>
            <a:ext cx="0" cy="70087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1107492" y="1720270"/>
            <a:ext cx="877163" cy="369332"/>
          </a:xfrm>
          <a:prstGeom prst="rect">
            <a:avLst/>
          </a:prstGeom>
          <a:noFill/>
        </p:spPr>
        <p:txBody>
          <a:bodyPr wrap="none" rtlCol="0">
            <a:spAutoFit/>
          </a:bodyPr>
          <a:lstStyle/>
          <a:p>
            <a:r>
              <a:rPr lang="zh-CN" altLang="en-US" sz="1800" dirty="0" smtClean="0"/>
              <a:t>结构图</a:t>
            </a:r>
            <a:endParaRPr lang="zh-CN" altLang="en-US" sz="1800" dirty="0"/>
          </a:p>
        </p:txBody>
      </p:sp>
    </p:spTree>
    <p:extLst>
      <p:ext uri="{BB962C8B-B14F-4D97-AF65-F5344CB8AC3E}">
        <p14:creationId xmlns:p14="http://schemas.microsoft.com/office/powerpoint/2010/main" val="32922914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45</a:t>
            </a:fld>
            <a:endParaRPr lang="en-US" altLang="zh-CN">
              <a:solidFill>
                <a:srgbClr val="FFFFFF"/>
              </a:solidFill>
            </a:endParaRPr>
          </a:p>
        </p:txBody>
      </p:sp>
      <p:sp>
        <p:nvSpPr>
          <p:cNvPr id="6" name="文本框 5"/>
          <p:cNvSpPr txBox="1"/>
          <p:nvPr/>
        </p:nvSpPr>
        <p:spPr>
          <a:xfrm>
            <a:off x="464457" y="537029"/>
            <a:ext cx="4521200" cy="400110"/>
          </a:xfrm>
          <a:prstGeom prst="rect">
            <a:avLst/>
          </a:prstGeom>
          <a:noFill/>
        </p:spPr>
        <p:txBody>
          <a:bodyPr wrap="square" rtlCol="0">
            <a:spAutoFit/>
          </a:bodyPr>
          <a:lstStyle/>
          <a:p>
            <a:r>
              <a:rPr lang="zh-CN" altLang="en-US" dirty="0" smtClean="0"/>
              <a:t>完整的设计电路</a:t>
            </a:r>
            <a:endParaRPr lang="zh-CN" altLang="en-US" dirty="0"/>
          </a:p>
        </p:txBody>
      </p:sp>
      <p:cxnSp>
        <p:nvCxnSpPr>
          <p:cNvPr id="7" name="直接连接符 6"/>
          <p:cNvCxnSpPr/>
          <p:nvPr/>
        </p:nvCxnSpPr>
        <p:spPr>
          <a:xfrm flipH="1" flipV="1">
            <a:off x="2046817" y="1182914"/>
            <a:ext cx="36288" cy="4614424"/>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flipV="1">
            <a:off x="6925987" y="1059543"/>
            <a:ext cx="15776" cy="471658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flipV="1">
            <a:off x="9603952" y="1059543"/>
            <a:ext cx="15847" cy="4737794"/>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flipV="1">
            <a:off x="7909402" y="1059543"/>
            <a:ext cx="15703" cy="46945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flipV="1">
            <a:off x="3628875" y="1110343"/>
            <a:ext cx="0" cy="4643788"/>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762000" y="5384799"/>
            <a:ext cx="10885714" cy="369332"/>
          </a:xfrm>
          <a:prstGeom prst="rect">
            <a:avLst/>
          </a:prstGeom>
          <a:noFill/>
        </p:spPr>
        <p:txBody>
          <a:bodyPr wrap="square" rtlCol="0">
            <a:spAutoFit/>
          </a:bodyPr>
          <a:lstStyle/>
          <a:p>
            <a:r>
              <a:rPr lang="zh-CN" altLang="en-US" sz="1800" dirty="0" smtClean="0">
                <a:solidFill>
                  <a:srgbClr val="0070C0"/>
                </a:solidFill>
              </a:rPr>
              <a:t>前置放大             平方                                锁相环                     </a:t>
            </a:r>
            <a:r>
              <a:rPr lang="en-US" altLang="zh-CN" sz="1800" dirty="0" smtClean="0">
                <a:solidFill>
                  <a:srgbClr val="0070C0"/>
                </a:solidFill>
              </a:rPr>
              <a:t>2</a:t>
            </a:r>
            <a:r>
              <a:rPr lang="zh-CN" altLang="en-US" sz="1800" dirty="0" smtClean="0">
                <a:solidFill>
                  <a:srgbClr val="0070C0"/>
                </a:solidFill>
              </a:rPr>
              <a:t>分频</a:t>
            </a:r>
            <a:r>
              <a:rPr lang="en-US" altLang="zh-CN" sz="1800" dirty="0" smtClean="0">
                <a:solidFill>
                  <a:srgbClr val="0070C0"/>
                </a:solidFill>
              </a:rPr>
              <a:t>           </a:t>
            </a:r>
            <a:r>
              <a:rPr lang="zh-CN" altLang="en-US" sz="1800" dirty="0" smtClean="0">
                <a:solidFill>
                  <a:srgbClr val="0070C0"/>
                </a:solidFill>
              </a:rPr>
              <a:t>乘法器                 低通滤波器</a:t>
            </a:r>
            <a:endParaRPr lang="en-US" altLang="zh-CN" sz="1800" dirty="0" smtClean="0">
              <a:solidFill>
                <a:srgbClr val="0070C0"/>
              </a:solidFill>
            </a:endParaRPr>
          </a:p>
        </p:txBody>
      </p:sp>
      <p:pic>
        <p:nvPicPr>
          <p:cNvPr id="24" name="图片 23"/>
          <p:cNvPicPr>
            <a:picLocks noChangeAspect="1"/>
          </p:cNvPicPr>
          <p:nvPr/>
        </p:nvPicPr>
        <p:blipFill>
          <a:blip r:embed="rId2"/>
          <a:stretch>
            <a:fillRect/>
          </a:stretch>
        </p:blipFill>
        <p:spPr>
          <a:xfrm>
            <a:off x="573105" y="1664427"/>
            <a:ext cx="11148025" cy="3474597"/>
          </a:xfrm>
          <a:prstGeom prst="rect">
            <a:avLst/>
          </a:prstGeom>
        </p:spPr>
      </p:pic>
    </p:spTree>
    <p:extLst>
      <p:ext uri="{BB962C8B-B14F-4D97-AF65-F5344CB8AC3E}">
        <p14:creationId xmlns:p14="http://schemas.microsoft.com/office/powerpoint/2010/main" val="40638467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46</a:t>
            </a:fld>
            <a:endParaRPr lang="en-US" altLang="zh-CN">
              <a:solidFill>
                <a:srgbClr val="FFFFFF"/>
              </a:solidFill>
            </a:endParaRPr>
          </a:p>
        </p:txBody>
      </p:sp>
      <p:sp>
        <p:nvSpPr>
          <p:cNvPr id="5" name="矩形 4"/>
          <p:cNvSpPr/>
          <p:nvPr/>
        </p:nvSpPr>
        <p:spPr>
          <a:xfrm>
            <a:off x="435429" y="472611"/>
            <a:ext cx="11176000" cy="5909310"/>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sz="1800" dirty="0"/>
              <a:t>前置放大器</a:t>
            </a:r>
            <a:endParaRPr lang="en-US" altLang="zh-CN" sz="1800" dirty="0"/>
          </a:p>
          <a:p>
            <a:pPr marL="742950" lvl="1" indent="-285750">
              <a:lnSpc>
                <a:spcPct val="150000"/>
              </a:lnSpc>
              <a:buFont typeface="Arial" panose="020B0604020202020204" pitchFamily="34" charset="0"/>
              <a:buChar char="•"/>
            </a:pPr>
            <a:r>
              <a:rPr lang="zh-CN" altLang="en-US" sz="1800" dirty="0"/>
              <a:t>题目给出的载波电压峰峰值为</a:t>
            </a:r>
            <a:r>
              <a:rPr lang="en-US" altLang="zh-CN" sz="1800" dirty="0"/>
              <a:t>100mV</a:t>
            </a:r>
            <a:r>
              <a:rPr lang="zh-CN" altLang="en-US" sz="1800" dirty="0"/>
              <a:t>（幅度</a:t>
            </a:r>
            <a:r>
              <a:rPr lang="en-US" altLang="zh-CN" sz="1800" dirty="0"/>
              <a:t>50mV</a:t>
            </a:r>
            <a:r>
              <a:rPr lang="zh-CN" altLang="en-US" sz="1800" dirty="0" smtClean="0"/>
              <a:t>），此信号提供给平方与载波相乘的</a:t>
            </a:r>
            <a:r>
              <a:rPr lang="en-US" altLang="zh-CN" sz="1800" dirty="0" smtClean="0"/>
              <a:t>2</a:t>
            </a:r>
            <a:r>
              <a:rPr lang="zh-CN" altLang="en-US" sz="1800" dirty="0" smtClean="0"/>
              <a:t>个乘法器，</a:t>
            </a:r>
            <a:r>
              <a:rPr lang="zh-CN" altLang="en-US" sz="1800" dirty="0"/>
              <a:t>而乘法器的输入幅度最好不要超过</a:t>
            </a:r>
            <a:r>
              <a:rPr lang="en-US" altLang="zh-CN" sz="1800" dirty="0"/>
              <a:t>1V</a:t>
            </a:r>
            <a:r>
              <a:rPr lang="zh-CN" altLang="en-US" sz="1800" dirty="0"/>
              <a:t>。考虑到</a:t>
            </a:r>
            <a:r>
              <a:rPr lang="en-US" altLang="zh-CN" sz="1800" dirty="0"/>
              <a:t>AM</a:t>
            </a:r>
            <a:r>
              <a:rPr lang="zh-CN" altLang="en-US" sz="1800" dirty="0"/>
              <a:t>信号的最大调制度为</a:t>
            </a:r>
            <a:r>
              <a:rPr lang="en-US" altLang="zh-CN" sz="1800" dirty="0"/>
              <a:t>100%</a:t>
            </a:r>
            <a:r>
              <a:rPr lang="zh-CN" altLang="en-US" sz="1800" dirty="0"/>
              <a:t>，所以输入信号幅度应该在</a:t>
            </a:r>
            <a:r>
              <a:rPr lang="en-US" altLang="zh-CN" sz="1800" dirty="0"/>
              <a:t>0.5V</a:t>
            </a:r>
            <a:r>
              <a:rPr lang="zh-CN" altLang="en-US" sz="1800" dirty="0"/>
              <a:t>左右，</a:t>
            </a:r>
            <a:r>
              <a:rPr lang="zh-CN" altLang="en-US" sz="1800" dirty="0" smtClean="0"/>
              <a:t>所以前置放大器</a:t>
            </a:r>
            <a:r>
              <a:rPr lang="zh-CN" altLang="en-US" sz="1800" dirty="0"/>
              <a:t>的</a:t>
            </a:r>
            <a:r>
              <a:rPr lang="zh-CN" altLang="en-US" sz="1800" dirty="0" smtClean="0"/>
              <a:t>增益设计为</a:t>
            </a:r>
            <a:r>
              <a:rPr lang="en-US" altLang="zh-CN" sz="1800" dirty="0"/>
              <a:t>10</a:t>
            </a:r>
            <a:r>
              <a:rPr lang="zh-CN" altLang="en-US" sz="1800" dirty="0"/>
              <a:t>倍，频响大于</a:t>
            </a:r>
            <a:r>
              <a:rPr lang="en-US" altLang="zh-CN" sz="1800" dirty="0" smtClean="0"/>
              <a:t>2MHz</a:t>
            </a:r>
          </a:p>
          <a:p>
            <a:pPr marL="285750" indent="-285750">
              <a:lnSpc>
                <a:spcPct val="150000"/>
              </a:lnSpc>
              <a:buFont typeface="Wingdings" panose="05000000000000000000" pitchFamily="2" charset="2"/>
              <a:buChar char="l"/>
            </a:pPr>
            <a:r>
              <a:rPr lang="zh-CN" altLang="en-US" sz="1800" dirty="0"/>
              <a:t>平方</a:t>
            </a:r>
            <a:endParaRPr lang="en-US" altLang="zh-CN" sz="1800" dirty="0"/>
          </a:p>
          <a:p>
            <a:pPr marL="742950" lvl="1" indent="-285750">
              <a:lnSpc>
                <a:spcPct val="150000"/>
              </a:lnSpc>
              <a:buFont typeface="Arial" panose="020B0604020202020204" pitchFamily="34" charset="0"/>
              <a:buChar char="•"/>
            </a:pPr>
            <a:r>
              <a:rPr lang="zh-CN" altLang="en-US" sz="1800" dirty="0"/>
              <a:t>采用</a:t>
            </a:r>
            <a:r>
              <a:rPr lang="en-US" altLang="zh-CN" sz="1800" dirty="0"/>
              <a:t>AD835</a:t>
            </a:r>
            <a:r>
              <a:rPr lang="zh-CN" altLang="en-US" sz="1800" dirty="0"/>
              <a:t>芯片</a:t>
            </a:r>
            <a:r>
              <a:rPr lang="zh-CN" altLang="en-US" sz="1800" dirty="0" smtClean="0"/>
              <a:t>，输入幅度</a:t>
            </a:r>
            <a:r>
              <a:rPr lang="en-US" altLang="zh-CN" sz="1800" dirty="0" smtClean="0"/>
              <a:t>0.5V</a:t>
            </a:r>
            <a:r>
              <a:rPr lang="zh-CN" altLang="en-US" sz="1800" dirty="0" smtClean="0"/>
              <a:t>左右，输出幅度约为</a:t>
            </a:r>
            <a:r>
              <a:rPr lang="en-US" altLang="zh-CN" sz="1800" dirty="0" smtClean="0"/>
              <a:t>0.25V</a:t>
            </a:r>
            <a:r>
              <a:rPr lang="zh-CN" altLang="en-US" sz="1800" dirty="0" smtClean="0"/>
              <a:t>的正弦波</a:t>
            </a:r>
            <a:endParaRPr lang="en-US" altLang="zh-CN" sz="1800" dirty="0"/>
          </a:p>
          <a:p>
            <a:pPr marL="285750" indent="-285750">
              <a:lnSpc>
                <a:spcPct val="150000"/>
              </a:lnSpc>
              <a:buFont typeface="Wingdings" panose="05000000000000000000" pitchFamily="2" charset="2"/>
              <a:buChar char="l"/>
            </a:pPr>
            <a:r>
              <a:rPr lang="zh-CN" altLang="en-US" sz="1800" dirty="0"/>
              <a:t>乘法器</a:t>
            </a:r>
            <a:endParaRPr lang="en-US" altLang="zh-CN" sz="1800" dirty="0"/>
          </a:p>
          <a:p>
            <a:pPr marL="742950" lvl="1" indent="-285750">
              <a:lnSpc>
                <a:spcPct val="150000"/>
              </a:lnSpc>
              <a:buFont typeface="Arial" panose="020B0604020202020204" pitchFamily="34" charset="0"/>
              <a:buChar char="•"/>
            </a:pPr>
            <a:r>
              <a:rPr lang="zh-CN" altLang="en-US" sz="1800" dirty="0"/>
              <a:t>采用</a:t>
            </a:r>
            <a:r>
              <a:rPr lang="en-US" altLang="zh-CN" sz="1800" dirty="0"/>
              <a:t>AD835</a:t>
            </a:r>
            <a:r>
              <a:rPr lang="zh-CN" altLang="en-US" sz="1800" dirty="0"/>
              <a:t>芯片</a:t>
            </a:r>
            <a:endParaRPr lang="en-US" altLang="zh-CN" sz="1800" dirty="0"/>
          </a:p>
          <a:p>
            <a:pPr marL="742950" lvl="1" indent="-285750">
              <a:lnSpc>
                <a:spcPct val="150000"/>
              </a:lnSpc>
              <a:buFont typeface="Arial" panose="020B0604020202020204" pitchFamily="34" charset="0"/>
              <a:buChar char="•"/>
            </a:pPr>
            <a:r>
              <a:rPr lang="zh-CN" altLang="en-US" sz="1800" dirty="0"/>
              <a:t>两个电阻（</a:t>
            </a:r>
            <a:r>
              <a:rPr lang="en-US" altLang="zh-CN" sz="1800" dirty="0"/>
              <a:t>560</a:t>
            </a:r>
            <a:r>
              <a:rPr lang="zh-CN" altLang="en-US" sz="1800" dirty="0"/>
              <a:t>，</a:t>
            </a:r>
            <a:r>
              <a:rPr lang="en-US" altLang="zh-CN" sz="1800" dirty="0"/>
              <a:t>330</a:t>
            </a:r>
            <a:r>
              <a:rPr lang="zh-CN" altLang="en-US" sz="1800" dirty="0"/>
              <a:t>）与一个电容（</a:t>
            </a:r>
            <a:r>
              <a:rPr lang="en-US" altLang="zh-CN" sz="1800" dirty="0"/>
              <a:t>22p</a:t>
            </a:r>
            <a:r>
              <a:rPr lang="zh-CN" altLang="en-US" sz="1800" dirty="0"/>
              <a:t>）是分压与滤波，将分频器输出的</a:t>
            </a:r>
            <a:r>
              <a:rPr lang="en-US" altLang="zh-CN" sz="1800" dirty="0"/>
              <a:t>0~5V</a:t>
            </a:r>
            <a:r>
              <a:rPr lang="zh-CN" altLang="en-US" sz="1800" dirty="0"/>
              <a:t>方波转换为不超过</a:t>
            </a:r>
            <a:r>
              <a:rPr lang="en-US" altLang="zh-CN" sz="1800" dirty="0"/>
              <a:t>1V</a:t>
            </a:r>
            <a:r>
              <a:rPr lang="zh-CN" altLang="en-US" sz="1800" dirty="0"/>
              <a:t>的近似正弦波</a:t>
            </a:r>
            <a:endParaRPr lang="en-US" altLang="zh-CN" sz="1800" dirty="0"/>
          </a:p>
          <a:p>
            <a:pPr marL="742950" lvl="1" indent="-285750">
              <a:lnSpc>
                <a:spcPct val="150000"/>
              </a:lnSpc>
              <a:buFont typeface="Arial" panose="020B0604020202020204" pitchFamily="34" charset="0"/>
              <a:buChar char="•"/>
            </a:pPr>
            <a:r>
              <a:rPr lang="zh-CN" altLang="en-US" sz="1800" dirty="0"/>
              <a:t>由于最后的输出结果判断中包含了解调的直流分量，所以从乘法单元的输出到最后的解调输出都采用直流耦合，而输入采用交流耦合</a:t>
            </a:r>
            <a:endParaRPr lang="en-US" altLang="zh-CN" sz="1800" dirty="0"/>
          </a:p>
          <a:p>
            <a:pPr marL="285750" indent="-285750">
              <a:lnSpc>
                <a:spcPct val="150000"/>
              </a:lnSpc>
              <a:buFont typeface="Wingdings" panose="05000000000000000000" pitchFamily="2" charset="2"/>
              <a:buChar char="l"/>
            </a:pPr>
            <a:r>
              <a:rPr lang="zh-CN" altLang="en-US" sz="1800" dirty="0"/>
              <a:t>有源滤波器</a:t>
            </a:r>
            <a:endParaRPr lang="en-US" altLang="zh-CN" sz="1800" dirty="0"/>
          </a:p>
          <a:p>
            <a:pPr marL="742950" lvl="1" indent="-285750">
              <a:lnSpc>
                <a:spcPct val="150000"/>
              </a:lnSpc>
              <a:buFont typeface="Arial" panose="020B0604020202020204" pitchFamily="34" charset="0"/>
              <a:buChar char="•"/>
            </a:pPr>
            <a:r>
              <a:rPr lang="zh-CN" altLang="en-US" sz="1800" dirty="0"/>
              <a:t>截止频率约为</a:t>
            </a:r>
            <a:r>
              <a:rPr lang="en-US" altLang="zh-CN" sz="1800" dirty="0" smtClean="0"/>
              <a:t>20kHz</a:t>
            </a:r>
            <a:r>
              <a:rPr lang="zh-CN" altLang="en-US" sz="1800" dirty="0" smtClean="0"/>
              <a:t>，带内增益</a:t>
            </a:r>
            <a:r>
              <a:rPr lang="en-US" altLang="zh-CN" sz="1800" dirty="0" smtClean="0"/>
              <a:t>0dB</a:t>
            </a:r>
            <a:endParaRPr lang="en-US" altLang="zh-CN" sz="1800" dirty="0"/>
          </a:p>
        </p:txBody>
      </p:sp>
    </p:spTree>
    <p:extLst>
      <p:ext uri="{BB962C8B-B14F-4D97-AF65-F5344CB8AC3E}">
        <p14:creationId xmlns:p14="http://schemas.microsoft.com/office/powerpoint/2010/main" val="12449631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47</a:t>
            </a:fld>
            <a:endParaRPr lang="en-US" altLang="zh-CN">
              <a:solidFill>
                <a:srgbClr val="FFFFFF"/>
              </a:solidFill>
            </a:endParaRPr>
          </a:p>
        </p:txBody>
      </p:sp>
      <p:sp>
        <p:nvSpPr>
          <p:cNvPr id="5" name="文本框 4"/>
          <p:cNvSpPr txBox="1"/>
          <p:nvPr/>
        </p:nvSpPr>
        <p:spPr>
          <a:xfrm>
            <a:off x="384628" y="442686"/>
            <a:ext cx="11321143" cy="5909310"/>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sz="1800" dirty="0" smtClean="0"/>
              <a:t>锁相环的设计过程</a:t>
            </a:r>
            <a:endParaRPr lang="en-US" altLang="zh-CN" sz="1800" dirty="0" smtClean="0"/>
          </a:p>
          <a:p>
            <a:pPr>
              <a:lnSpc>
                <a:spcPct val="150000"/>
              </a:lnSpc>
            </a:pPr>
            <a:r>
              <a:rPr lang="zh-CN" altLang="en-US" sz="1800" dirty="0" smtClean="0"/>
              <a:t>需求分析</a:t>
            </a:r>
            <a:endParaRPr lang="en-US" altLang="zh-CN" sz="1800" dirty="0" smtClean="0"/>
          </a:p>
          <a:p>
            <a:pPr marL="742950" lvl="1" indent="-285750">
              <a:lnSpc>
                <a:spcPct val="150000"/>
              </a:lnSpc>
              <a:buFont typeface="Arial" panose="020B0604020202020204" pitchFamily="34" charset="0"/>
              <a:buChar char="•"/>
            </a:pPr>
            <a:r>
              <a:rPr lang="zh-CN" altLang="en-US" sz="1800" dirty="0"/>
              <a:t>根据题目，</a:t>
            </a:r>
            <a:r>
              <a:rPr lang="en-US" altLang="zh-CN" sz="1800" dirty="0"/>
              <a:t>2</a:t>
            </a:r>
            <a:r>
              <a:rPr lang="zh-CN" altLang="en-US" sz="1800" dirty="0"/>
              <a:t>倍载波频率为</a:t>
            </a:r>
            <a:r>
              <a:rPr lang="en-US" altLang="zh-CN" sz="1800" dirty="0"/>
              <a:t>4MHz</a:t>
            </a:r>
            <a:r>
              <a:rPr lang="zh-CN" altLang="en-US" sz="1800" dirty="0"/>
              <a:t>，</a:t>
            </a:r>
            <a:r>
              <a:rPr lang="en-US" altLang="zh-CN" sz="1800" dirty="0"/>
              <a:t>AM</a:t>
            </a:r>
            <a:r>
              <a:rPr lang="zh-CN" altLang="en-US" sz="1800" dirty="0"/>
              <a:t>调制信号频率为</a:t>
            </a:r>
            <a:r>
              <a:rPr lang="en-US" altLang="zh-CN" sz="1800" dirty="0"/>
              <a:t>1kHz~5kHz</a:t>
            </a:r>
            <a:r>
              <a:rPr lang="zh-CN" altLang="en-US" sz="1800" dirty="0"/>
              <a:t>，</a:t>
            </a:r>
            <a:r>
              <a:rPr lang="en-US" altLang="zh-CN" sz="1800" dirty="0"/>
              <a:t>2ASK/2PSK</a:t>
            </a:r>
            <a:r>
              <a:rPr lang="zh-CN" altLang="en-US" sz="1800" dirty="0"/>
              <a:t>码率为</a:t>
            </a:r>
            <a:r>
              <a:rPr lang="en-US" altLang="zh-CN" sz="1800" dirty="0"/>
              <a:t>6kbps~10kbps</a:t>
            </a:r>
          </a:p>
          <a:p>
            <a:pPr marL="742950" lvl="1" indent="-285750">
              <a:lnSpc>
                <a:spcPct val="150000"/>
              </a:lnSpc>
              <a:buFont typeface="Arial" panose="020B0604020202020204" pitchFamily="34" charset="0"/>
              <a:buChar char="•"/>
            </a:pPr>
            <a:r>
              <a:rPr lang="zh-CN" altLang="en-US" sz="1800" dirty="0" smtClean="0"/>
              <a:t>根据</a:t>
            </a:r>
            <a:r>
              <a:rPr lang="en-US" altLang="zh-CN" sz="1800" dirty="0" smtClean="0"/>
              <a:t>AM/2ASK/2PSK</a:t>
            </a:r>
            <a:r>
              <a:rPr lang="zh-CN" altLang="en-US" sz="1800" dirty="0" smtClean="0"/>
              <a:t>解调要求，这个锁相环应该将已调信号中的</a:t>
            </a:r>
            <a:r>
              <a:rPr lang="en-US" altLang="zh-CN" sz="1800" dirty="0" smtClean="0"/>
              <a:t>2</a:t>
            </a:r>
            <a:r>
              <a:rPr lang="zh-CN" altLang="en-US" sz="1800" dirty="0" smtClean="0"/>
              <a:t>倍载波频率分量恢复出来，所以它应该是一个载波跟踪型锁相环</a:t>
            </a:r>
            <a:endParaRPr lang="en-US" altLang="zh-CN" sz="1800" dirty="0" smtClean="0"/>
          </a:p>
          <a:p>
            <a:pPr>
              <a:lnSpc>
                <a:spcPct val="150000"/>
              </a:lnSpc>
            </a:pPr>
            <a:r>
              <a:rPr lang="zh-CN" altLang="en-US" sz="1800" dirty="0" smtClean="0"/>
              <a:t>选择锁相环器件</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实验室可选的锁相环芯片有</a:t>
            </a:r>
            <a:r>
              <a:rPr lang="en-US" altLang="zh-CN" sz="1800" dirty="0" smtClean="0"/>
              <a:t>74HC4046</a:t>
            </a:r>
            <a:r>
              <a:rPr lang="zh-CN" altLang="en-US" sz="1800" dirty="0" smtClean="0"/>
              <a:t>、</a:t>
            </a:r>
            <a:r>
              <a:rPr lang="en-US" altLang="zh-CN" sz="1800" dirty="0" smtClean="0"/>
              <a:t>LM564</a:t>
            </a:r>
            <a:r>
              <a:rPr lang="zh-CN" altLang="en-US" sz="1800" dirty="0" smtClean="0"/>
              <a:t>、</a:t>
            </a:r>
            <a:r>
              <a:rPr lang="en-US" altLang="zh-CN" sz="1800" dirty="0" smtClean="0"/>
              <a:t>LM565</a:t>
            </a:r>
            <a:r>
              <a:rPr lang="zh-CN" altLang="en-US" sz="1800" dirty="0" smtClean="0"/>
              <a:t>、</a:t>
            </a:r>
            <a:r>
              <a:rPr lang="en-US" altLang="zh-CN" sz="1800" dirty="0" smtClean="0"/>
              <a:t>MC145151</a:t>
            </a:r>
            <a:r>
              <a:rPr lang="zh-CN" altLang="en-US" sz="1800" dirty="0" smtClean="0"/>
              <a:t>、</a:t>
            </a:r>
            <a:r>
              <a:rPr lang="en-US" altLang="zh-CN" sz="1800" dirty="0" smtClean="0"/>
              <a:t>ADF4002</a:t>
            </a:r>
            <a:r>
              <a:rPr lang="zh-CN" altLang="en-US" sz="1800" dirty="0" smtClean="0"/>
              <a:t>等，笔者的设计中选用</a:t>
            </a:r>
            <a:r>
              <a:rPr lang="en-US" altLang="zh-CN" sz="1800" dirty="0" smtClean="0"/>
              <a:t>74HC4046</a:t>
            </a:r>
            <a:r>
              <a:rPr lang="zh-CN" altLang="en-US" sz="1800" dirty="0" smtClean="0"/>
              <a:t>（频响达十几</a:t>
            </a:r>
            <a:r>
              <a:rPr lang="en-US" altLang="zh-CN" sz="1800" dirty="0" smtClean="0"/>
              <a:t>MHz</a:t>
            </a:r>
            <a:r>
              <a:rPr lang="zh-CN" altLang="en-US" sz="1800" dirty="0" smtClean="0"/>
              <a:t>，自带</a:t>
            </a:r>
            <a:r>
              <a:rPr lang="en-US" altLang="zh-CN" sz="1800" dirty="0" smtClean="0"/>
              <a:t>VCO</a:t>
            </a:r>
            <a:r>
              <a:rPr lang="zh-CN" altLang="en-US" sz="1800" dirty="0" smtClean="0"/>
              <a:t>）</a:t>
            </a:r>
            <a:endParaRPr lang="en-US" altLang="zh-CN" sz="1800" dirty="0" smtClean="0"/>
          </a:p>
          <a:p>
            <a:pPr>
              <a:lnSpc>
                <a:spcPct val="150000"/>
              </a:lnSpc>
            </a:pPr>
            <a:r>
              <a:rPr lang="zh-CN" altLang="en-US" sz="1800" dirty="0" smtClean="0"/>
              <a:t>选择锁相环的鉴相器</a:t>
            </a:r>
            <a:endParaRPr lang="en-US" altLang="zh-CN" sz="1800" dirty="0" smtClean="0"/>
          </a:p>
          <a:p>
            <a:pPr marL="742950" lvl="1" indent="-285750">
              <a:lnSpc>
                <a:spcPct val="150000"/>
              </a:lnSpc>
              <a:buFont typeface="Arial" panose="020B0604020202020204" pitchFamily="34" charset="0"/>
              <a:buChar char="•"/>
            </a:pPr>
            <a:r>
              <a:rPr lang="en-US" altLang="zh-CN" sz="1800" dirty="0" smtClean="0"/>
              <a:t>74HC4046</a:t>
            </a:r>
            <a:r>
              <a:rPr lang="zh-CN" altLang="en-US" sz="1800" dirty="0" smtClean="0"/>
              <a:t>内部具有三个鉴相器：异或门、</a:t>
            </a:r>
            <a:r>
              <a:rPr lang="en-US" altLang="zh-CN" sz="1800" dirty="0" smtClean="0"/>
              <a:t>JK</a:t>
            </a:r>
            <a:r>
              <a:rPr lang="zh-CN" altLang="en-US" sz="1800" dirty="0" smtClean="0"/>
              <a:t>、以及</a:t>
            </a:r>
            <a:r>
              <a:rPr lang="en-US" altLang="zh-CN" sz="1800" dirty="0" smtClean="0"/>
              <a:t>PFD</a:t>
            </a:r>
            <a:r>
              <a:rPr lang="zh-CN" altLang="en-US" sz="1800" dirty="0" smtClean="0"/>
              <a:t>。由于</a:t>
            </a:r>
            <a:r>
              <a:rPr lang="en-US" altLang="zh-CN" sz="1800" dirty="0" smtClean="0"/>
              <a:t>PFD</a:t>
            </a:r>
            <a:r>
              <a:rPr lang="zh-CN" altLang="en-US" sz="1800" dirty="0" smtClean="0"/>
              <a:t>具有最大的锁定范围、最大的捕捉范围、最大的同步范围等一系列优点，所以通常都选择</a:t>
            </a:r>
            <a:r>
              <a:rPr lang="en-US" altLang="zh-CN" sz="1800" dirty="0" smtClean="0"/>
              <a:t>PFD</a:t>
            </a:r>
          </a:p>
          <a:p>
            <a:pPr marL="742950" lvl="1" indent="-285750">
              <a:lnSpc>
                <a:spcPct val="150000"/>
              </a:lnSpc>
              <a:buFont typeface="Arial" panose="020B0604020202020204" pitchFamily="34" charset="0"/>
              <a:buChar char="•"/>
            </a:pPr>
            <a:r>
              <a:rPr lang="zh-CN" altLang="en-US" sz="1800" dirty="0" smtClean="0"/>
              <a:t>当采用</a:t>
            </a:r>
            <a:r>
              <a:rPr lang="en-US" altLang="zh-CN" sz="1800" dirty="0" smtClean="0"/>
              <a:t>+5V</a:t>
            </a:r>
            <a:r>
              <a:rPr lang="zh-CN" altLang="en-US" sz="1800" dirty="0" smtClean="0"/>
              <a:t>供电时，</a:t>
            </a:r>
            <a:r>
              <a:rPr lang="en-US" altLang="zh-CN" sz="1800" dirty="0" smtClean="0"/>
              <a:t>PFD</a:t>
            </a:r>
            <a:r>
              <a:rPr lang="zh-CN" altLang="en-US" sz="1800" dirty="0" smtClean="0"/>
              <a:t>的输出为</a:t>
            </a:r>
            <a:r>
              <a:rPr lang="en-US" altLang="zh-CN" sz="1800" dirty="0" smtClean="0"/>
              <a:t>0V\+5V</a:t>
            </a:r>
            <a:r>
              <a:rPr lang="zh-CN" altLang="en-US" sz="1800" dirty="0" smtClean="0"/>
              <a:t>，其鉴相增益为</a:t>
            </a:r>
            <a:r>
              <a:rPr lang="en-US" altLang="zh-CN" sz="1800" dirty="0" smtClean="0"/>
              <a:t>5V/4</a:t>
            </a:r>
            <a:r>
              <a:rPr lang="el-GR" altLang="zh-CN" sz="1800" dirty="0" smtClean="0"/>
              <a:t>π≈</a:t>
            </a:r>
            <a:r>
              <a:rPr lang="en-US" altLang="zh-CN" sz="1800" dirty="0" smtClean="0"/>
              <a:t>0.4(V/rad)</a:t>
            </a:r>
          </a:p>
          <a:p>
            <a:pPr marL="742950" lvl="1" indent="-285750">
              <a:lnSpc>
                <a:spcPct val="150000"/>
              </a:lnSpc>
              <a:buFont typeface="Arial" panose="020B0604020202020204" pitchFamily="34" charset="0"/>
              <a:buChar char="•"/>
            </a:pPr>
            <a:r>
              <a:rPr lang="en-US" altLang="zh-CN" sz="1800" dirty="0" smtClean="0"/>
              <a:t>PFD</a:t>
            </a:r>
            <a:r>
              <a:rPr lang="zh-CN" altLang="en-US" sz="1800" dirty="0" smtClean="0"/>
              <a:t>的输入允许直流耦合或交流耦合，这里采用了交流耦合。交流耦合要求输入峰峰值不小于</a:t>
            </a:r>
            <a:r>
              <a:rPr lang="en-US" altLang="zh-CN" sz="1800" dirty="0" smtClean="0"/>
              <a:t>3V</a:t>
            </a:r>
            <a:r>
              <a:rPr lang="zh-CN" altLang="en-US" sz="1800" dirty="0" smtClean="0"/>
              <a:t>，而前面平方电路的输出约为</a:t>
            </a:r>
            <a:r>
              <a:rPr lang="en-US" altLang="zh-CN" sz="1800" dirty="0" smtClean="0"/>
              <a:t>0.25V</a:t>
            </a:r>
            <a:r>
              <a:rPr lang="zh-CN" altLang="en-US" sz="1800" dirty="0" smtClean="0"/>
              <a:t>，所以在前面插入一个大约</a:t>
            </a:r>
            <a:r>
              <a:rPr lang="en-US" altLang="zh-CN" sz="1800" dirty="0" smtClean="0"/>
              <a:t>15</a:t>
            </a:r>
            <a:r>
              <a:rPr lang="zh-CN" altLang="en-US" sz="1800" dirty="0" smtClean="0"/>
              <a:t>倍的放大器</a:t>
            </a:r>
            <a:endParaRPr lang="en-US" altLang="zh-CN" sz="1800" dirty="0" smtClean="0"/>
          </a:p>
        </p:txBody>
      </p:sp>
    </p:spTree>
    <p:extLst>
      <p:ext uri="{BB962C8B-B14F-4D97-AF65-F5344CB8AC3E}">
        <p14:creationId xmlns:p14="http://schemas.microsoft.com/office/powerpoint/2010/main" val="34362363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48</a:t>
            </a:fld>
            <a:endParaRPr lang="en-US" altLang="zh-CN">
              <a:solidFill>
                <a:srgbClr val="FFFFFF"/>
              </a:solidFill>
            </a:endParaRPr>
          </a:p>
        </p:txBody>
      </p:sp>
      <p:sp>
        <p:nvSpPr>
          <p:cNvPr id="6" name="文本框 5"/>
          <p:cNvSpPr txBox="1"/>
          <p:nvPr/>
        </p:nvSpPr>
        <p:spPr>
          <a:xfrm>
            <a:off x="406400" y="457200"/>
            <a:ext cx="11255829" cy="2169825"/>
          </a:xfrm>
          <a:prstGeom prst="rect">
            <a:avLst/>
          </a:prstGeom>
          <a:noFill/>
        </p:spPr>
        <p:txBody>
          <a:bodyPr wrap="square" rtlCol="0">
            <a:spAutoFit/>
          </a:bodyPr>
          <a:lstStyle/>
          <a:p>
            <a:pPr>
              <a:lnSpc>
                <a:spcPct val="150000"/>
              </a:lnSpc>
            </a:pPr>
            <a:r>
              <a:rPr lang="zh-CN" altLang="en-US" sz="1800" dirty="0" smtClean="0"/>
              <a:t>设计锁相环</a:t>
            </a:r>
            <a:r>
              <a:rPr lang="en-US" altLang="zh-CN" sz="1800" dirty="0"/>
              <a:t>74HC4046</a:t>
            </a:r>
            <a:r>
              <a:rPr lang="zh-CN" altLang="en-US" sz="1800" dirty="0" smtClean="0"/>
              <a:t>的</a:t>
            </a:r>
            <a:r>
              <a:rPr lang="en-US" altLang="zh-CN" sz="1800" dirty="0" smtClean="0"/>
              <a:t>VCO</a:t>
            </a:r>
          </a:p>
          <a:p>
            <a:pPr marL="285750" indent="-285750">
              <a:lnSpc>
                <a:spcPct val="150000"/>
              </a:lnSpc>
              <a:buFont typeface="Arial" panose="020B0604020202020204" pitchFamily="34" charset="0"/>
              <a:buChar char="•"/>
            </a:pPr>
            <a:r>
              <a:rPr lang="en-US" altLang="zh-CN" sz="1800" dirty="0" smtClean="0"/>
              <a:t>74HC4046</a:t>
            </a:r>
            <a:r>
              <a:rPr lang="zh-CN" altLang="zh-CN" sz="1800" dirty="0"/>
              <a:t>中压控振荡器的频率与控制电压的关系如</a:t>
            </a:r>
            <a:r>
              <a:rPr lang="zh-CN" altLang="zh-CN" sz="1800" dirty="0" smtClean="0"/>
              <a:t>图所示</a:t>
            </a:r>
            <a:r>
              <a:rPr lang="zh-CN" altLang="en-US" sz="1800" dirty="0" smtClean="0"/>
              <a:t>，其中</a:t>
            </a:r>
            <a:r>
              <a:rPr lang="zh-CN" altLang="zh-CN" sz="1800" dirty="0" smtClean="0"/>
              <a:t>红色</a:t>
            </a:r>
            <a:r>
              <a:rPr lang="zh-CN" altLang="zh-CN" sz="1800" dirty="0"/>
              <a:t>虚线是理想的压控特性，实线围成</a:t>
            </a:r>
            <a:r>
              <a:rPr lang="zh-CN" altLang="zh-CN" sz="1800" dirty="0" smtClean="0"/>
              <a:t>的</a:t>
            </a:r>
            <a:r>
              <a:rPr lang="zh-CN" altLang="en-US" sz="1800" dirty="0"/>
              <a:t>黄</a:t>
            </a:r>
            <a:r>
              <a:rPr lang="zh-CN" altLang="zh-CN" sz="1800" dirty="0" smtClean="0"/>
              <a:t>色</a:t>
            </a:r>
            <a:r>
              <a:rPr lang="zh-CN" altLang="zh-CN" sz="1800" dirty="0"/>
              <a:t>范围是实际的压控特性可能出现的</a:t>
            </a:r>
            <a:r>
              <a:rPr lang="zh-CN" altLang="zh-CN" sz="1800" dirty="0" smtClean="0"/>
              <a:t>区域</a:t>
            </a:r>
            <a:endParaRPr lang="en-US" altLang="zh-CN" sz="1800" dirty="0" smtClean="0"/>
          </a:p>
          <a:p>
            <a:pPr marL="285750" indent="-285750">
              <a:lnSpc>
                <a:spcPct val="150000"/>
              </a:lnSpc>
              <a:buFont typeface="Arial" panose="020B0604020202020204" pitchFamily="34" charset="0"/>
              <a:buChar char="•"/>
            </a:pPr>
            <a:r>
              <a:rPr lang="zh-CN" altLang="zh-CN" sz="1800" dirty="0" smtClean="0"/>
              <a:t>可</a:t>
            </a:r>
            <a:r>
              <a:rPr lang="zh-CN" altLang="zh-CN" sz="1800" dirty="0"/>
              <a:t>控电压范围随着生产厂商的不同而略有不同，其下限</a:t>
            </a:r>
            <a:r>
              <a:rPr lang="en-US" altLang="zh-CN" sz="1800" i="1" dirty="0" err="1"/>
              <a:t>V</a:t>
            </a:r>
            <a:r>
              <a:rPr lang="en-US" altLang="zh-CN" sz="1800" i="1" baseline="-25000" dirty="0" err="1"/>
              <a:t>ctrl</a:t>
            </a:r>
            <a:r>
              <a:rPr lang="en-US" altLang="zh-CN" sz="1800" baseline="-25000" dirty="0"/>
              <a:t>(min)</a:t>
            </a:r>
            <a:r>
              <a:rPr lang="zh-CN" altLang="zh-CN" sz="1800" dirty="0"/>
              <a:t>大致</a:t>
            </a:r>
            <a:r>
              <a:rPr lang="zh-CN" altLang="zh-CN" sz="1800" dirty="0" smtClean="0"/>
              <a:t>在</a:t>
            </a:r>
            <a:r>
              <a:rPr lang="en-US" altLang="zh-CN" sz="1800" dirty="0" smtClean="0"/>
              <a:t>1V</a:t>
            </a:r>
            <a:r>
              <a:rPr lang="zh-CN" altLang="zh-CN" sz="1800" dirty="0"/>
              <a:t>左右，其上限</a:t>
            </a:r>
            <a:r>
              <a:rPr lang="en-US" altLang="zh-CN" sz="1800" i="1" dirty="0" err="1"/>
              <a:t>V</a:t>
            </a:r>
            <a:r>
              <a:rPr lang="en-US" altLang="zh-CN" sz="1800" i="1" baseline="-25000" dirty="0" err="1"/>
              <a:t>ctrl</a:t>
            </a:r>
            <a:r>
              <a:rPr lang="en-US" altLang="zh-CN" sz="1800" baseline="-25000" dirty="0"/>
              <a:t>(max)</a:t>
            </a:r>
            <a:r>
              <a:rPr lang="zh-CN" altLang="zh-CN" sz="1800" dirty="0"/>
              <a:t>大致上比电源电压低</a:t>
            </a:r>
            <a:r>
              <a:rPr lang="en-US" altLang="zh-CN" sz="1800" dirty="0" smtClean="0"/>
              <a:t>1V</a:t>
            </a:r>
            <a:r>
              <a:rPr lang="zh-CN" altLang="zh-CN" sz="1800" dirty="0" smtClean="0"/>
              <a:t>左右</a:t>
            </a:r>
            <a:r>
              <a:rPr lang="zh-CN" altLang="zh-CN" sz="1800" dirty="0"/>
              <a:t>，超出此范围</a:t>
            </a:r>
            <a:r>
              <a:rPr lang="zh-CN" altLang="zh-CN" sz="1800" dirty="0" smtClean="0"/>
              <a:t>后不</a:t>
            </a:r>
            <a:r>
              <a:rPr lang="zh-CN" altLang="zh-CN" sz="1800" dirty="0"/>
              <a:t>受控或控制特性</a:t>
            </a:r>
            <a:r>
              <a:rPr lang="zh-CN" altLang="zh-CN" sz="1800" dirty="0" smtClean="0"/>
              <a:t>极差</a:t>
            </a:r>
          </a:p>
        </p:txBody>
      </p:sp>
      <p:pic>
        <p:nvPicPr>
          <p:cNvPr id="10" name="图片 9"/>
          <p:cNvPicPr>
            <a:picLocks noChangeAspect="1"/>
          </p:cNvPicPr>
          <p:nvPr/>
        </p:nvPicPr>
        <p:blipFill>
          <a:blip r:embed="rId2"/>
          <a:stretch>
            <a:fillRect/>
          </a:stretch>
        </p:blipFill>
        <p:spPr>
          <a:xfrm>
            <a:off x="5437583" y="3031866"/>
            <a:ext cx="6181333" cy="2948020"/>
          </a:xfrm>
          <a:prstGeom prst="rect">
            <a:avLst/>
          </a:prstGeom>
        </p:spPr>
      </p:pic>
      <p:sp>
        <p:nvSpPr>
          <p:cNvPr id="5" name="文本框 4"/>
          <p:cNvSpPr txBox="1"/>
          <p:nvPr/>
        </p:nvSpPr>
        <p:spPr>
          <a:xfrm>
            <a:off x="406400" y="2487126"/>
            <a:ext cx="5031183" cy="38318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a:t>实际控制电压可按照</a:t>
            </a:r>
            <a:r>
              <a:rPr lang="en-US" altLang="zh-CN" sz="1800" dirty="0"/>
              <a:t>1.5V~3.5V</a:t>
            </a:r>
            <a:r>
              <a:rPr lang="zh-CN" altLang="en-US" sz="1800" dirty="0"/>
              <a:t>设计。指定在这个控制电压范围内对应的</a:t>
            </a:r>
            <a:r>
              <a:rPr lang="en-US" altLang="zh-CN" sz="1800" dirty="0"/>
              <a:t>VCO</a:t>
            </a:r>
            <a:r>
              <a:rPr lang="zh-CN" altLang="en-US" sz="1800" dirty="0"/>
              <a:t>频率范围，</a:t>
            </a:r>
            <a:r>
              <a:rPr lang="zh-CN" altLang="en-US" sz="1800" dirty="0" smtClean="0"/>
              <a:t>可得</a:t>
            </a:r>
            <a:r>
              <a:rPr lang="en-US" altLang="zh-CN" sz="1800" dirty="0" smtClean="0"/>
              <a:t>VCO</a:t>
            </a:r>
            <a:r>
              <a:rPr lang="zh-CN" altLang="en-US" sz="1800" dirty="0"/>
              <a:t>的压控</a:t>
            </a:r>
            <a:r>
              <a:rPr lang="zh-CN" altLang="en-US" sz="1800" dirty="0" smtClean="0"/>
              <a:t>增益</a:t>
            </a:r>
            <a:r>
              <a:rPr lang="el-GR" altLang="zh-CN" sz="1800" dirty="0" smtClean="0"/>
              <a:t>Δ</a:t>
            </a:r>
            <a:r>
              <a:rPr lang="en-US" altLang="zh-CN" sz="1800" dirty="0" err="1" smtClean="0"/>
              <a:t>fo</a:t>
            </a:r>
            <a:r>
              <a:rPr lang="en-US" altLang="zh-CN" sz="1800" dirty="0" smtClean="0"/>
              <a:t>/</a:t>
            </a:r>
            <a:r>
              <a:rPr lang="el-GR" altLang="zh-CN" sz="1800" dirty="0" smtClean="0"/>
              <a:t>Δ</a:t>
            </a:r>
            <a:r>
              <a:rPr lang="en-US" altLang="zh-CN" sz="1800" dirty="0" err="1" smtClean="0"/>
              <a:t>Vc</a:t>
            </a:r>
            <a:r>
              <a:rPr lang="zh-CN" altLang="en-US" sz="1800" dirty="0" smtClean="0"/>
              <a:t>。</a:t>
            </a:r>
            <a:r>
              <a:rPr lang="zh-CN" altLang="en-US" sz="1800" dirty="0"/>
              <a:t>例如本题可</a:t>
            </a:r>
            <a:r>
              <a:rPr lang="zh-CN" altLang="en-US" sz="1800" dirty="0" smtClean="0"/>
              <a:t>指定 </a:t>
            </a:r>
            <a:r>
              <a:rPr lang="en-US" altLang="zh-CN" sz="1800" dirty="0" err="1" smtClean="0"/>
              <a:t>fo</a:t>
            </a:r>
            <a:r>
              <a:rPr lang="en-US" altLang="zh-CN" sz="1800" dirty="0" smtClean="0"/>
              <a:t>=3.5MHz~4.5MHz @ </a:t>
            </a:r>
            <a:r>
              <a:rPr lang="en-US" altLang="zh-CN" sz="1800" dirty="0" err="1" smtClean="0"/>
              <a:t>Vc</a:t>
            </a:r>
            <a:r>
              <a:rPr lang="en-US" altLang="zh-CN" sz="1800" dirty="0" smtClean="0"/>
              <a:t>=1.5V~3.5V</a:t>
            </a:r>
            <a:r>
              <a:rPr lang="zh-CN" altLang="en-US" sz="1800" dirty="0" smtClean="0"/>
              <a:t>，则</a:t>
            </a:r>
            <a:r>
              <a:rPr lang="zh-CN" altLang="en-US" sz="1800" dirty="0">
                <a:solidFill>
                  <a:srgbClr val="FF0000"/>
                </a:solidFill>
              </a:rPr>
              <a:t>压控增益</a:t>
            </a:r>
            <a:r>
              <a:rPr lang="zh-CN" altLang="en-US" sz="1800" dirty="0"/>
              <a:t>为</a:t>
            </a:r>
            <a:r>
              <a:rPr lang="en-US" altLang="zh-CN" sz="1800" dirty="0" smtClean="0"/>
              <a:t>1MHz÷2V=500kHz/V</a:t>
            </a:r>
          </a:p>
          <a:p>
            <a:pPr marL="285750" indent="-285750">
              <a:lnSpc>
                <a:spcPct val="150000"/>
              </a:lnSpc>
              <a:buFont typeface="Arial" panose="020B0604020202020204" pitchFamily="34" charset="0"/>
              <a:buChar char="•"/>
            </a:pPr>
            <a:r>
              <a:rPr lang="zh-CN" altLang="en-US" sz="1800" dirty="0"/>
              <a:t>由于</a:t>
            </a:r>
            <a:r>
              <a:rPr lang="en-US" altLang="zh-CN" sz="1800" dirty="0"/>
              <a:t>PFD</a:t>
            </a:r>
            <a:r>
              <a:rPr lang="zh-CN" altLang="en-US" sz="1800" dirty="0"/>
              <a:t>的输出以</a:t>
            </a:r>
            <a:r>
              <a:rPr lang="en-US" altLang="zh-CN" sz="1800" dirty="0"/>
              <a:t>VDD/2</a:t>
            </a:r>
            <a:r>
              <a:rPr lang="zh-CN" altLang="en-US" sz="1800" dirty="0"/>
              <a:t>为基准，所以要求</a:t>
            </a:r>
            <a:r>
              <a:rPr lang="en-US" altLang="zh-CN" sz="1800" dirty="0"/>
              <a:t>VCO</a:t>
            </a:r>
            <a:r>
              <a:rPr lang="zh-CN" altLang="en-US" sz="1800" dirty="0"/>
              <a:t>在控制电压为</a:t>
            </a:r>
            <a:r>
              <a:rPr lang="en-US" altLang="zh-CN" sz="1800" dirty="0"/>
              <a:t>VDD/2</a:t>
            </a:r>
            <a:r>
              <a:rPr lang="zh-CN" altLang="en-US" sz="1800" dirty="0"/>
              <a:t>时的振荡频率等于需要跟踪的频率。在本题中就是当控制电压</a:t>
            </a:r>
            <a:r>
              <a:rPr lang="en-US" altLang="zh-CN" sz="1800" i="1" dirty="0"/>
              <a:t>V</a:t>
            </a:r>
            <a:r>
              <a:rPr lang="en-US" altLang="zh-CN" sz="1800" i="1" baseline="-25000" dirty="0"/>
              <a:t>C</a:t>
            </a:r>
            <a:r>
              <a:rPr lang="en-US" altLang="zh-CN" sz="1800" dirty="0"/>
              <a:t>=2.5V </a:t>
            </a:r>
            <a:r>
              <a:rPr lang="zh-CN" altLang="en-US" sz="1800" dirty="0"/>
              <a:t>时 </a:t>
            </a:r>
            <a:r>
              <a:rPr lang="en-US" altLang="zh-CN" sz="1800" i="1" dirty="0" err="1" smtClean="0"/>
              <a:t>f</a:t>
            </a:r>
            <a:r>
              <a:rPr lang="en-US" altLang="zh-CN" sz="1800" i="1" baseline="-25000" dirty="0" err="1" smtClean="0"/>
              <a:t>o</a:t>
            </a:r>
            <a:r>
              <a:rPr lang="en-US" altLang="zh-CN" sz="1800" dirty="0" smtClean="0"/>
              <a:t>=4MHz</a:t>
            </a:r>
            <a:endParaRPr lang="zh-CN" altLang="en-US" sz="1800" dirty="0"/>
          </a:p>
        </p:txBody>
      </p:sp>
    </p:spTree>
    <p:extLst>
      <p:ext uri="{BB962C8B-B14F-4D97-AF65-F5344CB8AC3E}">
        <p14:creationId xmlns:p14="http://schemas.microsoft.com/office/powerpoint/2010/main" val="37528503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49</a:t>
            </a:fld>
            <a:endParaRPr lang="en-US" altLang="zh-CN">
              <a:solidFill>
                <a:srgbClr val="FFFFFF"/>
              </a:solidFill>
            </a:endParaRPr>
          </a:p>
        </p:txBody>
      </p:sp>
      <p:sp>
        <p:nvSpPr>
          <p:cNvPr id="5" name="文本框 4"/>
          <p:cNvSpPr txBox="1"/>
          <p:nvPr/>
        </p:nvSpPr>
        <p:spPr>
          <a:xfrm>
            <a:off x="384628" y="442686"/>
            <a:ext cx="11321143" cy="45724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确定上述两个参数后，可以根据厂商提供的</a:t>
            </a:r>
            <a:r>
              <a:rPr lang="en-US" altLang="zh-CN" sz="1800" dirty="0" smtClean="0"/>
              <a:t>datasheet</a:t>
            </a:r>
            <a:r>
              <a:rPr lang="zh-CN" altLang="en-US" sz="1800" dirty="0" smtClean="0"/>
              <a:t>估算三个定时元件</a:t>
            </a:r>
            <a:r>
              <a:rPr lang="en-US" altLang="zh-CN" sz="1800" dirty="0" smtClean="0"/>
              <a:t>RT1</a:t>
            </a:r>
            <a:r>
              <a:rPr lang="zh-CN" altLang="en-US" sz="1800" dirty="0" smtClean="0"/>
              <a:t>、</a:t>
            </a:r>
            <a:r>
              <a:rPr lang="en-US" altLang="zh-CN" sz="1800" dirty="0" smtClean="0"/>
              <a:t>RT2</a:t>
            </a:r>
            <a:r>
              <a:rPr lang="zh-CN" altLang="en-US" sz="1800" dirty="0" smtClean="0"/>
              <a:t>与</a:t>
            </a:r>
            <a:r>
              <a:rPr lang="en-US" altLang="zh-CN" sz="1800" dirty="0" smtClean="0"/>
              <a:t>CT</a:t>
            </a:r>
          </a:p>
        </p:txBody>
      </p:sp>
      <p:pic>
        <p:nvPicPr>
          <p:cNvPr id="10" name="图片 9"/>
          <p:cNvPicPr>
            <a:picLocks noChangeAspect="1"/>
          </p:cNvPicPr>
          <p:nvPr/>
        </p:nvPicPr>
        <p:blipFill>
          <a:blip r:embed="rId2"/>
          <a:stretch>
            <a:fillRect/>
          </a:stretch>
        </p:blipFill>
        <p:spPr>
          <a:xfrm>
            <a:off x="1850277" y="1151759"/>
            <a:ext cx="7990410" cy="3484273"/>
          </a:xfrm>
          <a:prstGeom prst="rect">
            <a:avLst/>
          </a:prstGeom>
          <a:ln>
            <a:solidFill>
              <a:srgbClr val="0070C0"/>
            </a:solidFill>
          </a:ln>
        </p:spPr>
      </p:pic>
      <p:sp>
        <p:nvSpPr>
          <p:cNvPr id="6" name="文本框 5"/>
          <p:cNvSpPr txBox="1"/>
          <p:nvPr/>
        </p:nvSpPr>
        <p:spPr>
          <a:xfrm>
            <a:off x="384628" y="4887864"/>
            <a:ext cx="11436957" cy="1338828"/>
          </a:xfrm>
          <a:prstGeom prst="rect">
            <a:avLst/>
          </a:prstGeom>
          <a:noFill/>
        </p:spPr>
        <p:txBody>
          <a:bodyPr wrap="square" rtlCol="0">
            <a:spAutoFit/>
          </a:bodyPr>
          <a:lstStyle/>
          <a:p>
            <a:pPr indent="457200">
              <a:lnSpc>
                <a:spcPct val="150000"/>
              </a:lnSpc>
            </a:pPr>
            <a:r>
              <a:rPr lang="zh-CN" altLang="en-US" sz="1800" dirty="0" smtClean="0"/>
              <a:t>上图</a:t>
            </a:r>
            <a:r>
              <a:rPr lang="zh-CN" altLang="en-US" sz="1800" dirty="0"/>
              <a:t>是某生产商提供的</a:t>
            </a:r>
            <a:r>
              <a:rPr lang="en-US" altLang="zh-CN" sz="1800" dirty="0"/>
              <a:t>VCO</a:t>
            </a:r>
            <a:r>
              <a:rPr lang="zh-CN" altLang="en-US" sz="1800" dirty="0"/>
              <a:t>频率与</a:t>
            </a:r>
            <a:r>
              <a:rPr lang="en-US" altLang="zh-CN" sz="1800" dirty="0" smtClean="0"/>
              <a:t>R1</a:t>
            </a:r>
            <a:r>
              <a:rPr lang="zh-CN" altLang="en-US" sz="1800" dirty="0" smtClean="0"/>
              <a:t>、</a:t>
            </a:r>
            <a:r>
              <a:rPr lang="en-US" altLang="zh-CN" sz="1800" dirty="0" smtClean="0"/>
              <a:t>R2</a:t>
            </a:r>
            <a:r>
              <a:rPr lang="zh-CN" altLang="en-US" sz="1800" dirty="0" smtClean="0"/>
              <a:t>、</a:t>
            </a:r>
            <a:r>
              <a:rPr lang="en-US" altLang="zh-CN" sz="1800" dirty="0" smtClean="0"/>
              <a:t>C1</a:t>
            </a:r>
            <a:r>
              <a:rPr lang="zh-CN" altLang="en-US" sz="1800" dirty="0"/>
              <a:t>（即前面</a:t>
            </a:r>
            <a:r>
              <a:rPr lang="en-US" altLang="zh-CN" sz="1800" dirty="0"/>
              <a:t>PPT</a:t>
            </a:r>
            <a:r>
              <a:rPr lang="zh-CN" altLang="en-US" sz="1800" dirty="0"/>
              <a:t>中的</a:t>
            </a:r>
            <a:r>
              <a:rPr lang="en-US" altLang="zh-CN" sz="1800" dirty="0"/>
              <a:t>RT1</a:t>
            </a:r>
            <a:r>
              <a:rPr lang="zh-CN" altLang="en-US" sz="1800" dirty="0"/>
              <a:t>、</a:t>
            </a:r>
            <a:r>
              <a:rPr lang="en-US" altLang="zh-CN" sz="1800" dirty="0"/>
              <a:t>RT2</a:t>
            </a:r>
            <a:r>
              <a:rPr lang="zh-CN" altLang="en-US" sz="1800" dirty="0"/>
              <a:t>、</a:t>
            </a:r>
            <a:r>
              <a:rPr lang="en-US" altLang="zh-CN" sz="1800" dirty="0"/>
              <a:t>CT</a:t>
            </a:r>
            <a:r>
              <a:rPr lang="zh-CN" altLang="en-US" sz="1800" dirty="0"/>
              <a:t>）的</a:t>
            </a:r>
            <a:r>
              <a:rPr lang="zh-CN" altLang="en-US" sz="1800" dirty="0" smtClean="0"/>
              <a:t>关系。其中</a:t>
            </a:r>
            <a:r>
              <a:rPr lang="en-US" altLang="zh-CN" sz="1800" dirty="0" smtClean="0"/>
              <a:t>fig20</a:t>
            </a:r>
            <a:r>
              <a:rPr lang="zh-CN" altLang="en-US" sz="1800" dirty="0" smtClean="0"/>
              <a:t>是单独使用</a:t>
            </a:r>
            <a:r>
              <a:rPr lang="en-US" altLang="zh-CN" sz="1800" dirty="0" smtClean="0"/>
              <a:t>R2</a:t>
            </a:r>
            <a:r>
              <a:rPr lang="zh-CN" altLang="en-US" sz="1800" dirty="0" smtClean="0"/>
              <a:t>时</a:t>
            </a:r>
            <a:r>
              <a:rPr lang="en-US" altLang="zh-CN" sz="1800" dirty="0" smtClean="0"/>
              <a:t>VCO</a:t>
            </a:r>
            <a:r>
              <a:rPr lang="zh-CN" altLang="en-US" sz="1800" dirty="0" smtClean="0"/>
              <a:t>的输出频率偏移（即前页图中的</a:t>
            </a:r>
            <a:r>
              <a:rPr lang="en-US" altLang="zh-CN" sz="1800" i="1" dirty="0" err="1" smtClean="0"/>
              <a:t>f</a:t>
            </a:r>
            <a:r>
              <a:rPr lang="en-US" altLang="zh-CN" sz="1800" baseline="-25000" dirty="0" err="1" smtClean="0"/>
              <a:t>off</a:t>
            </a:r>
            <a:r>
              <a:rPr lang="zh-CN" altLang="en-US" sz="1800" dirty="0" smtClean="0"/>
              <a:t>）与</a:t>
            </a:r>
            <a:r>
              <a:rPr lang="en-US" altLang="zh-CN" sz="1800" dirty="0" smtClean="0"/>
              <a:t>R2</a:t>
            </a:r>
            <a:r>
              <a:rPr lang="zh-CN" altLang="en-US" sz="1800" dirty="0" smtClean="0"/>
              <a:t>、</a:t>
            </a:r>
            <a:r>
              <a:rPr lang="en-US" altLang="zh-CN" sz="1800" dirty="0" smtClean="0"/>
              <a:t>C1</a:t>
            </a:r>
            <a:r>
              <a:rPr lang="zh-CN" altLang="en-US" sz="1800" dirty="0" smtClean="0"/>
              <a:t>的关系，</a:t>
            </a:r>
            <a:r>
              <a:rPr lang="en-US" altLang="zh-CN" sz="1800" dirty="0" smtClean="0"/>
              <a:t>fig21</a:t>
            </a:r>
            <a:r>
              <a:rPr lang="zh-CN" altLang="en-US" sz="1800" dirty="0" smtClean="0"/>
              <a:t>是单独使用</a:t>
            </a:r>
            <a:r>
              <a:rPr lang="en-US" altLang="zh-CN" sz="1800" dirty="0" smtClean="0"/>
              <a:t>R1</a:t>
            </a:r>
            <a:r>
              <a:rPr lang="zh-CN" altLang="en-US" sz="1800" dirty="0" smtClean="0"/>
              <a:t>时输出频率的范围（即前页图中</a:t>
            </a:r>
            <a:r>
              <a:rPr lang="en-US" altLang="zh-CN" sz="1800" i="1" dirty="0" err="1" smtClean="0"/>
              <a:t>f</a:t>
            </a:r>
            <a:r>
              <a:rPr lang="en-US" altLang="zh-CN" sz="1800" baseline="-25000" dirty="0" err="1" smtClean="0"/>
              <a:t>max</a:t>
            </a:r>
            <a:r>
              <a:rPr lang="en-US" altLang="zh-CN" sz="1800" dirty="0" err="1" smtClean="0"/>
              <a:t>-</a:t>
            </a:r>
            <a:r>
              <a:rPr lang="en-US" altLang="zh-CN" sz="1800" i="1" dirty="0" err="1" smtClean="0"/>
              <a:t>f</a:t>
            </a:r>
            <a:r>
              <a:rPr lang="en-US" altLang="zh-CN" sz="1800" baseline="-25000" dirty="0" err="1" smtClean="0"/>
              <a:t>min</a:t>
            </a:r>
            <a:r>
              <a:rPr lang="zh-CN" altLang="en-US" sz="1800" dirty="0" smtClean="0"/>
              <a:t>）与</a:t>
            </a:r>
            <a:r>
              <a:rPr lang="en-US" altLang="zh-CN" sz="1800" dirty="0" smtClean="0"/>
              <a:t>R1</a:t>
            </a:r>
            <a:r>
              <a:rPr lang="zh-CN" altLang="en-US" sz="1800" dirty="0" smtClean="0"/>
              <a:t>、</a:t>
            </a:r>
            <a:r>
              <a:rPr lang="en-US" altLang="zh-CN" sz="1800" dirty="0" smtClean="0"/>
              <a:t>C1</a:t>
            </a:r>
            <a:r>
              <a:rPr lang="zh-CN" altLang="en-US" sz="1800" dirty="0" smtClean="0"/>
              <a:t>的关系</a:t>
            </a:r>
            <a:endParaRPr lang="zh-CN" altLang="en-US" sz="1800" dirty="0"/>
          </a:p>
        </p:txBody>
      </p:sp>
      <p:cxnSp>
        <p:nvCxnSpPr>
          <p:cNvPr id="12" name="直接连接符 11"/>
          <p:cNvCxnSpPr/>
          <p:nvPr/>
        </p:nvCxnSpPr>
        <p:spPr>
          <a:xfrm>
            <a:off x="2373086" y="1836056"/>
            <a:ext cx="1233714"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3026229" y="1661886"/>
            <a:ext cx="0" cy="209731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429830" y="1937655"/>
            <a:ext cx="1233714" cy="725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7431315" y="1727199"/>
            <a:ext cx="0" cy="2097314"/>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66490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50</a:t>
            </a:fld>
            <a:endParaRPr lang="en-US" altLang="zh-CN">
              <a:solidFill>
                <a:srgbClr val="FFFFFF"/>
              </a:solidFill>
            </a:endParaRPr>
          </a:p>
        </p:txBody>
      </p:sp>
      <p:sp>
        <p:nvSpPr>
          <p:cNvPr id="5" name="文本框 4"/>
          <p:cNvSpPr txBox="1"/>
          <p:nvPr/>
        </p:nvSpPr>
        <p:spPr>
          <a:xfrm>
            <a:off x="406400" y="413658"/>
            <a:ext cx="11255829" cy="5909310"/>
          </a:xfrm>
          <a:prstGeom prst="rect">
            <a:avLst/>
          </a:prstGeom>
          <a:noFill/>
        </p:spPr>
        <p:txBody>
          <a:bodyPr wrap="square" rtlCol="0">
            <a:spAutoFit/>
          </a:bodyPr>
          <a:lstStyle/>
          <a:p>
            <a:pPr indent="457200">
              <a:lnSpc>
                <a:spcPct val="150000"/>
              </a:lnSpc>
            </a:pPr>
            <a:r>
              <a:rPr lang="zh-CN" altLang="en-US" sz="1800" dirty="0" smtClean="0"/>
              <a:t>利用这两个图表设计定时元件的大致</a:t>
            </a:r>
            <a:r>
              <a:rPr lang="zh-CN" altLang="en-US" sz="1800" dirty="0"/>
              <a:t>步骤如下</a:t>
            </a:r>
            <a:r>
              <a:rPr lang="zh-CN" altLang="en-US" sz="1800" dirty="0" smtClean="0"/>
              <a:t>：</a:t>
            </a:r>
            <a:endParaRPr lang="en-US" altLang="zh-CN" sz="1800" dirty="0" smtClean="0"/>
          </a:p>
          <a:p>
            <a:pPr indent="457200">
              <a:lnSpc>
                <a:spcPct val="150000"/>
              </a:lnSpc>
            </a:pPr>
            <a:r>
              <a:rPr lang="en-US" altLang="zh-CN" sz="1800" dirty="0" smtClean="0"/>
              <a:t>Step 1</a:t>
            </a:r>
            <a:r>
              <a:rPr lang="zh-CN" altLang="en-US" sz="1800" dirty="0" smtClean="0"/>
              <a:t>，利用</a:t>
            </a:r>
            <a:r>
              <a:rPr lang="en-US" altLang="zh-CN" sz="1800" dirty="0" smtClean="0"/>
              <a:t>fig20</a:t>
            </a:r>
            <a:r>
              <a:rPr lang="zh-CN" altLang="en-US" sz="1800" dirty="0" smtClean="0"/>
              <a:t>估计</a:t>
            </a:r>
            <a:r>
              <a:rPr lang="en-US" altLang="zh-CN" sz="1800" dirty="0" smtClean="0"/>
              <a:t>R2</a:t>
            </a:r>
            <a:r>
              <a:rPr lang="zh-CN" altLang="en-US" sz="1800" dirty="0" smtClean="0"/>
              <a:t>、</a:t>
            </a:r>
            <a:r>
              <a:rPr lang="en-US" altLang="zh-CN" sz="1800" dirty="0" smtClean="0"/>
              <a:t>C1</a:t>
            </a:r>
            <a:r>
              <a:rPr lang="zh-CN" altLang="en-US" sz="1800" dirty="0" smtClean="0"/>
              <a:t>的值</a:t>
            </a:r>
            <a:endParaRPr lang="en-US" altLang="zh-CN" sz="1800" dirty="0" smtClean="0"/>
          </a:p>
          <a:p>
            <a:pPr indent="457200">
              <a:lnSpc>
                <a:spcPct val="150000"/>
              </a:lnSpc>
            </a:pPr>
            <a:r>
              <a:rPr lang="zh-CN" altLang="en-US" sz="1800" dirty="0" smtClean="0"/>
              <a:t>假定</a:t>
            </a:r>
            <a:r>
              <a:rPr lang="en-US" altLang="zh-CN" sz="1800" dirty="0" smtClean="0"/>
              <a:t>VCO</a:t>
            </a:r>
            <a:r>
              <a:rPr lang="zh-CN" altLang="en-US" sz="1800" dirty="0" smtClean="0"/>
              <a:t>是线性的，那么我们</a:t>
            </a:r>
            <a:r>
              <a:rPr lang="zh-CN" altLang="en-US" sz="1800" dirty="0"/>
              <a:t>从前面描述</a:t>
            </a:r>
            <a:r>
              <a:rPr lang="en-US" altLang="zh-CN" sz="1800" dirty="0"/>
              <a:t>VCO</a:t>
            </a:r>
            <a:r>
              <a:rPr lang="zh-CN" altLang="en-US" sz="1800" dirty="0"/>
              <a:t>控制特性的图</a:t>
            </a:r>
            <a:r>
              <a:rPr lang="zh-CN" altLang="en-US" sz="1800" dirty="0" smtClean="0"/>
              <a:t>中可得</a:t>
            </a:r>
            <a:endParaRPr lang="en-US" altLang="zh-CN" sz="1800" dirty="0" smtClean="0"/>
          </a:p>
          <a:p>
            <a:pPr indent="457200">
              <a:lnSpc>
                <a:spcPct val="150000"/>
              </a:lnSpc>
            </a:pPr>
            <a:endParaRPr lang="en-US" altLang="zh-CN" sz="1800" dirty="0"/>
          </a:p>
          <a:p>
            <a:pPr indent="457200">
              <a:lnSpc>
                <a:spcPct val="150000"/>
              </a:lnSpc>
            </a:pPr>
            <a:endParaRPr lang="en-US" altLang="zh-CN" sz="1800" dirty="0" smtClean="0"/>
          </a:p>
          <a:p>
            <a:pPr indent="457200">
              <a:lnSpc>
                <a:spcPct val="150000"/>
              </a:lnSpc>
            </a:pPr>
            <a:r>
              <a:rPr lang="zh-CN" altLang="en-US" sz="1800" dirty="0"/>
              <a:t>例如在本题中，中心频率为</a:t>
            </a:r>
            <a:r>
              <a:rPr lang="en-US" altLang="zh-CN" sz="1800" dirty="0"/>
              <a:t>4MHz</a:t>
            </a:r>
            <a:r>
              <a:rPr lang="zh-CN" altLang="en-US" sz="1800" dirty="0" smtClean="0"/>
              <a:t>，指定</a:t>
            </a:r>
            <a:r>
              <a:rPr lang="zh-CN" altLang="en-US" sz="1800" dirty="0"/>
              <a:t>了在</a:t>
            </a:r>
            <a:r>
              <a:rPr lang="en-US" altLang="zh-CN" sz="1800" dirty="0" err="1"/>
              <a:t>Vc</a:t>
            </a:r>
            <a:r>
              <a:rPr lang="en-US" altLang="zh-CN" sz="1800" dirty="0"/>
              <a:t>=1.5V~3.5V</a:t>
            </a:r>
            <a:r>
              <a:rPr lang="zh-CN" altLang="en-US" sz="1800" dirty="0"/>
              <a:t>范围变化时，频率</a:t>
            </a:r>
            <a:r>
              <a:rPr lang="en-US" altLang="zh-CN" sz="1800" dirty="0" err="1" smtClean="0"/>
              <a:t>fo</a:t>
            </a:r>
            <a:r>
              <a:rPr lang="en-US" altLang="zh-CN" sz="1800" dirty="0" smtClean="0"/>
              <a:t>=3.5MHz~4.5MHz</a:t>
            </a:r>
            <a:r>
              <a:rPr lang="zh-CN" altLang="en-US" sz="1800" dirty="0" smtClean="0"/>
              <a:t>，</a:t>
            </a:r>
            <a:r>
              <a:rPr lang="en-US" altLang="zh-CN" sz="1800" i="1" dirty="0" smtClean="0"/>
              <a:t>V</a:t>
            </a:r>
            <a:r>
              <a:rPr lang="en-US" altLang="zh-CN" sz="1800" i="1" baseline="-25000" dirty="0" smtClean="0"/>
              <a:t>DD</a:t>
            </a:r>
            <a:r>
              <a:rPr lang="en-US" altLang="zh-CN" sz="1800" dirty="0" smtClean="0"/>
              <a:t>=5V</a:t>
            </a:r>
            <a:r>
              <a:rPr lang="zh-CN" altLang="en-US" sz="1800" dirty="0" smtClean="0"/>
              <a:t>。代入上式，可得</a:t>
            </a:r>
            <a:r>
              <a:rPr lang="en-US" altLang="zh-CN" sz="1800" i="1" dirty="0" err="1" smtClean="0"/>
              <a:t>f</a:t>
            </a:r>
            <a:r>
              <a:rPr lang="en-US" altLang="zh-CN" sz="1800" baseline="-25000" dirty="0" err="1" smtClean="0"/>
              <a:t>off</a:t>
            </a:r>
            <a:r>
              <a:rPr lang="en-US" altLang="zh-CN" sz="1800" dirty="0" smtClean="0"/>
              <a:t>=2.75MHz</a:t>
            </a:r>
          </a:p>
          <a:p>
            <a:pPr indent="457200">
              <a:lnSpc>
                <a:spcPct val="150000"/>
              </a:lnSpc>
            </a:pPr>
            <a:r>
              <a:rPr lang="zh-CN" altLang="en-US" sz="1800" dirty="0" smtClean="0"/>
              <a:t>在</a:t>
            </a:r>
            <a:r>
              <a:rPr lang="en-US" altLang="zh-CN" sz="1800" dirty="0" smtClean="0"/>
              <a:t>fig20</a:t>
            </a:r>
            <a:r>
              <a:rPr lang="zh-CN" altLang="en-US" sz="1800" dirty="0" smtClean="0"/>
              <a:t>中寻找对应</a:t>
            </a:r>
            <a:r>
              <a:rPr lang="en-US" altLang="zh-CN" sz="1800" dirty="0" smtClean="0"/>
              <a:t>VDD=5V</a:t>
            </a:r>
            <a:r>
              <a:rPr lang="zh-CN" altLang="en-US" sz="1800" dirty="0" smtClean="0"/>
              <a:t>、</a:t>
            </a:r>
            <a:r>
              <a:rPr lang="en-US" altLang="zh-CN" sz="1800" i="1" dirty="0"/>
              <a:t> </a:t>
            </a:r>
            <a:r>
              <a:rPr lang="en-US" altLang="zh-CN" sz="1800" i="1" dirty="0" err="1"/>
              <a:t>f</a:t>
            </a:r>
            <a:r>
              <a:rPr lang="en-US" altLang="zh-CN" sz="1800" baseline="-25000" dirty="0" err="1"/>
              <a:t>off</a:t>
            </a:r>
            <a:r>
              <a:rPr lang="en-US" altLang="zh-CN" sz="1800" dirty="0"/>
              <a:t>=2.75MHz </a:t>
            </a:r>
            <a:r>
              <a:rPr lang="zh-CN" altLang="en-US" sz="1800" dirty="0" smtClean="0"/>
              <a:t>的位置（前面图中红线）。由于厂商的</a:t>
            </a:r>
            <a:r>
              <a:rPr lang="en-US" altLang="zh-CN" sz="1800" dirty="0" smtClean="0"/>
              <a:t>Datasheet</a:t>
            </a:r>
            <a:r>
              <a:rPr lang="zh-CN" altLang="en-US" sz="1800" dirty="0" smtClean="0"/>
              <a:t>比较粗糙，所以只能得到一个估计值，例如指定</a:t>
            </a:r>
            <a:r>
              <a:rPr lang="en-US" altLang="zh-CN" sz="1800" dirty="0" smtClean="0"/>
              <a:t>C1=100pF</a:t>
            </a:r>
            <a:r>
              <a:rPr lang="zh-CN" altLang="en-US" sz="1800" dirty="0" smtClean="0"/>
              <a:t>，则只能估计</a:t>
            </a:r>
            <a:r>
              <a:rPr lang="en-US" altLang="zh-CN" sz="1800" dirty="0" smtClean="0"/>
              <a:t>R2</a:t>
            </a:r>
            <a:r>
              <a:rPr lang="zh-CN" altLang="en-US" sz="1800" dirty="0" smtClean="0"/>
              <a:t>在</a:t>
            </a:r>
            <a:r>
              <a:rPr lang="en-US" altLang="zh-CN" sz="1800" dirty="0" smtClean="0"/>
              <a:t>10k</a:t>
            </a:r>
            <a:r>
              <a:rPr lang="el-GR" altLang="zh-CN" sz="1800" dirty="0" smtClean="0"/>
              <a:t>Ω</a:t>
            </a:r>
            <a:r>
              <a:rPr lang="zh-CN" altLang="en-US" sz="1800" dirty="0" smtClean="0"/>
              <a:t>以上，几十</a:t>
            </a:r>
            <a:r>
              <a:rPr lang="en-US" altLang="zh-CN" sz="1800" dirty="0" smtClean="0"/>
              <a:t>k</a:t>
            </a:r>
            <a:r>
              <a:rPr lang="el-GR" altLang="zh-CN" sz="1800" dirty="0" smtClean="0"/>
              <a:t>Ω</a:t>
            </a:r>
            <a:r>
              <a:rPr lang="zh-CN" altLang="en-US" sz="1800" dirty="0" smtClean="0"/>
              <a:t>以下</a:t>
            </a:r>
            <a:endParaRPr lang="en-US" altLang="zh-CN" sz="1800" dirty="0" smtClean="0"/>
          </a:p>
          <a:p>
            <a:pPr indent="457200">
              <a:lnSpc>
                <a:spcPct val="150000"/>
              </a:lnSpc>
            </a:pPr>
            <a:r>
              <a:rPr lang="en-US" altLang="zh-CN" sz="1800" dirty="0" smtClean="0"/>
              <a:t>Step 2</a:t>
            </a:r>
            <a:r>
              <a:rPr lang="zh-CN" altLang="en-US" sz="1800" dirty="0" smtClean="0"/>
              <a:t>，利用</a:t>
            </a:r>
            <a:r>
              <a:rPr lang="en-US" altLang="zh-CN" sz="1800" dirty="0" smtClean="0"/>
              <a:t>fig21</a:t>
            </a:r>
            <a:r>
              <a:rPr lang="zh-CN" altLang="en-US" sz="1800" dirty="0" smtClean="0"/>
              <a:t>估计</a:t>
            </a:r>
            <a:r>
              <a:rPr lang="en-US" altLang="zh-CN" sz="1800" dirty="0" smtClean="0"/>
              <a:t>R1</a:t>
            </a:r>
            <a:r>
              <a:rPr lang="zh-CN" altLang="en-US" sz="1800" dirty="0" smtClean="0"/>
              <a:t>的值</a:t>
            </a:r>
            <a:endParaRPr lang="en-US" altLang="zh-CN" sz="1800" dirty="0" smtClean="0"/>
          </a:p>
          <a:p>
            <a:pPr indent="457200">
              <a:lnSpc>
                <a:spcPct val="150000"/>
              </a:lnSpc>
            </a:pPr>
            <a:r>
              <a:rPr lang="zh-CN" altLang="en-US" sz="1800" dirty="0"/>
              <a:t>在本题</a:t>
            </a:r>
            <a:r>
              <a:rPr lang="zh-CN" altLang="en-US" sz="1800" dirty="0" smtClean="0"/>
              <a:t>中指定</a:t>
            </a:r>
            <a:r>
              <a:rPr lang="zh-CN" altLang="en-US" sz="1800" dirty="0"/>
              <a:t>了在</a:t>
            </a:r>
            <a:r>
              <a:rPr lang="en-US" altLang="zh-CN" sz="1800" dirty="0" err="1"/>
              <a:t>Vc</a:t>
            </a:r>
            <a:r>
              <a:rPr lang="en-US" altLang="zh-CN" sz="1800" dirty="0"/>
              <a:t>=1.5V~3.5V</a:t>
            </a:r>
            <a:r>
              <a:rPr lang="zh-CN" altLang="en-US" sz="1800" dirty="0"/>
              <a:t>范围变化时，频率</a:t>
            </a:r>
            <a:r>
              <a:rPr lang="en-US" altLang="zh-CN" sz="1800" dirty="0" err="1" smtClean="0"/>
              <a:t>fo</a:t>
            </a:r>
            <a:r>
              <a:rPr lang="en-US" altLang="zh-CN" sz="1800" dirty="0" smtClean="0"/>
              <a:t>=3.5MHz~4.5MHz</a:t>
            </a:r>
            <a:r>
              <a:rPr lang="zh-CN" altLang="en-US" sz="1800" dirty="0" smtClean="0"/>
              <a:t>。由于实际的可控电压范围大于</a:t>
            </a:r>
            <a:r>
              <a:rPr lang="en-US" altLang="zh-CN" sz="1800" dirty="0" smtClean="0"/>
              <a:t>1.5V~3.5V</a:t>
            </a:r>
            <a:r>
              <a:rPr lang="zh-CN" altLang="en-US" sz="1800" dirty="0" smtClean="0"/>
              <a:t>，所以实际的输出频率范围大于</a:t>
            </a:r>
            <a:r>
              <a:rPr lang="en-US" altLang="zh-CN" sz="1800" dirty="0" smtClean="0"/>
              <a:t>3.5MHz~4.5MHz</a:t>
            </a:r>
            <a:r>
              <a:rPr lang="zh-CN" altLang="en-US" sz="1800" dirty="0" smtClean="0"/>
              <a:t>。与步骤</a:t>
            </a:r>
            <a:r>
              <a:rPr lang="en-US" altLang="zh-CN" sz="1800" dirty="0" smtClean="0"/>
              <a:t>1</a:t>
            </a:r>
            <a:r>
              <a:rPr lang="zh-CN" altLang="en-US" sz="1800" dirty="0" smtClean="0"/>
              <a:t>的做法类似，估计实际的输出范围约为</a:t>
            </a:r>
            <a:r>
              <a:rPr lang="en-US" altLang="zh-CN" sz="1800" dirty="0" smtClean="0"/>
              <a:t>3MHz~5MHz</a:t>
            </a:r>
          </a:p>
          <a:p>
            <a:pPr indent="457200">
              <a:lnSpc>
                <a:spcPct val="150000"/>
              </a:lnSpc>
            </a:pPr>
            <a:r>
              <a:rPr lang="zh-CN" altLang="en-US" sz="1800" dirty="0" smtClean="0"/>
              <a:t>在</a:t>
            </a:r>
            <a:r>
              <a:rPr lang="en-US" altLang="zh-CN" sz="1800" dirty="0" smtClean="0"/>
              <a:t>fig21</a:t>
            </a:r>
            <a:r>
              <a:rPr lang="zh-CN" altLang="en-US" sz="1800" dirty="0" smtClean="0"/>
              <a:t>中寻找</a:t>
            </a:r>
            <a:r>
              <a:rPr lang="en-US" altLang="zh-CN" sz="1800" dirty="0" smtClean="0"/>
              <a:t>2fL=2MHz</a:t>
            </a:r>
            <a:r>
              <a:rPr lang="zh-CN" altLang="en-US" sz="1800" dirty="0" smtClean="0"/>
              <a:t>的位置，可得</a:t>
            </a:r>
            <a:r>
              <a:rPr lang="en-US" altLang="zh-CN" sz="1800" dirty="0" smtClean="0"/>
              <a:t>R1C1≈6×10</a:t>
            </a:r>
            <a:r>
              <a:rPr lang="en-US" altLang="zh-CN" sz="1800" baseline="30000" dirty="0" smtClean="0"/>
              <a:t>-6</a:t>
            </a:r>
            <a:r>
              <a:rPr lang="zh-CN" altLang="en-US" sz="1800" dirty="0" smtClean="0"/>
              <a:t>。已知</a:t>
            </a:r>
            <a:r>
              <a:rPr lang="en-US" altLang="zh-CN" sz="1800" dirty="0" smtClean="0"/>
              <a:t>C1=100pF</a:t>
            </a:r>
            <a:r>
              <a:rPr lang="zh-CN" altLang="en-US" sz="1800" dirty="0" smtClean="0"/>
              <a:t>，所以</a:t>
            </a:r>
            <a:r>
              <a:rPr lang="en-US" altLang="zh-CN" sz="1800" dirty="0" smtClean="0"/>
              <a:t>R1≈60k</a:t>
            </a:r>
            <a:r>
              <a:rPr lang="el-GR" altLang="zh-CN" sz="1800" dirty="0" smtClean="0"/>
              <a:t>Ω</a:t>
            </a:r>
            <a:endParaRPr lang="en-US" altLang="zh-CN" sz="1800" dirty="0" smtClean="0"/>
          </a:p>
        </p:txBody>
      </p:sp>
      <p:graphicFrame>
        <p:nvGraphicFramePr>
          <p:cNvPr id="11" name="对象 10"/>
          <p:cNvGraphicFramePr>
            <a:graphicFrameLocks noChangeAspect="1"/>
          </p:cNvGraphicFramePr>
          <p:nvPr>
            <p:extLst>
              <p:ext uri="{D42A27DB-BD31-4B8C-83A1-F6EECF244321}">
                <p14:modId xmlns:p14="http://schemas.microsoft.com/office/powerpoint/2010/main" val="2363965465"/>
              </p:ext>
            </p:extLst>
          </p:nvPr>
        </p:nvGraphicFramePr>
        <p:xfrm>
          <a:off x="4286363" y="1801823"/>
          <a:ext cx="2617788" cy="719137"/>
        </p:xfrm>
        <a:graphic>
          <a:graphicData uri="http://schemas.openxmlformats.org/presentationml/2006/ole">
            <mc:AlternateContent xmlns:mc="http://schemas.openxmlformats.org/markup-compatibility/2006">
              <mc:Choice xmlns:v="urn:schemas-microsoft-com:vml" Requires="v">
                <p:oleObj spid="_x0000_s41006" name="Equation" r:id="rId3" imgW="1434960" imgH="393480" progId="Equation.DSMT4">
                  <p:embed/>
                </p:oleObj>
              </mc:Choice>
              <mc:Fallback>
                <p:oleObj name="Equation" r:id="rId3" imgW="1434960" imgH="393480" progId="Equation.DSMT4">
                  <p:embed/>
                  <p:pic>
                    <p:nvPicPr>
                      <p:cNvPr id="7" name="对象 6"/>
                      <p:cNvPicPr>
                        <a:picLocks noChangeAspect="1" noChangeArrowheads="1"/>
                      </p:cNvPicPr>
                      <p:nvPr/>
                    </p:nvPicPr>
                    <p:blipFill>
                      <a:blip r:embed="rId4"/>
                      <a:srcRect/>
                      <a:stretch>
                        <a:fillRect/>
                      </a:stretch>
                    </p:blipFill>
                    <p:spPr bwMode="auto">
                      <a:xfrm>
                        <a:off x="4286363" y="1801823"/>
                        <a:ext cx="2617788" cy="719137"/>
                      </a:xfrm>
                      <a:prstGeom prst="rect">
                        <a:avLst/>
                      </a:prstGeom>
                      <a:noFill/>
                    </p:spPr>
                  </p:pic>
                </p:oleObj>
              </mc:Fallback>
            </mc:AlternateContent>
          </a:graphicData>
        </a:graphic>
      </p:graphicFrame>
    </p:spTree>
    <p:extLst>
      <p:ext uri="{BB962C8B-B14F-4D97-AF65-F5344CB8AC3E}">
        <p14:creationId xmlns:p14="http://schemas.microsoft.com/office/powerpoint/2010/main" val="8702602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51</a:t>
            </a:fld>
            <a:endParaRPr lang="en-US" altLang="zh-CN">
              <a:solidFill>
                <a:srgbClr val="FFFFFF"/>
              </a:solidFill>
            </a:endParaRPr>
          </a:p>
        </p:txBody>
      </p:sp>
      <p:sp>
        <p:nvSpPr>
          <p:cNvPr id="6" name="文本框 5"/>
          <p:cNvSpPr txBox="1"/>
          <p:nvPr/>
        </p:nvSpPr>
        <p:spPr>
          <a:xfrm>
            <a:off x="406400" y="355600"/>
            <a:ext cx="11277600" cy="6140142"/>
          </a:xfrm>
          <a:prstGeom prst="rect">
            <a:avLst/>
          </a:prstGeom>
          <a:noFill/>
        </p:spPr>
        <p:txBody>
          <a:bodyPr wrap="square" rtlCol="0">
            <a:spAutoFit/>
          </a:bodyPr>
          <a:lstStyle/>
          <a:p>
            <a:pPr>
              <a:lnSpc>
                <a:spcPct val="150000"/>
              </a:lnSpc>
            </a:pPr>
            <a:r>
              <a:rPr lang="zh-CN" altLang="en-US" sz="1800" dirty="0" smtClean="0"/>
              <a:t>安装调试</a:t>
            </a:r>
            <a:endParaRPr lang="en-US" altLang="zh-CN" sz="1800" dirty="0" smtClean="0"/>
          </a:p>
          <a:p>
            <a:pPr indent="457200">
              <a:lnSpc>
                <a:spcPct val="150000"/>
              </a:lnSpc>
            </a:pPr>
            <a:r>
              <a:rPr lang="zh-CN" altLang="en-US" sz="1800" dirty="0" smtClean="0"/>
              <a:t>由于</a:t>
            </a:r>
            <a:r>
              <a:rPr lang="en-US" altLang="zh-CN" sz="1800" dirty="0" smtClean="0"/>
              <a:t>datasheet</a:t>
            </a:r>
            <a:r>
              <a:rPr lang="zh-CN" altLang="en-US" sz="1800" dirty="0" smtClean="0"/>
              <a:t>图表极其粗糙，以及不同厂商产品的差异，上述估计的元件值有可能与实际结果</a:t>
            </a:r>
            <a:r>
              <a:rPr lang="zh-CN" altLang="en-US" sz="1800" dirty="0"/>
              <a:t>有</a:t>
            </a:r>
            <a:r>
              <a:rPr lang="zh-CN" altLang="en-US" sz="1800" dirty="0" smtClean="0"/>
              <a:t>较大的差异，所以建议实际安装后进行必要</a:t>
            </a:r>
            <a:r>
              <a:rPr lang="zh-CN" altLang="en-US" sz="1800" dirty="0" smtClean="0"/>
              <a:t>的预调试</a:t>
            </a:r>
            <a:r>
              <a:rPr lang="zh-CN" altLang="en-US" sz="1800" dirty="0" smtClean="0"/>
              <a:t>。建议按照如下步骤进行调试</a:t>
            </a:r>
            <a:endParaRPr lang="en-US" altLang="zh-CN" sz="1800" dirty="0" smtClean="0"/>
          </a:p>
          <a:p>
            <a:pPr indent="457200">
              <a:lnSpc>
                <a:spcPct val="150000"/>
              </a:lnSpc>
            </a:pPr>
            <a:r>
              <a:rPr lang="en-US" altLang="zh-CN" sz="1800" dirty="0" smtClean="0"/>
              <a:t>1</a:t>
            </a:r>
            <a:r>
              <a:rPr lang="zh-CN" altLang="en-US" sz="1800" dirty="0" smtClean="0"/>
              <a:t>、调试频率范围（鉴频增益）</a:t>
            </a:r>
            <a:endParaRPr lang="en-US" altLang="zh-CN" sz="1800" dirty="0" smtClean="0"/>
          </a:p>
          <a:p>
            <a:pPr indent="457200">
              <a:lnSpc>
                <a:spcPct val="150000"/>
              </a:lnSpc>
            </a:pPr>
            <a:r>
              <a:rPr lang="zh-CN" altLang="en-US" sz="1800" dirty="0" smtClean="0"/>
              <a:t>按照前面的估计接入</a:t>
            </a:r>
            <a:r>
              <a:rPr lang="en-US" altLang="zh-CN" sz="1800" dirty="0" smtClean="0"/>
              <a:t>R1</a:t>
            </a:r>
            <a:r>
              <a:rPr lang="zh-CN" altLang="en-US" sz="1800" dirty="0" smtClean="0"/>
              <a:t>、</a:t>
            </a:r>
            <a:r>
              <a:rPr lang="en-US" altLang="zh-CN" sz="1800" dirty="0" smtClean="0"/>
              <a:t>R2</a:t>
            </a:r>
            <a:r>
              <a:rPr lang="zh-CN" altLang="en-US" sz="1800" dirty="0" smtClean="0"/>
              <a:t>、</a:t>
            </a:r>
            <a:r>
              <a:rPr lang="en-US" altLang="zh-CN" sz="1800" dirty="0" smtClean="0"/>
              <a:t>C</a:t>
            </a:r>
            <a:r>
              <a:rPr lang="zh-CN" altLang="en-US" sz="1800" dirty="0"/>
              <a:t>。然后脱开锁相环的反馈，在</a:t>
            </a:r>
            <a:r>
              <a:rPr lang="en-US" altLang="zh-CN" sz="1800" dirty="0" smtClean="0"/>
              <a:t>VCO</a:t>
            </a:r>
            <a:r>
              <a:rPr lang="zh-CN" altLang="en-US" sz="1800" dirty="0" smtClean="0"/>
              <a:t>的控制端直接加上两个端点电压（例如在本题，加</a:t>
            </a:r>
            <a:r>
              <a:rPr lang="en-US" altLang="zh-CN" sz="1800" dirty="0" smtClean="0"/>
              <a:t>1.5V</a:t>
            </a:r>
            <a:r>
              <a:rPr lang="zh-CN" altLang="en-US" sz="1800" dirty="0" smtClean="0"/>
              <a:t>与</a:t>
            </a:r>
            <a:r>
              <a:rPr lang="en-US" altLang="zh-CN" sz="1800" dirty="0" smtClean="0"/>
              <a:t>3.5V</a:t>
            </a:r>
            <a:r>
              <a:rPr lang="zh-CN" altLang="en-US" sz="1800" dirty="0" smtClean="0"/>
              <a:t>），记录并计算两个电压下输出频率的差值是否满足设计的频率差（本题为</a:t>
            </a:r>
            <a:r>
              <a:rPr lang="en-US" altLang="zh-CN" sz="1800" dirty="0" smtClean="0"/>
              <a:t>1MHz</a:t>
            </a:r>
            <a:r>
              <a:rPr lang="zh-CN" altLang="en-US" sz="1800" dirty="0" smtClean="0"/>
              <a:t>，此时不用管中心频率是否偏离）。如果不满足则按照</a:t>
            </a:r>
            <a:r>
              <a:rPr lang="en-US" altLang="zh-CN" sz="1800" dirty="0" smtClean="0"/>
              <a:t>R1</a:t>
            </a:r>
            <a:r>
              <a:rPr lang="zh-CN" altLang="en-US" sz="1800" dirty="0" smtClean="0"/>
              <a:t>阻值与频率差反比的原则调整</a:t>
            </a:r>
            <a:r>
              <a:rPr lang="en-US" altLang="zh-CN" sz="1800" dirty="0" smtClean="0"/>
              <a:t>R1</a:t>
            </a:r>
            <a:r>
              <a:rPr lang="zh-CN" altLang="en-US" sz="1800" dirty="0" smtClean="0"/>
              <a:t>，直至调整到允许的误差范围之内</a:t>
            </a:r>
            <a:endParaRPr lang="en-US" altLang="zh-CN" sz="1800" dirty="0" smtClean="0"/>
          </a:p>
          <a:p>
            <a:pPr indent="457200">
              <a:lnSpc>
                <a:spcPct val="150000"/>
              </a:lnSpc>
            </a:pPr>
            <a:r>
              <a:rPr lang="en-US" altLang="zh-CN" sz="1800" dirty="0" smtClean="0"/>
              <a:t>2</a:t>
            </a:r>
            <a:r>
              <a:rPr lang="zh-CN" altLang="en-US" sz="1800" dirty="0" smtClean="0"/>
              <a:t>、调试中心频率</a:t>
            </a:r>
            <a:endParaRPr lang="en-US" altLang="zh-CN" sz="1800" dirty="0" smtClean="0"/>
          </a:p>
          <a:p>
            <a:pPr indent="457200">
              <a:lnSpc>
                <a:spcPct val="150000"/>
              </a:lnSpc>
            </a:pPr>
            <a:r>
              <a:rPr lang="zh-CN" altLang="en-US" sz="1800" dirty="0" smtClean="0"/>
              <a:t>将控制电压设置为</a:t>
            </a:r>
            <a:r>
              <a:rPr lang="en-US" altLang="zh-CN" sz="1800" dirty="0" smtClean="0"/>
              <a:t>VDD/2</a:t>
            </a:r>
            <a:r>
              <a:rPr lang="zh-CN" altLang="en-US" sz="1800" dirty="0" smtClean="0"/>
              <a:t>，测试输出频率是否为设计值。如果误差太大则按照</a:t>
            </a:r>
            <a:r>
              <a:rPr lang="en-US" altLang="zh-CN" sz="1800" dirty="0" smtClean="0"/>
              <a:t>R2</a:t>
            </a:r>
            <a:r>
              <a:rPr lang="zh-CN" altLang="en-US" sz="1800" dirty="0" smtClean="0"/>
              <a:t>阻值与中心频率反比的原则调整</a:t>
            </a:r>
            <a:r>
              <a:rPr lang="en-US" altLang="zh-CN" sz="1800" dirty="0" smtClean="0"/>
              <a:t>R2</a:t>
            </a:r>
            <a:r>
              <a:rPr lang="zh-CN" altLang="en-US" sz="1800" dirty="0" smtClean="0"/>
              <a:t>，直至调整到误差范围内</a:t>
            </a:r>
            <a:endParaRPr lang="en-US" altLang="zh-CN" sz="1800" dirty="0" smtClean="0"/>
          </a:p>
          <a:p>
            <a:pPr indent="457200">
              <a:lnSpc>
                <a:spcPct val="150000"/>
              </a:lnSpc>
            </a:pPr>
            <a:r>
              <a:rPr lang="en-US" altLang="zh-CN" sz="1800" dirty="0" smtClean="0"/>
              <a:t>3</a:t>
            </a:r>
            <a:r>
              <a:rPr lang="zh-CN" altLang="en-US" sz="1800" dirty="0" smtClean="0"/>
              <a:t>、复测频率范围</a:t>
            </a:r>
            <a:endParaRPr lang="en-US" altLang="zh-CN" sz="1800" dirty="0" smtClean="0"/>
          </a:p>
          <a:p>
            <a:pPr indent="457200">
              <a:lnSpc>
                <a:spcPct val="150000"/>
              </a:lnSpc>
            </a:pPr>
            <a:r>
              <a:rPr lang="zh-CN" altLang="en-US" sz="1800" dirty="0" smtClean="0"/>
              <a:t>按照第</a:t>
            </a:r>
            <a:r>
              <a:rPr lang="en-US" altLang="zh-CN" sz="1800" dirty="0" smtClean="0"/>
              <a:t>1</a:t>
            </a:r>
            <a:r>
              <a:rPr lang="zh-CN" altLang="en-US" sz="1800" dirty="0" smtClean="0"/>
              <a:t>步的做法，复测两个端点频率是否在允许的误差范围内，若超出则重复上述调整步骤</a:t>
            </a:r>
            <a:endParaRPr lang="en-US" altLang="zh-CN" sz="1800" dirty="0" smtClean="0"/>
          </a:p>
          <a:p>
            <a:pPr indent="457200">
              <a:lnSpc>
                <a:spcPct val="150000"/>
              </a:lnSpc>
            </a:pPr>
            <a:endParaRPr lang="en-US" altLang="zh-CN" sz="1000" dirty="0" smtClean="0"/>
          </a:p>
          <a:p>
            <a:pPr indent="457200">
              <a:lnSpc>
                <a:spcPct val="150000"/>
              </a:lnSpc>
            </a:pPr>
            <a:r>
              <a:rPr lang="zh-CN" altLang="en-US" sz="1800" dirty="0" smtClean="0"/>
              <a:t>笔者使用某厂商生产的芯片</a:t>
            </a:r>
            <a:r>
              <a:rPr lang="zh-CN" altLang="en-US" sz="1800" dirty="0" smtClean="0"/>
              <a:t>，预调试</a:t>
            </a:r>
            <a:r>
              <a:rPr lang="zh-CN" altLang="en-US" sz="1800" dirty="0" smtClean="0"/>
              <a:t>后得到实际的元件参数是：</a:t>
            </a:r>
            <a:r>
              <a:rPr lang="en-US" altLang="zh-CN" sz="1800" dirty="0">
                <a:solidFill>
                  <a:srgbClr val="FF0000"/>
                </a:solidFill>
              </a:rPr>
              <a:t>C1=100pF</a:t>
            </a:r>
            <a:r>
              <a:rPr lang="zh-CN" altLang="en-US" sz="1800" dirty="0" smtClean="0">
                <a:solidFill>
                  <a:srgbClr val="FF0000"/>
                </a:solidFill>
              </a:rPr>
              <a:t>，</a:t>
            </a:r>
            <a:r>
              <a:rPr lang="en-US" altLang="zh-CN" sz="1800" dirty="0" smtClean="0">
                <a:solidFill>
                  <a:srgbClr val="FF0000"/>
                </a:solidFill>
              </a:rPr>
              <a:t>R1=82k</a:t>
            </a:r>
            <a:r>
              <a:rPr lang="el-GR" altLang="zh-CN" sz="1800" dirty="0" smtClean="0">
                <a:solidFill>
                  <a:srgbClr val="FF0000"/>
                </a:solidFill>
              </a:rPr>
              <a:t>Ω</a:t>
            </a:r>
            <a:r>
              <a:rPr lang="zh-CN" altLang="en-US" sz="1800" dirty="0" smtClean="0">
                <a:solidFill>
                  <a:srgbClr val="FF0000"/>
                </a:solidFill>
              </a:rPr>
              <a:t>，</a:t>
            </a:r>
            <a:r>
              <a:rPr lang="en-US" altLang="zh-CN" sz="1800" dirty="0">
                <a:solidFill>
                  <a:srgbClr val="FF0000"/>
                </a:solidFill>
              </a:rPr>
              <a:t> </a:t>
            </a:r>
            <a:r>
              <a:rPr lang="en-US" altLang="zh-CN" sz="1800" dirty="0" smtClean="0">
                <a:solidFill>
                  <a:srgbClr val="FF0000"/>
                </a:solidFill>
              </a:rPr>
              <a:t>R2=12k</a:t>
            </a:r>
            <a:r>
              <a:rPr lang="el-GR" altLang="zh-CN" sz="1800" dirty="0" smtClean="0">
                <a:solidFill>
                  <a:srgbClr val="FF0000"/>
                </a:solidFill>
              </a:rPr>
              <a:t>Ω</a:t>
            </a:r>
            <a:endParaRPr lang="en-US" altLang="zh-CN" sz="1800" dirty="0" smtClean="0">
              <a:solidFill>
                <a:srgbClr val="FF0000"/>
              </a:solidFill>
            </a:endParaRPr>
          </a:p>
        </p:txBody>
      </p:sp>
    </p:spTree>
    <p:extLst>
      <p:ext uri="{BB962C8B-B14F-4D97-AF65-F5344CB8AC3E}">
        <p14:creationId xmlns:p14="http://schemas.microsoft.com/office/powerpoint/2010/main" val="17292025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52</a:t>
            </a:fld>
            <a:endParaRPr lang="en-US" altLang="zh-CN">
              <a:solidFill>
                <a:srgbClr val="FFFFFF"/>
              </a:solidFill>
            </a:endParaRPr>
          </a:p>
        </p:txBody>
      </p:sp>
      <p:sp>
        <p:nvSpPr>
          <p:cNvPr id="5" name="文本框 4"/>
          <p:cNvSpPr txBox="1"/>
          <p:nvPr/>
        </p:nvSpPr>
        <p:spPr>
          <a:xfrm>
            <a:off x="384628" y="442686"/>
            <a:ext cx="11321143" cy="5493812"/>
          </a:xfrm>
          <a:prstGeom prst="rect">
            <a:avLst/>
          </a:prstGeom>
          <a:noFill/>
        </p:spPr>
        <p:txBody>
          <a:bodyPr wrap="square" rtlCol="0">
            <a:spAutoFit/>
          </a:bodyPr>
          <a:lstStyle/>
          <a:p>
            <a:pPr>
              <a:lnSpc>
                <a:spcPct val="150000"/>
              </a:lnSpc>
            </a:pPr>
            <a:r>
              <a:rPr lang="zh-CN" altLang="en-US" sz="1800" dirty="0" smtClean="0"/>
              <a:t>设计</a:t>
            </a:r>
            <a:r>
              <a:rPr lang="zh-CN" altLang="en-US" sz="1800" dirty="0"/>
              <a:t>环路滤波器</a:t>
            </a:r>
            <a:endParaRPr lang="en-US" altLang="zh-CN" sz="1800" dirty="0"/>
          </a:p>
          <a:p>
            <a:pPr marL="742950" lvl="1" indent="-285750">
              <a:lnSpc>
                <a:spcPct val="150000"/>
              </a:lnSpc>
              <a:buFont typeface="Arial" panose="020B0604020202020204" pitchFamily="34" charset="0"/>
              <a:buChar char="•"/>
            </a:pPr>
            <a:r>
              <a:rPr lang="zh-CN" altLang="en-US" sz="1800" dirty="0"/>
              <a:t>设计环路滤波器依据的条件如下：</a:t>
            </a:r>
            <a:endParaRPr lang="en-US" altLang="zh-CN" sz="1800" dirty="0"/>
          </a:p>
          <a:p>
            <a:pPr marL="1200150" lvl="2" indent="-285750">
              <a:lnSpc>
                <a:spcPct val="150000"/>
              </a:lnSpc>
              <a:buFont typeface="Arial" panose="020B0604020202020204" pitchFamily="34" charset="0"/>
              <a:buChar char="•"/>
            </a:pPr>
            <a:r>
              <a:rPr lang="zh-CN" altLang="en-US" sz="1800" dirty="0"/>
              <a:t>根据选择的鉴相器得到的鉴相增益，本题中是</a:t>
            </a:r>
            <a:r>
              <a:rPr lang="en-US" altLang="zh-CN" sz="1800" dirty="0"/>
              <a:t>5V/4</a:t>
            </a:r>
            <a:r>
              <a:rPr lang="el-GR" altLang="zh-CN" sz="1800" dirty="0"/>
              <a:t>π</a:t>
            </a:r>
            <a:endParaRPr lang="en-US" altLang="zh-CN" sz="1800" dirty="0"/>
          </a:p>
          <a:p>
            <a:pPr marL="1200150" lvl="2" indent="-285750">
              <a:lnSpc>
                <a:spcPct val="150000"/>
              </a:lnSpc>
              <a:buFont typeface="Arial" panose="020B0604020202020204" pitchFamily="34" charset="0"/>
              <a:buChar char="•"/>
            </a:pPr>
            <a:r>
              <a:rPr lang="zh-CN" altLang="en-US" sz="1800" dirty="0"/>
              <a:t>根据</a:t>
            </a:r>
            <a:r>
              <a:rPr lang="en-US" altLang="zh-CN" sz="1800" dirty="0"/>
              <a:t>VCO</a:t>
            </a:r>
            <a:r>
              <a:rPr lang="zh-CN" altLang="en-US" sz="1800" dirty="0"/>
              <a:t>振荡频率范围等参数而确定的压控增益，本题中是</a:t>
            </a:r>
            <a:r>
              <a:rPr lang="en-US" altLang="zh-CN" sz="1800" dirty="0"/>
              <a:t>500kHz/V</a:t>
            </a:r>
          </a:p>
          <a:p>
            <a:pPr marL="1200150" lvl="2" indent="-285750">
              <a:lnSpc>
                <a:spcPct val="150000"/>
              </a:lnSpc>
              <a:buFont typeface="Arial" panose="020B0604020202020204" pitchFamily="34" charset="0"/>
              <a:buChar char="•"/>
            </a:pPr>
            <a:r>
              <a:rPr lang="zh-CN" altLang="en-US" sz="1800" dirty="0"/>
              <a:t>根据上述增益得到的锁相环开环增益（在没有其他放大器的情况下就是鉴相增益与压控增益的乘积）</a:t>
            </a:r>
            <a:endParaRPr lang="en-US" altLang="zh-CN" sz="1800" dirty="0"/>
          </a:p>
          <a:p>
            <a:pPr marL="742950" lvl="1" indent="-285750">
              <a:lnSpc>
                <a:spcPct val="150000"/>
              </a:lnSpc>
              <a:buFont typeface="Arial" panose="020B0604020202020204" pitchFamily="34" charset="0"/>
              <a:buChar char="•"/>
            </a:pPr>
            <a:r>
              <a:rPr lang="zh-CN" altLang="en-US" sz="1800" dirty="0" smtClean="0"/>
              <a:t>已知</a:t>
            </a:r>
            <a:r>
              <a:rPr lang="zh-CN" altLang="en-US" sz="1800" dirty="0"/>
              <a:t>锁相环类型（调制跟踪、载波跟踪）以及输入信号的</a:t>
            </a:r>
            <a:r>
              <a:rPr lang="zh-CN" altLang="en-US" sz="1800" dirty="0" smtClean="0"/>
              <a:t>调制频率，</a:t>
            </a:r>
            <a:r>
              <a:rPr lang="zh-CN" altLang="en-US" sz="1800" dirty="0" smtClean="0">
                <a:solidFill>
                  <a:srgbClr val="FF0000"/>
                </a:solidFill>
              </a:rPr>
              <a:t>指定</a:t>
            </a:r>
            <a:r>
              <a:rPr lang="zh-CN" altLang="en-US" sz="1800" dirty="0" smtClean="0"/>
              <a:t>自然频率</a:t>
            </a:r>
            <a:endParaRPr lang="en-US" altLang="zh-CN" sz="1800" dirty="0"/>
          </a:p>
          <a:p>
            <a:pPr marL="1200150" lvl="2" indent="-285750">
              <a:lnSpc>
                <a:spcPct val="150000"/>
              </a:lnSpc>
              <a:buFont typeface="Arial" panose="020B0604020202020204" pitchFamily="34" charset="0"/>
              <a:buChar char="•"/>
            </a:pPr>
            <a:r>
              <a:rPr lang="zh-CN" altLang="en-US" sz="1800" dirty="0"/>
              <a:t>对于载波跟踪型锁相环，要求其闭环带宽（≈自然频率）远小于最低调制频率</a:t>
            </a:r>
            <a:endParaRPr lang="en-US" altLang="zh-CN" sz="1800" dirty="0"/>
          </a:p>
          <a:p>
            <a:pPr marL="1200150" lvl="2" indent="-285750">
              <a:lnSpc>
                <a:spcPct val="150000"/>
              </a:lnSpc>
              <a:buFont typeface="Arial" panose="020B0604020202020204" pitchFamily="34" charset="0"/>
              <a:buChar char="•"/>
            </a:pPr>
            <a:r>
              <a:rPr lang="zh-CN" altLang="en-US" sz="1800" dirty="0" smtClean="0"/>
              <a:t>本题中</a:t>
            </a:r>
            <a:r>
              <a:rPr lang="en-US" altLang="zh-CN" sz="1800" dirty="0" smtClean="0"/>
              <a:t>AM</a:t>
            </a:r>
            <a:r>
              <a:rPr lang="zh-CN" altLang="en-US" sz="1800" dirty="0" smtClean="0"/>
              <a:t>最低调制频率</a:t>
            </a:r>
            <a:r>
              <a:rPr lang="zh-CN" altLang="en-US" sz="1800" dirty="0"/>
              <a:t>为</a:t>
            </a:r>
            <a:r>
              <a:rPr lang="en-US" altLang="zh-CN" sz="1800" dirty="0" smtClean="0"/>
              <a:t>1kHz</a:t>
            </a:r>
            <a:r>
              <a:rPr lang="zh-CN" altLang="en-US" sz="1800" dirty="0" smtClean="0"/>
              <a:t>，</a:t>
            </a:r>
            <a:r>
              <a:rPr lang="en-US" altLang="zh-CN" sz="1800" dirty="0" smtClean="0"/>
              <a:t>2ASK/2PSK</a:t>
            </a:r>
            <a:r>
              <a:rPr lang="zh-CN" altLang="en-US" sz="1800" dirty="0" smtClean="0"/>
              <a:t>最低码率</a:t>
            </a:r>
            <a:r>
              <a:rPr lang="zh-CN" altLang="en-US" sz="1800" dirty="0"/>
              <a:t>为</a:t>
            </a:r>
            <a:r>
              <a:rPr lang="en-US" altLang="zh-CN" sz="1800" dirty="0" smtClean="0"/>
              <a:t>6kbps</a:t>
            </a:r>
            <a:r>
              <a:rPr lang="zh-CN" altLang="en-US" sz="1800" dirty="0" smtClean="0"/>
              <a:t>，在连续几个</a:t>
            </a:r>
            <a:r>
              <a:rPr lang="en-US" altLang="zh-CN" sz="1800" dirty="0" smtClean="0"/>
              <a:t>1</a:t>
            </a:r>
            <a:r>
              <a:rPr lang="zh-CN" altLang="en-US" sz="1800" dirty="0" smtClean="0"/>
              <a:t>或连续几个</a:t>
            </a:r>
            <a:r>
              <a:rPr lang="en-US" altLang="zh-CN" sz="1800" dirty="0" smtClean="0"/>
              <a:t>0</a:t>
            </a:r>
            <a:r>
              <a:rPr lang="zh-CN" altLang="en-US" sz="1800" dirty="0" smtClean="0"/>
              <a:t>的情况下，最低频谱成分将低于</a:t>
            </a:r>
            <a:r>
              <a:rPr lang="en-US" altLang="zh-CN" sz="1800" dirty="0" smtClean="0"/>
              <a:t>3kHz</a:t>
            </a:r>
            <a:r>
              <a:rPr lang="zh-CN" altLang="en-US" sz="1800" dirty="0" smtClean="0"/>
              <a:t>。但是通常数字信号编码不会允许连续</a:t>
            </a:r>
            <a:r>
              <a:rPr lang="en-US" altLang="zh-CN" sz="1800" dirty="0" smtClean="0"/>
              <a:t>1</a:t>
            </a:r>
            <a:r>
              <a:rPr lang="zh-CN" altLang="en-US" sz="1800" dirty="0" smtClean="0"/>
              <a:t>或</a:t>
            </a:r>
            <a:r>
              <a:rPr lang="en-US" altLang="zh-CN" sz="1800" dirty="0" smtClean="0"/>
              <a:t>0</a:t>
            </a:r>
            <a:r>
              <a:rPr lang="zh-CN" altLang="en-US" sz="1800" dirty="0" smtClean="0"/>
              <a:t>的长度（游程长度）太长，所以可以将最低调制频率统一定为</a:t>
            </a:r>
            <a:r>
              <a:rPr lang="en-US" altLang="zh-CN" sz="1800" dirty="0" smtClean="0"/>
              <a:t>1kHz</a:t>
            </a:r>
          </a:p>
          <a:p>
            <a:pPr marL="1200150" lvl="2" indent="-285750">
              <a:lnSpc>
                <a:spcPct val="150000"/>
              </a:lnSpc>
              <a:buFont typeface="Arial" panose="020B0604020202020204" pitchFamily="34" charset="0"/>
              <a:buChar char="•"/>
            </a:pPr>
            <a:r>
              <a:rPr lang="zh-CN" altLang="en-US" sz="1800" dirty="0" smtClean="0"/>
              <a:t>本题可取自然频率等于最低调制频率的</a:t>
            </a:r>
            <a:r>
              <a:rPr lang="en-US" altLang="zh-CN" sz="1800" dirty="0" smtClean="0"/>
              <a:t>1/20</a:t>
            </a:r>
            <a:r>
              <a:rPr lang="zh-CN" altLang="en-US" sz="1800" dirty="0" smtClean="0"/>
              <a:t>即 </a:t>
            </a:r>
            <a:r>
              <a:rPr lang="en-US" altLang="zh-CN" sz="1800" dirty="0" smtClean="0"/>
              <a:t>50Hz</a:t>
            </a:r>
          </a:p>
          <a:p>
            <a:pPr marL="742950" lvl="1" indent="-285750">
              <a:lnSpc>
                <a:spcPct val="150000"/>
              </a:lnSpc>
              <a:buFont typeface="Arial" panose="020B0604020202020204" pitchFamily="34" charset="0"/>
              <a:buChar char="•"/>
            </a:pPr>
            <a:r>
              <a:rPr lang="zh-CN" altLang="en-US" sz="1800" dirty="0" smtClean="0"/>
              <a:t>按照前面提供的公式计算，也可以用笔者提供的辅助设计表格软件</a:t>
            </a:r>
            <a:r>
              <a:rPr lang="en-US" altLang="zh-CN" sz="1800" dirty="0" smtClean="0"/>
              <a:t>《</a:t>
            </a:r>
            <a:r>
              <a:rPr lang="zh-CN" altLang="en-US" sz="1800" dirty="0" smtClean="0"/>
              <a:t>锁相环参数计算</a:t>
            </a:r>
            <a:r>
              <a:rPr lang="en-US" altLang="zh-CN" sz="1800" dirty="0" smtClean="0"/>
              <a:t>》</a:t>
            </a:r>
            <a:r>
              <a:rPr lang="zh-CN" altLang="en-US" sz="1800" dirty="0" smtClean="0"/>
              <a:t>设计</a:t>
            </a:r>
            <a:endParaRPr lang="en-US" altLang="zh-CN" sz="1800" dirty="0" smtClean="0"/>
          </a:p>
          <a:p>
            <a:pPr lvl="2">
              <a:lnSpc>
                <a:spcPct val="150000"/>
              </a:lnSpc>
            </a:pPr>
            <a:r>
              <a:rPr lang="zh-CN" altLang="en-US" sz="1800" dirty="0" smtClean="0"/>
              <a:t>（注）这个表格软件主要针对</a:t>
            </a:r>
            <a:r>
              <a:rPr lang="en-US" altLang="zh-CN" sz="1800" dirty="0" smtClean="0"/>
              <a:t>74HC4046</a:t>
            </a:r>
            <a:r>
              <a:rPr lang="zh-CN" altLang="en-US" sz="1800" dirty="0" smtClean="0"/>
              <a:t>，应用于其他芯片时可能要作修正</a:t>
            </a:r>
            <a:endParaRPr lang="en-US" altLang="zh-CN" sz="1800" dirty="0" smtClean="0"/>
          </a:p>
        </p:txBody>
      </p:sp>
    </p:spTree>
    <p:extLst>
      <p:ext uri="{BB962C8B-B14F-4D97-AF65-F5344CB8AC3E}">
        <p14:creationId xmlns:p14="http://schemas.microsoft.com/office/powerpoint/2010/main" val="12925966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53</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349449" y="849430"/>
            <a:ext cx="11472136" cy="5583731"/>
          </a:xfrm>
          <a:prstGeom prst="rect">
            <a:avLst/>
          </a:prstGeom>
        </p:spPr>
      </p:pic>
      <p:sp>
        <p:nvSpPr>
          <p:cNvPr id="6" name="椭圆 5"/>
          <p:cNvSpPr/>
          <p:nvPr/>
        </p:nvSpPr>
        <p:spPr>
          <a:xfrm>
            <a:off x="5354666" y="1505610"/>
            <a:ext cx="515257" cy="925285"/>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9332686" y="1563668"/>
            <a:ext cx="515257" cy="859969"/>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4753429" y="3007840"/>
            <a:ext cx="515257" cy="633456"/>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5080000" y="5634925"/>
            <a:ext cx="914400" cy="304799"/>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336800" y="1609023"/>
            <a:ext cx="515257" cy="718457"/>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137228" y="5634924"/>
            <a:ext cx="914400" cy="304799"/>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5232400" y="5874411"/>
            <a:ext cx="914400" cy="406400"/>
          </a:xfrm>
          <a:prstGeom prst="ellipse">
            <a:avLst/>
          </a:prstGeom>
          <a:no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213428" y="5871033"/>
            <a:ext cx="914400" cy="406400"/>
          </a:xfrm>
          <a:prstGeom prst="ellipse">
            <a:avLst/>
          </a:prstGeom>
          <a:noFill/>
          <a:ln w="95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349449" y="443883"/>
            <a:ext cx="11386831" cy="369332"/>
          </a:xfrm>
          <a:prstGeom prst="rect">
            <a:avLst/>
          </a:prstGeom>
          <a:noFill/>
        </p:spPr>
        <p:txBody>
          <a:bodyPr wrap="square" rtlCol="0">
            <a:spAutoFit/>
          </a:bodyPr>
          <a:lstStyle/>
          <a:p>
            <a:r>
              <a:rPr lang="zh-CN" altLang="en-US" sz="1800" dirty="0" smtClean="0"/>
              <a:t>利用表格软件的设计。红圈内是需要输入的参数，</a:t>
            </a:r>
            <a:r>
              <a:rPr lang="zh-CN" altLang="en-US" sz="1800" dirty="0"/>
              <a:t>蓝圈内是计算</a:t>
            </a:r>
            <a:r>
              <a:rPr lang="zh-CN" altLang="en-US" sz="1800" dirty="0" smtClean="0"/>
              <a:t>结果</a:t>
            </a:r>
            <a:endParaRPr lang="zh-CN" altLang="en-US" sz="1800" dirty="0"/>
          </a:p>
        </p:txBody>
      </p:sp>
    </p:spTree>
    <p:extLst>
      <p:ext uri="{BB962C8B-B14F-4D97-AF65-F5344CB8AC3E}">
        <p14:creationId xmlns:p14="http://schemas.microsoft.com/office/powerpoint/2010/main" val="37194239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54</a:t>
            </a:fld>
            <a:endParaRPr lang="en-US" altLang="zh-CN">
              <a:solidFill>
                <a:srgbClr val="FFFFFF"/>
              </a:solidFill>
            </a:endParaRPr>
          </a:p>
        </p:txBody>
      </p:sp>
      <p:sp>
        <p:nvSpPr>
          <p:cNvPr id="5" name="文本框 4"/>
          <p:cNvSpPr txBox="1"/>
          <p:nvPr/>
        </p:nvSpPr>
        <p:spPr>
          <a:xfrm>
            <a:off x="355600" y="551543"/>
            <a:ext cx="11284857" cy="923330"/>
          </a:xfrm>
          <a:prstGeom prst="rect">
            <a:avLst/>
          </a:prstGeom>
          <a:noFill/>
        </p:spPr>
        <p:txBody>
          <a:bodyPr wrap="square" rtlCol="0">
            <a:spAutoFit/>
          </a:bodyPr>
          <a:lstStyle/>
          <a:p>
            <a:pPr indent="457200">
              <a:lnSpc>
                <a:spcPct val="150000"/>
              </a:lnSpc>
            </a:pPr>
            <a:r>
              <a:rPr lang="zh-CN" altLang="en-US" sz="1800" dirty="0" smtClean="0"/>
              <a:t>表格中对应二阶锁相环的环路滤波器有</a:t>
            </a:r>
            <a:r>
              <a:rPr lang="en-US" altLang="zh-CN" sz="1800" dirty="0" smtClean="0"/>
              <a:t>2</a:t>
            </a:r>
            <a:r>
              <a:rPr lang="zh-CN" altLang="en-US" sz="1800" dirty="0" smtClean="0"/>
              <a:t>种，选用比例积分型环路滤波器，指定其中的电容为</a:t>
            </a:r>
            <a:r>
              <a:rPr lang="en-US" altLang="zh-CN" sz="1800" dirty="0" smtClean="0"/>
              <a:t>22</a:t>
            </a:r>
            <a:r>
              <a:rPr lang="el-GR" altLang="zh-CN" sz="1800" dirty="0" smtClean="0"/>
              <a:t>μ</a:t>
            </a:r>
            <a:r>
              <a:rPr lang="en-US" altLang="zh-CN" sz="1800" dirty="0" smtClean="0"/>
              <a:t>F</a:t>
            </a:r>
            <a:r>
              <a:rPr lang="zh-CN" altLang="en-US" sz="1800" dirty="0" smtClean="0"/>
              <a:t>，两个电阻为</a:t>
            </a:r>
            <a:r>
              <a:rPr lang="en-US" altLang="zh-CN" sz="1800" dirty="0" smtClean="0"/>
              <a:t>575k</a:t>
            </a:r>
            <a:r>
              <a:rPr lang="el-GR" altLang="zh-CN" sz="1800" dirty="0" smtClean="0"/>
              <a:t>Ω</a:t>
            </a:r>
            <a:r>
              <a:rPr lang="zh-CN" altLang="en-US" sz="1800" dirty="0" smtClean="0"/>
              <a:t>和</a:t>
            </a:r>
            <a:r>
              <a:rPr lang="en-US" altLang="zh-CN" sz="1800" dirty="0" smtClean="0"/>
              <a:t>205</a:t>
            </a:r>
            <a:r>
              <a:rPr lang="el-GR" altLang="zh-CN" sz="1800" dirty="0" smtClean="0"/>
              <a:t>Ω</a:t>
            </a:r>
            <a:r>
              <a:rPr lang="zh-CN" altLang="en-US" sz="1800" dirty="0" smtClean="0"/>
              <a:t>，实际用</a:t>
            </a:r>
            <a:r>
              <a:rPr lang="en-US" altLang="zh-CN" sz="1800" dirty="0" smtClean="0"/>
              <a:t> 510k</a:t>
            </a:r>
            <a:r>
              <a:rPr lang="el-GR" altLang="zh-CN" sz="1800" dirty="0" smtClean="0"/>
              <a:t>Ω</a:t>
            </a:r>
            <a:r>
              <a:rPr lang="en-US" altLang="zh-CN" sz="1800" dirty="0" smtClean="0"/>
              <a:t> </a:t>
            </a:r>
            <a:r>
              <a:rPr lang="zh-CN" altLang="en-US" sz="1800" dirty="0" smtClean="0"/>
              <a:t>和 </a:t>
            </a:r>
            <a:r>
              <a:rPr lang="en-US" altLang="zh-CN" sz="1800" dirty="0" smtClean="0"/>
              <a:t>200</a:t>
            </a:r>
            <a:r>
              <a:rPr lang="el-GR" altLang="zh-CN" sz="1800" dirty="0" smtClean="0"/>
              <a:t>Ω</a:t>
            </a:r>
            <a:r>
              <a:rPr lang="zh-CN" altLang="en-US" sz="1800" dirty="0" smtClean="0"/>
              <a:t>，电容可用独石电容，不建议用电解电容（漏电太大）</a:t>
            </a:r>
            <a:endParaRPr lang="en-US" altLang="zh-CN" sz="1800" dirty="0" smtClean="0"/>
          </a:p>
        </p:txBody>
      </p:sp>
      <p:pic>
        <p:nvPicPr>
          <p:cNvPr id="6" name="图片 5"/>
          <p:cNvPicPr>
            <a:picLocks noChangeAspect="1"/>
          </p:cNvPicPr>
          <p:nvPr/>
        </p:nvPicPr>
        <p:blipFill>
          <a:blip r:embed="rId3"/>
          <a:stretch>
            <a:fillRect/>
          </a:stretch>
        </p:blipFill>
        <p:spPr>
          <a:xfrm>
            <a:off x="6512090" y="1474873"/>
            <a:ext cx="5309495" cy="4640037"/>
          </a:xfrm>
          <a:prstGeom prst="rect">
            <a:avLst/>
          </a:prstGeom>
        </p:spPr>
      </p:pic>
      <p:sp>
        <p:nvSpPr>
          <p:cNvPr id="7" name="文本框 6"/>
          <p:cNvSpPr txBox="1"/>
          <p:nvPr/>
        </p:nvSpPr>
        <p:spPr>
          <a:xfrm>
            <a:off x="355600" y="1379893"/>
            <a:ext cx="5812971" cy="4662815"/>
          </a:xfrm>
          <a:prstGeom prst="rect">
            <a:avLst/>
          </a:prstGeom>
          <a:noFill/>
        </p:spPr>
        <p:txBody>
          <a:bodyPr wrap="square" rtlCol="0">
            <a:spAutoFit/>
          </a:bodyPr>
          <a:lstStyle/>
          <a:p>
            <a:pPr indent="457200">
              <a:lnSpc>
                <a:spcPct val="150000"/>
              </a:lnSpc>
            </a:pPr>
            <a:r>
              <a:rPr lang="zh-CN" altLang="en-US" sz="1800" dirty="0" smtClean="0"/>
              <a:t>选用</a:t>
            </a:r>
            <a:r>
              <a:rPr lang="zh-CN" altLang="en-US" sz="1800" dirty="0"/>
              <a:t>比例积分型环路滤波器有两个</a:t>
            </a:r>
            <a:r>
              <a:rPr lang="zh-CN" altLang="en-US" sz="1800" dirty="0" smtClean="0"/>
              <a:t>问题必须注意：</a:t>
            </a:r>
            <a:endParaRPr lang="en-US" altLang="zh-CN" sz="1800" dirty="0" smtClean="0"/>
          </a:p>
          <a:p>
            <a:pPr marL="285750" indent="-285750">
              <a:lnSpc>
                <a:spcPct val="150000"/>
              </a:lnSpc>
              <a:buFont typeface="Arial" panose="020B0604020202020204" pitchFamily="34" charset="0"/>
              <a:buChar char="•"/>
            </a:pPr>
            <a:r>
              <a:rPr lang="zh-CN" altLang="en-US" sz="1800" dirty="0" smtClean="0"/>
              <a:t>积分器是个反相电路，必须校正反馈极性</a:t>
            </a:r>
            <a:endParaRPr lang="en-US" altLang="zh-CN" sz="1800" dirty="0" smtClean="0"/>
          </a:p>
          <a:p>
            <a:pPr lvl="1">
              <a:lnSpc>
                <a:spcPct val="150000"/>
              </a:lnSpc>
            </a:pPr>
            <a:r>
              <a:rPr lang="zh-CN" altLang="en-US" sz="1800" dirty="0" smtClean="0"/>
              <a:t>解决办法：交换输入信号与反馈信号两个输入端的位置</a:t>
            </a:r>
            <a:endParaRPr lang="en-US" altLang="zh-CN" sz="1800" dirty="0" smtClean="0"/>
          </a:p>
          <a:p>
            <a:pPr marL="285750" indent="-285750">
              <a:lnSpc>
                <a:spcPct val="150000"/>
              </a:lnSpc>
              <a:buFont typeface="Arial" panose="020B0604020202020204" pitchFamily="34" charset="0"/>
              <a:buChar char="•"/>
            </a:pPr>
            <a:r>
              <a:rPr lang="en-US" altLang="zh-CN" sz="1800" dirty="0" smtClean="0"/>
              <a:t>PFD</a:t>
            </a:r>
            <a:r>
              <a:rPr lang="zh-CN" altLang="en-US" sz="1800" dirty="0" smtClean="0"/>
              <a:t>的输出以</a:t>
            </a:r>
            <a:r>
              <a:rPr lang="en-US" altLang="zh-CN" sz="1800" dirty="0" smtClean="0"/>
              <a:t>VDD/2</a:t>
            </a:r>
            <a:r>
              <a:rPr lang="zh-CN" altLang="en-US" sz="1800" dirty="0" smtClean="0"/>
              <a:t>为基准，运放不能以地为基准</a:t>
            </a:r>
            <a:endParaRPr lang="en-US" altLang="zh-CN" sz="1800" dirty="0" smtClean="0"/>
          </a:p>
          <a:p>
            <a:pPr lvl="1">
              <a:lnSpc>
                <a:spcPct val="150000"/>
              </a:lnSpc>
            </a:pPr>
            <a:r>
              <a:rPr lang="zh-CN" altLang="en-US" sz="1800" dirty="0" smtClean="0"/>
              <a:t>解决办法：将运放同相端电位提高到</a:t>
            </a:r>
            <a:r>
              <a:rPr lang="en-US" altLang="zh-CN" sz="1800" dirty="0" smtClean="0"/>
              <a:t>VDD/2</a:t>
            </a:r>
          </a:p>
          <a:p>
            <a:pPr lvl="1">
              <a:lnSpc>
                <a:spcPct val="150000"/>
              </a:lnSpc>
            </a:pPr>
            <a:r>
              <a:rPr lang="zh-CN" altLang="en-US" sz="1800" dirty="0" smtClean="0"/>
              <a:t>这个措施同时还带了另外一个好处：通过微调运放同相端电位可以微调输出载波的相位</a:t>
            </a:r>
            <a:endParaRPr lang="en-US" altLang="zh-CN" sz="1800" dirty="0" smtClean="0"/>
          </a:p>
          <a:p>
            <a:pPr lvl="1">
              <a:lnSpc>
                <a:spcPct val="150000"/>
              </a:lnSpc>
            </a:pPr>
            <a:endParaRPr lang="en-US" altLang="zh-CN" sz="1800" dirty="0"/>
          </a:p>
          <a:p>
            <a:pPr lvl="1">
              <a:lnSpc>
                <a:spcPct val="150000"/>
              </a:lnSpc>
            </a:pPr>
            <a:r>
              <a:rPr lang="zh-CN" altLang="en-US" sz="1800" dirty="0" smtClean="0"/>
              <a:t>右图是设计的锁相环电路，其中确定</a:t>
            </a:r>
            <a:r>
              <a:rPr lang="en-US" altLang="zh-CN" sz="1800" dirty="0" smtClean="0"/>
              <a:t>VCO</a:t>
            </a:r>
            <a:r>
              <a:rPr lang="zh-CN" altLang="en-US" sz="1800" dirty="0" smtClean="0"/>
              <a:t>振荡频率的电阻电容数值需要通过实验确定</a:t>
            </a:r>
            <a:endParaRPr lang="zh-CN" altLang="en-US" sz="1800" dirty="0"/>
          </a:p>
        </p:txBody>
      </p:sp>
      <p:sp>
        <p:nvSpPr>
          <p:cNvPr id="8" name="椭圆 7"/>
          <p:cNvSpPr/>
          <p:nvPr/>
        </p:nvSpPr>
        <p:spPr>
          <a:xfrm>
            <a:off x="6942338" y="4199138"/>
            <a:ext cx="2370338" cy="152695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a:off x="6512090" y="1020932"/>
            <a:ext cx="954030" cy="32847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flipV="1">
            <a:off x="4527612" y="3657601"/>
            <a:ext cx="3559945" cy="2068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83741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55</a:t>
            </a:fld>
            <a:endParaRPr lang="en-US" altLang="zh-CN">
              <a:solidFill>
                <a:srgbClr val="FFFFFF"/>
              </a:solidFill>
            </a:endParaRPr>
          </a:p>
        </p:txBody>
      </p:sp>
      <p:pic>
        <p:nvPicPr>
          <p:cNvPr id="5" name="图片 4"/>
          <p:cNvPicPr>
            <a:picLocks noChangeAspect="1"/>
          </p:cNvPicPr>
          <p:nvPr/>
        </p:nvPicPr>
        <p:blipFill>
          <a:blip r:embed="rId2"/>
          <a:stretch>
            <a:fillRect/>
          </a:stretch>
        </p:blipFill>
        <p:spPr>
          <a:xfrm>
            <a:off x="5878286" y="2678974"/>
            <a:ext cx="5824034" cy="3587701"/>
          </a:xfrm>
          <a:prstGeom prst="rect">
            <a:avLst/>
          </a:prstGeom>
        </p:spPr>
      </p:pic>
      <p:sp>
        <p:nvSpPr>
          <p:cNvPr id="6" name="椭圆 5"/>
          <p:cNvSpPr/>
          <p:nvPr/>
        </p:nvSpPr>
        <p:spPr>
          <a:xfrm>
            <a:off x="10624457" y="4879296"/>
            <a:ext cx="1197128" cy="14561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99145" y="471714"/>
            <a:ext cx="5181598" cy="5493812"/>
          </a:xfrm>
          <a:prstGeom prst="rect">
            <a:avLst/>
          </a:prstGeom>
          <a:noFill/>
        </p:spPr>
        <p:txBody>
          <a:bodyPr wrap="square" rtlCol="0">
            <a:spAutoFit/>
          </a:bodyPr>
          <a:lstStyle/>
          <a:p>
            <a:pPr>
              <a:lnSpc>
                <a:spcPct val="150000"/>
              </a:lnSpc>
            </a:pPr>
            <a:r>
              <a:rPr lang="zh-CN" altLang="en-US" sz="1800" dirty="0" smtClean="0"/>
              <a:t>表格同时提供了这个锁相环的动态参数</a:t>
            </a:r>
            <a:endParaRPr lang="en-US" altLang="zh-CN" sz="1800" dirty="0" smtClean="0"/>
          </a:p>
          <a:p>
            <a:pPr>
              <a:lnSpc>
                <a:spcPct val="150000"/>
              </a:lnSpc>
            </a:pPr>
            <a:r>
              <a:rPr lang="zh-CN" altLang="en-US" sz="1800" dirty="0" smtClean="0"/>
              <a:t>比例积分型滤波器</a:t>
            </a:r>
            <a:endParaRPr lang="en-US" altLang="zh-CN" sz="1800" dirty="0" smtClean="0"/>
          </a:p>
          <a:p>
            <a:pPr marL="285750" indent="-285750">
              <a:lnSpc>
                <a:spcPct val="150000"/>
              </a:lnSpc>
              <a:spcAft>
                <a:spcPts val="0"/>
              </a:spcAft>
              <a:buFont typeface="Arial" panose="020B0604020202020204" pitchFamily="34" charset="0"/>
              <a:buChar char="•"/>
            </a:pPr>
            <a:r>
              <a:rPr lang="zh-CN" altLang="en-US" sz="1800" dirty="0" smtClean="0"/>
              <a:t>捕捉范围：由于采用了</a:t>
            </a:r>
            <a:r>
              <a:rPr lang="en-US" altLang="zh-CN" sz="1800" dirty="0" smtClean="0"/>
              <a:t>PFD</a:t>
            </a:r>
            <a:r>
              <a:rPr lang="zh-CN" altLang="en-US" sz="1800" dirty="0" smtClean="0"/>
              <a:t>，在整个</a:t>
            </a:r>
            <a:r>
              <a:rPr lang="en-US" altLang="zh-CN" sz="1800" kern="100" dirty="0" smtClean="0"/>
              <a:t>VCO</a:t>
            </a:r>
            <a:r>
              <a:rPr lang="zh-CN" altLang="en-US" sz="1800" kern="100" dirty="0" smtClean="0"/>
              <a:t>的可</a:t>
            </a:r>
            <a:r>
              <a:rPr lang="zh-CN" altLang="en-US" sz="1800" kern="100" dirty="0"/>
              <a:t>控</a:t>
            </a:r>
            <a:r>
              <a:rPr lang="zh-CN" altLang="zh-CN" sz="1800" kern="100" dirty="0"/>
              <a:t>频率</a:t>
            </a:r>
            <a:r>
              <a:rPr lang="zh-CN" altLang="zh-CN" sz="1800" kern="100" dirty="0" smtClean="0"/>
              <a:t>范围</a:t>
            </a:r>
            <a:r>
              <a:rPr lang="zh-CN" altLang="en-US" sz="1800" kern="100" dirty="0" smtClean="0"/>
              <a:t>内均可捕捉</a:t>
            </a:r>
            <a:endParaRPr lang="zh-CN" altLang="en-US" sz="1800" dirty="0"/>
          </a:p>
          <a:p>
            <a:pPr marL="285750" indent="-285750">
              <a:lnSpc>
                <a:spcPct val="150000"/>
              </a:lnSpc>
              <a:buFont typeface="Arial" panose="020B0604020202020204" pitchFamily="34" charset="0"/>
              <a:buChar char="•"/>
            </a:pPr>
            <a:r>
              <a:rPr lang="zh-CN" altLang="en-US" sz="1800" dirty="0" smtClean="0"/>
              <a:t>捕捉时间：此参数与初始频差有关。由于</a:t>
            </a:r>
            <a:r>
              <a:rPr lang="en-US" altLang="zh-CN" sz="1800" dirty="0" smtClean="0"/>
              <a:t>VCO</a:t>
            </a:r>
            <a:r>
              <a:rPr lang="zh-CN" altLang="en-US" sz="1800" dirty="0" smtClean="0"/>
              <a:t>的频率范围为</a:t>
            </a:r>
            <a:r>
              <a:rPr lang="en-US" altLang="zh-CN" sz="1800" dirty="0" smtClean="0"/>
              <a:t>3.5MHz~4.5MHz</a:t>
            </a:r>
            <a:r>
              <a:rPr lang="zh-CN" altLang="en-US" sz="1800" dirty="0" smtClean="0"/>
              <a:t>，输入频率为</a:t>
            </a:r>
            <a:r>
              <a:rPr lang="en-US" altLang="zh-CN" sz="1800" dirty="0" smtClean="0"/>
              <a:t>4MHz</a:t>
            </a:r>
            <a:r>
              <a:rPr lang="zh-CN" altLang="en-US" sz="1800" dirty="0" smtClean="0"/>
              <a:t>，故最坏情况下的初始</a:t>
            </a:r>
            <a:r>
              <a:rPr lang="zh-CN" altLang="en-US" sz="1800" dirty="0"/>
              <a:t>频差</a:t>
            </a:r>
            <a:r>
              <a:rPr lang="zh-CN" altLang="en-US" sz="1800" dirty="0" smtClean="0"/>
              <a:t>为</a:t>
            </a:r>
            <a:r>
              <a:rPr lang="en-US" altLang="zh-CN" sz="1800" dirty="0" smtClean="0"/>
              <a:t>500kHz</a:t>
            </a:r>
            <a:r>
              <a:rPr lang="zh-CN" altLang="en-US" sz="1800" dirty="0" smtClean="0"/>
              <a:t>，捕捉时间为</a:t>
            </a:r>
            <a:r>
              <a:rPr lang="en-US" altLang="zh-CN" sz="1800" dirty="0" smtClean="0"/>
              <a:t>10ms</a:t>
            </a:r>
          </a:p>
          <a:p>
            <a:pPr marL="285750" indent="-285750">
              <a:lnSpc>
                <a:spcPct val="150000"/>
              </a:lnSpc>
              <a:buFont typeface="Arial" panose="020B0604020202020204" pitchFamily="34" charset="0"/>
              <a:buChar char="•"/>
            </a:pPr>
            <a:r>
              <a:rPr lang="zh-CN" altLang="en-US" sz="1800" dirty="0"/>
              <a:t>锁定范围：</a:t>
            </a:r>
            <a:r>
              <a:rPr lang="en-US" altLang="zh-CN" sz="1800" dirty="0"/>
              <a:t>450Hz</a:t>
            </a:r>
          </a:p>
          <a:p>
            <a:pPr marL="285750" indent="-285750">
              <a:lnSpc>
                <a:spcPct val="150000"/>
              </a:lnSpc>
              <a:buFont typeface="Arial" panose="020B0604020202020204" pitchFamily="34" charset="0"/>
              <a:buChar char="•"/>
            </a:pPr>
            <a:r>
              <a:rPr lang="zh-CN" altLang="en-US" sz="1800" dirty="0"/>
              <a:t>锁定时间：</a:t>
            </a:r>
            <a:r>
              <a:rPr lang="en-US" altLang="zh-CN" sz="1800" dirty="0"/>
              <a:t>&lt;20ms</a:t>
            </a:r>
          </a:p>
          <a:p>
            <a:pPr marL="285750" indent="-285750">
              <a:lnSpc>
                <a:spcPct val="150000"/>
              </a:lnSpc>
              <a:buFont typeface="Arial" panose="020B0604020202020204" pitchFamily="34" charset="0"/>
              <a:buChar char="•"/>
            </a:pPr>
            <a:r>
              <a:rPr lang="zh-CN" altLang="en-US" sz="1800" dirty="0" smtClean="0"/>
              <a:t>失锁范围：</a:t>
            </a:r>
            <a:r>
              <a:rPr lang="en-US" altLang="zh-CN" sz="1800" dirty="0" smtClean="0"/>
              <a:t>700Hz</a:t>
            </a:r>
          </a:p>
          <a:p>
            <a:pPr marL="285750" indent="-285750">
              <a:lnSpc>
                <a:spcPct val="150000"/>
              </a:lnSpc>
              <a:buFont typeface="Arial" panose="020B0604020202020204" pitchFamily="34" charset="0"/>
              <a:buChar char="•"/>
            </a:pPr>
            <a:r>
              <a:rPr lang="zh-CN" altLang="en-US" sz="1800" dirty="0" smtClean="0"/>
              <a:t>同步范围：</a:t>
            </a:r>
            <a:r>
              <a:rPr lang="zh-CN" altLang="en-US" sz="1800" dirty="0"/>
              <a:t>由于采用</a:t>
            </a:r>
            <a:r>
              <a:rPr lang="zh-CN" altLang="en-US" sz="1800" dirty="0" smtClean="0"/>
              <a:t>了积分型环路滤波器，</a:t>
            </a:r>
            <a:r>
              <a:rPr lang="zh-CN" altLang="en-US" sz="1800" dirty="0"/>
              <a:t>在整个</a:t>
            </a:r>
            <a:r>
              <a:rPr lang="en-US" altLang="zh-CN" sz="1800" kern="100" dirty="0"/>
              <a:t>VCO</a:t>
            </a:r>
            <a:r>
              <a:rPr lang="zh-CN" altLang="en-US" sz="1800" kern="100" dirty="0"/>
              <a:t>的可控</a:t>
            </a:r>
            <a:r>
              <a:rPr lang="zh-CN" altLang="zh-CN" sz="1800" kern="100" dirty="0"/>
              <a:t>频率</a:t>
            </a:r>
            <a:r>
              <a:rPr lang="zh-CN" altLang="zh-CN" sz="1800" kern="100" dirty="0" smtClean="0"/>
              <a:t>范围</a:t>
            </a:r>
            <a:r>
              <a:rPr lang="zh-CN" altLang="en-US" sz="1800" kern="100" dirty="0" smtClean="0"/>
              <a:t>内均可同步</a:t>
            </a:r>
            <a:endParaRPr lang="zh-CN" altLang="en-US" sz="1800" dirty="0"/>
          </a:p>
        </p:txBody>
      </p:sp>
    </p:spTree>
    <p:extLst>
      <p:ext uri="{BB962C8B-B14F-4D97-AF65-F5344CB8AC3E}">
        <p14:creationId xmlns:p14="http://schemas.microsoft.com/office/powerpoint/2010/main" val="32808038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56</a:t>
            </a:fld>
            <a:endParaRPr lang="en-US" altLang="zh-CN">
              <a:solidFill>
                <a:srgbClr val="FFFFFF"/>
              </a:solidFill>
            </a:endParaRPr>
          </a:p>
        </p:txBody>
      </p:sp>
      <p:sp>
        <p:nvSpPr>
          <p:cNvPr id="5" name="文本框 4"/>
          <p:cNvSpPr txBox="1"/>
          <p:nvPr/>
        </p:nvSpPr>
        <p:spPr>
          <a:xfrm>
            <a:off x="355600" y="522514"/>
            <a:ext cx="11357429" cy="1581202"/>
          </a:xfrm>
          <a:prstGeom prst="rect">
            <a:avLst/>
          </a:prstGeom>
          <a:noFill/>
        </p:spPr>
        <p:txBody>
          <a:bodyPr wrap="square" rtlCol="0">
            <a:spAutoFit/>
          </a:bodyPr>
          <a:lstStyle/>
          <a:p>
            <a:pPr>
              <a:lnSpc>
                <a:spcPct val="150000"/>
              </a:lnSpc>
            </a:pPr>
            <a:r>
              <a:rPr lang="zh-CN" altLang="en-US" sz="1800" dirty="0" smtClean="0"/>
              <a:t>说明</a:t>
            </a:r>
            <a:endParaRPr lang="en-US" altLang="zh-CN" sz="1800" dirty="0" smtClean="0"/>
          </a:p>
          <a:p>
            <a:pPr marL="285750" indent="-285750">
              <a:lnSpc>
                <a:spcPct val="150000"/>
              </a:lnSpc>
              <a:buFont typeface="Arial" panose="020B0604020202020204" pitchFamily="34" charset="0"/>
              <a:buChar char="•"/>
            </a:pPr>
            <a:r>
              <a:rPr lang="zh-CN" altLang="en-US" sz="1800" dirty="0"/>
              <a:t>由于载波经过平方再开方，</a:t>
            </a:r>
            <a:r>
              <a:rPr lang="zh-CN" altLang="en-US" sz="1800" dirty="0" smtClean="0"/>
              <a:t>存在相位</a:t>
            </a:r>
            <a:r>
              <a:rPr lang="zh-CN" altLang="en-US" sz="1800" dirty="0"/>
              <a:t>模糊现象，解调信号的直流电平可能正负颠倒。所以在判断</a:t>
            </a:r>
            <a:r>
              <a:rPr lang="en-US" altLang="zh-CN" sz="1800" dirty="0"/>
              <a:t>AM/ASK</a:t>
            </a:r>
            <a:r>
              <a:rPr lang="zh-CN" altLang="en-US" sz="1800" dirty="0"/>
              <a:t>调制模式时，需要做绝对值处理，即无论是正负电平均作为有效电平</a:t>
            </a:r>
            <a:r>
              <a:rPr lang="zh-CN" altLang="en-US" sz="1800" dirty="0" smtClean="0"/>
              <a:t>处理</a:t>
            </a:r>
            <a:endParaRPr lang="en-US" altLang="zh-CN" sz="1800" dirty="0" smtClean="0"/>
          </a:p>
          <a:p>
            <a:pPr>
              <a:lnSpc>
                <a:spcPct val="150000"/>
              </a:lnSpc>
            </a:pPr>
            <a:endParaRPr lang="en-US" altLang="zh-CN" sz="1050" dirty="0" smtClean="0"/>
          </a:p>
        </p:txBody>
      </p:sp>
      <p:pic>
        <p:nvPicPr>
          <p:cNvPr id="6" name="图片 5"/>
          <p:cNvPicPr>
            <a:picLocks noChangeAspect="1"/>
          </p:cNvPicPr>
          <p:nvPr/>
        </p:nvPicPr>
        <p:blipFill>
          <a:blip r:embed="rId2"/>
          <a:stretch>
            <a:fillRect/>
          </a:stretch>
        </p:blipFill>
        <p:spPr>
          <a:xfrm>
            <a:off x="3672417" y="2103716"/>
            <a:ext cx="3555763" cy="2102634"/>
          </a:xfrm>
          <a:prstGeom prst="rect">
            <a:avLst/>
          </a:prstGeom>
        </p:spPr>
      </p:pic>
    </p:spTree>
    <p:extLst>
      <p:ext uri="{BB962C8B-B14F-4D97-AF65-F5344CB8AC3E}">
        <p14:creationId xmlns:p14="http://schemas.microsoft.com/office/powerpoint/2010/main" val="25239674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stretch>
            <a:fillRect/>
          </a:stretch>
        </p:blipFill>
        <p:spPr>
          <a:xfrm>
            <a:off x="3698875" y="2254249"/>
            <a:ext cx="7800034" cy="3822533"/>
          </a:xfrm>
          <a:prstGeom prst="rect">
            <a:avLst/>
          </a:prstGeom>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57</a:t>
            </a:fld>
            <a:endParaRPr lang="en-US" altLang="zh-CN">
              <a:solidFill>
                <a:srgbClr val="FFFFFF"/>
              </a:solidFill>
            </a:endParaRPr>
          </a:p>
        </p:txBody>
      </p:sp>
      <p:sp>
        <p:nvSpPr>
          <p:cNvPr id="5" name="文本框 4"/>
          <p:cNvSpPr txBox="1"/>
          <p:nvPr/>
        </p:nvSpPr>
        <p:spPr>
          <a:xfrm>
            <a:off x="624417" y="378117"/>
            <a:ext cx="11241314" cy="1431161"/>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smtClean="0">
                <a:solidFill>
                  <a:srgbClr val="FF0000"/>
                </a:solidFill>
                <a:latin typeface="黑体" panose="02010609060101010101" pitchFamily="49" charset="-122"/>
                <a:ea typeface="黑体" panose="02010609060101010101" pitchFamily="49" charset="-122"/>
              </a:rPr>
              <a:t>电路模块之</a:t>
            </a:r>
            <a:r>
              <a:rPr lang="zh-CN" altLang="en-US" dirty="0" smtClean="0">
                <a:solidFill>
                  <a:srgbClr val="FF0000"/>
                </a:solidFill>
                <a:latin typeface="黑体" panose="02010609060101010101" pitchFamily="49" charset="-122"/>
                <a:ea typeface="黑体" panose="02010609060101010101" pitchFamily="49" charset="-122"/>
              </a:rPr>
              <a:t>二  </a:t>
            </a:r>
            <a:r>
              <a:rPr lang="en-US" altLang="zh-CN" dirty="0" smtClean="0">
                <a:solidFill>
                  <a:srgbClr val="FF0000"/>
                </a:solidFill>
              </a:rPr>
              <a:t>FM/2FSK</a:t>
            </a:r>
            <a:r>
              <a:rPr lang="zh-CN" altLang="en-US" dirty="0" smtClean="0">
                <a:solidFill>
                  <a:srgbClr val="FF0000"/>
                </a:solidFill>
              </a:rPr>
              <a:t>解调模块</a:t>
            </a:r>
            <a:endParaRPr lang="en-US" altLang="zh-CN" dirty="0" smtClean="0">
              <a:solidFill>
                <a:srgbClr val="FF0000"/>
              </a:solidFill>
            </a:endParaRPr>
          </a:p>
          <a:p>
            <a:pPr>
              <a:lnSpc>
                <a:spcPct val="150000"/>
              </a:lnSpc>
            </a:pPr>
            <a:r>
              <a:rPr lang="zh-CN" altLang="en-US" sz="1800" dirty="0" smtClean="0"/>
              <a:t>这里讨论</a:t>
            </a:r>
            <a:r>
              <a:rPr lang="zh-CN" altLang="en-US" sz="1800" dirty="0"/>
              <a:t>两</a:t>
            </a:r>
            <a:r>
              <a:rPr lang="zh-CN" altLang="en-US" sz="1800" dirty="0" smtClean="0"/>
              <a:t>个</a:t>
            </a:r>
            <a:r>
              <a:rPr lang="en-US" altLang="zh-CN" sz="1800" dirty="0" smtClean="0"/>
              <a:t>FM</a:t>
            </a:r>
            <a:r>
              <a:rPr lang="zh-CN" altLang="en-US" sz="1800" dirty="0" smtClean="0"/>
              <a:t>解调电路</a:t>
            </a:r>
            <a:r>
              <a:rPr lang="en-US" altLang="zh-CN" sz="1800" dirty="0" smtClean="0"/>
              <a:t>——</a:t>
            </a:r>
            <a:r>
              <a:rPr lang="zh-CN" altLang="en-US" sz="1800" dirty="0" smtClean="0"/>
              <a:t>基于锁相环的解调电路与差分峰值鉴频电路</a:t>
            </a:r>
            <a:endParaRPr lang="en-US" altLang="zh-CN" sz="1800" dirty="0" smtClean="0"/>
          </a:p>
          <a:p>
            <a:pPr>
              <a:lnSpc>
                <a:spcPct val="150000"/>
              </a:lnSpc>
            </a:pPr>
            <a:r>
              <a:rPr lang="zh-CN" altLang="en-US" sz="1800" dirty="0" smtClean="0"/>
              <a:t>一、基于锁相环的</a:t>
            </a:r>
            <a:r>
              <a:rPr lang="en-US" altLang="zh-CN" sz="1800" dirty="0" smtClean="0"/>
              <a:t>FM</a:t>
            </a:r>
            <a:r>
              <a:rPr lang="zh-CN" altLang="en-US" sz="1800" dirty="0" smtClean="0"/>
              <a:t>解调电路</a:t>
            </a:r>
            <a:endParaRPr lang="zh-CN" altLang="en-US" sz="1800" dirty="0"/>
          </a:p>
        </p:txBody>
      </p:sp>
      <p:sp>
        <p:nvSpPr>
          <p:cNvPr id="34" name="椭圆 33"/>
          <p:cNvSpPr/>
          <p:nvPr/>
        </p:nvSpPr>
        <p:spPr>
          <a:xfrm>
            <a:off x="5053757" y="4610839"/>
            <a:ext cx="1299029" cy="1465944"/>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8259646" y="3297724"/>
            <a:ext cx="2923611" cy="1976291"/>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4046032" y="5274015"/>
            <a:ext cx="2015449" cy="369332"/>
          </a:xfrm>
          <a:prstGeom prst="rect">
            <a:avLst/>
          </a:prstGeom>
          <a:noFill/>
        </p:spPr>
        <p:txBody>
          <a:bodyPr wrap="square" rtlCol="0">
            <a:spAutoFit/>
          </a:bodyPr>
          <a:lstStyle/>
          <a:p>
            <a:r>
              <a:rPr lang="zh-CN" altLang="en-US" sz="1800" dirty="0"/>
              <a:t>环路滤波器</a:t>
            </a:r>
          </a:p>
        </p:txBody>
      </p:sp>
      <p:sp>
        <p:nvSpPr>
          <p:cNvPr id="55" name="文本框 54"/>
          <p:cNvSpPr txBox="1"/>
          <p:nvPr/>
        </p:nvSpPr>
        <p:spPr>
          <a:xfrm>
            <a:off x="8997569" y="5343811"/>
            <a:ext cx="2015449" cy="369332"/>
          </a:xfrm>
          <a:prstGeom prst="rect">
            <a:avLst/>
          </a:prstGeom>
          <a:noFill/>
        </p:spPr>
        <p:txBody>
          <a:bodyPr wrap="square" rtlCol="0">
            <a:spAutoFit/>
          </a:bodyPr>
          <a:lstStyle/>
          <a:p>
            <a:r>
              <a:rPr lang="zh-CN" altLang="en-US" sz="1800" dirty="0" smtClean="0"/>
              <a:t>放大与低通滤波</a:t>
            </a:r>
            <a:endParaRPr lang="zh-CN" altLang="en-US" sz="1800" dirty="0"/>
          </a:p>
        </p:txBody>
      </p:sp>
      <p:sp>
        <p:nvSpPr>
          <p:cNvPr id="14" name="椭圆 13"/>
          <p:cNvSpPr/>
          <p:nvPr/>
        </p:nvSpPr>
        <p:spPr>
          <a:xfrm>
            <a:off x="3991429" y="2510971"/>
            <a:ext cx="1807029" cy="201388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960914" y="2225249"/>
            <a:ext cx="2493832" cy="3416320"/>
          </a:xfrm>
          <a:prstGeom prst="rect">
            <a:avLst/>
          </a:prstGeom>
          <a:noFill/>
        </p:spPr>
        <p:txBody>
          <a:bodyPr wrap="square" rtlCol="0">
            <a:spAutoFit/>
          </a:bodyPr>
          <a:lstStyle/>
          <a:p>
            <a:pPr>
              <a:lnSpc>
                <a:spcPct val="150000"/>
              </a:lnSpc>
            </a:pPr>
            <a:r>
              <a:rPr lang="zh-CN" altLang="en-US" sz="1800" dirty="0" smtClean="0"/>
              <a:t>前置放大器：</a:t>
            </a:r>
            <a:endParaRPr lang="en-US" altLang="zh-CN" sz="1800" dirty="0" smtClean="0"/>
          </a:p>
          <a:p>
            <a:pPr>
              <a:lnSpc>
                <a:spcPct val="150000"/>
              </a:lnSpc>
            </a:pPr>
            <a:r>
              <a:rPr lang="zh-CN" altLang="en-US" sz="1800" dirty="0" smtClean="0"/>
              <a:t>锁相环</a:t>
            </a:r>
            <a:r>
              <a:rPr lang="zh-CN" altLang="en-US" sz="1800" dirty="0" smtClean="0"/>
              <a:t>输入信号交流耦合，可以简化电路，前提是输入信号峰峰值大于</a:t>
            </a:r>
            <a:r>
              <a:rPr lang="en-US" altLang="zh-CN" sz="1800" dirty="0" smtClean="0"/>
              <a:t>3V</a:t>
            </a:r>
          </a:p>
          <a:p>
            <a:pPr>
              <a:lnSpc>
                <a:spcPct val="150000"/>
              </a:lnSpc>
            </a:pPr>
            <a:r>
              <a:rPr lang="zh-CN" altLang="en-US" sz="1800" dirty="0" smtClean="0"/>
              <a:t>实际输入信号峰峰值为</a:t>
            </a:r>
            <a:r>
              <a:rPr lang="en-US" altLang="zh-CN" sz="1800" dirty="0" smtClean="0"/>
              <a:t>0.1V</a:t>
            </a:r>
            <a:r>
              <a:rPr lang="zh-CN" altLang="en-US" sz="1800" dirty="0" smtClean="0"/>
              <a:t>，所以需要放大</a:t>
            </a:r>
            <a:r>
              <a:rPr lang="en-US" altLang="zh-CN" sz="1800" dirty="0" smtClean="0"/>
              <a:t>30</a:t>
            </a:r>
            <a:r>
              <a:rPr lang="zh-CN" altLang="en-US" sz="1800" dirty="0" smtClean="0"/>
              <a:t>倍</a:t>
            </a:r>
            <a:endParaRPr lang="zh-CN" altLang="en-US" sz="1800" dirty="0"/>
          </a:p>
        </p:txBody>
      </p:sp>
      <p:sp>
        <p:nvSpPr>
          <p:cNvPr id="17" name="椭圆 16"/>
          <p:cNvSpPr/>
          <p:nvPr/>
        </p:nvSpPr>
        <p:spPr>
          <a:xfrm>
            <a:off x="7072087" y="4102057"/>
            <a:ext cx="856343" cy="333829"/>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8404822" y="2581788"/>
            <a:ext cx="2740861" cy="369332"/>
          </a:xfrm>
          <a:prstGeom prst="rect">
            <a:avLst/>
          </a:prstGeom>
          <a:noFill/>
        </p:spPr>
        <p:txBody>
          <a:bodyPr wrap="square" rtlCol="0">
            <a:spAutoFit/>
          </a:bodyPr>
          <a:lstStyle/>
          <a:p>
            <a:r>
              <a:rPr lang="zh-CN" altLang="en-US" sz="1800" dirty="0" smtClean="0"/>
              <a:t>直接从解调端输出</a:t>
            </a:r>
            <a:endParaRPr lang="zh-CN" altLang="en-US" sz="1800" dirty="0"/>
          </a:p>
        </p:txBody>
      </p:sp>
      <p:cxnSp>
        <p:nvCxnSpPr>
          <p:cNvPr id="9" name="直接箭头连接符 8"/>
          <p:cNvCxnSpPr/>
          <p:nvPr/>
        </p:nvCxnSpPr>
        <p:spPr>
          <a:xfrm flipH="1">
            <a:off x="7500258" y="3042515"/>
            <a:ext cx="904565" cy="11125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49148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58</a:t>
            </a:fld>
            <a:endParaRPr lang="en-US" altLang="zh-CN">
              <a:solidFill>
                <a:srgbClr val="FFFFFF"/>
              </a:solidFill>
            </a:endParaRPr>
          </a:p>
        </p:txBody>
      </p:sp>
      <p:sp>
        <p:nvSpPr>
          <p:cNvPr id="5" name="文本框 4"/>
          <p:cNvSpPr txBox="1"/>
          <p:nvPr/>
        </p:nvSpPr>
        <p:spPr>
          <a:xfrm>
            <a:off x="384628" y="442686"/>
            <a:ext cx="11321143" cy="5327612"/>
          </a:xfrm>
          <a:prstGeom prst="rect">
            <a:avLst/>
          </a:prstGeom>
          <a:noFill/>
        </p:spPr>
        <p:txBody>
          <a:bodyPr wrap="square" rtlCol="0">
            <a:spAutoFit/>
          </a:bodyPr>
          <a:lstStyle/>
          <a:p>
            <a:pPr>
              <a:lnSpc>
                <a:spcPct val="140000"/>
              </a:lnSpc>
            </a:pPr>
            <a:r>
              <a:rPr lang="zh-CN" altLang="en-US" sz="1800" dirty="0" smtClean="0">
                <a:latin typeface="+mj-ea"/>
                <a:ea typeface="+mj-ea"/>
              </a:rPr>
              <a:t>设计过程</a:t>
            </a:r>
            <a:endParaRPr lang="en-US" altLang="zh-CN" sz="1800" dirty="0" smtClean="0">
              <a:latin typeface="+mj-ea"/>
              <a:ea typeface="+mj-ea"/>
            </a:endParaRPr>
          </a:p>
          <a:p>
            <a:pPr marL="742950" lvl="1" indent="-285750">
              <a:lnSpc>
                <a:spcPct val="140000"/>
              </a:lnSpc>
              <a:buFont typeface="Arial" panose="020B0604020202020204" pitchFamily="34" charset="0"/>
              <a:buChar char="•"/>
            </a:pPr>
            <a:r>
              <a:rPr lang="zh-CN" altLang="en-US" sz="1800" dirty="0" smtClean="0"/>
              <a:t>选用锁相环</a:t>
            </a:r>
            <a:r>
              <a:rPr lang="en-US" altLang="zh-CN" sz="1800" dirty="0" smtClean="0"/>
              <a:t>74HC4046</a:t>
            </a:r>
          </a:p>
          <a:p>
            <a:pPr lvl="1">
              <a:lnSpc>
                <a:spcPct val="140000"/>
              </a:lnSpc>
            </a:pPr>
            <a:endParaRPr lang="en-US" altLang="zh-CN" sz="900" dirty="0" smtClean="0"/>
          </a:p>
          <a:p>
            <a:pPr marL="285750" indent="-285750">
              <a:lnSpc>
                <a:spcPct val="140000"/>
              </a:lnSpc>
              <a:buFont typeface="Arial" panose="020B0604020202020204" pitchFamily="34" charset="0"/>
              <a:buChar char="•"/>
            </a:pPr>
            <a:r>
              <a:rPr lang="zh-CN" altLang="en-US" sz="1800" dirty="0" smtClean="0"/>
              <a:t>锁相环的</a:t>
            </a:r>
            <a:r>
              <a:rPr lang="en-US" altLang="zh-CN" sz="1800" dirty="0" smtClean="0"/>
              <a:t>VCO</a:t>
            </a:r>
          </a:p>
          <a:p>
            <a:pPr marL="742950" lvl="1" indent="-285750">
              <a:lnSpc>
                <a:spcPct val="140000"/>
              </a:lnSpc>
              <a:buFont typeface="Arial" panose="020B0604020202020204" pitchFamily="34" charset="0"/>
              <a:buChar char="•"/>
            </a:pPr>
            <a:r>
              <a:rPr lang="zh-CN" altLang="en-US" sz="1800" dirty="0"/>
              <a:t>载波频率为</a:t>
            </a:r>
            <a:r>
              <a:rPr lang="en-US" altLang="zh-CN" sz="1800" dirty="0"/>
              <a:t>2MHz</a:t>
            </a:r>
            <a:r>
              <a:rPr lang="zh-CN" altLang="en-US" sz="1800" dirty="0"/>
              <a:t>，要求</a:t>
            </a:r>
            <a:r>
              <a:rPr lang="en-US" altLang="zh-CN" sz="1800" dirty="0" smtClean="0"/>
              <a:t>VCO</a:t>
            </a:r>
            <a:r>
              <a:rPr lang="zh-CN" altLang="en-US" sz="1800" dirty="0" smtClean="0"/>
              <a:t>在控制电压为</a:t>
            </a:r>
            <a:r>
              <a:rPr lang="en-US" altLang="zh-CN" sz="1800" dirty="0" smtClean="0"/>
              <a:t>VDD/2</a:t>
            </a:r>
            <a:r>
              <a:rPr lang="zh-CN" altLang="en-US" sz="1800" dirty="0" smtClean="0"/>
              <a:t>时的振荡频率等于载波频率，即当</a:t>
            </a:r>
            <a:r>
              <a:rPr lang="zh-CN" altLang="en-US" sz="1800" dirty="0"/>
              <a:t>控制电压</a:t>
            </a:r>
            <a:r>
              <a:rPr lang="en-US" altLang="zh-CN" sz="1800" i="1" dirty="0" smtClean="0"/>
              <a:t>V</a:t>
            </a:r>
            <a:r>
              <a:rPr lang="en-US" altLang="zh-CN" sz="1800" i="1" baseline="-25000" dirty="0" smtClean="0"/>
              <a:t>C</a:t>
            </a:r>
            <a:r>
              <a:rPr lang="en-US" altLang="zh-CN" sz="1800" dirty="0" smtClean="0"/>
              <a:t>=2.5V </a:t>
            </a:r>
            <a:r>
              <a:rPr lang="zh-CN" altLang="en-US" sz="1800" dirty="0" smtClean="0"/>
              <a:t>时 </a:t>
            </a:r>
            <a:r>
              <a:rPr lang="en-US" altLang="zh-CN" sz="1800" i="1" dirty="0" smtClean="0"/>
              <a:t>f</a:t>
            </a:r>
            <a:r>
              <a:rPr lang="en-US" altLang="zh-CN" sz="1800" i="1" baseline="-25000" dirty="0" smtClean="0"/>
              <a:t>o</a:t>
            </a:r>
            <a:r>
              <a:rPr lang="en-US" altLang="zh-CN" sz="1800" dirty="0" smtClean="0"/>
              <a:t>=2MHz</a:t>
            </a:r>
          </a:p>
          <a:p>
            <a:pPr marL="742950" lvl="1" indent="-285750">
              <a:lnSpc>
                <a:spcPct val="140000"/>
              </a:lnSpc>
              <a:buFont typeface="Arial" panose="020B0604020202020204" pitchFamily="34" charset="0"/>
              <a:buChar char="•"/>
            </a:pPr>
            <a:r>
              <a:rPr lang="zh-CN" altLang="en-US" sz="1800" dirty="0" smtClean="0"/>
              <a:t>设计</a:t>
            </a:r>
            <a:r>
              <a:rPr lang="en-US" altLang="zh-CN" sz="1800" dirty="0" smtClean="0"/>
              <a:t>VCO</a:t>
            </a:r>
            <a:r>
              <a:rPr lang="zh-CN" altLang="en-US" sz="1800" dirty="0" smtClean="0"/>
              <a:t>的最大频率范围需要知道输入信号的频率偏移范围。从题目可知：</a:t>
            </a:r>
            <a:endParaRPr lang="en-US" altLang="zh-CN" sz="1800" dirty="0" smtClean="0"/>
          </a:p>
          <a:p>
            <a:pPr lvl="2">
              <a:lnSpc>
                <a:spcPct val="140000"/>
              </a:lnSpc>
            </a:pPr>
            <a:r>
              <a:rPr lang="en-US" altLang="zh-CN" sz="1800" dirty="0" smtClean="0"/>
              <a:t>FM</a:t>
            </a:r>
            <a:r>
              <a:rPr lang="zh-CN" altLang="en-US" sz="1800" dirty="0"/>
              <a:t>：调制频率</a:t>
            </a:r>
            <a:r>
              <a:rPr lang="en-US" altLang="zh-CN" sz="1800" i="1" dirty="0"/>
              <a:t>F</a:t>
            </a:r>
            <a:r>
              <a:rPr lang="en-US" altLang="zh-CN" sz="1800" dirty="0"/>
              <a:t> =1kHz~5kHz</a:t>
            </a:r>
            <a:r>
              <a:rPr lang="zh-CN" altLang="en-US" sz="1800" dirty="0"/>
              <a:t>，调频指数</a:t>
            </a:r>
            <a:r>
              <a:rPr lang="en-US" altLang="zh-CN" sz="1800" i="1" dirty="0"/>
              <a:t>m</a:t>
            </a:r>
            <a:r>
              <a:rPr lang="en-US" altLang="zh-CN" sz="1800" i="1" baseline="-25000" dirty="0"/>
              <a:t>f</a:t>
            </a:r>
            <a:r>
              <a:rPr lang="en-US" altLang="zh-CN" sz="1800" dirty="0"/>
              <a:t>=1~5</a:t>
            </a:r>
            <a:r>
              <a:rPr lang="zh-CN" altLang="en-US" sz="1800" dirty="0"/>
              <a:t>，所以最大频偏</a:t>
            </a:r>
            <a:r>
              <a:rPr lang="el-GR" altLang="zh-CN" sz="1800" dirty="0"/>
              <a:t>Δ</a:t>
            </a:r>
            <a:r>
              <a:rPr lang="en-US" altLang="zh-CN" sz="1800" dirty="0" err="1"/>
              <a:t>fm</a:t>
            </a:r>
            <a:r>
              <a:rPr lang="en-US" altLang="zh-CN" sz="1800" dirty="0"/>
              <a:t>=</a:t>
            </a:r>
            <a:r>
              <a:rPr lang="en-US" altLang="zh-CN" sz="1800" i="1" dirty="0"/>
              <a:t>m</a:t>
            </a:r>
            <a:r>
              <a:rPr lang="en-US" altLang="zh-CN" sz="1800" i="1" baseline="-25000" dirty="0"/>
              <a:t>f</a:t>
            </a:r>
            <a:r>
              <a:rPr lang="en-US" altLang="zh-CN" sz="1800" dirty="0"/>
              <a:t>*F=1kHz~25kHz</a:t>
            </a:r>
          </a:p>
          <a:p>
            <a:pPr lvl="2">
              <a:lnSpc>
                <a:spcPct val="140000"/>
              </a:lnSpc>
            </a:pPr>
            <a:r>
              <a:rPr lang="en-US" altLang="zh-CN" sz="1800" dirty="0"/>
              <a:t>2FSK</a:t>
            </a:r>
            <a:r>
              <a:rPr lang="zh-CN" altLang="en-US" sz="1800" dirty="0"/>
              <a:t>，码率</a:t>
            </a:r>
            <a:r>
              <a:rPr lang="en-US" altLang="zh-CN" sz="1800" i="1" kern="100" dirty="0" err="1">
                <a:latin typeface="Arial" panose="020B0604020202020204" pitchFamily="34" charset="0"/>
              </a:rPr>
              <a:t>R</a:t>
            </a:r>
            <a:r>
              <a:rPr lang="en-US" altLang="zh-CN" sz="1800" i="1" kern="100" baseline="-25000" dirty="0" err="1">
                <a:latin typeface="Arial" panose="020B0604020202020204" pitchFamily="34" charset="0"/>
              </a:rPr>
              <a:t>c</a:t>
            </a:r>
            <a:r>
              <a:rPr lang="en-US" altLang="zh-CN" sz="1800" kern="100" dirty="0">
                <a:latin typeface="Arial" panose="020B0604020202020204" pitchFamily="34" charset="0"/>
              </a:rPr>
              <a:t>=6kbps~10kbps</a:t>
            </a:r>
            <a:r>
              <a:rPr lang="zh-CN" altLang="en-US" sz="1800" kern="100" dirty="0">
                <a:latin typeface="Arial" panose="020B0604020202020204" pitchFamily="34" charset="0"/>
              </a:rPr>
              <a:t>，</a:t>
            </a:r>
            <a:r>
              <a:rPr lang="zh-CN" altLang="zh-CN" sz="1800" dirty="0"/>
              <a:t>移频键控系数</a:t>
            </a:r>
            <a:r>
              <a:rPr lang="en-US" altLang="zh-CN" sz="1800" i="1" dirty="0"/>
              <a:t>h</a:t>
            </a:r>
            <a:r>
              <a:rPr lang="en-US" altLang="zh-CN" sz="1800" dirty="0"/>
              <a:t> =2~5</a:t>
            </a:r>
            <a:r>
              <a:rPr lang="zh-CN" altLang="en-US" sz="1800" dirty="0"/>
              <a:t>，所以</a:t>
            </a:r>
            <a:r>
              <a:rPr lang="en-US" altLang="zh-CN" sz="1800" dirty="0"/>
              <a:t>| </a:t>
            </a:r>
            <a:r>
              <a:rPr lang="en-US" altLang="zh-CN" sz="1800" i="1" dirty="0"/>
              <a:t>f</a:t>
            </a:r>
            <a:r>
              <a:rPr lang="en-US" altLang="zh-CN" sz="1800" baseline="-25000" dirty="0"/>
              <a:t>c1</a:t>
            </a:r>
            <a:r>
              <a:rPr lang="zh-CN" altLang="zh-CN" sz="1800" dirty="0"/>
              <a:t>−</a:t>
            </a:r>
            <a:r>
              <a:rPr lang="en-US" altLang="zh-CN" sz="1800" i="1" dirty="0"/>
              <a:t>f</a:t>
            </a:r>
            <a:r>
              <a:rPr lang="en-US" altLang="zh-CN" sz="1800" baseline="-25000" dirty="0"/>
              <a:t>c0</a:t>
            </a:r>
            <a:r>
              <a:rPr lang="en-US" altLang="zh-CN" sz="1800" dirty="0"/>
              <a:t> |=</a:t>
            </a:r>
            <a:r>
              <a:rPr lang="en-US" altLang="zh-CN" sz="1800" i="1" dirty="0"/>
              <a:t> h</a:t>
            </a:r>
            <a:r>
              <a:rPr lang="zh-CN" altLang="en-US" sz="1800" dirty="0"/>
              <a:t>*</a:t>
            </a:r>
            <a:r>
              <a:rPr lang="en-US" altLang="zh-CN" sz="1800" i="1" dirty="0" err="1"/>
              <a:t>R</a:t>
            </a:r>
            <a:r>
              <a:rPr lang="en-US" altLang="zh-CN" sz="1800" i="1" baseline="-25000" dirty="0" err="1"/>
              <a:t>c</a:t>
            </a:r>
            <a:r>
              <a:rPr lang="en-US" altLang="zh-CN" sz="1800" dirty="0"/>
              <a:t> =12kHz~50kHz</a:t>
            </a:r>
            <a:r>
              <a:rPr lang="zh-CN" altLang="en-US" sz="1800" dirty="0"/>
              <a:t>，设两个载频与中心频率对称，则频率偏移</a:t>
            </a:r>
            <a:r>
              <a:rPr lang="el-GR" altLang="zh-CN" sz="1800" dirty="0"/>
              <a:t>Δ</a:t>
            </a:r>
            <a:r>
              <a:rPr lang="en-US" altLang="zh-CN" sz="1800" dirty="0"/>
              <a:t>f=6kHz~25kHz </a:t>
            </a:r>
            <a:endParaRPr lang="zh-CN" altLang="en-US" sz="1800" dirty="0"/>
          </a:p>
          <a:p>
            <a:pPr lvl="2">
              <a:lnSpc>
                <a:spcPct val="140000"/>
              </a:lnSpc>
            </a:pPr>
            <a:r>
              <a:rPr lang="zh-CN" altLang="en-US" sz="1800" dirty="0" smtClean="0"/>
              <a:t>所以</a:t>
            </a:r>
            <a:r>
              <a:rPr lang="en-US" altLang="zh-CN" sz="1800" dirty="0" smtClean="0"/>
              <a:t>VCO</a:t>
            </a:r>
            <a:r>
              <a:rPr lang="zh-CN" altLang="en-US" sz="1800" dirty="0" smtClean="0"/>
              <a:t>的频率范围不能小于</a:t>
            </a:r>
            <a:r>
              <a:rPr lang="en-US" altLang="zh-CN" sz="1800" i="1" dirty="0" smtClean="0"/>
              <a:t>f</a:t>
            </a:r>
            <a:r>
              <a:rPr lang="en-US" altLang="zh-CN" sz="1800" i="1" baseline="-25000" dirty="0" smtClean="0"/>
              <a:t>o</a:t>
            </a:r>
            <a:r>
              <a:rPr lang="en-US" altLang="zh-CN" sz="1800" dirty="0" smtClean="0">
                <a:latin typeface="Arial" panose="020B0604020202020204" pitchFamily="34" charset="0"/>
                <a:cs typeface="Arial" panose="020B0604020202020204" pitchFamily="34" charset="0"/>
              </a:rPr>
              <a:t>±</a:t>
            </a:r>
            <a:r>
              <a:rPr lang="en-US" altLang="zh-CN" sz="1800" dirty="0" smtClean="0"/>
              <a:t>25kHz</a:t>
            </a:r>
          </a:p>
          <a:p>
            <a:pPr marL="742950" lvl="1" indent="-285750">
              <a:lnSpc>
                <a:spcPct val="140000"/>
              </a:lnSpc>
              <a:buFont typeface="Arial" panose="020B0604020202020204" pitchFamily="34" charset="0"/>
              <a:buChar char="•"/>
            </a:pPr>
            <a:r>
              <a:rPr lang="zh-CN" altLang="en-US" sz="1800" dirty="0" smtClean="0"/>
              <a:t>在锁相环解调</a:t>
            </a:r>
            <a:r>
              <a:rPr lang="en-US" altLang="zh-CN" sz="1800" dirty="0" smtClean="0"/>
              <a:t>FM</a:t>
            </a:r>
            <a:r>
              <a:rPr lang="zh-CN" altLang="en-US" sz="1800" dirty="0" smtClean="0"/>
              <a:t>的电路中，解调灵敏度与</a:t>
            </a:r>
            <a:r>
              <a:rPr lang="en-US" altLang="zh-CN" sz="1800" dirty="0" smtClean="0"/>
              <a:t>VCO</a:t>
            </a:r>
            <a:r>
              <a:rPr lang="zh-CN" altLang="en-US" sz="1800" dirty="0" smtClean="0"/>
              <a:t>的压控增益成反比，压控增益小则解调输出幅度大。但是过低的压控灵敏度会带来许多其他问题（后面详述），所以要选取合适的压控灵敏度</a:t>
            </a:r>
            <a:endParaRPr lang="en-US" altLang="zh-CN" sz="1800" dirty="0" smtClean="0"/>
          </a:p>
          <a:p>
            <a:pPr lvl="2">
              <a:lnSpc>
                <a:spcPct val="140000"/>
              </a:lnSpc>
            </a:pPr>
            <a:r>
              <a:rPr lang="zh-CN" altLang="en-US" sz="1800" dirty="0" smtClean="0"/>
              <a:t>例如在本题中可指定</a:t>
            </a:r>
            <a:r>
              <a:rPr lang="en-US" altLang="zh-CN" sz="1800" dirty="0" smtClean="0"/>
              <a:t>fo=1.8MHz~2.2MHz@Vc=1.5V~3.5V</a:t>
            </a:r>
            <a:r>
              <a:rPr lang="zh-CN" altLang="en-US" sz="1800" dirty="0"/>
              <a:t>，即压控灵敏度</a:t>
            </a:r>
            <a:r>
              <a:rPr lang="zh-CN" altLang="en-US" sz="1800" dirty="0" smtClean="0"/>
              <a:t>为</a:t>
            </a:r>
            <a:r>
              <a:rPr lang="en-US" altLang="zh-CN" sz="1800" dirty="0" smtClean="0"/>
              <a:t>200kHz/V </a:t>
            </a:r>
          </a:p>
        </p:txBody>
      </p:sp>
    </p:spTree>
    <p:extLst>
      <p:ext uri="{BB962C8B-B14F-4D97-AF65-F5344CB8AC3E}">
        <p14:creationId xmlns:p14="http://schemas.microsoft.com/office/powerpoint/2010/main" val="13861010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59</a:t>
            </a:fld>
            <a:endParaRPr lang="en-US" altLang="zh-CN">
              <a:solidFill>
                <a:srgbClr val="FFFFFF"/>
              </a:solidFill>
            </a:endParaRPr>
          </a:p>
        </p:txBody>
      </p:sp>
      <p:sp>
        <p:nvSpPr>
          <p:cNvPr id="5" name="矩形 4"/>
          <p:cNvSpPr/>
          <p:nvPr/>
        </p:nvSpPr>
        <p:spPr>
          <a:xfrm>
            <a:off x="435429" y="471745"/>
            <a:ext cx="11277600" cy="5493812"/>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dirty="0" smtClean="0"/>
              <a:t>环路</a:t>
            </a:r>
            <a:r>
              <a:rPr lang="zh-CN" altLang="en-US" sz="1800" dirty="0"/>
              <a:t>滤波器</a:t>
            </a:r>
            <a:endParaRPr lang="en-US" altLang="zh-CN" sz="1800" dirty="0"/>
          </a:p>
          <a:p>
            <a:pPr marL="742950" lvl="1" indent="-285750">
              <a:lnSpc>
                <a:spcPct val="150000"/>
              </a:lnSpc>
              <a:buFont typeface="Arial" panose="020B0604020202020204" pitchFamily="34" charset="0"/>
              <a:buChar char="•"/>
            </a:pPr>
            <a:r>
              <a:rPr lang="zh-CN" altLang="en-US" sz="1800" dirty="0"/>
              <a:t>根据</a:t>
            </a:r>
            <a:r>
              <a:rPr lang="en-US" altLang="zh-CN" sz="1800" dirty="0"/>
              <a:t>FM</a:t>
            </a:r>
            <a:r>
              <a:rPr lang="zh-CN" altLang="en-US" sz="1800" dirty="0"/>
              <a:t>解调原理，这个锁相环是一个调制跟踪型锁相环，要求</a:t>
            </a:r>
            <a:r>
              <a:rPr lang="zh-CN" altLang="en-US" sz="1800" dirty="0" smtClean="0"/>
              <a:t>自然频率大于</a:t>
            </a:r>
            <a:r>
              <a:rPr lang="zh-CN" altLang="en-US" sz="1800" dirty="0"/>
              <a:t>最高调制频率。据此可取自然频率</a:t>
            </a:r>
            <a:r>
              <a:rPr lang="zh-CN" altLang="en-US" sz="1800" dirty="0" smtClean="0"/>
              <a:t>等于</a:t>
            </a:r>
            <a:r>
              <a:rPr lang="en-US" altLang="zh-CN" sz="1800" dirty="0" smtClean="0"/>
              <a:t>50kHz</a:t>
            </a:r>
            <a:r>
              <a:rPr lang="zh-CN" altLang="en-US" sz="1800" dirty="0" smtClean="0"/>
              <a:t>，阻尼因子等于</a:t>
            </a:r>
            <a:r>
              <a:rPr lang="en-US" altLang="zh-CN" sz="1800" dirty="0" smtClean="0"/>
              <a:t>0.7</a:t>
            </a:r>
            <a:endParaRPr lang="en-US" altLang="zh-CN" sz="1800" dirty="0"/>
          </a:p>
          <a:p>
            <a:pPr marL="742950" lvl="1" indent="-285750">
              <a:lnSpc>
                <a:spcPct val="150000"/>
              </a:lnSpc>
              <a:buFont typeface="Arial" panose="020B0604020202020204" pitchFamily="34" charset="0"/>
              <a:buChar char="•"/>
            </a:pPr>
            <a:r>
              <a:rPr lang="zh-CN" altLang="en-US" sz="1800" dirty="0"/>
              <a:t>用</a:t>
            </a:r>
            <a:r>
              <a:rPr lang="en-US" altLang="zh-CN" sz="1800" dirty="0"/>
              <a:t>《</a:t>
            </a:r>
            <a:r>
              <a:rPr lang="zh-CN" altLang="en-US" sz="1800" dirty="0"/>
              <a:t>锁相环参数计算</a:t>
            </a:r>
            <a:r>
              <a:rPr lang="en-US" altLang="zh-CN" sz="1800" dirty="0"/>
              <a:t>》</a:t>
            </a:r>
            <a:r>
              <a:rPr lang="zh-CN" altLang="en-US" sz="1800" dirty="0"/>
              <a:t>软件计算滤波器</a:t>
            </a:r>
            <a:r>
              <a:rPr lang="zh-CN" altLang="en-US" sz="1800" dirty="0" smtClean="0"/>
              <a:t>参数，采用无源超前滞后型滤波器，得到</a:t>
            </a:r>
            <a:r>
              <a:rPr lang="en-US" altLang="zh-CN" sz="1800" dirty="0" smtClean="0"/>
              <a:t>R1=10k</a:t>
            </a:r>
            <a:r>
              <a:rPr lang="zh-CN" altLang="en-US" sz="1800" dirty="0" smtClean="0"/>
              <a:t>，</a:t>
            </a:r>
            <a:r>
              <a:rPr lang="en-US" altLang="zh-CN" sz="1800" dirty="0" smtClean="0"/>
              <a:t>R2=2.6k</a:t>
            </a:r>
            <a:r>
              <a:rPr lang="zh-CN" altLang="en-US" sz="1800" dirty="0" smtClean="0"/>
              <a:t>，</a:t>
            </a:r>
            <a:r>
              <a:rPr lang="en-US" altLang="zh-CN" sz="1800" dirty="0" smtClean="0"/>
              <a:t>C=0.1nF</a:t>
            </a:r>
          </a:p>
          <a:p>
            <a:pPr marL="742950" lvl="1" indent="-285750">
              <a:lnSpc>
                <a:spcPct val="150000"/>
              </a:lnSpc>
              <a:buFont typeface="Arial" panose="020B0604020202020204" pitchFamily="34" charset="0"/>
              <a:buChar char="•"/>
            </a:pPr>
            <a:endParaRPr lang="en-US" altLang="zh-CN" sz="1800" dirty="0"/>
          </a:p>
          <a:p>
            <a:pPr marL="285750" indent="-285750">
              <a:lnSpc>
                <a:spcPct val="150000"/>
              </a:lnSpc>
              <a:buFont typeface="Arial" panose="020B0604020202020204" pitchFamily="34" charset="0"/>
              <a:buChar char="•"/>
            </a:pPr>
            <a:r>
              <a:rPr lang="zh-CN" altLang="en-US" sz="1800" dirty="0" smtClean="0"/>
              <a:t>放大</a:t>
            </a:r>
            <a:r>
              <a:rPr lang="zh-CN" altLang="en-US" sz="1800" dirty="0"/>
              <a:t>与滤波部分</a:t>
            </a:r>
            <a:endParaRPr lang="en-US" altLang="zh-CN" sz="1800" dirty="0"/>
          </a:p>
          <a:p>
            <a:pPr marL="742950" lvl="1" indent="-285750">
              <a:lnSpc>
                <a:spcPct val="150000"/>
              </a:lnSpc>
              <a:buFont typeface="Arial" panose="020B0604020202020204" pitchFamily="34" charset="0"/>
              <a:buChar char="•"/>
            </a:pPr>
            <a:r>
              <a:rPr lang="en-US" altLang="zh-CN" sz="1800" dirty="0"/>
              <a:t>U2</a:t>
            </a:r>
            <a:r>
              <a:rPr lang="zh-CN" altLang="zh-CN" sz="1800" dirty="0"/>
              <a:t>是一</a:t>
            </a:r>
            <a:r>
              <a:rPr lang="zh-CN" altLang="zh-CN" sz="1800" dirty="0" smtClean="0"/>
              <a:t>个</a:t>
            </a:r>
            <a:r>
              <a:rPr lang="en-US" altLang="zh-CN" sz="1800" dirty="0" smtClean="0"/>
              <a:t>2</a:t>
            </a:r>
            <a:r>
              <a:rPr lang="zh-CN" altLang="en-US" sz="1800" dirty="0"/>
              <a:t>阶</a:t>
            </a:r>
            <a:r>
              <a:rPr lang="zh-CN" altLang="zh-CN" sz="1800" dirty="0"/>
              <a:t>低通滤波器，用于滤除残余的</a:t>
            </a:r>
            <a:r>
              <a:rPr lang="zh-CN" altLang="zh-CN" sz="1800" dirty="0" smtClean="0"/>
              <a:t>高频</a:t>
            </a:r>
            <a:r>
              <a:rPr lang="zh-CN" altLang="en-US" sz="1800" dirty="0" smtClean="0"/>
              <a:t>载波分量与噪声</a:t>
            </a:r>
            <a:endParaRPr lang="en-US" altLang="zh-CN" sz="1800" dirty="0"/>
          </a:p>
          <a:p>
            <a:pPr marL="742950" lvl="1" indent="-285750">
              <a:lnSpc>
                <a:spcPct val="150000"/>
              </a:lnSpc>
              <a:buFont typeface="Arial" panose="020B0604020202020204" pitchFamily="34" charset="0"/>
              <a:buChar char="•"/>
            </a:pPr>
            <a:r>
              <a:rPr lang="en-US" altLang="zh-CN" sz="1800" dirty="0" smtClean="0"/>
              <a:t>U2</a:t>
            </a:r>
            <a:r>
              <a:rPr lang="zh-CN" altLang="en-US" sz="1800" dirty="0" smtClean="0"/>
              <a:t>的增益按照</a:t>
            </a:r>
            <a:r>
              <a:rPr lang="en-US" altLang="zh-CN" sz="1800" dirty="0"/>
              <a:t>VCO</a:t>
            </a:r>
            <a:r>
              <a:rPr lang="zh-CN" altLang="en-US" sz="1800" dirty="0"/>
              <a:t>的压控增益估计</a:t>
            </a:r>
            <a:endParaRPr lang="en-US" altLang="zh-CN" sz="1800" dirty="0"/>
          </a:p>
          <a:p>
            <a:pPr lvl="2">
              <a:lnSpc>
                <a:spcPct val="150000"/>
              </a:lnSpc>
            </a:pPr>
            <a:r>
              <a:rPr lang="zh-CN" altLang="en-US" sz="1800" dirty="0" smtClean="0"/>
              <a:t>在</a:t>
            </a:r>
            <a:r>
              <a:rPr lang="zh-CN" altLang="en-US" sz="1800" dirty="0"/>
              <a:t>本题</a:t>
            </a:r>
            <a:r>
              <a:rPr lang="zh-CN" altLang="en-US" sz="1800" dirty="0" smtClean="0"/>
              <a:t>中确定</a:t>
            </a:r>
            <a:r>
              <a:rPr lang="zh-CN" altLang="en-US" sz="1800" dirty="0"/>
              <a:t>压控灵敏度为</a:t>
            </a:r>
            <a:r>
              <a:rPr lang="en-US" altLang="zh-CN" sz="1800" dirty="0"/>
              <a:t>200kHz/V</a:t>
            </a:r>
            <a:r>
              <a:rPr lang="zh-CN" altLang="en-US" sz="1800" dirty="0"/>
              <a:t>，则解调增益</a:t>
            </a:r>
            <a:r>
              <a:rPr lang="zh-CN" altLang="en-US" sz="1800" dirty="0" smtClean="0"/>
              <a:t>为其倒数</a:t>
            </a:r>
            <a:r>
              <a:rPr lang="en-US" altLang="zh-CN" sz="1800" dirty="0" smtClean="0"/>
              <a:t>5×10</a:t>
            </a:r>
            <a:r>
              <a:rPr lang="en-US" altLang="zh-CN" sz="1800" baseline="30000" dirty="0" smtClean="0"/>
              <a:t>-6</a:t>
            </a:r>
            <a:r>
              <a:rPr lang="en-US" altLang="zh-CN" sz="1800" dirty="0" smtClean="0"/>
              <a:t>V/Hz</a:t>
            </a:r>
            <a:r>
              <a:rPr lang="zh-CN" altLang="en-US" sz="1800" dirty="0" smtClean="0"/>
              <a:t>，即</a:t>
            </a:r>
            <a:r>
              <a:rPr lang="en-US" altLang="zh-CN" sz="1800" dirty="0"/>
              <a:t>5</a:t>
            </a:r>
            <a:r>
              <a:rPr lang="el-GR" altLang="zh-CN" sz="1800" dirty="0"/>
              <a:t>μ</a:t>
            </a:r>
            <a:r>
              <a:rPr lang="en-US" altLang="zh-CN" sz="1800" dirty="0"/>
              <a:t>V/Hz</a:t>
            </a:r>
          </a:p>
          <a:p>
            <a:pPr lvl="2">
              <a:lnSpc>
                <a:spcPct val="150000"/>
              </a:lnSpc>
            </a:pPr>
            <a:r>
              <a:rPr lang="zh-CN" altLang="en-US" sz="1800" dirty="0"/>
              <a:t>已知输入信号的最小频偏为</a:t>
            </a:r>
            <a:r>
              <a:rPr lang="en-US" altLang="zh-CN" sz="1800" dirty="0"/>
              <a:t>1kHz</a:t>
            </a:r>
            <a:r>
              <a:rPr lang="zh-CN" altLang="en-US" sz="1800" dirty="0"/>
              <a:t>，最大频偏为</a:t>
            </a:r>
            <a:r>
              <a:rPr lang="en-US" altLang="zh-CN" sz="1800" dirty="0"/>
              <a:t>25kHz</a:t>
            </a:r>
            <a:r>
              <a:rPr lang="zh-CN" altLang="en-US" sz="1800" dirty="0"/>
              <a:t>，所以环路滤波器的最小输出为</a:t>
            </a:r>
            <a:r>
              <a:rPr lang="en-US" altLang="zh-CN" sz="1800" dirty="0"/>
              <a:t>±5mV</a:t>
            </a:r>
            <a:r>
              <a:rPr lang="zh-CN" altLang="en-US" sz="1800" dirty="0"/>
              <a:t>，最大输出为</a:t>
            </a:r>
            <a:r>
              <a:rPr lang="en-US" altLang="zh-CN" sz="1800" dirty="0"/>
              <a:t>±</a:t>
            </a:r>
            <a:r>
              <a:rPr lang="en-US" altLang="zh-CN" sz="1800" dirty="0" smtClean="0"/>
              <a:t>125mV</a:t>
            </a:r>
            <a:r>
              <a:rPr lang="zh-CN" altLang="en-US" sz="1800" dirty="0" smtClean="0"/>
              <a:t>。</a:t>
            </a:r>
            <a:r>
              <a:rPr lang="zh-CN" altLang="en-US" sz="1800" dirty="0"/>
              <a:t>为了与后续的</a:t>
            </a:r>
            <a:r>
              <a:rPr lang="en-US" altLang="zh-CN" sz="1800" dirty="0" smtClean="0"/>
              <a:t>ADC</a:t>
            </a:r>
            <a:r>
              <a:rPr lang="zh-CN" altLang="en-US" sz="1800" dirty="0" smtClean="0"/>
              <a:t>匹配，应该在滤波的</a:t>
            </a:r>
            <a:r>
              <a:rPr lang="zh-CN" altLang="en-US" sz="1800" dirty="0" smtClean="0"/>
              <a:t>同时加以放大</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按照图中参数，此滤波器的</a:t>
            </a:r>
            <a:r>
              <a:rPr lang="zh-CN" altLang="zh-CN" sz="1800" dirty="0" smtClean="0"/>
              <a:t>截止频率</a:t>
            </a:r>
            <a:r>
              <a:rPr lang="zh-CN" altLang="zh-CN" sz="1800" dirty="0"/>
              <a:t>为</a:t>
            </a:r>
            <a:r>
              <a:rPr lang="en-US" altLang="zh-CN" sz="1800" dirty="0" smtClean="0"/>
              <a:t>20kHz</a:t>
            </a:r>
            <a:r>
              <a:rPr lang="zh-CN" altLang="en-US" sz="1800" dirty="0" smtClean="0"/>
              <a:t>，增益</a:t>
            </a:r>
            <a:r>
              <a:rPr lang="en-US" altLang="zh-CN" sz="1800" dirty="0" smtClean="0"/>
              <a:t>=20dB</a:t>
            </a:r>
            <a:r>
              <a:rPr lang="zh-CN" altLang="en-US" sz="1800" dirty="0" smtClean="0"/>
              <a:t>（</a:t>
            </a:r>
            <a:r>
              <a:rPr lang="en-US" altLang="zh-CN" sz="1800" dirty="0"/>
              <a:t> 10</a:t>
            </a:r>
            <a:r>
              <a:rPr lang="zh-CN" altLang="en-US" sz="1800" dirty="0" smtClean="0"/>
              <a:t>倍）</a:t>
            </a:r>
            <a:endParaRPr lang="en-US" altLang="zh-CN" sz="1800" dirty="0"/>
          </a:p>
        </p:txBody>
      </p:sp>
    </p:spTree>
    <p:extLst>
      <p:ext uri="{BB962C8B-B14F-4D97-AF65-F5344CB8AC3E}">
        <p14:creationId xmlns:p14="http://schemas.microsoft.com/office/powerpoint/2010/main" val="27729049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60</a:t>
            </a:fld>
            <a:endParaRPr lang="en-US" altLang="zh-CN">
              <a:solidFill>
                <a:srgbClr val="FFFFFF"/>
              </a:solidFill>
            </a:endParaRPr>
          </a:p>
        </p:txBody>
      </p:sp>
      <p:sp>
        <p:nvSpPr>
          <p:cNvPr id="5" name="文本框 4"/>
          <p:cNvSpPr txBox="1"/>
          <p:nvPr/>
        </p:nvSpPr>
        <p:spPr>
          <a:xfrm>
            <a:off x="544286" y="457200"/>
            <a:ext cx="11059886" cy="4662815"/>
          </a:xfrm>
          <a:prstGeom prst="rect">
            <a:avLst/>
          </a:prstGeom>
          <a:noFill/>
        </p:spPr>
        <p:txBody>
          <a:bodyPr wrap="square" rtlCol="0">
            <a:spAutoFit/>
          </a:bodyPr>
          <a:lstStyle/>
          <a:p>
            <a:pPr>
              <a:lnSpc>
                <a:spcPct val="150000"/>
              </a:lnSpc>
            </a:pPr>
            <a:r>
              <a:rPr lang="zh-CN" altLang="en-US" sz="1800" dirty="0" smtClean="0"/>
              <a:t>锁相环</a:t>
            </a:r>
            <a:r>
              <a:rPr lang="en-US" altLang="zh-CN" sz="1800" dirty="0" smtClean="0"/>
              <a:t>FM</a:t>
            </a:r>
            <a:r>
              <a:rPr lang="zh-CN" altLang="en-US" sz="1800" dirty="0" smtClean="0"/>
              <a:t>解调电路的实测结果</a:t>
            </a:r>
            <a:endParaRPr lang="en-US" altLang="zh-CN" sz="1800" dirty="0" smtClean="0"/>
          </a:p>
          <a:p>
            <a:pPr>
              <a:lnSpc>
                <a:spcPct val="150000"/>
              </a:lnSpc>
            </a:pPr>
            <a:r>
              <a:rPr lang="zh-CN" altLang="en-US" sz="1800" dirty="0" smtClean="0"/>
              <a:t>按照前面的电路，笔者进行了实际测试</a:t>
            </a:r>
            <a:endParaRPr lang="en-US" altLang="zh-CN" sz="1800" dirty="0" smtClean="0"/>
          </a:p>
          <a:p>
            <a:pPr>
              <a:lnSpc>
                <a:spcPct val="150000"/>
              </a:lnSpc>
            </a:pPr>
            <a:r>
              <a:rPr lang="zh-CN" altLang="en-US" sz="1800" dirty="0" smtClean="0"/>
              <a:t>采用某公司的</a:t>
            </a:r>
            <a:r>
              <a:rPr lang="en-US" altLang="zh-CN" sz="1800" dirty="0" smtClean="0"/>
              <a:t>HC4046</a:t>
            </a:r>
            <a:r>
              <a:rPr lang="zh-CN" altLang="en-US" sz="1800" dirty="0" smtClean="0"/>
              <a:t>芯片，电源电压为</a:t>
            </a:r>
            <a:r>
              <a:rPr lang="en-US" altLang="zh-CN" sz="1800" dirty="0" smtClean="0"/>
              <a:t>+5V</a:t>
            </a:r>
            <a:r>
              <a:rPr lang="zh-CN" altLang="en-US" sz="1800" dirty="0" smtClean="0"/>
              <a:t>，</a:t>
            </a:r>
            <a:r>
              <a:rPr lang="en-US" altLang="zh-CN" sz="1800" dirty="0" smtClean="0"/>
              <a:t>VCO</a:t>
            </a:r>
            <a:r>
              <a:rPr lang="zh-CN" altLang="en-US" sz="1800" dirty="0" smtClean="0"/>
              <a:t>的定时</a:t>
            </a:r>
            <a:r>
              <a:rPr lang="en-US" altLang="zh-CN" sz="1800" dirty="0" smtClean="0"/>
              <a:t>RC</a:t>
            </a:r>
            <a:r>
              <a:rPr lang="zh-CN" altLang="en-US" sz="1800" dirty="0" smtClean="0"/>
              <a:t>参数是</a:t>
            </a:r>
            <a:endParaRPr lang="en-US" altLang="zh-CN" sz="1800" dirty="0" smtClean="0"/>
          </a:p>
          <a:p>
            <a:pPr lvl="1">
              <a:lnSpc>
                <a:spcPct val="150000"/>
              </a:lnSpc>
            </a:pPr>
            <a:r>
              <a:rPr lang="en-US" altLang="zh-CN" sz="1800" dirty="0" smtClean="0"/>
              <a:t>R</a:t>
            </a:r>
            <a:r>
              <a:rPr lang="en-US" altLang="zh-CN" sz="1800" baseline="-25000" dirty="0" smtClean="0"/>
              <a:t>T1</a:t>
            </a:r>
            <a:r>
              <a:rPr lang="en-US" altLang="zh-CN" sz="1800" dirty="0" smtClean="0"/>
              <a:t>=150k</a:t>
            </a:r>
            <a:r>
              <a:rPr lang="zh-CN" altLang="en-US" sz="1800" dirty="0" smtClean="0"/>
              <a:t>，</a:t>
            </a:r>
            <a:r>
              <a:rPr lang="en-US" altLang="zh-CN" sz="1800" dirty="0" smtClean="0"/>
              <a:t>R</a:t>
            </a:r>
            <a:r>
              <a:rPr lang="en-US" altLang="zh-CN" sz="1800" baseline="-25000" dirty="0"/>
              <a:t>T2</a:t>
            </a:r>
            <a:r>
              <a:rPr lang="en-US" altLang="zh-CN" sz="1800" dirty="0" smtClean="0"/>
              <a:t>=12k</a:t>
            </a:r>
            <a:r>
              <a:rPr lang="zh-CN" altLang="en-US" sz="1800" dirty="0" smtClean="0"/>
              <a:t>，</a:t>
            </a:r>
            <a:r>
              <a:rPr lang="en-US" altLang="zh-CN" sz="1800" dirty="0" smtClean="0"/>
              <a:t>C</a:t>
            </a:r>
            <a:r>
              <a:rPr lang="en-US" altLang="zh-CN" sz="1800" baseline="-25000" dirty="0"/>
              <a:t>T</a:t>
            </a:r>
            <a:r>
              <a:rPr lang="en-US" altLang="zh-CN" sz="1800" dirty="0" smtClean="0"/>
              <a:t>=180pF</a:t>
            </a:r>
          </a:p>
          <a:p>
            <a:pPr>
              <a:lnSpc>
                <a:spcPct val="150000"/>
              </a:lnSpc>
            </a:pPr>
            <a:r>
              <a:rPr lang="zh-CN" altLang="en-US" sz="1800" dirty="0" smtClean="0"/>
              <a:t>环路滤波器参数是</a:t>
            </a:r>
            <a:endParaRPr lang="en-US" altLang="zh-CN" sz="1800" dirty="0" smtClean="0"/>
          </a:p>
          <a:p>
            <a:pPr lvl="1">
              <a:lnSpc>
                <a:spcPct val="150000"/>
              </a:lnSpc>
            </a:pPr>
            <a:r>
              <a:rPr lang="en-US" altLang="zh-CN" sz="1800" dirty="0" smtClean="0"/>
              <a:t>R</a:t>
            </a:r>
            <a:r>
              <a:rPr lang="en-US" altLang="zh-CN" sz="1800" baseline="-25000" dirty="0"/>
              <a:t>1</a:t>
            </a:r>
            <a:r>
              <a:rPr lang="en-US" altLang="zh-CN" sz="1800" dirty="0" smtClean="0"/>
              <a:t>=10k</a:t>
            </a:r>
            <a:r>
              <a:rPr lang="zh-CN" altLang="en-US" sz="1800" dirty="0" smtClean="0"/>
              <a:t>，</a:t>
            </a:r>
            <a:r>
              <a:rPr lang="en-US" altLang="zh-CN" sz="1800" dirty="0" smtClean="0"/>
              <a:t>R</a:t>
            </a:r>
            <a:r>
              <a:rPr lang="en-US" altLang="zh-CN" sz="1800" baseline="-25000" dirty="0"/>
              <a:t>2</a:t>
            </a:r>
            <a:r>
              <a:rPr lang="en-US" altLang="zh-CN" sz="1800" dirty="0" smtClean="0"/>
              <a:t>=2.2k</a:t>
            </a:r>
            <a:r>
              <a:rPr lang="zh-CN" altLang="en-US" sz="1800" dirty="0" smtClean="0"/>
              <a:t>，</a:t>
            </a:r>
            <a:r>
              <a:rPr lang="en-US" altLang="zh-CN" sz="1800" dirty="0" smtClean="0"/>
              <a:t>C=0.1nF</a:t>
            </a:r>
            <a:endParaRPr lang="en-US" altLang="zh-CN" sz="1800" dirty="0"/>
          </a:p>
          <a:p>
            <a:pPr>
              <a:lnSpc>
                <a:spcPct val="150000"/>
              </a:lnSpc>
            </a:pPr>
            <a:r>
              <a:rPr lang="zh-CN" altLang="en-US" sz="1800" dirty="0" smtClean="0"/>
              <a:t>实测结果</a:t>
            </a:r>
            <a:endParaRPr lang="en-US" altLang="zh-CN" sz="1800" dirty="0" smtClean="0"/>
          </a:p>
          <a:p>
            <a:pPr lvl="1">
              <a:lnSpc>
                <a:spcPct val="150000"/>
              </a:lnSpc>
            </a:pPr>
            <a:r>
              <a:rPr lang="zh-CN" altLang="en-US" sz="1800" dirty="0" smtClean="0"/>
              <a:t>在输入频率为 </a:t>
            </a:r>
            <a:r>
              <a:rPr lang="en-US" altLang="zh-CN" sz="1800" dirty="0" smtClean="0"/>
              <a:t>2</a:t>
            </a:r>
            <a:r>
              <a:rPr lang="en-US" altLang="zh-CN" sz="1800" dirty="0"/>
              <a:t>.</a:t>
            </a:r>
            <a:r>
              <a:rPr lang="en-US" altLang="zh-CN" sz="1800" dirty="0" smtClean="0"/>
              <a:t>000MHz </a:t>
            </a:r>
            <a:r>
              <a:rPr lang="en-US" altLang="zh-CN" sz="1800" dirty="0" smtClean="0">
                <a:latin typeface="Times New Roman" panose="02020603050405020304" pitchFamily="18" charset="0"/>
                <a:cs typeface="Times New Roman" panose="02020603050405020304" pitchFamily="18" charset="0"/>
              </a:rPr>
              <a:t>±</a:t>
            </a:r>
            <a:r>
              <a:rPr lang="en-US" altLang="zh-CN" sz="1800" dirty="0" smtClean="0"/>
              <a:t> 25kHz</a:t>
            </a:r>
            <a:r>
              <a:rPr lang="zh-CN" altLang="en-US" sz="1800" dirty="0" smtClean="0"/>
              <a:t>范围内</a:t>
            </a:r>
            <a:endParaRPr lang="en-US" altLang="zh-CN" sz="1800" dirty="0" smtClean="0"/>
          </a:p>
          <a:p>
            <a:pPr lvl="1">
              <a:lnSpc>
                <a:spcPct val="150000"/>
              </a:lnSpc>
            </a:pPr>
            <a:r>
              <a:rPr lang="zh-CN" altLang="en-US" sz="1800" dirty="0" smtClean="0"/>
              <a:t>平均</a:t>
            </a:r>
            <a:r>
              <a:rPr lang="zh-CN" altLang="en-US" sz="1800" dirty="0"/>
              <a:t>鉴频增益为 </a:t>
            </a:r>
            <a:r>
              <a:rPr lang="en-US" altLang="zh-CN" sz="1800" dirty="0" smtClean="0"/>
              <a:t>4.97mV/kHz</a:t>
            </a:r>
            <a:r>
              <a:rPr lang="zh-CN" altLang="en-US" sz="1800" dirty="0" smtClean="0"/>
              <a:t>（未计入最后的滤波器增益</a:t>
            </a:r>
            <a:r>
              <a:rPr lang="zh-CN" altLang="en-US" sz="1800" dirty="0" smtClean="0"/>
              <a:t>），与设计值吻合</a:t>
            </a:r>
            <a:endParaRPr lang="en-US" altLang="zh-CN" sz="1800" dirty="0" smtClean="0"/>
          </a:p>
          <a:p>
            <a:pPr lvl="1">
              <a:lnSpc>
                <a:spcPct val="150000"/>
              </a:lnSpc>
            </a:pPr>
            <a:r>
              <a:rPr lang="zh-CN" altLang="en-US" sz="1800" dirty="0" smtClean="0"/>
              <a:t>平均非线性误差大致为 </a:t>
            </a:r>
            <a:r>
              <a:rPr lang="en-US" altLang="zh-CN" sz="1800" dirty="0" smtClean="0"/>
              <a:t>3%~5%</a:t>
            </a:r>
          </a:p>
          <a:p>
            <a:pPr lvl="1">
              <a:lnSpc>
                <a:spcPct val="150000"/>
              </a:lnSpc>
            </a:pPr>
            <a:r>
              <a:rPr lang="zh-CN" altLang="en-US" sz="1800" dirty="0" smtClean="0"/>
              <a:t>在解调输出信号中存在载频信号的残余</a:t>
            </a:r>
            <a:endParaRPr lang="en-US" altLang="zh-CN" sz="1800" dirty="0" smtClean="0"/>
          </a:p>
        </p:txBody>
      </p:sp>
    </p:spTree>
    <p:extLst>
      <p:ext uri="{BB962C8B-B14F-4D97-AF65-F5344CB8AC3E}">
        <p14:creationId xmlns:p14="http://schemas.microsoft.com/office/powerpoint/2010/main" val="31154229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61</a:t>
            </a:fld>
            <a:endParaRPr lang="en-US" altLang="zh-CN">
              <a:solidFill>
                <a:srgbClr val="FFFFFF"/>
              </a:solidFill>
            </a:endParaRPr>
          </a:p>
        </p:txBody>
      </p:sp>
      <p:sp>
        <p:nvSpPr>
          <p:cNvPr id="5" name="文本框 4"/>
          <p:cNvSpPr txBox="1"/>
          <p:nvPr/>
        </p:nvSpPr>
        <p:spPr>
          <a:xfrm>
            <a:off x="406400" y="442686"/>
            <a:ext cx="11248571" cy="5124480"/>
          </a:xfrm>
          <a:prstGeom prst="rect">
            <a:avLst/>
          </a:prstGeom>
          <a:noFill/>
        </p:spPr>
        <p:txBody>
          <a:bodyPr wrap="square" rtlCol="0">
            <a:spAutoFit/>
          </a:bodyPr>
          <a:lstStyle/>
          <a:p>
            <a:pPr>
              <a:lnSpc>
                <a:spcPct val="150000"/>
              </a:lnSpc>
            </a:pPr>
            <a:r>
              <a:rPr lang="zh-CN" altLang="en-US" dirty="0" smtClean="0"/>
              <a:t>有关锁相环鉴频电路的一些讨论</a:t>
            </a:r>
            <a:endParaRPr lang="en-US" altLang="zh-CN" dirty="0" smtClean="0"/>
          </a:p>
          <a:p>
            <a:pPr marL="285750" indent="-285750">
              <a:lnSpc>
                <a:spcPct val="150000"/>
              </a:lnSpc>
              <a:buFont typeface="Wingdings" panose="05000000000000000000" pitchFamily="2" charset="2"/>
              <a:buChar char="l"/>
            </a:pPr>
            <a:r>
              <a:rPr lang="zh-CN" altLang="en-US" sz="1800" dirty="0" smtClean="0"/>
              <a:t>锁相环开环增益与闭环带宽</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用于鉴频的锁相环是一个调制跟踪环，要求闭环带宽大于最高调制频率，否则将出现解调失真。实际设计时通常总是令 自然频率</a:t>
            </a:r>
            <a:r>
              <a:rPr lang="en-US" altLang="zh-CN" sz="1800" dirty="0" smtClean="0"/>
              <a:t>&gt;</a:t>
            </a:r>
            <a:r>
              <a:rPr lang="zh-CN" altLang="en-US" sz="1800" dirty="0" smtClean="0"/>
              <a:t>最高调制频率</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由于</a:t>
            </a:r>
            <a:r>
              <a:rPr lang="zh-CN" altLang="en-US" sz="1800" dirty="0"/>
              <a:t>锁相环鉴频电路</a:t>
            </a:r>
            <a:r>
              <a:rPr lang="zh-CN" altLang="en-US" sz="1800" dirty="0" smtClean="0"/>
              <a:t>输出的解调信号就是</a:t>
            </a:r>
            <a:r>
              <a:rPr lang="en-US" altLang="zh-CN" sz="1800" dirty="0" smtClean="0"/>
              <a:t>VCO</a:t>
            </a:r>
            <a:r>
              <a:rPr lang="zh-CN" altLang="en-US" sz="1800" dirty="0" smtClean="0"/>
              <a:t>的控制信号，所以鉴频器的解调增益就是</a:t>
            </a:r>
            <a:r>
              <a:rPr lang="en-US" altLang="zh-CN" sz="1800" dirty="0" smtClean="0"/>
              <a:t>VCO</a:t>
            </a:r>
            <a:r>
              <a:rPr lang="zh-CN" altLang="en-US" sz="1800" dirty="0" smtClean="0"/>
              <a:t>的压控增益的倒数。为了提高解调增益，就需要降低</a:t>
            </a:r>
            <a:r>
              <a:rPr lang="en-US" altLang="zh-CN" sz="1800" dirty="0" smtClean="0"/>
              <a:t>VCO</a:t>
            </a:r>
            <a:r>
              <a:rPr lang="zh-CN" altLang="en-US" sz="1800" dirty="0" smtClean="0"/>
              <a:t>的压控增益</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在锁相环电路中，必须保证锁相环的开环增益大于其闭环带宽。而鉴相器增益通常并不大（例如</a:t>
            </a:r>
            <a:r>
              <a:rPr lang="en-US" altLang="zh-CN" sz="1800" dirty="0" smtClean="0"/>
              <a:t>5V</a:t>
            </a:r>
            <a:r>
              <a:rPr lang="zh-CN" altLang="en-US" sz="1800" dirty="0" smtClean="0"/>
              <a:t>供电的</a:t>
            </a:r>
            <a:r>
              <a:rPr lang="en-US" altLang="zh-CN" sz="1800" dirty="0" smtClean="0"/>
              <a:t>PFD</a:t>
            </a:r>
            <a:r>
              <a:rPr lang="zh-CN" altLang="en-US" sz="1800" dirty="0" smtClean="0"/>
              <a:t>的增益大约等于</a:t>
            </a:r>
            <a:r>
              <a:rPr lang="en-US" altLang="zh-CN" sz="1800" dirty="0" smtClean="0"/>
              <a:t>0.4V/rad</a:t>
            </a:r>
            <a:r>
              <a:rPr lang="zh-CN" altLang="en-US" sz="1800" dirty="0" smtClean="0"/>
              <a:t>），环路滤波器的增益通常等于</a:t>
            </a:r>
            <a:r>
              <a:rPr lang="en-US" altLang="zh-CN" sz="1800" dirty="0" smtClean="0"/>
              <a:t>1</a:t>
            </a:r>
            <a:r>
              <a:rPr lang="zh-CN" altLang="en-US" sz="1800" dirty="0" smtClean="0"/>
              <a:t>，所以</a:t>
            </a:r>
            <a:r>
              <a:rPr lang="zh-CN" altLang="en-US" sz="1800" dirty="0"/>
              <a:t>锁相环的</a:t>
            </a:r>
            <a:r>
              <a:rPr lang="zh-CN" altLang="en-US" sz="1800" dirty="0" smtClean="0"/>
              <a:t>开环增益主要由</a:t>
            </a:r>
            <a:r>
              <a:rPr lang="en-US" altLang="zh-CN" sz="1800" dirty="0" smtClean="0"/>
              <a:t>VCO</a:t>
            </a:r>
            <a:r>
              <a:rPr lang="zh-CN" altLang="en-US" sz="1800" dirty="0" smtClean="0"/>
              <a:t>的压控增益确定。这样一来，上述两个要求就构成一对矛盾</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在载频远高于调制频率的情况下，上述矛盾不突出。但是若载频与调制频率的比值不很高（例如本题的情况）时这个矛盾就会表现出来，通常需要通过合理的折衷解决上述矛盾。也可以在降低</a:t>
            </a:r>
            <a:r>
              <a:rPr lang="en-US" altLang="zh-CN" sz="1800" dirty="0" smtClean="0"/>
              <a:t>VCO</a:t>
            </a:r>
            <a:r>
              <a:rPr lang="zh-CN" altLang="en-US" sz="1800" dirty="0" smtClean="0"/>
              <a:t>增益的同时</a:t>
            </a:r>
            <a:r>
              <a:rPr lang="zh-CN" altLang="en-US" sz="1800" dirty="0" smtClean="0"/>
              <a:t>增加环路滤波器的增益（有源滤波或者插入放大器）解决上述矛盾</a:t>
            </a:r>
            <a:endParaRPr lang="en-US" altLang="zh-CN" sz="1800" dirty="0" smtClean="0"/>
          </a:p>
        </p:txBody>
      </p:sp>
    </p:spTree>
    <p:extLst>
      <p:ext uri="{BB962C8B-B14F-4D97-AF65-F5344CB8AC3E}">
        <p14:creationId xmlns:p14="http://schemas.microsoft.com/office/powerpoint/2010/main" val="25675446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62</a:t>
            </a:fld>
            <a:endParaRPr lang="en-US" altLang="zh-CN">
              <a:solidFill>
                <a:srgbClr val="FFFFFF"/>
              </a:solidFill>
            </a:endParaRPr>
          </a:p>
        </p:txBody>
      </p:sp>
      <p:sp>
        <p:nvSpPr>
          <p:cNvPr id="5" name="文本框 4"/>
          <p:cNvSpPr txBox="1"/>
          <p:nvPr/>
        </p:nvSpPr>
        <p:spPr>
          <a:xfrm>
            <a:off x="420914" y="457200"/>
            <a:ext cx="11241315" cy="2585323"/>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sz="1800" dirty="0" smtClean="0"/>
              <a:t>高阶锁相环</a:t>
            </a:r>
            <a:endParaRPr lang="en-US" altLang="zh-CN" sz="1800" dirty="0" smtClean="0"/>
          </a:p>
          <a:p>
            <a:pPr indent="457200">
              <a:lnSpc>
                <a:spcPct val="150000"/>
              </a:lnSpc>
            </a:pPr>
            <a:r>
              <a:rPr lang="zh-CN" altLang="en-US" sz="1800" dirty="0" smtClean="0"/>
              <a:t>锁相环中环路滤波器的作用是滤除鉴相器输出的高频成分，只保留需要的低频成分</a:t>
            </a:r>
            <a:endParaRPr lang="en-US" altLang="zh-CN" sz="1800" dirty="0" smtClean="0"/>
          </a:p>
          <a:p>
            <a:pPr indent="457200">
              <a:lnSpc>
                <a:spcPct val="150000"/>
              </a:lnSpc>
            </a:pPr>
            <a:r>
              <a:rPr lang="zh-CN" altLang="en-US" sz="1800" dirty="0" smtClean="0"/>
              <a:t>前面讨论的锁相环是二阶锁相环，其环路滤波器对于高于</a:t>
            </a:r>
            <a:r>
              <a:rPr lang="el-GR" altLang="zh-CN" sz="1800" i="1" dirty="0" smtClean="0"/>
              <a:t>ω</a:t>
            </a:r>
            <a:r>
              <a:rPr lang="en-US" altLang="zh-CN" sz="1800" baseline="-25000" dirty="0" smtClean="0"/>
              <a:t>2</a:t>
            </a:r>
            <a:r>
              <a:rPr lang="zh-CN" altLang="en-US" sz="1800" dirty="0" smtClean="0"/>
              <a:t>的频率的衰减量是一个固定值。之所以需要这样设计是为了保证锁相环的稳定性。</a:t>
            </a:r>
            <a:endParaRPr lang="en-US" altLang="zh-CN" sz="1800" dirty="0" smtClean="0"/>
          </a:p>
          <a:p>
            <a:pPr indent="457200">
              <a:lnSpc>
                <a:spcPct val="150000"/>
              </a:lnSpc>
            </a:pPr>
            <a:r>
              <a:rPr lang="zh-CN" altLang="en-US" sz="1800" dirty="0" smtClean="0"/>
              <a:t>高阶锁相环在保证锁相环稳定的基础上，在其环路滤波器中增加一个或多个高频极点，使得高频成分得到更好的衰减（例如在</a:t>
            </a:r>
            <a:r>
              <a:rPr lang="en-US" altLang="zh-CN" sz="1800" dirty="0" smtClean="0"/>
              <a:t>FM</a:t>
            </a:r>
            <a:r>
              <a:rPr lang="zh-CN" altLang="en-US" sz="1800" dirty="0" smtClean="0"/>
              <a:t>解调中可以更好抑制输出解调信号中的载波纹波）</a:t>
            </a:r>
            <a:endParaRPr lang="en-US" altLang="zh-CN" sz="1800" dirty="0" smtClean="0"/>
          </a:p>
        </p:txBody>
      </p:sp>
      <p:pic>
        <p:nvPicPr>
          <p:cNvPr id="6" name="图片 5"/>
          <p:cNvPicPr>
            <a:picLocks noChangeAspect="1"/>
          </p:cNvPicPr>
          <p:nvPr/>
        </p:nvPicPr>
        <p:blipFill>
          <a:blip r:embed="rId2"/>
          <a:stretch>
            <a:fillRect/>
          </a:stretch>
        </p:blipFill>
        <p:spPr>
          <a:xfrm>
            <a:off x="1508607" y="3504197"/>
            <a:ext cx="2555909" cy="1413667"/>
          </a:xfrm>
          <a:prstGeom prst="rect">
            <a:avLst/>
          </a:prstGeom>
        </p:spPr>
      </p:pic>
      <p:pic>
        <p:nvPicPr>
          <p:cNvPr id="7" name="图片 6"/>
          <p:cNvPicPr>
            <a:picLocks noChangeAspect="1"/>
          </p:cNvPicPr>
          <p:nvPr/>
        </p:nvPicPr>
        <p:blipFill>
          <a:blip r:embed="rId3"/>
          <a:stretch>
            <a:fillRect/>
          </a:stretch>
        </p:blipFill>
        <p:spPr>
          <a:xfrm>
            <a:off x="5373438" y="3366894"/>
            <a:ext cx="5074300" cy="1867445"/>
          </a:xfrm>
          <a:prstGeom prst="rect">
            <a:avLst/>
          </a:prstGeom>
        </p:spPr>
      </p:pic>
      <p:sp>
        <p:nvSpPr>
          <p:cNvPr id="8" name="文本框 7"/>
          <p:cNvSpPr txBox="1"/>
          <p:nvPr/>
        </p:nvSpPr>
        <p:spPr>
          <a:xfrm>
            <a:off x="1415143" y="5234339"/>
            <a:ext cx="9310914" cy="338554"/>
          </a:xfrm>
          <a:prstGeom prst="rect">
            <a:avLst/>
          </a:prstGeom>
          <a:noFill/>
        </p:spPr>
        <p:txBody>
          <a:bodyPr wrap="square" rtlCol="0">
            <a:spAutoFit/>
          </a:bodyPr>
          <a:lstStyle/>
          <a:p>
            <a:r>
              <a:rPr lang="zh-CN" altLang="en-US" sz="1600" dirty="0"/>
              <a:t>二</a:t>
            </a:r>
            <a:r>
              <a:rPr lang="zh-CN" altLang="en-US" sz="1600" dirty="0" smtClean="0"/>
              <a:t>阶锁相环中的环路滤波器                                               三阶锁相环中的环路滤波器</a:t>
            </a:r>
            <a:endParaRPr lang="zh-CN" altLang="en-US" sz="1600" dirty="0"/>
          </a:p>
        </p:txBody>
      </p:sp>
    </p:spTree>
    <p:extLst>
      <p:ext uri="{BB962C8B-B14F-4D97-AF65-F5344CB8AC3E}">
        <p14:creationId xmlns:p14="http://schemas.microsoft.com/office/powerpoint/2010/main" val="3538228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63</a:t>
            </a:fld>
            <a:endParaRPr lang="en-US" altLang="zh-CN">
              <a:solidFill>
                <a:srgbClr val="FFFFFF"/>
              </a:solidFill>
            </a:endParaRPr>
          </a:p>
        </p:txBody>
      </p:sp>
      <p:sp>
        <p:nvSpPr>
          <p:cNvPr id="5" name="文本框 4"/>
          <p:cNvSpPr txBox="1"/>
          <p:nvPr/>
        </p:nvSpPr>
        <p:spPr>
          <a:xfrm>
            <a:off x="420914" y="457200"/>
            <a:ext cx="11241315" cy="38318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常见的三阶锁相环的设计过程：</a:t>
            </a:r>
            <a:endParaRPr lang="en-US" altLang="zh-CN" sz="1800" dirty="0" smtClean="0"/>
          </a:p>
          <a:p>
            <a:pPr lvl="1">
              <a:lnSpc>
                <a:spcPct val="150000"/>
              </a:lnSpc>
            </a:pPr>
            <a:r>
              <a:rPr lang="zh-CN" altLang="en-US" sz="1800" dirty="0" smtClean="0"/>
              <a:t>选择鉴相器、设计</a:t>
            </a:r>
            <a:r>
              <a:rPr lang="en-US" altLang="zh-CN" sz="1800" dirty="0" smtClean="0"/>
              <a:t>VCO</a:t>
            </a:r>
            <a:r>
              <a:rPr lang="zh-CN" altLang="en-US" sz="1800" dirty="0" smtClean="0"/>
              <a:t>等，这些过程与</a:t>
            </a:r>
            <a:r>
              <a:rPr lang="zh-CN" altLang="en-US" sz="1800" dirty="0" smtClean="0"/>
              <a:t>前面介绍的二阶锁相环完全相同</a:t>
            </a:r>
            <a:endParaRPr lang="en-US" altLang="zh-CN" sz="1800" dirty="0"/>
          </a:p>
          <a:p>
            <a:pPr lvl="1">
              <a:lnSpc>
                <a:spcPct val="150000"/>
              </a:lnSpc>
            </a:pPr>
            <a:r>
              <a:rPr lang="zh-CN" altLang="en-US" sz="1800" dirty="0" smtClean="0"/>
              <a:t>设计三阶锁相环的环路</a:t>
            </a:r>
            <a:r>
              <a:rPr lang="zh-CN" altLang="en-US" sz="1800" dirty="0" smtClean="0"/>
              <a:t>滤波器的过程如下</a:t>
            </a:r>
            <a:r>
              <a:rPr lang="en-US" altLang="zh-CN" sz="1800" dirty="0" smtClean="0"/>
              <a:t>:</a:t>
            </a:r>
          </a:p>
          <a:p>
            <a:pPr marL="800100" lvl="1" indent="-342900">
              <a:lnSpc>
                <a:spcPct val="150000"/>
              </a:lnSpc>
              <a:buFont typeface="+mj-lt"/>
              <a:buAutoNum type="arabicPeriod"/>
            </a:pPr>
            <a:r>
              <a:rPr lang="zh-CN" altLang="en-US" sz="1800" dirty="0" smtClean="0"/>
              <a:t>根据系统要求，确定穿越频率</a:t>
            </a:r>
            <a:r>
              <a:rPr lang="zh-CN" altLang="en-US" sz="1800" dirty="0" smtClean="0"/>
              <a:t>。穿越频率</a:t>
            </a:r>
            <a:r>
              <a:rPr lang="zh-CN" altLang="en-US" sz="1800" dirty="0" smtClean="0"/>
              <a:t>与闭环</a:t>
            </a:r>
            <a:r>
              <a:rPr lang="zh-CN" altLang="en-US" sz="1800" dirty="0" smtClean="0"/>
              <a:t>带宽基本相同，</a:t>
            </a:r>
            <a:r>
              <a:rPr lang="zh-CN" altLang="en-US" sz="1800" dirty="0" smtClean="0"/>
              <a:t>所以常常</a:t>
            </a:r>
            <a:r>
              <a:rPr lang="zh-CN" altLang="en-US" sz="1800" dirty="0" smtClean="0"/>
              <a:t>按照锁相环</a:t>
            </a:r>
            <a:r>
              <a:rPr lang="zh-CN" altLang="en-US" sz="1800" dirty="0" smtClean="0"/>
              <a:t>闭环带宽的要求来确定穿越频率（注意穿越频率必须小于开环增益）</a:t>
            </a:r>
            <a:endParaRPr lang="en-US" altLang="zh-CN" sz="1800" dirty="0" smtClean="0"/>
          </a:p>
          <a:p>
            <a:pPr marL="800100" lvl="1" indent="-342900">
              <a:lnSpc>
                <a:spcPct val="150000"/>
              </a:lnSpc>
              <a:buFont typeface="+mj-lt"/>
              <a:buAutoNum type="arabicPeriod"/>
            </a:pPr>
            <a:r>
              <a:rPr lang="zh-CN" altLang="en-US" sz="1800" dirty="0" smtClean="0"/>
              <a:t>三阶锁相环的穿越频率前后是一个极点与一个零点，这两个零极点之间的宽度确定了锁相环闭环后的稳定度，越宽锁相环越稳定但是也越迟钝，所以常常将这两个频率的比值取为</a:t>
            </a:r>
            <a:r>
              <a:rPr lang="en-US" altLang="zh-CN" sz="1800" dirty="0" smtClean="0"/>
              <a:t>4~10</a:t>
            </a:r>
            <a:r>
              <a:rPr lang="zh-CN" altLang="en-US" sz="1800" dirty="0" smtClean="0"/>
              <a:t>之间（特殊情况下可越出上述范围）</a:t>
            </a:r>
            <a:endParaRPr lang="en-US" altLang="zh-CN" sz="1800" dirty="0" smtClean="0"/>
          </a:p>
          <a:p>
            <a:pPr marL="800100" lvl="1" indent="-342900">
              <a:lnSpc>
                <a:spcPct val="150000"/>
              </a:lnSpc>
              <a:buFont typeface="+mj-lt"/>
              <a:buAutoNum type="arabicPeriod"/>
            </a:pPr>
            <a:r>
              <a:rPr lang="zh-CN" altLang="en-US" sz="1800" dirty="0" smtClean="0"/>
              <a:t>将上述参数填入</a:t>
            </a:r>
            <a:r>
              <a:rPr lang="en-US" altLang="zh-CN" sz="1800" dirty="0" smtClean="0"/>
              <a:t>《</a:t>
            </a:r>
            <a:r>
              <a:rPr lang="zh-CN" altLang="en-US" sz="1800" dirty="0" smtClean="0"/>
              <a:t>锁相环参数辅助计算</a:t>
            </a:r>
            <a:r>
              <a:rPr lang="en-US" altLang="zh-CN" sz="1800" dirty="0" smtClean="0"/>
              <a:t>》</a:t>
            </a:r>
            <a:r>
              <a:rPr lang="zh-CN" altLang="en-US" sz="1800" dirty="0" smtClean="0"/>
              <a:t>表格软件，可以得到设计结果。</a:t>
            </a:r>
            <a:endParaRPr lang="en-US" altLang="zh-CN" sz="1800" dirty="0" smtClean="0"/>
          </a:p>
        </p:txBody>
      </p:sp>
    </p:spTree>
    <p:extLst>
      <p:ext uri="{BB962C8B-B14F-4D97-AF65-F5344CB8AC3E}">
        <p14:creationId xmlns:p14="http://schemas.microsoft.com/office/powerpoint/2010/main" val="9644104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732972" y="897588"/>
            <a:ext cx="10480162" cy="5106269"/>
          </a:xfrm>
          <a:prstGeom prst="rect">
            <a:avLst/>
          </a:prstGeom>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64</a:t>
            </a:fld>
            <a:endParaRPr lang="en-US" altLang="zh-CN">
              <a:solidFill>
                <a:srgbClr val="FFFFFF"/>
              </a:solidFill>
            </a:endParaRPr>
          </a:p>
        </p:txBody>
      </p:sp>
      <p:sp>
        <p:nvSpPr>
          <p:cNvPr id="5" name="文本框 4"/>
          <p:cNvSpPr txBox="1"/>
          <p:nvPr/>
        </p:nvSpPr>
        <p:spPr>
          <a:xfrm>
            <a:off x="399143" y="464457"/>
            <a:ext cx="4905828" cy="369332"/>
          </a:xfrm>
          <a:prstGeom prst="rect">
            <a:avLst/>
          </a:prstGeom>
          <a:noFill/>
        </p:spPr>
        <p:txBody>
          <a:bodyPr wrap="square" rtlCol="0">
            <a:spAutoFit/>
          </a:bodyPr>
          <a:lstStyle/>
          <a:p>
            <a:r>
              <a:rPr lang="zh-CN" altLang="en-US" sz="1800" dirty="0" smtClean="0"/>
              <a:t>设计三阶锁相环的例子</a:t>
            </a:r>
            <a:endParaRPr lang="zh-CN" altLang="en-US" sz="1800" dirty="0"/>
          </a:p>
        </p:txBody>
      </p:sp>
      <p:sp>
        <p:nvSpPr>
          <p:cNvPr id="7" name="椭圆 6"/>
          <p:cNvSpPr/>
          <p:nvPr/>
        </p:nvSpPr>
        <p:spPr>
          <a:xfrm>
            <a:off x="2319596" y="1538515"/>
            <a:ext cx="921657" cy="732971"/>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5106127" y="1538515"/>
            <a:ext cx="921657" cy="732971"/>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835877" y="1607457"/>
            <a:ext cx="811892" cy="562429"/>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0149419" y="2852058"/>
            <a:ext cx="620181" cy="660400"/>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6248400" y="4143830"/>
            <a:ext cx="2587476" cy="1912456"/>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201532" y="6003857"/>
            <a:ext cx="2677886" cy="338554"/>
          </a:xfrm>
          <a:prstGeom prst="rect">
            <a:avLst/>
          </a:prstGeom>
          <a:noFill/>
        </p:spPr>
        <p:txBody>
          <a:bodyPr wrap="square" rtlCol="0">
            <a:spAutoFit/>
          </a:bodyPr>
          <a:lstStyle/>
          <a:p>
            <a:r>
              <a:rPr lang="zh-CN" altLang="en-US" sz="1600" dirty="0" smtClean="0">
                <a:solidFill>
                  <a:srgbClr val="FF0000"/>
                </a:solidFill>
              </a:rPr>
              <a:t>三阶锁相环中的环路滤波器</a:t>
            </a:r>
            <a:endParaRPr lang="zh-CN" altLang="en-US" sz="1600" dirty="0">
              <a:solidFill>
                <a:srgbClr val="FF0000"/>
              </a:solidFill>
            </a:endParaRPr>
          </a:p>
        </p:txBody>
      </p:sp>
    </p:spTree>
    <p:extLst>
      <p:ext uri="{BB962C8B-B14F-4D97-AF65-F5344CB8AC3E}">
        <p14:creationId xmlns:p14="http://schemas.microsoft.com/office/powerpoint/2010/main" val="9671372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2235199" y="775907"/>
            <a:ext cx="7847683" cy="3371818"/>
          </a:xfrm>
          <a:prstGeom prst="rect">
            <a:avLst/>
          </a:prstGeom>
        </p:spPr>
      </p:pic>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65</a:t>
            </a:fld>
            <a:endParaRPr lang="en-US" altLang="zh-CN">
              <a:solidFill>
                <a:srgbClr val="FFFFFF"/>
              </a:solidFill>
            </a:endParaRPr>
          </a:p>
        </p:txBody>
      </p:sp>
      <p:sp>
        <p:nvSpPr>
          <p:cNvPr id="5" name="文本框 4"/>
          <p:cNvSpPr txBox="1"/>
          <p:nvPr/>
        </p:nvSpPr>
        <p:spPr>
          <a:xfrm>
            <a:off x="494618" y="348429"/>
            <a:ext cx="11088915" cy="457241"/>
          </a:xfrm>
          <a:prstGeom prst="rect">
            <a:avLst/>
          </a:prstGeom>
          <a:noFill/>
        </p:spPr>
        <p:txBody>
          <a:bodyPr wrap="square" rtlCol="0">
            <a:spAutoFit/>
          </a:bodyPr>
          <a:lstStyle/>
          <a:p>
            <a:pPr>
              <a:lnSpc>
                <a:spcPct val="150000"/>
              </a:lnSpc>
            </a:pPr>
            <a:r>
              <a:rPr lang="zh-CN" altLang="en-US" sz="1800" dirty="0" smtClean="0"/>
              <a:t>二、差分峰值鉴频电路</a:t>
            </a:r>
            <a:endParaRPr lang="zh-CN" altLang="en-US" sz="1800" dirty="0"/>
          </a:p>
        </p:txBody>
      </p:sp>
      <p:sp>
        <p:nvSpPr>
          <p:cNvPr id="9" name="椭圆 8"/>
          <p:cNvSpPr/>
          <p:nvPr/>
        </p:nvSpPr>
        <p:spPr>
          <a:xfrm>
            <a:off x="4903118" y="1052451"/>
            <a:ext cx="1273374" cy="2723684"/>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507012" y="3242205"/>
            <a:ext cx="1810148" cy="369332"/>
          </a:xfrm>
          <a:prstGeom prst="rect">
            <a:avLst/>
          </a:prstGeom>
          <a:noFill/>
        </p:spPr>
        <p:txBody>
          <a:bodyPr wrap="square" rtlCol="0">
            <a:spAutoFit/>
          </a:bodyPr>
          <a:lstStyle/>
          <a:p>
            <a:pPr algn="ctr"/>
            <a:r>
              <a:rPr lang="zh-CN" altLang="en-US" sz="1800" dirty="0" smtClean="0"/>
              <a:t>串并联谐振网络</a:t>
            </a:r>
            <a:endParaRPr lang="zh-CN" altLang="en-US" sz="1800" dirty="0"/>
          </a:p>
        </p:txBody>
      </p:sp>
      <p:sp>
        <p:nvSpPr>
          <p:cNvPr id="11" name="椭圆 10"/>
          <p:cNvSpPr/>
          <p:nvPr/>
        </p:nvSpPr>
        <p:spPr>
          <a:xfrm>
            <a:off x="6431665" y="1040433"/>
            <a:ext cx="1521590" cy="2201772"/>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6524382" y="679029"/>
            <a:ext cx="1662906" cy="369332"/>
          </a:xfrm>
          <a:prstGeom prst="rect">
            <a:avLst/>
          </a:prstGeom>
          <a:noFill/>
        </p:spPr>
        <p:txBody>
          <a:bodyPr wrap="square" rtlCol="0">
            <a:spAutoFit/>
          </a:bodyPr>
          <a:lstStyle/>
          <a:p>
            <a:r>
              <a:rPr lang="zh-CN" altLang="en-US" sz="1800" dirty="0" smtClean="0"/>
              <a:t>峰值检波</a:t>
            </a:r>
            <a:endParaRPr lang="zh-CN" altLang="en-US" sz="1800" dirty="0"/>
          </a:p>
        </p:txBody>
      </p:sp>
      <p:sp>
        <p:nvSpPr>
          <p:cNvPr id="13" name="椭圆 12"/>
          <p:cNvSpPr/>
          <p:nvPr/>
        </p:nvSpPr>
        <p:spPr>
          <a:xfrm>
            <a:off x="7746165" y="1084573"/>
            <a:ext cx="2572395" cy="2096126"/>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8407318" y="3313654"/>
            <a:ext cx="1448636" cy="646331"/>
          </a:xfrm>
          <a:prstGeom prst="rect">
            <a:avLst/>
          </a:prstGeom>
          <a:noFill/>
        </p:spPr>
        <p:txBody>
          <a:bodyPr wrap="square" rtlCol="0">
            <a:spAutoFit/>
          </a:bodyPr>
          <a:lstStyle/>
          <a:p>
            <a:pPr algn="ctr"/>
            <a:r>
              <a:rPr lang="zh-CN" altLang="en-US" sz="1800" dirty="0" smtClean="0"/>
              <a:t>差分放大与低通滤波</a:t>
            </a:r>
            <a:endParaRPr lang="zh-CN" altLang="en-US" sz="1800" dirty="0"/>
          </a:p>
        </p:txBody>
      </p:sp>
      <p:sp>
        <p:nvSpPr>
          <p:cNvPr id="15" name="椭圆 14"/>
          <p:cNvSpPr/>
          <p:nvPr/>
        </p:nvSpPr>
        <p:spPr>
          <a:xfrm>
            <a:off x="2042507" y="844290"/>
            <a:ext cx="2514980" cy="1734416"/>
          </a:xfrm>
          <a:prstGeom prst="ellipse">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654922" y="2659482"/>
            <a:ext cx="1628589" cy="369332"/>
          </a:xfrm>
          <a:prstGeom prst="rect">
            <a:avLst/>
          </a:prstGeom>
          <a:noFill/>
        </p:spPr>
        <p:txBody>
          <a:bodyPr wrap="square" rtlCol="0">
            <a:spAutoFit/>
          </a:bodyPr>
          <a:lstStyle/>
          <a:p>
            <a:r>
              <a:rPr lang="zh-CN" altLang="en-US" sz="1800" dirty="0" smtClean="0"/>
              <a:t>限幅放大</a:t>
            </a:r>
            <a:endParaRPr lang="zh-CN" altLang="en-US" sz="1800" dirty="0"/>
          </a:p>
        </p:txBody>
      </p:sp>
      <p:sp>
        <p:nvSpPr>
          <p:cNvPr id="17" name="矩形 16"/>
          <p:cNvSpPr/>
          <p:nvPr/>
        </p:nvSpPr>
        <p:spPr>
          <a:xfrm>
            <a:off x="494618" y="4145264"/>
            <a:ext cx="11088915" cy="2074414"/>
          </a:xfrm>
          <a:prstGeom prst="rect">
            <a:avLst/>
          </a:prstGeom>
        </p:spPr>
        <p:txBody>
          <a:bodyPr wrap="square">
            <a:spAutoFit/>
          </a:bodyPr>
          <a:lstStyle/>
          <a:p>
            <a:pPr marL="285750" indent="-285750">
              <a:lnSpc>
                <a:spcPct val="140000"/>
              </a:lnSpc>
              <a:buFont typeface="Arial" panose="020B0604020202020204" pitchFamily="34" charset="0"/>
              <a:buChar char="•"/>
            </a:pPr>
            <a:r>
              <a:rPr lang="zh-CN" altLang="en-US" sz="1800" dirty="0" smtClean="0"/>
              <a:t>已知</a:t>
            </a:r>
            <a:r>
              <a:rPr lang="en-US" altLang="zh-CN" sz="1800" dirty="0" smtClean="0"/>
              <a:t>FM</a:t>
            </a:r>
            <a:r>
              <a:rPr lang="zh-CN" altLang="en-US" sz="1800" dirty="0" smtClean="0"/>
              <a:t>信号载波频率</a:t>
            </a:r>
            <a:r>
              <a:rPr lang="zh-CN" altLang="en-US" sz="1800" dirty="0"/>
              <a:t>为</a:t>
            </a:r>
            <a:r>
              <a:rPr lang="en-US" altLang="zh-CN" sz="1800" dirty="0"/>
              <a:t>2MHz</a:t>
            </a:r>
            <a:r>
              <a:rPr lang="zh-CN" altLang="en-US" sz="1800" dirty="0" smtClean="0"/>
              <a:t>，最大频率</a:t>
            </a:r>
            <a:r>
              <a:rPr lang="zh-CN" altLang="en-US" sz="1800" dirty="0"/>
              <a:t>偏移</a:t>
            </a:r>
            <a:r>
              <a:rPr lang="el-GR" altLang="zh-CN" sz="1800" dirty="0"/>
              <a:t>Δ</a:t>
            </a:r>
            <a:r>
              <a:rPr lang="en-US" altLang="zh-CN" sz="1800" dirty="0" err="1" smtClean="0"/>
              <a:t>f</a:t>
            </a:r>
            <a:r>
              <a:rPr lang="en-US" altLang="zh-CN" sz="1800" baseline="-25000" dirty="0" err="1" smtClean="0"/>
              <a:t>m</a:t>
            </a:r>
            <a:r>
              <a:rPr lang="en-US" altLang="zh-CN" sz="1800" dirty="0" smtClean="0"/>
              <a:t>=25kHz</a:t>
            </a:r>
            <a:endParaRPr lang="en-US" altLang="zh-CN" sz="1800" dirty="0"/>
          </a:p>
          <a:p>
            <a:pPr marL="285750" indent="-285750">
              <a:lnSpc>
                <a:spcPct val="140000"/>
              </a:lnSpc>
              <a:buFont typeface="Arial" panose="020B0604020202020204" pitchFamily="34" charset="0"/>
              <a:buChar char="•"/>
            </a:pPr>
            <a:r>
              <a:rPr lang="zh-CN" altLang="en-US" sz="1800" dirty="0" smtClean="0"/>
              <a:t>串并联谐振网络的两个谐振频率至少距离中心频率</a:t>
            </a:r>
            <a:r>
              <a:rPr lang="en-US" altLang="zh-CN" sz="1800" dirty="0" smtClean="0"/>
              <a:t>75kHz</a:t>
            </a:r>
            <a:r>
              <a:rPr lang="zh-CN" altLang="en-US" sz="1800" dirty="0" smtClean="0"/>
              <a:t>，按</a:t>
            </a:r>
            <a:r>
              <a:rPr lang="en-US" altLang="zh-CN" sz="1800" dirty="0" smtClean="0"/>
              <a:t>100kHz</a:t>
            </a:r>
            <a:r>
              <a:rPr lang="zh-CN" altLang="en-US" sz="1800" dirty="0" smtClean="0"/>
              <a:t>设计，</a:t>
            </a:r>
            <a:r>
              <a:rPr lang="en-US" altLang="zh-CN" sz="1800" i="1" dirty="0" err="1" smtClean="0"/>
              <a:t>f</a:t>
            </a:r>
            <a:r>
              <a:rPr lang="en-US" altLang="zh-CN" sz="1800" i="1" baseline="-25000" dirty="0" err="1" smtClean="0"/>
              <a:t>p</a:t>
            </a:r>
            <a:r>
              <a:rPr lang="en-US" altLang="zh-CN" sz="1800" dirty="0" smtClean="0"/>
              <a:t>=2.1MHz</a:t>
            </a:r>
            <a:r>
              <a:rPr lang="zh-CN" altLang="en-US" sz="1800" dirty="0" smtClean="0"/>
              <a:t>，</a:t>
            </a:r>
            <a:r>
              <a:rPr lang="en-US" altLang="zh-CN" sz="1800" i="1" dirty="0"/>
              <a:t> </a:t>
            </a:r>
            <a:r>
              <a:rPr lang="en-US" altLang="zh-CN" sz="1800" i="1" dirty="0" smtClean="0"/>
              <a:t>f</a:t>
            </a:r>
            <a:r>
              <a:rPr lang="en-US" altLang="zh-CN" sz="1800" i="1" baseline="-25000" dirty="0" smtClean="0"/>
              <a:t>s</a:t>
            </a:r>
            <a:r>
              <a:rPr lang="en-US" altLang="zh-CN" sz="1800" dirty="0" smtClean="0"/>
              <a:t>=1.9MHz</a:t>
            </a:r>
          </a:p>
          <a:p>
            <a:pPr>
              <a:lnSpc>
                <a:spcPct val="140000"/>
              </a:lnSpc>
            </a:pPr>
            <a:endParaRPr lang="en-US" altLang="zh-CN" sz="800" dirty="0" smtClean="0"/>
          </a:p>
          <a:p>
            <a:pPr marL="285750" indent="-285750">
              <a:lnSpc>
                <a:spcPct val="140000"/>
              </a:lnSpc>
              <a:buFont typeface="Arial" panose="020B0604020202020204" pitchFamily="34" charset="0"/>
              <a:buChar char="•"/>
            </a:pPr>
            <a:r>
              <a:rPr lang="zh-CN" altLang="en-US" sz="1800" dirty="0" smtClean="0"/>
              <a:t>按照                              与                                         ，取</a:t>
            </a:r>
            <a:r>
              <a:rPr lang="en-US" altLang="zh-CN" sz="1800" dirty="0" smtClean="0"/>
              <a:t>C1=1nF</a:t>
            </a:r>
            <a:r>
              <a:rPr lang="zh-CN" altLang="en-US" sz="1800" dirty="0" smtClean="0"/>
              <a:t>，则</a:t>
            </a:r>
            <a:r>
              <a:rPr lang="en-US" altLang="zh-CN" sz="1800" dirty="0" smtClean="0"/>
              <a:t>C2=220pF</a:t>
            </a:r>
            <a:r>
              <a:rPr lang="zh-CN" altLang="en-US" sz="1800" dirty="0" smtClean="0"/>
              <a:t>，</a:t>
            </a:r>
            <a:r>
              <a:rPr lang="en-US" altLang="zh-CN" sz="1800" dirty="0" smtClean="0"/>
              <a:t>L=5.7</a:t>
            </a:r>
            <a:r>
              <a:rPr lang="el-GR" altLang="zh-CN" sz="1800" dirty="0" smtClean="0"/>
              <a:t>μ</a:t>
            </a:r>
            <a:r>
              <a:rPr lang="en-US" altLang="zh-CN" sz="1800" dirty="0" smtClean="0"/>
              <a:t>H</a:t>
            </a:r>
          </a:p>
          <a:p>
            <a:pPr>
              <a:lnSpc>
                <a:spcPct val="140000"/>
              </a:lnSpc>
            </a:pPr>
            <a:endParaRPr lang="en-US" altLang="zh-CN" sz="1200" dirty="0"/>
          </a:p>
          <a:p>
            <a:pPr marL="285750" indent="-285750">
              <a:lnSpc>
                <a:spcPct val="140000"/>
              </a:lnSpc>
              <a:buFont typeface="Arial" panose="020B0604020202020204" pitchFamily="34" charset="0"/>
              <a:buChar char="•"/>
            </a:pPr>
            <a:r>
              <a:rPr lang="zh-CN" altLang="en-US" sz="1800" dirty="0" smtClean="0"/>
              <a:t>按照                               ，</a:t>
            </a:r>
            <a:r>
              <a:rPr lang="en-US" altLang="zh-CN" sz="1800" dirty="0" smtClean="0"/>
              <a:t>R=430</a:t>
            </a:r>
            <a:r>
              <a:rPr lang="el-GR" altLang="zh-CN" sz="1800" dirty="0" smtClean="0"/>
              <a:t>Ω</a:t>
            </a:r>
            <a:endParaRPr lang="en-US" altLang="zh-CN" sz="1800" dirty="0"/>
          </a:p>
        </p:txBody>
      </p:sp>
      <p:graphicFrame>
        <p:nvGraphicFramePr>
          <p:cNvPr id="20" name="对象 19"/>
          <p:cNvGraphicFramePr>
            <a:graphicFrameLocks noChangeAspect="1"/>
          </p:cNvGraphicFramePr>
          <p:nvPr>
            <p:extLst>
              <p:ext uri="{D42A27DB-BD31-4B8C-83A1-F6EECF244321}">
                <p14:modId xmlns:p14="http://schemas.microsoft.com/office/powerpoint/2010/main" val="4161939757"/>
              </p:ext>
            </p:extLst>
          </p:nvPr>
        </p:nvGraphicFramePr>
        <p:xfrm>
          <a:off x="1426653" y="5092887"/>
          <a:ext cx="1782763" cy="439737"/>
        </p:xfrm>
        <a:graphic>
          <a:graphicData uri="http://schemas.openxmlformats.org/presentationml/2006/ole">
            <mc:AlternateContent xmlns:mc="http://schemas.openxmlformats.org/markup-compatibility/2006">
              <mc:Choice xmlns:v="urn:schemas-microsoft-com:vml" Requires="v">
                <p:oleObj spid="_x0000_s43078" name="Equation" r:id="rId4" imgW="977760" imgH="241200" progId="Equation.DSMT4">
                  <p:embed/>
                </p:oleObj>
              </mc:Choice>
              <mc:Fallback>
                <p:oleObj name="Equation" r:id="rId4" imgW="977760" imgH="241200" progId="Equation.DSMT4">
                  <p:embed/>
                  <p:pic>
                    <p:nvPicPr>
                      <p:cNvPr id="11" name="对象 10"/>
                      <p:cNvPicPr>
                        <a:picLocks noChangeAspect="1" noChangeArrowheads="1"/>
                      </p:cNvPicPr>
                      <p:nvPr/>
                    </p:nvPicPr>
                    <p:blipFill>
                      <a:blip r:embed="rId5"/>
                      <a:srcRect/>
                      <a:stretch>
                        <a:fillRect/>
                      </a:stretch>
                    </p:blipFill>
                    <p:spPr bwMode="auto">
                      <a:xfrm>
                        <a:off x="1426653" y="5092887"/>
                        <a:ext cx="1782763" cy="439737"/>
                      </a:xfrm>
                      <a:prstGeom prst="rect">
                        <a:avLst/>
                      </a:prstGeom>
                      <a:noFill/>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52383372"/>
              </p:ext>
            </p:extLst>
          </p:nvPr>
        </p:nvGraphicFramePr>
        <p:xfrm>
          <a:off x="3507012" y="5092887"/>
          <a:ext cx="2532063" cy="461963"/>
        </p:xfrm>
        <a:graphic>
          <a:graphicData uri="http://schemas.openxmlformats.org/presentationml/2006/ole">
            <mc:AlternateContent xmlns:mc="http://schemas.openxmlformats.org/markup-compatibility/2006">
              <mc:Choice xmlns:v="urn:schemas-microsoft-com:vml" Requires="v">
                <p:oleObj spid="_x0000_s43079" name="Equation" r:id="rId6" imgW="1320480" imgH="241200" progId="Equation.DSMT4">
                  <p:embed/>
                </p:oleObj>
              </mc:Choice>
              <mc:Fallback>
                <p:oleObj name="Equation" r:id="rId6" imgW="1320480" imgH="241200" progId="Equation.DSMT4">
                  <p:embed/>
                  <p:pic>
                    <p:nvPicPr>
                      <p:cNvPr id="13" name="对象 12"/>
                      <p:cNvPicPr>
                        <a:picLocks noChangeAspect="1" noChangeArrowheads="1"/>
                      </p:cNvPicPr>
                      <p:nvPr/>
                    </p:nvPicPr>
                    <p:blipFill>
                      <a:blip r:embed="rId7"/>
                      <a:srcRect/>
                      <a:stretch>
                        <a:fillRect/>
                      </a:stretch>
                    </p:blipFill>
                    <p:spPr bwMode="auto">
                      <a:xfrm>
                        <a:off x="3507012" y="5092887"/>
                        <a:ext cx="2532063" cy="461963"/>
                      </a:xfrm>
                      <a:prstGeom prst="rect">
                        <a:avLst/>
                      </a:prstGeom>
                      <a:noFill/>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878207560"/>
              </p:ext>
            </p:extLst>
          </p:nvPr>
        </p:nvGraphicFramePr>
        <p:xfrm>
          <a:off x="1426653" y="5617704"/>
          <a:ext cx="1901693" cy="811550"/>
        </p:xfrm>
        <a:graphic>
          <a:graphicData uri="http://schemas.openxmlformats.org/presentationml/2006/ole">
            <mc:AlternateContent xmlns:mc="http://schemas.openxmlformats.org/markup-compatibility/2006">
              <mc:Choice xmlns:v="urn:schemas-microsoft-com:vml" Requires="v">
                <p:oleObj spid="_x0000_s43080" name="Equation" r:id="rId8" imgW="1002865" imgH="418918" progId="Equation.DSMT4">
                  <p:embed/>
                </p:oleObj>
              </mc:Choice>
              <mc:Fallback>
                <p:oleObj name="Equation" r:id="rId8" imgW="1002865" imgH="418918" progId="Equation.DSMT4">
                  <p:embed/>
                  <p:pic>
                    <p:nvPicPr>
                      <p:cNvPr id="19" name="对象 1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26653" y="5617704"/>
                        <a:ext cx="1901693" cy="811550"/>
                      </a:xfrm>
                      <a:prstGeom prst="rect">
                        <a:avLst/>
                      </a:prstGeom>
                      <a:noFill/>
                    </p:spPr>
                  </p:pic>
                </p:oleObj>
              </mc:Fallback>
            </mc:AlternateContent>
          </a:graphicData>
        </a:graphic>
      </p:graphicFrame>
    </p:spTree>
    <p:extLst>
      <p:ext uri="{BB962C8B-B14F-4D97-AF65-F5344CB8AC3E}">
        <p14:creationId xmlns:p14="http://schemas.microsoft.com/office/powerpoint/2010/main" val="32338106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66</a:t>
            </a:fld>
            <a:endParaRPr lang="en-US" altLang="zh-CN">
              <a:solidFill>
                <a:srgbClr val="FFFFFF"/>
              </a:solidFill>
            </a:endParaRPr>
          </a:p>
        </p:txBody>
      </p:sp>
      <p:sp>
        <p:nvSpPr>
          <p:cNvPr id="5" name="文本框 4"/>
          <p:cNvSpPr txBox="1"/>
          <p:nvPr/>
        </p:nvSpPr>
        <p:spPr>
          <a:xfrm>
            <a:off x="544286" y="457200"/>
            <a:ext cx="11059886" cy="300082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800" dirty="0" smtClean="0"/>
              <a:t>峰值检波二极管前面的运放将谐振回路的峰值电压放大到大于二极管的阈值电压以完成峰值检波。若两个谐振峰的幅度不等，则可能需要通过调试后给予它们不同的放大倍数</a:t>
            </a:r>
            <a:endParaRPr lang="en-US" altLang="zh-CN" sz="1800" dirty="0" smtClean="0"/>
          </a:p>
          <a:p>
            <a:pPr marL="285750" indent="-285750">
              <a:lnSpc>
                <a:spcPct val="150000"/>
              </a:lnSpc>
              <a:buFont typeface="Arial" panose="020B0604020202020204" pitchFamily="34" charset="0"/>
              <a:buChar char="•"/>
            </a:pPr>
            <a:r>
              <a:rPr lang="zh-CN" altLang="en-US" sz="1800" dirty="0" smtClean="0"/>
              <a:t>差分</a:t>
            </a:r>
            <a:r>
              <a:rPr lang="zh-CN" altLang="en-US" sz="1800" dirty="0" smtClean="0"/>
              <a:t>峰值鉴频电路的实测结果</a:t>
            </a:r>
            <a:endParaRPr lang="en-US" altLang="zh-CN" sz="1800" dirty="0" smtClean="0"/>
          </a:p>
          <a:p>
            <a:pPr indent="457200">
              <a:lnSpc>
                <a:spcPct val="150000"/>
              </a:lnSpc>
            </a:pPr>
            <a:r>
              <a:rPr lang="zh-CN" altLang="en-US" sz="1800" dirty="0" smtClean="0"/>
              <a:t>在</a:t>
            </a:r>
            <a:r>
              <a:rPr lang="zh-CN" altLang="en-US" sz="1800" dirty="0"/>
              <a:t>输入频率为 </a:t>
            </a:r>
            <a:r>
              <a:rPr lang="en-US" altLang="zh-CN" sz="1800" dirty="0"/>
              <a:t>2.000MHz </a:t>
            </a:r>
            <a:r>
              <a:rPr lang="en-US" altLang="zh-CN" sz="1800" dirty="0">
                <a:latin typeface="Times New Roman" panose="02020603050405020304" pitchFamily="18" charset="0"/>
                <a:cs typeface="Times New Roman" panose="02020603050405020304" pitchFamily="18" charset="0"/>
              </a:rPr>
              <a:t>±</a:t>
            </a:r>
            <a:r>
              <a:rPr lang="en-US" altLang="zh-CN" sz="1800" dirty="0"/>
              <a:t> </a:t>
            </a:r>
            <a:r>
              <a:rPr lang="en-US" altLang="zh-CN" sz="1800" dirty="0" smtClean="0"/>
              <a:t>25kHz</a:t>
            </a:r>
            <a:r>
              <a:rPr lang="zh-CN" altLang="en-US" sz="1800" dirty="0"/>
              <a:t>范围内</a:t>
            </a:r>
            <a:endParaRPr lang="en-US" altLang="zh-CN" sz="1800" dirty="0"/>
          </a:p>
          <a:p>
            <a:pPr indent="457200">
              <a:lnSpc>
                <a:spcPct val="150000"/>
              </a:lnSpc>
            </a:pPr>
            <a:r>
              <a:rPr lang="zh-CN" altLang="en-US" sz="1800" dirty="0"/>
              <a:t>平均鉴频增益为 </a:t>
            </a:r>
            <a:r>
              <a:rPr lang="en-US" altLang="zh-CN" sz="1800" dirty="0" smtClean="0"/>
              <a:t>8.5mV/kHz</a:t>
            </a:r>
            <a:endParaRPr lang="en-US" altLang="zh-CN" sz="1800" dirty="0"/>
          </a:p>
          <a:p>
            <a:pPr indent="457200">
              <a:lnSpc>
                <a:spcPct val="150000"/>
              </a:lnSpc>
            </a:pPr>
            <a:r>
              <a:rPr lang="zh-CN" altLang="en-US" sz="1800" dirty="0" smtClean="0"/>
              <a:t>平均非线性误差大约在</a:t>
            </a:r>
            <a:r>
              <a:rPr lang="en-US" altLang="zh-CN" sz="1800" dirty="0" smtClean="0"/>
              <a:t>1.2%~3.5%</a:t>
            </a:r>
            <a:r>
              <a:rPr lang="zh-CN" altLang="en-US" sz="1800" dirty="0" smtClean="0"/>
              <a:t>之间</a:t>
            </a:r>
            <a:endParaRPr lang="en-US" altLang="zh-CN" sz="1800" dirty="0" smtClean="0"/>
          </a:p>
          <a:p>
            <a:pPr indent="457200">
              <a:lnSpc>
                <a:spcPct val="150000"/>
              </a:lnSpc>
            </a:pPr>
            <a:r>
              <a:rPr lang="zh-CN" altLang="en-US" sz="1800" dirty="0" smtClean="0"/>
              <a:t>解调信号中存在载频信号残余</a:t>
            </a:r>
            <a:endParaRPr lang="zh-CN" altLang="en-US" sz="1800" dirty="0"/>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6200000">
            <a:off x="4737070" y="1606733"/>
            <a:ext cx="2296946" cy="6858000"/>
          </a:xfrm>
          <a:prstGeom prst="rect">
            <a:avLst/>
          </a:prstGeom>
        </p:spPr>
      </p:pic>
    </p:spTree>
    <p:extLst>
      <p:ext uri="{BB962C8B-B14F-4D97-AF65-F5344CB8AC3E}">
        <p14:creationId xmlns:p14="http://schemas.microsoft.com/office/powerpoint/2010/main" val="17129427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67</a:t>
            </a:fld>
            <a:endParaRPr lang="en-US" altLang="zh-CN">
              <a:solidFill>
                <a:srgbClr val="FFFFFF"/>
              </a:solidFill>
            </a:endParaRPr>
          </a:p>
        </p:txBody>
      </p:sp>
      <p:sp>
        <p:nvSpPr>
          <p:cNvPr id="5" name="文本框 4"/>
          <p:cNvSpPr txBox="1"/>
          <p:nvPr/>
        </p:nvSpPr>
        <p:spPr>
          <a:xfrm>
            <a:off x="420914" y="377372"/>
            <a:ext cx="11263085" cy="5539978"/>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dirty="0" smtClean="0"/>
              <a:t>几种</a:t>
            </a:r>
            <a:r>
              <a:rPr lang="en-US" altLang="zh-CN" dirty="0" smtClean="0"/>
              <a:t>FM/FSK</a:t>
            </a:r>
            <a:r>
              <a:rPr lang="zh-CN" altLang="en-US" dirty="0" smtClean="0"/>
              <a:t>解调模块的比较</a:t>
            </a:r>
            <a:endParaRPr lang="en-US" altLang="zh-CN" dirty="0" smtClean="0"/>
          </a:p>
          <a:p>
            <a:pPr indent="457200">
              <a:lnSpc>
                <a:spcPct val="150000"/>
              </a:lnSpc>
            </a:pPr>
            <a:r>
              <a:rPr lang="zh-CN" altLang="en-US" sz="1800" dirty="0" smtClean="0"/>
              <a:t>前面讨论了两种</a:t>
            </a:r>
            <a:r>
              <a:rPr lang="en-US" altLang="zh-CN" sz="1800" dirty="0" smtClean="0"/>
              <a:t>FM</a:t>
            </a:r>
            <a:r>
              <a:rPr lang="zh-CN" altLang="en-US" sz="1800" dirty="0" smtClean="0"/>
              <a:t>解调模块，锁相环鉴频器与差分峰值鉴频器。从实测结果来看，这两种电路的鉴频性能在伯仲之间，都可以完成题目给出的要求。还有一种比例鉴频器，</a:t>
            </a:r>
            <a:r>
              <a:rPr lang="zh-CN" altLang="en-US" sz="1800" dirty="0"/>
              <a:t>该电路</a:t>
            </a:r>
            <a:r>
              <a:rPr lang="zh-CN" altLang="en-US" sz="1800" dirty="0" smtClean="0"/>
              <a:t>已经包含在本科生高频</a:t>
            </a:r>
            <a:r>
              <a:rPr lang="zh-CN" altLang="en-US" sz="1800" dirty="0"/>
              <a:t>电路实验</a:t>
            </a:r>
            <a:r>
              <a:rPr lang="zh-CN" altLang="en-US" sz="1800" dirty="0" smtClean="0"/>
              <a:t>中，笔者没有进行实验。从学生实验的结果来看，它的性能也同样可以完成题目的要求</a:t>
            </a:r>
            <a:endParaRPr lang="en-US" altLang="zh-CN" sz="1800" dirty="0" smtClean="0"/>
          </a:p>
          <a:p>
            <a:pPr indent="457200">
              <a:lnSpc>
                <a:spcPct val="150000"/>
              </a:lnSpc>
            </a:pPr>
            <a:r>
              <a:rPr lang="zh-CN" altLang="en-US" sz="1800" dirty="0" smtClean="0"/>
              <a:t>从电路设计与制作的角度来看，这三种鉴频电路的大致</a:t>
            </a:r>
            <a:r>
              <a:rPr lang="zh-CN" altLang="en-US" sz="1800" dirty="0"/>
              <a:t>差别</a:t>
            </a:r>
            <a:r>
              <a:rPr lang="zh-CN" altLang="en-US" sz="1800" dirty="0" smtClean="0"/>
              <a:t>如下：</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锁相环鉴频器：使用了多个集成电路，电路较复杂。元件参数的计算比较准确，不需要绕制电感，在设计与安装无误条件下基本不需要调试（锁相环</a:t>
            </a:r>
            <a:r>
              <a:rPr lang="zh-CN" altLang="en-US" sz="1800" dirty="0"/>
              <a:t>的</a:t>
            </a:r>
            <a:r>
              <a:rPr lang="en-US" altLang="zh-CN" sz="1800" dirty="0"/>
              <a:t>VCO</a:t>
            </a:r>
            <a:r>
              <a:rPr lang="zh-CN" altLang="en-US" sz="1800" dirty="0"/>
              <a:t>部分由于厂家不同而引起的准确</a:t>
            </a:r>
            <a:r>
              <a:rPr lang="zh-CN" altLang="en-US" sz="1800" dirty="0" smtClean="0"/>
              <a:t>计算较困难，需要预调试），信号频率的限制取决于锁相环电路的频响</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差分</a:t>
            </a:r>
            <a:r>
              <a:rPr lang="zh-CN" altLang="en-US" sz="1800" dirty="0"/>
              <a:t>峰值</a:t>
            </a:r>
            <a:r>
              <a:rPr lang="zh-CN" altLang="en-US" sz="1800" dirty="0" smtClean="0"/>
              <a:t>鉴频器：使用</a:t>
            </a:r>
            <a:r>
              <a:rPr lang="en-US" altLang="zh-CN" sz="1800" dirty="0" smtClean="0"/>
              <a:t>3~4</a:t>
            </a:r>
            <a:r>
              <a:rPr lang="zh-CN" altLang="en-US" sz="1800" dirty="0" smtClean="0"/>
              <a:t>个运放，元件参数计算比较简单，需要绕制一个电感（需要调试电感量），还可能需要调试对称性，信号频率的限制取决于运放的频响</a:t>
            </a:r>
            <a:endParaRPr lang="en-US" altLang="zh-CN" sz="1800" dirty="0" smtClean="0"/>
          </a:p>
          <a:p>
            <a:pPr marL="742950" lvl="1" indent="-285750">
              <a:lnSpc>
                <a:spcPct val="150000"/>
              </a:lnSpc>
              <a:buFont typeface="Arial" panose="020B0604020202020204" pitchFamily="34" charset="0"/>
              <a:buChar char="•"/>
            </a:pPr>
            <a:r>
              <a:rPr lang="zh-CN" altLang="en-US" sz="1800" dirty="0" smtClean="0"/>
              <a:t>比例鉴频器：只要一个晶体管（或者将晶体管改成用</a:t>
            </a:r>
            <a:r>
              <a:rPr lang="en-US" altLang="zh-CN" sz="1800" dirty="0" smtClean="0"/>
              <a:t>MMIC</a:t>
            </a:r>
            <a:r>
              <a:rPr lang="zh-CN" altLang="en-US" sz="1800" dirty="0" smtClean="0"/>
              <a:t>驱动），需要绕制</a:t>
            </a:r>
            <a:r>
              <a:rPr lang="en-US" altLang="zh-CN" sz="1800" dirty="0" smtClean="0"/>
              <a:t>2</a:t>
            </a:r>
            <a:r>
              <a:rPr lang="zh-CN" altLang="en-US" sz="1800" dirty="0" smtClean="0"/>
              <a:t>个高频变压器，元件参数的计算有一定的难度，信号频率的限制取决于晶体管的频响</a:t>
            </a:r>
            <a:endParaRPr lang="en-US" altLang="zh-CN" sz="1800" dirty="0" smtClean="0"/>
          </a:p>
          <a:p>
            <a:pPr lvl="1">
              <a:lnSpc>
                <a:spcPct val="150000"/>
              </a:lnSpc>
            </a:pPr>
            <a:r>
              <a:rPr lang="zh-CN" altLang="en-US" sz="1800" dirty="0" smtClean="0"/>
              <a:t>对于本题目，上述三种鉴频器都可以使用，可根据实际情况选择</a:t>
            </a:r>
            <a:endParaRPr lang="zh-CN" altLang="en-US" sz="1800" dirty="0"/>
          </a:p>
        </p:txBody>
      </p:sp>
    </p:spTree>
    <p:extLst>
      <p:ext uri="{BB962C8B-B14F-4D97-AF65-F5344CB8AC3E}">
        <p14:creationId xmlns:p14="http://schemas.microsoft.com/office/powerpoint/2010/main" val="11568031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68</a:t>
            </a:fld>
            <a:endParaRPr lang="en-US" altLang="zh-CN">
              <a:solidFill>
                <a:srgbClr val="FFFFFF"/>
              </a:solidFill>
            </a:endParaRPr>
          </a:p>
        </p:txBody>
      </p:sp>
      <p:sp>
        <p:nvSpPr>
          <p:cNvPr id="5" name="矩形 4"/>
          <p:cNvSpPr/>
          <p:nvPr/>
        </p:nvSpPr>
        <p:spPr>
          <a:xfrm>
            <a:off x="333828" y="417090"/>
            <a:ext cx="6096000" cy="481863"/>
          </a:xfrm>
          <a:prstGeom prst="rect">
            <a:avLst/>
          </a:prstGeom>
        </p:spPr>
        <p:txBody>
          <a:bodyPr>
            <a:spAutoFit/>
          </a:bodyPr>
          <a:lstStyle/>
          <a:p>
            <a:pPr marL="342900" indent="-342900">
              <a:lnSpc>
                <a:spcPct val="150000"/>
              </a:lnSpc>
              <a:buFont typeface="Wingdings" panose="05000000000000000000" pitchFamily="2" charset="2"/>
              <a:buChar char="l"/>
            </a:pPr>
            <a:r>
              <a:rPr lang="zh-CN" altLang="en-US" dirty="0" smtClean="0">
                <a:solidFill>
                  <a:srgbClr val="FF0000"/>
                </a:solidFill>
                <a:latin typeface="黑体" panose="02010609060101010101" pitchFamily="49" charset="-122"/>
                <a:ea typeface="黑体" panose="02010609060101010101" pitchFamily="49" charset="-122"/>
              </a:rPr>
              <a:t>总体电路结构</a:t>
            </a:r>
            <a:endParaRPr lang="en-US" altLang="zh-CN" dirty="0" smtClean="0">
              <a:solidFill>
                <a:srgbClr val="FF0000"/>
              </a:solidFill>
              <a:latin typeface="黑体" panose="02010609060101010101" pitchFamily="49" charset="-122"/>
              <a:ea typeface="黑体" panose="02010609060101010101" pitchFamily="49" charset="-122"/>
            </a:endParaRPr>
          </a:p>
        </p:txBody>
      </p:sp>
      <p:pic>
        <p:nvPicPr>
          <p:cNvPr id="9" name="图片 8"/>
          <p:cNvPicPr>
            <a:picLocks noChangeAspect="1"/>
          </p:cNvPicPr>
          <p:nvPr/>
        </p:nvPicPr>
        <p:blipFill>
          <a:blip r:embed="rId2"/>
          <a:stretch>
            <a:fillRect/>
          </a:stretch>
        </p:blipFill>
        <p:spPr>
          <a:xfrm>
            <a:off x="1728106" y="1138808"/>
            <a:ext cx="8279267" cy="2101395"/>
          </a:xfrm>
          <a:prstGeom prst="rect">
            <a:avLst/>
          </a:prstGeom>
        </p:spPr>
      </p:pic>
      <p:sp>
        <p:nvSpPr>
          <p:cNvPr id="10" name="文本框 9"/>
          <p:cNvSpPr txBox="1"/>
          <p:nvPr/>
        </p:nvSpPr>
        <p:spPr>
          <a:xfrm>
            <a:off x="580271" y="3505198"/>
            <a:ext cx="10849729" cy="175432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sz="1800" dirty="0" smtClean="0"/>
              <a:t>2</a:t>
            </a:r>
            <a:r>
              <a:rPr lang="zh-CN" altLang="en-US" sz="1800" dirty="0" smtClean="0"/>
              <a:t>个解调模块按照前面的讨论进行设计</a:t>
            </a:r>
            <a:endParaRPr lang="en-US" altLang="zh-CN" sz="1800" dirty="0" smtClean="0"/>
          </a:p>
          <a:p>
            <a:pPr marL="285750" indent="-285750">
              <a:lnSpc>
                <a:spcPct val="150000"/>
              </a:lnSpc>
              <a:buFont typeface="Arial" panose="020B0604020202020204" pitchFamily="34" charset="0"/>
              <a:buChar char="•"/>
            </a:pPr>
            <a:r>
              <a:rPr lang="zh-CN" altLang="en-US" sz="1800" dirty="0" smtClean="0"/>
              <a:t>常见</a:t>
            </a:r>
            <a:r>
              <a:rPr lang="zh-CN" altLang="en-US" sz="1800" dirty="0"/>
              <a:t>的</a:t>
            </a:r>
            <a:r>
              <a:rPr lang="zh-CN" altLang="en-US" sz="1800" dirty="0" smtClean="0"/>
              <a:t>模拟开关有</a:t>
            </a:r>
            <a:r>
              <a:rPr lang="en-US" altLang="zh-CN" sz="1800" dirty="0" smtClean="0"/>
              <a:t>HC4051</a:t>
            </a:r>
            <a:r>
              <a:rPr lang="zh-CN" altLang="en-US" sz="1800" dirty="0" smtClean="0"/>
              <a:t>（</a:t>
            </a:r>
            <a:r>
              <a:rPr lang="en-US" altLang="zh-CN" sz="1800" dirty="0" smtClean="0"/>
              <a:t>1</a:t>
            </a:r>
            <a:r>
              <a:rPr lang="zh-CN" altLang="en-US" sz="1800" dirty="0" smtClean="0"/>
              <a:t>刀</a:t>
            </a:r>
            <a:r>
              <a:rPr lang="en-US" altLang="zh-CN" sz="1800" dirty="0" smtClean="0"/>
              <a:t>8</a:t>
            </a:r>
            <a:r>
              <a:rPr lang="zh-CN" altLang="en-US" sz="1800" dirty="0" smtClean="0"/>
              <a:t>掷）、</a:t>
            </a:r>
            <a:r>
              <a:rPr lang="en-US" altLang="zh-CN" sz="1800" dirty="0" smtClean="0"/>
              <a:t>HC4052</a:t>
            </a:r>
            <a:r>
              <a:rPr lang="zh-CN" altLang="en-US" sz="1800" dirty="0" smtClean="0"/>
              <a:t>（</a:t>
            </a:r>
            <a:r>
              <a:rPr lang="en-US" altLang="zh-CN" sz="1800" dirty="0" smtClean="0"/>
              <a:t>2</a:t>
            </a:r>
            <a:r>
              <a:rPr lang="zh-CN" altLang="en-US" sz="1800" dirty="0" smtClean="0"/>
              <a:t>刀</a:t>
            </a:r>
            <a:r>
              <a:rPr lang="en-US" altLang="zh-CN" sz="1800" dirty="0" smtClean="0"/>
              <a:t>4</a:t>
            </a:r>
            <a:r>
              <a:rPr lang="zh-CN" altLang="en-US" sz="1800" dirty="0" smtClean="0"/>
              <a:t>掷）、或</a:t>
            </a:r>
            <a:r>
              <a:rPr lang="en-US" altLang="zh-CN" sz="1800" dirty="0" smtClean="0"/>
              <a:t>HC4053</a:t>
            </a:r>
            <a:r>
              <a:rPr lang="zh-CN" altLang="en-US" sz="1800" dirty="0" smtClean="0"/>
              <a:t>（</a:t>
            </a:r>
            <a:r>
              <a:rPr lang="en-US" altLang="zh-CN" sz="1800" dirty="0" smtClean="0"/>
              <a:t>3</a:t>
            </a:r>
            <a:r>
              <a:rPr lang="zh-CN" altLang="en-US" sz="1800" dirty="0" smtClean="0"/>
              <a:t>刀</a:t>
            </a:r>
            <a:r>
              <a:rPr lang="en-US" altLang="zh-CN" sz="1800" dirty="0" smtClean="0"/>
              <a:t>2</a:t>
            </a:r>
            <a:r>
              <a:rPr lang="zh-CN" altLang="en-US" sz="1800" dirty="0" smtClean="0"/>
              <a:t>掷）等，由于本题只有</a:t>
            </a:r>
            <a:r>
              <a:rPr lang="en-US" altLang="zh-CN" sz="1800" dirty="0" smtClean="0"/>
              <a:t>2</a:t>
            </a:r>
            <a:r>
              <a:rPr lang="zh-CN" altLang="en-US" sz="1800" dirty="0" smtClean="0"/>
              <a:t>个通道，所以采用其中任意一个均可</a:t>
            </a:r>
            <a:endParaRPr lang="en-US" altLang="zh-CN" sz="1800" dirty="0" smtClean="0"/>
          </a:p>
          <a:p>
            <a:pPr marL="285750" indent="-285750">
              <a:lnSpc>
                <a:spcPct val="150000"/>
              </a:lnSpc>
              <a:buFont typeface="Arial" panose="020B0604020202020204" pitchFamily="34" charset="0"/>
              <a:buChar char="•"/>
            </a:pPr>
            <a:r>
              <a:rPr lang="zh-CN" altLang="en-US" sz="1800" dirty="0" smtClean="0"/>
              <a:t>缓冲放大器需要将解调输出的正负电平转换为适合</a:t>
            </a:r>
            <a:r>
              <a:rPr lang="en-US" altLang="zh-CN" sz="1800" dirty="0" smtClean="0"/>
              <a:t>ADC</a:t>
            </a:r>
            <a:r>
              <a:rPr lang="zh-CN" altLang="en-US" sz="1800" dirty="0" smtClean="0"/>
              <a:t>的单端电平，具体电路可参见讲座</a:t>
            </a:r>
            <a:r>
              <a:rPr lang="en-US" altLang="zh-CN" sz="1800" dirty="0" smtClean="0"/>
              <a:t>3</a:t>
            </a:r>
          </a:p>
        </p:txBody>
      </p:sp>
    </p:spTree>
    <p:extLst>
      <p:ext uri="{BB962C8B-B14F-4D97-AF65-F5344CB8AC3E}">
        <p14:creationId xmlns:p14="http://schemas.microsoft.com/office/powerpoint/2010/main" val="33117887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B66CDF2-FF94-435D-A18E-79898F16FB37}" type="datetime1">
              <a:rPr lang="zh-CN" altLang="en-US" smtClean="0">
                <a:solidFill>
                  <a:srgbClr val="FFFFFF"/>
                </a:solidFill>
              </a:rPr>
              <a:t>2024/4/16</a:t>
            </a:fld>
            <a:endParaRPr lang="en-US" altLang="zh-CN">
              <a:solidFill>
                <a:srgbClr val="FFFFFF"/>
              </a:solidFill>
            </a:endParaRPr>
          </a:p>
        </p:txBody>
      </p:sp>
      <p:sp>
        <p:nvSpPr>
          <p:cNvPr id="3" name="页脚占位符 2"/>
          <p:cNvSpPr>
            <a:spLocks noGrp="1"/>
          </p:cNvSpPr>
          <p:nvPr>
            <p:ph type="ftr" sz="quarter" idx="11"/>
          </p:nvPr>
        </p:nvSpPr>
        <p:spPr/>
        <p:txBody>
          <a:bodyPr/>
          <a:lstStyle/>
          <a:p>
            <a:r>
              <a:rPr lang="zh-CN" altLang="en-US" smtClean="0">
                <a:solidFill>
                  <a:srgbClr val="FFFFFF"/>
                </a:solidFill>
              </a:rPr>
              <a:t>大学生电子竞赛培训</a:t>
            </a:r>
            <a:endParaRPr lang="en-US" altLang="zh-CN">
              <a:solidFill>
                <a:srgbClr val="FFFFFF"/>
              </a:solidFill>
            </a:endParaRPr>
          </a:p>
        </p:txBody>
      </p:sp>
      <p:sp>
        <p:nvSpPr>
          <p:cNvPr id="4" name="灯片编号占位符 3"/>
          <p:cNvSpPr>
            <a:spLocks noGrp="1"/>
          </p:cNvSpPr>
          <p:nvPr>
            <p:ph type="sldNum" sz="quarter" idx="12"/>
          </p:nvPr>
        </p:nvSpPr>
        <p:spPr/>
        <p:txBody>
          <a:bodyPr/>
          <a:lstStyle/>
          <a:p>
            <a:fld id="{EE1EA6D7-BBFA-44A4-BBD4-7DDF74B48E18}" type="slidenum">
              <a:rPr lang="en-US" altLang="zh-CN" smtClean="0">
                <a:solidFill>
                  <a:srgbClr val="FFFFFF"/>
                </a:solidFill>
              </a:rPr>
              <a:pPr/>
              <a:t>69</a:t>
            </a:fld>
            <a:endParaRPr lang="en-US" altLang="zh-CN">
              <a:solidFill>
                <a:srgbClr val="FFFFFF"/>
              </a:solidFill>
            </a:endParaRPr>
          </a:p>
        </p:txBody>
      </p:sp>
      <p:sp>
        <p:nvSpPr>
          <p:cNvPr id="6" name="文本框 5"/>
          <p:cNvSpPr txBox="1"/>
          <p:nvPr/>
        </p:nvSpPr>
        <p:spPr>
          <a:xfrm>
            <a:off x="529771" y="609599"/>
            <a:ext cx="10936514" cy="1754326"/>
          </a:xfrm>
          <a:prstGeom prst="rect">
            <a:avLst/>
          </a:prstGeom>
          <a:noFill/>
        </p:spPr>
        <p:txBody>
          <a:bodyPr wrap="square" rtlCol="0">
            <a:spAutoFit/>
          </a:bodyPr>
          <a:lstStyle/>
          <a:p>
            <a:pPr>
              <a:lnSpc>
                <a:spcPct val="150000"/>
              </a:lnSpc>
            </a:pPr>
            <a:r>
              <a:rPr lang="zh-CN" altLang="zh-CN" sz="1800" dirty="0"/>
              <a:t>整机</a:t>
            </a:r>
            <a:r>
              <a:rPr lang="zh-CN" altLang="zh-CN" sz="1800" dirty="0" smtClean="0"/>
              <a:t>工作过程</a:t>
            </a:r>
            <a:r>
              <a:rPr lang="zh-CN" altLang="en-US" sz="1800" dirty="0" smtClean="0"/>
              <a:t>是</a:t>
            </a:r>
            <a:r>
              <a:rPr lang="zh-CN" altLang="zh-CN" sz="1800" dirty="0" smtClean="0"/>
              <a:t>：</a:t>
            </a:r>
            <a:endParaRPr lang="zh-CN" altLang="zh-CN" sz="1800" dirty="0"/>
          </a:p>
          <a:p>
            <a:pPr lvl="1">
              <a:lnSpc>
                <a:spcPct val="150000"/>
              </a:lnSpc>
            </a:pPr>
            <a:r>
              <a:rPr lang="en-US" altLang="zh-CN" sz="1800" dirty="0" smtClean="0"/>
              <a:t>step1</a:t>
            </a:r>
            <a:r>
              <a:rPr lang="zh-CN" altLang="zh-CN" sz="1800" dirty="0"/>
              <a:t>、对</a:t>
            </a:r>
            <a:r>
              <a:rPr lang="en-US" altLang="zh-CN" sz="1800" dirty="0"/>
              <a:t>2</a:t>
            </a:r>
            <a:r>
              <a:rPr lang="zh-CN" altLang="zh-CN" sz="1800" dirty="0"/>
              <a:t>个解调电路的输出分别</a:t>
            </a:r>
            <a:r>
              <a:rPr lang="zh-CN" altLang="zh-CN" sz="1800" dirty="0" smtClean="0"/>
              <a:t>采样</a:t>
            </a:r>
            <a:endParaRPr lang="en-US" altLang="zh-CN" sz="1800" dirty="0" smtClean="0"/>
          </a:p>
          <a:p>
            <a:pPr lvl="1">
              <a:lnSpc>
                <a:spcPct val="150000"/>
              </a:lnSpc>
            </a:pPr>
            <a:r>
              <a:rPr lang="en-US" altLang="zh-CN" sz="1800" dirty="0" smtClean="0"/>
              <a:t>step2</a:t>
            </a:r>
            <a:r>
              <a:rPr lang="zh-CN" altLang="zh-CN" sz="1800" dirty="0"/>
              <a:t>、分析采样信号的波形特征</a:t>
            </a:r>
            <a:r>
              <a:rPr lang="zh-CN" altLang="zh-CN" sz="1800" dirty="0" smtClean="0"/>
              <a:t>，识别</a:t>
            </a:r>
            <a:r>
              <a:rPr lang="zh-CN" altLang="zh-CN" sz="1800" dirty="0"/>
              <a:t>输入信号的调制</a:t>
            </a:r>
            <a:r>
              <a:rPr lang="zh-CN" altLang="zh-CN" sz="1800" dirty="0" smtClean="0"/>
              <a:t>方式</a:t>
            </a:r>
            <a:r>
              <a:rPr lang="zh-CN" altLang="en-US" sz="1800" dirty="0" smtClean="0"/>
              <a:t>，确定调制信号的频率或码率</a:t>
            </a:r>
            <a:endParaRPr lang="zh-CN" altLang="zh-CN" sz="1800" dirty="0"/>
          </a:p>
          <a:p>
            <a:pPr lvl="1">
              <a:lnSpc>
                <a:spcPct val="150000"/>
              </a:lnSpc>
            </a:pPr>
            <a:endParaRPr lang="zh-CN" altLang="en-US" sz="1800" dirty="0"/>
          </a:p>
        </p:txBody>
      </p:sp>
      <p:graphicFrame>
        <p:nvGraphicFramePr>
          <p:cNvPr id="7" name="表格 6"/>
          <p:cNvGraphicFramePr>
            <a:graphicFrameLocks noGrp="1"/>
          </p:cNvGraphicFramePr>
          <p:nvPr>
            <p:extLst>
              <p:ext uri="{D42A27DB-BD31-4B8C-83A1-F6EECF244321}">
                <p14:modId xmlns:p14="http://schemas.microsoft.com/office/powerpoint/2010/main" val="2175160329"/>
              </p:ext>
            </p:extLst>
          </p:nvPr>
        </p:nvGraphicFramePr>
        <p:xfrm>
          <a:off x="785435" y="2087300"/>
          <a:ext cx="9949241" cy="1121664"/>
        </p:xfrm>
        <a:graphic>
          <a:graphicData uri="http://schemas.openxmlformats.org/drawingml/2006/table">
            <a:tbl>
              <a:tblPr firstRow="1" firstCol="1" bandRow="1">
                <a:tableStyleId>{5C22544A-7EE6-4342-B048-85BDC9FD1C3A}</a:tableStyleId>
              </a:tblPr>
              <a:tblGrid>
                <a:gridCol w="2021259">
                  <a:extLst>
                    <a:ext uri="{9D8B030D-6E8A-4147-A177-3AD203B41FA5}">
                      <a16:colId xmlns:a16="http://schemas.microsoft.com/office/drawing/2014/main" val="2636035733"/>
                    </a:ext>
                  </a:extLst>
                </a:gridCol>
                <a:gridCol w="1529602">
                  <a:extLst>
                    <a:ext uri="{9D8B030D-6E8A-4147-A177-3AD203B41FA5}">
                      <a16:colId xmlns:a16="http://schemas.microsoft.com/office/drawing/2014/main" val="1109660400"/>
                    </a:ext>
                  </a:extLst>
                </a:gridCol>
                <a:gridCol w="1208659">
                  <a:extLst>
                    <a:ext uri="{9D8B030D-6E8A-4147-A177-3AD203B41FA5}">
                      <a16:colId xmlns:a16="http://schemas.microsoft.com/office/drawing/2014/main" val="2383826045"/>
                    </a:ext>
                  </a:extLst>
                </a:gridCol>
                <a:gridCol w="1585338">
                  <a:extLst>
                    <a:ext uri="{9D8B030D-6E8A-4147-A177-3AD203B41FA5}">
                      <a16:colId xmlns:a16="http://schemas.microsoft.com/office/drawing/2014/main" val="2538182910"/>
                    </a:ext>
                  </a:extLst>
                </a:gridCol>
                <a:gridCol w="1220532">
                  <a:extLst>
                    <a:ext uri="{9D8B030D-6E8A-4147-A177-3AD203B41FA5}">
                      <a16:colId xmlns:a16="http://schemas.microsoft.com/office/drawing/2014/main" val="386058615"/>
                    </a:ext>
                  </a:extLst>
                </a:gridCol>
                <a:gridCol w="1220532">
                  <a:extLst>
                    <a:ext uri="{9D8B030D-6E8A-4147-A177-3AD203B41FA5}">
                      <a16:colId xmlns:a16="http://schemas.microsoft.com/office/drawing/2014/main" val="1153952460"/>
                    </a:ext>
                  </a:extLst>
                </a:gridCol>
                <a:gridCol w="1163319">
                  <a:extLst>
                    <a:ext uri="{9D8B030D-6E8A-4147-A177-3AD203B41FA5}">
                      <a16:colId xmlns:a16="http://schemas.microsoft.com/office/drawing/2014/main" val="4108057866"/>
                    </a:ext>
                  </a:extLst>
                </a:gridCol>
              </a:tblGrid>
              <a:tr h="270348">
                <a:tc>
                  <a:txBody>
                    <a:bodyPr/>
                    <a:lstStyle/>
                    <a:p>
                      <a:pPr algn="ctr">
                        <a:lnSpc>
                          <a:spcPct val="115000"/>
                        </a:lnSpc>
                        <a:spcAft>
                          <a:spcPts val="0"/>
                        </a:spcAft>
                      </a:pPr>
                      <a:r>
                        <a:rPr lang="en-US" sz="1600" kern="100">
                          <a:effectLst/>
                        </a:rPr>
                        <a:t> </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1600" kern="100" dirty="0">
                          <a:effectLst/>
                        </a:rPr>
                        <a:t>AM</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1600" kern="100" dirty="0">
                          <a:effectLst/>
                        </a:rPr>
                        <a:t>FM</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1600" kern="100" dirty="0">
                          <a:effectLst/>
                        </a:rPr>
                        <a:t>2ASK</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1600" kern="100">
                          <a:effectLst/>
                        </a:rPr>
                        <a:t>2FSK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1600" kern="100">
                          <a:effectLst/>
                        </a:rPr>
                        <a:t>2PSK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en-US" sz="1600" kern="100">
                          <a:effectLst/>
                        </a:rPr>
                        <a:t>CW</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678859848"/>
                  </a:ext>
                </a:extLst>
              </a:tr>
              <a:tr h="540696">
                <a:tc>
                  <a:txBody>
                    <a:bodyPr/>
                    <a:lstStyle/>
                    <a:p>
                      <a:pPr algn="ctr">
                        <a:lnSpc>
                          <a:spcPct val="115000"/>
                        </a:lnSpc>
                        <a:spcAft>
                          <a:spcPts val="0"/>
                        </a:spcAft>
                      </a:pPr>
                      <a:r>
                        <a:rPr lang="en-US" sz="1600" kern="100">
                          <a:effectLst/>
                        </a:rPr>
                        <a:t>AM/2ASK/2PSK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dirty="0">
                          <a:effectLst/>
                        </a:rPr>
                        <a:t>带直流成分的正弦波</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直流</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带直流成分的准矩形波</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直流</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准矩形波</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直流</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512400330"/>
                  </a:ext>
                </a:extLst>
              </a:tr>
              <a:tr h="270348">
                <a:tc>
                  <a:txBody>
                    <a:bodyPr/>
                    <a:lstStyle/>
                    <a:p>
                      <a:pPr algn="ctr">
                        <a:lnSpc>
                          <a:spcPct val="115000"/>
                        </a:lnSpc>
                        <a:spcAft>
                          <a:spcPts val="0"/>
                        </a:spcAft>
                      </a:pPr>
                      <a:r>
                        <a:rPr lang="en-US" sz="1600" kern="100">
                          <a:effectLst/>
                        </a:rPr>
                        <a:t>FM/2FSK</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dirty="0">
                          <a:effectLst/>
                        </a:rPr>
                        <a:t>直流</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正弦波</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直流</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准矩形波</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a:effectLst/>
                        </a:rPr>
                        <a:t>直流</a:t>
                      </a:r>
                      <a:endParaRPr lang="zh-CN" sz="2000" kern="1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lnSpc>
                          <a:spcPct val="115000"/>
                        </a:lnSpc>
                        <a:spcAft>
                          <a:spcPts val="0"/>
                        </a:spcAft>
                      </a:pPr>
                      <a:r>
                        <a:rPr lang="zh-CN" sz="1600" kern="100" dirty="0">
                          <a:effectLst/>
                        </a:rPr>
                        <a:t>直流</a:t>
                      </a:r>
                      <a:endParaRPr lang="zh-CN" sz="2000" kern="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99899446"/>
                  </a:ext>
                </a:extLst>
              </a:tr>
            </a:tbl>
          </a:graphicData>
        </a:graphic>
      </p:graphicFrame>
    </p:spTree>
    <p:extLst>
      <p:ext uri="{BB962C8B-B14F-4D97-AF65-F5344CB8AC3E}">
        <p14:creationId xmlns:p14="http://schemas.microsoft.com/office/powerpoint/2010/main" val="2926904274"/>
      </p:ext>
    </p:extLst>
  </p:cSld>
  <p:clrMapOvr>
    <a:masterClrMapping/>
  </p:clrMapOvr>
</p:sld>
</file>

<file path=ppt/theme/theme1.xml><?xml version="1.0" encoding="utf-8"?>
<a:theme xmlns:a="http://schemas.openxmlformats.org/drawingml/2006/main" name="1_Network">
  <a:themeElements>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fontScheme name="Network">
      <a:majorFont>
        <a:latin typeface="Arial"/>
        <a:ea typeface="黑体"/>
        <a:cs typeface=""/>
      </a:majorFont>
      <a:minorFont>
        <a:latin typeface="Times New Roman"/>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16342</TotalTime>
  <Words>8381</Words>
  <Application>Microsoft Office PowerPoint</Application>
  <PresentationFormat>宽屏</PresentationFormat>
  <Paragraphs>766</Paragraphs>
  <Slides>69</Slides>
  <Notes>8</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69</vt:i4>
      </vt:variant>
    </vt:vector>
  </HeadingPairs>
  <TitlesOfParts>
    <vt:vector size="83" baseType="lpstr">
      <vt:lpstr>等线</vt:lpstr>
      <vt:lpstr>黑体</vt:lpstr>
      <vt:lpstr>华文细黑</vt:lpstr>
      <vt:lpstr>楷体</vt:lpstr>
      <vt:lpstr>楷体_GB2312</vt:lpstr>
      <vt:lpstr>隶书</vt:lpstr>
      <vt:lpstr>宋体</vt:lpstr>
      <vt:lpstr>Arial</vt:lpstr>
      <vt:lpstr>Symbol</vt:lpstr>
      <vt:lpstr>Times New Roman</vt:lpstr>
      <vt:lpstr>Wingdings</vt:lpstr>
      <vt:lpstr>1_Network</vt:lpstr>
      <vt:lpstr>Visio</vt:lpstr>
      <vt:lpstr>Equation</vt:lpstr>
      <vt:lpstr>各种调制方式及解调电路 —— 2023年全国赛D题分析与设计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陈光梦</dc:creator>
  <cp:lastModifiedBy>gmchen</cp:lastModifiedBy>
  <cp:revision>561</cp:revision>
  <dcterms:created xsi:type="dcterms:W3CDTF">1601-01-01T00:00:00Z</dcterms:created>
  <dcterms:modified xsi:type="dcterms:W3CDTF">2024-04-16T05:24:28Z</dcterms:modified>
</cp:coreProperties>
</file>